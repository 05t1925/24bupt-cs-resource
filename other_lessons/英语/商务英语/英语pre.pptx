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69" autoAdjust="0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168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4584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jpe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.jpe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6" r="6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166813"/>
            <a:ext cx="8001000" cy="1333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WisdomEd: Reshaping Education Through Holographic AI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571500" y="2576513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dirty="0">
                <a:solidFill>
                  <a:srgbClr val="B6D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World's First Educational AI Agent for Ternary Synergy</a:t>
            </a:r>
            <a:endParaRPr lang="en-US" sz="2250" dirty="0"/>
          </a:p>
        </p:txBody>
      </p:sp>
      <p:sp>
        <p:nvSpPr>
          <p:cNvPr id="5" name="Shape 2"/>
          <p:cNvSpPr/>
          <p:nvPr/>
        </p:nvSpPr>
        <p:spPr>
          <a:xfrm>
            <a:off x="571500" y="3309938"/>
            <a:ext cx="604838" cy="114300"/>
          </a:xfrm>
          <a:prstGeom prst="rect">
            <a:avLst/>
          </a:prstGeom>
          <a:solidFill>
            <a:srgbClr val="FF90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571500" y="3757613"/>
            <a:ext cx="8001000" cy="2190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725"/>
              </a:lnSpc>
              <a:buNone/>
            </a:pP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6667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 t="6452" b="6452"/>
          <a:stretch/>
        </p:blipFill>
        <p:spPr>
          <a:xfrm>
            <a:off x="0" y="0"/>
            <a:ext cx="2952750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3433763"/>
            <a:ext cx="1857375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</a:t>
            </a:r>
            <a:endParaRPr lang="en-US" sz="3750" dirty="0"/>
          </a:p>
        </p:txBody>
      </p:sp>
      <p:sp>
        <p:nvSpPr>
          <p:cNvPr id="6" name="Text 2"/>
          <p:cNvSpPr/>
          <p:nvPr/>
        </p:nvSpPr>
        <p:spPr>
          <a:xfrm>
            <a:off x="571500" y="4176713"/>
            <a:ext cx="180975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B6D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250" dirty="0"/>
          </a:p>
        </p:txBody>
      </p:sp>
      <p:sp>
        <p:nvSpPr>
          <p:cNvPr id="7" name="Text 3"/>
          <p:cNvSpPr/>
          <p:nvPr/>
        </p:nvSpPr>
        <p:spPr>
          <a:xfrm>
            <a:off x="3524249" y="1186282"/>
            <a:ext cx="352425" cy="3333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1875" b="1" dirty="0">
                <a:solidFill>
                  <a:srgbClr val="FF90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875" dirty="0"/>
          </a:p>
        </p:txBody>
      </p:sp>
      <p:sp>
        <p:nvSpPr>
          <p:cNvPr id="8" name="Text 4"/>
          <p:cNvSpPr/>
          <p:nvPr/>
        </p:nvSpPr>
        <p:spPr>
          <a:xfrm>
            <a:off x="3990971" y="1264516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Educational Challenges &amp; Solution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990975" y="678656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3508277" y="1756031"/>
            <a:ext cx="352425" cy="3333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1875" b="1" dirty="0">
                <a:solidFill>
                  <a:srgbClr val="FF90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875" dirty="0"/>
          </a:p>
        </p:txBody>
      </p:sp>
      <p:sp>
        <p:nvSpPr>
          <p:cNvPr id="11" name="Text 7"/>
          <p:cNvSpPr/>
          <p:nvPr/>
        </p:nvSpPr>
        <p:spPr>
          <a:xfrm>
            <a:off x="3990972" y="1746228"/>
            <a:ext cx="4581525" cy="44529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 Value Proposition  </a:t>
            </a:r>
            <a:endParaRPr lang="en-US" sz="1200" dirty="0"/>
          </a:p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Key Innovations (Layer 1)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990975" y="2564606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3524247" y="2421730"/>
            <a:ext cx="352425" cy="3333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1875" b="1" dirty="0">
                <a:solidFill>
                  <a:srgbClr val="FF90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875" dirty="0"/>
          </a:p>
        </p:txBody>
      </p:sp>
      <p:sp>
        <p:nvSpPr>
          <p:cNvPr id="14" name="Text 10"/>
          <p:cNvSpPr/>
          <p:nvPr/>
        </p:nvSpPr>
        <p:spPr>
          <a:xfrm>
            <a:off x="3990973" y="2526297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Validation Data (Layer 2)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990975" y="3193256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508277" y="3026568"/>
            <a:ext cx="352425" cy="3333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1875" b="1" dirty="0">
                <a:solidFill>
                  <a:srgbClr val="FF90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875" dirty="0"/>
          </a:p>
        </p:txBody>
      </p:sp>
      <p:sp>
        <p:nvSpPr>
          <p:cNvPr id="17" name="Text 13"/>
          <p:cNvSpPr/>
          <p:nvPr/>
        </p:nvSpPr>
        <p:spPr>
          <a:xfrm>
            <a:off x="3990974" y="3174625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Technical Foundation (Layer 3)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990975" y="3821906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3508276" y="3751659"/>
            <a:ext cx="352425" cy="3333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1875" b="1" dirty="0">
                <a:solidFill>
                  <a:srgbClr val="FF90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875" dirty="0"/>
          </a:p>
        </p:txBody>
      </p:sp>
      <p:sp>
        <p:nvSpPr>
          <p:cNvPr id="20" name="Text 16"/>
          <p:cNvSpPr/>
          <p:nvPr/>
        </p:nvSpPr>
        <p:spPr>
          <a:xfrm>
            <a:off x="3990975" y="3852443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Vision &amp; Call to Action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3990975" y="4450556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6" r="6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647950"/>
            <a:ext cx="4762500" cy="1333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Educational Challenges &amp; Solution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362450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FFFFFF">
                    <a:alpha val="5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25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4300" y="8255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12001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448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 (Situation): Personalized teaching remains difficult, resources are unevenly distributed, and teachers face excessive administrative burdens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5430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71500" y="2781300"/>
            <a:ext cx="257511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Personalized teaching is difficult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1500" y="3430121"/>
            <a:ext cx="2413000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Personalized teaching is unmanageable (one-size-fits-all models fail to address student differences)</a:t>
            </a:r>
          </a:p>
        </p:txBody>
      </p:sp>
      <p:sp>
        <p:nvSpPr>
          <p:cNvPr id="8" name="Text 5"/>
          <p:cNvSpPr/>
          <p:nvPr/>
        </p:nvSpPr>
        <p:spPr>
          <a:xfrm>
            <a:off x="3365500" y="2781300"/>
            <a:ext cx="257511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Uneven distribution of resources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365500" y="3485029"/>
            <a:ext cx="2413000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Uneven resource distribution (urban-rural/regional gaps limit access to quality content)</a:t>
            </a:r>
          </a:p>
        </p:txBody>
      </p:sp>
      <p:sp>
        <p:nvSpPr>
          <p:cNvPr id="10" name="Text 7"/>
          <p:cNvSpPr/>
          <p:nvPr/>
        </p:nvSpPr>
        <p:spPr>
          <a:xfrm>
            <a:off x="6159500" y="2800350"/>
            <a:ext cx="2413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Teachers are overburdened.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159500" y="3430121"/>
            <a:ext cx="2413000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Overburdened teachers (admin/grading/lesson prep cuts into teaching/student support)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2768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1264" r="1264"/>
          <a:stretch/>
        </p:blipFill>
        <p:spPr>
          <a:xfrm>
            <a:off x="0" y="0"/>
            <a:ext cx="9144000" cy="52768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12001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448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(Complication): Traditional classrooms cannot achieve "teaching to individual needs" – teachers are overwhelmed, students lack tailored support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5430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00050" y="2247900"/>
            <a:ext cx="4171950" cy="14097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0075" y="2319337"/>
            <a:ext cx="2571750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r">
              <a:lnSpc>
                <a:spcPts val="1688"/>
              </a:lnSpc>
            </a:pPr>
            <a:r>
              <a:rPr 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Teachers are overburdened.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0" y="2791034"/>
            <a:ext cx="3171825" cy="5918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r">
              <a:lnSpc>
                <a:spcPts val="1650"/>
              </a:lnSpc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Teacher burnout (hampers teaching quality/innovation)</a:t>
            </a: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572000" y="2247900"/>
            <a:ext cx="4171950" cy="14097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972175" y="2344550"/>
            <a:ext cx="2571750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88"/>
              </a:lnSpc>
            </a:pPr>
            <a:r>
              <a:rPr 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Weak classroom interaction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5972175" y="2791034"/>
            <a:ext cx="25717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Weak class interaction (low engagement, delayed feedback)</a:t>
            </a: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00050" y="3657600"/>
            <a:ext cx="4171950" cy="14097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00075" y="3880876"/>
            <a:ext cx="2571750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r">
              <a:lnSpc>
                <a:spcPts val="1688"/>
              </a:lnSpc>
            </a:pPr>
            <a:r>
              <a:rPr 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Feedback on students' learning situation is lagging behind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206188" y="4468697"/>
            <a:ext cx="289504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r">
              <a:lnSpc>
                <a:spcPts val="1650"/>
              </a:lnSpc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Slow learning data feedback (hard to track student differences)</a:t>
            </a:r>
          </a:p>
        </p:txBody>
      </p:sp>
      <p:pic>
        <p:nvPicPr>
          <p:cNvPr id="22" name="Image 4">
            <a:extLst>
              <a:ext uri="{FF2B5EF4-FFF2-40B4-BE49-F238E27FC236}">
                <a16:creationId xmlns:a16="http://schemas.microsoft.com/office/drawing/2014/main" id="{99AED4C2-83EC-5A1B-2884-49999F711F2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572000" y="3656478"/>
            <a:ext cx="4171950" cy="1409700"/>
          </a:xfrm>
          <a:prstGeom prst="rect">
            <a:avLst/>
          </a:prstGeom>
        </p:spPr>
      </p:pic>
      <p:sp>
        <p:nvSpPr>
          <p:cNvPr id="23" name="Text 10">
            <a:extLst>
              <a:ext uri="{FF2B5EF4-FFF2-40B4-BE49-F238E27FC236}">
                <a16:creationId xmlns:a16="http://schemas.microsoft.com/office/drawing/2014/main" id="{D2EBCEBD-EE43-9EB7-FC5A-42715F373E48}"/>
              </a:ext>
            </a:extLst>
          </p:cNvPr>
          <p:cNvSpPr/>
          <p:nvPr/>
        </p:nvSpPr>
        <p:spPr>
          <a:xfrm>
            <a:off x="6000750" y="4260056"/>
            <a:ext cx="25717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Insufficient student support (no real-time tutoring/answers)</a:t>
            </a:r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2CB9539E-E977-B5AA-0F0F-39638F3C7FFB}"/>
              </a:ext>
            </a:extLst>
          </p:cNvPr>
          <p:cNvSpPr/>
          <p:nvPr/>
        </p:nvSpPr>
        <p:spPr>
          <a:xfrm>
            <a:off x="6057900" y="3733800"/>
            <a:ext cx="2571750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88"/>
              </a:lnSpc>
            </a:pPr>
            <a:r>
              <a:rPr 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Insufficient support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 l="5132" r="5132"/>
          <a:stretch/>
        </p:blipFill>
        <p:spPr>
          <a:xfrm>
            <a:off x="0" y="0"/>
            <a:ext cx="9144000" cy="20383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8001000" cy="12001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 (Question): Can an AI product empower teachers, students, and schools simultaneously for true ”ternary synergy”?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15430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81000" y="2228850"/>
            <a:ext cx="8382000" cy="219551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28675" y="2371725"/>
            <a:ext cx="1643063" cy="361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875" dirty="0"/>
          </a:p>
        </p:txBody>
      </p:sp>
      <p:sp>
        <p:nvSpPr>
          <p:cNvPr id="9" name="Text 4"/>
          <p:cNvSpPr/>
          <p:nvPr/>
        </p:nvSpPr>
        <p:spPr>
          <a:xfrm>
            <a:off x="638035" y="2845313"/>
            <a:ext cx="2024063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688"/>
              </a:lnSpc>
            </a:pPr>
            <a:r>
              <a:rPr 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Integrated empowerment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381000" y="3153056"/>
            <a:ext cx="2236974" cy="176688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650"/>
              </a:lnSpc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unified AI solves multiple education challenges</a:t>
            </a:r>
          </a:p>
        </p:txBody>
      </p:sp>
      <p:sp>
        <p:nvSpPr>
          <p:cNvPr id="11" name="Text 6"/>
          <p:cNvSpPr/>
          <p:nvPr/>
        </p:nvSpPr>
        <p:spPr>
          <a:xfrm>
            <a:off x="2795588" y="2371725"/>
            <a:ext cx="1643063" cy="361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875" dirty="0"/>
          </a:p>
        </p:txBody>
      </p:sp>
      <p:sp>
        <p:nvSpPr>
          <p:cNvPr id="12" name="Text 7"/>
          <p:cNvSpPr/>
          <p:nvPr/>
        </p:nvSpPr>
        <p:spPr>
          <a:xfrm>
            <a:off x="2585758" y="2838450"/>
            <a:ext cx="2236974" cy="3994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688"/>
              </a:lnSpc>
            </a:pPr>
            <a:r>
              <a:rPr 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Human-machine collaboration enhancement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2767012" y="3714190"/>
            <a:ext cx="1804988" cy="82195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650"/>
              </a:lnSpc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aids—not replaces—teachers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4762500" y="2371725"/>
            <a:ext cx="1643063" cy="361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875" dirty="0"/>
          </a:p>
        </p:txBody>
      </p:sp>
      <p:sp>
        <p:nvSpPr>
          <p:cNvPr id="15" name="Text 10"/>
          <p:cNvSpPr/>
          <p:nvPr/>
        </p:nvSpPr>
        <p:spPr>
          <a:xfrm>
            <a:off x="4705350" y="2924174"/>
            <a:ext cx="1700213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688"/>
              </a:lnSpc>
            </a:pPr>
            <a:r>
              <a:rPr 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Technical balance and integration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4600575" y="3572296"/>
            <a:ext cx="1966912" cy="876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650"/>
              </a:lnSpc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acts as a tool; teachers remain central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6729413" y="2371725"/>
            <a:ext cx="1643063" cy="361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875" dirty="0"/>
          </a:p>
        </p:txBody>
      </p:sp>
      <p:sp>
        <p:nvSpPr>
          <p:cNvPr id="18" name="Text 13"/>
          <p:cNvSpPr/>
          <p:nvPr/>
        </p:nvSpPr>
        <p:spPr>
          <a:xfrm>
            <a:off x="6672262" y="3018864"/>
            <a:ext cx="1700213" cy="4818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688"/>
              </a:lnSpc>
            </a:pPr>
            <a:r>
              <a:rPr 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Personalization and Fairness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672263" y="3714190"/>
            <a:ext cx="1700213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650"/>
              </a:lnSpc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drives tailored support while ensuring equity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 l="5132" r="5132"/>
          <a:stretch/>
        </p:blipFill>
        <p:spPr>
          <a:xfrm>
            <a:off x="0" y="0"/>
            <a:ext cx="9144000" cy="20383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8001000" cy="12001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(Answer): Code Catalyst introduces “</a:t>
            </a:r>
            <a:r>
              <a:rPr lang="en-US" sz="225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WisdomEd</a:t>
            </a: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Lingxi” – an AI agent redefining teaching workflows through intelligent collaboration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15430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190625" y="2800350"/>
            <a:ext cx="476250" cy="4762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71500" y="3390900"/>
            <a:ext cx="1714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650"/>
              </a:lnSpc>
            </a:pPr>
            <a:r>
              <a:rPr 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Role Definition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280756" y="4069117"/>
            <a:ext cx="2295987" cy="552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650"/>
              </a:lnSpc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Subject-expert partner matching teaching styles/needs</a:t>
            </a: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286125" y="2800350"/>
            <a:ext cx="476250" cy="4762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667000" y="3390900"/>
            <a:ext cx="2030506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650"/>
              </a:lnSpc>
            </a:pPr>
            <a:r>
              <a:rPr 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Knowledge Construction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2576743" y="4031017"/>
            <a:ext cx="2030506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650"/>
              </a:lnSpc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Curriculum-aligned, accurate knowledge system</a:t>
            </a:r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381625" y="2800350"/>
            <a:ext cx="476250" cy="47625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762500" y="3390900"/>
            <a:ext cx="1714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650"/>
              </a:lnSpc>
            </a:pPr>
            <a:r>
              <a:rPr 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Function expansion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4607249" y="4000500"/>
            <a:ext cx="2095500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650"/>
              </a:lnSpc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Multimodal (voice/image) support for diverse teaching tasks</a:t>
            </a:r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477125" y="2800350"/>
            <a:ext cx="476250" cy="47625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6858000" y="3352800"/>
            <a:ext cx="1954306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650"/>
              </a:lnSpc>
            </a:pPr>
            <a:r>
              <a:rPr 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Continuous optimization</a:t>
            </a:r>
            <a:endParaRPr lang="en-US" sz="1200" dirty="0"/>
          </a:p>
        </p:txBody>
      </p:sp>
      <p:sp>
        <p:nvSpPr>
          <p:cNvPr id="18" name="Text 10"/>
          <p:cNvSpPr/>
          <p:nvPr/>
        </p:nvSpPr>
        <p:spPr>
          <a:xfrm>
            <a:off x="6702749" y="4003089"/>
            <a:ext cx="2095500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650"/>
              </a:lnSpc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Data/feedback-driven iteration for stability</a:t>
            </a:r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28087" t="24053" r="27291" b="30201"/>
          <a:stretch>
            <a:fillRect/>
          </a:stretch>
        </p:blipFill>
        <p:spPr>
          <a:xfrm>
            <a:off x="-161365" y="0"/>
            <a:ext cx="9310127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977148"/>
            <a:ext cx="5264524" cy="2209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 Value Proposition  (Layer 1)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10748963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571500" y="10953750"/>
            <a:ext cx="4762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554413" y="2571750"/>
            <a:ext cx="3594350" cy="3295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19600" b="1" dirty="0">
                <a:solidFill>
                  <a:srgbClr val="FFFFFF">
                    <a:alpha val="5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9600" dirty="0"/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F3D88D09-706D-B1BD-7505-6EEF87B981C6}"/>
              </a:ext>
            </a:extLst>
          </p:cNvPr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448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“Holographic Teaching System”: Teachers remotely generate virtual classrooms with real-time style adjustments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00050" y="1847850"/>
            <a:ext cx="2781151" cy="254793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2475" y="2628900"/>
            <a:ext cx="2076301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Virtual Presence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52475" y="2919412"/>
            <a:ext cx="2076301" cy="10858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Teachers project lifelike holograms into classrooms from any location, enabling immersive remote teaching without physical presence.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181201" y="1847850"/>
            <a:ext cx="2781151" cy="254793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533626" y="2628900"/>
            <a:ext cx="2076301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Real-Time Control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533626" y="2919412"/>
            <a:ext cx="2076301" cy="10858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Adjust voice tone, gesture speed, and facial expressions dynamically during lessons to match student engagement levels and learning pace.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962352" y="1847850"/>
            <a:ext cx="2781151" cy="254793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314777" y="2628900"/>
            <a:ext cx="2076301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Style Customization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314777" y="2919412"/>
            <a:ext cx="2076301" cy="10858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Customize teaching personas with distinct styles—calm, energetic, or humorous—to align with subject matter and student preferences.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388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8779" r="8779"/>
          <a:stretch/>
        </p:blipFill>
        <p:spPr>
          <a:xfrm>
            <a:off x="0" y="0"/>
            <a:ext cx="9144000" cy="6238875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 l="5132" r="5132"/>
          <a:stretch/>
        </p:blipFill>
        <p:spPr>
          <a:xfrm>
            <a:off x="0" y="0"/>
            <a:ext cx="9144000" cy="20383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8001000" cy="12001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“Multimodal Digital Assistant”: Students customize assistant appearance/voice; import real teacher profiles; multilingual support (e.g., English speaking practice)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15430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0" y="1752600"/>
            <a:ext cx="9144000" cy="381952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854083" y="2130466"/>
            <a:ext cx="1534076" cy="3331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350"/>
              </a:lnSpc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Intelligent Teaching System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419100" y="3394876"/>
            <a:ext cx="1104900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200"/>
              </a:lnSpc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Virtual Image Interaction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571501" y="3667165"/>
            <a:ext cx="1104900" cy="1790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Personalized avatars (simulate teacher expressions) boost engagement/immersion.</a:t>
            </a:r>
          </a:p>
        </p:txBody>
      </p:sp>
      <p:sp>
        <p:nvSpPr>
          <p:cNvPr id="12" name="Text 7"/>
          <p:cNvSpPr/>
          <p:nvPr/>
        </p:nvSpPr>
        <p:spPr>
          <a:xfrm>
            <a:off x="1752600" y="3338551"/>
            <a:ext cx="1295400" cy="45239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200"/>
              </a:lnSpc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Teaching Style Replication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2040397" y="3667165"/>
            <a:ext cx="1104900" cy="1790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Copies excellent teachers’ rhythms/methods for scalable 1-on-1 tutoring.</a:t>
            </a:r>
          </a:p>
        </p:txBody>
      </p:sp>
      <p:sp>
        <p:nvSpPr>
          <p:cNvPr id="15" name="Text 10"/>
          <p:cNvSpPr/>
          <p:nvPr/>
        </p:nvSpPr>
        <p:spPr>
          <a:xfrm>
            <a:off x="3276600" y="3338551"/>
            <a:ext cx="1104900" cy="45239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200"/>
              </a:lnSpc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Multilingual Practice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3476624" y="3667165"/>
            <a:ext cx="1133475" cy="1790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Real-time conversational training + instant pronunciation/grammar feedback.</a:t>
            </a:r>
          </a:p>
        </p:txBody>
      </p:sp>
      <p:sp>
        <p:nvSpPr>
          <p:cNvPr id="18" name="Text 13"/>
          <p:cNvSpPr/>
          <p:nvPr/>
        </p:nvSpPr>
        <p:spPr>
          <a:xfrm>
            <a:off x="4610100" y="3338552"/>
            <a:ext cx="1435520" cy="4252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200"/>
              </a:lnSpc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Adaptive Interaction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940720" y="3667165"/>
            <a:ext cx="1104900" cy="1790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Adjusts question difficulty/tone/speech speed to match student level/mood.</a:t>
            </a:r>
          </a:p>
        </p:txBody>
      </p:sp>
      <p:sp>
        <p:nvSpPr>
          <p:cNvPr id="21" name="Text 16"/>
          <p:cNvSpPr/>
          <p:nvPr/>
        </p:nvSpPr>
        <p:spPr>
          <a:xfrm>
            <a:off x="6202742" y="3338551"/>
            <a:ext cx="1104900" cy="42523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200"/>
              </a:lnSpc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Motivation Boost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372223" y="3667165"/>
            <a:ext cx="1104900" cy="147633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Positive feedback, personalized goals/rewards to sustain long-term interest.</a:t>
            </a:r>
          </a:p>
        </p:txBody>
      </p:sp>
      <p:sp>
        <p:nvSpPr>
          <p:cNvPr id="24" name="Text 19"/>
          <p:cNvSpPr/>
          <p:nvPr/>
        </p:nvSpPr>
        <p:spPr>
          <a:xfrm>
            <a:off x="7477124" y="3352840"/>
            <a:ext cx="1508178" cy="410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200"/>
              </a:lnSpc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Comprehension Enhancement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7866862" y="3667165"/>
            <a:ext cx="1202905" cy="158496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Breaks down complex knowledge (with examples/analogies) to strengthen transferability.</a:t>
            </a:r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6731" r="6731"/>
          <a:stretch/>
        </p:blipFill>
        <p:spPr>
          <a:xfrm>
            <a:off x="0" y="204788"/>
            <a:ext cx="9144000" cy="5943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12001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448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”Data-Driven Campus Platform”: Connects classroom devices to analyze student performance and proactively address discipline issues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5430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59643" y="1562203"/>
            <a:ext cx="8382000" cy="35242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31412" y="3114674"/>
            <a:ext cx="1065540" cy="99634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智能教学系统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1961690" y="1596122"/>
            <a:ext cx="1535205" cy="37035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950"/>
              </a:lnSpc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Student behavior capture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235842" y="2044699"/>
            <a:ext cx="2595563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r">
              <a:lnSpc>
                <a:spcPts val="1650"/>
              </a:lnSpc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Cameras track student actions; desk sensors monitor writing/participation.</a:t>
            </a:r>
          </a:p>
        </p:txBody>
      </p:sp>
      <p:sp>
        <p:nvSpPr>
          <p:cNvPr id="11" name="Text 7"/>
          <p:cNvSpPr/>
          <p:nvPr/>
        </p:nvSpPr>
        <p:spPr>
          <a:xfrm>
            <a:off x="1961690" y="2797174"/>
            <a:ext cx="1535205" cy="514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950"/>
              </a:lnSpc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Analysis of Learning Patterns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35842" y="3292473"/>
            <a:ext cx="2595563" cy="60203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r">
              <a:lnSpc>
                <a:spcPts val="1650"/>
              </a:lnSpc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identifies focus fluctuations, analyzes answer rhythms, and locates knowledge gaps.</a:t>
            </a:r>
          </a:p>
        </p:txBody>
      </p:sp>
      <p:sp>
        <p:nvSpPr>
          <p:cNvPr id="14" name="Text 10"/>
          <p:cNvSpPr/>
          <p:nvPr/>
        </p:nvSpPr>
        <p:spPr>
          <a:xfrm>
            <a:off x="1961690" y="4168774"/>
            <a:ext cx="1279712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950"/>
              </a:lnSpc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Identification of at-risk students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35842" y="4540248"/>
            <a:ext cx="2595563" cy="58012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r">
              <a:lnSpc>
                <a:spcPts val="1650"/>
              </a:lnSpc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Alerts for low participation; flags abnormal behaviors (indicates potential barriers).</a:t>
            </a:r>
          </a:p>
        </p:txBody>
      </p:sp>
      <p:sp>
        <p:nvSpPr>
          <p:cNvPr id="17" name="Text 13"/>
          <p:cNvSpPr/>
          <p:nvPr/>
        </p:nvSpPr>
        <p:spPr>
          <a:xfrm>
            <a:off x="5501486" y="1837951"/>
            <a:ext cx="2054038" cy="3524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950"/>
              </a:lnSpc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Teacher intervention </a:t>
            </a:r>
            <a:r>
              <a:rPr lang="en-US" sz="120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suppor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946080" y="2254249"/>
            <a:ext cx="2595563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Sends customized pre-intervention advice + student data comparisons.</a:t>
            </a:r>
          </a:p>
        </p:txBody>
      </p:sp>
      <p:sp>
        <p:nvSpPr>
          <p:cNvPr id="20" name="Text 16"/>
          <p:cNvSpPr/>
          <p:nvPr/>
        </p:nvSpPr>
        <p:spPr>
          <a:xfrm>
            <a:off x="5501486" y="2895224"/>
            <a:ext cx="1857935" cy="36475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950"/>
              </a:lnSpc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Classroom Discipline Warning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5946080" y="3292474"/>
            <a:ext cx="2595563" cy="42899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Detects disruptions (e.g., noise) and notifies staff in real time.</a:t>
            </a:r>
          </a:p>
        </p:txBody>
      </p:sp>
      <p:sp>
        <p:nvSpPr>
          <p:cNvPr id="23" name="Text 19"/>
          <p:cNvSpPr/>
          <p:nvPr/>
        </p:nvSpPr>
        <p:spPr>
          <a:xfrm>
            <a:off x="5536084" y="3894509"/>
            <a:ext cx="1408579" cy="36475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950"/>
              </a:lnSpc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Emotional state monitoring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5946080" y="4330698"/>
            <a:ext cx="2595563" cy="67098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Facial recognition judges mood; combines biometrics (e.g., heart rate) to assess emotional fluctuations.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6" r="6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647950"/>
            <a:ext cx="4762500" cy="1333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Validation Data (Layer 2)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FFFFFF">
                    <a:alpha val="5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25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9019" y="27305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 t="5217" b="5217"/>
          <a:stretch/>
        </p:blipFill>
        <p:spPr>
          <a:xfrm>
            <a:off x="0" y="-18668"/>
            <a:ext cx="9144000" cy="16383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Teachers: </a:t>
            </a:r>
            <a:r>
              <a:rPr lang="en-US" sz="2250" b="1" dirty="0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50% faster </a:t>
            </a: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lesson prep, </a:t>
            </a:r>
            <a:r>
              <a:rPr lang="en-US" sz="2250" b="1" dirty="0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130% faster </a:t>
            </a: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performance reports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500859" y="3181350"/>
            <a:ext cx="1714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Efficient Prep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571500" y="3695700"/>
            <a:ext cx="1714500" cy="1047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cuts lesson planning time by 50% through automated content generation and alignment with curriculum standards.</a:t>
            </a:r>
            <a:endParaRPr lang="en-US" sz="1050" dirty="0"/>
          </a:p>
        </p:txBody>
      </p:sp>
      <p:sp>
        <p:nvSpPr>
          <p:cNvPr id="11" name="Text 5"/>
          <p:cNvSpPr/>
          <p:nvPr/>
        </p:nvSpPr>
        <p:spPr>
          <a:xfrm>
            <a:off x="2677199" y="3174566"/>
            <a:ext cx="1714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Smart Reporting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2667000" y="3695700"/>
            <a:ext cx="1714500" cy="1047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Performance reports are generated 130% faster using real-time student data analysis and personalized insights.</a:t>
            </a:r>
            <a:endParaRPr lang="en-US" sz="1050" dirty="0"/>
          </a:p>
        </p:txBody>
      </p:sp>
      <p:sp>
        <p:nvSpPr>
          <p:cNvPr id="14" name="Text 7"/>
          <p:cNvSpPr/>
          <p:nvPr/>
        </p:nvSpPr>
        <p:spPr>
          <a:xfrm>
            <a:off x="4794250" y="3181350"/>
            <a:ext cx="1714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Reduced Burden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4762500" y="3695700"/>
            <a:ext cx="1714500" cy="1047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Automated grading and feedback reduce administrative workload, freeing teachers for instructional design.</a:t>
            </a:r>
            <a:endParaRPr lang="en-US" sz="1050" dirty="0"/>
          </a:p>
        </p:txBody>
      </p:sp>
      <p:sp>
        <p:nvSpPr>
          <p:cNvPr id="17" name="Text 9"/>
          <p:cNvSpPr/>
          <p:nvPr/>
        </p:nvSpPr>
        <p:spPr>
          <a:xfrm>
            <a:off x="6911301" y="3174566"/>
            <a:ext cx="1714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 Accuracy</a:t>
            </a:r>
            <a:endParaRPr lang="en-US" sz="1200" dirty="0"/>
          </a:p>
        </p:txBody>
      </p:sp>
      <p:sp>
        <p:nvSpPr>
          <p:cNvPr id="18" name="Text 10"/>
          <p:cNvSpPr/>
          <p:nvPr/>
        </p:nvSpPr>
        <p:spPr>
          <a:xfrm>
            <a:off x="6858000" y="3695700"/>
            <a:ext cx="1714500" cy="838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94% of teachers confirm high accuracy in AI-generated reports, ensuring reliable student assessment.</a:t>
            </a:r>
            <a:endParaRPr lang="en-US" sz="1050" dirty="0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CE87B987-20D7-6C96-D11C-B8B47DBE63F1}"/>
              </a:ext>
            </a:extLst>
          </p:cNvPr>
          <p:cNvSpPr/>
          <p:nvPr/>
        </p:nvSpPr>
        <p:spPr>
          <a:xfrm>
            <a:off x="1132381" y="2599430"/>
            <a:ext cx="329783" cy="3372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3A6BC990-1355-A5C2-993A-FDCD8F101071}"/>
              </a:ext>
            </a:extLst>
          </p:cNvPr>
          <p:cNvSpPr/>
          <p:nvPr/>
        </p:nvSpPr>
        <p:spPr>
          <a:xfrm>
            <a:off x="3269606" y="2621503"/>
            <a:ext cx="329783" cy="3372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27B01207-AC2B-E11E-7379-69BFABAF8124}"/>
              </a:ext>
            </a:extLst>
          </p:cNvPr>
          <p:cNvSpPr/>
          <p:nvPr/>
        </p:nvSpPr>
        <p:spPr>
          <a:xfrm>
            <a:off x="5454858" y="2605477"/>
            <a:ext cx="329783" cy="3372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AA7C95E7-8E68-F8FD-ED13-56B28CCDBB4B}"/>
              </a:ext>
            </a:extLst>
          </p:cNvPr>
          <p:cNvSpPr/>
          <p:nvPr/>
        </p:nvSpPr>
        <p:spPr>
          <a:xfrm>
            <a:off x="7680273" y="2605477"/>
            <a:ext cx="329783" cy="3372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F610782-E13E-EC9D-0856-B710C13CF3D8}"/>
              </a:ext>
            </a:extLst>
          </p:cNvPr>
          <p:cNvSpPr txBox="1"/>
          <p:nvPr/>
        </p:nvSpPr>
        <p:spPr>
          <a:xfrm>
            <a:off x="1173839" y="2583403"/>
            <a:ext cx="140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91E097E-435D-0411-D896-B479D4E2529E}"/>
              </a:ext>
            </a:extLst>
          </p:cNvPr>
          <p:cNvSpPr txBox="1"/>
          <p:nvPr/>
        </p:nvSpPr>
        <p:spPr>
          <a:xfrm>
            <a:off x="3328074" y="2614734"/>
            <a:ext cx="1014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C9BD969-F36C-D86C-8B6F-8D299C6BC6E4}"/>
              </a:ext>
            </a:extLst>
          </p:cNvPr>
          <p:cNvSpPr txBox="1"/>
          <p:nvPr/>
        </p:nvSpPr>
        <p:spPr>
          <a:xfrm>
            <a:off x="5544612" y="2605477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3</a:t>
            </a:r>
            <a:endParaRPr kumimoji="1"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DCD5BCC-E33A-F23B-7EC3-EC8F06D5EBEC}"/>
              </a:ext>
            </a:extLst>
          </p:cNvPr>
          <p:cNvSpPr txBox="1"/>
          <p:nvPr/>
        </p:nvSpPr>
        <p:spPr>
          <a:xfrm>
            <a:off x="7715250" y="2573424"/>
            <a:ext cx="184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4</a:t>
            </a:r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 t="5217" b="5217"/>
          <a:stretch/>
        </p:blipFill>
        <p:spPr>
          <a:xfrm>
            <a:off x="0" y="9939"/>
            <a:ext cx="9144000" cy="16383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Students: </a:t>
            </a:r>
            <a:r>
              <a:rPr lang="en-US" sz="2250" b="1" dirty="0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12%</a:t>
            </a: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2250" b="1" dirty="0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average</a:t>
            </a: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grade improvement, </a:t>
            </a:r>
            <a:r>
              <a:rPr lang="en-US" sz="2250" b="1" dirty="0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40% higher</a:t>
            </a: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classroom engagement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00050" y="1847850"/>
            <a:ext cx="2085975" cy="29718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52475" y="2628900"/>
            <a:ext cx="138112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Proven Gains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752475" y="2919412"/>
            <a:ext cx="1381125" cy="1295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Pilot data from 12 schools shows students achieved a 12% average increase in academic performance within one term.</a:t>
            </a:r>
            <a:endParaRPr lang="en-US" sz="1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486025" y="1847850"/>
            <a:ext cx="2085975" cy="29718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838450" y="2628900"/>
            <a:ext cx="138112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Active Learning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2838450" y="2919412"/>
            <a:ext cx="1381125" cy="1295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Classroom engagement rose by 40%, driven by interactive AI feedback and personalized learning pathways.</a:t>
            </a:r>
            <a:endParaRPr lang="en-US" sz="10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572000" y="1847850"/>
            <a:ext cx="2085975" cy="29718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924425" y="2628900"/>
            <a:ext cx="138112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Motivation Boost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4924425" y="2919412"/>
            <a:ext cx="1381125" cy="1295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Students reported higher motivation due to real-time support and adaptive challenges tailored to their level.</a:t>
            </a:r>
            <a:endParaRPr lang="en-US" sz="10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657975" y="1847850"/>
            <a:ext cx="2085975" cy="29718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7010400" y="2628900"/>
            <a:ext cx="1381125" cy="4667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Consistent Progress</a:t>
            </a:r>
            <a:endParaRPr lang="en-US" sz="1200" dirty="0"/>
          </a:p>
        </p:txBody>
      </p:sp>
      <p:sp>
        <p:nvSpPr>
          <p:cNvPr id="18" name="Text 10"/>
          <p:cNvSpPr/>
          <p:nvPr/>
        </p:nvSpPr>
        <p:spPr>
          <a:xfrm>
            <a:off x="7010400" y="3133725"/>
            <a:ext cx="1381125" cy="1295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Continuous assessment and instant remediation helped sustain improvement across diverse learner profiles.</a:t>
            </a:r>
            <a:endParaRPr lang="en-US" sz="1050" dirty="0"/>
          </a:p>
        </p:txBody>
      </p:sp>
    </p:spTree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6" r="6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647950"/>
            <a:ext cx="4995582" cy="1333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Technical Foundation (Layer 3)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FFFFFF">
                    <a:alpha val="5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25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Dynamic Knowledge Graphs: RAG-powered personalized learning paths</a:t>
            </a:r>
            <a:endParaRPr lang="en-US" sz="2250" dirty="0">
              <a:solidFill>
                <a:srgbClr val="FF0000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71500" y="2400300"/>
            <a:ext cx="2413000" cy="2143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FF90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1500" y="2728913"/>
            <a:ext cx="2413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Smart Knowledge Base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71500" y="2976563"/>
            <a:ext cx="2413000" cy="838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Built on authoritative sources like textbooks and curriculum standards to ensure accuracy and pedagogical alignment.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365500" y="2400300"/>
            <a:ext cx="2413000" cy="2143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FF90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365500" y="2728913"/>
            <a:ext cx="2413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Adaptive Learning Paths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365500" y="2976563"/>
            <a:ext cx="2413000" cy="838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Uses RAG technology to retrieve and generate customized content based on individual student progress and understanding.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159500" y="2400300"/>
            <a:ext cx="2413000" cy="2143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FF90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159500" y="2728913"/>
            <a:ext cx="2413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Real-time Content Updates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159500" y="2976563"/>
            <a:ext cx="2413000" cy="838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Integrates dynamic data from teaching workflows to continuously refine knowledge delivery and maintain relevance.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2387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909" r="909"/>
          <a:stretch/>
        </p:blipFill>
        <p:spPr>
          <a:xfrm>
            <a:off x="0" y="0"/>
            <a:ext cx="9144000" cy="5238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Multi-Agent</a:t>
            </a:r>
            <a:r>
              <a:rPr lang="en-US" sz="2250" b="1" dirty="0">
                <a:solidFill>
                  <a:srgbClr val="0448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2250" b="1" dirty="0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Collaboration</a:t>
            </a:r>
            <a:r>
              <a:rPr lang="en-US" sz="2250" b="1" dirty="0">
                <a:solidFill>
                  <a:srgbClr val="0448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 11 intelligent agents (academic planning, virtual mentoring, assessment)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00050" y="1847850"/>
            <a:ext cx="2085975" cy="31813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2475" y="2628900"/>
            <a:ext cx="138112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Roles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52475" y="2919412"/>
            <a:ext cx="1381125" cy="1504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specialized AI agents handle distinct educational functions including curriculum design, real-time tutoring, and automated assessment.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486025" y="1847850"/>
            <a:ext cx="2085975" cy="31813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838450" y="2628900"/>
            <a:ext cx="1381125" cy="4667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Collaborative Workflow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2838450" y="3133725"/>
            <a:ext cx="1381125" cy="1504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Agents communicate through a unified framework to coordinate tasks, ensuring seamless integration across teaching and learning activities.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572000" y="1847850"/>
            <a:ext cx="2085975" cy="31813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924425" y="2628900"/>
            <a:ext cx="1381125" cy="4667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Adaptive Coordination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4924425" y="3133725"/>
            <a:ext cx="1381125" cy="1504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system dynamically assigns agent roles based on student needs, optimizing support for personalized learning pathways.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657975" y="1847850"/>
            <a:ext cx="2085975" cy="318135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010400" y="2628900"/>
            <a:ext cx="1381125" cy="4667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Scalable Architecture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7010400" y="3133725"/>
            <a:ext cx="1381125" cy="1504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Modular design allows new agents to be added easily, enabling expansion into new subjects, languages, or instructional modes.</a:t>
            </a:r>
            <a:endParaRPr lang="en-US" sz="1050" dirty="0"/>
          </a:p>
        </p:txBody>
      </p:sp>
    </p:spTree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 t="5217" b="5217"/>
          <a:stretch/>
        </p:blipFill>
        <p:spPr>
          <a:xfrm>
            <a:off x="0" y="0"/>
            <a:ext cx="9144000" cy="16383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End-to-End Security: On-premise deployment eliminating hallucination risks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00050" y="1847850"/>
            <a:ext cx="4171950" cy="14097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00075" y="2055019"/>
            <a:ext cx="2571750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Local Deployment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600075" y="2345531"/>
            <a:ext cx="257175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All data processed on school servers, ensuring full control and compliance with privacy regulations.</a:t>
            </a:r>
            <a:endParaRPr lang="en-US" sz="1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572000" y="1847850"/>
            <a:ext cx="4171950" cy="28194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972175" y="2055019"/>
            <a:ext cx="2571750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Risk Prevention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5972175" y="2345531"/>
            <a:ext cx="257175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On-premise architecture minimizes AI hallucinations by restricting external data access.</a:t>
            </a:r>
            <a:endParaRPr lang="en-US" sz="10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00050" y="3257550"/>
            <a:ext cx="4171950" cy="14097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00075" y="3464719"/>
            <a:ext cx="2571750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Stable Integration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600075" y="3755231"/>
            <a:ext cx="257175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Seamless connection with campus systems guarantees reliable performance and zero data breaches.</a:t>
            </a:r>
            <a:endParaRPr lang="en-US" sz="1050" dirty="0"/>
          </a:p>
        </p:txBody>
      </p:sp>
    </p:spTree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6" r="6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Vision &amp; Call to Action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 flipV="1">
            <a:off x="571500" y="4571999"/>
            <a:ext cx="4762500" cy="45719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FFFFFF">
                    <a:alpha val="5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25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0293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7346" r="7346"/>
          <a:stretch/>
        </p:blipFill>
        <p:spPr>
          <a:xfrm>
            <a:off x="292546" y="0"/>
            <a:ext cx="8351184" cy="6029325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 l="5132" r="5132"/>
          <a:stretch/>
        </p:blipFill>
        <p:spPr>
          <a:xfrm>
            <a:off x="0" y="0"/>
            <a:ext cx="9144000" cy="20383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8001000" cy="12001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Vision: Transform education from "standardized" to "one-size-fits-one" – every student’s learning journey uniquely optimized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15430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0" y="1664596"/>
            <a:ext cx="9144000" cy="360997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441174" y="1738105"/>
            <a:ext cx="473144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4"/>
          <p:cNvSpPr/>
          <p:nvPr/>
        </p:nvSpPr>
        <p:spPr>
          <a:xfrm>
            <a:off x="966580" y="2128630"/>
            <a:ext cx="162877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688"/>
              </a:lnSpc>
            </a:pPr>
            <a:r>
              <a:rPr lang="en-US" altLang="zh-CN" sz="12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student-centered</a:t>
            </a:r>
            <a:endParaRPr lang="en-US" sz="1200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5"/>
          <p:cNvSpPr/>
          <p:nvPr/>
        </p:nvSpPr>
        <p:spPr>
          <a:xfrm>
            <a:off x="966580" y="2419143"/>
            <a:ext cx="1628775" cy="10858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650"/>
              </a:lnSpc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Prioritize individual growth; AI supports personalized development.</a:t>
            </a:r>
          </a:p>
        </p:txBody>
      </p:sp>
      <p:sp>
        <p:nvSpPr>
          <p:cNvPr id="11" name="Text 6"/>
          <p:cNvSpPr/>
          <p:nvPr/>
        </p:nvSpPr>
        <p:spPr>
          <a:xfrm>
            <a:off x="3428791" y="1738105"/>
            <a:ext cx="395289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2747755" y="2128630"/>
            <a:ext cx="162877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688"/>
              </a:lnSpc>
            </a:pPr>
            <a:r>
              <a:rPr 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Reconstructs Teaching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2747755" y="2419143"/>
            <a:ext cx="1628775" cy="876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650"/>
              </a:lnSpc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Automate/</a:t>
            </a:r>
            <a:r>
              <a:rPr lang="en-US" sz="1050" dirty="0" err="1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intelligize</a:t>
            </a: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workflows to boost precision/responsiveness.</a:t>
            </a:r>
          </a:p>
        </p:txBody>
      </p:sp>
      <p:sp>
        <p:nvSpPr>
          <p:cNvPr id="14" name="Text 9"/>
          <p:cNvSpPr/>
          <p:nvPr/>
        </p:nvSpPr>
        <p:spPr>
          <a:xfrm>
            <a:off x="5209967" y="1738105"/>
            <a:ext cx="692803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4767472" y="2128630"/>
            <a:ext cx="1861928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688"/>
              </a:lnSpc>
            </a:pPr>
            <a:r>
              <a:rPr 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Personalized learning path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4850297" y="2419143"/>
            <a:ext cx="1745974" cy="876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650"/>
              </a:lnSpc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Customize learning routes; dynamically adjust content/progress.</a:t>
            </a:r>
          </a:p>
        </p:txBody>
      </p:sp>
      <p:sp>
        <p:nvSpPr>
          <p:cNvPr id="17" name="Text 12"/>
          <p:cNvSpPr/>
          <p:nvPr/>
        </p:nvSpPr>
        <p:spPr>
          <a:xfrm>
            <a:off x="6991142" y="1738105"/>
            <a:ext cx="947737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433857" y="2128630"/>
            <a:ext cx="2362273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688"/>
              </a:lnSpc>
            </a:pPr>
            <a:r>
              <a:rPr 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Intelligent Resource Recommendation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748670" y="2419143"/>
            <a:ext cx="1628775" cy="876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650"/>
              </a:lnSpc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Data-driven resource matching for independent exploration.</a:t>
            </a:r>
          </a:p>
        </p:txBody>
      </p:sp>
      <p:sp>
        <p:nvSpPr>
          <p:cNvPr id="20" name="Text 15"/>
          <p:cNvSpPr/>
          <p:nvPr/>
        </p:nvSpPr>
        <p:spPr>
          <a:xfrm>
            <a:off x="7000386" y="3628818"/>
            <a:ext cx="102049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310105" y="3972558"/>
            <a:ext cx="2626171" cy="3643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688"/>
              </a:lnSpc>
            </a:pPr>
            <a:r>
              <a:rPr 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Collaborative innovation between teachers and students</a:t>
            </a:r>
          </a:p>
        </p:txBody>
      </p:sp>
      <p:sp>
        <p:nvSpPr>
          <p:cNvPr id="22" name="Text 17"/>
          <p:cNvSpPr/>
          <p:nvPr/>
        </p:nvSpPr>
        <p:spPr>
          <a:xfrm>
            <a:off x="6310105" y="4309855"/>
            <a:ext cx="2704686" cy="876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650"/>
              </a:lnSpc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Redefine interactions to encourage cooperative creation.</a:t>
            </a:r>
          </a:p>
        </p:txBody>
      </p:sp>
      <p:sp>
        <p:nvSpPr>
          <p:cNvPr id="23" name="Text 18"/>
          <p:cNvSpPr/>
          <p:nvPr/>
        </p:nvSpPr>
        <p:spPr>
          <a:xfrm>
            <a:off x="5209968" y="3628818"/>
            <a:ext cx="692802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4669076" y="4019343"/>
            <a:ext cx="1641029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688"/>
              </a:lnSpc>
            </a:pPr>
            <a:r>
              <a:rPr 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Unleash the potential of teachers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4669076" y="4309855"/>
            <a:ext cx="1764781" cy="876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650"/>
              </a:lnSpc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Reduce repetitive tasks; let teachers focus on creative teaching.</a:t>
            </a:r>
          </a:p>
        </p:txBody>
      </p:sp>
      <p:sp>
        <p:nvSpPr>
          <p:cNvPr id="26" name="Text 21"/>
          <p:cNvSpPr/>
          <p:nvPr/>
        </p:nvSpPr>
        <p:spPr>
          <a:xfrm>
            <a:off x="3428792" y="3628818"/>
            <a:ext cx="395288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2747755" y="4019343"/>
            <a:ext cx="162877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688"/>
              </a:lnSpc>
            </a:pPr>
            <a:r>
              <a:rPr 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Improve teaching effectiveness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2747755" y="4309855"/>
            <a:ext cx="1628775" cy="876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650"/>
              </a:lnSpc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 tech for efficient classroom management/feedback.</a:t>
            </a:r>
          </a:p>
        </p:txBody>
      </p:sp>
      <p:sp>
        <p:nvSpPr>
          <p:cNvPr id="29" name="Text 24"/>
          <p:cNvSpPr/>
          <p:nvPr/>
        </p:nvSpPr>
        <p:spPr>
          <a:xfrm>
            <a:off x="1441174" y="3628818"/>
            <a:ext cx="473144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966580" y="4019343"/>
            <a:ext cx="162877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688"/>
              </a:lnSpc>
            </a:pPr>
            <a:r>
              <a:rPr 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Promote educational equity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966580" y="4309855"/>
            <a:ext cx="1628775" cy="990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650"/>
              </a:lnSpc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Bridge resource gaps; expand access to high-quality content.</a:t>
            </a:r>
          </a:p>
          <a:p>
            <a:pPr algn="ctr">
              <a:lnSpc>
                <a:spcPts val="1650"/>
              </a:lnSpc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Action: Free Pilot Program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42862"/>
            <a:ext cx="9144000" cy="5143500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448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Action: Join our </a:t>
            </a:r>
            <a:r>
              <a:rPr lang="en-US" sz="2250" b="1" dirty="0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free </a:t>
            </a:r>
            <a:r>
              <a:rPr lang="en-US" sz="2250" b="1" dirty="0">
                <a:solidFill>
                  <a:srgbClr val="0448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pilot program – schools get full WisdomEd Lingxi deployment at zero cost for 6 months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71500" y="2400300"/>
            <a:ext cx="2413000" cy="2143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FF90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1500" y="2728913"/>
            <a:ext cx="2413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altLang="zh-CN" dirty="0"/>
              <a:t>Free pilot program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71500" y="2976563"/>
            <a:ext cx="2413000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K-12 schools access the full system at no cost to experience intelligent teaching upgrades.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365500" y="2400300"/>
            <a:ext cx="2413000" cy="2143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FF90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365500" y="2728913"/>
            <a:ext cx="2413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altLang="zh-CN" dirty="0"/>
              <a:t>Full technical support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365500" y="2976563"/>
            <a:ext cx="2413000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1-on-1 guidance, teacher training, and operation maintenance.</a:t>
            </a:r>
          </a:p>
        </p:txBody>
      </p:sp>
      <p:sp>
        <p:nvSpPr>
          <p:cNvPr id="12" name="Text 9"/>
          <p:cNvSpPr/>
          <p:nvPr/>
        </p:nvSpPr>
        <p:spPr>
          <a:xfrm>
            <a:off x="6159500" y="2400300"/>
            <a:ext cx="2413000" cy="2143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FF90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159499" y="2635624"/>
            <a:ext cx="2814171" cy="3667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altLang="zh-CN" dirty="0"/>
              <a:t>Building a smart education ecosystem together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159500" y="2976563"/>
            <a:ext cx="2413000" cy="77417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Collect feedback to optimize the product; scale personalized learning.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 l="21759" r="21759"/>
          <a:stretch/>
        </p:blipFill>
        <p:spPr>
          <a:xfrm>
            <a:off x="0" y="0"/>
            <a:ext cx="9144000" cy="3238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8001000" cy="2400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Next Step: Scan QR code to experience holographic teaching demo in real-time  </a:t>
            </a:r>
            <a:endParaRPr lang="en-US" sz="2250" dirty="0"/>
          </a:p>
          <a:p>
            <a:pPr marL="0" indent="0" algn="l">
              <a:lnSpc>
                <a:spcPts val="3150"/>
              </a:lnSpc>
              <a:buNone/>
            </a:pPr>
            <a:endParaRPr lang="en-US" sz="2250" dirty="0"/>
          </a:p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---  </a:t>
            </a:r>
            <a:endParaRPr lang="en-US" sz="2250" dirty="0"/>
          </a:p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All data validated through 12-school pilot (Q1 2025). 99.2% system stability, 0 data breaches.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274320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571500" y="3429000"/>
            <a:ext cx="2413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Experience Now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71500" y="3676650"/>
            <a:ext cx="2413000" cy="838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Scan the QR code to access a live holographic teaching simulation and interact with WisdomEd Lingxi in real time.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3365500" y="3429000"/>
            <a:ext cx="2413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Join Pilot Program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3365500" y="3676650"/>
            <a:ext cx="2413000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Schools can enroll in our free 6-month pilot, receiving full deployment with zero upfront costs or technical barriers.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159500" y="3429000"/>
            <a:ext cx="2413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Trusted Performance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159500" y="3676650"/>
            <a:ext cx="2413000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Backed by verified data from 12 schools, ensuring 99.2% system reliability and complete data security.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6" r="6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014538"/>
            <a:ext cx="800100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THANKS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3014663"/>
            <a:ext cx="604838" cy="114300"/>
          </a:xfrm>
          <a:prstGeom prst="rect">
            <a:avLst/>
          </a:prstGeom>
          <a:solidFill>
            <a:srgbClr val="FF90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571500" y="3462337"/>
            <a:ext cx="8001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1418</Words>
  <Application>Microsoft Macintosh PowerPoint</Application>
  <PresentationFormat>全屏显示(16:9)</PresentationFormat>
  <Paragraphs>216</Paragraphs>
  <Slides>23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7" baseType="lpstr">
      <vt:lpstr>Microsoft YaHei</vt:lpstr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Bosheng Wang</cp:lastModifiedBy>
  <cp:revision>7</cp:revision>
  <dcterms:created xsi:type="dcterms:W3CDTF">2025-11-25T07:41:17Z</dcterms:created>
  <dcterms:modified xsi:type="dcterms:W3CDTF">2025-11-25T12:03:49Z</dcterms:modified>
</cp:coreProperties>
</file>