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57" r:id="rId5"/>
    <p:sldId id="258" r:id="rId6"/>
    <p:sldId id="259" r:id="rId7"/>
    <p:sldId id="260" r:id="rId8"/>
    <p:sldId id="261" r:id="rId9"/>
    <p:sldId id="262" r:id="rId10"/>
    <p:sldId id="263"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1" d="100"/>
          <a:sy n="91" d="100"/>
        </p:scale>
        <p:origin x="37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2B699D-8A9D-4B9F-A5AE-E26C7447C13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179F942-84EC-4ACC-B8C6-B064EE6426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2E89790-FC71-4948-A710-9EB6B82EDB50}"/>
              </a:ext>
            </a:extLst>
          </p:cNvPr>
          <p:cNvSpPr>
            <a:spLocks noGrp="1"/>
          </p:cNvSpPr>
          <p:nvPr>
            <p:ph type="dt" sz="half" idx="10"/>
          </p:nvPr>
        </p:nvSpPr>
        <p:spPr/>
        <p:txBody>
          <a:bodyPr/>
          <a:lstStyle/>
          <a:p>
            <a:fld id="{EBC9D91A-3EDD-483B-ACAE-7D9D265D7F4C}" type="datetimeFigureOut">
              <a:rPr lang="zh-CN" altLang="en-US" smtClean="0"/>
              <a:t>2025/7/2</a:t>
            </a:fld>
            <a:endParaRPr lang="zh-CN" altLang="en-US"/>
          </a:p>
        </p:txBody>
      </p:sp>
      <p:sp>
        <p:nvSpPr>
          <p:cNvPr id="5" name="页脚占位符 4">
            <a:extLst>
              <a:ext uri="{FF2B5EF4-FFF2-40B4-BE49-F238E27FC236}">
                <a16:creationId xmlns:a16="http://schemas.microsoft.com/office/drawing/2014/main" id="{7D4C6E6E-EA8B-461C-BED4-A79EB1A43D4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5CD940-5DC0-4697-A62D-A919E0376B75}"/>
              </a:ext>
            </a:extLst>
          </p:cNvPr>
          <p:cNvSpPr>
            <a:spLocks noGrp="1"/>
          </p:cNvSpPr>
          <p:nvPr>
            <p:ph type="sldNum" sz="quarter" idx="12"/>
          </p:nvPr>
        </p:nvSpPr>
        <p:spPr/>
        <p:txBody>
          <a:bodyPr/>
          <a:lstStyle/>
          <a:p>
            <a:fld id="{F630C17C-EEBA-4124-9340-7012875117A3}" type="slidenum">
              <a:rPr lang="zh-CN" altLang="en-US" smtClean="0"/>
              <a:t>‹#›</a:t>
            </a:fld>
            <a:endParaRPr lang="zh-CN" altLang="en-US"/>
          </a:p>
        </p:txBody>
      </p:sp>
    </p:spTree>
    <p:extLst>
      <p:ext uri="{BB962C8B-B14F-4D97-AF65-F5344CB8AC3E}">
        <p14:creationId xmlns:p14="http://schemas.microsoft.com/office/powerpoint/2010/main" val="590505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2565E4-0FAE-4780-B3A3-72D7487F31D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AA000F5-B576-46A6-AC03-C8BD436CB87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E867033-1DA7-43BD-905B-FC7A9EB4E0C0}"/>
              </a:ext>
            </a:extLst>
          </p:cNvPr>
          <p:cNvSpPr>
            <a:spLocks noGrp="1"/>
          </p:cNvSpPr>
          <p:nvPr>
            <p:ph type="dt" sz="half" idx="10"/>
          </p:nvPr>
        </p:nvSpPr>
        <p:spPr/>
        <p:txBody>
          <a:bodyPr/>
          <a:lstStyle/>
          <a:p>
            <a:fld id="{EBC9D91A-3EDD-483B-ACAE-7D9D265D7F4C}" type="datetimeFigureOut">
              <a:rPr lang="zh-CN" altLang="en-US" smtClean="0"/>
              <a:t>2025/7/2</a:t>
            </a:fld>
            <a:endParaRPr lang="zh-CN" altLang="en-US"/>
          </a:p>
        </p:txBody>
      </p:sp>
      <p:sp>
        <p:nvSpPr>
          <p:cNvPr id="5" name="页脚占位符 4">
            <a:extLst>
              <a:ext uri="{FF2B5EF4-FFF2-40B4-BE49-F238E27FC236}">
                <a16:creationId xmlns:a16="http://schemas.microsoft.com/office/drawing/2014/main" id="{5751875D-99E0-49E4-B34F-99DE089A1DC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A83A2B-46FB-42F7-8E37-5AE6E6E0BF0B}"/>
              </a:ext>
            </a:extLst>
          </p:cNvPr>
          <p:cNvSpPr>
            <a:spLocks noGrp="1"/>
          </p:cNvSpPr>
          <p:nvPr>
            <p:ph type="sldNum" sz="quarter" idx="12"/>
          </p:nvPr>
        </p:nvSpPr>
        <p:spPr/>
        <p:txBody>
          <a:bodyPr/>
          <a:lstStyle/>
          <a:p>
            <a:fld id="{F630C17C-EEBA-4124-9340-7012875117A3}" type="slidenum">
              <a:rPr lang="zh-CN" altLang="en-US" smtClean="0"/>
              <a:t>‹#›</a:t>
            </a:fld>
            <a:endParaRPr lang="zh-CN" altLang="en-US"/>
          </a:p>
        </p:txBody>
      </p:sp>
    </p:spTree>
    <p:extLst>
      <p:ext uri="{BB962C8B-B14F-4D97-AF65-F5344CB8AC3E}">
        <p14:creationId xmlns:p14="http://schemas.microsoft.com/office/powerpoint/2010/main" val="742798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4C9E5C-A76D-4FA0-A52E-6453978C44E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E9FDDEB-C2F8-4C4B-B6AA-E6DD9FC9C7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DEE5E43-8870-4FB2-847C-C8FB510B39A6}"/>
              </a:ext>
            </a:extLst>
          </p:cNvPr>
          <p:cNvSpPr>
            <a:spLocks noGrp="1"/>
          </p:cNvSpPr>
          <p:nvPr>
            <p:ph type="dt" sz="half" idx="10"/>
          </p:nvPr>
        </p:nvSpPr>
        <p:spPr/>
        <p:txBody>
          <a:bodyPr/>
          <a:lstStyle/>
          <a:p>
            <a:fld id="{EBC9D91A-3EDD-483B-ACAE-7D9D265D7F4C}" type="datetimeFigureOut">
              <a:rPr lang="zh-CN" altLang="en-US" smtClean="0"/>
              <a:t>2025/7/2</a:t>
            </a:fld>
            <a:endParaRPr lang="zh-CN" altLang="en-US"/>
          </a:p>
        </p:txBody>
      </p:sp>
      <p:sp>
        <p:nvSpPr>
          <p:cNvPr id="5" name="页脚占位符 4">
            <a:extLst>
              <a:ext uri="{FF2B5EF4-FFF2-40B4-BE49-F238E27FC236}">
                <a16:creationId xmlns:a16="http://schemas.microsoft.com/office/drawing/2014/main" id="{C2440511-74DB-40A4-9B36-BF4A5C6BC2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640295B-8C58-4A5C-810F-3B82A6CFDBAD}"/>
              </a:ext>
            </a:extLst>
          </p:cNvPr>
          <p:cNvSpPr>
            <a:spLocks noGrp="1"/>
          </p:cNvSpPr>
          <p:nvPr>
            <p:ph type="sldNum" sz="quarter" idx="12"/>
          </p:nvPr>
        </p:nvSpPr>
        <p:spPr/>
        <p:txBody>
          <a:bodyPr/>
          <a:lstStyle/>
          <a:p>
            <a:fld id="{F630C17C-EEBA-4124-9340-7012875117A3}" type="slidenum">
              <a:rPr lang="zh-CN" altLang="en-US" smtClean="0"/>
              <a:t>‹#›</a:t>
            </a:fld>
            <a:endParaRPr lang="zh-CN" altLang="en-US"/>
          </a:p>
        </p:txBody>
      </p:sp>
    </p:spTree>
    <p:extLst>
      <p:ext uri="{BB962C8B-B14F-4D97-AF65-F5344CB8AC3E}">
        <p14:creationId xmlns:p14="http://schemas.microsoft.com/office/powerpoint/2010/main" val="1117364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2E34EC-FCCC-4C06-8140-E3F5B81C364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385B877-1DC6-46EF-8F13-E1C30B95995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42B3658-B339-4A1A-96C5-9B352263453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FDEED32-7668-4D5E-A2BD-D4D686058C0D}"/>
              </a:ext>
            </a:extLst>
          </p:cNvPr>
          <p:cNvSpPr>
            <a:spLocks noGrp="1"/>
          </p:cNvSpPr>
          <p:nvPr>
            <p:ph type="dt" sz="half" idx="10"/>
          </p:nvPr>
        </p:nvSpPr>
        <p:spPr/>
        <p:txBody>
          <a:bodyPr/>
          <a:lstStyle/>
          <a:p>
            <a:fld id="{EBC9D91A-3EDD-483B-ACAE-7D9D265D7F4C}" type="datetimeFigureOut">
              <a:rPr lang="zh-CN" altLang="en-US" smtClean="0"/>
              <a:t>2025/7/2</a:t>
            </a:fld>
            <a:endParaRPr lang="zh-CN" altLang="en-US"/>
          </a:p>
        </p:txBody>
      </p:sp>
      <p:sp>
        <p:nvSpPr>
          <p:cNvPr id="6" name="页脚占位符 5">
            <a:extLst>
              <a:ext uri="{FF2B5EF4-FFF2-40B4-BE49-F238E27FC236}">
                <a16:creationId xmlns:a16="http://schemas.microsoft.com/office/drawing/2014/main" id="{9583029A-8F1F-4347-806D-EE78B0027E1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95E097A-84A4-42B2-8D74-95310407F22F}"/>
              </a:ext>
            </a:extLst>
          </p:cNvPr>
          <p:cNvSpPr>
            <a:spLocks noGrp="1"/>
          </p:cNvSpPr>
          <p:nvPr>
            <p:ph type="sldNum" sz="quarter" idx="12"/>
          </p:nvPr>
        </p:nvSpPr>
        <p:spPr/>
        <p:txBody>
          <a:bodyPr/>
          <a:lstStyle/>
          <a:p>
            <a:fld id="{F630C17C-EEBA-4124-9340-7012875117A3}" type="slidenum">
              <a:rPr lang="zh-CN" altLang="en-US" smtClean="0"/>
              <a:t>‹#›</a:t>
            </a:fld>
            <a:endParaRPr lang="zh-CN" altLang="en-US"/>
          </a:p>
        </p:txBody>
      </p:sp>
    </p:spTree>
    <p:extLst>
      <p:ext uri="{BB962C8B-B14F-4D97-AF65-F5344CB8AC3E}">
        <p14:creationId xmlns:p14="http://schemas.microsoft.com/office/powerpoint/2010/main" val="4217412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127C6-00DD-49C3-B487-2BF5F2F1488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FB24DE8-488B-4EE7-A0FF-2913F9FC34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D06DD45-569F-4A58-96BF-0166AEF30DD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8AC944C-564E-4D01-BB51-FE738EE5F9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7F15300-E0A4-4FEB-AA83-7AA9F9F4897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364ED9F-C14E-443C-86A8-8D426F70AA16}"/>
              </a:ext>
            </a:extLst>
          </p:cNvPr>
          <p:cNvSpPr>
            <a:spLocks noGrp="1"/>
          </p:cNvSpPr>
          <p:nvPr>
            <p:ph type="dt" sz="half" idx="10"/>
          </p:nvPr>
        </p:nvSpPr>
        <p:spPr/>
        <p:txBody>
          <a:bodyPr/>
          <a:lstStyle/>
          <a:p>
            <a:fld id="{EBC9D91A-3EDD-483B-ACAE-7D9D265D7F4C}" type="datetimeFigureOut">
              <a:rPr lang="zh-CN" altLang="en-US" smtClean="0"/>
              <a:t>2025/7/2</a:t>
            </a:fld>
            <a:endParaRPr lang="zh-CN" altLang="en-US"/>
          </a:p>
        </p:txBody>
      </p:sp>
      <p:sp>
        <p:nvSpPr>
          <p:cNvPr id="8" name="页脚占位符 7">
            <a:extLst>
              <a:ext uri="{FF2B5EF4-FFF2-40B4-BE49-F238E27FC236}">
                <a16:creationId xmlns:a16="http://schemas.microsoft.com/office/drawing/2014/main" id="{0F40CBC1-BD73-4AB8-903A-D1A2ECB4B9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1ED9E40-5163-4CD1-A471-E22AB8332F79}"/>
              </a:ext>
            </a:extLst>
          </p:cNvPr>
          <p:cNvSpPr>
            <a:spLocks noGrp="1"/>
          </p:cNvSpPr>
          <p:nvPr>
            <p:ph type="sldNum" sz="quarter" idx="12"/>
          </p:nvPr>
        </p:nvSpPr>
        <p:spPr/>
        <p:txBody>
          <a:bodyPr/>
          <a:lstStyle/>
          <a:p>
            <a:fld id="{F630C17C-EEBA-4124-9340-7012875117A3}" type="slidenum">
              <a:rPr lang="zh-CN" altLang="en-US" smtClean="0"/>
              <a:t>‹#›</a:t>
            </a:fld>
            <a:endParaRPr lang="zh-CN" altLang="en-US"/>
          </a:p>
        </p:txBody>
      </p:sp>
    </p:spTree>
    <p:extLst>
      <p:ext uri="{BB962C8B-B14F-4D97-AF65-F5344CB8AC3E}">
        <p14:creationId xmlns:p14="http://schemas.microsoft.com/office/powerpoint/2010/main" val="56105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6D3C24-DFE5-4B61-9241-818FF346637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B5CC632-8947-4CC5-B397-220E5BC19C3D}"/>
              </a:ext>
            </a:extLst>
          </p:cNvPr>
          <p:cNvSpPr>
            <a:spLocks noGrp="1"/>
          </p:cNvSpPr>
          <p:nvPr>
            <p:ph type="dt" sz="half" idx="10"/>
          </p:nvPr>
        </p:nvSpPr>
        <p:spPr/>
        <p:txBody>
          <a:bodyPr/>
          <a:lstStyle/>
          <a:p>
            <a:fld id="{EBC9D91A-3EDD-483B-ACAE-7D9D265D7F4C}" type="datetimeFigureOut">
              <a:rPr lang="zh-CN" altLang="en-US" smtClean="0"/>
              <a:t>2025/7/2</a:t>
            </a:fld>
            <a:endParaRPr lang="zh-CN" altLang="en-US"/>
          </a:p>
        </p:txBody>
      </p:sp>
      <p:sp>
        <p:nvSpPr>
          <p:cNvPr id="4" name="页脚占位符 3">
            <a:extLst>
              <a:ext uri="{FF2B5EF4-FFF2-40B4-BE49-F238E27FC236}">
                <a16:creationId xmlns:a16="http://schemas.microsoft.com/office/drawing/2014/main" id="{5DF06F04-F242-45F7-9A19-D702BC66E91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62C0808-E319-408F-B6D3-5986A8E45FEE}"/>
              </a:ext>
            </a:extLst>
          </p:cNvPr>
          <p:cNvSpPr>
            <a:spLocks noGrp="1"/>
          </p:cNvSpPr>
          <p:nvPr>
            <p:ph type="sldNum" sz="quarter" idx="12"/>
          </p:nvPr>
        </p:nvSpPr>
        <p:spPr/>
        <p:txBody>
          <a:bodyPr/>
          <a:lstStyle/>
          <a:p>
            <a:fld id="{F630C17C-EEBA-4124-9340-7012875117A3}" type="slidenum">
              <a:rPr lang="zh-CN" altLang="en-US" smtClean="0"/>
              <a:t>‹#›</a:t>
            </a:fld>
            <a:endParaRPr lang="zh-CN" altLang="en-US"/>
          </a:p>
        </p:txBody>
      </p:sp>
    </p:spTree>
    <p:extLst>
      <p:ext uri="{BB962C8B-B14F-4D97-AF65-F5344CB8AC3E}">
        <p14:creationId xmlns:p14="http://schemas.microsoft.com/office/powerpoint/2010/main" val="1537645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9B6EC99-619B-4A26-B1BC-1C90D7263684}"/>
              </a:ext>
            </a:extLst>
          </p:cNvPr>
          <p:cNvSpPr>
            <a:spLocks noGrp="1"/>
          </p:cNvSpPr>
          <p:nvPr>
            <p:ph type="dt" sz="half" idx="10"/>
          </p:nvPr>
        </p:nvSpPr>
        <p:spPr/>
        <p:txBody>
          <a:bodyPr/>
          <a:lstStyle/>
          <a:p>
            <a:fld id="{EBC9D91A-3EDD-483B-ACAE-7D9D265D7F4C}" type="datetimeFigureOut">
              <a:rPr lang="zh-CN" altLang="en-US" smtClean="0"/>
              <a:t>2025/7/2</a:t>
            </a:fld>
            <a:endParaRPr lang="zh-CN" altLang="en-US"/>
          </a:p>
        </p:txBody>
      </p:sp>
      <p:sp>
        <p:nvSpPr>
          <p:cNvPr id="3" name="页脚占位符 2">
            <a:extLst>
              <a:ext uri="{FF2B5EF4-FFF2-40B4-BE49-F238E27FC236}">
                <a16:creationId xmlns:a16="http://schemas.microsoft.com/office/drawing/2014/main" id="{798110B9-6C94-486D-B8AC-756AF6E0A83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DB633AA-D85D-4448-AD60-8FBDA0798640}"/>
              </a:ext>
            </a:extLst>
          </p:cNvPr>
          <p:cNvSpPr>
            <a:spLocks noGrp="1"/>
          </p:cNvSpPr>
          <p:nvPr>
            <p:ph type="sldNum" sz="quarter" idx="12"/>
          </p:nvPr>
        </p:nvSpPr>
        <p:spPr/>
        <p:txBody>
          <a:bodyPr/>
          <a:lstStyle/>
          <a:p>
            <a:fld id="{F630C17C-EEBA-4124-9340-7012875117A3}" type="slidenum">
              <a:rPr lang="zh-CN" altLang="en-US" smtClean="0"/>
              <a:t>‹#›</a:t>
            </a:fld>
            <a:endParaRPr lang="zh-CN" altLang="en-US"/>
          </a:p>
        </p:txBody>
      </p:sp>
    </p:spTree>
    <p:extLst>
      <p:ext uri="{BB962C8B-B14F-4D97-AF65-F5344CB8AC3E}">
        <p14:creationId xmlns:p14="http://schemas.microsoft.com/office/powerpoint/2010/main" val="2639401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B92AA-7962-4A95-A4D3-1B602AB7AEA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D716DB8-B36D-45B3-8654-424894B1A0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14A3D6B-4B4B-474E-8B29-D0D20B8E4D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92D55B7-15FD-4869-9BCC-E1B1AA9F4F80}"/>
              </a:ext>
            </a:extLst>
          </p:cNvPr>
          <p:cNvSpPr>
            <a:spLocks noGrp="1"/>
          </p:cNvSpPr>
          <p:nvPr>
            <p:ph type="dt" sz="half" idx="10"/>
          </p:nvPr>
        </p:nvSpPr>
        <p:spPr/>
        <p:txBody>
          <a:bodyPr/>
          <a:lstStyle/>
          <a:p>
            <a:fld id="{EBC9D91A-3EDD-483B-ACAE-7D9D265D7F4C}" type="datetimeFigureOut">
              <a:rPr lang="zh-CN" altLang="en-US" smtClean="0"/>
              <a:t>2025/7/2</a:t>
            </a:fld>
            <a:endParaRPr lang="zh-CN" altLang="en-US"/>
          </a:p>
        </p:txBody>
      </p:sp>
      <p:sp>
        <p:nvSpPr>
          <p:cNvPr id="6" name="页脚占位符 5">
            <a:extLst>
              <a:ext uri="{FF2B5EF4-FFF2-40B4-BE49-F238E27FC236}">
                <a16:creationId xmlns:a16="http://schemas.microsoft.com/office/drawing/2014/main" id="{AC0B158D-909D-44C6-858C-E813CBEEF88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85036AC-1B09-42D5-B74F-D9DE895EB0CF}"/>
              </a:ext>
            </a:extLst>
          </p:cNvPr>
          <p:cNvSpPr>
            <a:spLocks noGrp="1"/>
          </p:cNvSpPr>
          <p:nvPr>
            <p:ph type="sldNum" sz="quarter" idx="12"/>
          </p:nvPr>
        </p:nvSpPr>
        <p:spPr/>
        <p:txBody>
          <a:bodyPr/>
          <a:lstStyle/>
          <a:p>
            <a:fld id="{F630C17C-EEBA-4124-9340-7012875117A3}" type="slidenum">
              <a:rPr lang="zh-CN" altLang="en-US" smtClean="0"/>
              <a:t>‹#›</a:t>
            </a:fld>
            <a:endParaRPr lang="zh-CN" altLang="en-US"/>
          </a:p>
        </p:txBody>
      </p:sp>
    </p:spTree>
    <p:extLst>
      <p:ext uri="{BB962C8B-B14F-4D97-AF65-F5344CB8AC3E}">
        <p14:creationId xmlns:p14="http://schemas.microsoft.com/office/powerpoint/2010/main" val="2797256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FFA83C-55B5-4645-B57D-3EFAE69BB6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E9DA88E-DBF8-4E1F-9367-AE7DB7111E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8CFCDC3-44E4-4E84-A390-B0A966BDEE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5A9D76-DF83-4993-AC11-90F57AD46220}"/>
              </a:ext>
            </a:extLst>
          </p:cNvPr>
          <p:cNvSpPr>
            <a:spLocks noGrp="1"/>
          </p:cNvSpPr>
          <p:nvPr>
            <p:ph type="dt" sz="half" idx="10"/>
          </p:nvPr>
        </p:nvSpPr>
        <p:spPr/>
        <p:txBody>
          <a:bodyPr/>
          <a:lstStyle/>
          <a:p>
            <a:fld id="{EBC9D91A-3EDD-483B-ACAE-7D9D265D7F4C}" type="datetimeFigureOut">
              <a:rPr lang="zh-CN" altLang="en-US" smtClean="0"/>
              <a:t>2025/7/2</a:t>
            </a:fld>
            <a:endParaRPr lang="zh-CN" altLang="en-US"/>
          </a:p>
        </p:txBody>
      </p:sp>
      <p:sp>
        <p:nvSpPr>
          <p:cNvPr id="6" name="页脚占位符 5">
            <a:extLst>
              <a:ext uri="{FF2B5EF4-FFF2-40B4-BE49-F238E27FC236}">
                <a16:creationId xmlns:a16="http://schemas.microsoft.com/office/drawing/2014/main" id="{85ABFA26-788E-4F63-BD78-14C19D1E52C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6E0B4EF-B8EA-4FC0-8224-88047441095D}"/>
              </a:ext>
            </a:extLst>
          </p:cNvPr>
          <p:cNvSpPr>
            <a:spLocks noGrp="1"/>
          </p:cNvSpPr>
          <p:nvPr>
            <p:ph type="sldNum" sz="quarter" idx="12"/>
          </p:nvPr>
        </p:nvSpPr>
        <p:spPr/>
        <p:txBody>
          <a:bodyPr/>
          <a:lstStyle/>
          <a:p>
            <a:fld id="{F630C17C-EEBA-4124-9340-7012875117A3}" type="slidenum">
              <a:rPr lang="zh-CN" altLang="en-US" smtClean="0"/>
              <a:t>‹#›</a:t>
            </a:fld>
            <a:endParaRPr lang="zh-CN" altLang="en-US"/>
          </a:p>
        </p:txBody>
      </p:sp>
    </p:spTree>
    <p:extLst>
      <p:ext uri="{BB962C8B-B14F-4D97-AF65-F5344CB8AC3E}">
        <p14:creationId xmlns:p14="http://schemas.microsoft.com/office/powerpoint/2010/main" val="32134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D9EB56-22B5-4B20-ACF2-49C50C2744D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F54EB93-A96C-4D26-A997-19BA3B8864A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8D7D8EC-0F0A-4387-9CE9-E161563F134C}"/>
              </a:ext>
            </a:extLst>
          </p:cNvPr>
          <p:cNvSpPr>
            <a:spLocks noGrp="1"/>
          </p:cNvSpPr>
          <p:nvPr>
            <p:ph type="dt" sz="half" idx="10"/>
          </p:nvPr>
        </p:nvSpPr>
        <p:spPr/>
        <p:txBody>
          <a:bodyPr/>
          <a:lstStyle/>
          <a:p>
            <a:fld id="{EBC9D91A-3EDD-483B-ACAE-7D9D265D7F4C}" type="datetimeFigureOut">
              <a:rPr lang="zh-CN" altLang="en-US" smtClean="0"/>
              <a:t>2025/7/2</a:t>
            </a:fld>
            <a:endParaRPr lang="zh-CN" altLang="en-US"/>
          </a:p>
        </p:txBody>
      </p:sp>
      <p:sp>
        <p:nvSpPr>
          <p:cNvPr id="5" name="页脚占位符 4">
            <a:extLst>
              <a:ext uri="{FF2B5EF4-FFF2-40B4-BE49-F238E27FC236}">
                <a16:creationId xmlns:a16="http://schemas.microsoft.com/office/drawing/2014/main" id="{F8D3B003-91D2-4E29-8A6B-6D60E7AA1E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09E5D4-B623-4828-9051-58A956BACD36}"/>
              </a:ext>
            </a:extLst>
          </p:cNvPr>
          <p:cNvSpPr>
            <a:spLocks noGrp="1"/>
          </p:cNvSpPr>
          <p:nvPr>
            <p:ph type="sldNum" sz="quarter" idx="12"/>
          </p:nvPr>
        </p:nvSpPr>
        <p:spPr/>
        <p:txBody>
          <a:bodyPr/>
          <a:lstStyle/>
          <a:p>
            <a:fld id="{F630C17C-EEBA-4124-9340-7012875117A3}" type="slidenum">
              <a:rPr lang="zh-CN" altLang="en-US" smtClean="0"/>
              <a:t>‹#›</a:t>
            </a:fld>
            <a:endParaRPr lang="zh-CN" altLang="en-US"/>
          </a:p>
        </p:txBody>
      </p:sp>
    </p:spTree>
    <p:extLst>
      <p:ext uri="{BB962C8B-B14F-4D97-AF65-F5344CB8AC3E}">
        <p14:creationId xmlns:p14="http://schemas.microsoft.com/office/powerpoint/2010/main" val="1848096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1DDBA7B-F9E7-4E09-8A03-374B4C9EFE7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BD45DD2-2547-4BF3-AF11-154302A0569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072AEB-64DB-48C1-B461-09245E199825}"/>
              </a:ext>
            </a:extLst>
          </p:cNvPr>
          <p:cNvSpPr>
            <a:spLocks noGrp="1"/>
          </p:cNvSpPr>
          <p:nvPr>
            <p:ph type="dt" sz="half" idx="10"/>
          </p:nvPr>
        </p:nvSpPr>
        <p:spPr/>
        <p:txBody>
          <a:bodyPr/>
          <a:lstStyle/>
          <a:p>
            <a:fld id="{EBC9D91A-3EDD-483B-ACAE-7D9D265D7F4C}" type="datetimeFigureOut">
              <a:rPr lang="zh-CN" altLang="en-US" smtClean="0"/>
              <a:t>2025/7/2</a:t>
            </a:fld>
            <a:endParaRPr lang="zh-CN" altLang="en-US"/>
          </a:p>
        </p:txBody>
      </p:sp>
      <p:sp>
        <p:nvSpPr>
          <p:cNvPr id="5" name="页脚占位符 4">
            <a:extLst>
              <a:ext uri="{FF2B5EF4-FFF2-40B4-BE49-F238E27FC236}">
                <a16:creationId xmlns:a16="http://schemas.microsoft.com/office/drawing/2014/main" id="{E178E627-5401-4941-8C44-32F7CD91894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C41B39C-C217-406F-9E10-F942C3243B77}"/>
              </a:ext>
            </a:extLst>
          </p:cNvPr>
          <p:cNvSpPr>
            <a:spLocks noGrp="1"/>
          </p:cNvSpPr>
          <p:nvPr>
            <p:ph type="sldNum" sz="quarter" idx="12"/>
          </p:nvPr>
        </p:nvSpPr>
        <p:spPr/>
        <p:txBody>
          <a:bodyPr/>
          <a:lstStyle/>
          <a:p>
            <a:fld id="{F630C17C-EEBA-4124-9340-7012875117A3}" type="slidenum">
              <a:rPr lang="zh-CN" altLang="en-US" smtClean="0"/>
              <a:t>‹#›</a:t>
            </a:fld>
            <a:endParaRPr lang="zh-CN" altLang="en-US"/>
          </a:p>
        </p:txBody>
      </p:sp>
    </p:spTree>
    <p:extLst>
      <p:ext uri="{BB962C8B-B14F-4D97-AF65-F5344CB8AC3E}">
        <p14:creationId xmlns:p14="http://schemas.microsoft.com/office/powerpoint/2010/main" val="2070577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6F6EF4D-1DEC-4513-8BD4-738C4DFB00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6FA8B0D-46AF-4F84-B3DB-7B780E6AF2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CA9F5A8-B55B-4CCE-A783-DF5B9A6646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C9D91A-3EDD-483B-ACAE-7D9D265D7F4C}" type="datetimeFigureOut">
              <a:rPr lang="zh-CN" altLang="en-US" smtClean="0"/>
              <a:t>2025/7/2</a:t>
            </a:fld>
            <a:endParaRPr lang="zh-CN" altLang="en-US"/>
          </a:p>
        </p:txBody>
      </p:sp>
      <p:sp>
        <p:nvSpPr>
          <p:cNvPr id="5" name="页脚占位符 4">
            <a:extLst>
              <a:ext uri="{FF2B5EF4-FFF2-40B4-BE49-F238E27FC236}">
                <a16:creationId xmlns:a16="http://schemas.microsoft.com/office/drawing/2014/main" id="{8715440B-87F5-4021-A1E6-2D32828543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952DD5C-30BA-4579-A60A-7146D892C5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30C17C-EEBA-4124-9340-7012875117A3}" type="slidenum">
              <a:rPr lang="zh-CN" altLang="en-US" smtClean="0"/>
              <a:t>‹#›</a:t>
            </a:fld>
            <a:endParaRPr lang="zh-CN" altLang="en-US"/>
          </a:p>
        </p:txBody>
      </p:sp>
    </p:spTree>
    <p:extLst>
      <p:ext uri="{BB962C8B-B14F-4D97-AF65-F5344CB8AC3E}">
        <p14:creationId xmlns:p14="http://schemas.microsoft.com/office/powerpoint/2010/main" val="3038272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E4F160-138B-41D9-A0BE-917B73A67444}"/>
              </a:ext>
            </a:extLst>
          </p:cNvPr>
          <p:cNvSpPr>
            <a:spLocks noGrp="1"/>
          </p:cNvSpPr>
          <p:nvPr>
            <p:ph type="ctrTitle"/>
          </p:nvPr>
        </p:nvSpPr>
        <p:spPr/>
        <p:txBody>
          <a:bodyPr/>
          <a:lstStyle/>
          <a:p>
            <a:r>
              <a:rPr lang="zh-CN" altLang="en-US" dirty="0"/>
              <a:t>搜索和矩阵运算</a:t>
            </a:r>
          </a:p>
        </p:txBody>
      </p:sp>
      <p:sp>
        <p:nvSpPr>
          <p:cNvPr id="3" name="副标题 2">
            <a:extLst>
              <a:ext uri="{FF2B5EF4-FFF2-40B4-BE49-F238E27FC236}">
                <a16:creationId xmlns:a16="http://schemas.microsoft.com/office/drawing/2014/main" id="{163FE88C-6605-43BE-8B79-FDB1714B19A7}"/>
              </a:ext>
            </a:extLst>
          </p:cNvPr>
          <p:cNvSpPr>
            <a:spLocks noGrp="1"/>
          </p:cNvSpPr>
          <p:nvPr>
            <p:ph type="subTitle" idx="1"/>
          </p:nvPr>
        </p:nvSpPr>
        <p:spPr/>
        <p:txBody>
          <a:bodyPr/>
          <a:lstStyle/>
          <a:p>
            <a:r>
              <a:rPr lang="en-US" altLang="zh-CN" dirty="0"/>
              <a:t>CSP</a:t>
            </a:r>
            <a:r>
              <a:rPr lang="zh-CN" altLang="en-US" dirty="0"/>
              <a:t>和</a:t>
            </a:r>
            <a:r>
              <a:rPr lang="en-US" altLang="zh-CN" dirty="0"/>
              <a:t>ICPC</a:t>
            </a:r>
            <a:r>
              <a:rPr lang="zh-CN" altLang="en-US" dirty="0"/>
              <a:t>真题</a:t>
            </a:r>
          </a:p>
        </p:txBody>
      </p:sp>
    </p:spTree>
    <p:extLst>
      <p:ext uri="{BB962C8B-B14F-4D97-AF65-F5344CB8AC3E}">
        <p14:creationId xmlns:p14="http://schemas.microsoft.com/office/powerpoint/2010/main" val="2113091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2AE3A7B-9E7B-47D3-875B-E5C21F8CAFC4}"/>
              </a:ext>
            </a:extLst>
          </p:cNvPr>
          <p:cNvPicPr>
            <a:picLocks noChangeAspect="1"/>
          </p:cNvPicPr>
          <p:nvPr/>
        </p:nvPicPr>
        <p:blipFill>
          <a:blip r:embed="rId2"/>
          <a:stretch>
            <a:fillRect/>
          </a:stretch>
        </p:blipFill>
        <p:spPr>
          <a:xfrm>
            <a:off x="114346" y="187020"/>
            <a:ext cx="9458409" cy="6121501"/>
          </a:xfrm>
          <a:prstGeom prst="rect">
            <a:avLst/>
          </a:prstGeom>
        </p:spPr>
      </p:pic>
      <p:sp>
        <p:nvSpPr>
          <p:cNvPr id="8" name="文本框 7">
            <a:extLst>
              <a:ext uri="{FF2B5EF4-FFF2-40B4-BE49-F238E27FC236}">
                <a16:creationId xmlns:a16="http://schemas.microsoft.com/office/drawing/2014/main" id="{2C9D8E8F-CC01-4EFF-9E36-9C56E4D4C8FC}"/>
              </a:ext>
            </a:extLst>
          </p:cNvPr>
          <p:cNvSpPr txBox="1"/>
          <p:nvPr/>
        </p:nvSpPr>
        <p:spPr>
          <a:xfrm>
            <a:off x="8447713" y="109057"/>
            <a:ext cx="2290195" cy="400110"/>
          </a:xfrm>
          <a:prstGeom prst="rect">
            <a:avLst/>
          </a:prstGeom>
          <a:noFill/>
        </p:spPr>
        <p:txBody>
          <a:bodyPr wrap="square" rtlCol="0">
            <a:spAutoFit/>
          </a:bodyPr>
          <a:lstStyle/>
          <a:p>
            <a:r>
              <a:rPr lang="en-US" altLang="zh-CN" sz="2000" b="1" dirty="0"/>
              <a:t>202305-2</a:t>
            </a:r>
            <a:endParaRPr lang="zh-CN" altLang="en-US" sz="2000" b="1" dirty="0"/>
          </a:p>
        </p:txBody>
      </p:sp>
    </p:spTree>
    <p:extLst>
      <p:ext uri="{BB962C8B-B14F-4D97-AF65-F5344CB8AC3E}">
        <p14:creationId xmlns:p14="http://schemas.microsoft.com/office/powerpoint/2010/main" val="531819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AA6DEB60-052A-402D-B6ED-319914B2D433}"/>
              </a:ext>
            </a:extLst>
          </p:cNvPr>
          <p:cNvPicPr>
            <a:picLocks noChangeAspect="1"/>
          </p:cNvPicPr>
          <p:nvPr/>
        </p:nvPicPr>
        <p:blipFill>
          <a:blip r:embed="rId2"/>
          <a:stretch>
            <a:fillRect/>
          </a:stretch>
        </p:blipFill>
        <p:spPr>
          <a:xfrm>
            <a:off x="1110669" y="110202"/>
            <a:ext cx="6828112" cy="6637595"/>
          </a:xfrm>
          <a:prstGeom prst="rect">
            <a:avLst/>
          </a:prstGeom>
        </p:spPr>
      </p:pic>
    </p:spTree>
    <p:extLst>
      <p:ext uri="{BB962C8B-B14F-4D97-AF65-F5344CB8AC3E}">
        <p14:creationId xmlns:p14="http://schemas.microsoft.com/office/powerpoint/2010/main" val="143961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6A4B071-B708-4229-9C8E-C2AB36293A67}"/>
              </a:ext>
            </a:extLst>
          </p:cNvPr>
          <p:cNvPicPr>
            <a:picLocks noChangeAspect="1"/>
          </p:cNvPicPr>
          <p:nvPr/>
        </p:nvPicPr>
        <p:blipFill>
          <a:blip r:embed="rId2"/>
          <a:stretch>
            <a:fillRect/>
          </a:stretch>
        </p:blipFill>
        <p:spPr>
          <a:xfrm>
            <a:off x="1283992" y="90854"/>
            <a:ext cx="10798476" cy="6767146"/>
          </a:xfrm>
          <a:prstGeom prst="rect">
            <a:avLst/>
          </a:prstGeom>
        </p:spPr>
      </p:pic>
      <p:sp>
        <p:nvSpPr>
          <p:cNvPr id="2" name="文本框 1">
            <a:extLst>
              <a:ext uri="{FF2B5EF4-FFF2-40B4-BE49-F238E27FC236}">
                <a16:creationId xmlns:a16="http://schemas.microsoft.com/office/drawing/2014/main" id="{47395C4D-BC99-47EA-9B96-0716B6EC90E4}"/>
              </a:ext>
            </a:extLst>
          </p:cNvPr>
          <p:cNvSpPr txBox="1"/>
          <p:nvPr/>
        </p:nvSpPr>
        <p:spPr>
          <a:xfrm>
            <a:off x="0" y="90854"/>
            <a:ext cx="1451294" cy="461665"/>
          </a:xfrm>
          <a:prstGeom prst="rect">
            <a:avLst/>
          </a:prstGeom>
          <a:noFill/>
        </p:spPr>
        <p:txBody>
          <a:bodyPr wrap="square" rtlCol="0">
            <a:spAutoFit/>
          </a:bodyPr>
          <a:lstStyle/>
          <a:p>
            <a:r>
              <a:rPr lang="zh-CN" altLang="en-US" sz="2400" b="1" dirty="0">
                <a:solidFill>
                  <a:srgbClr val="FF0000"/>
                </a:solidFill>
              </a:rPr>
              <a:t>最佳外卖</a:t>
            </a:r>
          </a:p>
        </p:txBody>
      </p:sp>
    </p:spTree>
    <p:extLst>
      <p:ext uri="{BB962C8B-B14F-4D97-AF65-F5344CB8AC3E}">
        <p14:creationId xmlns:p14="http://schemas.microsoft.com/office/powerpoint/2010/main" val="234298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C1D1BD9-E438-48E7-A1EF-40AEE887A667}"/>
              </a:ext>
            </a:extLst>
          </p:cNvPr>
          <p:cNvPicPr>
            <a:picLocks noChangeAspect="1"/>
          </p:cNvPicPr>
          <p:nvPr/>
        </p:nvPicPr>
        <p:blipFill>
          <a:blip r:embed="rId2"/>
          <a:stretch>
            <a:fillRect/>
          </a:stretch>
        </p:blipFill>
        <p:spPr>
          <a:xfrm>
            <a:off x="1862356" y="166128"/>
            <a:ext cx="7822975" cy="6029171"/>
          </a:xfrm>
          <a:prstGeom prst="rect">
            <a:avLst/>
          </a:prstGeom>
        </p:spPr>
      </p:pic>
    </p:spTree>
    <p:extLst>
      <p:ext uri="{BB962C8B-B14F-4D97-AF65-F5344CB8AC3E}">
        <p14:creationId xmlns:p14="http://schemas.microsoft.com/office/powerpoint/2010/main" val="3242301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72245D2-48C6-4EEC-BA53-691A46C47EC2}"/>
              </a:ext>
            </a:extLst>
          </p:cNvPr>
          <p:cNvSpPr>
            <a:spLocks noGrp="1"/>
          </p:cNvSpPr>
          <p:nvPr>
            <p:ph idx="1"/>
          </p:nvPr>
        </p:nvSpPr>
        <p:spPr>
          <a:xfrm>
            <a:off x="838200" y="251670"/>
            <a:ext cx="10515600" cy="5925293"/>
          </a:xfrm>
        </p:spPr>
        <p:txBody>
          <a:bodyPr/>
          <a:lstStyle/>
          <a:p>
            <a:pPr marL="0" indent="0">
              <a:buNone/>
            </a:pPr>
            <a:r>
              <a:rPr lang="zh-CN" altLang="en-US" dirty="0"/>
              <a:t>题目分析</a:t>
            </a:r>
            <a:endParaRPr lang="en-US" altLang="zh-CN" dirty="0"/>
          </a:p>
          <a:p>
            <a:r>
              <a:rPr lang="zh-CN" altLang="en-US" dirty="0"/>
              <a:t>宽度优先搜索（ </a:t>
            </a:r>
            <a:r>
              <a:rPr lang="en-US" altLang="zh-CN" dirty="0"/>
              <a:t>Breadth First Search , BFS </a:t>
            </a:r>
            <a:r>
              <a:rPr lang="zh-CN" altLang="en-US" dirty="0"/>
              <a:t>）算法，</a:t>
            </a:r>
            <a:endParaRPr lang="en-US" altLang="zh-CN" dirty="0"/>
          </a:p>
          <a:p>
            <a:r>
              <a:rPr lang="zh-CN" altLang="en-US" dirty="0"/>
              <a:t>顾名思义，就是从初始结点开始逐层向下扩展，在第 </a:t>
            </a:r>
            <a:r>
              <a:rPr lang="en-US" altLang="zh-CN" dirty="0"/>
              <a:t>n </a:t>
            </a:r>
            <a:r>
              <a:rPr lang="zh-CN" altLang="en-US" dirty="0"/>
              <a:t>层结点还没有全部搜索完之前，不进入第 </a:t>
            </a:r>
            <a:r>
              <a:rPr lang="en-US" altLang="zh-CN" dirty="0"/>
              <a:t>n +1</a:t>
            </a:r>
            <a:r>
              <a:rPr lang="zh-CN" altLang="en-US" dirty="0"/>
              <a:t>层搜索结点。</a:t>
            </a:r>
            <a:endParaRPr lang="en-US" altLang="zh-CN" dirty="0"/>
          </a:p>
          <a:p>
            <a:r>
              <a:rPr lang="zh-CN" altLang="en-US" dirty="0"/>
              <a:t>本题使用 </a:t>
            </a:r>
            <a:r>
              <a:rPr lang="en-US" altLang="zh-CN" dirty="0"/>
              <a:t>BFS </a:t>
            </a:r>
            <a:r>
              <a:rPr lang="zh-CN" altLang="en-US" dirty="0"/>
              <a:t>算法求所有源点和所有目标点的最短距离。</a:t>
            </a:r>
            <a:endParaRPr lang="en-US" altLang="zh-CN" dirty="0"/>
          </a:p>
          <a:p>
            <a:r>
              <a:rPr lang="zh-CN" altLang="en-US" dirty="0"/>
              <a:t>注意，最后结果超出 </a:t>
            </a:r>
            <a:r>
              <a:rPr lang="en-US" altLang="zh-CN" dirty="0"/>
              <a:t>int </a:t>
            </a:r>
            <a:r>
              <a:rPr lang="zh-CN" altLang="en-US" dirty="0"/>
              <a:t>类型的取值范围，要用 </a:t>
            </a:r>
            <a:r>
              <a:rPr lang="en-US" altLang="zh-CN" dirty="0"/>
              <a:t>long </a:t>
            </a:r>
            <a:r>
              <a:rPr lang="en-US" altLang="zh-CN" dirty="0" err="1"/>
              <a:t>long</a:t>
            </a:r>
            <a:r>
              <a:rPr lang="en-US" altLang="zh-CN" dirty="0"/>
              <a:t> </a:t>
            </a:r>
            <a:r>
              <a:rPr lang="zh-CN" altLang="en-US" dirty="0"/>
              <a:t>类型定义。</a:t>
            </a:r>
          </a:p>
        </p:txBody>
      </p:sp>
    </p:spTree>
    <p:extLst>
      <p:ext uri="{BB962C8B-B14F-4D97-AF65-F5344CB8AC3E}">
        <p14:creationId xmlns:p14="http://schemas.microsoft.com/office/powerpoint/2010/main" val="4146800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8788B73-D765-48CA-95A8-1FA7436008F5}"/>
              </a:ext>
            </a:extLst>
          </p:cNvPr>
          <p:cNvPicPr>
            <a:picLocks noChangeAspect="1"/>
          </p:cNvPicPr>
          <p:nvPr/>
        </p:nvPicPr>
        <p:blipFill>
          <a:blip r:embed="rId2"/>
          <a:stretch>
            <a:fillRect/>
          </a:stretch>
        </p:blipFill>
        <p:spPr>
          <a:xfrm>
            <a:off x="639607" y="144495"/>
            <a:ext cx="10912786" cy="6569009"/>
          </a:xfrm>
          <a:prstGeom prst="rect">
            <a:avLst/>
          </a:prstGeom>
        </p:spPr>
      </p:pic>
    </p:spTree>
    <p:extLst>
      <p:ext uri="{BB962C8B-B14F-4D97-AF65-F5344CB8AC3E}">
        <p14:creationId xmlns:p14="http://schemas.microsoft.com/office/powerpoint/2010/main" val="2667529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AD2634F-6071-4BAF-AB84-41A2EE9285E3}"/>
              </a:ext>
            </a:extLst>
          </p:cNvPr>
          <p:cNvPicPr>
            <a:picLocks noChangeAspect="1"/>
          </p:cNvPicPr>
          <p:nvPr/>
        </p:nvPicPr>
        <p:blipFill>
          <a:blip r:embed="rId2"/>
          <a:stretch>
            <a:fillRect/>
          </a:stretch>
        </p:blipFill>
        <p:spPr>
          <a:xfrm>
            <a:off x="658659" y="529338"/>
            <a:ext cx="10874682" cy="5799323"/>
          </a:xfrm>
          <a:prstGeom prst="rect">
            <a:avLst/>
          </a:prstGeom>
        </p:spPr>
      </p:pic>
    </p:spTree>
    <p:extLst>
      <p:ext uri="{BB962C8B-B14F-4D97-AF65-F5344CB8AC3E}">
        <p14:creationId xmlns:p14="http://schemas.microsoft.com/office/powerpoint/2010/main" val="932187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D8C8A10-2CFA-4FCB-AC05-F36B992F04B8}"/>
              </a:ext>
            </a:extLst>
          </p:cNvPr>
          <p:cNvSpPr>
            <a:spLocks noGrp="1"/>
          </p:cNvSpPr>
          <p:nvPr>
            <p:ph idx="1"/>
          </p:nvPr>
        </p:nvSpPr>
        <p:spPr>
          <a:xfrm>
            <a:off x="838200" y="302004"/>
            <a:ext cx="10515600" cy="5874959"/>
          </a:xfrm>
        </p:spPr>
        <p:txBody>
          <a:bodyPr>
            <a:normAutofit lnSpcReduction="10000"/>
          </a:bodyPr>
          <a:lstStyle/>
          <a:p>
            <a:pPr algn="just"/>
            <a:r>
              <a:rPr lang="zh-CN" altLang="zh-CN" sz="3200" kern="100" dirty="0">
                <a:effectLst/>
                <a:latin typeface="Calibri" panose="020F0502020204030204" pitchFamily="34" charset="0"/>
                <a:ea typeface="宋体" panose="02010600030101010101" pitchFamily="2" charset="-122"/>
                <a:cs typeface="Arial" panose="020B0604020202020204" pitchFamily="34" charset="0"/>
              </a:rPr>
              <a:t>题目分析</a:t>
            </a:r>
          </a:p>
          <a:p>
            <a:pPr algn="just"/>
            <a:r>
              <a:rPr lang="zh-CN" altLang="zh-CN" sz="3200" kern="100" dirty="0">
                <a:effectLst/>
                <a:latin typeface="Calibri" panose="020F0502020204030204" pitchFamily="34" charset="0"/>
                <a:ea typeface="宋体" panose="02010600030101010101" pitchFamily="2" charset="-122"/>
                <a:cs typeface="Arial" panose="020B0604020202020204" pitchFamily="34" charset="0"/>
              </a:rPr>
              <a:t>本题要求的是最短到达时间，所以考虑用宽度优先搜索算法解。</a:t>
            </a:r>
            <a:endParaRPr lang="en-US" altLang="zh-CN" sz="3200" kern="100" dirty="0">
              <a:effectLst/>
              <a:latin typeface="Calibri" panose="020F0502020204030204" pitchFamily="34" charset="0"/>
              <a:ea typeface="宋体" panose="02010600030101010101" pitchFamily="2" charset="-122"/>
              <a:cs typeface="Arial" panose="020B0604020202020204" pitchFamily="34" charset="0"/>
            </a:endParaRPr>
          </a:p>
          <a:p>
            <a:pPr algn="just"/>
            <a:r>
              <a:rPr lang="zh-CN" altLang="zh-CN" sz="3200" kern="100" dirty="0">
                <a:solidFill>
                  <a:srgbClr val="FF0000"/>
                </a:solidFill>
                <a:effectLst/>
                <a:latin typeface="Calibri" panose="020F0502020204030204" pitchFamily="34" charset="0"/>
                <a:ea typeface="宋体" panose="02010600030101010101" pitchFamily="2" charset="-122"/>
                <a:cs typeface="Arial" panose="020B0604020202020204" pitchFamily="34" charset="0"/>
              </a:rPr>
              <a:t>本题的难点</a:t>
            </a:r>
            <a:r>
              <a:rPr lang="zh-CN" altLang="zh-CN" sz="3200" kern="100" dirty="0">
                <a:effectLst/>
                <a:latin typeface="Calibri" panose="020F0502020204030204" pitchFamily="34" charset="0"/>
                <a:ea typeface="宋体" panose="02010600030101010101" pitchFamily="2" charset="-122"/>
                <a:cs typeface="Arial" panose="020B0604020202020204" pitchFamily="34" charset="0"/>
              </a:rPr>
              <a:t>在于每个方格是否危险是随着时间变化的，而非固定不变的，所以方格即使是在最短路径中仍然可能被重复访问。用二维数组来标记某个方格是否访问过是错误的，因为在时刻</a:t>
            </a:r>
            <a:r>
              <a:rPr lang="en-US" altLang="zh-CN" sz="3200" kern="100" dirty="0">
                <a:effectLst/>
                <a:latin typeface="Calibri" panose="020F0502020204030204" pitchFamily="34" charset="0"/>
                <a:ea typeface="宋体" panose="02010600030101010101" pitchFamily="2" charset="-122"/>
                <a:cs typeface="Arial" panose="020B0604020202020204" pitchFamily="34" charset="0"/>
              </a:rPr>
              <a:t>t1</a:t>
            </a:r>
            <a:r>
              <a:rPr lang="zh-CN" altLang="zh-CN" sz="3200" kern="100" dirty="0">
                <a:effectLst/>
                <a:latin typeface="Calibri" panose="020F0502020204030204" pitchFamily="34" charset="0"/>
                <a:ea typeface="宋体" panose="02010600030101010101" pitchFamily="2" charset="-122"/>
                <a:cs typeface="Arial" panose="020B0604020202020204" pitchFamily="34" charset="0"/>
              </a:rPr>
              <a:t>和时刻</a:t>
            </a:r>
            <a:r>
              <a:rPr lang="en-US" altLang="zh-CN" sz="3200" kern="100" dirty="0">
                <a:effectLst/>
                <a:latin typeface="Calibri" panose="020F0502020204030204" pitchFamily="34" charset="0"/>
                <a:ea typeface="宋体" panose="02010600030101010101" pitchFamily="2" charset="-122"/>
                <a:cs typeface="Arial" panose="020B0604020202020204" pitchFamily="34" charset="0"/>
              </a:rPr>
              <a:t>t2(t1&lt;t2</a:t>
            </a:r>
            <a:r>
              <a:rPr lang="zh-CN" altLang="zh-CN" sz="3200" kern="100" dirty="0">
                <a:effectLst/>
                <a:latin typeface="Calibri" panose="020F0502020204030204" pitchFamily="34" charset="0"/>
                <a:ea typeface="宋体" panose="02010600030101010101" pitchFamily="2" charset="-122"/>
                <a:cs typeface="Arial" panose="020B0604020202020204" pitchFamily="34" charset="0"/>
              </a:rPr>
              <a:t>）访问了某个方格后，时刻</a:t>
            </a:r>
            <a:r>
              <a:rPr lang="en-US" altLang="zh-CN" sz="3200" kern="100" dirty="0">
                <a:effectLst/>
                <a:latin typeface="Calibri" panose="020F0502020204030204" pitchFamily="34" charset="0"/>
                <a:ea typeface="宋体" panose="02010600030101010101" pitchFamily="2" charset="-122"/>
                <a:cs typeface="Arial" panose="020B0604020202020204" pitchFamily="34" charset="0"/>
              </a:rPr>
              <a:t>t1</a:t>
            </a:r>
            <a:r>
              <a:rPr lang="zh-CN" altLang="zh-CN" sz="3200" kern="100" dirty="0">
                <a:effectLst/>
                <a:latin typeface="Calibri" panose="020F0502020204030204" pitchFamily="34" charset="0"/>
                <a:ea typeface="宋体" panose="02010600030101010101" pitchFamily="2" charset="-122"/>
                <a:cs typeface="Arial" panose="020B0604020202020204" pitchFamily="34" charset="0"/>
              </a:rPr>
              <a:t>访问的情况下玩家未必能更快地到达终点，甚至有可能无法到达终点。要对这两种状态进行区分。</a:t>
            </a:r>
          </a:p>
          <a:p>
            <a:pPr algn="just"/>
            <a:r>
              <a:rPr lang="zh-CN" altLang="zh-CN" sz="3200" kern="100" dirty="0">
                <a:effectLst/>
                <a:latin typeface="Calibri" panose="020F0502020204030204" pitchFamily="34" charset="0"/>
                <a:ea typeface="宋体" panose="02010600030101010101" pitchFamily="2" charset="-122"/>
                <a:cs typeface="Arial" panose="020B0604020202020204" pitchFamily="34" charset="0"/>
              </a:rPr>
              <a:t>考虑采用三维数组，前两维是该方格的位置坐标，最后一维是当前到达的时间，因为同时到达同一格子显然不用继续往下搜索。而此时的状态个数是</a:t>
            </a:r>
            <a:r>
              <a:rPr lang="en-US" altLang="zh-CN" sz="3200" kern="100" dirty="0">
                <a:effectLst/>
                <a:latin typeface="Calibri" panose="020F0502020204030204" pitchFamily="34" charset="0"/>
                <a:ea typeface="宋体" panose="02010600030101010101" pitchFamily="2" charset="-122"/>
                <a:cs typeface="Arial" panose="020B0604020202020204" pitchFamily="34" charset="0"/>
              </a:rPr>
              <a:t> n x mx300</a:t>
            </a:r>
            <a:r>
              <a:rPr lang="zh-CN" altLang="zh-CN" sz="3200" kern="100" dirty="0">
                <a:effectLst/>
                <a:latin typeface="Calibri" panose="020F0502020204030204" pitchFamily="34" charset="0"/>
                <a:ea typeface="宋体" panose="02010600030101010101" pitchFamily="2" charset="-122"/>
                <a:cs typeface="Arial" panose="020B0604020202020204" pitchFamily="34" charset="0"/>
              </a:rPr>
              <a:t>（此后会解释为什么是</a:t>
            </a:r>
            <a:r>
              <a:rPr lang="en-US" altLang="zh-CN" sz="3200" kern="100" dirty="0">
                <a:effectLst/>
                <a:latin typeface="Calibri" panose="020F0502020204030204" pitchFamily="34" charset="0"/>
                <a:ea typeface="宋体" panose="02010600030101010101" pitchFamily="2" charset="-122"/>
                <a:cs typeface="Arial" panose="020B0604020202020204" pitchFamily="34" charset="0"/>
              </a:rPr>
              <a:t>300)</a:t>
            </a:r>
            <a:r>
              <a:rPr lang="zh-CN" altLang="zh-CN" sz="3200" kern="100" dirty="0">
                <a:effectLst/>
                <a:latin typeface="Calibri" panose="020F0502020204030204" pitchFamily="34" charset="0"/>
                <a:ea typeface="宋体" panose="02010600030101010101" pitchFamily="2" charset="-122"/>
                <a:cs typeface="Arial" panose="020B0604020202020204" pitchFamily="34" charset="0"/>
              </a:rPr>
              <a:t>，是可以通过的。</a:t>
            </a:r>
          </a:p>
          <a:p>
            <a:pPr marL="0" indent="0">
              <a:buNone/>
            </a:pPr>
            <a:endParaRPr lang="zh-CN" altLang="en-US" dirty="0"/>
          </a:p>
        </p:txBody>
      </p:sp>
    </p:spTree>
    <p:extLst>
      <p:ext uri="{BB962C8B-B14F-4D97-AF65-F5344CB8AC3E}">
        <p14:creationId xmlns:p14="http://schemas.microsoft.com/office/powerpoint/2010/main" val="237641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D8C8A10-2CFA-4FCB-AC05-F36B992F04B8}"/>
              </a:ext>
            </a:extLst>
          </p:cNvPr>
          <p:cNvSpPr>
            <a:spLocks noGrp="1"/>
          </p:cNvSpPr>
          <p:nvPr>
            <p:ph idx="1"/>
          </p:nvPr>
        </p:nvSpPr>
        <p:spPr>
          <a:xfrm>
            <a:off x="838200" y="302004"/>
            <a:ext cx="10515600" cy="5874959"/>
          </a:xfrm>
        </p:spPr>
        <p:txBody>
          <a:bodyPr>
            <a:normAutofit/>
          </a:bodyPr>
          <a:lstStyle/>
          <a:p>
            <a:pPr algn="just"/>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实现要点：</a:t>
            </a:r>
          </a:p>
          <a:p>
            <a:pPr algn="just"/>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宽度优先搜索算法是通过队列实现的，在</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C</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语言中队列需要用数组实现。有首指针和尾指针两个变量。入队操作就是将元素放入首指针指向的位置，并将首指针加</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1</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；出队操作就是将尾指针加</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1</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判断队列是否为空就是看首指针是否等于尾指针（需要保证整个搜索过程中队列中元素的最大个数不会超过数组的大小）。·危险时间的记录可以采用两种方法。可以将所有格子的危险时间段中的记录数组初始化为</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1</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让它在此后的搜索过程中不被访问。由于每个格子至多只有一段危险时间，所以也可以用两个二维数组分别记录每个格子危险时间段的开始时间和结束时间。这种方法需要预先将开始时间初始化成一个较大的数（或者将结束时间初始化为﹣</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1)</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，以表示一开始所有的格子都没有危险时间段。</a:t>
            </a:r>
          </a:p>
          <a:p>
            <a:pPr algn="just"/>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·确定数组规模的关键在于第三维</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 </a:t>
            </a:r>
            <a:r>
              <a:rPr lang="en-US" altLang="zh-CN" sz="2400" kern="100" dirty="0" err="1">
                <a:effectLst/>
                <a:latin typeface="Calibri" panose="020F0502020204030204" pitchFamily="34" charset="0"/>
                <a:ea typeface="宋体" panose="02010600030101010101" pitchFamily="2" charset="-122"/>
                <a:cs typeface="Arial" panose="020B0604020202020204" pitchFamily="34" charset="0"/>
              </a:rPr>
              <a:t>maxT</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 </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。题目保证一定可达，而且危险时间段最多只在前</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100</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个时间单位会出现，从（</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1,1</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）到（</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 n , m </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）不超过</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200</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个时间单位，所以</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300</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个时间单位内必然可以到达（</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 n , m )</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。所以玩家一定可以在</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300</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个时间单位内到达终点，第三维的大小只需要设为</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300</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即可。</a:t>
            </a:r>
          </a:p>
          <a:p>
            <a:pPr algn="just"/>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本解法的时间复杂度为</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 O ( nm x </a:t>
            </a:r>
            <a:r>
              <a:rPr lang="en-US" altLang="zh-CN" sz="2400" kern="100" dirty="0" err="1">
                <a:effectLst/>
                <a:latin typeface="Calibri" panose="020F0502020204030204" pitchFamily="34" charset="0"/>
                <a:ea typeface="宋体" panose="02010600030101010101" pitchFamily="2" charset="-122"/>
                <a:cs typeface="Arial" panose="020B0604020202020204" pitchFamily="34" charset="0"/>
              </a:rPr>
              <a:t>maxT</a:t>
            </a:r>
            <a:r>
              <a:rPr lang="en-US" altLang="zh-CN" sz="2400" kern="100" dirty="0">
                <a:effectLst/>
                <a:latin typeface="Calibri" panose="020F0502020204030204" pitchFamily="34" charset="0"/>
                <a:ea typeface="宋体" panose="02010600030101010101" pitchFamily="2" charset="-122"/>
                <a:cs typeface="Arial" panose="020B0604020202020204" pitchFamily="34" charset="0"/>
              </a:rPr>
              <a:t> )</a:t>
            </a:r>
            <a:r>
              <a:rPr lang="zh-CN" altLang="zh-CN" sz="2400" kern="100" dirty="0">
                <a:effectLst/>
                <a:latin typeface="Calibri" panose="020F0502020204030204" pitchFamily="34" charset="0"/>
                <a:ea typeface="宋体" panose="02010600030101010101" pitchFamily="2" charset="-122"/>
                <a:cs typeface="Arial" panose="020B0604020202020204" pitchFamily="34" charset="0"/>
              </a:rPr>
              <a:t>。</a:t>
            </a:r>
          </a:p>
          <a:p>
            <a:endParaRPr lang="zh-CN" altLang="en-US" dirty="0"/>
          </a:p>
        </p:txBody>
      </p:sp>
    </p:spTree>
    <p:extLst>
      <p:ext uri="{BB962C8B-B14F-4D97-AF65-F5344CB8AC3E}">
        <p14:creationId xmlns:p14="http://schemas.microsoft.com/office/powerpoint/2010/main" val="48253058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CCE8C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572</Words>
  <Application>Microsoft Office PowerPoint</Application>
  <PresentationFormat>宽屏</PresentationFormat>
  <Paragraphs>17</Paragraphs>
  <Slides>10</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vt:i4>
      </vt:variant>
    </vt:vector>
  </HeadingPairs>
  <TitlesOfParts>
    <vt:vector size="15" baseType="lpstr">
      <vt:lpstr>等线</vt:lpstr>
      <vt:lpstr>等线 Light</vt:lpstr>
      <vt:lpstr>Arial</vt:lpstr>
      <vt:lpstr>Calibri</vt:lpstr>
      <vt:lpstr>Office 主题​​</vt:lpstr>
      <vt:lpstr>搜索和矩阵运算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yyxxyy</dc:creator>
  <cp:lastModifiedBy>yyxxyy</cp:lastModifiedBy>
  <cp:revision>16</cp:revision>
  <dcterms:created xsi:type="dcterms:W3CDTF">2024-05-08T02:16:52Z</dcterms:created>
  <dcterms:modified xsi:type="dcterms:W3CDTF">2025-07-02T04:50:11Z</dcterms:modified>
</cp:coreProperties>
</file>