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7" r:id="rId11"/>
    <p:sldId id="266" r:id="rId12"/>
    <p:sldId id="265" r:id="rId13"/>
    <p:sldId id="270" r:id="rId14"/>
    <p:sldId id="271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7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B69D3-1DF1-4CDC-8278-A4F38EE09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AC924B-2312-4539-B4FB-AEAC17EF8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FA7EA7-EFED-40E4-B482-98E9276E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4B6E9-3D5B-472A-B4DA-F48FD071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EAEC4-BA4E-4D24-A477-8CE70F79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04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4E54E-395E-493D-8282-AEECD0F5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A82AD-0401-45A7-A7EE-8CF5241EE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13C04-0C9C-4B59-9C06-8B530EBC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90B14-03A2-48D6-8CA6-5C3FDBC7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5072D-2756-4AB7-B9EE-96A5DB1D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60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18E8E-63E1-4578-8901-21AE60C2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AB6F73-B578-4180-8606-4B3BAB89D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81236-40F0-4C95-9CB6-2C53D239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70B25-07E0-4F1F-AB80-38ADB0D1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5BA5F6-DC45-43EF-9D6F-7E37A279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92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0BD4-492F-48FE-8A81-09783FF9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03EFB-3909-488E-8718-CFE80DA1F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AE1230-7EDB-402B-B554-CE6E65DD8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481E70-5EB1-4D0E-8311-C5696B63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139A19-3846-4A4F-B0A3-A26DA06C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524F1C-415B-44BB-98C8-1F07EC15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62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C90BC-21D3-44AD-901F-E4F3DA74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A64A63-52B4-4657-9184-D95B807B7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C5A5C6-2095-4BB0-A8AA-143814BEB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285E2B-F01E-4309-8DBA-A4D53FEF0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E2B1FD-4BB3-4A6E-A753-0B1752ACC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7949C4-702E-4BD3-8076-E8096C24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8FDD19-9B8E-4C3F-9E6D-728254E6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8DAFA3-0C54-4811-B639-934C88F1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53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D4756-30CA-4D1D-AF7B-6F333B20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B262A8-28CF-42C4-8FC6-EAD5A6BE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8DF6C3-5E92-40B7-8E2B-88A8B10F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96B612-8DAA-4638-81C2-98B6405D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24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CD487D-36C1-4405-BDDF-83AD848F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C91A85-C24D-434D-A4E9-488213E60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72CFE5-25EF-46AA-BB97-915BA436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74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50411-9414-46D7-B689-C272B0E3B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1722D-51B9-424E-A5E5-5FAA3D77A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FAC8AF-1C0E-4CE3-9375-9C04F4CDF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4AFAA2-9E88-41B7-9E4D-71095B8E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BA015-1812-4C00-8443-FECAB30E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4D05C-5807-48C3-B608-B69CCDF5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93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1F1EE-C944-4F3A-8EB0-03215A9AD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8107C4-C010-447B-8CB8-C98A1A108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008D62-406D-4D0D-848A-878B153B1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33225D-99A9-4CB5-8A0F-9DB18888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C5F443-BEE6-4687-8BDD-82A691D3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60C3D5-23ED-49EC-A6F7-6AF1D1CB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05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94BAE-85D6-43C7-83B7-C882030E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6DD111-6F7D-4BD6-BAC7-0C0D39730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BC69F8-FD0B-4D18-BDA9-75AE74BE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82BB1-0FE6-4F2B-AC81-98B09716C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99A9C-A197-4E8D-BE5F-54F6678F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99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A71690-4DA6-4FD3-8B0A-9E7018A4E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BF5F9B-700B-40A6-A0ED-2E3C3387C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C845B-1594-4554-9723-812F826E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8D35A5-D370-45C0-8D06-262B7B2D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20624-F046-467D-8A5E-92C09A59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4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32B785-2C94-4200-9A76-24030085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E12904-451C-4A3F-BAB1-C68F31D50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DC98F4-241B-4BC9-8999-51733F671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05A6-1A4E-4074-8C72-EAFAA69F4FDB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2E49F-BEDB-420A-A638-31CCF85B2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5C62B-4A09-45D0-8121-962589FAB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09955-422A-4F6E-BD23-C3A83063D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36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1EFCD-6A71-4F92-A590-766BC1B3F2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动态规划真题解析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646111-938F-458D-9EA2-A6B117A979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动态规划</a:t>
            </a:r>
            <a:endParaRPr lang="en-US" altLang="zh-CN" sz="3600" dirty="0"/>
          </a:p>
          <a:p>
            <a:r>
              <a:rPr lang="zh-CN" altLang="en-US" sz="3600" dirty="0"/>
              <a:t>王晓茹</a:t>
            </a:r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北京邮电大学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3116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1390F47-584F-4439-B003-8EF556551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12" y="477502"/>
            <a:ext cx="9914716" cy="627144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4B8968A-E414-48CB-AAB7-28F6E329E864}"/>
              </a:ext>
            </a:extLst>
          </p:cNvPr>
          <p:cNvSpPr txBox="1"/>
          <p:nvPr/>
        </p:nvSpPr>
        <p:spPr>
          <a:xfrm>
            <a:off x="8447713" y="109057"/>
            <a:ext cx="2290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201403-5</a:t>
            </a:r>
            <a:endParaRPr lang="zh-CN" altLang="en-US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9DECD3-D10A-4244-962B-5B98C635CF20}"/>
              </a:ext>
            </a:extLst>
          </p:cNvPr>
          <p:cNvSpPr txBox="1"/>
          <p:nvPr/>
        </p:nvSpPr>
        <p:spPr>
          <a:xfrm>
            <a:off x="201336" y="477502"/>
            <a:ext cx="169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任务调度</a:t>
            </a:r>
          </a:p>
        </p:txBody>
      </p:sp>
    </p:spTree>
    <p:extLst>
      <p:ext uri="{BB962C8B-B14F-4D97-AF65-F5344CB8AC3E}">
        <p14:creationId xmlns:p14="http://schemas.microsoft.com/office/powerpoint/2010/main" val="177924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739D8-CB46-40CD-A900-48AFCFC9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31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题目分析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3C14C3-88B5-4CA9-94B2-E0D3F792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223"/>
            <a:ext cx="10515600" cy="2458387"/>
          </a:xfrm>
        </p:spPr>
        <p:txBody>
          <a:bodyPr/>
          <a:lstStyle/>
          <a:p>
            <a:r>
              <a:rPr lang="zh-CN" altLang="en-US" dirty="0"/>
              <a:t>本题的解决实际上应该分为两个步骤：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(1</a:t>
            </a:r>
            <a:r>
              <a:rPr lang="zh-CN" altLang="en-US" dirty="0"/>
              <a:t>）为每一个任务在</a:t>
            </a:r>
            <a:r>
              <a:rPr lang="en-US" altLang="zh-CN" dirty="0"/>
              <a:t>4</a:t>
            </a:r>
            <a:r>
              <a:rPr lang="zh-CN" altLang="en-US" dirty="0"/>
              <a:t>种硬件资源中选择适当的一种。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(2</a:t>
            </a:r>
            <a:r>
              <a:rPr lang="zh-CN" altLang="en-US" dirty="0"/>
              <a:t>）安排所有任务的执行顺序。</a:t>
            </a:r>
            <a:endParaRPr lang="en-US" altLang="zh-CN" dirty="0"/>
          </a:p>
          <a:p>
            <a:r>
              <a:rPr lang="zh-CN" altLang="en-US" dirty="0"/>
              <a:t>表</a:t>
            </a:r>
            <a:r>
              <a:rPr lang="en-US" altLang="zh-CN" dirty="0"/>
              <a:t>1.1</a:t>
            </a:r>
            <a:r>
              <a:rPr lang="zh-CN" altLang="en-US" dirty="0"/>
              <a:t>硬件资源的分配模式先对步骤（</a:t>
            </a:r>
            <a:r>
              <a:rPr lang="en-US" altLang="zh-CN" dirty="0"/>
              <a:t>1</a:t>
            </a:r>
            <a:r>
              <a:rPr lang="zh-CN" altLang="en-US" dirty="0"/>
              <a:t>）进行分析，不难发现，硬件资源的分配模式中存在某些微妙的关系，如表</a:t>
            </a:r>
            <a:r>
              <a:rPr lang="en-US" altLang="zh-CN" dirty="0"/>
              <a:t>1.1</a:t>
            </a:r>
            <a:r>
              <a:rPr lang="zh-CN" altLang="en-US" dirty="0"/>
              <a:t>所示。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733BCA-B68B-47A2-9C0A-825152887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226144"/>
              </p:ext>
            </p:extLst>
          </p:nvPr>
        </p:nvGraphicFramePr>
        <p:xfrm>
          <a:off x="1154244" y="3762530"/>
          <a:ext cx="9069048" cy="2458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016">
                  <a:extLst>
                    <a:ext uri="{9D8B030D-6E8A-4147-A177-3AD203B41FA5}">
                      <a16:colId xmlns:a16="http://schemas.microsoft.com/office/drawing/2014/main" val="1342555500"/>
                    </a:ext>
                  </a:extLst>
                </a:gridCol>
                <a:gridCol w="3023016">
                  <a:extLst>
                    <a:ext uri="{9D8B030D-6E8A-4147-A177-3AD203B41FA5}">
                      <a16:colId xmlns:a16="http://schemas.microsoft.com/office/drawing/2014/main" val="612909708"/>
                    </a:ext>
                  </a:extLst>
                </a:gridCol>
                <a:gridCol w="3023016">
                  <a:extLst>
                    <a:ext uri="{9D8B030D-6E8A-4147-A177-3AD203B41FA5}">
                      <a16:colId xmlns:a16="http://schemas.microsoft.com/office/drawing/2014/main" val="1816702025"/>
                    </a:ext>
                  </a:extLst>
                </a:gridCol>
              </a:tblGrid>
              <a:tr h="614597">
                <a:tc>
                  <a:txBody>
                    <a:bodyPr/>
                    <a:lstStyle/>
                    <a:p>
                      <a:r>
                        <a:rPr lang="zh-CN" altLang="en-US" dirty="0"/>
                        <a:t>执行方案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不占用 </a:t>
                      </a:r>
                      <a:r>
                        <a:rPr lang="en-US" altLang="zh-CN" dirty="0"/>
                        <a:t>CPU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占用 </a:t>
                      </a:r>
                      <a:r>
                        <a:rPr lang="en-US" altLang="zh-CN" dirty="0"/>
                        <a:t>GPU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63105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r>
                        <a:rPr lang="zh-CN" altLang="en-US" dirty="0"/>
                        <a:t>不占用 </a:t>
                      </a:r>
                      <a:r>
                        <a:rPr lang="en-US" altLang="zh-CN" dirty="0"/>
                        <a:t>GPU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不可行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不可行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12551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r>
                        <a:rPr lang="zh-CN" altLang="en-US" dirty="0"/>
                        <a:t>占用一个 </a:t>
                      </a:r>
                      <a:r>
                        <a:rPr lang="en-US" altLang="zh-CN" dirty="0"/>
                        <a:t>CPU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ai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Ci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553083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r>
                        <a:rPr lang="zh-CN" altLang="en-US" dirty="0"/>
                        <a:t>占用两个 </a:t>
                      </a:r>
                      <a:r>
                        <a:rPr lang="en-US" altLang="zh-CN" dirty="0"/>
                        <a:t>CPU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di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90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739D8-CB46-40CD-A900-48AFCFC9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521" y="350134"/>
            <a:ext cx="3029263" cy="48931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题目分析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3C14C3-88B5-4CA9-94B2-E0D3F792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83" y="970613"/>
            <a:ext cx="6881735" cy="1517755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可以得出以下规律和性质：</a:t>
            </a:r>
            <a:endParaRPr lang="en-US" altLang="zh-CN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b="1" dirty="0"/>
              <a:t>程序运行至少会占用一个 </a:t>
            </a:r>
            <a:r>
              <a:rPr lang="en-US" altLang="zh-CN" b="1" dirty="0"/>
              <a:t>CPU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b="1" dirty="0"/>
              <a:t>程序可能占用更多资源且花费更多时间，这种情况不是优化的，需要排除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733BCA-B68B-47A2-9C0A-825152887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21185"/>
              </p:ext>
            </p:extLst>
          </p:nvPr>
        </p:nvGraphicFramePr>
        <p:xfrm>
          <a:off x="7290217" y="29980"/>
          <a:ext cx="4901783" cy="2458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750">
                  <a:extLst>
                    <a:ext uri="{9D8B030D-6E8A-4147-A177-3AD203B41FA5}">
                      <a16:colId xmlns:a16="http://schemas.microsoft.com/office/drawing/2014/main" val="1342555500"/>
                    </a:ext>
                  </a:extLst>
                </a:gridCol>
                <a:gridCol w="1693888">
                  <a:extLst>
                    <a:ext uri="{9D8B030D-6E8A-4147-A177-3AD203B41FA5}">
                      <a16:colId xmlns:a16="http://schemas.microsoft.com/office/drawing/2014/main" val="612909708"/>
                    </a:ext>
                  </a:extLst>
                </a:gridCol>
                <a:gridCol w="1304145">
                  <a:extLst>
                    <a:ext uri="{9D8B030D-6E8A-4147-A177-3AD203B41FA5}">
                      <a16:colId xmlns:a16="http://schemas.microsoft.com/office/drawing/2014/main" val="1816702025"/>
                    </a:ext>
                  </a:extLst>
                </a:gridCol>
              </a:tblGrid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执行方案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不占用 </a:t>
                      </a:r>
                      <a:r>
                        <a:rPr lang="en-US" altLang="zh-CN" sz="2000" dirty="0"/>
                        <a:t>CPU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占用 </a:t>
                      </a:r>
                      <a:r>
                        <a:rPr lang="en-US" altLang="zh-CN" sz="2000" dirty="0"/>
                        <a:t>GPU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63105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不占用 </a:t>
                      </a:r>
                      <a:r>
                        <a:rPr lang="en-US" altLang="zh-CN" sz="2000" dirty="0"/>
                        <a:t>GPU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不可行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不可行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12551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占用一个 </a:t>
                      </a:r>
                      <a:r>
                        <a:rPr lang="en-US" altLang="zh-CN" sz="2000" dirty="0"/>
                        <a:t>CPU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ai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Ci 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553083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占用两个 </a:t>
                      </a:r>
                      <a:r>
                        <a:rPr lang="en-US" altLang="zh-CN" sz="2000" dirty="0"/>
                        <a:t>CPU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bi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di 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9076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32B3EC0-D7C0-4025-97D4-656779DD1BC2}"/>
              </a:ext>
            </a:extLst>
          </p:cNvPr>
          <p:cNvSpPr txBox="1"/>
          <p:nvPr/>
        </p:nvSpPr>
        <p:spPr>
          <a:xfrm>
            <a:off x="119920" y="2619533"/>
            <a:ext cx="119171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由于一共只有两个 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，每个程序又至少会占用一个，故最多有两个程序同时运行。</a:t>
            </a:r>
            <a:endParaRPr lang="en-US" altLang="zh-CN" sz="2400" b="1" dirty="0"/>
          </a:p>
          <a:p>
            <a:r>
              <a:rPr lang="zh-CN" altLang="en-US" sz="2400" b="1" dirty="0"/>
              <a:t>而且，在这两个程序中，分配到的资源必须均为一个 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r>
              <a:rPr lang="zh-CN" altLang="en-US" sz="2400" b="1" dirty="0"/>
              <a:t>为了方便表述，将占用 </a:t>
            </a:r>
            <a:r>
              <a:rPr lang="en-US" altLang="zh-CN" sz="2400" b="1" dirty="0"/>
              <a:t>x </a:t>
            </a:r>
            <a:r>
              <a:rPr lang="zh-CN" altLang="en-US" sz="2400" b="1" dirty="0"/>
              <a:t>个 </a:t>
            </a:r>
            <a:r>
              <a:rPr lang="en-US" altLang="zh-CN" sz="2400" b="1" dirty="0" err="1"/>
              <a:t>cpu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和 </a:t>
            </a:r>
            <a:r>
              <a:rPr lang="en-US" altLang="zh-CN" sz="2400" b="1" dirty="0"/>
              <a:t>y </a:t>
            </a:r>
            <a:r>
              <a:rPr lang="zh-CN" altLang="en-US" sz="2400" b="1" dirty="0"/>
              <a:t>个 </a:t>
            </a:r>
            <a:r>
              <a:rPr lang="en-US" altLang="zh-CN" sz="2400" b="1" dirty="0"/>
              <a:t>GPU </a:t>
            </a:r>
            <a:r>
              <a:rPr lang="zh-CN" altLang="en-US" sz="2400" b="1" dirty="0"/>
              <a:t>的方案记为 </a:t>
            </a:r>
            <a:r>
              <a:rPr lang="en-US" altLang="zh-CN" sz="2400" b="1" dirty="0" err="1"/>
              <a:t>xCyG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r>
              <a:rPr lang="zh-CN" altLang="en-US" sz="2400" b="1" dirty="0"/>
              <a:t>至此又会得到以下结论：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/>
              <a:t>2c0g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2c1g</a:t>
            </a:r>
            <a:r>
              <a:rPr lang="zh-CN" altLang="en-US" sz="2400" b="1" dirty="0"/>
              <a:t>都意味着不可能与其他程序并行，所以可以合并，时间取较小值。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/>
              <a:t>1C0G</a:t>
            </a:r>
            <a:r>
              <a:rPr lang="zh-CN" altLang="en-US" sz="2400" b="1" dirty="0"/>
              <a:t>可以和</a:t>
            </a:r>
            <a:r>
              <a:rPr lang="en-US" altLang="zh-CN" sz="2400" b="1" dirty="0"/>
              <a:t>1C1G</a:t>
            </a:r>
            <a:r>
              <a:rPr lang="zh-CN" altLang="en-US" sz="2400" b="1" dirty="0"/>
              <a:t>并行，两个</a:t>
            </a:r>
            <a:r>
              <a:rPr lang="en-US" altLang="zh-CN" sz="2400" b="1" dirty="0"/>
              <a:t>1C0G</a:t>
            </a:r>
            <a:r>
              <a:rPr lang="zh-CN" altLang="en-US" sz="2400" b="1" dirty="0"/>
              <a:t>也可以并行，但两个</a:t>
            </a:r>
            <a:r>
              <a:rPr lang="en-US" altLang="zh-CN" sz="2400" b="1" dirty="0"/>
              <a:t>1C1G</a:t>
            </a:r>
            <a:r>
              <a:rPr lang="zh-CN" altLang="en-US" sz="2400" b="1" dirty="0"/>
              <a:t>不能并行。</a:t>
            </a:r>
            <a:endParaRPr lang="en-US" altLang="zh-CN" sz="2400" b="1" dirty="0"/>
          </a:p>
          <a:p>
            <a:r>
              <a:rPr lang="zh-CN" altLang="en-US" sz="2400" b="1" dirty="0"/>
              <a:t>因此，可以将两个 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分离，认为其中一个 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附带 </a:t>
            </a:r>
            <a:r>
              <a:rPr lang="en-US" altLang="zh-CN" sz="2400" b="1" dirty="0"/>
              <a:t>GPU </a:t>
            </a:r>
            <a:r>
              <a:rPr lang="zh-CN" altLang="en-US" sz="2400" b="1" dirty="0"/>
              <a:t>，这并不会对答案造成影响，即模型被修改成如下形式：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有一个 </a:t>
            </a:r>
            <a:r>
              <a:rPr lang="en-US" altLang="zh-CN" sz="2400" b="1" dirty="0"/>
              <a:t>CPU + GPU </a:t>
            </a:r>
            <a:r>
              <a:rPr lang="zh-CN" altLang="en-US" sz="2400" b="1" dirty="0"/>
              <a:t>（将这二者视为整体）和一个 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每个任务可以选择占用 </a:t>
            </a:r>
            <a:r>
              <a:rPr lang="en-US" altLang="zh-CN" sz="2400" b="1" dirty="0"/>
              <a:t>CPU + GPU </a:t>
            </a:r>
            <a:r>
              <a:rPr lang="zh-CN" altLang="en-US" sz="2400" b="1" dirty="0"/>
              <a:t>、 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或两个都占用，这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种占用方式消耗的时间不同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4627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739D8-CB46-40CD-A900-48AFCFC9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6213" y="182678"/>
            <a:ext cx="3029263" cy="48931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题目分析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3C14C3-88B5-4CA9-94B2-E0D3F792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11" y="758184"/>
            <a:ext cx="6881735" cy="22952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b="1" dirty="0"/>
              <a:t>接下来考虑任务顺序。</a:t>
            </a:r>
            <a:endParaRPr lang="en-US" altLang="zh-CN" sz="2400" b="1" dirty="0"/>
          </a:p>
          <a:p>
            <a:r>
              <a:rPr lang="zh-CN" altLang="en-US" sz="2400" b="1" dirty="0"/>
              <a:t>可以发现，对于占用全部资源的任务，可以调度其在最开始就运行，这样，在开始的一段时间，资源是满载的，不需要等待资源释放就可以运行。</a:t>
            </a:r>
            <a:endParaRPr lang="en-US" altLang="zh-CN" sz="2400" b="1" dirty="0"/>
          </a:p>
          <a:p>
            <a:r>
              <a:rPr lang="zh-CN" altLang="en-US" sz="2400" b="1" dirty="0"/>
              <a:t>而对于其他任务，由于任务之间没有依赖关系，而又分别只占用一个 </a:t>
            </a:r>
            <a:r>
              <a:rPr lang="en-US" altLang="zh-CN" sz="2400" b="1" dirty="0" err="1"/>
              <a:t>cpu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或一个 </a:t>
            </a:r>
            <a:r>
              <a:rPr lang="en-US" altLang="zh-CN" sz="2400" b="1" dirty="0" err="1"/>
              <a:t>cpu</a:t>
            </a:r>
            <a:r>
              <a:rPr lang="en-US" altLang="zh-CN" sz="2400" b="1" dirty="0"/>
              <a:t> + </a:t>
            </a:r>
            <a:r>
              <a:rPr lang="en-US" altLang="zh-CN" sz="2400" b="1" dirty="0" err="1"/>
              <a:t>gpu</a:t>
            </a:r>
            <a:r>
              <a:rPr lang="en-US" altLang="zh-CN" sz="2400" b="1" dirty="0"/>
              <a:t> ,</a:t>
            </a:r>
            <a:r>
              <a:rPr lang="zh-CN" altLang="en-US" sz="2400" b="1" dirty="0"/>
              <a:t>令其依次执行即可。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733BCA-B68B-47A2-9C0A-8251528870F4}"/>
              </a:ext>
            </a:extLst>
          </p:cNvPr>
          <p:cNvGraphicFramePr>
            <a:graphicFrameLocks noGrp="1"/>
          </p:cNvGraphicFramePr>
          <p:nvPr/>
        </p:nvGraphicFramePr>
        <p:xfrm>
          <a:off x="7290217" y="29980"/>
          <a:ext cx="4901783" cy="2458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750">
                  <a:extLst>
                    <a:ext uri="{9D8B030D-6E8A-4147-A177-3AD203B41FA5}">
                      <a16:colId xmlns:a16="http://schemas.microsoft.com/office/drawing/2014/main" val="1342555500"/>
                    </a:ext>
                  </a:extLst>
                </a:gridCol>
                <a:gridCol w="1693888">
                  <a:extLst>
                    <a:ext uri="{9D8B030D-6E8A-4147-A177-3AD203B41FA5}">
                      <a16:colId xmlns:a16="http://schemas.microsoft.com/office/drawing/2014/main" val="612909708"/>
                    </a:ext>
                  </a:extLst>
                </a:gridCol>
                <a:gridCol w="1304145">
                  <a:extLst>
                    <a:ext uri="{9D8B030D-6E8A-4147-A177-3AD203B41FA5}">
                      <a16:colId xmlns:a16="http://schemas.microsoft.com/office/drawing/2014/main" val="1816702025"/>
                    </a:ext>
                  </a:extLst>
                </a:gridCol>
              </a:tblGrid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执行方案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不占用 </a:t>
                      </a:r>
                      <a:r>
                        <a:rPr lang="en-US" altLang="zh-CN" sz="2000" dirty="0"/>
                        <a:t>CPU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占用 </a:t>
                      </a:r>
                      <a:r>
                        <a:rPr lang="en-US" altLang="zh-CN" sz="2000" dirty="0"/>
                        <a:t>GPU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63105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不占用 </a:t>
                      </a:r>
                      <a:r>
                        <a:rPr lang="en-US" altLang="zh-CN" sz="2000" dirty="0"/>
                        <a:t>GPU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不可行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不可行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12551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占用一个 </a:t>
                      </a:r>
                      <a:r>
                        <a:rPr lang="en-US" altLang="zh-CN" sz="2000" dirty="0"/>
                        <a:t>CPU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ai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Ci 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553083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占用两个 </a:t>
                      </a:r>
                      <a:r>
                        <a:rPr lang="en-US" altLang="zh-CN" sz="2000" dirty="0"/>
                        <a:t>CPU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bi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di 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9076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32B3EC0-D7C0-4025-97D4-656779DD1BC2}"/>
              </a:ext>
            </a:extLst>
          </p:cNvPr>
          <p:cNvSpPr txBox="1"/>
          <p:nvPr/>
        </p:nvSpPr>
        <p:spPr>
          <a:xfrm>
            <a:off x="137409" y="3099537"/>
            <a:ext cx="11917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至此，可以设计一个动态规划来完成这一过程。令 </a:t>
            </a:r>
            <a:r>
              <a:rPr lang="en-US" altLang="zh-CN" sz="2400" b="1" dirty="0"/>
              <a:t>F[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, j </a:t>
            </a:r>
            <a:r>
              <a:rPr lang="zh-CN" altLang="en-US" sz="2400" b="1" dirty="0"/>
              <a:t>］表示为了完成前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个任务占用 </a:t>
            </a:r>
            <a:r>
              <a:rPr lang="en-US" altLang="zh-CN" sz="2400" b="1" dirty="0"/>
              <a:t>CPU + GPU </a:t>
            </a:r>
            <a:r>
              <a:rPr lang="zh-CN" altLang="en-US" sz="2400" b="1" dirty="0"/>
              <a:t>的时间为 </a:t>
            </a:r>
            <a:r>
              <a:rPr lang="en-US" altLang="zh-CN" sz="2400" b="1" dirty="0"/>
              <a:t>j </a:t>
            </a:r>
            <a:r>
              <a:rPr lang="zh-CN" altLang="en-US" sz="2400" b="1" dirty="0"/>
              <a:t>时占用不附带 </a:t>
            </a:r>
            <a:r>
              <a:rPr lang="en-US" altLang="zh-CN" sz="2400" b="1" dirty="0"/>
              <a:t>GPU </a:t>
            </a:r>
            <a:r>
              <a:rPr lang="zh-CN" altLang="en-US" sz="2400" b="1" dirty="0"/>
              <a:t>的 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的最小时间。这样，初始状态显然为 </a:t>
            </a:r>
            <a:r>
              <a:rPr lang="en-US" altLang="zh-CN" sz="2400" b="1" dirty="0"/>
              <a:t>F [0,0]=0</a:t>
            </a:r>
            <a:r>
              <a:rPr lang="zh-CN" altLang="en-US" sz="2400" b="1" dirty="0"/>
              <a:t>。对于在此后的每个状态，转移方程为</a:t>
            </a:r>
            <a:endParaRPr lang="zh-CN" altLang="en-US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B5A6E8-7169-4889-B2CA-1050BAD3B4EA}"/>
              </a:ext>
            </a:extLst>
          </p:cNvPr>
          <p:cNvSpPr txBox="1"/>
          <p:nvPr/>
        </p:nvSpPr>
        <p:spPr>
          <a:xfrm>
            <a:off x="2709423" y="5918420"/>
            <a:ext cx="6115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这样，答案等于 min max { F [ n , j ], j }。</a:t>
            </a:r>
            <a:endParaRPr lang="en-US" altLang="zh-CN" dirty="0"/>
          </a:p>
          <a:p>
            <a:r>
              <a:rPr lang="zh-CN" altLang="en-US" dirty="0"/>
              <a:t>本解法的时间复杂度为 O (n2 x max { ai , bi , ci , d :})。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F6B1110-FCB5-4FF8-8C92-8B1949D2E2DF}"/>
                  </a:ext>
                </a:extLst>
              </p:cNvPr>
              <p:cNvSpPr txBox="1"/>
              <p:nvPr/>
            </p:nvSpPr>
            <p:spPr>
              <a:xfrm>
                <a:off x="2273387" y="4474765"/>
                <a:ext cx="6988059" cy="1025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F6B1110-FCB5-4FF8-8C92-8B1949D2E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387" y="4474765"/>
                <a:ext cx="6988059" cy="1025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12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69C460-F97D-486F-AE09-506D4687FD3F}"/>
              </a:ext>
            </a:extLst>
          </p:cNvPr>
          <p:cNvSpPr txBox="1"/>
          <p:nvPr/>
        </p:nvSpPr>
        <p:spPr>
          <a:xfrm>
            <a:off x="8447713" y="109057"/>
            <a:ext cx="2290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201409-5</a:t>
            </a:r>
            <a:endParaRPr lang="zh-CN" altLang="en-US" sz="2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B1E3DE-D434-4EB4-B16F-6610B19DB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9" y="509167"/>
            <a:ext cx="7843117" cy="48991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8B5666-D628-4BD5-BB39-8087F12AB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466" y="567442"/>
            <a:ext cx="4366638" cy="57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8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01A7E-3FF9-488D-89A0-7D0709359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04" y="89817"/>
            <a:ext cx="2467062" cy="59122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题目分析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06D39-DD96-466F-874C-2C0ECBC0A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346"/>
            <a:ext cx="10515600" cy="5220617"/>
          </a:xfrm>
        </p:spPr>
        <p:txBody>
          <a:bodyPr>
            <a:normAutofit/>
          </a:bodyPr>
          <a:lstStyle/>
          <a:p>
            <a:r>
              <a:rPr lang="zh-CN" altLang="en-US" dirty="0"/>
              <a:t>首先，通过观察数据范围，显而易见的一个发现是：数据中的 </a:t>
            </a:r>
            <a:r>
              <a:rPr lang="en-US" altLang="zh-CN" dirty="0"/>
              <a:t>n </a:t>
            </a:r>
            <a:r>
              <a:rPr lang="zh-CN" altLang="en-US" dirty="0"/>
              <a:t>特别大，而 </a:t>
            </a:r>
            <a:r>
              <a:rPr lang="en-US" altLang="zh-CN" dirty="0"/>
              <a:t>m </a:t>
            </a:r>
            <a:r>
              <a:rPr lang="zh-CN" altLang="en-US" dirty="0"/>
              <a:t>特别小。因此，尝试从 </a:t>
            </a:r>
            <a:r>
              <a:rPr lang="en-US" altLang="zh-CN" dirty="0"/>
              <a:t>m </a:t>
            </a:r>
            <a:r>
              <a:rPr lang="zh-CN" altLang="en-US" dirty="0"/>
              <a:t>入手求解本题。</a:t>
            </a:r>
            <a:endParaRPr lang="en-US" altLang="zh-CN" dirty="0"/>
          </a:p>
          <a:p>
            <a:r>
              <a:rPr lang="zh-CN" altLang="en-US" dirty="0"/>
              <a:t>考虑一个 </a:t>
            </a:r>
            <a:r>
              <a:rPr lang="en-US" altLang="zh-CN" dirty="0"/>
              <a:t>n </a:t>
            </a:r>
            <a:r>
              <a:rPr lang="zh-CN" altLang="en-US" dirty="0"/>
              <a:t>行 </a:t>
            </a:r>
            <a:r>
              <a:rPr lang="en-US" altLang="zh-CN" dirty="0"/>
              <a:t>m </a:t>
            </a:r>
            <a:r>
              <a:rPr lang="zh-CN" altLang="en-US" dirty="0"/>
              <a:t>列的方格图，先研究搜索算法如何解决该问题。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为了使得搜索过程中将每种方案都考虑恰好一次，而不会重复或遗漏，需要设计一种搜索顺序。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在搜索的每一步中，需要在方格图中填上一个 </a:t>
            </a:r>
            <a:r>
              <a:rPr lang="en-US" altLang="zh-CN" dirty="0"/>
              <a:t>L </a:t>
            </a:r>
            <a:r>
              <a:rPr lang="zh-CN" altLang="en-US" dirty="0"/>
              <a:t>形积木。一个简单的不重不漏的方案是：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每次选择最左边包含空格的一列，并在这一列中选择最上面的一个空格，用新的积木填充它；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如果新的积木无法以任何一个角度填入，则搜索失败，不是合法方案。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466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EB3B1-1850-48A1-8DE3-2123232A6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643" y="315607"/>
            <a:ext cx="7047451" cy="6177472"/>
          </a:xfrm>
        </p:spPr>
        <p:txBody>
          <a:bodyPr>
            <a:normAutofit/>
          </a:bodyPr>
          <a:lstStyle/>
          <a:p>
            <a:r>
              <a:rPr lang="zh-CN" altLang="en-US" dirty="0"/>
              <a:t>在搜索过程中，左边的方格总是先被填满，不可能出现以下情况：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在某个搜索阶段，第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列还存在空格，而第 </a:t>
            </a:r>
            <a:r>
              <a:rPr lang="en-US" altLang="zh-CN" dirty="0" err="1"/>
              <a:t>i</a:t>
            </a:r>
            <a:r>
              <a:rPr lang="en-US" altLang="zh-CN" dirty="0"/>
              <a:t> +2</a:t>
            </a:r>
            <a:r>
              <a:rPr lang="zh-CN" altLang="en-US" dirty="0"/>
              <a:t>列已经有格子被填充。</a:t>
            </a:r>
            <a:endParaRPr lang="en-US" altLang="zh-CN" dirty="0"/>
          </a:p>
          <a:p>
            <a:r>
              <a:rPr lang="zh-CN" altLang="en-US" dirty="0"/>
              <a:t>还可以发现，在搜索过程中，假设当前最左边的空格在第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列，我们实际上只需要关心第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列和第 </a:t>
            </a:r>
            <a:r>
              <a:rPr lang="en-US" altLang="zh-CN" dirty="0" err="1"/>
              <a:t>i</a:t>
            </a:r>
            <a:r>
              <a:rPr lang="en-US" altLang="zh-CN" dirty="0"/>
              <a:t> +1</a:t>
            </a:r>
            <a:r>
              <a:rPr lang="zh-CN" altLang="en-US" dirty="0"/>
              <a:t>列的空格情况，只有这两列的空格情况才会对以后的搜索造成影响。</a:t>
            </a:r>
            <a:endParaRPr lang="en-US" altLang="zh-CN" dirty="0"/>
          </a:p>
          <a:p>
            <a:r>
              <a:rPr lang="zh-CN" altLang="en-US" dirty="0"/>
              <a:t>进一步考虑一个特殊的时间点：第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列所有空格都恰被填满后。这时，第</a:t>
            </a:r>
            <a:r>
              <a:rPr lang="en-US" altLang="zh-CN" dirty="0"/>
              <a:t>1~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列所有格子恰好被填满，第 </a:t>
            </a:r>
            <a:r>
              <a:rPr lang="en-US" altLang="zh-CN" dirty="0" err="1"/>
              <a:t>i</a:t>
            </a:r>
            <a:r>
              <a:rPr lang="en-US" altLang="zh-CN" dirty="0"/>
              <a:t> +1~ n </a:t>
            </a:r>
            <a:r>
              <a:rPr lang="zh-CN" altLang="en-US" dirty="0"/>
              <a:t>列所有格子为空。因此，会对以后造成影响的只有第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列的格子。只需要记录第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列格子的填充情况，即可进行后续搜索。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DC18C5-69E1-4AEB-983B-A5C9F0E9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448" y="945638"/>
            <a:ext cx="4366638" cy="349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08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EB3B1-1850-48A1-8DE3-2123232A6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804" y="214939"/>
            <a:ext cx="5134761" cy="6294918"/>
          </a:xfrm>
        </p:spPr>
        <p:txBody>
          <a:bodyPr>
            <a:normAutofit/>
          </a:bodyPr>
          <a:lstStyle/>
          <a:p>
            <a:r>
              <a:rPr lang="zh-CN" altLang="en-US" dirty="0"/>
              <a:t>可以用下面的方法将这个搜索改造为动态规划：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用一个 </a:t>
            </a:r>
            <a:r>
              <a:rPr lang="en-US" altLang="zh-CN" dirty="0"/>
              <a:t>m </a:t>
            </a:r>
            <a:r>
              <a:rPr lang="zh-CN" altLang="en-US" dirty="0"/>
              <a:t>位的二进制数 </a:t>
            </a:r>
            <a:r>
              <a:rPr lang="en-US" altLang="zh-CN" dirty="0"/>
              <a:t>S </a:t>
            </a:r>
            <a:r>
              <a:rPr lang="zh-CN" altLang="en-US" dirty="0"/>
              <a:t>表达第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列的格子的填充情况（已填用</a:t>
            </a:r>
            <a:r>
              <a:rPr lang="en-US" altLang="zh-CN" dirty="0"/>
              <a:t>1</a:t>
            </a:r>
            <a:r>
              <a:rPr lang="zh-CN" altLang="en-US" dirty="0"/>
              <a:t>表示，空置用</a:t>
            </a:r>
            <a:r>
              <a:rPr lang="en-US" altLang="zh-CN" dirty="0"/>
              <a:t>0</a:t>
            </a:r>
            <a:r>
              <a:rPr lang="zh-CN" altLang="en-US" dirty="0"/>
              <a:t>表示）。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将第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列及其左侧的格子全部填充完成后，第 </a:t>
            </a:r>
            <a:r>
              <a:rPr lang="en-US" altLang="zh-CN" dirty="0" err="1"/>
              <a:t>i</a:t>
            </a:r>
            <a:r>
              <a:rPr lang="en-US" altLang="zh-CN" dirty="0"/>
              <a:t> +1</a:t>
            </a:r>
            <a:r>
              <a:rPr lang="zh-CN" altLang="en-US" dirty="0"/>
              <a:t>列的格子填充状态为 </a:t>
            </a:r>
            <a:r>
              <a:rPr lang="en-US" altLang="zh-CN" dirty="0"/>
              <a:t>S </a:t>
            </a:r>
            <a:r>
              <a:rPr lang="zh-CN" altLang="en-US" dirty="0"/>
              <a:t>的方案数除以（</a:t>
            </a:r>
            <a:r>
              <a:rPr lang="en-US" altLang="zh-CN" dirty="0"/>
              <a:t>109+7</a:t>
            </a:r>
            <a:r>
              <a:rPr lang="zh-CN" altLang="en-US" dirty="0"/>
              <a:t>）的余数用 </a:t>
            </a:r>
            <a:r>
              <a:rPr lang="en-US" altLang="zh-CN" dirty="0"/>
              <a:t>F [ </a:t>
            </a:r>
            <a:r>
              <a:rPr lang="en-US" altLang="zh-CN" dirty="0" err="1"/>
              <a:t>i</a:t>
            </a:r>
            <a:r>
              <a:rPr lang="en-US" altLang="zh-CN" dirty="0"/>
              <a:t> , S </a:t>
            </a:r>
            <a:r>
              <a:rPr lang="zh-CN" altLang="en-US" dirty="0"/>
              <a:t>］表示。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每次按照随后介绍的方案进行状态转移。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初始状态为 </a:t>
            </a:r>
            <a:r>
              <a:rPr lang="en-US" altLang="zh-CN" dirty="0"/>
              <a:t>F [0,0]=1</a:t>
            </a:r>
            <a:r>
              <a:rPr lang="zh-CN" altLang="en-US" dirty="0"/>
              <a:t>。</a:t>
            </a:r>
            <a:r>
              <a:rPr lang="en-US" altLang="zh-CN" dirty="0"/>
              <a:t>·</a:t>
            </a:r>
            <a:r>
              <a:rPr lang="zh-CN" altLang="en-US" dirty="0"/>
              <a:t>最终答案是 </a:t>
            </a:r>
            <a:r>
              <a:rPr lang="en-US" altLang="zh-CN" dirty="0"/>
              <a:t>F [ n ,0]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A18D7E-38AA-44A9-B229-7E7B266FADD9}"/>
              </a:ext>
            </a:extLst>
          </p:cNvPr>
          <p:cNvSpPr txBox="1"/>
          <p:nvPr/>
        </p:nvSpPr>
        <p:spPr>
          <a:xfrm>
            <a:off x="5522053" y="214939"/>
            <a:ext cx="609460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状态 F</a:t>
            </a:r>
            <a:r>
              <a:rPr lang="en-US" altLang="zh-CN" dirty="0"/>
              <a:t>[</a:t>
            </a:r>
            <a:r>
              <a:rPr lang="zh-CN" altLang="en-US" dirty="0"/>
              <a:t>i +1, S ']，因此 F [ i , S ]的值就是对所有枚举得到的状态 F</a:t>
            </a:r>
            <a:r>
              <a:rPr lang="en-US" altLang="zh-CN" dirty="0"/>
              <a:t>[</a:t>
            </a:r>
            <a:r>
              <a:rPr lang="zh-CN" altLang="en-US" dirty="0"/>
              <a:t>i +1, S '）的运算结果之和，即</a:t>
            </a:r>
            <a:endParaRPr lang="en-US" altLang="zh-CN" dirty="0"/>
          </a:p>
          <a:p>
            <a:r>
              <a:rPr lang="zh-CN" altLang="en-US" dirty="0"/>
              <a:t> F</a:t>
            </a:r>
            <a:r>
              <a:rPr lang="en-US" altLang="zh-CN" dirty="0"/>
              <a:t>[</a:t>
            </a:r>
            <a:r>
              <a:rPr lang="zh-CN" altLang="en-US" dirty="0"/>
              <a:t>i , SI =∑ F</a:t>
            </a:r>
            <a:r>
              <a:rPr lang="en-US" altLang="zh-CN" dirty="0"/>
              <a:t>[</a:t>
            </a:r>
            <a:r>
              <a:rPr lang="zh-CN" altLang="en-US" dirty="0"/>
              <a:t>i +1, S ‘]</a:t>
            </a:r>
            <a:endParaRPr lang="en-US" altLang="zh-CN" dirty="0"/>
          </a:p>
          <a:p>
            <a:r>
              <a:rPr lang="zh-CN" altLang="en-US" dirty="0"/>
              <a:t>这样一个搜索的状态数为nx2m。</a:t>
            </a:r>
            <a:endParaRPr lang="en-US" altLang="zh-CN" dirty="0"/>
          </a:p>
          <a:p>
            <a:r>
              <a:rPr lang="zh-CN" altLang="en-US" dirty="0"/>
              <a:t>转移时，考虑到每个空格至多存在3种填法，故转移复杂度为 O (3</a:t>
            </a:r>
            <a:r>
              <a:rPr lang="zh-CN" altLang="en-US" baseline="30000" dirty="0"/>
              <a:t>m</a:t>
            </a:r>
            <a:r>
              <a:rPr lang="zh-CN" altLang="en-US" dirty="0"/>
              <a:t>)，这并非一个紧确界，但已经足以通过相当多的数据的测试。</a:t>
            </a:r>
            <a:endParaRPr lang="en-US" altLang="zh-CN" dirty="0"/>
          </a:p>
          <a:p>
            <a:r>
              <a:rPr lang="zh-CN" altLang="en-US" dirty="0"/>
              <a:t>接下来，利用矩阵快速幂的方法对这个动态规划方案进行优化。这个动态规划方案具有以下性质：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可以将 F</a:t>
            </a:r>
            <a:r>
              <a:rPr lang="en-US" altLang="zh-CN" dirty="0"/>
              <a:t>[</a:t>
            </a:r>
            <a:r>
              <a:rPr lang="zh-CN" altLang="en-US" dirty="0"/>
              <a:t>i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］视为一个向量。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转移系数均为线性的。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 F</a:t>
            </a:r>
            <a:r>
              <a:rPr lang="en-US" altLang="zh-CN" dirty="0"/>
              <a:t>[</a:t>
            </a:r>
            <a:r>
              <a:rPr lang="zh-CN" altLang="en-US" dirty="0"/>
              <a:t>i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］到 F</a:t>
            </a:r>
            <a:r>
              <a:rPr lang="en-US" altLang="zh-CN" dirty="0"/>
              <a:t>[</a:t>
            </a:r>
            <a:r>
              <a:rPr lang="zh-CN" altLang="en-US" dirty="0"/>
              <a:t>i +1,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·]</a:t>
            </a:r>
            <a:r>
              <a:rPr lang="zh-CN" altLang="en-US" dirty="0"/>
              <a:t>的转移可以视为向量 F [ i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]乘以转移矩阵 M 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对于不同的 i 和 k ，从 F [ i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］到 F</a:t>
            </a:r>
            <a:r>
              <a:rPr lang="en-US" altLang="zh-CN" dirty="0"/>
              <a:t>[</a:t>
            </a:r>
            <a:r>
              <a:rPr lang="zh-CN" altLang="en-US" dirty="0"/>
              <a:t>i +1,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］的转移系数和从 F</a:t>
            </a:r>
            <a:r>
              <a:rPr lang="en-US" altLang="zh-CN" dirty="0"/>
              <a:t>[</a:t>
            </a:r>
            <a:r>
              <a:rPr lang="zh-CN" altLang="en-US" dirty="0"/>
              <a:t>k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]到 F</a:t>
            </a:r>
            <a:r>
              <a:rPr lang="en-US" altLang="zh-CN" dirty="0"/>
              <a:t>[k</a:t>
            </a:r>
            <a:r>
              <a:rPr lang="zh-CN" altLang="en-US" dirty="0"/>
              <a:t> +1,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］的转移系数是完全一样的，即与 F</a:t>
            </a:r>
            <a:r>
              <a:rPr lang="en-US" altLang="zh-CN" dirty="0"/>
              <a:t>[</a:t>
            </a:r>
            <a:r>
              <a:rPr lang="zh-CN" altLang="en-US" dirty="0"/>
              <a:t>i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]和 F</a:t>
            </a:r>
            <a:r>
              <a:rPr lang="en-US" altLang="zh-CN" dirty="0"/>
              <a:t>[</a:t>
            </a:r>
            <a:r>
              <a:rPr lang="zh-CN" altLang="en-US" dirty="0"/>
              <a:t>k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]相乘的是同一个矩阵 M 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因此，有 F [ n 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]= F [0,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dirty="0"/>
              <a:t>] xM</a:t>
            </a:r>
            <a:r>
              <a:rPr lang="en-US" altLang="zh-CN" baseline="30000" dirty="0"/>
              <a:t>n</a:t>
            </a:r>
            <a:r>
              <a:rPr lang="zh-CN" altLang="en-US" dirty="0"/>
              <a:t> 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由于矩阵乘法满足结合律，可以使用矩阵快速幂的方法求解 M</a:t>
            </a:r>
            <a:r>
              <a:rPr lang="en-US" altLang="zh-CN" baseline="30000" dirty="0"/>
              <a:t>n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这个方法的时间复杂度为 O ((2</a:t>
            </a:r>
            <a:r>
              <a:rPr lang="zh-CN" altLang="en-US" baseline="30000" dirty="0"/>
              <a:t>m</a:t>
            </a:r>
            <a:r>
              <a:rPr lang="zh-CN" altLang="en-US" dirty="0"/>
              <a:t>)</a:t>
            </a:r>
            <a:r>
              <a:rPr lang="zh-CN" altLang="en-US" baseline="30000" dirty="0"/>
              <a:t>3</a:t>
            </a:r>
            <a:r>
              <a:rPr lang="zh-CN" altLang="en-US" dirty="0"/>
              <a:t> logn )= O (2</a:t>
            </a:r>
            <a:r>
              <a:rPr lang="zh-CN" altLang="en-US" baseline="30000" dirty="0"/>
              <a:t>3m</a:t>
            </a:r>
            <a:r>
              <a:rPr lang="zh-CN" altLang="en-US" dirty="0"/>
              <a:t>logn)，可以通过所有数据的测试。</a:t>
            </a:r>
          </a:p>
        </p:txBody>
      </p:sp>
    </p:spTree>
    <p:extLst>
      <p:ext uri="{BB962C8B-B14F-4D97-AF65-F5344CB8AC3E}">
        <p14:creationId xmlns:p14="http://schemas.microsoft.com/office/powerpoint/2010/main" val="1786981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475587-6E12-4760-8E9B-E1D9C05A8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71" y="0"/>
            <a:ext cx="9964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27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6DFFA-D397-4E34-A84A-91DB49E9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70" y="180568"/>
            <a:ext cx="2660009" cy="57444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题目分析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72B3D8F-75E3-4AD7-B41D-BC4314DF5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780" y="889233"/>
            <a:ext cx="11700592" cy="5670958"/>
          </a:xfrm>
        </p:spPr>
      </p:pic>
    </p:spTree>
    <p:extLst>
      <p:ext uri="{BB962C8B-B14F-4D97-AF65-F5344CB8AC3E}">
        <p14:creationId xmlns:p14="http://schemas.microsoft.com/office/powerpoint/2010/main" val="184251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B82DF8C-EF1C-46F1-8BBF-95B9AEDB4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9" y="92278"/>
            <a:ext cx="7494573" cy="49662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88E10D-9272-4120-BBB0-B97F298B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17" y="2231472"/>
            <a:ext cx="6225334" cy="43158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2D59A08-E09B-4145-9A6C-84EE7EB85114}"/>
              </a:ext>
            </a:extLst>
          </p:cNvPr>
          <p:cNvSpPr txBox="1"/>
          <p:nvPr/>
        </p:nvSpPr>
        <p:spPr>
          <a:xfrm>
            <a:off x="9827766" y="110590"/>
            <a:ext cx="2290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201503-5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98301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1BF25E-9052-4247-80BD-16A5021C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13" y="0"/>
            <a:ext cx="10334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74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DEBC7B0-4880-4288-901C-6B0064F52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277857"/>
            <a:ext cx="9198137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1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7D5078-172A-459C-8496-48C40D465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48" y="224512"/>
            <a:ext cx="10882303" cy="640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3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51B06E-1397-434C-84C0-A18546B8C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13029" cy="33555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5039F0-2BC3-426C-9BF3-BF420B6D8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185" y="3663716"/>
            <a:ext cx="5870366" cy="30936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7925D8-08EF-4045-9F66-AE8F1543C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477" y="0"/>
            <a:ext cx="1500839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CBA0A8C-7263-41CD-BEC8-B30587B5F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8287" y="0"/>
            <a:ext cx="1370216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9223DAA-862D-4BA1-A033-BA015BDD6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799" y="0"/>
            <a:ext cx="903283" cy="6858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0F5B2D6-45AE-4C7E-8126-CC06D5F68F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1778" y="0"/>
            <a:ext cx="1298393" cy="685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D8D9189-769D-4D11-97EE-342DB9A7EA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8867" y="0"/>
            <a:ext cx="1216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C6BF67-D5AA-47AB-A8C6-F8A585410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6" y="281667"/>
            <a:ext cx="10935648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8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2165D8F-8D7D-45DF-AE14-1BC896406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33" y="335012"/>
            <a:ext cx="10303133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9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1372</Words>
  <Application>Microsoft Office PowerPoint</Application>
  <PresentationFormat>宽屏</PresentationFormat>
  <Paragraphs>98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宋体</vt:lpstr>
      <vt:lpstr>Arial</vt:lpstr>
      <vt:lpstr>Cambria Math</vt:lpstr>
      <vt:lpstr>Wingdings</vt:lpstr>
      <vt:lpstr>Office 主题​​</vt:lpstr>
      <vt:lpstr>动态规划真题解析</vt:lpstr>
      <vt:lpstr>PowerPoint 演示文稿</vt:lpstr>
      <vt:lpstr>题目分析</vt:lpstr>
      <vt:lpstr>题目分析</vt:lpstr>
      <vt:lpstr>题目分析</vt:lpstr>
      <vt:lpstr>PowerPoint 演示文稿</vt:lpstr>
      <vt:lpstr>题目分析</vt:lpstr>
      <vt:lpstr>PowerPoint 演示文稿</vt:lpstr>
      <vt:lpstr>PowerPoint 演示文稿</vt:lpstr>
      <vt:lpstr>PowerPoint 演示文稿</vt:lpstr>
      <vt:lpstr>题目分析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真题解析</dc:title>
  <dc:creator>yyxxyy</dc:creator>
  <cp:lastModifiedBy>yyxxyy</cp:lastModifiedBy>
  <cp:revision>30</cp:revision>
  <dcterms:created xsi:type="dcterms:W3CDTF">2024-05-14T15:32:13Z</dcterms:created>
  <dcterms:modified xsi:type="dcterms:W3CDTF">2025-07-02T14:56:43Z</dcterms:modified>
</cp:coreProperties>
</file>