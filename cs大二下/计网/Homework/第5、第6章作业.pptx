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510" r:id="rId3"/>
    <p:sldId id="511" r:id="rId4"/>
    <p:sldId id="512" r:id="rId5"/>
    <p:sldId id="513" r:id="rId6"/>
    <p:sldId id="514" r:id="rId7"/>
    <p:sldId id="515" r:id="rId8"/>
    <p:sldId id="516" r:id="rId9"/>
    <p:sldId id="563" r:id="rId10"/>
    <p:sldId id="564" r:id="rId11"/>
    <p:sldId id="517" r:id="rId13"/>
    <p:sldId id="566" r:id="rId14"/>
    <p:sldId id="518" r:id="rId15"/>
    <p:sldId id="519" r:id="rId16"/>
    <p:sldId id="569" r:id="rId17"/>
    <p:sldId id="568" r:id="rId18"/>
    <p:sldId id="520" r:id="rId19"/>
    <p:sldId id="521" r:id="rId20"/>
    <p:sldId id="522" r:id="rId21"/>
    <p:sldId id="535" r:id="rId22"/>
    <p:sldId id="570" r:id="rId23"/>
    <p:sldId id="523" r:id="rId24"/>
    <p:sldId id="52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532" r:id="rId33"/>
    <p:sldId id="572" r:id="rId34"/>
    <p:sldId id="571" r:id="rId35"/>
    <p:sldId id="533" r:id="rId36"/>
    <p:sldId id="534" r:id="rId37"/>
    <p:sldId id="495" r:id="rId38"/>
    <p:sldId id="496" r:id="rId39"/>
    <p:sldId id="497" r:id="rId40"/>
    <p:sldId id="498" r:id="rId41"/>
    <p:sldId id="499" r:id="rId42"/>
    <p:sldId id="500" r:id="rId43"/>
    <p:sldId id="501" r:id="rId44"/>
    <p:sldId id="502" r:id="rId45"/>
    <p:sldId id="503" r:id="rId46"/>
    <p:sldId id="504" r:id="rId47"/>
    <p:sldId id="505" r:id="rId48"/>
    <p:sldId id="506" r:id="rId49"/>
    <p:sldId id="507" r:id="rId50"/>
    <p:sldId id="508" r:id="rId51"/>
    <p:sldId id="509" r:id="rId5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 jr" initials="zj" lastIdx="1" clrIdx="0"/>
  <p:cmAuthor id="2" name="yiranzhang" initials="y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11"/>
    <p:restoredTop sz="94719"/>
  </p:normalViewPr>
  <p:slideViewPr>
    <p:cSldViewPr showGuides="1">
      <p:cViewPr varScale="1">
        <p:scale>
          <a:sx n="152" d="100"/>
          <a:sy n="152" d="100"/>
        </p:scale>
        <p:origin x="2328" y="168"/>
      </p:cViewPr>
      <p:guideLst>
        <p:guide orient="horz" pos="2160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E3384B-CB4E-4796-B4BB-2758077C261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C00000"/>
              </a:buClr>
              <a:buSzPct val="90000"/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局域网上的每个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节点（主机或路由器）都有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表</a:t>
            </a:r>
            <a:endParaRPr lang="en-US" altLang="zh-CN" dirty="0">
              <a:latin typeface="+mn-ea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SzPct val="90000"/>
            </a:pPr>
            <a:r>
              <a:rPr lang="en-US" altLang="zh-CN" dirty="0">
                <a:latin typeface="+mn-ea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表缓存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地址与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MAC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地址的映射关系：</a:t>
            </a:r>
            <a:endParaRPr lang="en-US" altLang="zh-CN" dirty="0">
              <a:latin typeface="+mn-ea"/>
              <a:cs typeface="Times New Roman" panose="02020603050405020304" pitchFamily="18" charset="0"/>
            </a:endParaRPr>
          </a:p>
          <a:p>
            <a:pPr fontAlgn="t"/>
            <a:r>
              <a:rPr lang="en-US" altLang="zh-CN" dirty="0">
                <a:latin typeface="+mn-ea"/>
              </a:rPr>
              <a:t>   IP</a:t>
            </a:r>
            <a:r>
              <a:rPr lang="zh-CN" altLang="zh-CN" dirty="0">
                <a:latin typeface="+mn-ea"/>
              </a:rPr>
              <a:t>地址</a:t>
            </a:r>
            <a:r>
              <a:rPr lang="en-US" altLang="zh-CN" dirty="0">
                <a:latin typeface="+mn-ea"/>
              </a:rPr>
              <a:t>     MAC</a:t>
            </a:r>
            <a:r>
              <a:rPr lang="zh-CN" altLang="zh-CN" dirty="0">
                <a:latin typeface="+mn-ea"/>
              </a:rPr>
              <a:t>地址</a:t>
            </a:r>
            <a:r>
              <a:rPr lang="en-US" altLang="zh-CN" dirty="0">
                <a:latin typeface="+mn-ea"/>
              </a:rPr>
              <a:t>     TTL</a:t>
            </a:r>
            <a:endParaRPr lang="zh-CN" altLang="zh-CN" dirty="0">
              <a:latin typeface="+mn-ea"/>
            </a:endParaRPr>
          </a:p>
          <a:p>
            <a:pPr>
              <a:buClr>
                <a:srgbClr val="C00000"/>
              </a:buClr>
              <a:buSzPct val="90000"/>
            </a:pPr>
            <a:endParaRPr lang="en-US" altLang="zh-CN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3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33.png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076" y="1329927"/>
            <a:ext cx="8201332" cy="1440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67" y="3573016"/>
            <a:ext cx="8312718" cy="2158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076" y="1484784"/>
            <a:ext cx="8265847" cy="47390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1124585"/>
            <a:ext cx="7625784" cy="13235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41" y="2348880"/>
            <a:ext cx="7409760" cy="4601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408" y="1052513"/>
            <a:ext cx="7639443" cy="27052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08" y="3859683"/>
            <a:ext cx="7761662" cy="2924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576" y="1655130"/>
            <a:ext cx="8063000" cy="1169899"/>
          </a:xfrm>
          <a:prstGeom prst="rect">
            <a:avLst/>
          </a:prstGeom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83" y="2825029"/>
            <a:ext cx="7728347" cy="3340272"/>
          </a:xfrm>
          <a:prstGeom prst="rect">
            <a:avLst/>
          </a:prstGeom>
          <a:ln>
            <a:noFill/>
          </a:ln>
        </p:spPr>
      </p:pic>
      <p:sp>
        <p:nvSpPr>
          <p:cNvPr id="9" name="矩形 8"/>
          <p:cNvSpPr/>
          <p:nvPr/>
        </p:nvSpPr>
        <p:spPr>
          <a:xfrm>
            <a:off x="467544" y="1124744"/>
            <a:ext cx="8070032" cy="5040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94" y="985838"/>
            <a:ext cx="7218997" cy="5720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02" y="1268760"/>
            <a:ext cx="8818596" cy="2021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8" y="3712168"/>
            <a:ext cx="8349705" cy="22322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3"/>
          <p:cNvSpPr>
            <a:spLocks noGrp="1" noChangeArrowheads="1"/>
          </p:cNvSpPr>
          <p:nvPr>
            <p:ph type="title"/>
          </p:nvPr>
        </p:nvSpPr>
        <p:spPr>
          <a:xfrm>
            <a:off x="683895" y="188595"/>
            <a:ext cx="8346440" cy="67564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3200" dirty="0"/>
              <a:t>Leaky </a:t>
            </a:r>
            <a:r>
              <a:rPr lang="en-US" altLang="zh-CN" sz="3200" dirty="0">
                <a:sym typeface="+mn-ea"/>
              </a:rPr>
              <a:t>Buckets </a:t>
            </a:r>
            <a:r>
              <a:rPr lang="en-US" altLang="zh-CN" sz="3200" dirty="0"/>
              <a:t>and Token Buckets</a:t>
            </a:r>
            <a:endParaRPr lang="en-US" altLang="zh-CN" sz="3200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360" y="1270000"/>
            <a:ext cx="8439150" cy="3787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83710" y="4438650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漏桶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308215" y="4438650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令牌桶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726815" y="1558290"/>
            <a:ext cx="207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桶里放的是数据</a:t>
            </a:r>
            <a:endParaRPr lang="zh-CN" altLang="en-US" sz="18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804025" y="909955"/>
            <a:ext cx="207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桶里放的是令牌</a:t>
            </a:r>
            <a:endParaRPr lang="zh-CN" altLang="en-US" sz="18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4925" y="5462905"/>
            <a:ext cx="9144000" cy="1207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-317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Length of Maximum Rate Burst </a:t>
            </a:r>
            <a:endParaRPr lang="en-US" altLang="zh-CN" dirty="0"/>
          </a:p>
        </p:txBody>
      </p:sp>
      <p:sp>
        <p:nvSpPr>
          <p:cNvPr id="378882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46480"/>
            <a:ext cx="8711381" cy="5193665"/>
          </a:xfrm>
        </p:spPr>
        <p:txBody>
          <a:bodyPr/>
          <a:lstStyle/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经过令牌桶之后的突发数据持续时间:</a:t>
            </a:r>
            <a:endParaRPr lang="en-US" altLang="zh-CN" sz="24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burst length </a:t>
            </a:r>
            <a:r>
              <a:rPr lang="en-US" altLang="zh-CN" sz="2000" b="1" dirty="0">
                <a:solidFill>
                  <a:srgbClr val="993300"/>
                </a:solidFill>
              </a:rPr>
              <a:t>S</a:t>
            </a:r>
            <a:r>
              <a:rPr lang="en-US" altLang="zh-CN" sz="2000" dirty="0"/>
              <a:t> sec</a:t>
            </a:r>
            <a:endParaRPr lang="en-US" altLang="zh-CN" sz="20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token bucket capacity </a:t>
            </a:r>
            <a:r>
              <a:rPr lang="en-US" altLang="zh-CN" sz="2000" b="1" dirty="0">
                <a:solidFill>
                  <a:srgbClr val="993300"/>
                </a:solidFill>
              </a:rPr>
              <a:t>B</a:t>
            </a:r>
            <a:r>
              <a:rPr lang="en-US" altLang="zh-CN" sz="2000" dirty="0"/>
              <a:t> bytes</a:t>
            </a:r>
            <a:endParaRPr lang="en-US" altLang="zh-CN" sz="2000" dirty="0"/>
          </a:p>
          <a:p>
            <a:pPr eaLnBrk="1" hangingPunct="1">
              <a:lnSpc>
                <a:spcPct val="95000"/>
              </a:lnSpc>
              <a:buNone/>
            </a:pPr>
            <a:r>
              <a:rPr lang="en-US" altLang="zh-CN" sz="2000" dirty="0"/>
              <a:t>token arrival rate </a:t>
            </a:r>
            <a:r>
              <a:rPr lang="en-US" altLang="zh-CN" sz="2000" b="1" dirty="0">
                <a:solidFill>
                  <a:srgbClr val="993300"/>
                </a:solidFill>
              </a:rPr>
              <a:t>R </a:t>
            </a:r>
            <a:r>
              <a:rPr lang="en-US" altLang="zh-CN" sz="2000" dirty="0"/>
              <a:t>bytes/sec</a:t>
            </a:r>
            <a:endParaRPr lang="en-US" altLang="zh-CN" sz="20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maximum output rate </a:t>
            </a:r>
            <a:r>
              <a:rPr lang="en-US" altLang="zh-CN" sz="2000" b="1" dirty="0">
                <a:solidFill>
                  <a:srgbClr val="993300"/>
                </a:solidFill>
              </a:rPr>
              <a:t>M</a:t>
            </a:r>
            <a:r>
              <a:rPr lang="en-US" altLang="zh-CN" sz="2000" dirty="0"/>
              <a:t> bytes/sec</a:t>
            </a:r>
            <a:endParaRPr lang="en-US" altLang="zh-CN" sz="20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An output burst contains a maximum of </a:t>
            </a:r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</a:rPr>
              <a:t>B + RS </a:t>
            </a:r>
            <a:r>
              <a:rPr lang="en-US" altLang="zh-CN" sz="2000" dirty="0"/>
              <a:t>bytes</a:t>
            </a:r>
            <a:endParaRPr lang="en-US" altLang="zh-CN" sz="20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the number of bytes in a maximum-speed burst of length S seconds is </a:t>
            </a:r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</a:rPr>
              <a:t>MS</a:t>
            </a:r>
            <a:endParaRPr lang="en-US" altLang="zh-CN" sz="20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      </a:t>
            </a:r>
            <a:r>
              <a:rPr lang="en-US" altLang="zh-CN" sz="2000" b="1" dirty="0">
                <a:solidFill>
                  <a:srgbClr val="993300"/>
                </a:solidFill>
              </a:rPr>
              <a:t>B</a:t>
            </a:r>
            <a:r>
              <a:rPr lang="en-US" altLang="zh-CN" sz="2000" dirty="0"/>
              <a:t> +</a:t>
            </a:r>
            <a:r>
              <a:rPr lang="en-US" altLang="zh-CN" sz="2000" b="1" dirty="0">
                <a:solidFill>
                  <a:srgbClr val="993300"/>
                </a:solidFill>
              </a:rPr>
              <a:t> RS </a:t>
            </a:r>
            <a:r>
              <a:rPr lang="en-US" altLang="zh-CN" sz="2000" dirty="0"/>
              <a:t>= </a:t>
            </a:r>
            <a:r>
              <a:rPr lang="en-US" altLang="zh-CN" sz="2000" b="1" dirty="0">
                <a:solidFill>
                  <a:srgbClr val="993300"/>
                </a:solidFill>
              </a:rPr>
              <a:t>MS</a:t>
            </a:r>
            <a:endParaRPr lang="en-US" altLang="zh-CN" sz="2000" b="1" dirty="0">
              <a:solidFill>
                <a:srgbClr val="993300"/>
              </a:solidFill>
            </a:endParaRPr>
          </a:p>
          <a:p>
            <a:pPr eaLnBrk="1" hangingPunct="1">
              <a:lnSpc>
                <a:spcPct val="95000"/>
              </a:lnSpc>
              <a:buNone/>
            </a:pPr>
            <a:r>
              <a:rPr lang="en-US" altLang="zh-CN" sz="2000" dirty="0"/>
              <a:t>           </a:t>
            </a:r>
            <a:r>
              <a:rPr lang="en-US" altLang="zh-CN" sz="2000" b="1" dirty="0">
                <a:solidFill>
                  <a:srgbClr val="993300"/>
                </a:solidFill>
              </a:rPr>
              <a:t>S</a:t>
            </a:r>
            <a:r>
              <a:rPr lang="en-US" altLang="zh-CN" sz="2000" dirty="0"/>
              <a:t> = </a:t>
            </a:r>
            <a:r>
              <a:rPr lang="en-US" altLang="zh-CN" sz="2000" b="1" dirty="0">
                <a:solidFill>
                  <a:srgbClr val="993300"/>
                </a:solidFill>
              </a:rPr>
              <a:t>B</a:t>
            </a:r>
            <a:r>
              <a:rPr lang="en-US" altLang="zh-CN" sz="2000" dirty="0"/>
              <a:t>/(</a:t>
            </a:r>
            <a:r>
              <a:rPr lang="en-US" altLang="zh-CN" sz="2000" b="1" dirty="0">
                <a:solidFill>
                  <a:srgbClr val="993300"/>
                </a:solidFill>
              </a:rPr>
              <a:t>M</a:t>
            </a:r>
            <a:r>
              <a:rPr lang="en-US" altLang="zh-CN" sz="2000" dirty="0"/>
              <a:t> -</a:t>
            </a:r>
            <a:r>
              <a:rPr lang="en-US" altLang="zh-CN" sz="2000" b="1" dirty="0">
                <a:solidFill>
                  <a:srgbClr val="993300"/>
                </a:solidFill>
              </a:rPr>
              <a:t> R</a:t>
            </a:r>
            <a:r>
              <a:rPr lang="en-US" altLang="zh-CN" sz="2000" dirty="0"/>
              <a:t> )</a:t>
            </a:r>
            <a:endParaRPr lang="en-US" altLang="zh-CN" sz="20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B=9600KB, M = 125 MB/s, R=25 MB/s</a:t>
            </a:r>
            <a:endParaRPr lang="en-US" altLang="zh-CN" sz="20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S=9600/(125 – 25)=96 </a:t>
            </a:r>
            <a:r>
              <a:rPr lang="en-US" altLang="zh-CN" sz="2000" dirty="0" err="1"/>
              <a:t>ms</a:t>
            </a:r>
            <a:endParaRPr lang="en-US" altLang="zh-CN" sz="2000" dirty="0"/>
          </a:p>
          <a:p>
            <a:endParaRPr lang="zh-CN" altLang="zh-CN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1460" y="5229225"/>
            <a:ext cx="8512175" cy="13627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110000"/>
              <a:buFont typeface="Wingdings" panose="05000000000000000000" pitchFamily="2" charset="2"/>
              <a:buChar char="n"/>
              <a:defRPr sz="28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+mn-lt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FF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kern="0" dirty="0"/>
              <a:t>*</a:t>
            </a:r>
            <a:r>
              <a:rPr lang="zh-CN" altLang="zh-CN" sz="2400" kern="0" dirty="0"/>
              <a:t>突发速率为</a:t>
            </a:r>
            <a:r>
              <a:rPr lang="en-US" altLang="zh-CN" sz="2400" kern="0" dirty="0"/>
              <a:t>10Mbps</a:t>
            </a:r>
            <a:r>
              <a:rPr lang="zh-CN" altLang="zh-CN" sz="2400" kern="0" dirty="0"/>
              <a:t>的一台主机通过一个令牌桶进行流量调整。令牌桶的令牌到达速率为</a:t>
            </a:r>
            <a:r>
              <a:rPr lang="en-US" altLang="zh-CN" sz="2400" kern="0" dirty="0"/>
              <a:t>2Mbps</a:t>
            </a:r>
            <a:r>
              <a:rPr lang="zh-CN" altLang="zh-CN" sz="2400" kern="0" dirty="0"/>
              <a:t>，令牌桶的初始容量为</a:t>
            </a:r>
            <a:r>
              <a:rPr lang="en-US" altLang="zh-CN" sz="2400" kern="0" dirty="0"/>
              <a:t>1</a:t>
            </a:r>
            <a:r>
              <a:rPr lang="en-US" altLang="zh-CN" sz="2400" kern="0"/>
              <a:t>M</a:t>
            </a:r>
            <a:r>
              <a:rPr lang="zh-CN" altLang="en-US" sz="2400" kern="0" dirty="0"/>
              <a:t>字节</a:t>
            </a:r>
            <a:r>
              <a:rPr lang="zh-CN" altLang="zh-CN" sz="2400" kern="0" dirty="0"/>
              <a:t>。请问该主机以</a:t>
            </a:r>
            <a:r>
              <a:rPr lang="en-US" altLang="zh-CN" sz="2400" kern="0" dirty="0"/>
              <a:t>10Mbps</a:t>
            </a:r>
            <a:r>
              <a:rPr lang="zh-CN" altLang="zh-CN" sz="2400" kern="0" dirty="0"/>
              <a:t>速率可以传输多长时间？</a:t>
            </a:r>
            <a:endParaRPr lang="zh-CN" altLang="zh-CN" sz="2400" kern="0" dirty="0"/>
          </a:p>
          <a:p>
            <a:endParaRPr lang="zh-CN" altLang="zh-CN" sz="2400" kern="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endParaRPr lang="zh-CN" altLang="zh-CN" sz="2400" kern="0" dirty="0"/>
          </a:p>
        </p:txBody>
      </p:sp>
      <p:sp>
        <p:nvSpPr>
          <p:cNvPr id="2" name="矩形 1"/>
          <p:cNvSpPr/>
          <p:nvPr/>
        </p:nvSpPr>
        <p:spPr>
          <a:xfrm>
            <a:off x="1188085" y="3573145"/>
            <a:ext cx="2232660" cy="720090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614" y="1562610"/>
            <a:ext cx="8838771" cy="18663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60" y="4436695"/>
            <a:ext cx="9166460" cy="901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89" name="Rectangle 2"/>
          <p:cNvSpPr>
            <a:spLocks noGrp="1" noChangeArrowheads="1"/>
          </p:cNvSpPr>
          <p:nvPr>
            <p:ph type="title"/>
          </p:nvPr>
        </p:nvSpPr>
        <p:spPr>
          <a:xfrm>
            <a:off x="-52705" y="193040"/>
            <a:ext cx="9380855" cy="67564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/>
              <a:t>Class A, B, C, and D Address formats  </a:t>
            </a:r>
            <a:endParaRPr lang="en-US" altLang="zh-CN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-58420" y="1046480"/>
            <a:ext cx="9202420" cy="5193665"/>
          </a:xfrm>
        </p:spPr>
        <p:txBody>
          <a:bodyPr/>
          <a:lstStyle/>
          <a:p>
            <a:pPr marL="360680" marR="0" lvl="0" indent="-3606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IP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地址共分为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D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E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五类，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类、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类、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类为单播地址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IP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地址的书写采用</a:t>
            </a:r>
            <a:r>
              <a:rPr lang="zh-CN" altLang="en-US" sz="2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点分十进制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记法，其中每一段取值范围为</a:t>
            </a:r>
            <a:r>
              <a:rPr lang="en-US" altLang="zh-CN" sz="2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到</a:t>
            </a:r>
            <a:r>
              <a:rPr lang="en-US" altLang="zh-CN" sz="24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255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21890" name="Picture 3" descr="5-5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65225" y="2708910"/>
            <a:ext cx="688594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69" y="1643809"/>
            <a:ext cx="8946131" cy="11550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9" y="3683970"/>
            <a:ext cx="9026161" cy="19442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9063"/>
            <a:ext cx="9145016" cy="12208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" y="3553105"/>
            <a:ext cx="9059671" cy="18833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3" name="Rectangle 2"/>
          <p:cNvSpPr>
            <a:spLocks noGrp="1" noChangeArrowheads="1"/>
          </p:cNvSpPr>
          <p:nvPr>
            <p:ph type="title"/>
          </p:nvPr>
        </p:nvSpPr>
        <p:spPr>
          <a:xfrm>
            <a:off x="467995" y="-317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/>
              <a:t>Special IP addresses</a:t>
            </a:r>
            <a:endParaRPr lang="en-US" altLang="zh-CN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22914" name="Picture 3" descr="5-5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9070" y="1988820"/>
            <a:ext cx="8867775" cy="2818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-36830" y="193040"/>
            <a:ext cx="9182735" cy="675640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ym typeface="+mn-ea"/>
              </a:rPr>
              <a:t>Class A, B, C  Address formats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1460" y="6021070"/>
            <a:ext cx="88233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网络号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位，主机号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位，该网络可分配（可用）地址数：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baseline="30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</a:t>
            </a:r>
            <a:endParaRPr lang="zh-CN" altLang="en-US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476375"/>
            <a:ext cx="9144000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38" y="1043389"/>
            <a:ext cx="7537837" cy="2006703"/>
          </a:xfrm>
          <a:prstGeom prst="rect">
            <a:avLst/>
          </a:prstGeom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65" y="2966202"/>
            <a:ext cx="7537837" cy="374669"/>
          </a:xfrm>
          <a:prstGeom prst="rect">
            <a:avLst/>
          </a:pr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65" y="3534417"/>
            <a:ext cx="7531487" cy="329581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83365" y="1124746"/>
            <a:ext cx="7705059" cy="21379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528" y="1340768"/>
            <a:ext cx="8245947" cy="18722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29" y="3696144"/>
            <a:ext cx="8172047" cy="117538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55776" y="5332416"/>
            <a:ext cx="119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rgbClr val="C00000"/>
                </a:solidFill>
              </a:rPr>
              <a:t>01101</a:t>
            </a:r>
            <a:r>
              <a:rPr kumimoji="1" lang="en-US" altLang="zh-CN"/>
              <a:t>000</a:t>
            </a:r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55776" y="4985370"/>
            <a:ext cx="119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rgbClr val="C00000"/>
                </a:solidFill>
              </a:rPr>
              <a:t>01100</a:t>
            </a:r>
            <a:r>
              <a:rPr kumimoji="1" lang="en-US" altLang="zh-CN"/>
              <a:t>000</a:t>
            </a:r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55776" y="5742398"/>
            <a:ext cx="1176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rgbClr val="C00000"/>
                </a:solidFill>
              </a:rPr>
              <a:t>01110</a:t>
            </a:r>
            <a:r>
              <a:rPr kumimoji="1" lang="en-US" altLang="zh-CN"/>
              <a:t>000</a:t>
            </a:r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548676" y="6111730"/>
            <a:ext cx="1159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rgbClr val="C00000"/>
                </a:solidFill>
              </a:rPr>
              <a:t>01111</a:t>
            </a:r>
            <a:r>
              <a:rPr kumimoji="1" lang="en-US" altLang="zh-CN"/>
              <a:t>000</a:t>
            </a:r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27784" y="4985370"/>
            <a:ext cx="360040" cy="14956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343" y="1196751"/>
            <a:ext cx="8221209" cy="44644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" y="1268730"/>
            <a:ext cx="8758555" cy="8839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204720"/>
            <a:ext cx="8444865" cy="29800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842" y="5302449"/>
            <a:ext cx="5484316" cy="15412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115" y="-317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000"/>
              <a:t>The IPv4 Header</a:t>
            </a:r>
            <a:endParaRPr lang="en-US" altLang="zh-CN" sz="4000"/>
          </a:p>
        </p:txBody>
      </p:sp>
      <p:sp>
        <p:nvSpPr>
          <p:cNvPr id="405506" name="Rectangle 3"/>
          <p:cNvSpPr>
            <a:spLocks noGrp="1" noChangeArrowheads="1"/>
          </p:cNvSpPr>
          <p:nvPr>
            <p:ph idx="1"/>
          </p:nvPr>
        </p:nvSpPr>
        <p:spPr>
          <a:xfrm>
            <a:off x="252730" y="3820795"/>
            <a:ext cx="7975600" cy="3107055"/>
          </a:xfrm>
        </p:spPr>
        <p:txBody>
          <a:bodyPr>
            <a:normAutofit fontScale="97500"/>
          </a:bodyPr>
          <a:lstStyle/>
          <a:p>
            <a:pPr eaLnBrk="1" hangingPunct="1"/>
            <a:r>
              <a:rPr lang="en-US" altLang="zh-CN" sz="2400" b="1" dirty="0"/>
              <a:t>DF (1 bit)</a:t>
            </a:r>
            <a:endParaRPr lang="en-US" altLang="zh-CN" sz="2400" b="1" dirty="0"/>
          </a:p>
          <a:p>
            <a:pPr lvl="1" eaLnBrk="1" hangingPunct="1"/>
            <a:r>
              <a:rPr lang="en-US" altLang="zh-CN" sz="2200" dirty="0">
                <a:solidFill>
                  <a:srgbClr val="CC0000"/>
                </a:solidFill>
              </a:rPr>
              <a:t>Don't Fragment</a:t>
            </a:r>
            <a:r>
              <a:rPr lang="en-US" altLang="zh-CN" sz="2200" dirty="0"/>
              <a:t>. It is an order to the routers not to fragment the datagram </a:t>
            </a:r>
            <a:endParaRPr lang="en-US" altLang="zh-CN" sz="2200" dirty="0"/>
          </a:p>
          <a:p>
            <a:pPr eaLnBrk="1" hangingPunct="1"/>
            <a:r>
              <a:rPr lang="en-US" altLang="zh-CN" sz="2400" b="1" dirty="0"/>
              <a:t>MF (1 bit)</a:t>
            </a:r>
            <a:endParaRPr lang="en-US" altLang="zh-CN" sz="2400" b="1" dirty="0"/>
          </a:p>
          <a:p>
            <a:pPr lvl="1" eaLnBrk="1" hangingPunct="1"/>
            <a:r>
              <a:rPr lang="en-US" altLang="zh-CN" sz="2200" dirty="0">
                <a:solidFill>
                  <a:srgbClr val="CC0000"/>
                </a:solidFill>
              </a:rPr>
              <a:t>More</a:t>
            </a:r>
            <a:r>
              <a:rPr lang="en-US" altLang="zh-CN" sz="2200" dirty="0"/>
              <a:t> Fragments</a:t>
            </a:r>
            <a:endParaRPr lang="en-US" altLang="zh-CN" sz="2200" dirty="0"/>
          </a:p>
          <a:p>
            <a:pPr eaLnBrk="1" hangingPunct="1"/>
            <a:r>
              <a:rPr lang="en-US" altLang="zh-CN" sz="2400" b="1" dirty="0"/>
              <a:t>Fragment offset (13 bits) </a:t>
            </a:r>
            <a:endParaRPr lang="en-US" altLang="zh-CN" sz="2400" b="1" dirty="0"/>
          </a:p>
          <a:p>
            <a:pPr lvl="1" eaLnBrk="1" hangingPunct="1"/>
            <a:r>
              <a:rPr lang="en-US" altLang="zh-CN" sz="2200" dirty="0"/>
              <a:t>Tell where in the current datagram this fragment belongs, </a:t>
            </a:r>
            <a:r>
              <a:rPr lang="en-US" altLang="zh-CN" sz="2200" dirty="0">
                <a:solidFill>
                  <a:srgbClr val="CC0000"/>
                </a:solidFill>
              </a:rPr>
              <a:t>in </a:t>
            </a:r>
            <a:r>
              <a:rPr lang="en-US" altLang="zh-CN" sz="2200" b="1" dirty="0">
                <a:solidFill>
                  <a:srgbClr val="CC0000"/>
                </a:solidFill>
              </a:rPr>
              <a:t>8 bytes</a:t>
            </a:r>
            <a:r>
              <a:rPr lang="en-US" altLang="zh-CN" sz="2200" dirty="0"/>
              <a:t> (0~8191) </a:t>
            </a:r>
            <a:endParaRPr lang="en-US" altLang="zh-CN" sz="2200" dirty="0"/>
          </a:p>
        </p:txBody>
      </p:sp>
      <p:pic>
        <p:nvPicPr>
          <p:cNvPr id="15" name="内容占位符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9295" y="980440"/>
            <a:ext cx="5827395" cy="2762885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5076190" y="1772920"/>
            <a:ext cx="2622550" cy="34290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2843530" y="385508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不能分片标志，置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时表示允许分片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7630" y="4940935"/>
            <a:ext cx="6528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置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表示后面还有分片，置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表示数据报分片的最后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356735" y="5733415"/>
            <a:ext cx="6528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分片后，相应的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片在总的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片的相对位置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55" y="1527810"/>
            <a:ext cx="8465820" cy="4688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663" y="1196752"/>
            <a:ext cx="8017949" cy="20162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749543"/>
            <a:ext cx="8598388" cy="22826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165" y="1052736"/>
            <a:ext cx="7467984" cy="971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009072"/>
            <a:ext cx="7518786" cy="20829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02" y="4581132"/>
            <a:ext cx="8921998" cy="199975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39552" y="980727"/>
            <a:ext cx="7992888" cy="33843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00822" y="5114794"/>
            <a:ext cx="1719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60:</a:t>
            </a:r>
            <a:r>
              <a:rPr kumimoji="1" lang="zh-CN" altLang="en-US"/>
              <a:t>  </a:t>
            </a:r>
            <a:r>
              <a:rPr kumimoji="1" lang="en-US" altLang="zh-CN">
                <a:solidFill>
                  <a:srgbClr val="C00000"/>
                </a:solidFill>
              </a:rPr>
              <a:t>0011111</a:t>
            </a:r>
            <a:r>
              <a:rPr kumimoji="1" lang="en-US" altLang="zh-CN"/>
              <a:t>00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r="5781"/>
          <a:stretch>
            <a:fillRect/>
          </a:stretch>
        </p:blipFill>
        <p:spPr>
          <a:xfrm>
            <a:off x="1187624" y="985838"/>
            <a:ext cx="5976664" cy="57986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125872"/>
            <a:ext cx="7468874" cy="9742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0" y="2259096"/>
            <a:ext cx="7690348" cy="44822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3848" y="2012390"/>
            <a:ext cx="3709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11111111</a:t>
            </a:r>
            <a:r>
              <a:rPr kumimoji="1" lang="zh-CN" altLang="en-US" sz="1600"/>
              <a:t> </a:t>
            </a:r>
            <a:r>
              <a:rPr kumimoji="1" lang="en-US" altLang="zh-CN" sz="1600"/>
              <a:t>11111111</a:t>
            </a:r>
            <a:r>
              <a:rPr kumimoji="1" lang="zh-CN" altLang="en-US" sz="1600"/>
              <a:t> </a:t>
            </a:r>
            <a:r>
              <a:rPr kumimoji="1" lang="en-US" altLang="zh-CN" sz="1600">
                <a:solidFill>
                  <a:srgbClr val="C00000"/>
                </a:solidFill>
              </a:rPr>
              <a:t>11111100</a:t>
            </a:r>
            <a:r>
              <a:rPr kumimoji="1" lang="zh-CN" altLang="en-US" sz="1600"/>
              <a:t> </a:t>
            </a:r>
            <a:r>
              <a:rPr kumimoji="1" lang="en-US" altLang="zh-CN" sz="1600"/>
              <a:t>00000000</a:t>
            </a:r>
            <a:endParaRPr kumimoji="1"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3201818" y="1761519"/>
            <a:ext cx="3710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/>
              <a:t>135</a:t>
            </a:r>
            <a:r>
              <a:rPr kumimoji="1" lang="zh-CN" altLang="en-US" sz="1600"/>
              <a:t>           </a:t>
            </a:r>
            <a:r>
              <a:rPr kumimoji="1" lang="en-US" altLang="zh-CN" sz="1600"/>
              <a:t>46</a:t>
            </a:r>
            <a:r>
              <a:rPr kumimoji="1" lang="zh-CN" altLang="en-US" sz="1600"/>
              <a:t>         </a:t>
            </a:r>
            <a:r>
              <a:rPr kumimoji="1" lang="en-US" altLang="zh-CN" sz="1600">
                <a:solidFill>
                  <a:srgbClr val="C00000"/>
                </a:solidFill>
              </a:rPr>
              <a:t>00111111</a:t>
            </a:r>
            <a:r>
              <a:rPr kumimoji="1" lang="zh-CN" altLang="en-US" sz="1600"/>
              <a:t> </a:t>
            </a:r>
            <a:r>
              <a:rPr kumimoji="1" lang="en-US" altLang="zh-CN" sz="1600"/>
              <a:t>00000000</a:t>
            </a:r>
            <a:endParaRPr kumimoji="1" lang="zh-CN" altLang="en-US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196752"/>
            <a:ext cx="8064898" cy="1512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25" y="2872537"/>
            <a:ext cx="8576149" cy="216023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4623133"/>
            <a:ext cx="5760640" cy="20762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947" y="1124744"/>
            <a:ext cx="8315505" cy="3236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96" y="4797161"/>
            <a:ext cx="8892904" cy="9360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08" y="5616602"/>
            <a:ext cx="6048672" cy="5802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412775"/>
            <a:ext cx="8540068" cy="10801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3" y="3429000"/>
            <a:ext cx="8946374" cy="23762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173" y="1340777"/>
            <a:ext cx="8436236" cy="13061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" y="3501008"/>
            <a:ext cx="9134001" cy="177478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80" y="3764104"/>
            <a:ext cx="8934002" cy="172819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1425566"/>
            <a:ext cx="8444261" cy="13553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74725"/>
            <a:ext cx="7975600" cy="51936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550" dirty="0">
                <a:latin typeface="微软雅黑" panose="020B0503020204020204" charset="-122"/>
                <a:ea typeface="微软雅黑" panose="020B0503020204020204" charset="-122"/>
              </a:rPr>
              <a:t>IP</a:t>
            </a:r>
            <a:r>
              <a:rPr lang="zh-CN" altLang="en-US" sz="2550" dirty="0">
                <a:latin typeface="微软雅黑" panose="020B0503020204020204" charset="-122"/>
                <a:ea typeface="微软雅黑" panose="020B0503020204020204" charset="-122"/>
              </a:rPr>
              <a:t>数据包转发：从主机</a:t>
            </a:r>
            <a:r>
              <a:rPr lang="en-US" altLang="zh-CN" sz="2550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550" dirty="0">
                <a:latin typeface="微软雅黑" panose="020B0503020204020204" charset="-122"/>
                <a:ea typeface="微软雅黑" panose="020B0503020204020204" charset="-122"/>
              </a:rPr>
              <a:t>到主机</a:t>
            </a:r>
            <a:r>
              <a:rPr lang="en-US" altLang="zh-CN" sz="2550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5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检查目的</a:t>
            </a:r>
            <a:r>
              <a:rPr lang="en-US" altLang="zh-CN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IP</a:t>
            </a:r>
            <a:r>
              <a:rPr lang="zh-CN" altLang="en-US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地址的网络号部分</a:t>
            </a:r>
            <a:endParaRPr lang="en-US" altLang="zh-CN" sz="195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确定主机</a:t>
            </a:r>
            <a:r>
              <a:rPr lang="en-US" altLang="zh-CN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en-US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与主机</a:t>
            </a:r>
            <a:r>
              <a:rPr lang="en-US" altLang="zh-CN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属相同</a:t>
            </a:r>
            <a:r>
              <a:rPr lang="en-US" altLang="zh-CN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IP</a:t>
            </a:r>
            <a:r>
              <a:rPr lang="zh-CN" altLang="en-US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网络</a:t>
            </a:r>
            <a:endParaRPr lang="en-US" altLang="zh-CN" sz="195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将</a:t>
            </a:r>
            <a:r>
              <a:rPr lang="en-US" altLang="zh-CN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IP</a:t>
            </a:r>
            <a:r>
              <a:rPr lang="zh-CN" altLang="en-US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数据包封装到链路层帧中，直接发送给主机</a:t>
            </a:r>
            <a:r>
              <a:rPr lang="en-US" altLang="zh-CN" sz="195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 </a:t>
            </a:r>
            <a:endParaRPr lang="en-US" altLang="zh-CN" sz="195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z="900" smtClean="0"/>
            </a:fld>
            <a:endParaRPr kumimoji="1" lang="zh-CN" altLang="en-US" sz="900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ARP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地址解析协议</a:t>
            </a:r>
            <a:endParaRPr lang="zh-CN" altLang="en-US" sz="2400" dirty="0"/>
          </a:p>
        </p:txBody>
      </p:sp>
      <p:grpSp>
        <p:nvGrpSpPr>
          <p:cNvPr id="55" name="组合 54"/>
          <p:cNvGrpSpPr/>
          <p:nvPr/>
        </p:nvGrpSpPr>
        <p:grpSpPr>
          <a:xfrm>
            <a:off x="1098436" y="5175720"/>
            <a:ext cx="6086475" cy="1518910"/>
            <a:chOff x="848794" y="4316975"/>
            <a:chExt cx="8115300" cy="2422881"/>
          </a:xfrm>
        </p:grpSpPr>
        <p:sp>
          <p:nvSpPr>
            <p:cNvPr id="56" name="Rectangle 2"/>
            <p:cNvSpPr>
              <a:spLocks noChangeArrowheads="1"/>
            </p:cNvSpPr>
            <p:nvPr/>
          </p:nvSpPr>
          <p:spPr bwMode="auto">
            <a:xfrm>
              <a:off x="4428077" y="5064133"/>
              <a:ext cx="4536016" cy="66992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10000"/>
                </a:spcBef>
                <a:buClr>
                  <a:schemeClr val="tx1"/>
                </a:buClr>
                <a:buFont typeface="Symbol" panose="05050102010706020507" pitchFamily="18" charset="2"/>
                <a:buChar char="¾"/>
              </a:pPr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66"/>
            <p:cNvSpPr txBox="1">
              <a:spLocks noChangeArrowheads="1"/>
            </p:cNvSpPr>
            <p:nvPr/>
          </p:nvSpPr>
          <p:spPr bwMode="auto">
            <a:xfrm>
              <a:off x="1306204" y="5081596"/>
              <a:ext cx="1127760" cy="734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en-US" altLang="zh-CN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的</a:t>
              </a:r>
              <a:endParaRPr kumimoji="0" lang="en-US" altLang="zh-CN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algn="ctr" eaLnBrk="0" hangingPunct="0"/>
              <a:r>
                <a:rPr kumimoji="0" lang="en-US" altLang="zh-CN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MAC</a:t>
              </a:r>
              <a:r>
                <a:rPr kumimoji="0" lang="zh-CN" altLang="en-US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地址</a:t>
              </a:r>
              <a:endParaRPr kumimoji="0" lang="zh-CN" altLang="en-US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67"/>
            <p:cNvSpPr txBox="1">
              <a:spLocks noChangeArrowheads="1"/>
            </p:cNvSpPr>
            <p:nvPr/>
          </p:nvSpPr>
          <p:spPr bwMode="auto">
            <a:xfrm>
              <a:off x="2548478" y="5081596"/>
              <a:ext cx="1629833" cy="734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的</a:t>
              </a:r>
              <a:endParaRPr lang="en-US" altLang="zh-CN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algn="ctr" eaLnBrk="0" hangingPunct="0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MAC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地址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68"/>
            <p:cNvSpPr txBox="1">
              <a:spLocks noChangeArrowheads="1"/>
            </p:cNvSpPr>
            <p:nvPr/>
          </p:nvSpPr>
          <p:spPr bwMode="auto">
            <a:xfrm>
              <a:off x="4428079" y="5064133"/>
              <a:ext cx="1274725" cy="734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的</a:t>
              </a:r>
              <a:endParaRPr lang="en-US" altLang="zh-CN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algn="ctr" eaLnBrk="0" hangingPunct="0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地址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69"/>
            <p:cNvSpPr txBox="1">
              <a:spLocks noChangeArrowheads="1"/>
            </p:cNvSpPr>
            <p:nvPr/>
          </p:nvSpPr>
          <p:spPr bwMode="auto">
            <a:xfrm>
              <a:off x="5983404" y="5070483"/>
              <a:ext cx="834813" cy="7343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的</a:t>
              </a:r>
              <a:endParaRPr lang="en-US" altLang="zh-CN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algn="ctr" eaLnBrk="0" hangingPunct="0"/>
              <a:r>
                <a:rPr lang="en-US" altLang="zh-CN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地址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Text Box 70"/>
            <p:cNvSpPr txBox="1">
              <a:spLocks noChangeArrowheads="1"/>
            </p:cNvSpPr>
            <p:nvPr/>
          </p:nvSpPr>
          <p:spPr bwMode="auto">
            <a:xfrm>
              <a:off x="7597362" y="5202246"/>
              <a:ext cx="932180" cy="48923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载荷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Rectangle 71"/>
            <p:cNvSpPr>
              <a:spLocks noChangeArrowheads="1"/>
            </p:cNvSpPr>
            <p:nvPr/>
          </p:nvSpPr>
          <p:spPr bwMode="auto">
            <a:xfrm>
              <a:off x="882661" y="5062546"/>
              <a:ext cx="8081433" cy="6699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10000"/>
                </a:spcBef>
                <a:buClr>
                  <a:schemeClr val="tx1"/>
                </a:buClr>
                <a:buFont typeface="Symbol" panose="05050102010706020507" pitchFamily="18" charset="2"/>
                <a:buChar char="¾"/>
              </a:pPr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Line 72"/>
            <p:cNvSpPr>
              <a:spLocks noChangeShapeType="1"/>
            </p:cNvSpPr>
            <p:nvPr/>
          </p:nvSpPr>
          <p:spPr bwMode="auto">
            <a:xfrm>
              <a:off x="2614093" y="5073658"/>
              <a:ext cx="0" cy="669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Line 73"/>
            <p:cNvSpPr>
              <a:spLocks noChangeShapeType="1"/>
            </p:cNvSpPr>
            <p:nvPr/>
          </p:nvSpPr>
          <p:spPr bwMode="auto">
            <a:xfrm>
              <a:off x="4074593" y="5068896"/>
              <a:ext cx="0" cy="669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74"/>
            <p:cNvSpPr>
              <a:spLocks noChangeShapeType="1"/>
            </p:cNvSpPr>
            <p:nvPr/>
          </p:nvSpPr>
          <p:spPr bwMode="auto">
            <a:xfrm>
              <a:off x="4432311" y="5075246"/>
              <a:ext cx="0" cy="669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75"/>
            <p:cNvSpPr>
              <a:spLocks noChangeArrowheads="1"/>
            </p:cNvSpPr>
            <p:nvPr/>
          </p:nvSpPr>
          <p:spPr bwMode="auto">
            <a:xfrm>
              <a:off x="1066811" y="5011745"/>
              <a:ext cx="99483" cy="1571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10000"/>
                </a:spcBef>
                <a:buClr>
                  <a:schemeClr val="tx1"/>
                </a:buClr>
                <a:buFont typeface="Symbol" panose="05050102010706020507" pitchFamily="18" charset="2"/>
                <a:buChar char="¾"/>
              </a:pPr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76"/>
            <p:cNvSpPr>
              <a:spLocks noChangeArrowheads="1"/>
            </p:cNvSpPr>
            <p:nvPr/>
          </p:nvSpPr>
          <p:spPr bwMode="auto">
            <a:xfrm>
              <a:off x="1032944" y="5646745"/>
              <a:ext cx="99483" cy="1571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10000"/>
                </a:spcBef>
                <a:buClr>
                  <a:schemeClr val="tx1"/>
                </a:buClr>
                <a:buFont typeface="Symbol" panose="05050102010706020507" pitchFamily="18" charset="2"/>
                <a:buChar char="¾"/>
              </a:pPr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77"/>
            <p:cNvSpPr>
              <a:spLocks noChangeArrowheads="1"/>
            </p:cNvSpPr>
            <p:nvPr/>
          </p:nvSpPr>
          <p:spPr bwMode="auto">
            <a:xfrm>
              <a:off x="4195244" y="5014920"/>
              <a:ext cx="99483" cy="1571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10000"/>
                </a:spcBef>
                <a:buClr>
                  <a:schemeClr val="tx1"/>
                </a:buClr>
                <a:buFont typeface="Symbol" panose="05050102010706020507" pitchFamily="18" charset="2"/>
                <a:buChar char="¾"/>
              </a:pPr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78"/>
            <p:cNvSpPr>
              <a:spLocks noChangeArrowheads="1"/>
            </p:cNvSpPr>
            <p:nvPr/>
          </p:nvSpPr>
          <p:spPr bwMode="auto">
            <a:xfrm>
              <a:off x="4218527" y="5661033"/>
              <a:ext cx="99484" cy="15716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10000"/>
                </a:spcBef>
                <a:buClr>
                  <a:schemeClr val="tx1"/>
                </a:buClr>
                <a:buFont typeface="Symbol" panose="05050102010706020507" pitchFamily="18" charset="2"/>
                <a:buChar char="¾"/>
              </a:pPr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79"/>
            <p:cNvSpPr txBox="1">
              <a:spLocks noChangeArrowheads="1"/>
            </p:cNvSpPr>
            <p:nvPr/>
          </p:nvSpPr>
          <p:spPr bwMode="auto">
            <a:xfrm>
              <a:off x="6120150" y="5780900"/>
              <a:ext cx="1056640" cy="53785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数据包</a:t>
              </a:r>
              <a:endPara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Text Box 80"/>
            <p:cNvSpPr txBox="1">
              <a:spLocks noChangeArrowheads="1"/>
            </p:cNvSpPr>
            <p:nvPr/>
          </p:nvSpPr>
          <p:spPr bwMode="auto">
            <a:xfrm>
              <a:off x="4003794" y="6152364"/>
              <a:ext cx="548640" cy="5874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1800" b="1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帧</a:t>
              </a:r>
              <a:endParaRPr lang="zh-CN" altLang="en-US" sz="1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Line 81"/>
            <p:cNvSpPr>
              <a:spLocks noChangeShapeType="1"/>
            </p:cNvSpPr>
            <p:nvPr/>
          </p:nvSpPr>
          <p:spPr bwMode="auto">
            <a:xfrm>
              <a:off x="7317327" y="6048382"/>
              <a:ext cx="15917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Line 82"/>
            <p:cNvSpPr>
              <a:spLocks noChangeShapeType="1"/>
            </p:cNvSpPr>
            <p:nvPr/>
          </p:nvSpPr>
          <p:spPr bwMode="auto">
            <a:xfrm flipH="1">
              <a:off x="4485227" y="6057907"/>
              <a:ext cx="1312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Line 83"/>
            <p:cNvSpPr>
              <a:spLocks noChangeShapeType="1"/>
            </p:cNvSpPr>
            <p:nvPr/>
          </p:nvSpPr>
          <p:spPr bwMode="auto">
            <a:xfrm flipH="1">
              <a:off x="848794" y="6346832"/>
              <a:ext cx="29739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Line 84"/>
            <p:cNvSpPr>
              <a:spLocks noChangeShapeType="1"/>
            </p:cNvSpPr>
            <p:nvPr/>
          </p:nvSpPr>
          <p:spPr bwMode="auto">
            <a:xfrm>
              <a:off x="4868345" y="6369057"/>
              <a:ext cx="40343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Text Box 85"/>
            <p:cNvSpPr txBox="1">
              <a:spLocks noChangeArrowheads="1"/>
            </p:cNvSpPr>
            <p:nvPr/>
          </p:nvSpPr>
          <p:spPr bwMode="auto">
            <a:xfrm>
              <a:off x="1332305" y="4316975"/>
              <a:ext cx="2275840" cy="5135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15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帧的源和目的地址</a:t>
              </a:r>
              <a:endParaRPr kumimoji="0" lang="en-US" altLang="zh-CN" sz="15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Text Box 86"/>
            <p:cNvSpPr txBox="1">
              <a:spLocks noChangeArrowheads="1"/>
            </p:cNvSpPr>
            <p:nvPr/>
          </p:nvSpPr>
          <p:spPr bwMode="auto">
            <a:xfrm>
              <a:off x="4564802" y="4326500"/>
              <a:ext cx="2783840" cy="5135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zh-CN" altLang="en-US" sz="1500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数据包的源和目的地址</a:t>
              </a:r>
              <a:endParaRPr kumimoji="0" lang="en-US" altLang="zh-CN" sz="15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Line 87"/>
            <p:cNvSpPr>
              <a:spLocks noChangeShapeType="1"/>
            </p:cNvSpPr>
            <p:nvPr/>
          </p:nvSpPr>
          <p:spPr bwMode="auto">
            <a:xfrm flipH="1">
              <a:off x="1875378" y="4686307"/>
              <a:ext cx="656167" cy="325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88"/>
            <p:cNvSpPr>
              <a:spLocks noChangeShapeType="1"/>
            </p:cNvSpPr>
            <p:nvPr/>
          </p:nvSpPr>
          <p:spPr bwMode="auto">
            <a:xfrm>
              <a:off x="2749560" y="4681546"/>
              <a:ext cx="586317" cy="32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Line 89"/>
            <p:cNvSpPr>
              <a:spLocks noChangeShapeType="1"/>
            </p:cNvSpPr>
            <p:nvPr/>
          </p:nvSpPr>
          <p:spPr bwMode="auto">
            <a:xfrm flipH="1">
              <a:off x="4995345" y="4691071"/>
              <a:ext cx="656167" cy="32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90"/>
            <p:cNvSpPr>
              <a:spLocks noChangeShapeType="1"/>
            </p:cNvSpPr>
            <p:nvPr/>
          </p:nvSpPr>
          <p:spPr bwMode="auto">
            <a:xfrm>
              <a:off x="5869527" y="4686307"/>
              <a:ext cx="586317" cy="325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105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624646" y="3079826"/>
            <a:ext cx="3265757" cy="2230517"/>
            <a:chOff x="6963588" y="1452135"/>
            <a:chExt cx="4354342" cy="2974022"/>
          </a:xfrm>
        </p:grpSpPr>
        <p:grpSp>
          <p:nvGrpSpPr>
            <p:cNvPr id="82" name="组合 81"/>
            <p:cNvGrpSpPr/>
            <p:nvPr/>
          </p:nvGrpSpPr>
          <p:grpSpPr>
            <a:xfrm>
              <a:off x="6963588" y="1452135"/>
              <a:ext cx="4354342" cy="2974022"/>
              <a:chOff x="5600115" y="3078817"/>
              <a:chExt cx="4354342" cy="2974022"/>
            </a:xfrm>
          </p:grpSpPr>
          <p:pic>
            <p:nvPicPr>
              <p:cNvPr id="83" name="Picture 50"/>
              <p:cNvPicPr>
                <a:picLocks noChangeAspect="1" noChangeArrowheads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10704" y="4718428"/>
                <a:ext cx="757723" cy="6749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4" name="Picture 51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3128" y="3428842"/>
                <a:ext cx="639123" cy="814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6" name="矩形 85"/>
              <p:cNvSpPr/>
              <p:nvPr/>
            </p:nvSpPr>
            <p:spPr>
              <a:xfrm>
                <a:off x="6787900" y="3496121"/>
                <a:ext cx="1839807" cy="413173"/>
              </a:xfrm>
              <a:prstGeom prst="rect">
                <a:avLst/>
              </a:prstGeom>
            </p:spPr>
            <p:txBody>
              <a:bodyPr wrap="none" lIns="91437" tIns="45718" rIns="91437" bIns="45718">
                <a:spAutoFit/>
              </a:bodyPr>
              <a:lstStyle/>
              <a:p>
                <a:r>
                  <a:rPr lang="en-US" altLang="zh-CN" sz="1425" dirty="0">
                    <a:latin typeface="微软雅黑" panose="020B0503020204020204" charset="-122"/>
                    <a:ea typeface="微软雅黑" panose="020B0503020204020204" charset="-122"/>
                  </a:rPr>
                  <a:t>220.168.10.10</a:t>
                </a:r>
                <a:endParaRPr lang="zh-CN" altLang="en-US" sz="1425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787901" y="3823930"/>
                <a:ext cx="2551853" cy="413173"/>
              </a:xfrm>
              <a:prstGeom prst="rect">
                <a:avLst/>
              </a:prstGeom>
            </p:spPr>
            <p:txBody>
              <a:bodyPr wrap="none" lIns="91437" tIns="45718" rIns="91437" bIns="45718">
                <a:spAutoFit/>
              </a:bodyPr>
              <a:lstStyle/>
              <a:p>
                <a:r>
                  <a:rPr lang="en-US" altLang="zh-CN" sz="1425" dirty="0">
                    <a:latin typeface="微软雅黑" panose="020B0503020204020204" charset="-122"/>
                    <a:ea typeface="微软雅黑" panose="020B0503020204020204" charset="-122"/>
                  </a:rPr>
                  <a:t>00-15-C5-C6-CC-07</a:t>
                </a:r>
                <a:endParaRPr lang="zh-CN" altLang="en-US" sz="1425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7451023" y="5327501"/>
                <a:ext cx="1839807" cy="413173"/>
              </a:xfrm>
              <a:prstGeom prst="rect">
                <a:avLst/>
              </a:prstGeom>
            </p:spPr>
            <p:txBody>
              <a:bodyPr wrap="none" lIns="91437" tIns="45718" rIns="91437" bIns="45718">
                <a:spAutoFit/>
              </a:bodyPr>
              <a:lstStyle/>
              <a:p>
                <a:r>
                  <a:rPr lang="en-US" altLang="zh-CN" sz="1425" dirty="0">
                    <a:latin typeface="微软雅黑" panose="020B0503020204020204" charset="-122"/>
                    <a:ea typeface="微软雅黑" panose="020B0503020204020204" charset="-122"/>
                  </a:rPr>
                  <a:t>220.168.10.20</a:t>
                </a:r>
                <a:endParaRPr lang="zh-CN" altLang="en-US" sz="1425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7946642" y="5639666"/>
                <a:ext cx="968587" cy="413173"/>
              </a:xfrm>
              <a:prstGeom prst="rect">
                <a:avLst/>
              </a:prstGeom>
            </p:spPr>
            <p:txBody>
              <a:bodyPr wrap="none" lIns="91437" tIns="45718" rIns="91437" bIns="45718">
                <a:spAutoFit/>
              </a:bodyPr>
              <a:lstStyle/>
              <a:p>
                <a:pPr algn="ctr"/>
                <a:r>
                  <a:rPr lang="zh-CN" altLang="en-US" sz="1425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？？？</a:t>
                </a:r>
                <a:endParaRPr lang="zh-CN" altLang="en-US" sz="1425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2" name="矩形标注 91"/>
              <p:cNvSpPr/>
              <p:nvPr/>
            </p:nvSpPr>
            <p:spPr bwMode="auto">
              <a:xfrm>
                <a:off x="7363515" y="3078817"/>
                <a:ext cx="959747" cy="336293"/>
              </a:xfrm>
              <a:prstGeom prst="wedgeRectCallout">
                <a:avLst>
                  <a:gd name="adj1" fmla="val -47726"/>
                  <a:gd name="adj2" fmla="val 100032"/>
                </a:avLst>
              </a:prstGeom>
              <a:solidFill>
                <a:srgbClr val="00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37" tIns="45718" rIns="91437" bIns="45718" numCol="1" rtlCol="0" anchor="t" anchorCtr="0" compatLnSpc="1"/>
              <a:lstStyle/>
              <a:p>
                <a:pPr algn="ctr" defTabSz="1219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200" dirty="0">
                    <a:latin typeface="微软雅黑" panose="020B0503020204020204" charset="-122"/>
                    <a:ea typeface="微软雅黑" panose="020B0503020204020204" charset="-122"/>
                  </a:rPr>
                  <a:t>IP </a:t>
                </a: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</a:rPr>
                  <a:t>地址</a:t>
                </a: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3" name="矩形标注 92"/>
              <p:cNvSpPr/>
              <p:nvPr/>
            </p:nvSpPr>
            <p:spPr bwMode="auto">
              <a:xfrm>
                <a:off x="8663546" y="3331464"/>
                <a:ext cx="1290911" cy="336293"/>
              </a:xfrm>
              <a:prstGeom prst="wedgeRectCallout">
                <a:avLst>
                  <a:gd name="adj1" fmla="val -64020"/>
                  <a:gd name="adj2" fmla="val 132276"/>
                </a:avLst>
              </a:prstGeom>
              <a:solidFill>
                <a:srgbClr val="00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37" tIns="45718" rIns="91437" bIns="45718" numCol="1" rtlCol="0" anchor="t" anchorCtr="0" compatLnSpc="1"/>
              <a:lstStyle/>
              <a:p>
                <a:pPr algn="ctr" defTabSz="1219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200" dirty="0">
                    <a:latin typeface="微软雅黑" panose="020B0503020204020204" charset="-122"/>
                    <a:ea typeface="微软雅黑" panose="020B0503020204020204" charset="-122"/>
                  </a:rPr>
                  <a:t>MAC </a:t>
                </a:r>
                <a:r>
                  <a:rPr lang="zh-CN" altLang="en-US" sz="1200" dirty="0">
                    <a:latin typeface="微软雅黑" panose="020B0503020204020204" charset="-122"/>
                    <a:ea typeface="微软雅黑" panose="020B0503020204020204" charset="-122"/>
                  </a:rPr>
                  <a:t>地址</a:t>
                </a:r>
                <a:endParaRPr lang="zh-CN" altLang="en-US" sz="12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94" name="直接箭头连接符 93"/>
              <p:cNvCxnSpPr/>
              <p:nvPr/>
            </p:nvCxnSpPr>
            <p:spPr bwMode="auto">
              <a:xfrm flipH="1">
                <a:off x="6489186" y="3667757"/>
                <a:ext cx="338639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5" name="直接箭头连接符 94"/>
              <p:cNvCxnSpPr/>
              <p:nvPr/>
            </p:nvCxnSpPr>
            <p:spPr bwMode="auto">
              <a:xfrm flipH="1">
                <a:off x="6489186" y="4015152"/>
                <a:ext cx="338639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6" name="椭圆 95"/>
              <p:cNvSpPr/>
              <p:nvPr/>
            </p:nvSpPr>
            <p:spPr bwMode="auto">
              <a:xfrm>
                <a:off x="5600115" y="4576565"/>
                <a:ext cx="1597805" cy="958683"/>
              </a:xfrm>
              <a:prstGeom prst="ellipse">
                <a:avLst/>
              </a:prstGeom>
              <a:solidFill>
                <a:srgbClr val="99FFCC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37" tIns="45718" rIns="91437" bIns="45718" numCol="1" rtlCol="0" anchor="ctr" anchorCtr="0" compatLnSpc="1"/>
              <a:lstStyle/>
              <a:p>
                <a:pPr algn="ctr" defTabSz="12192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25" dirty="0">
                    <a:latin typeface="微软雅黑" panose="020B0503020204020204" charset="-122"/>
                    <a:ea typeface="微软雅黑" panose="020B0503020204020204" charset="-122"/>
                  </a:rPr>
                  <a:t>LAN</a:t>
                </a:r>
                <a:endParaRPr lang="zh-CN" altLang="en-US" sz="1425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cxnSp>
            <p:nvCxnSpPr>
              <p:cNvPr id="98" name="直接连接符 97"/>
              <p:cNvCxnSpPr>
                <a:stCxn id="83" idx="1"/>
                <a:endCxn id="96" idx="6"/>
              </p:cNvCxnSpPr>
              <p:nvPr/>
            </p:nvCxnSpPr>
            <p:spPr bwMode="auto">
              <a:xfrm flipH="1" flipV="1">
                <a:off x="7197920" y="5055908"/>
                <a:ext cx="612784" cy="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9" name="直接连接符 98"/>
              <p:cNvCxnSpPr>
                <a:endCxn id="96" idx="0"/>
              </p:cNvCxnSpPr>
              <p:nvPr/>
            </p:nvCxnSpPr>
            <p:spPr bwMode="auto">
              <a:xfrm>
                <a:off x="6399017" y="4242968"/>
                <a:ext cx="0" cy="333597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5" name="矩形 4"/>
            <p:cNvSpPr/>
            <p:nvPr/>
          </p:nvSpPr>
          <p:spPr>
            <a:xfrm>
              <a:off x="10022481" y="3058229"/>
              <a:ext cx="416560" cy="33697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B:</a:t>
              </a:r>
              <a:endParaRPr lang="zh-CN" altLang="en-US" sz="10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7916821" y="1603762"/>
              <a:ext cx="428413" cy="33697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A:</a:t>
              </a:r>
              <a:endParaRPr lang="zh-CN" altLang="en-US" sz="10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2" name="Group 5"/>
          <p:cNvGrpSpPr/>
          <p:nvPr/>
        </p:nvGrpSpPr>
        <p:grpSpPr bwMode="auto">
          <a:xfrm>
            <a:off x="1043940" y="3526478"/>
            <a:ext cx="4197985" cy="1024743"/>
            <a:chOff x="297" y="3310"/>
            <a:chExt cx="2788" cy="831"/>
          </a:xfrm>
        </p:grpSpPr>
        <p:sp>
          <p:nvSpPr>
            <p:cNvPr id="103" name="Text Box 6"/>
            <p:cNvSpPr txBox="1">
              <a:spLocks noChangeArrowheads="1"/>
            </p:cNvSpPr>
            <p:nvPr/>
          </p:nvSpPr>
          <p:spPr bwMode="auto">
            <a:xfrm>
              <a:off x="370" y="3310"/>
              <a:ext cx="2715" cy="80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ts val="3500"/>
                </a:lnSpc>
              </a:pPr>
              <a:r>
                <a:rPr kumimoji="0" lang="en-US" altLang="zh-CN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ARP: </a:t>
              </a:r>
              <a:r>
                <a:rPr kumimoji="0" lang="zh-CN" altLang="en-US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给定</a:t>
              </a:r>
              <a:r>
                <a:rPr kumimoji="0" lang="en-US" altLang="zh-CN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的</a:t>
              </a:r>
              <a:r>
                <a:rPr kumimoji="0" lang="en-US" altLang="zh-CN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IP</a:t>
              </a:r>
              <a:r>
                <a:rPr kumimoji="0" lang="zh-CN" altLang="en-US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地址，获取</a:t>
              </a:r>
              <a:r>
                <a:rPr kumimoji="0" lang="en-US" altLang="zh-CN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的</a:t>
              </a:r>
              <a:r>
                <a:rPr kumimoji="0" lang="en-US" altLang="zh-CN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MAC</a:t>
              </a:r>
              <a:r>
                <a:rPr kumimoji="0" lang="zh-CN" altLang="en-US" sz="2000" b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地址</a:t>
              </a:r>
              <a:endParaRPr kumimoji="0"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7"/>
            <p:cNvSpPr>
              <a:spLocks noChangeArrowheads="1"/>
            </p:cNvSpPr>
            <p:nvPr/>
          </p:nvSpPr>
          <p:spPr bwMode="auto">
            <a:xfrm>
              <a:off x="297" y="3336"/>
              <a:ext cx="2788" cy="805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10000"/>
                </a:spcBef>
                <a:buClr>
                  <a:schemeClr val="tx1"/>
                </a:buClr>
                <a:buFont typeface="Symbol" panose="05050102010706020507" pitchFamily="18" charset="2"/>
                <a:buChar char="¾"/>
              </a:pPr>
              <a:endParaRPr lang="zh-CN" altLang="en-US" sz="105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393700"/>
            <a:ext cx="9144000" cy="6070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71" y="1384283"/>
            <a:ext cx="7900101" cy="29331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20" y="4492655"/>
            <a:ext cx="8490552" cy="146364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95536" y="1196751"/>
            <a:ext cx="8352243" cy="47595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zh-CN" altLang="en-US" b="1" dirty="0"/>
              <a:t>五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1178039"/>
            <a:ext cx="8303540" cy="523068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69" y="1073999"/>
            <a:ext cx="7000792" cy="30160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72" y="4236283"/>
            <a:ext cx="7835272" cy="13167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37" y="5539663"/>
            <a:ext cx="7416824" cy="12616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238" y="1315928"/>
            <a:ext cx="8117837" cy="18906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8" y="3789040"/>
            <a:ext cx="8224838" cy="25180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966" y="1124746"/>
            <a:ext cx="8224838" cy="10497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92" y="2404956"/>
            <a:ext cx="7920880" cy="213720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50" y="1235722"/>
            <a:ext cx="8224835" cy="9585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5" y="2352508"/>
            <a:ext cx="8142197" cy="95855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395001" y="1039782"/>
            <a:ext cx="8065431" cy="23892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713" y="1117732"/>
            <a:ext cx="7992888" cy="1309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21" y="3649541"/>
            <a:ext cx="7787649" cy="188857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76" y="2348880"/>
            <a:ext cx="7732924" cy="97460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1225601"/>
            <a:ext cx="7872550" cy="12241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14" y="2564904"/>
            <a:ext cx="7874685" cy="86409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4112939"/>
            <a:ext cx="6959600" cy="1955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268760"/>
            <a:ext cx="7704856" cy="1467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996952"/>
            <a:ext cx="7920880" cy="170127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38" y="1124744"/>
            <a:ext cx="8240806" cy="16561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993278"/>
            <a:ext cx="8155134" cy="180387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9512" y="1005989"/>
            <a:ext cx="8651750" cy="163509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454" y="1187391"/>
            <a:ext cx="8064896" cy="3589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8" y="1546329"/>
            <a:ext cx="8224838" cy="109475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27" y="2822481"/>
            <a:ext cx="8005882" cy="206296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4604181"/>
            <a:ext cx="2147771" cy="21328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38" y="1124744"/>
            <a:ext cx="8332158" cy="18722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587" y="985838"/>
            <a:ext cx="8022989" cy="54463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477" y="1181300"/>
            <a:ext cx="8196630" cy="1512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8" y="2852937"/>
            <a:ext cx="8196527" cy="34854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0" y="3201489"/>
            <a:ext cx="8081335" cy="353147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196754"/>
            <a:ext cx="7889254" cy="15053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987454"/>
            <a:ext cx="8005053" cy="177142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38" y="1268760"/>
            <a:ext cx="8297788" cy="14401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8" y="2812963"/>
            <a:ext cx="8003678" cy="359577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12738" y="901700"/>
            <a:ext cx="8224838" cy="0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2738" y="449263"/>
            <a:ext cx="12366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第六章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705" y="1156349"/>
            <a:ext cx="8136904" cy="1668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8" y="2852936"/>
            <a:ext cx="7852476" cy="3693076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1449</Words>
  <Application>WPS 演示</Application>
  <PresentationFormat>全屏显示(4:3)</PresentationFormat>
  <Paragraphs>204</Paragraphs>
  <Slides>49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Arial Unicode MS</vt:lpstr>
      <vt:lpstr>Calibri</vt:lpstr>
      <vt:lpstr>Times New Roman</vt:lpstr>
      <vt:lpstr>Symbol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Leaky Buckets and Token Buckets</vt:lpstr>
      <vt:lpstr>Length of Maximum Rate Burst </vt:lpstr>
      <vt:lpstr>PowerPoint 演示文稿</vt:lpstr>
      <vt:lpstr>Class A, B, C, and D Address formats  </vt:lpstr>
      <vt:lpstr>PowerPoint 演示文稿</vt:lpstr>
      <vt:lpstr>PowerPoint 演示文稿</vt:lpstr>
      <vt:lpstr>Special IP addresses</vt:lpstr>
      <vt:lpstr>Class A, B, C  Address formats </vt:lpstr>
      <vt:lpstr>PowerPoint 演示文稿</vt:lpstr>
      <vt:lpstr>PowerPoint 演示文稿</vt:lpstr>
      <vt:lpstr>PowerPoint 演示文稿</vt:lpstr>
      <vt:lpstr>PowerPoint 演示文稿</vt:lpstr>
      <vt:lpstr>The IPv4 Header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ARP地址解析协议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刘雨建</dc:creator>
  <cp:lastModifiedBy>叶禹赋</cp:lastModifiedBy>
  <cp:revision>265</cp:revision>
  <dcterms:created xsi:type="dcterms:W3CDTF">2024-06-04T23:00:00Z</dcterms:created>
  <dcterms:modified xsi:type="dcterms:W3CDTF">2025-06-15T08:29:40Z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DBD9FF04FF7283F8CDDC1766E01F2458_43</vt:lpwstr>
  </property>
</Properties>
</file>