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25" r:id="rId2"/>
    <p:sldId id="426" r:id="rId3"/>
    <p:sldId id="427" r:id="rId4"/>
    <p:sldId id="428" r:id="rId5"/>
    <p:sldId id="429" r:id="rId6"/>
    <p:sldId id="460" r:id="rId7"/>
    <p:sldId id="461" r:id="rId8"/>
    <p:sldId id="463" r:id="rId9"/>
    <p:sldId id="464" r:id="rId10"/>
    <p:sldId id="467" r:id="rId11"/>
    <p:sldId id="430" r:id="rId12"/>
    <p:sldId id="432" r:id="rId13"/>
    <p:sldId id="434" r:id="rId14"/>
    <p:sldId id="435" r:id="rId15"/>
    <p:sldId id="436" r:id="rId16"/>
    <p:sldId id="367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80" r:id="rId25"/>
    <p:sldId id="481" r:id="rId26"/>
    <p:sldId id="475" r:id="rId27"/>
    <p:sldId id="476" r:id="rId28"/>
    <p:sldId id="477" r:id="rId29"/>
    <p:sldId id="478" r:id="rId30"/>
    <p:sldId id="417" r:id="rId31"/>
  </p:sldIdLst>
  <p:sldSz cx="9144000" cy="6858000" type="screen4x3"/>
  <p:notesSz cx="6708775" cy="9774238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4">
          <p15:clr>
            <a:srgbClr val="A4A3A4"/>
          </p15:clr>
        </p15:guide>
        <p15:guide id="2" pos="48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8">
          <p15:clr>
            <a:srgbClr val="A4A3A4"/>
          </p15:clr>
        </p15:guide>
        <p15:guide id="2" pos="211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800080"/>
    <a:srgbClr val="6600FF"/>
    <a:srgbClr val="3366CC"/>
    <a:srgbClr val="FF3300"/>
    <a:srgbClr val="336699"/>
    <a:srgbClr val="00808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24" autoAdjust="0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1434"/>
        <p:guide pos="48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8"/>
    </p:cViewPr>
  </p:sorterViewPr>
  <p:notesViewPr>
    <p:cSldViewPr>
      <p:cViewPr>
        <p:scale>
          <a:sx n="100" d="100"/>
          <a:sy n="100" d="100"/>
        </p:scale>
        <p:origin x="-132" y="660"/>
      </p:cViewPr>
      <p:guideLst>
        <p:guide orient="horz" pos="3078"/>
        <p:guide pos="211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0.xml"/><Relationship Id="rId2" Type="http://schemas.openxmlformats.org/officeDocument/2006/relationships/slide" Target="slides/slide26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0475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r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0475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r" defTabSz="901700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FFF1BA7-2FFB-4E39-8235-B9D545F43EE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0475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r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33425"/>
            <a:ext cx="48895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5350" y="4641850"/>
            <a:ext cx="4918075" cy="4398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0475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r" defTabSz="901700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94B4A6A-2212-4B83-A7C5-A6AF33056D4F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1225" y="733425"/>
            <a:ext cx="4886325" cy="3665538"/>
          </a:xfrm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E6A4E4F-D373-4069-A053-77D7C6210CFE}" type="slidenum">
              <a:rPr kumimoji="0" lang="zh-CN" altLang="en-US" smtClean="0">
                <a:solidFill>
                  <a:schemeClr val="tx1"/>
                </a:solidFill>
              </a:rPr>
              <a:t>1</a:t>
            </a:fld>
            <a:endParaRPr kumimoji="0"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1225" y="733425"/>
            <a:ext cx="4886325" cy="36655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B4A6A-2212-4B83-A7C5-A6AF33056D4F}" type="slidenum">
              <a:rPr lang="zh-CN" altLang="en-US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由此可见例</a:t>
            </a:r>
            <a:r>
              <a:rPr lang="en-US" altLang="zh-CN" dirty="0"/>
              <a:t>1</a:t>
            </a:r>
            <a:r>
              <a:rPr lang="zh-CN" altLang="en-US" dirty="0"/>
              <a:t>的另种简便证法。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22BAF-8A46-47A4-90A3-CB626A083932}" type="slidenum">
              <a:rPr lang="zh-CN" altLang="en-US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1225" y="733425"/>
            <a:ext cx="4886325" cy="36655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求补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B4A6A-2212-4B83-A7C5-A6AF33056D4F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27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D6270-2684-44B4-AF88-EFB100194DC1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E5796-BDC5-47B5-8066-C0A2553FB4DC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2F5CC-560A-4B56-AA85-AD602749DA69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9BBA7-2949-4F62-9059-0DCDB12B195D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1C03-26D2-4BC8-9DE1-DAC43C2433ED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F3250-0B3F-41D1-A8A8-D7B1DAB14A2D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9B2C0-A765-4508-844D-57197D4D6D91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DB197-7EDD-4072-9E08-46C523ACF9F6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CBBFF-FE5C-4A09-AB72-7A391E75C883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130B4-EE41-4D84-A1E3-028F0B91852E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E0CB3-71D6-487A-8D5A-6334540931B9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D09C5-BD3F-4651-9D79-9C82F4F90518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11310-E86C-4657-A699-9FC91E480A95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68781-F552-4640-9FEA-3654A26C2BC6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0CB48-A676-47A0-B518-8998FD451D04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82BE3-3ED0-432E-8831-D4646F362295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45E1E-F130-4C1B-A3BD-24D4FF52297B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B4C3E-F113-441A-B9D7-0230DABADF54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5FB31-4171-431D-B2E6-8D10107C73CF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E88BD-2B44-4DDE-A181-7FE3AB2E2162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E920B-FCA2-4E40-8CC9-750ED476400E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430B0-D4C8-4E07-87EE-4C86F21AABD7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514D4072-F9E9-4882-A975-72FBA60D13F1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ltGray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ltGray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ltGray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ltGray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ltGray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gray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gray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304800"/>
            <a:ext cx="77930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E5A34104-03B1-411B-9B30-1E5CDD27BB39}" type="datetime1">
              <a:rPr lang="zh-CN" altLang="en-US"/>
              <a:t>2024/3/30</a:t>
            </a:fld>
            <a:endParaRPr lang="zh-CN" altLang="zh-CN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15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4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15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14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93BFCB-9394-4880-ABF3-47F4C1EF9BC4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54F8D7-637E-46F4-A203-BAC63984FAA3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2024/3/30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3.9 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右线性语言的性质</a:t>
            </a:r>
          </a:p>
        </p:txBody>
      </p:sp>
      <p:sp>
        <p:nvSpPr>
          <p:cNvPr id="4102" name="Rectangle 3"/>
          <p:cNvSpPr>
            <a:spLocks noChangeArrowheads="1"/>
          </p:cNvSpPr>
          <p:nvPr/>
        </p:nvSpPr>
        <p:spPr bwMode="auto">
          <a:xfrm>
            <a:off x="304800" y="2057400"/>
            <a:ext cx="845820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1616075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b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主要内容：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ClrTx/>
              <a:buSzPct val="120000"/>
              <a:buFont typeface="Wingdings" panose="05000000000000000000" pitchFamily="2" charset="2"/>
              <a:buChar char="Ø"/>
            </a:pP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DFA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的极小化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泵浦引理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右线性语言的封闭性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b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2B3B80-9399-4C11-9758-673D7A6E1F66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94E6A9-E3DC-487C-8CEF-A2DB57A2DF78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2024/3/30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确定有限自动机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DFA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的化简(极小化)</a:t>
            </a:r>
          </a:p>
        </p:txBody>
      </p:sp>
      <p:sp>
        <p:nvSpPr>
          <p:cNvPr id="6150" name="Rectangle 3"/>
          <p:cNvSpPr>
            <a:spLocks noChangeArrowheads="1"/>
          </p:cNvSpPr>
          <p:nvPr/>
        </p:nvSpPr>
        <p:spPr bwMode="auto">
          <a:xfrm>
            <a:off x="381000" y="1447800"/>
            <a:ext cx="8534400" cy="457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		对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DFA  M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的极小化是找出一个状态数比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M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少的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DFA  M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使满足 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L(M) = L(M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)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800080"/>
                </a:solidFill>
                <a:latin typeface="Arial" panose="020B0604020202020204" pitchFamily="34" charset="0"/>
              </a:rPr>
              <a:t>1．</a:t>
            </a:r>
            <a:r>
              <a:rPr lang="zh-CN" altLang="en-US" b="0">
                <a:solidFill>
                  <a:srgbClr val="800080"/>
                </a:solidFill>
                <a:latin typeface="Arial" panose="020B0604020202020204" pitchFamily="34" charset="0"/>
              </a:rPr>
              <a:t>等价和可区分的概念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	     设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DFA  M = (Q，T，δ，q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，F)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	     对不同的状态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１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， 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２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∈Q 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和每个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ω∈T*，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如果有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(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１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，ω)┣* (q，ε) 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和 (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２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，ω)┣* (q，ε) 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且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q∈F，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则称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１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与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２</a:t>
            </a:r>
            <a:r>
              <a:rPr lang="zh-CN" altLang="en-US" b="0">
                <a:solidFill>
                  <a:srgbClr val="800080"/>
                </a:solidFill>
                <a:latin typeface="Arial" panose="020B0604020202020204" pitchFamily="34" charset="0"/>
              </a:rPr>
              <a:t>状态等价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. 记为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１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≡q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２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   否则，称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１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</a:rPr>
              <a:t>， q</a:t>
            </a:r>
            <a:r>
              <a:rPr lang="en-US" altLang="zh-CN" b="0" baseline="-25000">
                <a:solidFill>
                  <a:srgbClr val="333399"/>
                </a:solidFill>
                <a:latin typeface="Arial" panose="020B0604020202020204" pitchFamily="34" charset="0"/>
              </a:rPr>
              <a:t>２</a:t>
            </a:r>
            <a:r>
              <a:rPr lang="zh-CN" altLang="en-US" b="0">
                <a:solidFill>
                  <a:srgbClr val="800080"/>
                </a:solidFill>
                <a:latin typeface="Arial" panose="020B0604020202020204" pitchFamily="34" charset="0"/>
              </a:rPr>
              <a:t>可区分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。</a:t>
            </a:r>
            <a:endParaRPr lang="en-US" altLang="zh-CN" b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F79A46-5727-4228-8BCE-D22A7088F487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7CCFB9-5877-44EA-BC6F-BA021F3C863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2024/3/30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确定有限自动机</a:t>
            </a: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DFA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的化简</a:t>
            </a: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381000" y="1447800"/>
            <a:ext cx="8534400" cy="389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b="0" dirty="0">
                <a:solidFill>
                  <a:srgbClr val="800080"/>
                </a:solidFill>
                <a:latin typeface="Arial" panose="020B0604020202020204" pitchFamily="34" charset="0"/>
              </a:rPr>
              <a:t>2．</a:t>
            </a:r>
            <a:r>
              <a:rPr lang="zh-CN" altLang="en-US" b="0" dirty="0">
                <a:solidFill>
                  <a:srgbClr val="800080"/>
                </a:solidFill>
                <a:latin typeface="Arial" panose="020B0604020202020204" pitchFamily="34" charset="0"/>
              </a:rPr>
              <a:t>不可达状态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rgbClr val="800080"/>
                </a:solidFill>
                <a:latin typeface="Arial" panose="020B0604020202020204" pitchFamily="34" charset="0"/>
              </a:rPr>
              <a:t>   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如果不存在任何</a:t>
            </a:r>
            <a:r>
              <a:rPr lang="en-US" altLang="zh-CN" b="0" dirty="0" err="1">
                <a:solidFill>
                  <a:schemeClr val="tx2"/>
                </a:solidFill>
                <a:latin typeface="Arial" panose="020B0604020202020204" pitchFamily="34" charset="0"/>
              </a:rPr>
              <a:t>ω∈T</a:t>
            </a: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*，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使(</a:t>
            </a: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q</a:t>
            </a:r>
            <a:r>
              <a:rPr lang="en-US" altLang="zh-CN" b="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０</a:t>
            </a: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，ω)┣* (</a:t>
            </a:r>
            <a:r>
              <a:rPr lang="en-US" altLang="zh-CN" b="0" dirty="0" err="1">
                <a:solidFill>
                  <a:schemeClr val="tx2"/>
                </a:solidFill>
                <a:latin typeface="Arial" panose="020B0604020202020204" pitchFamily="34" charset="0"/>
              </a:rPr>
              <a:t>q，ε</a:t>
            </a: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)，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   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则称状态</a:t>
            </a:r>
            <a:r>
              <a:rPr lang="en-US" altLang="zh-CN" b="0" dirty="0" err="1">
                <a:solidFill>
                  <a:schemeClr val="tx2"/>
                </a:solidFill>
                <a:latin typeface="Arial" panose="020B0604020202020204" pitchFamily="34" charset="0"/>
              </a:rPr>
              <a:t>q∈Q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为不可达状态。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b="0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rgbClr val="800080"/>
                </a:solidFill>
                <a:latin typeface="Arial" panose="020B0604020202020204" pitchFamily="34" charset="0"/>
              </a:rPr>
              <a:t>3． 最小化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rgbClr val="800080"/>
                </a:solidFill>
                <a:latin typeface="Arial" panose="020B0604020202020204" pitchFamily="34" charset="0"/>
              </a:rPr>
              <a:t>   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若</a:t>
            </a: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DFA 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Ｍ不存在互为等价状态及不可达状态，则称</a:t>
            </a:r>
            <a:r>
              <a:rPr lang="en-US" altLang="zh-CN" b="0" dirty="0">
                <a:solidFill>
                  <a:schemeClr val="tx2"/>
                </a:solidFill>
                <a:latin typeface="Arial" panose="020B0604020202020204" pitchFamily="34" charset="0"/>
              </a:rPr>
              <a:t>DFA </a:t>
            </a:r>
            <a:r>
              <a:rPr lang="zh-CN" altLang="en-US" b="0" dirty="0">
                <a:solidFill>
                  <a:schemeClr val="tx2"/>
                </a:solidFill>
                <a:latin typeface="Arial" panose="020B0604020202020204" pitchFamily="34" charset="0"/>
              </a:rPr>
              <a:t>Ｍ是最小化的。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b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84974C-4CFC-4DEA-B361-0915DE9D84A7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52D803-A3BC-4BE8-BEF8-FF02DC4B49F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2024/3/30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最小化算法</a:t>
            </a:r>
          </a:p>
        </p:txBody>
      </p:sp>
      <p:sp>
        <p:nvSpPr>
          <p:cNvPr id="8198" name="Rectangle 3"/>
          <p:cNvSpPr>
            <a:spLocks noChangeArrowheads="1"/>
          </p:cNvSpPr>
          <p:nvPr/>
        </p:nvSpPr>
        <p:spPr bwMode="auto">
          <a:xfrm>
            <a:off x="0" y="1214438"/>
            <a:ext cx="8915400" cy="552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   一个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DFA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Ｍ的最小化，是把Ｍ的状态集Ｑ构成一个划分。即: 任何两个子集的状态都是可区分的；同一子集中的任何两个状态都是等价的。之后，每个子集用一个状态代表，并取一个状态名。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构成划分的步骤: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  构成基本划分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={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’，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”}， (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’为终态集，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”为非终态集)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  细分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={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zh-CN" altLang="en-US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，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，…，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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}，　　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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en-US" altLang="zh-CN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i  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∈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</a:t>
            </a:r>
            <a:endParaRPr lang="en-US" altLang="zh-CN" sz="2400" b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 　　　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  ={ q</a:t>
            </a:r>
            <a:r>
              <a:rPr lang="en-US" altLang="zh-CN" sz="2400" b="0" baseline="-25000">
                <a:solidFill>
                  <a:schemeClr val="tx2"/>
                </a:solidFill>
                <a:latin typeface="Arial" panose="020B0604020202020204" pitchFamily="34" charset="0"/>
              </a:rPr>
              <a:t>１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， q</a:t>
            </a:r>
            <a:r>
              <a:rPr lang="en-US" altLang="zh-CN" sz="2400" b="0" baseline="-25000">
                <a:solidFill>
                  <a:schemeClr val="tx2"/>
                </a:solidFill>
                <a:latin typeface="Arial" panose="020B0604020202020204" pitchFamily="34" charset="0"/>
              </a:rPr>
              <a:t>２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，…， q</a:t>
            </a:r>
            <a:r>
              <a:rPr lang="zh-CN" altLang="en-US" sz="2400" b="0" baseline="-25000">
                <a:solidFill>
                  <a:schemeClr val="tx2"/>
                </a:solidFill>
                <a:latin typeface="Arial" panose="020B0604020202020204" pitchFamily="34" charset="0"/>
              </a:rPr>
              <a:t>ｍ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}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	当输入任意字符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时，若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en-US" altLang="zh-CN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i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中的状态经标</a:t>
            </a:r>
            <a:r>
              <a:rPr lang="en-US" altLang="zh-CN" sz="2400" b="0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的边可到达的状态集的元素分属于两个不同的子集中，则将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en-US" altLang="zh-CN" sz="2400" b="0" baseline="30000">
                <a:solidFill>
                  <a:schemeClr val="tx2"/>
                </a:solidFill>
                <a:latin typeface="Arial" panose="020B0604020202020204" pitchFamily="34" charset="0"/>
              </a:rPr>
              <a:t>i 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细分为两个子集.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重复步骤(2)，直至不可再细分，得到Ｍ</a:t>
            </a:r>
            <a:r>
              <a:rPr lang="zh-CN" altLang="en-US" b="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若Ｍ</a:t>
            </a:r>
            <a:r>
              <a:rPr lang="zh-CN" altLang="en-US" b="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中有不可达状态，将其删除，Ｍ</a:t>
            </a:r>
            <a:r>
              <a:rPr lang="zh-CN" altLang="en-US" b="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0">
                <a:solidFill>
                  <a:schemeClr val="tx2"/>
                </a:solidFill>
                <a:latin typeface="Arial" panose="020B0604020202020204" pitchFamily="34" charset="0"/>
              </a:rPr>
              <a:t>便是最小化的. 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103378-8DC0-4CA8-9D27-1FCDC5C59E0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0CAB35-AD25-4C43-8C94-255BEB761A1D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2024/3/30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715000" y="-100013"/>
            <a:ext cx="1219200" cy="7747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9222" name="Rectangle 3"/>
          <p:cNvSpPr>
            <a:spLocks noChangeArrowheads="1"/>
          </p:cNvSpPr>
          <p:nvPr/>
        </p:nvSpPr>
        <p:spPr bwMode="auto">
          <a:xfrm>
            <a:off x="4644008" y="549275"/>
            <a:ext cx="4495800" cy="1552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(1)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q５，q６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为不可达状态，删除之.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(2)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 = { q０，q１，q２，q３，q４},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= {{q２，q４} ，{q０，q１，q３} }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     构成基本划分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={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’，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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”}</a:t>
            </a:r>
          </a:p>
        </p:txBody>
      </p:sp>
      <p:pic>
        <p:nvPicPr>
          <p:cNvPr id="9223" name="Picture 4" descr="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4495800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Rectangle 6"/>
          <p:cNvSpPr>
            <a:spLocks noChangeArrowheads="1"/>
          </p:cNvSpPr>
          <p:nvPr/>
        </p:nvSpPr>
        <p:spPr bwMode="auto">
          <a:xfrm>
            <a:off x="0" y="2206625"/>
            <a:ext cx="8964613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0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</a:t>
            </a: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对于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/>
              </a:rPr>
              <a:t>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’={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q２， q４}，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对字符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a，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有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δ(q２，a)= q３，δ(q４，a)= q１        </a:t>
            </a:r>
            <a:r>
              <a:rPr lang="en-US" altLang="zh-CN" sz="2000" b="0" dirty="0" err="1">
                <a:solidFill>
                  <a:schemeClr val="tx2"/>
                </a:solidFill>
                <a:latin typeface="Arial" panose="020B0604020202020204" pitchFamily="34" charset="0"/>
              </a:rPr>
              <a:t>q１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， q３∈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同一子集.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对字符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b，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有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δ(q２，b)= q４，δ(q４</a:t>
            </a:r>
            <a:r>
              <a:rPr lang="en-US" altLang="zh-CN" sz="2000" b="0" dirty="0">
                <a:solidFill>
                  <a:srgbClr val="003399"/>
                </a:solidFill>
                <a:latin typeface="Arial" panose="020B0604020202020204" pitchFamily="34" charset="0"/>
              </a:rPr>
              <a:t>，b)=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 q２        q４， q２∈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同一子集.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   ∴ 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/>
              </a:rPr>
              <a:t>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’ = {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q２， q４}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不能再细分.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b)  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对于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/>
              </a:rPr>
              <a:t>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” = {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q０， q１， q３}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对</a:t>
            </a:r>
            <a:r>
              <a:rPr lang="en-US" altLang="zh-CN" sz="2000" b="0" dirty="0" err="1">
                <a:solidFill>
                  <a:schemeClr val="tx2"/>
                </a:solidFill>
                <a:latin typeface="Arial" panose="020B0604020202020204" pitchFamily="34" charset="0"/>
              </a:rPr>
              <a:t>a，δ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(q０,a)= q１，δ(q１,a)= q１，δ(q３,a)= q３   q１, q３∈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同一子集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对</a:t>
            </a:r>
            <a:r>
              <a:rPr lang="en-US" altLang="zh-CN" sz="2000" b="0" dirty="0" err="1">
                <a:solidFill>
                  <a:schemeClr val="tx2"/>
                </a:solidFill>
                <a:latin typeface="Arial" panose="020B0604020202020204" pitchFamily="34" charset="0"/>
              </a:rPr>
              <a:t>b，δ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(q０,b)= q３，δ(q１,b)= q２，δ(q３,b)= q４ q３，q２，q４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同一子集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∴ 将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/>
              </a:rPr>
              <a:t> ”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再分解.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/>
              </a:rPr>
              <a:t>  ’’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={ {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q０}，{ q1，q3} }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，</a:t>
            </a:r>
            <a:endParaRPr lang="en-US" altLang="zh-CN" sz="2000" b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457200" indent="-457200" algn="just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lphaLcParenBoth" startAt="3"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重复步骤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(2)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，</a:t>
            </a:r>
            <a:endParaRPr lang="en-US" altLang="zh-CN" sz="2000" b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{ 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q２， q４}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不能再细分，可用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q２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表示.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q1，q3} 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不可再细分，用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q1</a:t>
            </a: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表示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chemeClr val="tx2"/>
                </a:solidFill>
                <a:latin typeface="Arial" panose="020B0604020202020204" pitchFamily="34" charset="0"/>
              </a:rPr>
              <a:t> ∴ Ｑ＝｛ ｛</a:t>
            </a:r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</a:rPr>
              <a:t>q０｝，｛q１｝，｛q２｝ ｝ </a:t>
            </a:r>
          </a:p>
        </p:txBody>
      </p:sp>
      <p:pic>
        <p:nvPicPr>
          <p:cNvPr id="809991" name="Picture 7" descr="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513" y="4868863"/>
            <a:ext cx="3810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9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9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AF3096-5808-4CE6-895D-F54A227B1F9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6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B820F6-5247-4F00-9954-F994F3F75C2E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914400" y="457200"/>
            <a:ext cx="792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计算状态集划分的算法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—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填表法</a:t>
            </a:r>
          </a:p>
        </p:txBody>
      </p:sp>
      <p:sp>
        <p:nvSpPr>
          <p:cNvPr id="848903" name="Text Box 7"/>
          <p:cNvSpPr txBox="1">
            <a:spLocks noChangeArrowheads="1"/>
          </p:cNvSpPr>
          <p:nvPr/>
        </p:nvSpPr>
        <p:spPr bwMode="auto">
          <a:xfrm>
            <a:off x="457200" y="1524000"/>
            <a:ext cx="77724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填表算法（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table-filling algorithm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基于如下递归地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标记可区别的状态偶对的过程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:</a:t>
            </a: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8904" name="Rectangle 8"/>
          <p:cNvSpPr>
            <a:spLocks noChangeArrowheads="1"/>
          </p:cNvSpPr>
          <p:nvPr/>
        </p:nvSpPr>
        <p:spPr bwMode="auto">
          <a:xfrm>
            <a:off x="381000" y="2590800"/>
            <a:ext cx="807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基础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如果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为终态，而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为非终态，则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标记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为可区别的；</a:t>
            </a:r>
          </a:p>
        </p:txBody>
      </p:sp>
      <p:sp>
        <p:nvSpPr>
          <p:cNvPr id="848905" name="Rectangle 9"/>
          <p:cNvSpPr>
            <a:spLocks noChangeArrowheads="1"/>
          </p:cNvSpPr>
          <p:nvPr/>
        </p:nvSpPr>
        <p:spPr bwMode="auto">
          <a:xfrm>
            <a:off x="381000" y="3505200"/>
            <a:ext cx="8077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归纳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设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已标记为可区别的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如果状态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通过某个 输入符号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可分别转移到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即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r,a)=p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(s,a)=q ,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也标记为可区别的；</a:t>
            </a:r>
          </a:p>
        </p:txBody>
      </p:sp>
      <p:sp>
        <p:nvSpPr>
          <p:cNvPr id="848906" name="Rectangle 10"/>
          <p:cNvSpPr>
            <a:spLocks noChangeArrowheads="1"/>
          </p:cNvSpPr>
          <p:nvPr/>
        </p:nvSpPr>
        <p:spPr bwMode="auto">
          <a:xfrm>
            <a:off x="381000" y="4619625"/>
            <a:ext cx="80772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这是因为：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若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可为字符串 </a:t>
            </a:r>
            <a:r>
              <a:rPr lang="en-US" altLang="zh-CN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区别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可为字符串 </a:t>
            </a:r>
            <a:r>
              <a:rPr lang="en-US" altLang="zh-CN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aw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区别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 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8907" name="Rectangle 11"/>
          <p:cNvSpPr>
            <a:spLocks noChangeArrowheads="1"/>
          </p:cNvSpPr>
          <p:nvPr/>
        </p:nvSpPr>
        <p:spPr bwMode="auto">
          <a:xfrm>
            <a:off x="1332548" y="5516880"/>
            <a:ext cx="6021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 </a:t>
            </a:r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MingLiU" panose="020B0604030504040204" pitchFamily="49" charset="-120"/>
              </a:rPr>
              <a:t>∵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'(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r,aw)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'(p,w) ,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'(s,aw)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'(q,w)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4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4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4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4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84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8903" grpId="0" autoUpdateAnimBg="0"/>
      <p:bldP spid="848904" grpId="0" autoUpdateAnimBg="0"/>
      <p:bldP spid="848905" grpId="0" autoUpdateAnimBg="0"/>
      <p:bldP spid="848906" grpId="0" autoUpdateAnimBg="0"/>
      <p:bldP spid="84890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2D43D3-EFAE-4A69-9901-AC2BB7E75444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4F0EF1-7C74-4141-ADCD-F3A9CC22FBDF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914400" y="533400"/>
            <a:ext cx="792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计算状态集划分的算法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—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填表法</a:t>
            </a:r>
          </a:p>
        </p:txBody>
      </p:sp>
      <p:sp>
        <p:nvSpPr>
          <p:cNvPr id="849927" name="Text Box 7"/>
          <p:cNvSpPr txBox="1">
            <a:spLocks noChangeArrowheads="1"/>
          </p:cNvSpPr>
          <p:nvPr/>
        </p:nvSpPr>
        <p:spPr bwMode="auto">
          <a:xfrm>
            <a:off x="609600" y="16002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填表算法举例</a:t>
            </a:r>
            <a:endParaRPr lang="zh-CN" altLang="en-US" sz="2400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849928" name="Object 8"/>
          <p:cNvGraphicFramePr>
            <a:graphicFrameLocks noChangeAspect="1"/>
          </p:cNvGraphicFramePr>
          <p:nvPr/>
        </p:nvGraphicFramePr>
        <p:xfrm>
          <a:off x="882650" y="2438400"/>
          <a:ext cx="3003550" cy="300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03550" imgH="3003550" progId="Visio.Drawing.6">
                  <p:embed/>
                </p:oleObj>
              </mc:Choice>
              <mc:Fallback>
                <p:oleObj name="VISIO" r:id="rId2" imgW="3003550" imgH="300355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2438400"/>
                        <a:ext cx="3003550" cy="300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29" name="Text Box 9"/>
          <p:cNvSpPr txBox="1">
            <a:spLocks noChangeArrowheads="1"/>
          </p:cNvSpPr>
          <p:nvPr/>
        </p:nvSpPr>
        <p:spPr bwMode="auto">
          <a:xfrm>
            <a:off x="1198563" y="29114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0" name="Text Box 10"/>
          <p:cNvSpPr txBox="1">
            <a:spLocks noChangeArrowheads="1"/>
          </p:cNvSpPr>
          <p:nvPr/>
        </p:nvSpPr>
        <p:spPr bwMode="auto">
          <a:xfrm>
            <a:off x="1198563" y="387032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1" name="Text Box 11"/>
          <p:cNvSpPr txBox="1">
            <a:spLocks noChangeArrowheads="1"/>
          </p:cNvSpPr>
          <p:nvPr/>
        </p:nvSpPr>
        <p:spPr bwMode="auto">
          <a:xfrm>
            <a:off x="2112963" y="38862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2" name="Text Box 12"/>
          <p:cNvSpPr txBox="1">
            <a:spLocks noChangeArrowheads="1"/>
          </p:cNvSpPr>
          <p:nvPr/>
        </p:nvSpPr>
        <p:spPr bwMode="auto">
          <a:xfrm>
            <a:off x="2570163" y="38862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3" name="Text Box 13"/>
          <p:cNvSpPr txBox="1">
            <a:spLocks noChangeArrowheads="1"/>
          </p:cNvSpPr>
          <p:nvPr/>
        </p:nvSpPr>
        <p:spPr bwMode="auto">
          <a:xfrm>
            <a:off x="1655763" y="38862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4" name="Text Box 14"/>
          <p:cNvSpPr txBox="1">
            <a:spLocks noChangeArrowheads="1"/>
          </p:cNvSpPr>
          <p:nvPr/>
        </p:nvSpPr>
        <p:spPr bwMode="auto">
          <a:xfrm>
            <a:off x="1198563" y="432752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5" name="Text Box 15"/>
          <p:cNvSpPr txBox="1">
            <a:spLocks noChangeArrowheads="1"/>
          </p:cNvSpPr>
          <p:nvPr/>
        </p:nvSpPr>
        <p:spPr bwMode="auto">
          <a:xfrm>
            <a:off x="1676400" y="43275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6" name="Text Box 16"/>
          <p:cNvSpPr txBox="1">
            <a:spLocks noChangeArrowheads="1"/>
          </p:cNvSpPr>
          <p:nvPr/>
        </p:nvSpPr>
        <p:spPr bwMode="auto">
          <a:xfrm>
            <a:off x="2133600" y="43275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7" name="Text Box 17"/>
          <p:cNvSpPr txBox="1">
            <a:spLocks noChangeArrowheads="1"/>
          </p:cNvSpPr>
          <p:nvPr/>
        </p:nvSpPr>
        <p:spPr bwMode="auto">
          <a:xfrm>
            <a:off x="2590800" y="43275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8" name="Text Box 18"/>
          <p:cNvSpPr txBox="1">
            <a:spLocks noChangeArrowheads="1"/>
          </p:cNvSpPr>
          <p:nvPr/>
        </p:nvSpPr>
        <p:spPr bwMode="auto">
          <a:xfrm>
            <a:off x="1219200" y="47847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39" name="Text Box 19"/>
          <p:cNvSpPr txBox="1">
            <a:spLocks noChangeArrowheads="1"/>
          </p:cNvSpPr>
          <p:nvPr/>
        </p:nvSpPr>
        <p:spPr bwMode="auto">
          <a:xfrm>
            <a:off x="1676400" y="47847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40" name="Text Box 20"/>
          <p:cNvSpPr txBox="1">
            <a:spLocks noChangeArrowheads="1"/>
          </p:cNvSpPr>
          <p:nvPr/>
        </p:nvSpPr>
        <p:spPr bwMode="auto">
          <a:xfrm>
            <a:off x="2133600" y="47847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41" name="Text Box 21"/>
          <p:cNvSpPr txBox="1">
            <a:spLocks noChangeArrowheads="1"/>
          </p:cNvSpPr>
          <p:nvPr/>
        </p:nvSpPr>
        <p:spPr bwMode="auto">
          <a:xfrm>
            <a:off x="2590800" y="47847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graphicFrame>
        <p:nvGraphicFramePr>
          <p:cNvPr id="849942" name="Object 22"/>
          <p:cNvGraphicFramePr>
            <a:graphicFrameLocks noChangeAspect="1"/>
          </p:cNvGraphicFramePr>
          <p:nvPr/>
        </p:nvGraphicFramePr>
        <p:xfrm>
          <a:off x="3124200" y="1600200"/>
          <a:ext cx="495935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959350" imgH="2197735" progId="Visio.Drawing.6">
                  <p:embed/>
                </p:oleObj>
              </mc:Choice>
              <mc:Fallback>
                <p:oleObj name="VISIO" r:id="rId4" imgW="4959350" imgH="2197735" progId="Visio.Drawing.6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00200"/>
                        <a:ext cx="4959350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43" name="Rectangle 23"/>
          <p:cNvSpPr>
            <a:spLocks noChangeArrowheads="1"/>
          </p:cNvSpPr>
          <p:nvPr/>
        </p:nvSpPr>
        <p:spPr bwMode="auto">
          <a:xfrm>
            <a:off x="4473575" y="3810000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(1)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区别所有终态和非终态</a:t>
            </a:r>
          </a:p>
        </p:txBody>
      </p:sp>
      <p:sp>
        <p:nvSpPr>
          <p:cNvPr id="849944" name="Rectangle 24"/>
          <p:cNvSpPr>
            <a:spLocks noChangeArrowheads="1"/>
          </p:cNvSpPr>
          <p:nvPr/>
        </p:nvSpPr>
        <p:spPr bwMode="auto">
          <a:xfrm>
            <a:off x="4473575" y="4279900"/>
            <a:ext cx="3552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(2)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区别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(1,3), (1,4), (2,3),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(2,4), (5,6), (5,7)</a:t>
            </a: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9945" name="Text Box 25"/>
          <p:cNvSpPr txBox="1">
            <a:spLocks noChangeArrowheads="1"/>
          </p:cNvSpPr>
          <p:nvPr/>
        </p:nvSpPr>
        <p:spPr bwMode="auto">
          <a:xfrm>
            <a:off x="1198563" y="33686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46" name="Text Box 26"/>
          <p:cNvSpPr txBox="1">
            <a:spLocks noChangeArrowheads="1"/>
          </p:cNvSpPr>
          <p:nvPr/>
        </p:nvSpPr>
        <p:spPr bwMode="auto">
          <a:xfrm>
            <a:off x="1655763" y="29273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47" name="Text Box 27"/>
          <p:cNvSpPr txBox="1">
            <a:spLocks noChangeArrowheads="1"/>
          </p:cNvSpPr>
          <p:nvPr/>
        </p:nvSpPr>
        <p:spPr bwMode="auto">
          <a:xfrm>
            <a:off x="1655763" y="33686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48" name="Text Box 28"/>
          <p:cNvSpPr txBox="1">
            <a:spLocks noChangeArrowheads="1"/>
          </p:cNvSpPr>
          <p:nvPr/>
        </p:nvSpPr>
        <p:spPr bwMode="auto">
          <a:xfrm>
            <a:off x="3027363" y="43592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49" name="Text Box 29"/>
          <p:cNvSpPr txBox="1">
            <a:spLocks noChangeArrowheads="1"/>
          </p:cNvSpPr>
          <p:nvPr/>
        </p:nvSpPr>
        <p:spPr bwMode="auto">
          <a:xfrm>
            <a:off x="3027363" y="47402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50" name="Rectangle 30"/>
          <p:cNvSpPr>
            <a:spLocks noChangeArrowheads="1"/>
          </p:cNvSpPr>
          <p:nvPr/>
        </p:nvSpPr>
        <p:spPr bwMode="auto">
          <a:xfrm>
            <a:off x="4473575" y="5041900"/>
            <a:ext cx="196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(3)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区别 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(3,4)</a:t>
            </a:r>
          </a:p>
        </p:txBody>
      </p:sp>
      <p:sp>
        <p:nvSpPr>
          <p:cNvPr id="849951" name="Text Box 31"/>
          <p:cNvSpPr txBox="1">
            <a:spLocks noChangeArrowheads="1"/>
          </p:cNvSpPr>
          <p:nvPr/>
        </p:nvSpPr>
        <p:spPr bwMode="auto">
          <a:xfrm>
            <a:off x="2112963" y="33845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849952" name="Rectangle 32"/>
          <p:cNvSpPr>
            <a:spLocks noChangeArrowheads="1"/>
          </p:cNvSpPr>
          <p:nvPr/>
        </p:nvSpPr>
        <p:spPr bwMode="auto">
          <a:xfrm>
            <a:off x="990600" y="5562600"/>
            <a:ext cx="633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(4)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结束.   划分结果：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{1,2}, {3}, {4}, {5}, {6,7}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4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4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4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4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84993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84993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84993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84993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84993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84993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0"/>
                            </p:stCondLst>
                            <p:childTnLst>
                              <p:par>
                                <p:cTn id="49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" fill="hold"/>
                                        <p:tgtEl>
                                          <p:spTgt spid="84993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4500"/>
                            </p:stCondLst>
                            <p:childTnLst>
                              <p:par>
                                <p:cTn id="53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84993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000"/>
                            </p:stCondLst>
                            <p:childTnLst>
                              <p:par>
                                <p:cTn id="57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" fill="hold"/>
                                        <p:tgtEl>
                                          <p:spTgt spid="84993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61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84993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000"/>
                            </p:stCondLst>
                            <p:childTnLst>
                              <p:par>
                                <p:cTn id="65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84994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500"/>
                            </p:stCondLst>
                            <p:childTnLst>
                              <p:par>
                                <p:cTn id="69" presetID="24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84994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84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1" dur="1" fill="hold"/>
                                        <p:tgtEl>
                                          <p:spTgt spid="84992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6" dur="1" fill="hold"/>
                                        <p:tgtEl>
                                          <p:spTgt spid="84994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1" dur="1" fill="hold"/>
                                        <p:tgtEl>
                                          <p:spTgt spid="84994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6" dur="1" fill="hold"/>
                                        <p:tgtEl>
                                          <p:spTgt spid="84994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1" dur="1" fill="hold"/>
                                        <p:tgtEl>
                                          <p:spTgt spid="84994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6" dur="1" fill="hold"/>
                                        <p:tgtEl>
                                          <p:spTgt spid="84994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84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6" dur="1" fill="hold"/>
                                        <p:tgtEl>
                                          <p:spTgt spid="84995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1" dur="500"/>
                                        <p:tgtEl>
                                          <p:spTgt spid="84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27" grpId="0" autoUpdateAnimBg="0"/>
      <p:bldP spid="849929" grpId="0" autoUpdateAnimBg="0"/>
      <p:bldP spid="849930" grpId="0" autoUpdateAnimBg="0"/>
      <p:bldP spid="849931" grpId="0" autoUpdateAnimBg="0"/>
      <p:bldP spid="849932" grpId="0" autoUpdateAnimBg="0"/>
      <p:bldP spid="849933" grpId="0" autoUpdateAnimBg="0"/>
      <p:bldP spid="849934" grpId="0" autoUpdateAnimBg="0"/>
      <p:bldP spid="849935" grpId="0" autoUpdateAnimBg="0"/>
      <p:bldP spid="849936" grpId="0" autoUpdateAnimBg="0"/>
      <p:bldP spid="849937" grpId="0" autoUpdateAnimBg="0"/>
      <p:bldP spid="849938" grpId="0" autoUpdateAnimBg="0"/>
      <p:bldP spid="849939" grpId="0" autoUpdateAnimBg="0"/>
      <p:bldP spid="849940" grpId="0" autoUpdateAnimBg="0"/>
      <p:bldP spid="849941" grpId="0" autoUpdateAnimBg="0"/>
      <p:bldP spid="849943" grpId="0" autoUpdateAnimBg="0"/>
      <p:bldP spid="849944" grpId="0" autoUpdateAnimBg="0"/>
      <p:bldP spid="849945" grpId="0" autoUpdateAnimBg="0"/>
      <p:bldP spid="849946" grpId="0" autoUpdateAnimBg="0"/>
      <p:bldP spid="849947" grpId="0" autoUpdateAnimBg="0"/>
      <p:bldP spid="849948" grpId="0" autoUpdateAnimBg="0"/>
      <p:bldP spid="849949" grpId="0" autoUpdateAnimBg="0"/>
      <p:bldP spid="849950" grpId="0" autoUpdateAnimBg="0"/>
      <p:bldP spid="849951" grpId="0" autoUpdateAnimBg="0"/>
      <p:bldP spid="8499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E83DF0-793F-489E-9E4D-7DF48124791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9180F5-6CF8-447D-AC71-7DEA1DC41DA0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通过合并等价的状态进行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DFA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的优化</a:t>
            </a:r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457200" y="1447800"/>
            <a:ext cx="82296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步骤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1.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删除所有从开始状态不可到达的状态及与其相关的边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设所得到的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DFA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为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=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；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2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使用填表算法找出所有等价的状态偶对；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3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.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根据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的结果计算当前状态集合的划分块，每一划分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块中的状态相互之间等价，而不同划分块中的状态之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间都是可区别的. 包含状态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的划分块用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q]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表示.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4.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构造与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等价的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DFA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=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[q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], F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,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其中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={ [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q]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},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F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= { [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q]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F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}, 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([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q]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,a)=[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,a)]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9C9984-0B7A-4376-A23C-D85A1F14A7B0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9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EF31C4-C0C4-4543-B1ED-FCCF0201AD37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通过合并等价的状态进行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DFA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的优化</a:t>
            </a: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381000" y="15240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举例 </a:t>
            </a:r>
          </a:p>
        </p:txBody>
      </p:sp>
      <p:graphicFrame>
        <p:nvGraphicFramePr>
          <p:cNvPr id="853000" name="Object 8"/>
          <p:cNvGraphicFramePr>
            <a:graphicFrameLocks noChangeAspect="1"/>
          </p:cNvGraphicFramePr>
          <p:nvPr/>
        </p:nvGraphicFramePr>
        <p:xfrm>
          <a:off x="304800" y="1612900"/>
          <a:ext cx="495935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59350" imgH="2197735" progId="Visio.Drawing.6">
                  <p:embed/>
                </p:oleObj>
              </mc:Choice>
              <mc:Fallback>
                <p:oleObj name="VISIO" r:id="rId2" imgW="4959350" imgH="219773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12900"/>
                        <a:ext cx="4959350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3001" name="Rectangle 9"/>
          <p:cNvSpPr>
            <a:spLocks noChangeArrowheads="1"/>
          </p:cNvSpPr>
          <p:nvPr/>
        </p:nvSpPr>
        <p:spPr bwMode="auto">
          <a:xfrm>
            <a:off x="5486400" y="2774950"/>
            <a:ext cx="29718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80"/>
              </a:buClr>
              <a:buSzTx/>
              <a:buFontTx/>
              <a:buChar char="–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划分结果：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{ 1, 2 }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{3}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{4}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{5}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 6, 7 }</a:t>
            </a:r>
          </a:p>
        </p:txBody>
      </p:sp>
      <p:sp>
        <p:nvSpPr>
          <p:cNvPr id="853002" name="Rectangle 10"/>
          <p:cNvSpPr>
            <a:spLocks noChangeArrowheads="1"/>
          </p:cNvSpPr>
          <p:nvPr/>
        </p:nvSpPr>
        <p:spPr bwMode="auto">
          <a:xfrm>
            <a:off x="5505450" y="1663700"/>
            <a:ext cx="32654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80"/>
              </a:buClr>
              <a:buSzTx/>
              <a:buFontTx/>
              <a:buChar char="–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等价的状态偶对为：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1, 2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6, 7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853003" name="Rectangle 11"/>
          <p:cNvSpPr>
            <a:spLocks noChangeArrowheads="1"/>
          </p:cNvSpPr>
          <p:nvPr/>
        </p:nvSpPr>
        <p:spPr bwMode="auto">
          <a:xfrm>
            <a:off x="5486400" y="4359275"/>
            <a:ext cx="32766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80"/>
              </a:buClr>
              <a:buSzTx/>
              <a:buFontTx/>
              <a:buChar char="–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新的状态集合：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[1]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[3]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[4]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[5]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[6]</a:t>
            </a:r>
          </a:p>
        </p:txBody>
      </p:sp>
      <p:graphicFrame>
        <p:nvGraphicFramePr>
          <p:cNvPr id="853004" name="Object 12"/>
          <p:cNvGraphicFramePr>
            <a:graphicFrameLocks noChangeAspect="1"/>
          </p:cNvGraphicFramePr>
          <p:nvPr/>
        </p:nvGraphicFramePr>
        <p:xfrm>
          <a:off x="685800" y="3962400"/>
          <a:ext cx="4233863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235450" imgH="1972310" progId="Visio.Drawing.6">
                  <p:embed/>
                </p:oleObj>
              </mc:Choice>
              <mc:Fallback>
                <p:oleObj name="VISIO" r:id="rId4" imgW="4235450" imgH="1972310" progId="Visio.Drawing.6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4233863" cy="197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5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5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5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5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85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3001" grpId="0" autoUpdateAnimBg="0"/>
      <p:bldP spid="853002" grpId="0" autoUpdateAnimBg="0"/>
      <p:bldP spid="85300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ECEE9B-7D89-4C7C-B39A-33B2E332976F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10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BFD02B-3903-4546-A82C-2948BDDC06A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609600" y="6096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最小化的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914400" y="1600200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课堂练习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最小化下列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DFA:</a:t>
            </a:r>
            <a:endParaRPr lang="en-US" altLang="zh-CN" sz="2400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4343" name="Object 8"/>
          <p:cNvGraphicFramePr>
            <a:graphicFrameLocks noChangeAspect="1"/>
          </p:cNvGraphicFramePr>
          <p:nvPr/>
        </p:nvGraphicFramePr>
        <p:xfrm>
          <a:off x="2660650" y="1990725"/>
          <a:ext cx="4959350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59350" imgH="2200910" progId="Visio.Drawing.6">
                  <p:embed/>
                </p:oleObj>
              </mc:Choice>
              <mc:Fallback>
                <p:oleObj name="VISIO" r:id="rId2" imgW="4959350" imgH="220091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1990725"/>
                        <a:ext cx="4959350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990600" y="3962400"/>
            <a:ext cx="4876800" cy="2057400"/>
            <a:chOff x="768" y="2880"/>
            <a:chExt cx="3072" cy="1296"/>
          </a:xfrm>
        </p:grpSpPr>
        <p:sp>
          <p:nvSpPr>
            <p:cNvPr id="14345" name="Rectangle 10"/>
            <p:cNvSpPr>
              <a:spLocks noChangeArrowheads="1"/>
            </p:cNvSpPr>
            <p:nvPr/>
          </p:nvSpPr>
          <p:spPr bwMode="auto">
            <a:xfrm>
              <a:off x="768" y="2880"/>
              <a:ext cx="14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²"/>
              </a:pPr>
              <a:r>
                <a:rPr lang="zh-CN" altLang="en-US" sz="24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参考结果</a:t>
              </a:r>
              <a:endPara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14346" name="Object 11"/>
            <p:cNvGraphicFramePr>
              <a:graphicFrameLocks noChangeAspect="1"/>
            </p:cNvGraphicFramePr>
            <p:nvPr/>
          </p:nvGraphicFramePr>
          <p:xfrm>
            <a:off x="1309" y="3131"/>
            <a:ext cx="2531" cy="1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4017010" imgH="1659890" progId="Visio.Drawing.6">
                    <p:embed/>
                  </p:oleObj>
                </mc:Choice>
                <mc:Fallback>
                  <p:oleObj name="VISIO" r:id="rId4" imgW="4017010" imgH="1659890" progId="Visio.Drawing.6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9" y="3131"/>
                          <a:ext cx="2531" cy="10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11189C-7CDA-4149-9710-4FFBF17E2AF0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D9DAA0-66DF-44C5-9603-141CCF7827ED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针对正则语言的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Pumping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引理</a:t>
            </a:r>
            <a:endParaRPr lang="zh-CN" altLang="en-US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228600" y="1295400"/>
            <a:ext cx="8534400" cy="4344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正则语言应满足的一个必要条件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800080"/>
                </a:solidFill>
                <a:latin typeface="Arial" panose="020B0604020202020204" pitchFamily="34" charset="0"/>
              </a:rPr>
              <a:t> 用于判定给定的语言不是正则集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。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物理意义：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当给定一个正则集和该集合上一个足够长的字符串时，在该字符串中能找到一个非空的子串，并使子串重复，从而组成新的字符串。该新串必在同一个正则集内。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定理：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设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L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是正则集，存在常数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k，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对字符串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ω∈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Ｌ 且｜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ω｜≥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ｋ，</a:t>
            </a:r>
            <a:endParaRPr lang="en-US" altLang="zh-CN" sz="2400" b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则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可写成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２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，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其中｜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｜≤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ｋ，｜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｜＞０，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对所有的ｉ≥0有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baseline="30000" dirty="0">
                <a:solidFill>
                  <a:schemeClr val="tx2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2400" b="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dirty="0">
                <a:solidFill>
                  <a:schemeClr val="tx2"/>
                </a:solidFill>
                <a:latin typeface="Arial" panose="020B0604020202020204" pitchFamily="34" charset="0"/>
              </a:rPr>
              <a:t>∈</a:t>
            </a:r>
            <a:r>
              <a:rPr lang="zh-CN" altLang="en-US" sz="2400" b="0" dirty="0">
                <a:solidFill>
                  <a:schemeClr val="tx2"/>
                </a:solidFill>
                <a:latin typeface="Arial" panose="020B0604020202020204" pitchFamily="34" charset="0"/>
              </a:rPr>
              <a:t>Ｌ。</a:t>
            </a:r>
          </a:p>
        </p:txBody>
      </p:sp>
      <p:sp>
        <p:nvSpPr>
          <p:cNvPr id="811012" name="Rectangle 4"/>
          <p:cNvSpPr>
            <a:spLocks noChangeArrowheads="1"/>
          </p:cNvSpPr>
          <p:nvPr/>
        </p:nvSpPr>
        <p:spPr bwMode="auto">
          <a:xfrm>
            <a:off x="0" y="6035675"/>
            <a:ext cx="8915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证明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设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  D =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的语言， 取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|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|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即可.</a:t>
            </a:r>
            <a:r>
              <a:rPr lang="zh-CN" altLang="en-US" sz="240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1012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61DFE3-F517-42B8-AD41-FEEE0BC5F21D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5A534A-3BCD-4A9B-B5F1-4536BDC19767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1143000" y="4572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“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Pumping”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特性</a:t>
            </a: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381000" y="1295400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    设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DFA  D = 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Q,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, q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0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, F 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</a:rPr>
              <a:t>),  |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</a:rPr>
              <a:t>|=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n.</a:t>
            </a: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381000" y="1905000"/>
            <a:ext cx="777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       对于任一长度不小于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n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的字符串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w =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…a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m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其中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m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n,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T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(1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k 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m),  q</a:t>
            </a:r>
            <a:r>
              <a:rPr lang="en-US" altLang="zh-CN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 ,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考察如下状态序列</a:t>
            </a: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609600" y="2895600"/>
            <a:ext cx="35814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=q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p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'(q,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p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'(q,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p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'(q,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…a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n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p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n+1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'(q,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…a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n+1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    p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m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'(q, 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…a</a:t>
            </a:r>
            <a:r>
              <a:rPr lang="en-US" altLang="zh-CN" sz="2400" b="0" i="1" baseline="-25000">
                <a:solidFill>
                  <a:srgbClr val="333399"/>
                </a:solidFill>
                <a:latin typeface="Arial" panose="020B0604020202020204" pitchFamily="34" charset="0"/>
              </a:rPr>
              <a:t>m </a:t>
            </a:r>
            <a:r>
              <a:rPr lang="en-US" altLang="zh-CN" sz="2400" b="0" i="1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3810000" y="2743200"/>
            <a:ext cx="4572000" cy="1828800"/>
            <a:chOff x="2736" y="2064"/>
            <a:chExt cx="2880" cy="1152"/>
          </a:xfrm>
        </p:grpSpPr>
        <p:sp>
          <p:nvSpPr>
            <p:cNvPr id="16395" name="AutoShape 11"/>
            <p:cNvSpPr/>
            <p:nvPr/>
          </p:nvSpPr>
          <p:spPr bwMode="auto">
            <a:xfrm>
              <a:off x="2736" y="2208"/>
              <a:ext cx="432" cy="1008"/>
            </a:xfrm>
            <a:prstGeom prst="rightBrace">
              <a:avLst>
                <a:gd name="adj1" fmla="val 19444"/>
                <a:gd name="adj2" fmla="val 50000"/>
              </a:avLst>
            </a:prstGeom>
            <a:noFill/>
            <a:ln w="38100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396" name="Rectangle 12"/>
            <p:cNvSpPr>
              <a:spLocks noChangeArrowheads="1"/>
            </p:cNvSpPr>
            <p:nvPr/>
          </p:nvSpPr>
          <p:spPr bwMode="auto">
            <a:xfrm>
              <a:off x="3312" y="2064"/>
              <a:ext cx="2304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0">
                  <a:solidFill>
                    <a:srgbClr val="333399"/>
                  </a:solidFill>
                  <a:latin typeface="Arial" panose="020B0604020202020204" pitchFamily="34" charset="0"/>
                </a:rPr>
                <a:t>   由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pigeonhole </a:t>
              </a:r>
              <a:r>
                <a:rPr lang="zh-CN" altLang="en-US" sz="2400" b="0">
                  <a:solidFill>
                    <a:srgbClr val="333399"/>
                  </a:solidFill>
                  <a:latin typeface="Arial" panose="020B0604020202020204" pitchFamily="34" charset="0"/>
                </a:rPr>
                <a:t>原理</a:t>
              </a:r>
              <a:r>
                <a:rPr lang="zh-CN" altLang="en-US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,    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400" b="0" i="1" baseline="-25000">
                  <a:solidFill>
                    <a:srgbClr val="333399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, p</a:t>
              </a:r>
              <a:r>
                <a:rPr lang="en-US" altLang="zh-CN" sz="2400" b="0" i="1" baseline="-25000">
                  <a:solidFill>
                    <a:srgbClr val="333399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, p</a:t>
              </a:r>
              <a:r>
                <a:rPr lang="en-US" altLang="zh-CN" sz="2400" b="0" i="1" baseline="-25000">
                  <a:solidFill>
                    <a:srgbClr val="333399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, …, p</a:t>
              </a:r>
              <a:r>
                <a:rPr lang="en-US" altLang="zh-CN" sz="2400" b="0" i="1" baseline="-25000">
                  <a:solidFill>
                    <a:srgbClr val="333399"/>
                  </a:solidFill>
                  <a:latin typeface="Arial" panose="020B0604020202020204" pitchFamily="34" charset="0"/>
                </a:rPr>
                <a:t>n </a:t>
              </a:r>
              <a:r>
                <a:rPr lang="zh-CN" altLang="en-US" sz="2400" b="0">
                  <a:solidFill>
                    <a:srgbClr val="333399"/>
                  </a:solidFill>
                  <a:latin typeface="Arial" panose="020B0604020202020204" pitchFamily="34" charset="0"/>
                </a:rPr>
                <a:t>中至少有两个状态是重复的，即存在 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i, j, 0</a:t>
              </a:r>
              <a:r>
                <a:rPr lang="en-US" altLang="zh-CN" sz="2400" b="0">
                  <a:solidFill>
                    <a:srgbClr val="3333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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sz="2400" b="0">
                  <a:solidFill>
                    <a:srgbClr val="3333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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j</a:t>
              </a:r>
              <a:r>
                <a:rPr lang="en-US" altLang="zh-CN" sz="2400" b="0">
                  <a:solidFill>
                    <a:srgbClr val="3333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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, p</a:t>
              </a:r>
              <a:r>
                <a:rPr lang="en-US" altLang="zh-CN" sz="2400" b="0" i="1" baseline="-25000">
                  <a:solidFill>
                    <a:srgbClr val="333399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=p</a:t>
              </a:r>
              <a:r>
                <a:rPr lang="en-US" altLang="zh-CN" sz="2400" b="0" i="1" baseline="-25000">
                  <a:solidFill>
                    <a:srgbClr val="333399"/>
                  </a:solidFill>
                  <a:latin typeface="Arial" panose="020B0604020202020204" pitchFamily="34" charset="0"/>
                </a:rPr>
                <a:t>j </a:t>
              </a:r>
              <a:r>
                <a:rPr lang="en-US" altLang="zh-CN" sz="2400" b="0" i="1">
                  <a:solidFill>
                    <a:srgbClr val="333399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813069" name="Rectangle 13"/>
          <p:cNvSpPr>
            <a:spLocks noChangeArrowheads="1"/>
          </p:cNvSpPr>
          <p:nvPr/>
        </p:nvSpPr>
        <p:spPr bwMode="auto">
          <a:xfrm>
            <a:off x="4495800" y="4572000"/>
            <a:ext cx="3962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b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 b="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zh-CN" sz="2400" b="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pumping” </a:t>
            </a:r>
            <a:r>
              <a:rPr lang="zh-CN" altLang="en-US" sz="2400" b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特性：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    任一长度不小于状态数目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的字符串所标记的路径上</a:t>
            </a: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   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必然出现重复的状态.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14C5F9-32C3-4803-8FF4-E86233B01E69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78AD82-2B14-449B-9790-EF43351D062E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1143000" y="4572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“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Pumping”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特性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381000" y="1524000"/>
            <a:ext cx="7924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“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pumping”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特性：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如前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设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  D =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),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|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|=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n, w = 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(m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n),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则存在 </a:t>
            </a:r>
            <a:r>
              <a:rPr lang="en-US" altLang="zh-CN" sz="2400" i="1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i="1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sz="2400" i="1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p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=p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'(p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, 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i="1">
                <a:solidFill>
                  <a:srgbClr val="333399"/>
                </a:solidFill>
                <a:ea typeface="华文行楷" panose="02010800040101010101" pitchFamily="2" charset="-122"/>
              </a:rPr>
              <a:t>k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m.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15112" name="Rectangle 8"/>
          <p:cNvSpPr>
            <a:spLocks noChangeArrowheads="1"/>
          </p:cNvSpPr>
          <p:nvPr/>
        </p:nvSpPr>
        <p:spPr bwMode="auto">
          <a:xfrm>
            <a:off x="381000" y="2776538"/>
            <a:ext cx="76962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若假定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p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F,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即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L(D).</a:t>
            </a:r>
            <a:endParaRPr lang="en-US" altLang="zh-CN" sz="2400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令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 = xyz,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其中： </a:t>
            </a:r>
            <a:endParaRPr lang="zh-CN" altLang="en-US" sz="2400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= 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y = 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+1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+2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z = 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+1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+2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…a</a:t>
            </a:r>
            <a:r>
              <a:rPr lang="en-US" altLang="zh-CN" sz="2400" i="1" baseline="-25000">
                <a:solidFill>
                  <a:srgbClr val="333399"/>
                </a:solidFill>
                <a:ea typeface="华文行楷" panose="02010800040101010101" pitchFamily="2" charset="-122"/>
              </a:rPr>
              <a:t>m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则对任何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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都有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xy</a:t>
            </a:r>
            <a:r>
              <a:rPr lang="en-US" altLang="zh-CN" sz="2400" i="1" baseline="30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L(D)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   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参考下图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</a:p>
        </p:txBody>
      </p:sp>
      <p:grpSp>
        <p:nvGrpSpPr>
          <p:cNvPr id="2" name="Group 9"/>
          <p:cNvGrpSpPr/>
          <p:nvPr/>
        </p:nvGrpSpPr>
        <p:grpSpPr bwMode="auto">
          <a:xfrm>
            <a:off x="1327150" y="4999038"/>
            <a:ext cx="5073650" cy="1173162"/>
            <a:chOff x="960" y="3469"/>
            <a:chExt cx="3196" cy="739"/>
          </a:xfrm>
        </p:grpSpPr>
        <p:graphicFrame>
          <p:nvGraphicFramePr>
            <p:cNvPr id="17417" name="Object 10"/>
            <p:cNvGraphicFramePr>
              <a:graphicFrameLocks noChangeAspect="1"/>
            </p:cNvGraphicFramePr>
            <p:nvPr/>
          </p:nvGraphicFramePr>
          <p:xfrm>
            <a:off x="960" y="3600"/>
            <a:ext cx="319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5073650" imgH="964565" progId="Visio.Drawing.6">
                    <p:embed/>
                  </p:oleObj>
                </mc:Choice>
                <mc:Fallback>
                  <p:oleObj name="VISIO" r:id="rId2" imgW="5073650" imgH="964565" progId="Visio.Drawing.6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600"/>
                          <a:ext cx="3196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8" name="Rectangle 11"/>
            <p:cNvSpPr>
              <a:spLocks noChangeArrowheads="1"/>
            </p:cNvSpPr>
            <p:nvPr/>
          </p:nvSpPr>
          <p:spPr bwMode="auto">
            <a:xfrm>
              <a:off x="1581" y="3916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p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0</a:t>
              </a:r>
            </a:p>
          </p:txBody>
        </p:sp>
        <p:sp>
          <p:nvSpPr>
            <p:cNvPr id="17419" name="Rectangle 12"/>
            <p:cNvSpPr>
              <a:spLocks noChangeArrowheads="1"/>
            </p:cNvSpPr>
            <p:nvPr/>
          </p:nvSpPr>
          <p:spPr bwMode="auto">
            <a:xfrm>
              <a:off x="2736" y="3916"/>
              <a:ext cx="2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p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i</a:t>
              </a:r>
            </a:p>
          </p:txBody>
        </p:sp>
        <p:sp>
          <p:nvSpPr>
            <p:cNvPr id="17420" name="Rectangle 13"/>
            <p:cNvSpPr>
              <a:spLocks noChangeArrowheads="1"/>
            </p:cNvSpPr>
            <p:nvPr/>
          </p:nvSpPr>
          <p:spPr bwMode="auto">
            <a:xfrm>
              <a:off x="3856" y="3916"/>
              <a:ext cx="2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p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m</a:t>
              </a:r>
            </a:p>
          </p:txBody>
        </p:sp>
        <p:sp>
          <p:nvSpPr>
            <p:cNvPr id="17421" name="Rectangle 14"/>
            <p:cNvSpPr>
              <a:spLocks noChangeArrowheads="1"/>
            </p:cNvSpPr>
            <p:nvPr/>
          </p:nvSpPr>
          <p:spPr bwMode="auto">
            <a:xfrm>
              <a:off x="1843" y="3820"/>
              <a:ext cx="7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 = a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i</a:t>
              </a:r>
            </a:p>
          </p:txBody>
        </p:sp>
        <p:sp>
          <p:nvSpPr>
            <p:cNvPr id="17422" name="Rectangle 15"/>
            <p:cNvSpPr>
              <a:spLocks noChangeArrowheads="1"/>
            </p:cNvSpPr>
            <p:nvPr/>
          </p:nvSpPr>
          <p:spPr bwMode="auto">
            <a:xfrm>
              <a:off x="2317" y="3469"/>
              <a:ext cx="9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y = 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i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+1</a:t>
              </a: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i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+2</a:t>
              </a: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j</a:t>
              </a:r>
            </a:p>
          </p:txBody>
        </p:sp>
        <p:sp>
          <p:nvSpPr>
            <p:cNvPr id="17423" name="Rectangle 16"/>
            <p:cNvSpPr>
              <a:spLocks noChangeArrowheads="1"/>
            </p:cNvSpPr>
            <p:nvPr/>
          </p:nvSpPr>
          <p:spPr bwMode="auto">
            <a:xfrm>
              <a:off x="2976" y="3820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z=a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j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+1</a:t>
              </a: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j</a:t>
              </a:r>
              <a:r>
                <a:rPr lang="en-US" altLang="zh-CN" sz="1600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+2</a:t>
              </a:r>
              <a:r>
                <a:rPr lang="en-US" altLang="zh-CN" sz="16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…a</a:t>
              </a:r>
              <a:r>
                <a:rPr lang="en-US" altLang="zh-CN" sz="1600" i="1" baseline="-25000">
                  <a:solidFill>
                    <a:srgbClr val="333399"/>
                  </a:solidFill>
                  <a:ea typeface="华文行楷" panose="02010800040101010101" pitchFamily="2" charset="-122"/>
                </a:rPr>
                <a:t>m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1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1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1F07F0-2D94-42DC-82FB-54E651A405E7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14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1F66E9-FCBA-43AD-BD7F-60D1816AF319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838200" y="2286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Pumping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引理的应用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 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用于证明某个语言 </a:t>
            </a:r>
            <a:r>
              <a:rPr lang="en-US" altLang="zh-CN" sz="2400" i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 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不是正规语言）</a:t>
            </a:r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228600" y="1223645"/>
            <a:ext cx="7958138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证明步骤</a:t>
            </a: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　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   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</a:rPr>
              <a:t>1.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选任意的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    2.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找到一个满足以下条件的串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w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 (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长度至少为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n)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    3.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任选满足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 = xyz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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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|xy|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的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x,y,z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4.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找到一个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k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0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使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xy</a:t>
            </a:r>
            <a:r>
              <a:rPr lang="en-US" altLang="zh-CN" sz="2400" i="1" baseline="30000">
                <a:solidFill>
                  <a:srgbClr val="800080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</a:rPr>
              <a:t>z </a:t>
            </a:r>
            <a:r>
              <a:rPr lang="en-US" altLang="zh-CN" sz="24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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439" name="Rectangle 10"/>
          <p:cNvSpPr>
            <a:spLocks noChangeArrowheads="1"/>
          </p:cNvSpPr>
          <p:nvPr/>
        </p:nvSpPr>
        <p:spPr bwMode="auto">
          <a:xfrm>
            <a:off x="228600" y="3117215"/>
            <a:ext cx="8915400" cy="3636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举例 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证明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L={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400" baseline="30000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2400" baseline="30000" dirty="0" err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n≥1 }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不是正则集.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证明: 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由泵浦引理，假设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是正则集，则对足够大的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aseline="30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aseline="30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可写成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其中0&lt; |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b="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b="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|≤n，|ω|= 2n &gt; n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中不可能含 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aseline="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，否则不满足</a:t>
            </a:r>
            <a:r>
              <a:rPr lang="zh-CN" altLang="en-US" sz="18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0&lt; </a:t>
            </a:r>
            <a:r>
              <a:rPr lang="en-US" altLang="zh-CN" sz="18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|ω</a:t>
            </a:r>
            <a:r>
              <a:rPr lang="en-US" altLang="zh-CN" b="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8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b="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|≤n.</a:t>
            </a:r>
            <a:endParaRPr lang="zh-CN" altLang="en-US" sz="24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只可能取 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设|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|=k≥1，k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为常数，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取</a:t>
            </a:r>
            <a:r>
              <a:rPr lang="en-US" altLang="zh-CN" sz="24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=0，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aseline="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= 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= a</a:t>
            </a:r>
            <a:r>
              <a:rPr lang="en-US" altLang="zh-CN" sz="2400" baseline="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n-</a:t>
            </a:r>
            <a:r>
              <a:rPr lang="en-US" altLang="zh-CN" sz="2400" baseline="30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aseline="30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此时，</a:t>
            </a:r>
            <a:r>
              <a:rPr lang="en-US" altLang="zh-CN" sz="24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a，b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字符个数不同,即新组成的串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L.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 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与假设矛盾，故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不是正则集. 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8C14A5-1582-4FD0-ADF5-D9EAF7F9C666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EC13B5-2642-46DD-A9CA-520250C8DBC4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914400" y="3810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Pumping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引理的应用</a:t>
            </a:r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500063" y="1500188"/>
            <a:ext cx="7958137" cy="4963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i="1" dirty="0">
                <a:solidFill>
                  <a:srgbClr val="80008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80008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例 </a:t>
            </a:r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证明Ｌ＝｛ａ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1980" baseline="56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２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｜k≥１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的整数｝不是正则集.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4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defRPr/>
            </a:pPr>
            <a:r>
              <a:rPr lang="zh-CN" altLang="en-US" sz="2400" b="1" dirty="0">
                <a:solidFill>
                  <a:srgbClr val="80008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证明</a:t>
            </a:r>
            <a:r>
              <a:rPr lang="zh-CN" altLang="en-US" sz="2400" b="1" dirty="0">
                <a:solidFill>
                  <a:srgbClr val="800080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是正则集，取足够大的整数</a:t>
            </a:r>
            <a:r>
              <a:rPr lang="en-US" altLang="zh-CN" sz="2400" b="1" dirty="0" err="1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n，ω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ａ</a:t>
            </a:r>
            <a:r>
              <a:rPr lang="zh-CN" altLang="en-US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ｎ</a:t>
            </a:r>
            <a:r>
              <a:rPr lang="zh-CN" altLang="en-US" sz="1980" baseline="56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２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algn="just">
              <a:lnSpc>
                <a:spcPct val="160000"/>
              </a:lnSpc>
              <a:defRPr/>
            </a:pP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有｜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ω｜＝｜ω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｜= n 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≥n， </a:t>
            </a:r>
          </a:p>
          <a:p>
            <a:pPr algn="just">
              <a:lnSpc>
                <a:spcPct val="160000"/>
              </a:lnSpc>
              <a:defRPr/>
            </a:pP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0&lt;｜ω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｜≤n， 0&lt;｜ω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｜≤n</a:t>
            </a:r>
          </a:p>
          <a:p>
            <a:pPr algn="just">
              <a:lnSpc>
                <a:spcPct val="160000"/>
              </a:lnSpc>
              <a:defRPr/>
            </a:pP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取</a:t>
            </a:r>
            <a:r>
              <a:rPr lang="en-US" altLang="zh-CN" sz="2400" b="1" dirty="0" err="1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=2，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&lt;｜ω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｜≤ n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+n &lt; (n+1)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2400" b="1" dirty="0">
              <a:solidFill>
                <a:srgbClr val="333399"/>
              </a:solidFill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lnSpc>
                <a:spcPct val="160000"/>
              </a:lnSpc>
              <a:defRPr/>
            </a:pP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∴ 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baseline="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30000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Ｌ    (串长不是整数的平方) </a:t>
            </a:r>
          </a:p>
          <a:p>
            <a:pPr algn="just">
              <a:lnSpc>
                <a:spcPct val="160000"/>
              </a:lnSpc>
              <a:defRPr/>
            </a:pP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与假设矛盾。</a:t>
            </a:r>
          </a:p>
          <a:p>
            <a:pPr algn="just">
              <a:lnSpc>
                <a:spcPct val="160000"/>
              </a:lnSpc>
              <a:defRPr/>
            </a:pP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∴   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不是正则集。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/>
          <p:cNvSpPr>
            <a:spLocks noGrp="1"/>
          </p:cNvSpPr>
          <p:nvPr>
            <p:ph type="sldNum" sz="quarter" idx="10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9715F4D-2767-44BF-9169-F6D8574945AD}" type="slidenum">
              <a:rPr kumimoji="0" lang="zh-CN" altLang="en-US" smtClean="0">
                <a:latin typeface="Arial Narrow" panose="020B0606020202030204" pitchFamily="34" charset="0"/>
              </a:rPr>
              <a:t>16</a:t>
            </a:fld>
            <a:endParaRPr kumimoji="0" lang="en-US" altLang="zh-CN">
              <a:latin typeface="Arial Narrow" panose="020B0606020202030204" pitchFamily="34" charset="0"/>
            </a:endParaRPr>
          </a:p>
        </p:txBody>
      </p:sp>
      <p:sp>
        <p:nvSpPr>
          <p:cNvPr id="39939" name="页脚占位符 2"/>
          <p:cNvSpPr>
            <a:spLocks noGrp="1"/>
          </p:cNvSpPr>
          <p:nvPr>
            <p:ph type="ftr" sz="quarter" idx="1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200" dirty="0">
                <a:latin typeface="Arial Narrow" panose="020B0606020202030204" pitchFamily="34" charset="0"/>
              </a:rPr>
              <a:t>School of Computer Science, BUPT</a:t>
            </a:r>
            <a:endParaRPr lang="zh-CN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914400" y="381000"/>
            <a:ext cx="2649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课堂练习</a:t>
            </a: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304800" y="1268760"/>
            <a:ext cx="8587680" cy="4447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i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证明Ｌ＝｛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ω ｜ ω 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333399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的个数相等｝不是正则集.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80008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证明</a:t>
            </a:r>
            <a:r>
              <a:rPr lang="zh-CN" altLang="en-US" sz="2400" b="1" dirty="0">
                <a:solidFill>
                  <a:srgbClr val="800080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是正则集，取足够大的整数</a:t>
            </a:r>
            <a:r>
              <a:rPr lang="en-US" altLang="zh-CN" sz="2400" dirty="0" err="1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n，ω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 0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Euclid 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L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可写成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其中0&lt; |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|ω</a:t>
            </a:r>
            <a:r>
              <a:rPr lang="en-US" altLang="zh-CN" sz="2400" baseline="-25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25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|≤n，|ω|= 2n &gt; n</a:t>
            </a:r>
          </a:p>
          <a:p>
            <a:pPr algn="just">
              <a:lnSpc>
                <a:spcPct val="160000"/>
              </a:lnSpc>
              <a:defRPr/>
            </a:pP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∵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0&lt;｜ω</a:t>
            </a:r>
            <a:r>
              <a:rPr lang="en-US" altLang="zh-CN" sz="2400" baseline="-300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｜≤n</a:t>
            </a:r>
          </a:p>
          <a:p>
            <a:pPr algn="just">
              <a:lnSpc>
                <a:spcPct val="160000"/>
              </a:lnSpc>
              <a:defRPr/>
            </a:pP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∴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只可能取处于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段的字符串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设|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|=k≥1，k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为常数，</a:t>
            </a: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取</a:t>
            </a:r>
            <a:r>
              <a:rPr lang="en-US" altLang="zh-CN" sz="2400" dirty="0" err="1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=0，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= 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= 0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n-k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此时，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0，1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个数不同,即新组成的串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aseline="-300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L.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∴  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与假设矛盾，故</a:t>
            </a:r>
            <a:r>
              <a:rPr lang="en-US" altLang="zh-CN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olidFill>
                  <a:srgbClr val="333399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不是正则集。</a:t>
            </a:r>
          </a:p>
          <a:p>
            <a:pPr algn="just">
              <a:lnSpc>
                <a:spcPct val="160000"/>
              </a:lnSpc>
              <a:defRPr/>
            </a:pPr>
            <a:r>
              <a:rPr lang="zh-CN" altLang="en-US" sz="2400" dirty="0">
                <a:solidFill>
                  <a:srgbClr val="FF33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注意：</a:t>
            </a:r>
            <a:r>
              <a:rPr lang="en-US" altLang="zh-CN" sz="2400" dirty="0">
                <a:solidFill>
                  <a:srgbClr val="FF33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zh-CN" altLang="en-US" sz="2400" dirty="0">
                <a:solidFill>
                  <a:srgbClr val="FF33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的取法有技巧， 一定要能推出矛盾才可以。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284984"/>
            <a:ext cx="4091301" cy="3363360"/>
          </a:xfrm>
          <a:prstGeom prst="rect">
            <a:avLst/>
          </a:prstGeom>
        </p:spPr>
      </p:pic>
      <p:sp>
        <p:nvSpPr>
          <p:cNvPr id="2048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4E60E0-38BC-4D3D-B4E9-03A8AB1DDBBB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4996A8-D685-47A6-BD3E-4692379F70B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1981200" y="381000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3078" name="Rectangle 4"/>
          <p:cNvSpPr>
            <a:spLocks noChangeArrowheads="1"/>
          </p:cNvSpPr>
          <p:nvPr/>
        </p:nvSpPr>
        <p:spPr bwMode="auto">
          <a:xfrm>
            <a:off x="457200" y="1447800"/>
            <a:ext cx="84582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	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上节从文法产生的角度证明了右线性语言及其并，积，闭包是正则集；本节用有限自动机接受的语言来证明。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(书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P72~)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/>
            </a:pP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设Ｌ</a:t>
            </a:r>
            <a:r>
              <a:rPr lang="zh-CN" altLang="en-US" sz="2400" baseline="-300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１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和Ｌ</a:t>
            </a:r>
            <a:r>
              <a:rPr lang="zh-CN" altLang="en-US" sz="2400" baseline="-300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２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是右线性语言，证明Ｌ</a:t>
            </a:r>
            <a:r>
              <a:rPr lang="zh-CN" altLang="en-US" sz="2400" baseline="-300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１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∪Ｌ</a:t>
            </a:r>
            <a:r>
              <a:rPr lang="zh-CN" altLang="en-US" sz="2400" baseline="-300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２</a:t>
            </a:r>
            <a:r>
              <a:rPr lang="zh-CN" altLang="en-US" sz="240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为右线性语言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0488" name="Group 7"/>
          <p:cNvGrpSpPr/>
          <p:nvPr/>
        </p:nvGrpSpPr>
        <p:grpSpPr bwMode="auto">
          <a:xfrm>
            <a:off x="4951413" y="3810000"/>
            <a:ext cx="4192587" cy="2378075"/>
            <a:chOff x="3119" y="2448"/>
            <a:chExt cx="2641" cy="1498"/>
          </a:xfrm>
        </p:grpSpPr>
        <p:sp>
          <p:nvSpPr>
            <p:cNvPr id="20490" name="Text Box 8"/>
            <p:cNvSpPr txBox="1">
              <a:spLocks noChangeArrowheads="1"/>
            </p:cNvSpPr>
            <p:nvPr/>
          </p:nvSpPr>
          <p:spPr bwMode="auto">
            <a:xfrm>
              <a:off x="3456" y="2448"/>
              <a:ext cx="2304" cy="1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构造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NFA M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(Q</a:t>
              </a:r>
              <a:r>
                <a:rPr lang="en-US" altLang="zh-CN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T 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，δ，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F)</a:t>
              </a: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Q＝Q</a:t>
              </a:r>
              <a:r>
                <a:rPr lang="en-US" altLang="zh-CN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∪Q</a:t>
              </a:r>
              <a:r>
                <a:rPr lang="en-US" altLang="zh-CN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２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∪｛q</a:t>
              </a:r>
              <a:r>
                <a:rPr lang="en-US" altLang="zh-CN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｝</a:t>
              </a: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　  q</a:t>
              </a:r>
              <a:r>
                <a:rPr lang="en-US" altLang="zh-CN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0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是新的起始状态</a:t>
              </a: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Ｆ</a:t>
              </a:r>
              <a:r>
                <a:rPr lang="zh-CN" altLang="en-US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１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∪Ｆ</a:t>
              </a:r>
              <a:r>
                <a:rPr lang="zh-CN" altLang="en-US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２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　当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ε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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Ｌ</a:t>
              </a:r>
              <a:r>
                <a:rPr lang="zh-CN" altLang="en-US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１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ε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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Ｌ</a:t>
              </a:r>
              <a:r>
                <a:rPr lang="zh-CN" altLang="en-US" sz="1800" b="0" baseline="-30000">
                  <a:solidFill>
                    <a:schemeClr val="tx2"/>
                  </a:solidFill>
                  <a:ea typeface="宋体" panose="02010600030101010101" pitchFamily="2" charset="-122"/>
                </a:rPr>
                <a:t>２</a:t>
              </a:r>
              <a:endParaRPr lang="zh-CN" altLang="en-US" sz="1800" b="0">
                <a:solidFill>
                  <a:schemeClr val="tx2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Ｆ</a:t>
              </a:r>
              <a:r>
                <a:rPr lang="zh-CN" altLang="en-US" sz="1800" b="0" baseline="-30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１</a:t>
              </a:r>
              <a:r>
                <a:rPr lang="zh-CN" altLang="en-US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∪Ｆ</a:t>
              </a:r>
              <a:r>
                <a:rPr lang="zh-CN" altLang="en-US" sz="1800" b="0" baseline="-30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２</a:t>
              </a:r>
              <a:r>
                <a:rPr lang="zh-CN" altLang="en-US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∪｛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q</a:t>
              </a:r>
              <a:r>
                <a:rPr lang="en-US" altLang="zh-CN" sz="1800" b="0" baseline="-30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０</a:t>
              </a:r>
              <a:r>
                <a:rPr lang="en-US" altLang="zh-CN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｝</a:t>
              </a: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sz="1800" b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否则</a:t>
              </a:r>
              <a:r>
                <a:rPr lang="zh-CN" altLang="en-US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20491" name="Text Box 9"/>
            <p:cNvSpPr txBox="1">
              <a:spLocks noChangeArrowheads="1"/>
            </p:cNvSpPr>
            <p:nvPr/>
          </p:nvSpPr>
          <p:spPr bwMode="auto">
            <a:xfrm>
              <a:off x="3119" y="3600"/>
              <a:ext cx="3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F =</a:t>
              </a:r>
            </a:p>
          </p:txBody>
        </p:sp>
        <p:sp>
          <p:nvSpPr>
            <p:cNvPr id="20492" name="AutoShape 10"/>
            <p:cNvSpPr/>
            <p:nvPr/>
          </p:nvSpPr>
          <p:spPr bwMode="auto">
            <a:xfrm>
              <a:off x="3445" y="3600"/>
              <a:ext cx="56" cy="240"/>
            </a:xfrm>
            <a:prstGeom prst="leftBrace">
              <a:avLst>
                <a:gd name="adj1" fmla="val 35714"/>
                <a:gd name="adj2" fmla="val 50000"/>
              </a:avLst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0489" name="Text Box 11"/>
          <p:cNvSpPr txBox="1">
            <a:spLocks noChangeArrowheads="1"/>
          </p:cNvSpPr>
          <p:nvPr/>
        </p:nvSpPr>
        <p:spPr bwMode="auto">
          <a:xfrm>
            <a:off x="0" y="35814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800080"/>
                </a:solidFill>
                <a:latin typeface="Arial" panose="020B0604020202020204" pitchFamily="34" charset="0"/>
              </a:rPr>
              <a:t>M</a:t>
            </a:r>
            <a:r>
              <a:rPr lang="zh-CN" altLang="en-US" sz="2000">
                <a:solidFill>
                  <a:srgbClr val="800080"/>
                </a:solidFill>
                <a:latin typeface="Arial" panose="020B0604020202020204" pitchFamily="34" charset="0"/>
              </a:rPr>
              <a:t>形如: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4001817"/>
            <a:ext cx="7850238" cy="2357662"/>
          </a:xfrm>
          <a:prstGeom prst="rect">
            <a:avLst/>
          </a:prstGeom>
        </p:spPr>
      </p:pic>
      <p:sp>
        <p:nvSpPr>
          <p:cNvPr id="2150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6A2134-A5A9-4D24-9A81-7216E471F75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6C955A-3102-4819-B8EF-706BA4E80D59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1143000" y="6096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457200" y="1447800"/>
            <a:ext cx="845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 startAt="2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设Ｌ</a:t>
            </a:r>
            <a:r>
              <a:rPr lang="zh-CN" altLang="en-US" sz="2400" baseline="-30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１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和Ｌ</a:t>
            </a:r>
            <a:r>
              <a:rPr lang="zh-CN" altLang="en-US" sz="2400" baseline="-30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２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是右线性语言，证明Ｌ</a:t>
            </a:r>
            <a:r>
              <a:rPr lang="zh-CN" altLang="en-US" sz="2400" baseline="-30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１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Ｌ</a:t>
            </a:r>
            <a:r>
              <a:rPr lang="zh-CN" altLang="en-US" sz="2400" baseline="-30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２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为右线性语言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(书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P73~)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511" name="Text Box 6"/>
          <p:cNvSpPr txBox="1">
            <a:spLocks noChangeArrowheads="1"/>
          </p:cNvSpPr>
          <p:nvPr/>
        </p:nvSpPr>
        <p:spPr bwMode="auto">
          <a:xfrm>
            <a:off x="468313" y="2276475"/>
            <a:ext cx="83058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构造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NFA M＝(Q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，T ，δ， 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， F),        </a:t>
            </a:r>
            <a:r>
              <a:rPr lang="zh-CN" altLang="en-US" sz="1800" b="0" dirty="0">
                <a:solidFill>
                  <a:schemeClr val="tx2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Q=Q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１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∪Q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２                 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 =q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Ｆ</a:t>
            </a:r>
            <a:r>
              <a:rPr lang="zh-CN" altLang="en-US" sz="1800" b="0" baseline="-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２</a:t>
            </a:r>
            <a:r>
              <a:rPr lang="zh-CN" altLang="en-US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                    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endParaRPr lang="zh-CN" altLang="en-US" sz="18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Ｆ</a:t>
            </a:r>
            <a:r>
              <a:rPr lang="zh-CN" altLang="en-US" sz="1800" b="0" baseline="-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１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∪Ｆ</a:t>
            </a:r>
            <a:r>
              <a:rPr lang="zh-CN" altLang="en-US" sz="1800" b="0" baseline="-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２</a:t>
            </a:r>
            <a:r>
              <a:rPr lang="zh-CN" altLang="en-US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     </a:t>
            </a:r>
            <a:r>
              <a:rPr lang="zh-CN" altLang="en-US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q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F</a:t>
            </a:r>
            <a:r>
              <a:rPr lang="en-US" altLang="zh-CN" sz="1800" b="0" baseline="-30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endParaRPr lang="zh-CN" altLang="en-US" sz="18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pSp>
        <p:nvGrpSpPr>
          <p:cNvPr id="21512" name="Group 7"/>
          <p:cNvGrpSpPr/>
          <p:nvPr/>
        </p:nvGrpSpPr>
        <p:grpSpPr bwMode="auto">
          <a:xfrm>
            <a:off x="781050" y="2997200"/>
            <a:ext cx="622300" cy="442913"/>
            <a:chOff x="480" y="2064"/>
            <a:chExt cx="392" cy="279"/>
          </a:xfrm>
        </p:grpSpPr>
        <p:sp>
          <p:nvSpPr>
            <p:cNvPr id="21515" name="Text Box 8"/>
            <p:cNvSpPr txBox="1">
              <a:spLocks noChangeArrowheads="1"/>
            </p:cNvSpPr>
            <p:nvPr/>
          </p:nvSpPr>
          <p:spPr bwMode="auto">
            <a:xfrm>
              <a:off x="480" y="2112"/>
              <a:ext cx="3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1800" b="0">
                  <a:solidFill>
                    <a:schemeClr val="tx2"/>
                  </a:solidFill>
                  <a:ea typeface="宋体" panose="02010600030101010101" pitchFamily="2" charset="-122"/>
                </a:rPr>
                <a:t>F =</a:t>
              </a:r>
            </a:p>
          </p:txBody>
        </p:sp>
        <p:sp>
          <p:nvSpPr>
            <p:cNvPr id="21516" name="AutoShape 9"/>
            <p:cNvSpPr/>
            <p:nvPr/>
          </p:nvSpPr>
          <p:spPr bwMode="auto">
            <a:xfrm>
              <a:off x="768" y="2064"/>
              <a:ext cx="104" cy="240"/>
            </a:xfrm>
            <a:prstGeom prst="leftBrace">
              <a:avLst>
                <a:gd name="adj1" fmla="val 19231"/>
                <a:gd name="adj2" fmla="val 50000"/>
              </a:avLst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1514" name="Text Box 11"/>
          <p:cNvSpPr txBox="1">
            <a:spLocks noChangeArrowheads="1"/>
          </p:cNvSpPr>
          <p:nvPr/>
        </p:nvSpPr>
        <p:spPr bwMode="auto">
          <a:xfrm>
            <a:off x="304800" y="45720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latin typeface="Arial" panose="020B0604020202020204" pitchFamily="34" charset="0"/>
              </a:rPr>
              <a:t>M</a:t>
            </a:r>
            <a:r>
              <a:rPr lang="zh-CN" altLang="en-US" sz="1800">
                <a:solidFill>
                  <a:srgbClr val="800080"/>
                </a:solidFill>
                <a:latin typeface="Arial" panose="020B0604020202020204" pitchFamily="34" charset="0"/>
              </a:rPr>
              <a:t>形如: </a:t>
            </a: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AFBA2C-31E5-422A-852B-5F0662356381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19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56B9FD-1B90-42B7-AD21-E532DB8FF9C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2"/>
          <p:cNvSpPr>
            <a:spLocks noChangeArrowheads="1"/>
          </p:cNvSpPr>
          <p:nvPr/>
        </p:nvSpPr>
        <p:spPr bwMode="auto">
          <a:xfrm>
            <a:off x="1143000" y="6096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457200" y="14478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 startAt="3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设Ｌ</a:t>
            </a:r>
            <a:r>
              <a:rPr lang="zh-CN" altLang="en-US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１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是右线性语言，证明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１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是右线性语言(书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P74~)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2535" name="Text Box 6"/>
          <p:cNvSpPr txBox="1">
            <a:spLocks noChangeArrowheads="1"/>
          </p:cNvSpPr>
          <p:nvPr/>
        </p:nvSpPr>
        <p:spPr bwMode="auto">
          <a:xfrm>
            <a:off x="457200" y="1905000"/>
            <a:ext cx="77724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tx2"/>
                </a:solidFill>
                <a:latin typeface="Arial" panose="020B0604020202020204" pitchFamily="34" charset="0"/>
              </a:rPr>
              <a:t>构造</a:t>
            </a:r>
            <a:r>
              <a:rPr lang="en-US" altLang="zh-CN" sz="2000">
                <a:solidFill>
                  <a:schemeClr val="tx2"/>
                </a:solidFill>
                <a:latin typeface="Arial" panose="020B0604020202020204" pitchFamily="34" charset="0"/>
              </a:rPr>
              <a:t>NFA M＝(Q</a:t>
            </a:r>
            <a:r>
              <a:rPr lang="en-US" altLang="zh-CN" sz="2000" baseline="-300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chemeClr val="tx2"/>
                </a:solidFill>
                <a:latin typeface="Arial" panose="020B0604020202020204" pitchFamily="34" charset="0"/>
              </a:rPr>
              <a:t>，T ，δ，q</a:t>
            </a:r>
            <a:r>
              <a:rPr lang="en-US" altLang="zh-CN" sz="2000" baseline="-3000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000">
                <a:solidFill>
                  <a:schemeClr val="tx2"/>
                </a:solidFill>
                <a:latin typeface="Arial" panose="020B0604020202020204" pitchFamily="34" charset="0"/>
              </a:rPr>
              <a:t>，F),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Q = Q</a:t>
            </a:r>
            <a:r>
              <a:rPr lang="en-US" altLang="zh-CN" sz="2400" baseline="-30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∪｛q</a:t>
            </a:r>
            <a:r>
              <a:rPr lang="en-US" altLang="zh-CN" sz="2400" baseline="-30000">
                <a:solidFill>
                  <a:schemeClr val="tx2"/>
                </a:solidFill>
                <a:latin typeface="Arial" panose="020B0604020202020204" pitchFamily="34" charset="0"/>
              </a:rPr>
              <a:t>０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	 q</a:t>
            </a:r>
            <a:r>
              <a:rPr lang="en-US" altLang="zh-CN" sz="2400" baseline="-30000">
                <a:solidFill>
                  <a:schemeClr val="tx2"/>
                </a:solidFill>
                <a:latin typeface="Arial" panose="020B0604020202020204" pitchFamily="34" charset="0"/>
              </a:rPr>
              <a:t>０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是新的起始状态,	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F=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Ｆ</a:t>
            </a:r>
            <a:r>
              <a:rPr lang="zh-CN" altLang="en-US" sz="2400" baseline="-30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∪｛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400" baseline="-30000">
                <a:solidFill>
                  <a:schemeClr val="tx2"/>
                </a:solidFill>
                <a:latin typeface="Arial" panose="020B0604020202020204" pitchFamily="34" charset="0"/>
              </a:rPr>
              <a:t>０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400" baseline="-3000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１</a:t>
            </a:r>
            <a:r>
              <a:rPr lang="en-US" altLang="zh-CN" sz="2400" b="0" baseline="30000">
                <a:solidFill>
                  <a:srgbClr val="800080"/>
                </a:solidFill>
                <a:ea typeface="宋体" panose="02010600030101010101" pitchFamily="2" charset="-122"/>
              </a:rPr>
              <a:t>* </a:t>
            </a:r>
            <a:r>
              <a:rPr lang="en-US" altLang="zh-CN" sz="2400" baseline="30000">
                <a:solidFill>
                  <a:srgbClr val="80008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形如</a:t>
            </a:r>
            <a:r>
              <a:rPr lang="zh-CN" altLang="en-US" sz="240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               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11" y="3676971"/>
            <a:ext cx="5676190" cy="2571429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772019-45C1-4F95-9D50-9F13951EF897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312360-A231-4410-91BB-09765D03A29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1143000" y="6096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9222" name="Rectangle 4"/>
          <p:cNvSpPr>
            <a:spLocks noChangeArrowheads="1"/>
          </p:cNvSpPr>
          <p:nvPr/>
        </p:nvSpPr>
        <p:spPr bwMode="auto">
          <a:xfrm>
            <a:off x="457200" y="1409700"/>
            <a:ext cx="8458200" cy="544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 startAt="4"/>
            </a:pPr>
            <a:r>
              <a:rPr lang="zh-CN" altLang="en-US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设Ｌ</a:t>
            </a:r>
            <a:r>
              <a:rPr lang="zh-CN" altLang="en-US" sz="2400" baseline="-300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１</a:t>
            </a:r>
            <a:r>
              <a:rPr lang="zh-CN" altLang="en-US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是右线性语言，证明 </a:t>
            </a:r>
            <a:r>
              <a:rPr lang="en-US" altLang="zh-CN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aseline="-250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１ </a:t>
            </a:r>
            <a:r>
              <a:rPr lang="zh-CN" altLang="en-US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是右线性语言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cs typeface="Times New Roman" panose="02020603050405020304" pitchFamily="18" charset="0"/>
              </a:rPr>
              <a:t>证明：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构造接受Ｌ</a:t>
            </a:r>
            <a:r>
              <a:rPr lang="zh-CN" altLang="en-US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M＝(Q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，T ，δ， q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， F)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其中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Q = Q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∪｛γ｝    γ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是一个新状态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           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           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  q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 =q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 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        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Ｆ＝(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Q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－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Ｆ</a:t>
            </a:r>
            <a:r>
              <a:rPr lang="zh-CN" altLang="en-US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) ∪｛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γ｝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             (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即将Ｍ</a:t>
            </a:r>
            <a:r>
              <a:rPr lang="zh-CN" altLang="en-US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的终止状态变为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M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的非终止状态)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定义为: 当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a∈T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 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则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δ(q，a)= δ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(q，a) — 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保留原有函数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		      当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a∈T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 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且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δ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(q，a)=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  <a:sym typeface="Euclid Symbol" panose="05050102010706020507" pitchFamily="18" charset="2"/>
              </a:rPr>
              <a:t> 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则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δ(q，a)= γ</a:t>
            </a:r>
            <a:endParaRPr lang="zh-CN" altLang="en-US" sz="240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		      当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a∈T－T</a:t>
            </a:r>
            <a:r>
              <a:rPr lang="en-US" altLang="zh-CN" sz="2400" baseline="-30000">
                <a:solidFill>
                  <a:schemeClr val="tx2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则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δ(q，a)=γ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			— </a:t>
            </a: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遇到原来没有的字符全转至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γ.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		对任意</a:t>
            </a:r>
            <a:r>
              <a:rPr lang="en-US" altLang="zh-CN" sz="2400">
                <a:solidFill>
                  <a:schemeClr val="tx2"/>
                </a:solidFill>
                <a:cs typeface="Times New Roman" panose="02020603050405020304" pitchFamily="18" charset="0"/>
              </a:rPr>
              <a:t>a∈T， δ(γ，a)＝γ </a:t>
            </a:r>
            <a:r>
              <a:rPr lang="zh-CN" altLang="en-US" sz="240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4648200" y="14478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Line 6"/>
          <p:cNvSpPr>
            <a:spLocks noChangeShapeType="1"/>
          </p:cNvSpPr>
          <p:nvPr/>
        </p:nvSpPr>
        <p:spPr bwMode="auto">
          <a:xfrm>
            <a:off x="2754313" y="1916113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9FF1B0-D022-45FC-B3CE-FCCEC99DF4B5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E26439-E73F-48A1-BDAB-0E4522CE50F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1143000" y="6096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457200" y="1409700"/>
            <a:ext cx="8458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例: (书</a:t>
            </a:r>
            <a:r>
              <a:rPr lang="en-US" altLang="zh-CN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P75)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Ｔ＝｛ａ，ｂ，ｃ｝</a:t>
            </a:r>
            <a:endParaRPr lang="zh-CN" altLang="en-US" sz="2400" dirty="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对下图的Ｍ</a:t>
            </a:r>
            <a:r>
              <a:rPr lang="zh-CN" altLang="en-US" sz="2400" baseline="-3000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,求Ｌ(Ｍ</a:t>
            </a:r>
            <a:r>
              <a:rPr lang="zh-CN" altLang="en-US" sz="240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24584" name="Line 7"/>
          <p:cNvSpPr>
            <a:spLocks noChangeShapeType="1"/>
          </p:cNvSpPr>
          <p:nvPr/>
        </p:nvSpPr>
        <p:spPr bwMode="auto">
          <a:xfrm>
            <a:off x="2743200" y="2057400"/>
            <a:ext cx="914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76" y="2433966"/>
            <a:ext cx="4417724" cy="375918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5" y="2900449"/>
            <a:ext cx="3728105" cy="290481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EFA850-A74B-48B7-93F1-8730AD8FB299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A48D10-049D-42D5-A506-85B95E6EFE6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1143000" y="6096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457200" y="1412776"/>
            <a:ext cx="84582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课堂练习: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DFA　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Ｍ</a:t>
            </a:r>
            <a:r>
              <a:rPr lang="zh-CN" altLang="en-US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＝（｛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zh-CN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０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,q</a:t>
            </a:r>
            <a:r>
              <a:rPr lang="en-US" altLang="zh-CN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４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｝,｛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ａ,ｂ｝,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δ</a:t>
            </a:r>
            <a:r>
              <a:rPr lang="en-US" altLang="zh-CN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１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，q</a:t>
            </a:r>
            <a:r>
              <a:rPr lang="en-US" altLang="zh-CN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０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,｛q</a:t>
            </a:r>
            <a:r>
              <a:rPr lang="en-US" altLang="zh-CN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３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,q</a:t>
            </a:r>
            <a:r>
              <a:rPr lang="en-US" altLang="zh-CN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４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｝）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对Ｔ＝｛ａ，ｂ，ｃ｝,  求Ｌ(Ｍ</a:t>
            </a:r>
            <a:r>
              <a:rPr lang="zh-CN" altLang="en-US" sz="2400" baseline="-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25607" name="Line 6"/>
          <p:cNvSpPr>
            <a:spLocks noChangeShapeType="1"/>
          </p:cNvSpPr>
          <p:nvPr/>
        </p:nvSpPr>
        <p:spPr bwMode="auto">
          <a:xfrm>
            <a:off x="4211638" y="2420938"/>
            <a:ext cx="914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755576" y="3158077"/>
            <a:ext cx="3456384" cy="3007227"/>
            <a:chOff x="4932040" y="2719944"/>
            <a:chExt cx="3456384" cy="3007227"/>
          </a:xfrm>
        </p:grpSpPr>
        <p:grpSp>
          <p:nvGrpSpPr>
            <p:cNvPr id="6" name="组合 5"/>
            <p:cNvGrpSpPr/>
            <p:nvPr/>
          </p:nvGrpSpPr>
          <p:grpSpPr>
            <a:xfrm>
              <a:off x="5332480" y="4032811"/>
              <a:ext cx="504057" cy="469434"/>
              <a:chOff x="6300191" y="3968752"/>
              <a:chExt cx="504057" cy="469434"/>
            </a:xfrm>
          </p:grpSpPr>
          <p:sp>
            <p:nvSpPr>
              <p:cNvPr id="2" name="椭圆 1"/>
              <p:cNvSpPr/>
              <p:nvPr/>
            </p:nvSpPr>
            <p:spPr bwMode="auto">
              <a:xfrm>
                <a:off x="6300191" y="3968752"/>
                <a:ext cx="504057" cy="46943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6344470" y="3995772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q</a:t>
                </a:r>
                <a:r>
                  <a:rPr lang="en-US" altLang="zh-CN" b="1" baseline="-25000" dirty="0">
                    <a:solidFill>
                      <a:srgbClr val="003399"/>
                    </a:solidFill>
                  </a:rPr>
                  <a:t>0</a:t>
                </a:r>
                <a:endParaRPr lang="zh-CN" altLang="en-US" b="1" baseline="-25000" dirty="0">
                  <a:solidFill>
                    <a:srgbClr val="003399"/>
                  </a:solidFill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179594" y="3247598"/>
              <a:ext cx="504057" cy="469434"/>
              <a:chOff x="6300191" y="3968752"/>
              <a:chExt cx="504057" cy="469434"/>
            </a:xfrm>
          </p:grpSpPr>
          <p:sp>
            <p:nvSpPr>
              <p:cNvPr id="18" name="椭圆 17"/>
              <p:cNvSpPr/>
              <p:nvPr/>
            </p:nvSpPr>
            <p:spPr bwMode="auto">
              <a:xfrm>
                <a:off x="6300191" y="3968752"/>
                <a:ext cx="504057" cy="46943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6344470" y="3995772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q</a:t>
                </a:r>
                <a:r>
                  <a:rPr lang="en-US" altLang="zh-CN" b="1" baseline="-25000" dirty="0">
                    <a:solidFill>
                      <a:srgbClr val="003399"/>
                    </a:solidFill>
                  </a:rPr>
                  <a:t>1</a:t>
                </a:r>
                <a:endParaRPr lang="zh-CN" altLang="en-US" b="1" baseline="-25000" dirty="0">
                  <a:solidFill>
                    <a:srgbClr val="003399"/>
                  </a:solidFill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7596336" y="3068960"/>
              <a:ext cx="648074" cy="629250"/>
              <a:chOff x="8028382" y="4382430"/>
              <a:chExt cx="648074" cy="629250"/>
            </a:xfrm>
          </p:grpSpPr>
          <p:sp>
            <p:nvSpPr>
              <p:cNvPr id="8" name="椭圆 7"/>
              <p:cNvSpPr/>
              <p:nvPr/>
            </p:nvSpPr>
            <p:spPr bwMode="auto">
              <a:xfrm>
                <a:off x="8028382" y="4382430"/>
                <a:ext cx="648074" cy="62925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8100391" y="4429159"/>
                <a:ext cx="512773" cy="509720"/>
                <a:chOff x="8100391" y="4429159"/>
                <a:chExt cx="512773" cy="509720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>
                  <a:off x="8100391" y="4429159"/>
                  <a:ext cx="512773" cy="509720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8172399" y="4488785"/>
                  <a:ext cx="39659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3399"/>
                      </a:solidFill>
                    </a:rPr>
                    <a:t>q</a:t>
                  </a:r>
                  <a:r>
                    <a:rPr lang="en-US" altLang="zh-CN" b="1" baseline="-25000" dirty="0">
                      <a:solidFill>
                        <a:srgbClr val="003399"/>
                      </a:solidFill>
                    </a:rPr>
                    <a:t>3</a:t>
                  </a:r>
                  <a:endParaRPr lang="zh-CN" altLang="en-US" b="1" baseline="-25000" dirty="0">
                    <a:solidFill>
                      <a:srgbClr val="003399"/>
                    </a:solidFill>
                  </a:endParaRPr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6228183" y="4687758"/>
              <a:ext cx="504057" cy="469434"/>
              <a:chOff x="6300191" y="3968752"/>
              <a:chExt cx="504057" cy="469434"/>
            </a:xfrm>
          </p:grpSpPr>
          <p:sp>
            <p:nvSpPr>
              <p:cNvPr id="27" name="椭圆 26"/>
              <p:cNvSpPr/>
              <p:nvPr/>
            </p:nvSpPr>
            <p:spPr bwMode="auto">
              <a:xfrm>
                <a:off x="6300191" y="3968752"/>
                <a:ext cx="504057" cy="46943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344470" y="3995772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q</a:t>
                </a:r>
                <a:r>
                  <a:rPr lang="en-US" altLang="zh-CN" b="1" baseline="-25000" dirty="0">
                    <a:solidFill>
                      <a:srgbClr val="003399"/>
                    </a:solidFill>
                  </a:rPr>
                  <a:t>2</a:t>
                </a:r>
                <a:endParaRPr lang="zh-CN" altLang="en-US" b="1" baseline="-25000" dirty="0">
                  <a:solidFill>
                    <a:srgbClr val="003399"/>
                  </a:solidFill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7740350" y="4509120"/>
              <a:ext cx="648074" cy="629250"/>
              <a:chOff x="8028382" y="4382430"/>
              <a:chExt cx="648074" cy="629250"/>
            </a:xfrm>
          </p:grpSpPr>
          <p:sp>
            <p:nvSpPr>
              <p:cNvPr id="43" name="椭圆 42"/>
              <p:cNvSpPr/>
              <p:nvPr/>
            </p:nvSpPr>
            <p:spPr bwMode="auto">
              <a:xfrm>
                <a:off x="8028382" y="4382430"/>
                <a:ext cx="648074" cy="62925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4" name="组合 43"/>
              <p:cNvGrpSpPr/>
              <p:nvPr/>
            </p:nvGrpSpPr>
            <p:grpSpPr>
              <a:xfrm>
                <a:off x="8100391" y="4429159"/>
                <a:ext cx="512773" cy="509720"/>
                <a:chOff x="8100391" y="4429159"/>
                <a:chExt cx="512773" cy="509720"/>
              </a:xfrm>
            </p:grpSpPr>
            <p:sp>
              <p:nvSpPr>
                <p:cNvPr id="45" name="椭圆 44"/>
                <p:cNvSpPr/>
                <p:nvPr/>
              </p:nvSpPr>
              <p:spPr bwMode="auto">
                <a:xfrm>
                  <a:off x="8100391" y="4429159"/>
                  <a:ext cx="512773" cy="509720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8172399" y="4488785"/>
                  <a:ext cx="39659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3399"/>
                      </a:solidFill>
                    </a:rPr>
                    <a:t>q</a:t>
                  </a:r>
                  <a:r>
                    <a:rPr lang="en-US" altLang="zh-CN" b="1" baseline="-25000" dirty="0">
                      <a:solidFill>
                        <a:srgbClr val="003399"/>
                      </a:solidFill>
                    </a:rPr>
                    <a:t>4</a:t>
                  </a:r>
                  <a:endParaRPr lang="zh-CN" altLang="en-US" b="1" baseline="-25000" dirty="0">
                    <a:solidFill>
                      <a:srgbClr val="003399"/>
                    </a:solidFill>
                  </a:endParaRPr>
                </a:p>
              </p:txBody>
            </p:sp>
          </p:grpSp>
        </p:grpSp>
        <p:cxnSp>
          <p:nvCxnSpPr>
            <p:cNvPr id="29" name="直接箭头连接符 28"/>
            <p:cNvCxnSpPr>
              <a:endCxn id="2" idx="2"/>
            </p:cNvCxnSpPr>
            <p:nvPr/>
          </p:nvCxnSpPr>
          <p:spPr bwMode="auto">
            <a:xfrm>
              <a:off x="4932040" y="4244497"/>
              <a:ext cx="400440" cy="2303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 flipV="1">
              <a:off x="5636317" y="3596604"/>
              <a:ext cx="587556" cy="44232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>
              <a:stCxn id="2" idx="4"/>
              <a:endCxn id="27" idx="2"/>
            </p:cNvCxnSpPr>
            <p:nvPr/>
          </p:nvCxnSpPr>
          <p:spPr bwMode="auto">
            <a:xfrm>
              <a:off x="5584509" y="4502245"/>
              <a:ext cx="643674" cy="4202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>
              <a:stCxn id="18" idx="6"/>
            </p:cNvCxnSpPr>
            <p:nvPr/>
          </p:nvCxnSpPr>
          <p:spPr bwMode="auto">
            <a:xfrm>
              <a:off x="6683651" y="3482315"/>
              <a:ext cx="93634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>
              <a:stCxn id="27" idx="6"/>
            </p:cNvCxnSpPr>
            <p:nvPr/>
          </p:nvCxnSpPr>
          <p:spPr bwMode="auto">
            <a:xfrm>
              <a:off x="6732240" y="4922475"/>
              <a:ext cx="100811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弧形 57"/>
            <p:cNvSpPr/>
            <p:nvPr/>
          </p:nvSpPr>
          <p:spPr bwMode="auto">
            <a:xfrm>
              <a:off x="6444208" y="3039902"/>
              <a:ext cx="389850" cy="312569"/>
            </a:xfrm>
            <a:prstGeom prst="arc">
              <a:avLst>
                <a:gd name="adj1" fmla="val 10013597"/>
                <a:gd name="adj2" fmla="val 5593308"/>
              </a:avLst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弧形 59"/>
            <p:cNvSpPr/>
            <p:nvPr/>
          </p:nvSpPr>
          <p:spPr bwMode="auto">
            <a:xfrm>
              <a:off x="6379670" y="5157191"/>
              <a:ext cx="389850" cy="288033"/>
            </a:xfrm>
            <a:prstGeom prst="arc">
              <a:avLst>
                <a:gd name="adj1" fmla="val 16320338"/>
                <a:gd name="adj2" fmla="val 14348636"/>
              </a:avLst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461179" y="535783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3399"/>
                  </a:solidFill>
                </a:rPr>
                <a:t>a</a:t>
              </a:r>
              <a:endParaRPr lang="zh-CN" altLang="en-US" b="1" dirty="0">
                <a:solidFill>
                  <a:srgbClr val="003399"/>
                </a:solidFill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5653341" y="35446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3399"/>
                  </a:solidFill>
                </a:rPr>
                <a:t>a</a:t>
              </a:r>
              <a:endParaRPr lang="zh-CN" altLang="en-US" b="1" dirty="0">
                <a:solidFill>
                  <a:srgbClr val="003399"/>
                </a:solidFill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5663251" y="462517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3399"/>
                  </a:solidFill>
                </a:rPr>
                <a:t>b</a:t>
              </a:r>
              <a:endParaRPr lang="zh-CN" altLang="en-US" b="1" dirty="0">
                <a:solidFill>
                  <a:srgbClr val="003399"/>
                </a:solidFill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7049747" y="31116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3399"/>
                  </a:solidFill>
                </a:rPr>
                <a:t>a</a:t>
              </a:r>
              <a:endParaRPr lang="zh-CN" altLang="en-US" b="1" dirty="0">
                <a:solidFill>
                  <a:srgbClr val="003399"/>
                </a:solidFill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7071125" y="4880903"/>
              <a:ext cx="2573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3399"/>
                  </a:solidFill>
                </a:rPr>
                <a:t>b</a:t>
              </a:r>
              <a:endParaRPr lang="zh-CN" altLang="en-US" b="1" dirty="0">
                <a:solidFill>
                  <a:srgbClr val="003399"/>
                </a:solidFill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506172" y="27199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3399"/>
                  </a:solidFill>
                </a:rPr>
                <a:t>b</a:t>
              </a:r>
              <a:endParaRPr lang="zh-CN" altLang="en-US" b="1" dirty="0">
                <a:solidFill>
                  <a:srgbClr val="003399"/>
                </a:solidFill>
              </a:endParaRPr>
            </a:p>
          </p:txBody>
        </p:sp>
      </p:grpSp>
      <p:grpSp>
        <p:nvGrpSpPr>
          <p:cNvPr id="25629" name="组合 25628"/>
          <p:cNvGrpSpPr/>
          <p:nvPr/>
        </p:nvGrpSpPr>
        <p:grpSpPr>
          <a:xfrm>
            <a:off x="4973444" y="2948073"/>
            <a:ext cx="3921939" cy="3361247"/>
            <a:chOff x="4973444" y="2732049"/>
            <a:chExt cx="3921939" cy="3361247"/>
          </a:xfrm>
        </p:grpSpPr>
        <p:sp>
          <p:nvSpPr>
            <p:cNvPr id="90" name="弧形 89"/>
            <p:cNvSpPr/>
            <p:nvPr/>
          </p:nvSpPr>
          <p:spPr bwMode="auto">
            <a:xfrm>
              <a:off x="6650921" y="3171663"/>
              <a:ext cx="411949" cy="329345"/>
            </a:xfrm>
            <a:prstGeom prst="arc">
              <a:avLst>
                <a:gd name="adj1" fmla="val 9227816"/>
                <a:gd name="adj2" fmla="val 5593308"/>
              </a:avLst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28" name="组合 25627"/>
            <p:cNvGrpSpPr/>
            <p:nvPr/>
          </p:nvGrpSpPr>
          <p:grpSpPr>
            <a:xfrm>
              <a:off x="4973444" y="2732049"/>
              <a:ext cx="3921939" cy="3361247"/>
              <a:chOff x="5017735" y="2763830"/>
              <a:chExt cx="3877648" cy="3257458"/>
            </a:xfrm>
          </p:grpSpPr>
          <p:sp>
            <p:nvSpPr>
              <p:cNvPr id="98" name="椭圆 97"/>
              <p:cNvSpPr/>
              <p:nvPr/>
            </p:nvSpPr>
            <p:spPr bwMode="auto">
              <a:xfrm>
                <a:off x="5433827" y="4154602"/>
                <a:ext cx="672481" cy="576148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 bwMode="auto">
              <a:xfrm>
                <a:off x="6312180" y="3362514"/>
                <a:ext cx="643262" cy="606237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 bwMode="auto">
              <a:xfrm>
                <a:off x="6363145" y="4789235"/>
                <a:ext cx="677078" cy="64255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0" name="组合 79"/>
              <p:cNvGrpSpPr/>
              <p:nvPr/>
            </p:nvGrpSpPr>
            <p:grpSpPr>
              <a:xfrm>
                <a:off x="5494092" y="4208948"/>
                <a:ext cx="526615" cy="479356"/>
                <a:chOff x="6300192" y="3968753"/>
                <a:chExt cx="504057" cy="469434"/>
              </a:xfrm>
            </p:grpSpPr>
            <p:sp>
              <p:nvSpPr>
                <p:cNvPr id="110" name="椭圆 109"/>
                <p:cNvSpPr/>
                <p:nvPr/>
              </p:nvSpPr>
              <p:spPr bwMode="auto">
                <a:xfrm>
                  <a:off x="6300192" y="3968753"/>
                  <a:ext cx="504057" cy="46943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文本框 110"/>
                <p:cNvSpPr txBox="1"/>
                <p:nvPr/>
              </p:nvSpPr>
              <p:spPr>
                <a:xfrm>
                  <a:off x="6344470" y="3995772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3399"/>
                      </a:solidFill>
                    </a:rPr>
                    <a:t>q</a:t>
                  </a:r>
                  <a:r>
                    <a:rPr lang="en-US" altLang="zh-CN" b="1" baseline="-25000" dirty="0">
                      <a:solidFill>
                        <a:srgbClr val="003399"/>
                      </a:solidFill>
                    </a:rPr>
                    <a:t>0</a:t>
                  </a:r>
                  <a:endParaRPr lang="zh-CN" altLang="en-US" b="1" baseline="-25000" dirty="0">
                    <a:solidFill>
                      <a:srgbClr val="003399"/>
                    </a:solidFill>
                  </a:endParaRPr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379116" y="3407138"/>
                <a:ext cx="526615" cy="479356"/>
                <a:chOff x="6300191" y="3968752"/>
                <a:chExt cx="504057" cy="469434"/>
              </a:xfrm>
            </p:grpSpPr>
            <p:sp>
              <p:nvSpPr>
                <p:cNvPr id="108" name="椭圆 107"/>
                <p:cNvSpPr/>
                <p:nvPr/>
              </p:nvSpPr>
              <p:spPr bwMode="auto">
                <a:xfrm>
                  <a:off x="6300191" y="3968752"/>
                  <a:ext cx="504057" cy="46943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9" name="文本框 108"/>
                <p:cNvSpPr txBox="1"/>
                <p:nvPr/>
              </p:nvSpPr>
              <p:spPr>
                <a:xfrm>
                  <a:off x="6344470" y="3995772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3399"/>
                      </a:solidFill>
                    </a:rPr>
                    <a:t>q</a:t>
                  </a:r>
                  <a:r>
                    <a:rPr lang="en-US" altLang="zh-CN" b="1" baseline="-25000" dirty="0">
                      <a:solidFill>
                        <a:srgbClr val="003399"/>
                      </a:solidFill>
                    </a:rPr>
                    <a:t>1</a:t>
                  </a:r>
                  <a:endParaRPr lang="zh-CN" altLang="en-US" b="1" baseline="-25000" dirty="0">
                    <a:solidFill>
                      <a:srgbClr val="003399"/>
                    </a:solidFill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7884368" y="3356992"/>
                <a:ext cx="535722" cy="520494"/>
                <a:chOff x="8100391" y="4429159"/>
                <a:chExt cx="512773" cy="509720"/>
              </a:xfrm>
            </p:grpSpPr>
            <p:sp>
              <p:nvSpPr>
                <p:cNvPr id="106" name="椭圆 105"/>
                <p:cNvSpPr/>
                <p:nvPr/>
              </p:nvSpPr>
              <p:spPr bwMode="auto">
                <a:xfrm>
                  <a:off x="8100391" y="4429159"/>
                  <a:ext cx="512773" cy="509720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7" name="文本框 106"/>
                <p:cNvSpPr txBox="1"/>
                <p:nvPr/>
              </p:nvSpPr>
              <p:spPr>
                <a:xfrm>
                  <a:off x="8172399" y="4488785"/>
                  <a:ext cx="39659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3399"/>
                      </a:solidFill>
                    </a:rPr>
                    <a:t>q</a:t>
                  </a:r>
                  <a:r>
                    <a:rPr lang="en-US" altLang="zh-CN" b="1" baseline="-25000" dirty="0">
                      <a:solidFill>
                        <a:srgbClr val="003399"/>
                      </a:solidFill>
                    </a:rPr>
                    <a:t>3</a:t>
                  </a:r>
                  <a:endParaRPr lang="zh-CN" altLang="en-US" b="1" baseline="-25000" dirty="0">
                    <a:solidFill>
                      <a:srgbClr val="003399"/>
                    </a:solidFill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6429880" y="4877737"/>
                <a:ext cx="526615" cy="479356"/>
                <a:chOff x="6300191" y="3968752"/>
                <a:chExt cx="504057" cy="469434"/>
              </a:xfrm>
            </p:grpSpPr>
            <p:sp>
              <p:nvSpPr>
                <p:cNvPr id="102" name="椭圆 101"/>
                <p:cNvSpPr/>
                <p:nvPr/>
              </p:nvSpPr>
              <p:spPr bwMode="auto">
                <a:xfrm>
                  <a:off x="6300191" y="3968752"/>
                  <a:ext cx="504057" cy="46943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" name="文本框 102"/>
                <p:cNvSpPr txBox="1"/>
                <p:nvPr/>
              </p:nvSpPr>
              <p:spPr>
                <a:xfrm>
                  <a:off x="6344470" y="3995772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3399"/>
                      </a:solidFill>
                    </a:rPr>
                    <a:t>q</a:t>
                  </a:r>
                  <a:r>
                    <a:rPr lang="en-US" altLang="zh-CN" b="1" baseline="-25000" dirty="0">
                      <a:solidFill>
                        <a:srgbClr val="003399"/>
                      </a:solidFill>
                    </a:rPr>
                    <a:t>2</a:t>
                  </a:r>
                  <a:endParaRPr lang="zh-CN" altLang="en-US" b="1" baseline="-25000" dirty="0">
                    <a:solidFill>
                      <a:srgbClr val="003399"/>
                    </a:solidFill>
                  </a:endParaRPr>
                </a:p>
              </p:txBody>
            </p:sp>
          </p:grpSp>
          <p:sp>
            <p:nvSpPr>
              <p:cNvPr id="100" name="椭圆 99"/>
              <p:cNvSpPr/>
              <p:nvPr/>
            </p:nvSpPr>
            <p:spPr bwMode="auto">
              <a:xfrm>
                <a:off x="8172400" y="4852722"/>
                <a:ext cx="535722" cy="52049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8190108" y="4852061"/>
                <a:ext cx="414340" cy="377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q</a:t>
                </a:r>
                <a:r>
                  <a:rPr lang="en-US" altLang="zh-CN" b="1" baseline="-25000" dirty="0">
                    <a:solidFill>
                      <a:srgbClr val="003399"/>
                    </a:solidFill>
                  </a:rPr>
                  <a:t>4</a:t>
                </a:r>
                <a:endParaRPr lang="zh-CN" altLang="en-US" b="1" baseline="-25000" dirty="0">
                  <a:solidFill>
                    <a:srgbClr val="003399"/>
                  </a:solidFill>
                </a:endParaRPr>
              </a:p>
            </p:txBody>
          </p:sp>
          <p:cxnSp>
            <p:nvCxnSpPr>
              <p:cNvPr id="85" name="直接箭头连接符 84"/>
              <p:cNvCxnSpPr/>
              <p:nvPr/>
            </p:nvCxnSpPr>
            <p:spPr bwMode="auto">
              <a:xfrm>
                <a:off x="5017735" y="4425108"/>
                <a:ext cx="418361" cy="23518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6" name="直接箭头连接符 85"/>
              <p:cNvCxnSpPr/>
              <p:nvPr/>
            </p:nvCxnSpPr>
            <p:spPr bwMode="auto">
              <a:xfrm flipV="1">
                <a:off x="5796136" y="3789040"/>
                <a:ext cx="542112" cy="34605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7" name="直接箭头连接符 86"/>
              <p:cNvCxnSpPr>
                <a:stCxn id="98" idx="4"/>
                <a:endCxn id="119" idx="2"/>
              </p:cNvCxnSpPr>
              <p:nvPr/>
            </p:nvCxnSpPr>
            <p:spPr bwMode="auto">
              <a:xfrm>
                <a:off x="5770068" y="4730750"/>
                <a:ext cx="593077" cy="37976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8" name="直接箭头连接符 87"/>
              <p:cNvCxnSpPr>
                <a:stCxn id="118" idx="6"/>
              </p:cNvCxnSpPr>
              <p:nvPr/>
            </p:nvCxnSpPr>
            <p:spPr bwMode="auto">
              <a:xfrm flipV="1">
                <a:off x="6955442" y="3646817"/>
                <a:ext cx="928544" cy="18816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9" name="直接箭头连接符 88"/>
              <p:cNvCxnSpPr/>
              <p:nvPr/>
            </p:nvCxnSpPr>
            <p:spPr bwMode="auto">
              <a:xfrm>
                <a:off x="7092280" y="5117415"/>
                <a:ext cx="1053226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91" name="弧形 90"/>
              <p:cNvSpPr/>
              <p:nvPr/>
            </p:nvSpPr>
            <p:spPr bwMode="auto">
              <a:xfrm>
                <a:off x="6628853" y="5434855"/>
                <a:ext cx="407297" cy="294121"/>
              </a:xfrm>
              <a:prstGeom prst="arc">
                <a:avLst>
                  <a:gd name="adj1" fmla="val 16320338"/>
                  <a:gd name="adj2" fmla="val 14348636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6675746" y="5644150"/>
                <a:ext cx="313512" cy="377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a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5829312" y="3710466"/>
                <a:ext cx="313512" cy="377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a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5839665" y="4813830"/>
                <a:ext cx="326910" cy="377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b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7288212" y="3268298"/>
                <a:ext cx="313512" cy="377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a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7310546" y="5074964"/>
                <a:ext cx="268842" cy="377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b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6720310" y="2763830"/>
                <a:ext cx="326910" cy="377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b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grpSp>
            <p:nvGrpSpPr>
              <p:cNvPr id="112" name="组合 111"/>
              <p:cNvGrpSpPr/>
              <p:nvPr/>
            </p:nvGrpSpPr>
            <p:grpSpPr>
              <a:xfrm>
                <a:off x="7140064" y="4067789"/>
                <a:ext cx="677078" cy="642550"/>
                <a:chOff x="8028382" y="4382430"/>
                <a:chExt cx="648074" cy="629250"/>
              </a:xfrm>
            </p:grpSpPr>
            <p:sp>
              <p:nvSpPr>
                <p:cNvPr id="113" name="椭圆 112"/>
                <p:cNvSpPr/>
                <p:nvPr/>
              </p:nvSpPr>
              <p:spPr bwMode="auto">
                <a:xfrm>
                  <a:off x="8028382" y="4382430"/>
                  <a:ext cx="648074" cy="629250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None/>
                  </a:pPr>
                  <a:endParaRPr kumimoji="1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9999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14" name="组合 113"/>
                <p:cNvGrpSpPr/>
                <p:nvPr/>
              </p:nvGrpSpPr>
              <p:grpSpPr>
                <a:xfrm>
                  <a:off x="8100391" y="4429159"/>
                  <a:ext cx="512773" cy="509720"/>
                  <a:chOff x="8100391" y="4429159"/>
                  <a:chExt cx="512773" cy="509720"/>
                </a:xfrm>
              </p:grpSpPr>
              <p:sp>
                <p:nvSpPr>
                  <p:cNvPr id="115" name="椭圆 114"/>
                  <p:cNvSpPr/>
                  <p:nvPr/>
                </p:nvSpPr>
                <p:spPr bwMode="auto">
                  <a:xfrm>
                    <a:off x="8100391" y="4429159"/>
                    <a:ext cx="512773" cy="50972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r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None/>
                    </a:pPr>
                    <a:endParaRPr kumimoji="1" lang="zh-CN" alt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09999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6" name="文本框 115"/>
                  <p:cNvSpPr txBox="1"/>
                  <p:nvPr/>
                </p:nvSpPr>
                <p:spPr>
                  <a:xfrm>
                    <a:off x="8172399" y="4488785"/>
                    <a:ext cx="39659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003399"/>
                        </a:solidFill>
                      </a:rPr>
                      <a:t>q</a:t>
                    </a:r>
                    <a:endParaRPr lang="zh-CN" altLang="en-US" b="1" baseline="-25000" dirty="0">
                      <a:solidFill>
                        <a:srgbClr val="003399"/>
                      </a:solidFill>
                    </a:endParaRPr>
                  </a:p>
                </p:txBody>
              </p:sp>
            </p:grpSp>
          </p:grpSp>
          <p:cxnSp>
            <p:nvCxnSpPr>
              <p:cNvPr id="125" name="直接箭头连接符 124"/>
              <p:cNvCxnSpPr>
                <a:stCxn id="98" idx="6"/>
                <a:endCxn id="113" idx="2"/>
              </p:cNvCxnSpPr>
              <p:nvPr/>
            </p:nvCxnSpPr>
            <p:spPr bwMode="auto">
              <a:xfrm flipV="1">
                <a:off x="6106308" y="4389064"/>
                <a:ext cx="1033756" cy="53612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32" name="文本框 131"/>
              <p:cNvSpPr txBox="1"/>
              <p:nvPr/>
            </p:nvSpPr>
            <p:spPr>
              <a:xfrm>
                <a:off x="6372014" y="403225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c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 flipH="1">
                <a:off x="6843937" y="4456445"/>
                <a:ext cx="371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c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6993253" y="3690262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3399"/>
                    </a:solidFill>
                  </a:rPr>
                  <a:t>c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cxnSp>
            <p:nvCxnSpPr>
              <p:cNvPr id="135" name="直接箭头连接符 134"/>
              <p:cNvCxnSpPr>
                <a:endCxn id="113" idx="1"/>
              </p:cNvCxnSpPr>
              <p:nvPr/>
            </p:nvCxnSpPr>
            <p:spPr bwMode="auto">
              <a:xfrm>
                <a:off x="6853689" y="3886494"/>
                <a:ext cx="385531" cy="275394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6" name="直接箭头连接符 135"/>
              <p:cNvCxnSpPr>
                <a:stCxn id="119" idx="7"/>
                <a:endCxn id="113" idx="3"/>
              </p:cNvCxnSpPr>
              <p:nvPr/>
            </p:nvCxnSpPr>
            <p:spPr bwMode="auto">
              <a:xfrm flipV="1">
                <a:off x="6941067" y="4616240"/>
                <a:ext cx="298153" cy="267094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8" name="直接箭头连接符 137"/>
              <p:cNvCxnSpPr>
                <a:stCxn id="106" idx="4"/>
                <a:endCxn id="113" idx="7"/>
              </p:cNvCxnSpPr>
              <p:nvPr/>
            </p:nvCxnSpPr>
            <p:spPr bwMode="auto">
              <a:xfrm flipH="1">
                <a:off x="7717986" y="3877486"/>
                <a:ext cx="434243" cy="284402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9" name="直接箭头连接符 138"/>
              <p:cNvCxnSpPr>
                <a:stCxn id="101" idx="0"/>
                <a:endCxn id="113" idx="5"/>
              </p:cNvCxnSpPr>
              <p:nvPr/>
            </p:nvCxnSpPr>
            <p:spPr bwMode="auto">
              <a:xfrm flipH="1" flipV="1">
                <a:off x="7717986" y="4616240"/>
                <a:ext cx="679292" cy="235821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7" name="文本框 146"/>
              <p:cNvSpPr txBox="1"/>
              <p:nvPr/>
            </p:nvSpPr>
            <p:spPr>
              <a:xfrm>
                <a:off x="7524858" y="4594134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err="1">
                    <a:solidFill>
                      <a:srgbClr val="003399"/>
                    </a:solidFill>
                  </a:rPr>
                  <a:t>a,b,c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148" name="文本框 147"/>
              <p:cNvSpPr txBox="1"/>
              <p:nvPr/>
            </p:nvSpPr>
            <p:spPr>
              <a:xfrm>
                <a:off x="7431518" y="3733103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err="1">
                    <a:solidFill>
                      <a:srgbClr val="003399"/>
                    </a:solidFill>
                  </a:rPr>
                  <a:t>a,b,c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149" name="文本框 148"/>
              <p:cNvSpPr txBox="1"/>
              <p:nvPr/>
            </p:nvSpPr>
            <p:spPr>
              <a:xfrm>
                <a:off x="8249052" y="4088367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err="1">
                    <a:solidFill>
                      <a:srgbClr val="003399"/>
                    </a:solidFill>
                  </a:rPr>
                  <a:t>a,b,c</a:t>
                </a:r>
                <a:endParaRPr lang="zh-CN" altLang="en-US" b="1" dirty="0">
                  <a:solidFill>
                    <a:srgbClr val="003399"/>
                  </a:solidFill>
                </a:endParaRPr>
              </a:p>
            </p:txBody>
          </p:sp>
          <p:sp>
            <p:nvSpPr>
              <p:cNvPr id="25627" name="弧形 25626"/>
              <p:cNvSpPr/>
              <p:nvPr/>
            </p:nvSpPr>
            <p:spPr bwMode="auto">
              <a:xfrm>
                <a:off x="7832030" y="4182354"/>
                <a:ext cx="484386" cy="369332"/>
              </a:xfrm>
              <a:prstGeom prst="arc">
                <a:avLst>
                  <a:gd name="adj1" fmla="val 10732216"/>
                  <a:gd name="adj2" fmla="val 10478387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021952-A661-458A-8B82-2353656B617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57B7F7-A831-45CE-A4FE-759EAFCDC55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1143000" y="6096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右线性语言的封闭性 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457200" y="1409700"/>
            <a:ext cx="8458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defTabSz="8763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defTabSz="8763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defTabSz="8763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defTabSz="8763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defTabSz="8763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defTabSz="8763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defTabSz="8763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defTabSz="8763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defTabSz="8763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 startAt="5"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证明Ｌ</a:t>
            </a:r>
            <a:r>
              <a:rPr lang="zh-CN" altLang="en-US" sz="2400" baseline="-30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∩Ｌ</a:t>
            </a:r>
            <a:r>
              <a:rPr lang="zh-CN" altLang="en-US" sz="2400" baseline="-30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２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是封闭的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证明：</a:t>
            </a:r>
          </a:p>
          <a:p>
            <a:pPr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∵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Ｌ</a:t>
            </a:r>
            <a:r>
              <a:rPr lang="zh-CN" altLang="en-US" sz="2400" baseline="-3000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∩Ｌ</a:t>
            </a:r>
            <a:r>
              <a:rPr lang="zh-CN" altLang="en-US" sz="2400" baseline="-30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２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＝Ｌ</a:t>
            </a:r>
            <a:r>
              <a:rPr lang="zh-CN" altLang="en-US" sz="2400" baseline="-3000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∪Ｌ</a:t>
            </a:r>
            <a:r>
              <a:rPr lang="zh-CN" altLang="en-US" sz="2400" baseline="-30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２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400" baseline="-300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∴ 得证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6. 证明右线性语言对于置换是封闭的.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(略 -- 自学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80008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auto">
          <a:xfrm>
            <a:off x="2438400" y="26670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Line 7"/>
          <p:cNvSpPr>
            <a:spLocks noChangeShapeType="1"/>
          </p:cNvSpPr>
          <p:nvPr/>
        </p:nvSpPr>
        <p:spPr bwMode="auto">
          <a:xfrm>
            <a:off x="2362200" y="2438400"/>
            <a:ext cx="1066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>
            <a:off x="3124200" y="26670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11310-E86C-4657-A699-9FC91E480A95}" type="slidenum">
              <a:rPr lang="zh-CN" altLang="en-US" smtClean="0"/>
              <a:t>24</a:t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0A68781-F552-4640-9FEA-3654A26C2BC6}" type="datetime1">
              <a:rPr lang="zh-CN" altLang="en-US" smtClean="0"/>
              <a:t>2024/3/31</a:t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>
          <a:xfrm>
            <a:off x="1447800" y="6428184"/>
            <a:ext cx="64008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6418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针对下图中的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800" kern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 和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800" kern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其识别的语言分别为</a:t>
            </a:r>
            <a:r>
              <a:rPr lang="en-US" altLang="zh-CN" sz="2800" kern="0" dirty="0">
                <a:solidFill>
                  <a:srgbClr val="0070C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0070C0"/>
                </a:solidFill>
              </a:rPr>
              <a:t>1</a:t>
            </a:r>
            <a:r>
              <a:rPr lang="zh-CN" altLang="en-US" sz="2800" kern="0" dirty="0">
                <a:solidFill>
                  <a:srgbClr val="0070C0"/>
                </a:solidFill>
              </a:rPr>
              <a:t> </a:t>
            </a:r>
            <a:r>
              <a:rPr lang="zh-CN" altLang="en-US" sz="2800" kern="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800" kern="0" dirty="0">
                <a:solidFill>
                  <a:srgbClr val="0070C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0070C0"/>
                </a:solidFill>
              </a:rPr>
              <a:t>2</a:t>
            </a:r>
            <a:r>
              <a:rPr lang="en-US" altLang="zh-CN" sz="2800" kern="0" dirty="0">
                <a:solidFill>
                  <a:srgbClr val="0070C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，做如图的改变。则新的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N'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所识别的语言是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?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     </a:t>
            </a:r>
            <a:endParaRPr lang="en-US" altLang="zh-CN" sz="2800" kern="0" dirty="0">
              <a:solidFill>
                <a:srgbClr val="3366CC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242088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endParaRPr lang="en-US" altLang="zh-CN" sz="2400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327813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13538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r>
              <a:rPr lang="zh-CN" altLang="en-US" sz="2400" kern="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828800" y="499263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</a:rPr>
              <a:t>(R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r>
              <a:rPr lang="en-US" altLang="zh-CN" sz="2400" kern="0" dirty="0">
                <a:solidFill>
                  <a:schemeClr val="tx1"/>
                </a:solidFill>
              </a:rPr>
              <a:t>)∩(R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r>
              <a:rPr lang="en-US" altLang="zh-CN" sz="2400" kern="0" dirty="0">
                <a:solidFill>
                  <a:schemeClr val="tx1"/>
                </a:solidFill>
              </a:rPr>
              <a:t>)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48518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34243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19968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05693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pic>
        <p:nvPicPr>
          <p:cNvPr id="23" name="图片 22" descr="1.png"/>
          <p:cNvPicPr/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988840"/>
            <a:ext cx="3999033" cy="4171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11310-E86C-4657-A699-9FC91E480A95}" type="slidenum">
              <a:rPr lang="zh-CN" altLang="en-US" smtClean="0"/>
              <a:t>25</a:t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0A68781-F552-4640-9FEA-3654A26C2BC6}" type="datetime1">
              <a:rPr lang="zh-CN" altLang="en-US" smtClean="0"/>
              <a:t>2024/3/31</a:t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>
          <a:xfrm>
            <a:off x="1447800" y="6428184"/>
            <a:ext cx="64008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6418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针对下图中的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NFA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800" kern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 和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800" kern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其识别的语言分别为</a:t>
            </a:r>
            <a:r>
              <a:rPr lang="en-US" altLang="zh-CN" sz="2800" kern="0" dirty="0">
                <a:solidFill>
                  <a:srgbClr val="0070C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0070C0"/>
                </a:solidFill>
              </a:rPr>
              <a:t>1</a:t>
            </a:r>
            <a:r>
              <a:rPr lang="zh-CN" altLang="en-US" sz="2800" kern="0" dirty="0">
                <a:solidFill>
                  <a:srgbClr val="0070C0"/>
                </a:solidFill>
              </a:rPr>
              <a:t> </a:t>
            </a:r>
            <a:r>
              <a:rPr lang="zh-CN" altLang="en-US" sz="2800" kern="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800" kern="0" dirty="0">
                <a:solidFill>
                  <a:srgbClr val="0070C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0070C0"/>
                </a:solidFill>
              </a:rPr>
              <a:t>2</a:t>
            </a:r>
            <a:r>
              <a:rPr lang="en-US" altLang="zh-CN" sz="2800" kern="0" dirty="0">
                <a:solidFill>
                  <a:srgbClr val="0070C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，做如图的改变。则新的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N'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所识别的语言是</a:t>
            </a:r>
            <a:r>
              <a:rPr lang="en-US" altLang="zh-CN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?</a:t>
            </a:r>
            <a:r>
              <a:rPr lang="zh-CN" altLang="en-US" sz="2800" kern="0" dirty="0">
                <a:solidFill>
                  <a:srgbClr val="3366CC"/>
                </a:solidFill>
                <a:latin typeface="Arial" panose="020B0604020202020204" pitchFamily="34" charset="0"/>
              </a:rPr>
              <a:t>     </a:t>
            </a:r>
            <a:endParaRPr lang="en-US" altLang="zh-CN" sz="2800" kern="0" dirty="0">
              <a:solidFill>
                <a:srgbClr val="3366CC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242088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endParaRPr lang="en-US" altLang="zh-CN" sz="2400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327813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13538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r>
              <a:rPr lang="zh-CN" altLang="en-US" sz="2400" kern="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828800" y="499263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</a:rPr>
              <a:t>(R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∪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r>
              <a:rPr lang="en-US" altLang="zh-CN" sz="2400" kern="0" dirty="0">
                <a:solidFill>
                  <a:schemeClr val="tx1"/>
                </a:solidFill>
              </a:rPr>
              <a:t>)∩(R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 kern="0" dirty="0">
                <a:solidFill>
                  <a:schemeClr val="tx1"/>
                </a:solidFill>
              </a:rPr>
              <a:t>R</a:t>
            </a:r>
            <a:r>
              <a:rPr lang="en-US" altLang="zh-CN" sz="2400" kern="0" baseline="-25000" dirty="0">
                <a:solidFill>
                  <a:schemeClr val="tx1"/>
                </a:solidFill>
              </a:rPr>
              <a:t>2</a:t>
            </a:r>
            <a:r>
              <a:rPr lang="en-US" altLang="zh-CN" sz="2400" kern="0" dirty="0">
                <a:solidFill>
                  <a:schemeClr val="tx1"/>
                </a:solidFill>
              </a:rPr>
              <a:t>)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48518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34243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199681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05693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pic>
        <p:nvPicPr>
          <p:cNvPr id="23" name="图片 22" descr="1.png"/>
          <p:cNvPicPr/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988840"/>
            <a:ext cx="3999033" cy="4171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12931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D56C9D-6879-4EBE-A721-A0E4E54AC035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26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ED9500-DF4F-40BA-9B66-E637EF32321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1524000" y="381000"/>
            <a:ext cx="579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>
                <a:solidFill>
                  <a:srgbClr val="800080"/>
                </a:solidFill>
                <a:latin typeface="Copperplate Gothic Light" panose="020E0507020206020404" pitchFamily="34" charset="0"/>
                <a:ea typeface="华文行楷" panose="02010800040101010101" pitchFamily="2" charset="-122"/>
              </a:rPr>
              <a:t>有关正则语言的几个判定性质</a:t>
            </a: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40366" name="Rectangle 14"/>
          <p:cNvSpPr>
            <a:spLocks noChangeArrowheads="1"/>
          </p:cNvSpPr>
          <p:nvPr/>
        </p:nvSpPr>
        <p:spPr bwMode="auto">
          <a:xfrm>
            <a:off x="990600" y="22098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判定正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语言是否为空</a:t>
            </a:r>
          </a:p>
        </p:txBody>
      </p:sp>
      <p:sp>
        <p:nvSpPr>
          <p:cNvPr id="740367" name="Rectangle 15"/>
          <p:cNvSpPr>
            <a:spLocks noChangeArrowheads="1"/>
          </p:cNvSpPr>
          <p:nvPr/>
        </p:nvSpPr>
        <p:spPr bwMode="auto">
          <a:xfrm>
            <a:off x="990600" y="2978150"/>
            <a:ext cx="7326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判定正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语言中是否包含特定的字符串</a:t>
            </a:r>
          </a:p>
        </p:txBody>
      </p:sp>
      <p:sp>
        <p:nvSpPr>
          <p:cNvPr id="740368" name="Rectangle 16"/>
          <p:cNvSpPr>
            <a:spLocks noChangeArrowheads="1"/>
          </p:cNvSpPr>
          <p:nvPr/>
        </p:nvSpPr>
        <p:spPr bwMode="auto">
          <a:xfrm>
            <a:off x="990600" y="3740150"/>
            <a:ext cx="595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判定两个正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语言是否相等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4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4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6" grpId="0" autoUpdateAnimBg="0"/>
      <p:bldP spid="740367" grpId="0" autoUpdateAnimBg="0"/>
      <p:bldP spid="74036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231E4F-9D61-4F7A-964B-7774B3001E5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043A90-54B8-43A8-BDF4-5B82E52A7F9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43427" name="Rectangle 2051"/>
          <p:cNvSpPr>
            <a:spLocks noChangeArrowheads="1"/>
          </p:cNvSpPr>
          <p:nvPr/>
        </p:nvSpPr>
        <p:spPr bwMode="auto">
          <a:xfrm>
            <a:off x="1066800" y="4572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判定正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语言是否为空</a:t>
            </a:r>
          </a:p>
        </p:txBody>
      </p:sp>
      <p:sp>
        <p:nvSpPr>
          <p:cNvPr id="743436" name="Rectangle 2060"/>
          <p:cNvSpPr>
            <a:spLocks noChangeArrowheads="1"/>
          </p:cNvSpPr>
          <p:nvPr/>
        </p:nvSpPr>
        <p:spPr bwMode="auto">
          <a:xfrm>
            <a:off x="457200" y="2743200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　   可由如下步骤递归地计算可达状态集合：</a:t>
            </a:r>
            <a:endParaRPr lang="zh-CN" altLang="en-US" sz="2400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3437" name="Rectangle 2061"/>
          <p:cNvSpPr>
            <a:spLocks noChangeArrowheads="1"/>
          </p:cNvSpPr>
          <p:nvPr/>
        </p:nvSpPr>
        <p:spPr bwMode="auto">
          <a:xfrm>
            <a:off x="323850" y="1341438"/>
            <a:ext cx="8077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判定算法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测试从 初态是否可达某一终态. 先求所有可达状态的集合，若其中包含终态，则该正规语言非空，   否则为空语言。</a:t>
            </a:r>
          </a:p>
        </p:txBody>
      </p:sp>
      <p:sp>
        <p:nvSpPr>
          <p:cNvPr id="743438" name="Rectangle 2062"/>
          <p:cNvSpPr>
            <a:spLocks noChangeArrowheads="1"/>
          </p:cNvSpPr>
          <p:nvPr/>
        </p:nvSpPr>
        <p:spPr bwMode="auto">
          <a:xfrm>
            <a:off x="304800" y="4572000"/>
            <a:ext cx="8077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算法复杂度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设有限自动机的状态数目为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上述判定算法的复杂度为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O(n</a:t>
            </a:r>
            <a:r>
              <a:rPr lang="en-US" altLang="zh-CN" sz="2400" b="1" i="1" baseline="30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</a:p>
        </p:txBody>
      </p:sp>
      <p:sp>
        <p:nvSpPr>
          <p:cNvPr id="743439" name="Rectangle 2063"/>
          <p:cNvSpPr>
            <a:spLocks noChangeArrowheads="1"/>
          </p:cNvSpPr>
          <p:nvPr/>
        </p:nvSpPr>
        <p:spPr bwMode="auto">
          <a:xfrm>
            <a:off x="457200" y="3200400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　 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基础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：初态是可达的：</a:t>
            </a:r>
          </a:p>
        </p:txBody>
      </p:sp>
      <p:sp>
        <p:nvSpPr>
          <p:cNvPr id="743440" name="Rectangle 2064"/>
          <p:cNvSpPr>
            <a:spLocks noChangeArrowheads="1"/>
          </p:cNvSpPr>
          <p:nvPr/>
        </p:nvSpPr>
        <p:spPr bwMode="auto">
          <a:xfrm>
            <a:off x="457200" y="3657600"/>
            <a:ext cx="8001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　   </a:t>
            </a: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归纳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：设状态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是可达的，若对于某个输入符号或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     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可转移到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也是可达的：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4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4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4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4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4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27" grpId="0" autoUpdateAnimBg="0"/>
      <p:bldP spid="743436" grpId="0" autoUpdateAnimBg="0"/>
      <p:bldP spid="743437" grpId="0" autoUpdateAnimBg="0"/>
      <p:bldP spid="743438" grpId="0" autoUpdateAnimBg="0"/>
      <p:bldP spid="743439" grpId="0" autoUpdateAnimBg="0"/>
      <p:bldP spid="74344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602E9E-639F-4B73-8346-07A6112E8694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2BE892-0D3D-4370-B13F-20F2F13B1FB4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44452" name="Rectangle 4"/>
          <p:cNvSpPr>
            <a:spLocks noChangeArrowheads="1"/>
          </p:cNvSpPr>
          <p:nvPr/>
        </p:nvSpPr>
        <p:spPr bwMode="auto">
          <a:xfrm>
            <a:off x="1066800" y="533400"/>
            <a:ext cx="7008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判定正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语言中是否包含特定的字符串</a:t>
            </a:r>
          </a:p>
        </p:txBody>
      </p:sp>
      <p:sp>
        <p:nvSpPr>
          <p:cNvPr id="744459" name="Rectangle 11"/>
          <p:cNvSpPr>
            <a:spLocks noChangeArrowheads="1"/>
          </p:cNvSpPr>
          <p:nvPr/>
        </p:nvSpPr>
        <p:spPr bwMode="auto">
          <a:xfrm>
            <a:off x="304800" y="1828800"/>
            <a:ext cx="8077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判定算法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从初态开始，处理输入字符串 </a:t>
            </a:r>
            <a:r>
              <a:rPr lang="en-US" altLang="zh-CN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如果可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以结束于某一终态，则该正规语言中包含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否则不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包含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。</a:t>
            </a:r>
          </a:p>
        </p:txBody>
      </p:sp>
      <p:sp>
        <p:nvSpPr>
          <p:cNvPr id="744460" name="Rectangle 12"/>
          <p:cNvSpPr>
            <a:spLocks noChangeArrowheads="1"/>
          </p:cNvSpPr>
          <p:nvPr/>
        </p:nvSpPr>
        <p:spPr bwMode="auto">
          <a:xfrm>
            <a:off x="304800" y="2911475"/>
            <a:ext cx="8077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算法复杂度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设输入字符串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的长度 |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|=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上述判定算法的复杂度为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O(n)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</a:p>
        </p:txBody>
      </p:sp>
      <p:sp>
        <p:nvSpPr>
          <p:cNvPr id="744461" name="Rectangle 13"/>
          <p:cNvSpPr>
            <a:spLocks noChangeArrowheads="1"/>
          </p:cNvSpPr>
          <p:nvPr/>
        </p:nvSpPr>
        <p:spPr bwMode="auto">
          <a:xfrm>
            <a:off x="381000" y="1447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以 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DFA 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表示正规语言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4462" name="Rectangle 14"/>
          <p:cNvSpPr>
            <a:spLocks noChangeArrowheads="1"/>
          </p:cNvSpPr>
          <p:nvPr/>
        </p:nvSpPr>
        <p:spPr bwMode="auto">
          <a:xfrm>
            <a:off x="381000" y="5257800"/>
            <a:ext cx="82954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以正规表达式表示正规语言　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将其转化为等价的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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NFA 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然后执行上述过程.</a:t>
            </a:r>
          </a:p>
        </p:txBody>
      </p:sp>
      <p:sp>
        <p:nvSpPr>
          <p:cNvPr id="744463" name="Rectangle 15"/>
          <p:cNvSpPr>
            <a:spLocks noChangeArrowheads="1"/>
          </p:cNvSpPr>
          <p:nvPr/>
        </p:nvSpPr>
        <p:spPr bwMode="auto">
          <a:xfrm>
            <a:off x="381000" y="3733800"/>
            <a:ext cx="8153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NFA 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或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NFA 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表示正规语言 　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可以将其转化为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　等价的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然后执行上述过程；也可以直接模拟其处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　理字符串的过程，判定算法的复杂度为</a:t>
            </a: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O(n</a:t>
            </a:r>
            <a:r>
              <a:rPr lang="en-US" altLang="zh-CN" sz="20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i="1" baseline="30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　字符串的长度，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NFA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或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NFA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的状态数目.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4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4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4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4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4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52" grpId="0" autoUpdateAnimBg="0"/>
      <p:bldP spid="744459" grpId="0" autoUpdateAnimBg="0"/>
      <p:bldP spid="744460" grpId="0" autoUpdateAnimBg="0"/>
      <p:bldP spid="744461" grpId="0" autoUpdateAnimBg="0"/>
      <p:bldP spid="744462" grpId="0" autoUpdateAnimBg="0"/>
      <p:bldP spid="74446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4AA03E-4ACD-4285-AEA6-C6807E98EAAF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29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733866-A7C9-4F41-B3DE-3288B17C481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45477" name="Rectangle 5"/>
          <p:cNvSpPr>
            <a:spLocks noChangeArrowheads="1"/>
          </p:cNvSpPr>
          <p:nvPr/>
        </p:nvSpPr>
        <p:spPr bwMode="auto">
          <a:xfrm>
            <a:off x="1219200" y="609600"/>
            <a:ext cx="5873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判定两个正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zh-CN" altLang="en-US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语言是否相等</a:t>
            </a:r>
          </a:p>
        </p:txBody>
      </p:sp>
      <p:sp>
        <p:nvSpPr>
          <p:cNvPr id="745483" name="Rectangle 11"/>
          <p:cNvSpPr>
            <a:spLocks noChangeArrowheads="1"/>
          </p:cNvSpPr>
          <p:nvPr/>
        </p:nvSpPr>
        <p:spPr bwMode="auto">
          <a:xfrm>
            <a:off x="457200" y="13716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判定算法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可由采取如下步骤：</a:t>
            </a:r>
          </a:p>
        </p:txBody>
      </p:sp>
      <p:sp>
        <p:nvSpPr>
          <p:cNvPr id="745484" name="Rectangle 12"/>
          <p:cNvSpPr>
            <a:spLocks noChangeArrowheads="1"/>
          </p:cNvSpPr>
          <p:nvPr/>
        </p:nvSpPr>
        <p:spPr bwMode="auto">
          <a:xfrm>
            <a:off x="457200" y="5358063"/>
            <a:ext cx="8305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算法复杂度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以上算法的复杂度即填表算法的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复杂度，其上限为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O(n</a:t>
            </a:r>
            <a:r>
              <a:rPr lang="en-US" altLang="zh-CN" sz="2400" b="1" i="1" baseline="30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4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；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可以适当设计填表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算法的数据结构，使其复杂度降为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O(n</a:t>
            </a:r>
            <a:r>
              <a:rPr lang="en-US" altLang="zh-CN" sz="2400" b="1" i="1" baseline="30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</a:p>
        </p:txBody>
      </p:sp>
      <p:sp>
        <p:nvSpPr>
          <p:cNvPr id="745485" name="Rectangle 13"/>
          <p:cNvSpPr>
            <a:spLocks noChangeArrowheads="1"/>
          </p:cNvSpPr>
          <p:nvPr/>
        </p:nvSpPr>
        <p:spPr bwMode="auto">
          <a:xfrm>
            <a:off x="1295400" y="1828800"/>
            <a:ext cx="7467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1.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先将两个正规语言的表达形式都转化为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问题转化为两个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是否是等价的；</a:t>
            </a:r>
          </a:p>
        </p:txBody>
      </p:sp>
      <p:sp>
        <p:nvSpPr>
          <p:cNvPr id="745486" name="Rectangle 14"/>
          <p:cNvSpPr>
            <a:spLocks noChangeArrowheads="1"/>
          </p:cNvSpPr>
          <p:nvPr/>
        </p:nvSpPr>
        <p:spPr bwMode="auto">
          <a:xfrm>
            <a:off x="1254125" y="2590800"/>
            <a:ext cx="7585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2.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适当重命名，使两个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没有重名的状态；</a:t>
            </a:r>
          </a:p>
        </p:txBody>
      </p:sp>
      <p:sp>
        <p:nvSpPr>
          <p:cNvPr id="745487" name="Rectangle 15"/>
          <p:cNvSpPr>
            <a:spLocks noChangeArrowheads="1"/>
          </p:cNvSpPr>
          <p:nvPr/>
        </p:nvSpPr>
        <p:spPr bwMode="auto">
          <a:xfrm>
            <a:off x="1254125" y="3048000"/>
            <a:ext cx="75850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3.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将两个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相并， 构造一个新的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原来的终态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仍是终态，转移边不发生任何变化，取任何一个状态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为初态；</a:t>
            </a:r>
          </a:p>
        </p:txBody>
      </p:sp>
      <p:sp>
        <p:nvSpPr>
          <p:cNvPr id="745488" name="Rectangle 16"/>
          <p:cNvSpPr>
            <a:spLocks noChangeArrowheads="1"/>
          </p:cNvSpPr>
          <p:nvPr/>
        </p:nvSpPr>
        <p:spPr bwMode="auto">
          <a:xfrm>
            <a:off x="1254125" y="4267200"/>
            <a:ext cx="78898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4.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对新构造的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运用填表算法，如果原来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的两个初态不可区别，则这两个正规语言相等，否则不相等.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4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4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4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4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4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4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77" grpId="0" autoUpdateAnimBg="0"/>
      <p:bldP spid="745483" grpId="0" autoUpdateAnimBg="0"/>
      <p:bldP spid="745484" grpId="0" autoUpdateAnimBg="0"/>
      <p:bldP spid="745485" grpId="0" autoUpdateAnimBg="0"/>
      <p:bldP spid="745486" grpId="0" autoUpdateAnimBg="0"/>
      <p:bldP spid="745487" grpId="0" autoUpdateAnimBg="0"/>
      <p:bldP spid="74548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B6EBDC-FAA8-4513-8737-7B59092B929D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30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1956D0-90C3-4B6C-9D48-71F492D51F4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2024/3/31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2286000" y="609600"/>
            <a:ext cx="388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第七次作业</a:t>
            </a:r>
            <a:r>
              <a:rPr lang="zh-CN" altLang="en-US" sz="3200" i="1" dirty="0">
                <a:solidFill>
                  <a:schemeClr val="hlink"/>
                </a:solidFill>
                <a:latin typeface="CMR10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750" name="Text Box 7"/>
          <p:cNvSpPr txBox="1">
            <a:spLocks noChangeArrowheads="1"/>
          </p:cNvSpPr>
          <p:nvPr/>
        </p:nvSpPr>
        <p:spPr bwMode="auto">
          <a:xfrm>
            <a:off x="952500" y="1268760"/>
            <a:ext cx="8083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</a:rPr>
              <a:t> </a:t>
            </a: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Chap3  </a:t>
            </a:r>
            <a:r>
              <a:rPr lang="zh-CN" altLang="en-US" sz="2400" i="1" dirty="0">
                <a:solidFill>
                  <a:schemeClr val="tx2"/>
                </a:solidFill>
                <a:latin typeface="Arial" panose="020B0604020202020204" pitchFamily="34" charset="0"/>
              </a:rPr>
              <a:t>习题 </a:t>
            </a:r>
            <a:r>
              <a:rPr lang="zh-CN" altLang="en-US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17</a:t>
            </a: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((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1),(3),(4)), 20</a:t>
            </a:r>
            <a:endParaRPr lang="zh-CN" altLang="en-US" sz="2400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86" y="1678283"/>
            <a:ext cx="6723714" cy="23267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00" y="4005063"/>
            <a:ext cx="7117991" cy="3197131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5a56ebb-460f-473d-b1ea-f7b394cb7c87"/>
  <p:tag name="COMMONDATA" val="eyJoZGlkIjoiZTU5NjBkN2U4OTA1MGQ5NDNhYjBhMDAyNzgxMmI5Y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1462</TotalTime>
  <Words>3900</Words>
  <Application>Microsoft Macintosh PowerPoint</Application>
  <PresentationFormat>全屏显示(4:3)</PresentationFormat>
  <Paragraphs>421</Paragraphs>
  <Slides>30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仿宋</vt:lpstr>
      <vt:lpstr>楷体_GB2312</vt:lpstr>
      <vt:lpstr>宋体</vt:lpstr>
      <vt:lpstr>微软雅黑</vt:lpstr>
      <vt:lpstr>CMR10</vt:lpstr>
      <vt:lpstr>Arial</vt:lpstr>
      <vt:lpstr>Arial Narrow</vt:lpstr>
      <vt:lpstr>Copperplate Gothic Light</vt:lpstr>
      <vt:lpstr>Symbol</vt:lpstr>
      <vt:lpstr>Tahoma</vt:lpstr>
      <vt:lpstr>Times New Roman</vt:lpstr>
      <vt:lpstr>Wingdings</vt:lpstr>
      <vt:lpstr>Blends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lvsiyao</dc:creator>
  <cp:lastModifiedBy>Cheng Yang</cp:lastModifiedBy>
  <cp:revision>451</cp:revision>
  <cp:lastPrinted>2001-10-15T13:50:00Z</cp:lastPrinted>
  <dcterms:created xsi:type="dcterms:W3CDTF">2113-01-01T00:00:00Z</dcterms:created>
  <dcterms:modified xsi:type="dcterms:W3CDTF">2024-03-31T13:42:50Z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9097963799F64A6DA319C55A57AE9679</vt:lpwstr>
  </property>
  <property fmtid="{D5CDD505-2E9C-101B-9397-08002B2CF9AE}" pid="3" name="KSOProductBuildVer">
    <vt:lpwstr>2052-11.1.0.12763</vt:lpwstr>
  </property>
</Properties>
</file>