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</p:sldMasterIdLst>
  <p:notesMasterIdLst>
    <p:notesMasterId r:id="rId33"/>
  </p:notesMasterIdLst>
  <p:handoutMasterIdLst>
    <p:handoutMasterId r:id="rId34"/>
  </p:handoutMasterIdLst>
  <p:sldIdLst>
    <p:sldId id="377" r:id="rId2"/>
    <p:sldId id="322" r:id="rId3"/>
    <p:sldId id="354" r:id="rId4"/>
    <p:sldId id="344" r:id="rId5"/>
    <p:sldId id="346" r:id="rId6"/>
    <p:sldId id="327" r:id="rId7"/>
    <p:sldId id="347" r:id="rId8"/>
    <p:sldId id="331" r:id="rId9"/>
    <p:sldId id="348" r:id="rId10"/>
    <p:sldId id="334" r:id="rId11"/>
    <p:sldId id="349" r:id="rId12"/>
    <p:sldId id="350" r:id="rId13"/>
    <p:sldId id="355" r:id="rId14"/>
    <p:sldId id="329" r:id="rId15"/>
    <p:sldId id="351" r:id="rId16"/>
    <p:sldId id="352" r:id="rId17"/>
    <p:sldId id="353" r:id="rId18"/>
    <p:sldId id="356" r:id="rId19"/>
    <p:sldId id="357" r:id="rId20"/>
    <p:sldId id="358" r:id="rId21"/>
    <p:sldId id="365" r:id="rId22"/>
    <p:sldId id="366" r:id="rId23"/>
    <p:sldId id="359" r:id="rId24"/>
    <p:sldId id="367" r:id="rId25"/>
    <p:sldId id="360" r:id="rId26"/>
    <p:sldId id="372" r:id="rId27"/>
    <p:sldId id="373" r:id="rId28"/>
    <p:sldId id="374" r:id="rId29"/>
    <p:sldId id="376" r:id="rId30"/>
    <p:sldId id="378" r:id="rId31"/>
    <p:sldId id="379" r:id="rId32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kern="1200">
        <a:solidFill>
          <a:srgbClr val="009999"/>
        </a:solidFill>
        <a:latin typeface="Times New Roman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3366CC"/>
    <a:srgbClr val="FF3300"/>
    <a:srgbClr val="003399"/>
    <a:srgbClr val="336699"/>
    <a:srgbClr val="008080"/>
    <a:srgbClr val="009999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4" autoAdjust="0"/>
    <p:restoredTop sz="94343"/>
  </p:normalViewPr>
  <p:slideViewPr>
    <p:cSldViewPr>
      <p:cViewPr varScale="1">
        <p:scale>
          <a:sx n="81" d="100"/>
          <a:sy n="81" d="100"/>
        </p:scale>
        <p:origin x="68" y="6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28"/>
    </p:cViewPr>
  </p:sorterViewPr>
  <p:notesViewPr>
    <p:cSldViewPr>
      <p:cViewPr varScale="1">
        <p:scale>
          <a:sx n="49" d="100"/>
          <a:sy n="49" d="100"/>
        </p:scale>
        <p:origin x="-1944" y="-108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0.xml"/><Relationship Id="rId1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ea typeface="宋体" charset="0"/>
              </a:defRPr>
            </a:lvl1pPr>
          </a:lstStyle>
          <a:p>
            <a:pPr>
              <a:defRPr/>
            </a:pPr>
            <a:fld id="{EEB81C51-2166-A84A-B5D2-1D130541509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172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ea typeface="宋体" charset="0"/>
              </a:defRPr>
            </a:lvl1pPr>
          </a:lstStyle>
          <a:p>
            <a:pPr>
              <a:defRPr/>
            </a:pPr>
            <a:fld id="{C0AE2061-8781-7C44-8B16-7A49964A211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9pPr>
          </a:lstStyle>
          <a:p>
            <a:fld id="{F5521EF0-D173-1C4C-8E65-EE4F42BDD059}" type="slidenum">
              <a:rPr kumimoji="0" lang="zh-CN" altLang="en-US">
                <a:solidFill>
                  <a:schemeClr val="tx1"/>
                </a:solidFill>
              </a:rPr>
              <a:pPr/>
              <a:t>2</a:t>
            </a:fld>
            <a:endParaRPr kumimoji="0" lang="en-US" altLang="zh-CN">
              <a:solidFill>
                <a:schemeClr val="tx1"/>
              </a:solidFill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9439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9pPr>
          </a:lstStyle>
          <a:p>
            <a:fld id="{32992789-1B11-B245-B3BD-CF4CC4CB3DD7}" type="slidenum">
              <a:rPr kumimoji="0" lang="zh-CN" altLang="en-US">
                <a:solidFill>
                  <a:schemeClr val="tx1"/>
                </a:solidFill>
              </a:rPr>
              <a:pPr/>
              <a:t>3</a:t>
            </a:fld>
            <a:endParaRPr kumimoji="0" lang="en-US" altLang="zh-CN">
              <a:solidFill>
                <a:schemeClr val="tx1"/>
              </a:solidFill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1854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9pPr>
          </a:lstStyle>
          <a:p>
            <a:fld id="{3133DAB2-0F14-2C41-8E48-28F7BCB69C5A}" type="slidenum">
              <a:rPr kumimoji="0" lang="zh-CN" altLang="en-US">
                <a:solidFill>
                  <a:schemeClr val="tx1"/>
                </a:solidFill>
              </a:rPr>
              <a:pPr/>
              <a:t>4</a:t>
            </a:fld>
            <a:endParaRPr kumimoji="0" lang="en-US" altLang="zh-CN">
              <a:solidFill>
                <a:schemeClr val="tx1"/>
              </a:solidFill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en-US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982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rgbClr val="009999"/>
                </a:solidFill>
                <a:latin typeface="Times New Roman" charset="0"/>
                <a:ea typeface="宋体" charset="-122"/>
              </a:defRPr>
            </a:lvl9pPr>
          </a:lstStyle>
          <a:p>
            <a:fld id="{B4B903EE-FC95-4848-8F03-85AF8A10AB19}" type="slidenum">
              <a:rPr kumimoji="0" lang="zh-CN" altLang="en-US">
                <a:solidFill>
                  <a:schemeClr val="tx1"/>
                </a:solidFill>
              </a:rPr>
              <a:pPr/>
              <a:t>15</a:t>
            </a:fld>
            <a:endParaRPr kumimoji="0" lang="en-US" altLang="zh-CN">
              <a:solidFill>
                <a:schemeClr val="tx1"/>
              </a:solidFill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/>
            <a:r>
              <a:rPr lang="zh-CN" altLang="en-US">
                <a:solidFill>
                  <a:srgbClr val="000000"/>
                </a:solidFill>
                <a:latin typeface="宋体" charset="-122"/>
                <a:ea typeface="宋体" charset="-122"/>
              </a:rPr>
              <a:t>递归语言是这样的语言，它们至少被一个在所有输入上都能停止的图灵机所接受</a:t>
            </a:r>
            <a:endParaRPr lang="zh-CN" altLang="en-US">
              <a:latin typeface="Times New Roman" charset="0"/>
              <a:ea typeface="宋体" charset="-122"/>
            </a:endParaRPr>
          </a:p>
          <a:p>
            <a:pPr algn="just"/>
            <a:r>
              <a:rPr lang="zh-CN" altLang="en-US">
                <a:solidFill>
                  <a:srgbClr val="000000"/>
                </a:solidFill>
                <a:latin typeface="宋体" charset="-122"/>
                <a:ea typeface="宋体" charset="-122"/>
              </a:rPr>
              <a:t>一般而言，被图灵机计算的函数</a:t>
            </a:r>
            <a:r>
              <a:rPr lang="en-US" altLang="zh-CN" i="1">
                <a:solidFill>
                  <a:srgbClr val="000000"/>
                </a:solidFill>
                <a:latin typeface="宋体" charset="-122"/>
                <a:ea typeface="宋体" charset="-122"/>
              </a:rPr>
              <a:t>f</a:t>
            </a:r>
            <a:r>
              <a:rPr lang="en-US" altLang="zh-CN">
                <a:solidFill>
                  <a:srgbClr val="000000"/>
                </a:solidFill>
                <a:latin typeface="宋体" charset="-122"/>
                <a:ea typeface="宋体" charset="-122"/>
              </a:rPr>
              <a:t>（i</a:t>
            </a:r>
            <a:r>
              <a:rPr lang="en-US" altLang="zh-CN" baseline="-30000">
                <a:solidFill>
                  <a:srgbClr val="000000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宋体" charset="-122"/>
                <a:ea typeface="宋体" charset="-122"/>
              </a:rPr>
              <a:t>,i</a:t>
            </a:r>
            <a:r>
              <a:rPr lang="en-US" altLang="zh-CN" baseline="-30000">
                <a:solidFill>
                  <a:srgbClr val="000000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宋体" charset="-122"/>
                <a:ea typeface="宋体" charset="-122"/>
              </a:rPr>
              <a:t>,i</a:t>
            </a:r>
            <a:r>
              <a:rPr lang="en-US" altLang="zh-CN" baseline="-30000">
                <a:solidFill>
                  <a:srgbClr val="000000"/>
                </a:solidFill>
                <a:latin typeface="宋体" charset="-122"/>
                <a:ea typeface="宋体" charset="-122"/>
              </a:rPr>
              <a:t>k</a:t>
            </a:r>
            <a:r>
              <a:rPr lang="en-US" altLang="zh-CN">
                <a:solidFill>
                  <a:srgbClr val="000000"/>
                </a:solidFill>
                <a:latin typeface="宋体" charset="-122"/>
                <a:ea typeface="宋体" charset="-122"/>
              </a:rPr>
              <a:t>）</a:t>
            </a:r>
            <a:r>
              <a:rPr lang="zh-CN" altLang="en-US">
                <a:solidFill>
                  <a:srgbClr val="000000"/>
                </a:solidFill>
                <a:latin typeface="宋体" charset="-122"/>
                <a:ea typeface="宋体" charset="-122"/>
              </a:rPr>
              <a:t>是部分递归函数，部分递归函数被一个在给定输入上可停可不停的图灵机计算。</a:t>
            </a:r>
            <a:endParaRPr lang="zh-CN" altLang="en-US">
              <a:latin typeface="Times New Roman" charset="0"/>
              <a:ea typeface="宋体" charset="-122"/>
            </a:endParaRPr>
          </a:p>
          <a:p>
            <a:endParaRPr lang="zh-CN" altLang="en-US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958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C0E25-CE92-684F-8C69-B0F26C21ED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03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FA344-1EA3-5D45-9EE5-CDFD3D4E9E5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296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6657C-E558-7C43-B803-455B4CD0F5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83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7CFFF-6FBC-F149-A893-C6E7DFDDA71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1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B94E9-D923-F84A-9779-0AFF877A509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028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9F50FB-E779-DF4E-A128-FE1A8B9731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31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79173-9D74-194C-A7D7-6DA2EBAAA50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8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9F4E6-3151-4A44-AA23-D43637659E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79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046C84-9C06-594B-81B2-246C44BFDE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62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949F5-2B7A-924A-A271-95EABEBC0DA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3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656F86-AD80-FA40-97CA-DA6285DD04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225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>
                <a:latin typeface="Arial Narrow" charset="0"/>
                <a:ea typeface="宋体" charset="0"/>
              </a:defRPr>
            </a:lvl1pPr>
          </a:lstStyle>
          <a:p>
            <a:pPr>
              <a:defRPr/>
            </a:pPr>
            <a:fld id="{3AD2929D-025C-E74C-82E9-B4BF922B63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7" name="Rectangle 2"/>
          <p:cNvSpPr>
            <a:spLocks noChangeArrowheads="1"/>
          </p:cNvSpPr>
          <p:nvPr/>
        </p:nvSpPr>
        <p:spPr bwMode="ltGray"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ltGray"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ltGray"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ltGray"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ltGray"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gray"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gray"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1pPr>
            <a:lvl2pPr marL="742950" indent="-28575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2pPr>
            <a:lvl3pPr marL="11430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3pPr>
            <a:lvl4pPr marL="16002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4pPr>
            <a:lvl5pPr marL="2057400" indent="-228600" algn="r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5pPr>
            <a:lvl6pPr marL="25146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6pPr>
            <a:lvl7pPr marL="29718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7pPr>
            <a:lvl8pPr marL="34290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8pPr>
            <a:lvl9pPr marL="3886200" indent="-228600" algn="r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charset="2"/>
              <a:defRPr kumimoji="1">
                <a:solidFill>
                  <a:srgbClr val="009999"/>
                </a:solidFill>
                <a:latin typeface="Times New Roman" charset="0"/>
                <a:ea typeface="宋体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2400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1034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304800"/>
            <a:ext cx="77930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5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95400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>
                <a:latin typeface="Arial Narrow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宋体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  <a:cs typeface="宋体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  <a:cs typeface="宋体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  <a:cs typeface="宋体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  <a:cs typeface="宋体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charset="2"/>
        <a:buChar char="n"/>
        <a:defRPr kumimoji="1" sz="2800" b="1">
          <a:solidFill>
            <a:schemeClr val="tx1"/>
          </a:solidFill>
          <a:latin typeface="+mn-lt"/>
          <a:ea typeface="+mn-ea"/>
          <a:cs typeface="楷体_GB2312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charset="2"/>
        <a:buChar char="n"/>
        <a:defRPr kumimoji="1" sz="2800">
          <a:solidFill>
            <a:schemeClr val="tx1"/>
          </a:solidFill>
          <a:latin typeface="+mn-lt"/>
          <a:ea typeface="+mn-ea"/>
          <a:cs typeface="楷体_GB2312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2"/>
        <a:buChar char="n"/>
        <a:defRPr kumimoji="1" sz="2400">
          <a:solidFill>
            <a:schemeClr val="tx1"/>
          </a:solidFill>
          <a:latin typeface="+mn-lt"/>
          <a:ea typeface="+mn-ea"/>
          <a:cs typeface="楷体_GB2312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2"/>
        <a:buChar char="n"/>
        <a:defRPr kumimoji="1" sz="2400">
          <a:solidFill>
            <a:schemeClr val="tx1"/>
          </a:solidFill>
          <a:latin typeface="+mn-lt"/>
          <a:ea typeface="+mn-ea"/>
          <a:cs typeface="楷体_GB2312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kumimoji="1" sz="2400">
          <a:solidFill>
            <a:schemeClr val="tx1"/>
          </a:solidFill>
          <a:latin typeface="+mn-lt"/>
          <a:ea typeface="+mn-ea"/>
          <a:cs typeface="楷体_GB2312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https://v.youku.com/v_show/id_XNjcwMjczNjky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复习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回顾有限自动机的定义及其对应的语言</a:t>
            </a:r>
            <a:endParaRPr kumimoji="1" lang="en-US" altLang="zh-CN" dirty="0"/>
          </a:p>
          <a:p>
            <a:r>
              <a:rPr lang="zh-CN" altLang="en-US" dirty="0"/>
              <a:t>回顾下推自动机的定义及其对应的语言</a:t>
            </a:r>
            <a:endParaRPr lang="en-US" altLang="zh-CN" dirty="0"/>
          </a:p>
          <a:p>
            <a:r>
              <a:rPr lang="zh-CN" altLang="en-US" dirty="0"/>
              <a:t>写出</a:t>
            </a:r>
            <a:r>
              <a:rPr lang="en-US" altLang="zh-CN" b="0" dirty="0" err="1"/>
              <a:t>a</a:t>
            </a:r>
            <a:r>
              <a:rPr lang="en-US" altLang="zh-CN" b="0" baseline="30000" dirty="0" err="1"/>
              <a:t>n</a:t>
            </a:r>
            <a:r>
              <a:rPr lang="en-US" altLang="zh-CN" b="0" dirty="0" err="1"/>
              <a:t>b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r>
              <a:rPr lang="en-US" altLang="zh-CN" b="0" dirty="0" err="1"/>
              <a:t>a</a:t>
            </a:r>
            <a:r>
              <a:rPr lang="en-US" altLang="zh-CN" b="0" baseline="30000" dirty="0" err="1"/>
              <a:t>n</a:t>
            </a:r>
            <a:r>
              <a:rPr lang="en-US" altLang="zh-CN" b="0" dirty="0" err="1"/>
              <a:t>b</a:t>
            </a:r>
            <a:r>
              <a:rPr lang="en-US" altLang="zh-CN" b="0" baseline="30000" dirty="0" err="1"/>
              <a:t>n</a:t>
            </a:r>
            <a:r>
              <a:rPr lang="zh-CN" altLang="en-US" dirty="0"/>
              <a:t>对应的自动机和文法</a:t>
            </a:r>
            <a:endParaRPr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AFA344-1EA3-5D45-9EE5-CDFD3D4E9E52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00" y="2788521"/>
            <a:ext cx="9144000" cy="385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291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856650-589C-AD4A-B8E9-3D9C3E6E6669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1536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800080"/>
                </a:solidFill>
                <a:latin typeface="Arial" charset="0"/>
                <a:ea typeface="楷体_GB2312" charset="0"/>
              </a:rPr>
              <a:t>第五章  图灵机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83613" cy="50292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Aft>
                <a:spcPts val="600"/>
              </a:spcAft>
              <a:buFont typeface="Wingdings" charset="2"/>
              <a:buNone/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	</a:t>
            </a:r>
            <a:r>
              <a:rPr lang="en-US" altLang="zh-CN" sz="2400" b="0">
                <a:solidFill>
                  <a:srgbClr val="333399"/>
                </a:solidFill>
                <a:latin typeface="楷体_GB2312" charset="0"/>
              </a:rPr>
              <a:t>A.Turing</a:t>
            </a:r>
            <a:r>
              <a:rPr lang="zh-CN" altLang="en-US" sz="2400" b="0">
                <a:solidFill>
                  <a:srgbClr val="333399"/>
                </a:solidFill>
                <a:latin typeface="楷体_GB2312" charset="0"/>
              </a:rPr>
              <a:t>在1936年介绍了这样一个通用的计算模型，该模型具有以下两个性质</a:t>
            </a:r>
          </a:p>
          <a:p>
            <a:pPr lvl="1" eaLnBrk="1" hangingPunct="1"/>
            <a:r>
              <a:rPr lang="zh-CN" altLang="en-US" sz="2400">
                <a:solidFill>
                  <a:srgbClr val="333399"/>
                </a:solidFill>
                <a:latin typeface="楷体_GB2312" charset="0"/>
              </a:rPr>
              <a:t>该模型的每个过程都是有穷可描述的；</a:t>
            </a:r>
          </a:p>
          <a:p>
            <a:pPr lvl="1" eaLnBrk="1" hangingPunct="1"/>
            <a:r>
              <a:rPr lang="zh-CN" altLang="en-US" sz="2400">
                <a:solidFill>
                  <a:srgbClr val="333399"/>
                </a:solidFill>
                <a:latin typeface="楷体_GB2312" charset="0"/>
              </a:rPr>
              <a:t>过程必须是由离散的、可以机械执行的步骤组成。</a:t>
            </a:r>
            <a:r>
              <a:rPr lang="zh-CN" altLang="en-US" b="1">
                <a:solidFill>
                  <a:srgbClr val="333399"/>
                </a:solidFill>
                <a:latin typeface="楷体_GB2312" charset="0"/>
              </a:rPr>
              <a:t>	</a:t>
            </a:r>
          </a:p>
          <a:p>
            <a:pPr eaLnBrk="1" hangingPunct="1">
              <a:lnSpc>
                <a:spcPct val="130000"/>
              </a:lnSpc>
              <a:spcAft>
                <a:spcPts val="600"/>
              </a:spcAft>
              <a:buFont typeface="Wingdings" charset="2"/>
              <a:buNone/>
            </a:pP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	</a:t>
            </a:r>
            <a:r>
              <a:rPr lang="zh-CN" altLang="en-US" sz="2400" b="0">
                <a:solidFill>
                  <a:srgbClr val="333399"/>
                </a:solidFill>
                <a:latin typeface="楷体_GB2312" charset="0"/>
              </a:rPr>
              <a:t>图灵机是计算机的一种简单数字模型，尽管简单，但它具有模拟通用计算机的计算能力。</a:t>
            </a:r>
          </a:p>
          <a:p>
            <a:pPr eaLnBrk="1" hangingPunct="1"/>
            <a:r>
              <a:rPr lang="zh-CN" altLang="en-US" sz="2400" b="0">
                <a:solidFill>
                  <a:srgbClr val="333399"/>
                </a:solidFill>
                <a:latin typeface="楷体_GB2312" charset="0"/>
              </a:rPr>
              <a:t>通过研究</a:t>
            </a:r>
            <a:r>
              <a:rPr lang="en-US" altLang="zh-CN" sz="2400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sz="2400" b="0">
                <a:solidFill>
                  <a:srgbClr val="333399"/>
                </a:solidFill>
                <a:latin typeface="楷体_GB2312" charset="0"/>
              </a:rPr>
              <a:t>来研究递归可枚举集和部分递归函数</a:t>
            </a:r>
            <a:endParaRPr lang="en-US" altLang="zh-CN" sz="2400" b="0">
              <a:solidFill>
                <a:srgbClr val="333399"/>
              </a:solidFill>
              <a:latin typeface="楷体_GB2312" charset="0"/>
            </a:endParaRPr>
          </a:p>
          <a:p>
            <a:pPr eaLnBrk="1" hangingPunct="1"/>
            <a:r>
              <a:rPr lang="zh-CN" altLang="en-US" sz="2400" b="0">
                <a:solidFill>
                  <a:srgbClr val="333399"/>
                </a:solidFill>
                <a:latin typeface="楷体_GB2312" charset="0"/>
              </a:rPr>
              <a:t>为算法和可计算性研究提供了形式化描述工具。</a:t>
            </a:r>
          </a:p>
          <a:p>
            <a:pPr eaLnBrk="1" hangingPunct="1"/>
            <a:r>
              <a:rPr lang="en-US" altLang="zh-CN" sz="2400" b="0">
                <a:solidFill>
                  <a:srgbClr val="333399"/>
                </a:solidFill>
                <a:latin typeface="楷体_GB2312" charset="0"/>
                <a:hlinkClick r:id="rId3"/>
              </a:rPr>
              <a:t>https://v.youku.com/v_show/id_XNjcwMjczNjky.html</a:t>
            </a:r>
            <a:endParaRPr lang="en-US" altLang="zh-CN" sz="2400" b="0">
              <a:solidFill>
                <a:srgbClr val="333399"/>
              </a:solidFill>
              <a:latin typeface="楷体_GB231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4D4A1B-7D1B-2B4B-8063-44BA0053BFEE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17410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343400" y="304800"/>
            <a:ext cx="3657600" cy="838200"/>
          </a:xfrm>
        </p:spPr>
        <p:txBody>
          <a:bodyPr/>
          <a:lstStyle/>
          <a:p>
            <a:pPr algn="r" eaLnBrk="1" hangingPunct="1"/>
            <a:r>
              <a:rPr lang="zh-CN" altLang="en-US" b="1">
                <a:solidFill>
                  <a:srgbClr val="800080"/>
                </a:solidFill>
                <a:latin typeface="Arial" charset="0"/>
                <a:ea typeface="楷体_GB2312" charset="0"/>
              </a:rPr>
              <a:t>主要内容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077200" cy="50292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Aft>
                <a:spcPts val="600"/>
              </a:spcAft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的基本定义</a:t>
            </a:r>
          </a:p>
          <a:p>
            <a:pPr eaLnBrk="1" hangingPunct="1">
              <a:lnSpc>
                <a:spcPct val="130000"/>
              </a:lnSpc>
              <a:spcAft>
                <a:spcPts val="600"/>
              </a:spcAft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的格局</a:t>
            </a:r>
          </a:p>
          <a:p>
            <a:pPr eaLnBrk="1" hangingPunct="1">
              <a:lnSpc>
                <a:spcPct val="130000"/>
              </a:lnSpc>
              <a:spcAft>
                <a:spcPts val="600"/>
              </a:spcAft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接受的语言</a:t>
            </a:r>
          </a:p>
          <a:p>
            <a:pPr eaLnBrk="1" hangingPunct="1">
              <a:lnSpc>
                <a:spcPct val="130000"/>
              </a:lnSpc>
              <a:spcAft>
                <a:spcPts val="600"/>
              </a:spcAft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的构造技术</a:t>
            </a:r>
          </a:p>
          <a:p>
            <a:pPr eaLnBrk="1" hangingPunct="1">
              <a:lnSpc>
                <a:spcPct val="130000"/>
              </a:lnSpc>
              <a:spcAft>
                <a:spcPts val="600"/>
              </a:spcAft>
            </a:pPr>
            <a:r>
              <a:rPr lang="en-US" altLang="zh-CN" b="0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 b="0">
                <a:solidFill>
                  <a:srgbClr val="333399"/>
                </a:solidFill>
                <a:latin typeface="楷体_GB2312" charset="0"/>
              </a:rPr>
              <a:t>的变形；</a:t>
            </a:r>
          </a:p>
          <a:p>
            <a:pPr lvl="1" eaLnBrk="1" hangingPunct="1"/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重点: 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的定义、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的构造。 </a:t>
            </a:r>
          </a:p>
          <a:p>
            <a:pPr lvl="1" eaLnBrk="1" hangingPunct="1"/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难点: 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TM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的构造。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572D1E-0B2C-4E4B-9528-F9A3E0B00EEA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1945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grpSp>
        <p:nvGrpSpPr>
          <p:cNvPr id="19459" name="Group 64"/>
          <p:cNvGrpSpPr>
            <a:grpSpLocks/>
          </p:cNvGrpSpPr>
          <p:nvPr/>
        </p:nvGrpSpPr>
        <p:grpSpPr bwMode="auto">
          <a:xfrm>
            <a:off x="250825" y="333375"/>
            <a:ext cx="8893175" cy="3119438"/>
            <a:chOff x="1008" y="1885"/>
            <a:chExt cx="4560" cy="1965"/>
          </a:xfrm>
        </p:grpSpPr>
        <p:sp>
          <p:nvSpPr>
            <p:cNvPr id="19462" name="Rectangle 32"/>
            <p:cNvSpPr>
              <a:spLocks noChangeArrowheads="1"/>
            </p:cNvSpPr>
            <p:nvPr/>
          </p:nvSpPr>
          <p:spPr bwMode="auto">
            <a:xfrm>
              <a:off x="2663" y="1885"/>
              <a:ext cx="869" cy="430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63" name="Rectangle 33"/>
            <p:cNvSpPr>
              <a:spLocks noChangeArrowheads="1"/>
            </p:cNvSpPr>
            <p:nvPr/>
          </p:nvSpPr>
          <p:spPr bwMode="auto">
            <a:xfrm>
              <a:off x="3120" y="1937"/>
              <a:ext cx="29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Finite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64" name="Rectangle 34"/>
            <p:cNvSpPr>
              <a:spLocks noChangeArrowheads="1"/>
            </p:cNvSpPr>
            <p:nvPr/>
          </p:nvSpPr>
          <p:spPr bwMode="auto">
            <a:xfrm>
              <a:off x="3104" y="2098"/>
              <a:ext cx="3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control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65" name="Line 35"/>
            <p:cNvSpPr>
              <a:spLocks noChangeShapeType="1"/>
            </p:cNvSpPr>
            <p:nvPr/>
          </p:nvSpPr>
          <p:spPr bwMode="auto">
            <a:xfrm flipV="1">
              <a:off x="1632" y="2928"/>
              <a:ext cx="3693" cy="9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6" name="Line 36"/>
            <p:cNvSpPr>
              <a:spLocks noChangeShapeType="1"/>
            </p:cNvSpPr>
            <p:nvPr/>
          </p:nvSpPr>
          <p:spPr bwMode="auto">
            <a:xfrm>
              <a:off x="1632" y="3168"/>
              <a:ext cx="3693" cy="9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7" name="Line 37"/>
            <p:cNvSpPr>
              <a:spLocks noChangeShapeType="1"/>
            </p:cNvSpPr>
            <p:nvPr/>
          </p:nvSpPr>
          <p:spPr bwMode="auto">
            <a:xfrm>
              <a:off x="2282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8" name="Line 38"/>
            <p:cNvSpPr>
              <a:spLocks noChangeShapeType="1"/>
            </p:cNvSpPr>
            <p:nvPr/>
          </p:nvSpPr>
          <p:spPr bwMode="auto">
            <a:xfrm>
              <a:off x="1956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Line 39"/>
            <p:cNvSpPr>
              <a:spLocks noChangeShapeType="1"/>
            </p:cNvSpPr>
            <p:nvPr/>
          </p:nvSpPr>
          <p:spPr bwMode="auto">
            <a:xfrm flipV="1">
              <a:off x="4022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Line 40"/>
            <p:cNvSpPr>
              <a:spLocks noChangeShapeType="1"/>
            </p:cNvSpPr>
            <p:nvPr/>
          </p:nvSpPr>
          <p:spPr bwMode="auto">
            <a:xfrm>
              <a:off x="1630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1" name="Line 41"/>
            <p:cNvSpPr>
              <a:spLocks noChangeShapeType="1"/>
            </p:cNvSpPr>
            <p:nvPr/>
          </p:nvSpPr>
          <p:spPr bwMode="auto">
            <a:xfrm>
              <a:off x="4348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Line 42"/>
            <p:cNvSpPr>
              <a:spLocks noChangeShapeType="1"/>
            </p:cNvSpPr>
            <p:nvPr/>
          </p:nvSpPr>
          <p:spPr bwMode="auto">
            <a:xfrm>
              <a:off x="4673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Line 43"/>
            <p:cNvSpPr>
              <a:spLocks noChangeShapeType="1"/>
            </p:cNvSpPr>
            <p:nvPr/>
          </p:nvSpPr>
          <p:spPr bwMode="auto">
            <a:xfrm>
              <a:off x="4999" y="2918"/>
              <a:ext cx="1" cy="258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Rectangle 47"/>
            <p:cNvSpPr>
              <a:spLocks noChangeArrowheads="1"/>
            </p:cNvSpPr>
            <p:nvPr/>
          </p:nvSpPr>
          <p:spPr bwMode="auto">
            <a:xfrm>
              <a:off x="1829" y="2964"/>
              <a:ext cx="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75" name="Rectangle 48"/>
            <p:cNvSpPr>
              <a:spLocks noChangeArrowheads="1"/>
            </p:cNvSpPr>
            <p:nvPr/>
          </p:nvSpPr>
          <p:spPr bwMode="auto">
            <a:xfrm>
              <a:off x="1905" y="3049"/>
              <a:ext cx="4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zh-CN" altLang="en-US" sz="11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1</a:t>
              </a:r>
              <a:endParaRPr lang="zh-CN" altLang="en-US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76" name="Rectangle 49"/>
            <p:cNvSpPr>
              <a:spLocks noChangeArrowheads="1"/>
            </p:cNvSpPr>
            <p:nvPr/>
          </p:nvSpPr>
          <p:spPr bwMode="auto">
            <a:xfrm>
              <a:off x="4604" y="2964"/>
              <a:ext cx="8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B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77" name="Rectangle 50"/>
            <p:cNvSpPr>
              <a:spLocks noChangeArrowheads="1"/>
            </p:cNvSpPr>
            <p:nvPr/>
          </p:nvSpPr>
          <p:spPr bwMode="auto">
            <a:xfrm>
              <a:off x="4929" y="2964"/>
              <a:ext cx="8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B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78" name="Rectangle 52"/>
            <p:cNvSpPr>
              <a:spLocks noChangeArrowheads="1"/>
            </p:cNvSpPr>
            <p:nvPr/>
          </p:nvSpPr>
          <p:spPr bwMode="auto">
            <a:xfrm>
              <a:off x="5256" y="2921"/>
              <a:ext cx="9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zh-CN" altLang="en-US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...</a:t>
              </a:r>
              <a:endParaRPr lang="zh-CN" altLang="en-US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79" name="Freeform 54"/>
            <p:cNvSpPr>
              <a:spLocks/>
            </p:cNvSpPr>
            <p:nvPr/>
          </p:nvSpPr>
          <p:spPr bwMode="auto">
            <a:xfrm>
              <a:off x="3116" y="2315"/>
              <a:ext cx="132" cy="559"/>
            </a:xfrm>
            <a:custGeom>
              <a:avLst/>
              <a:gdLst>
                <a:gd name="T0" fmla="*/ 35 w 132"/>
                <a:gd name="T1" fmla="*/ 0 h 559"/>
                <a:gd name="T2" fmla="*/ 63 w 132"/>
                <a:gd name="T3" fmla="*/ 9 h 559"/>
                <a:gd name="T4" fmla="*/ 83 w 132"/>
                <a:gd name="T5" fmla="*/ 20 h 559"/>
                <a:gd name="T6" fmla="*/ 100 w 132"/>
                <a:gd name="T7" fmla="*/ 32 h 559"/>
                <a:gd name="T8" fmla="*/ 113 w 132"/>
                <a:gd name="T9" fmla="*/ 45 h 559"/>
                <a:gd name="T10" fmla="*/ 124 w 132"/>
                <a:gd name="T11" fmla="*/ 59 h 559"/>
                <a:gd name="T12" fmla="*/ 129 w 132"/>
                <a:gd name="T13" fmla="*/ 74 h 559"/>
                <a:gd name="T14" fmla="*/ 132 w 132"/>
                <a:gd name="T15" fmla="*/ 89 h 559"/>
                <a:gd name="T16" fmla="*/ 132 w 132"/>
                <a:gd name="T17" fmla="*/ 105 h 559"/>
                <a:gd name="T18" fmla="*/ 131 w 132"/>
                <a:gd name="T19" fmla="*/ 123 h 559"/>
                <a:gd name="T20" fmla="*/ 126 w 132"/>
                <a:gd name="T21" fmla="*/ 139 h 559"/>
                <a:gd name="T22" fmla="*/ 121 w 132"/>
                <a:gd name="T23" fmla="*/ 156 h 559"/>
                <a:gd name="T24" fmla="*/ 113 w 132"/>
                <a:gd name="T25" fmla="*/ 173 h 559"/>
                <a:gd name="T26" fmla="*/ 106 w 132"/>
                <a:gd name="T27" fmla="*/ 189 h 559"/>
                <a:gd name="T28" fmla="*/ 97 w 132"/>
                <a:gd name="T29" fmla="*/ 206 h 559"/>
                <a:gd name="T30" fmla="*/ 71 w 132"/>
                <a:gd name="T31" fmla="*/ 249 h 559"/>
                <a:gd name="T32" fmla="*/ 55 w 132"/>
                <a:gd name="T33" fmla="*/ 274 h 559"/>
                <a:gd name="T34" fmla="*/ 41 w 132"/>
                <a:gd name="T35" fmla="*/ 298 h 559"/>
                <a:gd name="T36" fmla="*/ 28 w 132"/>
                <a:gd name="T37" fmla="*/ 321 h 559"/>
                <a:gd name="T38" fmla="*/ 16 w 132"/>
                <a:gd name="T39" fmla="*/ 342 h 559"/>
                <a:gd name="T40" fmla="*/ 8 w 132"/>
                <a:gd name="T41" fmla="*/ 362 h 559"/>
                <a:gd name="T42" fmla="*/ 3 w 132"/>
                <a:gd name="T43" fmla="*/ 383 h 559"/>
                <a:gd name="T44" fmla="*/ 0 w 132"/>
                <a:gd name="T45" fmla="*/ 402 h 559"/>
                <a:gd name="T46" fmla="*/ 3 w 132"/>
                <a:gd name="T47" fmla="*/ 423 h 559"/>
                <a:gd name="T48" fmla="*/ 9 w 132"/>
                <a:gd name="T49" fmla="*/ 444 h 559"/>
                <a:gd name="T50" fmla="*/ 21 w 132"/>
                <a:gd name="T51" fmla="*/ 464 h 559"/>
                <a:gd name="T52" fmla="*/ 38 w 132"/>
                <a:gd name="T53" fmla="*/ 486 h 559"/>
                <a:gd name="T54" fmla="*/ 61 w 132"/>
                <a:gd name="T55" fmla="*/ 508 h 559"/>
                <a:gd name="T56" fmla="*/ 90 w 132"/>
                <a:gd name="T57" fmla="*/ 532 h 559"/>
                <a:gd name="T58" fmla="*/ 126 w 132"/>
                <a:gd name="T59" fmla="*/ 559 h 55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2" h="559">
                  <a:moveTo>
                    <a:pt x="35" y="0"/>
                  </a:moveTo>
                  <a:lnTo>
                    <a:pt x="63" y="9"/>
                  </a:lnTo>
                  <a:lnTo>
                    <a:pt x="83" y="20"/>
                  </a:lnTo>
                  <a:lnTo>
                    <a:pt x="100" y="32"/>
                  </a:lnTo>
                  <a:lnTo>
                    <a:pt x="113" y="45"/>
                  </a:lnTo>
                  <a:lnTo>
                    <a:pt x="124" y="59"/>
                  </a:lnTo>
                  <a:lnTo>
                    <a:pt x="129" y="74"/>
                  </a:lnTo>
                  <a:lnTo>
                    <a:pt x="132" y="89"/>
                  </a:lnTo>
                  <a:lnTo>
                    <a:pt x="132" y="105"/>
                  </a:lnTo>
                  <a:lnTo>
                    <a:pt x="131" y="123"/>
                  </a:lnTo>
                  <a:lnTo>
                    <a:pt x="126" y="139"/>
                  </a:lnTo>
                  <a:lnTo>
                    <a:pt x="121" y="156"/>
                  </a:lnTo>
                  <a:lnTo>
                    <a:pt x="113" y="173"/>
                  </a:lnTo>
                  <a:lnTo>
                    <a:pt x="106" y="189"/>
                  </a:lnTo>
                  <a:lnTo>
                    <a:pt x="97" y="206"/>
                  </a:lnTo>
                  <a:lnTo>
                    <a:pt x="71" y="249"/>
                  </a:lnTo>
                  <a:lnTo>
                    <a:pt x="55" y="274"/>
                  </a:lnTo>
                  <a:lnTo>
                    <a:pt x="41" y="298"/>
                  </a:lnTo>
                  <a:lnTo>
                    <a:pt x="28" y="321"/>
                  </a:lnTo>
                  <a:lnTo>
                    <a:pt x="16" y="342"/>
                  </a:lnTo>
                  <a:lnTo>
                    <a:pt x="8" y="362"/>
                  </a:lnTo>
                  <a:lnTo>
                    <a:pt x="3" y="383"/>
                  </a:lnTo>
                  <a:lnTo>
                    <a:pt x="0" y="402"/>
                  </a:lnTo>
                  <a:lnTo>
                    <a:pt x="3" y="423"/>
                  </a:lnTo>
                  <a:lnTo>
                    <a:pt x="9" y="444"/>
                  </a:lnTo>
                  <a:lnTo>
                    <a:pt x="21" y="464"/>
                  </a:lnTo>
                  <a:lnTo>
                    <a:pt x="38" y="486"/>
                  </a:lnTo>
                  <a:lnTo>
                    <a:pt x="61" y="508"/>
                  </a:lnTo>
                  <a:lnTo>
                    <a:pt x="90" y="532"/>
                  </a:lnTo>
                  <a:lnTo>
                    <a:pt x="126" y="559"/>
                  </a:lnTo>
                </a:path>
              </a:pathLst>
            </a:custGeom>
            <a:noFill/>
            <a:ln w="476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Freeform 55"/>
            <p:cNvSpPr>
              <a:spLocks/>
            </p:cNvSpPr>
            <p:nvPr/>
          </p:nvSpPr>
          <p:spPr bwMode="auto">
            <a:xfrm>
              <a:off x="3215" y="2848"/>
              <a:ext cx="100" cy="70"/>
            </a:xfrm>
            <a:custGeom>
              <a:avLst/>
              <a:gdLst>
                <a:gd name="T0" fmla="*/ 40 w 100"/>
                <a:gd name="T1" fmla="*/ 0 h 70"/>
                <a:gd name="T2" fmla="*/ 100 w 100"/>
                <a:gd name="T3" fmla="*/ 70 h 70"/>
                <a:gd name="T4" fmla="*/ 0 w 100"/>
                <a:gd name="T5" fmla="*/ 43 h 70"/>
                <a:gd name="T6" fmla="*/ 40 w 100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" h="70">
                  <a:moveTo>
                    <a:pt x="40" y="0"/>
                  </a:moveTo>
                  <a:lnTo>
                    <a:pt x="100" y="70"/>
                  </a:lnTo>
                  <a:lnTo>
                    <a:pt x="0" y="43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1" name="Rectangle 56"/>
            <p:cNvSpPr>
              <a:spLocks noChangeArrowheads="1"/>
            </p:cNvSpPr>
            <p:nvPr/>
          </p:nvSpPr>
          <p:spPr bwMode="auto">
            <a:xfrm>
              <a:off x="2155" y="2964"/>
              <a:ext cx="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2" name="Rectangle 57"/>
            <p:cNvSpPr>
              <a:spLocks noChangeArrowheads="1"/>
            </p:cNvSpPr>
            <p:nvPr/>
          </p:nvSpPr>
          <p:spPr bwMode="auto">
            <a:xfrm>
              <a:off x="2230" y="3049"/>
              <a:ext cx="4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zh-CN" altLang="en-US" sz="11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2</a:t>
              </a:r>
              <a:endParaRPr lang="zh-CN" altLang="en-US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3" name="Rectangle 58"/>
            <p:cNvSpPr>
              <a:spLocks noChangeArrowheads="1"/>
            </p:cNvSpPr>
            <p:nvPr/>
          </p:nvSpPr>
          <p:spPr bwMode="auto">
            <a:xfrm>
              <a:off x="4216" y="2964"/>
              <a:ext cx="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4" name="Rectangle 59"/>
            <p:cNvSpPr>
              <a:spLocks noChangeArrowheads="1"/>
            </p:cNvSpPr>
            <p:nvPr/>
          </p:nvSpPr>
          <p:spPr bwMode="auto">
            <a:xfrm>
              <a:off x="4294" y="3049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1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n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5" name="Rectangle 60"/>
            <p:cNvSpPr>
              <a:spLocks noChangeArrowheads="1"/>
            </p:cNvSpPr>
            <p:nvPr/>
          </p:nvSpPr>
          <p:spPr bwMode="auto">
            <a:xfrm>
              <a:off x="3365" y="2964"/>
              <a:ext cx="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7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6" name="Rectangle 61"/>
            <p:cNvSpPr>
              <a:spLocks noChangeArrowheads="1"/>
            </p:cNvSpPr>
            <p:nvPr/>
          </p:nvSpPr>
          <p:spPr bwMode="auto">
            <a:xfrm>
              <a:off x="3426" y="3049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1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i</a:t>
              </a:r>
              <a:endParaRPr lang="en-US" altLang="zh-CN" sz="18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19487" name="Line 62"/>
            <p:cNvSpPr>
              <a:spLocks noChangeShapeType="1"/>
            </p:cNvSpPr>
            <p:nvPr/>
          </p:nvSpPr>
          <p:spPr bwMode="auto">
            <a:xfrm flipV="1">
              <a:off x="3168" y="2928"/>
              <a:ext cx="0" cy="240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Line 63"/>
            <p:cNvSpPr>
              <a:spLocks noChangeShapeType="1"/>
            </p:cNvSpPr>
            <p:nvPr/>
          </p:nvSpPr>
          <p:spPr bwMode="auto">
            <a:xfrm flipH="1">
              <a:off x="3552" y="2928"/>
              <a:ext cx="0" cy="240"/>
            </a:xfrm>
            <a:prstGeom prst="line">
              <a:avLst/>
            </a:prstGeom>
            <a:noFill/>
            <a:ln w="4763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89" name="Group 18"/>
            <p:cNvGrpSpPr>
              <a:grpSpLocks/>
            </p:cNvGrpSpPr>
            <p:nvPr/>
          </p:nvGrpSpPr>
          <p:grpSpPr bwMode="auto">
            <a:xfrm>
              <a:off x="1008" y="2208"/>
              <a:ext cx="1536" cy="614"/>
              <a:chOff x="768" y="2054"/>
              <a:chExt cx="1776" cy="768"/>
            </a:xfrm>
          </p:grpSpPr>
          <p:sp>
            <p:nvSpPr>
              <p:cNvPr id="19497" name="Text Box 19"/>
              <p:cNvSpPr txBox="1">
                <a:spLocks noChangeArrowheads="1"/>
              </p:cNvSpPr>
              <p:nvPr/>
            </p:nvSpPr>
            <p:spPr bwMode="auto">
              <a:xfrm>
                <a:off x="768" y="2054"/>
                <a:ext cx="910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charset="2"/>
                  <a:buChar char="n"/>
                  <a:defRPr kumimoji="1" sz="28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带（</a:t>
                </a:r>
                <a:r>
                  <a:rPr lang="en-US" altLang="zh-CN" sz="2000" i="1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tape</a:t>
                </a:r>
                <a:r>
                  <a:rPr lang="en-US" altLang="zh-CN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）</a:t>
                </a:r>
              </a:p>
            </p:txBody>
          </p:sp>
          <p:sp>
            <p:nvSpPr>
              <p:cNvPr id="19498" name="Line 20"/>
              <p:cNvSpPr>
                <a:spLocks noChangeShapeType="1"/>
              </p:cNvSpPr>
              <p:nvPr/>
            </p:nvSpPr>
            <p:spPr bwMode="auto">
              <a:xfrm>
                <a:off x="1296" y="2294"/>
                <a:ext cx="1248" cy="528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90" name="Group 21"/>
            <p:cNvGrpSpPr>
              <a:grpSpLocks/>
            </p:cNvGrpSpPr>
            <p:nvPr/>
          </p:nvGrpSpPr>
          <p:grpSpPr bwMode="auto">
            <a:xfrm>
              <a:off x="2592" y="3120"/>
              <a:ext cx="1104" cy="730"/>
              <a:chOff x="2592" y="3206"/>
              <a:chExt cx="1104" cy="949"/>
            </a:xfrm>
          </p:grpSpPr>
          <p:sp>
            <p:nvSpPr>
              <p:cNvPr id="19495" name="Text Box 22"/>
              <p:cNvSpPr txBox="1">
                <a:spLocks noChangeArrowheads="1"/>
              </p:cNvSpPr>
              <p:nvPr/>
            </p:nvSpPr>
            <p:spPr bwMode="auto">
              <a:xfrm>
                <a:off x="2592" y="3830"/>
                <a:ext cx="1104" cy="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charset="2"/>
                  <a:buChar char="n"/>
                  <a:defRPr kumimoji="1" sz="28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单元格（</a:t>
                </a:r>
                <a:r>
                  <a:rPr lang="en-US" altLang="zh-CN" sz="2000" i="1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cell</a:t>
                </a:r>
                <a:r>
                  <a:rPr lang="en-US" altLang="zh-CN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）</a:t>
                </a:r>
              </a:p>
            </p:txBody>
          </p:sp>
          <p:sp>
            <p:nvSpPr>
              <p:cNvPr id="19496" name="Line 23"/>
              <p:cNvSpPr>
                <a:spLocks noChangeShapeType="1"/>
              </p:cNvSpPr>
              <p:nvPr/>
            </p:nvSpPr>
            <p:spPr bwMode="auto">
              <a:xfrm flipV="1">
                <a:off x="2976" y="3206"/>
                <a:ext cx="287" cy="576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9491" name="Group 27"/>
            <p:cNvGrpSpPr>
              <a:grpSpLocks/>
            </p:cNvGrpSpPr>
            <p:nvPr/>
          </p:nvGrpSpPr>
          <p:grpSpPr bwMode="auto">
            <a:xfrm>
              <a:off x="3408" y="3110"/>
              <a:ext cx="2160" cy="737"/>
              <a:chOff x="3408" y="3110"/>
              <a:chExt cx="2160" cy="944"/>
            </a:xfrm>
          </p:grpSpPr>
          <p:sp>
            <p:nvSpPr>
              <p:cNvPr id="19492" name="Text Box 28"/>
              <p:cNvSpPr txBox="1">
                <a:spLocks noChangeArrowheads="1"/>
              </p:cNvSpPr>
              <p:nvPr/>
            </p:nvSpPr>
            <p:spPr bwMode="auto">
              <a:xfrm>
                <a:off x="3984" y="3734"/>
                <a:ext cx="1584" cy="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charset="2"/>
                  <a:buChar char="n"/>
                  <a:defRPr kumimoji="1" sz="2800" b="1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charset="2"/>
                  <a:buChar char="n"/>
                  <a:defRPr kumimoji="1" sz="28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charset="2"/>
                  <a:buChar char="n"/>
                  <a:defRPr kumimoji="1" sz="2400">
                    <a:solidFill>
                      <a:schemeClr val="tx1"/>
                    </a:solidFill>
                    <a:latin typeface="Times New Roman" charset="0"/>
                    <a:ea typeface="楷体_GB2312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带符（</a:t>
                </a:r>
                <a:r>
                  <a:rPr lang="en-US" altLang="zh-CN" sz="2000" i="1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tape symbol</a:t>
                </a:r>
                <a:r>
                  <a:rPr lang="en-US" altLang="zh-CN" sz="2000">
                    <a:solidFill>
                      <a:srgbClr val="800080"/>
                    </a:solidFill>
                    <a:latin typeface="Arial" charset="0"/>
                    <a:ea typeface="华文行楷" charset="-122"/>
                  </a:rPr>
                  <a:t>）</a:t>
                </a:r>
              </a:p>
            </p:txBody>
          </p:sp>
          <p:sp>
            <p:nvSpPr>
              <p:cNvPr id="19493" name="Line 29"/>
              <p:cNvSpPr>
                <a:spLocks noChangeShapeType="1"/>
              </p:cNvSpPr>
              <p:nvPr/>
            </p:nvSpPr>
            <p:spPr bwMode="auto">
              <a:xfrm flipV="1">
                <a:off x="4752" y="3110"/>
                <a:ext cx="96" cy="672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494" name="Line 30"/>
              <p:cNvSpPr>
                <a:spLocks noChangeShapeType="1"/>
              </p:cNvSpPr>
              <p:nvPr/>
            </p:nvSpPr>
            <p:spPr bwMode="auto">
              <a:xfrm flipH="1" flipV="1">
                <a:off x="3408" y="3110"/>
                <a:ext cx="1104" cy="672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9460" name="Text Box 65"/>
          <p:cNvSpPr txBox="1">
            <a:spLocks noChangeArrowheads="1"/>
          </p:cNvSpPr>
          <p:nvPr/>
        </p:nvSpPr>
        <p:spPr bwMode="auto">
          <a:xfrm>
            <a:off x="381000" y="3479800"/>
            <a:ext cx="8763000" cy="337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>
                <a:solidFill>
                  <a:srgbClr val="003399"/>
                </a:solidFill>
                <a:latin typeface="宋体" charset="-122"/>
              </a:rPr>
              <a:t> 读写头在每一时刻扫描带上的一个单元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>
                <a:solidFill>
                  <a:srgbClr val="003399"/>
                </a:solidFill>
                <a:latin typeface="宋体" charset="-122"/>
              </a:rPr>
              <a:t> 带有一个最左单元，向右则是无限的。</a:t>
            </a:r>
            <a:endParaRPr lang="zh-CN" altLang="en-US" sz="2400">
              <a:solidFill>
                <a:srgbClr val="003399"/>
              </a:solidFill>
              <a:ea typeface="宋体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 带的每个单元可容纳一个带符号</a:t>
            </a:r>
            <a:endParaRPr lang="zh-CN" altLang="en-US" sz="2400">
              <a:solidFill>
                <a:srgbClr val="003399"/>
              </a:solidFill>
              <a:ea typeface="宋体" charset="-122"/>
            </a:endParaRPr>
          </a:p>
          <a:p>
            <a:pPr eaLnBrk="1" hangingPunct="1">
              <a:lnSpc>
                <a:spcPct val="120000"/>
              </a:lnSpc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开始时，最左边</a:t>
            </a:r>
            <a:r>
              <a:rPr lang="en-US" altLang="zh-CN" sz="2400">
                <a:solidFill>
                  <a:srgbClr val="003399"/>
                </a:solidFill>
                <a:ea typeface="宋体" charset="-122"/>
              </a:rPr>
              <a:t>n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个单元装着输入（</a:t>
            </a:r>
            <a:r>
              <a:rPr lang="en-US" altLang="zh-CN" sz="2400">
                <a:solidFill>
                  <a:srgbClr val="003399"/>
                </a:solidFill>
                <a:ea typeface="宋体" charset="-122"/>
              </a:rPr>
              <a:t>n&gt;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＝</a:t>
            </a:r>
            <a:r>
              <a:rPr lang="en-US" altLang="zh-CN" sz="2400">
                <a:solidFill>
                  <a:srgbClr val="003399"/>
                </a:solidFill>
                <a:ea typeface="宋体" charset="-122"/>
              </a:rPr>
              <a:t>0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，</a:t>
            </a:r>
            <a:r>
              <a:rPr lang="en-US" altLang="zh-CN" sz="2400">
                <a:solidFill>
                  <a:srgbClr val="003399"/>
                </a:solidFill>
                <a:ea typeface="宋体" charset="-122"/>
              </a:rPr>
              <a:t>n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为有限数），它是一个字符串，符号都选自</a:t>
            </a:r>
            <a:r>
              <a:rPr lang="zh-CN" altLang="en-US" sz="2400">
                <a:solidFill>
                  <a:srgbClr val="003399"/>
                </a:solidFill>
                <a:ea typeface="宋体" charset="-122"/>
              </a:rPr>
              <a:t>“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带符号</a:t>
            </a:r>
            <a:r>
              <a:rPr lang="zh-CN" altLang="en-US" sz="2400">
                <a:solidFill>
                  <a:srgbClr val="003399"/>
                </a:solidFill>
                <a:ea typeface="宋体" charset="-122"/>
              </a:rPr>
              <a:t>”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的一个子集，即所谓的</a:t>
            </a:r>
            <a:r>
              <a:rPr lang="zh-CN" altLang="en-US" sz="2400">
                <a:solidFill>
                  <a:srgbClr val="003399"/>
                </a:solidFill>
                <a:ea typeface="宋体" charset="-122"/>
              </a:rPr>
              <a:t>“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输入符号集合</a:t>
            </a:r>
            <a:r>
              <a:rPr lang="zh-CN" altLang="en-US" sz="2400">
                <a:solidFill>
                  <a:srgbClr val="003399"/>
                </a:solidFill>
                <a:ea typeface="宋体" charset="-122"/>
              </a:rPr>
              <a:t>”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。余下的有穷个单元都存放空白符，它是一个特殊的带符号，但</a:t>
            </a:r>
            <a:r>
              <a:rPr lang="zh-CN" altLang="en-US" sz="2400">
                <a:solidFill>
                  <a:schemeClr val="tx2"/>
                </a:solidFill>
                <a:latin typeface="宋体" charset="-122"/>
                <a:ea typeface="宋体" charset="-122"/>
              </a:rPr>
              <a:t>不是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输入符号。</a:t>
            </a:r>
            <a:endParaRPr lang="zh-CN" altLang="en-US" sz="1800" b="0">
              <a:solidFill>
                <a:srgbClr val="009999"/>
              </a:solidFill>
              <a:ea typeface="宋体" charset="-122"/>
            </a:endParaRPr>
          </a:p>
        </p:txBody>
      </p:sp>
      <p:sp>
        <p:nvSpPr>
          <p:cNvPr id="19461" name="Rectangle 66"/>
          <p:cNvSpPr>
            <a:spLocks noChangeArrowheads="1"/>
          </p:cNvSpPr>
          <p:nvPr/>
        </p:nvSpPr>
        <p:spPr bwMode="auto">
          <a:xfrm>
            <a:off x="5292725" y="260350"/>
            <a:ext cx="34925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0">
                <a:solidFill>
                  <a:srgbClr val="FF6600"/>
                </a:solidFill>
                <a:latin typeface="Copperplate Gothic Light" charset="0"/>
                <a:ea typeface="华文行楷" charset="-122"/>
              </a:rPr>
              <a:t>图灵机的基本模型</a:t>
            </a:r>
          </a:p>
        </p:txBody>
      </p:sp>
    </p:spTree>
  </p:cSld>
  <p:clrMapOvr>
    <a:masterClrMapping/>
  </p:clrMapOvr>
  <p:transition spd="med" advClick="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2D8A68-BA0A-C840-9B63-81DCE1CC2006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150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229600" cy="5029200"/>
          </a:xfrm>
        </p:spPr>
        <p:txBody>
          <a:bodyPr/>
          <a:lstStyle/>
          <a:p>
            <a:pPr algn="just" eaLnBrk="1" hangingPunct="1">
              <a:buFont typeface="Wingdings" charset="2"/>
              <a:buNone/>
            </a:pPr>
            <a:r>
              <a:rPr lang="zh-CN" altLang="en-US">
                <a:solidFill>
                  <a:srgbClr val="003399"/>
                </a:solidFill>
                <a:latin typeface="宋体" charset="-122"/>
              </a:rPr>
              <a:t>	在一个图灵机的动作中，图灵机根据带头（读写头）所扫描的符号和有限控制器的状态可能作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>
                <a:solidFill>
                  <a:srgbClr val="003399"/>
                </a:solidFill>
                <a:latin typeface="宋体" charset="-122"/>
              </a:rPr>
              <a:t>改变状态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>
                <a:solidFill>
                  <a:srgbClr val="003399"/>
                </a:solidFill>
                <a:latin typeface="宋体" charset="-122"/>
              </a:rPr>
              <a:t>在被扫描的带单元上重新写一个符号，以代替原来写在该单元上的符号.</a:t>
            </a: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>
                <a:solidFill>
                  <a:srgbClr val="003399"/>
                </a:solidFill>
                <a:latin typeface="宋体" charset="-122"/>
              </a:rPr>
              <a:t>将带头向左或者右移一个单元。</a:t>
            </a:r>
          </a:p>
          <a:p>
            <a:pPr algn="just" eaLnBrk="1" hangingPunct="1">
              <a:buFont typeface="Wingdings" charset="2"/>
              <a:buNone/>
            </a:pPr>
            <a:endParaRPr lang="zh-CN" altLang="en-US">
              <a:solidFill>
                <a:srgbClr val="003399"/>
              </a:solidFill>
              <a:latin typeface="宋体" charset="-122"/>
            </a:endParaRPr>
          </a:p>
          <a:p>
            <a:pPr algn="just" eaLnBrk="1" hangingPunct="1">
              <a:buFont typeface="Wingdings" charset="2"/>
              <a:buNone/>
            </a:pPr>
            <a:r>
              <a:rPr lang="zh-CN" altLang="en-US">
                <a:solidFill>
                  <a:srgbClr val="003399"/>
                </a:solidFill>
                <a:latin typeface="宋体" charset="-122"/>
              </a:rPr>
              <a:t>* 图灵机和双向有限自动机的区别：图灵机能改变它带上的符号。 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5735638" cy="838200"/>
          </a:xfrm>
        </p:spPr>
        <p:txBody>
          <a:bodyPr/>
          <a:lstStyle/>
          <a:p>
            <a:pPr algn="ctr" eaLnBrk="1" hangingPunct="1"/>
            <a:r>
              <a:rPr lang="zh-CN" altLang="en-US" sz="3200">
                <a:solidFill>
                  <a:srgbClr val="800080"/>
                </a:solidFill>
                <a:ea typeface="华文行楷" charset="-122"/>
              </a:rPr>
              <a:t>图灵机的工作机制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5F4417-851C-9143-80AC-DF96C5C1C643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253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838200" y="5334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图灵机的形式化描述</a:t>
            </a: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304800" y="2286000"/>
            <a:ext cx="3379788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有限状态集</a:t>
            </a:r>
            <a:endParaRPr lang="zh-CN" altLang="en-US" b="0" i="1" baseline="-25000">
              <a:solidFill>
                <a:srgbClr val="003399"/>
              </a:solidFill>
              <a:latin typeface="楷体_GB2312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有限输入符号集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有限带符号集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转移函数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开始状态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特殊带符:空白符</a:t>
            </a:r>
            <a:endParaRPr lang="zh-CN" altLang="en-US" sz="1200" b="0">
              <a:solidFill>
                <a:srgbClr val="003399"/>
              </a:solidFill>
              <a:latin typeface="楷体_GB2312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900" b="0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b="0">
                <a:solidFill>
                  <a:srgbClr val="003399"/>
                </a:solidFill>
                <a:latin typeface="楷体_GB2312" charset="0"/>
              </a:rPr>
              <a:t> 终态集合</a:t>
            </a:r>
          </a:p>
        </p:txBody>
      </p:sp>
      <p:grpSp>
        <p:nvGrpSpPr>
          <p:cNvPr id="22533" name="Group 8"/>
          <p:cNvGrpSpPr>
            <a:grpSpLocks/>
          </p:cNvGrpSpPr>
          <p:nvPr/>
        </p:nvGrpSpPr>
        <p:grpSpPr bwMode="auto">
          <a:xfrm>
            <a:off x="3443288" y="2284413"/>
            <a:ext cx="804862" cy="331787"/>
            <a:chOff x="2448" y="1968"/>
            <a:chExt cx="864" cy="240"/>
          </a:xfrm>
        </p:grpSpPr>
        <p:sp>
          <p:nvSpPr>
            <p:cNvPr id="22555" name="Line 9"/>
            <p:cNvSpPr>
              <a:spLocks noChangeShapeType="1"/>
            </p:cNvSpPr>
            <p:nvPr/>
          </p:nvSpPr>
          <p:spPr bwMode="auto">
            <a:xfrm>
              <a:off x="2448" y="220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6" name="Line 10"/>
            <p:cNvSpPr>
              <a:spLocks noChangeShapeType="1"/>
            </p:cNvSpPr>
            <p:nvPr/>
          </p:nvSpPr>
          <p:spPr bwMode="auto">
            <a:xfrm flipV="1">
              <a:off x="3312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534" name="Group 11"/>
          <p:cNvGrpSpPr>
            <a:grpSpLocks/>
          </p:cNvGrpSpPr>
          <p:nvPr/>
        </p:nvGrpSpPr>
        <p:grpSpPr bwMode="auto">
          <a:xfrm>
            <a:off x="3443288" y="2284413"/>
            <a:ext cx="1528762" cy="1409700"/>
            <a:chOff x="2880" y="1968"/>
            <a:chExt cx="1056" cy="576"/>
          </a:xfrm>
        </p:grpSpPr>
        <p:sp>
          <p:nvSpPr>
            <p:cNvPr id="22553" name="Line 12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4" name="Line 13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535" name="Group 14"/>
          <p:cNvGrpSpPr>
            <a:grpSpLocks/>
          </p:cNvGrpSpPr>
          <p:nvPr/>
        </p:nvGrpSpPr>
        <p:grpSpPr bwMode="auto">
          <a:xfrm>
            <a:off x="3443288" y="2284413"/>
            <a:ext cx="1931987" cy="1908175"/>
            <a:chOff x="2880" y="1968"/>
            <a:chExt cx="1056" cy="576"/>
          </a:xfrm>
        </p:grpSpPr>
        <p:sp>
          <p:nvSpPr>
            <p:cNvPr id="22551" name="Line 15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2" name="Line 16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536" name="Group 17"/>
          <p:cNvGrpSpPr>
            <a:grpSpLocks/>
          </p:cNvGrpSpPr>
          <p:nvPr/>
        </p:nvGrpSpPr>
        <p:grpSpPr bwMode="auto">
          <a:xfrm>
            <a:off x="3443288" y="2284413"/>
            <a:ext cx="2333625" cy="2489200"/>
            <a:chOff x="2880" y="1968"/>
            <a:chExt cx="1056" cy="576"/>
          </a:xfrm>
        </p:grpSpPr>
        <p:sp>
          <p:nvSpPr>
            <p:cNvPr id="22549" name="Line 18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0" name="Line 19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537" name="Group 20"/>
          <p:cNvGrpSpPr>
            <a:grpSpLocks/>
          </p:cNvGrpSpPr>
          <p:nvPr/>
        </p:nvGrpSpPr>
        <p:grpSpPr bwMode="auto">
          <a:xfrm>
            <a:off x="3443288" y="2284413"/>
            <a:ext cx="2816225" cy="2986087"/>
            <a:chOff x="2880" y="1968"/>
            <a:chExt cx="1056" cy="576"/>
          </a:xfrm>
        </p:grpSpPr>
        <p:sp>
          <p:nvSpPr>
            <p:cNvPr id="22547" name="Line 21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8" name="Line 22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2538" name="Text Box 23"/>
          <p:cNvSpPr txBox="1">
            <a:spLocks noChangeArrowheads="1"/>
          </p:cNvSpPr>
          <p:nvPr/>
        </p:nvSpPr>
        <p:spPr bwMode="auto">
          <a:xfrm>
            <a:off x="7224713" y="3643313"/>
            <a:ext cx="153035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q</a:t>
            </a:r>
            <a:r>
              <a:rPr lang="en-US" altLang="zh-CN" sz="2400" i="1" baseline="-25000">
                <a:solidFill>
                  <a:srgbClr val="800080"/>
                </a:solidFill>
                <a:latin typeface="Arial" charset="0"/>
                <a:ea typeface="华文行楷" charset="-122"/>
              </a:rPr>
              <a:t>0</a:t>
            </a:r>
            <a:r>
              <a:rPr lang="en-US" altLang="zh-CN" sz="2400">
                <a:solidFill>
                  <a:srgbClr val="800080"/>
                </a:solidFill>
                <a:ea typeface="华文行楷" charset="-122"/>
                <a:sym typeface="Symbol" charset="2"/>
              </a:rPr>
              <a:t> 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Q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Char char=" "/>
            </a:pPr>
            <a:r>
              <a:rPr lang="en-US" altLang="zh-CN" sz="1000">
                <a:solidFill>
                  <a:srgbClr val="333399"/>
                </a:solidFill>
                <a:ea typeface="华文行楷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800080"/>
                </a:solidFill>
                <a:ea typeface="华文行楷" charset="-122"/>
                <a:sym typeface="Symbol" charset="2"/>
              </a:rPr>
              <a:t>T 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</a:t>
            </a:r>
            <a:endParaRPr lang="en-US" altLang="zh-CN" sz="2400">
              <a:solidFill>
                <a:srgbClr val="800080"/>
              </a:solidFill>
              <a:ea typeface="华文行楷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1000">
                <a:solidFill>
                  <a:srgbClr val="333399"/>
                </a:solidFill>
                <a:ea typeface="华文行楷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 i="1">
                <a:solidFill>
                  <a:srgbClr val="FF6600"/>
                </a:solidFill>
                <a:latin typeface="Arial" charset="0"/>
                <a:ea typeface="华文行楷" charset="-122"/>
              </a:rPr>
              <a:t>B</a:t>
            </a:r>
            <a:r>
              <a:rPr lang="en-US" altLang="zh-CN" sz="2400">
                <a:solidFill>
                  <a:srgbClr val="FF6600"/>
                </a:solidFill>
                <a:ea typeface="华文行楷" charset="-122"/>
                <a:sym typeface="Symbol" charset="2"/>
              </a:rPr>
              <a:t>  </a:t>
            </a:r>
            <a:r>
              <a:rPr lang="en-US" altLang="zh-CN" sz="2400">
                <a:solidFill>
                  <a:srgbClr val="FF6600"/>
                </a:solidFill>
                <a:ea typeface="宋体" charset="-122"/>
                <a:sym typeface="Symbol" charset="2"/>
              </a:rPr>
              <a:t> – T</a:t>
            </a:r>
            <a:endParaRPr lang="en-US" altLang="zh-CN" sz="2400">
              <a:solidFill>
                <a:srgbClr val="FF6600"/>
              </a:solidFill>
              <a:ea typeface="华文行楷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Char char=" "/>
            </a:pPr>
            <a:r>
              <a:rPr lang="en-US" altLang="zh-CN" sz="1000">
                <a:solidFill>
                  <a:srgbClr val="333399"/>
                </a:solidFill>
                <a:ea typeface="华文行楷" charset="-122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F</a:t>
            </a:r>
            <a:r>
              <a:rPr lang="en-US" altLang="zh-CN" sz="2400">
                <a:solidFill>
                  <a:srgbClr val="800080"/>
                </a:solidFill>
                <a:ea typeface="华文行楷" charset="-122"/>
                <a:sym typeface="Symbol" charset="2"/>
              </a:rPr>
              <a:t>  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Q</a:t>
            </a:r>
          </a:p>
        </p:txBody>
      </p:sp>
      <p:sp>
        <p:nvSpPr>
          <p:cNvPr id="22539" name="Rectangle 24"/>
          <p:cNvSpPr>
            <a:spLocks noChangeArrowheads="1"/>
          </p:cNvSpPr>
          <p:nvPr/>
        </p:nvSpPr>
        <p:spPr bwMode="auto">
          <a:xfrm>
            <a:off x="1981200" y="6019800"/>
            <a:ext cx="692150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800080"/>
                </a:solidFill>
                <a:ea typeface="华文行楷" charset="-122"/>
              </a:rPr>
              <a:t>转移函数</a:t>
            </a:r>
            <a:r>
              <a:rPr lang="zh-CN" altLang="en-US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 : 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Q  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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 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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Q  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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 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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{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L,R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} </a:t>
            </a:r>
          </a:p>
        </p:txBody>
      </p:sp>
      <p:sp>
        <p:nvSpPr>
          <p:cNvPr id="22540" name="Rectangle 25"/>
          <p:cNvSpPr>
            <a:spLocks noChangeArrowheads="1"/>
          </p:cNvSpPr>
          <p:nvPr/>
        </p:nvSpPr>
        <p:spPr bwMode="auto">
          <a:xfrm>
            <a:off x="209550" y="1371600"/>
            <a:ext cx="8610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Char char="²"/>
            </a:pPr>
            <a:r>
              <a:rPr lang="zh-CN" altLang="en-US" sz="2400">
                <a:solidFill>
                  <a:srgbClr val="800080"/>
                </a:solidFill>
                <a:ea typeface="华文行楷" charset="-122"/>
              </a:rPr>
              <a:t> 形式定义   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一个图灵机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TM (Turing machine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)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是一个七元组  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                                    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M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</a:rPr>
              <a:t> = (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Q,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</a:rPr>
              <a:t> T, </a:t>
            </a:r>
            <a:r>
              <a:rPr lang="en-US" altLang="zh-CN" sz="2400">
                <a:solidFill>
                  <a:srgbClr val="800080"/>
                </a:solidFill>
                <a:ea typeface="宋体" charset="-122"/>
                <a:sym typeface="Symbol" charset="2"/>
              </a:rPr>
              <a:t>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,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  <a:sym typeface="Symbol" charset="2"/>
              </a:rPr>
              <a:t>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, q</a:t>
            </a:r>
            <a:r>
              <a:rPr lang="en-US" altLang="zh-CN" sz="2400" i="1" baseline="-25000">
                <a:solidFill>
                  <a:srgbClr val="800080"/>
                </a:solidFill>
                <a:latin typeface="Arial" charset="0"/>
                <a:ea typeface="华文行楷" charset="-122"/>
              </a:rPr>
              <a:t>0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, B</a:t>
            </a:r>
            <a:r>
              <a:rPr lang="en-US" altLang="zh-CN" sz="2400" i="1" baseline="-25000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, F </a:t>
            </a:r>
            <a:r>
              <a:rPr lang="en-US" altLang="zh-CN" sz="2400">
                <a:solidFill>
                  <a:srgbClr val="800080"/>
                </a:solidFill>
                <a:latin typeface="Arial" charset="0"/>
                <a:ea typeface="华文行楷" charset="-122"/>
              </a:rPr>
              <a:t>)</a:t>
            </a:r>
            <a:r>
              <a:rPr lang="en-US" altLang="zh-CN" sz="2400">
                <a:latin typeface="Arial" charset="0"/>
                <a:ea typeface="华文行楷" charset="-122"/>
              </a:rPr>
              <a:t>.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</a:t>
            </a:r>
          </a:p>
        </p:txBody>
      </p:sp>
      <p:grpSp>
        <p:nvGrpSpPr>
          <p:cNvPr id="22541" name="Group 26"/>
          <p:cNvGrpSpPr>
            <a:grpSpLocks/>
          </p:cNvGrpSpPr>
          <p:nvPr/>
        </p:nvGrpSpPr>
        <p:grpSpPr bwMode="auto">
          <a:xfrm>
            <a:off x="3443288" y="2284413"/>
            <a:ext cx="1127125" cy="830262"/>
            <a:chOff x="2448" y="1968"/>
            <a:chExt cx="864" cy="240"/>
          </a:xfrm>
        </p:grpSpPr>
        <p:sp>
          <p:nvSpPr>
            <p:cNvPr id="22545" name="Line 27"/>
            <p:cNvSpPr>
              <a:spLocks noChangeShapeType="1"/>
            </p:cNvSpPr>
            <p:nvPr/>
          </p:nvSpPr>
          <p:spPr bwMode="auto">
            <a:xfrm>
              <a:off x="2448" y="220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6" name="Line 28"/>
            <p:cNvSpPr>
              <a:spLocks noChangeShapeType="1"/>
            </p:cNvSpPr>
            <p:nvPr/>
          </p:nvSpPr>
          <p:spPr bwMode="auto">
            <a:xfrm flipV="1">
              <a:off x="3312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22542" name="Group 29"/>
          <p:cNvGrpSpPr>
            <a:grpSpLocks/>
          </p:cNvGrpSpPr>
          <p:nvPr/>
        </p:nvGrpSpPr>
        <p:grpSpPr bwMode="auto">
          <a:xfrm>
            <a:off x="3443288" y="2284413"/>
            <a:ext cx="3298825" cy="3567112"/>
            <a:chOff x="2880" y="1968"/>
            <a:chExt cx="1056" cy="576"/>
          </a:xfrm>
        </p:grpSpPr>
        <p:sp>
          <p:nvSpPr>
            <p:cNvPr id="22543" name="Line 30"/>
            <p:cNvSpPr>
              <a:spLocks noChangeShapeType="1"/>
            </p:cNvSpPr>
            <p:nvPr/>
          </p:nvSpPr>
          <p:spPr bwMode="auto">
            <a:xfrm>
              <a:off x="2880" y="254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4" name="Line 31"/>
            <p:cNvSpPr>
              <a:spLocks noChangeShapeType="1"/>
            </p:cNvSpPr>
            <p:nvPr/>
          </p:nvSpPr>
          <p:spPr bwMode="auto">
            <a:xfrm flipV="1">
              <a:off x="3936" y="196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5E6E31-29B1-7248-A54E-95F9EF7492A5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3554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512175" cy="5562600"/>
          </a:xfrm>
        </p:spPr>
        <p:txBody>
          <a:bodyPr/>
          <a:lstStyle/>
          <a:p>
            <a:pPr algn="just" eaLnBrk="1" hangingPunct="1"/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δ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函数示例：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  Q×∑ → Q×∑×{L ,R}</a:t>
            </a:r>
          </a:p>
          <a:p>
            <a:pPr lvl="1" algn="just" eaLnBrk="1" hangingPunct="1">
              <a:buFont typeface="Wingdings" charset="2"/>
              <a:buNone/>
            </a:pPr>
            <a:r>
              <a:rPr lang="en-US" altLang="zh-CN" sz="2400" b="1">
                <a:solidFill>
                  <a:srgbClr val="003399"/>
                </a:solidFill>
                <a:latin typeface="楷体_GB2312" charset="0"/>
              </a:rPr>
              <a:t> δ(q,a</a:t>
            </a:r>
            <a:r>
              <a:rPr lang="en-US" altLang="zh-CN" sz="2400" b="1" baseline="-30000">
                <a:solidFill>
                  <a:srgbClr val="003399"/>
                </a:solidFill>
                <a:latin typeface="楷体_GB2312" charset="0"/>
              </a:rPr>
              <a:t>i</a:t>
            </a:r>
            <a:r>
              <a:rPr lang="en-US" altLang="zh-CN" sz="2400" b="1">
                <a:solidFill>
                  <a:srgbClr val="003399"/>
                </a:solidFill>
                <a:latin typeface="楷体_GB2312" charset="0"/>
              </a:rPr>
              <a:t>)=(p,B,L)   q, p ∈Q</a:t>
            </a:r>
          </a:p>
          <a:p>
            <a:pPr lvl="1" algn="just" eaLnBrk="1" hangingPunct="1">
              <a:buFont typeface="Wingdings" charset="2"/>
              <a:buNone/>
            </a:pPr>
            <a:r>
              <a:rPr lang="en-US" altLang="zh-CN" sz="2400" b="1">
                <a:solidFill>
                  <a:srgbClr val="003399"/>
                </a:solidFill>
                <a:latin typeface="楷体_GB2312" charset="0"/>
                <a:ea typeface="宋体" charset="-122"/>
              </a:rPr>
              <a:t>  δ(q,a</a:t>
            </a:r>
            <a:r>
              <a:rPr lang="en-US" altLang="zh-CN" sz="2400" b="1" baseline="-30000">
                <a:solidFill>
                  <a:srgbClr val="003399"/>
                </a:solidFill>
                <a:latin typeface="楷体_GB2312" charset="0"/>
                <a:ea typeface="宋体" charset="-122"/>
              </a:rPr>
              <a:t>i</a:t>
            </a:r>
            <a:r>
              <a:rPr lang="en-US" altLang="zh-CN" sz="2400" b="1">
                <a:solidFill>
                  <a:srgbClr val="003399"/>
                </a:solidFill>
                <a:latin typeface="楷体_GB2312" charset="0"/>
                <a:ea typeface="宋体" charset="-122"/>
              </a:rPr>
              <a:t>)=(p,b,R)    a</a:t>
            </a:r>
            <a:r>
              <a:rPr lang="en-US" altLang="zh-CN" sz="2400" b="1" baseline="-30000">
                <a:solidFill>
                  <a:srgbClr val="003399"/>
                </a:solidFill>
                <a:latin typeface="楷体_GB2312" charset="0"/>
                <a:ea typeface="宋体" charset="-122"/>
              </a:rPr>
              <a:t>i</a:t>
            </a:r>
            <a:r>
              <a:rPr lang="en-US" altLang="zh-CN" sz="2400" b="1">
                <a:solidFill>
                  <a:srgbClr val="003399"/>
                </a:solidFill>
                <a:latin typeface="楷体_GB2312" charset="0"/>
                <a:ea typeface="宋体" charset="-122"/>
              </a:rPr>
              <a:t>∈∑   b∈∑</a:t>
            </a:r>
            <a:r>
              <a:rPr lang="en-US" altLang="zh-CN" sz="2400" b="1">
                <a:solidFill>
                  <a:srgbClr val="003399"/>
                </a:solidFill>
                <a:latin typeface="楷体_GB2312" charset="0"/>
              </a:rPr>
              <a:t> </a:t>
            </a:r>
          </a:p>
          <a:p>
            <a:pPr algn="just" eaLnBrk="1" hangingPunct="1"/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格局</a:t>
            </a:r>
          </a:p>
          <a:p>
            <a:pPr lvl="1"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用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q 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描述图灵机的瞬间工作状态</a:t>
            </a:r>
          </a:p>
          <a:p>
            <a:pPr lvl="1"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q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为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M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的当前状态， 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∈ ∑</a:t>
            </a:r>
            <a:r>
              <a:rPr lang="en-US" altLang="zh-CN" sz="2400" baseline="30000">
                <a:solidFill>
                  <a:srgbClr val="003399"/>
                </a:solidFill>
                <a:latin typeface="楷体_GB2312" charset="0"/>
              </a:rPr>
              <a:t>*</a:t>
            </a:r>
            <a:endParaRPr lang="en-US" altLang="zh-CN" sz="2400">
              <a:solidFill>
                <a:srgbClr val="003399"/>
              </a:solidFill>
              <a:latin typeface="楷体_GB2312" charset="0"/>
            </a:endParaRPr>
          </a:p>
          <a:p>
            <a:pPr lvl="1"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是当前时刻从开始端（因为可写）到右边空白符号为止的内容</a:t>
            </a:r>
          </a:p>
          <a:p>
            <a:pPr lvl="1"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当读写头已达到带的右端，则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为读写头以左的内容。</a:t>
            </a:r>
          </a:p>
          <a:p>
            <a:pPr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约定：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q 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表示读写头正扫描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的最左字符</a:t>
            </a:r>
          </a:p>
          <a:p>
            <a:pPr algn="just" eaLnBrk="1" hangingPunct="1">
              <a:lnSpc>
                <a:spcPct val="120000"/>
              </a:lnSpc>
              <a:buFont typeface="Wingdings" charset="2"/>
              <a:buNone/>
            </a:pP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		w</a:t>
            </a:r>
            <a:r>
              <a:rPr lang="en-US" altLang="zh-CN" sz="2400" baseline="-30000">
                <a:solidFill>
                  <a:srgbClr val="003399"/>
                </a:solidFill>
                <a:latin typeface="楷体_GB2312" charset="0"/>
              </a:rPr>
              <a:t>2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＝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  <a:sym typeface="Symbol" charset="2"/>
              </a:rPr>
              <a:t>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 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则表示读写头正扫描一个空白字符。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title"/>
          </p:nvPr>
        </p:nvSpPr>
        <p:spPr>
          <a:xfrm>
            <a:off x="1350963" y="304800"/>
            <a:ext cx="5735637" cy="838200"/>
          </a:xfrm>
        </p:spPr>
        <p:txBody>
          <a:bodyPr/>
          <a:lstStyle/>
          <a:p>
            <a:pPr algn="ctr" eaLnBrk="1" hangingPunct="1"/>
            <a:r>
              <a:rPr lang="zh-CN" altLang="en-US" sz="3200">
                <a:solidFill>
                  <a:srgbClr val="800080"/>
                </a:solidFill>
                <a:ea typeface="华文行楷" charset="-122"/>
              </a:rPr>
              <a:t>图灵机的函数与格局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8FA946-E3BB-C84C-B535-343F9A31EA49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457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457200" y="5334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图灵机的格局</a:t>
            </a:r>
            <a:endParaRPr lang="en-US" altLang="zh-CN" sz="3200">
              <a:solidFill>
                <a:srgbClr val="800080"/>
              </a:solidFill>
              <a:latin typeface="Arial" charset="0"/>
              <a:ea typeface="华文行楷" charset="-122"/>
            </a:endParaRPr>
          </a:p>
        </p:txBody>
      </p:sp>
      <p:sp>
        <p:nvSpPr>
          <p:cNvPr id="24580" name="Rectangle 11"/>
          <p:cNvSpPr>
            <a:spLocks noChangeArrowheads="1"/>
          </p:cNvSpPr>
          <p:nvPr/>
        </p:nvSpPr>
        <p:spPr bwMode="auto">
          <a:xfrm>
            <a:off x="304800" y="1295400"/>
            <a:ext cx="8001000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800080"/>
              </a:buClr>
              <a:buSzTx/>
              <a:buFont typeface="Wingdings" charset="2"/>
              <a:buChar char="²"/>
            </a:pP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 给定图灵机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= (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Q,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T,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sym typeface="Symbol" charset="2"/>
              </a:rPr>
              <a:t>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sym typeface="Symbol" charset="2"/>
              </a:rPr>
              <a:t>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q</a:t>
            </a:r>
            <a:r>
              <a:rPr lang="en-US" altLang="zh-CN" sz="2400" i="1" baseline="-25000">
                <a:solidFill>
                  <a:srgbClr val="333399"/>
                </a:solidFill>
                <a:latin typeface="Arial" charset="0"/>
              </a:rPr>
              <a:t>0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B</a:t>
            </a:r>
            <a:r>
              <a:rPr lang="en-US" altLang="zh-CN" sz="2400" i="1" baseline="-25000">
                <a:solidFill>
                  <a:srgbClr val="333399"/>
                </a:solidFill>
                <a:latin typeface="Arial" charset="0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F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) 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定义格局之间的推导关系</a:t>
            </a:r>
            <a:r>
              <a:rPr lang="zh-CN" altLang="en-US" sz="2400">
                <a:solidFill>
                  <a:srgbClr val="800080"/>
                </a:solidFill>
                <a:latin typeface="Arial" charset="0"/>
              </a:rPr>
              <a:t>├</a:t>
            </a:r>
            <a:r>
              <a:rPr lang="en-US" altLang="zh-CN" sz="2400" i="1" baseline="-25000">
                <a:solidFill>
                  <a:srgbClr val="800080"/>
                </a:solidFill>
                <a:latin typeface="Arial" charset="0"/>
              </a:rPr>
              <a:t>M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如下：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800080"/>
              </a:buClr>
              <a:buSzTx/>
              <a:buFont typeface="Wingdings" charset="2"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1.  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设 </a:t>
            </a:r>
            <a:r>
              <a:rPr lang="zh-CN" altLang="en-US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(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q,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)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=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(p, Y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, L )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则有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+1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-2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pX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但有如下两个例外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（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）</a:t>
            </a:r>
            <a:r>
              <a:rPr lang="en-US" altLang="zh-CN" sz="2000" i="1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=1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时，  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pYX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4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（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）</a:t>
            </a:r>
            <a:r>
              <a:rPr lang="en-US" altLang="zh-CN" sz="2000" i="1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=n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及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=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时，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pX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n-1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800080"/>
              </a:buClr>
              <a:buSzTx/>
              <a:buFont typeface="Wingdings" charset="2"/>
              <a:buNone/>
            </a:pP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2.  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设 </a:t>
            </a:r>
            <a:r>
              <a:rPr lang="zh-CN" altLang="en-US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(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q,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)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=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(p, Y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, R )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则有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-1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 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+1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 p X</a:t>
            </a:r>
            <a:r>
              <a:rPr lang="en-US" altLang="zh-CN" sz="2000" i="1" baseline="-25000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+1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但有如下两个例外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：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（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）</a:t>
            </a:r>
            <a:r>
              <a:rPr lang="en-US" altLang="zh-CN" sz="2000" i="1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=n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时，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 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 p B</a:t>
            </a:r>
            <a:r>
              <a:rPr lang="en-US" altLang="zh-CN" sz="2000" i="1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和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     （</a:t>
            </a:r>
            <a:r>
              <a:rPr lang="zh-CN" altLang="en-US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）</a:t>
            </a:r>
            <a:r>
              <a:rPr lang="en-US" altLang="zh-CN" sz="2000" i="1">
                <a:solidFill>
                  <a:srgbClr val="333399"/>
                </a:solidFill>
                <a:ea typeface="华文行楷" charset="-122"/>
              </a:rPr>
              <a:t>i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=1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及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华文行楷" charset="-122"/>
              </a:rPr>
              <a:t>=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时，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 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 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 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p 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…X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n-1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</a:rPr>
              <a:t>.</a:t>
            </a:r>
            <a:endParaRPr lang="zh-CN" altLang="en-US" sz="2400">
              <a:solidFill>
                <a:srgbClr val="333399"/>
              </a:solidFill>
              <a:latin typeface="Arial" charset="0"/>
              <a:ea typeface="华文行楷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72FD19-0D69-4B4B-B30E-51E9AD4D6FBB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5602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5603" name="Rectangle 2"/>
          <p:cNvSpPr>
            <a:spLocks noChangeArrowheads="1"/>
          </p:cNvSpPr>
          <p:nvPr/>
        </p:nvSpPr>
        <p:spPr bwMode="auto">
          <a:xfrm>
            <a:off x="1524000" y="457200"/>
            <a:ext cx="624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图灵机接受的语言</a:t>
            </a:r>
            <a:endParaRPr lang="en-US" altLang="zh-CN" sz="3200">
              <a:solidFill>
                <a:srgbClr val="800080"/>
              </a:solidFill>
              <a:latin typeface="Arial" charset="0"/>
              <a:ea typeface="华文行楷" charset="-122"/>
            </a:endParaRP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81000" y="1371600"/>
            <a:ext cx="8534400" cy="367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003399"/>
                </a:solidFill>
                <a:ea typeface="宋体" charset="-122"/>
              </a:rPr>
              <a:t>L(M) = {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ω│ω∈T</a:t>
            </a:r>
            <a:r>
              <a:rPr lang="en-US" altLang="zh-CN" sz="2400" baseline="30000">
                <a:solidFill>
                  <a:srgbClr val="003399"/>
                </a:solidFill>
                <a:latin typeface="宋体" charset="-122"/>
                <a:ea typeface="宋体" charset="-122"/>
              </a:rPr>
              <a:t>*</a:t>
            </a:r>
            <a:r>
              <a:rPr lang="zh-CN" altLang="en-US" sz="2400">
                <a:solidFill>
                  <a:srgbClr val="003399"/>
                </a:solidFill>
                <a:latin typeface="宋体" charset="-122"/>
                <a:ea typeface="宋体" charset="-122"/>
              </a:rPr>
              <a:t>且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q</a:t>
            </a:r>
            <a:r>
              <a:rPr lang="en-US" altLang="zh-CN" sz="2400" baseline="-30000">
                <a:solidFill>
                  <a:srgbClr val="003399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ω├</a:t>
            </a:r>
            <a:r>
              <a:rPr lang="en-US" altLang="zh-CN" sz="2400" baseline="30000">
                <a:solidFill>
                  <a:srgbClr val="003399"/>
                </a:solidFill>
                <a:latin typeface="宋体" charset="-122"/>
                <a:ea typeface="宋体" charset="-122"/>
              </a:rPr>
              <a:t>* 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α</a:t>
            </a:r>
            <a:r>
              <a:rPr lang="en-US" altLang="zh-CN" sz="2400" baseline="-30000">
                <a:solidFill>
                  <a:srgbClr val="003399"/>
                </a:solidFill>
                <a:latin typeface="宋体" charset="-122"/>
                <a:ea typeface="宋体" charset="-122"/>
              </a:rPr>
              <a:t>1 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p α</a:t>
            </a:r>
            <a:r>
              <a:rPr lang="en-US" altLang="zh-CN" sz="2400" baseline="-30000">
                <a:solidFill>
                  <a:srgbClr val="003399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  ,p∈F, α</a:t>
            </a:r>
            <a:r>
              <a:rPr lang="en-US" altLang="zh-CN" sz="2400" baseline="-30000">
                <a:solidFill>
                  <a:srgbClr val="003399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α</a:t>
            </a:r>
            <a:r>
              <a:rPr lang="en-US" altLang="zh-CN" sz="2400" baseline="-30000">
                <a:solidFill>
                  <a:srgbClr val="003399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∈∑</a:t>
            </a:r>
            <a:r>
              <a:rPr lang="en-US" altLang="zh-CN" sz="2400" baseline="30000">
                <a:solidFill>
                  <a:srgbClr val="003399"/>
                </a:solidFill>
                <a:latin typeface="宋体" charset="-122"/>
                <a:ea typeface="宋体" charset="-122"/>
              </a:rPr>
              <a:t>*</a:t>
            </a:r>
            <a:r>
              <a:rPr lang="en-US" altLang="zh-CN" sz="2400">
                <a:solidFill>
                  <a:srgbClr val="003399"/>
                </a:solidFill>
                <a:latin typeface="宋体" charset="-122"/>
                <a:ea typeface="宋体" charset="-122"/>
              </a:rPr>
              <a:t>}</a:t>
            </a:r>
            <a:endParaRPr lang="en-US" altLang="zh-CN" sz="2400">
              <a:solidFill>
                <a:srgbClr val="003399"/>
              </a:solidFill>
              <a:ea typeface="宋体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zh-CN" altLang="en-US" sz="2400">
              <a:solidFill>
                <a:srgbClr val="003399"/>
              </a:solidFill>
              <a:latin typeface="宋体" charset="-122"/>
              <a:ea typeface="宋体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    图灵机接受的语言是输入字母表中这样一些字符串的集合，初始时，这些字符串放在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M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的带上，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M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处于状态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q</a:t>
            </a:r>
            <a:r>
              <a:rPr lang="en-US" altLang="zh-CN" sz="2400" b="0" baseline="-30000">
                <a:solidFill>
                  <a:srgbClr val="003399"/>
                </a:solidFill>
                <a:latin typeface="楷体_GB2312" charset="0"/>
                <a:ea typeface="宋体" charset="-122"/>
              </a:rPr>
              <a:t>0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，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且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M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的带头处在最左单元上，这些字符串将使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M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进入某个终止状态。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CC0066"/>
                </a:solidFill>
                <a:latin typeface="楷体_GB2312" charset="0"/>
                <a:ea typeface="宋体" charset="-122"/>
              </a:rPr>
              <a:t>假定：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 b="0">
                <a:solidFill>
                  <a:srgbClr val="003399"/>
                </a:solidFill>
                <a:latin typeface="楷体_GB2312" charset="0"/>
                <a:ea typeface="宋体" charset="-122"/>
              </a:rPr>
              <a:t>   当输入被接受时，图灵机将停止，没有下一个动作。</a:t>
            </a: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38750E-59BE-164C-A23E-1C2C4E30F758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662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6627" name="Rectangle 7"/>
          <p:cNvSpPr>
            <a:spLocks noChangeArrowheads="1"/>
          </p:cNvSpPr>
          <p:nvPr/>
        </p:nvSpPr>
        <p:spPr bwMode="auto">
          <a:xfrm>
            <a:off x="304800" y="1219200"/>
            <a:ext cx="8458200" cy="534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     任给图灵机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= (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Q,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T,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sym typeface="Symbol" charset="2"/>
              </a:rPr>
              <a:t>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sym typeface="Symbol" charset="2"/>
              </a:rPr>
              <a:t>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q</a:t>
            </a:r>
            <a:r>
              <a:rPr lang="en-US" altLang="zh-CN" sz="2400" i="1" baseline="-25000">
                <a:solidFill>
                  <a:srgbClr val="333399"/>
                </a:solidFill>
                <a:latin typeface="Arial" charset="0"/>
              </a:rPr>
              <a:t>0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B</a:t>
            </a:r>
            <a:r>
              <a:rPr lang="en-US" altLang="zh-CN" sz="2400" i="1" baseline="-25000">
                <a:solidFill>
                  <a:srgbClr val="333399"/>
                </a:solidFill>
                <a:latin typeface="Arial" charset="0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, F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) 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以及输入字符串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w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sym typeface="Symbol" charset="2"/>
              </a:rPr>
              <a:t>T*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.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试问：对于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w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，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是否停机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？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停机是指图灵机不存在下一个移动步（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move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）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Char char="²"/>
            </a:pPr>
            <a:r>
              <a:rPr lang="zh-CN" altLang="en-US" sz="2400">
                <a:solidFill>
                  <a:srgbClr val="800080"/>
                </a:solidFill>
                <a:latin typeface="Arial" charset="0"/>
              </a:rPr>
              <a:t> 结论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图灵机的停机问题是不可解的（即不可判定的）.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Char char="²"/>
            </a:pPr>
            <a:r>
              <a:rPr lang="zh-CN" altLang="en-US" sz="2400">
                <a:solidFill>
                  <a:srgbClr val="800080"/>
                </a:solidFill>
                <a:latin typeface="Arial" charset="0"/>
              </a:rPr>
              <a:t> 结论 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任给图灵机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 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很容易构造一个图灵机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sym typeface="Symbol" charset="2"/>
              </a:rPr>
              <a:t>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使得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L(M)= L(M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sym typeface="Symbol" charset="2"/>
              </a:rPr>
              <a:t>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)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并满足：如果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w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sym typeface="Symbol" charset="2"/>
              </a:rPr>
              <a:t>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L(M)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sym typeface="Symbol" charset="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，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则对于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w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</a:rPr>
              <a:t>，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M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sym typeface="Symbol" charset="2"/>
              </a:rPr>
              <a:t> 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接受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</a:rPr>
              <a:t>w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并一定停机.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      如果没有特别指出，总是假定图灵机到达终态（接受态）后一定停机.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800080"/>
                </a:solidFill>
                <a:latin typeface="Arial" charset="0"/>
              </a:rPr>
              <a:t>      但是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</a:rPr>
              <a:t> ，</a:t>
            </a:r>
            <a:r>
              <a:rPr lang="zh-CN" altLang="en-US" sz="2400">
                <a:solidFill>
                  <a:srgbClr val="003399"/>
                </a:solidFill>
                <a:latin typeface="Arial" charset="0"/>
              </a:rPr>
              <a:t>对不能接受的字符串，图灵机可能永不停止.（只要</a:t>
            </a:r>
            <a:r>
              <a:rPr lang="en-US" altLang="zh-CN" sz="2400">
                <a:solidFill>
                  <a:srgbClr val="003399"/>
                </a:solidFill>
                <a:latin typeface="Arial" charset="0"/>
              </a:rPr>
              <a:t>M</a:t>
            </a:r>
            <a:r>
              <a:rPr lang="zh-CN" altLang="en-US" sz="2400">
                <a:solidFill>
                  <a:srgbClr val="003399"/>
                </a:solidFill>
                <a:latin typeface="Arial" charset="0"/>
              </a:rPr>
              <a:t>还在某个输入上运行，我们无法知道是因为运行的时间不够长而没有被接受，还是根本就不会停机）</a:t>
            </a:r>
            <a:endParaRPr lang="en-US" altLang="zh-CN" sz="2400">
              <a:solidFill>
                <a:srgbClr val="333399"/>
              </a:solidFill>
              <a:latin typeface="Arial" charset="0"/>
            </a:endParaRPr>
          </a:p>
        </p:txBody>
      </p:sp>
      <p:sp>
        <p:nvSpPr>
          <p:cNvPr id="26628" name="Rectangle 11"/>
          <p:cNvSpPr>
            <a:spLocks noChangeArrowheads="1"/>
          </p:cNvSpPr>
          <p:nvPr/>
        </p:nvSpPr>
        <p:spPr bwMode="auto">
          <a:xfrm>
            <a:off x="685800" y="6019800"/>
            <a:ext cx="830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</a:rPr>
              <a:t>   </a:t>
            </a:r>
          </a:p>
        </p:txBody>
      </p:sp>
      <p:sp>
        <p:nvSpPr>
          <p:cNvPr id="26629" name="Text Box 12"/>
          <p:cNvSpPr txBox="1">
            <a:spLocks noChangeArrowheads="1"/>
          </p:cNvSpPr>
          <p:nvPr/>
        </p:nvSpPr>
        <p:spPr bwMode="auto">
          <a:xfrm>
            <a:off x="1866900" y="411163"/>
            <a:ext cx="36258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r">
              <a:buFont typeface="Wingdings" charset="2"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charset="-122"/>
              </a:rPr>
              <a:t> 图灵机的停机问题</a:t>
            </a:r>
            <a:r>
              <a:rPr lang="zh-CN" altLang="en-US">
                <a:solidFill>
                  <a:srgbClr val="800080"/>
                </a:solidFill>
                <a:ea typeface="华文行楷" charset="-122"/>
              </a:rPr>
              <a:t> </a:t>
            </a: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B8B3FC-3553-3442-8C4E-86FB79DC3007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765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1600200" y="457200"/>
            <a:ext cx="6248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图灵机举例</a:t>
            </a:r>
            <a:endParaRPr lang="en-US" altLang="zh-CN" sz="3200">
              <a:solidFill>
                <a:srgbClr val="800080"/>
              </a:solidFill>
              <a:latin typeface="Arial" charset="0"/>
              <a:ea typeface="华文行楷" charset="-122"/>
            </a:endParaRPr>
          </a:p>
        </p:txBody>
      </p:sp>
      <p:sp>
        <p:nvSpPr>
          <p:cNvPr id="11269" name="Rectangle 3"/>
          <p:cNvSpPr>
            <a:spLocks noChangeArrowheads="1"/>
          </p:cNvSpPr>
          <p:nvPr/>
        </p:nvSpPr>
        <p:spPr bwMode="auto">
          <a:xfrm>
            <a:off x="179388" y="1341438"/>
            <a:ext cx="8763000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例1：设语言 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L={a</a:t>
            </a:r>
            <a:r>
              <a:rPr lang="en-US" altLang="zh-CN" sz="2400" baseline="30000">
                <a:solidFill>
                  <a:srgbClr val="003399"/>
                </a:solidFill>
                <a:latin typeface="楷体_GB2312" charset="0"/>
              </a:rPr>
              <a:t>n 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en-US" altLang="zh-CN" sz="2400" baseline="30000">
                <a:solidFill>
                  <a:srgbClr val="003399"/>
                </a:solidFill>
                <a:latin typeface="楷体_GB2312" charset="0"/>
              </a:rPr>
              <a:t>n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│n&gt;=1}，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设计图灵机接受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L 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思路：最初带上为     </a:t>
            </a: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a a</a:t>
            </a:r>
            <a:r>
              <a:rPr lang="zh-CN" altLang="en-US" sz="2400">
                <a:solidFill>
                  <a:srgbClr val="FF6600"/>
                </a:solidFill>
                <a:latin typeface="楷体_GB2312" charset="0"/>
              </a:rPr>
              <a:t> </a:t>
            </a:r>
            <a:r>
              <a:rPr lang="zh-CN" altLang="en-US" sz="2400">
                <a:solidFill>
                  <a:srgbClr val="FF6600"/>
                </a:solidFill>
              </a:rPr>
              <a:t>…</a:t>
            </a:r>
            <a:r>
              <a:rPr lang="zh-CN" altLang="en-US" sz="2400">
                <a:solidFill>
                  <a:srgbClr val="FF6600"/>
                </a:solidFill>
                <a:latin typeface="楷体_GB2312" charset="0"/>
              </a:rPr>
              <a:t> </a:t>
            </a: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a  b b</a:t>
            </a:r>
            <a:r>
              <a:rPr lang="en-US" altLang="zh-CN" sz="2400">
                <a:solidFill>
                  <a:srgbClr val="FF6600"/>
                </a:solidFill>
              </a:rPr>
              <a:t>…</a:t>
            </a: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 b B B B </a:t>
            </a:r>
            <a:r>
              <a:rPr lang="en-US" altLang="zh-CN" sz="2400">
                <a:solidFill>
                  <a:srgbClr val="FF6600"/>
                </a:solidFill>
              </a:rPr>
              <a:t>……</a:t>
            </a:r>
            <a:endParaRPr lang="en-US" altLang="zh-CN" sz="2400">
              <a:solidFill>
                <a:srgbClr val="FF6600"/>
              </a:solidFill>
              <a:latin typeface="楷体_GB2312" charset="0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	    			n</a:t>
            </a:r>
            <a:r>
              <a:rPr lang="zh-CN" altLang="en-US" sz="2400">
                <a:solidFill>
                  <a:srgbClr val="FF6600"/>
                </a:solidFill>
                <a:latin typeface="楷体_GB2312" charset="0"/>
              </a:rPr>
              <a:t>个</a:t>
            </a: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a     n</a:t>
            </a:r>
            <a:r>
              <a:rPr lang="zh-CN" altLang="en-US" sz="2400">
                <a:solidFill>
                  <a:srgbClr val="FF6600"/>
                </a:solidFill>
                <a:latin typeface="楷体_GB2312" charset="0"/>
              </a:rPr>
              <a:t>个</a:t>
            </a:r>
            <a:r>
              <a:rPr lang="en-US" altLang="zh-CN" sz="2400">
                <a:solidFill>
                  <a:srgbClr val="FF6600"/>
                </a:solidFill>
                <a:latin typeface="楷体_GB2312" charset="0"/>
              </a:rPr>
              <a:t>b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首先用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x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替换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M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最左边的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a，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再右移至最左边的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用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y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替换之，左移寻找最右的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x，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然后右移一单元到最左的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a，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重复循环。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如果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（1）当在搜寻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时，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M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找到了空白符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则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M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停止，不接受该串。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    （此时，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a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的个数大于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的个数）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（2） 当将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改为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y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后，左边再也找不到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a，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此时,若右边再无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接受；若仍有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b，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则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b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的个数大于</a:t>
            </a:r>
            <a:r>
              <a:rPr lang="en-US" altLang="zh-CN" sz="2400">
                <a:solidFill>
                  <a:srgbClr val="003399"/>
                </a:solidFill>
                <a:latin typeface="楷体_GB2312" charset="0"/>
              </a:rPr>
              <a:t>a</a:t>
            </a: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的个数，不接受。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832AA6-F051-2941-9082-03E08F27D50A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8674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graphicFrame>
        <p:nvGraphicFramePr>
          <p:cNvPr id="28675" name="Object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251092"/>
              </p:ext>
            </p:extLst>
          </p:nvPr>
        </p:nvGraphicFramePr>
        <p:xfrm>
          <a:off x="1588" y="1517650"/>
          <a:ext cx="7234237" cy="502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4686300" imgH="3111500" progId="Word.Picture.8">
                  <p:embed/>
                </p:oleObj>
              </mc:Choice>
              <mc:Fallback>
                <p:oleObj name="图片" r:id="rId2" imgW="4686300" imgH="3111500" progId="Word.Picture.8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17650"/>
                        <a:ext cx="7234237" cy="502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6" name="Rectangle 107"/>
          <p:cNvSpPr>
            <a:spLocks noChangeArrowheads="1"/>
          </p:cNvSpPr>
          <p:nvPr/>
        </p:nvSpPr>
        <p:spPr bwMode="auto">
          <a:xfrm>
            <a:off x="1476375" y="533400"/>
            <a:ext cx="6296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charset="0"/>
                <a:ea typeface="华文行楷" charset="-122"/>
              </a:rPr>
              <a:t>例</a:t>
            </a:r>
            <a:r>
              <a:rPr lang="en-US" altLang="zh-CN" sz="3200" dirty="0">
                <a:solidFill>
                  <a:srgbClr val="800080"/>
                </a:solidFill>
                <a:latin typeface="Arial" charset="0"/>
                <a:ea typeface="华文行楷" charset="-122"/>
              </a:rPr>
              <a:t>1   </a:t>
            </a:r>
            <a:r>
              <a:rPr lang="en-US" altLang="zh-CN" dirty="0">
                <a:solidFill>
                  <a:srgbClr val="800080"/>
                </a:solidFill>
                <a:latin typeface="Arial" charset="0"/>
                <a:ea typeface="华文行楷" charset="-122"/>
              </a:rPr>
              <a:t>L={a</a:t>
            </a:r>
            <a:r>
              <a:rPr lang="en-US" altLang="zh-CN" baseline="30000" dirty="0">
                <a:solidFill>
                  <a:srgbClr val="800080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dirty="0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dirty="0" err="1">
                <a:solidFill>
                  <a:srgbClr val="800080"/>
                </a:solidFill>
                <a:latin typeface="Arial" charset="0"/>
                <a:ea typeface="华文行楷" charset="-122"/>
              </a:rPr>
              <a:t>b</a:t>
            </a:r>
            <a:r>
              <a:rPr lang="en-US" altLang="zh-CN" baseline="30000" dirty="0" err="1">
                <a:solidFill>
                  <a:srgbClr val="800080"/>
                </a:solidFill>
                <a:latin typeface="Arial" charset="0"/>
                <a:ea typeface="华文行楷" charset="-122"/>
              </a:rPr>
              <a:t>n</a:t>
            </a:r>
            <a:r>
              <a:rPr lang="en-US" altLang="zh-CN" dirty="0" err="1">
                <a:solidFill>
                  <a:srgbClr val="800080"/>
                </a:solidFill>
                <a:latin typeface="Arial" charset="0"/>
                <a:ea typeface="华文行楷" charset="-122"/>
              </a:rPr>
              <a:t>│n</a:t>
            </a:r>
            <a:r>
              <a:rPr lang="en-US" altLang="zh-CN" dirty="0">
                <a:solidFill>
                  <a:srgbClr val="800080"/>
                </a:solidFill>
                <a:latin typeface="Arial" charset="0"/>
                <a:ea typeface="华文行楷" charset="-122"/>
              </a:rPr>
              <a:t>&gt;=1}</a:t>
            </a:r>
            <a:endParaRPr lang="zh-CN" altLang="en-US" dirty="0">
              <a:solidFill>
                <a:srgbClr val="800080"/>
              </a:solidFill>
              <a:latin typeface="Arial" charset="0"/>
              <a:ea typeface="华文行楷" charset="-122"/>
            </a:endParaRPr>
          </a:p>
        </p:txBody>
      </p:sp>
      <p:sp>
        <p:nvSpPr>
          <p:cNvPr id="750700" name="Text Box 108"/>
          <p:cNvSpPr txBox="1">
            <a:spLocks noChangeArrowheads="1"/>
          </p:cNvSpPr>
          <p:nvPr/>
        </p:nvSpPr>
        <p:spPr bwMode="auto">
          <a:xfrm>
            <a:off x="6400800" y="609600"/>
            <a:ext cx="2743200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,a)=(q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,x,R)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,a)=(q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,a,R)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,b)=(q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,y,L)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,a)=(q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,a,L)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,y,L)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,x)=(q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,x,R)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,y,R)</a:t>
            </a:r>
            <a:endParaRPr lang="en-US" altLang="zh-CN" sz="2000" b="0">
              <a:solidFill>
                <a:schemeClr val="tx2"/>
              </a:solidFill>
              <a:ea typeface="宋体" charset="-122"/>
            </a:endParaRPr>
          </a:p>
          <a:p>
            <a:pPr>
              <a:spcBef>
                <a:spcPct val="50000"/>
              </a:spcBef>
              <a:buFont typeface="Wingdings" charset="2"/>
              <a:buNone/>
            </a:pP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δ(q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,B)=(q</a:t>
            </a:r>
            <a:r>
              <a:rPr lang="en-US" altLang="zh-CN" sz="2000" b="0" baseline="-30000">
                <a:solidFill>
                  <a:schemeClr val="tx2"/>
                </a:solidFill>
                <a:latin typeface="宋体" charset="-122"/>
                <a:ea typeface="宋体" charset="-122"/>
              </a:rPr>
              <a:t>4</a:t>
            </a:r>
            <a:r>
              <a:rPr lang="en-US" altLang="zh-CN" sz="2000" b="0">
                <a:solidFill>
                  <a:schemeClr val="tx2"/>
                </a:solidFill>
                <a:latin typeface="宋体" charset="-122"/>
                <a:ea typeface="宋体" charset="-122"/>
              </a:rPr>
              <a:t> ,B,R)</a:t>
            </a:r>
            <a:r>
              <a:rPr lang="en-US" altLang="zh-CN" sz="1800" b="0">
                <a:solidFill>
                  <a:schemeClr val="tx2"/>
                </a:solidFill>
                <a:ea typeface="宋体" charset="-122"/>
              </a:rPr>
              <a:t> </a:t>
            </a:r>
            <a:endParaRPr lang="zh-CN" altLang="en-US" sz="1800" b="0">
              <a:solidFill>
                <a:schemeClr val="tx2"/>
              </a:solidFill>
              <a:ea typeface="宋体" charset="-122"/>
            </a:endParaRPr>
          </a:p>
        </p:txBody>
      </p:sp>
      <p:sp>
        <p:nvSpPr>
          <p:cNvPr id="8" name="Text Box 109"/>
          <p:cNvSpPr txBox="1">
            <a:spLocks noChangeArrowheads="1"/>
          </p:cNvSpPr>
          <p:nvPr/>
        </p:nvSpPr>
        <p:spPr bwMode="auto">
          <a:xfrm>
            <a:off x="1676400" y="5105400"/>
            <a:ext cx="74676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just">
              <a:spcBef>
                <a:spcPct val="50000"/>
              </a:spcBef>
              <a:buFont typeface="Wingdings" charset="2"/>
              <a:buNone/>
            </a:pPr>
            <a:r>
              <a:rPr lang="zh-CN" altLang="en-US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  例：</a:t>
            </a:r>
            <a:r>
              <a:rPr lang="en-US" altLang="zh-CN" sz="2000" dirty="0" err="1">
                <a:solidFill>
                  <a:schemeClr val="tx2"/>
                </a:solidFill>
                <a:latin typeface="宋体" charset="-122"/>
                <a:ea typeface="宋体" charset="-122"/>
              </a:rPr>
              <a:t>aabb</a:t>
            </a:r>
            <a:r>
              <a:rPr lang="zh-CN" altLang="en-US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的接收格局序列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  <a:buFont typeface="Wingdings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aabb├ xq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abb├ xaq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bb├ xq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ayb├ 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xayb├xq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ayb├xxq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yb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  <a:buFont typeface="Wingdings" charset="2"/>
              <a:buNone/>
            </a:pP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├ xxyq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b├xxq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yy├xq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2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xyy├xxq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0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yy├xxyq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y├xxyyq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3</a:t>
            </a:r>
            <a:r>
              <a:rPr lang="en-US" altLang="zh-CN" sz="2000" dirty="0">
                <a:solidFill>
                  <a:schemeClr val="tx2"/>
                </a:solidFill>
                <a:latin typeface="宋体" charset="-122"/>
                <a:ea typeface="宋体" charset="-122"/>
              </a:rPr>
              <a:t>B├xxyyBq</a:t>
            </a:r>
            <a:r>
              <a:rPr lang="en-US" altLang="zh-CN" sz="2000" baseline="-30000" dirty="0">
                <a:solidFill>
                  <a:schemeClr val="tx2"/>
                </a:solidFill>
                <a:latin typeface="宋体" charset="-122"/>
                <a:ea typeface="宋体" charset="-122"/>
              </a:rPr>
              <a:t>4</a:t>
            </a:r>
            <a:r>
              <a:rPr lang="en-US" altLang="zh-CN" sz="2000" dirty="0">
                <a:solidFill>
                  <a:schemeClr val="tx2"/>
                </a:solidFill>
                <a:ea typeface="宋体" charset="-122"/>
              </a:rPr>
              <a:t> </a:t>
            </a:r>
            <a:endParaRPr lang="zh-CN" altLang="en-US" sz="2000" dirty="0">
              <a:solidFill>
                <a:schemeClr val="tx2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0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0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0700" grpId="0" autoUpdateAnimBg="0"/>
      <p:bldP spid="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28FAD0-9814-5E40-9CF8-B2D9C0CFF2D4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969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29699" name="Rectangle 39"/>
          <p:cNvSpPr>
            <a:spLocks noChangeArrowheads="1"/>
          </p:cNvSpPr>
          <p:nvPr/>
        </p:nvSpPr>
        <p:spPr bwMode="auto">
          <a:xfrm>
            <a:off x="1476375" y="381000"/>
            <a:ext cx="6524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例</a:t>
            </a:r>
            <a:r>
              <a:rPr lang="zh-CN" altLang="en-US">
                <a:solidFill>
                  <a:srgbClr val="800080"/>
                </a:solidFill>
                <a:latin typeface="Arial" charset="0"/>
                <a:ea typeface="华文行楷" charset="-122"/>
              </a:rPr>
              <a:t>2</a:t>
            </a:r>
            <a:r>
              <a:rPr lang="zh-CN" altLang="en-US" sz="3200">
                <a:solidFill>
                  <a:srgbClr val="800080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>
                <a:solidFill>
                  <a:srgbClr val="800080"/>
                </a:solidFill>
                <a:latin typeface="Arial" charset="0"/>
                <a:ea typeface="华文行楷" charset="-122"/>
              </a:rPr>
              <a:t> 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L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 = 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0</a:t>
            </a:r>
            <a:r>
              <a:rPr lang="en-US" altLang="zh-CN" sz="2400" i="1" baseline="300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n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1</a:t>
            </a:r>
            <a:r>
              <a:rPr lang="en-US" altLang="zh-CN" sz="2400" i="1" baseline="300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n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2</a:t>
            </a:r>
            <a:r>
              <a:rPr lang="en-US" altLang="zh-CN" sz="2400" i="1" baseline="300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n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 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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n </a:t>
            </a:r>
            <a:r>
              <a:rPr lang="en-US" altLang="zh-CN" sz="2400">
                <a:solidFill>
                  <a:srgbClr val="333399"/>
                </a:solidFill>
                <a:latin typeface="楷体_GB2312" charset="0"/>
                <a:ea typeface="宋体" charset="-122"/>
                <a:sym typeface="Symbol" charset="2"/>
              </a:rPr>
              <a:t>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 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1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</a:t>
            </a:r>
            <a:r>
              <a:rPr lang="en-US" altLang="zh-CN" sz="24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.</a:t>
            </a:r>
            <a:endParaRPr lang="zh-CN" altLang="en-US" sz="2400">
              <a:solidFill>
                <a:srgbClr val="333399"/>
              </a:solidFill>
              <a:latin typeface="Arial" charset="0"/>
              <a:ea typeface="华文行楷" charset="-122"/>
              <a:sym typeface="Symbol" charset="2"/>
            </a:endParaRPr>
          </a:p>
        </p:txBody>
      </p:sp>
      <p:graphicFrame>
        <p:nvGraphicFramePr>
          <p:cNvPr id="38" name="Object 6"/>
          <p:cNvGraphicFramePr>
            <a:graphicFrameLocks noChangeAspect="1"/>
          </p:cNvGraphicFramePr>
          <p:nvPr/>
        </p:nvGraphicFramePr>
        <p:xfrm>
          <a:off x="611188" y="1484313"/>
          <a:ext cx="6075362" cy="305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839968" imgH="2939796" progId="Visio.Drawing.6">
                  <p:embed/>
                </p:oleObj>
              </mc:Choice>
              <mc:Fallback>
                <p:oleObj name="VISIO" r:id="rId2" imgW="5839968" imgH="2939796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484313"/>
                        <a:ext cx="6075362" cy="305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7"/>
          <p:cNvSpPr txBox="1">
            <a:spLocks noChangeArrowheads="1"/>
          </p:cNvSpPr>
          <p:nvPr/>
        </p:nvSpPr>
        <p:spPr bwMode="auto">
          <a:xfrm>
            <a:off x="5292725" y="3500438"/>
            <a:ext cx="3657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对于输入字符串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001122</a:t>
            </a:r>
            <a:r>
              <a:rPr lang="zh-CN" altLang="en-US" sz="240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，该图灵机可以有如下推导步：</a:t>
            </a:r>
          </a:p>
        </p:txBody>
      </p:sp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609600" y="5011738"/>
            <a:ext cx="1279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0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001122</a:t>
            </a:r>
            <a:endParaRPr lang="en-US" altLang="zh-CN" sz="2000">
              <a:solidFill>
                <a:srgbClr val="333399"/>
              </a:solidFill>
              <a:latin typeface="Arial" charset="0"/>
              <a:ea typeface="宋体" charset="-122"/>
            </a:endParaRPr>
          </a:p>
        </p:txBody>
      </p:sp>
      <p:sp>
        <p:nvSpPr>
          <p:cNvPr id="41" name="Rectangle 9"/>
          <p:cNvSpPr>
            <a:spLocks noChangeArrowheads="1"/>
          </p:cNvSpPr>
          <p:nvPr/>
        </p:nvSpPr>
        <p:spPr bwMode="auto">
          <a:xfrm>
            <a:off x="1747838" y="4970463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42" name="Rectangle 10"/>
          <p:cNvSpPr>
            <a:spLocks noChangeArrowheads="1"/>
          </p:cNvSpPr>
          <p:nvPr/>
        </p:nvSpPr>
        <p:spPr bwMode="auto">
          <a:xfrm>
            <a:off x="2333625" y="4997450"/>
            <a:ext cx="1323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01122</a:t>
            </a:r>
            <a:endParaRPr lang="en-US" altLang="zh-CN" sz="2000">
              <a:solidFill>
                <a:srgbClr val="333399"/>
              </a:solidFill>
              <a:latin typeface="Arial" charset="0"/>
              <a:ea typeface="宋体" charset="-122"/>
            </a:endParaRPr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3500438" y="4984750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44" name="Rectangle 12"/>
          <p:cNvSpPr>
            <a:spLocks noChangeArrowheads="1"/>
          </p:cNvSpPr>
          <p:nvPr/>
        </p:nvSpPr>
        <p:spPr bwMode="auto">
          <a:xfrm>
            <a:off x="4086225" y="5011738"/>
            <a:ext cx="1323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X0q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1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1122</a:t>
            </a:r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5253038" y="4968875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5791200" y="498475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X0Yq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122</a:t>
            </a:r>
          </a:p>
        </p:txBody>
      </p:sp>
      <p:sp>
        <p:nvSpPr>
          <p:cNvPr id="47" name="Rectangle 15"/>
          <p:cNvSpPr>
            <a:spLocks noChangeArrowheads="1"/>
          </p:cNvSpPr>
          <p:nvPr/>
        </p:nvSpPr>
        <p:spPr bwMode="auto">
          <a:xfrm>
            <a:off x="7005638" y="4953000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48" name="Rectangle 16"/>
          <p:cNvSpPr>
            <a:spLocks noChangeArrowheads="1"/>
          </p:cNvSpPr>
          <p:nvPr/>
        </p:nvSpPr>
        <p:spPr bwMode="auto">
          <a:xfrm>
            <a:off x="7543800" y="496887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X0Y1q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22</a:t>
            </a:r>
          </a:p>
        </p:txBody>
      </p:sp>
      <p:sp>
        <p:nvSpPr>
          <p:cNvPr id="49" name="Rectangle 17"/>
          <p:cNvSpPr>
            <a:spLocks noChangeArrowheads="1"/>
          </p:cNvSpPr>
          <p:nvPr/>
        </p:nvSpPr>
        <p:spPr bwMode="auto">
          <a:xfrm>
            <a:off x="1143000" y="5376863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50" name="Rectangle 18"/>
          <p:cNvSpPr>
            <a:spLocks noChangeArrowheads="1"/>
          </p:cNvSpPr>
          <p:nvPr/>
        </p:nvSpPr>
        <p:spPr bwMode="auto">
          <a:xfrm>
            <a:off x="1681163" y="5392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X0Yq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3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1Z2</a:t>
            </a:r>
          </a:p>
        </p:txBody>
      </p:sp>
      <p:sp>
        <p:nvSpPr>
          <p:cNvPr id="51" name="Rectangle 19"/>
          <p:cNvSpPr>
            <a:spLocks noChangeArrowheads="1"/>
          </p:cNvSpPr>
          <p:nvPr/>
        </p:nvSpPr>
        <p:spPr bwMode="auto">
          <a:xfrm>
            <a:off x="2890838" y="5376863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├*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52" name="Rectangle 20"/>
          <p:cNvSpPr>
            <a:spLocks noChangeArrowheads="1"/>
          </p:cNvSpPr>
          <p:nvPr/>
        </p:nvSpPr>
        <p:spPr bwMode="auto">
          <a:xfrm>
            <a:off x="3505200" y="5392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3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X0Y1Z2</a:t>
            </a:r>
          </a:p>
        </p:txBody>
      </p:sp>
      <p:sp>
        <p:nvSpPr>
          <p:cNvPr id="53" name="Rectangle 21"/>
          <p:cNvSpPr>
            <a:spLocks noChangeArrowheads="1"/>
          </p:cNvSpPr>
          <p:nvPr/>
        </p:nvSpPr>
        <p:spPr bwMode="auto">
          <a:xfrm>
            <a:off x="4719638" y="5332413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54" name="Rectangle 22"/>
          <p:cNvSpPr>
            <a:spLocks noChangeArrowheads="1"/>
          </p:cNvSpPr>
          <p:nvPr/>
        </p:nvSpPr>
        <p:spPr bwMode="auto">
          <a:xfrm>
            <a:off x="5257800" y="5392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0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0Y1Z2</a:t>
            </a:r>
          </a:p>
        </p:txBody>
      </p:sp>
      <p:sp>
        <p:nvSpPr>
          <p:cNvPr id="55" name="Rectangle 23"/>
          <p:cNvSpPr>
            <a:spLocks noChangeArrowheads="1"/>
          </p:cNvSpPr>
          <p:nvPr/>
        </p:nvSpPr>
        <p:spPr bwMode="auto">
          <a:xfrm>
            <a:off x="6472238" y="5392738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├*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56" name="Rectangle 24"/>
          <p:cNvSpPr>
            <a:spLocks noChangeArrowheads="1"/>
          </p:cNvSpPr>
          <p:nvPr/>
        </p:nvSpPr>
        <p:spPr bwMode="auto">
          <a:xfrm>
            <a:off x="7086600" y="5392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XXYYZq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</a:p>
        </p:txBody>
      </p:sp>
      <p:sp>
        <p:nvSpPr>
          <p:cNvPr id="57" name="Rectangle 25"/>
          <p:cNvSpPr>
            <a:spLocks noChangeArrowheads="1"/>
          </p:cNvSpPr>
          <p:nvPr/>
        </p:nvSpPr>
        <p:spPr bwMode="auto">
          <a:xfrm>
            <a:off x="1138238" y="5713413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58" name="Rectangle 26"/>
          <p:cNvSpPr>
            <a:spLocks noChangeArrowheads="1"/>
          </p:cNvSpPr>
          <p:nvPr/>
        </p:nvSpPr>
        <p:spPr bwMode="auto">
          <a:xfrm>
            <a:off x="1676400" y="5773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3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ZZ</a:t>
            </a:r>
          </a:p>
        </p:txBody>
      </p:sp>
      <p:sp>
        <p:nvSpPr>
          <p:cNvPr id="59" name="Rectangle 27"/>
          <p:cNvSpPr>
            <a:spLocks noChangeArrowheads="1"/>
          </p:cNvSpPr>
          <p:nvPr/>
        </p:nvSpPr>
        <p:spPr bwMode="auto">
          <a:xfrm>
            <a:off x="2895600" y="5773738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├*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60" name="Rectangle 28"/>
          <p:cNvSpPr>
            <a:spLocks noChangeArrowheads="1"/>
          </p:cNvSpPr>
          <p:nvPr/>
        </p:nvSpPr>
        <p:spPr bwMode="auto">
          <a:xfrm>
            <a:off x="3505200" y="5789613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3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XYYZZ</a:t>
            </a:r>
          </a:p>
        </p:txBody>
      </p:sp>
      <p:sp>
        <p:nvSpPr>
          <p:cNvPr id="61" name="Rectangle 29"/>
          <p:cNvSpPr>
            <a:spLocks noChangeArrowheads="1"/>
          </p:cNvSpPr>
          <p:nvPr/>
        </p:nvSpPr>
        <p:spPr bwMode="auto">
          <a:xfrm>
            <a:off x="4724400" y="5713413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62" name="Rectangle 30"/>
          <p:cNvSpPr>
            <a:spLocks noChangeArrowheads="1"/>
          </p:cNvSpPr>
          <p:nvPr/>
        </p:nvSpPr>
        <p:spPr bwMode="auto">
          <a:xfrm>
            <a:off x="5257800" y="5773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0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YYZZ</a:t>
            </a:r>
          </a:p>
        </p:txBody>
      </p:sp>
      <p:sp>
        <p:nvSpPr>
          <p:cNvPr id="63" name="Rectangle 31"/>
          <p:cNvSpPr>
            <a:spLocks noChangeArrowheads="1"/>
          </p:cNvSpPr>
          <p:nvPr/>
        </p:nvSpPr>
        <p:spPr bwMode="auto">
          <a:xfrm>
            <a:off x="6477000" y="5773738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├*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64" name="Rectangle 32"/>
          <p:cNvSpPr>
            <a:spLocks noChangeArrowheads="1"/>
          </p:cNvSpPr>
          <p:nvPr/>
        </p:nvSpPr>
        <p:spPr bwMode="auto">
          <a:xfrm>
            <a:off x="7086600" y="5773738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4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ZZ</a:t>
            </a:r>
          </a:p>
        </p:txBody>
      </p:sp>
      <p:sp>
        <p:nvSpPr>
          <p:cNvPr id="65" name="Rectangle 33"/>
          <p:cNvSpPr>
            <a:spLocks noChangeArrowheads="1"/>
          </p:cNvSpPr>
          <p:nvPr/>
        </p:nvSpPr>
        <p:spPr bwMode="auto">
          <a:xfrm>
            <a:off x="1143000" y="6096000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66" name="Rectangle 34"/>
          <p:cNvSpPr>
            <a:spLocks noChangeArrowheads="1"/>
          </p:cNvSpPr>
          <p:nvPr/>
        </p:nvSpPr>
        <p:spPr bwMode="auto">
          <a:xfrm>
            <a:off x="1676400" y="615632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XXYYZq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5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Z</a:t>
            </a:r>
          </a:p>
        </p:txBody>
      </p:sp>
      <p:sp>
        <p:nvSpPr>
          <p:cNvPr id="67" name="Rectangle 35"/>
          <p:cNvSpPr>
            <a:spLocks noChangeArrowheads="1"/>
          </p:cNvSpPr>
          <p:nvPr/>
        </p:nvSpPr>
        <p:spPr bwMode="auto">
          <a:xfrm>
            <a:off x="2971800" y="6096000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68" name="Rectangle 36"/>
          <p:cNvSpPr>
            <a:spLocks noChangeArrowheads="1"/>
          </p:cNvSpPr>
          <p:nvPr/>
        </p:nvSpPr>
        <p:spPr bwMode="auto">
          <a:xfrm>
            <a:off x="3505200" y="6156325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XXYYZZq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5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</a:p>
        </p:txBody>
      </p:sp>
      <p:sp>
        <p:nvSpPr>
          <p:cNvPr id="69" name="Rectangle 37"/>
          <p:cNvSpPr>
            <a:spLocks noChangeArrowheads="1"/>
          </p:cNvSpPr>
          <p:nvPr/>
        </p:nvSpPr>
        <p:spPr bwMode="auto">
          <a:xfrm>
            <a:off x="4953000" y="6096000"/>
            <a:ext cx="69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rgbClr val="333399"/>
                </a:solidFill>
                <a:latin typeface="Arial" charset="0"/>
                <a:ea typeface="宋体" charset="-122"/>
              </a:rPr>
              <a:t>├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宋体" charset="-122"/>
              </a:rPr>
              <a:t>M</a:t>
            </a:r>
          </a:p>
        </p:txBody>
      </p:sp>
      <p:sp>
        <p:nvSpPr>
          <p:cNvPr id="70" name="Rectangle 38"/>
          <p:cNvSpPr>
            <a:spLocks noChangeArrowheads="1"/>
          </p:cNvSpPr>
          <p:nvPr/>
        </p:nvSpPr>
        <p:spPr bwMode="auto">
          <a:xfrm>
            <a:off x="5486400" y="6156325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XXYYZZBq</a:t>
            </a:r>
            <a:r>
              <a:rPr lang="en-US" altLang="zh-CN" sz="2000" i="1" baseline="-25000">
                <a:solidFill>
                  <a:srgbClr val="333399"/>
                </a:solidFill>
                <a:latin typeface="Arial" charset="0"/>
                <a:ea typeface="华文行楷" charset="-122"/>
              </a:rPr>
              <a:t>6</a:t>
            </a:r>
            <a:r>
              <a:rPr lang="en-US" altLang="zh-CN" sz="2000" i="1">
                <a:solidFill>
                  <a:srgbClr val="333399"/>
                </a:solidFill>
                <a:latin typeface="Arial" charset="0"/>
                <a:ea typeface="华文行楷" charset="-122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utoUpdateAnimBg="0"/>
      <p:bldP spid="40" grpId="0" autoUpdateAnimBg="0"/>
      <p:bldP spid="41" grpId="0" autoUpdateAnimBg="0"/>
      <p:bldP spid="42" grpId="0" autoUpdateAnimBg="0"/>
      <p:bldP spid="43" grpId="0" autoUpdateAnimBg="0"/>
      <p:bldP spid="44" grpId="0" autoUpdateAnimBg="0"/>
      <p:bldP spid="45" grpId="0" autoUpdateAnimBg="0"/>
      <p:bldP spid="46" grpId="0" autoUpdateAnimBg="0"/>
      <p:bldP spid="47" grpId="0" autoUpdateAnimBg="0"/>
      <p:bldP spid="48" grpId="0" autoUpdateAnimBg="0"/>
      <p:bldP spid="49" grpId="0" autoUpdateAnimBg="0"/>
      <p:bldP spid="50" grpId="0" autoUpdateAnimBg="0"/>
      <p:bldP spid="51" grpId="0" autoUpdateAnimBg="0"/>
      <p:bldP spid="52" grpId="0" autoUpdateAnimBg="0"/>
      <p:bldP spid="53" grpId="0" autoUpdateAnimBg="0"/>
      <p:bldP spid="54" grpId="0" autoUpdateAnimBg="0"/>
      <p:bldP spid="55" grpId="0" autoUpdateAnimBg="0"/>
      <p:bldP spid="56" grpId="0" autoUpdateAnimBg="0"/>
      <p:bldP spid="57" grpId="0" autoUpdateAnimBg="0"/>
      <p:bldP spid="58" grpId="0" autoUpdateAnimBg="0"/>
      <p:bldP spid="59" grpId="0" autoUpdateAnimBg="0"/>
      <p:bldP spid="60" grpId="0" autoUpdateAnimBg="0"/>
      <p:bldP spid="61" grpId="0" autoUpdateAnimBg="0"/>
      <p:bldP spid="62" grpId="0" autoUpdateAnimBg="0"/>
      <p:bldP spid="63" grpId="0" autoUpdateAnimBg="0"/>
      <p:bldP spid="64" grpId="0" autoUpdateAnimBg="0"/>
      <p:bldP spid="65" grpId="0" autoUpdateAnimBg="0"/>
      <p:bldP spid="66" grpId="0" autoUpdateAnimBg="0"/>
      <p:bldP spid="67" grpId="0" autoUpdateAnimBg="0"/>
      <p:bldP spid="68" grpId="0" autoUpdateAnimBg="0"/>
      <p:bldP spid="69" grpId="0" autoUpdateAnimBg="0"/>
      <p:bldP spid="7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74B436-648A-6C4F-A914-6673B4D4B31C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0722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0723" name="Rectangle 7"/>
          <p:cNvSpPr>
            <a:spLocks noChangeArrowheads="1"/>
          </p:cNvSpPr>
          <p:nvPr/>
        </p:nvSpPr>
        <p:spPr bwMode="auto">
          <a:xfrm>
            <a:off x="1143000" y="53340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>
                <a:solidFill>
                  <a:srgbClr val="800080"/>
                </a:solidFill>
                <a:ea typeface="华文行楷" charset="-122"/>
              </a:rPr>
              <a:t>  </a:t>
            </a:r>
            <a:r>
              <a:rPr lang="zh-CN" altLang="en-US">
                <a:solidFill>
                  <a:srgbClr val="800080"/>
                </a:solidFill>
                <a:latin typeface="Arial" charset="0"/>
                <a:ea typeface="华文行楷" charset="-122"/>
              </a:rPr>
              <a:t>转移图与转移表</a:t>
            </a:r>
            <a:endParaRPr lang="zh-CN" altLang="en-US" i="1">
              <a:solidFill>
                <a:srgbClr val="800080"/>
              </a:solidFill>
              <a:latin typeface="Arial" charset="0"/>
              <a:ea typeface="华文行楷" charset="-122"/>
            </a:endParaRPr>
          </a:p>
        </p:txBody>
      </p:sp>
      <p:graphicFrame>
        <p:nvGraphicFramePr>
          <p:cNvPr id="723976" name="Object 8"/>
          <p:cNvGraphicFramePr>
            <a:graphicFrameLocks noChangeAspect="1"/>
          </p:cNvGraphicFramePr>
          <p:nvPr/>
        </p:nvGraphicFramePr>
        <p:xfrm>
          <a:off x="3962400" y="228600"/>
          <a:ext cx="5181600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839968" imgH="2939796" progId="Visio.Drawing.6">
                  <p:embed/>
                </p:oleObj>
              </mc:Choice>
              <mc:Fallback>
                <p:oleObj name="VISIO" r:id="rId2" imgW="5839968" imgH="2939796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28600"/>
                        <a:ext cx="5181600" cy="2859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3977" name="Object 9"/>
          <p:cNvGraphicFramePr>
            <a:graphicFrameLocks noChangeAspect="1"/>
          </p:cNvGraphicFramePr>
          <p:nvPr/>
        </p:nvGraphicFramePr>
        <p:xfrm>
          <a:off x="685800" y="3276600"/>
          <a:ext cx="7620000" cy="307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7312152" imgH="2689860" progId="Visio.Drawing.6">
                  <p:embed/>
                </p:oleObj>
              </mc:Choice>
              <mc:Fallback>
                <p:oleObj name="VISIO" r:id="rId4" imgW="7312152" imgH="2689860" progId="Visio.Drawing.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76600"/>
                        <a:ext cx="7620000" cy="307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2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2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284993-679C-C242-92D0-CECBEBA3244C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1746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260350"/>
            <a:ext cx="7793037" cy="838200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   作为整数函数计算机的图灵机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8839200" cy="5562600"/>
          </a:xfrm>
        </p:spPr>
        <p:txBody>
          <a:bodyPr/>
          <a:lstStyle/>
          <a:p>
            <a:pPr algn="just" eaLnBrk="1" hangingPunct="1"/>
            <a:r>
              <a:rPr lang="zh-CN" altLang="en-US" sz="2400">
                <a:solidFill>
                  <a:srgbClr val="800080"/>
                </a:solidFill>
                <a:latin typeface="楷体_GB2312" charset="0"/>
              </a:rPr>
              <a:t>预备知识：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图灵机除了作为语言接受器外，还可看作整数到整数的函数计算机。</a:t>
            </a:r>
          </a:p>
          <a:p>
            <a:pPr algn="just" eaLnBrk="1" hangingPunct="1"/>
            <a:r>
              <a:rPr lang="zh-CN" altLang="en-US" sz="2400">
                <a:solidFill>
                  <a:srgbClr val="800080"/>
                </a:solidFill>
                <a:latin typeface="楷体_GB2312" charset="0"/>
              </a:rPr>
              <a:t>传统方法把整数表示成一进制</a:t>
            </a:r>
          </a:p>
          <a:p>
            <a:pPr algn="just" eaLnBrk="1" hangingPunct="1">
              <a:buFont typeface="Wingdings" charset="2"/>
              <a:buNone/>
            </a:pPr>
            <a:r>
              <a:rPr lang="zh-CN" altLang="en-US" sz="2400">
                <a:solidFill>
                  <a:srgbClr val="003399"/>
                </a:solidFill>
                <a:latin typeface="楷体_GB2312" charset="0"/>
              </a:rPr>
              <a:t>		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整数 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i 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  <a:sym typeface="Symbol" charset="2"/>
              </a:rPr>
              <a:t> 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0 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用字符串 0</a:t>
            </a:r>
            <a:r>
              <a:rPr lang="en-US" altLang="zh-CN" sz="2400" b="0" baseline="30000">
                <a:solidFill>
                  <a:srgbClr val="003399"/>
                </a:solidFill>
                <a:latin typeface="楷体_GB2312" charset="0"/>
              </a:rPr>
              <a:t>i 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表示</a:t>
            </a:r>
          </a:p>
          <a:p>
            <a:pPr algn="just" eaLnBrk="1" hangingPunct="1"/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如果一个函数有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k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个自变量，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i</a:t>
            </a:r>
            <a:r>
              <a:rPr lang="en-US" altLang="zh-CN" sz="2400" b="0" baseline="-30000">
                <a:solidFill>
                  <a:srgbClr val="003399"/>
                </a:solidFill>
                <a:latin typeface="楷体_GB2312" charset="0"/>
              </a:rPr>
              <a:t>1,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i</a:t>
            </a:r>
            <a:r>
              <a:rPr lang="en-US" altLang="zh-CN" sz="2400" b="0" baseline="-30000">
                <a:solidFill>
                  <a:srgbClr val="003399"/>
                </a:solidFill>
                <a:latin typeface="楷体_GB2312" charset="0"/>
              </a:rPr>
              <a:t>2 ,</a:t>
            </a:r>
            <a:r>
              <a:rPr lang="en-US" altLang="zh-CN" sz="2400" b="0">
                <a:solidFill>
                  <a:srgbClr val="003399"/>
                </a:solidFill>
              </a:rPr>
              <a:t>…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i</a:t>
            </a:r>
            <a:r>
              <a:rPr lang="en-US" altLang="zh-CN" sz="2400" b="0" baseline="-30000">
                <a:solidFill>
                  <a:srgbClr val="003399"/>
                </a:solidFill>
                <a:latin typeface="楷体_GB2312" charset="0"/>
              </a:rPr>
              <a:t>k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，</a:t>
            </a: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那么这些整数开始时被放在带上，并用1把他们分隔开。	</a:t>
            </a:r>
          </a:p>
          <a:p>
            <a:pPr algn="just" eaLnBrk="1" hangingPunct="1">
              <a:buFont typeface="Wingdings" charset="2"/>
              <a:buNone/>
            </a:pPr>
            <a:r>
              <a:rPr lang="zh-CN" altLang="en-US" sz="2400" b="0">
                <a:solidFill>
                  <a:srgbClr val="003399"/>
                </a:solidFill>
                <a:latin typeface="楷体_GB2312" charset="0"/>
              </a:rPr>
              <a:t>		形如 0</a:t>
            </a:r>
            <a:r>
              <a:rPr lang="en-US" altLang="zh-CN" sz="2400" b="0" baseline="30000">
                <a:solidFill>
                  <a:srgbClr val="003399"/>
                </a:solidFill>
                <a:latin typeface="楷体_GB2312" charset="0"/>
              </a:rPr>
              <a:t>i1 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1 0</a:t>
            </a:r>
            <a:r>
              <a:rPr lang="en-US" altLang="zh-CN" sz="2400" b="0" baseline="30000">
                <a:solidFill>
                  <a:srgbClr val="003399"/>
                </a:solidFill>
                <a:latin typeface="楷体_GB2312" charset="0"/>
              </a:rPr>
              <a:t>i2 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1 0</a:t>
            </a:r>
            <a:r>
              <a:rPr lang="en-US" altLang="zh-CN" sz="2400" b="0" baseline="30000">
                <a:solidFill>
                  <a:srgbClr val="003399"/>
                </a:solidFill>
                <a:latin typeface="楷体_GB2312" charset="0"/>
              </a:rPr>
              <a:t>i3</a:t>
            </a:r>
            <a:r>
              <a:rPr lang="en-US" altLang="zh-CN" sz="2400" b="0">
                <a:solidFill>
                  <a:srgbClr val="003399"/>
                </a:solidFill>
              </a:rPr>
              <a:t>…</a:t>
            </a:r>
            <a:r>
              <a:rPr lang="en-US" altLang="zh-CN" sz="2400" b="0">
                <a:solidFill>
                  <a:srgbClr val="003399"/>
                </a:solidFill>
                <a:latin typeface="楷体_GB2312" charset="0"/>
              </a:rPr>
              <a:t> 1 0</a:t>
            </a:r>
            <a:r>
              <a:rPr lang="en-US" altLang="zh-CN" sz="2400" b="0" baseline="30000">
                <a:solidFill>
                  <a:srgbClr val="003399"/>
                </a:solidFill>
                <a:latin typeface="楷体_GB2312" charset="0"/>
              </a:rPr>
              <a:t>ik</a:t>
            </a:r>
          </a:p>
          <a:p>
            <a:pPr algn="just" eaLnBrk="1" hangingPunct="1"/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如果图灵机停止(不论是否在一个接受状态上)且带上为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 0</a:t>
            </a:r>
            <a:r>
              <a:rPr lang="en-US" altLang="zh-CN" sz="2400" b="0" baseline="30000">
                <a:solidFill>
                  <a:schemeClr val="tx2"/>
                </a:solidFill>
                <a:latin typeface="楷体_GB2312" charset="0"/>
              </a:rPr>
              <a:t>m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，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则 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f(i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1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2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</a:t>
            </a:r>
            <a:r>
              <a:rPr lang="en-US" altLang="zh-CN" sz="2400" b="0">
                <a:solidFill>
                  <a:schemeClr val="tx2"/>
                </a:solidFill>
              </a:rPr>
              <a:t>…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k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)= m    f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是被图灵机计算的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k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元函数</a:t>
            </a:r>
          </a:p>
          <a:p>
            <a:pPr algn="just" eaLnBrk="1" hangingPunct="1"/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如果</a:t>
            </a:r>
            <a:r>
              <a:rPr lang="en-US" altLang="zh-CN" sz="2400" b="0" i="1">
                <a:solidFill>
                  <a:schemeClr val="tx2"/>
                </a:solidFill>
                <a:latin typeface="楷体_GB2312" charset="0"/>
              </a:rPr>
              <a:t>f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（i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1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2</a:t>
            </a:r>
            <a:r>
              <a:rPr lang="en-US" altLang="zh-CN" sz="2400" b="0">
                <a:solidFill>
                  <a:schemeClr val="tx2"/>
                </a:solidFill>
              </a:rPr>
              <a:t>…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k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）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对所有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1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2</a:t>
            </a:r>
            <a:r>
              <a:rPr lang="en-US" altLang="zh-CN" sz="2400" b="0">
                <a:solidFill>
                  <a:schemeClr val="tx2"/>
                </a:solidFill>
              </a:rPr>
              <a:t>…</a:t>
            </a:r>
            <a:r>
              <a:rPr lang="en-US" altLang="zh-CN" sz="2400" b="0">
                <a:solidFill>
                  <a:schemeClr val="tx2"/>
                </a:solidFill>
                <a:latin typeface="楷体_GB2312" charset="0"/>
              </a:rPr>
              <a:t>,i</a:t>
            </a:r>
            <a:r>
              <a:rPr lang="en-US" altLang="zh-CN" sz="2400" b="0" baseline="-30000">
                <a:solidFill>
                  <a:schemeClr val="tx2"/>
                </a:solidFill>
                <a:latin typeface="楷体_GB2312" charset="0"/>
              </a:rPr>
              <a:t>k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有定义, 那么称</a:t>
            </a:r>
            <a:r>
              <a:rPr lang="en-US" altLang="zh-CN" sz="2400" b="0" i="1">
                <a:solidFill>
                  <a:schemeClr val="tx2"/>
                </a:solidFill>
                <a:latin typeface="楷体_GB2312" charset="0"/>
              </a:rPr>
              <a:t>f</a:t>
            </a:r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是一个全递归函数。全递归函数对应于递归语言，因为它总是被能停下来的图灵机所计算。</a:t>
            </a:r>
          </a:p>
          <a:p>
            <a:pPr algn="just" eaLnBrk="1" hangingPunct="1"/>
            <a:r>
              <a:rPr lang="zh-CN" altLang="en-US" sz="2400" b="0">
                <a:solidFill>
                  <a:schemeClr val="tx2"/>
                </a:solidFill>
                <a:latin typeface="楷体_GB2312" charset="0"/>
              </a:rPr>
              <a:t>所有常用的整数算术函数都是全递归函数。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ACDA01-50D2-1948-B602-6B18AD87EE08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3794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333375"/>
            <a:ext cx="7397750" cy="693738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例</a:t>
            </a:r>
            <a:r>
              <a:rPr lang="en-US" altLang="zh-CN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3</a:t>
            </a:r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：设计图灵机求真减法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2133600"/>
            <a:ext cx="8534400" cy="4724400"/>
          </a:xfrm>
        </p:spPr>
        <p:txBody>
          <a:bodyPr/>
          <a:lstStyle/>
          <a:p>
            <a:pPr algn="just" eaLnBrk="1" hangingPunct="1"/>
            <a:r>
              <a:rPr lang="zh-CN" altLang="en-US" sz="2200" dirty="0">
                <a:solidFill>
                  <a:srgbClr val="990099"/>
                </a:solidFill>
                <a:latin typeface="楷体_GB2312" charset="0"/>
              </a:rPr>
              <a:t>思路： 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1. 用空白符</a:t>
            </a:r>
            <a:r>
              <a:rPr lang="en-US" altLang="zh-CN" sz="2200" dirty="0">
                <a:solidFill>
                  <a:schemeClr val="tx2"/>
                </a:solidFill>
                <a:latin typeface="楷体_GB2312" charset="0"/>
              </a:rPr>
              <a:t>B</a:t>
            </a: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代替带上的最左端的0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2．右移至紧跟1后的0,将其改为1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3．左移找到</a:t>
            </a:r>
            <a:r>
              <a:rPr lang="en-US" altLang="zh-CN" sz="2200" dirty="0">
                <a:solidFill>
                  <a:schemeClr val="tx2"/>
                </a:solidFill>
                <a:latin typeface="楷体_GB2312" charset="0"/>
              </a:rPr>
              <a:t>B，</a:t>
            </a: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将</a:t>
            </a:r>
            <a:r>
              <a:rPr lang="en-US" altLang="zh-CN" sz="2200" dirty="0">
                <a:solidFill>
                  <a:schemeClr val="tx2"/>
                </a:solidFill>
                <a:latin typeface="楷体_GB2312" charset="0"/>
              </a:rPr>
              <a:t>B</a:t>
            </a: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之后的0改为</a:t>
            </a:r>
            <a:r>
              <a:rPr lang="en-US" altLang="zh-CN" sz="2200" dirty="0">
                <a:solidFill>
                  <a:schemeClr val="tx2"/>
                </a:solidFill>
                <a:latin typeface="楷体_GB2312" charset="0"/>
              </a:rPr>
              <a:t>B</a:t>
            </a:r>
          </a:p>
          <a:p>
            <a:pPr lvl="1" algn="just" eaLnBrk="1" hangingPunct="1">
              <a:buFont typeface="Wingdings" charset="2"/>
              <a:buNone/>
            </a:pPr>
            <a:r>
              <a:rPr lang="en-US" altLang="zh-CN" sz="2200" dirty="0">
                <a:solidFill>
                  <a:schemeClr val="tx2"/>
                </a:solidFill>
                <a:latin typeface="楷体_GB2312" charset="0"/>
              </a:rPr>
              <a:t>4．</a:t>
            </a:r>
            <a:r>
              <a:rPr lang="zh-CN" altLang="en-US" sz="2200" dirty="0">
                <a:solidFill>
                  <a:schemeClr val="tx2"/>
                </a:solidFill>
                <a:latin typeface="楷体_GB2312" charset="0"/>
              </a:rPr>
              <a:t>重复上述过程</a:t>
            </a:r>
          </a:p>
          <a:p>
            <a:pPr algn="just" eaLnBrk="1" hangingPunct="1">
              <a:buFont typeface="Wingdings" charset="2"/>
              <a:buNone/>
            </a:pPr>
            <a:r>
              <a:rPr lang="zh-CN" altLang="en-US" sz="2200" dirty="0">
                <a:solidFill>
                  <a:srgbClr val="990099"/>
                </a:solidFill>
                <a:latin typeface="楷体_GB2312" charset="0"/>
              </a:rPr>
              <a:t>如果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（1）右移找0时，遇到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B，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意味着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m&gt;n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BB…B  0 </a:t>
            </a:r>
            <a:r>
              <a:rPr lang="en-US" altLang="zh-CN" sz="2200" b="0" baseline="30000" dirty="0">
                <a:solidFill>
                  <a:srgbClr val="990099"/>
                </a:solidFill>
                <a:ea typeface="宋体" charset="-122"/>
              </a:rPr>
              <a:t>m-(n+1)</a:t>
            </a: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 1 11…1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  n+1                        n</a:t>
            </a:r>
            <a:r>
              <a:rPr lang="zh-CN" altLang="en-US" sz="2200" b="0" dirty="0">
                <a:solidFill>
                  <a:srgbClr val="990099"/>
                </a:solidFill>
                <a:ea typeface="宋体" charset="-122"/>
              </a:rPr>
              <a:t>个</a:t>
            </a:r>
          </a:p>
          <a:p>
            <a:pPr algn="just" eaLnBrk="1" hangingPunct="1">
              <a:buFont typeface="Wingdings" charset="2"/>
              <a:buNone/>
            </a:pP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将后面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n+1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个1变为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B，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将左侧最后一个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B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变0，形如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BB…B 0 0 </a:t>
            </a:r>
            <a:r>
              <a:rPr lang="en-US" altLang="zh-CN" sz="2200" b="0" baseline="30000" dirty="0">
                <a:solidFill>
                  <a:srgbClr val="990099"/>
                </a:solidFill>
                <a:ea typeface="宋体" charset="-122"/>
              </a:rPr>
              <a:t>m-(n+1)</a:t>
            </a: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  BB…B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  n</a:t>
            </a:r>
            <a:r>
              <a:rPr lang="zh-CN" altLang="en-US" sz="2200" b="0" dirty="0">
                <a:solidFill>
                  <a:srgbClr val="990099"/>
                </a:solidFill>
                <a:ea typeface="宋体" charset="-122"/>
              </a:rPr>
              <a:t>个           </a:t>
            </a:r>
            <a:r>
              <a:rPr lang="en-US" altLang="zh-CN" sz="2200" b="0" dirty="0">
                <a:solidFill>
                  <a:srgbClr val="990099"/>
                </a:solidFill>
                <a:ea typeface="宋体" charset="-122"/>
              </a:rPr>
              <a:t>n+1</a:t>
            </a:r>
            <a:r>
              <a:rPr lang="zh-CN" altLang="en-US" sz="2200" b="0" dirty="0">
                <a:solidFill>
                  <a:srgbClr val="990099"/>
                </a:solidFill>
                <a:ea typeface="宋体" charset="-122"/>
              </a:rPr>
              <a:t>个</a:t>
            </a:r>
            <a:r>
              <a:rPr lang="zh-CN" altLang="en-US" sz="2200" b="0" dirty="0">
                <a:solidFill>
                  <a:schemeClr val="tx2"/>
                </a:solidFill>
                <a:ea typeface="宋体" charset="-122"/>
              </a:rPr>
              <a:t>   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这时，带上留下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m-n</a:t>
            </a:r>
            <a:r>
              <a:rPr lang="zh-CN" altLang="en-US" sz="2200" b="0" dirty="0">
                <a:solidFill>
                  <a:schemeClr val="tx2"/>
                </a:solidFill>
                <a:latin typeface="楷体_GB2312" charset="0"/>
              </a:rPr>
              <a:t>个0，即结果为</a:t>
            </a:r>
            <a:r>
              <a:rPr lang="en-US" altLang="zh-CN" sz="2200" b="0" dirty="0">
                <a:solidFill>
                  <a:schemeClr val="tx2"/>
                </a:solidFill>
                <a:latin typeface="楷体_GB2312" charset="0"/>
              </a:rPr>
              <a:t>m-n</a:t>
            </a:r>
            <a:endParaRPr lang="zh-CN" altLang="en-US" sz="2200" b="0" dirty="0">
              <a:solidFill>
                <a:schemeClr val="tx2"/>
              </a:solidFill>
              <a:latin typeface="楷体_GB2312" charset="0"/>
            </a:endParaRPr>
          </a:p>
        </p:txBody>
      </p:sp>
      <p:graphicFrame>
        <p:nvGraphicFramePr>
          <p:cNvPr id="33797" name="Object 4"/>
          <p:cNvGraphicFramePr>
            <a:graphicFrameLocks noChangeAspect="1"/>
          </p:cNvGraphicFramePr>
          <p:nvPr/>
        </p:nvGraphicFramePr>
        <p:xfrm>
          <a:off x="1600200" y="1255713"/>
          <a:ext cx="28956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95400" imgH="457200" progId="Equation.DSMT4">
                  <p:embed/>
                </p:oleObj>
              </mc:Choice>
              <mc:Fallback>
                <p:oleObj r:id="rId2" imgW="12954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255713"/>
                        <a:ext cx="289560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66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5410200" y="1447800"/>
            <a:ext cx="3289300" cy="84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/>
            <a:r>
              <a:rPr lang="zh-CN" altLang="en-US">
                <a:ea typeface="宋体" charset="-122"/>
              </a:rPr>
              <a:t>  </a:t>
            </a:r>
            <a:r>
              <a:rPr lang="zh-CN" altLang="en-US" b="0">
                <a:ea typeface="宋体" charset="-122"/>
              </a:rPr>
              <a:t>初始带 </a:t>
            </a:r>
            <a:r>
              <a:rPr lang="en-US" altLang="zh-CN" b="0">
                <a:ea typeface="宋体" charset="-122"/>
              </a:rPr>
              <a:t>0</a:t>
            </a:r>
            <a:r>
              <a:rPr lang="en-US" altLang="zh-CN" b="0" baseline="30000">
                <a:ea typeface="宋体" charset="-122"/>
              </a:rPr>
              <a:t>m </a:t>
            </a:r>
            <a:r>
              <a:rPr lang="en-US" altLang="zh-CN" b="0">
                <a:solidFill>
                  <a:srgbClr val="000000"/>
                </a:solidFill>
                <a:latin typeface="宋体" charset="-122"/>
                <a:ea typeface="宋体" charset="-122"/>
              </a:rPr>
              <a:t>1</a:t>
            </a:r>
            <a:r>
              <a:rPr lang="en-US" altLang="zh-CN" b="0">
                <a:ea typeface="宋体" charset="-122"/>
              </a:rPr>
              <a:t>0</a:t>
            </a:r>
            <a:r>
              <a:rPr lang="en-US" altLang="zh-CN" b="0" baseline="30000">
                <a:ea typeface="宋体" charset="-122"/>
              </a:rPr>
              <a:t>n</a:t>
            </a:r>
            <a:endParaRPr lang="zh-CN" altLang="en-US" b="0">
              <a:ea typeface="宋体" charset="-122"/>
            </a:endParaRPr>
          </a:p>
          <a:p>
            <a:pPr algn="r">
              <a:buFont typeface="Wingdings" charset="2"/>
              <a:buNone/>
            </a:pPr>
            <a:endParaRPr lang="zh-CN" altLang="en-US" sz="1800" b="0">
              <a:solidFill>
                <a:srgbClr val="009999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7D0195-C428-A443-AD5A-69E982696531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4818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求真减法（续）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1524000"/>
          </a:xfrm>
        </p:spPr>
        <p:txBody>
          <a:bodyPr/>
          <a:lstStyle/>
          <a:p>
            <a:pPr algn="just" eaLnBrk="1" hangingPunct="1">
              <a:buFont typeface="Wingdings" charset="2"/>
              <a:buNone/>
            </a:pPr>
            <a:r>
              <a:rPr lang="en-US" altLang="zh-CN" sz="2200" b="0">
                <a:solidFill>
                  <a:schemeClr val="tx2"/>
                </a:solidFill>
                <a:ea typeface="宋体" charset="-122"/>
              </a:rPr>
              <a:t>(2)  </a:t>
            </a:r>
            <a:r>
              <a:rPr lang="en-US" altLang="zh-CN" sz="2200" b="0">
                <a:solidFill>
                  <a:schemeClr val="tx2"/>
                </a:solidFill>
                <a:latin typeface="楷体_GB2312" charset="0"/>
              </a:rPr>
              <a:t>M</a:t>
            </a:r>
            <a:r>
              <a:rPr lang="zh-CN" altLang="en-US" sz="2200" b="0">
                <a:solidFill>
                  <a:schemeClr val="tx2"/>
                </a:solidFill>
                <a:latin typeface="楷体_GB2312" charset="0"/>
              </a:rPr>
              <a:t>左移找不到0，意味着 </a:t>
            </a:r>
            <a:r>
              <a:rPr lang="en-US" altLang="zh-CN" sz="2200" b="0">
                <a:solidFill>
                  <a:schemeClr val="tx2"/>
                </a:solidFill>
                <a:latin typeface="楷体_GB2312" charset="0"/>
              </a:rPr>
              <a:t>n </a:t>
            </a:r>
            <a:r>
              <a:rPr lang="en-US" altLang="zh-CN" sz="2200" b="0">
                <a:solidFill>
                  <a:schemeClr val="tx2"/>
                </a:solidFill>
                <a:latin typeface="楷体_GB2312" charset="0"/>
                <a:sym typeface="Symbol" charset="2"/>
              </a:rPr>
              <a:t> </a:t>
            </a:r>
            <a:r>
              <a:rPr lang="en-US" altLang="zh-CN" sz="2200" b="0">
                <a:solidFill>
                  <a:schemeClr val="tx2"/>
                </a:solidFill>
                <a:latin typeface="楷体_GB2312" charset="0"/>
              </a:rPr>
              <a:t>m，</a:t>
            </a:r>
            <a:r>
              <a:rPr lang="zh-CN" altLang="en-US" sz="2200" b="0">
                <a:solidFill>
                  <a:schemeClr val="tx2"/>
                </a:solidFill>
                <a:latin typeface="楷体_GB2312" charset="0"/>
              </a:rPr>
              <a:t>形如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>
                <a:solidFill>
                  <a:srgbClr val="990099"/>
                </a:solidFill>
                <a:ea typeface="宋体" charset="-122"/>
              </a:rPr>
              <a:t> BB…B  1  11…1    0…0</a:t>
            </a:r>
          </a:p>
          <a:p>
            <a:pPr algn="just" eaLnBrk="1" hangingPunct="1">
              <a:buFont typeface="Wingdings" charset="2"/>
              <a:buNone/>
            </a:pPr>
            <a:r>
              <a:rPr lang="en-US" altLang="zh-CN" sz="2200" b="0">
                <a:solidFill>
                  <a:srgbClr val="990099"/>
                </a:solidFill>
                <a:ea typeface="宋体" charset="-122"/>
              </a:rPr>
              <a:t>  m</a:t>
            </a:r>
            <a:r>
              <a:rPr lang="zh-CN" altLang="en-US" sz="2200" b="0">
                <a:solidFill>
                  <a:srgbClr val="990099"/>
                </a:solidFill>
                <a:ea typeface="宋体" charset="-122"/>
              </a:rPr>
              <a:t>个            </a:t>
            </a:r>
            <a:r>
              <a:rPr lang="en-US" altLang="zh-CN" sz="2200" b="0">
                <a:solidFill>
                  <a:srgbClr val="990099"/>
                </a:solidFill>
                <a:ea typeface="宋体" charset="-122"/>
              </a:rPr>
              <a:t>m</a:t>
            </a:r>
            <a:r>
              <a:rPr lang="zh-CN" altLang="en-US" sz="2200" b="0">
                <a:solidFill>
                  <a:srgbClr val="990099"/>
                </a:solidFill>
                <a:ea typeface="宋体" charset="-122"/>
              </a:rPr>
              <a:t>个     </a:t>
            </a:r>
            <a:r>
              <a:rPr lang="en-US" altLang="zh-CN" sz="2200" b="0">
                <a:solidFill>
                  <a:srgbClr val="990099"/>
                </a:solidFill>
                <a:ea typeface="宋体" charset="-122"/>
              </a:rPr>
              <a:t>n-m</a:t>
            </a:r>
            <a:r>
              <a:rPr lang="zh-CN" altLang="en-US" sz="2200" b="0">
                <a:solidFill>
                  <a:srgbClr val="990099"/>
                </a:solidFill>
                <a:ea typeface="宋体" charset="-122"/>
              </a:rPr>
              <a:t>个</a:t>
            </a:r>
            <a:r>
              <a:rPr lang="zh-CN" altLang="en-US" sz="2200" b="0">
                <a:solidFill>
                  <a:schemeClr val="tx2"/>
                </a:solidFill>
                <a:ea typeface="宋体" charset="-122"/>
              </a:rPr>
              <a:t>           </a:t>
            </a:r>
            <a:r>
              <a:rPr lang="zh-CN" altLang="en-US" sz="2200" b="0">
                <a:solidFill>
                  <a:schemeClr val="tx2"/>
                </a:solidFill>
                <a:latin typeface="楷体_GB2312" charset="0"/>
              </a:rPr>
              <a:t>此时, 用</a:t>
            </a:r>
            <a:r>
              <a:rPr lang="en-US" altLang="zh-CN" sz="2200" b="0">
                <a:solidFill>
                  <a:schemeClr val="tx2"/>
                </a:solidFill>
                <a:latin typeface="楷体_GB2312" charset="0"/>
              </a:rPr>
              <a:t>B</a:t>
            </a:r>
            <a:r>
              <a:rPr lang="zh-CN" altLang="en-US" sz="2200" b="0">
                <a:solidFill>
                  <a:schemeClr val="tx2"/>
                </a:solidFill>
                <a:latin typeface="楷体_GB2312" charset="0"/>
              </a:rPr>
              <a:t>替换所有剩余的1 和0</a:t>
            </a:r>
          </a:p>
        </p:txBody>
      </p:sp>
      <p:graphicFrame>
        <p:nvGraphicFramePr>
          <p:cNvPr id="17414" name="Object 8"/>
          <p:cNvGraphicFramePr>
            <a:graphicFrameLocks noChangeAspect="1"/>
          </p:cNvGraphicFramePr>
          <p:nvPr/>
        </p:nvGraphicFramePr>
        <p:xfrm>
          <a:off x="993775" y="2438400"/>
          <a:ext cx="7231063" cy="441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5372100" imgH="2908300" progId="Word.Picture.8">
                  <p:embed/>
                </p:oleObj>
              </mc:Choice>
              <mc:Fallback>
                <p:oleObj name="图片" r:id="rId2" imgW="5372100" imgH="2908300" progId="Word.Picture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2438400"/>
                        <a:ext cx="7231063" cy="441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20DCB6-F608-3B48-A325-0260847C3243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5842" name="页脚占位符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404813"/>
            <a:ext cx="6769100" cy="693737"/>
          </a:xfrm>
        </p:spPr>
        <p:txBody>
          <a:bodyPr/>
          <a:lstStyle/>
          <a:p>
            <a:pPr eaLnBrk="1" hangingPunct="1"/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例</a:t>
            </a:r>
            <a:r>
              <a:rPr lang="en-US" altLang="zh-CN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4</a:t>
            </a:r>
            <a:r>
              <a:rPr lang="zh-CN" altLang="en-US" sz="3200" b="1">
                <a:solidFill>
                  <a:srgbClr val="800080"/>
                </a:solidFill>
                <a:latin typeface="楷体_GB2312" charset="0"/>
                <a:ea typeface="楷体_GB2312" charset="0"/>
              </a:rPr>
              <a:t>：</a:t>
            </a:r>
            <a:r>
              <a:rPr lang="en-US" altLang="zh-CN" sz="3200" b="1">
                <a:solidFill>
                  <a:srgbClr val="333399"/>
                </a:solidFill>
                <a:latin typeface="宋体" charset="-122"/>
                <a:sym typeface="Symbol" charset="2"/>
              </a:rPr>
              <a:t>L= 0 </a:t>
            </a:r>
            <a:r>
              <a:rPr lang="en-US" altLang="zh-CN" sz="3200" b="1" baseline="30000">
                <a:solidFill>
                  <a:srgbClr val="333399"/>
                </a:solidFill>
                <a:latin typeface="宋体" charset="-122"/>
                <a:sym typeface="Symbol" charset="2"/>
              </a:rPr>
              <a:t>m</a:t>
            </a:r>
            <a:r>
              <a:rPr lang="en-US" altLang="zh-CN" sz="3200" b="1">
                <a:solidFill>
                  <a:srgbClr val="333399"/>
                </a:solidFill>
                <a:latin typeface="宋体" charset="-122"/>
                <a:sym typeface="Symbol" charset="2"/>
              </a:rPr>
              <a:t>  m=2</a:t>
            </a:r>
            <a:r>
              <a:rPr lang="en-US" altLang="zh-CN" sz="3200" b="1" baseline="30000">
                <a:solidFill>
                  <a:srgbClr val="333399"/>
                </a:solidFill>
                <a:latin typeface="宋体" charset="-122"/>
                <a:sym typeface="Symbol" charset="2"/>
              </a:rPr>
              <a:t>n</a:t>
            </a:r>
            <a:r>
              <a:rPr lang="en-US" altLang="zh-CN" sz="3200" b="1">
                <a:solidFill>
                  <a:srgbClr val="333399"/>
                </a:solidFill>
                <a:latin typeface="宋体" charset="-122"/>
                <a:sym typeface="Symbol" charset="2"/>
              </a:rPr>
              <a:t>, n  0</a:t>
            </a:r>
            <a:endParaRPr lang="zh-CN" altLang="en-US" sz="3200" b="1">
              <a:solidFill>
                <a:srgbClr val="333399"/>
              </a:solidFill>
              <a:latin typeface="宋体" charset="-122"/>
              <a:sym typeface="Symbol" charset="2"/>
            </a:endParaRPr>
          </a:p>
        </p:txBody>
      </p:sp>
      <p:sp>
        <p:nvSpPr>
          <p:cNvPr id="76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557338"/>
            <a:ext cx="8534400" cy="3313112"/>
          </a:xfrm>
        </p:spPr>
        <p:txBody>
          <a:bodyPr/>
          <a:lstStyle/>
          <a:p>
            <a:pPr algn="just" eaLnBrk="1" hangingPunct="1"/>
            <a:r>
              <a:rPr lang="zh-CN" altLang="en-US">
                <a:solidFill>
                  <a:srgbClr val="990099"/>
                </a:solidFill>
                <a:latin typeface="楷体_GB2312" charset="0"/>
              </a:rPr>
              <a:t>设计思路：对输入串</a:t>
            </a:r>
            <a:r>
              <a:rPr lang="en-US" altLang="zh-CN">
                <a:solidFill>
                  <a:srgbClr val="990099"/>
                </a:solidFill>
                <a:latin typeface="楷体_GB2312" charset="0"/>
              </a:rPr>
              <a:t>w</a:t>
            </a:r>
            <a:r>
              <a:rPr lang="en-US" altLang="zh-CN" sz="4000">
                <a:solidFill>
                  <a:srgbClr val="990099"/>
                </a:solidFill>
                <a:latin typeface="楷体_GB2312" charset="0"/>
              </a:rPr>
              <a:t> 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1. 从左到右扫描带，隔一个消一个0；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2．若带上只剩唯一一个0,接受；</a:t>
            </a:r>
          </a:p>
          <a:p>
            <a:pPr lvl="1" algn="just" eaLnBrk="1" hangingPunct="1">
              <a:buFont typeface="Wingdings" charset="2"/>
              <a:buNone/>
            </a:pP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3．若带上不止一个0,且个数为奇数，拒绝；</a:t>
            </a:r>
            <a:endParaRPr lang="en-US" altLang="zh-CN">
              <a:solidFill>
                <a:schemeClr val="tx2"/>
              </a:solidFill>
              <a:latin typeface="楷体_GB2312" charset="0"/>
            </a:endParaRPr>
          </a:p>
          <a:p>
            <a:pPr lvl="1" algn="just" eaLnBrk="1" hangingPunct="1">
              <a:buFont typeface="Wingdings" charset="2"/>
              <a:buNone/>
            </a:pPr>
            <a:r>
              <a:rPr lang="en-US" altLang="zh-CN">
                <a:solidFill>
                  <a:schemeClr val="tx2"/>
                </a:solidFill>
                <a:latin typeface="楷体_GB2312" charset="0"/>
              </a:rPr>
              <a:t>4．</a:t>
            </a: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让读写头返回带的最左端；</a:t>
            </a:r>
          </a:p>
          <a:p>
            <a:pPr lvl="1" algn="just" eaLnBrk="1" hangingPunct="1">
              <a:buFont typeface="Wingdings" charset="2"/>
              <a:buNone/>
            </a:pPr>
            <a:r>
              <a:rPr lang="en-US" altLang="zh-CN">
                <a:solidFill>
                  <a:schemeClr val="tx2"/>
                </a:solidFill>
                <a:latin typeface="楷体_GB2312" charset="0"/>
              </a:rPr>
              <a:t>5. </a:t>
            </a: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转第一步。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0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1000FA-F371-C24F-8476-27CB0632F437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686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grpSp>
        <p:nvGrpSpPr>
          <p:cNvPr id="36867" name="Group 99"/>
          <p:cNvGrpSpPr>
            <a:grpSpLocks/>
          </p:cNvGrpSpPr>
          <p:nvPr/>
        </p:nvGrpSpPr>
        <p:grpSpPr bwMode="auto">
          <a:xfrm>
            <a:off x="1692275" y="333375"/>
            <a:ext cx="6180138" cy="5492750"/>
            <a:chOff x="991" y="210"/>
            <a:chExt cx="3508" cy="3460"/>
          </a:xfrm>
        </p:grpSpPr>
        <p:sp>
          <p:nvSpPr>
            <p:cNvPr id="36870" name="Rectangle 8"/>
            <p:cNvSpPr>
              <a:spLocks noChangeArrowheads="1"/>
            </p:cNvSpPr>
            <p:nvPr/>
          </p:nvSpPr>
          <p:spPr bwMode="auto">
            <a:xfrm>
              <a:off x="999" y="1919"/>
              <a:ext cx="213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Start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71" name="Line 9"/>
            <p:cNvSpPr>
              <a:spLocks noChangeShapeType="1"/>
            </p:cNvSpPr>
            <p:nvPr/>
          </p:nvSpPr>
          <p:spPr bwMode="auto">
            <a:xfrm>
              <a:off x="991" y="2099"/>
              <a:ext cx="294" cy="2"/>
            </a:xfrm>
            <a:prstGeom prst="line">
              <a:avLst/>
            </a:prstGeom>
            <a:noFill/>
            <a:ln w="1588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2" name="Freeform 10"/>
            <p:cNvSpPr>
              <a:spLocks/>
            </p:cNvSpPr>
            <p:nvPr/>
          </p:nvSpPr>
          <p:spPr bwMode="auto">
            <a:xfrm>
              <a:off x="1278" y="2070"/>
              <a:ext cx="86" cy="58"/>
            </a:xfrm>
            <a:custGeom>
              <a:avLst/>
              <a:gdLst>
                <a:gd name="T0" fmla="*/ 0 w 101"/>
                <a:gd name="T1" fmla="*/ 0 h 68"/>
                <a:gd name="T2" fmla="*/ 8 w 101"/>
                <a:gd name="T3" fmla="*/ 3 h 68"/>
                <a:gd name="T4" fmla="*/ 0 w 101"/>
                <a:gd name="T5" fmla="*/ 6 h 68"/>
                <a:gd name="T6" fmla="*/ 0 w 101"/>
                <a:gd name="T7" fmla="*/ 0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68">
                  <a:moveTo>
                    <a:pt x="0" y="0"/>
                  </a:moveTo>
                  <a:lnTo>
                    <a:pt x="101" y="34"/>
                  </a:lnTo>
                  <a:lnTo>
                    <a:pt x="0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3" name="Line 11"/>
            <p:cNvSpPr>
              <a:spLocks noChangeShapeType="1"/>
            </p:cNvSpPr>
            <p:nvPr/>
          </p:nvSpPr>
          <p:spPr bwMode="auto">
            <a:xfrm>
              <a:off x="1735" y="2099"/>
              <a:ext cx="663" cy="2"/>
            </a:xfrm>
            <a:prstGeom prst="line">
              <a:avLst/>
            </a:prstGeom>
            <a:noFill/>
            <a:ln w="1588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4" name="Freeform 12"/>
            <p:cNvSpPr>
              <a:spLocks/>
            </p:cNvSpPr>
            <p:nvPr/>
          </p:nvSpPr>
          <p:spPr bwMode="auto">
            <a:xfrm>
              <a:off x="2391" y="2070"/>
              <a:ext cx="84" cy="58"/>
            </a:xfrm>
            <a:custGeom>
              <a:avLst/>
              <a:gdLst>
                <a:gd name="T0" fmla="*/ 0 w 101"/>
                <a:gd name="T1" fmla="*/ 0 h 68"/>
                <a:gd name="T2" fmla="*/ 5 w 101"/>
                <a:gd name="T3" fmla="*/ 3 h 68"/>
                <a:gd name="T4" fmla="*/ 0 w 101"/>
                <a:gd name="T5" fmla="*/ 6 h 68"/>
                <a:gd name="T6" fmla="*/ 0 w 101"/>
                <a:gd name="T7" fmla="*/ 0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68">
                  <a:moveTo>
                    <a:pt x="0" y="0"/>
                  </a:moveTo>
                  <a:lnTo>
                    <a:pt x="101" y="34"/>
                  </a:lnTo>
                  <a:lnTo>
                    <a:pt x="0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5" name="Line 13"/>
            <p:cNvSpPr>
              <a:spLocks noChangeShapeType="1"/>
            </p:cNvSpPr>
            <p:nvPr/>
          </p:nvSpPr>
          <p:spPr bwMode="auto">
            <a:xfrm>
              <a:off x="2846" y="2099"/>
              <a:ext cx="666" cy="2"/>
            </a:xfrm>
            <a:prstGeom prst="line">
              <a:avLst/>
            </a:prstGeom>
            <a:noFill/>
            <a:ln w="1588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Freeform 14"/>
            <p:cNvSpPr>
              <a:spLocks/>
            </p:cNvSpPr>
            <p:nvPr/>
          </p:nvSpPr>
          <p:spPr bwMode="auto">
            <a:xfrm>
              <a:off x="3505" y="2070"/>
              <a:ext cx="86" cy="58"/>
            </a:xfrm>
            <a:custGeom>
              <a:avLst/>
              <a:gdLst>
                <a:gd name="T0" fmla="*/ 0 w 101"/>
                <a:gd name="T1" fmla="*/ 0 h 68"/>
                <a:gd name="T2" fmla="*/ 8 w 101"/>
                <a:gd name="T3" fmla="*/ 3 h 68"/>
                <a:gd name="T4" fmla="*/ 0 w 101"/>
                <a:gd name="T5" fmla="*/ 6 h 68"/>
                <a:gd name="T6" fmla="*/ 0 w 101"/>
                <a:gd name="T7" fmla="*/ 0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68">
                  <a:moveTo>
                    <a:pt x="0" y="0"/>
                  </a:moveTo>
                  <a:lnTo>
                    <a:pt x="101" y="34"/>
                  </a:lnTo>
                  <a:lnTo>
                    <a:pt x="0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7" name="Freeform 15"/>
            <p:cNvSpPr>
              <a:spLocks/>
            </p:cNvSpPr>
            <p:nvPr/>
          </p:nvSpPr>
          <p:spPr bwMode="auto">
            <a:xfrm>
              <a:off x="3903" y="1913"/>
              <a:ext cx="333" cy="371"/>
            </a:xfrm>
            <a:custGeom>
              <a:avLst/>
              <a:gdLst>
                <a:gd name="T0" fmla="*/ 0 w 394"/>
                <a:gd name="T1" fmla="*/ 24 h 440"/>
                <a:gd name="T2" fmla="*/ 3 w 394"/>
                <a:gd name="T3" fmla="*/ 25 h 440"/>
                <a:gd name="T4" fmla="*/ 3 w 394"/>
                <a:gd name="T5" fmla="*/ 25 h 440"/>
                <a:gd name="T6" fmla="*/ 3 w 394"/>
                <a:gd name="T7" fmla="*/ 27 h 440"/>
                <a:gd name="T8" fmla="*/ 3 w 394"/>
                <a:gd name="T9" fmla="*/ 27 h 440"/>
                <a:gd name="T10" fmla="*/ 4 w 394"/>
                <a:gd name="T11" fmla="*/ 29 h 440"/>
                <a:gd name="T12" fmla="*/ 6 w 394"/>
                <a:gd name="T13" fmla="*/ 29 h 440"/>
                <a:gd name="T14" fmla="*/ 8 w 394"/>
                <a:gd name="T15" fmla="*/ 29 h 440"/>
                <a:gd name="T16" fmla="*/ 10 w 394"/>
                <a:gd name="T17" fmla="*/ 29 h 440"/>
                <a:gd name="T18" fmla="*/ 12 w 394"/>
                <a:gd name="T19" fmla="*/ 29 h 440"/>
                <a:gd name="T20" fmla="*/ 14 w 394"/>
                <a:gd name="T21" fmla="*/ 29 h 440"/>
                <a:gd name="T22" fmla="*/ 16 w 394"/>
                <a:gd name="T23" fmla="*/ 29 h 440"/>
                <a:gd name="T24" fmla="*/ 19 w 394"/>
                <a:gd name="T25" fmla="*/ 27 h 440"/>
                <a:gd name="T26" fmla="*/ 21 w 394"/>
                <a:gd name="T27" fmla="*/ 25 h 440"/>
                <a:gd name="T28" fmla="*/ 22 w 394"/>
                <a:gd name="T29" fmla="*/ 24 h 440"/>
                <a:gd name="T30" fmla="*/ 24 w 394"/>
                <a:gd name="T31" fmla="*/ 23 h 440"/>
                <a:gd name="T32" fmla="*/ 25 w 394"/>
                <a:gd name="T33" fmla="*/ 21 h 440"/>
                <a:gd name="T34" fmla="*/ 26 w 394"/>
                <a:gd name="T35" fmla="*/ 19 h 440"/>
                <a:gd name="T36" fmla="*/ 26 w 394"/>
                <a:gd name="T37" fmla="*/ 17 h 440"/>
                <a:gd name="T38" fmla="*/ 26 w 394"/>
                <a:gd name="T39" fmla="*/ 14 h 440"/>
                <a:gd name="T40" fmla="*/ 26 w 394"/>
                <a:gd name="T41" fmla="*/ 12 h 440"/>
                <a:gd name="T42" fmla="*/ 26 w 394"/>
                <a:gd name="T43" fmla="*/ 10 h 440"/>
                <a:gd name="T44" fmla="*/ 25 w 394"/>
                <a:gd name="T45" fmla="*/ 8 h 440"/>
                <a:gd name="T46" fmla="*/ 24 w 394"/>
                <a:gd name="T47" fmla="*/ 6 h 440"/>
                <a:gd name="T48" fmla="*/ 22 w 394"/>
                <a:gd name="T49" fmla="*/ 4 h 440"/>
                <a:gd name="T50" fmla="*/ 21 w 394"/>
                <a:gd name="T51" fmla="*/ 3 h 440"/>
                <a:gd name="T52" fmla="*/ 19 w 394"/>
                <a:gd name="T53" fmla="*/ 3 h 440"/>
                <a:gd name="T54" fmla="*/ 16 w 394"/>
                <a:gd name="T55" fmla="*/ 3 h 440"/>
                <a:gd name="T56" fmla="*/ 14 w 394"/>
                <a:gd name="T57" fmla="*/ 3 h 440"/>
                <a:gd name="T58" fmla="*/ 12 w 394"/>
                <a:gd name="T59" fmla="*/ 0 h 440"/>
                <a:gd name="T60" fmla="*/ 10 w 394"/>
                <a:gd name="T61" fmla="*/ 2 h 440"/>
                <a:gd name="T62" fmla="*/ 8 w 394"/>
                <a:gd name="T63" fmla="*/ 3 h 440"/>
                <a:gd name="T64" fmla="*/ 7 w 394"/>
                <a:gd name="T65" fmla="*/ 3 h 440"/>
                <a:gd name="T66" fmla="*/ 5 w 394"/>
                <a:gd name="T67" fmla="*/ 3 h 4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94" h="440">
                  <a:moveTo>
                    <a:pt x="0" y="375"/>
                  </a:moveTo>
                  <a:lnTo>
                    <a:pt x="3" y="387"/>
                  </a:lnTo>
                  <a:lnTo>
                    <a:pt x="10" y="397"/>
                  </a:lnTo>
                  <a:lnTo>
                    <a:pt x="23" y="408"/>
                  </a:lnTo>
                  <a:lnTo>
                    <a:pt x="41" y="416"/>
                  </a:lnTo>
                  <a:lnTo>
                    <a:pt x="63" y="425"/>
                  </a:lnTo>
                  <a:lnTo>
                    <a:pt x="88" y="431"/>
                  </a:lnTo>
                  <a:lnTo>
                    <a:pt x="114" y="435"/>
                  </a:lnTo>
                  <a:lnTo>
                    <a:pt x="143" y="438"/>
                  </a:lnTo>
                  <a:lnTo>
                    <a:pt x="174" y="440"/>
                  </a:lnTo>
                  <a:lnTo>
                    <a:pt x="209" y="437"/>
                  </a:lnTo>
                  <a:lnTo>
                    <a:pt x="243" y="429"/>
                  </a:lnTo>
                  <a:lnTo>
                    <a:pt x="274" y="416"/>
                  </a:lnTo>
                  <a:lnTo>
                    <a:pt x="303" y="397"/>
                  </a:lnTo>
                  <a:lnTo>
                    <a:pt x="329" y="375"/>
                  </a:lnTo>
                  <a:lnTo>
                    <a:pt x="353" y="349"/>
                  </a:lnTo>
                  <a:lnTo>
                    <a:pt x="370" y="320"/>
                  </a:lnTo>
                  <a:lnTo>
                    <a:pt x="383" y="287"/>
                  </a:lnTo>
                  <a:lnTo>
                    <a:pt x="391" y="254"/>
                  </a:lnTo>
                  <a:lnTo>
                    <a:pt x="394" y="220"/>
                  </a:lnTo>
                  <a:lnTo>
                    <a:pt x="391" y="186"/>
                  </a:lnTo>
                  <a:lnTo>
                    <a:pt x="383" y="153"/>
                  </a:lnTo>
                  <a:lnTo>
                    <a:pt x="370" y="120"/>
                  </a:lnTo>
                  <a:lnTo>
                    <a:pt x="353" y="91"/>
                  </a:lnTo>
                  <a:lnTo>
                    <a:pt x="329" y="65"/>
                  </a:lnTo>
                  <a:lnTo>
                    <a:pt x="303" y="43"/>
                  </a:lnTo>
                  <a:lnTo>
                    <a:pt x="274" y="24"/>
                  </a:lnTo>
                  <a:lnTo>
                    <a:pt x="243" y="10"/>
                  </a:lnTo>
                  <a:lnTo>
                    <a:pt x="209" y="3"/>
                  </a:lnTo>
                  <a:lnTo>
                    <a:pt x="174" y="0"/>
                  </a:lnTo>
                  <a:lnTo>
                    <a:pt x="149" y="2"/>
                  </a:lnTo>
                  <a:lnTo>
                    <a:pt x="124" y="3"/>
                  </a:lnTo>
                  <a:lnTo>
                    <a:pt x="99" y="7"/>
                  </a:lnTo>
                  <a:lnTo>
                    <a:pt x="77" y="12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8" name="Freeform 16"/>
            <p:cNvSpPr>
              <a:spLocks/>
            </p:cNvSpPr>
            <p:nvPr/>
          </p:nvSpPr>
          <p:spPr bwMode="auto">
            <a:xfrm>
              <a:off x="3907" y="1898"/>
              <a:ext cx="86" cy="74"/>
            </a:xfrm>
            <a:custGeom>
              <a:avLst/>
              <a:gdLst>
                <a:gd name="T0" fmla="*/ 8 w 101"/>
                <a:gd name="T1" fmla="*/ 3 h 88"/>
                <a:gd name="T2" fmla="*/ 0 w 101"/>
                <a:gd name="T3" fmla="*/ 6 h 88"/>
                <a:gd name="T4" fmla="*/ 5 w 101"/>
                <a:gd name="T5" fmla="*/ 0 h 88"/>
                <a:gd name="T6" fmla="*/ 8 w 101"/>
                <a:gd name="T7" fmla="*/ 3 h 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88">
                  <a:moveTo>
                    <a:pt x="101" y="53"/>
                  </a:moveTo>
                  <a:lnTo>
                    <a:pt x="0" y="88"/>
                  </a:lnTo>
                  <a:lnTo>
                    <a:pt x="60" y="0"/>
                  </a:lnTo>
                  <a:lnTo>
                    <a:pt x="101" y="53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9" name="Freeform 17"/>
            <p:cNvSpPr>
              <a:spLocks/>
            </p:cNvSpPr>
            <p:nvPr/>
          </p:nvSpPr>
          <p:spPr bwMode="auto">
            <a:xfrm>
              <a:off x="3606" y="2976"/>
              <a:ext cx="371" cy="371"/>
            </a:xfrm>
            <a:custGeom>
              <a:avLst/>
              <a:gdLst>
                <a:gd name="T0" fmla="*/ 0 w 440"/>
                <a:gd name="T1" fmla="*/ 15 h 439"/>
                <a:gd name="T2" fmla="*/ 3 w 440"/>
                <a:gd name="T3" fmla="*/ 13 h 439"/>
                <a:gd name="T4" fmla="*/ 3 w 440"/>
                <a:gd name="T5" fmla="*/ 10 h 439"/>
                <a:gd name="T6" fmla="*/ 3 w 440"/>
                <a:gd name="T7" fmla="*/ 8 h 439"/>
                <a:gd name="T8" fmla="*/ 3 w 440"/>
                <a:gd name="T9" fmla="*/ 6 h 439"/>
                <a:gd name="T10" fmla="*/ 4 w 440"/>
                <a:gd name="T11" fmla="*/ 4 h 439"/>
                <a:gd name="T12" fmla="*/ 6 w 440"/>
                <a:gd name="T13" fmla="*/ 3 h 439"/>
                <a:gd name="T14" fmla="*/ 8 w 440"/>
                <a:gd name="T15" fmla="*/ 3 h 439"/>
                <a:gd name="T16" fmla="*/ 10 w 440"/>
                <a:gd name="T17" fmla="*/ 3 h 439"/>
                <a:gd name="T18" fmla="*/ 12 w 440"/>
                <a:gd name="T19" fmla="*/ 3 h 439"/>
                <a:gd name="T20" fmla="*/ 14 w 440"/>
                <a:gd name="T21" fmla="*/ 0 h 439"/>
                <a:gd name="T22" fmla="*/ 17 w 440"/>
                <a:gd name="T23" fmla="*/ 3 h 439"/>
                <a:gd name="T24" fmla="*/ 19 w 440"/>
                <a:gd name="T25" fmla="*/ 3 h 439"/>
                <a:gd name="T26" fmla="*/ 21 w 440"/>
                <a:gd name="T27" fmla="*/ 3 h 439"/>
                <a:gd name="T28" fmla="*/ 23 w 440"/>
                <a:gd name="T29" fmla="*/ 3 h 439"/>
                <a:gd name="T30" fmla="*/ 24 w 440"/>
                <a:gd name="T31" fmla="*/ 4 h 439"/>
                <a:gd name="T32" fmla="*/ 25 w 440"/>
                <a:gd name="T33" fmla="*/ 6 h 439"/>
                <a:gd name="T34" fmla="*/ 27 w 440"/>
                <a:gd name="T35" fmla="*/ 8 h 439"/>
                <a:gd name="T36" fmla="*/ 29 w 440"/>
                <a:gd name="T37" fmla="*/ 10 h 439"/>
                <a:gd name="T38" fmla="*/ 29 w 440"/>
                <a:gd name="T39" fmla="*/ 13 h 439"/>
                <a:gd name="T40" fmla="*/ 29 w 440"/>
                <a:gd name="T41" fmla="*/ 15 h 439"/>
                <a:gd name="T42" fmla="*/ 29 w 440"/>
                <a:gd name="T43" fmla="*/ 18 h 439"/>
                <a:gd name="T44" fmla="*/ 29 w 440"/>
                <a:gd name="T45" fmla="*/ 19 h 439"/>
                <a:gd name="T46" fmla="*/ 27 w 440"/>
                <a:gd name="T47" fmla="*/ 21 h 439"/>
                <a:gd name="T48" fmla="*/ 25 w 440"/>
                <a:gd name="T49" fmla="*/ 24 h 439"/>
                <a:gd name="T50" fmla="*/ 24 w 440"/>
                <a:gd name="T51" fmla="*/ 25 h 439"/>
                <a:gd name="T52" fmla="*/ 23 w 440"/>
                <a:gd name="T53" fmla="*/ 27 h 439"/>
                <a:gd name="T54" fmla="*/ 21 w 440"/>
                <a:gd name="T55" fmla="*/ 28 h 439"/>
                <a:gd name="T56" fmla="*/ 19 w 440"/>
                <a:gd name="T57" fmla="*/ 30 h 439"/>
                <a:gd name="T58" fmla="*/ 17 w 440"/>
                <a:gd name="T59" fmla="*/ 30 h 439"/>
                <a:gd name="T60" fmla="*/ 14 w 440"/>
                <a:gd name="T61" fmla="*/ 30 h 439"/>
                <a:gd name="T62" fmla="*/ 12 w 440"/>
                <a:gd name="T63" fmla="*/ 30 h 439"/>
                <a:gd name="T64" fmla="*/ 10 w 440"/>
                <a:gd name="T65" fmla="*/ 30 h 439"/>
                <a:gd name="T66" fmla="*/ 8 w 440"/>
                <a:gd name="T67" fmla="*/ 28 h 439"/>
                <a:gd name="T68" fmla="*/ 6 w 440"/>
                <a:gd name="T69" fmla="*/ 27 h 439"/>
                <a:gd name="T70" fmla="*/ 4 w 440"/>
                <a:gd name="T71" fmla="*/ 25 h 439"/>
                <a:gd name="T72" fmla="*/ 3 w 440"/>
                <a:gd name="T73" fmla="*/ 24 h 439"/>
                <a:gd name="T74" fmla="*/ 3 w 440"/>
                <a:gd name="T75" fmla="*/ 21 h 439"/>
                <a:gd name="T76" fmla="*/ 3 w 440"/>
                <a:gd name="T77" fmla="*/ 19 h 439"/>
                <a:gd name="T78" fmla="*/ 3 w 440"/>
                <a:gd name="T79" fmla="*/ 18 h 439"/>
                <a:gd name="T80" fmla="*/ 0 w 440"/>
                <a:gd name="T81" fmla="*/ 15 h 43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0" h="439">
                  <a:moveTo>
                    <a:pt x="0" y="220"/>
                  </a:moveTo>
                  <a:lnTo>
                    <a:pt x="3" y="186"/>
                  </a:lnTo>
                  <a:lnTo>
                    <a:pt x="10" y="152"/>
                  </a:lnTo>
                  <a:lnTo>
                    <a:pt x="24" y="120"/>
                  </a:lnTo>
                  <a:lnTo>
                    <a:pt x="41" y="91"/>
                  </a:lnTo>
                  <a:lnTo>
                    <a:pt x="65" y="64"/>
                  </a:lnTo>
                  <a:lnTo>
                    <a:pt x="91" y="42"/>
                  </a:lnTo>
                  <a:lnTo>
                    <a:pt x="120" y="25"/>
                  </a:lnTo>
                  <a:lnTo>
                    <a:pt x="151" y="12"/>
                  </a:lnTo>
                  <a:lnTo>
                    <a:pt x="185" y="3"/>
                  </a:lnTo>
                  <a:lnTo>
                    <a:pt x="220" y="0"/>
                  </a:lnTo>
                  <a:lnTo>
                    <a:pt x="254" y="3"/>
                  </a:lnTo>
                  <a:lnTo>
                    <a:pt x="287" y="12"/>
                  </a:lnTo>
                  <a:lnTo>
                    <a:pt x="320" y="25"/>
                  </a:lnTo>
                  <a:lnTo>
                    <a:pt x="349" y="42"/>
                  </a:lnTo>
                  <a:lnTo>
                    <a:pt x="375" y="64"/>
                  </a:lnTo>
                  <a:lnTo>
                    <a:pt x="397" y="91"/>
                  </a:lnTo>
                  <a:lnTo>
                    <a:pt x="416" y="120"/>
                  </a:lnTo>
                  <a:lnTo>
                    <a:pt x="429" y="152"/>
                  </a:lnTo>
                  <a:lnTo>
                    <a:pt x="437" y="186"/>
                  </a:lnTo>
                  <a:lnTo>
                    <a:pt x="440" y="220"/>
                  </a:lnTo>
                  <a:lnTo>
                    <a:pt x="437" y="255"/>
                  </a:lnTo>
                  <a:lnTo>
                    <a:pt x="429" y="288"/>
                  </a:lnTo>
                  <a:lnTo>
                    <a:pt x="416" y="319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9" y="398"/>
                  </a:lnTo>
                  <a:lnTo>
                    <a:pt x="320" y="416"/>
                  </a:lnTo>
                  <a:lnTo>
                    <a:pt x="287" y="429"/>
                  </a:lnTo>
                  <a:lnTo>
                    <a:pt x="254" y="436"/>
                  </a:lnTo>
                  <a:lnTo>
                    <a:pt x="220" y="439"/>
                  </a:lnTo>
                  <a:lnTo>
                    <a:pt x="185" y="436"/>
                  </a:lnTo>
                  <a:lnTo>
                    <a:pt x="151" y="429"/>
                  </a:lnTo>
                  <a:lnTo>
                    <a:pt x="120" y="416"/>
                  </a:lnTo>
                  <a:lnTo>
                    <a:pt x="91" y="398"/>
                  </a:lnTo>
                  <a:lnTo>
                    <a:pt x="65" y="375"/>
                  </a:lnTo>
                  <a:lnTo>
                    <a:pt x="41" y="349"/>
                  </a:lnTo>
                  <a:lnTo>
                    <a:pt x="24" y="319"/>
                  </a:lnTo>
                  <a:lnTo>
                    <a:pt x="10" y="288"/>
                  </a:lnTo>
                  <a:lnTo>
                    <a:pt x="3" y="255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0" name="Rectangle 18"/>
            <p:cNvSpPr>
              <a:spLocks noChangeArrowheads="1"/>
            </p:cNvSpPr>
            <p:nvPr/>
          </p:nvSpPr>
          <p:spPr bwMode="auto">
            <a:xfrm>
              <a:off x="3739" y="3067"/>
              <a:ext cx="5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1" name="Rectangle 19"/>
            <p:cNvSpPr>
              <a:spLocks noChangeArrowheads="1"/>
            </p:cNvSpPr>
            <p:nvPr/>
          </p:nvSpPr>
          <p:spPr bwMode="auto">
            <a:xfrm>
              <a:off x="3830" y="3203"/>
              <a:ext cx="3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8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4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2" name="Freeform 20"/>
            <p:cNvSpPr>
              <a:spLocks/>
            </p:cNvSpPr>
            <p:nvPr/>
          </p:nvSpPr>
          <p:spPr bwMode="auto">
            <a:xfrm>
              <a:off x="2475" y="1913"/>
              <a:ext cx="371" cy="371"/>
            </a:xfrm>
            <a:custGeom>
              <a:avLst/>
              <a:gdLst>
                <a:gd name="T0" fmla="*/ 0 w 440"/>
                <a:gd name="T1" fmla="*/ 14 h 440"/>
                <a:gd name="T2" fmla="*/ 3 w 440"/>
                <a:gd name="T3" fmla="*/ 12 h 440"/>
                <a:gd name="T4" fmla="*/ 3 w 440"/>
                <a:gd name="T5" fmla="*/ 10 h 440"/>
                <a:gd name="T6" fmla="*/ 3 w 440"/>
                <a:gd name="T7" fmla="*/ 8 h 440"/>
                <a:gd name="T8" fmla="*/ 3 w 440"/>
                <a:gd name="T9" fmla="*/ 6 h 440"/>
                <a:gd name="T10" fmla="*/ 4 w 440"/>
                <a:gd name="T11" fmla="*/ 4 h 440"/>
                <a:gd name="T12" fmla="*/ 6 w 440"/>
                <a:gd name="T13" fmla="*/ 3 h 440"/>
                <a:gd name="T14" fmla="*/ 8 w 440"/>
                <a:gd name="T15" fmla="*/ 3 h 440"/>
                <a:gd name="T16" fmla="*/ 10 w 440"/>
                <a:gd name="T17" fmla="*/ 3 h 440"/>
                <a:gd name="T18" fmla="*/ 12 w 440"/>
                <a:gd name="T19" fmla="*/ 3 h 440"/>
                <a:gd name="T20" fmla="*/ 14 w 440"/>
                <a:gd name="T21" fmla="*/ 0 h 440"/>
                <a:gd name="T22" fmla="*/ 17 w 440"/>
                <a:gd name="T23" fmla="*/ 3 h 440"/>
                <a:gd name="T24" fmla="*/ 19 w 440"/>
                <a:gd name="T25" fmla="*/ 3 h 440"/>
                <a:gd name="T26" fmla="*/ 21 w 440"/>
                <a:gd name="T27" fmla="*/ 3 h 440"/>
                <a:gd name="T28" fmla="*/ 23 w 440"/>
                <a:gd name="T29" fmla="*/ 3 h 440"/>
                <a:gd name="T30" fmla="*/ 24 w 440"/>
                <a:gd name="T31" fmla="*/ 4 h 440"/>
                <a:gd name="T32" fmla="*/ 25 w 440"/>
                <a:gd name="T33" fmla="*/ 6 h 440"/>
                <a:gd name="T34" fmla="*/ 27 w 440"/>
                <a:gd name="T35" fmla="*/ 8 h 440"/>
                <a:gd name="T36" fmla="*/ 29 w 440"/>
                <a:gd name="T37" fmla="*/ 10 h 440"/>
                <a:gd name="T38" fmla="*/ 29 w 440"/>
                <a:gd name="T39" fmla="*/ 12 h 440"/>
                <a:gd name="T40" fmla="*/ 29 w 440"/>
                <a:gd name="T41" fmla="*/ 14 h 440"/>
                <a:gd name="T42" fmla="*/ 29 w 440"/>
                <a:gd name="T43" fmla="*/ 17 h 440"/>
                <a:gd name="T44" fmla="*/ 29 w 440"/>
                <a:gd name="T45" fmla="*/ 19 h 440"/>
                <a:gd name="T46" fmla="*/ 27 w 440"/>
                <a:gd name="T47" fmla="*/ 21 h 440"/>
                <a:gd name="T48" fmla="*/ 25 w 440"/>
                <a:gd name="T49" fmla="*/ 23 h 440"/>
                <a:gd name="T50" fmla="*/ 24 w 440"/>
                <a:gd name="T51" fmla="*/ 24 h 440"/>
                <a:gd name="T52" fmla="*/ 23 w 440"/>
                <a:gd name="T53" fmla="*/ 25 h 440"/>
                <a:gd name="T54" fmla="*/ 21 w 440"/>
                <a:gd name="T55" fmla="*/ 27 h 440"/>
                <a:gd name="T56" fmla="*/ 19 w 440"/>
                <a:gd name="T57" fmla="*/ 29 h 440"/>
                <a:gd name="T58" fmla="*/ 17 w 440"/>
                <a:gd name="T59" fmla="*/ 29 h 440"/>
                <a:gd name="T60" fmla="*/ 14 w 440"/>
                <a:gd name="T61" fmla="*/ 29 h 440"/>
                <a:gd name="T62" fmla="*/ 12 w 440"/>
                <a:gd name="T63" fmla="*/ 29 h 440"/>
                <a:gd name="T64" fmla="*/ 10 w 440"/>
                <a:gd name="T65" fmla="*/ 29 h 440"/>
                <a:gd name="T66" fmla="*/ 8 w 440"/>
                <a:gd name="T67" fmla="*/ 27 h 440"/>
                <a:gd name="T68" fmla="*/ 6 w 440"/>
                <a:gd name="T69" fmla="*/ 25 h 440"/>
                <a:gd name="T70" fmla="*/ 4 w 440"/>
                <a:gd name="T71" fmla="*/ 24 h 440"/>
                <a:gd name="T72" fmla="*/ 3 w 440"/>
                <a:gd name="T73" fmla="*/ 23 h 440"/>
                <a:gd name="T74" fmla="*/ 3 w 440"/>
                <a:gd name="T75" fmla="*/ 21 h 440"/>
                <a:gd name="T76" fmla="*/ 3 w 440"/>
                <a:gd name="T77" fmla="*/ 19 h 440"/>
                <a:gd name="T78" fmla="*/ 3 w 440"/>
                <a:gd name="T79" fmla="*/ 17 h 440"/>
                <a:gd name="T80" fmla="*/ 0 w 440"/>
                <a:gd name="T81" fmla="*/ 14 h 44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0" h="440">
                  <a:moveTo>
                    <a:pt x="0" y="220"/>
                  </a:moveTo>
                  <a:lnTo>
                    <a:pt x="3" y="186"/>
                  </a:lnTo>
                  <a:lnTo>
                    <a:pt x="10" y="153"/>
                  </a:lnTo>
                  <a:lnTo>
                    <a:pt x="24" y="120"/>
                  </a:lnTo>
                  <a:lnTo>
                    <a:pt x="41" y="91"/>
                  </a:lnTo>
                  <a:lnTo>
                    <a:pt x="65" y="65"/>
                  </a:lnTo>
                  <a:lnTo>
                    <a:pt x="91" y="43"/>
                  </a:lnTo>
                  <a:lnTo>
                    <a:pt x="120" y="24"/>
                  </a:lnTo>
                  <a:lnTo>
                    <a:pt x="151" y="10"/>
                  </a:lnTo>
                  <a:lnTo>
                    <a:pt x="185" y="3"/>
                  </a:lnTo>
                  <a:lnTo>
                    <a:pt x="220" y="0"/>
                  </a:lnTo>
                  <a:lnTo>
                    <a:pt x="254" y="3"/>
                  </a:lnTo>
                  <a:lnTo>
                    <a:pt x="287" y="10"/>
                  </a:lnTo>
                  <a:lnTo>
                    <a:pt x="320" y="24"/>
                  </a:lnTo>
                  <a:lnTo>
                    <a:pt x="349" y="43"/>
                  </a:lnTo>
                  <a:lnTo>
                    <a:pt x="375" y="65"/>
                  </a:lnTo>
                  <a:lnTo>
                    <a:pt x="397" y="91"/>
                  </a:lnTo>
                  <a:lnTo>
                    <a:pt x="416" y="120"/>
                  </a:lnTo>
                  <a:lnTo>
                    <a:pt x="429" y="153"/>
                  </a:lnTo>
                  <a:lnTo>
                    <a:pt x="437" y="186"/>
                  </a:lnTo>
                  <a:lnTo>
                    <a:pt x="440" y="220"/>
                  </a:lnTo>
                  <a:lnTo>
                    <a:pt x="437" y="254"/>
                  </a:lnTo>
                  <a:lnTo>
                    <a:pt x="429" y="287"/>
                  </a:lnTo>
                  <a:lnTo>
                    <a:pt x="416" y="320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9" y="397"/>
                  </a:lnTo>
                  <a:lnTo>
                    <a:pt x="320" y="416"/>
                  </a:lnTo>
                  <a:lnTo>
                    <a:pt x="287" y="429"/>
                  </a:lnTo>
                  <a:lnTo>
                    <a:pt x="254" y="437"/>
                  </a:lnTo>
                  <a:lnTo>
                    <a:pt x="220" y="440"/>
                  </a:lnTo>
                  <a:lnTo>
                    <a:pt x="185" y="437"/>
                  </a:lnTo>
                  <a:lnTo>
                    <a:pt x="151" y="429"/>
                  </a:lnTo>
                  <a:lnTo>
                    <a:pt x="120" y="416"/>
                  </a:lnTo>
                  <a:lnTo>
                    <a:pt x="91" y="397"/>
                  </a:lnTo>
                  <a:lnTo>
                    <a:pt x="65" y="375"/>
                  </a:lnTo>
                  <a:lnTo>
                    <a:pt x="41" y="349"/>
                  </a:lnTo>
                  <a:lnTo>
                    <a:pt x="24" y="320"/>
                  </a:lnTo>
                  <a:lnTo>
                    <a:pt x="10" y="287"/>
                  </a:lnTo>
                  <a:lnTo>
                    <a:pt x="3" y="254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3" name="Rectangle 21"/>
            <p:cNvSpPr>
              <a:spLocks noChangeArrowheads="1"/>
            </p:cNvSpPr>
            <p:nvPr/>
          </p:nvSpPr>
          <p:spPr bwMode="auto">
            <a:xfrm>
              <a:off x="2692" y="2011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4" name="Rectangle 22"/>
            <p:cNvSpPr>
              <a:spLocks noChangeArrowheads="1"/>
            </p:cNvSpPr>
            <p:nvPr/>
          </p:nvSpPr>
          <p:spPr bwMode="auto">
            <a:xfrm>
              <a:off x="2756" y="2101"/>
              <a:ext cx="33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8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2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5" name="Freeform 23"/>
            <p:cNvSpPr>
              <a:spLocks/>
            </p:cNvSpPr>
            <p:nvPr/>
          </p:nvSpPr>
          <p:spPr bwMode="auto">
            <a:xfrm>
              <a:off x="1364" y="1913"/>
              <a:ext cx="371" cy="371"/>
            </a:xfrm>
            <a:custGeom>
              <a:avLst/>
              <a:gdLst>
                <a:gd name="T0" fmla="*/ 0 w 439"/>
                <a:gd name="T1" fmla="*/ 14 h 440"/>
                <a:gd name="T2" fmla="*/ 1 w 439"/>
                <a:gd name="T3" fmla="*/ 12 h 440"/>
                <a:gd name="T4" fmla="*/ 3 w 439"/>
                <a:gd name="T5" fmla="*/ 10 h 440"/>
                <a:gd name="T6" fmla="*/ 3 w 439"/>
                <a:gd name="T7" fmla="*/ 8 h 440"/>
                <a:gd name="T8" fmla="*/ 3 w 439"/>
                <a:gd name="T9" fmla="*/ 6 h 440"/>
                <a:gd name="T10" fmla="*/ 4 w 439"/>
                <a:gd name="T11" fmla="*/ 4 h 440"/>
                <a:gd name="T12" fmla="*/ 6 w 439"/>
                <a:gd name="T13" fmla="*/ 3 h 440"/>
                <a:gd name="T14" fmla="*/ 8 w 439"/>
                <a:gd name="T15" fmla="*/ 3 h 440"/>
                <a:gd name="T16" fmla="*/ 10 w 439"/>
                <a:gd name="T17" fmla="*/ 3 h 440"/>
                <a:gd name="T18" fmla="*/ 13 w 439"/>
                <a:gd name="T19" fmla="*/ 3 h 440"/>
                <a:gd name="T20" fmla="*/ 15 w 439"/>
                <a:gd name="T21" fmla="*/ 0 h 440"/>
                <a:gd name="T22" fmla="*/ 18 w 439"/>
                <a:gd name="T23" fmla="*/ 3 h 440"/>
                <a:gd name="T24" fmla="*/ 19 w 439"/>
                <a:gd name="T25" fmla="*/ 3 h 440"/>
                <a:gd name="T26" fmla="*/ 21 w 439"/>
                <a:gd name="T27" fmla="*/ 3 h 440"/>
                <a:gd name="T28" fmla="*/ 24 w 439"/>
                <a:gd name="T29" fmla="*/ 3 h 440"/>
                <a:gd name="T30" fmla="*/ 25 w 439"/>
                <a:gd name="T31" fmla="*/ 4 h 440"/>
                <a:gd name="T32" fmla="*/ 27 w 439"/>
                <a:gd name="T33" fmla="*/ 6 h 440"/>
                <a:gd name="T34" fmla="*/ 28 w 439"/>
                <a:gd name="T35" fmla="*/ 8 h 440"/>
                <a:gd name="T36" fmla="*/ 30 w 439"/>
                <a:gd name="T37" fmla="*/ 10 h 440"/>
                <a:gd name="T38" fmla="*/ 30 w 439"/>
                <a:gd name="T39" fmla="*/ 12 h 440"/>
                <a:gd name="T40" fmla="*/ 30 w 439"/>
                <a:gd name="T41" fmla="*/ 14 h 440"/>
                <a:gd name="T42" fmla="*/ 30 w 439"/>
                <a:gd name="T43" fmla="*/ 17 h 440"/>
                <a:gd name="T44" fmla="*/ 30 w 439"/>
                <a:gd name="T45" fmla="*/ 19 h 440"/>
                <a:gd name="T46" fmla="*/ 28 w 439"/>
                <a:gd name="T47" fmla="*/ 21 h 440"/>
                <a:gd name="T48" fmla="*/ 27 w 439"/>
                <a:gd name="T49" fmla="*/ 23 h 440"/>
                <a:gd name="T50" fmla="*/ 25 w 439"/>
                <a:gd name="T51" fmla="*/ 24 h 440"/>
                <a:gd name="T52" fmla="*/ 24 w 439"/>
                <a:gd name="T53" fmla="*/ 25 h 440"/>
                <a:gd name="T54" fmla="*/ 21 w 439"/>
                <a:gd name="T55" fmla="*/ 27 h 440"/>
                <a:gd name="T56" fmla="*/ 19 w 439"/>
                <a:gd name="T57" fmla="*/ 29 h 440"/>
                <a:gd name="T58" fmla="*/ 18 w 439"/>
                <a:gd name="T59" fmla="*/ 29 h 440"/>
                <a:gd name="T60" fmla="*/ 15 w 439"/>
                <a:gd name="T61" fmla="*/ 29 h 440"/>
                <a:gd name="T62" fmla="*/ 13 w 439"/>
                <a:gd name="T63" fmla="*/ 29 h 440"/>
                <a:gd name="T64" fmla="*/ 10 w 439"/>
                <a:gd name="T65" fmla="*/ 29 h 440"/>
                <a:gd name="T66" fmla="*/ 8 w 439"/>
                <a:gd name="T67" fmla="*/ 27 h 440"/>
                <a:gd name="T68" fmla="*/ 6 w 439"/>
                <a:gd name="T69" fmla="*/ 25 h 440"/>
                <a:gd name="T70" fmla="*/ 4 w 439"/>
                <a:gd name="T71" fmla="*/ 24 h 440"/>
                <a:gd name="T72" fmla="*/ 3 w 439"/>
                <a:gd name="T73" fmla="*/ 23 h 440"/>
                <a:gd name="T74" fmla="*/ 3 w 439"/>
                <a:gd name="T75" fmla="*/ 21 h 440"/>
                <a:gd name="T76" fmla="*/ 3 w 439"/>
                <a:gd name="T77" fmla="*/ 19 h 440"/>
                <a:gd name="T78" fmla="*/ 1 w 439"/>
                <a:gd name="T79" fmla="*/ 17 h 440"/>
                <a:gd name="T80" fmla="*/ 0 w 439"/>
                <a:gd name="T81" fmla="*/ 14 h 44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39" h="440">
                  <a:moveTo>
                    <a:pt x="0" y="220"/>
                  </a:moveTo>
                  <a:lnTo>
                    <a:pt x="1" y="186"/>
                  </a:lnTo>
                  <a:lnTo>
                    <a:pt x="10" y="153"/>
                  </a:lnTo>
                  <a:lnTo>
                    <a:pt x="23" y="120"/>
                  </a:lnTo>
                  <a:lnTo>
                    <a:pt x="41" y="91"/>
                  </a:lnTo>
                  <a:lnTo>
                    <a:pt x="63" y="65"/>
                  </a:lnTo>
                  <a:lnTo>
                    <a:pt x="89" y="43"/>
                  </a:lnTo>
                  <a:lnTo>
                    <a:pt x="118" y="24"/>
                  </a:lnTo>
                  <a:lnTo>
                    <a:pt x="151" y="10"/>
                  </a:lnTo>
                  <a:lnTo>
                    <a:pt x="184" y="3"/>
                  </a:lnTo>
                  <a:lnTo>
                    <a:pt x="219" y="0"/>
                  </a:lnTo>
                  <a:lnTo>
                    <a:pt x="253" y="3"/>
                  </a:lnTo>
                  <a:lnTo>
                    <a:pt x="287" y="10"/>
                  </a:lnTo>
                  <a:lnTo>
                    <a:pt x="319" y="24"/>
                  </a:lnTo>
                  <a:lnTo>
                    <a:pt x="348" y="43"/>
                  </a:lnTo>
                  <a:lnTo>
                    <a:pt x="375" y="65"/>
                  </a:lnTo>
                  <a:lnTo>
                    <a:pt x="397" y="91"/>
                  </a:lnTo>
                  <a:lnTo>
                    <a:pt x="414" y="120"/>
                  </a:lnTo>
                  <a:lnTo>
                    <a:pt x="428" y="153"/>
                  </a:lnTo>
                  <a:lnTo>
                    <a:pt x="436" y="186"/>
                  </a:lnTo>
                  <a:lnTo>
                    <a:pt x="439" y="220"/>
                  </a:lnTo>
                  <a:lnTo>
                    <a:pt x="436" y="254"/>
                  </a:lnTo>
                  <a:lnTo>
                    <a:pt x="428" y="287"/>
                  </a:lnTo>
                  <a:lnTo>
                    <a:pt x="414" y="320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8" y="397"/>
                  </a:lnTo>
                  <a:lnTo>
                    <a:pt x="319" y="416"/>
                  </a:lnTo>
                  <a:lnTo>
                    <a:pt x="287" y="429"/>
                  </a:lnTo>
                  <a:lnTo>
                    <a:pt x="253" y="437"/>
                  </a:lnTo>
                  <a:lnTo>
                    <a:pt x="219" y="440"/>
                  </a:lnTo>
                  <a:lnTo>
                    <a:pt x="184" y="437"/>
                  </a:lnTo>
                  <a:lnTo>
                    <a:pt x="151" y="429"/>
                  </a:lnTo>
                  <a:lnTo>
                    <a:pt x="118" y="416"/>
                  </a:lnTo>
                  <a:lnTo>
                    <a:pt x="89" y="397"/>
                  </a:lnTo>
                  <a:lnTo>
                    <a:pt x="63" y="375"/>
                  </a:lnTo>
                  <a:lnTo>
                    <a:pt x="41" y="349"/>
                  </a:lnTo>
                  <a:lnTo>
                    <a:pt x="23" y="320"/>
                  </a:lnTo>
                  <a:lnTo>
                    <a:pt x="10" y="287"/>
                  </a:lnTo>
                  <a:lnTo>
                    <a:pt x="1" y="254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Rectangle 24"/>
            <p:cNvSpPr>
              <a:spLocks noChangeArrowheads="1"/>
            </p:cNvSpPr>
            <p:nvPr/>
          </p:nvSpPr>
          <p:spPr bwMode="auto">
            <a:xfrm>
              <a:off x="1580" y="2011"/>
              <a:ext cx="5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7" name="Rectangle 25"/>
            <p:cNvSpPr>
              <a:spLocks noChangeArrowheads="1"/>
            </p:cNvSpPr>
            <p:nvPr/>
          </p:nvSpPr>
          <p:spPr bwMode="auto">
            <a:xfrm>
              <a:off x="1643" y="2101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8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1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88" name="Freeform 26"/>
            <p:cNvSpPr>
              <a:spLocks/>
            </p:cNvSpPr>
            <p:nvPr/>
          </p:nvSpPr>
          <p:spPr bwMode="auto">
            <a:xfrm>
              <a:off x="2475" y="1635"/>
              <a:ext cx="269" cy="332"/>
            </a:xfrm>
            <a:custGeom>
              <a:avLst/>
              <a:gdLst>
                <a:gd name="T0" fmla="*/ 1 w 440"/>
                <a:gd name="T1" fmla="*/ 24 h 395"/>
                <a:gd name="T2" fmla="*/ 1 w 440"/>
                <a:gd name="T3" fmla="*/ 24 h 395"/>
                <a:gd name="T4" fmla="*/ 1 w 440"/>
                <a:gd name="T5" fmla="*/ 24 h 395"/>
                <a:gd name="T6" fmla="*/ 1 w 440"/>
                <a:gd name="T7" fmla="*/ 24 h 395"/>
                <a:gd name="T8" fmla="*/ 1 w 440"/>
                <a:gd name="T9" fmla="*/ 22 h 395"/>
                <a:gd name="T10" fmla="*/ 1 w 440"/>
                <a:gd name="T11" fmla="*/ 20 h 395"/>
                <a:gd name="T12" fmla="*/ 1 w 440"/>
                <a:gd name="T13" fmla="*/ 19 h 395"/>
                <a:gd name="T14" fmla="*/ 1 w 440"/>
                <a:gd name="T15" fmla="*/ 17 h 395"/>
                <a:gd name="T16" fmla="*/ 1 w 440"/>
                <a:gd name="T17" fmla="*/ 15 h 395"/>
                <a:gd name="T18" fmla="*/ 1 w 440"/>
                <a:gd name="T19" fmla="*/ 14 h 395"/>
                <a:gd name="T20" fmla="*/ 1 w 440"/>
                <a:gd name="T21" fmla="*/ 12 h 395"/>
                <a:gd name="T22" fmla="*/ 1 w 440"/>
                <a:gd name="T23" fmla="*/ 9 h 395"/>
                <a:gd name="T24" fmla="*/ 1 w 440"/>
                <a:gd name="T25" fmla="*/ 8 h 395"/>
                <a:gd name="T26" fmla="*/ 1 w 440"/>
                <a:gd name="T27" fmla="*/ 6 h 395"/>
                <a:gd name="T28" fmla="*/ 1 w 440"/>
                <a:gd name="T29" fmla="*/ 4 h 395"/>
                <a:gd name="T30" fmla="*/ 1 w 440"/>
                <a:gd name="T31" fmla="*/ 3 h 395"/>
                <a:gd name="T32" fmla="*/ 1 w 440"/>
                <a:gd name="T33" fmla="*/ 3 h 395"/>
                <a:gd name="T34" fmla="*/ 1 w 440"/>
                <a:gd name="T35" fmla="*/ 3 h 395"/>
                <a:gd name="T36" fmla="*/ 1 w 440"/>
                <a:gd name="T37" fmla="*/ 3 h 395"/>
                <a:gd name="T38" fmla="*/ 1 w 440"/>
                <a:gd name="T39" fmla="*/ 0 h 395"/>
                <a:gd name="T40" fmla="*/ 1 w 440"/>
                <a:gd name="T41" fmla="*/ 3 h 395"/>
                <a:gd name="T42" fmla="*/ 1 w 440"/>
                <a:gd name="T43" fmla="*/ 3 h 395"/>
                <a:gd name="T44" fmla="*/ 1 w 440"/>
                <a:gd name="T45" fmla="*/ 3 h 395"/>
                <a:gd name="T46" fmla="*/ 1 w 440"/>
                <a:gd name="T47" fmla="*/ 3 h 395"/>
                <a:gd name="T48" fmla="*/ 1 w 440"/>
                <a:gd name="T49" fmla="*/ 4 h 395"/>
                <a:gd name="T50" fmla="*/ 1 w 440"/>
                <a:gd name="T51" fmla="*/ 6 h 395"/>
                <a:gd name="T52" fmla="*/ 1 w 440"/>
                <a:gd name="T53" fmla="*/ 8 h 395"/>
                <a:gd name="T54" fmla="*/ 1 w 440"/>
                <a:gd name="T55" fmla="*/ 9 h 395"/>
                <a:gd name="T56" fmla="*/ 1 w 440"/>
                <a:gd name="T57" fmla="*/ 12 h 395"/>
                <a:gd name="T58" fmla="*/ 0 w 440"/>
                <a:gd name="T59" fmla="*/ 14 h 395"/>
                <a:gd name="T60" fmla="*/ 0 w 440"/>
                <a:gd name="T61" fmla="*/ 15 h 395"/>
                <a:gd name="T62" fmla="*/ 1 w 440"/>
                <a:gd name="T63" fmla="*/ 17 h 395"/>
                <a:gd name="T64" fmla="*/ 1 w 440"/>
                <a:gd name="T65" fmla="*/ 18 h 395"/>
                <a:gd name="T66" fmla="*/ 1 w 440"/>
                <a:gd name="T67" fmla="*/ 20 h 39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40" h="395">
                  <a:moveTo>
                    <a:pt x="375" y="395"/>
                  </a:moveTo>
                  <a:lnTo>
                    <a:pt x="387" y="392"/>
                  </a:lnTo>
                  <a:lnTo>
                    <a:pt x="397" y="384"/>
                  </a:lnTo>
                  <a:lnTo>
                    <a:pt x="407" y="371"/>
                  </a:lnTo>
                  <a:lnTo>
                    <a:pt x="416" y="354"/>
                  </a:lnTo>
                  <a:lnTo>
                    <a:pt x="425" y="332"/>
                  </a:lnTo>
                  <a:lnTo>
                    <a:pt x="431" y="307"/>
                  </a:lnTo>
                  <a:lnTo>
                    <a:pt x="435" y="280"/>
                  </a:lnTo>
                  <a:lnTo>
                    <a:pt x="438" y="251"/>
                  </a:lnTo>
                  <a:lnTo>
                    <a:pt x="440" y="220"/>
                  </a:lnTo>
                  <a:lnTo>
                    <a:pt x="437" y="185"/>
                  </a:lnTo>
                  <a:lnTo>
                    <a:pt x="429" y="153"/>
                  </a:lnTo>
                  <a:lnTo>
                    <a:pt x="416" y="121"/>
                  </a:lnTo>
                  <a:lnTo>
                    <a:pt x="397" y="91"/>
                  </a:lnTo>
                  <a:lnTo>
                    <a:pt x="375" y="65"/>
                  </a:lnTo>
                  <a:lnTo>
                    <a:pt x="349" y="43"/>
                  </a:lnTo>
                  <a:lnTo>
                    <a:pt x="320" y="24"/>
                  </a:lnTo>
                  <a:lnTo>
                    <a:pt x="287" y="11"/>
                  </a:lnTo>
                  <a:lnTo>
                    <a:pt x="254" y="3"/>
                  </a:lnTo>
                  <a:lnTo>
                    <a:pt x="220" y="0"/>
                  </a:lnTo>
                  <a:lnTo>
                    <a:pt x="185" y="3"/>
                  </a:lnTo>
                  <a:lnTo>
                    <a:pt x="151" y="11"/>
                  </a:lnTo>
                  <a:lnTo>
                    <a:pt x="120" y="24"/>
                  </a:lnTo>
                  <a:lnTo>
                    <a:pt x="91" y="43"/>
                  </a:lnTo>
                  <a:lnTo>
                    <a:pt x="65" y="65"/>
                  </a:lnTo>
                  <a:lnTo>
                    <a:pt x="41" y="91"/>
                  </a:lnTo>
                  <a:lnTo>
                    <a:pt x="24" y="121"/>
                  </a:lnTo>
                  <a:lnTo>
                    <a:pt x="10" y="153"/>
                  </a:lnTo>
                  <a:lnTo>
                    <a:pt x="3" y="185"/>
                  </a:lnTo>
                  <a:lnTo>
                    <a:pt x="0" y="220"/>
                  </a:lnTo>
                  <a:lnTo>
                    <a:pt x="0" y="245"/>
                  </a:lnTo>
                  <a:lnTo>
                    <a:pt x="3" y="270"/>
                  </a:lnTo>
                  <a:lnTo>
                    <a:pt x="8" y="295"/>
                  </a:lnTo>
                  <a:lnTo>
                    <a:pt x="12" y="317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9" name="Freeform 27"/>
            <p:cNvSpPr>
              <a:spLocks/>
            </p:cNvSpPr>
            <p:nvPr/>
          </p:nvSpPr>
          <p:spPr bwMode="auto">
            <a:xfrm>
              <a:off x="2458" y="1880"/>
              <a:ext cx="76" cy="84"/>
            </a:xfrm>
            <a:custGeom>
              <a:avLst/>
              <a:gdLst>
                <a:gd name="T0" fmla="*/ 4 w 89"/>
                <a:gd name="T1" fmla="*/ 0 h 101"/>
                <a:gd name="T2" fmla="*/ 8 w 89"/>
                <a:gd name="T3" fmla="*/ 5 h 101"/>
                <a:gd name="T4" fmla="*/ 0 w 89"/>
                <a:gd name="T5" fmla="*/ 2 h 101"/>
                <a:gd name="T6" fmla="*/ 4 w 89"/>
                <a:gd name="T7" fmla="*/ 0 h 10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9" h="101">
                  <a:moveTo>
                    <a:pt x="54" y="0"/>
                  </a:moveTo>
                  <a:lnTo>
                    <a:pt x="89" y="101"/>
                  </a:lnTo>
                  <a:lnTo>
                    <a:pt x="0" y="41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0" name="Rectangle 28"/>
            <p:cNvSpPr>
              <a:spLocks noChangeArrowheads="1"/>
            </p:cNvSpPr>
            <p:nvPr/>
          </p:nvSpPr>
          <p:spPr bwMode="auto">
            <a:xfrm>
              <a:off x="1818" y="1933"/>
              <a:ext cx="27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0 / #,R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91" name="Line 29"/>
            <p:cNvSpPr>
              <a:spLocks noChangeShapeType="1"/>
            </p:cNvSpPr>
            <p:nvPr/>
          </p:nvSpPr>
          <p:spPr bwMode="auto">
            <a:xfrm>
              <a:off x="1549" y="2284"/>
              <a:ext cx="2" cy="756"/>
            </a:xfrm>
            <a:prstGeom prst="line">
              <a:avLst/>
            </a:prstGeom>
            <a:noFill/>
            <a:ln w="1588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2" name="Freeform 30"/>
            <p:cNvSpPr>
              <a:spLocks/>
            </p:cNvSpPr>
            <p:nvPr/>
          </p:nvSpPr>
          <p:spPr bwMode="auto">
            <a:xfrm>
              <a:off x="1522" y="3033"/>
              <a:ext cx="58" cy="84"/>
            </a:xfrm>
            <a:custGeom>
              <a:avLst/>
              <a:gdLst>
                <a:gd name="T0" fmla="*/ 7 w 67"/>
                <a:gd name="T1" fmla="*/ 0 h 101"/>
                <a:gd name="T2" fmla="*/ 3 w 67"/>
                <a:gd name="T3" fmla="*/ 5 h 101"/>
                <a:gd name="T4" fmla="*/ 0 w 67"/>
                <a:gd name="T5" fmla="*/ 0 h 101"/>
                <a:gd name="T6" fmla="*/ 7 w 67"/>
                <a:gd name="T7" fmla="*/ 0 h 10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101">
                  <a:moveTo>
                    <a:pt x="67" y="0"/>
                  </a:moveTo>
                  <a:lnTo>
                    <a:pt x="35" y="101"/>
                  </a:lnTo>
                  <a:lnTo>
                    <a:pt x="0" y="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8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3" name="Freeform 31"/>
            <p:cNvSpPr>
              <a:spLocks/>
            </p:cNvSpPr>
            <p:nvPr/>
          </p:nvSpPr>
          <p:spPr bwMode="auto">
            <a:xfrm>
              <a:off x="1367" y="3117"/>
              <a:ext cx="371" cy="371"/>
            </a:xfrm>
            <a:custGeom>
              <a:avLst/>
              <a:gdLst>
                <a:gd name="T0" fmla="*/ 0 w 440"/>
                <a:gd name="T1" fmla="*/ 15 h 439"/>
                <a:gd name="T2" fmla="*/ 3 w 440"/>
                <a:gd name="T3" fmla="*/ 13 h 439"/>
                <a:gd name="T4" fmla="*/ 3 w 440"/>
                <a:gd name="T5" fmla="*/ 10 h 439"/>
                <a:gd name="T6" fmla="*/ 3 w 440"/>
                <a:gd name="T7" fmla="*/ 8 h 439"/>
                <a:gd name="T8" fmla="*/ 3 w 440"/>
                <a:gd name="T9" fmla="*/ 6 h 439"/>
                <a:gd name="T10" fmla="*/ 4 w 440"/>
                <a:gd name="T11" fmla="*/ 4 h 439"/>
                <a:gd name="T12" fmla="*/ 6 w 440"/>
                <a:gd name="T13" fmla="*/ 3 h 439"/>
                <a:gd name="T14" fmla="*/ 8 w 440"/>
                <a:gd name="T15" fmla="*/ 3 h 439"/>
                <a:gd name="T16" fmla="*/ 10 w 440"/>
                <a:gd name="T17" fmla="*/ 3 h 439"/>
                <a:gd name="T18" fmla="*/ 12 w 440"/>
                <a:gd name="T19" fmla="*/ 3 h 439"/>
                <a:gd name="T20" fmla="*/ 14 w 440"/>
                <a:gd name="T21" fmla="*/ 0 h 439"/>
                <a:gd name="T22" fmla="*/ 17 w 440"/>
                <a:gd name="T23" fmla="*/ 3 h 439"/>
                <a:gd name="T24" fmla="*/ 19 w 440"/>
                <a:gd name="T25" fmla="*/ 3 h 439"/>
                <a:gd name="T26" fmla="*/ 21 w 440"/>
                <a:gd name="T27" fmla="*/ 3 h 439"/>
                <a:gd name="T28" fmla="*/ 23 w 440"/>
                <a:gd name="T29" fmla="*/ 3 h 439"/>
                <a:gd name="T30" fmla="*/ 24 w 440"/>
                <a:gd name="T31" fmla="*/ 4 h 439"/>
                <a:gd name="T32" fmla="*/ 25 w 440"/>
                <a:gd name="T33" fmla="*/ 6 h 439"/>
                <a:gd name="T34" fmla="*/ 27 w 440"/>
                <a:gd name="T35" fmla="*/ 8 h 439"/>
                <a:gd name="T36" fmla="*/ 29 w 440"/>
                <a:gd name="T37" fmla="*/ 10 h 439"/>
                <a:gd name="T38" fmla="*/ 29 w 440"/>
                <a:gd name="T39" fmla="*/ 13 h 439"/>
                <a:gd name="T40" fmla="*/ 29 w 440"/>
                <a:gd name="T41" fmla="*/ 15 h 439"/>
                <a:gd name="T42" fmla="*/ 29 w 440"/>
                <a:gd name="T43" fmla="*/ 18 h 439"/>
                <a:gd name="T44" fmla="*/ 29 w 440"/>
                <a:gd name="T45" fmla="*/ 19 h 439"/>
                <a:gd name="T46" fmla="*/ 27 w 440"/>
                <a:gd name="T47" fmla="*/ 21 h 439"/>
                <a:gd name="T48" fmla="*/ 25 w 440"/>
                <a:gd name="T49" fmla="*/ 24 h 439"/>
                <a:gd name="T50" fmla="*/ 24 w 440"/>
                <a:gd name="T51" fmla="*/ 25 h 439"/>
                <a:gd name="T52" fmla="*/ 23 w 440"/>
                <a:gd name="T53" fmla="*/ 27 h 439"/>
                <a:gd name="T54" fmla="*/ 21 w 440"/>
                <a:gd name="T55" fmla="*/ 28 h 439"/>
                <a:gd name="T56" fmla="*/ 19 w 440"/>
                <a:gd name="T57" fmla="*/ 30 h 439"/>
                <a:gd name="T58" fmla="*/ 17 w 440"/>
                <a:gd name="T59" fmla="*/ 30 h 439"/>
                <a:gd name="T60" fmla="*/ 14 w 440"/>
                <a:gd name="T61" fmla="*/ 30 h 439"/>
                <a:gd name="T62" fmla="*/ 12 w 440"/>
                <a:gd name="T63" fmla="*/ 30 h 439"/>
                <a:gd name="T64" fmla="*/ 10 w 440"/>
                <a:gd name="T65" fmla="*/ 30 h 439"/>
                <a:gd name="T66" fmla="*/ 8 w 440"/>
                <a:gd name="T67" fmla="*/ 28 h 439"/>
                <a:gd name="T68" fmla="*/ 6 w 440"/>
                <a:gd name="T69" fmla="*/ 27 h 439"/>
                <a:gd name="T70" fmla="*/ 4 w 440"/>
                <a:gd name="T71" fmla="*/ 25 h 439"/>
                <a:gd name="T72" fmla="*/ 3 w 440"/>
                <a:gd name="T73" fmla="*/ 24 h 439"/>
                <a:gd name="T74" fmla="*/ 3 w 440"/>
                <a:gd name="T75" fmla="*/ 21 h 439"/>
                <a:gd name="T76" fmla="*/ 3 w 440"/>
                <a:gd name="T77" fmla="*/ 19 h 439"/>
                <a:gd name="T78" fmla="*/ 3 w 440"/>
                <a:gd name="T79" fmla="*/ 18 h 439"/>
                <a:gd name="T80" fmla="*/ 0 w 440"/>
                <a:gd name="T81" fmla="*/ 15 h 43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0" h="439">
                  <a:moveTo>
                    <a:pt x="0" y="220"/>
                  </a:moveTo>
                  <a:lnTo>
                    <a:pt x="3" y="186"/>
                  </a:lnTo>
                  <a:lnTo>
                    <a:pt x="10" y="152"/>
                  </a:lnTo>
                  <a:lnTo>
                    <a:pt x="24" y="120"/>
                  </a:lnTo>
                  <a:lnTo>
                    <a:pt x="41" y="91"/>
                  </a:lnTo>
                  <a:lnTo>
                    <a:pt x="65" y="64"/>
                  </a:lnTo>
                  <a:lnTo>
                    <a:pt x="91" y="42"/>
                  </a:lnTo>
                  <a:lnTo>
                    <a:pt x="120" y="25"/>
                  </a:lnTo>
                  <a:lnTo>
                    <a:pt x="151" y="12"/>
                  </a:lnTo>
                  <a:lnTo>
                    <a:pt x="185" y="3"/>
                  </a:lnTo>
                  <a:lnTo>
                    <a:pt x="220" y="0"/>
                  </a:lnTo>
                  <a:lnTo>
                    <a:pt x="254" y="3"/>
                  </a:lnTo>
                  <a:lnTo>
                    <a:pt x="287" y="12"/>
                  </a:lnTo>
                  <a:lnTo>
                    <a:pt x="319" y="25"/>
                  </a:lnTo>
                  <a:lnTo>
                    <a:pt x="349" y="42"/>
                  </a:lnTo>
                  <a:lnTo>
                    <a:pt x="375" y="64"/>
                  </a:lnTo>
                  <a:lnTo>
                    <a:pt x="397" y="91"/>
                  </a:lnTo>
                  <a:lnTo>
                    <a:pt x="415" y="120"/>
                  </a:lnTo>
                  <a:lnTo>
                    <a:pt x="428" y="152"/>
                  </a:lnTo>
                  <a:lnTo>
                    <a:pt x="437" y="186"/>
                  </a:lnTo>
                  <a:lnTo>
                    <a:pt x="440" y="220"/>
                  </a:lnTo>
                  <a:lnTo>
                    <a:pt x="437" y="255"/>
                  </a:lnTo>
                  <a:lnTo>
                    <a:pt x="428" y="288"/>
                  </a:lnTo>
                  <a:lnTo>
                    <a:pt x="415" y="319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9" y="398"/>
                  </a:lnTo>
                  <a:lnTo>
                    <a:pt x="319" y="416"/>
                  </a:lnTo>
                  <a:lnTo>
                    <a:pt x="287" y="429"/>
                  </a:lnTo>
                  <a:lnTo>
                    <a:pt x="254" y="436"/>
                  </a:lnTo>
                  <a:lnTo>
                    <a:pt x="220" y="439"/>
                  </a:lnTo>
                  <a:lnTo>
                    <a:pt x="185" y="436"/>
                  </a:lnTo>
                  <a:lnTo>
                    <a:pt x="151" y="429"/>
                  </a:lnTo>
                  <a:lnTo>
                    <a:pt x="120" y="416"/>
                  </a:lnTo>
                  <a:lnTo>
                    <a:pt x="91" y="398"/>
                  </a:lnTo>
                  <a:lnTo>
                    <a:pt x="65" y="375"/>
                  </a:lnTo>
                  <a:lnTo>
                    <a:pt x="41" y="349"/>
                  </a:lnTo>
                  <a:lnTo>
                    <a:pt x="24" y="319"/>
                  </a:lnTo>
                  <a:lnTo>
                    <a:pt x="10" y="288"/>
                  </a:lnTo>
                  <a:lnTo>
                    <a:pt x="3" y="255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4" name="Rectangle 32"/>
            <p:cNvSpPr>
              <a:spLocks noChangeArrowheads="1"/>
            </p:cNvSpPr>
            <p:nvPr/>
          </p:nvSpPr>
          <p:spPr bwMode="auto">
            <a:xfrm>
              <a:off x="1470" y="3203"/>
              <a:ext cx="5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95" name="Rectangle 33"/>
            <p:cNvSpPr>
              <a:spLocks noChangeArrowheads="1"/>
            </p:cNvSpPr>
            <p:nvPr/>
          </p:nvSpPr>
          <p:spPr bwMode="auto">
            <a:xfrm>
              <a:off x="1508" y="3306"/>
              <a:ext cx="173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9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reject</a:t>
              </a:r>
              <a:endParaRPr lang="en-US" altLang="zh-CN" sz="24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96" name="Line 34"/>
            <p:cNvSpPr>
              <a:spLocks noChangeShapeType="1"/>
            </p:cNvSpPr>
            <p:nvPr/>
          </p:nvSpPr>
          <p:spPr bwMode="auto">
            <a:xfrm>
              <a:off x="2653" y="2296"/>
              <a:ext cx="0" cy="408"/>
            </a:xfrm>
            <a:prstGeom prst="line">
              <a:avLst/>
            </a:prstGeom>
            <a:noFill/>
            <a:ln w="1588">
              <a:solidFill>
                <a:srgbClr val="80008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7" name="Rectangle 41"/>
            <p:cNvSpPr>
              <a:spLocks noChangeArrowheads="1"/>
            </p:cNvSpPr>
            <p:nvPr/>
          </p:nvSpPr>
          <p:spPr bwMode="auto">
            <a:xfrm>
              <a:off x="2228" y="1525"/>
              <a:ext cx="27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 /X,R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898" name="Freeform 50"/>
            <p:cNvSpPr>
              <a:spLocks/>
            </p:cNvSpPr>
            <p:nvPr/>
          </p:nvSpPr>
          <p:spPr bwMode="auto">
            <a:xfrm>
              <a:off x="1746" y="3339"/>
              <a:ext cx="2041" cy="331"/>
            </a:xfrm>
            <a:custGeom>
              <a:avLst/>
              <a:gdLst>
                <a:gd name="T0" fmla="*/ 797 w 2173"/>
                <a:gd name="T1" fmla="*/ 0 h 339"/>
                <a:gd name="T2" fmla="*/ 768 w 2173"/>
                <a:gd name="T3" fmla="*/ 38 h 339"/>
                <a:gd name="T4" fmla="*/ 736 w 2173"/>
                <a:gd name="T5" fmla="*/ 72 h 339"/>
                <a:gd name="T6" fmla="*/ 705 w 2173"/>
                <a:gd name="T7" fmla="*/ 101 h 339"/>
                <a:gd name="T8" fmla="*/ 674 w 2173"/>
                <a:gd name="T9" fmla="*/ 130 h 339"/>
                <a:gd name="T10" fmla="*/ 644 w 2173"/>
                <a:gd name="T11" fmla="*/ 152 h 339"/>
                <a:gd name="T12" fmla="*/ 613 w 2173"/>
                <a:gd name="T13" fmla="*/ 174 h 339"/>
                <a:gd name="T14" fmla="*/ 580 w 2173"/>
                <a:gd name="T15" fmla="*/ 191 h 339"/>
                <a:gd name="T16" fmla="*/ 547 w 2173"/>
                <a:gd name="T17" fmla="*/ 205 h 339"/>
                <a:gd name="T18" fmla="*/ 514 w 2173"/>
                <a:gd name="T19" fmla="*/ 218 h 339"/>
                <a:gd name="T20" fmla="*/ 481 w 2173"/>
                <a:gd name="T21" fmla="*/ 225 h 339"/>
                <a:gd name="T22" fmla="*/ 444 w 2173"/>
                <a:gd name="T23" fmla="*/ 228 h 339"/>
                <a:gd name="T24" fmla="*/ 410 w 2173"/>
                <a:gd name="T25" fmla="*/ 231 h 339"/>
                <a:gd name="T26" fmla="*/ 377 w 2173"/>
                <a:gd name="T27" fmla="*/ 229 h 339"/>
                <a:gd name="T28" fmla="*/ 340 w 2173"/>
                <a:gd name="T29" fmla="*/ 225 h 339"/>
                <a:gd name="T30" fmla="*/ 304 w 2173"/>
                <a:gd name="T31" fmla="*/ 218 h 339"/>
                <a:gd name="T32" fmla="*/ 268 w 2173"/>
                <a:gd name="T33" fmla="*/ 207 h 339"/>
                <a:gd name="T34" fmla="*/ 229 w 2173"/>
                <a:gd name="T35" fmla="*/ 191 h 339"/>
                <a:gd name="T36" fmla="*/ 194 w 2173"/>
                <a:gd name="T37" fmla="*/ 174 h 339"/>
                <a:gd name="T38" fmla="*/ 155 w 2173"/>
                <a:gd name="T39" fmla="*/ 153 h 339"/>
                <a:gd name="T40" fmla="*/ 117 w 2173"/>
                <a:gd name="T41" fmla="*/ 130 h 339"/>
                <a:gd name="T42" fmla="*/ 79 w 2173"/>
                <a:gd name="T43" fmla="*/ 102 h 339"/>
                <a:gd name="T44" fmla="*/ 39 w 2173"/>
                <a:gd name="T45" fmla="*/ 72 h 339"/>
                <a:gd name="T46" fmla="*/ 0 w 2173"/>
                <a:gd name="T47" fmla="*/ 40 h 33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173" h="339">
                  <a:moveTo>
                    <a:pt x="2173" y="0"/>
                  </a:moveTo>
                  <a:lnTo>
                    <a:pt x="2092" y="54"/>
                  </a:lnTo>
                  <a:lnTo>
                    <a:pt x="2008" y="104"/>
                  </a:lnTo>
                  <a:lnTo>
                    <a:pt x="1926" y="148"/>
                  </a:lnTo>
                  <a:lnTo>
                    <a:pt x="1841" y="188"/>
                  </a:lnTo>
                  <a:lnTo>
                    <a:pt x="1755" y="223"/>
                  </a:lnTo>
                  <a:lnTo>
                    <a:pt x="1669" y="254"/>
                  </a:lnTo>
                  <a:lnTo>
                    <a:pt x="1579" y="280"/>
                  </a:lnTo>
                  <a:lnTo>
                    <a:pt x="1490" y="300"/>
                  </a:lnTo>
                  <a:lnTo>
                    <a:pt x="1399" y="318"/>
                  </a:lnTo>
                  <a:lnTo>
                    <a:pt x="1307" y="330"/>
                  </a:lnTo>
                  <a:lnTo>
                    <a:pt x="1214" y="336"/>
                  </a:lnTo>
                  <a:lnTo>
                    <a:pt x="1119" y="339"/>
                  </a:lnTo>
                  <a:lnTo>
                    <a:pt x="1024" y="337"/>
                  </a:lnTo>
                  <a:lnTo>
                    <a:pt x="927" y="330"/>
                  </a:lnTo>
                  <a:lnTo>
                    <a:pt x="829" y="318"/>
                  </a:lnTo>
                  <a:lnTo>
                    <a:pt x="730" y="302"/>
                  </a:lnTo>
                  <a:lnTo>
                    <a:pt x="628" y="280"/>
                  </a:lnTo>
                  <a:lnTo>
                    <a:pt x="527" y="255"/>
                  </a:lnTo>
                  <a:lnTo>
                    <a:pt x="425" y="224"/>
                  </a:lnTo>
                  <a:lnTo>
                    <a:pt x="319" y="189"/>
                  </a:lnTo>
                  <a:lnTo>
                    <a:pt x="214" y="150"/>
                  </a:lnTo>
                  <a:lnTo>
                    <a:pt x="108" y="104"/>
                  </a:lnTo>
                  <a:lnTo>
                    <a:pt x="0" y="56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9" name="Rectangle 57"/>
            <p:cNvSpPr>
              <a:spLocks noChangeArrowheads="1"/>
            </p:cNvSpPr>
            <p:nvPr/>
          </p:nvSpPr>
          <p:spPr bwMode="auto">
            <a:xfrm>
              <a:off x="1027" y="2523"/>
              <a:ext cx="25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B/B,R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0" name="Freeform 66"/>
            <p:cNvSpPr>
              <a:spLocks/>
            </p:cNvSpPr>
            <p:nvPr/>
          </p:nvSpPr>
          <p:spPr bwMode="auto">
            <a:xfrm>
              <a:off x="3591" y="1913"/>
              <a:ext cx="370" cy="371"/>
            </a:xfrm>
            <a:custGeom>
              <a:avLst/>
              <a:gdLst>
                <a:gd name="T0" fmla="*/ 0 w 439"/>
                <a:gd name="T1" fmla="*/ 14 h 440"/>
                <a:gd name="T2" fmla="*/ 3 w 439"/>
                <a:gd name="T3" fmla="*/ 12 h 440"/>
                <a:gd name="T4" fmla="*/ 3 w 439"/>
                <a:gd name="T5" fmla="*/ 10 h 440"/>
                <a:gd name="T6" fmla="*/ 3 w 439"/>
                <a:gd name="T7" fmla="*/ 8 h 440"/>
                <a:gd name="T8" fmla="*/ 3 w 439"/>
                <a:gd name="T9" fmla="*/ 6 h 440"/>
                <a:gd name="T10" fmla="*/ 4 w 439"/>
                <a:gd name="T11" fmla="*/ 4 h 440"/>
                <a:gd name="T12" fmla="*/ 6 w 439"/>
                <a:gd name="T13" fmla="*/ 3 h 440"/>
                <a:gd name="T14" fmla="*/ 8 w 439"/>
                <a:gd name="T15" fmla="*/ 3 h 440"/>
                <a:gd name="T16" fmla="*/ 10 w 439"/>
                <a:gd name="T17" fmla="*/ 3 h 440"/>
                <a:gd name="T18" fmla="*/ 12 w 439"/>
                <a:gd name="T19" fmla="*/ 3 h 440"/>
                <a:gd name="T20" fmla="*/ 14 w 439"/>
                <a:gd name="T21" fmla="*/ 0 h 440"/>
                <a:gd name="T22" fmla="*/ 17 w 439"/>
                <a:gd name="T23" fmla="*/ 3 h 440"/>
                <a:gd name="T24" fmla="*/ 19 w 439"/>
                <a:gd name="T25" fmla="*/ 3 h 440"/>
                <a:gd name="T26" fmla="*/ 20 w 439"/>
                <a:gd name="T27" fmla="*/ 3 h 440"/>
                <a:gd name="T28" fmla="*/ 22 w 439"/>
                <a:gd name="T29" fmla="*/ 3 h 440"/>
                <a:gd name="T30" fmla="*/ 24 w 439"/>
                <a:gd name="T31" fmla="*/ 4 h 440"/>
                <a:gd name="T32" fmla="*/ 25 w 439"/>
                <a:gd name="T33" fmla="*/ 6 h 440"/>
                <a:gd name="T34" fmla="*/ 27 w 439"/>
                <a:gd name="T35" fmla="*/ 8 h 440"/>
                <a:gd name="T36" fmla="*/ 29 w 439"/>
                <a:gd name="T37" fmla="*/ 10 h 440"/>
                <a:gd name="T38" fmla="*/ 29 w 439"/>
                <a:gd name="T39" fmla="*/ 12 h 440"/>
                <a:gd name="T40" fmla="*/ 29 w 439"/>
                <a:gd name="T41" fmla="*/ 14 h 440"/>
                <a:gd name="T42" fmla="*/ 29 w 439"/>
                <a:gd name="T43" fmla="*/ 17 h 440"/>
                <a:gd name="T44" fmla="*/ 29 w 439"/>
                <a:gd name="T45" fmla="*/ 19 h 440"/>
                <a:gd name="T46" fmla="*/ 27 w 439"/>
                <a:gd name="T47" fmla="*/ 21 h 440"/>
                <a:gd name="T48" fmla="*/ 25 w 439"/>
                <a:gd name="T49" fmla="*/ 23 h 440"/>
                <a:gd name="T50" fmla="*/ 24 w 439"/>
                <a:gd name="T51" fmla="*/ 24 h 440"/>
                <a:gd name="T52" fmla="*/ 22 w 439"/>
                <a:gd name="T53" fmla="*/ 25 h 440"/>
                <a:gd name="T54" fmla="*/ 20 w 439"/>
                <a:gd name="T55" fmla="*/ 27 h 440"/>
                <a:gd name="T56" fmla="*/ 19 w 439"/>
                <a:gd name="T57" fmla="*/ 29 h 440"/>
                <a:gd name="T58" fmla="*/ 17 w 439"/>
                <a:gd name="T59" fmla="*/ 29 h 440"/>
                <a:gd name="T60" fmla="*/ 14 w 439"/>
                <a:gd name="T61" fmla="*/ 29 h 440"/>
                <a:gd name="T62" fmla="*/ 12 w 439"/>
                <a:gd name="T63" fmla="*/ 29 h 440"/>
                <a:gd name="T64" fmla="*/ 10 w 439"/>
                <a:gd name="T65" fmla="*/ 29 h 440"/>
                <a:gd name="T66" fmla="*/ 8 w 439"/>
                <a:gd name="T67" fmla="*/ 27 h 440"/>
                <a:gd name="T68" fmla="*/ 6 w 439"/>
                <a:gd name="T69" fmla="*/ 25 h 440"/>
                <a:gd name="T70" fmla="*/ 4 w 439"/>
                <a:gd name="T71" fmla="*/ 24 h 440"/>
                <a:gd name="T72" fmla="*/ 3 w 439"/>
                <a:gd name="T73" fmla="*/ 23 h 440"/>
                <a:gd name="T74" fmla="*/ 3 w 439"/>
                <a:gd name="T75" fmla="*/ 21 h 440"/>
                <a:gd name="T76" fmla="*/ 3 w 439"/>
                <a:gd name="T77" fmla="*/ 19 h 440"/>
                <a:gd name="T78" fmla="*/ 3 w 439"/>
                <a:gd name="T79" fmla="*/ 17 h 440"/>
                <a:gd name="T80" fmla="*/ 0 w 439"/>
                <a:gd name="T81" fmla="*/ 14 h 44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39" h="440">
                  <a:moveTo>
                    <a:pt x="0" y="220"/>
                  </a:moveTo>
                  <a:lnTo>
                    <a:pt x="3" y="186"/>
                  </a:lnTo>
                  <a:lnTo>
                    <a:pt x="12" y="153"/>
                  </a:lnTo>
                  <a:lnTo>
                    <a:pt x="25" y="120"/>
                  </a:lnTo>
                  <a:lnTo>
                    <a:pt x="43" y="91"/>
                  </a:lnTo>
                  <a:lnTo>
                    <a:pt x="64" y="65"/>
                  </a:lnTo>
                  <a:lnTo>
                    <a:pt x="91" y="43"/>
                  </a:lnTo>
                  <a:lnTo>
                    <a:pt x="120" y="24"/>
                  </a:lnTo>
                  <a:lnTo>
                    <a:pt x="152" y="10"/>
                  </a:lnTo>
                  <a:lnTo>
                    <a:pt x="186" y="3"/>
                  </a:lnTo>
                  <a:lnTo>
                    <a:pt x="220" y="0"/>
                  </a:lnTo>
                  <a:lnTo>
                    <a:pt x="255" y="3"/>
                  </a:lnTo>
                  <a:lnTo>
                    <a:pt x="289" y="10"/>
                  </a:lnTo>
                  <a:lnTo>
                    <a:pt x="319" y="24"/>
                  </a:lnTo>
                  <a:lnTo>
                    <a:pt x="349" y="43"/>
                  </a:lnTo>
                  <a:lnTo>
                    <a:pt x="375" y="65"/>
                  </a:lnTo>
                  <a:lnTo>
                    <a:pt x="398" y="91"/>
                  </a:lnTo>
                  <a:lnTo>
                    <a:pt x="416" y="120"/>
                  </a:lnTo>
                  <a:lnTo>
                    <a:pt x="429" y="153"/>
                  </a:lnTo>
                  <a:lnTo>
                    <a:pt x="437" y="186"/>
                  </a:lnTo>
                  <a:lnTo>
                    <a:pt x="439" y="220"/>
                  </a:lnTo>
                  <a:lnTo>
                    <a:pt x="437" y="254"/>
                  </a:lnTo>
                  <a:lnTo>
                    <a:pt x="429" y="287"/>
                  </a:lnTo>
                  <a:lnTo>
                    <a:pt x="416" y="320"/>
                  </a:lnTo>
                  <a:lnTo>
                    <a:pt x="398" y="349"/>
                  </a:lnTo>
                  <a:lnTo>
                    <a:pt x="375" y="375"/>
                  </a:lnTo>
                  <a:lnTo>
                    <a:pt x="349" y="397"/>
                  </a:lnTo>
                  <a:lnTo>
                    <a:pt x="319" y="416"/>
                  </a:lnTo>
                  <a:lnTo>
                    <a:pt x="289" y="429"/>
                  </a:lnTo>
                  <a:lnTo>
                    <a:pt x="255" y="437"/>
                  </a:lnTo>
                  <a:lnTo>
                    <a:pt x="220" y="440"/>
                  </a:lnTo>
                  <a:lnTo>
                    <a:pt x="186" y="437"/>
                  </a:lnTo>
                  <a:lnTo>
                    <a:pt x="152" y="429"/>
                  </a:lnTo>
                  <a:lnTo>
                    <a:pt x="120" y="416"/>
                  </a:lnTo>
                  <a:lnTo>
                    <a:pt x="91" y="397"/>
                  </a:lnTo>
                  <a:lnTo>
                    <a:pt x="64" y="375"/>
                  </a:lnTo>
                  <a:lnTo>
                    <a:pt x="43" y="349"/>
                  </a:lnTo>
                  <a:lnTo>
                    <a:pt x="25" y="320"/>
                  </a:lnTo>
                  <a:lnTo>
                    <a:pt x="12" y="287"/>
                  </a:lnTo>
                  <a:lnTo>
                    <a:pt x="3" y="254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1" name="Rectangle 67"/>
            <p:cNvSpPr>
              <a:spLocks noChangeArrowheads="1"/>
            </p:cNvSpPr>
            <p:nvPr/>
          </p:nvSpPr>
          <p:spPr bwMode="auto">
            <a:xfrm>
              <a:off x="3808" y="2011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2" name="Rectangle 68"/>
            <p:cNvSpPr>
              <a:spLocks noChangeArrowheads="1"/>
            </p:cNvSpPr>
            <p:nvPr/>
          </p:nvSpPr>
          <p:spPr bwMode="auto">
            <a:xfrm>
              <a:off x="3873" y="2101"/>
              <a:ext cx="32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8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3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3" name="Freeform 73"/>
            <p:cNvSpPr>
              <a:spLocks/>
            </p:cNvSpPr>
            <p:nvPr/>
          </p:nvSpPr>
          <p:spPr bwMode="auto">
            <a:xfrm>
              <a:off x="2472" y="2704"/>
              <a:ext cx="371" cy="371"/>
            </a:xfrm>
            <a:custGeom>
              <a:avLst/>
              <a:gdLst>
                <a:gd name="T0" fmla="*/ 0 w 440"/>
                <a:gd name="T1" fmla="*/ 15 h 439"/>
                <a:gd name="T2" fmla="*/ 3 w 440"/>
                <a:gd name="T3" fmla="*/ 13 h 439"/>
                <a:gd name="T4" fmla="*/ 3 w 440"/>
                <a:gd name="T5" fmla="*/ 10 h 439"/>
                <a:gd name="T6" fmla="*/ 3 w 440"/>
                <a:gd name="T7" fmla="*/ 8 h 439"/>
                <a:gd name="T8" fmla="*/ 3 w 440"/>
                <a:gd name="T9" fmla="*/ 6 h 439"/>
                <a:gd name="T10" fmla="*/ 4 w 440"/>
                <a:gd name="T11" fmla="*/ 4 h 439"/>
                <a:gd name="T12" fmla="*/ 6 w 440"/>
                <a:gd name="T13" fmla="*/ 3 h 439"/>
                <a:gd name="T14" fmla="*/ 8 w 440"/>
                <a:gd name="T15" fmla="*/ 3 h 439"/>
                <a:gd name="T16" fmla="*/ 10 w 440"/>
                <a:gd name="T17" fmla="*/ 3 h 439"/>
                <a:gd name="T18" fmla="*/ 12 w 440"/>
                <a:gd name="T19" fmla="*/ 3 h 439"/>
                <a:gd name="T20" fmla="*/ 14 w 440"/>
                <a:gd name="T21" fmla="*/ 0 h 439"/>
                <a:gd name="T22" fmla="*/ 17 w 440"/>
                <a:gd name="T23" fmla="*/ 3 h 439"/>
                <a:gd name="T24" fmla="*/ 19 w 440"/>
                <a:gd name="T25" fmla="*/ 3 h 439"/>
                <a:gd name="T26" fmla="*/ 21 w 440"/>
                <a:gd name="T27" fmla="*/ 3 h 439"/>
                <a:gd name="T28" fmla="*/ 23 w 440"/>
                <a:gd name="T29" fmla="*/ 3 h 439"/>
                <a:gd name="T30" fmla="*/ 24 w 440"/>
                <a:gd name="T31" fmla="*/ 4 h 439"/>
                <a:gd name="T32" fmla="*/ 25 w 440"/>
                <a:gd name="T33" fmla="*/ 6 h 439"/>
                <a:gd name="T34" fmla="*/ 27 w 440"/>
                <a:gd name="T35" fmla="*/ 8 h 439"/>
                <a:gd name="T36" fmla="*/ 29 w 440"/>
                <a:gd name="T37" fmla="*/ 10 h 439"/>
                <a:gd name="T38" fmla="*/ 29 w 440"/>
                <a:gd name="T39" fmla="*/ 13 h 439"/>
                <a:gd name="T40" fmla="*/ 29 w 440"/>
                <a:gd name="T41" fmla="*/ 15 h 439"/>
                <a:gd name="T42" fmla="*/ 29 w 440"/>
                <a:gd name="T43" fmla="*/ 18 h 439"/>
                <a:gd name="T44" fmla="*/ 29 w 440"/>
                <a:gd name="T45" fmla="*/ 19 h 439"/>
                <a:gd name="T46" fmla="*/ 27 w 440"/>
                <a:gd name="T47" fmla="*/ 21 h 439"/>
                <a:gd name="T48" fmla="*/ 25 w 440"/>
                <a:gd name="T49" fmla="*/ 24 h 439"/>
                <a:gd name="T50" fmla="*/ 24 w 440"/>
                <a:gd name="T51" fmla="*/ 25 h 439"/>
                <a:gd name="T52" fmla="*/ 23 w 440"/>
                <a:gd name="T53" fmla="*/ 27 h 439"/>
                <a:gd name="T54" fmla="*/ 21 w 440"/>
                <a:gd name="T55" fmla="*/ 28 h 439"/>
                <a:gd name="T56" fmla="*/ 19 w 440"/>
                <a:gd name="T57" fmla="*/ 30 h 439"/>
                <a:gd name="T58" fmla="*/ 17 w 440"/>
                <a:gd name="T59" fmla="*/ 30 h 439"/>
                <a:gd name="T60" fmla="*/ 14 w 440"/>
                <a:gd name="T61" fmla="*/ 30 h 439"/>
                <a:gd name="T62" fmla="*/ 12 w 440"/>
                <a:gd name="T63" fmla="*/ 30 h 439"/>
                <a:gd name="T64" fmla="*/ 10 w 440"/>
                <a:gd name="T65" fmla="*/ 30 h 439"/>
                <a:gd name="T66" fmla="*/ 8 w 440"/>
                <a:gd name="T67" fmla="*/ 28 h 439"/>
                <a:gd name="T68" fmla="*/ 6 w 440"/>
                <a:gd name="T69" fmla="*/ 27 h 439"/>
                <a:gd name="T70" fmla="*/ 4 w 440"/>
                <a:gd name="T71" fmla="*/ 25 h 439"/>
                <a:gd name="T72" fmla="*/ 3 w 440"/>
                <a:gd name="T73" fmla="*/ 24 h 439"/>
                <a:gd name="T74" fmla="*/ 3 w 440"/>
                <a:gd name="T75" fmla="*/ 21 h 439"/>
                <a:gd name="T76" fmla="*/ 3 w 440"/>
                <a:gd name="T77" fmla="*/ 19 h 439"/>
                <a:gd name="T78" fmla="*/ 3 w 440"/>
                <a:gd name="T79" fmla="*/ 18 h 439"/>
                <a:gd name="T80" fmla="*/ 0 w 440"/>
                <a:gd name="T81" fmla="*/ 15 h 43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0" h="439">
                  <a:moveTo>
                    <a:pt x="0" y="220"/>
                  </a:moveTo>
                  <a:lnTo>
                    <a:pt x="3" y="186"/>
                  </a:lnTo>
                  <a:lnTo>
                    <a:pt x="10" y="152"/>
                  </a:lnTo>
                  <a:lnTo>
                    <a:pt x="24" y="120"/>
                  </a:lnTo>
                  <a:lnTo>
                    <a:pt x="41" y="91"/>
                  </a:lnTo>
                  <a:lnTo>
                    <a:pt x="65" y="64"/>
                  </a:lnTo>
                  <a:lnTo>
                    <a:pt x="91" y="42"/>
                  </a:lnTo>
                  <a:lnTo>
                    <a:pt x="120" y="25"/>
                  </a:lnTo>
                  <a:lnTo>
                    <a:pt x="151" y="12"/>
                  </a:lnTo>
                  <a:lnTo>
                    <a:pt x="185" y="3"/>
                  </a:lnTo>
                  <a:lnTo>
                    <a:pt x="220" y="0"/>
                  </a:lnTo>
                  <a:lnTo>
                    <a:pt x="254" y="3"/>
                  </a:lnTo>
                  <a:lnTo>
                    <a:pt x="287" y="12"/>
                  </a:lnTo>
                  <a:lnTo>
                    <a:pt x="319" y="25"/>
                  </a:lnTo>
                  <a:lnTo>
                    <a:pt x="349" y="42"/>
                  </a:lnTo>
                  <a:lnTo>
                    <a:pt x="375" y="64"/>
                  </a:lnTo>
                  <a:lnTo>
                    <a:pt x="397" y="91"/>
                  </a:lnTo>
                  <a:lnTo>
                    <a:pt x="415" y="120"/>
                  </a:lnTo>
                  <a:lnTo>
                    <a:pt x="428" y="152"/>
                  </a:lnTo>
                  <a:lnTo>
                    <a:pt x="437" y="186"/>
                  </a:lnTo>
                  <a:lnTo>
                    <a:pt x="440" y="220"/>
                  </a:lnTo>
                  <a:lnTo>
                    <a:pt x="437" y="255"/>
                  </a:lnTo>
                  <a:lnTo>
                    <a:pt x="428" y="288"/>
                  </a:lnTo>
                  <a:lnTo>
                    <a:pt x="415" y="319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9" y="398"/>
                  </a:lnTo>
                  <a:lnTo>
                    <a:pt x="319" y="416"/>
                  </a:lnTo>
                  <a:lnTo>
                    <a:pt x="287" y="429"/>
                  </a:lnTo>
                  <a:lnTo>
                    <a:pt x="254" y="436"/>
                  </a:lnTo>
                  <a:lnTo>
                    <a:pt x="220" y="439"/>
                  </a:lnTo>
                  <a:lnTo>
                    <a:pt x="185" y="436"/>
                  </a:lnTo>
                  <a:lnTo>
                    <a:pt x="151" y="429"/>
                  </a:lnTo>
                  <a:lnTo>
                    <a:pt x="120" y="416"/>
                  </a:lnTo>
                  <a:lnTo>
                    <a:pt x="91" y="398"/>
                  </a:lnTo>
                  <a:lnTo>
                    <a:pt x="65" y="375"/>
                  </a:lnTo>
                  <a:lnTo>
                    <a:pt x="41" y="349"/>
                  </a:lnTo>
                  <a:lnTo>
                    <a:pt x="24" y="319"/>
                  </a:lnTo>
                  <a:lnTo>
                    <a:pt x="10" y="288"/>
                  </a:lnTo>
                  <a:lnTo>
                    <a:pt x="3" y="255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4" name="Rectangle 74"/>
            <p:cNvSpPr>
              <a:spLocks noChangeArrowheads="1"/>
            </p:cNvSpPr>
            <p:nvPr/>
          </p:nvSpPr>
          <p:spPr bwMode="auto">
            <a:xfrm>
              <a:off x="2321" y="2478"/>
              <a:ext cx="25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B/B,R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5" name="Rectangle 75"/>
            <p:cNvSpPr>
              <a:spLocks noChangeArrowheads="1"/>
            </p:cNvSpPr>
            <p:nvPr/>
          </p:nvSpPr>
          <p:spPr bwMode="auto">
            <a:xfrm>
              <a:off x="2598" y="2886"/>
              <a:ext cx="205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9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accept</a:t>
              </a:r>
              <a:endParaRPr lang="en-US" altLang="zh-CN" sz="24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6" name="Rectangle 78"/>
            <p:cNvSpPr>
              <a:spLocks noChangeArrowheads="1"/>
            </p:cNvSpPr>
            <p:nvPr/>
          </p:nvSpPr>
          <p:spPr bwMode="auto">
            <a:xfrm>
              <a:off x="2558" y="2795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7" name="Freeform 79"/>
            <p:cNvSpPr>
              <a:spLocks/>
            </p:cNvSpPr>
            <p:nvPr/>
          </p:nvSpPr>
          <p:spPr bwMode="auto">
            <a:xfrm>
              <a:off x="3288" y="845"/>
              <a:ext cx="371" cy="371"/>
            </a:xfrm>
            <a:custGeom>
              <a:avLst/>
              <a:gdLst>
                <a:gd name="T0" fmla="*/ 0 w 440"/>
                <a:gd name="T1" fmla="*/ 15 h 439"/>
                <a:gd name="T2" fmla="*/ 3 w 440"/>
                <a:gd name="T3" fmla="*/ 13 h 439"/>
                <a:gd name="T4" fmla="*/ 3 w 440"/>
                <a:gd name="T5" fmla="*/ 10 h 439"/>
                <a:gd name="T6" fmla="*/ 3 w 440"/>
                <a:gd name="T7" fmla="*/ 8 h 439"/>
                <a:gd name="T8" fmla="*/ 3 w 440"/>
                <a:gd name="T9" fmla="*/ 6 h 439"/>
                <a:gd name="T10" fmla="*/ 4 w 440"/>
                <a:gd name="T11" fmla="*/ 4 h 439"/>
                <a:gd name="T12" fmla="*/ 6 w 440"/>
                <a:gd name="T13" fmla="*/ 3 h 439"/>
                <a:gd name="T14" fmla="*/ 8 w 440"/>
                <a:gd name="T15" fmla="*/ 3 h 439"/>
                <a:gd name="T16" fmla="*/ 10 w 440"/>
                <a:gd name="T17" fmla="*/ 3 h 439"/>
                <a:gd name="T18" fmla="*/ 12 w 440"/>
                <a:gd name="T19" fmla="*/ 3 h 439"/>
                <a:gd name="T20" fmla="*/ 14 w 440"/>
                <a:gd name="T21" fmla="*/ 0 h 439"/>
                <a:gd name="T22" fmla="*/ 17 w 440"/>
                <a:gd name="T23" fmla="*/ 3 h 439"/>
                <a:gd name="T24" fmla="*/ 19 w 440"/>
                <a:gd name="T25" fmla="*/ 3 h 439"/>
                <a:gd name="T26" fmla="*/ 21 w 440"/>
                <a:gd name="T27" fmla="*/ 3 h 439"/>
                <a:gd name="T28" fmla="*/ 23 w 440"/>
                <a:gd name="T29" fmla="*/ 3 h 439"/>
                <a:gd name="T30" fmla="*/ 24 w 440"/>
                <a:gd name="T31" fmla="*/ 4 h 439"/>
                <a:gd name="T32" fmla="*/ 25 w 440"/>
                <a:gd name="T33" fmla="*/ 6 h 439"/>
                <a:gd name="T34" fmla="*/ 27 w 440"/>
                <a:gd name="T35" fmla="*/ 8 h 439"/>
                <a:gd name="T36" fmla="*/ 29 w 440"/>
                <a:gd name="T37" fmla="*/ 10 h 439"/>
                <a:gd name="T38" fmla="*/ 29 w 440"/>
                <a:gd name="T39" fmla="*/ 13 h 439"/>
                <a:gd name="T40" fmla="*/ 29 w 440"/>
                <a:gd name="T41" fmla="*/ 15 h 439"/>
                <a:gd name="T42" fmla="*/ 29 w 440"/>
                <a:gd name="T43" fmla="*/ 18 h 439"/>
                <a:gd name="T44" fmla="*/ 29 w 440"/>
                <a:gd name="T45" fmla="*/ 19 h 439"/>
                <a:gd name="T46" fmla="*/ 27 w 440"/>
                <a:gd name="T47" fmla="*/ 21 h 439"/>
                <a:gd name="T48" fmla="*/ 25 w 440"/>
                <a:gd name="T49" fmla="*/ 24 h 439"/>
                <a:gd name="T50" fmla="*/ 24 w 440"/>
                <a:gd name="T51" fmla="*/ 25 h 439"/>
                <a:gd name="T52" fmla="*/ 23 w 440"/>
                <a:gd name="T53" fmla="*/ 27 h 439"/>
                <a:gd name="T54" fmla="*/ 21 w 440"/>
                <a:gd name="T55" fmla="*/ 28 h 439"/>
                <a:gd name="T56" fmla="*/ 19 w 440"/>
                <a:gd name="T57" fmla="*/ 30 h 439"/>
                <a:gd name="T58" fmla="*/ 17 w 440"/>
                <a:gd name="T59" fmla="*/ 30 h 439"/>
                <a:gd name="T60" fmla="*/ 14 w 440"/>
                <a:gd name="T61" fmla="*/ 30 h 439"/>
                <a:gd name="T62" fmla="*/ 12 w 440"/>
                <a:gd name="T63" fmla="*/ 30 h 439"/>
                <a:gd name="T64" fmla="*/ 10 w 440"/>
                <a:gd name="T65" fmla="*/ 30 h 439"/>
                <a:gd name="T66" fmla="*/ 8 w 440"/>
                <a:gd name="T67" fmla="*/ 28 h 439"/>
                <a:gd name="T68" fmla="*/ 6 w 440"/>
                <a:gd name="T69" fmla="*/ 27 h 439"/>
                <a:gd name="T70" fmla="*/ 4 w 440"/>
                <a:gd name="T71" fmla="*/ 25 h 439"/>
                <a:gd name="T72" fmla="*/ 3 w 440"/>
                <a:gd name="T73" fmla="*/ 24 h 439"/>
                <a:gd name="T74" fmla="*/ 3 w 440"/>
                <a:gd name="T75" fmla="*/ 21 h 439"/>
                <a:gd name="T76" fmla="*/ 3 w 440"/>
                <a:gd name="T77" fmla="*/ 19 h 439"/>
                <a:gd name="T78" fmla="*/ 3 w 440"/>
                <a:gd name="T79" fmla="*/ 18 h 439"/>
                <a:gd name="T80" fmla="*/ 0 w 440"/>
                <a:gd name="T81" fmla="*/ 15 h 43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0" h="439">
                  <a:moveTo>
                    <a:pt x="0" y="220"/>
                  </a:moveTo>
                  <a:lnTo>
                    <a:pt x="3" y="186"/>
                  </a:lnTo>
                  <a:lnTo>
                    <a:pt x="10" y="152"/>
                  </a:lnTo>
                  <a:lnTo>
                    <a:pt x="24" y="120"/>
                  </a:lnTo>
                  <a:lnTo>
                    <a:pt x="41" y="91"/>
                  </a:lnTo>
                  <a:lnTo>
                    <a:pt x="65" y="64"/>
                  </a:lnTo>
                  <a:lnTo>
                    <a:pt x="91" y="42"/>
                  </a:lnTo>
                  <a:lnTo>
                    <a:pt x="120" y="25"/>
                  </a:lnTo>
                  <a:lnTo>
                    <a:pt x="151" y="12"/>
                  </a:lnTo>
                  <a:lnTo>
                    <a:pt x="185" y="3"/>
                  </a:lnTo>
                  <a:lnTo>
                    <a:pt x="220" y="0"/>
                  </a:lnTo>
                  <a:lnTo>
                    <a:pt x="254" y="3"/>
                  </a:lnTo>
                  <a:lnTo>
                    <a:pt x="287" y="12"/>
                  </a:lnTo>
                  <a:lnTo>
                    <a:pt x="320" y="25"/>
                  </a:lnTo>
                  <a:lnTo>
                    <a:pt x="349" y="42"/>
                  </a:lnTo>
                  <a:lnTo>
                    <a:pt x="375" y="64"/>
                  </a:lnTo>
                  <a:lnTo>
                    <a:pt x="397" y="91"/>
                  </a:lnTo>
                  <a:lnTo>
                    <a:pt x="416" y="120"/>
                  </a:lnTo>
                  <a:lnTo>
                    <a:pt x="429" y="152"/>
                  </a:lnTo>
                  <a:lnTo>
                    <a:pt x="437" y="186"/>
                  </a:lnTo>
                  <a:lnTo>
                    <a:pt x="440" y="220"/>
                  </a:lnTo>
                  <a:lnTo>
                    <a:pt x="437" y="255"/>
                  </a:lnTo>
                  <a:lnTo>
                    <a:pt x="429" y="288"/>
                  </a:lnTo>
                  <a:lnTo>
                    <a:pt x="416" y="319"/>
                  </a:lnTo>
                  <a:lnTo>
                    <a:pt x="397" y="349"/>
                  </a:lnTo>
                  <a:lnTo>
                    <a:pt x="375" y="375"/>
                  </a:lnTo>
                  <a:lnTo>
                    <a:pt x="349" y="398"/>
                  </a:lnTo>
                  <a:lnTo>
                    <a:pt x="320" y="416"/>
                  </a:lnTo>
                  <a:lnTo>
                    <a:pt x="287" y="429"/>
                  </a:lnTo>
                  <a:lnTo>
                    <a:pt x="254" y="436"/>
                  </a:lnTo>
                  <a:lnTo>
                    <a:pt x="220" y="439"/>
                  </a:lnTo>
                  <a:lnTo>
                    <a:pt x="185" y="436"/>
                  </a:lnTo>
                  <a:lnTo>
                    <a:pt x="151" y="429"/>
                  </a:lnTo>
                  <a:lnTo>
                    <a:pt x="120" y="416"/>
                  </a:lnTo>
                  <a:lnTo>
                    <a:pt x="91" y="398"/>
                  </a:lnTo>
                  <a:lnTo>
                    <a:pt x="65" y="375"/>
                  </a:lnTo>
                  <a:lnTo>
                    <a:pt x="41" y="349"/>
                  </a:lnTo>
                  <a:lnTo>
                    <a:pt x="24" y="319"/>
                  </a:lnTo>
                  <a:lnTo>
                    <a:pt x="10" y="288"/>
                  </a:lnTo>
                  <a:lnTo>
                    <a:pt x="3" y="255"/>
                  </a:lnTo>
                  <a:lnTo>
                    <a:pt x="0" y="220"/>
                  </a:lnTo>
                </a:path>
              </a:pathLst>
            </a:custGeom>
            <a:noFill/>
            <a:ln w="11113">
              <a:solidFill>
                <a:srgbClr val="800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8" name="Rectangle 81"/>
            <p:cNvSpPr>
              <a:spLocks noChangeArrowheads="1"/>
            </p:cNvSpPr>
            <p:nvPr/>
          </p:nvSpPr>
          <p:spPr bwMode="auto">
            <a:xfrm>
              <a:off x="3375" y="935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q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09" name="Rectangle 82"/>
            <p:cNvSpPr>
              <a:spLocks noChangeArrowheads="1"/>
            </p:cNvSpPr>
            <p:nvPr/>
          </p:nvSpPr>
          <p:spPr bwMode="auto">
            <a:xfrm>
              <a:off x="3512" y="1071"/>
              <a:ext cx="34" cy="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8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5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0" name="Line 83"/>
            <p:cNvSpPr>
              <a:spLocks noChangeShapeType="1"/>
            </p:cNvSpPr>
            <p:nvPr/>
          </p:nvSpPr>
          <p:spPr bwMode="auto">
            <a:xfrm flipH="1">
              <a:off x="2789" y="1207"/>
              <a:ext cx="590" cy="72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1" name="Line 84"/>
            <p:cNvSpPr>
              <a:spLocks noChangeShapeType="1"/>
            </p:cNvSpPr>
            <p:nvPr/>
          </p:nvSpPr>
          <p:spPr bwMode="auto">
            <a:xfrm flipH="1" flipV="1">
              <a:off x="3515" y="1207"/>
              <a:ext cx="272" cy="681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2" name="Rectangle 85"/>
            <p:cNvSpPr>
              <a:spLocks noChangeArrowheads="1"/>
            </p:cNvSpPr>
            <p:nvPr/>
          </p:nvSpPr>
          <p:spPr bwMode="auto">
            <a:xfrm>
              <a:off x="2771" y="1344"/>
              <a:ext cx="27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# / #,R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3" name="Rectangle 86"/>
            <p:cNvSpPr>
              <a:spLocks noChangeArrowheads="1"/>
            </p:cNvSpPr>
            <p:nvPr/>
          </p:nvSpPr>
          <p:spPr bwMode="auto">
            <a:xfrm>
              <a:off x="3691" y="1434"/>
              <a:ext cx="24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B/B,L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4" name="Freeform 87"/>
            <p:cNvSpPr>
              <a:spLocks/>
            </p:cNvSpPr>
            <p:nvPr/>
          </p:nvSpPr>
          <p:spPr bwMode="auto">
            <a:xfrm>
              <a:off x="3334" y="618"/>
              <a:ext cx="363" cy="332"/>
            </a:xfrm>
            <a:custGeom>
              <a:avLst/>
              <a:gdLst>
                <a:gd name="T0" fmla="*/ 17 w 440"/>
                <a:gd name="T1" fmla="*/ 24 h 395"/>
                <a:gd name="T2" fmla="*/ 17 w 440"/>
                <a:gd name="T3" fmla="*/ 24 h 395"/>
                <a:gd name="T4" fmla="*/ 18 w 440"/>
                <a:gd name="T5" fmla="*/ 24 h 395"/>
                <a:gd name="T6" fmla="*/ 18 w 440"/>
                <a:gd name="T7" fmla="*/ 24 h 395"/>
                <a:gd name="T8" fmla="*/ 19 w 440"/>
                <a:gd name="T9" fmla="*/ 22 h 395"/>
                <a:gd name="T10" fmla="*/ 20 w 440"/>
                <a:gd name="T11" fmla="*/ 20 h 395"/>
                <a:gd name="T12" fmla="*/ 20 w 440"/>
                <a:gd name="T13" fmla="*/ 19 h 395"/>
                <a:gd name="T14" fmla="*/ 21 w 440"/>
                <a:gd name="T15" fmla="*/ 17 h 395"/>
                <a:gd name="T16" fmla="*/ 21 w 440"/>
                <a:gd name="T17" fmla="*/ 15 h 395"/>
                <a:gd name="T18" fmla="*/ 21 w 440"/>
                <a:gd name="T19" fmla="*/ 14 h 395"/>
                <a:gd name="T20" fmla="*/ 21 w 440"/>
                <a:gd name="T21" fmla="*/ 12 h 395"/>
                <a:gd name="T22" fmla="*/ 20 w 440"/>
                <a:gd name="T23" fmla="*/ 9 h 395"/>
                <a:gd name="T24" fmla="*/ 19 w 440"/>
                <a:gd name="T25" fmla="*/ 8 h 395"/>
                <a:gd name="T26" fmla="*/ 18 w 440"/>
                <a:gd name="T27" fmla="*/ 6 h 395"/>
                <a:gd name="T28" fmla="*/ 17 w 440"/>
                <a:gd name="T29" fmla="*/ 4 h 395"/>
                <a:gd name="T30" fmla="*/ 17 w 440"/>
                <a:gd name="T31" fmla="*/ 3 h 395"/>
                <a:gd name="T32" fmla="*/ 14 w 440"/>
                <a:gd name="T33" fmla="*/ 3 h 395"/>
                <a:gd name="T34" fmla="*/ 14 w 440"/>
                <a:gd name="T35" fmla="*/ 3 h 395"/>
                <a:gd name="T36" fmla="*/ 12 w 440"/>
                <a:gd name="T37" fmla="*/ 3 h 395"/>
                <a:gd name="T38" fmla="*/ 10 w 440"/>
                <a:gd name="T39" fmla="*/ 0 h 395"/>
                <a:gd name="T40" fmla="*/ 8 w 440"/>
                <a:gd name="T41" fmla="*/ 3 h 395"/>
                <a:gd name="T42" fmla="*/ 7 w 440"/>
                <a:gd name="T43" fmla="*/ 3 h 395"/>
                <a:gd name="T44" fmla="*/ 6 w 440"/>
                <a:gd name="T45" fmla="*/ 3 h 395"/>
                <a:gd name="T46" fmla="*/ 5 w 440"/>
                <a:gd name="T47" fmla="*/ 3 h 395"/>
                <a:gd name="T48" fmla="*/ 3 w 440"/>
                <a:gd name="T49" fmla="*/ 4 h 395"/>
                <a:gd name="T50" fmla="*/ 2 w 440"/>
                <a:gd name="T51" fmla="*/ 6 h 395"/>
                <a:gd name="T52" fmla="*/ 2 w 440"/>
                <a:gd name="T53" fmla="*/ 8 h 395"/>
                <a:gd name="T54" fmla="*/ 2 w 440"/>
                <a:gd name="T55" fmla="*/ 9 h 395"/>
                <a:gd name="T56" fmla="*/ 2 w 440"/>
                <a:gd name="T57" fmla="*/ 12 h 395"/>
                <a:gd name="T58" fmla="*/ 0 w 440"/>
                <a:gd name="T59" fmla="*/ 14 h 395"/>
                <a:gd name="T60" fmla="*/ 0 w 440"/>
                <a:gd name="T61" fmla="*/ 15 h 395"/>
                <a:gd name="T62" fmla="*/ 2 w 440"/>
                <a:gd name="T63" fmla="*/ 17 h 395"/>
                <a:gd name="T64" fmla="*/ 2 w 440"/>
                <a:gd name="T65" fmla="*/ 18 h 395"/>
                <a:gd name="T66" fmla="*/ 2 w 440"/>
                <a:gd name="T67" fmla="*/ 20 h 39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40" h="395">
                  <a:moveTo>
                    <a:pt x="375" y="395"/>
                  </a:moveTo>
                  <a:lnTo>
                    <a:pt x="387" y="392"/>
                  </a:lnTo>
                  <a:lnTo>
                    <a:pt x="397" y="384"/>
                  </a:lnTo>
                  <a:lnTo>
                    <a:pt x="407" y="371"/>
                  </a:lnTo>
                  <a:lnTo>
                    <a:pt x="416" y="354"/>
                  </a:lnTo>
                  <a:lnTo>
                    <a:pt x="425" y="332"/>
                  </a:lnTo>
                  <a:lnTo>
                    <a:pt x="431" y="307"/>
                  </a:lnTo>
                  <a:lnTo>
                    <a:pt x="435" y="280"/>
                  </a:lnTo>
                  <a:lnTo>
                    <a:pt x="438" y="251"/>
                  </a:lnTo>
                  <a:lnTo>
                    <a:pt x="440" y="220"/>
                  </a:lnTo>
                  <a:lnTo>
                    <a:pt x="437" y="185"/>
                  </a:lnTo>
                  <a:lnTo>
                    <a:pt x="429" y="153"/>
                  </a:lnTo>
                  <a:lnTo>
                    <a:pt x="416" y="121"/>
                  </a:lnTo>
                  <a:lnTo>
                    <a:pt x="397" y="91"/>
                  </a:lnTo>
                  <a:lnTo>
                    <a:pt x="375" y="65"/>
                  </a:lnTo>
                  <a:lnTo>
                    <a:pt x="349" y="43"/>
                  </a:lnTo>
                  <a:lnTo>
                    <a:pt x="320" y="24"/>
                  </a:lnTo>
                  <a:lnTo>
                    <a:pt x="287" y="11"/>
                  </a:lnTo>
                  <a:lnTo>
                    <a:pt x="254" y="3"/>
                  </a:lnTo>
                  <a:lnTo>
                    <a:pt x="220" y="0"/>
                  </a:lnTo>
                  <a:lnTo>
                    <a:pt x="185" y="3"/>
                  </a:lnTo>
                  <a:lnTo>
                    <a:pt x="151" y="11"/>
                  </a:lnTo>
                  <a:lnTo>
                    <a:pt x="120" y="24"/>
                  </a:lnTo>
                  <a:lnTo>
                    <a:pt x="91" y="43"/>
                  </a:lnTo>
                  <a:lnTo>
                    <a:pt x="65" y="65"/>
                  </a:lnTo>
                  <a:lnTo>
                    <a:pt x="41" y="91"/>
                  </a:lnTo>
                  <a:lnTo>
                    <a:pt x="24" y="121"/>
                  </a:lnTo>
                  <a:lnTo>
                    <a:pt x="10" y="153"/>
                  </a:lnTo>
                  <a:lnTo>
                    <a:pt x="3" y="185"/>
                  </a:lnTo>
                  <a:lnTo>
                    <a:pt x="0" y="220"/>
                  </a:lnTo>
                  <a:lnTo>
                    <a:pt x="0" y="245"/>
                  </a:lnTo>
                  <a:lnTo>
                    <a:pt x="3" y="270"/>
                  </a:lnTo>
                  <a:lnTo>
                    <a:pt x="8" y="295"/>
                  </a:lnTo>
                  <a:lnTo>
                    <a:pt x="12" y="317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5" name="Rectangle 88"/>
            <p:cNvSpPr>
              <a:spLocks noChangeArrowheads="1"/>
            </p:cNvSpPr>
            <p:nvPr/>
          </p:nvSpPr>
          <p:spPr bwMode="auto">
            <a:xfrm>
              <a:off x="3464" y="391"/>
              <a:ext cx="26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 /X,L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6" name="Rectangle 89"/>
            <p:cNvSpPr>
              <a:spLocks noChangeArrowheads="1"/>
            </p:cNvSpPr>
            <p:nvPr/>
          </p:nvSpPr>
          <p:spPr bwMode="auto">
            <a:xfrm>
              <a:off x="3454" y="210"/>
              <a:ext cx="24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0 /0,L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7" name="Rectangle 90"/>
            <p:cNvSpPr>
              <a:spLocks noChangeArrowheads="1"/>
            </p:cNvSpPr>
            <p:nvPr/>
          </p:nvSpPr>
          <p:spPr bwMode="auto">
            <a:xfrm>
              <a:off x="2987" y="1933"/>
              <a:ext cx="28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0 / X,R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8" name="Rectangle 91"/>
            <p:cNvSpPr>
              <a:spLocks noChangeArrowheads="1"/>
            </p:cNvSpPr>
            <p:nvPr/>
          </p:nvSpPr>
          <p:spPr bwMode="auto">
            <a:xfrm>
              <a:off x="4229" y="1842"/>
              <a:ext cx="27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 /X,R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19" name="Freeform 92"/>
            <p:cNvSpPr>
              <a:spLocks/>
            </p:cNvSpPr>
            <p:nvPr/>
          </p:nvSpPr>
          <p:spPr bwMode="auto">
            <a:xfrm>
              <a:off x="3878" y="3067"/>
              <a:ext cx="333" cy="272"/>
            </a:xfrm>
            <a:custGeom>
              <a:avLst/>
              <a:gdLst>
                <a:gd name="T0" fmla="*/ 0 w 394"/>
                <a:gd name="T1" fmla="*/ 1 h 440"/>
                <a:gd name="T2" fmla="*/ 3 w 394"/>
                <a:gd name="T3" fmla="*/ 1 h 440"/>
                <a:gd name="T4" fmla="*/ 3 w 394"/>
                <a:gd name="T5" fmla="*/ 1 h 440"/>
                <a:gd name="T6" fmla="*/ 3 w 394"/>
                <a:gd name="T7" fmla="*/ 1 h 440"/>
                <a:gd name="T8" fmla="*/ 3 w 394"/>
                <a:gd name="T9" fmla="*/ 1 h 440"/>
                <a:gd name="T10" fmla="*/ 4 w 394"/>
                <a:gd name="T11" fmla="*/ 1 h 440"/>
                <a:gd name="T12" fmla="*/ 6 w 394"/>
                <a:gd name="T13" fmla="*/ 1 h 440"/>
                <a:gd name="T14" fmla="*/ 8 w 394"/>
                <a:gd name="T15" fmla="*/ 1 h 440"/>
                <a:gd name="T16" fmla="*/ 10 w 394"/>
                <a:gd name="T17" fmla="*/ 1 h 440"/>
                <a:gd name="T18" fmla="*/ 12 w 394"/>
                <a:gd name="T19" fmla="*/ 1 h 440"/>
                <a:gd name="T20" fmla="*/ 14 w 394"/>
                <a:gd name="T21" fmla="*/ 1 h 440"/>
                <a:gd name="T22" fmla="*/ 16 w 394"/>
                <a:gd name="T23" fmla="*/ 1 h 440"/>
                <a:gd name="T24" fmla="*/ 19 w 394"/>
                <a:gd name="T25" fmla="*/ 1 h 440"/>
                <a:gd name="T26" fmla="*/ 21 w 394"/>
                <a:gd name="T27" fmla="*/ 1 h 440"/>
                <a:gd name="T28" fmla="*/ 22 w 394"/>
                <a:gd name="T29" fmla="*/ 1 h 440"/>
                <a:gd name="T30" fmla="*/ 24 w 394"/>
                <a:gd name="T31" fmla="*/ 1 h 440"/>
                <a:gd name="T32" fmla="*/ 25 w 394"/>
                <a:gd name="T33" fmla="*/ 1 h 440"/>
                <a:gd name="T34" fmla="*/ 26 w 394"/>
                <a:gd name="T35" fmla="*/ 1 h 440"/>
                <a:gd name="T36" fmla="*/ 26 w 394"/>
                <a:gd name="T37" fmla="*/ 1 h 440"/>
                <a:gd name="T38" fmla="*/ 26 w 394"/>
                <a:gd name="T39" fmla="*/ 1 h 440"/>
                <a:gd name="T40" fmla="*/ 26 w 394"/>
                <a:gd name="T41" fmla="*/ 1 h 440"/>
                <a:gd name="T42" fmla="*/ 26 w 394"/>
                <a:gd name="T43" fmla="*/ 1 h 440"/>
                <a:gd name="T44" fmla="*/ 25 w 394"/>
                <a:gd name="T45" fmla="*/ 1 h 440"/>
                <a:gd name="T46" fmla="*/ 24 w 394"/>
                <a:gd name="T47" fmla="*/ 1 h 440"/>
                <a:gd name="T48" fmla="*/ 22 w 394"/>
                <a:gd name="T49" fmla="*/ 1 h 440"/>
                <a:gd name="T50" fmla="*/ 21 w 394"/>
                <a:gd name="T51" fmla="*/ 1 h 440"/>
                <a:gd name="T52" fmla="*/ 19 w 394"/>
                <a:gd name="T53" fmla="*/ 1 h 440"/>
                <a:gd name="T54" fmla="*/ 16 w 394"/>
                <a:gd name="T55" fmla="*/ 1 h 440"/>
                <a:gd name="T56" fmla="*/ 14 w 394"/>
                <a:gd name="T57" fmla="*/ 1 h 440"/>
                <a:gd name="T58" fmla="*/ 12 w 394"/>
                <a:gd name="T59" fmla="*/ 0 h 440"/>
                <a:gd name="T60" fmla="*/ 10 w 394"/>
                <a:gd name="T61" fmla="*/ 1 h 440"/>
                <a:gd name="T62" fmla="*/ 8 w 394"/>
                <a:gd name="T63" fmla="*/ 1 h 440"/>
                <a:gd name="T64" fmla="*/ 7 w 394"/>
                <a:gd name="T65" fmla="*/ 1 h 440"/>
                <a:gd name="T66" fmla="*/ 5 w 394"/>
                <a:gd name="T67" fmla="*/ 1 h 4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94" h="440">
                  <a:moveTo>
                    <a:pt x="0" y="375"/>
                  </a:moveTo>
                  <a:lnTo>
                    <a:pt x="3" y="387"/>
                  </a:lnTo>
                  <a:lnTo>
                    <a:pt x="10" y="397"/>
                  </a:lnTo>
                  <a:lnTo>
                    <a:pt x="23" y="408"/>
                  </a:lnTo>
                  <a:lnTo>
                    <a:pt x="41" y="416"/>
                  </a:lnTo>
                  <a:lnTo>
                    <a:pt x="63" y="425"/>
                  </a:lnTo>
                  <a:lnTo>
                    <a:pt x="88" y="431"/>
                  </a:lnTo>
                  <a:lnTo>
                    <a:pt x="114" y="435"/>
                  </a:lnTo>
                  <a:lnTo>
                    <a:pt x="143" y="438"/>
                  </a:lnTo>
                  <a:lnTo>
                    <a:pt x="174" y="440"/>
                  </a:lnTo>
                  <a:lnTo>
                    <a:pt x="209" y="437"/>
                  </a:lnTo>
                  <a:lnTo>
                    <a:pt x="243" y="429"/>
                  </a:lnTo>
                  <a:lnTo>
                    <a:pt x="274" y="416"/>
                  </a:lnTo>
                  <a:lnTo>
                    <a:pt x="303" y="397"/>
                  </a:lnTo>
                  <a:lnTo>
                    <a:pt x="329" y="375"/>
                  </a:lnTo>
                  <a:lnTo>
                    <a:pt x="353" y="349"/>
                  </a:lnTo>
                  <a:lnTo>
                    <a:pt x="370" y="320"/>
                  </a:lnTo>
                  <a:lnTo>
                    <a:pt x="383" y="287"/>
                  </a:lnTo>
                  <a:lnTo>
                    <a:pt x="391" y="254"/>
                  </a:lnTo>
                  <a:lnTo>
                    <a:pt x="394" y="220"/>
                  </a:lnTo>
                  <a:lnTo>
                    <a:pt x="391" y="186"/>
                  </a:lnTo>
                  <a:lnTo>
                    <a:pt x="383" y="153"/>
                  </a:lnTo>
                  <a:lnTo>
                    <a:pt x="370" y="120"/>
                  </a:lnTo>
                  <a:lnTo>
                    <a:pt x="353" y="91"/>
                  </a:lnTo>
                  <a:lnTo>
                    <a:pt x="329" y="65"/>
                  </a:lnTo>
                  <a:lnTo>
                    <a:pt x="303" y="43"/>
                  </a:lnTo>
                  <a:lnTo>
                    <a:pt x="274" y="24"/>
                  </a:lnTo>
                  <a:lnTo>
                    <a:pt x="243" y="10"/>
                  </a:lnTo>
                  <a:lnTo>
                    <a:pt x="209" y="3"/>
                  </a:lnTo>
                  <a:lnTo>
                    <a:pt x="174" y="0"/>
                  </a:lnTo>
                  <a:lnTo>
                    <a:pt x="149" y="2"/>
                  </a:lnTo>
                  <a:lnTo>
                    <a:pt x="124" y="3"/>
                  </a:lnTo>
                  <a:lnTo>
                    <a:pt x="99" y="7"/>
                  </a:lnTo>
                  <a:lnTo>
                    <a:pt x="77" y="12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0" name="Rectangle 93"/>
            <p:cNvSpPr>
              <a:spLocks noChangeArrowheads="1"/>
            </p:cNvSpPr>
            <p:nvPr/>
          </p:nvSpPr>
          <p:spPr bwMode="auto">
            <a:xfrm>
              <a:off x="4225" y="3203"/>
              <a:ext cx="27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X /X,R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21" name="Freeform 95"/>
            <p:cNvSpPr>
              <a:spLocks/>
            </p:cNvSpPr>
            <p:nvPr/>
          </p:nvSpPr>
          <p:spPr bwMode="auto">
            <a:xfrm rot="-5400000">
              <a:off x="3538" y="2545"/>
              <a:ext cx="680" cy="182"/>
            </a:xfrm>
            <a:custGeom>
              <a:avLst/>
              <a:gdLst>
                <a:gd name="T0" fmla="*/ 0 w 2173"/>
                <a:gd name="T1" fmla="*/ 0 h 339"/>
                <a:gd name="T2" fmla="*/ 0 w 2173"/>
                <a:gd name="T3" fmla="*/ 1 h 339"/>
                <a:gd name="T4" fmla="*/ 0 w 2173"/>
                <a:gd name="T5" fmla="*/ 1 h 339"/>
                <a:gd name="T6" fmla="*/ 0 w 2173"/>
                <a:gd name="T7" fmla="*/ 1 h 339"/>
                <a:gd name="T8" fmla="*/ 0 w 2173"/>
                <a:gd name="T9" fmla="*/ 1 h 339"/>
                <a:gd name="T10" fmla="*/ 0 w 2173"/>
                <a:gd name="T11" fmla="*/ 1 h 339"/>
                <a:gd name="T12" fmla="*/ 0 w 2173"/>
                <a:gd name="T13" fmla="*/ 1 h 339"/>
                <a:gd name="T14" fmla="*/ 0 w 2173"/>
                <a:gd name="T15" fmla="*/ 1 h 339"/>
                <a:gd name="T16" fmla="*/ 0 w 2173"/>
                <a:gd name="T17" fmla="*/ 1 h 339"/>
                <a:gd name="T18" fmla="*/ 0 w 2173"/>
                <a:gd name="T19" fmla="*/ 1 h 339"/>
                <a:gd name="T20" fmla="*/ 0 w 2173"/>
                <a:gd name="T21" fmla="*/ 1 h 339"/>
                <a:gd name="T22" fmla="*/ 0 w 2173"/>
                <a:gd name="T23" fmla="*/ 1 h 339"/>
                <a:gd name="T24" fmla="*/ 0 w 2173"/>
                <a:gd name="T25" fmla="*/ 1 h 339"/>
                <a:gd name="T26" fmla="*/ 0 w 2173"/>
                <a:gd name="T27" fmla="*/ 1 h 339"/>
                <a:gd name="T28" fmla="*/ 0 w 2173"/>
                <a:gd name="T29" fmla="*/ 1 h 339"/>
                <a:gd name="T30" fmla="*/ 0 w 2173"/>
                <a:gd name="T31" fmla="*/ 1 h 339"/>
                <a:gd name="T32" fmla="*/ 0 w 2173"/>
                <a:gd name="T33" fmla="*/ 1 h 339"/>
                <a:gd name="T34" fmla="*/ 0 w 2173"/>
                <a:gd name="T35" fmla="*/ 1 h 339"/>
                <a:gd name="T36" fmla="*/ 0 w 2173"/>
                <a:gd name="T37" fmla="*/ 1 h 339"/>
                <a:gd name="T38" fmla="*/ 0 w 2173"/>
                <a:gd name="T39" fmla="*/ 1 h 339"/>
                <a:gd name="T40" fmla="*/ 0 w 2173"/>
                <a:gd name="T41" fmla="*/ 1 h 339"/>
                <a:gd name="T42" fmla="*/ 0 w 2173"/>
                <a:gd name="T43" fmla="*/ 1 h 339"/>
                <a:gd name="T44" fmla="*/ 0 w 2173"/>
                <a:gd name="T45" fmla="*/ 1 h 339"/>
                <a:gd name="T46" fmla="*/ 0 w 2173"/>
                <a:gd name="T47" fmla="*/ 1 h 33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173" h="339">
                  <a:moveTo>
                    <a:pt x="2173" y="0"/>
                  </a:moveTo>
                  <a:lnTo>
                    <a:pt x="2092" y="54"/>
                  </a:lnTo>
                  <a:lnTo>
                    <a:pt x="2008" y="104"/>
                  </a:lnTo>
                  <a:lnTo>
                    <a:pt x="1926" y="148"/>
                  </a:lnTo>
                  <a:lnTo>
                    <a:pt x="1841" y="188"/>
                  </a:lnTo>
                  <a:lnTo>
                    <a:pt x="1755" y="223"/>
                  </a:lnTo>
                  <a:lnTo>
                    <a:pt x="1669" y="254"/>
                  </a:lnTo>
                  <a:lnTo>
                    <a:pt x="1579" y="280"/>
                  </a:lnTo>
                  <a:lnTo>
                    <a:pt x="1490" y="300"/>
                  </a:lnTo>
                  <a:lnTo>
                    <a:pt x="1399" y="318"/>
                  </a:lnTo>
                  <a:lnTo>
                    <a:pt x="1307" y="330"/>
                  </a:lnTo>
                  <a:lnTo>
                    <a:pt x="1214" y="336"/>
                  </a:lnTo>
                  <a:lnTo>
                    <a:pt x="1119" y="339"/>
                  </a:lnTo>
                  <a:lnTo>
                    <a:pt x="1024" y="337"/>
                  </a:lnTo>
                  <a:lnTo>
                    <a:pt x="927" y="330"/>
                  </a:lnTo>
                  <a:lnTo>
                    <a:pt x="829" y="318"/>
                  </a:lnTo>
                  <a:lnTo>
                    <a:pt x="730" y="302"/>
                  </a:lnTo>
                  <a:lnTo>
                    <a:pt x="628" y="280"/>
                  </a:lnTo>
                  <a:lnTo>
                    <a:pt x="527" y="255"/>
                  </a:lnTo>
                  <a:lnTo>
                    <a:pt x="425" y="224"/>
                  </a:lnTo>
                  <a:lnTo>
                    <a:pt x="319" y="189"/>
                  </a:lnTo>
                  <a:lnTo>
                    <a:pt x="214" y="150"/>
                  </a:lnTo>
                  <a:lnTo>
                    <a:pt x="108" y="104"/>
                  </a:lnTo>
                  <a:lnTo>
                    <a:pt x="0" y="56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2" name="Freeform 96"/>
            <p:cNvSpPr>
              <a:spLocks/>
            </p:cNvSpPr>
            <p:nvPr/>
          </p:nvSpPr>
          <p:spPr bwMode="auto">
            <a:xfrm rot="-5400000" flipH="1" flipV="1">
              <a:off x="3310" y="2546"/>
              <a:ext cx="665" cy="165"/>
            </a:xfrm>
            <a:custGeom>
              <a:avLst/>
              <a:gdLst>
                <a:gd name="T0" fmla="*/ 0 w 2173"/>
                <a:gd name="T1" fmla="*/ 0 h 339"/>
                <a:gd name="T2" fmla="*/ 0 w 2173"/>
                <a:gd name="T3" fmla="*/ 0 h 339"/>
                <a:gd name="T4" fmla="*/ 0 w 2173"/>
                <a:gd name="T5" fmla="*/ 0 h 339"/>
                <a:gd name="T6" fmla="*/ 0 w 2173"/>
                <a:gd name="T7" fmla="*/ 0 h 339"/>
                <a:gd name="T8" fmla="*/ 0 w 2173"/>
                <a:gd name="T9" fmla="*/ 0 h 339"/>
                <a:gd name="T10" fmla="*/ 0 w 2173"/>
                <a:gd name="T11" fmla="*/ 0 h 339"/>
                <a:gd name="T12" fmla="*/ 0 w 2173"/>
                <a:gd name="T13" fmla="*/ 0 h 339"/>
                <a:gd name="T14" fmla="*/ 0 w 2173"/>
                <a:gd name="T15" fmla="*/ 0 h 339"/>
                <a:gd name="T16" fmla="*/ 0 w 2173"/>
                <a:gd name="T17" fmla="*/ 0 h 339"/>
                <a:gd name="T18" fmla="*/ 0 w 2173"/>
                <a:gd name="T19" fmla="*/ 0 h 339"/>
                <a:gd name="T20" fmla="*/ 0 w 2173"/>
                <a:gd name="T21" fmla="*/ 0 h 339"/>
                <a:gd name="T22" fmla="*/ 0 w 2173"/>
                <a:gd name="T23" fmla="*/ 0 h 339"/>
                <a:gd name="T24" fmla="*/ 0 w 2173"/>
                <a:gd name="T25" fmla="*/ 0 h 339"/>
                <a:gd name="T26" fmla="*/ 0 w 2173"/>
                <a:gd name="T27" fmla="*/ 0 h 339"/>
                <a:gd name="T28" fmla="*/ 0 w 2173"/>
                <a:gd name="T29" fmla="*/ 0 h 339"/>
                <a:gd name="T30" fmla="*/ 0 w 2173"/>
                <a:gd name="T31" fmla="*/ 0 h 339"/>
                <a:gd name="T32" fmla="*/ 0 w 2173"/>
                <a:gd name="T33" fmla="*/ 0 h 339"/>
                <a:gd name="T34" fmla="*/ 0 w 2173"/>
                <a:gd name="T35" fmla="*/ 0 h 339"/>
                <a:gd name="T36" fmla="*/ 0 w 2173"/>
                <a:gd name="T37" fmla="*/ 0 h 339"/>
                <a:gd name="T38" fmla="*/ 0 w 2173"/>
                <a:gd name="T39" fmla="*/ 0 h 339"/>
                <a:gd name="T40" fmla="*/ 0 w 2173"/>
                <a:gd name="T41" fmla="*/ 0 h 339"/>
                <a:gd name="T42" fmla="*/ 0 w 2173"/>
                <a:gd name="T43" fmla="*/ 0 h 339"/>
                <a:gd name="T44" fmla="*/ 0 w 2173"/>
                <a:gd name="T45" fmla="*/ 0 h 339"/>
                <a:gd name="T46" fmla="*/ 0 w 2173"/>
                <a:gd name="T47" fmla="*/ 0 h 33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173" h="339">
                  <a:moveTo>
                    <a:pt x="2173" y="0"/>
                  </a:moveTo>
                  <a:lnTo>
                    <a:pt x="2092" y="54"/>
                  </a:lnTo>
                  <a:lnTo>
                    <a:pt x="2008" y="104"/>
                  </a:lnTo>
                  <a:lnTo>
                    <a:pt x="1926" y="148"/>
                  </a:lnTo>
                  <a:lnTo>
                    <a:pt x="1841" y="188"/>
                  </a:lnTo>
                  <a:lnTo>
                    <a:pt x="1755" y="223"/>
                  </a:lnTo>
                  <a:lnTo>
                    <a:pt x="1669" y="254"/>
                  </a:lnTo>
                  <a:lnTo>
                    <a:pt x="1579" y="280"/>
                  </a:lnTo>
                  <a:lnTo>
                    <a:pt x="1490" y="300"/>
                  </a:lnTo>
                  <a:lnTo>
                    <a:pt x="1399" y="318"/>
                  </a:lnTo>
                  <a:lnTo>
                    <a:pt x="1307" y="330"/>
                  </a:lnTo>
                  <a:lnTo>
                    <a:pt x="1214" y="336"/>
                  </a:lnTo>
                  <a:lnTo>
                    <a:pt x="1119" y="339"/>
                  </a:lnTo>
                  <a:lnTo>
                    <a:pt x="1024" y="337"/>
                  </a:lnTo>
                  <a:lnTo>
                    <a:pt x="927" y="330"/>
                  </a:lnTo>
                  <a:lnTo>
                    <a:pt x="829" y="318"/>
                  </a:lnTo>
                  <a:lnTo>
                    <a:pt x="730" y="302"/>
                  </a:lnTo>
                  <a:lnTo>
                    <a:pt x="628" y="280"/>
                  </a:lnTo>
                  <a:lnTo>
                    <a:pt x="527" y="255"/>
                  </a:lnTo>
                  <a:lnTo>
                    <a:pt x="425" y="224"/>
                  </a:lnTo>
                  <a:lnTo>
                    <a:pt x="319" y="189"/>
                  </a:lnTo>
                  <a:lnTo>
                    <a:pt x="214" y="150"/>
                  </a:lnTo>
                  <a:lnTo>
                    <a:pt x="108" y="104"/>
                  </a:lnTo>
                  <a:lnTo>
                    <a:pt x="0" y="56"/>
                  </a:lnTo>
                </a:path>
              </a:pathLst>
            </a:custGeom>
            <a:noFill/>
            <a:ln w="1588">
              <a:solidFill>
                <a:srgbClr val="80008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3" name="Rectangle 97"/>
            <p:cNvSpPr>
              <a:spLocks noChangeArrowheads="1"/>
            </p:cNvSpPr>
            <p:nvPr/>
          </p:nvSpPr>
          <p:spPr bwMode="auto">
            <a:xfrm>
              <a:off x="3995" y="2568"/>
              <a:ext cx="28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0 / X,R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  <p:sp>
          <p:nvSpPr>
            <p:cNvPr id="36924" name="Rectangle 98"/>
            <p:cNvSpPr>
              <a:spLocks noChangeArrowheads="1"/>
            </p:cNvSpPr>
            <p:nvPr/>
          </p:nvSpPr>
          <p:spPr bwMode="auto">
            <a:xfrm>
              <a:off x="3262" y="2523"/>
              <a:ext cx="25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r>
                <a:rPr lang="en-US" altLang="zh-CN" sz="1300" i="1">
                  <a:solidFill>
                    <a:srgbClr val="800080"/>
                  </a:solidFill>
                  <a:latin typeface="Arial" charset="0"/>
                  <a:ea typeface="宋体" charset="-122"/>
                </a:rPr>
                <a:t>0 /0,R</a:t>
              </a:r>
              <a:endParaRPr lang="en-US" altLang="zh-CN" sz="2000" b="0">
                <a:solidFill>
                  <a:srgbClr val="009999"/>
                </a:solidFill>
                <a:ea typeface="宋体" charset="-122"/>
              </a:endParaRPr>
            </a:p>
          </p:txBody>
        </p:sp>
      </p:grpSp>
      <p:sp>
        <p:nvSpPr>
          <p:cNvPr id="36868" name="Rectangle 100"/>
          <p:cNvSpPr>
            <a:spLocks noChangeArrowheads="1"/>
          </p:cNvSpPr>
          <p:nvPr/>
        </p:nvSpPr>
        <p:spPr bwMode="auto">
          <a:xfrm>
            <a:off x="611188" y="5949950"/>
            <a:ext cx="676910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tx2"/>
                </a:solidFill>
                <a:latin typeface="楷体_GB2312" charset="0"/>
              </a:rPr>
              <a:t>识别</a:t>
            </a:r>
            <a:r>
              <a:rPr lang="zh-CN" altLang="en-US">
                <a:solidFill>
                  <a:srgbClr val="800080"/>
                </a:solidFill>
                <a:latin typeface="楷体_GB2312" charset="0"/>
              </a:rPr>
              <a:t> </a:t>
            </a:r>
            <a:r>
              <a:rPr lang="en-US" altLang="zh-CN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L= 0 </a:t>
            </a:r>
            <a:r>
              <a:rPr lang="en-US" altLang="zh-CN" baseline="30000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m</a:t>
            </a:r>
            <a:r>
              <a:rPr lang="en-US" altLang="zh-CN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  m=2</a:t>
            </a:r>
            <a:r>
              <a:rPr lang="en-US" altLang="zh-CN" baseline="30000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n</a:t>
            </a:r>
            <a:r>
              <a:rPr lang="en-US" altLang="zh-CN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, n  0</a:t>
            </a:r>
            <a:r>
              <a:rPr lang="zh-CN" altLang="en-US">
                <a:solidFill>
                  <a:srgbClr val="333399"/>
                </a:solidFill>
                <a:latin typeface="宋体" charset="-122"/>
                <a:ea typeface="宋体" charset="-122"/>
                <a:sym typeface="Symbol" charset="2"/>
              </a:rPr>
              <a:t>的</a:t>
            </a:r>
            <a:r>
              <a:rPr lang="zh-CN" altLang="en-US">
                <a:solidFill>
                  <a:srgbClr val="333399"/>
                </a:solidFill>
                <a:latin typeface="楷体_GB2312" charset="0"/>
                <a:ea typeface="宋体" charset="-122"/>
                <a:sym typeface="Symbol" charset="2"/>
              </a:rPr>
              <a:t>图灵机</a:t>
            </a:r>
          </a:p>
        </p:txBody>
      </p:sp>
      <p:sp>
        <p:nvSpPr>
          <p:cNvPr id="36869" name="Rectangle 57"/>
          <p:cNvSpPr>
            <a:spLocks noChangeArrowheads="1"/>
          </p:cNvSpPr>
          <p:nvPr/>
        </p:nvSpPr>
        <p:spPr bwMode="auto">
          <a:xfrm>
            <a:off x="4576763" y="5572125"/>
            <a:ext cx="44926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r">
              <a:buFont typeface="Wingdings" charset="2"/>
              <a:buNone/>
            </a:pPr>
            <a:r>
              <a:rPr lang="en-US" altLang="zh-CN" sz="1300" i="1">
                <a:solidFill>
                  <a:srgbClr val="800080"/>
                </a:solidFill>
                <a:latin typeface="Arial" charset="0"/>
                <a:ea typeface="宋体" charset="-122"/>
              </a:rPr>
              <a:t>B/B,R</a:t>
            </a:r>
            <a:endParaRPr lang="en-US" altLang="zh-CN" sz="2000" b="0">
              <a:solidFill>
                <a:srgbClr val="009999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78E132-D5F4-2245-8471-98EF755C91DC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789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7891" name="Rectangle 4"/>
          <p:cNvSpPr>
            <a:spLocks noChangeArrowheads="1"/>
          </p:cNvSpPr>
          <p:nvPr/>
        </p:nvSpPr>
        <p:spPr bwMode="auto">
          <a:xfrm>
            <a:off x="755650" y="476250"/>
            <a:ext cx="75326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>
                <a:solidFill>
                  <a:srgbClr val="800080"/>
                </a:solidFill>
                <a:ea typeface="华文行楷" charset="-122"/>
              </a:rPr>
              <a:t>5.2  </a:t>
            </a:r>
            <a:r>
              <a:rPr lang="zh-CN" altLang="en-US" sz="3200" b="0">
                <a:solidFill>
                  <a:srgbClr val="800080"/>
                </a:solidFill>
                <a:ea typeface="华文行楷" charset="-122"/>
              </a:rPr>
              <a:t>图灵机的构造技术</a:t>
            </a:r>
            <a:endParaRPr lang="en-US" altLang="zh-CN" sz="3200" b="0">
              <a:solidFill>
                <a:srgbClr val="800080"/>
              </a:solidFill>
              <a:ea typeface="华文行楷" charset="-122"/>
            </a:endParaRPr>
          </a:p>
        </p:txBody>
      </p:sp>
      <p:sp>
        <p:nvSpPr>
          <p:cNvPr id="765958" name="Rectangle 6"/>
          <p:cNvSpPr>
            <a:spLocks noChangeArrowheads="1"/>
          </p:cNvSpPr>
          <p:nvPr/>
        </p:nvSpPr>
        <p:spPr bwMode="auto">
          <a:xfrm>
            <a:off x="468313" y="2205038"/>
            <a:ext cx="8280400" cy="282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b="0">
                <a:solidFill>
                  <a:srgbClr val="333399"/>
                </a:solidFill>
                <a:latin typeface="Arial" charset="0"/>
                <a:ea typeface="华文行楷" charset="-122"/>
              </a:rPr>
              <a:t>       在设计图灵机的过程中，写出</a:t>
            </a:r>
            <a:r>
              <a:rPr lang="en-US" altLang="zh-CN" b="0">
                <a:solidFill>
                  <a:srgbClr val="333399"/>
                </a:solidFill>
                <a:latin typeface="Arial" charset="0"/>
                <a:ea typeface="华文行楷" charset="-122"/>
              </a:rPr>
              <a:t>δ</a:t>
            </a:r>
            <a:r>
              <a:rPr lang="zh-CN" altLang="en-US" b="0">
                <a:solidFill>
                  <a:srgbClr val="333399"/>
                </a:solidFill>
                <a:latin typeface="Arial" charset="0"/>
                <a:ea typeface="华文行楷" charset="-122"/>
              </a:rPr>
              <a:t>函数很麻烦，为了构造复杂的图灵机，需探讨图灵机的若干构造技术，并引入一些新的概念和工具。</a:t>
            </a:r>
          </a:p>
          <a:p>
            <a:pPr>
              <a:buFont typeface="Wingdings" charset="2"/>
              <a:buNone/>
            </a:pPr>
            <a:endParaRPr lang="zh-CN" altLang="en-US" b="0">
              <a:solidFill>
                <a:srgbClr val="333399"/>
              </a:solidFill>
              <a:latin typeface="Arial" charset="0"/>
              <a:ea typeface="华文行楷" charset="-122"/>
            </a:endParaRPr>
          </a:p>
          <a:p>
            <a:pPr>
              <a:buFont typeface="Wingdings" charset="2"/>
              <a:buNone/>
            </a:pPr>
            <a:r>
              <a:rPr lang="zh-CN" altLang="en-US" b="0">
                <a:solidFill>
                  <a:srgbClr val="333399"/>
                </a:solidFill>
                <a:latin typeface="Arial" charset="0"/>
                <a:ea typeface="华文行楷" charset="-122"/>
              </a:rPr>
              <a:t>目的：设计时方便，但这些构造技术并未增加图灵机的功能。 </a:t>
            </a:r>
            <a:endParaRPr lang="en-US" altLang="zh-CN" b="0">
              <a:solidFill>
                <a:srgbClr val="333399"/>
              </a:solidFill>
              <a:latin typeface="Arial" charset="0"/>
              <a:ea typeface="华文行楷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6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58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CB90FA-2748-E343-801B-F61925F4793D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8914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990600" y="549275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800080"/>
                </a:solidFill>
                <a:ea typeface="华文行楷" charset="-122"/>
              </a:rPr>
              <a:t>5.2.1. </a:t>
            </a:r>
            <a:r>
              <a:rPr lang="zh-CN" altLang="en-US" sz="2400">
                <a:solidFill>
                  <a:srgbClr val="800080"/>
                </a:solidFill>
                <a:ea typeface="华文行楷" charset="-122"/>
              </a:rPr>
              <a:t>  利用带存储区的状态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（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storage in the state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）</a:t>
            </a:r>
            <a:endParaRPr lang="zh-CN" altLang="en-US" sz="2400">
              <a:solidFill>
                <a:srgbClr val="333399"/>
              </a:solidFill>
              <a:latin typeface="Arial" charset="0"/>
              <a:ea typeface="华文行楷" charset="-122"/>
              <a:sym typeface="Symbol" charset="2"/>
            </a:endParaRPr>
          </a:p>
        </p:txBody>
      </p:sp>
      <p:sp>
        <p:nvSpPr>
          <p:cNvPr id="774148" name="Rectangle 4"/>
          <p:cNvSpPr>
            <a:spLocks noChangeArrowheads="1"/>
          </p:cNvSpPr>
          <p:nvPr/>
        </p:nvSpPr>
        <p:spPr bwMode="auto">
          <a:xfrm>
            <a:off x="468313" y="3644900"/>
            <a:ext cx="8169275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此类</a:t>
            </a:r>
            <a:r>
              <a:rPr lang="zh-CN" altLang="en-US" sz="2400" dirty="0">
                <a:solidFill>
                  <a:srgbClr val="333399"/>
                </a:solidFill>
                <a:ea typeface="华文行楷" charset="-122"/>
              </a:rPr>
              <a:t>图灵机 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M</a:t>
            </a:r>
            <a:r>
              <a:rPr lang="en-US" altLang="zh-CN" sz="20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 = (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Q,</a:t>
            </a:r>
            <a:r>
              <a:rPr lang="en-US" altLang="zh-CN" sz="20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ea typeface="宋体" charset="-122"/>
                <a:sym typeface="Symbol" charset="2"/>
              </a:rPr>
              <a:t>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, </a:t>
            </a:r>
            <a:r>
              <a:rPr lang="en-US" altLang="zh-CN" sz="2000" dirty="0">
                <a:solidFill>
                  <a:srgbClr val="333399"/>
                </a:solidFill>
                <a:ea typeface="宋体" charset="-122"/>
                <a:sym typeface="Symbol" charset="2"/>
              </a:rPr>
              <a:t>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, 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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, q</a:t>
            </a:r>
            <a:r>
              <a:rPr lang="en-US" altLang="zh-CN" sz="2000" i="1" baseline="-250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0 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, B</a:t>
            </a:r>
            <a:r>
              <a:rPr lang="en-US" altLang="zh-CN" sz="2000" i="1" baseline="-250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, F </a:t>
            </a:r>
            <a:r>
              <a:rPr lang="en-US" altLang="zh-CN" sz="20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)</a:t>
            </a:r>
            <a:r>
              <a:rPr lang="en-US" altLang="zh-CN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 </a:t>
            </a:r>
            <a:r>
              <a:rPr lang="zh-CN" altLang="en-US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中，状态中可以包含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Arial" charset="0"/>
                <a:ea typeface="华文行楷" charset="-122"/>
              </a:rPr>
              <a:t>一个具有有限个取值的存储单元，即状态集合为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    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Q = S</a:t>
            </a:r>
            <a:r>
              <a:rPr lang="en-US" altLang="zh-CN" sz="2000" dirty="0">
                <a:solidFill>
                  <a:srgbClr val="333399"/>
                </a:solidFill>
                <a:latin typeface="Arial" charset="0"/>
                <a:ea typeface="华文行楷" charset="-122"/>
                <a:sym typeface="Symbol" charset="2"/>
              </a:rPr>
              <a:t>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T = { [</a:t>
            </a:r>
            <a:r>
              <a:rPr lang="en-US" altLang="zh-CN" sz="2000" i="1" dirty="0" err="1">
                <a:solidFill>
                  <a:srgbClr val="333399"/>
                </a:solidFill>
                <a:latin typeface="Arial" charset="0"/>
                <a:ea typeface="华文行楷" charset="-122"/>
              </a:rPr>
              <a:t>q,a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] 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宋体" charset="-122"/>
              </a:rPr>
              <a:t>| </a:t>
            </a:r>
            <a:r>
              <a:rPr lang="en-US" altLang="zh-CN" sz="2000" i="1" dirty="0" err="1">
                <a:solidFill>
                  <a:srgbClr val="333399"/>
                </a:solidFill>
                <a:latin typeface="Arial" charset="0"/>
                <a:ea typeface="宋体" charset="-122"/>
              </a:rPr>
              <a:t>q</a:t>
            </a:r>
            <a:r>
              <a:rPr lang="en-US" altLang="zh-CN" sz="2000" dirty="0" err="1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</a:t>
            </a:r>
            <a:r>
              <a:rPr lang="en-US" altLang="zh-CN" sz="2000" i="1" dirty="0" err="1">
                <a:solidFill>
                  <a:srgbClr val="333399"/>
                </a:solidFill>
                <a:latin typeface="Arial" charset="0"/>
                <a:ea typeface="宋体" charset="-122"/>
              </a:rPr>
              <a:t>S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宋体" charset="-122"/>
              </a:rPr>
              <a:t> </a:t>
            </a:r>
            <a:r>
              <a:rPr lang="en-US" altLang="zh-CN" sz="2000" dirty="0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 </a:t>
            </a:r>
            <a:r>
              <a:rPr lang="en-US" altLang="zh-CN" sz="2000" i="1" dirty="0" err="1">
                <a:solidFill>
                  <a:srgbClr val="333399"/>
                </a:solidFill>
                <a:latin typeface="Arial" charset="0"/>
                <a:ea typeface="宋体" charset="-122"/>
              </a:rPr>
              <a:t>a</a:t>
            </a:r>
            <a:r>
              <a:rPr lang="en-US" altLang="zh-CN" sz="2000" dirty="0" err="1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</a:t>
            </a:r>
            <a:r>
              <a:rPr lang="en-US" altLang="zh-CN" sz="2000" i="1" dirty="0" err="1">
                <a:solidFill>
                  <a:srgbClr val="333399"/>
                </a:solidFill>
                <a:latin typeface="Arial" charset="0"/>
                <a:ea typeface="宋体" charset="-122"/>
              </a:rPr>
              <a:t>T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宋体" charset="-122"/>
              </a:rPr>
              <a:t> 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}</a:t>
            </a:r>
            <a:r>
              <a:rPr lang="zh-CN" altLang="en-US" sz="2000" i="1" dirty="0">
                <a:solidFill>
                  <a:srgbClr val="333399"/>
                </a:solidFill>
                <a:latin typeface="Arial" charset="0"/>
                <a:ea typeface="华文行楷" charset="-122"/>
              </a:rPr>
              <a:t>，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dirty="0">
              <a:solidFill>
                <a:srgbClr val="333399"/>
              </a:solidFill>
              <a:latin typeface="Arial" charset="0"/>
              <a:ea typeface="华文行楷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其中 </a:t>
            </a:r>
            <a:r>
              <a:rPr lang="en-US" altLang="zh-CN" sz="2000" i="1" dirty="0" err="1">
                <a:solidFill>
                  <a:srgbClr val="333399"/>
                </a:solidFill>
                <a:latin typeface="Arial" charset="0"/>
                <a:ea typeface="宋体" charset="-122"/>
              </a:rPr>
              <a:t>q</a:t>
            </a:r>
            <a:r>
              <a:rPr lang="en-US" altLang="zh-CN" sz="2000" dirty="0" err="1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</a:t>
            </a:r>
            <a:r>
              <a:rPr lang="en-US" altLang="zh-CN" sz="2000" i="1" dirty="0" err="1">
                <a:solidFill>
                  <a:srgbClr val="333399"/>
                </a:solidFill>
                <a:latin typeface="Arial" charset="0"/>
                <a:ea typeface="宋体" charset="-122"/>
              </a:rPr>
              <a:t>S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宋体" charset="-122"/>
              </a:rPr>
              <a:t> </a:t>
            </a:r>
            <a:r>
              <a:rPr lang="zh-CN" altLang="en-US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通常表示控制状态，而 </a:t>
            </a:r>
            <a:r>
              <a:rPr lang="en-US" altLang="zh-CN" sz="2000" i="1" dirty="0" err="1">
                <a:solidFill>
                  <a:srgbClr val="333399"/>
                </a:solidFill>
                <a:latin typeface="Arial" charset="0"/>
                <a:ea typeface="宋体" charset="-122"/>
              </a:rPr>
              <a:t>a</a:t>
            </a:r>
            <a:r>
              <a:rPr lang="en-US" altLang="zh-CN" sz="2000" dirty="0" err="1">
                <a:solidFill>
                  <a:srgbClr val="333399"/>
                </a:solidFill>
                <a:latin typeface="Arial" charset="0"/>
                <a:ea typeface="宋体" charset="-122"/>
                <a:sym typeface="Symbol" charset="2"/>
              </a:rPr>
              <a:t></a:t>
            </a:r>
            <a:r>
              <a:rPr lang="en-US" altLang="zh-CN" sz="2000" i="1" dirty="0" err="1">
                <a:solidFill>
                  <a:srgbClr val="333399"/>
                </a:solidFill>
                <a:latin typeface="Arial" charset="0"/>
                <a:ea typeface="宋体" charset="-122"/>
              </a:rPr>
              <a:t>T</a:t>
            </a:r>
            <a:r>
              <a:rPr lang="en-US" altLang="zh-CN" sz="2000" i="1" dirty="0">
                <a:solidFill>
                  <a:srgbClr val="333399"/>
                </a:solidFill>
                <a:latin typeface="Arial" charset="0"/>
                <a:ea typeface="宋体" charset="-122"/>
              </a:rPr>
              <a:t> </a:t>
            </a:r>
            <a:r>
              <a:rPr lang="zh-CN" altLang="en-US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通常表示数据元素</a:t>
            </a:r>
            <a:r>
              <a:rPr lang="en-US" altLang="zh-CN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rgbClr val="333399"/>
              </a:solidFill>
              <a:latin typeface="Arial" charset="0"/>
              <a:ea typeface="华文行楷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一般情况下，有限控制器内允许存储</a:t>
            </a:r>
            <a:r>
              <a:rPr lang="en-US" altLang="zh-CN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zh-CN" altLang="en-US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个字符，即状态的第</a:t>
            </a:r>
            <a:r>
              <a:rPr lang="en-US" altLang="zh-CN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2</a:t>
            </a:r>
            <a:r>
              <a:rPr lang="zh-CN" altLang="en-US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个元素可存储</a:t>
            </a:r>
            <a:r>
              <a:rPr lang="en-US" altLang="zh-CN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n</a:t>
            </a:r>
            <a:r>
              <a:rPr lang="zh-CN" altLang="en-US" sz="2400" dirty="0">
                <a:solidFill>
                  <a:srgbClr val="333399"/>
                </a:solidFill>
                <a:latin typeface="Arial" charset="0"/>
                <a:ea typeface="华文行楷" charset="-122"/>
              </a:rPr>
              <a:t>个字符。</a:t>
            </a:r>
          </a:p>
        </p:txBody>
      </p:sp>
      <p:grpSp>
        <p:nvGrpSpPr>
          <p:cNvPr id="38917" name="Group 7"/>
          <p:cNvGrpSpPr>
            <a:grpSpLocks/>
          </p:cNvGrpSpPr>
          <p:nvPr/>
        </p:nvGrpSpPr>
        <p:grpSpPr bwMode="auto">
          <a:xfrm>
            <a:off x="1835150" y="1557338"/>
            <a:ext cx="5241925" cy="2016125"/>
            <a:chOff x="1248" y="1162"/>
            <a:chExt cx="3302" cy="1270"/>
          </a:xfrm>
        </p:grpSpPr>
        <p:graphicFrame>
          <p:nvGraphicFramePr>
            <p:cNvPr id="38918" name="Object 5"/>
            <p:cNvGraphicFramePr>
              <a:graphicFrameLocks noChangeAspect="1"/>
            </p:cNvGraphicFramePr>
            <p:nvPr/>
          </p:nvGraphicFramePr>
          <p:xfrm>
            <a:off x="1338" y="1162"/>
            <a:ext cx="3212" cy="1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2" imgW="5100828" imgH="1905000" progId="Visio.Drawing.6">
                    <p:embed/>
                  </p:oleObj>
                </mc:Choice>
                <mc:Fallback>
                  <p:oleObj name="VISIO" r:id="rId2" imgW="5100828" imgH="1905000" progId="Visio.Drawing.6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1162"/>
                          <a:ext cx="3212" cy="1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19" name="Rectangle 6"/>
            <p:cNvSpPr>
              <a:spLocks noChangeArrowheads="1"/>
            </p:cNvSpPr>
            <p:nvPr/>
          </p:nvSpPr>
          <p:spPr bwMode="auto">
            <a:xfrm>
              <a:off x="1248" y="2024"/>
              <a:ext cx="817" cy="4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kumimoji="1" sz="2800" b="1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kumimoji="1" sz="28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kumimoji="1" sz="2400">
                  <a:solidFill>
                    <a:schemeClr val="tx1"/>
                  </a:solidFill>
                  <a:latin typeface="Times New Roman" charset="0"/>
                  <a:ea typeface="楷体_GB2312" charset="0"/>
                </a:defRPr>
              </a:lvl9pPr>
            </a:lstStyle>
            <a:p>
              <a:pPr algn="r">
                <a:buFont typeface="Wingdings" charset="2"/>
                <a:buNone/>
              </a:pPr>
              <a:endParaRPr lang="zh-CN" altLang="en-US" sz="1800" b="0">
                <a:solidFill>
                  <a:srgbClr val="009999"/>
                </a:solidFill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7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4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AB4AE07-B09A-9D46-9D5D-F576571AC98B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3993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dirty="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 dirty="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775171" name="Rectangle 3"/>
          <p:cNvSpPr>
            <a:spLocks noChangeArrowheads="1"/>
          </p:cNvSpPr>
          <p:nvPr/>
        </p:nvSpPr>
        <p:spPr bwMode="auto">
          <a:xfrm>
            <a:off x="611188" y="1341438"/>
            <a:ext cx="8064500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例：设计一个图灵机，读写头将扫视第一个字符存入有限控制器内，然后扫视整个带，若找不到与第一个相同的字符，则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M</a:t>
            </a: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接受该字符串，否则不接受。</a:t>
            </a:r>
          </a:p>
          <a:p>
            <a:pPr>
              <a:buFont typeface="Wingdings" charset="2"/>
              <a:buNone/>
            </a:pP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构造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M=(Q,{</a:t>
            </a:r>
            <a:r>
              <a:rPr lang="en-US" altLang="zh-CN" sz="1800" dirty="0" err="1">
                <a:solidFill>
                  <a:srgbClr val="336699"/>
                </a:solidFill>
                <a:ea typeface="宋体" charset="-122"/>
              </a:rPr>
              <a:t>a,b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},{</a:t>
            </a:r>
            <a:r>
              <a:rPr lang="en-US" altLang="zh-CN" sz="1800" dirty="0" err="1">
                <a:solidFill>
                  <a:srgbClr val="336699"/>
                </a:solidFill>
                <a:ea typeface="宋体" charset="-122"/>
              </a:rPr>
              <a:t>a,b,B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},δ,q0,B,F)</a:t>
            </a:r>
          </a:p>
          <a:p>
            <a:pPr>
              <a:buFont typeface="Wingdings" charset="2"/>
              <a:buNone/>
            </a:pP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其中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Q={q0,q1}×{</a:t>
            </a:r>
            <a:r>
              <a:rPr lang="en-US" altLang="zh-CN" sz="1800" dirty="0" err="1">
                <a:solidFill>
                  <a:srgbClr val="336699"/>
                </a:solidFill>
                <a:ea typeface="宋体" charset="-122"/>
              </a:rPr>
              <a:t>a,b,B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}={[q0,a],[q0,b],[q0,B][q1,a][q1,b][q1,B]}</a:t>
            </a:r>
          </a:p>
          <a:p>
            <a:pPr>
              <a:buFont typeface="Wingdings" charset="2"/>
              <a:buNone/>
            </a:pP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初态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[q0,B]</a:t>
            </a:r>
          </a:p>
          <a:p>
            <a:pPr>
              <a:buFont typeface="Wingdings" charset="2"/>
              <a:buNone/>
            </a:pP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终态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F={[q1,B]} </a:t>
            </a:r>
          </a:p>
          <a:p>
            <a:pPr>
              <a:buFont typeface="Wingdings" charset="2"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δ</a:t>
            </a: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函数：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δ([q0,B],a)=([ q1,a],</a:t>
            </a:r>
            <a:r>
              <a:rPr lang="en-US" altLang="zh-CN" sz="1800" dirty="0" err="1">
                <a:solidFill>
                  <a:srgbClr val="336699"/>
                </a:solidFill>
                <a:ea typeface="宋体" charset="-122"/>
              </a:rPr>
              <a:t>a,R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)</a:t>
            </a:r>
          </a:p>
          <a:p>
            <a:pPr>
              <a:buFont typeface="Wingdings" charset="2"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δ([q0,B],b)=([ q1,b],</a:t>
            </a:r>
            <a:r>
              <a:rPr lang="en-US" altLang="zh-CN" sz="1800" dirty="0" err="1">
                <a:solidFill>
                  <a:srgbClr val="336699"/>
                </a:solidFill>
                <a:ea typeface="宋体" charset="-122"/>
              </a:rPr>
              <a:t>b,R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)   </a:t>
            </a: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存第一个字符</a:t>
            </a:r>
          </a:p>
          <a:p>
            <a:pPr>
              <a:buFont typeface="Wingdings" charset="2"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δ([q1,a],b)=([ q1,a],</a:t>
            </a:r>
            <a:r>
              <a:rPr lang="en-US" altLang="zh-CN" sz="1800" dirty="0" err="1">
                <a:solidFill>
                  <a:srgbClr val="336699"/>
                </a:solidFill>
                <a:ea typeface="宋体" charset="-122"/>
              </a:rPr>
              <a:t>b,R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)</a:t>
            </a:r>
          </a:p>
          <a:p>
            <a:pPr>
              <a:buFont typeface="Wingdings" charset="2"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δ([q1,b],a)=([ q1,b],</a:t>
            </a:r>
            <a:r>
              <a:rPr lang="en-US" altLang="zh-CN" sz="1800" dirty="0" err="1">
                <a:solidFill>
                  <a:srgbClr val="336699"/>
                </a:solidFill>
                <a:ea typeface="宋体" charset="-122"/>
              </a:rPr>
              <a:t>a,R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)    </a:t>
            </a: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后面符号与第一个不等，继续右移</a:t>
            </a:r>
          </a:p>
          <a:p>
            <a:pPr>
              <a:buFont typeface="Wingdings" charset="2"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δ([q1,a],B)=([ q1,B],B,L)</a:t>
            </a:r>
          </a:p>
          <a:p>
            <a:pPr>
              <a:buFont typeface="Wingdings" charset="2"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δ([q1,b],B)=([ q1,B],B,L)     </a:t>
            </a: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进入</a:t>
            </a:r>
            <a:r>
              <a:rPr lang="zh-CN" altLang="en-US" sz="1800" dirty="0">
                <a:solidFill>
                  <a:srgbClr val="FF0000"/>
                </a:solidFill>
                <a:ea typeface="宋体" charset="-122"/>
              </a:rPr>
              <a:t>终态</a:t>
            </a:r>
            <a:r>
              <a:rPr lang="en-US" altLang="zh-CN" sz="1800" dirty="0">
                <a:solidFill>
                  <a:srgbClr val="FF0000"/>
                </a:solidFill>
                <a:ea typeface="宋体" charset="-122"/>
              </a:rPr>
              <a:t>[q1,B]</a:t>
            </a:r>
          </a:p>
          <a:p>
            <a:pPr>
              <a:buFont typeface="Wingdings" charset="2"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δ([q1,a],a)=Ф</a:t>
            </a:r>
          </a:p>
          <a:p>
            <a:pPr>
              <a:buFont typeface="Wingdings" charset="2"/>
              <a:buNone/>
            </a:pP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δ([q1,b],b)=Ф               </a:t>
            </a: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遇到相同符号，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δ</a:t>
            </a: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无定义</a:t>
            </a:r>
          </a:p>
          <a:p>
            <a:pPr>
              <a:buFont typeface="Wingdings" charset="2"/>
              <a:buNone/>
            </a:pP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                                          </a:t>
            </a:r>
            <a:r>
              <a:rPr lang="en-US" altLang="zh-CN" sz="1800" dirty="0">
                <a:solidFill>
                  <a:srgbClr val="336699"/>
                </a:solidFill>
                <a:ea typeface="宋体" charset="-122"/>
              </a:rPr>
              <a:t>M</a:t>
            </a:r>
            <a:r>
              <a:rPr lang="zh-CN" altLang="en-US" sz="1800" dirty="0">
                <a:solidFill>
                  <a:srgbClr val="336699"/>
                </a:solidFill>
                <a:ea typeface="宋体" charset="-122"/>
              </a:rPr>
              <a:t>停机，不接受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7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17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8B7BCE-C8C0-8B4B-BAD8-D5A4C7D91388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0962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0963" name="Rectangle 5"/>
          <p:cNvSpPr>
            <a:spLocks noChangeArrowheads="1"/>
          </p:cNvSpPr>
          <p:nvPr/>
        </p:nvSpPr>
        <p:spPr bwMode="auto">
          <a:xfrm>
            <a:off x="1476375" y="549275"/>
            <a:ext cx="7253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>
                <a:solidFill>
                  <a:srgbClr val="800080"/>
                </a:solidFill>
                <a:ea typeface="华文行楷" charset="-122"/>
              </a:rPr>
              <a:t>5.2.2  </a:t>
            </a:r>
            <a:r>
              <a:rPr lang="zh-CN" altLang="en-US" sz="2400">
                <a:solidFill>
                  <a:srgbClr val="336699"/>
                </a:solidFill>
                <a:ea typeface="华文行楷" charset="-122"/>
              </a:rPr>
              <a:t>多道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（</a:t>
            </a:r>
            <a:r>
              <a:rPr lang="en-US" altLang="zh-CN" sz="2400" i="1">
                <a:solidFill>
                  <a:srgbClr val="333399"/>
                </a:solidFill>
                <a:latin typeface="Arial" charset="0"/>
                <a:ea typeface="华文行楷" charset="-122"/>
              </a:rPr>
              <a:t>multiple tracks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）图灵机</a:t>
            </a:r>
            <a:endParaRPr lang="zh-CN" altLang="en-US" sz="2400">
              <a:solidFill>
                <a:srgbClr val="333399"/>
              </a:solidFill>
              <a:latin typeface="Arial" charset="0"/>
              <a:ea typeface="华文行楷" charset="-122"/>
              <a:sym typeface="Symbol" charset="2"/>
            </a:endParaRPr>
          </a:p>
        </p:txBody>
      </p:sp>
      <p:graphicFrame>
        <p:nvGraphicFramePr>
          <p:cNvPr id="40964" name="Object 7"/>
          <p:cNvGraphicFramePr>
            <a:graphicFrameLocks noChangeAspect="1"/>
          </p:cNvGraphicFramePr>
          <p:nvPr/>
        </p:nvGraphicFramePr>
        <p:xfrm>
          <a:off x="1979613" y="3644900"/>
          <a:ext cx="4956175" cy="243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956048" imgH="2438400" progId="Visio.Drawing.6">
                  <p:embed/>
                </p:oleObj>
              </mc:Choice>
              <mc:Fallback>
                <p:oleObj name="VISIO" r:id="rId2" imgW="4956048" imgH="2438400" progId="Visio.Drawing.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644900"/>
                        <a:ext cx="4956175" cy="243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Rectangle 8"/>
          <p:cNvSpPr>
            <a:spLocks noChangeArrowheads="1"/>
          </p:cNvSpPr>
          <p:nvPr/>
        </p:nvSpPr>
        <p:spPr bwMode="auto">
          <a:xfrm>
            <a:off x="684213" y="1484313"/>
            <a:ext cx="7878762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把图灵机的输入带分成两层或多层，这样，原来的每一单元变成了上下两个或多个单元。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333399"/>
              </a:solidFill>
              <a:ea typeface="华文行楷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对含有</a:t>
            </a:r>
            <a:r>
              <a:rPr lang="en-US" altLang="zh-CN" sz="2400">
                <a:solidFill>
                  <a:srgbClr val="333399"/>
                </a:solidFill>
                <a:ea typeface="华文行楷" charset="-122"/>
              </a:rPr>
              <a:t>n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层的输入带来说，读写头一次可同时读出并改写</a:t>
            </a:r>
            <a:r>
              <a:rPr lang="en-US" altLang="zh-CN" sz="2400">
                <a:solidFill>
                  <a:srgbClr val="333399"/>
                </a:solidFill>
                <a:ea typeface="华文行楷" charset="-122"/>
              </a:rPr>
              <a:t>n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个单元的字符，这样的图灵机称为</a:t>
            </a:r>
            <a:r>
              <a:rPr lang="en-US" altLang="zh-CN" sz="2400">
                <a:solidFill>
                  <a:srgbClr val="333399"/>
                </a:solidFill>
                <a:ea typeface="华文行楷" charset="-122"/>
              </a:rPr>
              <a:t>n</a:t>
            </a:r>
            <a:r>
              <a:rPr lang="zh-CN" altLang="en-US" sz="2400">
                <a:solidFill>
                  <a:srgbClr val="333399"/>
                </a:solidFill>
                <a:ea typeface="华文行楷" charset="-122"/>
              </a:rPr>
              <a:t>道机。</a:t>
            </a:r>
            <a:r>
              <a:rPr lang="zh-CN" altLang="en-US" sz="1800" b="0">
                <a:solidFill>
                  <a:srgbClr val="009999"/>
                </a:solidFill>
                <a:ea typeface="宋体" charset="-122"/>
              </a:rPr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4DAD4B-0F0C-004C-894E-A567C989D97D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198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1987" name="Rectangle 2"/>
          <p:cNvSpPr>
            <a:spLocks noChangeArrowheads="1"/>
          </p:cNvSpPr>
          <p:nvPr/>
        </p:nvSpPr>
        <p:spPr bwMode="auto">
          <a:xfrm>
            <a:off x="2411413" y="476250"/>
            <a:ext cx="4248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3200">
                <a:solidFill>
                  <a:srgbClr val="336699"/>
                </a:solidFill>
                <a:ea typeface="华文行楷" charset="-122"/>
              </a:rPr>
              <a:t>例： 多道</a:t>
            </a:r>
            <a:r>
              <a:rPr lang="zh-CN" altLang="en-US" sz="3200">
                <a:solidFill>
                  <a:srgbClr val="333399"/>
                </a:solidFill>
                <a:ea typeface="华文行楷" charset="-122"/>
              </a:rPr>
              <a:t>图灵机</a:t>
            </a:r>
            <a:endParaRPr lang="zh-CN" altLang="en-US" sz="3200">
              <a:solidFill>
                <a:srgbClr val="333399"/>
              </a:solidFill>
              <a:latin typeface="Arial" charset="0"/>
              <a:ea typeface="华文行楷" charset="-122"/>
              <a:sym typeface="Symbol" charset="2"/>
            </a:endParaRPr>
          </a:p>
        </p:txBody>
      </p:sp>
      <p:sp>
        <p:nvSpPr>
          <p:cNvPr id="776195" name="Rectangle 3"/>
          <p:cNvSpPr>
            <a:spLocks noChangeArrowheads="1"/>
          </p:cNvSpPr>
          <p:nvPr/>
        </p:nvSpPr>
        <p:spPr bwMode="auto">
          <a:xfrm>
            <a:off x="539750" y="1412875"/>
            <a:ext cx="8208963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例：用三道机，检查某个数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（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n&gt;2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）是否为素数。（书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p196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）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思路：将被检查的数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以二进制形式写在输入带的第一道上，数的两端分别用￥和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Ф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定界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检查方法：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在第二道上写下一个二进制数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2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把第一道上的数复制到第三道上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将第三道上的数反复减去第二道上的数，余数留在第三道上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若余数为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，被检查的数不是素数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若余数不为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，将第二道数加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，将第一道数复制到第三道，重复上述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3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，</a:t>
            </a:r>
            <a:r>
              <a:rPr lang="en-US" altLang="zh-CN" sz="2000">
                <a:solidFill>
                  <a:srgbClr val="336699"/>
                </a:solidFill>
                <a:ea typeface="宋体" charset="-122"/>
              </a:rPr>
              <a:t>4</a:t>
            </a: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过程</a:t>
            </a:r>
          </a:p>
          <a:p>
            <a:pPr>
              <a:buFont typeface="Wingdings" charset="2"/>
              <a:buNone/>
            </a:pPr>
            <a:r>
              <a:rPr lang="zh-CN" altLang="en-US" sz="2000">
                <a:solidFill>
                  <a:srgbClr val="336699"/>
                </a:solidFill>
                <a:ea typeface="宋体" charset="-122"/>
              </a:rPr>
              <a:t>当一，二道数相等时，该数是素数。</a:t>
            </a:r>
            <a:r>
              <a:rPr lang="en-US" altLang="zh-CN">
                <a:solidFill>
                  <a:srgbClr val="336699"/>
                </a:solidFill>
                <a:latin typeface="Arial" charset="0"/>
                <a:ea typeface="华文行楷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7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619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60204D-F1E6-CA44-9BEC-BBEDD99F75D2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3010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3011" name="Rectangle 5"/>
          <p:cNvSpPr>
            <a:spLocks noChangeArrowheads="1"/>
          </p:cNvSpPr>
          <p:nvPr/>
        </p:nvSpPr>
        <p:spPr bwMode="auto">
          <a:xfrm>
            <a:off x="1476375" y="476250"/>
            <a:ext cx="7451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charset="-122"/>
              </a:rPr>
              <a:t> </a:t>
            </a:r>
            <a:r>
              <a:rPr lang="en-US" altLang="zh-CN" sz="3200">
                <a:solidFill>
                  <a:srgbClr val="800080"/>
                </a:solidFill>
                <a:ea typeface="华文行楷" charset="-122"/>
              </a:rPr>
              <a:t>5.2.3  </a:t>
            </a:r>
            <a:r>
              <a:rPr lang="zh-CN" altLang="en-US" sz="3200">
                <a:solidFill>
                  <a:srgbClr val="333399"/>
                </a:solidFill>
                <a:ea typeface="华文行楷" charset="-122"/>
              </a:rPr>
              <a:t>核对符</a:t>
            </a:r>
          </a:p>
        </p:txBody>
      </p:sp>
      <p:sp>
        <p:nvSpPr>
          <p:cNvPr id="43012" name="Rectangle 6"/>
          <p:cNvSpPr>
            <a:spLocks noChangeArrowheads="1"/>
          </p:cNvSpPr>
          <p:nvPr/>
        </p:nvSpPr>
        <p:spPr bwMode="auto">
          <a:xfrm>
            <a:off x="395288" y="1773238"/>
            <a:ext cx="8281987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楷体_GB2312" charset="0"/>
              </a:rPr>
              <a:t>    当用图灵机识别语言时，如果语言中存在有重复性或可逆性等类型的句子时，为了判定某个字符串是否属于语句中的句子，可以使用一个核对符，以此增加图灵机的灵活性。</a:t>
            </a:r>
          </a:p>
          <a:p>
            <a:pPr>
              <a:buFont typeface="Wingdings" charset="2"/>
              <a:buNone/>
            </a:pPr>
            <a:endParaRPr lang="zh-CN" altLang="en-US" sz="2400" dirty="0">
              <a:solidFill>
                <a:srgbClr val="333399"/>
              </a:solidFill>
              <a:latin typeface="楷体_GB2312" charset="0"/>
            </a:endParaRPr>
          </a:p>
          <a:p>
            <a:pPr>
              <a:buFont typeface="Wingdings" charset="2"/>
              <a:buNone/>
            </a:pPr>
            <a:r>
              <a:rPr lang="zh-CN" altLang="en-US" sz="2400" dirty="0">
                <a:solidFill>
                  <a:srgbClr val="333399"/>
                </a:solidFill>
                <a:latin typeface="楷体_GB2312" charset="0"/>
              </a:rPr>
              <a:t>   考虑用一个双道机，在第二道上使用核对符</a:t>
            </a:r>
            <a:r>
              <a:rPr lang="zh-CN" altLang="en-US" sz="2400" dirty="0">
                <a:solidFill>
                  <a:srgbClr val="333399"/>
                </a:solidFill>
              </a:rPr>
              <a:t>“</a:t>
            </a:r>
            <a:r>
              <a:rPr lang="zh-CN" altLang="en-US" sz="2400" dirty="0">
                <a:solidFill>
                  <a:srgbClr val="333399"/>
                </a:solidFill>
                <a:latin typeface="楷体_GB2312" charset="0"/>
                <a:sym typeface="Symbol" charset="2"/>
              </a:rPr>
              <a:t></a:t>
            </a:r>
            <a:r>
              <a:rPr lang="zh-CN" altLang="en-US" sz="2400" dirty="0">
                <a:solidFill>
                  <a:srgbClr val="333399"/>
                </a:solidFill>
              </a:rPr>
              <a:t>”</a:t>
            </a:r>
            <a:r>
              <a:rPr lang="zh-CN" altLang="en-US" sz="2400" dirty="0">
                <a:solidFill>
                  <a:srgbClr val="333399"/>
                </a:solidFill>
                <a:latin typeface="楷体_GB2312" charset="0"/>
              </a:rPr>
              <a:t>，在第一道上放要被检查的字符串</a:t>
            </a:r>
            <a:r>
              <a:rPr lang="en-US" altLang="zh-CN" sz="2400" dirty="0">
                <a:solidFill>
                  <a:srgbClr val="333399"/>
                </a:solidFill>
                <a:latin typeface="楷体_GB2312" charset="0"/>
              </a:rPr>
              <a:t>,</a:t>
            </a:r>
            <a:r>
              <a:rPr lang="zh-CN" altLang="en-US" sz="2400" dirty="0">
                <a:solidFill>
                  <a:srgbClr val="333399"/>
                </a:solidFill>
                <a:latin typeface="楷体_GB2312" charset="0"/>
              </a:rPr>
              <a:t>当字符串中某个字符一旦被核对以后</a:t>
            </a:r>
            <a:r>
              <a:rPr lang="en-US" altLang="zh-CN" sz="2400" dirty="0">
                <a:solidFill>
                  <a:srgbClr val="333399"/>
                </a:solidFill>
                <a:latin typeface="楷体_GB2312" charset="0"/>
              </a:rPr>
              <a:t>,</a:t>
            </a:r>
            <a:r>
              <a:rPr lang="zh-CN" altLang="en-US" sz="2400" dirty="0">
                <a:solidFill>
                  <a:srgbClr val="333399"/>
                </a:solidFill>
                <a:latin typeface="楷体_GB2312" charset="0"/>
              </a:rPr>
              <a:t>可以在第二道上对应位置写上核对符</a:t>
            </a:r>
            <a:r>
              <a:rPr lang="zh-CN" altLang="en-US" sz="2400" dirty="0">
                <a:solidFill>
                  <a:srgbClr val="333399"/>
                </a:solidFill>
              </a:rPr>
              <a:t>“</a:t>
            </a:r>
            <a:r>
              <a:rPr lang="zh-CN" altLang="en-US" sz="2400" dirty="0">
                <a:solidFill>
                  <a:srgbClr val="333399"/>
                </a:solidFill>
                <a:latin typeface="楷体_GB2312" charset="0"/>
                <a:sym typeface="Symbol" charset="2"/>
              </a:rPr>
              <a:t></a:t>
            </a:r>
            <a:r>
              <a:rPr lang="zh-CN" altLang="en-US" sz="2400" dirty="0">
                <a:solidFill>
                  <a:srgbClr val="333399"/>
                </a:solidFill>
              </a:rPr>
              <a:t>”</a:t>
            </a:r>
            <a:r>
              <a:rPr lang="zh-CN" altLang="en-US" sz="2400" dirty="0">
                <a:solidFill>
                  <a:srgbClr val="333399"/>
                </a:solidFill>
                <a:latin typeface="楷体_GB2312" charset="0"/>
              </a:rPr>
              <a:t>。</a:t>
            </a:r>
            <a:endParaRPr lang="en-US" altLang="zh-CN" sz="2400" dirty="0">
              <a:solidFill>
                <a:srgbClr val="333399"/>
              </a:solidFill>
              <a:latin typeface="楷体_GB2312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758749-ADE1-4B45-9B57-B4CC8D62C9E5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4034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1476375" y="476250"/>
            <a:ext cx="7451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zh-CN" altLang="en-US" sz="3200">
                <a:solidFill>
                  <a:srgbClr val="800080"/>
                </a:solidFill>
                <a:ea typeface="华文行楷" charset="-122"/>
              </a:rPr>
              <a:t> </a:t>
            </a:r>
            <a:r>
              <a:rPr lang="en-US" altLang="zh-CN" sz="3200">
                <a:solidFill>
                  <a:srgbClr val="800080"/>
                </a:solidFill>
                <a:ea typeface="华文行楷" charset="-122"/>
              </a:rPr>
              <a:t>5.2.4  </a:t>
            </a:r>
            <a:r>
              <a:rPr lang="zh-CN" altLang="en-US" sz="3200">
                <a:solidFill>
                  <a:srgbClr val="333399"/>
                </a:solidFill>
                <a:ea typeface="华文行楷" charset="-122"/>
              </a:rPr>
              <a:t>移位</a:t>
            </a:r>
          </a:p>
        </p:txBody>
      </p:sp>
      <p:sp>
        <p:nvSpPr>
          <p:cNvPr id="44036" name="Rectangle 3"/>
          <p:cNvSpPr>
            <a:spLocks noChangeArrowheads="1"/>
          </p:cNvSpPr>
          <p:nvPr/>
        </p:nvSpPr>
        <p:spPr bwMode="auto">
          <a:xfrm>
            <a:off x="250825" y="1773238"/>
            <a:ext cx="8424863" cy="376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    可以让图灵机具备移位的功能，即对输入带上的字符进行移位操作。当需要在输入带上留出一部分空间时，可将输入带上的非空白符右移若干单元。</a:t>
            </a:r>
          </a:p>
          <a:p>
            <a:pPr>
              <a:buFont typeface="Wingdings" charset="2"/>
              <a:buNone/>
            </a:pPr>
            <a:endParaRPr lang="zh-CN" altLang="en-US">
              <a:solidFill>
                <a:srgbClr val="333399"/>
              </a:solidFill>
              <a:latin typeface="楷体_GB2312" charset="0"/>
            </a:endParaRPr>
          </a:p>
          <a:p>
            <a:pPr>
              <a:buFont typeface="Wingdings" charset="2"/>
              <a:buNone/>
            </a:pP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    假设需要输入带上的非空白字符右移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n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个单元，则可让控制器状态的第二个元素具有存储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n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单元的功能（</a:t>
            </a:r>
            <a:r>
              <a:rPr lang="en-US" altLang="zh-CN">
                <a:solidFill>
                  <a:srgbClr val="333399"/>
                </a:solidFill>
                <a:latin typeface="楷体_GB2312" charset="0"/>
              </a:rPr>
              <a:t>n</a:t>
            </a:r>
            <a:r>
              <a:rPr lang="zh-CN" altLang="en-US">
                <a:solidFill>
                  <a:srgbClr val="333399"/>
                </a:solidFill>
                <a:latin typeface="楷体_GB2312" charset="0"/>
              </a:rPr>
              <a:t>是有限数）</a:t>
            </a:r>
          </a:p>
          <a:p>
            <a:pPr>
              <a:buFont typeface="Wingdings" charset="2"/>
              <a:buNone/>
            </a:pPr>
            <a:endParaRPr lang="zh-CN" altLang="en-US">
              <a:solidFill>
                <a:srgbClr val="333399"/>
              </a:solidFill>
              <a:latin typeface="楷体_GB2312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B72487-89CE-474B-A47A-6642FD9D87F8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5058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5059" name="Rectangle 2"/>
          <p:cNvSpPr>
            <a:spLocks noChangeArrowheads="1"/>
          </p:cNvSpPr>
          <p:nvPr/>
        </p:nvSpPr>
        <p:spPr bwMode="auto">
          <a:xfrm>
            <a:off x="1116013" y="476250"/>
            <a:ext cx="7451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kumimoji="0" lang="zh-CN" altLang="en-US" sz="3200" dirty="0">
                <a:solidFill>
                  <a:srgbClr val="333399"/>
                </a:solidFill>
                <a:ea typeface="华文行楷" charset="-122"/>
              </a:rPr>
              <a:t>例：</a:t>
            </a:r>
            <a:r>
              <a:rPr lang="zh-CN" altLang="en-US" sz="2000" dirty="0">
                <a:solidFill>
                  <a:srgbClr val="333399"/>
                </a:solidFill>
                <a:ea typeface="宋体" charset="-122"/>
              </a:rPr>
              <a:t>构造图灵机</a:t>
            </a:r>
            <a:r>
              <a:rPr lang="en-US" altLang="zh-CN" sz="2000" dirty="0">
                <a:solidFill>
                  <a:srgbClr val="333399"/>
                </a:solidFill>
                <a:ea typeface="宋体" charset="-122"/>
              </a:rPr>
              <a:t>M</a:t>
            </a:r>
            <a:r>
              <a:rPr lang="zh-CN" altLang="en-US" sz="2000" dirty="0">
                <a:solidFill>
                  <a:srgbClr val="333399"/>
                </a:solidFill>
                <a:ea typeface="宋体" charset="-122"/>
              </a:rPr>
              <a:t>，要求它将带上非空白符向移动两个单元</a:t>
            </a:r>
          </a:p>
        </p:txBody>
      </p:sp>
      <p:sp>
        <p:nvSpPr>
          <p:cNvPr id="45060" name="Rectangle 3"/>
          <p:cNvSpPr>
            <a:spLocks noChangeArrowheads="1"/>
          </p:cNvSpPr>
          <p:nvPr/>
        </p:nvSpPr>
        <p:spPr bwMode="auto">
          <a:xfrm>
            <a:off x="250825" y="1216025"/>
            <a:ext cx="8424863" cy="52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sz="2400" dirty="0">
                <a:solidFill>
                  <a:srgbClr val="990099"/>
                </a:solidFill>
                <a:ea typeface="宋体" charset="-122"/>
              </a:rPr>
              <a:t>原带为   </a:t>
            </a:r>
            <a:r>
              <a:rPr lang="en-US" altLang="zh-CN" sz="2400" dirty="0">
                <a:solidFill>
                  <a:srgbClr val="990099"/>
                </a:solidFill>
                <a:ea typeface="宋体" charset="-122"/>
              </a:rPr>
              <a:t>a b c d B</a:t>
            </a:r>
            <a:r>
              <a:rPr lang="zh-CN" altLang="en-US" sz="2400" dirty="0">
                <a:solidFill>
                  <a:srgbClr val="990099"/>
                </a:solidFill>
                <a:ea typeface="宋体" charset="-122"/>
              </a:rPr>
              <a:t>，         移后为 </a:t>
            </a:r>
            <a:r>
              <a:rPr lang="en-US" altLang="zh-CN" sz="2400" dirty="0">
                <a:solidFill>
                  <a:srgbClr val="990099"/>
                </a:solidFill>
                <a:ea typeface="宋体" charset="-122"/>
              </a:rPr>
              <a:t>z </a:t>
            </a:r>
            <a:r>
              <a:rPr lang="en-US" altLang="zh-CN" sz="2400" dirty="0" err="1">
                <a:solidFill>
                  <a:srgbClr val="990099"/>
                </a:solidFill>
                <a:ea typeface="宋体" charset="-122"/>
              </a:rPr>
              <a:t>z</a:t>
            </a:r>
            <a:r>
              <a:rPr lang="en-US" altLang="zh-CN" sz="2400" dirty="0">
                <a:solidFill>
                  <a:srgbClr val="990099"/>
                </a:solidFill>
                <a:ea typeface="宋体" charset="-122"/>
              </a:rPr>
              <a:t> a b c d B</a:t>
            </a:r>
          </a:p>
          <a:p>
            <a:pPr>
              <a:buFont typeface="Wingdings" charset="2"/>
              <a:buNone/>
            </a:pPr>
            <a:r>
              <a:rPr lang="zh-CN" altLang="en-US" sz="2400" dirty="0">
                <a:solidFill>
                  <a:srgbClr val="336699"/>
                </a:solidFill>
                <a:ea typeface="宋体" charset="-122"/>
              </a:rPr>
              <a:t>设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M=(Q, T, ∑, δ, q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, B, F)</a:t>
            </a:r>
            <a:r>
              <a:rPr lang="zh-CN" altLang="en-US" sz="2400" dirty="0">
                <a:solidFill>
                  <a:srgbClr val="336699"/>
                </a:solidFill>
                <a:ea typeface="宋体" charset="-122"/>
              </a:rPr>
              <a:t>； 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Q={[q, D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] │q=q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,q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,</a:t>
            </a:r>
            <a:r>
              <a:rPr lang="zh-CN" altLang="en-US" sz="2400" dirty="0">
                <a:solidFill>
                  <a:srgbClr val="336699"/>
                </a:solidFill>
                <a:ea typeface="宋体" charset="-122"/>
              </a:rPr>
              <a:t>且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D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,D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,</a:t>
            </a:r>
            <a:r>
              <a:rPr lang="en-US" altLang="zh-CN" sz="2400" dirty="0">
                <a:solidFill>
                  <a:srgbClr val="336699"/>
                </a:solidFill>
                <a:latin typeface="Arial" charset="0"/>
                <a:ea typeface="宋体" charset="-122"/>
              </a:rPr>
              <a:t>…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D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∈∑}</a:t>
            </a:r>
          </a:p>
          <a:p>
            <a:pPr>
              <a:buFont typeface="Wingdings" charset="2"/>
              <a:buNone/>
            </a:pPr>
            <a:r>
              <a:rPr lang="zh-CN" altLang="en-US" sz="2400" dirty="0">
                <a:solidFill>
                  <a:srgbClr val="336699"/>
                </a:solidFill>
                <a:ea typeface="宋体" charset="-122"/>
              </a:rPr>
              <a:t>初始：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[q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, B, B],  </a:t>
            </a:r>
            <a:r>
              <a:rPr lang="zh-CN" altLang="en-US" sz="2400" dirty="0">
                <a:solidFill>
                  <a:srgbClr val="336699"/>
                </a:solidFill>
                <a:ea typeface="宋体" charset="-122"/>
              </a:rPr>
              <a:t>终态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[q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, B, B]</a:t>
            </a:r>
          </a:p>
          <a:p>
            <a:pPr>
              <a:buFont typeface="Wingdings" charset="2"/>
              <a:buNone/>
            </a:pP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δ</a:t>
            </a:r>
            <a:r>
              <a:rPr lang="zh-CN" altLang="en-US" sz="2400" dirty="0">
                <a:solidFill>
                  <a:srgbClr val="336699"/>
                </a:solidFill>
                <a:ea typeface="宋体" charset="-122"/>
              </a:rPr>
              <a:t>定义：</a:t>
            </a:r>
          </a:p>
          <a:p>
            <a:pPr lvl="1"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B, B],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)=([q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B,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], Z, R)</a:t>
            </a:r>
          </a:p>
          <a:p>
            <a:pPr lvl="1"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B,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],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)=([q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], Z, R)</a:t>
            </a:r>
          </a:p>
          <a:p>
            <a:pPr lvl="1"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], D3)=([q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2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3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],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R)</a:t>
            </a:r>
          </a:p>
          <a:p>
            <a:pPr lvl="1"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n-1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], B)=([q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B],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n-1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R)</a:t>
            </a:r>
          </a:p>
          <a:p>
            <a:pPr lvl="1">
              <a:buClr>
                <a:schemeClr val="folHlink"/>
              </a:buClr>
              <a:buSzPct val="60000"/>
              <a:buFont typeface="Wingdings" charset="2"/>
              <a:buNone/>
            </a:pP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0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D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n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B], B)=([q</a:t>
            </a:r>
            <a:r>
              <a:rPr lang="en-US" altLang="zh-CN" sz="2400" b="1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b="1" dirty="0">
                <a:solidFill>
                  <a:srgbClr val="336699"/>
                </a:solidFill>
                <a:ea typeface="宋体" charset="-122"/>
              </a:rPr>
              <a:t>, B, B], Dn, L)</a:t>
            </a:r>
          </a:p>
          <a:p>
            <a:pPr>
              <a:buFont typeface="Wingdings" charset="2"/>
              <a:buNone/>
            </a:pPr>
            <a:r>
              <a:rPr lang="zh-CN" altLang="en-US" sz="2400" dirty="0">
                <a:solidFill>
                  <a:srgbClr val="336699"/>
                </a:solidFill>
                <a:ea typeface="宋体" charset="-122"/>
              </a:rPr>
              <a:t>对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D∈∑</a:t>
            </a:r>
            <a:r>
              <a:rPr lang="zh-CN" altLang="en-US" sz="2400" dirty="0">
                <a:solidFill>
                  <a:srgbClr val="336699"/>
                </a:solidFill>
                <a:ea typeface="宋体" charset="-122"/>
              </a:rPr>
              <a:t>－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{ B, Z}:</a:t>
            </a:r>
          </a:p>
          <a:p>
            <a:pPr>
              <a:buFont typeface="Wingdings" charset="2"/>
              <a:buNone/>
            </a:pP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δ([q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, B, B],D)=([q</a:t>
            </a:r>
            <a:r>
              <a:rPr lang="en-US" altLang="zh-CN" sz="2400" baseline="-25000" dirty="0">
                <a:solidFill>
                  <a:srgbClr val="336699"/>
                </a:solidFill>
                <a:ea typeface="宋体" charset="-122"/>
              </a:rPr>
              <a:t>1</a:t>
            </a:r>
            <a:r>
              <a:rPr lang="en-US" altLang="zh-CN" sz="2400" dirty="0">
                <a:solidFill>
                  <a:srgbClr val="336699"/>
                </a:solidFill>
                <a:ea typeface="宋体" charset="-122"/>
              </a:rPr>
              <a:t>, B, B], D, L) </a:t>
            </a:r>
            <a:r>
              <a:rPr lang="zh-CN" altLang="en-US" sz="2400" dirty="0">
                <a:solidFill>
                  <a:srgbClr val="336699"/>
                </a:solidFill>
                <a:ea typeface="宋体" charset="-122"/>
              </a:rPr>
              <a:t>回到输入点</a:t>
            </a:r>
            <a:endParaRPr lang="en-US" altLang="zh-CN" sz="2400" dirty="0">
              <a:solidFill>
                <a:srgbClr val="336699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幻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7044D3-B106-F444-95AD-12331CEF8E1C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6082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6083" name="文本框 4"/>
          <p:cNvSpPr txBox="1">
            <a:spLocks noChangeArrowheads="1"/>
          </p:cNvSpPr>
          <p:nvPr/>
        </p:nvSpPr>
        <p:spPr bwMode="auto">
          <a:xfrm>
            <a:off x="1403350" y="2420938"/>
            <a:ext cx="62166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buFont typeface="Wingdings" charset="2"/>
              <a:buNone/>
            </a:pPr>
            <a:r>
              <a:rPr lang="zh-CN" altLang="en-US" sz="3600" b="0">
                <a:solidFill>
                  <a:srgbClr val="009999"/>
                </a:solidFill>
                <a:ea typeface="宋体" charset="-122"/>
              </a:rPr>
              <a:t>作业：</a:t>
            </a:r>
            <a:endParaRPr lang="en-US" altLang="zh-CN" sz="3600" b="0">
              <a:solidFill>
                <a:srgbClr val="009999"/>
              </a:solidFill>
              <a:ea typeface="宋体" charset="-122"/>
            </a:endParaRPr>
          </a:p>
          <a:p>
            <a:pPr>
              <a:buFont typeface="Wingdings" charset="2"/>
              <a:buNone/>
            </a:pPr>
            <a:r>
              <a:rPr lang="zh-CN" altLang="en-US" sz="3600" b="0">
                <a:solidFill>
                  <a:srgbClr val="009999"/>
                </a:solidFill>
                <a:ea typeface="宋体" charset="-122"/>
              </a:rPr>
              <a:t>第五章第二题 第三题（</a:t>
            </a:r>
            <a:r>
              <a:rPr lang="en-US" altLang="zh-CN" sz="3600" b="0">
                <a:solidFill>
                  <a:srgbClr val="009999"/>
                </a:solidFill>
                <a:ea typeface="宋体" charset="-122"/>
              </a:rPr>
              <a:t>1</a:t>
            </a:r>
            <a:r>
              <a:rPr lang="zh-CN" altLang="en-US" sz="3600" b="0">
                <a:solidFill>
                  <a:srgbClr val="009999"/>
                </a:solidFill>
                <a:ea typeface="宋体" charset="-122"/>
              </a:rPr>
              <a:t>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编号占位符 1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FE62AA-D070-5E48-A093-004399A2196F}" type="slidenum">
              <a:rPr kumimoji="0" lang="zh-CN" altLang="en-US" sz="1200">
                <a:solidFill>
                  <a:srgbClr val="009999"/>
                </a:solidFill>
                <a:latin typeface="Arial Narrow" charset="0"/>
                <a:ea typeface="宋体" charset="-122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kumimoji="0" lang="en-US" altLang="zh-CN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7106" name="页脚占位符 2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9999"/>
                </a:solidFill>
                <a:latin typeface="Arial Narrow" charset="0"/>
                <a:ea typeface="宋体" charset="-122"/>
              </a:rPr>
              <a:t>School of Computer Science &amp; Technology, BUPT</a:t>
            </a:r>
            <a:endParaRPr lang="zh-CN" altLang="en-US" sz="1200">
              <a:solidFill>
                <a:srgbClr val="009999"/>
              </a:solidFill>
              <a:latin typeface="Arial Narrow" charset="0"/>
              <a:ea typeface="宋体" charset="-122"/>
            </a:endParaRPr>
          </a:p>
        </p:txBody>
      </p:sp>
      <p:sp>
        <p:nvSpPr>
          <p:cNvPr id="47107" name="矩形 4"/>
          <p:cNvSpPr>
            <a:spLocks noChangeArrowheads="1"/>
          </p:cNvSpPr>
          <p:nvPr/>
        </p:nvSpPr>
        <p:spPr bwMode="auto">
          <a:xfrm>
            <a:off x="471488" y="1292225"/>
            <a:ext cx="8353425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2800" b="1">
                <a:solidFill>
                  <a:schemeClr val="tx1"/>
                </a:solidFill>
                <a:latin typeface="Times New Roman" charset="0"/>
                <a:ea typeface="楷体_GB2312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imes New Roman" charset="0"/>
                <a:ea typeface="楷体_GB2312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复习：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第二章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语言，运算，文法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第三章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有限自动机、三种类型，极小化，相互关系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右线性文法，正则文法，特性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文法与自动机的关系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有输出的自动机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第四章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推导树，二义性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上下文无关文法的变换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</a:t>
            </a:r>
            <a:r>
              <a:rPr lang="en-US" altLang="zh-CN" sz="2000" b="0" dirty="0">
                <a:solidFill>
                  <a:srgbClr val="009999"/>
                </a:solidFill>
                <a:ea typeface="宋体" charset="-122"/>
              </a:rPr>
              <a:t>C</a:t>
            </a: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范式</a:t>
            </a:r>
            <a:r>
              <a:rPr lang="en-US" altLang="zh-CN" sz="2000" b="0" dirty="0">
                <a:solidFill>
                  <a:srgbClr val="009999"/>
                </a:solidFill>
                <a:ea typeface="宋体" charset="-122"/>
              </a:rPr>
              <a:t>/G</a:t>
            </a: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范式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下推自动机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  文法与自动机的关系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  文法特性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第五章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0" dirty="0">
                <a:solidFill>
                  <a:srgbClr val="009999"/>
                </a:solidFill>
                <a:ea typeface="宋体" charset="-122"/>
              </a:rPr>
              <a:t>         图灵机</a:t>
            </a:r>
            <a:endParaRPr lang="en-US" altLang="zh-CN" sz="2000" b="0" dirty="0">
              <a:solidFill>
                <a:srgbClr val="009999"/>
              </a:solidFill>
              <a:ea typeface="宋体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D479173-9D74-194C-A7D7-6DA2EBAAA50C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0"/>
            <a:ext cx="4427984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16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443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D479173-9D74-194C-A7D7-6DA2EBAAA50C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School of Computer Science &amp; Technology, BUPT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0"/>
            <a:ext cx="5695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71624"/>
      </p:ext>
    </p:extLst>
  </p:cSld>
  <p:clrMapOvr>
    <a:masterClrMapping/>
  </p:clrMapOvr>
</p:sld>
</file>

<file path=ppt/theme/theme1.xml><?xml version="1.0" encoding="utf-8"?>
<a:theme xmlns:a="http://schemas.openxmlformats.org/drawingml/2006/main" name="自动机">
  <a:themeElements>
    <a:clrScheme name="自动机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动机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自动机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动机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动机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Settings\wang bai\Application Data\Microsoft\Templates\自动机.pot</Template>
  <TotalTime>3349</TotalTime>
  <Words>3637</Words>
  <Application>Microsoft Office PowerPoint</Application>
  <PresentationFormat>全屏显示(4:3)</PresentationFormat>
  <Paragraphs>376</Paragraphs>
  <Slides>31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华文行楷</vt:lpstr>
      <vt:lpstr>楷体_GB2312</vt:lpstr>
      <vt:lpstr>宋体</vt:lpstr>
      <vt:lpstr>Arial</vt:lpstr>
      <vt:lpstr>Arial Narrow</vt:lpstr>
      <vt:lpstr>Copperplate Gothic Light</vt:lpstr>
      <vt:lpstr>Tahoma</vt:lpstr>
      <vt:lpstr>Times New Roman</vt:lpstr>
      <vt:lpstr>Wingdings</vt:lpstr>
      <vt:lpstr>自动机</vt:lpstr>
      <vt:lpstr>图片</vt:lpstr>
      <vt:lpstr>VISIO</vt:lpstr>
      <vt:lpstr>Equation.DSMT4</vt:lpstr>
      <vt:lpstr>复习</vt:lpstr>
      <vt:lpstr>第五章  图灵机</vt:lpstr>
      <vt:lpstr>主要内容</vt:lpstr>
      <vt:lpstr>PowerPoint 演示文稿</vt:lpstr>
      <vt:lpstr>图灵机的工作机制</vt:lpstr>
      <vt:lpstr>PowerPoint 演示文稿</vt:lpstr>
      <vt:lpstr>图灵机的函数与格局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作为整数函数计算机的图灵机</vt:lpstr>
      <vt:lpstr>例3：设计图灵机求真减法</vt:lpstr>
      <vt:lpstr>求真减法（续）</vt:lpstr>
      <vt:lpstr>例4：L= 0 m  m=2n, n  0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 图灵机</dc:title>
  <dc:creator>Microsoft Office 用户</dc:creator>
  <cp:lastModifiedBy>文涛 刘</cp:lastModifiedBy>
  <cp:revision>23</cp:revision>
  <cp:lastPrinted>2001-10-15T13:50:08Z</cp:lastPrinted>
  <dcterms:created xsi:type="dcterms:W3CDTF">2018-06-19T14:27:35Z</dcterms:created>
  <dcterms:modified xsi:type="dcterms:W3CDTF">2026-06-17T06:23:19Z</dcterms:modified>
</cp:coreProperties>
</file>