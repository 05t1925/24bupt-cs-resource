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7" r:id="rId4"/>
    <p:sldId id="258" r:id="rId5"/>
    <p:sldId id="261" r:id="rId6"/>
    <p:sldId id="260" r:id="rId7"/>
    <p:sldId id="259" r:id="rId8"/>
    <p:sldId id="262" r:id="rId9"/>
    <p:sldId id="263" r:id="rId10"/>
    <p:sldId id="264" r:id="rId11"/>
    <p:sldId id="265"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31"/>
    <p:restoredTop sz="94643"/>
  </p:normalViewPr>
  <p:slideViewPr>
    <p:cSldViewPr snapToGrid="0" snapToObjects="1">
      <p:cViewPr varScale="1">
        <p:scale>
          <a:sx n="94" d="100"/>
          <a:sy n="94" d="100"/>
        </p:scale>
        <p:origin x="4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 Id="rId2" Type="http://schemas.openxmlformats.org/officeDocument/2006/relationships/image" Target="../media/image9.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973594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631704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smtClean="0"/>
              <a:t>单击此处编辑母版文本样式</a:t>
            </a:r>
          </a:p>
        </p:txBody>
      </p:sp>
      <p:sp>
        <p:nvSpPr>
          <p:cNvPr id="4" name="日期占位符 3"/>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782436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909002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65344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39523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532670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p>
        </p:txBody>
      </p:sp>
      <p:sp>
        <p:nvSpPr>
          <p:cNvPr id="5" name="日期占位符 4"/>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351797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p>
        </p:txBody>
      </p:sp>
      <p:sp>
        <p:nvSpPr>
          <p:cNvPr id="5" name="日期占位符 4"/>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49206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504569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78313BE1-B671-4D46-A63D-B40907938007}" type="datetimeFigureOut">
              <a:rPr kumimoji="1" lang="zh-CN" altLang="en-US" smtClean="0"/>
              <a:t>2022/6/6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68046699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313BE1-B671-4D46-A63D-B40907938007}" type="datetimeFigureOut">
              <a:rPr kumimoji="1" lang="zh-CN" altLang="en-US" smtClean="0"/>
              <a:t>2022/6/6</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D3618-77BD-0944-8B2C-F823630AFDA8}" type="slidenum">
              <a:rPr kumimoji="1" lang="zh-CN" altLang="en-US" smtClean="0"/>
              <a:t>‹#›</a:t>
            </a:fld>
            <a:endParaRPr kumimoji="1" lang="zh-CN" altLang="en-US"/>
          </a:p>
        </p:txBody>
      </p:sp>
    </p:spTree>
    <p:extLst>
      <p:ext uri="{BB962C8B-B14F-4D97-AF65-F5344CB8AC3E}">
        <p14:creationId xmlns:p14="http://schemas.microsoft.com/office/powerpoint/2010/main" val="173457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oleObject" Target="../embeddings/oleObject1.bin"/><Relationship Id="rId5" Type="http://schemas.openxmlformats.org/officeDocument/2006/relationships/image" Target="../media/image5.emf"/><Relationship Id="rId6" Type="http://schemas.openxmlformats.org/officeDocument/2006/relationships/image" Target="../media/image7.png"/><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8.wmf"/><Relationship Id="rId5" Type="http://schemas.openxmlformats.org/officeDocument/2006/relationships/oleObject" Target="../embeddings/oleObject3.bin"/><Relationship Id="rId6" Type="http://schemas.openxmlformats.org/officeDocument/2006/relationships/image" Target="../media/image9.emf"/><Relationship Id="rId7" Type="http://schemas.openxmlformats.org/officeDocument/2006/relationships/image" Target="../media/image10.png"/><Relationship Id="rId8" Type="http://schemas.openxmlformats.org/officeDocument/2006/relationships/image" Target="../media/image11.png"/><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zh-CN" altLang="en-US" sz="4400" dirty="0" smtClean="0"/>
              <a:t>上下文无关文法的应用与例题解析</a:t>
            </a:r>
            <a:endParaRPr kumimoji="1" lang="zh-CN" altLang="en-US" sz="4400" dirty="0"/>
          </a:p>
        </p:txBody>
      </p:sp>
      <p:sp>
        <p:nvSpPr>
          <p:cNvPr id="3" name="副标题 2"/>
          <p:cNvSpPr>
            <a:spLocks noGrp="1"/>
          </p:cNvSpPr>
          <p:nvPr>
            <p:ph type="subTitle" idx="1"/>
          </p:nvPr>
        </p:nvSpPr>
        <p:spPr/>
        <p:txBody>
          <a:bodyPr>
            <a:normAutofit/>
          </a:bodyPr>
          <a:lstStyle/>
          <a:p>
            <a:r>
              <a:rPr kumimoji="1" lang="en-US" altLang="zh-CN" sz="4000" dirty="0" smtClean="0"/>
              <a:t>4.8-4.9</a:t>
            </a:r>
            <a:endParaRPr kumimoji="1" lang="zh-CN" altLang="en-US" sz="4000" dirty="0"/>
          </a:p>
        </p:txBody>
      </p:sp>
    </p:spTree>
    <p:extLst>
      <p:ext uri="{BB962C8B-B14F-4D97-AF65-F5344CB8AC3E}">
        <p14:creationId xmlns:p14="http://schemas.microsoft.com/office/powerpoint/2010/main" val="1497983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第四章复习</a:t>
            </a:r>
            <a:endParaRPr kumimoji="1" lang="zh-CN" altLang="en-US" dirty="0"/>
          </a:p>
        </p:txBody>
      </p:sp>
      <p:sp>
        <p:nvSpPr>
          <p:cNvPr id="3" name="内容占位符 2"/>
          <p:cNvSpPr>
            <a:spLocks noGrp="1"/>
          </p:cNvSpPr>
          <p:nvPr>
            <p:ph idx="1"/>
          </p:nvPr>
        </p:nvSpPr>
        <p:spPr>
          <a:xfrm>
            <a:off x="838200" y="1825625"/>
            <a:ext cx="5262349" cy="4351338"/>
          </a:xfrm>
        </p:spPr>
        <p:txBody>
          <a:bodyPr/>
          <a:lstStyle/>
          <a:p>
            <a:r>
              <a:rPr kumimoji="1" lang="zh-CN" altLang="en-US" dirty="0" smtClean="0"/>
              <a:t>推导树，二义性</a:t>
            </a:r>
            <a:endParaRPr kumimoji="1" lang="en-US" altLang="zh-CN" dirty="0" smtClean="0"/>
          </a:p>
          <a:p>
            <a:r>
              <a:rPr kumimoji="1" lang="zh-CN" altLang="en-US" dirty="0" smtClean="0"/>
              <a:t>上下文无关文法变换</a:t>
            </a:r>
            <a:endParaRPr kumimoji="1" lang="en-US" altLang="zh-CN" dirty="0" smtClean="0"/>
          </a:p>
          <a:p>
            <a:r>
              <a:rPr kumimoji="1" lang="en-US" altLang="zh-CN" dirty="0" smtClean="0"/>
              <a:t>C</a:t>
            </a:r>
            <a:r>
              <a:rPr kumimoji="1" lang="zh-CN" altLang="en-US" dirty="0" smtClean="0"/>
              <a:t>范式</a:t>
            </a:r>
            <a:r>
              <a:rPr kumimoji="1" lang="en-US" altLang="zh-CN" dirty="0" smtClean="0"/>
              <a:t>/G</a:t>
            </a:r>
            <a:r>
              <a:rPr kumimoji="1" lang="zh-CN" altLang="en-US" dirty="0" smtClean="0"/>
              <a:t>范式</a:t>
            </a:r>
            <a:endParaRPr kumimoji="1" lang="en-US" altLang="zh-CN" dirty="0" smtClean="0"/>
          </a:p>
          <a:p>
            <a:r>
              <a:rPr kumimoji="1" lang="zh-CN" altLang="en-US" dirty="0" smtClean="0"/>
              <a:t>下推自动机</a:t>
            </a:r>
            <a:endParaRPr kumimoji="1" lang="en-US" altLang="zh-CN" dirty="0" smtClean="0"/>
          </a:p>
          <a:p>
            <a:r>
              <a:rPr kumimoji="1" lang="zh-CN" altLang="en-US" dirty="0" smtClean="0"/>
              <a:t>上下文无关文法与下推自动机相互变换</a:t>
            </a:r>
            <a:endParaRPr kumimoji="1" lang="zh-CN" altLang="en-US" dirty="0"/>
          </a:p>
        </p:txBody>
      </p:sp>
      <p:pic>
        <p:nvPicPr>
          <p:cNvPr id="4" name="图片 3"/>
          <p:cNvPicPr>
            <a:picLocks noChangeAspect="1"/>
          </p:cNvPicPr>
          <p:nvPr/>
        </p:nvPicPr>
        <p:blipFill>
          <a:blip r:embed="rId2"/>
          <a:stretch>
            <a:fillRect/>
          </a:stretch>
        </p:blipFill>
        <p:spPr>
          <a:xfrm>
            <a:off x="6575376" y="0"/>
            <a:ext cx="5616624" cy="6858000"/>
          </a:xfrm>
          <a:prstGeom prst="rect">
            <a:avLst/>
          </a:prstGeom>
        </p:spPr>
      </p:pic>
    </p:spTree>
    <p:extLst>
      <p:ext uri="{BB962C8B-B14F-4D97-AF65-F5344CB8AC3E}">
        <p14:creationId xmlns:p14="http://schemas.microsoft.com/office/powerpoint/2010/main" val="8815134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编辑器中的形式语言</a:t>
            </a:r>
            <a:endParaRPr kumimoji="1" lang="zh-CN" altLang="en-US" dirty="0"/>
          </a:p>
        </p:txBody>
      </p:sp>
      <p:sp>
        <p:nvSpPr>
          <p:cNvPr id="3" name="内容占位符 2"/>
          <p:cNvSpPr>
            <a:spLocks noGrp="1"/>
          </p:cNvSpPr>
          <p:nvPr>
            <p:ph idx="1"/>
          </p:nvPr>
        </p:nvSpPr>
        <p:spPr/>
        <p:txBody>
          <a:bodyPr/>
          <a:lstStyle/>
          <a:p>
            <a:r>
              <a:rPr lang="zh-CN" altLang="zh-CN" dirty="0"/>
              <a:t>编译器中使用正则表达式、正则语言和</a:t>
            </a:r>
            <a:r>
              <a:rPr lang="en-US" altLang="zh-CN" dirty="0"/>
              <a:t>DFA</a:t>
            </a:r>
            <a:r>
              <a:rPr lang="zh-CN" altLang="zh-CN" dirty="0"/>
              <a:t>等工具实现了词法分析</a:t>
            </a:r>
            <a:r>
              <a:rPr lang="zh-CN" altLang="zh-CN" dirty="0" smtClean="0"/>
              <a:t>。</a:t>
            </a:r>
            <a:endParaRPr lang="zh-CN" altLang="en-US" dirty="0" smtClean="0"/>
          </a:p>
          <a:p>
            <a:pPr lvl="1"/>
            <a:r>
              <a:rPr lang="zh-CN" altLang="zh-CN" dirty="0" smtClean="0"/>
              <a:t>词法</a:t>
            </a:r>
            <a:r>
              <a:rPr lang="zh-CN" altLang="zh-CN" dirty="0"/>
              <a:t>分析就是采用正则语言等工具将输入的字符串分解成一个个的单词流，也就是诸如编程语言中的关键字、标识符这样有特定意义的单词。</a:t>
            </a:r>
            <a:r>
              <a:rPr lang="zh-CN" altLang="zh-CN" dirty="0" smtClean="0">
                <a:effectLst/>
              </a:rPr>
              <a:t> </a:t>
            </a:r>
            <a:endParaRPr lang="zh-CN" altLang="en-US" dirty="0" smtClean="0">
              <a:effectLst/>
            </a:endParaRPr>
          </a:p>
          <a:p>
            <a:r>
              <a:rPr lang="zh-CN" altLang="zh-CN" dirty="0" smtClean="0"/>
              <a:t>编程语言必须定义</a:t>
            </a:r>
            <a:r>
              <a:rPr lang="zh-CN" altLang="zh-CN" dirty="0"/>
              <a:t>出各种声明、语句和表达式的语法</a:t>
            </a:r>
            <a:r>
              <a:rPr lang="zh-CN" altLang="zh-CN" dirty="0" smtClean="0"/>
              <a:t>规则。</a:t>
            </a:r>
            <a:endParaRPr lang="zh-CN" altLang="en-US" dirty="0" smtClean="0"/>
          </a:p>
          <a:p>
            <a:pPr lvl="1"/>
            <a:r>
              <a:rPr lang="zh-CN" altLang="zh-CN" dirty="0"/>
              <a:t>回顾熟悉的编程语言，我们会发现其语法大都有某种递归的性质</a:t>
            </a:r>
            <a:r>
              <a:rPr lang="zh-CN" altLang="zh-CN" dirty="0" smtClean="0"/>
              <a:t>。</a:t>
            </a:r>
            <a:endParaRPr lang="zh-CN" altLang="en-US" dirty="0" smtClean="0"/>
          </a:p>
          <a:p>
            <a:pPr lvl="1"/>
            <a:r>
              <a:rPr lang="zh-CN" altLang="zh-CN" dirty="0"/>
              <a:t>正则表达式和正则语言无法描述</a:t>
            </a:r>
            <a:r>
              <a:rPr lang="zh-CN" altLang="zh-CN" dirty="0" smtClean="0"/>
              <a:t>这种</a:t>
            </a:r>
            <a:r>
              <a:rPr lang="zh-CN" altLang="en-US" dirty="0" smtClean="0"/>
              <a:t>递归</a:t>
            </a:r>
            <a:r>
              <a:rPr lang="zh-CN" altLang="zh-CN" dirty="0" smtClean="0"/>
              <a:t>结构</a:t>
            </a:r>
            <a:r>
              <a:rPr lang="zh-CN" altLang="zh-CN" dirty="0"/>
              <a:t>。</a:t>
            </a:r>
            <a:r>
              <a:rPr lang="zh-CN" altLang="zh-CN" dirty="0" smtClean="0">
                <a:effectLst/>
              </a:rPr>
              <a:t> </a:t>
            </a:r>
            <a:endParaRPr lang="zh-CN" altLang="en-US" dirty="0" smtClean="0">
              <a:effectLst/>
            </a:endParaRPr>
          </a:p>
          <a:p>
            <a:pPr lvl="1"/>
            <a:r>
              <a:rPr lang="zh-CN" altLang="zh-CN" dirty="0"/>
              <a:t>而是使用一种表现能力更强的语言</a:t>
            </a:r>
            <a:r>
              <a:rPr lang="en-US" altLang="zh-CN" dirty="0"/>
              <a:t>——</a:t>
            </a:r>
            <a:r>
              <a:rPr lang="zh-CN" altLang="zh-CN" dirty="0"/>
              <a:t>上下文无关语言。</a:t>
            </a:r>
            <a:r>
              <a:rPr lang="zh-CN" altLang="zh-CN" dirty="0" smtClean="0">
                <a:effectLst/>
              </a:rPr>
              <a:t>   </a:t>
            </a:r>
            <a:endParaRPr kumimoji="1" lang="zh-CN" altLang="en-US" dirty="0"/>
          </a:p>
        </p:txBody>
      </p:sp>
    </p:spTree>
    <p:extLst>
      <p:ext uri="{BB962C8B-B14F-4D97-AF65-F5344CB8AC3E}">
        <p14:creationId xmlns:p14="http://schemas.microsoft.com/office/powerpoint/2010/main" val="4987778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上下文无关文法在语法分析中的应用</a:t>
            </a:r>
            <a:r>
              <a:rPr lang="zh-CN" altLang="zh-CN" dirty="0" smtClean="0">
                <a:effectLst/>
              </a:rPr>
              <a:t> </a:t>
            </a:r>
            <a:r>
              <a:rPr lang="en-US" altLang="zh-CN" dirty="0" smtClean="0">
                <a:effectLst/>
              </a:rPr>
              <a:t>1</a:t>
            </a:r>
            <a:endParaRPr kumimoji="1" lang="zh-CN" altLang="en-US" dirty="0"/>
          </a:p>
        </p:txBody>
      </p:sp>
      <p:sp>
        <p:nvSpPr>
          <p:cNvPr id="3" name="内容占位符 2"/>
          <p:cNvSpPr>
            <a:spLocks noGrp="1"/>
          </p:cNvSpPr>
          <p:nvPr>
            <p:ph idx="1"/>
          </p:nvPr>
        </p:nvSpPr>
        <p:spPr/>
        <p:txBody>
          <a:bodyPr/>
          <a:lstStyle/>
          <a:p>
            <a:r>
              <a:rPr kumimoji="1" lang="zh-CN" altLang="en-US" dirty="0" smtClean="0"/>
              <a:t>例</a:t>
            </a:r>
            <a:r>
              <a:rPr kumimoji="1" lang="en-US" altLang="zh-CN" dirty="0" smtClean="0"/>
              <a:t>1</a:t>
            </a:r>
            <a:endParaRPr kumimoji="1" lang="zh-CN" altLang="en-US" dirty="0" smtClean="0"/>
          </a:p>
          <a:p>
            <a:pPr lvl="1"/>
            <a:r>
              <a:rPr lang="en-US" altLang="zh-CN" dirty="0"/>
              <a:t>G=({E},{id, +, (, )},P, E)  </a:t>
            </a:r>
            <a:endParaRPr lang="zh-CN" altLang="zh-CN" sz="4000" dirty="0"/>
          </a:p>
          <a:p>
            <a:pPr lvl="1"/>
            <a:r>
              <a:rPr lang="en-US" altLang="zh-CN" dirty="0"/>
              <a:t>//id</a:t>
            </a:r>
            <a:r>
              <a:rPr lang="zh-CN" altLang="zh-CN" dirty="0"/>
              <a:t>是表示变量的标识符</a:t>
            </a:r>
            <a:endParaRPr lang="zh-CN" altLang="zh-CN" sz="4000" dirty="0"/>
          </a:p>
          <a:p>
            <a:pPr lvl="1"/>
            <a:r>
              <a:rPr lang="en-US" altLang="zh-CN" dirty="0"/>
              <a:t>E → id</a:t>
            </a:r>
            <a:br>
              <a:rPr lang="en-US" altLang="zh-CN" dirty="0"/>
            </a:br>
            <a:r>
              <a:rPr lang="en-US" altLang="zh-CN" dirty="0"/>
              <a:t>E → E + E</a:t>
            </a:r>
            <a:br>
              <a:rPr lang="en-US" altLang="zh-CN" dirty="0"/>
            </a:br>
            <a:r>
              <a:rPr lang="en-US" altLang="zh-CN" dirty="0"/>
              <a:t>E → ( E )</a:t>
            </a:r>
            <a:r>
              <a:rPr lang="zh-CN" altLang="zh-CN" dirty="0" smtClean="0">
                <a:effectLst/>
              </a:rPr>
              <a:t> </a:t>
            </a:r>
            <a:endParaRPr lang="zh-CN" altLang="en-US" dirty="0" smtClean="0">
              <a:effectLst/>
            </a:endParaRPr>
          </a:p>
          <a:p>
            <a:pPr lvl="1"/>
            <a:endParaRPr kumimoji="1" lang="zh-CN" altLang="en-US" dirty="0"/>
          </a:p>
          <a:p>
            <a:r>
              <a:rPr lang="zh-CN" altLang="zh-CN" dirty="0"/>
              <a:t>表达式</a:t>
            </a:r>
            <a:r>
              <a:rPr lang="en-US" altLang="zh-CN" dirty="0"/>
              <a:t>(a + b) + c</a:t>
            </a:r>
            <a:r>
              <a:rPr lang="zh-CN" altLang="zh-CN" dirty="0"/>
              <a:t>的推导过程</a:t>
            </a:r>
            <a:r>
              <a:rPr lang="zh-CN" altLang="zh-CN" dirty="0" smtClean="0">
                <a:effectLst/>
              </a:rPr>
              <a:t> </a:t>
            </a:r>
            <a:r>
              <a:rPr lang="zh-CN" altLang="en-US" dirty="0" smtClean="0">
                <a:effectLst/>
              </a:rPr>
              <a:t>及推导树</a:t>
            </a:r>
            <a:endParaRPr kumimoji="1" lang="zh-CN" altLang="en-US" dirty="0"/>
          </a:p>
        </p:txBody>
      </p:sp>
    </p:spTree>
    <p:extLst>
      <p:ext uri="{BB962C8B-B14F-4D97-AF65-F5344CB8AC3E}">
        <p14:creationId xmlns:p14="http://schemas.microsoft.com/office/powerpoint/2010/main" val="21307943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上下文无关文法在语法分析中的</a:t>
            </a:r>
            <a:r>
              <a:rPr lang="zh-CN" altLang="zh-CN" dirty="0" smtClean="0"/>
              <a:t>应用</a:t>
            </a:r>
            <a:r>
              <a:rPr lang="en-US" altLang="zh-CN" dirty="0" smtClean="0"/>
              <a:t>2</a:t>
            </a:r>
            <a:r>
              <a:rPr lang="zh-CN" altLang="zh-CN" dirty="0" smtClean="0">
                <a:effectLst/>
              </a:rPr>
              <a:t> </a:t>
            </a:r>
            <a:endParaRPr kumimoji="1" lang="zh-CN" altLang="en-US" dirty="0"/>
          </a:p>
        </p:txBody>
      </p:sp>
      <p:sp>
        <p:nvSpPr>
          <p:cNvPr id="4" name="内容占位符 3"/>
          <p:cNvSpPr>
            <a:spLocks noGrp="1"/>
          </p:cNvSpPr>
          <p:nvPr>
            <p:ph idx="1"/>
          </p:nvPr>
        </p:nvSpPr>
        <p:spPr>
          <a:xfrm>
            <a:off x="6761922" y="1825625"/>
            <a:ext cx="4873487" cy="4351338"/>
          </a:xfrm>
        </p:spPr>
        <p:txBody>
          <a:bodyPr/>
          <a:lstStyle/>
          <a:p>
            <a:r>
              <a:rPr lang="en-US" altLang="zh-CN" dirty="0"/>
              <a:t>G=({E,T,F},{id, +, *</a:t>
            </a:r>
            <a:r>
              <a:rPr lang="zh-CN" altLang="zh-CN" dirty="0"/>
              <a:t>，</a:t>
            </a:r>
            <a:r>
              <a:rPr lang="en-US" altLang="zh-CN" dirty="0"/>
              <a:t>(, )},P, E)  </a:t>
            </a:r>
            <a:endParaRPr lang="zh-CN" altLang="zh-CN" dirty="0"/>
          </a:p>
          <a:p>
            <a:r>
              <a:rPr lang="en-US" altLang="zh-CN" dirty="0"/>
              <a:t>//id</a:t>
            </a:r>
            <a:r>
              <a:rPr lang="zh-CN" altLang="zh-CN" dirty="0"/>
              <a:t>是表示变量的标识符</a:t>
            </a:r>
          </a:p>
          <a:p>
            <a:r>
              <a:rPr lang="en-US" altLang="zh-CN" dirty="0"/>
              <a:t>E → E + T</a:t>
            </a:r>
            <a:br>
              <a:rPr lang="en-US" altLang="zh-CN" dirty="0"/>
            </a:br>
            <a:r>
              <a:rPr lang="en-US" altLang="zh-CN" dirty="0"/>
              <a:t>E → T</a:t>
            </a:r>
            <a:endParaRPr lang="zh-CN" altLang="zh-CN" dirty="0"/>
          </a:p>
          <a:p>
            <a:r>
              <a:rPr lang="en-US" altLang="zh-CN" dirty="0"/>
              <a:t>T → T * F</a:t>
            </a:r>
            <a:br>
              <a:rPr lang="en-US" altLang="zh-CN" dirty="0"/>
            </a:br>
            <a:r>
              <a:rPr lang="en-US" altLang="zh-CN" dirty="0"/>
              <a:t>T → F</a:t>
            </a:r>
            <a:endParaRPr lang="zh-CN" altLang="zh-CN" dirty="0"/>
          </a:p>
          <a:p>
            <a:r>
              <a:rPr lang="en-US" altLang="zh-CN" dirty="0"/>
              <a:t>F → id</a:t>
            </a:r>
            <a:br>
              <a:rPr lang="en-US" altLang="zh-CN" dirty="0"/>
            </a:br>
            <a:r>
              <a:rPr lang="en-US" altLang="zh-CN" dirty="0"/>
              <a:t>F → ( E )</a:t>
            </a:r>
            <a:endParaRPr kumimoji="1" lang="zh-CN" altLang="en-US" dirty="0"/>
          </a:p>
        </p:txBody>
      </p:sp>
      <p:sp>
        <p:nvSpPr>
          <p:cNvPr id="5" name="内容占位符 2"/>
          <p:cNvSpPr txBox="1">
            <a:spLocks/>
          </p:cNvSpPr>
          <p:nvPr/>
        </p:nvSpPr>
        <p:spPr>
          <a:xfrm>
            <a:off x="1196008" y="1690688"/>
            <a:ext cx="52047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kumimoji="1" lang="zh-CN" altLang="en-US" dirty="0" smtClean="0"/>
              <a:t>例</a:t>
            </a:r>
            <a:r>
              <a:rPr kumimoji="1" lang="en-US" altLang="zh-CN" dirty="0"/>
              <a:t>2</a:t>
            </a:r>
            <a:endParaRPr kumimoji="1" lang="zh-CN" altLang="en-US" dirty="0" smtClean="0"/>
          </a:p>
          <a:p>
            <a:pPr lvl="1"/>
            <a:r>
              <a:rPr lang="en-US" altLang="zh-CN" dirty="0"/>
              <a:t>G=({E},{id, +, *，(, )},P, E)  </a:t>
            </a:r>
            <a:endParaRPr lang="zh-CN" altLang="zh-CN" sz="4000" dirty="0"/>
          </a:p>
          <a:p>
            <a:pPr lvl="1"/>
            <a:r>
              <a:rPr lang="en-US" altLang="zh-CN" dirty="0"/>
              <a:t>//id</a:t>
            </a:r>
            <a:r>
              <a:rPr lang="zh-CN" altLang="zh-CN" dirty="0"/>
              <a:t>是表示变量的标识符</a:t>
            </a:r>
            <a:r>
              <a:rPr lang="en-US" altLang="zh-CN" dirty="0"/>
              <a:t/>
            </a:r>
            <a:br>
              <a:rPr lang="en-US" altLang="zh-CN" dirty="0"/>
            </a:br>
            <a:r>
              <a:rPr lang="en-US" altLang="zh-CN" dirty="0"/>
              <a:t>E → E + E</a:t>
            </a:r>
            <a:br>
              <a:rPr lang="en-US" altLang="zh-CN" dirty="0"/>
            </a:br>
            <a:r>
              <a:rPr lang="en-US" altLang="zh-CN" dirty="0"/>
              <a:t>E → E * E</a:t>
            </a:r>
            <a:br>
              <a:rPr lang="en-US" altLang="zh-CN" dirty="0"/>
            </a:br>
            <a:r>
              <a:rPr lang="en-US" altLang="zh-CN" dirty="0"/>
              <a:t>E → ( E )</a:t>
            </a:r>
            <a:endParaRPr lang="zh-CN" altLang="zh-CN" sz="4000" dirty="0"/>
          </a:p>
          <a:p>
            <a:pPr lvl="1"/>
            <a:r>
              <a:rPr lang="en-US" altLang="zh-CN" dirty="0"/>
              <a:t>E → id</a:t>
            </a:r>
            <a:endParaRPr kumimoji="1" lang="zh-CN" altLang="en-US" dirty="0" smtClean="0"/>
          </a:p>
          <a:p>
            <a:r>
              <a:rPr lang="zh-CN" altLang="zh-CN" dirty="0" smtClean="0"/>
              <a:t>表达式</a:t>
            </a:r>
            <a:r>
              <a:rPr lang="en-US" altLang="zh-CN" dirty="0"/>
              <a:t>a * b + c</a:t>
            </a:r>
            <a:r>
              <a:rPr lang="zh-CN" altLang="zh-CN" dirty="0" smtClean="0"/>
              <a:t>的推导过程</a:t>
            </a:r>
            <a:r>
              <a:rPr lang="zh-CN" altLang="en-US" dirty="0" smtClean="0"/>
              <a:t>及推导树</a:t>
            </a:r>
            <a:endParaRPr kumimoji="1" lang="zh-CN" altLang="en-US" dirty="0"/>
          </a:p>
        </p:txBody>
      </p:sp>
    </p:spTree>
    <p:extLst>
      <p:ext uri="{BB962C8B-B14F-4D97-AF65-F5344CB8AC3E}">
        <p14:creationId xmlns:p14="http://schemas.microsoft.com/office/powerpoint/2010/main" val="178937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上下文无关文法变换的</a:t>
            </a:r>
            <a:r>
              <a:rPr lang="zh-CN" altLang="zh-CN" dirty="0" smtClean="0"/>
              <a:t>应用</a:t>
            </a:r>
            <a:r>
              <a:rPr lang="en-US" altLang="zh-CN" dirty="0" smtClean="0"/>
              <a:t>-LL(k)</a:t>
            </a:r>
            <a:r>
              <a:rPr lang="zh-CN" altLang="en-US" dirty="0" smtClean="0"/>
              <a:t>文法</a:t>
            </a:r>
            <a:endParaRPr kumimoji="1" lang="zh-CN" altLang="en-US" dirty="0"/>
          </a:p>
        </p:txBody>
      </p:sp>
      <p:sp>
        <p:nvSpPr>
          <p:cNvPr id="3" name="内容占位符 2"/>
          <p:cNvSpPr>
            <a:spLocks noGrp="1"/>
          </p:cNvSpPr>
          <p:nvPr>
            <p:ph idx="1"/>
          </p:nvPr>
        </p:nvSpPr>
        <p:spPr>
          <a:xfrm>
            <a:off x="838200" y="1562240"/>
            <a:ext cx="10515600" cy="4351338"/>
          </a:xfrm>
        </p:spPr>
        <p:txBody>
          <a:bodyPr/>
          <a:lstStyle/>
          <a:p>
            <a:r>
              <a:rPr lang="zh-CN" altLang="zh-CN" dirty="0"/>
              <a:t>在编辑器的语法分析中常使用递归下降法</a:t>
            </a:r>
            <a:r>
              <a:rPr lang="zh-CN" altLang="zh-CN" dirty="0" smtClean="0"/>
              <a:t>。</a:t>
            </a:r>
            <a:endParaRPr lang="zh-CN" altLang="en-US" dirty="0" smtClean="0"/>
          </a:p>
          <a:p>
            <a:pPr lvl="1"/>
            <a:r>
              <a:rPr lang="zh-CN" altLang="zh-CN" dirty="0"/>
              <a:t>利用函数之间的递归调用模拟语法树自上而下的构造过程</a:t>
            </a:r>
            <a:r>
              <a:rPr lang="zh-CN" altLang="zh-CN" dirty="0" smtClean="0"/>
              <a:t>。</a:t>
            </a:r>
            <a:endParaRPr lang="zh-CN" altLang="en-US" dirty="0" smtClean="0"/>
          </a:p>
          <a:p>
            <a:pPr lvl="1"/>
            <a:r>
              <a:rPr lang="zh-CN" altLang="zh-CN" dirty="0"/>
              <a:t>支持递归下降的文法，必须能通过从左往右超前查看</a:t>
            </a:r>
            <a:r>
              <a:rPr lang="en-US" altLang="zh-CN" dirty="0"/>
              <a:t>k</a:t>
            </a:r>
            <a:r>
              <a:rPr lang="zh-CN" altLang="zh-CN" dirty="0"/>
              <a:t>个字符决定采用哪一个</a:t>
            </a:r>
            <a:r>
              <a:rPr lang="zh-CN" altLang="zh-CN" dirty="0" smtClean="0"/>
              <a:t>产生式</a:t>
            </a:r>
            <a:r>
              <a:rPr lang="zh-CN" altLang="en-US" dirty="0" smtClean="0"/>
              <a:t>，即</a:t>
            </a:r>
            <a:r>
              <a:rPr lang="en-US" altLang="zh-CN" dirty="0" smtClean="0"/>
              <a:t>LL(k</a:t>
            </a:r>
            <a:r>
              <a:rPr lang="en-US" altLang="zh-CN" dirty="0"/>
              <a:t>)</a:t>
            </a:r>
            <a:r>
              <a:rPr lang="zh-CN" altLang="zh-CN" dirty="0"/>
              <a:t>文法</a:t>
            </a:r>
            <a:r>
              <a:rPr lang="zh-CN" altLang="zh-CN" dirty="0" smtClean="0"/>
              <a:t>。</a:t>
            </a:r>
            <a:endParaRPr lang="en-US" altLang="zh-CN" dirty="0" smtClean="0"/>
          </a:p>
          <a:p>
            <a:pPr lvl="1"/>
            <a:r>
              <a:rPr lang="zh-CN" altLang="en-US" dirty="0" smtClean="0"/>
              <a:t>左边文法无法猜测到底哪个</a:t>
            </a:r>
            <a:r>
              <a:rPr lang="en-US" altLang="zh-CN" dirty="0" smtClean="0"/>
              <a:t>E</a:t>
            </a:r>
            <a:r>
              <a:rPr lang="zh-CN" altLang="en-US" dirty="0" smtClean="0"/>
              <a:t>产生式，右边</a:t>
            </a:r>
            <a:r>
              <a:rPr lang="en-US" altLang="zh-CN" dirty="0" smtClean="0"/>
              <a:t>GFA</a:t>
            </a:r>
            <a:r>
              <a:rPr lang="zh-CN" altLang="en-US" dirty="0" smtClean="0"/>
              <a:t>可以消除这种情况。 </a:t>
            </a:r>
          </a:p>
          <a:p>
            <a:endParaRPr lang="zh-CN" altLang="en-US" dirty="0" smtClean="0"/>
          </a:p>
          <a:p>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303016131"/>
              </p:ext>
            </p:extLst>
          </p:nvPr>
        </p:nvGraphicFramePr>
        <p:xfrm>
          <a:off x="568712" y="3737909"/>
          <a:ext cx="5229922" cy="2381514"/>
        </p:xfrm>
        <a:graphic>
          <a:graphicData uri="http://schemas.openxmlformats.org/drawingml/2006/table">
            <a:tbl>
              <a:tblPr firstRow="1" firstCol="1" bandRow="1"/>
              <a:tblGrid>
                <a:gridCol w="5229922"/>
              </a:tblGrid>
              <a:tr h="2381514">
                <a:tc>
                  <a:txBody>
                    <a:bodyPr/>
                    <a:lstStyle/>
                    <a:p>
                      <a:pPr>
                        <a:spcAft>
                          <a:spcPts val="0"/>
                        </a:spcAft>
                      </a:pPr>
                      <a:r>
                        <a:rPr lang="en-US" sz="2800" kern="100" dirty="0">
                          <a:effectLst/>
                          <a:latin typeface="Verdana" charset="0"/>
                          <a:ea typeface="Times New Roman" charset="0"/>
                        </a:rPr>
                        <a:t>G=({E,F},{id, *</a:t>
                      </a:r>
                      <a:r>
                        <a:rPr lang="en-US" sz="2800" kern="100" dirty="0">
                          <a:effectLst/>
                          <a:latin typeface="MS Mincho" charset="-128"/>
                          <a:ea typeface="宋体" charset="0"/>
                          <a:cs typeface="MS Mincho" charset="-128"/>
                        </a:rPr>
                        <a:t>,/,</a:t>
                      </a:r>
                      <a:r>
                        <a:rPr lang="en-US" sz="2800" kern="100" dirty="0">
                          <a:effectLst/>
                          <a:latin typeface="Verdana" charset="0"/>
                          <a:ea typeface="Times New Roman" charset="0"/>
                        </a:rPr>
                        <a:t>(, )},P, E)</a:t>
                      </a:r>
                      <a:r>
                        <a:rPr lang="en-US" sz="2800" kern="100" dirty="0">
                          <a:effectLst/>
                          <a:latin typeface="MingLiU" charset="0"/>
                          <a:ea typeface="宋体" charset="0"/>
                          <a:cs typeface="MingLiU" charset="0"/>
                        </a:rPr>
                        <a:t/>
                      </a:r>
                      <a:br>
                        <a:rPr lang="en-US" sz="2800" kern="100" dirty="0">
                          <a:effectLst/>
                          <a:latin typeface="MingLiU" charset="0"/>
                          <a:ea typeface="宋体" charset="0"/>
                          <a:cs typeface="MingLiU" charset="0"/>
                        </a:rPr>
                      </a:b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F * F</a:t>
                      </a:r>
                      <a:r>
                        <a:rPr lang="en-US" sz="2800" kern="100" dirty="0">
                          <a:effectLst/>
                          <a:latin typeface="MingLiU" charset="0"/>
                          <a:ea typeface="宋体" charset="0"/>
                          <a:cs typeface="MingLiU" charset="0"/>
                        </a:rPr>
                        <a:t/>
                      </a:r>
                      <a:br>
                        <a:rPr lang="en-US" sz="2800" kern="100" dirty="0">
                          <a:effectLst/>
                          <a:latin typeface="MingLiU" charset="0"/>
                          <a:ea typeface="宋体" charset="0"/>
                          <a:cs typeface="MingLiU" charset="0"/>
                        </a:rPr>
                      </a:b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F / F</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F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id</a:t>
                      </a:r>
                      <a:r>
                        <a:rPr lang="en-US" sz="2800" kern="100" dirty="0">
                          <a:effectLst/>
                          <a:latin typeface="MingLiU" charset="0"/>
                          <a:ea typeface="宋体" charset="0"/>
                          <a:cs typeface="MingLiU" charset="0"/>
                        </a:rPr>
                        <a:t/>
                      </a:r>
                      <a:br>
                        <a:rPr lang="en-US" sz="2800" kern="100" dirty="0">
                          <a:effectLst/>
                          <a:latin typeface="MingLiU" charset="0"/>
                          <a:ea typeface="宋体" charset="0"/>
                          <a:cs typeface="MingLiU" charset="0"/>
                        </a:rPr>
                      </a:br>
                      <a:r>
                        <a:rPr lang="en-US" sz="2800" kern="100" dirty="0">
                          <a:effectLst/>
                          <a:latin typeface="Verdana" charset="0"/>
                          <a:ea typeface="Times New Roman" charset="0"/>
                        </a:rPr>
                        <a:t>F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 E )</a:t>
                      </a:r>
                      <a:endParaRPr lang="zh-CN" sz="2800" kern="100" dirty="0">
                        <a:effectLst/>
                        <a:latin typeface="Times New Roman" charset="0"/>
                        <a:ea typeface="宋体" charset="0"/>
                      </a:endParaRPr>
                    </a:p>
                  </a:txBody>
                  <a:tcPr marL="28575" marR="28575" marT="28575" marB="28575">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FFFFFF"/>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108386680"/>
              </p:ext>
            </p:extLst>
          </p:nvPr>
        </p:nvGraphicFramePr>
        <p:xfrm>
          <a:off x="5968999" y="3737909"/>
          <a:ext cx="5981701" cy="3044190"/>
        </p:xfrm>
        <a:graphic>
          <a:graphicData uri="http://schemas.openxmlformats.org/drawingml/2006/table">
            <a:tbl>
              <a:tblPr firstRow="1" firstCol="1" bandRow="1"/>
              <a:tblGrid>
                <a:gridCol w="5981701"/>
              </a:tblGrid>
              <a:tr h="2819241">
                <a:tc>
                  <a:txBody>
                    <a:bodyPr/>
                    <a:lstStyle/>
                    <a:p>
                      <a:pPr>
                        <a:spcAft>
                          <a:spcPts val="0"/>
                        </a:spcAft>
                      </a:pPr>
                      <a:r>
                        <a:rPr lang="en-US" sz="2800" kern="100" dirty="0">
                          <a:effectLst/>
                          <a:latin typeface="Verdana" charset="0"/>
                          <a:ea typeface="Times New Roman" charset="0"/>
                        </a:rPr>
                        <a:t>G=({E,F},{id, *</a:t>
                      </a:r>
                      <a:r>
                        <a:rPr lang="en-US" sz="2800" kern="100" dirty="0">
                          <a:effectLst/>
                          <a:latin typeface="MS Mincho" charset="-128"/>
                          <a:ea typeface="宋体" charset="0"/>
                          <a:cs typeface="MS Mincho" charset="-128"/>
                        </a:rPr>
                        <a:t>,/,</a:t>
                      </a:r>
                      <a:r>
                        <a:rPr lang="en-US" sz="2800" kern="100" dirty="0">
                          <a:effectLst/>
                          <a:latin typeface="Verdana" charset="0"/>
                          <a:ea typeface="Times New Roman" charset="0"/>
                        </a:rPr>
                        <a:t>(, )},P, E)</a:t>
                      </a:r>
                      <a:r>
                        <a:rPr lang="en-US" sz="2800" kern="100" dirty="0">
                          <a:effectLst/>
                          <a:latin typeface="MingLiU" charset="0"/>
                          <a:ea typeface="宋体" charset="0"/>
                          <a:cs typeface="MingLiU" charset="0"/>
                        </a:rPr>
                        <a:t/>
                      </a:r>
                      <a:br>
                        <a:rPr lang="en-US" sz="2800" kern="100" dirty="0">
                          <a:effectLst/>
                          <a:latin typeface="MingLiU" charset="0"/>
                          <a:ea typeface="宋体" charset="0"/>
                          <a:cs typeface="MingLiU" charset="0"/>
                        </a:rPr>
                      </a:b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a:t>
                      </a:r>
                      <a:r>
                        <a:rPr lang="en-US" sz="2800" kern="100" dirty="0" err="1">
                          <a:effectLst/>
                          <a:latin typeface="Verdana" charset="0"/>
                          <a:ea typeface="Times New Roman" charset="0"/>
                        </a:rPr>
                        <a:t>idG</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(E)G </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G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 F</a:t>
                      </a:r>
                      <a:br>
                        <a:rPr lang="en-US" sz="2800" kern="100" dirty="0">
                          <a:effectLst/>
                          <a:latin typeface="Verdana" charset="0"/>
                          <a:ea typeface="Times New Roman" charset="0"/>
                        </a:rPr>
                      </a:br>
                      <a:r>
                        <a:rPr lang="en-US" sz="2800" kern="100" dirty="0">
                          <a:effectLst/>
                          <a:latin typeface="Verdana" charset="0"/>
                          <a:ea typeface="Times New Roman" charset="0"/>
                        </a:rPr>
                        <a:t>G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 F</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F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id</a:t>
                      </a:r>
                      <a:r>
                        <a:rPr lang="en-US" sz="2800" kern="100" dirty="0">
                          <a:effectLst/>
                          <a:latin typeface="MingLiU" charset="0"/>
                          <a:ea typeface="宋体" charset="0"/>
                          <a:cs typeface="MingLiU" charset="0"/>
                        </a:rPr>
                        <a:t/>
                      </a:r>
                      <a:br>
                        <a:rPr lang="en-US" sz="2800" kern="100" dirty="0">
                          <a:effectLst/>
                          <a:latin typeface="MingLiU" charset="0"/>
                          <a:ea typeface="宋体" charset="0"/>
                          <a:cs typeface="MingLiU" charset="0"/>
                        </a:rPr>
                      </a:br>
                      <a:r>
                        <a:rPr lang="en-US" sz="2800" kern="100" dirty="0">
                          <a:effectLst/>
                          <a:latin typeface="Verdana" charset="0"/>
                          <a:ea typeface="Times New Roman" charset="0"/>
                        </a:rPr>
                        <a:t>F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 E )</a:t>
                      </a:r>
                      <a:endParaRPr lang="zh-CN" sz="2800" kern="100" dirty="0">
                        <a:effectLst/>
                        <a:latin typeface="Times New Roman" charset="0"/>
                        <a:ea typeface="宋体" charset="0"/>
                      </a:endParaRPr>
                    </a:p>
                  </a:txBody>
                  <a:tcPr marL="28575" marR="28575" marT="28575" marB="28575">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693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上下文无关文法变换的应用</a:t>
            </a:r>
            <a:r>
              <a:rPr lang="en-US" altLang="zh-CN" dirty="0" smtClean="0"/>
              <a:t>-</a:t>
            </a:r>
            <a:r>
              <a:rPr lang="zh-CN" altLang="en-US" dirty="0" smtClean="0"/>
              <a:t>消除左递归</a:t>
            </a:r>
            <a:endParaRPr kumimoji="1" lang="zh-CN" altLang="en-US" dirty="0"/>
          </a:p>
        </p:txBody>
      </p:sp>
      <p:sp>
        <p:nvSpPr>
          <p:cNvPr id="3" name="内容占位符 2"/>
          <p:cNvSpPr>
            <a:spLocks noGrp="1"/>
          </p:cNvSpPr>
          <p:nvPr>
            <p:ph idx="1"/>
          </p:nvPr>
        </p:nvSpPr>
        <p:spPr/>
        <p:txBody>
          <a:bodyPr/>
          <a:lstStyle/>
          <a:p>
            <a:r>
              <a:rPr lang="zh-CN" altLang="zh-CN" dirty="0"/>
              <a:t>左递归，就是产生式产生的第一个符号有可能是该产生式本身的非终结符。</a:t>
            </a:r>
            <a:r>
              <a:rPr lang="zh-CN" altLang="zh-CN" dirty="0" smtClean="0">
                <a:effectLst/>
              </a:rPr>
              <a:t> </a:t>
            </a:r>
            <a:endParaRPr lang="zh-CN" altLang="en-US" dirty="0" smtClean="0">
              <a:effectLst/>
            </a:endParaRPr>
          </a:p>
          <a:p>
            <a:pPr lvl="1"/>
            <a:r>
              <a:rPr lang="zh-CN" altLang="zh-CN" dirty="0"/>
              <a:t>如果在编写</a:t>
            </a:r>
            <a:r>
              <a:rPr lang="en-US" altLang="zh-CN" dirty="0"/>
              <a:t>E</a:t>
            </a:r>
            <a:r>
              <a:rPr lang="zh-CN" altLang="zh-CN" dirty="0"/>
              <a:t>的递归下降解析函数时，直接在函数的开头递归调用自己，输入字符串完全没有消耗，这种递归调用就会变成一种死循环。</a:t>
            </a:r>
            <a:r>
              <a:rPr lang="zh-CN" altLang="zh-CN" dirty="0" smtClean="0">
                <a:effectLst/>
              </a:rPr>
              <a:t> </a:t>
            </a:r>
            <a:endParaRPr kumimoji="1"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964445884"/>
              </p:ext>
            </p:extLst>
          </p:nvPr>
        </p:nvGraphicFramePr>
        <p:xfrm>
          <a:off x="1858432" y="3847095"/>
          <a:ext cx="2696633" cy="2329868"/>
        </p:xfrm>
        <a:graphic>
          <a:graphicData uri="http://schemas.openxmlformats.org/drawingml/2006/table">
            <a:tbl>
              <a:tblPr firstRow="1" firstCol="1" bandRow="1"/>
              <a:tblGrid>
                <a:gridCol w="2696633"/>
              </a:tblGrid>
              <a:tr h="2329868">
                <a:tc>
                  <a:txBody>
                    <a:bodyPr/>
                    <a:lstStyle/>
                    <a:p>
                      <a:pPr>
                        <a:spcAft>
                          <a:spcPts val="0"/>
                        </a:spcAft>
                      </a:pPr>
                      <a:r>
                        <a:rPr lang="en-US" sz="2800" kern="100" dirty="0">
                          <a:effectLst/>
                          <a:latin typeface="Verdana" charset="0"/>
                          <a:ea typeface="Times New Roman" charset="0"/>
                        </a:rPr>
                        <a:t>G=({E,F},{id, *</a:t>
                      </a:r>
                      <a:r>
                        <a:rPr lang="en-US" sz="2800" kern="100" dirty="0">
                          <a:effectLst/>
                          <a:latin typeface="MS Mincho" charset="-128"/>
                          <a:ea typeface="宋体" charset="0"/>
                          <a:cs typeface="MS Mincho" charset="-128"/>
                        </a:rPr>
                        <a:t>,/,</a:t>
                      </a:r>
                      <a:r>
                        <a:rPr lang="en-US" sz="2800" kern="100" dirty="0">
                          <a:effectLst/>
                          <a:latin typeface="Verdana" charset="0"/>
                          <a:ea typeface="Times New Roman" charset="0"/>
                        </a:rPr>
                        <a:t>(, )},P, E)</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E + F</a:t>
                      </a:r>
                      <a:r>
                        <a:rPr lang="en-US" sz="2800" kern="100" dirty="0">
                          <a:effectLst/>
                          <a:latin typeface="MingLiU" charset="0"/>
                          <a:ea typeface="宋体" charset="0"/>
                          <a:cs typeface="MingLiU" charset="0"/>
                        </a:rPr>
                        <a:t/>
                      </a:r>
                      <a:br>
                        <a:rPr lang="en-US" sz="2800" kern="100" dirty="0">
                          <a:effectLst/>
                          <a:latin typeface="MingLiU" charset="0"/>
                          <a:ea typeface="宋体" charset="0"/>
                          <a:cs typeface="MingLiU" charset="0"/>
                        </a:rPr>
                      </a:b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F</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F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id</a:t>
                      </a:r>
                      <a:endParaRPr lang="zh-CN" sz="2800" kern="100" dirty="0">
                        <a:effectLst/>
                        <a:latin typeface="Times New Roman" charset="0"/>
                        <a:ea typeface="宋体" charset="0"/>
                      </a:endParaRPr>
                    </a:p>
                  </a:txBody>
                  <a:tcPr marL="28575" marR="28575" marT="28575" marB="28575">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FFFFFF"/>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82828202"/>
              </p:ext>
            </p:extLst>
          </p:nvPr>
        </p:nvGraphicFramePr>
        <p:xfrm>
          <a:off x="6040967" y="3911599"/>
          <a:ext cx="3695700" cy="2414059"/>
        </p:xfrm>
        <a:graphic>
          <a:graphicData uri="http://schemas.openxmlformats.org/drawingml/2006/table">
            <a:tbl>
              <a:tblPr firstRow="1" firstCol="1" bandRow="1"/>
              <a:tblGrid>
                <a:gridCol w="3695700"/>
              </a:tblGrid>
              <a:tr h="2414059">
                <a:tc>
                  <a:txBody>
                    <a:bodyPr/>
                    <a:lstStyle/>
                    <a:p>
                      <a:pPr>
                        <a:spcAft>
                          <a:spcPts val="0"/>
                        </a:spcAft>
                      </a:pPr>
                      <a:r>
                        <a:rPr lang="en-US" sz="2800" kern="100" dirty="0">
                          <a:effectLst/>
                          <a:latin typeface="Verdana" charset="0"/>
                          <a:ea typeface="Times New Roman" charset="0"/>
                        </a:rPr>
                        <a:t>E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FG</a:t>
                      </a:r>
                      <a:br>
                        <a:rPr lang="en-US" sz="2800" kern="100" dirty="0">
                          <a:effectLst/>
                          <a:latin typeface="Verdana" charset="0"/>
                          <a:ea typeface="Times New Roman" charset="0"/>
                        </a:rPr>
                      </a:br>
                      <a:r>
                        <a:rPr lang="en-US" sz="2800" kern="100" dirty="0">
                          <a:effectLst/>
                          <a:latin typeface="Verdana" charset="0"/>
                          <a:ea typeface="Times New Roman" charset="0"/>
                        </a:rPr>
                        <a:t>G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 FG</a:t>
                      </a:r>
                      <a:endParaRPr lang="zh-CN" sz="2800" kern="100" dirty="0">
                        <a:effectLst/>
                        <a:latin typeface="Times New Roman" charset="0"/>
                        <a:ea typeface="宋体" charset="0"/>
                      </a:endParaRPr>
                    </a:p>
                    <a:p>
                      <a:pPr>
                        <a:spcAft>
                          <a:spcPts val="0"/>
                        </a:spcAft>
                      </a:pPr>
                      <a:r>
                        <a:rPr lang="en-US" sz="2800" kern="100" dirty="0">
                          <a:effectLst/>
                          <a:latin typeface="Verdana" charset="0"/>
                          <a:ea typeface="Times New Roman" charset="0"/>
                        </a:rPr>
                        <a:t>F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id</a:t>
                      </a:r>
                      <a:br>
                        <a:rPr lang="en-US" sz="2800" kern="100" dirty="0">
                          <a:effectLst/>
                          <a:latin typeface="Verdana" charset="0"/>
                          <a:ea typeface="Times New Roman" charset="0"/>
                        </a:rPr>
                      </a:br>
                      <a:r>
                        <a:rPr lang="en-US" sz="2800" kern="100" dirty="0">
                          <a:effectLst/>
                          <a:latin typeface="Verdana" charset="0"/>
                          <a:ea typeface="Times New Roman" charset="0"/>
                        </a:rPr>
                        <a:t>G </a:t>
                      </a:r>
                      <a:r>
                        <a:rPr lang="en-US" sz="2800" kern="100" dirty="0">
                          <a:effectLst/>
                          <a:latin typeface="Calibri" charset="0"/>
                          <a:ea typeface="Calibri" charset="0"/>
                          <a:cs typeface="Calibri" charset="0"/>
                        </a:rPr>
                        <a:t>→</a:t>
                      </a:r>
                      <a:r>
                        <a:rPr lang="en-US" sz="2800" kern="100" dirty="0">
                          <a:effectLst/>
                          <a:latin typeface="Verdana" charset="0"/>
                          <a:ea typeface="Times New Roman" charset="0"/>
                        </a:rPr>
                        <a:t> </a:t>
                      </a:r>
                      <a:r>
                        <a:rPr lang="en-US" sz="2800" kern="100" dirty="0" err="1">
                          <a:solidFill>
                            <a:srgbClr val="000000"/>
                          </a:solidFill>
                          <a:effectLst/>
                          <a:latin typeface="Verdana" charset="0"/>
                          <a:ea typeface="Times New Roman" charset="0"/>
                        </a:rPr>
                        <a:t>ε</a:t>
                      </a:r>
                      <a:endParaRPr lang="zh-CN" sz="2800" kern="100" dirty="0">
                        <a:effectLst/>
                        <a:latin typeface="Times New Roman" charset="0"/>
                        <a:ea typeface="宋体" charset="0"/>
                      </a:endParaRPr>
                    </a:p>
                  </a:txBody>
                  <a:tcPr marL="28575" marR="28575" marT="28575" marB="28575">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8203884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其他应用</a:t>
            </a:r>
            <a:endParaRPr kumimoji="1" lang="zh-CN" altLang="en-US" dirty="0"/>
          </a:p>
        </p:txBody>
      </p:sp>
      <p:sp>
        <p:nvSpPr>
          <p:cNvPr id="3" name="内容占位符 2"/>
          <p:cNvSpPr>
            <a:spLocks noGrp="1"/>
          </p:cNvSpPr>
          <p:nvPr>
            <p:ph idx="1"/>
          </p:nvPr>
        </p:nvSpPr>
        <p:spPr/>
        <p:txBody>
          <a:bodyPr/>
          <a:lstStyle/>
          <a:p>
            <a:r>
              <a:rPr lang="zh-CN" altLang="zh-CN" dirty="0"/>
              <a:t>计算机求解的很多问题的结构都可以用上下文无关语言表示，这些结构的实例生成都可以转化成文法的句子生成问题</a:t>
            </a:r>
            <a:r>
              <a:rPr lang="zh-CN" altLang="zh-CN" dirty="0" smtClean="0"/>
              <a:t>。</a:t>
            </a:r>
            <a:endParaRPr lang="zh-CN" altLang="en-US" dirty="0" smtClean="0"/>
          </a:p>
          <a:p>
            <a:r>
              <a:rPr lang="zh-CN" altLang="zh-CN" dirty="0"/>
              <a:t>上下文无关文法广泛应用在在软件的测试、调试和实验等方面。</a:t>
            </a:r>
            <a:r>
              <a:rPr lang="zh-CN" altLang="zh-CN" dirty="0" smtClean="0">
                <a:effectLst/>
              </a:rPr>
              <a:t> </a:t>
            </a:r>
            <a:endParaRPr lang="zh-CN" altLang="en-US" dirty="0" smtClean="0">
              <a:effectLst/>
            </a:endParaRPr>
          </a:p>
          <a:p>
            <a:r>
              <a:rPr lang="zh-CN" altLang="zh-CN" dirty="0"/>
              <a:t>许多数据结构可以用文法</a:t>
            </a:r>
            <a:r>
              <a:rPr lang="zh-CN" altLang="zh-CN" dirty="0" smtClean="0"/>
              <a:t>表示</a:t>
            </a:r>
            <a:endParaRPr lang="zh-CN" altLang="en-US" dirty="0" smtClean="0"/>
          </a:p>
          <a:p>
            <a:pPr lvl="1"/>
            <a:r>
              <a:rPr lang="zh-CN" altLang="zh-CN" dirty="0" smtClean="0"/>
              <a:t>如树</a:t>
            </a:r>
            <a:r>
              <a:rPr lang="zh-CN" altLang="zh-CN" dirty="0"/>
              <a:t>和图。在信息处理和数据库中经常出现的层次数据，可以用文法表示，</a:t>
            </a:r>
            <a:r>
              <a:rPr lang="en-US" altLang="zh-CN" dirty="0"/>
              <a:t>XML</a:t>
            </a:r>
            <a:r>
              <a:rPr lang="zh-CN" altLang="zh-CN" dirty="0"/>
              <a:t>也是以文法为基础的。</a:t>
            </a:r>
            <a:r>
              <a:rPr lang="zh-CN" altLang="zh-CN" dirty="0" smtClean="0">
                <a:effectLst/>
              </a:rPr>
              <a:t>  </a:t>
            </a:r>
            <a:endParaRPr lang="zh-CN" altLang="en-US" dirty="0" smtClean="0">
              <a:effectLst/>
            </a:endParaRPr>
          </a:p>
          <a:p>
            <a:r>
              <a:rPr lang="zh-CN" altLang="zh-CN" dirty="0"/>
              <a:t>除了在计算机科学的应用，文法还被应用在其他一些领域中</a:t>
            </a:r>
            <a:r>
              <a:rPr lang="zh-CN" altLang="zh-CN" dirty="0" smtClean="0"/>
              <a:t>。</a:t>
            </a:r>
            <a:endParaRPr lang="zh-CN" altLang="en-US" dirty="0" smtClean="0"/>
          </a:p>
          <a:p>
            <a:pPr lvl="1"/>
            <a:r>
              <a:rPr lang="zh-CN" altLang="zh-CN" dirty="0" smtClean="0"/>
              <a:t>例如</a:t>
            </a:r>
            <a:r>
              <a:rPr lang="zh-CN" altLang="zh-CN" dirty="0"/>
              <a:t>，文法被应用在基因序列的表示中。</a:t>
            </a:r>
            <a:r>
              <a:rPr lang="zh-CN" altLang="zh-CN" dirty="0" smtClean="0">
                <a:effectLst/>
              </a:rPr>
              <a:t> </a:t>
            </a:r>
            <a:endParaRPr kumimoji="1" lang="zh-CN" altLang="en-US" dirty="0"/>
          </a:p>
        </p:txBody>
      </p:sp>
    </p:spTree>
    <p:extLst>
      <p:ext uri="{BB962C8B-B14F-4D97-AF65-F5344CB8AC3E}">
        <p14:creationId xmlns:p14="http://schemas.microsoft.com/office/powerpoint/2010/main" val="9829367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典型例题</a:t>
            </a:r>
            <a:r>
              <a:rPr kumimoji="1" lang="en-US" altLang="zh-CN" dirty="0" smtClean="0"/>
              <a:t>1</a:t>
            </a:r>
            <a:endParaRPr kumimoji="1" lang="zh-CN" altLang="en-US" dirty="0"/>
          </a:p>
        </p:txBody>
      </p:sp>
      <p:pic>
        <p:nvPicPr>
          <p:cNvPr id="3" name="图片 2"/>
          <p:cNvPicPr>
            <a:picLocks noChangeAspect="1"/>
          </p:cNvPicPr>
          <p:nvPr/>
        </p:nvPicPr>
        <p:blipFill>
          <a:blip r:embed="rId2"/>
          <a:stretch>
            <a:fillRect/>
          </a:stretch>
        </p:blipFill>
        <p:spPr>
          <a:xfrm>
            <a:off x="501650" y="1410010"/>
            <a:ext cx="11188700" cy="1473200"/>
          </a:xfrm>
          <a:prstGeom prst="rect">
            <a:avLst/>
          </a:prstGeom>
        </p:spPr>
      </p:pic>
      <p:pic>
        <p:nvPicPr>
          <p:cNvPr id="10" name="图片 9"/>
          <p:cNvPicPr>
            <a:picLocks noChangeAspect="1"/>
          </p:cNvPicPr>
          <p:nvPr/>
        </p:nvPicPr>
        <p:blipFill>
          <a:blip r:embed="rId3"/>
          <a:stretch>
            <a:fillRect/>
          </a:stretch>
        </p:blipFill>
        <p:spPr>
          <a:xfrm>
            <a:off x="468197" y="3275684"/>
            <a:ext cx="6310351" cy="2844800"/>
          </a:xfrm>
          <a:prstGeom prst="rect">
            <a:avLst/>
          </a:prstGeom>
        </p:spPr>
      </p:pic>
      <p:pic>
        <p:nvPicPr>
          <p:cNvPr id="11" name="图片 10"/>
          <p:cNvPicPr>
            <a:picLocks noChangeAspect="1"/>
          </p:cNvPicPr>
          <p:nvPr/>
        </p:nvPicPr>
        <p:blipFill>
          <a:blip r:embed="rId4"/>
          <a:stretch>
            <a:fillRect/>
          </a:stretch>
        </p:blipFill>
        <p:spPr>
          <a:xfrm>
            <a:off x="6977731" y="3010209"/>
            <a:ext cx="5184791" cy="3713975"/>
          </a:xfrm>
          <a:prstGeom prst="rect">
            <a:avLst/>
          </a:prstGeom>
        </p:spPr>
      </p:pic>
    </p:spTree>
    <p:extLst>
      <p:ext uri="{BB962C8B-B14F-4D97-AF65-F5344CB8AC3E}">
        <p14:creationId xmlns:p14="http://schemas.microsoft.com/office/powerpoint/2010/main" val="131520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典型例题</a:t>
            </a:r>
            <a:r>
              <a:rPr kumimoji="1" lang="en-US" altLang="zh-CN" dirty="0"/>
              <a:t>2</a:t>
            </a:r>
            <a:endParaRPr kumimoji="1" lang="zh-CN" altLang="en-US" dirty="0"/>
          </a:p>
        </p:txBody>
      </p:sp>
      <p:sp>
        <p:nvSpPr>
          <p:cNvPr id="3" name="内容占位符 2"/>
          <p:cNvSpPr>
            <a:spLocks noGrp="1"/>
          </p:cNvSpPr>
          <p:nvPr>
            <p:ph idx="1"/>
          </p:nvPr>
        </p:nvSpPr>
        <p:spPr>
          <a:xfrm>
            <a:off x="838199" y="1270959"/>
            <a:ext cx="41237647" cy="41376574"/>
          </a:xfrm>
        </p:spPr>
        <p:txBody>
          <a:bodyPr/>
          <a:lstStyle/>
          <a:p>
            <a:r>
              <a:rPr kumimoji="1" lang="zh-CN" altLang="en-US" dirty="0" smtClean="0"/>
              <a:t>已知语言</a:t>
            </a:r>
          </a:p>
          <a:p>
            <a:endParaRPr kumimoji="1" lang="zh-CN" altLang="en-US" dirty="0"/>
          </a:p>
          <a:p>
            <a:pPr lvl="0"/>
            <a:endParaRPr kumimoji="0" lang="zh-CN" altLang="en-US" b="0" i="0" u="none" strike="noStrike" cap="none" normalizeH="0" baseline="0" dirty="0" smtClean="0">
              <a:ln>
                <a:noFill/>
              </a:ln>
              <a:solidFill>
                <a:schemeClr val="tx1"/>
              </a:solidFill>
              <a:effectLst/>
              <a:latin typeface="Arial" charset="0"/>
            </a:endParaRPr>
          </a:p>
          <a:p>
            <a:pPr lvl="0"/>
            <a:r>
              <a:rPr kumimoji="0" lang="zh-CN" altLang="zh-CN" b="0" i="0" u="none" strike="noStrike" cap="none" normalizeH="0" baseline="0" dirty="0" smtClean="0">
                <a:ln>
                  <a:noFill/>
                </a:ln>
                <a:solidFill>
                  <a:schemeClr val="tx1"/>
                </a:solidFill>
                <a:effectLst/>
                <a:latin typeface="Arial" charset="0"/>
              </a:rPr>
              <a:t>构造一个NPDA识别该语言。</a:t>
            </a:r>
            <a:endParaRPr kumimoji="0" lang="zh-CN" altLang="en-US" b="0" i="0" u="none" strike="noStrike" cap="none" normalizeH="0" baseline="0" dirty="0" smtClean="0">
              <a:ln>
                <a:noFill/>
              </a:ln>
              <a:solidFill>
                <a:schemeClr val="tx1"/>
              </a:solidFill>
              <a:effectLst/>
              <a:latin typeface="Arial" charset="0"/>
            </a:endParaRPr>
          </a:p>
          <a:p>
            <a:pPr lvl="0"/>
            <a:r>
              <a:rPr kumimoji="0" lang="zh-CN" altLang="en-US" b="0" i="0" u="none" strike="noStrike" cap="none" normalizeH="0" baseline="0" dirty="0" smtClean="0">
                <a:ln>
                  <a:noFill/>
                </a:ln>
                <a:solidFill>
                  <a:schemeClr val="tx1"/>
                </a:solidFill>
                <a:effectLst/>
                <a:latin typeface="Arial" charset="0"/>
              </a:rPr>
              <a:t>该自动机接受</a:t>
            </a:r>
            <a:r>
              <a:rPr kumimoji="0" lang="en-US" altLang="zh-CN" b="0" i="0" u="none" strike="noStrike" cap="none" normalizeH="0" baseline="0" dirty="0" err="1" smtClean="0">
                <a:ln>
                  <a:noFill/>
                </a:ln>
                <a:solidFill>
                  <a:schemeClr val="tx1"/>
                </a:solidFill>
                <a:effectLst/>
                <a:latin typeface="Arial" charset="0"/>
              </a:rPr>
              <a:t>aabbbbb</a:t>
            </a:r>
            <a:r>
              <a:rPr kumimoji="0" lang="zh-CN" altLang="en-US" b="0" i="0" u="none" strike="noStrike" cap="none" normalizeH="0" baseline="0" dirty="0" smtClean="0">
                <a:ln>
                  <a:noFill/>
                </a:ln>
                <a:solidFill>
                  <a:schemeClr val="tx1"/>
                </a:solidFill>
                <a:effectLst/>
                <a:latin typeface="Arial" charset="0"/>
              </a:rPr>
              <a:t>的过程。</a:t>
            </a:r>
          </a:p>
          <a:p>
            <a:pPr lvl="0"/>
            <a:endParaRPr kumimoji="0" lang="zh-CN" altLang="zh-CN" b="0" i="0" u="none" strike="noStrike" cap="none" normalizeH="0" baseline="0" dirty="0" smtClean="0">
              <a:ln>
                <a:noFill/>
              </a:ln>
              <a:solidFill>
                <a:schemeClr val="tx1"/>
              </a:solidFill>
              <a:effectLst/>
              <a:latin typeface="Arial" charset="0"/>
            </a:endParaRPr>
          </a:p>
          <a:p>
            <a:endParaRPr kumimoji="1" lang="zh-CN" altLang="en-US" dirty="0" smtClean="0"/>
          </a:p>
          <a:p>
            <a:endParaRPr kumimoji="1" lang="zh-CN" altLang="en-US" dirty="0"/>
          </a:p>
        </p:txBody>
      </p:sp>
      <p:sp>
        <p:nvSpPr>
          <p:cNvPr id="10" name="Rectangle 9"/>
          <p:cNvSpPr>
            <a:spLocks noChangeArrowheads="1"/>
          </p:cNvSpPr>
          <p:nvPr/>
        </p:nvSpPr>
        <p:spPr bwMode="auto">
          <a:xfrm>
            <a:off x="2438399" y="4605866"/>
            <a:ext cx="1472317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4" name="图片 3"/>
          <p:cNvPicPr>
            <a:picLocks noChangeAspect="1"/>
          </p:cNvPicPr>
          <p:nvPr/>
        </p:nvPicPr>
        <p:blipFill>
          <a:blip r:embed="rId3"/>
          <a:stretch>
            <a:fillRect/>
          </a:stretch>
        </p:blipFill>
        <p:spPr>
          <a:xfrm>
            <a:off x="1568604" y="1719367"/>
            <a:ext cx="5899283" cy="921763"/>
          </a:xfrm>
          <a:prstGeom prst="rect">
            <a:avLst/>
          </a:prstGeom>
        </p:spPr>
      </p:pic>
      <p:graphicFrame>
        <p:nvGraphicFramePr>
          <p:cNvPr id="9" name="对象 8"/>
          <p:cNvGraphicFramePr>
            <a:graphicFrameLocks/>
          </p:cNvGraphicFramePr>
          <p:nvPr>
            <p:extLst>
              <p:ext uri="{D42A27DB-BD31-4B8C-83A1-F6EECF244321}">
                <p14:modId xmlns:p14="http://schemas.microsoft.com/office/powerpoint/2010/main" val="626402663"/>
              </p:ext>
            </p:extLst>
          </p:nvPr>
        </p:nvGraphicFramePr>
        <p:xfrm>
          <a:off x="6006790" y="3220987"/>
          <a:ext cx="5679690" cy="1740853"/>
        </p:xfrm>
        <a:graphic>
          <a:graphicData uri="http://schemas.openxmlformats.org/presentationml/2006/ole">
            <mc:AlternateContent xmlns:mc="http://schemas.openxmlformats.org/markup-compatibility/2006">
              <mc:Choice xmlns:v="urn:schemas-microsoft-com:vml" Requires="v">
                <p:oleObj spid="_x0000_s6177" r:id="rId4" imgW="5118100" imgH="1397000" progId="Visio.Drawing.11">
                  <p:embed/>
                </p:oleObj>
              </mc:Choice>
              <mc:Fallback>
                <p:oleObj r:id="rId4" imgW="5118100" imgH="1397000" progId="Visio.Drawing.11">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6790" y="3220987"/>
                        <a:ext cx="5679690" cy="1740853"/>
                      </a:xfrm>
                      <a:prstGeom prst="rect">
                        <a:avLst/>
                      </a:prstGeom>
                      <a:noFill/>
                    </p:spPr>
                  </p:pic>
                </p:oleObj>
              </mc:Fallback>
            </mc:AlternateContent>
          </a:graphicData>
        </a:graphic>
      </p:graphicFrame>
      <p:pic>
        <p:nvPicPr>
          <p:cNvPr id="12" name="图片 11"/>
          <p:cNvPicPr>
            <a:picLocks noChangeAspect="1"/>
          </p:cNvPicPr>
          <p:nvPr/>
        </p:nvPicPr>
        <p:blipFill>
          <a:blip r:embed="rId6"/>
          <a:stretch>
            <a:fillRect/>
          </a:stretch>
        </p:blipFill>
        <p:spPr>
          <a:xfrm>
            <a:off x="355290" y="5149435"/>
            <a:ext cx="11303000" cy="1358900"/>
          </a:xfrm>
          <a:prstGeom prst="rect">
            <a:avLst/>
          </a:prstGeom>
        </p:spPr>
      </p:pic>
    </p:spTree>
    <p:extLst>
      <p:ext uri="{BB962C8B-B14F-4D97-AF65-F5344CB8AC3E}">
        <p14:creationId xmlns:p14="http://schemas.microsoft.com/office/powerpoint/2010/main" val="7063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典型例题</a:t>
            </a:r>
            <a:r>
              <a:rPr kumimoji="1" lang="en-US" altLang="zh-CN" dirty="0"/>
              <a:t>3</a:t>
            </a:r>
            <a:endParaRPr kumimoji="1" lang="zh-CN" altLang="en-US" dirty="0"/>
          </a:p>
        </p:txBody>
      </p:sp>
      <p:sp>
        <p:nvSpPr>
          <p:cNvPr id="3" name="内容占位符 2"/>
          <p:cNvSpPr>
            <a:spLocks noGrp="1"/>
          </p:cNvSpPr>
          <p:nvPr>
            <p:ph idx="1"/>
          </p:nvPr>
        </p:nvSpPr>
        <p:spPr/>
        <p:txBody>
          <a:bodyPr/>
          <a:lstStyle/>
          <a:p>
            <a:r>
              <a:rPr kumimoji="1" lang="zh-CN" altLang="en-US" dirty="0" smtClean="0"/>
              <a:t>设文法</a:t>
            </a:r>
            <a:r>
              <a:rPr kumimoji="1" lang="en-US" altLang="zh-CN" dirty="0" smtClean="0"/>
              <a:t>G</a:t>
            </a:r>
            <a:r>
              <a:rPr kumimoji="1" lang="zh-CN" altLang="en-US" dirty="0" smtClean="0"/>
              <a:t>有如下的生成式</a:t>
            </a:r>
          </a:p>
          <a:p>
            <a:endParaRPr kumimoji="1" lang="zh-CN" altLang="en-US" dirty="0"/>
          </a:p>
          <a:p>
            <a:endParaRPr kumimoji="1" lang="zh-CN" altLang="en-US" dirty="0" smtClean="0"/>
          </a:p>
          <a:p>
            <a:r>
              <a:rPr kumimoji="1" lang="zh-CN" altLang="en-US" dirty="0" smtClean="0"/>
              <a:t>设计不确定的</a:t>
            </a:r>
            <a:r>
              <a:rPr kumimoji="1" lang="en-US" altLang="zh-CN" dirty="0" smtClean="0"/>
              <a:t>PDA</a:t>
            </a:r>
            <a:r>
              <a:rPr kumimoji="1" lang="zh-CN" altLang="en-US" dirty="0" smtClean="0"/>
              <a:t> </a:t>
            </a:r>
            <a:r>
              <a:rPr kumimoji="1" lang="en-US" altLang="zh-CN" dirty="0" smtClean="0"/>
              <a:t>M</a:t>
            </a:r>
            <a:r>
              <a:rPr kumimoji="1" lang="zh-CN" altLang="en-US" dirty="0" smtClean="0"/>
              <a:t>接受上面文法产生的语言，并采用格局方式写出句子</a:t>
            </a:r>
            <a:r>
              <a:rPr kumimoji="1" lang="en-US" altLang="zh-CN" dirty="0" err="1" smtClean="0"/>
              <a:t>ooo</a:t>
            </a:r>
            <a:r>
              <a:rPr kumimoji="1" lang="zh-CN" altLang="en-US" dirty="0" smtClean="0"/>
              <a:t>接受的过程。</a:t>
            </a:r>
            <a:endParaRPr kumimoji="1" lang="zh-CN" altLang="en-US" dirty="0"/>
          </a:p>
        </p:txBody>
      </p:sp>
      <p:graphicFrame>
        <p:nvGraphicFramePr>
          <p:cNvPr id="7" name="对象 6"/>
          <p:cNvGraphicFramePr>
            <a:graphicFrameLocks noChangeAspect="1"/>
          </p:cNvGraphicFramePr>
          <p:nvPr/>
        </p:nvGraphicFramePr>
        <p:xfrm>
          <a:off x="0" y="889000"/>
          <a:ext cx="279400" cy="139700"/>
        </p:xfrm>
        <a:graphic>
          <a:graphicData uri="http://schemas.openxmlformats.org/presentationml/2006/ole">
            <mc:AlternateContent xmlns:mc="http://schemas.openxmlformats.org/markup-compatibility/2006">
              <mc:Choice xmlns:v="urn:schemas-microsoft-com:vml" Requires="v">
                <p:oleObj spid="_x0000_s7214" r:id="rId3" imgW="279360" imgH="139680" progId="Equation.KSEE3">
                  <p:embed/>
                </p:oleObj>
              </mc:Choice>
              <mc:Fallback>
                <p:oleObj r:id="rId3" imgW="279360" imgH="139680" progId="Equation.KSEE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89000"/>
                        <a:ext cx="2794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ChangeArrowheads="1"/>
          </p:cNvSpPr>
          <p:nvPr/>
        </p:nvSpPr>
        <p:spPr bwMode="auto">
          <a:xfrm>
            <a:off x="3860800" y="4536544"/>
            <a:ext cx="19269756" cy="56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p:cNvGraphicFramePr>
          <p:nvPr>
            <p:extLst>
              <p:ext uri="{D42A27DB-BD31-4B8C-83A1-F6EECF244321}">
                <p14:modId xmlns:p14="http://schemas.microsoft.com/office/powerpoint/2010/main" val="1491478845"/>
              </p:ext>
            </p:extLst>
          </p:nvPr>
        </p:nvGraphicFramePr>
        <p:xfrm>
          <a:off x="3860800" y="4092575"/>
          <a:ext cx="3572934" cy="2084388"/>
        </p:xfrm>
        <a:graphic>
          <a:graphicData uri="http://schemas.openxmlformats.org/presentationml/2006/ole">
            <mc:AlternateContent xmlns:mc="http://schemas.openxmlformats.org/markup-compatibility/2006">
              <mc:Choice xmlns:v="urn:schemas-microsoft-com:vml" Requires="v">
                <p:oleObj spid="_x0000_s7215" r:id="rId5" imgW="2273300" imgH="965200" progId="Visio.Drawing.11">
                  <p:embed/>
                </p:oleObj>
              </mc:Choice>
              <mc:Fallback>
                <p:oleObj r:id="rId5" imgW="2273300" imgH="965200" progId="Visio.Drawing.11">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0800" y="4092575"/>
                        <a:ext cx="3572934" cy="2084388"/>
                      </a:xfrm>
                      <a:prstGeom prst="rect">
                        <a:avLst/>
                      </a:prstGeom>
                      <a:noFill/>
                    </p:spPr>
                  </p:pic>
                </p:oleObj>
              </mc:Fallback>
            </mc:AlternateContent>
          </a:graphicData>
        </a:graphic>
      </p:graphicFrame>
      <p:pic>
        <p:nvPicPr>
          <p:cNvPr id="4" name="图片 3"/>
          <p:cNvPicPr>
            <a:picLocks noChangeAspect="1"/>
          </p:cNvPicPr>
          <p:nvPr/>
        </p:nvPicPr>
        <p:blipFill>
          <a:blip r:embed="rId7"/>
          <a:stretch>
            <a:fillRect/>
          </a:stretch>
        </p:blipFill>
        <p:spPr>
          <a:xfrm>
            <a:off x="1484196" y="2331379"/>
            <a:ext cx="1841500" cy="901700"/>
          </a:xfrm>
          <a:prstGeom prst="rect">
            <a:avLst/>
          </a:prstGeom>
        </p:spPr>
      </p:pic>
      <p:pic>
        <p:nvPicPr>
          <p:cNvPr id="6" name="图片 5"/>
          <p:cNvPicPr>
            <a:picLocks noChangeAspect="1"/>
          </p:cNvPicPr>
          <p:nvPr/>
        </p:nvPicPr>
        <p:blipFill>
          <a:blip r:embed="rId8"/>
          <a:stretch>
            <a:fillRect/>
          </a:stretch>
        </p:blipFill>
        <p:spPr>
          <a:xfrm>
            <a:off x="1304228" y="5943998"/>
            <a:ext cx="7353300" cy="812800"/>
          </a:xfrm>
          <a:prstGeom prst="rect">
            <a:avLst/>
          </a:prstGeom>
        </p:spPr>
      </p:pic>
    </p:spTree>
    <p:extLst>
      <p:ext uri="{BB962C8B-B14F-4D97-AF65-F5344CB8AC3E}">
        <p14:creationId xmlns:p14="http://schemas.microsoft.com/office/powerpoint/2010/main" val="1388391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典型例题</a:t>
            </a:r>
            <a:r>
              <a:rPr kumimoji="1" lang="en-US" altLang="zh-CN" dirty="0" smtClean="0"/>
              <a:t>4</a:t>
            </a:r>
            <a:endParaRPr kumimoji="1" lang="zh-CN" altLang="en-US" dirty="0"/>
          </a:p>
        </p:txBody>
      </p:sp>
      <p:sp>
        <p:nvSpPr>
          <p:cNvPr id="3" name="内容占位符 2"/>
          <p:cNvSpPr>
            <a:spLocks noGrp="1"/>
          </p:cNvSpPr>
          <p:nvPr>
            <p:ph idx="1"/>
          </p:nvPr>
        </p:nvSpPr>
        <p:spPr>
          <a:xfrm>
            <a:off x="838200" y="1424181"/>
            <a:ext cx="10515600" cy="4351338"/>
          </a:xfrm>
        </p:spPr>
        <p:txBody>
          <a:bodyPr/>
          <a:lstStyle/>
          <a:p>
            <a:r>
              <a:rPr kumimoji="1" lang="zh-CN" altLang="en-US" dirty="0" smtClean="0"/>
              <a:t>证明下面的语言不是上下文无关语言</a:t>
            </a:r>
            <a:endParaRPr kumimoji="1" lang="zh-CN" altLang="en-US" dirty="0"/>
          </a:p>
        </p:txBody>
      </p:sp>
      <p:sp>
        <p:nvSpPr>
          <p:cNvPr id="7" name="Rectangle 5"/>
          <p:cNvSpPr>
            <a:spLocks noChangeArrowheads="1"/>
          </p:cNvSpPr>
          <p:nvPr/>
        </p:nvSpPr>
        <p:spPr bwMode="auto">
          <a:xfrm>
            <a:off x="999067" y="2472265"/>
            <a:ext cx="1838793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4" name="图片 3"/>
          <p:cNvPicPr>
            <a:picLocks noChangeAspect="1"/>
          </p:cNvPicPr>
          <p:nvPr/>
        </p:nvPicPr>
        <p:blipFill>
          <a:blip r:embed="rId2"/>
          <a:stretch>
            <a:fillRect/>
          </a:stretch>
        </p:blipFill>
        <p:spPr>
          <a:xfrm>
            <a:off x="1679963" y="1865576"/>
            <a:ext cx="7226300" cy="431800"/>
          </a:xfrm>
          <a:prstGeom prst="rect">
            <a:avLst/>
          </a:prstGeom>
        </p:spPr>
      </p:pic>
      <p:pic>
        <p:nvPicPr>
          <p:cNvPr id="9" name="图片 8"/>
          <p:cNvPicPr>
            <a:picLocks noChangeAspect="1"/>
          </p:cNvPicPr>
          <p:nvPr/>
        </p:nvPicPr>
        <p:blipFill>
          <a:blip r:embed="rId3"/>
          <a:stretch>
            <a:fillRect/>
          </a:stretch>
        </p:blipFill>
        <p:spPr>
          <a:xfrm>
            <a:off x="800100" y="2305244"/>
            <a:ext cx="10591800" cy="444500"/>
          </a:xfrm>
          <a:prstGeom prst="rect">
            <a:avLst/>
          </a:prstGeom>
        </p:spPr>
      </p:pic>
      <p:pic>
        <p:nvPicPr>
          <p:cNvPr id="10" name="图片 9"/>
          <p:cNvPicPr>
            <a:picLocks noChangeAspect="1"/>
          </p:cNvPicPr>
          <p:nvPr/>
        </p:nvPicPr>
        <p:blipFill>
          <a:blip r:embed="rId3"/>
          <a:stretch>
            <a:fillRect/>
          </a:stretch>
        </p:blipFill>
        <p:spPr>
          <a:xfrm>
            <a:off x="800100" y="3206750"/>
            <a:ext cx="10591800" cy="444500"/>
          </a:xfrm>
          <a:prstGeom prst="rect">
            <a:avLst/>
          </a:prstGeom>
        </p:spPr>
      </p:pic>
      <p:pic>
        <p:nvPicPr>
          <p:cNvPr id="11" name="图片 10"/>
          <p:cNvPicPr>
            <a:picLocks noChangeAspect="1"/>
          </p:cNvPicPr>
          <p:nvPr/>
        </p:nvPicPr>
        <p:blipFill>
          <a:blip r:embed="rId4"/>
          <a:stretch>
            <a:fillRect/>
          </a:stretch>
        </p:blipFill>
        <p:spPr>
          <a:xfrm>
            <a:off x="838200" y="3599850"/>
            <a:ext cx="10773472" cy="2899174"/>
          </a:xfrm>
          <a:prstGeom prst="rect">
            <a:avLst/>
          </a:prstGeom>
        </p:spPr>
      </p:pic>
    </p:spTree>
    <p:extLst>
      <p:ext uri="{BB962C8B-B14F-4D97-AF65-F5344CB8AC3E}">
        <p14:creationId xmlns:p14="http://schemas.microsoft.com/office/powerpoint/2010/main" val="10204066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3215</TotalTime>
  <Words>647</Words>
  <Application>Microsoft Macintosh PowerPoint</Application>
  <PresentationFormat>宽屏</PresentationFormat>
  <Paragraphs>74</Paragraphs>
  <Slides>12</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vt:i4>
      </vt:variant>
    </vt:vector>
  </HeadingPairs>
  <TitlesOfParts>
    <vt:vector size="23" baseType="lpstr">
      <vt:lpstr>Calibri</vt:lpstr>
      <vt:lpstr>Calibri Light</vt:lpstr>
      <vt:lpstr>MingLiU</vt:lpstr>
      <vt:lpstr>MS Mincho</vt:lpstr>
      <vt:lpstr>Times New Roman</vt:lpstr>
      <vt:lpstr>Verdana</vt:lpstr>
      <vt:lpstr>宋体</vt:lpstr>
      <vt:lpstr>Arial</vt:lpstr>
      <vt:lpstr>Office 主题</vt:lpstr>
      <vt:lpstr>Visio.Drawing.11</vt:lpstr>
      <vt:lpstr>Equation.KSEE3</vt:lpstr>
      <vt:lpstr>上下文无关文法的应用与例题解析</vt:lpstr>
      <vt:lpstr>第四章复习</vt:lpstr>
      <vt:lpstr>编辑器中的形式语言</vt:lpstr>
      <vt:lpstr>上下文无关文法在语法分析中的应用 1</vt:lpstr>
      <vt:lpstr>上下文无关文法在语法分析中的应用2 </vt:lpstr>
      <vt:lpstr>上下文无关文法变换的应用-LL(k)文法</vt:lpstr>
      <vt:lpstr>上下文无关文法变换的应用-消除左递归</vt:lpstr>
      <vt:lpstr>其他应用</vt:lpstr>
      <vt:lpstr>典型例题1</vt:lpstr>
      <vt:lpstr>典型例题2</vt:lpstr>
      <vt:lpstr>典型例题3</vt:lpstr>
      <vt:lpstr>典型例题4</vt:lpstr>
    </vt:vector>
  </TitlesOfParts>
  <Company/>
  <LinksUpToDate>false</LinksUpToDate>
  <SharedDoc>false</SharedDoc>
  <HyperlinksChanged>false</HyperlinksChanged>
  <AppVersion>15.0023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上下文无关文法的应用与例题解析</dc:title>
  <dc:creator>Microsoft Office 用户</dc:creator>
  <cp:lastModifiedBy>Microsoft Office 用户</cp:lastModifiedBy>
  <cp:revision>22</cp:revision>
  <dcterms:created xsi:type="dcterms:W3CDTF">2017-06-05T02:36:25Z</dcterms:created>
  <dcterms:modified xsi:type="dcterms:W3CDTF">2022-06-06T15:55:11Z</dcterms:modified>
</cp:coreProperties>
</file>