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handoutMasterIdLst>
    <p:handoutMasterId r:id="rId122"/>
  </p:handoutMasterIdLst>
  <p:sldIdLst>
    <p:sldId id="256" r:id="rId4"/>
    <p:sldId id="741" r:id="rId6"/>
    <p:sldId id="940" r:id="rId7"/>
    <p:sldId id="941" r:id="rId8"/>
    <p:sldId id="943" r:id="rId9"/>
    <p:sldId id="954" r:id="rId10"/>
    <p:sldId id="746" r:id="rId11"/>
    <p:sldId id="944" r:id="rId12"/>
    <p:sldId id="945" r:id="rId13"/>
    <p:sldId id="946" r:id="rId14"/>
    <p:sldId id="947" r:id="rId15"/>
    <p:sldId id="948" r:id="rId16"/>
    <p:sldId id="949" r:id="rId17"/>
    <p:sldId id="950" r:id="rId18"/>
    <p:sldId id="951" r:id="rId19"/>
    <p:sldId id="952" r:id="rId20"/>
    <p:sldId id="925" r:id="rId21"/>
    <p:sldId id="955" r:id="rId22"/>
    <p:sldId id="953" r:id="rId23"/>
    <p:sldId id="761" r:id="rId24"/>
    <p:sldId id="762" r:id="rId25"/>
    <p:sldId id="763" r:id="rId26"/>
    <p:sldId id="936" r:id="rId27"/>
    <p:sldId id="937" r:id="rId28"/>
    <p:sldId id="765" r:id="rId29"/>
    <p:sldId id="956" r:id="rId30"/>
    <p:sldId id="767" r:id="rId31"/>
    <p:sldId id="768" r:id="rId32"/>
    <p:sldId id="958" r:id="rId33"/>
    <p:sldId id="771" r:id="rId34"/>
    <p:sldId id="772" r:id="rId35"/>
    <p:sldId id="773" r:id="rId36"/>
    <p:sldId id="774" r:id="rId37"/>
    <p:sldId id="775" r:id="rId38"/>
    <p:sldId id="776" r:id="rId39"/>
    <p:sldId id="777" r:id="rId40"/>
    <p:sldId id="778" r:id="rId41"/>
    <p:sldId id="779" r:id="rId42"/>
    <p:sldId id="780" r:id="rId43"/>
    <p:sldId id="781" r:id="rId44"/>
    <p:sldId id="959" r:id="rId45"/>
    <p:sldId id="782" r:id="rId46"/>
    <p:sldId id="783" r:id="rId47"/>
    <p:sldId id="960" r:id="rId48"/>
    <p:sldId id="961" r:id="rId49"/>
    <p:sldId id="962" r:id="rId50"/>
    <p:sldId id="963" r:id="rId51"/>
    <p:sldId id="786" r:id="rId52"/>
    <p:sldId id="939" r:id="rId53"/>
    <p:sldId id="964" r:id="rId54"/>
    <p:sldId id="965" r:id="rId55"/>
    <p:sldId id="966" r:id="rId56"/>
    <p:sldId id="967" r:id="rId57"/>
    <p:sldId id="968" r:id="rId58"/>
    <p:sldId id="969" r:id="rId59"/>
    <p:sldId id="970" r:id="rId60"/>
    <p:sldId id="971" r:id="rId61"/>
    <p:sldId id="972" r:id="rId62"/>
    <p:sldId id="973" r:id="rId63"/>
    <p:sldId id="974" r:id="rId64"/>
    <p:sldId id="975" r:id="rId65"/>
    <p:sldId id="976" r:id="rId66"/>
    <p:sldId id="977" r:id="rId67"/>
    <p:sldId id="978" r:id="rId68"/>
    <p:sldId id="979" r:id="rId69"/>
    <p:sldId id="980" r:id="rId70"/>
    <p:sldId id="981" r:id="rId71"/>
    <p:sldId id="982" r:id="rId72"/>
    <p:sldId id="983" r:id="rId73"/>
    <p:sldId id="984" r:id="rId74"/>
    <p:sldId id="985" r:id="rId75"/>
    <p:sldId id="799" r:id="rId76"/>
    <p:sldId id="804" r:id="rId77"/>
    <p:sldId id="938" r:id="rId78"/>
    <p:sldId id="805" r:id="rId79"/>
    <p:sldId id="806" r:id="rId80"/>
    <p:sldId id="807" r:id="rId81"/>
    <p:sldId id="924" r:id="rId82"/>
    <p:sldId id="810" r:id="rId83"/>
    <p:sldId id="811" r:id="rId84"/>
    <p:sldId id="812" r:id="rId85"/>
    <p:sldId id="813" r:id="rId86"/>
    <p:sldId id="928" r:id="rId87"/>
    <p:sldId id="930" r:id="rId88"/>
    <p:sldId id="929" r:id="rId89"/>
    <p:sldId id="814" r:id="rId90"/>
    <p:sldId id="931" r:id="rId91"/>
    <p:sldId id="932" r:id="rId92"/>
    <p:sldId id="933" r:id="rId93"/>
    <p:sldId id="934" r:id="rId94"/>
    <p:sldId id="816" r:id="rId95"/>
    <p:sldId id="817" r:id="rId96"/>
    <p:sldId id="818" r:id="rId97"/>
    <p:sldId id="823" r:id="rId98"/>
    <p:sldId id="824" r:id="rId99"/>
    <p:sldId id="831" r:id="rId100"/>
    <p:sldId id="832" r:id="rId101"/>
    <p:sldId id="833" r:id="rId102"/>
    <p:sldId id="834" r:id="rId103"/>
    <p:sldId id="835" r:id="rId104"/>
    <p:sldId id="836" r:id="rId105"/>
    <p:sldId id="837" r:id="rId106"/>
    <p:sldId id="838" r:id="rId107"/>
    <p:sldId id="839" r:id="rId108"/>
    <p:sldId id="840" r:id="rId109"/>
    <p:sldId id="841" r:id="rId110"/>
    <p:sldId id="842" r:id="rId111"/>
    <p:sldId id="843" r:id="rId112"/>
    <p:sldId id="844" r:id="rId113"/>
    <p:sldId id="845" r:id="rId114"/>
    <p:sldId id="846" r:id="rId115"/>
    <p:sldId id="847" r:id="rId116"/>
    <p:sldId id="848" r:id="rId117"/>
    <p:sldId id="849" r:id="rId118"/>
    <p:sldId id="850" r:id="rId119"/>
    <p:sldId id="851" r:id="rId120"/>
    <p:sldId id="935" r:id="rId121"/>
  </p:sldIdLst>
  <p:sldSz cx="9144000" cy="6858000" type="screen4x3"/>
  <p:notesSz cx="7102475" cy="10233025"/>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a:srgbClr val="0078CD"/>
    <a:srgbClr val="0073C4"/>
    <a:srgbClr val="0072C1"/>
    <a:srgbClr val="30859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014"/>
    <p:restoredTop sz="78571"/>
  </p:normalViewPr>
  <p:slideViewPr>
    <p:cSldViewPr showGuides="1">
      <p:cViewPr varScale="1">
        <p:scale>
          <a:sx n="66" d="100"/>
          <a:sy n="66" d="100"/>
        </p:scale>
        <p:origin x="1608" y="72"/>
      </p:cViewPr>
      <p:guideLst>
        <p:guide orient="horz" pos="2173"/>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5" Type="http://schemas.openxmlformats.org/officeDocument/2006/relationships/tableStyles" Target="tableStyles.xml"/><Relationship Id="rId124" Type="http://schemas.openxmlformats.org/officeDocument/2006/relationships/viewProps" Target="viewProps.xml"/><Relationship Id="rId123" Type="http://schemas.openxmlformats.org/officeDocument/2006/relationships/presProps" Target="presProps.xml"/><Relationship Id="rId122" Type="http://schemas.openxmlformats.org/officeDocument/2006/relationships/handoutMaster" Target="handoutMasters/handoutMaster1.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8163" cy="511175"/>
          </a:xfrm>
          <a:prstGeom prst="rect">
            <a:avLst/>
          </a:prstGeom>
        </p:spPr>
        <p:txBody>
          <a:bodyPr vert="horz" lIns="99057" tIns="49528" rIns="99057" bIns="49528" rtlCol="0"/>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4022725" y="0"/>
            <a:ext cx="3078163" cy="511175"/>
          </a:xfrm>
          <a:prstGeom prst="rect">
            <a:avLst/>
          </a:prstGeom>
        </p:spPr>
        <p:txBody>
          <a:bodyPr vert="horz" wrap="square" lIns="99057" tIns="49528" rIns="99057" bIns="49528" numCol="1" anchor="t" anchorCtr="0" compatLnSpc="1"/>
          <a:lstStyle>
            <a:lvl1pPr algn="r" eaLnBrk="1" hangingPunct="1">
              <a:defRPr sz="13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E34232D-908E-4A7B-B0D1-54304CCC888B}" type="datetimeFigureOut">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9720263"/>
            <a:ext cx="3078163" cy="511175"/>
          </a:xfrm>
          <a:prstGeom prst="rect">
            <a:avLst/>
          </a:prstGeom>
        </p:spPr>
        <p:txBody>
          <a:bodyPr vert="horz" lIns="99057" tIns="49528" rIns="99057" bIns="49528" rtlCol="0" anchor="b"/>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4022725" y="9720263"/>
            <a:ext cx="3078163" cy="511175"/>
          </a:xfrm>
          <a:prstGeom prst="rect">
            <a:avLst/>
          </a:prstGeom>
        </p:spPr>
        <p:txBody>
          <a:bodyPr vert="horz" wrap="square" lIns="99057" tIns="49528" rIns="99057" bIns="49528"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8F977C98-EE6C-42D4-9E06-AEF28B817924}" type="slidenum">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8163" cy="511175"/>
          </a:xfrm>
          <a:prstGeom prst="rect">
            <a:avLst/>
          </a:prstGeom>
        </p:spPr>
        <p:txBody>
          <a:bodyPr vert="horz" lIns="99057" tIns="49528" rIns="99057" bIns="49528" rtlCol="0"/>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4022725" y="0"/>
            <a:ext cx="3078163" cy="511175"/>
          </a:xfrm>
          <a:prstGeom prst="rect">
            <a:avLst/>
          </a:prstGeom>
        </p:spPr>
        <p:txBody>
          <a:bodyPr vert="horz" wrap="square" lIns="99057" tIns="49528" rIns="99057" bIns="49528" numCol="1" anchor="t" anchorCtr="0" compatLnSpc="1"/>
          <a:lstStyle>
            <a:lvl1pPr algn="r" eaLnBrk="1" hangingPunct="1">
              <a:defRPr sz="13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CB910C7-1F43-44E6-ACD2-85F9E2DFD6AF}" type="datetimeFigureOut">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992188" y="766763"/>
            <a:ext cx="5118100" cy="3838575"/>
          </a:xfrm>
          <a:prstGeom prst="rect">
            <a:avLst/>
          </a:prstGeom>
          <a:noFill/>
          <a:ln w="12700">
            <a:solidFill>
              <a:prstClr val="black"/>
            </a:solidFill>
          </a:ln>
        </p:spPr>
        <p:txBody>
          <a:bodyPr vert="horz" lIns="99057" tIns="49528" rIns="99057" bIns="49528"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endParaRPr>
          </a:p>
        </p:txBody>
      </p:sp>
      <p:sp>
        <p:nvSpPr>
          <p:cNvPr id="5" name="备注占位符 4"/>
          <p:cNvSpPr>
            <a:spLocks noGrp="1"/>
          </p:cNvSpPr>
          <p:nvPr>
            <p:ph type="body" sz="quarter" idx="3"/>
          </p:nvPr>
        </p:nvSpPr>
        <p:spPr>
          <a:xfrm>
            <a:off x="709613" y="4860925"/>
            <a:ext cx="5683250" cy="4605338"/>
          </a:xfrm>
          <a:prstGeom prst="rect">
            <a:avLst/>
          </a:prstGeom>
        </p:spPr>
        <p:txBody>
          <a:bodyPr vert="horz" wrap="square" lIns="99057" tIns="49528" rIns="99057" bIns="49528" numCol="1"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1" lang="en-US"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9720263"/>
            <a:ext cx="3078163" cy="511175"/>
          </a:xfrm>
          <a:prstGeom prst="rect">
            <a:avLst/>
          </a:prstGeom>
        </p:spPr>
        <p:txBody>
          <a:bodyPr vert="horz" lIns="99057" tIns="49528" rIns="99057" bIns="49528" rtlCol="0" anchor="b"/>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4022725" y="9720263"/>
            <a:ext cx="3078163" cy="511175"/>
          </a:xfrm>
          <a:prstGeom prst="rect">
            <a:avLst/>
          </a:prstGeom>
        </p:spPr>
        <p:txBody>
          <a:bodyPr vert="horz" wrap="square" lIns="99057" tIns="49528" rIns="99057" bIns="49528"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46DD165A-1D2C-4CEC-9134-559DA0BC3DCF}"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幻灯片图像占位符 1"/>
          <p:cNvSpPr>
            <a:spLocks noGrp="1" noRot="1" noChangeAspect="1" noTextEdit="1"/>
          </p:cNvSpPr>
          <p:nvPr>
            <p:ph type="sldImg"/>
          </p:nvPr>
        </p:nvSpPr>
        <p:spPr>
          <a:ln>
            <a:solidFill>
              <a:srgbClr val="000000">
                <a:alpha val="100000"/>
              </a:srgbClr>
            </a:solidFill>
            <a:miter lim="800000"/>
          </a:ln>
        </p:spPr>
      </p:sp>
      <p:sp>
        <p:nvSpPr>
          <p:cNvPr id="9219" name="备注占位符 2"/>
          <p:cNvSpPr>
            <a:spLocks noGrp="1"/>
          </p:cNvSpPr>
          <p:nvPr>
            <p:ph type="body" idx="1"/>
          </p:nvPr>
        </p:nvSpPr>
        <p:spPr>
          <a:noFill/>
          <a:ln>
            <a:noFill/>
          </a:ln>
        </p:spPr>
        <p:txBody>
          <a:bodyPr wrap="square" lIns="99057" tIns="49528" rIns="99057" bIns="49528" anchor="t" anchorCtr="0"/>
          <a:p>
            <a:pPr lvl="0" eaLnBrk="1" hangingPunct="1">
              <a:spcBef>
                <a:spcPct val="0"/>
              </a:spcBef>
            </a:pPr>
            <a:r>
              <a:rPr lang="en-US" altLang="zh-CN" dirty="0"/>
              <a:t>2019</a:t>
            </a:r>
            <a:r>
              <a:rPr lang="zh-CN" altLang="en-US" dirty="0"/>
              <a:t>年第</a:t>
            </a:r>
            <a:r>
              <a:rPr lang="en-US" altLang="zh-CN" dirty="0"/>
              <a:t>6</a:t>
            </a:r>
            <a:r>
              <a:rPr lang="zh-CN" altLang="en-US" dirty="0"/>
              <a:t>周</a:t>
            </a:r>
            <a:r>
              <a:rPr lang="en-US" altLang="zh-CN" dirty="0"/>
              <a:t>3</a:t>
            </a:r>
            <a:r>
              <a:rPr lang="zh-CN" altLang="en-US" dirty="0"/>
              <a:t>，</a:t>
            </a:r>
            <a:r>
              <a:rPr lang="en-US" altLang="zh-CN" dirty="0"/>
              <a:t>4</a:t>
            </a:r>
            <a:r>
              <a:rPr lang="zh-CN" altLang="en-US" dirty="0"/>
              <a:t>节开始</a:t>
            </a:r>
            <a:endParaRPr lang="en-US" altLang="zh-CN" dirty="0"/>
          </a:p>
        </p:txBody>
      </p:sp>
      <p:sp>
        <p:nvSpPr>
          <p:cNvPr id="9220"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9057" tIns="49528" rIns="99057" bIns="49528" anchor="t" anchorCtr="0"/>
          <a:p>
            <a:pPr lvl="0"/>
            <a:endParaRPr lang="zh-CN" altLang="en-US" dirty="0"/>
          </a:p>
        </p:txBody>
      </p:sp>
      <p:sp>
        <p:nvSpPr>
          <p:cNvPr id="14340"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9057" tIns="49528" rIns="99057" bIns="49528" anchor="t" anchorCtr="0"/>
          <a:p>
            <a:pPr lvl="0"/>
            <a:r>
              <a:rPr lang="en-US" altLang="zh-CN" dirty="0"/>
              <a:t>B</a:t>
            </a:r>
            <a:endParaRPr lang="zh-CN" altLang="en-US" dirty="0"/>
          </a:p>
        </p:txBody>
      </p:sp>
      <p:sp>
        <p:nvSpPr>
          <p:cNvPr id="20484"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29699" name="Rectangle 2"/>
          <p:cNvSpPr>
            <a:spLocks noRot="1" noTextEdit="1"/>
          </p:cNvSpPr>
          <p:nvPr>
            <p:ph type="sldImg"/>
          </p:nvPr>
        </p:nvSpPr>
        <p:spPr>
          <a:xfrm>
            <a:off x="995363" y="644525"/>
            <a:ext cx="5130800" cy="3849688"/>
          </a:xfrm>
          <a:ln>
            <a:solidFill>
              <a:srgbClr val="000000">
                <a:alpha val="100000"/>
              </a:srgbClr>
            </a:solidFill>
            <a:miter lim="800000"/>
          </a:ln>
        </p:spPr>
      </p:sp>
      <p:sp>
        <p:nvSpPr>
          <p:cNvPr id="29700" name="Rectangle 3"/>
          <p:cNvSpPr>
            <a:spLocks noGrp="1"/>
          </p:cNvSpPr>
          <p:nvPr>
            <p:ph type="body" idx="1"/>
          </p:nvPr>
        </p:nvSpPr>
        <p:spPr>
          <a:xfrm>
            <a:off x="534988" y="4860925"/>
            <a:ext cx="6119812" cy="4605338"/>
          </a:xfrm>
          <a:noFill/>
          <a:ln>
            <a:noFill/>
          </a:ln>
        </p:spPr>
        <p:txBody>
          <a:bodyPr wrap="square" lIns="101332" tIns="50666" rIns="101332" bIns="50666" anchor="t" anchorCtr="0"/>
          <a:p>
            <a:pPr lvl="0"/>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幻灯片图像占位符 1"/>
          <p:cNvSpPr>
            <a:spLocks noGrp="1" noRot="1" noChangeAspect="1" noTextEdit="1"/>
          </p:cNvSpPr>
          <p:nvPr>
            <p:ph type="sldImg"/>
          </p:nvPr>
        </p:nvSpPr>
        <p:spPr>
          <a:ln>
            <a:solidFill>
              <a:srgbClr val="000000">
                <a:alpha val="100000"/>
              </a:srgbClr>
            </a:solidFill>
            <a:miter lim="800000"/>
          </a:ln>
        </p:spPr>
      </p:sp>
      <p:sp>
        <p:nvSpPr>
          <p:cNvPr id="23555" name="备注占位符 2"/>
          <p:cNvSpPr>
            <a:spLocks noGrp="1"/>
          </p:cNvSpPr>
          <p:nvPr>
            <p:ph type="body" idx="1"/>
          </p:nvPr>
        </p:nvSpPr>
        <p:spPr>
          <a:noFill/>
          <a:ln>
            <a:noFill/>
          </a:ln>
        </p:spPr>
        <p:txBody>
          <a:bodyPr wrap="square" lIns="99057" tIns="49528" rIns="99057" bIns="49528" anchor="t" anchorCtr="0"/>
          <a:p>
            <a:pPr lvl="0"/>
            <a:r>
              <a:rPr lang="zh-CN" altLang="en-US" dirty="0"/>
              <a:t>答案</a:t>
            </a:r>
            <a:r>
              <a:rPr lang="en-US" altLang="zh-CN" dirty="0"/>
              <a:t>C</a:t>
            </a:r>
            <a:endParaRPr lang="zh-CN" altLang="en-US" dirty="0"/>
          </a:p>
        </p:txBody>
      </p:sp>
      <p:sp>
        <p:nvSpPr>
          <p:cNvPr id="23556"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幻灯片图像占位符 1"/>
          <p:cNvSpPr>
            <a:spLocks noGrp="1" noRot="1" noChangeAspect="1" noTextEdit="1"/>
          </p:cNvSpPr>
          <p:nvPr>
            <p:ph type="sldImg"/>
          </p:nvPr>
        </p:nvSpPr>
        <p:spPr>
          <a:ln>
            <a:solidFill>
              <a:srgbClr val="000000">
                <a:alpha val="100000"/>
              </a:srgbClr>
            </a:solidFill>
            <a:miter lim="800000"/>
          </a:ln>
        </p:spPr>
      </p:sp>
      <p:sp>
        <p:nvSpPr>
          <p:cNvPr id="25603" name="备注占位符 2"/>
          <p:cNvSpPr>
            <a:spLocks noGrp="1"/>
          </p:cNvSpPr>
          <p:nvPr>
            <p:ph type="body" idx="1"/>
          </p:nvPr>
        </p:nvSpPr>
        <p:spPr>
          <a:noFill/>
          <a:ln>
            <a:noFill/>
          </a:ln>
        </p:spPr>
        <p:txBody>
          <a:bodyPr wrap="square" lIns="99057" tIns="49528" rIns="99057" bIns="49528" anchor="t" anchorCtr="0"/>
          <a:p>
            <a:pPr lvl="0"/>
            <a:r>
              <a:rPr lang="zh-CN" altLang="en-US" dirty="0"/>
              <a:t>答案</a:t>
            </a:r>
            <a:r>
              <a:rPr lang="en-US" altLang="zh-CN" dirty="0"/>
              <a:t>B    </a:t>
            </a:r>
            <a:r>
              <a:rPr lang="zh-CN" altLang="en-US" sz="1300" dirty="0"/>
              <a:t>组合逻辑元件（操作元件）不含存储信号的记忆单元，任何时刻产生的输出取决于当前的输入，加法器、算术逻辑单元（</a:t>
            </a:r>
            <a:r>
              <a:rPr lang="en-US" altLang="zh-CN" sz="1300" dirty="0"/>
              <a:t>ALU</a:t>
            </a:r>
            <a:r>
              <a:rPr lang="zh-CN" altLang="en-US" sz="1300" dirty="0"/>
              <a:t>）、译码器、多路选择器、三态门等都属于操作原件。时序逻辑元件（状态元件）包含存储记忆单元，各类寄存器和存储器，如通用寄存器组（</a:t>
            </a:r>
            <a:r>
              <a:rPr lang="en-US" altLang="zh-CN" sz="1300" dirty="0"/>
              <a:t>GPRs</a:t>
            </a:r>
            <a:r>
              <a:rPr lang="zh-CN" altLang="en-US" sz="1300" dirty="0"/>
              <a:t>）、程序计数器（</a:t>
            </a:r>
            <a:r>
              <a:rPr lang="en-US" altLang="zh-CN" sz="1300" dirty="0"/>
              <a:t>PC</a:t>
            </a:r>
            <a:r>
              <a:rPr lang="zh-CN" altLang="en-US" sz="1300" dirty="0"/>
              <a:t>）、状态</a:t>
            </a:r>
            <a:r>
              <a:rPr lang="en-US" altLang="zh-CN" sz="1300" dirty="0"/>
              <a:t>/</a:t>
            </a:r>
            <a:r>
              <a:rPr lang="zh-CN" altLang="en-US" sz="1300" dirty="0"/>
              <a:t>移位</a:t>
            </a:r>
            <a:r>
              <a:rPr lang="en-US" altLang="zh-CN" sz="1300" dirty="0"/>
              <a:t>/</a:t>
            </a:r>
            <a:r>
              <a:rPr lang="zh-CN" altLang="en-US" sz="1300" dirty="0"/>
              <a:t>暂存</a:t>
            </a:r>
            <a:r>
              <a:rPr lang="en-US" altLang="zh-CN" sz="1300" dirty="0"/>
              <a:t>/</a:t>
            </a:r>
            <a:r>
              <a:rPr lang="zh-CN" altLang="en-US" sz="1300" dirty="0"/>
              <a:t>锁存寄存器等，都属于状态元件。</a:t>
            </a:r>
            <a:endParaRPr lang="zh-CN" altLang="en-US" dirty="0"/>
          </a:p>
        </p:txBody>
      </p:sp>
      <p:sp>
        <p:nvSpPr>
          <p:cNvPr id="25604"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ChangeArrowheads="1" noTextEdit="1"/>
          </p:cNvSpPr>
          <p:nvPr>
            <p:ph type="sldImg"/>
          </p:nvPr>
        </p:nvSpPr>
        <p:spPr>
          <a:xfrm>
            <a:off x="992188" y="768350"/>
            <a:ext cx="5114925" cy="3836988"/>
          </a:xfrm>
        </p:spPr>
      </p:sp>
      <p:sp>
        <p:nvSpPr>
          <p:cNvPr id="3993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3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82B24D5-6E6A-4461-AADD-141293C5D07E}"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38915" name="Rectangle 2"/>
          <p:cNvSpPr>
            <a:spLocks noRot="1" noTextEdit="1"/>
          </p:cNvSpPr>
          <p:nvPr>
            <p:ph type="sldImg"/>
          </p:nvPr>
        </p:nvSpPr>
        <p:spPr>
          <a:ln>
            <a:solidFill>
              <a:srgbClr val="000000">
                <a:alpha val="100000"/>
              </a:srgbClr>
            </a:solidFill>
            <a:miter lim="800000"/>
          </a:ln>
        </p:spPr>
      </p:sp>
      <p:sp>
        <p:nvSpPr>
          <p:cNvPr id="38916" name="Rectangle 3"/>
          <p:cNvSpPr>
            <a:spLocks noGrp="1"/>
          </p:cNvSpPr>
          <p:nvPr>
            <p:ph type="body" idx="1"/>
          </p:nvPr>
        </p:nvSpPr>
        <p:spPr>
          <a:noFill/>
          <a:ln>
            <a:noFill/>
          </a:ln>
        </p:spPr>
        <p:txBody>
          <a:bodyPr wrap="square" lIns="99057" tIns="49528" rIns="99057" bIns="49528" anchor="t" anchorCtr="0"/>
          <a:p>
            <a:pPr lvl="0"/>
            <a:r>
              <a:rPr lang="en-US" altLang="zh-CN" dirty="0"/>
              <a:t>① </a:t>
            </a:r>
            <a:r>
              <a:rPr lang="zh-CN" altLang="en-US" dirty="0"/>
              <a:t>程序计数器</a:t>
            </a:r>
            <a:r>
              <a:rPr lang="en-US" altLang="zh-CN" dirty="0"/>
              <a:t>PC</a:t>
            </a:r>
            <a:r>
              <a:rPr lang="zh-CN" altLang="en-US" dirty="0"/>
              <a:t>中装入第一条指令地址</a:t>
            </a:r>
            <a:r>
              <a:rPr lang="en-US" altLang="zh-CN" dirty="0"/>
              <a:t>101</a:t>
            </a:r>
            <a:r>
              <a:rPr lang="zh-CN" altLang="en-US" dirty="0"/>
              <a:t>（八进制）；</a:t>
            </a:r>
            <a:endParaRPr lang="zh-CN" altLang="en-US" dirty="0"/>
          </a:p>
          <a:p>
            <a:pPr lvl="0"/>
            <a:r>
              <a:rPr lang="zh-CN" altLang="en-US" dirty="0"/>
              <a:t>② </a:t>
            </a:r>
            <a:r>
              <a:rPr lang="en-US" altLang="zh-CN" dirty="0"/>
              <a:t>PC</a:t>
            </a:r>
            <a:r>
              <a:rPr lang="zh-CN" altLang="en-US" dirty="0"/>
              <a:t>的内容被放到指令地址总线</a:t>
            </a:r>
            <a:r>
              <a:rPr lang="en-US" altLang="zh-CN" dirty="0"/>
              <a:t>ABUS</a:t>
            </a:r>
            <a:r>
              <a:rPr lang="zh-CN" altLang="en-US" dirty="0"/>
              <a:t>（</a:t>
            </a:r>
            <a:r>
              <a:rPr lang="en-US" altLang="zh-CN" dirty="0"/>
              <a:t>I</a:t>
            </a:r>
            <a:r>
              <a:rPr lang="zh-CN" altLang="en-US" dirty="0"/>
              <a:t>）上，对指存进行译码，并启动读命令；</a:t>
            </a:r>
            <a:endParaRPr lang="zh-CN" altLang="en-US" dirty="0"/>
          </a:p>
          <a:p>
            <a:pPr lvl="0"/>
            <a:r>
              <a:rPr lang="zh-CN" altLang="en-US" dirty="0"/>
              <a:t>③ 从</a:t>
            </a:r>
            <a:r>
              <a:rPr lang="en-US" altLang="zh-CN" dirty="0"/>
              <a:t>101</a:t>
            </a:r>
            <a:r>
              <a:rPr lang="zh-CN" altLang="en-US" dirty="0"/>
              <a:t>号地址读出的</a:t>
            </a:r>
            <a:r>
              <a:rPr lang="en-US" altLang="zh-CN" dirty="0"/>
              <a:t>MOV</a:t>
            </a:r>
            <a:r>
              <a:rPr lang="zh-CN" altLang="en-US" dirty="0"/>
              <a:t>指令通过指令总线</a:t>
            </a:r>
            <a:r>
              <a:rPr lang="en-US" altLang="zh-CN" dirty="0"/>
              <a:t>IBUS</a:t>
            </a:r>
            <a:r>
              <a:rPr lang="zh-CN" altLang="en-US" dirty="0"/>
              <a:t>装入指令寄存器</a:t>
            </a:r>
            <a:r>
              <a:rPr lang="en-US" altLang="zh-CN" dirty="0"/>
              <a:t>IR</a:t>
            </a:r>
            <a:r>
              <a:rPr lang="zh-CN" altLang="en-US" dirty="0"/>
              <a:t>；</a:t>
            </a:r>
            <a:endParaRPr lang="zh-CN" altLang="en-US" dirty="0"/>
          </a:p>
          <a:p>
            <a:pPr lvl="0"/>
            <a:r>
              <a:rPr lang="zh-CN" altLang="en-US" dirty="0"/>
              <a:t>④  程序计数器内容加</a:t>
            </a:r>
            <a:r>
              <a:rPr lang="en-US" altLang="zh-CN" dirty="0"/>
              <a:t>1</a:t>
            </a:r>
            <a:r>
              <a:rPr lang="zh-CN" altLang="en-US" dirty="0"/>
              <a:t>，变成</a:t>
            </a:r>
            <a:r>
              <a:rPr lang="en-US" altLang="zh-CN" dirty="0"/>
              <a:t>102</a:t>
            </a:r>
            <a:r>
              <a:rPr lang="zh-CN" altLang="en-US" dirty="0"/>
              <a:t>，为取下一条指令做好准备；</a:t>
            </a:r>
            <a:endParaRPr lang="zh-CN" altLang="en-US" dirty="0"/>
          </a:p>
          <a:p>
            <a:pPr lvl="0"/>
            <a:r>
              <a:rPr lang="zh-CN" altLang="en-US" dirty="0"/>
              <a:t>⑤ 指令寄存器中的操作码（</a:t>
            </a:r>
            <a:r>
              <a:rPr lang="en-US" altLang="zh-CN" dirty="0"/>
              <a:t>OP</a:t>
            </a:r>
            <a:r>
              <a:rPr lang="zh-CN" altLang="en-US" dirty="0"/>
              <a:t>）被译码；</a:t>
            </a:r>
            <a:endParaRPr lang="zh-CN" altLang="en-US" dirty="0"/>
          </a:p>
          <a:p>
            <a:pPr lvl="0"/>
            <a:r>
              <a:rPr lang="zh-CN" altLang="en-US" dirty="0"/>
              <a:t>⑥ </a:t>
            </a:r>
            <a:r>
              <a:rPr lang="en-US" altLang="zh-CN" dirty="0"/>
              <a:t>CPU</a:t>
            </a:r>
            <a:r>
              <a:rPr lang="zh-CN" altLang="en-US" dirty="0"/>
              <a:t>识别出是</a:t>
            </a:r>
            <a:r>
              <a:rPr lang="en-US" altLang="zh-CN" dirty="0"/>
              <a:t>MOV</a:t>
            </a:r>
            <a:r>
              <a:rPr lang="zh-CN" altLang="en-US" dirty="0"/>
              <a:t>指令，至此，取指周期即告结束。</a:t>
            </a:r>
            <a:endParaRPr lang="zh-CN" altLang="en-US" dirty="0"/>
          </a:p>
          <a:p>
            <a:pPr lvl="0"/>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40963" name="Rectangle 2"/>
          <p:cNvSpPr>
            <a:spLocks noRot="1" noTextEdit="1"/>
          </p:cNvSpPr>
          <p:nvPr>
            <p:ph type="sldImg"/>
          </p:nvPr>
        </p:nvSpPr>
        <p:spPr>
          <a:ln>
            <a:solidFill>
              <a:srgbClr val="000000">
                <a:alpha val="100000"/>
              </a:srgbClr>
            </a:solidFill>
            <a:miter lim="800000"/>
          </a:ln>
        </p:spPr>
      </p:sp>
      <p:sp>
        <p:nvSpPr>
          <p:cNvPr id="40964" name="Rectangle 3"/>
          <p:cNvSpPr>
            <a:spLocks noGrp="1"/>
          </p:cNvSpPr>
          <p:nvPr>
            <p:ph type="body" idx="1"/>
          </p:nvPr>
        </p:nvSpPr>
        <p:spPr>
          <a:noFill/>
          <a:ln>
            <a:noFill/>
          </a:ln>
        </p:spPr>
        <p:txBody>
          <a:bodyPr wrap="square" lIns="99057" tIns="49528" rIns="99057" bIns="49528" anchor="t" anchorCtr="0"/>
          <a:p>
            <a:pPr lvl="0"/>
            <a:r>
              <a:rPr lang="en-US" altLang="zh-CN" dirty="0"/>
              <a:t>① </a:t>
            </a:r>
            <a:r>
              <a:rPr lang="zh-CN" altLang="en-US" dirty="0"/>
              <a:t>操作控制器（</a:t>
            </a:r>
            <a:r>
              <a:rPr lang="en-US" altLang="zh-CN" dirty="0"/>
              <a:t>OC</a:t>
            </a:r>
            <a:r>
              <a:rPr lang="zh-CN" altLang="en-US" dirty="0"/>
              <a:t>）送出控制信号到通用寄存器，选择</a:t>
            </a:r>
            <a:r>
              <a:rPr lang="en-US" altLang="zh-CN" dirty="0"/>
              <a:t>R1</a:t>
            </a:r>
            <a:r>
              <a:rPr lang="zh-CN" altLang="en-US" dirty="0"/>
              <a:t>（</a:t>
            </a:r>
            <a:r>
              <a:rPr lang="en-US" altLang="zh-CN" dirty="0"/>
              <a:t>10</a:t>
            </a:r>
            <a:r>
              <a:rPr lang="zh-CN" altLang="en-US" dirty="0"/>
              <a:t>）作源寄存器，选择</a:t>
            </a:r>
            <a:r>
              <a:rPr lang="en-US" altLang="zh-CN" dirty="0"/>
              <a:t>R0</a:t>
            </a:r>
            <a:r>
              <a:rPr lang="zh-CN" altLang="en-US" dirty="0"/>
              <a:t>作目标寄存器；</a:t>
            </a:r>
            <a:endParaRPr lang="zh-CN" altLang="en-US" dirty="0"/>
          </a:p>
          <a:p>
            <a:pPr lvl="0"/>
            <a:r>
              <a:rPr lang="zh-CN" altLang="en-US" dirty="0"/>
              <a:t>② </a:t>
            </a:r>
            <a:r>
              <a:rPr lang="en-US" altLang="zh-CN" dirty="0"/>
              <a:t>OC</a:t>
            </a:r>
            <a:r>
              <a:rPr lang="zh-CN" altLang="en-US" dirty="0"/>
              <a:t>送出控制信号到</a:t>
            </a:r>
            <a:r>
              <a:rPr lang="en-US" altLang="zh-CN" dirty="0"/>
              <a:t>ALU</a:t>
            </a:r>
            <a:r>
              <a:rPr lang="zh-CN" altLang="en-US" dirty="0"/>
              <a:t>，指定</a:t>
            </a:r>
            <a:r>
              <a:rPr lang="en-US" altLang="zh-CN" dirty="0"/>
              <a:t>ALU</a:t>
            </a:r>
            <a:r>
              <a:rPr lang="zh-CN" altLang="en-US" dirty="0"/>
              <a:t>做传送操作；</a:t>
            </a:r>
            <a:endParaRPr lang="zh-CN" altLang="en-US" dirty="0"/>
          </a:p>
          <a:p>
            <a:pPr lvl="0"/>
            <a:r>
              <a:rPr lang="zh-CN" altLang="en-US" dirty="0"/>
              <a:t>③ </a:t>
            </a:r>
            <a:r>
              <a:rPr lang="en-US" altLang="zh-CN" dirty="0"/>
              <a:t>OC</a:t>
            </a:r>
            <a:r>
              <a:rPr lang="zh-CN" altLang="en-US" dirty="0"/>
              <a:t>送出控制信号，打开</a:t>
            </a:r>
            <a:r>
              <a:rPr lang="en-US" altLang="zh-CN" dirty="0"/>
              <a:t>ALU</a:t>
            </a:r>
            <a:r>
              <a:rPr lang="zh-CN" altLang="en-US" dirty="0"/>
              <a:t>输出三态门，将</a:t>
            </a:r>
            <a:r>
              <a:rPr lang="en-US" altLang="zh-CN" dirty="0"/>
              <a:t>ALU</a:t>
            </a:r>
            <a:r>
              <a:rPr lang="zh-CN" altLang="en-US" dirty="0"/>
              <a:t>输出送到数据总线</a:t>
            </a:r>
            <a:r>
              <a:rPr lang="en-US" altLang="zh-CN" dirty="0"/>
              <a:t>DBUS</a:t>
            </a:r>
            <a:r>
              <a:rPr lang="zh-CN" altLang="en-US" dirty="0"/>
              <a:t>上。注意，任何时候</a:t>
            </a:r>
            <a:r>
              <a:rPr lang="en-US" altLang="zh-CN" dirty="0"/>
              <a:t>DBUS</a:t>
            </a:r>
            <a:r>
              <a:rPr lang="zh-CN" altLang="en-US" dirty="0"/>
              <a:t>上只能有一个数据。</a:t>
            </a:r>
            <a:endParaRPr lang="zh-CN" altLang="en-US" dirty="0"/>
          </a:p>
          <a:p>
            <a:pPr lvl="0"/>
            <a:r>
              <a:rPr lang="zh-CN" altLang="en-US" dirty="0"/>
              <a:t>④ </a:t>
            </a:r>
            <a:r>
              <a:rPr lang="en-US" altLang="zh-CN" dirty="0"/>
              <a:t>OC</a:t>
            </a:r>
            <a:r>
              <a:rPr lang="zh-CN" altLang="en-US" dirty="0"/>
              <a:t>送出控制信号，将</a:t>
            </a:r>
            <a:r>
              <a:rPr lang="en-US" altLang="zh-CN" dirty="0"/>
              <a:t>DBUS</a:t>
            </a:r>
            <a:r>
              <a:rPr lang="zh-CN" altLang="en-US" dirty="0"/>
              <a:t>上的数据打入到数据缓冲寄存器</a:t>
            </a:r>
            <a:r>
              <a:rPr lang="en-US" altLang="zh-CN" dirty="0"/>
              <a:t>DR</a:t>
            </a:r>
            <a:r>
              <a:rPr lang="zh-CN" altLang="en-US" dirty="0"/>
              <a:t>（</a:t>
            </a:r>
            <a:r>
              <a:rPr lang="en-US" altLang="zh-CN" dirty="0"/>
              <a:t>10</a:t>
            </a:r>
            <a:r>
              <a:rPr lang="zh-CN" altLang="en-US" dirty="0"/>
              <a:t>）；</a:t>
            </a:r>
            <a:endParaRPr lang="zh-CN" altLang="en-US" dirty="0"/>
          </a:p>
          <a:p>
            <a:pPr lvl="0"/>
            <a:r>
              <a:rPr lang="zh-CN" altLang="en-US" dirty="0"/>
              <a:t>⑤ </a:t>
            </a:r>
            <a:r>
              <a:rPr lang="en-US" altLang="zh-CN" dirty="0"/>
              <a:t>OC</a:t>
            </a:r>
            <a:r>
              <a:rPr lang="zh-CN" altLang="en-US" dirty="0"/>
              <a:t>送出控制信号，将</a:t>
            </a:r>
            <a:r>
              <a:rPr lang="en-US" altLang="zh-CN" dirty="0"/>
              <a:t>DR</a:t>
            </a:r>
            <a:r>
              <a:rPr lang="zh-CN" altLang="en-US" dirty="0"/>
              <a:t>中的数据</a:t>
            </a:r>
            <a:r>
              <a:rPr lang="en-US" altLang="zh-CN" dirty="0"/>
              <a:t>10</a:t>
            </a:r>
            <a:r>
              <a:rPr lang="zh-CN" altLang="en-US" dirty="0"/>
              <a:t>打入到目标寄存器</a:t>
            </a:r>
            <a:r>
              <a:rPr lang="en-US" altLang="zh-CN" dirty="0"/>
              <a:t>R0</a:t>
            </a:r>
            <a:r>
              <a:rPr lang="zh-CN" altLang="en-US" dirty="0"/>
              <a:t>，</a:t>
            </a:r>
            <a:r>
              <a:rPr lang="en-US" altLang="zh-CN" dirty="0"/>
              <a:t>R0</a:t>
            </a:r>
            <a:r>
              <a:rPr lang="zh-CN" altLang="en-US" dirty="0"/>
              <a:t>的内容由</a:t>
            </a:r>
            <a:r>
              <a:rPr lang="en-US" altLang="zh-CN" dirty="0"/>
              <a:t>00</a:t>
            </a:r>
            <a:r>
              <a:rPr lang="zh-CN" altLang="en-US" dirty="0"/>
              <a:t>变为</a:t>
            </a:r>
            <a:r>
              <a:rPr lang="en-US" altLang="zh-CN" dirty="0"/>
              <a:t>10</a:t>
            </a:r>
            <a:r>
              <a:rPr lang="zh-CN" altLang="en-US" dirty="0"/>
              <a:t>。至此，</a:t>
            </a:r>
            <a:r>
              <a:rPr lang="en-US" altLang="zh-CN" dirty="0"/>
              <a:t>MOV</a:t>
            </a:r>
            <a:r>
              <a:rPr lang="zh-CN" altLang="en-US" dirty="0"/>
              <a:t>指令执行结束。</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44035" name="Rectangle 2"/>
          <p:cNvSpPr>
            <a:spLocks noRot="1" noTextEdit="1"/>
          </p:cNvSpPr>
          <p:nvPr>
            <p:ph type="sldImg"/>
          </p:nvPr>
        </p:nvSpPr>
        <p:spPr>
          <a:ln>
            <a:solidFill>
              <a:srgbClr val="000000">
                <a:alpha val="100000"/>
              </a:srgbClr>
            </a:solidFill>
            <a:miter lim="800000"/>
          </a:ln>
        </p:spPr>
      </p:sp>
      <p:sp>
        <p:nvSpPr>
          <p:cNvPr id="44036" name="Rectangle 3"/>
          <p:cNvSpPr>
            <a:spLocks noGrp="1"/>
          </p:cNvSpPr>
          <p:nvPr>
            <p:ph type="body" idx="1"/>
          </p:nvPr>
        </p:nvSpPr>
        <p:spPr>
          <a:noFill/>
          <a:ln>
            <a:noFill/>
          </a:ln>
        </p:spPr>
        <p:txBody>
          <a:bodyPr wrap="square" lIns="99057" tIns="49528" rIns="99057" bIns="49528" anchor="t" anchorCtr="0"/>
          <a:p>
            <a:pPr lvl="0"/>
            <a:r>
              <a:rPr lang="en-US" altLang="zh-CN" dirty="0"/>
              <a:t>LAD</a:t>
            </a:r>
            <a:r>
              <a:rPr lang="zh-CN" altLang="en-US" dirty="0"/>
              <a:t>指令的执行周期见图</a:t>
            </a:r>
            <a:r>
              <a:rPr lang="en-US" altLang="zh-CN" dirty="0"/>
              <a:t>58</a:t>
            </a:r>
            <a:r>
              <a:rPr lang="zh-CN" altLang="en-US" dirty="0"/>
              <a:t>所示。</a:t>
            </a:r>
            <a:r>
              <a:rPr lang="en-US" altLang="zh-CN" dirty="0"/>
              <a:t>CPU</a:t>
            </a:r>
            <a:r>
              <a:rPr lang="zh-CN" altLang="en-US" dirty="0"/>
              <a:t>执行的动作如下：</a:t>
            </a:r>
            <a:endParaRPr lang="zh-CN" altLang="en-US" dirty="0"/>
          </a:p>
          <a:p>
            <a:pPr lvl="0"/>
            <a:r>
              <a:rPr lang="zh-CN" altLang="en-US" dirty="0"/>
              <a:t>① 操作控制器</a:t>
            </a:r>
            <a:r>
              <a:rPr lang="en-US" altLang="zh-CN" dirty="0"/>
              <a:t>OC</a:t>
            </a:r>
            <a:r>
              <a:rPr lang="zh-CN" altLang="en-US" dirty="0"/>
              <a:t>发出控制命令打开</a:t>
            </a:r>
            <a:r>
              <a:rPr lang="en-US" altLang="zh-CN" dirty="0"/>
              <a:t>IR</a:t>
            </a:r>
            <a:r>
              <a:rPr lang="zh-CN" altLang="en-US" dirty="0"/>
              <a:t>输出三态门，将指令中的直接地址码</a:t>
            </a:r>
            <a:r>
              <a:rPr lang="en-US" altLang="zh-CN" dirty="0"/>
              <a:t>6</a:t>
            </a:r>
            <a:r>
              <a:rPr lang="zh-CN" altLang="en-US" dirty="0"/>
              <a:t>放到数据总线</a:t>
            </a:r>
            <a:r>
              <a:rPr lang="en-US" altLang="zh-CN" dirty="0"/>
              <a:t>DBUS</a:t>
            </a:r>
            <a:r>
              <a:rPr lang="zh-CN" altLang="en-US" dirty="0"/>
              <a:t>上；</a:t>
            </a:r>
            <a:endParaRPr lang="zh-CN" altLang="en-US" dirty="0"/>
          </a:p>
          <a:p>
            <a:pPr lvl="0"/>
            <a:r>
              <a:rPr lang="zh-CN" altLang="en-US" dirty="0"/>
              <a:t>② </a:t>
            </a:r>
            <a:r>
              <a:rPr lang="en-US" altLang="zh-CN" dirty="0"/>
              <a:t>OC</a:t>
            </a:r>
            <a:r>
              <a:rPr lang="zh-CN" altLang="en-US" dirty="0"/>
              <a:t>发出操作命令，将地址码</a:t>
            </a:r>
            <a:r>
              <a:rPr lang="en-US" altLang="zh-CN" dirty="0"/>
              <a:t>6</a:t>
            </a:r>
            <a:r>
              <a:rPr lang="zh-CN" altLang="en-US" dirty="0"/>
              <a:t>装入数存地址寄存器</a:t>
            </a:r>
            <a:r>
              <a:rPr lang="en-US" altLang="zh-CN" dirty="0"/>
              <a:t>AR</a:t>
            </a:r>
            <a:r>
              <a:rPr lang="zh-CN" altLang="en-US" dirty="0"/>
              <a:t>；</a:t>
            </a:r>
            <a:endParaRPr lang="zh-CN" altLang="en-US" dirty="0"/>
          </a:p>
          <a:p>
            <a:pPr lvl="0"/>
            <a:r>
              <a:rPr lang="zh-CN" altLang="en-US" dirty="0"/>
              <a:t>③ </a:t>
            </a:r>
            <a:r>
              <a:rPr lang="en-US" altLang="zh-CN" dirty="0"/>
              <a:t>OC</a:t>
            </a:r>
            <a:r>
              <a:rPr lang="zh-CN" altLang="en-US" dirty="0"/>
              <a:t>发出读命令，将数存</a:t>
            </a:r>
            <a:r>
              <a:rPr lang="en-US" altLang="zh-CN" dirty="0"/>
              <a:t>6</a:t>
            </a:r>
            <a:r>
              <a:rPr lang="zh-CN" altLang="en-US" dirty="0"/>
              <a:t>号单元中的数</a:t>
            </a:r>
            <a:r>
              <a:rPr lang="en-US" altLang="zh-CN" dirty="0"/>
              <a:t>100</a:t>
            </a:r>
            <a:r>
              <a:rPr lang="zh-CN" altLang="en-US" dirty="0"/>
              <a:t>读出到</a:t>
            </a:r>
            <a:r>
              <a:rPr lang="en-US" altLang="zh-CN" dirty="0"/>
              <a:t>DBUS</a:t>
            </a:r>
            <a:r>
              <a:rPr lang="zh-CN" altLang="en-US" dirty="0"/>
              <a:t>上；</a:t>
            </a:r>
            <a:endParaRPr lang="zh-CN" altLang="en-US" dirty="0"/>
          </a:p>
          <a:p>
            <a:pPr lvl="0"/>
            <a:r>
              <a:rPr lang="zh-CN" altLang="en-US" dirty="0"/>
              <a:t>④ </a:t>
            </a:r>
            <a:r>
              <a:rPr lang="en-US" altLang="zh-CN" dirty="0"/>
              <a:t>OC</a:t>
            </a:r>
            <a:r>
              <a:rPr lang="zh-CN" altLang="en-US" dirty="0"/>
              <a:t>发出命令，将</a:t>
            </a:r>
            <a:r>
              <a:rPr lang="en-US" altLang="zh-CN" dirty="0"/>
              <a:t>DBUS</a:t>
            </a:r>
            <a:r>
              <a:rPr lang="zh-CN" altLang="en-US" dirty="0"/>
              <a:t>上的数据</a:t>
            </a:r>
            <a:r>
              <a:rPr lang="en-US" altLang="zh-CN" dirty="0"/>
              <a:t>100</a:t>
            </a:r>
            <a:r>
              <a:rPr lang="zh-CN" altLang="en-US" dirty="0"/>
              <a:t>装入缓冲寄存器</a:t>
            </a:r>
            <a:r>
              <a:rPr lang="en-US" altLang="zh-CN" dirty="0"/>
              <a:t>DR</a:t>
            </a:r>
            <a:r>
              <a:rPr lang="zh-CN" altLang="en-US" dirty="0"/>
              <a:t>；</a:t>
            </a:r>
            <a:endParaRPr lang="zh-CN" altLang="en-US" dirty="0"/>
          </a:p>
          <a:p>
            <a:pPr lvl="0"/>
            <a:r>
              <a:rPr lang="zh-CN" altLang="en-US" dirty="0"/>
              <a:t>⑤ </a:t>
            </a:r>
            <a:r>
              <a:rPr lang="en-US" altLang="zh-CN" dirty="0"/>
              <a:t>OC</a:t>
            </a:r>
            <a:r>
              <a:rPr lang="zh-CN" altLang="en-US" dirty="0"/>
              <a:t>发出命令，将</a:t>
            </a:r>
            <a:r>
              <a:rPr lang="en-US" altLang="zh-CN" dirty="0"/>
              <a:t>DR</a:t>
            </a:r>
            <a:r>
              <a:rPr lang="zh-CN" altLang="en-US" dirty="0"/>
              <a:t>中的数</a:t>
            </a:r>
            <a:r>
              <a:rPr lang="en-US" altLang="zh-CN" dirty="0"/>
              <a:t>100</a:t>
            </a:r>
            <a:r>
              <a:rPr lang="zh-CN" altLang="en-US" dirty="0"/>
              <a:t>装入通用寄存器</a:t>
            </a:r>
            <a:r>
              <a:rPr lang="en-US" altLang="zh-CN" dirty="0"/>
              <a:t>R1</a:t>
            </a:r>
            <a:r>
              <a:rPr lang="zh-CN" altLang="en-US" dirty="0"/>
              <a:t>，原来</a:t>
            </a:r>
            <a:r>
              <a:rPr lang="en-US" altLang="zh-CN" dirty="0"/>
              <a:t>R1</a:t>
            </a:r>
            <a:r>
              <a:rPr lang="zh-CN" altLang="en-US" dirty="0"/>
              <a:t>中的数</a:t>
            </a:r>
            <a:r>
              <a:rPr lang="en-US" altLang="zh-CN" dirty="0"/>
              <a:t>10</a:t>
            </a:r>
            <a:r>
              <a:rPr lang="zh-CN" altLang="en-US" dirty="0"/>
              <a:t>被冲掉。至此，</a:t>
            </a:r>
            <a:r>
              <a:rPr lang="en-US" altLang="zh-CN" dirty="0"/>
              <a:t>LAD</a:t>
            </a:r>
            <a:r>
              <a:rPr lang="zh-CN" altLang="en-US" dirty="0"/>
              <a:t>指令执行周期结束。</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47107" name="Rectangle 2"/>
          <p:cNvSpPr>
            <a:spLocks noRot="1" noTextEdit="1"/>
          </p:cNvSpPr>
          <p:nvPr>
            <p:ph type="sldImg"/>
          </p:nvPr>
        </p:nvSpPr>
        <p:spPr>
          <a:ln>
            <a:solidFill>
              <a:srgbClr val="000000">
                <a:alpha val="100000"/>
              </a:srgbClr>
            </a:solidFill>
            <a:miter lim="800000"/>
          </a:ln>
        </p:spPr>
      </p:sp>
      <p:sp>
        <p:nvSpPr>
          <p:cNvPr id="47108" name="Rectangle 3"/>
          <p:cNvSpPr>
            <a:spLocks noGrp="1"/>
          </p:cNvSpPr>
          <p:nvPr>
            <p:ph type="body" idx="1"/>
          </p:nvPr>
        </p:nvSpPr>
        <p:spPr>
          <a:noFill/>
          <a:ln>
            <a:noFill/>
          </a:ln>
        </p:spPr>
        <p:txBody>
          <a:bodyPr wrap="square" lIns="99057" tIns="49528" rIns="99057" bIns="49528" anchor="t" anchorCtr="0"/>
          <a:p>
            <a:pPr lvl="0"/>
            <a:r>
              <a:rPr lang="en-US" altLang="zh-CN" dirty="0"/>
              <a:t>① </a:t>
            </a:r>
            <a:r>
              <a:rPr lang="zh-CN" altLang="en-US" dirty="0"/>
              <a:t>操作控制器</a:t>
            </a:r>
            <a:r>
              <a:rPr lang="en-US" altLang="zh-CN" dirty="0"/>
              <a:t>OC</a:t>
            </a:r>
            <a:r>
              <a:rPr lang="zh-CN" altLang="en-US" dirty="0"/>
              <a:t>送出控制命令到通用寄存器，选择</a:t>
            </a:r>
            <a:r>
              <a:rPr lang="en-US" altLang="zh-CN" dirty="0"/>
              <a:t>R1</a:t>
            </a:r>
            <a:r>
              <a:rPr lang="zh-CN" altLang="en-US" dirty="0"/>
              <a:t>做源寄存器，</a:t>
            </a:r>
            <a:r>
              <a:rPr lang="en-US" altLang="zh-CN" dirty="0"/>
              <a:t>R2</a:t>
            </a:r>
            <a:r>
              <a:rPr lang="zh-CN" altLang="en-US" dirty="0"/>
              <a:t>做目标寄存器；</a:t>
            </a:r>
            <a:endParaRPr lang="zh-CN" altLang="en-US" dirty="0"/>
          </a:p>
          <a:p>
            <a:pPr lvl="0"/>
            <a:r>
              <a:rPr lang="zh-CN" altLang="en-US" dirty="0"/>
              <a:t>② </a:t>
            </a:r>
            <a:r>
              <a:rPr lang="en-US" altLang="zh-CN" dirty="0"/>
              <a:t>OC </a:t>
            </a:r>
            <a:r>
              <a:rPr lang="zh-CN" altLang="en-US" dirty="0"/>
              <a:t>送出控制命令到</a:t>
            </a:r>
            <a:r>
              <a:rPr lang="en-US" altLang="zh-CN" dirty="0"/>
              <a:t>ALU</a:t>
            </a:r>
            <a:r>
              <a:rPr lang="zh-CN" altLang="en-US" dirty="0"/>
              <a:t>，指定</a:t>
            </a:r>
            <a:r>
              <a:rPr lang="en-US" altLang="zh-CN" dirty="0"/>
              <a:t>ALU</a:t>
            </a:r>
            <a:r>
              <a:rPr lang="zh-CN" altLang="en-US" dirty="0"/>
              <a:t>做</a:t>
            </a:r>
            <a:r>
              <a:rPr lang="en-US" altLang="zh-CN" dirty="0"/>
              <a:t>R1</a:t>
            </a:r>
            <a:r>
              <a:rPr lang="zh-CN" altLang="en-US" dirty="0"/>
              <a:t>（</a:t>
            </a:r>
            <a:r>
              <a:rPr lang="en-US" altLang="zh-CN" dirty="0"/>
              <a:t>100</a:t>
            </a:r>
            <a:r>
              <a:rPr lang="zh-CN" altLang="en-US" dirty="0"/>
              <a:t>）和</a:t>
            </a:r>
            <a:r>
              <a:rPr lang="en-US" altLang="zh-CN" dirty="0"/>
              <a:t>R2</a:t>
            </a:r>
            <a:r>
              <a:rPr lang="zh-CN" altLang="en-US" dirty="0"/>
              <a:t>（</a:t>
            </a:r>
            <a:r>
              <a:rPr lang="en-US" altLang="zh-CN" dirty="0"/>
              <a:t>20</a:t>
            </a:r>
            <a:r>
              <a:rPr lang="zh-CN" altLang="en-US" dirty="0"/>
              <a:t>）的加法操作；</a:t>
            </a:r>
            <a:endParaRPr lang="zh-CN" altLang="en-US" dirty="0"/>
          </a:p>
          <a:p>
            <a:pPr lvl="0"/>
            <a:r>
              <a:rPr lang="zh-CN" altLang="en-US" dirty="0"/>
              <a:t>③ </a:t>
            </a:r>
            <a:r>
              <a:rPr lang="en-US" altLang="zh-CN" dirty="0"/>
              <a:t>OC</a:t>
            </a:r>
            <a:r>
              <a:rPr lang="zh-CN" altLang="en-US" dirty="0"/>
              <a:t>送出控制命令，打开</a:t>
            </a:r>
            <a:r>
              <a:rPr lang="en-US" altLang="zh-CN" dirty="0"/>
              <a:t>ALU</a:t>
            </a:r>
            <a:r>
              <a:rPr lang="zh-CN" altLang="en-US" dirty="0"/>
              <a:t>输出三态门，运算结果</a:t>
            </a:r>
            <a:r>
              <a:rPr lang="en-US" altLang="zh-CN" dirty="0"/>
              <a:t>120</a:t>
            </a:r>
            <a:r>
              <a:rPr lang="zh-CN" altLang="en-US" dirty="0"/>
              <a:t>放到</a:t>
            </a:r>
            <a:r>
              <a:rPr lang="en-US" altLang="zh-CN" dirty="0"/>
              <a:t>DBUS</a:t>
            </a:r>
            <a:r>
              <a:rPr lang="zh-CN" altLang="en-US" dirty="0"/>
              <a:t>上；</a:t>
            </a:r>
            <a:endParaRPr lang="zh-CN" altLang="en-US" dirty="0"/>
          </a:p>
          <a:p>
            <a:pPr lvl="0"/>
            <a:r>
              <a:rPr lang="zh-CN" altLang="en-US" dirty="0"/>
              <a:t>④ </a:t>
            </a:r>
            <a:r>
              <a:rPr lang="en-US" altLang="zh-CN" dirty="0"/>
              <a:t>OC</a:t>
            </a:r>
            <a:r>
              <a:rPr lang="zh-CN" altLang="en-US" dirty="0"/>
              <a:t>送出控制命令，将</a:t>
            </a:r>
            <a:r>
              <a:rPr lang="en-US" altLang="zh-CN" dirty="0"/>
              <a:t>DBUS</a:t>
            </a:r>
            <a:r>
              <a:rPr lang="zh-CN" altLang="en-US" dirty="0"/>
              <a:t>上数据打入缓冲寄存器</a:t>
            </a:r>
            <a:r>
              <a:rPr lang="en-US" altLang="zh-CN" dirty="0"/>
              <a:t>DR</a:t>
            </a:r>
            <a:r>
              <a:rPr lang="zh-CN" altLang="en-US" dirty="0"/>
              <a:t>；</a:t>
            </a:r>
            <a:r>
              <a:rPr lang="en-US" altLang="zh-CN" dirty="0"/>
              <a:t>ALU</a:t>
            </a:r>
            <a:r>
              <a:rPr lang="zh-CN" altLang="en-US" dirty="0"/>
              <a:t>产生的进位信号保存状态字寄存器在</a:t>
            </a:r>
            <a:r>
              <a:rPr lang="en-US" altLang="zh-CN" dirty="0"/>
              <a:t>PSW</a:t>
            </a:r>
            <a:r>
              <a:rPr lang="zh-CN" altLang="en-US" dirty="0"/>
              <a:t>中。</a:t>
            </a:r>
            <a:endParaRPr lang="zh-CN" altLang="en-US" dirty="0"/>
          </a:p>
          <a:p>
            <a:pPr lvl="0"/>
            <a:r>
              <a:rPr lang="zh-CN" altLang="en-US" dirty="0"/>
              <a:t>⑤ </a:t>
            </a:r>
            <a:r>
              <a:rPr lang="en-US" altLang="zh-CN" dirty="0"/>
              <a:t>OC</a:t>
            </a:r>
            <a:r>
              <a:rPr lang="zh-CN" altLang="en-US" dirty="0"/>
              <a:t>送出控制命令，将</a:t>
            </a:r>
            <a:r>
              <a:rPr lang="en-US" altLang="zh-CN" dirty="0"/>
              <a:t>〖DK</a:t>
            </a:r>
            <a:r>
              <a:rPr lang="zh-CN" altLang="en-US" dirty="0"/>
              <a:t>（</a:t>
            </a:r>
            <a:r>
              <a:rPr lang="en-US" altLang="zh-CN" dirty="0"/>
              <a:t>〗DR</a:t>
            </a:r>
            <a:r>
              <a:rPr lang="zh-CN" altLang="en-US" dirty="0"/>
              <a:t>（</a:t>
            </a:r>
            <a:r>
              <a:rPr lang="en-US" altLang="zh-CN" dirty="0"/>
              <a:t>120</a:t>
            </a:r>
            <a:r>
              <a:rPr lang="zh-CN" altLang="en-US" dirty="0"/>
              <a:t>）</a:t>
            </a:r>
            <a:r>
              <a:rPr lang="en-US" altLang="zh-CN" dirty="0"/>
              <a:t>〖DK</a:t>
            </a:r>
            <a:r>
              <a:rPr lang="zh-CN" altLang="en-US" dirty="0"/>
              <a:t>）</a:t>
            </a:r>
            <a:r>
              <a:rPr lang="en-US" altLang="zh-CN" dirty="0"/>
              <a:t>〗</a:t>
            </a:r>
            <a:r>
              <a:rPr lang="zh-CN" altLang="en-US" dirty="0"/>
              <a:t>装入</a:t>
            </a:r>
            <a:r>
              <a:rPr lang="en-US" altLang="zh-CN" dirty="0"/>
              <a:t>R2</a:t>
            </a:r>
            <a:r>
              <a:rPr lang="zh-CN" altLang="en-US" dirty="0"/>
              <a:t>，</a:t>
            </a:r>
            <a:r>
              <a:rPr lang="en-US" altLang="zh-CN" dirty="0"/>
              <a:t>R2</a:t>
            </a:r>
            <a:r>
              <a:rPr lang="zh-CN" altLang="en-US" dirty="0"/>
              <a:t>中原来的内容</a:t>
            </a:r>
            <a:r>
              <a:rPr lang="en-US" altLang="zh-CN" dirty="0"/>
              <a:t>20</a:t>
            </a:r>
            <a:r>
              <a:rPr lang="zh-CN" altLang="en-US" dirty="0"/>
              <a:t>被冲掉。至此</a:t>
            </a:r>
            <a:r>
              <a:rPr lang="en-US" altLang="zh-CN" dirty="0"/>
              <a:t>ADD</a:t>
            </a:r>
            <a:r>
              <a:rPr lang="zh-CN" altLang="en-US" dirty="0"/>
              <a:t>指令执行周期结束。</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50179" name="Rectangle 2"/>
          <p:cNvSpPr>
            <a:spLocks noRot="1" noTextEdit="1"/>
          </p:cNvSpPr>
          <p:nvPr>
            <p:ph type="sldImg"/>
          </p:nvPr>
        </p:nvSpPr>
        <p:spPr>
          <a:ln>
            <a:solidFill>
              <a:srgbClr val="000000">
                <a:alpha val="100000"/>
              </a:srgbClr>
            </a:solidFill>
            <a:miter lim="800000"/>
          </a:ln>
        </p:spPr>
      </p:sp>
      <p:sp>
        <p:nvSpPr>
          <p:cNvPr id="50180" name="Rectangle 3"/>
          <p:cNvSpPr>
            <a:spLocks noGrp="1"/>
          </p:cNvSpPr>
          <p:nvPr>
            <p:ph type="body" idx="1"/>
          </p:nvPr>
        </p:nvSpPr>
        <p:spPr>
          <a:noFill/>
          <a:ln>
            <a:noFill/>
          </a:ln>
        </p:spPr>
        <p:txBody>
          <a:bodyPr wrap="square" lIns="99057" tIns="49528" rIns="99057" bIns="49528" anchor="t" anchorCtr="0"/>
          <a:p>
            <a:pPr lvl="0"/>
            <a:r>
              <a:rPr lang="en-US" altLang="zh-CN" dirty="0"/>
              <a:t>① </a:t>
            </a:r>
            <a:r>
              <a:rPr lang="zh-CN" altLang="en-US" dirty="0"/>
              <a:t>操作控制器</a:t>
            </a:r>
            <a:r>
              <a:rPr lang="en-US" altLang="zh-CN" dirty="0"/>
              <a:t>OC</a:t>
            </a:r>
            <a:r>
              <a:rPr lang="zh-CN" altLang="en-US" dirty="0"/>
              <a:t>送出操作命令到通用寄存器，选择</a:t>
            </a:r>
            <a:r>
              <a:rPr lang="en-US" altLang="zh-CN" dirty="0"/>
              <a:t>〖DK</a:t>
            </a:r>
            <a:r>
              <a:rPr lang="zh-CN" altLang="en-US" dirty="0"/>
              <a:t>（</a:t>
            </a:r>
            <a:r>
              <a:rPr lang="en-US" altLang="zh-CN" dirty="0"/>
              <a:t>〗</a:t>
            </a:r>
            <a:r>
              <a:rPr lang="zh-CN" altLang="en-US" dirty="0"/>
              <a:t>（</a:t>
            </a:r>
            <a:r>
              <a:rPr lang="en-US" altLang="zh-CN" dirty="0"/>
              <a:t>R3</a:t>
            </a:r>
            <a:r>
              <a:rPr lang="zh-CN" altLang="en-US" dirty="0"/>
              <a:t>）</a:t>
            </a:r>
            <a:r>
              <a:rPr lang="en-US" altLang="zh-CN" dirty="0"/>
              <a:t>=30〖DK</a:t>
            </a:r>
            <a:r>
              <a:rPr lang="zh-CN" altLang="en-US" dirty="0"/>
              <a:t>）</a:t>
            </a:r>
            <a:r>
              <a:rPr lang="en-US" altLang="zh-CN" dirty="0"/>
              <a:t>〗</a:t>
            </a:r>
            <a:r>
              <a:rPr lang="zh-CN" altLang="en-US" dirty="0"/>
              <a:t>做数据存储器的地址单元；</a:t>
            </a:r>
            <a:endParaRPr lang="zh-CN" altLang="en-US" dirty="0"/>
          </a:p>
          <a:p>
            <a:pPr lvl="0"/>
            <a:r>
              <a:rPr lang="zh-CN" altLang="en-US" dirty="0"/>
              <a:t>② </a:t>
            </a:r>
            <a:r>
              <a:rPr lang="en-US" altLang="zh-CN" dirty="0"/>
              <a:t>OC</a:t>
            </a:r>
            <a:r>
              <a:rPr lang="zh-CN" altLang="en-US" dirty="0"/>
              <a:t>发出操作命令，打开通用寄存器输出三态门</a:t>
            </a:r>
            <a:r>
              <a:rPr lang="en-US" altLang="zh-CN" dirty="0"/>
              <a:t>〖DK</a:t>
            </a:r>
            <a:r>
              <a:rPr lang="zh-CN" altLang="en-US" dirty="0"/>
              <a:t>（</a:t>
            </a:r>
            <a:r>
              <a:rPr lang="en-US" altLang="zh-CN" dirty="0"/>
              <a:t>〗</a:t>
            </a:r>
            <a:r>
              <a:rPr lang="zh-CN" altLang="en-US" dirty="0"/>
              <a:t>（不经</a:t>
            </a:r>
            <a:r>
              <a:rPr lang="en-US" altLang="zh-CN" dirty="0"/>
              <a:t>ALU</a:t>
            </a:r>
            <a:r>
              <a:rPr lang="zh-CN" altLang="en-US" dirty="0"/>
              <a:t>以节省时间）</a:t>
            </a:r>
            <a:r>
              <a:rPr lang="en-US" altLang="zh-CN" dirty="0"/>
              <a:t>〖DK</a:t>
            </a:r>
            <a:r>
              <a:rPr lang="zh-CN" altLang="en-US" dirty="0"/>
              <a:t>）</a:t>
            </a:r>
            <a:r>
              <a:rPr lang="en-US" altLang="zh-CN" dirty="0"/>
              <a:t>〗</a:t>
            </a:r>
            <a:r>
              <a:rPr lang="zh-CN" altLang="en-US" dirty="0"/>
              <a:t>，将地址</a:t>
            </a:r>
            <a:r>
              <a:rPr lang="en-US" altLang="zh-CN" dirty="0"/>
              <a:t>30</a:t>
            </a:r>
            <a:r>
              <a:rPr lang="zh-CN" altLang="en-US" dirty="0"/>
              <a:t>放到</a:t>
            </a:r>
            <a:r>
              <a:rPr lang="en-US" altLang="zh-CN" dirty="0"/>
              <a:t>DBUS</a:t>
            </a:r>
            <a:r>
              <a:rPr lang="zh-CN" altLang="en-US" dirty="0"/>
              <a:t>上；</a:t>
            </a:r>
            <a:endParaRPr lang="zh-CN" altLang="en-US" dirty="0"/>
          </a:p>
          <a:p>
            <a:pPr lvl="0"/>
            <a:r>
              <a:rPr lang="zh-CN" altLang="en-US" dirty="0"/>
              <a:t>③ </a:t>
            </a:r>
            <a:r>
              <a:rPr lang="en-US" altLang="zh-CN" dirty="0"/>
              <a:t>OC</a:t>
            </a:r>
            <a:r>
              <a:rPr lang="zh-CN" altLang="en-US" dirty="0"/>
              <a:t>发出操作命令，将地址</a:t>
            </a:r>
            <a:r>
              <a:rPr lang="en-US" altLang="zh-CN" dirty="0"/>
              <a:t>30</a:t>
            </a:r>
            <a:r>
              <a:rPr lang="zh-CN" altLang="en-US" dirty="0"/>
              <a:t>打入</a:t>
            </a:r>
            <a:r>
              <a:rPr lang="en-US" altLang="zh-CN" dirty="0"/>
              <a:t>AR</a:t>
            </a:r>
            <a:r>
              <a:rPr lang="zh-CN" altLang="en-US" dirty="0"/>
              <a:t>，并进行数存地址译码；</a:t>
            </a:r>
            <a:endParaRPr lang="zh-CN" altLang="en-US" dirty="0"/>
          </a:p>
          <a:p>
            <a:pPr lvl="0"/>
            <a:r>
              <a:rPr lang="zh-CN" altLang="en-US" dirty="0"/>
              <a:t>④ </a:t>
            </a:r>
            <a:r>
              <a:rPr lang="en-US" altLang="zh-CN" dirty="0"/>
              <a:t>OC</a:t>
            </a:r>
            <a:r>
              <a:rPr lang="zh-CN" altLang="en-US" dirty="0"/>
              <a:t>发出操作命令到通用寄存器，选择</a:t>
            </a:r>
            <a:r>
              <a:rPr lang="en-US" altLang="zh-CN" dirty="0"/>
              <a:t>〖DK</a:t>
            </a:r>
            <a:r>
              <a:rPr lang="zh-CN" altLang="en-US" dirty="0"/>
              <a:t>（</a:t>
            </a:r>
            <a:r>
              <a:rPr lang="en-US" altLang="zh-CN" dirty="0"/>
              <a:t>〗</a:t>
            </a:r>
            <a:r>
              <a:rPr lang="zh-CN" altLang="en-US" dirty="0"/>
              <a:t>（</a:t>
            </a:r>
            <a:r>
              <a:rPr lang="en-US" altLang="zh-CN" dirty="0"/>
              <a:t>R2</a:t>
            </a:r>
            <a:r>
              <a:rPr lang="zh-CN" altLang="en-US" dirty="0"/>
              <a:t>）</a:t>
            </a:r>
            <a:r>
              <a:rPr lang="en-US" altLang="zh-CN" dirty="0"/>
              <a:t>=120〖DK</a:t>
            </a:r>
            <a:r>
              <a:rPr lang="zh-CN" altLang="en-US" dirty="0"/>
              <a:t>）</a:t>
            </a:r>
            <a:r>
              <a:rPr lang="en-US" altLang="zh-CN" dirty="0"/>
              <a:t>〗</a:t>
            </a:r>
            <a:r>
              <a:rPr lang="zh-CN" altLang="en-US" dirty="0"/>
              <a:t>，作为数存的写入数据；</a:t>
            </a:r>
            <a:endParaRPr lang="zh-CN" altLang="en-US" dirty="0"/>
          </a:p>
          <a:p>
            <a:pPr lvl="0"/>
            <a:r>
              <a:rPr lang="zh-CN" altLang="en-US" dirty="0"/>
              <a:t>⑤ </a:t>
            </a:r>
            <a:r>
              <a:rPr lang="en-US" altLang="zh-CN" dirty="0"/>
              <a:t>OC</a:t>
            </a:r>
            <a:r>
              <a:rPr lang="zh-CN" altLang="en-US" dirty="0"/>
              <a:t>发出操作命令，打开通用寄存器输出三态门，将数据</a:t>
            </a:r>
            <a:r>
              <a:rPr lang="en-US" altLang="zh-CN" dirty="0"/>
              <a:t>120</a:t>
            </a:r>
            <a:r>
              <a:rPr lang="zh-CN" altLang="en-US" dirty="0"/>
              <a:t>放到</a:t>
            </a:r>
            <a:r>
              <a:rPr lang="en-US" altLang="zh-CN" dirty="0"/>
              <a:t>DBUS</a:t>
            </a:r>
            <a:r>
              <a:rPr lang="zh-CN" altLang="en-US" dirty="0"/>
              <a:t>上。</a:t>
            </a:r>
            <a:endParaRPr lang="zh-CN" altLang="en-US" dirty="0"/>
          </a:p>
          <a:p>
            <a:pPr lvl="0"/>
            <a:r>
              <a:rPr lang="zh-CN" altLang="en-US" dirty="0"/>
              <a:t>⑥ </a:t>
            </a:r>
            <a:r>
              <a:rPr lang="en-US" altLang="zh-CN" dirty="0"/>
              <a:t>OC</a:t>
            </a:r>
            <a:r>
              <a:rPr lang="zh-CN" altLang="en-US" dirty="0"/>
              <a:t>发出操作命令，将数据</a:t>
            </a:r>
            <a:r>
              <a:rPr lang="en-US" altLang="zh-CN" dirty="0"/>
              <a:t>120</a:t>
            </a:r>
            <a:r>
              <a:rPr lang="zh-CN" altLang="en-US" dirty="0"/>
              <a:t>写入数存</a:t>
            </a:r>
            <a:r>
              <a:rPr lang="en-US" altLang="zh-CN" dirty="0"/>
              <a:t>30</a:t>
            </a:r>
            <a:r>
              <a:rPr lang="zh-CN" altLang="en-US" dirty="0"/>
              <a:t>号单元，它原先的数据</a:t>
            </a:r>
            <a:r>
              <a:rPr lang="en-US" altLang="zh-CN" dirty="0"/>
              <a:t>40</a:t>
            </a:r>
            <a:r>
              <a:rPr lang="zh-CN" altLang="en-US" dirty="0"/>
              <a:t>被冲掉。至此，</a:t>
            </a:r>
            <a:r>
              <a:rPr lang="en-US" altLang="zh-CN" dirty="0"/>
              <a:t>STO</a:t>
            </a:r>
            <a:r>
              <a:rPr lang="zh-CN" altLang="en-US" dirty="0"/>
              <a:t>指令执行周期结束。</a:t>
            </a:r>
            <a:endParaRPr lang="zh-CN" altLang="en-US" dirty="0"/>
          </a:p>
          <a:p>
            <a:pPr lvl="0"/>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53251" name="Rectangle 2"/>
          <p:cNvSpPr>
            <a:spLocks noRot="1" noTextEdit="1"/>
          </p:cNvSpPr>
          <p:nvPr>
            <p:ph type="sldImg"/>
          </p:nvPr>
        </p:nvSpPr>
        <p:spPr>
          <a:ln>
            <a:solidFill>
              <a:srgbClr val="000000">
                <a:alpha val="100000"/>
              </a:srgbClr>
            </a:solidFill>
            <a:miter lim="800000"/>
          </a:ln>
        </p:spPr>
      </p:sp>
      <p:sp>
        <p:nvSpPr>
          <p:cNvPr id="53252" name="Rectangle 3"/>
          <p:cNvSpPr>
            <a:spLocks noGrp="1"/>
          </p:cNvSpPr>
          <p:nvPr>
            <p:ph type="body" idx="1"/>
          </p:nvPr>
        </p:nvSpPr>
        <p:spPr>
          <a:noFill/>
          <a:ln>
            <a:noFill/>
          </a:ln>
        </p:spPr>
        <p:txBody>
          <a:bodyPr wrap="square" lIns="99057" tIns="49528" rIns="99057" bIns="49528" anchor="t" anchorCtr="0"/>
          <a:p>
            <a:pPr lvl="0"/>
            <a:r>
              <a:rPr lang="en-US" altLang="zh-CN" dirty="0"/>
              <a:t>① OC</a:t>
            </a:r>
            <a:r>
              <a:rPr lang="zh-CN" altLang="en-US" dirty="0"/>
              <a:t>发生操作控制命令，打开指令寄存器</a:t>
            </a:r>
            <a:r>
              <a:rPr lang="en-US" altLang="zh-CN" dirty="0"/>
              <a:t>IR</a:t>
            </a:r>
            <a:r>
              <a:rPr lang="zh-CN" altLang="en-US" dirty="0"/>
              <a:t>的输出三态门，将</a:t>
            </a:r>
            <a:r>
              <a:rPr lang="en-US" altLang="zh-CN" dirty="0"/>
              <a:t>IR</a:t>
            </a:r>
            <a:r>
              <a:rPr lang="zh-CN" altLang="en-US" dirty="0"/>
              <a:t>中的地址码</a:t>
            </a:r>
            <a:r>
              <a:rPr lang="en-US" altLang="zh-CN" dirty="0"/>
              <a:t>101</a:t>
            </a:r>
            <a:r>
              <a:rPr lang="zh-CN" altLang="en-US" dirty="0"/>
              <a:t>发送到</a:t>
            </a:r>
            <a:r>
              <a:rPr lang="en-US" altLang="zh-CN" dirty="0"/>
              <a:t>DBUS</a:t>
            </a:r>
            <a:r>
              <a:rPr lang="zh-CN" altLang="en-US" dirty="0"/>
              <a:t>上；</a:t>
            </a:r>
            <a:endParaRPr lang="zh-CN" altLang="en-US" dirty="0"/>
          </a:p>
          <a:p>
            <a:pPr lvl="0"/>
            <a:r>
              <a:rPr lang="zh-CN" altLang="en-US" dirty="0"/>
              <a:t>② </a:t>
            </a:r>
            <a:r>
              <a:rPr lang="en-US" altLang="zh-CN" dirty="0"/>
              <a:t>CC</a:t>
            </a:r>
            <a:r>
              <a:rPr lang="zh-CN" altLang="en-US" dirty="0"/>
              <a:t>发出操作控制命令，将</a:t>
            </a:r>
            <a:r>
              <a:rPr lang="en-US" altLang="zh-CN" dirty="0"/>
              <a:t>DBUS</a:t>
            </a:r>
            <a:r>
              <a:rPr lang="zh-CN" altLang="en-US" dirty="0"/>
              <a:t>上的地址码</a:t>
            </a:r>
            <a:r>
              <a:rPr lang="en-US" altLang="zh-CN" dirty="0"/>
              <a:t>101</a:t>
            </a:r>
            <a:r>
              <a:rPr lang="zh-CN" altLang="en-US" dirty="0"/>
              <a:t>打入到程序计数器</a:t>
            </a:r>
            <a:r>
              <a:rPr lang="en-US" altLang="zh-CN" dirty="0"/>
              <a:t>PC</a:t>
            </a:r>
            <a:r>
              <a:rPr lang="zh-CN" altLang="en-US" dirty="0"/>
              <a:t>中，</a:t>
            </a:r>
            <a:r>
              <a:rPr lang="en-US" altLang="zh-CN" dirty="0"/>
              <a:t>PC</a:t>
            </a:r>
            <a:r>
              <a:rPr lang="zh-CN" altLang="en-US" dirty="0"/>
              <a:t>中的原先内容</a:t>
            </a:r>
            <a:r>
              <a:rPr lang="en-US" altLang="zh-CN" dirty="0"/>
              <a:t>106</a:t>
            </a:r>
            <a:r>
              <a:rPr lang="zh-CN" altLang="en-US" dirty="0"/>
              <a:t>被更换。于是下一条指令不是从</a:t>
            </a:r>
            <a:r>
              <a:rPr lang="en-US" altLang="zh-CN" dirty="0"/>
              <a:t>106</a:t>
            </a:r>
            <a:r>
              <a:rPr lang="zh-CN" altLang="en-US" dirty="0"/>
              <a:t>号单元取出，而是转移到</a:t>
            </a:r>
            <a:r>
              <a:rPr lang="en-US" altLang="zh-CN" dirty="0"/>
              <a:t>101</a:t>
            </a:r>
            <a:r>
              <a:rPr lang="zh-CN" altLang="en-US" dirty="0"/>
              <a:t>号单元取出。至此</a:t>
            </a:r>
            <a:r>
              <a:rPr lang="en-US" altLang="zh-CN" dirty="0"/>
              <a:t>JMP</a:t>
            </a:r>
            <a:r>
              <a:rPr lang="zh-CN" altLang="en-US" dirty="0"/>
              <a:t>指令执行周期结束。</a:t>
            </a:r>
            <a:endParaRPr lang="zh-CN" altLang="en-US" dirty="0"/>
          </a:p>
          <a:p>
            <a:pPr lvl="0"/>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39820ED-DD97-47CC-8EF4-27022BB88BED}" type="slidenum">
              <a:rPr lang="zh-CN" altLang="en-US" sz="1300" smtClean="0"/>
            </a:fld>
            <a:endParaRPr lang="en-US" altLang="zh-CN" sz="1300"/>
          </a:p>
        </p:txBody>
      </p:sp>
      <p:sp>
        <p:nvSpPr>
          <p:cNvPr id="55298" name="Rectangle 2"/>
          <p:cNvSpPr>
            <a:spLocks noGrp="1" noRot="1" noChangeAspect="1" noChangeArrowheads="1" noTextEdit="1"/>
          </p:cNvSpPr>
          <p:nvPr>
            <p:ph type="sldImg"/>
          </p:nvPr>
        </p:nvSpPr>
        <p:spPr>
          <a:xfrm>
            <a:off x="992188" y="768350"/>
            <a:ext cx="5114925" cy="3836988"/>
          </a:xfrm>
        </p:spPr>
      </p:sp>
      <p:sp>
        <p:nvSpPr>
          <p:cNvPr id="55299" name="Rectangle 3"/>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幻灯片图像占位符 1"/>
          <p:cNvSpPr>
            <a:spLocks noGrp="1" noRot="1" noChangeAspect="1" noChangeArrowheads="1" noTextEdit="1"/>
          </p:cNvSpPr>
          <p:nvPr>
            <p:ph type="sldImg"/>
          </p:nvPr>
        </p:nvSpPr>
        <p:spPr>
          <a:xfrm>
            <a:off x="992188" y="768350"/>
            <a:ext cx="5114925" cy="3836988"/>
          </a:xfrm>
        </p:spPr>
      </p:sp>
      <p:sp>
        <p:nvSpPr>
          <p:cNvPr id="59394"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39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0453BFB9-E1A3-469D-8EFD-645ECC0DDB06}"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a:ln>
            <a:solidFill>
              <a:srgbClr val="000000">
                <a:alpha val="100000"/>
              </a:srgbClr>
            </a:solidFill>
            <a:miter lim="800000"/>
          </a:ln>
        </p:spPr>
      </p:sp>
      <p:sp>
        <p:nvSpPr>
          <p:cNvPr id="61443" name="备注占位符 2"/>
          <p:cNvSpPr>
            <a:spLocks noGrp="1"/>
          </p:cNvSpPr>
          <p:nvPr>
            <p:ph type="body" idx="1"/>
          </p:nvPr>
        </p:nvSpPr>
        <p:spPr>
          <a:noFill/>
          <a:ln>
            <a:noFill/>
          </a:ln>
        </p:spPr>
        <p:txBody>
          <a:bodyPr wrap="square" lIns="99057" tIns="49528" rIns="99057" bIns="49528" anchor="t" anchorCtr="0"/>
          <a:p>
            <a:pPr lvl="0"/>
            <a:r>
              <a:rPr lang="en-US" altLang="zh-CN" dirty="0"/>
              <a:t>1</a:t>
            </a:r>
            <a:r>
              <a:rPr lang="zh-CN" altLang="en-US" dirty="0"/>
              <a:t>）</a:t>
            </a:r>
            <a:r>
              <a:rPr lang="en-US" altLang="zh-CN" dirty="0"/>
              <a:t>SF=F15</a:t>
            </a:r>
            <a:r>
              <a:rPr lang="zh-CN" altLang="en-US" dirty="0"/>
              <a:t>；</a:t>
            </a:r>
            <a:r>
              <a:rPr lang="en-US" altLang="zh-CN" dirty="0"/>
              <a:t>OF=A15</a:t>
            </a:r>
            <a:r>
              <a:rPr lang="zh-CN" altLang="en-US" dirty="0"/>
              <a:t>非</a:t>
            </a:r>
            <a:r>
              <a:rPr lang="en-US" altLang="zh-CN" dirty="0"/>
              <a:t>.B15</a:t>
            </a:r>
            <a:r>
              <a:rPr lang="zh-CN" altLang="en-US" dirty="0"/>
              <a:t>非</a:t>
            </a:r>
            <a:r>
              <a:rPr lang="en-US" altLang="zh-CN" dirty="0"/>
              <a:t>.F15+A15.B15.F15</a:t>
            </a:r>
            <a:r>
              <a:rPr lang="zh-CN" altLang="en-US" dirty="0"/>
              <a:t>非；</a:t>
            </a:r>
            <a:r>
              <a:rPr lang="en-US" altLang="zh-CN" dirty="0"/>
              <a:t>2</a:t>
            </a:r>
            <a:r>
              <a:rPr lang="zh-CN" altLang="en-US" dirty="0"/>
              <a:t>）因为单总线结构；  </a:t>
            </a:r>
            <a:r>
              <a:rPr lang="en-US" altLang="zh-CN" dirty="0"/>
              <a:t>3</a:t>
            </a:r>
            <a:r>
              <a:rPr lang="zh-CN" altLang="en-US" dirty="0"/>
              <a:t>）</a:t>
            </a:r>
            <a:r>
              <a:rPr lang="en-US" altLang="zh-CN" dirty="0"/>
              <a:t>rs, rd</a:t>
            </a:r>
            <a:r>
              <a:rPr lang="zh-CN" altLang="en-US" dirty="0"/>
              <a:t>都是</a:t>
            </a:r>
            <a:r>
              <a:rPr lang="en-US" altLang="zh-CN" dirty="0"/>
              <a:t>4bit; </a:t>
            </a:r>
            <a:r>
              <a:rPr lang="zh-CN" altLang="en-US" dirty="0"/>
              <a:t>地址译码器；</a:t>
            </a:r>
            <a:r>
              <a:rPr lang="en-US" altLang="zh-CN" dirty="0"/>
              <a:t>4</a:t>
            </a:r>
            <a:r>
              <a:rPr lang="zh-CN" altLang="en-US" dirty="0"/>
              <a:t>） </a:t>
            </a:r>
            <a:r>
              <a:rPr lang="en-US" altLang="zh-CN" dirty="0"/>
              <a:t>1</a:t>
            </a:r>
            <a:r>
              <a:rPr lang="zh-CN" altLang="en-US" dirty="0"/>
              <a:t>、</a:t>
            </a:r>
            <a:r>
              <a:rPr lang="en-US" altLang="zh-CN" dirty="0"/>
              <a:t>Pcout, MARin; 2</a:t>
            </a:r>
            <a:r>
              <a:rPr lang="zh-CN" altLang="en-US" dirty="0"/>
              <a:t>、</a:t>
            </a:r>
            <a:r>
              <a:rPr lang="en-US" altLang="zh-CN" dirty="0"/>
              <a:t>Read MDRin; 3</a:t>
            </a:r>
            <a:r>
              <a:rPr lang="zh-CN" altLang="en-US" dirty="0"/>
              <a:t>、</a:t>
            </a:r>
            <a:r>
              <a:rPr lang="en-US" altLang="zh-CN" dirty="0"/>
              <a:t>MDRout,IRin; </a:t>
            </a:r>
            <a:r>
              <a:rPr lang="zh-CN" altLang="en-US" dirty="0"/>
              <a:t>由于题 目中说存储器</a:t>
            </a:r>
            <a:r>
              <a:rPr lang="en-US" altLang="zh-CN" dirty="0"/>
              <a:t>5</a:t>
            </a:r>
            <a:r>
              <a:rPr lang="zh-CN" altLang="en-US" dirty="0"/>
              <a:t>个周期，一共</a:t>
            </a:r>
            <a:r>
              <a:rPr lang="en-US" altLang="zh-CN" dirty="0"/>
              <a:t>7</a:t>
            </a:r>
            <a:r>
              <a:rPr lang="zh-CN" altLang="en-US" dirty="0"/>
              <a:t>个周期；</a:t>
            </a:r>
            <a:r>
              <a:rPr lang="en-US" altLang="zh-CN" dirty="0"/>
              <a:t>5. </a:t>
            </a:r>
            <a:r>
              <a:rPr lang="zh-CN" altLang="en-US" dirty="0"/>
              <a:t>控制信号由</a:t>
            </a:r>
            <a:r>
              <a:rPr lang="en-US" altLang="zh-CN" dirty="0"/>
              <a:t>CU</a:t>
            </a:r>
            <a:r>
              <a:rPr lang="zh-CN" altLang="en-US" dirty="0"/>
              <a:t>产生；指令寄存器</a:t>
            </a:r>
            <a:r>
              <a:rPr lang="en-US" altLang="zh-CN" dirty="0"/>
              <a:t>IR</a:t>
            </a:r>
            <a:r>
              <a:rPr lang="zh-CN" altLang="en-US" dirty="0"/>
              <a:t>和标志寄存器</a:t>
            </a:r>
            <a:r>
              <a:rPr lang="en-US" altLang="zh-CN" dirty="0"/>
              <a:t>FR</a:t>
            </a:r>
            <a:r>
              <a:rPr lang="zh-CN" altLang="en-US" dirty="0"/>
              <a:t>的输出信号会连到控制部件的输入端</a:t>
            </a:r>
            <a:endParaRPr lang="zh-CN" altLang="en-US" dirty="0"/>
          </a:p>
        </p:txBody>
      </p:sp>
      <p:sp>
        <p:nvSpPr>
          <p:cNvPr id="61444"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幻灯片图像占位符 1"/>
          <p:cNvSpPr>
            <a:spLocks noGrp="1" noRot="1" noChangeAspect="1" noChangeArrowheads="1" noTextEdit="1"/>
          </p:cNvSpPr>
          <p:nvPr>
            <p:ph type="sldImg"/>
          </p:nvPr>
        </p:nvSpPr>
        <p:spPr>
          <a:xfrm>
            <a:off x="992188" y="768350"/>
            <a:ext cx="5114925" cy="3836988"/>
          </a:xfrm>
        </p:spPr>
      </p:sp>
      <p:sp>
        <p:nvSpPr>
          <p:cNvPr id="6758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8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DCA4F03B-A089-446E-9596-3A19B48C658F}"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幻灯片图像占位符 1"/>
          <p:cNvSpPr>
            <a:spLocks noGrp="1" noRot="1" noChangeAspect="1" noTextEdit="1"/>
          </p:cNvSpPr>
          <p:nvPr>
            <p:ph type="sldImg"/>
          </p:nvPr>
        </p:nvSpPr>
        <p:spPr>
          <a:ln>
            <a:solidFill>
              <a:srgbClr val="000000">
                <a:alpha val="100000"/>
              </a:srgbClr>
            </a:solidFill>
            <a:miter lim="800000"/>
          </a:ln>
        </p:spPr>
      </p:sp>
      <p:sp>
        <p:nvSpPr>
          <p:cNvPr id="84995" name="备注占位符 2"/>
          <p:cNvSpPr>
            <a:spLocks noGrp="1"/>
          </p:cNvSpPr>
          <p:nvPr>
            <p:ph type="body" idx="1"/>
          </p:nvPr>
        </p:nvSpPr>
        <p:spPr>
          <a:noFill/>
          <a:ln>
            <a:noFill/>
          </a:ln>
        </p:spPr>
        <p:txBody>
          <a:bodyPr wrap="square" lIns="99057" tIns="49528" rIns="99057" bIns="49528" anchor="t" anchorCtr="0"/>
          <a:p>
            <a:pPr lvl="0"/>
            <a:r>
              <a:rPr lang="en-US" altLang="zh-CN" dirty="0"/>
              <a:t>D</a:t>
            </a:r>
            <a:endParaRPr lang="zh-CN" altLang="en-US" dirty="0"/>
          </a:p>
        </p:txBody>
      </p:sp>
      <p:sp>
        <p:nvSpPr>
          <p:cNvPr id="84996"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幻灯片图像占位符 1"/>
          <p:cNvSpPr>
            <a:spLocks noGrp="1" noRot="1" noChangeAspect="1" noTextEdit="1"/>
          </p:cNvSpPr>
          <p:nvPr>
            <p:ph type="sldImg"/>
          </p:nvPr>
        </p:nvSpPr>
        <p:spPr>
          <a:ln>
            <a:solidFill>
              <a:srgbClr val="000000">
                <a:alpha val="100000"/>
              </a:srgbClr>
            </a:solidFill>
            <a:miter lim="800000"/>
          </a:ln>
        </p:spPr>
      </p:sp>
      <p:sp>
        <p:nvSpPr>
          <p:cNvPr id="97283" name="备注占位符 2"/>
          <p:cNvSpPr>
            <a:spLocks noGrp="1"/>
          </p:cNvSpPr>
          <p:nvPr>
            <p:ph type="body" idx="1"/>
          </p:nvPr>
        </p:nvSpPr>
        <p:spPr>
          <a:noFill/>
          <a:ln>
            <a:noFill/>
          </a:ln>
        </p:spPr>
        <p:txBody>
          <a:bodyPr wrap="square" lIns="99057" tIns="49528" rIns="99057" bIns="49528" anchor="t" anchorCtr="0"/>
          <a:p>
            <a:pPr lvl="0"/>
            <a:endParaRPr lang="zh-CN" altLang="en-US" dirty="0"/>
          </a:p>
        </p:txBody>
      </p:sp>
      <p:sp>
        <p:nvSpPr>
          <p:cNvPr id="97284"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幻灯片图像占位符 1"/>
          <p:cNvSpPr>
            <a:spLocks noGrp="1" noRot="1" noChangeAspect="1" noTextEdit="1"/>
          </p:cNvSpPr>
          <p:nvPr>
            <p:ph type="sldImg"/>
          </p:nvPr>
        </p:nvSpPr>
        <p:spPr>
          <a:ln>
            <a:solidFill>
              <a:srgbClr val="000000">
                <a:alpha val="100000"/>
              </a:srgbClr>
            </a:solidFill>
            <a:miter lim="800000"/>
          </a:ln>
        </p:spPr>
      </p:sp>
      <p:sp>
        <p:nvSpPr>
          <p:cNvPr id="104451" name="备注占位符 2"/>
          <p:cNvSpPr>
            <a:spLocks noGrp="1"/>
          </p:cNvSpPr>
          <p:nvPr>
            <p:ph type="body" idx="1"/>
          </p:nvPr>
        </p:nvSpPr>
        <p:spPr>
          <a:noFill/>
          <a:ln>
            <a:noFill/>
          </a:ln>
        </p:spPr>
        <p:txBody>
          <a:bodyPr wrap="square" lIns="99057" tIns="49528" rIns="99057" bIns="49528" anchor="t" anchorCtr="0"/>
          <a:p>
            <a:pPr lvl="0"/>
            <a:r>
              <a:rPr lang="zh-CN" altLang="en-US" dirty="0"/>
              <a:t>第</a:t>
            </a:r>
            <a:r>
              <a:rPr lang="en-US" altLang="zh-CN" dirty="0"/>
              <a:t>7</a:t>
            </a:r>
            <a:r>
              <a:rPr lang="zh-CN" altLang="en-US" dirty="0"/>
              <a:t>周</a:t>
            </a:r>
            <a:r>
              <a:rPr lang="en-US" altLang="zh-CN" dirty="0"/>
              <a:t>12</a:t>
            </a:r>
            <a:r>
              <a:rPr lang="zh-CN" altLang="en-US" dirty="0"/>
              <a:t>节下课</a:t>
            </a:r>
            <a:endParaRPr lang="zh-CN" altLang="en-US" dirty="0"/>
          </a:p>
        </p:txBody>
      </p:sp>
      <p:sp>
        <p:nvSpPr>
          <p:cNvPr id="104452"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幻灯片图像占位符 1"/>
          <p:cNvSpPr>
            <a:spLocks noGrp="1" noRot="1" noChangeAspect="1" noTextEdit="1"/>
          </p:cNvSpPr>
          <p:nvPr>
            <p:ph type="sldImg"/>
          </p:nvPr>
        </p:nvSpPr>
        <p:spPr>
          <a:ln>
            <a:solidFill>
              <a:srgbClr val="000000">
                <a:alpha val="100000"/>
              </a:srgbClr>
            </a:solidFill>
            <a:miter lim="800000"/>
          </a:ln>
        </p:spPr>
      </p:sp>
      <p:sp>
        <p:nvSpPr>
          <p:cNvPr id="106499" name="备注占位符 2"/>
          <p:cNvSpPr>
            <a:spLocks noGrp="1"/>
          </p:cNvSpPr>
          <p:nvPr>
            <p:ph type="body" idx="1"/>
          </p:nvPr>
        </p:nvSpPr>
        <p:spPr>
          <a:noFill/>
          <a:ln>
            <a:noFill/>
          </a:ln>
        </p:spPr>
        <p:txBody>
          <a:bodyPr wrap="square" lIns="99057" tIns="49528" rIns="99057" bIns="49528" anchor="t" anchorCtr="0"/>
          <a:p>
            <a:pPr lvl="0"/>
            <a:r>
              <a:rPr lang="zh-CN" altLang="en-US" dirty="0"/>
              <a:t>最后一行</a:t>
            </a:r>
            <a:r>
              <a:rPr lang="en-US" altLang="zh-CN" dirty="0"/>
              <a:t>R2+R3</a:t>
            </a:r>
            <a:r>
              <a:rPr lang="zh-CN" altLang="en-US" dirty="0"/>
              <a:t>应该为</a:t>
            </a:r>
            <a:r>
              <a:rPr lang="en-US" altLang="zh-CN" dirty="0"/>
              <a:t>R2-R3</a:t>
            </a:r>
            <a:endParaRPr lang="zh-CN" altLang="en-US" dirty="0"/>
          </a:p>
        </p:txBody>
      </p:sp>
      <p:sp>
        <p:nvSpPr>
          <p:cNvPr id="106500"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20835" name="Rectangle 2"/>
          <p:cNvSpPr>
            <a:spLocks noRot="1" noTextEdit="1"/>
          </p:cNvSpPr>
          <p:nvPr>
            <p:ph type="sldImg"/>
          </p:nvPr>
        </p:nvSpPr>
        <p:spPr>
          <a:ln>
            <a:solidFill>
              <a:srgbClr val="000000">
                <a:alpha val="100000"/>
              </a:srgbClr>
            </a:solidFill>
            <a:miter lim="800000"/>
          </a:ln>
        </p:spPr>
      </p:sp>
      <p:sp>
        <p:nvSpPr>
          <p:cNvPr id="120836" name="Rectangle 3"/>
          <p:cNvSpPr>
            <a:spLocks noGrp="1"/>
          </p:cNvSpPr>
          <p:nvPr>
            <p:ph type="body" idx="1"/>
          </p:nvPr>
        </p:nvSpPr>
        <p:spPr>
          <a:noFill/>
          <a:ln>
            <a:noFill/>
          </a:ln>
        </p:spPr>
        <p:txBody>
          <a:bodyPr wrap="square" lIns="99057" tIns="49528" rIns="99057" bIns="49528" anchor="t" anchorCtr="0"/>
          <a:p>
            <a:pPr lvl="0"/>
            <a:r>
              <a:rPr lang="en-US" altLang="zh-CN" dirty="0"/>
              <a:t> </a:t>
            </a:r>
            <a:r>
              <a:rPr lang="zh-CN" altLang="en-US" dirty="0"/>
              <a:t>每条机器指令对应一段微程序，当公用的取指微程序从主存中取出机器指令之后，由机器指令的操作码字段指出各段微程序的入口地址，这是一种多分支</a:t>
            </a:r>
            <a:r>
              <a:rPr lang="en-US" altLang="zh-CN" dirty="0"/>
              <a:t>(</a:t>
            </a:r>
            <a:r>
              <a:rPr lang="zh-CN" altLang="en-US" dirty="0"/>
              <a:t>或多路转移</a:t>
            </a:r>
            <a:r>
              <a:rPr lang="en-US" altLang="zh-CN" dirty="0"/>
              <a:t>)</a:t>
            </a:r>
            <a:r>
              <a:rPr lang="zh-CN" altLang="en-US" dirty="0"/>
              <a:t>的情况，由机器指令的操作码转换成初始微地址的方式主要有两种。</a:t>
            </a:r>
            <a:endParaRPr lang="zh-CN" altLang="en-US" dirty="0"/>
          </a:p>
          <a:p>
            <a:pPr lvl="0"/>
            <a:r>
              <a:rPr lang="zh-CN" altLang="en-US" dirty="0"/>
              <a:t>计数器的方式</a:t>
            </a:r>
            <a:endParaRPr lang="zh-CN" altLang="en-US" dirty="0"/>
          </a:p>
          <a:p>
            <a:pPr lvl="0"/>
            <a:r>
              <a:rPr lang="zh-CN" altLang="en-US" dirty="0"/>
              <a:t>多路转移的方式</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24931" name="Rectangle 2"/>
          <p:cNvSpPr>
            <a:spLocks noRot="1" noTextEdit="1"/>
          </p:cNvSpPr>
          <p:nvPr>
            <p:ph type="sldImg"/>
          </p:nvPr>
        </p:nvSpPr>
        <p:spPr>
          <a:ln>
            <a:solidFill>
              <a:srgbClr val="000000">
                <a:alpha val="100000"/>
              </a:srgbClr>
            </a:solidFill>
            <a:miter lim="800000"/>
          </a:ln>
        </p:spPr>
      </p:sp>
      <p:sp>
        <p:nvSpPr>
          <p:cNvPr id="124932" name="Rectangle 3"/>
          <p:cNvSpPr>
            <a:spLocks noGrp="1"/>
          </p:cNvSpPr>
          <p:nvPr>
            <p:ph type="body" idx="1"/>
          </p:nvPr>
        </p:nvSpPr>
        <p:spPr>
          <a:noFill/>
          <a:ln>
            <a:noFill/>
          </a:ln>
        </p:spPr>
        <p:txBody>
          <a:bodyPr wrap="square" lIns="99057" tIns="49528" rIns="99057" bIns="49528" anchor="t" anchorCtr="0"/>
          <a:p>
            <a:pPr lvl="1"/>
            <a:r>
              <a:rPr lang="zh-CN" altLang="en-US" dirty="0"/>
              <a:t>后继微地址可由微程序设计者指定，或者根据微指令所规定的测试结果直接决定后继微地址的全部或部分值。</a:t>
            </a:r>
            <a:endParaRPr lang="zh-CN" altLang="en-US" dirty="0"/>
          </a:p>
          <a:p>
            <a:pPr lvl="1"/>
            <a:r>
              <a:rPr lang="zh-CN" altLang="en-US" dirty="0"/>
              <a:t>测试段如果只有一位，则微地址将产生两个分支，若有两位，则最多可产生四个分支，依此类推，测试段为</a:t>
            </a:r>
            <a:r>
              <a:rPr lang="en-US" altLang="zh-CN" dirty="0"/>
              <a:t>n</a:t>
            </a:r>
            <a:r>
              <a:rPr lang="zh-CN" altLang="en-US" dirty="0"/>
              <a:t>位最多可产生</a:t>
            </a:r>
            <a:r>
              <a:rPr lang="en-US" altLang="zh-CN" dirty="0"/>
              <a:t>2</a:t>
            </a:r>
            <a:r>
              <a:rPr lang="en-US" altLang="zh-CN" baseline="30000" dirty="0"/>
              <a:t>n</a:t>
            </a:r>
            <a:r>
              <a:rPr lang="zh-CN" altLang="en-US" dirty="0"/>
              <a:t>个分支。</a:t>
            </a:r>
            <a:endParaRPr lang="zh-CN" altLang="en-US" dirty="0"/>
          </a:p>
          <a:p>
            <a:pPr lvl="1"/>
            <a:endParaRPr lang="zh-CN" altLang="en-US" dirty="0"/>
          </a:p>
          <a:p>
            <a:pPr lvl="1"/>
            <a:endParaRPr lang="zh-CN" altLang="en-US" dirty="0"/>
          </a:p>
          <a:p>
            <a:pPr lvl="0"/>
            <a:endParaRPr lang="en-US"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31075" name="Rectangle 2"/>
          <p:cNvSpPr>
            <a:spLocks noRot="1" noTextEdit="1"/>
          </p:cNvSpPr>
          <p:nvPr>
            <p:ph type="sldImg"/>
          </p:nvPr>
        </p:nvSpPr>
        <p:spPr>
          <a:ln>
            <a:solidFill>
              <a:srgbClr val="000000">
                <a:alpha val="100000"/>
              </a:srgbClr>
            </a:solidFill>
            <a:miter lim="800000"/>
          </a:ln>
        </p:spPr>
      </p:sp>
      <p:sp>
        <p:nvSpPr>
          <p:cNvPr id="131076" name="Rectangle 3"/>
          <p:cNvSpPr>
            <a:spLocks noGrp="1"/>
          </p:cNvSpPr>
          <p:nvPr>
            <p:ph type="body" idx="1"/>
          </p:nvPr>
        </p:nvSpPr>
        <p:spPr>
          <a:noFill/>
          <a:ln>
            <a:noFill/>
          </a:ln>
        </p:spPr>
        <p:txBody>
          <a:bodyPr wrap="square" lIns="99057" tIns="49528" rIns="99057" bIns="49528" anchor="t" anchorCtr="0"/>
          <a:p>
            <a:pPr lvl="2">
              <a:lnSpc>
                <a:spcPct val="90000"/>
              </a:lnSpc>
              <a:buFont typeface="Wingdings" panose="05000000000000000000" pitchFamily="2" charset="2"/>
              <a:buChar char="•"/>
            </a:pPr>
            <a:r>
              <a:rPr lang="zh-CN" altLang="en-US" sz="1500" dirty="0"/>
              <a:t>微指令字较长。一般为几十位到</a:t>
            </a:r>
            <a:r>
              <a:rPr lang="en-US" altLang="zh-CN" sz="1500" dirty="0"/>
              <a:t>100</a:t>
            </a:r>
            <a:r>
              <a:rPr lang="zh-CN" altLang="en-US" sz="1500" dirty="0"/>
              <a:t>位左右，有的长达</a:t>
            </a:r>
            <a:r>
              <a:rPr lang="en-US" altLang="zh-CN" sz="1500" dirty="0"/>
              <a:t>200</a:t>
            </a:r>
            <a:r>
              <a:rPr lang="zh-CN" altLang="en-US" sz="1500" dirty="0"/>
              <a:t>多位。一般来说，机器规模越大，速度越快，采用的微指令字就越长。</a:t>
            </a:r>
            <a:endParaRPr lang="zh-CN" altLang="en-US" sz="1500" dirty="0"/>
          </a:p>
          <a:p>
            <a:pPr lvl="2">
              <a:lnSpc>
                <a:spcPct val="90000"/>
              </a:lnSpc>
              <a:buFont typeface="Wingdings" panose="05000000000000000000" pitchFamily="2" charset="2"/>
              <a:buChar char="•"/>
            </a:pPr>
            <a:r>
              <a:rPr lang="zh-CN" altLang="en-US" sz="1500" dirty="0"/>
              <a:t>微指令中的微操作有高度的并行性，即在一个微周期中，一次能并行执行多个微命令，因而能充分发挥数据通路并行结构的并行操作能力。</a:t>
            </a:r>
            <a:endParaRPr lang="zh-CN" altLang="en-US" sz="1500" dirty="0"/>
          </a:p>
          <a:p>
            <a:pPr lvl="2">
              <a:lnSpc>
                <a:spcPct val="90000"/>
              </a:lnSpc>
              <a:buFont typeface="Wingdings" panose="05000000000000000000" pitchFamily="2" charset="2"/>
              <a:buChar char="•"/>
            </a:pPr>
            <a:r>
              <a:rPr lang="zh-CN" altLang="en-US" sz="1500" dirty="0"/>
              <a:t>微指令译码简单，一般采用直接控制编码法和分段直接编码法，微指令与数据通路各控制点之间有较直接的对应关系。</a:t>
            </a:r>
            <a:endParaRPr lang="zh-CN" altLang="en-US" sz="1500" dirty="0"/>
          </a:p>
          <a:p>
            <a:pPr lvl="2">
              <a:lnSpc>
                <a:spcPct val="90000"/>
              </a:lnSpc>
              <a:buFont typeface="Wingdings" panose="05000000000000000000" pitchFamily="2" charset="2"/>
              <a:buChar char="•"/>
            </a:pPr>
            <a:r>
              <a:rPr lang="zh-CN" altLang="en-US" sz="1500" dirty="0"/>
              <a:t>设计由于微指令的并行操作能力强，效率高，编制的微程序比较短</a:t>
            </a:r>
            <a:endParaRPr lang="zh-CN" altLang="en-US" sz="1500" dirty="0"/>
          </a:p>
          <a:p>
            <a:pPr lvl="2">
              <a:lnSpc>
                <a:spcPct val="90000"/>
              </a:lnSpc>
              <a:buFont typeface="Wingdings" panose="05000000000000000000" pitchFamily="2" charset="2"/>
              <a:buChar char="•"/>
            </a:pPr>
            <a:r>
              <a:rPr lang="zh-CN" altLang="en-US" sz="1500" dirty="0"/>
              <a:t>微程序的执行速度比较快，控制存储器的纵向容量小，灵活性强。</a:t>
            </a:r>
            <a:endParaRPr lang="zh-CN" altLang="en-US" sz="1500" dirty="0"/>
          </a:p>
          <a:p>
            <a:pPr lvl="2">
              <a:lnSpc>
                <a:spcPct val="90000"/>
              </a:lnSpc>
              <a:buFont typeface="Wingdings" panose="05000000000000000000" pitchFamily="2" charset="2"/>
              <a:buChar char="•"/>
            </a:pPr>
            <a:r>
              <a:rPr lang="zh-CN" altLang="en-US" sz="1500" dirty="0"/>
              <a:t>缺点是微指令字比较长，明显地增加了控制存储器的横向容量</a:t>
            </a:r>
            <a:endParaRPr lang="zh-CN" altLang="en-US" sz="1500" dirty="0"/>
          </a:p>
          <a:p>
            <a:pPr lvl="2">
              <a:lnSpc>
                <a:spcPct val="90000"/>
              </a:lnSpc>
              <a:buFont typeface="Wingdings" panose="05000000000000000000" pitchFamily="2" charset="2"/>
              <a:buChar char="•"/>
            </a:pPr>
            <a:r>
              <a:rPr lang="zh-CN" altLang="en-US" sz="1500" dirty="0"/>
              <a:t>水平微指令与机器指令差别很大，一般要熟悉机器结构、数据通路、时序系统以及指令执行过程的人才能进行微程序设计，这对用户来说是很困难的。</a:t>
            </a:r>
            <a:endParaRPr lang="zh-CN" altLang="en-US" sz="1500" dirty="0"/>
          </a:p>
          <a:p>
            <a:pPr lvl="0">
              <a:lnSpc>
                <a:spcPct val="90000"/>
              </a:lnSpc>
              <a:buChar char="•"/>
            </a:pPr>
            <a:endParaRPr lang="en-US"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34147" name="Rectangle 2"/>
          <p:cNvSpPr>
            <a:spLocks noRot="1" noTextEdit="1"/>
          </p:cNvSpPr>
          <p:nvPr>
            <p:ph type="sldImg"/>
          </p:nvPr>
        </p:nvSpPr>
        <p:spPr>
          <a:ln>
            <a:solidFill>
              <a:srgbClr val="000000">
                <a:alpha val="100000"/>
              </a:srgbClr>
            </a:solidFill>
            <a:miter lim="800000"/>
          </a:ln>
        </p:spPr>
      </p:sp>
      <p:sp>
        <p:nvSpPr>
          <p:cNvPr id="134148" name="Rectangle 3"/>
          <p:cNvSpPr>
            <a:spLocks noGrp="1"/>
          </p:cNvSpPr>
          <p:nvPr>
            <p:ph type="body" idx="1"/>
          </p:nvPr>
        </p:nvSpPr>
        <p:spPr>
          <a:noFill/>
          <a:ln>
            <a:noFill/>
          </a:ln>
        </p:spPr>
        <p:txBody>
          <a:bodyPr wrap="square" lIns="99057" tIns="49528" rIns="99057" bIns="49528" anchor="t" anchorCtr="0"/>
          <a:p>
            <a:pPr lvl="2"/>
            <a:r>
              <a:rPr lang="zh-CN" altLang="en-US" dirty="0"/>
              <a:t>微指令字短，一般为</a:t>
            </a:r>
            <a:r>
              <a:rPr lang="en-US" altLang="zh-CN" dirty="0"/>
              <a:t>10</a:t>
            </a:r>
            <a:r>
              <a:rPr lang="zh-CN" altLang="en-US" dirty="0"/>
              <a:t>～</a:t>
            </a:r>
            <a:r>
              <a:rPr lang="en-US" altLang="zh-CN" dirty="0"/>
              <a:t>20</a:t>
            </a:r>
            <a:r>
              <a:rPr lang="zh-CN" altLang="en-US" dirty="0"/>
              <a:t>位左右。</a:t>
            </a:r>
            <a:endParaRPr lang="zh-CN" altLang="en-US" dirty="0"/>
          </a:p>
          <a:p>
            <a:pPr lvl="2"/>
            <a:r>
              <a:rPr lang="zh-CN" altLang="en-US" dirty="0"/>
              <a:t>微指令的并行微操作能力有限，一条微指令一般只包含一个微操作命令。</a:t>
            </a:r>
            <a:endParaRPr lang="zh-CN" altLang="en-US" dirty="0"/>
          </a:p>
          <a:p>
            <a:pPr lvl="2"/>
            <a:r>
              <a:rPr lang="zh-CN" altLang="en-US" dirty="0"/>
              <a:t>微指令译码比较复杂。全部微命令用一个微操作控制字段进行编码，微指令执行时需行完全译码。</a:t>
            </a:r>
            <a:endParaRPr lang="zh-CN" altLang="en-US" dirty="0"/>
          </a:p>
          <a:p>
            <a:pPr lvl="2"/>
            <a:r>
              <a:rPr lang="zh-CN" altLang="en-US" dirty="0"/>
              <a:t>设计用户只需注意微指令的功能，而对微命令及其选择、数据通路的结构则不用过多地考虑，因此，便于用户编制微程序。而且，编制的微程序规整、直观，便于实现设计的自动化。</a:t>
            </a:r>
            <a:endParaRPr lang="zh-CN" altLang="en-US" dirty="0"/>
          </a:p>
          <a:p>
            <a:pPr lvl="2"/>
            <a:r>
              <a:rPr lang="zh-CN" altLang="en-US" dirty="0"/>
              <a:t>垂直微指令字较短，使控制存储器的横向容量少。</a:t>
            </a:r>
            <a:endParaRPr lang="zh-CN" altLang="en-US" dirty="0"/>
          </a:p>
          <a:p>
            <a:pPr lvl="2"/>
            <a:r>
              <a:rPr lang="zh-CN" altLang="en-US" dirty="0"/>
              <a:t>用垂直微指令编制微程序要使用较多的微指令，微程序较长；要求控制存储器的纵向容量大。垂直微指令产生微命令要经过译码，微程序执行速度慢。</a:t>
            </a:r>
            <a:endParaRPr lang="zh-CN" altLang="en-US" dirty="0"/>
          </a:p>
          <a:p>
            <a:pPr lvl="2"/>
            <a:r>
              <a:rPr lang="zh-CN" altLang="en-US" dirty="0"/>
              <a:t>不能充分利用数据通路具有多种并行操作能力</a:t>
            </a:r>
            <a:endParaRPr lang="zh-CN" altLang="en-US" dirty="0"/>
          </a:p>
          <a:p>
            <a:pPr lvl="0"/>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幻灯片图像占位符 1"/>
          <p:cNvSpPr>
            <a:spLocks noGrp="1" noRot="1" noChangeAspect="1" noTextEdit="1"/>
          </p:cNvSpPr>
          <p:nvPr>
            <p:ph type="sldImg"/>
          </p:nvPr>
        </p:nvSpPr>
        <p:spPr>
          <a:ln>
            <a:solidFill>
              <a:srgbClr val="000000"/>
            </a:solidFill>
            <a:miter/>
          </a:ln>
        </p:spPr>
      </p:sp>
      <p:sp>
        <p:nvSpPr>
          <p:cNvPr id="138243" name="备注占位符 2"/>
          <p:cNvSpPr>
            <a:spLocks noGrp="1"/>
          </p:cNvSpPr>
          <p:nvPr>
            <p:ph type="body" idx="1"/>
          </p:nvPr>
        </p:nvSpPr>
        <p:spPr>
          <a:noFill/>
          <a:ln>
            <a:noFill/>
          </a:ln>
        </p:spPr>
        <p:txBody>
          <a:bodyPr wrap="square" lIns="99057" tIns="49528" rIns="99057" bIns="49528" anchor="t" anchorCtr="0"/>
          <a:p>
            <a:pPr lvl="0"/>
            <a:r>
              <a:rPr lang="en-US" altLang="zh-CN" dirty="0"/>
              <a:t>C</a:t>
            </a:r>
            <a:endParaRPr lang="zh-CN" altLang="en-US" dirty="0"/>
          </a:p>
        </p:txBody>
      </p:sp>
      <p:sp>
        <p:nvSpPr>
          <p:cNvPr id="138244"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buNone/>
            </a:pPr>
            <a:fld id="{9A0DB2DC-4C9A-4742-B13C-FB6460FD3503}" type="slidenum">
              <a:rPr lang="en-US" altLang="zh-CN" sz="1300" dirty="0"/>
            </a:fld>
            <a:endParaRPr lang="en-US" altLang="zh-CN" sz="13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image" Target="../media/image1.png"/><Relationship Id="rId2" Type="http://schemas.openxmlformats.org/officeDocument/2006/relationships/oleObject" Target="../embeddings/oleObject5.bin"/><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image" Target="../media/image1.png"/><Relationship Id="rId2" Type="http://schemas.openxmlformats.org/officeDocument/2006/relationships/oleObject" Target="../embeddings/oleObject6.bin"/><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image" Target="../media/image1.png"/><Relationship Id="rId2" Type="http://schemas.openxmlformats.org/officeDocument/2006/relationships/oleObject" Target="../embeddings/oleObject7.bin"/><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17"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7" name="Group 5"/>
            <p:cNvGrpSpPr/>
            <p:nvPr/>
          </p:nvGrpSpPr>
          <p:grpSpPr>
            <a:xfrm>
              <a:off x="0" y="672"/>
              <a:ext cx="1806" cy="1989"/>
              <a:chOff x="0" y="672"/>
              <a:chExt cx="1806" cy="1989"/>
            </a:xfrm>
          </p:grpSpPr>
          <p:sp>
            <p:nvSpPr>
              <p:cNvPr id="20" name="Rectangle 6"/>
              <p:cNvSpPr>
                <a:spLocks noChangeArrowheads="1"/>
              </p:cNvSpPr>
              <p:nvPr/>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7"/>
              <p:cNvSpPr>
                <a:spLocks noChangeArrowheads="1"/>
              </p:cNvSpPr>
              <p:nvPr/>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8"/>
              <p:cNvSpPr>
                <a:spLocks noChangeArrowheads="1"/>
              </p:cNvSpPr>
              <p:nvPr/>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9"/>
              <p:cNvSpPr>
                <a:spLocks noChangeArrowheads="1"/>
              </p:cNvSpPr>
              <p:nvPr/>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10"/>
              <p:cNvSpPr>
                <a:spLocks noChangeArrowheads="1"/>
              </p:cNvSpPr>
              <p:nvPr/>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1"/>
              <p:cNvSpPr>
                <a:spLocks noChangeArrowheads="1"/>
              </p:cNvSpPr>
              <p:nvPr/>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2"/>
              <p:cNvSpPr>
                <a:spLocks noChangeArrowheads="1"/>
              </p:cNvSpPr>
              <p:nvPr/>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3"/>
              <p:cNvSpPr>
                <a:spLocks noChangeArrowheads="1"/>
              </p:cNvSpPr>
              <p:nvPr/>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4"/>
              <p:cNvSpPr>
                <a:spLocks noChangeArrowheads="1"/>
              </p:cNvSpPr>
              <p:nvPr/>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5"/>
              <p:cNvSpPr>
                <a:spLocks noChangeArrowheads="1"/>
              </p:cNvSpPr>
              <p:nvPr/>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537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30" name="Rectangle 16"/>
          <p:cNvSpPr>
            <a:spLocks noGrp="1" noChangeArrowheads="1"/>
          </p:cNvSpPr>
          <p:nvPr>
            <p:ph type="dt" sz="half" idx="2"/>
          </p:nvPr>
        </p:nvSpPr>
        <p:spPr>
          <a:xfrm>
            <a:off x="3635375" y="6237288"/>
            <a:ext cx="2133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 name="Rectangle 17"/>
          <p:cNvSpPr>
            <a:spLocks noGrp="1" noChangeArrowheads="1"/>
          </p:cNvSpPr>
          <p:nvPr>
            <p:ph type="ftr" sz="quarter" idx="3"/>
          </p:nvPr>
        </p:nvSpPr>
        <p:spPr>
          <a:xfrm>
            <a:off x="5940425" y="6237288"/>
            <a:ext cx="2895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宋体" panose="02010600030101010101" pitchFamily="2"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graphicFrame>
        <p:nvGraphicFramePr>
          <p:cNvPr id="3074"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8" name="" r:id="rId2" imgW="8534400" imgH="6794500" progId="Photoshop.Image.7">
                  <p:embed/>
                </p:oleObj>
              </mc:Choice>
              <mc:Fallback>
                <p:oleObj name="" r:id="rId2" imgW="8534400" imgH="6794500" progId="Photoshop.Image.7">
                  <p:embed/>
                  <p:pic>
                    <p:nvPicPr>
                      <p:cNvPr id="0" name="图片 3077"/>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3075" name="Group 4"/>
          <p:cNvGrpSpPr/>
          <p:nvPr/>
        </p:nvGrpSpPr>
        <p:grpSpPr>
          <a:xfrm>
            <a:off x="0" y="0"/>
            <a:ext cx="9144000" cy="546100"/>
            <a:chOff x="0" y="0"/>
            <a:chExt cx="5760" cy="344"/>
          </a:xfrm>
        </p:grpSpPr>
        <p:sp>
          <p:nvSpPr>
            <p:cNvPr id="18"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3"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4"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6"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27" name="Line 5"/>
          <p:cNvSpPr>
            <a:spLocks noChangeShapeType="1"/>
          </p:cNvSpPr>
          <p:nvPr/>
        </p:nvSpPr>
        <p:spPr bwMode="ltGray">
          <a:xfrm>
            <a:off x="468313" y="6429375"/>
            <a:ext cx="8351838" cy="1588"/>
          </a:xfrm>
          <a:prstGeom prst="line">
            <a:avLst/>
          </a:prstGeom>
          <a:noFill/>
          <a:ln w="9525">
            <a:solidFill>
              <a:schemeClr val="bg2">
                <a:lumMod val="40000"/>
                <a:lumOff val="60000"/>
              </a:schemeClr>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 name="Line 5"/>
          <p:cNvSpPr>
            <a:spLocks noChangeShapeType="1"/>
          </p:cNvSpPr>
          <p:nvPr/>
        </p:nvSpPr>
        <p:spPr bwMode="ltGray">
          <a:xfrm>
            <a:off x="-746125" y="3162300"/>
            <a:ext cx="8351838" cy="1588"/>
          </a:xfrm>
          <a:prstGeom prst="line">
            <a:avLst/>
          </a:prstGeom>
          <a:noFill/>
          <a:ln w="9525">
            <a:solidFill>
              <a:schemeClr val="bg2">
                <a:lumMod val="40000"/>
                <a:lumOff val="60000"/>
              </a:schemeClr>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showMasterSp="0">
  <p:cSld name="标题，文本与内容">
    <p:bg>
      <p:bgPr>
        <a:solidFill>
          <a:schemeClr val="bg1"/>
        </a:solidFill>
        <a:effectLst/>
      </p:bgPr>
    </p:bg>
    <p:spTree>
      <p:nvGrpSpPr>
        <p:cNvPr id="1" name=""/>
        <p:cNvGrpSpPr/>
        <p:nvPr/>
      </p:nvGrpSpPr>
      <p:grpSpPr>
        <a:xfrm>
          <a:off x="0" y="0"/>
          <a:ext cx="0" cy="0"/>
          <a:chOff x="0" y="0"/>
          <a:chExt cx="0" cy="0"/>
        </a:xfrm>
      </p:grpSpPr>
      <p:graphicFrame>
        <p:nvGraphicFramePr>
          <p:cNvPr id="4098"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9" name="" r:id="rId2" imgW="8534400" imgH="6794500" progId="Photoshop.Image.7">
                  <p:embed/>
                </p:oleObj>
              </mc:Choice>
              <mc:Fallback>
                <p:oleObj name="" r:id="rId2" imgW="8534400" imgH="6794500" progId="Photoshop.Image.7">
                  <p:embed/>
                  <p:pic>
                    <p:nvPicPr>
                      <p:cNvPr id="0" name="图片 3078"/>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4099" name="Group 4"/>
          <p:cNvGrpSpPr/>
          <p:nvPr/>
        </p:nvGrpSpPr>
        <p:grpSpPr>
          <a:xfrm>
            <a:off x="0" y="0"/>
            <a:ext cx="9144000" cy="546100"/>
            <a:chOff x="0" y="0"/>
            <a:chExt cx="5760" cy="344"/>
          </a:xfrm>
        </p:grpSpPr>
        <p:sp>
          <p:nvSpPr>
            <p:cNvPr id="18"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3"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4"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6"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4100"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2" name="标题 1"/>
          <p:cNvSpPr>
            <a:spLocks noGrp="1"/>
          </p:cNvSpPr>
          <p:nvPr>
            <p:ph type="title"/>
          </p:nvPr>
        </p:nvSpPr>
        <p:spPr>
          <a:xfrm>
            <a:off x="468313" y="122238"/>
            <a:ext cx="7532687" cy="78581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68413"/>
            <a:ext cx="4038600" cy="49688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68413"/>
            <a:ext cx="4038600" cy="49688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bl" showMasterSp="0">
  <p:cSld name="Title and Table">
    <p:bg>
      <p:bgPr>
        <a:solidFill>
          <a:schemeClr val="bg1"/>
        </a:solidFill>
        <a:effectLst/>
      </p:bgPr>
    </p:bg>
    <p:spTree>
      <p:nvGrpSpPr>
        <p:cNvPr id="1" name=""/>
        <p:cNvGrpSpPr/>
        <p:nvPr/>
      </p:nvGrpSpPr>
      <p:grpSpPr>
        <a:xfrm>
          <a:off x="0" y="0"/>
          <a:ext cx="0" cy="0"/>
          <a:chOff x="0" y="0"/>
          <a:chExt cx="0" cy="0"/>
        </a:xfrm>
      </p:grpSpPr>
      <p:graphicFrame>
        <p:nvGraphicFramePr>
          <p:cNvPr id="5122"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6" name="" r:id="rId2" imgW="8534400" imgH="6794500" progId="Photoshop.Image.7">
                  <p:embed/>
                </p:oleObj>
              </mc:Choice>
              <mc:Fallback>
                <p:oleObj name="" r:id="rId2" imgW="8534400" imgH="6794500" progId="Photoshop.Image.7">
                  <p:embed/>
                  <p:pic>
                    <p:nvPicPr>
                      <p:cNvPr id="0" name="图片 3075"/>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5123" name="Group 4"/>
          <p:cNvGrpSpPr/>
          <p:nvPr/>
        </p:nvGrpSpPr>
        <p:grpSpPr>
          <a:xfrm>
            <a:off x="0" y="0"/>
            <a:ext cx="9144000" cy="546100"/>
            <a:chOff x="0" y="0"/>
            <a:chExt cx="5760" cy="344"/>
          </a:xfrm>
        </p:grpSpPr>
        <p:sp>
          <p:nvSpPr>
            <p:cNvPr id="18"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3"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4"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6"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5124"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2" name="Title 1"/>
          <p:cNvSpPr>
            <a:spLocks noGrp="1"/>
          </p:cNvSpPr>
          <p:nvPr>
            <p:ph type="title"/>
          </p:nvPr>
        </p:nvSpPr>
        <p:spPr>
          <a:xfrm>
            <a:off x="468313" y="122238"/>
            <a:ext cx="7532687" cy="785812"/>
          </a:xfrm>
        </p:spPr>
        <p:txBody>
          <a:bodyPr/>
          <a:lstStyle/>
          <a:p>
            <a:r>
              <a:rPr lang="en-US" altLang="zh-CN" smtClean="0"/>
              <a:t>Click to edit Master title style</a:t>
            </a:r>
            <a:endParaRPr lang="zh-CN" altLang="en-US"/>
          </a:p>
        </p:txBody>
      </p:sp>
      <p:sp>
        <p:nvSpPr>
          <p:cNvPr id="3" name="Table Placeholder 2"/>
          <p:cNvSpPr>
            <a:spLocks noGrp="1"/>
          </p:cNvSpPr>
          <p:nvPr>
            <p:ph type="tbl" idx="1"/>
          </p:nvPr>
        </p:nvSpPr>
        <p:spPr>
          <a:xfrm>
            <a:off x="457200" y="1268413"/>
            <a:ext cx="8229600" cy="4862512"/>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宋体" panose="02010600030101010101" pitchFamily="2" charset="-122"/>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17"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7" name="Group 5"/>
            <p:cNvGrpSpPr/>
            <p:nvPr/>
          </p:nvGrpSpPr>
          <p:grpSpPr>
            <a:xfrm>
              <a:off x="0" y="672"/>
              <a:ext cx="1806" cy="1989"/>
              <a:chOff x="0" y="672"/>
              <a:chExt cx="1806" cy="1989"/>
            </a:xfrm>
          </p:grpSpPr>
          <p:sp>
            <p:nvSpPr>
              <p:cNvPr id="20" name="Rectangle 6"/>
              <p:cNvSpPr>
                <a:spLocks noChangeArrowheads="1"/>
              </p:cNvSpPr>
              <p:nvPr/>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7"/>
              <p:cNvSpPr>
                <a:spLocks noChangeArrowheads="1"/>
              </p:cNvSpPr>
              <p:nvPr/>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8"/>
              <p:cNvSpPr>
                <a:spLocks noChangeArrowheads="1"/>
              </p:cNvSpPr>
              <p:nvPr/>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9"/>
              <p:cNvSpPr>
                <a:spLocks noChangeArrowheads="1"/>
              </p:cNvSpPr>
              <p:nvPr/>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10"/>
              <p:cNvSpPr>
                <a:spLocks noChangeArrowheads="1"/>
              </p:cNvSpPr>
              <p:nvPr/>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1"/>
              <p:cNvSpPr>
                <a:spLocks noChangeArrowheads="1"/>
              </p:cNvSpPr>
              <p:nvPr/>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2"/>
              <p:cNvSpPr>
                <a:spLocks noChangeArrowheads="1"/>
              </p:cNvSpPr>
              <p:nvPr/>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3"/>
              <p:cNvSpPr>
                <a:spLocks noChangeArrowheads="1"/>
              </p:cNvSpPr>
              <p:nvPr/>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4"/>
              <p:cNvSpPr>
                <a:spLocks noChangeArrowheads="1"/>
              </p:cNvSpPr>
              <p:nvPr/>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5"/>
              <p:cNvSpPr>
                <a:spLocks noChangeArrowheads="1"/>
              </p:cNvSpPr>
              <p:nvPr/>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537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30" name="Rectangle 16"/>
          <p:cNvSpPr>
            <a:spLocks noGrp="1" noChangeArrowheads="1"/>
          </p:cNvSpPr>
          <p:nvPr>
            <p:ph type="dt" sz="half" idx="2"/>
          </p:nvPr>
        </p:nvSpPr>
        <p:spPr>
          <a:xfrm>
            <a:off x="3635375" y="6237288"/>
            <a:ext cx="2133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 name="Rectangle 17"/>
          <p:cNvSpPr>
            <a:spLocks noGrp="1" noChangeArrowheads="1"/>
          </p:cNvSpPr>
          <p:nvPr>
            <p:ph type="ftr" sz="quarter" idx="3"/>
          </p:nvPr>
        </p:nvSpPr>
        <p:spPr>
          <a:xfrm>
            <a:off x="5940425" y="6237288"/>
            <a:ext cx="2895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宋体" panose="02010600030101010101" pitchFamily="2"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graphicFrame>
        <p:nvGraphicFramePr>
          <p:cNvPr id="3074"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8" name="" r:id="rId2" imgW="8534400" imgH="6794500" progId="Photoshop.Image.7">
                  <p:embed/>
                </p:oleObj>
              </mc:Choice>
              <mc:Fallback>
                <p:oleObj name="" r:id="rId2" imgW="8534400" imgH="6794500" progId="Photoshop.Image.7">
                  <p:embed/>
                  <p:pic>
                    <p:nvPicPr>
                      <p:cNvPr id="0" name="图片 3077"/>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3075" name="Group 4"/>
          <p:cNvGrpSpPr/>
          <p:nvPr/>
        </p:nvGrpSpPr>
        <p:grpSpPr>
          <a:xfrm>
            <a:off x="0" y="0"/>
            <a:ext cx="9144000" cy="546100"/>
            <a:chOff x="0" y="0"/>
            <a:chExt cx="5760" cy="344"/>
          </a:xfrm>
        </p:grpSpPr>
        <p:sp>
          <p:nvSpPr>
            <p:cNvPr id="18"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3"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4"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6"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27" name="Line 5"/>
          <p:cNvSpPr>
            <a:spLocks noChangeShapeType="1"/>
          </p:cNvSpPr>
          <p:nvPr/>
        </p:nvSpPr>
        <p:spPr bwMode="ltGray">
          <a:xfrm>
            <a:off x="468313" y="6429375"/>
            <a:ext cx="8351838" cy="1588"/>
          </a:xfrm>
          <a:prstGeom prst="line">
            <a:avLst/>
          </a:prstGeom>
          <a:noFill/>
          <a:ln w="9525">
            <a:solidFill>
              <a:schemeClr val="bg2">
                <a:lumMod val="40000"/>
                <a:lumOff val="60000"/>
              </a:schemeClr>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 name="Line 5"/>
          <p:cNvSpPr>
            <a:spLocks noChangeShapeType="1"/>
          </p:cNvSpPr>
          <p:nvPr/>
        </p:nvSpPr>
        <p:spPr bwMode="ltGray">
          <a:xfrm>
            <a:off x="-746125" y="3162300"/>
            <a:ext cx="8351838" cy="1588"/>
          </a:xfrm>
          <a:prstGeom prst="line">
            <a:avLst/>
          </a:prstGeom>
          <a:noFill/>
          <a:ln w="9525">
            <a:solidFill>
              <a:schemeClr val="bg2">
                <a:lumMod val="40000"/>
                <a:lumOff val="60000"/>
              </a:schemeClr>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showMasterSp="0">
  <p:cSld name="标题，文本与内容">
    <p:bg>
      <p:bgPr>
        <a:solidFill>
          <a:schemeClr val="bg1"/>
        </a:solidFill>
        <a:effectLst/>
      </p:bgPr>
    </p:bg>
    <p:spTree>
      <p:nvGrpSpPr>
        <p:cNvPr id="1" name=""/>
        <p:cNvGrpSpPr/>
        <p:nvPr/>
      </p:nvGrpSpPr>
      <p:grpSpPr>
        <a:xfrm>
          <a:off x="0" y="0"/>
          <a:ext cx="0" cy="0"/>
          <a:chOff x="0" y="0"/>
          <a:chExt cx="0" cy="0"/>
        </a:xfrm>
      </p:grpSpPr>
      <p:graphicFrame>
        <p:nvGraphicFramePr>
          <p:cNvPr id="4098"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9" name="" r:id="rId2" imgW="8534400" imgH="6794500" progId="Photoshop.Image.7">
                  <p:embed/>
                </p:oleObj>
              </mc:Choice>
              <mc:Fallback>
                <p:oleObj name="" r:id="rId2" imgW="8534400" imgH="6794500" progId="Photoshop.Image.7">
                  <p:embed/>
                  <p:pic>
                    <p:nvPicPr>
                      <p:cNvPr id="0" name="图片 3078"/>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4099" name="Group 4"/>
          <p:cNvGrpSpPr/>
          <p:nvPr/>
        </p:nvGrpSpPr>
        <p:grpSpPr>
          <a:xfrm>
            <a:off x="0" y="0"/>
            <a:ext cx="9144000" cy="546100"/>
            <a:chOff x="0" y="0"/>
            <a:chExt cx="5760" cy="344"/>
          </a:xfrm>
        </p:grpSpPr>
        <p:sp>
          <p:nvSpPr>
            <p:cNvPr id="18"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3"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4"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6"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4100"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2" name="标题 1"/>
          <p:cNvSpPr>
            <a:spLocks noGrp="1"/>
          </p:cNvSpPr>
          <p:nvPr>
            <p:ph type="title"/>
          </p:nvPr>
        </p:nvSpPr>
        <p:spPr>
          <a:xfrm>
            <a:off x="468313" y="122238"/>
            <a:ext cx="7532687" cy="78581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68413"/>
            <a:ext cx="4038600" cy="49688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68413"/>
            <a:ext cx="4038600" cy="49688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bl" showMasterSp="0">
  <p:cSld name="Title and Table">
    <p:bg>
      <p:bgPr>
        <a:solidFill>
          <a:schemeClr val="bg1"/>
        </a:solidFill>
        <a:effectLst/>
      </p:bgPr>
    </p:bg>
    <p:spTree>
      <p:nvGrpSpPr>
        <p:cNvPr id="1" name=""/>
        <p:cNvGrpSpPr/>
        <p:nvPr/>
      </p:nvGrpSpPr>
      <p:grpSpPr>
        <a:xfrm>
          <a:off x="0" y="0"/>
          <a:ext cx="0" cy="0"/>
          <a:chOff x="0" y="0"/>
          <a:chExt cx="0" cy="0"/>
        </a:xfrm>
      </p:grpSpPr>
      <p:graphicFrame>
        <p:nvGraphicFramePr>
          <p:cNvPr id="5122"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6" name="" r:id="rId2" imgW="8534400" imgH="6794500" progId="Photoshop.Image.7">
                  <p:embed/>
                </p:oleObj>
              </mc:Choice>
              <mc:Fallback>
                <p:oleObj name="" r:id="rId2" imgW="8534400" imgH="6794500" progId="Photoshop.Image.7">
                  <p:embed/>
                  <p:pic>
                    <p:nvPicPr>
                      <p:cNvPr id="0" name="图片 3075"/>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5123" name="Group 4"/>
          <p:cNvGrpSpPr/>
          <p:nvPr/>
        </p:nvGrpSpPr>
        <p:grpSpPr>
          <a:xfrm>
            <a:off x="0" y="0"/>
            <a:ext cx="9144000" cy="546100"/>
            <a:chOff x="0" y="0"/>
            <a:chExt cx="5760" cy="344"/>
          </a:xfrm>
        </p:grpSpPr>
        <p:sp>
          <p:nvSpPr>
            <p:cNvPr id="18"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1"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3"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4"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6"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5124"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2" name="Title 1"/>
          <p:cNvSpPr>
            <a:spLocks noGrp="1"/>
          </p:cNvSpPr>
          <p:nvPr>
            <p:ph type="title"/>
          </p:nvPr>
        </p:nvSpPr>
        <p:spPr>
          <a:xfrm>
            <a:off x="468313" y="122238"/>
            <a:ext cx="7532687" cy="785812"/>
          </a:xfrm>
        </p:spPr>
        <p:txBody>
          <a:bodyPr/>
          <a:lstStyle/>
          <a:p>
            <a:r>
              <a:rPr lang="en-US" altLang="zh-CN" smtClean="0"/>
              <a:t>Click to edit Master title style</a:t>
            </a:r>
            <a:endParaRPr lang="zh-CN" altLang="en-US"/>
          </a:p>
        </p:txBody>
      </p:sp>
      <p:sp>
        <p:nvSpPr>
          <p:cNvPr id="3" name="Table Placeholder 2"/>
          <p:cNvSpPr>
            <a:spLocks noGrp="1"/>
          </p:cNvSpPr>
          <p:nvPr>
            <p:ph type="tbl" idx="1"/>
          </p:nvPr>
        </p:nvSpPr>
        <p:spPr>
          <a:xfrm>
            <a:off x="457200" y="1268413"/>
            <a:ext cx="8229600" cy="4862512"/>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宋体" panose="02010600030101010101" pitchFamily="2" charset="-122"/>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vmlDrawing" Target="../drawings/vmlDrawing4.vml"/><Relationship Id="rId15" Type="http://schemas.openxmlformats.org/officeDocument/2006/relationships/image" Target="../media/image1.png"/><Relationship Id="rId14" Type="http://schemas.openxmlformats.org/officeDocument/2006/relationships/oleObject" Target="../embeddings/oleObject4.bin"/><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7" Type="http://schemas.openxmlformats.org/officeDocument/2006/relationships/theme" Target="../theme/theme2.xml"/><Relationship Id="rId16" Type="http://schemas.openxmlformats.org/officeDocument/2006/relationships/vmlDrawing" Target="../drawings/vmlDrawing8.vml"/><Relationship Id="rId15" Type="http://schemas.openxmlformats.org/officeDocument/2006/relationships/image" Target="../media/image1.png"/><Relationship Id="rId14" Type="http://schemas.openxmlformats.org/officeDocument/2006/relationships/oleObject" Target="../embeddings/oleObject8.bin"/><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80" name="" r:id="rId14" imgW="8534400" imgH="6794500" progId="Photoshop.Image.7">
                  <p:embed/>
                </p:oleObj>
              </mc:Choice>
              <mc:Fallback>
                <p:oleObj name="" r:id="rId14" imgW="8534400" imgH="6794500" progId="Photoshop.Image.7">
                  <p:embed/>
                  <p:pic>
                    <p:nvPicPr>
                      <p:cNvPr id="0" name="图片 3079"/>
                      <p:cNvPicPr/>
                      <p:nvPr/>
                    </p:nvPicPr>
                    <p:blipFill>
                      <a:blip r:embed="rId15"/>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1027" name="Group 4"/>
          <p:cNvGrpSpPr/>
          <p:nvPr/>
        </p:nvGrpSpPr>
        <p:grpSpPr>
          <a:xfrm>
            <a:off x="0" y="0"/>
            <a:ext cx="9144000" cy="546100"/>
            <a:chOff x="0" y="0"/>
            <a:chExt cx="5760" cy="344"/>
          </a:xfrm>
        </p:grpSpPr>
        <p:sp>
          <p:nvSpPr>
            <p:cNvPr id="103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7"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9"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41"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2"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3"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8"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9" name="Rectangle 15"/>
          <p:cNvSpPr>
            <a:spLocks noGrp="1"/>
          </p:cNvSpPr>
          <p:nvPr>
            <p:ph type="body" idx="1"/>
          </p:nvPr>
        </p:nvSpPr>
        <p:spPr>
          <a:xfrm>
            <a:off x="457200" y="200025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0"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a:solidFill>
            <a:schemeClr val="tx1"/>
          </a:solidFill>
          <a:latin typeface="+mj-lt"/>
          <a:ea typeface="+mj-ea"/>
          <a:cs typeface="宋体" panose="02010600030101010101" pitchFamily="2" charset="-122"/>
        </a:defRPr>
      </a:lvl1pPr>
      <a:lvl2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80" name="" r:id="rId14" imgW="8534400" imgH="6794500" progId="Photoshop.Image.7">
                  <p:embed/>
                </p:oleObj>
              </mc:Choice>
              <mc:Fallback>
                <p:oleObj name="" r:id="rId14" imgW="8534400" imgH="6794500" progId="Photoshop.Image.7">
                  <p:embed/>
                  <p:pic>
                    <p:nvPicPr>
                      <p:cNvPr id="0" name="图片 3079"/>
                      <p:cNvPicPr/>
                      <p:nvPr/>
                    </p:nvPicPr>
                    <p:blipFill>
                      <a:blip r:embed="rId15"/>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1027" name="Group 4"/>
          <p:cNvGrpSpPr/>
          <p:nvPr/>
        </p:nvGrpSpPr>
        <p:grpSpPr>
          <a:xfrm>
            <a:off x="0" y="0"/>
            <a:ext cx="9144000" cy="546100"/>
            <a:chOff x="0" y="0"/>
            <a:chExt cx="5760" cy="344"/>
          </a:xfrm>
        </p:grpSpPr>
        <p:sp>
          <p:nvSpPr>
            <p:cNvPr id="103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7"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9"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41"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2"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3"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8"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9" name="Rectangle 15"/>
          <p:cNvSpPr>
            <a:spLocks noGrp="1"/>
          </p:cNvSpPr>
          <p:nvPr>
            <p:ph type="body" idx="1"/>
          </p:nvPr>
        </p:nvSpPr>
        <p:spPr>
          <a:xfrm>
            <a:off x="457200" y="200025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0"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a:solidFill>
            <a:schemeClr val="tx1"/>
          </a:solidFill>
          <a:latin typeface="+mj-lt"/>
          <a:ea typeface="+mj-ea"/>
          <a:cs typeface="宋体" panose="02010600030101010101" pitchFamily="2" charset="-122"/>
        </a:defRPr>
      </a:lvl1pPr>
      <a:lvl2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hyperlink" Target="5.3.sw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hyperlink" Target="5.4.swf" TargetMode="Externa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hyperlink" Target="5.5-5.13.swf" TargetMode="Externa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hyperlink" Target="5.4.swf" TargetMode="Externa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hyperlink" Target="5.14.swf"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20.wmf"/><Relationship Id="rId3" Type="http://schemas.openxmlformats.org/officeDocument/2006/relationships/oleObject" Target="../embeddings/oleObject10.bin"/><Relationship Id="rId2" Type="http://schemas.openxmlformats.org/officeDocument/2006/relationships/image" Target="../media/image19.wmf"/><Relationship Id="rId1" Type="http://schemas.openxmlformats.org/officeDocument/2006/relationships/oleObject" Target="../embeddings/oleObject9.bin"/></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jpeg"/><Relationship Id="rId1" Type="http://schemas.openxmlformats.org/officeDocument/2006/relationships/image" Target="../media/image22.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6.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30.jpeg"/><Relationship Id="rId1" Type="http://schemas.openxmlformats.org/officeDocument/2006/relationships/hyperlink" Target="5.24.swf" TargetMode="Externa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NULL" TargetMode="External"/><Relationship Id="rId1" Type="http://schemas.openxmlformats.org/officeDocument/2006/relationships/image" Target="../media/image39.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ctrTitle"/>
          </p:nvPr>
        </p:nvSpPr>
        <p:spPr>
          <a:xfrm>
            <a:off x="250825" y="1989138"/>
            <a:ext cx="7561263" cy="2209800"/>
          </a:xfrm>
        </p:spPr>
        <p:txBody>
          <a:bodyPr vert="horz" wrap="square" lIns="91440" tIns="45720" rIns="91440" bIns="45720" anchor="ctr" anchorCtr="0"/>
          <a:p>
            <a:pPr algn="r" eaLnBrk="1" hangingPunct="1">
              <a:buClrTx/>
              <a:buSzTx/>
              <a:buFontTx/>
            </a:pPr>
            <a:r>
              <a:rPr kumimoji="1" lang="zh-CN" altLang="en-US" sz="5400" b="1" dirty="0">
                <a:solidFill>
                  <a:srgbClr val="F2F2F2"/>
                </a:solidFill>
                <a:latin typeface="+mj-lt"/>
                <a:ea typeface="+mj-ea"/>
                <a:cs typeface="宋体" panose="02010600030101010101" pitchFamily="2" charset="-122"/>
              </a:rPr>
              <a:t>第五章 中央处理器</a:t>
            </a:r>
            <a:endParaRPr kumimoji="1" lang="zh-CN" altLang="en-US" sz="5400" dirty="0">
              <a:solidFill>
                <a:srgbClr val="F2F2F2"/>
              </a:solidFill>
              <a:latin typeface="黑体" panose="02010609060101010101" pitchFamily="49" charset="-122"/>
              <a:ea typeface="黑体" panose="02010609060101010101" pitchFamily="49" charset="-122"/>
              <a:cs typeface="宋体" panose="02010600030101010101" pitchFamily="2" charset="-122"/>
            </a:endParaRPr>
          </a:p>
        </p:txBody>
      </p:sp>
      <p:sp>
        <p:nvSpPr>
          <p:cNvPr id="8195" name="Rectangle 3"/>
          <p:cNvSpPr txBox="1"/>
          <p:nvPr/>
        </p:nvSpPr>
        <p:spPr>
          <a:xfrm>
            <a:off x="1714500" y="4748213"/>
            <a:ext cx="6400800" cy="17526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eaLnBrk="1" hangingPunct="1">
              <a:buFontTx/>
              <a:buNone/>
            </a:pPr>
            <a:endParaRPr lang="en-US" altLang="zh-CN" sz="2800" b="1" dirty="0">
              <a:solidFill>
                <a:srgbClr val="0072C1"/>
              </a:solidFill>
              <a:latin typeface="黑体" panose="02010609060101010101" pitchFamily="49" charset="-122"/>
              <a:ea typeface="黑体" panose="02010609060101010101" pitchFamily="49" charset="-122"/>
            </a:endParaRPr>
          </a:p>
          <a:p>
            <a:pPr marL="342900" lvl="0" indent="-342900" algn="ctr" eaLnBrk="1" hangingPunct="1">
              <a:buFontTx/>
              <a:buNone/>
            </a:pPr>
            <a:endParaRPr lang="en-US" altLang="zh-CN" sz="2800" b="1" dirty="0">
              <a:solidFill>
                <a:srgbClr val="0070C0"/>
              </a:solidFill>
              <a:latin typeface="黑体" panose="02010609060101010101" pitchFamily="49" charset="-122"/>
              <a:ea typeface="黑体" panose="02010609060101010101" pitchFamily="49" charset="-122"/>
            </a:endParaRPr>
          </a:p>
        </p:txBody>
      </p:sp>
      <p:sp>
        <p:nvSpPr>
          <p:cNvPr id="8196" name="Rectangle 2"/>
          <p:cNvSpPr txBox="1"/>
          <p:nvPr/>
        </p:nvSpPr>
        <p:spPr>
          <a:xfrm>
            <a:off x="0" y="260350"/>
            <a:ext cx="4427538" cy="165417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Tx/>
              <a:buFontTx/>
              <a:buNone/>
            </a:pPr>
            <a:r>
              <a:rPr lang="zh-CN" altLang="en-US" sz="3600" dirty="0">
                <a:solidFill>
                  <a:srgbClr val="0078CD"/>
                </a:solidFill>
                <a:latin typeface="黑体" panose="02010609060101010101" pitchFamily="49" charset="-122"/>
                <a:ea typeface="黑体" panose="02010609060101010101" pitchFamily="49" charset="-122"/>
              </a:rPr>
              <a:t>计算机组成原理课程</a:t>
            </a:r>
            <a:endParaRPr lang="zh-CN" altLang="en-US" sz="3600" dirty="0">
              <a:solidFill>
                <a:srgbClr val="0078CD"/>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1440" tIns="45720" rIns="91440" bIns="45720" anchor="ctr" anchorCtr="0"/>
          <a:p>
            <a:r>
              <a:rPr lang="zh-CN" altLang="en-US" dirty="0"/>
              <a:t>第五章   中央处理器</a:t>
            </a:r>
            <a:endParaRPr lang="zh-CN" altLang="en-US" dirty="0"/>
          </a:p>
        </p:txBody>
      </p:sp>
      <p:sp>
        <p:nvSpPr>
          <p:cNvPr id="10243" name="Rectangle 3"/>
          <p:cNvSpPr>
            <a:spLocks noGrp="1"/>
          </p:cNvSpPr>
          <p:nvPr>
            <p:ph idx="1"/>
          </p:nvPr>
        </p:nvSpPr>
        <p:spPr>
          <a:xfrm>
            <a:off x="1104900" y="1735138"/>
            <a:ext cx="5915025" cy="4862512"/>
          </a:xfrm>
        </p:spPr>
        <p:txBody>
          <a:bodyPr vert="horz" wrap="square" lIns="91440" tIns="45720" rIns="91440" bIns="45720" anchor="t" anchorCtr="0"/>
          <a:p>
            <a:pPr>
              <a:buNone/>
            </a:pPr>
            <a:r>
              <a:rPr lang="en-US" altLang="zh-CN" sz="2600" dirty="0"/>
              <a:t>5.1CPU</a:t>
            </a:r>
            <a:r>
              <a:rPr lang="zh-CN" altLang="en-US" sz="2600" dirty="0"/>
              <a:t>功能和组成</a:t>
            </a:r>
            <a:endParaRPr lang="zh-CN" altLang="en-US" sz="2600" dirty="0"/>
          </a:p>
          <a:p>
            <a:pPr>
              <a:buNone/>
            </a:pPr>
            <a:r>
              <a:rPr lang="en-US" altLang="zh-CN" sz="2600" dirty="0"/>
              <a:t>5.2</a:t>
            </a:r>
            <a:r>
              <a:rPr lang="zh-CN" altLang="en-US" sz="2600" dirty="0"/>
              <a:t>指令周期</a:t>
            </a:r>
            <a:endParaRPr lang="zh-CN" altLang="en-US" sz="2600" dirty="0"/>
          </a:p>
          <a:p>
            <a:pPr>
              <a:buNone/>
            </a:pPr>
            <a:r>
              <a:rPr lang="en-US" altLang="zh-CN" sz="2600" dirty="0"/>
              <a:t>5.3</a:t>
            </a:r>
            <a:r>
              <a:rPr lang="zh-CN" altLang="en-US" sz="2600" dirty="0"/>
              <a:t>时序产生器和控制方式</a:t>
            </a:r>
            <a:endParaRPr lang="zh-CN" altLang="en-US" sz="2600" dirty="0"/>
          </a:p>
          <a:p>
            <a:pPr>
              <a:buNone/>
            </a:pPr>
            <a:r>
              <a:rPr lang="en-US" altLang="zh-CN" sz="2600" dirty="0"/>
              <a:t>5.4</a:t>
            </a:r>
            <a:r>
              <a:rPr lang="zh-CN" altLang="en-US" sz="2600" dirty="0"/>
              <a:t>微程序控制器</a:t>
            </a:r>
            <a:endParaRPr lang="en-US" altLang="zh-CN" sz="2600" dirty="0"/>
          </a:p>
          <a:p>
            <a:pPr>
              <a:buNone/>
            </a:pPr>
            <a:r>
              <a:rPr lang="en-US" altLang="zh-CN" sz="2600" dirty="0"/>
              <a:t>5.5</a:t>
            </a:r>
            <a:r>
              <a:rPr lang="zh-CN" altLang="en-US" sz="2600" dirty="0"/>
              <a:t>硬布线控制器</a:t>
            </a:r>
            <a:endParaRPr lang="en-US" altLang="zh-CN" sz="2600" dirty="0"/>
          </a:p>
          <a:p>
            <a:pPr>
              <a:buNone/>
            </a:pPr>
            <a:r>
              <a:rPr lang="en-US" altLang="zh-CN" sz="2600" dirty="0"/>
              <a:t>5.6</a:t>
            </a:r>
            <a:r>
              <a:rPr lang="zh-CN" altLang="en-US" sz="2600" dirty="0"/>
              <a:t>流水</a:t>
            </a:r>
            <a:r>
              <a:rPr lang="en-US" altLang="zh-CN" sz="2600" dirty="0"/>
              <a:t>CPU</a:t>
            </a:r>
            <a:endParaRPr lang="en-US" altLang="zh-CN" sz="2600" dirty="0"/>
          </a:p>
          <a:p>
            <a:pPr>
              <a:buNone/>
            </a:pPr>
            <a:r>
              <a:rPr lang="en-US" altLang="zh-CN" sz="2600" dirty="0"/>
              <a:t>5.7RISC</a:t>
            </a:r>
            <a:r>
              <a:rPr lang="zh-CN" altLang="en-US" sz="2600" dirty="0"/>
              <a:t>的</a:t>
            </a:r>
            <a:r>
              <a:rPr lang="en-US" altLang="zh-CN" sz="2600" dirty="0"/>
              <a:t>CPU</a:t>
            </a:r>
            <a:endParaRPr lang="en-US" altLang="zh-CN"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a:xfrm>
            <a:off x="457200" y="254000"/>
            <a:ext cx="8229600" cy="1371600"/>
          </a:xfrm>
        </p:spPr>
        <p:txBody>
          <a:bodyPr/>
          <a:lstStyle/>
          <a:p>
            <a:pPr eaLnBrk="1" hangingPunct="1"/>
            <a:r>
              <a:rPr lang="zh-CN" altLang="en-US">
                <a:latin typeface="黑体" panose="02010609060101010101" pitchFamily="49" charset="-122"/>
                <a:ea typeface="黑体" panose="02010609060101010101" pitchFamily="49" charset="-122"/>
              </a:rPr>
              <a:t>计算机的五个基本部件</a:t>
            </a:r>
            <a:endParaRPr lang="zh-CN" altLang="en-US">
              <a:latin typeface="黑体" panose="02010609060101010101" pitchFamily="49" charset="-122"/>
              <a:ea typeface="黑体" panose="02010609060101010101" pitchFamily="49" charset="-122"/>
            </a:endParaRPr>
          </a:p>
        </p:txBody>
      </p:sp>
      <p:sp>
        <p:nvSpPr>
          <p:cNvPr id="20483" name="Rectangle 32"/>
          <p:cNvSpPr>
            <a:spLocks noChangeArrowheads="1"/>
          </p:cNvSpPr>
          <p:nvPr/>
        </p:nvSpPr>
        <p:spPr bwMode="auto">
          <a:xfrm>
            <a:off x="6489700" y="3606800"/>
            <a:ext cx="152400" cy="1295400"/>
          </a:xfrm>
          <a:prstGeom prst="rect">
            <a:avLst/>
          </a:prstGeom>
          <a:solidFill>
            <a:schemeClr val="tx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84" name="Rectangle 33"/>
          <p:cNvSpPr>
            <a:spLocks noChangeArrowheads="1"/>
          </p:cNvSpPr>
          <p:nvPr/>
        </p:nvSpPr>
        <p:spPr bwMode="auto">
          <a:xfrm>
            <a:off x="2755900" y="3530600"/>
            <a:ext cx="381000" cy="1295400"/>
          </a:xfrm>
          <a:prstGeom prst="rect">
            <a:avLst/>
          </a:prstGeom>
          <a:solidFill>
            <a:schemeClr val="tx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0485" name="Group 34"/>
          <p:cNvGrpSpPr/>
          <p:nvPr/>
        </p:nvGrpSpPr>
        <p:grpSpPr bwMode="auto">
          <a:xfrm>
            <a:off x="1917700" y="4368800"/>
            <a:ext cx="2057400" cy="1600200"/>
            <a:chOff x="816" y="2976"/>
            <a:chExt cx="1296" cy="1008"/>
          </a:xfrm>
        </p:grpSpPr>
        <p:sp>
          <p:nvSpPr>
            <p:cNvPr id="20498" name="AutoShape 35"/>
            <p:cNvSpPr>
              <a:spLocks noChangeArrowheads="1"/>
            </p:cNvSpPr>
            <p:nvPr/>
          </p:nvSpPr>
          <p:spPr bwMode="auto">
            <a:xfrm>
              <a:off x="816" y="2976"/>
              <a:ext cx="1296" cy="1008"/>
            </a:xfrm>
            <a:prstGeom prst="roundRect">
              <a:avLst>
                <a:gd name="adj" fmla="val 16667"/>
              </a:avLst>
            </a:prstGeom>
            <a:solidFill>
              <a:schemeClr val="accent1"/>
            </a:solidFill>
            <a:ln w="12700">
              <a:solidFill>
                <a:schemeClr val="tx1"/>
              </a:solidFill>
              <a:round/>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9" name="Rectangle 36"/>
            <p:cNvSpPr>
              <a:spLocks noChangeArrowheads="1"/>
            </p:cNvSpPr>
            <p:nvPr/>
          </p:nvSpPr>
          <p:spPr bwMode="auto">
            <a:xfrm>
              <a:off x="912" y="3072"/>
              <a:ext cx="1104" cy="816"/>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400">
                  <a:latin typeface="Comic Sans MS" panose="030F0702030302020204" pitchFamily="66" charset="0"/>
                  <a:ea typeface="宋体" panose="02010600030101010101" pitchFamily="2" charset="-122"/>
                </a:rPr>
                <a:t>存储器</a:t>
              </a:r>
              <a:endParaRPr kumimoji="0" lang="zh-CN" altLang="en-US" sz="2400">
                <a:latin typeface="Comic Sans MS" panose="030F0702030302020204" pitchFamily="66" charset="0"/>
                <a:ea typeface="宋体" panose="02010600030101010101" pitchFamily="2" charset="-122"/>
              </a:endParaRPr>
            </a:p>
          </p:txBody>
        </p:sp>
      </p:grpSp>
      <p:grpSp>
        <p:nvGrpSpPr>
          <p:cNvPr id="20486" name="Group 37"/>
          <p:cNvGrpSpPr/>
          <p:nvPr/>
        </p:nvGrpSpPr>
        <p:grpSpPr bwMode="auto">
          <a:xfrm>
            <a:off x="5575300" y="2844800"/>
            <a:ext cx="2057400" cy="1066800"/>
            <a:chOff x="816" y="2976"/>
            <a:chExt cx="1296" cy="1008"/>
          </a:xfrm>
        </p:grpSpPr>
        <p:sp>
          <p:nvSpPr>
            <p:cNvPr id="20496" name="AutoShape 38"/>
            <p:cNvSpPr>
              <a:spLocks noChangeArrowheads="1"/>
            </p:cNvSpPr>
            <p:nvPr/>
          </p:nvSpPr>
          <p:spPr bwMode="auto">
            <a:xfrm>
              <a:off x="816" y="2976"/>
              <a:ext cx="1296" cy="1008"/>
            </a:xfrm>
            <a:prstGeom prst="roundRect">
              <a:avLst>
                <a:gd name="adj" fmla="val 16667"/>
              </a:avLst>
            </a:prstGeom>
            <a:solidFill>
              <a:schemeClr val="accent1"/>
            </a:solidFill>
            <a:ln w="12700">
              <a:solidFill>
                <a:schemeClr val="tx1"/>
              </a:solidFill>
              <a:round/>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7" name="Rectangle 39"/>
            <p:cNvSpPr>
              <a:spLocks noChangeArrowheads="1"/>
            </p:cNvSpPr>
            <p:nvPr/>
          </p:nvSpPr>
          <p:spPr bwMode="auto">
            <a:xfrm>
              <a:off x="912" y="3072"/>
              <a:ext cx="1104" cy="816"/>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400">
                  <a:latin typeface="Comic Sans MS" panose="030F0702030302020204" pitchFamily="66" charset="0"/>
                  <a:ea typeface="宋体" panose="02010600030101010101" pitchFamily="2" charset="-122"/>
                </a:rPr>
                <a:t>输入设备</a:t>
              </a:r>
              <a:endParaRPr kumimoji="0" lang="zh-CN" altLang="en-US" sz="2400">
                <a:latin typeface="Comic Sans MS" panose="030F0702030302020204" pitchFamily="66" charset="0"/>
                <a:ea typeface="宋体" panose="02010600030101010101" pitchFamily="2" charset="-122"/>
              </a:endParaRPr>
            </a:p>
          </p:txBody>
        </p:sp>
      </p:grpSp>
      <p:grpSp>
        <p:nvGrpSpPr>
          <p:cNvPr id="20487" name="Group 40"/>
          <p:cNvGrpSpPr/>
          <p:nvPr/>
        </p:nvGrpSpPr>
        <p:grpSpPr bwMode="auto">
          <a:xfrm>
            <a:off x="5575300" y="4521200"/>
            <a:ext cx="2057400" cy="1066800"/>
            <a:chOff x="816" y="2976"/>
            <a:chExt cx="1296" cy="1008"/>
          </a:xfrm>
        </p:grpSpPr>
        <p:sp>
          <p:nvSpPr>
            <p:cNvPr id="20494" name="AutoShape 41"/>
            <p:cNvSpPr>
              <a:spLocks noChangeArrowheads="1"/>
            </p:cNvSpPr>
            <p:nvPr/>
          </p:nvSpPr>
          <p:spPr bwMode="auto">
            <a:xfrm>
              <a:off x="816" y="2976"/>
              <a:ext cx="1296" cy="1008"/>
            </a:xfrm>
            <a:prstGeom prst="roundRect">
              <a:avLst>
                <a:gd name="adj" fmla="val 16667"/>
              </a:avLst>
            </a:prstGeom>
            <a:solidFill>
              <a:schemeClr val="accent1"/>
            </a:solidFill>
            <a:ln w="12700">
              <a:solidFill>
                <a:schemeClr val="tx1"/>
              </a:solidFill>
              <a:round/>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5" name="Rectangle 42"/>
            <p:cNvSpPr>
              <a:spLocks noChangeArrowheads="1"/>
            </p:cNvSpPr>
            <p:nvPr/>
          </p:nvSpPr>
          <p:spPr bwMode="auto">
            <a:xfrm>
              <a:off x="912" y="3072"/>
              <a:ext cx="1104" cy="816"/>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400">
                  <a:latin typeface="Comic Sans MS" panose="030F0702030302020204" pitchFamily="66" charset="0"/>
                  <a:ea typeface="宋体" panose="02010600030101010101" pitchFamily="2" charset="-122"/>
                </a:rPr>
                <a:t>输出设备</a:t>
              </a:r>
              <a:endParaRPr kumimoji="0" lang="zh-CN" altLang="en-US" sz="2400">
                <a:latin typeface="Comic Sans MS" panose="030F0702030302020204" pitchFamily="66" charset="0"/>
                <a:ea typeface="宋体" panose="02010600030101010101" pitchFamily="2" charset="-122"/>
              </a:endParaRPr>
            </a:p>
          </p:txBody>
        </p:sp>
      </p:grpSp>
      <p:grpSp>
        <p:nvGrpSpPr>
          <p:cNvPr id="20488" name="Group 43"/>
          <p:cNvGrpSpPr/>
          <p:nvPr/>
        </p:nvGrpSpPr>
        <p:grpSpPr bwMode="auto">
          <a:xfrm>
            <a:off x="1916113" y="1376363"/>
            <a:ext cx="2135187" cy="2535237"/>
            <a:chOff x="767" y="1235"/>
            <a:chExt cx="1345" cy="1597"/>
          </a:xfrm>
        </p:grpSpPr>
        <p:sp>
          <p:nvSpPr>
            <p:cNvPr id="20490" name="AutoShape 44"/>
            <p:cNvSpPr>
              <a:spLocks noChangeArrowheads="1"/>
            </p:cNvSpPr>
            <p:nvPr/>
          </p:nvSpPr>
          <p:spPr bwMode="auto">
            <a:xfrm>
              <a:off x="768" y="1488"/>
              <a:ext cx="1344" cy="1344"/>
            </a:xfrm>
            <a:prstGeom prst="roundRect">
              <a:avLst>
                <a:gd name="adj" fmla="val 16667"/>
              </a:avLst>
            </a:prstGeom>
            <a:solidFill>
              <a:schemeClr val="accent1"/>
            </a:solidFill>
            <a:ln w="12700">
              <a:solidFill>
                <a:schemeClr val="tx1"/>
              </a:solidFill>
              <a:round/>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1" name="Rectangle 45"/>
            <p:cNvSpPr>
              <a:spLocks noChangeArrowheads="1"/>
            </p:cNvSpPr>
            <p:nvPr/>
          </p:nvSpPr>
          <p:spPr bwMode="auto">
            <a:xfrm>
              <a:off x="864" y="2064"/>
              <a:ext cx="1152" cy="672"/>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400">
                  <a:latin typeface="Comic Sans MS" panose="030F0702030302020204" pitchFamily="66" charset="0"/>
                  <a:ea typeface="宋体" panose="02010600030101010101" pitchFamily="2" charset="-122"/>
                </a:rPr>
                <a:t>运算器</a:t>
              </a:r>
              <a:endParaRPr kumimoji="0" lang="zh-CN" altLang="en-US" sz="2400">
                <a:latin typeface="Comic Sans MS" panose="030F0702030302020204" pitchFamily="66" charset="0"/>
                <a:ea typeface="宋体" panose="02010600030101010101" pitchFamily="2" charset="-122"/>
              </a:endParaRPr>
            </a:p>
          </p:txBody>
        </p:sp>
        <p:sp>
          <p:nvSpPr>
            <p:cNvPr id="20492" name="Rectangle 46"/>
            <p:cNvSpPr>
              <a:spLocks noChangeArrowheads="1"/>
            </p:cNvSpPr>
            <p:nvPr/>
          </p:nvSpPr>
          <p:spPr bwMode="auto">
            <a:xfrm>
              <a:off x="864" y="1584"/>
              <a:ext cx="1152" cy="480"/>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400">
                  <a:latin typeface="Comic Sans MS" panose="030F0702030302020204" pitchFamily="66" charset="0"/>
                  <a:ea typeface="宋体" panose="02010600030101010101" pitchFamily="2" charset="-122"/>
                </a:rPr>
                <a:t>控制器</a:t>
              </a:r>
              <a:endParaRPr kumimoji="0" lang="zh-CN" altLang="en-US" sz="2400">
                <a:latin typeface="Comic Sans MS" panose="030F0702030302020204" pitchFamily="66" charset="0"/>
                <a:ea typeface="宋体" panose="02010600030101010101" pitchFamily="2" charset="-122"/>
              </a:endParaRPr>
            </a:p>
          </p:txBody>
        </p:sp>
        <p:sp>
          <p:nvSpPr>
            <p:cNvPr id="20493" name="Text Box 47"/>
            <p:cNvSpPr txBox="1">
              <a:spLocks noChangeArrowheads="1"/>
            </p:cNvSpPr>
            <p:nvPr/>
          </p:nvSpPr>
          <p:spPr bwMode="auto">
            <a:xfrm>
              <a:off x="767" y="1235"/>
              <a:ext cx="69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400">
                  <a:latin typeface="Arial" panose="020B0604020202020204" pitchFamily="34" charset="0"/>
                  <a:ea typeface="宋体" panose="02010600030101010101" pitchFamily="2" charset="-122"/>
                </a:rPr>
                <a:t>处理器</a:t>
              </a:r>
              <a:endParaRPr kumimoji="0" lang="zh-CN" altLang="en-US" sz="2400">
                <a:latin typeface="Arial" panose="020B0604020202020204" pitchFamily="34" charset="0"/>
                <a:ea typeface="宋体" panose="02010600030101010101" pitchFamily="2" charset="-122"/>
              </a:endParaRPr>
            </a:p>
          </p:txBody>
        </p:sp>
      </p:grpSp>
      <p:sp>
        <p:nvSpPr>
          <p:cNvPr id="20489" name="Rectangle 48"/>
          <p:cNvSpPr>
            <a:spLocks noChangeArrowheads="1"/>
          </p:cNvSpPr>
          <p:nvPr/>
        </p:nvSpPr>
        <p:spPr bwMode="auto">
          <a:xfrm>
            <a:off x="2908300" y="4064000"/>
            <a:ext cx="3657600" cy="152400"/>
          </a:xfrm>
          <a:prstGeom prst="rect">
            <a:avLst/>
          </a:prstGeom>
          <a:solidFill>
            <a:schemeClr val="tx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323215" y="188595"/>
            <a:ext cx="8229600" cy="1371600"/>
          </a:xfrm>
        </p:spPr>
        <p:txBody>
          <a:bodyPr/>
          <a:lstStyle/>
          <a:p>
            <a:pPr eaLnBrk="1" hangingPunct="1"/>
            <a:r>
              <a:rPr lang="zh-CN" altLang="en-US">
                <a:latin typeface="黑体" panose="02010609060101010101" pitchFamily="49" charset="-122"/>
                <a:ea typeface="黑体" panose="02010609060101010101" pitchFamily="49" charset="-122"/>
              </a:rPr>
              <a:t>处理器的功能</a:t>
            </a:r>
            <a:endParaRPr lang="zh-CN" altLang="en-US">
              <a:latin typeface="黑体" panose="02010609060101010101" pitchFamily="49" charset="-122"/>
              <a:ea typeface="黑体" panose="02010609060101010101" pitchFamily="49" charset="-122"/>
            </a:endParaRPr>
          </a:p>
        </p:txBody>
      </p:sp>
      <p:sp>
        <p:nvSpPr>
          <p:cNvPr id="21506" name="Rectangle 3"/>
          <p:cNvSpPr>
            <a:spLocks noGrp="1" noChangeArrowheads="1"/>
          </p:cNvSpPr>
          <p:nvPr>
            <p:ph idx="1"/>
          </p:nvPr>
        </p:nvSpPr>
        <p:spPr>
          <a:xfrm>
            <a:off x="467360" y="1412875"/>
            <a:ext cx="8229600" cy="3886200"/>
          </a:xfrm>
        </p:spPr>
        <p:txBody>
          <a:bodyPr/>
          <a:lstStyle/>
          <a:p>
            <a:pPr eaLnBrk="1" hangingPunct="1"/>
            <a:r>
              <a:rPr lang="zh-CN" altLang="en-US" sz="2400"/>
              <a:t>指令控制</a:t>
            </a:r>
            <a:endParaRPr lang="zh-CN" altLang="en-US" sz="2400"/>
          </a:p>
          <a:p>
            <a:pPr eaLnBrk="1" hangingPunct="1">
              <a:buFont typeface="Wingdings 2" pitchFamily="18" charset="2"/>
              <a:buNone/>
            </a:pPr>
            <a:r>
              <a:rPr lang="zh-CN" altLang="en-US" sz="2400"/>
              <a:t>   控制程序严格按规定的顺序执行</a:t>
            </a:r>
            <a:endParaRPr lang="zh-CN" altLang="en-US" sz="2400"/>
          </a:p>
          <a:p>
            <a:pPr eaLnBrk="1" hangingPunct="1"/>
            <a:r>
              <a:rPr lang="zh-CN" altLang="en-US" sz="2400"/>
              <a:t>操作控制</a:t>
            </a:r>
            <a:endParaRPr lang="zh-CN" altLang="en-US" sz="2400"/>
          </a:p>
          <a:p>
            <a:pPr eaLnBrk="1" hangingPunct="1">
              <a:buFont typeface="Wingdings 2" pitchFamily="18" charset="2"/>
              <a:buNone/>
            </a:pPr>
            <a:r>
              <a:rPr lang="en-US" altLang="zh-CN" sz="2400"/>
              <a:t>   </a:t>
            </a:r>
            <a:r>
              <a:rPr lang="zh-CN" altLang="en-US" sz="2400"/>
              <a:t>处理器根据从内存取出的每条指令产生相应的操作信号，送往相应的部件，控制这些部件按指令的要求进行动作</a:t>
            </a:r>
            <a:endParaRPr lang="zh-CN" altLang="en-US" sz="2400"/>
          </a:p>
          <a:p>
            <a:pPr eaLnBrk="1" hangingPunct="1"/>
            <a:r>
              <a:rPr lang="zh-CN" altLang="en-US" sz="2400"/>
              <a:t>时间控制</a:t>
            </a:r>
            <a:endParaRPr lang="zh-CN" altLang="en-US" sz="2400"/>
          </a:p>
          <a:p>
            <a:pPr eaLnBrk="1" hangingPunct="1">
              <a:buFont typeface="Wingdings 2" pitchFamily="18" charset="2"/>
              <a:buNone/>
            </a:pPr>
            <a:r>
              <a:rPr lang="zh-CN" altLang="en-US" sz="2400"/>
              <a:t>   对各种操作实施时间上的控制</a:t>
            </a:r>
            <a:endParaRPr lang="zh-CN" altLang="en-US" sz="2400"/>
          </a:p>
          <a:p>
            <a:pPr eaLnBrk="1" hangingPunct="1"/>
            <a:r>
              <a:rPr lang="zh-CN" altLang="en-US" sz="2400"/>
              <a:t>数据加工</a:t>
            </a:r>
            <a:endParaRPr lang="zh-CN" altLang="en-US" sz="2400"/>
          </a:p>
          <a:p>
            <a:pPr eaLnBrk="1" hangingPunct="1">
              <a:buFont typeface="Wingdings 2" pitchFamily="18" charset="2"/>
              <a:buNone/>
            </a:pPr>
            <a:r>
              <a:rPr lang="zh-CN" altLang="en-US" sz="2400"/>
              <a:t>   对数据进行算术运算和逻辑运算处理</a:t>
            </a:r>
            <a:endParaRPr lang="en-US" altLang="zh-CN" sz="2400"/>
          </a:p>
          <a:p>
            <a:pPr eaLnBrk="1" hangingPunct="1"/>
            <a:r>
              <a:rPr lang="zh-CN" altLang="en-US" sz="2400"/>
              <a:t>中断处理  </a:t>
            </a:r>
            <a:endParaRPr lang="en-US" altLang="zh-CN" sz="2400"/>
          </a:p>
          <a:p>
            <a:pPr eaLnBrk="1" hangingPunct="1">
              <a:buFont typeface="Wingdings 2" pitchFamily="18" charset="2"/>
              <a:buNone/>
            </a:pPr>
            <a:r>
              <a:rPr lang="en-US" altLang="zh-CN" sz="2400"/>
              <a:t>   </a:t>
            </a:r>
            <a:r>
              <a:rPr lang="zh-CN" altLang="en-US" sz="2400"/>
              <a:t>对计算机中出现的异常情况和特殊请求进行处理</a:t>
            </a:r>
            <a:endParaRPr lang="zh-CN" altLang="en-US" sz="2400"/>
          </a:p>
        </p:txBody>
      </p:sp>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251460" y="332423"/>
            <a:ext cx="8897937" cy="762000"/>
          </a:xfrm>
        </p:spPr>
        <p:txBody>
          <a:bodyPr/>
          <a:lstStyle/>
          <a:p>
            <a:pPr eaLnBrk="1" hangingPunct="1">
              <a:defRPr/>
            </a:pPr>
            <a:r>
              <a:rPr lang="en-US" altLang="zh-CN" dirty="0">
                <a:latin typeface="黑体" panose="02010609060101010101" pitchFamily="49" charset="-122"/>
                <a:ea typeface="黑体" panose="02010609060101010101" pitchFamily="49" charset="-122"/>
                <a:cs typeface="黑体" panose="02010609060101010101" pitchFamily="49" charset="-122"/>
              </a:rPr>
              <a:t>CPU</a:t>
            </a:r>
            <a:r>
              <a:rPr lang="zh-CN" altLang="en-US" dirty="0">
                <a:latin typeface="黑体" panose="02010609060101010101" pitchFamily="49" charset="-122"/>
                <a:ea typeface="黑体" panose="02010609060101010101" pitchFamily="49" charset="-122"/>
                <a:cs typeface="黑体" panose="02010609060101010101" pitchFamily="49" charset="-122"/>
              </a:rPr>
              <a:t>模型（一般化）</a:t>
            </a:r>
            <a:endParaRPr lang="en-US" altLang="zh-CN" dirty="0">
              <a:latin typeface="黑体" panose="02010609060101010101" pitchFamily="49" charset="-122"/>
              <a:ea typeface="黑体" panose="02010609060101010101" pitchFamily="49" charset="-122"/>
              <a:cs typeface="黑体" panose="02010609060101010101" pitchFamily="49" charset="-122"/>
            </a:endParaRPr>
          </a:p>
        </p:txBody>
      </p:sp>
      <p:sp>
        <p:nvSpPr>
          <p:cNvPr id="23555" name="AutoShape 91"/>
          <p:cNvSpPr>
            <a:spLocks noChangeArrowheads="1"/>
          </p:cNvSpPr>
          <p:nvPr/>
        </p:nvSpPr>
        <p:spPr bwMode="auto">
          <a:xfrm flipV="1">
            <a:off x="5676900" y="5400675"/>
            <a:ext cx="449263" cy="260350"/>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724" name="AutoShape 92"/>
          <p:cNvSpPr>
            <a:spLocks noChangeArrowheads="1"/>
          </p:cNvSpPr>
          <p:nvPr/>
        </p:nvSpPr>
        <p:spPr bwMode="auto">
          <a:xfrm flipV="1">
            <a:off x="5705475" y="4708525"/>
            <a:ext cx="449263" cy="260350"/>
          </a:xfrm>
          <a:prstGeom prst="rightArrow">
            <a:avLst>
              <a:gd name="adj1" fmla="val 50000"/>
              <a:gd name="adj2" fmla="val 43140"/>
            </a:avLst>
          </a:prstGeom>
          <a:solidFill>
            <a:srgbClr val="FFFF00"/>
          </a:solidFill>
          <a:ln w="19050">
            <a:solidFill>
              <a:schemeClr val="tx1"/>
            </a:solidFill>
            <a:miter lim="800000"/>
            <a:tailEnd type="none" w="lg" len="lg"/>
          </a:ln>
          <a:effectLst/>
        </p:spPr>
        <p:txBody>
          <a:bodyPr rot="10800000"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57" name="Rectangle 93"/>
          <p:cNvSpPr>
            <a:spLocks noChangeArrowheads="1"/>
          </p:cNvSpPr>
          <p:nvPr/>
        </p:nvSpPr>
        <p:spPr bwMode="auto">
          <a:xfrm flipV="1">
            <a:off x="5670550" y="4306888"/>
            <a:ext cx="127000" cy="1287462"/>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81" name="AutoShape 49"/>
          <p:cNvSpPr>
            <a:spLocks noChangeArrowheads="1"/>
          </p:cNvSpPr>
          <p:nvPr/>
        </p:nvSpPr>
        <p:spPr bwMode="auto">
          <a:xfrm>
            <a:off x="4376738" y="4135438"/>
            <a:ext cx="247650" cy="304800"/>
          </a:xfrm>
          <a:prstGeom prst="upArrow">
            <a:avLst>
              <a:gd name="adj1" fmla="val 50000"/>
              <a:gd name="adj2" fmla="val 30769"/>
            </a:avLst>
          </a:prstGeom>
          <a:solidFill>
            <a:srgbClr val="FFFF00"/>
          </a:solidFill>
          <a:ln w="19050">
            <a:solidFill>
              <a:schemeClr val="tx1"/>
            </a:solid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59" name="Rectangle 7"/>
          <p:cNvSpPr>
            <a:spLocks noChangeArrowheads="1"/>
          </p:cNvSpPr>
          <p:nvPr/>
        </p:nvSpPr>
        <p:spPr bwMode="auto">
          <a:xfrm>
            <a:off x="811213" y="4073525"/>
            <a:ext cx="1187450" cy="682625"/>
          </a:xfrm>
          <a:prstGeom prst="rect">
            <a:avLst/>
          </a:prstGeom>
          <a:solidFill>
            <a:srgbClr val="006600"/>
          </a:solidFill>
          <a:ln w="9525">
            <a:miter lim="800000"/>
          </a:ln>
          <a:scene3d>
            <a:camera prst="legacyObliqueTopRight"/>
            <a:lightRig rig="legacyFlat3" dir="b"/>
          </a:scene3d>
          <a:sp3d extrusionH="430200" prstMaterial="legacyMatte">
            <a:bevelT w="13500" h="13500" prst="angle"/>
            <a:bevelB w="13500" h="13500" prst="angle"/>
            <a:extrusionClr>
              <a:srgbClr val="006600"/>
            </a:extrusionClr>
            <a:contourClr>
              <a:srgbClr val="006600"/>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输入</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a:t>
            </a:r>
            <a:r>
              <a:rPr kumimoji="0" lang="zh-CN" altLang="en-US" sz="2400">
                <a:solidFill>
                  <a:schemeClr val="bg1"/>
                </a:solidFill>
                <a:ea typeface="楷体" panose="02010609060101010101" pitchFamily="49" charset="-122"/>
                <a:cs typeface="Times New Roman" panose="02020603050405020304" pitchFamily="18" charset="0"/>
              </a:rPr>
              <a:t>输出</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23560" name="Rectangle 8"/>
          <p:cNvSpPr>
            <a:spLocks noChangeArrowheads="1"/>
          </p:cNvSpPr>
          <p:nvPr/>
        </p:nvSpPr>
        <p:spPr bwMode="auto">
          <a:xfrm>
            <a:off x="3968750" y="1808163"/>
            <a:ext cx="1625600" cy="450850"/>
          </a:xfrm>
          <a:prstGeom prst="rect">
            <a:avLst/>
          </a:prstGeom>
          <a:solidFill>
            <a:srgbClr val="9900CC"/>
          </a:solidFill>
          <a:ln w="9525">
            <a:miter lim="800000"/>
          </a:ln>
          <a:scene3d>
            <a:camera prst="legacyObliqueTopRight"/>
            <a:lightRig rig="legacyFlat3" dir="b"/>
          </a:scene3d>
          <a:sp3d extrusionH="354000" prstMaterial="legacyMatte">
            <a:bevelT w="13500" h="13500" prst="angle"/>
            <a:bevelB w="13500" h="13500" prst="angle"/>
            <a:extrusionClr>
              <a:srgbClr val="9900CC"/>
            </a:extrusionClr>
            <a:contourClr>
              <a:srgbClr val="9900CC"/>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ALU</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23561" name="Rectangle 9"/>
          <p:cNvSpPr>
            <a:spLocks noChangeArrowheads="1"/>
          </p:cNvSpPr>
          <p:nvPr/>
        </p:nvSpPr>
        <p:spPr bwMode="auto">
          <a:xfrm>
            <a:off x="6329363" y="1719263"/>
            <a:ext cx="1770062" cy="769937"/>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操作控制器</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时序产生器</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23562" name="Rectangle 10"/>
          <p:cNvSpPr>
            <a:spLocks noChangeArrowheads="1"/>
          </p:cNvSpPr>
          <p:nvPr/>
        </p:nvSpPr>
        <p:spPr bwMode="auto">
          <a:xfrm>
            <a:off x="3336925" y="2584450"/>
            <a:ext cx="1800225" cy="392113"/>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累加器</a:t>
            </a:r>
            <a:r>
              <a:rPr kumimoji="0" lang="en-US" altLang="zh-CN" sz="2200">
                <a:solidFill>
                  <a:schemeClr val="bg1"/>
                </a:solidFill>
                <a:ea typeface="楷体" panose="02010609060101010101" pitchFamily="49" charset="-122"/>
                <a:cs typeface="Times New Roman" panose="02020603050405020304" pitchFamily="18" charset="0"/>
              </a:rPr>
              <a:t>AC</a:t>
            </a:r>
            <a:endParaRPr kumimoji="0" lang="en-US" altLang="zh-CN" sz="2200">
              <a:solidFill>
                <a:schemeClr val="bg1"/>
              </a:solidFill>
              <a:ea typeface="楷体" panose="02010609060101010101" pitchFamily="49" charset="-122"/>
              <a:cs typeface="Times New Roman" panose="02020603050405020304" pitchFamily="18" charset="0"/>
            </a:endParaRPr>
          </a:p>
        </p:txBody>
      </p:sp>
      <p:sp>
        <p:nvSpPr>
          <p:cNvPr id="23563" name="Rectangle 17"/>
          <p:cNvSpPr>
            <a:spLocks noChangeArrowheads="1"/>
          </p:cNvSpPr>
          <p:nvPr/>
        </p:nvSpPr>
        <p:spPr bwMode="auto">
          <a:xfrm>
            <a:off x="811213" y="2767013"/>
            <a:ext cx="1189037" cy="682625"/>
          </a:xfrm>
          <a:prstGeom prst="rect">
            <a:avLst/>
          </a:prstGeom>
          <a:solidFill>
            <a:srgbClr val="006600"/>
          </a:solidFill>
          <a:ln w="9525">
            <a:miter lim="800000"/>
          </a:ln>
          <a:scene3d>
            <a:camera prst="legacyObliqueTopRight"/>
            <a:lightRig rig="legacyFlat3" dir="b"/>
          </a:scene3d>
          <a:sp3d extrusionH="430200" prstMaterial="legacyMatte">
            <a:bevelT w="13500" h="13500" prst="angle"/>
            <a:bevelB w="13500" h="13500" prst="angle"/>
            <a:extrusionClr>
              <a:srgbClr val="006600"/>
            </a:extrusionClr>
            <a:contourClr>
              <a:srgbClr val="006600"/>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存储器</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23564" name="Rectangle 18"/>
          <p:cNvSpPr>
            <a:spLocks noChangeArrowheads="1"/>
          </p:cNvSpPr>
          <p:nvPr/>
        </p:nvSpPr>
        <p:spPr bwMode="auto">
          <a:xfrm>
            <a:off x="2679700" y="3165475"/>
            <a:ext cx="2019300" cy="392113"/>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状态条件寄存器</a:t>
            </a:r>
            <a:endParaRPr kumimoji="0" lang="en-US" altLang="zh-CN" sz="2200">
              <a:solidFill>
                <a:schemeClr val="bg1"/>
              </a:solidFill>
              <a:ea typeface="楷体" panose="02010609060101010101" pitchFamily="49" charset="-122"/>
              <a:cs typeface="Times New Roman" panose="02020603050405020304" pitchFamily="18" charset="0"/>
            </a:endParaRPr>
          </a:p>
        </p:txBody>
      </p:sp>
      <p:sp>
        <p:nvSpPr>
          <p:cNvPr id="23565" name="Rectangle 19"/>
          <p:cNvSpPr>
            <a:spLocks noChangeArrowheads="1"/>
          </p:cNvSpPr>
          <p:nvPr/>
        </p:nvSpPr>
        <p:spPr bwMode="auto">
          <a:xfrm>
            <a:off x="3395663" y="3741738"/>
            <a:ext cx="2119312" cy="392112"/>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缓冲寄存器</a:t>
            </a:r>
            <a:r>
              <a:rPr kumimoji="0" lang="en-US" altLang="zh-CN" sz="2200">
                <a:solidFill>
                  <a:schemeClr val="bg1"/>
                </a:solidFill>
                <a:ea typeface="楷体" panose="02010609060101010101" pitchFamily="49" charset="-122"/>
                <a:cs typeface="Times New Roman" panose="02020603050405020304" pitchFamily="18" charset="0"/>
              </a:rPr>
              <a:t>DR</a:t>
            </a:r>
            <a:endParaRPr kumimoji="0" lang="en-US" altLang="zh-CN" sz="2200">
              <a:solidFill>
                <a:schemeClr val="bg1"/>
              </a:solidFill>
              <a:ea typeface="楷体" panose="02010609060101010101" pitchFamily="49" charset="-122"/>
              <a:cs typeface="Times New Roman" panose="02020603050405020304" pitchFamily="18" charset="0"/>
            </a:endParaRPr>
          </a:p>
        </p:txBody>
      </p:sp>
      <p:sp>
        <p:nvSpPr>
          <p:cNvPr id="23566" name="Rectangle 20"/>
          <p:cNvSpPr>
            <a:spLocks noChangeArrowheads="1"/>
          </p:cNvSpPr>
          <p:nvPr/>
        </p:nvSpPr>
        <p:spPr bwMode="auto">
          <a:xfrm>
            <a:off x="6249988" y="3778250"/>
            <a:ext cx="2003425" cy="392113"/>
          </a:xfrm>
          <a:prstGeom prst="rect">
            <a:avLst/>
          </a:prstGeom>
          <a:solidFill>
            <a:srgbClr val="FF9900"/>
          </a:solidFill>
          <a:ln w="9525">
            <a:miter lim="800000"/>
          </a:ln>
          <a:scene3d>
            <a:camera prst="legacyObliqueTopRight"/>
            <a:lightRig rig="legacyFlat3" dir="b"/>
          </a:scene3d>
          <a:sp3d extrusionH="227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指令寄存器</a:t>
            </a:r>
            <a:r>
              <a:rPr kumimoji="0" lang="en-US" altLang="zh-CN" sz="2400">
                <a:solidFill>
                  <a:schemeClr val="bg1"/>
                </a:solidFill>
                <a:ea typeface="楷体" panose="02010609060101010101" pitchFamily="49" charset="-122"/>
                <a:cs typeface="Times New Roman" panose="02020603050405020304" pitchFamily="18" charset="0"/>
              </a:rPr>
              <a:t>IR</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23567" name="Rectangle 21"/>
          <p:cNvSpPr>
            <a:spLocks noChangeArrowheads="1"/>
          </p:cNvSpPr>
          <p:nvPr/>
        </p:nvSpPr>
        <p:spPr bwMode="auto">
          <a:xfrm>
            <a:off x="6169025" y="4645025"/>
            <a:ext cx="2162175" cy="392113"/>
          </a:xfrm>
          <a:prstGeom prst="rect">
            <a:avLst/>
          </a:prstGeom>
          <a:solidFill>
            <a:srgbClr val="FF9900"/>
          </a:solidFill>
          <a:ln w="9525">
            <a:miter lim="800000"/>
          </a:ln>
          <a:scene3d>
            <a:camera prst="legacyObliqueTopRight"/>
            <a:lightRig rig="legacyFlat3" dir="b"/>
          </a:scene3d>
          <a:sp3d extrusionH="227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程序寄存器</a:t>
            </a:r>
            <a:r>
              <a:rPr kumimoji="0" lang="en-US" altLang="zh-CN" sz="2400">
                <a:solidFill>
                  <a:schemeClr val="bg1"/>
                </a:solidFill>
                <a:ea typeface="楷体" panose="02010609060101010101" pitchFamily="49" charset="-122"/>
                <a:cs typeface="Times New Roman" panose="02020603050405020304" pitchFamily="18" charset="0"/>
              </a:rPr>
              <a:t>PC</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23568" name="Rectangle 22"/>
          <p:cNvSpPr>
            <a:spLocks noChangeArrowheads="1"/>
          </p:cNvSpPr>
          <p:nvPr/>
        </p:nvSpPr>
        <p:spPr bwMode="auto">
          <a:xfrm>
            <a:off x="6138863" y="5330825"/>
            <a:ext cx="2162175" cy="392113"/>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地址寄存器</a:t>
            </a:r>
            <a:r>
              <a:rPr kumimoji="0" lang="en-US" altLang="zh-CN" sz="2400">
                <a:solidFill>
                  <a:schemeClr val="bg1"/>
                </a:solidFill>
                <a:ea typeface="楷体" panose="02010609060101010101" pitchFamily="49" charset="-122"/>
                <a:cs typeface="Times New Roman" panose="02020603050405020304" pitchFamily="18" charset="0"/>
              </a:rPr>
              <a:t>AR</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23569" name="Rectangle 23"/>
          <p:cNvSpPr>
            <a:spLocks noChangeArrowheads="1"/>
          </p:cNvSpPr>
          <p:nvPr/>
        </p:nvSpPr>
        <p:spPr bwMode="auto">
          <a:xfrm>
            <a:off x="6418263" y="2922588"/>
            <a:ext cx="1698625" cy="465137"/>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指令译码器</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23570" name="AutoShape 25"/>
          <p:cNvSpPr>
            <a:spLocks noChangeArrowheads="1"/>
          </p:cNvSpPr>
          <p:nvPr/>
        </p:nvSpPr>
        <p:spPr bwMode="auto">
          <a:xfrm>
            <a:off x="7154863" y="5043488"/>
            <a:ext cx="261937" cy="246062"/>
          </a:xfrm>
          <a:prstGeom prst="downArrow">
            <a:avLst>
              <a:gd name="adj1" fmla="val 50000"/>
              <a:gd name="adj2" fmla="val 25000"/>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1" name="Rectangle 34"/>
          <p:cNvSpPr>
            <a:spLocks noChangeArrowheads="1"/>
          </p:cNvSpPr>
          <p:nvPr/>
        </p:nvSpPr>
        <p:spPr bwMode="auto">
          <a:xfrm>
            <a:off x="361950" y="5881688"/>
            <a:ext cx="7019925" cy="142875"/>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3572" name="Group 38"/>
          <p:cNvGrpSpPr/>
          <p:nvPr/>
        </p:nvGrpSpPr>
        <p:grpSpPr bwMode="auto">
          <a:xfrm>
            <a:off x="357188" y="2971800"/>
            <a:ext cx="455612" cy="3052763"/>
            <a:chOff x="225" y="2277"/>
            <a:chExt cx="287" cy="1923"/>
          </a:xfrm>
        </p:grpSpPr>
        <p:sp>
          <p:nvSpPr>
            <p:cNvPr id="23634" name="AutoShape 29"/>
            <p:cNvSpPr>
              <a:spLocks noChangeArrowheads="1"/>
            </p:cNvSpPr>
            <p:nvPr/>
          </p:nvSpPr>
          <p:spPr bwMode="auto">
            <a:xfrm>
              <a:off x="229" y="2277"/>
              <a:ext cx="283" cy="164"/>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2" name="AutoShape 30"/>
            <p:cNvSpPr>
              <a:spLocks noChangeArrowheads="1"/>
            </p:cNvSpPr>
            <p:nvPr/>
          </p:nvSpPr>
          <p:spPr bwMode="auto">
            <a:xfrm>
              <a:off x="229" y="3091"/>
              <a:ext cx="283" cy="164"/>
            </a:xfrm>
            <a:prstGeom prst="rightArrow">
              <a:avLst>
                <a:gd name="adj1" fmla="val 50000"/>
                <a:gd name="adj2" fmla="val 43140"/>
              </a:avLst>
            </a:prstGeom>
            <a:solidFill>
              <a:srgbClr val="FFFF00"/>
            </a:solidFill>
            <a:ln w="19050">
              <a:solidFill>
                <a:schemeClr val="tx1"/>
              </a:solid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636" name="Rectangle 31"/>
            <p:cNvSpPr>
              <a:spLocks noChangeArrowheads="1"/>
            </p:cNvSpPr>
            <p:nvPr/>
          </p:nvSpPr>
          <p:spPr bwMode="auto">
            <a:xfrm>
              <a:off x="225" y="2319"/>
              <a:ext cx="80" cy="1881"/>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37" name="Rectangle 32"/>
            <p:cNvSpPr>
              <a:spLocks noChangeArrowheads="1"/>
            </p:cNvSpPr>
            <p:nvPr/>
          </p:nvSpPr>
          <p:spPr bwMode="auto">
            <a:xfrm>
              <a:off x="258" y="3144"/>
              <a:ext cx="90" cy="6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38" name="Rectangle 33"/>
            <p:cNvSpPr>
              <a:spLocks noChangeArrowheads="1"/>
            </p:cNvSpPr>
            <p:nvPr/>
          </p:nvSpPr>
          <p:spPr bwMode="auto">
            <a:xfrm>
              <a:off x="258" y="2334"/>
              <a:ext cx="90" cy="6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7" name="Rectangle 35"/>
            <p:cNvSpPr>
              <a:spLocks noChangeArrowheads="1"/>
            </p:cNvSpPr>
            <p:nvPr/>
          </p:nvSpPr>
          <p:spPr bwMode="auto">
            <a:xfrm>
              <a:off x="240" y="4086"/>
              <a:ext cx="60" cy="66"/>
            </a:xfrm>
            <a:prstGeom prst="rect">
              <a:avLst/>
            </a:prstGeom>
            <a:solidFill>
              <a:srgbClr val="FFFF00"/>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grpSp>
      <p:sp>
        <p:nvSpPr>
          <p:cNvPr id="23573" name="Rectangle 36"/>
          <p:cNvSpPr>
            <a:spLocks noChangeArrowheads="1"/>
          </p:cNvSpPr>
          <p:nvPr/>
        </p:nvSpPr>
        <p:spPr bwMode="auto">
          <a:xfrm>
            <a:off x="7248525" y="5734050"/>
            <a:ext cx="133350" cy="290513"/>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9" name="Rectangle 37"/>
          <p:cNvSpPr>
            <a:spLocks noChangeArrowheads="1"/>
          </p:cNvSpPr>
          <p:nvPr/>
        </p:nvSpPr>
        <p:spPr bwMode="auto">
          <a:xfrm>
            <a:off x="7210425" y="5910263"/>
            <a:ext cx="95250" cy="104775"/>
          </a:xfrm>
          <a:prstGeom prst="rect">
            <a:avLst/>
          </a:prstGeom>
          <a:solidFill>
            <a:srgbClr val="FFFF00"/>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75" name="AutoShape 40"/>
          <p:cNvSpPr>
            <a:spLocks noChangeArrowheads="1"/>
          </p:cNvSpPr>
          <p:nvPr/>
        </p:nvSpPr>
        <p:spPr bwMode="auto">
          <a:xfrm flipH="1">
            <a:off x="2038350" y="2970213"/>
            <a:ext cx="449263" cy="260350"/>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73" name="AutoShape 41"/>
          <p:cNvSpPr>
            <a:spLocks noChangeArrowheads="1"/>
          </p:cNvSpPr>
          <p:nvPr/>
        </p:nvSpPr>
        <p:spPr bwMode="auto">
          <a:xfrm flipH="1">
            <a:off x="2038350" y="4233863"/>
            <a:ext cx="5316538" cy="288925"/>
          </a:xfrm>
          <a:prstGeom prst="rightArrow">
            <a:avLst>
              <a:gd name="adj1" fmla="val 50556"/>
              <a:gd name="adj2" fmla="val 41914"/>
            </a:avLst>
          </a:prstGeom>
          <a:solidFill>
            <a:srgbClr val="FFFF00"/>
          </a:solidFill>
          <a:ln w="19050">
            <a:solidFill>
              <a:schemeClr val="tx1"/>
            </a:solid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77" name="Rectangle 42"/>
          <p:cNvSpPr>
            <a:spLocks noChangeArrowheads="1"/>
          </p:cNvSpPr>
          <p:nvPr/>
        </p:nvSpPr>
        <p:spPr bwMode="auto">
          <a:xfrm flipH="1">
            <a:off x="2366963" y="3036888"/>
            <a:ext cx="141287" cy="1273175"/>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8" name="Rectangle 43"/>
          <p:cNvSpPr>
            <a:spLocks noChangeArrowheads="1"/>
          </p:cNvSpPr>
          <p:nvPr/>
        </p:nvSpPr>
        <p:spPr bwMode="auto">
          <a:xfrm flipH="1">
            <a:off x="2379663" y="4273550"/>
            <a:ext cx="128587"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9" name="Rectangle 44"/>
          <p:cNvSpPr>
            <a:spLocks noChangeArrowheads="1"/>
          </p:cNvSpPr>
          <p:nvPr/>
        </p:nvSpPr>
        <p:spPr bwMode="auto">
          <a:xfrm flipH="1">
            <a:off x="2298700" y="3060700"/>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0" name="AutoShape 46"/>
          <p:cNvSpPr>
            <a:spLocks noChangeArrowheads="1"/>
          </p:cNvSpPr>
          <p:nvPr/>
        </p:nvSpPr>
        <p:spPr bwMode="auto">
          <a:xfrm>
            <a:off x="4813300" y="2973388"/>
            <a:ext cx="260350" cy="709612"/>
          </a:xfrm>
          <a:prstGeom prst="upArrow">
            <a:avLst>
              <a:gd name="adj1" fmla="val 50000"/>
              <a:gd name="adj2" fmla="val 68140"/>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79" name="AutoShape 47"/>
          <p:cNvSpPr>
            <a:spLocks noChangeArrowheads="1"/>
          </p:cNvSpPr>
          <p:nvPr/>
        </p:nvSpPr>
        <p:spPr bwMode="auto">
          <a:xfrm>
            <a:off x="5276850" y="2260600"/>
            <a:ext cx="260350" cy="1422400"/>
          </a:xfrm>
          <a:prstGeom prst="upArrow">
            <a:avLst>
              <a:gd name="adj1" fmla="val 49639"/>
              <a:gd name="adj2" fmla="val 84405"/>
            </a:avLst>
          </a:prstGeom>
          <a:solidFill>
            <a:srgbClr val="FFFF00"/>
          </a:solidFill>
          <a:ln w="19050">
            <a:solidFill>
              <a:schemeClr val="tx1"/>
            </a:solid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82" name="AutoShape 48"/>
          <p:cNvSpPr>
            <a:spLocks noChangeArrowheads="1"/>
          </p:cNvSpPr>
          <p:nvPr/>
        </p:nvSpPr>
        <p:spPr bwMode="auto">
          <a:xfrm>
            <a:off x="7164388" y="3363913"/>
            <a:ext cx="261937" cy="376237"/>
          </a:xfrm>
          <a:prstGeom prst="upArrow">
            <a:avLst>
              <a:gd name="adj1" fmla="val 50000"/>
              <a:gd name="adj2" fmla="val 35909"/>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3" name="Rectangle 50"/>
          <p:cNvSpPr>
            <a:spLocks noChangeArrowheads="1"/>
          </p:cNvSpPr>
          <p:nvPr/>
        </p:nvSpPr>
        <p:spPr bwMode="auto">
          <a:xfrm flipH="1">
            <a:off x="4449763" y="4273550"/>
            <a:ext cx="100012"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83" name="AutoShape 51"/>
          <p:cNvSpPr>
            <a:spLocks noChangeArrowheads="1"/>
          </p:cNvSpPr>
          <p:nvPr/>
        </p:nvSpPr>
        <p:spPr bwMode="auto">
          <a:xfrm>
            <a:off x="7177088" y="4144963"/>
            <a:ext cx="247650" cy="304800"/>
          </a:xfrm>
          <a:prstGeom prst="upArrow">
            <a:avLst>
              <a:gd name="adj1" fmla="val 50000"/>
              <a:gd name="adj2" fmla="val 30769"/>
            </a:avLst>
          </a:prstGeom>
          <a:solidFill>
            <a:srgbClr val="FFFF00"/>
          </a:solidFill>
          <a:ln w="19050">
            <a:solidFill>
              <a:schemeClr val="tx1"/>
            </a:solid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85" name="Rectangle 52"/>
          <p:cNvSpPr>
            <a:spLocks noChangeArrowheads="1"/>
          </p:cNvSpPr>
          <p:nvPr/>
        </p:nvSpPr>
        <p:spPr bwMode="auto">
          <a:xfrm flipH="1">
            <a:off x="7192963" y="4321175"/>
            <a:ext cx="100012" cy="11430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6" name="AutoShape 53"/>
          <p:cNvSpPr>
            <a:spLocks noChangeArrowheads="1"/>
          </p:cNvSpPr>
          <p:nvPr/>
        </p:nvSpPr>
        <p:spPr bwMode="auto">
          <a:xfrm>
            <a:off x="5530850" y="3856038"/>
            <a:ext cx="711200" cy="233362"/>
          </a:xfrm>
          <a:prstGeom prst="rightArrow">
            <a:avLst>
              <a:gd name="adj1" fmla="val 50000"/>
              <a:gd name="adj2" fmla="val 76191"/>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3587" name="Group 107"/>
          <p:cNvGrpSpPr/>
          <p:nvPr/>
        </p:nvGrpSpPr>
        <p:grpSpPr bwMode="auto">
          <a:xfrm>
            <a:off x="6921500" y="2492375"/>
            <a:ext cx="900113" cy="333375"/>
            <a:chOff x="4360" y="1920"/>
            <a:chExt cx="567" cy="265"/>
          </a:xfrm>
        </p:grpSpPr>
        <p:sp>
          <p:nvSpPr>
            <p:cNvPr id="23627" name="Line 55"/>
            <p:cNvSpPr>
              <a:spLocks noChangeShapeType="1"/>
            </p:cNvSpPr>
            <p:nvPr/>
          </p:nvSpPr>
          <p:spPr bwMode="auto">
            <a:xfrm flipV="1">
              <a:off x="4360"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8" name="Line 56"/>
            <p:cNvSpPr>
              <a:spLocks noChangeShapeType="1"/>
            </p:cNvSpPr>
            <p:nvPr/>
          </p:nvSpPr>
          <p:spPr bwMode="auto">
            <a:xfrm flipV="1">
              <a:off x="4460"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9" name="Line 57"/>
            <p:cNvSpPr>
              <a:spLocks noChangeShapeType="1"/>
            </p:cNvSpPr>
            <p:nvPr/>
          </p:nvSpPr>
          <p:spPr bwMode="auto">
            <a:xfrm flipV="1">
              <a:off x="4551"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0" name="Line 58"/>
            <p:cNvSpPr>
              <a:spLocks noChangeShapeType="1"/>
            </p:cNvSpPr>
            <p:nvPr/>
          </p:nvSpPr>
          <p:spPr bwMode="auto">
            <a:xfrm flipV="1">
              <a:off x="4643"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1" name="Line 59"/>
            <p:cNvSpPr>
              <a:spLocks noChangeShapeType="1"/>
            </p:cNvSpPr>
            <p:nvPr/>
          </p:nvSpPr>
          <p:spPr bwMode="auto">
            <a:xfrm flipV="1">
              <a:off x="4726"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2" name="Line 60"/>
            <p:cNvSpPr>
              <a:spLocks noChangeShapeType="1"/>
            </p:cNvSpPr>
            <p:nvPr/>
          </p:nvSpPr>
          <p:spPr bwMode="auto">
            <a:xfrm flipV="1">
              <a:off x="4835"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3" name="Line 61"/>
            <p:cNvSpPr>
              <a:spLocks noChangeShapeType="1"/>
            </p:cNvSpPr>
            <p:nvPr/>
          </p:nvSpPr>
          <p:spPr bwMode="auto">
            <a:xfrm flipV="1">
              <a:off x="4927"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23588" name="Line 62"/>
          <p:cNvSpPr>
            <a:spLocks noChangeShapeType="1"/>
          </p:cNvSpPr>
          <p:nvPr/>
        </p:nvSpPr>
        <p:spPr bwMode="auto">
          <a:xfrm flipH="1">
            <a:off x="8139113" y="1812925"/>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89" name="Line 63"/>
          <p:cNvSpPr>
            <a:spLocks noChangeShapeType="1"/>
          </p:cNvSpPr>
          <p:nvPr/>
        </p:nvSpPr>
        <p:spPr bwMode="auto">
          <a:xfrm flipH="1">
            <a:off x="8139113" y="2246313"/>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nvGrpSpPr>
          <p:cNvPr id="23590" name="Group 80"/>
          <p:cNvGrpSpPr/>
          <p:nvPr/>
        </p:nvGrpSpPr>
        <p:grpSpPr bwMode="auto">
          <a:xfrm>
            <a:off x="6530975" y="1317625"/>
            <a:ext cx="871538" cy="333375"/>
            <a:chOff x="4162" y="1124"/>
            <a:chExt cx="549" cy="265"/>
          </a:xfrm>
        </p:grpSpPr>
        <p:sp>
          <p:nvSpPr>
            <p:cNvPr id="23620" name="Line 64"/>
            <p:cNvSpPr>
              <a:spLocks noChangeShapeType="1"/>
            </p:cNvSpPr>
            <p:nvPr/>
          </p:nvSpPr>
          <p:spPr bwMode="auto">
            <a:xfrm flipV="1">
              <a:off x="4162"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1" name="Line 65"/>
            <p:cNvSpPr>
              <a:spLocks noChangeShapeType="1"/>
            </p:cNvSpPr>
            <p:nvPr/>
          </p:nvSpPr>
          <p:spPr bwMode="auto">
            <a:xfrm flipV="1">
              <a:off x="4262"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2" name="Line 66"/>
            <p:cNvSpPr>
              <a:spLocks noChangeShapeType="1"/>
            </p:cNvSpPr>
            <p:nvPr/>
          </p:nvSpPr>
          <p:spPr bwMode="auto">
            <a:xfrm flipV="1">
              <a:off x="4353"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3" name="Line 67"/>
            <p:cNvSpPr>
              <a:spLocks noChangeShapeType="1"/>
            </p:cNvSpPr>
            <p:nvPr/>
          </p:nvSpPr>
          <p:spPr bwMode="auto">
            <a:xfrm flipV="1">
              <a:off x="4445"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4" name="Line 68"/>
            <p:cNvSpPr>
              <a:spLocks noChangeShapeType="1"/>
            </p:cNvSpPr>
            <p:nvPr/>
          </p:nvSpPr>
          <p:spPr bwMode="auto">
            <a:xfrm flipV="1">
              <a:off x="4528"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5" name="Line 69"/>
            <p:cNvSpPr>
              <a:spLocks noChangeShapeType="1"/>
            </p:cNvSpPr>
            <p:nvPr/>
          </p:nvSpPr>
          <p:spPr bwMode="auto">
            <a:xfrm flipV="1">
              <a:off x="4619"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6" name="Line 70"/>
            <p:cNvSpPr>
              <a:spLocks noChangeShapeType="1"/>
            </p:cNvSpPr>
            <p:nvPr/>
          </p:nvSpPr>
          <p:spPr bwMode="auto">
            <a:xfrm flipV="1">
              <a:off x="4711"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23591" name="Text Box 71"/>
          <p:cNvSpPr txBox="1">
            <a:spLocks noChangeArrowheads="1"/>
          </p:cNvSpPr>
          <p:nvPr/>
        </p:nvSpPr>
        <p:spPr bwMode="auto">
          <a:xfrm>
            <a:off x="8328446" y="1592263"/>
            <a:ext cx="700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000" dirty="0">
                <a:latin typeface="楷体" panose="02010609060101010101" pitchFamily="49" charset="-122"/>
                <a:ea typeface="楷体" panose="02010609060101010101" pitchFamily="49" charset="-122"/>
              </a:rPr>
              <a:t>时钟</a:t>
            </a:r>
            <a:endParaRPr kumimoji="0" lang="zh-CN" altLang="en-US" sz="2000" dirty="0">
              <a:latin typeface="楷体" panose="02010609060101010101" pitchFamily="49" charset="-122"/>
              <a:ea typeface="楷体" panose="02010609060101010101" pitchFamily="49" charset="-122"/>
            </a:endParaRPr>
          </a:p>
        </p:txBody>
      </p:sp>
      <p:sp>
        <p:nvSpPr>
          <p:cNvPr id="23592" name="Text Box 72"/>
          <p:cNvSpPr txBox="1">
            <a:spLocks noChangeArrowheads="1"/>
          </p:cNvSpPr>
          <p:nvPr/>
        </p:nvSpPr>
        <p:spPr bwMode="auto">
          <a:xfrm>
            <a:off x="8314158" y="1951038"/>
            <a:ext cx="700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spcBef>
                <a:spcPct val="0"/>
              </a:spcBef>
              <a:buClrTx/>
              <a:buNone/>
            </a:pPr>
            <a:r>
              <a:rPr kumimoji="0" lang="zh-CN" altLang="en-US" sz="2000" dirty="0">
                <a:latin typeface="楷体" panose="02010609060101010101" pitchFamily="49" charset="-122"/>
                <a:ea typeface="楷体" panose="02010609060101010101" pitchFamily="49" charset="-122"/>
              </a:rPr>
              <a:t>状态</a:t>
            </a:r>
            <a:endParaRPr kumimoji="0" lang="zh-CN" altLang="en-US" sz="2000" dirty="0">
              <a:latin typeface="楷体" panose="02010609060101010101" pitchFamily="49" charset="-122"/>
              <a:ea typeface="楷体" panose="02010609060101010101" pitchFamily="49" charset="-122"/>
            </a:endParaRPr>
          </a:p>
          <a:p>
            <a:pPr eaLnBrk="1" hangingPunct="1">
              <a:lnSpc>
                <a:spcPct val="80000"/>
              </a:lnSpc>
              <a:spcBef>
                <a:spcPct val="0"/>
              </a:spcBef>
              <a:buClrTx/>
              <a:buNone/>
            </a:pPr>
            <a:r>
              <a:rPr kumimoji="0" lang="zh-CN" altLang="en-US" sz="2000" dirty="0">
                <a:latin typeface="楷体" panose="02010609060101010101" pitchFamily="49" charset="-122"/>
                <a:ea typeface="楷体" panose="02010609060101010101" pitchFamily="49" charset="-122"/>
              </a:rPr>
              <a:t>反馈</a:t>
            </a:r>
            <a:endParaRPr kumimoji="0" lang="zh-CN" altLang="en-US" sz="2000" dirty="0">
              <a:latin typeface="楷体" panose="02010609060101010101" pitchFamily="49" charset="-122"/>
              <a:ea typeface="楷体" panose="02010609060101010101" pitchFamily="49" charset="-122"/>
            </a:endParaRPr>
          </a:p>
        </p:txBody>
      </p:sp>
      <p:sp>
        <p:nvSpPr>
          <p:cNvPr id="23593" name="Line 73"/>
          <p:cNvSpPr>
            <a:spLocks noChangeShapeType="1"/>
          </p:cNvSpPr>
          <p:nvPr/>
        </p:nvSpPr>
        <p:spPr bwMode="auto">
          <a:xfrm flipH="1">
            <a:off x="8286750" y="3943350"/>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4" name="Text Box 74"/>
          <p:cNvSpPr txBox="1">
            <a:spLocks noChangeArrowheads="1"/>
          </p:cNvSpPr>
          <p:nvPr/>
        </p:nvSpPr>
        <p:spPr bwMode="auto">
          <a:xfrm>
            <a:off x="8509000" y="3717925"/>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595" name="Line 75"/>
          <p:cNvSpPr>
            <a:spLocks noChangeShapeType="1"/>
          </p:cNvSpPr>
          <p:nvPr/>
        </p:nvSpPr>
        <p:spPr bwMode="auto">
          <a:xfrm flipH="1">
            <a:off x="8359775" y="4800600"/>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6" name="Text Box 76"/>
          <p:cNvSpPr txBox="1">
            <a:spLocks noChangeArrowheads="1"/>
          </p:cNvSpPr>
          <p:nvPr/>
        </p:nvSpPr>
        <p:spPr bwMode="auto">
          <a:xfrm>
            <a:off x="8582025" y="4575175"/>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597" name="Line 77"/>
          <p:cNvSpPr>
            <a:spLocks noChangeShapeType="1"/>
          </p:cNvSpPr>
          <p:nvPr/>
        </p:nvSpPr>
        <p:spPr bwMode="auto">
          <a:xfrm flipH="1">
            <a:off x="8345488" y="5510213"/>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8" name="Text Box 78"/>
          <p:cNvSpPr txBox="1">
            <a:spLocks noChangeArrowheads="1"/>
          </p:cNvSpPr>
          <p:nvPr/>
        </p:nvSpPr>
        <p:spPr bwMode="auto">
          <a:xfrm>
            <a:off x="8567738" y="5284788"/>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599" name="Text Box 79"/>
          <p:cNvSpPr txBox="1">
            <a:spLocks noChangeArrowheads="1"/>
          </p:cNvSpPr>
          <p:nvPr/>
        </p:nvSpPr>
        <p:spPr bwMode="auto">
          <a:xfrm>
            <a:off x="7354888" y="1214438"/>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latin typeface="楷体" panose="02010609060101010101" pitchFamily="49" charset="-122"/>
                <a:ea typeface="楷体" panose="02010609060101010101" pitchFamily="49" charset="-122"/>
              </a:rPr>
              <a:t>指令执行控制</a:t>
            </a:r>
            <a:endParaRPr kumimoji="0" lang="zh-CN" altLang="en-US" sz="2000" dirty="0">
              <a:latin typeface="楷体" panose="02010609060101010101" pitchFamily="49" charset="-122"/>
              <a:ea typeface="楷体" panose="02010609060101010101" pitchFamily="49" charset="-122"/>
            </a:endParaRPr>
          </a:p>
        </p:txBody>
      </p:sp>
      <p:sp>
        <p:nvSpPr>
          <p:cNvPr id="23600" name="Line 81"/>
          <p:cNvSpPr>
            <a:spLocks noChangeShapeType="1"/>
          </p:cNvSpPr>
          <p:nvPr/>
        </p:nvSpPr>
        <p:spPr bwMode="auto">
          <a:xfrm>
            <a:off x="3136900" y="3957638"/>
            <a:ext cx="24606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1" name="Text Box 82"/>
          <p:cNvSpPr txBox="1">
            <a:spLocks noChangeArrowheads="1"/>
          </p:cNvSpPr>
          <p:nvPr/>
        </p:nvSpPr>
        <p:spPr bwMode="auto">
          <a:xfrm>
            <a:off x="2878138" y="373221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02" name="Line 83"/>
          <p:cNvSpPr>
            <a:spLocks noChangeShapeType="1"/>
          </p:cNvSpPr>
          <p:nvPr/>
        </p:nvSpPr>
        <p:spPr bwMode="auto">
          <a:xfrm>
            <a:off x="3079750" y="2782888"/>
            <a:ext cx="24606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3" name="Text Box 84"/>
          <p:cNvSpPr txBox="1">
            <a:spLocks noChangeArrowheads="1"/>
          </p:cNvSpPr>
          <p:nvPr/>
        </p:nvSpPr>
        <p:spPr bwMode="auto">
          <a:xfrm>
            <a:off x="2835275" y="2571750"/>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04" name="Line 85"/>
          <p:cNvSpPr>
            <a:spLocks noChangeShapeType="1"/>
          </p:cNvSpPr>
          <p:nvPr/>
        </p:nvSpPr>
        <p:spPr bwMode="auto">
          <a:xfrm>
            <a:off x="2843213" y="1897063"/>
            <a:ext cx="0" cy="121920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5" name="Line 86"/>
          <p:cNvSpPr>
            <a:spLocks noChangeShapeType="1"/>
          </p:cNvSpPr>
          <p:nvPr/>
        </p:nvSpPr>
        <p:spPr bwMode="auto">
          <a:xfrm>
            <a:off x="2830513" y="1898650"/>
            <a:ext cx="113188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3606" name="AutoShape 87"/>
          <p:cNvSpPr>
            <a:spLocks noChangeArrowheads="1"/>
          </p:cNvSpPr>
          <p:nvPr/>
        </p:nvSpPr>
        <p:spPr bwMode="auto">
          <a:xfrm>
            <a:off x="4799013" y="2246313"/>
            <a:ext cx="261937" cy="288925"/>
          </a:xfrm>
          <a:prstGeom prst="upArrow">
            <a:avLst>
              <a:gd name="adj1" fmla="val 50000"/>
              <a:gd name="adj2" fmla="val 27576"/>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07" name="AutoShape 88"/>
          <p:cNvSpPr>
            <a:spLocks noChangeArrowheads="1"/>
          </p:cNvSpPr>
          <p:nvPr/>
        </p:nvSpPr>
        <p:spPr bwMode="auto">
          <a:xfrm rot="5378730" flipV="1">
            <a:off x="3465512" y="2039938"/>
            <a:ext cx="506413" cy="4651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00"/>
          </a:solidFill>
          <a:ln w="19050">
            <a:solidFill>
              <a:schemeClr val="tx1"/>
            </a:solidFill>
            <a:miter lim="800000"/>
            <a:tailEnd type="none" w="lg" len="lg"/>
          </a:ln>
        </p:spPr>
        <p:txBody>
          <a:bodyPr wrap="none" anchor="ctr"/>
          <a:lstStyle/>
          <a:p>
            <a:endParaRPr lang="zh-CN" altLang="en-US"/>
          </a:p>
        </p:txBody>
      </p:sp>
      <p:sp>
        <p:nvSpPr>
          <p:cNvPr id="197721" name="Rectangle 89"/>
          <p:cNvSpPr>
            <a:spLocks noChangeArrowheads="1"/>
          </p:cNvSpPr>
          <p:nvPr/>
        </p:nvSpPr>
        <p:spPr bwMode="auto">
          <a:xfrm flipH="1">
            <a:off x="404813" y="5899150"/>
            <a:ext cx="128587" cy="109538"/>
          </a:xfrm>
          <a:prstGeom prst="rect">
            <a:avLst/>
          </a:prstGeom>
          <a:solidFill>
            <a:srgbClr val="FFFF00"/>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609" name="Rectangle 94"/>
          <p:cNvSpPr>
            <a:spLocks noChangeArrowheads="1"/>
          </p:cNvSpPr>
          <p:nvPr/>
        </p:nvSpPr>
        <p:spPr bwMode="auto">
          <a:xfrm flipV="1">
            <a:off x="5722938" y="4803775"/>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10" name="Rectangle 95"/>
          <p:cNvSpPr>
            <a:spLocks noChangeArrowheads="1"/>
          </p:cNvSpPr>
          <p:nvPr/>
        </p:nvSpPr>
        <p:spPr bwMode="auto">
          <a:xfrm flipV="1">
            <a:off x="5722938" y="5475288"/>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728" name="Rectangle 96"/>
          <p:cNvSpPr>
            <a:spLocks noChangeArrowheads="1"/>
          </p:cNvSpPr>
          <p:nvPr/>
        </p:nvSpPr>
        <p:spPr bwMode="auto">
          <a:xfrm flipV="1">
            <a:off x="5680075" y="4413250"/>
            <a:ext cx="111125" cy="88900"/>
          </a:xfrm>
          <a:prstGeom prst="rect">
            <a:avLst/>
          </a:prstGeom>
          <a:solidFill>
            <a:srgbClr val="FFFF00"/>
          </a:solidFill>
          <a:ln w="19050">
            <a:noFill/>
            <a:miter lim="800000"/>
            <a:tailEnd type="none" w="lg" len="lg"/>
          </a:ln>
          <a:effectLst/>
        </p:spPr>
        <p:txBody>
          <a:bodyPr rot="10800000"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612" name="Line 99"/>
          <p:cNvSpPr>
            <a:spLocks noChangeShapeType="1"/>
          </p:cNvSpPr>
          <p:nvPr/>
        </p:nvSpPr>
        <p:spPr bwMode="auto">
          <a:xfrm>
            <a:off x="4716463" y="1462088"/>
            <a:ext cx="0" cy="29051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3" name="Text Box 100"/>
          <p:cNvSpPr txBox="1">
            <a:spLocks noChangeArrowheads="1"/>
          </p:cNvSpPr>
          <p:nvPr/>
        </p:nvSpPr>
        <p:spPr bwMode="auto">
          <a:xfrm>
            <a:off x="4548188"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14" name="Line 101"/>
          <p:cNvSpPr>
            <a:spLocks noChangeShapeType="1"/>
          </p:cNvSpPr>
          <p:nvPr/>
        </p:nvSpPr>
        <p:spPr bwMode="auto">
          <a:xfrm>
            <a:off x="4932363" y="1462088"/>
            <a:ext cx="0" cy="29051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5" name="Line 102"/>
          <p:cNvSpPr>
            <a:spLocks noChangeShapeType="1"/>
          </p:cNvSpPr>
          <p:nvPr/>
        </p:nvSpPr>
        <p:spPr bwMode="auto">
          <a:xfrm>
            <a:off x="5149850" y="1462088"/>
            <a:ext cx="0" cy="29051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6" name="Text Box 103"/>
          <p:cNvSpPr txBox="1">
            <a:spLocks noChangeArrowheads="1"/>
          </p:cNvSpPr>
          <p:nvPr/>
        </p:nvSpPr>
        <p:spPr bwMode="auto">
          <a:xfrm>
            <a:off x="4765675"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17" name="Text Box 104"/>
          <p:cNvSpPr txBox="1">
            <a:spLocks noChangeArrowheads="1"/>
          </p:cNvSpPr>
          <p:nvPr/>
        </p:nvSpPr>
        <p:spPr bwMode="auto">
          <a:xfrm>
            <a:off x="4983163"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18" name="Rectangle 105"/>
          <p:cNvSpPr>
            <a:spLocks noChangeArrowheads="1"/>
          </p:cNvSpPr>
          <p:nvPr/>
        </p:nvSpPr>
        <p:spPr bwMode="auto">
          <a:xfrm>
            <a:off x="2598738" y="1216025"/>
            <a:ext cx="6473825" cy="4913313"/>
          </a:xfrm>
          <a:prstGeom prst="rect">
            <a:avLst/>
          </a:prstGeom>
          <a:noFill/>
          <a:ln w="22225">
            <a:solidFill>
              <a:srgbClr val="FF0000"/>
            </a:solidFill>
            <a:prstDash val="dash"/>
            <a:miter lim="800000"/>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19" name="Text Box 106"/>
          <p:cNvSpPr txBox="1">
            <a:spLocks noChangeArrowheads="1"/>
          </p:cNvSpPr>
          <p:nvPr/>
        </p:nvSpPr>
        <p:spPr bwMode="auto">
          <a:xfrm>
            <a:off x="2898775" y="5197475"/>
            <a:ext cx="1019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a:solidFill>
                  <a:srgbClr val="FF0000"/>
                </a:solidFill>
                <a:ea typeface="宋体" panose="02010600030101010101" pitchFamily="2" charset="-122"/>
              </a:rPr>
              <a:t>CPU</a:t>
            </a:r>
            <a:endParaRPr kumimoji="0" lang="en-US" altLang="zh-CN">
              <a:solidFill>
                <a:srgbClr val="FF0000"/>
              </a:solidFill>
              <a:ea typeface="宋体" panose="02010600030101010101" pitchFamily="2" charset="-122"/>
            </a:endParaRPr>
          </a:p>
        </p:txBody>
      </p:sp>
    </p:spTree>
  </p:cSld>
  <p:clrMapOvr>
    <a:masterClrMapping/>
  </p:clrMapOvr>
  <p:transition spd="med">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xfrm>
            <a:off x="457200" y="41275"/>
            <a:ext cx="8229600" cy="1371600"/>
          </a:xfrm>
        </p:spPr>
        <p:txBody>
          <a:bodyPr vert="horz" wrap="square" lIns="91440" tIns="45720" rIns="91440" bIns="45720" anchor="ctr" anchorCtr="0"/>
          <a:p>
            <a:r>
              <a:rPr lang="en-US" altLang="zh-CN" dirty="0">
                <a:latin typeface="黑体" panose="02010609060101010101" pitchFamily="49" charset="-122"/>
                <a:ea typeface="黑体" panose="02010609060101010101" pitchFamily="49" charset="-122"/>
                <a:cs typeface="黑体" panose="02010609060101010101" pitchFamily="49" charset="-122"/>
              </a:rPr>
              <a:t>CPU</a:t>
            </a:r>
            <a:r>
              <a:rPr lang="zh-CN" altLang="en-US" dirty="0">
                <a:latin typeface="黑体" panose="02010609060101010101" pitchFamily="49" charset="-122"/>
                <a:ea typeface="黑体" panose="02010609060101010101" pitchFamily="49" charset="-122"/>
                <a:cs typeface="黑体" panose="02010609060101010101" pitchFamily="49" charset="-122"/>
              </a:rPr>
              <a:t>的基本组成</a:t>
            </a:r>
            <a:endParaRPr lang="zh-CN" altLang="en-US" dirty="0">
              <a:latin typeface="黑体" panose="02010609060101010101" pitchFamily="49" charset="-122"/>
              <a:ea typeface="黑体" panose="02010609060101010101" pitchFamily="49" charset="-122"/>
              <a:cs typeface="黑体" panose="02010609060101010101" pitchFamily="49" charset="-122"/>
            </a:endParaRPr>
          </a:p>
        </p:txBody>
      </p:sp>
      <p:pic>
        <p:nvPicPr>
          <p:cNvPr id="13315" name="Picture 17"/>
          <p:cNvPicPr>
            <a:picLocks noChangeAspect="1"/>
          </p:cNvPicPr>
          <p:nvPr/>
        </p:nvPicPr>
        <p:blipFill>
          <a:blip r:embed="rId1"/>
          <a:stretch>
            <a:fillRect/>
          </a:stretch>
        </p:blipFill>
        <p:spPr>
          <a:xfrm>
            <a:off x="684213" y="1052830"/>
            <a:ext cx="7273925" cy="573405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457200" y="44450"/>
            <a:ext cx="8229600" cy="1371600"/>
          </a:xfrm>
        </p:spPr>
        <p:txBody>
          <a:bodyPr vert="horz" wrap="square" lIns="91440" tIns="45720" rIns="91440" bIns="45720" anchor="ctr" anchorCtr="0"/>
          <a:p>
            <a:pPr algn="l" eaLnBrk="1" hangingPunct="1">
              <a:buClrTx/>
              <a:buSzTx/>
              <a:buFontTx/>
            </a:pPr>
            <a:r>
              <a:rPr lang="zh-CN" altLang="en-US">
                <a:latin typeface="黑体" panose="02010609060101010101" pitchFamily="49" charset="-122"/>
                <a:ea typeface="黑体" panose="02010609060101010101" pitchFamily="49" charset="-122"/>
              </a:rPr>
              <a:t>CPU的基本组成</a:t>
            </a:r>
            <a:endParaRPr lang="zh-CN" altLang="en-US">
              <a:latin typeface="黑体" panose="02010609060101010101" pitchFamily="49" charset="-122"/>
              <a:ea typeface="黑体" panose="02010609060101010101" pitchFamily="49" charset="-122"/>
            </a:endParaRPr>
          </a:p>
        </p:txBody>
      </p:sp>
      <p:sp>
        <p:nvSpPr>
          <p:cNvPr id="9219" name="Rectangle 3"/>
          <p:cNvSpPr>
            <a:spLocks noGrp="1" noChangeArrowheads="1"/>
          </p:cNvSpPr>
          <p:nvPr>
            <p:ph idx="1"/>
          </p:nvPr>
        </p:nvSpPr>
        <p:spPr>
          <a:xfrm>
            <a:off x="457200" y="1152525"/>
            <a:ext cx="8435975" cy="5805488"/>
          </a:xfrm>
        </p:spPr>
        <p:txBody>
          <a:bodyPr vert="horz" wrap="square" lIns="91440" tIns="45720" rIns="91440" bIns="45720" numCol="1" anchor="t" anchorCtr="0" compatLnSpc="1"/>
          <a:lstStyle/>
          <a:p>
            <a:pPr marL="342900" marR="0" lvl="0" indent="-342900" algn="l"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None/>
              <a:defRPr/>
            </a:pPr>
            <a:r>
              <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a:t>
            </a:r>
            <a:r>
              <a:rPr kumimoji="1" lang="en-US" altLang="zh-CN"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1</a:t>
            </a:r>
            <a:r>
              <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）中央处理器</a:t>
            </a:r>
            <a:r>
              <a:rPr kumimoji="1" lang="en-US" altLang="zh-CN"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CPU=</a:t>
            </a:r>
            <a:r>
              <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运算器</a:t>
            </a:r>
            <a:r>
              <a:rPr kumimoji="1" lang="en-US" altLang="zh-CN"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a:t>
            </a:r>
            <a:r>
              <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控制器</a:t>
            </a:r>
            <a:endPar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None/>
              <a:defRPr/>
            </a:pPr>
            <a:r>
              <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a:t>
            </a:r>
            <a:r>
              <a:rPr kumimoji="1" lang="en-US" altLang="zh-CN"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2</a:t>
            </a:r>
            <a:r>
              <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）运算器（即执行部件</a:t>
            </a:r>
            <a:r>
              <a:rPr kumimoji="1" lang="en-US" altLang="zh-CN"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a:t>
            </a:r>
            <a:r>
              <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数据加工处理部件，执行所有的算术运算和逻辑运算）</a:t>
            </a:r>
            <a:endParaRPr kumimoji="1" lang="zh-CN" altLang="en-US" sz="25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Char char="¨"/>
              <a:defRPr/>
            </a:pPr>
            <a:r>
              <a:rPr kumimoji="1" lang="en-US" altLang="zh-CN" sz="1800" b="0" i="0" u="none" strike="noStrike" kern="0" cap="none" spc="0" normalizeH="0" baseline="0" noProof="0" dirty="0" smtClean="0">
                <a:ln>
                  <a:noFill/>
                </a:ln>
                <a:solidFill>
                  <a:schemeClr val="tx1"/>
                </a:solidFill>
                <a:effectLst/>
                <a:uLnTx/>
                <a:uFillTx/>
                <a:latin typeface="+mn-lt"/>
                <a:ea typeface="+mn-ea"/>
              </a:rPr>
              <a:t>ALU</a:t>
            </a:r>
            <a:endParaRPr kumimoji="1" lang="en-US" altLang="zh-CN" sz="1800"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Char char="¨"/>
              <a:defRPr/>
            </a:pPr>
            <a:r>
              <a:rPr kumimoji="1" lang="zh-CN" altLang="en-US" sz="1800" b="0" i="0" u="none" strike="noStrike" kern="0" cap="none" spc="0" normalizeH="0" baseline="0" noProof="0" dirty="0" smtClean="0">
                <a:ln>
                  <a:noFill/>
                </a:ln>
                <a:solidFill>
                  <a:schemeClr val="tx1"/>
                </a:solidFill>
                <a:effectLst/>
                <a:uLnTx/>
                <a:uFillTx/>
                <a:latin typeface="+mn-lt"/>
                <a:ea typeface="+mn-ea"/>
              </a:rPr>
              <a:t>通用寄存器</a:t>
            </a:r>
            <a:endParaRPr kumimoji="1" lang="zh-CN" altLang="en-US" sz="1800"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Char char="¨"/>
              <a:defRPr/>
            </a:pPr>
            <a:r>
              <a:rPr kumimoji="1" lang="zh-CN" altLang="en-US" sz="1800" b="0" i="0" u="none" strike="noStrike" kern="0" cap="none" spc="0" normalizeH="0" baseline="0" noProof="0" dirty="0" smtClean="0">
                <a:ln>
                  <a:noFill/>
                </a:ln>
                <a:solidFill>
                  <a:schemeClr val="tx1"/>
                </a:solidFill>
                <a:effectLst/>
                <a:uLnTx/>
                <a:uFillTx/>
                <a:latin typeface="+mn-lt"/>
                <a:ea typeface="+mn-ea"/>
              </a:rPr>
              <a:t>暂存器</a:t>
            </a:r>
            <a:endParaRPr kumimoji="1" lang="en-US" altLang="zh-CN" sz="1800"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Char char="¨"/>
              <a:defRPr/>
            </a:pPr>
            <a:r>
              <a:rPr kumimoji="1" lang="zh-CN" altLang="en-US" sz="1800" b="0" i="0" u="none" strike="noStrike" kern="0" cap="none" spc="0" normalizeH="0" baseline="0" noProof="0" dirty="0" smtClean="0">
                <a:ln>
                  <a:noFill/>
                </a:ln>
                <a:solidFill>
                  <a:schemeClr val="tx1"/>
                </a:solidFill>
                <a:effectLst/>
                <a:uLnTx/>
                <a:uFillTx/>
                <a:latin typeface="+mn-lt"/>
                <a:ea typeface="+mn-ea"/>
              </a:rPr>
              <a:t>状态条件寄存器</a:t>
            </a:r>
            <a:r>
              <a:rPr kumimoji="1" lang="en-US" altLang="zh-CN" sz="1800" b="0" i="0" u="none" strike="noStrike" kern="0" cap="none" spc="0" normalizeH="0" baseline="0" noProof="0" dirty="0" smtClean="0">
                <a:ln>
                  <a:noFill/>
                </a:ln>
                <a:solidFill>
                  <a:schemeClr val="tx1"/>
                </a:solidFill>
                <a:effectLst/>
                <a:uLnTx/>
                <a:uFillTx/>
                <a:latin typeface="+mn-lt"/>
                <a:ea typeface="+mn-ea"/>
              </a:rPr>
              <a:t>PSW</a:t>
            </a:r>
            <a:endParaRPr kumimoji="1" lang="en-US" altLang="zh-CN" sz="2000" b="0"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None/>
              <a:defRPr/>
            </a:pPr>
            <a:r>
              <a:rPr kumimoji="1" lang="zh-CN" altLang="en-US" sz="2400" b="0" i="0" u="none" strike="noStrike" kern="0" cap="none" spc="0" normalizeH="0" baseline="0" noProof="0" dirty="0" smtClean="0">
                <a:ln>
                  <a:noFill/>
                </a:ln>
                <a:solidFill>
                  <a:srgbClr val="FF0000"/>
                </a:solidFill>
                <a:effectLst/>
                <a:uLnTx/>
                <a:uFillTx/>
                <a:latin typeface="+mn-lt"/>
                <a:ea typeface="+mn-ea"/>
              </a:rPr>
              <a:t>运算器接受控制器的命令而进行动作，即运算器所进行的全部操作都是由控制器发出的控制信号来指挥的。</a:t>
            </a:r>
            <a:endParaRPr kumimoji="1" lang="en-US" altLang="zh-CN" sz="1800"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Char char="¨"/>
              <a:defRPr/>
            </a:pPr>
            <a:endParaRPr kumimoji="1" lang="zh-CN" altLang="en-US" sz="1800" b="0" i="0" u="none" strike="noStrike" kern="0" cap="none" spc="0" normalizeH="0" baseline="0" noProof="0" dirty="0" smtClean="0">
              <a:ln>
                <a:noFill/>
              </a:ln>
              <a:solidFill>
                <a:schemeClr val="tx1"/>
              </a:solidFill>
              <a:effectLst/>
              <a:uLnTx/>
              <a:uFillTx/>
              <a:latin typeface="+mn-lt"/>
              <a:ea typeface="+mn-ea"/>
            </a:endParaRPr>
          </a:p>
          <a:p>
            <a:pPr marL="342900" marR="0" lvl="0" indent="-342900" algn="l"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None/>
              <a:defRPr/>
            </a:pPr>
            <a:r>
              <a:rPr kumimoji="1" lang="zh-CN" altLang="en-US" sz="26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a:t>
            </a:r>
            <a:r>
              <a:rPr kumimoji="1" lang="en-US" altLang="zh-CN" sz="26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3</a:t>
            </a:r>
            <a:r>
              <a:rPr kumimoji="1" lang="zh-CN" altLang="en-US" sz="26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）控制器</a:t>
            </a:r>
            <a:endParaRPr kumimoji="1" lang="zh-CN" altLang="en-US" sz="26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0" cap="none" spc="0" normalizeH="0" baseline="0" noProof="0" dirty="0" smtClean="0">
                <a:ln>
                  <a:noFill/>
                </a:ln>
                <a:solidFill>
                  <a:schemeClr val="tx1"/>
                </a:solidFill>
                <a:effectLst/>
                <a:uLnTx/>
                <a:uFillTx/>
                <a:latin typeface="+mn-lt"/>
                <a:ea typeface="+mn-ea"/>
              </a:rPr>
              <a:t>   </a:t>
            </a:r>
            <a:r>
              <a:rPr kumimoji="1" lang="zh-CN" altLang="en-US" sz="2000" b="1" i="0" u="none" strike="noStrike" kern="0" cap="none" spc="0" normalizeH="0" baseline="0" noProof="0" dirty="0" smtClean="0">
                <a:ln>
                  <a:noFill/>
                </a:ln>
                <a:solidFill>
                  <a:schemeClr val="tx1"/>
                </a:solidFill>
                <a:effectLst/>
                <a:uLnTx/>
                <a:uFillTx/>
                <a:latin typeface="+mn-lt"/>
                <a:ea typeface="+mn-ea"/>
              </a:rPr>
              <a:t>它是发布命令 “决策机构”，即完成协调和指挥整个计算机系统的操作。主要功能：</a:t>
            </a:r>
            <a:endParaRPr kumimoji="1" lang="en-US" altLang="zh-CN" sz="20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None/>
              <a:defRPr/>
            </a:pPr>
            <a:r>
              <a:rPr kumimoji="1" lang="en-US" altLang="zh-CN" sz="2000" b="0" i="0" u="none" strike="noStrike" kern="0" cap="none" spc="0" normalizeH="0" baseline="0" noProof="0" dirty="0" smtClean="0">
                <a:ln>
                  <a:noFill/>
                </a:ln>
                <a:solidFill>
                  <a:srgbClr val="FF3300"/>
                </a:solidFill>
                <a:effectLst/>
                <a:uLnTx/>
                <a:uFillTx/>
                <a:latin typeface="+mn-lt"/>
                <a:ea typeface="+mn-ea"/>
              </a:rPr>
              <a:t>1</a:t>
            </a:r>
            <a:r>
              <a:rPr kumimoji="1" lang="zh-CN" altLang="en-US" sz="2000" b="0" i="0" u="none" strike="noStrike" kern="0" cap="none" spc="0" normalizeH="0" baseline="0" noProof="0" dirty="0" smtClean="0">
                <a:ln>
                  <a:noFill/>
                </a:ln>
                <a:solidFill>
                  <a:srgbClr val="FF3300"/>
                </a:solidFill>
                <a:effectLst/>
                <a:uLnTx/>
                <a:uFillTx/>
                <a:latin typeface="+mn-lt"/>
                <a:ea typeface="+mn-ea"/>
              </a:rPr>
              <a:t>）从指令</a:t>
            </a:r>
            <a:r>
              <a:rPr kumimoji="1" lang="en-US" altLang="zh-CN" sz="2000" b="0" i="0" u="none" strike="noStrike" kern="0" cap="none" spc="0" normalizeH="0" baseline="0" noProof="0" dirty="0" smtClean="0">
                <a:ln>
                  <a:noFill/>
                </a:ln>
                <a:solidFill>
                  <a:srgbClr val="FF3300"/>
                </a:solidFill>
                <a:effectLst/>
                <a:uLnTx/>
                <a:uFillTx/>
                <a:latin typeface="+mn-lt"/>
                <a:ea typeface="+mn-ea"/>
              </a:rPr>
              <a:t>cache</a:t>
            </a:r>
            <a:r>
              <a:rPr kumimoji="1" lang="zh-CN" altLang="en-US" sz="2000" b="0" i="0" u="none" strike="noStrike" kern="0" cap="none" spc="0" normalizeH="0" baseline="0" noProof="0" dirty="0" smtClean="0">
                <a:ln>
                  <a:noFill/>
                </a:ln>
                <a:solidFill>
                  <a:srgbClr val="FF3300"/>
                </a:solidFill>
                <a:effectLst/>
                <a:uLnTx/>
                <a:uFillTx/>
                <a:latin typeface="+mn-lt"/>
                <a:ea typeface="+mn-ea"/>
              </a:rPr>
              <a:t>中取出一条指令，并指出一下条的位置</a:t>
            </a:r>
            <a:endParaRPr kumimoji="1" lang="en-US" altLang="zh-CN" sz="2000" b="0" i="0" u="none" strike="noStrike" kern="0" cap="none" spc="0" normalizeH="0" baseline="0" noProof="0" dirty="0" smtClean="0">
              <a:ln>
                <a:noFill/>
              </a:ln>
              <a:solidFill>
                <a:srgbClr val="FF3300"/>
              </a:solidFill>
              <a:effectLst/>
              <a:uLnTx/>
              <a:uFillTx/>
              <a:latin typeface="+mn-lt"/>
              <a:ea typeface="+mn-ea"/>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None/>
              <a:defRPr/>
            </a:pPr>
            <a:r>
              <a:rPr kumimoji="1" lang="en-US" altLang="zh-CN" sz="2000" b="0" i="0" u="none" strike="noStrike" kern="0" cap="none" spc="0" normalizeH="0" baseline="0" noProof="0" dirty="0" smtClean="0">
                <a:ln>
                  <a:noFill/>
                </a:ln>
                <a:solidFill>
                  <a:srgbClr val="FF3300"/>
                </a:solidFill>
                <a:effectLst/>
                <a:uLnTx/>
                <a:uFillTx/>
                <a:latin typeface="+mn-lt"/>
                <a:ea typeface="+mn-ea"/>
              </a:rPr>
              <a:t>2</a:t>
            </a:r>
            <a:r>
              <a:rPr kumimoji="1" lang="zh-CN" altLang="en-US" sz="2000" b="0" i="0" u="none" strike="noStrike" kern="0" cap="none" spc="0" normalizeH="0" baseline="0" noProof="0" dirty="0" smtClean="0">
                <a:ln>
                  <a:noFill/>
                </a:ln>
                <a:solidFill>
                  <a:srgbClr val="FF3300"/>
                </a:solidFill>
                <a:effectLst/>
                <a:uLnTx/>
                <a:uFillTx/>
                <a:latin typeface="+mn-lt"/>
                <a:ea typeface="+mn-ea"/>
              </a:rPr>
              <a:t>）对指令进行译码或测试，启动相应动作，如：算术逻辑运算，数据</a:t>
            </a:r>
            <a:r>
              <a:rPr kumimoji="1" lang="en-US" altLang="zh-CN" sz="2000" b="0" i="0" u="none" strike="noStrike" kern="0" cap="none" spc="0" normalizeH="0" baseline="0" noProof="0" dirty="0" smtClean="0">
                <a:ln>
                  <a:noFill/>
                </a:ln>
                <a:solidFill>
                  <a:srgbClr val="FF3300"/>
                </a:solidFill>
                <a:effectLst/>
                <a:uLnTx/>
                <a:uFillTx/>
                <a:latin typeface="+mn-lt"/>
                <a:ea typeface="+mn-ea"/>
              </a:rPr>
              <a:t>cache</a:t>
            </a:r>
            <a:r>
              <a:rPr kumimoji="1" lang="zh-CN" altLang="en-US" sz="2000" b="0" i="0" u="none" strike="noStrike" kern="0" cap="none" spc="0" normalizeH="0" baseline="0" noProof="0" dirty="0" smtClean="0">
                <a:ln>
                  <a:noFill/>
                </a:ln>
                <a:solidFill>
                  <a:srgbClr val="FF3300"/>
                </a:solidFill>
                <a:effectLst/>
                <a:uLnTx/>
                <a:uFillTx/>
                <a:latin typeface="+mn-lt"/>
                <a:ea typeface="+mn-ea"/>
              </a:rPr>
              <a:t>读写操作。</a:t>
            </a:r>
            <a:endParaRPr kumimoji="1" lang="en-US" altLang="zh-CN" sz="2000" b="0" i="0" u="none" strike="noStrike" kern="0" cap="none" spc="0" normalizeH="0" baseline="0" noProof="0" dirty="0" smtClean="0">
              <a:ln>
                <a:noFill/>
              </a:ln>
              <a:solidFill>
                <a:srgbClr val="FF3300"/>
              </a:solidFill>
              <a:effectLst/>
              <a:uLnTx/>
              <a:uFillTx/>
              <a:latin typeface="+mn-lt"/>
              <a:ea typeface="+mn-ea"/>
            </a:endParaRPr>
          </a:p>
          <a:p>
            <a:pPr marL="742950" marR="0" lvl="1" indent="-285750" algn="l" defTabSz="914400" rtl="0" eaLnBrk="0" fontAlgn="base" latinLnBrk="0" hangingPunct="0">
              <a:lnSpc>
                <a:spcPct val="80000"/>
              </a:lnSpc>
              <a:spcBef>
                <a:spcPct val="20000"/>
              </a:spcBef>
              <a:spcAft>
                <a:spcPct val="0"/>
              </a:spcAft>
              <a:buClr>
                <a:schemeClr val="accent2"/>
              </a:buClr>
              <a:buSzPct val="80000"/>
              <a:buFont typeface="Wingdings" panose="05000000000000000000" pitchFamily="2" charset="2"/>
              <a:buNone/>
              <a:defRPr/>
            </a:pPr>
            <a:r>
              <a:rPr kumimoji="1" lang="en-US" altLang="zh-CN" sz="2000" b="0" i="0" u="none" strike="noStrike" kern="0" cap="none" spc="0" normalizeH="0" baseline="0" noProof="0" dirty="0" smtClean="0">
                <a:ln>
                  <a:noFill/>
                </a:ln>
                <a:solidFill>
                  <a:srgbClr val="FF3300"/>
                </a:solidFill>
                <a:effectLst/>
                <a:uLnTx/>
                <a:uFillTx/>
                <a:latin typeface="+mn-lt"/>
                <a:ea typeface="+mn-ea"/>
              </a:rPr>
              <a:t>3</a:t>
            </a:r>
            <a:r>
              <a:rPr kumimoji="1" lang="zh-CN" altLang="en-US" sz="2000" b="0" i="0" u="none" strike="noStrike" kern="0" cap="none" spc="0" normalizeH="0" baseline="0" noProof="0" dirty="0" smtClean="0">
                <a:ln>
                  <a:noFill/>
                </a:ln>
                <a:solidFill>
                  <a:srgbClr val="FF3300"/>
                </a:solidFill>
                <a:effectLst/>
                <a:uLnTx/>
                <a:uFillTx/>
                <a:latin typeface="+mn-lt"/>
                <a:ea typeface="+mn-ea"/>
              </a:rPr>
              <a:t>） 指挥并控制</a:t>
            </a:r>
            <a:r>
              <a:rPr kumimoji="1" lang="en-US" altLang="zh-CN" sz="2000" b="0" i="0" u="none" strike="noStrike" kern="0" cap="none" spc="0" normalizeH="0" baseline="0" noProof="0" dirty="0" smtClean="0">
                <a:ln>
                  <a:noFill/>
                </a:ln>
                <a:solidFill>
                  <a:srgbClr val="FF3300"/>
                </a:solidFill>
                <a:effectLst/>
                <a:uLnTx/>
                <a:uFillTx/>
                <a:latin typeface="+mn-lt"/>
                <a:ea typeface="+mn-ea"/>
              </a:rPr>
              <a:t>CPU,</a:t>
            </a:r>
            <a:r>
              <a:rPr kumimoji="1" lang="zh-CN" altLang="en-US" sz="2000" b="0" i="0" u="none" strike="noStrike" kern="0" cap="none" spc="0" normalizeH="0" baseline="0" noProof="0" dirty="0" smtClean="0">
                <a:ln>
                  <a:noFill/>
                </a:ln>
                <a:solidFill>
                  <a:srgbClr val="FF3300"/>
                </a:solidFill>
                <a:effectLst/>
                <a:uLnTx/>
                <a:uFillTx/>
                <a:latin typeface="+mn-lt"/>
                <a:ea typeface="+mn-ea"/>
              </a:rPr>
              <a:t>数据</a:t>
            </a:r>
            <a:r>
              <a:rPr kumimoji="1" lang="en-US" altLang="zh-CN" sz="2000" b="0" i="0" u="none" strike="noStrike" kern="0" cap="none" spc="0" normalizeH="0" baseline="0" noProof="0" dirty="0" smtClean="0">
                <a:ln>
                  <a:noFill/>
                </a:ln>
                <a:solidFill>
                  <a:srgbClr val="FF3300"/>
                </a:solidFill>
                <a:effectLst/>
                <a:uLnTx/>
                <a:uFillTx/>
                <a:latin typeface="+mn-lt"/>
                <a:ea typeface="+mn-ea"/>
              </a:rPr>
              <a:t>CACHE</a:t>
            </a:r>
            <a:r>
              <a:rPr kumimoji="1" lang="zh-CN" altLang="en-US" sz="2000" b="0" i="0" u="none" strike="noStrike" kern="0" cap="none" spc="0" normalizeH="0" baseline="0" noProof="0" dirty="0" smtClean="0">
                <a:ln>
                  <a:noFill/>
                </a:ln>
                <a:solidFill>
                  <a:srgbClr val="FF3300"/>
                </a:solidFill>
                <a:effectLst/>
                <a:uLnTx/>
                <a:uFillTx/>
                <a:latin typeface="+mn-lt"/>
                <a:ea typeface="+mn-ea"/>
              </a:rPr>
              <a:t>和输入输出设备之间的数据流动。</a:t>
            </a:r>
            <a:endParaRPr kumimoji="1" lang="en-US" altLang="zh-CN" sz="2000" b="0" i="0" u="none" strike="noStrike" kern="0" cap="none" spc="0" normalizeH="0" baseline="0" noProof="0" dirty="0" smtClean="0">
              <a:ln>
                <a:noFill/>
              </a:ln>
              <a:solidFill>
                <a:srgbClr val="FF3300"/>
              </a:solidFill>
              <a:effectLst/>
              <a:uLnTx/>
              <a:uFillTx/>
              <a:latin typeface="+mn-lt"/>
              <a:ea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467360" y="188595"/>
            <a:ext cx="8229600" cy="1371600"/>
          </a:xfrm>
        </p:spPr>
        <p:txBody>
          <a:bodyPr/>
          <a:lstStyle/>
          <a:p>
            <a:pPr eaLnBrk="1" hangingPunct="1"/>
            <a:r>
              <a:rPr lang="en-US" altLang="zh-CN"/>
              <a:t>CPU</a:t>
            </a:r>
            <a:r>
              <a:rPr lang="zh-CN" altLang="en-US"/>
              <a:t>的基本组成（</a:t>
            </a:r>
            <a:r>
              <a:rPr lang="en-US" altLang="zh-CN"/>
              <a:t>1</a:t>
            </a:r>
            <a:r>
              <a:rPr lang="zh-CN" altLang="en-US"/>
              <a:t>）</a:t>
            </a:r>
            <a:endParaRPr lang="zh-CN" altLang="en-US"/>
          </a:p>
        </p:txBody>
      </p:sp>
      <p:sp>
        <p:nvSpPr>
          <p:cNvPr id="24578" name="Rectangle 3"/>
          <p:cNvSpPr>
            <a:spLocks noGrp="1" noChangeArrowheads="1"/>
          </p:cNvSpPr>
          <p:nvPr>
            <p:ph idx="1"/>
          </p:nvPr>
        </p:nvSpPr>
        <p:spPr>
          <a:xfrm>
            <a:off x="467360" y="1412875"/>
            <a:ext cx="8229600" cy="3886200"/>
          </a:xfrm>
        </p:spPr>
        <p:txBody>
          <a:bodyPr/>
          <a:lstStyle/>
          <a:p>
            <a:pPr eaLnBrk="1" hangingPunct="1"/>
            <a:r>
              <a:rPr lang="zh-CN" altLang="en-US"/>
              <a:t>控制器 </a:t>
            </a:r>
            <a:endParaRPr lang="zh-CN" altLang="en-US"/>
          </a:p>
          <a:p>
            <a:pPr lvl="1" eaLnBrk="1" hangingPunct="1"/>
            <a:r>
              <a:rPr lang="zh-CN" altLang="en-US"/>
              <a:t>由程序计数器、指令寄存器、指令译码器、操作控制器和时序产生器组成</a:t>
            </a:r>
            <a:endParaRPr lang="zh-CN" altLang="en-US"/>
          </a:p>
          <a:p>
            <a:pPr lvl="1" eaLnBrk="1" hangingPunct="1"/>
            <a:r>
              <a:rPr lang="zh-CN" altLang="en-US"/>
              <a:t>完成指挥和协调整个计算机系统的操作</a:t>
            </a:r>
            <a:endParaRPr lang="zh-CN" altLang="en-US"/>
          </a:p>
          <a:p>
            <a:pPr lvl="1" eaLnBrk="1" hangingPunct="1"/>
            <a:r>
              <a:rPr lang="zh-CN" altLang="en-US"/>
              <a:t>主要功能</a:t>
            </a:r>
            <a:endParaRPr lang="zh-CN" altLang="en-US"/>
          </a:p>
          <a:p>
            <a:pPr lvl="2" eaLnBrk="1" hangingPunct="1"/>
            <a:r>
              <a:rPr lang="zh-CN" altLang="en-US"/>
              <a:t>从指令</a:t>
            </a:r>
            <a:r>
              <a:rPr lang="en-US" altLang="zh-CN"/>
              <a:t>cache</a:t>
            </a:r>
            <a:r>
              <a:rPr lang="zh-CN" altLang="en-US"/>
              <a:t>中取出一条指令，并指出下一条指令在指令</a:t>
            </a:r>
            <a:r>
              <a:rPr lang="en-US" altLang="zh-CN"/>
              <a:t>cache</a:t>
            </a:r>
            <a:r>
              <a:rPr lang="zh-CN" altLang="en-US"/>
              <a:t>中的位置</a:t>
            </a:r>
            <a:endParaRPr lang="zh-CN" altLang="en-US"/>
          </a:p>
          <a:p>
            <a:pPr lvl="2" eaLnBrk="1" hangingPunct="1"/>
            <a:r>
              <a:rPr lang="zh-CN" altLang="en-US"/>
              <a:t>对指令进行译码或测试，产生相应的操作控制信号，以便启动规定的动作</a:t>
            </a:r>
            <a:endParaRPr lang="zh-CN" altLang="en-US"/>
          </a:p>
          <a:p>
            <a:pPr lvl="2" eaLnBrk="1" hangingPunct="1"/>
            <a:r>
              <a:rPr lang="zh-CN" altLang="en-US"/>
              <a:t>指挥并控制</a:t>
            </a:r>
            <a:r>
              <a:rPr lang="en-US" altLang="zh-CN"/>
              <a:t>CPU</a:t>
            </a:r>
            <a:r>
              <a:rPr lang="zh-CN" altLang="en-US"/>
              <a:t>、内存和输入</a:t>
            </a:r>
            <a:r>
              <a:rPr lang="en-US" altLang="zh-CN"/>
              <a:t>/</a:t>
            </a:r>
            <a:r>
              <a:rPr lang="zh-CN" altLang="en-US"/>
              <a:t>输出设备之间数据流动的方向</a:t>
            </a:r>
            <a:endParaRPr lang="zh-CN" altLang="en-US"/>
          </a:p>
        </p:txBody>
      </p:sp>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en-US" altLang="zh-CN"/>
              <a:t>CPU</a:t>
            </a:r>
            <a:r>
              <a:rPr lang="zh-CN" altLang="en-US"/>
              <a:t>的基本组成（</a:t>
            </a:r>
            <a:r>
              <a:rPr lang="en-US" altLang="zh-CN"/>
              <a:t>2</a:t>
            </a:r>
            <a:r>
              <a:rPr lang="zh-CN" altLang="en-US"/>
              <a:t>）</a:t>
            </a:r>
            <a:endParaRPr lang="en-US" altLang="zh-CN"/>
          </a:p>
        </p:txBody>
      </p:sp>
      <p:sp>
        <p:nvSpPr>
          <p:cNvPr id="25602" name="Rectangle 3"/>
          <p:cNvSpPr>
            <a:spLocks noGrp="1" noChangeArrowheads="1"/>
          </p:cNvSpPr>
          <p:nvPr>
            <p:ph idx="1"/>
          </p:nvPr>
        </p:nvSpPr>
        <p:spPr/>
        <p:txBody>
          <a:bodyPr/>
          <a:lstStyle/>
          <a:p>
            <a:pPr eaLnBrk="1" hangingPunct="1"/>
            <a:r>
              <a:rPr lang="zh-CN" altLang="en-US" dirty="0"/>
              <a:t>运算器</a:t>
            </a:r>
            <a:endParaRPr lang="zh-CN" altLang="en-US" dirty="0"/>
          </a:p>
          <a:p>
            <a:pPr lvl="1" eaLnBrk="1" hangingPunct="1"/>
            <a:r>
              <a:rPr lang="zh-CN" altLang="en-US" dirty="0"/>
              <a:t>由算术逻辑单元</a:t>
            </a:r>
            <a:r>
              <a:rPr lang="en-US" altLang="zh-CN" dirty="0"/>
              <a:t>(ALU)</a:t>
            </a:r>
            <a:r>
              <a:rPr lang="zh-CN" altLang="en-US" dirty="0"/>
              <a:t>、累加寄存器、数据缓冲寄存器</a:t>
            </a:r>
            <a:r>
              <a:rPr lang="en-US" altLang="zh-CN" dirty="0"/>
              <a:t>DR</a:t>
            </a:r>
            <a:r>
              <a:rPr lang="zh-CN" altLang="en-US" dirty="0"/>
              <a:t>和状态条件寄存器</a:t>
            </a:r>
            <a:r>
              <a:rPr lang="en-US" altLang="zh-CN" dirty="0"/>
              <a:t>PSW</a:t>
            </a:r>
            <a:r>
              <a:rPr lang="zh-CN" altLang="en-US" dirty="0"/>
              <a:t>组成</a:t>
            </a:r>
            <a:endParaRPr lang="zh-CN" altLang="en-US" dirty="0"/>
          </a:p>
          <a:p>
            <a:pPr lvl="1" eaLnBrk="1" hangingPunct="1"/>
            <a:r>
              <a:rPr lang="zh-CN" altLang="en-US" dirty="0"/>
              <a:t>是数据加工处理部件。运算器接受控制器的命令而进行动作 ，它是执行部件</a:t>
            </a:r>
            <a:endParaRPr lang="zh-CN" altLang="en-US" dirty="0"/>
          </a:p>
          <a:p>
            <a:pPr lvl="1" eaLnBrk="1" hangingPunct="1"/>
            <a:r>
              <a:rPr lang="zh-CN" altLang="en-US" dirty="0"/>
              <a:t>主要功能</a:t>
            </a:r>
            <a:endParaRPr lang="zh-CN" altLang="en-US" dirty="0"/>
          </a:p>
          <a:p>
            <a:pPr lvl="2" eaLnBrk="1" hangingPunct="1"/>
            <a:r>
              <a:rPr lang="zh-CN" altLang="en-US" dirty="0"/>
              <a:t>执行所有的算术运算</a:t>
            </a:r>
            <a:endParaRPr lang="zh-CN" altLang="en-US" dirty="0"/>
          </a:p>
          <a:p>
            <a:pPr lvl="2" eaLnBrk="1" hangingPunct="1"/>
            <a:r>
              <a:rPr lang="zh-CN" altLang="en-US" dirty="0"/>
              <a:t>执行所有的逻辑运算，并进行逻辑测试，如零值测试或两个值的比较</a:t>
            </a:r>
            <a:endParaRPr lang="zh-CN" altLang="en-US" dirty="0"/>
          </a:p>
        </p:txBody>
      </p:sp>
    </p:spTree>
  </p:cSld>
  <p:clrMapOvr>
    <a:masterClrMapping/>
  </p:clrMapOvr>
  <p:transition spd="med">
    <p:pull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altLang="en-US"/>
              <a:t>CPU中的主要寄存器</a:t>
            </a:r>
            <a:r>
              <a:rPr lang="en-US" altLang="zh-CN"/>
              <a:t>（1</a:t>
            </a:r>
            <a:r>
              <a:rPr lang="zh-CN" altLang="en-US"/>
              <a:t>）</a:t>
            </a:r>
            <a:endParaRPr lang="zh-CN" altLang="en-US"/>
          </a:p>
        </p:txBody>
      </p:sp>
      <p:sp>
        <p:nvSpPr>
          <p:cNvPr id="26626" name="Rectangle 3"/>
          <p:cNvSpPr>
            <a:spLocks noGrp="1" noChangeArrowheads="1"/>
          </p:cNvSpPr>
          <p:nvPr>
            <p:ph idx="1"/>
          </p:nvPr>
        </p:nvSpPr>
        <p:spPr/>
        <p:txBody>
          <a:bodyPr/>
          <a:lstStyle/>
          <a:p>
            <a:pPr eaLnBrk="1" hangingPunct="1"/>
            <a:r>
              <a:rPr lang="zh-CN" altLang="en-US" dirty="0"/>
              <a:t>数据缓冲寄存器（</a:t>
            </a:r>
            <a:r>
              <a:rPr lang="en-US" altLang="zh-CN" dirty="0"/>
              <a:t>DR</a:t>
            </a:r>
            <a:r>
              <a:rPr lang="zh-CN" altLang="en-US" dirty="0"/>
              <a:t>）</a:t>
            </a:r>
            <a:endParaRPr lang="zh-CN" altLang="en-US" dirty="0"/>
          </a:p>
          <a:p>
            <a:pPr eaLnBrk="1" hangingPunct="1"/>
            <a:r>
              <a:rPr lang="zh-CN" altLang="en-US" dirty="0"/>
              <a:t>指令寄存器（</a:t>
            </a:r>
            <a:r>
              <a:rPr lang="en-US" altLang="zh-CN" dirty="0"/>
              <a:t>IR</a:t>
            </a:r>
            <a:r>
              <a:rPr lang="zh-CN" altLang="en-US" dirty="0"/>
              <a:t>）</a:t>
            </a:r>
            <a:endParaRPr lang="zh-CN" altLang="en-US" dirty="0"/>
          </a:p>
          <a:p>
            <a:pPr eaLnBrk="1" hangingPunct="1"/>
            <a:r>
              <a:rPr lang="zh-CN" altLang="en-US" dirty="0"/>
              <a:t>程序计数器（</a:t>
            </a:r>
            <a:r>
              <a:rPr lang="en-US" altLang="zh-CN" dirty="0"/>
              <a:t>PC</a:t>
            </a:r>
            <a:r>
              <a:rPr lang="zh-CN" altLang="en-US" dirty="0"/>
              <a:t>）</a:t>
            </a:r>
            <a:endParaRPr lang="zh-CN" altLang="en-US" dirty="0"/>
          </a:p>
          <a:p>
            <a:pPr eaLnBrk="1" hangingPunct="1"/>
            <a:r>
              <a:rPr lang="zh-CN" altLang="en-US" dirty="0"/>
              <a:t>地址寄存器（</a:t>
            </a:r>
            <a:r>
              <a:rPr lang="en-US" altLang="zh-CN" dirty="0"/>
              <a:t>AR</a:t>
            </a:r>
            <a:r>
              <a:rPr lang="zh-CN" altLang="en-US" dirty="0"/>
              <a:t>）</a:t>
            </a:r>
            <a:endParaRPr lang="zh-CN" altLang="en-US" dirty="0"/>
          </a:p>
          <a:p>
            <a:pPr eaLnBrk="1" hangingPunct="1"/>
            <a:r>
              <a:rPr lang="zh-CN" altLang="en-US" dirty="0"/>
              <a:t>通用寄存器（</a:t>
            </a:r>
            <a:r>
              <a:rPr lang="en-US" altLang="zh-CN" dirty="0"/>
              <a:t>R0~R3</a:t>
            </a:r>
            <a:r>
              <a:rPr lang="zh-CN" altLang="en-US" dirty="0"/>
              <a:t>）</a:t>
            </a:r>
            <a:endParaRPr lang="zh-CN" altLang="en-US" dirty="0"/>
          </a:p>
          <a:p>
            <a:pPr eaLnBrk="1" hangingPunct="1"/>
            <a:r>
              <a:rPr lang="zh-CN" altLang="en-US" dirty="0"/>
              <a:t>状态条件寄存器（</a:t>
            </a:r>
            <a:r>
              <a:rPr lang="en-US" altLang="zh-CN" dirty="0"/>
              <a:t>PSW</a:t>
            </a:r>
            <a:r>
              <a:rPr lang="zh-CN" altLang="en-US" dirty="0"/>
              <a:t>）</a:t>
            </a:r>
            <a:endParaRPr lang="zh-CN" altLang="en-US" dirty="0"/>
          </a:p>
        </p:txBody>
      </p:sp>
    </p:spTree>
  </p:cSld>
  <p:clrMapOvr>
    <a:masterClrMapping/>
  </p:clrMapOvr>
  <p:transition spd="med">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defRPr/>
            </a:pPr>
            <a:r>
              <a:rPr lang="en-US" altLang="en-US"/>
              <a:t>CPU中的主要寄存器</a:t>
            </a:r>
            <a:r>
              <a:rPr lang="en-US" altLang="zh-CN"/>
              <a:t>（2</a:t>
            </a:r>
            <a:r>
              <a:rPr lang="zh-CN" altLang="en-US"/>
              <a:t>）</a:t>
            </a:r>
            <a:endParaRPr lang="zh-CN" altLang="en-US"/>
          </a:p>
        </p:txBody>
      </p:sp>
      <p:sp>
        <p:nvSpPr>
          <p:cNvPr id="27650" name="Rectangle 3"/>
          <p:cNvSpPr>
            <a:spLocks noGrp="1" noChangeArrowheads="1"/>
          </p:cNvSpPr>
          <p:nvPr>
            <p:ph idx="1"/>
          </p:nvPr>
        </p:nvSpPr>
        <p:spPr>
          <a:xfrm>
            <a:off x="395605" y="1557020"/>
            <a:ext cx="8229600" cy="3886200"/>
          </a:xfrm>
        </p:spPr>
        <p:txBody>
          <a:bodyPr/>
          <a:lstStyle/>
          <a:p>
            <a:pPr eaLnBrk="1" hangingPunct="1"/>
            <a:r>
              <a:rPr lang="zh-CN" altLang="en-US"/>
              <a:t>数据缓冲寄存器（</a:t>
            </a:r>
            <a:r>
              <a:rPr lang="en-US" altLang="zh-CN"/>
              <a:t>DR</a:t>
            </a:r>
            <a:r>
              <a:rPr lang="zh-CN" altLang="en-US"/>
              <a:t>）</a:t>
            </a:r>
            <a:endParaRPr lang="zh-CN" altLang="en-US"/>
          </a:p>
          <a:p>
            <a:pPr lvl="1" eaLnBrk="1" hangingPunct="1"/>
            <a:r>
              <a:rPr lang="zh-CN" altLang="en-US"/>
              <a:t>用来暂时存放从数据</a:t>
            </a:r>
            <a:r>
              <a:rPr lang="en-US" altLang="zh-CN"/>
              <a:t>cache</a:t>
            </a:r>
            <a:r>
              <a:rPr lang="zh-CN" altLang="en-US"/>
              <a:t>读出的一个数据字，或来自外部接口的一个数据字，或</a:t>
            </a:r>
            <a:r>
              <a:rPr lang="en-US" altLang="zh-CN"/>
              <a:t>ALU</a:t>
            </a:r>
            <a:r>
              <a:rPr lang="zh-CN" altLang="en-US"/>
              <a:t>的运算结果</a:t>
            </a:r>
            <a:endParaRPr lang="zh-CN" altLang="en-US"/>
          </a:p>
          <a:p>
            <a:pPr lvl="1" eaLnBrk="1" hangingPunct="1"/>
            <a:r>
              <a:rPr lang="zh-CN" altLang="en-US"/>
              <a:t>向数据</a:t>
            </a:r>
            <a:r>
              <a:rPr lang="en-US" altLang="zh-CN"/>
              <a:t>cache</a:t>
            </a:r>
            <a:r>
              <a:rPr lang="zh-CN" altLang="en-US"/>
              <a:t>写入一个数据时，也是用</a:t>
            </a:r>
            <a:r>
              <a:rPr lang="en-US" altLang="zh-CN"/>
              <a:t>DR</a:t>
            </a:r>
            <a:r>
              <a:rPr lang="zh-CN" altLang="en-US"/>
              <a:t>暂存的</a:t>
            </a:r>
            <a:endParaRPr lang="zh-CN" altLang="en-US"/>
          </a:p>
          <a:p>
            <a:pPr lvl="1" eaLnBrk="1" hangingPunct="1"/>
            <a:r>
              <a:rPr lang="zh-CN" altLang="en-US"/>
              <a:t>作用</a:t>
            </a:r>
            <a:endParaRPr lang="zh-CN" altLang="en-US"/>
          </a:p>
          <a:p>
            <a:pPr lvl="2" eaLnBrk="1" hangingPunct="1"/>
            <a:r>
              <a:rPr lang="zh-CN" altLang="en-US"/>
              <a:t>作为</a:t>
            </a:r>
            <a:r>
              <a:rPr lang="en-US" altLang="zh-CN"/>
              <a:t>ALU</a:t>
            </a:r>
            <a:r>
              <a:rPr lang="zh-CN" altLang="en-US"/>
              <a:t>运算结果和通用寄存器之间信息传送中时间上的缓冲</a:t>
            </a:r>
            <a:endParaRPr lang="en-US" altLang="zh-CN"/>
          </a:p>
          <a:p>
            <a:pPr lvl="2" eaLnBrk="1" hangingPunct="1"/>
            <a:r>
              <a:rPr lang="zh-CN" altLang="en-US"/>
              <a:t>补偿</a:t>
            </a:r>
            <a:r>
              <a:rPr lang="en-US" altLang="zh-CN"/>
              <a:t>CPU</a:t>
            </a:r>
            <a:r>
              <a:rPr lang="zh-CN" altLang="en-US"/>
              <a:t>和内存、外设之间在操作速度上的差别</a:t>
            </a:r>
            <a:endParaRPr lang="zh-CN" altLang="en-US"/>
          </a:p>
        </p:txBody>
      </p:sp>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eaLnBrk="1" hangingPunct="1">
              <a:defRPr/>
            </a:pPr>
            <a:r>
              <a:rPr lang="en-US" altLang="en-US"/>
              <a:t>CPU中的主要寄存器</a:t>
            </a:r>
            <a:r>
              <a:rPr lang="en-US" altLang="zh-CN"/>
              <a:t>（3</a:t>
            </a:r>
            <a:r>
              <a:rPr lang="zh-CN" altLang="en-US"/>
              <a:t>）</a:t>
            </a:r>
            <a:endParaRPr lang="zh-CN" altLang="en-US"/>
          </a:p>
        </p:txBody>
      </p:sp>
      <p:sp>
        <p:nvSpPr>
          <p:cNvPr id="28674" name="Rectangle 3"/>
          <p:cNvSpPr>
            <a:spLocks noGrp="1" noChangeArrowheads="1"/>
          </p:cNvSpPr>
          <p:nvPr>
            <p:ph idx="1"/>
          </p:nvPr>
        </p:nvSpPr>
        <p:spPr/>
        <p:txBody>
          <a:bodyPr/>
          <a:lstStyle/>
          <a:p>
            <a:pPr eaLnBrk="1" hangingPunct="1">
              <a:lnSpc>
                <a:spcPct val="90000"/>
              </a:lnSpc>
            </a:pPr>
            <a:r>
              <a:rPr lang="zh-CN" altLang="en-US"/>
              <a:t>指令寄存器（</a:t>
            </a:r>
            <a:r>
              <a:rPr lang="en-US" altLang="zh-CN"/>
              <a:t>IR</a:t>
            </a:r>
            <a:r>
              <a:rPr lang="zh-CN" altLang="en-US"/>
              <a:t>）</a:t>
            </a:r>
            <a:endParaRPr lang="zh-CN" altLang="en-US"/>
          </a:p>
          <a:p>
            <a:pPr lvl="1" eaLnBrk="1" hangingPunct="1">
              <a:lnSpc>
                <a:spcPct val="90000"/>
              </a:lnSpc>
            </a:pPr>
            <a:r>
              <a:rPr lang="zh-CN" altLang="en-US"/>
              <a:t>用来保存当前正在执行的一条指令</a:t>
            </a:r>
            <a:endParaRPr lang="zh-CN" altLang="en-US"/>
          </a:p>
          <a:p>
            <a:pPr lvl="1" eaLnBrk="1" hangingPunct="1">
              <a:lnSpc>
                <a:spcPct val="90000"/>
              </a:lnSpc>
            </a:pPr>
            <a:r>
              <a:rPr lang="zh-CN" altLang="en-US"/>
              <a:t>指令寄存器中操作码字段的输出就是指令译码器的输入</a:t>
            </a:r>
            <a:endParaRPr lang="en-US" altLang="zh-CN"/>
          </a:p>
          <a:p>
            <a:pPr lvl="1" eaLnBrk="1" hangingPunct="1">
              <a:lnSpc>
                <a:spcPct val="90000"/>
              </a:lnSpc>
            </a:pPr>
            <a:r>
              <a:rPr lang="zh-CN" altLang="en-US"/>
              <a:t>操作码经译码器译码后，即可向操作控制器发出特定的操作信号</a:t>
            </a:r>
            <a:endParaRPr lang="zh-CN" altLang="en-US"/>
          </a:p>
        </p:txBody>
      </p:sp>
    </p:spTree>
  </p:cSld>
  <p:clrMapOvr>
    <a:masterClrMapping/>
  </p:clrMapOvr>
  <p:transition spd="med">
    <p:pull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eaLnBrk="1" hangingPunct="1">
              <a:defRPr/>
            </a:pPr>
            <a:r>
              <a:rPr lang="en-US" altLang="en-US"/>
              <a:t>CPU中的主要寄存器</a:t>
            </a:r>
            <a:r>
              <a:rPr lang="en-US" altLang="zh-CN"/>
              <a:t>（4</a:t>
            </a:r>
            <a:r>
              <a:rPr lang="zh-CN" altLang="en-US"/>
              <a:t>）</a:t>
            </a:r>
            <a:endParaRPr lang="zh-CN" altLang="en-US"/>
          </a:p>
        </p:txBody>
      </p:sp>
      <p:sp>
        <p:nvSpPr>
          <p:cNvPr id="29698" name="Rectangle 3"/>
          <p:cNvSpPr>
            <a:spLocks noGrp="1" noChangeArrowheads="1"/>
          </p:cNvSpPr>
          <p:nvPr>
            <p:ph idx="1"/>
          </p:nvPr>
        </p:nvSpPr>
        <p:spPr/>
        <p:txBody>
          <a:bodyPr/>
          <a:lstStyle/>
          <a:p>
            <a:pPr eaLnBrk="1" hangingPunct="1">
              <a:lnSpc>
                <a:spcPct val="90000"/>
              </a:lnSpc>
            </a:pPr>
            <a:r>
              <a:rPr lang="zh-CN" altLang="en-US"/>
              <a:t>程序计数器（</a:t>
            </a:r>
            <a:r>
              <a:rPr lang="en-US" altLang="zh-CN"/>
              <a:t>PC</a:t>
            </a:r>
            <a:r>
              <a:rPr lang="zh-CN" altLang="en-US"/>
              <a:t>）</a:t>
            </a:r>
            <a:endParaRPr lang="zh-CN" altLang="en-US"/>
          </a:p>
          <a:p>
            <a:pPr lvl="1" eaLnBrk="1" hangingPunct="1">
              <a:lnSpc>
                <a:spcPct val="90000"/>
              </a:lnSpc>
            </a:pPr>
            <a:r>
              <a:rPr lang="zh-CN" altLang="en-US"/>
              <a:t>也称为指令计数器，用来确定下一条指令的地址</a:t>
            </a:r>
            <a:endParaRPr lang="zh-CN" altLang="en-US"/>
          </a:p>
          <a:p>
            <a:pPr lvl="1" eaLnBrk="1" hangingPunct="1">
              <a:lnSpc>
                <a:spcPct val="90000"/>
              </a:lnSpc>
            </a:pPr>
            <a:r>
              <a:rPr lang="zh-CN" altLang="en-US"/>
              <a:t>在程序开始执行前，将程序的第一条指令所在的内存单元地址送入</a:t>
            </a:r>
            <a:r>
              <a:rPr lang="en-US" altLang="zh-CN"/>
              <a:t>PC</a:t>
            </a:r>
            <a:endParaRPr lang="en-US" altLang="zh-CN"/>
          </a:p>
          <a:p>
            <a:pPr lvl="1" eaLnBrk="1" hangingPunct="1">
              <a:lnSpc>
                <a:spcPct val="90000"/>
              </a:lnSpc>
            </a:pPr>
            <a:r>
              <a:rPr lang="zh-CN" altLang="en-US"/>
              <a:t>当执行指令时，</a:t>
            </a:r>
            <a:r>
              <a:rPr lang="en-US" altLang="zh-CN"/>
              <a:t>CPU</a:t>
            </a:r>
            <a:r>
              <a:rPr lang="zh-CN" altLang="en-US"/>
              <a:t>将自动修改</a:t>
            </a:r>
            <a:r>
              <a:rPr lang="en-US" altLang="zh-CN"/>
              <a:t>PC</a:t>
            </a:r>
            <a:r>
              <a:rPr lang="zh-CN" altLang="en-US"/>
              <a:t>的内容。</a:t>
            </a:r>
            <a:r>
              <a:rPr lang="en-US" altLang="zh-CN"/>
              <a:t>PC</a:t>
            </a:r>
            <a:r>
              <a:rPr lang="zh-CN" altLang="en-US"/>
              <a:t>的值始终是将要执行的下一条指令地址</a:t>
            </a:r>
            <a:endParaRPr lang="zh-CN" altLang="en-US"/>
          </a:p>
        </p:txBody>
      </p:sp>
    </p:spTree>
  </p:cSld>
  <p:clrMapOvr>
    <a:masterClrMapping/>
  </p:clrMapOvr>
  <p:transition spd="med">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eaLnBrk="1" hangingPunct="1">
              <a:defRPr/>
            </a:pPr>
            <a:r>
              <a:rPr lang="en-US" altLang="en-US"/>
              <a:t>CPU中的主要寄存器</a:t>
            </a:r>
            <a:r>
              <a:rPr lang="en-US" altLang="zh-CN"/>
              <a:t>（5</a:t>
            </a:r>
            <a:r>
              <a:rPr lang="zh-CN" altLang="en-US"/>
              <a:t>）</a:t>
            </a:r>
            <a:endParaRPr lang="zh-CN" altLang="en-US"/>
          </a:p>
        </p:txBody>
      </p:sp>
      <p:sp>
        <p:nvSpPr>
          <p:cNvPr id="30722" name="Rectangle 3"/>
          <p:cNvSpPr>
            <a:spLocks noGrp="1" noChangeArrowheads="1"/>
          </p:cNvSpPr>
          <p:nvPr>
            <p:ph idx="1"/>
          </p:nvPr>
        </p:nvSpPr>
        <p:spPr/>
        <p:txBody>
          <a:bodyPr/>
          <a:lstStyle/>
          <a:p>
            <a:pPr eaLnBrk="1" hangingPunct="1">
              <a:lnSpc>
                <a:spcPct val="90000"/>
              </a:lnSpc>
            </a:pPr>
            <a:r>
              <a:rPr lang="zh-CN" altLang="en-US"/>
              <a:t>地址寄存器（</a:t>
            </a:r>
            <a:r>
              <a:rPr lang="en-US" altLang="zh-CN"/>
              <a:t>AR</a:t>
            </a:r>
            <a:r>
              <a:rPr lang="zh-CN" altLang="en-US"/>
              <a:t>）</a:t>
            </a:r>
            <a:endParaRPr lang="zh-CN" altLang="en-US"/>
          </a:p>
          <a:p>
            <a:pPr lvl="1" eaLnBrk="1" hangingPunct="1">
              <a:lnSpc>
                <a:spcPct val="90000"/>
              </a:lnSpc>
            </a:pPr>
            <a:r>
              <a:rPr lang="zh-CN" altLang="en-US"/>
              <a:t>用来保存当前处理器所访问的数据</a:t>
            </a:r>
            <a:r>
              <a:rPr lang="en-US" altLang="zh-CN"/>
              <a:t>cache</a:t>
            </a:r>
            <a:r>
              <a:rPr lang="zh-CN" altLang="en-US"/>
              <a:t>中单元的地址</a:t>
            </a:r>
            <a:endParaRPr lang="zh-CN" altLang="en-US"/>
          </a:p>
          <a:p>
            <a:pPr lvl="1" eaLnBrk="1" hangingPunct="1">
              <a:lnSpc>
                <a:spcPct val="90000"/>
              </a:lnSpc>
            </a:pPr>
            <a:r>
              <a:rPr lang="zh-CN" altLang="en-US"/>
              <a:t>地址寄存器的结构与数据缓冲寄存器、指令寄存器一样，使用单纯的寄存器结构</a:t>
            </a:r>
            <a:endParaRPr lang="zh-CN" altLang="en-US"/>
          </a:p>
        </p:txBody>
      </p:sp>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eaLnBrk="1" hangingPunct="1">
              <a:defRPr/>
            </a:pPr>
            <a:r>
              <a:rPr lang="en-US" altLang="en-US"/>
              <a:t>CPU中的主要寄存器</a:t>
            </a:r>
            <a:r>
              <a:rPr lang="en-US" altLang="zh-CN"/>
              <a:t>（6</a:t>
            </a:r>
            <a:r>
              <a:rPr lang="zh-CN" altLang="en-US"/>
              <a:t>）</a:t>
            </a:r>
            <a:endParaRPr lang="zh-CN" altLang="en-US"/>
          </a:p>
        </p:txBody>
      </p:sp>
      <p:sp>
        <p:nvSpPr>
          <p:cNvPr id="31746" name="Rectangle 3"/>
          <p:cNvSpPr>
            <a:spLocks noGrp="1" noChangeArrowheads="1"/>
          </p:cNvSpPr>
          <p:nvPr>
            <p:ph idx="1"/>
          </p:nvPr>
        </p:nvSpPr>
        <p:spPr/>
        <p:txBody>
          <a:bodyPr/>
          <a:lstStyle/>
          <a:p>
            <a:pPr eaLnBrk="1" hangingPunct="1"/>
            <a:r>
              <a:rPr lang="zh-CN" altLang="en-US"/>
              <a:t>通用寄存器（</a:t>
            </a:r>
            <a:r>
              <a:rPr lang="en-US" altLang="zh-CN"/>
              <a:t>R0~R3</a:t>
            </a:r>
            <a:r>
              <a:rPr lang="zh-CN" altLang="en-US"/>
              <a:t>）</a:t>
            </a:r>
            <a:endParaRPr lang="zh-CN" altLang="en-US"/>
          </a:p>
          <a:p>
            <a:pPr lvl="1" eaLnBrk="1" hangingPunct="1"/>
            <a:r>
              <a:rPr lang="zh-CN" altLang="en-US"/>
              <a:t>通用寄存器有</a:t>
            </a:r>
            <a:r>
              <a:rPr lang="en-US" altLang="zh-CN"/>
              <a:t>4</a:t>
            </a:r>
            <a:r>
              <a:rPr lang="zh-CN" altLang="en-US"/>
              <a:t>个，</a:t>
            </a:r>
            <a:r>
              <a:rPr lang="en-US" altLang="zh-CN"/>
              <a:t>R0</a:t>
            </a:r>
            <a:r>
              <a:rPr lang="zh-CN" altLang="en-US"/>
              <a:t>、</a:t>
            </a:r>
            <a:r>
              <a:rPr lang="en-US" altLang="zh-CN"/>
              <a:t>R1</a:t>
            </a:r>
            <a:r>
              <a:rPr lang="zh-CN" altLang="en-US"/>
              <a:t>、</a:t>
            </a:r>
            <a:r>
              <a:rPr lang="en-US" altLang="zh-CN"/>
              <a:t>R2</a:t>
            </a:r>
            <a:r>
              <a:rPr lang="zh-CN" altLang="en-US"/>
              <a:t>和</a:t>
            </a:r>
            <a:r>
              <a:rPr lang="en-US" altLang="zh-CN"/>
              <a:t>R3</a:t>
            </a:r>
            <a:endParaRPr lang="zh-CN" altLang="en-US"/>
          </a:p>
          <a:p>
            <a:pPr lvl="1" eaLnBrk="1" hangingPunct="1"/>
            <a:r>
              <a:rPr lang="zh-CN" altLang="en-US"/>
              <a:t>功能</a:t>
            </a:r>
            <a:endParaRPr lang="zh-CN" altLang="en-US"/>
          </a:p>
          <a:p>
            <a:pPr lvl="2" eaLnBrk="1" hangingPunct="1"/>
            <a:r>
              <a:rPr lang="zh-CN" altLang="en-US"/>
              <a:t>当运算器的算术逻辑单元</a:t>
            </a:r>
            <a:r>
              <a:rPr lang="en-US" altLang="zh-CN"/>
              <a:t>(ALU)</a:t>
            </a:r>
            <a:r>
              <a:rPr lang="zh-CN" altLang="en-US"/>
              <a:t>执行算术或逻辑运算时，为</a:t>
            </a:r>
            <a:r>
              <a:rPr lang="en-US" altLang="zh-CN"/>
              <a:t>ALU</a:t>
            </a:r>
            <a:r>
              <a:rPr lang="zh-CN" altLang="en-US"/>
              <a:t>提供一个暂存数据的工作区</a:t>
            </a:r>
            <a:endParaRPr lang="zh-CN" altLang="en-US"/>
          </a:p>
          <a:p>
            <a:pPr lvl="2" eaLnBrk="1" hangingPunct="1"/>
            <a:r>
              <a:rPr lang="zh-CN" altLang="en-US"/>
              <a:t>累加寄存器暂时存放</a:t>
            </a:r>
            <a:r>
              <a:rPr lang="en-US" altLang="zh-CN"/>
              <a:t>ALU</a:t>
            </a:r>
            <a:r>
              <a:rPr lang="zh-CN" altLang="en-US"/>
              <a:t>运算的结果信息</a:t>
            </a:r>
            <a:endParaRPr lang="zh-CN" altLang="en-US"/>
          </a:p>
          <a:p>
            <a:pPr lvl="1" eaLnBrk="1" hangingPunct="1"/>
            <a:r>
              <a:rPr lang="zh-CN" altLang="en-US"/>
              <a:t>处理器不同，通用寄存器数目也不相同。数目可从几十个到几百个。</a:t>
            </a:r>
            <a:endParaRPr lang="zh-CN" altLang="en-US"/>
          </a:p>
        </p:txBody>
      </p:sp>
    </p:spTree>
  </p:cSld>
  <p:clrMapOvr>
    <a:masterClrMapping/>
  </p:clrMapOvr>
  <p:transition spd="med">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pPr eaLnBrk="1" hangingPunct="1">
              <a:defRPr/>
            </a:pPr>
            <a:r>
              <a:rPr lang="en-US" altLang="en-US"/>
              <a:t>CPU中的主要寄存器</a:t>
            </a:r>
            <a:r>
              <a:rPr lang="en-US" altLang="zh-CN"/>
              <a:t>（7</a:t>
            </a:r>
            <a:r>
              <a:rPr lang="zh-CN" altLang="en-US"/>
              <a:t>）</a:t>
            </a:r>
            <a:endParaRPr lang="zh-CN" altLang="en-US"/>
          </a:p>
        </p:txBody>
      </p:sp>
      <p:sp>
        <p:nvSpPr>
          <p:cNvPr id="32770" name="Rectangle 3"/>
          <p:cNvSpPr>
            <a:spLocks noGrp="1" noChangeArrowheads="1"/>
          </p:cNvSpPr>
          <p:nvPr>
            <p:ph idx="1"/>
          </p:nvPr>
        </p:nvSpPr>
        <p:spPr/>
        <p:txBody>
          <a:bodyPr/>
          <a:lstStyle/>
          <a:p>
            <a:pPr eaLnBrk="1" hangingPunct="1"/>
            <a:r>
              <a:rPr lang="zh-CN" altLang="en-US"/>
              <a:t>状态条件寄存器（</a:t>
            </a:r>
            <a:r>
              <a:rPr lang="en-US" altLang="zh-CN"/>
              <a:t>PSW</a:t>
            </a:r>
            <a:r>
              <a:rPr lang="zh-CN" altLang="en-US"/>
              <a:t>）</a:t>
            </a:r>
            <a:endParaRPr lang="zh-CN" altLang="en-US"/>
          </a:p>
          <a:p>
            <a:pPr lvl="1" eaLnBrk="1" hangingPunct="1"/>
            <a:r>
              <a:rPr lang="zh-CN" altLang="en-US"/>
              <a:t>保存根据算术指令、逻辑指令等运行的结果而设定的各种条件码内容</a:t>
            </a:r>
            <a:endParaRPr lang="zh-CN" altLang="en-US"/>
          </a:p>
          <a:p>
            <a:pPr lvl="2" eaLnBrk="1" hangingPunct="1"/>
            <a:r>
              <a:rPr lang="zh-CN" altLang="en-US"/>
              <a:t>如运算结果进位标志</a:t>
            </a:r>
            <a:r>
              <a:rPr lang="en-US" altLang="zh-CN"/>
              <a:t>(C)</a:t>
            </a:r>
            <a:r>
              <a:rPr lang="zh-CN" altLang="en-US"/>
              <a:t>，运算结果溢出标志</a:t>
            </a:r>
            <a:r>
              <a:rPr lang="en-US" altLang="zh-CN"/>
              <a:t>(V)</a:t>
            </a:r>
            <a:r>
              <a:rPr lang="zh-CN" altLang="en-US"/>
              <a:t>，运算结果为零标志</a:t>
            </a:r>
            <a:r>
              <a:rPr lang="en-US" altLang="zh-CN"/>
              <a:t>(Z)</a:t>
            </a:r>
            <a:r>
              <a:rPr lang="zh-CN" altLang="en-US"/>
              <a:t>，运算结果为负标志</a:t>
            </a:r>
            <a:r>
              <a:rPr lang="en-US" altLang="zh-CN"/>
              <a:t>(N)</a:t>
            </a:r>
            <a:r>
              <a:rPr lang="zh-CN" altLang="en-US"/>
              <a:t>等</a:t>
            </a:r>
            <a:endParaRPr lang="zh-CN" altLang="en-US"/>
          </a:p>
          <a:p>
            <a:pPr lvl="2" eaLnBrk="1" hangingPunct="1"/>
            <a:r>
              <a:rPr lang="zh-CN" altLang="en-US"/>
              <a:t>每个标志位通常由</a:t>
            </a:r>
            <a:r>
              <a:rPr lang="en-US" altLang="zh-CN"/>
              <a:t>1</a:t>
            </a:r>
            <a:r>
              <a:rPr lang="zh-CN" altLang="en-US"/>
              <a:t>位触发器保存</a:t>
            </a:r>
            <a:endParaRPr lang="zh-CN" altLang="en-US"/>
          </a:p>
          <a:p>
            <a:pPr lvl="1" eaLnBrk="1" hangingPunct="1"/>
            <a:r>
              <a:rPr lang="zh-CN" altLang="en-US"/>
              <a:t>保存中断和系统工作状态等信息</a:t>
            </a:r>
            <a:endParaRPr lang="zh-CN" altLang="en-US"/>
          </a:p>
          <a:p>
            <a:pPr lvl="2" eaLnBrk="1" hangingPunct="1"/>
            <a:r>
              <a:rPr lang="zh-CN" altLang="en-US"/>
              <a:t>处理器能及时了解机器运行状态和程序运行状态</a:t>
            </a:r>
            <a:endParaRPr lang="zh-CN" altLang="en-US"/>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3"/>
          <p:cNvSpPr>
            <a:spLocks noGrp="1"/>
          </p:cNvSpPr>
          <p:nvPr>
            <p:ph idx="1"/>
          </p:nvPr>
        </p:nvSpPr>
        <p:spPr>
          <a:xfrm>
            <a:off x="457200" y="1268413"/>
            <a:ext cx="8229600" cy="5256212"/>
          </a:xfrm>
        </p:spPr>
        <p:txBody>
          <a:bodyPr vert="horz" wrap="square" lIns="91440" tIns="45720" rIns="91440" bIns="45720" anchor="t" anchorCtr="0"/>
          <a:p>
            <a:pPr>
              <a:lnSpc>
                <a:spcPct val="90000"/>
              </a:lnSpc>
            </a:pPr>
            <a:r>
              <a:rPr lang="zh-CN" altLang="en-US" sz="2400" dirty="0"/>
              <a:t>下列寄存器中，汇编语言程序员可见的是（）。</a:t>
            </a:r>
            <a:endParaRPr lang="en-US" altLang="zh-CN" sz="2400" dirty="0"/>
          </a:p>
          <a:p>
            <a:pPr>
              <a:lnSpc>
                <a:spcPct val="90000"/>
              </a:lnSpc>
            </a:pPr>
            <a:r>
              <a:rPr lang="en-US" altLang="zh-CN" sz="2400" dirty="0"/>
              <a:t>A. </a:t>
            </a:r>
            <a:r>
              <a:rPr lang="zh-CN" altLang="en-US" sz="2400" dirty="0"/>
              <a:t>存储器地址寄存器（</a:t>
            </a:r>
            <a:r>
              <a:rPr lang="en-US" altLang="zh-CN" sz="2400" dirty="0"/>
              <a:t>MAR</a:t>
            </a:r>
            <a:r>
              <a:rPr lang="zh-CN" altLang="en-US" sz="2400" dirty="0"/>
              <a:t>）</a:t>
            </a:r>
            <a:endParaRPr lang="en-US" altLang="zh-CN" sz="2400" dirty="0"/>
          </a:p>
          <a:p>
            <a:pPr>
              <a:lnSpc>
                <a:spcPct val="90000"/>
              </a:lnSpc>
            </a:pPr>
            <a:r>
              <a:rPr lang="en-US" altLang="zh-CN" sz="2400" dirty="0"/>
              <a:t>B.  </a:t>
            </a:r>
            <a:r>
              <a:rPr lang="zh-CN" altLang="en-US" sz="2400" dirty="0"/>
              <a:t>程序计数器（</a:t>
            </a:r>
            <a:r>
              <a:rPr lang="en-US" altLang="zh-CN" sz="2400" dirty="0"/>
              <a:t>PC</a:t>
            </a:r>
            <a:r>
              <a:rPr lang="zh-CN" altLang="en-US" sz="2400" dirty="0"/>
              <a:t>）</a:t>
            </a:r>
            <a:endParaRPr lang="en-US" altLang="zh-CN" sz="2400" dirty="0"/>
          </a:p>
          <a:p>
            <a:pPr>
              <a:lnSpc>
                <a:spcPct val="90000"/>
              </a:lnSpc>
            </a:pPr>
            <a:r>
              <a:rPr lang="en-US" altLang="zh-CN" sz="2400" dirty="0"/>
              <a:t>C.  </a:t>
            </a:r>
            <a:r>
              <a:rPr lang="zh-CN" altLang="en-US" sz="2400" dirty="0"/>
              <a:t>存储器数据寄存器（</a:t>
            </a:r>
            <a:r>
              <a:rPr lang="en-US" altLang="zh-CN" sz="2400" dirty="0"/>
              <a:t>MDR</a:t>
            </a:r>
            <a:r>
              <a:rPr lang="zh-CN" altLang="en-US" sz="2400" dirty="0"/>
              <a:t>）</a:t>
            </a:r>
            <a:endParaRPr lang="en-US" altLang="zh-CN" sz="2400" dirty="0"/>
          </a:p>
          <a:p>
            <a:pPr>
              <a:lnSpc>
                <a:spcPct val="90000"/>
              </a:lnSpc>
            </a:pPr>
            <a:r>
              <a:rPr lang="en-US" altLang="zh-CN" sz="2400" dirty="0"/>
              <a:t>D.  </a:t>
            </a:r>
            <a:r>
              <a:rPr lang="zh-CN" altLang="en-US" sz="2400" dirty="0"/>
              <a:t>指令寄存器（</a:t>
            </a:r>
            <a:r>
              <a:rPr lang="en-US" altLang="zh-CN" sz="2400" dirty="0"/>
              <a:t>IR</a:t>
            </a:r>
            <a:r>
              <a:rPr lang="zh-CN" altLang="en-US" sz="2400" dirty="0"/>
              <a:t>）</a:t>
            </a:r>
            <a:endParaRPr lang="en-US" altLang="zh-CN" sz="2400" dirty="0"/>
          </a:p>
          <a:p>
            <a:pPr>
              <a:lnSpc>
                <a:spcPct val="90000"/>
              </a:lnSpc>
            </a:pPr>
            <a:endParaRPr lang="zh-CN" altLang="en-US" sz="2400" dirty="0"/>
          </a:p>
        </p:txBody>
      </p:sp>
      <p:sp>
        <p:nvSpPr>
          <p:cNvPr id="19459" name="Rectangle 4"/>
          <p:cNvSpPr>
            <a:spLocks noGrp="1"/>
          </p:cNvSpPr>
          <p:nvPr>
            <p:ph type="title"/>
          </p:nvPr>
        </p:nvSpPr>
        <p:spPr>
          <a:xfrm>
            <a:off x="457200" y="188913"/>
            <a:ext cx="8229600" cy="1371600"/>
          </a:xfrm>
        </p:spPr>
        <p:txBody>
          <a:bodyPr vert="horz" wrap="square" lIns="91440" tIns="45720" rIns="91440" bIns="45720" anchor="ctr" anchorCtr="0"/>
          <a:p>
            <a:r>
              <a:rPr lang="en-US" altLang="zh-CN" dirty="0"/>
              <a:t>CPU</a:t>
            </a:r>
            <a:r>
              <a:rPr lang="zh-CN" altLang="en-US" dirty="0"/>
              <a:t>中的主要寄存器</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457200" y="44450"/>
            <a:ext cx="8229600" cy="1371600"/>
          </a:xfrm>
        </p:spPr>
        <p:txBody>
          <a:bodyPr/>
          <a:lstStyle/>
          <a:p>
            <a:pPr eaLnBrk="1" hangingPunct="1"/>
            <a:r>
              <a:rPr lang="zh-CN" altLang="en-US"/>
              <a:t>操作控制器与时序产生器</a:t>
            </a:r>
            <a:endParaRPr lang="zh-CN" altLang="en-US"/>
          </a:p>
        </p:txBody>
      </p:sp>
      <p:sp>
        <p:nvSpPr>
          <p:cNvPr id="33794" name="Rectangle 3"/>
          <p:cNvSpPr>
            <a:spLocks noGrp="1" noChangeArrowheads="1"/>
          </p:cNvSpPr>
          <p:nvPr>
            <p:ph idx="1"/>
          </p:nvPr>
        </p:nvSpPr>
        <p:spPr>
          <a:xfrm>
            <a:off x="381001" y="1123633"/>
            <a:ext cx="8382000" cy="5400675"/>
          </a:xfrm>
        </p:spPr>
        <p:txBody>
          <a:bodyPr/>
          <a:lstStyle/>
          <a:p>
            <a:pPr eaLnBrk="1" hangingPunct="1"/>
            <a:r>
              <a:rPr lang="zh-CN" altLang="en-US" sz="2400" dirty="0"/>
              <a:t>数据通路</a:t>
            </a:r>
            <a:endParaRPr lang="zh-CN" altLang="en-US" sz="2400" dirty="0"/>
          </a:p>
          <a:p>
            <a:pPr lvl="1" eaLnBrk="1" hangingPunct="1"/>
            <a:r>
              <a:rPr lang="zh-CN" altLang="en-US" sz="2000" dirty="0"/>
              <a:t>各寄存器之间、寄存器与</a:t>
            </a:r>
            <a:r>
              <a:rPr lang="en-US" altLang="zh-CN" sz="2000" dirty="0"/>
              <a:t>ALU</a:t>
            </a:r>
            <a:r>
              <a:rPr lang="zh-CN" altLang="en-US" sz="2000" dirty="0"/>
              <a:t>之间传送数据的通路称为数据通路</a:t>
            </a:r>
            <a:endParaRPr lang="zh-CN" altLang="en-US" sz="2000" dirty="0"/>
          </a:p>
          <a:p>
            <a:pPr lvl="1" eaLnBrk="1" hangingPunct="1"/>
            <a:r>
              <a:rPr lang="zh-CN" altLang="en-US" sz="2000" dirty="0"/>
              <a:t>信息从什么地方开始，中间经过哪个寄存器或多路开关，最后传送到哪个寄存器，都要加以控制</a:t>
            </a:r>
            <a:endParaRPr lang="zh-CN" altLang="en-US" sz="2000" dirty="0"/>
          </a:p>
          <a:p>
            <a:pPr lvl="1" eaLnBrk="1" hangingPunct="1"/>
            <a:r>
              <a:rPr lang="zh-CN" altLang="en-US" sz="2000" dirty="0"/>
              <a:t>在各寄存器之间建立数据通路的任务，是由称为操作控制器的部件来完成的</a:t>
            </a:r>
            <a:endParaRPr lang="zh-CN" altLang="en-US" sz="2000" dirty="0"/>
          </a:p>
          <a:p>
            <a:pPr marL="457200" lvl="1" indent="0">
              <a:lnSpc>
                <a:spcPct val="115000"/>
              </a:lnSpc>
              <a:spcBef>
                <a:spcPct val="25000"/>
              </a:spcBef>
              <a:buNone/>
            </a:pPr>
            <a:endParaRPr lang="zh-CN" altLang="en-US" sz="2400" dirty="0">
              <a:ea typeface="黑体" panose="02010609060101010101" pitchFamily="49" charset="-122"/>
              <a:sym typeface="+mn-ea"/>
            </a:endParaRPr>
          </a:p>
          <a:p>
            <a:pPr marL="457200" lvl="1" indent="0">
              <a:lnSpc>
                <a:spcPct val="115000"/>
              </a:lnSpc>
              <a:spcBef>
                <a:spcPct val="25000"/>
              </a:spcBef>
              <a:buNone/>
            </a:pPr>
            <a:r>
              <a:rPr lang="zh-CN" altLang="en-US" sz="2400" dirty="0">
                <a:ea typeface="黑体" panose="02010609060101010101" pitchFamily="49" charset="-122"/>
                <a:sym typeface="+mn-ea"/>
              </a:rPr>
              <a:t> </a:t>
            </a:r>
            <a:r>
              <a:rPr lang="en-US" altLang="zh-CN" sz="2400" dirty="0">
                <a:ea typeface="黑体" panose="02010609060101010101" pitchFamily="49" charset="-122"/>
                <a:sym typeface="+mn-ea"/>
              </a:rPr>
              <a:t>      </a:t>
            </a:r>
            <a:r>
              <a:rPr lang="zh-CN" altLang="en-US" sz="2400" dirty="0">
                <a:ea typeface="黑体" panose="02010609060101010101" pitchFamily="49" charset="-122"/>
                <a:sym typeface="+mn-ea"/>
              </a:rPr>
              <a:t>指令执行过程中，数据所经过的路径，包括路径中的部件。它是</a:t>
            </a:r>
            <a:r>
              <a:rPr lang="zh-CN" altLang="en-US" sz="2400" dirty="0">
                <a:solidFill>
                  <a:srgbClr val="CC0000"/>
                </a:solidFill>
                <a:ea typeface="黑体" panose="02010609060101010101" pitchFamily="49" charset="-122"/>
                <a:sym typeface="+mn-ea"/>
              </a:rPr>
              <a:t>指令的执行部件</a:t>
            </a:r>
            <a:r>
              <a:rPr lang="zh-CN" altLang="en-US" sz="2400" dirty="0">
                <a:ea typeface="黑体" panose="02010609060101010101" pitchFamily="49" charset="-122"/>
                <a:sym typeface="+mn-ea"/>
              </a:rPr>
              <a:t>。</a:t>
            </a:r>
            <a:endParaRPr lang="zh-CN" altLang="en-US" sz="2400" dirty="0">
              <a:ea typeface="黑体" panose="02010609060101010101" pitchFamily="49" charset="-122"/>
            </a:endParaRPr>
          </a:p>
          <a:p>
            <a:pPr marL="457200" lvl="1" indent="0">
              <a:lnSpc>
                <a:spcPct val="115000"/>
              </a:lnSpc>
              <a:spcBef>
                <a:spcPct val="25000"/>
              </a:spcBef>
              <a:buNone/>
            </a:pPr>
            <a:endParaRPr lang="en-US" altLang="zh-CN" sz="2400" dirty="0"/>
          </a:p>
        </p:txBody>
      </p:sp>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457200" y="44450"/>
            <a:ext cx="8229600" cy="1371600"/>
          </a:xfrm>
        </p:spPr>
        <p:txBody>
          <a:bodyPr/>
          <a:lstStyle/>
          <a:p>
            <a:pPr eaLnBrk="1" hangingPunct="1"/>
            <a:r>
              <a:rPr lang="zh-CN" altLang="en-US"/>
              <a:t>操作控制器与时序产生器</a:t>
            </a:r>
            <a:endParaRPr lang="zh-CN" altLang="en-US"/>
          </a:p>
        </p:txBody>
      </p:sp>
      <p:sp>
        <p:nvSpPr>
          <p:cNvPr id="33794" name="Rectangle 3"/>
          <p:cNvSpPr>
            <a:spLocks noGrp="1" noChangeArrowheads="1"/>
          </p:cNvSpPr>
          <p:nvPr>
            <p:ph idx="1"/>
          </p:nvPr>
        </p:nvSpPr>
        <p:spPr>
          <a:xfrm>
            <a:off x="381001" y="1123633"/>
            <a:ext cx="8382000" cy="5400675"/>
          </a:xfrm>
        </p:spPr>
        <p:txBody>
          <a:bodyPr/>
          <a:lstStyle/>
          <a:p>
            <a:pPr eaLnBrk="1" hangingPunct="1"/>
            <a:r>
              <a:rPr lang="zh-CN" altLang="en-US" sz="2400" dirty="0"/>
              <a:t>操作控制器</a:t>
            </a:r>
            <a:endParaRPr lang="zh-CN" altLang="en-US" sz="2400" dirty="0"/>
          </a:p>
          <a:p>
            <a:pPr marL="0" indent="0" eaLnBrk="1" hangingPunct="1">
              <a:buNone/>
            </a:pPr>
            <a:r>
              <a:rPr lang="en-US" altLang="zh-CN" sz="2400" dirty="0">
                <a:solidFill>
                  <a:srgbClr val="C00000"/>
                </a:solidFill>
                <a:sym typeface="+mn-ea"/>
              </a:rPr>
              <a:t>        </a:t>
            </a:r>
            <a:r>
              <a:rPr lang="zh-CN" altLang="en-US" sz="2400" dirty="0">
                <a:solidFill>
                  <a:srgbClr val="C00000"/>
                </a:solidFill>
                <a:sym typeface="+mn-ea"/>
              </a:rPr>
              <a:t>为数据通路的建立提供各种操作信号。</a:t>
            </a:r>
            <a:r>
              <a:rPr lang="zh-CN" altLang="en-US" sz="2400" dirty="0">
                <a:sym typeface="+mn-ea"/>
              </a:rPr>
              <a:t>操作控制器的功能，就是根据指令操作码和时序信号，产生各种操作控制信号，以便正确地选择数据通路，把有关数据打入到一个寄存器，从而完成取指令和执行指令的控制。</a:t>
            </a:r>
            <a:endParaRPr lang="en-US" altLang="zh-CN" sz="2400" dirty="0"/>
          </a:p>
          <a:p>
            <a:pPr eaLnBrk="1" hangingPunct="1">
              <a:buFont typeface="Wingdings" panose="05000000000000000000" charset="0"/>
              <a:buChar char="ü"/>
            </a:pPr>
            <a:r>
              <a:rPr lang="en-US" altLang="zh-CN" sz="2000" dirty="0"/>
              <a:t> </a:t>
            </a:r>
            <a:r>
              <a:rPr lang="zh-CN" altLang="en-US" sz="2000" dirty="0"/>
              <a:t>功能：</a:t>
            </a:r>
            <a:endParaRPr lang="zh-CN" altLang="en-US" sz="2000" dirty="0"/>
          </a:p>
          <a:p>
            <a:pPr marL="0" indent="0" eaLnBrk="1" hangingPunct="1">
              <a:buFont typeface="Wingdings" panose="05000000000000000000" charset="0"/>
              <a:buNone/>
            </a:pPr>
            <a:r>
              <a:rPr lang="en-US" altLang="zh-CN" sz="2000" dirty="0"/>
              <a:t>       </a:t>
            </a:r>
            <a:r>
              <a:rPr lang="zh-CN" altLang="en-US" sz="2000" dirty="0"/>
              <a:t>根据指令操作码和时序信号，产生各种操作控制信号，以便正确地建立数据通路，从而完成取指令和执行指令的控制</a:t>
            </a:r>
            <a:endParaRPr lang="zh-CN" altLang="en-US" sz="2000" dirty="0"/>
          </a:p>
          <a:p>
            <a:pPr marL="457200" lvl="2" indent="-457200" algn="l" eaLnBrk="1" hangingPunct="1">
              <a:buFont typeface="Wingdings" panose="05000000000000000000" charset="0"/>
              <a:buChar char="ü"/>
            </a:pPr>
            <a:r>
              <a:rPr lang="en-US" altLang="zh-CN" sz="2000" dirty="0">
                <a:cs typeface="宋体" panose="02010600030101010101" pitchFamily="2" charset="-122"/>
              </a:rPr>
              <a:t>根据设计方法不同，操作控制器可分为：</a:t>
            </a:r>
            <a:endParaRPr lang="en-US" altLang="zh-CN" sz="2000" dirty="0">
              <a:cs typeface="宋体" panose="02010600030101010101" pitchFamily="2" charset="-122"/>
            </a:endParaRPr>
          </a:p>
          <a:p>
            <a:pPr lvl="2" eaLnBrk="1" hangingPunct="1"/>
            <a:r>
              <a:rPr lang="zh-CN" altLang="en-US" sz="2000" dirty="0"/>
              <a:t>时序逻辑型：采用时序逻辑技术来实现。称为硬布线控制器</a:t>
            </a:r>
            <a:endParaRPr lang="en-US" altLang="zh-CN" sz="2000" dirty="0"/>
          </a:p>
          <a:p>
            <a:pPr lvl="2" eaLnBrk="1" hangingPunct="1"/>
            <a:r>
              <a:rPr lang="zh-CN" altLang="en-US" sz="2000" dirty="0"/>
              <a:t>存储逻辑型：采用存储逻辑来实现。称为微程序控制器</a:t>
            </a:r>
            <a:endParaRPr lang="en-US" altLang="zh-CN" sz="2000" dirty="0"/>
          </a:p>
          <a:p>
            <a:pPr eaLnBrk="1" hangingPunct="1"/>
            <a:r>
              <a:rPr lang="zh-CN" altLang="en-US" sz="2400" dirty="0"/>
              <a:t>时序产生器：对各种操作信号进行时间上先后顺序的控制</a:t>
            </a:r>
            <a:endParaRPr lang="en-US" altLang="zh-CN" sz="2400" dirty="0"/>
          </a:p>
        </p:txBody>
      </p:sp>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3"/>
          <p:cNvSpPr>
            <a:spLocks noGrp="1"/>
          </p:cNvSpPr>
          <p:nvPr>
            <p:ph idx="1"/>
          </p:nvPr>
        </p:nvSpPr>
        <p:spPr>
          <a:xfrm>
            <a:off x="457200" y="1268413"/>
            <a:ext cx="8147050" cy="4862512"/>
          </a:xfrm>
        </p:spPr>
        <p:txBody>
          <a:bodyPr vert="horz" wrap="square" lIns="91440" tIns="45720" rIns="91440" bIns="45720" anchor="t" anchorCtr="0"/>
          <a:p>
            <a:r>
              <a:rPr lang="zh-CN" altLang="en-US" sz="2400" dirty="0">
                <a:solidFill>
                  <a:srgbClr val="FF0000"/>
                </a:solidFill>
              </a:rPr>
              <a:t>硬布线控制器 </a:t>
            </a:r>
            <a:endParaRPr lang="zh-CN" altLang="en-US" sz="2400" dirty="0">
              <a:solidFill>
                <a:srgbClr val="FF0000"/>
              </a:solidFill>
            </a:endParaRPr>
          </a:p>
          <a:p>
            <a:pPr lvl="1">
              <a:buFont typeface="Wingdings" panose="05000000000000000000" pitchFamily="2" charset="2"/>
              <a:buChar char="Ø"/>
            </a:pPr>
            <a:r>
              <a:rPr lang="zh-CN" altLang="en-US" sz="2400" dirty="0"/>
              <a:t>硬布线控制器，它是采用</a:t>
            </a:r>
            <a:r>
              <a:rPr lang="zh-CN" altLang="en-US" sz="2400" dirty="0">
                <a:solidFill>
                  <a:srgbClr val="FF0000"/>
                </a:solidFill>
              </a:rPr>
              <a:t>时序逻辑</a:t>
            </a:r>
            <a:r>
              <a:rPr lang="zh-CN" altLang="en-US" sz="2400" dirty="0">
                <a:solidFill>
                  <a:srgbClr val="EE2200"/>
                </a:solidFill>
              </a:rPr>
              <a:t>技术</a:t>
            </a:r>
            <a:r>
              <a:rPr lang="zh-CN" altLang="en-US" sz="2400" dirty="0"/>
              <a:t>来实现的，其时序控制信号形成部件是由门电路组成的复杂树形网络。这种方法是分立元件时代的产物，以使用最少器件数和取得最高操作速度为设计目标。</a:t>
            </a:r>
            <a:endParaRPr lang="zh-CN" altLang="en-US" sz="2400" dirty="0"/>
          </a:p>
          <a:p>
            <a:pPr lvl="1">
              <a:buFont typeface="Wingdings" panose="05000000000000000000" pitchFamily="2" charset="2"/>
              <a:buChar char="Ø"/>
            </a:pPr>
            <a:r>
              <a:rPr lang="zh-CN" altLang="en-US" sz="2400" dirty="0"/>
              <a:t>时序逻辑控制器的最大优点是速度快，但是时序控制信号形成部件的结构不规整，使得设计、调试、维修较困难，难以实现设计自动化。</a:t>
            </a:r>
            <a:endParaRPr lang="zh-CN" altLang="en-US" sz="2400" dirty="0"/>
          </a:p>
        </p:txBody>
      </p:sp>
      <p:sp>
        <p:nvSpPr>
          <p:cNvPr id="26627" name="Rectangle 5"/>
          <p:cNvSpPr>
            <a:spLocks noGrp="1"/>
          </p:cNvSpPr>
          <p:nvPr>
            <p:ph type="title"/>
          </p:nvPr>
        </p:nvSpPr>
        <p:spPr>
          <a:xfrm>
            <a:off x="639763" y="338138"/>
            <a:ext cx="7532687" cy="787400"/>
          </a:xfrm>
        </p:spPr>
        <p:txBody>
          <a:bodyPr vert="horz" wrap="square" lIns="91440" tIns="45720" rIns="91440" bIns="45720" anchor="ctr" anchorCtr="0"/>
          <a:p>
            <a:r>
              <a:rPr lang="zh-CN" altLang="en-US" dirty="0"/>
              <a:t>数据通路与时序控制</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p:cNvSpPr>
          <p:nvPr>
            <p:ph idx="1"/>
          </p:nvPr>
        </p:nvSpPr>
        <p:spPr>
          <a:xfrm>
            <a:off x="539115" y="1268413"/>
            <a:ext cx="8002588" cy="5256212"/>
          </a:xfrm>
        </p:spPr>
        <p:txBody>
          <a:bodyPr vert="horz" wrap="square" lIns="91440" tIns="45720" rIns="91440" bIns="45720" anchor="t" anchorCtr="0"/>
          <a:p>
            <a:r>
              <a:rPr lang="zh-CN" altLang="en-US" sz="2600" dirty="0"/>
              <a:t>微程序控制器  </a:t>
            </a:r>
            <a:endParaRPr lang="zh-CN" altLang="en-US" sz="2600" dirty="0"/>
          </a:p>
          <a:p>
            <a:pPr lvl="1">
              <a:buFont typeface="Wingdings" panose="05000000000000000000" pitchFamily="2" charset="2"/>
              <a:buChar char="Ø"/>
            </a:pPr>
            <a:r>
              <a:rPr lang="zh-CN" altLang="en-US" sz="2400" dirty="0"/>
              <a:t>微程序控制器是采用</a:t>
            </a:r>
            <a:r>
              <a:rPr lang="zh-CN" altLang="en-US" sz="2400" dirty="0">
                <a:solidFill>
                  <a:srgbClr val="FF3300"/>
                </a:solidFill>
              </a:rPr>
              <a:t>存储逻辑</a:t>
            </a:r>
            <a:r>
              <a:rPr lang="zh-CN" altLang="en-US" sz="2400" dirty="0"/>
              <a:t>来实现的，也就是把微操作信号代码化，使每条机器指令转化成为一段微程序并存入一个专门的存储器</a:t>
            </a:r>
            <a:r>
              <a:rPr lang="en-US" altLang="zh-CN" sz="2400" dirty="0"/>
              <a:t>(</a:t>
            </a:r>
            <a:r>
              <a:rPr lang="zh-CN" altLang="en-US" sz="2400" dirty="0"/>
              <a:t>控制存储器</a:t>
            </a:r>
            <a:r>
              <a:rPr lang="en-US" altLang="zh-CN" sz="2400" dirty="0"/>
              <a:t>)</a:t>
            </a:r>
            <a:r>
              <a:rPr lang="zh-CN" altLang="en-US" sz="2400" dirty="0"/>
              <a:t>中，微操作控制信号由微指令产生。</a:t>
            </a:r>
            <a:endParaRPr lang="zh-CN" altLang="en-US" sz="2400" dirty="0"/>
          </a:p>
          <a:p>
            <a:pPr lvl="1">
              <a:buFont typeface="Wingdings" panose="05000000000000000000" pitchFamily="2" charset="2"/>
              <a:buChar char="Ø"/>
            </a:pPr>
            <a:r>
              <a:rPr lang="zh-CN" altLang="en-US" sz="2400" dirty="0"/>
              <a:t>微程序控制器的设计思想和组合逻辑设计思想截然不同。它具有设计规整、调试、维修以及更改、扩充指令方便的优点，易于实现自动化设计，已成为当前控制器的主流。但是，由于它增加了一级控制存储器，所以指令执行速度比组合逻辑控制器慢。</a:t>
            </a:r>
            <a:endParaRPr lang="zh-CN" altLang="en-US" sz="2400" dirty="0"/>
          </a:p>
        </p:txBody>
      </p:sp>
      <p:sp>
        <p:nvSpPr>
          <p:cNvPr id="27651" name="Rectangle 5"/>
          <p:cNvSpPr>
            <a:spLocks noGrp="1"/>
          </p:cNvSpPr>
          <p:nvPr>
            <p:ph type="title"/>
          </p:nvPr>
        </p:nvSpPr>
        <p:spPr>
          <a:xfrm>
            <a:off x="611188" y="338138"/>
            <a:ext cx="7532687" cy="787400"/>
          </a:xfrm>
        </p:spPr>
        <p:txBody>
          <a:bodyPr vert="horz" wrap="square" lIns="91440" tIns="45720" rIns="91440" bIns="45720" anchor="ctr" anchorCtr="0"/>
          <a:p>
            <a:r>
              <a:rPr lang="zh-CN" altLang="en-US" dirty="0"/>
              <a:t>数据通路与时序控制</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1557338" y="369888"/>
            <a:ext cx="5822950" cy="538162"/>
          </a:xfrm>
          <a:ln w="12700"/>
        </p:spPr>
        <p:txBody>
          <a:bodyPr vert="horz" wrap="square" lIns="63500" tIns="25400" rIns="63500" bIns="25400" anchor="t" anchorCtr="0">
            <a:spAutoFit/>
          </a:bodyPr>
          <a:p>
            <a:r>
              <a:rPr lang="zh-CN" altLang="en-US" sz="3200" dirty="0"/>
              <a:t>硬连线路设计和微程序设计</a:t>
            </a:r>
            <a:endParaRPr lang="zh-CN" altLang="en-US" sz="3200" dirty="0"/>
          </a:p>
        </p:txBody>
      </p:sp>
      <p:sp>
        <p:nvSpPr>
          <p:cNvPr id="28675" name="Rectangle 3"/>
          <p:cNvSpPr>
            <a:spLocks noGrp="1"/>
          </p:cNvSpPr>
          <p:nvPr>
            <p:ph idx="1"/>
          </p:nvPr>
        </p:nvSpPr>
        <p:spPr>
          <a:xfrm>
            <a:off x="323850" y="904875"/>
            <a:ext cx="8407400" cy="1876425"/>
          </a:xfrm>
          <a:ln w="12700"/>
        </p:spPr>
        <p:txBody>
          <a:bodyPr vert="horz" wrap="square" lIns="63500" tIns="25400" rIns="63500" bIns="25400" anchor="t" anchorCtr="0">
            <a:spAutoFit/>
          </a:bodyPr>
          <a:p>
            <a:pPr>
              <a:lnSpc>
                <a:spcPct val="120000"/>
              </a:lnSpc>
              <a:spcBef>
                <a:spcPct val="0"/>
              </a:spcBef>
              <a:buNone/>
            </a:pPr>
            <a:r>
              <a:rPr lang="zh-CN" altLang="en-US" sz="2000" dirty="0">
                <a:solidFill>
                  <a:srgbClr val="D90125"/>
                </a:solidFill>
              </a:rPr>
              <a:t>硬连线路设计的特点：</a:t>
            </a:r>
            <a:endParaRPr lang="zh-CN" altLang="en-US" sz="2000" dirty="0">
              <a:solidFill>
                <a:srgbClr val="D90125"/>
              </a:solidFill>
            </a:endParaRPr>
          </a:p>
          <a:p>
            <a:pPr>
              <a:lnSpc>
                <a:spcPct val="120000"/>
              </a:lnSpc>
              <a:spcBef>
                <a:spcPct val="0"/>
              </a:spcBef>
              <a:buNone/>
            </a:pPr>
            <a:r>
              <a:rPr lang="zh-CN" altLang="en-US" sz="2000" dirty="0">
                <a:solidFill>
                  <a:srgbClr val="D90125"/>
                </a:solidFill>
              </a:rPr>
              <a:t>优点</a:t>
            </a:r>
            <a:r>
              <a:rPr lang="zh-CN" altLang="en-US" sz="2000" dirty="0"/>
              <a:t>：</a:t>
            </a:r>
            <a:r>
              <a:rPr lang="zh-CN" altLang="en-US" sz="2000" dirty="0">
                <a:solidFill>
                  <a:srgbClr val="2453CA"/>
                </a:solidFill>
              </a:rPr>
              <a:t>速度快</a:t>
            </a:r>
            <a:r>
              <a:rPr lang="zh-CN" altLang="en-US" sz="2000" dirty="0"/>
              <a:t>，适合于简单或规整的指令系统，例如，</a:t>
            </a:r>
            <a:r>
              <a:rPr lang="en-US" altLang="zh-CN" sz="2000" dirty="0"/>
              <a:t>MIPS</a:t>
            </a:r>
            <a:r>
              <a:rPr lang="zh-CN" altLang="en-US" sz="2000" dirty="0"/>
              <a:t>指令集。</a:t>
            </a:r>
            <a:endParaRPr lang="zh-CN" altLang="en-US" sz="2000" dirty="0"/>
          </a:p>
          <a:p>
            <a:pPr>
              <a:lnSpc>
                <a:spcPct val="120000"/>
              </a:lnSpc>
              <a:spcBef>
                <a:spcPct val="0"/>
              </a:spcBef>
              <a:buNone/>
            </a:pPr>
            <a:r>
              <a:rPr lang="zh-CN" altLang="en-US" sz="2000" dirty="0">
                <a:solidFill>
                  <a:srgbClr val="D90125"/>
                </a:solidFill>
              </a:rPr>
              <a:t>缺点</a:t>
            </a:r>
            <a:r>
              <a:rPr lang="zh-CN" altLang="en-US" sz="2000" dirty="0"/>
              <a:t>：它是一个多输入</a:t>
            </a:r>
            <a:r>
              <a:rPr lang="en-US" altLang="zh-CN" sz="2000" dirty="0"/>
              <a:t>/</a:t>
            </a:r>
            <a:r>
              <a:rPr lang="zh-CN" altLang="en-US" sz="2000" dirty="0"/>
              <a:t>多输出的巨大逻辑网络。对于复杂指令系统来说，</a:t>
            </a:r>
            <a:r>
              <a:rPr lang="zh-CN" altLang="en-US" sz="2000" dirty="0">
                <a:solidFill>
                  <a:srgbClr val="2453CA"/>
                </a:solidFill>
              </a:rPr>
              <a:t>结构庞杂，实现困难；修改、维护不易；灵活性差。甚至无法用有限状态机描述！</a:t>
            </a:r>
            <a:endParaRPr lang="zh-CN" altLang="en-US" sz="2000" dirty="0">
              <a:solidFill>
                <a:srgbClr val="2453CA"/>
              </a:solidFill>
            </a:endParaRPr>
          </a:p>
        </p:txBody>
      </p:sp>
      <p:sp>
        <p:nvSpPr>
          <p:cNvPr id="28676" name="Text Box 4"/>
          <p:cNvSpPr txBox="1"/>
          <p:nvPr/>
        </p:nvSpPr>
        <p:spPr>
          <a:xfrm>
            <a:off x="3373438" y="2600325"/>
            <a:ext cx="5375275" cy="396875"/>
          </a:xfrm>
          <a:prstGeom prst="rect">
            <a:avLst/>
          </a:prstGeom>
          <a:noFill/>
          <a:ln w="508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latin typeface="Times New Roman" panose="02020603050405020304" pitchFamily="18" charset="0"/>
              </a:rPr>
              <a:t>简化控制器设计的一个方法：</a:t>
            </a:r>
            <a:r>
              <a:rPr lang="zh-CN" altLang="en-US" sz="2000" b="1" dirty="0">
                <a:solidFill>
                  <a:srgbClr val="2453CA"/>
                </a:solidFill>
                <a:latin typeface="Times New Roman" panose="02020603050405020304" pitchFamily="18" charset="0"/>
              </a:rPr>
              <a:t>微程序设计</a:t>
            </a:r>
            <a:endParaRPr lang="zh-CN" altLang="en-US" sz="2000" b="1" dirty="0">
              <a:solidFill>
                <a:srgbClr val="2453CA"/>
              </a:solidFill>
              <a:latin typeface="Times New Roman" panose="02020603050405020304" pitchFamily="18" charset="0"/>
            </a:endParaRPr>
          </a:p>
        </p:txBody>
      </p:sp>
      <p:sp>
        <p:nvSpPr>
          <p:cNvPr id="28677" name="Rectangle 5"/>
          <p:cNvSpPr/>
          <p:nvPr/>
        </p:nvSpPr>
        <p:spPr>
          <a:xfrm>
            <a:off x="239713" y="2876550"/>
            <a:ext cx="8723312" cy="3679825"/>
          </a:xfrm>
          <a:prstGeom prst="rect">
            <a:avLst/>
          </a:prstGeom>
          <a:noFill/>
          <a:ln w="508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20000"/>
              </a:lnSpc>
              <a:buClr>
                <a:schemeClr val="tx1"/>
              </a:buClr>
              <a:buSzPct val="65000"/>
              <a:buNone/>
            </a:pPr>
            <a:r>
              <a:rPr lang="zh-CN" altLang="en-US" sz="2000" dirty="0">
                <a:solidFill>
                  <a:srgbClr val="D90125"/>
                </a:solidFill>
                <a:ea typeface="黑体" panose="02010609060101010101" pitchFamily="49" charset="-122"/>
              </a:rPr>
              <a:t>微程序控制器的</a:t>
            </a:r>
            <a:r>
              <a:rPr lang="zh-CN" altLang="en-US" sz="2000" dirty="0">
                <a:solidFill>
                  <a:srgbClr val="D90125"/>
                </a:solidFill>
                <a:ea typeface="黑体" panose="02010609060101010101" pitchFamily="49" charset="-122"/>
              </a:rPr>
              <a:t>基本思想：</a:t>
            </a:r>
            <a:endParaRPr lang="zh-CN" altLang="en-US" sz="2000" dirty="0">
              <a:solidFill>
                <a:srgbClr val="D90125"/>
              </a:solidFill>
              <a:ea typeface="黑体" panose="02010609060101010101" pitchFamily="49" charset="-122"/>
            </a:endParaRPr>
          </a:p>
          <a:p>
            <a:pPr marL="457200" lvl="1" indent="0">
              <a:lnSpc>
                <a:spcPct val="120000"/>
              </a:lnSpc>
              <a:buClrTx/>
              <a:buSzTx/>
              <a:buFontTx/>
              <a:buChar char="•"/>
            </a:pPr>
            <a:r>
              <a:rPr lang="zh-CN" altLang="en-US" sz="2000" dirty="0">
                <a:solidFill>
                  <a:srgbClr val="0033CC"/>
                </a:solidFill>
                <a:ea typeface="黑体" panose="02010609060101010101" pitchFamily="49" charset="-122"/>
              </a:rPr>
              <a:t> </a:t>
            </a:r>
            <a:r>
              <a:rPr lang="zh-CN" altLang="en-US" sz="2000" dirty="0">
                <a:ea typeface="黑体" panose="02010609060101010101" pitchFamily="49" charset="-122"/>
              </a:rPr>
              <a:t>仿照程序设计的方法，编制每个指令对应的微程序</a:t>
            </a:r>
            <a:endParaRPr lang="zh-CN" altLang="en-US" sz="2000" dirty="0">
              <a:ea typeface="黑体" panose="02010609060101010101" pitchFamily="49" charset="-122"/>
            </a:endParaRPr>
          </a:p>
          <a:p>
            <a:pPr marL="457200" lvl="1" indent="0">
              <a:lnSpc>
                <a:spcPct val="120000"/>
              </a:lnSpc>
              <a:buClrTx/>
              <a:buSzTx/>
              <a:buFontTx/>
              <a:buChar char="•"/>
            </a:pPr>
            <a:r>
              <a:rPr lang="zh-CN" altLang="en-US" sz="2000" dirty="0">
                <a:ea typeface="黑体" panose="02010609060101010101" pitchFamily="49" charset="-122"/>
              </a:rPr>
              <a:t> 每个微程序由若干条微指令构成，各微指令包含若干条微命令</a:t>
            </a:r>
            <a:endParaRPr lang="zh-CN" altLang="en-US" sz="2000" dirty="0">
              <a:ea typeface="黑体" panose="02010609060101010101" pitchFamily="49" charset="-122"/>
            </a:endParaRPr>
          </a:p>
          <a:p>
            <a:pPr marL="457200" lvl="1" indent="0">
              <a:lnSpc>
                <a:spcPct val="120000"/>
              </a:lnSpc>
              <a:buClrTx/>
              <a:buSzTx/>
              <a:buFontTx/>
              <a:buNone/>
            </a:pPr>
            <a:r>
              <a:rPr lang="zh-CN" altLang="en-US" sz="2000" dirty="0">
                <a:ea typeface="黑体" panose="02010609060101010101" pitchFamily="49" charset="-122"/>
              </a:rPr>
              <a:t>  （一条微指令相当于一个状态，一个微命令就是状态中的控制信号）</a:t>
            </a:r>
            <a:endParaRPr lang="zh-CN" altLang="en-US" sz="2000" dirty="0">
              <a:ea typeface="黑体" panose="02010609060101010101" pitchFamily="49" charset="-122"/>
            </a:endParaRPr>
          </a:p>
          <a:p>
            <a:pPr marL="457200" lvl="1" indent="0">
              <a:lnSpc>
                <a:spcPct val="120000"/>
              </a:lnSpc>
              <a:buClrTx/>
              <a:buSzTx/>
              <a:buFontTx/>
              <a:buChar char="•"/>
            </a:pPr>
            <a:r>
              <a:rPr lang="zh-CN" altLang="en-US" sz="2000" dirty="0">
                <a:ea typeface="黑体" panose="02010609060101010101" pitchFamily="49" charset="-122"/>
              </a:rPr>
              <a:t> 所有指令对应的微程序放在只读存储器中，执行某条指令时，取出对应微程序中的各条微指令，对微指令译码产生对应的微命令，这个微命令就是控制信号。这个只读存储器称为控制存储器（</a:t>
            </a:r>
            <a:r>
              <a:rPr lang="en-US" altLang="zh-CN" sz="2000" dirty="0">
                <a:ea typeface="黑体" panose="02010609060101010101" pitchFamily="49" charset="-122"/>
              </a:rPr>
              <a:t>Control Storage</a:t>
            </a:r>
            <a:r>
              <a:rPr lang="zh-CN" altLang="en-US" sz="2000" dirty="0">
                <a:ea typeface="黑体" panose="02010609060101010101" pitchFamily="49" charset="-122"/>
              </a:rPr>
              <a:t>），简称控存</a:t>
            </a:r>
            <a:r>
              <a:rPr lang="en-US" altLang="en-US" sz="2000" dirty="0">
                <a:ea typeface="黑体" panose="02010609060101010101" pitchFamily="49" charset="-122"/>
              </a:rPr>
              <a:t>CS</a:t>
            </a:r>
            <a:r>
              <a:rPr lang="en-US" altLang="zh-CN" sz="2000" dirty="0">
                <a:ea typeface="黑体" panose="02010609060101010101" pitchFamily="49" charset="-122"/>
              </a:rPr>
              <a:t> </a:t>
            </a:r>
            <a:r>
              <a:rPr lang="zh-CN" altLang="en-US" sz="2000" dirty="0">
                <a:ea typeface="黑体" panose="02010609060101010101" pitchFamily="49" charset="-122"/>
              </a:rPr>
              <a:t>。</a:t>
            </a:r>
            <a:endParaRPr lang="zh-CN" altLang="en-US" sz="2000" dirty="0">
              <a:ea typeface="黑体" panose="02010609060101010101" pitchFamily="49" charset="-122"/>
            </a:endParaRPr>
          </a:p>
          <a:p>
            <a:pPr marL="457200" lvl="1" indent="0">
              <a:lnSpc>
                <a:spcPct val="120000"/>
              </a:lnSpc>
              <a:buClrTx/>
              <a:buSzTx/>
              <a:buFontTx/>
              <a:buNone/>
            </a:pPr>
            <a:endParaRPr lang="en-US" altLang="zh-CN" sz="2000" dirty="0">
              <a:ea typeface="黑体" panose="02010609060101010101" pitchFamily="49" charset="-122"/>
            </a:endParaRPr>
          </a:p>
        </p:txBody>
      </p:sp>
      <p:sp>
        <p:nvSpPr>
          <p:cNvPr id="28678" name="Rectangle 6"/>
          <p:cNvSpPr/>
          <p:nvPr/>
        </p:nvSpPr>
        <p:spPr>
          <a:xfrm>
            <a:off x="911225" y="6092825"/>
            <a:ext cx="7340600" cy="396875"/>
          </a:xfrm>
          <a:prstGeom prst="rect">
            <a:avLst/>
          </a:prstGeom>
          <a:noFill/>
          <a:ln w="508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2000" b="1" dirty="0">
                <a:solidFill>
                  <a:srgbClr val="D90125"/>
                </a:solidFill>
                <a:latin typeface="Times New Roman" panose="02020603050405020304" pitchFamily="18" charset="0"/>
              </a:rPr>
              <a:t>微程序设计的特点：</a:t>
            </a:r>
            <a:r>
              <a:rPr lang="zh-CN" altLang="en-US" sz="2000" b="1" dirty="0">
                <a:solidFill>
                  <a:srgbClr val="2453CA"/>
                </a:solidFill>
                <a:latin typeface="Times New Roman" panose="02020603050405020304" pitchFamily="18" charset="0"/>
              </a:rPr>
              <a:t>具有规整性、可维性和灵活性，但速度慢。</a:t>
            </a:r>
            <a:endParaRPr lang="zh-CN" altLang="en-US" sz="2000" b="1" dirty="0">
              <a:solidFill>
                <a:srgbClr val="2453CA"/>
              </a:solidFill>
              <a:latin typeface="Times New Roman" panose="02020603050405020304"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3"/>
          <p:cNvSpPr>
            <a:spLocks noGrp="1"/>
          </p:cNvSpPr>
          <p:nvPr>
            <p:ph idx="1"/>
          </p:nvPr>
        </p:nvSpPr>
        <p:spPr>
          <a:xfrm>
            <a:off x="323850" y="1268413"/>
            <a:ext cx="8532813" cy="5102225"/>
          </a:xfrm>
        </p:spPr>
        <p:txBody>
          <a:bodyPr vert="horz" wrap="square" lIns="91440" tIns="45720" rIns="91440" bIns="45720" anchor="t" anchorCtr="0"/>
          <a:p>
            <a:pPr>
              <a:lnSpc>
                <a:spcPct val="90000"/>
              </a:lnSpc>
              <a:buNone/>
            </a:pPr>
            <a:r>
              <a:rPr lang="zh-CN" altLang="en-US" sz="2400" dirty="0">
                <a:solidFill>
                  <a:srgbClr val="C00000"/>
                </a:solidFill>
                <a:ea typeface="黑体" panose="02010609060101010101" pitchFamily="49" charset="-122"/>
              </a:rPr>
              <a:t>（</a:t>
            </a:r>
            <a:r>
              <a:rPr lang="en-US" altLang="zh-CN" sz="2400" dirty="0">
                <a:solidFill>
                  <a:srgbClr val="C00000"/>
                </a:solidFill>
                <a:ea typeface="黑体" panose="02010609060101010101" pitchFamily="49" charset="-122"/>
              </a:rPr>
              <a:t>21</a:t>
            </a:r>
            <a:r>
              <a:rPr lang="zh-CN" altLang="en-US" sz="2400" dirty="0">
                <a:solidFill>
                  <a:srgbClr val="C00000"/>
                </a:solidFill>
                <a:ea typeface="黑体" panose="02010609060101010101" pitchFamily="49" charset="-122"/>
              </a:rPr>
              <a:t>年</a:t>
            </a:r>
            <a:r>
              <a:rPr lang="en-US" altLang="zh-CN" sz="2400" dirty="0">
                <a:solidFill>
                  <a:srgbClr val="C00000"/>
                </a:solidFill>
                <a:ea typeface="黑体" panose="02010609060101010101" pitchFamily="49" charset="-122"/>
              </a:rPr>
              <a:t>408</a:t>
            </a:r>
            <a:r>
              <a:rPr lang="zh-CN" altLang="en-US" sz="2400" dirty="0">
                <a:solidFill>
                  <a:srgbClr val="C00000"/>
                </a:solidFill>
                <a:ea typeface="黑体" panose="02010609060101010101" pitchFamily="49" charset="-122"/>
              </a:rPr>
              <a:t>）下列关于数据通道的叙述中，错误的是（）。</a:t>
            </a:r>
            <a:endParaRPr lang="zh-CN" altLang="en-US" sz="2400" dirty="0">
              <a:solidFill>
                <a:srgbClr val="C00000"/>
              </a:solidFill>
              <a:ea typeface="黑体" panose="02010609060101010101" pitchFamily="49" charset="-122"/>
            </a:endParaRPr>
          </a:p>
          <a:p>
            <a:pPr>
              <a:lnSpc>
                <a:spcPct val="90000"/>
              </a:lnSpc>
              <a:buNone/>
            </a:pPr>
            <a:endParaRPr lang="zh-CN" altLang="en-US" sz="2400" dirty="0">
              <a:solidFill>
                <a:srgbClr val="C00000"/>
              </a:solidFill>
              <a:ea typeface="黑体" panose="02010609060101010101" pitchFamily="49" charset="-122"/>
            </a:endParaRPr>
          </a:p>
          <a:p>
            <a:pPr>
              <a:lnSpc>
                <a:spcPct val="90000"/>
              </a:lnSpc>
              <a:buNone/>
            </a:pPr>
            <a:r>
              <a:rPr lang="en-US" altLang="zh-CN" sz="2400" dirty="0">
                <a:solidFill>
                  <a:srgbClr val="C00000"/>
                </a:solidFill>
                <a:ea typeface="黑体" panose="02010609060101010101" pitchFamily="49" charset="-122"/>
              </a:rPr>
              <a:t>A.</a:t>
            </a:r>
            <a:r>
              <a:rPr lang="zh-CN" altLang="en-US" sz="2400" dirty="0">
                <a:solidFill>
                  <a:srgbClr val="C00000"/>
                </a:solidFill>
                <a:ea typeface="黑体" panose="02010609060101010101" pitchFamily="49" charset="-122"/>
              </a:rPr>
              <a:t>数据通路包含</a:t>
            </a:r>
            <a:r>
              <a:rPr lang="en-US" altLang="zh-CN" sz="2400" dirty="0">
                <a:solidFill>
                  <a:srgbClr val="C00000"/>
                </a:solidFill>
                <a:ea typeface="黑体" panose="02010609060101010101" pitchFamily="49" charset="-122"/>
              </a:rPr>
              <a:t>ALU</a:t>
            </a:r>
            <a:r>
              <a:rPr lang="zh-CN" altLang="en-US" sz="2400" dirty="0">
                <a:solidFill>
                  <a:srgbClr val="C00000"/>
                </a:solidFill>
                <a:ea typeface="黑体" panose="02010609060101010101" pitchFamily="49" charset="-122"/>
              </a:rPr>
              <a:t>等组合逻辑（操作）元件</a:t>
            </a:r>
            <a:endParaRPr lang="en-US" altLang="zh-CN" sz="2400" dirty="0">
              <a:solidFill>
                <a:srgbClr val="C00000"/>
              </a:solidFill>
              <a:ea typeface="黑体" panose="02010609060101010101" pitchFamily="49" charset="-122"/>
            </a:endParaRPr>
          </a:p>
          <a:p>
            <a:pPr>
              <a:lnSpc>
                <a:spcPct val="90000"/>
              </a:lnSpc>
              <a:buNone/>
            </a:pPr>
            <a:r>
              <a:rPr lang="en-US" altLang="zh-CN" sz="2400" dirty="0">
                <a:solidFill>
                  <a:srgbClr val="C00000"/>
                </a:solidFill>
                <a:ea typeface="黑体" panose="02010609060101010101" pitchFamily="49" charset="-122"/>
              </a:rPr>
              <a:t>B.</a:t>
            </a:r>
            <a:r>
              <a:rPr lang="zh-CN" altLang="en-US" sz="2400" dirty="0">
                <a:solidFill>
                  <a:srgbClr val="C00000"/>
                </a:solidFill>
                <a:ea typeface="黑体" panose="02010609060101010101" pitchFamily="49" charset="-122"/>
              </a:rPr>
              <a:t>数据通路包含寄存器等时序逻辑（状态）元件</a:t>
            </a:r>
            <a:endParaRPr lang="en-US" altLang="zh-CN" sz="2400" dirty="0">
              <a:solidFill>
                <a:srgbClr val="C00000"/>
              </a:solidFill>
              <a:ea typeface="黑体" panose="02010609060101010101" pitchFamily="49" charset="-122"/>
            </a:endParaRPr>
          </a:p>
          <a:p>
            <a:pPr>
              <a:lnSpc>
                <a:spcPct val="90000"/>
              </a:lnSpc>
              <a:buNone/>
            </a:pPr>
            <a:r>
              <a:rPr lang="en-US" altLang="zh-CN" sz="2400" dirty="0">
                <a:solidFill>
                  <a:srgbClr val="C00000"/>
                </a:solidFill>
                <a:ea typeface="黑体" panose="02010609060101010101" pitchFamily="49" charset="-122"/>
              </a:rPr>
              <a:t>C.</a:t>
            </a:r>
            <a:r>
              <a:rPr lang="zh-CN" altLang="en-US" sz="2400" dirty="0">
                <a:solidFill>
                  <a:srgbClr val="C00000"/>
                </a:solidFill>
                <a:ea typeface="黑体" panose="02010609060101010101" pitchFamily="49" charset="-122"/>
              </a:rPr>
              <a:t>数据通路不包含用于异常事件检测及响应的电路</a:t>
            </a:r>
            <a:endParaRPr lang="en-US" altLang="zh-CN" sz="2400" dirty="0">
              <a:solidFill>
                <a:srgbClr val="C00000"/>
              </a:solidFill>
              <a:ea typeface="黑体" panose="02010609060101010101" pitchFamily="49" charset="-122"/>
            </a:endParaRPr>
          </a:p>
          <a:p>
            <a:pPr>
              <a:lnSpc>
                <a:spcPct val="90000"/>
              </a:lnSpc>
              <a:buNone/>
            </a:pPr>
            <a:r>
              <a:rPr lang="en-US" altLang="zh-CN" sz="2400" dirty="0">
                <a:solidFill>
                  <a:srgbClr val="C00000"/>
                </a:solidFill>
                <a:ea typeface="黑体" panose="02010609060101010101" pitchFamily="49" charset="-122"/>
              </a:rPr>
              <a:t>D.</a:t>
            </a:r>
            <a:r>
              <a:rPr lang="zh-CN" altLang="en-US" sz="2400" dirty="0">
                <a:solidFill>
                  <a:srgbClr val="C00000"/>
                </a:solidFill>
                <a:ea typeface="黑体" panose="02010609060101010101" pitchFamily="49" charset="-122"/>
              </a:rPr>
              <a:t>数据通路中的数据流动路径由控制信号进行控制</a:t>
            </a:r>
            <a:endParaRPr lang="en-US" altLang="zh-CN" sz="2400" dirty="0">
              <a:solidFill>
                <a:srgbClr val="C00000"/>
              </a:solidFill>
              <a:ea typeface="黑体" panose="02010609060101010101" pitchFamily="49" charset="-122"/>
            </a:endParaRPr>
          </a:p>
          <a:p>
            <a:pPr>
              <a:lnSpc>
                <a:spcPct val="90000"/>
              </a:lnSpc>
              <a:buNone/>
            </a:pPr>
            <a:endParaRPr lang="zh-CN" alt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Rectangle 3"/>
          <p:cNvSpPr>
            <a:spLocks noGrp="1" noChangeArrowheads="1"/>
          </p:cNvSpPr>
          <p:nvPr>
            <p:ph idx="1"/>
          </p:nvPr>
        </p:nvSpPr>
        <p:spPr>
          <a:xfrm>
            <a:off x="323850" y="1268413"/>
            <a:ext cx="8532813" cy="51022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zh-CN" altLang="en-US" sz="24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a:t>
            </a:r>
            <a:r>
              <a:rPr kumimoji="1" lang="en-US" altLang="zh-CN" sz="24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23</a:t>
            </a:r>
            <a:r>
              <a:rPr kumimoji="1" lang="zh-CN" altLang="en-US" sz="24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年</a:t>
            </a:r>
            <a:r>
              <a:rPr kumimoji="1" lang="en-US" altLang="zh-CN" sz="24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408</a:t>
            </a:r>
            <a:r>
              <a:rPr kumimoji="1" lang="zh-CN" altLang="en-US" sz="24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）数据</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通路由组合逻辑元件（操作元件）和时序逻辑元件（状态元件）组成。下列给出的元件中，属于操作元件的是（ ）。</a:t>
            </a:r>
            <a:endPar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 </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算术逻辑部件（</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ALU</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endPar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II. </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程序计数器（</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PC</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endPar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III. </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通用寄存器组（</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GPRs</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endPar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IV. </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多路选择题（</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MUX</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endPar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 </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仅</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II</a:t>
            </a:r>
            <a:endPar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B. </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仅</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IV</a:t>
            </a:r>
            <a:endPar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C. </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仅</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II</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III</a:t>
            </a:r>
            <a:endPar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D. </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仅</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II</a:t>
            </a:r>
            <a:r>
              <a:rPr kumimoji="1" lang="zh-CN" altLang="en-US"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a:t>
            </a:r>
            <a:r>
              <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rPr>
              <a:t>IV</a:t>
            </a:r>
            <a:endParaRPr kumimoji="1" lang="en-US" altLang="zh-CN" sz="2400" b="0" i="0" u="none" strike="noStrike" kern="0" cap="none" spc="0" normalizeH="0" baseline="0" noProof="0" dirty="0">
              <a:ln>
                <a:noFill/>
              </a:ln>
              <a:solidFill>
                <a:schemeClr val="tx1"/>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defRPr/>
            </a:pPr>
            <a:endParaRPr kumimoji="1" lang="zh-CN" altLang="en-US" sz="19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91440" tIns="45720" rIns="91440" bIns="45720" anchor="ctr" anchorCtr="0"/>
          <a:p>
            <a:r>
              <a:rPr lang="en-US" altLang="zh-CN" dirty="0"/>
              <a:t>5.2</a:t>
            </a:r>
            <a:r>
              <a:rPr lang="zh-CN" altLang="en-US" dirty="0"/>
              <a:t>指令周期</a:t>
            </a:r>
            <a:endParaRPr lang="zh-CN" altLang="en-US" dirty="0"/>
          </a:p>
        </p:txBody>
      </p:sp>
      <p:sp>
        <p:nvSpPr>
          <p:cNvPr id="30723" name="Rectangle 3"/>
          <p:cNvSpPr>
            <a:spLocks noGrp="1"/>
          </p:cNvSpPr>
          <p:nvPr>
            <p:ph idx="1"/>
          </p:nvPr>
        </p:nvSpPr>
        <p:spPr>
          <a:xfrm>
            <a:off x="817563" y="1590675"/>
            <a:ext cx="7499350" cy="4862513"/>
          </a:xfrm>
        </p:spPr>
        <p:txBody>
          <a:bodyPr vert="horz" wrap="square" lIns="91440" tIns="45720" rIns="91440" bIns="45720" anchor="t" anchorCtr="0"/>
          <a:p>
            <a:pPr>
              <a:buNone/>
            </a:pPr>
            <a:r>
              <a:rPr lang="en-US" altLang="zh-CN" b="1" dirty="0">
                <a:solidFill>
                  <a:srgbClr val="0080C0"/>
                </a:solidFill>
                <a:hlinkClick r:id="" action="ppaction://noaction"/>
              </a:rPr>
              <a:t>5.2.1 </a:t>
            </a:r>
            <a:r>
              <a:rPr lang="zh-CN" altLang="en-US" b="1" dirty="0">
                <a:solidFill>
                  <a:srgbClr val="0080C0"/>
                </a:solidFill>
                <a:hlinkClick r:id="" action="ppaction://noaction"/>
              </a:rPr>
              <a:t>指令周期的基本概念</a:t>
            </a:r>
            <a:endParaRPr lang="zh-CN" altLang="en-US" dirty="0"/>
          </a:p>
          <a:p>
            <a:pPr>
              <a:buNone/>
            </a:pPr>
            <a:r>
              <a:rPr lang="en-US" altLang="zh-CN" b="1" dirty="0">
                <a:solidFill>
                  <a:srgbClr val="0080C0"/>
                </a:solidFill>
                <a:hlinkClick r:id="" action="ppaction://noaction"/>
              </a:rPr>
              <a:t>5.2.2 </a:t>
            </a:r>
            <a:r>
              <a:rPr lang="zh-CN" altLang="en-US" b="1" dirty="0">
                <a:solidFill>
                  <a:srgbClr val="0080C0"/>
                </a:solidFill>
                <a:hlinkClick r:id="" action="ppaction://noaction"/>
              </a:rPr>
              <a:t>典型指令的指令周期</a:t>
            </a:r>
            <a:endParaRPr lang="zh-CN" altLang="en-US" dirty="0"/>
          </a:p>
          <a:p>
            <a:pPr>
              <a:buNone/>
            </a:pPr>
            <a:r>
              <a:rPr lang="en-US" altLang="zh-CN" b="1" dirty="0">
                <a:solidFill>
                  <a:srgbClr val="0080C0"/>
                </a:solidFill>
                <a:hlinkClick r:id="" action="ppaction://noaction"/>
              </a:rPr>
              <a:t>5.2.3 </a:t>
            </a:r>
            <a:r>
              <a:rPr lang="zh-CN" altLang="en-US" b="1" dirty="0">
                <a:solidFill>
                  <a:srgbClr val="0080C0"/>
                </a:solidFill>
                <a:hlinkClick r:id="" action="ppaction://noaction"/>
              </a:rPr>
              <a:t>用方框图语言表示指令周期</a:t>
            </a:r>
            <a:endParaRPr lang="zh-CN" altLang="en-US" dirty="0"/>
          </a:p>
          <a:p>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539115" y="0"/>
            <a:ext cx="8229600" cy="1371600"/>
          </a:xfrm>
        </p:spPr>
        <p:txBody>
          <a:bodyPr/>
          <a:lstStyle/>
          <a:p>
            <a:pPr eaLnBrk="1" hangingPunct="1">
              <a:defRPr/>
            </a:pPr>
            <a:r>
              <a:rPr lang="zh-CN" altLang="en-US"/>
              <a:t>基本概念</a:t>
            </a:r>
            <a:endParaRPr lang="zh-CN" altLang="en-US"/>
          </a:p>
        </p:txBody>
      </p:sp>
      <p:sp>
        <p:nvSpPr>
          <p:cNvPr id="36866" name="Rectangle 3"/>
          <p:cNvSpPr>
            <a:spLocks noGrp="1" noChangeArrowheads="1"/>
          </p:cNvSpPr>
          <p:nvPr>
            <p:ph idx="1"/>
          </p:nvPr>
        </p:nvSpPr>
        <p:spPr>
          <a:xfrm>
            <a:off x="467995" y="1052830"/>
            <a:ext cx="8229600" cy="3886200"/>
          </a:xfrm>
        </p:spPr>
        <p:txBody>
          <a:bodyPr/>
          <a:lstStyle/>
          <a:p>
            <a:pPr eaLnBrk="1" hangingPunct="1"/>
            <a:r>
              <a:rPr lang="zh-CN" altLang="en-US" sz="2800" dirty="0"/>
              <a:t>指令周期</a:t>
            </a:r>
            <a:endParaRPr lang="zh-CN" altLang="en-US" sz="2800" dirty="0"/>
          </a:p>
          <a:p>
            <a:pPr lvl="1" eaLnBrk="1" hangingPunct="1"/>
            <a:r>
              <a:rPr lang="zh-CN" altLang="en-US" sz="2400" dirty="0"/>
              <a:t>指令周期是取指令、分析指令并执行指令所需的总时间</a:t>
            </a:r>
            <a:endParaRPr lang="zh-CN" altLang="en-US" sz="2400" dirty="0"/>
          </a:p>
          <a:p>
            <a:pPr lvl="1" eaLnBrk="1" hangingPunct="1"/>
            <a:r>
              <a:rPr lang="zh-CN" altLang="en-US" sz="2400" dirty="0">
                <a:sym typeface="+mn-ea"/>
              </a:rPr>
              <a:t>由于各种指令的操作功能不同，因此各种指令的指令周期长度是不相同的</a:t>
            </a:r>
            <a:endParaRPr lang="zh-CN" altLang="en-US" sz="2400" dirty="0"/>
          </a:p>
          <a:p>
            <a:pPr lvl="1" eaLnBrk="1" hangingPunct="1"/>
            <a:r>
              <a:rPr lang="zh-CN" altLang="en-US" sz="2400" dirty="0">
                <a:sym typeface="+mn-ea"/>
              </a:rPr>
              <a:t>指令周期通常包含若干个</a:t>
            </a:r>
            <a:r>
              <a:rPr lang="en-US" altLang="zh-CN" sz="2400" dirty="0">
                <a:sym typeface="+mn-ea"/>
              </a:rPr>
              <a:t>CPU</a:t>
            </a:r>
            <a:r>
              <a:rPr lang="zh-CN" altLang="en-US" sz="2400" dirty="0">
                <a:sym typeface="+mn-ea"/>
              </a:rPr>
              <a:t>周期</a:t>
            </a:r>
            <a:endParaRPr lang="zh-CN" altLang="en-US" sz="2400" dirty="0"/>
          </a:p>
          <a:p>
            <a:pPr eaLnBrk="1" hangingPunct="1"/>
            <a:r>
              <a:rPr lang="en-US" altLang="zh-CN" sz="2800" dirty="0"/>
              <a:t>CPU</a:t>
            </a:r>
            <a:r>
              <a:rPr lang="zh-CN" altLang="en-US" sz="2800" dirty="0"/>
              <a:t>周期（也称机器周期）</a:t>
            </a:r>
            <a:endParaRPr lang="zh-CN" altLang="en-US" sz="2800" dirty="0"/>
          </a:p>
          <a:p>
            <a:pPr lvl="1" eaLnBrk="1" hangingPunct="1"/>
            <a:r>
              <a:rPr lang="zh-CN" altLang="en-US" sz="2400" dirty="0"/>
              <a:t>是指内存中读取一个指令字的最短时间</a:t>
            </a:r>
            <a:endParaRPr lang="zh-CN" altLang="en-US" sz="2400" dirty="0"/>
          </a:p>
          <a:p>
            <a:pPr lvl="1" eaLnBrk="1" hangingPunct="1"/>
            <a:r>
              <a:rPr lang="en-US" altLang="zh-CN" sz="2400" dirty="0"/>
              <a:t>CPU</a:t>
            </a:r>
            <a:r>
              <a:rPr lang="zh-CN" altLang="en-US" sz="2400" dirty="0"/>
              <a:t>周期通常包含若干个时钟周期</a:t>
            </a:r>
            <a:endParaRPr lang="zh-CN" altLang="en-US" sz="2400" dirty="0"/>
          </a:p>
          <a:p>
            <a:pPr eaLnBrk="1" hangingPunct="1"/>
            <a:r>
              <a:rPr lang="zh-CN" altLang="en-US" sz="2800" dirty="0"/>
              <a:t>时钟周期</a:t>
            </a:r>
            <a:endParaRPr lang="zh-CN" altLang="en-US" sz="2800" dirty="0"/>
          </a:p>
          <a:p>
            <a:pPr lvl="1" eaLnBrk="1" hangingPunct="1"/>
            <a:r>
              <a:rPr lang="zh-CN" altLang="en-US" sz="2400" dirty="0"/>
              <a:t>是处理操作的最基本单位，也称为节拍脉冲或</a:t>
            </a:r>
            <a:r>
              <a:rPr lang="en-US" altLang="zh-CN" sz="2400" dirty="0"/>
              <a:t>T</a:t>
            </a:r>
            <a:r>
              <a:rPr lang="zh-CN" altLang="en-US" sz="2400" dirty="0"/>
              <a:t>周期</a:t>
            </a:r>
            <a:endParaRPr lang="zh-CN" altLang="en-US" sz="2400" dirty="0"/>
          </a:p>
        </p:txBody>
      </p:sp>
    </p:spTree>
  </p:cSld>
  <p:clrMapOvr>
    <a:masterClrMapping/>
  </p:clrMapOvr>
  <p:transition spd="med">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5"/>
          <p:cNvSpPr txBox="1">
            <a:spLocks noGrp="1"/>
          </p:cNvSpPr>
          <p:nvPr>
            <p:ph type="sldNum" sz="quarter"/>
          </p:nvPr>
        </p:nvSpPr>
        <p:spPr>
          <a:xfrm>
            <a:off x="6553200" y="6248400"/>
            <a:ext cx="2133600" cy="457200"/>
          </a:xfrm>
          <a:prstGeom prst="rect">
            <a:avLst/>
          </a:prstGeom>
          <a:noFill/>
          <a:ln w="9525">
            <a:noFill/>
          </a:ln>
        </p:spPr>
        <p:txBody>
          <a:bodyPr/>
          <a:p>
            <a:pPr marL="0" indent="0" eaLnBrk="1" hangingPunct="1">
              <a:spcBef>
                <a:spcPct val="0"/>
              </a:spcBef>
              <a:buClrTx/>
              <a:buSzTx/>
              <a:buFontTx/>
              <a:buNone/>
            </a:pPr>
            <a:fld id="{9A0DB2DC-4C9A-4742-B13C-FB6460FD3503}" type="slidenum">
              <a:rPr lang="en-US" altLang="zh-CN" sz="1800" dirty="0"/>
            </a:fld>
            <a:endParaRPr lang="en-US" altLang="zh-CN" sz="1800" dirty="0"/>
          </a:p>
        </p:txBody>
      </p:sp>
      <p:sp>
        <p:nvSpPr>
          <p:cNvPr id="32772" name="Rectangle 3"/>
          <p:cNvSpPr>
            <a:spLocks noGrp="1"/>
          </p:cNvSpPr>
          <p:nvPr>
            <p:ph idx="1"/>
          </p:nvPr>
        </p:nvSpPr>
        <p:spPr>
          <a:xfrm>
            <a:off x="251143" y="620713"/>
            <a:ext cx="8640762" cy="3097212"/>
          </a:xfrm>
        </p:spPr>
        <p:txBody>
          <a:bodyPr vert="horz" wrap="square" lIns="91440" tIns="45720" rIns="91440" bIns="45720" anchor="t" anchorCtr="0"/>
          <a:p>
            <a:pPr lvl="2"/>
            <a:r>
              <a:rPr lang="zh-CN" altLang="en-US" dirty="0"/>
              <a:t>通常把一条</a:t>
            </a:r>
            <a:r>
              <a:rPr lang="zh-CN" altLang="en-US" dirty="0">
                <a:solidFill>
                  <a:srgbClr val="FF3300"/>
                </a:solidFill>
              </a:rPr>
              <a:t>指令周期</a:t>
            </a:r>
            <a:r>
              <a:rPr lang="zh-CN" altLang="en-US" dirty="0"/>
              <a:t>划分为</a:t>
            </a:r>
            <a:r>
              <a:rPr lang="zh-CN" altLang="en-US" dirty="0">
                <a:solidFill>
                  <a:srgbClr val="FF3300"/>
                </a:solidFill>
              </a:rPr>
              <a:t>若干个机器周期</a:t>
            </a:r>
            <a:r>
              <a:rPr lang="zh-CN" altLang="en-US" dirty="0"/>
              <a:t>，每个</a:t>
            </a:r>
            <a:r>
              <a:rPr lang="zh-CN" altLang="en-US" dirty="0">
                <a:solidFill>
                  <a:srgbClr val="FF3300"/>
                </a:solidFill>
              </a:rPr>
              <a:t>机器周期完成一个基本</a:t>
            </a:r>
            <a:r>
              <a:rPr lang="zh-CN" altLang="en-US" dirty="0"/>
              <a:t>操作（如取指、执行等）。</a:t>
            </a:r>
            <a:endParaRPr lang="zh-CN" altLang="en-US" dirty="0"/>
          </a:p>
          <a:p>
            <a:pPr lvl="2"/>
            <a:r>
              <a:rPr lang="zh-CN" altLang="en-US" dirty="0"/>
              <a:t>以</a:t>
            </a:r>
            <a:r>
              <a:rPr lang="zh-CN" altLang="en-US" dirty="0">
                <a:solidFill>
                  <a:srgbClr val="FF3300"/>
                </a:solidFill>
              </a:rPr>
              <a:t>主存</a:t>
            </a:r>
            <a:r>
              <a:rPr lang="zh-CN" altLang="en-US" dirty="0"/>
              <a:t>的工作周期</a:t>
            </a:r>
            <a:r>
              <a:rPr lang="en-US" altLang="zh-CN" dirty="0"/>
              <a:t>(</a:t>
            </a:r>
            <a:r>
              <a:rPr lang="zh-CN" altLang="en-US" dirty="0"/>
              <a:t>存取周期</a:t>
            </a:r>
            <a:r>
              <a:rPr lang="en-US" altLang="zh-CN" dirty="0"/>
              <a:t>)</a:t>
            </a:r>
            <a:r>
              <a:rPr lang="zh-CN" altLang="en-US" dirty="0"/>
              <a:t>为基础来规定</a:t>
            </a:r>
            <a:r>
              <a:rPr lang="en-US" altLang="zh-CN" dirty="0"/>
              <a:t>CPU</a:t>
            </a:r>
            <a:r>
              <a:rPr lang="zh-CN" altLang="en-US" dirty="0"/>
              <a:t>周期，比如，可以用</a:t>
            </a:r>
            <a:r>
              <a:rPr lang="en-US" altLang="zh-CN" dirty="0"/>
              <a:t>CPU</a:t>
            </a:r>
            <a:r>
              <a:rPr lang="zh-CN" altLang="en-US" dirty="0"/>
              <a:t>读取一个指令字的最短时间来规定</a:t>
            </a:r>
            <a:r>
              <a:rPr lang="en-US" altLang="zh-CN" dirty="0"/>
              <a:t>CPU</a:t>
            </a:r>
            <a:r>
              <a:rPr lang="zh-CN" altLang="en-US" dirty="0"/>
              <a:t>周期。</a:t>
            </a:r>
            <a:endParaRPr lang="zh-CN" altLang="en-US" dirty="0"/>
          </a:p>
          <a:p>
            <a:pPr lvl="2"/>
            <a:r>
              <a:rPr lang="zh-CN" altLang="en-US" dirty="0">
                <a:solidFill>
                  <a:srgbClr val="FF3300"/>
                </a:solidFill>
              </a:rPr>
              <a:t>不同</a:t>
            </a:r>
            <a:r>
              <a:rPr lang="zh-CN" altLang="en-US" dirty="0"/>
              <a:t>的指令，可能包含</a:t>
            </a:r>
            <a:r>
              <a:rPr lang="zh-CN" altLang="en-US" dirty="0">
                <a:solidFill>
                  <a:srgbClr val="FF3300"/>
                </a:solidFill>
              </a:rPr>
              <a:t>不同</a:t>
            </a:r>
            <a:r>
              <a:rPr lang="zh-CN" altLang="en-US" dirty="0"/>
              <a:t>数目的机器周期。</a:t>
            </a:r>
            <a:endParaRPr lang="zh-CN" altLang="en-US" dirty="0"/>
          </a:p>
          <a:p>
            <a:pPr lvl="2"/>
            <a:r>
              <a:rPr lang="zh-CN" altLang="en-US" dirty="0"/>
              <a:t>如下图所示，执行一条指令需要两个</a:t>
            </a:r>
            <a:r>
              <a:rPr lang="en-US" altLang="zh-CN" dirty="0"/>
              <a:t>CPU</a:t>
            </a:r>
            <a:r>
              <a:rPr lang="zh-CN" altLang="en-US" dirty="0"/>
              <a:t>周期</a:t>
            </a:r>
            <a:endParaRPr lang="zh-CN" altLang="en-US" dirty="0"/>
          </a:p>
        </p:txBody>
      </p:sp>
      <p:pic>
        <p:nvPicPr>
          <p:cNvPr id="32773" name="Picture 4" descr="5a3">
            <a:hlinkClick r:id="rId1"/>
          </p:cNvPr>
          <p:cNvPicPr>
            <a:picLocks noChangeAspect="1"/>
          </p:cNvPicPr>
          <p:nvPr/>
        </p:nvPicPr>
        <p:blipFill>
          <a:blip r:embed="rId2"/>
          <a:stretch>
            <a:fillRect/>
          </a:stretch>
        </p:blipFill>
        <p:spPr>
          <a:xfrm>
            <a:off x="899795" y="3717290"/>
            <a:ext cx="7031990" cy="2423160"/>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 Box 2"/>
          <p:cNvSpPr txBox="1"/>
          <p:nvPr/>
        </p:nvSpPr>
        <p:spPr>
          <a:xfrm>
            <a:off x="1116013" y="401638"/>
            <a:ext cx="571500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b="1" dirty="0">
                <a:solidFill>
                  <a:srgbClr val="2453CA"/>
                </a:solidFill>
                <a:latin typeface="Times New Roman" panose="02020603050405020304" pitchFamily="18" charset="0"/>
              </a:rPr>
              <a:t>不同指令的指令周期不同</a:t>
            </a:r>
            <a:endParaRPr lang="zh-CN" altLang="en-US" b="1" dirty="0">
              <a:solidFill>
                <a:srgbClr val="2453CA"/>
              </a:solidFill>
              <a:latin typeface="Times New Roman" panose="02020603050405020304" pitchFamily="18" charset="0"/>
            </a:endParaRPr>
          </a:p>
        </p:txBody>
      </p:sp>
      <p:grpSp>
        <p:nvGrpSpPr>
          <p:cNvPr id="33795" name="Group 3"/>
          <p:cNvGrpSpPr/>
          <p:nvPr/>
        </p:nvGrpSpPr>
        <p:grpSpPr>
          <a:xfrm>
            <a:off x="649605" y="1122363"/>
            <a:ext cx="1981200" cy="830262"/>
            <a:chOff x="816" y="1056"/>
            <a:chExt cx="1248" cy="523"/>
          </a:xfrm>
        </p:grpSpPr>
        <p:sp>
          <p:nvSpPr>
            <p:cNvPr id="33873" name="Text Box 4"/>
            <p:cNvSpPr txBox="1"/>
            <p:nvPr/>
          </p:nvSpPr>
          <p:spPr>
            <a:xfrm>
              <a:off x="1046" y="1056"/>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2453CA"/>
                  </a:solidFill>
                  <a:latin typeface="Times New Roman" panose="02020603050405020304" pitchFamily="18" charset="0"/>
                </a:rPr>
                <a:t>取指周期</a:t>
              </a:r>
              <a:endParaRPr lang="zh-CN" altLang="en-US" sz="2000" b="1" dirty="0">
                <a:solidFill>
                  <a:srgbClr val="2453CA"/>
                </a:solidFill>
                <a:latin typeface="Times New Roman" panose="02020603050405020304" pitchFamily="18" charset="0"/>
              </a:endParaRPr>
            </a:p>
          </p:txBody>
        </p:sp>
        <p:sp>
          <p:nvSpPr>
            <p:cNvPr id="33874" name="Text Box 5"/>
            <p:cNvSpPr txBox="1"/>
            <p:nvPr/>
          </p:nvSpPr>
          <p:spPr>
            <a:xfrm>
              <a:off x="1056" y="1288"/>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2453CA"/>
                  </a:solidFill>
                  <a:latin typeface="Times New Roman" panose="02020603050405020304" pitchFamily="18" charset="0"/>
                </a:rPr>
                <a:t>指令周期</a:t>
              </a:r>
              <a:endParaRPr lang="zh-CN" altLang="en-US" sz="2000" b="1" dirty="0">
                <a:solidFill>
                  <a:srgbClr val="2453CA"/>
                </a:solidFill>
                <a:latin typeface="Times New Roman" panose="02020603050405020304" pitchFamily="18" charset="0"/>
              </a:endParaRPr>
            </a:p>
          </p:txBody>
        </p:sp>
        <p:sp>
          <p:nvSpPr>
            <p:cNvPr id="33875" name="Line 6"/>
            <p:cNvSpPr/>
            <p:nvPr/>
          </p:nvSpPr>
          <p:spPr>
            <a:xfrm flipV="1">
              <a:off x="816" y="1296"/>
              <a:ext cx="1248" cy="2"/>
            </a:xfrm>
            <a:prstGeom prst="line">
              <a:avLst/>
            </a:prstGeom>
            <a:ln w="28575" cap="flat" cmpd="sng">
              <a:solidFill>
                <a:schemeClr val="tx1"/>
              </a:solidFill>
              <a:prstDash val="solid"/>
              <a:headEnd type="none" w="med" len="med"/>
              <a:tailEnd type="none" w="med" len="med"/>
            </a:ln>
          </p:spPr>
        </p:sp>
        <p:sp>
          <p:nvSpPr>
            <p:cNvPr id="33876" name="Line 7"/>
            <p:cNvSpPr/>
            <p:nvPr/>
          </p:nvSpPr>
          <p:spPr>
            <a:xfrm>
              <a:off x="816" y="1058"/>
              <a:ext cx="0" cy="521"/>
            </a:xfrm>
            <a:prstGeom prst="line">
              <a:avLst/>
            </a:prstGeom>
            <a:ln w="28575" cap="flat" cmpd="sng">
              <a:solidFill>
                <a:schemeClr val="tx1"/>
              </a:solidFill>
              <a:prstDash val="solid"/>
              <a:headEnd type="none" w="med" len="med"/>
              <a:tailEnd type="none" w="med" len="med"/>
            </a:ln>
          </p:spPr>
        </p:sp>
        <p:sp>
          <p:nvSpPr>
            <p:cNvPr id="33877" name="Line 8"/>
            <p:cNvSpPr/>
            <p:nvPr/>
          </p:nvSpPr>
          <p:spPr>
            <a:xfrm>
              <a:off x="2064" y="1058"/>
              <a:ext cx="0" cy="521"/>
            </a:xfrm>
            <a:prstGeom prst="line">
              <a:avLst/>
            </a:prstGeom>
            <a:ln w="28575" cap="flat" cmpd="sng">
              <a:solidFill>
                <a:schemeClr val="tx1"/>
              </a:solidFill>
              <a:prstDash val="solid"/>
              <a:headEnd type="none" w="med" len="med"/>
              <a:tailEnd type="none" w="med" len="med"/>
            </a:ln>
          </p:spPr>
        </p:sp>
        <p:sp>
          <p:nvSpPr>
            <p:cNvPr id="33878" name="Line 9"/>
            <p:cNvSpPr/>
            <p:nvPr/>
          </p:nvSpPr>
          <p:spPr>
            <a:xfrm flipH="1">
              <a:off x="816" y="1394"/>
              <a:ext cx="240" cy="0"/>
            </a:xfrm>
            <a:prstGeom prst="line">
              <a:avLst/>
            </a:prstGeom>
            <a:ln w="9525" cap="flat" cmpd="sng">
              <a:solidFill>
                <a:schemeClr val="tx1"/>
              </a:solidFill>
              <a:prstDash val="solid"/>
              <a:headEnd type="none" w="med" len="med"/>
              <a:tailEnd type="stealth" w="med" len="med"/>
            </a:ln>
          </p:spPr>
        </p:sp>
        <p:sp>
          <p:nvSpPr>
            <p:cNvPr id="33879" name="Line 10"/>
            <p:cNvSpPr/>
            <p:nvPr/>
          </p:nvSpPr>
          <p:spPr>
            <a:xfrm rot="-10800000" flipH="1">
              <a:off x="1824" y="1394"/>
              <a:ext cx="240" cy="0"/>
            </a:xfrm>
            <a:prstGeom prst="line">
              <a:avLst/>
            </a:prstGeom>
            <a:ln w="9525" cap="flat" cmpd="sng">
              <a:solidFill>
                <a:schemeClr val="tx1"/>
              </a:solidFill>
              <a:prstDash val="solid"/>
              <a:headEnd type="none" w="med" len="med"/>
              <a:tailEnd type="stealth" w="med" len="med"/>
            </a:ln>
          </p:spPr>
        </p:sp>
        <p:sp>
          <p:nvSpPr>
            <p:cNvPr id="33880" name="Line 11"/>
            <p:cNvSpPr/>
            <p:nvPr/>
          </p:nvSpPr>
          <p:spPr>
            <a:xfrm flipH="1">
              <a:off x="816" y="1200"/>
              <a:ext cx="240" cy="0"/>
            </a:xfrm>
            <a:prstGeom prst="line">
              <a:avLst/>
            </a:prstGeom>
            <a:ln w="9525" cap="flat" cmpd="sng">
              <a:solidFill>
                <a:schemeClr val="tx1"/>
              </a:solidFill>
              <a:prstDash val="solid"/>
              <a:headEnd type="none" w="med" len="med"/>
              <a:tailEnd type="stealth" w="med" len="med"/>
            </a:ln>
          </p:spPr>
        </p:sp>
        <p:sp>
          <p:nvSpPr>
            <p:cNvPr id="33881" name="Line 12"/>
            <p:cNvSpPr/>
            <p:nvPr/>
          </p:nvSpPr>
          <p:spPr>
            <a:xfrm rot="-10800000" flipH="1">
              <a:off x="1824" y="1200"/>
              <a:ext cx="240" cy="0"/>
            </a:xfrm>
            <a:prstGeom prst="line">
              <a:avLst/>
            </a:prstGeom>
            <a:ln w="9525" cap="flat" cmpd="sng">
              <a:solidFill>
                <a:schemeClr val="tx1"/>
              </a:solidFill>
              <a:prstDash val="solid"/>
              <a:headEnd type="none" w="med" len="med"/>
              <a:tailEnd type="stealth" w="med" len="med"/>
            </a:ln>
          </p:spPr>
        </p:sp>
      </p:grpSp>
      <p:grpSp>
        <p:nvGrpSpPr>
          <p:cNvPr id="33796" name="Group 13"/>
          <p:cNvGrpSpPr/>
          <p:nvPr/>
        </p:nvGrpSpPr>
        <p:grpSpPr>
          <a:xfrm>
            <a:off x="649605" y="2060575"/>
            <a:ext cx="3886200" cy="974725"/>
            <a:chOff x="816" y="1882"/>
            <a:chExt cx="2448" cy="614"/>
          </a:xfrm>
        </p:grpSpPr>
        <p:sp>
          <p:nvSpPr>
            <p:cNvPr id="33860" name="Text Box 14"/>
            <p:cNvSpPr txBox="1"/>
            <p:nvPr/>
          </p:nvSpPr>
          <p:spPr>
            <a:xfrm>
              <a:off x="1046" y="1882"/>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2453CA"/>
                  </a:solidFill>
                  <a:latin typeface="Times New Roman" panose="02020603050405020304" pitchFamily="18" charset="0"/>
                </a:rPr>
                <a:t>取指周期</a:t>
              </a:r>
              <a:endParaRPr lang="zh-CN" altLang="en-US" sz="2000" b="1" dirty="0">
                <a:solidFill>
                  <a:srgbClr val="2453CA"/>
                </a:solidFill>
                <a:latin typeface="Times New Roman" panose="02020603050405020304" pitchFamily="18" charset="0"/>
              </a:endParaRPr>
            </a:p>
          </p:txBody>
        </p:sp>
        <p:sp>
          <p:nvSpPr>
            <p:cNvPr id="33861" name="Text Box 15"/>
            <p:cNvSpPr txBox="1"/>
            <p:nvPr/>
          </p:nvSpPr>
          <p:spPr>
            <a:xfrm>
              <a:off x="2256" y="1895"/>
              <a:ext cx="80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2453CA"/>
                  </a:solidFill>
                  <a:latin typeface="Times New Roman" panose="02020603050405020304" pitchFamily="18" charset="0"/>
                </a:rPr>
                <a:t> </a:t>
              </a:r>
              <a:r>
                <a:rPr lang="zh-CN" altLang="en-US" sz="2000" b="1" dirty="0">
                  <a:solidFill>
                    <a:srgbClr val="2453CA"/>
                  </a:solidFill>
                  <a:latin typeface="Times New Roman" panose="02020603050405020304" pitchFamily="18" charset="0"/>
                </a:rPr>
                <a:t>执行周期</a:t>
              </a:r>
              <a:endParaRPr lang="zh-CN" altLang="en-US" sz="2000" b="1" dirty="0">
                <a:solidFill>
                  <a:srgbClr val="2453CA"/>
                </a:solidFill>
                <a:latin typeface="Times New Roman" panose="02020603050405020304" pitchFamily="18" charset="0"/>
              </a:endParaRPr>
            </a:p>
          </p:txBody>
        </p:sp>
        <p:sp>
          <p:nvSpPr>
            <p:cNvPr id="33862" name="Line 16"/>
            <p:cNvSpPr/>
            <p:nvPr/>
          </p:nvSpPr>
          <p:spPr>
            <a:xfrm>
              <a:off x="816" y="2124"/>
              <a:ext cx="2448" cy="0"/>
            </a:xfrm>
            <a:prstGeom prst="line">
              <a:avLst/>
            </a:prstGeom>
            <a:ln w="28575" cap="flat" cmpd="sng">
              <a:solidFill>
                <a:schemeClr val="tx1"/>
              </a:solidFill>
              <a:prstDash val="solid"/>
              <a:headEnd type="none" w="med" len="med"/>
              <a:tailEnd type="none" w="med" len="med"/>
            </a:ln>
          </p:spPr>
        </p:sp>
        <p:sp>
          <p:nvSpPr>
            <p:cNvPr id="33863" name="Line 17"/>
            <p:cNvSpPr/>
            <p:nvPr/>
          </p:nvSpPr>
          <p:spPr>
            <a:xfrm>
              <a:off x="816" y="1884"/>
              <a:ext cx="0" cy="612"/>
            </a:xfrm>
            <a:prstGeom prst="line">
              <a:avLst/>
            </a:prstGeom>
            <a:ln w="28575" cap="flat" cmpd="sng">
              <a:solidFill>
                <a:schemeClr val="tx1"/>
              </a:solidFill>
              <a:prstDash val="solid"/>
              <a:headEnd type="none" w="med" len="med"/>
              <a:tailEnd type="none" w="med" len="med"/>
            </a:ln>
          </p:spPr>
        </p:sp>
        <p:sp>
          <p:nvSpPr>
            <p:cNvPr id="33864" name="Line 18"/>
            <p:cNvSpPr/>
            <p:nvPr/>
          </p:nvSpPr>
          <p:spPr>
            <a:xfrm>
              <a:off x="2064" y="1884"/>
              <a:ext cx="0" cy="238"/>
            </a:xfrm>
            <a:prstGeom prst="line">
              <a:avLst/>
            </a:prstGeom>
            <a:ln w="28575" cap="flat" cmpd="sng">
              <a:solidFill>
                <a:schemeClr val="tx1"/>
              </a:solidFill>
              <a:prstDash val="solid"/>
              <a:headEnd type="none" w="med" len="med"/>
              <a:tailEnd type="none" w="med" len="med"/>
            </a:ln>
          </p:spPr>
        </p:sp>
        <p:sp>
          <p:nvSpPr>
            <p:cNvPr id="33865" name="Line 19"/>
            <p:cNvSpPr/>
            <p:nvPr/>
          </p:nvSpPr>
          <p:spPr>
            <a:xfrm>
              <a:off x="3264" y="1884"/>
              <a:ext cx="0" cy="612"/>
            </a:xfrm>
            <a:prstGeom prst="line">
              <a:avLst/>
            </a:prstGeom>
            <a:ln w="28575" cap="flat" cmpd="sng">
              <a:solidFill>
                <a:schemeClr val="tx1"/>
              </a:solidFill>
              <a:prstDash val="solid"/>
              <a:headEnd type="none" w="med" len="med"/>
              <a:tailEnd type="none" w="med" len="med"/>
            </a:ln>
          </p:spPr>
        </p:sp>
        <p:sp>
          <p:nvSpPr>
            <p:cNvPr id="33866" name="Text Box 20"/>
            <p:cNvSpPr txBox="1"/>
            <p:nvPr/>
          </p:nvSpPr>
          <p:spPr>
            <a:xfrm>
              <a:off x="1680" y="2170"/>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2453CA"/>
                  </a:solidFill>
                  <a:latin typeface="Times New Roman" panose="02020603050405020304" pitchFamily="18" charset="0"/>
                </a:rPr>
                <a:t>指令周期</a:t>
              </a:r>
              <a:endParaRPr lang="zh-CN" altLang="en-US" sz="2000" b="1" dirty="0">
                <a:solidFill>
                  <a:srgbClr val="2453CA"/>
                </a:solidFill>
                <a:latin typeface="Times New Roman" panose="02020603050405020304" pitchFamily="18" charset="0"/>
              </a:endParaRPr>
            </a:p>
          </p:txBody>
        </p:sp>
        <p:sp>
          <p:nvSpPr>
            <p:cNvPr id="33867" name="Line 21"/>
            <p:cNvSpPr/>
            <p:nvPr/>
          </p:nvSpPr>
          <p:spPr>
            <a:xfrm>
              <a:off x="2496" y="2314"/>
              <a:ext cx="768" cy="0"/>
            </a:xfrm>
            <a:prstGeom prst="line">
              <a:avLst/>
            </a:prstGeom>
            <a:ln w="9525" cap="flat" cmpd="sng">
              <a:solidFill>
                <a:schemeClr val="tx1"/>
              </a:solidFill>
              <a:prstDash val="solid"/>
              <a:headEnd type="none" w="med" len="med"/>
              <a:tailEnd type="stealth" w="med" len="med"/>
            </a:ln>
          </p:spPr>
        </p:sp>
        <p:sp>
          <p:nvSpPr>
            <p:cNvPr id="33868" name="Line 22"/>
            <p:cNvSpPr/>
            <p:nvPr/>
          </p:nvSpPr>
          <p:spPr>
            <a:xfrm rot="10800000">
              <a:off x="816" y="2314"/>
              <a:ext cx="768" cy="0"/>
            </a:xfrm>
            <a:prstGeom prst="line">
              <a:avLst/>
            </a:prstGeom>
            <a:ln w="9525" cap="flat" cmpd="sng">
              <a:solidFill>
                <a:schemeClr val="tx1"/>
              </a:solidFill>
              <a:prstDash val="solid"/>
              <a:headEnd type="none" w="med" len="med"/>
              <a:tailEnd type="stealth" w="med" len="med"/>
            </a:ln>
          </p:spPr>
        </p:sp>
        <p:sp>
          <p:nvSpPr>
            <p:cNvPr id="33869" name="Line 23"/>
            <p:cNvSpPr/>
            <p:nvPr/>
          </p:nvSpPr>
          <p:spPr>
            <a:xfrm flipH="1">
              <a:off x="816" y="2026"/>
              <a:ext cx="240" cy="0"/>
            </a:xfrm>
            <a:prstGeom prst="line">
              <a:avLst/>
            </a:prstGeom>
            <a:ln w="9525" cap="flat" cmpd="sng">
              <a:solidFill>
                <a:schemeClr val="tx1"/>
              </a:solidFill>
              <a:prstDash val="solid"/>
              <a:headEnd type="none" w="med" len="med"/>
              <a:tailEnd type="stealth" w="med" len="med"/>
            </a:ln>
          </p:spPr>
        </p:sp>
        <p:sp>
          <p:nvSpPr>
            <p:cNvPr id="33870" name="Line 24"/>
            <p:cNvSpPr/>
            <p:nvPr/>
          </p:nvSpPr>
          <p:spPr>
            <a:xfrm rot="-10800000" flipH="1">
              <a:off x="1824" y="2026"/>
              <a:ext cx="240" cy="0"/>
            </a:xfrm>
            <a:prstGeom prst="line">
              <a:avLst/>
            </a:prstGeom>
            <a:ln w="9525" cap="flat" cmpd="sng">
              <a:solidFill>
                <a:schemeClr val="tx1"/>
              </a:solidFill>
              <a:prstDash val="solid"/>
              <a:headEnd type="none" w="med" len="med"/>
              <a:tailEnd type="stealth" w="med" len="med"/>
            </a:ln>
          </p:spPr>
        </p:sp>
        <p:sp>
          <p:nvSpPr>
            <p:cNvPr id="33871" name="Line 25"/>
            <p:cNvSpPr/>
            <p:nvPr/>
          </p:nvSpPr>
          <p:spPr>
            <a:xfrm flipH="1">
              <a:off x="2064" y="2026"/>
              <a:ext cx="240" cy="0"/>
            </a:xfrm>
            <a:prstGeom prst="line">
              <a:avLst/>
            </a:prstGeom>
            <a:ln w="9525" cap="flat" cmpd="sng">
              <a:solidFill>
                <a:schemeClr val="tx1"/>
              </a:solidFill>
              <a:prstDash val="solid"/>
              <a:headEnd type="none" w="med" len="med"/>
              <a:tailEnd type="stealth" w="med" len="med"/>
            </a:ln>
          </p:spPr>
        </p:sp>
        <p:sp>
          <p:nvSpPr>
            <p:cNvPr id="33872" name="Line 26"/>
            <p:cNvSpPr/>
            <p:nvPr/>
          </p:nvSpPr>
          <p:spPr>
            <a:xfrm rot="-10800000" flipH="1">
              <a:off x="3024" y="2026"/>
              <a:ext cx="240" cy="0"/>
            </a:xfrm>
            <a:prstGeom prst="line">
              <a:avLst/>
            </a:prstGeom>
            <a:ln w="9525" cap="flat" cmpd="sng">
              <a:solidFill>
                <a:schemeClr val="tx1"/>
              </a:solidFill>
              <a:prstDash val="solid"/>
              <a:headEnd type="none" w="med" len="med"/>
              <a:tailEnd type="stealth" w="med" len="med"/>
            </a:ln>
          </p:spPr>
        </p:sp>
      </p:grpSp>
      <p:sp>
        <p:nvSpPr>
          <p:cNvPr id="33797" name="Text Box 27"/>
          <p:cNvSpPr txBox="1"/>
          <p:nvPr/>
        </p:nvSpPr>
        <p:spPr>
          <a:xfrm>
            <a:off x="6858000" y="1274763"/>
            <a:ext cx="2971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2453CA"/>
                </a:solidFill>
                <a:latin typeface="Times New Roman" panose="02020603050405020304" pitchFamily="18" charset="0"/>
              </a:rPr>
              <a:t>NOP</a:t>
            </a:r>
            <a:endParaRPr lang="en-US" altLang="zh-CN" sz="2400" b="1" dirty="0">
              <a:solidFill>
                <a:srgbClr val="2453CA"/>
              </a:solidFill>
              <a:latin typeface="Times New Roman" panose="02020603050405020304" pitchFamily="18" charset="0"/>
            </a:endParaRPr>
          </a:p>
        </p:txBody>
      </p:sp>
      <p:sp>
        <p:nvSpPr>
          <p:cNvPr id="33798" name="Text Box 28"/>
          <p:cNvSpPr txBox="1"/>
          <p:nvPr/>
        </p:nvSpPr>
        <p:spPr>
          <a:xfrm>
            <a:off x="6858000" y="2197100"/>
            <a:ext cx="2514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2453CA"/>
                </a:solidFill>
                <a:latin typeface="Times New Roman" panose="02020603050405020304" pitchFamily="18" charset="0"/>
              </a:rPr>
              <a:t>ADD</a:t>
            </a:r>
            <a:endParaRPr lang="en-US" altLang="zh-CN" sz="2400" b="1" dirty="0">
              <a:solidFill>
                <a:srgbClr val="2453CA"/>
              </a:solidFill>
              <a:latin typeface="Times New Roman" panose="02020603050405020304" pitchFamily="18" charset="0"/>
            </a:endParaRPr>
          </a:p>
        </p:txBody>
      </p:sp>
      <p:sp>
        <p:nvSpPr>
          <p:cNvPr id="33799" name="Text Box 29"/>
          <p:cNvSpPr txBox="1"/>
          <p:nvPr/>
        </p:nvSpPr>
        <p:spPr>
          <a:xfrm>
            <a:off x="6881813" y="3221038"/>
            <a:ext cx="2514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2453CA"/>
                </a:solidFill>
                <a:latin typeface="Times New Roman" panose="02020603050405020304" pitchFamily="18" charset="0"/>
              </a:rPr>
              <a:t>MUL</a:t>
            </a:r>
            <a:endParaRPr lang="en-US" altLang="zh-CN" sz="2400" b="1" dirty="0">
              <a:solidFill>
                <a:srgbClr val="2453CA"/>
              </a:solidFill>
              <a:latin typeface="Times New Roman" panose="02020603050405020304" pitchFamily="18" charset="0"/>
            </a:endParaRPr>
          </a:p>
        </p:txBody>
      </p:sp>
      <p:grpSp>
        <p:nvGrpSpPr>
          <p:cNvPr id="33800" name="Group 32"/>
          <p:cNvGrpSpPr/>
          <p:nvPr/>
        </p:nvGrpSpPr>
        <p:grpSpPr>
          <a:xfrm>
            <a:off x="649288" y="3071813"/>
            <a:ext cx="5181600" cy="914400"/>
            <a:chOff x="816" y="2976"/>
            <a:chExt cx="3264" cy="576"/>
          </a:xfrm>
        </p:grpSpPr>
        <p:grpSp>
          <p:nvGrpSpPr>
            <p:cNvPr id="33843" name="Group 33"/>
            <p:cNvGrpSpPr/>
            <p:nvPr/>
          </p:nvGrpSpPr>
          <p:grpSpPr>
            <a:xfrm>
              <a:off x="816" y="2976"/>
              <a:ext cx="3264" cy="576"/>
              <a:chOff x="816" y="2976"/>
              <a:chExt cx="3264" cy="576"/>
            </a:xfrm>
          </p:grpSpPr>
          <p:sp>
            <p:nvSpPr>
              <p:cNvPr id="33845" name="Text Box 34"/>
              <p:cNvSpPr txBox="1"/>
              <p:nvPr/>
            </p:nvSpPr>
            <p:spPr>
              <a:xfrm>
                <a:off x="1046" y="2976"/>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2453CA"/>
                    </a:solidFill>
                    <a:latin typeface="Times New Roman" panose="02020603050405020304" pitchFamily="18" charset="0"/>
                  </a:rPr>
                  <a:t>取指周期</a:t>
                </a:r>
                <a:endParaRPr lang="zh-CN" altLang="en-US" sz="2000" b="1" dirty="0">
                  <a:solidFill>
                    <a:srgbClr val="2453CA"/>
                  </a:solidFill>
                  <a:latin typeface="Times New Roman" panose="02020603050405020304" pitchFamily="18" charset="0"/>
                </a:endParaRPr>
              </a:p>
            </p:txBody>
          </p:sp>
          <p:sp>
            <p:nvSpPr>
              <p:cNvPr id="33846" name="Text Box 35"/>
              <p:cNvSpPr txBox="1"/>
              <p:nvPr/>
            </p:nvSpPr>
            <p:spPr>
              <a:xfrm>
                <a:off x="2652" y="2978"/>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2453CA"/>
                    </a:solidFill>
                    <a:latin typeface="Times New Roman" panose="02020603050405020304" pitchFamily="18" charset="0"/>
                  </a:rPr>
                  <a:t>执行周期</a:t>
                </a:r>
                <a:endParaRPr lang="zh-CN" altLang="en-US" sz="2000" b="1" dirty="0">
                  <a:solidFill>
                    <a:srgbClr val="2453CA"/>
                  </a:solidFill>
                  <a:latin typeface="Times New Roman" panose="02020603050405020304" pitchFamily="18" charset="0"/>
                </a:endParaRPr>
              </a:p>
            </p:txBody>
          </p:sp>
          <p:sp>
            <p:nvSpPr>
              <p:cNvPr id="33847" name="Line 36"/>
              <p:cNvSpPr/>
              <p:nvPr/>
            </p:nvSpPr>
            <p:spPr>
              <a:xfrm flipV="1">
                <a:off x="816" y="3216"/>
                <a:ext cx="1824" cy="2"/>
              </a:xfrm>
              <a:prstGeom prst="line">
                <a:avLst/>
              </a:prstGeom>
              <a:ln w="28575" cap="flat" cmpd="sng">
                <a:solidFill>
                  <a:schemeClr val="tx1"/>
                </a:solidFill>
                <a:prstDash val="solid"/>
                <a:headEnd type="none" w="med" len="med"/>
                <a:tailEnd type="none" w="med" len="med"/>
              </a:ln>
            </p:spPr>
          </p:sp>
          <p:sp>
            <p:nvSpPr>
              <p:cNvPr id="33848" name="Line 37"/>
              <p:cNvSpPr/>
              <p:nvPr/>
            </p:nvSpPr>
            <p:spPr>
              <a:xfrm>
                <a:off x="816" y="2978"/>
                <a:ext cx="0" cy="574"/>
              </a:xfrm>
              <a:prstGeom prst="line">
                <a:avLst/>
              </a:prstGeom>
              <a:ln w="28575" cap="flat" cmpd="sng">
                <a:solidFill>
                  <a:schemeClr val="tx1"/>
                </a:solidFill>
                <a:prstDash val="solid"/>
                <a:headEnd type="none" w="med" len="med"/>
                <a:tailEnd type="none" w="med" len="med"/>
              </a:ln>
            </p:spPr>
          </p:sp>
          <p:sp>
            <p:nvSpPr>
              <p:cNvPr id="33849" name="Line 38"/>
              <p:cNvSpPr/>
              <p:nvPr/>
            </p:nvSpPr>
            <p:spPr>
              <a:xfrm>
                <a:off x="2064" y="2978"/>
                <a:ext cx="0" cy="238"/>
              </a:xfrm>
              <a:prstGeom prst="line">
                <a:avLst/>
              </a:prstGeom>
              <a:ln w="28575" cap="flat" cmpd="sng">
                <a:solidFill>
                  <a:schemeClr val="tx1"/>
                </a:solidFill>
                <a:prstDash val="solid"/>
                <a:headEnd type="none" w="med" len="med"/>
                <a:tailEnd type="none" w="med" len="med"/>
              </a:ln>
            </p:spPr>
          </p:sp>
          <p:sp>
            <p:nvSpPr>
              <p:cNvPr id="33850" name="Line 39"/>
              <p:cNvSpPr/>
              <p:nvPr/>
            </p:nvSpPr>
            <p:spPr>
              <a:xfrm>
                <a:off x="4080" y="2978"/>
                <a:ext cx="0" cy="574"/>
              </a:xfrm>
              <a:prstGeom prst="line">
                <a:avLst/>
              </a:prstGeom>
              <a:ln w="28575" cap="flat" cmpd="sng">
                <a:solidFill>
                  <a:schemeClr val="tx1"/>
                </a:solidFill>
                <a:prstDash val="solid"/>
                <a:headEnd type="none" w="med" len="med"/>
                <a:tailEnd type="none" w="med" len="med"/>
              </a:ln>
            </p:spPr>
          </p:sp>
          <p:sp>
            <p:nvSpPr>
              <p:cNvPr id="33851" name="Text Box 40"/>
              <p:cNvSpPr txBox="1"/>
              <p:nvPr/>
            </p:nvSpPr>
            <p:spPr>
              <a:xfrm>
                <a:off x="2076" y="3264"/>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2453CA"/>
                    </a:solidFill>
                    <a:latin typeface="Times New Roman" panose="02020603050405020304" pitchFamily="18" charset="0"/>
                  </a:rPr>
                  <a:t>指令周期</a:t>
                </a:r>
                <a:endParaRPr lang="zh-CN" altLang="en-US" sz="2000" b="1" dirty="0">
                  <a:solidFill>
                    <a:srgbClr val="2453CA"/>
                  </a:solidFill>
                  <a:latin typeface="Times New Roman" panose="02020603050405020304" pitchFamily="18" charset="0"/>
                </a:endParaRPr>
              </a:p>
            </p:txBody>
          </p:sp>
          <p:sp>
            <p:nvSpPr>
              <p:cNvPr id="33852" name="Line 41"/>
              <p:cNvSpPr/>
              <p:nvPr/>
            </p:nvSpPr>
            <p:spPr>
              <a:xfrm>
                <a:off x="3039" y="3361"/>
                <a:ext cx="1041" cy="0"/>
              </a:xfrm>
              <a:prstGeom prst="line">
                <a:avLst/>
              </a:prstGeom>
              <a:ln w="9525" cap="flat" cmpd="sng">
                <a:solidFill>
                  <a:schemeClr val="tx1"/>
                </a:solidFill>
                <a:prstDash val="solid"/>
                <a:headEnd type="none" w="med" len="med"/>
                <a:tailEnd type="stealth" w="med" len="med"/>
              </a:ln>
            </p:spPr>
          </p:sp>
          <p:sp>
            <p:nvSpPr>
              <p:cNvPr id="33853" name="Line 42"/>
              <p:cNvSpPr/>
              <p:nvPr/>
            </p:nvSpPr>
            <p:spPr>
              <a:xfrm rot="10800000">
                <a:off x="816" y="3360"/>
                <a:ext cx="1041" cy="0"/>
              </a:xfrm>
              <a:prstGeom prst="line">
                <a:avLst/>
              </a:prstGeom>
              <a:ln w="9525" cap="flat" cmpd="sng">
                <a:solidFill>
                  <a:schemeClr val="tx1"/>
                </a:solidFill>
                <a:prstDash val="solid"/>
                <a:headEnd type="none" w="med" len="med"/>
                <a:tailEnd type="stealth" w="med" len="med"/>
              </a:ln>
            </p:spPr>
          </p:sp>
          <p:sp>
            <p:nvSpPr>
              <p:cNvPr id="33854" name="Line 43"/>
              <p:cNvSpPr/>
              <p:nvPr/>
            </p:nvSpPr>
            <p:spPr>
              <a:xfrm flipH="1">
                <a:off x="816" y="3120"/>
                <a:ext cx="240" cy="0"/>
              </a:xfrm>
              <a:prstGeom prst="line">
                <a:avLst/>
              </a:prstGeom>
              <a:ln w="9525" cap="flat" cmpd="sng">
                <a:solidFill>
                  <a:schemeClr val="tx1"/>
                </a:solidFill>
                <a:prstDash val="solid"/>
                <a:headEnd type="none" w="med" len="med"/>
                <a:tailEnd type="stealth" w="med" len="med"/>
              </a:ln>
            </p:spPr>
          </p:sp>
          <p:sp>
            <p:nvSpPr>
              <p:cNvPr id="33855" name="Line 44"/>
              <p:cNvSpPr/>
              <p:nvPr/>
            </p:nvSpPr>
            <p:spPr>
              <a:xfrm rot="-10800000" flipH="1">
                <a:off x="1824" y="3120"/>
                <a:ext cx="240" cy="0"/>
              </a:xfrm>
              <a:prstGeom prst="line">
                <a:avLst/>
              </a:prstGeom>
              <a:ln w="9525" cap="flat" cmpd="sng">
                <a:solidFill>
                  <a:schemeClr val="tx1"/>
                </a:solidFill>
                <a:prstDash val="solid"/>
                <a:headEnd type="none" w="med" len="med"/>
                <a:tailEnd type="stealth" w="med" len="med"/>
              </a:ln>
            </p:spPr>
          </p:sp>
          <p:sp>
            <p:nvSpPr>
              <p:cNvPr id="33856" name="Line 45"/>
              <p:cNvSpPr/>
              <p:nvPr/>
            </p:nvSpPr>
            <p:spPr>
              <a:xfrm>
                <a:off x="2688" y="3216"/>
                <a:ext cx="672" cy="0"/>
              </a:xfrm>
              <a:prstGeom prst="line">
                <a:avLst/>
              </a:prstGeom>
              <a:ln w="28575">
                <a:noFill/>
              </a:ln>
            </p:spPr>
          </p:sp>
          <p:sp>
            <p:nvSpPr>
              <p:cNvPr id="33857" name="Line 46"/>
              <p:cNvSpPr/>
              <p:nvPr/>
            </p:nvSpPr>
            <p:spPr>
              <a:xfrm>
                <a:off x="3408" y="3216"/>
                <a:ext cx="672" cy="0"/>
              </a:xfrm>
              <a:prstGeom prst="line">
                <a:avLst/>
              </a:prstGeom>
              <a:ln w="28575" cap="flat" cmpd="sng">
                <a:solidFill>
                  <a:schemeClr val="tx1"/>
                </a:solidFill>
                <a:prstDash val="solid"/>
                <a:headEnd type="none" w="med" len="med"/>
                <a:tailEnd type="none" w="med" len="med"/>
              </a:ln>
            </p:spPr>
          </p:sp>
          <p:sp>
            <p:nvSpPr>
              <p:cNvPr id="33858" name="Line 47"/>
              <p:cNvSpPr/>
              <p:nvPr/>
            </p:nvSpPr>
            <p:spPr>
              <a:xfrm flipH="1">
                <a:off x="2064" y="3120"/>
                <a:ext cx="467" cy="0"/>
              </a:xfrm>
              <a:prstGeom prst="line">
                <a:avLst/>
              </a:prstGeom>
              <a:ln w="9525" cap="flat" cmpd="sng">
                <a:solidFill>
                  <a:schemeClr val="tx1"/>
                </a:solidFill>
                <a:prstDash val="solid"/>
                <a:headEnd type="none" w="med" len="med"/>
                <a:tailEnd type="stealth" w="med" len="med"/>
              </a:ln>
            </p:spPr>
          </p:sp>
          <p:sp>
            <p:nvSpPr>
              <p:cNvPr id="33859" name="Line 48"/>
              <p:cNvSpPr/>
              <p:nvPr/>
            </p:nvSpPr>
            <p:spPr>
              <a:xfrm rot="-10800000" flipH="1">
                <a:off x="3611" y="3119"/>
                <a:ext cx="467" cy="0"/>
              </a:xfrm>
              <a:prstGeom prst="line">
                <a:avLst/>
              </a:prstGeom>
              <a:ln w="9525" cap="flat" cmpd="sng">
                <a:solidFill>
                  <a:schemeClr val="tx1"/>
                </a:solidFill>
                <a:prstDash val="solid"/>
                <a:headEnd type="none" w="med" len="med"/>
                <a:tailEnd type="stealth" w="med" len="med"/>
              </a:ln>
            </p:spPr>
          </p:sp>
        </p:grpSp>
        <p:sp>
          <p:nvSpPr>
            <p:cNvPr id="33844" name="Text Box 49"/>
            <p:cNvSpPr txBox="1"/>
            <p:nvPr/>
          </p:nvSpPr>
          <p:spPr>
            <a:xfrm>
              <a:off x="2889" y="3059"/>
              <a:ext cx="40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2453CA"/>
                  </a:solidFill>
                  <a:latin typeface="Times New Roman" panose="02020603050405020304" pitchFamily="18" charset="0"/>
                </a:rPr>
                <a:t>…</a:t>
              </a:r>
              <a:endParaRPr lang="en-US" altLang="zh-CN" sz="2000" b="1" dirty="0">
                <a:solidFill>
                  <a:srgbClr val="2453CA"/>
                </a:solidFill>
                <a:latin typeface="宋体" panose="02010600030101010101" pitchFamily="2" charset="-122"/>
              </a:endParaRPr>
            </a:p>
          </p:txBody>
        </p:sp>
      </p:grpSp>
      <p:sp>
        <p:nvSpPr>
          <p:cNvPr id="33801" name="Text Box 50"/>
          <p:cNvSpPr txBox="1"/>
          <p:nvPr/>
        </p:nvSpPr>
        <p:spPr>
          <a:xfrm>
            <a:off x="6624638" y="4041775"/>
            <a:ext cx="2339975"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2453CA"/>
                </a:solidFill>
                <a:latin typeface="Times New Roman" panose="02020603050405020304" pitchFamily="18" charset="0"/>
              </a:rPr>
              <a:t>具有间接寻址方式指令的指令周期</a:t>
            </a:r>
            <a:endParaRPr lang="zh-CN" altLang="en-US" sz="2400" b="1" dirty="0">
              <a:solidFill>
                <a:srgbClr val="2453CA"/>
              </a:solidFill>
              <a:latin typeface="Times New Roman" panose="02020603050405020304" pitchFamily="18" charset="0"/>
            </a:endParaRPr>
          </a:p>
        </p:txBody>
      </p:sp>
      <p:sp>
        <p:nvSpPr>
          <p:cNvPr id="33802" name="Text Box 51"/>
          <p:cNvSpPr txBox="1"/>
          <p:nvPr/>
        </p:nvSpPr>
        <p:spPr>
          <a:xfrm>
            <a:off x="2483168" y="4987608"/>
            <a:ext cx="36258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2453CA"/>
                </a:solidFill>
                <a:latin typeface="Times New Roman" panose="02020603050405020304" pitchFamily="18" charset="0"/>
              </a:rPr>
              <a:t>带有中断周期的指令周期</a:t>
            </a:r>
            <a:endParaRPr lang="zh-CN" altLang="en-US" sz="2400" b="1" dirty="0">
              <a:solidFill>
                <a:srgbClr val="2453CA"/>
              </a:solidFill>
              <a:latin typeface="Times New Roman" panose="02020603050405020304" pitchFamily="18" charset="0"/>
            </a:endParaRPr>
          </a:p>
        </p:txBody>
      </p:sp>
      <p:grpSp>
        <p:nvGrpSpPr>
          <p:cNvPr id="33803" name="Group 52"/>
          <p:cNvGrpSpPr/>
          <p:nvPr/>
        </p:nvGrpSpPr>
        <p:grpSpPr>
          <a:xfrm>
            <a:off x="649288" y="4076700"/>
            <a:ext cx="5867400" cy="974725"/>
            <a:chOff x="576" y="1296"/>
            <a:chExt cx="3696" cy="614"/>
          </a:xfrm>
        </p:grpSpPr>
        <p:sp>
          <p:nvSpPr>
            <p:cNvPr id="33826" name="Text Box 53"/>
            <p:cNvSpPr txBox="1"/>
            <p:nvPr/>
          </p:nvSpPr>
          <p:spPr>
            <a:xfrm>
              <a:off x="806" y="1296"/>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Times New Roman" panose="02020603050405020304" pitchFamily="18" charset="0"/>
                </a:rPr>
                <a:t>取指周期</a:t>
              </a:r>
              <a:endParaRPr lang="zh-CN" altLang="en-US" sz="2000" b="1" dirty="0">
                <a:latin typeface="Times New Roman" panose="02020603050405020304" pitchFamily="18" charset="0"/>
              </a:endParaRPr>
            </a:p>
          </p:txBody>
        </p:sp>
        <p:sp>
          <p:nvSpPr>
            <p:cNvPr id="33827" name="Text Box 54"/>
            <p:cNvSpPr txBox="1"/>
            <p:nvPr/>
          </p:nvSpPr>
          <p:spPr>
            <a:xfrm>
              <a:off x="2076" y="1298"/>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FF3300"/>
                  </a:solidFill>
                  <a:latin typeface="Times New Roman" panose="02020603050405020304" pitchFamily="18" charset="0"/>
                </a:rPr>
                <a:t>间址周期</a:t>
              </a:r>
              <a:endParaRPr lang="zh-CN" altLang="en-US" sz="2000" b="1" dirty="0">
                <a:solidFill>
                  <a:srgbClr val="FF3300"/>
                </a:solidFill>
                <a:latin typeface="Times New Roman" panose="02020603050405020304" pitchFamily="18" charset="0"/>
              </a:endParaRPr>
            </a:p>
          </p:txBody>
        </p:sp>
        <p:sp>
          <p:nvSpPr>
            <p:cNvPr id="33828" name="Line 55"/>
            <p:cNvSpPr/>
            <p:nvPr/>
          </p:nvSpPr>
          <p:spPr>
            <a:xfrm flipV="1">
              <a:off x="576" y="1536"/>
              <a:ext cx="3696" cy="2"/>
            </a:xfrm>
            <a:prstGeom prst="line">
              <a:avLst/>
            </a:prstGeom>
            <a:ln w="28575" cap="flat" cmpd="sng">
              <a:solidFill>
                <a:schemeClr val="tx1"/>
              </a:solidFill>
              <a:prstDash val="solid"/>
              <a:headEnd type="none" w="med" len="med"/>
              <a:tailEnd type="none" w="med" len="med"/>
            </a:ln>
          </p:spPr>
        </p:sp>
        <p:sp>
          <p:nvSpPr>
            <p:cNvPr id="33829" name="Line 56"/>
            <p:cNvSpPr/>
            <p:nvPr/>
          </p:nvSpPr>
          <p:spPr>
            <a:xfrm>
              <a:off x="576" y="1298"/>
              <a:ext cx="0" cy="612"/>
            </a:xfrm>
            <a:prstGeom prst="line">
              <a:avLst/>
            </a:prstGeom>
            <a:ln w="28575" cap="flat" cmpd="sng">
              <a:solidFill>
                <a:schemeClr val="tx1"/>
              </a:solidFill>
              <a:prstDash val="solid"/>
              <a:headEnd type="none" w="med" len="med"/>
              <a:tailEnd type="none" w="med" len="med"/>
            </a:ln>
          </p:spPr>
        </p:sp>
        <p:sp>
          <p:nvSpPr>
            <p:cNvPr id="33830" name="Line 57"/>
            <p:cNvSpPr/>
            <p:nvPr/>
          </p:nvSpPr>
          <p:spPr>
            <a:xfrm>
              <a:off x="1824" y="1298"/>
              <a:ext cx="0" cy="238"/>
            </a:xfrm>
            <a:prstGeom prst="line">
              <a:avLst/>
            </a:prstGeom>
            <a:ln w="28575" cap="flat" cmpd="sng">
              <a:solidFill>
                <a:schemeClr val="tx1"/>
              </a:solidFill>
              <a:prstDash val="solid"/>
              <a:headEnd type="none" w="med" len="med"/>
              <a:tailEnd type="none" w="med" len="med"/>
            </a:ln>
          </p:spPr>
        </p:sp>
        <p:sp>
          <p:nvSpPr>
            <p:cNvPr id="33831" name="Line 58"/>
            <p:cNvSpPr/>
            <p:nvPr/>
          </p:nvSpPr>
          <p:spPr>
            <a:xfrm>
              <a:off x="4272" y="1298"/>
              <a:ext cx="0" cy="612"/>
            </a:xfrm>
            <a:prstGeom prst="line">
              <a:avLst/>
            </a:prstGeom>
            <a:ln w="28575" cap="flat" cmpd="sng">
              <a:solidFill>
                <a:schemeClr val="tx1"/>
              </a:solidFill>
              <a:prstDash val="solid"/>
              <a:headEnd type="none" w="med" len="med"/>
              <a:tailEnd type="none" w="med" len="med"/>
            </a:ln>
          </p:spPr>
        </p:sp>
        <p:sp>
          <p:nvSpPr>
            <p:cNvPr id="33832" name="Text Box 59"/>
            <p:cNvSpPr txBox="1"/>
            <p:nvPr/>
          </p:nvSpPr>
          <p:spPr>
            <a:xfrm>
              <a:off x="2028" y="1584"/>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Times New Roman" panose="02020603050405020304" pitchFamily="18" charset="0"/>
                </a:rPr>
                <a:t>指令周期</a:t>
              </a:r>
              <a:endParaRPr lang="zh-CN" altLang="en-US" sz="2000" b="1" dirty="0">
                <a:latin typeface="Times New Roman" panose="02020603050405020304" pitchFamily="18" charset="0"/>
              </a:endParaRPr>
            </a:p>
          </p:txBody>
        </p:sp>
        <p:sp>
          <p:nvSpPr>
            <p:cNvPr id="33833" name="Line 60"/>
            <p:cNvSpPr/>
            <p:nvPr/>
          </p:nvSpPr>
          <p:spPr>
            <a:xfrm>
              <a:off x="3216" y="1680"/>
              <a:ext cx="1041" cy="0"/>
            </a:xfrm>
            <a:prstGeom prst="line">
              <a:avLst/>
            </a:prstGeom>
            <a:ln w="9525" cap="flat" cmpd="sng">
              <a:solidFill>
                <a:schemeClr val="tx1"/>
              </a:solidFill>
              <a:prstDash val="solid"/>
              <a:headEnd type="none" w="med" len="med"/>
              <a:tailEnd type="stealth" w="med" len="med"/>
            </a:ln>
          </p:spPr>
        </p:sp>
        <p:sp>
          <p:nvSpPr>
            <p:cNvPr id="33834" name="Line 61"/>
            <p:cNvSpPr/>
            <p:nvPr/>
          </p:nvSpPr>
          <p:spPr>
            <a:xfrm rot="10800000">
              <a:off x="591" y="1680"/>
              <a:ext cx="1041" cy="0"/>
            </a:xfrm>
            <a:prstGeom prst="line">
              <a:avLst/>
            </a:prstGeom>
            <a:ln w="9525" cap="flat" cmpd="sng">
              <a:solidFill>
                <a:schemeClr val="tx1"/>
              </a:solidFill>
              <a:prstDash val="solid"/>
              <a:headEnd type="none" w="med" len="med"/>
              <a:tailEnd type="stealth" w="med" len="med"/>
            </a:ln>
          </p:spPr>
        </p:sp>
        <p:sp>
          <p:nvSpPr>
            <p:cNvPr id="33835" name="Line 62"/>
            <p:cNvSpPr/>
            <p:nvPr/>
          </p:nvSpPr>
          <p:spPr>
            <a:xfrm flipH="1">
              <a:off x="576" y="1440"/>
              <a:ext cx="240" cy="0"/>
            </a:xfrm>
            <a:prstGeom prst="line">
              <a:avLst/>
            </a:prstGeom>
            <a:ln w="9525" cap="flat" cmpd="sng">
              <a:solidFill>
                <a:schemeClr val="tx1"/>
              </a:solidFill>
              <a:prstDash val="solid"/>
              <a:headEnd type="none" w="med" len="med"/>
              <a:tailEnd type="stealth" w="med" len="med"/>
            </a:ln>
          </p:spPr>
        </p:sp>
        <p:sp>
          <p:nvSpPr>
            <p:cNvPr id="33836" name="Line 63"/>
            <p:cNvSpPr/>
            <p:nvPr/>
          </p:nvSpPr>
          <p:spPr>
            <a:xfrm rot="-10800000" flipH="1">
              <a:off x="1584" y="1440"/>
              <a:ext cx="240" cy="0"/>
            </a:xfrm>
            <a:prstGeom prst="line">
              <a:avLst/>
            </a:prstGeom>
            <a:ln w="9525" cap="flat" cmpd="sng">
              <a:solidFill>
                <a:schemeClr val="tx1"/>
              </a:solidFill>
              <a:prstDash val="solid"/>
              <a:headEnd type="none" w="med" len="med"/>
              <a:tailEnd type="stealth" w="med" len="med"/>
            </a:ln>
          </p:spPr>
        </p:sp>
        <p:sp>
          <p:nvSpPr>
            <p:cNvPr id="33837" name="Line 64"/>
            <p:cNvSpPr/>
            <p:nvPr/>
          </p:nvSpPr>
          <p:spPr>
            <a:xfrm flipH="1">
              <a:off x="1824" y="1440"/>
              <a:ext cx="240" cy="0"/>
            </a:xfrm>
            <a:prstGeom prst="line">
              <a:avLst/>
            </a:prstGeom>
            <a:ln w="9525" cap="flat" cmpd="sng">
              <a:solidFill>
                <a:schemeClr val="tx1"/>
              </a:solidFill>
              <a:prstDash val="solid"/>
              <a:headEnd type="none" w="med" len="med"/>
              <a:tailEnd type="stealth" w="med" len="med"/>
            </a:ln>
          </p:spPr>
        </p:sp>
        <p:sp>
          <p:nvSpPr>
            <p:cNvPr id="33838" name="Line 65"/>
            <p:cNvSpPr/>
            <p:nvPr/>
          </p:nvSpPr>
          <p:spPr>
            <a:xfrm rot="-10800000" flipH="1">
              <a:off x="2784" y="1440"/>
              <a:ext cx="240" cy="0"/>
            </a:xfrm>
            <a:prstGeom prst="line">
              <a:avLst/>
            </a:prstGeom>
            <a:ln w="9525" cap="flat" cmpd="sng">
              <a:solidFill>
                <a:schemeClr val="tx1"/>
              </a:solidFill>
              <a:prstDash val="solid"/>
              <a:headEnd type="none" w="med" len="med"/>
              <a:tailEnd type="stealth" w="med" len="med"/>
            </a:ln>
          </p:spPr>
        </p:sp>
        <p:sp>
          <p:nvSpPr>
            <p:cNvPr id="33839" name="Text Box 66"/>
            <p:cNvSpPr txBox="1"/>
            <p:nvPr/>
          </p:nvSpPr>
          <p:spPr>
            <a:xfrm>
              <a:off x="3276" y="1296"/>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Times New Roman" panose="02020603050405020304" pitchFamily="18" charset="0"/>
                </a:rPr>
                <a:t>执行周期</a:t>
              </a:r>
              <a:endParaRPr lang="zh-CN" altLang="en-US" sz="2000" b="1" dirty="0">
                <a:latin typeface="Times New Roman" panose="02020603050405020304" pitchFamily="18" charset="0"/>
              </a:endParaRPr>
            </a:p>
          </p:txBody>
        </p:sp>
        <p:sp>
          <p:nvSpPr>
            <p:cNvPr id="33840" name="Line 67"/>
            <p:cNvSpPr/>
            <p:nvPr/>
          </p:nvSpPr>
          <p:spPr>
            <a:xfrm>
              <a:off x="3024" y="1296"/>
              <a:ext cx="0" cy="238"/>
            </a:xfrm>
            <a:prstGeom prst="line">
              <a:avLst/>
            </a:prstGeom>
            <a:ln w="28575" cap="flat" cmpd="sng">
              <a:solidFill>
                <a:schemeClr val="tx1"/>
              </a:solidFill>
              <a:prstDash val="solid"/>
              <a:headEnd type="none" w="med" len="med"/>
              <a:tailEnd type="none" w="med" len="med"/>
            </a:ln>
          </p:spPr>
        </p:sp>
        <p:sp>
          <p:nvSpPr>
            <p:cNvPr id="33841" name="Line 68"/>
            <p:cNvSpPr/>
            <p:nvPr/>
          </p:nvSpPr>
          <p:spPr>
            <a:xfrm flipH="1">
              <a:off x="3024" y="1438"/>
              <a:ext cx="240" cy="0"/>
            </a:xfrm>
            <a:prstGeom prst="line">
              <a:avLst/>
            </a:prstGeom>
            <a:ln w="9525" cap="flat" cmpd="sng">
              <a:solidFill>
                <a:schemeClr val="tx1"/>
              </a:solidFill>
              <a:prstDash val="solid"/>
              <a:headEnd type="none" w="med" len="med"/>
              <a:tailEnd type="stealth" w="med" len="med"/>
            </a:ln>
          </p:spPr>
        </p:sp>
        <p:sp>
          <p:nvSpPr>
            <p:cNvPr id="33842" name="Line 69"/>
            <p:cNvSpPr/>
            <p:nvPr/>
          </p:nvSpPr>
          <p:spPr>
            <a:xfrm rot="-10800000" flipH="1">
              <a:off x="4032" y="1438"/>
              <a:ext cx="240" cy="0"/>
            </a:xfrm>
            <a:prstGeom prst="line">
              <a:avLst/>
            </a:prstGeom>
            <a:ln w="9525" cap="flat" cmpd="sng">
              <a:solidFill>
                <a:schemeClr val="tx1"/>
              </a:solidFill>
              <a:prstDash val="solid"/>
              <a:headEnd type="none" w="med" len="med"/>
              <a:tailEnd type="stealth" w="med" len="med"/>
            </a:ln>
          </p:spPr>
        </p:sp>
      </p:grpSp>
      <p:grpSp>
        <p:nvGrpSpPr>
          <p:cNvPr id="33804" name="Group 70"/>
          <p:cNvGrpSpPr/>
          <p:nvPr/>
        </p:nvGrpSpPr>
        <p:grpSpPr>
          <a:xfrm>
            <a:off x="649288" y="5373053"/>
            <a:ext cx="7772400" cy="990600"/>
            <a:chOff x="576" y="2928"/>
            <a:chExt cx="4896" cy="624"/>
          </a:xfrm>
        </p:grpSpPr>
        <p:sp>
          <p:nvSpPr>
            <p:cNvPr id="33805" name="Text Box 71"/>
            <p:cNvSpPr txBox="1"/>
            <p:nvPr/>
          </p:nvSpPr>
          <p:spPr>
            <a:xfrm>
              <a:off x="806" y="2938"/>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Times New Roman" panose="02020603050405020304" pitchFamily="18" charset="0"/>
                </a:rPr>
                <a:t>取指周期</a:t>
              </a:r>
              <a:endParaRPr lang="zh-CN" altLang="en-US" sz="2000" b="1" dirty="0">
                <a:latin typeface="Times New Roman" panose="02020603050405020304" pitchFamily="18" charset="0"/>
              </a:endParaRPr>
            </a:p>
          </p:txBody>
        </p:sp>
        <p:sp>
          <p:nvSpPr>
            <p:cNvPr id="33806" name="Text Box 72"/>
            <p:cNvSpPr txBox="1"/>
            <p:nvPr/>
          </p:nvSpPr>
          <p:spPr>
            <a:xfrm>
              <a:off x="2076" y="2940"/>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Times New Roman" panose="02020603050405020304" pitchFamily="18" charset="0"/>
                </a:rPr>
                <a:t>间址周期</a:t>
              </a:r>
              <a:endParaRPr lang="zh-CN" altLang="en-US" sz="2000" b="1" dirty="0">
                <a:latin typeface="Times New Roman" panose="02020603050405020304" pitchFamily="18" charset="0"/>
              </a:endParaRPr>
            </a:p>
          </p:txBody>
        </p:sp>
        <p:sp>
          <p:nvSpPr>
            <p:cNvPr id="33807" name="Freeform 73"/>
            <p:cNvSpPr/>
            <p:nvPr/>
          </p:nvSpPr>
          <p:spPr>
            <a:xfrm>
              <a:off x="576" y="3180"/>
              <a:ext cx="4896" cy="1"/>
            </a:xfrm>
            <a:custGeom>
              <a:avLst/>
              <a:gdLst/>
              <a:ahLst/>
              <a:cxnLst>
                <a:cxn ang="0">
                  <a:pos x="0" y="0"/>
                </a:cxn>
                <a:cxn ang="0">
                  <a:pos x="4896" y="0"/>
                </a:cxn>
              </a:cxnLst>
              <a:pathLst>
                <a:path w="4896" h="1">
                  <a:moveTo>
                    <a:pt x="0" y="0"/>
                  </a:moveTo>
                  <a:lnTo>
                    <a:pt x="4896"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3808" name="Line 74"/>
            <p:cNvSpPr/>
            <p:nvPr/>
          </p:nvSpPr>
          <p:spPr>
            <a:xfrm>
              <a:off x="576" y="2940"/>
              <a:ext cx="0" cy="612"/>
            </a:xfrm>
            <a:prstGeom prst="line">
              <a:avLst/>
            </a:prstGeom>
            <a:ln w="28575" cap="flat" cmpd="sng">
              <a:solidFill>
                <a:schemeClr val="tx1"/>
              </a:solidFill>
              <a:prstDash val="solid"/>
              <a:headEnd type="none" w="med" len="med"/>
              <a:tailEnd type="none" w="med" len="med"/>
            </a:ln>
          </p:spPr>
        </p:sp>
        <p:sp>
          <p:nvSpPr>
            <p:cNvPr id="33809" name="Line 75"/>
            <p:cNvSpPr/>
            <p:nvPr/>
          </p:nvSpPr>
          <p:spPr>
            <a:xfrm>
              <a:off x="1824" y="2940"/>
              <a:ext cx="0" cy="238"/>
            </a:xfrm>
            <a:prstGeom prst="line">
              <a:avLst/>
            </a:prstGeom>
            <a:ln w="28575" cap="flat" cmpd="sng">
              <a:solidFill>
                <a:schemeClr val="tx1"/>
              </a:solidFill>
              <a:prstDash val="solid"/>
              <a:headEnd type="none" w="med" len="med"/>
              <a:tailEnd type="none" w="med" len="med"/>
            </a:ln>
          </p:spPr>
        </p:sp>
        <p:sp>
          <p:nvSpPr>
            <p:cNvPr id="33810" name="Line 76"/>
            <p:cNvSpPr/>
            <p:nvPr/>
          </p:nvSpPr>
          <p:spPr>
            <a:xfrm>
              <a:off x="5472" y="2940"/>
              <a:ext cx="0" cy="612"/>
            </a:xfrm>
            <a:prstGeom prst="line">
              <a:avLst/>
            </a:prstGeom>
            <a:ln w="28575" cap="flat" cmpd="sng">
              <a:solidFill>
                <a:schemeClr val="tx1"/>
              </a:solidFill>
              <a:prstDash val="solid"/>
              <a:headEnd type="none" w="med" len="med"/>
              <a:tailEnd type="none" w="med" len="med"/>
            </a:ln>
          </p:spPr>
        </p:sp>
        <p:sp>
          <p:nvSpPr>
            <p:cNvPr id="33811" name="Text Box 77"/>
            <p:cNvSpPr txBox="1"/>
            <p:nvPr/>
          </p:nvSpPr>
          <p:spPr>
            <a:xfrm>
              <a:off x="2648" y="3226"/>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Times New Roman" panose="02020603050405020304" pitchFamily="18" charset="0"/>
                </a:rPr>
                <a:t>指令周期</a:t>
              </a:r>
              <a:endParaRPr lang="zh-CN" altLang="en-US" sz="2000" b="1" dirty="0">
                <a:latin typeface="Times New Roman" panose="02020603050405020304" pitchFamily="18" charset="0"/>
              </a:endParaRPr>
            </a:p>
          </p:txBody>
        </p:sp>
        <p:sp>
          <p:nvSpPr>
            <p:cNvPr id="33812" name="Freeform 78"/>
            <p:cNvSpPr/>
            <p:nvPr/>
          </p:nvSpPr>
          <p:spPr>
            <a:xfrm>
              <a:off x="3720" y="3323"/>
              <a:ext cx="1752" cy="1"/>
            </a:xfrm>
            <a:custGeom>
              <a:avLst/>
              <a:gdLst/>
              <a:ahLst/>
              <a:cxnLst>
                <a:cxn ang="0">
                  <a:pos x="0" y="1"/>
                </a:cxn>
                <a:cxn ang="0">
                  <a:pos x="1752" y="0"/>
                </a:cxn>
              </a:cxnLst>
              <a:pathLst>
                <a:path w="1752" h="1">
                  <a:moveTo>
                    <a:pt x="0" y="1"/>
                  </a:moveTo>
                  <a:lnTo>
                    <a:pt x="1752" y="0"/>
                  </a:lnTo>
                </a:path>
              </a:pathLst>
            </a:custGeom>
            <a:noFill/>
            <a:ln w="9525" cap="flat" cmpd="sng">
              <a:solidFill>
                <a:schemeClr val="tx1">
                  <a:alpha val="100000"/>
                </a:schemeClr>
              </a:solidFill>
              <a:prstDash val="solid"/>
              <a:round/>
              <a:headEnd type="none" w="med" len="med"/>
              <a:tailEnd type="stealth" w="med" len="med"/>
            </a:ln>
          </p:spPr>
          <p:txBody>
            <a:bodyPr/>
            <a:p>
              <a:endParaRPr lang="zh-CN" altLang="en-US"/>
            </a:p>
          </p:txBody>
        </p:sp>
        <p:sp>
          <p:nvSpPr>
            <p:cNvPr id="33813" name="Freeform 79"/>
            <p:cNvSpPr/>
            <p:nvPr/>
          </p:nvSpPr>
          <p:spPr>
            <a:xfrm>
              <a:off x="591" y="3321"/>
              <a:ext cx="1773" cy="1"/>
            </a:xfrm>
            <a:custGeom>
              <a:avLst/>
              <a:gdLst/>
              <a:ahLst/>
              <a:cxnLst>
                <a:cxn ang="0">
                  <a:pos x="1773" y="0"/>
                </a:cxn>
                <a:cxn ang="0">
                  <a:pos x="0" y="1"/>
                </a:cxn>
              </a:cxnLst>
              <a:pathLst>
                <a:path w="1773" h="1">
                  <a:moveTo>
                    <a:pt x="1773" y="0"/>
                  </a:moveTo>
                  <a:lnTo>
                    <a:pt x="0" y="1"/>
                  </a:lnTo>
                </a:path>
              </a:pathLst>
            </a:custGeom>
            <a:noFill/>
            <a:ln w="9525" cap="flat" cmpd="sng">
              <a:solidFill>
                <a:schemeClr val="tx1">
                  <a:alpha val="100000"/>
                </a:schemeClr>
              </a:solidFill>
              <a:prstDash val="solid"/>
              <a:round/>
              <a:headEnd type="none" w="med" len="med"/>
              <a:tailEnd type="stealth" w="med" len="med"/>
            </a:ln>
          </p:spPr>
          <p:txBody>
            <a:bodyPr/>
            <a:p>
              <a:endParaRPr lang="zh-CN" altLang="en-US"/>
            </a:p>
          </p:txBody>
        </p:sp>
        <p:sp>
          <p:nvSpPr>
            <p:cNvPr id="33814" name="Line 80"/>
            <p:cNvSpPr/>
            <p:nvPr/>
          </p:nvSpPr>
          <p:spPr>
            <a:xfrm flipH="1">
              <a:off x="576" y="3082"/>
              <a:ext cx="240" cy="0"/>
            </a:xfrm>
            <a:prstGeom prst="line">
              <a:avLst/>
            </a:prstGeom>
            <a:ln w="9525" cap="flat" cmpd="sng">
              <a:solidFill>
                <a:schemeClr val="tx1"/>
              </a:solidFill>
              <a:prstDash val="solid"/>
              <a:headEnd type="none" w="med" len="med"/>
              <a:tailEnd type="stealth" w="med" len="med"/>
            </a:ln>
          </p:spPr>
        </p:sp>
        <p:sp>
          <p:nvSpPr>
            <p:cNvPr id="33815" name="Line 81"/>
            <p:cNvSpPr/>
            <p:nvPr/>
          </p:nvSpPr>
          <p:spPr>
            <a:xfrm rot="-10800000" flipH="1">
              <a:off x="1584" y="3082"/>
              <a:ext cx="240" cy="0"/>
            </a:xfrm>
            <a:prstGeom prst="line">
              <a:avLst/>
            </a:prstGeom>
            <a:ln w="9525" cap="flat" cmpd="sng">
              <a:solidFill>
                <a:schemeClr val="tx1"/>
              </a:solidFill>
              <a:prstDash val="solid"/>
              <a:headEnd type="none" w="med" len="med"/>
              <a:tailEnd type="stealth" w="med" len="med"/>
            </a:ln>
          </p:spPr>
        </p:sp>
        <p:sp>
          <p:nvSpPr>
            <p:cNvPr id="33816" name="Line 82"/>
            <p:cNvSpPr/>
            <p:nvPr/>
          </p:nvSpPr>
          <p:spPr>
            <a:xfrm flipH="1">
              <a:off x="1824" y="3082"/>
              <a:ext cx="240" cy="0"/>
            </a:xfrm>
            <a:prstGeom prst="line">
              <a:avLst/>
            </a:prstGeom>
            <a:ln w="9525" cap="flat" cmpd="sng">
              <a:solidFill>
                <a:schemeClr val="tx1"/>
              </a:solidFill>
              <a:prstDash val="solid"/>
              <a:headEnd type="none" w="med" len="med"/>
              <a:tailEnd type="stealth" w="med" len="med"/>
            </a:ln>
          </p:spPr>
        </p:sp>
        <p:sp>
          <p:nvSpPr>
            <p:cNvPr id="33817" name="Line 83"/>
            <p:cNvSpPr/>
            <p:nvPr/>
          </p:nvSpPr>
          <p:spPr>
            <a:xfrm rot="-10800000" flipH="1">
              <a:off x="2784" y="3082"/>
              <a:ext cx="240" cy="0"/>
            </a:xfrm>
            <a:prstGeom prst="line">
              <a:avLst/>
            </a:prstGeom>
            <a:ln w="9525" cap="flat" cmpd="sng">
              <a:solidFill>
                <a:schemeClr val="tx1"/>
              </a:solidFill>
              <a:prstDash val="solid"/>
              <a:headEnd type="none" w="med" len="med"/>
              <a:tailEnd type="stealth" w="med" len="med"/>
            </a:ln>
          </p:spPr>
        </p:sp>
        <p:sp>
          <p:nvSpPr>
            <p:cNvPr id="33818" name="Text Box 84"/>
            <p:cNvSpPr txBox="1"/>
            <p:nvPr/>
          </p:nvSpPr>
          <p:spPr>
            <a:xfrm>
              <a:off x="3276" y="2938"/>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Times New Roman" panose="02020603050405020304" pitchFamily="18" charset="0"/>
                </a:rPr>
                <a:t>执行周期</a:t>
              </a:r>
              <a:endParaRPr lang="zh-CN" altLang="en-US" sz="2000" b="1" dirty="0">
                <a:latin typeface="Times New Roman" panose="02020603050405020304" pitchFamily="18" charset="0"/>
              </a:endParaRPr>
            </a:p>
          </p:txBody>
        </p:sp>
        <p:sp>
          <p:nvSpPr>
            <p:cNvPr id="33819" name="Line 85"/>
            <p:cNvSpPr/>
            <p:nvPr/>
          </p:nvSpPr>
          <p:spPr>
            <a:xfrm>
              <a:off x="3024" y="2938"/>
              <a:ext cx="0" cy="238"/>
            </a:xfrm>
            <a:prstGeom prst="line">
              <a:avLst/>
            </a:prstGeom>
            <a:ln w="28575" cap="flat" cmpd="sng">
              <a:solidFill>
                <a:schemeClr val="tx1"/>
              </a:solidFill>
              <a:prstDash val="solid"/>
              <a:headEnd type="none" w="med" len="med"/>
              <a:tailEnd type="none" w="med" len="med"/>
            </a:ln>
          </p:spPr>
        </p:sp>
        <p:sp>
          <p:nvSpPr>
            <p:cNvPr id="33820" name="Line 86"/>
            <p:cNvSpPr/>
            <p:nvPr/>
          </p:nvSpPr>
          <p:spPr>
            <a:xfrm flipH="1">
              <a:off x="3024" y="3080"/>
              <a:ext cx="240" cy="0"/>
            </a:xfrm>
            <a:prstGeom prst="line">
              <a:avLst/>
            </a:prstGeom>
            <a:ln w="9525" cap="flat" cmpd="sng">
              <a:solidFill>
                <a:schemeClr val="tx1"/>
              </a:solidFill>
              <a:prstDash val="solid"/>
              <a:headEnd type="none" w="med" len="med"/>
              <a:tailEnd type="stealth" w="med" len="med"/>
            </a:ln>
          </p:spPr>
        </p:sp>
        <p:sp>
          <p:nvSpPr>
            <p:cNvPr id="33821" name="Line 87"/>
            <p:cNvSpPr/>
            <p:nvPr/>
          </p:nvSpPr>
          <p:spPr>
            <a:xfrm rot="-10800000" flipH="1">
              <a:off x="4032" y="3080"/>
              <a:ext cx="240" cy="0"/>
            </a:xfrm>
            <a:prstGeom prst="line">
              <a:avLst/>
            </a:prstGeom>
            <a:ln w="9525" cap="flat" cmpd="sng">
              <a:solidFill>
                <a:schemeClr val="tx1"/>
              </a:solidFill>
              <a:prstDash val="solid"/>
              <a:headEnd type="none" w="med" len="med"/>
              <a:tailEnd type="stealth" w="med" len="med"/>
            </a:ln>
          </p:spPr>
        </p:sp>
        <p:sp>
          <p:nvSpPr>
            <p:cNvPr id="33822" name="Line 88"/>
            <p:cNvSpPr/>
            <p:nvPr/>
          </p:nvSpPr>
          <p:spPr>
            <a:xfrm>
              <a:off x="4272" y="2938"/>
              <a:ext cx="0" cy="238"/>
            </a:xfrm>
            <a:prstGeom prst="line">
              <a:avLst/>
            </a:prstGeom>
            <a:ln w="28575" cap="flat" cmpd="sng">
              <a:solidFill>
                <a:schemeClr val="tx1"/>
              </a:solidFill>
              <a:prstDash val="solid"/>
              <a:headEnd type="none" w="med" len="med"/>
              <a:tailEnd type="none" w="med" len="med"/>
            </a:ln>
          </p:spPr>
        </p:sp>
        <p:sp>
          <p:nvSpPr>
            <p:cNvPr id="33823" name="Line 89"/>
            <p:cNvSpPr/>
            <p:nvPr/>
          </p:nvSpPr>
          <p:spPr>
            <a:xfrm flipH="1">
              <a:off x="4272" y="3072"/>
              <a:ext cx="240" cy="0"/>
            </a:xfrm>
            <a:prstGeom prst="line">
              <a:avLst/>
            </a:prstGeom>
            <a:ln w="9525" cap="flat" cmpd="sng">
              <a:solidFill>
                <a:schemeClr val="tx1"/>
              </a:solidFill>
              <a:prstDash val="solid"/>
              <a:headEnd type="none" w="med" len="med"/>
              <a:tailEnd type="stealth" w="med" len="med"/>
            </a:ln>
          </p:spPr>
        </p:sp>
        <p:sp>
          <p:nvSpPr>
            <p:cNvPr id="33824" name="Text Box 90"/>
            <p:cNvSpPr txBox="1"/>
            <p:nvPr/>
          </p:nvSpPr>
          <p:spPr>
            <a:xfrm>
              <a:off x="4520" y="2928"/>
              <a:ext cx="76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FF3300"/>
                  </a:solidFill>
                  <a:latin typeface="Times New Roman" panose="02020603050405020304" pitchFamily="18" charset="0"/>
                </a:rPr>
                <a:t>中断周期</a:t>
              </a:r>
              <a:endParaRPr lang="zh-CN" altLang="en-US" sz="2000" b="1" dirty="0">
                <a:solidFill>
                  <a:srgbClr val="FF3300"/>
                </a:solidFill>
                <a:latin typeface="Times New Roman" panose="02020603050405020304" pitchFamily="18" charset="0"/>
              </a:endParaRPr>
            </a:p>
          </p:txBody>
        </p:sp>
        <p:sp>
          <p:nvSpPr>
            <p:cNvPr id="33825" name="Line 91"/>
            <p:cNvSpPr/>
            <p:nvPr/>
          </p:nvSpPr>
          <p:spPr>
            <a:xfrm rot="-10800000" flipH="1">
              <a:off x="5232" y="3072"/>
              <a:ext cx="240" cy="0"/>
            </a:xfrm>
            <a:prstGeom prst="line">
              <a:avLst/>
            </a:prstGeom>
            <a:ln w="9525" cap="flat" cmpd="sng">
              <a:solidFill>
                <a:schemeClr val="tx1"/>
              </a:solidFill>
              <a:prstDash val="solid"/>
              <a:headEnd type="none" w="med" len="med"/>
              <a:tailEnd type="stealth" w="med" len="med"/>
            </a:ln>
          </p:spPr>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467360" y="188595"/>
            <a:ext cx="8229600" cy="1371600"/>
          </a:xfrm>
        </p:spPr>
        <p:txBody>
          <a:bodyPr/>
          <a:lstStyle/>
          <a:p>
            <a:pPr eaLnBrk="1" hangingPunct="1">
              <a:defRPr/>
            </a:pPr>
            <a:r>
              <a:rPr lang="zh-CN" altLang="en-US"/>
              <a:t>程序示例</a:t>
            </a:r>
            <a:endParaRPr lang="zh-CN" altLang="en-US"/>
          </a:p>
        </p:txBody>
      </p:sp>
      <p:sp>
        <p:nvSpPr>
          <p:cNvPr id="38914" name="Rectangle 3"/>
          <p:cNvSpPr>
            <a:spLocks noGrp="1" noChangeArrowheads="1"/>
          </p:cNvSpPr>
          <p:nvPr>
            <p:ph idx="1"/>
          </p:nvPr>
        </p:nvSpPr>
        <p:spPr>
          <a:xfrm>
            <a:off x="539115" y="1196975"/>
            <a:ext cx="8229600" cy="3886200"/>
          </a:xfrm>
        </p:spPr>
        <p:txBody>
          <a:bodyPr/>
          <a:lstStyle/>
          <a:p>
            <a:pPr eaLnBrk="1" hangingPunct="1"/>
            <a:r>
              <a:rPr lang="zh-CN" altLang="en-US" sz="2400"/>
              <a:t>六条典型指令组成的一个程序</a:t>
            </a:r>
            <a:endParaRPr lang="en-US" altLang="zh-CN" sz="2400"/>
          </a:p>
          <a:p>
            <a:pPr eaLnBrk="1" hangingPunct="1">
              <a:buFont typeface="Wingdings 2" pitchFamily="18" charset="2"/>
              <a:buNone/>
            </a:pPr>
            <a:r>
              <a:rPr lang="zh-CN" altLang="en-US" sz="2400"/>
              <a:t>执行前 </a:t>
            </a:r>
            <a:r>
              <a:rPr lang="en-US" altLang="zh-CN" sz="2400"/>
              <a:t>(R0)=0</a:t>
            </a:r>
            <a:r>
              <a:rPr lang="zh-CN" altLang="en-US" sz="2400"/>
              <a:t>，</a:t>
            </a:r>
            <a:r>
              <a:rPr lang="en-US" altLang="zh-CN" sz="2400"/>
              <a:t>(R1)=10</a:t>
            </a:r>
            <a:r>
              <a:rPr lang="zh-CN" altLang="en-US" sz="2400"/>
              <a:t>，</a:t>
            </a:r>
            <a:r>
              <a:rPr lang="en-US" altLang="zh-CN" sz="2400"/>
              <a:t>(R2)=20</a:t>
            </a:r>
            <a:r>
              <a:rPr lang="zh-CN" altLang="en-US" sz="2400"/>
              <a:t>，</a:t>
            </a:r>
            <a:r>
              <a:rPr lang="en-US" altLang="zh-CN" sz="2400"/>
              <a:t>(R3)=30</a:t>
            </a:r>
            <a:endParaRPr lang="en-US" altLang="zh-CN" sz="2400"/>
          </a:p>
          <a:p>
            <a:pPr eaLnBrk="1" hangingPunct="1"/>
            <a:endParaRPr lang="en-US" altLang="zh-CN" sz="2400"/>
          </a:p>
        </p:txBody>
      </p:sp>
      <p:graphicFrame>
        <p:nvGraphicFramePr>
          <p:cNvPr id="223317" name="Group 85"/>
          <p:cNvGraphicFramePr>
            <a:graphicFrameLocks noGrp="1"/>
          </p:cNvGraphicFramePr>
          <p:nvPr/>
        </p:nvGraphicFramePr>
        <p:xfrm>
          <a:off x="1481138" y="2128838"/>
          <a:ext cx="6096000" cy="4216406"/>
        </p:xfrm>
        <a:graphic>
          <a:graphicData uri="http://schemas.openxmlformats.org/drawingml/2006/table">
            <a:tbl>
              <a:tblPr/>
              <a:tblGrid>
                <a:gridCol w="2032000"/>
                <a:gridCol w="2032000"/>
                <a:gridCol w="2032000"/>
              </a:tblGrid>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dirty="0">
                          <a:ln>
                            <a:noFill/>
                          </a:ln>
                          <a:solidFill>
                            <a:srgbClr val="FF0000"/>
                          </a:solidFill>
                          <a:effectLst/>
                          <a:latin typeface="楷体" panose="02010609060101010101" pitchFamily="49" charset="-122"/>
                          <a:ea typeface="楷体" panose="02010609060101010101" pitchFamily="49" charset="-122"/>
                        </a:rPr>
                        <a:t>八</a:t>
                      </a:r>
                      <a:r>
                        <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进制地址</a:t>
                      </a:r>
                      <a:endParaRPr kumimoji="1"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助  记  符</a:t>
                      </a:r>
                      <a:endPar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说明</a:t>
                      </a:r>
                      <a:endPar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MOV R1, R0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(R1)</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LAD 6, R1 </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ADD R1, R2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(R1)+(R2)</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 R2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STO R2, (R3)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(R2)</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 (R3)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JMP 101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1800" b="1" i="0" u="none" strike="noStrike" cap="none" normalizeH="0" baseline="0">
                          <a:ln>
                            <a:noFill/>
                          </a:ln>
                          <a:solidFill>
                            <a:schemeClr val="tx1"/>
                          </a:solidFill>
                          <a:effectLst/>
                          <a:latin typeface="楷体_GB2312" pitchFamily="49" charset="-122"/>
                          <a:ea typeface="楷体_GB2312" pitchFamily="49" charset="-122"/>
                        </a:rPr>
                        <a:t>转跳至</a:t>
                      </a:r>
                      <a:r>
                        <a:rPr kumimoji="1" lang="en-US" altLang="zh-CN" sz="1800" b="1" i="0" u="none" strike="noStrike" cap="none" normalizeH="0" baseline="0">
                          <a:ln>
                            <a:noFill/>
                          </a:ln>
                          <a:solidFill>
                            <a:schemeClr val="tx1"/>
                          </a:solidFill>
                          <a:effectLst/>
                          <a:latin typeface="楷体_GB2312" pitchFamily="49" charset="-122"/>
                          <a:ea typeface="楷体_GB2312" pitchFamily="49" charset="-122"/>
                        </a:rPr>
                        <a:t>101</a:t>
                      </a:r>
                      <a:endParaRPr kumimoji="1" lang="en-US" altLang="zh-CN" sz="1800" b="1" i="0" u="none" strike="noStrike" cap="none" normalizeH="0" baseline="0">
                        <a:ln>
                          <a:noFill/>
                        </a:ln>
                        <a:solidFill>
                          <a:schemeClr val="tx1"/>
                        </a:solidFill>
                        <a:effectLst/>
                        <a:latin typeface="楷体_GB2312" pitchFamily="49" charset="-122"/>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            106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    AND R1, R3</a:t>
                      </a: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(R1)</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(R3)</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R3</a:t>
                      </a: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rowSpan="5">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数据</a:t>
                      </a:r>
                      <a:endPar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L="90000" marR="90000" marT="18001" marB="18001"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vMerge="1">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              7</a:t>
                      </a:r>
                      <a:endParaRPr kumimoji="1" lang="zh-CN" altLang="en-US" sz="2000" b="1" i="0" u="none" strike="noStrike" cap="none" normalizeH="0" baseline="0">
                        <a:ln>
                          <a:noFill/>
                        </a:ln>
                        <a:solidFill>
                          <a:schemeClr val="bg2"/>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 66</a:t>
                      </a: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vMerge="1">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77</a:t>
                      </a: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vMerge="1">
                  <a:tcPr/>
                </a:tc>
              </a:tr>
              <a:tr h="46196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40</a:t>
                      </a:r>
                      <a:r>
                        <a:rPr kumimoji="1"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120</a:t>
                      </a:r>
                      <a:r>
                        <a:rPr kumimoji="1"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rPr>
                        <a:t>）</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vMerge="1">
                  <a:tcPr/>
                </a:tc>
              </a:tr>
            </a:tbl>
          </a:graphicData>
        </a:graphic>
      </p:graphicFrame>
      <p:sp>
        <p:nvSpPr>
          <p:cNvPr id="38966" name="Line 86"/>
          <p:cNvSpPr>
            <a:spLocks noChangeShapeType="1"/>
          </p:cNvSpPr>
          <p:nvPr/>
        </p:nvSpPr>
        <p:spPr bwMode="auto">
          <a:xfrm>
            <a:off x="1481138" y="4511675"/>
            <a:ext cx="6118225" cy="1588"/>
          </a:xfrm>
          <a:prstGeom prst="line">
            <a:avLst/>
          </a:prstGeom>
          <a:noFill/>
          <a:ln w="31750">
            <a:solidFill>
              <a:srgbClr val="0000FF"/>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866" name="Picture 4" descr="5a4">
            <a:hlinkClick r:id="rId1" action="ppaction://hlinkfile"/>
          </p:cNvPr>
          <p:cNvPicPr>
            <a:picLocks noChangeAspect="1"/>
          </p:cNvPicPr>
          <p:nvPr/>
        </p:nvPicPr>
        <p:blipFill>
          <a:blip r:embed="rId2"/>
          <a:stretch>
            <a:fillRect/>
          </a:stretch>
        </p:blipFill>
        <p:spPr>
          <a:xfrm>
            <a:off x="3997325" y="1358900"/>
            <a:ext cx="4895850" cy="4730750"/>
          </a:xfrm>
          <a:prstGeom prst="rect">
            <a:avLst/>
          </a:prstGeom>
          <a:noFill/>
          <a:ln w="9525">
            <a:noFill/>
          </a:ln>
        </p:spPr>
      </p:pic>
      <p:sp>
        <p:nvSpPr>
          <p:cNvPr id="36867" name="Rectangle 2"/>
          <p:cNvSpPr>
            <a:spLocks noGrp="1"/>
          </p:cNvSpPr>
          <p:nvPr>
            <p:ph type="title"/>
          </p:nvPr>
        </p:nvSpPr>
        <p:spPr/>
        <p:txBody>
          <a:bodyPr vert="horz" wrap="square" lIns="91440" tIns="45720" rIns="91440" bIns="45720" anchor="ctr" anchorCtr="0"/>
          <a:p>
            <a:r>
              <a:rPr lang="en-US" altLang="zh-CN" dirty="0"/>
              <a:t>5.2.2 MOV</a:t>
            </a:r>
            <a:r>
              <a:rPr lang="zh-CN" altLang="en-US" dirty="0"/>
              <a:t>指令的指令周期</a:t>
            </a:r>
            <a:endParaRPr lang="zh-CN" altLang="en-US" dirty="0"/>
          </a:p>
        </p:txBody>
      </p:sp>
      <p:sp>
        <p:nvSpPr>
          <p:cNvPr id="36868" name="Rectangle 3"/>
          <p:cNvSpPr>
            <a:spLocks noGrp="1"/>
          </p:cNvSpPr>
          <p:nvPr>
            <p:ph idx="1"/>
          </p:nvPr>
        </p:nvSpPr>
        <p:spPr/>
        <p:txBody>
          <a:bodyPr vert="horz" wrap="square" lIns="91440" tIns="45720" rIns="91440" bIns="45720" anchor="t" anchorCtr="0"/>
          <a:p>
            <a:r>
              <a:rPr lang="en-US" altLang="zh-CN" b="1" dirty="0">
                <a:solidFill>
                  <a:srgbClr val="FF3300"/>
                </a:solidFill>
              </a:rPr>
              <a:t>MOV R</a:t>
            </a:r>
            <a:r>
              <a:rPr lang="en-US" altLang="zh-CN" b="1" baseline="-25000" dirty="0">
                <a:solidFill>
                  <a:srgbClr val="FF3300"/>
                </a:solidFill>
              </a:rPr>
              <a:t>0</a:t>
            </a:r>
            <a:r>
              <a:rPr lang="en-US" altLang="zh-CN" b="1" dirty="0">
                <a:solidFill>
                  <a:srgbClr val="FF3300"/>
                </a:solidFill>
              </a:rPr>
              <a:t>,R</a:t>
            </a:r>
            <a:r>
              <a:rPr lang="en-US" altLang="zh-CN" b="1" baseline="-25000" dirty="0">
                <a:solidFill>
                  <a:srgbClr val="FF3300"/>
                </a:solidFill>
              </a:rPr>
              <a:t>1</a:t>
            </a:r>
            <a:endParaRPr lang="en-US" altLang="zh-CN" b="1" baseline="-25000" dirty="0">
              <a:solidFill>
                <a:srgbClr val="FF3300"/>
              </a:solidFill>
            </a:endParaRPr>
          </a:p>
          <a:p>
            <a:r>
              <a:rPr lang="en-US" altLang="zh-CN" sz="2000" dirty="0"/>
              <a:t>RR</a:t>
            </a:r>
            <a:r>
              <a:rPr lang="zh-CN" altLang="en-US" sz="2000" dirty="0"/>
              <a:t>型指令</a:t>
            </a:r>
            <a:endParaRPr lang="zh-CN" altLang="en-US" sz="2000" dirty="0"/>
          </a:p>
          <a:p>
            <a:r>
              <a:rPr lang="en-US" altLang="zh-CN" sz="2000" dirty="0"/>
              <a:t>2</a:t>
            </a:r>
            <a:r>
              <a:rPr lang="zh-CN" altLang="en-US" sz="2000" dirty="0"/>
              <a:t>个周期</a:t>
            </a:r>
            <a:endParaRPr lang="zh-CN" altLang="en-US" sz="2000" dirty="0"/>
          </a:p>
          <a:p>
            <a:r>
              <a:rPr lang="zh-CN" altLang="en-US" dirty="0"/>
              <a:t>取指周期</a:t>
            </a:r>
            <a:endParaRPr lang="zh-CN" altLang="en-US" dirty="0"/>
          </a:p>
          <a:p>
            <a:r>
              <a:rPr lang="en-US" altLang="zh-CN" sz="2000" dirty="0"/>
              <a:t>1</a:t>
            </a:r>
            <a:r>
              <a:rPr lang="zh-CN" altLang="en-US" sz="2000" dirty="0"/>
              <a:t>、从指存中取指令</a:t>
            </a:r>
            <a:endParaRPr lang="zh-CN" altLang="en-US" sz="2000" dirty="0"/>
          </a:p>
          <a:p>
            <a:r>
              <a:rPr lang="en-US" altLang="zh-CN" sz="2000" dirty="0"/>
              <a:t>2</a:t>
            </a:r>
            <a:r>
              <a:rPr lang="zh-CN" altLang="en-US" sz="2000" dirty="0"/>
              <a:t>、</a:t>
            </a:r>
            <a:r>
              <a:rPr lang="en-US" altLang="zh-CN" sz="2000" dirty="0"/>
              <a:t>PC+1</a:t>
            </a:r>
            <a:r>
              <a:rPr lang="zh-CN" altLang="en-US" sz="2000" dirty="0"/>
              <a:t>，为下次取指作准备</a:t>
            </a:r>
            <a:endParaRPr lang="zh-CN" altLang="en-US" sz="2000" dirty="0"/>
          </a:p>
          <a:p>
            <a:r>
              <a:rPr lang="en-US" altLang="zh-CN" sz="2000" dirty="0"/>
              <a:t>3</a:t>
            </a:r>
            <a:r>
              <a:rPr lang="zh-CN" altLang="en-US" sz="2000" dirty="0"/>
              <a:t>、指令译码</a:t>
            </a:r>
            <a:endParaRPr lang="zh-CN" altLang="en-US" sz="2000" dirty="0"/>
          </a:p>
          <a:p>
            <a:endParaRPr lang="zh-CN" altLang="en-US" sz="2000" dirty="0"/>
          </a:p>
          <a:p>
            <a:r>
              <a:rPr lang="zh-CN" altLang="en-US" dirty="0"/>
              <a:t>执行周期</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p:txBody>
          <a:bodyPr vert="horz" wrap="square" lIns="91440" tIns="45720" rIns="91440" bIns="45720" anchor="ctr" anchorCtr="0"/>
          <a:p>
            <a:endParaRPr lang="zh-CN" altLang="zh-CN" dirty="0"/>
          </a:p>
        </p:txBody>
      </p:sp>
      <p:pic>
        <p:nvPicPr>
          <p:cNvPr id="37891" name="Picture 4" descr="5a5"/>
          <p:cNvPicPr>
            <a:picLocks noChangeAspect="1"/>
          </p:cNvPicPr>
          <p:nvPr/>
        </p:nvPicPr>
        <p:blipFill>
          <a:blip r:embed="rId1"/>
          <a:stretch>
            <a:fillRect/>
          </a:stretch>
        </p:blipFill>
        <p:spPr>
          <a:xfrm>
            <a:off x="222250" y="385763"/>
            <a:ext cx="8135938" cy="6138862"/>
          </a:xfrm>
          <a:prstGeom prst="rect">
            <a:avLst/>
          </a:prstGeom>
          <a:noFill/>
          <a:ln w="9525">
            <a:noFill/>
          </a:ln>
        </p:spPr>
      </p:pic>
      <p:sp>
        <p:nvSpPr>
          <p:cNvPr id="37892" name="Rectangle 5"/>
          <p:cNvSpPr/>
          <p:nvPr/>
        </p:nvSpPr>
        <p:spPr>
          <a:xfrm>
            <a:off x="468313" y="163513"/>
            <a:ext cx="4414837"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0000"/>
                </a:solidFill>
              </a:rPr>
              <a:t>5.2.2MOV</a:t>
            </a:r>
            <a:r>
              <a:rPr lang="zh-CN" altLang="en-US" sz="2400" b="1" dirty="0">
                <a:solidFill>
                  <a:srgbClr val="FF0000"/>
                </a:solidFill>
              </a:rPr>
              <a:t>指令的指令周期</a:t>
            </a:r>
            <a:r>
              <a:rPr lang="en-US" altLang="zh-CN" sz="2400" b="1" dirty="0">
                <a:solidFill>
                  <a:srgbClr val="FF0000"/>
                </a:solidFill>
              </a:rPr>
              <a:t>-</a:t>
            </a:r>
            <a:r>
              <a:rPr lang="zh-CN" altLang="en-US" sz="2400" b="1" dirty="0">
                <a:solidFill>
                  <a:srgbClr val="FF0000"/>
                </a:solidFill>
              </a:rPr>
              <a:t>取</a:t>
            </a:r>
            <a:r>
              <a:rPr lang="zh-CN" altLang="en-US" sz="2400" b="1" dirty="0">
                <a:solidFill>
                  <a:srgbClr val="FF3300"/>
                </a:solidFill>
              </a:rPr>
              <a:t>指</a:t>
            </a:r>
            <a:endParaRPr lang="zh-CN" altLang="en-US" sz="2400" b="1" dirty="0">
              <a:solidFill>
                <a:srgbClr val="FF3300"/>
              </a:solidFill>
            </a:endParaRPr>
          </a:p>
        </p:txBody>
      </p:sp>
      <p:sp>
        <p:nvSpPr>
          <p:cNvPr id="26630" name="Text Box 6"/>
          <p:cNvSpPr txBox="1"/>
          <p:nvPr/>
        </p:nvSpPr>
        <p:spPr>
          <a:xfrm>
            <a:off x="1763713" y="6491288"/>
            <a:ext cx="6010275" cy="3667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EE2200"/>
                </a:solidFill>
              </a:rPr>
              <a:t>① </a:t>
            </a:r>
            <a:r>
              <a:rPr lang="zh-CN" altLang="en-US" sz="1800" b="1" dirty="0">
                <a:solidFill>
                  <a:srgbClr val="EE2200"/>
                </a:solidFill>
              </a:rPr>
              <a:t>程序计数器</a:t>
            </a:r>
            <a:r>
              <a:rPr lang="en-US" altLang="zh-CN" sz="1800" b="1" dirty="0">
                <a:solidFill>
                  <a:srgbClr val="EE2200"/>
                </a:solidFill>
              </a:rPr>
              <a:t>PC</a:t>
            </a:r>
            <a:r>
              <a:rPr lang="zh-CN" altLang="en-US" sz="1800" b="1" dirty="0">
                <a:solidFill>
                  <a:srgbClr val="EE2200"/>
                </a:solidFill>
              </a:rPr>
              <a:t>中装入第一条指令地址</a:t>
            </a:r>
            <a:r>
              <a:rPr lang="en-US" altLang="zh-CN" sz="1800" b="1" dirty="0">
                <a:solidFill>
                  <a:srgbClr val="EE2200"/>
                </a:solidFill>
              </a:rPr>
              <a:t>101</a:t>
            </a:r>
            <a:r>
              <a:rPr lang="zh-CN" altLang="en-US" sz="1800" b="1" dirty="0">
                <a:solidFill>
                  <a:srgbClr val="EE2200"/>
                </a:solidFill>
              </a:rPr>
              <a:t>（八进制）；</a:t>
            </a:r>
            <a:endParaRPr lang="zh-CN" altLang="en-US" sz="1800" b="1" dirty="0">
              <a:solidFill>
                <a:srgbClr val="EE2200"/>
              </a:solidFill>
            </a:endParaRPr>
          </a:p>
        </p:txBody>
      </p:sp>
      <p:sp>
        <p:nvSpPr>
          <p:cNvPr id="26632" name="Rectangle 8"/>
          <p:cNvSpPr/>
          <p:nvPr/>
        </p:nvSpPr>
        <p:spPr>
          <a:xfrm>
            <a:off x="250825" y="6491288"/>
            <a:ext cx="8642350" cy="3667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EE2200"/>
                </a:solidFill>
              </a:rPr>
              <a:t>② PC</a:t>
            </a:r>
            <a:r>
              <a:rPr lang="zh-CN" altLang="en-US" sz="1800" b="1" dirty="0">
                <a:solidFill>
                  <a:srgbClr val="EE2200"/>
                </a:solidFill>
              </a:rPr>
              <a:t>的内容被放到指令地址总线</a:t>
            </a:r>
            <a:r>
              <a:rPr lang="en-US" altLang="zh-CN" sz="1800" b="1" dirty="0">
                <a:solidFill>
                  <a:srgbClr val="EE2200"/>
                </a:solidFill>
              </a:rPr>
              <a:t>ABUS</a:t>
            </a:r>
            <a:r>
              <a:rPr lang="zh-CN" altLang="en-US" sz="1800" b="1" dirty="0">
                <a:solidFill>
                  <a:srgbClr val="EE2200"/>
                </a:solidFill>
              </a:rPr>
              <a:t>（</a:t>
            </a:r>
            <a:r>
              <a:rPr lang="en-US" altLang="zh-CN" sz="1800" b="1" dirty="0">
                <a:solidFill>
                  <a:srgbClr val="EE2200"/>
                </a:solidFill>
              </a:rPr>
              <a:t>I</a:t>
            </a:r>
            <a:r>
              <a:rPr lang="zh-CN" altLang="en-US" sz="1800" b="1" dirty="0">
                <a:solidFill>
                  <a:srgbClr val="EE2200"/>
                </a:solidFill>
              </a:rPr>
              <a:t>）上，对指存进行译码，并启动读命令；</a:t>
            </a:r>
            <a:endParaRPr lang="zh-CN" altLang="en-US" sz="1800" b="1" dirty="0">
              <a:solidFill>
                <a:srgbClr val="EE2200"/>
              </a:solidFill>
            </a:endParaRPr>
          </a:p>
        </p:txBody>
      </p:sp>
      <p:sp>
        <p:nvSpPr>
          <p:cNvPr id="26633" name="Rectangle 9"/>
          <p:cNvSpPr/>
          <p:nvPr/>
        </p:nvSpPr>
        <p:spPr>
          <a:xfrm>
            <a:off x="1116013" y="6491288"/>
            <a:ext cx="7448550" cy="3667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EE2200"/>
                </a:solidFill>
              </a:rPr>
              <a:t>③ </a:t>
            </a:r>
            <a:r>
              <a:rPr lang="zh-CN" altLang="en-US" sz="1800" b="1" dirty="0">
                <a:solidFill>
                  <a:srgbClr val="EE2200"/>
                </a:solidFill>
              </a:rPr>
              <a:t>从</a:t>
            </a:r>
            <a:r>
              <a:rPr lang="en-US" altLang="zh-CN" sz="1800" b="1" dirty="0">
                <a:solidFill>
                  <a:srgbClr val="EE2200"/>
                </a:solidFill>
              </a:rPr>
              <a:t>101</a:t>
            </a:r>
            <a:r>
              <a:rPr lang="zh-CN" altLang="en-US" sz="1800" b="1" dirty="0">
                <a:solidFill>
                  <a:srgbClr val="EE2200"/>
                </a:solidFill>
              </a:rPr>
              <a:t>号地址读出的</a:t>
            </a:r>
            <a:r>
              <a:rPr lang="en-US" altLang="zh-CN" sz="1800" b="1" dirty="0">
                <a:solidFill>
                  <a:srgbClr val="EE2200"/>
                </a:solidFill>
              </a:rPr>
              <a:t>MOV</a:t>
            </a:r>
            <a:r>
              <a:rPr lang="zh-CN" altLang="en-US" sz="1800" b="1" dirty="0">
                <a:solidFill>
                  <a:srgbClr val="EE2200"/>
                </a:solidFill>
              </a:rPr>
              <a:t>指令通过指令总线</a:t>
            </a:r>
            <a:r>
              <a:rPr lang="en-US" altLang="zh-CN" sz="1800" b="1" dirty="0">
                <a:solidFill>
                  <a:srgbClr val="EE2200"/>
                </a:solidFill>
              </a:rPr>
              <a:t>IBUS</a:t>
            </a:r>
            <a:r>
              <a:rPr lang="zh-CN" altLang="en-US" sz="1800" b="1" dirty="0">
                <a:solidFill>
                  <a:srgbClr val="EE2200"/>
                </a:solidFill>
              </a:rPr>
              <a:t>装入指令寄存器</a:t>
            </a:r>
            <a:r>
              <a:rPr lang="en-US" altLang="zh-CN" sz="1800" b="1" dirty="0">
                <a:solidFill>
                  <a:srgbClr val="EE2200"/>
                </a:solidFill>
              </a:rPr>
              <a:t>IR</a:t>
            </a:r>
            <a:r>
              <a:rPr lang="zh-CN" altLang="en-US" sz="1800" b="1" dirty="0">
                <a:solidFill>
                  <a:srgbClr val="EE2200"/>
                </a:solidFill>
              </a:rPr>
              <a:t>；</a:t>
            </a:r>
            <a:endParaRPr lang="zh-CN" altLang="en-US" sz="1800" b="1" dirty="0">
              <a:solidFill>
                <a:srgbClr val="EE2200"/>
              </a:solidFill>
            </a:endParaRPr>
          </a:p>
        </p:txBody>
      </p:sp>
      <p:sp>
        <p:nvSpPr>
          <p:cNvPr id="26634" name="Rectangle 10"/>
          <p:cNvSpPr/>
          <p:nvPr/>
        </p:nvSpPr>
        <p:spPr>
          <a:xfrm>
            <a:off x="468313" y="6491288"/>
            <a:ext cx="6573837" cy="3667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EE2200"/>
                </a:solidFill>
              </a:rPr>
              <a:t>④  </a:t>
            </a:r>
            <a:r>
              <a:rPr lang="zh-CN" altLang="en-US" sz="1800" b="1" dirty="0">
                <a:solidFill>
                  <a:srgbClr val="EE2200"/>
                </a:solidFill>
              </a:rPr>
              <a:t>程序计数器内容加</a:t>
            </a:r>
            <a:r>
              <a:rPr lang="en-US" altLang="zh-CN" sz="1800" b="1" dirty="0">
                <a:solidFill>
                  <a:srgbClr val="EE2200"/>
                </a:solidFill>
              </a:rPr>
              <a:t>1</a:t>
            </a:r>
            <a:r>
              <a:rPr lang="zh-CN" altLang="en-US" sz="1800" b="1" dirty="0">
                <a:solidFill>
                  <a:srgbClr val="EE2200"/>
                </a:solidFill>
              </a:rPr>
              <a:t>，变成</a:t>
            </a:r>
            <a:r>
              <a:rPr lang="en-US" altLang="zh-CN" sz="1800" b="1" dirty="0">
                <a:solidFill>
                  <a:srgbClr val="EE2200"/>
                </a:solidFill>
              </a:rPr>
              <a:t>102</a:t>
            </a:r>
            <a:r>
              <a:rPr lang="zh-CN" altLang="en-US" sz="1800" b="1" dirty="0">
                <a:solidFill>
                  <a:srgbClr val="EE2200"/>
                </a:solidFill>
              </a:rPr>
              <a:t>，为取下一条指令做好准备；</a:t>
            </a:r>
            <a:endParaRPr lang="zh-CN" altLang="en-US" sz="1800" b="1" dirty="0">
              <a:solidFill>
                <a:srgbClr val="EE2200"/>
              </a:solidFill>
            </a:endParaRPr>
          </a:p>
        </p:txBody>
      </p:sp>
      <p:sp>
        <p:nvSpPr>
          <p:cNvPr id="26635" name="Rectangle 11"/>
          <p:cNvSpPr/>
          <p:nvPr/>
        </p:nvSpPr>
        <p:spPr>
          <a:xfrm>
            <a:off x="1476375" y="6491288"/>
            <a:ext cx="4721225" cy="3667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EE2200"/>
                </a:solidFill>
              </a:rPr>
              <a:t>⑤ </a:t>
            </a:r>
            <a:r>
              <a:rPr lang="zh-CN" altLang="en-US" sz="1800" b="1" dirty="0">
                <a:solidFill>
                  <a:srgbClr val="EE2200"/>
                </a:solidFill>
              </a:rPr>
              <a:t>指令寄存器中的操作码（</a:t>
            </a:r>
            <a:r>
              <a:rPr lang="en-US" altLang="zh-CN" sz="1800" b="1" dirty="0">
                <a:solidFill>
                  <a:srgbClr val="EE2200"/>
                </a:solidFill>
              </a:rPr>
              <a:t>OP</a:t>
            </a:r>
            <a:r>
              <a:rPr lang="zh-CN" altLang="en-US" sz="1800" b="1" dirty="0">
                <a:solidFill>
                  <a:srgbClr val="EE2200"/>
                </a:solidFill>
              </a:rPr>
              <a:t>）被译码；</a:t>
            </a:r>
            <a:endParaRPr lang="zh-CN" altLang="en-US" sz="1800" b="1" dirty="0">
              <a:solidFill>
                <a:srgbClr val="EE2200"/>
              </a:solidFill>
            </a:endParaRPr>
          </a:p>
        </p:txBody>
      </p:sp>
      <p:sp>
        <p:nvSpPr>
          <p:cNvPr id="26636" name="Rectangle 12"/>
          <p:cNvSpPr/>
          <p:nvPr/>
        </p:nvSpPr>
        <p:spPr>
          <a:xfrm>
            <a:off x="1547813" y="6491288"/>
            <a:ext cx="5854700" cy="3667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EE2200"/>
                </a:solidFill>
              </a:rPr>
              <a:t>⑥ CPU</a:t>
            </a:r>
            <a:r>
              <a:rPr lang="zh-CN" altLang="en-US" sz="1800" b="1" dirty="0">
                <a:solidFill>
                  <a:srgbClr val="EE2200"/>
                </a:solidFill>
              </a:rPr>
              <a:t>识别出是</a:t>
            </a:r>
            <a:r>
              <a:rPr lang="en-US" altLang="zh-CN" sz="1800" b="1" dirty="0">
                <a:solidFill>
                  <a:srgbClr val="EE2200"/>
                </a:solidFill>
              </a:rPr>
              <a:t>MOV</a:t>
            </a:r>
            <a:r>
              <a:rPr lang="zh-CN" altLang="en-US" sz="1800" b="1" dirty="0">
                <a:solidFill>
                  <a:srgbClr val="EE2200"/>
                </a:solidFill>
              </a:rPr>
              <a:t>指令，至此，取指周期即告结束。</a:t>
            </a:r>
            <a:endParaRPr lang="zh-CN" altLang="en-US" sz="1800" b="1" dirty="0">
              <a:solidFill>
                <a:srgbClr val="EE22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1000"/>
                                        <p:tgtEl>
                                          <p:spTgt spid="26630"/>
                                        </p:tgtEl>
                                        <p:attrNameLst>
                                          <p:attrName>ppt_x</p:attrName>
                                        </p:attrNameLst>
                                      </p:cBhvr>
                                      <p:tavLst>
                                        <p:tav tm="0">
                                          <p:val>
                                            <p:strVal val="ppt_x"/>
                                          </p:val>
                                        </p:tav>
                                        <p:tav tm="100000">
                                          <p:val>
                                            <p:strVal val="ppt_x"/>
                                          </p:val>
                                        </p:tav>
                                      </p:tavLst>
                                    </p:anim>
                                    <p:anim calcmode="lin" valueType="num">
                                      <p:cBhvr additive="base">
                                        <p:cTn id="7" dur="1000"/>
                                        <p:tgtEl>
                                          <p:spTgt spid="26630"/>
                                        </p:tgtEl>
                                        <p:attrNameLst>
                                          <p:attrName>ppt_y</p:attrName>
                                        </p:attrNameLst>
                                      </p:cBhvr>
                                      <p:tavLst>
                                        <p:tav tm="0">
                                          <p:val>
                                            <p:strVal val="ppt_y"/>
                                          </p:val>
                                        </p:tav>
                                        <p:tav tm="100000">
                                          <p:val>
                                            <p:strVal val="1+ppt_h/2"/>
                                          </p:val>
                                        </p:tav>
                                      </p:tavLst>
                                    </p:anim>
                                    <p:set>
                                      <p:cBhvr>
                                        <p:cTn id="8" dur="1" fill="hold">
                                          <p:stCondLst>
                                            <p:cond delay="999"/>
                                          </p:stCondLst>
                                        </p:cTn>
                                        <p:tgtEl>
                                          <p:spTgt spid="2663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6632"/>
                                        </p:tgtEl>
                                        <p:attrNameLst>
                                          <p:attrName>style.visibility</p:attrName>
                                        </p:attrNameLst>
                                      </p:cBhvr>
                                      <p:to>
                                        <p:strVal val="visible"/>
                                      </p:to>
                                    </p:set>
                                    <p:animEffect transition="in" filter="checkerboard(across)">
                                      <p:cBhvr>
                                        <p:cTn id="13" dur="1000"/>
                                        <p:tgtEl>
                                          <p:spTgt spid="2663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xit" presetSubtype="10" fill="hold" grpId="1" nodeType="clickEffect">
                                  <p:stCondLst>
                                    <p:cond delay="0"/>
                                  </p:stCondLst>
                                  <p:childTnLst>
                                    <p:animEffect transition="out" filter="checkerboard(across)">
                                      <p:cBhvr>
                                        <p:cTn id="17" dur="1000"/>
                                        <p:tgtEl>
                                          <p:spTgt spid="26632"/>
                                        </p:tgtEl>
                                      </p:cBhvr>
                                    </p:animEffect>
                                    <p:set>
                                      <p:cBhvr>
                                        <p:cTn id="18" dur="1" fill="hold">
                                          <p:stCondLst>
                                            <p:cond delay="999"/>
                                          </p:stCondLst>
                                        </p:cTn>
                                        <p:tgtEl>
                                          <p:spTgt spid="2663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6633"/>
                                        </p:tgtEl>
                                        <p:attrNameLst>
                                          <p:attrName>style.visibility</p:attrName>
                                        </p:attrNameLst>
                                      </p:cBhvr>
                                      <p:to>
                                        <p:strVal val="visible"/>
                                      </p:to>
                                    </p:set>
                                    <p:animEffect transition="in" filter="blinds(horizontal)">
                                      <p:cBhvr>
                                        <p:cTn id="23" dur="1000"/>
                                        <p:tgtEl>
                                          <p:spTgt spid="2663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grpId="1" nodeType="clickEffect">
                                  <p:stCondLst>
                                    <p:cond delay="0"/>
                                  </p:stCondLst>
                                  <p:childTnLst>
                                    <p:animEffect transition="out" filter="blinds(horizontal)">
                                      <p:cBhvr>
                                        <p:cTn id="27" dur="1000"/>
                                        <p:tgtEl>
                                          <p:spTgt spid="26633"/>
                                        </p:tgtEl>
                                      </p:cBhvr>
                                    </p:animEffect>
                                    <p:set>
                                      <p:cBhvr>
                                        <p:cTn id="28" dur="1" fill="hold">
                                          <p:stCondLst>
                                            <p:cond delay="999"/>
                                          </p:stCondLst>
                                        </p:cTn>
                                        <p:tgtEl>
                                          <p:spTgt spid="2663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634"/>
                                        </p:tgtEl>
                                        <p:attrNameLst>
                                          <p:attrName>style.visibility</p:attrName>
                                        </p:attrNameLst>
                                      </p:cBhvr>
                                      <p:to>
                                        <p:strVal val="visible"/>
                                      </p:to>
                                    </p:set>
                                    <p:anim calcmode="lin" valueType="num">
                                      <p:cBhvr additive="base">
                                        <p:cTn id="33" dur="1000" fill="hold"/>
                                        <p:tgtEl>
                                          <p:spTgt spid="26634"/>
                                        </p:tgtEl>
                                        <p:attrNameLst>
                                          <p:attrName>ppt_x</p:attrName>
                                        </p:attrNameLst>
                                      </p:cBhvr>
                                      <p:tavLst>
                                        <p:tav tm="0">
                                          <p:val>
                                            <p:strVal val="#ppt_x"/>
                                          </p:val>
                                        </p:tav>
                                        <p:tav tm="100000">
                                          <p:val>
                                            <p:strVal val="#ppt_x"/>
                                          </p:val>
                                        </p:tav>
                                      </p:tavLst>
                                    </p:anim>
                                    <p:anim calcmode="lin" valueType="num">
                                      <p:cBhvr additive="base">
                                        <p:cTn id="34" dur="1000" fill="hold"/>
                                        <p:tgtEl>
                                          <p:spTgt spid="2663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1" nodeType="clickEffect">
                                  <p:stCondLst>
                                    <p:cond delay="0"/>
                                  </p:stCondLst>
                                  <p:childTnLst>
                                    <p:anim calcmode="lin" valueType="num">
                                      <p:cBhvr additive="base">
                                        <p:cTn id="38" dur="1000"/>
                                        <p:tgtEl>
                                          <p:spTgt spid="26634"/>
                                        </p:tgtEl>
                                        <p:attrNameLst>
                                          <p:attrName>ppt_x</p:attrName>
                                        </p:attrNameLst>
                                      </p:cBhvr>
                                      <p:tavLst>
                                        <p:tav tm="0">
                                          <p:val>
                                            <p:strVal val="ppt_x"/>
                                          </p:val>
                                        </p:tav>
                                        <p:tav tm="100000">
                                          <p:val>
                                            <p:strVal val="ppt_x"/>
                                          </p:val>
                                        </p:tav>
                                      </p:tavLst>
                                    </p:anim>
                                    <p:anim calcmode="lin" valueType="num">
                                      <p:cBhvr additive="base">
                                        <p:cTn id="39" dur="1000"/>
                                        <p:tgtEl>
                                          <p:spTgt spid="26634"/>
                                        </p:tgtEl>
                                        <p:attrNameLst>
                                          <p:attrName>ppt_y</p:attrName>
                                        </p:attrNameLst>
                                      </p:cBhvr>
                                      <p:tavLst>
                                        <p:tav tm="0">
                                          <p:val>
                                            <p:strVal val="ppt_y"/>
                                          </p:val>
                                        </p:tav>
                                        <p:tav tm="100000">
                                          <p:val>
                                            <p:strVal val="1+ppt_h/2"/>
                                          </p:val>
                                        </p:tav>
                                      </p:tavLst>
                                    </p:anim>
                                    <p:set>
                                      <p:cBhvr>
                                        <p:cTn id="40" dur="1" fill="hold">
                                          <p:stCondLst>
                                            <p:cond delay="999"/>
                                          </p:stCondLst>
                                        </p:cTn>
                                        <p:tgtEl>
                                          <p:spTgt spid="2663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6635"/>
                                        </p:tgtEl>
                                        <p:attrNameLst>
                                          <p:attrName>style.visibility</p:attrName>
                                        </p:attrNameLst>
                                      </p:cBhvr>
                                      <p:to>
                                        <p:strVal val="visible"/>
                                      </p:to>
                                    </p:set>
                                    <p:anim calcmode="lin" valueType="num">
                                      <p:cBhvr additive="base">
                                        <p:cTn id="45" dur="1000" fill="hold"/>
                                        <p:tgtEl>
                                          <p:spTgt spid="26635"/>
                                        </p:tgtEl>
                                        <p:attrNameLst>
                                          <p:attrName>ppt_x</p:attrName>
                                        </p:attrNameLst>
                                      </p:cBhvr>
                                      <p:tavLst>
                                        <p:tav tm="0">
                                          <p:val>
                                            <p:strVal val="#ppt_x"/>
                                          </p:val>
                                        </p:tav>
                                        <p:tav tm="100000">
                                          <p:val>
                                            <p:strVal val="#ppt_x"/>
                                          </p:val>
                                        </p:tav>
                                      </p:tavLst>
                                    </p:anim>
                                    <p:anim calcmode="lin" valueType="num">
                                      <p:cBhvr additive="base">
                                        <p:cTn id="46" dur="1000" fill="hold"/>
                                        <p:tgtEl>
                                          <p:spTgt spid="2663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xit" presetSubtype="4" fill="hold" grpId="1" nodeType="clickEffect">
                                  <p:stCondLst>
                                    <p:cond delay="0"/>
                                  </p:stCondLst>
                                  <p:childTnLst>
                                    <p:anim calcmode="lin" valueType="num">
                                      <p:cBhvr additive="base">
                                        <p:cTn id="50" dur="1000"/>
                                        <p:tgtEl>
                                          <p:spTgt spid="26635"/>
                                        </p:tgtEl>
                                        <p:attrNameLst>
                                          <p:attrName>ppt_x</p:attrName>
                                        </p:attrNameLst>
                                      </p:cBhvr>
                                      <p:tavLst>
                                        <p:tav tm="0">
                                          <p:val>
                                            <p:strVal val="ppt_x"/>
                                          </p:val>
                                        </p:tav>
                                        <p:tav tm="100000">
                                          <p:val>
                                            <p:strVal val="ppt_x"/>
                                          </p:val>
                                        </p:tav>
                                      </p:tavLst>
                                    </p:anim>
                                    <p:anim calcmode="lin" valueType="num">
                                      <p:cBhvr additive="base">
                                        <p:cTn id="51" dur="1000"/>
                                        <p:tgtEl>
                                          <p:spTgt spid="26635"/>
                                        </p:tgtEl>
                                        <p:attrNameLst>
                                          <p:attrName>ppt_y</p:attrName>
                                        </p:attrNameLst>
                                      </p:cBhvr>
                                      <p:tavLst>
                                        <p:tav tm="0">
                                          <p:val>
                                            <p:strVal val="ppt_y"/>
                                          </p:val>
                                        </p:tav>
                                        <p:tav tm="100000">
                                          <p:val>
                                            <p:strVal val="1+ppt_h/2"/>
                                          </p:val>
                                        </p:tav>
                                      </p:tavLst>
                                    </p:anim>
                                    <p:set>
                                      <p:cBhvr>
                                        <p:cTn id="52" dur="1" fill="hold">
                                          <p:stCondLst>
                                            <p:cond delay="999"/>
                                          </p:stCondLst>
                                        </p:cTn>
                                        <p:tgtEl>
                                          <p:spTgt spid="2663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6636"/>
                                        </p:tgtEl>
                                        <p:attrNameLst>
                                          <p:attrName>style.visibility</p:attrName>
                                        </p:attrNameLst>
                                      </p:cBhvr>
                                      <p:to>
                                        <p:strVal val="visible"/>
                                      </p:to>
                                    </p:set>
                                    <p:animEffect transition="in" filter="blinds(horizontal)">
                                      <p:cBhvr>
                                        <p:cTn id="57" dur="1000"/>
                                        <p:tgtEl>
                                          <p:spTgt spid="2663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grpId="1" nodeType="clickEffect">
                                  <p:stCondLst>
                                    <p:cond delay="0"/>
                                  </p:stCondLst>
                                  <p:childTnLst>
                                    <p:animEffect transition="out" filter="blinds(horizontal)">
                                      <p:cBhvr>
                                        <p:cTn id="61" dur="1000"/>
                                        <p:tgtEl>
                                          <p:spTgt spid="26636"/>
                                        </p:tgtEl>
                                      </p:cBhvr>
                                    </p:animEffect>
                                    <p:set>
                                      <p:cBhvr>
                                        <p:cTn id="62" dur="1" fill="hold">
                                          <p:stCondLst>
                                            <p:cond delay="999"/>
                                          </p:stCondLst>
                                        </p:cTn>
                                        <p:tgtEl>
                                          <p:spTgt spid="266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animBg="1"/>
      <p:bldP spid="26632" grpId="0" animBg="1"/>
      <p:bldP spid="26632" grpId="1" animBg="1"/>
      <p:bldP spid="26633" grpId="0" animBg="1"/>
      <p:bldP spid="26633" grpId="1" animBg="1"/>
      <p:bldP spid="26634" grpId="0" animBg="1"/>
      <p:bldP spid="26634" grpId="1" animBg="1"/>
      <p:bldP spid="26635" grpId="0" animBg="1"/>
      <p:bldP spid="26635" grpId="1" animBg="1"/>
      <p:bldP spid="26636" grpId="0" animBg="1"/>
      <p:bldP spid="26636"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p:txBody>
          <a:bodyPr vert="horz" wrap="square" lIns="91440" tIns="45720" rIns="91440" bIns="45720" anchor="ctr" anchorCtr="0"/>
          <a:p>
            <a:endParaRPr lang="zh-CN" altLang="zh-CN" dirty="0"/>
          </a:p>
        </p:txBody>
      </p:sp>
      <p:sp>
        <p:nvSpPr>
          <p:cNvPr id="39939" name="Rectangle 3"/>
          <p:cNvSpPr>
            <a:spLocks noGrp="1"/>
          </p:cNvSpPr>
          <p:nvPr>
            <p:ph idx="1"/>
          </p:nvPr>
        </p:nvSpPr>
        <p:spPr>
          <a:xfrm>
            <a:off x="487363" y="2063750"/>
            <a:ext cx="8229600" cy="3886200"/>
          </a:xfrm>
        </p:spPr>
        <p:txBody>
          <a:bodyPr vert="horz" wrap="square" lIns="91440" tIns="45720" rIns="91440" bIns="45720" anchor="t" anchorCtr="0"/>
          <a:p>
            <a:endParaRPr lang="zh-CN" altLang="zh-CN" dirty="0"/>
          </a:p>
        </p:txBody>
      </p:sp>
      <p:pic>
        <p:nvPicPr>
          <p:cNvPr id="39940" name="Picture 4" descr="5a6">
            <a:hlinkClick r:id="rId1" action="ppaction://hlinkfile"/>
          </p:cNvPr>
          <p:cNvPicPr>
            <a:picLocks noChangeAspect="1"/>
          </p:cNvPicPr>
          <p:nvPr/>
        </p:nvPicPr>
        <p:blipFill>
          <a:blip r:embed="rId2"/>
          <a:stretch>
            <a:fillRect/>
          </a:stretch>
        </p:blipFill>
        <p:spPr>
          <a:xfrm>
            <a:off x="468313" y="188913"/>
            <a:ext cx="7920037" cy="5976937"/>
          </a:xfrm>
          <a:prstGeom prst="rect">
            <a:avLst/>
          </a:prstGeom>
          <a:noFill/>
          <a:ln w="9525">
            <a:noFill/>
          </a:ln>
        </p:spPr>
      </p:pic>
      <p:sp>
        <p:nvSpPr>
          <p:cNvPr id="39941" name="Rectangle 5"/>
          <p:cNvSpPr/>
          <p:nvPr/>
        </p:nvSpPr>
        <p:spPr>
          <a:xfrm>
            <a:off x="1619250" y="6237288"/>
            <a:ext cx="3346450" cy="3667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chemeClr val="tx2"/>
                </a:solidFill>
              </a:rPr>
              <a:t>5.2.2MOV</a:t>
            </a:r>
            <a:r>
              <a:rPr lang="zh-CN" altLang="en-US" sz="1800" b="1" dirty="0">
                <a:solidFill>
                  <a:schemeClr val="tx2"/>
                </a:solidFill>
              </a:rPr>
              <a:t>指令的指令周期</a:t>
            </a:r>
            <a:r>
              <a:rPr lang="en-US" altLang="zh-CN" sz="1800" b="1" dirty="0">
                <a:solidFill>
                  <a:schemeClr val="tx2"/>
                </a:solidFill>
              </a:rPr>
              <a:t>-</a:t>
            </a:r>
            <a:r>
              <a:rPr lang="zh-CN" altLang="en-US" sz="1800" b="1" dirty="0">
                <a:solidFill>
                  <a:schemeClr val="tx2"/>
                </a:solidFill>
              </a:rPr>
              <a:t>执行</a:t>
            </a:r>
            <a:endParaRPr lang="zh-CN" altLang="en-US" sz="1800" b="1" dirty="0">
              <a:solidFill>
                <a:schemeClr val="tx2"/>
              </a:solidFill>
            </a:endParaRPr>
          </a:p>
        </p:txBody>
      </p:sp>
      <p:sp>
        <p:nvSpPr>
          <p:cNvPr id="28678" name="Rectangle 6"/>
          <p:cNvSpPr/>
          <p:nvPr/>
        </p:nvSpPr>
        <p:spPr>
          <a:xfrm>
            <a:off x="209550" y="5595938"/>
            <a:ext cx="8178800" cy="6413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E8060B"/>
                </a:solidFill>
              </a:rPr>
              <a:t>① </a:t>
            </a:r>
            <a:r>
              <a:rPr lang="zh-CN" altLang="en-US" sz="1800" b="1" dirty="0">
                <a:solidFill>
                  <a:srgbClr val="E8060B"/>
                </a:solidFill>
              </a:rPr>
              <a:t>操作控制器（</a:t>
            </a:r>
            <a:r>
              <a:rPr lang="en-US" altLang="zh-CN" sz="1800" b="1" dirty="0">
                <a:solidFill>
                  <a:srgbClr val="E8060B"/>
                </a:solidFill>
              </a:rPr>
              <a:t>OC</a:t>
            </a:r>
            <a:r>
              <a:rPr lang="zh-CN" altLang="en-US" sz="1800" b="1" dirty="0">
                <a:solidFill>
                  <a:srgbClr val="E8060B"/>
                </a:solidFill>
              </a:rPr>
              <a:t>）送出控制信号到通用寄存器，选择</a:t>
            </a:r>
            <a:r>
              <a:rPr lang="en-US" altLang="zh-CN" sz="1800" b="1" dirty="0">
                <a:solidFill>
                  <a:srgbClr val="E8060B"/>
                </a:solidFill>
              </a:rPr>
              <a:t>R1</a:t>
            </a:r>
            <a:r>
              <a:rPr lang="zh-CN" altLang="en-US" sz="1800" b="1" dirty="0">
                <a:solidFill>
                  <a:srgbClr val="E8060B"/>
                </a:solidFill>
              </a:rPr>
              <a:t>（</a:t>
            </a:r>
            <a:r>
              <a:rPr lang="en-US" altLang="zh-CN" sz="1800" b="1" dirty="0">
                <a:solidFill>
                  <a:srgbClr val="E8060B"/>
                </a:solidFill>
              </a:rPr>
              <a:t>10</a:t>
            </a:r>
            <a:r>
              <a:rPr lang="zh-CN" altLang="en-US" sz="1800" b="1" dirty="0">
                <a:solidFill>
                  <a:srgbClr val="E8060B"/>
                </a:solidFill>
              </a:rPr>
              <a:t>）作源寄存器，选择</a:t>
            </a:r>
            <a:r>
              <a:rPr lang="en-US" altLang="zh-CN" sz="1800" b="1" dirty="0">
                <a:solidFill>
                  <a:srgbClr val="E8060B"/>
                </a:solidFill>
              </a:rPr>
              <a:t>R0</a:t>
            </a:r>
            <a:r>
              <a:rPr lang="zh-CN" altLang="en-US" sz="1800" b="1" dirty="0">
                <a:solidFill>
                  <a:srgbClr val="E8060B"/>
                </a:solidFill>
              </a:rPr>
              <a:t>作目标寄存器；</a:t>
            </a:r>
            <a:endParaRPr lang="zh-CN" altLang="en-US" sz="1800" b="1" dirty="0">
              <a:solidFill>
                <a:srgbClr val="E8060B"/>
              </a:solidFill>
            </a:endParaRPr>
          </a:p>
        </p:txBody>
      </p:sp>
      <p:sp>
        <p:nvSpPr>
          <p:cNvPr id="28679" name="Rectangle 7"/>
          <p:cNvSpPr/>
          <p:nvPr/>
        </p:nvSpPr>
        <p:spPr>
          <a:xfrm>
            <a:off x="495300" y="5624513"/>
            <a:ext cx="5594350" cy="36671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E8060B"/>
                </a:solidFill>
              </a:rPr>
              <a:t>② OC</a:t>
            </a:r>
            <a:r>
              <a:rPr lang="zh-CN" altLang="en-US" sz="1800" b="1" dirty="0">
                <a:solidFill>
                  <a:srgbClr val="E8060B"/>
                </a:solidFill>
              </a:rPr>
              <a:t>送出控制信号到</a:t>
            </a:r>
            <a:r>
              <a:rPr lang="en-US" altLang="zh-CN" sz="1800" b="1" dirty="0">
                <a:solidFill>
                  <a:srgbClr val="E8060B"/>
                </a:solidFill>
              </a:rPr>
              <a:t>ALU</a:t>
            </a:r>
            <a:r>
              <a:rPr lang="zh-CN" altLang="en-US" sz="1800" b="1" dirty="0">
                <a:solidFill>
                  <a:srgbClr val="E8060B"/>
                </a:solidFill>
              </a:rPr>
              <a:t>，指定</a:t>
            </a:r>
            <a:r>
              <a:rPr lang="en-US" altLang="zh-CN" sz="1800" b="1" dirty="0">
                <a:solidFill>
                  <a:srgbClr val="E8060B"/>
                </a:solidFill>
              </a:rPr>
              <a:t>ALU</a:t>
            </a:r>
            <a:r>
              <a:rPr lang="zh-CN" altLang="en-US" sz="1800" b="1" dirty="0">
                <a:solidFill>
                  <a:srgbClr val="E8060B"/>
                </a:solidFill>
              </a:rPr>
              <a:t>做传送操作；</a:t>
            </a:r>
            <a:endParaRPr lang="zh-CN" altLang="en-US" sz="1800" b="1" dirty="0">
              <a:solidFill>
                <a:srgbClr val="E8060B"/>
              </a:solidFill>
            </a:endParaRPr>
          </a:p>
        </p:txBody>
      </p:sp>
      <p:sp>
        <p:nvSpPr>
          <p:cNvPr id="28682" name="Rectangle 10"/>
          <p:cNvSpPr/>
          <p:nvPr/>
        </p:nvSpPr>
        <p:spPr>
          <a:xfrm>
            <a:off x="246063" y="5670550"/>
            <a:ext cx="7939087" cy="6413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OC</a:t>
            </a:r>
            <a:r>
              <a:rPr lang="zh-CN" altLang="en-US" sz="1800" dirty="0"/>
              <a:t>送出控制信号，打开</a:t>
            </a:r>
            <a:r>
              <a:rPr lang="en-US" altLang="zh-CN" sz="1800" dirty="0"/>
              <a:t>ALU</a:t>
            </a:r>
            <a:r>
              <a:rPr lang="zh-CN" altLang="en-US" sz="1800" dirty="0"/>
              <a:t>输出三态门，将</a:t>
            </a:r>
            <a:r>
              <a:rPr lang="en-US" altLang="zh-CN" sz="1800" dirty="0"/>
              <a:t>ALU</a:t>
            </a:r>
            <a:r>
              <a:rPr lang="zh-CN" altLang="en-US" sz="1800" dirty="0"/>
              <a:t>输出送到数据总线</a:t>
            </a:r>
            <a:r>
              <a:rPr lang="en-US" altLang="zh-CN" sz="1800" dirty="0"/>
              <a:t>DBUS</a:t>
            </a:r>
            <a:r>
              <a:rPr lang="zh-CN" altLang="en-US" sz="1800" dirty="0"/>
              <a:t>上。注意，任何时候</a:t>
            </a:r>
            <a:r>
              <a:rPr lang="en-US" altLang="zh-CN" sz="1800" dirty="0"/>
              <a:t>DBUS</a:t>
            </a:r>
            <a:r>
              <a:rPr lang="zh-CN" altLang="en-US" sz="1800" dirty="0"/>
              <a:t>上只能有一个数据。</a:t>
            </a:r>
            <a:endParaRPr lang="zh-CN" altLang="en-US" sz="1800" b="1" dirty="0">
              <a:solidFill>
                <a:srgbClr val="E8060B"/>
              </a:solidFill>
            </a:endParaRPr>
          </a:p>
        </p:txBody>
      </p:sp>
      <p:sp>
        <p:nvSpPr>
          <p:cNvPr id="14" name="Rectangle 7"/>
          <p:cNvSpPr/>
          <p:nvPr/>
        </p:nvSpPr>
        <p:spPr>
          <a:xfrm>
            <a:off x="755650" y="5773738"/>
            <a:ext cx="5594350" cy="6477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OC</a:t>
            </a:r>
            <a:r>
              <a:rPr lang="zh-CN" altLang="en-US" sz="1800" dirty="0"/>
              <a:t>送出控制信号，将</a:t>
            </a:r>
            <a:r>
              <a:rPr lang="en-US" altLang="zh-CN" sz="1800" dirty="0"/>
              <a:t>DBUS</a:t>
            </a:r>
            <a:r>
              <a:rPr lang="zh-CN" altLang="en-US" sz="1800" dirty="0"/>
              <a:t>上的数据打入到数据缓冲寄存器</a:t>
            </a:r>
            <a:r>
              <a:rPr lang="en-US" altLang="zh-CN" sz="1800" dirty="0"/>
              <a:t>DR</a:t>
            </a:r>
            <a:r>
              <a:rPr lang="zh-CN" altLang="en-US" sz="1800" dirty="0"/>
              <a:t>（</a:t>
            </a:r>
            <a:r>
              <a:rPr lang="en-US" altLang="zh-CN" sz="1800" dirty="0"/>
              <a:t>10</a:t>
            </a:r>
            <a:r>
              <a:rPr lang="zh-CN" altLang="en-US" sz="1800" dirty="0"/>
              <a:t>）；</a:t>
            </a:r>
            <a:endParaRPr lang="zh-CN" altLang="en-US" sz="1800" b="1" dirty="0">
              <a:solidFill>
                <a:srgbClr val="E8060B"/>
              </a:solidFill>
            </a:endParaRPr>
          </a:p>
        </p:txBody>
      </p:sp>
      <p:sp>
        <p:nvSpPr>
          <p:cNvPr id="15" name="Rectangle 7"/>
          <p:cNvSpPr/>
          <p:nvPr/>
        </p:nvSpPr>
        <p:spPr>
          <a:xfrm>
            <a:off x="1187450" y="5715000"/>
            <a:ext cx="5594350" cy="9239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OC</a:t>
            </a:r>
            <a:r>
              <a:rPr lang="zh-CN" altLang="en-US" sz="1800" dirty="0"/>
              <a:t>送出控制信号，将</a:t>
            </a:r>
            <a:r>
              <a:rPr lang="en-US" altLang="zh-CN" sz="1800" dirty="0"/>
              <a:t>DR</a:t>
            </a:r>
            <a:r>
              <a:rPr lang="zh-CN" altLang="en-US" sz="1800" dirty="0"/>
              <a:t>中的数据</a:t>
            </a:r>
            <a:r>
              <a:rPr lang="en-US" altLang="zh-CN" sz="1800" dirty="0"/>
              <a:t>10</a:t>
            </a:r>
            <a:r>
              <a:rPr lang="zh-CN" altLang="en-US" sz="1800" dirty="0"/>
              <a:t>打入到目标寄存器</a:t>
            </a:r>
            <a:r>
              <a:rPr lang="en-US" altLang="zh-CN" sz="1800" dirty="0"/>
              <a:t>R0</a:t>
            </a:r>
            <a:r>
              <a:rPr lang="zh-CN" altLang="en-US" sz="1800" dirty="0"/>
              <a:t>，</a:t>
            </a:r>
            <a:r>
              <a:rPr lang="en-US" altLang="zh-CN" sz="1800" dirty="0"/>
              <a:t>R0</a:t>
            </a:r>
            <a:r>
              <a:rPr lang="zh-CN" altLang="en-US" sz="1800" dirty="0"/>
              <a:t>的内容由</a:t>
            </a:r>
            <a:r>
              <a:rPr lang="en-US" altLang="zh-CN" sz="1800" dirty="0"/>
              <a:t>00</a:t>
            </a:r>
            <a:r>
              <a:rPr lang="zh-CN" altLang="en-US" sz="1800" dirty="0"/>
              <a:t>变为</a:t>
            </a:r>
            <a:r>
              <a:rPr lang="en-US" altLang="zh-CN" sz="1800" dirty="0"/>
              <a:t>10</a:t>
            </a:r>
            <a:r>
              <a:rPr lang="zh-CN" altLang="en-US" sz="1800" dirty="0"/>
              <a:t>。至此，</a:t>
            </a:r>
            <a:r>
              <a:rPr lang="en-US" altLang="zh-CN" sz="1800" dirty="0"/>
              <a:t>MOV</a:t>
            </a:r>
            <a:r>
              <a:rPr lang="zh-CN" altLang="en-US" sz="1800" dirty="0"/>
              <a:t>指令执行结束。</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8"/>
                                        </p:tgtEl>
                                        <p:attrNameLst>
                                          <p:attrName>style.visibility</p:attrName>
                                        </p:attrNameLst>
                                      </p:cBhvr>
                                      <p:to>
                                        <p:strVal val="visible"/>
                                      </p:to>
                                    </p:set>
                                    <p:anim calcmode="lin" valueType="num">
                                      <p:cBhvr additive="base">
                                        <p:cTn id="7" dur="500" fill="hold"/>
                                        <p:tgtEl>
                                          <p:spTgt spid="28678"/>
                                        </p:tgtEl>
                                        <p:attrNameLst>
                                          <p:attrName>ppt_x</p:attrName>
                                        </p:attrNameLst>
                                      </p:cBhvr>
                                      <p:tavLst>
                                        <p:tav tm="0">
                                          <p:val>
                                            <p:strVal val="#ppt_x"/>
                                          </p:val>
                                        </p:tav>
                                        <p:tav tm="100000">
                                          <p:val>
                                            <p:strVal val="#ppt_x"/>
                                          </p:val>
                                        </p:tav>
                                      </p:tavLst>
                                    </p:anim>
                                    <p:anim calcmode="lin" valueType="num">
                                      <p:cBhvr additive="base">
                                        <p:cTn id="8" dur="500" fill="hold"/>
                                        <p:tgtEl>
                                          <p:spTgt spid="286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28678"/>
                                        </p:tgtEl>
                                        <p:attrNameLst>
                                          <p:attrName>ppt_x</p:attrName>
                                        </p:attrNameLst>
                                      </p:cBhvr>
                                      <p:tavLst>
                                        <p:tav tm="0">
                                          <p:val>
                                            <p:strVal val="ppt_x"/>
                                          </p:val>
                                        </p:tav>
                                        <p:tav tm="100000">
                                          <p:val>
                                            <p:strVal val="ppt_x"/>
                                          </p:val>
                                        </p:tav>
                                      </p:tavLst>
                                    </p:anim>
                                    <p:anim calcmode="lin" valueType="num">
                                      <p:cBhvr additive="base">
                                        <p:cTn id="13" dur="500"/>
                                        <p:tgtEl>
                                          <p:spTgt spid="28678"/>
                                        </p:tgtEl>
                                        <p:attrNameLst>
                                          <p:attrName>ppt_y</p:attrName>
                                        </p:attrNameLst>
                                      </p:cBhvr>
                                      <p:tavLst>
                                        <p:tav tm="0">
                                          <p:val>
                                            <p:strVal val="ppt_y"/>
                                          </p:val>
                                        </p:tav>
                                        <p:tav tm="100000">
                                          <p:val>
                                            <p:strVal val="1+ppt_h/2"/>
                                          </p:val>
                                        </p:tav>
                                      </p:tavLst>
                                    </p:anim>
                                    <p:set>
                                      <p:cBhvr>
                                        <p:cTn id="14" dur="1" fill="hold">
                                          <p:stCondLst>
                                            <p:cond delay="499"/>
                                          </p:stCondLst>
                                        </p:cTn>
                                        <p:tgtEl>
                                          <p:spTgt spid="2867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9"/>
                                        </p:tgtEl>
                                        <p:attrNameLst>
                                          <p:attrName>style.visibility</p:attrName>
                                        </p:attrNameLst>
                                      </p:cBhvr>
                                      <p:to>
                                        <p:strVal val="visible"/>
                                      </p:to>
                                    </p:set>
                                    <p:anim calcmode="lin" valueType="num">
                                      <p:cBhvr additive="base">
                                        <p:cTn id="19" dur="500" fill="hold"/>
                                        <p:tgtEl>
                                          <p:spTgt spid="28679"/>
                                        </p:tgtEl>
                                        <p:attrNameLst>
                                          <p:attrName>ppt_x</p:attrName>
                                        </p:attrNameLst>
                                      </p:cBhvr>
                                      <p:tavLst>
                                        <p:tav tm="0">
                                          <p:val>
                                            <p:strVal val="#ppt_x"/>
                                          </p:val>
                                        </p:tav>
                                        <p:tav tm="100000">
                                          <p:val>
                                            <p:strVal val="#ppt_x"/>
                                          </p:val>
                                        </p:tav>
                                      </p:tavLst>
                                    </p:anim>
                                    <p:anim calcmode="lin" valueType="num">
                                      <p:cBhvr additive="base">
                                        <p:cTn id="20" dur="500" fill="hold"/>
                                        <p:tgtEl>
                                          <p:spTgt spid="2867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28679"/>
                                        </p:tgtEl>
                                        <p:attrNameLst>
                                          <p:attrName>ppt_x</p:attrName>
                                        </p:attrNameLst>
                                      </p:cBhvr>
                                      <p:tavLst>
                                        <p:tav tm="0">
                                          <p:val>
                                            <p:strVal val="ppt_x"/>
                                          </p:val>
                                        </p:tav>
                                        <p:tav tm="100000">
                                          <p:val>
                                            <p:strVal val="ppt_x"/>
                                          </p:val>
                                        </p:tav>
                                      </p:tavLst>
                                    </p:anim>
                                    <p:anim calcmode="lin" valueType="num">
                                      <p:cBhvr additive="base">
                                        <p:cTn id="25" dur="500"/>
                                        <p:tgtEl>
                                          <p:spTgt spid="28679"/>
                                        </p:tgtEl>
                                        <p:attrNameLst>
                                          <p:attrName>ppt_y</p:attrName>
                                        </p:attrNameLst>
                                      </p:cBhvr>
                                      <p:tavLst>
                                        <p:tav tm="0">
                                          <p:val>
                                            <p:strVal val="ppt_y"/>
                                          </p:val>
                                        </p:tav>
                                        <p:tav tm="100000">
                                          <p:val>
                                            <p:strVal val="1+ppt_h/2"/>
                                          </p:val>
                                        </p:tav>
                                      </p:tavLst>
                                    </p:anim>
                                    <p:set>
                                      <p:cBhvr>
                                        <p:cTn id="26" dur="1" fill="hold">
                                          <p:stCondLst>
                                            <p:cond delay="499"/>
                                          </p:stCondLst>
                                        </p:cTn>
                                        <p:tgtEl>
                                          <p:spTgt spid="2867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682"/>
                                        </p:tgtEl>
                                        <p:attrNameLst>
                                          <p:attrName>style.visibility</p:attrName>
                                        </p:attrNameLst>
                                      </p:cBhvr>
                                      <p:to>
                                        <p:strVal val="visible"/>
                                      </p:to>
                                    </p:set>
                                    <p:anim calcmode="lin" valueType="num">
                                      <p:cBhvr additive="base">
                                        <p:cTn id="31" dur="500" fill="hold"/>
                                        <p:tgtEl>
                                          <p:spTgt spid="28682"/>
                                        </p:tgtEl>
                                        <p:attrNameLst>
                                          <p:attrName>ppt_x</p:attrName>
                                        </p:attrNameLst>
                                      </p:cBhvr>
                                      <p:tavLst>
                                        <p:tav tm="0">
                                          <p:val>
                                            <p:strVal val="#ppt_x"/>
                                          </p:val>
                                        </p:tav>
                                        <p:tav tm="100000">
                                          <p:val>
                                            <p:strVal val="#ppt_x"/>
                                          </p:val>
                                        </p:tav>
                                      </p:tavLst>
                                    </p:anim>
                                    <p:anim calcmode="lin" valueType="num">
                                      <p:cBhvr additive="base">
                                        <p:cTn id="32" dur="500" fill="hold"/>
                                        <p:tgtEl>
                                          <p:spTgt spid="2868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28682"/>
                                        </p:tgtEl>
                                        <p:attrNameLst>
                                          <p:attrName>ppt_x</p:attrName>
                                        </p:attrNameLst>
                                      </p:cBhvr>
                                      <p:tavLst>
                                        <p:tav tm="0">
                                          <p:val>
                                            <p:strVal val="ppt_x"/>
                                          </p:val>
                                        </p:tav>
                                        <p:tav tm="100000">
                                          <p:val>
                                            <p:strVal val="ppt_x"/>
                                          </p:val>
                                        </p:tav>
                                      </p:tavLst>
                                    </p:anim>
                                    <p:anim calcmode="lin" valueType="num">
                                      <p:cBhvr additive="base">
                                        <p:cTn id="37" dur="500"/>
                                        <p:tgtEl>
                                          <p:spTgt spid="28682"/>
                                        </p:tgtEl>
                                        <p:attrNameLst>
                                          <p:attrName>ppt_y</p:attrName>
                                        </p:attrNameLst>
                                      </p:cBhvr>
                                      <p:tavLst>
                                        <p:tav tm="0">
                                          <p:val>
                                            <p:strVal val="ppt_y"/>
                                          </p:val>
                                        </p:tav>
                                        <p:tav tm="100000">
                                          <p:val>
                                            <p:strVal val="1+ppt_h/2"/>
                                          </p:val>
                                        </p:tav>
                                      </p:tavLst>
                                    </p:anim>
                                    <p:set>
                                      <p:cBhvr>
                                        <p:cTn id="38" dur="1" fill="hold">
                                          <p:stCondLst>
                                            <p:cond delay="499"/>
                                          </p:stCondLst>
                                        </p:cTn>
                                        <p:tgtEl>
                                          <p:spTgt spid="2868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14"/>
                                        </p:tgtEl>
                                        <p:attrNameLst>
                                          <p:attrName>ppt_x</p:attrName>
                                        </p:attrNameLst>
                                      </p:cBhvr>
                                      <p:tavLst>
                                        <p:tav tm="0">
                                          <p:val>
                                            <p:strVal val="ppt_x"/>
                                          </p:val>
                                        </p:tav>
                                        <p:tav tm="100000">
                                          <p:val>
                                            <p:strVal val="ppt_x"/>
                                          </p:val>
                                        </p:tav>
                                      </p:tavLst>
                                    </p:anim>
                                    <p:anim calcmode="lin" valueType="num">
                                      <p:cBhvr additive="base">
                                        <p:cTn id="49" dur="500"/>
                                        <p:tgtEl>
                                          <p:spTgt spid="14"/>
                                        </p:tgtEl>
                                        <p:attrNameLst>
                                          <p:attrName>ppt_y</p:attrName>
                                        </p:attrNameLst>
                                      </p:cBhvr>
                                      <p:tavLst>
                                        <p:tav tm="0">
                                          <p:val>
                                            <p:strVal val="ppt_y"/>
                                          </p:val>
                                        </p:tav>
                                        <p:tav tm="100000">
                                          <p:val>
                                            <p:strVal val="1+ppt_h/2"/>
                                          </p:val>
                                        </p:tav>
                                      </p:tavLst>
                                    </p:anim>
                                    <p:set>
                                      <p:cBhvr>
                                        <p:cTn id="50" dur="1" fill="hold">
                                          <p:stCondLst>
                                            <p:cond delay="499"/>
                                          </p:stCondLst>
                                        </p:cTn>
                                        <p:tgtEl>
                                          <p:spTgt spid="1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1" nodeType="clickEffect">
                                  <p:stCondLst>
                                    <p:cond delay="0"/>
                                  </p:stCondLst>
                                  <p:childTnLst>
                                    <p:anim calcmode="lin" valueType="num">
                                      <p:cBhvr additive="base">
                                        <p:cTn id="60" dur="500"/>
                                        <p:tgtEl>
                                          <p:spTgt spid="15"/>
                                        </p:tgtEl>
                                        <p:attrNameLst>
                                          <p:attrName>ppt_x</p:attrName>
                                        </p:attrNameLst>
                                      </p:cBhvr>
                                      <p:tavLst>
                                        <p:tav tm="0">
                                          <p:val>
                                            <p:strVal val="ppt_x"/>
                                          </p:val>
                                        </p:tav>
                                        <p:tav tm="100000">
                                          <p:val>
                                            <p:strVal val="ppt_x"/>
                                          </p:val>
                                        </p:tav>
                                      </p:tavLst>
                                    </p:anim>
                                    <p:anim calcmode="lin" valueType="num">
                                      <p:cBhvr additive="base">
                                        <p:cTn id="61" dur="500"/>
                                        <p:tgtEl>
                                          <p:spTgt spid="15"/>
                                        </p:tgtEl>
                                        <p:attrNameLst>
                                          <p:attrName>ppt_y</p:attrName>
                                        </p:attrNameLst>
                                      </p:cBhvr>
                                      <p:tavLst>
                                        <p:tav tm="0">
                                          <p:val>
                                            <p:strVal val="ppt_y"/>
                                          </p:val>
                                        </p:tav>
                                        <p:tav tm="100000">
                                          <p:val>
                                            <p:strVal val="1+ppt_h/2"/>
                                          </p:val>
                                        </p:tav>
                                      </p:tavLst>
                                    </p:anim>
                                    <p:set>
                                      <p:cBhvr>
                                        <p:cTn id="6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animBg="1"/>
      <p:bldP spid="28678" grpId="1" animBg="1"/>
      <p:bldP spid="28679" grpId="0" animBg="1"/>
      <p:bldP spid="28679" grpId="1" animBg="1"/>
      <p:bldP spid="28682" grpId="0" animBg="1"/>
      <p:bldP spid="28682" grpId="1" animBg="1"/>
      <p:bldP spid="14" grpId="0" animBg="1"/>
      <p:bldP spid="14" grpId="1" animBg="1"/>
      <p:bldP spid="15" grpId="0" animBg="1"/>
      <p:bldP spid="15"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p:txBody>
          <a:bodyPr vert="horz" wrap="square" lIns="91440" tIns="45720" rIns="91440" bIns="45720" anchor="ctr" anchorCtr="0"/>
          <a:p>
            <a:r>
              <a:rPr lang="en-US" altLang="zh-CN" dirty="0"/>
              <a:t>5.2.3 LAD</a:t>
            </a:r>
            <a:r>
              <a:rPr lang="zh-CN" altLang="en-US" dirty="0"/>
              <a:t>指令的指令周期</a:t>
            </a:r>
            <a:endParaRPr lang="zh-CN" altLang="en-US" dirty="0"/>
          </a:p>
        </p:txBody>
      </p:sp>
      <p:sp>
        <p:nvSpPr>
          <p:cNvPr id="41987" name="Rectangle 3"/>
          <p:cNvSpPr>
            <a:spLocks noGrp="1"/>
          </p:cNvSpPr>
          <p:nvPr>
            <p:ph idx="1"/>
          </p:nvPr>
        </p:nvSpPr>
        <p:spPr/>
        <p:txBody>
          <a:bodyPr vert="horz" wrap="square" lIns="91440" tIns="45720" rIns="91440" bIns="45720" anchor="t" anchorCtr="0"/>
          <a:p>
            <a:r>
              <a:rPr lang="en-US" altLang="zh-CN" b="1" dirty="0">
                <a:solidFill>
                  <a:srgbClr val="FF3300"/>
                </a:solidFill>
              </a:rPr>
              <a:t>LAD R1, 6</a:t>
            </a:r>
            <a:endParaRPr lang="en-US" altLang="zh-CN" b="1" dirty="0">
              <a:solidFill>
                <a:srgbClr val="FF3300"/>
              </a:solidFill>
            </a:endParaRPr>
          </a:p>
          <a:p>
            <a:r>
              <a:rPr lang="en-US" altLang="zh-CN" sz="2000" dirty="0"/>
              <a:t>RS/RM</a:t>
            </a:r>
            <a:r>
              <a:rPr lang="zh-CN" altLang="en-US" sz="2000" dirty="0"/>
              <a:t>型指令</a:t>
            </a:r>
            <a:endParaRPr lang="zh-CN" altLang="en-US" sz="2000" dirty="0"/>
          </a:p>
          <a:p>
            <a:r>
              <a:rPr lang="en-US" altLang="zh-CN" sz="2000" dirty="0"/>
              <a:t>3</a:t>
            </a:r>
            <a:r>
              <a:rPr lang="zh-CN" altLang="en-US" sz="2000" dirty="0"/>
              <a:t>个周期</a:t>
            </a:r>
            <a:endParaRPr lang="zh-CN" altLang="en-US" sz="2000" dirty="0"/>
          </a:p>
          <a:p>
            <a:r>
              <a:rPr lang="zh-CN" altLang="en-US" dirty="0"/>
              <a:t>取指周期</a:t>
            </a:r>
            <a:endParaRPr lang="zh-CN" altLang="en-US" dirty="0"/>
          </a:p>
          <a:p>
            <a:r>
              <a:rPr lang="zh-CN" altLang="en-US" sz="2000" dirty="0"/>
              <a:t>同</a:t>
            </a:r>
            <a:r>
              <a:rPr lang="en-US" altLang="zh-CN" sz="2000" dirty="0"/>
              <a:t>MOV</a:t>
            </a:r>
            <a:r>
              <a:rPr lang="zh-CN" altLang="en-US" sz="2000" dirty="0"/>
              <a:t>指令取指周期</a:t>
            </a:r>
            <a:endParaRPr lang="zh-CN" altLang="en-US" sz="2000" dirty="0"/>
          </a:p>
          <a:p>
            <a:endParaRPr lang="zh-CN" altLang="en-US" sz="2000" dirty="0"/>
          </a:p>
          <a:p>
            <a:r>
              <a:rPr lang="zh-CN" altLang="en-US" dirty="0"/>
              <a:t>执行周期</a:t>
            </a:r>
            <a:endParaRPr lang="zh-CN" altLang="en-US" dirty="0"/>
          </a:p>
          <a:p>
            <a:endParaRPr lang="en-US" altLang="zh-CN" sz="2000" dirty="0"/>
          </a:p>
        </p:txBody>
      </p:sp>
      <p:pic>
        <p:nvPicPr>
          <p:cNvPr id="41988" name="Picture 4" descr="5a7"/>
          <p:cNvPicPr>
            <a:picLocks noChangeAspect="1"/>
          </p:cNvPicPr>
          <p:nvPr/>
        </p:nvPicPr>
        <p:blipFill>
          <a:blip r:embed="rId1"/>
          <a:stretch>
            <a:fillRect/>
          </a:stretch>
        </p:blipFill>
        <p:spPr>
          <a:xfrm>
            <a:off x="3636963" y="1433513"/>
            <a:ext cx="5183187" cy="3856037"/>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158750" y="260350"/>
            <a:ext cx="8612188" cy="563563"/>
          </a:xfrm>
        </p:spPr>
        <p:txBody>
          <a:bodyPr vert="horz" wrap="square" lIns="91440" tIns="45720" rIns="91440" bIns="45720" anchor="ctr" anchorCtr="0"/>
          <a:p>
            <a:r>
              <a:rPr lang="en-US" altLang="zh-CN" dirty="0"/>
              <a:t>5.2.3 LAD</a:t>
            </a:r>
            <a:r>
              <a:rPr lang="zh-CN" altLang="en-US" dirty="0"/>
              <a:t>指令的指令</a:t>
            </a:r>
            <a:r>
              <a:rPr lang="zh-CN" altLang="en-US" dirty="0">
                <a:solidFill>
                  <a:srgbClr val="FF3300"/>
                </a:solidFill>
              </a:rPr>
              <a:t>执行周期</a:t>
            </a:r>
            <a:endParaRPr lang="zh-CN" altLang="en-US" dirty="0">
              <a:solidFill>
                <a:srgbClr val="FF3300"/>
              </a:solidFill>
            </a:endParaRPr>
          </a:p>
        </p:txBody>
      </p:sp>
      <p:pic>
        <p:nvPicPr>
          <p:cNvPr id="43011" name="Picture 3" descr="5a8"/>
          <p:cNvPicPr>
            <a:picLocks noChangeAspect="1"/>
          </p:cNvPicPr>
          <p:nvPr>
            <p:ph idx="1"/>
          </p:nvPr>
        </p:nvPicPr>
        <p:blipFill>
          <a:blip r:embed="rId1"/>
          <a:srcRect/>
          <a:stretch>
            <a:fillRect/>
          </a:stretch>
        </p:blipFill>
        <p:spPr>
          <a:xfrm>
            <a:off x="900113" y="765175"/>
            <a:ext cx="6911975" cy="5214938"/>
          </a:xfrm>
        </p:spPr>
      </p:pic>
      <p:sp>
        <p:nvSpPr>
          <p:cNvPr id="31748" name="Rectangle 4"/>
          <p:cNvSpPr/>
          <p:nvPr/>
        </p:nvSpPr>
        <p:spPr>
          <a:xfrm>
            <a:off x="612775" y="5956300"/>
            <a:ext cx="7704138" cy="6413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1800" b="1" dirty="0">
                <a:solidFill>
                  <a:srgbClr val="FF3300"/>
                </a:solidFill>
              </a:rPr>
              <a:t>① </a:t>
            </a:r>
            <a:r>
              <a:rPr lang="zh-CN" altLang="en-US" sz="1800" b="1" dirty="0">
                <a:solidFill>
                  <a:srgbClr val="FF3300"/>
                </a:solidFill>
              </a:rPr>
              <a:t>操作控制器</a:t>
            </a:r>
            <a:r>
              <a:rPr lang="en-US" altLang="zh-CN" sz="1800" b="1" dirty="0">
                <a:solidFill>
                  <a:srgbClr val="FF3300"/>
                </a:solidFill>
              </a:rPr>
              <a:t>OC</a:t>
            </a:r>
            <a:r>
              <a:rPr lang="zh-CN" altLang="en-US" sz="1800" b="1" dirty="0">
                <a:solidFill>
                  <a:srgbClr val="FF3300"/>
                </a:solidFill>
              </a:rPr>
              <a:t>发出控制命令打开</a:t>
            </a:r>
            <a:r>
              <a:rPr lang="en-US" altLang="zh-CN" sz="1800" b="1" dirty="0">
                <a:solidFill>
                  <a:srgbClr val="FF3300"/>
                </a:solidFill>
              </a:rPr>
              <a:t>IR</a:t>
            </a:r>
            <a:r>
              <a:rPr lang="zh-CN" altLang="en-US" sz="1800" b="1" dirty="0">
                <a:solidFill>
                  <a:srgbClr val="FF3300"/>
                </a:solidFill>
              </a:rPr>
              <a:t>输出三态门，将指令中的直接地址码</a:t>
            </a:r>
            <a:r>
              <a:rPr lang="en-US" altLang="zh-CN" sz="1800" b="1" dirty="0">
                <a:solidFill>
                  <a:srgbClr val="FF3300"/>
                </a:solidFill>
              </a:rPr>
              <a:t>6</a:t>
            </a:r>
            <a:r>
              <a:rPr lang="zh-CN" altLang="en-US" sz="1800" b="1" dirty="0">
                <a:solidFill>
                  <a:srgbClr val="FF3300"/>
                </a:solidFill>
              </a:rPr>
              <a:t>放到数据总线</a:t>
            </a:r>
            <a:r>
              <a:rPr lang="en-US" altLang="zh-CN" sz="1800" b="1" dirty="0">
                <a:solidFill>
                  <a:srgbClr val="FF3300"/>
                </a:solidFill>
              </a:rPr>
              <a:t>DBUS</a:t>
            </a:r>
            <a:r>
              <a:rPr lang="zh-CN" altLang="en-US" sz="1800" b="1" dirty="0">
                <a:solidFill>
                  <a:srgbClr val="FF3300"/>
                </a:solidFill>
              </a:rPr>
              <a:t>上；</a:t>
            </a:r>
            <a:endParaRPr lang="zh-CN" altLang="en-US" sz="1800" b="1" dirty="0">
              <a:solidFill>
                <a:srgbClr val="FF3300"/>
              </a:solidFill>
            </a:endParaRPr>
          </a:p>
        </p:txBody>
      </p:sp>
      <p:sp>
        <p:nvSpPr>
          <p:cNvPr id="31749" name="Rectangle 5"/>
          <p:cNvSpPr/>
          <p:nvPr/>
        </p:nvSpPr>
        <p:spPr>
          <a:xfrm>
            <a:off x="611188" y="5949950"/>
            <a:ext cx="7704137" cy="3968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2453CA"/>
                </a:solidFill>
              </a:rPr>
              <a:t>② OC</a:t>
            </a:r>
            <a:r>
              <a:rPr lang="zh-CN" altLang="en-US" sz="2000" b="1" dirty="0">
                <a:solidFill>
                  <a:srgbClr val="2453CA"/>
                </a:solidFill>
              </a:rPr>
              <a:t>发出操作命令，将地址码</a:t>
            </a:r>
            <a:r>
              <a:rPr lang="en-US" altLang="zh-CN" sz="2000" b="1" dirty="0">
                <a:solidFill>
                  <a:srgbClr val="2453CA"/>
                </a:solidFill>
              </a:rPr>
              <a:t>6</a:t>
            </a:r>
            <a:r>
              <a:rPr lang="zh-CN" altLang="en-US" sz="2000" b="1" dirty="0">
                <a:solidFill>
                  <a:srgbClr val="2453CA"/>
                </a:solidFill>
              </a:rPr>
              <a:t>装入数存地址寄存器</a:t>
            </a:r>
            <a:r>
              <a:rPr lang="en-US" altLang="zh-CN" sz="2000" b="1" dirty="0">
                <a:solidFill>
                  <a:srgbClr val="2453CA"/>
                </a:solidFill>
              </a:rPr>
              <a:t>AR</a:t>
            </a:r>
            <a:r>
              <a:rPr lang="zh-CN" altLang="en-US" sz="2000" b="1" dirty="0">
                <a:solidFill>
                  <a:srgbClr val="2453CA"/>
                </a:solidFill>
              </a:rPr>
              <a:t>；</a:t>
            </a:r>
            <a:r>
              <a:rPr lang="zh-CN" altLang="en-US" sz="1800" dirty="0"/>
              <a:t></a:t>
            </a:r>
            <a:endParaRPr lang="zh-CN" altLang="en-US" sz="1800" dirty="0"/>
          </a:p>
        </p:txBody>
      </p:sp>
      <p:sp>
        <p:nvSpPr>
          <p:cNvPr id="31751" name="Rectangle 7"/>
          <p:cNvSpPr/>
          <p:nvPr/>
        </p:nvSpPr>
        <p:spPr>
          <a:xfrm>
            <a:off x="611188" y="5949950"/>
            <a:ext cx="7704137" cy="3968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FF3300"/>
                </a:solidFill>
              </a:rPr>
              <a:t>③ OC</a:t>
            </a:r>
            <a:r>
              <a:rPr lang="zh-CN" altLang="en-US" sz="2000" b="1" dirty="0">
                <a:solidFill>
                  <a:srgbClr val="FF3300"/>
                </a:solidFill>
              </a:rPr>
              <a:t>发出读命令，将数存</a:t>
            </a:r>
            <a:r>
              <a:rPr lang="en-US" altLang="zh-CN" sz="2000" b="1" dirty="0">
                <a:solidFill>
                  <a:srgbClr val="FF3300"/>
                </a:solidFill>
              </a:rPr>
              <a:t>6</a:t>
            </a:r>
            <a:r>
              <a:rPr lang="zh-CN" altLang="en-US" sz="2000" b="1" dirty="0">
                <a:solidFill>
                  <a:srgbClr val="FF3300"/>
                </a:solidFill>
              </a:rPr>
              <a:t>号单元中的数</a:t>
            </a:r>
            <a:r>
              <a:rPr lang="en-US" altLang="zh-CN" sz="2000" b="1" dirty="0">
                <a:solidFill>
                  <a:srgbClr val="FF3300"/>
                </a:solidFill>
              </a:rPr>
              <a:t>100</a:t>
            </a:r>
            <a:r>
              <a:rPr lang="zh-CN" altLang="en-US" sz="2000" b="1" dirty="0">
                <a:solidFill>
                  <a:srgbClr val="FF3300"/>
                </a:solidFill>
              </a:rPr>
              <a:t>读出到</a:t>
            </a:r>
            <a:r>
              <a:rPr lang="en-US" altLang="zh-CN" sz="2000" b="1" dirty="0">
                <a:solidFill>
                  <a:srgbClr val="FF3300"/>
                </a:solidFill>
              </a:rPr>
              <a:t>DBUS</a:t>
            </a:r>
            <a:r>
              <a:rPr lang="zh-CN" altLang="en-US" sz="2000" b="1" dirty="0">
                <a:solidFill>
                  <a:srgbClr val="FF3300"/>
                </a:solidFill>
              </a:rPr>
              <a:t>上；</a:t>
            </a:r>
            <a:endParaRPr lang="zh-CN" altLang="en-US" sz="2000" b="1" dirty="0">
              <a:solidFill>
                <a:srgbClr val="FF3300"/>
              </a:solidFill>
            </a:endParaRPr>
          </a:p>
        </p:txBody>
      </p:sp>
      <p:sp>
        <p:nvSpPr>
          <p:cNvPr id="31752" name="Rectangle 8"/>
          <p:cNvSpPr/>
          <p:nvPr/>
        </p:nvSpPr>
        <p:spPr>
          <a:xfrm>
            <a:off x="611188" y="6021388"/>
            <a:ext cx="7704137" cy="3968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2453CA"/>
                </a:solidFill>
              </a:rPr>
              <a:t>④ OC</a:t>
            </a:r>
            <a:r>
              <a:rPr lang="zh-CN" altLang="en-US" sz="2000" b="1" dirty="0">
                <a:solidFill>
                  <a:srgbClr val="2453CA"/>
                </a:solidFill>
              </a:rPr>
              <a:t>发出命令，将</a:t>
            </a:r>
            <a:r>
              <a:rPr lang="en-US" altLang="zh-CN" sz="2000" b="1" dirty="0">
                <a:solidFill>
                  <a:srgbClr val="2453CA"/>
                </a:solidFill>
              </a:rPr>
              <a:t>DBUS</a:t>
            </a:r>
            <a:r>
              <a:rPr lang="zh-CN" altLang="en-US" sz="2000" b="1" dirty="0">
                <a:solidFill>
                  <a:srgbClr val="2453CA"/>
                </a:solidFill>
              </a:rPr>
              <a:t>上的数据</a:t>
            </a:r>
            <a:r>
              <a:rPr lang="en-US" altLang="zh-CN" sz="2000" b="1" dirty="0">
                <a:solidFill>
                  <a:srgbClr val="2453CA"/>
                </a:solidFill>
              </a:rPr>
              <a:t>100</a:t>
            </a:r>
            <a:r>
              <a:rPr lang="zh-CN" altLang="en-US" sz="2000" b="1" dirty="0">
                <a:solidFill>
                  <a:srgbClr val="2453CA"/>
                </a:solidFill>
              </a:rPr>
              <a:t>装入缓冲寄存器</a:t>
            </a:r>
            <a:r>
              <a:rPr lang="en-US" altLang="zh-CN" sz="2000" b="1" dirty="0">
                <a:solidFill>
                  <a:srgbClr val="2453CA"/>
                </a:solidFill>
              </a:rPr>
              <a:t>DR</a:t>
            </a:r>
            <a:r>
              <a:rPr lang="zh-CN" altLang="en-US" sz="2000" b="1" dirty="0">
                <a:solidFill>
                  <a:srgbClr val="2453CA"/>
                </a:solidFill>
              </a:rPr>
              <a:t>；</a:t>
            </a:r>
            <a:r>
              <a:rPr lang="zh-CN" altLang="en-US" sz="1800" dirty="0">
                <a:solidFill>
                  <a:srgbClr val="2453CA"/>
                </a:solidFill>
              </a:rPr>
              <a:t></a:t>
            </a:r>
            <a:endParaRPr lang="zh-CN" altLang="en-US" sz="1800" dirty="0">
              <a:solidFill>
                <a:srgbClr val="2453CA"/>
              </a:solidFill>
            </a:endParaRPr>
          </a:p>
        </p:txBody>
      </p:sp>
      <p:sp>
        <p:nvSpPr>
          <p:cNvPr id="31753" name="Rectangle 9"/>
          <p:cNvSpPr/>
          <p:nvPr/>
        </p:nvSpPr>
        <p:spPr>
          <a:xfrm>
            <a:off x="611188" y="5956300"/>
            <a:ext cx="7704137" cy="7016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FF3300"/>
                </a:solidFill>
              </a:rPr>
              <a:t>⑤ OC</a:t>
            </a:r>
            <a:r>
              <a:rPr lang="zh-CN" altLang="en-US" sz="2000" b="1" dirty="0">
                <a:solidFill>
                  <a:srgbClr val="FF3300"/>
                </a:solidFill>
              </a:rPr>
              <a:t>发出命令，将</a:t>
            </a:r>
            <a:r>
              <a:rPr lang="en-US" altLang="zh-CN" sz="2000" b="1" dirty="0">
                <a:solidFill>
                  <a:srgbClr val="FF3300"/>
                </a:solidFill>
              </a:rPr>
              <a:t>DR</a:t>
            </a:r>
            <a:r>
              <a:rPr lang="zh-CN" altLang="en-US" sz="2000" b="1" dirty="0">
                <a:solidFill>
                  <a:srgbClr val="FF3300"/>
                </a:solidFill>
              </a:rPr>
              <a:t>中的数</a:t>
            </a:r>
            <a:r>
              <a:rPr lang="en-US" altLang="zh-CN" sz="2000" b="1" dirty="0">
                <a:solidFill>
                  <a:srgbClr val="FF3300"/>
                </a:solidFill>
              </a:rPr>
              <a:t>100</a:t>
            </a:r>
            <a:r>
              <a:rPr lang="zh-CN" altLang="en-US" sz="2000" b="1" dirty="0">
                <a:solidFill>
                  <a:srgbClr val="FF3300"/>
                </a:solidFill>
              </a:rPr>
              <a:t>装入通用寄存器</a:t>
            </a:r>
            <a:r>
              <a:rPr lang="en-US" altLang="zh-CN" sz="2000" b="1" dirty="0">
                <a:solidFill>
                  <a:srgbClr val="FF3300"/>
                </a:solidFill>
              </a:rPr>
              <a:t>R1</a:t>
            </a:r>
            <a:r>
              <a:rPr lang="zh-CN" altLang="en-US" sz="2000" b="1" dirty="0">
                <a:solidFill>
                  <a:srgbClr val="FF3300"/>
                </a:solidFill>
              </a:rPr>
              <a:t>，原来</a:t>
            </a:r>
            <a:r>
              <a:rPr lang="en-US" altLang="zh-CN" sz="2000" b="1" dirty="0">
                <a:solidFill>
                  <a:srgbClr val="FF3300"/>
                </a:solidFill>
              </a:rPr>
              <a:t>R1</a:t>
            </a:r>
            <a:r>
              <a:rPr lang="zh-CN" altLang="en-US" sz="2000" b="1" dirty="0">
                <a:solidFill>
                  <a:srgbClr val="FF3300"/>
                </a:solidFill>
              </a:rPr>
              <a:t>中的数</a:t>
            </a:r>
            <a:r>
              <a:rPr lang="en-US" altLang="zh-CN" sz="2000" b="1" dirty="0">
                <a:solidFill>
                  <a:srgbClr val="FF3300"/>
                </a:solidFill>
              </a:rPr>
              <a:t>10</a:t>
            </a:r>
            <a:r>
              <a:rPr lang="zh-CN" altLang="en-US" sz="2000" b="1" dirty="0">
                <a:solidFill>
                  <a:srgbClr val="FF3300"/>
                </a:solidFill>
              </a:rPr>
              <a:t>被冲掉。至此，</a:t>
            </a:r>
            <a:r>
              <a:rPr lang="en-US" altLang="zh-CN" sz="2000" b="1" dirty="0">
                <a:solidFill>
                  <a:srgbClr val="FF3300"/>
                </a:solidFill>
              </a:rPr>
              <a:t>LAD</a:t>
            </a:r>
            <a:r>
              <a:rPr lang="zh-CN" altLang="en-US" sz="2000" b="1" dirty="0">
                <a:solidFill>
                  <a:srgbClr val="FF3300"/>
                </a:solidFill>
              </a:rPr>
              <a:t>指令执行周期结束。</a:t>
            </a:r>
            <a:endParaRPr lang="zh-CN" altLang="en-US" sz="2000" b="1"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anim calcmode="lin" valueType="num">
                                      <p:cBhvr additive="base">
                                        <p:cTn id="7" dur="500" fill="hold"/>
                                        <p:tgtEl>
                                          <p:spTgt spid="31748"/>
                                        </p:tgtEl>
                                        <p:attrNameLst>
                                          <p:attrName>ppt_x</p:attrName>
                                        </p:attrNameLst>
                                      </p:cBhvr>
                                      <p:tavLst>
                                        <p:tav tm="0">
                                          <p:val>
                                            <p:strVal val="#ppt_x"/>
                                          </p:val>
                                        </p:tav>
                                        <p:tav tm="100000">
                                          <p:val>
                                            <p:strVal val="#ppt_x"/>
                                          </p:val>
                                        </p:tav>
                                      </p:tavLst>
                                    </p:anim>
                                    <p:anim calcmode="lin" valueType="num">
                                      <p:cBhvr additive="base">
                                        <p:cTn id="8" dur="500" fill="hold"/>
                                        <p:tgtEl>
                                          <p:spTgt spid="317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31748"/>
                                        </p:tgtEl>
                                        <p:attrNameLst>
                                          <p:attrName>ppt_x</p:attrName>
                                        </p:attrNameLst>
                                      </p:cBhvr>
                                      <p:tavLst>
                                        <p:tav tm="0">
                                          <p:val>
                                            <p:strVal val="ppt_x"/>
                                          </p:val>
                                        </p:tav>
                                        <p:tav tm="100000">
                                          <p:val>
                                            <p:strVal val="ppt_x"/>
                                          </p:val>
                                        </p:tav>
                                      </p:tavLst>
                                    </p:anim>
                                    <p:anim calcmode="lin" valueType="num">
                                      <p:cBhvr additive="base">
                                        <p:cTn id="13" dur="500"/>
                                        <p:tgtEl>
                                          <p:spTgt spid="31748"/>
                                        </p:tgtEl>
                                        <p:attrNameLst>
                                          <p:attrName>ppt_y</p:attrName>
                                        </p:attrNameLst>
                                      </p:cBhvr>
                                      <p:tavLst>
                                        <p:tav tm="0">
                                          <p:val>
                                            <p:strVal val="ppt_y"/>
                                          </p:val>
                                        </p:tav>
                                        <p:tav tm="100000">
                                          <p:val>
                                            <p:strVal val="1+ppt_h/2"/>
                                          </p:val>
                                        </p:tav>
                                      </p:tavLst>
                                    </p:anim>
                                    <p:set>
                                      <p:cBhvr>
                                        <p:cTn id="14" dur="1" fill="hold">
                                          <p:stCondLst>
                                            <p:cond delay="499"/>
                                          </p:stCondLst>
                                        </p:cTn>
                                        <p:tgtEl>
                                          <p:spTgt spid="3174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49"/>
                                        </p:tgtEl>
                                        <p:attrNameLst>
                                          <p:attrName>style.visibility</p:attrName>
                                        </p:attrNameLst>
                                      </p:cBhvr>
                                      <p:to>
                                        <p:strVal val="visible"/>
                                      </p:to>
                                    </p:set>
                                    <p:anim calcmode="lin" valueType="num">
                                      <p:cBhvr additive="base">
                                        <p:cTn id="19" dur="500" fill="hold"/>
                                        <p:tgtEl>
                                          <p:spTgt spid="31749"/>
                                        </p:tgtEl>
                                        <p:attrNameLst>
                                          <p:attrName>ppt_x</p:attrName>
                                        </p:attrNameLst>
                                      </p:cBhvr>
                                      <p:tavLst>
                                        <p:tav tm="0">
                                          <p:val>
                                            <p:strVal val="#ppt_x"/>
                                          </p:val>
                                        </p:tav>
                                        <p:tav tm="100000">
                                          <p:val>
                                            <p:strVal val="#ppt_x"/>
                                          </p:val>
                                        </p:tav>
                                      </p:tavLst>
                                    </p:anim>
                                    <p:anim calcmode="lin" valueType="num">
                                      <p:cBhvr additive="base">
                                        <p:cTn id="20" dur="500" fill="hold"/>
                                        <p:tgtEl>
                                          <p:spTgt spid="3174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31749"/>
                                        </p:tgtEl>
                                        <p:attrNameLst>
                                          <p:attrName>ppt_x</p:attrName>
                                        </p:attrNameLst>
                                      </p:cBhvr>
                                      <p:tavLst>
                                        <p:tav tm="0">
                                          <p:val>
                                            <p:strVal val="ppt_x"/>
                                          </p:val>
                                        </p:tav>
                                        <p:tav tm="100000">
                                          <p:val>
                                            <p:strVal val="ppt_x"/>
                                          </p:val>
                                        </p:tav>
                                      </p:tavLst>
                                    </p:anim>
                                    <p:anim calcmode="lin" valueType="num">
                                      <p:cBhvr additive="base">
                                        <p:cTn id="25" dur="500"/>
                                        <p:tgtEl>
                                          <p:spTgt spid="31749"/>
                                        </p:tgtEl>
                                        <p:attrNameLst>
                                          <p:attrName>ppt_y</p:attrName>
                                        </p:attrNameLst>
                                      </p:cBhvr>
                                      <p:tavLst>
                                        <p:tav tm="0">
                                          <p:val>
                                            <p:strVal val="ppt_y"/>
                                          </p:val>
                                        </p:tav>
                                        <p:tav tm="100000">
                                          <p:val>
                                            <p:strVal val="1+ppt_h/2"/>
                                          </p:val>
                                        </p:tav>
                                      </p:tavLst>
                                    </p:anim>
                                    <p:set>
                                      <p:cBhvr>
                                        <p:cTn id="26" dur="1" fill="hold">
                                          <p:stCondLst>
                                            <p:cond delay="499"/>
                                          </p:stCondLst>
                                        </p:cTn>
                                        <p:tgtEl>
                                          <p:spTgt spid="3174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1751"/>
                                        </p:tgtEl>
                                        <p:attrNameLst>
                                          <p:attrName>style.visibility</p:attrName>
                                        </p:attrNameLst>
                                      </p:cBhvr>
                                      <p:to>
                                        <p:strVal val="visible"/>
                                      </p:to>
                                    </p:set>
                                    <p:anim calcmode="lin" valueType="num">
                                      <p:cBhvr additive="base">
                                        <p:cTn id="31" dur="500" fill="hold"/>
                                        <p:tgtEl>
                                          <p:spTgt spid="31751"/>
                                        </p:tgtEl>
                                        <p:attrNameLst>
                                          <p:attrName>ppt_x</p:attrName>
                                        </p:attrNameLst>
                                      </p:cBhvr>
                                      <p:tavLst>
                                        <p:tav tm="0">
                                          <p:val>
                                            <p:strVal val="#ppt_x"/>
                                          </p:val>
                                        </p:tav>
                                        <p:tav tm="100000">
                                          <p:val>
                                            <p:strVal val="#ppt_x"/>
                                          </p:val>
                                        </p:tav>
                                      </p:tavLst>
                                    </p:anim>
                                    <p:anim calcmode="lin" valueType="num">
                                      <p:cBhvr additive="base">
                                        <p:cTn id="32"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31751"/>
                                        </p:tgtEl>
                                        <p:attrNameLst>
                                          <p:attrName>ppt_x</p:attrName>
                                        </p:attrNameLst>
                                      </p:cBhvr>
                                      <p:tavLst>
                                        <p:tav tm="0">
                                          <p:val>
                                            <p:strVal val="ppt_x"/>
                                          </p:val>
                                        </p:tav>
                                        <p:tav tm="100000">
                                          <p:val>
                                            <p:strVal val="ppt_x"/>
                                          </p:val>
                                        </p:tav>
                                      </p:tavLst>
                                    </p:anim>
                                    <p:anim calcmode="lin" valueType="num">
                                      <p:cBhvr additive="base">
                                        <p:cTn id="37" dur="500"/>
                                        <p:tgtEl>
                                          <p:spTgt spid="31751"/>
                                        </p:tgtEl>
                                        <p:attrNameLst>
                                          <p:attrName>ppt_y</p:attrName>
                                        </p:attrNameLst>
                                      </p:cBhvr>
                                      <p:tavLst>
                                        <p:tav tm="0">
                                          <p:val>
                                            <p:strVal val="ppt_y"/>
                                          </p:val>
                                        </p:tav>
                                        <p:tav tm="100000">
                                          <p:val>
                                            <p:strVal val="1+ppt_h/2"/>
                                          </p:val>
                                        </p:tav>
                                      </p:tavLst>
                                    </p:anim>
                                    <p:set>
                                      <p:cBhvr>
                                        <p:cTn id="38" dur="1" fill="hold">
                                          <p:stCondLst>
                                            <p:cond delay="499"/>
                                          </p:stCondLst>
                                        </p:cTn>
                                        <p:tgtEl>
                                          <p:spTgt spid="3175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752"/>
                                        </p:tgtEl>
                                        <p:attrNameLst>
                                          <p:attrName>style.visibility</p:attrName>
                                        </p:attrNameLst>
                                      </p:cBhvr>
                                      <p:to>
                                        <p:strVal val="visible"/>
                                      </p:to>
                                    </p:set>
                                    <p:anim calcmode="lin" valueType="num">
                                      <p:cBhvr additive="base">
                                        <p:cTn id="43" dur="500" fill="hold"/>
                                        <p:tgtEl>
                                          <p:spTgt spid="31752"/>
                                        </p:tgtEl>
                                        <p:attrNameLst>
                                          <p:attrName>ppt_x</p:attrName>
                                        </p:attrNameLst>
                                      </p:cBhvr>
                                      <p:tavLst>
                                        <p:tav tm="0">
                                          <p:val>
                                            <p:strVal val="#ppt_x"/>
                                          </p:val>
                                        </p:tav>
                                        <p:tav tm="100000">
                                          <p:val>
                                            <p:strVal val="#ppt_x"/>
                                          </p:val>
                                        </p:tav>
                                      </p:tavLst>
                                    </p:anim>
                                    <p:anim calcmode="lin" valueType="num">
                                      <p:cBhvr additive="base">
                                        <p:cTn id="44" dur="500" fill="hold"/>
                                        <p:tgtEl>
                                          <p:spTgt spid="3175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31752"/>
                                        </p:tgtEl>
                                        <p:attrNameLst>
                                          <p:attrName>ppt_x</p:attrName>
                                        </p:attrNameLst>
                                      </p:cBhvr>
                                      <p:tavLst>
                                        <p:tav tm="0">
                                          <p:val>
                                            <p:strVal val="ppt_x"/>
                                          </p:val>
                                        </p:tav>
                                        <p:tav tm="100000">
                                          <p:val>
                                            <p:strVal val="ppt_x"/>
                                          </p:val>
                                        </p:tav>
                                      </p:tavLst>
                                    </p:anim>
                                    <p:anim calcmode="lin" valueType="num">
                                      <p:cBhvr additive="base">
                                        <p:cTn id="49" dur="500"/>
                                        <p:tgtEl>
                                          <p:spTgt spid="31752"/>
                                        </p:tgtEl>
                                        <p:attrNameLst>
                                          <p:attrName>ppt_y</p:attrName>
                                        </p:attrNameLst>
                                      </p:cBhvr>
                                      <p:tavLst>
                                        <p:tav tm="0">
                                          <p:val>
                                            <p:strVal val="ppt_y"/>
                                          </p:val>
                                        </p:tav>
                                        <p:tav tm="100000">
                                          <p:val>
                                            <p:strVal val="1+ppt_h/2"/>
                                          </p:val>
                                        </p:tav>
                                      </p:tavLst>
                                    </p:anim>
                                    <p:set>
                                      <p:cBhvr>
                                        <p:cTn id="50" dur="1" fill="hold">
                                          <p:stCondLst>
                                            <p:cond delay="499"/>
                                          </p:stCondLst>
                                        </p:cTn>
                                        <p:tgtEl>
                                          <p:spTgt spid="3175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1753"/>
                                        </p:tgtEl>
                                        <p:attrNameLst>
                                          <p:attrName>style.visibility</p:attrName>
                                        </p:attrNameLst>
                                      </p:cBhvr>
                                      <p:to>
                                        <p:strVal val="visible"/>
                                      </p:to>
                                    </p:set>
                                    <p:anim calcmode="lin" valueType="num">
                                      <p:cBhvr additive="base">
                                        <p:cTn id="55" dur="500" fill="hold"/>
                                        <p:tgtEl>
                                          <p:spTgt spid="31753"/>
                                        </p:tgtEl>
                                        <p:attrNameLst>
                                          <p:attrName>ppt_x</p:attrName>
                                        </p:attrNameLst>
                                      </p:cBhvr>
                                      <p:tavLst>
                                        <p:tav tm="0">
                                          <p:val>
                                            <p:strVal val="#ppt_x"/>
                                          </p:val>
                                        </p:tav>
                                        <p:tav tm="100000">
                                          <p:val>
                                            <p:strVal val="#ppt_x"/>
                                          </p:val>
                                        </p:tav>
                                      </p:tavLst>
                                    </p:anim>
                                    <p:anim calcmode="lin" valueType="num">
                                      <p:cBhvr additive="base">
                                        <p:cTn id="56" dur="500" fill="hold"/>
                                        <p:tgtEl>
                                          <p:spTgt spid="3175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1" nodeType="clickEffect">
                                  <p:stCondLst>
                                    <p:cond delay="0"/>
                                  </p:stCondLst>
                                  <p:childTnLst>
                                    <p:anim calcmode="lin" valueType="num">
                                      <p:cBhvr additive="base">
                                        <p:cTn id="60" dur="500"/>
                                        <p:tgtEl>
                                          <p:spTgt spid="31753"/>
                                        </p:tgtEl>
                                        <p:attrNameLst>
                                          <p:attrName>ppt_x</p:attrName>
                                        </p:attrNameLst>
                                      </p:cBhvr>
                                      <p:tavLst>
                                        <p:tav tm="0">
                                          <p:val>
                                            <p:strVal val="ppt_x"/>
                                          </p:val>
                                        </p:tav>
                                        <p:tav tm="100000">
                                          <p:val>
                                            <p:strVal val="ppt_x"/>
                                          </p:val>
                                        </p:tav>
                                      </p:tavLst>
                                    </p:anim>
                                    <p:anim calcmode="lin" valueType="num">
                                      <p:cBhvr additive="base">
                                        <p:cTn id="61" dur="500"/>
                                        <p:tgtEl>
                                          <p:spTgt spid="31753"/>
                                        </p:tgtEl>
                                        <p:attrNameLst>
                                          <p:attrName>ppt_y</p:attrName>
                                        </p:attrNameLst>
                                      </p:cBhvr>
                                      <p:tavLst>
                                        <p:tav tm="0">
                                          <p:val>
                                            <p:strVal val="ppt_y"/>
                                          </p:val>
                                        </p:tav>
                                        <p:tav tm="100000">
                                          <p:val>
                                            <p:strVal val="1+ppt_h/2"/>
                                          </p:val>
                                        </p:tav>
                                      </p:tavLst>
                                    </p:anim>
                                    <p:set>
                                      <p:cBhvr>
                                        <p:cTn id="62" dur="1" fill="hold">
                                          <p:stCondLst>
                                            <p:cond delay="499"/>
                                          </p:stCondLst>
                                        </p:cTn>
                                        <p:tgtEl>
                                          <p:spTgt spid="317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animBg="1"/>
      <p:bldP spid="31748" grpId="1" animBg="1"/>
      <p:bldP spid="31749" grpId="0" animBg="1"/>
      <p:bldP spid="31749" grpId="1" animBg="1"/>
      <p:bldP spid="31751" grpId="0" animBg="1"/>
      <p:bldP spid="31751" grpId="1" animBg="1"/>
      <p:bldP spid="31752" grpId="0" animBg="1"/>
      <p:bldP spid="31752" grpId="1" animBg="1"/>
      <p:bldP spid="31753" grpId="0" animBg="1"/>
      <p:bldP spid="31753"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457200" y="333375"/>
            <a:ext cx="8229600" cy="1371600"/>
          </a:xfrm>
        </p:spPr>
        <p:txBody>
          <a:bodyPr vert="horz" wrap="square" lIns="91440" tIns="45720" rIns="91440" bIns="45720" anchor="ctr" anchorCtr="0"/>
          <a:p>
            <a:r>
              <a:rPr lang="en-US" altLang="zh-CN" dirty="0"/>
              <a:t>5.2.4 ADD</a:t>
            </a:r>
            <a:r>
              <a:rPr lang="zh-CN" altLang="en-US" dirty="0"/>
              <a:t>指令的指令周期</a:t>
            </a:r>
            <a:endParaRPr lang="zh-CN" altLang="en-US" dirty="0"/>
          </a:p>
        </p:txBody>
      </p:sp>
      <p:sp>
        <p:nvSpPr>
          <p:cNvPr id="45059" name="Rectangle 4"/>
          <p:cNvSpPr>
            <a:spLocks noGrp="1"/>
          </p:cNvSpPr>
          <p:nvPr>
            <p:ph idx="1"/>
          </p:nvPr>
        </p:nvSpPr>
        <p:spPr/>
        <p:txBody>
          <a:bodyPr vert="horz" wrap="square" lIns="91440" tIns="45720" rIns="91440" bIns="45720" anchor="t" anchorCtr="0"/>
          <a:p>
            <a:r>
              <a:rPr lang="en-US" altLang="zh-CN" b="1" dirty="0">
                <a:solidFill>
                  <a:srgbClr val="FF3300"/>
                </a:solidFill>
              </a:rPr>
              <a:t>ADD R1,R2</a:t>
            </a:r>
            <a:endParaRPr lang="en-US" altLang="zh-CN" b="1" dirty="0">
              <a:solidFill>
                <a:srgbClr val="FF3300"/>
              </a:solidFill>
            </a:endParaRPr>
          </a:p>
          <a:p>
            <a:r>
              <a:rPr lang="en-US" altLang="zh-CN" sz="2000" dirty="0"/>
              <a:t>RR</a:t>
            </a:r>
            <a:r>
              <a:rPr lang="zh-CN" altLang="en-US" sz="2000" dirty="0"/>
              <a:t>型指令</a:t>
            </a:r>
            <a:endParaRPr lang="zh-CN" altLang="en-US" sz="2000" dirty="0"/>
          </a:p>
          <a:p>
            <a:r>
              <a:rPr lang="en-US" altLang="zh-CN" sz="2000" dirty="0"/>
              <a:t>2</a:t>
            </a:r>
            <a:r>
              <a:rPr lang="zh-CN" altLang="en-US" sz="2000" dirty="0"/>
              <a:t>个周期</a:t>
            </a:r>
            <a:endParaRPr lang="zh-CN" altLang="en-US" sz="2000" dirty="0"/>
          </a:p>
          <a:p>
            <a:r>
              <a:rPr lang="zh-CN" altLang="en-US" dirty="0"/>
              <a:t>取指周期</a:t>
            </a:r>
            <a:endParaRPr lang="zh-CN" altLang="en-US" dirty="0"/>
          </a:p>
          <a:p>
            <a:r>
              <a:rPr lang="zh-CN" altLang="en-US" sz="2000" dirty="0"/>
              <a:t>取指周期与</a:t>
            </a:r>
            <a:r>
              <a:rPr lang="en-US" altLang="zh-CN" sz="2000" dirty="0"/>
              <a:t>MOV</a:t>
            </a:r>
            <a:r>
              <a:rPr lang="zh-CN" altLang="en-US" sz="2000" dirty="0"/>
              <a:t>相同</a:t>
            </a:r>
            <a:endParaRPr lang="zh-CN" altLang="en-US" sz="2000" dirty="0"/>
          </a:p>
          <a:p>
            <a:endParaRPr lang="zh-CN" altLang="en-US" sz="2000" dirty="0"/>
          </a:p>
          <a:p>
            <a:r>
              <a:rPr lang="zh-CN" altLang="en-US" dirty="0"/>
              <a:t>执行周期</a:t>
            </a:r>
            <a:endParaRPr lang="zh-CN" altLang="en-US" dirty="0"/>
          </a:p>
          <a:p>
            <a:endParaRPr lang="zh-CN" altLang="en-US" sz="2000" dirty="0"/>
          </a:p>
          <a:p>
            <a:endParaRPr lang="en-US" altLang="zh-CN" sz="2000" dirty="0"/>
          </a:p>
        </p:txBody>
      </p:sp>
      <p:pic>
        <p:nvPicPr>
          <p:cNvPr id="45060" name="Picture 5" descr="5a4">
            <a:hlinkClick r:id="rId1"/>
          </p:cNvPr>
          <p:cNvPicPr>
            <a:picLocks noChangeAspect="1"/>
          </p:cNvPicPr>
          <p:nvPr/>
        </p:nvPicPr>
        <p:blipFill>
          <a:blip r:embed="rId2"/>
          <a:stretch>
            <a:fillRect/>
          </a:stretch>
        </p:blipFill>
        <p:spPr>
          <a:xfrm>
            <a:off x="3997325" y="1358900"/>
            <a:ext cx="4895850" cy="473075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211138" y="188913"/>
            <a:ext cx="8504237" cy="785812"/>
          </a:xfrm>
        </p:spPr>
        <p:txBody>
          <a:bodyPr vert="horz" wrap="square" lIns="91440" tIns="45720" rIns="91440" bIns="45720" anchor="ctr" anchorCtr="0"/>
          <a:p>
            <a:r>
              <a:rPr lang="en-US" altLang="zh-CN" dirty="0">
                <a:solidFill>
                  <a:srgbClr val="FF0000"/>
                </a:solidFill>
              </a:rPr>
              <a:t>5.2.4 ADD</a:t>
            </a:r>
            <a:r>
              <a:rPr lang="zh-CN" altLang="en-US" dirty="0">
                <a:solidFill>
                  <a:srgbClr val="FF0000"/>
                </a:solidFill>
              </a:rPr>
              <a:t>指令的指令执行周期</a:t>
            </a:r>
            <a:endParaRPr lang="zh-CN" altLang="en-US" dirty="0">
              <a:solidFill>
                <a:srgbClr val="FF0000"/>
              </a:solidFill>
            </a:endParaRPr>
          </a:p>
        </p:txBody>
      </p:sp>
      <p:pic>
        <p:nvPicPr>
          <p:cNvPr id="46083" name="Picture 3" descr="5a9"/>
          <p:cNvPicPr>
            <a:picLocks noChangeAspect="1"/>
          </p:cNvPicPr>
          <p:nvPr>
            <p:ph idx="1"/>
          </p:nvPr>
        </p:nvPicPr>
        <p:blipFill>
          <a:blip r:embed="rId1"/>
          <a:srcRect/>
          <a:stretch>
            <a:fillRect/>
          </a:stretch>
        </p:blipFill>
        <p:spPr>
          <a:xfrm>
            <a:off x="1187450" y="908050"/>
            <a:ext cx="6696075" cy="5053013"/>
          </a:xfrm>
        </p:spPr>
      </p:pic>
      <p:sp>
        <p:nvSpPr>
          <p:cNvPr id="34823" name="Rectangle 7"/>
          <p:cNvSpPr/>
          <p:nvPr/>
        </p:nvSpPr>
        <p:spPr>
          <a:xfrm>
            <a:off x="611188" y="5956300"/>
            <a:ext cx="7704137" cy="701675"/>
          </a:xfrm>
          <a:prstGeom prst="rect">
            <a:avLst/>
          </a:prstGeom>
          <a:solidFill>
            <a:srgbClr val="C0C0C0"/>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2453CA"/>
                </a:solidFill>
              </a:rPr>
              <a:t>① </a:t>
            </a:r>
            <a:r>
              <a:rPr lang="zh-CN" altLang="en-US" sz="2000" b="1" dirty="0">
                <a:solidFill>
                  <a:srgbClr val="2453CA"/>
                </a:solidFill>
              </a:rPr>
              <a:t>操作控制器</a:t>
            </a:r>
            <a:r>
              <a:rPr lang="en-US" altLang="zh-CN" sz="2000" b="1" dirty="0">
                <a:solidFill>
                  <a:srgbClr val="2453CA"/>
                </a:solidFill>
              </a:rPr>
              <a:t>OC</a:t>
            </a:r>
            <a:r>
              <a:rPr lang="zh-CN" altLang="en-US" sz="2000" b="1" dirty="0">
                <a:solidFill>
                  <a:srgbClr val="2453CA"/>
                </a:solidFill>
              </a:rPr>
              <a:t>送出控制命令到通用寄存器，选择</a:t>
            </a:r>
            <a:r>
              <a:rPr lang="en-US" altLang="zh-CN" sz="2000" b="1" dirty="0">
                <a:solidFill>
                  <a:srgbClr val="2453CA"/>
                </a:solidFill>
              </a:rPr>
              <a:t>R1</a:t>
            </a:r>
            <a:r>
              <a:rPr lang="zh-CN" altLang="en-US" sz="2000" b="1" dirty="0">
                <a:solidFill>
                  <a:srgbClr val="2453CA"/>
                </a:solidFill>
              </a:rPr>
              <a:t>做源寄存器，</a:t>
            </a:r>
            <a:r>
              <a:rPr lang="en-US" altLang="zh-CN" sz="2000" b="1" dirty="0">
                <a:solidFill>
                  <a:srgbClr val="2453CA"/>
                </a:solidFill>
              </a:rPr>
              <a:t>R2</a:t>
            </a:r>
            <a:r>
              <a:rPr lang="zh-CN" altLang="en-US" sz="2000" b="1" dirty="0">
                <a:solidFill>
                  <a:srgbClr val="2453CA"/>
                </a:solidFill>
              </a:rPr>
              <a:t>做目标寄存器； </a:t>
            </a:r>
            <a:endParaRPr lang="zh-CN" altLang="en-US" sz="2000" b="1" dirty="0">
              <a:solidFill>
                <a:srgbClr val="2453CA"/>
              </a:solidFill>
            </a:endParaRPr>
          </a:p>
        </p:txBody>
      </p:sp>
      <p:sp>
        <p:nvSpPr>
          <p:cNvPr id="34824" name="Rectangle 8"/>
          <p:cNvSpPr/>
          <p:nvPr/>
        </p:nvSpPr>
        <p:spPr>
          <a:xfrm>
            <a:off x="611188" y="5949950"/>
            <a:ext cx="7704137" cy="701675"/>
          </a:xfrm>
          <a:prstGeom prst="rect">
            <a:avLst/>
          </a:prstGeom>
          <a:solidFill>
            <a:srgbClr val="C0C0C0"/>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FF3300"/>
                </a:solidFill>
              </a:rPr>
              <a:t>② OC </a:t>
            </a:r>
            <a:r>
              <a:rPr lang="zh-CN" altLang="en-US" sz="2000" b="1" dirty="0">
                <a:solidFill>
                  <a:srgbClr val="FF3300"/>
                </a:solidFill>
              </a:rPr>
              <a:t>送出控制命令到</a:t>
            </a:r>
            <a:r>
              <a:rPr lang="en-US" altLang="zh-CN" sz="2000" b="1" dirty="0">
                <a:solidFill>
                  <a:srgbClr val="FF3300"/>
                </a:solidFill>
              </a:rPr>
              <a:t>ALU</a:t>
            </a:r>
            <a:r>
              <a:rPr lang="zh-CN" altLang="en-US" sz="2000" b="1" dirty="0">
                <a:solidFill>
                  <a:srgbClr val="FF3300"/>
                </a:solidFill>
              </a:rPr>
              <a:t>，指定</a:t>
            </a:r>
            <a:r>
              <a:rPr lang="en-US" altLang="zh-CN" sz="2000" b="1" dirty="0">
                <a:solidFill>
                  <a:srgbClr val="FF3300"/>
                </a:solidFill>
              </a:rPr>
              <a:t>ALU</a:t>
            </a:r>
            <a:r>
              <a:rPr lang="zh-CN" altLang="en-US" sz="2000" b="1" dirty="0">
                <a:solidFill>
                  <a:srgbClr val="FF3300"/>
                </a:solidFill>
              </a:rPr>
              <a:t>做</a:t>
            </a:r>
            <a:r>
              <a:rPr lang="en-US" altLang="zh-CN" sz="2000" b="1" dirty="0">
                <a:solidFill>
                  <a:srgbClr val="FF3300"/>
                </a:solidFill>
              </a:rPr>
              <a:t>R1</a:t>
            </a:r>
            <a:r>
              <a:rPr lang="zh-CN" altLang="en-US" sz="2000" b="1" dirty="0">
                <a:solidFill>
                  <a:srgbClr val="FF3300"/>
                </a:solidFill>
              </a:rPr>
              <a:t>（</a:t>
            </a:r>
            <a:r>
              <a:rPr lang="en-US" altLang="zh-CN" sz="2000" b="1" dirty="0">
                <a:solidFill>
                  <a:srgbClr val="FF3300"/>
                </a:solidFill>
              </a:rPr>
              <a:t>100</a:t>
            </a:r>
            <a:r>
              <a:rPr lang="zh-CN" altLang="en-US" sz="2000" b="1" dirty="0">
                <a:solidFill>
                  <a:srgbClr val="FF3300"/>
                </a:solidFill>
              </a:rPr>
              <a:t>）和</a:t>
            </a:r>
            <a:r>
              <a:rPr lang="en-US" altLang="zh-CN" sz="2000" b="1" dirty="0">
                <a:solidFill>
                  <a:srgbClr val="FF3300"/>
                </a:solidFill>
              </a:rPr>
              <a:t>R2</a:t>
            </a:r>
            <a:r>
              <a:rPr lang="zh-CN" altLang="en-US" sz="2000" b="1" dirty="0">
                <a:solidFill>
                  <a:srgbClr val="FF3300"/>
                </a:solidFill>
              </a:rPr>
              <a:t>（</a:t>
            </a:r>
            <a:r>
              <a:rPr lang="en-US" altLang="zh-CN" sz="2000" b="1" dirty="0">
                <a:solidFill>
                  <a:srgbClr val="FF3300"/>
                </a:solidFill>
              </a:rPr>
              <a:t>20</a:t>
            </a:r>
            <a:r>
              <a:rPr lang="zh-CN" altLang="en-US" sz="2000" b="1" dirty="0">
                <a:solidFill>
                  <a:srgbClr val="FF3300"/>
                </a:solidFill>
              </a:rPr>
              <a:t>）的加法操作； </a:t>
            </a:r>
            <a:endParaRPr lang="zh-CN" altLang="en-US" sz="2000" b="1" dirty="0">
              <a:solidFill>
                <a:srgbClr val="FF3300"/>
              </a:solidFill>
            </a:endParaRPr>
          </a:p>
        </p:txBody>
      </p:sp>
      <p:sp>
        <p:nvSpPr>
          <p:cNvPr id="34825" name="Rectangle 9"/>
          <p:cNvSpPr/>
          <p:nvPr/>
        </p:nvSpPr>
        <p:spPr>
          <a:xfrm>
            <a:off x="611188" y="5949950"/>
            <a:ext cx="7704137" cy="701675"/>
          </a:xfrm>
          <a:prstGeom prst="rect">
            <a:avLst/>
          </a:prstGeom>
          <a:solidFill>
            <a:srgbClr val="C0C0C0"/>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2BCB23"/>
                </a:solidFill>
              </a:rPr>
              <a:t>③ OC</a:t>
            </a:r>
            <a:r>
              <a:rPr lang="zh-CN" altLang="en-US" sz="2000" b="1" dirty="0">
                <a:solidFill>
                  <a:srgbClr val="2BCB23"/>
                </a:solidFill>
              </a:rPr>
              <a:t>送出控制命令，打开</a:t>
            </a:r>
            <a:r>
              <a:rPr lang="en-US" altLang="zh-CN" sz="2000" b="1" dirty="0">
                <a:solidFill>
                  <a:srgbClr val="2BCB23"/>
                </a:solidFill>
              </a:rPr>
              <a:t>ALU</a:t>
            </a:r>
            <a:r>
              <a:rPr lang="zh-CN" altLang="en-US" sz="2000" b="1" dirty="0">
                <a:solidFill>
                  <a:srgbClr val="2BCB23"/>
                </a:solidFill>
              </a:rPr>
              <a:t>输出三态门，运算结果</a:t>
            </a:r>
            <a:r>
              <a:rPr lang="en-US" altLang="zh-CN" sz="2000" b="1" dirty="0">
                <a:solidFill>
                  <a:srgbClr val="2BCB23"/>
                </a:solidFill>
              </a:rPr>
              <a:t>120</a:t>
            </a:r>
            <a:r>
              <a:rPr lang="zh-CN" altLang="en-US" sz="2000" b="1" dirty="0">
                <a:solidFill>
                  <a:srgbClr val="2BCB23"/>
                </a:solidFill>
              </a:rPr>
              <a:t>放到</a:t>
            </a:r>
            <a:r>
              <a:rPr lang="en-US" altLang="zh-CN" sz="2000" b="1" dirty="0">
                <a:solidFill>
                  <a:srgbClr val="2BCB23"/>
                </a:solidFill>
              </a:rPr>
              <a:t>DBUS</a:t>
            </a:r>
            <a:r>
              <a:rPr lang="zh-CN" altLang="en-US" sz="2000" b="1" dirty="0">
                <a:solidFill>
                  <a:srgbClr val="2BCB23"/>
                </a:solidFill>
              </a:rPr>
              <a:t>上</a:t>
            </a:r>
            <a:r>
              <a:rPr lang="zh-CN" altLang="en-US" sz="2000" b="1" dirty="0">
                <a:solidFill>
                  <a:srgbClr val="FF3300"/>
                </a:solidFill>
              </a:rPr>
              <a:t></a:t>
            </a:r>
            <a:endParaRPr lang="zh-CN" altLang="en-US" sz="2000" b="1" dirty="0">
              <a:solidFill>
                <a:srgbClr val="FF3300"/>
              </a:solidFill>
            </a:endParaRPr>
          </a:p>
        </p:txBody>
      </p:sp>
      <p:sp>
        <p:nvSpPr>
          <p:cNvPr id="34826" name="Rectangle 10"/>
          <p:cNvSpPr/>
          <p:nvPr/>
        </p:nvSpPr>
        <p:spPr>
          <a:xfrm>
            <a:off x="611188" y="5949950"/>
            <a:ext cx="7704137" cy="701675"/>
          </a:xfrm>
          <a:prstGeom prst="rect">
            <a:avLst/>
          </a:prstGeom>
          <a:solidFill>
            <a:srgbClr val="C0C0C0"/>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2453CA"/>
                </a:solidFill>
              </a:rPr>
              <a:t>④ OC</a:t>
            </a:r>
            <a:r>
              <a:rPr lang="zh-CN" altLang="en-US" sz="2000" b="1" dirty="0">
                <a:solidFill>
                  <a:srgbClr val="2453CA"/>
                </a:solidFill>
              </a:rPr>
              <a:t>送出控制命令，将</a:t>
            </a:r>
            <a:r>
              <a:rPr lang="en-US" altLang="zh-CN" sz="2000" b="1" dirty="0">
                <a:solidFill>
                  <a:srgbClr val="2453CA"/>
                </a:solidFill>
              </a:rPr>
              <a:t>DBUS</a:t>
            </a:r>
            <a:r>
              <a:rPr lang="zh-CN" altLang="en-US" sz="2000" b="1" dirty="0">
                <a:solidFill>
                  <a:srgbClr val="2453CA"/>
                </a:solidFill>
              </a:rPr>
              <a:t>上数据打入缓冲寄存器</a:t>
            </a:r>
            <a:r>
              <a:rPr lang="en-US" altLang="zh-CN" sz="2000" b="1" dirty="0">
                <a:solidFill>
                  <a:srgbClr val="2453CA"/>
                </a:solidFill>
              </a:rPr>
              <a:t>DR</a:t>
            </a:r>
            <a:r>
              <a:rPr lang="zh-CN" altLang="en-US" sz="2000" b="1" dirty="0">
                <a:solidFill>
                  <a:srgbClr val="2453CA"/>
                </a:solidFill>
              </a:rPr>
              <a:t>；</a:t>
            </a:r>
            <a:r>
              <a:rPr lang="en-US" altLang="zh-CN" sz="2000" b="1" dirty="0">
                <a:solidFill>
                  <a:srgbClr val="2453CA"/>
                </a:solidFill>
              </a:rPr>
              <a:t>ALU</a:t>
            </a:r>
            <a:r>
              <a:rPr lang="zh-CN" altLang="en-US" sz="2000" b="1" dirty="0">
                <a:solidFill>
                  <a:srgbClr val="2453CA"/>
                </a:solidFill>
              </a:rPr>
              <a:t>产生的进位信号保存状态字寄存器在</a:t>
            </a:r>
            <a:r>
              <a:rPr lang="en-US" altLang="zh-CN" sz="2000" b="1" dirty="0">
                <a:solidFill>
                  <a:srgbClr val="2453CA"/>
                </a:solidFill>
              </a:rPr>
              <a:t>PSW</a:t>
            </a:r>
            <a:r>
              <a:rPr lang="zh-CN" altLang="en-US" sz="2000" b="1" dirty="0">
                <a:solidFill>
                  <a:srgbClr val="2453CA"/>
                </a:solidFill>
              </a:rPr>
              <a:t>中。</a:t>
            </a:r>
            <a:endParaRPr lang="zh-CN" altLang="en-US" sz="2000" b="1" dirty="0">
              <a:solidFill>
                <a:srgbClr val="2453CA"/>
              </a:solidFill>
            </a:endParaRPr>
          </a:p>
        </p:txBody>
      </p:sp>
      <p:sp>
        <p:nvSpPr>
          <p:cNvPr id="34827" name="Rectangle 11"/>
          <p:cNvSpPr/>
          <p:nvPr/>
        </p:nvSpPr>
        <p:spPr>
          <a:xfrm>
            <a:off x="611188" y="5949950"/>
            <a:ext cx="7704137" cy="701675"/>
          </a:xfrm>
          <a:prstGeom prst="rect">
            <a:avLst/>
          </a:prstGeom>
          <a:solidFill>
            <a:srgbClr val="C0C0C0"/>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FF3300"/>
                </a:solidFill>
              </a:rPr>
              <a:t>⑤ OC</a:t>
            </a:r>
            <a:r>
              <a:rPr lang="zh-CN" altLang="en-US" sz="2000" b="1" dirty="0">
                <a:solidFill>
                  <a:srgbClr val="FF3300"/>
                </a:solidFill>
              </a:rPr>
              <a:t>送出控制命令，将</a:t>
            </a:r>
            <a:r>
              <a:rPr lang="en-US" altLang="zh-CN" sz="2000" b="1" dirty="0">
                <a:solidFill>
                  <a:srgbClr val="FF3300"/>
                </a:solidFill>
              </a:rPr>
              <a:t>DR</a:t>
            </a:r>
            <a:r>
              <a:rPr lang="zh-CN" altLang="en-US" sz="2000" b="1" dirty="0">
                <a:solidFill>
                  <a:srgbClr val="FF3300"/>
                </a:solidFill>
              </a:rPr>
              <a:t>（</a:t>
            </a:r>
            <a:r>
              <a:rPr lang="en-US" altLang="zh-CN" sz="2000" b="1" dirty="0">
                <a:solidFill>
                  <a:srgbClr val="FF3300"/>
                </a:solidFill>
              </a:rPr>
              <a:t>120</a:t>
            </a:r>
            <a:r>
              <a:rPr lang="zh-CN" altLang="en-US" sz="2000" b="1" dirty="0">
                <a:solidFill>
                  <a:srgbClr val="FF3300"/>
                </a:solidFill>
              </a:rPr>
              <a:t>）装入</a:t>
            </a:r>
            <a:r>
              <a:rPr lang="en-US" altLang="zh-CN" sz="2000" b="1" dirty="0">
                <a:solidFill>
                  <a:srgbClr val="FF3300"/>
                </a:solidFill>
              </a:rPr>
              <a:t>R2</a:t>
            </a:r>
            <a:r>
              <a:rPr lang="zh-CN" altLang="en-US" sz="2000" b="1" dirty="0">
                <a:solidFill>
                  <a:srgbClr val="FF3300"/>
                </a:solidFill>
              </a:rPr>
              <a:t>，</a:t>
            </a:r>
            <a:r>
              <a:rPr lang="en-US" altLang="zh-CN" sz="2000" b="1" dirty="0">
                <a:solidFill>
                  <a:srgbClr val="FF3300"/>
                </a:solidFill>
              </a:rPr>
              <a:t>R2</a:t>
            </a:r>
            <a:r>
              <a:rPr lang="zh-CN" altLang="en-US" sz="2000" b="1" dirty="0">
                <a:solidFill>
                  <a:srgbClr val="FF3300"/>
                </a:solidFill>
              </a:rPr>
              <a:t>中原来的内容</a:t>
            </a:r>
            <a:r>
              <a:rPr lang="en-US" altLang="zh-CN" sz="2000" b="1" dirty="0">
                <a:solidFill>
                  <a:srgbClr val="FF3300"/>
                </a:solidFill>
              </a:rPr>
              <a:t>20</a:t>
            </a:r>
            <a:r>
              <a:rPr lang="zh-CN" altLang="en-US" sz="2000" b="1" dirty="0">
                <a:solidFill>
                  <a:srgbClr val="FF3300"/>
                </a:solidFill>
              </a:rPr>
              <a:t>被冲掉。至此</a:t>
            </a:r>
            <a:r>
              <a:rPr lang="en-US" altLang="zh-CN" sz="2000" b="1" dirty="0">
                <a:solidFill>
                  <a:srgbClr val="FF3300"/>
                </a:solidFill>
              </a:rPr>
              <a:t>ADD</a:t>
            </a:r>
            <a:r>
              <a:rPr lang="zh-CN" altLang="en-US" sz="2000" b="1" dirty="0">
                <a:solidFill>
                  <a:srgbClr val="FF3300"/>
                </a:solidFill>
              </a:rPr>
              <a:t>指令执行周期结束。</a:t>
            </a:r>
            <a:endParaRPr lang="zh-CN" altLang="en-US" sz="2000" b="1"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823"/>
                                        </p:tgtEl>
                                        <p:attrNameLst>
                                          <p:attrName>style.visibility</p:attrName>
                                        </p:attrNameLst>
                                      </p:cBhvr>
                                      <p:to>
                                        <p:strVal val="visible"/>
                                      </p:to>
                                    </p:set>
                                    <p:anim calcmode="lin" valueType="num">
                                      <p:cBhvr additive="base">
                                        <p:cTn id="7" dur="500" fill="hold"/>
                                        <p:tgtEl>
                                          <p:spTgt spid="34823"/>
                                        </p:tgtEl>
                                        <p:attrNameLst>
                                          <p:attrName>ppt_x</p:attrName>
                                        </p:attrNameLst>
                                      </p:cBhvr>
                                      <p:tavLst>
                                        <p:tav tm="0">
                                          <p:val>
                                            <p:strVal val="#ppt_x"/>
                                          </p:val>
                                        </p:tav>
                                        <p:tav tm="100000">
                                          <p:val>
                                            <p:strVal val="#ppt_x"/>
                                          </p:val>
                                        </p:tav>
                                      </p:tavLst>
                                    </p:anim>
                                    <p:anim calcmode="lin" valueType="num">
                                      <p:cBhvr additive="base">
                                        <p:cTn id="8" dur="500" fill="hold"/>
                                        <p:tgtEl>
                                          <p:spTgt spid="348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34823"/>
                                        </p:tgtEl>
                                        <p:attrNameLst>
                                          <p:attrName>ppt_x</p:attrName>
                                        </p:attrNameLst>
                                      </p:cBhvr>
                                      <p:tavLst>
                                        <p:tav tm="0">
                                          <p:val>
                                            <p:strVal val="ppt_x"/>
                                          </p:val>
                                        </p:tav>
                                        <p:tav tm="100000">
                                          <p:val>
                                            <p:strVal val="ppt_x"/>
                                          </p:val>
                                        </p:tav>
                                      </p:tavLst>
                                    </p:anim>
                                    <p:anim calcmode="lin" valueType="num">
                                      <p:cBhvr additive="base">
                                        <p:cTn id="13" dur="500"/>
                                        <p:tgtEl>
                                          <p:spTgt spid="34823"/>
                                        </p:tgtEl>
                                        <p:attrNameLst>
                                          <p:attrName>ppt_y</p:attrName>
                                        </p:attrNameLst>
                                      </p:cBhvr>
                                      <p:tavLst>
                                        <p:tav tm="0">
                                          <p:val>
                                            <p:strVal val="ppt_y"/>
                                          </p:val>
                                        </p:tav>
                                        <p:tav tm="100000">
                                          <p:val>
                                            <p:strVal val="1+ppt_h/2"/>
                                          </p:val>
                                        </p:tav>
                                      </p:tavLst>
                                    </p:anim>
                                    <p:set>
                                      <p:cBhvr>
                                        <p:cTn id="14" dur="1" fill="hold">
                                          <p:stCondLst>
                                            <p:cond delay="499"/>
                                          </p:stCondLst>
                                        </p:cTn>
                                        <p:tgtEl>
                                          <p:spTgt spid="3482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824"/>
                                        </p:tgtEl>
                                        <p:attrNameLst>
                                          <p:attrName>style.visibility</p:attrName>
                                        </p:attrNameLst>
                                      </p:cBhvr>
                                      <p:to>
                                        <p:strVal val="visible"/>
                                      </p:to>
                                    </p:set>
                                    <p:anim calcmode="lin" valueType="num">
                                      <p:cBhvr additive="base">
                                        <p:cTn id="19" dur="500" fill="hold"/>
                                        <p:tgtEl>
                                          <p:spTgt spid="34824"/>
                                        </p:tgtEl>
                                        <p:attrNameLst>
                                          <p:attrName>ppt_x</p:attrName>
                                        </p:attrNameLst>
                                      </p:cBhvr>
                                      <p:tavLst>
                                        <p:tav tm="0">
                                          <p:val>
                                            <p:strVal val="#ppt_x"/>
                                          </p:val>
                                        </p:tav>
                                        <p:tav tm="100000">
                                          <p:val>
                                            <p:strVal val="#ppt_x"/>
                                          </p:val>
                                        </p:tav>
                                      </p:tavLst>
                                    </p:anim>
                                    <p:anim calcmode="lin" valueType="num">
                                      <p:cBhvr additive="base">
                                        <p:cTn id="20" dur="500" fill="hold"/>
                                        <p:tgtEl>
                                          <p:spTgt spid="348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34824"/>
                                        </p:tgtEl>
                                        <p:attrNameLst>
                                          <p:attrName>ppt_x</p:attrName>
                                        </p:attrNameLst>
                                      </p:cBhvr>
                                      <p:tavLst>
                                        <p:tav tm="0">
                                          <p:val>
                                            <p:strVal val="ppt_x"/>
                                          </p:val>
                                        </p:tav>
                                        <p:tav tm="100000">
                                          <p:val>
                                            <p:strVal val="ppt_x"/>
                                          </p:val>
                                        </p:tav>
                                      </p:tavLst>
                                    </p:anim>
                                    <p:anim calcmode="lin" valueType="num">
                                      <p:cBhvr additive="base">
                                        <p:cTn id="25" dur="500"/>
                                        <p:tgtEl>
                                          <p:spTgt spid="34824"/>
                                        </p:tgtEl>
                                        <p:attrNameLst>
                                          <p:attrName>ppt_y</p:attrName>
                                        </p:attrNameLst>
                                      </p:cBhvr>
                                      <p:tavLst>
                                        <p:tav tm="0">
                                          <p:val>
                                            <p:strVal val="ppt_y"/>
                                          </p:val>
                                        </p:tav>
                                        <p:tav tm="100000">
                                          <p:val>
                                            <p:strVal val="1+ppt_h/2"/>
                                          </p:val>
                                        </p:tav>
                                      </p:tavLst>
                                    </p:anim>
                                    <p:set>
                                      <p:cBhvr>
                                        <p:cTn id="26" dur="1" fill="hold">
                                          <p:stCondLst>
                                            <p:cond delay="499"/>
                                          </p:stCondLst>
                                        </p:cTn>
                                        <p:tgtEl>
                                          <p:spTgt spid="348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4825"/>
                                        </p:tgtEl>
                                        <p:attrNameLst>
                                          <p:attrName>style.visibility</p:attrName>
                                        </p:attrNameLst>
                                      </p:cBhvr>
                                      <p:to>
                                        <p:strVal val="visible"/>
                                      </p:to>
                                    </p:set>
                                    <p:anim calcmode="lin" valueType="num">
                                      <p:cBhvr additive="base">
                                        <p:cTn id="31" dur="500" fill="hold"/>
                                        <p:tgtEl>
                                          <p:spTgt spid="34825"/>
                                        </p:tgtEl>
                                        <p:attrNameLst>
                                          <p:attrName>ppt_x</p:attrName>
                                        </p:attrNameLst>
                                      </p:cBhvr>
                                      <p:tavLst>
                                        <p:tav tm="0">
                                          <p:val>
                                            <p:strVal val="#ppt_x"/>
                                          </p:val>
                                        </p:tav>
                                        <p:tav tm="100000">
                                          <p:val>
                                            <p:strVal val="#ppt_x"/>
                                          </p:val>
                                        </p:tav>
                                      </p:tavLst>
                                    </p:anim>
                                    <p:anim calcmode="lin" valueType="num">
                                      <p:cBhvr additive="base">
                                        <p:cTn id="32" dur="500" fill="hold"/>
                                        <p:tgtEl>
                                          <p:spTgt spid="3482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34825"/>
                                        </p:tgtEl>
                                        <p:attrNameLst>
                                          <p:attrName>ppt_x</p:attrName>
                                        </p:attrNameLst>
                                      </p:cBhvr>
                                      <p:tavLst>
                                        <p:tav tm="0">
                                          <p:val>
                                            <p:strVal val="ppt_x"/>
                                          </p:val>
                                        </p:tav>
                                        <p:tav tm="100000">
                                          <p:val>
                                            <p:strVal val="ppt_x"/>
                                          </p:val>
                                        </p:tav>
                                      </p:tavLst>
                                    </p:anim>
                                    <p:anim calcmode="lin" valueType="num">
                                      <p:cBhvr additive="base">
                                        <p:cTn id="37" dur="500"/>
                                        <p:tgtEl>
                                          <p:spTgt spid="34825"/>
                                        </p:tgtEl>
                                        <p:attrNameLst>
                                          <p:attrName>ppt_y</p:attrName>
                                        </p:attrNameLst>
                                      </p:cBhvr>
                                      <p:tavLst>
                                        <p:tav tm="0">
                                          <p:val>
                                            <p:strVal val="ppt_y"/>
                                          </p:val>
                                        </p:tav>
                                        <p:tav tm="100000">
                                          <p:val>
                                            <p:strVal val="1+ppt_h/2"/>
                                          </p:val>
                                        </p:tav>
                                      </p:tavLst>
                                    </p:anim>
                                    <p:set>
                                      <p:cBhvr>
                                        <p:cTn id="38" dur="1" fill="hold">
                                          <p:stCondLst>
                                            <p:cond delay="499"/>
                                          </p:stCondLst>
                                        </p:cTn>
                                        <p:tgtEl>
                                          <p:spTgt spid="3482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4826"/>
                                        </p:tgtEl>
                                        <p:attrNameLst>
                                          <p:attrName>style.visibility</p:attrName>
                                        </p:attrNameLst>
                                      </p:cBhvr>
                                      <p:to>
                                        <p:strVal val="visible"/>
                                      </p:to>
                                    </p:set>
                                    <p:anim calcmode="lin" valueType="num">
                                      <p:cBhvr additive="base">
                                        <p:cTn id="43" dur="500" fill="hold"/>
                                        <p:tgtEl>
                                          <p:spTgt spid="34826"/>
                                        </p:tgtEl>
                                        <p:attrNameLst>
                                          <p:attrName>ppt_x</p:attrName>
                                        </p:attrNameLst>
                                      </p:cBhvr>
                                      <p:tavLst>
                                        <p:tav tm="0">
                                          <p:val>
                                            <p:strVal val="#ppt_x"/>
                                          </p:val>
                                        </p:tav>
                                        <p:tav tm="100000">
                                          <p:val>
                                            <p:strVal val="#ppt_x"/>
                                          </p:val>
                                        </p:tav>
                                      </p:tavLst>
                                    </p:anim>
                                    <p:anim calcmode="lin" valueType="num">
                                      <p:cBhvr additive="base">
                                        <p:cTn id="44" dur="500" fill="hold"/>
                                        <p:tgtEl>
                                          <p:spTgt spid="3482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34826"/>
                                        </p:tgtEl>
                                        <p:attrNameLst>
                                          <p:attrName>ppt_x</p:attrName>
                                        </p:attrNameLst>
                                      </p:cBhvr>
                                      <p:tavLst>
                                        <p:tav tm="0">
                                          <p:val>
                                            <p:strVal val="ppt_x"/>
                                          </p:val>
                                        </p:tav>
                                        <p:tav tm="100000">
                                          <p:val>
                                            <p:strVal val="ppt_x"/>
                                          </p:val>
                                        </p:tav>
                                      </p:tavLst>
                                    </p:anim>
                                    <p:anim calcmode="lin" valueType="num">
                                      <p:cBhvr additive="base">
                                        <p:cTn id="49" dur="500"/>
                                        <p:tgtEl>
                                          <p:spTgt spid="34826"/>
                                        </p:tgtEl>
                                        <p:attrNameLst>
                                          <p:attrName>ppt_y</p:attrName>
                                        </p:attrNameLst>
                                      </p:cBhvr>
                                      <p:tavLst>
                                        <p:tav tm="0">
                                          <p:val>
                                            <p:strVal val="ppt_y"/>
                                          </p:val>
                                        </p:tav>
                                        <p:tav tm="100000">
                                          <p:val>
                                            <p:strVal val="1+ppt_h/2"/>
                                          </p:val>
                                        </p:tav>
                                      </p:tavLst>
                                    </p:anim>
                                    <p:set>
                                      <p:cBhvr>
                                        <p:cTn id="50" dur="1" fill="hold">
                                          <p:stCondLst>
                                            <p:cond delay="499"/>
                                          </p:stCondLst>
                                        </p:cTn>
                                        <p:tgtEl>
                                          <p:spTgt spid="3482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4827"/>
                                        </p:tgtEl>
                                        <p:attrNameLst>
                                          <p:attrName>style.visibility</p:attrName>
                                        </p:attrNameLst>
                                      </p:cBhvr>
                                      <p:to>
                                        <p:strVal val="visible"/>
                                      </p:to>
                                    </p:set>
                                    <p:anim calcmode="lin" valueType="num">
                                      <p:cBhvr additive="base">
                                        <p:cTn id="55" dur="500" fill="hold"/>
                                        <p:tgtEl>
                                          <p:spTgt spid="34827"/>
                                        </p:tgtEl>
                                        <p:attrNameLst>
                                          <p:attrName>ppt_x</p:attrName>
                                        </p:attrNameLst>
                                      </p:cBhvr>
                                      <p:tavLst>
                                        <p:tav tm="0">
                                          <p:val>
                                            <p:strVal val="#ppt_x"/>
                                          </p:val>
                                        </p:tav>
                                        <p:tav tm="100000">
                                          <p:val>
                                            <p:strVal val="#ppt_x"/>
                                          </p:val>
                                        </p:tav>
                                      </p:tavLst>
                                    </p:anim>
                                    <p:anim calcmode="lin" valueType="num">
                                      <p:cBhvr additive="base">
                                        <p:cTn id="56" dur="500" fill="hold"/>
                                        <p:tgtEl>
                                          <p:spTgt spid="3482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1" nodeType="clickEffect">
                                  <p:stCondLst>
                                    <p:cond delay="0"/>
                                  </p:stCondLst>
                                  <p:childTnLst>
                                    <p:anim calcmode="lin" valueType="num">
                                      <p:cBhvr additive="base">
                                        <p:cTn id="60" dur="500"/>
                                        <p:tgtEl>
                                          <p:spTgt spid="34827"/>
                                        </p:tgtEl>
                                        <p:attrNameLst>
                                          <p:attrName>ppt_x</p:attrName>
                                        </p:attrNameLst>
                                      </p:cBhvr>
                                      <p:tavLst>
                                        <p:tav tm="0">
                                          <p:val>
                                            <p:strVal val="ppt_x"/>
                                          </p:val>
                                        </p:tav>
                                        <p:tav tm="100000">
                                          <p:val>
                                            <p:strVal val="ppt_x"/>
                                          </p:val>
                                        </p:tav>
                                      </p:tavLst>
                                    </p:anim>
                                    <p:anim calcmode="lin" valueType="num">
                                      <p:cBhvr additive="base">
                                        <p:cTn id="61" dur="500"/>
                                        <p:tgtEl>
                                          <p:spTgt spid="34827"/>
                                        </p:tgtEl>
                                        <p:attrNameLst>
                                          <p:attrName>ppt_y</p:attrName>
                                        </p:attrNameLst>
                                      </p:cBhvr>
                                      <p:tavLst>
                                        <p:tav tm="0">
                                          <p:val>
                                            <p:strVal val="ppt_y"/>
                                          </p:val>
                                        </p:tav>
                                        <p:tav tm="100000">
                                          <p:val>
                                            <p:strVal val="1+ppt_h/2"/>
                                          </p:val>
                                        </p:tav>
                                      </p:tavLst>
                                    </p:anim>
                                    <p:set>
                                      <p:cBhvr>
                                        <p:cTn id="62" dur="1" fill="hold">
                                          <p:stCondLst>
                                            <p:cond delay="499"/>
                                          </p:stCondLst>
                                        </p:cTn>
                                        <p:tgtEl>
                                          <p:spTgt spid="348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animBg="1"/>
      <p:bldP spid="34823" grpId="1" animBg="1"/>
      <p:bldP spid="34824" grpId="0" animBg="1"/>
      <p:bldP spid="34824" grpId="1" animBg="1"/>
      <p:bldP spid="34825" grpId="0" animBg="1"/>
      <p:bldP spid="34825" grpId="1" animBg="1"/>
      <p:bldP spid="34826" grpId="0" animBg="1"/>
      <p:bldP spid="34826" grpId="1" animBg="1"/>
      <p:bldP spid="34827" grpId="0" animBg="1"/>
      <p:bldP spid="34827"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xfrm>
            <a:off x="457200" y="333375"/>
            <a:ext cx="8229600" cy="1371600"/>
          </a:xfrm>
        </p:spPr>
        <p:txBody>
          <a:bodyPr vert="horz" wrap="square" lIns="91440" tIns="45720" rIns="91440" bIns="45720" anchor="ctr" anchorCtr="0"/>
          <a:p>
            <a:r>
              <a:rPr lang="en-US" altLang="zh-CN" dirty="0"/>
              <a:t>5.2.5 STO</a:t>
            </a:r>
            <a:r>
              <a:rPr lang="zh-CN" altLang="en-US" dirty="0"/>
              <a:t>指令的指令周期</a:t>
            </a:r>
            <a:endParaRPr lang="zh-CN" altLang="en-US" dirty="0"/>
          </a:p>
        </p:txBody>
      </p:sp>
      <p:pic>
        <p:nvPicPr>
          <p:cNvPr id="48131" name="Picture 3" descr="5a10"/>
          <p:cNvPicPr>
            <a:picLocks noChangeAspect="1"/>
          </p:cNvPicPr>
          <p:nvPr>
            <p:ph idx="1"/>
          </p:nvPr>
        </p:nvPicPr>
        <p:blipFill>
          <a:blip r:embed="rId1"/>
          <a:srcRect/>
          <a:stretch>
            <a:fillRect/>
          </a:stretch>
        </p:blipFill>
        <p:spPr>
          <a:xfrm>
            <a:off x="3781425" y="1557338"/>
            <a:ext cx="5111750" cy="4194175"/>
          </a:xfrm>
        </p:spPr>
      </p:pic>
      <p:sp>
        <p:nvSpPr>
          <p:cNvPr id="48132" name="Rectangle 4"/>
          <p:cNvSpPr/>
          <p:nvPr/>
        </p:nvSpPr>
        <p:spPr>
          <a:xfrm>
            <a:off x="457200" y="1268413"/>
            <a:ext cx="8229600" cy="4862512"/>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Clr>
                <a:schemeClr val="tx2"/>
              </a:buClr>
              <a:buSzPct val="70000"/>
              <a:buFont typeface="Wingdings" panose="05000000000000000000" pitchFamily="2" charset="2"/>
              <a:buChar char="l"/>
            </a:pPr>
            <a:r>
              <a:rPr lang="en-US" altLang="zh-CN" sz="3000" b="1" dirty="0">
                <a:solidFill>
                  <a:srgbClr val="FF3300"/>
                </a:solidFill>
              </a:rPr>
              <a:t>STO R2,(R3)</a:t>
            </a:r>
            <a:endParaRPr lang="en-US" altLang="zh-CN" sz="3000" b="1" dirty="0">
              <a:solidFill>
                <a:srgbClr val="FF3300"/>
              </a:solidFill>
            </a:endParaRPr>
          </a:p>
          <a:p>
            <a:pPr marL="342900" lvl="0" indent="-342900" eaLnBrk="1" hangingPunct="1">
              <a:buClr>
                <a:schemeClr val="tx2"/>
              </a:buClr>
              <a:buSzPct val="70000"/>
              <a:buFont typeface="Wingdings" panose="05000000000000000000" pitchFamily="2" charset="2"/>
              <a:buChar char="l"/>
            </a:pPr>
            <a:r>
              <a:rPr lang="en-US" altLang="zh-CN" sz="2000" dirty="0"/>
              <a:t>RR</a:t>
            </a:r>
            <a:r>
              <a:rPr lang="zh-CN" altLang="en-US" sz="2000" dirty="0"/>
              <a:t>型指令</a:t>
            </a:r>
            <a:endParaRPr lang="zh-CN" altLang="en-US" sz="2000" dirty="0"/>
          </a:p>
          <a:p>
            <a:pPr marL="342900" lvl="0" indent="-342900" eaLnBrk="1" hangingPunct="1">
              <a:buClr>
                <a:schemeClr val="tx2"/>
              </a:buClr>
              <a:buSzPct val="70000"/>
              <a:buFont typeface="Wingdings" panose="05000000000000000000" pitchFamily="2" charset="2"/>
              <a:buChar char="l"/>
            </a:pPr>
            <a:r>
              <a:rPr lang="zh-CN" altLang="en-US" sz="2000" dirty="0"/>
              <a:t>三个周期</a:t>
            </a:r>
            <a:endParaRPr lang="zh-CN" altLang="en-US" sz="2000" dirty="0"/>
          </a:p>
          <a:p>
            <a:pPr marL="342900" lvl="0" indent="-342900" eaLnBrk="1" hangingPunct="1">
              <a:buClr>
                <a:schemeClr val="tx2"/>
              </a:buClr>
              <a:buSzPct val="70000"/>
              <a:buFont typeface="Wingdings" panose="05000000000000000000" pitchFamily="2" charset="2"/>
              <a:buChar char="l"/>
            </a:pPr>
            <a:r>
              <a:rPr lang="zh-CN" altLang="en-US" sz="3000" dirty="0"/>
              <a:t>取指周期</a:t>
            </a:r>
            <a:endParaRPr lang="zh-CN" altLang="en-US" sz="3000" dirty="0"/>
          </a:p>
          <a:p>
            <a:pPr marL="342900" lvl="0" indent="-342900" eaLnBrk="1" hangingPunct="1">
              <a:buClr>
                <a:schemeClr val="tx2"/>
              </a:buClr>
              <a:buSzPct val="70000"/>
              <a:buFont typeface="Wingdings" panose="05000000000000000000" pitchFamily="2" charset="2"/>
              <a:buChar char="l"/>
            </a:pPr>
            <a:r>
              <a:rPr lang="zh-CN" altLang="en-US" sz="2000" dirty="0"/>
              <a:t>取指周期与</a:t>
            </a:r>
            <a:r>
              <a:rPr lang="en-US" altLang="zh-CN" sz="2000" dirty="0"/>
              <a:t>MOV</a:t>
            </a:r>
            <a:r>
              <a:rPr lang="zh-CN" altLang="en-US" sz="2000" dirty="0"/>
              <a:t>相同</a:t>
            </a:r>
            <a:endParaRPr lang="zh-CN" altLang="en-US" sz="2000" dirty="0"/>
          </a:p>
          <a:p>
            <a:pPr marL="342900" lvl="0" indent="-342900" eaLnBrk="1" hangingPunct="1">
              <a:buClr>
                <a:schemeClr val="tx2"/>
              </a:buClr>
              <a:buSzPct val="70000"/>
              <a:buFont typeface="Wingdings" panose="05000000000000000000" pitchFamily="2" charset="2"/>
              <a:buChar char="l"/>
            </a:pPr>
            <a:endParaRPr lang="zh-CN" altLang="en-US" sz="2000" dirty="0"/>
          </a:p>
          <a:p>
            <a:pPr marL="342900" lvl="0" indent="-342900" eaLnBrk="1" hangingPunct="1">
              <a:buClr>
                <a:schemeClr val="tx2"/>
              </a:buClr>
              <a:buSzPct val="70000"/>
              <a:buFont typeface="Wingdings" panose="05000000000000000000" pitchFamily="2" charset="2"/>
              <a:buChar char="l"/>
            </a:pPr>
            <a:r>
              <a:rPr lang="zh-CN" altLang="en-US" sz="3000" dirty="0"/>
              <a:t>执行周期</a:t>
            </a:r>
            <a:endParaRPr lang="zh-CN" altLang="en-US" sz="3000" dirty="0"/>
          </a:p>
          <a:p>
            <a:pPr marL="342900" lvl="0" indent="-342900" eaLnBrk="1" hangingPunct="1">
              <a:buClr>
                <a:schemeClr val="tx2"/>
              </a:buClr>
              <a:buSzPct val="70000"/>
              <a:buFont typeface="Wingdings" panose="05000000000000000000" pitchFamily="2" charset="2"/>
              <a:buChar char="l"/>
            </a:pPr>
            <a:endParaRPr lang="zh-CN" altLang="en-US" sz="2000" dirty="0"/>
          </a:p>
          <a:p>
            <a:pPr marL="342900" lvl="0" indent="-342900" eaLnBrk="1" hangingPunct="1">
              <a:buClr>
                <a:schemeClr val="tx2"/>
              </a:buClr>
              <a:buSzPct val="70000"/>
              <a:buFont typeface="Wingdings" panose="05000000000000000000" pitchFamily="2" charset="2"/>
              <a:buChar char="l"/>
            </a:pPr>
            <a:r>
              <a:rPr lang="zh-CN" altLang="en-US" sz="2000" dirty="0"/>
              <a:t>由于</a:t>
            </a:r>
            <a:r>
              <a:rPr lang="en-US" altLang="zh-CN" sz="2000" dirty="0"/>
              <a:t>DBUS</a:t>
            </a:r>
            <a:r>
              <a:rPr lang="zh-CN" altLang="en-US" sz="2000" dirty="0"/>
              <a:t>是单总线结构，</a:t>
            </a:r>
            <a:endParaRPr lang="zh-CN" altLang="en-US" sz="2000" dirty="0"/>
          </a:p>
          <a:p>
            <a:pPr marL="342900" lvl="0" indent="-342900" eaLnBrk="1" hangingPunct="1">
              <a:buClr>
                <a:schemeClr val="tx2"/>
              </a:buClr>
              <a:buSzPct val="70000"/>
              <a:buFont typeface="Wingdings" panose="05000000000000000000" pitchFamily="2" charset="2"/>
              <a:buChar char="l"/>
            </a:pPr>
            <a:r>
              <a:rPr lang="zh-CN" altLang="en-US" sz="2000" dirty="0"/>
              <a:t>需要先送地址（</a:t>
            </a:r>
            <a:r>
              <a:rPr lang="en-US" altLang="zh-CN" sz="2000" dirty="0"/>
              <a:t>30</a:t>
            </a:r>
            <a:r>
              <a:rPr lang="zh-CN" altLang="en-US" sz="2000" dirty="0"/>
              <a:t>），再送</a:t>
            </a:r>
            <a:endParaRPr lang="zh-CN" altLang="en-US" sz="2000" dirty="0"/>
          </a:p>
          <a:p>
            <a:pPr marL="342900" lvl="0" indent="-342900" eaLnBrk="1" hangingPunct="1">
              <a:buClr>
                <a:schemeClr val="tx2"/>
              </a:buClr>
              <a:buSzPct val="70000"/>
              <a:buFont typeface="Wingdings" panose="05000000000000000000" pitchFamily="2" charset="2"/>
              <a:buChar char="l"/>
            </a:pPr>
            <a:r>
              <a:rPr lang="zh-CN" altLang="en-US" sz="2000" dirty="0"/>
              <a:t>数据（</a:t>
            </a:r>
            <a:r>
              <a:rPr lang="en-US" altLang="zh-CN" sz="2000" dirty="0"/>
              <a:t>120</a:t>
            </a:r>
            <a:r>
              <a:rPr lang="zh-CN" altLang="en-US" sz="2000" dirty="0"/>
              <a:t>），保证分时传送。</a:t>
            </a:r>
            <a:endParaRPr lang="zh-CN" altLang="en-US" sz="2000" dirty="0"/>
          </a:p>
          <a:p>
            <a:pPr marL="342900" lvl="0" indent="-342900" eaLnBrk="1" hangingPunct="1">
              <a:buClr>
                <a:schemeClr val="tx2"/>
              </a:buClr>
              <a:buSzPct val="70000"/>
              <a:buFont typeface="Wingdings" panose="05000000000000000000" pitchFamily="2" charset="2"/>
              <a:buChar char="l"/>
            </a:pPr>
            <a:endParaRPr lang="en-US" altLang="zh-CN"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9154" name="Picture 4" descr="5a11"/>
          <p:cNvPicPr>
            <a:picLocks noChangeAspect="1"/>
          </p:cNvPicPr>
          <p:nvPr/>
        </p:nvPicPr>
        <p:blipFill>
          <a:blip r:embed="rId1"/>
          <a:stretch>
            <a:fillRect/>
          </a:stretch>
        </p:blipFill>
        <p:spPr>
          <a:xfrm>
            <a:off x="1042988" y="765175"/>
            <a:ext cx="7127875" cy="5378450"/>
          </a:xfrm>
          <a:prstGeom prst="rect">
            <a:avLst/>
          </a:prstGeom>
          <a:noFill/>
          <a:ln w="9525">
            <a:noFill/>
          </a:ln>
        </p:spPr>
      </p:pic>
      <p:sp>
        <p:nvSpPr>
          <p:cNvPr id="37894" name="Rectangle 6"/>
          <p:cNvSpPr/>
          <p:nvPr/>
        </p:nvSpPr>
        <p:spPr>
          <a:xfrm>
            <a:off x="828675" y="6100763"/>
            <a:ext cx="7488238" cy="701675"/>
          </a:xfrm>
          <a:prstGeom prst="rect">
            <a:avLst/>
          </a:prstGeom>
          <a:solidFill>
            <a:srgbClr val="CCFFFF"/>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2453CA"/>
                </a:solidFill>
              </a:rPr>
              <a:t>① </a:t>
            </a:r>
            <a:r>
              <a:rPr lang="zh-CN" altLang="en-US" sz="2000" b="1" dirty="0">
                <a:solidFill>
                  <a:srgbClr val="2453CA"/>
                </a:solidFill>
              </a:rPr>
              <a:t>操作控制器</a:t>
            </a:r>
            <a:r>
              <a:rPr lang="en-US" altLang="zh-CN" sz="2000" b="1" dirty="0">
                <a:solidFill>
                  <a:srgbClr val="2453CA"/>
                </a:solidFill>
              </a:rPr>
              <a:t>OC</a:t>
            </a:r>
            <a:r>
              <a:rPr lang="zh-CN" altLang="en-US" sz="2000" b="1" dirty="0">
                <a:solidFill>
                  <a:srgbClr val="2453CA"/>
                </a:solidFill>
              </a:rPr>
              <a:t>送出操作命令到通用寄存器，选择（</a:t>
            </a:r>
            <a:r>
              <a:rPr lang="en-US" altLang="zh-CN" sz="2000" b="1" dirty="0">
                <a:solidFill>
                  <a:srgbClr val="2453CA"/>
                </a:solidFill>
              </a:rPr>
              <a:t>R3</a:t>
            </a:r>
            <a:r>
              <a:rPr lang="zh-CN" altLang="en-US" sz="2000" b="1" dirty="0">
                <a:solidFill>
                  <a:srgbClr val="2453CA"/>
                </a:solidFill>
              </a:rPr>
              <a:t>）</a:t>
            </a:r>
            <a:r>
              <a:rPr lang="en-US" altLang="zh-CN" sz="2000" b="1" dirty="0">
                <a:solidFill>
                  <a:srgbClr val="2453CA"/>
                </a:solidFill>
              </a:rPr>
              <a:t>=30</a:t>
            </a:r>
            <a:r>
              <a:rPr lang="zh-CN" altLang="en-US" sz="2000" b="1" dirty="0">
                <a:solidFill>
                  <a:srgbClr val="2453CA"/>
                </a:solidFill>
              </a:rPr>
              <a:t>做数据存储器的地址单元；</a:t>
            </a:r>
            <a:r>
              <a:rPr lang="zh-CN" altLang="en-US" sz="2000" b="1" dirty="0">
                <a:solidFill>
                  <a:srgbClr val="FF3300"/>
                </a:solidFill>
              </a:rPr>
              <a:t></a:t>
            </a:r>
            <a:endParaRPr lang="zh-CN" altLang="en-US" sz="2000" b="1" dirty="0">
              <a:solidFill>
                <a:srgbClr val="FF3300"/>
              </a:solidFill>
            </a:endParaRPr>
          </a:p>
        </p:txBody>
      </p:sp>
      <p:sp>
        <p:nvSpPr>
          <p:cNvPr id="37895" name="Rectangle 7"/>
          <p:cNvSpPr/>
          <p:nvPr/>
        </p:nvSpPr>
        <p:spPr>
          <a:xfrm>
            <a:off x="827088" y="6092825"/>
            <a:ext cx="7488237" cy="701675"/>
          </a:xfrm>
          <a:prstGeom prst="rect">
            <a:avLst/>
          </a:prstGeom>
          <a:solidFill>
            <a:srgbClr val="CCFFFF"/>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FF3300"/>
                </a:solidFill>
              </a:rPr>
              <a:t>② OC</a:t>
            </a:r>
            <a:r>
              <a:rPr lang="zh-CN" altLang="en-US" sz="2000" b="1" dirty="0">
                <a:solidFill>
                  <a:srgbClr val="FF3300"/>
                </a:solidFill>
              </a:rPr>
              <a:t>发出操作命令，打开通用寄存器输出三态门（不经</a:t>
            </a:r>
            <a:r>
              <a:rPr lang="en-US" altLang="zh-CN" sz="2000" b="1" dirty="0">
                <a:solidFill>
                  <a:srgbClr val="FF3300"/>
                </a:solidFill>
              </a:rPr>
              <a:t>ALU</a:t>
            </a:r>
            <a:r>
              <a:rPr lang="zh-CN" altLang="en-US" sz="2000" b="1" dirty="0">
                <a:solidFill>
                  <a:srgbClr val="FF3300"/>
                </a:solidFill>
              </a:rPr>
              <a:t>以节省时间），将地址</a:t>
            </a:r>
            <a:r>
              <a:rPr lang="en-US" altLang="zh-CN" sz="2000" b="1" dirty="0">
                <a:solidFill>
                  <a:srgbClr val="FF3300"/>
                </a:solidFill>
              </a:rPr>
              <a:t>30</a:t>
            </a:r>
            <a:r>
              <a:rPr lang="zh-CN" altLang="en-US" sz="2000" b="1" dirty="0">
                <a:solidFill>
                  <a:srgbClr val="FF3300"/>
                </a:solidFill>
              </a:rPr>
              <a:t>放到</a:t>
            </a:r>
            <a:r>
              <a:rPr lang="en-US" altLang="zh-CN" sz="2000" b="1" dirty="0">
                <a:solidFill>
                  <a:srgbClr val="FF3300"/>
                </a:solidFill>
              </a:rPr>
              <a:t>DBUS</a:t>
            </a:r>
            <a:r>
              <a:rPr lang="zh-CN" altLang="en-US" sz="2000" b="1" dirty="0">
                <a:solidFill>
                  <a:srgbClr val="FF3300"/>
                </a:solidFill>
              </a:rPr>
              <a:t>上；</a:t>
            </a:r>
            <a:endParaRPr lang="zh-CN" altLang="en-US" sz="2000" b="1" dirty="0">
              <a:solidFill>
                <a:srgbClr val="FF3300"/>
              </a:solidFill>
            </a:endParaRPr>
          </a:p>
        </p:txBody>
      </p:sp>
      <p:sp>
        <p:nvSpPr>
          <p:cNvPr id="37896" name="Rectangle 8"/>
          <p:cNvSpPr/>
          <p:nvPr/>
        </p:nvSpPr>
        <p:spPr>
          <a:xfrm>
            <a:off x="827088" y="6092825"/>
            <a:ext cx="7488237" cy="671513"/>
          </a:xfrm>
          <a:prstGeom prst="rect">
            <a:avLst/>
          </a:prstGeom>
          <a:solidFill>
            <a:srgbClr val="CCFFFF"/>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2BCB23"/>
                </a:solidFill>
              </a:rPr>
              <a:t>③ OC</a:t>
            </a:r>
            <a:r>
              <a:rPr lang="zh-CN" altLang="en-US" sz="2000" b="1" dirty="0">
                <a:solidFill>
                  <a:srgbClr val="2BCB23"/>
                </a:solidFill>
              </a:rPr>
              <a:t>发出操作命令，将地址</a:t>
            </a:r>
            <a:r>
              <a:rPr lang="en-US" altLang="zh-CN" sz="2000" b="1" dirty="0">
                <a:solidFill>
                  <a:srgbClr val="2BCB23"/>
                </a:solidFill>
              </a:rPr>
              <a:t>30</a:t>
            </a:r>
            <a:r>
              <a:rPr lang="zh-CN" altLang="en-US" sz="2000" b="1" dirty="0">
                <a:solidFill>
                  <a:srgbClr val="2BCB23"/>
                </a:solidFill>
              </a:rPr>
              <a:t>打入</a:t>
            </a:r>
            <a:r>
              <a:rPr lang="en-US" altLang="zh-CN" sz="2000" b="1" dirty="0">
                <a:solidFill>
                  <a:srgbClr val="2BCB23"/>
                </a:solidFill>
              </a:rPr>
              <a:t>AR</a:t>
            </a:r>
            <a:r>
              <a:rPr lang="zh-CN" altLang="en-US" sz="2000" b="1" dirty="0">
                <a:solidFill>
                  <a:srgbClr val="2BCB23"/>
                </a:solidFill>
              </a:rPr>
              <a:t>，并进行数存地址译码；</a:t>
            </a:r>
            <a:r>
              <a:rPr lang="zh-CN" altLang="en-US" sz="1800" dirty="0"/>
              <a:t></a:t>
            </a:r>
            <a:endParaRPr lang="zh-CN" altLang="en-US" sz="1800" dirty="0"/>
          </a:p>
        </p:txBody>
      </p:sp>
      <p:sp>
        <p:nvSpPr>
          <p:cNvPr id="37897" name="Rectangle 9"/>
          <p:cNvSpPr/>
          <p:nvPr/>
        </p:nvSpPr>
        <p:spPr>
          <a:xfrm>
            <a:off x="827088" y="6092825"/>
            <a:ext cx="7488237" cy="701675"/>
          </a:xfrm>
          <a:prstGeom prst="rect">
            <a:avLst/>
          </a:prstGeom>
          <a:solidFill>
            <a:srgbClr val="CCFFFF"/>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2453CA"/>
                </a:solidFill>
              </a:rPr>
              <a:t>④ OC</a:t>
            </a:r>
            <a:r>
              <a:rPr lang="zh-CN" altLang="en-US" sz="2000" b="1" dirty="0">
                <a:solidFill>
                  <a:srgbClr val="2453CA"/>
                </a:solidFill>
              </a:rPr>
              <a:t>发出操作命令到通用寄存器，选择（</a:t>
            </a:r>
            <a:r>
              <a:rPr lang="en-US" altLang="zh-CN" sz="2000" b="1" dirty="0">
                <a:solidFill>
                  <a:srgbClr val="2453CA"/>
                </a:solidFill>
              </a:rPr>
              <a:t>R2</a:t>
            </a:r>
            <a:r>
              <a:rPr lang="zh-CN" altLang="en-US" sz="2000" b="1" dirty="0">
                <a:solidFill>
                  <a:srgbClr val="2453CA"/>
                </a:solidFill>
              </a:rPr>
              <a:t>）</a:t>
            </a:r>
            <a:r>
              <a:rPr lang="en-US" altLang="zh-CN" sz="2000" b="1" dirty="0">
                <a:solidFill>
                  <a:srgbClr val="2453CA"/>
                </a:solidFill>
              </a:rPr>
              <a:t>=120</a:t>
            </a:r>
            <a:r>
              <a:rPr lang="zh-CN" altLang="en-US" sz="2000" b="1" dirty="0">
                <a:solidFill>
                  <a:srgbClr val="2453CA"/>
                </a:solidFill>
              </a:rPr>
              <a:t>，作为数存的写入数据；</a:t>
            </a:r>
            <a:endParaRPr lang="zh-CN" altLang="en-US" sz="2000" b="1" dirty="0">
              <a:solidFill>
                <a:srgbClr val="2453CA"/>
              </a:solidFill>
            </a:endParaRPr>
          </a:p>
        </p:txBody>
      </p:sp>
      <p:sp>
        <p:nvSpPr>
          <p:cNvPr id="37898" name="Rectangle 10"/>
          <p:cNvSpPr/>
          <p:nvPr/>
        </p:nvSpPr>
        <p:spPr>
          <a:xfrm>
            <a:off x="827088" y="6092825"/>
            <a:ext cx="7488237" cy="701675"/>
          </a:xfrm>
          <a:prstGeom prst="rect">
            <a:avLst/>
          </a:prstGeom>
          <a:solidFill>
            <a:srgbClr val="CCFFFF"/>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FF3300"/>
                </a:solidFill>
              </a:rPr>
              <a:t>⑤ OC</a:t>
            </a:r>
            <a:r>
              <a:rPr lang="zh-CN" altLang="en-US" sz="2000" b="1" dirty="0">
                <a:solidFill>
                  <a:srgbClr val="FF3300"/>
                </a:solidFill>
              </a:rPr>
              <a:t>发出操作命令，打开通用寄存器输出三态门，将数据</a:t>
            </a:r>
            <a:r>
              <a:rPr lang="en-US" altLang="zh-CN" sz="2000" b="1" dirty="0">
                <a:solidFill>
                  <a:srgbClr val="FF3300"/>
                </a:solidFill>
              </a:rPr>
              <a:t>120</a:t>
            </a:r>
            <a:r>
              <a:rPr lang="zh-CN" altLang="en-US" sz="2000" b="1" dirty="0">
                <a:solidFill>
                  <a:srgbClr val="FF3300"/>
                </a:solidFill>
              </a:rPr>
              <a:t>放到</a:t>
            </a:r>
            <a:r>
              <a:rPr lang="en-US" altLang="zh-CN" sz="2000" b="1" dirty="0">
                <a:solidFill>
                  <a:srgbClr val="FF3300"/>
                </a:solidFill>
              </a:rPr>
              <a:t>DBUS</a:t>
            </a:r>
            <a:r>
              <a:rPr lang="zh-CN" altLang="en-US" sz="2000" b="1" dirty="0">
                <a:solidFill>
                  <a:srgbClr val="FF3300"/>
                </a:solidFill>
              </a:rPr>
              <a:t>上。</a:t>
            </a:r>
            <a:endParaRPr lang="zh-CN" altLang="en-US" sz="2000" b="1" dirty="0">
              <a:solidFill>
                <a:srgbClr val="FF3300"/>
              </a:solidFill>
            </a:endParaRPr>
          </a:p>
        </p:txBody>
      </p:sp>
      <p:sp>
        <p:nvSpPr>
          <p:cNvPr id="37899" name="Rectangle 11"/>
          <p:cNvSpPr/>
          <p:nvPr/>
        </p:nvSpPr>
        <p:spPr>
          <a:xfrm>
            <a:off x="827088" y="6092825"/>
            <a:ext cx="7488237" cy="701675"/>
          </a:xfrm>
          <a:prstGeom prst="rect">
            <a:avLst/>
          </a:prstGeom>
          <a:solidFill>
            <a:srgbClr val="CCFFFF"/>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2453CA"/>
                </a:solidFill>
              </a:rPr>
              <a:t>⑥ OC</a:t>
            </a:r>
            <a:r>
              <a:rPr lang="zh-CN" altLang="en-US" sz="2000" b="1" dirty="0">
                <a:solidFill>
                  <a:srgbClr val="2453CA"/>
                </a:solidFill>
              </a:rPr>
              <a:t>发出操作命令，将数据</a:t>
            </a:r>
            <a:r>
              <a:rPr lang="en-US" altLang="zh-CN" sz="2000" b="1" dirty="0">
                <a:solidFill>
                  <a:srgbClr val="2453CA"/>
                </a:solidFill>
              </a:rPr>
              <a:t>120</a:t>
            </a:r>
            <a:r>
              <a:rPr lang="zh-CN" altLang="en-US" sz="2000" b="1" dirty="0">
                <a:solidFill>
                  <a:srgbClr val="2453CA"/>
                </a:solidFill>
              </a:rPr>
              <a:t>写入数存</a:t>
            </a:r>
            <a:r>
              <a:rPr lang="en-US" altLang="zh-CN" sz="2000" b="1" dirty="0">
                <a:solidFill>
                  <a:srgbClr val="2453CA"/>
                </a:solidFill>
              </a:rPr>
              <a:t>30</a:t>
            </a:r>
            <a:r>
              <a:rPr lang="zh-CN" altLang="en-US" sz="2000" b="1" dirty="0">
                <a:solidFill>
                  <a:srgbClr val="2453CA"/>
                </a:solidFill>
              </a:rPr>
              <a:t>号单元，它原先的数据</a:t>
            </a:r>
            <a:r>
              <a:rPr lang="en-US" altLang="zh-CN" sz="2000" b="1" dirty="0">
                <a:solidFill>
                  <a:srgbClr val="2453CA"/>
                </a:solidFill>
              </a:rPr>
              <a:t>40</a:t>
            </a:r>
            <a:r>
              <a:rPr lang="zh-CN" altLang="en-US" sz="2000" b="1" dirty="0">
                <a:solidFill>
                  <a:srgbClr val="2453CA"/>
                </a:solidFill>
              </a:rPr>
              <a:t>被冲掉。至此，</a:t>
            </a:r>
            <a:r>
              <a:rPr lang="en-US" altLang="zh-CN" sz="2000" b="1" dirty="0">
                <a:solidFill>
                  <a:srgbClr val="2453CA"/>
                </a:solidFill>
              </a:rPr>
              <a:t>STO</a:t>
            </a:r>
            <a:r>
              <a:rPr lang="zh-CN" altLang="en-US" sz="2000" b="1" dirty="0">
                <a:solidFill>
                  <a:srgbClr val="2453CA"/>
                </a:solidFill>
              </a:rPr>
              <a:t>指令执行周期结束。 </a:t>
            </a:r>
            <a:endParaRPr lang="zh-CN" altLang="en-US" sz="2000" b="1" dirty="0">
              <a:solidFill>
                <a:srgbClr val="2453CA"/>
              </a:solidFill>
            </a:endParaRPr>
          </a:p>
        </p:txBody>
      </p:sp>
      <p:sp>
        <p:nvSpPr>
          <p:cNvPr id="49161" name="Rectangle 2"/>
          <p:cNvSpPr>
            <a:spLocks noGrp="1"/>
          </p:cNvSpPr>
          <p:nvPr>
            <p:ph type="title"/>
          </p:nvPr>
        </p:nvSpPr>
        <p:spPr>
          <a:xfrm>
            <a:off x="444500" y="188913"/>
            <a:ext cx="8253413" cy="785812"/>
          </a:xfrm>
        </p:spPr>
        <p:txBody>
          <a:bodyPr vert="horz" wrap="square" lIns="91440" tIns="45720" rIns="91440" bIns="45720" anchor="ctr" anchorCtr="0"/>
          <a:p>
            <a:r>
              <a:rPr lang="en-US" altLang="zh-CN" dirty="0"/>
              <a:t>5.2.5 STO</a:t>
            </a:r>
            <a:r>
              <a:rPr lang="zh-CN" altLang="en-US" dirty="0"/>
              <a:t>指令的指令</a:t>
            </a:r>
            <a:r>
              <a:rPr lang="zh-CN" altLang="en-US" dirty="0">
                <a:solidFill>
                  <a:srgbClr val="FF3300"/>
                </a:solidFill>
              </a:rPr>
              <a:t>执行</a:t>
            </a:r>
            <a:r>
              <a:rPr lang="zh-CN" altLang="en-US" dirty="0"/>
              <a:t>周期</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4"/>
                                        </p:tgtEl>
                                        <p:attrNameLst>
                                          <p:attrName>style.visibility</p:attrName>
                                        </p:attrNameLst>
                                      </p:cBhvr>
                                      <p:to>
                                        <p:strVal val="visible"/>
                                      </p:to>
                                    </p:set>
                                    <p:anim calcmode="lin" valueType="num">
                                      <p:cBhvr additive="base">
                                        <p:cTn id="7" dur="500" fill="hold"/>
                                        <p:tgtEl>
                                          <p:spTgt spid="37894"/>
                                        </p:tgtEl>
                                        <p:attrNameLst>
                                          <p:attrName>ppt_x</p:attrName>
                                        </p:attrNameLst>
                                      </p:cBhvr>
                                      <p:tavLst>
                                        <p:tav tm="0">
                                          <p:val>
                                            <p:strVal val="#ppt_x"/>
                                          </p:val>
                                        </p:tav>
                                        <p:tav tm="100000">
                                          <p:val>
                                            <p:strVal val="#ppt_x"/>
                                          </p:val>
                                        </p:tav>
                                      </p:tavLst>
                                    </p:anim>
                                    <p:anim calcmode="lin" valueType="num">
                                      <p:cBhvr additive="base">
                                        <p:cTn id="8" dur="500" fill="hold"/>
                                        <p:tgtEl>
                                          <p:spTgt spid="378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37894"/>
                                        </p:tgtEl>
                                        <p:attrNameLst>
                                          <p:attrName>ppt_x</p:attrName>
                                        </p:attrNameLst>
                                      </p:cBhvr>
                                      <p:tavLst>
                                        <p:tav tm="0">
                                          <p:val>
                                            <p:strVal val="ppt_x"/>
                                          </p:val>
                                        </p:tav>
                                        <p:tav tm="100000">
                                          <p:val>
                                            <p:strVal val="ppt_x"/>
                                          </p:val>
                                        </p:tav>
                                      </p:tavLst>
                                    </p:anim>
                                    <p:anim calcmode="lin" valueType="num">
                                      <p:cBhvr additive="base">
                                        <p:cTn id="13" dur="500"/>
                                        <p:tgtEl>
                                          <p:spTgt spid="37894"/>
                                        </p:tgtEl>
                                        <p:attrNameLst>
                                          <p:attrName>ppt_y</p:attrName>
                                        </p:attrNameLst>
                                      </p:cBhvr>
                                      <p:tavLst>
                                        <p:tav tm="0">
                                          <p:val>
                                            <p:strVal val="ppt_y"/>
                                          </p:val>
                                        </p:tav>
                                        <p:tav tm="100000">
                                          <p:val>
                                            <p:strVal val="1+ppt_h/2"/>
                                          </p:val>
                                        </p:tav>
                                      </p:tavLst>
                                    </p:anim>
                                    <p:set>
                                      <p:cBhvr>
                                        <p:cTn id="14" dur="1" fill="hold">
                                          <p:stCondLst>
                                            <p:cond delay="499"/>
                                          </p:stCondLst>
                                        </p:cTn>
                                        <p:tgtEl>
                                          <p:spTgt spid="3789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5"/>
                                        </p:tgtEl>
                                        <p:attrNameLst>
                                          <p:attrName>style.visibility</p:attrName>
                                        </p:attrNameLst>
                                      </p:cBhvr>
                                      <p:to>
                                        <p:strVal val="visible"/>
                                      </p:to>
                                    </p:set>
                                    <p:anim calcmode="lin" valueType="num">
                                      <p:cBhvr additive="base">
                                        <p:cTn id="19" dur="500" fill="hold"/>
                                        <p:tgtEl>
                                          <p:spTgt spid="37895"/>
                                        </p:tgtEl>
                                        <p:attrNameLst>
                                          <p:attrName>ppt_x</p:attrName>
                                        </p:attrNameLst>
                                      </p:cBhvr>
                                      <p:tavLst>
                                        <p:tav tm="0">
                                          <p:val>
                                            <p:strVal val="#ppt_x"/>
                                          </p:val>
                                        </p:tav>
                                        <p:tav tm="100000">
                                          <p:val>
                                            <p:strVal val="#ppt_x"/>
                                          </p:val>
                                        </p:tav>
                                      </p:tavLst>
                                    </p:anim>
                                    <p:anim calcmode="lin" valueType="num">
                                      <p:cBhvr additive="base">
                                        <p:cTn id="20" dur="500" fill="hold"/>
                                        <p:tgtEl>
                                          <p:spTgt spid="3789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37895"/>
                                        </p:tgtEl>
                                        <p:attrNameLst>
                                          <p:attrName>ppt_x</p:attrName>
                                        </p:attrNameLst>
                                      </p:cBhvr>
                                      <p:tavLst>
                                        <p:tav tm="0">
                                          <p:val>
                                            <p:strVal val="ppt_x"/>
                                          </p:val>
                                        </p:tav>
                                        <p:tav tm="100000">
                                          <p:val>
                                            <p:strVal val="ppt_x"/>
                                          </p:val>
                                        </p:tav>
                                      </p:tavLst>
                                    </p:anim>
                                    <p:anim calcmode="lin" valueType="num">
                                      <p:cBhvr additive="base">
                                        <p:cTn id="25" dur="500"/>
                                        <p:tgtEl>
                                          <p:spTgt spid="37895"/>
                                        </p:tgtEl>
                                        <p:attrNameLst>
                                          <p:attrName>ppt_y</p:attrName>
                                        </p:attrNameLst>
                                      </p:cBhvr>
                                      <p:tavLst>
                                        <p:tav tm="0">
                                          <p:val>
                                            <p:strVal val="ppt_y"/>
                                          </p:val>
                                        </p:tav>
                                        <p:tav tm="100000">
                                          <p:val>
                                            <p:strVal val="1+ppt_h/2"/>
                                          </p:val>
                                        </p:tav>
                                      </p:tavLst>
                                    </p:anim>
                                    <p:set>
                                      <p:cBhvr>
                                        <p:cTn id="26" dur="1" fill="hold">
                                          <p:stCondLst>
                                            <p:cond delay="499"/>
                                          </p:stCondLst>
                                        </p:cTn>
                                        <p:tgtEl>
                                          <p:spTgt spid="3789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896"/>
                                        </p:tgtEl>
                                        <p:attrNameLst>
                                          <p:attrName>style.visibility</p:attrName>
                                        </p:attrNameLst>
                                      </p:cBhvr>
                                      <p:to>
                                        <p:strVal val="visible"/>
                                      </p:to>
                                    </p:set>
                                    <p:anim calcmode="lin" valueType="num">
                                      <p:cBhvr additive="base">
                                        <p:cTn id="31" dur="500" fill="hold"/>
                                        <p:tgtEl>
                                          <p:spTgt spid="37896"/>
                                        </p:tgtEl>
                                        <p:attrNameLst>
                                          <p:attrName>ppt_x</p:attrName>
                                        </p:attrNameLst>
                                      </p:cBhvr>
                                      <p:tavLst>
                                        <p:tav tm="0">
                                          <p:val>
                                            <p:strVal val="#ppt_x"/>
                                          </p:val>
                                        </p:tav>
                                        <p:tav tm="100000">
                                          <p:val>
                                            <p:strVal val="#ppt_x"/>
                                          </p:val>
                                        </p:tav>
                                      </p:tavLst>
                                    </p:anim>
                                    <p:anim calcmode="lin" valueType="num">
                                      <p:cBhvr additive="base">
                                        <p:cTn id="32" dur="500" fill="hold"/>
                                        <p:tgtEl>
                                          <p:spTgt spid="3789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37896"/>
                                        </p:tgtEl>
                                        <p:attrNameLst>
                                          <p:attrName>ppt_x</p:attrName>
                                        </p:attrNameLst>
                                      </p:cBhvr>
                                      <p:tavLst>
                                        <p:tav tm="0">
                                          <p:val>
                                            <p:strVal val="ppt_x"/>
                                          </p:val>
                                        </p:tav>
                                        <p:tav tm="100000">
                                          <p:val>
                                            <p:strVal val="ppt_x"/>
                                          </p:val>
                                        </p:tav>
                                      </p:tavLst>
                                    </p:anim>
                                    <p:anim calcmode="lin" valueType="num">
                                      <p:cBhvr additive="base">
                                        <p:cTn id="37" dur="500"/>
                                        <p:tgtEl>
                                          <p:spTgt spid="37896"/>
                                        </p:tgtEl>
                                        <p:attrNameLst>
                                          <p:attrName>ppt_y</p:attrName>
                                        </p:attrNameLst>
                                      </p:cBhvr>
                                      <p:tavLst>
                                        <p:tav tm="0">
                                          <p:val>
                                            <p:strVal val="ppt_y"/>
                                          </p:val>
                                        </p:tav>
                                        <p:tav tm="100000">
                                          <p:val>
                                            <p:strVal val="1+ppt_h/2"/>
                                          </p:val>
                                        </p:tav>
                                      </p:tavLst>
                                    </p:anim>
                                    <p:set>
                                      <p:cBhvr>
                                        <p:cTn id="38" dur="1" fill="hold">
                                          <p:stCondLst>
                                            <p:cond delay="499"/>
                                          </p:stCondLst>
                                        </p:cTn>
                                        <p:tgtEl>
                                          <p:spTgt spid="3789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7897"/>
                                        </p:tgtEl>
                                        <p:attrNameLst>
                                          <p:attrName>style.visibility</p:attrName>
                                        </p:attrNameLst>
                                      </p:cBhvr>
                                      <p:to>
                                        <p:strVal val="visible"/>
                                      </p:to>
                                    </p:set>
                                    <p:anim calcmode="lin" valueType="num">
                                      <p:cBhvr additive="base">
                                        <p:cTn id="43" dur="500" fill="hold"/>
                                        <p:tgtEl>
                                          <p:spTgt spid="37897"/>
                                        </p:tgtEl>
                                        <p:attrNameLst>
                                          <p:attrName>ppt_x</p:attrName>
                                        </p:attrNameLst>
                                      </p:cBhvr>
                                      <p:tavLst>
                                        <p:tav tm="0">
                                          <p:val>
                                            <p:strVal val="#ppt_x"/>
                                          </p:val>
                                        </p:tav>
                                        <p:tav tm="100000">
                                          <p:val>
                                            <p:strVal val="#ppt_x"/>
                                          </p:val>
                                        </p:tav>
                                      </p:tavLst>
                                    </p:anim>
                                    <p:anim calcmode="lin" valueType="num">
                                      <p:cBhvr additive="base">
                                        <p:cTn id="44" dur="500" fill="hold"/>
                                        <p:tgtEl>
                                          <p:spTgt spid="3789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37897"/>
                                        </p:tgtEl>
                                        <p:attrNameLst>
                                          <p:attrName>ppt_x</p:attrName>
                                        </p:attrNameLst>
                                      </p:cBhvr>
                                      <p:tavLst>
                                        <p:tav tm="0">
                                          <p:val>
                                            <p:strVal val="ppt_x"/>
                                          </p:val>
                                        </p:tav>
                                        <p:tav tm="100000">
                                          <p:val>
                                            <p:strVal val="ppt_x"/>
                                          </p:val>
                                        </p:tav>
                                      </p:tavLst>
                                    </p:anim>
                                    <p:anim calcmode="lin" valueType="num">
                                      <p:cBhvr additive="base">
                                        <p:cTn id="49" dur="500"/>
                                        <p:tgtEl>
                                          <p:spTgt spid="37897"/>
                                        </p:tgtEl>
                                        <p:attrNameLst>
                                          <p:attrName>ppt_y</p:attrName>
                                        </p:attrNameLst>
                                      </p:cBhvr>
                                      <p:tavLst>
                                        <p:tav tm="0">
                                          <p:val>
                                            <p:strVal val="ppt_y"/>
                                          </p:val>
                                        </p:tav>
                                        <p:tav tm="100000">
                                          <p:val>
                                            <p:strVal val="1+ppt_h/2"/>
                                          </p:val>
                                        </p:tav>
                                      </p:tavLst>
                                    </p:anim>
                                    <p:set>
                                      <p:cBhvr>
                                        <p:cTn id="50" dur="1" fill="hold">
                                          <p:stCondLst>
                                            <p:cond delay="499"/>
                                          </p:stCondLst>
                                        </p:cTn>
                                        <p:tgtEl>
                                          <p:spTgt spid="3789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7898"/>
                                        </p:tgtEl>
                                        <p:attrNameLst>
                                          <p:attrName>style.visibility</p:attrName>
                                        </p:attrNameLst>
                                      </p:cBhvr>
                                      <p:to>
                                        <p:strVal val="visible"/>
                                      </p:to>
                                    </p:set>
                                    <p:anim calcmode="lin" valueType="num">
                                      <p:cBhvr additive="base">
                                        <p:cTn id="55" dur="500" fill="hold"/>
                                        <p:tgtEl>
                                          <p:spTgt spid="37898"/>
                                        </p:tgtEl>
                                        <p:attrNameLst>
                                          <p:attrName>ppt_x</p:attrName>
                                        </p:attrNameLst>
                                      </p:cBhvr>
                                      <p:tavLst>
                                        <p:tav tm="0">
                                          <p:val>
                                            <p:strVal val="#ppt_x"/>
                                          </p:val>
                                        </p:tav>
                                        <p:tav tm="100000">
                                          <p:val>
                                            <p:strVal val="#ppt_x"/>
                                          </p:val>
                                        </p:tav>
                                      </p:tavLst>
                                    </p:anim>
                                    <p:anim calcmode="lin" valueType="num">
                                      <p:cBhvr additive="base">
                                        <p:cTn id="56" dur="500" fill="hold"/>
                                        <p:tgtEl>
                                          <p:spTgt spid="3789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1" nodeType="clickEffect">
                                  <p:stCondLst>
                                    <p:cond delay="0"/>
                                  </p:stCondLst>
                                  <p:childTnLst>
                                    <p:anim calcmode="lin" valueType="num">
                                      <p:cBhvr additive="base">
                                        <p:cTn id="60" dur="500"/>
                                        <p:tgtEl>
                                          <p:spTgt spid="37898"/>
                                        </p:tgtEl>
                                        <p:attrNameLst>
                                          <p:attrName>ppt_x</p:attrName>
                                        </p:attrNameLst>
                                      </p:cBhvr>
                                      <p:tavLst>
                                        <p:tav tm="0">
                                          <p:val>
                                            <p:strVal val="ppt_x"/>
                                          </p:val>
                                        </p:tav>
                                        <p:tav tm="100000">
                                          <p:val>
                                            <p:strVal val="ppt_x"/>
                                          </p:val>
                                        </p:tav>
                                      </p:tavLst>
                                    </p:anim>
                                    <p:anim calcmode="lin" valueType="num">
                                      <p:cBhvr additive="base">
                                        <p:cTn id="61" dur="500"/>
                                        <p:tgtEl>
                                          <p:spTgt spid="37898"/>
                                        </p:tgtEl>
                                        <p:attrNameLst>
                                          <p:attrName>ppt_y</p:attrName>
                                        </p:attrNameLst>
                                      </p:cBhvr>
                                      <p:tavLst>
                                        <p:tav tm="0">
                                          <p:val>
                                            <p:strVal val="ppt_y"/>
                                          </p:val>
                                        </p:tav>
                                        <p:tav tm="100000">
                                          <p:val>
                                            <p:strVal val="1+ppt_h/2"/>
                                          </p:val>
                                        </p:tav>
                                      </p:tavLst>
                                    </p:anim>
                                    <p:set>
                                      <p:cBhvr>
                                        <p:cTn id="62" dur="1" fill="hold">
                                          <p:stCondLst>
                                            <p:cond delay="499"/>
                                          </p:stCondLst>
                                        </p:cTn>
                                        <p:tgtEl>
                                          <p:spTgt spid="3789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7899"/>
                                        </p:tgtEl>
                                        <p:attrNameLst>
                                          <p:attrName>style.visibility</p:attrName>
                                        </p:attrNameLst>
                                      </p:cBhvr>
                                      <p:to>
                                        <p:strVal val="visible"/>
                                      </p:to>
                                    </p:set>
                                    <p:anim calcmode="lin" valueType="num">
                                      <p:cBhvr additive="base">
                                        <p:cTn id="67" dur="500" fill="hold"/>
                                        <p:tgtEl>
                                          <p:spTgt spid="37899"/>
                                        </p:tgtEl>
                                        <p:attrNameLst>
                                          <p:attrName>ppt_x</p:attrName>
                                        </p:attrNameLst>
                                      </p:cBhvr>
                                      <p:tavLst>
                                        <p:tav tm="0">
                                          <p:val>
                                            <p:strVal val="#ppt_x"/>
                                          </p:val>
                                        </p:tav>
                                        <p:tav tm="100000">
                                          <p:val>
                                            <p:strVal val="#ppt_x"/>
                                          </p:val>
                                        </p:tav>
                                      </p:tavLst>
                                    </p:anim>
                                    <p:anim calcmode="lin" valueType="num">
                                      <p:cBhvr additive="base">
                                        <p:cTn id="68" dur="500" fill="hold"/>
                                        <p:tgtEl>
                                          <p:spTgt spid="3789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1" nodeType="clickEffect">
                                  <p:stCondLst>
                                    <p:cond delay="0"/>
                                  </p:stCondLst>
                                  <p:childTnLst>
                                    <p:anim calcmode="lin" valueType="num">
                                      <p:cBhvr additive="base">
                                        <p:cTn id="72" dur="500"/>
                                        <p:tgtEl>
                                          <p:spTgt spid="37899"/>
                                        </p:tgtEl>
                                        <p:attrNameLst>
                                          <p:attrName>ppt_x</p:attrName>
                                        </p:attrNameLst>
                                      </p:cBhvr>
                                      <p:tavLst>
                                        <p:tav tm="0">
                                          <p:val>
                                            <p:strVal val="ppt_x"/>
                                          </p:val>
                                        </p:tav>
                                        <p:tav tm="100000">
                                          <p:val>
                                            <p:strVal val="ppt_x"/>
                                          </p:val>
                                        </p:tav>
                                      </p:tavLst>
                                    </p:anim>
                                    <p:anim calcmode="lin" valueType="num">
                                      <p:cBhvr additive="base">
                                        <p:cTn id="73" dur="500"/>
                                        <p:tgtEl>
                                          <p:spTgt spid="37899"/>
                                        </p:tgtEl>
                                        <p:attrNameLst>
                                          <p:attrName>ppt_y</p:attrName>
                                        </p:attrNameLst>
                                      </p:cBhvr>
                                      <p:tavLst>
                                        <p:tav tm="0">
                                          <p:val>
                                            <p:strVal val="ppt_y"/>
                                          </p:val>
                                        </p:tav>
                                        <p:tav tm="100000">
                                          <p:val>
                                            <p:strVal val="1+ppt_h/2"/>
                                          </p:val>
                                        </p:tav>
                                      </p:tavLst>
                                    </p:anim>
                                    <p:set>
                                      <p:cBhvr>
                                        <p:cTn id="74" dur="1" fill="hold">
                                          <p:stCondLst>
                                            <p:cond delay="499"/>
                                          </p:stCondLst>
                                        </p:cTn>
                                        <p:tgtEl>
                                          <p:spTgt spid="378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animBg="1"/>
      <p:bldP spid="37894" grpId="1" animBg="1"/>
      <p:bldP spid="37895" grpId="0" animBg="1"/>
      <p:bldP spid="37895" grpId="1" animBg="1"/>
      <p:bldP spid="37896" grpId="0" animBg="1"/>
      <p:bldP spid="37896" grpId="1" animBg="1"/>
      <p:bldP spid="37897" grpId="0" animBg="1"/>
      <p:bldP spid="37897" grpId="1" animBg="1"/>
      <p:bldP spid="37898" grpId="0" animBg="1"/>
      <p:bldP spid="37898" grpId="1" animBg="1"/>
      <p:bldP spid="37899" grpId="0" animBg="1"/>
      <p:bldP spid="37899"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468313" y="333375"/>
            <a:ext cx="7532687" cy="563563"/>
          </a:xfrm>
        </p:spPr>
        <p:txBody>
          <a:bodyPr vert="horz" wrap="square" lIns="91440" tIns="45720" rIns="91440" bIns="45720" anchor="ctr" anchorCtr="0"/>
          <a:p>
            <a:r>
              <a:rPr lang="en-US" altLang="zh-CN" dirty="0"/>
              <a:t>5.2.6 JMP</a:t>
            </a:r>
            <a:r>
              <a:rPr lang="zh-CN" altLang="en-US" dirty="0"/>
              <a:t>指令的指令周期</a:t>
            </a:r>
            <a:endParaRPr lang="zh-CN" altLang="en-US" dirty="0"/>
          </a:p>
        </p:txBody>
      </p:sp>
      <p:sp>
        <p:nvSpPr>
          <p:cNvPr id="51203" name="Rectangle 3"/>
          <p:cNvSpPr>
            <a:spLocks noGrp="1"/>
          </p:cNvSpPr>
          <p:nvPr>
            <p:ph idx="1"/>
          </p:nvPr>
        </p:nvSpPr>
        <p:spPr/>
        <p:txBody>
          <a:bodyPr vert="horz" wrap="square" lIns="91440" tIns="45720" rIns="91440" bIns="45720" anchor="t" anchorCtr="0"/>
          <a:p>
            <a:r>
              <a:rPr lang="en-US" altLang="zh-CN" b="1" dirty="0">
                <a:solidFill>
                  <a:srgbClr val="FF3300"/>
                </a:solidFill>
              </a:rPr>
              <a:t>JMP 101</a:t>
            </a:r>
            <a:endParaRPr lang="en-US" altLang="zh-CN" b="1" dirty="0">
              <a:solidFill>
                <a:srgbClr val="FF3300"/>
              </a:solidFill>
            </a:endParaRPr>
          </a:p>
          <a:p>
            <a:r>
              <a:rPr lang="zh-CN" altLang="en-US" sz="2000" dirty="0"/>
              <a:t>单地址无条件转移指令</a:t>
            </a:r>
            <a:endParaRPr lang="zh-CN" altLang="en-US" sz="2000" dirty="0"/>
          </a:p>
          <a:p>
            <a:r>
              <a:rPr lang="en-US" altLang="zh-CN" sz="2000" dirty="0"/>
              <a:t>2</a:t>
            </a:r>
            <a:r>
              <a:rPr lang="zh-CN" altLang="en-US" sz="2000" dirty="0"/>
              <a:t>个周期</a:t>
            </a:r>
            <a:endParaRPr lang="zh-CN" altLang="en-US" sz="2000" dirty="0"/>
          </a:p>
          <a:p>
            <a:r>
              <a:rPr lang="zh-CN" altLang="en-US" dirty="0"/>
              <a:t>取指周期</a:t>
            </a:r>
            <a:endParaRPr lang="zh-CN" altLang="en-US" dirty="0"/>
          </a:p>
          <a:p>
            <a:r>
              <a:rPr lang="zh-CN" altLang="en-US" sz="2000" dirty="0"/>
              <a:t>取指周期与</a:t>
            </a:r>
            <a:r>
              <a:rPr lang="en-US" altLang="zh-CN" sz="2000" dirty="0"/>
              <a:t>MOV</a:t>
            </a:r>
            <a:r>
              <a:rPr lang="zh-CN" altLang="en-US" sz="2000" dirty="0"/>
              <a:t>相同</a:t>
            </a:r>
            <a:endParaRPr lang="zh-CN" altLang="en-US" sz="2000" dirty="0"/>
          </a:p>
          <a:p>
            <a:endParaRPr lang="zh-CN" altLang="en-US" sz="2000" dirty="0"/>
          </a:p>
          <a:p>
            <a:r>
              <a:rPr lang="zh-CN" altLang="en-US" dirty="0"/>
              <a:t>执行周期</a:t>
            </a:r>
            <a:endParaRPr lang="zh-CN" altLang="en-US" dirty="0"/>
          </a:p>
          <a:p>
            <a:endParaRPr lang="en-US" altLang="zh-CN" dirty="0"/>
          </a:p>
        </p:txBody>
      </p:sp>
      <p:pic>
        <p:nvPicPr>
          <p:cNvPr id="51204" name="Picture 4" descr="5a12"/>
          <p:cNvPicPr>
            <a:picLocks noChangeAspect="1"/>
          </p:cNvPicPr>
          <p:nvPr/>
        </p:nvPicPr>
        <p:blipFill>
          <a:blip r:embed="rId1"/>
          <a:stretch>
            <a:fillRect/>
          </a:stretch>
        </p:blipFill>
        <p:spPr>
          <a:xfrm>
            <a:off x="3708400" y="1125538"/>
            <a:ext cx="5184775" cy="5002212"/>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xfrm>
            <a:off x="395288" y="188913"/>
            <a:ext cx="8324850" cy="785812"/>
          </a:xfrm>
        </p:spPr>
        <p:txBody>
          <a:bodyPr vert="horz" wrap="square" lIns="91440" tIns="45720" rIns="91440" bIns="45720" anchor="ctr" anchorCtr="0"/>
          <a:p>
            <a:r>
              <a:rPr lang="en-US" altLang="zh-CN" dirty="0">
                <a:solidFill>
                  <a:srgbClr val="FF0000"/>
                </a:solidFill>
              </a:rPr>
              <a:t>5.2.6 JMP</a:t>
            </a:r>
            <a:r>
              <a:rPr lang="zh-CN" altLang="en-US" dirty="0">
                <a:solidFill>
                  <a:srgbClr val="FF0000"/>
                </a:solidFill>
              </a:rPr>
              <a:t>指令的指令执行周期</a:t>
            </a:r>
            <a:endParaRPr lang="zh-CN" altLang="en-US" dirty="0">
              <a:solidFill>
                <a:srgbClr val="FF0000"/>
              </a:solidFill>
            </a:endParaRPr>
          </a:p>
        </p:txBody>
      </p:sp>
      <p:sp>
        <p:nvSpPr>
          <p:cNvPr id="52227" name="Rectangle 3"/>
          <p:cNvSpPr>
            <a:spLocks noGrp="1"/>
          </p:cNvSpPr>
          <p:nvPr>
            <p:ph idx="1"/>
          </p:nvPr>
        </p:nvSpPr>
        <p:spPr/>
        <p:txBody>
          <a:bodyPr vert="horz" wrap="square" lIns="91440" tIns="45720" rIns="91440" bIns="45720" anchor="t" anchorCtr="0"/>
          <a:p>
            <a:endParaRPr lang="zh-CN" altLang="zh-CN" dirty="0"/>
          </a:p>
        </p:txBody>
      </p:sp>
      <p:pic>
        <p:nvPicPr>
          <p:cNvPr id="52228" name="Picture 4" descr="5a13"/>
          <p:cNvPicPr>
            <a:picLocks noChangeAspect="1"/>
          </p:cNvPicPr>
          <p:nvPr/>
        </p:nvPicPr>
        <p:blipFill>
          <a:blip r:embed="rId1"/>
          <a:stretch>
            <a:fillRect/>
          </a:stretch>
        </p:blipFill>
        <p:spPr>
          <a:xfrm>
            <a:off x="971550" y="836613"/>
            <a:ext cx="7129463" cy="5380037"/>
          </a:xfrm>
          <a:prstGeom prst="rect">
            <a:avLst/>
          </a:prstGeom>
          <a:noFill/>
          <a:ln w="9525">
            <a:noFill/>
          </a:ln>
        </p:spPr>
      </p:pic>
      <p:sp>
        <p:nvSpPr>
          <p:cNvPr id="40966" name="Rectangle 6"/>
          <p:cNvSpPr/>
          <p:nvPr/>
        </p:nvSpPr>
        <p:spPr>
          <a:xfrm>
            <a:off x="827088" y="6092825"/>
            <a:ext cx="7488237" cy="701675"/>
          </a:xfrm>
          <a:prstGeom prst="rect">
            <a:avLst/>
          </a:prstGeom>
          <a:solidFill>
            <a:srgbClr val="FFFFCC"/>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2000" b="1" dirty="0">
                <a:solidFill>
                  <a:srgbClr val="FF3300"/>
                </a:solidFill>
              </a:rPr>
              <a:t>① OC</a:t>
            </a:r>
            <a:r>
              <a:rPr lang="zh-CN" altLang="en-US" sz="2000" b="1" dirty="0">
                <a:solidFill>
                  <a:srgbClr val="FF3300"/>
                </a:solidFill>
              </a:rPr>
              <a:t>发生操作控制命令，打开指令寄存器</a:t>
            </a:r>
            <a:r>
              <a:rPr lang="en-US" altLang="zh-CN" sz="2000" b="1" dirty="0">
                <a:solidFill>
                  <a:srgbClr val="FF3300"/>
                </a:solidFill>
              </a:rPr>
              <a:t>IR</a:t>
            </a:r>
            <a:r>
              <a:rPr lang="zh-CN" altLang="en-US" sz="2000" b="1" dirty="0">
                <a:solidFill>
                  <a:srgbClr val="FF3300"/>
                </a:solidFill>
              </a:rPr>
              <a:t>的输出三态门，将</a:t>
            </a:r>
            <a:r>
              <a:rPr lang="en-US" altLang="zh-CN" sz="2000" b="1" dirty="0">
                <a:solidFill>
                  <a:srgbClr val="FF3300"/>
                </a:solidFill>
              </a:rPr>
              <a:t>IR</a:t>
            </a:r>
            <a:r>
              <a:rPr lang="zh-CN" altLang="en-US" sz="2000" b="1" dirty="0">
                <a:solidFill>
                  <a:srgbClr val="FF3300"/>
                </a:solidFill>
              </a:rPr>
              <a:t>中的地址码</a:t>
            </a:r>
            <a:r>
              <a:rPr lang="en-US" altLang="zh-CN" sz="2000" b="1" dirty="0">
                <a:solidFill>
                  <a:srgbClr val="FF3300"/>
                </a:solidFill>
              </a:rPr>
              <a:t>101</a:t>
            </a:r>
            <a:r>
              <a:rPr lang="zh-CN" altLang="en-US" sz="2000" b="1" dirty="0">
                <a:solidFill>
                  <a:srgbClr val="FF3300"/>
                </a:solidFill>
              </a:rPr>
              <a:t>发送到</a:t>
            </a:r>
            <a:r>
              <a:rPr lang="en-US" altLang="zh-CN" sz="2000" b="1" dirty="0">
                <a:solidFill>
                  <a:srgbClr val="FF3300"/>
                </a:solidFill>
              </a:rPr>
              <a:t>DBUS</a:t>
            </a:r>
            <a:r>
              <a:rPr lang="zh-CN" altLang="en-US" sz="2000" b="1" dirty="0">
                <a:solidFill>
                  <a:srgbClr val="FF3300"/>
                </a:solidFill>
              </a:rPr>
              <a:t>上；</a:t>
            </a:r>
            <a:endParaRPr lang="zh-CN" altLang="en-US" sz="2000" b="1" dirty="0">
              <a:solidFill>
                <a:srgbClr val="FF3300"/>
              </a:solidFill>
            </a:endParaRPr>
          </a:p>
        </p:txBody>
      </p:sp>
      <p:sp>
        <p:nvSpPr>
          <p:cNvPr id="40967" name="Rectangle 7"/>
          <p:cNvSpPr/>
          <p:nvPr/>
        </p:nvSpPr>
        <p:spPr>
          <a:xfrm>
            <a:off x="827088" y="5876925"/>
            <a:ext cx="7488237" cy="946150"/>
          </a:xfrm>
          <a:prstGeom prst="rect">
            <a:avLst/>
          </a:prstGeom>
          <a:solidFill>
            <a:srgbClr val="FFFFCC"/>
          </a:solid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1800" b="1" dirty="0">
                <a:solidFill>
                  <a:srgbClr val="0033CC"/>
                </a:solidFill>
              </a:rPr>
              <a:t>② OC</a:t>
            </a:r>
            <a:r>
              <a:rPr lang="zh-CN" altLang="en-US" sz="1800" b="1" dirty="0">
                <a:solidFill>
                  <a:srgbClr val="0033CC"/>
                </a:solidFill>
              </a:rPr>
              <a:t>发出操作控制命令，将</a:t>
            </a:r>
            <a:r>
              <a:rPr lang="en-US" altLang="zh-CN" sz="1800" b="1" dirty="0">
                <a:solidFill>
                  <a:srgbClr val="0033CC"/>
                </a:solidFill>
              </a:rPr>
              <a:t>DBUS</a:t>
            </a:r>
            <a:r>
              <a:rPr lang="zh-CN" altLang="en-US" sz="1800" b="1" dirty="0">
                <a:solidFill>
                  <a:srgbClr val="0033CC"/>
                </a:solidFill>
              </a:rPr>
              <a:t>上的地址码</a:t>
            </a:r>
            <a:r>
              <a:rPr lang="en-US" altLang="zh-CN" sz="1800" b="1" dirty="0">
                <a:solidFill>
                  <a:srgbClr val="0033CC"/>
                </a:solidFill>
              </a:rPr>
              <a:t>101</a:t>
            </a:r>
            <a:r>
              <a:rPr lang="zh-CN" altLang="en-US" sz="1800" b="1" dirty="0">
                <a:solidFill>
                  <a:srgbClr val="0033CC"/>
                </a:solidFill>
              </a:rPr>
              <a:t>打入到程序计数器</a:t>
            </a:r>
            <a:r>
              <a:rPr lang="en-US" altLang="zh-CN" sz="1800" b="1" dirty="0">
                <a:solidFill>
                  <a:srgbClr val="0033CC"/>
                </a:solidFill>
              </a:rPr>
              <a:t>PC</a:t>
            </a:r>
            <a:r>
              <a:rPr lang="zh-CN" altLang="en-US" sz="1800" b="1" dirty="0">
                <a:solidFill>
                  <a:srgbClr val="0033CC"/>
                </a:solidFill>
              </a:rPr>
              <a:t>中，</a:t>
            </a:r>
            <a:r>
              <a:rPr lang="en-US" altLang="zh-CN" sz="1800" b="1" dirty="0">
                <a:solidFill>
                  <a:srgbClr val="0033CC"/>
                </a:solidFill>
              </a:rPr>
              <a:t>PC</a:t>
            </a:r>
            <a:r>
              <a:rPr lang="zh-CN" altLang="en-US" sz="1800" b="1" dirty="0">
                <a:solidFill>
                  <a:srgbClr val="0033CC"/>
                </a:solidFill>
              </a:rPr>
              <a:t>中的原先内容</a:t>
            </a:r>
            <a:r>
              <a:rPr lang="en-US" altLang="zh-CN" sz="1800" b="1" dirty="0">
                <a:solidFill>
                  <a:srgbClr val="0033CC"/>
                </a:solidFill>
              </a:rPr>
              <a:t>106</a:t>
            </a:r>
            <a:r>
              <a:rPr lang="zh-CN" altLang="en-US" sz="1800" b="1" dirty="0">
                <a:solidFill>
                  <a:srgbClr val="0033CC"/>
                </a:solidFill>
              </a:rPr>
              <a:t>被更换。于是下一条指令不是从</a:t>
            </a:r>
            <a:r>
              <a:rPr lang="en-US" altLang="zh-CN" sz="1800" b="1" dirty="0">
                <a:solidFill>
                  <a:srgbClr val="0033CC"/>
                </a:solidFill>
              </a:rPr>
              <a:t>106</a:t>
            </a:r>
            <a:r>
              <a:rPr lang="zh-CN" altLang="en-US" sz="1800" b="1" dirty="0">
                <a:solidFill>
                  <a:srgbClr val="0033CC"/>
                </a:solidFill>
              </a:rPr>
              <a:t>号单元取出，而是转移到</a:t>
            </a:r>
            <a:r>
              <a:rPr lang="en-US" altLang="zh-CN" sz="1800" b="1" dirty="0">
                <a:solidFill>
                  <a:srgbClr val="0033CC"/>
                </a:solidFill>
              </a:rPr>
              <a:t>101</a:t>
            </a:r>
            <a:r>
              <a:rPr lang="zh-CN" altLang="en-US" sz="1800" b="1" dirty="0">
                <a:solidFill>
                  <a:srgbClr val="0033CC"/>
                </a:solidFill>
              </a:rPr>
              <a:t>号单元取出。至此</a:t>
            </a:r>
            <a:r>
              <a:rPr lang="en-US" altLang="zh-CN" sz="1800" b="1" dirty="0">
                <a:solidFill>
                  <a:srgbClr val="0033CC"/>
                </a:solidFill>
              </a:rPr>
              <a:t>JMP</a:t>
            </a:r>
            <a:r>
              <a:rPr lang="zh-CN" altLang="en-US" sz="1800" b="1" dirty="0">
                <a:solidFill>
                  <a:srgbClr val="0033CC"/>
                </a:solidFill>
              </a:rPr>
              <a:t>指令执行周期结束。</a:t>
            </a:r>
            <a:r>
              <a:rPr lang="zh-CN" altLang="en-US" sz="1800" dirty="0"/>
              <a:t></a:t>
            </a:r>
            <a:r>
              <a:rPr lang="zh-CN" altLang="en-US" sz="2000" b="1" dirty="0">
                <a:solidFill>
                  <a:srgbClr val="FF3300"/>
                </a:solidFill>
              </a:rPr>
              <a:t></a:t>
            </a:r>
            <a:endParaRPr lang="zh-CN" altLang="en-US" sz="2000" b="1"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6"/>
                                        </p:tgtEl>
                                        <p:attrNameLst>
                                          <p:attrName>style.visibility</p:attrName>
                                        </p:attrNameLst>
                                      </p:cBhvr>
                                      <p:to>
                                        <p:strVal val="visible"/>
                                      </p:to>
                                    </p:set>
                                    <p:anim calcmode="lin" valueType="num">
                                      <p:cBhvr additive="base">
                                        <p:cTn id="7" dur="500" fill="hold"/>
                                        <p:tgtEl>
                                          <p:spTgt spid="40966"/>
                                        </p:tgtEl>
                                        <p:attrNameLst>
                                          <p:attrName>ppt_x</p:attrName>
                                        </p:attrNameLst>
                                      </p:cBhvr>
                                      <p:tavLst>
                                        <p:tav tm="0">
                                          <p:val>
                                            <p:strVal val="#ppt_x"/>
                                          </p:val>
                                        </p:tav>
                                        <p:tav tm="100000">
                                          <p:val>
                                            <p:strVal val="#ppt_x"/>
                                          </p:val>
                                        </p:tav>
                                      </p:tavLst>
                                    </p:anim>
                                    <p:anim calcmode="lin" valueType="num">
                                      <p:cBhvr additive="base">
                                        <p:cTn id="8" dur="500" fill="hold"/>
                                        <p:tgtEl>
                                          <p:spTgt spid="409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40966"/>
                                        </p:tgtEl>
                                        <p:attrNameLst>
                                          <p:attrName>ppt_x</p:attrName>
                                        </p:attrNameLst>
                                      </p:cBhvr>
                                      <p:tavLst>
                                        <p:tav tm="0">
                                          <p:val>
                                            <p:strVal val="ppt_x"/>
                                          </p:val>
                                        </p:tav>
                                        <p:tav tm="100000">
                                          <p:val>
                                            <p:strVal val="ppt_x"/>
                                          </p:val>
                                        </p:tav>
                                      </p:tavLst>
                                    </p:anim>
                                    <p:anim calcmode="lin" valueType="num">
                                      <p:cBhvr additive="base">
                                        <p:cTn id="13" dur="500"/>
                                        <p:tgtEl>
                                          <p:spTgt spid="40966"/>
                                        </p:tgtEl>
                                        <p:attrNameLst>
                                          <p:attrName>ppt_y</p:attrName>
                                        </p:attrNameLst>
                                      </p:cBhvr>
                                      <p:tavLst>
                                        <p:tav tm="0">
                                          <p:val>
                                            <p:strVal val="ppt_y"/>
                                          </p:val>
                                        </p:tav>
                                        <p:tav tm="100000">
                                          <p:val>
                                            <p:strVal val="1+ppt_h/2"/>
                                          </p:val>
                                        </p:tav>
                                      </p:tavLst>
                                    </p:anim>
                                    <p:set>
                                      <p:cBhvr>
                                        <p:cTn id="14" dur="1" fill="hold">
                                          <p:stCondLst>
                                            <p:cond delay="499"/>
                                          </p:stCondLst>
                                        </p:cTn>
                                        <p:tgtEl>
                                          <p:spTgt spid="4096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67"/>
                                        </p:tgtEl>
                                        <p:attrNameLst>
                                          <p:attrName>style.visibility</p:attrName>
                                        </p:attrNameLst>
                                      </p:cBhvr>
                                      <p:to>
                                        <p:strVal val="visible"/>
                                      </p:to>
                                    </p:set>
                                    <p:anim calcmode="lin" valueType="num">
                                      <p:cBhvr additive="base">
                                        <p:cTn id="19" dur="500" fill="hold"/>
                                        <p:tgtEl>
                                          <p:spTgt spid="40967"/>
                                        </p:tgtEl>
                                        <p:attrNameLst>
                                          <p:attrName>ppt_x</p:attrName>
                                        </p:attrNameLst>
                                      </p:cBhvr>
                                      <p:tavLst>
                                        <p:tav tm="0">
                                          <p:val>
                                            <p:strVal val="#ppt_x"/>
                                          </p:val>
                                        </p:tav>
                                        <p:tav tm="100000">
                                          <p:val>
                                            <p:strVal val="#ppt_x"/>
                                          </p:val>
                                        </p:tav>
                                      </p:tavLst>
                                    </p:anim>
                                    <p:anim calcmode="lin" valueType="num">
                                      <p:cBhvr additive="base">
                                        <p:cTn id="20" dur="500" fill="hold"/>
                                        <p:tgtEl>
                                          <p:spTgt spid="4096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40967"/>
                                        </p:tgtEl>
                                        <p:attrNameLst>
                                          <p:attrName>ppt_x</p:attrName>
                                        </p:attrNameLst>
                                      </p:cBhvr>
                                      <p:tavLst>
                                        <p:tav tm="0">
                                          <p:val>
                                            <p:strVal val="ppt_x"/>
                                          </p:val>
                                        </p:tav>
                                        <p:tav tm="100000">
                                          <p:val>
                                            <p:strVal val="ppt_x"/>
                                          </p:val>
                                        </p:tav>
                                      </p:tavLst>
                                    </p:anim>
                                    <p:anim calcmode="lin" valueType="num">
                                      <p:cBhvr additive="base">
                                        <p:cTn id="25" dur="500"/>
                                        <p:tgtEl>
                                          <p:spTgt spid="40967"/>
                                        </p:tgtEl>
                                        <p:attrNameLst>
                                          <p:attrName>ppt_y</p:attrName>
                                        </p:attrNameLst>
                                      </p:cBhvr>
                                      <p:tavLst>
                                        <p:tav tm="0">
                                          <p:val>
                                            <p:strVal val="ppt_y"/>
                                          </p:val>
                                        </p:tav>
                                        <p:tav tm="100000">
                                          <p:val>
                                            <p:strVal val="1+ppt_h/2"/>
                                          </p:val>
                                        </p:tav>
                                      </p:tavLst>
                                    </p:anim>
                                    <p:set>
                                      <p:cBhvr>
                                        <p:cTn id="26" dur="1" fill="hold">
                                          <p:stCondLst>
                                            <p:cond delay="499"/>
                                          </p:stCondLst>
                                        </p:cTn>
                                        <p:tgtEl>
                                          <p:spTgt spid="409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6" grpId="0" animBg="1"/>
      <p:bldP spid="40966" grpId="1" animBg="1"/>
      <p:bldP spid="40967" grpId="0" animBg="1"/>
      <p:bldP spid="40967" grpId="1"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a:xfrm>
            <a:off x="611505" y="189230"/>
            <a:ext cx="8991600" cy="723900"/>
          </a:xfrm>
        </p:spPr>
        <p:txBody>
          <a:bodyPr/>
          <a:lstStyle/>
          <a:p>
            <a:pPr eaLnBrk="1" hangingPunct="1"/>
            <a:r>
              <a:rPr lang="zh-CN" altLang="en-US" dirty="0"/>
              <a:t>总结：每条指令的执行步骤</a:t>
            </a:r>
            <a:endParaRPr lang="zh-CN" altLang="en-US" dirty="0"/>
          </a:p>
        </p:txBody>
      </p:sp>
      <p:sp>
        <p:nvSpPr>
          <p:cNvPr id="449539" name="Rectangle 3"/>
          <p:cNvSpPr>
            <a:spLocks noGrp="1" noChangeArrowheads="1"/>
          </p:cNvSpPr>
          <p:nvPr>
            <p:ph idx="1"/>
          </p:nvPr>
        </p:nvSpPr>
        <p:spPr>
          <a:xfrm>
            <a:off x="611562" y="913187"/>
            <a:ext cx="7815262" cy="5014912"/>
          </a:xfrm>
        </p:spPr>
        <p:txBody>
          <a:bodyPr/>
          <a:lstStyle/>
          <a:p>
            <a:pPr eaLnBrk="1" hangingPunct="1">
              <a:buClr>
                <a:schemeClr val="tx1"/>
              </a:buClr>
              <a:buFont typeface="Wingdings 2" pitchFamily="18" charset="2"/>
              <a:buNone/>
            </a:pPr>
            <a:r>
              <a:rPr lang="en-US" altLang="zh-CN" sz="2800" dirty="0">
                <a:latin typeface="楷体_GB2312" pitchFamily="49" charset="-122"/>
              </a:rPr>
              <a:t>1</a:t>
            </a:r>
            <a:r>
              <a:rPr lang="zh-CN" altLang="en-US" sz="2800" dirty="0">
                <a:latin typeface="楷体_GB2312" pitchFamily="49" charset="-122"/>
              </a:rPr>
              <a:t>）读取指令</a:t>
            </a:r>
            <a:endParaRPr lang="zh-CN" altLang="en-US" sz="2800" dirty="0">
              <a:latin typeface="楷体_GB2312" pitchFamily="49" charset="-122"/>
            </a:endParaRPr>
          </a:p>
          <a:p>
            <a:pPr eaLnBrk="1" hangingPunct="1">
              <a:buClr>
                <a:schemeClr val="tx1"/>
              </a:buClr>
              <a:buFont typeface="Wingdings 2" pitchFamily="18" charset="2"/>
              <a:buNone/>
            </a:pPr>
            <a:r>
              <a:rPr lang="zh-CN" altLang="en-US" sz="2400" dirty="0">
                <a:latin typeface="楷体_GB2312" pitchFamily="49" charset="-122"/>
              </a:rPr>
              <a:t>      </a:t>
            </a:r>
            <a:r>
              <a:rPr lang="zh-CN" altLang="en-US" sz="2000" dirty="0">
                <a:latin typeface="楷体_GB2312" pitchFamily="49" charset="-122"/>
              </a:rPr>
              <a:t>指令地址送入主存地址寄存器</a:t>
            </a:r>
            <a:endParaRPr lang="zh-CN" altLang="en-US" sz="2000" dirty="0">
              <a:latin typeface="楷体_GB2312" pitchFamily="49" charset="-122"/>
            </a:endParaRPr>
          </a:p>
          <a:p>
            <a:pPr lvl="2" eaLnBrk="1" hangingPunct="1">
              <a:buClr>
                <a:schemeClr val="tx1"/>
              </a:buClr>
              <a:buFont typeface="Wingdings" panose="05000000000000000000" pitchFamily="2" charset="2"/>
              <a:buNone/>
            </a:pPr>
            <a:r>
              <a:rPr lang="zh-CN" altLang="en-US" sz="2000" dirty="0">
                <a:latin typeface="宋体" panose="02010600030101010101" pitchFamily="2" charset="-122"/>
              </a:rPr>
              <a:t>读主存，读出内容送入指令寄存器</a:t>
            </a:r>
            <a:endParaRPr lang="zh-CN" altLang="en-US" sz="2000" dirty="0">
              <a:latin typeface="宋体" panose="02010600030101010101" pitchFamily="2" charset="-122"/>
            </a:endParaRPr>
          </a:p>
          <a:p>
            <a:pPr eaLnBrk="1" hangingPunct="1">
              <a:lnSpc>
                <a:spcPct val="120000"/>
              </a:lnSpc>
              <a:buClr>
                <a:schemeClr val="tx1"/>
              </a:buClr>
              <a:buFont typeface="Wingdings 2" pitchFamily="18" charset="2"/>
              <a:buNone/>
            </a:pPr>
            <a:r>
              <a:rPr lang="en-US" altLang="zh-CN" sz="2800" dirty="0">
                <a:latin typeface="楷体_GB2312" pitchFamily="49" charset="-122"/>
              </a:rPr>
              <a:t>2</a:t>
            </a:r>
            <a:r>
              <a:rPr lang="zh-CN" altLang="en-US" sz="2800" dirty="0">
                <a:latin typeface="楷体_GB2312" pitchFamily="49" charset="-122"/>
              </a:rPr>
              <a:t>）分析指令</a:t>
            </a:r>
            <a:endParaRPr lang="zh-CN" altLang="en-US" sz="2800" dirty="0">
              <a:latin typeface="楷体_GB2312" pitchFamily="49" charset="-122"/>
            </a:endParaRPr>
          </a:p>
          <a:p>
            <a:pPr eaLnBrk="1" hangingPunct="1">
              <a:buClr>
                <a:schemeClr val="tx1"/>
              </a:buClr>
              <a:buFont typeface="Wingdings 2" pitchFamily="18" charset="2"/>
              <a:buNone/>
            </a:pPr>
            <a:r>
              <a:rPr lang="en-US" altLang="zh-CN" sz="2800" dirty="0">
                <a:latin typeface="楷体_GB2312" pitchFamily="49" charset="-122"/>
              </a:rPr>
              <a:t>3</a:t>
            </a:r>
            <a:r>
              <a:rPr lang="zh-CN" altLang="en-US" sz="2800" dirty="0">
                <a:latin typeface="楷体_GB2312" pitchFamily="49" charset="-122"/>
              </a:rPr>
              <a:t>）按指令规定内容执行指令</a:t>
            </a:r>
            <a:endParaRPr lang="zh-CN" altLang="en-US" sz="2800" dirty="0">
              <a:latin typeface="楷体_GB2312" pitchFamily="49" charset="-122"/>
            </a:endParaRPr>
          </a:p>
          <a:p>
            <a:pPr lvl="2" eaLnBrk="1" hangingPunct="1">
              <a:buClr>
                <a:schemeClr val="tx1"/>
              </a:buClr>
              <a:buFont typeface="Wingdings" panose="05000000000000000000" pitchFamily="2" charset="2"/>
              <a:buNone/>
            </a:pPr>
            <a:r>
              <a:rPr lang="zh-CN" altLang="en-US" sz="2000" dirty="0">
                <a:latin typeface="楷体_GB2312" pitchFamily="49" charset="-122"/>
                <a:ea typeface="楷体_GB2312" pitchFamily="49" charset="-122"/>
              </a:rPr>
              <a:t>           </a:t>
            </a:r>
            <a:r>
              <a:rPr lang="zh-CN" altLang="en-US" sz="2000" dirty="0">
                <a:latin typeface="宋体" panose="02010600030101010101" pitchFamily="2" charset="-122"/>
              </a:rPr>
              <a:t>不同指令的操作步骤数</a:t>
            </a:r>
            <a:endParaRPr lang="zh-CN" altLang="en-US" sz="2000" dirty="0">
              <a:latin typeface="宋体" panose="02010600030101010101" pitchFamily="2" charset="-122"/>
            </a:endParaRPr>
          </a:p>
          <a:p>
            <a:pPr lvl="2">
              <a:buClr>
                <a:schemeClr val="tx1"/>
              </a:buClr>
              <a:buNone/>
            </a:pPr>
            <a:r>
              <a:rPr lang="zh-CN" altLang="en-US" sz="2000" dirty="0">
                <a:latin typeface="楷体_GB2312" pitchFamily="49" charset="-122"/>
                <a:ea typeface="楷体_GB2312" pitchFamily="49" charset="-122"/>
              </a:rPr>
              <a:t>           </a:t>
            </a:r>
            <a:r>
              <a:rPr lang="zh-CN" altLang="en-US" sz="2000" dirty="0">
                <a:latin typeface="宋体" panose="02010600030101010101" pitchFamily="2" charset="-122"/>
              </a:rPr>
              <a:t>和具体操作内容差异很大</a:t>
            </a:r>
            <a:r>
              <a:rPr lang="en-US" altLang="zh-CN" sz="2000" dirty="0">
                <a:latin typeface="宋体" panose="02010600030101010101" pitchFamily="2" charset="-122"/>
              </a:rPr>
              <a:t>,</a:t>
            </a:r>
            <a:endParaRPr lang="en-US" altLang="zh-CN" sz="2000" dirty="0">
              <a:latin typeface="宋体" panose="02010600030101010101" pitchFamily="2" charset="-122"/>
            </a:endParaRPr>
          </a:p>
          <a:p>
            <a:pPr eaLnBrk="1" hangingPunct="1">
              <a:spcBef>
                <a:spcPct val="0"/>
              </a:spcBef>
              <a:buClrTx/>
              <a:buFontTx/>
              <a:buNone/>
            </a:pPr>
            <a:r>
              <a:rPr lang="zh-CN" altLang="en-US" sz="2400" dirty="0">
                <a:latin typeface="楷体_GB2312" pitchFamily="49" charset="-122"/>
              </a:rPr>
              <a:t>               </a:t>
            </a:r>
            <a:r>
              <a:rPr lang="zh-CN" altLang="en-US" sz="2000" dirty="0">
                <a:latin typeface="楷体_GB2312" pitchFamily="49" charset="-122"/>
              </a:rPr>
              <a:t>是每一条指令的特定操作</a:t>
            </a:r>
            <a:endParaRPr lang="zh-CN" altLang="en-US" sz="2000" dirty="0">
              <a:latin typeface="楷体_GB2312" pitchFamily="49" charset="-122"/>
            </a:endParaRPr>
          </a:p>
          <a:p>
            <a:pPr eaLnBrk="1" hangingPunct="1">
              <a:spcBef>
                <a:spcPct val="0"/>
              </a:spcBef>
              <a:buClrTx/>
              <a:buFontTx/>
              <a:buNone/>
            </a:pPr>
            <a:r>
              <a:rPr lang="zh-CN" altLang="en-US" sz="2400" dirty="0">
                <a:latin typeface="楷体_GB2312" pitchFamily="49" charset="-122"/>
              </a:rPr>
              <a:t>			   </a:t>
            </a:r>
            <a:r>
              <a:rPr lang="zh-CN" altLang="en-US" sz="2000" dirty="0">
                <a:latin typeface="楷体_GB2312" pitchFamily="49" charset="-122"/>
              </a:rPr>
              <a:t>可能执行一次或多次</a:t>
            </a:r>
            <a:r>
              <a:rPr lang="en-US" altLang="zh-CN" sz="2800" dirty="0">
                <a:latin typeface="楷体_GB2312" pitchFamily="49" charset="-122"/>
              </a:rPr>
              <a:t>          </a:t>
            </a:r>
            <a:endParaRPr lang="en-US" altLang="zh-CN" sz="2800" dirty="0">
              <a:latin typeface="楷体_GB2312" pitchFamily="49" charset="-122"/>
            </a:endParaRPr>
          </a:p>
          <a:p>
            <a:pPr eaLnBrk="1" hangingPunct="1">
              <a:lnSpc>
                <a:spcPct val="120000"/>
              </a:lnSpc>
              <a:spcBef>
                <a:spcPct val="50000"/>
              </a:spcBef>
              <a:buClr>
                <a:schemeClr val="tx1"/>
              </a:buClr>
              <a:buFont typeface="Wingdings 2" pitchFamily="18" charset="2"/>
              <a:buNone/>
            </a:pPr>
            <a:r>
              <a:rPr lang="en-US" altLang="zh-CN" sz="2800" dirty="0">
                <a:latin typeface="楷体_GB2312" pitchFamily="49" charset="-122"/>
              </a:rPr>
              <a:t>4</a:t>
            </a:r>
            <a:r>
              <a:rPr lang="zh-CN" altLang="en-US" sz="2800" dirty="0">
                <a:latin typeface="楷体_GB2312" pitchFamily="49" charset="-122"/>
              </a:rPr>
              <a:t>）检查有无中断请求</a:t>
            </a:r>
            <a:endParaRPr lang="zh-CN" altLang="en-US" sz="2800" dirty="0">
              <a:latin typeface="楷体_GB2312" pitchFamily="49" charset="-122"/>
            </a:endParaRPr>
          </a:p>
          <a:p>
            <a:pPr lvl="2" eaLnBrk="1" hangingPunct="1">
              <a:buClr>
                <a:schemeClr val="tx1"/>
              </a:buClr>
              <a:buNone/>
            </a:pPr>
            <a:r>
              <a:rPr lang="zh-CN" altLang="en-US" dirty="0">
                <a:latin typeface="宋体" panose="02010600030101010101" pitchFamily="2" charset="-122"/>
              </a:rPr>
              <a:t>若有，则响应中断并转中断处理</a:t>
            </a:r>
            <a:endParaRPr lang="zh-CN" altLang="en-US" dirty="0">
              <a:latin typeface="宋体" panose="02010600030101010101" pitchFamily="2" charset="-122"/>
            </a:endParaRPr>
          </a:p>
          <a:p>
            <a:pPr lvl="2">
              <a:buClr>
                <a:schemeClr val="tx1"/>
              </a:buClr>
              <a:buNone/>
            </a:pPr>
            <a:r>
              <a:rPr lang="zh-CN" altLang="en-US" dirty="0">
                <a:latin typeface="宋体" panose="02010600030101010101" pitchFamily="2" charset="-122"/>
              </a:rPr>
              <a:t>若无，则转入下一条指令的执行过程</a:t>
            </a:r>
            <a:endParaRPr lang="zh-CN" altLang="en-US" dirty="0">
              <a:latin typeface="宋体" panose="02010600030101010101" pitchFamily="2" charset="-122"/>
            </a:endParaRPr>
          </a:p>
        </p:txBody>
      </p:sp>
      <p:sp>
        <p:nvSpPr>
          <p:cNvPr id="35845" name="Text Box 5"/>
          <p:cNvSpPr txBox="1">
            <a:spLocks noChangeArrowheads="1"/>
          </p:cNvSpPr>
          <p:nvPr/>
        </p:nvSpPr>
        <p:spPr bwMode="auto">
          <a:xfrm>
            <a:off x="8028167" y="2421276"/>
            <a:ext cx="553998" cy="2819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vert="eaVert" wrap="none" anchor="ct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400" dirty="0">
                <a:latin typeface="楷体" panose="02010609060101010101" pitchFamily="49" charset="-122"/>
                <a:ea typeface="楷体" panose="02010609060101010101" pitchFamily="49" charset="-122"/>
              </a:rPr>
              <a:t>形成下一条指令地址</a:t>
            </a:r>
            <a:endParaRPr lang="zh-CN" altLang="en-US" sz="2000" dirty="0">
              <a:solidFill>
                <a:schemeClr val="tx2"/>
              </a:solidFill>
              <a:latin typeface="楷体" panose="02010609060101010101" pitchFamily="49" charset="-122"/>
              <a:ea typeface="楷体" panose="02010609060101010101" pitchFamily="49" charset="-122"/>
            </a:endParaRPr>
          </a:p>
        </p:txBody>
      </p:sp>
      <p:sp>
        <p:nvSpPr>
          <p:cNvPr id="449545" name="Freeform 9"/>
          <p:cNvSpPr/>
          <p:nvPr/>
        </p:nvSpPr>
        <p:spPr bwMode="auto">
          <a:xfrm>
            <a:off x="5459095" y="1062355"/>
            <a:ext cx="3509645" cy="5050155"/>
          </a:xfrm>
          <a:custGeom>
            <a:avLst/>
            <a:gdLst>
              <a:gd name="T0" fmla="*/ 2147483646 w 3264"/>
              <a:gd name="T1" fmla="*/ 2147483646 h 2880"/>
              <a:gd name="T2" fmla="*/ 2147483646 w 3264"/>
              <a:gd name="T3" fmla="*/ 2147483646 h 2880"/>
              <a:gd name="T4" fmla="*/ 2147483646 w 3264"/>
              <a:gd name="T5" fmla="*/ 0 h 2880"/>
              <a:gd name="T6" fmla="*/ 0 w 3264"/>
              <a:gd name="T7" fmla="*/ 0 h 2880"/>
              <a:gd name="T8" fmla="*/ 0 60000 65536"/>
              <a:gd name="T9" fmla="*/ 0 60000 65536"/>
              <a:gd name="T10" fmla="*/ 0 60000 65536"/>
              <a:gd name="T11" fmla="*/ 0 60000 65536"/>
              <a:gd name="T12" fmla="*/ 0 w 3264"/>
              <a:gd name="T13" fmla="*/ 0 h 2880"/>
              <a:gd name="T14" fmla="*/ 3264 w 3264"/>
              <a:gd name="T15" fmla="*/ 2880 h 2880"/>
            </a:gdLst>
            <a:ahLst/>
            <a:cxnLst>
              <a:cxn ang="T8">
                <a:pos x="T0" y="T1"/>
              </a:cxn>
              <a:cxn ang="T9">
                <a:pos x="T2" y="T3"/>
              </a:cxn>
              <a:cxn ang="T10">
                <a:pos x="T4" y="T5"/>
              </a:cxn>
              <a:cxn ang="T11">
                <a:pos x="T6" y="T7"/>
              </a:cxn>
            </a:cxnLst>
            <a:rect l="T12" t="T13" r="T14" b="T15"/>
            <a:pathLst>
              <a:path w="3264" h="2880">
                <a:moveTo>
                  <a:pt x="2208" y="2880"/>
                </a:moveTo>
                <a:lnTo>
                  <a:pt x="3264" y="2880"/>
                </a:lnTo>
                <a:lnTo>
                  <a:pt x="3264" y="0"/>
                </a:lnTo>
                <a:lnTo>
                  <a:pt x="0" y="0"/>
                </a:lnTo>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nchor="ctr">
            <a:noAutofit/>
          </a:bodyPr>
          <a:lstStyle/>
          <a:p>
            <a:endParaRPr lang="zh-CN" altLang="en-US"/>
          </a:p>
        </p:txBody>
      </p:sp>
      <p:sp>
        <p:nvSpPr>
          <p:cNvPr id="449547" name="Text Box 11"/>
          <p:cNvSpPr txBox="1">
            <a:spLocks noChangeArrowheads="1"/>
          </p:cNvSpPr>
          <p:nvPr/>
        </p:nvSpPr>
        <p:spPr bwMode="auto">
          <a:xfrm>
            <a:off x="334963" y="3386138"/>
            <a:ext cx="2286000" cy="1333500"/>
          </a:xfrm>
          <a:prstGeom prst="rect">
            <a:avLst/>
          </a:prstGeom>
          <a:noFill/>
          <a:ln w="222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lang="en-US" altLang="zh-CN" sz="2000" dirty="0">
                <a:ea typeface="楷体" panose="02010609060101010101" pitchFamily="49" charset="-122"/>
                <a:cs typeface="Times New Roman" panose="02020603050405020304" pitchFamily="18" charset="0"/>
              </a:rPr>
              <a:t>R_R</a:t>
            </a:r>
            <a:r>
              <a:rPr lang="zh-CN" altLang="en-US" sz="2000" dirty="0">
                <a:ea typeface="楷体" panose="02010609060101010101" pitchFamily="49" charset="-122"/>
                <a:cs typeface="Times New Roman" panose="02020603050405020304" pitchFamily="18" charset="0"/>
              </a:rPr>
              <a:t>类型指令</a:t>
            </a:r>
            <a:endParaRPr lang="zh-CN" altLang="en-US" sz="20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000" dirty="0">
                <a:ea typeface="楷体" panose="02010609060101010101" pitchFamily="49" charset="-122"/>
                <a:cs typeface="Times New Roman" panose="02020603050405020304" pitchFamily="18" charset="0"/>
              </a:rPr>
              <a:t>读写内存类型指令</a:t>
            </a:r>
            <a:endParaRPr lang="zh-CN" altLang="en-US" sz="20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000" dirty="0">
                <a:ea typeface="楷体" panose="02010609060101010101" pitchFamily="49" charset="-122"/>
                <a:cs typeface="Times New Roman" panose="02020603050405020304" pitchFamily="18" charset="0"/>
              </a:rPr>
              <a:t>输入输出类型指令</a:t>
            </a:r>
            <a:endParaRPr lang="zh-CN" altLang="en-US" sz="20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000" dirty="0">
                <a:ea typeface="楷体" panose="02010609060101010101" pitchFamily="49" charset="-122"/>
                <a:cs typeface="Times New Roman" panose="02020603050405020304" pitchFamily="18" charset="0"/>
              </a:rPr>
              <a:t>其他类型指令</a:t>
            </a:r>
            <a:endParaRPr lang="zh-CN" altLang="en-US" sz="2000" dirty="0">
              <a:ea typeface="楷体" panose="02010609060101010101" pitchFamily="49" charset="-122"/>
              <a:cs typeface="Times New Roman" panose="02020603050405020304" pitchFamily="18" charset="0"/>
            </a:endParaRPr>
          </a:p>
        </p:txBody>
      </p:sp>
      <p:sp>
        <p:nvSpPr>
          <p:cNvPr id="449549" name="Text Box 13"/>
          <p:cNvSpPr txBox="1">
            <a:spLocks noChangeArrowheads="1"/>
          </p:cNvSpPr>
          <p:nvPr/>
        </p:nvSpPr>
        <p:spPr bwMode="auto">
          <a:xfrm>
            <a:off x="258763" y="1393825"/>
            <a:ext cx="1295400" cy="723900"/>
          </a:xfrm>
          <a:prstGeom prst="rect">
            <a:avLst/>
          </a:prstGeom>
          <a:noFill/>
          <a:ln w="222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2000" dirty="0">
                <a:latin typeface="楷体" panose="02010609060101010101" pitchFamily="49" charset="-122"/>
                <a:ea typeface="楷体" panose="02010609060101010101" pitchFamily="49" charset="-122"/>
              </a:rPr>
              <a:t>是一次读</a:t>
            </a:r>
            <a:endParaRPr lang="zh-CN" altLang="en-US" sz="2000" dirty="0">
              <a:latin typeface="楷体" panose="02010609060101010101" pitchFamily="49" charset="-122"/>
              <a:ea typeface="楷体" panose="02010609060101010101" pitchFamily="49" charset="-122"/>
            </a:endParaRPr>
          </a:p>
          <a:p>
            <a:pPr eaLnBrk="1" hangingPunct="1">
              <a:spcBef>
                <a:spcPct val="0"/>
              </a:spcBef>
              <a:buClrTx/>
              <a:buFontTx/>
              <a:buNone/>
            </a:pPr>
            <a:r>
              <a:rPr lang="zh-CN" altLang="en-US" sz="2000" dirty="0">
                <a:latin typeface="楷体" panose="02010609060101010101" pitchFamily="49" charset="-122"/>
                <a:ea typeface="楷体" panose="02010609060101010101" pitchFamily="49" charset="-122"/>
              </a:rPr>
              <a:t>内存操作</a:t>
            </a:r>
            <a:endParaRPr lang="zh-CN" altLang="en-US" sz="2000" dirty="0">
              <a:latin typeface="楷体" panose="02010609060101010101" pitchFamily="49" charset="-122"/>
              <a:ea typeface="楷体" panose="02010609060101010101" pitchFamily="49" charset="-122"/>
            </a:endParaRPr>
          </a:p>
        </p:txBody>
      </p:sp>
      <p:sp>
        <p:nvSpPr>
          <p:cNvPr id="449550" name="Text Box 14"/>
          <p:cNvSpPr txBox="1">
            <a:spLocks noChangeArrowheads="1"/>
          </p:cNvSpPr>
          <p:nvPr/>
        </p:nvSpPr>
        <p:spPr bwMode="auto">
          <a:xfrm>
            <a:off x="7092315" y="1523048"/>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ea typeface="宋体" panose="02010600030101010101" pitchFamily="2" charset="-122"/>
              </a:rPr>
              <a:t>公共操作</a:t>
            </a:r>
            <a:endParaRPr lang="zh-CN" altLang="en-US" sz="2000">
              <a:ea typeface="宋体" panose="02010600030101010101" pitchFamily="2" charset="-122"/>
            </a:endParaRPr>
          </a:p>
        </p:txBody>
      </p:sp>
      <p:sp>
        <p:nvSpPr>
          <p:cNvPr id="449551" name="Text Box 15"/>
          <p:cNvSpPr txBox="1">
            <a:spLocks noChangeArrowheads="1"/>
          </p:cNvSpPr>
          <p:nvPr/>
        </p:nvSpPr>
        <p:spPr bwMode="auto">
          <a:xfrm>
            <a:off x="6678930" y="5815648"/>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ea typeface="宋体" panose="02010600030101010101" pitchFamily="2" charset="-122"/>
              </a:rPr>
              <a:t>公共操作</a:t>
            </a:r>
            <a:endParaRPr lang="zh-CN" altLang="en-US" sz="2000">
              <a:ea typeface="宋体" panose="02010600030101010101" pitchFamily="2" charset="-122"/>
            </a:endParaRPr>
          </a:p>
        </p:txBody>
      </p:sp>
      <p:sp>
        <p:nvSpPr>
          <p:cNvPr id="449553" name="AutoShape 17"/>
          <p:cNvSpPr/>
          <p:nvPr/>
        </p:nvSpPr>
        <p:spPr bwMode="auto">
          <a:xfrm>
            <a:off x="6587808" y="1341120"/>
            <a:ext cx="376237" cy="762000"/>
          </a:xfrm>
          <a:prstGeom prst="rightBrace">
            <a:avLst>
              <a:gd name="adj1" fmla="val 16878"/>
              <a:gd name="adj2" fmla="val 50000"/>
            </a:avLst>
          </a:prstGeom>
          <a:noFill/>
          <a:ln w="2222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49554" name="AutoShape 18"/>
          <p:cNvSpPr/>
          <p:nvPr/>
        </p:nvSpPr>
        <p:spPr bwMode="auto">
          <a:xfrm>
            <a:off x="6396401" y="5542086"/>
            <a:ext cx="376237" cy="989012"/>
          </a:xfrm>
          <a:prstGeom prst="rightBrace">
            <a:avLst>
              <a:gd name="adj1" fmla="val 21906"/>
              <a:gd name="adj2" fmla="val 50000"/>
            </a:avLst>
          </a:prstGeom>
          <a:noFill/>
          <a:ln w="2222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9539">
                                            <p:txEl>
                                              <p:pRg st="0" end="0"/>
                                            </p:txEl>
                                          </p:spTgt>
                                        </p:tgtEl>
                                        <p:attrNameLst>
                                          <p:attrName>style.visibility</p:attrName>
                                        </p:attrNameLst>
                                      </p:cBhvr>
                                      <p:to>
                                        <p:strVal val="visible"/>
                                      </p:to>
                                    </p:set>
                                    <p:animEffect transition="in" filter="wipe(left)">
                                      <p:cBhvr>
                                        <p:cTn id="7" dur="500"/>
                                        <p:tgtEl>
                                          <p:spTgt spid="449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9539">
                                            <p:txEl>
                                              <p:pRg st="1" end="1"/>
                                            </p:txEl>
                                          </p:spTgt>
                                        </p:tgtEl>
                                        <p:attrNameLst>
                                          <p:attrName>style.visibility</p:attrName>
                                        </p:attrNameLst>
                                      </p:cBhvr>
                                      <p:to>
                                        <p:strVal val="visible"/>
                                      </p:to>
                                    </p:set>
                                    <p:animEffect transition="in" filter="wipe(left)">
                                      <p:cBhvr>
                                        <p:cTn id="12" dur="500"/>
                                        <p:tgtEl>
                                          <p:spTgt spid="449539">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49539">
                                            <p:txEl>
                                              <p:pRg st="2" end="2"/>
                                            </p:txEl>
                                          </p:spTgt>
                                        </p:tgtEl>
                                        <p:attrNameLst>
                                          <p:attrName>style.visibility</p:attrName>
                                        </p:attrNameLst>
                                      </p:cBhvr>
                                      <p:to>
                                        <p:strVal val="visible"/>
                                      </p:to>
                                    </p:set>
                                    <p:animEffect transition="in" filter="wipe(left)">
                                      <p:cBhvr>
                                        <p:cTn id="15" dur="500"/>
                                        <p:tgtEl>
                                          <p:spTgt spid="44953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49549"/>
                                        </p:tgtEl>
                                        <p:attrNameLst>
                                          <p:attrName>style.visibility</p:attrName>
                                        </p:attrNameLst>
                                      </p:cBhvr>
                                      <p:to>
                                        <p:strVal val="visible"/>
                                      </p:to>
                                    </p:set>
                                    <p:animEffect transition="in" filter="wipe(left)">
                                      <p:cBhvr>
                                        <p:cTn id="20" dur="500"/>
                                        <p:tgtEl>
                                          <p:spTgt spid="44954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49553"/>
                                        </p:tgtEl>
                                        <p:attrNameLst>
                                          <p:attrName>style.visibility</p:attrName>
                                        </p:attrNameLst>
                                      </p:cBhvr>
                                      <p:to>
                                        <p:strVal val="visible"/>
                                      </p:to>
                                    </p:set>
                                    <p:animEffect transition="in" filter="dissolve">
                                      <p:cBhvr>
                                        <p:cTn id="23" dur="500"/>
                                        <p:tgtEl>
                                          <p:spTgt spid="44955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49550"/>
                                        </p:tgtEl>
                                        <p:attrNameLst>
                                          <p:attrName>style.visibility</p:attrName>
                                        </p:attrNameLst>
                                      </p:cBhvr>
                                      <p:to>
                                        <p:strVal val="visible"/>
                                      </p:to>
                                    </p:set>
                                    <p:animEffect transition="in" filter="dissolve">
                                      <p:cBhvr>
                                        <p:cTn id="28" dur="500"/>
                                        <p:tgtEl>
                                          <p:spTgt spid="4495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49539">
                                            <p:txEl>
                                              <p:pRg st="3" end="3"/>
                                            </p:txEl>
                                          </p:spTgt>
                                        </p:tgtEl>
                                        <p:attrNameLst>
                                          <p:attrName>style.visibility</p:attrName>
                                        </p:attrNameLst>
                                      </p:cBhvr>
                                      <p:to>
                                        <p:strVal val="visible"/>
                                      </p:to>
                                    </p:set>
                                    <p:animEffect transition="in" filter="wipe(left)">
                                      <p:cBhvr>
                                        <p:cTn id="33" dur="500"/>
                                        <p:tgtEl>
                                          <p:spTgt spid="449539">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49539">
                                            <p:txEl>
                                              <p:pRg st="4" end="4"/>
                                            </p:txEl>
                                          </p:spTgt>
                                        </p:tgtEl>
                                        <p:attrNameLst>
                                          <p:attrName>style.visibility</p:attrName>
                                        </p:attrNameLst>
                                      </p:cBhvr>
                                      <p:to>
                                        <p:strVal val="visible"/>
                                      </p:to>
                                    </p:set>
                                    <p:animEffect transition="in" filter="wipe(left)">
                                      <p:cBhvr>
                                        <p:cTn id="38" dur="500"/>
                                        <p:tgtEl>
                                          <p:spTgt spid="449539">
                                            <p:txEl>
                                              <p:pRg st="4" end="4"/>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449539">
                                            <p:txEl>
                                              <p:pRg st="5" end="5"/>
                                            </p:txEl>
                                          </p:spTgt>
                                        </p:tgtEl>
                                        <p:attrNameLst>
                                          <p:attrName>style.visibility</p:attrName>
                                        </p:attrNameLst>
                                      </p:cBhvr>
                                      <p:to>
                                        <p:strVal val="visible"/>
                                      </p:to>
                                    </p:set>
                                    <p:animEffect transition="in" filter="wipe(left)">
                                      <p:cBhvr>
                                        <p:cTn id="41" dur="500"/>
                                        <p:tgtEl>
                                          <p:spTgt spid="449539">
                                            <p:txEl>
                                              <p:pRg st="5" end="5"/>
                                            </p:txEl>
                                          </p:spTgt>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449539">
                                            <p:txEl>
                                              <p:pRg st="6" end="6"/>
                                            </p:txEl>
                                          </p:spTgt>
                                        </p:tgtEl>
                                        <p:attrNameLst>
                                          <p:attrName>style.visibility</p:attrName>
                                        </p:attrNameLst>
                                      </p:cBhvr>
                                      <p:to>
                                        <p:strVal val="visible"/>
                                      </p:to>
                                    </p:set>
                                    <p:animEffect transition="in" filter="wipe(left)">
                                      <p:cBhvr>
                                        <p:cTn id="44" dur="500"/>
                                        <p:tgtEl>
                                          <p:spTgt spid="44953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49539">
                                            <p:txEl>
                                              <p:pRg st="7" end="7"/>
                                            </p:txEl>
                                          </p:spTgt>
                                        </p:tgtEl>
                                        <p:attrNameLst>
                                          <p:attrName>style.visibility</p:attrName>
                                        </p:attrNameLst>
                                      </p:cBhvr>
                                      <p:to>
                                        <p:strVal val="visible"/>
                                      </p:to>
                                    </p:set>
                                    <p:animEffect transition="in" filter="wipe(left)">
                                      <p:cBhvr>
                                        <p:cTn id="49" dur="500"/>
                                        <p:tgtEl>
                                          <p:spTgt spid="449539">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49539">
                                            <p:txEl>
                                              <p:pRg st="8" end="8"/>
                                            </p:txEl>
                                          </p:spTgt>
                                        </p:tgtEl>
                                        <p:attrNameLst>
                                          <p:attrName>style.visibility</p:attrName>
                                        </p:attrNameLst>
                                      </p:cBhvr>
                                      <p:to>
                                        <p:strVal val="visible"/>
                                      </p:to>
                                    </p:set>
                                    <p:animEffect transition="in" filter="wipe(left)">
                                      <p:cBhvr>
                                        <p:cTn id="54" dur="500"/>
                                        <p:tgtEl>
                                          <p:spTgt spid="449539">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49547"/>
                                        </p:tgtEl>
                                        <p:attrNameLst>
                                          <p:attrName>style.visibility</p:attrName>
                                        </p:attrNameLst>
                                      </p:cBhvr>
                                      <p:to>
                                        <p:strVal val="visible"/>
                                      </p:to>
                                    </p:set>
                                    <p:animEffect transition="in" filter="wipe(left)">
                                      <p:cBhvr>
                                        <p:cTn id="59" dur="500"/>
                                        <p:tgtEl>
                                          <p:spTgt spid="449547"/>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5845"/>
                                        </p:tgtEl>
                                        <p:attrNameLst>
                                          <p:attrName>style.visibility</p:attrName>
                                        </p:attrNameLst>
                                      </p:cBhvr>
                                      <p:to>
                                        <p:strVal val="visible"/>
                                      </p:to>
                                    </p:set>
                                    <p:animEffect transition="in" filter="blinds(horizontal)">
                                      <p:cBhvr>
                                        <p:cTn id="64" dur="500"/>
                                        <p:tgtEl>
                                          <p:spTgt spid="3584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449539">
                                            <p:txEl>
                                              <p:pRg st="9" end="9"/>
                                            </p:txEl>
                                          </p:spTgt>
                                        </p:tgtEl>
                                        <p:attrNameLst>
                                          <p:attrName>style.visibility</p:attrName>
                                        </p:attrNameLst>
                                      </p:cBhvr>
                                      <p:to>
                                        <p:strVal val="visible"/>
                                      </p:to>
                                    </p:set>
                                    <p:animEffect transition="in" filter="wipe(left)">
                                      <p:cBhvr>
                                        <p:cTn id="69" dur="500"/>
                                        <p:tgtEl>
                                          <p:spTgt spid="449539">
                                            <p:txEl>
                                              <p:pRg st="9" end="9"/>
                                            </p:txEl>
                                          </p:spTgt>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449539">
                                            <p:txEl>
                                              <p:pRg st="10" end="10"/>
                                            </p:txEl>
                                          </p:spTgt>
                                        </p:tgtEl>
                                        <p:attrNameLst>
                                          <p:attrName>style.visibility</p:attrName>
                                        </p:attrNameLst>
                                      </p:cBhvr>
                                      <p:to>
                                        <p:strVal val="visible"/>
                                      </p:to>
                                    </p:set>
                                    <p:animEffect transition="in" filter="wipe(left)">
                                      <p:cBhvr>
                                        <p:cTn id="72" dur="500"/>
                                        <p:tgtEl>
                                          <p:spTgt spid="449539">
                                            <p:txEl>
                                              <p:pRg st="10" end="10"/>
                                            </p:txEl>
                                          </p:spTgt>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449539">
                                            <p:txEl>
                                              <p:pRg st="11" end="11"/>
                                            </p:txEl>
                                          </p:spTgt>
                                        </p:tgtEl>
                                        <p:attrNameLst>
                                          <p:attrName>style.visibility</p:attrName>
                                        </p:attrNameLst>
                                      </p:cBhvr>
                                      <p:to>
                                        <p:strVal val="visible"/>
                                      </p:to>
                                    </p:set>
                                    <p:animEffect transition="in" filter="wipe(left)">
                                      <p:cBhvr>
                                        <p:cTn id="75" dur="500"/>
                                        <p:tgtEl>
                                          <p:spTgt spid="449539">
                                            <p:txEl>
                                              <p:pRg st="11" end="11"/>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449554"/>
                                        </p:tgtEl>
                                        <p:attrNameLst>
                                          <p:attrName>style.visibility</p:attrName>
                                        </p:attrNameLst>
                                      </p:cBhvr>
                                      <p:to>
                                        <p:strVal val="visible"/>
                                      </p:to>
                                    </p:set>
                                    <p:animEffect transition="in" filter="dissolve">
                                      <p:cBhvr>
                                        <p:cTn id="80" dur="500"/>
                                        <p:tgtEl>
                                          <p:spTgt spid="44955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nodeType="clickEffect">
                                  <p:stCondLst>
                                    <p:cond delay="0"/>
                                  </p:stCondLst>
                                  <p:childTnLst>
                                    <p:set>
                                      <p:cBhvr>
                                        <p:cTn id="84" dur="1" fill="hold">
                                          <p:stCondLst>
                                            <p:cond delay="0"/>
                                          </p:stCondLst>
                                        </p:cTn>
                                        <p:tgtEl>
                                          <p:spTgt spid="449545"/>
                                        </p:tgtEl>
                                        <p:attrNameLst>
                                          <p:attrName>style.visibility</p:attrName>
                                        </p:attrNameLst>
                                      </p:cBhvr>
                                      <p:to>
                                        <p:strVal val="visible"/>
                                      </p:to>
                                    </p:set>
                                    <p:animEffect transition="in" filter="wipe(right)">
                                      <p:cBhvr>
                                        <p:cTn id="85" dur="500"/>
                                        <p:tgtEl>
                                          <p:spTgt spid="449545"/>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449551"/>
                                        </p:tgtEl>
                                        <p:attrNameLst>
                                          <p:attrName>style.visibility</p:attrName>
                                        </p:attrNameLst>
                                      </p:cBhvr>
                                      <p:to>
                                        <p:strVal val="visible"/>
                                      </p:to>
                                    </p:set>
                                    <p:animEffect transition="in" filter="dissolve">
                                      <p:cBhvr>
                                        <p:cTn id="88" dur="500"/>
                                        <p:tgtEl>
                                          <p:spTgt spid="449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9" grpId="0" autoUpdateAnimBg="0" build="p"/>
      <p:bldP spid="35845" grpId="0"/>
      <p:bldP spid="449547" grpId="0" bldLvl="0" animBg="1"/>
      <p:bldP spid="449549" grpId="0" bldLvl="0" animBg="1"/>
      <p:bldP spid="449550" grpId="0"/>
      <p:bldP spid="449551" grpId="0"/>
      <p:bldP spid="449553" grpId="0" bldLvl="0" animBg="1"/>
      <p:bldP spid="44955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xfrm>
            <a:off x="784225" y="339725"/>
            <a:ext cx="7532688" cy="785813"/>
          </a:xfrm>
        </p:spPr>
        <p:txBody>
          <a:bodyPr vert="horz" wrap="square" lIns="91440" tIns="45720" rIns="91440" bIns="45720" anchor="ctr" anchorCtr="0"/>
          <a:p>
            <a:r>
              <a:rPr lang="en-US" altLang="zh-CN" sz="3600" dirty="0"/>
              <a:t>5.2.7</a:t>
            </a:r>
            <a:r>
              <a:rPr lang="zh-CN" altLang="en-US" sz="3600" dirty="0"/>
              <a:t>用</a:t>
            </a:r>
            <a:r>
              <a:rPr lang="zh-CN" altLang="en-US" sz="3600" dirty="0">
                <a:solidFill>
                  <a:srgbClr val="EE2200"/>
                </a:solidFill>
              </a:rPr>
              <a:t>方框图语言</a:t>
            </a:r>
            <a:r>
              <a:rPr lang="zh-CN" altLang="en-US" sz="3600" dirty="0"/>
              <a:t>表示的指令周期</a:t>
            </a:r>
            <a:endParaRPr lang="zh-CN" altLang="en-US" sz="3600" dirty="0"/>
          </a:p>
        </p:txBody>
      </p:sp>
      <p:sp>
        <p:nvSpPr>
          <p:cNvPr id="54275" name="Rectangle 3"/>
          <p:cNvSpPr>
            <a:spLocks noGrp="1"/>
          </p:cNvSpPr>
          <p:nvPr>
            <p:ph idx="1"/>
          </p:nvPr>
        </p:nvSpPr>
        <p:spPr>
          <a:xfrm>
            <a:off x="457200" y="1268413"/>
            <a:ext cx="8229600" cy="4465637"/>
          </a:xfrm>
        </p:spPr>
        <p:txBody>
          <a:bodyPr vert="horz" wrap="square" lIns="91440" tIns="45720" rIns="91440" bIns="45720" anchor="t" anchorCtr="0"/>
          <a:p>
            <a:pPr eaLnBrk="1" hangingPunct="1"/>
            <a:r>
              <a:rPr lang="zh-CN" altLang="en-US" sz="3200">
                <a:sym typeface="+mn-ea"/>
              </a:rPr>
              <a:t>在进行中央处理器设计时，可用方框图语言来描述一条指令的指令周期</a:t>
            </a:r>
            <a:endParaRPr lang="zh-CN" altLang="en-US" sz="3200"/>
          </a:p>
          <a:p>
            <a:pPr lvl="1" eaLnBrk="1" hangingPunct="1"/>
            <a:r>
              <a:rPr lang="zh-CN" altLang="en-US">
                <a:sym typeface="+mn-ea"/>
              </a:rPr>
              <a:t>方框：代表一个</a:t>
            </a:r>
            <a:r>
              <a:rPr lang="en-US" altLang="zh-CN">
                <a:sym typeface="+mn-ea"/>
              </a:rPr>
              <a:t>CPU</a:t>
            </a:r>
            <a:r>
              <a:rPr lang="zh-CN" altLang="en-US">
                <a:sym typeface="+mn-ea"/>
              </a:rPr>
              <a:t>周期，方框中的内容表示数据通路的操作或某种控制操作。</a:t>
            </a:r>
            <a:endParaRPr lang="zh-CN" altLang="en-US"/>
          </a:p>
          <a:p>
            <a:pPr lvl="1" eaLnBrk="1" hangingPunct="1"/>
            <a:r>
              <a:rPr lang="zh-CN" altLang="en-US">
                <a:sym typeface="+mn-ea"/>
              </a:rPr>
              <a:t> 菱形：通常用来表示某种判别或测试，在时间上依附于紧接它的前面一个方框的</a:t>
            </a:r>
            <a:r>
              <a:rPr lang="en-US" altLang="zh-CN">
                <a:sym typeface="+mn-ea"/>
              </a:rPr>
              <a:t>CPU</a:t>
            </a:r>
            <a:r>
              <a:rPr lang="zh-CN" altLang="en-US">
                <a:sym typeface="+mn-ea"/>
              </a:rPr>
              <a:t>周期，不单独占用一个</a:t>
            </a:r>
            <a:r>
              <a:rPr lang="en-US" altLang="zh-CN">
                <a:sym typeface="+mn-ea"/>
              </a:rPr>
              <a:t>CPU</a:t>
            </a:r>
            <a:r>
              <a:rPr lang="zh-CN" altLang="en-US">
                <a:sym typeface="+mn-ea"/>
              </a:rPr>
              <a:t>周期。</a:t>
            </a:r>
            <a:endParaRPr lang="zh-CN" altLang="en-US">
              <a:sym typeface="+mn-ea"/>
            </a:endParaRPr>
          </a:p>
          <a:p>
            <a:pPr lvl="1" eaLnBrk="1" hangingPunct="1"/>
            <a:r>
              <a:rPr lang="zh-CN" altLang="en-US" dirty="0">
                <a:solidFill>
                  <a:srgbClr val="0033CC"/>
                </a:solidFill>
              </a:rPr>
              <a:t>方框内内容：数据通路操作或控制操作</a:t>
            </a:r>
            <a:endParaRPr lang="zh-CN" altLang="en-US" dirty="0">
              <a:solidFill>
                <a:srgbClr val="0033CC"/>
              </a:solidFill>
            </a:endParaRPr>
          </a:p>
          <a:p>
            <a:pPr lvl="1" eaLnBrk="1" hangingPunct="1"/>
            <a:r>
              <a:rPr lang="en-US" altLang="zh-CN" dirty="0">
                <a:solidFill>
                  <a:srgbClr val="0033CC"/>
                </a:solidFill>
              </a:rPr>
              <a:t>~</a:t>
            </a:r>
            <a:r>
              <a:rPr lang="zh-CN" altLang="en-US" dirty="0">
                <a:solidFill>
                  <a:srgbClr val="0033CC"/>
                </a:solidFill>
              </a:rPr>
              <a:t>： 公操作</a:t>
            </a:r>
            <a:endParaRPr lang="zh-CN" altLang="en-US" dirty="0">
              <a:solidFill>
                <a:srgbClr val="0033CC"/>
              </a:solidFill>
              <a:ea typeface="黑体" panose="020106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xfrm>
            <a:off x="515938" y="333375"/>
            <a:ext cx="7477125" cy="611188"/>
          </a:xfrm>
        </p:spPr>
        <p:txBody>
          <a:bodyPr vert="horz" wrap="square" lIns="91440" tIns="45720" rIns="91440" bIns="45720" anchor="ctr" anchorCtr="0"/>
          <a:p>
            <a:r>
              <a:rPr lang="en-US" altLang="zh-CN" dirty="0"/>
              <a:t>5.2.7</a:t>
            </a:r>
            <a:r>
              <a:rPr lang="zh-CN" altLang="en-US" dirty="0"/>
              <a:t>方框图表示指令周期</a:t>
            </a:r>
            <a:endParaRPr lang="zh-CN" altLang="en-US" dirty="0"/>
          </a:p>
        </p:txBody>
      </p:sp>
      <p:grpSp>
        <p:nvGrpSpPr>
          <p:cNvPr id="55299" name="Group 7"/>
          <p:cNvGrpSpPr/>
          <p:nvPr/>
        </p:nvGrpSpPr>
        <p:grpSpPr>
          <a:xfrm>
            <a:off x="395288" y="1125538"/>
            <a:ext cx="8121650" cy="4751387"/>
            <a:chOff x="521" y="1137"/>
            <a:chExt cx="4813" cy="2792"/>
          </a:xfrm>
        </p:grpSpPr>
        <p:pic>
          <p:nvPicPr>
            <p:cNvPr id="55300" name="Picture 3" descr="5a14">
              <a:hlinkClick r:id="rId1" action="ppaction://hlinkfile"/>
            </p:cNvPr>
            <p:cNvPicPr>
              <a:picLocks noChangeAspect="1"/>
            </p:cNvPicPr>
            <p:nvPr/>
          </p:nvPicPr>
          <p:blipFill>
            <a:blip r:embed="rId2"/>
            <a:stretch>
              <a:fillRect/>
            </a:stretch>
          </p:blipFill>
          <p:spPr>
            <a:xfrm>
              <a:off x="567" y="1137"/>
              <a:ext cx="4355" cy="2792"/>
            </a:xfrm>
            <a:prstGeom prst="rect">
              <a:avLst/>
            </a:prstGeom>
            <a:noFill/>
            <a:ln w="9525">
              <a:noFill/>
            </a:ln>
          </p:spPr>
        </p:pic>
        <p:sp>
          <p:nvSpPr>
            <p:cNvPr id="55301" name="Line 4"/>
            <p:cNvSpPr/>
            <p:nvPr/>
          </p:nvSpPr>
          <p:spPr>
            <a:xfrm>
              <a:off x="521" y="2432"/>
              <a:ext cx="4717" cy="0"/>
            </a:xfrm>
            <a:prstGeom prst="line">
              <a:avLst/>
            </a:prstGeom>
            <a:ln w="12700" cap="flat" cmpd="sng">
              <a:solidFill>
                <a:schemeClr val="tx1"/>
              </a:solidFill>
              <a:prstDash val="dashDot"/>
              <a:headEnd type="none" w="sm" len="sm"/>
              <a:tailEnd type="none" w="sm" len="sm"/>
            </a:ln>
          </p:spPr>
        </p:sp>
        <p:sp>
          <p:nvSpPr>
            <p:cNvPr id="55302" name="Text Box 5"/>
            <p:cNvSpPr txBox="1"/>
            <p:nvPr/>
          </p:nvSpPr>
          <p:spPr>
            <a:xfrm>
              <a:off x="4954" y="1937"/>
              <a:ext cx="380" cy="216"/>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取指</a:t>
              </a:r>
              <a:endParaRPr lang="zh-CN" altLang="en-US" sz="1800" dirty="0"/>
            </a:p>
          </p:txBody>
        </p:sp>
        <p:sp>
          <p:nvSpPr>
            <p:cNvPr id="55303" name="Text Box 6"/>
            <p:cNvSpPr txBox="1"/>
            <p:nvPr/>
          </p:nvSpPr>
          <p:spPr>
            <a:xfrm>
              <a:off x="4954" y="2526"/>
              <a:ext cx="380" cy="21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执行</a:t>
              </a:r>
              <a:endParaRPr lang="zh-CN" altLang="en-US" sz="1800" dirty="0"/>
            </a:p>
          </p:txBody>
        </p:sp>
      </p:grpSp>
      <p:sp>
        <p:nvSpPr>
          <p:cNvPr id="239667" name="Text Box 51"/>
          <p:cNvSpPr txBox="1">
            <a:spLocks noChangeArrowheads="1"/>
          </p:cNvSpPr>
          <p:nvPr/>
        </p:nvSpPr>
        <p:spPr bwMode="auto">
          <a:xfrm>
            <a:off x="6012292" y="5445330"/>
            <a:ext cx="3009900" cy="1323975"/>
          </a:xfrm>
          <a:prstGeom prst="rect">
            <a:avLst/>
          </a:prstGeom>
          <a:noFill/>
          <a:ln w="22225" algn="ctr">
            <a:solidFill>
              <a:srgbClr val="00F7F7"/>
            </a:solidFill>
            <a:miter lim="800000"/>
            <a:tailEnd type="none" w="lg" len="lg"/>
          </a:ln>
          <a:effec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l" eaLnBrk="1" hangingPunct="1"/>
            <a:r>
              <a:rPr kumimoji="0" lang="zh-CN" altLang="en-US" sz="1600" b="1" dirty="0">
                <a:solidFill>
                  <a:srgbClr val="C00000"/>
                </a:solidFill>
                <a:latin typeface="楷体" panose="02010609060101010101" pitchFamily="49" charset="-122"/>
                <a:ea typeface="楷体" panose="02010609060101010101" pitchFamily="49" charset="-122"/>
              </a:rPr>
              <a:t>公操作符号：表示一条指令已经执行完毕，转入公操作。</a:t>
            </a:r>
            <a:endParaRPr kumimoji="0" lang="zh-CN" altLang="en-US" sz="1600" b="1" dirty="0">
              <a:solidFill>
                <a:srgbClr val="C00000"/>
              </a:solidFill>
              <a:latin typeface="楷体" panose="02010609060101010101" pitchFamily="49" charset="-122"/>
              <a:ea typeface="楷体" panose="02010609060101010101" pitchFamily="49" charset="-122"/>
            </a:endParaRPr>
          </a:p>
          <a:p>
            <a:pPr algn="l" eaLnBrk="1" hangingPunct="1"/>
            <a:r>
              <a:rPr kumimoji="0" lang="zh-CN" altLang="en-US" sz="1600" b="1" dirty="0">
                <a:solidFill>
                  <a:srgbClr val="C00000"/>
                </a:solidFill>
                <a:latin typeface="楷体" panose="02010609060101010101" pitchFamily="49" charset="-122"/>
                <a:ea typeface="楷体" panose="02010609060101010101" pitchFamily="49" charset="-122"/>
              </a:rPr>
              <a:t>公操作：是一条指令执行完毕后，</a:t>
            </a:r>
            <a:r>
              <a:rPr kumimoji="0" lang="en-US" altLang="zh-CN" sz="1600" b="1" dirty="0">
                <a:solidFill>
                  <a:srgbClr val="C00000"/>
                </a:solidFill>
                <a:latin typeface="楷体" panose="02010609060101010101" pitchFamily="49" charset="-122"/>
                <a:ea typeface="楷体" panose="02010609060101010101" pitchFamily="49" charset="-122"/>
              </a:rPr>
              <a:t>CPU</a:t>
            </a:r>
            <a:r>
              <a:rPr kumimoji="0" lang="zh-CN" altLang="en-US" sz="1600" b="1" dirty="0">
                <a:solidFill>
                  <a:srgbClr val="C00000"/>
                </a:solidFill>
                <a:latin typeface="楷体" panose="02010609060101010101" pitchFamily="49" charset="-122"/>
                <a:ea typeface="楷体" panose="02010609060101010101" pitchFamily="49" charset="-122"/>
              </a:rPr>
              <a:t>所进行的公共操作，如中断处理等。</a:t>
            </a:r>
            <a:endParaRPr lang="zh-CN" altLang="en-US" sz="1600" dirty="0">
              <a:solidFill>
                <a:srgbClr val="C00000"/>
              </a:solidFill>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defRPr/>
            </a:pPr>
            <a:r>
              <a:rPr lang="zh-CN" altLang="en-US"/>
              <a:t>例</a:t>
            </a:r>
            <a:r>
              <a:rPr lang="en-US" altLang="zh-CN"/>
              <a:t>1</a:t>
            </a:r>
            <a:endParaRPr lang="zh-CN" altLang="en-US"/>
          </a:p>
        </p:txBody>
      </p:sp>
      <p:sp>
        <p:nvSpPr>
          <p:cNvPr id="58370" name="Rectangle 3"/>
          <p:cNvSpPr>
            <a:spLocks noGrp="1" noChangeArrowheads="1"/>
          </p:cNvSpPr>
          <p:nvPr>
            <p:ph idx="1"/>
          </p:nvPr>
        </p:nvSpPr>
        <p:spPr>
          <a:xfrm>
            <a:off x="251460" y="1524000"/>
            <a:ext cx="8534400" cy="5334000"/>
          </a:xfrm>
        </p:spPr>
        <p:txBody>
          <a:bodyPr/>
          <a:lstStyle/>
          <a:p>
            <a:pPr eaLnBrk="1" hangingPunct="1">
              <a:lnSpc>
                <a:spcPct val="90000"/>
              </a:lnSpc>
              <a:buFont typeface="Wingdings 2" pitchFamily="18" charset="2"/>
              <a:buNone/>
            </a:pPr>
            <a:r>
              <a:rPr lang="zh-CN" altLang="en-US" sz="2800" dirty="0"/>
              <a:t>   </a:t>
            </a:r>
            <a:r>
              <a:rPr lang="zh-CN" altLang="en-US" sz="2400" dirty="0"/>
              <a:t>双总线结构机器的数据通路如图所示，</a:t>
            </a:r>
            <a:r>
              <a:rPr lang="en-US" altLang="zh-CN" sz="2400" dirty="0"/>
              <a:t>IR</a:t>
            </a:r>
            <a:r>
              <a:rPr lang="zh-CN" altLang="en-US" sz="2400" dirty="0"/>
              <a:t>为指令寄存器，</a:t>
            </a:r>
            <a:r>
              <a:rPr lang="en-US" altLang="zh-CN" sz="2400" dirty="0"/>
              <a:t>PC</a:t>
            </a:r>
            <a:r>
              <a:rPr lang="zh-CN" altLang="en-US" sz="2400" dirty="0"/>
              <a:t>为程序计数器（具有自增功能），</a:t>
            </a:r>
            <a:r>
              <a:rPr lang="en-US" altLang="zh-CN" sz="2400" dirty="0"/>
              <a:t>M</a:t>
            </a:r>
            <a:r>
              <a:rPr lang="zh-CN" altLang="en-US" sz="2400" dirty="0"/>
              <a:t>为主存（受</a:t>
            </a:r>
            <a:r>
              <a:rPr lang="en-US" altLang="zh-CN" sz="2400" dirty="0"/>
              <a:t>R/W#</a:t>
            </a:r>
            <a:r>
              <a:rPr lang="zh-CN" altLang="en-US" sz="2400" dirty="0"/>
              <a:t>信号控制），</a:t>
            </a:r>
            <a:r>
              <a:rPr lang="en-US" altLang="zh-CN" sz="2400" dirty="0"/>
              <a:t>AR</a:t>
            </a:r>
            <a:r>
              <a:rPr lang="zh-CN" altLang="en-US" sz="2400" dirty="0"/>
              <a:t>为地址寄存器，</a:t>
            </a:r>
            <a:r>
              <a:rPr lang="en-US" altLang="zh-CN" sz="2400" dirty="0"/>
              <a:t>DR</a:t>
            </a:r>
            <a:r>
              <a:rPr lang="zh-CN" altLang="en-US" sz="2400" dirty="0"/>
              <a:t>为数据缓冲寄存器， </a:t>
            </a:r>
            <a:r>
              <a:rPr lang="en-US" altLang="zh-CN" sz="2400" dirty="0"/>
              <a:t>ALU</a:t>
            </a:r>
            <a:r>
              <a:rPr lang="zh-CN" altLang="en-US" sz="2400" dirty="0"/>
              <a:t>由加、减控制信号决定完成何种操作，控制信号</a:t>
            </a:r>
            <a:r>
              <a:rPr lang="en-US" altLang="zh-CN" sz="2400" dirty="0"/>
              <a:t>G</a:t>
            </a:r>
            <a:r>
              <a:rPr lang="zh-CN" altLang="en-US" sz="2400" dirty="0"/>
              <a:t>控制的是一个门电路。另外，线上标注的小圈表示有控制信号，</a:t>
            </a:r>
            <a:r>
              <a:rPr lang="en-US" altLang="zh-CN" sz="2400" dirty="0" err="1"/>
              <a:t>yi</a:t>
            </a:r>
            <a:r>
              <a:rPr lang="zh-CN" altLang="en-US" sz="2400" dirty="0"/>
              <a:t>表示</a:t>
            </a:r>
            <a:r>
              <a:rPr lang="en-US" altLang="zh-CN" sz="2400" dirty="0"/>
              <a:t>y</a:t>
            </a:r>
            <a:r>
              <a:rPr lang="zh-CN" altLang="en-US" sz="2400" dirty="0"/>
              <a:t>寄存器的输入控制信号，</a:t>
            </a:r>
            <a:r>
              <a:rPr lang="en-US" altLang="zh-CN" sz="2400" dirty="0"/>
              <a:t>R1o</a:t>
            </a:r>
            <a:r>
              <a:rPr lang="zh-CN" altLang="en-US" sz="2400" dirty="0"/>
              <a:t>为</a:t>
            </a:r>
            <a:r>
              <a:rPr lang="en-US" altLang="zh-CN" sz="2400" dirty="0"/>
              <a:t>R1</a:t>
            </a:r>
            <a:r>
              <a:rPr lang="zh-CN" altLang="en-US" sz="2400" dirty="0"/>
              <a:t>的输出控制信号，未标小圈的线为直通线，不受控制。 </a:t>
            </a:r>
            <a:endParaRPr lang="zh-CN" altLang="en-US" sz="2400" dirty="0"/>
          </a:p>
          <a:p>
            <a:pPr eaLnBrk="1" hangingPunct="1">
              <a:lnSpc>
                <a:spcPct val="90000"/>
              </a:lnSpc>
              <a:buFont typeface="Wingdings 2" pitchFamily="18" charset="2"/>
              <a:buNone/>
            </a:pPr>
            <a:r>
              <a:rPr lang="en-US" altLang="zh-CN" sz="2400" dirty="0"/>
              <a:t>   (1)“ADD R2</a:t>
            </a:r>
            <a:r>
              <a:rPr lang="zh-CN" altLang="en-US" sz="2400" dirty="0"/>
              <a:t>，</a:t>
            </a:r>
            <a:r>
              <a:rPr lang="en-US" altLang="zh-CN" sz="2400" dirty="0"/>
              <a:t>R0”</a:t>
            </a:r>
            <a:r>
              <a:rPr lang="zh-CN" altLang="en-US" sz="2400" dirty="0"/>
              <a:t>指令完成</a:t>
            </a:r>
            <a:r>
              <a:rPr lang="en-US" altLang="zh-CN" sz="2400" dirty="0"/>
              <a:t>(R0)+(R2)→R0</a:t>
            </a:r>
            <a:r>
              <a:rPr lang="zh-CN" altLang="en-US" sz="2400" dirty="0"/>
              <a:t>的功能，画出其指令周期流程图，假设该指令的地址已放入</a:t>
            </a:r>
            <a:r>
              <a:rPr lang="en-US" altLang="zh-CN" sz="2400" dirty="0"/>
              <a:t>PC</a:t>
            </a:r>
            <a:r>
              <a:rPr lang="zh-CN" altLang="en-US" sz="2400" dirty="0"/>
              <a:t>中。列出相应的微操作控制信号序列。 </a:t>
            </a:r>
            <a:endParaRPr lang="zh-CN" altLang="en-US" sz="2400" dirty="0"/>
          </a:p>
          <a:p>
            <a:pPr eaLnBrk="1" hangingPunct="1">
              <a:lnSpc>
                <a:spcPct val="90000"/>
              </a:lnSpc>
              <a:buFont typeface="Wingdings 2" pitchFamily="18" charset="2"/>
              <a:buNone/>
            </a:pPr>
            <a:r>
              <a:rPr lang="en-US" altLang="zh-CN" sz="2400" dirty="0"/>
              <a:t>   (2)“SUB R1</a:t>
            </a:r>
            <a:r>
              <a:rPr lang="zh-CN" altLang="en-US" sz="2400" dirty="0"/>
              <a:t>，</a:t>
            </a:r>
            <a:r>
              <a:rPr lang="en-US" altLang="zh-CN" sz="2400" dirty="0"/>
              <a:t>R3”</a:t>
            </a:r>
            <a:r>
              <a:rPr lang="zh-CN" altLang="en-US" sz="2400" dirty="0"/>
              <a:t>指令完成</a:t>
            </a:r>
            <a:r>
              <a:rPr lang="en-US" altLang="zh-CN" sz="2400" dirty="0"/>
              <a:t>(R3)-(R1)→R3</a:t>
            </a:r>
            <a:r>
              <a:rPr lang="zh-CN" altLang="en-US" sz="2400" dirty="0"/>
              <a:t>的功能，画出其指令期流程图，列出相应的微操作控制信号序列。</a:t>
            </a:r>
            <a:endParaRPr lang="zh-CN" altLang="en-US" sz="2400" dirty="0"/>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pPr eaLnBrk="1" hangingPunct="1">
              <a:defRPr/>
            </a:pPr>
            <a:r>
              <a:rPr lang="zh-CN" altLang="en-US"/>
              <a:t>例</a:t>
            </a:r>
            <a:r>
              <a:rPr lang="en-US" altLang="zh-CN"/>
              <a:t>1</a:t>
            </a:r>
            <a:r>
              <a:rPr lang="zh-CN" altLang="en-US"/>
              <a:t>图</a:t>
            </a:r>
            <a:endParaRPr lang="zh-CN" altLang="en-US"/>
          </a:p>
        </p:txBody>
      </p:sp>
      <p:pic>
        <p:nvPicPr>
          <p:cNvPr id="60420" name="Picture 4" descr="5"/>
          <p:cNvPicPr>
            <a:picLocks noChangeAspect="1" noChangeArrowheads="1"/>
          </p:cNvPicPr>
          <p:nvPr/>
        </p:nvPicPr>
        <p:blipFill>
          <a:blip r:embed="rId1">
            <a:extLst>
              <a:ext uri="{28A0092B-C50C-407E-A947-70E740481C1C}">
                <a14:useLocalDpi xmlns:a14="http://schemas.microsoft.com/office/drawing/2010/main" val="0"/>
              </a:ext>
            </a:extLst>
          </a:blip>
          <a:srcRect l="2322" r="1161"/>
          <a:stretch>
            <a:fillRect/>
          </a:stretch>
        </p:blipFill>
        <p:spPr bwMode="auto">
          <a:xfrm>
            <a:off x="206375" y="927100"/>
            <a:ext cx="8745538"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椭圆 5"/>
          <p:cNvSpPr>
            <a:spLocks noChangeArrowheads="1"/>
          </p:cNvSpPr>
          <p:nvPr/>
        </p:nvSpPr>
        <p:spPr bwMode="auto">
          <a:xfrm>
            <a:off x="7704138" y="3228975"/>
            <a:ext cx="112712" cy="112713"/>
          </a:xfrm>
          <a:prstGeom prst="ellipse">
            <a:avLst/>
          </a:prstGeom>
          <a:solidFill>
            <a:schemeClr val="bg1"/>
          </a:solidFill>
          <a:ln w="12700" algn="ctr">
            <a:solidFill>
              <a:schemeClr val="tx1"/>
            </a:solidFill>
            <a:miter lim="800000"/>
          </a:ln>
        </p:spPr>
        <p:txBody>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0422" name="TextBox 6"/>
          <p:cNvSpPr txBox="1">
            <a:spLocks noChangeArrowheads="1"/>
          </p:cNvSpPr>
          <p:nvPr/>
        </p:nvSpPr>
        <p:spPr bwMode="auto">
          <a:xfrm>
            <a:off x="7720013" y="3140075"/>
            <a:ext cx="654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400">
                <a:ea typeface="黑体" panose="02010609060101010101" pitchFamily="49" charset="-122"/>
              </a:rPr>
              <a:t>ALUo</a:t>
            </a:r>
            <a:endParaRPr lang="zh-CN" altLang="en-US" sz="1400">
              <a:ea typeface="黑体" panose="02010609060101010101" pitchFamily="49" charset="-122"/>
            </a:endParaRPr>
          </a:p>
        </p:txBody>
      </p:sp>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467360" y="57150"/>
            <a:ext cx="8229600" cy="1371600"/>
          </a:xfrm>
        </p:spPr>
        <p:txBody>
          <a:bodyPr/>
          <a:lstStyle/>
          <a:p>
            <a:pPr eaLnBrk="1" hangingPunct="1">
              <a:defRPr/>
            </a:pPr>
            <a:r>
              <a:rPr lang="zh-CN" altLang="en-US"/>
              <a:t>例</a:t>
            </a:r>
            <a:r>
              <a:rPr lang="en-US" altLang="zh-CN"/>
              <a:t>1</a:t>
            </a:r>
            <a:r>
              <a:rPr lang="zh-CN" altLang="en-US"/>
              <a:t>解（</a:t>
            </a:r>
            <a:r>
              <a:rPr lang="en-US" altLang="zh-CN"/>
              <a:t>1</a:t>
            </a:r>
            <a:r>
              <a:rPr lang="zh-CN" altLang="en-US"/>
              <a:t>）</a:t>
            </a:r>
            <a:endParaRPr lang="zh-CN" altLang="en-US"/>
          </a:p>
        </p:txBody>
      </p:sp>
      <p:sp>
        <p:nvSpPr>
          <p:cNvPr id="61442" name="Rectangle 3"/>
          <p:cNvSpPr>
            <a:spLocks noGrp="1" noChangeArrowheads="1"/>
          </p:cNvSpPr>
          <p:nvPr>
            <p:ph idx="1"/>
          </p:nvPr>
        </p:nvSpPr>
        <p:spPr>
          <a:xfrm>
            <a:off x="179387" y="1268413"/>
            <a:ext cx="4621213" cy="5376862"/>
          </a:xfrm>
        </p:spPr>
        <p:txBody>
          <a:bodyPr/>
          <a:lstStyle/>
          <a:p>
            <a:pPr eaLnBrk="1" hangingPunct="1">
              <a:buFont typeface="Wingdings 2" pitchFamily="18" charset="2"/>
              <a:buNone/>
            </a:pPr>
            <a:r>
              <a:rPr lang="en-US" altLang="zh-CN" sz="2400" dirty="0"/>
              <a:t>(1)“ADD R2</a:t>
            </a:r>
            <a:r>
              <a:rPr lang="zh-CN" altLang="en-US" sz="2400" dirty="0"/>
              <a:t>，</a:t>
            </a:r>
            <a:r>
              <a:rPr lang="en-US" altLang="zh-CN" sz="2400" dirty="0"/>
              <a:t>R0”</a:t>
            </a:r>
            <a:r>
              <a:rPr lang="zh-CN" altLang="en-US" sz="2400" dirty="0"/>
              <a:t>指令是一条加法指令，参与运算的两个数放在寄存器</a:t>
            </a:r>
            <a:r>
              <a:rPr lang="en-US" altLang="zh-CN" sz="2400" dirty="0"/>
              <a:t>R2</a:t>
            </a:r>
            <a:r>
              <a:rPr lang="zh-CN" altLang="en-US" sz="2400" dirty="0"/>
              <a:t>和</a:t>
            </a:r>
            <a:r>
              <a:rPr lang="en-US" altLang="zh-CN" sz="2400" dirty="0"/>
              <a:t>R0</a:t>
            </a:r>
            <a:r>
              <a:rPr lang="zh-CN" altLang="en-US" sz="2400" dirty="0"/>
              <a:t>中，指令周期流程图包括取指令阶段和执行指令阶段两部分。根据给定的数据通路图，“</a:t>
            </a:r>
            <a:r>
              <a:rPr lang="en-US" altLang="zh-CN" sz="2400" dirty="0"/>
              <a:t>ADD R2</a:t>
            </a:r>
            <a:r>
              <a:rPr lang="zh-CN" altLang="en-US" sz="2400" dirty="0"/>
              <a:t>，</a:t>
            </a:r>
            <a:r>
              <a:rPr lang="en-US" altLang="zh-CN" sz="2400" dirty="0"/>
              <a:t>R0”</a:t>
            </a:r>
            <a:r>
              <a:rPr lang="zh-CN" altLang="en-US" sz="2400" dirty="0"/>
              <a:t>指令的详细指令周期流程图如右图所示，图的右边部分标注了每一个机器周期中用到的微操作控制信号序列。</a:t>
            </a:r>
            <a:endParaRPr lang="zh-CN" altLang="en-US" sz="2400" dirty="0"/>
          </a:p>
        </p:txBody>
      </p:sp>
      <p:sp>
        <p:nvSpPr>
          <p:cNvPr id="61444" name="Line 4"/>
          <p:cNvSpPr>
            <a:spLocks noChangeShapeType="1"/>
          </p:cNvSpPr>
          <p:nvPr/>
        </p:nvSpPr>
        <p:spPr bwMode="auto">
          <a:xfrm>
            <a:off x="6380163" y="1462088"/>
            <a:ext cx="0" cy="491966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1445" name="AutoShape 5"/>
          <p:cNvSpPr>
            <a:spLocks noChangeArrowheads="1"/>
          </p:cNvSpPr>
          <p:nvPr/>
        </p:nvSpPr>
        <p:spPr bwMode="auto">
          <a:xfrm>
            <a:off x="5737225" y="1290638"/>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PC→AR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46" name="AutoShape 6"/>
          <p:cNvSpPr>
            <a:spLocks noChangeArrowheads="1"/>
          </p:cNvSpPr>
          <p:nvPr/>
        </p:nvSpPr>
        <p:spPr bwMode="auto">
          <a:xfrm>
            <a:off x="5737225" y="1962150"/>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M→DR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47" name="AutoShape 7"/>
          <p:cNvSpPr>
            <a:spLocks noChangeArrowheads="1"/>
          </p:cNvSpPr>
          <p:nvPr/>
        </p:nvSpPr>
        <p:spPr bwMode="auto">
          <a:xfrm>
            <a:off x="5737225" y="2619375"/>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DR→IR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48" name="AutoShape 8"/>
          <p:cNvSpPr>
            <a:spLocks noChangeArrowheads="1"/>
          </p:cNvSpPr>
          <p:nvPr/>
        </p:nvSpPr>
        <p:spPr bwMode="auto">
          <a:xfrm>
            <a:off x="5580063" y="5553075"/>
            <a:ext cx="1571625"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Y+X→R</a:t>
            </a:r>
            <a:r>
              <a:rPr kumimoji="0" lang="en-US" altLang="zh-CN" sz="2000" baseline="-25000">
                <a:solidFill>
                  <a:schemeClr val="bg1"/>
                </a:solidFill>
                <a:ea typeface="宋体" panose="02010600030101010101" pitchFamily="2" charset="-122"/>
                <a:cs typeface="Times New Roman" panose="02020603050405020304" pitchFamily="18" charset="0"/>
              </a:rPr>
              <a:t>0</a:t>
            </a:r>
            <a:endParaRPr kumimoji="0" lang="en-US" altLang="zh-CN" sz="2000" baseline="-25000">
              <a:solidFill>
                <a:schemeClr val="bg1"/>
              </a:solidFill>
              <a:ea typeface="宋体" panose="02010600030101010101" pitchFamily="2" charset="-122"/>
              <a:cs typeface="Times New Roman" panose="02020603050405020304" pitchFamily="18" charset="0"/>
            </a:endParaRPr>
          </a:p>
        </p:txBody>
      </p:sp>
      <p:sp>
        <p:nvSpPr>
          <p:cNvPr id="61449" name="AutoShape 9"/>
          <p:cNvSpPr>
            <a:spLocks noChangeArrowheads="1"/>
          </p:cNvSpPr>
          <p:nvPr/>
        </p:nvSpPr>
        <p:spPr bwMode="auto">
          <a:xfrm>
            <a:off x="5737225" y="4210050"/>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R</a:t>
            </a:r>
            <a:r>
              <a:rPr kumimoji="0" lang="en-US" altLang="zh-CN" sz="2000" baseline="-25000">
                <a:solidFill>
                  <a:schemeClr val="bg1"/>
                </a:solidFill>
                <a:ea typeface="宋体" panose="02010600030101010101" pitchFamily="2" charset="-122"/>
                <a:cs typeface="Times New Roman" panose="02020603050405020304" pitchFamily="18" charset="0"/>
              </a:rPr>
              <a:t>2</a:t>
            </a:r>
            <a:r>
              <a:rPr kumimoji="0" lang="en-US" altLang="zh-CN" sz="2000">
                <a:solidFill>
                  <a:schemeClr val="bg1"/>
                </a:solidFill>
                <a:ea typeface="宋体" panose="02010600030101010101" pitchFamily="2" charset="-122"/>
                <a:cs typeface="Times New Roman" panose="02020603050405020304" pitchFamily="18" charset="0"/>
              </a:rPr>
              <a:t>→Y</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50" name="AutoShape 10"/>
          <p:cNvSpPr>
            <a:spLocks noChangeArrowheads="1"/>
          </p:cNvSpPr>
          <p:nvPr/>
        </p:nvSpPr>
        <p:spPr bwMode="auto">
          <a:xfrm>
            <a:off x="5737225" y="4881563"/>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R</a:t>
            </a:r>
            <a:r>
              <a:rPr kumimoji="0" lang="en-US" altLang="zh-CN" sz="2000" baseline="-25000">
                <a:solidFill>
                  <a:schemeClr val="bg1"/>
                </a:solidFill>
                <a:ea typeface="宋体" panose="02010600030101010101" pitchFamily="2" charset="-122"/>
                <a:cs typeface="Times New Roman" panose="02020603050405020304" pitchFamily="18" charset="0"/>
              </a:rPr>
              <a:t>0</a:t>
            </a:r>
            <a:r>
              <a:rPr kumimoji="0" lang="en-US" altLang="zh-CN" sz="2000">
                <a:solidFill>
                  <a:schemeClr val="bg1"/>
                </a:solidFill>
                <a:ea typeface="宋体" panose="02010600030101010101" pitchFamily="2" charset="-122"/>
                <a:cs typeface="Times New Roman" panose="02020603050405020304" pitchFamily="18" charset="0"/>
              </a:rPr>
              <a:t>→X</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51" name="AutoShape 11"/>
          <p:cNvSpPr>
            <a:spLocks noChangeArrowheads="1"/>
          </p:cNvSpPr>
          <p:nvPr/>
        </p:nvSpPr>
        <p:spPr bwMode="auto">
          <a:xfrm>
            <a:off x="5701506" y="3249613"/>
            <a:ext cx="1357313" cy="642937"/>
          </a:xfrm>
          <a:prstGeom prst="flowChartDecision">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452" name="Line 12"/>
          <p:cNvSpPr>
            <a:spLocks noChangeShapeType="1"/>
          </p:cNvSpPr>
          <p:nvPr/>
        </p:nvSpPr>
        <p:spPr bwMode="auto">
          <a:xfrm>
            <a:off x="6380163" y="904875"/>
            <a:ext cx="0" cy="385763"/>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1453" name="Freeform 13"/>
          <p:cNvSpPr/>
          <p:nvPr/>
        </p:nvSpPr>
        <p:spPr bwMode="auto">
          <a:xfrm>
            <a:off x="5994400" y="6253163"/>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54" name="AutoShape 14"/>
          <p:cNvSpPr/>
          <p:nvPr/>
        </p:nvSpPr>
        <p:spPr bwMode="auto">
          <a:xfrm>
            <a:off x="5451475" y="1276350"/>
            <a:ext cx="200025" cy="1771650"/>
          </a:xfrm>
          <a:prstGeom prst="leftBrace">
            <a:avLst>
              <a:gd name="adj1" fmla="val 73810"/>
              <a:gd name="adj2" fmla="val 50000"/>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455" name="Text Box 15"/>
          <p:cNvSpPr txBox="1">
            <a:spLocks noChangeArrowheads="1"/>
          </p:cNvSpPr>
          <p:nvPr/>
        </p:nvSpPr>
        <p:spPr bwMode="auto">
          <a:xfrm>
            <a:off x="4965701" y="1806574"/>
            <a:ext cx="54927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取指</a:t>
            </a:r>
            <a:endParaRPr kumimoji="0" lang="zh-CN" altLang="en-US" sz="2400" dirty="0">
              <a:latin typeface="Tahoma" panose="020B0604030504040204" pitchFamily="34" charset="0"/>
              <a:ea typeface="宋体" panose="02010600030101010101" pitchFamily="2" charset="-122"/>
            </a:endParaRPr>
          </a:p>
        </p:txBody>
      </p:sp>
      <p:sp>
        <p:nvSpPr>
          <p:cNvPr id="454672" name="Text Box 16"/>
          <p:cNvSpPr txBox="1">
            <a:spLocks noChangeArrowheads="1"/>
          </p:cNvSpPr>
          <p:nvPr/>
        </p:nvSpPr>
        <p:spPr bwMode="auto">
          <a:xfrm>
            <a:off x="6959600" y="1320800"/>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PC</a:t>
            </a:r>
            <a:r>
              <a:rPr kumimoji="0" lang="en-US" altLang="zh-CN" sz="2000" baseline="-25000">
                <a:latin typeface="Tahoma" panose="020B0604030504040204" pitchFamily="34" charset="0"/>
                <a:ea typeface="宋体" panose="02010600030101010101" pitchFamily="2" charset="-122"/>
              </a:rPr>
              <a:t>o</a:t>
            </a:r>
            <a:r>
              <a:rPr kumimoji="0" lang="en-US" altLang="zh-CN" sz="2000">
                <a:latin typeface="Tahoma" panose="020B0604030504040204" pitchFamily="34" charset="0"/>
                <a:ea typeface="宋体" panose="02010600030101010101" pitchFamily="2" charset="-122"/>
              </a:rPr>
              <a:t>, G, AR</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454673" name="Text Box 17"/>
          <p:cNvSpPr txBox="1">
            <a:spLocks noChangeArrowheads="1"/>
          </p:cNvSpPr>
          <p:nvPr/>
        </p:nvSpPr>
        <p:spPr bwMode="auto">
          <a:xfrm>
            <a:off x="6959600" y="1978025"/>
            <a:ext cx="1166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R/W=R</a:t>
            </a:r>
            <a:endParaRPr kumimoji="0" lang="en-US" altLang="zh-CN" sz="2000">
              <a:latin typeface="Tahoma" panose="020B0604030504040204" pitchFamily="34" charset="0"/>
              <a:ea typeface="宋体" panose="02010600030101010101" pitchFamily="2" charset="-122"/>
            </a:endParaRPr>
          </a:p>
        </p:txBody>
      </p:sp>
      <p:sp>
        <p:nvSpPr>
          <p:cNvPr id="61458" name="Line 18"/>
          <p:cNvSpPr>
            <a:spLocks noChangeShapeType="1"/>
          </p:cNvSpPr>
          <p:nvPr/>
        </p:nvSpPr>
        <p:spPr bwMode="auto">
          <a:xfrm>
            <a:off x="7366000" y="2047875"/>
            <a:ext cx="271463"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54675" name="Text Box 19"/>
          <p:cNvSpPr txBox="1">
            <a:spLocks noChangeArrowheads="1"/>
          </p:cNvSpPr>
          <p:nvPr/>
        </p:nvSpPr>
        <p:spPr bwMode="auto">
          <a:xfrm>
            <a:off x="6959600" y="2635250"/>
            <a:ext cx="1514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DR</a:t>
            </a:r>
            <a:r>
              <a:rPr kumimoji="0" lang="en-US" altLang="zh-CN" sz="2000" baseline="-25000">
                <a:latin typeface="Tahoma" panose="020B0604030504040204" pitchFamily="34" charset="0"/>
                <a:ea typeface="宋体" panose="02010600030101010101" pitchFamily="2" charset="-122"/>
              </a:rPr>
              <a:t>o</a:t>
            </a:r>
            <a:r>
              <a:rPr kumimoji="0" lang="en-US" altLang="zh-CN" sz="2000">
                <a:latin typeface="Tahoma" panose="020B0604030504040204" pitchFamily="34" charset="0"/>
                <a:ea typeface="宋体" panose="02010600030101010101" pitchFamily="2" charset="-122"/>
              </a:rPr>
              <a:t>, G, IR</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454676" name="Text Box 20"/>
          <p:cNvSpPr txBox="1">
            <a:spLocks noChangeArrowheads="1"/>
          </p:cNvSpPr>
          <p:nvPr/>
        </p:nvSpPr>
        <p:spPr bwMode="auto">
          <a:xfrm>
            <a:off x="6988175" y="4211638"/>
            <a:ext cx="1290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r>
              <a:rPr kumimoji="0" lang="en-US" altLang="zh-CN" sz="2000" baseline="-25000">
                <a:latin typeface="Tahoma" panose="020B0604030504040204" pitchFamily="34" charset="0"/>
                <a:ea typeface="宋体" panose="02010600030101010101" pitchFamily="2" charset="-122"/>
              </a:rPr>
              <a:t>2o</a:t>
            </a:r>
            <a:r>
              <a:rPr kumimoji="0" lang="en-US" altLang="zh-CN" sz="2000">
                <a:latin typeface="Tahoma" panose="020B0604030504040204" pitchFamily="34" charset="0"/>
                <a:ea typeface="宋体" panose="02010600030101010101" pitchFamily="2" charset="-122"/>
              </a:rPr>
              <a:t>, G, Y</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454677" name="Text Box 21"/>
          <p:cNvSpPr txBox="1">
            <a:spLocks noChangeArrowheads="1"/>
          </p:cNvSpPr>
          <p:nvPr/>
        </p:nvSpPr>
        <p:spPr bwMode="auto">
          <a:xfrm>
            <a:off x="6988175" y="488315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r>
              <a:rPr kumimoji="0" lang="en-US" altLang="zh-CN" sz="2000" baseline="-25000">
                <a:latin typeface="Tahoma" panose="020B0604030504040204" pitchFamily="34" charset="0"/>
                <a:ea typeface="宋体" panose="02010600030101010101" pitchFamily="2" charset="-122"/>
              </a:rPr>
              <a:t>0o</a:t>
            </a:r>
            <a:r>
              <a:rPr kumimoji="0" lang="en-US" altLang="zh-CN" sz="2000">
                <a:latin typeface="Tahoma" panose="020B0604030504040204" pitchFamily="34" charset="0"/>
                <a:ea typeface="宋体" panose="02010600030101010101" pitchFamily="2" charset="-122"/>
              </a:rPr>
              <a:t>, G, X</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454678" name="Text Box 22"/>
          <p:cNvSpPr txBox="1">
            <a:spLocks noChangeArrowheads="1"/>
          </p:cNvSpPr>
          <p:nvPr/>
        </p:nvSpPr>
        <p:spPr bwMode="auto">
          <a:xfrm>
            <a:off x="7159625" y="5554663"/>
            <a:ext cx="1993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 ALUo,G, R</a:t>
            </a:r>
            <a:r>
              <a:rPr kumimoji="0" lang="en-US" altLang="zh-CN" sz="2000" baseline="-25000">
                <a:latin typeface="Tahoma" panose="020B0604030504040204" pitchFamily="34" charset="0"/>
                <a:ea typeface="宋体" panose="02010600030101010101" pitchFamily="2" charset="-122"/>
              </a:rPr>
              <a:t>0i</a:t>
            </a:r>
            <a:endParaRPr kumimoji="0" lang="en-US" altLang="zh-CN" sz="2000" baseline="-25000">
              <a:latin typeface="Tahoma" panose="020B0604030504040204" pitchFamily="34" charset="0"/>
              <a:ea typeface="宋体" panose="02010600030101010101" pitchFamily="2" charset="-122"/>
            </a:endParaRPr>
          </a:p>
        </p:txBody>
      </p:sp>
      <p:sp>
        <p:nvSpPr>
          <p:cNvPr id="61463" name="AutoShape 14"/>
          <p:cNvSpPr/>
          <p:nvPr/>
        </p:nvSpPr>
        <p:spPr bwMode="auto">
          <a:xfrm>
            <a:off x="5311775" y="4191000"/>
            <a:ext cx="200025" cy="1771650"/>
          </a:xfrm>
          <a:prstGeom prst="leftBrace">
            <a:avLst>
              <a:gd name="adj1" fmla="val 73810"/>
              <a:gd name="adj2" fmla="val 50000"/>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464" name="Text Box 15"/>
          <p:cNvSpPr txBox="1">
            <a:spLocks noChangeArrowheads="1"/>
          </p:cNvSpPr>
          <p:nvPr/>
        </p:nvSpPr>
        <p:spPr bwMode="auto">
          <a:xfrm>
            <a:off x="4818856" y="4727575"/>
            <a:ext cx="55403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执行</a:t>
            </a:r>
            <a:endParaRPr kumimoji="0" lang="zh-CN" altLang="en-US" sz="2400" dirty="0">
              <a:latin typeface="Tahoma" panose="020B0604030504040204" pitchFamily="34" charset="0"/>
              <a:ea typeface="宋体" panose="02010600030101010101" pitchFamily="2" charset="-122"/>
            </a:endParaRPr>
          </a:p>
        </p:txBody>
      </p:sp>
      <p:pic>
        <p:nvPicPr>
          <p:cNvPr id="60420" name="Picture 4" descr="5"/>
          <p:cNvPicPr>
            <a:picLocks noChangeAspect="1" noChangeArrowheads="1"/>
          </p:cNvPicPr>
          <p:nvPr/>
        </p:nvPicPr>
        <p:blipFill>
          <a:blip r:embed="rId1">
            <a:extLst>
              <a:ext uri="{28A0092B-C50C-407E-A947-70E740481C1C}">
                <a14:useLocalDpi xmlns:a14="http://schemas.microsoft.com/office/drawing/2010/main" val="0"/>
              </a:ext>
            </a:extLst>
          </a:blip>
          <a:srcRect l="2322" r="1161"/>
          <a:stretch>
            <a:fillRect/>
          </a:stretch>
        </p:blipFill>
        <p:spPr bwMode="auto">
          <a:xfrm>
            <a:off x="206375" y="5085080"/>
            <a:ext cx="466153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4672"/>
                                        </p:tgtEl>
                                        <p:attrNameLst>
                                          <p:attrName>style.visibility</p:attrName>
                                        </p:attrNameLst>
                                      </p:cBhvr>
                                      <p:to>
                                        <p:strVal val="visible"/>
                                      </p:to>
                                    </p:set>
                                    <p:animEffect transition="in" filter="dissolve">
                                      <p:cBhvr>
                                        <p:cTn id="7" dur="500"/>
                                        <p:tgtEl>
                                          <p:spTgt spid="4546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4673"/>
                                        </p:tgtEl>
                                        <p:attrNameLst>
                                          <p:attrName>style.visibility</p:attrName>
                                        </p:attrNameLst>
                                      </p:cBhvr>
                                      <p:to>
                                        <p:strVal val="visible"/>
                                      </p:to>
                                    </p:set>
                                    <p:animEffect transition="in" filter="dissolve">
                                      <p:cBhvr>
                                        <p:cTn id="12" dur="500"/>
                                        <p:tgtEl>
                                          <p:spTgt spid="45467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4675"/>
                                        </p:tgtEl>
                                        <p:attrNameLst>
                                          <p:attrName>style.visibility</p:attrName>
                                        </p:attrNameLst>
                                      </p:cBhvr>
                                      <p:to>
                                        <p:strVal val="visible"/>
                                      </p:to>
                                    </p:set>
                                    <p:animEffect transition="in" filter="dissolve">
                                      <p:cBhvr>
                                        <p:cTn id="17" dur="500"/>
                                        <p:tgtEl>
                                          <p:spTgt spid="45467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54676"/>
                                        </p:tgtEl>
                                        <p:attrNameLst>
                                          <p:attrName>style.visibility</p:attrName>
                                        </p:attrNameLst>
                                      </p:cBhvr>
                                      <p:to>
                                        <p:strVal val="visible"/>
                                      </p:to>
                                    </p:set>
                                    <p:animEffect transition="in" filter="dissolve">
                                      <p:cBhvr>
                                        <p:cTn id="22" dur="500"/>
                                        <p:tgtEl>
                                          <p:spTgt spid="45467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4677"/>
                                        </p:tgtEl>
                                        <p:attrNameLst>
                                          <p:attrName>style.visibility</p:attrName>
                                        </p:attrNameLst>
                                      </p:cBhvr>
                                      <p:to>
                                        <p:strVal val="visible"/>
                                      </p:to>
                                    </p:set>
                                    <p:animEffect transition="in" filter="dissolve">
                                      <p:cBhvr>
                                        <p:cTn id="27" dur="500"/>
                                        <p:tgtEl>
                                          <p:spTgt spid="45467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54678"/>
                                        </p:tgtEl>
                                        <p:attrNameLst>
                                          <p:attrName>style.visibility</p:attrName>
                                        </p:attrNameLst>
                                      </p:cBhvr>
                                      <p:to>
                                        <p:strVal val="visible"/>
                                      </p:to>
                                    </p:set>
                                    <p:animEffect transition="in" filter="dissolve">
                                      <p:cBhvr>
                                        <p:cTn id="32" dur="500"/>
                                        <p:tgtEl>
                                          <p:spTgt spid="454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72" grpId="0"/>
      <p:bldP spid="454673" grpId="0"/>
      <p:bldP spid="454675" grpId="0"/>
      <p:bldP spid="454676" grpId="0"/>
      <p:bldP spid="454677" grpId="0"/>
      <p:bldP spid="45467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a:xfrm>
            <a:off x="457200" y="116205"/>
            <a:ext cx="8229600" cy="1371600"/>
          </a:xfrm>
        </p:spPr>
        <p:txBody>
          <a:bodyPr/>
          <a:lstStyle/>
          <a:p>
            <a:pPr eaLnBrk="1" hangingPunct="1">
              <a:defRPr/>
            </a:pPr>
            <a:r>
              <a:rPr lang="zh-CN" altLang="en-US"/>
              <a:t>例</a:t>
            </a:r>
            <a:r>
              <a:rPr lang="en-US" altLang="zh-CN"/>
              <a:t>1</a:t>
            </a:r>
            <a:r>
              <a:rPr lang="zh-CN" altLang="en-US"/>
              <a:t>解（</a:t>
            </a:r>
            <a:r>
              <a:rPr lang="en-US" altLang="zh-CN"/>
              <a:t>2</a:t>
            </a:r>
            <a:r>
              <a:rPr lang="zh-CN" altLang="en-US"/>
              <a:t>）</a:t>
            </a:r>
            <a:endParaRPr lang="zh-CN" altLang="en-US"/>
          </a:p>
        </p:txBody>
      </p:sp>
      <p:sp>
        <p:nvSpPr>
          <p:cNvPr id="62466" name="Rectangle 3"/>
          <p:cNvSpPr>
            <a:spLocks noGrp="1" noChangeArrowheads="1"/>
          </p:cNvSpPr>
          <p:nvPr>
            <p:ph idx="1"/>
          </p:nvPr>
        </p:nvSpPr>
        <p:spPr>
          <a:xfrm>
            <a:off x="155893" y="1278255"/>
            <a:ext cx="4787900" cy="5400675"/>
          </a:xfrm>
        </p:spPr>
        <p:txBody>
          <a:bodyPr/>
          <a:lstStyle/>
          <a:p>
            <a:pPr eaLnBrk="1" hangingPunct="1">
              <a:spcBef>
                <a:spcPct val="0"/>
              </a:spcBef>
              <a:buClrTx/>
              <a:buFont typeface="Wingdings 2" pitchFamily="18" charset="2"/>
              <a:buNone/>
            </a:pPr>
            <a:r>
              <a:rPr lang="en-US" altLang="zh-CN"/>
              <a:t>(2)“SUB R1</a:t>
            </a:r>
            <a:r>
              <a:rPr lang="zh-CN" altLang="en-US"/>
              <a:t>，</a:t>
            </a:r>
            <a:r>
              <a:rPr lang="en-US" altLang="zh-CN"/>
              <a:t>R3”</a:t>
            </a:r>
            <a:r>
              <a:rPr lang="zh-CN" altLang="en-US"/>
              <a:t>指令是一条减法指令，其指令周期流程图如右图所示。与</a:t>
            </a:r>
            <a:r>
              <a:rPr lang="en-US" altLang="zh-CN"/>
              <a:t>ADD</a:t>
            </a:r>
            <a:r>
              <a:rPr lang="zh-CN" altLang="en-US"/>
              <a:t>指令不同的是：在执行指令阶段，微操作控制信号序列有所不同。</a:t>
            </a:r>
            <a:endParaRPr lang="zh-CN" altLang="en-US"/>
          </a:p>
        </p:txBody>
      </p:sp>
      <p:sp>
        <p:nvSpPr>
          <p:cNvPr id="62468" name="Line 4"/>
          <p:cNvSpPr>
            <a:spLocks noChangeShapeType="1"/>
          </p:cNvSpPr>
          <p:nvPr/>
        </p:nvSpPr>
        <p:spPr bwMode="auto">
          <a:xfrm>
            <a:off x="6348413" y="1449388"/>
            <a:ext cx="0" cy="47990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2469" name="AutoShape 5"/>
          <p:cNvSpPr>
            <a:spLocks noChangeArrowheads="1"/>
          </p:cNvSpPr>
          <p:nvPr/>
        </p:nvSpPr>
        <p:spPr bwMode="auto">
          <a:xfrm>
            <a:off x="5705475" y="1277938"/>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PC→AR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0" name="AutoShape 6"/>
          <p:cNvSpPr>
            <a:spLocks noChangeArrowheads="1"/>
          </p:cNvSpPr>
          <p:nvPr/>
        </p:nvSpPr>
        <p:spPr bwMode="auto">
          <a:xfrm>
            <a:off x="5705475" y="1949450"/>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M→DR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1" name="AutoShape 7"/>
          <p:cNvSpPr>
            <a:spLocks noChangeArrowheads="1"/>
          </p:cNvSpPr>
          <p:nvPr/>
        </p:nvSpPr>
        <p:spPr bwMode="auto">
          <a:xfrm>
            <a:off x="5705475" y="2606675"/>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DR→IR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2" name="AutoShape 8"/>
          <p:cNvSpPr>
            <a:spLocks noChangeArrowheads="1"/>
          </p:cNvSpPr>
          <p:nvPr/>
        </p:nvSpPr>
        <p:spPr bwMode="auto">
          <a:xfrm>
            <a:off x="5548313" y="5407025"/>
            <a:ext cx="1571625"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Y-X→R</a:t>
            </a:r>
            <a:r>
              <a:rPr kumimoji="0" lang="en-US" altLang="zh-CN" sz="2000" baseline="-25000">
                <a:solidFill>
                  <a:schemeClr val="bg1"/>
                </a:solidFill>
                <a:ea typeface="宋体" panose="02010600030101010101" pitchFamily="2" charset="-122"/>
                <a:cs typeface="Times New Roman" panose="02020603050405020304" pitchFamily="18" charset="0"/>
              </a:rPr>
              <a:t>3</a:t>
            </a:r>
            <a:endParaRPr kumimoji="0" lang="en-US" altLang="zh-CN" sz="2000" baseline="-25000">
              <a:solidFill>
                <a:schemeClr val="bg1"/>
              </a:solidFill>
              <a:ea typeface="宋体" panose="02010600030101010101" pitchFamily="2" charset="-122"/>
              <a:cs typeface="Times New Roman" panose="02020603050405020304" pitchFamily="18" charset="0"/>
            </a:endParaRPr>
          </a:p>
        </p:txBody>
      </p:sp>
      <p:sp>
        <p:nvSpPr>
          <p:cNvPr id="62473" name="AutoShape 9"/>
          <p:cNvSpPr>
            <a:spLocks noChangeArrowheads="1"/>
          </p:cNvSpPr>
          <p:nvPr/>
        </p:nvSpPr>
        <p:spPr bwMode="auto">
          <a:xfrm>
            <a:off x="5705475" y="4064000"/>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R</a:t>
            </a:r>
            <a:r>
              <a:rPr kumimoji="0" lang="en-US" altLang="zh-CN" sz="2000" baseline="-25000">
                <a:solidFill>
                  <a:schemeClr val="bg1"/>
                </a:solidFill>
                <a:ea typeface="宋体" panose="02010600030101010101" pitchFamily="2" charset="-122"/>
                <a:cs typeface="Times New Roman" panose="02020603050405020304" pitchFamily="18" charset="0"/>
              </a:rPr>
              <a:t>3</a:t>
            </a:r>
            <a:r>
              <a:rPr kumimoji="0" lang="en-US" altLang="zh-CN" sz="2000">
                <a:solidFill>
                  <a:schemeClr val="bg1"/>
                </a:solidFill>
                <a:ea typeface="宋体" panose="02010600030101010101" pitchFamily="2" charset="-122"/>
                <a:cs typeface="Times New Roman" panose="02020603050405020304" pitchFamily="18" charset="0"/>
              </a:rPr>
              <a:t>→Y</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4" name="AutoShape 10"/>
          <p:cNvSpPr>
            <a:spLocks noChangeArrowheads="1"/>
          </p:cNvSpPr>
          <p:nvPr/>
        </p:nvSpPr>
        <p:spPr bwMode="auto">
          <a:xfrm>
            <a:off x="5705475" y="4735513"/>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R</a:t>
            </a:r>
            <a:r>
              <a:rPr kumimoji="0" lang="en-US" altLang="zh-CN" sz="2000" baseline="-25000">
                <a:solidFill>
                  <a:schemeClr val="bg1"/>
                </a:solidFill>
                <a:ea typeface="宋体" panose="02010600030101010101" pitchFamily="2" charset="-122"/>
                <a:cs typeface="Times New Roman" panose="02020603050405020304" pitchFamily="18" charset="0"/>
              </a:rPr>
              <a:t>1</a:t>
            </a:r>
            <a:r>
              <a:rPr kumimoji="0" lang="en-US" altLang="zh-CN" sz="2000">
                <a:solidFill>
                  <a:schemeClr val="bg1"/>
                </a:solidFill>
                <a:ea typeface="宋体" panose="02010600030101010101" pitchFamily="2" charset="-122"/>
                <a:cs typeface="Times New Roman" panose="02020603050405020304" pitchFamily="18" charset="0"/>
              </a:rPr>
              <a:t>→X</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5" name="AutoShape 11"/>
          <p:cNvSpPr>
            <a:spLocks noChangeArrowheads="1"/>
          </p:cNvSpPr>
          <p:nvPr/>
        </p:nvSpPr>
        <p:spPr bwMode="auto">
          <a:xfrm>
            <a:off x="5669756" y="3227201"/>
            <a:ext cx="1357313" cy="642937"/>
          </a:xfrm>
          <a:prstGeom prst="flowChartDecision">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cs typeface="Times New Roman" panose="02020603050405020304" pitchFamily="18" charset="0"/>
            </a:endParaRPr>
          </a:p>
        </p:txBody>
      </p:sp>
      <p:sp>
        <p:nvSpPr>
          <p:cNvPr id="62476" name="Line 12"/>
          <p:cNvSpPr>
            <a:spLocks noChangeShapeType="1"/>
          </p:cNvSpPr>
          <p:nvPr/>
        </p:nvSpPr>
        <p:spPr bwMode="auto">
          <a:xfrm>
            <a:off x="6348413" y="892175"/>
            <a:ext cx="0" cy="385763"/>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2477" name="Freeform 13"/>
          <p:cNvSpPr/>
          <p:nvPr/>
        </p:nvSpPr>
        <p:spPr bwMode="auto">
          <a:xfrm>
            <a:off x="5962650" y="6107113"/>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78" name="AutoShape 14"/>
          <p:cNvSpPr/>
          <p:nvPr/>
        </p:nvSpPr>
        <p:spPr bwMode="auto">
          <a:xfrm>
            <a:off x="5419725" y="1263650"/>
            <a:ext cx="200025" cy="1771650"/>
          </a:xfrm>
          <a:prstGeom prst="leftBrace">
            <a:avLst>
              <a:gd name="adj1" fmla="val 73810"/>
              <a:gd name="adj2" fmla="val 50000"/>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2479" name="Text Box 15"/>
          <p:cNvSpPr txBox="1">
            <a:spLocks noChangeArrowheads="1"/>
          </p:cNvSpPr>
          <p:nvPr/>
        </p:nvSpPr>
        <p:spPr bwMode="auto">
          <a:xfrm>
            <a:off x="4918170" y="1793875"/>
            <a:ext cx="54927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取指</a:t>
            </a:r>
            <a:endParaRPr kumimoji="0" lang="zh-CN" altLang="en-US" sz="2400" dirty="0">
              <a:latin typeface="Tahoma" panose="020B0604030504040204" pitchFamily="34" charset="0"/>
              <a:ea typeface="宋体" panose="02010600030101010101" pitchFamily="2" charset="-122"/>
            </a:endParaRPr>
          </a:p>
        </p:txBody>
      </p:sp>
      <p:sp>
        <p:nvSpPr>
          <p:cNvPr id="62480" name="Text Box 16"/>
          <p:cNvSpPr txBox="1">
            <a:spLocks noChangeArrowheads="1"/>
          </p:cNvSpPr>
          <p:nvPr/>
        </p:nvSpPr>
        <p:spPr bwMode="auto">
          <a:xfrm>
            <a:off x="6927850" y="1308100"/>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PC</a:t>
            </a:r>
            <a:r>
              <a:rPr kumimoji="0" lang="en-US" altLang="zh-CN" sz="2000" baseline="-25000">
                <a:latin typeface="Tahoma" panose="020B0604030504040204" pitchFamily="34" charset="0"/>
                <a:ea typeface="宋体" panose="02010600030101010101" pitchFamily="2" charset="-122"/>
              </a:rPr>
              <a:t>o</a:t>
            </a:r>
            <a:r>
              <a:rPr kumimoji="0" lang="en-US" altLang="zh-CN" sz="2000">
                <a:latin typeface="Tahoma" panose="020B0604030504040204" pitchFamily="34" charset="0"/>
                <a:ea typeface="宋体" panose="02010600030101010101" pitchFamily="2" charset="-122"/>
              </a:rPr>
              <a:t>, G, AR</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62481" name="Text Box 17"/>
          <p:cNvSpPr txBox="1">
            <a:spLocks noChangeArrowheads="1"/>
          </p:cNvSpPr>
          <p:nvPr/>
        </p:nvSpPr>
        <p:spPr bwMode="auto">
          <a:xfrm>
            <a:off x="6927850" y="1965325"/>
            <a:ext cx="1166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R/W=R</a:t>
            </a:r>
            <a:endParaRPr kumimoji="0" lang="en-US" altLang="zh-CN" sz="2000">
              <a:latin typeface="Tahoma" panose="020B0604030504040204" pitchFamily="34" charset="0"/>
              <a:ea typeface="宋体" panose="02010600030101010101" pitchFamily="2" charset="-122"/>
            </a:endParaRPr>
          </a:p>
        </p:txBody>
      </p:sp>
      <p:sp>
        <p:nvSpPr>
          <p:cNvPr id="62482" name="Line 18"/>
          <p:cNvSpPr>
            <a:spLocks noChangeShapeType="1"/>
          </p:cNvSpPr>
          <p:nvPr/>
        </p:nvSpPr>
        <p:spPr bwMode="auto">
          <a:xfrm>
            <a:off x="7334250" y="2035175"/>
            <a:ext cx="271463"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2483" name="Text Box 19"/>
          <p:cNvSpPr txBox="1">
            <a:spLocks noChangeArrowheads="1"/>
          </p:cNvSpPr>
          <p:nvPr/>
        </p:nvSpPr>
        <p:spPr bwMode="auto">
          <a:xfrm>
            <a:off x="6927850" y="2622550"/>
            <a:ext cx="1514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DR</a:t>
            </a:r>
            <a:r>
              <a:rPr kumimoji="0" lang="en-US" altLang="zh-CN" sz="2000" baseline="-25000">
                <a:latin typeface="Tahoma" panose="020B0604030504040204" pitchFamily="34" charset="0"/>
                <a:ea typeface="宋体" panose="02010600030101010101" pitchFamily="2" charset="-122"/>
              </a:rPr>
              <a:t>o</a:t>
            </a:r>
            <a:r>
              <a:rPr kumimoji="0" lang="en-US" altLang="zh-CN" sz="2000">
                <a:latin typeface="Tahoma" panose="020B0604030504040204" pitchFamily="34" charset="0"/>
                <a:ea typeface="宋体" panose="02010600030101010101" pitchFamily="2" charset="-122"/>
              </a:rPr>
              <a:t>, G, IR</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62484" name="Text Box 20"/>
          <p:cNvSpPr txBox="1">
            <a:spLocks noChangeArrowheads="1"/>
          </p:cNvSpPr>
          <p:nvPr/>
        </p:nvSpPr>
        <p:spPr bwMode="auto">
          <a:xfrm>
            <a:off x="6956425" y="4065588"/>
            <a:ext cx="1290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r>
              <a:rPr kumimoji="0" lang="en-US" altLang="zh-CN" sz="2000" baseline="-25000">
                <a:latin typeface="Tahoma" panose="020B0604030504040204" pitchFamily="34" charset="0"/>
                <a:ea typeface="宋体" panose="02010600030101010101" pitchFamily="2" charset="-122"/>
              </a:rPr>
              <a:t>3o</a:t>
            </a:r>
            <a:r>
              <a:rPr kumimoji="0" lang="en-US" altLang="zh-CN" sz="2000">
                <a:latin typeface="Tahoma" panose="020B0604030504040204" pitchFamily="34" charset="0"/>
                <a:ea typeface="宋体" panose="02010600030101010101" pitchFamily="2" charset="-122"/>
              </a:rPr>
              <a:t>, G, Y</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62485" name="Text Box 21"/>
          <p:cNvSpPr txBox="1">
            <a:spLocks noChangeArrowheads="1"/>
          </p:cNvSpPr>
          <p:nvPr/>
        </p:nvSpPr>
        <p:spPr bwMode="auto">
          <a:xfrm>
            <a:off x="6956425" y="47371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r>
              <a:rPr kumimoji="0" lang="en-US" altLang="zh-CN" sz="2000" baseline="-25000">
                <a:latin typeface="Tahoma" panose="020B0604030504040204" pitchFamily="34" charset="0"/>
                <a:ea typeface="宋体" panose="02010600030101010101" pitchFamily="2" charset="-122"/>
              </a:rPr>
              <a:t>1o</a:t>
            </a:r>
            <a:r>
              <a:rPr kumimoji="0" lang="en-US" altLang="zh-CN" sz="2000">
                <a:latin typeface="Tahoma" panose="020B0604030504040204" pitchFamily="34" charset="0"/>
                <a:ea typeface="宋体" panose="02010600030101010101" pitchFamily="2" charset="-122"/>
              </a:rPr>
              <a:t>, G, X</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62486" name="Text Box 22"/>
          <p:cNvSpPr txBox="1">
            <a:spLocks noChangeArrowheads="1"/>
          </p:cNvSpPr>
          <p:nvPr/>
        </p:nvSpPr>
        <p:spPr bwMode="auto">
          <a:xfrm>
            <a:off x="7177088" y="5408613"/>
            <a:ext cx="197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-,ALUo , G, R</a:t>
            </a:r>
            <a:r>
              <a:rPr kumimoji="0" lang="en-US" altLang="zh-CN" sz="2000" baseline="-25000">
                <a:latin typeface="Tahoma" panose="020B0604030504040204" pitchFamily="34" charset="0"/>
                <a:ea typeface="宋体" panose="02010600030101010101" pitchFamily="2" charset="-122"/>
              </a:rPr>
              <a:t>3i</a:t>
            </a:r>
            <a:endParaRPr kumimoji="0" lang="en-US" altLang="zh-CN" sz="2000" baseline="-25000">
              <a:latin typeface="Tahoma" panose="020B0604030504040204" pitchFamily="34" charset="0"/>
              <a:ea typeface="宋体" panose="02010600030101010101" pitchFamily="2" charset="-122"/>
            </a:endParaRPr>
          </a:p>
        </p:txBody>
      </p:sp>
      <p:sp>
        <p:nvSpPr>
          <p:cNvPr id="62487" name="AutoShape 14"/>
          <p:cNvSpPr/>
          <p:nvPr/>
        </p:nvSpPr>
        <p:spPr bwMode="auto">
          <a:xfrm>
            <a:off x="5224463" y="3962400"/>
            <a:ext cx="200025" cy="1771650"/>
          </a:xfrm>
          <a:prstGeom prst="leftBrace">
            <a:avLst>
              <a:gd name="adj1" fmla="val 73810"/>
              <a:gd name="adj2" fmla="val 50000"/>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2488" name="Text Box 15"/>
          <p:cNvSpPr txBox="1">
            <a:spLocks noChangeArrowheads="1"/>
          </p:cNvSpPr>
          <p:nvPr/>
        </p:nvSpPr>
        <p:spPr bwMode="auto">
          <a:xfrm>
            <a:off x="4713287" y="4498975"/>
            <a:ext cx="55403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执行</a:t>
            </a:r>
            <a:endParaRPr kumimoji="0" lang="zh-CN" altLang="en-US" sz="2400" dirty="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3"/>
          <p:cNvSpPr>
            <a:spLocks noGrp="1"/>
          </p:cNvSpPr>
          <p:nvPr>
            <p:ph idx="1"/>
          </p:nvPr>
        </p:nvSpPr>
        <p:spPr>
          <a:xfrm>
            <a:off x="601663" y="1268413"/>
            <a:ext cx="7931150" cy="4862512"/>
          </a:xfrm>
        </p:spPr>
        <p:txBody>
          <a:bodyPr vert="horz" wrap="square" lIns="91440" tIns="45720" rIns="91440" bIns="45720" anchor="t" anchorCtr="0"/>
          <a:p>
            <a:r>
              <a:rPr lang="zh-CN" altLang="en-US" dirty="0"/>
              <a:t>一条指令包括一个取指令周期和一个及一个以上的执行周期组成</a:t>
            </a:r>
            <a:endParaRPr lang="zh-CN" altLang="en-US" dirty="0"/>
          </a:p>
          <a:p>
            <a:r>
              <a:rPr lang="zh-CN" altLang="en-US" dirty="0"/>
              <a:t>在每个</a:t>
            </a:r>
            <a:r>
              <a:rPr lang="en-US" altLang="zh-CN" dirty="0"/>
              <a:t>CPU</a:t>
            </a:r>
            <a:r>
              <a:rPr lang="zh-CN" altLang="en-US" dirty="0"/>
              <a:t>周期中数据通路是明确的</a:t>
            </a:r>
            <a:endParaRPr lang="zh-CN" altLang="en-US" dirty="0"/>
          </a:p>
          <a:p>
            <a:r>
              <a:rPr lang="zh-CN" altLang="en-US" dirty="0"/>
              <a:t>数据通路的建立及操作受到操作控制器的控制，当然决定于是什么指令。</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414338" y="8083550"/>
            <a:ext cx="8229600" cy="1371600"/>
          </a:xfrm>
        </p:spPr>
        <p:txBody>
          <a:bodyPr vert="horz" wrap="square" lIns="91440" tIns="45720" rIns="91440" bIns="45720" anchor="ctr" anchorCtr="0"/>
          <a:p>
            <a:r>
              <a:rPr lang="zh-CN" altLang="en-US" dirty="0"/>
              <a:t>总结：</a:t>
            </a:r>
            <a:endParaRPr lang="zh-CN" altLang="en-US" dirty="0"/>
          </a:p>
        </p:txBody>
      </p:sp>
      <p:sp>
        <p:nvSpPr>
          <p:cNvPr id="60419" name="Rectangle 4"/>
          <p:cNvSpPr/>
          <p:nvPr/>
        </p:nvSpPr>
        <p:spPr>
          <a:xfrm>
            <a:off x="92075" y="3411538"/>
            <a:ext cx="8874125" cy="3446462"/>
          </a:xfrm>
          <a:prstGeom prst="rect">
            <a:avLst/>
          </a:prstGeom>
          <a:solidFill>
            <a:srgbClr val="FFFFFF"/>
          </a:solid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zh-CN" sz="1600" dirty="0">
                <a:solidFill>
                  <a:srgbClr val="1F3D4D"/>
                </a:solidFill>
                <a:cs typeface="Arial" panose="020B0604020202020204" pitchFamily="34" charset="0"/>
              </a:rPr>
              <a:t>某CPU中部分数据通路如图所示，其中，GPRs为通用寄存器组；FR为标志寄存器，用于存放ALU产生的标志信息；带箭头虚线表示控制信号，如控制信号Read、Write分别表示主存读、主存写，</a:t>
            </a:r>
            <a:endParaRPr lang="en-US" altLang="zh-CN" sz="1600" dirty="0">
              <a:solidFill>
                <a:srgbClr val="1F3D4D"/>
              </a:solidFill>
              <a:cs typeface="Arial" panose="020B0604020202020204" pitchFamily="34" charset="0"/>
            </a:endParaRPr>
          </a:p>
          <a:p>
            <a:pPr marL="0" lvl="0" indent="0">
              <a:spcBef>
                <a:spcPct val="0"/>
              </a:spcBef>
              <a:buClrTx/>
              <a:buSzTx/>
              <a:buFontTx/>
              <a:buNone/>
            </a:pPr>
            <a:r>
              <a:rPr lang="zh-CN" altLang="zh-CN" sz="1600" dirty="0">
                <a:solidFill>
                  <a:srgbClr val="1F3D4D"/>
                </a:solidFill>
                <a:cs typeface="Arial" panose="020B0604020202020204" pitchFamily="34" charset="0"/>
              </a:rPr>
              <a:t>MDRin表示内部总线上数据写入MDR，MDRout表示MDR的内容送内部总线。</a:t>
            </a:r>
            <a:br>
              <a:rPr lang="zh-CN" altLang="zh-CN" sz="1600" dirty="0">
                <a:solidFill>
                  <a:srgbClr val="1F3D4D"/>
                </a:solidFill>
                <a:cs typeface="Arial" panose="020B0604020202020204" pitchFamily="34" charset="0"/>
              </a:rPr>
            </a:br>
            <a:r>
              <a:rPr lang="zh-CN" altLang="zh-CN" sz="1600" dirty="0">
                <a:solidFill>
                  <a:srgbClr val="1F3D4D"/>
                </a:solidFill>
                <a:cs typeface="Arial" panose="020B0604020202020204" pitchFamily="34" charset="0"/>
              </a:rPr>
              <a:t>                                                                                                                                                        （1）ALU的输入端A、B及输出端F的最高位分别为A</a:t>
            </a:r>
            <a:r>
              <a:rPr lang="zh-CN" altLang="zh-CN" sz="1600" baseline="-30000" dirty="0">
                <a:solidFill>
                  <a:srgbClr val="1F3D4D"/>
                </a:solidFill>
                <a:cs typeface="Arial" panose="020B0604020202020204" pitchFamily="34" charset="0"/>
              </a:rPr>
              <a:t>15</a:t>
            </a:r>
            <a:r>
              <a:rPr lang="zh-CN" altLang="zh-CN" sz="1600" dirty="0">
                <a:solidFill>
                  <a:srgbClr val="1F3D4D"/>
                </a:solidFill>
                <a:cs typeface="Arial" panose="020B0604020202020204" pitchFamily="34" charset="0"/>
              </a:rPr>
              <a:t>、B</a:t>
            </a:r>
            <a:r>
              <a:rPr lang="zh-CN" altLang="zh-CN" sz="1600" baseline="-30000" dirty="0">
                <a:solidFill>
                  <a:srgbClr val="1F3D4D"/>
                </a:solidFill>
                <a:cs typeface="Arial" panose="020B0604020202020204" pitchFamily="34" charset="0"/>
              </a:rPr>
              <a:t>15</a:t>
            </a:r>
            <a:r>
              <a:rPr lang="zh-CN" altLang="zh-CN" sz="1600" dirty="0">
                <a:solidFill>
                  <a:srgbClr val="1F3D4D"/>
                </a:solidFill>
                <a:cs typeface="Arial" panose="020B0604020202020204" pitchFamily="34" charset="0"/>
              </a:rPr>
              <a:t>及F</a:t>
            </a:r>
            <a:r>
              <a:rPr lang="zh-CN" altLang="zh-CN" sz="1600" baseline="-30000" dirty="0">
                <a:solidFill>
                  <a:srgbClr val="1F3D4D"/>
                </a:solidFill>
                <a:cs typeface="Arial" panose="020B0604020202020204" pitchFamily="34" charset="0"/>
              </a:rPr>
              <a:t>15</a:t>
            </a:r>
            <a:r>
              <a:rPr lang="zh-CN" altLang="zh-CN" sz="1600" dirty="0">
                <a:solidFill>
                  <a:srgbClr val="1F3D4D"/>
                </a:solidFill>
                <a:cs typeface="Arial" panose="020B0604020202020204" pitchFamily="34" charset="0"/>
              </a:rPr>
              <a:t>，FR中的符号标志和溢出标志分别为SF和OF，则SF的逻辑表达式是什么？A加B、A减B时OF的逻辑表达式分别是什么？要求逻辑表达式的输入变量为A</a:t>
            </a:r>
            <a:r>
              <a:rPr lang="zh-CN" altLang="zh-CN" sz="1600" baseline="-30000" dirty="0">
                <a:solidFill>
                  <a:srgbClr val="1F3D4D"/>
                </a:solidFill>
                <a:cs typeface="Arial" panose="020B0604020202020204" pitchFamily="34" charset="0"/>
              </a:rPr>
              <a:t>15</a:t>
            </a:r>
            <a:r>
              <a:rPr lang="zh-CN" altLang="zh-CN" sz="1600" dirty="0">
                <a:solidFill>
                  <a:srgbClr val="1F3D4D"/>
                </a:solidFill>
                <a:cs typeface="Arial" panose="020B0604020202020204" pitchFamily="34" charset="0"/>
              </a:rPr>
              <a:t>、B</a:t>
            </a:r>
            <a:r>
              <a:rPr lang="zh-CN" altLang="zh-CN" sz="1600" baseline="-30000" dirty="0">
                <a:solidFill>
                  <a:srgbClr val="1F3D4D"/>
                </a:solidFill>
                <a:cs typeface="Arial" panose="020B0604020202020204" pitchFamily="34" charset="0"/>
              </a:rPr>
              <a:t>15</a:t>
            </a:r>
            <a:r>
              <a:rPr lang="zh-CN" altLang="zh-CN" sz="1600" dirty="0">
                <a:solidFill>
                  <a:srgbClr val="1F3D4D"/>
                </a:solidFill>
                <a:cs typeface="Arial" panose="020B0604020202020204" pitchFamily="34" charset="0"/>
              </a:rPr>
              <a:t>及F</a:t>
            </a:r>
            <a:r>
              <a:rPr lang="zh-CN" altLang="zh-CN" sz="1600" baseline="-30000" dirty="0">
                <a:solidFill>
                  <a:srgbClr val="1F3D4D"/>
                </a:solidFill>
                <a:cs typeface="Arial" panose="020B0604020202020204" pitchFamily="34" charset="0"/>
              </a:rPr>
              <a:t>15</a:t>
            </a:r>
            <a:r>
              <a:rPr lang="zh-CN" altLang="zh-CN" sz="1600" dirty="0">
                <a:solidFill>
                  <a:srgbClr val="1F3D4D"/>
                </a:solidFill>
                <a:cs typeface="Arial" panose="020B0604020202020204" pitchFamily="34" charset="0"/>
              </a:rPr>
              <a:t>。</a:t>
            </a:r>
            <a:br>
              <a:rPr lang="zh-CN" altLang="zh-CN" sz="1600" dirty="0">
                <a:solidFill>
                  <a:srgbClr val="1F3D4D"/>
                </a:solidFill>
                <a:cs typeface="Arial" panose="020B0604020202020204" pitchFamily="34" charset="0"/>
              </a:rPr>
            </a:br>
            <a:r>
              <a:rPr lang="zh-CN" altLang="zh-CN" sz="1600" dirty="0">
                <a:solidFill>
                  <a:srgbClr val="1F3D4D"/>
                </a:solidFill>
                <a:cs typeface="Arial" panose="020B0604020202020204" pitchFamily="34" charset="0"/>
              </a:rPr>
              <a:t>（2）为什么要设置暂存器Y和Z？</a:t>
            </a:r>
            <a:br>
              <a:rPr lang="zh-CN" altLang="zh-CN" sz="1600" dirty="0">
                <a:solidFill>
                  <a:srgbClr val="1F3D4D"/>
                </a:solidFill>
                <a:cs typeface="Arial" panose="020B0604020202020204" pitchFamily="34" charset="0"/>
              </a:rPr>
            </a:br>
            <a:r>
              <a:rPr lang="zh-CN" altLang="zh-CN" sz="1600" dirty="0">
                <a:solidFill>
                  <a:srgbClr val="1F3D4D"/>
                </a:solidFill>
                <a:cs typeface="Arial" panose="020B0604020202020204" pitchFamily="34" charset="0"/>
              </a:rPr>
              <a:t>（3）若GPRs的输入端rs、rd分别为所读、写的通用寄存器的编号，则GPRs中最多有多少个通用寄存器？rs和rd来自图中的哪个寄存器？已知GPRs内部有一个地址译码器和一个多路选择器，rd应该连接地址译码器还是多路选择器？</a:t>
            </a:r>
            <a:br>
              <a:rPr lang="zh-CN" altLang="zh-CN" sz="1600" dirty="0">
                <a:solidFill>
                  <a:srgbClr val="1F3D4D"/>
                </a:solidFill>
                <a:cs typeface="Arial" panose="020B0604020202020204" pitchFamily="34" charset="0"/>
              </a:rPr>
            </a:br>
            <a:r>
              <a:rPr lang="zh-CN" altLang="zh-CN" sz="1600" dirty="0">
                <a:solidFill>
                  <a:srgbClr val="1F3D4D"/>
                </a:solidFill>
                <a:cs typeface="Arial" panose="020B0604020202020204" pitchFamily="34" charset="0"/>
              </a:rPr>
              <a:t>（4）取指令阶段（不考虑PC增量操作）的控制信号序列是什么？若从发出主存读命令到主存读出数据并传送到MDR共需5个时钟周期，则取指令阶段至少需要几个时钟周期？</a:t>
            </a:r>
            <a:br>
              <a:rPr lang="zh-CN" altLang="zh-CN" sz="1600" dirty="0">
                <a:solidFill>
                  <a:srgbClr val="1F3D4D"/>
                </a:solidFill>
                <a:cs typeface="Arial" panose="020B0604020202020204" pitchFamily="34" charset="0"/>
              </a:rPr>
            </a:br>
            <a:r>
              <a:rPr lang="zh-CN" altLang="zh-CN" sz="1600" dirty="0">
                <a:solidFill>
                  <a:srgbClr val="1F3D4D"/>
                </a:solidFill>
                <a:cs typeface="Arial" panose="020B0604020202020204" pitchFamily="34" charset="0"/>
              </a:rPr>
              <a:t>（5）图中控制信号由什么部件产生？图中哪些寄存器的输出信号会连到该部件的输入端？</a:t>
            </a:r>
            <a:endParaRPr lang="zh-CN" altLang="zh-CN" sz="1600" dirty="0">
              <a:solidFill>
                <a:srgbClr val="1F3D4D"/>
              </a:solidFill>
              <a:ea typeface="Arial" panose="020B0604020202020204" pitchFamily="34" charset="0"/>
            </a:endParaRPr>
          </a:p>
        </p:txBody>
      </p:sp>
      <p:pic>
        <p:nvPicPr>
          <p:cNvPr id="60420" name="Picture 5" descr="https://img.kuaiwenyun.com/images/shiti/2023-06/679/fSTSb7VPPM.png"/>
          <p:cNvPicPr>
            <a:picLocks noChangeAspect="1"/>
          </p:cNvPicPr>
          <p:nvPr/>
        </p:nvPicPr>
        <p:blipFill>
          <a:blip r:embed="rId1"/>
          <a:stretch>
            <a:fillRect/>
          </a:stretch>
        </p:blipFill>
        <p:spPr>
          <a:xfrm>
            <a:off x="904875" y="19050"/>
            <a:ext cx="7248525" cy="3381375"/>
          </a:xfrm>
          <a:prstGeom prst="rect">
            <a:avLst/>
          </a:prstGeom>
          <a:noFill/>
          <a:ln w="9525">
            <a:noFill/>
          </a:ln>
        </p:spPr>
      </p:pic>
      <p:sp>
        <p:nvSpPr>
          <p:cNvPr id="60421" name="文本框 3"/>
          <p:cNvSpPr txBox="1"/>
          <p:nvPr/>
        </p:nvSpPr>
        <p:spPr>
          <a:xfrm>
            <a:off x="92075" y="620713"/>
            <a:ext cx="144145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dirty="0">
                <a:solidFill>
                  <a:srgbClr val="FF0000"/>
                </a:solidFill>
              </a:rPr>
              <a:t>22</a:t>
            </a:r>
            <a:r>
              <a:rPr lang="zh-CN" altLang="en-US" sz="1800" dirty="0">
                <a:solidFill>
                  <a:srgbClr val="FF0000"/>
                </a:solidFill>
              </a:rPr>
              <a:t>年</a:t>
            </a:r>
            <a:r>
              <a:rPr lang="en-US" altLang="zh-CN" sz="1800" dirty="0">
                <a:solidFill>
                  <a:srgbClr val="FF0000"/>
                </a:solidFill>
              </a:rPr>
              <a:t>408</a:t>
            </a:r>
            <a:endParaRPr lang="zh-CN" altLang="en-US" sz="1800"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ctrTitle"/>
          </p:nvPr>
        </p:nvSpPr>
        <p:spPr>
          <a:xfrm>
            <a:off x="1115695" y="2493010"/>
            <a:ext cx="7772400" cy="1470025"/>
          </a:xfrm>
        </p:spPr>
        <p:txBody>
          <a:bodyPr/>
          <a:lstStyle/>
          <a:p>
            <a:pPr eaLnBrk="1" hangingPunct="1"/>
            <a:r>
              <a:rPr lang="en-US" altLang="zh-CN"/>
              <a:t>5.3  </a:t>
            </a:r>
            <a:r>
              <a:rPr lang="zh-CN" altLang="en-US"/>
              <a:t>时序产生器和控制方式</a:t>
            </a:r>
            <a:endParaRPr lang="zh-CN" altLang="en-US"/>
          </a:p>
        </p:txBody>
      </p:sp>
    </p:spTree>
  </p:cSld>
  <p:clrMapOvr>
    <a:masterClrMapping/>
  </p:clrMapOvr>
  <p:transition spd="med">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457200" y="0"/>
            <a:ext cx="8229600" cy="1371600"/>
          </a:xfrm>
        </p:spPr>
        <p:txBody>
          <a:bodyPr/>
          <a:lstStyle/>
          <a:p>
            <a:pPr eaLnBrk="1" hangingPunct="1">
              <a:defRPr/>
            </a:pPr>
            <a:r>
              <a:rPr lang="zh-CN" altLang="en-US"/>
              <a:t>基本概念</a:t>
            </a:r>
            <a:endParaRPr lang="en-US" altLang="zh-CN"/>
          </a:p>
        </p:txBody>
      </p:sp>
      <p:sp>
        <p:nvSpPr>
          <p:cNvPr id="64514" name="Rectangle 3"/>
          <p:cNvSpPr>
            <a:spLocks noGrp="1" noChangeArrowheads="1"/>
          </p:cNvSpPr>
          <p:nvPr>
            <p:ph idx="1"/>
          </p:nvPr>
        </p:nvSpPr>
        <p:spPr>
          <a:xfrm>
            <a:off x="457200" y="1124585"/>
            <a:ext cx="8229600" cy="3886200"/>
          </a:xfrm>
        </p:spPr>
        <p:txBody>
          <a:bodyPr/>
          <a:lstStyle/>
          <a:p>
            <a:pPr eaLnBrk="1" hangingPunct="1"/>
            <a:r>
              <a:rPr lang="zh-CN" altLang="en-US" sz="2800"/>
              <a:t>时序（</a:t>
            </a:r>
            <a:r>
              <a:rPr lang="en-US" altLang="zh-CN" sz="2800"/>
              <a:t>Timing</a:t>
            </a:r>
            <a:r>
              <a:rPr lang="zh-CN" altLang="en-US" sz="2800"/>
              <a:t>）</a:t>
            </a:r>
            <a:endParaRPr lang="en-US" altLang="zh-CN" sz="2800"/>
          </a:p>
          <a:p>
            <a:pPr eaLnBrk="1" hangingPunct="1"/>
            <a:r>
              <a:rPr lang="zh-CN" altLang="en-US" sz="2800"/>
              <a:t>在一个</a:t>
            </a:r>
            <a:r>
              <a:rPr lang="en-US" altLang="zh-CN" sz="2800"/>
              <a:t>CPU</a:t>
            </a:r>
            <a:r>
              <a:rPr lang="zh-CN" altLang="en-US" sz="2800"/>
              <a:t>周期中，时间可分为若干个小段，在每一个小段，</a:t>
            </a:r>
            <a:r>
              <a:rPr lang="en-US" altLang="zh-CN" sz="2800"/>
              <a:t>CPU</a:t>
            </a:r>
            <a:r>
              <a:rPr lang="zh-CN" altLang="en-US" sz="2800"/>
              <a:t>完成一个特定的操作</a:t>
            </a:r>
            <a:endParaRPr lang="zh-CN" altLang="en-US" sz="2800"/>
          </a:p>
          <a:p>
            <a:pPr eaLnBrk="1" hangingPunct="1"/>
            <a:r>
              <a:rPr lang="zh-CN" altLang="en-US" sz="2800"/>
              <a:t>计算机以时序信号为基准完成协调动作</a:t>
            </a:r>
            <a:endParaRPr lang="zh-CN" altLang="en-US" sz="2800"/>
          </a:p>
          <a:p>
            <a:pPr eaLnBrk="1" hangingPunct="1">
              <a:buFont typeface="Wingdings 2" pitchFamily="18" charset="2"/>
              <a:buNone/>
            </a:pPr>
            <a:r>
              <a:rPr lang="zh-CN" altLang="en-US" sz="2800"/>
              <a:t>控制器分类：</a:t>
            </a:r>
            <a:endParaRPr lang="zh-CN" altLang="en-US" sz="2800"/>
          </a:p>
          <a:p>
            <a:pPr eaLnBrk="1" hangingPunct="1"/>
            <a:r>
              <a:rPr lang="zh-CN" altLang="en-US" sz="2800"/>
              <a:t>硬布线控制器</a:t>
            </a:r>
            <a:endParaRPr lang="zh-CN" altLang="en-US" sz="2800"/>
          </a:p>
          <a:p>
            <a:pPr lvl="1" eaLnBrk="1" hangingPunct="1"/>
            <a:r>
              <a:rPr lang="zh-CN" altLang="en-US" sz="2400"/>
              <a:t>时序信号一般采用主状态周期</a:t>
            </a:r>
            <a:r>
              <a:rPr lang="en-US" altLang="zh-CN" sz="2400"/>
              <a:t>-</a:t>
            </a:r>
            <a:r>
              <a:rPr lang="zh-CN" altLang="en-US" sz="2400"/>
              <a:t>节拍电位</a:t>
            </a:r>
            <a:r>
              <a:rPr lang="en-US" altLang="zh-CN" sz="2400"/>
              <a:t>-</a:t>
            </a:r>
            <a:r>
              <a:rPr lang="zh-CN" altLang="en-US" sz="2400"/>
              <a:t>节拍脉冲三级体制。节拍电位的时间</a:t>
            </a:r>
            <a:r>
              <a:rPr lang="en-US" altLang="zh-CN" sz="2400"/>
              <a:t>=CPU</a:t>
            </a:r>
            <a:r>
              <a:rPr lang="zh-CN" altLang="en-US" sz="2400"/>
              <a:t>周期的时间</a:t>
            </a:r>
            <a:endParaRPr lang="zh-CN" altLang="en-US" sz="2400"/>
          </a:p>
          <a:p>
            <a:pPr eaLnBrk="1" hangingPunct="1"/>
            <a:r>
              <a:rPr lang="zh-CN" altLang="en-US" sz="2800"/>
              <a:t>微程序控制器</a:t>
            </a:r>
            <a:endParaRPr lang="zh-CN" altLang="en-US" sz="2800"/>
          </a:p>
          <a:p>
            <a:pPr lvl="1" eaLnBrk="1" hangingPunct="1"/>
            <a:r>
              <a:rPr lang="zh-CN" altLang="en-US" sz="2400"/>
              <a:t>时序信号比较简单。一般采用节拍电位</a:t>
            </a:r>
            <a:r>
              <a:rPr lang="en-US" altLang="zh-CN" sz="2400"/>
              <a:t>-</a:t>
            </a:r>
            <a:r>
              <a:rPr lang="zh-CN" altLang="en-US" sz="2400"/>
              <a:t>节拍脉冲二级体制</a:t>
            </a:r>
            <a:endParaRPr lang="zh-CN" altLang="en-US" sz="2400"/>
          </a:p>
        </p:txBody>
      </p:sp>
    </p:spTree>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457200" y="188595"/>
            <a:ext cx="8229600" cy="1371600"/>
          </a:xfrm>
        </p:spPr>
        <p:txBody>
          <a:bodyPr/>
          <a:lstStyle/>
          <a:p>
            <a:pPr eaLnBrk="1" hangingPunct="1"/>
            <a:r>
              <a:rPr lang="zh-CN" altLang="en-US"/>
              <a:t>问题？</a:t>
            </a:r>
            <a:endParaRPr lang="zh-CN" altLang="en-US"/>
          </a:p>
        </p:txBody>
      </p:sp>
      <p:sp>
        <p:nvSpPr>
          <p:cNvPr id="65538" name="Rectangle 3"/>
          <p:cNvSpPr>
            <a:spLocks noGrp="1" noChangeArrowheads="1"/>
          </p:cNvSpPr>
          <p:nvPr>
            <p:ph idx="1"/>
          </p:nvPr>
        </p:nvSpPr>
        <p:spPr>
          <a:xfrm>
            <a:off x="381000" y="1143000"/>
            <a:ext cx="8458200" cy="5054600"/>
          </a:xfrm>
        </p:spPr>
        <p:txBody>
          <a:bodyPr/>
          <a:lstStyle/>
          <a:p>
            <a:pPr eaLnBrk="1" hangingPunct="1"/>
            <a:r>
              <a:rPr lang="zh-CN" altLang="en-US" dirty="0"/>
              <a:t>用二进制码表示的指令和数据都放在内存里，那么</a:t>
            </a:r>
            <a:r>
              <a:rPr lang="en-US" altLang="zh-CN" dirty="0"/>
              <a:t>CPU</a:t>
            </a:r>
            <a:r>
              <a:rPr lang="zh-CN" altLang="en-US" dirty="0"/>
              <a:t>是怎样识别出它们是数据还是指令呢</a:t>
            </a:r>
            <a:r>
              <a:rPr lang="en-US" altLang="zh-CN" dirty="0"/>
              <a:t>?</a:t>
            </a:r>
            <a:endParaRPr lang="en-US" altLang="zh-CN" dirty="0"/>
          </a:p>
          <a:p>
            <a:pPr lvl="1" eaLnBrk="1" hangingPunct="1"/>
            <a:r>
              <a:rPr lang="zh-CN" altLang="en-US" dirty="0"/>
              <a:t>从时间上来说，取指令事件发生在指令周期的第一个</a:t>
            </a:r>
            <a:r>
              <a:rPr lang="en-US" altLang="zh-CN" dirty="0"/>
              <a:t>CPU</a:t>
            </a:r>
            <a:r>
              <a:rPr lang="zh-CN" altLang="en-US" dirty="0"/>
              <a:t>周期中，即发生在“取指令”阶段，而取数据事件发生在“执行指令”阶段</a:t>
            </a:r>
            <a:endParaRPr lang="zh-CN" altLang="en-US" dirty="0"/>
          </a:p>
          <a:p>
            <a:pPr lvl="1" eaLnBrk="1" hangingPunct="1"/>
            <a:r>
              <a:rPr lang="zh-CN" altLang="en-US" dirty="0"/>
              <a:t>从空间上来说，如果取出的代码是指令，那么一定送往指令寄存器，如果取出的代码是数据，那么一定送往运算器，由此可见，时间控制对计算机来说是太重要了</a:t>
            </a:r>
            <a:endParaRPr lang="zh-CN" altLang="en-US" dirty="0"/>
          </a:p>
        </p:txBody>
      </p:sp>
    </p:spTree>
  </p:cSld>
  <p:clrMapOvr>
    <a:masterClrMapping/>
  </p:clrMapOvr>
  <p:transition spd="med">
    <p:pull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pPr eaLnBrk="1" hangingPunct="1"/>
            <a:r>
              <a:rPr lang="zh-CN" altLang="en-US"/>
              <a:t>时序信号产生器</a:t>
            </a:r>
            <a:endParaRPr lang="zh-CN" altLang="en-US"/>
          </a:p>
        </p:txBody>
      </p:sp>
      <p:sp>
        <p:nvSpPr>
          <p:cNvPr id="66562" name="Rectangle 3"/>
          <p:cNvSpPr>
            <a:spLocks noGrp="1" noChangeArrowheads="1"/>
          </p:cNvSpPr>
          <p:nvPr>
            <p:ph idx="1"/>
          </p:nvPr>
        </p:nvSpPr>
        <p:spPr/>
        <p:txBody>
          <a:bodyPr/>
          <a:lstStyle/>
          <a:p>
            <a:pPr eaLnBrk="1" hangingPunct="1"/>
            <a:r>
              <a:rPr lang="zh-CN" altLang="en-US"/>
              <a:t>微程序控制器中时序信号产生器的组成</a:t>
            </a:r>
            <a:endParaRPr lang="zh-CN" altLang="en-US"/>
          </a:p>
          <a:p>
            <a:pPr lvl="1" eaLnBrk="1" hangingPunct="1"/>
            <a:r>
              <a:rPr lang="zh-CN" altLang="en-US"/>
              <a:t>时钟源</a:t>
            </a:r>
            <a:endParaRPr lang="zh-CN" altLang="en-US"/>
          </a:p>
          <a:p>
            <a:pPr lvl="1" eaLnBrk="1" hangingPunct="1"/>
            <a:r>
              <a:rPr lang="zh-CN" altLang="en-US"/>
              <a:t>环形脉冲发生器</a:t>
            </a:r>
            <a:endParaRPr lang="zh-CN" altLang="en-US"/>
          </a:p>
          <a:p>
            <a:pPr lvl="1" eaLnBrk="1" hangingPunct="1"/>
            <a:r>
              <a:rPr lang="zh-CN" altLang="en-US"/>
              <a:t>节拍脉冲和读</a:t>
            </a:r>
            <a:r>
              <a:rPr lang="en-US" altLang="zh-CN"/>
              <a:t>/</a:t>
            </a:r>
            <a:r>
              <a:rPr lang="zh-CN" altLang="en-US"/>
              <a:t>写时序的译码</a:t>
            </a:r>
            <a:endParaRPr lang="zh-CN" altLang="en-US"/>
          </a:p>
          <a:p>
            <a:pPr lvl="1" eaLnBrk="1" hangingPunct="1"/>
            <a:r>
              <a:rPr lang="zh-CN" altLang="en-US"/>
              <a:t>启停控制逻辑</a:t>
            </a:r>
            <a:endParaRPr lang="zh-CN" altLang="en-US"/>
          </a:p>
        </p:txBody>
      </p:sp>
    </p:spTree>
  </p:cSld>
  <p:clrMapOvr>
    <a:masterClrMapping/>
  </p:clrMapOvr>
  <p:transition spd="med">
    <p:pull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pPr eaLnBrk="1" hangingPunct="1"/>
            <a:r>
              <a:rPr lang="zh-CN" altLang="en-US"/>
              <a:t>时序信号产生器框图</a:t>
            </a:r>
            <a:endParaRPr lang="zh-CN" altLang="en-US"/>
          </a:p>
        </p:txBody>
      </p:sp>
      <p:sp>
        <p:nvSpPr>
          <p:cNvPr id="68611" name="Rectangle 4"/>
          <p:cNvSpPr>
            <a:spLocks noChangeArrowheads="1"/>
          </p:cNvSpPr>
          <p:nvPr/>
        </p:nvSpPr>
        <p:spPr bwMode="auto">
          <a:xfrm>
            <a:off x="1903413" y="2489200"/>
            <a:ext cx="4043362" cy="785813"/>
          </a:xfrm>
          <a:prstGeom prst="rect">
            <a:avLst/>
          </a:prstGeom>
          <a:solidFill>
            <a:srgbClr val="80008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启停控制逻辑</a:t>
            </a:r>
            <a:endParaRPr kumimoji="0" lang="zh-CN" altLang="en-US" sz="2400">
              <a:solidFill>
                <a:schemeClr val="bg1"/>
              </a:solidFill>
              <a:latin typeface="楷体" panose="02010609060101010101" pitchFamily="49" charset="-122"/>
              <a:ea typeface="楷体" panose="02010609060101010101" pitchFamily="49" charset="-122"/>
            </a:endParaRPr>
          </a:p>
        </p:txBody>
      </p:sp>
      <p:sp>
        <p:nvSpPr>
          <p:cNvPr id="68612" name="Rectangle 5"/>
          <p:cNvSpPr>
            <a:spLocks noChangeArrowheads="1"/>
          </p:cNvSpPr>
          <p:nvPr/>
        </p:nvSpPr>
        <p:spPr bwMode="auto">
          <a:xfrm>
            <a:off x="1931988" y="3875088"/>
            <a:ext cx="4043362" cy="785812"/>
          </a:xfrm>
          <a:prstGeom prst="rect">
            <a:avLst/>
          </a:prstGeom>
          <a:solidFill>
            <a:srgbClr val="80008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节拍脉冲和读写时序译码</a:t>
            </a:r>
            <a:endParaRPr kumimoji="0" lang="zh-CN" altLang="en-US" sz="2400">
              <a:solidFill>
                <a:schemeClr val="bg1"/>
              </a:solidFill>
              <a:latin typeface="楷体" panose="02010609060101010101" pitchFamily="49" charset="-122"/>
              <a:ea typeface="楷体" panose="02010609060101010101" pitchFamily="49" charset="-122"/>
            </a:endParaRPr>
          </a:p>
        </p:txBody>
      </p:sp>
      <p:sp>
        <p:nvSpPr>
          <p:cNvPr id="68613" name="Rectangle 6"/>
          <p:cNvSpPr>
            <a:spLocks noChangeArrowheads="1"/>
          </p:cNvSpPr>
          <p:nvPr/>
        </p:nvSpPr>
        <p:spPr bwMode="auto">
          <a:xfrm>
            <a:off x="1931988" y="5246688"/>
            <a:ext cx="4043362" cy="785812"/>
          </a:xfrm>
          <a:prstGeom prst="rect">
            <a:avLst/>
          </a:prstGeom>
          <a:solidFill>
            <a:srgbClr val="80008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环形脉冲发生器</a:t>
            </a:r>
            <a:endParaRPr kumimoji="0" lang="zh-CN" altLang="en-US" sz="2400">
              <a:solidFill>
                <a:schemeClr val="bg1"/>
              </a:solidFill>
              <a:latin typeface="楷体" panose="02010609060101010101" pitchFamily="49" charset="-122"/>
              <a:ea typeface="楷体" panose="02010609060101010101" pitchFamily="49" charset="-122"/>
            </a:endParaRPr>
          </a:p>
        </p:txBody>
      </p:sp>
      <p:sp>
        <p:nvSpPr>
          <p:cNvPr id="68614" name="Rectangle 7"/>
          <p:cNvSpPr>
            <a:spLocks noChangeArrowheads="1"/>
          </p:cNvSpPr>
          <p:nvPr/>
        </p:nvSpPr>
        <p:spPr bwMode="auto">
          <a:xfrm>
            <a:off x="6746875" y="5346700"/>
            <a:ext cx="1657350" cy="628650"/>
          </a:xfrm>
          <a:prstGeom prst="rect">
            <a:avLst/>
          </a:prstGeom>
          <a:solidFill>
            <a:srgbClr val="80008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时钟源</a:t>
            </a:r>
            <a:endParaRPr kumimoji="0" lang="en-US" altLang="zh-CN" sz="2400">
              <a:solidFill>
                <a:schemeClr val="bg1"/>
              </a:solidFill>
              <a:latin typeface="楷体" panose="02010609060101010101" pitchFamily="49" charset="-122"/>
              <a:ea typeface="楷体" panose="02010609060101010101" pitchFamily="49" charset="-122"/>
            </a:endParaRPr>
          </a:p>
        </p:txBody>
      </p:sp>
      <p:sp>
        <p:nvSpPr>
          <p:cNvPr id="68615" name="Line 8"/>
          <p:cNvSpPr>
            <a:spLocks noChangeShapeType="1"/>
          </p:cNvSpPr>
          <p:nvPr/>
        </p:nvSpPr>
        <p:spPr bwMode="auto">
          <a:xfrm flipH="1">
            <a:off x="5975350" y="5646738"/>
            <a:ext cx="7715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16" name="Line 9"/>
          <p:cNvSpPr>
            <a:spLocks noChangeShapeType="1"/>
          </p:cNvSpPr>
          <p:nvPr/>
        </p:nvSpPr>
        <p:spPr bwMode="auto">
          <a:xfrm flipV="1">
            <a:off x="291782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17" name="Line 10"/>
          <p:cNvSpPr>
            <a:spLocks noChangeShapeType="1"/>
          </p:cNvSpPr>
          <p:nvPr/>
        </p:nvSpPr>
        <p:spPr bwMode="auto">
          <a:xfrm flipV="1">
            <a:off x="240347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18" name="Line 11"/>
          <p:cNvSpPr>
            <a:spLocks noChangeShapeType="1"/>
          </p:cNvSpPr>
          <p:nvPr/>
        </p:nvSpPr>
        <p:spPr bwMode="auto">
          <a:xfrm flipV="1">
            <a:off x="343217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19" name="Line 12"/>
          <p:cNvSpPr>
            <a:spLocks noChangeShapeType="1"/>
          </p:cNvSpPr>
          <p:nvPr/>
        </p:nvSpPr>
        <p:spPr bwMode="auto">
          <a:xfrm flipV="1">
            <a:off x="4475163"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0" name="Line 13"/>
          <p:cNvSpPr>
            <a:spLocks noChangeShapeType="1"/>
          </p:cNvSpPr>
          <p:nvPr/>
        </p:nvSpPr>
        <p:spPr bwMode="auto">
          <a:xfrm flipV="1">
            <a:off x="394652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1" name="Line 14"/>
          <p:cNvSpPr>
            <a:spLocks noChangeShapeType="1"/>
          </p:cNvSpPr>
          <p:nvPr/>
        </p:nvSpPr>
        <p:spPr bwMode="auto">
          <a:xfrm flipV="1">
            <a:off x="4989513"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2" name="Line 15"/>
          <p:cNvSpPr>
            <a:spLocks noChangeShapeType="1"/>
          </p:cNvSpPr>
          <p:nvPr/>
        </p:nvSpPr>
        <p:spPr bwMode="auto">
          <a:xfrm flipV="1">
            <a:off x="548957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3" name="Line 16"/>
          <p:cNvSpPr>
            <a:spLocks noChangeShapeType="1"/>
          </p:cNvSpPr>
          <p:nvPr/>
        </p:nvSpPr>
        <p:spPr bwMode="auto">
          <a:xfrm flipV="1">
            <a:off x="3117850"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4" name="Line 17"/>
          <p:cNvSpPr>
            <a:spLocks noChangeShapeType="1"/>
          </p:cNvSpPr>
          <p:nvPr/>
        </p:nvSpPr>
        <p:spPr bwMode="auto">
          <a:xfrm flipV="1">
            <a:off x="2546350"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5" name="Line 18"/>
          <p:cNvSpPr>
            <a:spLocks noChangeShapeType="1"/>
          </p:cNvSpPr>
          <p:nvPr/>
        </p:nvSpPr>
        <p:spPr bwMode="auto">
          <a:xfrm flipV="1">
            <a:off x="3775075"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6" name="Line 19"/>
          <p:cNvSpPr>
            <a:spLocks noChangeShapeType="1"/>
          </p:cNvSpPr>
          <p:nvPr/>
        </p:nvSpPr>
        <p:spPr bwMode="auto">
          <a:xfrm flipV="1">
            <a:off x="4732338"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7" name="Line 20"/>
          <p:cNvSpPr>
            <a:spLocks noChangeShapeType="1"/>
          </p:cNvSpPr>
          <p:nvPr/>
        </p:nvSpPr>
        <p:spPr bwMode="auto">
          <a:xfrm flipV="1">
            <a:off x="4246563"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8" name="Line 21"/>
          <p:cNvSpPr>
            <a:spLocks noChangeShapeType="1"/>
          </p:cNvSpPr>
          <p:nvPr/>
        </p:nvSpPr>
        <p:spPr bwMode="auto">
          <a:xfrm flipV="1">
            <a:off x="5246688"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9" name="Line 23"/>
          <p:cNvSpPr>
            <a:spLocks noChangeShapeType="1"/>
          </p:cNvSpPr>
          <p:nvPr/>
        </p:nvSpPr>
        <p:spPr bwMode="auto">
          <a:xfrm flipV="1">
            <a:off x="2574925"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0" name="Line 25"/>
          <p:cNvSpPr>
            <a:spLocks noChangeShapeType="1"/>
          </p:cNvSpPr>
          <p:nvPr/>
        </p:nvSpPr>
        <p:spPr bwMode="auto">
          <a:xfrm flipV="1">
            <a:off x="3146425"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1" name="Line 26"/>
          <p:cNvSpPr>
            <a:spLocks noChangeShapeType="1"/>
          </p:cNvSpPr>
          <p:nvPr/>
        </p:nvSpPr>
        <p:spPr bwMode="auto">
          <a:xfrm flipV="1">
            <a:off x="4232275"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2" name="Line 27"/>
          <p:cNvSpPr>
            <a:spLocks noChangeShapeType="1"/>
          </p:cNvSpPr>
          <p:nvPr/>
        </p:nvSpPr>
        <p:spPr bwMode="auto">
          <a:xfrm flipV="1">
            <a:off x="3703638"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3" name="Line 28"/>
          <p:cNvSpPr>
            <a:spLocks noChangeShapeType="1"/>
          </p:cNvSpPr>
          <p:nvPr/>
        </p:nvSpPr>
        <p:spPr bwMode="auto">
          <a:xfrm flipV="1">
            <a:off x="4746625"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4" name="Line 29"/>
          <p:cNvSpPr>
            <a:spLocks noChangeShapeType="1"/>
          </p:cNvSpPr>
          <p:nvPr/>
        </p:nvSpPr>
        <p:spPr bwMode="auto">
          <a:xfrm flipV="1">
            <a:off x="5246688"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5" name="Text Box 31"/>
          <p:cNvSpPr txBox="1">
            <a:spLocks noChangeArrowheads="1"/>
          </p:cNvSpPr>
          <p:nvPr/>
        </p:nvSpPr>
        <p:spPr bwMode="auto">
          <a:xfrm>
            <a:off x="2268538" y="1541463"/>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68636" name="Text Box 32"/>
          <p:cNvSpPr txBox="1">
            <a:spLocks noChangeArrowheads="1"/>
          </p:cNvSpPr>
          <p:nvPr/>
        </p:nvSpPr>
        <p:spPr bwMode="auto">
          <a:xfrm>
            <a:off x="2811463" y="1541463"/>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68637" name="Text Box 33"/>
          <p:cNvSpPr txBox="1">
            <a:spLocks noChangeArrowheads="1"/>
          </p:cNvSpPr>
          <p:nvPr/>
        </p:nvSpPr>
        <p:spPr bwMode="auto">
          <a:xfrm>
            <a:off x="3471863" y="15414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68638" name="Text Box 34"/>
          <p:cNvSpPr txBox="1">
            <a:spLocks noChangeArrowheads="1"/>
          </p:cNvSpPr>
          <p:nvPr/>
        </p:nvSpPr>
        <p:spPr bwMode="auto">
          <a:xfrm>
            <a:off x="3986213" y="15414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68639" name="Text Box 35"/>
          <p:cNvSpPr txBox="1">
            <a:spLocks noChangeArrowheads="1"/>
          </p:cNvSpPr>
          <p:nvPr/>
        </p:nvSpPr>
        <p:spPr bwMode="auto">
          <a:xfrm>
            <a:off x="4514850" y="15414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68640" name="Text Box 36"/>
          <p:cNvSpPr txBox="1">
            <a:spLocks noChangeArrowheads="1"/>
          </p:cNvSpPr>
          <p:nvPr/>
        </p:nvSpPr>
        <p:spPr bwMode="auto">
          <a:xfrm>
            <a:off x="5014913" y="15414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grpSp>
        <p:nvGrpSpPr>
          <p:cNvPr id="68641" name="Group 42"/>
          <p:cNvGrpSpPr/>
          <p:nvPr/>
        </p:nvGrpSpPr>
        <p:grpSpPr bwMode="auto">
          <a:xfrm>
            <a:off x="2497138" y="3398838"/>
            <a:ext cx="635000" cy="457200"/>
            <a:chOff x="4361" y="1824"/>
            <a:chExt cx="400" cy="288"/>
          </a:xfrm>
        </p:grpSpPr>
        <p:sp>
          <p:nvSpPr>
            <p:cNvPr id="68665" name="Text Box 30"/>
            <p:cNvSpPr txBox="1">
              <a:spLocks noChangeArrowheads="1"/>
            </p:cNvSpPr>
            <p:nvPr/>
          </p:nvSpPr>
          <p:spPr bwMode="auto">
            <a:xfrm>
              <a:off x="4361" y="1824"/>
              <a:ext cx="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68666" name="Oval 37"/>
            <p:cNvSpPr>
              <a:spLocks noChangeArrowheads="1"/>
            </p:cNvSpPr>
            <p:nvPr/>
          </p:nvSpPr>
          <p:spPr bwMode="auto">
            <a:xfrm>
              <a:off x="4671" y="185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68642" name="Text Box 44"/>
          <p:cNvSpPr txBox="1">
            <a:spLocks noChangeArrowheads="1"/>
          </p:cNvSpPr>
          <p:nvPr/>
        </p:nvSpPr>
        <p:spPr bwMode="auto">
          <a:xfrm>
            <a:off x="3068638" y="338455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68643" name="Oval 45"/>
          <p:cNvSpPr>
            <a:spLocks noChangeArrowheads="1"/>
          </p:cNvSpPr>
          <p:nvPr/>
        </p:nvSpPr>
        <p:spPr bwMode="auto">
          <a:xfrm>
            <a:off x="3646488"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44" name="Text Box 47"/>
          <p:cNvSpPr txBox="1">
            <a:spLocks noChangeArrowheads="1"/>
          </p:cNvSpPr>
          <p:nvPr/>
        </p:nvSpPr>
        <p:spPr bwMode="auto">
          <a:xfrm>
            <a:off x="3768725" y="33845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68645" name="Oval 48"/>
          <p:cNvSpPr>
            <a:spLocks noChangeArrowheads="1"/>
          </p:cNvSpPr>
          <p:nvPr/>
        </p:nvSpPr>
        <p:spPr bwMode="auto">
          <a:xfrm>
            <a:off x="4089400"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46" name="Text Box 49"/>
          <p:cNvSpPr txBox="1">
            <a:spLocks noChangeArrowheads="1"/>
          </p:cNvSpPr>
          <p:nvPr/>
        </p:nvSpPr>
        <p:spPr bwMode="auto">
          <a:xfrm>
            <a:off x="4225925" y="33845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68647" name="Oval 50"/>
          <p:cNvSpPr>
            <a:spLocks noChangeArrowheads="1"/>
          </p:cNvSpPr>
          <p:nvPr/>
        </p:nvSpPr>
        <p:spPr bwMode="auto">
          <a:xfrm>
            <a:off x="4546600"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48" name="Text Box 51"/>
          <p:cNvSpPr txBox="1">
            <a:spLocks noChangeArrowheads="1"/>
          </p:cNvSpPr>
          <p:nvPr/>
        </p:nvSpPr>
        <p:spPr bwMode="auto">
          <a:xfrm>
            <a:off x="4783138" y="33845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68649" name="Oval 52"/>
          <p:cNvSpPr>
            <a:spLocks noChangeArrowheads="1"/>
          </p:cNvSpPr>
          <p:nvPr/>
        </p:nvSpPr>
        <p:spPr bwMode="auto">
          <a:xfrm>
            <a:off x="5095875"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50" name="Text Box 53"/>
          <p:cNvSpPr txBox="1">
            <a:spLocks noChangeArrowheads="1"/>
          </p:cNvSpPr>
          <p:nvPr/>
        </p:nvSpPr>
        <p:spPr bwMode="auto">
          <a:xfrm>
            <a:off x="5283200" y="33845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68651" name="Oval 54"/>
          <p:cNvSpPr>
            <a:spLocks noChangeArrowheads="1"/>
          </p:cNvSpPr>
          <p:nvPr/>
        </p:nvSpPr>
        <p:spPr bwMode="auto">
          <a:xfrm>
            <a:off x="5595938"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52" name="Line 55"/>
          <p:cNvSpPr>
            <a:spLocks noChangeShapeType="1"/>
          </p:cNvSpPr>
          <p:nvPr/>
        </p:nvSpPr>
        <p:spPr bwMode="auto">
          <a:xfrm flipH="1">
            <a:off x="5946775" y="2646363"/>
            <a:ext cx="78581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53" name="Line 56"/>
          <p:cNvSpPr>
            <a:spLocks noChangeShapeType="1"/>
          </p:cNvSpPr>
          <p:nvPr/>
        </p:nvSpPr>
        <p:spPr bwMode="auto">
          <a:xfrm flipH="1">
            <a:off x="5978525" y="3089275"/>
            <a:ext cx="78581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54" name="Text Box 57"/>
          <p:cNvSpPr txBox="1">
            <a:spLocks noChangeArrowheads="1"/>
          </p:cNvSpPr>
          <p:nvPr/>
        </p:nvSpPr>
        <p:spPr bwMode="auto">
          <a:xfrm>
            <a:off x="6678537" y="2400300"/>
            <a:ext cx="8034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启动</a:t>
            </a:r>
            <a:endParaRPr kumimoji="0" lang="zh-CN" altLang="en-US" sz="2400">
              <a:latin typeface="楷体" panose="02010609060101010101" pitchFamily="49" charset="-122"/>
              <a:ea typeface="楷体" panose="02010609060101010101" pitchFamily="49" charset="-122"/>
            </a:endParaRPr>
          </a:p>
        </p:txBody>
      </p:sp>
      <p:sp>
        <p:nvSpPr>
          <p:cNvPr id="68655" name="Text Box 58"/>
          <p:cNvSpPr txBox="1">
            <a:spLocks noChangeArrowheads="1"/>
          </p:cNvSpPr>
          <p:nvPr/>
        </p:nvSpPr>
        <p:spPr bwMode="auto">
          <a:xfrm>
            <a:off x="6678537" y="2843213"/>
            <a:ext cx="8034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停机</a:t>
            </a:r>
            <a:endParaRPr kumimoji="0" lang="zh-CN" altLang="en-US" sz="2400">
              <a:latin typeface="楷体" panose="02010609060101010101" pitchFamily="49" charset="-122"/>
              <a:ea typeface="楷体" panose="02010609060101010101" pitchFamily="49" charset="-122"/>
            </a:endParaRPr>
          </a:p>
        </p:txBody>
      </p:sp>
      <p:sp>
        <p:nvSpPr>
          <p:cNvPr id="68656" name="Line 59"/>
          <p:cNvSpPr>
            <a:spLocks noChangeShapeType="1"/>
          </p:cNvSpPr>
          <p:nvPr/>
        </p:nvSpPr>
        <p:spPr bwMode="auto">
          <a:xfrm flipH="1">
            <a:off x="6007100" y="4060825"/>
            <a:ext cx="78581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57" name="Line 60"/>
          <p:cNvSpPr>
            <a:spLocks noChangeShapeType="1"/>
          </p:cNvSpPr>
          <p:nvPr/>
        </p:nvSpPr>
        <p:spPr bwMode="auto">
          <a:xfrm flipH="1">
            <a:off x="5975350" y="4503738"/>
            <a:ext cx="78581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58" name="Text Box 61"/>
          <p:cNvSpPr txBox="1">
            <a:spLocks noChangeArrowheads="1"/>
          </p:cNvSpPr>
          <p:nvPr/>
        </p:nvSpPr>
        <p:spPr bwMode="auto">
          <a:xfrm>
            <a:off x="6721475" y="3835400"/>
            <a:ext cx="70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rPr>
              <a:t>RD'</a:t>
            </a:r>
            <a:endParaRPr kumimoji="0" lang="en-US" altLang="zh-CN" sz="2400">
              <a:ea typeface="宋体" panose="02010600030101010101" pitchFamily="2" charset="-122"/>
            </a:endParaRPr>
          </a:p>
        </p:txBody>
      </p:sp>
      <p:sp>
        <p:nvSpPr>
          <p:cNvPr id="68659" name="Text Box 62"/>
          <p:cNvSpPr txBox="1">
            <a:spLocks noChangeArrowheads="1"/>
          </p:cNvSpPr>
          <p:nvPr/>
        </p:nvSpPr>
        <p:spPr bwMode="auto">
          <a:xfrm>
            <a:off x="6708775" y="4278313"/>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rPr>
              <a:t>WE'</a:t>
            </a:r>
            <a:endParaRPr kumimoji="0" lang="en-US" altLang="zh-CN" sz="2400">
              <a:ea typeface="宋体" panose="02010600030101010101" pitchFamily="2" charset="-122"/>
            </a:endParaRPr>
          </a:p>
        </p:txBody>
      </p:sp>
      <p:sp>
        <p:nvSpPr>
          <p:cNvPr id="68660" name="Text Box 63"/>
          <p:cNvSpPr txBox="1">
            <a:spLocks noChangeArrowheads="1"/>
          </p:cNvSpPr>
          <p:nvPr/>
        </p:nvSpPr>
        <p:spPr bwMode="auto">
          <a:xfrm>
            <a:off x="6094413" y="5276850"/>
            <a:ext cx="676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rPr>
              <a:t>CLK</a:t>
            </a:r>
            <a:endParaRPr kumimoji="0" lang="en-US" altLang="zh-CN" sz="2000">
              <a:latin typeface="Tahoma" panose="020B0604030504040204" pitchFamily="34" charset="0"/>
            </a:endParaRPr>
          </a:p>
        </p:txBody>
      </p:sp>
      <p:sp>
        <p:nvSpPr>
          <p:cNvPr id="68661" name="TextBox 1"/>
          <p:cNvSpPr txBox="1">
            <a:spLocks noChangeArrowheads="1"/>
          </p:cNvSpPr>
          <p:nvPr/>
        </p:nvSpPr>
        <p:spPr bwMode="auto">
          <a:xfrm>
            <a:off x="7575550" y="3198813"/>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lang="zh-CN" altLang="en-US" sz="2000">
                <a:solidFill>
                  <a:srgbClr val="2D2DB9"/>
                </a:solidFill>
                <a:latin typeface="楷体" panose="02010609060101010101" pitchFamily="49" charset="-122"/>
                <a:ea typeface="楷体" panose="02010609060101010101" pitchFamily="49" charset="-122"/>
              </a:rPr>
              <a:t>节拍脉冲</a:t>
            </a:r>
            <a:endParaRPr lang="zh-CN" altLang="en-US" sz="2000">
              <a:solidFill>
                <a:srgbClr val="2D2DB9"/>
              </a:solidFill>
              <a:latin typeface="楷体" panose="02010609060101010101" pitchFamily="49" charset="-122"/>
              <a:ea typeface="楷体" panose="02010609060101010101" pitchFamily="49" charset="-122"/>
            </a:endParaRPr>
          </a:p>
        </p:txBody>
      </p:sp>
      <p:cxnSp>
        <p:nvCxnSpPr>
          <p:cNvPr id="4" name="直接箭头连接符 3"/>
          <p:cNvCxnSpPr>
            <a:stCxn id="68661" idx="1"/>
          </p:cNvCxnSpPr>
          <p:nvPr/>
        </p:nvCxnSpPr>
        <p:spPr bwMode="auto">
          <a:xfrm flipH="1">
            <a:off x="5784850" y="3398838"/>
            <a:ext cx="1790700" cy="122237"/>
          </a:xfrm>
          <a:prstGeom prst="straightConnector1">
            <a:avLst/>
          </a:prstGeom>
          <a:noFill/>
          <a:ln w="15875" cap="flat" cmpd="sng" algn="ctr">
            <a:solidFill>
              <a:schemeClr val="accent6"/>
            </a:solidFill>
            <a:prstDash val="solid"/>
            <a:miter lim="800000"/>
            <a:headEnd type="none" w="med" len="med"/>
            <a:tailEnd type="arrow"/>
          </a:ln>
          <a:effectLst/>
        </p:spPr>
      </p:cxnSp>
      <p:sp>
        <p:nvSpPr>
          <p:cNvPr id="68663" name="TextBox 59"/>
          <p:cNvSpPr txBox="1">
            <a:spLocks noChangeArrowheads="1"/>
          </p:cNvSpPr>
          <p:nvPr/>
        </p:nvSpPr>
        <p:spPr bwMode="auto">
          <a:xfrm>
            <a:off x="7799388" y="484663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lang="zh-CN" altLang="en-US" sz="2000">
                <a:solidFill>
                  <a:srgbClr val="2D2DB9"/>
                </a:solidFill>
                <a:latin typeface="楷体" panose="02010609060101010101" pitchFamily="49" charset="-122"/>
                <a:ea typeface="楷体" panose="02010609060101010101" pitchFamily="49" charset="-122"/>
              </a:rPr>
              <a:t>节拍电位</a:t>
            </a:r>
            <a:endParaRPr lang="zh-CN" altLang="en-US" sz="2000">
              <a:solidFill>
                <a:srgbClr val="2D2DB9"/>
              </a:solidFill>
              <a:latin typeface="楷体" panose="02010609060101010101" pitchFamily="49" charset="-122"/>
              <a:ea typeface="楷体" panose="02010609060101010101" pitchFamily="49" charset="-122"/>
            </a:endParaRPr>
          </a:p>
        </p:txBody>
      </p:sp>
      <p:cxnSp>
        <p:nvCxnSpPr>
          <p:cNvPr id="61" name="直接箭头连接符 60"/>
          <p:cNvCxnSpPr/>
          <p:nvPr/>
        </p:nvCxnSpPr>
        <p:spPr bwMode="auto">
          <a:xfrm flipH="1" flipV="1">
            <a:off x="7431088" y="4660900"/>
            <a:ext cx="368300" cy="400050"/>
          </a:xfrm>
          <a:prstGeom prst="straightConnector1">
            <a:avLst/>
          </a:prstGeom>
          <a:noFill/>
          <a:ln w="15875" cap="flat" cmpd="sng" algn="ctr">
            <a:solidFill>
              <a:schemeClr val="accent6"/>
            </a:solidFill>
            <a:prstDash val="solid"/>
            <a:miter lim="800000"/>
            <a:headEnd type="none" w="med" len="med"/>
            <a:tailEnd type="arrow"/>
          </a:ln>
          <a:effectLst/>
        </p:spPr>
      </p:cxnSp>
    </p:spTree>
  </p:cSld>
  <p:clrMapOvr>
    <a:masterClrMapping/>
  </p:clrMapOvr>
  <p:transition spd="med">
    <p:pull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eaLnBrk="1" hangingPunct="1"/>
            <a:r>
              <a:rPr lang="zh-CN" altLang="en-US" sz="4000"/>
              <a:t>时序信号产生器的输出</a:t>
            </a:r>
            <a:endParaRPr lang="zh-CN" altLang="en-US" sz="4000"/>
          </a:p>
        </p:txBody>
      </p:sp>
      <p:pic>
        <p:nvPicPr>
          <p:cNvPr id="69635" name="Picture 5" descr="p27"/>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088" y="1344613"/>
            <a:ext cx="7526337"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eaLnBrk="1" hangingPunct="1"/>
            <a:r>
              <a:rPr lang="zh-CN" altLang="en-US"/>
              <a:t>时序信号产生器（</a:t>
            </a:r>
            <a:r>
              <a:rPr lang="en-US" altLang="zh-CN"/>
              <a:t>1</a:t>
            </a:r>
            <a:r>
              <a:rPr lang="zh-CN" altLang="en-US"/>
              <a:t>）</a:t>
            </a:r>
            <a:endParaRPr lang="zh-CN" altLang="en-US"/>
          </a:p>
        </p:txBody>
      </p:sp>
      <p:sp>
        <p:nvSpPr>
          <p:cNvPr id="70658" name="Rectangle 3"/>
          <p:cNvSpPr>
            <a:spLocks noGrp="1" noChangeArrowheads="1"/>
          </p:cNvSpPr>
          <p:nvPr>
            <p:ph idx="1"/>
          </p:nvPr>
        </p:nvSpPr>
        <p:spPr/>
        <p:txBody>
          <a:bodyPr/>
          <a:lstStyle/>
          <a:p>
            <a:pPr eaLnBrk="1" hangingPunct="1"/>
            <a:r>
              <a:rPr lang="zh-CN" altLang="en-US" sz="3600"/>
              <a:t>环形脉冲发生器</a:t>
            </a:r>
            <a:endParaRPr lang="zh-CN" altLang="en-US" sz="3600"/>
          </a:p>
          <a:p>
            <a:pPr lvl="1" eaLnBrk="1" hangingPunct="1"/>
            <a:r>
              <a:rPr lang="zh-CN" altLang="en-US" sz="3200"/>
              <a:t>产生一组有序的间隔相等或不等的脉冲序列，以便通过译码电路来产生最后所需的节拍脉冲</a:t>
            </a:r>
            <a:endParaRPr lang="zh-CN" altLang="en-US" sz="3200"/>
          </a:p>
          <a:p>
            <a:pPr lvl="1" eaLnBrk="1" hangingPunct="1"/>
            <a:r>
              <a:rPr lang="zh-CN" altLang="en-US" sz="3200"/>
              <a:t>为了在节拍脉冲上不带干扰毛刺，环形脉冲发生器通常采用循环移位寄存器形式</a:t>
            </a:r>
            <a:endParaRPr lang="zh-CN" altLang="en-US" sz="3200"/>
          </a:p>
        </p:txBody>
      </p:sp>
    </p:spTree>
  </p:cSld>
  <p:clrMapOvr>
    <a:masterClrMapping/>
  </p:clrMapOvr>
  <p:transition spd="med">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eaLnBrk="1" hangingPunct="1"/>
            <a:r>
              <a:rPr lang="zh-CN" altLang="en-US" sz="4000"/>
              <a:t>节拍电位与节拍脉冲时序关系图</a:t>
            </a:r>
            <a:r>
              <a:rPr lang="en-US" altLang="zh-CN" sz="4000"/>
              <a:t>1</a:t>
            </a:r>
            <a:endParaRPr lang="en-US" altLang="zh-CN" sz="4000"/>
          </a:p>
        </p:txBody>
      </p:sp>
      <p:pic>
        <p:nvPicPr>
          <p:cNvPr id="71683" name="Picture 6" descr="p2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6763" y="2270125"/>
            <a:ext cx="7804150"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Text Box 8"/>
          <p:cNvSpPr txBox="1">
            <a:spLocks noChangeArrowheads="1"/>
          </p:cNvSpPr>
          <p:nvPr/>
        </p:nvSpPr>
        <p:spPr bwMode="auto">
          <a:xfrm>
            <a:off x="693738" y="3009900"/>
            <a:ext cx="515937" cy="3048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C4</a:t>
            </a:r>
            <a:endParaRPr kumimoji="0" lang="en-US" altLang="zh-CN" sz="2000">
              <a:latin typeface="Tahoma" panose="020B0604030504040204" pitchFamily="34" charset="0"/>
              <a:ea typeface="宋体" panose="02010600030101010101" pitchFamily="2" charset="-122"/>
            </a:endParaRPr>
          </a:p>
        </p:txBody>
      </p:sp>
      <p:sp>
        <p:nvSpPr>
          <p:cNvPr id="71685" name="Text Box 9"/>
          <p:cNvSpPr txBox="1">
            <a:spLocks noChangeArrowheads="1"/>
          </p:cNvSpPr>
          <p:nvPr/>
        </p:nvSpPr>
        <p:spPr bwMode="auto">
          <a:xfrm>
            <a:off x="708025" y="3652838"/>
            <a:ext cx="515938" cy="3048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C1</a:t>
            </a:r>
            <a:endParaRPr kumimoji="0" lang="en-US" altLang="zh-CN" sz="2000">
              <a:latin typeface="Tahoma" panose="020B0604030504040204" pitchFamily="34" charset="0"/>
              <a:ea typeface="宋体" panose="02010600030101010101" pitchFamily="2" charset="-122"/>
            </a:endParaRPr>
          </a:p>
        </p:txBody>
      </p:sp>
      <p:sp>
        <p:nvSpPr>
          <p:cNvPr id="71686" name="Text Box 10"/>
          <p:cNvSpPr txBox="1">
            <a:spLocks noChangeArrowheads="1"/>
          </p:cNvSpPr>
          <p:nvPr/>
        </p:nvSpPr>
        <p:spPr bwMode="auto">
          <a:xfrm>
            <a:off x="693738" y="4324350"/>
            <a:ext cx="515937" cy="3048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C2</a:t>
            </a:r>
            <a:endParaRPr kumimoji="0" lang="en-US" altLang="zh-CN" sz="2000">
              <a:latin typeface="Tahoma" panose="020B0604030504040204" pitchFamily="34" charset="0"/>
              <a:ea typeface="宋体" panose="02010600030101010101" pitchFamily="2" charset="-122"/>
            </a:endParaRPr>
          </a:p>
        </p:txBody>
      </p:sp>
      <p:sp>
        <p:nvSpPr>
          <p:cNvPr id="71687" name="Text Box 11"/>
          <p:cNvSpPr txBox="1">
            <a:spLocks noChangeArrowheads="1"/>
          </p:cNvSpPr>
          <p:nvPr/>
        </p:nvSpPr>
        <p:spPr bwMode="auto">
          <a:xfrm>
            <a:off x="693738" y="4867275"/>
            <a:ext cx="515937" cy="3048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C3</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457200" y="260985"/>
            <a:ext cx="8229600" cy="1371600"/>
          </a:xfrm>
        </p:spPr>
        <p:txBody>
          <a:bodyPr/>
          <a:lstStyle/>
          <a:p>
            <a:pPr eaLnBrk="1" hangingPunct="1"/>
            <a:r>
              <a:rPr lang="zh-CN" altLang="en-US"/>
              <a:t>环形脉冲发生器与译码逻辑（</a:t>
            </a:r>
            <a:r>
              <a:rPr lang="en-US" altLang="zh-CN"/>
              <a:t>1</a:t>
            </a:r>
            <a:r>
              <a:rPr lang="zh-CN" altLang="en-US"/>
              <a:t>）</a:t>
            </a:r>
            <a:endParaRPr lang="zh-CN" altLang="en-US"/>
          </a:p>
        </p:txBody>
      </p:sp>
      <p:sp>
        <p:nvSpPr>
          <p:cNvPr id="72707" name="Rectangle 4"/>
          <p:cNvSpPr>
            <a:spLocks noChangeArrowheads="1"/>
          </p:cNvSpPr>
          <p:nvPr/>
        </p:nvSpPr>
        <p:spPr bwMode="auto">
          <a:xfrm>
            <a:off x="2062163" y="2754313"/>
            <a:ext cx="1271587"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08" name="Text Box 5"/>
          <p:cNvSpPr txBox="1">
            <a:spLocks noChangeArrowheads="1"/>
          </p:cNvSpPr>
          <p:nvPr/>
        </p:nvSpPr>
        <p:spPr bwMode="auto">
          <a:xfrm>
            <a:off x="2098675" y="271303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09" name="Text Box 6"/>
          <p:cNvSpPr txBox="1">
            <a:spLocks noChangeArrowheads="1"/>
          </p:cNvSpPr>
          <p:nvPr/>
        </p:nvSpPr>
        <p:spPr bwMode="auto">
          <a:xfrm>
            <a:off x="2955925" y="271303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0" name="Line 7"/>
          <p:cNvSpPr>
            <a:spLocks noChangeShapeType="1"/>
          </p:cNvSpPr>
          <p:nvPr/>
        </p:nvSpPr>
        <p:spPr bwMode="auto">
          <a:xfrm>
            <a:off x="3033713" y="2797175"/>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11" name="Text Box 8"/>
          <p:cNvSpPr txBox="1">
            <a:spLocks noChangeArrowheads="1"/>
          </p:cNvSpPr>
          <p:nvPr/>
        </p:nvSpPr>
        <p:spPr bwMode="auto">
          <a:xfrm>
            <a:off x="2112963" y="3198813"/>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2" name="Text Box 9"/>
          <p:cNvSpPr txBox="1">
            <a:spLocks noChangeArrowheads="1"/>
          </p:cNvSpPr>
          <p:nvPr/>
        </p:nvSpPr>
        <p:spPr bwMode="auto">
          <a:xfrm>
            <a:off x="2484438" y="2984500"/>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3" name="Text Box 10"/>
          <p:cNvSpPr txBox="1">
            <a:spLocks noChangeArrowheads="1"/>
          </p:cNvSpPr>
          <p:nvPr/>
        </p:nvSpPr>
        <p:spPr bwMode="auto">
          <a:xfrm>
            <a:off x="2927350" y="3332163"/>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4" name="Oval 11"/>
          <p:cNvSpPr>
            <a:spLocks noChangeArrowheads="1"/>
          </p:cNvSpPr>
          <p:nvPr/>
        </p:nvSpPr>
        <p:spPr bwMode="auto">
          <a:xfrm>
            <a:off x="3333750" y="3125788"/>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15" name="Rectangle 12"/>
          <p:cNvSpPr>
            <a:spLocks noChangeArrowheads="1"/>
          </p:cNvSpPr>
          <p:nvPr/>
        </p:nvSpPr>
        <p:spPr bwMode="auto">
          <a:xfrm>
            <a:off x="4233863" y="2754313"/>
            <a:ext cx="1271587"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16" name="Text Box 13"/>
          <p:cNvSpPr txBox="1">
            <a:spLocks noChangeArrowheads="1"/>
          </p:cNvSpPr>
          <p:nvPr/>
        </p:nvSpPr>
        <p:spPr bwMode="auto">
          <a:xfrm>
            <a:off x="4270375" y="271303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7" name="Text Box 14"/>
          <p:cNvSpPr txBox="1">
            <a:spLocks noChangeArrowheads="1"/>
          </p:cNvSpPr>
          <p:nvPr/>
        </p:nvSpPr>
        <p:spPr bwMode="auto">
          <a:xfrm>
            <a:off x="5127625" y="271303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8" name="Line 15"/>
          <p:cNvSpPr>
            <a:spLocks noChangeShapeType="1"/>
          </p:cNvSpPr>
          <p:nvPr/>
        </p:nvSpPr>
        <p:spPr bwMode="auto">
          <a:xfrm>
            <a:off x="5205413" y="2797175"/>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19" name="Text Box 16"/>
          <p:cNvSpPr txBox="1">
            <a:spLocks noChangeArrowheads="1"/>
          </p:cNvSpPr>
          <p:nvPr/>
        </p:nvSpPr>
        <p:spPr bwMode="auto">
          <a:xfrm>
            <a:off x="4284663" y="3198813"/>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0" name="Text Box 17"/>
          <p:cNvSpPr txBox="1">
            <a:spLocks noChangeArrowheads="1"/>
          </p:cNvSpPr>
          <p:nvPr/>
        </p:nvSpPr>
        <p:spPr bwMode="auto">
          <a:xfrm>
            <a:off x="4656138" y="2984500"/>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1" name="Text Box 18"/>
          <p:cNvSpPr txBox="1">
            <a:spLocks noChangeArrowheads="1"/>
          </p:cNvSpPr>
          <p:nvPr/>
        </p:nvSpPr>
        <p:spPr bwMode="auto">
          <a:xfrm>
            <a:off x="5099050" y="3332163"/>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2" name="Oval 19"/>
          <p:cNvSpPr>
            <a:spLocks noChangeArrowheads="1"/>
          </p:cNvSpPr>
          <p:nvPr/>
        </p:nvSpPr>
        <p:spPr bwMode="auto">
          <a:xfrm>
            <a:off x="5505450" y="3125788"/>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23" name="Rectangle 20"/>
          <p:cNvSpPr>
            <a:spLocks noChangeArrowheads="1"/>
          </p:cNvSpPr>
          <p:nvPr/>
        </p:nvSpPr>
        <p:spPr bwMode="auto">
          <a:xfrm>
            <a:off x="6305550" y="2754313"/>
            <a:ext cx="1271588"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24" name="Text Box 21"/>
          <p:cNvSpPr txBox="1">
            <a:spLocks noChangeArrowheads="1"/>
          </p:cNvSpPr>
          <p:nvPr/>
        </p:nvSpPr>
        <p:spPr bwMode="auto">
          <a:xfrm>
            <a:off x="6342063" y="2713038"/>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5" name="Text Box 22"/>
          <p:cNvSpPr txBox="1">
            <a:spLocks noChangeArrowheads="1"/>
          </p:cNvSpPr>
          <p:nvPr/>
        </p:nvSpPr>
        <p:spPr bwMode="auto">
          <a:xfrm>
            <a:off x="7199313" y="2713038"/>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6" name="Line 23"/>
          <p:cNvSpPr>
            <a:spLocks noChangeShapeType="1"/>
          </p:cNvSpPr>
          <p:nvPr/>
        </p:nvSpPr>
        <p:spPr bwMode="auto">
          <a:xfrm>
            <a:off x="7277100" y="2797175"/>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27" name="Text Box 24"/>
          <p:cNvSpPr txBox="1">
            <a:spLocks noChangeArrowheads="1"/>
          </p:cNvSpPr>
          <p:nvPr/>
        </p:nvSpPr>
        <p:spPr bwMode="auto">
          <a:xfrm>
            <a:off x="6356350" y="3198813"/>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8" name="Text Box 25"/>
          <p:cNvSpPr txBox="1">
            <a:spLocks noChangeArrowheads="1"/>
          </p:cNvSpPr>
          <p:nvPr/>
        </p:nvSpPr>
        <p:spPr bwMode="auto">
          <a:xfrm>
            <a:off x="6727825" y="2984500"/>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9" name="Text Box 26"/>
          <p:cNvSpPr txBox="1">
            <a:spLocks noChangeArrowheads="1"/>
          </p:cNvSpPr>
          <p:nvPr/>
        </p:nvSpPr>
        <p:spPr bwMode="auto">
          <a:xfrm>
            <a:off x="7170738" y="3332163"/>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0" name="Oval 27"/>
          <p:cNvSpPr>
            <a:spLocks noChangeArrowheads="1"/>
          </p:cNvSpPr>
          <p:nvPr/>
        </p:nvSpPr>
        <p:spPr bwMode="auto">
          <a:xfrm>
            <a:off x="7577138" y="3125788"/>
            <a:ext cx="100012"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31" name="Line 28"/>
          <p:cNvSpPr>
            <a:spLocks noChangeShapeType="1"/>
          </p:cNvSpPr>
          <p:nvPr/>
        </p:nvSpPr>
        <p:spPr bwMode="auto">
          <a:xfrm>
            <a:off x="3433763" y="3168650"/>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32" name="Rectangle 29"/>
          <p:cNvSpPr>
            <a:spLocks noChangeArrowheads="1"/>
          </p:cNvSpPr>
          <p:nvPr/>
        </p:nvSpPr>
        <p:spPr bwMode="auto">
          <a:xfrm>
            <a:off x="1876425" y="4768850"/>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33" name="Text Box 30"/>
          <p:cNvSpPr txBox="1">
            <a:spLocks noChangeArrowheads="1"/>
          </p:cNvSpPr>
          <p:nvPr/>
        </p:nvSpPr>
        <p:spPr bwMode="auto">
          <a:xfrm>
            <a:off x="1912938" y="47275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4" name="Text Box 31"/>
          <p:cNvSpPr txBox="1">
            <a:spLocks noChangeArrowheads="1"/>
          </p:cNvSpPr>
          <p:nvPr/>
        </p:nvSpPr>
        <p:spPr bwMode="auto">
          <a:xfrm>
            <a:off x="2770188" y="47275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5" name="Line 32"/>
          <p:cNvSpPr>
            <a:spLocks noChangeShapeType="1"/>
          </p:cNvSpPr>
          <p:nvPr/>
        </p:nvSpPr>
        <p:spPr bwMode="auto">
          <a:xfrm>
            <a:off x="2847975" y="4811713"/>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36" name="Text Box 33"/>
          <p:cNvSpPr txBox="1">
            <a:spLocks noChangeArrowheads="1"/>
          </p:cNvSpPr>
          <p:nvPr/>
        </p:nvSpPr>
        <p:spPr bwMode="auto">
          <a:xfrm>
            <a:off x="1927225" y="5213350"/>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7" name="Text Box 34"/>
          <p:cNvSpPr txBox="1">
            <a:spLocks noChangeArrowheads="1"/>
          </p:cNvSpPr>
          <p:nvPr/>
        </p:nvSpPr>
        <p:spPr bwMode="auto">
          <a:xfrm>
            <a:off x="2298700" y="4999038"/>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8" name="Text Box 35"/>
          <p:cNvSpPr txBox="1">
            <a:spLocks noChangeArrowheads="1"/>
          </p:cNvSpPr>
          <p:nvPr/>
        </p:nvSpPr>
        <p:spPr bwMode="auto">
          <a:xfrm>
            <a:off x="2741613" y="5356225"/>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9" name="Oval 36"/>
          <p:cNvSpPr>
            <a:spLocks noChangeArrowheads="1"/>
          </p:cNvSpPr>
          <p:nvPr/>
        </p:nvSpPr>
        <p:spPr bwMode="auto">
          <a:xfrm>
            <a:off x="1790700" y="51403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40" name="AutoShape 37"/>
          <p:cNvSpPr>
            <a:spLocks noChangeArrowheads="1"/>
          </p:cNvSpPr>
          <p:nvPr/>
        </p:nvSpPr>
        <p:spPr bwMode="auto">
          <a:xfrm rot="-5400000">
            <a:off x="3443288" y="4202113"/>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2741" name="AutoShape 38"/>
          <p:cNvSpPr>
            <a:spLocks noChangeArrowheads="1"/>
          </p:cNvSpPr>
          <p:nvPr/>
        </p:nvSpPr>
        <p:spPr bwMode="auto">
          <a:xfrm rot="-5400000">
            <a:off x="2214563" y="4197350"/>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2742" name="AutoShape 39"/>
          <p:cNvSpPr>
            <a:spLocks noChangeArrowheads="1"/>
          </p:cNvSpPr>
          <p:nvPr/>
        </p:nvSpPr>
        <p:spPr bwMode="auto">
          <a:xfrm rot="-5400000">
            <a:off x="3757613" y="1787525"/>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0920" name="AutoShape 40"/>
          <p:cNvSpPr>
            <a:spLocks noChangeArrowheads="1"/>
          </p:cNvSpPr>
          <p:nvPr/>
        </p:nvSpPr>
        <p:spPr bwMode="auto">
          <a:xfrm rot="-5400000">
            <a:off x="4386263" y="17875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1" name="AutoShape 41"/>
          <p:cNvSpPr>
            <a:spLocks noChangeArrowheads="1"/>
          </p:cNvSpPr>
          <p:nvPr/>
        </p:nvSpPr>
        <p:spPr bwMode="auto">
          <a:xfrm rot="-5400000">
            <a:off x="5915025" y="17827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2" name="AutoShape 42"/>
          <p:cNvSpPr>
            <a:spLocks noChangeArrowheads="1"/>
          </p:cNvSpPr>
          <p:nvPr/>
        </p:nvSpPr>
        <p:spPr bwMode="auto">
          <a:xfrm rot="-5400000">
            <a:off x="7843838" y="17875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3" name="Oval 43"/>
          <p:cNvSpPr>
            <a:spLocks noChangeArrowheads="1"/>
          </p:cNvSpPr>
          <p:nvPr/>
        </p:nvSpPr>
        <p:spPr bwMode="auto">
          <a:xfrm>
            <a:off x="2324100" y="411638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0924" name="Oval 44"/>
          <p:cNvSpPr>
            <a:spLocks noChangeArrowheads="1"/>
          </p:cNvSpPr>
          <p:nvPr/>
        </p:nvSpPr>
        <p:spPr bwMode="auto">
          <a:xfrm>
            <a:off x="3552825" y="41211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0925" name="AutoShape 45"/>
          <p:cNvSpPr>
            <a:spLocks noChangeArrowheads="1"/>
          </p:cNvSpPr>
          <p:nvPr/>
        </p:nvSpPr>
        <p:spPr bwMode="auto">
          <a:xfrm rot="-5400000">
            <a:off x="2952750" y="1792288"/>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6" name="Oval 46"/>
          <p:cNvSpPr>
            <a:spLocks noChangeArrowheads="1"/>
          </p:cNvSpPr>
          <p:nvPr/>
        </p:nvSpPr>
        <p:spPr bwMode="auto">
          <a:xfrm>
            <a:off x="3062288" y="17113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0927" name="AutoShape 47"/>
          <p:cNvSpPr>
            <a:spLocks noChangeArrowheads="1"/>
          </p:cNvSpPr>
          <p:nvPr/>
        </p:nvSpPr>
        <p:spPr bwMode="auto">
          <a:xfrm rot="-5400000">
            <a:off x="7253288" y="17875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8" name="Oval 48"/>
          <p:cNvSpPr>
            <a:spLocks noChangeArrowheads="1"/>
          </p:cNvSpPr>
          <p:nvPr/>
        </p:nvSpPr>
        <p:spPr bwMode="auto">
          <a:xfrm>
            <a:off x="7362825" y="17065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2752" name="Line 49"/>
          <p:cNvSpPr>
            <a:spLocks noChangeShapeType="1"/>
          </p:cNvSpPr>
          <p:nvPr/>
        </p:nvSpPr>
        <p:spPr bwMode="auto">
          <a:xfrm>
            <a:off x="1604963" y="5183188"/>
            <a:ext cx="184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30" name="Text Box 50"/>
          <p:cNvSpPr txBox="1">
            <a:spLocks noChangeArrowheads="1"/>
          </p:cNvSpPr>
          <p:nvPr/>
        </p:nvSpPr>
        <p:spPr bwMode="auto">
          <a:xfrm>
            <a:off x="1183482" y="4784725"/>
            <a:ext cx="6000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Set</a:t>
            </a:r>
            <a:endParaRPr kumimoji="0" lang="en-US" altLang="zh-CN" sz="2000">
              <a:latin typeface="Tahoma" panose="020B0604030504040204" pitchFamily="34" charset="0"/>
              <a:ea typeface="宋体" panose="02010600030101010101" pitchFamily="2" charset="-122"/>
            </a:endParaRPr>
          </a:p>
        </p:txBody>
      </p:sp>
      <p:sp>
        <p:nvSpPr>
          <p:cNvPr id="72754" name="Text Box 51"/>
          <p:cNvSpPr txBox="1">
            <a:spLocks noChangeArrowheads="1"/>
          </p:cNvSpPr>
          <p:nvPr/>
        </p:nvSpPr>
        <p:spPr bwMode="auto">
          <a:xfrm>
            <a:off x="1827213" y="4956175"/>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55" name="Line 52"/>
          <p:cNvSpPr>
            <a:spLocks noChangeShapeType="1"/>
          </p:cNvSpPr>
          <p:nvPr/>
        </p:nvSpPr>
        <p:spPr bwMode="auto">
          <a:xfrm>
            <a:off x="1162050" y="4587875"/>
            <a:ext cx="0" cy="1166813"/>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56" name="Line 53"/>
          <p:cNvSpPr>
            <a:spLocks noChangeShapeType="1"/>
          </p:cNvSpPr>
          <p:nvPr/>
        </p:nvSpPr>
        <p:spPr bwMode="auto">
          <a:xfrm>
            <a:off x="1152525" y="5745163"/>
            <a:ext cx="33861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57" name="Line 54"/>
          <p:cNvSpPr>
            <a:spLocks noChangeShapeType="1"/>
          </p:cNvSpPr>
          <p:nvPr/>
        </p:nvSpPr>
        <p:spPr bwMode="auto">
          <a:xfrm>
            <a:off x="2105025" y="5554663"/>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58" name="Line 55"/>
          <p:cNvSpPr>
            <a:spLocks noChangeShapeType="1"/>
          </p:cNvSpPr>
          <p:nvPr/>
        </p:nvSpPr>
        <p:spPr bwMode="auto">
          <a:xfrm>
            <a:off x="2105025" y="5926138"/>
            <a:ext cx="595788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59" name="Line 56"/>
          <p:cNvSpPr>
            <a:spLocks noChangeShapeType="1"/>
          </p:cNvSpPr>
          <p:nvPr/>
        </p:nvSpPr>
        <p:spPr bwMode="auto">
          <a:xfrm>
            <a:off x="2938463" y="5554663"/>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37" name="Oval 57"/>
          <p:cNvSpPr>
            <a:spLocks noChangeArrowheads="1"/>
          </p:cNvSpPr>
          <p:nvPr/>
        </p:nvSpPr>
        <p:spPr bwMode="auto">
          <a:xfrm>
            <a:off x="2905125" y="5707063"/>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761" name="Line 58"/>
          <p:cNvSpPr>
            <a:spLocks noChangeShapeType="1"/>
          </p:cNvSpPr>
          <p:nvPr/>
        </p:nvSpPr>
        <p:spPr bwMode="auto">
          <a:xfrm>
            <a:off x="1157288" y="4592638"/>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2" name="Line 59"/>
          <p:cNvSpPr>
            <a:spLocks noChangeShapeType="1"/>
          </p:cNvSpPr>
          <p:nvPr/>
        </p:nvSpPr>
        <p:spPr bwMode="auto">
          <a:xfrm flipV="1">
            <a:off x="2271713" y="4478338"/>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3" name="Line 60"/>
          <p:cNvSpPr>
            <a:spLocks noChangeShapeType="1"/>
          </p:cNvSpPr>
          <p:nvPr/>
        </p:nvSpPr>
        <p:spPr bwMode="auto">
          <a:xfrm flipV="1">
            <a:off x="2100263" y="4649788"/>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4" name="Line 61"/>
          <p:cNvSpPr>
            <a:spLocks noChangeShapeType="1"/>
          </p:cNvSpPr>
          <p:nvPr/>
        </p:nvSpPr>
        <p:spPr bwMode="auto">
          <a:xfrm>
            <a:off x="2100263" y="4659313"/>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5" name="Line 62"/>
          <p:cNvSpPr>
            <a:spLocks noChangeShapeType="1"/>
          </p:cNvSpPr>
          <p:nvPr/>
        </p:nvSpPr>
        <p:spPr bwMode="auto">
          <a:xfrm>
            <a:off x="2424113" y="4478338"/>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6" name="Line 63"/>
          <p:cNvSpPr>
            <a:spLocks noChangeShapeType="1"/>
          </p:cNvSpPr>
          <p:nvPr/>
        </p:nvSpPr>
        <p:spPr bwMode="auto">
          <a:xfrm>
            <a:off x="2414588" y="4592638"/>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7" name="Line 64"/>
          <p:cNvSpPr>
            <a:spLocks noChangeShapeType="1"/>
          </p:cNvSpPr>
          <p:nvPr/>
        </p:nvSpPr>
        <p:spPr bwMode="auto">
          <a:xfrm flipV="1">
            <a:off x="2967038" y="4583113"/>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8" name="Line 65"/>
          <p:cNvSpPr>
            <a:spLocks noChangeShapeType="1"/>
          </p:cNvSpPr>
          <p:nvPr/>
        </p:nvSpPr>
        <p:spPr bwMode="auto">
          <a:xfrm flipV="1">
            <a:off x="3500438" y="4487863"/>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9" name="Line 66"/>
          <p:cNvSpPr>
            <a:spLocks noChangeShapeType="1"/>
          </p:cNvSpPr>
          <p:nvPr/>
        </p:nvSpPr>
        <p:spPr bwMode="auto">
          <a:xfrm>
            <a:off x="3671888" y="4487863"/>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0" name="Line 67"/>
          <p:cNvSpPr>
            <a:spLocks noChangeShapeType="1"/>
          </p:cNvSpPr>
          <p:nvPr/>
        </p:nvSpPr>
        <p:spPr bwMode="auto">
          <a:xfrm>
            <a:off x="3667125" y="4659313"/>
            <a:ext cx="17478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1" name="AutoShape 68"/>
          <p:cNvSpPr>
            <a:spLocks noChangeArrowheads="1"/>
          </p:cNvSpPr>
          <p:nvPr/>
        </p:nvSpPr>
        <p:spPr bwMode="auto">
          <a:xfrm rot="-5400000" flipH="1" flipV="1">
            <a:off x="4905375" y="5111750"/>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0949" name="Oval 69"/>
          <p:cNvSpPr>
            <a:spLocks noChangeArrowheads="1"/>
          </p:cNvSpPr>
          <p:nvPr/>
        </p:nvSpPr>
        <p:spPr bwMode="auto">
          <a:xfrm>
            <a:off x="4867275" y="520223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2773" name="Line 70"/>
          <p:cNvSpPr>
            <a:spLocks noChangeShapeType="1"/>
          </p:cNvSpPr>
          <p:nvPr/>
        </p:nvSpPr>
        <p:spPr bwMode="auto">
          <a:xfrm flipH="1">
            <a:off x="4529138" y="5240338"/>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4" name="Line 71"/>
          <p:cNvSpPr>
            <a:spLocks noChangeShapeType="1"/>
          </p:cNvSpPr>
          <p:nvPr/>
        </p:nvSpPr>
        <p:spPr bwMode="auto">
          <a:xfrm>
            <a:off x="4538663" y="5240338"/>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5" name="Rectangle 72"/>
          <p:cNvSpPr>
            <a:spLocks noChangeArrowheads="1"/>
          </p:cNvSpPr>
          <p:nvPr/>
        </p:nvSpPr>
        <p:spPr bwMode="auto">
          <a:xfrm>
            <a:off x="5681663" y="4926013"/>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rPr>
              <a:t>时钟源   </a:t>
            </a:r>
            <a:endParaRPr kumimoji="0" lang="zh-CN" altLang="en-US" sz="2400">
              <a:solidFill>
                <a:schemeClr val="bg1"/>
              </a:solidFill>
              <a:latin typeface="Tahoma" panose="020B0604030504040204" pitchFamily="34" charset="0"/>
            </a:endParaRPr>
          </a:p>
        </p:txBody>
      </p:sp>
      <p:sp>
        <p:nvSpPr>
          <p:cNvPr id="72776" name="Line 73"/>
          <p:cNvSpPr>
            <a:spLocks noChangeShapeType="1"/>
          </p:cNvSpPr>
          <p:nvPr/>
        </p:nvSpPr>
        <p:spPr bwMode="auto">
          <a:xfrm>
            <a:off x="5186363" y="5240338"/>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7" name="Line 74"/>
          <p:cNvSpPr>
            <a:spLocks noChangeShapeType="1"/>
          </p:cNvSpPr>
          <p:nvPr/>
        </p:nvSpPr>
        <p:spPr bwMode="auto">
          <a:xfrm>
            <a:off x="5405438" y="4649788"/>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55" name="Oval 75"/>
          <p:cNvSpPr>
            <a:spLocks noChangeArrowheads="1"/>
          </p:cNvSpPr>
          <p:nvPr/>
        </p:nvSpPr>
        <p:spPr bwMode="auto">
          <a:xfrm>
            <a:off x="5362575" y="520223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779" name="Line 76"/>
          <p:cNvSpPr>
            <a:spLocks noChangeShapeType="1"/>
          </p:cNvSpPr>
          <p:nvPr/>
        </p:nvSpPr>
        <p:spPr bwMode="auto">
          <a:xfrm flipV="1">
            <a:off x="2366963" y="4002088"/>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0" name="Line 77"/>
          <p:cNvSpPr>
            <a:spLocks noChangeShapeType="1"/>
          </p:cNvSpPr>
          <p:nvPr/>
        </p:nvSpPr>
        <p:spPr bwMode="auto">
          <a:xfrm>
            <a:off x="2357438" y="4002088"/>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1" name="Line 78"/>
          <p:cNvSpPr>
            <a:spLocks noChangeShapeType="1"/>
          </p:cNvSpPr>
          <p:nvPr/>
        </p:nvSpPr>
        <p:spPr bwMode="auto">
          <a:xfrm flipV="1">
            <a:off x="3128963" y="3544888"/>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2" name="Line 79"/>
          <p:cNvSpPr>
            <a:spLocks noChangeShapeType="1"/>
          </p:cNvSpPr>
          <p:nvPr/>
        </p:nvSpPr>
        <p:spPr bwMode="auto">
          <a:xfrm flipV="1">
            <a:off x="3595688" y="3154363"/>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3" name="Line 80"/>
          <p:cNvSpPr>
            <a:spLocks noChangeShapeType="1"/>
          </p:cNvSpPr>
          <p:nvPr/>
        </p:nvSpPr>
        <p:spPr bwMode="auto">
          <a:xfrm flipV="1">
            <a:off x="2290763" y="2544763"/>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4" name="Line 81"/>
          <p:cNvSpPr>
            <a:spLocks noChangeShapeType="1"/>
          </p:cNvSpPr>
          <p:nvPr/>
        </p:nvSpPr>
        <p:spPr bwMode="auto">
          <a:xfrm>
            <a:off x="2281238" y="2554288"/>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5" name="Line 82"/>
          <p:cNvSpPr>
            <a:spLocks noChangeShapeType="1"/>
          </p:cNvSpPr>
          <p:nvPr/>
        </p:nvSpPr>
        <p:spPr bwMode="auto">
          <a:xfrm flipV="1">
            <a:off x="3824288" y="2068513"/>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6" name="Line 83"/>
          <p:cNvSpPr>
            <a:spLocks noChangeShapeType="1"/>
          </p:cNvSpPr>
          <p:nvPr/>
        </p:nvSpPr>
        <p:spPr bwMode="auto">
          <a:xfrm>
            <a:off x="3814763" y="3640138"/>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7" name="Line 84"/>
          <p:cNvSpPr>
            <a:spLocks noChangeShapeType="1"/>
          </p:cNvSpPr>
          <p:nvPr/>
        </p:nvSpPr>
        <p:spPr bwMode="auto">
          <a:xfrm flipV="1">
            <a:off x="4471988" y="3535363"/>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8" name="Line 85"/>
          <p:cNvSpPr>
            <a:spLocks noChangeShapeType="1"/>
          </p:cNvSpPr>
          <p:nvPr/>
        </p:nvSpPr>
        <p:spPr bwMode="auto">
          <a:xfrm>
            <a:off x="3586163" y="3802063"/>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66" name="Oval 86"/>
          <p:cNvSpPr>
            <a:spLocks noChangeArrowheads="1"/>
          </p:cNvSpPr>
          <p:nvPr/>
        </p:nvSpPr>
        <p:spPr bwMode="auto">
          <a:xfrm>
            <a:off x="3562350" y="3763963"/>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solidFill>
                <a:schemeClr val="bg1"/>
              </a:solidFill>
              <a:effectLst>
                <a:outerShdw blurRad="38100" dist="38100" dir="2700000" algn="tl">
                  <a:srgbClr val="808080"/>
                </a:outerShdw>
              </a:effectLst>
              <a:latin typeface="Tahoma" panose="020B0604030504040204" pitchFamily="34" charset="0"/>
              <a:ea typeface="宋体" panose="02010600030101010101" pitchFamily="2" charset="-122"/>
            </a:endParaRPr>
          </a:p>
        </p:txBody>
      </p:sp>
      <p:sp>
        <p:nvSpPr>
          <p:cNvPr id="72790" name="Line 87"/>
          <p:cNvSpPr>
            <a:spLocks noChangeShapeType="1"/>
          </p:cNvSpPr>
          <p:nvPr/>
        </p:nvSpPr>
        <p:spPr bwMode="auto">
          <a:xfrm flipV="1">
            <a:off x="7367588" y="3535363"/>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91" name="Line 88"/>
          <p:cNvSpPr>
            <a:spLocks noChangeShapeType="1"/>
          </p:cNvSpPr>
          <p:nvPr/>
        </p:nvSpPr>
        <p:spPr bwMode="auto">
          <a:xfrm flipV="1">
            <a:off x="5300663" y="3535363"/>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69" name="Oval 89"/>
          <p:cNvSpPr>
            <a:spLocks noChangeArrowheads="1"/>
          </p:cNvSpPr>
          <p:nvPr/>
        </p:nvSpPr>
        <p:spPr bwMode="auto">
          <a:xfrm>
            <a:off x="3086100" y="3954463"/>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70" name="Oval 90"/>
          <p:cNvSpPr>
            <a:spLocks noChangeArrowheads="1"/>
          </p:cNvSpPr>
          <p:nvPr/>
        </p:nvSpPr>
        <p:spPr bwMode="auto">
          <a:xfrm>
            <a:off x="5267325" y="39639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794" name="Line 91"/>
          <p:cNvSpPr>
            <a:spLocks noChangeShapeType="1"/>
          </p:cNvSpPr>
          <p:nvPr/>
        </p:nvSpPr>
        <p:spPr bwMode="auto">
          <a:xfrm>
            <a:off x="5614988" y="3178175"/>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95" name="Line 92"/>
          <p:cNvSpPr>
            <a:spLocks noChangeShapeType="1"/>
          </p:cNvSpPr>
          <p:nvPr/>
        </p:nvSpPr>
        <p:spPr bwMode="auto">
          <a:xfrm flipV="1">
            <a:off x="5776913" y="3163888"/>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73" name="Oval 93"/>
          <p:cNvSpPr>
            <a:spLocks noChangeArrowheads="1"/>
          </p:cNvSpPr>
          <p:nvPr/>
        </p:nvSpPr>
        <p:spPr bwMode="auto">
          <a:xfrm>
            <a:off x="5743575" y="37734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solidFill>
                <a:schemeClr val="bg1"/>
              </a:solidFill>
              <a:effectLst>
                <a:outerShdw blurRad="38100" dist="38100" dir="2700000" algn="tl">
                  <a:srgbClr val="808080"/>
                </a:outerShdw>
              </a:effectLst>
              <a:latin typeface="Tahoma" panose="020B0604030504040204" pitchFamily="34" charset="0"/>
              <a:ea typeface="宋体" panose="02010600030101010101" pitchFamily="2" charset="-122"/>
            </a:endParaRPr>
          </a:p>
        </p:txBody>
      </p:sp>
      <p:sp>
        <p:nvSpPr>
          <p:cNvPr id="72797" name="Line 94"/>
          <p:cNvSpPr>
            <a:spLocks noChangeShapeType="1"/>
          </p:cNvSpPr>
          <p:nvPr/>
        </p:nvSpPr>
        <p:spPr bwMode="auto">
          <a:xfrm>
            <a:off x="7672388" y="3168650"/>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98" name="Line 95"/>
          <p:cNvSpPr>
            <a:spLocks noChangeShapeType="1"/>
          </p:cNvSpPr>
          <p:nvPr/>
        </p:nvSpPr>
        <p:spPr bwMode="auto">
          <a:xfrm flipV="1">
            <a:off x="7834313" y="3154363"/>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99" name="Line 96"/>
          <p:cNvSpPr>
            <a:spLocks noChangeShapeType="1"/>
          </p:cNvSpPr>
          <p:nvPr/>
        </p:nvSpPr>
        <p:spPr bwMode="auto">
          <a:xfrm flipV="1">
            <a:off x="4452938" y="2068513"/>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0" name="Line 97"/>
          <p:cNvSpPr>
            <a:spLocks noChangeShapeType="1"/>
          </p:cNvSpPr>
          <p:nvPr/>
        </p:nvSpPr>
        <p:spPr bwMode="auto">
          <a:xfrm>
            <a:off x="4443413" y="2554288"/>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1" name="Line 98"/>
          <p:cNvSpPr>
            <a:spLocks noChangeShapeType="1"/>
          </p:cNvSpPr>
          <p:nvPr/>
        </p:nvSpPr>
        <p:spPr bwMode="auto">
          <a:xfrm flipV="1">
            <a:off x="5986463" y="2068513"/>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2" name="Line 99"/>
          <p:cNvSpPr>
            <a:spLocks noChangeShapeType="1"/>
          </p:cNvSpPr>
          <p:nvPr/>
        </p:nvSpPr>
        <p:spPr bwMode="auto">
          <a:xfrm>
            <a:off x="5976938" y="3640138"/>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3" name="Line 100"/>
          <p:cNvSpPr>
            <a:spLocks noChangeShapeType="1"/>
          </p:cNvSpPr>
          <p:nvPr/>
        </p:nvSpPr>
        <p:spPr bwMode="auto">
          <a:xfrm flipV="1">
            <a:off x="6548438" y="3535363"/>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4" name="Line 101"/>
          <p:cNvSpPr>
            <a:spLocks noChangeShapeType="1"/>
          </p:cNvSpPr>
          <p:nvPr/>
        </p:nvSpPr>
        <p:spPr bwMode="auto">
          <a:xfrm flipV="1">
            <a:off x="8053388" y="2068513"/>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5" name="Line 102"/>
          <p:cNvSpPr>
            <a:spLocks noChangeShapeType="1"/>
          </p:cNvSpPr>
          <p:nvPr/>
        </p:nvSpPr>
        <p:spPr bwMode="auto">
          <a:xfrm>
            <a:off x="6491288" y="2554288"/>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6" name="Line 103"/>
          <p:cNvSpPr>
            <a:spLocks noChangeShapeType="1"/>
          </p:cNvSpPr>
          <p:nvPr/>
        </p:nvSpPr>
        <p:spPr bwMode="auto">
          <a:xfrm flipV="1">
            <a:off x="6491288" y="2544763"/>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7" name="Line 104"/>
          <p:cNvSpPr>
            <a:spLocks noChangeShapeType="1"/>
          </p:cNvSpPr>
          <p:nvPr/>
        </p:nvSpPr>
        <p:spPr bwMode="auto">
          <a:xfrm>
            <a:off x="2300288" y="3544888"/>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85" name="Oval 105"/>
          <p:cNvSpPr>
            <a:spLocks noChangeArrowheads="1"/>
          </p:cNvSpPr>
          <p:nvPr/>
        </p:nvSpPr>
        <p:spPr bwMode="auto">
          <a:xfrm>
            <a:off x="2257425" y="378301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solidFill>
                <a:schemeClr val="bg1"/>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2809" name="Text Box 106"/>
          <p:cNvSpPr txBox="1">
            <a:spLocks noChangeArrowheads="1"/>
          </p:cNvSpPr>
          <p:nvPr/>
        </p:nvSpPr>
        <p:spPr bwMode="auto">
          <a:xfrm>
            <a:off x="1555750" y="3560763"/>
            <a:ext cx="77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2810" name="Line 107"/>
          <p:cNvSpPr>
            <a:spLocks noChangeShapeType="1"/>
          </p:cNvSpPr>
          <p:nvPr/>
        </p:nvSpPr>
        <p:spPr bwMode="auto">
          <a:xfrm flipV="1">
            <a:off x="3100388" y="2068513"/>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88" name="Oval 108"/>
          <p:cNvSpPr>
            <a:spLocks noChangeArrowheads="1"/>
          </p:cNvSpPr>
          <p:nvPr/>
        </p:nvSpPr>
        <p:spPr bwMode="auto">
          <a:xfrm>
            <a:off x="3781425" y="25161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812" name="Line 109"/>
          <p:cNvSpPr>
            <a:spLocks noChangeShapeType="1"/>
          </p:cNvSpPr>
          <p:nvPr/>
        </p:nvSpPr>
        <p:spPr bwMode="auto">
          <a:xfrm flipV="1">
            <a:off x="5319713" y="2382838"/>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13" name="Line 110"/>
          <p:cNvSpPr>
            <a:spLocks noChangeShapeType="1"/>
          </p:cNvSpPr>
          <p:nvPr/>
        </p:nvSpPr>
        <p:spPr bwMode="auto">
          <a:xfrm flipH="1">
            <a:off x="3976688" y="2382838"/>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14" name="Line 111"/>
          <p:cNvSpPr>
            <a:spLocks noChangeShapeType="1"/>
          </p:cNvSpPr>
          <p:nvPr/>
        </p:nvSpPr>
        <p:spPr bwMode="auto">
          <a:xfrm flipV="1">
            <a:off x="3976688" y="2068513"/>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92" name="Oval 112"/>
          <p:cNvSpPr>
            <a:spLocks noChangeArrowheads="1"/>
          </p:cNvSpPr>
          <p:nvPr/>
        </p:nvSpPr>
        <p:spPr bwMode="auto">
          <a:xfrm>
            <a:off x="4419600" y="25161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816" name="Line 113"/>
          <p:cNvSpPr>
            <a:spLocks noChangeShapeType="1"/>
          </p:cNvSpPr>
          <p:nvPr/>
        </p:nvSpPr>
        <p:spPr bwMode="auto">
          <a:xfrm flipV="1">
            <a:off x="4595813" y="2068513"/>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17" name="Text Box 114"/>
          <p:cNvSpPr txBox="1">
            <a:spLocks noChangeArrowheads="1"/>
          </p:cNvSpPr>
          <p:nvPr/>
        </p:nvSpPr>
        <p:spPr bwMode="auto">
          <a:xfrm>
            <a:off x="4527550" y="2046288"/>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0995" name="Oval 115"/>
          <p:cNvSpPr>
            <a:spLocks noChangeArrowheads="1"/>
          </p:cNvSpPr>
          <p:nvPr/>
        </p:nvSpPr>
        <p:spPr bwMode="auto">
          <a:xfrm>
            <a:off x="3067050" y="2506663"/>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819" name="Line 116"/>
          <p:cNvSpPr>
            <a:spLocks noChangeShapeType="1"/>
          </p:cNvSpPr>
          <p:nvPr/>
        </p:nvSpPr>
        <p:spPr bwMode="auto">
          <a:xfrm flipV="1">
            <a:off x="7396163" y="2078038"/>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0" name="Line 117"/>
          <p:cNvSpPr>
            <a:spLocks noChangeShapeType="1"/>
          </p:cNvSpPr>
          <p:nvPr/>
        </p:nvSpPr>
        <p:spPr bwMode="auto">
          <a:xfrm flipH="1">
            <a:off x="6119813" y="2382838"/>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1" name="Line 118"/>
          <p:cNvSpPr>
            <a:spLocks noChangeShapeType="1"/>
          </p:cNvSpPr>
          <p:nvPr/>
        </p:nvSpPr>
        <p:spPr bwMode="auto">
          <a:xfrm flipV="1">
            <a:off x="6119813" y="2068513"/>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2" name="Line 119"/>
          <p:cNvSpPr>
            <a:spLocks noChangeShapeType="1"/>
          </p:cNvSpPr>
          <p:nvPr/>
        </p:nvSpPr>
        <p:spPr bwMode="auto">
          <a:xfrm flipV="1">
            <a:off x="7920038" y="2068513"/>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3" name="Text Box 120"/>
          <p:cNvSpPr txBox="1">
            <a:spLocks noChangeArrowheads="1"/>
          </p:cNvSpPr>
          <p:nvPr/>
        </p:nvSpPr>
        <p:spPr bwMode="auto">
          <a:xfrm>
            <a:off x="7432675" y="2141538"/>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1001" name="Oval 121"/>
          <p:cNvSpPr>
            <a:spLocks noChangeArrowheads="1"/>
          </p:cNvSpPr>
          <p:nvPr/>
        </p:nvSpPr>
        <p:spPr bwMode="auto">
          <a:xfrm>
            <a:off x="7362825" y="234473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002" name="Oval 122"/>
          <p:cNvSpPr>
            <a:spLocks noChangeArrowheads="1"/>
          </p:cNvSpPr>
          <p:nvPr/>
        </p:nvSpPr>
        <p:spPr bwMode="auto">
          <a:xfrm>
            <a:off x="5943600" y="25161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826" name="Line 123"/>
          <p:cNvSpPr>
            <a:spLocks noChangeShapeType="1"/>
          </p:cNvSpPr>
          <p:nvPr/>
        </p:nvSpPr>
        <p:spPr bwMode="auto">
          <a:xfrm flipV="1">
            <a:off x="3100388" y="1497013"/>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7" name="Line 124"/>
          <p:cNvSpPr>
            <a:spLocks noChangeShapeType="1"/>
          </p:cNvSpPr>
          <p:nvPr/>
        </p:nvSpPr>
        <p:spPr bwMode="auto">
          <a:xfrm flipV="1">
            <a:off x="3900488" y="1535113"/>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8" name="Line 125"/>
          <p:cNvSpPr>
            <a:spLocks noChangeShapeType="1"/>
          </p:cNvSpPr>
          <p:nvPr/>
        </p:nvSpPr>
        <p:spPr bwMode="auto">
          <a:xfrm flipV="1">
            <a:off x="4529138" y="1535113"/>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9" name="Line 126"/>
          <p:cNvSpPr>
            <a:spLocks noChangeShapeType="1"/>
          </p:cNvSpPr>
          <p:nvPr/>
        </p:nvSpPr>
        <p:spPr bwMode="auto">
          <a:xfrm flipV="1">
            <a:off x="6048375" y="1535113"/>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30" name="Line 127"/>
          <p:cNvSpPr>
            <a:spLocks noChangeShapeType="1"/>
          </p:cNvSpPr>
          <p:nvPr/>
        </p:nvSpPr>
        <p:spPr bwMode="auto">
          <a:xfrm flipV="1">
            <a:off x="7986713" y="1535113"/>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31" name="Line 128"/>
          <p:cNvSpPr>
            <a:spLocks noChangeShapeType="1"/>
          </p:cNvSpPr>
          <p:nvPr/>
        </p:nvSpPr>
        <p:spPr bwMode="auto">
          <a:xfrm flipV="1">
            <a:off x="7405688" y="1497013"/>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32" name="Text Box 130"/>
          <p:cNvSpPr txBox="1">
            <a:spLocks noChangeArrowheads="1"/>
          </p:cNvSpPr>
          <p:nvPr/>
        </p:nvSpPr>
        <p:spPr bwMode="auto">
          <a:xfrm>
            <a:off x="4471988" y="1336675"/>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2833" name="Oval 131"/>
          <p:cNvSpPr>
            <a:spLocks noChangeArrowheads="1"/>
          </p:cNvSpPr>
          <p:nvPr/>
        </p:nvSpPr>
        <p:spPr bwMode="auto">
          <a:xfrm>
            <a:off x="4964113" y="138430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34" name="Text Box 132"/>
          <p:cNvSpPr txBox="1">
            <a:spLocks noChangeArrowheads="1"/>
          </p:cNvSpPr>
          <p:nvPr/>
        </p:nvSpPr>
        <p:spPr bwMode="auto">
          <a:xfrm>
            <a:off x="7372350" y="1293813"/>
            <a:ext cx="68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2835" name="Oval 133"/>
          <p:cNvSpPr>
            <a:spLocks noChangeArrowheads="1"/>
          </p:cNvSpPr>
          <p:nvPr/>
        </p:nvSpPr>
        <p:spPr bwMode="auto">
          <a:xfrm>
            <a:off x="7950200" y="13414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36" name="Text Box 134"/>
          <p:cNvSpPr txBox="1">
            <a:spLocks noChangeArrowheads="1"/>
          </p:cNvSpPr>
          <p:nvPr/>
        </p:nvSpPr>
        <p:spPr bwMode="auto">
          <a:xfrm>
            <a:off x="3814763" y="129381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2837" name="Oval 135"/>
          <p:cNvSpPr>
            <a:spLocks noChangeArrowheads="1"/>
          </p:cNvSpPr>
          <p:nvPr/>
        </p:nvSpPr>
        <p:spPr bwMode="auto">
          <a:xfrm>
            <a:off x="4135438" y="13414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38" name="Text Box 136"/>
          <p:cNvSpPr txBox="1">
            <a:spLocks noChangeArrowheads="1"/>
          </p:cNvSpPr>
          <p:nvPr/>
        </p:nvSpPr>
        <p:spPr bwMode="auto">
          <a:xfrm>
            <a:off x="5986463" y="1322388"/>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2839" name="Oval 137"/>
          <p:cNvSpPr>
            <a:spLocks noChangeArrowheads="1"/>
          </p:cNvSpPr>
          <p:nvPr/>
        </p:nvSpPr>
        <p:spPr bwMode="auto">
          <a:xfrm>
            <a:off x="6307138" y="137001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40" name="Text Box 138"/>
          <p:cNvSpPr txBox="1">
            <a:spLocks noChangeArrowheads="1"/>
          </p:cNvSpPr>
          <p:nvPr/>
        </p:nvSpPr>
        <p:spPr bwMode="auto">
          <a:xfrm>
            <a:off x="6943725" y="12795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2841" name="Oval 139"/>
          <p:cNvSpPr>
            <a:spLocks noChangeArrowheads="1"/>
          </p:cNvSpPr>
          <p:nvPr/>
        </p:nvSpPr>
        <p:spPr bwMode="auto">
          <a:xfrm>
            <a:off x="7264400" y="13271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42" name="Text Box 140"/>
          <p:cNvSpPr txBox="1">
            <a:spLocks noChangeArrowheads="1"/>
          </p:cNvSpPr>
          <p:nvPr/>
        </p:nvSpPr>
        <p:spPr bwMode="auto">
          <a:xfrm>
            <a:off x="2657475" y="12795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2843" name="Oval 141"/>
          <p:cNvSpPr>
            <a:spLocks noChangeArrowheads="1"/>
          </p:cNvSpPr>
          <p:nvPr/>
        </p:nvSpPr>
        <p:spPr bwMode="auto">
          <a:xfrm>
            <a:off x="2978150" y="13271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44" name="Text Box 142"/>
          <p:cNvSpPr txBox="1">
            <a:spLocks noChangeArrowheads="1"/>
          </p:cNvSpPr>
          <p:nvPr/>
        </p:nvSpPr>
        <p:spPr bwMode="auto">
          <a:xfrm>
            <a:off x="4413250" y="4370388"/>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2845" name="Text Box 143"/>
          <p:cNvSpPr txBox="1">
            <a:spLocks noChangeArrowheads="1"/>
          </p:cNvSpPr>
          <p:nvPr/>
        </p:nvSpPr>
        <p:spPr bwMode="auto">
          <a:xfrm>
            <a:off x="4513263" y="5056188"/>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2846" name="Line 144"/>
          <p:cNvSpPr>
            <a:spLocks noChangeShapeType="1"/>
          </p:cNvSpPr>
          <p:nvPr/>
        </p:nvSpPr>
        <p:spPr bwMode="auto">
          <a:xfrm>
            <a:off x="4605338" y="5340350"/>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2" name="Group 145"/>
          <p:cNvGrpSpPr/>
          <p:nvPr/>
        </p:nvGrpSpPr>
        <p:grpSpPr bwMode="auto">
          <a:xfrm>
            <a:off x="4676775" y="4325938"/>
            <a:ext cx="800100" cy="271462"/>
            <a:chOff x="3258" y="2997"/>
            <a:chExt cx="504" cy="171"/>
          </a:xfrm>
        </p:grpSpPr>
        <p:sp>
          <p:nvSpPr>
            <p:cNvPr id="72872" name="Line 146"/>
            <p:cNvSpPr>
              <a:spLocks noChangeShapeType="1"/>
            </p:cNvSpPr>
            <p:nvPr/>
          </p:nvSpPr>
          <p:spPr bwMode="auto">
            <a:xfrm>
              <a:off x="3258" y="2997"/>
              <a:ext cx="81" cy="0"/>
            </a:xfrm>
            <a:prstGeom prst="line">
              <a:avLst/>
            </a:prstGeom>
            <a:noFill/>
            <a:ln w="19050">
              <a:solidFill>
                <a:srgbClr val="FF0000"/>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3" name="Line 147"/>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4" name="Line 148"/>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5" name="Line 149"/>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6" name="Line 150"/>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7" name="Line 151"/>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8" name="Line 152"/>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9" name="Line 153"/>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80" name="Line 154"/>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55"/>
          <p:cNvGrpSpPr/>
          <p:nvPr/>
        </p:nvGrpSpPr>
        <p:grpSpPr bwMode="auto">
          <a:xfrm flipV="1">
            <a:off x="3619500" y="5411788"/>
            <a:ext cx="800100" cy="271462"/>
            <a:chOff x="3258" y="2997"/>
            <a:chExt cx="504" cy="171"/>
          </a:xfrm>
        </p:grpSpPr>
        <p:sp>
          <p:nvSpPr>
            <p:cNvPr id="72863" name="Line 156"/>
            <p:cNvSpPr>
              <a:spLocks noChangeShapeType="1"/>
            </p:cNvSpPr>
            <p:nvPr/>
          </p:nvSpPr>
          <p:spPr bwMode="auto">
            <a:xfrm>
              <a:off x="3258" y="2997"/>
              <a:ext cx="81" cy="0"/>
            </a:xfrm>
            <a:prstGeom prst="line">
              <a:avLst/>
            </a:prstGeom>
            <a:noFill/>
            <a:ln w="19050">
              <a:solidFill>
                <a:srgbClr val="FF0000"/>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4" name="Line 157"/>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5" name="Line 158"/>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6" name="Line 159"/>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7" name="Line 160"/>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8" name="Line 161"/>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9" name="Line 162"/>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0" name="Line 163"/>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1" name="Line 164"/>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251047" name="Text Box 167"/>
          <p:cNvSpPr txBox="1">
            <a:spLocks noChangeArrowheads="1"/>
          </p:cNvSpPr>
          <p:nvPr/>
        </p:nvSpPr>
        <p:spPr bwMode="auto">
          <a:xfrm>
            <a:off x="1998663" y="2413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56" name="Text Box 176"/>
          <p:cNvSpPr txBox="1">
            <a:spLocks noChangeArrowheads="1"/>
          </p:cNvSpPr>
          <p:nvPr/>
        </p:nvSpPr>
        <p:spPr bwMode="auto">
          <a:xfrm>
            <a:off x="4141788" y="2413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57" name="Text Box 177"/>
          <p:cNvSpPr txBox="1">
            <a:spLocks noChangeArrowheads="1"/>
          </p:cNvSpPr>
          <p:nvPr/>
        </p:nvSpPr>
        <p:spPr bwMode="auto">
          <a:xfrm>
            <a:off x="6199188" y="2413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62" name="Line 182"/>
          <p:cNvSpPr>
            <a:spLocks noChangeShapeType="1"/>
          </p:cNvSpPr>
          <p:nvPr/>
        </p:nvSpPr>
        <p:spPr bwMode="auto">
          <a:xfrm>
            <a:off x="1233488" y="4868863"/>
            <a:ext cx="46990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63" name="Text Box 183"/>
          <p:cNvSpPr txBox="1">
            <a:spLocks noChangeArrowheads="1"/>
          </p:cNvSpPr>
          <p:nvPr/>
        </p:nvSpPr>
        <p:spPr bwMode="auto">
          <a:xfrm>
            <a:off x="3198813" y="43132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1069" name="Text Box 189"/>
          <p:cNvSpPr txBox="1">
            <a:spLocks noChangeArrowheads="1"/>
          </p:cNvSpPr>
          <p:nvPr/>
        </p:nvSpPr>
        <p:spPr bwMode="auto">
          <a:xfrm>
            <a:off x="3284538" y="27987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70" name="Text Box 190"/>
          <p:cNvSpPr txBox="1">
            <a:spLocks noChangeArrowheads="1"/>
          </p:cNvSpPr>
          <p:nvPr/>
        </p:nvSpPr>
        <p:spPr bwMode="auto">
          <a:xfrm>
            <a:off x="5456238" y="27844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71" name="Text Box 191"/>
          <p:cNvSpPr txBox="1">
            <a:spLocks noChangeArrowheads="1"/>
          </p:cNvSpPr>
          <p:nvPr/>
        </p:nvSpPr>
        <p:spPr bwMode="auto">
          <a:xfrm>
            <a:off x="7527925" y="27987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82" name="Line 202"/>
          <p:cNvSpPr>
            <a:spLocks noChangeShapeType="1"/>
          </p:cNvSpPr>
          <p:nvPr/>
        </p:nvSpPr>
        <p:spPr bwMode="auto">
          <a:xfrm flipV="1">
            <a:off x="1219200" y="524033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3" name="Line 203"/>
          <p:cNvSpPr>
            <a:spLocks noChangeShapeType="1"/>
          </p:cNvSpPr>
          <p:nvPr/>
        </p:nvSpPr>
        <p:spPr bwMode="auto">
          <a:xfrm flipV="1">
            <a:off x="1390650" y="5240338"/>
            <a:ext cx="0" cy="27146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4" name="Line 204"/>
          <p:cNvSpPr>
            <a:spLocks noChangeShapeType="1"/>
          </p:cNvSpPr>
          <p:nvPr/>
        </p:nvSpPr>
        <p:spPr bwMode="auto">
          <a:xfrm flipV="1">
            <a:off x="1404938" y="5511800"/>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5" name="Line 205"/>
          <p:cNvSpPr>
            <a:spLocks noChangeShapeType="1"/>
          </p:cNvSpPr>
          <p:nvPr/>
        </p:nvSpPr>
        <p:spPr bwMode="auto">
          <a:xfrm flipV="1">
            <a:off x="1576388" y="5240338"/>
            <a:ext cx="0" cy="27146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6" name="Line 206"/>
          <p:cNvSpPr>
            <a:spLocks noChangeShapeType="1"/>
          </p:cNvSpPr>
          <p:nvPr/>
        </p:nvSpPr>
        <p:spPr bwMode="auto">
          <a:xfrm flipV="1">
            <a:off x="1590675" y="524033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7" name="Text Box 207"/>
          <p:cNvSpPr txBox="1">
            <a:spLocks noChangeArrowheads="1"/>
          </p:cNvSpPr>
          <p:nvPr/>
        </p:nvSpPr>
        <p:spPr bwMode="auto">
          <a:xfrm>
            <a:off x="1841500" y="567055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106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10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09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10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108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108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108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108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10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107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10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10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10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105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1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930" grpId="0"/>
      <p:bldP spid="251047" grpId="0"/>
      <p:bldP spid="251056" grpId="0"/>
      <p:bldP spid="251057" grpId="0"/>
      <p:bldP spid="251063" grpId="0"/>
      <p:bldP spid="251069" grpId="0"/>
      <p:bldP spid="251070" grpId="0"/>
      <p:bldP spid="251071" grpId="0"/>
      <p:bldP spid="25108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457200" y="188595"/>
            <a:ext cx="8229600" cy="1371600"/>
          </a:xfrm>
        </p:spPr>
        <p:txBody>
          <a:bodyPr/>
          <a:lstStyle/>
          <a:p>
            <a:pPr eaLnBrk="1" hangingPunct="1"/>
            <a:r>
              <a:rPr lang="zh-CN" altLang="en-US"/>
              <a:t>环形脉冲发生器与译码逻辑（</a:t>
            </a:r>
            <a:r>
              <a:rPr lang="en-US" altLang="zh-CN"/>
              <a:t>2</a:t>
            </a:r>
            <a:r>
              <a:rPr lang="zh-CN" altLang="en-US"/>
              <a:t>）</a:t>
            </a:r>
            <a:endParaRPr lang="zh-CN" altLang="en-US"/>
          </a:p>
        </p:txBody>
      </p:sp>
      <p:sp>
        <p:nvSpPr>
          <p:cNvPr id="73731" name="Rectangle 4"/>
          <p:cNvSpPr>
            <a:spLocks noChangeArrowheads="1"/>
          </p:cNvSpPr>
          <p:nvPr/>
        </p:nvSpPr>
        <p:spPr bwMode="auto">
          <a:xfrm>
            <a:off x="2063750" y="2752725"/>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32" name="Text Box 5"/>
          <p:cNvSpPr txBox="1">
            <a:spLocks noChangeArrowheads="1"/>
          </p:cNvSpPr>
          <p:nvPr/>
        </p:nvSpPr>
        <p:spPr bwMode="auto">
          <a:xfrm>
            <a:off x="2100263" y="2711450"/>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3" name="Text Box 6"/>
          <p:cNvSpPr txBox="1">
            <a:spLocks noChangeArrowheads="1"/>
          </p:cNvSpPr>
          <p:nvPr/>
        </p:nvSpPr>
        <p:spPr bwMode="auto">
          <a:xfrm>
            <a:off x="2957513" y="2711450"/>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4" name="Line 7"/>
          <p:cNvSpPr>
            <a:spLocks noChangeShapeType="1"/>
          </p:cNvSpPr>
          <p:nvPr/>
        </p:nvSpPr>
        <p:spPr bwMode="auto">
          <a:xfrm>
            <a:off x="3035300" y="2795588"/>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35" name="Text Box 8"/>
          <p:cNvSpPr txBox="1">
            <a:spLocks noChangeArrowheads="1"/>
          </p:cNvSpPr>
          <p:nvPr/>
        </p:nvSpPr>
        <p:spPr bwMode="auto">
          <a:xfrm>
            <a:off x="2114550" y="3197225"/>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6" name="Text Box 9"/>
          <p:cNvSpPr txBox="1">
            <a:spLocks noChangeArrowheads="1"/>
          </p:cNvSpPr>
          <p:nvPr/>
        </p:nvSpPr>
        <p:spPr bwMode="auto">
          <a:xfrm>
            <a:off x="2486025" y="2982913"/>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7" name="Text Box 10"/>
          <p:cNvSpPr txBox="1">
            <a:spLocks noChangeArrowheads="1"/>
          </p:cNvSpPr>
          <p:nvPr/>
        </p:nvSpPr>
        <p:spPr bwMode="auto">
          <a:xfrm>
            <a:off x="2928938" y="3330575"/>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8" name="Oval 11"/>
          <p:cNvSpPr>
            <a:spLocks noChangeArrowheads="1"/>
          </p:cNvSpPr>
          <p:nvPr/>
        </p:nvSpPr>
        <p:spPr bwMode="auto">
          <a:xfrm>
            <a:off x="3335338" y="3124200"/>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39" name="Rectangle 12"/>
          <p:cNvSpPr>
            <a:spLocks noChangeArrowheads="1"/>
          </p:cNvSpPr>
          <p:nvPr/>
        </p:nvSpPr>
        <p:spPr bwMode="auto">
          <a:xfrm>
            <a:off x="4235450" y="2752725"/>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40" name="Text Box 13"/>
          <p:cNvSpPr txBox="1">
            <a:spLocks noChangeArrowheads="1"/>
          </p:cNvSpPr>
          <p:nvPr/>
        </p:nvSpPr>
        <p:spPr bwMode="auto">
          <a:xfrm>
            <a:off x="4271963" y="2711450"/>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1" name="Text Box 14"/>
          <p:cNvSpPr txBox="1">
            <a:spLocks noChangeArrowheads="1"/>
          </p:cNvSpPr>
          <p:nvPr/>
        </p:nvSpPr>
        <p:spPr bwMode="auto">
          <a:xfrm>
            <a:off x="5129213" y="2711450"/>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2" name="Line 15"/>
          <p:cNvSpPr>
            <a:spLocks noChangeShapeType="1"/>
          </p:cNvSpPr>
          <p:nvPr/>
        </p:nvSpPr>
        <p:spPr bwMode="auto">
          <a:xfrm>
            <a:off x="5207000" y="2795588"/>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43" name="Text Box 16"/>
          <p:cNvSpPr txBox="1">
            <a:spLocks noChangeArrowheads="1"/>
          </p:cNvSpPr>
          <p:nvPr/>
        </p:nvSpPr>
        <p:spPr bwMode="auto">
          <a:xfrm>
            <a:off x="4286250" y="3197225"/>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4" name="Text Box 17"/>
          <p:cNvSpPr txBox="1">
            <a:spLocks noChangeArrowheads="1"/>
          </p:cNvSpPr>
          <p:nvPr/>
        </p:nvSpPr>
        <p:spPr bwMode="auto">
          <a:xfrm>
            <a:off x="4657725" y="2982913"/>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5" name="Text Box 18"/>
          <p:cNvSpPr txBox="1">
            <a:spLocks noChangeArrowheads="1"/>
          </p:cNvSpPr>
          <p:nvPr/>
        </p:nvSpPr>
        <p:spPr bwMode="auto">
          <a:xfrm>
            <a:off x="5100638" y="3330575"/>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6" name="Oval 19"/>
          <p:cNvSpPr>
            <a:spLocks noChangeArrowheads="1"/>
          </p:cNvSpPr>
          <p:nvPr/>
        </p:nvSpPr>
        <p:spPr bwMode="auto">
          <a:xfrm>
            <a:off x="5507038" y="3124200"/>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47" name="Rectangle 20"/>
          <p:cNvSpPr>
            <a:spLocks noChangeArrowheads="1"/>
          </p:cNvSpPr>
          <p:nvPr/>
        </p:nvSpPr>
        <p:spPr bwMode="auto">
          <a:xfrm>
            <a:off x="6307138" y="2752725"/>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48" name="Text Box 21"/>
          <p:cNvSpPr txBox="1">
            <a:spLocks noChangeArrowheads="1"/>
          </p:cNvSpPr>
          <p:nvPr/>
        </p:nvSpPr>
        <p:spPr bwMode="auto">
          <a:xfrm>
            <a:off x="6343650" y="2711450"/>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9" name="Text Box 22"/>
          <p:cNvSpPr txBox="1">
            <a:spLocks noChangeArrowheads="1"/>
          </p:cNvSpPr>
          <p:nvPr/>
        </p:nvSpPr>
        <p:spPr bwMode="auto">
          <a:xfrm>
            <a:off x="7200900" y="2711450"/>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0" name="Line 23"/>
          <p:cNvSpPr>
            <a:spLocks noChangeShapeType="1"/>
          </p:cNvSpPr>
          <p:nvPr/>
        </p:nvSpPr>
        <p:spPr bwMode="auto">
          <a:xfrm>
            <a:off x="7278688" y="2795588"/>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51" name="Text Box 24"/>
          <p:cNvSpPr txBox="1">
            <a:spLocks noChangeArrowheads="1"/>
          </p:cNvSpPr>
          <p:nvPr/>
        </p:nvSpPr>
        <p:spPr bwMode="auto">
          <a:xfrm>
            <a:off x="6357938" y="3197225"/>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2" name="Text Box 25"/>
          <p:cNvSpPr txBox="1">
            <a:spLocks noChangeArrowheads="1"/>
          </p:cNvSpPr>
          <p:nvPr/>
        </p:nvSpPr>
        <p:spPr bwMode="auto">
          <a:xfrm>
            <a:off x="6729413" y="2982913"/>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3" name="Text Box 26"/>
          <p:cNvSpPr txBox="1">
            <a:spLocks noChangeArrowheads="1"/>
          </p:cNvSpPr>
          <p:nvPr/>
        </p:nvSpPr>
        <p:spPr bwMode="auto">
          <a:xfrm>
            <a:off x="7172325" y="3330575"/>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4" name="Oval 27"/>
          <p:cNvSpPr>
            <a:spLocks noChangeArrowheads="1"/>
          </p:cNvSpPr>
          <p:nvPr/>
        </p:nvSpPr>
        <p:spPr bwMode="auto">
          <a:xfrm>
            <a:off x="7578725" y="3124200"/>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55" name="Line 28"/>
          <p:cNvSpPr>
            <a:spLocks noChangeShapeType="1"/>
          </p:cNvSpPr>
          <p:nvPr/>
        </p:nvSpPr>
        <p:spPr bwMode="auto">
          <a:xfrm>
            <a:off x="3435350" y="316706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56" name="Rectangle 29"/>
          <p:cNvSpPr>
            <a:spLocks noChangeArrowheads="1"/>
          </p:cNvSpPr>
          <p:nvPr/>
        </p:nvSpPr>
        <p:spPr bwMode="auto">
          <a:xfrm>
            <a:off x="1878013" y="4767263"/>
            <a:ext cx="1271587"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57" name="Text Box 30"/>
          <p:cNvSpPr txBox="1">
            <a:spLocks noChangeArrowheads="1"/>
          </p:cNvSpPr>
          <p:nvPr/>
        </p:nvSpPr>
        <p:spPr bwMode="auto">
          <a:xfrm>
            <a:off x="1914525" y="472598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8" name="Text Box 31"/>
          <p:cNvSpPr txBox="1">
            <a:spLocks noChangeArrowheads="1"/>
          </p:cNvSpPr>
          <p:nvPr/>
        </p:nvSpPr>
        <p:spPr bwMode="auto">
          <a:xfrm>
            <a:off x="2771775" y="472598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9" name="Line 32"/>
          <p:cNvSpPr>
            <a:spLocks noChangeShapeType="1"/>
          </p:cNvSpPr>
          <p:nvPr/>
        </p:nvSpPr>
        <p:spPr bwMode="auto">
          <a:xfrm>
            <a:off x="2849563" y="4810125"/>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60" name="Text Box 33"/>
          <p:cNvSpPr txBox="1">
            <a:spLocks noChangeArrowheads="1"/>
          </p:cNvSpPr>
          <p:nvPr/>
        </p:nvSpPr>
        <p:spPr bwMode="auto">
          <a:xfrm>
            <a:off x="1928813" y="5211763"/>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61" name="Text Box 34"/>
          <p:cNvSpPr txBox="1">
            <a:spLocks noChangeArrowheads="1"/>
          </p:cNvSpPr>
          <p:nvPr/>
        </p:nvSpPr>
        <p:spPr bwMode="auto">
          <a:xfrm>
            <a:off x="2300288" y="4997450"/>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62" name="Text Box 35"/>
          <p:cNvSpPr txBox="1">
            <a:spLocks noChangeArrowheads="1"/>
          </p:cNvSpPr>
          <p:nvPr/>
        </p:nvSpPr>
        <p:spPr bwMode="auto">
          <a:xfrm>
            <a:off x="2743200" y="5354638"/>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63" name="Oval 36"/>
          <p:cNvSpPr>
            <a:spLocks noChangeArrowheads="1"/>
          </p:cNvSpPr>
          <p:nvPr/>
        </p:nvSpPr>
        <p:spPr bwMode="auto">
          <a:xfrm>
            <a:off x="1792288" y="5138738"/>
            <a:ext cx="100012"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64" name="AutoShape 37"/>
          <p:cNvSpPr>
            <a:spLocks noChangeArrowheads="1"/>
          </p:cNvSpPr>
          <p:nvPr/>
        </p:nvSpPr>
        <p:spPr bwMode="auto">
          <a:xfrm rot="-5400000">
            <a:off x="3444875" y="4200525"/>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3765" name="AutoShape 38"/>
          <p:cNvSpPr>
            <a:spLocks noChangeArrowheads="1"/>
          </p:cNvSpPr>
          <p:nvPr/>
        </p:nvSpPr>
        <p:spPr bwMode="auto">
          <a:xfrm rot="-5400000">
            <a:off x="2216150" y="4195763"/>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3766" name="AutoShape 39"/>
          <p:cNvSpPr>
            <a:spLocks noChangeArrowheads="1"/>
          </p:cNvSpPr>
          <p:nvPr/>
        </p:nvSpPr>
        <p:spPr bwMode="auto">
          <a:xfrm rot="-5400000">
            <a:off x="3759200" y="1785938"/>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1944" name="AutoShape 40"/>
          <p:cNvSpPr>
            <a:spLocks noChangeArrowheads="1"/>
          </p:cNvSpPr>
          <p:nvPr/>
        </p:nvSpPr>
        <p:spPr bwMode="auto">
          <a:xfrm rot="-5400000">
            <a:off x="4387850" y="1785938"/>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45" name="AutoShape 41"/>
          <p:cNvSpPr>
            <a:spLocks noChangeArrowheads="1"/>
          </p:cNvSpPr>
          <p:nvPr/>
        </p:nvSpPr>
        <p:spPr bwMode="auto">
          <a:xfrm rot="-5400000">
            <a:off x="5916613" y="178117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46" name="AutoShape 42"/>
          <p:cNvSpPr>
            <a:spLocks noChangeArrowheads="1"/>
          </p:cNvSpPr>
          <p:nvPr/>
        </p:nvSpPr>
        <p:spPr bwMode="auto">
          <a:xfrm rot="-5400000">
            <a:off x="7845425" y="1785938"/>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47" name="Oval 43"/>
          <p:cNvSpPr>
            <a:spLocks noChangeArrowheads="1"/>
          </p:cNvSpPr>
          <p:nvPr/>
        </p:nvSpPr>
        <p:spPr bwMode="auto">
          <a:xfrm>
            <a:off x="2325688" y="411480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1948" name="Oval 44"/>
          <p:cNvSpPr>
            <a:spLocks noChangeArrowheads="1"/>
          </p:cNvSpPr>
          <p:nvPr/>
        </p:nvSpPr>
        <p:spPr bwMode="auto">
          <a:xfrm>
            <a:off x="3554413" y="41195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1949" name="AutoShape 45"/>
          <p:cNvSpPr>
            <a:spLocks noChangeArrowheads="1"/>
          </p:cNvSpPr>
          <p:nvPr/>
        </p:nvSpPr>
        <p:spPr bwMode="auto">
          <a:xfrm rot="-5400000">
            <a:off x="2954338" y="1790700"/>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50" name="Oval 46"/>
          <p:cNvSpPr>
            <a:spLocks noChangeArrowheads="1"/>
          </p:cNvSpPr>
          <p:nvPr/>
        </p:nvSpPr>
        <p:spPr bwMode="auto">
          <a:xfrm>
            <a:off x="3063875" y="170973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1951" name="AutoShape 47"/>
          <p:cNvSpPr>
            <a:spLocks noChangeArrowheads="1"/>
          </p:cNvSpPr>
          <p:nvPr/>
        </p:nvSpPr>
        <p:spPr bwMode="auto">
          <a:xfrm rot="-5400000">
            <a:off x="7254875" y="1785938"/>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52" name="Oval 48"/>
          <p:cNvSpPr>
            <a:spLocks noChangeArrowheads="1"/>
          </p:cNvSpPr>
          <p:nvPr/>
        </p:nvSpPr>
        <p:spPr bwMode="auto">
          <a:xfrm>
            <a:off x="7364413" y="170497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3776" name="Line 49"/>
          <p:cNvSpPr>
            <a:spLocks noChangeShapeType="1"/>
          </p:cNvSpPr>
          <p:nvPr/>
        </p:nvSpPr>
        <p:spPr bwMode="auto">
          <a:xfrm>
            <a:off x="1606550" y="5181600"/>
            <a:ext cx="1857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77" name="Text Box 51"/>
          <p:cNvSpPr txBox="1">
            <a:spLocks noChangeArrowheads="1"/>
          </p:cNvSpPr>
          <p:nvPr/>
        </p:nvSpPr>
        <p:spPr bwMode="auto">
          <a:xfrm>
            <a:off x="1828800" y="4954588"/>
            <a:ext cx="344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78" name="Line 52"/>
          <p:cNvSpPr>
            <a:spLocks noChangeShapeType="1"/>
          </p:cNvSpPr>
          <p:nvPr/>
        </p:nvSpPr>
        <p:spPr bwMode="auto">
          <a:xfrm>
            <a:off x="1163638" y="4586288"/>
            <a:ext cx="0" cy="11668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79" name="Line 53"/>
          <p:cNvSpPr>
            <a:spLocks noChangeShapeType="1"/>
          </p:cNvSpPr>
          <p:nvPr/>
        </p:nvSpPr>
        <p:spPr bwMode="auto">
          <a:xfrm>
            <a:off x="1154113" y="5743575"/>
            <a:ext cx="33861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0" name="Line 54"/>
          <p:cNvSpPr>
            <a:spLocks noChangeShapeType="1"/>
          </p:cNvSpPr>
          <p:nvPr/>
        </p:nvSpPr>
        <p:spPr bwMode="auto">
          <a:xfrm>
            <a:off x="2106613" y="5553075"/>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1" name="Line 55"/>
          <p:cNvSpPr>
            <a:spLocks noChangeShapeType="1"/>
          </p:cNvSpPr>
          <p:nvPr/>
        </p:nvSpPr>
        <p:spPr bwMode="auto">
          <a:xfrm>
            <a:off x="2106613" y="5924550"/>
            <a:ext cx="595788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2" name="Line 56"/>
          <p:cNvSpPr>
            <a:spLocks noChangeShapeType="1"/>
          </p:cNvSpPr>
          <p:nvPr/>
        </p:nvSpPr>
        <p:spPr bwMode="auto">
          <a:xfrm>
            <a:off x="2940050" y="5553075"/>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61" name="Oval 57"/>
          <p:cNvSpPr>
            <a:spLocks noChangeArrowheads="1"/>
          </p:cNvSpPr>
          <p:nvPr/>
        </p:nvSpPr>
        <p:spPr bwMode="auto">
          <a:xfrm>
            <a:off x="2906713" y="5705475"/>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784" name="Line 58"/>
          <p:cNvSpPr>
            <a:spLocks noChangeShapeType="1"/>
          </p:cNvSpPr>
          <p:nvPr/>
        </p:nvSpPr>
        <p:spPr bwMode="auto">
          <a:xfrm>
            <a:off x="1158875" y="4591050"/>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5" name="Line 59"/>
          <p:cNvSpPr>
            <a:spLocks noChangeShapeType="1"/>
          </p:cNvSpPr>
          <p:nvPr/>
        </p:nvSpPr>
        <p:spPr bwMode="auto">
          <a:xfrm flipV="1">
            <a:off x="2273300" y="447675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6" name="Line 60"/>
          <p:cNvSpPr>
            <a:spLocks noChangeShapeType="1"/>
          </p:cNvSpPr>
          <p:nvPr/>
        </p:nvSpPr>
        <p:spPr bwMode="auto">
          <a:xfrm flipV="1">
            <a:off x="2101850" y="46482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7" name="Line 61"/>
          <p:cNvSpPr>
            <a:spLocks noChangeShapeType="1"/>
          </p:cNvSpPr>
          <p:nvPr/>
        </p:nvSpPr>
        <p:spPr bwMode="auto">
          <a:xfrm>
            <a:off x="2101850" y="4657725"/>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8" name="Line 62"/>
          <p:cNvSpPr>
            <a:spLocks noChangeShapeType="1"/>
          </p:cNvSpPr>
          <p:nvPr/>
        </p:nvSpPr>
        <p:spPr bwMode="auto">
          <a:xfrm>
            <a:off x="2425700" y="4476750"/>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9" name="Line 63"/>
          <p:cNvSpPr>
            <a:spLocks noChangeShapeType="1"/>
          </p:cNvSpPr>
          <p:nvPr/>
        </p:nvSpPr>
        <p:spPr bwMode="auto">
          <a:xfrm>
            <a:off x="2416175" y="4591050"/>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0" name="Line 64"/>
          <p:cNvSpPr>
            <a:spLocks noChangeShapeType="1"/>
          </p:cNvSpPr>
          <p:nvPr/>
        </p:nvSpPr>
        <p:spPr bwMode="auto">
          <a:xfrm flipV="1">
            <a:off x="2968625" y="4581525"/>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1" name="Line 65"/>
          <p:cNvSpPr>
            <a:spLocks noChangeShapeType="1"/>
          </p:cNvSpPr>
          <p:nvPr/>
        </p:nvSpPr>
        <p:spPr bwMode="auto">
          <a:xfrm flipV="1">
            <a:off x="3502025" y="4486275"/>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2" name="Line 66"/>
          <p:cNvSpPr>
            <a:spLocks noChangeShapeType="1"/>
          </p:cNvSpPr>
          <p:nvPr/>
        </p:nvSpPr>
        <p:spPr bwMode="auto">
          <a:xfrm>
            <a:off x="3673475" y="4486275"/>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3" name="Line 67"/>
          <p:cNvSpPr>
            <a:spLocks noChangeShapeType="1"/>
          </p:cNvSpPr>
          <p:nvPr/>
        </p:nvSpPr>
        <p:spPr bwMode="auto">
          <a:xfrm>
            <a:off x="3668713" y="4657725"/>
            <a:ext cx="17478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4" name="AutoShape 68"/>
          <p:cNvSpPr>
            <a:spLocks noChangeArrowheads="1"/>
          </p:cNvSpPr>
          <p:nvPr/>
        </p:nvSpPr>
        <p:spPr bwMode="auto">
          <a:xfrm rot="-5400000" flipH="1" flipV="1">
            <a:off x="4906963" y="5110163"/>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1973" name="Oval 69"/>
          <p:cNvSpPr>
            <a:spLocks noChangeArrowheads="1"/>
          </p:cNvSpPr>
          <p:nvPr/>
        </p:nvSpPr>
        <p:spPr bwMode="auto">
          <a:xfrm>
            <a:off x="4868863" y="52006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3796" name="Line 70"/>
          <p:cNvSpPr>
            <a:spLocks noChangeShapeType="1"/>
          </p:cNvSpPr>
          <p:nvPr/>
        </p:nvSpPr>
        <p:spPr bwMode="auto">
          <a:xfrm flipH="1">
            <a:off x="4530725" y="5238750"/>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7" name="Line 71"/>
          <p:cNvSpPr>
            <a:spLocks noChangeShapeType="1"/>
          </p:cNvSpPr>
          <p:nvPr/>
        </p:nvSpPr>
        <p:spPr bwMode="auto">
          <a:xfrm>
            <a:off x="4540250" y="5238750"/>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8" name="Rectangle 72"/>
          <p:cNvSpPr>
            <a:spLocks noChangeArrowheads="1"/>
          </p:cNvSpPr>
          <p:nvPr/>
        </p:nvSpPr>
        <p:spPr bwMode="auto">
          <a:xfrm>
            <a:off x="5683250" y="4924425"/>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rPr>
              <a:t>时钟源</a:t>
            </a:r>
            <a:endParaRPr kumimoji="0" lang="zh-CN" altLang="en-US" sz="2400">
              <a:solidFill>
                <a:schemeClr val="bg1"/>
              </a:solidFill>
              <a:latin typeface="Tahoma" panose="020B0604030504040204" pitchFamily="34" charset="0"/>
            </a:endParaRPr>
          </a:p>
        </p:txBody>
      </p:sp>
      <p:sp>
        <p:nvSpPr>
          <p:cNvPr id="73799" name="Line 73"/>
          <p:cNvSpPr>
            <a:spLocks noChangeShapeType="1"/>
          </p:cNvSpPr>
          <p:nvPr/>
        </p:nvSpPr>
        <p:spPr bwMode="auto">
          <a:xfrm>
            <a:off x="5187950" y="5238750"/>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0" name="Line 74"/>
          <p:cNvSpPr>
            <a:spLocks noChangeShapeType="1"/>
          </p:cNvSpPr>
          <p:nvPr/>
        </p:nvSpPr>
        <p:spPr bwMode="auto">
          <a:xfrm>
            <a:off x="5407025" y="4648200"/>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79" name="Oval 75"/>
          <p:cNvSpPr>
            <a:spLocks noChangeArrowheads="1"/>
          </p:cNvSpPr>
          <p:nvPr/>
        </p:nvSpPr>
        <p:spPr bwMode="auto">
          <a:xfrm>
            <a:off x="5364163" y="520065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02" name="Line 76"/>
          <p:cNvSpPr>
            <a:spLocks noChangeShapeType="1"/>
          </p:cNvSpPr>
          <p:nvPr/>
        </p:nvSpPr>
        <p:spPr bwMode="auto">
          <a:xfrm flipV="1">
            <a:off x="2368550" y="4000500"/>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3" name="Line 77"/>
          <p:cNvSpPr>
            <a:spLocks noChangeShapeType="1"/>
          </p:cNvSpPr>
          <p:nvPr/>
        </p:nvSpPr>
        <p:spPr bwMode="auto">
          <a:xfrm>
            <a:off x="2359025" y="4000500"/>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4" name="Line 78"/>
          <p:cNvSpPr>
            <a:spLocks noChangeShapeType="1"/>
          </p:cNvSpPr>
          <p:nvPr/>
        </p:nvSpPr>
        <p:spPr bwMode="auto">
          <a:xfrm flipV="1">
            <a:off x="3130550" y="35433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5" name="Line 79"/>
          <p:cNvSpPr>
            <a:spLocks noChangeShapeType="1"/>
          </p:cNvSpPr>
          <p:nvPr/>
        </p:nvSpPr>
        <p:spPr bwMode="auto">
          <a:xfrm flipV="1">
            <a:off x="3597275" y="3152775"/>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6" name="Line 80"/>
          <p:cNvSpPr>
            <a:spLocks noChangeShapeType="1"/>
          </p:cNvSpPr>
          <p:nvPr/>
        </p:nvSpPr>
        <p:spPr bwMode="auto">
          <a:xfrm flipV="1">
            <a:off x="2292350" y="2543175"/>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7" name="Line 81"/>
          <p:cNvSpPr>
            <a:spLocks noChangeShapeType="1"/>
          </p:cNvSpPr>
          <p:nvPr/>
        </p:nvSpPr>
        <p:spPr bwMode="auto">
          <a:xfrm>
            <a:off x="2282825" y="2552700"/>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8" name="Line 82"/>
          <p:cNvSpPr>
            <a:spLocks noChangeShapeType="1"/>
          </p:cNvSpPr>
          <p:nvPr/>
        </p:nvSpPr>
        <p:spPr bwMode="auto">
          <a:xfrm flipV="1">
            <a:off x="3825875" y="2066925"/>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9" name="Line 83"/>
          <p:cNvSpPr>
            <a:spLocks noChangeShapeType="1"/>
          </p:cNvSpPr>
          <p:nvPr/>
        </p:nvSpPr>
        <p:spPr bwMode="auto">
          <a:xfrm>
            <a:off x="3816350" y="3638550"/>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10" name="Line 84"/>
          <p:cNvSpPr>
            <a:spLocks noChangeShapeType="1"/>
          </p:cNvSpPr>
          <p:nvPr/>
        </p:nvSpPr>
        <p:spPr bwMode="auto">
          <a:xfrm flipV="1">
            <a:off x="4473575" y="35337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11" name="Line 85"/>
          <p:cNvSpPr>
            <a:spLocks noChangeShapeType="1"/>
          </p:cNvSpPr>
          <p:nvPr/>
        </p:nvSpPr>
        <p:spPr bwMode="auto">
          <a:xfrm>
            <a:off x="3587750" y="3800475"/>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90" name="Oval 86"/>
          <p:cNvSpPr>
            <a:spLocks noChangeArrowheads="1"/>
          </p:cNvSpPr>
          <p:nvPr/>
        </p:nvSpPr>
        <p:spPr bwMode="auto">
          <a:xfrm>
            <a:off x="3563938" y="3762375"/>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13" name="Line 87"/>
          <p:cNvSpPr>
            <a:spLocks noChangeShapeType="1"/>
          </p:cNvSpPr>
          <p:nvPr/>
        </p:nvSpPr>
        <p:spPr bwMode="auto">
          <a:xfrm flipV="1">
            <a:off x="7369175" y="353377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14" name="Line 88"/>
          <p:cNvSpPr>
            <a:spLocks noChangeShapeType="1"/>
          </p:cNvSpPr>
          <p:nvPr/>
        </p:nvSpPr>
        <p:spPr bwMode="auto">
          <a:xfrm flipV="1">
            <a:off x="5302250" y="353377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93" name="Oval 89"/>
          <p:cNvSpPr>
            <a:spLocks noChangeArrowheads="1"/>
          </p:cNvSpPr>
          <p:nvPr/>
        </p:nvSpPr>
        <p:spPr bwMode="auto">
          <a:xfrm>
            <a:off x="3087688" y="3952875"/>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94" name="Oval 90"/>
          <p:cNvSpPr>
            <a:spLocks noChangeArrowheads="1"/>
          </p:cNvSpPr>
          <p:nvPr/>
        </p:nvSpPr>
        <p:spPr bwMode="auto">
          <a:xfrm>
            <a:off x="5268913" y="39624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17" name="Line 91"/>
          <p:cNvSpPr>
            <a:spLocks noChangeShapeType="1"/>
          </p:cNvSpPr>
          <p:nvPr/>
        </p:nvSpPr>
        <p:spPr bwMode="auto">
          <a:xfrm>
            <a:off x="5616575" y="31765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18" name="Line 92"/>
          <p:cNvSpPr>
            <a:spLocks noChangeShapeType="1"/>
          </p:cNvSpPr>
          <p:nvPr/>
        </p:nvSpPr>
        <p:spPr bwMode="auto">
          <a:xfrm flipV="1">
            <a:off x="5778500" y="3162300"/>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97" name="Oval 93"/>
          <p:cNvSpPr>
            <a:spLocks noChangeArrowheads="1"/>
          </p:cNvSpPr>
          <p:nvPr/>
        </p:nvSpPr>
        <p:spPr bwMode="auto">
          <a:xfrm>
            <a:off x="5745163" y="37719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20" name="Line 94"/>
          <p:cNvSpPr>
            <a:spLocks noChangeShapeType="1"/>
          </p:cNvSpPr>
          <p:nvPr/>
        </p:nvSpPr>
        <p:spPr bwMode="auto">
          <a:xfrm>
            <a:off x="7673975" y="316706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1" name="Line 95"/>
          <p:cNvSpPr>
            <a:spLocks noChangeShapeType="1"/>
          </p:cNvSpPr>
          <p:nvPr/>
        </p:nvSpPr>
        <p:spPr bwMode="auto">
          <a:xfrm flipV="1">
            <a:off x="7835900" y="3152775"/>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2" name="Line 96"/>
          <p:cNvSpPr>
            <a:spLocks noChangeShapeType="1"/>
          </p:cNvSpPr>
          <p:nvPr/>
        </p:nvSpPr>
        <p:spPr bwMode="auto">
          <a:xfrm flipV="1">
            <a:off x="4454525" y="2066925"/>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3" name="Line 97"/>
          <p:cNvSpPr>
            <a:spLocks noChangeShapeType="1"/>
          </p:cNvSpPr>
          <p:nvPr/>
        </p:nvSpPr>
        <p:spPr bwMode="auto">
          <a:xfrm>
            <a:off x="4445000" y="2552700"/>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4" name="Line 98"/>
          <p:cNvSpPr>
            <a:spLocks noChangeShapeType="1"/>
          </p:cNvSpPr>
          <p:nvPr/>
        </p:nvSpPr>
        <p:spPr bwMode="auto">
          <a:xfrm flipV="1">
            <a:off x="5988050" y="2066925"/>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5" name="Line 99"/>
          <p:cNvSpPr>
            <a:spLocks noChangeShapeType="1"/>
          </p:cNvSpPr>
          <p:nvPr/>
        </p:nvSpPr>
        <p:spPr bwMode="auto">
          <a:xfrm>
            <a:off x="5978525" y="3638550"/>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6" name="Line 100"/>
          <p:cNvSpPr>
            <a:spLocks noChangeShapeType="1"/>
          </p:cNvSpPr>
          <p:nvPr/>
        </p:nvSpPr>
        <p:spPr bwMode="auto">
          <a:xfrm flipV="1">
            <a:off x="6550025" y="35337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7" name="Line 101"/>
          <p:cNvSpPr>
            <a:spLocks noChangeShapeType="1"/>
          </p:cNvSpPr>
          <p:nvPr/>
        </p:nvSpPr>
        <p:spPr bwMode="auto">
          <a:xfrm flipV="1">
            <a:off x="8054975" y="2066925"/>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8" name="Line 102"/>
          <p:cNvSpPr>
            <a:spLocks noChangeShapeType="1"/>
          </p:cNvSpPr>
          <p:nvPr/>
        </p:nvSpPr>
        <p:spPr bwMode="auto">
          <a:xfrm>
            <a:off x="6492875" y="2552700"/>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9" name="Line 103"/>
          <p:cNvSpPr>
            <a:spLocks noChangeShapeType="1"/>
          </p:cNvSpPr>
          <p:nvPr/>
        </p:nvSpPr>
        <p:spPr bwMode="auto">
          <a:xfrm flipV="1">
            <a:off x="6492875" y="2543175"/>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30" name="Line 104"/>
          <p:cNvSpPr>
            <a:spLocks noChangeShapeType="1"/>
          </p:cNvSpPr>
          <p:nvPr/>
        </p:nvSpPr>
        <p:spPr bwMode="auto">
          <a:xfrm>
            <a:off x="2301875" y="354330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2009" name="Oval 105"/>
          <p:cNvSpPr>
            <a:spLocks noChangeArrowheads="1"/>
          </p:cNvSpPr>
          <p:nvPr/>
        </p:nvSpPr>
        <p:spPr bwMode="auto">
          <a:xfrm>
            <a:off x="2259013" y="37814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3832" name="Text Box 106"/>
          <p:cNvSpPr txBox="1">
            <a:spLocks noChangeArrowheads="1"/>
          </p:cNvSpPr>
          <p:nvPr/>
        </p:nvSpPr>
        <p:spPr bwMode="auto">
          <a:xfrm>
            <a:off x="1557338" y="3559175"/>
            <a:ext cx="773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3833" name="Line 107"/>
          <p:cNvSpPr>
            <a:spLocks noChangeShapeType="1"/>
          </p:cNvSpPr>
          <p:nvPr/>
        </p:nvSpPr>
        <p:spPr bwMode="auto">
          <a:xfrm flipV="1">
            <a:off x="3101975" y="2066925"/>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2012" name="Oval 108"/>
          <p:cNvSpPr>
            <a:spLocks noChangeArrowheads="1"/>
          </p:cNvSpPr>
          <p:nvPr/>
        </p:nvSpPr>
        <p:spPr bwMode="auto">
          <a:xfrm>
            <a:off x="3783013" y="25146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35" name="Line 109"/>
          <p:cNvSpPr>
            <a:spLocks noChangeShapeType="1"/>
          </p:cNvSpPr>
          <p:nvPr/>
        </p:nvSpPr>
        <p:spPr bwMode="auto">
          <a:xfrm flipV="1">
            <a:off x="5321300" y="2381250"/>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36" name="Line 110"/>
          <p:cNvSpPr>
            <a:spLocks noChangeShapeType="1"/>
          </p:cNvSpPr>
          <p:nvPr/>
        </p:nvSpPr>
        <p:spPr bwMode="auto">
          <a:xfrm flipH="1">
            <a:off x="3978275" y="2381250"/>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37" name="Line 111"/>
          <p:cNvSpPr>
            <a:spLocks noChangeShapeType="1"/>
          </p:cNvSpPr>
          <p:nvPr/>
        </p:nvSpPr>
        <p:spPr bwMode="auto">
          <a:xfrm flipV="1">
            <a:off x="3978275" y="2066925"/>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2016" name="Oval 112"/>
          <p:cNvSpPr>
            <a:spLocks noChangeArrowheads="1"/>
          </p:cNvSpPr>
          <p:nvPr/>
        </p:nvSpPr>
        <p:spPr bwMode="auto">
          <a:xfrm>
            <a:off x="4421188" y="25146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39" name="Line 113"/>
          <p:cNvSpPr>
            <a:spLocks noChangeShapeType="1"/>
          </p:cNvSpPr>
          <p:nvPr/>
        </p:nvSpPr>
        <p:spPr bwMode="auto">
          <a:xfrm flipV="1">
            <a:off x="4597400" y="2066925"/>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0" name="Text Box 114"/>
          <p:cNvSpPr txBox="1">
            <a:spLocks noChangeArrowheads="1"/>
          </p:cNvSpPr>
          <p:nvPr/>
        </p:nvSpPr>
        <p:spPr bwMode="auto">
          <a:xfrm>
            <a:off x="4529138" y="2044700"/>
            <a:ext cx="630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2019" name="Oval 115"/>
          <p:cNvSpPr>
            <a:spLocks noChangeArrowheads="1"/>
          </p:cNvSpPr>
          <p:nvPr/>
        </p:nvSpPr>
        <p:spPr bwMode="auto">
          <a:xfrm>
            <a:off x="3068638" y="2505075"/>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42" name="Line 116"/>
          <p:cNvSpPr>
            <a:spLocks noChangeShapeType="1"/>
          </p:cNvSpPr>
          <p:nvPr/>
        </p:nvSpPr>
        <p:spPr bwMode="auto">
          <a:xfrm flipV="1">
            <a:off x="7397750" y="2076450"/>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3" name="Line 117"/>
          <p:cNvSpPr>
            <a:spLocks noChangeShapeType="1"/>
          </p:cNvSpPr>
          <p:nvPr/>
        </p:nvSpPr>
        <p:spPr bwMode="auto">
          <a:xfrm flipH="1">
            <a:off x="6121400" y="2381250"/>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4" name="Line 118"/>
          <p:cNvSpPr>
            <a:spLocks noChangeShapeType="1"/>
          </p:cNvSpPr>
          <p:nvPr/>
        </p:nvSpPr>
        <p:spPr bwMode="auto">
          <a:xfrm flipV="1">
            <a:off x="6121400" y="2066925"/>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5" name="Line 119"/>
          <p:cNvSpPr>
            <a:spLocks noChangeShapeType="1"/>
          </p:cNvSpPr>
          <p:nvPr/>
        </p:nvSpPr>
        <p:spPr bwMode="auto">
          <a:xfrm flipV="1">
            <a:off x="7921625" y="2066925"/>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6" name="Text Box 120"/>
          <p:cNvSpPr txBox="1">
            <a:spLocks noChangeArrowheads="1"/>
          </p:cNvSpPr>
          <p:nvPr/>
        </p:nvSpPr>
        <p:spPr bwMode="auto">
          <a:xfrm>
            <a:off x="7434263" y="2139950"/>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2025" name="Oval 121"/>
          <p:cNvSpPr>
            <a:spLocks noChangeArrowheads="1"/>
          </p:cNvSpPr>
          <p:nvPr/>
        </p:nvSpPr>
        <p:spPr bwMode="auto">
          <a:xfrm>
            <a:off x="7364413" y="234315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026" name="Oval 122"/>
          <p:cNvSpPr>
            <a:spLocks noChangeArrowheads="1"/>
          </p:cNvSpPr>
          <p:nvPr/>
        </p:nvSpPr>
        <p:spPr bwMode="auto">
          <a:xfrm>
            <a:off x="5945188" y="25146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49" name="Line 123"/>
          <p:cNvSpPr>
            <a:spLocks noChangeShapeType="1"/>
          </p:cNvSpPr>
          <p:nvPr/>
        </p:nvSpPr>
        <p:spPr bwMode="auto">
          <a:xfrm flipV="1">
            <a:off x="3101975" y="1495425"/>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0" name="Line 124"/>
          <p:cNvSpPr>
            <a:spLocks noChangeShapeType="1"/>
          </p:cNvSpPr>
          <p:nvPr/>
        </p:nvSpPr>
        <p:spPr bwMode="auto">
          <a:xfrm flipV="1">
            <a:off x="3902075" y="1533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1" name="Line 125"/>
          <p:cNvSpPr>
            <a:spLocks noChangeShapeType="1"/>
          </p:cNvSpPr>
          <p:nvPr/>
        </p:nvSpPr>
        <p:spPr bwMode="auto">
          <a:xfrm flipV="1">
            <a:off x="4530725" y="15081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2" name="Line 126"/>
          <p:cNvSpPr>
            <a:spLocks noChangeShapeType="1"/>
          </p:cNvSpPr>
          <p:nvPr/>
        </p:nvSpPr>
        <p:spPr bwMode="auto">
          <a:xfrm flipV="1">
            <a:off x="6049963" y="1533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3" name="Line 127"/>
          <p:cNvSpPr>
            <a:spLocks noChangeShapeType="1"/>
          </p:cNvSpPr>
          <p:nvPr/>
        </p:nvSpPr>
        <p:spPr bwMode="auto">
          <a:xfrm flipV="1">
            <a:off x="7988300" y="1533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4" name="Line 128"/>
          <p:cNvSpPr>
            <a:spLocks noChangeShapeType="1"/>
          </p:cNvSpPr>
          <p:nvPr/>
        </p:nvSpPr>
        <p:spPr bwMode="auto">
          <a:xfrm flipV="1">
            <a:off x="7407275" y="1495425"/>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5" name="Text Box 130"/>
          <p:cNvSpPr txBox="1">
            <a:spLocks noChangeArrowheads="1"/>
          </p:cNvSpPr>
          <p:nvPr/>
        </p:nvSpPr>
        <p:spPr bwMode="auto">
          <a:xfrm>
            <a:off x="4473575" y="1309688"/>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3856" name="Oval 131"/>
          <p:cNvSpPr>
            <a:spLocks noChangeArrowheads="1"/>
          </p:cNvSpPr>
          <p:nvPr/>
        </p:nvSpPr>
        <p:spPr bwMode="auto">
          <a:xfrm>
            <a:off x="4965700" y="135731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57" name="Text Box 132"/>
          <p:cNvSpPr txBox="1">
            <a:spLocks noChangeArrowheads="1"/>
          </p:cNvSpPr>
          <p:nvPr/>
        </p:nvSpPr>
        <p:spPr bwMode="auto">
          <a:xfrm>
            <a:off x="7373938" y="1292225"/>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3858" name="Oval 133"/>
          <p:cNvSpPr>
            <a:spLocks noChangeArrowheads="1"/>
          </p:cNvSpPr>
          <p:nvPr/>
        </p:nvSpPr>
        <p:spPr bwMode="auto">
          <a:xfrm>
            <a:off x="7951788" y="13398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59" name="Text Box 134"/>
          <p:cNvSpPr txBox="1">
            <a:spLocks noChangeArrowheads="1"/>
          </p:cNvSpPr>
          <p:nvPr/>
        </p:nvSpPr>
        <p:spPr bwMode="auto">
          <a:xfrm>
            <a:off x="3816350" y="12922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3860" name="Oval 135"/>
          <p:cNvSpPr>
            <a:spLocks noChangeArrowheads="1"/>
          </p:cNvSpPr>
          <p:nvPr/>
        </p:nvSpPr>
        <p:spPr bwMode="auto">
          <a:xfrm>
            <a:off x="4137025" y="13398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61" name="Text Box 136"/>
          <p:cNvSpPr txBox="1">
            <a:spLocks noChangeArrowheads="1"/>
          </p:cNvSpPr>
          <p:nvPr/>
        </p:nvSpPr>
        <p:spPr bwMode="auto">
          <a:xfrm>
            <a:off x="5988050" y="132080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3862" name="Oval 137"/>
          <p:cNvSpPr>
            <a:spLocks noChangeArrowheads="1"/>
          </p:cNvSpPr>
          <p:nvPr/>
        </p:nvSpPr>
        <p:spPr bwMode="auto">
          <a:xfrm>
            <a:off x="6308725" y="136842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63" name="Text Box 138"/>
          <p:cNvSpPr txBox="1">
            <a:spLocks noChangeArrowheads="1"/>
          </p:cNvSpPr>
          <p:nvPr/>
        </p:nvSpPr>
        <p:spPr bwMode="auto">
          <a:xfrm>
            <a:off x="6945313" y="1277938"/>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3864" name="Oval 139"/>
          <p:cNvSpPr>
            <a:spLocks noChangeArrowheads="1"/>
          </p:cNvSpPr>
          <p:nvPr/>
        </p:nvSpPr>
        <p:spPr bwMode="auto">
          <a:xfrm>
            <a:off x="7265988" y="132556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65" name="Text Box 140"/>
          <p:cNvSpPr txBox="1">
            <a:spLocks noChangeArrowheads="1"/>
          </p:cNvSpPr>
          <p:nvPr/>
        </p:nvSpPr>
        <p:spPr bwMode="auto">
          <a:xfrm>
            <a:off x="2659063" y="1277938"/>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3866" name="Oval 141"/>
          <p:cNvSpPr>
            <a:spLocks noChangeArrowheads="1"/>
          </p:cNvSpPr>
          <p:nvPr/>
        </p:nvSpPr>
        <p:spPr bwMode="auto">
          <a:xfrm>
            <a:off x="2979738" y="132556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67" name="Text Box 142"/>
          <p:cNvSpPr txBox="1">
            <a:spLocks noChangeArrowheads="1"/>
          </p:cNvSpPr>
          <p:nvPr/>
        </p:nvSpPr>
        <p:spPr bwMode="auto">
          <a:xfrm>
            <a:off x="4414838" y="4368800"/>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3868" name="Text Box 143"/>
          <p:cNvSpPr txBox="1">
            <a:spLocks noChangeArrowheads="1"/>
          </p:cNvSpPr>
          <p:nvPr/>
        </p:nvSpPr>
        <p:spPr bwMode="auto">
          <a:xfrm>
            <a:off x="4514850" y="5054600"/>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3869" name="Line 144"/>
          <p:cNvSpPr>
            <a:spLocks noChangeShapeType="1"/>
          </p:cNvSpPr>
          <p:nvPr/>
        </p:nvSpPr>
        <p:spPr bwMode="auto">
          <a:xfrm>
            <a:off x="4606925" y="5338763"/>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73870" name="Group 145"/>
          <p:cNvGrpSpPr/>
          <p:nvPr/>
        </p:nvGrpSpPr>
        <p:grpSpPr bwMode="auto">
          <a:xfrm>
            <a:off x="4678363" y="4324350"/>
            <a:ext cx="800100" cy="271463"/>
            <a:chOff x="3258" y="2997"/>
            <a:chExt cx="504" cy="171"/>
          </a:xfrm>
        </p:grpSpPr>
        <p:sp>
          <p:nvSpPr>
            <p:cNvPr id="73889" name="Line 146"/>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0" name="Line 147"/>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1" name="Line 148"/>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2" name="Line 149"/>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3" name="Line 150"/>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4" name="Line 151"/>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5" name="Line 152"/>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6" name="Line 153"/>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7" name="Line 154"/>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3871" name="Group 155"/>
          <p:cNvGrpSpPr/>
          <p:nvPr/>
        </p:nvGrpSpPr>
        <p:grpSpPr bwMode="auto">
          <a:xfrm flipV="1">
            <a:off x="3621088" y="5410200"/>
            <a:ext cx="800100" cy="271463"/>
            <a:chOff x="3258" y="2997"/>
            <a:chExt cx="504" cy="171"/>
          </a:xfrm>
        </p:grpSpPr>
        <p:sp>
          <p:nvSpPr>
            <p:cNvPr id="73880" name="Line 156"/>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1" name="Line 157"/>
            <p:cNvSpPr>
              <a:spLocks noChangeShapeType="1"/>
            </p:cNvSpPr>
            <p:nvPr/>
          </p:nvSpPr>
          <p:spPr bwMode="auto">
            <a:xfrm>
              <a:off x="3339" y="2997"/>
              <a:ext cx="0" cy="171"/>
            </a:xfrm>
            <a:prstGeom prst="line">
              <a:avLst/>
            </a:prstGeom>
            <a:noFill/>
            <a:ln w="19050">
              <a:solidFill>
                <a:srgbClr val="FF0000"/>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2" name="Line 158"/>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3" name="Line 159"/>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4" name="Line 160"/>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5" name="Line 161"/>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6" name="Line 162"/>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7" name="Line 163"/>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8" name="Line 164"/>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73872" name="Text Box 165"/>
          <p:cNvSpPr txBox="1">
            <a:spLocks noChangeArrowheads="1"/>
          </p:cNvSpPr>
          <p:nvPr/>
        </p:nvSpPr>
        <p:spPr bwMode="auto">
          <a:xfrm>
            <a:off x="2000250" y="24114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3873" name="Text Box 166"/>
          <p:cNvSpPr txBox="1">
            <a:spLocks noChangeArrowheads="1"/>
          </p:cNvSpPr>
          <p:nvPr/>
        </p:nvSpPr>
        <p:spPr bwMode="auto">
          <a:xfrm>
            <a:off x="4143375" y="24114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3874" name="Text Box 167"/>
          <p:cNvSpPr txBox="1">
            <a:spLocks noChangeArrowheads="1"/>
          </p:cNvSpPr>
          <p:nvPr/>
        </p:nvSpPr>
        <p:spPr bwMode="auto">
          <a:xfrm>
            <a:off x="6200775" y="24114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3875" name="Text Box 169"/>
          <p:cNvSpPr txBox="1">
            <a:spLocks noChangeArrowheads="1"/>
          </p:cNvSpPr>
          <p:nvPr/>
        </p:nvSpPr>
        <p:spPr bwMode="auto">
          <a:xfrm>
            <a:off x="3200400" y="431165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3876" name="Text Box 170"/>
          <p:cNvSpPr txBox="1">
            <a:spLocks noChangeArrowheads="1"/>
          </p:cNvSpPr>
          <p:nvPr/>
        </p:nvSpPr>
        <p:spPr bwMode="auto">
          <a:xfrm>
            <a:off x="3286125" y="27971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3877" name="Text Box 171"/>
          <p:cNvSpPr txBox="1">
            <a:spLocks noChangeArrowheads="1"/>
          </p:cNvSpPr>
          <p:nvPr/>
        </p:nvSpPr>
        <p:spPr bwMode="auto">
          <a:xfrm>
            <a:off x="5457825" y="27828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3878" name="Text Box 172"/>
          <p:cNvSpPr txBox="1">
            <a:spLocks noChangeArrowheads="1"/>
          </p:cNvSpPr>
          <p:nvPr/>
        </p:nvSpPr>
        <p:spPr bwMode="auto">
          <a:xfrm>
            <a:off x="7529513" y="27971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3879" name="Text Box 183"/>
          <p:cNvSpPr txBox="1">
            <a:spLocks noChangeArrowheads="1"/>
          </p:cNvSpPr>
          <p:nvPr/>
        </p:nvSpPr>
        <p:spPr bwMode="auto">
          <a:xfrm>
            <a:off x="1843088" y="56689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457200" y="184150"/>
            <a:ext cx="8229600" cy="1371600"/>
          </a:xfrm>
        </p:spPr>
        <p:txBody>
          <a:bodyPr/>
          <a:lstStyle/>
          <a:p>
            <a:pPr eaLnBrk="1" hangingPunct="1"/>
            <a:r>
              <a:rPr lang="zh-CN" altLang="en-US"/>
              <a:t>环形脉冲发生器与译码逻辑（</a:t>
            </a:r>
            <a:r>
              <a:rPr lang="en-US" altLang="zh-CN"/>
              <a:t>3</a:t>
            </a:r>
            <a:r>
              <a:rPr lang="zh-CN" altLang="en-US"/>
              <a:t>）</a:t>
            </a:r>
            <a:endParaRPr lang="zh-CN" altLang="en-US"/>
          </a:p>
        </p:txBody>
      </p:sp>
      <p:sp>
        <p:nvSpPr>
          <p:cNvPr id="250051" name="Text Box 195"/>
          <p:cNvSpPr txBox="1">
            <a:spLocks noChangeArrowheads="1"/>
          </p:cNvSpPr>
          <p:nvPr/>
        </p:nvSpPr>
        <p:spPr bwMode="auto">
          <a:xfrm>
            <a:off x="1998663"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4756" name="Rectangle 4"/>
          <p:cNvSpPr>
            <a:spLocks noChangeArrowheads="1"/>
          </p:cNvSpPr>
          <p:nvPr/>
        </p:nvSpPr>
        <p:spPr bwMode="auto">
          <a:xfrm>
            <a:off x="2062163" y="27749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57" name="Text Box 5"/>
          <p:cNvSpPr txBox="1">
            <a:spLocks noChangeArrowheads="1"/>
          </p:cNvSpPr>
          <p:nvPr/>
        </p:nvSpPr>
        <p:spPr bwMode="auto">
          <a:xfrm>
            <a:off x="209867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58" name="Text Box 6"/>
          <p:cNvSpPr txBox="1">
            <a:spLocks noChangeArrowheads="1"/>
          </p:cNvSpPr>
          <p:nvPr/>
        </p:nvSpPr>
        <p:spPr bwMode="auto">
          <a:xfrm>
            <a:off x="295592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59" name="Line 7"/>
          <p:cNvSpPr>
            <a:spLocks noChangeShapeType="1"/>
          </p:cNvSpPr>
          <p:nvPr/>
        </p:nvSpPr>
        <p:spPr bwMode="auto">
          <a:xfrm>
            <a:off x="3033713" y="28178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60" name="Text Box 8"/>
          <p:cNvSpPr txBox="1">
            <a:spLocks noChangeArrowheads="1"/>
          </p:cNvSpPr>
          <p:nvPr/>
        </p:nvSpPr>
        <p:spPr bwMode="auto">
          <a:xfrm>
            <a:off x="2112963" y="32194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1" name="Text Box 9"/>
          <p:cNvSpPr txBox="1">
            <a:spLocks noChangeArrowheads="1"/>
          </p:cNvSpPr>
          <p:nvPr/>
        </p:nvSpPr>
        <p:spPr bwMode="auto">
          <a:xfrm>
            <a:off x="2484438" y="30051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2" name="Text Box 10"/>
          <p:cNvSpPr txBox="1">
            <a:spLocks noChangeArrowheads="1"/>
          </p:cNvSpPr>
          <p:nvPr/>
        </p:nvSpPr>
        <p:spPr bwMode="auto">
          <a:xfrm>
            <a:off x="2927350" y="33528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3" name="Oval 11"/>
          <p:cNvSpPr>
            <a:spLocks noChangeArrowheads="1"/>
          </p:cNvSpPr>
          <p:nvPr/>
        </p:nvSpPr>
        <p:spPr bwMode="auto">
          <a:xfrm>
            <a:off x="3333750" y="31464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64" name="Rectangle 14"/>
          <p:cNvSpPr>
            <a:spLocks noChangeArrowheads="1"/>
          </p:cNvSpPr>
          <p:nvPr/>
        </p:nvSpPr>
        <p:spPr bwMode="auto">
          <a:xfrm>
            <a:off x="4233863" y="27749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65" name="Text Box 15"/>
          <p:cNvSpPr txBox="1">
            <a:spLocks noChangeArrowheads="1"/>
          </p:cNvSpPr>
          <p:nvPr/>
        </p:nvSpPr>
        <p:spPr bwMode="auto">
          <a:xfrm>
            <a:off x="427037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6" name="Text Box 16"/>
          <p:cNvSpPr txBox="1">
            <a:spLocks noChangeArrowheads="1"/>
          </p:cNvSpPr>
          <p:nvPr/>
        </p:nvSpPr>
        <p:spPr bwMode="auto">
          <a:xfrm>
            <a:off x="512762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7" name="Line 17"/>
          <p:cNvSpPr>
            <a:spLocks noChangeShapeType="1"/>
          </p:cNvSpPr>
          <p:nvPr/>
        </p:nvSpPr>
        <p:spPr bwMode="auto">
          <a:xfrm>
            <a:off x="5205413" y="28178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68" name="Text Box 18"/>
          <p:cNvSpPr txBox="1">
            <a:spLocks noChangeArrowheads="1"/>
          </p:cNvSpPr>
          <p:nvPr/>
        </p:nvSpPr>
        <p:spPr bwMode="auto">
          <a:xfrm>
            <a:off x="4284663" y="32194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9" name="Text Box 19"/>
          <p:cNvSpPr txBox="1">
            <a:spLocks noChangeArrowheads="1"/>
          </p:cNvSpPr>
          <p:nvPr/>
        </p:nvSpPr>
        <p:spPr bwMode="auto">
          <a:xfrm>
            <a:off x="4656138" y="30051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0" name="Text Box 20"/>
          <p:cNvSpPr txBox="1">
            <a:spLocks noChangeArrowheads="1"/>
          </p:cNvSpPr>
          <p:nvPr/>
        </p:nvSpPr>
        <p:spPr bwMode="auto">
          <a:xfrm>
            <a:off x="5099050" y="33528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1" name="Oval 21"/>
          <p:cNvSpPr>
            <a:spLocks noChangeArrowheads="1"/>
          </p:cNvSpPr>
          <p:nvPr/>
        </p:nvSpPr>
        <p:spPr bwMode="auto">
          <a:xfrm>
            <a:off x="5505450" y="31464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72" name="Rectangle 23"/>
          <p:cNvSpPr>
            <a:spLocks noChangeArrowheads="1"/>
          </p:cNvSpPr>
          <p:nvPr/>
        </p:nvSpPr>
        <p:spPr bwMode="auto">
          <a:xfrm>
            <a:off x="6305550" y="2774950"/>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73" name="Text Box 24"/>
          <p:cNvSpPr txBox="1">
            <a:spLocks noChangeArrowheads="1"/>
          </p:cNvSpPr>
          <p:nvPr/>
        </p:nvSpPr>
        <p:spPr bwMode="auto">
          <a:xfrm>
            <a:off x="6342063" y="27336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4" name="Text Box 25"/>
          <p:cNvSpPr txBox="1">
            <a:spLocks noChangeArrowheads="1"/>
          </p:cNvSpPr>
          <p:nvPr/>
        </p:nvSpPr>
        <p:spPr bwMode="auto">
          <a:xfrm>
            <a:off x="7199313" y="27336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5" name="Line 26"/>
          <p:cNvSpPr>
            <a:spLocks noChangeShapeType="1"/>
          </p:cNvSpPr>
          <p:nvPr/>
        </p:nvSpPr>
        <p:spPr bwMode="auto">
          <a:xfrm>
            <a:off x="7277100" y="2817813"/>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76" name="Text Box 27"/>
          <p:cNvSpPr txBox="1">
            <a:spLocks noChangeArrowheads="1"/>
          </p:cNvSpPr>
          <p:nvPr/>
        </p:nvSpPr>
        <p:spPr bwMode="auto">
          <a:xfrm>
            <a:off x="6356350" y="3219450"/>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7" name="Text Box 28"/>
          <p:cNvSpPr txBox="1">
            <a:spLocks noChangeArrowheads="1"/>
          </p:cNvSpPr>
          <p:nvPr/>
        </p:nvSpPr>
        <p:spPr bwMode="auto">
          <a:xfrm>
            <a:off x="6727825" y="3005138"/>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8" name="Text Box 29"/>
          <p:cNvSpPr txBox="1">
            <a:spLocks noChangeArrowheads="1"/>
          </p:cNvSpPr>
          <p:nvPr/>
        </p:nvSpPr>
        <p:spPr bwMode="auto">
          <a:xfrm>
            <a:off x="7170738" y="3352800"/>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9" name="Oval 30"/>
          <p:cNvSpPr>
            <a:spLocks noChangeArrowheads="1"/>
          </p:cNvSpPr>
          <p:nvPr/>
        </p:nvSpPr>
        <p:spPr bwMode="auto">
          <a:xfrm>
            <a:off x="7577138" y="3146425"/>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80" name="Line 32"/>
          <p:cNvSpPr>
            <a:spLocks noChangeShapeType="1"/>
          </p:cNvSpPr>
          <p:nvPr/>
        </p:nvSpPr>
        <p:spPr bwMode="auto">
          <a:xfrm>
            <a:off x="3433763" y="31892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81" name="Rectangle 34"/>
          <p:cNvSpPr>
            <a:spLocks noChangeArrowheads="1"/>
          </p:cNvSpPr>
          <p:nvPr/>
        </p:nvSpPr>
        <p:spPr bwMode="auto">
          <a:xfrm>
            <a:off x="1876425" y="4789488"/>
            <a:ext cx="1271588" cy="785812"/>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82" name="Text Box 35"/>
          <p:cNvSpPr txBox="1">
            <a:spLocks noChangeArrowheads="1"/>
          </p:cNvSpPr>
          <p:nvPr/>
        </p:nvSpPr>
        <p:spPr bwMode="auto">
          <a:xfrm>
            <a:off x="1912938" y="47482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3" name="Text Box 36"/>
          <p:cNvSpPr txBox="1">
            <a:spLocks noChangeArrowheads="1"/>
          </p:cNvSpPr>
          <p:nvPr/>
        </p:nvSpPr>
        <p:spPr bwMode="auto">
          <a:xfrm>
            <a:off x="2770188" y="47482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4" name="Line 37"/>
          <p:cNvSpPr>
            <a:spLocks noChangeShapeType="1"/>
          </p:cNvSpPr>
          <p:nvPr/>
        </p:nvSpPr>
        <p:spPr bwMode="auto">
          <a:xfrm>
            <a:off x="2847975" y="4832350"/>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85" name="Text Box 38"/>
          <p:cNvSpPr txBox="1">
            <a:spLocks noChangeArrowheads="1"/>
          </p:cNvSpPr>
          <p:nvPr/>
        </p:nvSpPr>
        <p:spPr bwMode="auto">
          <a:xfrm>
            <a:off x="1927225" y="5233988"/>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6" name="Text Box 39"/>
          <p:cNvSpPr txBox="1">
            <a:spLocks noChangeArrowheads="1"/>
          </p:cNvSpPr>
          <p:nvPr/>
        </p:nvSpPr>
        <p:spPr bwMode="auto">
          <a:xfrm>
            <a:off x="2298700" y="5019675"/>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7" name="Text Box 40"/>
          <p:cNvSpPr txBox="1">
            <a:spLocks noChangeArrowheads="1"/>
          </p:cNvSpPr>
          <p:nvPr/>
        </p:nvSpPr>
        <p:spPr bwMode="auto">
          <a:xfrm>
            <a:off x="2741613" y="5376863"/>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8" name="Oval 41"/>
          <p:cNvSpPr>
            <a:spLocks noChangeArrowheads="1"/>
          </p:cNvSpPr>
          <p:nvPr/>
        </p:nvSpPr>
        <p:spPr bwMode="auto">
          <a:xfrm>
            <a:off x="1790700" y="5160963"/>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89" name="AutoShape 42"/>
          <p:cNvSpPr>
            <a:spLocks noChangeArrowheads="1"/>
          </p:cNvSpPr>
          <p:nvPr/>
        </p:nvSpPr>
        <p:spPr bwMode="auto">
          <a:xfrm rot="-5400000">
            <a:off x="3443288" y="4222750"/>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4790" name="AutoShape 44"/>
          <p:cNvSpPr>
            <a:spLocks noChangeArrowheads="1"/>
          </p:cNvSpPr>
          <p:nvPr/>
        </p:nvSpPr>
        <p:spPr bwMode="auto">
          <a:xfrm rot="-5400000">
            <a:off x="2214563" y="4217988"/>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4791" name="AutoShape 45"/>
          <p:cNvSpPr>
            <a:spLocks noChangeArrowheads="1"/>
          </p:cNvSpPr>
          <p:nvPr/>
        </p:nvSpPr>
        <p:spPr bwMode="auto">
          <a:xfrm rot="-5400000">
            <a:off x="3757613" y="1808163"/>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49902" name="AutoShape 46"/>
          <p:cNvSpPr>
            <a:spLocks noChangeArrowheads="1"/>
          </p:cNvSpPr>
          <p:nvPr/>
        </p:nvSpPr>
        <p:spPr bwMode="auto">
          <a:xfrm rot="-5400000">
            <a:off x="4386263"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03" name="AutoShape 47"/>
          <p:cNvSpPr>
            <a:spLocks noChangeArrowheads="1"/>
          </p:cNvSpPr>
          <p:nvPr/>
        </p:nvSpPr>
        <p:spPr bwMode="auto">
          <a:xfrm rot="-5400000">
            <a:off x="5915025" y="1803400"/>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05" name="AutoShape 49"/>
          <p:cNvSpPr>
            <a:spLocks noChangeArrowheads="1"/>
          </p:cNvSpPr>
          <p:nvPr/>
        </p:nvSpPr>
        <p:spPr bwMode="auto">
          <a:xfrm rot="-5400000">
            <a:off x="7843838"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06" name="Oval 50"/>
          <p:cNvSpPr>
            <a:spLocks noChangeArrowheads="1"/>
          </p:cNvSpPr>
          <p:nvPr/>
        </p:nvSpPr>
        <p:spPr bwMode="auto">
          <a:xfrm>
            <a:off x="2324100" y="41370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49907" name="Oval 51"/>
          <p:cNvSpPr>
            <a:spLocks noChangeArrowheads="1"/>
          </p:cNvSpPr>
          <p:nvPr/>
        </p:nvSpPr>
        <p:spPr bwMode="auto">
          <a:xfrm>
            <a:off x="3552825" y="414178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49909" name="AutoShape 53"/>
          <p:cNvSpPr>
            <a:spLocks noChangeArrowheads="1"/>
          </p:cNvSpPr>
          <p:nvPr/>
        </p:nvSpPr>
        <p:spPr bwMode="auto">
          <a:xfrm rot="-5400000">
            <a:off x="2952750" y="18129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10" name="Oval 54"/>
          <p:cNvSpPr>
            <a:spLocks noChangeArrowheads="1"/>
          </p:cNvSpPr>
          <p:nvPr/>
        </p:nvSpPr>
        <p:spPr bwMode="auto">
          <a:xfrm>
            <a:off x="3062288" y="17319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49911" name="AutoShape 55"/>
          <p:cNvSpPr>
            <a:spLocks noChangeArrowheads="1"/>
          </p:cNvSpPr>
          <p:nvPr/>
        </p:nvSpPr>
        <p:spPr bwMode="auto">
          <a:xfrm rot="-5400000">
            <a:off x="7253288"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12" name="Oval 56"/>
          <p:cNvSpPr>
            <a:spLocks noChangeArrowheads="1"/>
          </p:cNvSpPr>
          <p:nvPr/>
        </p:nvSpPr>
        <p:spPr bwMode="auto">
          <a:xfrm>
            <a:off x="7362825" y="172720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4801" name="Line 57"/>
          <p:cNvSpPr>
            <a:spLocks noChangeShapeType="1"/>
          </p:cNvSpPr>
          <p:nvPr/>
        </p:nvSpPr>
        <p:spPr bwMode="auto">
          <a:xfrm>
            <a:off x="1604963" y="5203825"/>
            <a:ext cx="1857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2" name="Text Box 59"/>
          <p:cNvSpPr txBox="1">
            <a:spLocks noChangeArrowheads="1"/>
          </p:cNvSpPr>
          <p:nvPr/>
        </p:nvSpPr>
        <p:spPr bwMode="auto">
          <a:xfrm>
            <a:off x="1827213" y="4976813"/>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803" name="Line 60"/>
          <p:cNvSpPr>
            <a:spLocks noChangeShapeType="1"/>
          </p:cNvSpPr>
          <p:nvPr/>
        </p:nvSpPr>
        <p:spPr bwMode="auto">
          <a:xfrm>
            <a:off x="1162050" y="4608513"/>
            <a:ext cx="0" cy="11668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4" name="Line 61"/>
          <p:cNvSpPr>
            <a:spLocks noChangeShapeType="1"/>
          </p:cNvSpPr>
          <p:nvPr/>
        </p:nvSpPr>
        <p:spPr bwMode="auto">
          <a:xfrm>
            <a:off x="1152525" y="5765800"/>
            <a:ext cx="33861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5" name="Line 62"/>
          <p:cNvSpPr>
            <a:spLocks noChangeShapeType="1"/>
          </p:cNvSpPr>
          <p:nvPr/>
        </p:nvSpPr>
        <p:spPr bwMode="auto">
          <a:xfrm>
            <a:off x="2105025" y="5575300"/>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6" name="Line 63"/>
          <p:cNvSpPr>
            <a:spLocks noChangeShapeType="1"/>
          </p:cNvSpPr>
          <p:nvPr/>
        </p:nvSpPr>
        <p:spPr bwMode="auto">
          <a:xfrm>
            <a:off x="2105025" y="5946775"/>
            <a:ext cx="595788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7" name="Line 64"/>
          <p:cNvSpPr>
            <a:spLocks noChangeShapeType="1"/>
          </p:cNvSpPr>
          <p:nvPr/>
        </p:nvSpPr>
        <p:spPr bwMode="auto">
          <a:xfrm>
            <a:off x="2938463" y="55753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22" name="Oval 66"/>
          <p:cNvSpPr>
            <a:spLocks noChangeArrowheads="1"/>
          </p:cNvSpPr>
          <p:nvPr/>
        </p:nvSpPr>
        <p:spPr bwMode="auto">
          <a:xfrm>
            <a:off x="2905125" y="57277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09" name="Line 67"/>
          <p:cNvSpPr>
            <a:spLocks noChangeShapeType="1"/>
          </p:cNvSpPr>
          <p:nvPr/>
        </p:nvSpPr>
        <p:spPr bwMode="auto">
          <a:xfrm>
            <a:off x="1157288" y="4613275"/>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0" name="Line 68"/>
          <p:cNvSpPr>
            <a:spLocks noChangeShapeType="1"/>
          </p:cNvSpPr>
          <p:nvPr/>
        </p:nvSpPr>
        <p:spPr bwMode="auto">
          <a:xfrm flipV="1">
            <a:off x="2271713" y="44989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1" name="Line 69"/>
          <p:cNvSpPr>
            <a:spLocks noChangeShapeType="1"/>
          </p:cNvSpPr>
          <p:nvPr/>
        </p:nvSpPr>
        <p:spPr bwMode="auto">
          <a:xfrm flipV="1">
            <a:off x="2100263" y="467042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2" name="Line 70"/>
          <p:cNvSpPr>
            <a:spLocks noChangeShapeType="1"/>
          </p:cNvSpPr>
          <p:nvPr/>
        </p:nvSpPr>
        <p:spPr bwMode="auto">
          <a:xfrm>
            <a:off x="2100263" y="4679950"/>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3" name="Line 71"/>
          <p:cNvSpPr>
            <a:spLocks noChangeShapeType="1"/>
          </p:cNvSpPr>
          <p:nvPr/>
        </p:nvSpPr>
        <p:spPr bwMode="auto">
          <a:xfrm>
            <a:off x="2424113" y="449897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4" name="Line 72"/>
          <p:cNvSpPr>
            <a:spLocks noChangeShapeType="1"/>
          </p:cNvSpPr>
          <p:nvPr/>
        </p:nvSpPr>
        <p:spPr bwMode="auto">
          <a:xfrm>
            <a:off x="2414588" y="4613275"/>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5" name="Line 73"/>
          <p:cNvSpPr>
            <a:spLocks noChangeShapeType="1"/>
          </p:cNvSpPr>
          <p:nvPr/>
        </p:nvSpPr>
        <p:spPr bwMode="auto">
          <a:xfrm flipV="1">
            <a:off x="2967038" y="460375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6" name="Line 74"/>
          <p:cNvSpPr>
            <a:spLocks noChangeShapeType="1"/>
          </p:cNvSpPr>
          <p:nvPr/>
        </p:nvSpPr>
        <p:spPr bwMode="auto">
          <a:xfrm flipV="1">
            <a:off x="3500438" y="450850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7" name="Line 75"/>
          <p:cNvSpPr>
            <a:spLocks noChangeShapeType="1"/>
          </p:cNvSpPr>
          <p:nvPr/>
        </p:nvSpPr>
        <p:spPr bwMode="auto">
          <a:xfrm>
            <a:off x="3671888" y="4508500"/>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8" name="Line 76"/>
          <p:cNvSpPr>
            <a:spLocks noChangeShapeType="1"/>
          </p:cNvSpPr>
          <p:nvPr/>
        </p:nvSpPr>
        <p:spPr bwMode="auto">
          <a:xfrm>
            <a:off x="3667125" y="4679950"/>
            <a:ext cx="17478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9" name="AutoShape 77"/>
          <p:cNvSpPr>
            <a:spLocks noChangeArrowheads="1"/>
          </p:cNvSpPr>
          <p:nvPr/>
        </p:nvSpPr>
        <p:spPr bwMode="auto">
          <a:xfrm rot="-5400000" flipH="1" flipV="1">
            <a:off x="4905375" y="5132388"/>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49934" name="Oval 78"/>
          <p:cNvSpPr>
            <a:spLocks noChangeArrowheads="1"/>
          </p:cNvSpPr>
          <p:nvPr/>
        </p:nvSpPr>
        <p:spPr bwMode="auto">
          <a:xfrm>
            <a:off x="4867275" y="522287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4821" name="Line 79"/>
          <p:cNvSpPr>
            <a:spLocks noChangeShapeType="1"/>
          </p:cNvSpPr>
          <p:nvPr/>
        </p:nvSpPr>
        <p:spPr bwMode="auto">
          <a:xfrm flipH="1">
            <a:off x="4529138" y="5260975"/>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2" name="Line 80"/>
          <p:cNvSpPr>
            <a:spLocks noChangeShapeType="1"/>
          </p:cNvSpPr>
          <p:nvPr/>
        </p:nvSpPr>
        <p:spPr bwMode="auto">
          <a:xfrm>
            <a:off x="4538663" y="5260975"/>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3" name="Rectangle 81"/>
          <p:cNvSpPr>
            <a:spLocks noChangeArrowheads="1"/>
          </p:cNvSpPr>
          <p:nvPr/>
        </p:nvSpPr>
        <p:spPr bwMode="auto">
          <a:xfrm>
            <a:off x="5681663" y="4946650"/>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ea typeface="宋体" panose="02010600030101010101" pitchFamily="2" charset="-122"/>
              </a:rPr>
              <a:t>时钟源</a:t>
            </a:r>
            <a:endParaRPr kumimoji="0" lang="zh-CN" altLang="en-US" sz="2400">
              <a:solidFill>
                <a:schemeClr val="bg1"/>
              </a:solidFill>
              <a:latin typeface="Tahoma" panose="020B0604030504040204" pitchFamily="34" charset="0"/>
              <a:ea typeface="宋体" panose="02010600030101010101" pitchFamily="2" charset="-122"/>
            </a:endParaRPr>
          </a:p>
        </p:txBody>
      </p:sp>
      <p:sp>
        <p:nvSpPr>
          <p:cNvPr id="74824" name="Line 82"/>
          <p:cNvSpPr>
            <a:spLocks noChangeShapeType="1"/>
          </p:cNvSpPr>
          <p:nvPr/>
        </p:nvSpPr>
        <p:spPr bwMode="auto">
          <a:xfrm>
            <a:off x="5186363" y="5260975"/>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5" name="Line 83"/>
          <p:cNvSpPr>
            <a:spLocks noChangeShapeType="1"/>
          </p:cNvSpPr>
          <p:nvPr/>
        </p:nvSpPr>
        <p:spPr bwMode="auto">
          <a:xfrm>
            <a:off x="5405438" y="4670425"/>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40" name="Oval 84"/>
          <p:cNvSpPr>
            <a:spLocks noChangeArrowheads="1"/>
          </p:cNvSpPr>
          <p:nvPr/>
        </p:nvSpPr>
        <p:spPr bwMode="auto">
          <a:xfrm>
            <a:off x="5362575" y="52228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27" name="Line 85"/>
          <p:cNvSpPr>
            <a:spLocks noChangeShapeType="1"/>
          </p:cNvSpPr>
          <p:nvPr/>
        </p:nvSpPr>
        <p:spPr bwMode="auto">
          <a:xfrm flipV="1">
            <a:off x="2366963" y="402272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8" name="Line 86"/>
          <p:cNvSpPr>
            <a:spLocks noChangeShapeType="1"/>
          </p:cNvSpPr>
          <p:nvPr/>
        </p:nvSpPr>
        <p:spPr bwMode="auto">
          <a:xfrm>
            <a:off x="2357438" y="4022725"/>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9" name="Line 87"/>
          <p:cNvSpPr>
            <a:spLocks noChangeShapeType="1"/>
          </p:cNvSpPr>
          <p:nvPr/>
        </p:nvSpPr>
        <p:spPr bwMode="auto">
          <a:xfrm flipV="1">
            <a:off x="3128963" y="356552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0" name="Line 88"/>
          <p:cNvSpPr>
            <a:spLocks noChangeShapeType="1"/>
          </p:cNvSpPr>
          <p:nvPr/>
        </p:nvSpPr>
        <p:spPr bwMode="auto">
          <a:xfrm flipV="1">
            <a:off x="3595688" y="3175000"/>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1" name="Line 90"/>
          <p:cNvSpPr>
            <a:spLocks noChangeShapeType="1"/>
          </p:cNvSpPr>
          <p:nvPr/>
        </p:nvSpPr>
        <p:spPr bwMode="auto">
          <a:xfrm flipV="1">
            <a:off x="2290763" y="25654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2" name="Line 91"/>
          <p:cNvSpPr>
            <a:spLocks noChangeShapeType="1"/>
          </p:cNvSpPr>
          <p:nvPr/>
        </p:nvSpPr>
        <p:spPr bwMode="auto">
          <a:xfrm>
            <a:off x="2281238"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3" name="Line 92"/>
          <p:cNvSpPr>
            <a:spLocks noChangeShapeType="1"/>
          </p:cNvSpPr>
          <p:nvPr/>
        </p:nvSpPr>
        <p:spPr bwMode="auto">
          <a:xfrm flipV="1">
            <a:off x="3824288" y="20891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4" name="Line 93"/>
          <p:cNvSpPr>
            <a:spLocks noChangeShapeType="1"/>
          </p:cNvSpPr>
          <p:nvPr/>
        </p:nvSpPr>
        <p:spPr bwMode="auto">
          <a:xfrm>
            <a:off x="3814763" y="3660775"/>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5" name="Line 94"/>
          <p:cNvSpPr>
            <a:spLocks noChangeShapeType="1"/>
          </p:cNvSpPr>
          <p:nvPr/>
        </p:nvSpPr>
        <p:spPr bwMode="auto">
          <a:xfrm flipV="1">
            <a:off x="4471988" y="35560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6" name="Line 95"/>
          <p:cNvSpPr>
            <a:spLocks noChangeShapeType="1"/>
          </p:cNvSpPr>
          <p:nvPr/>
        </p:nvSpPr>
        <p:spPr bwMode="auto">
          <a:xfrm>
            <a:off x="3586163" y="3822700"/>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52" name="Oval 96"/>
          <p:cNvSpPr>
            <a:spLocks noChangeArrowheads="1"/>
          </p:cNvSpPr>
          <p:nvPr/>
        </p:nvSpPr>
        <p:spPr bwMode="auto">
          <a:xfrm>
            <a:off x="3562350" y="37846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38" name="Line 97"/>
          <p:cNvSpPr>
            <a:spLocks noChangeShapeType="1"/>
          </p:cNvSpPr>
          <p:nvPr/>
        </p:nvSpPr>
        <p:spPr bwMode="auto">
          <a:xfrm flipV="1">
            <a:off x="7367588" y="35560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9" name="Line 98"/>
          <p:cNvSpPr>
            <a:spLocks noChangeShapeType="1"/>
          </p:cNvSpPr>
          <p:nvPr/>
        </p:nvSpPr>
        <p:spPr bwMode="auto">
          <a:xfrm flipV="1">
            <a:off x="5300663" y="35560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55" name="Oval 99"/>
          <p:cNvSpPr>
            <a:spLocks noChangeArrowheads="1"/>
          </p:cNvSpPr>
          <p:nvPr/>
        </p:nvSpPr>
        <p:spPr bwMode="auto">
          <a:xfrm>
            <a:off x="3086100" y="39751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56" name="Oval 100"/>
          <p:cNvSpPr>
            <a:spLocks noChangeArrowheads="1"/>
          </p:cNvSpPr>
          <p:nvPr/>
        </p:nvSpPr>
        <p:spPr bwMode="auto">
          <a:xfrm>
            <a:off x="5267325" y="39846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42" name="Line 101"/>
          <p:cNvSpPr>
            <a:spLocks noChangeShapeType="1"/>
          </p:cNvSpPr>
          <p:nvPr/>
        </p:nvSpPr>
        <p:spPr bwMode="auto">
          <a:xfrm>
            <a:off x="5614988" y="319881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3" name="Line 102"/>
          <p:cNvSpPr>
            <a:spLocks noChangeShapeType="1"/>
          </p:cNvSpPr>
          <p:nvPr/>
        </p:nvSpPr>
        <p:spPr bwMode="auto">
          <a:xfrm flipV="1">
            <a:off x="5776913" y="3184525"/>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59" name="Oval 103"/>
          <p:cNvSpPr>
            <a:spLocks noChangeArrowheads="1"/>
          </p:cNvSpPr>
          <p:nvPr/>
        </p:nvSpPr>
        <p:spPr bwMode="auto">
          <a:xfrm>
            <a:off x="5743575" y="37941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45" name="Line 104"/>
          <p:cNvSpPr>
            <a:spLocks noChangeShapeType="1"/>
          </p:cNvSpPr>
          <p:nvPr/>
        </p:nvSpPr>
        <p:spPr bwMode="auto">
          <a:xfrm>
            <a:off x="7672388" y="31892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6" name="Line 105"/>
          <p:cNvSpPr>
            <a:spLocks noChangeShapeType="1"/>
          </p:cNvSpPr>
          <p:nvPr/>
        </p:nvSpPr>
        <p:spPr bwMode="auto">
          <a:xfrm flipV="1">
            <a:off x="7834313" y="3175000"/>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7" name="Line 107"/>
          <p:cNvSpPr>
            <a:spLocks noChangeShapeType="1"/>
          </p:cNvSpPr>
          <p:nvPr/>
        </p:nvSpPr>
        <p:spPr bwMode="auto">
          <a:xfrm flipV="1">
            <a:off x="4452938" y="2089150"/>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8" name="Line 108"/>
          <p:cNvSpPr>
            <a:spLocks noChangeShapeType="1"/>
          </p:cNvSpPr>
          <p:nvPr/>
        </p:nvSpPr>
        <p:spPr bwMode="auto">
          <a:xfrm>
            <a:off x="4443413"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9" name="Line 109"/>
          <p:cNvSpPr>
            <a:spLocks noChangeShapeType="1"/>
          </p:cNvSpPr>
          <p:nvPr/>
        </p:nvSpPr>
        <p:spPr bwMode="auto">
          <a:xfrm flipV="1">
            <a:off x="5986463" y="20891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0" name="Line 110"/>
          <p:cNvSpPr>
            <a:spLocks noChangeShapeType="1"/>
          </p:cNvSpPr>
          <p:nvPr/>
        </p:nvSpPr>
        <p:spPr bwMode="auto">
          <a:xfrm>
            <a:off x="5976938" y="3660775"/>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1" name="Line 111"/>
          <p:cNvSpPr>
            <a:spLocks noChangeShapeType="1"/>
          </p:cNvSpPr>
          <p:nvPr/>
        </p:nvSpPr>
        <p:spPr bwMode="auto">
          <a:xfrm flipV="1">
            <a:off x="6548438" y="35560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2" name="Line 112"/>
          <p:cNvSpPr>
            <a:spLocks noChangeShapeType="1"/>
          </p:cNvSpPr>
          <p:nvPr/>
        </p:nvSpPr>
        <p:spPr bwMode="auto">
          <a:xfrm flipV="1">
            <a:off x="8053388" y="2089150"/>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3" name="Line 113"/>
          <p:cNvSpPr>
            <a:spLocks noChangeShapeType="1"/>
          </p:cNvSpPr>
          <p:nvPr/>
        </p:nvSpPr>
        <p:spPr bwMode="auto">
          <a:xfrm>
            <a:off x="6491288"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4" name="Line 114"/>
          <p:cNvSpPr>
            <a:spLocks noChangeShapeType="1"/>
          </p:cNvSpPr>
          <p:nvPr/>
        </p:nvSpPr>
        <p:spPr bwMode="auto">
          <a:xfrm flipV="1">
            <a:off x="6491288" y="25654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5" name="Line 115"/>
          <p:cNvSpPr>
            <a:spLocks noChangeShapeType="1"/>
          </p:cNvSpPr>
          <p:nvPr/>
        </p:nvSpPr>
        <p:spPr bwMode="auto">
          <a:xfrm>
            <a:off x="2300288" y="3565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72" name="Oval 116"/>
          <p:cNvSpPr>
            <a:spLocks noChangeArrowheads="1"/>
          </p:cNvSpPr>
          <p:nvPr/>
        </p:nvSpPr>
        <p:spPr bwMode="auto">
          <a:xfrm>
            <a:off x="2257425" y="38036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4857" name="Text Box 117"/>
          <p:cNvSpPr txBox="1">
            <a:spLocks noChangeArrowheads="1"/>
          </p:cNvSpPr>
          <p:nvPr/>
        </p:nvSpPr>
        <p:spPr bwMode="auto">
          <a:xfrm>
            <a:off x="1555750" y="3581400"/>
            <a:ext cx="77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4858" name="Line 118"/>
          <p:cNvSpPr>
            <a:spLocks noChangeShapeType="1"/>
          </p:cNvSpPr>
          <p:nvPr/>
        </p:nvSpPr>
        <p:spPr bwMode="auto">
          <a:xfrm flipV="1">
            <a:off x="3100388" y="2089150"/>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76" name="Oval 120"/>
          <p:cNvSpPr>
            <a:spLocks noChangeArrowheads="1"/>
          </p:cNvSpPr>
          <p:nvPr/>
        </p:nvSpPr>
        <p:spPr bwMode="auto">
          <a:xfrm>
            <a:off x="3781425"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60" name="Line 121"/>
          <p:cNvSpPr>
            <a:spLocks noChangeShapeType="1"/>
          </p:cNvSpPr>
          <p:nvPr/>
        </p:nvSpPr>
        <p:spPr bwMode="auto">
          <a:xfrm flipV="1">
            <a:off x="5319713" y="2403475"/>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1" name="Line 122"/>
          <p:cNvSpPr>
            <a:spLocks noChangeShapeType="1"/>
          </p:cNvSpPr>
          <p:nvPr/>
        </p:nvSpPr>
        <p:spPr bwMode="auto">
          <a:xfrm flipH="1">
            <a:off x="3976688" y="2403475"/>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2" name="Line 123"/>
          <p:cNvSpPr>
            <a:spLocks noChangeShapeType="1"/>
          </p:cNvSpPr>
          <p:nvPr/>
        </p:nvSpPr>
        <p:spPr bwMode="auto">
          <a:xfrm flipV="1">
            <a:off x="3976688" y="20891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82" name="Oval 126"/>
          <p:cNvSpPr>
            <a:spLocks noChangeArrowheads="1"/>
          </p:cNvSpPr>
          <p:nvPr/>
        </p:nvSpPr>
        <p:spPr bwMode="auto">
          <a:xfrm>
            <a:off x="4419600"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64" name="Line 127"/>
          <p:cNvSpPr>
            <a:spLocks noChangeShapeType="1"/>
          </p:cNvSpPr>
          <p:nvPr/>
        </p:nvSpPr>
        <p:spPr bwMode="auto">
          <a:xfrm flipV="1">
            <a:off x="4595813" y="20891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5" name="Text Box 128"/>
          <p:cNvSpPr txBox="1">
            <a:spLocks noChangeArrowheads="1"/>
          </p:cNvSpPr>
          <p:nvPr/>
        </p:nvSpPr>
        <p:spPr bwMode="auto">
          <a:xfrm>
            <a:off x="4527550" y="2066925"/>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49985" name="Oval 129"/>
          <p:cNvSpPr>
            <a:spLocks noChangeArrowheads="1"/>
          </p:cNvSpPr>
          <p:nvPr/>
        </p:nvSpPr>
        <p:spPr bwMode="auto">
          <a:xfrm>
            <a:off x="3067050" y="25273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67" name="Line 130"/>
          <p:cNvSpPr>
            <a:spLocks noChangeShapeType="1"/>
          </p:cNvSpPr>
          <p:nvPr/>
        </p:nvSpPr>
        <p:spPr bwMode="auto">
          <a:xfrm flipV="1">
            <a:off x="7396163" y="2098675"/>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8" name="Line 131"/>
          <p:cNvSpPr>
            <a:spLocks noChangeShapeType="1"/>
          </p:cNvSpPr>
          <p:nvPr/>
        </p:nvSpPr>
        <p:spPr bwMode="auto">
          <a:xfrm flipH="1">
            <a:off x="6119813" y="2403475"/>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9" name="Line 132"/>
          <p:cNvSpPr>
            <a:spLocks noChangeShapeType="1"/>
          </p:cNvSpPr>
          <p:nvPr/>
        </p:nvSpPr>
        <p:spPr bwMode="auto">
          <a:xfrm flipV="1">
            <a:off x="6119813" y="20891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0" name="Line 133"/>
          <p:cNvSpPr>
            <a:spLocks noChangeShapeType="1"/>
          </p:cNvSpPr>
          <p:nvPr/>
        </p:nvSpPr>
        <p:spPr bwMode="auto">
          <a:xfrm flipV="1">
            <a:off x="7920038" y="20891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1" name="Text Box 134"/>
          <p:cNvSpPr txBox="1">
            <a:spLocks noChangeArrowheads="1"/>
          </p:cNvSpPr>
          <p:nvPr/>
        </p:nvSpPr>
        <p:spPr bwMode="auto">
          <a:xfrm>
            <a:off x="7432675" y="2162175"/>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49991" name="Oval 135"/>
          <p:cNvSpPr>
            <a:spLocks noChangeArrowheads="1"/>
          </p:cNvSpPr>
          <p:nvPr/>
        </p:nvSpPr>
        <p:spPr bwMode="auto">
          <a:xfrm>
            <a:off x="7362825" y="23653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92" name="Oval 136"/>
          <p:cNvSpPr>
            <a:spLocks noChangeArrowheads="1"/>
          </p:cNvSpPr>
          <p:nvPr/>
        </p:nvSpPr>
        <p:spPr bwMode="auto">
          <a:xfrm>
            <a:off x="5943600"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74" name="Line 137"/>
          <p:cNvSpPr>
            <a:spLocks noChangeShapeType="1"/>
          </p:cNvSpPr>
          <p:nvPr/>
        </p:nvSpPr>
        <p:spPr bwMode="auto">
          <a:xfrm flipV="1">
            <a:off x="3100388" y="15176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5" name="Line 138"/>
          <p:cNvSpPr>
            <a:spLocks noChangeShapeType="1"/>
          </p:cNvSpPr>
          <p:nvPr/>
        </p:nvSpPr>
        <p:spPr bwMode="auto">
          <a:xfrm flipV="1">
            <a:off x="3900488"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6" name="Line 139"/>
          <p:cNvSpPr>
            <a:spLocks noChangeShapeType="1"/>
          </p:cNvSpPr>
          <p:nvPr/>
        </p:nvSpPr>
        <p:spPr bwMode="auto">
          <a:xfrm flipV="1">
            <a:off x="4529138"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7" name="Line 140"/>
          <p:cNvSpPr>
            <a:spLocks noChangeShapeType="1"/>
          </p:cNvSpPr>
          <p:nvPr/>
        </p:nvSpPr>
        <p:spPr bwMode="auto">
          <a:xfrm flipV="1">
            <a:off x="6048375"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8" name="Line 141"/>
          <p:cNvSpPr>
            <a:spLocks noChangeShapeType="1"/>
          </p:cNvSpPr>
          <p:nvPr/>
        </p:nvSpPr>
        <p:spPr bwMode="auto">
          <a:xfrm flipV="1">
            <a:off x="7986713"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9" name="Line 142"/>
          <p:cNvSpPr>
            <a:spLocks noChangeShapeType="1"/>
          </p:cNvSpPr>
          <p:nvPr/>
        </p:nvSpPr>
        <p:spPr bwMode="auto">
          <a:xfrm flipV="1">
            <a:off x="7405688" y="15176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80" name="Text Box 145"/>
          <p:cNvSpPr txBox="1">
            <a:spLocks noChangeArrowheads="1"/>
          </p:cNvSpPr>
          <p:nvPr/>
        </p:nvSpPr>
        <p:spPr bwMode="auto">
          <a:xfrm>
            <a:off x="4484688" y="1306513"/>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4881" name="Oval 146"/>
          <p:cNvSpPr>
            <a:spLocks noChangeArrowheads="1"/>
          </p:cNvSpPr>
          <p:nvPr/>
        </p:nvSpPr>
        <p:spPr bwMode="auto">
          <a:xfrm>
            <a:off x="4976813" y="13541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82" name="Text Box 147"/>
          <p:cNvSpPr txBox="1">
            <a:spLocks noChangeArrowheads="1"/>
          </p:cNvSpPr>
          <p:nvPr/>
        </p:nvSpPr>
        <p:spPr bwMode="auto">
          <a:xfrm>
            <a:off x="7372350" y="1314450"/>
            <a:ext cx="68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4883" name="Oval 148"/>
          <p:cNvSpPr>
            <a:spLocks noChangeArrowheads="1"/>
          </p:cNvSpPr>
          <p:nvPr/>
        </p:nvSpPr>
        <p:spPr bwMode="auto">
          <a:xfrm>
            <a:off x="7950200" y="1362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84" name="Text Box 149"/>
          <p:cNvSpPr txBox="1">
            <a:spLocks noChangeArrowheads="1"/>
          </p:cNvSpPr>
          <p:nvPr/>
        </p:nvSpPr>
        <p:spPr bwMode="auto">
          <a:xfrm>
            <a:off x="3814763" y="13144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4885" name="Oval 150"/>
          <p:cNvSpPr>
            <a:spLocks noChangeArrowheads="1"/>
          </p:cNvSpPr>
          <p:nvPr/>
        </p:nvSpPr>
        <p:spPr bwMode="auto">
          <a:xfrm>
            <a:off x="4135438" y="1362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86" name="Text Box 151"/>
          <p:cNvSpPr txBox="1">
            <a:spLocks noChangeArrowheads="1"/>
          </p:cNvSpPr>
          <p:nvPr/>
        </p:nvSpPr>
        <p:spPr bwMode="auto">
          <a:xfrm>
            <a:off x="5986463" y="13430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4887" name="Oval 152"/>
          <p:cNvSpPr>
            <a:spLocks noChangeArrowheads="1"/>
          </p:cNvSpPr>
          <p:nvPr/>
        </p:nvSpPr>
        <p:spPr bwMode="auto">
          <a:xfrm>
            <a:off x="6307138" y="13906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88" name="Text Box 153"/>
          <p:cNvSpPr txBox="1">
            <a:spLocks noChangeArrowheads="1"/>
          </p:cNvSpPr>
          <p:nvPr/>
        </p:nvSpPr>
        <p:spPr bwMode="auto">
          <a:xfrm>
            <a:off x="6943725" y="13001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4889" name="Oval 154"/>
          <p:cNvSpPr>
            <a:spLocks noChangeArrowheads="1"/>
          </p:cNvSpPr>
          <p:nvPr/>
        </p:nvSpPr>
        <p:spPr bwMode="auto">
          <a:xfrm>
            <a:off x="7264400" y="13477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90" name="Text Box 155"/>
          <p:cNvSpPr txBox="1">
            <a:spLocks noChangeArrowheads="1"/>
          </p:cNvSpPr>
          <p:nvPr/>
        </p:nvSpPr>
        <p:spPr bwMode="auto">
          <a:xfrm>
            <a:off x="2657475" y="13001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4891" name="Oval 156"/>
          <p:cNvSpPr>
            <a:spLocks noChangeArrowheads="1"/>
          </p:cNvSpPr>
          <p:nvPr/>
        </p:nvSpPr>
        <p:spPr bwMode="auto">
          <a:xfrm>
            <a:off x="2978150" y="13477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92" name="Text Box 157"/>
          <p:cNvSpPr txBox="1">
            <a:spLocks noChangeArrowheads="1"/>
          </p:cNvSpPr>
          <p:nvPr/>
        </p:nvSpPr>
        <p:spPr bwMode="auto">
          <a:xfrm>
            <a:off x="4413250" y="4391025"/>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4893" name="Text Box 158"/>
          <p:cNvSpPr txBox="1">
            <a:spLocks noChangeArrowheads="1"/>
          </p:cNvSpPr>
          <p:nvPr/>
        </p:nvSpPr>
        <p:spPr bwMode="auto">
          <a:xfrm>
            <a:off x="4513263" y="5076825"/>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4894" name="Line 159"/>
          <p:cNvSpPr>
            <a:spLocks noChangeShapeType="1"/>
          </p:cNvSpPr>
          <p:nvPr/>
        </p:nvSpPr>
        <p:spPr bwMode="auto">
          <a:xfrm>
            <a:off x="4605338" y="5360988"/>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74895" name="Group 169"/>
          <p:cNvGrpSpPr/>
          <p:nvPr/>
        </p:nvGrpSpPr>
        <p:grpSpPr bwMode="auto">
          <a:xfrm>
            <a:off x="4676775" y="4346575"/>
            <a:ext cx="800100" cy="271463"/>
            <a:chOff x="3258" y="2997"/>
            <a:chExt cx="504" cy="171"/>
          </a:xfrm>
        </p:grpSpPr>
        <p:sp>
          <p:nvSpPr>
            <p:cNvPr id="74925" name="Line 160"/>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6" name="Line 161"/>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7" name="Line 162"/>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8" name="Line 163"/>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9" name="Line 164"/>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30" name="Line 165"/>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31" name="Line 166"/>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32" name="Line 167"/>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33" name="Line 168"/>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4896" name="Group 170"/>
          <p:cNvGrpSpPr/>
          <p:nvPr/>
        </p:nvGrpSpPr>
        <p:grpSpPr bwMode="auto">
          <a:xfrm flipV="1">
            <a:off x="3619500" y="5432425"/>
            <a:ext cx="800100" cy="271463"/>
            <a:chOff x="3258" y="2997"/>
            <a:chExt cx="504" cy="171"/>
          </a:xfrm>
        </p:grpSpPr>
        <p:sp>
          <p:nvSpPr>
            <p:cNvPr id="74916" name="Line 171"/>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17" name="Line 172"/>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18" name="Line 173"/>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19" name="Line 174"/>
            <p:cNvSpPr>
              <a:spLocks noChangeShapeType="1"/>
            </p:cNvSpPr>
            <p:nvPr/>
          </p:nvSpPr>
          <p:spPr bwMode="auto">
            <a:xfrm>
              <a:off x="3447" y="2997"/>
              <a:ext cx="0" cy="171"/>
            </a:xfrm>
            <a:prstGeom prst="line">
              <a:avLst/>
            </a:prstGeom>
            <a:noFill/>
            <a:ln w="19050">
              <a:solidFill>
                <a:srgbClr val="FF0000"/>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0" name="Line 175"/>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1" name="Line 176"/>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2" name="Line 177"/>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3" name="Line 178"/>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4" name="Line 179"/>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250036" name="Text Box 180"/>
          <p:cNvSpPr txBox="1">
            <a:spLocks noChangeArrowheads="1"/>
          </p:cNvSpPr>
          <p:nvPr/>
        </p:nvSpPr>
        <p:spPr bwMode="auto">
          <a:xfrm>
            <a:off x="1998663"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37" name="Text Box 181"/>
          <p:cNvSpPr txBox="1">
            <a:spLocks noChangeArrowheads="1"/>
          </p:cNvSpPr>
          <p:nvPr/>
        </p:nvSpPr>
        <p:spPr bwMode="auto">
          <a:xfrm>
            <a:off x="61991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38" name="Text Box 182"/>
          <p:cNvSpPr txBox="1">
            <a:spLocks noChangeArrowheads="1"/>
          </p:cNvSpPr>
          <p:nvPr/>
        </p:nvSpPr>
        <p:spPr bwMode="auto">
          <a:xfrm>
            <a:off x="1997075" y="243522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0" name="Text Box 184"/>
          <p:cNvSpPr txBox="1">
            <a:spLocks noChangeArrowheads="1"/>
          </p:cNvSpPr>
          <p:nvPr/>
        </p:nvSpPr>
        <p:spPr bwMode="auto">
          <a:xfrm>
            <a:off x="6164263" y="243522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4" name="Text Box 188"/>
          <p:cNvSpPr txBox="1">
            <a:spLocks noChangeArrowheads="1"/>
          </p:cNvSpPr>
          <p:nvPr/>
        </p:nvSpPr>
        <p:spPr bwMode="auto">
          <a:xfrm>
            <a:off x="1841500" y="56911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5" name="Text Box 189"/>
          <p:cNvSpPr txBox="1">
            <a:spLocks noChangeArrowheads="1"/>
          </p:cNvSpPr>
          <p:nvPr/>
        </p:nvSpPr>
        <p:spPr bwMode="auto">
          <a:xfrm>
            <a:off x="41417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46" name="Text Box 190"/>
          <p:cNvSpPr txBox="1">
            <a:spLocks noChangeArrowheads="1"/>
          </p:cNvSpPr>
          <p:nvPr/>
        </p:nvSpPr>
        <p:spPr bwMode="auto">
          <a:xfrm>
            <a:off x="4143375" y="24368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47" name="Text Box 191"/>
          <p:cNvSpPr txBox="1">
            <a:spLocks noChangeArrowheads="1"/>
          </p:cNvSpPr>
          <p:nvPr/>
        </p:nvSpPr>
        <p:spPr bwMode="auto">
          <a:xfrm>
            <a:off x="4133850" y="24526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8" name="Text Box 192"/>
          <p:cNvSpPr txBox="1">
            <a:spLocks noChangeArrowheads="1"/>
          </p:cNvSpPr>
          <p:nvPr/>
        </p:nvSpPr>
        <p:spPr bwMode="auto">
          <a:xfrm>
            <a:off x="61991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9" name="Text Box 193"/>
          <p:cNvSpPr txBox="1">
            <a:spLocks noChangeArrowheads="1"/>
          </p:cNvSpPr>
          <p:nvPr/>
        </p:nvSpPr>
        <p:spPr bwMode="auto">
          <a:xfrm>
            <a:off x="1995488" y="240982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50" name="Text Box 194"/>
          <p:cNvSpPr txBox="1">
            <a:spLocks noChangeArrowheads="1"/>
          </p:cNvSpPr>
          <p:nvPr/>
        </p:nvSpPr>
        <p:spPr bwMode="auto">
          <a:xfrm>
            <a:off x="41417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52" name="Text Box 196"/>
          <p:cNvSpPr txBox="1">
            <a:spLocks noChangeArrowheads="1"/>
          </p:cNvSpPr>
          <p:nvPr/>
        </p:nvSpPr>
        <p:spPr bwMode="auto">
          <a:xfrm>
            <a:off x="6164263" y="24415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4909" name="Text Box 199"/>
          <p:cNvSpPr txBox="1">
            <a:spLocks noChangeArrowheads="1"/>
          </p:cNvSpPr>
          <p:nvPr/>
        </p:nvSpPr>
        <p:spPr bwMode="auto">
          <a:xfrm>
            <a:off x="3198813" y="43338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4910" name="Text Box 205"/>
          <p:cNvSpPr txBox="1">
            <a:spLocks noChangeArrowheads="1"/>
          </p:cNvSpPr>
          <p:nvPr/>
        </p:nvSpPr>
        <p:spPr bwMode="auto">
          <a:xfrm>
            <a:off x="3284538" y="28194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4911" name="Text Box 206"/>
          <p:cNvSpPr txBox="1">
            <a:spLocks noChangeArrowheads="1"/>
          </p:cNvSpPr>
          <p:nvPr/>
        </p:nvSpPr>
        <p:spPr bwMode="auto">
          <a:xfrm>
            <a:off x="5456238" y="28051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4912" name="Text Box 207"/>
          <p:cNvSpPr txBox="1">
            <a:spLocks noChangeArrowheads="1"/>
          </p:cNvSpPr>
          <p:nvPr/>
        </p:nvSpPr>
        <p:spPr bwMode="auto">
          <a:xfrm>
            <a:off x="7527925" y="28194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64" name="Text Box 208"/>
          <p:cNvSpPr txBox="1">
            <a:spLocks noChangeArrowheads="1"/>
          </p:cNvSpPr>
          <p:nvPr/>
        </p:nvSpPr>
        <p:spPr bwMode="auto">
          <a:xfrm>
            <a:off x="1843088" y="56911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65" name="Text Box 209"/>
          <p:cNvSpPr txBox="1">
            <a:spLocks noChangeArrowheads="1"/>
          </p:cNvSpPr>
          <p:nvPr/>
        </p:nvSpPr>
        <p:spPr bwMode="auto">
          <a:xfrm>
            <a:off x="1817688" y="570865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66" name="Text Box 210"/>
          <p:cNvSpPr txBox="1">
            <a:spLocks noChangeArrowheads="1"/>
          </p:cNvSpPr>
          <p:nvPr/>
        </p:nvSpPr>
        <p:spPr bwMode="auto">
          <a:xfrm>
            <a:off x="1843088" y="569912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0038"/>
                                        </p:tgtEl>
                                        <p:attrNameLst>
                                          <p:attrName>style.visibility</p:attrName>
                                        </p:attrNameLst>
                                      </p:cBhvr>
                                      <p:to>
                                        <p:strVal val="visible"/>
                                      </p:to>
                                    </p:set>
                                  </p:childTnLst>
                                  <p:subTnLst>
                                    <p:set>
                                      <p:cBhvr override="childStyle">
                                        <p:cTn dur="1" fill="hold" display="0" masterRel="nextClick" afterEffect="1"/>
                                        <p:tgtEl>
                                          <p:spTgt spid="250038"/>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50047"/>
                                        </p:tgtEl>
                                        <p:attrNameLst>
                                          <p:attrName>style.visibility</p:attrName>
                                        </p:attrNameLst>
                                      </p:cBhvr>
                                      <p:to>
                                        <p:strVal val="visible"/>
                                      </p:to>
                                    </p:set>
                                  </p:childTnLst>
                                  <p:subTnLst>
                                    <p:set>
                                      <p:cBhvr override="childStyle">
                                        <p:cTn dur="1" fill="hold" display="0" masterRel="nextClick" afterEffect="1"/>
                                        <p:tgtEl>
                                          <p:spTgt spid="250047"/>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50048"/>
                                        </p:tgtEl>
                                        <p:attrNameLst>
                                          <p:attrName>style.visibility</p:attrName>
                                        </p:attrNameLst>
                                      </p:cBhvr>
                                      <p:to>
                                        <p:strVal val="visible"/>
                                      </p:to>
                                    </p:set>
                                  </p:childTnLst>
                                  <p:subTnLst>
                                    <p:set>
                                      <p:cBhvr override="childStyle">
                                        <p:cTn dur="1" fill="hold" display="0" masterRel="nextClick" afterEffect="1"/>
                                        <p:tgtEl>
                                          <p:spTgt spid="250048"/>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250044"/>
                                        </p:tgtEl>
                                        <p:attrNameLst>
                                          <p:attrName>style.visibility</p:attrName>
                                        </p:attrNameLst>
                                      </p:cBhvr>
                                      <p:to>
                                        <p:strVal val="visible"/>
                                      </p:to>
                                    </p:set>
                                  </p:childTnLst>
                                  <p:subTnLst>
                                    <p:set>
                                      <p:cBhvr override="childStyle">
                                        <p:cTn dur="1" fill="hold" display="0" masterRel="nextClick" afterEffect="1"/>
                                        <p:tgtEl>
                                          <p:spTgt spid="25004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0050"/>
                                        </p:tgtEl>
                                        <p:attrNameLst>
                                          <p:attrName>style.visibility</p:attrName>
                                        </p:attrNameLst>
                                      </p:cBhvr>
                                      <p:to>
                                        <p:strVal val="visible"/>
                                      </p:to>
                                    </p:set>
                                  </p:childTnLst>
                                  <p:subTnLst>
                                    <p:set>
                                      <p:cBhvr override="childStyle">
                                        <p:cTn dur="1" fill="hold" display="0" masterRel="nextClick" afterEffect="1"/>
                                        <p:tgtEl>
                                          <p:spTgt spid="250050"/>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250049"/>
                                        </p:tgtEl>
                                        <p:attrNameLst>
                                          <p:attrName>style.visibility</p:attrName>
                                        </p:attrNameLst>
                                      </p:cBhvr>
                                      <p:to>
                                        <p:strVal val="visible"/>
                                      </p:to>
                                    </p:set>
                                  </p:childTnLst>
                                  <p:subTnLst>
                                    <p:set>
                                      <p:cBhvr override="childStyle">
                                        <p:cTn dur="1" fill="hold" display="0" masterRel="nextClick" afterEffect="1"/>
                                        <p:tgtEl>
                                          <p:spTgt spid="250049"/>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250040"/>
                                        </p:tgtEl>
                                        <p:attrNameLst>
                                          <p:attrName>style.visibility</p:attrName>
                                        </p:attrNameLst>
                                      </p:cBhvr>
                                      <p:to>
                                        <p:strVal val="visible"/>
                                      </p:to>
                                    </p:set>
                                  </p:childTnLst>
                                  <p:subTnLst>
                                    <p:set>
                                      <p:cBhvr override="childStyle">
                                        <p:cTn dur="1" fill="hold" display="0" masterRel="nextClick" afterEffect="1"/>
                                        <p:tgtEl>
                                          <p:spTgt spid="250040"/>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250064"/>
                                        </p:tgtEl>
                                        <p:attrNameLst>
                                          <p:attrName>style.visibility</p:attrName>
                                        </p:attrNameLst>
                                      </p:cBhvr>
                                      <p:to>
                                        <p:strVal val="visible"/>
                                      </p:to>
                                    </p:set>
                                  </p:childTnLst>
                                  <p:subTnLst>
                                    <p:set>
                                      <p:cBhvr override="childStyle">
                                        <p:cTn dur="1" fill="hold" display="0" masterRel="nextClick" afterEffect="1"/>
                                        <p:tgtEl>
                                          <p:spTgt spid="25006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0051"/>
                                        </p:tgtEl>
                                        <p:attrNameLst>
                                          <p:attrName>style.visibility</p:attrName>
                                        </p:attrNameLst>
                                      </p:cBhvr>
                                      <p:to>
                                        <p:strVal val="visible"/>
                                      </p:to>
                                    </p:set>
                                  </p:childTnLst>
                                  <p:subTnLst>
                                    <p:set>
                                      <p:cBhvr override="childStyle">
                                        <p:cTn dur="1" fill="hold" display="0" masterRel="nextClick" afterEffect="1"/>
                                        <p:tgtEl>
                                          <p:spTgt spid="250051"/>
                                        </p:tgtEl>
                                        <p:attrNameLst>
                                          <p:attrName>style.visibility</p:attrName>
                                        </p:attrNameLst>
                                      </p:cBhvr>
                                      <p:to>
                                        <p:strVal val="hidden"/>
                                      </p:to>
                                    </p:set>
                                  </p:subTnLst>
                                </p:cTn>
                              </p:par>
                              <p:par>
                                <p:cTn id="27" presetID="1" presetClass="entr" presetSubtype="0" fill="hold" grpId="0" nodeType="withEffect">
                                  <p:stCondLst>
                                    <p:cond delay="0"/>
                                  </p:stCondLst>
                                  <p:childTnLst>
                                    <p:set>
                                      <p:cBhvr>
                                        <p:cTn id="28" dur="1" fill="hold">
                                          <p:stCondLst>
                                            <p:cond delay="0"/>
                                          </p:stCondLst>
                                        </p:cTn>
                                        <p:tgtEl>
                                          <p:spTgt spid="250046"/>
                                        </p:tgtEl>
                                        <p:attrNameLst>
                                          <p:attrName>style.visibility</p:attrName>
                                        </p:attrNameLst>
                                      </p:cBhvr>
                                      <p:to>
                                        <p:strVal val="visible"/>
                                      </p:to>
                                    </p:set>
                                  </p:childTnLst>
                                  <p:subTnLst>
                                    <p:set>
                                      <p:cBhvr override="childStyle">
                                        <p:cTn dur="1" fill="hold" display="0" masterRel="nextClick" afterEffect="1"/>
                                        <p:tgtEl>
                                          <p:spTgt spid="250046"/>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250037"/>
                                        </p:tgtEl>
                                        <p:attrNameLst>
                                          <p:attrName>style.visibility</p:attrName>
                                        </p:attrNameLst>
                                      </p:cBhvr>
                                      <p:to>
                                        <p:strVal val="visible"/>
                                      </p:to>
                                    </p:set>
                                  </p:childTnLst>
                                  <p:subTnLst>
                                    <p:set>
                                      <p:cBhvr override="childStyle">
                                        <p:cTn dur="1" fill="hold" display="0" masterRel="nextClick" afterEffect="1"/>
                                        <p:tgtEl>
                                          <p:spTgt spid="250037"/>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250065"/>
                                        </p:tgtEl>
                                        <p:attrNameLst>
                                          <p:attrName>style.visibility</p:attrName>
                                        </p:attrNameLst>
                                      </p:cBhvr>
                                      <p:to>
                                        <p:strVal val="visible"/>
                                      </p:to>
                                    </p:set>
                                  </p:childTnLst>
                                  <p:subTnLst>
                                    <p:set>
                                      <p:cBhvr override="childStyle">
                                        <p:cTn dur="1" fill="hold" display="0" masterRel="nextClick" afterEffect="1"/>
                                        <p:tgtEl>
                                          <p:spTgt spid="25006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00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00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00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0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051" grpId="0"/>
      <p:bldP spid="250036" grpId="0"/>
      <p:bldP spid="250037" grpId="0"/>
      <p:bldP spid="250038" grpId="0"/>
      <p:bldP spid="250040" grpId="0"/>
      <p:bldP spid="250044" grpId="0"/>
      <p:bldP spid="250045" grpId="0"/>
      <p:bldP spid="250046" grpId="0"/>
      <p:bldP spid="250047" grpId="0"/>
      <p:bldP spid="250048" grpId="0"/>
      <p:bldP spid="250049" grpId="0"/>
      <p:bldP spid="250050" grpId="0"/>
      <p:bldP spid="250052" grpId="0"/>
      <p:bldP spid="250064" grpId="0"/>
      <p:bldP spid="250065" grpId="0"/>
      <p:bldP spid="25006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457200" y="188595"/>
            <a:ext cx="8229600" cy="1371600"/>
          </a:xfrm>
        </p:spPr>
        <p:txBody>
          <a:bodyPr/>
          <a:lstStyle/>
          <a:p>
            <a:pPr eaLnBrk="1" hangingPunct="1"/>
            <a:r>
              <a:rPr lang="zh-CN" altLang="en-US"/>
              <a:t>环形脉冲发生器与译码逻辑（</a:t>
            </a:r>
            <a:r>
              <a:rPr lang="en-US" altLang="zh-CN"/>
              <a:t>4</a:t>
            </a:r>
            <a:r>
              <a:rPr lang="zh-CN" altLang="en-US"/>
              <a:t>）</a:t>
            </a:r>
            <a:endParaRPr lang="zh-CN" altLang="en-US"/>
          </a:p>
        </p:txBody>
      </p:sp>
      <p:sp>
        <p:nvSpPr>
          <p:cNvPr id="75779" name="Rectangle 4"/>
          <p:cNvSpPr>
            <a:spLocks noChangeArrowheads="1"/>
          </p:cNvSpPr>
          <p:nvPr/>
        </p:nvSpPr>
        <p:spPr bwMode="auto">
          <a:xfrm>
            <a:off x="2062163" y="27749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80" name="Text Box 5"/>
          <p:cNvSpPr txBox="1">
            <a:spLocks noChangeArrowheads="1"/>
          </p:cNvSpPr>
          <p:nvPr/>
        </p:nvSpPr>
        <p:spPr bwMode="auto">
          <a:xfrm>
            <a:off x="209867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1" name="Text Box 6"/>
          <p:cNvSpPr txBox="1">
            <a:spLocks noChangeArrowheads="1"/>
          </p:cNvSpPr>
          <p:nvPr/>
        </p:nvSpPr>
        <p:spPr bwMode="auto">
          <a:xfrm>
            <a:off x="295592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2" name="Line 7"/>
          <p:cNvSpPr>
            <a:spLocks noChangeShapeType="1"/>
          </p:cNvSpPr>
          <p:nvPr/>
        </p:nvSpPr>
        <p:spPr bwMode="auto">
          <a:xfrm>
            <a:off x="3033713" y="28178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783" name="Text Box 8"/>
          <p:cNvSpPr txBox="1">
            <a:spLocks noChangeArrowheads="1"/>
          </p:cNvSpPr>
          <p:nvPr/>
        </p:nvSpPr>
        <p:spPr bwMode="auto">
          <a:xfrm>
            <a:off x="2112963" y="32194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4" name="Text Box 9"/>
          <p:cNvSpPr txBox="1">
            <a:spLocks noChangeArrowheads="1"/>
          </p:cNvSpPr>
          <p:nvPr/>
        </p:nvSpPr>
        <p:spPr bwMode="auto">
          <a:xfrm>
            <a:off x="2484438" y="30051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5" name="Text Box 10"/>
          <p:cNvSpPr txBox="1">
            <a:spLocks noChangeArrowheads="1"/>
          </p:cNvSpPr>
          <p:nvPr/>
        </p:nvSpPr>
        <p:spPr bwMode="auto">
          <a:xfrm>
            <a:off x="2927350" y="33528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6" name="Oval 11"/>
          <p:cNvSpPr>
            <a:spLocks noChangeArrowheads="1"/>
          </p:cNvSpPr>
          <p:nvPr/>
        </p:nvSpPr>
        <p:spPr bwMode="auto">
          <a:xfrm>
            <a:off x="3333750" y="31464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87" name="Rectangle 12"/>
          <p:cNvSpPr>
            <a:spLocks noChangeArrowheads="1"/>
          </p:cNvSpPr>
          <p:nvPr/>
        </p:nvSpPr>
        <p:spPr bwMode="auto">
          <a:xfrm>
            <a:off x="4233863" y="27749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88" name="Text Box 13"/>
          <p:cNvSpPr txBox="1">
            <a:spLocks noChangeArrowheads="1"/>
          </p:cNvSpPr>
          <p:nvPr/>
        </p:nvSpPr>
        <p:spPr bwMode="auto">
          <a:xfrm>
            <a:off x="427037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9" name="Text Box 14"/>
          <p:cNvSpPr txBox="1">
            <a:spLocks noChangeArrowheads="1"/>
          </p:cNvSpPr>
          <p:nvPr/>
        </p:nvSpPr>
        <p:spPr bwMode="auto">
          <a:xfrm>
            <a:off x="512762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0" name="Line 15"/>
          <p:cNvSpPr>
            <a:spLocks noChangeShapeType="1"/>
          </p:cNvSpPr>
          <p:nvPr/>
        </p:nvSpPr>
        <p:spPr bwMode="auto">
          <a:xfrm>
            <a:off x="5205413" y="28178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791" name="Text Box 16"/>
          <p:cNvSpPr txBox="1">
            <a:spLocks noChangeArrowheads="1"/>
          </p:cNvSpPr>
          <p:nvPr/>
        </p:nvSpPr>
        <p:spPr bwMode="auto">
          <a:xfrm>
            <a:off x="4284663" y="32194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2" name="Text Box 17"/>
          <p:cNvSpPr txBox="1">
            <a:spLocks noChangeArrowheads="1"/>
          </p:cNvSpPr>
          <p:nvPr/>
        </p:nvSpPr>
        <p:spPr bwMode="auto">
          <a:xfrm>
            <a:off x="4656138" y="30051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3" name="Text Box 18"/>
          <p:cNvSpPr txBox="1">
            <a:spLocks noChangeArrowheads="1"/>
          </p:cNvSpPr>
          <p:nvPr/>
        </p:nvSpPr>
        <p:spPr bwMode="auto">
          <a:xfrm>
            <a:off x="5099050" y="33528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4" name="Oval 19"/>
          <p:cNvSpPr>
            <a:spLocks noChangeArrowheads="1"/>
          </p:cNvSpPr>
          <p:nvPr/>
        </p:nvSpPr>
        <p:spPr bwMode="auto">
          <a:xfrm>
            <a:off x="5505450" y="31464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95" name="Rectangle 20"/>
          <p:cNvSpPr>
            <a:spLocks noChangeArrowheads="1"/>
          </p:cNvSpPr>
          <p:nvPr/>
        </p:nvSpPr>
        <p:spPr bwMode="auto">
          <a:xfrm>
            <a:off x="6305550" y="2774950"/>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96" name="Text Box 21"/>
          <p:cNvSpPr txBox="1">
            <a:spLocks noChangeArrowheads="1"/>
          </p:cNvSpPr>
          <p:nvPr/>
        </p:nvSpPr>
        <p:spPr bwMode="auto">
          <a:xfrm>
            <a:off x="6342063" y="27336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7" name="Text Box 22"/>
          <p:cNvSpPr txBox="1">
            <a:spLocks noChangeArrowheads="1"/>
          </p:cNvSpPr>
          <p:nvPr/>
        </p:nvSpPr>
        <p:spPr bwMode="auto">
          <a:xfrm>
            <a:off x="7199313" y="27336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8" name="Line 23"/>
          <p:cNvSpPr>
            <a:spLocks noChangeShapeType="1"/>
          </p:cNvSpPr>
          <p:nvPr/>
        </p:nvSpPr>
        <p:spPr bwMode="auto">
          <a:xfrm>
            <a:off x="7277100" y="2817813"/>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799" name="Text Box 24"/>
          <p:cNvSpPr txBox="1">
            <a:spLocks noChangeArrowheads="1"/>
          </p:cNvSpPr>
          <p:nvPr/>
        </p:nvSpPr>
        <p:spPr bwMode="auto">
          <a:xfrm>
            <a:off x="6356350" y="3219450"/>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0" name="Text Box 25"/>
          <p:cNvSpPr txBox="1">
            <a:spLocks noChangeArrowheads="1"/>
          </p:cNvSpPr>
          <p:nvPr/>
        </p:nvSpPr>
        <p:spPr bwMode="auto">
          <a:xfrm>
            <a:off x="6727825" y="3005138"/>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1" name="Text Box 26"/>
          <p:cNvSpPr txBox="1">
            <a:spLocks noChangeArrowheads="1"/>
          </p:cNvSpPr>
          <p:nvPr/>
        </p:nvSpPr>
        <p:spPr bwMode="auto">
          <a:xfrm>
            <a:off x="7170738" y="3352800"/>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2" name="Oval 27"/>
          <p:cNvSpPr>
            <a:spLocks noChangeArrowheads="1"/>
          </p:cNvSpPr>
          <p:nvPr/>
        </p:nvSpPr>
        <p:spPr bwMode="auto">
          <a:xfrm>
            <a:off x="7577138" y="3146425"/>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803" name="Line 28"/>
          <p:cNvSpPr>
            <a:spLocks noChangeShapeType="1"/>
          </p:cNvSpPr>
          <p:nvPr/>
        </p:nvSpPr>
        <p:spPr bwMode="auto">
          <a:xfrm>
            <a:off x="3433763" y="31892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04" name="Rectangle 29"/>
          <p:cNvSpPr>
            <a:spLocks noChangeArrowheads="1"/>
          </p:cNvSpPr>
          <p:nvPr/>
        </p:nvSpPr>
        <p:spPr bwMode="auto">
          <a:xfrm>
            <a:off x="1876425" y="4789488"/>
            <a:ext cx="1271588"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805" name="Text Box 30"/>
          <p:cNvSpPr txBox="1">
            <a:spLocks noChangeArrowheads="1"/>
          </p:cNvSpPr>
          <p:nvPr/>
        </p:nvSpPr>
        <p:spPr bwMode="auto">
          <a:xfrm>
            <a:off x="1912938" y="47482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6" name="Text Box 31"/>
          <p:cNvSpPr txBox="1">
            <a:spLocks noChangeArrowheads="1"/>
          </p:cNvSpPr>
          <p:nvPr/>
        </p:nvSpPr>
        <p:spPr bwMode="auto">
          <a:xfrm>
            <a:off x="2770188" y="47482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7" name="Line 32"/>
          <p:cNvSpPr>
            <a:spLocks noChangeShapeType="1"/>
          </p:cNvSpPr>
          <p:nvPr/>
        </p:nvSpPr>
        <p:spPr bwMode="auto">
          <a:xfrm>
            <a:off x="2847975" y="4832350"/>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08" name="Text Box 33"/>
          <p:cNvSpPr txBox="1">
            <a:spLocks noChangeArrowheads="1"/>
          </p:cNvSpPr>
          <p:nvPr/>
        </p:nvSpPr>
        <p:spPr bwMode="auto">
          <a:xfrm>
            <a:off x="1927225" y="5233988"/>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9" name="Text Box 34"/>
          <p:cNvSpPr txBox="1">
            <a:spLocks noChangeArrowheads="1"/>
          </p:cNvSpPr>
          <p:nvPr/>
        </p:nvSpPr>
        <p:spPr bwMode="auto">
          <a:xfrm>
            <a:off x="2298700" y="5019675"/>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10" name="Text Box 35"/>
          <p:cNvSpPr txBox="1">
            <a:spLocks noChangeArrowheads="1"/>
          </p:cNvSpPr>
          <p:nvPr/>
        </p:nvSpPr>
        <p:spPr bwMode="auto">
          <a:xfrm>
            <a:off x="2741613" y="5376863"/>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11" name="Oval 36"/>
          <p:cNvSpPr>
            <a:spLocks noChangeArrowheads="1"/>
          </p:cNvSpPr>
          <p:nvPr/>
        </p:nvSpPr>
        <p:spPr bwMode="auto">
          <a:xfrm>
            <a:off x="1790700" y="5160963"/>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812" name="AutoShape 37"/>
          <p:cNvSpPr>
            <a:spLocks noChangeArrowheads="1"/>
          </p:cNvSpPr>
          <p:nvPr/>
        </p:nvSpPr>
        <p:spPr bwMode="auto">
          <a:xfrm rot="-5400000">
            <a:off x="3443288" y="4222750"/>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5813" name="AutoShape 38"/>
          <p:cNvSpPr>
            <a:spLocks noChangeArrowheads="1"/>
          </p:cNvSpPr>
          <p:nvPr/>
        </p:nvSpPr>
        <p:spPr bwMode="auto">
          <a:xfrm rot="-5400000">
            <a:off x="2214563" y="4217988"/>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5814" name="AutoShape 39"/>
          <p:cNvSpPr>
            <a:spLocks noChangeArrowheads="1"/>
          </p:cNvSpPr>
          <p:nvPr/>
        </p:nvSpPr>
        <p:spPr bwMode="auto">
          <a:xfrm rot="-5400000">
            <a:off x="3757613" y="1808163"/>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3992" name="AutoShape 40"/>
          <p:cNvSpPr>
            <a:spLocks noChangeArrowheads="1"/>
          </p:cNvSpPr>
          <p:nvPr/>
        </p:nvSpPr>
        <p:spPr bwMode="auto">
          <a:xfrm rot="-5400000">
            <a:off x="4386263"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993" name="AutoShape 41"/>
          <p:cNvSpPr>
            <a:spLocks noChangeArrowheads="1"/>
          </p:cNvSpPr>
          <p:nvPr/>
        </p:nvSpPr>
        <p:spPr bwMode="auto">
          <a:xfrm rot="-5400000">
            <a:off x="5915025" y="1803400"/>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994" name="AutoShape 42"/>
          <p:cNvSpPr>
            <a:spLocks noChangeArrowheads="1"/>
          </p:cNvSpPr>
          <p:nvPr/>
        </p:nvSpPr>
        <p:spPr bwMode="auto">
          <a:xfrm rot="-5400000">
            <a:off x="7843838"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995" name="Oval 43"/>
          <p:cNvSpPr>
            <a:spLocks noChangeArrowheads="1"/>
          </p:cNvSpPr>
          <p:nvPr/>
        </p:nvSpPr>
        <p:spPr bwMode="auto">
          <a:xfrm>
            <a:off x="2324100" y="41370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3996" name="Oval 44"/>
          <p:cNvSpPr>
            <a:spLocks noChangeArrowheads="1"/>
          </p:cNvSpPr>
          <p:nvPr/>
        </p:nvSpPr>
        <p:spPr bwMode="auto">
          <a:xfrm>
            <a:off x="3552825" y="414178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3997" name="AutoShape 45"/>
          <p:cNvSpPr>
            <a:spLocks noChangeArrowheads="1"/>
          </p:cNvSpPr>
          <p:nvPr/>
        </p:nvSpPr>
        <p:spPr bwMode="auto">
          <a:xfrm rot="-5400000">
            <a:off x="2952750" y="18129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998" name="Oval 46"/>
          <p:cNvSpPr>
            <a:spLocks noChangeArrowheads="1"/>
          </p:cNvSpPr>
          <p:nvPr/>
        </p:nvSpPr>
        <p:spPr bwMode="auto">
          <a:xfrm>
            <a:off x="3062288" y="17319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3999" name="AutoShape 47"/>
          <p:cNvSpPr>
            <a:spLocks noChangeArrowheads="1"/>
          </p:cNvSpPr>
          <p:nvPr/>
        </p:nvSpPr>
        <p:spPr bwMode="auto">
          <a:xfrm rot="-5400000">
            <a:off x="7253288"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4000" name="Oval 48"/>
          <p:cNvSpPr>
            <a:spLocks noChangeArrowheads="1"/>
          </p:cNvSpPr>
          <p:nvPr/>
        </p:nvSpPr>
        <p:spPr bwMode="auto">
          <a:xfrm>
            <a:off x="7362825" y="172720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5824" name="Line 49"/>
          <p:cNvSpPr>
            <a:spLocks noChangeShapeType="1"/>
          </p:cNvSpPr>
          <p:nvPr/>
        </p:nvSpPr>
        <p:spPr bwMode="auto">
          <a:xfrm>
            <a:off x="1604963" y="5203825"/>
            <a:ext cx="1857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25" name="Text Box 50"/>
          <p:cNvSpPr txBox="1">
            <a:spLocks noChangeArrowheads="1"/>
          </p:cNvSpPr>
          <p:nvPr/>
        </p:nvSpPr>
        <p:spPr bwMode="auto">
          <a:xfrm>
            <a:off x="1827213" y="4976813"/>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26" name="Line 51"/>
          <p:cNvSpPr>
            <a:spLocks noChangeShapeType="1"/>
          </p:cNvSpPr>
          <p:nvPr/>
        </p:nvSpPr>
        <p:spPr bwMode="auto">
          <a:xfrm>
            <a:off x="1162050" y="4608513"/>
            <a:ext cx="0" cy="11668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27" name="Line 52"/>
          <p:cNvSpPr>
            <a:spLocks noChangeShapeType="1"/>
          </p:cNvSpPr>
          <p:nvPr/>
        </p:nvSpPr>
        <p:spPr bwMode="auto">
          <a:xfrm>
            <a:off x="1152525" y="5765800"/>
            <a:ext cx="33861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28" name="Line 53"/>
          <p:cNvSpPr>
            <a:spLocks noChangeShapeType="1"/>
          </p:cNvSpPr>
          <p:nvPr/>
        </p:nvSpPr>
        <p:spPr bwMode="auto">
          <a:xfrm>
            <a:off x="2105025" y="5575300"/>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29" name="Line 54"/>
          <p:cNvSpPr>
            <a:spLocks noChangeShapeType="1"/>
          </p:cNvSpPr>
          <p:nvPr/>
        </p:nvSpPr>
        <p:spPr bwMode="auto">
          <a:xfrm>
            <a:off x="2105025" y="5946775"/>
            <a:ext cx="595788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0" name="Line 55"/>
          <p:cNvSpPr>
            <a:spLocks noChangeShapeType="1"/>
          </p:cNvSpPr>
          <p:nvPr/>
        </p:nvSpPr>
        <p:spPr bwMode="auto">
          <a:xfrm>
            <a:off x="2938463" y="55753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08" name="Oval 56"/>
          <p:cNvSpPr>
            <a:spLocks noChangeArrowheads="1"/>
          </p:cNvSpPr>
          <p:nvPr/>
        </p:nvSpPr>
        <p:spPr bwMode="auto">
          <a:xfrm>
            <a:off x="2905125" y="57277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32" name="Line 57"/>
          <p:cNvSpPr>
            <a:spLocks noChangeShapeType="1"/>
          </p:cNvSpPr>
          <p:nvPr/>
        </p:nvSpPr>
        <p:spPr bwMode="auto">
          <a:xfrm>
            <a:off x="1157288" y="4613275"/>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3" name="Line 58"/>
          <p:cNvSpPr>
            <a:spLocks noChangeShapeType="1"/>
          </p:cNvSpPr>
          <p:nvPr/>
        </p:nvSpPr>
        <p:spPr bwMode="auto">
          <a:xfrm flipV="1">
            <a:off x="2271713" y="44989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4" name="Line 59"/>
          <p:cNvSpPr>
            <a:spLocks noChangeShapeType="1"/>
          </p:cNvSpPr>
          <p:nvPr/>
        </p:nvSpPr>
        <p:spPr bwMode="auto">
          <a:xfrm flipV="1">
            <a:off x="2100263" y="467042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5" name="Line 60"/>
          <p:cNvSpPr>
            <a:spLocks noChangeShapeType="1"/>
          </p:cNvSpPr>
          <p:nvPr/>
        </p:nvSpPr>
        <p:spPr bwMode="auto">
          <a:xfrm>
            <a:off x="2100263" y="4679950"/>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6" name="Line 61"/>
          <p:cNvSpPr>
            <a:spLocks noChangeShapeType="1"/>
          </p:cNvSpPr>
          <p:nvPr/>
        </p:nvSpPr>
        <p:spPr bwMode="auto">
          <a:xfrm>
            <a:off x="2424113" y="449897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7" name="Line 62"/>
          <p:cNvSpPr>
            <a:spLocks noChangeShapeType="1"/>
          </p:cNvSpPr>
          <p:nvPr/>
        </p:nvSpPr>
        <p:spPr bwMode="auto">
          <a:xfrm>
            <a:off x="2414588" y="4613275"/>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8" name="Line 63"/>
          <p:cNvSpPr>
            <a:spLocks noChangeShapeType="1"/>
          </p:cNvSpPr>
          <p:nvPr/>
        </p:nvSpPr>
        <p:spPr bwMode="auto">
          <a:xfrm flipV="1">
            <a:off x="2967038" y="460375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9" name="Line 64"/>
          <p:cNvSpPr>
            <a:spLocks noChangeShapeType="1"/>
          </p:cNvSpPr>
          <p:nvPr/>
        </p:nvSpPr>
        <p:spPr bwMode="auto">
          <a:xfrm flipV="1">
            <a:off x="3500438" y="450850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0" name="Line 65"/>
          <p:cNvSpPr>
            <a:spLocks noChangeShapeType="1"/>
          </p:cNvSpPr>
          <p:nvPr/>
        </p:nvSpPr>
        <p:spPr bwMode="auto">
          <a:xfrm>
            <a:off x="3671888" y="4508500"/>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1" name="Line 66"/>
          <p:cNvSpPr>
            <a:spLocks noChangeShapeType="1"/>
          </p:cNvSpPr>
          <p:nvPr/>
        </p:nvSpPr>
        <p:spPr bwMode="auto">
          <a:xfrm>
            <a:off x="3667125" y="4679950"/>
            <a:ext cx="17478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2" name="AutoShape 67"/>
          <p:cNvSpPr>
            <a:spLocks noChangeArrowheads="1"/>
          </p:cNvSpPr>
          <p:nvPr/>
        </p:nvSpPr>
        <p:spPr bwMode="auto">
          <a:xfrm rot="-5400000" flipH="1" flipV="1">
            <a:off x="4905375" y="5132388"/>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4020" name="Oval 68"/>
          <p:cNvSpPr>
            <a:spLocks noChangeArrowheads="1"/>
          </p:cNvSpPr>
          <p:nvPr/>
        </p:nvSpPr>
        <p:spPr bwMode="auto">
          <a:xfrm>
            <a:off x="4867275" y="522287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5844" name="Line 69"/>
          <p:cNvSpPr>
            <a:spLocks noChangeShapeType="1"/>
          </p:cNvSpPr>
          <p:nvPr/>
        </p:nvSpPr>
        <p:spPr bwMode="auto">
          <a:xfrm flipH="1">
            <a:off x="4529138" y="5260975"/>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5" name="Line 70"/>
          <p:cNvSpPr>
            <a:spLocks noChangeShapeType="1"/>
          </p:cNvSpPr>
          <p:nvPr/>
        </p:nvSpPr>
        <p:spPr bwMode="auto">
          <a:xfrm>
            <a:off x="4538663" y="5260975"/>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6" name="Rectangle 71"/>
          <p:cNvSpPr>
            <a:spLocks noChangeArrowheads="1"/>
          </p:cNvSpPr>
          <p:nvPr/>
        </p:nvSpPr>
        <p:spPr bwMode="auto">
          <a:xfrm>
            <a:off x="5681663" y="4946650"/>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rPr>
              <a:t>时钟源</a:t>
            </a:r>
            <a:endParaRPr kumimoji="0" lang="zh-CN" altLang="en-US" sz="2400">
              <a:solidFill>
                <a:schemeClr val="bg1"/>
              </a:solidFill>
              <a:latin typeface="Tahoma" panose="020B0604030504040204" pitchFamily="34" charset="0"/>
            </a:endParaRPr>
          </a:p>
        </p:txBody>
      </p:sp>
      <p:sp>
        <p:nvSpPr>
          <p:cNvPr id="75847" name="Line 72"/>
          <p:cNvSpPr>
            <a:spLocks noChangeShapeType="1"/>
          </p:cNvSpPr>
          <p:nvPr/>
        </p:nvSpPr>
        <p:spPr bwMode="auto">
          <a:xfrm>
            <a:off x="5186363" y="5260975"/>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8" name="Line 73"/>
          <p:cNvSpPr>
            <a:spLocks noChangeShapeType="1"/>
          </p:cNvSpPr>
          <p:nvPr/>
        </p:nvSpPr>
        <p:spPr bwMode="auto">
          <a:xfrm>
            <a:off x="5405438" y="4670425"/>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26" name="Oval 74"/>
          <p:cNvSpPr>
            <a:spLocks noChangeArrowheads="1"/>
          </p:cNvSpPr>
          <p:nvPr/>
        </p:nvSpPr>
        <p:spPr bwMode="auto">
          <a:xfrm>
            <a:off x="5362575" y="52228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50" name="Line 75"/>
          <p:cNvSpPr>
            <a:spLocks noChangeShapeType="1"/>
          </p:cNvSpPr>
          <p:nvPr/>
        </p:nvSpPr>
        <p:spPr bwMode="auto">
          <a:xfrm flipV="1">
            <a:off x="2366963" y="402272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1" name="Line 76"/>
          <p:cNvSpPr>
            <a:spLocks noChangeShapeType="1"/>
          </p:cNvSpPr>
          <p:nvPr/>
        </p:nvSpPr>
        <p:spPr bwMode="auto">
          <a:xfrm>
            <a:off x="2357438" y="4022725"/>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2" name="Line 77"/>
          <p:cNvSpPr>
            <a:spLocks noChangeShapeType="1"/>
          </p:cNvSpPr>
          <p:nvPr/>
        </p:nvSpPr>
        <p:spPr bwMode="auto">
          <a:xfrm flipV="1">
            <a:off x="3128963" y="356552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3" name="Line 78"/>
          <p:cNvSpPr>
            <a:spLocks noChangeShapeType="1"/>
          </p:cNvSpPr>
          <p:nvPr/>
        </p:nvSpPr>
        <p:spPr bwMode="auto">
          <a:xfrm flipV="1">
            <a:off x="3595688" y="3175000"/>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4" name="Line 79"/>
          <p:cNvSpPr>
            <a:spLocks noChangeShapeType="1"/>
          </p:cNvSpPr>
          <p:nvPr/>
        </p:nvSpPr>
        <p:spPr bwMode="auto">
          <a:xfrm flipV="1">
            <a:off x="2290763" y="25654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5" name="Line 80"/>
          <p:cNvSpPr>
            <a:spLocks noChangeShapeType="1"/>
          </p:cNvSpPr>
          <p:nvPr/>
        </p:nvSpPr>
        <p:spPr bwMode="auto">
          <a:xfrm>
            <a:off x="2281238"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6" name="Line 81"/>
          <p:cNvSpPr>
            <a:spLocks noChangeShapeType="1"/>
          </p:cNvSpPr>
          <p:nvPr/>
        </p:nvSpPr>
        <p:spPr bwMode="auto">
          <a:xfrm flipV="1">
            <a:off x="3824288" y="20891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7" name="Line 82"/>
          <p:cNvSpPr>
            <a:spLocks noChangeShapeType="1"/>
          </p:cNvSpPr>
          <p:nvPr/>
        </p:nvSpPr>
        <p:spPr bwMode="auto">
          <a:xfrm>
            <a:off x="3814763" y="3660775"/>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8" name="Line 83"/>
          <p:cNvSpPr>
            <a:spLocks noChangeShapeType="1"/>
          </p:cNvSpPr>
          <p:nvPr/>
        </p:nvSpPr>
        <p:spPr bwMode="auto">
          <a:xfrm flipV="1">
            <a:off x="4471988" y="35560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9" name="Line 84"/>
          <p:cNvSpPr>
            <a:spLocks noChangeShapeType="1"/>
          </p:cNvSpPr>
          <p:nvPr/>
        </p:nvSpPr>
        <p:spPr bwMode="auto">
          <a:xfrm>
            <a:off x="3586163" y="3822700"/>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37" name="Oval 85"/>
          <p:cNvSpPr>
            <a:spLocks noChangeArrowheads="1"/>
          </p:cNvSpPr>
          <p:nvPr/>
        </p:nvSpPr>
        <p:spPr bwMode="auto">
          <a:xfrm>
            <a:off x="3562350" y="37846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61" name="Line 86"/>
          <p:cNvSpPr>
            <a:spLocks noChangeShapeType="1"/>
          </p:cNvSpPr>
          <p:nvPr/>
        </p:nvSpPr>
        <p:spPr bwMode="auto">
          <a:xfrm flipV="1">
            <a:off x="7367588" y="35560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62" name="Line 87"/>
          <p:cNvSpPr>
            <a:spLocks noChangeShapeType="1"/>
          </p:cNvSpPr>
          <p:nvPr/>
        </p:nvSpPr>
        <p:spPr bwMode="auto">
          <a:xfrm flipV="1">
            <a:off x="5300663" y="35560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40" name="Oval 88"/>
          <p:cNvSpPr>
            <a:spLocks noChangeArrowheads="1"/>
          </p:cNvSpPr>
          <p:nvPr/>
        </p:nvSpPr>
        <p:spPr bwMode="auto">
          <a:xfrm>
            <a:off x="3086100" y="39751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4041" name="Oval 89"/>
          <p:cNvSpPr>
            <a:spLocks noChangeArrowheads="1"/>
          </p:cNvSpPr>
          <p:nvPr/>
        </p:nvSpPr>
        <p:spPr bwMode="auto">
          <a:xfrm>
            <a:off x="5267325" y="39846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65" name="Line 90"/>
          <p:cNvSpPr>
            <a:spLocks noChangeShapeType="1"/>
          </p:cNvSpPr>
          <p:nvPr/>
        </p:nvSpPr>
        <p:spPr bwMode="auto">
          <a:xfrm>
            <a:off x="5614988" y="319881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66" name="Line 91"/>
          <p:cNvSpPr>
            <a:spLocks noChangeShapeType="1"/>
          </p:cNvSpPr>
          <p:nvPr/>
        </p:nvSpPr>
        <p:spPr bwMode="auto">
          <a:xfrm flipV="1">
            <a:off x="5776913" y="3184525"/>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44" name="Oval 92"/>
          <p:cNvSpPr>
            <a:spLocks noChangeArrowheads="1"/>
          </p:cNvSpPr>
          <p:nvPr/>
        </p:nvSpPr>
        <p:spPr bwMode="auto">
          <a:xfrm>
            <a:off x="5743575" y="37941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68" name="Line 93"/>
          <p:cNvSpPr>
            <a:spLocks noChangeShapeType="1"/>
          </p:cNvSpPr>
          <p:nvPr/>
        </p:nvSpPr>
        <p:spPr bwMode="auto">
          <a:xfrm>
            <a:off x="7672388" y="31892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69" name="Line 94"/>
          <p:cNvSpPr>
            <a:spLocks noChangeShapeType="1"/>
          </p:cNvSpPr>
          <p:nvPr/>
        </p:nvSpPr>
        <p:spPr bwMode="auto">
          <a:xfrm flipV="1">
            <a:off x="7834313" y="3175000"/>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0" name="Line 95"/>
          <p:cNvSpPr>
            <a:spLocks noChangeShapeType="1"/>
          </p:cNvSpPr>
          <p:nvPr/>
        </p:nvSpPr>
        <p:spPr bwMode="auto">
          <a:xfrm flipV="1">
            <a:off x="4452938" y="2089150"/>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1" name="Line 96"/>
          <p:cNvSpPr>
            <a:spLocks noChangeShapeType="1"/>
          </p:cNvSpPr>
          <p:nvPr/>
        </p:nvSpPr>
        <p:spPr bwMode="auto">
          <a:xfrm>
            <a:off x="4443413"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2" name="Line 97"/>
          <p:cNvSpPr>
            <a:spLocks noChangeShapeType="1"/>
          </p:cNvSpPr>
          <p:nvPr/>
        </p:nvSpPr>
        <p:spPr bwMode="auto">
          <a:xfrm flipV="1">
            <a:off x="5986463" y="20891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3" name="Line 98"/>
          <p:cNvSpPr>
            <a:spLocks noChangeShapeType="1"/>
          </p:cNvSpPr>
          <p:nvPr/>
        </p:nvSpPr>
        <p:spPr bwMode="auto">
          <a:xfrm>
            <a:off x="5976938" y="3660775"/>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4" name="Line 99"/>
          <p:cNvSpPr>
            <a:spLocks noChangeShapeType="1"/>
          </p:cNvSpPr>
          <p:nvPr/>
        </p:nvSpPr>
        <p:spPr bwMode="auto">
          <a:xfrm flipV="1">
            <a:off x="6548438" y="35560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5" name="Line 100"/>
          <p:cNvSpPr>
            <a:spLocks noChangeShapeType="1"/>
          </p:cNvSpPr>
          <p:nvPr/>
        </p:nvSpPr>
        <p:spPr bwMode="auto">
          <a:xfrm flipV="1">
            <a:off x="8053388" y="2089150"/>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6" name="Line 101"/>
          <p:cNvSpPr>
            <a:spLocks noChangeShapeType="1"/>
          </p:cNvSpPr>
          <p:nvPr/>
        </p:nvSpPr>
        <p:spPr bwMode="auto">
          <a:xfrm>
            <a:off x="6491288"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7" name="Line 102"/>
          <p:cNvSpPr>
            <a:spLocks noChangeShapeType="1"/>
          </p:cNvSpPr>
          <p:nvPr/>
        </p:nvSpPr>
        <p:spPr bwMode="auto">
          <a:xfrm flipV="1">
            <a:off x="6491288" y="25654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8" name="Line 103"/>
          <p:cNvSpPr>
            <a:spLocks noChangeShapeType="1"/>
          </p:cNvSpPr>
          <p:nvPr/>
        </p:nvSpPr>
        <p:spPr bwMode="auto">
          <a:xfrm>
            <a:off x="2300288" y="3565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56" name="Oval 104"/>
          <p:cNvSpPr>
            <a:spLocks noChangeArrowheads="1"/>
          </p:cNvSpPr>
          <p:nvPr/>
        </p:nvSpPr>
        <p:spPr bwMode="auto">
          <a:xfrm>
            <a:off x="2257425" y="38036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5880" name="Text Box 105"/>
          <p:cNvSpPr txBox="1">
            <a:spLocks noChangeArrowheads="1"/>
          </p:cNvSpPr>
          <p:nvPr/>
        </p:nvSpPr>
        <p:spPr bwMode="auto">
          <a:xfrm>
            <a:off x="1555750" y="3581400"/>
            <a:ext cx="77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5881" name="Line 106"/>
          <p:cNvSpPr>
            <a:spLocks noChangeShapeType="1"/>
          </p:cNvSpPr>
          <p:nvPr/>
        </p:nvSpPr>
        <p:spPr bwMode="auto">
          <a:xfrm flipV="1">
            <a:off x="3100388" y="2089150"/>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59" name="Oval 107"/>
          <p:cNvSpPr>
            <a:spLocks noChangeArrowheads="1"/>
          </p:cNvSpPr>
          <p:nvPr/>
        </p:nvSpPr>
        <p:spPr bwMode="auto">
          <a:xfrm>
            <a:off x="3781425"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83" name="Line 108"/>
          <p:cNvSpPr>
            <a:spLocks noChangeShapeType="1"/>
          </p:cNvSpPr>
          <p:nvPr/>
        </p:nvSpPr>
        <p:spPr bwMode="auto">
          <a:xfrm flipV="1">
            <a:off x="5319713" y="2403475"/>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84" name="Line 109"/>
          <p:cNvSpPr>
            <a:spLocks noChangeShapeType="1"/>
          </p:cNvSpPr>
          <p:nvPr/>
        </p:nvSpPr>
        <p:spPr bwMode="auto">
          <a:xfrm flipH="1">
            <a:off x="3976688" y="2403475"/>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85" name="Line 110"/>
          <p:cNvSpPr>
            <a:spLocks noChangeShapeType="1"/>
          </p:cNvSpPr>
          <p:nvPr/>
        </p:nvSpPr>
        <p:spPr bwMode="auto">
          <a:xfrm flipV="1">
            <a:off x="3976688" y="20891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63" name="Oval 111"/>
          <p:cNvSpPr>
            <a:spLocks noChangeArrowheads="1"/>
          </p:cNvSpPr>
          <p:nvPr/>
        </p:nvSpPr>
        <p:spPr bwMode="auto">
          <a:xfrm>
            <a:off x="4419600"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87" name="Line 112"/>
          <p:cNvSpPr>
            <a:spLocks noChangeShapeType="1"/>
          </p:cNvSpPr>
          <p:nvPr/>
        </p:nvSpPr>
        <p:spPr bwMode="auto">
          <a:xfrm flipV="1">
            <a:off x="4595813" y="20891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88" name="Text Box 113"/>
          <p:cNvSpPr txBox="1">
            <a:spLocks noChangeArrowheads="1"/>
          </p:cNvSpPr>
          <p:nvPr/>
        </p:nvSpPr>
        <p:spPr bwMode="auto">
          <a:xfrm>
            <a:off x="4527550" y="2066925"/>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4066" name="Oval 114"/>
          <p:cNvSpPr>
            <a:spLocks noChangeArrowheads="1"/>
          </p:cNvSpPr>
          <p:nvPr/>
        </p:nvSpPr>
        <p:spPr bwMode="auto">
          <a:xfrm>
            <a:off x="3067050" y="25273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90" name="Line 115"/>
          <p:cNvSpPr>
            <a:spLocks noChangeShapeType="1"/>
          </p:cNvSpPr>
          <p:nvPr/>
        </p:nvSpPr>
        <p:spPr bwMode="auto">
          <a:xfrm flipV="1">
            <a:off x="7396163" y="2098675"/>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1" name="Line 116"/>
          <p:cNvSpPr>
            <a:spLocks noChangeShapeType="1"/>
          </p:cNvSpPr>
          <p:nvPr/>
        </p:nvSpPr>
        <p:spPr bwMode="auto">
          <a:xfrm flipH="1">
            <a:off x="6119813" y="2403475"/>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2" name="Line 117"/>
          <p:cNvSpPr>
            <a:spLocks noChangeShapeType="1"/>
          </p:cNvSpPr>
          <p:nvPr/>
        </p:nvSpPr>
        <p:spPr bwMode="auto">
          <a:xfrm flipV="1">
            <a:off x="6119813" y="20891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3" name="Line 118"/>
          <p:cNvSpPr>
            <a:spLocks noChangeShapeType="1"/>
          </p:cNvSpPr>
          <p:nvPr/>
        </p:nvSpPr>
        <p:spPr bwMode="auto">
          <a:xfrm flipV="1">
            <a:off x="7920038" y="20891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4" name="Text Box 119"/>
          <p:cNvSpPr txBox="1">
            <a:spLocks noChangeArrowheads="1"/>
          </p:cNvSpPr>
          <p:nvPr/>
        </p:nvSpPr>
        <p:spPr bwMode="auto">
          <a:xfrm>
            <a:off x="7432675" y="2162175"/>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4072" name="Oval 120"/>
          <p:cNvSpPr>
            <a:spLocks noChangeArrowheads="1"/>
          </p:cNvSpPr>
          <p:nvPr/>
        </p:nvSpPr>
        <p:spPr bwMode="auto">
          <a:xfrm>
            <a:off x="7362825" y="23653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4073" name="Oval 121"/>
          <p:cNvSpPr>
            <a:spLocks noChangeArrowheads="1"/>
          </p:cNvSpPr>
          <p:nvPr/>
        </p:nvSpPr>
        <p:spPr bwMode="auto">
          <a:xfrm>
            <a:off x="5943600"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97" name="Line 122"/>
          <p:cNvSpPr>
            <a:spLocks noChangeShapeType="1"/>
          </p:cNvSpPr>
          <p:nvPr/>
        </p:nvSpPr>
        <p:spPr bwMode="auto">
          <a:xfrm flipV="1">
            <a:off x="3100388" y="15176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8" name="Line 123"/>
          <p:cNvSpPr>
            <a:spLocks noChangeShapeType="1"/>
          </p:cNvSpPr>
          <p:nvPr/>
        </p:nvSpPr>
        <p:spPr bwMode="auto">
          <a:xfrm flipV="1">
            <a:off x="3900488"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9" name="Line 124"/>
          <p:cNvSpPr>
            <a:spLocks noChangeShapeType="1"/>
          </p:cNvSpPr>
          <p:nvPr/>
        </p:nvSpPr>
        <p:spPr bwMode="auto">
          <a:xfrm flipV="1">
            <a:off x="4529138"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00" name="Line 125"/>
          <p:cNvSpPr>
            <a:spLocks noChangeShapeType="1"/>
          </p:cNvSpPr>
          <p:nvPr/>
        </p:nvSpPr>
        <p:spPr bwMode="auto">
          <a:xfrm flipV="1">
            <a:off x="6048375"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01" name="Line 126"/>
          <p:cNvSpPr>
            <a:spLocks noChangeShapeType="1"/>
          </p:cNvSpPr>
          <p:nvPr/>
        </p:nvSpPr>
        <p:spPr bwMode="auto">
          <a:xfrm flipV="1">
            <a:off x="7986713"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02" name="Line 127"/>
          <p:cNvSpPr>
            <a:spLocks noChangeShapeType="1"/>
          </p:cNvSpPr>
          <p:nvPr/>
        </p:nvSpPr>
        <p:spPr bwMode="auto">
          <a:xfrm flipV="1">
            <a:off x="7405688" y="15176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03" name="Text Box 129"/>
          <p:cNvSpPr txBox="1">
            <a:spLocks noChangeArrowheads="1"/>
          </p:cNvSpPr>
          <p:nvPr/>
        </p:nvSpPr>
        <p:spPr bwMode="auto">
          <a:xfrm>
            <a:off x="4484688" y="1331913"/>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5904" name="Oval 130"/>
          <p:cNvSpPr>
            <a:spLocks noChangeArrowheads="1"/>
          </p:cNvSpPr>
          <p:nvPr/>
        </p:nvSpPr>
        <p:spPr bwMode="auto">
          <a:xfrm>
            <a:off x="4976813" y="13795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05" name="Text Box 131"/>
          <p:cNvSpPr txBox="1">
            <a:spLocks noChangeArrowheads="1"/>
          </p:cNvSpPr>
          <p:nvPr/>
        </p:nvSpPr>
        <p:spPr bwMode="auto">
          <a:xfrm>
            <a:off x="7372350" y="1314450"/>
            <a:ext cx="68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5906" name="Oval 132"/>
          <p:cNvSpPr>
            <a:spLocks noChangeArrowheads="1"/>
          </p:cNvSpPr>
          <p:nvPr/>
        </p:nvSpPr>
        <p:spPr bwMode="auto">
          <a:xfrm>
            <a:off x="7950200" y="1362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07" name="Text Box 133"/>
          <p:cNvSpPr txBox="1">
            <a:spLocks noChangeArrowheads="1"/>
          </p:cNvSpPr>
          <p:nvPr/>
        </p:nvSpPr>
        <p:spPr bwMode="auto">
          <a:xfrm>
            <a:off x="3814763" y="13144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5908" name="Oval 134"/>
          <p:cNvSpPr>
            <a:spLocks noChangeArrowheads="1"/>
          </p:cNvSpPr>
          <p:nvPr/>
        </p:nvSpPr>
        <p:spPr bwMode="auto">
          <a:xfrm>
            <a:off x="4135438" y="1362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09" name="Text Box 135"/>
          <p:cNvSpPr txBox="1">
            <a:spLocks noChangeArrowheads="1"/>
          </p:cNvSpPr>
          <p:nvPr/>
        </p:nvSpPr>
        <p:spPr bwMode="auto">
          <a:xfrm>
            <a:off x="5986463" y="13430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5910" name="Oval 136"/>
          <p:cNvSpPr>
            <a:spLocks noChangeArrowheads="1"/>
          </p:cNvSpPr>
          <p:nvPr/>
        </p:nvSpPr>
        <p:spPr bwMode="auto">
          <a:xfrm>
            <a:off x="6307138" y="13906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11" name="Text Box 137"/>
          <p:cNvSpPr txBox="1">
            <a:spLocks noChangeArrowheads="1"/>
          </p:cNvSpPr>
          <p:nvPr/>
        </p:nvSpPr>
        <p:spPr bwMode="auto">
          <a:xfrm>
            <a:off x="6943725" y="13001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5912" name="Oval 138"/>
          <p:cNvSpPr>
            <a:spLocks noChangeArrowheads="1"/>
          </p:cNvSpPr>
          <p:nvPr/>
        </p:nvSpPr>
        <p:spPr bwMode="auto">
          <a:xfrm>
            <a:off x="7264400" y="13477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13" name="Text Box 139"/>
          <p:cNvSpPr txBox="1">
            <a:spLocks noChangeArrowheads="1"/>
          </p:cNvSpPr>
          <p:nvPr/>
        </p:nvSpPr>
        <p:spPr bwMode="auto">
          <a:xfrm>
            <a:off x="2657475" y="13001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5914" name="Oval 140"/>
          <p:cNvSpPr>
            <a:spLocks noChangeArrowheads="1"/>
          </p:cNvSpPr>
          <p:nvPr/>
        </p:nvSpPr>
        <p:spPr bwMode="auto">
          <a:xfrm>
            <a:off x="2978150" y="13477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15" name="Text Box 141"/>
          <p:cNvSpPr txBox="1">
            <a:spLocks noChangeArrowheads="1"/>
          </p:cNvSpPr>
          <p:nvPr/>
        </p:nvSpPr>
        <p:spPr bwMode="auto">
          <a:xfrm>
            <a:off x="4413250" y="4391025"/>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5916" name="Text Box 142"/>
          <p:cNvSpPr txBox="1">
            <a:spLocks noChangeArrowheads="1"/>
          </p:cNvSpPr>
          <p:nvPr/>
        </p:nvSpPr>
        <p:spPr bwMode="auto">
          <a:xfrm>
            <a:off x="4513263" y="5076825"/>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5917" name="Line 143"/>
          <p:cNvSpPr>
            <a:spLocks noChangeShapeType="1"/>
          </p:cNvSpPr>
          <p:nvPr/>
        </p:nvSpPr>
        <p:spPr bwMode="auto">
          <a:xfrm>
            <a:off x="4605338" y="5360988"/>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75918" name="Group 144"/>
          <p:cNvGrpSpPr/>
          <p:nvPr/>
        </p:nvGrpSpPr>
        <p:grpSpPr bwMode="auto">
          <a:xfrm>
            <a:off x="4676775" y="4346575"/>
            <a:ext cx="800100" cy="271463"/>
            <a:chOff x="3258" y="2997"/>
            <a:chExt cx="504" cy="171"/>
          </a:xfrm>
        </p:grpSpPr>
        <p:sp>
          <p:nvSpPr>
            <p:cNvPr id="75937" name="Line 145"/>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8" name="Line 146"/>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9" name="Line 147"/>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0" name="Line 148"/>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1" name="Line 149"/>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2" name="Line 150"/>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3" name="Line 151"/>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4" name="Line 152"/>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5" name="Line 153"/>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919" name="Group 154"/>
          <p:cNvGrpSpPr/>
          <p:nvPr/>
        </p:nvGrpSpPr>
        <p:grpSpPr bwMode="auto">
          <a:xfrm flipV="1">
            <a:off x="3619500" y="5432425"/>
            <a:ext cx="800100" cy="271463"/>
            <a:chOff x="3258" y="2997"/>
            <a:chExt cx="504" cy="171"/>
          </a:xfrm>
        </p:grpSpPr>
        <p:sp>
          <p:nvSpPr>
            <p:cNvPr id="75928" name="Line 155"/>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29" name="Line 156"/>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0" name="Line 157"/>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1" name="Line 158"/>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2" name="Line 159"/>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3" name="Line 160"/>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4" name="Line 161"/>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5" name="Line 162"/>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6" name="Line 163"/>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75920" name="Text Box 164"/>
          <p:cNvSpPr txBox="1">
            <a:spLocks noChangeArrowheads="1"/>
          </p:cNvSpPr>
          <p:nvPr/>
        </p:nvSpPr>
        <p:spPr bwMode="auto">
          <a:xfrm>
            <a:off x="1998663"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5921" name="Text Box 165"/>
          <p:cNvSpPr txBox="1">
            <a:spLocks noChangeArrowheads="1"/>
          </p:cNvSpPr>
          <p:nvPr/>
        </p:nvSpPr>
        <p:spPr bwMode="auto">
          <a:xfrm>
            <a:off x="41417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5922" name="Text Box 166"/>
          <p:cNvSpPr txBox="1">
            <a:spLocks noChangeArrowheads="1"/>
          </p:cNvSpPr>
          <p:nvPr/>
        </p:nvSpPr>
        <p:spPr bwMode="auto">
          <a:xfrm>
            <a:off x="61991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5923" name="Text Box 167"/>
          <p:cNvSpPr txBox="1">
            <a:spLocks noChangeArrowheads="1"/>
          </p:cNvSpPr>
          <p:nvPr/>
        </p:nvSpPr>
        <p:spPr bwMode="auto">
          <a:xfrm>
            <a:off x="3198813" y="43338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5924" name="Text Box 168"/>
          <p:cNvSpPr txBox="1">
            <a:spLocks noChangeArrowheads="1"/>
          </p:cNvSpPr>
          <p:nvPr/>
        </p:nvSpPr>
        <p:spPr bwMode="auto">
          <a:xfrm>
            <a:off x="3284538" y="28194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5925" name="Text Box 169"/>
          <p:cNvSpPr txBox="1">
            <a:spLocks noChangeArrowheads="1"/>
          </p:cNvSpPr>
          <p:nvPr/>
        </p:nvSpPr>
        <p:spPr bwMode="auto">
          <a:xfrm>
            <a:off x="5456238" y="28051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5926" name="Text Box 170"/>
          <p:cNvSpPr txBox="1">
            <a:spLocks noChangeArrowheads="1"/>
          </p:cNvSpPr>
          <p:nvPr/>
        </p:nvSpPr>
        <p:spPr bwMode="auto">
          <a:xfrm>
            <a:off x="7527925" y="28194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5927" name="Text Box 171"/>
          <p:cNvSpPr txBox="1">
            <a:spLocks noChangeArrowheads="1"/>
          </p:cNvSpPr>
          <p:nvPr/>
        </p:nvSpPr>
        <p:spPr bwMode="auto">
          <a:xfrm>
            <a:off x="1841500" y="56911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xfrm>
            <a:off x="457200" y="116840"/>
            <a:ext cx="8229600" cy="1371600"/>
          </a:xfrm>
        </p:spPr>
        <p:txBody>
          <a:bodyPr/>
          <a:lstStyle/>
          <a:p>
            <a:pPr eaLnBrk="1" hangingPunct="1"/>
            <a:r>
              <a:rPr lang="zh-CN" altLang="en-US"/>
              <a:t>环形脉冲发生器与译码逻辑（</a:t>
            </a:r>
            <a:r>
              <a:rPr lang="en-US" altLang="zh-CN"/>
              <a:t>5</a:t>
            </a:r>
            <a:r>
              <a:rPr lang="zh-CN" altLang="en-US"/>
              <a:t>）</a:t>
            </a:r>
            <a:endParaRPr lang="zh-CN" altLang="en-US"/>
          </a:p>
        </p:txBody>
      </p:sp>
      <p:sp>
        <p:nvSpPr>
          <p:cNvPr id="76802" name="Rectangle 173"/>
          <p:cNvSpPr>
            <a:spLocks noGrp="1" noChangeArrowheads="1"/>
          </p:cNvSpPr>
          <p:nvPr>
            <p:ph idx="1"/>
          </p:nvPr>
        </p:nvSpPr>
        <p:spPr>
          <a:xfrm>
            <a:off x="755015" y="6048375"/>
            <a:ext cx="8229600" cy="3886200"/>
          </a:xfrm>
        </p:spPr>
        <p:txBody>
          <a:bodyPr/>
          <a:lstStyle/>
          <a:p>
            <a:pPr marL="0" indent="0" eaLnBrk="1" hangingPunct="1">
              <a:buFont typeface="Wingdings 2" pitchFamily="18" charset="2"/>
              <a:buNone/>
            </a:pPr>
            <a:r>
              <a:rPr kumimoji="0" lang="en-US" altLang="zh-CN" sz="2800"/>
              <a:t>C</a:t>
            </a:r>
            <a:r>
              <a:rPr kumimoji="0" lang="en-US" altLang="zh-CN" sz="2800" baseline="-25000"/>
              <a:t>1</a:t>
            </a:r>
            <a:r>
              <a:rPr kumimoji="0" lang="en-US" altLang="zh-CN" sz="2800"/>
              <a:t>C</a:t>
            </a:r>
            <a:r>
              <a:rPr kumimoji="0" lang="en-US" altLang="zh-CN" sz="2800" baseline="-25000"/>
              <a:t>2</a:t>
            </a:r>
            <a:r>
              <a:rPr kumimoji="0" lang="en-US" altLang="zh-CN" sz="2800"/>
              <a:t>C</a:t>
            </a:r>
            <a:r>
              <a:rPr kumimoji="0" lang="en-US" altLang="zh-CN" sz="2800" baseline="-25000"/>
              <a:t>3</a:t>
            </a:r>
            <a:r>
              <a:rPr kumimoji="0" lang="en-US" altLang="zh-CN" sz="2800"/>
              <a:t>: </a:t>
            </a:r>
            <a:r>
              <a:rPr kumimoji="0" lang="en-US" altLang="zh-CN" sz="2800">
                <a:solidFill>
                  <a:srgbClr val="FF0000"/>
                </a:solidFill>
              </a:rPr>
              <a:t>000</a:t>
            </a:r>
            <a:r>
              <a:rPr kumimoji="0" lang="en-US" altLang="zh-CN" sz="2800" b="0"/>
              <a:t> → </a:t>
            </a:r>
            <a:r>
              <a:rPr kumimoji="0" lang="en-US" altLang="zh-CN" sz="2800">
                <a:solidFill>
                  <a:srgbClr val="FF0000"/>
                </a:solidFill>
              </a:rPr>
              <a:t>100</a:t>
            </a:r>
            <a:r>
              <a:rPr kumimoji="0" lang="en-US" altLang="zh-CN" sz="2800" b="0"/>
              <a:t> → </a:t>
            </a:r>
            <a:r>
              <a:rPr kumimoji="0" lang="en-US" altLang="zh-CN" sz="2800">
                <a:solidFill>
                  <a:srgbClr val="FF0000"/>
                </a:solidFill>
              </a:rPr>
              <a:t>110</a:t>
            </a:r>
            <a:r>
              <a:rPr kumimoji="0" lang="en-US" altLang="zh-CN" sz="2800" b="0"/>
              <a:t> → </a:t>
            </a:r>
            <a:r>
              <a:rPr kumimoji="0" lang="en-US" altLang="zh-CN" sz="2800">
                <a:solidFill>
                  <a:srgbClr val="FF0000"/>
                </a:solidFill>
              </a:rPr>
              <a:t>111</a:t>
            </a:r>
            <a:r>
              <a:rPr kumimoji="0" lang="en-US" altLang="zh-CN" sz="2800" b="0"/>
              <a:t> → 000 → 100</a:t>
            </a:r>
            <a:endParaRPr kumimoji="0" lang="en-US" altLang="zh-CN" sz="2800" b="0"/>
          </a:p>
        </p:txBody>
      </p:sp>
      <p:sp>
        <p:nvSpPr>
          <p:cNvPr id="76804" name="Rectangle 4"/>
          <p:cNvSpPr>
            <a:spLocks noChangeArrowheads="1"/>
          </p:cNvSpPr>
          <p:nvPr/>
        </p:nvSpPr>
        <p:spPr bwMode="auto">
          <a:xfrm>
            <a:off x="2068513" y="28765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05" name="Text Box 5"/>
          <p:cNvSpPr txBox="1">
            <a:spLocks noChangeArrowheads="1"/>
          </p:cNvSpPr>
          <p:nvPr/>
        </p:nvSpPr>
        <p:spPr bwMode="auto">
          <a:xfrm>
            <a:off x="2105025" y="28352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06" name="Text Box 6"/>
          <p:cNvSpPr txBox="1">
            <a:spLocks noChangeArrowheads="1"/>
          </p:cNvSpPr>
          <p:nvPr/>
        </p:nvSpPr>
        <p:spPr bwMode="auto">
          <a:xfrm>
            <a:off x="2962275" y="28352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07" name="Line 7"/>
          <p:cNvSpPr>
            <a:spLocks noChangeShapeType="1"/>
          </p:cNvSpPr>
          <p:nvPr/>
        </p:nvSpPr>
        <p:spPr bwMode="auto">
          <a:xfrm>
            <a:off x="3040063" y="29194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08" name="Text Box 8"/>
          <p:cNvSpPr txBox="1">
            <a:spLocks noChangeArrowheads="1"/>
          </p:cNvSpPr>
          <p:nvPr/>
        </p:nvSpPr>
        <p:spPr bwMode="auto">
          <a:xfrm>
            <a:off x="2119313" y="33210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09" name="Text Box 9"/>
          <p:cNvSpPr txBox="1">
            <a:spLocks noChangeArrowheads="1"/>
          </p:cNvSpPr>
          <p:nvPr/>
        </p:nvSpPr>
        <p:spPr bwMode="auto">
          <a:xfrm>
            <a:off x="2490788" y="31067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0" name="Text Box 10"/>
          <p:cNvSpPr txBox="1">
            <a:spLocks noChangeArrowheads="1"/>
          </p:cNvSpPr>
          <p:nvPr/>
        </p:nvSpPr>
        <p:spPr bwMode="auto">
          <a:xfrm>
            <a:off x="2933700" y="34544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1" name="Oval 11"/>
          <p:cNvSpPr>
            <a:spLocks noChangeArrowheads="1"/>
          </p:cNvSpPr>
          <p:nvPr/>
        </p:nvSpPr>
        <p:spPr bwMode="auto">
          <a:xfrm>
            <a:off x="3340100" y="32480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12" name="Rectangle 12"/>
          <p:cNvSpPr>
            <a:spLocks noChangeArrowheads="1"/>
          </p:cNvSpPr>
          <p:nvPr/>
        </p:nvSpPr>
        <p:spPr bwMode="auto">
          <a:xfrm>
            <a:off x="4240213" y="28765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13" name="Text Box 13"/>
          <p:cNvSpPr txBox="1">
            <a:spLocks noChangeArrowheads="1"/>
          </p:cNvSpPr>
          <p:nvPr/>
        </p:nvSpPr>
        <p:spPr bwMode="auto">
          <a:xfrm>
            <a:off x="4276725" y="28352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4" name="Text Box 14"/>
          <p:cNvSpPr txBox="1">
            <a:spLocks noChangeArrowheads="1"/>
          </p:cNvSpPr>
          <p:nvPr/>
        </p:nvSpPr>
        <p:spPr bwMode="auto">
          <a:xfrm>
            <a:off x="5133975" y="28352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5" name="Line 15"/>
          <p:cNvSpPr>
            <a:spLocks noChangeShapeType="1"/>
          </p:cNvSpPr>
          <p:nvPr/>
        </p:nvSpPr>
        <p:spPr bwMode="auto">
          <a:xfrm>
            <a:off x="5211763" y="29194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16" name="Text Box 16"/>
          <p:cNvSpPr txBox="1">
            <a:spLocks noChangeArrowheads="1"/>
          </p:cNvSpPr>
          <p:nvPr/>
        </p:nvSpPr>
        <p:spPr bwMode="auto">
          <a:xfrm>
            <a:off x="4291013" y="33210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7" name="Text Box 17"/>
          <p:cNvSpPr txBox="1">
            <a:spLocks noChangeArrowheads="1"/>
          </p:cNvSpPr>
          <p:nvPr/>
        </p:nvSpPr>
        <p:spPr bwMode="auto">
          <a:xfrm>
            <a:off x="4662488" y="31067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8" name="Text Box 18"/>
          <p:cNvSpPr txBox="1">
            <a:spLocks noChangeArrowheads="1"/>
          </p:cNvSpPr>
          <p:nvPr/>
        </p:nvSpPr>
        <p:spPr bwMode="auto">
          <a:xfrm>
            <a:off x="5105400" y="34544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9" name="Oval 19"/>
          <p:cNvSpPr>
            <a:spLocks noChangeArrowheads="1"/>
          </p:cNvSpPr>
          <p:nvPr/>
        </p:nvSpPr>
        <p:spPr bwMode="auto">
          <a:xfrm>
            <a:off x="5511800" y="32480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20" name="Rectangle 20"/>
          <p:cNvSpPr>
            <a:spLocks noChangeArrowheads="1"/>
          </p:cNvSpPr>
          <p:nvPr/>
        </p:nvSpPr>
        <p:spPr bwMode="auto">
          <a:xfrm>
            <a:off x="6311900" y="2876550"/>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21" name="Text Box 21"/>
          <p:cNvSpPr txBox="1">
            <a:spLocks noChangeArrowheads="1"/>
          </p:cNvSpPr>
          <p:nvPr/>
        </p:nvSpPr>
        <p:spPr bwMode="auto">
          <a:xfrm>
            <a:off x="6348413" y="28352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2" name="Text Box 22"/>
          <p:cNvSpPr txBox="1">
            <a:spLocks noChangeArrowheads="1"/>
          </p:cNvSpPr>
          <p:nvPr/>
        </p:nvSpPr>
        <p:spPr bwMode="auto">
          <a:xfrm>
            <a:off x="7205663" y="28352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3" name="Line 23"/>
          <p:cNvSpPr>
            <a:spLocks noChangeShapeType="1"/>
          </p:cNvSpPr>
          <p:nvPr/>
        </p:nvSpPr>
        <p:spPr bwMode="auto">
          <a:xfrm>
            <a:off x="7283450" y="2919413"/>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24" name="Text Box 24"/>
          <p:cNvSpPr txBox="1">
            <a:spLocks noChangeArrowheads="1"/>
          </p:cNvSpPr>
          <p:nvPr/>
        </p:nvSpPr>
        <p:spPr bwMode="auto">
          <a:xfrm>
            <a:off x="6362700" y="3321050"/>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5" name="Text Box 25"/>
          <p:cNvSpPr txBox="1">
            <a:spLocks noChangeArrowheads="1"/>
          </p:cNvSpPr>
          <p:nvPr/>
        </p:nvSpPr>
        <p:spPr bwMode="auto">
          <a:xfrm>
            <a:off x="6734175" y="3106738"/>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6" name="Text Box 26"/>
          <p:cNvSpPr txBox="1">
            <a:spLocks noChangeArrowheads="1"/>
          </p:cNvSpPr>
          <p:nvPr/>
        </p:nvSpPr>
        <p:spPr bwMode="auto">
          <a:xfrm>
            <a:off x="7177088" y="3454400"/>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7" name="Oval 27"/>
          <p:cNvSpPr>
            <a:spLocks noChangeArrowheads="1"/>
          </p:cNvSpPr>
          <p:nvPr/>
        </p:nvSpPr>
        <p:spPr bwMode="auto">
          <a:xfrm>
            <a:off x="7583488" y="3248025"/>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28" name="Line 28"/>
          <p:cNvSpPr>
            <a:spLocks noChangeShapeType="1"/>
          </p:cNvSpPr>
          <p:nvPr/>
        </p:nvSpPr>
        <p:spPr bwMode="auto">
          <a:xfrm>
            <a:off x="3440113" y="32908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29" name="Rectangle 29"/>
          <p:cNvSpPr>
            <a:spLocks noChangeArrowheads="1"/>
          </p:cNvSpPr>
          <p:nvPr/>
        </p:nvSpPr>
        <p:spPr bwMode="auto">
          <a:xfrm>
            <a:off x="1882775" y="4891088"/>
            <a:ext cx="1271588"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30" name="Text Box 30"/>
          <p:cNvSpPr txBox="1">
            <a:spLocks noChangeArrowheads="1"/>
          </p:cNvSpPr>
          <p:nvPr/>
        </p:nvSpPr>
        <p:spPr bwMode="auto">
          <a:xfrm>
            <a:off x="1919288" y="48498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1" name="Text Box 31"/>
          <p:cNvSpPr txBox="1">
            <a:spLocks noChangeArrowheads="1"/>
          </p:cNvSpPr>
          <p:nvPr/>
        </p:nvSpPr>
        <p:spPr bwMode="auto">
          <a:xfrm>
            <a:off x="2776538" y="48498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2" name="Line 32"/>
          <p:cNvSpPr>
            <a:spLocks noChangeShapeType="1"/>
          </p:cNvSpPr>
          <p:nvPr/>
        </p:nvSpPr>
        <p:spPr bwMode="auto">
          <a:xfrm>
            <a:off x="2854325" y="4933950"/>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33" name="Text Box 33"/>
          <p:cNvSpPr txBox="1">
            <a:spLocks noChangeArrowheads="1"/>
          </p:cNvSpPr>
          <p:nvPr/>
        </p:nvSpPr>
        <p:spPr bwMode="auto">
          <a:xfrm>
            <a:off x="1933575" y="5335588"/>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4" name="Text Box 34"/>
          <p:cNvSpPr txBox="1">
            <a:spLocks noChangeArrowheads="1"/>
          </p:cNvSpPr>
          <p:nvPr/>
        </p:nvSpPr>
        <p:spPr bwMode="auto">
          <a:xfrm>
            <a:off x="2305050" y="5121275"/>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5" name="Text Box 35"/>
          <p:cNvSpPr txBox="1">
            <a:spLocks noChangeArrowheads="1"/>
          </p:cNvSpPr>
          <p:nvPr/>
        </p:nvSpPr>
        <p:spPr bwMode="auto">
          <a:xfrm>
            <a:off x="2747963" y="5478463"/>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6" name="Oval 36"/>
          <p:cNvSpPr>
            <a:spLocks noChangeArrowheads="1"/>
          </p:cNvSpPr>
          <p:nvPr/>
        </p:nvSpPr>
        <p:spPr bwMode="auto">
          <a:xfrm>
            <a:off x="1797050" y="5262563"/>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37" name="AutoShape 37"/>
          <p:cNvSpPr>
            <a:spLocks noChangeArrowheads="1"/>
          </p:cNvSpPr>
          <p:nvPr/>
        </p:nvSpPr>
        <p:spPr bwMode="auto">
          <a:xfrm rot="-5400000">
            <a:off x="3449638" y="4324350"/>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6838" name="AutoShape 38"/>
          <p:cNvSpPr>
            <a:spLocks noChangeArrowheads="1"/>
          </p:cNvSpPr>
          <p:nvPr/>
        </p:nvSpPr>
        <p:spPr bwMode="auto">
          <a:xfrm rot="-5400000">
            <a:off x="2220913" y="4319588"/>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6839" name="AutoShape 39"/>
          <p:cNvSpPr>
            <a:spLocks noChangeArrowheads="1"/>
          </p:cNvSpPr>
          <p:nvPr/>
        </p:nvSpPr>
        <p:spPr bwMode="auto">
          <a:xfrm rot="-5400000">
            <a:off x="3763963" y="1909763"/>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2968" name="AutoShape 40"/>
          <p:cNvSpPr>
            <a:spLocks noChangeArrowheads="1"/>
          </p:cNvSpPr>
          <p:nvPr/>
        </p:nvSpPr>
        <p:spPr bwMode="auto">
          <a:xfrm rot="-5400000">
            <a:off x="4392613" y="19097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69" name="AutoShape 41"/>
          <p:cNvSpPr>
            <a:spLocks noChangeArrowheads="1"/>
          </p:cNvSpPr>
          <p:nvPr/>
        </p:nvSpPr>
        <p:spPr bwMode="auto">
          <a:xfrm rot="-5400000">
            <a:off x="5921375" y="1905000"/>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70" name="AutoShape 42"/>
          <p:cNvSpPr>
            <a:spLocks noChangeArrowheads="1"/>
          </p:cNvSpPr>
          <p:nvPr/>
        </p:nvSpPr>
        <p:spPr bwMode="auto">
          <a:xfrm rot="-5400000">
            <a:off x="7850188" y="19097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71" name="Oval 43"/>
          <p:cNvSpPr>
            <a:spLocks noChangeArrowheads="1"/>
          </p:cNvSpPr>
          <p:nvPr/>
        </p:nvSpPr>
        <p:spPr bwMode="auto">
          <a:xfrm>
            <a:off x="2330450" y="42386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2972" name="Oval 44"/>
          <p:cNvSpPr>
            <a:spLocks noChangeArrowheads="1"/>
          </p:cNvSpPr>
          <p:nvPr/>
        </p:nvSpPr>
        <p:spPr bwMode="auto">
          <a:xfrm>
            <a:off x="3559175" y="424338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2973" name="AutoShape 45"/>
          <p:cNvSpPr>
            <a:spLocks noChangeArrowheads="1"/>
          </p:cNvSpPr>
          <p:nvPr/>
        </p:nvSpPr>
        <p:spPr bwMode="auto">
          <a:xfrm rot="-5400000">
            <a:off x="2959100" y="19145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74" name="Oval 46"/>
          <p:cNvSpPr>
            <a:spLocks noChangeArrowheads="1"/>
          </p:cNvSpPr>
          <p:nvPr/>
        </p:nvSpPr>
        <p:spPr bwMode="auto">
          <a:xfrm>
            <a:off x="3068638" y="18335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2975" name="AutoShape 47"/>
          <p:cNvSpPr>
            <a:spLocks noChangeArrowheads="1"/>
          </p:cNvSpPr>
          <p:nvPr/>
        </p:nvSpPr>
        <p:spPr bwMode="auto">
          <a:xfrm rot="-5400000">
            <a:off x="7259638" y="19097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76" name="Oval 48"/>
          <p:cNvSpPr>
            <a:spLocks noChangeArrowheads="1"/>
          </p:cNvSpPr>
          <p:nvPr/>
        </p:nvSpPr>
        <p:spPr bwMode="auto">
          <a:xfrm>
            <a:off x="7369175" y="182880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6849" name="Line 49"/>
          <p:cNvSpPr>
            <a:spLocks noChangeShapeType="1"/>
          </p:cNvSpPr>
          <p:nvPr/>
        </p:nvSpPr>
        <p:spPr bwMode="auto">
          <a:xfrm>
            <a:off x="1611313" y="5305425"/>
            <a:ext cx="1857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0" name="Text Box 50"/>
          <p:cNvSpPr txBox="1">
            <a:spLocks noChangeArrowheads="1"/>
          </p:cNvSpPr>
          <p:nvPr/>
        </p:nvSpPr>
        <p:spPr bwMode="auto">
          <a:xfrm>
            <a:off x="1833563" y="5078413"/>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51" name="Line 51"/>
          <p:cNvSpPr>
            <a:spLocks noChangeShapeType="1"/>
          </p:cNvSpPr>
          <p:nvPr/>
        </p:nvSpPr>
        <p:spPr bwMode="auto">
          <a:xfrm>
            <a:off x="1168400" y="4710113"/>
            <a:ext cx="0" cy="11668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2" name="Line 52"/>
          <p:cNvSpPr>
            <a:spLocks noChangeShapeType="1"/>
          </p:cNvSpPr>
          <p:nvPr/>
        </p:nvSpPr>
        <p:spPr bwMode="auto">
          <a:xfrm>
            <a:off x="1158875" y="5867400"/>
            <a:ext cx="33861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3" name="Line 53"/>
          <p:cNvSpPr>
            <a:spLocks noChangeShapeType="1"/>
          </p:cNvSpPr>
          <p:nvPr/>
        </p:nvSpPr>
        <p:spPr bwMode="auto">
          <a:xfrm>
            <a:off x="2111375" y="5676900"/>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4" name="Line 54"/>
          <p:cNvSpPr>
            <a:spLocks noChangeShapeType="1"/>
          </p:cNvSpPr>
          <p:nvPr/>
        </p:nvSpPr>
        <p:spPr bwMode="auto">
          <a:xfrm>
            <a:off x="2111375" y="6048375"/>
            <a:ext cx="595788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5" name="Line 55"/>
          <p:cNvSpPr>
            <a:spLocks noChangeShapeType="1"/>
          </p:cNvSpPr>
          <p:nvPr/>
        </p:nvSpPr>
        <p:spPr bwMode="auto">
          <a:xfrm>
            <a:off x="2944813" y="56769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2984" name="Oval 56"/>
          <p:cNvSpPr>
            <a:spLocks noChangeArrowheads="1"/>
          </p:cNvSpPr>
          <p:nvPr/>
        </p:nvSpPr>
        <p:spPr bwMode="auto">
          <a:xfrm>
            <a:off x="2911475" y="58293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57" name="Line 57"/>
          <p:cNvSpPr>
            <a:spLocks noChangeShapeType="1"/>
          </p:cNvSpPr>
          <p:nvPr/>
        </p:nvSpPr>
        <p:spPr bwMode="auto">
          <a:xfrm>
            <a:off x="1163638" y="4714875"/>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8" name="Line 58"/>
          <p:cNvSpPr>
            <a:spLocks noChangeShapeType="1"/>
          </p:cNvSpPr>
          <p:nvPr/>
        </p:nvSpPr>
        <p:spPr bwMode="auto">
          <a:xfrm flipV="1">
            <a:off x="2278063" y="46005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9" name="Line 59"/>
          <p:cNvSpPr>
            <a:spLocks noChangeShapeType="1"/>
          </p:cNvSpPr>
          <p:nvPr/>
        </p:nvSpPr>
        <p:spPr bwMode="auto">
          <a:xfrm flipV="1">
            <a:off x="2106613" y="477202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0" name="Line 60"/>
          <p:cNvSpPr>
            <a:spLocks noChangeShapeType="1"/>
          </p:cNvSpPr>
          <p:nvPr/>
        </p:nvSpPr>
        <p:spPr bwMode="auto">
          <a:xfrm>
            <a:off x="2106613" y="4781550"/>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1" name="Line 61"/>
          <p:cNvSpPr>
            <a:spLocks noChangeShapeType="1"/>
          </p:cNvSpPr>
          <p:nvPr/>
        </p:nvSpPr>
        <p:spPr bwMode="auto">
          <a:xfrm>
            <a:off x="2430463" y="460057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2" name="Line 62"/>
          <p:cNvSpPr>
            <a:spLocks noChangeShapeType="1"/>
          </p:cNvSpPr>
          <p:nvPr/>
        </p:nvSpPr>
        <p:spPr bwMode="auto">
          <a:xfrm>
            <a:off x="2420938" y="4714875"/>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3" name="Line 63"/>
          <p:cNvSpPr>
            <a:spLocks noChangeShapeType="1"/>
          </p:cNvSpPr>
          <p:nvPr/>
        </p:nvSpPr>
        <p:spPr bwMode="auto">
          <a:xfrm flipV="1">
            <a:off x="2973388" y="470535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4" name="Line 64"/>
          <p:cNvSpPr>
            <a:spLocks noChangeShapeType="1"/>
          </p:cNvSpPr>
          <p:nvPr/>
        </p:nvSpPr>
        <p:spPr bwMode="auto">
          <a:xfrm flipV="1">
            <a:off x="3506788" y="461010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5" name="Line 65"/>
          <p:cNvSpPr>
            <a:spLocks noChangeShapeType="1"/>
          </p:cNvSpPr>
          <p:nvPr/>
        </p:nvSpPr>
        <p:spPr bwMode="auto">
          <a:xfrm>
            <a:off x="3678238" y="4610100"/>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6" name="Line 66"/>
          <p:cNvSpPr>
            <a:spLocks noChangeShapeType="1"/>
          </p:cNvSpPr>
          <p:nvPr/>
        </p:nvSpPr>
        <p:spPr bwMode="auto">
          <a:xfrm>
            <a:off x="3673475" y="4781550"/>
            <a:ext cx="17478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7" name="AutoShape 67"/>
          <p:cNvSpPr>
            <a:spLocks noChangeArrowheads="1"/>
          </p:cNvSpPr>
          <p:nvPr/>
        </p:nvSpPr>
        <p:spPr bwMode="auto">
          <a:xfrm rot="-5400000" flipH="1" flipV="1">
            <a:off x="4911725" y="5233988"/>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2996" name="Oval 68"/>
          <p:cNvSpPr>
            <a:spLocks noChangeArrowheads="1"/>
          </p:cNvSpPr>
          <p:nvPr/>
        </p:nvSpPr>
        <p:spPr bwMode="auto">
          <a:xfrm>
            <a:off x="4873625" y="532447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6869" name="Line 69"/>
          <p:cNvSpPr>
            <a:spLocks noChangeShapeType="1"/>
          </p:cNvSpPr>
          <p:nvPr/>
        </p:nvSpPr>
        <p:spPr bwMode="auto">
          <a:xfrm flipH="1">
            <a:off x="4535488" y="5362575"/>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0" name="Line 70"/>
          <p:cNvSpPr>
            <a:spLocks noChangeShapeType="1"/>
          </p:cNvSpPr>
          <p:nvPr/>
        </p:nvSpPr>
        <p:spPr bwMode="auto">
          <a:xfrm>
            <a:off x="4545013" y="5362575"/>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1" name="Rectangle 71"/>
          <p:cNvSpPr>
            <a:spLocks noChangeArrowheads="1"/>
          </p:cNvSpPr>
          <p:nvPr/>
        </p:nvSpPr>
        <p:spPr bwMode="auto">
          <a:xfrm>
            <a:off x="5688013" y="5048250"/>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rPr>
              <a:t>时钟源</a:t>
            </a:r>
            <a:endParaRPr kumimoji="0" lang="zh-CN" altLang="en-US" sz="2400">
              <a:solidFill>
                <a:schemeClr val="bg1"/>
              </a:solidFill>
              <a:latin typeface="Tahoma" panose="020B0604030504040204" pitchFamily="34" charset="0"/>
            </a:endParaRPr>
          </a:p>
        </p:txBody>
      </p:sp>
      <p:sp>
        <p:nvSpPr>
          <p:cNvPr id="76872" name="Line 72"/>
          <p:cNvSpPr>
            <a:spLocks noChangeShapeType="1"/>
          </p:cNvSpPr>
          <p:nvPr/>
        </p:nvSpPr>
        <p:spPr bwMode="auto">
          <a:xfrm>
            <a:off x="5192713" y="5362575"/>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3" name="Line 73"/>
          <p:cNvSpPr>
            <a:spLocks noChangeShapeType="1"/>
          </p:cNvSpPr>
          <p:nvPr/>
        </p:nvSpPr>
        <p:spPr bwMode="auto">
          <a:xfrm>
            <a:off x="5411788" y="4772025"/>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02" name="Oval 74"/>
          <p:cNvSpPr>
            <a:spLocks noChangeArrowheads="1"/>
          </p:cNvSpPr>
          <p:nvPr/>
        </p:nvSpPr>
        <p:spPr bwMode="auto">
          <a:xfrm>
            <a:off x="5368925" y="53244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75" name="Line 75"/>
          <p:cNvSpPr>
            <a:spLocks noChangeShapeType="1"/>
          </p:cNvSpPr>
          <p:nvPr/>
        </p:nvSpPr>
        <p:spPr bwMode="auto">
          <a:xfrm flipV="1">
            <a:off x="2373313" y="412432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6" name="Line 76"/>
          <p:cNvSpPr>
            <a:spLocks noChangeShapeType="1"/>
          </p:cNvSpPr>
          <p:nvPr/>
        </p:nvSpPr>
        <p:spPr bwMode="auto">
          <a:xfrm>
            <a:off x="2363788" y="4124325"/>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7" name="Line 77"/>
          <p:cNvSpPr>
            <a:spLocks noChangeShapeType="1"/>
          </p:cNvSpPr>
          <p:nvPr/>
        </p:nvSpPr>
        <p:spPr bwMode="auto">
          <a:xfrm flipV="1">
            <a:off x="3135313" y="366712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8" name="Line 78"/>
          <p:cNvSpPr>
            <a:spLocks noChangeShapeType="1"/>
          </p:cNvSpPr>
          <p:nvPr/>
        </p:nvSpPr>
        <p:spPr bwMode="auto">
          <a:xfrm flipV="1">
            <a:off x="3602038" y="3276600"/>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9" name="Line 79"/>
          <p:cNvSpPr>
            <a:spLocks noChangeShapeType="1"/>
          </p:cNvSpPr>
          <p:nvPr/>
        </p:nvSpPr>
        <p:spPr bwMode="auto">
          <a:xfrm flipV="1">
            <a:off x="2297113" y="26670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0" name="Line 80"/>
          <p:cNvSpPr>
            <a:spLocks noChangeShapeType="1"/>
          </p:cNvSpPr>
          <p:nvPr/>
        </p:nvSpPr>
        <p:spPr bwMode="auto">
          <a:xfrm>
            <a:off x="2287588" y="26765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1" name="Line 81"/>
          <p:cNvSpPr>
            <a:spLocks noChangeShapeType="1"/>
          </p:cNvSpPr>
          <p:nvPr/>
        </p:nvSpPr>
        <p:spPr bwMode="auto">
          <a:xfrm flipV="1">
            <a:off x="3830638" y="21907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2" name="Line 82"/>
          <p:cNvSpPr>
            <a:spLocks noChangeShapeType="1"/>
          </p:cNvSpPr>
          <p:nvPr/>
        </p:nvSpPr>
        <p:spPr bwMode="auto">
          <a:xfrm>
            <a:off x="3821113" y="3762375"/>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3" name="Line 83"/>
          <p:cNvSpPr>
            <a:spLocks noChangeShapeType="1"/>
          </p:cNvSpPr>
          <p:nvPr/>
        </p:nvSpPr>
        <p:spPr bwMode="auto">
          <a:xfrm flipV="1">
            <a:off x="4478338" y="36576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4" name="Line 84"/>
          <p:cNvSpPr>
            <a:spLocks noChangeShapeType="1"/>
          </p:cNvSpPr>
          <p:nvPr/>
        </p:nvSpPr>
        <p:spPr bwMode="auto">
          <a:xfrm>
            <a:off x="3592513" y="3924300"/>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13" name="Oval 85"/>
          <p:cNvSpPr>
            <a:spLocks noChangeArrowheads="1"/>
          </p:cNvSpPr>
          <p:nvPr/>
        </p:nvSpPr>
        <p:spPr bwMode="auto">
          <a:xfrm>
            <a:off x="3568700" y="38862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86" name="Line 86"/>
          <p:cNvSpPr>
            <a:spLocks noChangeShapeType="1"/>
          </p:cNvSpPr>
          <p:nvPr/>
        </p:nvSpPr>
        <p:spPr bwMode="auto">
          <a:xfrm flipV="1">
            <a:off x="7373938" y="36576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7" name="Line 87"/>
          <p:cNvSpPr>
            <a:spLocks noChangeShapeType="1"/>
          </p:cNvSpPr>
          <p:nvPr/>
        </p:nvSpPr>
        <p:spPr bwMode="auto">
          <a:xfrm flipV="1">
            <a:off x="5307013" y="36576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16" name="Oval 88"/>
          <p:cNvSpPr>
            <a:spLocks noChangeArrowheads="1"/>
          </p:cNvSpPr>
          <p:nvPr/>
        </p:nvSpPr>
        <p:spPr bwMode="auto">
          <a:xfrm>
            <a:off x="3092450" y="40767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017" name="Oval 89"/>
          <p:cNvSpPr>
            <a:spLocks noChangeArrowheads="1"/>
          </p:cNvSpPr>
          <p:nvPr/>
        </p:nvSpPr>
        <p:spPr bwMode="auto">
          <a:xfrm>
            <a:off x="5273675" y="40862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90" name="Line 90"/>
          <p:cNvSpPr>
            <a:spLocks noChangeShapeType="1"/>
          </p:cNvSpPr>
          <p:nvPr/>
        </p:nvSpPr>
        <p:spPr bwMode="auto">
          <a:xfrm>
            <a:off x="5621338" y="330041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1" name="Line 91"/>
          <p:cNvSpPr>
            <a:spLocks noChangeShapeType="1"/>
          </p:cNvSpPr>
          <p:nvPr/>
        </p:nvSpPr>
        <p:spPr bwMode="auto">
          <a:xfrm flipV="1">
            <a:off x="5783263" y="3286125"/>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20" name="Oval 92"/>
          <p:cNvSpPr>
            <a:spLocks noChangeArrowheads="1"/>
          </p:cNvSpPr>
          <p:nvPr/>
        </p:nvSpPr>
        <p:spPr bwMode="auto">
          <a:xfrm>
            <a:off x="5749925" y="38957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93" name="Line 93"/>
          <p:cNvSpPr>
            <a:spLocks noChangeShapeType="1"/>
          </p:cNvSpPr>
          <p:nvPr/>
        </p:nvSpPr>
        <p:spPr bwMode="auto">
          <a:xfrm>
            <a:off x="7678738" y="32908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4" name="Line 94"/>
          <p:cNvSpPr>
            <a:spLocks noChangeShapeType="1"/>
          </p:cNvSpPr>
          <p:nvPr/>
        </p:nvSpPr>
        <p:spPr bwMode="auto">
          <a:xfrm flipV="1">
            <a:off x="7840663" y="3276600"/>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5" name="Line 95"/>
          <p:cNvSpPr>
            <a:spLocks noChangeShapeType="1"/>
          </p:cNvSpPr>
          <p:nvPr/>
        </p:nvSpPr>
        <p:spPr bwMode="auto">
          <a:xfrm flipV="1">
            <a:off x="4459288" y="2190750"/>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6" name="Line 96"/>
          <p:cNvSpPr>
            <a:spLocks noChangeShapeType="1"/>
          </p:cNvSpPr>
          <p:nvPr/>
        </p:nvSpPr>
        <p:spPr bwMode="auto">
          <a:xfrm>
            <a:off x="4449763" y="26765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7" name="Line 97"/>
          <p:cNvSpPr>
            <a:spLocks noChangeShapeType="1"/>
          </p:cNvSpPr>
          <p:nvPr/>
        </p:nvSpPr>
        <p:spPr bwMode="auto">
          <a:xfrm flipV="1">
            <a:off x="5992813" y="21907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8" name="Line 98"/>
          <p:cNvSpPr>
            <a:spLocks noChangeShapeType="1"/>
          </p:cNvSpPr>
          <p:nvPr/>
        </p:nvSpPr>
        <p:spPr bwMode="auto">
          <a:xfrm>
            <a:off x="5983288" y="3762375"/>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9" name="Line 99"/>
          <p:cNvSpPr>
            <a:spLocks noChangeShapeType="1"/>
          </p:cNvSpPr>
          <p:nvPr/>
        </p:nvSpPr>
        <p:spPr bwMode="auto">
          <a:xfrm flipV="1">
            <a:off x="6554788" y="36576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0" name="Line 100"/>
          <p:cNvSpPr>
            <a:spLocks noChangeShapeType="1"/>
          </p:cNvSpPr>
          <p:nvPr/>
        </p:nvSpPr>
        <p:spPr bwMode="auto">
          <a:xfrm flipV="1">
            <a:off x="8059738" y="2190750"/>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1" name="Line 101"/>
          <p:cNvSpPr>
            <a:spLocks noChangeShapeType="1"/>
          </p:cNvSpPr>
          <p:nvPr/>
        </p:nvSpPr>
        <p:spPr bwMode="auto">
          <a:xfrm>
            <a:off x="6497638" y="26765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2" name="Line 102"/>
          <p:cNvSpPr>
            <a:spLocks noChangeShapeType="1"/>
          </p:cNvSpPr>
          <p:nvPr/>
        </p:nvSpPr>
        <p:spPr bwMode="auto">
          <a:xfrm flipV="1">
            <a:off x="6497638" y="26670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3" name="Line 103"/>
          <p:cNvSpPr>
            <a:spLocks noChangeShapeType="1"/>
          </p:cNvSpPr>
          <p:nvPr/>
        </p:nvSpPr>
        <p:spPr bwMode="auto">
          <a:xfrm>
            <a:off x="2306638" y="36671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32" name="Oval 104"/>
          <p:cNvSpPr>
            <a:spLocks noChangeArrowheads="1"/>
          </p:cNvSpPr>
          <p:nvPr/>
        </p:nvSpPr>
        <p:spPr bwMode="auto">
          <a:xfrm>
            <a:off x="2263775" y="39052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6905" name="Text Box 105"/>
          <p:cNvSpPr txBox="1">
            <a:spLocks noChangeArrowheads="1"/>
          </p:cNvSpPr>
          <p:nvPr/>
        </p:nvSpPr>
        <p:spPr bwMode="auto">
          <a:xfrm>
            <a:off x="1562100" y="3683000"/>
            <a:ext cx="77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6906" name="Line 106"/>
          <p:cNvSpPr>
            <a:spLocks noChangeShapeType="1"/>
          </p:cNvSpPr>
          <p:nvPr/>
        </p:nvSpPr>
        <p:spPr bwMode="auto">
          <a:xfrm flipV="1">
            <a:off x="3106738" y="2190750"/>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35" name="Oval 107"/>
          <p:cNvSpPr>
            <a:spLocks noChangeArrowheads="1"/>
          </p:cNvSpPr>
          <p:nvPr/>
        </p:nvSpPr>
        <p:spPr bwMode="auto">
          <a:xfrm>
            <a:off x="3787775" y="26384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908" name="Line 108"/>
          <p:cNvSpPr>
            <a:spLocks noChangeShapeType="1"/>
          </p:cNvSpPr>
          <p:nvPr/>
        </p:nvSpPr>
        <p:spPr bwMode="auto">
          <a:xfrm flipV="1">
            <a:off x="5326063" y="2505075"/>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9" name="Line 109"/>
          <p:cNvSpPr>
            <a:spLocks noChangeShapeType="1"/>
          </p:cNvSpPr>
          <p:nvPr/>
        </p:nvSpPr>
        <p:spPr bwMode="auto">
          <a:xfrm flipH="1">
            <a:off x="3983038" y="2505075"/>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0" name="Line 110"/>
          <p:cNvSpPr>
            <a:spLocks noChangeShapeType="1"/>
          </p:cNvSpPr>
          <p:nvPr/>
        </p:nvSpPr>
        <p:spPr bwMode="auto">
          <a:xfrm flipV="1">
            <a:off x="3983038" y="21907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39" name="Oval 111"/>
          <p:cNvSpPr>
            <a:spLocks noChangeArrowheads="1"/>
          </p:cNvSpPr>
          <p:nvPr/>
        </p:nvSpPr>
        <p:spPr bwMode="auto">
          <a:xfrm>
            <a:off x="4425950" y="26384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912" name="Line 112"/>
          <p:cNvSpPr>
            <a:spLocks noChangeShapeType="1"/>
          </p:cNvSpPr>
          <p:nvPr/>
        </p:nvSpPr>
        <p:spPr bwMode="auto">
          <a:xfrm flipV="1">
            <a:off x="4602163" y="21907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3" name="Text Box 113"/>
          <p:cNvSpPr txBox="1">
            <a:spLocks noChangeArrowheads="1"/>
          </p:cNvSpPr>
          <p:nvPr/>
        </p:nvSpPr>
        <p:spPr bwMode="auto">
          <a:xfrm>
            <a:off x="4533900" y="2168525"/>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3042" name="Oval 114"/>
          <p:cNvSpPr>
            <a:spLocks noChangeArrowheads="1"/>
          </p:cNvSpPr>
          <p:nvPr/>
        </p:nvSpPr>
        <p:spPr bwMode="auto">
          <a:xfrm>
            <a:off x="3073400" y="26289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915" name="Line 115"/>
          <p:cNvSpPr>
            <a:spLocks noChangeShapeType="1"/>
          </p:cNvSpPr>
          <p:nvPr/>
        </p:nvSpPr>
        <p:spPr bwMode="auto">
          <a:xfrm flipV="1">
            <a:off x="7402513" y="2200275"/>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6" name="Line 116"/>
          <p:cNvSpPr>
            <a:spLocks noChangeShapeType="1"/>
          </p:cNvSpPr>
          <p:nvPr/>
        </p:nvSpPr>
        <p:spPr bwMode="auto">
          <a:xfrm flipH="1">
            <a:off x="6126163" y="2505075"/>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7" name="Line 117"/>
          <p:cNvSpPr>
            <a:spLocks noChangeShapeType="1"/>
          </p:cNvSpPr>
          <p:nvPr/>
        </p:nvSpPr>
        <p:spPr bwMode="auto">
          <a:xfrm flipV="1">
            <a:off x="6126163" y="21907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8" name="Line 118"/>
          <p:cNvSpPr>
            <a:spLocks noChangeShapeType="1"/>
          </p:cNvSpPr>
          <p:nvPr/>
        </p:nvSpPr>
        <p:spPr bwMode="auto">
          <a:xfrm flipV="1">
            <a:off x="7926388" y="21907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9" name="Text Box 119"/>
          <p:cNvSpPr txBox="1">
            <a:spLocks noChangeArrowheads="1"/>
          </p:cNvSpPr>
          <p:nvPr/>
        </p:nvSpPr>
        <p:spPr bwMode="auto">
          <a:xfrm>
            <a:off x="7439025" y="2263775"/>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3048" name="Oval 120"/>
          <p:cNvSpPr>
            <a:spLocks noChangeArrowheads="1"/>
          </p:cNvSpPr>
          <p:nvPr/>
        </p:nvSpPr>
        <p:spPr bwMode="auto">
          <a:xfrm>
            <a:off x="7369175" y="24669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049" name="Oval 121"/>
          <p:cNvSpPr>
            <a:spLocks noChangeArrowheads="1"/>
          </p:cNvSpPr>
          <p:nvPr/>
        </p:nvSpPr>
        <p:spPr bwMode="auto">
          <a:xfrm>
            <a:off x="5949950" y="26384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922" name="Line 122"/>
          <p:cNvSpPr>
            <a:spLocks noChangeShapeType="1"/>
          </p:cNvSpPr>
          <p:nvPr/>
        </p:nvSpPr>
        <p:spPr bwMode="auto">
          <a:xfrm flipV="1">
            <a:off x="3106738" y="16192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3" name="Line 123"/>
          <p:cNvSpPr>
            <a:spLocks noChangeShapeType="1"/>
          </p:cNvSpPr>
          <p:nvPr/>
        </p:nvSpPr>
        <p:spPr bwMode="auto">
          <a:xfrm flipV="1">
            <a:off x="3906838" y="16573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4" name="Line 124"/>
          <p:cNvSpPr>
            <a:spLocks noChangeShapeType="1"/>
          </p:cNvSpPr>
          <p:nvPr/>
        </p:nvSpPr>
        <p:spPr bwMode="auto">
          <a:xfrm flipV="1">
            <a:off x="4535488" y="16573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5" name="Line 125"/>
          <p:cNvSpPr>
            <a:spLocks noChangeShapeType="1"/>
          </p:cNvSpPr>
          <p:nvPr/>
        </p:nvSpPr>
        <p:spPr bwMode="auto">
          <a:xfrm flipV="1">
            <a:off x="6054725" y="16573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6" name="Line 126"/>
          <p:cNvSpPr>
            <a:spLocks noChangeShapeType="1"/>
          </p:cNvSpPr>
          <p:nvPr/>
        </p:nvSpPr>
        <p:spPr bwMode="auto">
          <a:xfrm flipV="1">
            <a:off x="7993063" y="16573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7" name="Line 127"/>
          <p:cNvSpPr>
            <a:spLocks noChangeShapeType="1"/>
          </p:cNvSpPr>
          <p:nvPr/>
        </p:nvSpPr>
        <p:spPr bwMode="auto">
          <a:xfrm flipV="1">
            <a:off x="7412038" y="16192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8" name="Text Box 129"/>
          <p:cNvSpPr txBox="1">
            <a:spLocks noChangeArrowheads="1"/>
          </p:cNvSpPr>
          <p:nvPr/>
        </p:nvSpPr>
        <p:spPr bwMode="auto">
          <a:xfrm>
            <a:off x="4491038" y="1433513"/>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6929" name="Oval 130"/>
          <p:cNvSpPr>
            <a:spLocks noChangeArrowheads="1"/>
          </p:cNvSpPr>
          <p:nvPr/>
        </p:nvSpPr>
        <p:spPr bwMode="auto">
          <a:xfrm>
            <a:off x="4983163" y="14811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0" name="Text Box 131"/>
          <p:cNvSpPr txBox="1">
            <a:spLocks noChangeArrowheads="1"/>
          </p:cNvSpPr>
          <p:nvPr/>
        </p:nvSpPr>
        <p:spPr bwMode="auto">
          <a:xfrm>
            <a:off x="7378700" y="1416050"/>
            <a:ext cx="68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6931" name="Oval 132"/>
          <p:cNvSpPr>
            <a:spLocks noChangeArrowheads="1"/>
          </p:cNvSpPr>
          <p:nvPr/>
        </p:nvSpPr>
        <p:spPr bwMode="auto">
          <a:xfrm>
            <a:off x="7956550" y="14636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2" name="Text Box 133"/>
          <p:cNvSpPr txBox="1">
            <a:spLocks noChangeArrowheads="1"/>
          </p:cNvSpPr>
          <p:nvPr/>
        </p:nvSpPr>
        <p:spPr bwMode="auto">
          <a:xfrm>
            <a:off x="3821113" y="14160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6933" name="Oval 134"/>
          <p:cNvSpPr>
            <a:spLocks noChangeArrowheads="1"/>
          </p:cNvSpPr>
          <p:nvPr/>
        </p:nvSpPr>
        <p:spPr bwMode="auto">
          <a:xfrm>
            <a:off x="4141788" y="14636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4" name="Text Box 135"/>
          <p:cNvSpPr txBox="1">
            <a:spLocks noChangeArrowheads="1"/>
          </p:cNvSpPr>
          <p:nvPr/>
        </p:nvSpPr>
        <p:spPr bwMode="auto">
          <a:xfrm>
            <a:off x="5992813" y="14446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6935" name="Oval 136"/>
          <p:cNvSpPr>
            <a:spLocks noChangeArrowheads="1"/>
          </p:cNvSpPr>
          <p:nvPr/>
        </p:nvSpPr>
        <p:spPr bwMode="auto">
          <a:xfrm>
            <a:off x="6313488" y="14922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6" name="Text Box 137"/>
          <p:cNvSpPr txBox="1">
            <a:spLocks noChangeArrowheads="1"/>
          </p:cNvSpPr>
          <p:nvPr/>
        </p:nvSpPr>
        <p:spPr bwMode="auto">
          <a:xfrm>
            <a:off x="6950075" y="14017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6937" name="Oval 138"/>
          <p:cNvSpPr>
            <a:spLocks noChangeArrowheads="1"/>
          </p:cNvSpPr>
          <p:nvPr/>
        </p:nvSpPr>
        <p:spPr bwMode="auto">
          <a:xfrm>
            <a:off x="7270750" y="14493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8" name="Text Box 139"/>
          <p:cNvSpPr txBox="1">
            <a:spLocks noChangeArrowheads="1"/>
          </p:cNvSpPr>
          <p:nvPr/>
        </p:nvSpPr>
        <p:spPr bwMode="auto">
          <a:xfrm>
            <a:off x="2663825" y="14017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6939" name="Oval 140"/>
          <p:cNvSpPr>
            <a:spLocks noChangeArrowheads="1"/>
          </p:cNvSpPr>
          <p:nvPr/>
        </p:nvSpPr>
        <p:spPr bwMode="auto">
          <a:xfrm>
            <a:off x="2984500" y="14493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40" name="Text Box 141"/>
          <p:cNvSpPr txBox="1">
            <a:spLocks noChangeArrowheads="1"/>
          </p:cNvSpPr>
          <p:nvPr/>
        </p:nvSpPr>
        <p:spPr bwMode="auto">
          <a:xfrm>
            <a:off x="4419600" y="4492625"/>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6941" name="Text Box 142"/>
          <p:cNvSpPr txBox="1">
            <a:spLocks noChangeArrowheads="1"/>
          </p:cNvSpPr>
          <p:nvPr/>
        </p:nvSpPr>
        <p:spPr bwMode="auto">
          <a:xfrm>
            <a:off x="4519613" y="5178425"/>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6942" name="Line 143"/>
          <p:cNvSpPr>
            <a:spLocks noChangeShapeType="1"/>
          </p:cNvSpPr>
          <p:nvPr/>
        </p:nvSpPr>
        <p:spPr bwMode="auto">
          <a:xfrm>
            <a:off x="4611688" y="5462588"/>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76943" name="Group 144"/>
          <p:cNvGrpSpPr/>
          <p:nvPr/>
        </p:nvGrpSpPr>
        <p:grpSpPr bwMode="auto">
          <a:xfrm>
            <a:off x="4683125" y="4448175"/>
            <a:ext cx="800100" cy="271463"/>
            <a:chOff x="3258" y="2997"/>
            <a:chExt cx="504" cy="171"/>
          </a:xfrm>
        </p:grpSpPr>
        <p:sp>
          <p:nvSpPr>
            <p:cNvPr id="76962" name="Line 145"/>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3" name="Line 146"/>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4" name="Line 147"/>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5" name="Line 148"/>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6" name="Line 149"/>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7" name="Line 150"/>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8" name="Line 151"/>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9" name="Line 152"/>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70" name="Line 153"/>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6944" name="Group 154"/>
          <p:cNvGrpSpPr/>
          <p:nvPr/>
        </p:nvGrpSpPr>
        <p:grpSpPr bwMode="auto">
          <a:xfrm flipV="1">
            <a:off x="3625850" y="5534025"/>
            <a:ext cx="800100" cy="271463"/>
            <a:chOff x="3258" y="2997"/>
            <a:chExt cx="504" cy="171"/>
          </a:xfrm>
        </p:grpSpPr>
        <p:sp>
          <p:nvSpPr>
            <p:cNvPr id="76953" name="Line 155"/>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4" name="Line 156"/>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5" name="Line 157"/>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6" name="Line 158"/>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7" name="Line 159"/>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8" name="Line 160"/>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9" name="Line 161"/>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0" name="Line 162"/>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1" name="Line 163"/>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76945" name="Text Box 164"/>
          <p:cNvSpPr txBox="1">
            <a:spLocks noChangeArrowheads="1"/>
          </p:cNvSpPr>
          <p:nvPr/>
        </p:nvSpPr>
        <p:spPr bwMode="auto">
          <a:xfrm>
            <a:off x="2033588" y="25352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46" name="Text Box 165"/>
          <p:cNvSpPr txBox="1">
            <a:spLocks noChangeArrowheads="1"/>
          </p:cNvSpPr>
          <p:nvPr/>
        </p:nvSpPr>
        <p:spPr bwMode="auto">
          <a:xfrm>
            <a:off x="4148138" y="25352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47" name="Text Box 166"/>
          <p:cNvSpPr txBox="1">
            <a:spLocks noChangeArrowheads="1"/>
          </p:cNvSpPr>
          <p:nvPr/>
        </p:nvSpPr>
        <p:spPr bwMode="auto">
          <a:xfrm>
            <a:off x="6234113" y="25352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48" name="Text Box 167"/>
          <p:cNvSpPr txBox="1">
            <a:spLocks noChangeArrowheads="1"/>
          </p:cNvSpPr>
          <p:nvPr/>
        </p:nvSpPr>
        <p:spPr bwMode="auto">
          <a:xfrm>
            <a:off x="3205163" y="44354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6949" name="Text Box 168"/>
          <p:cNvSpPr txBox="1">
            <a:spLocks noChangeArrowheads="1"/>
          </p:cNvSpPr>
          <p:nvPr/>
        </p:nvSpPr>
        <p:spPr bwMode="auto">
          <a:xfrm>
            <a:off x="3290888" y="2921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50" name="Text Box 169"/>
          <p:cNvSpPr txBox="1">
            <a:spLocks noChangeArrowheads="1"/>
          </p:cNvSpPr>
          <p:nvPr/>
        </p:nvSpPr>
        <p:spPr bwMode="auto">
          <a:xfrm>
            <a:off x="5462588" y="29067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51" name="Text Box 170"/>
          <p:cNvSpPr txBox="1">
            <a:spLocks noChangeArrowheads="1"/>
          </p:cNvSpPr>
          <p:nvPr/>
        </p:nvSpPr>
        <p:spPr bwMode="auto">
          <a:xfrm>
            <a:off x="7534275" y="2921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52" name="Text Box 171"/>
          <p:cNvSpPr txBox="1">
            <a:spLocks noChangeArrowheads="1"/>
          </p:cNvSpPr>
          <p:nvPr/>
        </p:nvSpPr>
        <p:spPr bwMode="auto">
          <a:xfrm>
            <a:off x="1847850" y="57927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467360" y="0"/>
            <a:ext cx="8229600" cy="1371600"/>
          </a:xfrm>
        </p:spPr>
        <p:txBody>
          <a:bodyPr/>
          <a:lstStyle/>
          <a:p>
            <a:pPr eaLnBrk="1" hangingPunct="1"/>
            <a:r>
              <a:rPr lang="zh-CN" altLang="en-US"/>
              <a:t>时序信号产生器（</a:t>
            </a:r>
            <a:r>
              <a:rPr lang="en-US" altLang="zh-CN"/>
              <a:t>2</a:t>
            </a:r>
            <a:r>
              <a:rPr lang="zh-CN" altLang="en-US"/>
              <a:t>）</a:t>
            </a:r>
            <a:endParaRPr lang="zh-CN" altLang="en-US"/>
          </a:p>
        </p:txBody>
      </p:sp>
      <p:sp>
        <p:nvSpPr>
          <p:cNvPr id="77826" name="Rectangle 3"/>
          <p:cNvSpPr>
            <a:spLocks noGrp="1" noChangeArrowheads="1"/>
          </p:cNvSpPr>
          <p:nvPr>
            <p:ph idx="1"/>
          </p:nvPr>
        </p:nvSpPr>
        <p:spPr>
          <a:xfrm>
            <a:off x="152400" y="1087437"/>
            <a:ext cx="8736012" cy="5516563"/>
          </a:xfrm>
        </p:spPr>
        <p:txBody>
          <a:bodyPr/>
          <a:lstStyle/>
          <a:p>
            <a:pPr eaLnBrk="1" hangingPunct="1">
              <a:lnSpc>
                <a:spcPct val="90000"/>
              </a:lnSpc>
            </a:pPr>
            <a:r>
              <a:rPr lang="zh-CN" altLang="en-US" dirty="0"/>
              <a:t>节拍脉冲和存储器读</a:t>
            </a:r>
            <a:r>
              <a:rPr lang="en-US" altLang="zh-CN" dirty="0"/>
              <a:t>/</a:t>
            </a:r>
            <a:r>
              <a:rPr lang="zh-CN" altLang="en-US" dirty="0"/>
              <a:t>写时序的译码</a:t>
            </a:r>
            <a:endParaRPr lang="zh-CN" altLang="en-US" dirty="0"/>
          </a:p>
          <a:p>
            <a:pPr lvl="1" eaLnBrk="1" hangingPunct="1">
              <a:lnSpc>
                <a:spcPct val="90000"/>
              </a:lnSpc>
            </a:pPr>
            <a:r>
              <a:rPr lang="zh-CN" altLang="en-US" dirty="0"/>
              <a:t>若在一个</a:t>
            </a:r>
            <a:r>
              <a:rPr lang="en-US" altLang="zh-CN" dirty="0"/>
              <a:t>CPU</a:t>
            </a:r>
            <a:r>
              <a:rPr lang="zh-CN" altLang="en-US" dirty="0"/>
              <a:t>周期中产生四个等间隔的节拍脉冲，则其译码逻辑可表示为：</a:t>
            </a:r>
            <a:endParaRPr lang="zh-CN" altLang="en-US" dirty="0"/>
          </a:p>
          <a:p>
            <a:pPr lvl="1" eaLnBrk="1" hangingPunct="1">
              <a:lnSpc>
                <a:spcPct val="90000"/>
              </a:lnSpc>
            </a:pPr>
            <a:endParaRPr lang="zh-CN" altLang="en-US" dirty="0"/>
          </a:p>
          <a:p>
            <a:pPr lvl="1" eaLnBrk="1" hangingPunct="1">
              <a:lnSpc>
                <a:spcPct val="90000"/>
              </a:lnSpc>
            </a:pPr>
            <a:endParaRPr lang="zh-CN" altLang="en-US" sz="3200" dirty="0"/>
          </a:p>
          <a:p>
            <a:pPr lvl="1" eaLnBrk="1" hangingPunct="1">
              <a:lnSpc>
                <a:spcPct val="90000"/>
              </a:lnSpc>
            </a:pPr>
            <a:endParaRPr lang="zh-CN" altLang="en-US" sz="3200" dirty="0"/>
          </a:p>
          <a:p>
            <a:pPr lvl="1" eaLnBrk="1" hangingPunct="1">
              <a:lnSpc>
                <a:spcPct val="90000"/>
              </a:lnSpc>
            </a:pPr>
            <a:r>
              <a:rPr lang="zh-CN" altLang="en-US" dirty="0"/>
              <a:t>存储器读</a:t>
            </a:r>
            <a:r>
              <a:rPr lang="en-US" altLang="zh-CN" dirty="0"/>
              <a:t>/</a:t>
            </a:r>
            <a:r>
              <a:rPr lang="zh-CN" altLang="en-US" dirty="0"/>
              <a:t>写时序信号的译码逻辑表达式为</a:t>
            </a:r>
            <a:endParaRPr lang="zh-CN" altLang="en-US" dirty="0"/>
          </a:p>
          <a:p>
            <a:pPr eaLnBrk="1" hangingPunct="1">
              <a:lnSpc>
                <a:spcPct val="90000"/>
              </a:lnSpc>
            </a:pPr>
            <a:endParaRPr lang="zh-CN" altLang="en-US" sz="2800" dirty="0"/>
          </a:p>
          <a:p>
            <a:pPr eaLnBrk="1" hangingPunct="1">
              <a:lnSpc>
                <a:spcPct val="90000"/>
              </a:lnSpc>
            </a:pPr>
            <a:endParaRPr lang="zh-CN" altLang="en-US" dirty="0"/>
          </a:p>
          <a:p>
            <a:pPr lvl="1" eaLnBrk="1" hangingPunct="1">
              <a:lnSpc>
                <a:spcPct val="90000"/>
              </a:lnSpc>
              <a:buFont typeface="Wingdings" panose="05000000000000000000" pitchFamily="2" charset="2"/>
              <a:buNone/>
            </a:pPr>
            <a:r>
              <a:rPr lang="en-US" altLang="zh-CN" sz="3200" dirty="0"/>
              <a:t>   </a:t>
            </a:r>
            <a:r>
              <a:rPr lang="en-US" altLang="zh-CN" dirty="0">
                <a:solidFill>
                  <a:srgbClr val="C00000"/>
                </a:solidFill>
              </a:rPr>
              <a:t>RD</a:t>
            </a:r>
            <a:r>
              <a:rPr lang="en-US" altLang="zh-CN" dirty="0">
                <a:solidFill>
                  <a:srgbClr val="C00000"/>
                </a:solidFill>
                <a:sym typeface="Symbol" panose="05050102010706020507" pitchFamily="18" charset="2"/>
              </a:rPr>
              <a:t></a:t>
            </a:r>
            <a:r>
              <a:rPr lang="zh-CN" altLang="en-US" dirty="0">
                <a:solidFill>
                  <a:srgbClr val="C00000"/>
                </a:solidFill>
              </a:rPr>
              <a:t>、</a:t>
            </a:r>
            <a:r>
              <a:rPr lang="en-US" altLang="zh-CN" dirty="0">
                <a:solidFill>
                  <a:srgbClr val="C00000"/>
                </a:solidFill>
              </a:rPr>
              <a:t>WE</a:t>
            </a:r>
            <a:r>
              <a:rPr lang="en-US" altLang="zh-CN" dirty="0">
                <a:solidFill>
                  <a:srgbClr val="C00000"/>
                </a:solidFill>
                <a:sym typeface="Symbol" panose="05050102010706020507" pitchFamily="18" charset="2"/>
              </a:rPr>
              <a:t></a:t>
            </a:r>
            <a:r>
              <a:rPr lang="zh-CN" altLang="en-US" dirty="0">
                <a:solidFill>
                  <a:srgbClr val="C00000"/>
                </a:solidFill>
              </a:rPr>
              <a:t>信号来自微程序控制器的控制信号，都是持续时间为一个</a:t>
            </a:r>
            <a:r>
              <a:rPr lang="en-US" altLang="zh-CN" dirty="0">
                <a:solidFill>
                  <a:srgbClr val="C00000"/>
                </a:solidFill>
              </a:rPr>
              <a:t>CPU</a:t>
            </a:r>
            <a:r>
              <a:rPr lang="zh-CN" altLang="en-US" dirty="0">
                <a:solidFill>
                  <a:srgbClr val="C00000"/>
                </a:solidFill>
              </a:rPr>
              <a:t>周期的节拍电位信号</a:t>
            </a:r>
            <a:endParaRPr lang="zh-CN" altLang="en-US" dirty="0">
              <a:solidFill>
                <a:srgbClr val="C00000"/>
              </a:solidFill>
            </a:endParaRPr>
          </a:p>
        </p:txBody>
      </p:sp>
      <p:sp>
        <p:nvSpPr>
          <p:cNvPr id="77828" name="Text Box 4"/>
          <p:cNvSpPr txBox="1">
            <a:spLocks noChangeArrowheads="1"/>
          </p:cNvSpPr>
          <p:nvPr/>
        </p:nvSpPr>
        <p:spPr bwMode="auto">
          <a:xfrm>
            <a:off x="1827213" y="2479675"/>
            <a:ext cx="1493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1</a:t>
            </a:r>
            <a:r>
              <a:rPr kumimoji="0" lang="en-US" altLang="zh-CN" sz="2400">
                <a:ea typeface="宋体" panose="02010600030101010101" pitchFamily="2" charset="-122"/>
                <a:cs typeface="Times New Roman" panose="02020603050405020304" pitchFamily="18" charset="0"/>
              </a:rPr>
              <a:t>·</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7829" name="Line 5"/>
          <p:cNvSpPr>
            <a:spLocks noChangeShapeType="1"/>
          </p:cNvSpPr>
          <p:nvPr/>
        </p:nvSpPr>
        <p:spPr bwMode="auto">
          <a:xfrm>
            <a:off x="2890838" y="2568575"/>
            <a:ext cx="285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7830" name="Oval 6"/>
          <p:cNvSpPr>
            <a:spLocks noChangeArrowheads="1"/>
          </p:cNvSpPr>
          <p:nvPr/>
        </p:nvSpPr>
        <p:spPr bwMode="auto">
          <a:xfrm>
            <a:off x="2149475" y="252730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1" name="Text Box 7"/>
          <p:cNvSpPr txBox="1">
            <a:spLocks noChangeArrowheads="1"/>
          </p:cNvSpPr>
          <p:nvPr/>
        </p:nvSpPr>
        <p:spPr bwMode="auto">
          <a:xfrm>
            <a:off x="4970463" y="2465388"/>
            <a:ext cx="1493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2</a:t>
            </a:r>
            <a:r>
              <a:rPr kumimoji="0" lang="en-US" altLang="zh-CN" sz="2400">
                <a:ea typeface="宋体" panose="02010600030101010101" pitchFamily="2" charset="-122"/>
                <a:cs typeface="Times New Roman" panose="02020603050405020304" pitchFamily="18" charset="0"/>
              </a:rPr>
              <a:t>·</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7832" name="Line 8"/>
          <p:cNvSpPr>
            <a:spLocks noChangeShapeType="1"/>
          </p:cNvSpPr>
          <p:nvPr/>
        </p:nvSpPr>
        <p:spPr bwMode="auto">
          <a:xfrm>
            <a:off x="6034088" y="2554288"/>
            <a:ext cx="285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7833" name="Oval 9"/>
          <p:cNvSpPr>
            <a:spLocks noChangeArrowheads="1"/>
          </p:cNvSpPr>
          <p:nvPr/>
        </p:nvSpPr>
        <p:spPr bwMode="auto">
          <a:xfrm>
            <a:off x="5292725" y="251301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4" name="Text Box 10"/>
          <p:cNvSpPr txBox="1">
            <a:spLocks noChangeArrowheads="1"/>
          </p:cNvSpPr>
          <p:nvPr/>
        </p:nvSpPr>
        <p:spPr bwMode="auto">
          <a:xfrm>
            <a:off x="1812925" y="2963863"/>
            <a:ext cx="1084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7835" name="Oval 12"/>
          <p:cNvSpPr>
            <a:spLocks noChangeArrowheads="1"/>
          </p:cNvSpPr>
          <p:nvPr/>
        </p:nvSpPr>
        <p:spPr bwMode="auto">
          <a:xfrm>
            <a:off x="2135188" y="3013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6" name="Text Box 13"/>
          <p:cNvSpPr txBox="1">
            <a:spLocks noChangeArrowheads="1"/>
          </p:cNvSpPr>
          <p:nvPr/>
        </p:nvSpPr>
        <p:spPr bwMode="auto">
          <a:xfrm>
            <a:off x="4970463" y="3035300"/>
            <a:ext cx="1084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7837" name="Oval 14"/>
          <p:cNvSpPr>
            <a:spLocks noChangeArrowheads="1"/>
          </p:cNvSpPr>
          <p:nvPr/>
        </p:nvSpPr>
        <p:spPr bwMode="auto">
          <a:xfrm>
            <a:off x="5292725" y="308451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8" name="Line 15"/>
          <p:cNvSpPr>
            <a:spLocks noChangeShapeType="1"/>
          </p:cNvSpPr>
          <p:nvPr/>
        </p:nvSpPr>
        <p:spPr bwMode="auto">
          <a:xfrm>
            <a:off x="5619750" y="3125788"/>
            <a:ext cx="285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7839" name="Text Box 16"/>
          <p:cNvSpPr txBox="1">
            <a:spLocks noChangeArrowheads="1"/>
          </p:cNvSpPr>
          <p:nvPr/>
        </p:nvSpPr>
        <p:spPr bwMode="auto">
          <a:xfrm>
            <a:off x="1812608" y="4581525"/>
            <a:ext cx="1863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RD=C</a:t>
            </a:r>
            <a:r>
              <a:rPr kumimoji="0" lang="en-US" altLang="zh-CN" sz="2400" baseline="-25000">
                <a:latin typeface="Tahoma" panose="020B0604030504040204" pitchFamily="34" charset="0"/>
                <a:ea typeface="宋体" panose="02010600030101010101" pitchFamily="2" charset="-122"/>
              </a:rPr>
              <a:t>2</a:t>
            </a:r>
            <a:r>
              <a:rPr kumimoji="0" lang="en-US" altLang="zh-CN" sz="2400">
                <a:ea typeface="宋体" panose="02010600030101010101" pitchFamily="2" charset="-122"/>
                <a:cs typeface="Times New Roman" panose="02020603050405020304" pitchFamily="18" charset="0"/>
              </a:rPr>
              <a:t>·</a:t>
            </a:r>
            <a:r>
              <a:rPr kumimoji="0" lang="en-US" altLang="zh-CN" sz="2400">
                <a:latin typeface="Tahoma" panose="020B0604030504040204" pitchFamily="34" charset="0"/>
                <a:ea typeface="宋体" panose="02010600030101010101" pitchFamily="2" charset="-122"/>
              </a:rPr>
              <a:t>RD</a:t>
            </a:r>
            <a:r>
              <a:rPr kumimoji="0" lang="en-US" altLang="zh-CN" sz="2400">
                <a:latin typeface="Arial" panose="020B0604020202020204" pitchFamily="34" charset="0"/>
                <a:ea typeface="宋体" panose="02010600030101010101" pitchFamily="2" charset="-122"/>
                <a:sym typeface="Symbol" panose="05050102010706020507" pitchFamily="18" charset="2"/>
              </a:rPr>
              <a:t></a:t>
            </a:r>
            <a:endParaRPr kumimoji="0" lang="en-US" altLang="zh-CN" sz="2400" baseline="-25000">
              <a:latin typeface="Tahoma" panose="020B0604030504040204" pitchFamily="34" charset="0"/>
              <a:ea typeface="宋体" panose="02010600030101010101" pitchFamily="2" charset="-122"/>
            </a:endParaRPr>
          </a:p>
        </p:txBody>
      </p:sp>
      <p:sp>
        <p:nvSpPr>
          <p:cNvPr id="77840" name="Oval 17"/>
          <p:cNvSpPr>
            <a:spLocks noChangeArrowheads="1"/>
          </p:cNvSpPr>
          <p:nvPr/>
        </p:nvSpPr>
        <p:spPr bwMode="auto">
          <a:xfrm>
            <a:off x="2297113" y="442912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41" name="Text Box 18"/>
          <p:cNvSpPr txBox="1">
            <a:spLocks noChangeArrowheads="1"/>
          </p:cNvSpPr>
          <p:nvPr/>
        </p:nvSpPr>
        <p:spPr bwMode="auto">
          <a:xfrm>
            <a:off x="4960938" y="4581843"/>
            <a:ext cx="1962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WE=C</a:t>
            </a:r>
            <a:r>
              <a:rPr kumimoji="0" lang="en-US" altLang="zh-CN" sz="2400" baseline="-25000">
                <a:latin typeface="Tahoma" panose="020B0604030504040204" pitchFamily="34" charset="0"/>
                <a:ea typeface="宋体" panose="02010600030101010101" pitchFamily="2" charset="-122"/>
              </a:rPr>
              <a:t>3</a:t>
            </a:r>
            <a:r>
              <a:rPr kumimoji="0" lang="en-US" altLang="zh-CN" sz="2400">
                <a:ea typeface="宋体" panose="02010600030101010101" pitchFamily="2" charset="-122"/>
                <a:cs typeface="Times New Roman" panose="02020603050405020304" pitchFamily="18" charset="0"/>
              </a:rPr>
              <a:t>·</a:t>
            </a:r>
            <a:r>
              <a:rPr kumimoji="0" lang="en-US" altLang="zh-CN" sz="2400">
                <a:latin typeface="Tahoma" panose="020B0604030504040204" pitchFamily="34" charset="0"/>
                <a:ea typeface="宋体" panose="02010600030101010101" pitchFamily="2" charset="-122"/>
              </a:rPr>
              <a:t>WE</a:t>
            </a:r>
            <a:r>
              <a:rPr kumimoji="0" lang="en-US" altLang="zh-CN" sz="2400">
                <a:latin typeface="Arial" panose="020B0604020202020204" pitchFamily="34" charset="0"/>
                <a:ea typeface="宋体" panose="02010600030101010101" pitchFamily="2" charset="-122"/>
                <a:sym typeface="Symbol" panose="05050102010706020507" pitchFamily="18" charset="2"/>
              </a:rPr>
              <a:t></a:t>
            </a:r>
            <a:endParaRPr kumimoji="0" lang="en-US" altLang="zh-CN" sz="2400" baseline="-25000">
              <a:latin typeface="Tahoma" panose="020B0604030504040204" pitchFamily="34" charset="0"/>
              <a:ea typeface="宋体" panose="02010600030101010101" pitchFamily="2" charset="-122"/>
            </a:endParaRPr>
          </a:p>
        </p:txBody>
      </p:sp>
      <p:sp>
        <p:nvSpPr>
          <p:cNvPr id="77842" name="Oval 19"/>
          <p:cNvSpPr>
            <a:spLocks noChangeArrowheads="1"/>
          </p:cNvSpPr>
          <p:nvPr/>
        </p:nvSpPr>
        <p:spPr bwMode="auto">
          <a:xfrm>
            <a:off x="5540375" y="44005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457200" y="260985"/>
            <a:ext cx="8229600" cy="1371600"/>
          </a:xfrm>
        </p:spPr>
        <p:txBody>
          <a:bodyPr/>
          <a:lstStyle/>
          <a:p>
            <a:pPr eaLnBrk="1" hangingPunct="1"/>
            <a:r>
              <a:rPr lang="zh-CN" altLang="en-US" sz="4000"/>
              <a:t>节拍电位与节拍脉冲时序关系图</a:t>
            </a:r>
            <a:r>
              <a:rPr lang="en-US" altLang="zh-CN" sz="4000"/>
              <a:t>2</a:t>
            </a:r>
            <a:endParaRPr lang="en-US" altLang="zh-CN" sz="4000"/>
          </a:p>
        </p:txBody>
      </p:sp>
      <p:sp>
        <p:nvSpPr>
          <p:cNvPr id="78850" name="页脚占位符 3"/>
          <p:cNvSpPr>
            <a:spLocks noGrp="1"/>
          </p:cNvSpPr>
          <p:nvPr>
            <p:ph type="ftr" sz="quarter" idx="4294967295"/>
          </p:nvPr>
        </p:nvSpPr>
        <p:spPr bwMode="auto">
          <a:xfrm>
            <a:off x="3028950" y="6356350"/>
            <a:ext cx="3086100"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lang="zh-CN" altLang="en-US" sz="1600">
                <a:solidFill>
                  <a:srgbClr val="0099FF"/>
                </a:solidFill>
                <a:latin typeface="楷体_GB2312" pitchFamily="49" charset="-122"/>
              </a:rPr>
              <a:t>计算机学院体系结构中心</a:t>
            </a:r>
            <a:endParaRPr lang="zh-CN" altLang="en-US" sz="1600">
              <a:solidFill>
                <a:srgbClr val="0099FF"/>
              </a:solidFill>
              <a:latin typeface="楷体_GB2312" pitchFamily="49" charset="-122"/>
            </a:endParaRPr>
          </a:p>
        </p:txBody>
      </p:sp>
      <p:pic>
        <p:nvPicPr>
          <p:cNvPr id="78851" name="Picture 5" descr="p27"/>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088" y="1344613"/>
            <a:ext cx="7526337"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pPr eaLnBrk="1" hangingPunct="1"/>
            <a:r>
              <a:rPr lang="zh-CN" altLang="en-US"/>
              <a:t>时序信号产生器（</a:t>
            </a:r>
            <a:r>
              <a:rPr lang="en-US" altLang="zh-CN"/>
              <a:t>3</a:t>
            </a:r>
            <a:r>
              <a:rPr lang="zh-CN" altLang="en-US"/>
              <a:t>）</a:t>
            </a:r>
            <a:endParaRPr lang="zh-CN" altLang="en-US"/>
          </a:p>
        </p:txBody>
      </p:sp>
      <p:sp>
        <p:nvSpPr>
          <p:cNvPr id="79874" name="Rectangle 3"/>
          <p:cNvSpPr>
            <a:spLocks noGrp="1" noChangeArrowheads="1"/>
          </p:cNvSpPr>
          <p:nvPr>
            <p:ph idx="1"/>
          </p:nvPr>
        </p:nvSpPr>
        <p:spPr/>
        <p:txBody>
          <a:bodyPr/>
          <a:lstStyle/>
          <a:p>
            <a:pPr eaLnBrk="1" hangingPunct="1"/>
            <a:r>
              <a:rPr lang="zh-CN" altLang="en-US" sz="3600"/>
              <a:t>启停控制逻辑</a:t>
            </a:r>
            <a:endParaRPr lang="zh-CN" altLang="en-US" sz="3600"/>
          </a:p>
          <a:p>
            <a:pPr lvl="1" eaLnBrk="1" hangingPunct="1"/>
            <a:r>
              <a:rPr lang="zh-CN" altLang="en-US" sz="3200"/>
              <a:t>机器一旦接通电源，就会自动产生原始的节拍脉冲信号</a:t>
            </a:r>
            <a:r>
              <a:rPr lang="en-US" altLang="zh-CN" sz="3200"/>
              <a:t>T</a:t>
            </a:r>
            <a:r>
              <a:rPr lang="en-US" altLang="zh-CN" sz="3200" baseline="-25000"/>
              <a:t>1</a:t>
            </a:r>
            <a:r>
              <a:rPr lang="en-US" altLang="zh-CN" sz="3200" baseline="30000"/>
              <a:t>°</a:t>
            </a:r>
            <a:r>
              <a:rPr lang="en-US" altLang="zh-CN" sz="3200"/>
              <a:t>-T</a:t>
            </a:r>
            <a:r>
              <a:rPr lang="en-US" altLang="zh-CN" sz="3200" baseline="-25000"/>
              <a:t>4</a:t>
            </a:r>
            <a:r>
              <a:rPr lang="en-US" altLang="zh-CN" sz="3200" baseline="30000"/>
              <a:t>°</a:t>
            </a:r>
            <a:r>
              <a:rPr lang="zh-CN" altLang="en-US" sz="3200"/>
              <a:t>。但只有发出启动信号后，才允许时序产生器发出</a:t>
            </a:r>
            <a:r>
              <a:rPr lang="en-US" altLang="zh-CN" sz="3200"/>
              <a:t>CPU</a:t>
            </a:r>
            <a:r>
              <a:rPr lang="zh-CN" altLang="en-US" sz="3200"/>
              <a:t>工作所需的</a:t>
            </a:r>
            <a:r>
              <a:rPr lang="zh-CN" altLang="en-US" sz="3200">
                <a:solidFill>
                  <a:srgbClr val="C00000"/>
                </a:solidFill>
              </a:rPr>
              <a:t>完整</a:t>
            </a:r>
            <a:r>
              <a:rPr lang="zh-CN" altLang="en-US" sz="3200"/>
              <a:t>节拍脉冲</a:t>
            </a:r>
            <a:r>
              <a:rPr lang="en-US" altLang="zh-CN" sz="3200"/>
              <a:t>T</a:t>
            </a:r>
            <a:r>
              <a:rPr lang="en-US" altLang="zh-CN" sz="3200" baseline="-25000"/>
              <a:t>1</a:t>
            </a:r>
            <a:r>
              <a:rPr lang="en-US" altLang="zh-CN" sz="3200" baseline="30000">
                <a:solidFill>
                  <a:srgbClr val="000000"/>
                </a:solidFill>
                <a:ea typeface="楷体_GB2312" pitchFamily="49" charset="-122"/>
              </a:rPr>
              <a:t>°</a:t>
            </a:r>
            <a:r>
              <a:rPr lang="en-US" altLang="zh-CN" sz="3200"/>
              <a:t>-T</a:t>
            </a:r>
            <a:r>
              <a:rPr lang="en-US" altLang="zh-CN" sz="3200" baseline="-25000"/>
              <a:t>4</a:t>
            </a:r>
            <a:r>
              <a:rPr lang="en-US" altLang="zh-CN" sz="3200" baseline="30000">
                <a:solidFill>
                  <a:srgbClr val="000000"/>
                </a:solidFill>
                <a:ea typeface="楷体_GB2312" pitchFamily="49" charset="-122"/>
              </a:rPr>
              <a:t>°</a:t>
            </a:r>
            <a:endParaRPr lang="en-US" altLang="zh-CN" sz="3200" baseline="-25000"/>
          </a:p>
          <a:p>
            <a:pPr lvl="1" eaLnBrk="1" hangingPunct="1"/>
            <a:r>
              <a:rPr lang="zh-CN" altLang="en-US" sz="3200"/>
              <a:t>故需要由启停控制逻辑来控制</a:t>
            </a:r>
            <a:r>
              <a:rPr lang="en-US" altLang="zh-CN" sz="3200">
                <a:solidFill>
                  <a:srgbClr val="000000"/>
                </a:solidFill>
                <a:ea typeface="楷体_GB2312" pitchFamily="49" charset="-122"/>
              </a:rPr>
              <a:t>T</a:t>
            </a:r>
            <a:r>
              <a:rPr lang="en-US" altLang="zh-CN" sz="3200" baseline="-25000">
                <a:solidFill>
                  <a:srgbClr val="000000"/>
                </a:solidFill>
                <a:ea typeface="楷体_GB2312" pitchFamily="49" charset="-122"/>
              </a:rPr>
              <a:t>1</a:t>
            </a:r>
            <a:r>
              <a:rPr lang="en-US" altLang="zh-CN" sz="3200" baseline="30000">
                <a:solidFill>
                  <a:srgbClr val="000000"/>
                </a:solidFill>
                <a:ea typeface="楷体_GB2312" pitchFamily="49" charset="-122"/>
              </a:rPr>
              <a:t>°</a:t>
            </a:r>
            <a:r>
              <a:rPr lang="en-US" altLang="zh-CN" sz="3200">
                <a:solidFill>
                  <a:srgbClr val="000000"/>
                </a:solidFill>
                <a:ea typeface="楷体_GB2312" pitchFamily="49" charset="-122"/>
              </a:rPr>
              <a:t>-T</a:t>
            </a:r>
            <a:r>
              <a:rPr lang="en-US" altLang="zh-CN" sz="3200" baseline="-25000">
                <a:solidFill>
                  <a:srgbClr val="000000"/>
                </a:solidFill>
                <a:ea typeface="楷体_GB2312" pitchFamily="49" charset="-122"/>
              </a:rPr>
              <a:t>4</a:t>
            </a:r>
            <a:r>
              <a:rPr lang="en-US" altLang="zh-CN" sz="3200" baseline="30000">
                <a:solidFill>
                  <a:srgbClr val="000000"/>
                </a:solidFill>
                <a:ea typeface="楷体_GB2312" pitchFamily="49" charset="-122"/>
              </a:rPr>
              <a:t>°</a:t>
            </a:r>
            <a:r>
              <a:rPr lang="zh-CN" altLang="en-US" sz="3200"/>
              <a:t>以及读</a:t>
            </a:r>
            <a:r>
              <a:rPr lang="en-US" altLang="zh-CN" sz="3200"/>
              <a:t>/</a:t>
            </a:r>
            <a:r>
              <a:rPr lang="zh-CN" altLang="en-US" sz="3200"/>
              <a:t>写信号的产生</a:t>
            </a:r>
            <a:endParaRPr lang="zh-CN" altLang="en-US" sz="3200"/>
          </a:p>
        </p:txBody>
      </p:sp>
    </p:spTree>
  </p:cSld>
  <p:clrMapOvr>
    <a:masterClrMapping/>
  </p:clrMapOvr>
  <p:transition spd="med">
    <p:pull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395605" y="476885"/>
            <a:ext cx="8839200" cy="812800"/>
          </a:xfrm>
        </p:spPr>
        <p:txBody>
          <a:bodyPr/>
          <a:lstStyle/>
          <a:p>
            <a:pPr eaLnBrk="1" hangingPunct="1"/>
            <a:r>
              <a:rPr lang="zh-CN" altLang="en-US" sz="3600" dirty="0"/>
              <a:t>启动信号保证产生完整的</a:t>
            </a:r>
            <a:r>
              <a:rPr lang="en-US" altLang="zh-CN" sz="3600" dirty="0"/>
              <a:t>CPU</a:t>
            </a:r>
            <a:r>
              <a:rPr lang="zh-CN" altLang="en-US" sz="3600" dirty="0"/>
              <a:t>周期信号</a:t>
            </a:r>
            <a:endParaRPr lang="zh-CN" altLang="en-US" sz="3600" dirty="0"/>
          </a:p>
        </p:txBody>
      </p:sp>
      <p:pic>
        <p:nvPicPr>
          <p:cNvPr id="80899" name="Picture 5" descr="p27"/>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088" y="1344613"/>
            <a:ext cx="7526337"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57200" y="116840"/>
            <a:ext cx="8229600" cy="1371600"/>
          </a:xfrm>
        </p:spPr>
        <p:txBody>
          <a:bodyPr/>
          <a:lstStyle/>
          <a:p>
            <a:pPr eaLnBrk="1" hangingPunct="1"/>
            <a:r>
              <a:rPr lang="zh-CN" altLang="en-US"/>
              <a:t>启停控制逻辑</a:t>
            </a:r>
            <a:endParaRPr lang="zh-CN" altLang="en-US"/>
          </a:p>
        </p:txBody>
      </p:sp>
      <p:sp>
        <p:nvSpPr>
          <p:cNvPr id="81922" name="Rectangle 3"/>
          <p:cNvSpPr>
            <a:spLocks noGrp="1" noChangeArrowheads="1"/>
          </p:cNvSpPr>
          <p:nvPr>
            <p:ph idx="1"/>
          </p:nvPr>
        </p:nvSpPr>
        <p:spPr>
          <a:xfrm>
            <a:off x="186531" y="1086643"/>
            <a:ext cx="8770938" cy="5053013"/>
          </a:xfrm>
        </p:spPr>
        <p:txBody>
          <a:bodyPr/>
          <a:lstStyle/>
          <a:p>
            <a:pPr eaLnBrk="1" hangingPunct="1"/>
            <a:r>
              <a:rPr kumimoji="0" lang="zh-CN" altLang="en-US" sz="2800" dirty="0"/>
              <a:t>当触发器</a:t>
            </a:r>
            <a:r>
              <a:rPr kumimoji="0" lang="en-US" altLang="zh-CN" sz="2800" dirty="0"/>
              <a:t>Cr</a:t>
            </a:r>
            <a:r>
              <a:rPr kumimoji="0" lang="zh-CN" altLang="en-US" sz="2800" dirty="0"/>
              <a:t>的</a:t>
            </a:r>
            <a:r>
              <a:rPr kumimoji="0" lang="en-US" altLang="zh-CN" sz="2800" dirty="0"/>
              <a:t>Q</a:t>
            </a:r>
            <a:r>
              <a:rPr kumimoji="0" lang="zh-CN" altLang="en-US" sz="2800" dirty="0"/>
              <a:t>端为“</a:t>
            </a:r>
            <a:r>
              <a:rPr kumimoji="0" lang="en-US" altLang="zh-CN" sz="2800" dirty="0"/>
              <a:t>1”</a:t>
            </a:r>
            <a:r>
              <a:rPr kumimoji="0" lang="zh-CN" altLang="en-US" sz="2800" dirty="0"/>
              <a:t>时，原始节拍脉冲和读</a:t>
            </a:r>
            <a:r>
              <a:rPr kumimoji="0" lang="en-US" altLang="zh-CN" sz="2800" dirty="0"/>
              <a:t>/</a:t>
            </a:r>
            <a:r>
              <a:rPr kumimoji="0" lang="zh-CN" altLang="en-US" sz="2800" dirty="0"/>
              <a:t>写信号通过门电路发送出去，变成</a:t>
            </a:r>
            <a:r>
              <a:rPr kumimoji="0" lang="en-US" altLang="zh-CN" sz="2800" dirty="0"/>
              <a:t>CPU</a:t>
            </a:r>
            <a:r>
              <a:rPr kumimoji="0" lang="zh-CN" altLang="en-US" sz="2800" dirty="0"/>
              <a:t>真正需要的节拍脉冲信号和读写时序，反之，就关闭时序产生器</a:t>
            </a:r>
            <a:endParaRPr kumimoji="0" lang="zh-CN" altLang="en-US" sz="2800" dirty="0"/>
          </a:p>
          <a:p>
            <a:pPr eaLnBrk="1" hangingPunct="1"/>
            <a:endParaRPr kumimoji="0" lang="zh-CN" altLang="en-US" sz="2800" b="0" dirty="0"/>
          </a:p>
          <a:p>
            <a:pPr eaLnBrk="1" hangingPunct="1">
              <a:spcBef>
                <a:spcPct val="0"/>
              </a:spcBef>
              <a:buClrTx/>
              <a:buFontTx/>
              <a:buNone/>
            </a:pPr>
            <a:endParaRPr lang="zh-CN" altLang="en-US" sz="2800" dirty="0"/>
          </a:p>
        </p:txBody>
      </p:sp>
      <p:grpSp>
        <p:nvGrpSpPr>
          <p:cNvPr id="81924" name="Group 261"/>
          <p:cNvGrpSpPr/>
          <p:nvPr/>
        </p:nvGrpSpPr>
        <p:grpSpPr bwMode="auto">
          <a:xfrm>
            <a:off x="1568450" y="2382838"/>
            <a:ext cx="6276975" cy="3986212"/>
            <a:chOff x="996" y="1486"/>
            <a:chExt cx="3954" cy="2511"/>
          </a:xfrm>
        </p:grpSpPr>
        <p:sp>
          <p:nvSpPr>
            <p:cNvPr id="81937" name="Rectangle 29"/>
            <p:cNvSpPr>
              <a:spLocks noChangeArrowheads="1"/>
            </p:cNvSpPr>
            <p:nvPr/>
          </p:nvSpPr>
          <p:spPr bwMode="auto">
            <a:xfrm>
              <a:off x="1431" y="2670"/>
              <a:ext cx="801" cy="495"/>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38" name="Text Box 30"/>
            <p:cNvSpPr txBox="1">
              <a:spLocks noChangeArrowheads="1"/>
            </p:cNvSpPr>
            <p:nvPr/>
          </p:nvSpPr>
          <p:spPr bwMode="auto">
            <a:xfrm>
              <a:off x="1454" y="2644"/>
              <a:ext cx="2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dirty="0">
                  <a:solidFill>
                    <a:schemeClr val="bg1"/>
                  </a:solidFill>
                  <a:latin typeface="Tahoma" panose="020B0604030504040204" pitchFamily="34" charset="0"/>
                  <a:ea typeface="宋体" panose="02010600030101010101" pitchFamily="2" charset="-122"/>
                </a:rPr>
                <a:t>Q</a:t>
              </a:r>
              <a:endParaRPr kumimoji="0" lang="en-US" altLang="zh-CN" sz="2000" dirty="0">
                <a:solidFill>
                  <a:schemeClr val="bg1"/>
                </a:solidFill>
                <a:latin typeface="Tahoma" panose="020B0604030504040204" pitchFamily="34" charset="0"/>
                <a:ea typeface="宋体" panose="02010600030101010101" pitchFamily="2" charset="-122"/>
              </a:endParaRPr>
            </a:p>
          </p:txBody>
        </p:sp>
        <p:sp>
          <p:nvSpPr>
            <p:cNvPr id="81939" name="Text Box 31"/>
            <p:cNvSpPr txBox="1">
              <a:spLocks noChangeArrowheads="1"/>
            </p:cNvSpPr>
            <p:nvPr/>
          </p:nvSpPr>
          <p:spPr bwMode="auto">
            <a:xfrm>
              <a:off x="1994" y="2644"/>
              <a:ext cx="2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81940" name="Line 32"/>
            <p:cNvSpPr>
              <a:spLocks noChangeShapeType="1"/>
            </p:cNvSpPr>
            <p:nvPr/>
          </p:nvSpPr>
          <p:spPr bwMode="auto">
            <a:xfrm>
              <a:off x="2043" y="2697"/>
              <a:ext cx="13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41" name="Text Box 33"/>
            <p:cNvSpPr txBox="1">
              <a:spLocks noChangeArrowheads="1"/>
            </p:cNvSpPr>
            <p:nvPr/>
          </p:nvSpPr>
          <p:spPr bwMode="auto">
            <a:xfrm>
              <a:off x="1991" y="2956"/>
              <a:ext cx="2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81942" name="Text Box 34"/>
            <p:cNvSpPr txBox="1">
              <a:spLocks noChangeArrowheads="1"/>
            </p:cNvSpPr>
            <p:nvPr/>
          </p:nvSpPr>
          <p:spPr bwMode="auto">
            <a:xfrm>
              <a:off x="1697" y="2815"/>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dirty="0">
                  <a:solidFill>
                    <a:schemeClr val="bg1"/>
                  </a:solidFill>
                  <a:latin typeface="Tahoma" panose="020B0604030504040204" pitchFamily="34" charset="0"/>
                  <a:ea typeface="宋体" panose="02010600030101010101" pitchFamily="2" charset="-122"/>
                </a:rPr>
                <a:t>Cr</a:t>
              </a:r>
              <a:endParaRPr kumimoji="0" lang="en-US" altLang="zh-CN" sz="2000" dirty="0">
                <a:solidFill>
                  <a:schemeClr val="bg1"/>
                </a:solidFill>
                <a:latin typeface="Tahoma" panose="020B0604030504040204" pitchFamily="34" charset="0"/>
                <a:ea typeface="宋体" panose="02010600030101010101" pitchFamily="2" charset="-122"/>
              </a:endParaRPr>
            </a:p>
          </p:txBody>
        </p:sp>
        <p:sp>
          <p:nvSpPr>
            <p:cNvPr id="81943" name="Text Box 35"/>
            <p:cNvSpPr txBox="1">
              <a:spLocks noChangeArrowheads="1"/>
            </p:cNvSpPr>
            <p:nvPr/>
          </p:nvSpPr>
          <p:spPr bwMode="auto">
            <a:xfrm>
              <a:off x="1454" y="3028"/>
              <a:ext cx="2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dirty="0">
                  <a:solidFill>
                    <a:schemeClr val="bg1"/>
                  </a:solidFill>
                  <a:latin typeface="Tahoma" panose="020B0604030504040204" pitchFamily="34" charset="0"/>
                  <a:ea typeface="宋体" panose="02010600030101010101" pitchFamily="2" charset="-122"/>
                </a:rPr>
                <a:t>^</a:t>
              </a:r>
              <a:endParaRPr kumimoji="0" lang="en-US" altLang="zh-CN" sz="2000" dirty="0">
                <a:solidFill>
                  <a:schemeClr val="bg1"/>
                </a:solidFill>
                <a:latin typeface="Tahoma" panose="020B0604030504040204" pitchFamily="34" charset="0"/>
                <a:ea typeface="宋体" panose="02010600030101010101" pitchFamily="2" charset="-122"/>
              </a:endParaRPr>
            </a:p>
          </p:txBody>
        </p:sp>
        <p:sp>
          <p:nvSpPr>
            <p:cNvPr id="81944" name="Oval 36"/>
            <p:cNvSpPr>
              <a:spLocks noChangeArrowheads="1"/>
            </p:cNvSpPr>
            <p:nvPr/>
          </p:nvSpPr>
          <p:spPr bwMode="auto">
            <a:xfrm>
              <a:off x="2229" y="2898"/>
              <a:ext cx="63" cy="6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63213" name="AutoShape 45"/>
            <p:cNvSpPr>
              <a:spLocks noChangeArrowheads="1"/>
            </p:cNvSpPr>
            <p:nvPr/>
          </p:nvSpPr>
          <p:spPr bwMode="auto">
            <a:xfrm rot="-5400000">
              <a:off x="1164" y="1896"/>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1946" name="Line 49"/>
            <p:cNvSpPr>
              <a:spLocks noChangeShapeType="1"/>
            </p:cNvSpPr>
            <p:nvPr/>
          </p:nvSpPr>
          <p:spPr bwMode="auto">
            <a:xfrm>
              <a:off x="2292" y="2931"/>
              <a:ext cx="184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47" name="Text Box 50"/>
            <p:cNvSpPr txBox="1">
              <a:spLocks noChangeArrowheads="1"/>
            </p:cNvSpPr>
            <p:nvPr/>
          </p:nvSpPr>
          <p:spPr bwMode="auto">
            <a:xfrm>
              <a:off x="2246" y="2716"/>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endParaRPr kumimoji="0" lang="en-US" altLang="zh-CN" sz="2000">
                <a:latin typeface="Tahoma" panose="020B0604030504040204" pitchFamily="34" charset="0"/>
                <a:ea typeface="宋体" panose="02010600030101010101" pitchFamily="2" charset="-122"/>
              </a:endParaRPr>
            </a:p>
          </p:txBody>
        </p:sp>
        <p:sp>
          <p:nvSpPr>
            <p:cNvPr id="81948" name="Line 51"/>
            <p:cNvSpPr>
              <a:spLocks noChangeShapeType="1"/>
            </p:cNvSpPr>
            <p:nvPr/>
          </p:nvSpPr>
          <p:spPr bwMode="auto">
            <a:xfrm>
              <a:off x="1575" y="3168"/>
              <a:ext cx="0" cy="327"/>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49" name="Line 52"/>
            <p:cNvSpPr>
              <a:spLocks noChangeShapeType="1"/>
            </p:cNvSpPr>
            <p:nvPr/>
          </p:nvSpPr>
          <p:spPr bwMode="auto">
            <a:xfrm>
              <a:off x="2103" y="3291"/>
              <a:ext cx="62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0" name="Line 53"/>
            <p:cNvSpPr>
              <a:spLocks noChangeShapeType="1"/>
            </p:cNvSpPr>
            <p:nvPr/>
          </p:nvSpPr>
          <p:spPr bwMode="auto">
            <a:xfrm>
              <a:off x="1575" y="2178"/>
              <a:ext cx="0" cy="486"/>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1" name="Line 55"/>
            <p:cNvSpPr>
              <a:spLocks noChangeShapeType="1"/>
            </p:cNvSpPr>
            <p:nvPr/>
          </p:nvSpPr>
          <p:spPr bwMode="auto">
            <a:xfrm>
              <a:off x="2106" y="3165"/>
              <a:ext cx="0" cy="126"/>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2" name="Line 106"/>
            <p:cNvSpPr>
              <a:spLocks noChangeShapeType="1"/>
            </p:cNvSpPr>
            <p:nvPr/>
          </p:nvSpPr>
          <p:spPr bwMode="auto">
            <a:xfrm flipV="1">
              <a:off x="1203" y="2070"/>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3" name="Line 122"/>
            <p:cNvSpPr>
              <a:spLocks noChangeShapeType="1"/>
            </p:cNvSpPr>
            <p:nvPr/>
          </p:nvSpPr>
          <p:spPr bwMode="auto">
            <a:xfrm flipV="1">
              <a:off x="1257" y="1758"/>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4" name="Text Box 131"/>
            <p:cNvSpPr txBox="1">
              <a:spLocks noChangeArrowheads="1"/>
            </p:cNvSpPr>
            <p:nvPr/>
          </p:nvSpPr>
          <p:spPr bwMode="auto">
            <a:xfrm>
              <a:off x="4443" y="1486"/>
              <a:ext cx="4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81955" name="Text Box 133"/>
            <p:cNvSpPr txBox="1">
              <a:spLocks noChangeArrowheads="1"/>
            </p:cNvSpPr>
            <p:nvPr/>
          </p:nvSpPr>
          <p:spPr bwMode="auto">
            <a:xfrm>
              <a:off x="1812" y="1486"/>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81956" name="Text Box 135"/>
            <p:cNvSpPr txBox="1">
              <a:spLocks noChangeArrowheads="1"/>
            </p:cNvSpPr>
            <p:nvPr/>
          </p:nvSpPr>
          <p:spPr bwMode="auto">
            <a:xfrm>
              <a:off x="3168" y="1486"/>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81957" name="Text Box 137"/>
            <p:cNvSpPr txBox="1">
              <a:spLocks noChangeArrowheads="1"/>
            </p:cNvSpPr>
            <p:nvPr/>
          </p:nvSpPr>
          <p:spPr bwMode="auto">
            <a:xfrm>
              <a:off x="3837" y="1489"/>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81958" name="Text Box 139"/>
            <p:cNvSpPr txBox="1">
              <a:spLocks noChangeArrowheads="1"/>
            </p:cNvSpPr>
            <p:nvPr/>
          </p:nvSpPr>
          <p:spPr bwMode="auto">
            <a:xfrm>
              <a:off x="1131" y="1489"/>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81959" name="Text Box 171"/>
            <p:cNvSpPr txBox="1">
              <a:spLocks noChangeArrowheads="1"/>
            </p:cNvSpPr>
            <p:nvPr/>
          </p:nvSpPr>
          <p:spPr bwMode="auto">
            <a:xfrm>
              <a:off x="2445" y="1486"/>
              <a:ext cx="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81960" name="Text Box 186"/>
            <p:cNvSpPr txBox="1">
              <a:spLocks noChangeArrowheads="1"/>
            </p:cNvSpPr>
            <p:nvPr/>
          </p:nvSpPr>
          <p:spPr bwMode="auto">
            <a:xfrm>
              <a:off x="2464" y="2314"/>
              <a:ext cx="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81961" name="Oval 187"/>
            <p:cNvSpPr>
              <a:spLocks noChangeArrowheads="1"/>
            </p:cNvSpPr>
            <p:nvPr/>
          </p:nvSpPr>
          <p:spPr bwMode="auto">
            <a:xfrm>
              <a:off x="2774" y="2320"/>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2" name="Text Box 188"/>
            <p:cNvSpPr txBox="1">
              <a:spLocks noChangeArrowheads="1"/>
            </p:cNvSpPr>
            <p:nvPr/>
          </p:nvSpPr>
          <p:spPr bwMode="auto">
            <a:xfrm>
              <a:off x="4495" y="2314"/>
              <a:ext cx="4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81963" name="Oval 189"/>
            <p:cNvSpPr>
              <a:spLocks noChangeArrowheads="1"/>
            </p:cNvSpPr>
            <p:nvPr/>
          </p:nvSpPr>
          <p:spPr bwMode="auto">
            <a:xfrm>
              <a:off x="4859"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4" name="Text Box 190"/>
            <p:cNvSpPr txBox="1">
              <a:spLocks noChangeArrowheads="1"/>
            </p:cNvSpPr>
            <p:nvPr/>
          </p:nvSpPr>
          <p:spPr bwMode="auto">
            <a:xfrm>
              <a:off x="1876" y="2314"/>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81965" name="Oval 191"/>
            <p:cNvSpPr>
              <a:spLocks noChangeArrowheads="1"/>
            </p:cNvSpPr>
            <p:nvPr/>
          </p:nvSpPr>
          <p:spPr bwMode="auto">
            <a:xfrm>
              <a:off x="2078"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6" name="Text Box 192"/>
            <p:cNvSpPr txBox="1">
              <a:spLocks noChangeArrowheads="1"/>
            </p:cNvSpPr>
            <p:nvPr/>
          </p:nvSpPr>
          <p:spPr bwMode="auto">
            <a:xfrm>
              <a:off x="3232" y="2314"/>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81967" name="Oval 193"/>
            <p:cNvSpPr>
              <a:spLocks noChangeArrowheads="1"/>
            </p:cNvSpPr>
            <p:nvPr/>
          </p:nvSpPr>
          <p:spPr bwMode="auto">
            <a:xfrm>
              <a:off x="3434"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8" name="Text Box 194"/>
            <p:cNvSpPr txBox="1">
              <a:spLocks noChangeArrowheads="1"/>
            </p:cNvSpPr>
            <p:nvPr/>
          </p:nvSpPr>
          <p:spPr bwMode="auto">
            <a:xfrm>
              <a:off x="3901" y="2314"/>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81969" name="Oval 195"/>
            <p:cNvSpPr>
              <a:spLocks noChangeArrowheads="1"/>
            </p:cNvSpPr>
            <p:nvPr/>
          </p:nvSpPr>
          <p:spPr bwMode="auto">
            <a:xfrm>
              <a:off x="4103"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70" name="Text Box 196"/>
            <p:cNvSpPr txBox="1">
              <a:spLocks noChangeArrowheads="1"/>
            </p:cNvSpPr>
            <p:nvPr/>
          </p:nvSpPr>
          <p:spPr bwMode="auto">
            <a:xfrm>
              <a:off x="1183" y="2314"/>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81971" name="Oval 197"/>
            <p:cNvSpPr>
              <a:spLocks noChangeArrowheads="1"/>
            </p:cNvSpPr>
            <p:nvPr/>
          </p:nvSpPr>
          <p:spPr bwMode="auto">
            <a:xfrm>
              <a:off x="1385"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72" name="Line 198"/>
            <p:cNvSpPr>
              <a:spLocks noChangeShapeType="1"/>
            </p:cNvSpPr>
            <p:nvPr/>
          </p:nvSpPr>
          <p:spPr bwMode="auto">
            <a:xfrm flipV="1">
              <a:off x="1302" y="2070"/>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73" name="Line 199"/>
            <p:cNvSpPr>
              <a:spLocks noChangeShapeType="1"/>
            </p:cNvSpPr>
            <p:nvPr/>
          </p:nvSpPr>
          <p:spPr bwMode="auto">
            <a:xfrm>
              <a:off x="1197" y="2178"/>
              <a:ext cx="3753"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81974" name="Group 204"/>
            <p:cNvGrpSpPr/>
            <p:nvPr/>
          </p:nvGrpSpPr>
          <p:grpSpPr bwMode="auto">
            <a:xfrm>
              <a:off x="1854" y="1752"/>
              <a:ext cx="180" cy="612"/>
              <a:chOff x="2160" y="1752"/>
              <a:chExt cx="180" cy="612"/>
            </a:xfrm>
          </p:grpSpPr>
          <p:sp>
            <p:nvSpPr>
              <p:cNvPr id="263368" name="AutoShape 200"/>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28" name="Line 201"/>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9" name="Line 202"/>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30" name="Line 203"/>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75" name="Group 205"/>
            <p:cNvGrpSpPr/>
            <p:nvPr/>
          </p:nvGrpSpPr>
          <p:grpSpPr bwMode="auto">
            <a:xfrm>
              <a:off x="2520" y="1752"/>
              <a:ext cx="180" cy="612"/>
              <a:chOff x="2160" y="1752"/>
              <a:chExt cx="180" cy="612"/>
            </a:xfrm>
          </p:grpSpPr>
          <p:sp>
            <p:nvSpPr>
              <p:cNvPr id="263374" name="AutoShape 206"/>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24" name="Line 207"/>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5" name="Line 208"/>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6" name="Line 209"/>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76" name="Group 210"/>
            <p:cNvGrpSpPr/>
            <p:nvPr/>
          </p:nvGrpSpPr>
          <p:grpSpPr bwMode="auto">
            <a:xfrm>
              <a:off x="3210" y="1752"/>
              <a:ext cx="180" cy="612"/>
              <a:chOff x="2160" y="1752"/>
              <a:chExt cx="180" cy="612"/>
            </a:xfrm>
          </p:grpSpPr>
          <p:sp>
            <p:nvSpPr>
              <p:cNvPr id="263379" name="AutoShape 211"/>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20" name="Line 212"/>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1" name="Line 213"/>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2" name="Line 214"/>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77" name="Group 215"/>
            <p:cNvGrpSpPr/>
            <p:nvPr/>
          </p:nvGrpSpPr>
          <p:grpSpPr bwMode="auto">
            <a:xfrm>
              <a:off x="3882" y="1752"/>
              <a:ext cx="180" cy="612"/>
              <a:chOff x="2160" y="1752"/>
              <a:chExt cx="180" cy="612"/>
            </a:xfrm>
          </p:grpSpPr>
          <p:sp>
            <p:nvSpPr>
              <p:cNvPr id="263384" name="AutoShape 216"/>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16" name="Line 217"/>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17" name="Line 218"/>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18" name="Line 219"/>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78" name="Group 220"/>
            <p:cNvGrpSpPr/>
            <p:nvPr/>
          </p:nvGrpSpPr>
          <p:grpSpPr bwMode="auto">
            <a:xfrm>
              <a:off x="4584" y="1752"/>
              <a:ext cx="180" cy="612"/>
              <a:chOff x="2160" y="1752"/>
              <a:chExt cx="180" cy="612"/>
            </a:xfrm>
          </p:grpSpPr>
          <p:sp>
            <p:nvSpPr>
              <p:cNvPr id="263389" name="AutoShape 221"/>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12" name="Line 222"/>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13" name="Line 223"/>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14" name="Line 224"/>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81979" name="Oval 227"/>
            <p:cNvSpPr>
              <a:spLocks noChangeArrowheads="1"/>
            </p:cNvSpPr>
            <p:nvPr/>
          </p:nvSpPr>
          <p:spPr bwMode="auto">
            <a:xfrm>
              <a:off x="1562" y="2167"/>
              <a:ext cx="34" cy="34"/>
            </a:xfrm>
            <a:prstGeom prst="ellipse">
              <a:avLst/>
            </a:prstGeom>
            <a:solidFill>
              <a:schemeClr val="tx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63396" name="Oval 228"/>
            <p:cNvSpPr>
              <a:spLocks noChangeArrowheads="1"/>
            </p:cNvSpPr>
            <p:nvPr/>
          </p:nvSpPr>
          <p:spPr bwMode="auto">
            <a:xfrm>
              <a:off x="1877"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63397" name="Oval 229"/>
            <p:cNvSpPr>
              <a:spLocks noChangeArrowheads="1"/>
            </p:cNvSpPr>
            <p:nvPr/>
          </p:nvSpPr>
          <p:spPr bwMode="auto">
            <a:xfrm>
              <a:off x="2537"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63398" name="Oval 230"/>
            <p:cNvSpPr>
              <a:spLocks noChangeArrowheads="1"/>
            </p:cNvSpPr>
            <p:nvPr/>
          </p:nvSpPr>
          <p:spPr bwMode="auto">
            <a:xfrm>
              <a:off x="3233"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63399" name="Oval 231"/>
            <p:cNvSpPr>
              <a:spLocks noChangeArrowheads="1"/>
            </p:cNvSpPr>
            <p:nvPr/>
          </p:nvSpPr>
          <p:spPr bwMode="auto">
            <a:xfrm>
              <a:off x="3905"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63400" name="Oval 232"/>
            <p:cNvSpPr>
              <a:spLocks noChangeArrowheads="1"/>
            </p:cNvSpPr>
            <p:nvPr/>
          </p:nvSpPr>
          <p:spPr bwMode="auto">
            <a:xfrm>
              <a:off x="4607"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1985" name="Oval 233"/>
            <p:cNvSpPr>
              <a:spLocks noChangeArrowheads="1"/>
            </p:cNvSpPr>
            <p:nvPr/>
          </p:nvSpPr>
          <p:spPr bwMode="auto">
            <a:xfrm>
              <a:off x="3542" y="2917"/>
              <a:ext cx="34" cy="34"/>
            </a:xfrm>
            <a:prstGeom prst="ellipse">
              <a:avLst/>
            </a:prstGeom>
            <a:solidFill>
              <a:schemeClr val="tx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86" name="Text Box 234"/>
            <p:cNvSpPr txBox="1">
              <a:spLocks noChangeArrowheads="1"/>
            </p:cNvSpPr>
            <p:nvPr/>
          </p:nvSpPr>
          <p:spPr bwMode="auto">
            <a:xfrm>
              <a:off x="996" y="3532"/>
              <a:ext cx="11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        T</a:t>
              </a:r>
              <a:r>
                <a:rPr kumimoji="0" lang="en-US" altLang="zh-CN" sz="2400" baseline="-25000">
                  <a:latin typeface="Tahoma" panose="020B0604030504040204" pitchFamily="34" charset="0"/>
                  <a:ea typeface="宋体" panose="02010600030101010101" pitchFamily="2" charset="-122"/>
                </a:rPr>
                <a:t>4</a:t>
              </a:r>
              <a:r>
                <a:rPr kumimoji="0" lang="en-US" altLang="zh-CN" sz="2400">
                  <a:latin typeface="Tahoma" panose="020B0604030504040204" pitchFamily="34" charset="0"/>
                  <a:ea typeface="宋体" panose="02010600030101010101" pitchFamily="2" charset="-122"/>
                </a:rPr>
                <a:t>(C1)</a:t>
              </a:r>
              <a:endParaRPr kumimoji="0" lang="en-US" altLang="zh-CN" sz="2400">
                <a:latin typeface="Tahoma" panose="020B0604030504040204" pitchFamily="34" charset="0"/>
                <a:ea typeface="宋体" panose="02010600030101010101" pitchFamily="2" charset="-122"/>
              </a:endParaRPr>
            </a:p>
          </p:txBody>
        </p:sp>
        <p:sp>
          <p:nvSpPr>
            <p:cNvPr id="81987" name="Oval 235"/>
            <p:cNvSpPr>
              <a:spLocks noChangeArrowheads="1"/>
            </p:cNvSpPr>
            <p:nvPr/>
          </p:nvSpPr>
          <p:spPr bwMode="auto">
            <a:xfrm>
              <a:off x="1637" y="3586"/>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88" name="Line 236"/>
            <p:cNvSpPr>
              <a:spLocks noChangeShapeType="1"/>
            </p:cNvSpPr>
            <p:nvPr/>
          </p:nvSpPr>
          <p:spPr bwMode="auto">
            <a:xfrm>
              <a:off x="1479" y="3567"/>
              <a:ext cx="183"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63406" name="AutoShape 238"/>
            <p:cNvSpPr>
              <a:spLocks noChangeArrowheads="1"/>
            </p:cNvSpPr>
            <p:nvPr/>
          </p:nvSpPr>
          <p:spPr bwMode="auto">
            <a:xfrm flipH="1">
              <a:off x="2772" y="3198"/>
              <a:ext cx="180" cy="180"/>
            </a:xfrm>
            <a:prstGeom prst="flowChartDelay">
              <a:avLst/>
            </a:prstGeom>
            <a:solidFill>
              <a:schemeClr val="accent1"/>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1990" name="Line 239"/>
            <p:cNvSpPr>
              <a:spLocks noChangeShapeType="1"/>
            </p:cNvSpPr>
            <p:nvPr/>
          </p:nvSpPr>
          <p:spPr bwMode="auto">
            <a:xfrm rot="-5400000" flipH="1" flipV="1">
              <a:off x="3002" y="3277"/>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91" name="Line 241"/>
            <p:cNvSpPr>
              <a:spLocks noChangeShapeType="1"/>
            </p:cNvSpPr>
            <p:nvPr/>
          </p:nvSpPr>
          <p:spPr bwMode="auto">
            <a:xfrm rot="-5400000" flipH="1" flipV="1">
              <a:off x="3072" y="3120"/>
              <a:ext cx="0" cy="24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63410" name="Oval 242"/>
            <p:cNvSpPr>
              <a:spLocks noChangeArrowheads="1"/>
            </p:cNvSpPr>
            <p:nvPr/>
          </p:nvSpPr>
          <p:spPr bwMode="auto">
            <a:xfrm>
              <a:off x="2720" y="3262"/>
              <a:ext cx="56" cy="56"/>
            </a:xfrm>
            <a:prstGeom prst="ellipse">
              <a:avLst/>
            </a:prstGeom>
            <a:solidFill>
              <a:schemeClr val="bg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63411" name="AutoShape 243"/>
            <p:cNvSpPr>
              <a:spLocks noChangeArrowheads="1"/>
            </p:cNvSpPr>
            <p:nvPr/>
          </p:nvSpPr>
          <p:spPr bwMode="auto">
            <a:xfrm flipH="1">
              <a:off x="2772" y="3600"/>
              <a:ext cx="180" cy="180"/>
            </a:xfrm>
            <a:prstGeom prst="flowChartDelay">
              <a:avLst/>
            </a:prstGeom>
            <a:solidFill>
              <a:schemeClr val="accent1"/>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1994" name="Line 244"/>
            <p:cNvSpPr>
              <a:spLocks noChangeShapeType="1"/>
            </p:cNvSpPr>
            <p:nvPr/>
          </p:nvSpPr>
          <p:spPr bwMode="auto">
            <a:xfrm rot="-5400000" flipH="1" flipV="1">
              <a:off x="3149" y="3544"/>
              <a:ext cx="0" cy="40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95" name="Line 245"/>
            <p:cNvSpPr>
              <a:spLocks noChangeShapeType="1"/>
            </p:cNvSpPr>
            <p:nvPr/>
          </p:nvSpPr>
          <p:spPr bwMode="auto">
            <a:xfrm rot="-5400000" flipH="1" flipV="1">
              <a:off x="3003" y="3579"/>
              <a:ext cx="0" cy="10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63414" name="Oval 246"/>
            <p:cNvSpPr>
              <a:spLocks noChangeArrowheads="1"/>
            </p:cNvSpPr>
            <p:nvPr/>
          </p:nvSpPr>
          <p:spPr bwMode="auto">
            <a:xfrm>
              <a:off x="2720" y="3664"/>
              <a:ext cx="56" cy="56"/>
            </a:xfrm>
            <a:prstGeom prst="ellipse">
              <a:avLst/>
            </a:prstGeom>
            <a:solidFill>
              <a:schemeClr val="bg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81997" name="Line 247"/>
            <p:cNvSpPr>
              <a:spLocks noChangeShapeType="1"/>
            </p:cNvSpPr>
            <p:nvPr/>
          </p:nvSpPr>
          <p:spPr bwMode="auto">
            <a:xfrm>
              <a:off x="2520" y="3288"/>
              <a:ext cx="0" cy="9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98" name="Line 248"/>
            <p:cNvSpPr>
              <a:spLocks noChangeShapeType="1"/>
            </p:cNvSpPr>
            <p:nvPr/>
          </p:nvSpPr>
          <p:spPr bwMode="auto">
            <a:xfrm rot="-5400000" flipH="1" flipV="1">
              <a:off x="2618" y="3595"/>
              <a:ext cx="0" cy="19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99" name="Line 249"/>
            <p:cNvSpPr>
              <a:spLocks noChangeShapeType="1"/>
            </p:cNvSpPr>
            <p:nvPr/>
          </p:nvSpPr>
          <p:spPr bwMode="auto">
            <a:xfrm>
              <a:off x="2520" y="3612"/>
              <a:ext cx="0" cy="9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0" name="Line 250"/>
            <p:cNvSpPr>
              <a:spLocks noChangeShapeType="1"/>
            </p:cNvSpPr>
            <p:nvPr/>
          </p:nvSpPr>
          <p:spPr bwMode="auto">
            <a:xfrm>
              <a:off x="3054" y="3330"/>
              <a:ext cx="0" cy="9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1" name="Line 251"/>
            <p:cNvSpPr>
              <a:spLocks noChangeShapeType="1"/>
            </p:cNvSpPr>
            <p:nvPr/>
          </p:nvSpPr>
          <p:spPr bwMode="auto">
            <a:xfrm>
              <a:off x="3054" y="3546"/>
              <a:ext cx="0" cy="9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2" name="Line 252"/>
            <p:cNvSpPr>
              <a:spLocks noChangeShapeType="1"/>
            </p:cNvSpPr>
            <p:nvPr/>
          </p:nvSpPr>
          <p:spPr bwMode="auto">
            <a:xfrm rot="-5400000" flipH="1" flipV="1">
              <a:off x="3255" y="3381"/>
              <a:ext cx="0" cy="606"/>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3" name="Line 253"/>
            <p:cNvSpPr>
              <a:spLocks noChangeShapeType="1"/>
            </p:cNvSpPr>
            <p:nvPr/>
          </p:nvSpPr>
          <p:spPr bwMode="auto">
            <a:xfrm>
              <a:off x="3561" y="2934"/>
              <a:ext cx="0" cy="753"/>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4" name="Line 254"/>
            <p:cNvSpPr>
              <a:spLocks noChangeShapeType="1"/>
            </p:cNvSpPr>
            <p:nvPr/>
          </p:nvSpPr>
          <p:spPr bwMode="auto">
            <a:xfrm>
              <a:off x="2520" y="3372"/>
              <a:ext cx="534" cy="18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5" name="Line 255"/>
            <p:cNvSpPr>
              <a:spLocks noChangeShapeType="1"/>
            </p:cNvSpPr>
            <p:nvPr/>
          </p:nvSpPr>
          <p:spPr bwMode="auto">
            <a:xfrm flipV="1">
              <a:off x="2514" y="3414"/>
              <a:ext cx="534" cy="19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6" name="Oval 256"/>
            <p:cNvSpPr>
              <a:spLocks noChangeArrowheads="1"/>
            </p:cNvSpPr>
            <p:nvPr/>
          </p:nvSpPr>
          <p:spPr bwMode="auto">
            <a:xfrm>
              <a:off x="2504" y="3271"/>
              <a:ext cx="34" cy="34"/>
            </a:xfrm>
            <a:prstGeom prst="ellipse">
              <a:avLst/>
            </a:prstGeom>
            <a:solidFill>
              <a:schemeClr val="tx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007" name="Text Box 257"/>
            <p:cNvSpPr txBox="1">
              <a:spLocks noChangeArrowheads="1"/>
            </p:cNvSpPr>
            <p:nvPr/>
          </p:nvSpPr>
          <p:spPr bwMode="auto">
            <a:xfrm>
              <a:off x="2706" y="2937"/>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启动</a:t>
              </a:r>
              <a:endParaRPr kumimoji="0" lang="zh-CN" altLang="en-US" sz="2400">
                <a:latin typeface="Tahoma" panose="020B0604030504040204" pitchFamily="34" charset="0"/>
                <a:ea typeface="宋体" panose="02010600030101010101" pitchFamily="2" charset="-122"/>
              </a:endParaRPr>
            </a:p>
          </p:txBody>
        </p:sp>
        <p:sp>
          <p:nvSpPr>
            <p:cNvPr id="82008" name="Text Box 258"/>
            <p:cNvSpPr txBox="1">
              <a:spLocks noChangeArrowheads="1"/>
            </p:cNvSpPr>
            <p:nvPr/>
          </p:nvSpPr>
          <p:spPr bwMode="auto">
            <a:xfrm>
              <a:off x="3248" y="3709"/>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停机</a:t>
              </a:r>
              <a:endParaRPr kumimoji="0" lang="zh-CN" altLang="en-US" sz="2400">
                <a:latin typeface="Tahoma" panose="020B0604030504040204" pitchFamily="34" charset="0"/>
                <a:ea typeface="宋体" panose="02010600030101010101" pitchFamily="2" charset="-122"/>
              </a:endParaRPr>
            </a:p>
          </p:txBody>
        </p:sp>
        <p:sp>
          <p:nvSpPr>
            <p:cNvPr id="82009" name="Text Box 259"/>
            <p:cNvSpPr txBox="1">
              <a:spLocks noChangeArrowheads="1"/>
            </p:cNvSpPr>
            <p:nvPr/>
          </p:nvSpPr>
          <p:spPr bwMode="auto">
            <a:xfrm>
              <a:off x="3854" y="2925"/>
              <a:ext cx="4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CLR</a:t>
              </a:r>
              <a:endParaRPr kumimoji="0" lang="en-US" altLang="zh-CN" sz="2400">
                <a:latin typeface="Tahoma" panose="020B0604030504040204" pitchFamily="34" charset="0"/>
                <a:ea typeface="宋体" panose="02010600030101010101" pitchFamily="2" charset="-122"/>
              </a:endParaRPr>
            </a:p>
          </p:txBody>
        </p:sp>
        <p:sp>
          <p:nvSpPr>
            <p:cNvPr id="82010" name="Line 260"/>
            <p:cNvSpPr>
              <a:spLocks noChangeShapeType="1"/>
            </p:cNvSpPr>
            <p:nvPr/>
          </p:nvSpPr>
          <p:spPr bwMode="auto">
            <a:xfrm>
              <a:off x="3915" y="2979"/>
              <a:ext cx="35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25" name="组合 129"/>
          <p:cNvGrpSpPr/>
          <p:nvPr/>
        </p:nvGrpSpPr>
        <p:grpSpPr bwMode="auto">
          <a:xfrm>
            <a:off x="5903913" y="6040438"/>
            <a:ext cx="638175" cy="204787"/>
            <a:chOff x="6125592" y="6121236"/>
            <a:chExt cx="807868" cy="252933"/>
          </a:xfrm>
        </p:grpSpPr>
        <p:cxnSp>
          <p:nvCxnSpPr>
            <p:cNvPr id="103" name="直接连接符 102"/>
            <p:cNvCxnSpPr/>
            <p:nvPr/>
          </p:nvCxnSpPr>
          <p:spPr bwMode="auto">
            <a:xfrm>
              <a:off x="6125592" y="6125157"/>
              <a:ext cx="275318" cy="19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0" name="直接连接符 109"/>
            <p:cNvCxnSpPr/>
            <p:nvPr/>
          </p:nvCxnSpPr>
          <p:spPr bwMode="auto">
            <a:xfrm rot="16200000" flipH="1">
              <a:off x="6282310" y="6253560"/>
              <a:ext cx="239209" cy="2010"/>
            </a:xfrm>
            <a:prstGeom prst="line">
              <a:avLst/>
            </a:prstGeom>
            <a:noFill/>
            <a:ln w="9525" cap="flat" cmpd="sng" algn="ctr">
              <a:solidFill>
                <a:schemeClr val="dk1">
                  <a:shade val="95000"/>
                  <a:satMod val="105000"/>
                </a:schemeClr>
              </a:solidFill>
              <a:prstDash val="solid"/>
              <a:miter lim="800000"/>
              <a:headEnd type="none" w="med" len="med"/>
              <a:tailEnd type="none" w="med" len="med"/>
            </a:ln>
            <a:effectLst/>
          </p:spPr>
        </p:cxnSp>
        <p:cxnSp>
          <p:nvCxnSpPr>
            <p:cNvPr id="123" name="直接连接符 122"/>
            <p:cNvCxnSpPr/>
            <p:nvPr/>
          </p:nvCxnSpPr>
          <p:spPr bwMode="auto">
            <a:xfrm flipV="1">
              <a:off x="6400910" y="6362405"/>
              <a:ext cx="255223" cy="196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5" name="直接连接符 124"/>
            <p:cNvCxnSpPr/>
            <p:nvPr/>
          </p:nvCxnSpPr>
          <p:spPr bwMode="auto">
            <a:xfrm rot="16200000" flipH="1">
              <a:off x="6529494" y="6239836"/>
              <a:ext cx="239209" cy="2009"/>
            </a:xfrm>
            <a:prstGeom prst="line">
              <a:avLst/>
            </a:prstGeom>
            <a:noFill/>
            <a:ln w="9525" cap="flat" cmpd="sng" algn="ctr">
              <a:solidFill>
                <a:schemeClr val="dk1">
                  <a:shade val="95000"/>
                  <a:satMod val="105000"/>
                </a:schemeClr>
              </a:solidFill>
              <a:prstDash val="solid"/>
              <a:miter lim="800000"/>
              <a:headEnd type="none" w="med" len="med"/>
              <a:tailEnd type="none" w="med" len="med"/>
            </a:ln>
            <a:effectLst/>
          </p:spPr>
        </p:cxnSp>
        <p:cxnSp>
          <p:nvCxnSpPr>
            <p:cNvPr id="126" name="直接连接符 125"/>
            <p:cNvCxnSpPr/>
            <p:nvPr/>
          </p:nvCxnSpPr>
          <p:spPr bwMode="auto">
            <a:xfrm flipV="1">
              <a:off x="6646083" y="6123196"/>
              <a:ext cx="287377" cy="196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81926" name="组合 130"/>
          <p:cNvGrpSpPr/>
          <p:nvPr/>
        </p:nvGrpSpPr>
        <p:grpSpPr bwMode="auto">
          <a:xfrm>
            <a:off x="4951413" y="4851400"/>
            <a:ext cx="636587" cy="204788"/>
            <a:chOff x="6125592" y="6121236"/>
            <a:chExt cx="807868" cy="252933"/>
          </a:xfrm>
        </p:grpSpPr>
        <p:cxnSp>
          <p:nvCxnSpPr>
            <p:cNvPr id="132" name="直接连接符 131"/>
            <p:cNvCxnSpPr/>
            <p:nvPr/>
          </p:nvCxnSpPr>
          <p:spPr bwMode="auto">
            <a:xfrm>
              <a:off x="6125592" y="6125157"/>
              <a:ext cx="276004" cy="196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3" name="直接连接符 132"/>
            <p:cNvCxnSpPr/>
            <p:nvPr/>
          </p:nvCxnSpPr>
          <p:spPr bwMode="auto">
            <a:xfrm rot="16200000" flipH="1">
              <a:off x="6283000" y="6253558"/>
              <a:ext cx="239207" cy="2015"/>
            </a:xfrm>
            <a:prstGeom prst="line">
              <a:avLst/>
            </a:prstGeom>
            <a:noFill/>
            <a:ln w="9525" cap="flat" cmpd="sng" algn="ctr">
              <a:solidFill>
                <a:schemeClr val="dk1">
                  <a:shade val="95000"/>
                  <a:satMod val="105000"/>
                </a:schemeClr>
              </a:solidFill>
              <a:prstDash val="solid"/>
              <a:miter lim="800000"/>
              <a:headEnd type="none" w="med" len="med"/>
              <a:tailEnd type="none" w="med" len="med"/>
            </a:ln>
            <a:effectLst/>
          </p:spPr>
        </p:cxnSp>
        <p:cxnSp>
          <p:nvCxnSpPr>
            <p:cNvPr id="134" name="直接连接符 133"/>
            <p:cNvCxnSpPr/>
            <p:nvPr/>
          </p:nvCxnSpPr>
          <p:spPr bwMode="auto">
            <a:xfrm flipV="1">
              <a:off x="6399582" y="6362405"/>
              <a:ext cx="255858" cy="19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直接连接符 134"/>
            <p:cNvCxnSpPr/>
            <p:nvPr/>
          </p:nvCxnSpPr>
          <p:spPr bwMode="auto">
            <a:xfrm rot="16200000" flipH="1">
              <a:off x="6530800" y="6239833"/>
              <a:ext cx="239207" cy="2014"/>
            </a:xfrm>
            <a:prstGeom prst="line">
              <a:avLst/>
            </a:prstGeom>
            <a:noFill/>
            <a:ln w="9525" cap="flat" cmpd="sng" algn="ctr">
              <a:solidFill>
                <a:schemeClr val="dk1">
                  <a:shade val="95000"/>
                  <a:satMod val="105000"/>
                </a:schemeClr>
              </a:solidFill>
              <a:prstDash val="solid"/>
              <a:miter lim="800000"/>
              <a:headEnd type="none" w="med" len="med"/>
              <a:tailEnd type="none" w="med" len="med"/>
            </a:ln>
            <a:effectLst/>
          </p:spPr>
        </p:cxnSp>
        <p:cxnSp>
          <p:nvCxnSpPr>
            <p:cNvPr id="136" name="直接连接符 135"/>
            <p:cNvCxnSpPr/>
            <p:nvPr/>
          </p:nvCxnSpPr>
          <p:spPr bwMode="auto">
            <a:xfrm flipV="1">
              <a:off x="6645368" y="6123197"/>
              <a:ext cx="288092" cy="19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Tree>
  </p:cSld>
  <p:clrMapOvr>
    <a:masterClrMapping/>
  </p:clrMapOvr>
  <p:transition spd="med">
    <p:pull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pPr eaLnBrk="1" hangingPunct="1">
              <a:defRPr/>
            </a:pPr>
            <a:r>
              <a:rPr lang="zh-CN" altLang="en-US"/>
              <a:t>控制方式</a:t>
            </a:r>
            <a:endParaRPr lang="zh-CN" altLang="en-US"/>
          </a:p>
        </p:txBody>
      </p:sp>
      <p:sp>
        <p:nvSpPr>
          <p:cNvPr id="82946" name="Rectangle 3"/>
          <p:cNvSpPr>
            <a:spLocks noGrp="1" noChangeArrowheads="1"/>
          </p:cNvSpPr>
          <p:nvPr>
            <p:ph idx="1"/>
          </p:nvPr>
        </p:nvSpPr>
        <p:spPr/>
        <p:txBody>
          <a:bodyPr/>
          <a:lstStyle/>
          <a:p>
            <a:pPr eaLnBrk="1" hangingPunct="1"/>
            <a:r>
              <a:rPr lang="zh-CN" altLang="en-US" dirty="0"/>
              <a:t>控制器的控制方式</a:t>
            </a:r>
            <a:endParaRPr lang="zh-CN" altLang="en-US" dirty="0"/>
          </a:p>
          <a:p>
            <a:pPr lvl="1" eaLnBrk="1" hangingPunct="1"/>
            <a:r>
              <a:rPr lang="zh-CN" altLang="en-US" dirty="0"/>
              <a:t>控制不同操作序列时序信号的方法</a:t>
            </a:r>
            <a:endParaRPr lang="zh-CN" altLang="en-US" dirty="0"/>
          </a:p>
          <a:p>
            <a:pPr eaLnBrk="1" hangingPunct="1"/>
            <a:r>
              <a:rPr lang="zh-CN" altLang="en-US" dirty="0"/>
              <a:t>常用的控制方式</a:t>
            </a:r>
            <a:endParaRPr lang="zh-CN" altLang="en-US" dirty="0"/>
          </a:p>
          <a:p>
            <a:pPr lvl="1" eaLnBrk="1" hangingPunct="1"/>
            <a:r>
              <a:rPr lang="zh-CN" altLang="en-US" dirty="0"/>
              <a:t>同步控制</a:t>
            </a:r>
            <a:endParaRPr lang="zh-CN" altLang="en-US" dirty="0"/>
          </a:p>
          <a:p>
            <a:pPr lvl="1" eaLnBrk="1" hangingPunct="1"/>
            <a:r>
              <a:rPr lang="zh-CN" altLang="en-US" dirty="0"/>
              <a:t>异步控制</a:t>
            </a:r>
            <a:endParaRPr lang="zh-CN" altLang="en-US" dirty="0"/>
          </a:p>
          <a:p>
            <a:pPr lvl="1" eaLnBrk="1" hangingPunct="1"/>
            <a:r>
              <a:rPr lang="zh-CN" altLang="en-US" dirty="0"/>
              <a:t>联合控制</a:t>
            </a:r>
            <a:endParaRPr lang="zh-CN" altLang="en-US" dirty="0"/>
          </a:p>
        </p:txBody>
      </p:sp>
    </p:spTree>
  </p:cSld>
  <p:clrMapOvr>
    <a:masterClrMapping/>
  </p:clrMapOvr>
  <p:transition spd="med">
    <p:pull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pPr eaLnBrk="1" hangingPunct="1"/>
            <a:r>
              <a:rPr lang="en-US" altLang="zh-CN"/>
              <a:t>1</a:t>
            </a:r>
            <a:r>
              <a:rPr lang="zh-CN" altLang="en-US"/>
              <a:t>、同步控制方式</a:t>
            </a:r>
            <a:endParaRPr lang="zh-CN" altLang="en-US"/>
          </a:p>
        </p:txBody>
      </p:sp>
      <p:sp>
        <p:nvSpPr>
          <p:cNvPr id="83970" name="Rectangle 3"/>
          <p:cNvSpPr>
            <a:spLocks noGrp="1" noChangeArrowheads="1"/>
          </p:cNvSpPr>
          <p:nvPr>
            <p:ph idx="1"/>
          </p:nvPr>
        </p:nvSpPr>
        <p:spPr/>
        <p:txBody>
          <a:bodyPr/>
          <a:lstStyle/>
          <a:p>
            <a:pPr eaLnBrk="1" hangingPunct="1"/>
            <a:r>
              <a:rPr lang="zh-CN" altLang="en-US" dirty="0"/>
              <a:t>在任何情况下，各指令在执行时所需的机器周期数和时钟周期数都固定不变</a:t>
            </a:r>
            <a:endParaRPr lang="zh-CN" altLang="en-US" dirty="0"/>
          </a:p>
          <a:p>
            <a:pPr eaLnBrk="1" hangingPunct="1"/>
            <a:r>
              <a:rPr lang="zh-CN" altLang="en-US" dirty="0"/>
              <a:t>同步控制方式实现方案如下：</a:t>
            </a:r>
            <a:endParaRPr lang="zh-CN" altLang="en-US" dirty="0"/>
          </a:p>
          <a:p>
            <a:pPr marL="962025" lvl="1" indent="-514350" eaLnBrk="1" hangingPunct="1">
              <a:buFont typeface="Times New Roman" panose="02020603050405020304" pitchFamily="18" charset="0"/>
              <a:buAutoNum type="arabicPeriod"/>
            </a:pPr>
            <a:r>
              <a:rPr lang="zh-CN" altLang="en-US" dirty="0"/>
              <a:t>采用完全统一的机器周期执行各种不同的指令。简单指令会导致时间浪费</a:t>
            </a:r>
            <a:endParaRPr lang="zh-CN" altLang="en-US" dirty="0"/>
          </a:p>
          <a:p>
            <a:pPr marL="962025" lvl="1" indent="-514350" eaLnBrk="1" hangingPunct="1">
              <a:buFont typeface="Times New Roman" panose="02020603050405020304" pitchFamily="18" charset="0"/>
              <a:buAutoNum type="arabicPeriod"/>
            </a:pPr>
            <a:r>
              <a:rPr lang="zh-CN" altLang="en-US" dirty="0"/>
              <a:t>采用不定长机器周期。复杂指令采取延长机器周期的方法</a:t>
            </a:r>
            <a:endParaRPr lang="zh-CN" altLang="en-US" dirty="0"/>
          </a:p>
          <a:p>
            <a:pPr marL="962025" lvl="1" indent="-514350" eaLnBrk="1" hangingPunct="1">
              <a:buFont typeface="Times New Roman" panose="02020603050405020304" pitchFamily="18" charset="0"/>
              <a:buAutoNum type="arabicPeriod"/>
            </a:pPr>
            <a:r>
              <a:rPr lang="zh-CN" altLang="en-US" dirty="0"/>
              <a:t>中央控制与局部控制结合。上述方法的结合</a:t>
            </a:r>
            <a:endParaRPr lang="zh-CN" altLang="en-US" dirty="0"/>
          </a:p>
        </p:txBody>
      </p:sp>
    </p:spTree>
  </p:cSld>
  <p:clrMapOvr>
    <a:masterClrMapping/>
  </p:clrMapOvr>
  <p:transition spd="med">
    <p:pull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457200" y="116840"/>
            <a:ext cx="8229600" cy="1371600"/>
          </a:xfrm>
        </p:spPr>
        <p:txBody>
          <a:bodyPr/>
          <a:lstStyle/>
          <a:p>
            <a:pPr eaLnBrk="1" hangingPunct="1"/>
            <a:r>
              <a:rPr lang="en-US" altLang="zh-CN"/>
              <a:t>2</a:t>
            </a:r>
            <a:r>
              <a:rPr lang="zh-CN" altLang="en-US"/>
              <a:t>、异步控制方式</a:t>
            </a:r>
            <a:endParaRPr lang="zh-CN" altLang="en-US"/>
          </a:p>
        </p:txBody>
      </p:sp>
      <p:sp>
        <p:nvSpPr>
          <p:cNvPr id="84994" name="Rectangle 3"/>
          <p:cNvSpPr>
            <a:spLocks noGrp="1" noChangeArrowheads="1"/>
          </p:cNvSpPr>
          <p:nvPr>
            <p:ph idx="1"/>
          </p:nvPr>
        </p:nvSpPr>
        <p:spPr>
          <a:xfrm>
            <a:off x="333749" y="1143000"/>
            <a:ext cx="8429251" cy="5530850"/>
          </a:xfrm>
        </p:spPr>
        <p:txBody>
          <a:bodyPr/>
          <a:lstStyle/>
          <a:p>
            <a:pPr eaLnBrk="1" hangingPunct="1"/>
            <a:r>
              <a:rPr lang="zh-CN" altLang="en-US" dirty="0"/>
              <a:t>每条指令、每个操作控制信号按需占用时间</a:t>
            </a:r>
            <a:endParaRPr lang="zh-CN" altLang="en-US" dirty="0"/>
          </a:p>
          <a:p>
            <a:pPr eaLnBrk="1" hangingPunct="1"/>
            <a:r>
              <a:rPr lang="zh-CN" altLang="en-US" dirty="0"/>
              <a:t>在异步控制方式中，各项操作不采用统一的时序信号控制，而是根据指令或部件的具体情况决定。这是一种“应答”方式，没有时间上的浪费，但控制比较复杂。</a:t>
            </a:r>
            <a:endParaRPr lang="en-US" altLang="zh-CN" dirty="0"/>
          </a:p>
          <a:p>
            <a:pPr eaLnBrk="1" hangingPunct="1"/>
            <a:r>
              <a:rPr lang="zh-CN" altLang="en-US" dirty="0"/>
              <a:t>用这种方式产生的操作控制序列没有固定的机器周期数或严格的时钟周期与之同步</a:t>
            </a:r>
            <a:r>
              <a:rPr lang="zh-CN" altLang="en-US" b="0" dirty="0"/>
              <a:t> </a:t>
            </a:r>
            <a:endParaRPr lang="zh-CN" altLang="en-US" b="0" dirty="0"/>
          </a:p>
        </p:txBody>
      </p:sp>
    </p:spTree>
  </p:cSld>
  <p:clrMapOvr>
    <a:masterClrMapping/>
  </p:clrMapOvr>
  <p:transition spd="med">
    <p:pull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pPr eaLnBrk="1" hangingPunct="1"/>
            <a:r>
              <a:rPr lang="en-US" altLang="zh-CN"/>
              <a:t>3</a:t>
            </a:r>
            <a:r>
              <a:rPr lang="zh-CN" altLang="en-US"/>
              <a:t>、联合控制方式</a:t>
            </a:r>
            <a:endParaRPr lang="zh-CN" altLang="en-US"/>
          </a:p>
        </p:txBody>
      </p:sp>
      <p:sp>
        <p:nvSpPr>
          <p:cNvPr id="86018" name="Rectangle 3"/>
          <p:cNvSpPr>
            <a:spLocks noGrp="1" noChangeArrowheads="1"/>
          </p:cNvSpPr>
          <p:nvPr>
            <p:ph idx="1"/>
          </p:nvPr>
        </p:nvSpPr>
        <p:spPr/>
        <p:txBody>
          <a:bodyPr/>
          <a:lstStyle/>
          <a:p>
            <a:pPr marL="533400" indent="-533400" eaLnBrk="1" hangingPunct="1">
              <a:buFont typeface="Wingdings 2" pitchFamily="18" charset="2"/>
              <a:buNone/>
            </a:pPr>
            <a:r>
              <a:rPr lang="zh-CN" altLang="en-US" dirty="0"/>
              <a:t>同步控制和异步控制相结合的方式</a:t>
            </a:r>
            <a:endParaRPr lang="zh-CN" altLang="en-US" dirty="0"/>
          </a:p>
          <a:p>
            <a:pPr marL="533400" indent="-533400" eaLnBrk="1" hangingPunct="1">
              <a:buFont typeface="Wingdings" panose="05000000000000000000" pitchFamily="2" charset="2"/>
              <a:buAutoNum type="arabicPeriod"/>
            </a:pPr>
            <a:r>
              <a:rPr lang="zh-CN" altLang="en-US" dirty="0"/>
              <a:t>大部分操作序列安排在固定的机器周期中，对某些时间难以确定的操作则以执行部件的“应答”信号作为本次操作的结束</a:t>
            </a:r>
            <a:endParaRPr lang="zh-CN" altLang="en-US" dirty="0"/>
          </a:p>
          <a:p>
            <a:pPr marL="533400" indent="-533400" eaLnBrk="1" hangingPunct="1">
              <a:buFont typeface="Wingdings" panose="05000000000000000000" pitchFamily="2" charset="2"/>
              <a:buAutoNum type="arabicPeriod"/>
            </a:pPr>
            <a:r>
              <a:rPr lang="zh-CN" altLang="en-US" dirty="0"/>
              <a:t>机器周期的节拍脉冲数固定，但是各条指令周期的机器周期数不固定</a:t>
            </a:r>
            <a:endParaRPr lang="zh-CN" altLang="en-US" dirty="0"/>
          </a:p>
        </p:txBody>
      </p:sp>
    </p:spTree>
  </p:cSld>
  <p:clrMapOvr>
    <a:masterClrMapping/>
  </p:clrMapOvr>
  <p:transition spd="med">
    <p:pull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3"/>
          <p:cNvSpPr>
            <a:spLocks noGrp="1" noChangeArrowheads="1"/>
          </p:cNvSpPr>
          <p:nvPr>
            <p:ph idx="1"/>
          </p:nvPr>
        </p:nvSpPr>
        <p:spPr>
          <a:xfrm>
            <a:off x="457200" y="1484313"/>
            <a:ext cx="8229600" cy="464661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Char char="n"/>
              <a:defRPr/>
            </a:pPr>
            <a:r>
              <a:rPr kumimoji="1" lang="zh-CN" altLang="en-US"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读写时序信号的译码逻辑表达式</a:t>
            </a:r>
            <a:endParaRPr kumimoji="1" lang="zh-CN" altLang="en-US"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
              <a:defRPr/>
            </a:pPr>
            <a:endParaRPr kumimoji="1" lang="zh-CN" altLang="en-US" sz="2000" b="0" i="0" u="none" strike="noStrike" kern="0" cap="none" spc="0" normalizeH="0" baseline="0" noProof="0" dirty="0" smtClean="0">
              <a:ln>
                <a:noFill/>
              </a:ln>
              <a:solidFill>
                <a:schemeClr val="tx1"/>
              </a:solidFill>
              <a:effectLst/>
              <a:uLnTx/>
              <a:uFillTx/>
              <a:latin typeface="+mn-lt"/>
              <a:ea typeface="+mn-ea"/>
            </a:endParaRPr>
          </a:p>
          <a:p>
            <a:pPr marL="1600200" marR="0" lvl="3" indent="-22860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
              <a:defRPr/>
            </a:pPr>
            <a:endParaRPr kumimoji="1" lang="zh-CN" altLang="en-US" sz="2000" b="0" i="0" u="none" strike="noStrike" kern="0" cap="none" spc="0" normalizeH="0" baseline="0" noProof="0" dirty="0" smtClean="0">
              <a:ln>
                <a:noFill/>
              </a:ln>
              <a:solidFill>
                <a:schemeClr val="tx1"/>
              </a:solidFill>
              <a:effectLst/>
              <a:uLnTx/>
              <a:uFillTx/>
              <a:latin typeface="+mn-lt"/>
              <a:ea typeface="+mn-ea"/>
            </a:endParaRPr>
          </a:p>
          <a:p>
            <a:pPr marL="1600200" marR="0" lvl="3" indent="-22860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
              <a:defRPr/>
            </a:pPr>
            <a:endParaRPr kumimoji="1" lang="zh-CN" altLang="en-US" sz="2000" b="0" i="0" u="none" strike="noStrike" kern="0" cap="none" spc="0" normalizeH="0" baseline="0" noProof="0" dirty="0" smtClean="0">
              <a:ln>
                <a:noFill/>
              </a:ln>
              <a:solidFill>
                <a:schemeClr val="tx1"/>
              </a:solidFill>
              <a:effectLst/>
              <a:uLnTx/>
              <a:uFillTx/>
              <a:latin typeface="+mn-lt"/>
              <a:ea typeface="+mn-ea"/>
            </a:endParaRPr>
          </a:p>
          <a:p>
            <a:pPr marL="0" marR="0" lvl="0" indent="0" algn="l"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defRPr/>
            </a:pPr>
            <a:endParaRPr kumimoji="1" lang="zh-CN" altLang="en-US"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Char char="n"/>
              <a:defRPr/>
            </a:pPr>
            <a:r>
              <a:rPr kumimoji="1" lang="zh-CN" altLang="en-US" sz="32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宋体" panose="02010600030101010101" pitchFamily="2" charset="-122"/>
              </a:rPr>
              <a:t>以上带</a:t>
            </a:r>
            <a:r>
              <a:rPr kumimoji="1" lang="zh-CN" altLang="en-US"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a:t>
            </a:r>
            <a:r>
              <a:rPr kumimoji="1" lang="zh-CN" altLang="en-US" sz="32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宋体" panose="02010600030101010101" pitchFamily="2" charset="-122"/>
              </a:rPr>
              <a:t>的表示信号来自微程序控制器，持续一个</a:t>
            </a:r>
            <a:r>
              <a:rPr kumimoji="1" lang="en-US" altLang="zh-CN"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CPU</a:t>
            </a:r>
            <a:r>
              <a:rPr kumimoji="1" lang="zh-CN" altLang="en-US" sz="3200" b="0" i="0" u="none" strike="noStrike" kern="0" cap="none" spc="0" normalizeH="0" baseline="0" noProof="0" dirty="0" smtClean="0">
                <a:ln>
                  <a:noFill/>
                </a:ln>
                <a:solidFill>
                  <a:schemeClr val="tx1"/>
                </a:solidFill>
                <a:effectLst/>
                <a:uLnTx/>
                <a:uFillTx/>
                <a:latin typeface="宋体" panose="02010600030101010101" pitchFamily="2" charset="-122"/>
                <a:ea typeface="+mn-ea"/>
                <a:cs typeface="宋体" panose="02010600030101010101" pitchFamily="2" charset="-122"/>
              </a:rPr>
              <a:t>周期</a:t>
            </a:r>
            <a:r>
              <a:rPr kumimoji="1" lang="zh-CN" altLang="en-US"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 </a:t>
            </a:r>
            <a:endParaRPr kumimoji="1" lang="zh-CN" altLang="en-US"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Char char="n"/>
              <a:defRPr/>
            </a:pPr>
            <a:r>
              <a:rPr kumimoji="1" lang="zh-CN" altLang="en-US"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rPr>
              <a:t>读写时序信号受到控制的信号，而节拍脉冲信号时计算机加上电源后就产生。</a:t>
            </a:r>
            <a:endParaRPr kumimoji="1" lang="zh-CN" altLang="en-US" sz="3200" b="0" i="0" u="none" strike="noStrike" kern="0" cap="none" spc="0" normalizeH="0" baseline="0" noProof="0" dirty="0" smtClean="0">
              <a:ln>
                <a:noFill/>
              </a:ln>
              <a:solidFill>
                <a:schemeClr val="tx1"/>
              </a:solidFill>
              <a:effectLst/>
              <a:uLnTx/>
              <a:uFillTx/>
              <a:latin typeface="+mn-lt"/>
              <a:ea typeface="+mn-ea"/>
              <a:cs typeface="宋体" panose="02010600030101010101" pitchFamily="2" charset="-122"/>
            </a:endParaRPr>
          </a:p>
        </p:txBody>
      </p:sp>
      <p:sp>
        <p:nvSpPr>
          <p:cNvPr id="78851" name="Rectangle 4"/>
          <p:cNvSpPr/>
          <p:nvPr/>
        </p:nvSpPr>
        <p:spPr>
          <a:xfrm>
            <a:off x="3895725" y="2733675"/>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78852" name="Rectangle 5"/>
          <p:cNvSpPr/>
          <p:nvPr/>
        </p:nvSpPr>
        <p:spPr>
          <a:xfrm>
            <a:off x="4057650" y="330041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aphicFrame>
        <p:nvGraphicFramePr>
          <p:cNvPr id="78853" name="Object 6"/>
          <p:cNvGraphicFramePr>
            <a:graphicFrameLocks noChangeAspect="1"/>
          </p:cNvGraphicFramePr>
          <p:nvPr/>
        </p:nvGraphicFramePr>
        <p:xfrm>
          <a:off x="2362200" y="2133600"/>
          <a:ext cx="1828800" cy="457200"/>
        </p:xfrm>
        <a:graphic>
          <a:graphicData uri="http://schemas.openxmlformats.org/presentationml/2006/ole">
            <mc:AlternateContent xmlns:mc="http://schemas.openxmlformats.org/markup-compatibility/2006">
              <mc:Choice xmlns:v="urn:schemas-microsoft-com:vml" Requires="v">
                <p:oleObj spid="_x0000_s3078" name="" r:id="rId1" imgW="1028065" imgH="254000" progId="Equation.3">
                  <p:embed/>
                </p:oleObj>
              </mc:Choice>
              <mc:Fallback>
                <p:oleObj name="" r:id="rId1" imgW="1028065" imgH="254000" progId="Equation.3">
                  <p:embed/>
                  <p:pic>
                    <p:nvPicPr>
                      <p:cNvPr id="0" name="图片 3077"/>
                      <p:cNvPicPr/>
                      <p:nvPr/>
                    </p:nvPicPr>
                    <p:blipFill>
                      <a:blip r:embed="rId2"/>
                      <a:stretch>
                        <a:fillRect/>
                      </a:stretch>
                    </p:blipFill>
                    <p:spPr>
                      <a:xfrm>
                        <a:off x="2362200" y="2133600"/>
                        <a:ext cx="1828800" cy="457200"/>
                      </a:xfrm>
                      <a:prstGeom prst="rect">
                        <a:avLst/>
                      </a:prstGeom>
                      <a:noFill/>
                      <a:ln w="38100">
                        <a:noFill/>
                        <a:miter/>
                      </a:ln>
                    </p:spPr>
                  </p:pic>
                </p:oleObj>
              </mc:Fallback>
            </mc:AlternateContent>
          </a:graphicData>
        </a:graphic>
      </p:graphicFrame>
      <p:sp>
        <p:nvSpPr>
          <p:cNvPr id="78854" name="Rectangle 7"/>
          <p:cNvSpPr/>
          <p:nvPr/>
        </p:nvSpPr>
        <p:spPr>
          <a:xfrm>
            <a:off x="4057650" y="330041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aphicFrame>
        <p:nvGraphicFramePr>
          <p:cNvPr id="78855" name="Object 8"/>
          <p:cNvGraphicFramePr>
            <a:graphicFrameLocks noChangeAspect="1"/>
          </p:cNvGraphicFramePr>
          <p:nvPr/>
        </p:nvGraphicFramePr>
        <p:xfrm>
          <a:off x="2362200" y="2590800"/>
          <a:ext cx="1905000" cy="476250"/>
        </p:xfrm>
        <a:graphic>
          <a:graphicData uri="http://schemas.openxmlformats.org/presentationml/2006/ole">
            <mc:AlternateContent xmlns:mc="http://schemas.openxmlformats.org/markup-compatibility/2006">
              <mc:Choice xmlns:v="urn:schemas-microsoft-com:vml" Requires="v">
                <p:oleObj spid="_x0000_s3077" name="" r:id="rId3" imgW="1028065" imgH="254000" progId="Equation.3">
                  <p:embed/>
                </p:oleObj>
              </mc:Choice>
              <mc:Fallback>
                <p:oleObj name="" r:id="rId3" imgW="1028065" imgH="254000" progId="Equation.3">
                  <p:embed/>
                  <p:pic>
                    <p:nvPicPr>
                      <p:cNvPr id="0" name="图片 3076"/>
                      <p:cNvPicPr/>
                      <p:nvPr/>
                    </p:nvPicPr>
                    <p:blipFill>
                      <a:blip r:embed="rId4"/>
                      <a:stretch>
                        <a:fillRect/>
                      </a:stretch>
                    </p:blipFill>
                    <p:spPr>
                      <a:xfrm>
                        <a:off x="2362200" y="2590800"/>
                        <a:ext cx="1905000" cy="476250"/>
                      </a:xfrm>
                      <a:prstGeom prst="rect">
                        <a:avLst/>
                      </a:prstGeom>
                      <a:noFill/>
                      <a:ln w="38100">
                        <a:noFill/>
                        <a:miter/>
                      </a:ln>
                    </p:spPr>
                  </p:pic>
                </p:oleObj>
              </mc:Fallback>
            </mc:AlternateContent>
          </a:graphicData>
        </a:graphic>
      </p:graphicFrame>
      <p:sp>
        <p:nvSpPr>
          <p:cNvPr id="78856" name="Rectangle 9"/>
          <p:cNvSpPr/>
          <p:nvPr/>
        </p:nvSpPr>
        <p:spPr>
          <a:xfrm>
            <a:off x="3871913"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78857" name="Rectangle 11"/>
          <p:cNvSpPr/>
          <p:nvPr/>
        </p:nvSpPr>
        <p:spPr>
          <a:xfrm>
            <a:off x="3929063"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78858" name="Rectangle 14"/>
          <p:cNvSpPr>
            <a:spLocks noGrp="1"/>
          </p:cNvSpPr>
          <p:nvPr>
            <p:ph type="title"/>
          </p:nvPr>
        </p:nvSpPr>
        <p:spPr/>
        <p:txBody>
          <a:bodyPr vert="horz" wrap="square" lIns="91440" tIns="45720" rIns="91440" bIns="45720" anchor="ctr" anchorCtr="0"/>
          <a:p>
            <a:r>
              <a:rPr lang="zh-CN" altLang="en-US" sz="3200" dirty="0"/>
              <a:t>三、节拍脉冲和读</a:t>
            </a:r>
            <a:r>
              <a:rPr lang="en-US" altLang="zh-CN" sz="3200" dirty="0"/>
              <a:t>/</a:t>
            </a:r>
            <a:r>
              <a:rPr lang="zh-CN" altLang="en-US" sz="3200" dirty="0"/>
              <a:t>写时序的编码</a:t>
            </a:r>
            <a:endParaRPr lang="zh-CN" altLang="en-US" sz="3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3"/>
          <p:cNvSpPr>
            <a:spLocks noGrp="1"/>
          </p:cNvSpPr>
          <p:nvPr>
            <p:ph idx="1"/>
          </p:nvPr>
        </p:nvSpPr>
        <p:spPr>
          <a:xfrm>
            <a:off x="468313" y="908050"/>
            <a:ext cx="8229600" cy="3886200"/>
          </a:xfrm>
        </p:spPr>
        <p:txBody>
          <a:bodyPr vert="horz" wrap="square" lIns="91440" tIns="45720" rIns="91440" bIns="45720" anchor="t" anchorCtr="0"/>
          <a:p>
            <a:r>
              <a:rPr lang="zh-CN" altLang="en-US" b="1" dirty="0"/>
              <a:t>（</a:t>
            </a:r>
            <a:r>
              <a:rPr lang="en-US" altLang="zh-CN" b="1" dirty="0"/>
              <a:t>2019</a:t>
            </a:r>
            <a:r>
              <a:rPr lang="zh-CN" altLang="en-US" b="1" dirty="0"/>
              <a:t>年统考真题 ）下列有关处理器时钟脉冲信号的叙述中</a:t>
            </a:r>
            <a:r>
              <a:rPr lang="en-US" altLang="zh-CN" b="1" dirty="0"/>
              <a:t>,</a:t>
            </a:r>
            <a:r>
              <a:rPr lang="zh-CN" altLang="en-US" b="1" dirty="0"/>
              <a:t>错误的是（）</a:t>
            </a:r>
            <a:endParaRPr lang="zh-CN" altLang="en-US" b="1" dirty="0"/>
          </a:p>
          <a:p>
            <a:r>
              <a:rPr lang="en-US" altLang="zh-CN" dirty="0"/>
              <a:t>A.</a:t>
            </a:r>
            <a:r>
              <a:rPr lang="zh-CN" altLang="en-US" dirty="0"/>
              <a:t>时钟脉冲信号由机器脉冲源发出的脉冲信号经整形和分频后形成</a:t>
            </a:r>
            <a:endParaRPr lang="zh-CN" altLang="en-US" dirty="0"/>
          </a:p>
          <a:p>
            <a:r>
              <a:rPr lang="en-US" altLang="zh-CN" dirty="0"/>
              <a:t>B.</a:t>
            </a:r>
            <a:r>
              <a:rPr lang="zh-CN" altLang="en-US" dirty="0"/>
              <a:t>时钟脉冲信号的宽度称为时钟周期</a:t>
            </a:r>
            <a:r>
              <a:rPr lang="en-US" altLang="zh-CN" dirty="0"/>
              <a:t>,</a:t>
            </a:r>
            <a:r>
              <a:rPr lang="zh-CN" altLang="en-US" dirty="0"/>
              <a:t>时钟周期的倒数为机器主频</a:t>
            </a:r>
            <a:endParaRPr lang="zh-CN" altLang="en-US" dirty="0"/>
          </a:p>
          <a:p>
            <a:r>
              <a:rPr lang="en-US" altLang="zh-CN" dirty="0"/>
              <a:t>C.</a:t>
            </a:r>
            <a:r>
              <a:rPr lang="zh-CN" altLang="en-US" dirty="0"/>
              <a:t>时钟周期以相邻状态单元间组合逻辑电路的最大延迟为基准确定</a:t>
            </a:r>
            <a:endParaRPr lang="zh-CN" altLang="en-US" dirty="0"/>
          </a:p>
          <a:p>
            <a:r>
              <a:rPr lang="en-US" altLang="zh-CN" dirty="0"/>
              <a:t>D.</a:t>
            </a:r>
            <a:r>
              <a:rPr lang="zh-CN" altLang="en-US" dirty="0"/>
              <a:t>处理器总是在每来一个时钟脉冲信号时就开始执行一条新的指令</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  </a:t>
            </a:r>
            <a:r>
              <a:rPr lang="zh-CN" altLang="en-US" dirty="0"/>
              <a:t>微程序控制器</a:t>
            </a:r>
            <a:endParaRPr lang="zh-CN" altLang="en-US" dirty="0"/>
          </a:p>
        </p:txBody>
      </p:sp>
      <p:sp>
        <p:nvSpPr>
          <p:cNvPr id="86019" name="Rectangle 3"/>
          <p:cNvSpPr>
            <a:spLocks noGrp="1"/>
          </p:cNvSpPr>
          <p:nvPr>
            <p:ph idx="1"/>
          </p:nvPr>
        </p:nvSpPr>
        <p:spPr>
          <a:xfrm>
            <a:off x="457200" y="1628775"/>
            <a:ext cx="8229600" cy="3886200"/>
          </a:xfrm>
        </p:spPr>
        <p:txBody>
          <a:bodyPr vert="horz" wrap="square" lIns="91440" tIns="45720" rIns="91440" bIns="45720" anchor="t" anchorCtr="0"/>
          <a:p>
            <a:r>
              <a:rPr lang="zh-CN" altLang="en-US" dirty="0"/>
              <a:t>发展</a:t>
            </a:r>
            <a:endParaRPr lang="zh-CN" altLang="en-US" dirty="0"/>
          </a:p>
          <a:p>
            <a:pPr lvl="1"/>
            <a:r>
              <a:rPr lang="zh-CN" altLang="en-US" sz="2400" dirty="0"/>
              <a:t>微程序的概念和原理是由英国剑桥大学的</a:t>
            </a:r>
            <a:r>
              <a:rPr lang="en-US" altLang="zh-CN" sz="2400" dirty="0"/>
              <a:t>M·V·Wilkes</a:t>
            </a:r>
            <a:r>
              <a:rPr lang="zh-CN" altLang="en-US" sz="2400" dirty="0"/>
              <a:t>教授于</a:t>
            </a:r>
            <a:r>
              <a:rPr lang="en-US" altLang="zh-CN" sz="2400" dirty="0"/>
              <a:t>1951</a:t>
            </a:r>
            <a:r>
              <a:rPr lang="zh-CN" altLang="en-US" sz="2400" dirty="0"/>
              <a:t>年在曼彻斯特大学计算机会议上首先提出来的，当时还没有合适的存放微程序的控制存储器的元件。</a:t>
            </a:r>
            <a:endParaRPr lang="zh-CN" altLang="en-US" sz="2400" dirty="0"/>
          </a:p>
          <a:p>
            <a:pPr lvl="1"/>
            <a:r>
              <a:rPr lang="zh-CN" altLang="en-US" sz="2400" dirty="0"/>
              <a:t>到</a:t>
            </a:r>
            <a:r>
              <a:rPr lang="en-US" altLang="zh-CN" sz="2400" dirty="0"/>
              <a:t>1964</a:t>
            </a:r>
            <a:r>
              <a:rPr lang="zh-CN" altLang="en-US" sz="2400" dirty="0"/>
              <a:t>年，</a:t>
            </a:r>
            <a:r>
              <a:rPr lang="en-US" altLang="zh-CN" sz="2400" dirty="0"/>
              <a:t>IBM</a:t>
            </a:r>
            <a:r>
              <a:rPr lang="zh-CN" altLang="en-US" sz="2400" dirty="0"/>
              <a:t>公司在</a:t>
            </a:r>
            <a:r>
              <a:rPr lang="en-US" altLang="zh-CN" sz="2400" dirty="0"/>
              <a:t>IBM 360</a:t>
            </a:r>
            <a:r>
              <a:rPr lang="zh-CN" altLang="en-US" sz="2400" dirty="0"/>
              <a:t>系列机上成功地采用了微程序设计技术。</a:t>
            </a:r>
            <a:endParaRPr lang="zh-CN" altLang="en-US" sz="2400" dirty="0"/>
          </a:p>
          <a:p>
            <a:pPr lvl="1"/>
            <a:r>
              <a:rPr lang="en-US" altLang="zh-CN" sz="2400" dirty="0"/>
              <a:t>20</a:t>
            </a:r>
            <a:r>
              <a:rPr lang="zh-CN" altLang="en-US" sz="2400" dirty="0"/>
              <a:t>世纪</a:t>
            </a:r>
            <a:r>
              <a:rPr lang="en-US" altLang="zh-CN" sz="2400" dirty="0"/>
              <a:t>70</a:t>
            </a:r>
            <a:r>
              <a:rPr lang="zh-CN" altLang="en-US" sz="2400" dirty="0"/>
              <a:t>年代以来，由于</a:t>
            </a:r>
            <a:r>
              <a:rPr lang="en-US" altLang="zh-CN" sz="2400" dirty="0"/>
              <a:t>VLSI</a:t>
            </a:r>
            <a:r>
              <a:rPr lang="zh-CN" altLang="en-US" sz="2400" dirty="0"/>
              <a:t>技术的发展，推动了微程序设计技术的发展和应用。</a:t>
            </a:r>
            <a:endParaRPr lang="zh-CN" altLang="en-US" sz="2400" dirty="0"/>
          </a:p>
          <a:p>
            <a:pPr lvl="1"/>
            <a:r>
              <a:rPr lang="zh-CN" altLang="en-US" sz="2400" dirty="0"/>
              <a:t>目前，从大型机到小型机、微型机都普遍采用了微程序设计技术。</a:t>
            </a:r>
            <a:endParaRPr lang="zh-CN" alt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p:cNvSpPr>
          <p:nvPr>
            <p:ph type="title"/>
          </p:nvPr>
        </p:nvSpPr>
        <p:spPr>
          <a:xfrm>
            <a:off x="457200" y="333375"/>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  </a:t>
            </a:r>
            <a:r>
              <a:rPr lang="zh-CN" altLang="en-US" dirty="0"/>
              <a:t>微程序控制器</a:t>
            </a:r>
            <a:endParaRPr lang="zh-CN" altLang="en-US" dirty="0"/>
          </a:p>
        </p:txBody>
      </p:sp>
      <p:sp>
        <p:nvSpPr>
          <p:cNvPr id="87043" name="Rectangle 3"/>
          <p:cNvSpPr>
            <a:spLocks noGrp="1"/>
          </p:cNvSpPr>
          <p:nvPr>
            <p:ph idx="1"/>
          </p:nvPr>
        </p:nvSpPr>
        <p:spPr>
          <a:xfrm>
            <a:off x="457200" y="1268413"/>
            <a:ext cx="8075613" cy="4862512"/>
          </a:xfrm>
        </p:spPr>
        <p:txBody>
          <a:bodyPr vert="horz" wrap="square" lIns="91440" tIns="45720" rIns="91440" bIns="45720" anchor="t" anchorCtr="0"/>
          <a:p>
            <a:r>
              <a:rPr lang="zh-CN" altLang="en-US" dirty="0"/>
              <a:t>基本思想：仿照解题的方法，把操作控制信号编制成微指令，存放到控制存储器里，运行时，从控存中取出微指令，产生指令运行所需的操作控制信号。</a:t>
            </a:r>
            <a:endParaRPr lang="zh-CN" altLang="en-US" dirty="0"/>
          </a:p>
          <a:p>
            <a:r>
              <a:rPr lang="zh-CN" altLang="en-US" dirty="0"/>
              <a:t>从上述可以看出，微程序设计技术是用软件方法来设计硬件的技术。</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  </a:t>
            </a:r>
            <a:r>
              <a:rPr lang="zh-CN" altLang="en-US" dirty="0"/>
              <a:t>微程序控制器</a:t>
            </a:r>
            <a:endParaRPr lang="zh-CN" altLang="en-US" dirty="0"/>
          </a:p>
        </p:txBody>
      </p:sp>
      <p:sp>
        <p:nvSpPr>
          <p:cNvPr id="88067" name="Rectangle 3"/>
          <p:cNvSpPr>
            <a:spLocks noGrp="1"/>
          </p:cNvSpPr>
          <p:nvPr>
            <p:ph idx="1"/>
          </p:nvPr>
        </p:nvSpPr>
        <p:spPr/>
        <p:txBody>
          <a:bodyPr vert="horz" wrap="square" lIns="91440" tIns="45720" rIns="91440" bIns="45720" anchor="t" anchorCtr="0"/>
          <a:p>
            <a:pPr>
              <a:buNone/>
            </a:pPr>
            <a:r>
              <a:rPr lang="en-US" altLang="zh-CN" dirty="0">
                <a:cs typeface="Times New Roman" panose="02020603050405020304" pitchFamily="18" charset="0"/>
              </a:rPr>
              <a:t>5</a:t>
            </a:r>
            <a:r>
              <a:rPr lang="en-US" altLang="zh-CN" dirty="0"/>
              <a:t>.4.1</a:t>
            </a:r>
            <a:r>
              <a:rPr lang="zh-CN" altLang="en-US" b="1" dirty="0"/>
              <a:t>微程序控制原理 </a:t>
            </a:r>
            <a:endParaRPr lang="zh-CN" altLang="en-US" b="1" dirty="0"/>
          </a:p>
          <a:p>
            <a:pPr>
              <a:buNone/>
            </a:pPr>
            <a:r>
              <a:rPr lang="en-US" altLang="zh-CN" dirty="0">
                <a:cs typeface="Times New Roman" panose="02020603050405020304" pitchFamily="18" charset="0"/>
              </a:rPr>
              <a:t>5</a:t>
            </a:r>
            <a:r>
              <a:rPr lang="en-US" altLang="zh-CN" dirty="0"/>
              <a:t>.4.2</a:t>
            </a:r>
            <a:r>
              <a:rPr lang="zh-CN" altLang="en-US" dirty="0"/>
              <a:t>微程序设计技术</a:t>
            </a:r>
            <a:endParaRPr lang="zh-CN" altLang="en-US" dirty="0"/>
          </a:p>
          <a:p>
            <a:pPr>
              <a:buNone/>
            </a:pPr>
            <a:endParaRPr lang="zh-CN" altLang="en-US" b="1" dirty="0"/>
          </a:p>
          <a:p>
            <a:endParaRPr lang="en-US" altLang="zh-CN" b="1"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 </a:t>
            </a:r>
            <a:endParaRPr lang="zh-CN" altLang="en-US" dirty="0"/>
          </a:p>
        </p:txBody>
      </p:sp>
      <p:sp>
        <p:nvSpPr>
          <p:cNvPr id="89091" name="Rectangle 3"/>
          <p:cNvSpPr>
            <a:spLocks noGrp="1"/>
          </p:cNvSpPr>
          <p:nvPr>
            <p:ph idx="1"/>
          </p:nvPr>
        </p:nvSpPr>
        <p:spPr>
          <a:xfrm>
            <a:off x="468313" y="1989138"/>
            <a:ext cx="8372475" cy="3886200"/>
          </a:xfrm>
        </p:spPr>
        <p:txBody>
          <a:bodyPr vert="horz" wrap="square" lIns="91440" tIns="45720" rIns="91440" bIns="45720" anchor="t" anchorCtr="0"/>
          <a:p>
            <a:pPr marL="571500" indent="-571500">
              <a:lnSpc>
                <a:spcPct val="90000"/>
              </a:lnSpc>
              <a:buFont typeface="Wingdings" panose="05000000000000000000" pitchFamily="2" charset="2"/>
              <a:buAutoNum type="arabicPeriod"/>
            </a:pPr>
            <a:r>
              <a:rPr lang="zh-CN" altLang="en-US" sz="2600" b="1" dirty="0">
                <a:solidFill>
                  <a:srgbClr val="FF3300"/>
                </a:solidFill>
              </a:rPr>
              <a:t>微命令</a:t>
            </a:r>
            <a:r>
              <a:rPr lang="zh-CN" altLang="en-US" sz="2600" dirty="0">
                <a:solidFill>
                  <a:srgbClr val="FF3300"/>
                </a:solidFill>
              </a:rPr>
              <a:t>：控制部件向执行部件发出的各种控制命令叫作微命令，它是构成控制序列的最小单位。</a:t>
            </a:r>
            <a:endParaRPr lang="zh-CN" altLang="en-US" sz="2600" dirty="0">
              <a:solidFill>
                <a:srgbClr val="FF3300"/>
              </a:solidFill>
            </a:endParaRPr>
          </a:p>
          <a:p>
            <a:pPr marL="840105" lvl="1" indent="-495300">
              <a:lnSpc>
                <a:spcPct val="90000"/>
              </a:lnSpc>
            </a:pPr>
            <a:r>
              <a:rPr lang="zh-CN" altLang="en-US" sz="2400" dirty="0"/>
              <a:t>例如：打开或关闭某个控制门的电位信号、某个寄存器的打入脉冲等。</a:t>
            </a:r>
            <a:endParaRPr lang="zh-CN" altLang="en-US" sz="2400" dirty="0"/>
          </a:p>
          <a:p>
            <a:pPr marL="840105" lvl="1" indent="-495300">
              <a:lnSpc>
                <a:spcPct val="90000"/>
              </a:lnSpc>
            </a:pPr>
            <a:r>
              <a:rPr lang="zh-CN" altLang="en-US" sz="2400" dirty="0"/>
              <a:t>微命令是控制计算机各部件完成某个基本微操作的命令。</a:t>
            </a:r>
            <a:endParaRPr lang="zh-CN" altLang="en-US" sz="2400" dirty="0"/>
          </a:p>
          <a:p>
            <a:pPr marL="571500" indent="-571500">
              <a:lnSpc>
                <a:spcPct val="90000"/>
              </a:lnSpc>
              <a:buFont typeface="Wingdings" panose="05000000000000000000" pitchFamily="2" charset="2"/>
              <a:buAutoNum type="arabicPeriod"/>
            </a:pPr>
            <a:r>
              <a:rPr lang="zh-CN" altLang="en-US" sz="2600" b="1" dirty="0">
                <a:solidFill>
                  <a:srgbClr val="FF3300"/>
                </a:solidFill>
              </a:rPr>
              <a:t>微操作</a:t>
            </a:r>
            <a:r>
              <a:rPr lang="zh-CN" altLang="en-US" sz="2600" dirty="0">
                <a:solidFill>
                  <a:srgbClr val="FF3300"/>
                </a:solidFill>
              </a:rPr>
              <a:t>：执行部件接受微命令后所进行的操作过程。</a:t>
            </a:r>
            <a:endParaRPr lang="zh-CN" altLang="en-US" sz="2600" dirty="0">
              <a:solidFill>
                <a:srgbClr val="FF3300"/>
              </a:solidFill>
            </a:endParaRPr>
          </a:p>
          <a:p>
            <a:pPr marL="840105" lvl="1" indent="-495300">
              <a:lnSpc>
                <a:spcPct val="90000"/>
              </a:lnSpc>
            </a:pPr>
            <a:r>
              <a:rPr lang="zh-CN" altLang="en-US" sz="2400" dirty="0"/>
              <a:t>微命令和微操作是一一对应的。</a:t>
            </a:r>
            <a:endParaRPr lang="zh-CN" altLang="en-US" sz="2400" dirty="0"/>
          </a:p>
          <a:p>
            <a:pPr marL="840105" lvl="1" indent="-495300">
              <a:lnSpc>
                <a:spcPct val="90000"/>
              </a:lnSpc>
            </a:pPr>
            <a:r>
              <a:rPr lang="zh-CN" altLang="en-US" sz="2400" dirty="0"/>
              <a:t>微命令是微操作的控制信号，微操作是微命令的操作过程。</a:t>
            </a:r>
            <a:endParaRPr lang="zh-CN" altLang="en-US" sz="2400" dirty="0"/>
          </a:p>
          <a:p>
            <a:pPr marL="840105" lvl="1" indent="-495300">
              <a:lnSpc>
                <a:spcPct val="90000"/>
              </a:lnSpc>
            </a:pPr>
            <a:r>
              <a:rPr lang="zh-CN" altLang="en-US" sz="2400" dirty="0"/>
              <a:t>微操作是执行部件中最基本的操作。</a:t>
            </a:r>
            <a:endParaRPr lang="zh-CN" alt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0114" name="Picture 5"/>
          <p:cNvPicPr>
            <a:picLocks noChangeAspect="1"/>
          </p:cNvPicPr>
          <p:nvPr/>
        </p:nvPicPr>
        <p:blipFill>
          <a:blip r:embed="rId1"/>
          <a:stretch>
            <a:fillRect/>
          </a:stretch>
        </p:blipFill>
        <p:spPr>
          <a:xfrm>
            <a:off x="1116013" y="188913"/>
            <a:ext cx="6761162" cy="5867400"/>
          </a:xfrm>
          <a:prstGeom prst="rect">
            <a:avLst/>
          </a:prstGeom>
          <a:noFill/>
          <a:ln w="9525">
            <a:noFill/>
          </a:ln>
        </p:spPr>
      </p:pic>
      <p:sp>
        <p:nvSpPr>
          <p:cNvPr id="90115" name="Text Box 6"/>
          <p:cNvSpPr txBox="1"/>
          <p:nvPr/>
        </p:nvSpPr>
        <p:spPr>
          <a:xfrm>
            <a:off x="2805113" y="6113463"/>
            <a:ext cx="32067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图</a:t>
            </a:r>
            <a:r>
              <a:rPr lang="en-US" altLang="zh-CN" sz="1800" dirty="0"/>
              <a:t>5.20 </a:t>
            </a:r>
            <a:r>
              <a:rPr lang="zh-CN" altLang="en-US" sz="1800" dirty="0"/>
              <a:t>简单运算器数据通路图</a:t>
            </a:r>
            <a:endParaRPr lang="zh-CN" alt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p:nvPr>
        </p:nvSpPr>
        <p:spPr>
          <a:xfrm>
            <a:off x="347663" y="485775"/>
            <a:ext cx="8396287" cy="422275"/>
          </a:xfrm>
        </p:spPr>
        <p:txBody>
          <a:bodyPr vert="horz" wrap="square" lIns="91440" tIns="45720" rIns="91440" bIns="45720" anchor="ctr" anchorCtr="0"/>
          <a:p>
            <a:r>
              <a:rPr lang="zh-CN" altLang="en-US" sz="2800" dirty="0">
                <a:latin typeface="宋体" panose="02010600030101010101" pitchFamily="2" charset="-122"/>
              </a:rPr>
              <a:t>微程序</a:t>
            </a:r>
            <a:r>
              <a:rPr lang="en-US" altLang="zh-CN" sz="2800" dirty="0">
                <a:latin typeface="宋体" panose="02010600030101010101" pitchFamily="2" charset="-122"/>
              </a:rPr>
              <a:t>\</a:t>
            </a:r>
            <a:r>
              <a:rPr lang="zh-CN" altLang="en-US" sz="2800" dirty="0">
                <a:latin typeface="宋体" panose="02010600030101010101" pitchFamily="2" charset="-122"/>
              </a:rPr>
              <a:t>微指令</a:t>
            </a:r>
            <a:r>
              <a:rPr lang="en-US" altLang="zh-CN" sz="2800" dirty="0">
                <a:latin typeface="宋体" panose="02010600030101010101" pitchFamily="2" charset="-122"/>
              </a:rPr>
              <a:t>\</a:t>
            </a:r>
            <a:r>
              <a:rPr lang="zh-CN" altLang="en-US" sz="2800" dirty="0">
                <a:latin typeface="宋体" panose="02010600030101010101" pitchFamily="2" charset="-122"/>
              </a:rPr>
              <a:t>微命令</a:t>
            </a:r>
            <a:r>
              <a:rPr lang="en-US" altLang="zh-CN" sz="2800" dirty="0">
                <a:latin typeface="宋体" panose="02010600030101010101" pitchFamily="2" charset="-122"/>
              </a:rPr>
              <a:t>\</a:t>
            </a:r>
            <a:r>
              <a:rPr lang="zh-CN" altLang="en-US" sz="2800" dirty="0">
                <a:latin typeface="宋体" panose="02010600030101010101" pitchFamily="2" charset="-122"/>
              </a:rPr>
              <a:t>微操作的关系</a:t>
            </a:r>
            <a:endParaRPr lang="zh-CN" altLang="en-US" sz="2800" dirty="0">
              <a:latin typeface="宋体" panose="02010600030101010101" pitchFamily="2" charset="-122"/>
            </a:endParaRPr>
          </a:p>
        </p:txBody>
      </p:sp>
      <p:grpSp>
        <p:nvGrpSpPr>
          <p:cNvPr id="91139" name="Group 3"/>
          <p:cNvGrpSpPr/>
          <p:nvPr/>
        </p:nvGrpSpPr>
        <p:grpSpPr>
          <a:xfrm>
            <a:off x="2516188" y="1349375"/>
            <a:ext cx="6473825" cy="4672013"/>
            <a:chOff x="141" y="803"/>
            <a:chExt cx="4197" cy="3244"/>
          </a:xfrm>
        </p:grpSpPr>
        <p:sp>
          <p:nvSpPr>
            <p:cNvPr id="91142" name="Text Box 4" descr="信纸"/>
            <p:cNvSpPr txBox="1"/>
            <p:nvPr/>
          </p:nvSpPr>
          <p:spPr>
            <a:xfrm>
              <a:off x="1745" y="803"/>
              <a:ext cx="1412" cy="295"/>
            </a:xfrm>
            <a:prstGeom prst="rect">
              <a:avLst/>
            </a:prstGeom>
            <a:blipFill rotWithShape="0">
              <a:blip r:embed="rId1"/>
            </a:blip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一条机器指令</a:t>
              </a:r>
              <a:endParaRPr lang="zh-CN" altLang="en-US" sz="2000" b="1" dirty="0">
                <a:solidFill>
                  <a:srgbClr val="0033CC"/>
                </a:solidFill>
                <a:latin typeface="Times New Roman" panose="02020603050405020304" pitchFamily="18" charset="0"/>
              </a:endParaRPr>
            </a:p>
          </p:txBody>
        </p:sp>
        <p:sp>
          <p:nvSpPr>
            <p:cNvPr id="91143" name="Line 5"/>
            <p:cNvSpPr/>
            <p:nvPr/>
          </p:nvSpPr>
          <p:spPr>
            <a:xfrm>
              <a:off x="2401" y="1111"/>
              <a:ext cx="0" cy="284"/>
            </a:xfrm>
            <a:prstGeom prst="line">
              <a:avLst/>
            </a:prstGeom>
            <a:ln w="28575" cap="flat" cmpd="sng">
              <a:solidFill>
                <a:srgbClr val="CC3300"/>
              </a:solidFill>
              <a:prstDash val="solid"/>
              <a:headEnd type="none" w="med" len="med"/>
              <a:tailEnd type="triangle" w="med" len="med"/>
            </a:ln>
          </p:spPr>
        </p:sp>
        <p:sp>
          <p:nvSpPr>
            <p:cNvPr id="91144" name="Text Box 6" descr="信纸"/>
            <p:cNvSpPr txBox="1"/>
            <p:nvPr/>
          </p:nvSpPr>
          <p:spPr>
            <a:xfrm>
              <a:off x="1735" y="1402"/>
              <a:ext cx="1411" cy="295"/>
            </a:xfrm>
            <a:prstGeom prst="rect">
              <a:avLst/>
            </a:prstGeom>
            <a:blipFill rotWithShape="0">
              <a:blip r:embed="rId1"/>
            </a:blip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一个微程序</a:t>
              </a:r>
              <a:endParaRPr lang="zh-CN" altLang="en-US" sz="2000" b="1" dirty="0">
                <a:solidFill>
                  <a:srgbClr val="0033CC"/>
                </a:solidFill>
                <a:latin typeface="Times New Roman" panose="02020603050405020304" pitchFamily="18" charset="0"/>
              </a:endParaRPr>
            </a:p>
          </p:txBody>
        </p:sp>
        <p:sp>
          <p:nvSpPr>
            <p:cNvPr id="91145" name="Line 7"/>
            <p:cNvSpPr/>
            <p:nvPr/>
          </p:nvSpPr>
          <p:spPr>
            <a:xfrm>
              <a:off x="2391" y="1710"/>
              <a:ext cx="0" cy="284"/>
            </a:xfrm>
            <a:prstGeom prst="line">
              <a:avLst/>
            </a:prstGeom>
            <a:ln w="28575" cap="flat" cmpd="sng">
              <a:solidFill>
                <a:srgbClr val="CC3300"/>
              </a:solidFill>
              <a:prstDash val="solid"/>
              <a:headEnd type="none" w="med" len="med"/>
              <a:tailEnd type="triangle" w="med" len="med"/>
            </a:ln>
          </p:spPr>
        </p:sp>
        <p:sp>
          <p:nvSpPr>
            <p:cNvPr id="91146" name="Line 8"/>
            <p:cNvSpPr/>
            <p:nvPr/>
          </p:nvSpPr>
          <p:spPr>
            <a:xfrm>
              <a:off x="885" y="2004"/>
              <a:ext cx="3058" cy="0"/>
            </a:xfrm>
            <a:prstGeom prst="line">
              <a:avLst/>
            </a:prstGeom>
            <a:ln w="28575" cap="flat" cmpd="sng">
              <a:solidFill>
                <a:srgbClr val="CC3300"/>
              </a:solidFill>
              <a:prstDash val="solid"/>
              <a:headEnd type="none" w="med" len="med"/>
              <a:tailEnd type="none" w="med" len="med"/>
            </a:ln>
          </p:spPr>
        </p:sp>
        <p:sp>
          <p:nvSpPr>
            <p:cNvPr id="91147" name="Line 9"/>
            <p:cNvSpPr/>
            <p:nvPr/>
          </p:nvSpPr>
          <p:spPr>
            <a:xfrm>
              <a:off x="892" y="1996"/>
              <a:ext cx="0" cy="284"/>
            </a:xfrm>
            <a:prstGeom prst="line">
              <a:avLst/>
            </a:prstGeom>
            <a:ln w="28575" cap="flat" cmpd="sng">
              <a:solidFill>
                <a:srgbClr val="CC3300"/>
              </a:solidFill>
              <a:prstDash val="solid"/>
              <a:headEnd type="none" w="med" len="med"/>
              <a:tailEnd type="triangle" w="med" len="med"/>
            </a:ln>
          </p:spPr>
        </p:sp>
        <p:sp>
          <p:nvSpPr>
            <p:cNvPr id="91148" name="Line 10"/>
            <p:cNvSpPr/>
            <p:nvPr/>
          </p:nvSpPr>
          <p:spPr>
            <a:xfrm>
              <a:off x="1870" y="1994"/>
              <a:ext cx="0" cy="284"/>
            </a:xfrm>
            <a:prstGeom prst="line">
              <a:avLst/>
            </a:prstGeom>
            <a:ln w="28575" cap="flat" cmpd="sng">
              <a:solidFill>
                <a:srgbClr val="CC3300"/>
              </a:solidFill>
              <a:prstDash val="solid"/>
              <a:headEnd type="none" w="med" len="med"/>
              <a:tailEnd type="triangle" w="med" len="med"/>
            </a:ln>
          </p:spPr>
        </p:sp>
        <p:sp>
          <p:nvSpPr>
            <p:cNvPr id="91149" name="Line 11"/>
            <p:cNvSpPr/>
            <p:nvPr/>
          </p:nvSpPr>
          <p:spPr>
            <a:xfrm>
              <a:off x="2989" y="2007"/>
              <a:ext cx="0" cy="284"/>
            </a:xfrm>
            <a:prstGeom prst="line">
              <a:avLst/>
            </a:prstGeom>
            <a:ln w="28575" cap="flat" cmpd="sng">
              <a:solidFill>
                <a:srgbClr val="CC3300"/>
              </a:solidFill>
              <a:prstDash val="solid"/>
              <a:headEnd type="none" w="med" len="med"/>
              <a:tailEnd type="triangle" w="med" len="med"/>
            </a:ln>
          </p:spPr>
        </p:sp>
        <p:sp>
          <p:nvSpPr>
            <p:cNvPr id="91150" name="Line 12"/>
            <p:cNvSpPr/>
            <p:nvPr/>
          </p:nvSpPr>
          <p:spPr>
            <a:xfrm>
              <a:off x="3945" y="2007"/>
              <a:ext cx="0" cy="284"/>
            </a:xfrm>
            <a:prstGeom prst="line">
              <a:avLst/>
            </a:prstGeom>
            <a:ln w="28575" cap="flat" cmpd="sng">
              <a:solidFill>
                <a:srgbClr val="CC3300"/>
              </a:solidFill>
              <a:prstDash val="solid"/>
              <a:headEnd type="none" w="med" len="med"/>
              <a:tailEnd type="triangle" w="med" len="med"/>
            </a:ln>
          </p:spPr>
        </p:sp>
        <p:sp>
          <p:nvSpPr>
            <p:cNvPr id="91151" name="Line 13"/>
            <p:cNvSpPr/>
            <p:nvPr/>
          </p:nvSpPr>
          <p:spPr>
            <a:xfrm>
              <a:off x="2806" y="2422"/>
              <a:ext cx="283" cy="8"/>
            </a:xfrm>
            <a:prstGeom prst="line">
              <a:avLst/>
            </a:prstGeom>
            <a:ln w="38100" cap="flat" cmpd="sng">
              <a:solidFill>
                <a:srgbClr val="CC3300"/>
              </a:solidFill>
              <a:prstDash val="sysDot"/>
              <a:headEnd type="none" w="med" len="med"/>
              <a:tailEnd type="none" w="med" len="med"/>
            </a:ln>
          </p:spPr>
        </p:sp>
        <p:sp>
          <p:nvSpPr>
            <p:cNvPr id="91152" name="Text Box 14" descr="信纸"/>
            <p:cNvSpPr txBox="1"/>
            <p:nvPr/>
          </p:nvSpPr>
          <p:spPr>
            <a:xfrm>
              <a:off x="470" y="2302"/>
              <a:ext cx="852" cy="296"/>
            </a:xfrm>
            <a:prstGeom prst="rect">
              <a:avLst/>
            </a:prstGeom>
            <a:blipFill rotWithShape="0">
              <a:blip r:embed="rId1"/>
            </a:blip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微指令</a:t>
              </a:r>
              <a:r>
                <a:rPr lang="en-US" altLang="zh-CN" sz="2000" b="1" dirty="0">
                  <a:solidFill>
                    <a:srgbClr val="0033CC"/>
                  </a:solidFill>
                  <a:latin typeface="Times New Roman" panose="02020603050405020304" pitchFamily="18" charset="0"/>
                </a:rPr>
                <a:t>1</a:t>
              </a:r>
              <a:endParaRPr lang="en-US" altLang="zh-CN" sz="2000" b="1" dirty="0">
                <a:solidFill>
                  <a:srgbClr val="0033CC"/>
                </a:solidFill>
                <a:latin typeface="Times New Roman" panose="02020603050405020304" pitchFamily="18" charset="0"/>
              </a:endParaRPr>
            </a:p>
          </p:txBody>
        </p:sp>
        <p:sp>
          <p:nvSpPr>
            <p:cNvPr id="91153" name="Text Box 15" descr="信纸"/>
            <p:cNvSpPr txBox="1"/>
            <p:nvPr/>
          </p:nvSpPr>
          <p:spPr>
            <a:xfrm>
              <a:off x="1468" y="2293"/>
              <a:ext cx="852" cy="296"/>
            </a:xfrm>
            <a:prstGeom prst="rect">
              <a:avLst/>
            </a:prstGeom>
            <a:blipFill rotWithShape="0">
              <a:blip r:embed="rId1"/>
            </a:blip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微指令</a:t>
              </a:r>
              <a:r>
                <a:rPr lang="en-US" altLang="zh-CN" sz="2000" b="1" dirty="0">
                  <a:solidFill>
                    <a:srgbClr val="0033CC"/>
                  </a:solidFill>
                  <a:latin typeface="Times New Roman" panose="02020603050405020304" pitchFamily="18" charset="0"/>
                </a:rPr>
                <a:t>2</a:t>
              </a:r>
              <a:endParaRPr lang="en-US" altLang="zh-CN" sz="2000" b="1" dirty="0">
                <a:solidFill>
                  <a:srgbClr val="0033CC"/>
                </a:solidFill>
                <a:latin typeface="Times New Roman" panose="02020603050405020304" pitchFamily="18" charset="0"/>
              </a:endParaRPr>
            </a:p>
          </p:txBody>
        </p:sp>
        <p:sp>
          <p:nvSpPr>
            <p:cNvPr id="91154" name="Text Box 16" descr="信纸"/>
            <p:cNvSpPr txBox="1"/>
            <p:nvPr/>
          </p:nvSpPr>
          <p:spPr>
            <a:xfrm>
              <a:off x="3486" y="2292"/>
              <a:ext cx="852" cy="296"/>
            </a:xfrm>
            <a:prstGeom prst="rect">
              <a:avLst/>
            </a:prstGeom>
            <a:blipFill rotWithShape="0">
              <a:blip r:embed="rId1"/>
            </a:blip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微指令</a:t>
              </a:r>
              <a:r>
                <a:rPr lang="en-US" altLang="zh-CN" sz="2000" b="1" dirty="0">
                  <a:solidFill>
                    <a:srgbClr val="0033CC"/>
                  </a:solidFill>
                  <a:latin typeface="Times New Roman" panose="02020603050405020304" pitchFamily="18" charset="0"/>
                </a:rPr>
                <a:t>n</a:t>
              </a:r>
              <a:endParaRPr lang="en-US" altLang="zh-CN" sz="2000" b="1" dirty="0">
                <a:solidFill>
                  <a:srgbClr val="0033CC"/>
                </a:solidFill>
                <a:latin typeface="Times New Roman" panose="02020603050405020304" pitchFamily="18" charset="0"/>
              </a:endParaRPr>
            </a:p>
          </p:txBody>
        </p:sp>
        <p:sp>
          <p:nvSpPr>
            <p:cNvPr id="91155" name="Line 17"/>
            <p:cNvSpPr/>
            <p:nvPr/>
          </p:nvSpPr>
          <p:spPr>
            <a:xfrm>
              <a:off x="1681" y="2602"/>
              <a:ext cx="0" cy="284"/>
            </a:xfrm>
            <a:prstGeom prst="line">
              <a:avLst/>
            </a:prstGeom>
            <a:ln w="28575" cap="flat" cmpd="sng">
              <a:solidFill>
                <a:srgbClr val="CC3300"/>
              </a:solidFill>
              <a:prstDash val="solid"/>
              <a:headEnd type="none" w="med" len="med"/>
              <a:tailEnd type="triangle" w="med" len="med"/>
            </a:ln>
          </p:spPr>
        </p:sp>
        <p:sp>
          <p:nvSpPr>
            <p:cNvPr id="91156" name="Line 18"/>
            <p:cNvSpPr/>
            <p:nvPr/>
          </p:nvSpPr>
          <p:spPr>
            <a:xfrm>
              <a:off x="482" y="2896"/>
              <a:ext cx="2435" cy="0"/>
            </a:xfrm>
            <a:prstGeom prst="line">
              <a:avLst/>
            </a:prstGeom>
            <a:ln w="28575" cap="flat" cmpd="sng">
              <a:solidFill>
                <a:srgbClr val="CC3300"/>
              </a:solidFill>
              <a:prstDash val="solid"/>
              <a:headEnd type="none" w="med" len="med"/>
              <a:tailEnd type="none" w="med" len="med"/>
            </a:ln>
          </p:spPr>
        </p:sp>
        <p:sp>
          <p:nvSpPr>
            <p:cNvPr id="91157" name="Line 19"/>
            <p:cNvSpPr/>
            <p:nvPr/>
          </p:nvSpPr>
          <p:spPr>
            <a:xfrm>
              <a:off x="487" y="2888"/>
              <a:ext cx="0" cy="284"/>
            </a:xfrm>
            <a:prstGeom prst="line">
              <a:avLst/>
            </a:prstGeom>
            <a:ln w="28575" cap="flat" cmpd="sng">
              <a:solidFill>
                <a:srgbClr val="CC3300"/>
              </a:solidFill>
              <a:prstDash val="solid"/>
              <a:headEnd type="none" w="med" len="med"/>
              <a:tailEnd type="triangle" w="med" len="med"/>
            </a:ln>
          </p:spPr>
        </p:sp>
        <p:sp>
          <p:nvSpPr>
            <p:cNvPr id="91158" name="Line 20"/>
            <p:cNvSpPr/>
            <p:nvPr/>
          </p:nvSpPr>
          <p:spPr>
            <a:xfrm>
              <a:off x="1477" y="2886"/>
              <a:ext cx="0" cy="284"/>
            </a:xfrm>
            <a:prstGeom prst="line">
              <a:avLst/>
            </a:prstGeom>
            <a:ln w="28575" cap="flat" cmpd="sng">
              <a:solidFill>
                <a:srgbClr val="CC3300"/>
              </a:solidFill>
              <a:prstDash val="solid"/>
              <a:headEnd type="none" w="med" len="med"/>
              <a:tailEnd type="triangle" w="med" len="med"/>
            </a:ln>
          </p:spPr>
        </p:sp>
        <p:sp>
          <p:nvSpPr>
            <p:cNvPr id="91159" name="Line 21"/>
            <p:cNvSpPr/>
            <p:nvPr/>
          </p:nvSpPr>
          <p:spPr>
            <a:xfrm>
              <a:off x="2281" y="2908"/>
              <a:ext cx="0" cy="284"/>
            </a:xfrm>
            <a:prstGeom prst="line">
              <a:avLst/>
            </a:prstGeom>
            <a:ln w="28575" cap="flat" cmpd="sng">
              <a:solidFill>
                <a:srgbClr val="CC3300"/>
              </a:solidFill>
              <a:prstDash val="solid"/>
              <a:headEnd type="none" w="med" len="med"/>
              <a:tailEnd type="triangle" w="med" len="med"/>
            </a:ln>
          </p:spPr>
        </p:sp>
        <p:sp>
          <p:nvSpPr>
            <p:cNvPr id="91160" name="Line 22"/>
            <p:cNvSpPr/>
            <p:nvPr/>
          </p:nvSpPr>
          <p:spPr>
            <a:xfrm>
              <a:off x="2919" y="2899"/>
              <a:ext cx="0" cy="284"/>
            </a:xfrm>
            <a:prstGeom prst="line">
              <a:avLst/>
            </a:prstGeom>
            <a:ln w="28575" cap="flat" cmpd="sng">
              <a:solidFill>
                <a:srgbClr val="CC3300"/>
              </a:solidFill>
              <a:prstDash val="solid"/>
              <a:headEnd type="none" w="med" len="med"/>
              <a:tailEnd type="triangle" w="med" len="med"/>
            </a:ln>
          </p:spPr>
        </p:sp>
        <p:sp>
          <p:nvSpPr>
            <p:cNvPr id="91161" name="Line 23"/>
            <p:cNvSpPr/>
            <p:nvPr/>
          </p:nvSpPr>
          <p:spPr>
            <a:xfrm>
              <a:off x="2127" y="3307"/>
              <a:ext cx="225" cy="8"/>
            </a:xfrm>
            <a:prstGeom prst="line">
              <a:avLst/>
            </a:prstGeom>
            <a:ln w="38100" cap="flat" cmpd="sng">
              <a:solidFill>
                <a:srgbClr val="CC3300"/>
              </a:solidFill>
              <a:prstDash val="sysDot"/>
              <a:headEnd type="none" w="med" len="med"/>
              <a:tailEnd type="none" w="med" len="med"/>
            </a:ln>
          </p:spPr>
        </p:sp>
        <p:sp>
          <p:nvSpPr>
            <p:cNvPr id="91162" name="Text Box 24" descr="信纸"/>
            <p:cNvSpPr txBox="1"/>
            <p:nvPr/>
          </p:nvSpPr>
          <p:spPr>
            <a:xfrm>
              <a:off x="151" y="3194"/>
              <a:ext cx="785" cy="295"/>
            </a:xfrm>
            <a:prstGeom prst="rect">
              <a:avLst/>
            </a:prstGeom>
            <a:blipFill rotWithShape="0">
              <a:blip r:embed="rId1"/>
            </a:blipFill>
            <a:ln w="28575" cap="flat" cmpd="sng">
              <a:solidFill>
                <a:schemeClr val="tx1"/>
              </a:solidFill>
              <a:prstDash val="solid"/>
              <a:miter/>
              <a:headEnd type="none" w="med" len="med"/>
              <a:tailEnd type="none" w="med" len="med"/>
            </a:ln>
          </p:spPr>
          <p:txBody>
            <a:bodyPr lIns="0" r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微命令</a:t>
              </a:r>
              <a:r>
                <a:rPr lang="en-US" altLang="zh-CN" sz="2000" b="1" dirty="0">
                  <a:solidFill>
                    <a:srgbClr val="0033CC"/>
                  </a:solidFill>
                  <a:latin typeface="Times New Roman" panose="02020603050405020304" pitchFamily="18" charset="0"/>
                </a:rPr>
                <a:t>1</a:t>
              </a:r>
              <a:endParaRPr lang="en-US" altLang="zh-CN" sz="2000" b="1" dirty="0">
                <a:solidFill>
                  <a:srgbClr val="0033CC"/>
                </a:solidFill>
                <a:latin typeface="Times New Roman" panose="02020603050405020304" pitchFamily="18" charset="0"/>
              </a:endParaRPr>
            </a:p>
          </p:txBody>
        </p:sp>
        <p:sp>
          <p:nvSpPr>
            <p:cNvPr id="91163" name="Text Box 25" descr="信纸"/>
            <p:cNvSpPr txBox="1"/>
            <p:nvPr/>
          </p:nvSpPr>
          <p:spPr>
            <a:xfrm>
              <a:off x="1065" y="3184"/>
              <a:ext cx="785" cy="295"/>
            </a:xfrm>
            <a:prstGeom prst="rect">
              <a:avLst/>
            </a:prstGeom>
            <a:blipFill rotWithShape="0">
              <a:blip r:embed="rId1"/>
            </a:blipFill>
            <a:ln w="28575" cap="flat" cmpd="sng">
              <a:solidFill>
                <a:schemeClr val="tx1"/>
              </a:solidFill>
              <a:prstDash val="solid"/>
              <a:miter/>
              <a:headEnd type="none" w="med" len="med"/>
              <a:tailEnd type="none" w="med" len="med"/>
            </a:ln>
          </p:spPr>
          <p:txBody>
            <a:bodyPr lIns="0" r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微命令</a:t>
              </a:r>
              <a:r>
                <a:rPr lang="en-US" altLang="zh-CN" sz="2000" b="1" dirty="0">
                  <a:solidFill>
                    <a:srgbClr val="0033CC"/>
                  </a:solidFill>
                  <a:latin typeface="Times New Roman" panose="02020603050405020304" pitchFamily="18" charset="0"/>
                </a:rPr>
                <a:t>2</a:t>
              </a:r>
              <a:endParaRPr lang="en-US" altLang="zh-CN" sz="2000" b="1" dirty="0">
                <a:solidFill>
                  <a:srgbClr val="0033CC"/>
                </a:solidFill>
                <a:latin typeface="Times New Roman" panose="02020603050405020304" pitchFamily="18" charset="0"/>
              </a:endParaRPr>
            </a:p>
          </p:txBody>
        </p:sp>
        <p:sp>
          <p:nvSpPr>
            <p:cNvPr id="91164" name="Text Box 26" descr="信纸"/>
            <p:cNvSpPr txBox="1"/>
            <p:nvPr/>
          </p:nvSpPr>
          <p:spPr>
            <a:xfrm>
              <a:off x="2518" y="3177"/>
              <a:ext cx="785" cy="296"/>
            </a:xfrm>
            <a:prstGeom prst="rect">
              <a:avLst/>
            </a:prstGeom>
            <a:blipFill rotWithShape="0">
              <a:blip r:embed="rId1"/>
            </a:blipFill>
            <a:ln w="28575" cap="flat" cmpd="sng">
              <a:solidFill>
                <a:schemeClr val="tx1"/>
              </a:solidFill>
              <a:prstDash val="solid"/>
              <a:miter/>
              <a:headEnd type="none" w="med" len="med"/>
              <a:tailEnd type="none" w="med" len="med"/>
            </a:ln>
          </p:spPr>
          <p:txBody>
            <a:bodyPr lIns="0" r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微命令</a:t>
              </a:r>
              <a:r>
                <a:rPr lang="en-US" altLang="zh-CN" sz="2000" b="1" dirty="0">
                  <a:solidFill>
                    <a:srgbClr val="0033CC"/>
                  </a:solidFill>
                  <a:latin typeface="Times New Roman" panose="02020603050405020304" pitchFamily="18" charset="0"/>
                </a:rPr>
                <a:t>m</a:t>
              </a:r>
              <a:endParaRPr lang="en-US" altLang="zh-CN" sz="2000" b="1" dirty="0">
                <a:solidFill>
                  <a:srgbClr val="0033CC"/>
                </a:solidFill>
                <a:latin typeface="Times New Roman" panose="02020603050405020304" pitchFamily="18" charset="0"/>
              </a:endParaRPr>
            </a:p>
          </p:txBody>
        </p:sp>
        <p:sp>
          <p:nvSpPr>
            <p:cNvPr id="91165" name="Line 27"/>
            <p:cNvSpPr/>
            <p:nvPr/>
          </p:nvSpPr>
          <p:spPr>
            <a:xfrm>
              <a:off x="477" y="3491"/>
              <a:ext cx="0" cy="284"/>
            </a:xfrm>
            <a:prstGeom prst="line">
              <a:avLst/>
            </a:prstGeom>
            <a:ln w="28575" cap="flat" cmpd="sng">
              <a:solidFill>
                <a:srgbClr val="0033CC"/>
              </a:solidFill>
              <a:prstDash val="sysDot"/>
              <a:headEnd type="none" w="med" len="med"/>
              <a:tailEnd type="none" w="med" len="med"/>
            </a:ln>
          </p:spPr>
        </p:sp>
        <p:sp>
          <p:nvSpPr>
            <p:cNvPr id="91166" name="Line 28"/>
            <p:cNvSpPr/>
            <p:nvPr/>
          </p:nvSpPr>
          <p:spPr>
            <a:xfrm>
              <a:off x="1467" y="3489"/>
              <a:ext cx="0" cy="284"/>
            </a:xfrm>
            <a:prstGeom prst="line">
              <a:avLst/>
            </a:prstGeom>
            <a:ln w="28575" cap="flat" cmpd="sng">
              <a:solidFill>
                <a:srgbClr val="0033CC"/>
              </a:solidFill>
              <a:prstDash val="sysDot"/>
              <a:headEnd type="none" w="med" len="med"/>
              <a:tailEnd type="none" w="med" len="med"/>
            </a:ln>
          </p:spPr>
        </p:sp>
        <p:sp>
          <p:nvSpPr>
            <p:cNvPr id="91167" name="Line 29"/>
            <p:cNvSpPr/>
            <p:nvPr/>
          </p:nvSpPr>
          <p:spPr>
            <a:xfrm>
              <a:off x="2909" y="3478"/>
              <a:ext cx="0" cy="284"/>
            </a:xfrm>
            <a:prstGeom prst="line">
              <a:avLst/>
            </a:prstGeom>
            <a:ln w="28575" cap="flat" cmpd="sng">
              <a:solidFill>
                <a:srgbClr val="0033CC"/>
              </a:solidFill>
              <a:prstDash val="sysDot"/>
              <a:headEnd type="none" w="med" len="med"/>
              <a:tailEnd type="none" w="med" len="med"/>
            </a:ln>
          </p:spPr>
        </p:sp>
        <p:sp>
          <p:nvSpPr>
            <p:cNvPr id="91168" name="Text Box 30" descr="花束"/>
            <p:cNvSpPr txBox="1"/>
            <p:nvPr/>
          </p:nvSpPr>
          <p:spPr>
            <a:xfrm>
              <a:off x="141" y="3752"/>
              <a:ext cx="785" cy="295"/>
            </a:xfrm>
            <a:prstGeom prst="rect">
              <a:avLst/>
            </a:prstGeom>
            <a:blipFill rotWithShape="0">
              <a:blip r:embed="rId2"/>
            </a:blipFill>
            <a:ln w="28575" cap="flat" cmpd="sng">
              <a:solidFill>
                <a:schemeClr val="tx1"/>
              </a:solidFill>
              <a:prstDash val="solid"/>
              <a:miter/>
              <a:headEnd type="none" w="med" len="med"/>
              <a:tailEnd type="none" w="med" len="med"/>
            </a:ln>
          </p:spPr>
          <p:txBody>
            <a:bodyPr lIns="0" r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微操作</a:t>
              </a:r>
              <a:endParaRPr lang="zh-CN" altLang="en-US" sz="2000" b="1" dirty="0">
                <a:solidFill>
                  <a:srgbClr val="0033CC"/>
                </a:solidFill>
                <a:latin typeface="Times New Roman" panose="02020603050405020304" pitchFamily="18" charset="0"/>
              </a:endParaRPr>
            </a:p>
          </p:txBody>
        </p:sp>
        <p:sp>
          <p:nvSpPr>
            <p:cNvPr id="91169" name="Text Box 31" descr="花束"/>
            <p:cNvSpPr txBox="1"/>
            <p:nvPr/>
          </p:nvSpPr>
          <p:spPr>
            <a:xfrm>
              <a:off x="1055" y="3742"/>
              <a:ext cx="785" cy="295"/>
            </a:xfrm>
            <a:prstGeom prst="rect">
              <a:avLst/>
            </a:prstGeom>
            <a:blipFill rotWithShape="0">
              <a:blip r:embed="rId2"/>
            </a:blipFill>
            <a:ln w="28575" cap="flat" cmpd="sng">
              <a:solidFill>
                <a:schemeClr val="tx1"/>
              </a:solidFill>
              <a:prstDash val="solid"/>
              <a:miter/>
              <a:headEnd type="none" w="med" len="med"/>
              <a:tailEnd type="none" w="med" len="med"/>
            </a:ln>
          </p:spPr>
          <p:txBody>
            <a:bodyPr lIns="0" r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微操作</a:t>
              </a:r>
              <a:endParaRPr lang="zh-CN" altLang="en-US" sz="2000" b="1" dirty="0">
                <a:solidFill>
                  <a:srgbClr val="0033CC"/>
                </a:solidFill>
                <a:latin typeface="Times New Roman" panose="02020603050405020304" pitchFamily="18" charset="0"/>
              </a:endParaRPr>
            </a:p>
          </p:txBody>
        </p:sp>
        <p:sp>
          <p:nvSpPr>
            <p:cNvPr id="91170" name="Text Box 32" descr="花束"/>
            <p:cNvSpPr txBox="1"/>
            <p:nvPr/>
          </p:nvSpPr>
          <p:spPr>
            <a:xfrm>
              <a:off x="2508" y="3735"/>
              <a:ext cx="785" cy="295"/>
            </a:xfrm>
            <a:prstGeom prst="rect">
              <a:avLst/>
            </a:prstGeom>
            <a:blipFill rotWithShape="0">
              <a:blip r:embed="rId2"/>
            </a:blipFill>
            <a:ln w="28575" cap="flat" cmpd="sng">
              <a:solidFill>
                <a:schemeClr val="tx1"/>
              </a:solidFill>
              <a:prstDash val="solid"/>
              <a:miter/>
              <a:headEnd type="none" w="med" len="med"/>
              <a:tailEnd type="none" w="med" len="med"/>
            </a:ln>
          </p:spPr>
          <p:txBody>
            <a:bodyPr lIns="0" r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0033CC"/>
                  </a:solidFill>
                  <a:latin typeface="Times New Roman" panose="02020603050405020304" pitchFamily="18" charset="0"/>
                </a:rPr>
                <a:t>微操作</a:t>
              </a:r>
              <a:endParaRPr lang="zh-CN" altLang="en-US" sz="2000" b="1" dirty="0">
                <a:solidFill>
                  <a:srgbClr val="0033CC"/>
                </a:solidFill>
                <a:latin typeface="Times New Roman" panose="02020603050405020304" pitchFamily="18" charset="0"/>
              </a:endParaRPr>
            </a:p>
          </p:txBody>
        </p:sp>
      </p:grpSp>
      <p:sp>
        <p:nvSpPr>
          <p:cNvPr id="91140" name="Text Box 33"/>
          <p:cNvSpPr txBox="1"/>
          <p:nvPr/>
        </p:nvSpPr>
        <p:spPr>
          <a:xfrm>
            <a:off x="171450" y="992188"/>
            <a:ext cx="4195763" cy="1962150"/>
          </a:xfrm>
          <a:prstGeom prst="rect">
            <a:avLst/>
          </a:prstGeom>
          <a:noFill/>
          <a:ln w="508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buClrTx/>
              <a:buSzTx/>
              <a:buFontTx/>
              <a:buNone/>
            </a:pPr>
            <a:r>
              <a:rPr lang="zh-CN" altLang="en-US" sz="1800" b="1" dirty="0">
                <a:latin typeface="Times New Roman" panose="02020603050405020304" pitchFamily="18" charset="0"/>
              </a:rPr>
              <a:t>将指令的执行转换为微程序的执行</a:t>
            </a:r>
            <a:endParaRPr lang="zh-CN" altLang="en-US" sz="1800" b="1" dirty="0">
              <a:latin typeface="Times New Roman" panose="02020603050405020304" pitchFamily="18" charset="0"/>
            </a:endParaRPr>
          </a:p>
          <a:p>
            <a:pPr marL="0" lvl="0" indent="0">
              <a:buClrTx/>
              <a:buSzTx/>
              <a:buFontTx/>
              <a:buNone/>
            </a:pPr>
            <a:r>
              <a:rPr lang="zh-CN" altLang="en-US" sz="1800" b="1" dirty="0">
                <a:latin typeface="Times New Roman" panose="02020603050405020304" pitchFamily="18" charset="0"/>
              </a:rPr>
              <a:t>微程序是一个微指令序列</a:t>
            </a:r>
            <a:endParaRPr lang="zh-CN" altLang="en-US" sz="1800" b="1" dirty="0">
              <a:latin typeface="Times New Roman" panose="02020603050405020304" pitchFamily="18" charset="0"/>
            </a:endParaRPr>
          </a:p>
          <a:p>
            <a:pPr marL="0" lvl="0" indent="0">
              <a:buClrTx/>
              <a:buSzTx/>
              <a:buFontTx/>
              <a:buNone/>
            </a:pPr>
            <a:r>
              <a:rPr lang="zh-CN" altLang="en-US" sz="1800" b="1" dirty="0">
                <a:latin typeface="Times New Roman" panose="02020603050405020304" pitchFamily="18" charset="0"/>
              </a:rPr>
              <a:t>每条微指令是一个</a:t>
            </a:r>
            <a:r>
              <a:rPr lang="en-US" altLang="zh-CN" sz="1800" b="1" dirty="0">
                <a:latin typeface="Times New Roman" panose="02020603050405020304" pitchFamily="18" charset="0"/>
              </a:rPr>
              <a:t>0/1</a:t>
            </a:r>
            <a:r>
              <a:rPr lang="zh-CN" altLang="en-US" sz="1800" b="1" dirty="0">
                <a:latin typeface="Times New Roman" panose="02020603050405020304" pitchFamily="18" charset="0"/>
              </a:rPr>
              <a:t>序列，其中包含若干个微命令（即：控制信号）</a:t>
            </a:r>
            <a:endParaRPr lang="zh-CN" altLang="en-US" sz="1800" b="1" dirty="0">
              <a:latin typeface="Times New Roman" panose="02020603050405020304" pitchFamily="18" charset="0"/>
            </a:endParaRPr>
          </a:p>
          <a:p>
            <a:pPr marL="0" lvl="0" indent="0">
              <a:buClrTx/>
              <a:buSzTx/>
              <a:buFontTx/>
              <a:buNone/>
            </a:pPr>
            <a:r>
              <a:rPr lang="zh-CN" altLang="en-US" sz="1800" b="1" dirty="0">
                <a:latin typeface="Times New Roman" panose="02020603050405020304" pitchFamily="18" charset="0"/>
              </a:rPr>
              <a:t>每个微命令控制数据通路的执行</a:t>
            </a:r>
            <a:endParaRPr lang="zh-CN" altLang="en-US" sz="1800" b="1" dirty="0">
              <a:latin typeface="Times New Roman" panose="02020603050405020304" pitchFamily="18" charset="0"/>
            </a:endParaRPr>
          </a:p>
          <a:p>
            <a:pPr marL="0" lvl="0" indent="0">
              <a:buClrTx/>
              <a:buSzTx/>
              <a:buFontTx/>
              <a:buNone/>
            </a:pPr>
            <a:endParaRPr lang="en-US" altLang="zh-CN" sz="1800" b="1" dirty="0">
              <a:latin typeface="Times New Roman" panose="02020603050405020304" pitchFamily="18" charset="0"/>
            </a:endParaRPr>
          </a:p>
        </p:txBody>
      </p:sp>
      <p:sp>
        <p:nvSpPr>
          <p:cNvPr id="91141" name="Rectangle 34"/>
          <p:cNvSpPr/>
          <p:nvPr/>
        </p:nvSpPr>
        <p:spPr>
          <a:xfrm>
            <a:off x="128588" y="2711450"/>
            <a:ext cx="3149600" cy="2295525"/>
          </a:xfrm>
          <a:prstGeom prst="rect">
            <a:avLst/>
          </a:prstGeom>
          <a:noFill/>
          <a:ln w="508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25000"/>
              </a:lnSpc>
              <a:spcBef>
                <a:spcPct val="30000"/>
              </a:spcBef>
              <a:buClrTx/>
              <a:buSzTx/>
              <a:buFontTx/>
              <a:buNone/>
            </a:pPr>
            <a:r>
              <a:rPr lang="zh-CN" altLang="en-US" sz="1600" b="1" dirty="0">
                <a:solidFill>
                  <a:schemeClr val="accent2"/>
                </a:solidFill>
                <a:latin typeface="Times New Roman" panose="02020603050405020304" pitchFamily="18" charset="0"/>
              </a:rPr>
              <a:t>控制程序执行要解决什么问题？</a:t>
            </a:r>
            <a:endParaRPr lang="zh-CN" altLang="en-US" sz="1600" b="1" dirty="0">
              <a:solidFill>
                <a:schemeClr val="accent2"/>
              </a:solidFill>
              <a:latin typeface="Times New Roman" panose="02020603050405020304" pitchFamily="18" charset="0"/>
            </a:endParaRPr>
          </a:p>
          <a:p>
            <a:pPr marL="0" lvl="0" indent="0">
              <a:lnSpc>
                <a:spcPct val="125000"/>
              </a:lnSpc>
              <a:spcBef>
                <a:spcPct val="30000"/>
              </a:spcBef>
              <a:buClrTx/>
              <a:buSzTx/>
              <a:buFontTx/>
              <a:buNone/>
            </a:pPr>
            <a:r>
              <a:rPr lang="en-US" altLang="zh-CN" sz="1600" b="1" dirty="0">
                <a:solidFill>
                  <a:srgbClr val="A50021"/>
                </a:solidFill>
                <a:latin typeface="Times New Roman" panose="02020603050405020304" pitchFamily="18" charset="0"/>
              </a:rPr>
              <a:t>(1) </a:t>
            </a:r>
            <a:r>
              <a:rPr lang="zh-CN" altLang="en-US" sz="1600" b="1" dirty="0">
                <a:solidFill>
                  <a:srgbClr val="A50021"/>
                </a:solidFill>
                <a:latin typeface="Times New Roman" panose="02020603050405020304" pitchFamily="18" charset="0"/>
              </a:rPr>
              <a:t>指令的编码和译码</a:t>
            </a:r>
            <a:endParaRPr lang="zh-CN" altLang="en-US" sz="1600" b="1" dirty="0">
              <a:solidFill>
                <a:srgbClr val="A50021"/>
              </a:solidFill>
              <a:latin typeface="Times New Roman" panose="02020603050405020304" pitchFamily="18" charset="0"/>
            </a:endParaRPr>
          </a:p>
          <a:p>
            <a:pPr marL="0" lvl="0" indent="0">
              <a:lnSpc>
                <a:spcPct val="125000"/>
              </a:lnSpc>
              <a:spcBef>
                <a:spcPct val="30000"/>
              </a:spcBef>
              <a:buClrTx/>
              <a:buSzTx/>
              <a:buFontTx/>
              <a:buNone/>
            </a:pPr>
            <a:r>
              <a:rPr lang="en-US" altLang="zh-CN" sz="1600" b="1" dirty="0">
                <a:solidFill>
                  <a:srgbClr val="A50021"/>
                </a:solidFill>
                <a:latin typeface="Times New Roman" panose="02020603050405020304" pitchFamily="18" charset="0"/>
              </a:rPr>
              <a:t>(2) </a:t>
            </a:r>
            <a:r>
              <a:rPr lang="zh-CN" altLang="en-US" sz="1600" b="1" dirty="0">
                <a:solidFill>
                  <a:srgbClr val="A50021"/>
                </a:solidFill>
                <a:latin typeface="Times New Roman" panose="02020603050405020304" pitchFamily="18" charset="0"/>
              </a:rPr>
              <a:t>下条指令到哪里去取</a:t>
            </a:r>
            <a:endParaRPr lang="zh-CN" altLang="en-US" sz="1600" b="1" dirty="0">
              <a:solidFill>
                <a:srgbClr val="A50021"/>
              </a:solidFill>
              <a:latin typeface="Times New Roman" panose="02020603050405020304" pitchFamily="18" charset="0"/>
            </a:endParaRPr>
          </a:p>
          <a:p>
            <a:pPr marL="0" lvl="0" indent="0">
              <a:lnSpc>
                <a:spcPct val="125000"/>
              </a:lnSpc>
              <a:spcBef>
                <a:spcPct val="30000"/>
              </a:spcBef>
              <a:buClrTx/>
              <a:buSzTx/>
              <a:buFontTx/>
              <a:buNone/>
            </a:pPr>
            <a:r>
              <a:rPr lang="zh-CN" altLang="en-US" sz="1600" b="1" dirty="0">
                <a:solidFill>
                  <a:schemeClr val="accent2"/>
                </a:solidFill>
                <a:latin typeface="Times New Roman" panose="02020603050405020304" pitchFamily="18" charset="0"/>
              </a:rPr>
              <a:t>微程序执行也要解决两个问题：</a:t>
            </a:r>
            <a:endParaRPr lang="zh-CN" altLang="en-US" sz="1600" b="1" dirty="0">
              <a:solidFill>
                <a:schemeClr val="accent2"/>
              </a:solidFill>
              <a:latin typeface="Times New Roman" panose="02020603050405020304" pitchFamily="18" charset="0"/>
            </a:endParaRPr>
          </a:p>
          <a:p>
            <a:pPr marL="0" lvl="0" indent="0">
              <a:lnSpc>
                <a:spcPct val="125000"/>
              </a:lnSpc>
              <a:spcBef>
                <a:spcPct val="30000"/>
              </a:spcBef>
              <a:buClrTx/>
              <a:buSzTx/>
              <a:buFontTx/>
              <a:buNone/>
            </a:pPr>
            <a:r>
              <a:rPr lang="en-US" altLang="zh-CN" sz="1600" b="1" dirty="0">
                <a:solidFill>
                  <a:srgbClr val="A50021"/>
                </a:solidFill>
                <a:latin typeface="Times New Roman" panose="02020603050405020304" pitchFamily="18" charset="0"/>
              </a:rPr>
              <a:t>(1)</a:t>
            </a:r>
            <a:r>
              <a:rPr lang="zh-CN" altLang="en-US" sz="1600" b="1" dirty="0">
                <a:solidFill>
                  <a:srgbClr val="A50021"/>
                </a:solidFill>
                <a:latin typeface="Times New Roman" panose="02020603050405020304" pitchFamily="18" charset="0"/>
              </a:rPr>
              <a:t>微指令中如何对微命令编码</a:t>
            </a:r>
            <a:endParaRPr lang="zh-CN" altLang="en-US" sz="1600" b="1" dirty="0">
              <a:solidFill>
                <a:srgbClr val="A50021"/>
              </a:solidFill>
              <a:latin typeface="Times New Roman" panose="02020603050405020304" pitchFamily="18" charset="0"/>
            </a:endParaRPr>
          </a:p>
          <a:p>
            <a:pPr marL="0" lvl="0" indent="0">
              <a:lnSpc>
                <a:spcPct val="125000"/>
              </a:lnSpc>
              <a:spcBef>
                <a:spcPct val="30000"/>
              </a:spcBef>
              <a:buClrTx/>
              <a:buSzTx/>
              <a:buFontTx/>
              <a:buNone/>
            </a:pPr>
            <a:r>
              <a:rPr lang="en-US" altLang="zh-CN" sz="1600" b="1" dirty="0">
                <a:solidFill>
                  <a:srgbClr val="A50021"/>
                </a:solidFill>
                <a:latin typeface="Times New Roman" panose="02020603050405020304" pitchFamily="18" charset="0"/>
              </a:rPr>
              <a:t>(2)</a:t>
            </a:r>
            <a:r>
              <a:rPr lang="zh-CN" altLang="en-US" sz="1600" b="1" dirty="0">
                <a:solidFill>
                  <a:srgbClr val="A50021"/>
                </a:solidFill>
                <a:latin typeface="Times New Roman" panose="02020603050405020304" pitchFamily="18" charset="0"/>
              </a:rPr>
              <a:t>下条微指令在哪里</a:t>
            </a:r>
            <a:endParaRPr lang="zh-CN" altLang="en-US" sz="1600" b="1" dirty="0">
              <a:solidFill>
                <a:srgbClr val="A50021"/>
              </a:solidFill>
              <a:latin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92163" name="Rectangle 3"/>
          <p:cNvSpPr>
            <a:spLocks noGrp="1"/>
          </p:cNvSpPr>
          <p:nvPr>
            <p:ph idx="1"/>
          </p:nvPr>
        </p:nvSpPr>
        <p:spPr>
          <a:xfrm>
            <a:off x="395288" y="1484313"/>
            <a:ext cx="7626350" cy="4876800"/>
          </a:xfrm>
        </p:spPr>
        <p:txBody>
          <a:bodyPr vert="horz" wrap="square" lIns="91440" tIns="45720" rIns="91440" bIns="45720" anchor="t" anchorCtr="0"/>
          <a:p>
            <a:pPr marL="571500" indent="-571500">
              <a:buNone/>
            </a:pPr>
            <a:r>
              <a:rPr lang="en-US" altLang="zh-CN" dirty="0"/>
              <a:t>            </a:t>
            </a:r>
            <a:r>
              <a:rPr lang="zh-CN" altLang="en-US" dirty="0"/>
              <a:t>由于数据通路的结构关系，微操作可分为</a:t>
            </a:r>
            <a:r>
              <a:rPr lang="zh-CN" altLang="en-US" dirty="0">
                <a:solidFill>
                  <a:srgbClr val="FF3300"/>
                </a:solidFill>
              </a:rPr>
              <a:t>相容</a:t>
            </a:r>
            <a:r>
              <a:rPr lang="zh-CN" altLang="en-US" dirty="0"/>
              <a:t>的和</a:t>
            </a:r>
            <a:r>
              <a:rPr lang="zh-CN" altLang="en-US" dirty="0">
                <a:solidFill>
                  <a:srgbClr val="FF3300"/>
                </a:solidFill>
              </a:rPr>
              <a:t>互斥</a:t>
            </a:r>
            <a:r>
              <a:rPr lang="zh-CN" altLang="en-US" dirty="0"/>
              <a:t>的两种：</a:t>
            </a:r>
            <a:endParaRPr lang="zh-CN" altLang="en-US" dirty="0"/>
          </a:p>
          <a:p>
            <a:pPr marL="840105" lvl="1" indent="-495300">
              <a:buFont typeface="Wingdings" panose="05000000000000000000" pitchFamily="2" charset="2"/>
              <a:buAutoNum type="arabicPeriod"/>
            </a:pPr>
            <a:r>
              <a:rPr lang="zh-CN" altLang="en-US" dirty="0"/>
              <a:t>互斥的微操作，是指不能同时或不能在同一个节拍内并行执行的微操作。</a:t>
            </a:r>
            <a:endParaRPr lang="en-US" altLang="zh-CN" dirty="0"/>
          </a:p>
          <a:p>
            <a:pPr marL="840105" lvl="1" indent="-495300">
              <a:buFont typeface="Wingdings" panose="05000000000000000000" pitchFamily="2" charset="2"/>
              <a:buAutoNum type="arabicPeriod"/>
            </a:pPr>
            <a:r>
              <a:rPr lang="zh-CN" altLang="en-US" dirty="0"/>
              <a:t>相容的微操作，是指能够同时或在同一个节拍内并行执行的微操作。</a:t>
            </a:r>
            <a:endParaRPr lang="en-US" altLang="zh-CN" dirty="0"/>
          </a:p>
          <a:p>
            <a:pPr marL="840105" lvl="1" indent="-495300">
              <a:buFont typeface="Wingdings" panose="05000000000000000000" pitchFamily="2" charset="2"/>
              <a:buAutoNum type="arabicPeriod"/>
            </a:pPr>
            <a:r>
              <a:rPr lang="zh-CN" altLang="en-US" dirty="0"/>
              <a:t>举一个例子看一下：见下图</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3186" name="Picture 5"/>
          <p:cNvPicPr>
            <a:picLocks noChangeAspect="1"/>
          </p:cNvPicPr>
          <p:nvPr/>
        </p:nvPicPr>
        <p:blipFill>
          <a:blip r:embed="rId1"/>
          <a:stretch>
            <a:fillRect/>
          </a:stretch>
        </p:blipFill>
        <p:spPr>
          <a:xfrm>
            <a:off x="1116013" y="188913"/>
            <a:ext cx="6761162" cy="5867400"/>
          </a:xfrm>
          <a:prstGeom prst="rect">
            <a:avLst/>
          </a:prstGeom>
          <a:noFill/>
          <a:ln w="9525">
            <a:noFill/>
          </a:ln>
        </p:spPr>
      </p:pic>
      <p:sp>
        <p:nvSpPr>
          <p:cNvPr id="93187" name="Text Box 6"/>
          <p:cNvSpPr txBox="1"/>
          <p:nvPr/>
        </p:nvSpPr>
        <p:spPr>
          <a:xfrm>
            <a:off x="2805113" y="6113463"/>
            <a:ext cx="32067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图</a:t>
            </a:r>
            <a:r>
              <a:rPr lang="en-US" altLang="zh-CN" sz="1800" dirty="0"/>
              <a:t>5.20 </a:t>
            </a:r>
            <a:r>
              <a:rPr lang="zh-CN" altLang="en-US" sz="1800" dirty="0"/>
              <a:t>简单运算器数据通路图</a:t>
            </a:r>
            <a:endParaRPr lang="zh-CN" altLang="en-US"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a:xfrm>
            <a:off x="395288" y="260350"/>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94211" name="Rectangle 3"/>
          <p:cNvSpPr>
            <a:spLocks noGrp="1"/>
          </p:cNvSpPr>
          <p:nvPr>
            <p:ph idx="1"/>
          </p:nvPr>
        </p:nvSpPr>
        <p:spPr>
          <a:xfrm>
            <a:off x="468313" y="1341438"/>
            <a:ext cx="8229600" cy="3886200"/>
          </a:xfrm>
        </p:spPr>
        <p:txBody>
          <a:bodyPr vert="horz" wrap="square" lIns="91440" tIns="45720" rIns="91440" bIns="45720" anchor="t" anchorCtr="0"/>
          <a:p>
            <a:pPr>
              <a:lnSpc>
                <a:spcPct val="80000"/>
              </a:lnSpc>
              <a:buNone/>
            </a:pPr>
            <a:r>
              <a:rPr lang="en-US" altLang="zh-CN" sz="2400" dirty="0"/>
              <a:t>3</a:t>
            </a:r>
            <a:r>
              <a:rPr lang="zh-CN" altLang="en-US" sz="2400" dirty="0"/>
              <a:t>、</a:t>
            </a:r>
            <a:r>
              <a:rPr lang="zh-CN" altLang="en-US" sz="2400" dirty="0">
                <a:solidFill>
                  <a:srgbClr val="FF0000"/>
                </a:solidFill>
              </a:rPr>
              <a:t>微指令：把在同一</a:t>
            </a:r>
            <a:r>
              <a:rPr lang="en-US" altLang="zh-CN" sz="2400" dirty="0">
                <a:solidFill>
                  <a:srgbClr val="FF0000"/>
                </a:solidFill>
              </a:rPr>
              <a:t>CPU</a:t>
            </a:r>
            <a:r>
              <a:rPr lang="zh-CN" altLang="en-US" sz="2400" dirty="0">
                <a:solidFill>
                  <a:srgbClr val="FF0000"/>
                </a:solidFill>
              </a:rPr>
              <a:t>周期内并行执行的微操作控制信息，存储在控制存储器里，称为一条微指令（</a:t>
            </a:r>
            <a:r>
              <a:rPr lang="en-US" altLang="zh-CN" sz="2400" dirty="0">
                <a:solidFill>
                  <a:srgbClr val="FF0000"/>
                </a:solidFill>
              </a:rPr>
              <a:t>Microinstruction</a:t>
            </a:r>
            <a:r>
              <a:rPr lang="zh-CN" altLang="en-US" sz="2400" dirty="0">
                <a:solidFill>
                  <a:srgbClr val="FF0000"/>
                </a:solidFill>
              </a:rPr>
              <a:t>）。</a:t>
            </a:r>
            <a:endParaRPr lang="zh-CN" altLang="en-US" sz="2400" dirty="0">
              <a:solidFill>
                <a:srgbClr val="FF0000"/>
              </a:solidFill>
            </a:endParaRPr>
          </a:p>
          <a:p>
            <a:pPr lvl="1">
              <a:lnSpc>
                <a:spcPct val="80000"/>
              </a:lnSpc>
            </a:pPr>
            <a:r>
              <a:rPr lang="zh-CN" altLang="en-US" sz="2400" dirty="0"/>
              <a:t>它是微命令的组合，微指令存储在控制器中的控制存储器中</a:t>
            </a:r>
            <a:endParaRPr lang="zh-CN" altLang="en-US" sz="2400" dirty="0"/>
          </a:p>
          <a:p>
            <a:pPr lvl="1">
              <a:lnSpc>
                <a:spcPct val="80000"/>
              </a:lnSpc>
            </a:pPr>
            <a:r>
              <a:rPr lang="zh-CN" altLang="en-US" sz="2400" dirty="0"/>
              <a:t>一条微指令通常至少包含两大部分信息：</a:t>
            </a:r>
            <a:endParaRPr lang="zh-CN" altLang="en-US" sz="2400" dirty="0"/>
          </a:p>
          <a:p>
            <a:pPr lvl="2">
              <a:lnSpc>
                <a:spcPct val="80000"/>
              </a:lnSpc>
            </a:pPr>
            <a:r>
              <a:rPr lang="zh-CN" altLang="en-US" dirty="0"/>
              <a:t>操作控制字段，又称微操作码字段，用以产生某一步操作所需的各个微操作控制信号。</a:t>
            </a:r>
            <a:endParaRPr lang="zh-CN" altLang="en-US" dirty="0"/>
          </a:p>
          <a:p>
            <a:pPr lvl="3">
              <a:lnSpc>
                <a:spcPct val="80000"/>
              </a:lnSpc>
            </a:pPr>
            <a:r>
              <a:rPr lang="zh-CN" altLang="en-US" sz="2400" dirty="0"/>
              <a:t>某位为</a:t>
            </a:r>
            <a:r>
              <a:rPr lang="en-US" altLang="zh-CN" sz="2400" dirty="0"/>
              <a:t>1</a:t>
            </a:r>
            <a:r>
              <a:rPr lang="zh-CN" altLang="en-US" sz="2400" dirty="0"/>
              <a:t>，表明发微指令</a:t>
            </a:r>
            <a:endParaRPr lang="zh-CN" altLang="en-US" sz="2400" dirty="0"/>
          </a:p>
          <a:p>
            <a:pPr lvl="3">
              <a:lnSpc>
                <a:spcPct val="80000"/>
              </a:lnSpc>
            </a:pPr>
            <a:r>
              <a:rPr lang="zh-CN" altLang="en-US" sz="2400" dirty="0"/>
              <a:t>微指令发出的控制信号都是节拍电位信号，持续时间为一个</a:t>
            </a:r>
            <a:r>
              <a:rPr lang="en-US" altLang="zh-CN" sz="2400" dirty="0"/>
              <a:t>CPU</a:t>
            </a:r>
            <a:r>
              <a:rPr lang="zh-CN" altLang="en-US" sz="2400" dirty="0"/>
              <a:t>周期</a:t>
            </a:r>
            <a:endParaRPr lang="zh-CN" altLang="en-US" sz="2400" dirty="0"/>
          </a:p>
          <a:p>
            <a:pPr lvl="3">
              <a:lnSpc>
                <a:spcPct val="80000"/>
              </a:lnSpc>
            </a:pPr>
            <a:r>
              <a:rPr lang="zh-CN" altLang="en-US" sz="2400" dirty="0"/>
              <a:t>微命令信号还要引入时间控制</a:t>
            </a:r>
            <a:endParaRPr lang="zh-CN" altLang="en-US" sz="2400" dirty="0"/>
          </a:p>
          <a:p>
            <a:pPr lvl="2">
              <a:lnSpc>
                <a:spcPct val="80000"/>
              </a:lnSpc>
            </a:pPr>
            <a:r>
              <a:rPr lang="zh-CN" altLang="en-US" dirty="0"/>
              <a:t>顺序控制字段，又称微地址码字段，用以控制产生下一条要执行的微指令地址。</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468313" y="-100012"/>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95235" name="Rectangle 3"/>
          <p:cNvSpPr>
            <a:spLocks noGrp="1"/>
          </p:cNvSpPr>
          <p:nvPr>
            <p:ph idx="1"/>
          </p:nvPr>
        </p:nvSpPr>
        <p:spPr>
          <a:xfrm>
            <a:off x="457200" y="2420938"/>
            <a:ext cx="8229600" cy="3886200"/>
          </a:xfrm>
        </p:spPr>
        <p:txBody>
          <a:bodyPr vert="horz" wrap="square" lIns="91440" tIns="45720" rIns="91440" bIns="45720" anchor="t" anchorCtr="0"/>
          <a:p>
            <a:r>
              <a:rPr lang="zh-CN" altLang="en-US" sz="2400" dirty="0"/>
              <a:t>微指令基本格式</a:t>
            </a:r>
            <a:endParaRPr lang="zh-CN" altLang="en-US" sz="2400" dirty="0"/>
          </a:p>
        </p:txBody>
      </p:sp>
      <p:sp>
        <p:nvSpPr>
          <p:cNvPr id="95236" name="Rectangle 4"/>
          <p:cNvSpPr/>
          <p:nvPr/>
        </p:nvSpPr>
        <p:spPr>
          <a:xfrm>
            <a:off x="2228850" y="2557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pic>
        <p:nvPicPr>
          <p:cNvPr id="95237" name="Picture 7"/>
          <p:cNvPicPr>
            <a:picLocks noChangeAspect="1"/>
          </p:cNvPicPr>
          <p:nvPr/>
        </p:nvPicPr>
        <p:blipFill>
          <a:blip r:embed="rId1"/>
          <a:stretch>
            <a:fillRect/>
          </a:stretch>
        </p:blipFill>
        <p:spPr>
          <a:xfrm>
            <a:off x="2484438" y="5811838"/>
            <a:ext cx="3744912" cy="425450"/>
          </a:xfrm>
          <a:prstGeom prst="rect">
            <a:avLst/>
          </a:prstGeom>
          <a:noFill/>
          <a:ln w="9525">
            <a:noFill/>
          </a:ln>
        </p:spPr>
      </p:pic>
      <p:pic>
        <p:nvPicPr>
          <p:cNvPr id="95238" name="Picture 8"/>
          <p:cNvPicPr>
            <a:picLocks noChangeAspect="1"/>
          </p:cNvPicPr>
          <p:nvPr/>
        </p:nvPicPr>
        <p:blipFill>
          <a:blip r:embed="rId2"/>
          <a:stretch>
            <a:fillRect/>
          </a:stretch>
        </p:blipFill>
        <p:spPr>
          <a:xfrm>
            <a:off x="468313" y="2932113"/>
            <a:ext cx="8280400" cy="2808287"/>
          </a:xfrm>
          <a:prstGeom prst="rect">
            <a:avLst/>
          </a:prstGeom>
          <a:noFill/>
          <a:ln w="9525">
            <a:noFill/>
          </a:ln>
        </p:spPr>
      </p:pic>
      <p:sp>
        <p:nvSpPr>
          <p:cNvPr id="95239" name="Text Box 9"/>
          <p:cNvSpPr txBox="1"/>
          <p:nvPr/>
        </p:nvSpPr>
        <p:spPr>
          <a:xfrm>
            <a:off x="663575" y="6102350"/>
            <a:ext cx="4806950" cy="3667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操作控制部分共</a:t>
            </a:r>
            <a:r>
              <a:rPr lang="en-US" altLang="zh-CN" sz="1800" dirty="0"/>
              <a:t>17</a:t>
            </a:r>
            <a:r>
              <a:rPr lang="zh-CN" altLang="en-US" sz="1800" dirty="0"/>
              <a:t>位，每</a:t>
            </a:r>
            <a:r>
              <a:rPr lang="en-US" altLang="zh-CN" sz="1800" dirty="0"/>
              <a:t>1</a:t>
            </a:r>
            <a:r>
              <a:rPr lang="zh-CN" altLang="en-US" sz="1800" dirty="0"/>
              <a:t>位表示</a:t>
            </a:r>
            <a:r>
              <a:rPr lang="en-US" altLang="zh-CN" sz="1800" dirty="0"/>
              <a:t>1</a:t>
            </a:r>
            <a:r>
              <a:rPr lang="zh-CN" altLang="en-US" sz="1800" dirty="0"/>
              <a:t>个微命令。</a:t>
            </a:r>
            <a:endParaRPr lang="zh-CN" altLang="en-US" sz="1800" dirty="0"/>
          </a:p>
        </p:txBody>
      </p:sp>
      <p:sp>
        <p:nvSpPr>
          <p:cNvPr id="95240" name="矩形 1"/>
          <p:cNvSpPr/>
          <p:nvPr/>
        </p:nvSpPr>
        <p:spPr>
          <a:xfrm>
            <a:off x="-323850" y="771525"/>
            <a:ext cx="9144000" cy="18653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914400" lvl="2" indent="0" eaLnBrk="1" hangingPunct="1">
              <a:lnSpc>
                <a:spcPct val="80000"/>
              </a:lnSpc>
              <a:spcBef>
                <a:spcPct val="0"/>
              </a:spcBef>
              <a:buClrTx/>
              <a:buSzTx/>
              <a:buFontTx/>
              <a:buNone/>
            </a:pPr>
            <a:r>
              <a:rPr lang="zh-CN" altLang="en-US" dirty="0">
                <a:solidFill>
                  <a:srgbClr val="FF0000"/>
                </a:solidFill>
              </a:rPr>
              <a:t>操作控制字段，又称微操作码字段，</a:t>
            </a:r>
            <a:r>
              <a:rPr lang="zh-CN" altLang="en-US" dirty="0"/>
              <a:t>用以产生某一步操作所需的各个微操作控制信号。</a:t>
            </a:r>
            <a:endParaRPr lang="zh-CN" altLang="en-US" dirty="0"/>
          </a:p>
          <a:p>
            <a:pPr marL="1371600" lvl="3" indent="0" eaLnBrk="1" hangingPunct="1">
              <a:lnSpc>
                <a:spcPct val="80000"/>
              </a:lnSpc>
              <a:spcBef>
                <a:spcPct val="0"/>
              </a:spcBef>
              <a:buClrTx/>
              <a:buSzTx/>
              <a:buFontTx/>
              <a:buNone/>
            </a:pPr>
            <a:r>
              <a:rPr lang="zh-CN" altLang="en-US" sz="2400" dirty="0"/>
              <a:t>某位为</a:t>
            </a:r>
            <a:r>
              <a:rPr lang="en-US" altLang="zh-CN" sz="2400" dirty="0"/>
              <a:t>1</a:t>
            </a:r>
            <a:r>
              <a:rPr lang="zh-CN" altLang="en-US" sz="2400" dirty="0"/>
              <a:t>，表明发微指令</a:t>
            </a:r>
            <a:endParaRPr lang="zh-CN" altLang="en-US" sz="2400" dirty="0"/>
          </a:p>
          <a:p>
            <a:pPr marL="1371600" lvl="3" indent="0" eaLnBrk="1" hangingPunct="1">
              <a:lnSpc>
                <a:spcPct val="80000"/>
              </a:lnSpc>
              <a:spcBef>
                <a:spcPct val="0"/>
              </a:spcBef>
              <a:buClrTx/>
              <a:buSzTx/>
              <a:buFontTx/>
              <a:buNone/>
            </a:pPr>
            <a:r>
              <a:rPr lang="zh-CN" altLang="en-US" sz="2400" dirty="0"/>
              <a:t>微指令发出的控制信号都是节拍电位信号，持续时间为一个</a:t>
            </a:r>
            <a:r>
              <a:rPr lang="en-US" altLang="zh-CN" sz="2400" dirty="0"/>
              <a:t>CPU</a:t>
            </a:r>
            <a:r>
              <a:rPr lang="zh-CN" altLang="en-US" sz="2400" dirty="0"/>
              <a:t>周期</a:t>
            </a:r>
            <a:endParaRPr lang="zh-CN" altLang="en-US" sz="2400" dirty="0"/>
          </a:p>
          <a:p>
            <a:pPr marL="1371600" lvl="3" indent="0" eaLnBrk="1" hangingPunct="1">
              <a:lnSpc>
                <a:spcPct val="80000"/>
              </a:lnSpc>
              <a:spcBef>
                <a:spcPct val="0"/>
              </a:spcBef>
              <a:buClrTx/>
              <a:buSzTx/>
              <a:buFontTx/>
              <a:buNone/>
            </a:pPr>
            <a:r>
              <a:rPr lang="zh-CN" altLang="en-US" sz="2400" dirty="0"/>
              <a:t>微命令信号还要引入时间控制</a:t>
            </a:r>
            <a:endParaRPr lang="zh-CN" altLang="en-US"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6258" name="Picture 2" descr="5a18"/>
          <p:cNvPicPr>
            <a:picLocks noChangeAspect="1"/>
          </p:cNvPicPr>
          <p:nvPr/>
        </p:nvPicPr>
        <p:blipFill>
          <a:blip r:embed="rId1"/>
          <a:stretch>
            <a:fillRect/>
          </a:stretch>
        </p:blipFill>
        <p:spPr>
          <a:xfrm>
            <a:off x="-36512" y="155575"/>
            <a:ext cx="5602287" cy="6553200"/>
          </a:xfrm>
          <a:prstGeom prst="rect">
            <a:avLst/>
          </a:prstGeom>
          <a:noFill/>
          <a:ln w="9525">
            <a:noFill/>
          </a:ln>
        </p:spPr>
      </p:pic>
      <p:sp>
        <p:nvSpPr>
          <p:cNvPr id="96259" name="Line 3"/>
          <p:cNvSpPr/>
          <p:nvPr/>
        </p:nvSpPr>
        <p:spPr>
          <a:xfrm>
            <a:off x="539750" y="228600"/>
            <a:ext cx="0" cy="6335713"/>
          </a:xfrm>
          <a:prstGeom prst="line">
            <a:avLst/>
          </a:prstGeom>
          <a:ln w="9525" cap="flat" cmpd="sng">
            <a:solidFill>
              <a:schemeClr val="tx1"/>
            </a:solidFill>
            <a:prstDash val="dashDot"/>
            <a:miter/>
            <a:headEnd type="none" w="med" len="med"/>
            <a:tailEnd type="none" w="med" len="med"/>
          </a:ln>
        </p:spPr>
      </p:sp>
      <p:sp>
        <p:nvSpPr>
          <p:cNvPr id="96260" name="Line 4"/>
          <p:cNvSpPr/>
          <p:nvPr/>
        </p:nvSpPr>
        <p:spPr>
          <a:xfrm>
            <a:off x="1476375" y="444500"/>
            <a:ext cx="0" cy="6335713"/>
          </a:xfrm>
          <a:prstGeom prst="line">
            <a:avLst/>
          </a:prstGeom>
          <a:ln w="9525" cap="flat" cmpd="sng">
            <a:solidFill>
              <a:schemeClr val="tx1"/>
            </a:solidFill>
            <a:prstDash val="dashDot"/>
            <a:miter/>
            <a:headEnd type="none" w="med" len="med"/>
            <a:tailEnd type="none" w="med" len="med"/>
          </a:ln>
        </p:spPr>
      </p:sp>
      <p:sp>
        <p:nvSpPr>
          <p:cNvPr id="96261" name="Line 5"/>
          <p:cNvSpPr/>
          <p:nvPr/>
        </p:nvSpPr>
        <p:spPr>
          <a:xfrm>
            <a:off x="1979613" y="300038"/>
            <a:ext cx="0" cy="6335712"/>
          </a:xfrm>
          <a:prstGeom prst="line">
            <a:avLst/>
          </a:prstGeom>
          <a:ln w="9525" cap="flat" cmpd="sng">
            <a:solidFill>
              <a:schemeClr val="tx1"/>
            </a:solidFill>
            <a:prstDash val="dashDot"/>
            <a:miter/>
            <a:headEnd type="none" w="med" len="med"/>
            <a:tailEnd type="none" w="med" len="med"/>
          </a:ln>
        </p:spPr>
      </p:sp>
      <p:sp>
        <p:nvSpPr>
          <p:cNvPr id="96262" name="Line 6"/>
          <p:cNvSpPr/>
          <p:nvPr/>
        </p:nvSpPr>
        <p:spPr>
          <a:xfrm>
            <a:off x="2482850" y="155575"/>
            <a:ext cx="0" cy="6335713"/>
          </a:xfrm>
          <a:prstGeom prst="line">
            <a:avLst/>
          </a:prstGeom>
          <a:ln w="9525" cap="flat" cmpd="sng">
            <a:solidFill>
              <a:schemeClr val="tx1"/>
            </a:solidFill>
            <a:prstDash val="dashDot"/>
            <a:miter/>
            <a:headEnd type="none" w="med" len="med"/>
            <a:tailEnd type="none" w="med" len="med"/>
          </a:ln>
        </p:spPr>
      </p:sp>
      <p:sp>
        <p:nvSpPr>
          <p:cNvPr id="96263" name="Line 7"/>
          <p:cNvSpPr/>
          <p:nvPr/>
        </p:nvSpPr>
        <p:spPr>
          <a:xfrm>
            <a:off x="2916238" y="11113"/>
            <a:ext cx="0" cy="6335712"/>
          </a:xfrm>
          <a:prstGeom prst="line">
            <a:avLst/>
          </a:prstGeom>
          <a:ln w="9525" cap="flat" cmpd="sng">
            <a:solidFill>
              <a:schemeClr val="tx1"/>
            </a:solidFill>
            <a:prstDash val="dashDot"/>
            <a:miter/>
            <a:headEnd type="none" w="med" len="med"/>
            <a:tailEnd type="none" w="med" len="med"/>
          </a:ln>
        </p:spPr>
      </p:sp>
      <p:sp>
        <p:nvSpPr>
          <p:cNvPr id="96264" name="Line 8"/>
          <p:cNvSpPr/>
          <p:nvPr/>
        </p:nvSpPr>
        <p:spPr>
          <a:xfrm>
            <a:off x="3421063" y="-133350"/>
            <a:ext cx="0" cy="6335713"/>
          </a:xfrm>
          <a:prstGeom prst="line">
            <a:avLst/>
          </a:prstGeom>
          <a:ln w="9525" cap="flat" cmpd="sng">
            <a:solidFill>
              <a:schemeClr val="tx1"/>
            </a:solidFill>
            <a:prstDash val="dashDot"/>
            <a:miter/>
            <a:headEnd type="none" w="med" len="med"/>
            <a:tailEnd type="none" w="med" len="med"/>
          </a:ln>
        </p:spPr>
      </p:sp>
      <p:sp>
        <p:nvSpPr>
          <p:cNvPr id="96265" name="Line 9"/>
          <p:cNvSpPr/>
          <p:nvPr/>
        </p:nvSpPr>
        <p:spPr>
          <a:xfrm>
            <a:off x="3852863" y="85725"/>
            <a:ext cx="0" cy="6335713"/>
          </a:xfrm>
          <a:prstGeom prst="line">
            <a:avLst/>
          </a:prstGeom>
          <a:ln w="9525" cap="flat" cmpd="sng">
            <a:solidFill>
              <a:schemeClr val="tx1"/>
            </a:solidFill>
            <a:prstDash val="dashDot"/>
            <a:miter/>
            <a:headEnd type="none" w="med" len="med"/>
            <a:tailEnd type="none" w="med" len="med"/>
          </a:ln>
        </p:spPr>
      </p:sp>
      <p:sp>
        <p:nvSpPr>
          <p:cNvPr id="96266" name="Line 10"/>
          <p:cNvSpPr/>
          <p:nvPr/>
        </p:nvSpPr>
        <p:spPr>
          <a:xfrm>
            <a:off x="4356100" y="304800"/>
            <a:ext cx="0" cy="6335713"/>
          </a:xfrm>
          <a:prstGeom prst="line">
            <a:avLst/>
          </a:prstGeom>
          <a:ln w="9525" cap="flat" cmpd="sng">
            <a:solidFill>
              <a:schemeClr val="tx1"/>
            </a:solidFill>
            <a:prstDash val="dashDot"/>
            <a:miter/>
            <a:headEnd type="none" w="med" len="med"/>
            <a:tailEnd type="none" w="med" len="med"/>
          </a:ln>
        </p:spPr>
      </p:sp>
      <p:sp>
        <p:nvSpPr>
          <p:cNvPr id="96267" name="Line 11"/>
          <p:cNvSpPr/>
          <p:nvPr/>
        </p:nvSpPr>
        <p:spPr>
          <a:xfrm>
            <a:off x="4787900" y="523875"/>
            <a:ext cx="0" cy="6335713"/>
          </a:xfrm>
          <a:prstGeom prst="line">
            <a:avLst/>
          </a:prstGeom>
          <a:ln w="9525" cap="flat" cmpd="sng">
            <a:solidFill>
              <a:schemeClr val="tx1"/>
            </a:solidFill>
            <a:prstDash val="dashDot"/>
            <a:miter/>
            <a:headEnd type="none" w="med" len="med"/>
            <a:tailEnd type="none" w="med" len="med"/>
          </a:ln>
        </p:spPr>
      </p:sp>
      <p:sp>
        <p:nvSpPr>
          <p:cNvPr id="96268" name="Line 12"/>
          <p:cNvSpPr/>
          <p:nvPr/>
        </p:nvSpPr>
        <p:spPr>
          <a:xfrm>
            <a:off x="1044575" y="444500"/>
            <a:ext cx="0" cy="6335713"/>
          </a:xfrm>
          <a:prstGeom prst="line">
            <a:avLst/>
          </a:prstGeom>
          <a:ln w="9525" cap="flat" cmpd="sng">
            <a:solidFill>
              <a:schemeClr val="tx1"/>
            </a:solidFill>
            <a:prstDash val="dashDot"/>
            <a:miter/>
            <a:headEnd type="none" w="med" len="med"/>
            <a:tailEnd type="none" w="med" len="med"/>
          </a:ln>
        </p:spPr>
      </p:sp>
      <p:sp>
        <p:nvSpPr>
          <p:cNvPr id="96269" name="Text Box 13"/>
          <p:cNvSpPr txBox="1"/>
          <p:nvPr/>
        </p:nvSpPr>
        <p:spPr>
          <a:xfrm>
            <a:off x="879475" y="6515100"/>
            <a:ext cx="4121150" cy="3667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EE2200"/>
                </a:solidFill>
              </a:rPr>
              <a:t>图</a:t>
            </a:r>
            <a:r>
              <a:rPr lang="en-US" altLang="zh-CN" sz="1800" b="1" dirty="0">
                <a:solidFill>
                  <a:srgbClr val="EE2200"/>
                </a:solidFill>
              </a:rPr>
              <a:t>5.18 </a:t>
            </a:r>
            <a:r>
              <a:rPr lang="zh-CN" altLang="en-US" sz="1800" b="1" dirty="0">
                <a:solidFill>
                  <a:srgbClr val="EE2200"/>
                </a:solidFill>
              </a:rPr>
              <a:t>节拍电位与节拍脉冲的时序关系</a:t>
            </a:r>
            <a:endParaRPr lang="zh-CN" altLang="en-US" sz="1800" b="1" dirty="0">
              <a:solidFill>
                <a:srgbClr val="EE2200"/>
              </a:solidFill>
            </a:endParaRPr>
          </a:p>
        </p:txBody>
      </p:sp>
      <p:pic>
        <p:nvPicPr>
          <p:cNvPr id="96270" name="Picture 5"/>
          <p:cNvPicPr>
            <a:picLocks noChangeAspect="1"/>
          </p:cNvPicPr>
          <p:nvPr/>
        </p:nvPicPr>
        <p:blipFill>
          <a:blip r:embed="rId2"/>
          <a:stretch>
            <a:fillRect/>
          </a:stretch>
        </p:blipFill>
        <p:spPr>
          <a:xfrm>
            <a:off x="5130800" y="1773238"/>
            <a:ext cx="3900488" cy="3384550"/>
          </a:xfrm>
          <a:prstGeom prst="rect">
            <a:avLst/>
          </a:prstGeom>
          <a:noFill/>
          <a:ln w="9525">
            <a:noFill/>
          </a:ln>
        </p:spPr>
      </p:pic>
      <p:sp>
        <p:nvSpPr>
          <p:cNvPr id="96271" name="Text Box 6"/>
          <p:cNvSpPr txBox="1"/>
          <p:nvPr/>
        </p:nvSpPr>
        <p:spPr>
          <a:xfrm>
            <a:off x="5867400" y="5300663"/>
            <a:ext cx="3276600" cy="369887"/>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图</a:t>
            </a:r>
            <a:r>
              <a:rPr lang="en-US" altLang="zh-CN" sz="1800" dirty="0"/>
              <a:t>5.20 </a:t>
            </a:r>
            <a:r>
              <a:rPr lang="zh-CN" altLang="en-US" sz="1800" dirty="0"/>
              <a:t>简单运算器数据通路图</a:t>
            </a:r>
            <a:endParaRPr lang="zh-CN" altLang="en-US" sz="1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4"/>
          <p:cNvSpPr/>
          <p:nvPr/>
        </p:nvSpPr>
        <p:spPr>
          <a:xfrm>
            <a:off x="2228850" y="2557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pic>
        <p:nvPicPr>
          <p:cNvPr id="98307" name="图片 4"/>
          <p:cNvPicPr>
            <a:picLocks noChangeAspect="1"/>
          </p:cNvPicPr>
          <p:nvPr/>
        </p:nvPicPr>
        <p:blipFill>
          <a:blip r:embed="rId1"/>
          <a:stretch>
            <a:fillRect/>
          </a:stretch>
        </p:blipFill>
        <p:spPr>
          <a:xfrm>
            <a:off x="0" y="1228725"/>
            <a:ext cx="9031288" cy="4383088"/>
          </a:xfrm>
          <a:prstGeom prst="rect">
            <a:avLst/>
          </a:prstGeom>
          <a:noFill/>
          <a:ln w="9525">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p:nvPr>
        </p:nvSpPr>
        <p:spPr>
          <a:xfrm>
            <a:off x="457200" y="44450"/>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99331" name="Rectangle 3"/>
          <p:cNvSpPr>
            <a:spLocks noGrp="1"/>
          </p:cNvSpPr>
          <p:nvPr>
            <p:ph idx="1"/>
          </p:nvPr>
        </p:nvSpPr>
        <p:spPr>
          <a:xfrm>
            <a:off x="457200" y="1052513"/>
            <a:ext cx="8229600" cy="3886200"/>
          </a:xfrm>
        </p:spPr>
        <p:txBody>
          <a:bodyPr vert="horz" wrap="square" lIns="91440" tIns="45720" rIns="91440" bIns="45720" anchor="t" anchorCtr="0"/>
          <a:p>
            <a:pPr>
              <a:buNone/>
            </a:pPr>
            <a:r>
              <a:rPr lang="en-US" altLang="zh-CN" dirty="0"/>
              <a:t>4</a:t>
            </a:r>
            <a:r>
              <a:rPr lang="zh-CN" altLang="en-US" dirty="0"/>
              <a:t>、微程序</a:t>
            </a:r>
            <a:endParaRPr lang="zh-CN" altLang="en-US" dirty="0"/>
          </a:p>
          <a:p>
            <a:pPr lvl="1"/>
            <a:r>
              <a:rPr lang="zh-CN" altLang="en-US" dirty="0"/>
              <a:t>一系列微指令的有序集合就是微程序。</a:t>
            </a:r>
            <a:endParaRPr lang="zh-CN" altLang="en-US" dirty="0"/>
          </a:p>
          <a:p>
            <a:pPr lvl="2"/>
            <a:r>
              <a:rPr lang="zh-CN" altLang="en-US" dirty="0"/>
              <a:t>一段微程序对应一条机器指令。</a:t>
            </a:r>
            <a:endParaRPr lang="zh-CN" altLang="en-US" dirty="0"/>
          </a:p>
          <a:p>
            <a:pPr lvl="2"/>
            <a:r>
              <a:rPr lang="zh-CN" altLang="en-US" dirty="0"/>
              <a:t>微地址 ：存放微指令的控制存储器的单元地址</a:t>
            </a:r>
            <a:endParaRPr lang="en-US" altLang="zh-CN" dirty="0"/>
          </a:p>
          <a:p>
            <a:pPr lvl="1"/>
            <a:r>
              <a:rPr lang="zh-CN" altLang="en-US" dirty="0"/>
              <a:t>顺序控制部分用来决定产生下一条微指令的地址。</a:t>
            </a:r>
            <a:endParaRPr lang="zh-CN" altLang="en-US" dirty="0"/>
          </a:p>
        </p:txBody>
      </p:sp>
      <p:pic>
        <p:nvPicPr>
          <p:cNvPr id="99332" name="Picture 8"/>
          <p:cNvPicPr>
            <a:picLocks noChangeAspect="1"/>
          </p:cNvPicPr>
          <p:nvPr/>
        </p:nvPicPr>
        <p:blipFill>
          <a:blip r:embed="rId1"/>
          <a:stretch>
            <a:fillRect/>
          </a:stretch>
        </p:blipFill>
        <p:spPr>
          <a:xfrm>
            <a:off x="539750" y="3860800"/>
            <a:ext cx="8280400" cy="2808288"/>
          </a:xfrm>
          <a:prstGeom prst="rect">
            <a:avLst/>
          </a:prstGeom>
          <a:noFill/>
          <a:ln w="9525">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3"/>
          <p:cNvSpPr>
            <a:spLocks noGrp="1"/>
          </p:cNvSpPr>
          <p:nvPr>
            <p:ph type="title"/>
          </p:nvPr>
        </p:nvSpPr>
        <p:spPr>
          <a:xfrm>
            <a:off x="468313" y="328613"/>
            <a:ext cx="7532687" cy="652462"/>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100355" name="Rectangle 4"/>
          <p:cNvSpPr>
            <a:spLocks noGrp="1"/>
          </p:cNvSpPr>
          <p:nvPr>
            <p:ph idx="1"/>
          </p:nvPr>
        </p:nvSpPr>
        <p:spPr>
          <a:xfrm>
            <a:off x="755650" y="5157788"/>
            <a:ext cx="7993063" cy="1295400"/>
          </a:xfrm>
        </p:spPr>
        <p:txBody>
          <a:bodyPr vert="horz" wrap="square" lIns="91440" tIns="45720" rIns="91440" bIns="45720" anchor="t" anchorCtr="0"/>
          <a:p>
            <a:r>
              <a:rPr lang="zh-CN" altLang="en-US" sz="2600" dirty="0"/>
              <a:t>控制存储器</a:t>
            </a:r>
            <a:r>
              <a:rPr lang="en-US" altLang="zh-CN" sz="2600" dirty="0"/>
              <a:t>(μCM)</a:t>
            </a:r>
            <a:r>
              <a:rPr lang="zh-CN" altLang="en-US" sz="2600" dirty="0"/>
              <a:t>。</a:t>
            </a:r>
            <a:endParaRPr lang="zh-CN" altLang="en-US" sz="2600" dirty="0"/>
          </a:p>
          <a:p>
            <a:pPr lvl="1"/>
            <a:r>
              <a:rPr lang="zh-CN" altLang="en-US" sz="2200" dirty="0"/>
              <a:t>这是微程序控制器的核心部件，用来存放微程序。其性能</a:t>
            </a:r>
            <a:r>
              <a:rPr lang="en-US" altLang="zh-CN" sz="2200" dirty="0"/>
              <a:t>(</a:t>
            </a:r>
            <a:r>
              <a:rPr lang="zh-CN" altLang="en-US" sz="2200" dirty="0"/>
              <a:t>包括容量、速度、可靠性等</a:t>
            </a:r>
            <a:r>
              <a:rPr lang="en-US" altLang="zh-CN" sz="2200" dirty="0"/>
              <a:t>)</a:t>
            </a:r>
            <a:r>
              <a:rPr lang="zh-CN" altLang="en-US" sz="2200" dirty="0"/>
              <a:t>与计算机的性能密切相关。</a:t>
            </a:r>
            <a:endParaRPr lang="zh-CN" altLang="en-US" sz="2200" dirty="0"/>
          </a:p>
          <a:p>
            <a:endParaRPr lang="en-US" altLang="zh-CN" sz="2600" dirty="0"/>
          </a:p>
        </p:txBody>
      </p:sp>
      <p:sp>
        <p:nvSpPr>
          <p:cNvPr id="100356" name="Text Box 5"/>
          <p:cNvSpPr txBox="1"/>
          <p:nvPr/>
        </p:nvSpPr>
        <p:spPr>
          <a:xfrm>
            <a:off x="773113" y="1052513"/>
            <a:ext cx="3582987" cy="519112"/>
          </a:xfrm>
          <a:prstGeom prst="rect">
            <a:avLst/>
          </a:prstGeom>
          <a:solidFill>
            <a:srgbClr val="0000FF"/>
          </a:solid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800" dirty="0">
                <a:solidFill>
                  <a:schemeClr val="bg1"/>
                </a:solidFill>
              </a:rPr>
              <a:t>5</a:t>
            </a:r>
            <a:r>
              <a:rPr lang="zh-CN" altLang="en-US" sz="2800" dirty="0">
                <a:solidFill>
                  <a:schemeClr val="bg1"/>
                </a:solidFill>
              </a:rPr>
              <a:t>、微程序控制器原理</a:t>
            </a:r>
            <a:endParaRPr lang="zh-CN" altLang="en-US" sz="2800" dirty="0">
              <a:solidFill>
                <a:schemeClr val="bg1"/>
              </a:solidFill>
            </a:endParaRPr>
          </a:p>
        </p:txBody>
      </p:sp>
      <p:pic>
        <p:nvPicPr>
          <p:cNvPr id="100357" name="Picture 6"/>
          <p:cNvPicPr>
            <a:picLocks noChangeAspect="1"/>
          </p:cNvPicPr>
          <p:nvPr/>
        </p:nvPicPr>
        <p:blipFill>
          <a:blip r:embed="rId1"/>
          <a:stretch>
            <a:fillRect/>
          </a:stretch>
        </p:blipFill>
        <p:spPr>
          <a:xfrm>
            <a:off x="1692275" y="1557338"/>
            <a:ext cx="5832475" cy="3484562"/>
          </a:xfrm>
          <a:prstGeom prst="rect">
            <a:avLst/>
          </a:prstGeom>
          <a:noFill/>
          <a:ln w="9525">
            <a:noFill/>
          </a:ln>
        </p:spPr>
      </p:pic>
      <p:pic>
        <p:nvPicPr>
          <p:cNvPr id="100358" name="Picture 7"/>
          <p:cNvPicPr>
            <a:picLocks noChangeAspect="1"/>
          </p:cNvPicPr>
          <p:nvPr/>
        </p:nvPicPr>
        <p:blipFill>
          <a:blip r:embed="rId2"/>
          <a:stretch>
            <a:fillRect/>
          </a:stretch>
        </p:blipFill>
        <p:spPr>
          <a:xfrm>
            <a:off x="2554288" y="5013325"/>
            <a:ext cx="4033837" cy="255588"/>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101379" name="Rectangle 3"/>
          <p:cNvSpPr>
            <a:spLocks noGrp="1"/>
          </p:cNvSpPr>
          <p:nvPr>
            <p:ph idx="1"/>
          </p:nvPr>
        </p:nvSpPr>
        <p:spPr/>
        <p:txBody>
          <a:bodyPr vert="horz" wrap="square" lIns="91440" tIns="45720" rIns="91440" bIns="45720" anchor="t" anchorCtr="0"/>
          <a:p>
            <a:pPr lvl="1"/>
            <a:r>
              <a:rPr lang="zh-CN" altLang="en-US" dirty="0"/>
              <a:t>微指令寄存器</a:t>
            </a:r>
            <a:r>
              <a:rPr lang="en-US" altLang="zh-CN" dirty="0"/>
              <a:t>(μIR)</a:t>
            </a:r>
            <a:endParaRPr lang="en-US" altLang="zh-CN" dirty="0"/>
          </a:p>
          <a:p>
            <a:pPr lvl="2"/>
            <a:r>
              <a:rPr lang="zh-CN" altLang="en-US" dirty="0"/>
              <a:t>用来存放从</a:t>
            </a:r>
            <a:r>
              <a:rPr lang="en-US" altLang="zh-CN" dirty="0"/>
              <a:t>μCM</a:t>
            </a:r>
            <a:r>
              <a:rPr lang="zh-CN" altLang="en-US" dirty="0"/>
              <a:t>取出的正在执行的微指令，它的位数同微指令字长相等。</a:t>
            </a:r>
            <a:endParaRPr lang="zh-CN" altLang="en-US" dirty="0"/>
          </a:p>
          <a:p>
            <a:pPr lvl="1"/>
            <a:r>
              <a:rPr lang="zh-CN" altLang="en-US" dirty="0"/>
              <a:t>微地址形成部件</a:t>
            </a:r>
            <a:endParaRPr lang="zh-CN" altLang="en-US" dirty="0"/>
          </a:p>
          <a:p>
            <a:pPr lvl="2"/>
            <a:r>
              <a:rPr lang="zh-CN" altLang="en-US" dirty="0"/>
              <a:t>用来产生初始微地址和后继微地址，以保证微指令的连续执行。</a:t>
            </a:r>
            <a:endParaRPr lang="zh-CN" altLang="en-US" dirty="0"/>
          </a:p>
          <a:p>
            <a:pPr lvl="1"/>
            <a:r>
              <a:rPr lang="zh-CN" altLang="en-US" dirty="0"/>
              <a:t>微地址寄存器</a:t>
            </a:r>
            <a:r>
              <a:rPr lang="en-US" altLang="zh-CN" dirty="0"/>
              <a:t>(μMAR) </a:t>
            </a:r>
            <a:endParaRPr lang="en-US" altLang="zh-CN" dirty="0"/>
          </a:p>
          <a:p>
            <a:pPr lvl="2"/>
            <a:r>
              <a:rPr lang="zh-CN" altLang="en-US" dirty="0"/>
              <a:t>它接受微地址形成部件送来的微地址，为下一步从</a:t>
            </a:r>
            <a:r>
              <a:rPr lang="en-US" altLang="zh-CN" dirty="0"/>
              <a:t>μCM</a:t>
            </a:r>
            <a:r>
              <a:rPr lang="zh-CN" altLang="en-US" dirty="0"/>
              <a:t>中读取微指令作准备。</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102403" name="Rectangle 3"/>
          <p:cNvSpPr>
            <a:spLocks noGrp="1"/>
          </p:cNvSpPr>
          <p:nvPr>
            <p:ph idx="1"/>
          </p:nvPr>
        </p:nvSpPr>
        <p:spPr>
          <a:xfrm>
            <a:off x="457200" y="1268413"/>
            <a:ext cx="8229600" cy="5113337"/>
          </a:xfrm>
        </p:spPr>
        <p:txBody>
          <a:bodyPr vert="horz" wrap="square" lIns="91440" tIns="45720" rIns="91440" bIns="45720" anchor="t" anchorCtr="0"/>
          <a:p>
            <a:pPr lvl="1">
              <a:lnSpc>
                <a:spcPct val="90000"/>
              </a:lnSpc>
            </a:pPr>
            <a:r>
              <a:rPr lang="zh-CN" altLang="en-US" dirty="0"/>
              <a:t>微程序控制器的工作过程</a:t>
            </a:r>
            <a:endParaRPr lang="zh-CN" altLang="en-US" dirty="0"/>
          </a:p>
          <a:p>
            <a:pPr lvl="2">
              <a:lnSpc>
                <a:spcPct val="90000"/>
              </a:lnSpc>
              <a:buNone/>
            </a:pPr>
            <a:r>
              <a:rPr lang="en-US" altLang="zh-CN" dirty="0"/>
              <a:t>(1)</a:t>
            </a:r>
            <a:r>
              <a:rPr lang="zh-CN" altLang="en-US" dirty="0"/>
              <a:t>执行取指令的公共操作。取指令的公共操作通常由一段取指微程序来完成，在机器开始运行时，自动将取指微程序的入口微地址送</a:t>
            </a:r>
            <a:r>
              <a:rPr lang="en-US" altLang="zh-CN" dirty="0"/>
              <a:t>μMAR</a:t>
            </a:r>
            <a:r>
              <a:rPr lang="zh-CN" altLang="en-US" dirty="0"/>
              <a:t>，并从</a:t>
            </a:r>
            <a:r>
              <a:rPr lang="en-US" altLang="zh-CN" dirty="0"/>
              <a:t>μCM</a:t>
            </a:r>
            <a:r>
              <a:rPr lang="zh-CN" altLang="en-US" dirty="0"/>
              <a:t>中读出相应的微指令送入</a:t>
            </a:r>
            <a:r>
              <a:rPr lang="en-US" altLang="zh-CN" dirty="0"/>
              <a:t>μIR</a:t>
            </a:r>
            <a:r>
              <a:rPr lang="zh-CN" altLang="en-US" dirty="0"/>
              <a:t>。微指令的操作控制字段产生有关的微命令，用来控制实现取机器指令的公共操作。取指微程序的入口地址一般为</a:t>
            </a:r>
            <a:r>
              <a:rPr lang="en-US" altLang="zh-CN" dirty="0"/>
              <a:t>μCM</a:t>
            </a:r>
            <a:r>
              <a:rPr lang="zh-CN" altLang="en-US" dirty="0"/>
              <a:t>的</a:t>
            </a:r>
            <a:r>
              <a:rPr lang="en-US" altLang="zh-CN" dirty="0"/>
              <a:t>0</a:t>
            </a:r>
            <a:r>
              <a:rPr lang="zh-CN" altLang="en-US" dirty="0"/>
              <a:t>号单元，当取指微程序执行完后，从主存中取出的机器指令就已存人指令寄存器</a:t>
            </a:r>
            <a:r>
              <a:rPr lang="en-US" altLang="zh-CN" dirty="0"/>
              <a:t>IR</a:t>
            </a:r>
            <a:r>
              <a:rPr lang="zh-CN" altLang="en-US" dirty="0"/>
              <a:t>中了。</a:t>
            </a:r>
            <a:endParaRPr lang="zh-CN" altLang="en-US" dirty="0"/>
          </a:p>
          <a:p>
            <a:pPr lvl="2">
              <a:lnSpc>
                <a:spcPct val="90000"/>
              </a:lnSpc>
              <a:buNone/>
            </a:pPr>
            <a:r>
              <a:rPr lang="en-US" altLang="zh-CN" dirty="0"/>
              <a:t>(2)</a:t>
            </a:r>
            <a:r>
              <a:rPr lang="zh-CN" altLang="en-US" dirty="0"/>
              <a:t>由机器指令的操作码字段通过微地址形成部件产生出该机器指令所对应的微程序的入口地址，并送入</a:t>
            </a:r>
            <a:r>
              <a:rPr lang="en-US" altLang="zh-CN" dirty="0"/>
              <a:t>μMAR</a:t>
            </a:r>
            <a:endParaRPr lang="en-US" altLang="zh-CN" dirty="0"/>
          </a:p>
          <a:p>
            <a:pPr lvl="2">
              <a:lnSpc>
                <a:spcPct val="90000"/>
              </a:lnSpc>
              <a:buNone/>
            </a:pPr>
            <a:r>
              <a:rPr lang="en-US" altLang="zh-CN" dirty="0"/>
              <a:t>(3)</a:t>
            </a:r>
            <a:r>
              <a:rPr lang="zh-CN" altLang="en-US" dirty="0"/>
              <a:t>从</a:t>
            </a:r>
            <a:r>
              <a:rPr lang="en-US" altLang="zh-CN" dirty="0"/>
              <a:t>μCM</a:t>
            </a:r>
            <a:r>
              <a:rPr lang="zh-CN" altLang="en-US" dirty="0"/>
              <a:t>中逐条取出对应的微指令并执行之，每条微指令都能自动产生下一条微指令的地址。</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103427" name="Rectangle 3"/>
          <p:cNvSpPr>
            <a:spLocks noGrp="1"/>
          </p:cNvSpPr>
          <p:nvPr>
            <p:ph idx="1"/>
          </p:nvPr>
        </p:nvSpPr>
        <p:spPr>
          <a:xfrm>
            <a:off x="107950" y="1268413"/>
            <a:ext cx="8229600" cy="4862512"/>
          </a:xfrm>
        </p:spPr>
        <p:txBody>
          <a:bodyPr vert="horz" wrap="square" lIns="91440" tIns="45720" rIns="91440" bIns="45720" anchor="t" anchorCtr="0"/>
          <a:p>
            <a:pPr lvl="2">
              <a:buNone/>
            </a:pPr>
            <a:r>
              <a:rPr lang="en-US" altLang="zh-CN" dirty="0"/>
              <a:t>(4)</a:t>
            </a:r>
            <a:r>
              <a:rPr lang="zh-CN" altLang="en-US" dirty="0"/>
              <a:t>一条机器指令对应的微程序的最后一条微指令执行完毕后，其下一条微指令地址又回到取指微程序的人口地址，从而继续第</a:t>
            </a:r>
            <a:r>
              <a:rPr lang="en-US" altLang="zh-CN" dirty="0"/>
              <a:t>(1)</a:t>
            </a:r>
            <a:r>
              <a:rPr lang="zh-CN" altLang="en-US" dirty="0"/>
              <a:t>步，以完成取下条机器指令的公共操作。</a:t>
            </a:r>
            <a:endParaRPr lang="zh-CN" altLang="en-US" dirty="0"/>
          </a:p>
          <a:p>
            <a:pPr lvl="2"/>
            <a:r>
              <a:rPr lang="zh-CN" altLang="en-US" dirty="0"/>
              <a:t>以上是一条机器指令的执行过程，如此周而复始，直到整个程序的所有机器指令执行完毕。</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a:xfrm>
            <a:off x="446088" y="-30162"/>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105475" name="Rectangle 3"/>
          <p:cNvSpPr>
            <a:spLocks noGrp="1"/>
          </p:cNvSpPr>
          <p:nvPr>
            <p:ph idx="1"/>
          </p:nvPr>
        </p:nvSpPr>
        <p:spPr>
          <a:xfrm>
            <a:off x="827088" y="1412875"/>
            <a:ext cx="4598987" cy="1727200"/>
          </a:xfrm>
        </p:spPr>
        <p:txBody>
          <a:bodyPr vert="horz" wrap="square" lIns="91440" tIns="45720" rIns="91440" bIns="45720" anchor="t" anchorCtr="0"/>
          <a:p>
            <a:r>
              <a:rPr lang="zh-CN" altLang="en-US" dirty="0"/>
              <a:t>以十进制加法指令流程</a:t>
            </a:r>
            <a:endParaRPr lang="zh-CN" altLang="en-US" dirty="0"/>
          </a:p>
          <a:p>
            <a:pPr lvl="1"/>
            <a:r>
              <a:rPr lang="zh-CN" altLang="en-US" dirty="0"/>
              <a:t>数据通路图</a:t>
            </a:r>
            <a:endParaRPr lang="zh-CN" altLang="en-US" dirty="0"/>
          </a:p>
          <a:p>
            <a:pPr lvl="1"/>
            <a:r>
              <a:rPr lang="zh-CN" altLang="en-US" dirty="0"/>
              <a:t>操作流程图</a:t>
            </a:r>
            <a:endParaRPr lang="zh-CN" altLang="en-US" dirty="0"/>
          </a:p>
        </p:txBody>
      </p:sp>
      <p:sp>
        <p:nvSpPr>
          <p:cNvPr id="105476" name="Rectangle 4"/>
          <p:cNvSpPr/>
          <p:nvPr/>
        </p:nvSpPr>
        <p:spPr>
          <a:xfrm>
            <a:off x="3609975" y="1495425"/>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pic>
        <p:nvPicPr>
          <p:cNvPr id="105477" name="Picture 5" descr="5pic3">
            <a:hlinkClick r:id="rId1" action="ppaction://hlinkfile"/>
          </p:cNvPr>
          <p:cNvPicPr>
            <a:picLocks noChangeAspect="1"/>
          </p:cNvPicPr>
          <p:nvPr/>
        </p:nvPicPr>
        <p:blipFill>
          <a:blip r:embed="rId2"/>
          <a:stretch>
            <a:fillRect/>
          </a:stretch>
        </p:blipFill>
        <p:spPr>
          <a:xfrm>
            <a:off x="5651500" y="446088"/>
            <a:ext cx="3189288" cy="6411912"/>
          </a:xfrm>
          <a:prstGeom prst="rect">
            <a:avLst/>
          </a:prstGeom>
          <a:noFill/>
          <a:ln w="9525">
            <a:noFill/>
          </a:ln>
        </p:spPr>
      </p:pic>
      <p:pic>
        <p:nvPicPr>
          <p:cNvPr id="105478" name="Picture 7"/>
          <p:cNvPicPr>
            <a:picLocks noChangeAspect="1"/>
          </p:cNvPicPr>
          <p:nvPr/>
        </p:nvPicPr>
        <p:blipFill>
          <a:blip r:embed="rId3"/>
          <a:stretch>
            <a:fillRect/>
          </a:stretch>
        </p:blipFill>
        <p:spPr>
          <a:xfrm>
            <a:off x="1042988" y="3033713"/>
            <a:ext cx="4105275" cy="3563937"/>
          </a:xfrm>
          <a:prstGeom prst="rect">
            <a:avLst/>
          </a:prstGeom>
          <a:noFill/>
          <a:ln w="9525">
            <a:noFill/>
          </a:ln>
        </p:spPr>
      </p:pic>
      <p:sp>
        <p:nvSpPr>
          <p:cNvPr id="105479" name="文本框 1"/>
          <p:cNvSpPr txBox="1"/>
          <p:nvPr/>
        </p:nvSpPr>
        <p:spPr>
          <a:xfrm>
            <a:off x="6659563" y="5373688"/>
            <a:ext cx="1368425" cy="368300"/>
          </a:xfrm>
          <a:prstGeom prst="rect">
            <a:avLst/>
          </a:prstGeom>
          <a:solidFill>
            <a:srgbClr val="CC66FF"/>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dirty="0"/>
              <a:t>R2-R3-&gt;R2</a:t>
            </a:r>
            <a:endParaRPr lang="zh-CN" altLang="en-US" sz="1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p:nvPr>
        </p:nvSpPr>
        <p:spPr>
          <a:xfrm>
            <a:off x="468313" y="344488"/>
            <a:ext cx="7532687" cy="563562"/>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.4.1</a:t>
            </a:r>
            <a:r>
              <a:rPr lang="zh-CN" altLang="en-US" dirty="0"/>
              <a:t>微程序控制原理</a:t>
            </a:r>
            <a:endParaRPr lang="zh-CN" altLang="en-US" dirty="0"/>
          </a:p>
        </p:txBody>
      </p:sp>
      <p:sp>
        <p:nvSpPr>
          <p:cNvPr id="107523" name="Rectangle 3"/>
          <p:cNvSpPr>
            <a:spLocks noGrp="1"/>
          </p:cNvSpPr>
          <p:nvPr>
            <p:ph idx="1"/>
          </p:nvPr>
        </p:nvSpPr>
        <p:spPr>
          <a:xfrm>
            <a:off x="468313" y="823913"/>
            <a:ext cx="8229600" cy="4411662"/>
          </a:xfrm>
        </p:spPr>
        <p:txBody>
          <a:bodyPr vert="horz" wrap="square" lIns="91440" tIns="45720" rIns="91440" bIns="45720" anchor="t" anchorCtr="0"/>
          <a:p>
            <a:r>
              <a:rPr lang="zh-CN" altLang="en-US" dirty="0"/>
              <a:t>四条微指令如下</a:t>
            </a:r>
            <a:endParaRPr lang="zh-CN" altLang="en-US" dirty="0"/>
          </a:p>
        </p:txBody>
      </p:sp>
      <p:grpSp>
        <p:nvGrpSpPr>
          <p:cNvPr id="76804" name="Group 4"/>
          <p:cNvGrpSpPr/>
          <p:nvPr/>
        </p:nvGrpSpPr>
        <p:grpSpPr>
          <a:xfrm>
            <a:off x="1258888" y="3851275"/>
            <a:ext cx="6477000" cy="1435100"/>
            <a:chOff x="1488" y="3312"/>
            <a:chExt cx="4080" cy="1057"/>
          </a:xfrm>
        </p:grpSpPr>
        <p:grpSp>
          <p:nvGrpSpPr>
            <p:cNvPr id="107539" name="Group 5"/>
            <p:cNvGrpSpPr/>
            <p:nvPr/>
          </p:nvGrpSpPr>
          <p:grpSpPr>
            <a:xfrm>
              <a:off x="1488" y="3600"/>
              <a:ext cx="4080" cy="432"/>
              <a:chOff x="1488" y="3216"/>
              <a:chExt cx="4080" cy="432"/>
            </a:xfrm>
          </p:grpSpPr>
          <p:sp>
            <p:nvSpPr>
              <p:cNvPr id="107543" name="Rectangle 6"/>
              <p:cNvSpPr/>
              <p:nvPr/>
            </p:nvSpPr>
            <p:spPr>
              <a:xfrm>
                <a:off x="1488" y="3216"/>
                <a:ext cx="4080" cy="432"/>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zh-CN" sz="2400" dirty="0">
                  <a:latin typeface="Times New Roman" panose="02020603050405020304" pitchFamily="18" charset="0"/>
                </a:endParaRPr>
              </a:p>
            </p:txBody>
          </p:sp>
          <p:sp>
            <p:nvSpPr>
              <p:cNvPr id="107544" name="Line 7"/>
              <p:cNvSpPr/>
              <p:nvPr/>
            </p:nvSpPr>
            <p:spPr>
              <a:xfrm>
                <a:off x="4560" y="3216"/>
                <a:ext cx="0" cy="432"/>
              </a:xfrm>
              <a:prstGeom prst="line">
                <a:avLst/>
              </a:prstGeom>
              <a:ln w="12700" cap="flat" cmpd="sng">
                <a:solidFill>
                  <a:schemeClr val="tx1"/>
                </a:solidFill>
                <a:prstDash val="solid"/>
                <a:headEnd type="none" w="sm" len="sm"/>
                <a:tailEnd type="none" w="sm" len="sm"/>
              </a:ln>
            </p:spPr>
          </p:sp>
          <p:sp>
            <p:nvSpPr>
              <p:cNvPr id="107545" name="Line 8"/>
              <p:cNvSpPr/>
              <p:nvPr/>
            </p:nvSpPr>
            <p:spPr>
              <a:xfrm>
                <a:off x="4896" y="3216"/>
                <a:ext cx="0" cy="432"/>
              </a:xfrm>
              <a:prstGeom prst="line">
                <a:avLst/>
              </a:prstGeom>
              <a:ln w="12700" cap="flat" cmpd="sng">
                <a:solidFill>
                  <a:schemeClr val="tx1"/>
                </a:solidFill>
                <a:prstDash val="solid"/>
                <a:headEnd type="none" w="sm" len="sm"/>
                <a:tailEnd type="none" w="sm" len="sm"/>
              </a:ln>
            </p:spPr>
          </p:sp>
          <p:sp>
            <p:nvSpPr>
              <p:cNvPr id="107546" name="Text Box 9"/>
              <p:cNvSpPr txBox="1"/>
              <p:nvPr/>
            </p:nvSpPr>
            <p:spPr>
              <a:xfrm>
                <a:off x="1824" y="3307"/>
                <a:ext cx="2640" cy="336"/>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000    000    000    000    11111</a:t>
                </a:r>
                <a:endParaRPr lang="en-US" altLang="zh-CN" sz="2400" dirty="0">
                  <a:latin typeface="Times New Roman" panose="02020603050405020304" pitchFamily="18" charset="0"/>
                </a:endParaRPr>
              </a:p>
            </p:txBody>
          </p:sp>
          <p:sp>
            <p:nvSpPr>
              <p:cNvPr id="107547" name="Text Box 10"/>
              <p:cNvSpPr txBox="1"/>
              <p:nvPr/>
            </p:nvSpPr>
            <p:spPr>
              <a:xfrm>
                <a:off x="4560" y="3312"/>
                <a:ext cx="442" cy="336"/>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7548" name="Text Box 11"/>
              <p:cNvSpPr txBox="1"/>
              <p:nvPr/>
            </p:nvSpPr>
            <p:spPr>
              <a:xfrm>
                <a:off x="4944" y="3312"/>
                <a:ext cx="500" cy="336"/>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0000</a:t>
                </a:r>
                <a:endParaRPr lang="en-US" altLang="zh-CN" sz="2400" dirty="0">
                  <a:latin typeface="Times New Roman" panose="02020603050405020304" pitchFamily="18" charset="0"/>
                </a:endParaRPr>
              </a:p>
            </p:txBody>
          </p:sp>
        </p:grpSp>
        <p:sp>
          <p:nvSpPr>
            <p:cNvPr id="107540" name="Text Box 12"/>
            <p:cNvSpPr txBox="1"/>
            <p:nvPr/>
          </p:nvSpPr>
          <p:spPr>
            <a:xfrm>
              <a:off x="4790" y="3312"/>
              <a:ext cx="500" cy="337"/>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0000</a:t>
              </a:r>
              <a:endParaRPr lang="en-US" altLang="zh-CN" sz="2400" dirty="0">
                <a:latin typeface="Times New Roman" panose="02020603050405020304" pitchFamily="18" charset="0"/>
              </a:endParaRPr>
            </a:p>
          </p:txBody>
        </p:sp>
        <p:sp>
          <p:nvSpPr>
            <p:cNvPr id="107541" name="Text Box 13"/>
            <p:cNvSpPr txBox="1"/>
            <p:nvPr/>
          </p:nvSpPr>
          <p:spPr>
            <a:xfrm>
              <a:off x="3408" y="3325"/>
              <a:ext cx="1460" cy="337"/>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取指令操作信号</a:t>
              </a:r>
              <a:endParaRPr lang="zh-CN" altLang="en-US" sz="2400" dirty="0">
                <a:latin typeface="Times New Roman" panose="02020603050405020304" pitchFamily="18" charset="0"/>
              </a:endParaRPr>
            </a:p>
          </p:txBody>
        </p:sp>
        <p:sp>
          <p:nvSpPr>
            <p:cNvPr id="107542" name="Text Box 14"/>
            <p:cNvSpPr txBox="1"/>
            <p:nvPr/>
          </p:nvSpPr>
          <p:spPr>
            <a:xfrm>
              <a:off x="4368" y="4032"/>
              <a:ext cx="703" cy="337"/>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P1</a:t>
              </a:r>
              <a:r>
                <a:rPr lang="zh-CN" altLang="en-US" sz="2400" dirty="0">
                  <a:latin typeface="Times New Roman" panose="02020603050405020304" pitchFamily="18" charset="0"/>
                </a:rPr>
                <a:t>判别</a:t>
              </a:r>
              <a:endParaRPr lang="zh-CN" altLang="en-US" sz="2400" dirty="0">
                <a:latin typeface="Times New Roman" panose="02020603050405020304" pitchFamily="18" charset="0"/>
              </a:endParaRPr>
            </a:p>
          </p:txBody>
        </p:sp>
      </p:grpSp>
      <p:grpSp>
        <p:nvGrpSpPr>
          <p:cNvPr id="76815" name="Group 15"/>
          <p:cNvGrpSpPr/>
          <p:nvPr/>
        </p:nvGrpSpPr>
        <p:grpSpPr>
          <a:xfrm>
            <a:off x="1258888" y="5214938"/>
            <a:ext cx="6477000" cy="1225550"/>
            <a:chOff x="1056" y="2496"/>
            <a:chExt cx="4080" cy="1026"/>
          </a:xfrm>
        </p:grpSpPr>
        <p:grpSp>
          <p:nvGrpSpPr>
            <p:cNvPr id="107527" name="Group 16"/>
            <p:cNvGrpSpPr/>
            <p:nvPr/>
          </p:nvGrpSpPr>
          <p:grpSpPr>
            <a:xfrm>
              <a:off x="1056" y="2736"/>
              <a:ext cx="4080" cy="479"/>
              <a:chOff x="1488" y="3216"/>
              <a:chExt cx="4080" cy="479"/>
            </a:xfrm>
          </p:grpSpPr>
          <p:sp>
            <p:nvSpPr>
              <p:cNvPr id="107533" name="Rectangle 17"/>
              <p:cNvSpPr/>
              <p:nvPr/>
            </p:nvSpPr>
            <p:spPr>
              <a:xfrm>
                <a:off x="1488" y="3216"/>
                <a:ext cx="4080" cy="432"/>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zh-CN" sz="2400" dirty="0">
                  <a:latin typeface="Times New Roman" panose="02020603050405020304" pitchFamily="18" charset="0"/>
                </a:endParaRPr>
              </a:p>
            </p:txBody>
          </p:sp>
          <p:sp>
            <p:nvSpPr>
              <p:cNvPr id="107534" name="Line 18"/>
              <p:cNvSpPr/>
              <p:nvPr/>
            </p:nvSpPr>
            <p:spPr>
              <a:xfrm>
                <a:off x="4560" y="3216"/>
                <a:ext cx="0" cy="432"/>
              </a:xfrm>
              <a:prstGeom prst="line">
                <a:avLst/>
              </a:prstGeom>
              <a:ln w="12700" cap="flat" cmpd="sng">
                <a:solidFill>
                  <a:schemeClr val="tx1"/>
                </a:solidFill>
                <a:prstDash val="solid"/>
                <a:headEnd type="none" w="sm" len="sm"/>
                <a:tailEnd type="none" w="sm" len="sm"/>
              </a:ln>
            </p:spPr>
          </p:sp>
          <p:sp>
            <p:nvSpPr>
              <p:cNvPr id="107535" name="Line 19"/>
              <p:cNvSpPr/>
              <p:nvPr/>
            </p:nvSpPr>
            <p:spPr>
              <a:xfrm>
                <a:off x="4896" y="3216"/>
                <a:ext cx="0" cy="432"/>
              </a:xfrm>
              <a:prstGeom prst="line">
                <a:avLst/>
              </a:prstGeom>
              <a:ln w="12700" cap="flat" cmpd="sng">
                <a:solidFill>
                  <a:schemeClr val="tx1"/>
                </a:solidFill>
                <a:prstDash val="solid"/>
                <a:headEnd type="none" w="sm" len="sm"/>
                <a:tailEnd type="none" w="sm" len="sm"/>
              </a:ln>
            </p:spPr>
          </p:sp>
          <p:sp>
            <p:nvSpPr>
              <p:cNvPr id="107536" name="Text Box 20"/>
              <p:cNvSpPr txBox="1"/>
              <p:nvPr/>
            </p:nvSpPr>
            <p:spPr>
              <a:xfrm>
                <a:off x="1824" y="3307"/>
                <a:ext cx="2640" cy="383"/>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010    100    100    100    00000</a:t>
                </a:r>
                <a:endParaRPr lang="en-US" altLang="zh-CN" sz="2400" dirty="0">
                  <a:latin typeface="Times New Roman" panose="02020603050405020304" pitchFamily="18" charset="0"/>
                </a:endParaRPr>
              </a:p>
            </p:txBody>
          </p:sp>
          <p:sp>
            <p:nvSpPr>
              <p:cNvPr id="107537" name="Text Box 21"/>
              <p:cNvSpPr txBox="1"/>
              <p:nvPr/>
            </p:nvSpPr>
            <p:spPr>
              <a:xfrm>
                <a:off x="4560" y="3312"/>
                <a:ext cx="442" cy="383"/>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107538" name="Text Box 22"/>
              <p:cNvSpPr txBox="1"/>
              <p:nvPr/>
            </p:nvSpPr>
            <p:spPr>
              <a:xfrm>
                <a:off x="4944" y="3312"/>
                <a:ext cx="500" cy="38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1001</a:t>
                </a:r>
                <a:endParaRPr lang="en-US" altLang="zh-CN" sz="2400" dirty="0">
                  <a:latin typeface="Times New Roman" panose="02020603050405020304" pitchFamily="18" charset="0"/>
                </a:endParaRPr>
              </a:p>
            </p:txBody>
          </p:sp>
        </p:grpSp>
        <p:sp>
          <p:nvSpPr>
            <p:cNvPr id="107528" name="Text Box 23"/>
            <p:cNvSpPr txBox="1"/>
            <p:nvPr/>
          </p:nvSpPr>
          <p:spPr>
            <a:xfrm>
              <a:off x="4502" y="2496"/>
              <a:ext cx="500" cy="38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1010</a:t>
              </a:r>
              <a:endParaRPr lang="en-US" altLang="zh-CN" sz="2400" dirty="0">
                <a:latin typeface="Times New Roman" panose="02020603050405020304" pitchFamily="18" charset="0"/>
              </a:endParaRPr>
            </a:p>
          </p:txBody>
        </p:sp>
        <p:sp>
          <p:nvSpPr>
            <p:cNvPr id="107529" name="Text Box 24"/>
            <p:cNvSpPr txBox="1"/>
            <p:nvPr/>
          </p:nvSpPr>
          <p:spPr>
            <a:xfrm>
              <a:off x="1056" y="3203"/>
              <a:ext cx="912" cy="307"/>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latin typeface="Times New Roman" panose="02020603050405020304" pitchFamily="18" charset="0"/>
                </a:rPr>
                <a:t>存结果</a:t>
              </a:r>
              <a:r>
                <a:rPr lang="en-US" altLang="zh-CN" sz="1800" dirty="0">
                  <a:latin typeface="Times New Roman" panose="02020603050405020304" pitchFamily="18" charset="0"/>
                </a:rPr>
                <a:t>LDR</a:t>
              </a:r>
              <a:r>
                <a:rPr lang="en-US" altLang="zh-CN" sz="1800" baseline="-25000" dirty="0">
                  <a:latin typeface="Times New Roman" panose="02020603050405020304" pitchFamily="18" charset="0"/>
                </a:rPr>
                <a:t>2</a:t>
              </a:r>
              <a:endParaRPr lang="en-US" altLang="zh-CN" sz="1800" baseline="-25000" dirty="0">
                <a:latin typeface="Times New Roman" panose="02020603050405020304" pitchFamily="18" charset="0"/>
              </a:endParaRPr>
            </a:p>
          </p:txBody>
        </p:sp>
        <p:sp>
          <p:nvSpPr>
            <p:cNvPr id="107530" name="Text Box 25"/>
            <p:cNvSpPr txBox="1"/>
            <p:nvPr/>
          </p:nvSpPr>
          <p:spPr>
            <a:xfrm>
              <a:off x="1721" y="2543"/>
              <a:ext cx="493" cy="307"/>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latin typeface="Times New Roman" panose="02020603050405020304" pitchFamily="18" charset="0"/>
                </a:rPr>
                <a:t>R</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-&gt;X</a:t>
              </a:r>
              <a:endParaRPr lang="en-US" altLang="zh-CN" sz="1800" baseline="-25000" dirty="0">
                <a:latin typeface="Times New Roman" panose="02020603050405020304" pitchFamily="18" charset="0"/>
              </a:endParaRPr>
            </a:p>
          </p:txBody>
        </p:sp>
        <p:sp>
          <p:nvSpPr>
            <p:cNvPr id="107531" name="Text Box 26"/>
            <p:cNvSpPr txBox="1"/>
            <p:nvPr/>
          </p:nvSpPr>
          <p:spPr>
            <a:xfrm>
              <a:off x="2145" y="3215"/>
              <a:ext cx="553" cy="307"/>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latin typeface="Times New Roman" panose="02020603050405020304" pitchFamily="18" charset="0"/>
                </a:rPr>
                <a:t>R</a:t>
              </a:r>
              <a:r>
                <a:rPr lang="en-US" altLang="zh-CN" sz="1800" baseline="-25000" dirty="0">
                  <a:latin typeface="Times New Roman" panose="02020603050405020304" pitchFamily="18" charset="0"/>
                </a:rPr>
                <a:t>2 </a:t>
              </a:r>
              <a:r>
                <a:rPr lang="en-US" altLang="zh-CN" sz="1800" dirty="0">
                  <a:latin typeface="Times New Roman" panose="02020603050405020304" pitchFamily="18" charset="0"/>
                </a:rPr>
                <a:t>-&gt; Y</a:t>
              </a:r>
              <a:endParaRPr lang="en-US" altLang="zh-CN" sz="1800" dirty="0">
                <a:latin typeface="Times New Roman" panose="02020603050405020304" pitchFamily="18" charset="0"/>
              </a:endParaRPr>
            </a:p>
          </p:txBody>
        </p:sp>
        <p:sp>
          <p:nvSpPr>
            <p:cNvPr id="107532" name="Text Box 27"/>
            <p:cNvSpPr txBox="1"/>
            <p:nvPr/>
          </p:nvSpPr>
          <p:spPr>
            <a:xfrm>
              <a:off x="2832" y="2496"/>
              <a:ext cx="224" cy="38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a:t>
              </a:r>
              <a:endParaRPr lang="en-US" altLang="zh-CN" sz="2400" baseline="-25000" dirty="0">
                <a:latin typeface="Times New Roman" panose="02020603050405020304" pitchFamily="18" charset="0"/>
              </a:endParaRPr>
            </a:p>
          </p:txBody>
        </p:sp>
      </p:grpSp>
      <p:pic>
        <p:nvPicPr>
          <p:cNvPr id="76828" name="Picture 28" descr="5"/>
          <p:cNvPicPr>
            <a:picLocks noChangeAspect="1"/>
          </p:cNvPicPr>
          <p:nvPr/>
        </p:nvPicPr>
        <p:blipFill>
          <a:blip r:embed="rId1"/>
          <a:stretch>
            <a:fillRect/>
          </a:stretch>
        </p:blipFill>
        <p:spPr>
          <a:xfrm>
            <a:off x="682625" y="1454150"/>
            <a:ext cx="7248525" cy="24574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828"/>
                                        </p:tgtEl>
                                        <p:attrNameLst>
                                          <p:attrName>style.visibility</p:attrName>
                                        </p:attrNameLst>
                                      </p:cBhvr>
                                      <p:to>
                                        <p:strVal val="visible"/>
                                      </p:to>
                                    </p:set>
                                    <p:anim calcmode="lin" valueType="num">
                                      <p:cBhvr additive="base">
                                        <p:cTn id="7" dur="500" fill="hold"/>
                                        <p:tgtEl>
                                          <p:spTgt spid="76828"/>
                                        </p:tgtEl>
                                        <p:attrNameLst>
                                          <p:attrName>ppt_x</p:attrName>
                                        </p:attrNameLst>
                                      </p:cBhvr>
                                      <p:tavLst>
                                        <p:tav tm="0">
                                          <p:val>
                                            <p:strVal val="#ppt_x"/>
                                          </p:val>
                                        </p:tav>
                                        <p:tav tm="100000">
                                          <p:val>
                                            <p:strVal val="#ppt_x"/>
                                          </p:val>
                                        </p:tav>
                                      </p:tavLst>
                                    </p:anim>
                                    <p:anim calcmode="lin" valueType="num">
                                      <p:cBhvr additive="base">
                                        <p:cTn id="8" dur="500" fill="hold"/>
                                        <p:tgtEl>
                                          <p:spTgt spid="768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6804"/>
                                        </p:tgtEl>
                                        <p:attrNameLst>
                                          <p:attrName>style.visibility</p:attrName>
                                        </p:attrNameLst>
                                      </p:cBhvr>
                                      <p:to>
                                        <p:strVal val="visible"/>
                                      </p:to>
                                    </p:set>
                                    <p:anim calcmode="lin" valueType="num">
                                      <p:cBhvr additive="base">
                                        <p:cTn id="13" dur="500" fill="hold"/>
                                        <p:tgtEl>
                                          <p:spTgt spid="76804"/>
                                        </p:tgtEl>
                                        <p:attrNameLst>
                                          <p:attrName>ppt_x</p:attrName>
                                        </p:attrNameLst>
                                      </p:cBhvr>
                                      <p:tavLst>
                                        <p:tav tm="0">
                                          <p:val>
                                            <p:strVal val="#ppt_x"/>
                                          </p:val>
                                        </p:tav>
                                        <p:tav tm="100000">
                                          <p:val>
                                            <p:strVal val="#ppt_x"/>
                                          </p:val>
                                        </p:tav>
                                      </p:tavLst>
                                    </p:anim>
                                    <p:anim calcmode="lin" valueType="num">
                                      <p:cBhvr additive="base">
                                        <p:cTn id="14" dur="500" fill="hold"/>
                                        <p:tgtEl>
                                          <p:spTgt spid="7680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nodeType="clickEffect">
                                  <p:stCondLst>
                                    <p:cond delay="0"/>
                                  </p:stCondLst>
                                  <p:childTnLst>
                                    <p:anim calcmode="lin" valueType="num">
                                      <p:cBhvr additive="base">
                                        <p:cTn id="18" dur="500"/>
                                        <p:tgtEl>
                                          <p:spTgt spid="76804"/>
                                        </p:tgtEl>
                                        <p:attrNameLst>
                                          <p:attrName>ppt_x</p:attrName>
                                        </p:attrNameLst>
                                      </p:cBhvr>
                                      <p:tavLst>
                                        <p:tav tm="0">
                                          <p:val>
                                            <p:strVal val="ppt_x"/>
                                          </p:val>
                                        </p:tav>
                                        <p:tav tm="100000">
                                          <p:val>
                                            <p:strVal val="ppt_x"/>
                                          </p:val>
                                        </p:tav>
                                      </p:tavLst>
                                    </p:anim>
                                    <p:anim calcmode="lin" valueType="num">
                                      <p:cBhvr additive="base">
                                        <p:cTn id="19" dur="500"/>
                                        <p:tgtEl>
                                          <p:spTgt spid="76804"/>
                                        </p:tgtEl>
                                        <p:attrNameLst>
                                          <p:attrName>ppt_y</p:attrName>
                                        </p:attrNameLst>
                                      </p:cBhvr>
                                      <p:tavLst>
                                        <p:tav tm="0">
                                          <p:val>
                                            <p:strVal val="ppt_y"/>
                                          </p:val>
                                        </p:tav>
                                        <p:tav tm="100000">
                                          <p:val>
                                            <p:strVal val="1+ppt_h/2"/>
                                          </p:val>
                                        </p:tav>
                                      </p:tavLst>
                                    </p:anim>
                                    <p:set>
                                      <p:cBhvr>
                                        <p:cTn id="20" dur="1" fill="hold">
                                          <p:stCondLst>
                                            <p:cond delay="499"/>
                                          </p:stCondLst>
                                        </p:cTn>
                                        <p:tgtEl>
                                          <p:spTgt spid="7680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6815"/>
                                        </p:tgtEl>
                                        <p:attrNameLst>
                                          <p:attrName>style.visibility</p:attrName>
                                        </p:attrNameLst>
                                      </p:cBhvr>
                                      <p:to>
                                        <p:strVal val="visible"/>
                                      </p:to>
                                    </p:set>
                                    <p:anim calcmode="lin" valueType="num">
                                      <p:cBhvr additive="base">
                                        <p:cTn id="25" dur="500" fill="hold"/>
                                        <p:tgtEl>
                                          <p:spTgt spid="76815"/>
                                        </p:tgtEl>
                                        <p:attrNameLst>
                                          <p:attrName>ppt_x</p:attrName>
                                        </p:attrNameLst>
                                      </p:cBhvr>
                                      <p:tavLst>
                                        <p:tav tm="0">
                                          <p:val>
                                            <p:strVal val="#ppt_x"/>
                                          </p:val>
                                        </p:tav>
                                        <p:tav tm="100000">
                                          <p:val>
                                            <p:strVal val="#ppt_x"/>
                                          </p:val>
                                        </p:tav>
                                      </p:tavLst>
                                    </p:anim>
                                    <p:anim calcmode="lin" valueType="num">
                                      <p:cBhvr additive="base">
                                        <p:cTn id="26" dur="500" fill="hold"/>
                                        <p:tgtEl>
                                          <p:spTgt spid="768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nodeType="clickEffect">
                                  <p:stCondLst>
                                    <p:cond delay="0"/>
                                  </p:stCondLst>
                                  <p:childTnLst>
                                    <p:anim calcmode="lin" valueType="num">
                                      <p:cBhvr additive="base">
                                        <p:cTn id="30" dur="500"/>
                                        <p:tgtEl>
                                          <p:spTgt spid="76828"/>
                                        </p:tgtEl>
                                        <p:attrNameLst>
                                          <p:attrName>ppt_x</p:attrName>
                                        </p:attrNameLst>
                                      </p:cBhvr>
                                      <p:tavLst>
                                        <p:tav tm="0">
                                          <p:val>
                                            <p:strVal val="ppt_x"/>
                                          </p:val>
                                        </p:tav>
                                        <p:tav tm="100000">
                                          <p:val>
                                            <p:strVal val="ppt_x"/>
                                          </p:val>
                                        </p:tav>
                                      </p:tavLst>
                                    </p:anim>
                                    <p:anim calcmode="lin" valueType="num">
                                      <p:cBhvr additive="base">
                                        <p:cTn id="31" dur="500"/>
                                        <p:tgtEl>
                                          <p:spTgt spid="76828"/>
                                        </p:tgtEl>
                                        <p:attrNameLst>
                                          <p:attrName>ppt_y</p:attrName>
                                        </p:attrNameLst>
                                      </p:cBhvr>
                                      <p:tavLst>
                                        <p:tav tm="0">
                                          <p:val>
                                            <p:strVal val="ppt_y"/>
                                          </p:val>
                                        </p:tav>
                                        <p:tav tm="100000">
                                          <p:val>
                                            <p:strVal val="1+ppt_h/2"/>
                                          </p:val>
                                        </p:tav>
                                      </p:tavLst>
                                    </p:anim>
                                    <p:set>
                                      <p:cBhvr>
                                        <p:cTn id="32" dur="1" fill="hold">
                                          <p:stCondLst>
                                            <p:cond delay="499"/>
                                          </p:stCondLst>
                                        </p:cTn>
                                        <p:tgtEl>
                                          <p:spTgt spid="768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p:txBody>
          <a:bodyPr vert="horz" wrap="square" lIns="91440" tIns="45720" rIns="91440" bIns="45720" anchor="ctr" anchorCtr="0"/>
          <a:p>
            <a:r>
              <a:rPr lang="zh-CN" altLang="en-US" dirty="0"/>
              <a:t>十进制加法指令的微程序</a:t>
            </a:r>
            <a:endParaRPr lang="zh-CN" altLang="en-US" dirty="0"/>
          </a:p>
        </p:txBody>
      </p:sp>
      <p:grpSp>
        <p:nvGrpSpPr>
          <p:cNvPr id="108547" name="Group 3"/>
          <p:cNvGrpSpPr/>
          <p:nvPr/>
        </p:nvGrpSpPr>
        <p:grpSpPr>
          <a:xfrm>
            <a:off x="1187450" y="1909763"/>
            <a:ext cx="6477000" cy="2286000"/>
            <a:chOff x="816" y="1152"/>
            <a:chExt cx="4080" cy="1440"/>
          </a:xfrm>
        </p:grpSpPr>
        <p:grpSp>
          <p:nvGrpSpPr>
            <p:cNvPr id="108564" name="Group 4"/>
            <p:cNvGrpSpPr/>
            <p:nvPr/>
          </p:nvGrpSpPr>
          <p:grpSpPr>
            <a:xfrm>
              <a:off x="816" y="1152"/>
              <a:ext cx="4080" cy="1177"/>
              <a:chOff x="1104" y="1200"/>
              <a:chExt cx="4080" cy="1177"/>
            </a:xfrm>
          </p:grpSpPr>
          <p:grpSp>
            <p:nvGrpSpPr>
              <p:cNvPr id="108567" name="Group 5"/>
              <p:cNvGrpSpPr/>
              <p:nvPr/>
            </p:nvGrpSpPr>
            <p:grpSpPr>
              <a:xfrm>
                <a:off x="1104" y="1440"/>
                <a:ext cx="4080" cy="432"/>
                <a:chOff x="1488" y="3216"/>
                <a:chExt cx="4080" cy="432"/>
              </a:xfrm>
            </p:grpSpPr>
            <p:sp>
              <p:nvSpPr>
                <p:cNvPr id="108573" name="Rectangle 6"/>
                <p:cNvSpPr/>
                <p:nvPr/>
              </p:nvSpPr>
              <p:spPr>
                <a:xfrm>
                  <a:off x="1488" y="3216"/>
                  <a:ext cx="4080" cy="432"/>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zh-CN" sz="2400" dirty="0">
                    <a:latin typeface="Times New Roman" panose="02020603050405020304" pitchFamily="18" charset="0"/>
                  </a:endParaRPr>
                </a:p>
              </p:txBody>
            </p:sp>
            <p:sp>
              <p:nvSpPr>
                <p:cNvPr id="108574" name="Line 7"/>
                <p:cNvSpPr/>
                <p:nvPr/>
              </p:nvSpPr>
              <p:spPr>
                <a:xfrm>
                  <a:off x="4560" y="3216"/>
                  <a:ext cx="0" cy="432"/>
                </a:xfrm>
                <a:prstGeom prst="line">
                  <a:avLst/>
                </a:prstGeom>
                <a:ln w="12700" cap="flat" cmpd="sng">
                  <a:solidFill>
                    <a:schemeClr val="tx1"/>
                  </a:solidFill>
                  <a:prstDash val="solid"/>
                  <a:headEnd type="none" w="sm" len="sm"/>
                  <a:tailEnd type="none" w="sm" len="sm"/>
                </a:ln>
              </p:spPr>
            </p:sp>
            <p:sp>
              <p:nvSpPr>
                <p:cNvPr id="108575" name="Line 8"/>
                <p:cNvSpPr/>
                <p:nvPr/>
              </p:nvSpPr>
              <p:spPr>
                <a:xfrm>
                  <a:off x="4896" y="3216"/>
                  <a:ext cx="0" cy="432"/>
                </a:xfrm>
                <a:prstGeom prst="line">
                  <a:avLst/>
                </a:prstGeom>
                <a:ln w="12700" cap="flat" cmpd="sng">
                  <a:solidFill>
                    <a:schemeClr val="tx1"/>
                  </a:solidFill>
                  <a:prstDash val="solid"/>
                  <a:headEnd type="none" w="sm" len="sm"/>
                  <a:tailEnd type="none" w="sm" len="sm"/>
                </a:ln>
              </p:spPr>
            </p:sp>
            <p:sp>
              <p:nvSpPr>
                <p:cNvPr id="108576" name="Text Box 9"/>
                <p:cNvSpPr txBox="1"/>
                <p:nvPr/>
              </p:nvSpPr>
              <p:spPr>
                <a:xfrm>
                  <a:off x="1824" y="3307"/>
                  <a:ext cx="2640"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010    001    001    100    00000</a:t>
                  </a:r>
                  <a:endParaRPr lang="en-US" altLang="zh-CN" sz="2400" dirty="0">
                    <a:latin typeface="Times New Roman" panose="02020603050405020304" pitchFamily="18" charset="0"/>
                  </a:endParaRPr>
                </a:p>
              </p:txBody>
            </p:sp>
            <p:sp>
              <p:nvSpPr>
                <p:cNvPr id="108577" name="Text Box 10"/>
                <p:cNvSpPr txBox="1"/>
                <p:nvPr/>
              </p:nvSpPr>
              <p:spPr>
                <a:xfrm>
                  <a:off x="4560" y="3312"/>
                  <a:ext cx="442"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p:txBody>
            </p:sp>
            <p:sp>
              <p:nvSpPr>
                <p:cNvPr id="108578" name="Text Box 11"/>
                <p:cNvSpPr txBox="1"/>
                <p:nvPr/>
              </p:nvSpPr>
              <p:spPr>
                <a:xfrm>
                  <a:off x="4944" y="3312"/>
                  <a:ext cx="500" cy="2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0000</a:t>
                  </a:r>
                  <a:endParaRPr lang="en-US" altLang="zh-CN" sz="2400" dirty="0">
                    <a:latin typeface="Times New Roman" panose="02020603050405020304" pitchFamily="18" charset="0"/>
                  </a:endParaRPr>
                </a:p>
              </p:txBody>
            </p:sp>
          </p:grpSp>
          <p:sp>
            <p:nvSpPr>
              <p:cNvPr id="108568" name="Text Box 12"/>
              <p:cNvSpPr txBox="1"/>
              <p:nvPr/>
            </p:nvSpPr>
            <p:spPr>
              <a:xfrm>
                <a:off x="4550" y="1200"/>
                <a:ext cx="500" cy="2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1001</a:t>
                </a:r>
                <a:endParaRPr lang="en-US" altLang="zh-CN" sz="2400" dirty="0">
                  <a:latin typeface="Times New Roman" panose="02020603050405020304" pitchFamily="18" charset="0"/>
                </a:endParaRPr>
              </a:p>
            </p:txBody>
          </p:sp>
          <p:sp>
            <p:nvSpPr>
              <p:cNvPr id="108569" name="Text Box 13"/>
              <p:cNvSpPr txBox="1"/>
              <p:nvPr/>
            </p:nvSpPr>
            <p:spPr>
              <a:xfrm>
                <a:off x="1296" y="1859"/>
                <a:ext cx="692" cy="51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存结果</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LDR</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p:txBody>
          </p:sp>
          <p:sp>
            <p:nvSpPr>
              <p:cNvPr id="108570" name="Text Box 14"/>
              <p:cNvSpPr txBox="1"/>
              <p:nvPr/>
            </p:nvSpPr>
            <p:spPr>
              <a:xfrm>
                <a:off x="1728" y="1200"/>
                <a:ext cx="699" cy="2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-&gt; X</a:t>
                </a:r>
                <a:endParaRPr lang="en-US" altLang="zh-CN" sz="2400" dirty="0">
                  <a:latin typeface="Times New Roman" panose="02020603050405020304" pitchFamily="18" charset="0"/>
                </a:endParaRPr>
              </a:p>
            </p:txBody>
          </p:sp>
          <p:sp>
            <p:nvSpPr>
              <p:cNvPr id="108571" name="Text Box 15"/>
              <p:cNvSpPr txBox="1"/>
              <p:nvPr/>
            </p:nvSpPr>
            <p:spPr>
              <a:xfrm>
                <a:off x="2193" y="1872"/>
                <a:ext cx="699" cy="2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3 </a:t>
                </a:r>
                <a:r>
                  <a:rPr lang="en-US" altLang="zh-CN" sz="2400" dirty="0">
                    <a:latin typeface="Times New Roman" panose="02020603050405020304" pitchFamily="18" charset="0"/>
                  </a:rPr>
                  <a:t>-&gt; Y</a:t>
                </a:r>
                <a:endParaRPr lang="en-US" altLang="zh-CN" sz="2400" dirty="0">
                  <a:latin typeface="Times New Roman" panose="02020603050405020304" pitchFamily="18" charset="0"/>
                </a:endParaRPr>
              </a:p>
            </p:txBody>
          </p:sp>
          <p:sp>
            <p:nvSpPr>
              <p:cNvPr id="108572" name="Text Box 16"/>
              <p:cNvSpPr txBox="1"/>
              <p:nvPr/>
            </p:nvSpPr>
            <p:spPr>
              <a:xfrm>
                <a:off x="2880" y="1200"/>
                <a:ext cx="224" cy="2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a:t>
                </a:r>
                <a:endParaRPr lang="en-US" altLang="zh-CN" sz="2400" baseline="-25000" dirty="0">
                  <a:latin typeface="Times New Roman" panose="02020603050405020304" pitchFamily="18" charset="0"/>
                </a:endParaRPr>
              </a:p>
            </p:txBody>
          </p:sp>
        </p:grpSp>
        <p:sp>
          <p:nvSpPr>
            <p:cNvPr id="108565" name="Text Box 17"/>
            <p:cNvSpPr txBox="1"/>
            <p:nvPr/>
          </p:nvSpPr>
          <p:spPr>
            <a:xfrm>
              <a:off x="3696" y="1849"/>
              <a:ext cx="703" cy="2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P2</a:t>
              </a:r>
              <a:r>
                <a:rPr lang="zh-CN" altLang="en-US" sz="2400" dirty="0">
                  <a:latin typeface="Times New Roman" panose="02020603050405020304" pitchFamily="18" charset="0"/>
                </a:rPr>
                <a:t>判别</a:t>
              </a:r>
              <a:endParaRPr lang="zh-CN" altLang="en-US" sz="2400" dirty="0">
                <a:latin typeface="Times New Roman" panose="02020603050405020304" pitchFamily="18" charset="0"/>
              </a:endParaRPr>
            </a:p>
          </p:txBody>
        </p:sp>
        <p:sp>
          <p:nvSpPr>
            <p:cNvPr id="108566" name="AutoShape 18"/>
            <p:cNvSpPr/>
            <p:nvPr/>
          </p:nvSpPr>
          <p:spPr>
            <a:xfrm>
              <a:off x="2544" y="2233"/>
              <a:ext cx="1872" cy="359"/>
            </a:xfrm>
            <a:prstGeom prst="cloudCallout">
              <a:avLst>
                <a:gd name="adj1" fmla="val 33120"/>
                <a:gd name="adj2" fmla="val -180083"/>
              </a:avLst>
            </a:prstGeom>
            <a:solidFill>
              <a:schemeClr val="accent1"/>
            </a:solidFill>
            <a:ln w="12700" cap="flat" cmpd="sng">
              <a:solidFill>
                <a:schemeClr val="tx1"/>
              </a:solidFill>
              <a:prstDash val="solid"/>
              <a:headEnd type="none" w="sm" len="sm"/>
              <a:tailEnd type="none" w="sm" len="sm"/>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rPr>
                <a:t>P2</a:t>
              </a:r>
              <a:r>
                <a:rPr lang="zh-CN" altLang="en-US" sz="1600" dirty="0">
                  <a:latin typeface="Times New Roman" panose="02020603050405020304" pitchFamily="18" charset="0"/>
                </a:rPr>
                <a:t>条件为</a:t>
              </a:r>
              <a:r>
                <a:rPr lang="en-US" altLang="zh-CN" sz="1600" dirty="0">
                  <a:latin typeface="Times New Roman" panose="02020603050405020304" pitchFamily="18" charset="0"/>
                </a:rPr>
                <a:t>0</a:t>
              </a:r>
              <a:r>
                <a:rPr lang="zh-CN" altLang="en-US" sz="1600" dirty="0">
                  <a:latin typeface="Times New Roman" panose="02020603050405020304" pitchFamily="18" charset="0"/>
                </a:rPr>
                <a:t>，转到取指令的公操作</a:t>
              </a:r>
              <a:endParaRPr lang="zh-CN" altLang="en-US" sz="1600" dirty="0">
                <a:latin typeface="Times New Roman" panose="02020603050405020304" pitchFamily="18" charset="0"/>
              </a:endParaRPr>
            </a:p>
          </p:txBody>
        </p:sp>
      </p:grpSp>
      <p:grpSp>
        <p:nvGrpSpPr>
          <p:cNvPr id="108548" name="Group 19"/>
          <p:cNvGrpSpPr/>
          <p:nvPr/>
        </p:nvGrpSpPr>
        <p:grpSpPr>
          <a:xfrm>
            <a:off x="1258888" y="4471988"/>
            <a:ext cx="6934200" cy="1981200"/>
            <a:chOff x="1056" y="2640"/>
            <a:chExt cx="4368" cy="1248"/>
          </a:xfrm>
        </p:grpSpPr>
        <p:grpSp>
          <p:nvGrpSpPr>
            <p:cNvPr id="108550" name="Group 20"/>
            <p:cNvGrpSpPr/>
            <p:nvPr/>
          </p:nvGrpSpPr>
          <p:grpSpPr>
            <a:xfrm>
              <a:off x="1056" y="2640"/>
              <a:ext cx="4080" cy="1067"/>
              <a:chOff x="1104" y="1200"/>
              <a:chExt cx="4080" cy="1280"/>
            </a:xfrm>
          </p:grpSpPr>
          <p:grpSp>
            <p:nvGrpSpPr>
              <p:cNvPr id="108552" name="Group 21"/>
              <p:cNvGrpSpPr/>
              <p:nvPr/>
            </p:nvGrpSpPr>
            <p:grpSpPr>
              <a:xfrm>
                <a:off x="1104" y="1440"/>
                <a:ext cx="4080" cy="441"/>
                <a:chOff x="1488" y="3216"/>
                <a:chExt cx="4080" cy="441"/>
              </a:xfrm>
            </p:grpSpPr>
            <p:sp>
              <p:nvSpPr>
                <p:cNvPr id="108558" name="Rectangle 22"/>
                <p:cNvSpPr/>
                <p:nvPr/>
              </p:nvSpPr>
              <p:spPr>
                <a:xfrm>
                  <a:off x="1488" y="3216"/>
                  <a:ext cx="4080" cy="432"/>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zh-CN" sz="2400" dirty="0">
                    <a:latin typeface="Times New Roman" panose="02020603050405020304" pitchFamily="18" charset="0"/>
                  </a:endParaRPr>
                </a:p>
              </p:txBody>
            </p:sp>
            <p:sp>
              <p:nvSpPr>
                <p:cNvPr id="108559" name="Line 23"/>
                <p:cNvSpPr/>
                <p:nvPr/>
              </p:nvSpPr>
              <p:spPr>
                <a:xfrm>
                  <a:off x="4560" y="3216"/>
                  <a:ext cx="0" cy="432"/>
                </a:xfrm>
                <a:prstGeom prst="line">
                  <a:avLst/>
                </a:prstGeom>
                <a:ln w="12700" cap="flat" cmpd="sng">
                  <a:solidFill>
                    <a:schemeClr val="tx1"/>
                  </a:solidFill>
                  <a:prstDash val="solid"/>
                  <a:headEnd type="none" w="sm" len="sm"/>
                  <a:tailEnd type="none" w="sm" len="sm"/>
                </a:ln>
              </p:spPr>
            </p:sp>
            <p:sp>
              <p:nvSpPr>
                <p:cNvPr id="108560" name="Line 24"/>
                <p:cNvSpPr/>
                <p:nvPr/>
              </p:nvSpPr>
              <p:spPr>
                <a:xfrm>
                  <a:off x="4896" y="3216"/>
                  <a:ext cx="0" cy="432"/>
                </a:xfrm>
                <a:prstGeom prst="line">
                  <a:avLst/>
                </a:prstGeom>
                <a:ln w="12700" cap="flat" cmpd="sng">
                  <a:solidFill>
                    <a:schemeClr val="tx1"/>
                  </a:solidFill>
                  <a:prstDash val="solid"/>
                  <a:headEnd type="none" w="sm" len="sm"/>
                  <a:tailEnd type="none" w="sm" len="sm"/>
                </a:ln>
              </p:spPr>
            </p:sp>
            <p:sp>
              <p:nvSpPr>
                <p:cNvPr id="108561" name="Text Box 25"/>
                <p:cNvSpPr txBox="1"/>
                <p:nvPr/>
              </p:nvSpPr>
              <p:spPr>
                <a:xfrm>
                  <a:off x="1824" y="3307"/>
                  <a:ext cx="2640" cy="346"/>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010    001    001    001    00000</a:t>
                  </a:r>
                  <a:endParaRPr lang="en-US" altLang="zh-CN" sz="2400" dirty="0">
                    <a:latin typeface="Times New Roman" panose="02020603050405020304" pitchFamily="18" charset="0"/>
                  </a:endParaRPr>
                </a:p>
              </p:txBody>
            </p:sp>
            <p:sp>
              <p:nvSpPr>
                <p:cNvPr id="108562" name="Text Box 26"/>
                <p:cNvSpPr txBox="1"/>
                <p:nvPr/>
              </p:nvSpPr>
              <p:spPr>
                <a:xfrm>
                  <a:off x="4560" y="3312"/>
                  <a:ext cx="442" cy="34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108563" name="Text Box 27"/>
                <p:cNvSpPr txBox="1"/>
                <p:nvPr/>
              </p:nvSpPr>
              <p:spPr>
                <a:xfrm>
                  <a:off x="4944" y="3312"/>
                  <a:ext cx="500" cy="34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0000</a:t>
                  </a:r>
                  <a:endParaRPr lang="en-US" altLang="zh-CN" sz="2400" dirty="0">
                    <a:latin typeface="Times New Roman" panose="02020603050405020304" pitchFamily="18" charset="0"/>
                  </a:endParaRPr>
                </a:p>
              </p:txBody>
            </p:sp>
          </p:grpSp>
          <p:sp>
            <p:nvSpPr>
              <p:cNvPr id="108553" name="Text Box 28"/>
              <p:cNvSpPr txBox="1"/>
              <p:nvPr/>
            </p:nvSpPr>
            <p:spPr>
              <a:xfrm>
                <a:off x="4550" y="1200"/>
                <a:ext cx="500" cy="34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0001</a:t>
                </a:r>
                <a:endParaRPr lang="en-US" altLang="zh-CN" sz="2400" dirty="0">
                  <a:latin typeface="Times New Roman" panose="02020603050405020304" pitchFamily="18" charset="0"/>
                </a:endParaRPr>
              </a:p>
            </p:txBody>
          </p:sp>
          <p:sp>
            <p:nvSpPr>
              <p:cNvPr id="108554" name="Text Box 29"/>
              <p:cNvSpPr txBox="1"/>
              <p:nvPr/>
            </p:nvSpPr>
            <p:spPr>
              <a:xfrm>
                <a:off x="1296" y="1859"/>
                <a:ext cx="692" cy="621"/>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存结果</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LDR</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p:txBody>
          </p:sp>
          <p:sp>
            <p:nvSpPr>
              <p:cNvPr id="108555" name="Text Box 30"/>
              <p:cNvSpPr txBox="1"/>
              <p:nvPr/>
            </p:nvSpPr>
            <p:spPr>
              <a:xfrm>
                <a:off x="1728" y="1200"/>
                <a:ext cx="699" cy="346"/>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-&gt; X</a:t>
                </a:r>
                <a:endParaRPr lang="en-US" altLang="zh-CN" sz="2400" dirty="0">
                  <a:latin typeface="Times New Roman" panose="02020603050405020304" pitchFamily="18" charset="0"/>
                </a:endParaRPr>
              </a:p>
            </p:txBody>
          </p:sp>
          <p:sp>
            <p:nvSpPr>
              <p:cNvPr id="108556" name="Text Box 31"/>
              <p:cNvSpPr txBox="1"/>
              <p:nvPr/>
            </p:nvSpPr>
            <p:spPr>
              <a:xfrm>
                <a:off x="2193" y="1872"/>
                <a:ext cx="699" cy="34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3 </a:t>
                </a:r>
                <a:r>
                  <a:rPr lang="en-US" altLang="zh-CN" sz="2400" dirty="0">
                    <a:latin typeface="Times New Roman" panose="02020603050405020304" pitchFamily="18" charset="0"/>
                  </a:rPr>
                  <a:t>-&gt; Y</a:t>
                </a:r>
                <a:endParaRPr lang="en-US" altLang="zh-CN" sz="2400" dirty="0">
                  <a:latin typeface="Times New Roman" panose="02020603050405020304" pitchFamily="18" charset="0"/>
                </a:endParaRPr>
              </a:p>
            </p:txBody>
          </p:sp>
          <p:sp>
            <p:nvSpPr>
              <p:cNvPr id="108557" name="Text Box 32"/>
              <p:cNvSpPr txBox="1"/>
              <p:nvPr/>
            </p:nvSpPr>
            <p:spPr>
              <a:xfrm>
                <a:off x="2880" y="1200"/>
                <a:ext cx="180" cy="346"/>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a:t>
                </a:r>
                <a:endParaRPr lang="en-US" altLang="zh-CN" sz="2400" baseline="-25000" dirty="0">
                  <a:latin typeface="Times New Roman" panose="02020603050405020304" pitchFamily="18" charset="0"/>
                </a:endParaRPr>
              </a:p>
            </p:txBody>
          </p:sp>
        </p:grpSp>
        <p:sp>
          <p:nvSpPr>
            <p:cNvPr id="108551" name="AutoShape 33"/>
            <p:cNvSpPr/>
            <p:nvPr/>
          </p:nvSpPr>
          <p:spPr>
            <a:xfrm>
              <a:off x="3696" y="3552"/>
              <a:ext cx="1728" cy="336"/>
            </a:xfrm>
            <a:prstGeom prst="cloudCallout">
              <a:avLst>
                <a:gd name="adj1" fmla="val 10648"/>
                <a:gd name="adj2" fmla="val -146130"/>
              </a:avLst>
            </a:prstGeom>
            <a:solidFill>
              <a:schemeClr val="accent1"/>
            </a:solidFill>
            <a:ln w="12700" cap="flat" cmpd="sng">
              <a:solidFill>
                <a:schemeClr val="tx1"/>
              </a:solidFill>
              <a:prstDash val="solid"/>
              <a:headEnd type="none" w="sm" len="sm"/>
              <a:tailEnd type="none" w="sm" len="sm"/>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1800" dirty="0">
                  <a:latin typeface="Times New Roman" panose="02020603050405020304" pitchFamily="18" charset="0"/>
                </a:rPr>
                <a:t>转到取指令的公操作</a:t>
              </a:r>
              <a:endParaRPr lang="zh-CN" altLang="en-US" sz="1800" dirty="0">
                <a:latin typeface="Times New Roman" panose="02020603050405020304" pitchFamily="18" charset="0"/>
              </a:endParaRPr>
            </a:p>
          </p:txBody>
        </p:sp>
      </p:grpSp>
      <p:pic>
        <p:nvPicPr>
          <p:cNvPr id="108549" name="Picture 34" descr="5"/>
          <p:cNvPicPr>
            <a:picLocks noChangeAspect="1"/>
          </p:cNvPicPr>
          <p:nvPr/>
        </p:nvPicPr>
        <p:blipFill>
          <a:blip r:embed="rId1"/>
          <a:stretch>
            <a:fillRect/>
          </a:stretch>
        </p:blipFill>
        <p:spPr>
          <a:xfrm>
            <a:off x="971550" y="188913"/>
            <a:ext cx="6913563" cy="1557337"/>
          </a:xfrm>
          <a:prstGeom prst="rect">
            <a:avLst/>
          </a:prstGeom>
          <a:noFill/>
          <a:ln w="9525">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p:nvPr>
        </p:nvSpPr>
        <p:spPr/>
        <p:txBody>
          <a:bodyPr vert="horz" wrap="square" lIns="91440" tIns="45720" rIns="91440" bIns="45720" anchor="ctr" anchorCtr="0"/>
          <a:p>
            <a:r>
              <a:rPr lang="en-US" altLang="zh-CN" sz="3500" dirty="0">
                <a:cs typeface="Times New Roman" panose="02020603050405020304" pitchFamily="18" charset="0"/>
              </a:rPr>
              <a:t>5</a:t>
            </a:r>
            <a:r>
              <a:rPr lang="en-US" altLang="zh-CN" sz="3500" dirty="0"/>
              <a:t>.4.1</a:t>
            </a:r>
            <a:r>
              <a:rPr lang="zh-CN" altLang="en-US" sz="3500" dirty="0"/>
              <a:t>微程序控制原理</a:t>
            </a:r>
            <a:endParaRPr lang="zh-CN" altLang="en-US" sz="3500" dirty="0"/>
          </a:p>
        </p:txBody>
      </p:sp>
      <p:sp>
        <p:nvSpPr>
          <p:cNvPr id="109571" name="Rectangle 3"/>
          <p:cNvSpPr>
            <a:spLocks noGrp="1"/>
          </p:cNvSpPr>
          <p:nvPr>
            <p:ph idx="1"/>
          </p:nvPr>
        </p:nvSpPr>
        <p:spPr/>
        <p:txBody>
          <a:bodyPr vert="horz" wrap="square" lIns="91440" tIns="45720" rIns="91440" bIns="45720" anchor="t" anchorCtr="0"/>
          <a:p>
            <a:pPr>
              <a:buNone/>
            </a:pPr>
            <a:r>
              <a:rPr lang="en-US" altLang="zh-CN" dirty="0"/>
              <a:t>6</a:t>
            </a:r>
            <a:r>
              <a:rPr lang="zh-CN" altLang="en-US" dirty="0"/>
              <a:t>、</a:t>
            </a:r>
            <a:r>
              <a:rPr lang="en-US" altLang="zh-CN" dirty="0"/>
              <a:t>CPU</a:t>
            </a:r>
            <a:r>
              <a:rPr lang="zh-CN" altLang="en-US" dirty="0"/>
              <a:t>周期和微指令周期的关系</a:t>
            </a:r>
            <a:endParaRPr lang="zh-CN" altLang="en-US" dirty="0"/>
          </a:p>
          <a:p>
            <a:endParaRPr lang="en-US" altLang="zh-CN" dirty="0"/>
          </a:p>
        </p:txBody>
      </p:sp>
      <p:pic>
        <p:nvPicPr>
          <p:cNvPr id="109572" name="Picture 5"/>
          <p:cNvPicPr>
            <a:picLocks noChangeAspect="1"/>
          </p:cNvPicPr>
          <p:nvPr/>
        </p:nvPicPr>
        <p:blipFill>
          <a:blip r:embed="rId1"/>
          <a:stretch>
            <a:fillRect/>
          </a:stretch>
        </p:blipFill>
        <p:spPr>
          <a:xfrm>
            <a:off x="755650" y="2565400"/>
            <a:ext cx="7466013" cy="2486025"/>
          </a:xfrm>
          <a:prstGeom prst="rect">
            <a:avLst/>
          </a:prstGeom>
          <a:noFill/>
          <a:ln w="9525">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3"/>
          <p:cNvSpPr/>
          <p:nvPr/>
        </p:nvSpPr>
        <p:spPr>
          <a:xfrm>
            <a:off x="827088" y="904875"/>
            <a:ext cx="6192837"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b="1" dirty="0">
                <a:solidFill>
                  <a:schemeClr val="tx2"/>
                </a:solidFill>
              </a:rPr>
              <a:t>7</a:t>
            </a:r>
            <a:r>
              <a:rPr lang="zh-CN" altLang="en-US" b="1" dirty="0">
                <a:solidFill>
                  <a:schemeClr val="tx2"/>
                </a:solidFill>
              </a:rPr>
              <a:t>、机器指令与微指令的关系</a:t>
            </a:r>
            <a:endParaRPr lang="zh-CN" altLang="en-US" b="1" dirty="0">
              <a:solidFill>
                <a:schemeClr val="tx2"/>
              </a:solidFill>
            </a:endParaRPr>
          </a:p>
        </p:txBody>
      </p:sp>
      <p:pic>
        <p:nvPicPr>
          <p:cNvPr id="110595" name="Picture 7"/>
          <p:cNvPicPr>
            <a:picLocks noChangeAspect="1"/>
          </p:cNvPicPr>
          <p:nvPr/>
        </p:nvPicPr>
        <p:blipFill>
          <a:blip r:embed="rId1"/>
          <a:stretch>
            <a:fillRect/>
          </a:stretch>
        </p:blipFill>
        <p:spPr>
          <a:xfrm>
            <a:off x="971550" y="1557338"/>
            <a:ext cx="6913563" cy="4852987"/>
          </a:xfrm>
          <a:prstGeom prst="rect">
            <a:avLst/>
          </a:prstGeom>
          <a:noFill/>
          <a:ln w="9525">
            <a:noFill/>
          </a:ln>
        </p:spPr>
      </p:pic>
      <p:sp>
        <p:nvSpPr>
          <p:cNvPr id="110596" name="Rectangle 8"/>
          <p:cNvSpPr>
            <a:spLocks noGrp="1"/>
          </p:cNvSpPr>
          <p:nvPr>
            <p:ph type="title"/>
          </p:nvPr>
        </p:nvSpPr>
        <p:spPr>
          <a:xfrm>
            <a:off x="457200" y="-26987"/>
            <a:ext cx="8229600" cy="1371600"/>
          </a:xfrm>
        </p:spPr>
        <p:txBody>
          <a:bodyPr vert="horz" wrap="square" lIns="91440" tIns="45720" rIns="91440" bIns="45720" anchor="ctr" anchorCtr="0"/>
          <a:p>
            <a:r>
              <a:rPr lang="en-US" altLang="zh-CN" dirty="0"/>
              <a:t>5.4.1</a:t>
            </a:r>
            <a:r>
              <a:rPr lang="zh-CN" altLang="en-US" dirty="0"/>
              <a:t>微程序控制原理</a:t>
            </a:r>
            <a:endParaRPr lang="zh-CN" altLang="en-US" dirty="0"/>
          </a:p>
        </p:txBody>
      </p:sp>
      <p:sp>
        <p:nvSpPr>
          <p:cNvPr id="110597" name="文本框 1"/>
          <p:cNvSpPr txBox="1"/>
          <p:nvPr/>
        </p:nvSpPr>
        <p:spPr>
          <a:xfrm>
            <a:off x="5219700" y="4868863"/>
            <a:ext cx="2160588" cy="461962"/>
          </a:xfrm>
          <a:prstGeom prst="rect">
            <a:avLst/>
          </a:prstGeom>
          <a:solidFill>
            <a:srgbClr val="CC66FF"/>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2400" b="1" dirty="0"/>
              <a:t>微地址寄存器</a:t>
            </a:r>
            <a:endParaRPr lang="zh-CN" altLang="en-US" sz="2400" b="1"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11619" name="Rectangle 3"/>
          <p:cNvSpPr>
            <a:spLocks noGrp="1"/>
          </p:cNvSpPr>
          <p:nvPr>
            <p:ph idx="1"/>
          </p:nvPr>
        </p:nvSpPr>
        <p:spPr/>
        <p:txBody>
          <a:bodyPr vert="horz" wrap="square" lIns="91440" tIns="45720" rIns="91440" bIns="45720" anchor="t" anchorCtr="0"/>
          <a:p>
            <a:pPr>
              <a:buNone/>
            </a:pPr>
            <a:r>
              <a:rPr lang="zh-CN" altLang="en-US" dirty="0"/>
              <a:t>一、设计微指令应当追求的目标</a:t>
            </a:r>
            <a:endParaRPr lang="zh-CN" altLang="en-US" dirty="0"/>
          </a:p>
          <a:p>
            <a:pPr lvl="1"/>
            <a:r>
              <a:rPr lang="zh-CN" altLang="en-US" dirty="0"/>
              <a:t>有利于缩短微指令的长度</a:t>
            </a:r>
            <a:endParaRPr lang="zh-CN" altLang="en-US" dirty="0"/>
          </a:p>
          <a:p>
            <a:pPr lvl="1"/>
            <a:r>
              <a:rPr lang="zh-CN" altLang="en-US" dirty="0"/>
              <a:t>有利于缩小</a:t>
            </a:r>
            <a:r>
              <a:rPr lang="en-US" altLang="zh-CN" dirty="0"/>
              <a:t>CM</a:t>
            </a:r>
            <a:r>
              <a:rPr lang="zh-CN" altLang="en-US" dirty="0"/>
              <a:t>的容量</a:t>
            </a:r>
            <a:endParaRPr lang="zh-CN" altLang="en-US" dirty="0"/>
          </a:p>
          <a:p>
            <a:pPr lvl="1"/>
            <a:r>
              <a:rPr lang="zh-CN" altLang="en-US" dirty="0"/>
              <a:t>有利于提高微程序的执行速度</a:t>
            </a:r>
            <a:endParaRPr lang="zh-CN" altLang="en-US" dirty="0"/>
          </a:p>
          <a:p>
            <a:pPr lvl="1"/>
            <a:r>
              <a:rPr lang="zh-CN" altLang="en-US" dirty="0"/>
              <a:t>有利于对微指令的修改</a:t>
            </a:r>
            <a:endParaRPr lang="zh-CN" altLang="en-US" dirty="0"/>
          </a:p>
          <a:p>
            <a:pPr lvl="1"/>
            <a:r>
              <a:rPr lang="zh-CN" altLang="en-US" dirty="0"/>
              <a:t>有利于提高微程序设计的灵活性</a:t>
            </a:r>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12643" name="Rectangle 3"/>
          <p:cNvSpPr>
            <a:spLocks noGrp="1"/>
          </p:cNvSpPr>
          <p:nvPr>
            <p:ph idx="1"/>
          </p:nvPr>
        </p:nvSpPr>
        <p:spPr>
          <a:xfrm>
            <a:off x="457200" y="1628775"/>
            <a:ext cx="8229600" cy="3886200"/>
          </a:xfrm>
        </p:spPr>
        <p:txBody>
          <a:bodyPr vert="horz" wrap="square" lIns="91440" tIns="45720" rIns="91440" bIns="45720" anchor="t" anchorCtr="0"/>
          <a:p>
            <a:pPr>
              <a:buNone/>
            </a:pPr>
            <a:r>
              <a:rPr lang="en-US" altLang="zh-CN" dirty="0"/>
              <a:t>1</a:t>
            </a:r>
            <a:r>
              <a:rPr lang="zh-CN" altLang="en-US" dirty="0"/>
              <a:t>、微命令的编码方法</a:t>
            </a:r>
            <a:endParaRPr lang="zh-CN" altLang="en-US" dirty="0"/>
          </a:p>
          <a:p>
            <a:pPr lvl="1">
              <a:buNone/>
            </a:pPr>
            <a:r>
              <a:rPr lang="zh-CN" altLang="en-US" sz="2200" b="1" dirty="0">
                <a:solidFill>
                  <a:srgbClr val="EE2200"/>
                </a:solidFill>
              </a:rPr>
              <a:t>编码有三种方法：直接表示法</a:t>
            </a:r>
            <a:r>
              <a:rPr lang="en-US" altLang="zh-CN" sz="2200" b="1" dirty="0">
                <a:solidFill>
                  <a:srgbClr val="EE2200"/>
                </a:solidFill>
              </a:rPr>
              <a:t>/</a:t>
            </a:r>
            <a:r>
              <a:rPr lang="zh-CN" altLang="en-US" sz="2200" b="1" dirty="0">
                <a:solidFill>
                  <a:srgbClr val="EE2200"/>
                </a:solidFill>
              </a:rPr>
              <a:t>编码表示法</a:t>
            </a:r>
            <a:r>
              <a:rPr lang="en-US" altLang="zh-CN" sz="2200" b="1" dirty="0">
                <a:solidFill>
                  <a:srgbClr val="EE2200"/>
                </a:solidFill>
              </a:rPr>
              <a:t>/</a:t>
            </a:r>
            <a:r>
              <a:rPr lang="zh-CN" altLang="en-US" sz="2200" b="1" dirty="0">
                <a:solidFill>
                  <a:srgbClr val="EE2200"/>
                </a:solidFill>
              </a:rPr>
              <a:t>混合表示法</a:t>
            </a:r>
            <a:endParaRPr lang="zh-CN" altLang="en-US" sz="2200" b="1" dirty="0">
              <a:solidFill>
                <a:srgbClr val="EE2200"/>
              </a:solidFill>
            </a:endParaRPr>
          </a:p>
          <a:p>
            <a:pPr lvl="1"/>
            <a:r>
              <a:rPr lang="zh-CN" altLang="en-US" dirty="0">
                <a:solidFill>
                  <a:srgbClr val="FF3300"/>
                </a:solidFill>
              </a:rPr>
              <a:t>直接表示法</a:t>
            </a:r>
            <a:r>
              <a:rPr lang="zh-CN" altLang="en-US" dirty="0"/>
              <a:t>：操作控制字段中的各位分别可以直接控制计算机，不需要进行译码。</a:t>
            </a:r>
            <a:endParaRPr lang="zh-CN" altLang="en-US" dirty="0"/>
          </a:p>
          <a:p>
            <a:pPr>
              <a:buNone/>
            </a:pPr>
            <a:endParaRPr lang="en-US" altLang="zh-CN" dirty="0"/>
          </a:p>
        </p:txBody>
      </p:sp>
      <p:pic>
        <p:nvPicPr>
          <p:cNvPr id="112644" name="Picture 4" descr="jxnr672"/>
          <p:cNvPicPr>
            <a:picLocks noChangeAspect="1"/>
          </p:cNvPicPr>
          <p:nvPr/>
        </p:nvPicPr>
        <p:blipFill>
          <a:blip r:embed="rId1"/>
          <a:stretch>
            <a:fillRect/>
          </a:stretch>
        </p:blipFill>
        <p:spPr>
          <a:xfrm>
            <a:off x="1258888" y="3357563"/>
            <a:ext cx="6019800" cy="2908300"/>
          </a:xfrm>
          <a:prstGeom prst="rect">
            <a:avLst/>
          </a:prstGeom>
          <a:noFill/>
          <a:ln w="9525">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body" sz="half" idx="1"/>
          </p:nvPr>
        </p:nvSpPr>
        <p:spPr>
          <a:xfrm>
            <a:off x="755650" y="1485900"/>
            <a:ext cx="7689850" cy="1585913"/>
          </a:xfrm>
        </p:spPr>
        <p:txBody>
          <a:bodyPr vert="horz" wrap="square" lIns="91440" tIns="45720" rIns="91440" bIns="45720" anchor="t" anchorCtr="0"/>
          <a:p>
            <a:pPr>
              <a:buClr>
                <a:schemeClr val="bg2"/>
              </a:buClr>
              <a:buSzPct val="75000"/>
              <a:buFont typeface="Wingdings" panose="05000000000000000000" pitchFamily="2" charset="2"/>
            </a:pPr>
            <a:r>
              <a:rPr lang="zh-CN" altLang="en-US" sz="2600" dirty="0"/>
              <a:t>直接表示法举例，操作控制字段的每一个独立的二进制位代表一个微命令，该位为“</a:t>
            </a:r>
            <a:r>
              <a:rPr lang="en-US" altLang="zh-CN" sz="2600" dirty="0"/>
              <a:t>1”</a:t>
            </a:r>
            <a:r>
              <a:rPr lang="zh-CN" altLang="en-US" sz="2600" dirty="0"/>
              <a:t>表示这个微命令有效，为“</a:t>
            </a:r>
            <a:r>
              <a:rPr lang="en-US" altLang="zh-CN" sz="2600" dirty="0"/>
              <a:t>0”</a:t>
            </a:r>
            <a:r>
              <a:rPr lang="zh-CN" altLang="en-US" sz="2600" dirty="0"/>
              <a:t>表示这个微命令无效。</a:t>
            </a:r>
            <a:endParaRPr lang="zh-CN" altLang="en-US" sz="2600" dirty="0"/>
          </a:p>
        </p:txBody>
      </p:sp>
      <p:sp>
        <p:nvSpPr>
          <p:cNvPr id="113667" name="Rectangle 3"/>
          <p:cNvSpPr/>
          <p:nvPr/>
        </p:nvSpPr>
        <p:spPr>
          <a:xfrm>
            <a:off x="673100" y="260350"/>
            <a:ext cx="7543800" cy="725488"/>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3900" b="1" dirty="0">
                <a:cs typeface="Times New Roman" panose="02020603050405020304" pitchFamily="18" charset="0"/>
              </a:rPr>
              <a:t>5.4.2  </a:t>
            </a:r>
            <a:r>
              <a:rPr lang="zh-CN" altLang="en-US" sz="3900" b="1" dirty="0">
                <a:cs typeface="Times New Roman" panose="02020603050405020304" pitchFamily="18" charset="0"/>
              </a:rPr>
              <a:t>微程序设计技术</a:t>
            </a:r>
            <a:endParaRPr lang="zh-CN" altLang="en-US" sz="3900" b="1" dirty="0">
              <a:ea typeface="Times New Roman" panose="02020603050405020304" pitchFamily="18" charset="0"/>
            </a:endParaRPr>
          </a:p>
        </p:txBody>
      </p:sp>
      <p:sp>
        <p:nvSpPr>
          <p:cNvPr id="113668" name="AutoShape 4"/>
          <p:cNvSpPr>
            <a:spLocks noChangeAspect="1" noTextEdit="1"/>
          </p:cNvSpPr>
          <p:nvPr/>
        </p:nvSpPr>
        <p:spPr>
          <a:xfrm>
            <a:off x="552450" y="2782888"/>
            <a:ext cx="8208963" cy="3001962"/>
          </a:xfrm>
          <a:prstGeom prst="rect">
            <a:avLst/>
          </a:prstGeom>
          <a:noFill/>
          <a:ln w="9525">
            <a:noFill/>
          </a:ln>
        </p:spPr>
        <p:txBody>
          <a:bodyPr/>
          <a:p>
            <a:endParaRPr lang="zh-CN" altLang="en-US"/>
          </a:p>
        </p:txBody>
      </p:sp>
      <p:grpSp>
        <p:nvGrpSpPr>
          <p:cNvPr id="113669" name="Group 5"/>
          <p:cNvGrpSpPr/>
          <p:nvPr/>
        </p:nvGrpSpPr>
        <p:grpSpPr>
          <a:xfrm>
            <a:off x="655638" y="3462338"/>
            <a:ext cx="7670800" cy="1582737"/>
            <a:chOff x="360" y="1273"/>
            <a:chExt cx="4832" cy="997"/>
          </a:xfrm>
        </p:grpSpPr>
        <p:sp>
          <p:nvSpPr>
            <p:cNvPr id="113730" name="Rectangle 6"/>
            <p:cNvSpPr/>
            <p:nvPr/>
          </p:nvSpPr>
          <p:spPr>
            <a:xfrm>
              <a:off x="360" y="2013"/>
              <a:ext cx="4832" cy="25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3731" name="Rectangle 7"/>
            <p:cNvSpPr/>
            <p:nvPr/>
          </p:nvSpPr>
          <p:spPr>
            <a:xfrm>
              <a:off x="360" y="2013"/>
              <a:ext cx="4832" cy="257"/>
            </a:xfrm>
            <a:prstGeom prst="rect">
              <a:avLst/>
            </a:prstGeom>
            <a:noFill/>
            <a:ln w="285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3732" name="Line 8"/>
            <p:cNvSpPr/>
            <p:nvPr/>
          </p:nvSpPr>
          <p:spPr>
            <a:xfrm flipV="1">
              <a:off x="5064" y="1866"/>
              <a:ext cx="1" cy="147"/>
            </a:xfrm>
            <a:prstGeom prst="line">
              <a:avLst/>
            </a:prstGeom>
            <a:ln w="4763" cap="flat" cmpd="sng">
              <a:solidFill>
                <a:srgbClr val="000000"/>
              </a:solidFill>
              <a:prstDash val="solid"/>
              <a:headEnd type="none" w="med" len="med"/>
              <a:tailEnd type="none" w="med" len="med"/>
            </a:ln>
          </p:spPr>
        </p:sp>
        <p:sp>
          <p:nvSpPr>
            <p:cNvPr id="113733" name="Freeform 9"/>
            <p:cNvSpPr/>
            <p:nvPr/>
          </p:nvSpPr>
          <p:spPr>
            <a:xfrm>
              <a:off x="5024" y="1758"/>
              <a:ext cx="79" cy="118"/>
            </a:xfrm>
            <a:custGeom>
              <a:avLst/>
              <a:gdLst/>
              <a:ahLst/>
              <a:cxnLst>
                <a:cxn ang="0">
                  <a:pos x="0" y="118"/>
                </a:cxn>
                <a:cxn ang="0">
                  <a:pos x="40" y="0"/>
                </a:cxn>
                <a:cxn ang="0">
                  <a:pos x="79" y="118"/>
                </a:cxn>
                <a:cxn ang="0">
                  <a:pos x="0" y="118"/>
                </a:cxn>
              </a:cxnLst>
              <a:pathLst>
                <a:path w="79" h="118">
                  <a:moveTo>
                    <a:pt x="0" y="118"/>
                  </a:moveTo>
                  <a:lnTo>
                    <a:pt x="40" y="0"/>
                  </a:lnTo>
                  <a:lnTo>
                    <a:pt x="79" y="118"/>
                  </a:lnTo>
                  <a:lnTo>
                    <a:pt x="0" y="118"/>
                  </a:lnTo>
                  <a:close/>
                </a:path>
              </a:pathLst>
            </a:custGeom>
            <a:solidFill>
              <a:srgbClr val="000000">
                <a:alpha val="100000"/>
              </a:srgbClr>
            </a:solidFill>
            <a:ln w="9525">
              <a:noFill/>
            </a:ln>
          </p:spPr>
          <p:txBody>
            <a:bodyPr/>
            <a:p>
              <a:endParaRPr lang="zh-CN" altLang="en-US"/>
            </a:p>
          </p:txBody>
        </p:sp>
        <p:sp>
          <p:nvSpPr>
            <p:cNvPr id="113734" name="Line 10"/>
            <p:cNvSpPr/>
            <p:nvPr/>
          </p:nvSpPr>
          <p:spPr>
            <a:xfrm flipV="1">
              <a:off x="4935" y="1866"/>
              <a:ext cx="1" cy="147"/>
            </a:xfrm>
            <a:prstGeom prst="line">
              <a:avLst/>
            </a:prstGeom>
            <a:ln w="4763" cap="flat" cmpd="sng">
              <a:solidFill>
                <a:srgbClr val="000000"/>
              </a:solidFill>
              <a:prstDash val="solid"/>
              <a:headEnd type="none" w="med" len="med"/>
              <a:tailEnd type="none" w="med" len="med"/>
            </a:ln>
          </p:spPr>
        </p:sp>
        <p:sp>
          <p:nvSpPr>
            <p:cNvPr id="113735" name="Freeform 11"/>
            <p:cNvSpPr/>
            <p:nvPr/>
          </p:nvSpPr>
          <p:spPr>
            <a:xfrm>
              <a:off x="4897" y="1758"/>
              <a:ext cx="79" cy="118"/>
            </a:xfrm>
            <a:custGeom>
              <a:avLst/>
              <a:gdLst/>
              <a:ahLst/>
              <a:cxnLst>
                <a:cxn ang="0">
                  <a:pos x="0" y="118"/>
                </a:cxn>
                <a:cxn ang="0">
                  <a:pos x="38" y="0"/>
                </a:cxn>
                <a:cxn ang="0">
                  <a:pos x="79" y="118"/>
                </a:cxn>
                <a:cxn ang="0">
                  <a:pos x="0" y="118"/>
                </a:cxn>
              </a:cxnLst>
              <a:pathLst>
                <a:path w="79" h="118">
                  <a:moveTo>
                    <a:pt x="0" y="118"/>
                  </a:moveTo>
                  <a:lnTo>
                    <a:pt x="38" y="0"/>
                  </a:lnTo>
                  <a:lnTo>
                    <a:pt x="79" y="118"/>
                  </a:lnTo>
                  <a:lnTo>
                    <a:pt x="0" y="118"/>
                  </a:lnTo>
                  <a:close/>
                </a:path>
              </a:pathLst>
            </a:custGeom>
            <a:solidFill>
              <a:srgbClr val="000000">
                <a:alpha val="100000"/>
              </a:srgbClr>
            </a:solidFill>
            <a:ln w="9525">
              <a:noFill/>
            </a:ln>
          </p:spPr>
          <p:txBody>
            <a:bodyPr/>
            <a:p>
              <a:endParaRPr lang="zh-CN" altLang="en-US"/>
            </a:p>
          </p:txBody>
        </p:sp>
        <p:sp>
          <p:nvSpPr>
            <p:cNvPr id="113736" name="Line 12"/>
            <p:cNvSpPr/>
            <p:nvPr/>
          </p:nvSpPr>
          <p:spPr>
            <a:xfrm flipV="1">
              <a:off x="4808" y="1866"/>
              <a:ext cx="1" cy="147"/>
            </a:xfrm>
            <a:prstGeom prst="line">
              <a:avLst/>
            </a:prstGeom>
            <a:ln w="4763" cap="flat" cmpd="sng">
              <a:solidFill>
                <a:srgbClr val="000000"/>
              </a:solidFill>
              <a:prstDash val="solid"/>
              <a:headEnd type="none" w="med" len="med"/>
              <a:tailEnd type="none" w="med" len="med"/>
            </a:ln>
          </p:spPr>
        </p:sp>
        <p:sp>
          <p:nvSpPr>
            <p:cNvPr id="113737" name="Freeform 13"/>
            <p:cNvSpPr/>
            <p:nvPr/>
          </p:nvSpPr>
          <p:spPr>
            <a:xfrm>
              <a:off x="4769" y="1758"/>
              <a:ext cx="78" cy="118"/>
            </a:xfrm>
            <a:custGeom>
              <a:avLst/>
              <a:gdLst/>
              <a:ahLst/>
              <a:cxnLst>
                <a:cxn ang="0">
                  <a:pos x="0" y="118"/>
                </a:cxn>
                <a:cxn ang="0">
                  <a:pos x="39" y="0"/>
                </a:cxn>
                <a:cxn ang="0">
                  <a:pos x="78" y="118"/>
                </a:cxn>
                <a:cxn ang="0">
                  <a:pos x="0" y="118"/>
                </a:cxn>
              </a:cxnLst>
              <a:pathLst>
                <a:path w="78" h="118">
                  <a:moveTo>
                    <a:pt x="0" y="118"/>
                  </a:moveTo>
                  <a:lnTo>
                    <a:pt x="39" y="0"/>
                  </a:lnTo>
                  <a:lnTo>
                    <a:pt x="78" y="118"/>
                  </a:lnTo>
                  <a:lnTo>
                    <a:pt x="0" y="118"/>
                  </a:lnTo>
                  <a:close/>
                </a:path>
              </a:pathLst>
            </a:custGeom>
            <a:solidFill>
              <a:srgbClr val="000000">
                <a:alpha val="100000"/>
              </a:srgbClr>
            </a:solidFill>
            <a:ln w="9525">
              <a:noFill/>
            </a:ln>
          </p:spPr>
          <p:txBody>
            <a:bodyPr/>
            <a:p>
              <a:endParaRPr lang="zh-CN" altLang="en-US"/>
            </a:p>
          </p:txBody>
        </p:sp>
        <p:sp>
          <p:nvSpPr>
            <p:cNvPr id="113738" name="Line 14"/>
            <p:cNvSpPr/>
            <p:nvPr/>
          </p:nvSpPr>
          <p:spPr>
            <a:xfrm flipV="1">
              <a:off x="4681" y="1866"/>
              <a:ext cx="1" cy="147"/>
            </a:xfrm>
            <a:prstGeom prst="line">
              <a:avLst/>
            </a:prstGeom>
            <a:ln w="4763" cap="flat" cmpd="sng">
              <a:solidFill>
                <a:srgbClr val="000000"/>
              </a:solidFill>
              <a:prstDash val="solid"/>
              <a:headEnd type="none" w="med" len="med"/>
              <a:tailEnd type="none" w="med" len="med"/>
            </a:ln>
          </p:spPr>
        </p:sp>
        <p:sp>
          <p:nvSpPr>
            <p:cNvPr id="113739" name="Freeform 15"/>
            <p:cNvSpPr/>
            <p:nvPr/>
          </p:nvSpPr>
          <p:spPr>
            <a:xfrm>
              <a:off x="4640" y="1758"/>
              <a:ext cx="79" cy="118"/>
            </a:xfrm>
            <a:custGeom>
              <a:avLst/>
              <a:gdLst/>
              <a:ahLst/>
              <a:cxnLst>
                <a:cxn ang="0">
                  <a:pos x="0" y="118"/>
                </a:cxn>
                <a:cxn ang="0">
                  <a:pos x="41" y="0"/>
                </a:cxn>
                <a:cxn ang="0">
                  <a:pos x="79" y="118"/>
                </a:cxn>
                <a:cxn ang="0">
                  <a:pos x="0" y="118"/>
                </a:cxn>
              </a:cxnLst>
              <a:pathLst>
                <a:path w="79" h="118">
                  <a:moveTo>
                    <a:pt x="0" y="118"/>
                  </a:moveTo>
                  <a:lnTo>
                    <a:pt x="41" y="0"/>
                  </a:lnTo>
                  <a:lnTo>
                    <a:pt x="79" y="118"/>
                  </a:lnTo>
                  <a:lnTo>
                    <a:pt x="0" y="118"/>
                  </a:lnTo>
                  <a:close/>
                </a:path>
              </a:pathLst>
            </a:custGeom>
            <a:solidFill>
              <a:srgbClr val="000000">
                <a:alpha val="100000"/>
              </a:srgbClr>
            </a:solidFill>
            <a:ln w="9525">
              <a:noFill/>
            </a:ln>
          </p:spPr>
          <p:txBody>
            <a:bodyPr/>
            <a:p>
              <a:endParaRPr lang="zh-CN" altLang="en-US"/>
            </a:p>
          </p:txBody>
        </p:sp>
        <p:sp>
          <p:nvSpPr>
            <p:cNvPr id="113740" name="Line 16"/>
            <p:cNvSpPr/>
            <p:nvPr/>
          </p:nvSpPr>
          <p:spPr>
            <a:xfrm flipV="1">
              <a:off x="4551" y="1866"/>
              <a:ext cx="1" cy="147"/>
            </a:xfrm>
            <a:prstGeom prst="line">
              <a:avLst/>
            </a:prstGeom>
            <a:ln w="4763" cap="flat" cmpd="sng">
              <a:solidFill>
                <a:srgbClr val="000000"/>
              </a:solidFill>
              <a:prstDash val="solid"/>
              <a:headEnd type="none" w="med" len="med"/>
              <a:tailEnd type="none" w="med" len="med"/>
            </a:ln>
          </p:spPr>
        </p:sp>
        <p:sp>
          <p:nvSpPr>
            <p:cNvPr id="113741" name="Freeform 17"/>
            <p:cNvSpPr/>
            <p:nvPr/>
          </p:nvSpPr>
          <p:spPr>
            <a:xfrm>
              <a:off x="4513" y="1758"/>
              <a:ext cx="79" cy="118"/>
            </a:xfrm>
            <a:custGeom>
              <a:avLst/>
              <a:gdLst/>
              <a:ahLst/>
              <a:cxnLst>
                <a:cxn ang="0">
                  <a:pos x="0" y="118"/>
                </a:cxn>
                <a:cxn ang="0">
                  <a:pos x="38" y="0"/>
                </a:cxn>
                <a:cxn ang="0">
                  <a:pos x="79" y="118"/>
                </a:cxn>
                <a:cxn ang="0">
                  <a:pos x="0" y="118"/>
                </a:cxn>
              </a:cxnLst>
              <a:pathLst>
                <a:path w="79" h="118">
                  <a:moveTo>
                    <a:pt x="0" y="118"/>
                  </a:moveTo>
                  <a:lnTo>
                    <a:pt x="38" y="0"/>
                  </a:lnTo>
                  <a:lnTo>
                    <a:pt x="79" y="118"/>
                  </a:lnTo>
                  <a:lnTo>
                    <a:pt x="0" y="118"/>
                  </a:lnTo>
                  <a:close/>
                </a:path>
              </a:pathLst>
            </a:custGeom>
            <a:solidFill>
              <a:srgbClr val="000000">
                <a:alpha val="100000"/>
              </a:srgbClr>
            </a:solidFill>
            <a:ln w="9525">
              <a:noFill/>
            </a:ln>
          </p:spPr>
          <p:txBody>
            <a:bodyPr/>
            <a:p>
              <a:endParaRPr lang="zh-CN" altLang="en-US"/>
            </a:p>
          </p:txBody>
        </p:sp>
        <p:sp>
          <p:nvSpPr>
            <p:cNvPr id="113742" name="Line 18"/>
            <p:cNvSpPr/>
            <p:nvPr/>
          </p:nvSpPr>
          <p:spPr>
            <a:xfrm flipV="1">
              <a:off x="4424" y="1866"/>
              <a:ext cx="1" cy="147"/>
            </a:xfrm>
            <a:prstGeom prst="line">
              <a:avLst/>
            </a:prstGeom>
            <a:ln w="4763" cap="flat" cmpd="sng">
              <a:solidFill>
                <a:srgbClr val="000000"/>
              </a:solidFill>
              <a:prstDash val="solid"/>
              <a:headEnd type="none" w="med" len="med"/>
              <a:tailEnd type="none" w="med" len="med"/>
            </a:ln>
          </p:spPr>
        </p:sp>
        <p:sp>
          <p:nvSpPr>
            <p:cNvPr id="113743" name="Freeform 19"/>
            <p:cNvSpPr/>
            <p:nvPr/>
          </p:nvSpPr>
          <p:spPr>
            <a:xfrm>
              <a:off x="4385" y="1758"/>
              <a:ext cx="78" cy="118"/>
            </a:xfrm>
            <a:custGeom>
              <a:avLst/>
              <a:gdLst/>
              <a:ahLst/>
              <a:cxnLst>
                <a:cxn ang="0">
                  <a:pos x="0" y="118"/>
                </a:cxn>
                <a:cxn ang="0">
                  <a:pos x="39" y="0"/>
                </a:cxn>
                <a:cxn ang="0">
                  <a:pos x="78" y="118"/>
                </a:cxn>
                <a:cxn ang="0">
                  <a:pos x="0" y="118"/>
                </a:cxn>
              </a:cxnLst>
              <a:pathLst>
                <a:path w="78" h="118">
                  <a:moveTo>
                    <a:pt x="0" y="118"/>
                  </a:moveTo>
                  <a:lnTo>
                    <a:pt x="39" y="0"/>
                  </a:lnTo>
                  <a:lnTo>
                    <a:pt x="78" y="118"/>
                  </a:lnTo>
                  <a:lnTo>
                    <a:pt x="0" y="118"/>
                  </a:lnTo>
                  <a:close/>
                </a:path>
              </a:pathLst>
            </a:custGeom>
            <a:solidFill>
              <a:srgbClr val="000000">
                <a:alpha val="100000"/>
              </a:srgbClr>
            </a:solidFill>
            <a:ln w="9525">
              <a:noFill/>
            </a:ln>
          </p:spPr>
          <p:txBody>
            <a:bodyPr/>
            <a:p>
              <a:endParaRPr lang="zh-CN" altLang="en-US"/>
            </a:p>
          </p:txBody>
        </p:sp>
        <p:sp>
          <p:nvSpPr>
            <p:cNvPr id="113744" name="Line 20"/>
            <p:cNvSpPr/>
            <p:nvPr/>
          </p:nvSpPr>
          <p:spPr>
            <a:xfrm flipV="1">
              <a:off x="4168" y="1866"/>
              <a:ext cx="1" cy="147"/>
            </a:xfrm>
            <a:prstGeom prst="line">
              <a:avLst/>
            </a:prstGeom>
            <a:ln w="4763" cap="flat" cmpd="sng">
              <a:solidFill>
                <a:srgbClr val="000000"/>
              </a:solidFill>
              <a:prstDash val="solid"/>
              <a:headEnd type="none" w="med" len="med"/>
              <a:tailEnd type="none" w="med" len="med"/>
            </a:ln>
          </p:spPr>
        </p:sp>
        <p:sp>
          <p:nvSpPr>
            <p:cNvPr id="113745" name="Freeform 21"/>
            <p:cNvSpPr/>
            <p:nvPr/>
          </p:nvSpPr>
          <p:spPr>
            <a:xfrm>
              <a:off x="4129" y="1758"/>
              <a:ext cx="79" cy="118"/>
            </a:xfrm>
            <a:custGeom>
              <a:avLst/>
              <a:gdLst/>
              <a:ahLst/>
              <a:cxnLst>
                <a:cxn ang="0">
                  <a:pos x="0" y="118"/>
                </a:cxn>
                <a:cxn ang="0">
                  <a:pos x="39" y="0"/>
                </a:cxn>
                <a:cxn ang="0">
                  <a:pos x="79" y="118"/>
                </a:cxn>
                <a:cxn ang="0">
                  <a:pos x="0" y="118"/>
                </a:cxn>
              </a:cxnLst>
              <a:pathLst>
                <a:path w="79" h="118">
                  <a:moveTo>
                    <a:pt x="0" y="118"/>
                  </a:moveTo>
                  <a:lnTo>
                    <a:pt x="39" y="0"/>
                  </a:lnTo>
                  <a:lnTo>
                    <a:pt x="79" y="118"/>
                  </a:lnTo>
                  <a:lnTo>
                    <a:pt x="0" y="118"/>
                  </a:lnTo>
                  <a:close/>
                </a:path>
              </a:pathLst>
            </a:custGeom>
            <a:solidFill>
              <a:srgbClr val="000000">
                <a:alpha val="100000"/>
              </a:srgbClr>
            </a:solidFill>
            <a:ln w="9525">
              <a:noFill/>
            </a:ln>
          </p:spPr>
          <p:txBody>
            <a:bodyPr/>
            <a:p>
              <a:endParaRPr lang="zh-CN" altLang="en-US"/>
            </a:p>
          </p:txBody>
        </p:sp>
        <p:sp>
          <p:nvSpPr>
            <p:cNvPr id="113746" name="Line 22"/>
            <p:cNvSpPr/>
            <p:nvPr/>
          </p:nvSpPr>
          <p:spPr>
            <a:xfrm flipV="1">
              <a:off x="4040" y="1866"/>
              <a:ext cx="1" cy="147"/>
            </a:xfrm>
            <a:prstGeom prst="line">
              <a:avLst/>
            </a:prstGeom>
            <a:ln w="4763" cap="flat" cmpd="sng">
              <a:solidFill>
                <a:srgbClr val="000000"/>
              </a:solidFill>
              <a:prstDash val="solid"/>
              <a:headEnd type="none" w="med" len="med"/>
              <a:tailEnd type="none" w="med" len="med"/>
            </a:ln>
          </p:spPr>
        </p:sp>
        <p:sp>
          <p:nvSpPr>
            <p:cNvPr id="113747" name="Freeform 23"/>
            <p:cNvSpPr/>
            <p:nvPr/>
          </p:nvSpPr>
          <p:spPr>
            <a:xfrm>
              <a:off x="4000" y="1758"/>
              <a:ext cx="79" cy="118"/>
            </a:xfrm>
            <a:custGeom>
              <a:avLst/>
              <a:gdLst/>
              <a:ahLst/>
              <a:cxnLst>
                <a:cxn ang="0">
                  <a:pos x="0" y="118"/>
                </a:cxn>
                <a:cxn ang="0">
                  <a:pos x="40" y="0"/>
                </a:cxn>
                <a:cxn ang="0">
                  <a:pos x="79" y="118"/>
                </a:cxn>
                <a:cxn ang="0">
                  <a:pos x="0" y="118"/>
                </a:cxn>
              </a:cxnLst>
              <a:pathLst>
                <a:path w="79" h="118">
                  <a:moveTo>
                    <a:pt x="0" y="118"/>
                  </a:moveTo>
                  <a:lnTo>
                    <a:pt x="40" y="0"/>
                  </a:lnTo>
                  <a:lnTo>
                    <a:pt x="79" y="118"/>
                  </a:lnTo>
                  <a:lnTo>
                    <a:pt x="0" y="118"/>
                  </a:lnTo>
                  <a:close/>
                </a:path>
              </a:pathLst>
            </a:custGeom>
            <a:solidFill>
              <a:srgbClr val="000000">
                <a:alpha val="100000"/>
              </a:srgbClr>
            </a:solidFill>
            <a:ln w="9525">
              <a:noFill/>
            </a:ln>
          </p:spPr>
          <p:txBody>
            <a:bodyPr/>
            <a:p>
              <a:endParaRPr lang="zh-CN" altLang="en-US"/>
            </a:p>
          </p:txBody>
        </p:sp>
        <p:sp>
          <p:nvSpPr>
            <p:cNvPr id="113748" name="Line 24"/>
            <p:cNvSpPr/>
            <p:nvPr/>
          </p:nvSpPr>
          <p:spPr>
            <a:xfrm flipV="1">
              <a:off x="3911" y="1866"/>
              <a:ext cx="1" cy="147"/>
            </a:xfrm>
            <a:prstGeom prst="line">
              <a:avLst/>
            </a:prstGeom>
            <a:ln w="4763" cap="flat" cmpd="sng">
              <a:solidFill>
                <a:srgbClr val="000000"/>
              </a:solidFill>
              <a:prstDash val="solid"/>
              <a:headEnd type="none" w="med" len="med"/>
              <a:tailEnd type="none" w="med" len="med"/>
            </a:ln>
          </p:spPr>
        </p:sp>
        <p:sp>
          <p:nvSpPr>
            <p:cNvPr id="113749" name="Freeform 25"/>
            <p:cNvSpPr/>
            <p:nvPr/>
          </p:nvSpPr>
          <p:spPr>
            <a:xfrm>
              <a:off x="3872" y="1758"/>
              <a:ext cx="79" cy="118"/>
            </a:xfrm>
            <a:custGeom>
              <a:avLst/>
              <a:gdLst/>
              <a:ahLst/>
              <a:cxnLst>
                <a:cxn ang="0">
                  <a:pos x="0" y="118"/>
                </a:cxn>
                <a:cxn ang="0">
                  <a:pos x="39" y="0"/>
                </a:cxn>
                <a:cxn ang="0">
                  <a:pos x="79" y="118"/>
                </a:cxn>
                <a:cxn ang="0">
                  <a:pos x="0" y="118"/>
                </a:cxn>
              </a:cxnLst>
              <a:pathLst>
                <a:path w="79" h="118">
                  <a:moveTo>
                    <a:pt x="0" y="118"/>
                  </a:moveTo>
                  <a:lnTo>
                    <a:pt x="39" y="0"/>
                  </a:lnTo>
                  <a:lnTo>
                    <a:pt x="79" y="118"/>
                  </a:lnTo>
                  <a:lnTo>
                    <a:pt x="0" y="118"/>
                  </a:lnTo>
                  <a:close/>
                </a:path>
              </a:pathLst>
            </a:custGeom>
            <a:solidFill>
              <a:srgbClr val="000000">
                <a:alpha val="100000"/>
              </a:srgbClr>
            </a:solidFill>
            <a:ln w="9525">
              <a:noFill/>
            </a:ln>
          </p:spPr>
          <p:txBody>
            <a:bodyPr/>
            <a:p>
              <a:endParaRPr lang="zh-CN" altLang="en-US"/>
            </a:p>
          </p:txBody>
        </p:sp>
        <p:sp>
          <p:nvSpPr>
            <p:cNvPr id="113750" name="Line 26"/>
            <p:cNvSpPr/>
            <p:nvPr/>
          </p:nvSpPr>
          <p:spPr>
            <a:xfrm flipV="1">
              <a:off x="3911" y="1758"/>
              <a:ext cx="1" cy="255"/>
            </a:xfrm>
            <a:prstGeom prst="line">
              <a:avLst/>
            </a:prstGeom>
            <a:ln w="4763" cap="flat" cmpd="sng">
              <a:solidFill>
                <a:srgbClr val="000000"/>
              </a:solidFill>
              <a:prstDash val="solid"/>
              <a:headEnd type="none" w="med" len="med"/>
              <a:tailEnd type="none" w="med" len="med"/>
            </a:ln>
          </p:spPr>
        </p:sp>
        <p:sp>
          <p:nvSpPr>
            <p:cNvPr id="113751" name="Line 27"/>
            <p:cNvSpPr/>
            <p:nvPr/>
          </p:nvSpPr>
          <p:spPr>
            <a:xfrm flipV="1">
              <a:off x="3784" y="1866"/>
              <a:ext cx="1" cy="147"/>
            </a:xfrm>
            <a:prstGeom prst="line">
              <a:avLst/>
            </a:prstGeom>
            <a:ln w="4763" cap="flat" cmpd="sng">
              <a:solidFill>
                <a:srgbClr val="000000"/>
              </a:solidFill>
              <a:prstDash val="solid"/>
              <a:headEnd type="none" w="med" len="med"/>
              <a:tailEnd type="none" w="med" len="med"/>
            </a:ln>
          </p:spPr>
        </p:sp>
        <p:sp>
          <p:nvSpPr>
            <p:cNvPr id="113752" name="Freeform 28"/>
            <p:cNvSpPr/>
            <p:nvPr/>
          </p:nvSpPr>
          <p:spPr>
            <a:xfrm>
              <a:off x="3745" y="1758"/>
              <a:ext cx="77" cy="118"/>
            </a:xfrm>
            <a:custGeom>
              <a:avLst/>
              <a:gdLst/>
              <a:ahLst/>
              <a:cxnLst>
                <a:cxn ang="0">
                  <a:pos x="0" y="118"/>
                </a:cxn>
                <a:cxn ang="0">
                  <a:pos x="39" y="0"/>
                </a:cxn>
                <a:cxn ang="0">
                  <a:pos x="77" y="118"/>
                </a:cxn>
                <a:cxn ang="0">
                  <a:pos x="0" y="118"/>
                </a:cxn>
              </a:cxnLst>
              <a:pathLst>
                <a:path w="77" h="118">
                  <a:moveTo>
                    <a:pt x="0" y="118"/>
                  </a:moveTo>
                  <a:lnTo>
                    <a:pt x="39" y="0"/>
                  </a:lnTo>
                  <a:lnTo>
                    <a:pt x="77" y="118"/>
                  </a:lnTo>
                  <a:lnTo>
                    <a:pt x="0" y="118"/>
                  </a:lnTo>
                  <a:close/>
                </a:path>
              </a:pathLst>
            </a:custGeom>
            <a:solidFill>
              <a:srgbClr val="000000">
                <a:alpha val="100000"/>
              </a:srgbClr>
            </a:solidFill>
            <a:ln w="9525">
              <a:noFill/>
            </a:ln>
          </p:spPr>
          <p:txBody>
            <a:bodyPr/>
            <a:p>
              <a:endParaRPr lang="zh-CN" altLang="en-US"/>
            </a:p>
          </p:txBody>
        </p:sp>
        <p:sp>
          <p:nvSpPr>
            <p:cNvPr id="113753" name="Line 29"/>
            <p:cNvSpPr/>
            <p:nvPr/>
          </p:nvSpPr>
          <p:spPr>
            <a:xfrm flipV="1">
              <a:off x="3527" y="1866"/>
              <a:ext cx="1" cy="147"/>
            </a:xfrm>
            <a:prstGeom prst="line">
              <a:avLst/>
            </a:prstGeom>
            <a:ln w="4763" cap="flat" cmpd="sng">
              <a:solidFill>
                <a:srgbClr val="000000"/>
              </a:solidFill>
              <a:prstDash val="solid"/>
              <a:headEnd type="none" w="med" len="med"/>
              <a:tailEnd type="none" w="med" len="med"/>
            </a:ln>
          </p:spPr>
        </p:sp>
        <p:sp>
          <p:nvSpPr>
            <p:cNvPr id="113754" name="Freeform 30"/>
            <p:cNvSpPr/>
            <p:nvPr/>
          </p:nvSpPr>
          <p:spPr>
            <a:xfrm>
              <a:off x="3489" y="1758"/>
              <a:ext cx="79" cy="118"/>
            </a:xfrm>
            <a:custGeom>
              <a:avLst/>
              <a:gdLst/>
              <a:ahLst/>
              <a:cxnLst>
                <a:cxn ang="0">
                  <a:pos x="0" y="118"/>
                </a:cxn>
                <a:cxn ang="0">
                  <a:pos x="38" y="0"/>
                </a:cxn>
                <a:cxn ang="0">
                  <a:pos x="79" y="118"/>
                </a:cxn>
                <a:cxn ang="0">
                  <a:pos x="0" y="118"/>
                </a:cxn>
              </a:cxnLst>
              <a:pathLst>
                <a:path w="79" h="118">
                  <a:moveTo>
                    <a:pt x="0" y="118"/>
                  </a:moveTo>
                  <a:lnTo>
                    <a:pt x="38" y="0"/>
                  </a:lnTo>
                  <a:lnTo>
                    <a:pt x="79" y="118"/>
                  </a:lnTo>
                  <a:lnTo>
                    <a:pt x="0" y="118"/>
                  </a:lnTo>
                  <a:close/>
                </a:path>
              </a:pathLst>
            </a:custGeom>
            <a:solidFill>
              <a:srgbClr val="000000">
                <a:alpha val="100000"/>
              </a:srgbClr>
            </a:solidFill>
            <a:ln w="9525">
              <a:noFill/>
            </a:ln>
          </p:spPr>
          <p:txBody>
            <a:bodyPr/>
            <a:p>
              <a:endParaRPr lang="zh-CN" altLang="en-US"/>
            </a:p>
          </p:txBody>
        </p:sp>
        <p:sp>
          <p:nvSpPr>
            <p:cNvPr id="113755" name="Line 31"/>
            <p:cNvSpPr/>
            <p:nvPr/>
          </p:nvSpPr>
          <p:spPr>
            <a:xfrm flipV="1">
              <a:off x="3400" y="1866"/>
              <a:ext cx="1" cy="147"/>
            </a:xfrm>
            <a:prstGeom prst="line">
              <a:avLst/>
            </a:prstGeom>
            <a:ln w="4763" cap="flat" cmpd="sng">
              <a:solidFill>
                <a:srgbClr val="000000"/>
              </a:solidFill>
              <a:prstDash val="solid"/>
              <a:headEnd type="none" w="med" len="med"/>
              <a:tailEnd type="none" w="med" len="med"/>
            </a:ln>
          </p:spPr>
        </p:sp>
        <p:sp>
          <p:nvSpPr>
            <p:cNvPr id="113756" name="Freeform 32"/>
            <p:cNvSpPr/>
            <p:nvPr/>
          </p:nvSpPr>
          <p:spPr>
            <a:xfrm>
              <a:off x="3361" y="1758"/>
              <a:ext cx="78" cy="118"/>
            </a:xfrm>
            <a:custGeom>
              <a:avLst/>
              <a:gdLst/>
              <a:ahLst/>
              <a:cxnLst>
                <a:cxn ang="0">
                  <a:pos x="0" y="118"/>
                </a:cxn>
                <a:cxn ang="0">
                  <a:pos x="39" y="0"/>
                </a:cxn>
                <a:cxn ang="0">
                  <a:pos x="78" y="118"/>
                </a:cxn>
                <a:cxn ang="0">
                  <a:pos x="0" y="118"/>
                </a:cxn>
              </a:cxnLst>
              <a:pathLst>
                <a:path w="78" h="118">
                  <a:moveTo>
                    <a:pt x="0" y="118"/>
                  </a:moveTo>
                  <a:lnTo>
                    <a:pt x="39" y="0"/>
                  </a:lnTo>
                  <a:lnTo>
                    <a:pt x="78" y="118"/>
                  </a:lnTo>
                  <a:lnTo>
                    <a:pt x="0" y="118"/>
                  </a:lnTo>
                  <a:close/>
                </a:path>
              </a:pathLst>
            </a:custGeom>
            <a:solidFill>
              <a:srgbClr val="000000">
                <a:alpha val="100000"/>
              </a:srgbClr>
            </a:solidFill>
            <a:ln w="9525">
              <a:noFill/>
            </a:ln>
          </p:spPr>
          <p:txBody>
            <a:bodyPr/>
            <a:p>
              <a:endParaRPr lang="zh-CN" altLang="en-US"/>
            </a:p>
          </p:txBody>
        </p:sp>
        <p:sp>
          <p:nvSpPr>
            <p:cNvPr id="113757" name="Line 33"/>
            <p:cNvSpPr/>
            <p:nvPr/>
          </p:nvSpPr>
          <p:spPr>
            <a:xfrm flipV="1">
              <a:off x="3272" y="1866"/>
              <a:ext cx="1" cy="147"/>
            </a:xfrm>
            <a:prstGeom prst="line">
              <a:avLst/>
            </a:prstGeom>
            <a:ln w="4763" cap="flat" cmpd="sng">
              <a:solidFill>
                <a:srgbClr val="000000"/>
              </a:solidFill>
              <a:prstDash val="solid"/>
              <a:headEnd type="none" w="med" len="med"/>
              <a:tailEnd type="none" w="med" len="med"/>
            </a:ln>
          </p:spPr>
        </p:sp>
        <p:sp>
          <p:nvSpPr>
            <p:cNvPr id="113758" name="Freeform 34"/>
            <p:cNvSpPr/>
            <p:nvPr/>
          </p:nvSpPr>
          <p:spPr>
            <a:xfrm>
              <a:off x="3232" y="1758"/>
              <a:ext cx="79" cy="118"/>
            </a:xfrm>
            <a:custGeom>
              <a:avLst/>
              <a:gdLst/>
              <a:ahLst/>
              <a:cxnLst>
                <a:cxn ang="0">
                  <a:pos x="0" y="118"/>
                </a:cxn>
                <a:cxn ang="0">
                  <a:pos x="40" y="0"/>
                </a:cxn>
                <a:cxn ang="0">
                  <a:pos x="79" y="118"/>
                </a:cxn>
                <a:cxn ang="0">
                  <a:pos x="0" y="118"/>
                </a:cxn>
              </a:cxnLst>
              <a:pathLst>
                <a:path w="79" h="118">
                  <a:moveTo>
                    <a:pt x="0" y="118"/>
                  </a:moveTo>
                  <a:lnTo>
                    <a:pt x="40" y="0"/>
                  </a:lnTo>
                  <a:lnTo>
                    <a:pt x="79" y="118"/>
                  </a:lnTo>
                  <a:lnTo>
                    <a:pt x="0" y="118"/>
                  </a:lnTo>
                  <a:close/>
                </a:path>
              </a:pathLst>
            </a:custGeom>
            <a:solidFill>
              <a:srgbClr val="000000">
                <a:alpha val="100000"/>
              </a:srgbClr>
            </a:solidFill>
            <a:ln w="9525">
              <a:noFill/>
            </a:ln>
          </p:spPr>
          <p:txBody>
            <a:bodyPr/>
            <a:p>
              <a:endParaRPr lang="zh-CN" altLang="en-US"/>
            </a:p>
          </p:txBody>
        </p:sp>
        <p:sp>
          <p:nvSpPr>
            <p:cNvPr id="113759" name="Line 35"/>
            <p:cNvSpPr/>
            <p:nvPr/>
          </p:nvSpPr>
          <p:spPr>
            <a:xfrm flipV="1">
              <a:off x="3143" y="1866"/>
              <a:ext cx="1" cy="147"/>
            </a:xfrm>
            <a:prstGeom prst="line">
              <a:avLst/>
            </a:prstGeom>
            <a:ln w="4763" cap="flat" cmpd="sng">
              <a:solidFill>
                <a:srgbClr val="000000"/>
              </a:solidFill>
              <a:prstDash val="solid"/>
              <a:headEnd type="none" w="med" len="med"/>
              <a:tailEnd type="none" w="med" len="med"/>
            </a:ln>
          </p:spPr>
        </p:sp>
        <p:sp>
          <p:nvSpPr>
            <p:cNvPr id="113760" name="Freeform 36"/>
            <p:cNvSpPr/>
            <p:nvPr/>
          </p:nvSpPr>
          <p:spPr>
            <a:xfrm>
              <a:off x="3105" y="1758"/>
              <a:ext cx="77" cy="118"/>
            </a:xfrm>
            <a:custGeom>
              <a:avLst/>
              <a:gdLst/>
              <a:ahLst/>
              <a:cxnLst>
                <a:cxn ang="0">
                  <a:pos x="0" y="118"/>
                </a:cxn>
                <a:cxn ang="0">
                  <a:pos x="38" y="0"/>
                </a:cxn>
                <a:cxn ang="0">
                  <a:pos x="77" y="118"/>
                </a:cxn>
                <a:cxn ang="0">
                  <a:pos x="0" y="118"/>
                </a:cxn>
              </a:cxnLst>
              <a:pathLst>
                <a:path w="77" h="118">
                  <a:moveTo>
                    <a:pt x="0" y="118"/>
                  </a:moveTo>
                  <a:lnTo>
                    <a:pt x="38" y="0"/>
                  </a:lnTo>
                  <a:lnTo>
                    <a:pt x="77" y="118"/>
                  </a:lnTo>
                  <a:lnTo>
                    <a:pt x="0" y="118"/>
                  </a:lnTo>
                  <a:close/>
                </a:path>
              </a:pathLst>
            </a:custGeom>
            <a:solidFill>
              <a:srgbClr val="000000">
                <a:alpha val="100000"/>
              </a:srgbClr>
            </a:solidFill>
            <a:ln w="9525">
              <a:noFill/>
            </a:ln>
          </p:spPr>
          <p:txBody>
            <a:bodyPr/>
            <a:p>
              <a:endParaRPr lang="zh-CN" altLang="en-US"/>
            </a:p>
          </p:txBody>
        </p:sp>
        <p:sp>
          <p:nvSpPr>
            <p:cNvPr id="113761" name="Line 37"/>
            <p:cNvSpPr/>
            <p:nvPr/>
          </p:nvSpPr>
          <p:spPr>
            <a:xfrm flipV="1">
              <a:off x="3016" y="1866"/>
              <a:ext cx="1" cy="147"/>
            </a:xfrm>
            <a:prstGeom prst="line">
              <a:avLst/>
            </a:prstGeom>
            <a:ln w="4763" cap="flat" cmpd="sng">
              <a:solidFill>
                <a:srgbClr val="000000"/>
              </a:solidFill>
              <a:prstDash val="solid"/>
              <a:headEnd type="none" w="med" len="med"/>
              <a:tailEnd type="none" w="med" len="med"/>
            </a:ln>
          </p:spPr>
        </p:sp>
        <p:sp>
          <p:nvSpPr>
            <p:cNvPr id="113762" name="Freeform 38"/>
            <p:cNvSpPr/>
            <p:nvPr/>
          </p:nvSpPr>
          <p:spPr>
            <a:xfrm>
              <a:off x="2976" y="1758"/>
              <a:ext cx="79" cy="118"/>
            </a:xfrm>
            <a:custGeom>
              <a:avLst/>
              <a:gdLst/>
              <a:ahLst/>
              <a:cxnLst>
                <a:cxn ang="0">
                  <a:pos x="0" y="118"/>
                </a:cxn>
                <a:cxn ang="0">
                  <a:pos x="40" y="0"/>
                </a:cxn>
                <a:cxn ang="0">
                  <a:pos x="79" y="118"/>
                </a:cxn>
                <a:cxn ang="0">
                  <a:pos x="0" y="118"/>
                </a:cxn>
              </a:cxnLst>
              <a:pathLst>
                <a:path w="79" h="118">
                  <a:moveTo>
                    <a:pt x="0" y="118"/>
                  </a:moveTo>
                  <a:lnTo>
                    <a:pt x="40" y="0"/>
                  </a:lnTo>
                  <a:lnTo>
                    <a:pt x="79" y="118"/>
                  </a:lnTo>
                  <a:lnTo>
                    <a:pt x="0" y="118"/>
                  </a:lnTo>
                  <a:close/>
                </a:path>
              </a:pathLst>
            </a:custGeom>
            <a:solidFill>
              <a:srgbClr val="000000">
                <a:alpha val="100000"/>
              </a:srgbClr>
            </a:solidFill>
            <a:ln w="9525">
              <a:noFill/>
            </a:ln>
          </p:spPr>
          <p:txBody>
            <a:bodyPr/>
            <a:p>
              <a:endParaRPr lang="zh-CN" altLang="en-US"/>
            </a:p>
          </p:txBody>
        </p:sp>
        <p:sp>
          <p:nvSpPr>
            <p:cNvPr id="113763" name="Line 39"/>
            <p:cNvSpPr/>
            <p:nvPr/>
          </p:nvSpPr>
          <p:spPr>
            <a:xfrm flipV="1">
              <a:off x="2887" y="1866"/>
              <a:ext cx="1" cy="147"/>
            </a:xfrm>
            <a:prstGeom prst="line">
              <a:avLst/>
            </a:prstGeom>
            <a:ln w="4763" cap="flat" cmpd="sng">
              <a:solidFill>
                <a:srgbClr val="000000"/>
              </a:solidFill>
              <a:prstDash val="solid"/>
              <a:headEnd type="none" w="med" len="med"/>
              <a:tailEnd type="none" w="med" len="med"/>
            </a:ln>
          </p:spPr>
        </p:sp>
        <p:sp>
          <p:nvSpPr>
            <p:cNvPr id="113764" name="Freeform 40"/>
            <p:cNvSpPr/>
            <p:nvPr/>
          </p:nvSpPr>
          <p:spPr>
            <a:xfrm>
              <a:off x="2848" y="1758"/>
              <a:ext cx="79" cy="118"/>
            </a:xfrm>
            <a:custGeom>
              <a:avLst/>
              <a:gdLst/>
              <a:ahLst/>
              <a:cxnLst>
                <a:cxn ang="0">
                  <a:pos x="0" y="118"/>
                </a:cxn>
                <a:cxn ang="0">
                  <a:pos x="39" y="0"/>
                </a:cxn>
                <a:cxn ang="0">
                  <a:pos x="79" y="118"/>
                </a:cxn>
                <a:cxn ang="0">
                  <a:pos x="0" y="118"/>
                </a:cxn>
              </a:cxnLst>
              <a:pathLst>
                <a:path w="79" h="118">
                  <a:moveTo>
                    <a:pt x="0" y="118"/>
                  </a:moveTo>
                  <a:lnTo>
                    <a:pt x="39" y="0"/>
                  </a:lnTo>
                  <a:lnTo>
                    <a:pt x="79" y="118"/>
                  </a:lnTo>
                  <a:lnTo>
                    <a:pt x="0" y="118"/>
                  </a:lnTo>
                  <a:close/>
                </a:path>
              </a:pathLst>
            </a:custGeom>
            <a:solidFill>
              <a:srgbClr val="000000">
                <a:alpha val="100000"/>
              </a:srgbClr>
            </a:solidFill>
            <a:ln w="9525">
              <a:noFill/>
            </a:ln>
          </p:spPr>
          <p:txBody>
            <a:bodyPr/>
            <a:p>
              <a:endParaRPr lang="zh-CN" altLang="en-US"/>
            </a:p>
          </p:txBody>
        </p:sp>
        <p:sp>
          <p:nvSpPr>
            <p:cNvPr id="113765" name="Line 41"/>
            <p:cNvSpPr/>
            <p:nvPr/>
          </p:nvSpPr>
          <p:spPr>
            <a:xfrm flipV="1">
              <a:off x="2760" y="1866"/>
              <a:ext cx="1" cy="147"/>
            </a:xfrm>
            <a:prstGeom prst="line">
              <a:avLst/>
            </a:prstGeom>
            <a:ln w="4763" cap="flat" cmpd="sng">
              <a:solidFill>
                <a:srgbClr val="000000"/>
              </a:solidFill>
              <a:prstDash val="solid"/>
              <a:headEnd type="none" w="med" len="med"/>
              <a:tailEnd type="none" w="med" len="med"/>
            </a:ln>
          </p:spPr>
        </p:sp>
        <p:sp>
          <p:nvSpPr>
            <p:cNvPr id="113766" name="Freeform 42"/>
            <p:cNvSpPr/>
            <p:nvPr/>
          </p:nvSpPr>
          <p:spPr>
            <a:xfrm>
              <a:off x="2721" y="1758"/>
              <a:ext cx="77" cy="118"/>
            </a:xfrm>
            <a:custGeom>
              <a:avLst/>
              <a:gdLst/>
              <a:ahLst/>
              <a:cxnLst>
                <a:cxn ang="0">
                  <a:pos x="0" y="118"/>
                </a:cxn>
                <a:cxn ang="0">
                  <a:pos x="39" y="0"/>
                </a:cxn>
                <a:cxn ang="0">
                  <a:pos x="77" y="118"/>
                </a:cxn>
                <a:cxn ang="0">
                  <a:pos x="0" y="118"/>
                </a:cxn>
              </a:cxnLst>
              <a:pathLst>
                <a:path w="77" h="118">
                  <a:moveTo>
                    <a:pt x="0" y="118"/>
                  </a:moveTo>
                  <a:lnTo>
                    <a:pt x="39" y="0"/>
                  </a:lnTo>
                  <a:lnTo>
                    <a:pt x="77" y="118"/>
                  </a:lnTo>
                  <a:lnTo>
                    <a:pt x="0" y="118"/>
                  </a:lnTo>
                  <a:close/>
                </a:path>
              </a:pathLst>
            </a:custGeom>
            <a:solidFill>
              <a:srgbClr val="000000">
                <a:alpha val="100000"/>
              </a:srgbClr>
            </a:solidFill>
            <a:ln w="9525">
              <a:noFill/>
            </a:ln>
          </p:spPr>
          <p:txBody>
            <a:bodyPr/>
            <a:p>
              <a:endParaRPr lang="zh-CN" altLang="en-US"/>
            </a:p>
          </p:txBody>
        </p:sp>
        <p:sp>
          <p:nvSpPr>
            <p:cNvPr id="113767" name="Line 43"/>
            <p:cNvSpPr/>
            <p:nvPr/>
          </p:nvSpPr>
          <p:spPr>
            <a:xfrm flipV="1">
              <a:off x="2632" y="1866"/>
              <a:ext cx="1" cy="147"/>
            </a:xfrm>
            <a:prstGeom prst="line">
              <a:avLst/>
            </a:prstGeom>
            <a:ln w="4763" cap="flat" cmpd="sng">
              <a:solidFill>
                <a:srgbClr val="000000"/>
              </a:solidFill>
              <a:prstDash val="solid"/>
              <a:headEnd type="none" w="med" len="med"/>
              <a:tailEnd type="none" w="med" len="med"/>
            </a:ln>
          </p:spPr>
        </p:sp>
        <p:sp>
          <p:nvSpPr>
            <p:cNvPr id="113768" name="Freeform 44"/>
            <p:cNvSpPr/>
            <p:nvPr/>
          </p:nvSpPr>
          <p:spPr>
            <a:xfrm>
              <a:off x="2592" y="1758"/>
              <a:ext cx="79" cy="118"/>
            </a:xfrm>
            <a:custGeom>
              <a:avLst/>
              <a:gdLst/>
              <a:ahLst/>
              <a:cxnLst>
                <a:cxn ang="0">
                  <a:pos x="0" y="118"/>
                </a:cxn>
                <a:cxn ang="0">
                  <a:pos x="40" y="0"/>
                </a:cxn>
                <a:cxn ang="0">
                  <a:pos x="79" y="118"/>
                </a:cxn>
                <a:cxn ang="0">
                  <a:pos x="0" y="118"/>
                </a:cxn>
              </a:cxnLst>
              <a:pathLst>
                <a:path w="79" h="118">
                  <a:moveTo>
                    <a:pt x="0" y="118"/>
                  </a:moveTo>
                  <a:lnTo>
                    <a:pt x="40" y="0"/>
                  </a:lnTo>
                  <a:lnTo>
                    <a:pt x="79" y="118"/>
                  </a:lnTo>
                  <a:lnTo>
                    <a:pt x="0" y="118"/>
                  </a:lnTo>
                  <a:close/>
                </a:path>
              </a:pathLst>
            </a:custGeom>
            <a:solidFill>
              <a:srgbClr val="000000">
                <a:alpha val="100000"/>
              </a:srgbClr>
            </a:solidFill>
            <a:ln w="9525">
              <a:noFill/>
            </a:ln>
          </p:spPr>
          <p:txBody>
            <a:bodyPr/>
            <a:p>
              <a:endParaRPr lang="zh-CN" altLang="en-US"/>
            </a:p>
          </p:txBody>
        </p:sp>
        <p:sp>
          <p:nvSpPr>
            <p:cNvPr id="113769" name="Line 45"/>
            <p:cNvSpPr/>
            <p:nvPr/>
          </p:nvSpPr>
          <p:spPr>
            <a:xfrm flipV="1">
              <a:off x="2503" y="1866"/>
              <a:ext cx="1" cy="147"/>
            </a:xfrm>
            <a:prstGeom prst="line">
              <a:avLst/>
            </a:prstGeom>
            <a:ln w="4763" cap="flat" cmpd="sng">
              <a:solidFill>
                <a:srgbClr val="000000"/>
              </a:solidFill>
              <a:prstDash val="solid"/>
              <a:headEnd type="none" w="med" len="med"/>
              <a:tailEnd type="none" w="med" len="med"/>
            </a:ln>
          </p:spPr>
        </p:sp>
        <p:sp>
          <p:nvSpPr>
            <p:cNvPr id="113770" name="Freeform 46"/>
            <p:cNvSpPr/>
            <p:nvPr/>
          </p:nvSpPr>
          <p:spPr>
            <a:xfrm>
              <a:off x="2464" y="1758"/>
              <a:ext cx="79" cy="118"/>
            </a:xfrm>
            <a:custGeom>
              <a:avLst/>
              <a:gdLst/>
              <a:ahLst/>
              <a:cxnLst>
                <a:cxn ang="0">
                  <a:pos x="0" y="118"/>
                </a:cxn>
                <a:cxn ang="0">
                  <a:pos x="39" y="0"/>
                </a:cxn>
                <a:cxn ang="0">
                  <a:pos x="79" y="118"/>
                </a:cxn>
                <a:cxn ang="0">
                  <a:pos x="0" y="118"/>
                </a:cxn>
              </a:cxnLst>
              <a:pathLst>
                <a:path w="79" h="118">
                  <a:moveTo>
                    <a:pt x="0" y="118"/>
                  </a:moveTo>
                  <a:lnTo>
                    <a:pt x="39" y="0"/>
                  </a:lnTo>
                  <a:lnTo>
                    <a:pt x="79" y="118"/>
                  </a:lnTo>
                  <a:lnTo>
                    <a:pt x="0" y="118"/>
                  </a:lnTo>
                  <a:close/>
                </a:path>
              </a:pathLst>
            </a:custGeom>
            <a:solidFill>
              <a:srgbClr val="000000">
                <a:alpha val="100000"/>
              </a:srgbClr>
            </a:solidFill>
            <a:ln w="9525">
              <a:noFill/>
            </a:ln>
          </p:spPr>
          <p:txBody>
            <a:bodyPr/>
            <a:p>
              <a:endParaRPr lang="zh-CN" altLang="en-US"/>
            </a:p>
          </p:txBody>
        </p:sp>
        <p:sp>
          <p:nvSpPr>
            <p:cNvPr id="113771" name="Line 47"/>
            <p:cNvSpPr/>
            <p:nvPr/>
          </p:nvSpPr>
          <p:spPr>
            <a:xfrm flipV="1">
              <a:off x="2376" y="1866"/>
              <a:ext cx="1" cy="147"/>
            </a:xfrm>
            <a:prstGeom prst="line">
              <a:avLst/>
            </a:prstGeom>
            <a:ln w="4763" cap="flat" cmpd="sng">
              <a:solidFill>
                <a:srgbClr val="000000"/>
              </a:solidFill>
              <a:prstDash val="solid"/>
              <a:headEnd type="none" w="med" len="med"/>
              <a:tailEnd type="none" w="med" len="med"/>
            </a:ln>
          </p:spPr>
        </p:sp>
        <p:sp>
          <p:nvSpPr>
            <p:cNvPr id="113772" name="Freeform 48"/>
            <p:cNvSpPr/>
            <p:nvPr/>
          </p:nvSpPr>
          <p:spPr>
            <a:xfrm>
              <a:off x="2337" y="1758"/>
              <a:ext cx="77" cy="118"/>
            </a:xfrm>
            <a:custGeom>
              <a:avLst/>
              <a:gdLst/>
              <a:ahLst/>
              <a:cxnLst>
                <a:cxn ang="0">
                  <a:pos x="0" y="118"/>
                </a:cxn>
                <a:cxn ang="0">
                  <a:pos x="39" y="0"/>
                </a:cxn>
                <a:cxn ang="0">
                  <a:pos x="77" y="118"/>
                </a:cxn>
                <a:cxn ang="0">
                  <a:pos x="0" y="118"/>
                </a:cxn>
              </a:cxnLst>
              <a:pathLst>
                <a:path w="77" h="118">
                  <a:moveTo>
                    <a:pt x="0" y="118"/>
                  </a:moveTo>
                  <a:lnTo>
                    <a:pt x="39" y="0"/>
                  </a:lnTo>
                  <a:lnTo>
                    <a:pt x="77" y="118"/>
                  </a:lnTo>
                  <a:lnTo>
                    <a:pt x="0" y="118"/>
                  </a:lnTo>
                  <a:close/>
                </a:path>
              </a:pathLst>
            </a:custGeom>
            <a:solidFill>
              <a:srgbClr val="000000">
                <a:alpha val="100000"/>
              </a:srgbClr>
            </a:solidFill>
            <a:ln w="9525">
              <a:noFill/>
            </a:ln>
          </p:spPr>
          <p:txBody>
            <a:bodyPr/>
            <a:p>
              <a:endParaRPr lang="zh-CN" altLang="en-US"/>
            </a:p>
          </p:txBody>
        </p:sp>
        <p:sp>
          <p:nvSpPr>
            <p:cNvPr id="113773" name="Line 49"/>
            <p:cNvSpPr/>
            <p:nvPr/>
          </p:nvSpPr>
          <p:spPr>
            <a:xfrm flipV="1">
              <a:off x="2248" y="1866"/>
              <a:ext cx="1" cy="147"/>
            </a:xfrm>
            <a:prstGeom prst="line">
              <a:avLst/>
            </a:prstGeom>
            <a:ln w="4763" cap="flat" cmpd="sng">
              <a:solidFill>
                <a:srgbClr val="000000"/>
              </a:solidFill>
              <a:prstDash val="solid"/>
              <a:headEnd type="none" w="med" len="med"/>
              <a:tailEnd type="none" w="med" len="med"/>
            </a:ln>
          </p:spPr>
        </p:sp>
        <p:sp>
          <p:nvSpPr>
            <p:cNvPr id="113774" name="Freeform 50"/>
            <p:cNvSpPr/>
            <p:nvPr/>
          </p:nvSpPr>
          <p:spPr>
            <a:xfrm>
              <a:off x="2208" y="1758"/>
              <a:ext cx="79" cy="118"/>
            </a:xfrm>
            <a:custGeom>
              <a:avLst/>
              <a:gdLst/>
              <a:ahLst/>
              <a:cxnLst>
                <a:cxn ang="0">
                  <a:pos x="0" y="118"/>
                </a:cxn>
                <a:cxn ang="0">
                  <a:pos x="40" y="0"/>
                </a:cxn>
                <a:cxn ang="0">
                  <a:pos x="79" y="118"/>
                </a:cxn>
                <a:cxn ang="0">
                  <a:pos x="0" y="118"/>
                </a:cxn>
              </a:cxnLst>
              <a:pathLst>
                <a:path w="79" h="118">
                  <a:moveTo>
                    <a:pt x="0" y="118"/>
                  </a:moveTo>
                  <a:lnTo>
                    <a:pt x="40" y="0"/>
                  </a:lnTo>
                  <a:lnTo>
                    <a:pt x="79" y="118"/>
                  </a:lnTo>
                  <a:lnTo>
                    <a:pt x="0" y="118"/>
                  </a:lnTo>
                  <a:close/>
                </a:path>
              </a:pathLst>
            </a:custGeom>
            <a:solidFill>
              <a:srgbClr val="000000">
                <a:alpha val="100000"/>
              </a:srgbClr>
            </a:solidFill>
            <a:ln w="9525">
              <a:noFill/>
            </a:ln>
          </p:spPr>
          <p:txBody>
            <a:bodyPr/>
            <a:p>
              <a:endParaRPr lang="zh-CN" altLang="en-US"/>
            </a:p>
          </p:txBody>
        </p:sp>
        <p:sp>
          <p:nvSpPr>
            <p:cNvPr id="113775" name="Line 51"/>
            <p:cNvSpPr/>
            <p:nvPr/>
          </p:nvSpPr>
          <p:spPr>
            <a:xfrm flipV="1">
              <a:off x="2119" y="1866"/>
              <a:ext cx="1" cy="147"/>
            </a:xfrm>
            <a:prstGeom prst="line">
              <a:avLst/>
            </a:prstGeom>
            <a:ln w="4763" cap="flat" cmpd="sng">
              <a:solidFill>
                <a:srgbClr val="000000"/>
              </a:solidFill>
              <a:prstDash val="solid"/>
              <a:headEnd type="none" w="med" len="med"/>
              <a:tailEnd type="none" w="med" len="med"/>
            </a:ln>
          </p:spPr>
        </p:sp>
        <p:sp>
          <p:nvSpPr>
            <p:cNvPr id="113776" name="Freeform 52"/>
            <p:cNvSpPr/>
            <p:nvPr/>
          </p:nvSpPr>
          <p:spPr>
            <a:xfrm>
              <a:off x="2080" y="1758"/>
              <a:ext cx="78" cy="118"/>
            </a:xfrm>
            <a:custGeom>
              <a:avLst/>
              <a:gdLst/>
              <a:ahLst/>
              <a:cxnLst>
                <a:cxn ang="0">
                  <a:pos x="0" y="118"/>
                </a:cxn>
                <a:cxn ang="0">
                  <a:pos x="39" y="0"/>
                </a:cxn>
                <a:cxn ang="0">
                  <a:pos x="78" y="118"/>
                </a:cxn>
                <a:cxn ang="0">
                  <a:pos x="0" y="118"/>
                </a:cxn>
              </a:cxnLst>
              <a:pathLst>
                <a:path w="78" h="118">
                  <a:moveTo>
                    <a:pt x="0" y="118"/>
                  </a:moveTo>
                  <a:lnTo>
                    <a:pt x="39" y="0"/>
                  </a:lnTo>
                  <a:lnTo>
                    <a:pt x="78" y="118"/>
                  </a:lnTo>
                  <a:lnTo>
                    <a:pt x="0" y="118"/>
                  </a:lnTo>
                  <a:close/>
                </a:path>
              </a:pathLst>
            </a:custGeom>
            <a:solidFill>
              <a:srgbClr val="000000">
                <a:alpha val="100000"/>
              </a:srgbClr>
            </a:solidFill>
            <a:ln w="9525">
              <a:noFill/>
            </a:ln>
          </p:spPr>
          <p:txBody>
            <a:bodyPr/>
            <a:p>
              <a:endParaRPr lang="zh-CN" altLang="en-US"/>
            </a:p>
          </p:txBody>
        </p:sp>
        <p:sp>
          <p:nvSpPr>
            <p:cNvPr id="113777" name="Line 53"/>
            <p:cNvSpPr/>
            <p:nvPr/>
          </p:nvSpPr>
          <p:spPr>
            <a:xfrm flipV="1">
              <a:off x="1992" y="1866"/>
              <a:ext cx="1" cy="147"/>
            </a:xfrm>
            <a:prstGeom prst="line">
              <a:avLst/>
            </a:prstGeom>
            <a:ln w="4763" cap="flat" cmpd="sng">
              <a:solidFill>
                <a:srgbClr val="000000"/>
              </a:solidFill>
              <a:prstDash val="solid"/>
              <a:headEnd type="none" w="med" len="med"/>
              <a:tailEnd type="none" w="med" len="med"/>
            </a:ln>
          </p:spPr>
        </p:sp>
        <p:sp>
          <p:nvSpPr>
            <p:cNvPr id="113778" name="Freeform 54"/>
            <p:cNvSpPr/>
            <p:nvPr/>
          </p:nvSpPr>
          <p:spPr>
            <a:xfrm>
              <a:off x="1951" y="1758"/>
              <a:ext cx="79" cy="118"/>
            </a:xfrm>
            <a:custGeom>
              <a:avLst/>
              <a:gdLst/>
              <a:ahLst/>
              <a:cxnLst>
                <a:cxn ang="0">
                  <a:pos x="0" y="118"/>
                </a:cxn>
                <a:cxn ang="0">
                  <a:pos x="41" y="0"/>
                </a:cxn>
                <a:cxn ang="0">
                  <a:pos x="79" y="118"/>
                </a:cxn>
                <a:cxn ang="0">
                  <a:pos x="0" y="118"/>
                </a:cxn>
              </a:cxnLst>
              <a:pathLst>
                <a:path w="79" h="118">
                  <a:moveTo>
                    <a:pt x="0" y="118"/>
                  </a:moveTo>
                  <a:lnTo>
                    <a:pt x="41" y="0"/>
                  </a:lnTo>
                  <a:lnTo>
                    <a:pt x="79" y="118"/>
                  </a:lnTo>
                  <a:lnTo>
                    <a:pt x="0" y="118"/>
                  </a:lnTo>
                  <a:close/>
                </a:path>
              </a:pathLst>
            </a:custGeom>
            <a:solidFill>
              <a:srgbClr val="000000">
                <a:alpha val="100000"/>
              </a:srgbClr>
            </a:solidFill>
            <a:ln w="9525">
              <a:noFill/>
            </a:ln>
          </p:spPr>
          <p:txBody>
            <a:bodyPr/>
            <a:p>
              <a:endParaRPr lang="zh-CN" altLang="en-US"/>
            </a:p>
          </p:txBody>
        </p:sp>
        <p:sp>
          <p:nvSpPr>
            <p:cNvPr id="113779" name="Line 55"/>
            <p:cNvSpPr/>
            <p:nvPr/>
          </p:nvSpPr>
          <p:spPr>
            <a:xfrm flipV="1">
              <a:off x="1863" y="1866"/>
              <a:ext cx="1" cy="147"/>
            </a:xfrm>
            <a:prstGeom prst="line">
              <a:avLst/>
            </a:prstGeom>
            <a:ln w="4763" cap="flat" cmpd="sng">
              <a:solidFill>
                <a:srgbClr val="000000"/>
              </a:solidFill>
              <a:prstDash val="solid"/>
              <a:headEnd type="none" w="med" len="med"/>
              <a:tailEnd type="none" w="med" len="med"/>
            </a:ln>
          </p:spPr>
        </p:sp>
        <p:sp>
          <p:nvSpPr>
            <p:cNvPr id="113780" name="Freeform 56"/>
            <p:cNvSpPr/>
            <p:nvPr/>
          </p:nvSpPr>
          <p:spPr>
            <a:xfrm>
              <a:off x="1824" y="1758"/>
              <a:ext cx="79" cy="118"/>
            </a:xfrm>
            <a:custGeom>
              <a:avLst/>
              <a:gdLst/>
              <a:ahLst/>
              <a:cxnLst>
                <a:cxn ang="0">
                  <a:pos x="0" y="118"/>
                </a:cxn>
                <a:cxn ang="0">
                  <a:pos x="39" y="0"/>
                </a:cxn>
                <a:cxn ang="0">
                  <a:pos x="79" y="118"/>
                </a:cxn>
                <a:cxn ang="0">
                  <a:pos x="0" y="118"/>
                </a:cxn>
              </a:cxnLst>
              <a:pathLst>
                <a:path w="79" h="118">
                  <a:moveTo>
                    <a:pt x="0" y="118"/>
                  </a:moveTo>
                  <a:lnTo>
                    <a:pt x="39" y="0"/>
                  </a:lnTo>
                  <a:lnTo>
                    <a:pt x="79" y="118"/>
                  </a:lnTo>
                  <a:lnTo>
                    <a:pt x="0" y="118"/>
                  </a:lnTo>
                  <a:close/>
                </a:path>
              </a:pathLst>
            </a:custGeom>
            <a:solidFill>
              <a:srgbClr val="000000">
                <a:alpha val="100000"/>
              </a:srgbClr>
            </a:solidFill>
            <a:ln w="9525">
              <a:noFill/>
            </a:ln>
          </p:spPr>
          <p:txBody>
            <a:bodyPr/>
            <a:p>
              <a:endParaRPr lang="zh-CN" altLang="en-US"/>
            </a:p>
          </p:txBody>
        </p:sp>
        <p:sp>
          <p:nvSpPr>
            <p:cNvPr id="113781" name="Line 57"/>
            <p:cNvSpPr/>
            <p:nvPr/>
          </p:nvSpPr>
          <p:spPr>
            <a:xfrm flipV="1">
              <a:off x="1735" y="1866"/>
              <a:ext cx="1" cy="147"/>
            </a:xfrm>
            <a:prstGeom prst="line">
              <a:avLst/>
            </a:prstGeom>
            <a:ln w="4763" cap="flat" cmpd="sng">
              <a:solidFill>
                <a:srgbClr val="000000"/>
              </a:solidFill>
              <a:prstDash val="solid"/>
              <a:headEnd type="none" w="med" len="med"/>
              <a:tailEnd type="none" w="med" len="med"/>
            </a:ln>
          </p:spPr>
        </p:sp>
        <p:sp>
          <p:nvSpPr>
            <p:cNvPr id="113782" name="Freeform 58"/>
            <p:cNvSpPr/>
            <p:nvPr/>
          </p:nvSpPr>
          <p:spPr>
            <a:xfrm>
              <a:off x="1697" y="1758"/>
              <a:ext cx="77" cy="118"/>
            </a:xfrm>
            <a:custGeom>
              <a:avLst/>
              <a:gdLst/>
              <a:ahLst/>
              <a:cxnLst>
                <a:cxn ang="0">
                  <a:pos x="0" y="118"/>
                </a:cxn>
                <a:cxn ang="0">
                  <a:pos x="38" y="0"/>
                </a:cxn>
                <a:cxn ang="0">
                  <a:pos x="77" y="118"/>
                </a:cxn>
                <a:cxn ang="0">
                  <a:pos x="0" y="118"/>
                </a:cxn>
              </a:cxnLst>
              <a:pathLst>
                <a:path w="77" h="118">
                  <a:moveTo>
                    <a:pt x="0" y="118"/>
                  </a:moveTo>
                  <a:lnTo>
                    <a:pt x="38" y="0"/>
                  </a:lnTo>
                  <a:lnTo>
                    <a:pt x="77" y="118"/>
                  </a:lnTo>
                  <a:lnTo>
                    <a:pt x="0" y="118"/>
                  </a:lnTo>
                  <a:close/>
                </a:path>
              </a:pathLst>
            </a:custGeom>
            <a:solidFill>
              <a:srgbClr val="000000">
                <a:alpha val="100000"/>
              </a:srgbClr>
            </a:solidFill>
            <a:ln w="9525">
              <a:noFill/>
            </a:ln>
          </p:spPr>
          <p:txBody>
            <a:bodyPr/>
            <a:p>
              <a:endParaRPr lang="zh-CN" altLang="en-US"/>
            </a:p>
          </p:txBody>
        </p:sp>
        <p:sp>
          <p:nvSpPr>
            <p:cNvPr id="113783" name="Line 59"/>
            <p:cNvSpPr/>
            <p:nvPr/>
          </p:nvSpPr>
          <p:spPr>
            <a:xfrm flipV="1">
              <a:off x="1608" y="1866"/>
              <a:ext cx="1" cy="147"/>
            </a:xfrm>
            <a:prstGeom prst="line">
              <a:avLst/>
            </a:prstGeom>
            <a:ln w="4763" cap="flat" cmpd="sng">
              <a:solidFill>
                <a:srgbClr val="000000"/>
              </a:solidFill>
              <a:prstDash val="solid"/>
              <a:headEnd type="none" w="med" len="med"/>
              <a:tailEnd type="none" w="med" len="med"/>
            </a:ln>
          </p:spPr>
        </p:sp>
        <p:sp>
          <p:nvSpPr>
            <p:cNvPr id="113784" name="Freeform 60"/>
            <p:cNvSpPr/>
            <p:nvPr/>
          </p:nvSpPr>
          <p:spPr>
            <a:xfrm>
              <a:off x="1568" y="1758"/>
              <a:ext cx="79" cy="118"/>
            </a:xfrm>
            <a:custGeom>
              <a:avLst/>
              <a:gdLst/>
              <a:ahLst/>
              <a:cxnLst>
                <a:cxn ang="0">
                  <a:pos x="0" y="118"/>
                </a:cxn>
                <a:cxn ang="0">
                  <a:pos x="40" y="0"/>
                </a:cxn>
                <a:cxn ang="0">
                  <a:pos x="79" y="118"/>
                </a:cxn>
                <a:cxn ang="0">
                  <a:pos x="0" y="118"/>
                </a:cxn>
              </a:cxnLst>
              <a:pathLst>
                <a:path w="79" h="118">
                  <a:moveTo>
                    <a:pt x="0" y="118"/>
                  </a:moveTo>
                  <a:lnTo>
                    <a:pt x="40" y="0"/>
                  </a:lnTo>
                  <a:lnTo>
                    <a:pt x="79" y="118"/>
                  </a:lnTo>
                  <a:lnTo>
                    <a:pt x="0" y="118"/>
                  </a:lnTo>
                  <a:close/>
                </a:path>
              </a:pathLst>
            </a:custGeom>
            <a:solidFill>
              <a:srgbClr val="000000">
                <a:alpha val="100000"/>
              </a:srgbClr>
            </a:solidFill>
            <a:ln w="9525">
              <a:noFill/>
            </a:ln>
          </p:spPr>
          <p:txBody>
            <a:bodyPr/>
            <a:p>
              <a:endParaRPr lang="zh-CN" altLang="en-US"/>
            </a:p>
          </p:txBody>
        </p:sp>
        <p:sp>
          <p:nvSpPr>
            <p:cNvPr id="113785" name="Line 61"/>
            <p:cNvSpPr/>
            <p:nvPr/>
          </p:nvSpPr>
          <p:spPr>
            <a:xfrm flipV="1">
              <a:off x="1479" y="1866"/>
              <a:ext cx="1" cy="147"/>
            </a:xfrm>
            <a:prstGeom prst="line">
              <a:avLst/>
            </a:prstGeom>
            <a:ln w="4763" cap="flat" cmpd="sng">
              <a:solidFill>
                <a:srgbClr val="000000"/>
              </a:solidFill>
              <a:prstDash val="solid"/>
              <a:headEnd type="none" w="med" len="med"/>
              <a:tailEnd type="none" w="med" len="med"/>
            </a:ln>
          </p:spPr>
        </p:sp>
        <p:sp>
          <p:nvSpPr>
            <p:cNvPr id="113786" name="Freeform 62"/>
            <p:cNvSpPr/>
            <p:nvPr/>
          </p:nvSpPr>
          <p:spPr>
            <a:xfrm>
              <a:off x="1440" y="1758"/>
              <a:ext cx="79" cy="118"/>
            </a:xfrm>
            <a:custGeom>
              <a:avLst/>
              <a:gdLst/>
              <a:ahLst/>
              <a:cxnLst>
                <a:cxn ang="0">
                  <a:pos x="0" y="118"/>
                </a:cxn>
                <a:cxn ang="0">
                  <a:pos x="39" y="0"/>
                </a:cxn>
                <a:cxn ang="0">
                  <a:pos x="79" y="118"/>
                </a:cxn>
                <a:cxn ang="0">
                  <a:pos x="0" y="118"/>
                </a:cxn>
              </a:cxnLst>
              <a:pathLst>
                <a:path w="79" h="118">
                  <a:moveTo>
                    <a:pt x="0" y="118"/>
                  </a:moveTo>
                  <a:lnTo>
                    <a:pt x="39" y="0"/>
                  </a:lnTo>
                  <a:lnTo>
                    <a:pt x="79" y="118"/>
                  </a:lnTo>
                  <a:lnTo>
                    <a:pt x="0" y="118"/>
                  </a:lnTo>
                  <a:close/>
                </a:path>
              </a:pathLst>
            </a:custGeom>
            <a:solidFill>
              <a:srgbClr val="000000">
                <a:alpha val="100000"/>
              </a:srgbClr>
            </a:solidFill>
            <a:ln w="9525">
              <a:noFill/>
            </a:ln>
          </p:spPr>
          <p:txBody>
            <a:bodyPr/>
            <a:p>
              <a:endParaRPr lang="zh-CN" altLang="en-US"/>
            </a:p>
          </p:txBody>
        </p:sp>
        <p:sp>
          <p:nvSpPr>
            <p:cNvPr id="113787" name="Line 63"/>
            <p:cNvSpPr/>
            <p:nvPr/>
          </p:nvSpPr>
          <p:spPr>
            <a:xfrm flipV="1">
              <a:off x="1351" y="1866"/>
              <a:ext cx="1" cy="147"/>
            </a:xfrm>
            <a:prstGeom prst="line">
              <a:avLst/>
            </a:prstGeom>
            <a:ln w="4763" cap="flat" cmpd="sng">
              <a:solidFill>
                <a:srgbClr val="000000"/>
              </a:solidFill>
              <a:prstDash val="solid"/>
              <a:headEnd type="none" w="med" len="med"/>
              <a:tailEnd type="none" w="med" len="med"/>
            </a:ln>
          </p:spPr>
        </p:sp>
        <p:sp>
          <p:nvSpPr>
            <p:cNvPr id="113788" name="Freeform 64"/>
            <p:cNvSpPr/>
            <p:nvPr/>
          </p:nvSpPr>
          <p:spPr>
            <a:xfrm>
              <a:off x="1313" y="1758"/>
              <a:ext cx="77" cy="118"/>
            </a:xfrm>
            <a:custGeom>
              <a:avLst/>
              <a:gdLst/>
              <a:ahLst/>
              <a:cxnLst>
                <a:cxn ang="0">
                  <a:pos x="0" y="118"/>
                </a:cxn>
                <a:cxn ang="0">
                  <a:pos x="38" y="0"/>
                </a:cxn>
                <a:cxn ang="0">
                  <a:pos x="77" y="118"/>
                </a:cxn>
                <a:cxn ang="0">
                  <a:pos x="0" y="118"/>
                </a:cxn>
              </a:cxnLst>
              <a:pathLst>
                <a:path w="77" h="118">
                  <a:moveTo>
                    <a:pt x="0" y="118"/>
                  </a:moveTo>
                  <a:lnTo>
                    <a:pt x="38" y="0"/>
                  </a:lnTo>
                  <a:lnTo>
                    <a:pt x="77" y="118"/>
                  </a:lnTo>
                  <a:lnTo>
                    <a:pt x="0" y="118"/>
                  </a:lnTo>
                  <a:close/>
                </a:path>
              </a:pathLst>
            </a:custGeom>
            <a:solidFill>
              <a:srgbClr val="000000">
                <a:alpha val="100000"/>
              </a:srgbClr>
            </a:solidFill>
            <a:ln w="9525">
              <a:noFill/>
            </a:ln>
          </p:spPr>
          <p:txBody>
            <a:bodyPr/>
            <a:p>
              <a:endParaRPr lang="zh-CN" altLang="en-US"/>
            </a:p>
          </p:txBody>
        </p:sp>
        <p:sp>
          <p:nvSpPr>
            <p:cNvPr id="113789" name="Line 65"/>
            <p:cNvSpPr/>
            <p:nvPr/>
          </p:nvSpPr>
          <p:spPr>
            <a:xfrm flipV="1">
              <a:off x="1224" y="1866"/>
              <a:ext cx="1" cy="147"/>
            </a:xfrm>
            <a:prstGeom prst="line">
              <a:avLst/>
            </a:prstGeom>
            <a:ln w="4763" cap="flat" cmpd="sng">
              <a:solidFill>
                <a:srgbClr val="000000"/>
              </a:solidFill>
              <a:prstDash val="solid"/>
              <a:headEnd type="none" w="med" len="med"/>
              <a:tailEnd type="none" w="med" len="med"/>
            </a:ln>
          </p:spPr>
        </p:sp>
        <p:sp>
          <p:nvSpPr>
            <p:cNvPr id="113790" name="Freeform 66"/>
            <p:cNvSpPr/>
            <p:nvPr/>
          </p:nvSpPr>
          <p:spPr>
            <a:xfrm>
              <a:off x="1184" y="1758"/>
              <a:ext cx="79" cy="118"/>
            </a:xfrm>
            <a:custGeom>
              <a:avLst/>
              <a:gdLst/>
              <a:ahLst/>
              <a:cxnLst>
                <a:cxn ang="0">
                  <a:pos x="0" y="118"/>
                </a:cxn>
                <a:cxn ang="0">
                  <a:pos x="40" y="0"/>
                </a:cxn>
                <a:cxn ang="0">
                  <a:pos x="79" y="118"/>
                </a:cxn>
                <a:cxn ang="0">
                  <a:pos x="0" y="118"/>
                </a:cxn>
              </a:cxnLst>
              <a:pathLst>
                <a:path w="79" h="118">
                  <a:moveTo>
                    <a:pt x="0" y="118"/>
                  </a:moveTo>
                  <a:lnTo>
                    <a:pt x="40" y="0"/>
                  </a:lnTo>
                  <a:lnTo>
                    <a:pt x="79" y="118"/>
                  </a:lnTo>
                  <a:lnTo>
                    <a:pt x="0" y="118"/>
                  </a:lnTo>
                  <a:close/>
                </a:path>
              </a:pathLst>
            </a:custGeom>
            <a:solidFill>
              <a:srgbClr val="000000">
                <a:alpha val="100000"/>
              </a:srgbClr>
            </a:solidFill>
            <a:ln w="9525">
              <a:noFill/>
            </a:ln>
          </p:spPr>
          <p:txBody>
            <a:bodyPr/>
            <a:p>
              <a:endParaRPr lang="zh-CN" altLang="en-US"/>
            </a:p>
          </p:txBody>
        </p:sp>
        <p:sp>
          <p:nvSpPr>
            <p:cNvPr id="113791" name="Line 67"/>
            <p:cNvSpPr/>
            <p:nvPr/>
          </p:nvSpPr>
          <p:spPr>
            <a:xfrm flipV="1">
              <a:off x="1095" y="1866"/>
              <a:ext cx="1" cy="147"/>
            </a:xfrm>
            <a:prstGeom prst="line">
              <a:avLst/>
            </a:prstGeom>
            <a:ln w="4763" cap="flat" cmpd="sng">
              <a:solidFill>
                <a:srgbClr val="000000"/>
              </a:solidFill>
              <a:prstDash val="solid"/>
              <a:headEnd type="none" w="med" len="med"/>
              <a:tailEnd type="none" w="med" len="med"/>
            </a:ln>
          </p:spPr>
        </p:sp>
        <p:sp>
          <p:nvSpPr>
            <p:cNvPr id="113792" name="Freeform 68"/>
            <p:cNvSpPr/>
            <p:nvPr/>
          </p:nvSpPr>
          <p:spPr>
            <a:xfrm>
              <a:off x="1056" y="1758"/>
              <a:ext cx="78" cy="118"/>
            </a:xfrm>
            <a:custGeom>
              <a:avLst/>
              <a:gdLst/>
              <a:ahLst/>
              <a:cxnLst>
                <a:cxn ang="0">
                  <a:pos x="0" y="118"/>
                </a:cxn>
                <a:cxn ang="0">
                  <a:pos x="39" y="0"/>
                </a:cxn>
                <a:cxn ang="0">
                  <a:pos x="78" y="118"/>
                </a:cxn>
                <a:cxn ang="0">
                  <a:pos x="0" y="118"/>
                </a:cxn>
              </a:cxnLst>
              <a:pathLst>
                <a:path w="78" h="118">
                  <a:moveTo>
                    <a:pt x="0" y="118"/>
                  </a:moveTo>
                  <a:lnTo>
                    <a:pt x="39" y="0"/>
                  </a:lnTo>
                  <a:lnTo>
                    <a:pt x="78" y="118"/>
                  </a:lnTo>
                  <a:lnTo>
                    <a:pt x="0" y="118"/>
                  </a:lnTo>
                  <a:close/>
                </a:path>
              </a:pathLst>
            </a:custGeom>
            <a:solidFill>
              <a:srgbClr val="000000">
                <a:alpha val="100000"/>
              </a:srgbClr>
            </a:solidFill>
            <a:ln w="9525">
              <a:noFill/>
            </a:ln>
          </p:spPr>
          <p:txBody>
            <a:bodyPr/>
            <a:p>
              <a:endParaRPr lang="zh-CN" altLang="en-US"/>
            </a:p>
          </p:txBody>
        </p:sp>
        <p:sp>
          <p:nvSpPr>
            <p:cNvPr id="113793" name="Line 69"/>
            <p:cNvSpPr/>
            <p:nvPr/>
          </p:nvSpPr>
          <p:spPr>
            <a:xfrm flipV="1">
              <a:off x="968" y="1866"/>
              <a:ext cx="1" cy="147"/>
            </a:xfrm>
            <a:prstGeom prst="line">
              <a:avLst/>
            </a:prstGeom>
            <a:ln w="4763" cap="flat" cmpd="sng">
              <a:solidFill>
                <a:srgbClr val="000000"/>
              </a:solidFill>
              <a:prstDash val="solid"/>
              <a:headEnd type="none" w="med" len="med"/>
              <a:tailEnd type="none" w="med" len="med"/>
            </a:ln>
          </p:spPr>
        </p:sp>
        <p:sp>
          <p:nvSpPr>
            <p:cNvPr id="113794" name="Freeform 70"/>
            <p:cNvSpPr/>
            <p:nvPr/>
          </p:nvSpPr>
          <p:spPr>
            <a:xfrm>
              <a:off x="927" y="1758"/>
              <a:ext cx="79" cy="118"/>
            </a:xfrm>
            <a:custGeom>
              <a:avLst/>
              <a:gdLst/>
              <a:ahLst/>
              <a:cxnLst>
                <a:cxn ang="0">
                  <a:pos x="0" y="118"/>
                </a:cxn>
                <a:cxn ang="0">
                  <a:pos x="41" y="0"/>
                </a:cxn>
                <a:cxn ang="0">
                  <a:pos x="79" y="118"/>
                </a:cxn>
                <a:cxn ang="0">
                  <a:pos x="0" y="118"/>
                </a:cxn>
              </a:cxnLst>
              <a:pathLst>
                <a:path w="79" h="118">
                  <a:moveTo>
                    <a:pt x="0" y="118"/>
                  </a:moveTo>
                  <a:lnTo>
                    <a:pt x="41" y="0"/>
                  </a:lnTo>
                  <a:lnTo>
                    <a:pt x="79" y="118"/>
                  </a:lnTo>
                  <a:lnTo>
                    <a:pt x="0" y="118"/>
                  </a:lnTo>
                  <a:close/>
                </a:path>
              </a:pathLst>
            </a:custGeom>
            <a:solidFill>
              <a:srgbClr val="000000">
                <a:alpha val="100000"/>
              </a:srgbClr>
            </a:solidFill>
            <a:ln w="9525">
              <a:noFill/>
            </a:ln>
          </p:spPr>
          <p:txBody>
            <a:bodyPr/>
            <a:p>
              <a:endParaRPr lang="zh-CN" altLang="en-US"/>
            </a:p>
          </p:txBody>
        </p:sp>
        <p:sp>
          <p:nvSpPr>
            <p:cNvPr id="113795" name="Line 71"/>
            <p:cNvSpPr/>
            <p:nvPr/>
          </p:nvSpPr>
          <p:spPr>
            <a:xfrm flipV="1">
              <a:off x="839" y="1866"/>
              <a:ext cx="1" cy="147"/>
            </a:xfrm>
            <a:prstGeom prst="line">
              <a:avLst/>
            </a:prstGeom>
            <a:ln w="4763" cap="flat" cmpd="sng">
              <a:solidFill>
                <a:srgbClr val="000000"/>
              </a:solidFill>
              <a:prstDash val="solid"/>
              <a:headEnd type="none" w="med" len="med"/>
              <a:tailEnd type="none" w="med" len="med"/>
            </a:ln>
          </p:spPr>
        </p:sp>
        <p:sp>
          <p:nvSpPr>
            <p:cNvPr id="113796" name="Freeform 72"/>
            <p:cNvSpPr/>
            <p:nvPr/>
          </p:nvSpPr>
          <p:spPr>
            <a:xfrm>
              <a:off x="800" y="1758"/>
              <a:ext cx="79" cy="118"/>
            </a:xfrm>
            <a:custGeom>
              <a:avLst/>
              <a:gdLst/>
              <a:ahLst/>
              <a:cxnLst>
                <a:cxn ang="0">
                  <a:pos x="0" y="118"/>
                </a:cxn>
                <a:cxn ang="0">
                  <a:pos x="39" y="0"/>
                </a:cxn>
                <a:cxn ang="0">
                  <a:pos x="79" y="118"/>
                </a:cxn>
                <a:cxn ang="0">
                  <a:pos x="0" y="118"/>
                </a:cxn>
              </a:cxnLst>
              <a:pathLst>
                <a:path w="79" h="118">
                  <a:moveTo>
                    <a:pt x="0" y="118"/>
                  </a:moveTo>
                  <a:lnTo>
                    <a:pt x="39" y="0"/>
                  </a:lnTo>
                  <a:lnTo>
                    <a:pt x="79" y="118"/>
                  </a:lnTo>
                  <a:lnTo>
                    <a:pt x="0" y="118"/>
                  </a:lnTo>
                  <a:close/>
                </a:path>
              </a:pathLst>
            </a:custGeom>
            <a:solidFill>
              <a:srgbClr val="000000">
                <a:alpha val="100000"/>
              </a:srgbClr>
            </a:solidFill>
            <a:ln w="9525">
              <a:noFill/>
            </a:ln>
          </p:spPr>
          <p:txBody>
            <a:bodyPr/>
            <a:p>
              <a:endParaRPr lang="zh-CN" altLang="en-US"/>
            </a:p>
          </p:txBody>
        </p:sp>
        <p:sp>
          <p:nvSpPr>
            <p:cNvPr id="113797" name="Line 73"/>
            <p:cNvSpPr/>
            <p:nvPr/>
          </p:nvSpPr>
          <p:spPr>
            <a:xfrm flipV="1">
              <a:off x="711" y="1866"/>
              <a:ext cx="1" cy="147"/>
            </a:xfrm>
            <a:prstGeom prst="line">
              <a:avLst/>
            </a:prstGeom>
            <a:ln w="4763" cap="flat" cmpd="sng">
              <a:solidFill>
                <a:srgbClr val="000000"/>
              </a:solidFill>
              <a:prstDash val="solid"/>
              <a:headEnd type="none" w="med" len="med"/>
              <a:tailEnd type="none" w="med" len="med"/>
            </a:ln>
          </p:spPr>
        </p:sp>
        <p:sp>
          <p:nvSpPr>
            <p:cNvPr id="113798" name="Freeform 74"/>
            <p:cNvSpPr/>
            <p:nvPr/>
          </p:nvSpPr>
          <p:spPr>
            <a:xfrm>
              <a:off x="672" y="1758"/>
              <a:ext cx="78" cy="118"/>
            </a:xfrm>
            <a:custGeom>
              <a:avLst/>
              <a:gdLst/>
              <a:ahLst/>
              <a:cxnLst>
                <a:cxn ang="0">
                  <a:pos x="0" y="118"/>
                </a:cxn>
                <a:cxn ang="0">
                  <a:pos x="39" y="0"/>
                </a:cxn>
                <a:cxn ang="0">
                  <a:pos x="78" y="118"/>
                </a:cxn>
                <a:cxn ang="0">
                  <a:pos x="0" y="118"/>
                </a:cxn>
              </a:cxnLst>
              <a:pathLst>
                <a:path w="78" h="118">
                  <a:moveTo>
                    <a:pt x="0" y="118"/>
                  </a:moveTo>
                  <a:lnTo>
                    <a:pt x="39" y="0"/>
                  </a:lnTo>
                  <a:lnTo>
                    <a:pt x="78" y="118"/>
                  </a:lnTo>
                  <a:lnTo>
                    <a:pt x="0" y="118"/>
                  </a:lnTo>
                  <a:close/>
                </a:path>
              </a:pathLst>
            </a:custGeom>
            <a:solidFill>
              <a:srgbClr val="000000">
                <a:alpha val="100000"/>
              </a:srgbClr>
            </a:solidFill>
            <a:ln w="9525">
              <a:noFill/>
            </a:ln>
          </p:spPr>
          <p:txBody>
            <a:bodyPr/>
            <a:p>
              <a:endParaRPr lang="zh-CN" altLang="en-US"/>
            </a:p>
          </p:txBody>
        </p:sp>
        <p:sp>
          <p:nvSpPr>
            <p:cNvPr id="113799" name="Line 75"/>
            <p:cNvSpPr/>
            <p:nvPr/>
          </p:nvSpPr>
          <p:spPr>
            <a:xfrm flipV="1">
              <a:off x="584" y="1866"/>
              <a:ext cx="1" cy="147"/>
            </a:xfrm>
            <a:prstGeom prst="line">
              <a:avLst/>
            </a:prstGeom>
            <a:ln w="4763" cap="flat" cmpd="sng">
              <a:solidFill>
                <a:srgbClr val="000000"/>
              </a:solidFill>
              <a:prstDash val="solid"/>
              <a:headEnd type="none" w="med" len="med"/>
              <a:tailEnd type="none" w="med" len="med"/>
            </a:ln>
          </p:spPr>
        </p:sp>
        <p:sp>
          <p:nvSpPr>
            <p:cNvPr id="113800" name="Freeform 76"/>
            <p:cNvSpPr/>
            <p:nvPr/>
          </p:nvSpPr>
          <p:spPr>
            <a:xfrm>
              <a:off x="543" y="1758"/>
              <a:ext cx="79" cy="118"/>
            </a:xfrm>
            <a:custGeom>
              <a:avLst/>
              <a:gdLst/>
              <a:ahLst/>
              <a:cxnLst>
                <a:cxn ang="0">
                  <a:pos x="0" y="118"/>
                </a:cxn>
                <a:cxn ang="0">
                  <a:pos x="41" y="0"/>
                </a:cxn>
                <a:cxn ang="0">
                  <a:pos x="79" y="118"/>
                </a:cxn>
                <a:cxn ang="0">
                  <a:pos x="0" y="118"/>
                </a:cxn>
              </a:cxnLst>
              <a:pathLst>
                <a:path w="79" h="118">
                  <a:moveTo>
                    <a:pt x="0" y="118"/>
                  </a:moveTo>
                  <a:lnTo>
                    <a:pt x="41" y="0"/>
                  </a:lnTo>
                  <a:lnTo>
                    <a:pt x="79" y="118"/>
                  </a:lnTo>
                  <a:lnTo>
                    <a:pt x="0" y="118"/>
                  </a:lnTo>
                  <a:close/>
                </a:path>
              </a:pathLst>
            </a:custGeom>
            <a:solidFill>
              <a:srgbClr val="000000">
                <a:alpha val="100000"/>
              </a:srgbClr>
            </a:solidFill>
            <a:ln w="9525">
              <a:noFill/>
            </a:ln>
          </p:spPr>
          <p:txBody>
            <a:bodyPr/>
            <a:p>
              <a:endParaRPr lang="zh-CN" altLang="en-US"/>
            </a:p>
          </p:txBody>
        </p:sp>
        <p:sp>
          <p:nvSpPr>
            <p:cNvPr id="113801" name="Rectangle 77"/>
            <p:cNvSpPr/>
            <p:nvPr/>
          </p:nvSpPr>
          <p:spPr>
            <a:xfrm>
              <a:off x="4460" y="2078"/>
              <a:ext cx="560"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400" dirty="0">
                  <a:solidFill>
                    <a:srgbClr val="000000"/>
                  </a:solidFill>
                  <a:latin typeface="宋体" panose="02010600030101010101" pitchFamily="2" charset="-122"/>
                </a:rPr>
                <a:t>后继微地址</a:t>
              </a:r>
              <a:endParaRPr lang="zh-CN" altLang="en-US" sz="1800" dirty="0"/>
            </a:p>
          </p:txBody>
        </p:sp>
        <p:sp>
          <p:nvSpPr>
            <p:cNvPr id="113802" name="Rectangle 78"/>
            <p:cNvSpPr/>
            <p:nvPr/>
          </p:nvSpPr>
          <p:spPr>
            <a:xfrm>
              <a:off x="3748" y="2078"/>
              <a:ext cx="448"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400" dirty="0">
                  <a:solidFill>
                    <a:srgbClr val="000000"/>
                  </a:solidFill>
                  <a:latin typeface="宋体" panose="02010600030101010101" pitchFamily="2" charset="-122"/>
                </a:rPr>
                <a:t>判断条件</a:t>
              </a:r>
              <a:endParaRPr lang="zh-CN" altLang="en-US" sz="1800" dirty="0"/>
            </a:p>
          </p:txBody>
        </p:sp>
        <p:sp>
          <p:nvSpPr>
            <p:cNvPr id="113803" name="Line 79"/>
            <p:cNvSpPr/>
            <p:nvPr/>
          </p:nvSpPr>
          <p:spPr>
            <a:xfrm>
              <a:off x="4327" y="2013"/>
              <a:ext cx="1" cy="257"/>
            </a:xfrm>
            <a:prstGeom prst="line">
              <a:avLst/>
            </a:prstGeom>
            <a:ln w="28575" cap="flat" cmpd="sng">
              <a:solidFill>
                <a:srgbClr val="000000"/>
              </a:solidFill>
              <a:prstDash val="solid"/>
              <a:headEnd type="none" w="med" len="med"/>
              <a:tailEnd type="none" w="med" len="med"/>
            </a:ln>
          </p:spPr>
        </p:sp>
        <p:sp>
          <p:nvSpPr>
            <p:cNvPr id="113804" name="Rectangle 80"/>
            <p:cNvSpPr/>
            <p:nvPr/>
          </p:nvSpPr>
          <p:spPr>
            <a:xfrm rot="-5400000">
              <a:off x="5035" y="161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805" name="Rectangle 81"/>
            <p:cNvSpPr/>
            <p:nvPr/>
          </p:nvSpPr>
          <p:spPr>
            <a:xfrm rot="-5400000">
              <a:off x="5035" y="156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06" name="Rectangle 82"/>
            <p:cNvSpPr/>
            <p:nvPr/>
          </p:nvSpPr>
          <p:spPr>
            <a:xfrm rot="-5400000">
              <a:off x="5035" y="150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0</a:t>
              </a:r>
              <a:endParaRPr lang="en-US" altLang="zh-CN" sz="1800" dirty="0"/>
            </a:p>
          </p:txBody>
        </p:sp>
        <p:sp>
          <p:nvSpPr>
            <p:cNvPr id="113807" name="Rectangle 83"/>
            <p:cNvSpPr/>
            <p:nvPr/>
          </p:nvSpPr>
          <p:spPr>
            <a:xfrm rot="-5400000">
              <a:off x="4922" y="161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808" name="Rectangle 84"/>
            <p:cNvSpPr/>
            <p:nvPr/>
          </p:nvSpPr>
          <p:spPr>
            <a:xfrm rot="-5400000">
              <a:off x="4922" y="156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09" name="Rectangle 85"/>
            <p:cNvSpPr/>
            <p:nvPr/>
          </p:nvSpPr>
          <p:spPr>
            <a:xfrm rot="-5400000">
              <a:off x="4922" y="150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a:t>
              </a:r>
              <a:endParaRPr lang="en-US" altLang="zh-CN" sz="1800" dirty="0"/>
            </a:p>
          </p:txBody>
        </p:sp>
        <p:sp>
          <p:nvSpPr>
            <p:cNvPr id="113810" name="Rectangle 86"/>
            <p:cNvSpPr/>
            <p:nvPr/>
          </p:nvSpPr>
          <p:spPr>
            <a:xfrm rot="-5400000">
              <a:off x="4779" y="161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811" name="Rectangle 87"/>
            <p:cNvSpPr/>
            <p:nvPr/>
          </p:nvSpPr>
          <p:spPr>
            <a:xfrm rot="-5400000">
              <a:off x="4779" y="156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12" name="Rectangle 88"/>
            <p:cNvSpPr/>
            <p:nvPr/>
          </p:nvSpPr>
          <p:spPr>
            <a:xfrm rot="-5400000">
              <a:off x="4779" y="150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a:t>
              </a:r>
              <a:endParaRPr lang="en-US" altLang="zh-CN" sz="1800" dirty="0"/>
            </a:p>
          </p:txBody>
        </p:sp>
        <p:sp>
          <p:nvSpPr>
            <p:cNvPr id="113813" name="Rectangle 89"/>
            <p:cNvSpPr/>
            <p:nvPr/>
          </p:nvSpPr>
          <p:spPr>
            <a:xfrm rot="-5400000">
              <a:off x="4651" y="161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814" name="Rectangle 90"/>
            <p:cNvSpPr/>
            <p:nvPr/>
          </p:nvSpPr>
          <p:spPr>
            <a:xfrm rot="-5400000">
              <a:off x="4651" y="156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15" name="Rectangle 91"/>
            <p:cNvSpPr/>
            <p:nvPr/>
          </p:nvSpPr>
          <p:spPr>
            <a:xfrm rot="-5400000">
              <a:off x="4651" y="150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a:t>
              </a:r>
              <a:endParaRPr lang="en-US" altLang="zh-CN" sz="1800" dirty="0"/>
            </a:p>
          </p:txBody>
        </p:sp>
        <p:sp>
          <p:nvSpPr>
            <p:cNvPr id="113816" name="Rectangle 92"/>
            <p:cNvSpPr/>
            <p:nvPr/>
          </p:nvSpPr>
          <p:spPr>
            <a:xfrm rot="-5400000">
              <a:off x="4522" y="161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817" name="Rectangle 93"/>
            <p:cNvSpPr/>
            <p:nvPr/>
          </p:nvSpPr>
          <p:spPr>
            <a:xfrm rot="-5400000">
              <a:off x="4522" y="156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18" name="Rectangle 94"/>
            <p:cNvSpPr/>
            <p:nvPr/>
          </p:nvSpPr>
          <p:spPr>
            <a:xfrm rot="-5400000">
              <a:off x="4522" y="150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4</a:t>
              </a:r>
              <a:endParaRPr lang="en-US" altLang="zh-CN" sz="1800" dirty="0"/>
            </a:p>
          </p:txBody>
        </p:sp>
        <p:sp>
          <p:nvSpPr>
            <p:cNvPr id="113819" name="Rectangle 95"/>
            <p:cNvSpPr/>
            <p:nvPr/>
          </p:nvSpPr>
          <p:spPr>
            <a:xfrm rot="-5400000">
              <a:off x="4395" y="161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820" name="Rectangle 96"/>
            <p:cNvSpPr/>
            <p:nvPr/>
          </p:nvSpPr>
          <p:spPr>
            <a:xfrm rot="-5400000">
              <a:off x="4395" y="156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21" name="Rectangle 97"/>
            <p:cNvSpPr/>
            <p:nvPr/>
          </p:nvSpPr>
          <p:spPr>
            <a:xfrm rot="-5400000">
              <a:off x="4395" y="150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5</a:t>
              </a:r>
              <a:endParaRPr lang="en-US" altLang="zh-CN" sz="1800" dirty="0"/>
            </a:p>
          </p:txBody>
        </p:sp>
        <p:sp>
          <p:nvSpPr>
            <p:cNvPr id="113822" name="Rectangle 98"/>
            <p:cNvSpPr/>
            <p:nvPr/>
          </p:nvSpPr>
          <p:spPr>
            <a:xfrm rot="-5400000">
              <a:off x="4155" y="158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P</a:t>
              </a:r>
              <a:endParaRPr lang="en-US" altLang="zh-CN" sz="1800" dirty="0"/>
            </a:p>
          </p:txBody>
        </p:sp>
        <p:sp>
          <p:nvSpPr>
            <p:cNvPr id="113823" name="Rectangle 99"/>
            <p:cNvSpPr/>
            <p:nvPr/>
          </p:nvSpPr>
          <p:spPr>
            <a:xfrm rot="-5400000">
              <a:off x="4155" y="153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0</a:t>
              </a:r>
              <a:endParaRPr lang="en-US" altLang="zh-CN" sz="1800" dirty="0"/>
            </a:p>
          </p:txBody>
        </p:sp>
        <p:sp>
          <p:nvSpPr>
            <p:cNvPr id="113824" name="Rectangle 100"/>
            <p:cNvSpPr/>
            <p:nvPr/>
          </p:nvSpPr>
          <p:spPr>
            <a:xfrm rot="-5400000">
              <a:off x="4011" y="158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P</a:t>
              </a:r>
              <a:endParaRPr lang="en-US" altLang="zh-CN" sz="1800" dirty="0"/>
            </a:p>
          </p:txBody>
        </p:sp>
        <p:sp>
          <p:nvSpPr>
            <p:cNvPr id="113825" name="Rectangle 101"/>
            <p:cNvSpPr/>
            <p:nvPr/>
          </p:nvSpPr>
          <p:spPr>
            <a:xfrm rot="-5400000">
              <a:off x="4011" y="153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a:t>
              </a:r>
              <a:endParaRPr lang="en-US" altLang="zh-CN" sz="1800" dirty="0"/>
            </a:p>
          </p:txBody>
        </p:sp>
        <p:sp>
          <p:nvSpPr>
            <p:cNvPr id="113826" name="Rectangle 102"/>
            <p:cNvSpPr/>
            <p:nvPr/>
          </p:nvSpPr>
          <p:spPr>
            <a:xfrm rot="-5400000">
              <a:off x="3898" y="158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P</a:t>
              </a:r>
              <a:endParaRPr lang="en-US" altLang="zh-CN" sz="1800" dirty="0"/>
            </a:p>
          </p:txBody>
        </p:sp>
        <p:sp>
          <p:nvSpPr>
            <p:cNvPr id="113827" name="Rectangle 103"/>
            <p:cNvSpPr/>
            <p:nvPr/>
          </p:nvSpPr>
          <p:spPr>
            <a:xfrm rot="-5400000">
              <a:off x="3898" y="153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a:t>
              </a:r>
              <a:endParaRPr lang="en-US" altLang="zh-CN" sz="1800" dirty="0"/>
            </a:p>
          </p:txBody>
        </p:sp>
        <p:sp>
          <p:nvSpPr>
            <p:cNvPr id="113828" name="Rectangle 104"/>
            <p:cNvSpPr/>
            <p:nvPr/>
          </p:nvSpPr>
          <p:spPr>
            <a:xfrm rot="-5400000">
              <a:off x="3755" y="158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P</a:t>
              </a:r>
              <a:endParaRPr lang="en-US" altLang="zh-CN" sz="1800" dirty="0"/>
            </a:p>
          </p:txBody>
        </p:sp>
        <p:sp>
          <p:nvSpPr>
            <p:cNvPr id="113829" name="Rectangle 105"/>
            <p:cNvSpPr/>
            <p:nvPr/>
          </p:nvSpPr>
          <p:spPr>
            <a:xfrm rot="-5400000">
              <a:off x="3755" y="153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a:t>
              </a:r>
              <a:endParaRPr lang="en-US" altLang="zh-CN" sz="1800" dirty="0"/>
            </a:p>
          </p:txBody>
        </p:sp>
        <p:sp>
          <p:nvSpPr>
            <p:cNvPr id="113830" name="Rectangle 106"/>
            <p:cNvSpPr/>
            <p:nvPr/>
          </p:nvSpPr>
          <p:spPr>
            <a:xfrm rot="-5400000">
              <a:off x="3498" y="1646"/>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I</a:t>
              </a:r>
              <a:endParaRPr lang="en-US" altLang="zh-CN" sz="1800" dirty="0"/>
            </a:p>
          </p:txBody>
        </p:sp>
        <p:sp>
          <p:nvSpPr>
            <p:cNvPr id="113831" name="Rectangle 107"/>
            <p:cNvSpPr/>
            <p:nvPr/>
          </p:nvSpPr>
          <p:spPr>
            <a:xfrm rot="-5400000">
              <a:off x="3498" y="158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N</a:t>
              </a:r>
              <a:endParaRPr lang="en-US" altLang="zh-CN" sz="1800" dirty="0"/>
            </a:p>
          </p:txBody>
        </p:sp>
        <p:sp>
          <p:nvSpPr>
            <p:cNvPr id="113832" name="Rectangle 108"/>
            <p:cNvSpPr/>
            <p:nvPr/>
          </p:nvSpPr>
          <p:spPr>
            <a:xfrm rot="-5400000">
              <a:off x="3498" y="153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T</a:t>
              </a:r>
              <a:endParaRPr lang="en-US" altLang="zh-CN" sz="1800" dirty="0"/>
            </a:p>
          </p:txBody>
        </p:sp>
        <p:sp>
          <p:nvSpPr>
            <p:cNvPr id="113833" name="Rectangle 109"/>
            <p:cNvSpPr/>
            <p:nvPr/>
          </p:nvSpPr>
          <p:spPr>
            <a:xfrm rot="-5400000">
              <a:off x="3498" y="147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834" name="Rectangle 110"/>
            <p:cNvSpPr/>
            <p:nvPr/>
          </p:nvSpPr>
          <p:spPr>
            <a:xfrm rot="-5400000">
              <a:off x="3371" y="1646"/>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I</a:t>
              </a:r>
              <a:endParaRPr lang="en-US" altLang="zh-CN" sz="1800" dirty="0"/>
            </a:p>
          </p:txBody>
        </p:sp>
        <p:sp>
          <p:nvSpPr>
            <p:cNvPr id="113835" name="Rectangle 111"/>
            <p:cNvSpPr/>
            <p:nvPr/>
          </p:nvSpPr>
          <p:spPr>
            <a:xfrm rot="-5400000">
              <a:off x="3371" y="158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N</a:t>
              </a:r>
              <a:endParaRPr lang="en-US" altLang="zh-CN" sz="1800" dirty="0"/>
            </a:p>
          </p:txBody>
        </p:sp>
        <p:sp>
          <p:nvSpPr>
            <p:cNvPr id="113836" name="Rectangle 112"/>
            <p:cNvSpPr/>
            <p:nvPr/>
          </p:nvSpPr>
          <p:spPr>
            <a:xfrm rot="-5400000">
              <a:off x="3371" y="153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T</a:t>
              </a:r>
              <a:endParaRPr lang="en-US" altLang="zh-CN" sz="1800" dirty="0"/>
            </a:p>
          </p:txBody>
        </p:sp>
        <p:sp>
          <p:nvSpPr>
            <p:cNvPr id="113837" name="Rectangle 113"/>
            <p:cNvSpPr/>
            <p:nvPr/>
          </p:nvSpPr>
          <p:spPr>
            <a:xfrm rot="-5400000">
              <a:off x="3371" y="147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C</a:t>
              </a:r>
              <a:endParaRPr lang="en-US" altLang="zh-CN" sz="1800" dirty="0"/>
            </a:p>
          </p:txBody>
        </p:sp>
        <p:sp>
          <p:nvSpPr>
            <p:cNvPr id="113838" name="Rectangle 114"/>
            <p:cNvSpPr/>
            <p:nvPr/>
          </p:nvSpPr>
          <p:spPr>
            <a:xfrm rot="-5400000">
              <a:off x="3259" y="163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839" name="Rectangle 115"/>
            <p:cNvSpPr/>
            <p:nvPr/>
          </p:nvSpPr>
          <p:spPr>
            <a:xfrm rot="-5400000">
              <a:off x="3259" y="1573"/>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840" name="Rectangle 116"/>
            <p:cNvSpPr/>
            <p:nvPr/>
          </p:nvSpPr>
          <p:spPr>
            <a:xfrm rot="-5400000">
              <a:off x="3259" y="151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I</a:t>
              </a:r>
              <a:endParaRPr lang="en-US" altLang="zh-CN" sz="1800" dirty="0"/>
            </a:p>
          </p:txBody>
        </p:sp>
        <p:sp>
          <p:nvSpPr>
            <p:cNvPr id="113841" name="Rectangle 117"/>
            <p:cNvSpPr/>
            <p:nvPr/>
          </p:nvSpPr>
          <p:spPr>
            <a:xfrm rot="-5400000">
              <a:off x="3259" y="145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842" name="Rectangle 118"/>
            <p:cNvSpPr/>
            <p:nvPr/>
          </p:nvSpPr>
          <p:spPr>
            <a:xfrm rot="-5400000">
              <a:off x="3114" y="163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843" name="Rectangle 119"/>
            <p:cNvSpPr/>
            <p:nvPr/>
          </p:nvSpPr>
          <p:spPr>
            <a:xfrm rot="-5400000">
              <a:off x="3114" y="1573"/>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844" name="Rectangle 120"/>
            <p:cNvSpPr/>
            <p:nvPr/>
          </p:nvSpPr>
          <p:spPr>
            <a:xfrm rot="-5400000">
              <a:off x="3114" y="151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P</a:t>
              </a:r>
              <a:endParaRPr lang="en-US" altLang="zh-CN" sz="1800" dirty="0"/>
            </a:p>
          </p:txBody>
        </p:sp>
        <p:sp>
          <p:nvSpPr>
            <p:cNvPr id="113845" name="Rectangle 121"/>
            <p:cNvSpPr/>
            <p:nvPr/>
          </p:nvSpPr>
          <p:spPr>
            <a:xfrm rot="-5400000">
              <a:off x="3114" y="145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C</a:t>
              </a:r>
              <a:endParaRPr lang="en-US" altLang="zh-CN" sz="1800" dirty="0"/>
            </a:p>
          </p:txBody>
        </p:sp>
        <p:sp>
          <p:nvSpPr>
            <p:cNvPr id="113846" name="Rectangle 122"/>
            <p:cNvSpPr/>
            <p:nvPr/>
          </p:nvSpPr>
          <p:spPr>
            <a:xfrm rot="-5400000">
              <a:off x="2730" y="162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M</a:t>
              </a:r>
              <a:endParaRPr lang="en-US" altLang="zh-CN" sz="1800" dirty="0"/>
            </a:p>
          </p:txBody>
        </p:sp>
        <p:sp>
          <p:nvSpPr>
            <p:cNvPr id="113847" name="Rectangle 123"/>
            <p:cNvSpPr/>
            <p:nvPr/>
          </p:nvSpPr>
          <p:spPr>
            <a:xfrm rot="-5400000">
              <a:off x="2730" y="157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4</a:t>
              </a:r>
              <a:endParaRPr lang="en-US" altLang="zh-CN" sz="1800" dirty="0"/>
            </a:p>
          </p:txBody>
        </p:sp>
        <p:sp>
          <p:nvSpPr>
            <p:cNvPr id="113848" name="Rectangle 124"/>
            <p:cNvSpPr/>
            <p:nvPr/>
          </p:nvSpPr>
          <p:spPr>
            <a:xfrm rot="-5400000">
              <a:off x="3003" y="163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P</a:t>
              </a:r>
              <a:endParaRPr lang="en-US" altLang="zh-CN" sz="1800" dirty="0"/>
            </a:p>
          </p:txBody>
        </p:sp>
        <p:sp>
          <p:nvSpPr>
            <p:cNvPr id="113849" name="Rectangle 125"/>
            <p:cNvSpPr/>
            <p:nvPr/>
          </p:nvSpPr>
          <p:spPr>
            <a:xfrm rot="-5400000">
              <a:off x="3003" y="158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C</a:t>
              </a:r>
              <a:endParaRPr lang="en-US" altLang="zh-CN" sz="1800" dirty="0"/>
            </a:p>
          </p:txBody>
        </p:sp>
        <p:sp>
          <p:nvSpPr>
            <p:cNvPr id="113850" name="Rectangle 126"/>
            <p:cNvSpPr/>
            <p:nvPr/>
          </p:nvSpPr>
          <p:spPr>
            <a:xfrm rot="-5400000">
              <a:off x="3003" y="152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_</a:t>
              </a:r>
              <a:endParaRPr lang="en-US" altLang="zh-CN" sz="1800" dirty="0"/>
            </a:p>
          </p:txBody>
        </p:sp>
        <p:sp>
          <p:nvSpPr>
            <p:cNvPr id="113851" name="Rectangle 127"/>
            <p:cNvSpPr/>
            <p:nvPr/>
          </p:nvSpPr>
          <p:spPr>
            <a:xfrm rot="-5400000">
              <a:off x="3003" y="146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52" name="Rectangle 128"/>
            <p:cNvSpPr/>
            <p:nvPr/>
          </p:nvSpPr>
          <p:spPr>
            <a:xfrm rot="-5400000">
              <a:off x="3003" y="141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853" name="Rectangle 129"/>
            <p:cNvSpPr/>
            <p:nvPr/>
          </p:nvSpPr>
          <p:spPr>
            <a:xfrm rot="-5400000">
              <a:off x="3003" y="135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854" name="Rectangle 130"/>
            <p:cNvSpPr/>
            <p:nvPr/>
          </p:nvSpPr>
          <p:spPr>
            <a:xfrm rot="-5400000">
              <a:off x="2859" y="163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P</a:t>
              </a:r>
              <a:endParaRPr lang="en-US" altLang="zh-CN" sz="1800" dirty="0"/>
            </a:p>
          </p:txBody>
        </p:sp>
        <p:sp>
          <p:nvSpPr>
            <p:cNvPr id="113855" name="Rectangle 131"/>
            <p:cNvSpPr/>
            <p:nvPr/>
          </p:nvSpPr>
          <p:spPr>
            <a:xfrm rot="-5400000">
              <a:off x="2859" y="158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C</a:t>
              </a:r>
              <a:endParaRPr lang="en-US" altLang="zh-CN" sz="1800" dirty="0"/>
            </a:p>
          </p:txBody>
        </p:sp>
        <p:sp>
          <p:nvSpPr>
            <p:cNvPr id="113856" name="Rectangle 132"/>
            <p:cNvSpPr/>
            <p:nvPr/>
          </p:nvSpPr>
          <p:spPr>
            <a:xfrm rot="-5400000">
              <a:off x="2859" y="152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_</a:t>
              </a:r>
              <a:endParaRPr lang="en-US" altLang="zh-CN" sz="1800" dirty="0"/>
            </a:p>
          </p:txBody>
        </p:sp>
        <p:sp>
          <p:nvSpPr>
            <p:cNvPr id="113857" name="Rectangle 133"/>
            <p:cNvSpPr/>
            <p:nvPr/>
          </p:nvSpPr>
          <p:spPr>
            <a:xfrm rot="-5400000">
              <a:off x="2859" y="146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I</a:t>
              </a:r>
              <a:endParaRPr lang="en-US" altLang="zh-CN" sz="1800" dirty="0"/>
            </a:p>
          </p:txBody>
        </p:sp>
        <p:sp>
          <p:nvSpPr>
            <p:cNvPr id="113858" name="Rectangle 134"/>
            <p:cNvSpPr/>
            <p:nvPr/>
          </p:nvSpPr>
          <p:spPr>
            <a:xfrm rot="-5400000">
              <a:off x="2859" y="141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N</a:t>
              </a:r>
              <a:endParaRPr lang="en-US" altLang="zh-CN" sz="1800" dirty="0"/>
            </a:p>
          </p:txBody>
        </p:sp>
        <p:sp>
          <p:nvSpPr>
            <p:cNvPr id="113859" name="Rectangle 135"/>
            <p:cNvSpPr/>
            <p:nvPr/>
          </p:nvSpPr>
          <p:spPr>
            <a:xfrm rot="-5400000">
              <a:off x="2859" y="135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C</a:t>
              </a:r>
              <a:endParaRPr lang="en-US" altLang="zh-CN" sz="1800" dirty="0"/>
            </a:p>
          </p:txBody>
        </p:sp>
        <p:sp>
          <p:nvSpPr>
            <p:cNvPr id="113860" name="Rectangle 136"/>
            <p:cNvSpPr/>
            <p:nvPr/>
          </p:nvSpPr>
          <p:spPr>
            <a:xfrm rot="-5400000">
              <a:off x="2597" y="162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861" name="Rectangle 137"/>
            <p:cNvSpPr/>
            <p:nvPr/>
          </p:nvSpPr>
          <p:spPr>
            <a:xfrm rot="-5400000">
              <a:off x="2597" y="157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862" name="Rectangle 138"/>
            <p:cNvSpPr/>
            <p:nvPr/>
          </p:nvSpPr>
          <p:spPr>
            <a:xfrm rot="-5400000">
              <a:off x="2597" y="1513"/>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I</a:t>
              </a:r>
              <a:endParaRPr lang="en-US" altLang="zh-CN" sz="1800" dirty="0"/>
            </a:p>
          </p:txBody>
        </p:sp>
        <p:sp>
          <p:nvSpPr>
            <p:cNvPr id="113863" name="Rectangle 139"/>
            <p:cNvSpPr/>
            <p:nvPr/>
          </p:nvSpPr>
          <p:spPr>
            <a:xfrm rot="-5400000">
              <a:off x="2597" y="145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64" name="Rectangle 140"/>
            <p:cNvSpPr/>
            <p:nvPr/>
          </p:nvSpPr>
          <p:spPr>
            <a:xfrm rot="-5400000">
              <a:off x="2597" y="140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865" name="Rectangle 141"/>
            <p:cNvSpPr/>
            <p:nvPr/>
          </p:nvSpPr>
          <p:spPr>
            <a:xfrm rot="-5400000">
              <a:off x="2458" y="1626"/>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866" name="Rectangle 142"/>
            <p:cNvSpPr/>
            <p:nvPr/>
          </p:nvSpPr>
          <p:spPr>
            <a:xfrm rot="-5400000">
              <a:off x="2458" y="156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867" name="Rectangle 143"/>
            <p:cNvSpPr/>
            <p:nvPr/>
          </p:nvSpPr>
          <p:spPr>
            <a:xfrm rot="-5400000">
              <a:off x="2458" y="1512"/>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68" name="Rectangle 144"/>
            <p:cNvSpPr/>
            <p:nvPr/>
          </p:nvSpPr>
          <p:spPr>
            <a:xfrm rot="-5400000">
              <a:off x="2458" y="1456"/>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869" name="Rectangle 145"/>
            <p:cNvSpPr/>
            <p:nvPr/>
          </p:nvSpPr>
          <p:spPr>
            <a:xfrm rot="-5400000">
              <a:off x="2458" y="139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a:t>
              </a:r>
              <a:endParaRPr lang="en-US" altLang="zh-CN" sz="1800" dirty="0"/>
            </a:p>
          </p:txBody>
        </p:sp>
        <p:sp>
          <p:nvSpPr>
            <p:cNvPr id="113870" name="Rectangle 146"/>
            <p:cNvSpPr/>
            <p:nvPr/>
          </p:nvSpPr>
          <p:spPr>
            <a:xfrm rot="-5400000">
              <a:off x="2347" y="163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71" name="Rectangle 147"/>
            <p:cNvSpPr/>
            <p:nvPr/>
          </p:nvSpPr>
          <p:spPr>
            <a:xfrm rot="-5400000">
              <a:off x="2347" y="157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872" name="Rectangle 148"/>
            <p:cNvSpPr/>
            <p:nvPr/>
          </p:nvSpPr>
          <p:spPr>
            <a:xfrm rot="-5400000">
              <a:off x="2347" y="1522"/>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a:t>
              </a:r>
              <a:endParaRPr lang="en-US" altLang="zh-CN" sz="1800" dirty="0"/>
            </a:p>
          </p:txBody>
        </p:sp>
        <p:sp>
          <p:nvSpPr>
            <p:cNvPr id="113873" name="Rectangle 149"/>
            <p:cNvSpPr/>
            <p:nvPr/>
          </p:nvSpPr>
          <p:spPr>
            <a:xfrm rot="-5400000">
              <a:off x="2347" y="146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_</a:t>
              </a:r>
              <a:endParaRPr lang="en-US" altLang="zh-CN" sz="1800" dirty="0"/>
            </a:p>
          </p:txBody>
        </p:sp>
        <p:sp>
          <p:nvSpPr>
            <p:cNvPr id="113874" name="Rectangle 150"/>
            <p:cNvSpPr/>
            <p:nvPr/>
          </p:nvSpPr>
          <p:spPr>
            <a:xfrm rot="-5400000">
              <a:off x="2347" y="140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I</a:t>
              </a:r>
              <a:endParaRPr lang="en-US" altLang="zh-CN" sz="1800" dirty="0"/>
            </a:p>
          </p:txBody>
        </p:sp>
        <p:sp>
          <p:nvSpPr>
            <p:cNvPr id="113875" name="Rectangle 151"/>
            <p:cNvSpPr/>
            <p:nvPr/>
          </p:nvSpPr>
          <p:spPr>
            <a:xfrm rot="-5400000">
              <a:off x="2347" y="135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N</a:t>
              </a:r>
              <a:endParaRPr lang="en-US" altLang="zh-CN" sz="1800" dirty="0"/>
            </a:p>
          </p:txBody>
        </p:sp>
        <p:sp>
          <p:nvSpPr>
            <p:cNvPr id="113876" name="Rectangle 152"/>
            <p:cNvSpPr/>
            <p:nvPr/>
          </p:nvSpPr>
          <p:spPr>
            <a:xfrm rot="-5400000">
              <a:off x="2347" y="1293"/>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C</a:t>
              </a:r>
              <a:endParaRPr lang="en-US" altLang="zh-CN" sz="1800" dirty="0"/>
            </a:p>
          </p:txBody>
        </p:sp>
        <p:sp>
          <p:nvSpPr>
            <p:cNvPr id="113877" name="Rectangle 153"/>
            <p:cNvSpPr/>
            <p:nvPr/>
          </p:nvSpPr>
          <p:spPr>
            <a:xfrm rot="-5400000">
              <a:off x="2219" y="162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M</a:t>
              </a:r>
              <a:endParaRPr lang="en-US" altLang="zh-CN" sz="1800" dirty="0"/>
            </a:p>
          </p:txBody>
        </p:sp>
        <p:sp>
          <p:nvSpPr>
            <p:cNvPr id="113878" name="Rectangle 154"/>
            <p:cNvSpPr/>
            <p:nvPr/>
          </p:nvSpPr>
          <p:spPr>
            <a:xfrm rot="-5400000">
              <a:off x="2219" y="156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a:t>
              </a:r>
              <a:endParaRPr lang="en-US" altLang="zh-CN" sz="1800" dirty="0"/>
            </a:p>
          </p:txBody>
        </p:sp>
        <p:sp>
          <p:nvSpPr>
            <p:cNvPr id="113879" name="Rectangle 155"/>
            <p:cNvSpPr/>
            <p:nvPr/>
          </p:nvSpPr>
          <p:spPr>
            <a:xfrm rot="-5400000">
              <a:off x="2090" y="163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880" name="Rectangle 156"/>
            <p:cNvSpPr/>
            <p:nvPr/>
          </p:nvSpPr>
          <p:spPr>
            <a:xfrm rot="-5400000">
              <a:off x="2090" y="157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881" name="Rectangle 157"/>
            <p:cNvSpPr/>
            <p:nvPr/>
          </p:nvSpPr>
          <p:spPr>
            <a:xfrm rot="-5400000">
              <a:off x="2090" y="1516"/>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E</a:t>
              </a:r>
              <a:endParaRPr lang="en-US" altLang="zh-CN" sz="1800" dirty="0"/>
            </a:p>
          </p:txBody>
        </p:sp>
        <p:sp>
          <p:nvSpPr>
            <p:cNvPr id="113882" name="Rectangle 158"/>
            <p:cNvSpPr/>
            <p:nvPr/>
          </p:nvSpPr>
          <p:spPr>
            <a:xfrm rot="-5400000">
              <a:off x="2090" y="146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883" name="Rectangle 159"/>
            <p:cNvSpPr/>
            <p:nvPr/>
          </p:nvSpPr>
          <p:spPr>
            <a:xfrm rot="-5400000">
              <a:off x="1963" y="163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I</a:t>
              </a:r>
              <a:endParaRPr lang="en-US" altLang="zh-CN" sz="1800" dirty="0"/>
            </a:p>
          </p:txBody>
        </p:sp>
        <p:sp>
          <p:nvSpPr>
            <p:cNvPr id="113884" name="Rectangle 160"/>
            <p:cNvSpPr/>
            <p:nvPr/>
          </p:nvSpPr>
          <p:spPr>
            <a:xfrm rot="-5400000">
              <a:off x="1963" y="157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885" name="Rectangle 161"/>
            <p:cNvSpPr/>
            <p:nvPr/>
          </p:nvSpPr>
          <p:spPr>
            <a:xfrm rot="-5400000">
              <a:off x="1963" y="151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886" name="Rectangle 162"/>
            <p:cNvSpPr/>
            <p:nvPr/>
          </p:nvSpPr>
          <p:spPr>
            <a:xfrm rot="-5400000">
              <a:off x="1963" y="146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_</a:t>
              </a:r>
              <a:endParaRPr lang="en-US" altLang="zh-CN" sz="1800" dirty="0"/>
            </a:p>
          </p:txBody>
        </p:sp>
        <p:sp>
          <p:nvSpPr>
            <p:cNvPr id="113887" name="Rectangle 163"/>
            <p:cNvSpPr/>
            <p:nvPr/>
          </p:nvSpPr>
          <p:spPr>
            <a:xfrm rot="-5400000">
              <a:off x="1963" y="140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B</a:t>
              </a:r>
              <a:endParaRPr lang="en-US" altLang="zh-CN" sz="1800" dirty="0"/>
            </a:p>
          </p:txBody>
        </p:sp>
        <p:sp>
          <p:nvSpPr>
            <p:cNvPr id="113888" name="Rectangle 164"/>
            <p:cNvSpPr/>
            <p:nvPr/>
          </p:nvSpPr>
          <p:spPr>
            <a:xfrm rot="-5400000">
              <a:off x="1963" y="134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889" name="Rectangle 165"/>
            <p:cNvSpPr/>
            <p:nvPr/>
          </p:nvSpPr>
          <p:spPr>
            <a:xfrm rot="-5400000">
              <a:off x="1963" y="129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890" name="Rectangle 166"/>
            <p:cNvSpPr/>
            <p:nvPr/>
          </p:nvSpPr>
          <p:spPr>
            <a:xfrm rot="-5400000">
              <a:off x="1963" y="123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t>
              </a:r>
              <a:endParaRPr lang="en-US" altLang="zh-CN" sz="1800" dirty="0"/>
            </a:p>
          </p:txBody>
        </p:sp>
        <p:sp>
          <p:nvSpPr>
            <p:cNvPr id="113891" name="Rectangle 167"/>
            <p:cNvSpPr/>
            <p:nvPr/>
          </p:nvSpPr>
          <p:spPr>
            <a:xfrm rot="-5400000">
              <a:off x="1835" y="161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892" name="Rectangle 168"/>
            <p:cNvSpPr/>
            <p:nvPr/>
          </p:nvSpPr>
          <p:spPr>
            <a:xfrm rot="-5400000">
              <a:off x="1835" y="1562"/>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W</a:t>
              </a:r>
              <a:endParaRPr lang="en-US" altLang="zh-CN" sz="1800" dirty="0"/>
            </a:p>
          </p:txBody>
        </p:sp>
        <p:sp>
          <p:nvSpPr>
            <p:cNvPr id="113893" name="Rectangle 169"/>
            <p:cNvSpPr/>
            <p:nvPr/>
          </p:nvSpPr>
          <p:spPr>
            <a:xfrm rot="-5400000">
              <a:off x="1835" y="150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_</a:t>
              </a:r>
              <a:endParaRPr lang="en-US" altLang="zh-CN" sz="1800" dirty="0"/>
            </a:p>
          </p:txBody>
        </p:sp>
        <p:sp>
          <p:nvSpPr>
            <p:cNvPr id="113894" name="Rectangle 170"/>
            <p:cNvSpPr/>
            <p:nvPr/>
          </p:nvSpPr>
          <p:spPr>
            <a:xfrm rot="-5400000">
              <a:off x="1835" y="144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B</a:t>
              </a:r>
              <a:endParaRPr lang="en-US" altLang="zh-CN" sz="1800" dirty="0"/>
            </a:p>
          </p:txBody>
        </p:sp>
        <p:sp>
          <p:nvSpPr>
            <p:cNvPr id="113895" name="Rectangle 171"/>
            <p:cNvSpPr/>
            <p:nvPr/>
          </p:nvSpPr>
          <p:spPr>
            <a:xfrm rot="-5400000">
              <a:off x="1835" y="1392"/>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896" name="Rectangle 172"/>
            <p:cNvSpPr/>
            <p:nvPr/>
          </p:nvSpPr>
          <p:spPr>
            <a:xfrm rot="-5400000">
              <a:off x="1835" y="133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897" name="Rectangle 173"/>
            <p:cNvSpPr/>
            <p:nvPr/>
          </p:nvSpPr>
          <p:spPr>
            <a:xfrm rot="-5400000">
              <a:off x="1835" y="127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t>
              </a:r>
              <a:endParaRPr lang="en-US" altLang="zh-CN" sz="1800" dirty="0"/>
            </a:p>
          </p:txBody>
        </p:sp>
        <p:sp>
          <p:nvSpPr>
            <p:cNvPr id="113898" name="Rectangle 174"/>
            <p:cNvSpPr/>
            <p:nvPr/>
          </p:nvSpPr>
          <p:spPr>
            <a:xfrm rot="-5400000">
              <a:off x="1706" y="163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899" name="Rectangle 175"/>
            <p:cNvSpPr/>
            <p:nvPr/>
          </p:nvSpPr>
          <p:spPr>
            <a:xfrm rot="-5400000">
              <a:off x="1706" y="157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900" name="Rectangle 176"/>
            <p:cNvSpPr/>
            <p:nvPr/>
          </p:nvSpPr>
          <p:spPr>
            <a:xfrm rot="-5400000">
              <a:off x="1706" y="1522"/>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_</a:t>
              </a:r>
              <a:endParaRPr lang="en-US" altLang="zh-CN" sz="1800" dirty="0"/>
            </a:p>
          </p:txBody>
        </p:sp>
        <p:sp>
          <p:nvSpPr>
            <p:cNvPr id="113901" name="Rectangle 177"/>
            <p:cNvSpPr/>
            <p:nvPr/>
          </p:nvSpPr>
          <p:spPr>
            <a:xfrm rot="-5400000">
              <a:off x="1706" y="146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B</a:t>
              </a:r>
              <a:endParaRPr lang="en-US" altLang="zh-CN" sz="1800" dirty="0"/>
            </a:p>
          </p:txBody>
        </p:sp>
        <p:sp>
          <p:nvSpPr>
            <p:cNvPr id="113902" name="Rectangle 178"/>
            <p:cNvSpPr/>
            <p:nvPr/>
          </p:nvSpPr>
          <p:spPr>
            <a:xfrm rot="-5400000">
              <a:off x="1706" y="140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903" name="Rectangle 179"/>
            <p:cNvSpPr/>
            <p:nvPr/>
          </p:nvSpPr>
          <p:spPr>
            <a:xfrm rot="-5400000">
              <a:off x="1706" y="135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904" name="Rectangle 180"/>
            <p:cNvSpPr/>
            <p:nvPr/>
          </p:nvSpPr>
          <p:spPr>
            <a:xfrm rot="-5400000">
              <a:off x="1706" y="1293"/>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t>
              </a:r>
              <a:endParaRPr lang="en-US" altLang="zh-CN" sz="1800" dirty="0"/>
            </a:p>
          </p:txBody>
        </p:sp>
        <p:sp>
          <p:nvSpPr>
            <p:cNvPr id="113905" name="Rectangle 181"/>
            <p:cNvSpPr/>
            <p:nvPr/>
          </p:nvSpPr>
          <p:spPr>
            <a:xfrm rot="-5400000">
              <a:off x="1579" y="163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a:t>
              </a:r>
              <a:endParaRPr lang="en-US" altLang="zh-CN" sz="1800" dirty="0"/>
            </a:p>
          </p:txBody>
        </p:sp>
        <p:sp>
          <p:nvSpPr>
            <p:cNvPr id="113906" name="Rectangle 182"/>
            <p:cNvSpPr/>
            <p:nvPr/>
          </p:nvSpPr>
          <p:spPr>
            <a:xfrm rot="-5400000">
              <a:off x="1579" y="157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907" name="Rectangle 183"/>
            <p:cNvSpPr/>
            <p:nvPr/>
          </p:nvSpPr>
          <p:spPr>
            <a:xfrm rot="-5400000">
              <a:off x="1579" y="1522"/>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908" name="Rectangle 184"/>
            <p:cNvSpPr/>
            <p:nvPr/>
          </p:nvSpPr>
          <p:spPr>
            <a:xfrm rot="-5400000">
              <a:off x="1579" y="146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_</a:t>
              </a:r>
              <a:endParaRPr lang="en-US" altLang="zh-CN" sz="1800" dirty="0"/>
            </a:p>
          </p:txBody>
        </p:sp>
        <p:sp>
          <p:nvSpPr>
            <p:cNvPr id="113909" name="Rectangle 185"/>
            <p:cNvSpPr/>
            <p:nvPr/>
          </p:nvSpPr>
          <p:spPr>
            <a:xfrm rot="-5400000">
              <a:off x="1579" y="140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B</a:t>
              </a:r>
              <a:endParaRPr lang="en-US" altLang="zh-CN" sz="1800" dirty="0"/>
            </a:p>
          </p:txBody>
        </p:sp>
        <p:sp>
          <p:nvSpPr>
            <p:cNvPr id="113910" name="Rectangle 186"/>
            <p:cNvSpPr/>
            <p:nvPr/>
          </p:nvSpPr>
          <p:spPr>
            <a:xfrm rot="-5400000">
              <a:off x="1579" y="135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U</a:t>
              </a:r>
              <a:endParaRPr lang="en-US" altLang="zh-CN" sz="1800" dirty="0"/>
            </a:p>
          </p:txBody>
        </p:sp>
        <p:sp>
          <p:nvSpPr>
            <p:cNvPr id="113911" name="Rectangle 187"/>
            <p:cNvSpPr/>
            <p:nvPr/>
          </p:nvSpPr>
          <p:spPr>
            <a:xfrm rot="-5400000">
              <a:off x="1579" y="1293"/>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912" name="Rectangle 188"/>
            <p:cNvSpPr/>
            <p:nvPr/>
          </p:nvSpPr>
          <p:spPr>
            <a:xfrm rot="-5400000">
              <a:off x="1322" y="161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913" name="Rectangle 189"/>
            <p:cNvSpPr/>
            <p:nvPr/>
          </p:nvSpPr>
          <p:spPr>
            <a:xfrm rot="-5400000">
              <a:off x="1322" y="156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914" name="Rectangle 190"/>
            <p:cNvSpPr/>
            <p:nvPr/>
          </p:nvSpPr>
          <p:spPr>
            <a:xfrm rot="-5400000">
              <a:off x="1322" y="150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W</a:t>
              </a:r>
              <a:endParaRPr lang="en-US" altLang="zh-CN" sz="1800" dirty="0"/>
            </a:p>
          </p:txBody>
        </p:sp>
        <p:sp>
          <p:nvSpPr>
            <p:cNvPr id="113915" name="Rectangle 191"/>
            <p:cNvSpPr/>
            <p:nvPr/>
          </p:nvSpPr>
          <p:spPr>
            <a:xfrm rot="-5400000">
              <a:off x="1450" y="161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C</a:t>
              </a:r>
              <a:endParaRPr lang="en-US" altLang="zh-CN" sz="1800" dirty="0"/>
            </a:p>
          </p:txBody>
        </p:sp>
        <p:sp>
          <p:nvSpPr>
            <p:cNvPr id="113916" name="Rectangle 192"/>
            <p:cNvSpPr/>
            <p:nvPr/>
          </p:nvSpPr>
          <p:spPr>
            <a:xfrm rot="-5400000">
              <a:off x="1450" y="155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E</a:t>
              </a:r>
              <a:endParaRPr lang="en-US" altLang="zh-CN" sz="1800" dirty="0"/>
            </a:p>
          </p:txBody>
        </p:sp>
        <p:sp>
          <p:nvSpPr>
            <p:cNvPr id="113917" name="Rectangle 193"/>
            <p:cNvSpPr/>
            <p:nvPr/>
          </p:nvSpPr>
          <p:spPr>
            <a:xfrm rot="-5400000">
              <a:off x="1450" y="1500"/>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918" name="Rectangle 194"/>
            <p:cNvSpPr/>
            <p:nvPr/>
          </p:nvSpPr>
          <p:spPr>
            <a:xfrm rot="-5400000">
              <a:off x="1450" y="1443"/>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a:t>
              </a:r>
              <a:endParaRPr lang="en-US" altLang="zh-CN" sz="1800" dirty="0"/>
            </a:p>
          </p:txBody>
        </p:sp>
        <p:sp>
          <p:nvSpPr>
            <p:cNvPr id="113919" name="Rectangle 195"/>
            <p:cNvSpPr/>
            <p:nvPr/>
          </p:nvSpPr>
          <p:spPr>
            <a:xfrm rot="-5400000">
              <a:off x="1195" y="161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W</a:t>
              </a:r>
              <a:endParaRPr lang="en-US" altLang="zh-CN" sz="1800" dirty="0"/>
            </a:p>
          </p:txBody>
        </p:sp>
        <p:sp>
          <p:nvSpPr>
            <p:cNvPr id="113920" name="Rectangle 196"/>
            <p:cNvSpPr/>
            <p:nvPr/>
          </p:nvSpPr>
          <p:spPr>
            <a:xfrm rot="-5400000">
              <a:off x="1195" y="156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921" name="Rectangle 197"/>
            <p:cNvSpPr/>
            <p:nvPr/>
          </p:nvSpPr>
          <p:spPr>
            <a:xfrm rot="-5400000">
              <a:off x="1195" y="150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922" name="Rectangle 198"/>
            <p:cNvSpPr/>
            <p:nvPr/>
          </p:nvSpPr>
          <p:spPr>
            <a:xfrm rot="-5400000">
              <a:off x="1081" y="1627"/>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L</a:t>
              </a:r>
              <a:endParaRPr lang="en-US" altLang="zh-CN" sz="1800" dirty="0"/>
            </a:p>
          </p:txBody>
        </p:sp>
        <p:sp>
          <p:nvSpPr>
            <p:cNvPr id="113923" name="Rectangle 199"/>
            <p:cNvSpPr/>
            <p:nvPr/>
          </p:nvSpPr>
          <p:spPr>
            <a:xfrm rot="-5400000">
              <a:off x="1081" y="156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924" name="Rectangle 200"/>
            <p:cNvSpPr/>
            <p:nvPr/>
          </p:nvSpPr>
          <p:spPr>
            <a:xfrm rot="-5400000">
              <a:off x="1081" y="1513"/>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D</a:t>
              </a:r>
              <a:endParaRPr lang="en-US" altLang="zh-CN" sz="1800" dirty="0"/>
            </a:p>
          </p:txBody>
        </p:sp>
        <p:sp>
          <p:nvSpPr>
            <p:cNvPr id="113925" name="Rectangle 201"/>
            <p:cNvSpPr/>
            <p:nvPr/>
          </p:nvSpPr>
          <p:spPr>
            <a:xfrm rot="-5400000">
              <a:off x="1081" y="1456"/>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R</a:t>
              </a:r>
              <a:endParaRPr lang="en-US" altLang="zh-CN" sz="1800" dirty="0"/>
            </a:p>
          </p:txBody>
        </p:sp>
        <p:sp>
          <p:nvSpPr>
            <p:cNvPr id="113926" name="Rectangle 202"/>
            <p:cNvSpPr/>
            <p:nvPr/>
          </p:nvSpPr>
          <p:spPr>
            <a:xfrm rot="-5400000">
              <a:off x="1081" y="1398"/>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a:t>
              </a:r>
              <a:endParaRPr lang="en-US" altLang="zh-CN" sz="1800" dirty="0"/>
            </a:p>
          </p:txBody>
        </p:sp>
        <p:sp>
          <p:nvSpPr>
            <p:cNvPr id="113927" name="Rectangle 203"/>
            <p:cNvSpPr/>
            <p:nvPr/>
          </p:nvSpPr>
          <p:spPr>
            <a:xfrm rot="-5400000">
              <a:off x="937" y="155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M</a:t>
              </a:r>
              <a:endParaRPr lang="en-US" altLang="zh-CN" sz="1800" dirty="0"/>
            </a:p>
          </p:txBody>
        </p:sp>
        <p:sp>
          <p:nvSpPr>
            <p:cNvPr id="113928" name="Rectangle 204"/>
            <p:cNvSpPr/>
            <p:nvPr/>
          </p:nvSpPr>
          <p:spPr>
            <a:xfrm rot="-5400000">
              <a:off x="937" y="150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a:t>
              </a:r>
              <a:endParaRPr lang="en-US" altLang="zh-CN" sz="1800" dirty="0"/>
            </a:p>
          </p:txBody>
        </p:sp>
        <p:sp>
          <p:nvSpPr>
            <p:cNvPr id="113929" name="Rectangle 205"/>
            <p:cNvSpPr/>
            <p:nvPr/>
          </p:nvSpPr>
          <p:spPr>
            <a:xfrm rot="-5400000">
              <a:off x="810" y="155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grpSp>
      <p:sp>
        <p:nvSpPr>
          <p:cNvPr id="113670" name="Rectangle 206"/>
          <p:cNvSpPr/>
          <p:nvPr/>
        </p:nvSpPr>
        <p:spPr>
          <a:xfrm rot="-5400000">
            <a:off x="1370013" y="3824288"/>
            <a:ext cx="889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0</a:t>
            </a:r>
            <a:endParaRPr lang="en-US" altLang="zh-CN" sz="1800" dirty="0"/>
          </a:p>
        </p:txBody>
      </p:sp>
      <p:sp>
        <p:nvSpPr>
          <p:cNvPr id="113671" name="Rectangle 207"/>
          <p:cNvSpPr/>
          <p:nvPr/>
        </p:nvSpPr>
        <p:spPr>
          <a:xfrm rot="-5400000">
            <a:off x="1165225" y="3916363"/>
            <a:ext cx="889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672" name="Rectangle 208"/>
          <p:cNvSpPr/>
          <p:nvPr/>
        </p:nvSpPr>
        <p:spPr>
          <a:xfrm rot="-5400000">
            <a:off x="1165225" y="3824288"/>
            <a:ext cx="889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a:t>
            </a:r>
            <a:endParaRPr lang="en-US" altLang="zh-CN" sz="1800" dirty="0"/>
          </a:p>
        </p:txBody>
      </p:sp>
      <p:sp>
        <p:nvSpPr>
          <p:cNvPr id="113673" name="Rectangle 209"/>
          <p:cNvSpPr/>
          <p:nvPr/>
        </p:nvSpPr>
        <p:spPr>
          <a:xfrm rot="-5400000">
            <a:off x="962025" y="3916363"/>
            <a:ext cx="889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S</a:t>
            </a:r>
            <a:endParaRPr lang="en-US" altLang="zh-CN" sz="1800" dirty="0"/>
          </a:p>
        </p:txBody>
      </p:sp>
      <p:sp>
        <p:nvSpPr>
          <p:cNvPr id="113674" name="Rectangle 210"/>
          <p:cNvSpPr/>
          <p:nvPr/>
        </p:nvSpPr>
        <p:spPr>
          <a:xfrm rot="-5400000">
            <a:off x="962025" y="3824288"/>
            <a:ext cx="889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a:t>
            </a:r>
            <a:endParaRPr lang="en-US" altLang="zh-CN" sz="1800" dirty="0"/>
          </a:p>
        </p:txBody>
      </p:sp>
      <p:sp>
        <p:nvSpPr>
          <p:cNvPr id="113675" name="Line 211"/>
          <p:cNvSpPr/>
          <p:nvPr/>
        </p:nvSpPr>
        <p:spPr>
          <a:xfrm>
            <a:off x="5837238" y="4637088"/>
            <a:ext cx="1587" cy="407987"/>
          </a:xfrm>
          <a:prstGeom prst="line">
            <a:avLst/>
          </a:prstGeom>
          <a:ln w="28575" cap="flat" cmpd="sng">
            <a:solidFill>
              <a:srgbClr val="000000"/>
            </a:solidFill>
            <a:prstDash val="solid"/>
            <a:headEnd type="none" w="med" len="med"/>
            <a:tailEnd type="none" w="med" len="med"/>
          </a:ln>
        </p:spPr>
      </p:sp>
      <p:sp>
        <p:nvSpPr>
          <p:cNvPr id="113676" name="Line 212"/>
          <p:cNvSpPr/>
          <p:nvPr/>
        </p:nvSpPr>
        <p:spPr>
          <a:xfrm>
            <a:off x="5583238" y="4637088"/>
            <a:ext cx="1587" cy="407987"/>
          </a:xfrm>
          <a:prstGeom prst="line">
            <a:avLst/>
          </a:prstGeom>
          <a:ln w="4763" cap="flat" cmpd="sng">
            <a:solidFill>
              <a:srgbClr val="000000"/>
            </a:solidFill>
            <a:prstDash val="solid"/>
            <a:headEnd type="none" w="med" len="med"/>
            <a:tailEnd type="none" w="med" len="med"/>
          </a:ln>
        </p:spPr>
      </p:sp>
      <p:sp>
        <p:nvSpPr>
          <p:cNvPr id="113677" name="Rectangle 213"/>
          <p:cNvSpPr/>
          <p:nvPr/>
        </p:nvSpPr>
        <p:spPr>
          <a:xfrm>
            <a:off x="56197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11</a:t>
            </a:r>
            <a:endParaRPr lang="en-US" altLang="zh-CN" sz="1800" dirty="0"/>
          </a:p>
        </p:txBody>
      </p:sp>
      <p:sp>
        <p:nvSpPr>
          <p:cNvPr id="113678" name="Line 214"/>
          <p:cNvSpPr/>
          <p:nvPr/>
        </p:nvSpPr>
        <p:spPr>
          <a:xfrm>
            <a:off x="5378450" y="4637088"/>
            <a:ext cx="1588" cy="407987"/>
          </a:xfrm>
          <a:prstGeom prst="line">
            <a:avLst/>
          </a:prstGeom>
          <a:ln w="4763" cap="flat" cmpd="sng">
            <a:solidFill>
              <a:srgbClr val="000000"/>
            </a:solidFill>
            <a:prstDash val="solid"/>
            <a:headEnd type="none" w="med" len="med"/>
            <a:tailEnd type="none" w="med" len="med"/>
          </a:ln>
        </p:spPr>
      </p:sp>
      <p:sp>
        <p:nvSpPr>
          <p:cNvPr id="113679" name="Line 215"/>
          <p:cNvSpPr/>
          <p:nvPr/>
        </p:nvSpPr>
        <p:spPr>
          <a:xfrm>
            <a:off x="5176838" y="4637088"/>
            <a:ext cx="1587" cy="407987"/>
          </a:xfrm>
          <a:prstGeom prst="line">
            <a:avLst/>
          </a:prstGeom>
          <a:ln w="4763" cap="flat" cmpd="sng">
            <a:solidFill>
              <a:srgbClr val="000000"/>
            </a:solidFill>
            <a:prstDash val="solid"/>
            <a:headEnd type="none" w="med" len="med"/>
            <a:tailEnd type="none" w="med" len="med"/>
          </a:ln>
        </p:spPr>
      </p:sp>
      <p:sp>
        <p:nvSpPr>
          <p:cNvPr id="113680" name="Line 216"/>
          <p:cNvSpPr/>
          <p:nvPr/>
        </p:nvSpPr>
        <p:spPr>
          <a:xfrm>
            <a:off x="4972050" y="4637088"/>
            <a:ext cx="1588" cy="407987"/>
          </a:xfrm>
          <a:prstGeom prst="line">
            <a:avLst/>
          </a:prstGeom>
          <a:ln w="4763" cap="flat" cmpd="sng">
            <a:solidFill>
              <a:srgbClr val="000000"/>
            </a:solidFill>
            <a:prstDash val="solid"/>
            <a:headEnd type="none" w="med" len="med"/>
            <a:tailEnd type="none" w="med" len="med"/>
          </a:ln>
        </p:spPr>
      </p:sp>
      <p:sp>
        <p:nvSpPr>
          <p:cNvPr id="113681" name="Line 217"/>
          <p:cNvSpPr/>
          <p:nvPr/>
        </p:nvSpPr>
        <p:spPr>
          <a:xfrm>
            <a:off x="4768850" y="4637088"/>
            <a:ext cx="1588" cy="407987"/>
          </a:xfrm>
          <a:prstGeom prst="line">
            <a:avLst/>
          </a:prstGeom>
          <a:ln w="4763" cap="flat" cmpd="sng">
            <a:solidFill>
              <a:srgbClr val="000000"/>
            </a:solidFill>
            <a:prstDash val="solid"/>
            <a:headEnd type="none" w="med" len="med"/>
            <a:tailEnd type="none" w="med" len="med"/>
          </a:ln>
        </p:spPr>
      </p:sp>
      <p:sp>
        <p:nvSpPr>
          <p:cNvPr id="113682" name="Line 218"/>
          <p:cNvSpPr/>
          <p:nvPr/>
        </p:nvSpPr>
        <p:spPr>
          <a:xfrm>
            <a:off x="4567238" y="4637088"/>
            <a:ext cx="1587" cy="407987"/>
          </a:xfrm>
          <a:prstGeom prst="line">
            <a:avLst/>
          </a:prstGeom>
          <a:ln w="4763" cap="flat" cmpd="sng">
            <a:solidFill>
              <a:srgbClr val="000000"/>
            </a:solidFill>
            <a:prstDash val="solid"/>
            <a:headEnd type="none" w="med" len="med"/>
            <a:tailEnd type="none" w="med" len="med"/>
          </a:ln>
        </p:spPr>
      </p:sp>
      <p:sp>
        <p:nvSpPr>
          <p:cNvPr id="113683" name="Line 219"/>
          <p:cNvSpPr/>
          <p:nvPr/>
        </p:nvSpPr>
        <p:spPr>
          <a:xfrm>
            <a:off x="4362450" y="4637088"/>
            <a:ext cx="1588" cy="407987"/>
          </a:xfrm>
          <a:prstGeom prst="line">
            <a:avLst/>
          </a:prstGeom>
          <a:ln w="4763" cap="flat" cmpd="sng">
            <a:solidFill>
              <a:srgbClr val="000000"/>
            </a:solidFill>
            <a:prstDash val="solid"/>
            <a:headEnd type="none" w="med" len="med"/>
            <a:tailEnd type="none" w="med" len="med"/>
          </a:ln>
        </p:spPr>
      </p:sp>
      <p:sp>
        <p:nvSpPr>
          <p:cNvPr id="113684" name="Line 220"/>
          <p:cNvSpPr/>
          <p:nvPr/>
        </p:nvSpPr>
        <p:spPr>
          <a:xfrm>
            <a:off x="4160838" y="4637088"/>
            <a:ext cx="1587" cy="407987"/>
          </a:xfrm>
          <a:prstGeom prst="line">
            <a:avLst/>
          </a:prstGeom>
          <a:ln w="4763" cap="flat" cmpd="sng">
            <a:solidFill>
              <a:srgbClr val="000000"/>
            </a:solidFill>
            <a:prstDash val="solid"/>
            <a:headEnd type="none" w="med" len="med"/>
            <a:tailEnd type="none" w="med" len="med"/>
          </a:ln>
        </p:spPr>
      </p:sp>
      <p:sp>
        <p:nvSpPr>
          <p:cNvPr id="113685" name="Line 221"/>
          <p:cNvSpPr/>
          <p:nvPr/>
        </p:nvSpPr>
        <p:spPr>
          <a:xfrm>
            <a:off x="3957638" y="4637088"/>
            <a:ext cx="1587" cy="407987"/>
          </a:xfrm>
          <a:prstGeom prst="line">
            <a:avLst/>
          </a:prstGeom>
          <a:ln w="4763" cap="flat" cmpd="sng">
            <a:solidFill>
              <a:srgbClr val="000000"/>
            </a:solidFill>
            <a:prstDash val="solid"/>
            <a:headEnd type="none" w="med" len="med"/>
            <a:tailEnd type="none" w="med" len="med"/>
          </a:ln>
        </p:spPr>
      </p:sp>
      <p:sp>
        <p:nvSpPr>
          <p:cNvPr id="113686" name="Line 222"/>
          <p:cNvSpPr/>
          <p:nvPr/>
        </p:nvSpPr>
        <p:spPr>
          <a:xfrm>
            <a:off x="3752850" y="4637088"/>
            <a:ext cx="1588" cy="407987"/>
          </a:xfrm>
          <a:prstGeom prst="line">
            <a:avLst/>
          </a:prstGeom>
          <a:ln w="4763" cap="flat" cmpd="sng">
            <a:solidFill>
              <a:srgbClr val="000000"/>
            </a:solidFill>
            <a:prstDash val="solid"/>
            <a:headEnd type="none" w="med" len="med"/>
            <a:tailEnd type="none" w="med" len="med"/>
          </a:ln>
        </p:spPr>
      </p:sp>
      <p:sp>
        <p:nvSpPr>
          <p:cNvPr id="113687" name="Line 223"/>
          <p:cNvSpPr/>
          <p:nvPr/>
        </p:nvSpPr>
        <p:spPr>
          <a:xfrm>
            <a:off x="3551238" y="4637088"/>
            <a:ext cx="1587" cy="407987"/>
          </a:xfrm>
          <a:prstGeom prst="line">
            <a:avLst/>
          </a:prstGeom>
          <a:ln w="4763" cap="flat" cmpd="sng">
            <a:solidFill>
              <a:srgbClr val="000000"/>
            </a:solidFill>
            <a:prstDash val="solid"/>
            <a:headEnd type="none" w="med" len="med"/>
            <a:tailEnd type="none" w="med" len="med"/>
          </a:ln>
        </p:spPr>
      </p:sp>
      <p:sp>
        <p:nvSpPr>
          <p:cNvPr id="113688" name="Line 224"/>
          <p:cNvSpPr/>
          <p:nvPr/>
        </p:nvSpPr>
        <p:spPr>
          <a:xfrm>
            <a:off x="3346450" y="4637088"/>
            <a:ext cx="1588" cy="407987"/>
          </a:xfrm>
          <a:prstGeom prst="line">
            <a:avLst/>
          </a:prstGeom>
          <a:ln w="4763" cap="flat" cmpd="sng">
            <a:solidFill>
              <a:srgbClr val="000000"/>
            </a:solidFill>
            <a:prstDash val="solid"/>
            <a:headEnd type="none" w="med" len="med"/>
            <a:tailEnd type="none" w="med" len="med"/>
          </a:ln>
        </p:spPr>
      </p:sp>
      <p:sp>
        <p:nvSpPr>
          <p:cNvPr id="113689" name="Line 225"/>
          <p:cNvSpPr/>
          <p:nvPr/>
        </p:nvSpPr>
        <p:spPr>
          <a:xfrm>
            <a:off x="3143250" y="4637088"/>
            <a:ext cx="1588" cy="407987"/>
          </a:xfrm>
          <a:prstGeom prst="line">
            <a:avLst/>
          </a:prstGeom>
          <a:ln w="4763" cap="flat" cmpd="sng">
            <a:solidFill>
              <a:srgbClr val="000000"/>
            </a:solidFill>
            <a:prstDash val="solid"/>
            <a:headEnd type="none" w="med" len="med"/>
            <a:tailEnd type="none" w="med" len="med"/>
          </a:ln>
        </p:spPr>
      </p:sp>
      <p:sp>
        <p:nvSpPr>
          <p:cNvPr id="113690" name="Line 226"/>
          <p:cNvSpPr/>
          <p:nvPr/>
        </p:nvSpPr>
        <p:spPr>
          <a:xfrm>
            <a:off x="2941638" y="4637088"/>
            <a:ext cx="1587" cy="407987"/>
          </a:xfrm>
          <a:prstGeom prst="line">
            <a:avLst/>
          </a:prstGeom>
          <a:ln w="4763" cap="flat" cmpd="sng">
            <a:solidFill>
              <a:srgbClr val="000000"/>
            </a:solidFill>
            <a:prstDash val="solid"/>
            <a:headEnd type="none" w="med" len="med"/>
            <a:tailEnd type="none" w="med" len="med"/>
          </a:ln>
        </p:spPr>
      </p:sp>
      <p:sp>
        <p:nvSpPr>
          <p:cNvPr id="113691" name="Line 227"/>
          <p:cNvSpPr/>
          <p:nvPr/>
        </p:nvSpPr>
        <p:spPr>
          <a:xfrm>
            <a:off x="2736850" y="4637088"/>
            <a:ext cx="1588" cy="407987"/>
          </a:xfrm>
          <a:prstGeom prst="line">
            <a:avLst/>
          </a:prstGeom>
          <a:ln w="4763" cap="flat" cmpd="sng">
            <a:solidFill>
              <a:srgbClr val="000000"/>
            </a:solidFill>
            <a:prstDash val="solid"/>
            <a:headEnd type="none" w="med" len="med"/>
            <a:tailEnd type="none" w="med" len="med"/>
          </a:ln>
        </p:spPr>
      </p:sp>
      <p:sp>
        <p:nvSpPr>
          <p:cNvPr id="113692" name="Line 228"/>
          <p:cNvSpPr/>
          <p:nvPr/>
        </p:nvSpPr>
        <p:spPr>
          <a:xfrm>
            <a:off x="2533650" y="4637088"/>
            <a:ext cx="1588" cy="407987"/>
          </a:xfrm>
          <a:prstGeom prst="line">
            <a:avLst/>
          </a:prstGeom>
          <a:ln w="4763" cap="flat" cmpd="sng">
            <a:solidFill>
              <a:srgbClr val="000000"/>
            </a:solidFill>
            <a:prstDash val="solid"/>
            <a:headEnd type="none" w="med" len="med"/>
            <a:tailEnd type="none" w="med" len="med"/>
          </a:ln>
        </p:spPr>
      </p:sp>
      <p:sp>
        <p:nvSpPr>
          <p:cNvPr id="113693" name="Line 229"/>
          <p:cNvSpPr/>
          <p:nvPr/>
        </p:nvSpPr>
        <p:spPr>
          <a:xfrm>
            <a:off x="2332038" y="4637088"/>
            <a:ext cx="1587" cy="407987"/>
          </a:xfrm>
          <a:prstGeom prst="line">
            <a:avLst/>
          </a:prstGeom>
          <a:ln w="4763" cap="flat" cmpd="sng">
            <a:solidFill>
              <a:srgbClr val="000000"/>
            </a:solidFill>
            <a:prstDash val="solid"/>
            <a:headEnd type="none" w="med" len="med"/>
            <a:tailEnd type="none" w="med" len="med"/>
          </a:ln>
        </p:spPr>
      </p:sp>
      <p:sp>
        <p:nvSpPr>
          <p:cNvPr id="113694" name="Line 230"/>
          <p:cNvSpPr/>
          <p:nvPr/>
        </p:nvSpPr>
        <p:spPr>
          <a:xfrm>
            <a:off x="2127250" y="4637088"/>
            <a:ext cx="1588" cy="407987"/>
          </a:xfrm>
          <a:prstGeom prst="line">
            <a:avLst/>
          </a:prstGeom>
          <a:ln w="4763" cap="flat" cmpd="sng">
            <a:solidFill>
              <a:srgbClr val="000000"/>
            </a:solidFill>
            <a:prstDash val="solid"/>
            <a:headEnd type="none" w="med" len="med"/>
            <a:tailEnd type="none" w="med" len="med"/>
          </a:ln>
        </p:spPr>
      </p:sp>
      <p:sp>
        <p:nvSpPr>
          <p:cNvPr id="113695" name="Line 231"/>
          <p:cNvSpPr/>
          <p:nvPr/>
        </p:nvSpPr>
        <p:spPr>
          <a:xfrm>
            <a:off x="1925638" y="4637088"/>
            <a:ext cx="1587" cy="407987"/>
          </a:xfrm>
          <a:prstGeom prst="line">
            <a:avLst/>
          </a:prstGeom>
          <a:ln w="4763" cap="flat" cmpd="sng">
            <a:solidFill>
              <a:srgbClr val="000000"/>
            </a:solidFill>
            <a:prstDash val="solid"/>
            <a:headEnd type="none" w="med" len="med"/>
            <a:tailEnd type="none" w="med" len="med"/>
          </a:ln>
        </p:spPr>
      </p:sp>
      <p:sp>
        <p:nvSpPr>
          <p:cNvPr id="113696" name="Line 232"/>
          <p:cNvSpPr/>
          <p:nvPr/>
        </p:nvSpPr>
        <p:spPr>
          <a:xfrm>
            <a:off x="1719263" y="4637088"/>
            <a:ext cx="1587" cy="407987"/>
          </a:xfrm>
          <a:prstGeom prst="line">
            <a:avLst/>
          </a:prstGeom>
          <a:ln w="4763" cap="flat" cmpd="sng">
            <a:solidFill>
              <a:srgbClr val="000000"/>
            </a:solidFill>
            <a:prstDash val="solid"/>
            <a:headEnd type="none" w="med" len="med"/>
            <a:tailEnd type="none" w="med" len="med"/>
          </a:ln>
        </p:spPr>
      </p:sp>
      <p:sp>
        <p:nvSpPr>
          <p:cNvPr id="113697" name="Line 233"/>
          <p:cNvSpPr/>
          <p:nvPr/>
        </p:nvSpPr>
        <p:spPr>
          <a:xfrm>
            <a:off x="1517650" y="4637088"/>
            <a:ext cx="1588" cy="407987"/>
          </a:xfrm>
          <a:prstGeom prst="line">
            <a:avLst/>
          </a:prstGeom>
          <a:ln w="4763" cap="flat" cmpd="sng">
            <a:solidFill>
              <a:srgbClr val="000000"/>
            </a:solidFill>
            <a:prstDash val="solid"/>
            <a:headEnd type="none" w="med" len="med"/>
            <a:tailEnd type="none" w="med" len="med"/>
          </a:ln>
        </p:spPr>
      </p:sp>
      <p:sp>
        <p:nvSpPr>
          <p:cNvPr id="113698" name="Line 234"/>
          <p:cNvSpPr/>
          <p:nvPr/>
        </p:nvSpPr>
        <p:spPr>
          <a:xfrm>
            <a:off x="1316038" y="4637088"/>
            <a:ext cx="1587" cy="407987"/>
          </a:xfrm>
          <a:prstGeom prst="line">
            <a:avLst/>
          </a:prstGeom>
          <a:ln w="4763" cap="flat" cmpd="sng">
            <a:solidFill>
              <a:srgbClr val="000000"/>
            </a:solidFill>
            <a:prstDash val="solid"/>
            <a:headEnd type="none" w="med" len="med"/>
            <a:tailEnd type="none" w="med" len="med"/>
          </a:ln>
        </p:spPr>
      </p:sp>
      <p:sp>
        <p:nvSpPr>
          <p:cNvPr id="113699" name="Line 235"/>
          <p:cNvSpPr/>
          <p:nvPr/>
        </p:nvSpPr>
        <p:spPr>
          <a:xfrm>
            <a:off x="1111250" y="4637088"/>
            <a:ext cx="1588" cy="407987"/>
          </a:xfrm>
          <a:prstGeom prst="line">
            <a:avLst/>
          </a:prstGeom>
          <a:ln w="4763" cap="flat" cmpd="sng">
            <a:solidFill>
              <a:srgbClr val="000000"/>
            </a:solidFill>
            <a:prstDash val="solid"/>
            <a:headEnd type="none" w="med" len="med"/>
            <a:tailEnd type="none" w="med" len="med"/>
          </a:ln>
        </p:spPr>
      </p:sp>
      <p:sp>
        <p:nvSpPr>
          <p:cNvPr id="113700" name="Rectangle 236"/>
          <p:cNvSpPr/>
          <p:nvPr/>
        </p:nvSpPr>
        <p:spPr>
          <a:xfrm>
            <a:off x="53911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12</a:t>
            </a:r>
            <a:endParaRPr lang="en-US" altLang="zh-CN" sz="1800" dirty="0"/>
          </a:p>
        </p:txBody>
      </p:sp>
      <p:sp>
        <p:nvSpPr>
          <p:cNvPr id="113701" name="Rectangle 237"/>
          <p:cNvSpPr/>
          <p:nvPr/>
        </p:nvSpPr>
        <p:spPr>
          <a:xfrm>
            <a:off x="51863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13</a:t>
            </a:r>
            <a:endParaRPr lang="en-US" altLang="zh-CN" sz="1800" dirty="0"/>
          </a:p>
        </p:txBody>
      </p:sp>
      <p:sp>
        <p:nvSpPr>
          <p:cNvPr id="113702" name="Rectangle 238"/>
          <p:cNvSpPr/>
          <p:nvPr/>
        </p:nvSpPr>
        <p:spPr>
          <a:xfrm>
            <a:off x="49847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14</a:t>
            </a:r>
            <a:endParaRPr lang="en-US" altLang="zh-CN" sz="1800" dirty="0"/>
          </a:p>
        </p:txBody>
      </p:sp>
      <p:sp>
        <p:nvSpPr>
          <p:cNvPr id="113703" name="Rectangle 239"/>
          <p:cNvSpPr/>
          <p:nvPr/>
        </p:nvSpPr>
        <p:spPr>
          <a:xfrm>
            <a:off x="47799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15</a:t>
            </a:r>
            <a:endParaRPr lang="en-US" altLang="zh-CN" sz="1800" dirty="0"/>
          </a:p>
        </p:txBody>
      </p:sp>
      <p:sp>
        <p:nvSpPr>
          <p:cNvPr id="113704" name="Rectangle 240"/>
          <p:cNvSpPr/>
          <p:nvPr/>
        </p:nvSpPr>
        <p:spPr>
          <a:xfrm>
            <a:off x="45767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16</a:t>
            </a:r>
            <a:endParaRPr lang="en-US" altLang="zh-CN" sz="1800" dirty="0"/>
          </a:p>
        </p:txBody>
      </p:sp>
      <p:sp>
        <p:nvSpPr>
          <p:cNvPr id="113705" name="Rectangle 241"/>
          <p:cNvSpPr/>
          <p:nvPr/>
        </p:nvSpPr>
        <p:spPr>
          <a:xfrm>
            <a:off x="43751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17</a:t>
            </a:r>
            <a:endParaRPr lang="en-US" altLang="zh-CN" sz="1800" dirty="0"/>
          </a:p>
        </p:txBody>
      </p:sp>
      <p:sp>
        <p:nvSpPr>
          <p:cNvPr id="113706" name="Rectangle 242"/>
          <p:cNvSpPr/>
          <p:nvPr/>
        </p:nvSpPr>
        <p:spPr>
          <a:xfrm>
            <a:off x="41703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18</a:t>
            </a:r>
            <a:endParaRPr lang="en-US" altLang="zh-CN" sz="1800" dirty="0"/>
          </a:p>
        </p:txBody>
      </p:sp>
      <p:sp>
        <p:nvSpPr>
          <p:cNvPr id="113707" name="Rectangle 243"/>
          <p:cNvSpPr/>
          <p:nvPr/>
        </p:nvSpPr>
        <p:spPr>
          <a:xfrm>
            <a:off x="39687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19</a:t>
            </a:r>
            <a:endParaRPr lang="en-US" altLang="zh-CN" sz="1800" dirty="0"/>
          </a:p>
        </p:txBody>
      </p:sp>
      <p:sp>
        <p:nvSpPr>
          <p:cNvPr id="113708" name="Rectangle 244"/>
          <p:cNvSpPr/>
          <p:nvPr/>
        </p:nvSpPr>
        <p:spPr>
          <a:xfrm>
            <a:off x="3765550" y="47529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20</a:t>
            </a:r>
            <a:endParaRPr lang="en-US" altLang="zh-CN" sz="1800" dirty="0"/>
          </a:p>
        </p:txBody>
      </p:sp>
      <p:sp>
        <p:nvSpPr>
          <p:cNvPr id="113709" name="Rectangle 245"/>
          <p:cNvSpPr/>
          <p:nvPr/>
        </p:nvSpPr>
        <p:spPr>
          <a:xfrm>
            <a:off x="35607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21</a:t>
            </a:r>
            <a:endParaRPr lang="en-US" altLang="zh-CN" sz="1800" dirty="0"/>
          </a:p>
        </p:txBody>
      </p:sp>
      <p:sp>
        <p:nvSpPr>
          <p:cNvPr id="113710" name="Rectangle 246"/>
          <p:cNvSpPr/>
          <p:nvPr/>
        </p:nvSpPr>
        <p:spPr>
          <a:xfrm>
            <a:off x="33591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22</a:t>
            </a:r>
            <a:endParaRPr lang="en-US" altLang="zh-CN" sz="1800" dirty="0"/>
          </a:p>
        </p:txBody>
      </p:sp>
      <p:sp>
        <p:nvSpPr>
          <p:cNvPr id="113711" name="Rectangle 247"/>
          <p:cNvSpPr/>
          <p:nvPr/>
        </p:nvSpPr>
        <p:spPr>
          <a:xfrm>
            <a:off x="31543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23</a:t>
            </a:r>
            <a:endParaRPr lang="en-US" altLang="zh-CN" sz="1800" dirty="0"/>
          </a:p>
        </p:txBody>
      </p:sp>
      <p:sp>
        <p:nvSpPr>
          <p:cNvPr id="113712" name="Rectangle 248"/>
          <p:cNvSpPr/>
          <p:nvPr/>
        </p:nvSpPr>
        <p:spPr>
          <a:xfrm>
            <a:off x="29511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24</a:t>
            </a:r>
            <a:endParaRPr lang="en-US" altLang="zh-CN" sz="1800" dirty="0"/>
          </a:p>
        </p:txBody>
      </p:sp>
      <p:sp>
        <p:nvSpPr>
          <p:cNvPr id="113713" name="Rectangle 249"/>
          <p:cNvSpPr/>
          <p:nvPr/>
        </p:nvSpPr>
        <p:spPr>
          <a:xfrm>
            <a:off x="27495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25</a:t>
            </a:r>
            <a:endParaRPr lang="en-US" altLang="zh-CN" sz="1800" dirty="0"/>
          </a:p>
        </p:txBody>
      </p:sp>
      <p:sp>
        <p:nvSpPr>
          <p:cNvPr id="113714" name="Rectangle 250"/>
          <p:cNvSpPr/>
          <p:nvPr/>
        </p:nvSpPr>
        <p:spPr>
          <a:xfrm>
            <a:off x="25447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26</a:t>
            </a:r>
            <a:endParaRPr lang="en-US" altLang="zh-CN" sz="1800" dirty="0"/>
          </a:p>
        </p:txBody>
      </p:sp>
      <p:sp>
        <p:nvSpPr>
          <p:cNvPr id="113715" name="Rectangle 251"/>
          <p:cNvSpPr/>
          <p:nvPr/>
        </p:nvSpPr>
        <p:spPr>
          <a:xfrm>
            <a:off x="23415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27</a:t>
            </a:r>
            <a:endParaRPr lang="en-US" altLang="zh-CN" sz="1800" dirty="0"/>
          </a:p>
        </p:txBody>
      </p:sp>
      <p:sp>
        <p:nvSpPr>
          <p:cNvPr id="113716" name="Rectangle 252"/>
          <p:cNvSpPr/>
          <p:nvPr/>
        </p:nvSpPr>
        <p:spPr>
          <a:xfrm>
            <a:off x="21399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28</a:t>
            </a:r>
            <a:endParaRPr lang="en-US" altLang="zh-CN" sz="1800" dirty="0"/>
          </a:p>
        </p:txBody>
      </p:sp>
      <p:sp>
        <p:nvSpPr>
          <p:cNvPr id="113717" name="Rectangle 253"/>
          <p:cNvSpPr/>
          <p:nvPr/>
        </p:nvSpPr>
        <p:spPr>
          <a:xfrm>
            <a:off x="19351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29</a:t>
            </a:r>
            <a:endParaRPr lang="en-US" altLang="zh-CN" sz="1800" dirty="0"/>
          </a:p>
        </p:txBody>
      </p:sp>
      <p:sp>
        <p:nvSpPr>
          <p:cNvPr id="113718" name="Rectangle 254"/>
          <p:cNvSpPr/>
          <p:nvPr/>
        </p:nvSpPr>
        <p:spPr>
          <a:xfrm>
            <a:off x="17335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30</a:t>
            </a:r>
            <a:endParaRPr lang="en-US" altLang="zh-CN" sz="1800" dirty="0"/>
          </a:p>
        </p:txBody>
      </p:sp>
      <p:sp>
        <p:nvSpPr>
          <p:cNvPr id="113719" name="Rectangle 255"/>
          <p:cNvSpPr/>
          <p:nvPr/>
        </p:nvSpPr>
        <p:spPr>
          <a:xfrm>
            <a:off x="15287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31</a:t>
            </a:r>
            <a:endParaRPr lang="en-US" altLang="zh-CN" sz="1800" dirty="0"/>
          </a:p>
        </p:txBody>
      </p:sp>
      <p:sp>
        <p:nvSpPr>
          <p:cNvPr id="113720" name="Rectangle 256"/>
          <p:cNvSpPr/>
          <p:nvPr/>
        </p:nvSpPr>
        <p:spPr>
          <a:xfrm>
            <a:off x="13255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32</a:t>
            </a:r>
            <a:endParaRPr lang="en-US" altLang="zh-CN" sz="1800" dirty="0"/>
          </a:p>
        </p:txBody>
      </p:sp>
      <p:sp>
        <p:nvSpPr>
          <p:cNvPr id="113721" name="Rectangle 257"/>
          <p:cNvSpPr/>
          <p:nvPr/>
        </p:nvSpPr>
        <p:spPr>
          <a:xfrm>
            <a:off x="1123950"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33</a:t>
            </a:r>
            <a:endParaRPr lang="en-US" altLang="zh-CN" sz="1800" dirty="0"/>
          </a:p>
        </p:txBody>
      </p:sp>
      <p:sp>
        <p:nvSpPr>
          <p:cNvPr id="113722" name="Rectangle 258"/>
          <p:cNvSpPr/>
          <p:nvPr/>
        </p:nvSpPr>
        <p:spPr>
          <a:xfrm>
            <a:off x="9191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34</a:t>
            </a:r>
            <a:endParaRPr lang="en-US" altLang="zh-CN" sz="1800" dirty="0"/>
          </a:p>
        </p:txBody>
      </p:sp>
      <p:sp>
        <p:nvSpPr>
          <p:cNvPr id="113723" name="Rectangle 259"/>
          <p:cNvSpPr/>
          <p:nvPr/>
        </p:nvSpPr>
        <p:spPr>
          <a:xfrm>
            <a:off x="3257550" y="5391150"/>
            <a:ext cx="2019300" cy="3222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100"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微指令格式举例</a:t>
            </a:r>
            <a:endParaRPr lang="zh-CN" altLang="en-US" sz="1800" dirty="0"/>
          </a:p>
        </p:txBody>
      </p:sp>
      <p:sp>
        <p:nvSpPr>
          <p:cNvPr id="113724" name="Line 260"/>
          <p:cNvSpPr/>
          <p:nvPr/>
        </p:nvSpPr>
        <p:spPr>
          <a:xfrm>
            <a:off x="908050" y="4637088"/>
            <a:ext cx="1588" cy="407987"/>
          </a:xfrm>
          <a:prstGeom prst="line">
            <a:avLst/>
          </a:prstGeom>
          <a:ln w="4763" cap="flat" cmpd="sng">
            <a:solidFill>
              <a:srgbClr val="000000"/>
            </a:solidFill>
            <a:prstDash val="solid"/>
            <a:headEnd type="none" w="med" len="med"/>
            <a:tailEnd type="none" w="med" len="med"/>
          </a:ln>
        </p:spPr>
      </p:sp>
      <p:sp>
        <p:nvSpPr>
          <p:cNvPr id="113725" name="Rectangle 261"/>
          <p:cNvSpPr/>
          <p:nvPr/>
        </p:nvSpPr>
        <p:spPr>
          <a:xfrm>
            <a:off x="703263" y="4765675"/>
            <a:ext cx="1778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35</a:t>
            </a:r>
            <a:endParaRPr lang="en-US" altLang="zh-CN" sz="1800" dirty="0"/>
          </a:p>
        </p:txBody>
      </p:sp>
      <p:sp>
        <p:nvSpPr>
          <p:cNvPr id="113726" name="Line 262"/>
          <p:cNvSpPr/>
          <p:nvPr/>
        </p:nvSpPr>
        <p:spPr>
          <a:xfrm flipV="1">
            <a:off x="806450" y="4403725"/>
            <a:ext cx="1588" cy="233363"/>
          </a:xfrm>
          <a:prstGeom prst="line">
            <a:avLst/>
          </a:prstGeom>
          <a:ln w="4763" cap="flat" cmpd="sng">
            <a:solidFill>
              <a:srgbClr val="000000"/>
            </a:solidFill>
            <a:prstDash val="solid"/>
            <a:headEnd type="none" w="med" len="med"/>
            <a:tailEnd type="none" w="med" len="med"/>
          </a:ln>
        </p:spPr>
      </p:sp>
      <p:sp>
        <p:nvSpPr>
          <p:cNvPr id="113727" name="Freeform 263"/>
          <p:cNvSpPr/>
          <p:nvPr/>
        </p:nvSpPr>
        <p:spPr>
          <a:xfrm>
            <a:off x="744538" y="4232275"/>
            <a:ext cx="125412" cy="187325"/>
          </a:xfrm>
          <a:custGeom>
            <a:avLst/>
            <a:gdLst/>
            <a:ahLst/>
            <a:cxnLst>
              <a:cxn ang="0">
                <a:pos x="0" y="2147483646"/>
              </a:cxn>
              <a:cxn ang="0">
                <a:pos x="2147483646" y="0"/>
              </a:cxn>
              <a:cxn ang="0">
                <a:pos x="2147483646" y="2147483646"/>
              </a:cxn>
              <a:cxn ang="0">
                <a:pos x="0" y="2147483646"/>
              </a:cxn>
            </a:cxnLst>
            <a:pathLst>
              <a:path w="79" h="118">
                <a:moveTo>
                  <a:pt x="0" y="118"/>
                </a:moveTo>
                <a:lnTo>
                  <a:pt x="39" y="0"/>
                </a:lnTo>
                <a:lnTo>
                  <a:pt x="79" y="118"/>
                </a:lnTo>
                <a:lnTo>
                  <a:pt x="0" y="118"/>
                </a:lnTo>
                <a:close/>
              </a:path>
            </a:pathLst>
          </a:custGeom>
          <a:solidFill>
            <a:srgbClr val="000000">
              <a:alpha val="100000"/>
            </a:srgbClr>
          </a:solidFill>
          <a:ln w="9525">
            <a:noFill/>
          </a:ln>
        </p:spPr>
        <p:txBody>
          <a:bodyPr/>
          <a:p>
            <a:endParaRPr lang="zh-CN" altLang="en-US"/>
          </a:p>
        </p:txBody>
      </p:sp>
      <p:sp>
        <p:nvSpPr>
          <p:cNvPr id="113728" name="Rectangle 264"/>
          <p:cNvSpPr/>
          <p:nvPr/>
        </p:nvSpPr>
        <p:spPr>
          <a:xfrm rot="-5400000">
            <a:off x="782638" y="3929063"/>
            <a:ext cx="889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T</a:t>
            </a:r>
            <a:endParaRPr lang="en-US" altLang="zh-CN" sz="1800" dirty="0"/>
          </a:p>
        </p:txBody>
      </p:sp>
      <p:sp>
        <p:nvSpPr>
          <p:cNvPr id="113729" name="Rectangle 265"/>
          <p:cNvSpPr/>
          <p:nvPr/>
        </p:nvSpPr>
        <p:spPr>
          <a:xfrm rot="-5400000">
            <a:off x="782638" y="3836988"/>
            <a:ext cx="8890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400" dirty="0">
                <a:solidFill>
                  <a:srgbClr val="000000"/>
                </a:solidFill>
                <a:latin typeface="宋体" panose="02010600030101010101" pitchFamily="2" charset="-122"/>
              </a:rPr>
              <a:t>J</a:t>
            </a:r>
            <a:endParaRPr lang="en-US" altLang="zh-CN" sz="1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p:cNvSpPr>
          <p:nvPr>
            <p:ph idx="1"/>
          </p:nvPr>
        </p:nvSpPr>
        <p:spPr>
          <a:xfrm>
            <a:off x="457200" y="1268413"/>
            <a:ext cx="7859713" cy="4862512"/>
          </a:xfrm>
        </p:spPr>
        <p:txBody>
          <a:bodyPr vert="horz" wrap="square" lIns="91440" tIns="45720" rIns="91440" bIns="45720" anchor="t" anchorCtr="0"/>
          <a:p>
            <a:pPr>
              <a:lnSpc>
                <a:spcPct val="90000"/>
              </a:lnSpc>
              <a:buNone/>
            </a:pPr>
            <a:r>
              <a:rPr lang="zh-CN" altLang="en-US" dirty="0"/>
              <a:t>直接表示法特点：</a:t>
            </a:r>
            <a:endParaRPr lang="zh-CN" altLang="en-US" dirty="0"/>
          </a:p>
          <a:p>
            <a:pPr>
              <a:lnSpc>
                <a:spcPct val="90000"/>
              </a:lnSpc>
            </a:pPr>
            <a:r>
              <a:rPr lang="zh-CN" altLang="en-US" dirty="0"/>
              <a:t>这种方法结构简单，并行性强，操作速度快，但是微指令字太长，若微命令的总数为</a:t>
            </a:r>
            <a:r>
              <a:rPr lang="en-US" altLang="zh-CN" dirty="0"/>
              <a:t>N</a:t>
            </a:r>
            <a:r>
              <a:rPr lang="zh-CN" altLang="en-US" dirty="0"/>
              <a:t>个，则微指令字的操作控制字段就要有</a:t>
            </a:r>
            <a:r>
              <a:rPr lang="en-US" altLang="zh-CN" dirty="0"/>
              <a:t>N</a:t>
            </a:r>
            <a:r>
              <a:rPr lang="zh-CN" altLang="en-US" dirty="0"/>
              <a:t>位。</a:t>
            </a:r>
            <a:endParaRPr lang="zh-CN" altLang="en-US" dirty="0"/>
          </a:p>
          <a:p>
            <a:pPr>
              <a:lnSpc>
                <a:spcPct val="90000"/>
              </a:lnSpc>
            </a:pPr>
            <a:r>
              <a:rPr lang="zh-CN" altLang="en-US" dirty="0"/>
              <a:t>另外，在</a:t>
            </a:r>
            <a:r>
              <a:rPr lang="en-US" altLang="zh-CN" dirty="0"/>
              <a:t>N</a:t>
            </a:r>
            <a:r>
              <a:rPr lang="zh-CN" altLang="en-US" dirty="0"/>
              <a:t>个微命令中，有许多是互斥的，不允许并行操作，将它们安排在一条微指令中是毫无意义的，只会使信息的利用率下降。</a:t>
            </a:r>
            <a:endParaRPr lang="zh-CN" altLang="en-US" dirty="0"/>
          </a:p>
        </p:txBody>
      </p:sp>
      <p:sp>
        <p:nvSpPr>
          <p:cNvPr id="114691" name="Rectangle 3"/>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idx="1"/>
          </p:nvPr>
        </p:nvSpPr>
        <p:spPr>
          <a:xfrm>
            <a:off x="323850" y="1484313"/>
            <a:ext cx="8229600" cy="4411662"/>
          </a:xfrm>
        </p:spPr>
        <p:txBody>
          <a:bodyPr vert="horz" wrap="square" lIns="91440" tIns="45720" rIns="91440" bIns="45720" anchor="t" anchorCtr="0"/>
          <a:p>
            <a:pPr marL="840105" lvl="1" indent="-495300">
              <a:buNone/>
            </a:pPr>
            <a:r>
              <a:rPr lang="en-US" altLang="zh-CN" dirty="0"/>
              <a:t>2</a:t>
            </a:r>
            <a:r>
              <a:rPr lang="zh-CN" altLang="en-US" dirty="0"/>
              <a:t>、</a:t>
            </a:r>
            <a:r>
              <a:rPr lang="zh-CN" altLang="en-US" dirty="0">
                <a:solidFill>
                  <a:srgbClr val="FF3300"/>
                </a:solidFill>
              </a:rPr>
              <a:t>编码表示法</a:t>
            </a:r>
            <a:r>
              <a:rPr lang="zh-CN" altLang="en-US" dirty="0"/>
              <a:t>：将操作控制字段分为若干个小段，每段内采用最短编码法，段与段之间采用直接控制法。</a:t>
            </a:r>
            <a:endParaRPr lang="zh-CN" altLang="en-US" dirty="0"/>
          </a:p>
        </p:txBody>
      </p:sp>
      <p:pic>
        <p:nvPicPr>
          <p:cNvPr id="115715" name="Picture 3" descr="jxnr674"/>
          <p:cNvPicPr>
            <a:picLocks noChangeAspect="1"/>
          </p:cNvPicPr>
          <p:nvPr/>
        </p:nvPicPr>
        <p:blipFill>
          <a:blip r:embed="rId1"/>
          <a:stretch>
            <a:fillRect/>
          </a:stretch>
        </p:blipFill>
        <p:spPr>
          <a:xfrm>
            <a:off x="539750" y="2781300"/>
            <a:ext cx="7632700" cy="2376488"/>
          </a:xfrm>
          <a:prstGeom prst="rect">
            <a:avLst/>
          </a:prstGeom>
          <a:noFill/>
          <a:ln w="9525">
            <a:noFill/>
          </a:ln>
        </p:spPr>
      </p:pic>
      <p:sp>
        <p:nvSpPr>
          <p:cNvPr id="115716" name="Rectangle 4"/>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15717" name="Rectangle 5"/>
          <p:cNvSpPr/>
          <p:nvPr/>
        </p:nvSpPr>
        <p:spPr>
          <a:xfrm>
            <a:off x="755650" y="5516563"/>
            <a:ext cx="7777163" cy="676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lnSpc>
                <a:spcPct val="80000"/>
              </a:lnSpc>
              <a:buClr>
                <a:schemeClr val="tx2"/>
              </a:buClr>
              <a:buSzPct val="70000"/>
              <a:buNone/>
            </a:pPr>
            <a:r>
              <a:rPr lang="zh-CN" altLang="en-US" sz="2400" dirty="0"/>
              <a:t>编码表示法特点：可以避免互斥，使指令字大大缩短，但增加了译码电路，使微程序的执行速度减慢</a:t>
            </a:r>
            <a:endParaRPr lang="zh-CN" altLang="en-US"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p:cNvSpPr>
          <p:nvPr>
            <p:ph type="title"/>
          </p:nvPr>
        </p:nvSpPr>
        <p:spPr>
          <a:xfrm>
            <a:off x="468313" y="333375"/>
            <a:ext cx="7532687" cy="5207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16739" name="Rectangle 3"/>
          <p:cNvSpPr>
            <a:spLocks noGrp="1"/>
          </p:cNvSpPr>
          <p:nvPr>
            <p:ph idx="1"/>
          </p:nvPr>
        </p:nvSpPr>
        <p:spPr>
          <a:xfrm>
            <a:off x="971550" y="1341438"/>
            <a:ext cx="6985000" cy="4114800"/>
          </a:xfrm>
        </p:spPr>
        <p:txBody>
          <a:bodyPr vert="horz" wrap="square" lIns="91440" tIns="45720" rIns="91440" bIns="45720" anchor="t" anchorCtr="0"/>
          <a:p>
            <a:pPr marL="571500" indent="-571500">
              <a:buNone/>
            </a:pPr>
            <a:r>
              <a:rPr lang="en-US" altLang="zh-CN" sz="2600" dirty="0"/>
              <a:t>3</a:t>
            </a:r>
            <a:r>
              <a:rPr lang="zh-CN" altLang="en-US" sz="2600" dirty="0"/>
              <a:t>、</a:t>
            </a:r>
            <a:r>
              <a:rPr lang="zh-CN" altLang="en-US" sz="2600" dirty="0">
                <a:solidFill>
                  <a:srgbClr val="FF3300"/>
                </a:solidFill>
              </a:rPr>
              <a:t>混合编码法</a:t>
            </a:r>
            <a:r>
              <a:rPr lang="zh-CN" altLang="en-US" sz="2600" dirty="0"/>
              <a:t>：将前两种结合在一起，兼顾两者特点。</a:t>
            </a:r>
            <a:endParaRPr lang="en-US" altLang="zh-CN" sz="26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17763" name="Rectangle 3"/>
          <p:cNvSpPr>
            <a:spLocks noGrp="1"/>
          </p:cNvSpPr>
          <p:nvPr>
            <p:ph idx="1"/>
          </p:nvPr>
        </p:nvSpPr>
        <p:spPr>
          <a:xfrm>
            <a:off x="457200" y="908050"/>
            <a:ext cx="7715250" cy="4897438"/>
          </a:xfrm>
        </p:spPr>
        <p:txBody>
          <a:bodyPr vert="horz" wrap="square" lIns="91440" tIns="45720" rIns="91440" bIns="45720" anchor="t" anchorCtr="0"/>
          <a:p>
            <a:r>
              <a:rPr lang="zh-CN" altLang="en-US" sz="2400" dirty="0"/>
              <a:t>编码注意几点：字段编码法中操作控制字段并非是任意的，必须要遵循如下的原则：</a:t>
            </a:r>
            <a:endParaRPr lang="zh-CN" altLang="en-US" sz="2400" dirty="0"/>
          </a:p>
          <a:p>
            <a:pPr lvl="1">
              <a:buNone/>
            </a:pPr>
            <a:r>
              <a:rPr lang="zh-CN" altLang="en-US" sz="2400" dirty="0"/>
              <a:t>①把互斥性的微命令分在同一段内，兼容性的微命令分在不同段内。这样不仅有助于提高信息的利用率，缩短微指令字长，而且有助于充分利用硬件所具有的并行性，加快执行的速度。</a:t>
            </a:r>
            <a:endParaRPr lang="zh-CN" altLang="en-US" sz="2400" dirty="0"/>
          </a:p>
          <a:p>
            <a:pPr lvl="1">
              <a:buNone/>
            </a:pPr>
            <a:r>
              <a:rPr lang="zh-CN" altLang="en-US" sz="2400" dirty="0"/>
              <a:t>②应与数据通路结构相适应。</a:t>
            </a:r>
            <a:endParaRPr lang="zh-CN" altLang="en-US" sz="2400" dirty="0"/>
          </a:p>
          <a:p>
            <a:pPr lvl="1">
              <a:buNone/>
            </a:pPr>
            <a:r>
              <a:rPr lang="zh-CN" altLang="en-US" sz="2400" dirty="0"/>
              <a:t>③每个小段中包含的信息位不能太多，否则将增加译码线路的复杂性和译码时间。</a:t>
            </a:r>
            <a:endParaRPr lang="zh-CN" altLang="en-US" sz="2400" dirty="0"/>
          </a:p>
          <a:p>
            <a:pPr lvl="1">
              <a:buNone/>
            </a:pPr>
            <a:r>
              <a:rPr lang="zh-CN" altLang="en-US" sz="2400" dirty="0"/>
              <a:t>④一般每个小段还要留出一个状态，表示本字段不发出任何微命令。因此当某字段的长度为三位时，最多只能表示七个互斥的微命令，</a:t>
            </a:r>
            <a:r>
              <a:rPr lang="zh-CN" altLang="en-US" sz="2400" dirty="0">
                <a:solidFill>
                  <a:srgbClr val="FF3300"/>
                </a:solidFill>
              </a:rPr>
              <a:t>通常用</a:t>
            </a:r>
            <a:r>
              <a:rPr lang="en-US" altLang="zh-CN" sz="2400" dirty="0">
                <a:solidFill>
                  <a:srgbClr val="FF3300"/>
                </a:solidFill>
              </a:rPr>
              <a:t>000</a:t>
            </a:r>
            <a:r>
              <a:rPr lang="zh-CN" altLang="en-US" sz="2400" dirty="0">
                <a:solidFill>
                  <a:srgbClr val="FF3300"/>
                </a:solidFill>
              </a:rPr>
              <a:t>表示不操作。</a:t>
            </a:r>
            <a:endParaRPr lang="zh-CN" altLang="en-US" sz="2400" dirty="0">
              <a:solidFill>
                <a:srgbClr val="FF3300"/>
              </a:solidFill>
            </a:endParaRPr>
          </a:p>
          <a:p>
            <a:pPr lvl="1">
              <a:buNone/>
            </a:pPr>
            <a:r>
              <a:rPr lang="zh-CN" altLang="en-US" sz="2400" dirty="0"/>
              <a:t>下面举例说明</a:t>
            </a:r>
            <a:endParaRPr lang="zh-CN" altLang="en-US" sz="2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9330" name="Group 2"/>
          <p:cNvGraphicFramePr>
            <a:graphicFrameLocks noGrp="1"/>
          </p:cNvGraphicFramePr>
          <p:nvPr>
            <p:ph idx="1"/>
          </p:nvPr>
        </p:nvGraphicFramePr>
        <p:xfrm>
          <a:off x="611188" y="1484313"/>
          <a:ext cx="8229600" cy="717550"/>
        </p:xfrm>
        <a:graphic>
          <a:graphicData uri="http://schemas.openxmlformats.org/drawingml/2006/table">
            <a:tbl>
              <a:tblPr/>
              <a:tblGrid>
                <a:gridCol w="549275"/>
                <a:gridCol w="547687"/>
                <a:gridCol w="549275"/>
                <a:gridCol w="547688"/>
                <a:gridCol w="549275"/>
                <a:gridCol w="549275"/>
                <a:gridCol w="547687"/>
                <a:gridCol w="549275"/>
                <a:gridCol w="547688"/>
                <a:gridCol w="549275"/>
                <a:gridCol w="549275"/>
                <a:gridCol w="547687"/>
                <a:gridCol w="549275"/>
                <a:gridCol w="547688"/>
                <a:gridCol w="549275"/>
              </a:tblGrid>
              <a:tr h="7175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8820" name="AutoShape 36"/>
          <p:cNvSpPr/>
          <p:nvPr/>
        </p:nvSpPr>
        <p:spPr>
          <a:xfrm rot="-5400000">
            <a:off x="6861175" y="1111250"/>
            <a:ext cx="447675" cy="2744788"/>
          </a:xfrm>
          <a:prstGeom prst="leftBrace">
            <a:avLst>
              <a:gd name="adj1" fmla="val 5109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8821" name="AutoShape 37"/>
          <p:cNvSpPr/>
          <p:nvPr/>
        </p:nvSpPr>
        <p:spPr>
          <a:xfrm rot="-5400000">
            <a:off x="2698750" y="2205038"/>
            <a:ext cx="360363" cy="647700"/>
          </a:xfrm>
          <a:prstGeom prst="leftBrace">
            <a:avLst>
              <a:gd name="adj1" fmla="val 14977"/>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8822" name="AutoShape 38"/>
          <p:cNvSpPr/>
          <p:nvPr/>
        </p:nvSpPr>
        <p:spPr>
          <a:xfrm rot="-5400000">
            <a:off x="3778250" y="2205038"/>
            <a:ext cx="360363" cy="647700"/>
          </a:xfrm>
          <a:prstGeom prst="leftBrace">
            <a:avLst>
              <a:gd name="adj1" fmla="val 14977"/>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8823" name="AutoShape 39"/>
          <p:cNvSpPr/>
          <p:nvPr/>
        </p:nvSpPr>
        <p:spPr>
          <a:xfrm rot="-5400000">
            <a:off x="4714875" y="2205038"/>
            <a:ext cx="360363" cy="647700"/>
          </a:xfrm>
          <a:prstGeom prst="leftBrace">
            <a:avLst>
              <a:gd name="adj1" fmla="val 14977"/>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8824" name="Text Box 40"/>
          <p:cNvSpPr txBox="1"/>
          <p:nvPr/>
        </p:nvSpPr>
        <p:spPr>
          <a:xfrm>
            <a:off x="6567488" y="2708275"/>
            <a:ext cx="1403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顺序控制</a:t>
            </a:r>
            <a:endParaRPr lang="zh-CN" altLang="en-US" sz="2400" dirty="0">
              <a:latin typeface="Times New Roman" panose="02020603050405020304" pitchFamily="18" charset="0"/>
            </a:endParaRPr>
          </a:p>
        </p:txBody>
      </p:sp>
      <p:sp>
        <p:nvSpPr>
          <p:cNvPr id="118825" name="Text Box 41"/>
          <p:cNvSpPr txBox="1"/>
          <p:nvPr/>
        </p:nvSpPr>
        <p:spPr>
          <a:xfrm>
            <a:off x="971550" y="2924175"/>
            <a:ext cx="1922463" cy="22828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4</a:t>
            </a:r>
            <a:r>
              <a:rPr lang="zh-CN" altLang="en-US" sz="2400" dirty="0">
                <a:latin typeface="Times New Roman" panose="02020603050405020304" pitchFamily="18" charset="0"/>
              </a:rPr>
              <a:t>、</a:t>
            </a:r>
            <a:r>
              <a:rPr lang="en-US" altLang="zh-CN" sz="2400" dirty="0">
                <a:latin typeface="Times New Roman" panose="02020603050405020304" pitchFamily="18" charset="0"/>
              </a:rPr>
              <a:t>5</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00   </a:t>
            </a:r>
            <a:r>
              <a:rPr lang="zh-CN" altLang="en-US" sz="2400" dirty="0">
                <a:latin typeface="Times New Roman" panose="02020603050405020304" pitchFamily="18" charset="0"/>
              </a:rPr>
              <a:t>无操作</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01   R1</a:t>
            </a:r>
            <a:r>
              <a:rPr lang="zh-CN" altLang="en-US" sz="2400" dirty="0">
                <a:latin typeface="Times New Roman" panose="02020603050405020304" pitchFamily="18" charset="0"/>
              </a:rPr>
              <a:t>－</a:t>
            </a:r>
            <a:r>
              <a:rPr lang="en-US" altLang="zh-CN" sz="2400" dirty="0">
                <a:latin typeface="Times New Roman" panose="02020603050405020304" pitchFamily="18" charset="0"/>
              </a:rPr>
              <a:t>&gt;X</a:t>
            </a:r>
            <a:endParaRPr lang="en-US" altLang="zh-CN"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10   R2 </a:t>
            </a:r>
            <a:r>
              <a:rPr lang="zh-CN" altLang="en-US" sz="2400" dirty="0">
                <a:latin typeface="Times New Roman" panose="02020603050405020304" pitchFamily="18" charset="0"/>
              </a:rPr>
              <a:t>－</a:t>
            </a:r>
            <a:r>
              <a:rPr lang="en-US" altLang="zh-CN" sz="2400" dirty="0">
                <a:latin typeface="Times New Roman" panose="02020603050405020304" pitchFamily="18" charset="0"/>
              </a:rPr>
              <a:t>&gt; X</a:t>
            </a:r>
            <a:endParaRPr lang="en-US" altLang="zh-CN"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11   DR </a:t>
            </a:r>
            <a:r>
              <a:rPr lang="zh-CN" altLang="en-US" sz="2400" dirty="0">
                <a:latin typeface="Times New Roman" panose="02020603050405020304" pitchFamily="18" charset="0"/>
              </a:rPr>
              <a:t>－</a:t>
            </a:r>
            <a:r>
              <a:rPr lang="en-US" altLang="zh-CN" sz="2400" dirty="0">
                <a:latin typeface="Times New Roman" panose="02020603050405020304" pitchFamily="18" charset="0"/>
              </a:rPr>
              <a:t>&gt;X</a:t>
            </a:r>
            <a:endParaRPr lang="en-US" altLang="zh-CN"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8826" name="Text Box 42"/>
          <p:cNvSpPr txBox="1"/>
          <p:nvPr/>
        </p:nvSpPr>
        <p:spPr>
          <a:xfrm>
            <a:off x="3132138" y="2852738"/>
            <a:ext cx="1922462" cy="22828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6</a:t>
            </a:r>
            <a:r>
              <a:rPr lang="zh-CN" altLang="en-US" sz="2400" dirty="0">
                <a:latin typeface="Times New Roman" panose="02020603050405020304" pitchFamily="18" charset="0"/>
              </a:rPr>
              <a:t>、</a:t>
            </a:r>
            <a:r>
              <a:rPr lang="en-US" altLang="zh-CN" sz="2400" dirty="0">
                <a:latin typeface="Times New Roman" panose="02020603050405020304" pitchFamily="18" charset="0"/>
              </a:rPr>
              <a:t>7</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00   </a:t>
            </a:r>
            <a:r>
              <a:rPr lang="zh-CN" altLang="en-US" sz="2400" dirty="0">
                <a:latin typeface="Times New Roman" panose="02020603050405020304" pitchFamily="18" charset="0"/>
              </a:rPr>
              <a:t>无操作</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01   R3</a:t>
            </a:r>
            <a:r>
              <a:rPr lang="zh-CN" altLang="en-US" sz="2400" dirty="0">
                <a:latin typeface="Times New Roman" panose="02020603050405020304" pitchFamily="18" charset="0"/>
              </a:rPr>
              <a:t>－</a:t>
            </a:r>
            <a:r>
              <a:rPr lang="en-US" altLang="zh-CN" sz="2400" dirty="0">
                <a:latin typeface="Times New Roman" panose="02020603050405020304" pitchFamily="18" charset="0"/>
              </a:rPr>
              <a:t>&gt;Y</a:t>
            </a:r>
            <a:endParaRPr lang="en-US" altLang="zh-CN"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10   R2 </a:t>
            </a:r>
            <a:r>
              <a:rPr lang="zh-CN" altLang="en-US" sz="2400" dirty="0">
                <a:latin typeface="Times New Roman" panose="02020603050405020304" pitchFamily="18" charset="0"/>
              </a:rPr>
              <a:t>－</a:t>
            </a:r>
            <a:r>
              <a:rPr lang="en-US" altLang="zh-CN" sz="2400" dirty="0">
                <a:latin typeface="Times New Roman" panose="02020603050405020304" pitchFamily="18" charset="0"/>
              </a:rPr>
              <a:t>&gt; Y</a:t>
            </a:r>
            <a:endParaRPr lang="en-US" altLang="zh-CN"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11   R1 </a:t>
            </a:r>
            <a:r>
              <a:rPr lang="zh-CN" altLang="en-US" sz="2400" dirty="0">
                <a:latin typeface="Times New Roman" panose="02020603050405020304" pitchFamily="18" charset="0"/>
              </a:rPr>
              <a:t>－</a:t>
            </a:r>
            <a:r>
              <a:rPr lang="en-US" altLang="zh-CN" sz="2400" dirty="0">
                <a:latin typeface="Times New Roman" panose="02020603050405020304" pitchFamily="18" charset="0"/>
              </a:rPr>
              <a:t>&gt;Y</a:t>
            </a:r>
            <a:endParaRPr lang="en-US" altLang="zh-CN"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8827" name="Text Box 43"/>
          <p:cNvSpPr txBox="1"/>
          <p:nvPr/>
        </p:nvSpPr>
        <p:spPr>
          <a:xfrm>
            <a:off x="5003800" y="2781300"/>
            <a:ext cx="1631950" cy="22828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8</a:t>
            </a:r>
            <a:r>
              <a:rPr lang="zh-CN" altLang="en-US" sz="2400" dirty="0">
                <a:latin typeface="Times New Roman" panose="02020603050405020304" pitchFamily="18" charset="0"/>
              </a:rPr>
              <a:t>、</a:t>
            </a:r>
            <a:r>
              <a:rPr lang="en-US" altLang="zh-CN" sz="2400" dirty="0">
                <a:latin typeface="Times New Roman" panose="02020603050405020304" pitchFamily="18" charset="0"/>
              </a:rPr>
              <a:t>9</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00   </a:t>
            </a:r>
            <a:r>
              <a:rPr lang="zh-CN" altLang="en-US" sz="2400" dirty="0">
                <a:latin typeface="Times New Roman" panose="02020603050405020304" pitchFamily="18" charset="0"/>
              </a:rPr>
              <a:t>无操作</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01   </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10   </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11   M</a:t>
            </a:r>
            <a:endParaRPr lang="en-US" altLang="zh-CN" sz="2400" dirty="0">
              <a:latin typeface="Times New Roman" panose="02020603050405020304" pitchFamily="18" charset="0"/>
            </a:endParaRPr>
          </a:p>
          <a:p>
            <a:pPr marL="0" lvl="0" indent="0" eaLnBrk="1" hangingPunct="1">
              <a:spcBef>
                <a:spcPct val="0"/>
              </a:spcBef>
              <a:buClrTx/>
              <a:buSzTx/>
              <a:buFontTx/>
              <a:buNone/>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8828" name="Text Box 44"/>
          <p:cNvSpPr txBox="1"/>
          <p:nvPr/>
        </p:nvSpPr>
        <p:spPr>
          <a:xfrm>
            <a:off x="1187450" y="5013325"/>
            <a:ext cx="69850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混和表示法</a:t>
            </a:r>
            <a:endParaRPr lang="zh-CN" altLang="en-US" sz="2400" dirty="0">
              <a:latin typeface="Times New Roman" panose="02020603050405020304" pitchFamily="18" charset="0"/>
            </a:endParaRPr>
          </a:p>
          <a:p>
            <a:pPr marL="0" lvl="0" indent="0" eaLnBrk="1" hangingPunct="1">
              <a:spcBef>
                <a:spcPct val="0"/>
              </a:spcBef>
              <a:buClrTx/>
              <a:buSzTx/>
              <a:buFontTx/>
              <a:buChar char="•"/>
            </a:pP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位为直接表示法</a:t>
            </a:r>
            <a:endParaRPr lang="zh-CN" altLang="en-US" sz="2400" dirty="0">
              <a:latin typeface="Times New Roman" panose="02020603050405020304" pitchFamily="18" charset="0"/>
            </a:endParaRPr>
          </a:p>
          <a:p>
            <a:pPr marL="0" lvl="0" indent="0" eaLnBrk="1" hangingPunct="1">
              <a:spcBef>
                <a:spcPct val="0"/>
              </a:spcBef>
              <a:buClrTx/>
              <a:buSzTx/>
              <a:buFontTx/>
              <a:buChar char="•"/>
            </a:pPr>
            <a:r>
              <a:rPr lang="en-US" altLang="zh-CN" sz="2400" dirty="0">
                <a:latin typeface="Times New Roman" panose="02020603050405020304" pitchFamily="18" charset="0"/>
              </a:rPr>
              <a:t>4</a:t>
            </a:r>
            <a:r>
              <a:rPr lang="zh-CN" altLang="en-US" sz="2400" dirty="0">
                <a:latin typeface="Times New Roman" panose="02020603050405020304" pitchFamily="18" charset="0"/>
              </a:rPr>
              <a:t>、</a:t>
            </a:r>
            <a:r>
              <a:rPr lang="en-US" altLang="zh-CN" sz="2400" dirty="0">
                <a:latin typeface="Times New Roman" panose="02020603050405020304" pitchFamily="18" charset="0"/>
              </a:rPr>
              <a:t>5     6</a:t>
            </a:r>
            <a:r>
              <a:rPr lang="zh-CN" altLang="en-US" sz="2400" dirty="0">
                <a:latin typeface="Times New Roman" panose="02020603050405020304" pitchFamily="18" charset="0"/>
              </a:rPr>
              <a:t>、</a:t>
            </a:r>
            <a:r>
              <a:rPr lang="en-US" altLang="zh-CN" sz="2400" dirty="0">
                <a:latin typeface="Times New Roman" panose="02020603050405020304" pitchFamily="18" charset="0"/>
              </a:rPr>
              <a:t>7	8</a:t>
            </a:r>
            <a:r>
              <a:rPr lang="zh-CN" altLang="en-US" sz="2400" dirty="0">
                <a:latin typeface="Times New Roman" panose="02020603050405020304" pitchFamily="18" charset="0"/>
              </a:rPr>
              <a:t>、</a:t>
            </a:r>
            <a:r>
              <a:rPr lang="en-US" altLang="zh-CN" sz="2400" dirty="0">
                <a:latin typeface="Times New Roman" panose="02020603050405020304" pitchFamily="18" charset="0"/>
              </a:rPr>
              <a:t>9</a:t>
            </a:r>
            <a:r>
              <a:rPr lang="zh-CN" altLang="en-US" sz="2400" dirty="0">
                <a:latin typeface="Times New Roman" panose="02020603050405020304" pitchFamily="18" charset="0"/>
              </a:rPr>
              <a:t>位为编码表示法</a:t>
            </a:r>
            <a:endParaRPr lang="zh-CN" altLang="en-US" sz="2400" dirty="0">
              <a:latin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19811" name="Rectangle 3"/>
          <p:cNvSpPr>
            <a:spLocks noGrp="1"/>
          </p:cNvSpPr>
          <p:nvPr>
            <p:ph idx="1"/>
          </p:nvPr>
        </p:nvSpPr>
        <p:spPr/>
        <p:txBody>
          <a:bodyPr vert="horz" wrap="square" lIns="91440" tIns="45720" rIns="91440" bIns="45720" anchor="t" anchorCtr="0"/>
          <a:p>
            <a:pPr>
              <a:buNone/>
            </a:pPr>
            <a:r>
              <a:rPr lang="zh-CN" altLang="en-US" sz="2800" dirty="0"/>
              <a:t>二、微指令地址的形成</a:t>
            </a:r>
            <a:endParaRPr lang="zh-CN" altLang="en-US" sz="2800" dirty="0"/>
          </a:p>
          <a:p>
            <a:r>
              <a:rPr lang="zh-CN" altLang="en-US" sz="2800" dirty="0"/>
              <a:t>入口地址：每条机器指令对应一段微程序，当公用的取指微程序从主存中取出机器指令之后，由机器指令的操作码字段指出各段微程序的入口地址，这是一种多分支</a:t>
            </a:r>
            <a:r>
              <a:rPr lang="en-US" altLang="zh-CN" sz="2800" dirty="0"/>
              <a:t>(</a:t>
            </a:r>
            <a:r>
              <a:rPr lang="zh-CN" altLang="en-US" sz="2800" dirty="0"/>
              <a:t>或多路转移</a:t>
            </a:r>
            <a:r>
              <a:rPr lang="en-US" altLang="zh-CN" sz="2800" dirty="0"/>
              <a:t>)</a:t>
            </a:r>
            <a:r>
              <a:rPr lang="zh-CN" altLang="en-US" sz="2800" dirty="0"/>
              <a:t>的情况。</a:t>
            </a:r>
            <a:endParaRPr lang="zh-CN" altLang="en-US" sz="2800" dirty="0"/>
          </a:p>
          <a:p>
            <a:r>
              <a:rPr lang="zh-CN" altLang="en-US" sz="2800" dirty="0"/>
              <a:t>产生后继微地址的方式主要有两种。</a:t>
            </a:r>
            <a:endParaRPr lang="zh-CN" altLang="en-US" sz="2800" dirty="0"/>
          </a:p>
          <a:p>
            <a:pPr lvl="1">
              <a:buFont typeface="Wingdings" panose="05000000000000000000" pitchFamily="2" charset="2"/>
              <a:buChar char="Ø"/>
            </a:pPr>
            <a:r>
              <a:rPr lang="zh-CN" altLang="en-US" dirty="0"/>
              <a:t>计数器的方式</a:t>
            </a:r>
            <a:endParaRPr lang="zh-CN" altLang="en-US" dirty="0"/>
          </a:p>
          <a:p>
            <a:pPr lvl="1">
              <a:buFont typeface="Wingdings" panose="05000000000000000000" pitchFamily="2" charset="2"/>
              <a:buChar char="Ø"/>
            </a:pPr>
            <a:r>
              <a:rPr lang="zh-CN" altLang="en-US" dirty="0"/>
              <a:t>多路转移的方式</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p:nvPr>
        </p:nvSpPr>
        <p:spPr>
          <a:xfrm>
            <a:off x="468313" y="333375"/>
            <a:ext cx="7532687" cy="563563"/>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21859" name="Rectangle 3"/>
          <p:cNvSpPr>
            <a:spLocks noGrp="1"/>
          </p:cNvSpPr>
          <p:nvPr>
            <p:ph idx="1"/>
          </p:nvPr>
        </p:nvSpPr>
        <p:spPr>
          <a:xfrm>
            <a:off x="971550" y="1371600"/>
            <a:ext cx="6985000" cy="4114800"/>
          </a:xfrm>
        </p:spPr>
        <p:txBody>
          <a:bodyPr vert="horz" wrap="square" lIns="91440" tIns="45720" rIns="91440" bIns="45720" anchor="t" anchorCtr="0"/>
          <a:p>
            <a:pPr>
              <a:buNone/>
            </a:pPr>
            <a:r>
              <a:rPr lang="en-US" altLang="zh-CN" sz="2600" dirty="0"/>
              <a:t>1</a:t>
            </a:r>
            <a:r>
              <a:rPr lang="zh-CN" altLang="en-US" sz="2600" dirty="0"/>
              <a:t>、</a:t>
            </a:r>
            <a:r>
              <a:rPr lang="zh-CN" altLang="en-US" sz="2600" dirty="0">
                <a:solidFill>
                  <a:srgbClr val="FF3300"/>
                </a:solidFill>
              </a:rPr>
              <a:t>入口地址形成</a:t>
            </a:r>
            <a:r>
              <a:rPr lang="zh-CN" altLang="en-US" sz="2600" dirty="0"/>
              <a:t>：</a:t>
            </a:r>
            <a:r>
              <a:rPr lang="zh-CN" altLang="en-US" sz="2500" dirty="0"/>
              <a:t>如果机器指令操作码字段的位数和位置固定，可以直接使操作码与微程序入口地址的部分位相对应。</a:t>
            </a:r>
            <a:endParaRPr lang="zh-CN" altLang="en-US" sz="2500" dirty="0"/>
          </a:p>
          <a:p>
            <a:pPr lvl="2"/>
            <a:endParaRPr lang="zh-CN" altLang="en-US" sz="2900" dirty="0"/>
          </a:p>
          <a:p>
            <a:pPr lvl="2"/>
            <a:endParaRPr lang="zh-CN" altLang="en-US" sz="2900" dirty="0"/>
          </a:p>
          <a:p>
            <a:pPr lvl="2"/>
            <a:endParaRPr lang="en-US" altLang="zh-CN" sz="2600" dirty="0"/>
          </a:p>
        </p:txBody>
      </p:sp>
      <p:pic>
        <p:nvPicPr>
          <p:cNvPr id="121860" name="Picture 4" descr="jxnr676"/>
          <p:cNvPicPr>
            <a:picLocks noChangeAspect="1"/>
          </p:cNvPicPr>
          <p:nvPr/>
        </p:nvPicPr>
        <p:blipFill>
          <a:blip r:embed="rId1"/>
          <a:stretch>
            <a:fillRect/>
          </a:stretch>
        </p:blipFill>
        <p:spPr>
          <a:xfrm>
            <a:off x="2051050" y="2565400"/>
            <a:ext cx="4724400" cy="3962400"/>
          </a:xfrm>
          <a:prstGeom prst="rect">
            <a:avLst/>
          </a:prstGeom>
          <a:noFill/>
          <a:ln w="9525">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22883" name="Rectangle 3"/>
          <p:cNvSpPr>
            <a:spLocks noGrp="1"/>
          </p:cNvSpPr>
          <p:nvPr>
            <p:ph idx="1"/>
          </p:nvPr>
        </p:nvSpPr>
        <p:spPr>
          <a:xfrm>
            <a:off x="457200" y="1268413"/>
            <a:ext cx="8229600" cy="5256212"/>
          </a:xfrm>
        </p:spPr>
        <p:txBody>
          <a:bodyPr vert="horz" wrap="square" lIns="91440" tIns="45720" rIns="91440" bIns="45720" anchor="t" anchorCtr="0"/>
          <a:p>
            <a:pPr>
              <a:lnSpc>
                <a:spcPct val="90000"/>
              </a:lnSpc>
              <a:buNone/>
            </a:pPr>
            <a:r>
              <a:rPr lang="en-US" altLang="zh-CN" sz="2400" dirty="0"/>
              <a:t>2</a:t>
            </a:r>
            <a:r>
              <a:rPr lang="zh-CN" altLang="en-US" sz="2400" dirty="0"/>
              <a:t>、</a:t>
            </a:r>
            <a:r>
              <a:rPr lang="zh-CN" altLang="en-US" sz="2400" dirty="0">
                <a:solidFill>
                  <a:srgbClr val="FF3300"/>
                </a:solidFill>
              </a:rPr>
              <a:t>后继微地址形成方法</a:t>
            </a:r>
            <a:endParaRPr lang="zh-CN" altLang="en-US" sz="2400" dirty="0">
              <a:solidFill>
                <a:srgbClr val="FF3300"/>
              </a:solidFill>
            </a:endParaRPr>
          </a:p>
          <a:p>
            <a:pPr lvl="1">
              <a:lnSpc>
                <a:spcPct val="90000"/>
              </a:lnSpc>
              <a:buNone/>
            </a:pPr>
            <a:r>
              <a:rPr lang="zh-CN" altLang="en-US" sz="2400" dirty="0"/>
              <a:t>（</a:t>
            </a:r>
            <a:r>
              <a:rPr lang="en-US" altLang="zh-CN" sz="2400" dirty="0"/>
              <a:t>1</a:t>
            </a:r>
            <a:r>
              <a:rPr lang="zh-CN" altLang="en-US" sz="2400" dirty="0"/>
              <a:t>）计数器的方式</a:t>
            </a:r>
            <a:endParaRPr lang="zh-CN" altLang="en-US" sz="2400" dirty="0"/>
          </a:p>
          <a:p>
            <a:pPr lvl="2">
              <a:lnSpc>
                <a:spcPct val="90000"/>
              </a:lnSpc>
            </a:pPr>
            <a:r>
              <a:rPr lang="zh-CN" altLang="en-US" dirty="0"/>
              <a:t>方法：</a:t>
            </a:r>
            <a:endParaRPr lang="zh-CN" altLang="en-US" dirty="0"/>
          </a:p>
          <a:p>
            <a:pPr lvl="3">
              <a:lnSpc>
                <a:spcPct val="90000"/>
              </a:lnSpc>
            </a:pPr>
            <a:r>
              <a:rPr lang="zh-CN" altLang="en-US" sz="2400" dirty="0"/>
              <a:t>微程序顺序执行时，其后继微地址就是现行微地址加上一个增量</a:t>
            </a:r>
            <a:r>
              <a:rPr lang="en-US" altLang="zh-CN" sz="2400" dirty="0"/>
              <a:t>(</a:t>
            </a:r>
            <a:r>
              <a:rPr lang="zh-CN" altLang="en-US" sz="2400" dirty="0"/>
              <a:t>通常为</a:t>
            </a:r>
            <a:r>
              <a:rPr lang="en-US" altLang="zh-CN" sz="2400" dirty="0"/>
              <a:t>1)</a:t>
            </a:r>
            <a:r>
              <a:rPr lang="zh-CN" altLang="en-US" sz="2400" dirty="0"/>
              <a:t>；</a:t>
            </a:r>
            <a:endParaRPr lang="zh-CN" altLang="en-US" sz="2400" dirty="0"/>
          </a:p>
          <a:p>
            <a:pPr lvl="3">
              <a:lnSpc>
                <a:spcPct val="90000"/>
              </a:lnSpc>
            </a:pPr>
            <a:r>
              <a:rPr lang="zh-CN" altLang="en-US" sz="2400" dirty="0"/>
              <a:t>当微程序遇到转移或转子程序时，由微指令的转移地址段来形成转移微地址。</a:t>
            </a:r>
            <a:endParaRPr lang="zh-CN" altLang="en-US" sz="2400" dirty="0"/>
          </a:p>
          <a:p>
            <a:pPr lvl="3">
              <a:lnSpc>
                <a:spcPct val="90000"/>
              </a:lnSpc>
            </a:pPr>
            <a:r>
              <a:rPr lang="zh-CN" altLang="en-US" sz="2400" dirty="0"/>
              <a:t>在微程序控制器中也有一个微程序计数器</a:t>
            </a:r>
            <a:r>
              <a:rPr lang="en-US" altLang="zh-CN" sz="2400" dirty="0"/>
              <a:t>μPC</a:t>
            </a:r>
            <a:r>
              <a:rPr lang="zh-CN" altLang="en-US" sz="2400" dirty="0"/>
              <a:t>，一般情况下都是将微地址寄存器</a:t>
            </a:r>
            <a:r>
              <a:rPr lang="en-US" altLang="zh-CN" sz="2400" dirty="0"/>
              <a:t>μMAR</a:t>
            </a:r>
            <a:r>
              <a:rPr lang="zh-CN" altLang="en-US" sz="2400" dirty="0"/>
              <a:t>作为</a:t>
            </a:r>
            <a:r>
              <a:rPr lang="en-US" altLang="zh-CN" sz="2400" dirty="0"/>
              <a:t>μPC</a:t>
            </a:r>
            <a:endParaRPr lang="en-US" altLang="zh-CN" sz="2400" dirty="0"/>
          </a:p>
          <a:p>
            <a:pPr lvl="2">
              <a:lnSpc>
                <a:spcPct val="90000"/>
              </a:lnSpc>
            </a:pPr>
            <a:r>
              <a:rPr lang="zh-CN" altLang="en-US" dirty="0"/>
              <a:t>特点：</a:t>
            </a:r>
            <a:endParaRPr lang="zh-CN" altLang="en-US" dirty="0"/>
          </a:p>
          <a:p>
            <a:pPr lvl="3">
              <a:lnSpc>
                <a:spcPct val="90000"/>
              </a:lnSpc>
            </a:pPr>
            <a:r>
              <a:rPr lang="zh-CN" altLang="en-US" sz="2400" dirty="0"/>
              <a:t>优点是简单、易于掌握，编制微程序容易</a:t>
            </a:r>
            <a:endParaRPr lang="zh-CN" altLang="en-US" sz="2400" dirty="0"/>
          </a:p>
          <a:p>
            <a:pPr lvl="3">
              <a:lnSpc>
                <a:spcPct val="90000"/>
              </a:lnSpc>
            </a:pPr>
            <a:r>
              <a:rPr lang="zh-CN" altLang="en-US" sz="2400" dirty="0"/>
              <a:t>缺点是这种方式不能实现两路以上的并行微程序转移，因而不利于提高微程序的执行速度。</a:t>
            </a:r>
            <a:endParaRPr lang="zh-CN" altLang="en-US" sz="2400" dirty="0"/>
          </a:p>
          <a:p>
            <a:pPr>
              <a:lnSpc>
                <a:spcPct val="90000"/>
              </a:lnSpc>
            </a:pPr>
            <a:endParaRPr lang="en-US" altLang="zh-CN" sz="2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23907" name="Rectangle 3"/>
          <p:cNvSpPr>
            <a:spLocks noGrp="1"/>
          </p:cNvSpPr>
          <p:nvPr>
            <p:ph idx="1"/>
          </p:nvPr>
        </p:nvSpPr>
        <p:spPr>
          <a:xfrm>
            <a:off x="457200" y="908050"/>
            <a:ext cx="8229600" cy="1512888"/>
          </a:xfrm>
        </p:spPr>
        <p:txBody>
          <a:bodyPr vert="horz" wrap="square" lIns="91440" tIns="45720" rIns="91440" bIns="45720" anchor="t" anchorCtr="0"/>
          <a:p>
            <a:pPr>
              <a:buNone/>
            </a:pPr>
            <a:r>
              <a:rPr lang="zh-CN" altLang="en-US" dirty="0"/>
              <a:t>（</a:t>
            </a:r>
            <a:r>
              <a:rPr lang="en-US" altLang="zh-CN" dirty="0"/>
              <a:t>2</a:t>
            </a:r>
            <a:r>
              <a:rPr lang="zh-CN" altLang="en-US" dirty="0"/>
              <a:t>）多路转移的方式</a:t>
            </a:r>
            <a:endParaRPr lang="zh-CN" altLang="en-US" dirty="0"/>
          </a:p>
          <a:p>
            <a:pPr lvl="2"/>
            <a:r>
              <a:rPr lang="zh-CN" altLang="en-US" dirty="0"/>
              <a:t>根据条件转移如图</a:t>
            </a:r>
            <a:endParaRPr lang="zh-CN" altLang="en-US" dirty="0"/>
          </a:p>
          <a:p>
            <a:pPr lvl="2"/>
            <a:r>
              <a:rPr lang="zh-CN" altLang="en-US" dirty="0"/>
              <a:t>条件：状态条件</a:t>
            </a:r>
            <a:r>
              <a:rPr lang="en-US" altLang="zh-CN" dirty="0"/>
              <a:t>/</a:t>
            </a:r>
            <a:r>
              <a:rPr lang="zh-CN" altLang="en-US" dirty="0"/>
              <a:t>测试</a:t>
            </a:r>
            <a:r>
              <a:rPr lang="en-US" altLang="zh-CN" dirty="0"/>
              <a:t>/</a:t>
            </a:r>
            <a:r>
              <a:rPr lang="zh-CN" altLang="en-US" dirty="0"/>
              <a:t>微指令中微地址</a:t>
            </a:r>
            <a:r>
              <a:rPr lang="en-US" altLang="zh-CN" dirty="0"/>
              <a:t>/</a:t>
            </a:r>
            <a:r>
              <a:rPr lang="zh-CN" altLang="en-US" dirty="0"/>
              <a:t>操作码</a:t>
            </a:r>
            <a:endParaRPr lang="zh-CN" altLang="en-US" dirty="0"/>
          </a:p>
        </p:txBody>
      </p:sp>
      <p:pic>
        <p:nvPicPr>
          <p:cNvPr id="123908" name="Picture 4" descr="5"/>
          <p:cNvPicPr>
            <a:picLocks noChangeAspect="1"/>
          </p:cNvPicPr>
          <p:nvPr/>
        </p:nvPicPr>
        <p:blipFill>
          <a:blip r:embed="rId1"/>
          <a:stretch>
            <a:fillRect/>
          </a:stretch>
        </p:blipFill>
        <p:spPr>
          <a:xfrm>
            <a:off x="1403350" y="2276475"/>
            <a:ext cx="6591300" cy="4176713"/>
          </a:xfrm>
          <a:prstGeom prst="rect">
            <a:avLst/>
          </a:prstGeom>
          <a:noFill/>
          <a:ln w="9525">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Grp="1"/>
          </p:cNvSpPr>
          <p:nvPr>
            <p:ph idx="1"/>
          </p:nvPr>
        </p:nvSpPr>
        <p:spPr>
          <a:xfrm>
            <a:off x="323850" y="1196975"/>
            <a:ext cx="8229600" cy="4933950"/>
          </a:xfrm>
        </p:spPr>
        <p:txBody>
          <a:bodyPr vert="horz" wrap="square" lIns="91440" tIns="45720" rIns="91440" bIns="45720" anchor="t" anchorCtr="0"/>
          <a:p>
            <a:pPr>
              <a:buNone/>
            </a:pPr>
            <a:r>
              <a:rPr lang="en-US" altLang="zh-CN" b="1" dirty="0"/>
              <a:t>【</a:t>
            </a:r>
            <a:r>
              <a:rPr lang="zh-CN" altLang="en-US" b="1" dirty="0"/>
              <a:t>例</a:t>
            </a:r>
            <a:r>
              <a:rPr lang="en-US" altLang="zh-CN" b="1" dirty="0"/>
              <a:t>2】</a:t>
            </a:r>
            <a:r>
              <a:rPr lang="zh-CN" altLang="en-US" dirty="0"/>
              <a:t>微地址寄存器有</a:t>
            </a:r>
            <a:r>
              <a:rPr lang="en-US" altLang="zh-CN" dirty="0"/>
              <a:t>6</a:t>
            </a:r>
            <a:r>
              <a:rPr lang="zh-CN" altLang="en-US" dirty="0"/>
              <a:t>位</a:t>
            </a:r>
            <a:r>
              <a:rPr lang="en-US" altLang="zh-CN" dirty="0"/>
              <a:t>(μA5-μA0)</a:t>
            </a:r>
            <a:r>
              <a:rPr lang="zh-CN" altLang="en-US" dirty="0"/>
              <a:t>，当需要修改其内容时，可通过某一位触发器的强置端</a:t>
            </a:r>
            <a:r>
              <a:rPr lang="en-US" altLang="zh-CN" dirty="0"/>
              <a:t>S</a:t>
            </a:r>
            <a:r>
              <a:rPr lang="zh-CN" altLang="en-US" dirty="0"/>
              <a:t>将其置“</a:t>
            </a:r>
            <a:r>
              <a:rPr lang="en-US" altLang="zh-CN" dirty="0"/>
              <a:t>1”</a:t>
            </a:r>
            <a:r>
              <a:rPr lang="zh-CN" altLang="en-US" dirty="0"/>
              <a:t>。现有三种情况：</a:t>
            </a:r>
            <a:endParaRPr lang="zh-CN" altLang="en-US" dirty="0"/>
          </a:p>
          <a:p>
            <a:pPr lvl="2">
              <a:buNone/>
            </a:pPr>
            <a:r>
              <a:rPr lang="en-US" altLang="zh-CN" dirty="0"/>
              <a:t>(1)</a:t>
            </a:r>
            <a:r>
              <a:rPr lang="zh-CN" altLang="en-US" dirty="0"/>
              <a:t>执行“取指”微指令后，微程序按</a:t>
            </a:r>
            <a:r>
              <a:rPr lang="en-US" altLang="zh-CN" dirty="0"/>
              <a:t>IR</a:t>
            </a:r>
            <a:r>
              <a:rPr lang="zh-CN" altLang="en-US" dirty="0"/>
              <a:t>的</a:t>
            </a:r>
            <a:r>
              <a:rPr lang="en-US" altLang="zh-CN" dirty="0"/>
              <a:t>OP</a:t>
            </a:r>
            <a:r>
              <a:rPr lang="zh-CN" altLang="en-US" dirty="0"/>
              <a:t>字段</a:t>
            </a:r>
            <a:r>
              <a:rPr lang="en-US" altLang="zh-CN" dirty="0"/>
              <a:t>(IR3-IR0)</a:t>
            </a:r>
            <a:r>
              <a:rPr lang="zh-CN" altLang="en-US" dirty="0"/>
              <a:t>进行</a:t>
            </a:r>
            <a:r>
              <a:rPr lang="en-US" altLang="zh-CN" dirty="0"/>
              <a:t>16</a:t>
            </a:r>
            <a:r>
              <a:rPr lang="zh-CN" altLang="en-US" dirty="0"/>
              <a:t>路分支；</a:t>
            </a:r>
            <a:endParaRPr lang="zh-CN" altLang="en-US" dirty="0"/>
          </a:p>
          <a:p>
            <a:pPr lvl="2">
              <a:buNone/>
            </a:pPr>
            <a:r>
              <a:rPr lang="en-US" altLang="zh-CN" dirty="0"/>
              <a:t>(2)</a:t>
            </a:r>
            <a:r>
              <a:rPr lang="zh-CN" altLang="en-US" dirty="0"/>
              <a:t>执行条件转移指令微程序时，按进位标志</a:t>
            </a:r>
            <a:r>
              <a:rPr lang="en-US" altLang="zh-CN" dirty="0"/>
              <a:t>C</a:t>
            </a:r>
            <a:r>
              <a:rPr lang="zh-CN" altLang="en-US" dirty="0"/>
              <a:t>的状态进行</a:t>
            </a:r>
            <a:r>
              <a:rPr lang="en-US" altLang="zh-CN" dirty="0"/>
              <a:t>2</a:t>
            </a:r>
            <a:r>
              <a:rPr lang="zh-CN" altLang="en-US" dirty="0"/>
              <a:t>路分支；</a:t>
            </a:r>
            <a:endParaRPr lang="zh-CN" altLang="en-US" dirty="0"/>
          </a:p>
          <a:p>
            <a:pPr lvl="2">
              <a:buNone/>
            </a:pPr>
            <a:r>
              <a:rPr lang="en-US" altLang="zh-CN" dirty="0"/>
              <a:t>(3)</a:t>
            </a:r>
            <a:r>
              <a:rPr lang="zh-CN" altLang="en-US" dirty="0"/>
              <a:t>执行控制台指令微程序时，按</a:t>
            </a:r>
            <a:r>
              <a:rPr lang="en-US" altLang="zh-CN" dirty="0"/>
              <a:t>IR4</a:t>
            </a:r>
            <a:r>
              <a:rPr lang="zh-CN" altLang="en-US" dirty="0"/>
              <a:t>，</a:t>
            </a:r>
            <a:r>
              <a:rPr lang="en-US" altLang="zh-CN" dirty="0"/>
              <a:t>IR5</a:t>
            </a:r>
            <a:r>
              <a:rPr lang="zh-CN" altLang="en-US" dirty="0"/>
              <a:t>的状态进行</a:t>
            </a:r>
            <a:r>
              <a:rPr lang="en-US" altLang="zh-CN" dirty="0"/>
              <a:t>4</a:t>
            </a:r>
            <a:r>
              <a:rPr lang="zh-CN" altLang="en-US" dirty="0"/>
              <a:t>路分支。</a:t>
            </a:r>
            <a:endParaRPr lang="zh-CN" altLang="en-US" dirty="0"/>
          </a:p>
          <a:p>
            <a:pPr>
              <a:buNone/>
            </a:pPr>
            <a:r>
              <a:rPr lang="zh-CN" altLang="en-US" dirty="0"/>
              <a:t>      请按多路转移方法设计微地址转移逻辑。</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idx="1"/>
          </p:nvPr>
        </p:nvSpPr>
        <p:spPr>
          <a:xfrm>
            <a:off x="457200" y="765175"/>
            <a:ext cx="7643813" cy="5543550"/>
          </a:xfrm>
        </p:spPr>
        <p:txBody>
          <a:bodyPr vert="horz" wrap="square" lIns="91440" tIns="45720" rIns="91440" bIns="45720" anchor="t" anchorCtr="0"/>
          <a:p>
            <a:pPr>
              <a:lnSpc>
                <a:spcPct val="80000"/>
              </a:lnSpc>
              <a:buNone/>
            </a:pPr>
            <a:r>
              <a:rPr lang="en-US" altLang="zh-CN" sz="2100" dirty="0"/>
              <a:t>          </a:t>
            </a:r>
            <a:r>
              <a:rPr lang="zh-CN" altLang="en-US" sz="2100" dirty="0"/>
              <a:t>按所给设计条件，微程序有三种判别测试，分别为</a:t>
            </a:r>
            <a:r>
              <a:rPr lang="en-US" altLang="zh-CN" sz="2100" dirty="0"/>
              <a:t>P1</a:t>
            </a:r>
            <a:r>
              <a:rPr lang="zh-CN" altLang="en-US" sz="2100" dirty="0"/>
              <a:t>，</a:t>
            </a:r>
            <a:r>
              <a:rPr lang="en-US" altLang="zh-CN" sz="2100" dirty="0"/>
              <a:t>P2</a:t>
            </a:r>
            <a:r>
              <a:rPr lang="zh-CN" altLang="en-US" sz="2100" dirty="0"/>
              <a:t>，</a:t>
            </a:r>
            <a:r>
              <a:rPr lang="en-US" altLang="zh-CN" sz="2100" dirty="0"/>
              <a:t>P3</a:t>
            </a:r>
            <a:r>
              <a:rPr lang="zh-CN" altLang="en-US" sz="2100" dirty="0"/>
              <a:t>。 由于修改</a:t>
            </a:r>
            <a:r>
              <a:rPr lang="en-US" altLang="zh-CN" sz="2100" dirty="0"/>
              <a:t>μA5-μA0</a:t>
            </a:r>
            <a:r>
              <a:rPr lang="zh-CN" altLang="en-US" sz="2100" dirty="0"/>
              <a:t>内容具有很大灵活性，现分配如下：</a:t>
            </a:r>
            <a:endParaRPr lang="zh-CN" altLang="en-US" sz="2100" dirty="0"/>
          </a:p>
          <a:p>
            <a:pPr>
              <a:lnSpc>
                <a:spcPct val="80000"/>
              </a:lnSpc>
              <a:buNone/>
            </a:pPr>
            <a:r>
              <a:rPr lang="en-US" altLang="zh-CN" sz="2100" dirty="0"/>
              <a:t>(1)</a:t>
            </a:r>
            <a:r>
              <a:rPr lang="zh-CN" altLang="en-US" sz="2100" dirty="0"/>
              <a:t>用</a:t>
            </a:r>
            <a:r>
              <a:rPr lang="en-US" altLang="zh-CN" sz="2100" dirty="0"/>
              <a:t>P1</a:t>
            </a:r>
            <a:r>
              <a:rPr lang="zh-CN" altLang="en-US" sz="2100" dirty="0"/>
              <a:t>和</a:t>
            </a:r>
            <a:r>
              <a:rPr lang="en-US" altLang="zh-CN" sz="2100" dirty="0"/>
              <a:t>IR3-IR0</a:t>
            </a:r>
            <a:r>
              <a:rPr lang="zh-CN" altLang="en-US" sz="2100" dirty="0"/>
              <a:t>修改</a:t>
            </a:r>
            <a:r>
              <a:rPr lang="en-US" altLang="zh-CN" sz="2100" dirty="0"/>
              <a:t>μA3-μA0</a:t>
            </a:r>
            <a:r>
              <a:rPr lang="zh-CN" altLang="en-US" sz="2100" dirty="0"/>
              <a:t>；</a:t>
            </a:r>
            <a:endParaRPr lang="zh-CN" altLang="en-US" sz="2100" dirty="0"/>
          </a:p>
          <a:p>
            <a:pPr>
              <a:lnSpc>
                <a:spcPct val="80000"/>
              </a:lnSpc>
              <a:buNone/>
            </a:pPr>
            <a:r>
              <a:rPr lang="en-US" altLang="zh-CN" sz="2100" dirty="0"/>
              <a:t>(2)</a:t>
            </a:r>
            <a:r>
              <a:rPr lang="zh-CN" altLang="en-US" sz="2100" dirty="0"/>
              <a:t>用</a:t>
            </a:r>
            <a:r>
              <a:rPr lang="en-US" altLang="zh-CN" sz="2100" dirty="0"/>
              <a:t>P2</a:t>
            </a:r>
            <a:r>
              <a:rPr lang="zh-CN" altLang="en-US" sz="2100" dirty="0"/>
              <a:t>和</a:t>
            </a:r>
            <a:r>
              <a:rPr lang="en-US" altLang="zh-CN" sz="2100" dirty="0"/>
              <a:t>C</a:t>
            </a:r>
            <a:r>
              <a:rPr lang="zh-CN" altLang="en-US" sz="2100" dirty="0"/>
              <a:t>修改</a:t>
            </a:r>
            <a:r>
              <a:rPr lang="en-US" altLang="zh-CN" sz="2100" dirty="0"/>
              <a:t>μA0</a:t>
            </a:r>
            <a:r>
              <a:rPr lang="zh-CN" altLang="en-US" sz="2100" dirty="0"/>
              <a:t>；</a:t>
            </a:r>
            <a:endParaRPr lang="zh-CN" altLang="en-US" sz="2100" dirty="0"/>
          </a:p>
          <a:p>
            <a:pPr>
              <a:lnSpc>
                <a:spcPct val="80000"/>
              </a:lnSpc>
              <a:buNone/>
            </a:pPr>
            <a:r>
              <a:rPr lang="en-US" altLang="zh-CN" sz="2100" dirty="0"/>
              <a:t>(3)</a:t>
            </a:r>
            <a:r>
              <a:rPr lang="zh-CN" altLang="en-US" sz="2100" dirty="0"/>
              <a:t>用</a:t>
            </a:r>
            <a:r>
              <a:rPr lang="en-US" altLang="zh-CN" sz="2100" dirty="0"/>
              <a:t>P3</a:t>
            </a:r>
            <a:r>
              <a:rPr lang="zh-CN" altLang="en-US" sz="2100" dirty="0"/>
              <a:t>和</a:t>
            </a:r>
            <a:r>
              <a:rPr lang="en-US" altLang="zh-CN" sz="2100" dirty="0"/>
              <a:t>IR5</a:t>
            </a:r>
            <a:r>
              <a:rPr lang="zh-CN" altLang="en-US" sz="2100" dirty="0"/>
              <a:t>，</a:t>
            </a:r>
            <a:r>
              <a:rPr lang="en-US" altLang="zh-CN" sz="2100" dirty="0"/>
              <a:t>IR4</a:t>
            </a:r>
            <a:r>
              <a:rPr lang="zh-CN" altLang="en-US" sz="2100" dirty="0"/>
              <a:t>修改</a:t>
            </a:r>
            <a:r>
              <a:rPr lang="en-US" altLang="zh-CN" sz="2100" dirty="0"/>
              <a:t>μA5</a:t>
            </a:r>
            <a:r>
              <a:rPr lang="zh-CN" altLang="en-US" sz="2100" dirty="0"/>
              <a:t>，</a:t>
            </a:r>
            <a:r>
              <a:rPr lang="en-US" altLang="zh-CN" sz="2100" dirty="0"/>
              <a:t>μA4</a:t>
            </a:r>
            <a:r>
              <a:rPr lang="zh-CN" altLang="en-US" sz="2100" dirty="0"/>
              <a:t>。</a:t>
            </a:r>
            <a:endParaRPr lang="zh-CN" altLang="en-US" sz="2100" dirty="0"/>
          </a:p>
          <a:p>
            <a:pPr>
              <a:lnSpc>
                <a:spcPct val="80000"/>
              </a:lnSpc>
              <a:buNone/>
            </a:pPr>
            <a:r>
              <a:rPr lang="zh-CN" altLang="en-US" sz="2100" dirty="0"/>
              <a:t>           另外还要考虑时间因素</a:t>
            </a:r>
            <a:r>
              <a:rPr lang="en-US" altLang="zh-CN" sz="2100" dirty="0"/>
              <a:t>T4(</a:t>
            </a:r>
            <a:r>
              <a:rPr lang="zh-CN" altLang="en-US" sz="2100" dirty="0"/>
              <a:t>假设</a:t>
            </a:r>
            <a:r>
              <a:rPr lang="en-US" altLang="zh-CN" sz="2100" dirty="0"/>
              <a:t>CPU</a:t>
            </a:r>
            <a:r>
              <a:rPr lang="zh-CN" altLang="en-US" sz="2100" dirty="0"/>
              <a:t>周期最后一个节拍脉冲</a:t>
            </a:r>
            <a:r>
              <a:rPr lang="en-US" altLang="zh-CN" sz="2100" dirty="0"/>
              <a:t>)</a:t>
            </a:r>
            <a:r>
              <a:rPr lang="zh-CN" altLang="en-US" sz="2100" dirty="0"/>
              <a:t>，故转移逻辑表达式如下：</a:t>
            </a:r>
            <a:endParaRPr lang="zh-CN" altLang="en-US" sz="2100" dirty="0"/>
          </a:p>
          <a:p>
            <a:pPr>
              <a:lnSpc>
                <a:spcPct val="80000"/>
              </a:lnSpc>
              <a:buNone/>
            </a:pPr>
            <a:r>
              <a:rPr lang="zh-CN" altLang="en-US" sz="2100" dirty="0"/>
              <a:t>　　</a:t>
            </a:r>
            <a:r>
              <a:rPr lang="en-US" altLang="zh-CN" sz="2100" dirty="0"/>
              <a:t>μA5=P3·IR5·T4</a:t>
            </a:r>
            <a:endParaRPr lang="en-US" altLang="zh-CN" sz="2100" dirty="0"/>
          </a:p>
          <a:p>
            <a:pPr>
              <a:lnSpc>
                <a:spcPct val="80000"/>
              </a:lnSpc>
              <a:buNone/>
            </a:pPr>
            <a:r>
              <a:rPr lang="zh-CN" altLang="en-US" sz="2100" dirty="0"/>
              <a:t>　　</a:t>
            </a:r>
            <a:r>
              <a:rPr lang="en-US" altLang="zh-CN" sz="2100" dirty="0"/>
              <a:t>μA4=P3·IR4·T4</a:t>
            </a:r>
            <a:endParaRPr lang="en-US" altLang="zh-CN" sz="2100" dirty="0"/>
          </a:p>
          <a:p>
            <a:pPr>
              <a:lnSpc>
                <a:spcPct val="80000"/>
              </a:lnSpc>
              <a:buNone/>
            </a:pPr>
            <a:r>
              <a:rPr lang="zh-CN" altLang="en-US" sz="2100" dirty="0"/>
              <a:t>　　</a:t>
            </a:r>
            <a:r>
              <a:rPr lang="en-US" altLang="zh-CN" sz="2100" dirty="0"/>
              <a:t>μA3=P1·IR3·T4</a:t>
            </a:r>
            <a:endParaRPr lang="en-US" altLang="zh-CN" sz="2100" dirty="0"/>
          </a:p>
          <a:p>
            <a:pPr>
              <a:lnSpc>
                <a:spcPct val="80000"/>
              </a:lnSpc>
              <a:buNone/>
            </a:pPr>
            <a:r>
              <a:rPr lang="zh-CN" altLang="en-US" sz="2100" dirty="0"/>
              <a:t>　　</a:t>
            </a:r>
            <a:r>
              <a:rPr lang="en-US" altLang="zh-CN" sz="2100" dirty="0"/>
              <a:t>μA2=P1·IR2·T4</a:t>
            </a:r>
            <a:endParaRPr lang="en-US" altLang="zh-CN" sz="2100" dirty="0"/>
          </a:p>
          <a:p>
            <a:pPr>
              <a:lnSpc>
                <a:spcPct val="80000"/>
              </a:lnSpc>
              <a:buNone/>
            </a:pPr>
            <a:r>
              <a:rPr lang="zh-CN" altLang="en-US" sz="2100" dirty="0"/>
              <a:t>　　</a:t>
            </a:r>
            <a:r>
              <a:rPr lang="en-US" altLang="zh-CN" sz="2100" dirty="0"/>
              <a:t>μA1=P1·IR1·T4</a:t>
            </a:r>
            <a:endParaRPr lang="en-US" altLang="zh-CN" sz="2100" dirty="0"/>
          </a:p>
          <a:p>
            <a:pPr>
              <a:lnSpc>
                <a:spcPct val="80000"/>
              </a:lnSpc>
              <a:buNone/>
            </a:pPr>
            <a:r>
              <a:rPr lang="zh-CN" altLang="en-US" sz="2100" dirty="0"/>
              <a:t>　　</a:t>
            </a:r>
            <a:r>
              <a:rPr lang="en-US" altLang="zh-CN" sz="2100" dirty="0"/>
              <a:t>μA0=P1·IR0·T4+P2·C·T4</a:t>
            </a:r>
            <a:endParaRPr lang="en-US" altLang="zh-CN" sz="2100" dirty="0"/>
          </a:p>
          <a:p>
            <a:pPr>
              <a:lnSpc>
                <a:spcPct val="80000"/>
              </a:lnSpc>
              <a:buNone/>
            </a:pPr>
            <a:r>
              <a:rPr lang="en-US" altLang="zh-CN" sz="2100" dirty="0"/>
              <a:t>            </a:t>
            </a:r>
            <a:r>
              <a:rPr lang="zh-CN" altLang="en-US" sz="2100" dirty="0"/>
              <a:t>由于从触发器强置端修改，故前</a:t>
            </a:r>
            <a:r>
              <a:rPr lang="en-US" altLang="zh-CN" sz="2100" dirty="0"/>
              <a:t>5</a:t>
            </a:r>
            <a:r>
              <a:rPr lang="zh-CN" altLang="en-US" sz="2100" dirty="0"/>
              <a:t>个表达式可用“与非”门实现，最后一个用“与或非”门实现。</a:t>
            </a:r>
            <a:endParaRPr lang="zh-CN" altLang="en-US" sz="2100" dirty="0"/>
          </a:p>
          <a:p>
            <a:pPr>
              <a:lnSpc>
                <a:spcPct val="80000"/>
              </a:lnSpc>
              <a:buNone/>
            </a:pPr>
            <a:r>
              <a:rPr lang="zh-CN" altLang="en-US" sz="2100" dirty="0"/>
              <a:t>            下图仅画出了</a:t>
            </a:r>
            <a:r>
              <a:rPr lang="en-US" altLang="zh-CN" sz="2100" dirty="0"/>
              <a:t>μA2</a:t>
            </a:r>
            <a:r>
              <a:rPr lang="zh-CN" altLang="en-US" sz="2100" dirty="0"/>
              <a:t>、</a:t>
            </a:r>
            <a:r>
              <a:rPr lang="en-US" altLang="zh-CN" sz="2100" dirty="0"/>
              <a:t>μA1</a:t>
            </a:r>
            <a:r>
              <a:rPr lang="zh-CN" altLang="en-US" sz="2100" dirty="0"/>
              <a:t>、</a:t>
            </a:r>
            <a:r>
              <a:rPr lang="en-US" altLang="zh-CN" sz="2100" dirty="0"/>
              <a:t>μA0</a:t>
            </a:r>
            <a:r>
              <a:rPr lang="zh-CN" altLang="en-US" sz="2100" dirty="0"/>
              <a:t>触发器的微地址转移逻辑图。</a:t>
            </a:r>
            <a:endParaRPr lang="zh-CN" altLang="en-US" sz="2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8002" name="Picture 2" descr="5"/>
          <p:cNvPicPr>
            <a:picLocks noChangeAspect="1"/>
          </p:cNvPicPr>
          <p:nvPr/>
        </p:nvPicPr>
        <p:blipFill>
          <a:blip r:embed="rId1"/>
          <a:stretch>
            <a:fillRect/>
          </a:stretch>
        </p:blipFill>
        <p:spPr>
          <a:xfrm>
            <a:off x="33338" y="866775"/>
            <a:ext cx="8631237" cy="5254625"/>
          </a:xfrm>
          <a:prstGeom prst="rect">
            <a:avLst/>
          </a:prstGeom>
          <a:noFill/>
          <a:ln w="9525">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a:xfrm>
            <a:off x="468313" y="411163"/>
            <a:ext cx="7532687" cy="785812"/>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29027" name="Rectangle 3"/>
          <p:cNvSpPr>
            <a:spLocks noGrp="1"/>
          </p:cNvSpPr>
          <p:nvPr>
            <p:ph type="body" sz="half" idx="1"/>
          </p:nvPr>
        </p:nvSpPr>
        <p:spPr>
          <a:xfrm>
            <a:off x="457200" y="1719263"/>
            <a:ext cx="8435975" cy="3775075"/>
          </a:xfrm>
        </p:spPr>
        <p:txBody>
          <a:bodyPr vert="horz" wrap="square" lIns="91440" tIns="45720" rIns="91440" bIns="45720" anchor="t" anchorCtr="0"/>
          <a:p>
            <a:pPr>
              <a:buClr>
                <a:schemeClr val="bg2"/>
              </a:buClr>
              <a:buSzPct val="75000"/>
              <a:buFont typeface="Wingdings" panose="05000000000000000000" pitchFamily="2" charset="2"/>
              <a:buNone/>
            </a:pPr>
            <a:r>
              <a:rPr lang="en-US" altLang="zh-CN" sz="2600" dirty="0"/>
              <a:t>3</a:t>
            </a:r>
            <a:r>
              <a:rPr lang="zh-CN" altLang="en-US" sz="2600" dirty="0"/>
              <a:t>、微指令格式分为两类：水平型微指令和垂直型微指令</a:t>
            </a:r>
            <a:endParaRPr lang="zh-CN" altLang="en-US" sz="2600" dirty="0"/>
          </a:p>
          <a:p>
            <a:pPr lvl="1">
              <a:buClr>
                <a:schemeClr val="accent2"/>
              </a:buClr>
              <a:buSzPct val="80000"/>
              <a:buFont typeface="Wingdings" panose="05000000000000000000" pitchFamily="2" charset="2"/>
              <a:buNone/>
            </a:pPr>
            <a:r>
              <a:rPr lang="zh-CN" altLang="en-US" dirty="0"/>
              <a:t>（</a:t>
            </a:r>
            <a:r>
              <a:rPr lang="en-US" altLang="zh-CN" dirty="0"/>
              <a:t>1</a:t>
            </a:r>
            <a:r>
              <a:rPr lang="zh-CN" altLang="en-US" dirty="0"/>
              <a:t>）</a:t>
            </a:r>
            <a:r>
              <a:rPr lang="zh-CN" altLang="en-US" dirty="0">
                <a:solidFill>
                  <a:srgbClr val="FF3300"/>
                </a:solidFill>
              </a:rPr>
              <a:t>水平型微指令</a:t>
            </a:r>
            <a:r>
              <a:rPr lang="zh-CN" altLang="en-US" dirty="0"/>
              <a:t>   </a:t>
            </a:r>
            <a:endParaRPr lang="zh-CN" altLang="en-US" dirty="0"/>
          </a:p>
          <a:p>
            <a:pPr lvl="2">
              <a:buClr>
                <a:schemeClr val="bg2"/>
              </a:buClr>
              <a:buSzPct val="65000"/>
              <a:buFont typeface="Wingdings" panose="05000000000000000000" pitchFamily="2" charset="2"/>
            </a:pPr>
            <a:r>
              <a:rPr lang="zh-CN" altLang="en-US" sz="2500" dirty="0"/>
              <a:t>水平型微指令是指一次能定义并能并行执行多个微命令的微指令。</a:t>
            </a:r>
            <a:endParaRPr lang="zh-CN" altLang="en-US" sz="2500" dirty="0"/>
          </a:p>
          <a:p>
            <a:pPr lvl="2">
              <a:buClr>
                <a:schemeClr val="bg2"/>
              </a:buClr>
              <a:buSzPct val="65000"/>
              <a:buFont typeface="Wingdings" panose="05000000000000000000" pitchFamily="2" charset="2"/>
            </a:pPr>
            <a:r>
              <a:rPr lang="zh-CN" altLang="en-US" sz="2500" dirty="0"/>
              <a:t>格式如下</a:t>
            </a:r>
            <a:endParaRPr lang="zh-CN" altLang="en-US" sz="2500" dirty="0"/>
          </a:p>
        </p:txBody>
      </p:sp>
      <p:graphicFrame>
        <p:nvGraphicFramePr>
          <p:cNvPr id="109572" name="Group 4"/>
          <p:cNvGraphicFramePr>
            <a:graphicFrameLocks noGrp="1"/>
          </p:cNvGraphicFramePr>
          <p:nvPr>
            <p:ph sz="half" idx="1"/>
          </p:nvPr>
        </p:nvGraphicFramePr>
        <p:xfrm>
          <a:off x="519113" y="4319588"/>
          <a:ext cx="7777163" cy="793750"/>
        </p:xfrm>
        <a:graphic>
          <a:graphicData uri="http://schemas.openxmlformats.org/drawingml/2006/table">
            <a:tbl>
              <a:tblPr/>
              <a:tblGrid>
                <a:gridCol w="2662237"/>
                <a:gridCol w="2557463"/>
                <a:gridCol w="2557462"/>
              </a:tblGrid>
              <a:tr h="793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控制字段</a:t>
                      </a:r>
                      <a:endPara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判别测试字段</a:t>
                      </a:r>
                      <a:endPara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下地址字段</a:t>
                      </a:r>
                      <a:endPara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30051" name="Rectangle 3"/>
          <p:cNvSpPr>
            <a:spLocks noGrp="1"/>
          </p:cNvSpPr>
          <p:nvPr>
            <p:ph idx="1"/>
          </p:nvPr>
        </p:nvSpPr>
        <p:spPr>
          <a:xfrm>
            <a:off x="0" y="1125538"/>
            <a:ext cx="8229600" cy="4410075"/>
          </a:xfrm>
        </p:spPr>
        <p:txBody>
          <a:bodyPr vert="horz" wrap="square" lIns="91440" tIns="45720" rIns="91440" bIns="45720" anchor="t" anchorCtr="0"/>
          <a:p>
            <a:pPr lvl="1">
              <a:lnSpc>
                <a:spcPct val="90000"/>
              </a:lnSpc>
            </a:pPr>
            <a:r>
              <a:rPr lang="zh-CN" altLang="en-US" dirty="0"/>
              <a:t>水平型微指令特点</a:t>
            </a:r>
            <a:r>
              <a:rPr lang="zh-CN" altLang="en-US" sz="2400" dirty="0"/>
              <a:t>： </a:t>
            </a:r>
            <a:endParaRPr lang="zh-CN" altLang="en-US" sz="2400" dirty="0"/>
          </a:p>
          <a:p>
            <a:pPr lvl="2">
              <a:lnSpc>
                <a:spcPct val="90000"/>
              </a:lnSpc>
              <a:buFont typeface="Wingdings" panose="05000000000000000000" pitchFamily="2" charset="2"/>
              <a:buChar char="Ø"/>
            </a:pPr>
            <a:r>
              <a:rPr lang="zh-CN" altLang="en-US" sz="2800" dirty="0"/>
              <a:t>优点：</a:t>
            </a:r>
            <a:endParaRPr lang="zh-CN" altLang="en-US" sz="2800" dirty="0"/>
          </a:p>
          <a:p>
            <a:pPr lvl="3">
              <a:lnSpc>
                <a:spcPct val="90000"/>
              </a:lnSpc>
              <a:buFont typeface="Wingdings" panose="05000000000000000000" pitchFamily="2" charset="2"/>
              <a:buChar char="Ø"/>
            </a:pPr>
            <a:r>
              <a:rPr lang="zh-CN" altLang="en-US" sz="2400" dirty="0"/>
              <a:t>微指令字较长，速度越快。</a:t>
            </a:r>
            <a:endParaRPr lang="zh-CN" altLang="en-US" sz="2400" dirty="0"/>
          </a:p>
          <a:p>
            <a:pPr lvl="3">
              <a:lnSpc>
                <a:spcPct val="90000"/>
              </a:lnSpc>
              <a:buFont typeface="Wingdings" panose="05000000000000000000" pitchFamily="2" charset="2"/>
              <a:buChar char="Ø"/>
            </a:pPr>
            <a:r>
              <a:rPr lang="zh-CN" altLang="en-US" sz="2400" dirty="0"/>
              <a:t>微指令中的微操作有高度的并行性。</a:t>
            </a:r>
            <a:endParaRPr lang="zh-CN" altLang="en-US" sz="2400" dirty="0"/>
          </a:p>
          <a:p>
            <a:pPr lvl="3">
              <a:lnSpc>
                <a:spcPct val="90000"/>
              </a:lnSpc>
              <a:buFont typeface="Wingdings" panose="05000000000000000000" pitchFamily="2" charset="2"/>
              <a:buChar char="Ø"/>
            </a:pPr>
            <a:r>
              <a:rPr lang="zh-CN" altLang="en-US" sz="2400" dirty="0"/>
              <a:t>微指令译码简单。</a:t>
            </a:r>
            <a:endParaRPr lang="zh-CN" altLang="en-US" sz="2400" dirty="0"/>
          </a:p>
          <a:p>
            <a:pPr lvl="3">
              <a:lnSpc>
                <a:spcPct val="90000"/>
              </a:lnSpc>
              <a:buFont typeface="Wingdings" panose="05000000000000000000" pitchFamily="2" charset="2"/>
              <a:buChar char="Ø"/>
            </a:pPr>
            <a:r>
              <a:rPr lang="zh-CN" altLang="en-US" sz="2400" dirty="0"/>
              <a:t>控制存储器的纵向容量小，灵活性强。</a:t>
            </a:r>
            <a:endParaRPr lang="zh-CN" altLang="en-US" sz="2400" dirty="0"/>
          </a:p>
          <a:p>
            <a:pPr lvl="2">
              <a:lnSpc>
                <a:spcPct val="90000"/>
              </a:lnSpc>
              <a:buFont typeface="Wingdings" panose="05000000000000000000" pitchFamily="2" charset="2"/>
              <a:buChar char="Ø"/>
            </a:pPr>
            <a:r>
              <a:rPr lang="zh-CN" altLang="en-US" sz="2800" dirty="0"/>
              <a:t>缺点：</a:t>
            </a:r>
            <a:endParaRPr lang="zh-CN" altLang="en-US" sz="2800" dirty="0"/>
          </a:p>
          <a:p>
            <a:pPr lvl="3">
              <a:lnSpc>
                <a:spcPct val="90000"/>
              </a:lnSpc>
              <a:buFont typeface="Wingdings" panose="05000000000000000000" pitchFamily="2" charset="2"/>
              <a:buChar char="Ø"/>
            </a:pPr>
            <a:r>
              <a:rPr lang="zh-CN" altLang="en-US" sz="2400" dirty="0"/>
              <a:t>微指令字比较长，明显地增加了控制存储器的横向容量。</a:t>
            </a:r>
            <a:endParaRPr lang="zh-CN" altLang="en-US" sz="2400" dirty="0"/>
          </a:p>
          <a:p>
            <a:pPr lvl="3">
              <a:lnSpc>
                <a:spcPct val="90000"/>
              </a:lnSpc>
              <a:buFont typeface="Wingdings" panose="05000000000000000000" pitchFamily="2" charset="2"/>
              <a:buChar char="Ø"/>
            </a:pPr>
            <a:r>
              <a:rPr lang="zh-CN" altLang="en-US" sz="2400" dirty="0"/>
              <a:t>水平微指令与机器指令差别很大，一般要熟悉机器结构、数据通路、时序系统以及指令执行过程的人才能进行微程序设计，这对用户来说是很困难的。</a:t>
            </a:r>
            <a:endParaRPr lang="zh-CN" altLang="en-US" sz="24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32099" name="Rectangle 3"/>
          <p:cNvSpPr>
            <a:spLocks noGrp="1"/>
          </p:cNvSpPr>
          <p:nvPr>
            <p:ph idx="1"/>
          </p:nvPr>
        </p:nvSpPr>
        <p:spPr>
          <a:xfrm>
            <a:off x="457200" y="1268413"/>
            <a:ext cx="7427913" cy="4862512"/>
          </a:xfrm>
        </p:spPr>
        <p:txBody>
          <a:bodyPr vert="horz" wrap="square" lIns="91440" tIns="45720" rIns="91440" bIns="45720" anchor="t" anchorCtr="0"/>
          <a:p>
            <a:pPr>
              <a:buNone/>
            </a:pPr>
            <a:r>
              <a:rPr lang="zh-CN" altLang="en-US" sz="2600" dirty="0"/>
              <a:t>（</a:t>
            </a:r>
            <a:r>
              <a:rPr lang="en-US" altLang="zh-CN" sz="2600" dirty="0"/>
              <a:t>2</a:t>
            </a:r>
            <a:r>
              <a:rPr lang="zh-CN" altLang="en-US" sz="2600" dirty="0"/>
              <a:t>）</a:t>
            </a:r>
            <a:r>
              <a:rPr lang="zh-CN" altLang="en-US" sz="2600" dirty="0">
                <a:solidFill>
                  <a:srgbClr val="FF3300"/>
                </a:solidFill>
              </a:rPr>
              <a:t>垂直型微指令</a:t>
            </a:r>
            <a:r>
              <a:rPr lang="zh-CN" altLang="en-US" sz="2600" dirty="0"/>
              <a:t>：采用编码方式。</a:t>
            </a:r>
            <a:endParaRPr lang="zh-CN" altLang="en-US" sz="2600" dirty="0"/>
          </a:p>
          <a:p>
            <a:pPr lvl="1"/>
            <a:r>
              <a:rPr lang="zh-CN" altLang="en-US" sz="2200" dirty="0"/>
              <a:t>设置微操作控制字段时，一次只能执行一到二个微命令的微指令称为垂直型微指令。</a:t>
            </a:r>
            <a:endParaRPr lang="zh-CN" altLang="en-US" dirty="0"/>
          </a:p>
        </p:txBody>
      </p:sp>
      <p:sp>
        <p:nvSpPr>
          <p:cNvPr id="132100" name="Rectangle 4"/>
          <p:cNvSpPr/>
          <p:nvPr/>
        </p:nvSpPr>
        <p:spPr>
          <a:xfrm>
            <a:off x="2228850" y="303371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pic>
        <p:nvPicPr>
          <p:cNvPr id="132101" name="Picture 5" descr="D:\jinerwork\组成\白中英版改编\Chap05\Images\p182.1.gif"/>
          <p:cNvPicPr>
            <a:picLocks noChangeAspect="1"/>
          </p:cNvPicPr>
          <p:nvPr/>
        </p:nvPicPr>
        <p:blipFill>
          <a:blip r:embed="rId1" r:link="rId2"/>
          <a:stretch>
            <a:fillRect/>
          </a:stretch>
        </p:blipFill>
        <p:spPr>
          <a:xfrm>
            <a:off x="457200" y="2900363"/>
            <a:ext cx="8424863" cy="1422400"/>
          </a:xfrm>
          <a:prstGeom prst="rect">
            <a:avLst/>
          </a:prstGeom>
          <a:noFill/>
          <a:ln w="9525">
            <a:noFill/>
          </a:ln>
        </p:spPr>
      </p:pic>
      <p:sp>
        <p:nvSpPr>
          <p:cNvPr id="132102" name="文本框 1"/>
          <p:cNvSpPr txBox="1"/>
          <p:nvPr/>
        </p:nvSpPr>
        <p:spPr>
          <a:xfrm>
            <a:off x="893763" y="2562225"/>
            <a:ext cx="4392612"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dirty="0"/>
              <a:t>(1) </a:t>
            </a:r>
            <a:r>
              <a:rPr lang="zh-CN" altLang="en-US" sz="1800" dirty="0"/>
              <a:t>寄存器</a:t>
            </a:r>
            <a:r>
              <a:rPr lang="en-US" altLang="zh-CN" sz="1800" dirty="0"/>
              <a:t>-</a:t>
            </a:r>
            <a:r>
              <a:rPr lang="zh-CN" altLang="en-US" sz="1800" dirty="0"/>
              <a:t>寄存器传送型微指令</a:t>
            </a:r>
            <a:endParaRPr lang="zh-CN" altLang="en-US" sz="1800" dirty="0"/>
          </a:p>
        </p:txBody>
      </p:sp>
      <p:sp>
        <p:nvSpPr>
          <p:cNvPr id="132103" name="文本框 6"/>
          <p:cNvSpPr txBox="1"/>
          <p:nvPr/>
        </p:nvSpPr>
        <p:spPr>
          <a:xfrm>
            <a:off x="893763" y="4452938"/>
            <a:ext cx="4392612"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dirty="0"/>
              <a:t>(2) </a:t>
            </a:r>
            <a:r>
              <a:rPr lang="zh-CN" altLang="en-US" sz="1800" dirty="0"/>
              <a:t>运算控制型微指令</a:t>
            </a:r>
            <a:endParaRPr lang="zh-CN" altLang="en-US" sz="1800" dirty="0"/>
          </a:p>
        </p:txBody>
      </p:sp>
      <p:pic>
        <p:nvPicPr>
          <p:cNvPr id="132104" name="Picture 5" descr="D:\jinerwork\组成\白中英版改编\Chap05\Images\p182.1.gif"/>
          <p:cNvPicPr>
            <a:picLocks noChangeAspect="1"/>
          </p:cNvPicPr>
          <p:nvPr/>
        </p:nvPicPr>
        <p:blipFill>
          <a:blip r:embed="rId1" r:link="rId2"/>
          <a:stretch>
            <a:fillRect/>
          </a:stretch>
        </p:blipFill>
        <p:spPr>
          <a:xfrm>
            <a:off x="457200" y="4951413"/>
            <a:ext cx="8424863" cy="1422400"/>
          </a:xfrm>
          <a:prstGeom prst="rect">
            <a:avLst/>
          </a:prstGeom>
          <a:noFill/>
          <a:ln w="9525">
            <a:noFill/>
          </a:ln>
        </p:spPr>
      </p:pic>
      <p:sp>
        <p:nvSpPr>
          <p:cNvPr id="132105" name="文本框 2"/>
          <p:cNvSpPr txBox="1"/>
          <p:nvPr/>
        </p:nvSpPr>
        <p:spPr>
          <a:xfrm>
            <a:off x="1116013" y="5662613"/>
            <a:ext cx="719137" cy="369887"/>
          </a:xfrm>
          <a:prstGeom prst="rect">
            <a:avLst/>
          </a:prstGeom>
          <a:solidFill>
            <a:srgbClr val="CC66FF"/>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dirty="0"/>
              <a:t>001</a:t>
            </a:r>
            <a:endParaRPr lang="zh-CN" altLang="en-US" sz="1800" dirty="0"/>
          </a:p>
        </p:txBody>
      </p:sp>
      <p:sp>
        <p:nvSpPr>
          <p:cNvPr id="132106" name="文本框 9"/>
          <p:cNvSpPr txBox="1"/>
          <p:nvPr/>
        </p:nvSpPr>
        <p:spPr>
          <a:xfrm>
            <a:off x="2730500" y="5627688"/>
            <a:ext cx="1770063" cy="369887"/>
          </a:xfrm>
          <a:prstGeom prst="rect">
            <a:avLst/>
          </a:prstGeom>
          <a:solidFill>
            <a:srgbClr val="CC66FF"/>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1800" dirty="0"/>
              <a:t>左输入源编址</a:t>
            </a:r>
            <a:endParaRPr lang="zh-CN" altLang="en-US" sz="1800" dirty="0"/>
          </a:p>
        </p:txBody>
      </p:sp>
      <p:sp>
        <p:nvSpPr>
          <p:cNvPr id="132107" name="文本框 10"/>
          <p:cNvSpPr txBox="1"/>
          <p:nvPr/>
        </p:nvSpPr>
        <p:spPr>
          <a:xfrm>
            <a:off x="5286375" y="5635625"/>
            <a:ext cx="1770063" cy="369888"/>
          </a:xfrm>
          <a:prstGeom prst="rect">
            <a:avLst/>
          </a:prstGeom>
          <a:solidFill>
            <a:srgbClr val="CC66FF"/>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1800" dirty="0"/>
              <a:t>右输入源编址</a:t>
            </a:r>
            <a:endParaRPr lang="zh-CN" altLang="en-US" sz="1800" dirty="0"/>
          </a:p>
        </p:txBody>
      </p:sp>
      <p:sp>
        <p:nvSpPr>
          <p:cNvPr id="132108" name="文本框 11"/>
          <p:cNvSpPr txBox="1"/>
          <p:nvPr/>
        </p:nvSpPr>
        <p:spPr>
          <a:xfrm>
            <a:off x="7367588" y="5613400"/>
            <a:ext cx="1020762" cy="369888"/>
          </a:xfrm>
          <a:prstGeom prst="rect">
            <a:avLst/>
          </a:prstGeom>
          <a:solidFill>
            <a:srgbClr val="CC66FF"/>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dirty="0"/>
              <a:t>ALU</a:t>
            </a:r>
            <a:endParaRPr lang="zh-CN" altLang="en-US" sz="1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33123" name="Rectangle 3"/>
          <p:cNvSpPr>
            <a:spLocks noGrp="1"/>
          </p:cNvSpPr>
          <p:nvPr>
            <p:ph idx="1"/>
          </p:nvPr>
        </p:nvSpPr>
        <p:spPr>
          <a:xfrm>
            <a:off x="381000" y="1196975"/>
            <a:ext cx="8223250" cy="5257800"/>
          </a:xfrm>
        </p:spPr>
        <p:txBody>
          <a:bodyPr vert="horz" wrap="square" lIns="91440" tIns="45720" rIns="91440" bIns="45720" anchor="t" anchorCtr="0"/>
          <a:p>
            <a:pPr>
              <a:lnSpc>
                <a:spcPct val="90000"/>
              </a:lnSpc>
            </a:pPr>
            <a:r>
              <a:rPr lang="zh-CN" altLang="en-US" sz="2600" dirty="0"/>
              <a:t>垂直型微指令的</a:t>
            </a:r>
            <a:r>
              <a:rPr lang="zh-CN" altLang="en-US" sz="2400" dirty="0"/>
              <a:t>特点：</a:t>
            </a:r>
            <a:endParaRPr lang="zh-CN" altLang="en-US" sz="2400" dirty="0"/>
          </a:p>
          <a:p>
            <a:pPr lvl="1">
              <a:lnSpc>
                <a:spcPct val="90000"/>
              </a:lnSpc>
            </a:pPr>
            <a:r>
              <a:rPr lang="zh-CN" altLang="en-US" sz="2000" dirty="0"/>
              <a:t>微指令字短，一般为</a:t>
            </a:r>
            <a:r>
              <a:rPr lang="en-US" altLang="zh-CN" sz="2000" dirty="0"/>
              <a:t>10</a:t>
            </a:r>
            <a:r>
              <a:rPr lang="zh-CN" altLang="en-US" sz="2000" dirty="0"/>
              <a:t>～</a:t>
            </a:r>
            <a:r>
              <a:rPr lang="en-US" altLang="zh-CN" sz="2000" dirty="0"/>
              <a:t>20</a:t>
            </a:r>
            <a:r>
              <a:rPr lang="zh-CN" altLang="en-US" sz="2000" dirty="0"/>
              <a:t>位左右。</a:t>
            </a:r>
            <a:endParaRPr lang="zh-CN" altLang="en-US" sz="2000" dirty="0"/>
          </a:p>
          <a:p>
            <a:pPr lvl="1">
              <a:lnSpc>
                <a:spcPct val="90000"/>
              </a:lnSpc>
            </a:pPr>
            <a:r>
              <a:rPr lang="zh-CN" altLang="en-US" sz="2000" dirty="0"/>
              <a:t>微指令的并行微操作能力有限，一条微指令一般只包含一个微操作命令。</a:t>
            </a:r>
            <a:endParaRPr lang="zh-CN" altLang="en-US" sz="2000" dirty="0"/>
          </a:p>
          <a:p>
            <a:pPr lvl="1">
              <a:lnSpc>
                <a:spcPct val="90000"/>
              </a:lnSpc>
            </a:pPr>
            <a:r>
              <a:rPr lang="zh-CN" altLang="en-US" sz="2000" dirty="0"/>
              <a:t>微指令译码比较复杂。全部微命令用一个微操作控制字段进行编码，微指令执行时需行完全译码。</a:t>
            </a:r>
            <a:endParaRPr lang="zh-CN" altLang="en-US" sz="2000" dirty="0"/>
          </a:p>
          <a:p>
            <a:pPr lvl="1">
              <a:lnSpc>
                <a:spcPct val="90000"/>
              </a:lnSpc>
            </a:pPr>
            <a:r>
              <a:rPr lang="zh-CN" altLang="en-US" sz="2200" dirty="0"/>
              <a:t>设计用户只需注意微指令的功能，而对微命令及其选择、数据通路的结构则不用过多地考虑，因此，便于用户编制微程序。而且，编制的微程序规整、直观，便于实现设计的自动化。</a:t>
            </a:r>
            <a:endParaRPr lang="zh-CN" altLang="en-US" sz="2200" dirty="0"/>
          </a:p>
          <a:p>
            <a:pPr lvl="1">
              <a:lnSpc>
                <a:spcPct val="90000"/>
              </a:lnSpc>
            </a:pPr>
            <a:r>
              <a:rPr lang="zh-CN" altLang="en-US" sz="2200" dirty="0"/>
              <a:t>垂直微指令字较短，使控制存储器的横向容量少。</a:t>
            </a:r>
            <a:endParaRPr lang="zh-CN" altLang="en-US" sz="2200" dirty="0"/>
          </a:p>
          <a:p>
            <a:pPr lvl="1">
              <a:lnSpc>
                <a:spcPct val="90000"/>
              </a:lnSpc>
            </a:pPr>
            <a:r>
              <a:rPr lang="zh-CN" altLang="en-US" sz="2200" dirty="0"/>
              <a:t>用垂直微指令编制微程序要使用较多的微指令，微程序较长；要求控制存储器的纵向容量大。垂直微指令产生微命令要经过译码，微程序执行速度慢。</a:t>
            </a:r>
            <a:endParaRPr lang="zh-CN" altLang="en-US" sz="2200" dirty="0"/>
          </a:p>
          <a:p>
            <a:pPr lvl="1">
              <a:lnSpc>
                <a:spcPct val="90000"/>
              </a:lnSpc>
            </a:pPr>
            <a:r>
              <a:rPr lang="zh-CN" altLang="en-US" sz="2200" dirty="0"/>
              <a:t>不能充分利用数据通路具有多种并行操作能力</a:t>
            </a:r>
            <a:endParaRPr lang="zh-CN" altLang="en-US" sz="2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35171" name="Rectangle 3"/>
          <p:cNvSpPr>
            <a:spLocks noGrp="1"/>
          </p:cNvSpPr>
          <p:nvPr>
            <p:ph idx="1"/>
          </p:nvPr>
        </p:nvSpPr>
        <p:spPr>
          <a:xfrm>
            <a:off x="404813" y="1412875"/>
            <a:ext cx="7696200" cy="4537075"/>
          </a:xfrm>
        </p:spPr>
        <p:txBody>
          <a:bodyPr vert="horz" wrap="square" lIns="91440" tIns="45720" rIns="91440" bIns="45720" anchor="t" anchorCtr="0"/>
          <a:p>
            <a:pPr lvl="1">
              <a:lnSpc>
                <a:spcPct val="90000"/>
              </a:lnSpc>
              <a:buNone/>
            </a:pPr>
            <a:r>
              <a:rPr lang="zh-CN" altLang="en-US" sz="2700" dirty="0"/>
              <a:t>水平型微指令和垂直型微指令的比较</a:t>
            </a:r>
            <a:endParaRPr lang="zh-CN" altLang="en-US" sz="2700" dirty="0"/>
          </a:p>
          <a:p>
            <a:pPr lvl="1">
              <a:lnSpc>
                <a:spcPct val="90000"/>
              </a:lnSpc>
              <a:buNone/>
            </a:pPr>
            <a:r>
              <a:rPr lang="en-US" altLang="zh-CN" dirty="0"/>
              <a:t>(1)</a:t>
            </a:r>
            <a:r>
              <a:rPr lang="zh-CN" altLang="en-US" dirty="0"/>
              <a:t>水平型微指令并行操作能力强，效率高，灵活性强，垂直型微指令则较差。</a:t>
            </a:r>
            <a:endParaRPr lang="zh-CN" altLang="en-US" dirty="0"/>
          </a:p>
          <a:p>
            <a:pPr lvl="1">
              <a:lnSpc>
                <a:spcPct val="90000"/>
              </a:lnSpc>
              <a:buNone/>
            </a:pPr>
            <a:r>
              <a:rPr lang="en-US" altLang="zh-CN" dirty="0"/>
              <a:t>(2)</a:t>
            </a:r>
            <a:r>
              <a:rPr lang="zh-CN" altLang="en-US" dirty="0"/>
              <a:t>水平型微指令执行一条指令的时间短，垂直型微指令执行时间长。</a:t>
            </a:r>
            <a:endParaRPr lang="zh-CN" altLang="en-US" dirty="0"/>
          </a:p>
          <a:p>
            <a:pPr lvl="1">
              <a:lnSpc>
                <a:spcPct val="90000"/>
              </a:lnSpc>
              <a:buNone/>
            </a:pPr>
            <a:r>
              <a:rPr lang="en-US" altLang="zh-CN" dirty="0"/>
              <a:t>(3)</a:t>
            </a:r>
            <a:r>
              <a:rPr lang="zh-CN" altLang="en-US" dirty="0"/>
              <a:t>由水平型微指令解释指令的微程序，有微指令字较长而微程序短的特点。垂直型微指令则相反。</a:t>
            </a:r>
            <a:endParaRPr lang="zh-CN" altLang="en-US" dirty="0"/>
          </a:p>
          <a:p>
            <a:pPr lvl="1">
              <a:lnSpc>
                <a:spcPct val="90000"/>
              </a:lnSpc>
              <a:buNone/>
            </a:pPr>
            <a:r>
              <a:rPr lang="en-US" altLang="zh-CN" dirty="0"/>
              <a:t>(4)</a:t>
            </a:r>
            <a:r>
              <a:rPr lang="zh-CN" altLang="en-US" dirty="0"/>
              <a:t>水平型微指令用户难以掌握，而垂直型微指令与指令比较相似，相对来说，比较容易掌握。</a:t>
            </a:r>
            <a:endParaRPr lang="zh-CN" altLang="en-US" dirty="0"/>
          </a:p>
          <a:p>
            <a:pPr lvl="2">
              <a:lnSpc>
                <a:spcPct val="90000"/>
              </a:lnSpc>
            </a:pPr>
            <a:endParaRPr lang="zh-CN" altLang="en-US" sz="2500" dirty="0"/>
          </a:p>
          <a:p>
            <a:pPr>
              <a:lnSpc>
                <a:spcPct val="90000"/>
              </a:lnSpc>
            </a:pPr>
            <a:endParaRPr lang="en-US" altLang="zh-CN"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5</a:t>
            </a:r>
            <a:r>
              <a:rPr lang="en-US" altLang="zh-CN" dirty="0"/>
              <a:t>.4.2  </a:t>
            </a:r>
            <a:r>
              <a:rPr lang="zh-CN" altLang="en-US" dirty="0"/>
              <a:t>微程序设计技术</a:t>
            </a:r>
            <a:endParaRPr lang="zh-CN" altLang="en-US" dirty="0"/>
          </a:p>
        </p:txBody>
      </p:sp>
      <p:sp>
        <p:nvSpPr>
          <p:cNvPr id="136195" name="Rectangle 3"/>
          <p:cNvSpPr>
            <a:spLocks noGrp="1"/>
          </p:cNvSpPr>
          <p:nvPr>
            <p:ph idx="1"/>
          </p:nvPr>
        </p:nvSpPr>
        <p:spPr>
          <a:xfrm>
            <a:off x="457200" y="1268413"/>
            <a:ext cx="8002588" cy="4441825"/>
          </a:xfrm>
        </p:spPr>
        <p:txBody>
          <a:bodyPr vert="horz" wrap="square" lIns="91440" tIns="45720" rIns="91440" bIns="45720" anchor="t" anchorCtr="0"/>
          <a:p>
            <a:pPr algn="just">
              <a:lnSpc>
                <a:spcPct val="90000"/>
              </a:lnSpc>
              <a:buNone/>
            </a:pPr>
            <a:r>
              <a:rPr lang="en-US" altLang="zh-CN" dirty="0">
                <a:latin typeface="宋体" panose="02010600030101010101" pitchFamily="2" charset="-122"/>
                <a:cs typeface="Times New Roman" panose="02020603050405020304" pitchFamily="18" charset="0"/>
              </a:rPr>
              <a:t>4</a:t>
            </a:r>
            <a:r>
              <a:rPr lang="zh-CN" altLang="en-US" dirty="0">
                <a:latin typeface="宋体" panose="02010600030101010101" pitchFamily="2" charset="-122"/>
                <a:cs typeface="Times New Roman" panose="02020603050405020304" pitchFamily="18" charset="0"/>
              </a:rPr>
              <a:t>、</a:t>
            </a:r>
            <a:r>
              <a:rPr lang="zh-CN" altLang="en-US" dirty="0">
                <a:latin typeface="宋体" panose="02010600030101010101" pitchFamily="2" charset="-122"/>
              </a:rPr>
              <a:t>动态微程序设计</a:t>
            </a:r>
            <a:endParaRPr lang="zh-CN" altLang="en-US" dirty="0">
              <a:latin typeface="宋体" panose="02010600030101010101" pitchFamily="2" charset="-122"/>
              <a:cs typeface="Times New Roman" panose="02020603050405020304" pitchFamily="18" charset="0"/>
            </a:endParaRPr>
          </a:p>
          <a:p>
            <a:pPr lvl="1" algn="just">
              <a:lnSpc>
                <a:spcPct val="90000"/>
              </a:lnSpc>
            </a:pPr>
            <a:r>
              <a:rPr lang="zh-CN" altLang="en-US" dirty="0">
                <a:latin typeface="宋体" panose="02010600030101010101" pitchFamily="2" charset="-122"/>
              </a:rPr>
              <a:t>对应于一台计算机的机器指令只有一组微程序，这一组微程序设计好之后，一般无须改变而且也不好改变，这种微程序设计技术称为静态微程序设计。</a:t>
            </a:r>
            <a:r>
              <a:rPr lang="zh-CN" altLang="en-US" dirty="0">
                <a:latin typeface="宋体" panose="02010600030101010101" pitchFamily="2" charset="-122"/>
                <a:cs typeface="Times New Roman" panose="02020603050405020304" pitchFamily="18" charset="0"/>
              </a:rPr>
              <a:t> </a:t>
            </a:r>
            <a:endParaRPr lang="zh-CN" altLang="en-US" dirty="0">
              <a:latin typeface="宋体" panose="02010600030101010101" pitchFamily="2" charset="-122"/>
              <a:cs typeface="Times New Roman" panose="02020603050405020304" pitchFamily="18" charset="0"/>
            </a:endParaRPr>
          </a:p>
          <a:p>
            <a:pPr lvl="1" algn="just">
              <a:lnSpc>
                <a:spcPct val="90000"/>
              </a:lnSpc>
            </a:pPr>
            <a:r>
              <a:rPr lang="zh-CN" altLang="en-US" dirty="0">
                <a:latin typeface="宋体" panose="02010600030101010101" pitchFamily="2" charset="-122"/>
              </a:rPr>
              <a:t>采用</a:t>
            </a:r>
            <a:r>
              <a:rPr lang="en-US" altLang="zh-CN" dirty="0">
                <a:latin typeface="宋体" panose="02010600030101010101" pitchFamily="2" charset="-122"/>
                <a:cs typeface="Times New Roman" panose="02020603050405020304" pitchFamily="18" charset="0"/>
              </a:rPr>
              <a:t>EPROM</a:t>
            </a:r>
            <a:r>
              <a:rPr lang="zh-CN" altLang="en-US" dirty="0">
                <a:latin typeface="宋体" panose="02010600030101010101" pitchFamily="2" charset="-122"/>
              </a:rPr>
              <a:t>作为控制存储器，可以通过改变微指令和微程序来改变机器的指令系统，这种微程序设计技术称为动态微程序设计。</a:t>
            </a:r>
            <a:endParaRPr lang="zh-CN" altLang="en-US" dirty="0">
              <a:latin typeface="宋体" panose="02010600030101010101" pitchFamily="2"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3"/>
          <p:cNvSpPr>
            <a:spLocks noGrp="1"/>
          </p:cNvSpPr>
          <p:nvPr>
            <p:ph idx="1"/>
          </p:nvPr>
        </p:nvSpPr>
        <p:spPr>
          <a:xfrm>
            <a:off x="457200" y="1268413"/>
            <a:ext cx="8002588" cy="4441825"/>
          </a:xfrm>
        </p:spPr>
        <p:txBody>
          <a:bodyPr vert="horz" wrap="square" lIns="91440" tIns="45720" rIns="91440" bIns="45720" anchor="t" anchorCtr="0"/>
          <a:p>
            <a:pPr marL="457200" lvl="1" indent="0" algn="just">
              <a:lnSpc>
                <a:spcPct val="90000"/>
              </a:lnSpc>
              <a:buNone/>
            </a:pPr>
            <a:endParaRPr lang="en-US" altLang="zh-CN" dirty="0">
              <a:solidFill>
                <a:srgbClr val="FF0000"/>
              </a:solidFill>
              <a:latin typeface="宋体" panose="02010600030101010101" pitchFamily="2" charset="-122"/>
            </a:endParaRPr>
          </a:p>
          <a:p>
            <a:pPr marL="457200" lvl="1" indent="0" algn="just">
              <a:lnSpc>
                <a:spcPct val="90000"/>
              </a:lnSpc>
              <a:buNone/>
            </a:pPr>
            <a:r>
              <a:rPr lang="zh-CN" altLang="en-US" dirty="0">
                <a:latin typeface="宋体" panose="02010600030101010101" pitchFamily="2" charset="-122"/>
              </a:rPr>
              <a:t>（</a:t>
            </a:r>
            <a:r>
              <a:rPr lang="en-US" altLang="zh-CN" dirty="0">
                <a:latin typeface="宋体" panose="02010600030101010101" pitchFamily="2" charset="-122"/>
              </a:rPr>
              <a:t>408</a:t>
            </a:r>
            <a:r>
              <a:rPr lang="zh-CN" altLang="en-US" dirty="0">
                <a:latin typeface="宋体" panose="02010600030101010101" pitchFamily="2" charset="-122"/>
              </a:rPr>
              <a:t>）某计算机的控制器采用微程序控制方式，微指令中的操作控制字段采用字段直接编码法，共有</a:t>
            </a:r>
            <a:r>
              <a:rPr lang="en-US" altLang="zh-CN" dirty="0">
                <a:latin typeface="宋体" panose="02010600030101010101" pitchFamily="2" charset="-122"/>
              </a:rPr>
              <a:t>33</a:t>
            </a:r>
            <a:r>
              <a:rPr lang="zh-CN" altLang="en-US" dirty="0">
                <a:latin typeface="宋体" panose="02010600030101010101" pitchFamily="2" charset="-122"/>
              </a:rPr>
              <a:t>个微命令，构成</a:t>
            </a:r>
            <a:r>
              <a:rPr lang="en-US" altLang="zh-CN" dirty="0">
                <a:latin typeface="宋体" panose="02010600030101010101" pitchFamily="2" charset="-122"/>
              </a:rPr>
              <a:t>5</a:t>
            </a:r>
            <a:r>
              <a:rPr lang="zh-CN" altLang="en-US" dirty="0">
                <a:latin typeface="宋体" panose="02010600030101010101" pitchFamily="2" charset="-122"/>
              </a:rPr>
              <a:t>个互斥类，分别包含</a:t>
            </a:r>
            <a:r>
              <a:rPr lang="en-US" altLang="zh-CN" dirty="0">
                <a:latin typeface="宋体" panose="02010600030101010101" pitchFamily="2" charset="-122"/>
              </a:rPr>
              <a:t>7,3,12,5</a:t>
            </a:r>
            <a:r>
              <a:rPr lang="zh-CN" altLang="en-US" dirty="0">
                <a:latin typeface="宋体" panose="02010600030101010101" pitchFamily="2" charset="-122"/>
              </a:rPr>
              <a:t>和</a:t>
            </a:r>
            <a:r>
              <a:rPr lang="en-US" altLang="zh-CN" dirty="0">
                <a:latin typeface="宋体" panose="02010600030101010101" pitchFamily="2" charset="-122"/>
              </a:rPr>
              <a:t>6</a:t>
            </a:r>
            <a:r>
              <a:rPr lang="zh-CN" altLang="en-US" dirty="0">
                <a:latin typeface="宋体" panose="02010600030101010101" pitchFamily="2" charset="-122"/>
              </a:rPr>
              <a:t>个微命令，则操作控制字段至少有（）。</a:t>
            </a:r>
            <a:endParaRPr lang="en-US" altLang="zh-CN" dirty="0">
              <a:latin typeface="宋体" panose="02010600030101010101" pitchFamily="2" charset="-122"/>
            </a:endParaRPr>
          </a:p>
          <a:p>
            <a:pPr marL="457200" lvl="1" indent="0" algn="just">
              <a:lnSpc>
                <a:spcPct val="90000"/>
              </a:lnSpc>
              <a:buNone/>
            </a:pPr>
            <a:r>
              <a:rPr lang="en-US" altLang="zh-CN" dirty="0">
                <a:latin typeface="宋体" panose="02010600030101010101" pitchFamily="2" charset="-122"/>
              </a:rPr>
              <a:t>A. 5</a:t>
            </a:r>
            <a:r>
              <a:rPr lang="zh-CN" altLang="en-US" dirty="0">
                <a:latin typeface="宋体" panose="02010600030101010101" pitchFamily="2" charset="-122"/>
              </a:rPr>
              <a:t>位    </a:t>
            </a:r>
            <a:r>
              <a:rPr lang="en-US" altLang="zh-CN" dirty="0">
                <a:latin typeface="宋体" panose="02010600030101010101" pitchFamily="2" charset="-122"/>
              </a:rPr>
              <a:t>B.6</a:t>
            </a:r>
            <a:r>
              <a:rPr lang="zh-CN" altLang="en-US" dirty="0">
                <a:latin typeface="宋体" panose="02010600030101010101" pitchFamily="2" charset="-122"/>
              </a:rPr>
              <a:t>位    </a:t>
            </a:r>
            <a:r>
              <a:rPr lang="en-US" altLang="zh-CN" dirty="0">
                <a:latin typeface="宋体" panose="02010600030101010101" pitchFamily="2" charset="-122"/>
              </a:rPr>
              <a:t>C.15</a:t>
            </a:r>
            <a:r>
              <a:rPr lang="zh-CN" altLang="en-US" dirty="0">
                <a:latin typeface="宋体" panose="02010600030101010101" pitchFamily="2" charset="-122"/>
              </a:rPr>
              <a:t>位    </a:t>
            </a:r>
            <a:r>
              <a:rPr lang="en-US" altLang="zh-CN" dirty="0">
                <a:latin typeface="宋体" panose="02010600030101010101" pitchFamily="2" charset="-122"/>
              </a:rPr>
              <a:t>D.33</a:t>
            </a:r>
            <a:r>
              <a:rPr lang="zh-CN" altLang="en-US" dirty="0">
                <a:latin typeface="宋体" panose="02010600030101010101" pitchFamily="2" charset="-122"/>
              </a:rPr>
              <a:t>位</a:t>
            </a:r>
            <a:endParaRPr lang="en-US" altLang="zh-CN" dirty="0">
              <a:latin typeface="宋体" panose="02010600030101010101" pitchFamily="2" charset="-122"/>
            </a:endParaRPr>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15743</Words>
  <Application>WPS 演示</Application>
  <PresentationFormat/>
  <Paragraphs>2143</Paragraphs>
  <Slides>117</Slides>
  <Notes>26</Notes>
  <HiddenSlides>0</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10</vt:i4>
      </vt:variant>
      <vt:variant>
        <vt:lpstr>幻灯片标题</vt:lpstr>
      </vt:variant>
      <vt:variant>
        <vt:i4>117</vt:i4>
      </vt:variant>
    </vt:vector>
  </HeadingPairs>
  <TitlesOfParts>
    <vt:vector size="149" baseType="lpstr">
      <vt:lpstr>Arial</vt:lpstr>
      <vt:lpstr>宋体</vt:lpstr>
      <vt:lpstr>Wingdings</vt:lpstr>
      <vt:lpstr>Times New Roman</vt:lpstr>
      <vt:lpstr>黑体</vt:lpstr>
      <vt:lpstr>Wingdings 2</vt:lpstr>
      <vt:lpstr>Wingdings</vt:lpstr>
      <vt:lpstr>楷体_GB2312</vt:lpstr>
      <vt:lpstr>新宋体</vt:lpstr>
      <vt:lpstr>华文新魏</vt:lpstr>
      <vt:lpstr>华文中宋</vt:lpstr>
      <vt:lpstr>隶书</vt:lpstr>
      <vt:lpstr>微软雅黑</vt:lpstr>
      <vt:lpstr>Comic Sans MS</vt:lpstr>
      <vt:lpstr>Tahoma</vt:lpstr>
      <vt:lpstr>楷体</vt:lpstr>
      <vt:lpstr>Arial Unicode MS</vt:lpstr>
      <vt:lpstr>Calibri</vt:lpstr>
      <vt:lpstr>Symbol</vt:lpstr>
      <vt:lpstr>华文楷体</vt:lpstr>
      <vt:lpstr>Pixel</vt:lpstr>
      <vt:lpstr>1_Pixel</vt:lpstr>
      <vt:lpstr>Photoshop.Image.7</vt:lpstr>
      <vt:lpstr>Equation.3</vt:lpstr>
      <vt:lpstr>Photoshop.Image.7</vt:lpstr>
      <vt:lpstr>Photoshop.Image.7</vt:lpstr>
      <vt:lpstr>Photoshop.Image.7</vt:lpstr>
      <vt:lpstr>Photoshop.Image.7</vt:lpstr>
      <vt:lpstr>Photoshop.Image.7</vt:lpstr>
      <vt:lpstr>Photoshop.Image.7</vt:lpstr>
      <vt:lpstr>Photoshop.Image.7</vt:lpstr>
      <vt:lpstr>Equation.3</vt:lpstr>
      <vt:lpstr>第五章 中央处理器</vt:lpstr>
      <vt:lpstr>第五章   中央处理器</vt:lpstr>
      <vt:lpstr>计算机的五个基本部件</vt:lpstr>
      <vt:lpstr>处理器的功能</vt:lpstr>
      <vt:lpstr>CPU模型（一般化）</vt:lpstr>
      <vt:lpstr>CPU的基本组成</vt:lpstr>
      <vt:lpstr>CPU的基本组成</vt:lpstr>
      <vt:lpstr>CPU的基本组成（1）</vt:lpstr>
      <vt:lpstr>CPU的基本组成（2）</vt:lpstr>
      <vt:lpstr>CPU中的主要寄存器（1）</vt:lpstr>
      <vt:lpstr>CPU中的主要寄存器（2）</vt:lpstr>
      <vt:lpstr>CPU中的主要寄存器（3）</vt:lpstr>
      <vt:lpstr>CPU中的主要寄存器（4）</vt:lpstr>
      <vt:lpstr>CPU中的主要寄存器（5）</vt:lpstr>
      <vt:lpstr>CPU中的主要寄存器（6）</vt:lpstr>
      <vt:lpstr>CPU中的主要寄存器（7）</vt:lpstr>
      <vt:lpstr>CPU中的主要寄存器</vt:lpstr>
      <vt:lpstr>操作控制器与时序产生器</vt:lpstr>
      <vt:lpstr>操作控制器与时序产生器</vt:lpstr>
      <vt:lpstr>数据通路与时序控制</vt:lpstr>
      <vt:lpstr>数据通路与时序控制</vt:lpstr>
      <vt:lpstr>硬连线路设计和微程序设计</vt:lpstr>
      <vt:lpstr>PowerPoint 演示文稿</vt:lpstr>
      <vt:lpstr>PowerPoint 演示文稿</vt:lpstr>
      <vt:lpstr>5.2指令周期</vt:lpstr>
      <vt:lpstr>基本概念</vt:lpstr>
      <vt:lpstr>PowerPoint 演示文稿</vt:lpstr>
      <vt:lpstr>PowerPoint 演示文稿</vt:lpstr>
      <vt:lpstr>程序示例</vt:lpstr>
      <vt:lpstr>5.2.2 MOV指令的指令周期</vt:lpstr>
      <vt:lpstr>PowerPoint 演示文稿</vt:lpstr>
      <vt:lpstr>PowerPoint 演示文稿</vt:lpstr>
      <vt:lpstr>5.2.3 LAD指令的指令周期</vt:lpstr>
      <vt:lpstr>5.2.3 LAD指令的指令执行周期</vt:lpstr>
      <vt:lpstr>5.2.4 ADD指令的指令周期</vt:lpstr>
      <vt:lpstr>5.2.4 ADD指令的指令执行周期</vt:lpstr>
      <vt:lpstr>5.2.5 STO指令的指令周期</vt:lpstr>
      <vt:lpstr>5.2.5 STO指令的指令执行周期</vt:lpstr>
      <vt:lpstr>5.2.6 JMP指令的指令周期</vt:lpstr>
      <vt:lpstr>5.2.6 JMP指令的指令执行周期</vt:lpstr>
      <vt:lpstr>总结：每条指令的执行步骤</vt:lpstr>
      <vt:lpstr>5.2.7用方框图语言表示的指令周期</vt:lpstr>
      <vt:lpstr>5.2.7方框图表示指令周期</vt:lpstr>
      <vt:lpstr>例1</vt:lpstr>
      <vt:lpstr>例1图</vt:lpstr>
      <vt:lpstr>例1解（1）</vt:lpstr>
      <vt:lpstr>例1解（2）</vt:lpstr>
      <vt:lpstr>PowerPoint 演示文稿</vt:lpstr>
      <vt:lpstr>总结：</vt:lpstr>
      <vt:lpstr>5.3  时序产生器和控制方式</vt:lpstr>
      <vt:lpstr>基本概念</vt:lpstr>
      <vt:lpstr>问题？</vt:lpstr>
      <vt:lpstr>时序信号产生器</vt:lpstr>
      <vt:lpstr>时序信号产生器框图</vt:lpstr>
      <vt:lpstr>时序信号产生器的输出</vt:lpstr>
      <vt:lpstr>时序信号产生器（1）</vt:lpstr>
      <vt:lpstr>节拍电位与节拍脉冲时序关系图1</vt:lpstr>
      <vt:lpstr>环形脉冲发生器与译码逻辑（1）</vt:lpstr>
      <vt:lpstr>环形脉冲发生器与译码逻辑（2）</vt:lpstr>
      <vt:lpstr>环形脉冲发生器与译码逻辑（3）</vt:lpstr>
      <vt:lpstr>环形脉冲发生器与译码逻辑（4）</vt:lpstr>
      <vt:lpstr>环形脉冲发生器与译码逻辑（5）</vt:lpstr>
      <vt:lpstr>时序信号产生器（2）</vt:lpstr>
      <vt:lpstr>节拍电位与节拍脉冲时序关系图2</vt:lpstr>
      <vt:lpstr>时序信号产生器（3）</vt:lpstr>
      <vt:lpstr>启动信号保证产生完整的CPU周期信号</vt:lpstr>
      <vt:lpstr>启停控制逻辑</vt:lpstr>
      <vt:lpstr>控制方式</vt:lpstr>
      <vt:lpstr>1、同步控制方式</vt:lpstr>
      <vt:lpstr>2、异步控制方式</vt:lpstr>
      <vt:lpstr>3、联合控制方式</vt:lpstr>
      <vt:lpstr>三、节拍脉冲和读/写时序的编码</vt:lpstr>
      <vt:lpstr>PowerPoint 演示文稿</vt:lpstr>
      <vt:lpstr>5.4  微程序控制器</vt:lpstr>
      <vt:lpstr>5.4  微程序控制器</vt:lpstr>
      <vt:lpstr>5.4  微程序控制器</vt:lpstr>
      <vt:lpstr>5.4.1微程序控制原理 </vt:lpstr>
      <vt:lpstr>PowerPoint 演示文稿</vt:lpstr>
      <vt:lpstr>微程序\微指令\微命令\微操作的关系</vt:lpstr>
      <vt:lpstr>5.4.1微程序控制原理</vt:lpstr>
      <vt:lpstr>PowerPoint 演示文稿</vt:lpstr>
      <vt:lpstr>5.4.1微程序控制原理</vt:lpstr>
      <vt:lpstr>5.4.1微程序控制原理</vt:lpstr>
      <vt:lpstr>PowerPoint 演示文稿</vt:lpstr>
      <vt:lpstr>PowerPoint 演示文稿</vt:lpstr>
      <vt:lpstr>5.4.1微程序控制原理</vt:lpstr>
      <vt:lpstr>5.4.1微程序控制原理</vt:lpstr>
      <vt:lpstr>5.4.1微程序控制原理</vt:lpstr>
      <vt:lpstr>5.4.1微程序控制原理</vt:lpstr>
      <vt:lpstr>5.4.1微程序控制原理</vt:lpstr>
      <vt:lpstr>5.4.1微程序控制原理</vt:lpstr>
      <vt:lpstr>5.4.1微程序控制原理</vt:lpstr>
      <vt:lpstr>十进制加法指令的微程序</vt:lpstr>
      <vt:lpstr>5.4.1微程序控制原理</vt:lpstr>
      <vt:lpstr>5.4.1微程序控制原理</vt:lpstr>
      <vt:lpstr>5.4.2  微程序设计技术</vt:lpstr>
      <vt:lpstr>5.4.2  微程序设计技术</vt:lpstr>
      <vt:lpstr>PowerPoint 演示文稿</vt:lpstr>
      <vt:lpstr>5.4.2  微程序设计技术</vt:lpstr>
      <vt:lpstr>5.4.2  微程序设计技术</vt:lpstr>
      <vt:lpstr>5.4.2  微程序设计技术</vt:lpstr>
      <vt:lpstr>5.4.2  微程序设计技术</vt:lpstr>
      <vt:lpstr>PowerPoint 演示文稿</vt:lpstr>
      <vt:lpstr>5.4.2  微程序设计技术</vt:lpstr>
      <vt:lpstr>5.4.2  微程序设计技术</vt:lpstr>
      <vt:lpstr>5.4.2  微程序设计技术</vt:lpstr>
      <vt:lpstr>5.4.2  微程序设计技术</vt:lpstr>
      <vt:lpstr>PowerPoint 演示文稿</vt:lpstr>
      <vt:lpstr>PowerPoint 演示文稿</vt:lpstr>
      <vt:lpstr>PowerPoint 演示文稿</vt:lpstr>
      <vt:lpstr>5.4.2  微程序设计技术</vt:lpstr>
      <vt:lpstr>5.4.2  微程序设计技术</vt:lpstr>
      <vt:lpstr>5.4.2  微程序设计技术</vt:lpstr>
      <vt:lpstr>5.4.2  微程序设计技术</vt:lpstr>
      <vt:lpstr>5.4.2  微程序设计技术</vt:lpstr>
      <vt:lpstr>5.4.2  微程序设计技术</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初九</cp:lastModifiedBy>
  <cp:revision>721</cp:revision>
  <cp:lastPrinted>2024-04-18T01:05:00Z</cp:lastPrinted>
  <dcterms:created xsi:type="dcterms:W3CDTF">2008-11-25T08:58:00Z</dcterms:created>
  <dcterms:modified xsi:type="dcterms:W3CDTF">2026-04-14T08:17:30Z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887909E4B9E149D49778B74248AB0152_12</vt:lpwstr>
  </property>
</Properties>
</file>