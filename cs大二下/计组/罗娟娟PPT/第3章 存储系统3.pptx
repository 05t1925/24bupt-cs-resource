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1" r:id="rId2"/>
    <p:sldMasterId id="2147483699" r:id="rId3"/>
  </p:sldMasterIdLst>
  <p:notesMasterIdLst>
    <p:notesMasterId r:id="rId99"/>
  </p:notesMasterIdLst>
  <p:handoutMasterIdLst>
    <p:handoutMasterId r:id="rId100"/>
  </p:handoutMasterIdLst>
  <p:sldIdLst>
    <p:sldId id="497" r:id="rId4"/>
    <p:sldId id="670" r:id="rId5"/>
    <p:sldId id="583" r:id="rId6"/>
    <p:sldId id="491" r:id="rId7"/>
    <p:sldId id="607" r:id="rId8"/>
    <p:sldId id="495" r:id="rId9"/>
    <p:sldId id="563" r:id="rId10"/>
    <p:sldId id="584" r:id="rId11"/>
    <p:sldId id="496" r:id="rId12"/>
    <p:sldId id="493" r:id="rId13"/>
    <p:sldId id="566" r:id="rId14"/>
    <p:sldId id="494" r:id="rId15"/>
    <p:sldId id="434" r:id="rId16"/>
    <p:sldId id="375" r:id="rId17"/>
    <p:sldId id="604" r:id="rId18"/>
    <p:sldId id="605" r:id="rId19"/>
    <p:sldId id="606" r:id="rId20"/>
    <p:sldId id="376" r:id="rId21"/>
    <p:sldId id="443" r:id="rId22"/>
    <p:sldId id="500" r:id="rId23"/>
    <p:sldId id="433" r:id="rId24"/>
    <p:sldId id="444" r:id="rId25"/>
    <p:sldId id="509" r:id="rId26"/>
    <p:sldId id="585" r:id="rId27"/>
    <p:sldId id="586" r:id="rId28"/>
    <p:sldId id="503" r:id="rId29"/>
    <p:sldId id="506" r:id="rId30"/>
    <p:sldId id="504" r:id="rId31"/>
    <p:sldId id="507" r:id="rId32"/>
    <p:sldId id="587" r:id="rId33"/>
    <p:sldId id="510" r:id="rId34"/>
    <p:sldId id="511" r:id="rId35"/>
    <p:sldId id="565" r:id="rId36"/>
    <p:sldId id="588" r:id="rId37"/>
    <p:sldId id="603" r:id="rId38"/>
    <p:sldId id="512" r:id="rId39"/>
    <p:sldId id="447" r:id="rId40"/>
    <p:sldId id="564" r:id="rId41"/>
    <p:sldId id="576" r:id="rId42"/>
    <p:sldId id="501" r:id="rId43"/>
    <p:sldId id="589" r:id="rId44"/>
    <p:sldId id="522" r:id="rId45"/>
    <p:sldId id="591" r:id="rId46"/>
    <p:sldId id="590" r:id="rId47"/>
    <p:sldId id="598" r:id="rId48"/>
    <p:sldId id="599" r:id="rId49"/>
    <p:sldId id="602" r:id="rId50"/>
    <p:sldId id="600" r:id="rId51"/>
    <p:sldId id="601" r:id="rId52"/>
    <p:sldId id="571" r:id="rId53"/>
    <p:sldId id="572" r:id="rId54"/>
    <p:sldId id="673" r:id="rId55"/>
    <p:sldId id="569" r:id="rId56"/>
    <p:sldId id="570" r:id="rId57"/>
    <p:sldId id="421" r:id="rId58"/>
    <p:sldId id="608" r:id="rId59"/>
    <p:sldId id="520" r:id="rId60"/>
    <p:sldId id="521" r:id="rId61"/>
    <p:sldId id="527" r:id="rId62"/>
    <p:sldId id="530" r:id="rId63"/>
    <p:sldId id="531" r:id="rId64"/>
    <p:sldId id="532" r:id="rId65"/>
    <p:sldId id="533" r:id="rId66"/>
    <p:sldId id="534" r:id="rId67"/>
    <p:sldId id="535" r:id="rId68"/>
    <p:sldId id="581" r:id="rId69"/>
    <p:sldId id="536" r:id="rId70"/>
    <p:sldId id="609" r:id="rId71"/>
    <p:sldId id="610" r:id="rId72"/>
    <p:sldId id="624" r:id="rId73"/>
    <p:sldId id="625" r:id="rId74"/>
    <p:sldId id="537" r:id="rId75"/>
    <p:sldId id="671" r:id="rId76"/>
    <p:sldId id="575" r:id="rId77"/>
    <p:sldId id="579" r:id="rId78"/>
    <p:sldId id="580" r:id="rId79"/>
    <p:sldId id="611" r:id="rId80"/>
    <p:sldId id="612" r:id="rId81"/>
    <p:sldId id="613" r:id="rId82"/>
    <p:sldId id="614" r:id="rId83"/>
    <p:sldId id="538" r:id="rId84"/>
    <p:sldId id="539" r:id="rId85"/>
    <p:sldId id="541" r:id="rId86"/>
    <p:sldId id="542" r:id="rId87"/>
    <p:sldId id="557" r:id="rId88"/>
    <p:sldId id="526" r:id="rId89"/>
    <p:sldId id="425" r:id="rId90"/>
    <p:sldId id="426" r:id="rId91"/>
    <p:sldId id="423" r:id="rId92"/>
    <p:sldId id="543" r:id="rId93"/>
    <p:sldId id="620" r:id="rId94"/>
    <p:sldId id="623" r:id="rId95"/>
    <p:sldId id="621" r:id="rId96"/>
    <p:sldId id="622" r:id="rId97"/>
    <p:sldId id="672" r:id="rId98"/>
  </p:sldIdLst>
  <p:sldSz cx="9144000" cy="6858000" type="screen4x3"/>
  <p:notesSz cx="7104063" cy="10234613"/>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p15:clr>
            <a:srgbClr val="A4A3A4"/>
          </p15:clr>
        </p15:guide>
        <p15:guide id="2" pos="2784">
          <p15:clr>
            <a:srgbClr val="A4A3A4"/>
          </p15:clr>
        </p15:guide>
        <p15:guide id="3" pos="4128">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0F7F7"/>
    <a:srgbClr val="339933"/>
    <a:srgbClr val="3333CC"/>
    <a:srgbClr val="006600"/>
    <a:srgbClr val="000066"/>
    <a:srgbClr val="0033CC"/>
    <a:srgbClr val="3333FF"/>
    <a:srgbClr val="3366FF"/>
    <a:srgbClr val="00339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6574" autoAdjust="0"/>
  </p:normalViewPr>
  <p:slideViewPr>
    <p:cSldViewPr>
      <p:cViewPr varScale="1">
        <p:scale>
          <a:sx n="106" d="100"/>
          <a:sy n="106" d="100"/>
        </p:scale>
        <p:origin x="1878" y="108"/>
      </p:cViewPr>
      <p:guideLst>
        <p:guide orient="horz" pos="3648"/>
        <p:guide pos="2784"/>
        <p:guide pos="4128"/>
      </p:guideLst>
    </p:cSldViewPr>
  </p:slideViewPr>
  <p:notesTextViewPr>
    <p:cViewPr>
      <p:scale>
        <a:sx n="100" d="100"/>
        <a:sy n="100" d="100"/>
      </p:scale>
      <p:origin x="0" y="0"/>
    </p:cViewPr>
  </p:notesTextViewPr>
  <p:sorterViewPr>
    <p:cViewPr>
      <p:scale>
        <a:sx n="134" d="100"/>
        <a:sy n="134" d="100"/>
      </p:scale>
      <p:origin x="0" y="0"/>
    </p:cViewPr>
  </p:sorterViewPr>
  <p:notesViewPr>
    <p:cSldViewPr>
      <p:cViewPr varScale="1">
        <p:scale>
          <a:sx n="148" d="100"/>
          <a:sy n="148" d="100"/>
        </p:scale>
        <p:origin x="-1925" y="-77"/>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viewProps" Target="view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pPr/>
              <a:t>2/19/2021</a:t>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pPr/>
              <a:t>‹#›</a:t>
            </a:fld>
            <a:endParaRPr lang="en-US"/>
          </a:p>
        </p:txBody>
      </p:sp>
    </p:spTree>
    <p:extLst>
      <p:ext uri="{BB962C8B-B14F-4D97-AF65-F5344CB8AC3E}">
        <p14:creationId xmlns:p14="http://schemas.microsoft.com/office/powerpoint/2010/main" val="343792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headEnd/>
            <a:tailEnd/>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1872219"/>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84851A7F-BFA3-491E-A108-28F90502C770}"/>
              </a:ext>
            </a:extLst>
          </p:cNvPr>
          <p:cNvSpPr>
            <a:spLocks noGrp="1" noRot="1" noChangeAspect="1" noChangeArrowheads="1" noTextEdit="1"/>
          </p:cNvSpPr>
          <p:nvPr>
            <p:ph type="sldImg"/>
          </p:nvPr>
        </p:nvSpPr>
        <p:spPr>
          <a:ln/>
        </p:spPr>
      </p:sp>
      <p:sp>
        <p:nvSpPr>
          <p:cNvPr id="17411" name="备注占位符 2">
            <a:extLst>
              <a:ext uri="{FF2B5EF4-FFF2-40B4-BE49-F238E27FC236}">
                <a16:creationId xmlns:a16="http://schemas.microsoft.com/office/drawing/2014/main" id="{73C80986-8170-4B68-B9F2-76BE6CC19A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412" name="灯片编号占位符 3">
            <a:extLst>
              <a:ext uri="{FF2B5EF4-FFF2-40B4-BE49-F238E27FC236}">
                <a16:creationId xmlns:a16="http://schemas.microsoft.com/office/drawing/2014/main" id="{7B65E4B7-8880-48AE-9112-62FABB50B8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8829338-9313-40ED-97B6-A1D7DD10A35B}" type="slidenum">
              <a:rPr lang="en-US" altLang="zh-CN" sz="1300" smtClean="0">
                <a:ea typeface="宋体" panose="02010600030101010101" pitchFamily="2" charset="-122"/>
              </a:rPr>
              <a:pPr/>
              <a:t>7</a:t>
            </a:fld>
            <a:endParaRPr lang="en-US" altLang="zh-CN" sz="13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785BB7B6-F7AC-48EE-943E-F11763E9BE96}"/>
              </a:ext>
            </a:extLst>
          </p:cNvPr>
          <p:cNvSpPr>
            <a:spLocks noGrp="1" noRot="1" noChangeAspect="1" noChangeArrowheads="1" noTextEdit="1"/>
          </p:cNvSpPr>
          <p:nvPr>
            <p:ph type="sldImg"/>
          </p:nvPr>
        </p:nvSpPr>
        <p:spPr>
          <a:ln/>
        </p:spPr>
      </p:sp>
      <p:sp>
        <p:nvSpPr>
          <p:cNvPr id="19459" name="备注占位符 2">
            <a:extLst>
              <a:ext uri="{FF2B5EF4-FFF2-40B4-BE49-F238E27FC236}">
                <a16:creationId xmlns:a16="http://schemas.microsoft.com/office/drawing/2014/main" id="{E32510B9-C669-4924-8DFB-6C5687DD22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60" name="灯片编号占位符 3">
            <a:extLst>
              <a:ext uri="{FF2B5EF4-FFF2-40B4-BE49-F238E27FC236}">
                <a16:creationId xmlns:a16="http://schemas.microsoft.com/office/drawing/2014/main" id="{54615FBB-15EE-4629-86B2-AEED610EA2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F357B77C-1C14-43E2-83C6-1EA066BB2377}" type="slidenum">
              <a:rPr lang="en-US" altLang="zh-CN" sz="1300" smtClean="0">
                <a:ea typeface="宋体" panose="02010600030101010101" pitchFamily="2" charset="-122"/>
              </a:rPr>
              <a:pPr/>
              <a:t>8</a:t>
            </a:fld>
            <a:endParaRPr lang="en-US" altLang="zh-CN" sz="130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22A8A857-A4D2-4D75-A088-695ABC1C74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D33CF4C-8C15-4481-816E-B25AA323CF6A}" type="slidenum">
              <a:rPr lang="en-US" altLang="zh-CN" sz="1300" smtClean="0"/>
              <a:pPr>
                <a:spcBef>
                  <a:spcPct val="0"/>
                </a:spcBef>
              </a:pPr>
              <a:t>14</a:t>
            </a:fld>
            <a:endParaRPr lang="en-US" altLang="zh-CN" sz="1300"/>
          </a:p>
        </p:txBody>
      </p:sp>
      <p:sp>
        <p:nvSpPr>
          <p:cNvPr id="26627" name="Rectangle 2">
            <a:extLst>
              <a:ext uri="{FF2B5EF4-FFF2-40B4-BE49-F238E27FC236}">
                <a16:creationId xmlns:a16="http://schemas.microsoft.com/office/drawing/2014/main" id="{F8F518B5-6A7F-4A69-B4A7-5E843AA668C6}"/>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3C438FE6-FFA0-4727-A748-E08AD47DBB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541B280F-06BB-404D-BBE1-B2B2EE877259}"/>
              </a:ext>
            </a:extLst>
          </p:cNvPr>
          <p:cNvSpPr>
            <a:spLocks noGrp="1" noRot="1" noChangeAspect="1" noChangeArrowheads="1" noTextEdit="1"/>
          </p:cNvSpPr>
          <p:nvPr>
            <p:ph type="sldImg"/>
          </p:nvPr>
        </p:nvSpPr>
        <p:spPr>
          <a:ln/>
        </p:spPr>
      </p:sp>
      <p:sp>
        <p:nvSpPr>
          <p:cNvPr id="28675" name="备注占位符 2">
            <a:extLst>
              <a:ext uri="{FF2B5EF4-FFF2-40B4-BE49-F238E27FC236}">
                <a16:creationId xmlns:a16="http://schemas.microsoft.com/office/drawing/2014/main" id="{5382958A-A46D-478D-8D54-892773B59C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6" name="灯片编号占位符 3">
            <a:extLst>
              <a:ext uri="{FF2B5EF4-FFF2-40B4-BE49-F238E27FC236}">
                <a16:creationId xmlns:a16="http://schemas.microsoft.com/office/drawing/2014/main" id="{E54E9AB7-4A21-450F-B2B7-FA8B80C07C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A0B3A012-625B-4694-91BF-CA928F7DA503}" type="slidenum">
              <a:rPr lang="en-US" altLang="zh-CN" sz="1300" smtClean="0">
                <a:ea typeface="宋体" panose="02010600030101010101" pitchFamily="2" charset="-122"/>
              </a:rPr>
              <a:pPr/>
              <a:t>15</a:t>
            </a:fld>
            <a:endParaRPr lang="en-US" altLang="zh-CN" sz="130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9C7DBE4C-7C7E-4B11-8AA5-743C1D34C515}"/>
              </a:ext>
            </a:extLst>
          </p:cNvPr>
          <p:cNvSpPr>
            <a:spLocks noGrp="1" noRot="1" noChangeAspect="1" noChangeArrowheads="1" noTextEdit="1"/>
          </p:cNvSpPr>
          <p:nvPr>
            <p:ph type="sldImg"/>
          </p:nvPr>
        </p:nvSpPr>
        <p:spPr>
          <a:ln/>
        </p:spPr>
      </p:sp>
      <p:sp>
        <p:nvSpPr>
          <p:cNvPr id="31747" name="备注占位符 2">
            <a:extLst>
              <a:ext uri="{FF2B5EF4-FFF2-40B4-BE49-F238E27FC236}">
                <a16:creationId xmlns:a16="http://schemas.microsoft.com/office/drawing/2014/main" id="{F143DEF5-5108-401B-8ED8-42C64F47CF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48" name="灯片编号占位符 3">
            <a:extLst>
              <a:ext uri="{FF2B5EF4-FFF2-40B4-BE49-F238E27FC236}">
                <a16:creationId xmlns:a16="http://schemas.microsoft.com/office/drawing/2014/main" id="{29FDD720-3D77-41A7-A071-4CFDC1CDA0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416AD6F-1DED-4B29-AEC6-513DE4A195CB}" type="slidenum">
              <a:rPr lang="en-US" altLang="zh-CN" sz="1300" smtClean="0">
                <a:ea typeface="宋体" panose="02010600030101010101" pitchFamily="2" charset="-122"/>
              </a:rPr>
              <a:pPr/>
              <a:t>17</a:t>
            </a:fld>
            <a:endParaRPr lang="en-US" altLang="zh-CN" sz="130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C7CCED47-4246-4FEC-BA90-202FDD56F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47B17FA-A02D-45E7-A9D6-324DA60A108B}" type="slidenum">
              <a:rPr lang="en-US" altLang="zh-CN" sz="1300" smtClean="0"/>
              <a:pPr>
                <a:spcBef>
                  <a:spcPct val="0"/>
                </a:spcBef>
              </a:pPr>
              <a:t>18</a:t>
            </a:fld>
            <a:endParaRPr lang="en-US" altLang="zh-CN" sz="1300"/>
          </a:p>
        </p:txBody>
      </p:sp>
      <p:sp>
        <p:nvSpPr>
          <p:cNvPr id="33795" name="Rectangle 2">
            <a:extLst>
              <a:ext uri="{FF2B5EF4-FFF2-40B4-BE49-F238E27FC236}">
                <a16:creationId xmlns:a16="http://schemas.microsoft.com/office/drawing/2014/main" id="{F4EBF9DF-94B9-44AC-B8CF-E145E0D14D3A}"/>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3E3721F1-6482-4662-9DBB-5AEF99824D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0312A5EE-1D65-4905-BB69-9779F3F7C8AB}"/>
              </a:ext>
            </a:extLst>
          </p:cNvPr>
          <p:cNvSpPr>
            <a:spLocks noGrp="1" noRot="1" noChangeAspect="1" noChangeArrowheads="1" noTextEdit="1"/>
          </p:cNvSpPr>
          <p:nvPr>
            <p:ph type="sldImg"/>
          </p:nvPr>
        </p:nvSpPr>
        <p:spPr>
          <a:ln/>
        </p:spPr>
      </p:sp>
      <p:sp>
        <p:nvSpPr>
          <p:cNvPr id="37891" name="备注占位符 2">
            <a:extLst>
              <a:ext uri="{FF2B5EF4-FFF2-40B4-BE49-F238E27FC236}">
                <a16:creationId xmlns:a16="http://schemas.microsoft.com/office/drawing/2014/main" id="{F2A30B97-A14D-4AB9-B241-D28FE743F3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2" name="灯片编号占位符 3">
            <a:extLst>
              <a:ext uri="{FF2B5EF4-FFF2-40B4-BE49-F238E27FC236}">
                <a16:creationId xmlns:a16="http://schemas.microsoft.com/office/drawing/2014/main" id="{C728823E-A813-4797-97C4-CEDD9C453D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1427523-6D10-4B3F-AFC6-0B41BB47ED2B}" type="slidenum">
              <a:rPr lang="en-US" altLang="zh-CN" sz="1300" smtClean="0">
                <a:ea typeface="宋体" panose="02010600030101010101" pitchFamily="2" charset="-122"/>
              </a:rPr>
              <a:pPr/>
              <a:t>21</a:t>
            </a:fld>
            <a:endParaRPr lang="en-US" altLang="zh-CN" sz="130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18221892-9B03-4BB0-A0DC-CF79E478F7C8}"/>
              </a:ext>
            </a:extLst>
          </p:cNvPr>
          <p:cNvSpPr>
            <a:spLocks noGrp="1" noRot="1" noChangeAspect="1" noChangeArrowheads="1" noTextEdit="1"/>
          </p:cNvSpPr>
          <p:nvPr>
            <p:ph type="sldImg"/>
          </p:nvPr>
        </p:nvSpPr>
        <p:spPr>
          <a:ln/>
        </p:spPr>
      </p:sp>
      <p:sp>
        <p:nvSpPr>
          <p:cNvPr id="39939" name="备注占位符 2">
            <a:extLst>
              <a:ext uri="{FF2B5EF4-FFF2-40B4-BE49-F238E27FC236}">
                <a16:creationId xmlns:a16="http://schemas.microsoft.com/office/drawing/2014/main" id="{931B6BB9-CDCF-4DB9-AA3E-8090088235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40" name="灯片编号占位符 3">
            <a:extLst>
              <a:ext uri="{FF2B5EF4-FFF2-40B4-BE49-F238E27FC236}">
                <a16:creationId xmlns:a16="http://schemas.microsoft.com/office/drawing/2014/main" id="{69EFF43C-78EF-4AD3-AAE5-1FDEC7F86E8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8E2E5A4A-AAB7-41BB-AF91-222A02A585CD}" type="slidenum">
              <a:rPr lang="en-US" altLang="zh-CN" sz="1300" smtClean="0">
                <a:ea typeface="宋体" panose="02010600030101010101" pitchFamily="2" charset="-122"/>
              </a:rPr>
              <a:pPr/>
              <a:t>22</a:t>
            </a:fld>
            <a:endParaRPr lang="en-US" altLang="zh-CN" sz="130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F2A1596C-B4BE-4C21-8FC8-4633DFB8F512}"/>
              </a:ext>
            </a:extLst>
          </p:cNvPr>
          <p:cNvSpPr>
            <a:spLocks noGrp="1" noRot="1" noChangeAspect="1" noChangeArrowheads="1" noTextEdit="1"/>
          </p:cNvSpPr>
          <p:nvPr>
            <p:ph type="sldImg"/>
          </p:nvPr>
        </p:nvSpPr>
        <p:spPr>
          <a:ln/>
        </p:spPr>
      </p:sp>
      <p:sp>
        <p:nvSpPr>
          <p:cNvPr id="44035" name="备注占位符 2">
            <a:extLst>
              <a:ext uri="{FF2B5EF4-FFF2-40B4-BE49-F238E27FC236}">
                <a16:creationId xmlns:a16="http://schemas.microsoft.com/office/drawing/2014/main" id="{18898558-6F8F-478C-9AA5-43943B40ED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6" name="灯片编号占位符 3">
            <a:extLst>
              <a:ext uri="{FF2B5EF4-FFF2-40B4-BE49-F238E27FC236}">
                <a16:creationId xmlns:a16="http://schemas.microsoft.com/office/drawing/2014/main" id="{5D80801B-EF35-469C-BC6D-8A095763A3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BF8C927-DD01-4D30-864F-9840281AB98F}" type="slidenum">
              <a:rPr lang="en-US" altLang="zh-CN" sz="1300" smtClean="0">
                <a:ea typeface="宋体" panose="02010600030101010101" pitchFamily="2" charset="-122"/>
              </a:rPr>
              <a:pPr/>
              <a:t>25</a:t>
            </a:fld>
            <a:endParaRPr lang="en-US" altLang="zh-CN" sz="130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69A321DB-D26E-4B59-A9CC-BE2DAE7DE77E}"/>
              </a:ext>
            </a:extLst>
          </p:cNvPr>
          <p:cNvSpPr>
            <a:spLocks noGrp="1" noRot="1" noChangeAspect="1" noChangeArrowheads="1" noTextEdit="1"/>
          </p:cNvSpPr>
          <p:nvPr>
            <p:ph type="sldImg"/>
          </p:nvPr>
        </p:nvSpPr>
        <p:spPr>
          <a:ln/>
        </p:spPr>
      </p:sp>
      <p:sp>
        <p:nvSpPr>
          <p:cNvPr id="51203" name="备注占位符 2">
            <a:extLst>
              <a:ext uri="{FF2B5EF4-FFF2-40B4-BE49-F238E27FC236}">
                <a16:creationId xmlns:a16="http://schemas.microsoft.com/office/drawing/2014/main" id="{7746F42F-2B05-4CF1-A3C5-7F7D3D3152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灯片编号占位符 3">
            <a:extLst>
              <a:ext uri="{FF2B5EF4-FFF2-40B4-BE49-F238E27FC236}">
                <a16:creationId xmlns:a16="http://schemas.microsoft.com/office/drawing/2014/main" id="{5456E371-6D8A-4D2C-8FA7-0FDBD8928A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F0730646-ADA6-4F21-9A8B-62240D7DDF09}" type="slidenum">
              <a:rPr lang="en-US" altLang="zh-CN" sz="1300" smtClean="0">
                <a:ea typeface="宋体" panose="02010600030101010101" pitchFamily="2" charset="-122"/>
              </a:rPr>
              <a:pPr/>
              <a:t>31</a:t>
            </a:fld>
            <a:endParaRPr lang="en-US" altLang="zh-CN" sz="130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3F11BA2D-26A3-49E2-838A-83F9FDF3E724}"/>
              </a:ext>
            </a:extLst>
          </p:cNvPr>
          <p:cNvSpPr>
            <a:spLocks noGrp="1" noRot="1" noChangeAspect="1" noChangeArrowheads="1" noTextEdit="1"/>
          </p:cNvSpPr>
          <p:nvPr>
            <p:ph type="sldImg"/>
          </p:nvPr>
        </p:nvSpPr>
        <p:spPr>
          <a:ln/>
        </p:spPr>
      </p:sp>
      <p:sp>
        <p:nvSpPr>
          <p:cNvPr id="56323" name="备注占位符 2">
            <a:extLst>
              <a:ext uri="{FF2B5EF4-FFF2-40B4-BE49-F238E27FC236}">
                <a16:creationId xmlns:a16="http://schemas.microsoft.com/office/drawing/2014/main" id="{82C09526-AD68-41E9-9358-2FDDB300FD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4" name="灯片编号占位符 3">
            <a:extLst>
              <a:ext uri="{FF2B5EF4-FFF2-40B4-BE49-F238E27FC236}">
                <a16:creationId xmlns:a16="http://schemas.microsoft.com/office/drawing/2014/main" id="{1BB44272-F0C3-4152-A59C-5B2EC9F5F2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0A7AA49-2FD1-4F1A-A472-6F6B18A5AAF0}" type="slidenum">
              <a:rPr lang="en-US" altLang="zh-CN" sz="1300" smtClean="0">
                <a:ea typeface="宋体" panose="02010600030101010101" pitchFamily="2" charset="-122"/>
              </a:rPr>
              <a:pPr/>
              <a:t>35</a:t>
            </a:fld>
            <a:endParaRPr lang="en-US" altLang="zh-CN" sz="130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AFE9F1E9-E27C-4FF6-B56C-BBDD82A489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31CCA3-EEA4-4F1E-9312-B72C4F55ED69}" type="slidenum">
              <a:rPr lang="en-US" altLang="zh-CN" sz="1300" smtClean="0"/>
              <a:pPr>
                <a:spcBef>
                  <a:spcPct val="0"/>
                </a:spcBef>
              </a:pPr>
              <a:t>37</a:t>
            </a:fld>
            <a:endParaRPr lang="en-US" altLang="zh-CN" sz="1300"/>
          </a:p>
        </p:txBody>
      </p:sp>
      <p:sp>
        <p:nvSpPr>
          <p:cNvPr id="59395" name="Rectangle 2">
            <a:extLst>
              <a:ext uri="{FF2B5EF4-FFF2-40B4-BE49-F238E27FC236}">
                <a16:creationId xmlns:a16="http://schemas.microsoft.com/office/drawing/2014/main" id="{C1F34DD6-0883-4419-B2CF-E2C30EB5A25F}"/>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68E03CE2-A00F-413C-8FE3-533B392FA2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24302A43-20B8-4DE7-8F45-77BF95FC2ACB}"/>
              </a:ext>
            </a:extLst>
          </p:cNvPr>
          <p:cNvSpPr>
            <a:spLocks noGrp="1" noRot="1" noChangeAspect="1" noChangeArrowheads="1" noTextEdit="1"/>
          </p:cNvSpPr>
          <p:nvPr>
            <p:ph type="sldImg"/>
          </p:nvPr>
        </p:nvSpPr>
        <p:spPr>
          <a:ln/>
        </p:spPr>
      </p:sp>
      <p:sp>
        <p:nvSpPr>
          <p:cNvPr id="62467" name="备注占位符 2">
            <a:extLst>
              <a:ext uri="{FF2B5EF4-FFF2-40B4-BE49-F238E27FC236}">
                <a16:creationId xmlns:a16="http://schemas.microsoft.com/office/drawing/2014/main" id="{EA0685D3-4072-464E-A828-089851929A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2468" name="灯片编号占位符 3">
            <a:extLst>
              <a:ext uri="{FF2B5EF4-FFF2-40B4-BE49-F238E27FC236}">
                <a16:creationId xmlns:a16="http://schemas.microsoft.com/office/drawing/2014/main" id="{3E392ACE-E7EB-49A1-BD40-26AFDD6523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079A789-FD2C-4226-BED7-1FDB004E01A0}" type="slidenum">
              <a:rPr lang="zh-CN" altLang="en-US" sz="1200" smtClean="0">
                <a:solidFill>
                  <a:srgbClr val="000000"/>
                </a:solidFill>
              </a:rPr>
              <a:pPr/>
              <a:t>39</a:t>
            </a:fld>
            <a:endParaRPr lang="zh-CN" altLang="en-US" sz="1200">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a:extLst>
              <a:ext uri="{FF2B5EF4-FFF2-40B4-BE49-F238E27FC236}">
                <a16:creationId xmlns:a16="http://schemas.microsoft.com/office/drawing/2014/main" id="{CBC2D3DB-5001-4878-83D1-00581E5B238D}"/>
              </a:ext>
            </a:extLst>
          </p:cNvPr>
          <p:cNvSpPr>
            <a:spLocks noGrp="1" noRot="1" noChangeAspect="1" noChangeArrowheads="1" noTextEdit="1"/>
          </p:cNvSpPr>
          <p:nvPr>
            <p:ph type="sldImg"/>
          </p:nvPr>
        </p:nvSpPr>
        <p:spPr>
          <a:ln/>
        </p:spPr>
      </p:sp>
      <p:sp>
        <p:nvSpPr>
          <p:cNvPr id="64515" name="备注占位符 2">
            <a:extLst>
              <a:ext uri="{FF2B5EF4-FFF2-40B4-BE49-F238E27FC236}">
                <a16:creationId xmlns:a16="http://schemas.microsoft.com/office/drawing/2014/main" id="{999443C6-684F-49E7-A86C-BAEAEF961C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516" name="灯片编号占位符 3">
            <a:extLst>
              <a:ext uri="{FF2B5EF4-FFF2-40B4-BE49-F238E27FC236}">
                <a16:creationId xmlns:a16="http://schemas.microsoft.com/office/drawing/2014/main" id="{E1F2EBD3-39C0-45D1-8839-A21B15CF56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739F031-2169-49AE-A595-06B2492E514C}" type="slidenum">
              <a:rPr lang="en-US" altLang="zh-CN" sz="1300" smtClean="0">
                <a:ea typeface="宋体" panose="02010600030101010101" pitchFamily="2" charset="-122"/>
              </a:rPr>
              <a:pPr/>
              <a:t>40</a:t>
            </a:fld>
            <a:endParaRPr lang="en-US" altLang="zh-CN" sz="130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35231081-6D08-474A-B21B-0AB42BCAA7F9}"/>
              </a:ext>
            </a:extLst>
          </p:cNvPr>
          <p:cNvSpPr>
            <a:spLocks noGrp="1" noRot="1" noChangeAspect="1" noChangeArrowheads="1" noTextEdit="1"/>
          </p:cNvSpPr>
          <p:nvPr>
            <p:ph type="sldImg"/>
          </p:nvPr>
        </p:nvSpPr>
        <p:spPr>
          <a:ln/>
        </p:spPr>
      </p:sp>
      <p:sp>
        <p:nvSpPr>
          <p:cNvPr id="66563" name="备注占位符 2">
            <a:extLst>
              <a:ext uri="{FF2B5EF4-FFF2-40B4-BE49-F238E27FC236}">
                <a16:creationId xmlns:a16="http://schemas.microsoft.com/office/drawing/2014/main" id="{906256E4-B3DD-4871-80B2-28FA6BFCDA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4" name="灯片编号占位符 3">
            <a:extLst>
              <a:ext uri="{FF2B5EF4-FFF2-40B4-BE49-F238E27FC236}">
                <a16:creationId xmlns:a16="http://schemas.microsoft.com/office/drawing/2014/main" id="{B7AE6B9F-9187-48A5-AD93-70C995CAB1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7311B17-1127-4529-A6B9-D1BCF44796F2}" type="slidenum">
              <a:rPr lang="en-US" altLang="zh-CN" sz="1300" smtClean="0">
                <a:ea typeface="宋体" panose="02010600030101010101" pitchFamily="2" charset="-122"/>
              </a:rPr>
              <a:pPr/>
              <a:t>41</a:t>
            </a:fld>
            <a:endParaRPr lang="en-US" altLang="zh-CN" sz="130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392FC318-924C-4C05-9154-4E1B033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F3B8BE3-EB1A-4821-A9A6-D398447DC72A}" type="slidenum">
              <a:rPr lang="en-US" altLang="zh-CN" sz="1300" smtClean="0"/>
              <a:pPr>
                <a:spcBef>
                  <a:spcPct val="0"/>
                </a:spcBef>
              </a:pPr>
              <a:t>42</a:t>
            </a:fld>
            <a:endParaRPr lang="en-US" altLang="zh-CN" sz="1300"/>
          </a:p>
        </p:txBody>
      </p:sp>
      <p:sp>
        <p:nvSpPr>
          <p:cNvPr id="68611" name="Rectangle 2">
            <a:extLst>
              <a:ext uri="{FF2B5EF4-FFF2-40B4-BE49-F238E27FC236}">
                <a16:creationId xmlns:a16="http://schemas.microsoft.com/office/drawing/2014/main" id="{C944DE73-3A9C-4463-9604-5FA20DB2E466}"/>
              </a:ext>
            </a:extLst>
          </p:cNvPr>
          <p:cNvSpPr>
            <a:spLocks noGrp="1" noChangeArrowheads="1"/>
          </p:cNvSpPr>
          <p:nvPr>
            <p:ph type="body" idx="1"/>
          </p:nvPr>
        </p:nvSpPr>
        <p:spPr>
          <a:xfrm>
            <a:off x="947738" y="4859338"/>
            <a:ext cx="5203825" cy="4606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85" tIns="48673" rIns="99085" bIns="48673"/>
          <a:lstStyle/>
          <a:p>
            <a:pPr eaLnBrk="1" hangingPunct="1"/>
            <a:endParaRPr lang="en-US" altLang="zh-CN"/>
          </a:p>
        </p:txBody>
      </p:sp>
      <p:sp>
        <p:nvSpPr>
          <p:cNvPr id="68612" name="Rectangle 3">
            <a:extLst>
              <a:ext uri="{FF2B5EF4-FFF2-40B4-BE49-F238E27FC236}">
                <a16:creationId xmlns:a16="http://schemas.microsoft.com/office/drawing/2014/main" id="{8F3D975F-7A9B-4EE7-96E8-272ED07F6B9A}"/>
              </a:ext>
            </a:extLst>
          </p:cNvPr>
          <p:cNvSpPr>
            <a:spLocks noGrp="1" noRot="1" noChangeAspect="1" noChangeArrowheads="1" noTextEdit="1"/>
          </p:cNvSpPr>
          <p:nvPr>
            <p:ph type="sldImg"/>
          </p:nvPr>
        </p:nvSpPr>
        <p:spPr>
          <a:xfrm>
            <a:off x="1003300" y="776288"/>
            <a:ext cx="5099050" cy="3824287"/>
          </a:xfrm>
          <a:ln w="12700" cap="flat">
            <a:solidFill>
              <a:schemeClr val="tx1"/>
            </a:solid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93110EA2-3B7B-45C5-94DB-088090A5DA79}"/>
              </a:ext>
            </a:extLst>
          </p:cNvPr>
          <p:cNvSpPr>
            <a:spLocks noGrp="1" noRot="1" noChangeAspect="1" noChangeArrowheads="1" noTextEdit="1"/>
          </p:cNvSpPr>
          <p:nvPr>
            <p:ph type="sldImg"/>
          </p:nvPr>
        </p:nvSpPr>
        <p:spPr>
          <a:ln/>
        </p:spPr>
      </p:sp>
      <p:sp>
        <p:nvSpPr>
          <p:cNvPr id="76803" name="备注占位符 2">
            <a:extLst>
              <a:ext uri="{FF2B5EF4-FFF2-40B4-BE49-F238E27FC236}">
                <a16:creationId xmlns:a16="http://schemas.microsoft.com/office/drawing/2014/main" id="{C87B7E0A-2514-45BE-BE29-A8F99B4D223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76804" name="灯片编号占位符 3">
            <a:extLst>
              <a:ext uri="{FF2B5EF4-FFF2-40B4-BE49-F238E27FC236}">
                <a16:creationId xmlns:a16="http://schemas.microsoft.com/office/drawing/2014/main" id="{48A2211C-1980-4B10-BE12-371F389A16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99951C0-A6F5-434B-ADBE-BF5A2DFC944E}" type="slidenum">
              <a:rPr lang="zh-CN" altLang="en-US" sz="1200" smtClean="0">
                <a:solidFill>
                  <a:srgbClr val="000000"/>
                </a:solidFill>
              </a:rPr>
              <a:pPr/>
              <a:t>49</a:t>
            </a:fld>
            <a:endParaRPr lang="zh-CN" altLang="en-US" sz="1200">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a:extLst>
              <a:ext uri="{FF2B5EF4-FFF2-40B4-BE49-F238E27FC236}">
                <a16:creationId xmlns:a16="http://schemas.microsoft.com/office/drawing/2014/main" id="{F03B6267-BD3F-4463-ADD7-55019245E554}"/>
              </a:ext>
            </a:extLst>
          </p:cNvPr>
          <p:cNvSpPr>
            <a:spLocks noGrp="1" noRot="1" noChangeAspect="1" noChangeArrowheads="1" noTextEdit="1"/>
          </p:cNvSpPr>
          <p:nvPr>
            <p:ph type="sldImg"/>
          </p:nvPr>
        </p:nvSpPr>
        <p:spPr>
          <a:ln/>
        </p:spPr>
      </p:sp>
      <p:sp>
        <p:nvSpPr>
          <p:cNvPr id="84995" name="备注占位符 2">
            <a:extLst>
              <a:ext uri="{FF2B5EF4-FFF2-40B4-BE49-F238E27FC236}">
                <a16:creationId xmlns:a16="http://schemas.microsoft.com/office/drawing/2014/main" id="{092AE93B-6EA3-4958-BE3D-588BCAD672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996" name="灯片编号占位符 3">
            <a:extLst>
              <a:ext uri="{FF2B5EF4-FFF2-40B4-BE49-F238E27FC236}">
                <a16:creationId xmlns:a16="http://schemas.microsoft.com/office/drawing/2014/main" id="{67DA9050-4C59-4725-8D3D-B2560CE833D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83AF2E6-BFDD-4A98-AFA7-6251680281A1}" type="slidenum">
              <a:rPr lang="en-US" altLang="zh-CN" sz="1300" smtClean="0">
                <a:ea typeface="宋体" panose="02010600030101010101" pitchFamily="2" charset="-122"/>
              </a:rPr>
              <a:pPr/>
              <a:t>56</a:t>
            </a:fld>
            <a:endParaRPr lang="en-US" altLang="zh-CN" sz="130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a:extLst>
              <a:ext uri="{FF2B5EF4-FFF2-40B4-BE49-F238E27FC236}">
                <a16:creationId xmlns:a16="http://schemas.microsoft.com/office/drawing/2014/main" id="{B48956F8-E0A6-4B94-B071-562617E82CCB}"/>
              </a:ext>
            </a:extLst>
          </p:cNvPr>
          <p:cNvSpPr>
            <a:spLocks noGrp="1" noRot="1" noChangeAspect="1" noChangeArrowheads="1" noTextEdit="1"/>
          </p:cNvSpPr>
          <p:nvPr>
            <p:ph type="sldImg"/>
          </p:nvPr>
        </p:nvSpPr>
        <p:spPr>
          <a:ln/>
        </p:spPr>
      </p:sp>
      <p:sp>
        <p:nvSpPr>
          <p:cNvPr id="91139" name="备注占位符 2">
            <a:extLst>
              <a:ext uri="{FF2B5EF4-FFF2-40B4-BE49-F238E27FC236}">
                <a16:creationId xmlns:a16="http://schemas.microsoft.com/office/drawing/2014/main" id="{396C1F73-63E8-48C1-A834-823A50A6A5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40" name="灯片编号占位符 3">
            <a:extLst>
              <a:ext uri="{FF2B5EF4-FFF2-40B4-BE49-F238E27FC236}">
                <a16:creationId xmlns:a16="http://schemas.microsoft.com/office/drawing/2014/main" id="{42B4FAD9-1968-4673-B5E2-54DFFBFA9C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6360506-3923-4711-96A9-FB7839BC3B33}" type="slidenum">
              <a:rPr lang="en-US" altLang="zh-CN" sz="1300" smtClean="0">
                <a:ea typeface="宋体" panose="02010600030101010101" pitchFamily="2" charset="-122"/>
              </a:rPr>
              <a:pPr/>
              <a:t>61</a:t>
            </a:fld>
            <a:endParaRPr lang="en-US" altLang="zh-CN" sz="130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a:extLst>
              <a:ext uri="{FF2B5EF4-FFF2-40B4-BE49-F238E27FC236}">
                <a16:creationId xmlns:a16="http://schemas.microsoft.com/office/drawing/2014/main" id="{BEF76A86-4BEE-4821-94D0-504D70191918}"/>
              </a:ext>
            </a:extLst>
          </p:cNvPr>
          <p:cNvSpPr>
            <a:spLocks noGrp="1" noRot="1" noChangeAspect="1" noChangeArrowheads="1" noTextEdit="1"/>
          </p:cNvSpPr>
          <p:nvPr>
            <p:ph type="sldImg"/>
          </p:nvPr>
        </p:nvSpPr>
        <p:spPr>
          <a:ln/>
        </p:spPr>
      </p:sp>
      <p:sp>
        <p:nvSpPr>
          <p:cNvPr id="96259" name="备注占位符 2">
            <a:extLst>
              <a:ext uri="{FF2B5EF4-FFF2-40B4-BE49-F238E27FC236}">
                <a16:creationId xmlns:a16="http://schemas.microsoft.com/office/drawing/2014/main" id="{82D00E13-614C-450A-95AE-6E4094BB7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0" name="灯片编号占位符 3">
            <a:extLst>
              <a:ext uri="{FF2B5EF4-FFF2-40B4-BE49-F238E27FC236}">
                <a16:creationId xmlns:a16="http://schemas.microsoft.com/office/drawing/2014/main" id="{2C348A9E-C0FC-46E2-B853-1ABE3ED60C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E2F12E7-BF11-4E41-A09C-585B30C43010}" type="slidenum">
              <a:rPr lang="en-US" altLang="zh-CN" sz="1300" smtClean="0">
                <a:ea typeface="宋体" panose="02010600030101010101" pitchFamily="2" charset="-122"/>
              </a:rPr>
              <a:pPr/>
              <a:t>65</a:t>
            </a:fld>
            <a:endParaRPr lang="en-US" altLang="zh-CN" sz="130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38C17B03-84ED-4AFB-8DF7-DF01F4BDF8E1}"/>
              </a:ext>
            </a:extLst>
          </p:cNvPr>
          <p:cNvSpPr>
            <a:spLocks noGrp="1" noRot="1" noChangeAspect="1" noChangeArrowheads="1" noTextEdit="1"/>
          </p:cNvSpPr>
          <p:nvPr>
            <p:ph type="sldImg"/>
          </p:nvPr>
        </p:nvSpPr>
        <p:spPr>
          <a:ln/>
        </p:spPr>
      </p:sp>
      <p:sp>
        <p:nvSpPr>
          <p:cNvPr id="98307" name="备注占位符 2">
            <a:extLst>
              <a:ext uri="{FF2B5EF4-FFF2-40B4-BE49-F238E27FC236}">
                <a16:creationId xmlns:a16="http://schemas.microsoft.com/office/drawing/2014/main" id="{02B86FA3-EDFE-432B-B34E-E33F04EDC89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308" name="灯片编号占位符 3">
            <a:extLst>
              <a:ext uri="{FF2B5EF4-FFF2-40B4-BE49-F238E27FC236}">
                <a16:creationId xmlns:a16="http://schemas.microsoft.com/office/drawing/2014/main" id="{545C72C5-53E3-4DAA-B49D-F73950B5C1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FB433938-4B84-4220-8336-B9132BBA03E1}" type="slidenum">
              <a:rPr lang="en-US" altLang="zh-CN" sz="1300" smtClean="0">
                <a:ea typeface="宋体" panose="02010600030101010101" pitchFamily="2" charset="-122"/>
              </a:rPr>
              <a:pPr/>
              <a:t>66</a:t>
            </a:fld>
            <a:endParaRPr lang="en-US" altLang="zh-CN" sz="130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9A68EBF9-A039-4D66-BEA2-4E275FD6BC8C}"/>
              </a:ext>
            </a:extLst>
          </p:cNvPr>
          <p:cNvSpPr>
            <a:spLocks noGrp="1" noRot="1" noChangeAspect="1" noChangeArrowheads="1" noTextEdit="1"/>
          </p:cNvSpPr>
          <p:nvPr>
            <p:ph type="sldImg"/>
          </p:nvPr>
        </p:nvSpPr>
        <p:spPr>
          <a:ln/>
        </p:spPr>
      </p:sp>
      <p:sp>
        <p:nvSpPr>
          <p:cNvPr id="100355" name="备注占位符 2">
            <a:extLst>
              <a:ext uri="{FF2B5EF4-FFF2-40B4-BE49-F238E27FC236}">
                <a16:creationId xmlns:a16="http://schemas.microsoft.com/office/drawing/2014/main" id="{A9DC394C-4829-4449-AC08-3DB7A764E67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356" name="灯片编号占位符 3">
            <a:extLst>
              <a:ext uri="{FF2B5EF4-FFF2-40B4-BE49-F238E27FC236}">
                <a16:creationId xmlns:a16="http://schemas.microsoft.com/office/drawing/2014/main" id="{CF28E4E5-0045-447E-978D-5E9C9117B2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DCA8B26E-724F-4337-AD3E-4884A495B555}" type="slidenum">
              <a:rPr lang="en-US" altLang="zh-CN" sz="1300" smtClean="0">
                <a:ea typeface="宋体" panose="02010600030101010101" pitchFamily="2" charset="-122"/>
              </a:rPr>
              <a:pPr/>
              <a:t>67</a:t>
            </a:fld>
            <a:endParaRPr lang="en-US" altLang="zh-CN" sz="130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a:extLst>
              <a:ext uri="{FF2B5EF4-FFF2-40B4-BE49-F238E27FC236}">
                <a16:creationId xmlns:a16="http://schemas.microsoft.com/office/drawing/2014/main" id="{0705CAD6-D6AC-4656-972F-EE9AC6C2B8DE}"/>
              </a:ext>
            </a:extLst>
          </p:cNvPr>
          <p:cNvSpPr>
            <a:spLocks noGrp="1" noRot="1" noChangeAspect="1" noChangeArrowheads="1" noTextEdit="1"/>
          </p:cNvSpPr>
          <p:nvPr>
            <p:ph type="sldImg"/>
          </p:nvPr>
        </p:nvSpPr>
        <p:spPr>
          <a:ln/>
        </p:spPr>
      </p:sp>
      <p:sp>
        <p:nvSpPr>
          <p:cNvPr id="102403" name="备注占位符 2">
            <a:extLst>
              <a:ext uri="{FF2B5EF4-FFF2-40B4-BE49-F238E27FC236}">
                <a16:creationId xmlns:a16="http://schemas.microsoft.com/office/drawing/2014/main" id="{E43E3450-0E49-49B8-BC3C-9C1C469EF47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4" name="灯片编号占位符 3">
            <a:extLst>
              <a:ext uri="{FF2B5EF4-FFF2-40B4-BE49-F238E27FC236}">
                <a16:creationId xmlns:a16="http://schemas.microsoft.com/office/drawing/2014/main" id="{3206F341-2B06-4357-8F94-3606DFDB8ED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516A708-AFB8-4D8A-962E-F3E1F3D521FE}" type="slidenum">
              <a:rPr lang="en-US" altLang="zh-CN" sz="1300" smtClean="0">
                <a:ea typeface="宋体" panose="02010600030101010101" pitchFamily="2" charset="-122"/>
              </a:rPr>
              <a:pPr/>
              <a:t>68</a:t>
            </a:fld>
            <a:endParaRPr lang="en-US" altLang="zh-CN" sz="130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14BD99B5-88C3-475A-8852-6805DA2AB58D}"/>
              </a:ext>
            </a:extLst>
          </p:cNvPr>
          <p:cNvSpPr>
            <a:spLocks noGrp="1" noRot="1" noChangeAspect="1" noChangeArrowheads="1" noTextEdit="1"/>
          </p:cNvSpPr>
          <p:nvPr>
            <p:ph type="sldImg"/>
          </p:nvPr>
        </p:nvSpPr>
        <p:spPr>
          <a:ln/>
        </p:spPr>
      </p:sp>
      <p:sp>
        <p:nvSpPr>
          <p:cNvPr id="104451" name="备注占位符 2">
            <a:extLst>
              <a:ext uri="{FF2B5EF4-FFF2-40B4-BE49-F238E27FC236}">
                <a16:creationId xmlns:a16="http://schemas.microsoft.com/office/drawing/2014/main" id="{A6AC024A-85E1-40F1-A5BB-C6F9DF722F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4452" name="灯片编号占位符 3">
            <a:extLst>
              <a:ext uri="{FF2B5EF4-FFF2-40B4-BE49-F238E27FC236}">
                <a16:creationId xmlns:a16="http://schemas.microsoft.com/office/drawing/2014/main" id="{A7844456-434F-4FC4-B69D-F38E260271B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03A3D2E-9308-482C-A3A0-2252A6FF7AC2}" type="slidenum">
              <a:rPr lang="en-US" altLang="zh-CN" sz="1300" smtClean="0">
                <a:ea typeface="宋体" panose="02010600030101010101" pitchFamily="2" charset="-122"/>
              </a:rPr>
              <a:pPr/>
              <a:t>69</a:t>
            </a:fld>
            <a:endParaRPr lang="en-US" altLang="zh-CN" sz="130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3CA9644A-451B-434E-8874-113E206A659B}"/>
              </a:ext>
            </a:extLst>
          </p:cNvPr>
          <p:cNvSpPr>
            <a:spLocks noGrp="1" noRot="1" noChangeAspect="1" noChangeArrowheads="1" noTextEdit="1"/>
          </p:cNvSpPr>
          <p:nvPr>
            <p:ph type="sldImg"/>
          </p:nvPr>
        </p:nvSpPr>
        <p:spPr>
          <a:ln/>
        </p:spPr>
      </p:sp>
      <p:sp>
        <p:nvSpPr>
          <p:cNvPr id="107523" name="备注占位符 2">
            <a:extLst>
              <a:ext uri="{FF2B5EF4-FFF2-40B4-BE49-F238E27FC236}">
                <a16:creationId xmlns:a16="http://schemas.microsoft.com/office/drawing/2014/main" id="{2302F1D9-8C5E-4AD1-8180-C457FC0F5AE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7524" name="灯片编号占位符 3">
            <a:extLst>
              <a:ext uri="{FF2B5EF4-FFF2-40B4-BE49-F238E27FC236}">
                <a16:creationId xmlns:a16="http://schemas.microsoft.com/office/drawing/2014/main" id="{A48B8ECA-125E-4979-B7E1-62C1B431AB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3A6CAFB-5152-44D4-926D-83C87B605AD1}" type="slidenum">
              <a:rPr lang="en-US" altLang="zh-CN" sz="1300" smtClean="0">
                <a:ea typeface="宋体" panose="02010600030101010101" pitchFamily="2" charset="-122"/>
              </a:rPr>
              <a:pPr/>
              <a:t>71</a:t>
            </a:fld>
            <a:endParaRPr lang="en-US" altLang="zh-CN" sz="130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574BA7E0-4600-4C4F-A58C-163E2EF7697E}"/>
              </a:ext>
            </a:extLst>
          </p:cNvPr>
          <p:cNvSpPr>
            <a:spLocks noGrp="1" noRot="1" noChangeAspect="1" noChangeArrowheads="1" noTextEdit="1"/>
          </p:cNvSpPr>
          <p:nvPr>
            <p:ph type="sldImg"/>
          </p:nvPr>
        </p:nvSpPr>
        <p:spPr>
          <a:ln/>
        </p:spPr>
      </p:sp>
      <p:sp>
        <p:nvSpPr>
          <p:cNvPr id="109571" name="备注占位符 2">
            <a:extLst>
              <a:ext uri="{FF2B5EF4-FFF2-40B4-BE49-F238E27FC236}">
                <a16:creationId xmlns:a16="http://schemas.microsoft.com/office/drawing/2014/main" id="{A02275D6-16A4-4596-BC1C-D01553BB335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9572" name="灯片编号占位符 3">
            <a:extLst>
              <a:ext uri="{FF2B5EF4-FFF2-40B4-BE49-F238E27FC236}">
                <a16:creationId xmlns:a16="http://schemas.microsoft.com/office/drawing/2014/main" id="{DC34A45A-42AD-4FBA-80AF-17104820F5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7B7AECE-F691-45D4-A5A8-E1E4AD1CD388}" type="slidenum">
              <a:rPr lang="en-US" altLang="zh-CN" sz="1300" smtClean="0">
                <a:ea typeface="宋体" panose="02010600030101010101" pitchFamily="2" charset="-122"/>
              </a:rPr>
              <a:pPr/>
              <a:t>72</a:t>
            </a:fld>
            <a:endParaRPr lang="en-US" altLang="zh-CN" sz="130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a:extLst>
              <a:ext uri="{FF2B5EF4-FFF2-40B4-BE49-F238E27FC236}">
                <a16:creationId xmlns:a16="http://schemas.microsoft.com/office/drawing/2014/main" id="{7416A63B-7183-4527-9063-74195B1185C8}"/>
              </a:ext>
            </a:extLst>
          </p:cNvPr>
          <p:cNvSpPr>
            <a:spLocks noGrp="1" noRot="1" noChangeAspect="1" noChangeArrowheads="1" noTextEdit="1"/>
          </p:cNvSpPr>
          <p:nvPr>
            <p:ph type="sldImg"/>
          </p:nvPr>
        </p:nvSpPr>
        <p:spPr>
          <a:ln/>
        </p:spPr>
      </p:sp>
      <p:sp>
        <p:nvSpPr>
          <p:cNvPr id="111619" name="备注占位符 2">
            <a:extLst>
              <a:ext uri="{FF2B5EF4-FFF2-40B4-BE49-F238E27FC236}">
                <a16:creationId xmlns:a16="http://schemas.microsoft.com/office/drawing/2014/main" id="{18E72DC0-63DD-45AB-97D5-24B9C880CC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1620" name="灯片编号占位符 3">
            <a:extLst>
              <a:ext uri="{FF2B5EF4-FFF2-40B4-BE49-F238E27FC236}">
                <a16:creationId xmlns:a16="http://schemas.microsoft.com/office/drawing/2014/main" id="{2023CC90-5192-440D-BBD3-AAD876FF7E3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F1496CA8-27AF-446F-BB52-8D9340E62539}" type="slidenum">
              <a:rPr lang="en-US" altLang="zh-CN" sz="1300" smtClean="0">
                <a:ea typeface="宋体" panose="02010600030101010101" pitchFamily="2" charset="-122"/>
              </a:rPr>
              <a:pPr/>
              <a:t>73</a:t>
            </a:fld>
            <a:endParaRPr lang="en-US" altLang="zh-CN" sz="130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522905A0-D54C-4ADE-8CB0-4683EBAE3342}"/>
              </a:ext>
            </a:extLst>
          </p:cNvPr>
          <p:cNvSpPr>
            <a:spLocks noGrp="1" noRot="1" noChangeAspect="1" noChangeArrowheads="1" noTextEdit="1"/>
          </p:cNvSpPr>
          <p:nvPr>
            <p:ph type="sldImg"/>
          </p:nvPr>
        </p:nvSpPr>
        <p:spPr>
          <a:ln/>
        </p:spPr>
      </p:sp>
      <p:sp>
        <p:nvSpPr>
          <p:cNvPr id="113667" name="备注占位符 2">
            <a:extLst>
              <a:ext uri="{FF2B5EF4-FFF2-40B4-BE49-F238E27FC236}">
                <a16:creationId xmlns:a16="http://schemas.microsoft.com/office/drawing/2014/main" id="{4E4DEDC9-58CC-45E8-BE2E-75B0A50AFB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a:extLst>
              <a:ext uri="{FF2B5EF4-FFF2-40B4-BE49-F238E27FC236}">
                <a16:creationId xmlns:a16="http://schemas.microsoft.com/office/drawing/2014/main" id="{67CBED23-54CB-4A21-8EF8-A182916E27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F2DFA68-EAEB-4F55-8DC3-B408FD32D378}" type="slidenum">
              <a:rPr lang="en-US" altLang="zh-CN" sz="1300" smtClean="0">
                <a:ea typeface="宋体" panose="02010600030101010101" pitchFamily="2" charset="-122"/>
              </a:rPr>
              <a:pPr/>
              <a:t>74</a:t>
            </a:fld>
            <a:endParaRPr lang="en-US" altLang="zh-CN" sz="130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a:extLst>
              <a:ext uri="{FF2B5EF4-FFF2-40B4-BE49-F238E27FC236}">
                <a16:creationId xmlns:a16="http://schemas.microsoft.com/office/drawing/2014/main" id="{394A7C18-FB1C-43EF-8F5D-0AF20FA4CA2E}"/>
              </a:ext>
            </a:extLst>
          </p:cNvPr>
          <p:cNvSpPr>
            <a:spLocks noGrp="1" noRot="1" noChangeAspect="1" noChangeArrowheads="1" noTextEdit="1"/>
          </p:cNvSpPr>
          <p:nvPr>
            <p:ph type="sldImg"/>
          </p:nvPr>
        </p:nvSpPr>
        <p:spPr>
          <a:ln/>
        </p:spPr>
      </p:sp>
      <p:sp>
        <p:nvSpPr>
          <p:cNvPr id="115715" name="备注占位符 2">
            <a:extLst>
              <a:ext uri="{FF2B5EF4-FFF2-40B4-BE49-F238E27FC236}">
                <a16:creationId xmlns:a16="http://schemas.microsoft.com/office/drawing/2014/main" id="{77CAA4A0-E126-45AE-9AFC-1F10EA4EDE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6" name="灯片编号占位符 3">
            <a:extLst>
              <a:ext uri="{FF2B5EF4-FFF2-40B4-BE49-F238E27FC236}">
                <a16:creationId xmlns:a16="http://schemas.microsoft.com/office/drawing/2014/main" id="{0E50A7C3-EC20-4AD9-B3CF-C3F29E40B2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8F6B0FD8-73DD-49C9-B788-43D40E1FF98C}" type="slidenum">
              <a:rPr lang="en-US" altLang="zh-CN" sz="1300" smtClean="0">
                <a:ea typeface="宋体" panose="02010600030101010101" pitchFamily="2" charset="-122"/>
              </a:rPr>
              <a:pPr/>
              <a:t>75</a:t>
            </a:fld>
            <a:endParaRPr lang="en-US" altLang="zh-CN" sz="130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a:extLst>
              <a:ext uri="{FF2B5EF4-FFF2-40B4-BE49-F238E27FC236}">
                <a16:creationId xmlns:a16="http://schemas.microsoft.com/office/drawing/2014/main" id="{E8FF9693-1559-4B9C-A7FE-781645C72F15}"/>
              </a:ext>
            </a:extLst>
          </p:cNvPr>
          <p:cNvSpPr>
            <a:spLocks noGrp="1" noRot="1" noChangeAspect="1" noChangeArrowheads="1" noTextEdit="1"/>
          </p:cNvSpPr>
          <p:nvPr>
            <p:ph type="sldImg"/>
          </p:nvPr>
        </p:nvSpPr>
        <p:spPr>
          <a:ln/>
        </p:spPr>
      </p:sp>
      <p:sp>
        <p:nvSpPr>
          <p:cNvPr id="118787" name="备注占位符 2">
            <a:extLst>
              <a:ext uri="{FF2B5EF4-FFF2-40B4-BE49-F238E27FC236}">
                <a16:creationId xmlns:a16="http://schemas.microsoft.com/office/drawing/2014/main" id="{EC4F3DFD-015B-41ED-B68A-F5896E512F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8" name="灯片编号占位符 3">
            <a:extLst>
              <a:ext uri="{FF2B5EF4-FFF2-40B4-BE49-F238E27FC236}">
                <a16:creationId xmlns:a16="http://schemas.microsoft.com/office/drawing/2014/main" id="{80EEC414-7491-4D4C-B5CD-BE3ECF9237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54046E1C-85F9-4789-AE34-573DA7F7FCFF}" type="slidenum">
              <a:rPr lang="en-US" altLang="zh-CN" sz="1300" smtClean="0">
                <a:ea typeface="宋体" panose="02010600030101010101" pitchFamily="2" charset="-122"/>
              </a:rPr>
              <a:pPr/>
              <a:t>77</a:t>
            </a:fld>
            <a:endParaRPr lang="en-US" altLang="zh-CN" sz="130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3BA01903-9609-4E32-81C3-1F0111F7885F}"/>
              </a:ext>
            </a:extLst>
          </p:cNvPr>
          <p:cNvSpPr>
            <a:spLocks noGrp="1" noRot="1" noChangeAspect="1" noChangeArrowheads="1" noTextEdit="1"/>
          </p:cNvSpPr>
          <p:nvPr>
            <p:ph type="sldImg"/>
          </p:nvPr>
        </p:nvSpPr>
        <p:spPr>
          <a:ln/>
        </p:spPr>
      </p:sp>
      <p:sp>
        <p:nvSpPr>
          <p:cNvPr id="120835" name="备注占位符 2">
            <a:extLst>
              <a:ext uri="{FF2B5EF4-FFF2-40B4-BE49-F238E27FC236}">
                <a16:creationId xmlns:a16="http://schemas.microsoft.com/office/drawing/2014/main" id="{5003DB40-5233-4571-A458-5761E3EAC7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a:extLst>
              <a:ext uri="{FF2B5EF4-FFF2-40B4-BE49-F238E27FC236}">
                <a16:creationId xmlns:a16="http://schemas.microsoft.com/office/drawing/2014/main" id="{351BD369-D14F-4338-B1DB-55E72734ED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34D6048-6F55-4D9A-A543-3C113E60BECD}" type="slidenum">
              <a:rPr lang="en-US" altLang="zh-CN" sz="1300" smtClean="0">
                <a:ea typeface="宋体" panose="02010600030101010101" pitchFamily="2" charset="-122"/>
              </a:rPr>
              <a:pPr/>
              <a:t>78</a:t>
            </a:fld>
            <a:endParaRPr lang="en-US" altLang="zh-CN" sz="130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a:extLst>
              <a:ext uri="{FF2B5EF4-FFF2-40B4-BE49-F238E27FC236}">
                <a16:creationId xmlns:a16="http://schemas.microsoft.com/office/drawing/2014/main" id="{94F1331A-9E6E-4241-B9F1-224AB5345D89}"/>
              </a:ext>
            </a:extLst>
          </p:cNvPr>
          <p:cNvSpPr>
            <a:spLocks noGrp="1" noRot="1" noChangeAspect="1" noChangeArrowheads="1" noTextEdit="1"/>
          </p:cNvSpPr>
          <p:nvPr>
            <p:ph type="sldImg"/>
          </p:nvPr>
        </p:nvSpPr>
        <p:spPr>
          <a:ln/>
        </p:spPr>
      </p:sp>
      <p:sp>
        <p:nvSpPr>
          <p:cNvPr id="122883" name="备注占位符 2">
            <a:extLst>
              <a:ext uri="{FF2B5EF4-FFF2-40B4-BE49-F238E27FC236}">
                <a16:creationId xmlns:a16="http://schemas.microsoft.com/office/drawing/2014/main" id="{DE7CC85E-E414-44A4-B6AE-A07A535E2E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a:extLst>
              <a:ext uri="{FF2B5EF4-FFF2-40B4-BE49-F238E27FC236}">
                <a16:creationId xmlns:a16="http://schemas.microsoft.com/office/drawing/2014/main" id="{91C11A3C-C5FB-4240-95D2-53565A7CEB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16A4F27-A1B7-4144-B081-7D94AD41BF5F}" type="slidenum">
              <a:rPr lang="en-US" altLang="zh-CN" sz="1300" smtClean="0">
                <a:ea typeface="宋体" panose="02010600030101010101" pitchFamily="2" charset="-122"/>
              </a:rPr>
              <a:pPr/>
              <a:t>79</a:t>
            </a:fld>
            <a:endParaRPr lang="en-US" altLang="zh-CN" sz="130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88A9EA98-8C29-46F3-9BEC-DDE22555CC0A}"/>
              </a:ext>
            </a:extLst>
          </p:cNvPr>
          <p:cNvSpPr>
            <a:spLocks noGrp="1" noRot="1" noChangeAspect="1" noChangeArrowheads="1" noTextEdit="1"/>
          </p:cNvSpPr>
          <p:nvPr>
            <p:ph type="sldImg"/>
          </p:nvPr>
        </p:nvSpPr>
        <p:spPr>
          <a:ln/>
        </p:spPr>
      </p:sp>
      <p:sp>
        <p:nvSpPr>
          <p:cNvPr id="130051" name="备注占位符 2">
            <a:extLst>
              <a:ext uri="{FF2B5EF4-FFF2-40B4-BE49-F238E27FC236}">
                <a16:creationId xmlns:a16="http://schemas.microsoft.com/office/drawing/2014/main" id="{EDBD3286-C7F7-4095-85F0-F74E400BC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0052" name="灯片编号占位符 3">
            <a:extLst>
              <a:ext uri="{FF2B5EF4-FFF2-40B4-BE49-F238E27FC236}">
                <a16:creationId xmlns:a16="http://schemas.microsoft.com/office/drawing/2014/main" id="{202A1909-6F61-480E-8C94-B3F05EDF6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FA34C3A-5487-445B-862E-1F5BFC0C4D96}" type="slidenum">
              <a:rPr lang="en-US" altLang="zh-CN" sz="1300" smtClean="0">
                <a:ea typeface="宋体" panose="02010600030101010101" pitchFamily="2" charset="-122"/>
              </a:rPr>
              <a:pPr/>
              <a:t>85</a:t>
            </a:fld>
            <a:endParaRPr lang="en-US" altLang="zh-CN" sz="130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017823C0-D80F-407B-A658-B36F34639C77}"/>
              </a:ext>
            </a:extLst>
          </p:cNvPr>
          <p:cNvSpPr>
            <a:spLocks noGrp="1" noRot="1" noChangeAspect="1" noChangeArrowheads="1" noTextEdit="1"/>
          </p:cNvSpPr>
          <p:nvPr>
            <p:ph type="sldImg"/>
          </p:nvPr>
        </p:nvSpPr>
        <p:spPr>
          <a:ln/>
        </p:spPr>
      </p:sp>
      <p:sp>
        <p:nvSpPr>
          <p:cNvPr id="132099" name="备注占位符 2">
            <a:extLst>
              <a:ext uri="{FF2B5EF4-FFF2-40B4-BE49-F238E27FC236}">
                <a16:creationId xmlns:a16="http://schemas.microsoft.com/office/drawing/2014/main" id="{576A4A0D-DE10-4169-8C20-242BB49431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2100" name="灯片编号占位符 3">
            <a:extLst>
              <a:ext uri="{FF2B5EF4-FFF2-40B4-BE49-F238E27FC236}">
                <a16:creationId xmlns:a16="http://schemas.microsoft.com/office/drawing/2014/main" id="{0B264805-40E9-4BAC-8CC1-0D3ED2C612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C49F55CE-C577-464A-8D19-DEFA7B8DC2A9}" type="slidenum">
              <a:rPr lang="en-US" altLang="zh-CN" sz="1300" smtClean="0">
                <a:ea typeface="宋体" panose="02010600030101010101" pitchFamily="2" charset="-122"/>
              </a:rPr>
              <a:pPr/>
              <a:t>86</a:t>
            </a:fld>
            <a:endParaRPr lang="en-US" altLang="zh-CN" sz="130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DBEE4B8F-A1C0-4C3C-A445-90A15A8CE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EE7F676-1FE4-480F-B233-F2CE802A8D54}" type="slidenum">
              <a:rPr lang="en-US" altLang="zh-CN" sz="1300" smtClean="0"/>
              <a:pPr>
                <a:spcBef>
                  <a:spcPct val="0"/>
                </a:spcBef>
              </a:pPr>
              <a:t>87</a:t>
            </a:fld>
            <a:endParaRPr lang="en-US" altLang="zh-CN" sz="1300"/>
          </a:p>
        </p:txBody>
      </p:sp>
      <p:sp>
        <p:nvSpPr>
          <p:cNvPr id="134147" name="Rectangle 2">
            <a:extLst>
              <a:ext uri="{FF2B5EF4-FFF2-40B4-BE49-F238E27FC236}">
                <a16:creationId xmlns:a16="http://schemas.microsoft.com/office/drawing/2014/main" id="{C1503757-98FA-4F28-8042-D796752A2F79}"/>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270A081B-CE46-4883-B034-2D7075675E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0E8B4DCE-FEAD-469E-A802-12EB5E1D9F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15E6AEE-58A0-4189-AA51-46D07C5AEA83}" type="slidenum">
              <a:rPr lang="en-US" altLang="zh-CN" sz="1300" smtClean="0"/>
              <a:pPr>
                <a:spcBef>
                  <a:spcPct val="0"/>
                </a:spcBef>
              </a:pPr>
              <a:t>88</a:t>
            </a:fld>
            <a:endParaRPr lang="en-US" altLang="zh-CN" sz="1300"/>
          </a:p>
        </p:txBody>
      </p:sp>
      <p:sp>
        <p:nvSpPr>
          <p:cNvPr id="136195" name="Rectangle 2">
            <a:extLst>
              <a:ext uri="{FF2B5EF4-FFF2-40B4-BE49-F238E27FC236}">
                <a16:creationId xmlns:a16="http://schemas.microsoft.com/office/drawing/2014/main" id="{5ACE503E-D5D6-44CE-AF23-2E4F32456B4A}"/>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010B5E10-FE10-43CE-8D36-A0B63D119E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008C306C-79E4-4C17-AF16-47FE360AE0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05E8291-0AF3-46B2-BDEE-A8B85BBDD7E8}" type="slidenum">
              <a:rPr lang="en-US" altLang="zh-CN" sz="1300" smtClean="0"/>
              <a:pPr>
                <a:spcBef>
                  <a:spcPct val="0"/>
                </a:spcBef>
              </a:pPr>
              <a:t>89</a:t>
            </a:fld>
            <a:endParaRPr lang="en-US" altLang="zh-CN" sz="1300"/>
          </a:p>
        </p:txBody>
      </p:sp>
      <p:sp>
        <p:nvSpPr>
          <p:cNvPr id="138243" name="Rectangle 2">
            <a:extLst>
              <a:ext uri="{FF2B5EF4-FFF2-40B4-BE49-F238E27FC236}">
                <a16:creationId xmlns:a16="http://schemas.microsoft.com/office/drawing/2014/main" id="{CAF4D121-B973-4A91-A36E-0C4F62DB605C}"/>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6A67B706-FE59-4DF4-A34A-7436B019C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a:extLst>
              <a:ext uri="{FF2B5EF4-FFF2-40B4-BE49-F238E27FC236}">
                <a16:creationId xmlns:a16="http://schemas.microsoft.com/office/drawing/2014/main" id="{109BB93C-95A4-4CEE-A264-12173263728F}"/>
              </a:ext>
            </a:extLst>
          </p:cNvPr>
          <p:cNvSpPr>
            <a:spLocks noGrp="1" noRot="1" noChangeAspect="1" noChangeArrowheads="1" noTextEdit="1"/>
          </p:cNvSpPr>
          <p:nvPr>
            <p:ph type="sldImg"/>
          </p:nvPr>
        </p:nvSpPr>
        <p:spPr>
          <a:ln/>
        </p:spPr>
      </p:sp>
      <p:sp>
        <p:nvSpPr>
          <p:cNvPr id="140291" name="备注占位符 2">
            <a:extLst>
              <a:ext uri="{FF2B5EF4-FFF2-40B4-BE49-F238E27FC236}">
                <a16:creationId xmlns:a16="http://schemas.microsoft.com/office/drawing/2014/main" id="{91D886EC-886D-474C-B2EC-F4BC1070E2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0292" name="灯片编号占位符 3">
            <a:extLst>
              <a:ext uri="{FF2B5EF4-FFF2-40B4-BE49-F238E27FC236}">
                <a16:creationId xmlns:a16="http://schemas.microsoft.com/office/drawing/2014/main" id="{65581A4E-9C70-435E-A253-A22183A0079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0366E14-938B-43E3-BAA7-951543068446}" type="slidenum">
              <a:rPr lang="en-US" altLang="zh-CN" sz="1300" smtClean="0">
                <a:ea typeface="宋体" panose="02010600030101010101" pitchFamily="2" charset="-122"/>
              </a:rPr>
              <a:pPr/>
              <a:t>90</a:t>
            </a:fld>
            <a:endParaRPr lang="en-US" altLang="zh-CN" sz="130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a:extLst>
              <a:ext uri="{FF2B5EF4-FFF2-40B4-BE49-F238E27FC236}">
                <a16:creationId xmlns:a16="http://schemas.microsoft.com/office/drawing/2014/main" id="{B0928224-9692-456B-9182-C68244B528FF}"/>
              </a:ext>
            </a:extLst>
          </p:cNvPr>
          <p:cNvSpPr>
            <a:spLocks noGrp="1" noRot="1" noChangeAspect="1" noChangeArrowheads="1" noTextEdit="1"/>
          </p:cNvSpPr>
          <p:nvPr>
            <p:ph type="sldImg"/>
          </p:nvPr>
        </p:nvSpPr>
        <p:spPr>
          <a:ln/>
        </p:spPr>
      </p:sp>
      <p:sp>
        <p:nvSpPr>
          <p:cNvPr id="142339" name="备注占位符 2">
            <a:extLst>
              <a:ext uri="{FF2B5EF4-FFF2-40B4-BE49-F238E27FC236}">
                <a16:creationId xmlns:a16="http://schemas.microsoft.com/office/drawing/2014/main" id="{FA04D01C-6EC6-4AC1-9822-E21BCE5742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2340" name="灯片编号占位符 3">
            <a:extLst>
              <a:ext uri="{FF2B5EF4-FFF2-40B4-BE49-F238E27FC236}">
                <a16:creationId xmlns:a16="http://schemas.microsoft.com/office/drawing/2014/main" id="{AADFD7E1-4FC1-441F-BD68-EB64A9AAB03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FE0D385B-4D04-433A-BE87-DF3AC89304F7}" type="slidenum">
              <a:rPr lang="en-US" altLang="zh-CN" sz="1300" smtClean="0">
                <a:ea typeface="宋体" panose="02010600030101010101" pitchFamily="2" charset="-122"/>
              </a:rPr>
              <a:pPr/>
              <a:t>91</a:t>
            </a:fld>
            <a:endParaRPr lang="en-US" altLang="zh-CN" sz="130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a:extLst>
              <a:ext uri="{FF2B5EF4-FFF2-40B4-BE49-F238E27FC236}">
                <a16:creationId xmlns:a16="http://schemas.microsoft.com/office/drawing/2014/main" id="{87C45694-D77F-4153-8648-0BAC07E90BAF}"/>
              </a:ext>
            </a:extLst>
          </p:cNvPr>
          <p:cNvSpPr>
            <a:spLocks noGrp="1" noRot="1" noChangeAspect="1" noChangeArrowheads="1" noTextEdit="1"/>
          </p:cNvSpPr>
          <p:nvPr>
            <p:ph type="sldImg"/>
          </p:nvPr>
        </p:nvSpPr>
        <p:spPr>
          <a:ln/>
        </p:spPr>
      </p:sp>
      <p:sp>
        <p:nvSpPr>
          <p:cNvPr id="145411" name="备注占位符 2">
            <a:extLst>
              <a:ext uri="{FF2B5EF4-FFF2-40B4-BE49-F238E27FC236}">
                <a16:creationId xmlns:a16="http://schemas.microsoft.com/office/drawing/2014/main" id="{6F605F66-5722-487A-9F95-87D8AB34B06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5412" name="灯片编号占位符 3">
            <a:extLst>
              <a:ext uri="{FF2B5EF4-FFF2-40B4-BE49-F238E27FC236}">
                <a16:creationId xmlns:a16="http://schemas.microsoft.com/office/drawing/2014/main" id="{EBC4CB0C-701D-4A42-A609-6B4A0C8315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CA049D41-E334-4E7E-8977-2B2FE934772A}" type="slidenum">
              <a:rPr lang="en-US" altLang="zh-CN" sz="1300" smtClean="0">
                <a:ea typeface="宋体" panose="02010600030101010101" pitchFamily="2" charset="-122"/>
              </a:rPr>
              <a:pPr/>
              <a:t>93</a:t>
            </a:fld>
            <a:endParaRPr lang="en-US" altLang="zh-CN" sz="130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a:extLst>
              <a:ext uri="{FF2B5EF4-FFF2-40B4-BE49-F238E27FC236}">
                <a16:creationId xmlns:a16="http://schemas.microsoft.com/office/drawing/2014/main" id="{47EBDC21-0B36-4618-BCC0-CBC869346708}"/>
              </a:ext>
            </a:extLst>
          </p:cNvPr>
          <p:cNvSpPr>
            <a:spLocks noGrp="1" noRot="1" noChangeAspect="1" noChangeArrowheads="1" noTextEdit="1"/>
          </p:cNvSpPr>
          <p:nvPr>
            <p:ph type="sldImg"/>
          </p:nvPr>
        </p:nvSpPr>
        <p:spPr>
          <a:ln/>
        </p:spPr>
      </p:sp>
      <p:sp>
        <p:nvSpPr>
          <p:cNvPr id="147459" name="备注占位符 2">
            <a:extLst>
              <a:ext uri="{FF2B5EF4-FFF2-40B4-BE49-F238E27FC236}">
                <a16:creationId xmlns:a16="http://schemas.microsoft.com/office/drawing/2014/main" id="{7E6D0FE1-2928-4097-8DD6-F345871D5E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7460" name="灯片编号占位符 3">
            <a:extLst>
              <a:ext uri="{FF2B5EF4-FFF2-40B4-BE49-F238E27FC236}">
                <a16:creationId xmlns:a16="http://schemas.microsoft.com/office/drawing/2014/main" id="{9761DB12-F62D-410C-A263-8307A318EC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451C15D-2A7E-4A19-811D-9E6942487BA0}" type="slidenum">
              <a:rPr lang="en-US" altLang="zh-CN" sz="1300" smtClean="0">
                <a:ea typeface="宋体" panose="02010600030101010101" pitchFamily="2" charset="-122"/>
              </a:rPr>
              <a:pPr/>
              <a:t>94</a:t>
            </a:fld>
            <a:endParaRPr lang="en-US" altLang="zh-CN" sz="130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a:extLst>
              <a:ext uri="{FF2B5EF4-FFF2-40B4-BE49-F238E27FC236}">
                <a16:creationId xmlns:a16="http://schemas.microsoft.com/office/drawing/2014/main" id="{67444AB3-C361-4C9B-BE65-11D1BB0747D2}"/>
              </a:ext>
            </a:extLst>
          </p:cNvPr>
          <p:cNvSpPr>
            <a:spLocks noGrp="1" noRot="1" noChangeAspect="1" noChangeArrowheads="1" noTextEdit="1"/>
          </p:cNvSpPr>
          <p:nvPr>
            <p:ph type="sldImg"/>
          </p:nvPr>
        </p:nvSpPr>
        <p:spPr>
          <a:ln/>
        </p:spPr>
      </p:sp>
      <p:sp>
        <p:nvSpPr>
          <p:cNvPr id="149507" name="备注占位符 2">
            <a:extLst>
              <a:ext uri="{FF2B5EF4-FFF2-40B4-BE49-F238E27FC236}">
                <a16:creationId xmlns:a16="http://schemas.microsoft.com/office/drawing/2014/main" id="{8358E5BA-FE74-4FFB-83AB-C7A33711D28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9508" name="灯片编号占位符 3">
            <a:extLst>
              <a:ext uri="{FF2B5EF4-FFF2-40B4-BE49-F238E27FC236}">
                <a16:creationId xmlns:a16="http://schemas.microsoft.com/office/drawing/2014/main" id="{FF823D9C-21D2-49A0-AA6F-9BD0A25B0D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7810760-D10A-48DF-919D-2EF3A20C0572}" type="slidenum">
              <a:rPr lang="en-US" altLang="zh-CN" sz="1300" smtClean="0">
                <a:ea typeface="宋体" panose="02010600030101010101" pitchFamily="2" charset="-122"/>
              </a:rPr>
              <a:pPr/>
              <a:t>95</a:t>
            </a:fld>
            <a:endParaRPr lang="en-US" altLang="zh-CN" sz="130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7" name="Content Placeholder 2">
            <a:extLst>
              <a:ext uri="{FF2B5EF4-FFF2-40B4-BE49-F238E27FC236}">
                <a16:creationId xmlns:a16="http://schemas.microsoft.com/office/drawing/2014/main" id="{B944CF63-DA67-46B4-8F87-CA4DEAD3C484}"/>
              </a:ext>
            </a:extLst>
          </p:cNvPr>
          <p:cNvSpPr>
            <a:spLocks noGrp="1"/>
          </p:cNvSpPr>
          <p:nvPr>
            <p:ph sz="half" idx="10" hasCustomPrompt="1"/>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106799473"/>
      </p:ext>
    </p:extLst>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9">
            <a:extLst>
              <a:ext uri="{FF2B5EF4-FFF2-40B4-BE49-F238E27FC236}">
                <a16:creationId xmlns:a16="http://schemas.microsoft.com/office/drawing/2014/main" id="{2EA9622E-6F7F-4764-8155-1899076D5E99}"/>
              </a:ext>
            </a:extLst>
          </p:cNvPr>
          <p:cNvSpPr>
            <a:spLocks noGrp="1"/>
          </p:cNvSpPr>
          <p:nvPr>
            <p:ph type="ftr" sz="quarter" idx="10"/>
          </p:nvPr>
        </p:nvSpPr>
        <p:spPr>
          <a:xfrm>
            <a:off x="3028950" y="6356350"/>
            <a:ext cx="3086100" cy="365125"/>
          </a:xfrm>
          <a:prstGeom prst="rect">
            <a:avLst/>
          </a:prstGeom>
          <a:ln/>
        </p:spPr>
        <p:txBody>
          <a:bodyPr/>
          <a:lstStyle>
            <a:lvl1pPr>
              <a:defRPr/>
            </a:lvl1pPr>
          </a:lstStyle>
          <a:p>
            <a:pPr>
              <a:defRPr/>
            </a:pPr>
            <a:r>
              <a:rPr lang="zh-CN" altLang="en-US"/>
              <a:t>计算机学院体系结构中心</a:t>
            </a:r>
          </a:p>
        </p:txBody>
      </p:sp>
    </p:spTree>
    <p:extLst>
      <p:ext uri="{BB962C8B-B14F-4D97-AF65-F5344CB8AC3E}">
        <p14:creationId xmlns:p14="http://schemas.microsoft.com/office/powerpoint/2010/main" val="888422903"/>
      </p:ext>
    </p:extLst>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p>
        </p:txBody>
      </p:sp>
      <p:sp>
        <p:nvSpPr>
          <p:cNvPr id="3" name="图表占位符 2"/>
          <p:cNvSpPr>
            <a:spLocks noGrp="1"/>
          </p:cNvSpPr>
          <p:nvPr>
            <p:ph type="chart" idx="1"/>
          </p:nvPr>
        </p:nvSpPr>
        <p:spPr>
          <a:xfrm>
            <a:off x="179388" y="981075"/>
            <a:ext cx="8785225" cy="5400675"/>
          </a:xfrm>
        </p:spPr>
        <p:txBody>
          <a:bodyPr/>
          <a:lstStyle/>
          <a:p>
            <a:pPr lvl="0"/>
            <a:r>
              <a:rPr lang="zh-CN" altLang="en-US" noProof="0"/>
              <a:t>单击图标添加图表</a:t>
            </a:r>
          </a:p>
        </p:txBody>
      </p:sp>
      <p:sp>
        <p:nvSpPr>
          <p:cNvPr id="4" name="页脚占位符 9">
            <a:extLst>
              <a:ext uri="{FF2B5EF4-FFF2-40B4-BE49-F238E27FC236}">
                <a16:creationId xmlns:a16="http://schemas.microsoft.com/office/drawing/2014/main" id="{76975BA2-68A8-414B-9716-47D76F82BF41}"/>
              </a:ext>
            </a:extLst>
          </p:cNvPr>
          <p:cNvSpPr>
            <a:spLocks noGrp="1"/>
          </p:cNvSpPr>
          <p:nvPr>
            <p:ph type="ftr" sz="quarter" idx="10"/>
          </p:nvPr>
        </p:nvSpPr>
        <p:spPr>
          <a:xfrm>
            <a:off x="3028950" y="6356350"/>
            <a:ext cx="3086100" cy="365125"/>
          </a:xfrm>
          <a:prstGeom prst="rect">
            <a:avLst/>
          </a:prstGeom>
          <a:ln/>
        </p:spPr>
        <p:txBody>
          <a:bodyPr/>
          <a:lstStyle>
            <a:lvl1pPr>
              <a:defRPr/>
            </a:lvl1pPr>
          </a:lstStyle>
          <a:p>
            <a:pPr>
              <a:defRPr/>
            </a:pPr>
            <a:r>
              <a:rPr lang="zh-CN" altLang="en-US"/>
              <a:t>计算机学院体系结构中心</a:t>
            </a:r>
          </a:p>
        </p:txBody>
      </p:sp>
    </p:spTree>
    <p:extLst>
      <p:ext uri="{BB962C8B-B14F-4D97-AF65-F5344CB8AC3E}">
        <p14:creationId xmlns:p14="http://schemas.microsoft.com/office/powerpoint/2010/main" val="2299359742"/>
      </p:ext>
    </p:extLst>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981075"/>
            <a:ext cx="4316412"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81075"/>
            <a:ext cx="4316413"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a:extLst>
              <a:ext uri="{FF2B5EF4-FFF2-40B4-BE49-F238E27FC236}">
                <a16:creationId xmlns:a16="http://schemas.microsoft.com/office/drawing/2014/main" id="{4BB83DDD-7496-4E81-8E4F-F7DDBB828635}"/>
              </a:ext>
            </a:extLst>
          </p:cNvPr>
          <p:cNvSpPr>
            <a:spLocks noGrp="1"/>
          </p:cNvSpPr>
          <p:nvPr>
            <p:ph type="ftr" sz="quarter" idx="10"/>
          </p:nvPr>
        </p:nvSpPr>
        <p:spPr>
          <a:xfrm>
            <a:off x="2209800" y="6453188"/>
            <a:ext cx="4724400" cy="346075"/>
          </a:xfrm>
          <a:prstGeom prst="rect">
            <a:avLst/>
          </a:prstGeom>
        </p:spPr>
        <p:txBody>
          <a:bodyPr/>
          <a:lstStyle>
            <a:lvl1pPr>
              <a:defRPr/>
            </a:lvl1pPr>
          </a:lstStyle>
          <a:p>
            <a:pPr>
              <a:defRPr/>
            </a:pPr>
            <a:r>
              <a:rPr lang="zh-CN" altLang="en-US"/>
              <a:t>计算机学院体系结构中心</a:t>
            </a:r>
          </a:p>
        </p:txBody>
      </p:sp>
    </p:spTree>
    <p:extLst>
      <p:ext uri="{BB962C8B-B14F-4D97-AF65-F5344CB8AC3E}">
        <p14:creationId xmlns:p14="http://schemas.microsoft.com/office/powerpoint/2010/main" val="3110803543"/>
      </p:ext>
    </p:extLst>
  </p:cSld>
  <p:clrMapOvr>
    <a:masterClrMapping/>
  </p:clrMapOvr>
  <p:transition spd="med">
    <p:pull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981075"/>
            <a:ext cx="4316412"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981075"/>
            <a:ext cx="4316413" cy="2624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57613"/>
            <a:ext cx="4316413" cy="26241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a:extLst>
              <a:ext uri="{FF2B5EF4-FFF2-40B4-BE49-F238E27FC236}">
                <a16:creationId xmlns:a16="http://schemas.microsoft.com/office/drawing/2014/main" id="{0F51388D-7F4A-4D44-A00A-5876A84ADD36}"/>
              </a:ext>
            </a:extLst>
          </p:cNvPr>
          <p:cNvSpPr>
            <a:spLocks noGrp="1"/>
          </p:cNvSpPr>
          <p:nvPr>
            <p:ph type="ftr" sz="quarter" idx="10"/>
          </p:nvPr>
        </p:nvSpPr>
        <p:spPr>
          <a:xfrm>
            <a:off x="2209800" y="6453188"/>
            <a:ext cx="4724400" cy="346075"/>
          </a:xfrm>
          <a:prstGeom prst="rect">
            <a:avLst/>
          </a:prstGeom>
        </p:spPr>
        <p:txBody>
          <a:bodyPr/>
          <a:lstStyle>
            <a:lvl1pPr>
              <a:defRPr/>
            </a:lvl1pPr>
          </a:lstStyle>
          <a:p>
            <a:pPr>
              <a:defRPr/>
            </a:pPr>
            <a:r>
              <a:rPr lang="zh-CN" altLang="en-US"/>
              <a:t>计算机学院体系结构中心</a:t>
            </a:r>
          </a:p>
        </p:txBody>
      </p:sp>
    </p:spTree>
    <p:extLst>
      <p:ext uri="{BB962C8B-B14F-4D97-AF65-F5344CB8AC3E}">
        <p14:creationId xmlns:p14="http://schemas.microsoft.com/office/powerpoint/2010/main" val="1504342861"/>
      </p:ext>
    </p:extLst>
  </p:cSld>
  <p:clrMapOvr>
    <a:masterClrMapping/>
  </p:clrMapOvr>
  <p:transition spd="med">
    <p:pull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335961988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212278339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3009033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6" name="Content Placeholder 2">
            <a:extLst>
              <a:ext uri="{FF2B5EF4-FFF2-40B4-BE49-F238E27FC236}">
                <a16:creationId xmlns:a16="http://schemas.microsoft.com/office/drawing/2014/main" id="{902AEB10-BE87-4EE6-8A34-2BDAC8542DF3}"/>
              </a:ext>
            </a:extLst>
          </p:cNvPr>
          <p:cNvSpPr>
            <a:spLocks noGrp="1"/>
          </p:cNvSpPr>
          <p:nvPr>
            <p:ph sz="half" idx="10" hasCustomPrompt="1"/>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6769871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hasCustomPrompt="1"/>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2088415079"/>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350506905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091684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4985102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27328165"/>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73490032"/>
      </p:ext>
    </p:extLst>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image" Target="../media/image1.jpe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theme" Target="../theme/theme3.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ＭＳ Ｐゴシック" pitchFamily="-96" charset="-128"/>
                <a:cs typeface="ＭＳ Ｐゴシック" pitchFamily="-96" charset="-128"/>
              </a:rPr>
              <a:pPr/>
              <a:t>‹#›</a:t>
            </a:fld>
            <a:endParaRPr lang="en-US" sz="1000" dirty="0">
              <a:latin typeface="+mj-lt"/>
            </a:endParaRP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25400">
                <a:solidFill>
                  <a:srgbClr val="CC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eaLnBrk="0" hangingPunct="0"/>
            <a:r>
              <a:rPr lang="en-US" altLang="en-US" sz="1200" b="1" dirty="0">
                <a:solidFill>
                  <a:srgbClr val="FFFFFF"/>
                </a:solidFill>
                <a:latin typeface="Times New Roman" pitchFamily="18" charset="0"/>
                <a:ea typeface="+mn-ea"/>
                <a:cs typeface="+mn-cs"/>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a:extLst>
              <a:ext uri="{FF2B5EF4-FFF2-40B4-BE49-F238E27FC236}">
                <a16:creationId xmlns:a16="http://schemas.microsoft.com/office/drawing/2014/main" id="{1B3B2342-1FE3-4F59-8CA3-7F4B24967CD7}"/>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a:extLst>
              <a:ext uri="{FF2B5EF4-FFF2-40B4-BE49-F238E27FC236}">
                <a16:creationId xmlns:a16="http://schemas.microsoft.com/office/drawing/2014/main" id="{C9EFAE65-0CCB-4027-B00E-28603B0872C4}"/>
              </a:ext>
            </a:extLst>
          </p:cNvPr>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itchFamily="34" charset="0"/>
              </a:rPr>
              <a:t>Principles of Computer Organization </a:t>
            </a: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98" r:id="rId10"/>
    <p:sldLayoutId id="2147483711" r:id="rId11"/>
    <p:sldLayoutId id="2147483712" r:id="rId12"/>
    <p:sldLayoutId id="2147483713" r:id="rId13"/>
    <p:sldLayoutId id="2147483714" r:id="rId14"/>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5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a:sym typeface="Calibri Bold" charset="0"/>
              </a:rPr>
              <a:t>Click to edit Master title style</a:t>
            </a: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itchFamily="34"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25400">
                <a:solidFill>
                  <a:srgbClr val="CC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eaLnBrk="0" hangingPunct="0"/>
            <a:r>
              <a:rPr lang="en-US" altLang="zh-CN" sz="1200" b="1" dirty="0">
                <a:solidFill>
                  <a:srgbClr val="FFFFFF"/>
                </a:solidFill>
                <a:latin typeface="Times New Roman" pitchFamily="18" charset="0"/>
                <a:ea typeface="+mn-ea"/>
                <a:cs typeface="+mn-cs"/>
              </a:rPr>
              <a:t>School of Computer Science</a:t>
            </a:r>
            <a:endParaRPr lang="en-US" altLang="en-US" sz="1200" b="1" dirty="0">
              <a:solidFill>
                <a:srgbClr val="FFFFFF"/>
              </a:solidFill>
              <a:latin typeface="Times New Roman"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charset="2"/>
        <a:buChar char="§"/>
        <a:defRPr sz="2000">
          <a:solidFill>
            <a:schemeClr val="tx1"/>
          </a:solidFill>
          <a:latin typeface="Calibri" charset="0"/>
          <a:ea typeface="ヒラギノ角ゴ ProN W3" charset="0"/>
          <a:cs typeface="ヒラギノ角ゴ ProN W3" charset="0"/>
          <a:sym typeface="Calibri" charset="0"/>
        </a:defRPr>
      </a:lvl2pPr>
      <a:lvl3pPr marL="1143000" indent="-228600" algn="l" rtl="0" fontAlgn="base">
        <a:spcBef>
          <a:spcPts val="500"/>
        </a:spcBef>
        <a:spcAft>
          <a:spcPct val="0"/>
        </a:spcAft>
        <a:buClr>
          <a:srgbClr val="000000"/>
        </a:buClr>
        <a:buSzPct val="80000"/>
        <a:buFont typeface="Wingdings" charset="2"/>
        <a:buChar char="§"/>
        <a:defRPr sz="2000">
          <a:solidFill>
            <a:schemeClr val="tx1"/>
          </a:solidFill>
          <a:latin typeface="Calibri" charset="0"/>
          <a:ea typeface="ヒラギノ角ゴ ProN W3" charset="0"/>
          <a:cs typeface="ヒラギノ角ゴ ProN W3" charset="0"/>
          <a:sym typeface="Calibri" charset="0"/>
        </a:defRPr>
      </a:lvl3pPr>
      <a:lvl4pPr marL="1600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20574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5pPr>
      <a:lvl6pPr marL="25146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9718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3429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886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ＭＳ Ｐゴシック" pitchFamily="-96" charset="-128"/>
                <a:cs typeface="ＭＳ Ｐゴシック" pitchFamily="-96" charset="-128"/>
                <a:sym typeface="Gill Sans"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sym typeface="Gill Sans"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 xmlns:a14="http://schemas.microsoft.com/office/drawing/2010/main">
                <a:solidFill>
                  <a:schemeClr val="tx1"/>
                </a:solidFill>
              </a14:hiddenFill>
            </a:ext>
            <a:ext uri="{91240B29-F687-4f45-9708-019B960494DF}">
              <a14:hiddenLine xmlns="" xmlns:a14="http://schemas.microsoft.com/office/drawing/2010/main" w="25400">
                <a:solidFill>
                  <a:srgbClr val="CC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solidFill>
                  <a:srgbClr val="FFFFFF"/>
                </a:solidFill>
                <a:effectLst/>
                <a:uLnTx/>
                <a:uFillTx/>
                <a:latin typeface="Times New Roman" pitchFamily="18" charset="0"/>
                <a:ea typeface="+mn-ea"/>
                <a:cs typeface="+mn-cs"/>
                <a:sym typeface="Gill Sans" charset="0"/>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extLst>
      <p:ext uri="{BB962C8B-B14F-4D97-AF65-F5344CB8AC3E}">
        <p14:creationId xmlns:p14="http://schemas.microsoft.com/office/powerpoint/2010/main" val="201777522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12.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image" Target="../media/image14.wmf"/><Relationship Id="rId5" Type="http://schemas.openxmlformats.org/officeDocument/2006/relationships/oleObject" Target="../embeddings/oleObject3.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5.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0.xml"/><Relationship Id="rId4" Type="http://schemas.openxmlformats.org/officeDocument/2006/relationships/image" Target="../media/image19.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zh-CN" altLang="en-US" dirty="0"/>
              <a:t>第</a:t>
            </a:r>
            <a:r>
              <a:rPr lang="en-US" altLang="zh-CN" dirty="0"/>
              <a:t>3</a:t>
            </a:r>
            <a:r>
              <a:rPr lang="zh-CN" altLang="en-US" dirty="0"/>
              <a:t>章 </a:t>
            </a:r>
            <a:r>
              <a:rPr lang="zh-CN" altLang="en-US" dirty="0">
                <a:latin typeface="黑体" panose="02010609060101010101" pitchFamily="49" charset="-122"/>
              </a:rPr>
              <a:t>存储系统</a:t>
            </a:r>
            <a:r>
              <a:rPr lang="en-US" altLang="zh-CN" dirty="0">
                <a:latin typeface="黑体" panose="02010609060101010101" pitchFamily="49" charset="-122"/>
              </a:rPr>
              <a:t>3</a:t>
            </a:r>
            <a:endParaRPr lang="zh-CN" altLang="en-US" dirty="0"/>
          </a:p>
        </p:txBody>
      </p:sp>
    </p:spTree>
    <p:extLst>
      <p:ext uri="{BB962C8B-B14F-4D97-AF65-F5344CB8AC3E}">
        <p14:creationId xmlns:p14="http://schemas.microsoft.com/office/powerpoint/2010/main" val="2487653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3.6 Cache</a:t>
            </a:r>
            <a:r>
              <a:rPr lang="zh-CN" altLang="en-US" dirty="0"/>
              <a:t>存储器</a:t>
            </a:r>
          </a:p>
        </p:txBody>
      </p:sp>
    </p:spTree>
    <p:extLst>
      <p:ext uri="{BB962C8B-B14F-4D97-AF65-F5344CB8AC3E}">
        <p14:creationId xmlns:p14="http://schemas.microsoft.com/office/powerpoint/2010/main" val="291160818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AC7A89-B613-4A21-9D61-3DA15C8C2600}"/>
              </a:ext>
            </a:extLst>
          </p:cNvPr>
          <p:cNvSpPr>
            <a:spLocks noGrp="1"/>
          </p:cNvSpPr>
          <p:nvPr>
            <p:ph type="title"/>
          </p:nvPr>
        </p:nvSpPr>
        <p:spPr/>
        <p:txBody>
          <a:bodyPr/>
          <a:lstStyle/>
          <a:p>
            <a:pPr>
              <a:defRPr/>
            </a:pPr>
            <a:r>
              <a:rPr lang="zh-CN" altLang="en-US"/>
              <a:t>处理器参数</a:t>
            </a:r>
          </a:p>
        </p:txBody>
      </p:sp>
      <p:pic>
        <p:nvPicPr>
          <p:cNvPr id="12291" name="内容占位符 7">
            <a:extLst>
              <a:ext uri="{FF2B5EF4-FFF2-40B4-BE49-F238E27FC236}">
                <a16:creationId xmlns:a16="http://schemas.microsoft.com/office/drawing/2014/main" id="{0A754BE1-6D1D-40B4-B8DB-6493598B1E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925" y="1030288"/>
            <a:ext cx="5462588" cy="1970087"/>
          </a:xfrm>
        </p:spPr>
      </p:pic>
      <p:pic>
        <p:nvPicPr>
          <p:cNvPr id="12293" name="图片 4">
            <a:extLst>
              <a:ext uri="{FF2B5EF4-FFF2-40B4-BE49-F238E27FC236}">
                <a16:creationId xmlns:a16="http://schemas.microsoft.com/office/drawing/2014/main" id="{38C32A9A-5DFF-4A9F-B998-4A5A83AE0E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3000375"/>
            <a:ext cx="5757862"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294" name="直接连接符 9">
            <a:extLst>
              <a:ext uri="{FF2B5EF4-FFF2-40B4-BE49-F238E27FC236}">
                <a16:creationId xmlns:a16="http://schemas.microsoft.com/office/drawing/2014/main" id="{674462B6-14C8-4FF2-99A5-EF991DFC3937}"/>
              </a:ext>
            </a:extLst>
          </p:cNvPr>
          <p:cNvCxnSpPr>
            <a:cxnSpLocks noChangeShapeType="1"/>
          </p:cNvCxnSpPr>
          <p:nvPr/>
        </p:nvCxnSpPr>
        <p:spPr bwMode="auto">
          <a:xfrm>
            <a:off x="6227763" y="4024313"/>
            <a:ext cx="647700" cy="0"/>
          </a:xfrm>
          <a:prstGeom prst="line">
            <a:avLst/>
          </a:prstGeom>
          <a:noFill/>
          <a:ln w="222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2295" name="直接连接符 10">
            <a:extLst>
              <a:ext uri="{FF2B5EF4-FFF2-40B4-BE49-F238E27FC236}">
                <a16:creationId xmlns:a16="http://schemas.microsoft.com/office/drawing/2014/main" id="{8A7A04A8-9B5B-405F-AF44-237303168CCD}"/>
              </a:ext>
            </a:extLst>
          </p:cNvPr>
          <p:cNvCxnSpPr>
            <a:cxnSpLocks noChangeShapeType="1"/>
          </p:cNvCxnSpPr>
          <p:nvPr/>
        </p:nvCxnSpPr>
        <p:spPr bwMode="auto">
          <a:xfrm>
            <a:off x="6292850" y="4217988"/>
            <a:ext cx="647700" cy="0"/>
          </a:xfrm>
          <a:prstGeom prst="line">
            <a:avLst/>
          </a:prstGeom>
          <a:noFill/>
          <a:ln w="22225"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12296" name="直接连接符 11">
            <a:extLst>
              <a:ext uri="{FF2B5EF4-FFF2-40B4-BE49-F238E27FC236}">
                <a16:creationId xmlns:a16="http://schemas.microsoft.com/office/drawing/2014/main" id="{260A2257-5F4F-496F-9B82-F366E8C097D6}"/>
              </a:ext>
            </a:extLst>
          </p:cNvPr>
          <p:cNvCxnSpPr>
            <a:cxnSpLocks noChangeShapeType="1"/>
          </p:cNvCxnSpPr>
          <p:nvPr/>
        </p:nvCxnSpPr>
        <p:spPr bwMode="auto">
          <a:xfrm>
            <a:off x="5888038" y="4402138"/>
            <a:ext cx="1476375" cy="0"/>
          </a:xfrm>
          <a:prstGeom prst="line">
            <a:avLst/>
          </a:prstGeom>
          <a:noFill/>
          <a:ln w="22225" algn="ctr">
            <a:solidFill>
              <a:srgbClr val="FF0000"/>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a:extLst>
              <a:ext uri="{FF2B5EF4-FFF2-40B4-BE49-F238E27FC236}">
                <a16:creationId xmlns:a16="http://schemas.microsoft.com/office/drawing/2014/main" id="{87CD9826-A5CD-4B6A-97CC-162830323523}"/>
              </a:ext>
            </a:extLst>
          </p:cNvPr>
          <p:cNvSpPr>
            <a:spLocks noGrp="1" noChangeArrowheads="1"/>
          </p:cNvSpPr>
          <p:nvPr>
            <p:ph type="title"/>
          </p:nvPr>
        </p:nvSpPr>
        <p:spPr/>
        <p:txBody>
          <a:bodyPr/>
          <a:lstStyle/>
          <a:p>
            <a:pPr eaLnBrk="1" hangingPunct="1">
              <a:defRPr/>
            </a:pPr>
            <a:r>
              <a:rPr lang="zh-CN" altLang="en-US" sz="4800"/>
              <a:t>局部性原理</a:t>
            </a:r>
          </a:p>
        </p:txBody>
      </p:sp>
      <p:sp>
        <p:nvSpPr>
          <p:cNvPr id="13315" name="Rectangle 3">
            <a:extLst>
              <a:ext uri="{FF2B5EF4-FFF2-40B4-BE49-F238E27FC236}">
                <a16:creationId xmlns:a16="http://schemas.microsoft.com/office/drawing/2014/main" id="{F53DC9AD-80DE-4684-8D18-4EEE565AB7D6}"/>
              </a:ext>
            </a:extLst>
          </p:cNvPr>
          <p:cNvSpPr>
            <a:spLocks noGrp="1" noChangeArrowheads="1"/>
          </p:cNvSpPr>
          <p:nvPr>
            <p:ph idx="1"/>
          </p:nvPr>
        </p:nvSpPr>
        <p:spPr/>
        <p:txBody>
          <a:bodyPr/>
          <a:lstStyle/>
          <a:p>
            <a:pPr eaLnBrk="1" hangingPunct="1"/>
            <a:r>
              <a:rPr lang="zh-CN" altLang="en-US"/>
              <a:t>空间局部性</a:t>
            </a:r>
            <a:r>
              <a:rPr lang="zh-CN" altLang="en-US">
                <a:ea typeface="宋体" panose="02010600030101010101" pitchFamily="2" charset="-122"/>
              </a:rPr>
              <a:t>（</a:t>
            </a:r>
            <a:r>
              <a:rPr lang="en-US" altLang="zh-CN">
                <a:ea typeface="宋体" panose="02010600030101010101" pitchFamily="2" charset="-122"/>
              </a:rPr>
              <a:t>Spatial Locality</a:t>
            </a:r>
            <a:r>
              <a:rPr lang="zh-CN" altLang="en-US">
                <a:ea typeface="宋体" panose="02010600030101010101" pitchFamily="2" charset="-122"/>
              </a:rPr>
              <a:t>）</a:t>
            </a:r>
          </a:p>
          <a:p>
            <a:pPr lvl="1" eaLnBrk="1" hangingPunct="1"/>
            <a:r>
              <a:rPr lang="zh-CN" altLang="en-US"/>
              <a:t>最近被访问的地址附近的单元很可能将被访问</a:t>
            </a:r>
            <a:endParaRPr lang="en-US" altLang="zh-CN"/>
          </a:p>
          <a:p>
            <a:pPr lvl="1" eaLnBrk="1" hangingPunct="1"/>
            <a:endParaRPr lang="en-US" altLang="zh-CN"/>
          </a:p>
          <a:p>
            <a:pPr lvl="1" eaLnBrk="1" hangingPunct="1"/>
            <a:endParaRPr lang="en-US" altLang="zh-CN"/>
          </a:p>
          <a:p>
            <a:pPr eaLnBrk="1" hangingPunct="1"/>
            <a:r>
              <a:rPr lang="zh-CN" altLang="en-US"/>
              <a:t>时间局部性</a:t>
            </a:r>
            <a:r>
              <a:rPr lang="zh-CN" altLang="en-US">
                <a:ea typeface="宋体" panose="02010600030101010101" pitchFamily="2" charset="-122"/>
              </a:rPr>
              <a:t>（</a:t>
            </a:r>
            <a:r>
              <a:rPr lang="en-US" altLang="zh-CN">
                <a:ea typeface="宋体" panose="02010600030101010101" pitchFamily="2" charset="-122"/>
              </a:rPr>
              <a:t>Temporal Locality</a:t>
            </a:r>
            <a:r>
              <a:rPr lang="zh-CN" altLang="en-US">
                <a:ea typeface="宋体" panose="02010600030101010101" pitchFamily="2" charset="-122"/>
              </a:rPr>
              <a:t>）</a:t>
            </a:r>
          </a:p>
          <a:p>
            <a:pPr lvl="1" eaLnBrk="1" hangingPunct="1"/>
            <a:r>
              <a:rPr lang="zh-CN" altLang="en-US"/>
              <a:t>如果一个信息项正在被访问，那么在近期它很可能还会被再次访问</a:t>
            </a:r>
            <a:r>
              <a:rPr lang="zh-CN" altLang="en-US" sz="3600">
                <a:ea typeface="宋体" panose="02010600030101010101" pitchFamily="2" charset="-122"/>
              </a:rPr>
              <a:t> </a:t>
            </a:r>
          </a:p>
        </p:txBody>
      </p:sp>
      <p:grpSp>
        <p:nvGrpSpPr>
          <p:cNvPr id="13317" name="组合 4">
            <a:extLst>
              <a:ext uri="{FF2B5EF4-FFF2-40B4-BE49-F238E27FC236}">
                <a16:creationId xmlns:a16="http://schemas.microsoft.com/office/drawing/2014/main" id="{6BDA0A2C-FEBD-428B-B772-EE7402EAA41D}"/>
              </a:ext>
            </a:extLst>
          </p:cNvPr>
          <p:cNvGrpSpPr>
            <a:grpSpLocks/>
          </p:cNvGrpSpPr>
          <p:nvPr/>
        </p:nvGrpSpPr>
        <p:grpSpPr bwMode="auto">
          <a:xfrm>
            <a:off x="3116352" y="4592051"/>
            <a:ext cx="1905000" cy="814387"/>
            <a:chOff x="6096000" y="2614411"/>
            <a:chExt cx="1905000" cy="814589"/>
          </a:xfrm>
        </p:grpSpPr>
        <p:sp>
          <p:nvSpPr>
            <p:cNvPr id="6" name="Rectangle 3">
              <a:extLst>
                <a:ext uri="{FF2B5EF4-FFF2-40B4-BE49-F238E27FC236}">
                  <a16:creationId xmlns:a16="http://schemas.microsoft.com/office/drawing/2014/main" id="{DFAB01C3-6668-4328-97DF-81A3C9B5E828}"/>
                </a:ext>
              </a:extLst>
            </p:cNvPr>
            <p:cNvSpPr/>
            <p:nvPr/>
          </p:nvSpPr>
          <p:spPr bwMode="auto">
            <a:xfrm>
              <a:off x="6096000" y="3124124"/>
              <a:ext cx="1905000" cy="304876"/>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p:txBody>
        </p:sp>
        <p:sp>
          <p:nvSpPr>
            <p:cNvPr id="7" name="Rectangle 4">
              <a:extLst>
                <a:ext uri="{FF2B5EF4-FFF2-40B4-BE49-F238E27FC236}">
                  <a16:creationId xmlns:a16="http://schemas.microsoft.com/office/drawing/2014/main" id="{5C1A4EC9-D0ED-4038-A673-6C02521B7E26}"/>
                </a:ext>
              </a:extLst>
            </p:cNvPr>
            <p:cNvSpPr/>
            <p:nvPr/>
          </p:nvSpPr>
          <p:spPr bwMode="auto">
            <a:xfrm>
              <a:off x="6489700" y="3124124"/>
              <a:ext cx="381000" cy="304876"/>
            </a:xfrm>
            <a:prstGeom prst="rect">
              <a:avLst/>
            </a:prstGeom>
            <a:solidFill>
              <a:srgbClr val="FF9999"/>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p:txBody>
        </p:sp>
        <p:sp>
          <p:nvSpPr>
            <p:cNvPr id="8" name="Freeform 5">
              <a:extLst>
                <a:ext uri="{FF2B5EF4-FFF2-40B4-BE49-F238E27FC236}">
                  <a16:creationId xmlns:a16="http://schemas.microsoft.com/office/drawing/2014/main" id="{05CCE91E-476E-4930-AB6C-62764152A95A}"/>
                </a:ext>
              </a:extLst>
            </p:cNvPr>
            <p:cNvSpPr/>
            <p:nvPr/>
          </p:nvSpPr>
          <p:spPr bwMode="auto">
            <a:xfrm>
              <a:off x="6319838" y="2614411"/>
              <a:ext cx="627062" cy="433494"/>
            </a:xfrm>
            <a:custGeom>
              <a:avLst/>
              <a:gdLst>
                <a:gd name="connsiteX0" fmla="*/ 290847 w 627844"/>
                <a:gd name="connsiteY0" fmla="*/ 433589 h 433589"/>
                <a:gd name="connsiteX1" fmla="*/ 46149 w 627844"/>
                <a:gd name="connsiteY1" fmla="*/ 72980 h 433589"/>
                <a:gd name="connsiteX2" fmla="*/ 567743 w 627844"/>
                <a:gd name="connsiteY2" fmla="*/ 60101 h 433589"/>
                <a:gd name="connsiteX3" fmla="*/ 406757 w 627844"/>
                <a:gd name="connsiteY3" fmla="*/ 433589 h 433589"/>
              </a:gdLst>
              <a:ahLst/>
              <a:cxnLst>
                <a:cxn ang="0">
                  <a:pos x="connsiteX0" y="connsiteY0"/>
                </a:cxn>
                <a:cxn ang="0">
                  <a:pos x="connsiteX1" y="connsiteY1"/>
                </a:cxn>
                <a:cxn ang="0">
                  <a:pos x="connsiteX2" y="connsiteY2"/>
                </a:cxn>
                <a:cxn ang="0">
                  <a:pos x="connsiteX3" y="connsiteY3"/>
                </a:cxn>
              </a:cxnLst>
              <a:rect l="l" t="t" r="r" b="b"/>
              <a:pathLst>
                <a:path w="627844" h="433589">
                  <a:moveTo>
                    <a:pt x="290847" y="433589"/>
                  </a:moveTo>
                  <a:cubicBezTo>
                    <a:pt x="145423" y="284408"/>
                    <a:pt x="0" y="135228"/>
                    <a:pt x="46149" y="72980"/>
                  </a:cubicBezTo>
                  <a:cubicBezTo>
                    <a:pt x="92298" y="10732"/>
                    <a:pt x="507642" y="0"/>
                    <a:pt x="567743" y="60101"/>
                  </a:cubicBezTo>
                  <a:cubicBezTo>
                    <a:pt x="627844" y="120202"/>
                    <a:pt x="517300" y="276895"/>
                    <a:pt x="406757" y="433589"/>
                  </a:cubicBezTo>
                </a:path>
              </a:pathLst>
            </a:custGeom>
            <a:noFill/>
            <a:ln w="25400" cap="flat" cmpd="sng" algn="ctr">
              <a:solidFill>
                <a:srgbClr val="000000"/>
              </a:solidFill>
              <a:prstDash val="solid"/>
              <a:round/>
              <a:headEnd type="none" w="med" len="med"/>
              <a:tailEnd type="arrow"/>
            </a:ln>
            <a:effectLst/>
          </p:spPr>
          <p:txBody>
            <a:bodyPr anchor="ctr"/>
            <a:lstStyle/>
            <a:p>
              <a:pPr algn="ctr" eaLnBrk="1" fontAlgn="auto" hangingPunct="1">
                <a:spcBef>
                  <a:spcPts val="0"/>
                </a:spcBef>
                <a:spcAft>
                  <a:spcPts val="0"/>
                </a:spcAft>
                <a:defRPr/>
              </a:pPr>
              <a:endParaRPr kumimoji="0" lang="en-US" sz="2400" b="1" kern="0">
                <a:solidFill>
                  <a:srgbClr val="000000"/>
                </a:solidFill>
                <a:latin typeface="Arial Narrow" pitchFamily="34" charset="0"/>
                <a:ea typeface="+mn-ea"/>
              </a:endParaRPr>
            </a:p>
          </p:txBody>
        </p:sp>
      </p:grpSp>
      <p:grpSp>
        <p:nvGrpSpPr>
          <p:cNvPr id="13318" name="组合 8">
            <a:extLst>
              <a:ext uri="{FF2B5EF4-FFF2-40B4-BE49-F238E27FC236}">
                <a16:creationId xmlns:a16="http://schemas.microsoft.com/office/drawing/2014/main" id="{8B39D2C4-AC79-403D-9D7F-48C7AE975E27}"/>
              </a:ext>
            </a:extLst>
          </p:cNvPr>
          <p:cNvGrpSpPr>
            <a:grpSpLocks/>
          </p:cNvGrpSpPr>
          <p:nvPr/>
        </p:nvGrpSpPr>
        <p:grpSpPr bwMode="auto">
          <a:xfrm>
            <a:off x="3109913" y="2262188"/>
            <a:ext cx="1905000" cy="735012"/>
            <a:chOff x="6102261" y="4186571"/>
            <a:chExt cx="1905000" cy="735169"/>
          </a:xfrm>
        </p:grpSpPr>
        <p:sp>
          <p:nvSpPr>
            <p:cNvPr id="13319" name="Rectangle 6">
              <a:extLst>
                <a:ext uri="{FF2B5EF4-FFF2-40B4-BE49-F238E27FC236}">
                  <a16:creationId xmlns:a16="http://schemas.microsoft.com/office/drawing/2014/main" id="{4C3276F3-6406-4839-BB5E-A08FA86FDBA5}"/>
                </a:ext>
              </a:extLst>
            </p:cNvPr>
            <p:cNvSpPr>
              <a:spLocks noChangeArrowheads="1"/>
            </p:cNvSpPr>
            <p:nvPr/>
          </p:nvSpPr>
          <p:spPr bwMode="auto">
            <a:xfrm>
              <a:off x="6102261" y="4616940"/>
              <a:ext cx="1905000" cy="304800"/>
            </a:xfrm>
            <a:prstGeom prst="rect">
              <a:avLst/>
            </a:prstGeom>
            <a:solidFill>
              <a:schemeClr val="bg1"/>
            </a:solidFill>
            <a:ln w="28575" algn="ctr">
              <a:solidFill>
                <a:schemeClr val="tx1"/>
              </a:solidFill>
              <a:round/>
              <a:headEnd/>
              <a:tailEnd type="triangle" w="med" len="med"/>
            </a:ln>
          </p:spPr>
          <p:txBody>
            <a:bodyPr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endParaRPr lang="en-US" altLang="zh-CN" sz="1800">
                <a:latin typeface="Calibri" panose="020F0502020204030204" pitchFamily="34" charset="0"/>
              </a:endParaRPr>
            </a:p>
          </p:txBody>
        </p:sp>
        <p:sp>
          <p:nvSpPr>
            <p:cNvPr id="13320" name="Rectangle 7">
              <a:extLst>
                <a:ext uri="{FF2B5EF4-FFF2-40B4-BE49-F238E27FC236}">
                  <a16:creationId xmlns:a16="http://schemas.microsoft.com/office/drawing/2014/main" id="{D7FD8CED-BDCD-45E4-8D20-485BAA4B579C}"/>
                </a:ext>
              </a:extLst>
            </p:cNvPr>
            <p:cNvSpPr>
              <a:spLocks noChangeArrowheads="1"/>
            </p:cNvSpPr>
            <p:nvPr/>
          </p:nvSpPr>
          <p:spPr bwMode="auto">
            <a:xfrm>
              <a:off x="6495961" y="4616940"/>
              <a:ext cx="381000" cy="304800"/>
            </a:xfrm>
            <a:prstGeom prst="rect">
              <a:avLst/>
            </a:prstGeom>
            <a:solidFill>
              <a:srgbClr val="FF9999"/>
            </a:solidFill>
            <a:ln w="28575" algn="ctr">
              <a:solidFill>
                <a:schemeClr val="tx1"/>
              </a:solidFill>
              <a:round/>
              <a:headEnd/>
              <a:tailEnd type="triangle" w="med" len="med"/>
            </a:ln>
          </p:spPr>
          <p:txBody>
            <a:bodyPr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endParaRPr lang="en-US" altLang="zh-CN" sz="1800">
                <a:latin typeface="Calibri" panose="020F0502020204030204" pitchFamily="34" charset="0"/>
              </a:endParaRPr>
            </a:p>
          </p:txBody>
        </p:sp>
        <p:sp>
          <p:nvSpPr>
            <p:cNvPr id="13321" name="Rectangle 9">
              <a:extLst>
                <a:ext uri="{FF2B5EF4-FFF2-40B4-BE49-F238E27FC236}">
                  <a16:creationId xmlns:a16="http://schemas.microsoft.com/office/drawing/2014/main" id="{D9BE35BB-6FDB-49AE-B310-BA21D3EE51DE}"/>
                </a:ext>
              </a:extLst>
            </p:cNvPr>
            <p:cNvSpPr>
              <a:spLocks noChangeArrowheads="1"/>
            </p:cNvSpPr>
            <p:nvPr/>
          </p:nvSpPr>
          <p:spPr bwMode="auto">
            <a:xfrm>
              <a:off x="6870700" y="4616940"/>
              <a:ext cx="381000" cy="304800"/>
            </a:xfrm>
            <a:prstGeom prst="rect">
              <a:avLst/>
            </a:prstGeom>
            <a:solidFill>
              <a:srgbClr val="FF9999"/>
            </a:solidFill>
            <a:ln w="28575" algn="ctr">
              <a:solidFill>
                <a:schemeClr val="tx1"/>
              </a:solidFill>
              <a:round/>
              <a:headEnd/>
              <a:tailEnd type="triangle" w="med" len="med"/>
            </a:ln>
          </p:spPr>
          <p:txBody>
            <a:bodyPr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endParaRPr lang="en-US" altLang="zh-CN" sz="1800">
                <a:latin typeface="Calibri" panose="020F0502020204030204" pitchFamily="34" charset="0"/>
              </a:endParaRPr>
            </a:p>
          </p:txBody>
        </p:sp>
        <p:sp>
          <p:nvSpPr>
            <p:cNvPr id="13322" name="Freeform 10">
              <a:extLst>
                <a:ext uri="{FF2B5EF4-FFF2-40B4-BE49-F238E27FC236}">
                  <a16:creationId xmlns:a16="http://schemas.microsoft.com/office/drawing/2014/main" id="{E50D543C-596F-4E37-BCC8-9D135942555B}"/>
                </a:ext>
              </a:extLst>
            </p:cNvPr>
            <p:cNvSpPr>
              <a:spLocks/>
            </p:cNvSpPr>
            <p:nvPr/>
          </p:nvSpPr>
          <p:spPr bwMode="auto">
            <a:xfrm>
              <a:off x="6416720" y="4186571"/>
              <a:ext cx="841420" cy="359535"/>
            </a:xfrm>
            <a:custGeom>
              <a:avLst/>
              <a:gdLst>
                <a:gd name="T0" fmla="*/ 200695 w 841420"/>
                <a:gd name="T1" fmla="*/ 353095 h 359535"/>
                <a:gd name="T2" fmla="*/ 91225 w 841420"/>
                <a:gd name="T3" fmla="*/ 56881 h 359535"/>
                <a:gd name="T4" fmla="*/ 748048 w 841420"/>
                <a:gd name="T5" fmla="*/ 50442 h 359535"/>
                <a:gd name="T6" fmla="*/ 651456 w 841420"/>
                <a:gd name="T7" fmla="*/ 359535 h 3595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41420" h="359535">
                  <a:moveTo>
                    <a:pt x="200695" y="353095"/>
                  </a:moveTo>
                  <a:cubicBezTo>
                    <a:pt x="100347" y="230209"/>
                    <a:pt x="0" y="107323"/>
                    <a:pt x="91225" y="56881"/>
                  </a:cubicBezTo>
                  <a:cubicBezTo>
                    <a:pt x="182450" y="6439"/>
                    <a:pt x="654676" y="0"/>
                    <a:pt x="748048" y="50442"/>
                  </a:cubicBezTo>
                  <a:cubicBezTo>
                    <a:pt x="841420" y="100884"/>
                    <a:pt x="746438" y="230209"/>
                    <a:pt x="651456" y="359535"/>
                  </a:cubicBezTo>
                </a:path>
              </a:pathLst>
            </a:custGeom>
            <a:noFill/>
            <a:ln w="25400" cap="flat" cmpd="sng" algn="ctr">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D7E9E1-D8EF-45EF-912F-3F5B8F26C3AE}"/>
              </a:ext>
            </a:extLst>
          </p:cNvPr>
          <p:cNvSpPr>
            <a:spLocks noGrp="1"/>
          </p:cNvSpPr>
          <p:nvPr>
            <p:ph type="title"/>
          </p:nvPr>
        </p:nvSpPr>
        <p:spPr/>
        <p:txBody>
          <a:bodyPr/>
          <a:lstStyle/>
          <a:p>
            <a:pPr>
              <a:defRPr/>
            </a:pPr>
            <a:r>
              <a:rPr lang="zh-CN" altLang="en-US"/>
              <a:t>存储系统的层次结构</a:t>
            </a:r>
          </a:p>
        </p:txBody>
      </p:sp>
      <p:sp>
        <p:nvSpPr>
          <p:cNvPr id="5" name="AutoShape 195">
            <a:extLst>
              <a:ext uri="{FF2B5EF4-FFF2-40B4-BE49-F238E27FC236}">
                <a16:creationId xmlns:a16="http://schemas.microsoft.com/office/drawing/2014/main" id="{94CD3E52-0AED-4091-B37A-DD32FF9F144B}"/>
              </a:ext>
            </a:extLst>
          </p:cNvPr>
          <p:cNvSpPr>
            <a:spLocks noChangeAspect="1" noChangeArrowheads="1"/>
          </p:cNvSpPr>
          <p:nvPr/>
        </p:nvSpPr>
        <p:spPr bwMode="auto">
          <a:xfrm>
            <a:off x="900113" y="1154112"/>
            <a:ext cx="6429375" cy="5399088"/>
          </a:xfrm>
          <a:prstGeom prst="triangle">
            <a:avLst>
              <a:gd name="adj" fmla="val 50000"/>
            </a:avLst>
          </a:prstGeom>
          <a:gradFill flip="none" rotWithShape="1">
            <a:gsLst>
              <a:gs pos="0">
                <a:srgbClr val="2D2DB9">
                  <a:lumMod val="20000"/>
                  <a:lumOff val="80000"/>
                  <a:alpha val="7000"/>
                </a:srgbClr>
              </a:gs>
              <a:gs pos="100000">
                <a:srgbClr val="2D2DB9">
                  <a:lumMod val="20000"/>
                  <a:lumOff val="80000"/>
                </a:srgbClr>
              </a:gs>
            </a:gsLst>
            <a:lin ang="16140000" scaled="0"/>
            <a:tileRect/>
          </a:gradFill>
          <a:ln w="12700">
            <a:solidFill>
              <a:srgbClr val="000000"/>
            </a:solidFill>
            <a:miter lim="800000"/>
            <a:headEnd/>
            <a:tailEnd/>
          </a:ln>
          <a:effec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6" name="Text Box 196">
            <a:extLst>
              <a:ext uri="{FF2B5EF4-FFF2-40B4-BE49-F238E27FC236}">
                <a16:creationId xmlns:a16="http://schemas.microsoft.com/office/drawing/2014/main" id="{C6D8FD4F-B46C-413E-92E1-8E3BFA42A289}"/>
              </a:ext>
            </a:extLst>
          </p:cNvPr>
          <p:cNvSpPr txBox="1">
            <a:spLocks noChangeAspect="1" noChangeArrowheads="1"/>
          </p:cNvSpPr>
          <p:nvPr/>
        </p:nvSpPr>
        <p:spPr bwMode="auto">
          <a:xfrm>
            <a:off x="3827463" y="1508125"/>
            <a:ext cx="623887" cy="368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fontAlgn="auto" hangingPunct="1">
              <a:spcBef>
                <a:spcPts val="0"/>
              </a:spcBef>
              <a:spcAft>
                <a:spcPts val="0"/>
              </a:spcAft>
              <a:defRPr/>
            </a:pPr>
            <a:r>
              <a:rPr kumimoji="0" lang="en-US" sz="1800" kern="0" dirty="0" err="1">
                <a:solidFill>
                  <a:sysClr val="windowText" lastClr="000000"/>
                </a:solidFill>
                <a:latin typeface="Calibri" panose="020F0502020204030204" pitchFamily="34" charset="0"/>
                <a:ea typeface="+mn-ea"/>
                <a:cs typeface="Arial"/>
              </a:rPr>
              <a:t>Regs</a:t>
            </a:r>
            <a:endParaRPr kumimoji="0" lang="en-US" sz="1800" kern="0" dirty="0">
              <a:solidFill>
                <a:sysClr val="windowText" lastClr="000000"/>
              </a:solidFill>
              <a:latin typeface="Calibri" panose="020F0502020204030204" pitchFamily="34" charset="0"/>
              <a:ea typeface="+mn-ea"/>
              <a:cs typeface="Arial"/>
            </a:endParaRPr>
          </a:p>
        </p:txBody>
      </p:sp>
      <p:sp>
        <p:nvSpPr>
          <p:cNvPr id="7" name="Text Box 198">
            <a:extLst>
              <a:ext uri="{FF2B5EF4-FFF2-40B4-BE49-F238E27FC236}">
                <a16:creationId xmlns:a16="http://schemas.microsoft.com/office/drawing/2014/main" id="{6265579A-5217-439A-907E-C52C3BDBEE25}"/>
              </a:ext>
            </a:extLst>
          </p:cNvPr>
          <p:cNvSpPr txBox="1">
            <a:spLocks noChangeAspect="1" noChangeArrowheads="1"/>
          </p:cNvSpPr>
          <p:nvPr/>
        </p:nvSpPr>
        <p:spPr bwMode="auto">
          <a:xfrm>
            <a:off x="3651250" y="1990725"/>
            <a:ext cx="1049338" cy="646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fontAlgn="auto" hangingPunct="1">
              <a:spcBef>
                <a:spcPts val="0"/>
              </a:spcBef>
              <a:spcAft>
                <a:spcPts val="0"/>
              </a:spcAft>
              <a:defRPr/>
            </a:pPr>
            <a:r>
              <a:rPr kumimoji="0" lang="en-US" sz="1800" kern="0" dirty="0" err="1">
                <a:solidFill>
                  <a:sysClr val="windowText" lastClr="000000"/>
                </a:solidFill>
                <a:latin typeface="Calibri" panose="020F0502020204030204" pitchFamily="34" charset="0"/>
                <a:ea typeface="+mn-ea"/>
                <a:cs typeface="Arial"/>
              </a:rPr>
              <a:t>L1</a:t>
            </a:r>
            <a:r>
              <a:rPr kumimoji="0" lang="en-US" sz="1800" kern="0" dirty="0">
                <a:solidFill>
                  <a:sysClr val="windowText" lastClr="000000"/>
                </a:solidFill>
                <a:latin typeface="Calibri" panose="020F0502020204030204" pitchFamily="34" charset="0"/>
                <a:ea typeface="+mn-ea"/>
                <a:cs typeface="Arial"/>
              </a:rPr>
              <a:t> cache </a:t>
            </a:r>
          </a:p>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(SRAM)</a:t>
            </a:r>
          </a:p>
        </p:txBody>
      </p:sp>
      <p:sp>
        <p:nvSpPr>
          <p:cNvPr id="8" name="Text Box 199">
            <a:extLst>
              <a:ext uri="{FF2B5EF4-FFF2-40B4-BE49-F238E27FC236}">
                <a16:creationId xmlns:a16="http://schemas.microsoft.com/office/drawing/2014/main" id="{8815E70C-0A30-4703-AD45-D7EEA99092BC}"/>
              </a:ext>
            </a:extLst>
          </p:cNvPr>
          <p:cNvSpPr txBox="1">
            <a:spLocks noChangeAspect="1" noChangeArrowheads="1"/>
          </p:cNvSpPr>
          <p:nvPr/>
        </p:nvSpPr>
        <p:spPr bwMode="auto">
          <a:xfrm>
            <a:off x="3259138" y="4102100"/>
            <a:ext cx="1509712" cy="646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Main memory</a:t>
            </a:r>
          </a:p>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(DRAM)</a:t>
            </a:r>
          </a:p>
        </p:txBody>
      </p:sp>
      <p:sp>
        <p:nvSpPr>
          <p:cNvPr id="9" name="Text Box 200">
            <a:extLst>
              <a:ext uri="{FF2B5EF4-FFF2-40B4-BE49-F238E27FC236}">
                <a16:creationId xmlns:a16="http://schemas.microsoft.com/office/drawing/2014/main" id="{4129DA4F-FD38-492F-8938-31EA5BBE7DED}"/>
              </a:ext>
            </a:extLst>
          </p:cNvPr>
          <p:cNvSpPr txBox="1">
            <a:spLocks noChangeAspect="1" noChangeArrowheads="1"/>
          </p:cNvSpPr>
          <p:nvPr/>
        </p:nvSpPr>
        <p:spPr bwMode="auto">
          <a:xfrm>
            <a:off x="2843213" y="5013325"/>
            <a:ext cx="2438400" cy="646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Local secondary storage</a:t>
            </a:r>
          </a:p>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(local disks)</a:t>
            </a:r>
          </a:p>
        </p:txBody>
      </p:sp>
      <p:sp>
        <p:nvSpPr>
          <p:cNvPr id="10" name="Line 203">
            <a:extLst>
              <a:ext uri="{FF2B5EF4-FFF2-40B4-BE49-F238E27FC236}">
                <a16:creationId xmlns:a16="http://schemas.microsoft.com/office/drawing/2014/main" id="{342B60EA-4113-4772-A8C3-B116CE11E4CE}"/>
              </a:ext>
            </a:extLst>
          </p:cNvPr>
          <p:cNvSpPr>
            <a:spLocks noChangeAspect="1" noChangeShapeType="1"/>
          </p:cNvSpPr>
          <p:nvPr/>
        </p:nvSpPr>
        <p:spPr bwMode="auto">
          <a:xfrm>
            <a:off x="3624263" y="1976437"/>
            <a:ext cx="981075"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11" name="Line 204">
            <a:extLst>
              <a:ext uri="{FF2B5EF4-FFF2-40B4-BE49-F238E27FC236}">
                <a16:creationId xmlns:a16="http://schemas.microsoft.com/office/drawing/2014/main" id="{E5E6E01A-489C-4DB0-B56D-DC694C8F90C7}"/>
              </a:ext>
            </a:extLst>
          </p:cNvPr>
          <p:cNvSpPr>
            <a:spLocks noChangeAspect="1" noChangeShapeType="1"/>
          </p:cNvSpPr>
          <p:nvPr/>
        </p:nvSpPr>
        <p:spPr bwMode="auto">
          <a:xfrm>
            <a:off x="3263900" y="2597150"/>
            <a:ext cx="167163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12" name="Line 205">
            <a:extLst>
              <a:ext uri="{FF2B5EF4-FFF2-40B4-BE49-F238E27FC236}">
                <a16:creationId xmlns:a16="http://schemas.microsoft.com/office/drawing/2014/main" id="{67FA08EE-3529-4EFD-A721-20E11F58CCAB}"/>
              </a:ext>
            </a:extLst>
          </p:cNvPr>
          <p:cNvSpPr>
            <a:spLocks noChangeAspect="1" noChangeShapeType="1"/>
          </p:cNvSpPr>
          <p:nvPr/>
        </p:nvSpPr>
        <p:spPr bwMode="auto">
          <a:xfrm>
            <a:off x="2874963" y="3243262"/>
            <a:ext cx="2447925"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13" name="Line 222">
            <a:extLst>
              <a:ext uri="{FF2B5EF4-FFF2-40B4-BE49-F238E27FC236}">
                <a16:creationId xmlns:a16="http://schemas.microsoft.com/office/drawing/2014/main" id="{C1E04BC3-D304-4961-ABAA-EEA32381B276}"/>
              </a:ext>
            </a:extLst>
          </p:cNvPr>
          <p:cNvSpPr>
            <a:spLocks noChangeAspect="1" noChangeShapeType="1"/>
          </p:cNvSpPr>
          <p:nvPr/>
        </p:nvSpPr>
        <p:spPr bwMode="auto">
          <a:xfrm>
            <a:off x="76200" y="3646487"/>
            <a:ext cx="0" cy="2344738"/>
          </a:xfrm>
          <a:prstGeom prst="line">
            <a:avLst/>
          </a:prstGeom>
          <a:noFill/>
          <a:ln w="38100">
            <a:solidFill>
              <a:srgbClr val="2D2DB9">
                <a:lumMod val="75000"/>
              </a:srgb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14" name="Text Box 223">
            <a:extLst>
              <a:ext uri="{FF2B5EF4-FFF2-40B4-BE49-F238E27FC236}">
                <a16:creationId xmlns:a16="http://schemas.microsoft.com/office/drawing/2014/main" id="{2465E4EE-F473-460A-AAFB-725B0BE589A0}"/>
              </a:ext>
            </a:extLst>
          </p:cNvPr>
          <p:cNvSpPr txBox="1">
            <a:spLocks noChangeAspect="1" noChangeArrowheads="1"/>
          </p:cNvSpPr>
          <p:nvPr/>
        </p:nvSpPr>
        <p:spPr bwMode="auto">
          <a:xfrm>
            <a:off x="123825" y="3798887"/>
            <a:ext cx="1009650" cy="18145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Larger,  </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slower, </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and </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cheaper </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(per byte)</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storage</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devices</a:t>
            </a:r>
          </a:p>
        </p:txBody>
      </p:sp>
      <p:sp>
        <p:nvSpPr>
          <p:cNvPr id="15" name="Line 224">
            <a:extLst>
              <a:ext uri="{FF2B5EF4-FFF2-40B4-BE49-F238E27FC236}">
                <a16:creationId xmlns:a16="http://schemas.microsoft.com/office/drawing/2014/main" id="{F96C1E8A-8A42-40E8-B984-D15F1118C893}"/>
              </a:ext>
            </a:extLst>
          </p:cNvPr>
          <p:cNvSpPr>
            <a:spLocks noChangeAspect="1" noChangeShapeType="1"/>
          </p:cNvSpPr>
          <p:nvPr/>
        </p:nvSpPr>
        <p:spPr bwMode="auto">
          <a:xfrm>
            <a:off x="2443163" y="4022725"/>
            <a:ext cx="3392487"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16" name="Text Box 225">
            <a:extLst>
              <a:ext uri="{FF2B5EF4-FFF2-40B4-BE49-F238E27FC236}">
                <a16:creationId xmlns:a16="http://schemas.microsoft.com/office/drawing/2014/main" id="{24199A1A-433A-42D4-BB20-F2876D35D6DE}"/>
              </a:ext>
            </a:extLst>
          </p:cNvPr>
          <p:cNvSpPr txBox="1">
            <a:spLocks noChangeAspect="1" noChangeArrowheads="1"/>
          </p:cNvSpPr>
          <p:nvPr/>
        </p:nvSpPr>
        <p:spPr bwMode="auto">
          <a:xfrm>
            <a:off x="2627313" y="5805487"/>
            <a:ext cx="2695575" cy="646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Remote secondary storage</a:t>
            </a:r>
          </a:p>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(e.g., Web servers)</a:t>
            </a:r>
          </a:p>
        </p:txBody>
      </p:sp>
      <p:sp>
        <p:nvSpPr>
          <p:cNvPr id="17" name="Text Box 227">
            <a:extLst>
              <a:ext uri="{FF2B5EF4-FFF2-40B4-BE49-F238E27FC236}">
                <a16:creationId xmlns:a16="http://schemas.microsoft.com/office/drawing/2014/main" id="{213E7667-C14E-4821-A35C-C03C78CA58DE}"/>
              </a:ext>
            </a:extLst>
          </p:cNvPr>
          <p:cNvSpPr txBox="1">
            <a:spLocks noChangeAspect="1" noChangeArrowheads="1"/>
          </p:cNvSpPr>
          <p:nvPr/>
        </p:nvSpPr>
        <p:spPr bwMode="auto">
          <a:xfrm>
            <a:off x="7051675" y="5437187"/>
            <a:ext cx="2062163" cy="738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1" fontAlgn="auto" hangingPunct="1">
              <a:spcBef>
                <a:spcPts val="0"/>
              </a:spcBef>
              <a:spcAft>
                <a:spcPts val="0"/>
              </a:spcAft>
              <a:defRPr/>
            </a:pPr>
            <a:r>
              <a:rPr kumimoji="0" lang="en-US" sz="1400" b="1" kern="0" dirty="0">
                <a:latin typeface="Calibri" panose="020F0502020204030204" pitchFamily="34" charset="0"/>
                <a:ea typeface="+mn-ea"/>
                <a:cs typeface="Arial"/>
              </a:rPr>
              <a:t>Local disks hold </a:t>
            </a:r>
            <a:r>
              <a:rPr kumimoji="0" lang="en-US" sz="1400" b="1" kern="0" dirty="0">
                <a:solidFill>
                  <a:srgbClr val="C00000"/>
                </a:solidFill>
                <a:latin typeface="Calibri" panose="020F0502020204030204" pitchFamily="34" charset="0"/>
                <a:ea typeface="+mn-ea"/>
                <a:cs typeface="Arial"/>
              </a:rPr>
              <a:t>files </a:t>
            </a:r>
            <a:r>
              <a:rPr kumimoji="0" lang="en-US" sz="1400" b="1" kern="0" dirty="0">
                <a:latin typeface="Calibri" panose="020F0502020204030204" pitchFamily="34" charset="0"/>
                <a:ea typeface="+mn-ea"/>
                <a:cs typeface="Arial"/>
              </a:rPr>
              <a:t>retrieved from disks </a:t>
            </a:r>
          </a:p>
          <a:p>
            <a:pPr eaLnBrk="1" fontAlgn="auto" hangingPunct="1">
              <a:spcBef>
                <a:spcPts val="0"/>
              </a:spcBef>
              <a:spcAft>
                <a:spcPts val="0"/>
              </a:spcAft>
              <a:defRPr/>
            </a:pPr>
            <a:r>
              <a:rPr kumimoji="0" lang="en-US" sz="1400" b="1" kern="0" dirty="0">
                <a:latin typeface="Calibri" panose="020F0502020204030204" pitchFamily="34" charset="0"/>
                <a:ea typeface="+mn-ea"/>
                <a:cs typeface="Arial"/>
              </a:rPr>
              <a:t>on remote servers.</a:t>
            </a:r>
          </a:p>
        </p:txBody>
      </p:sp>
      <p:sp>
        <p:nvSpPr>
          <p:cNvPr id="18" name="Line 235">
            <a:extLst>
              <a:ext uri="{FF2B5EF4-FFF2-40B4-BE49-F238E27FC236}">
                <a16:creationId xmlns:a16="http://schemas.microsoft.com/office/drawing/2014/main" id="{F2A65E33-5D67-4CA3-ACDB-F10300A18FFA}"/>
              </a:ext>
            </a:extLst>
          </p:cNvPr>
          <p:cNvSpPr>
            <a:spLocks noChangeAspect="1" noChangeShapeType="1"/>
          </p:cNvSpPr>
          <p:nvPr/>
        </p:nvSpPr>
        <p:spPr bwMode="auto">
          <a:xfrm>
            <a:off x="1936750" y="4827587"/>
            <a:ext cx="4365625"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19" name="Text Box 236">
            <a:extLst>
              <a:ext uri="{FF2B5EF4-FFF2-40B4-BE49-F238E27FC236}">
                <a16:creationId xmlns:a16="http://schemas.microsoft.com/office/drawing/2014/main" id="{ECD13FE0-2647-4B53-84D3-5DAA86A3132A}"/>
              </a:ext>
            </a:extLst>
          </p:cNvPr>
          <p:cNvSpPr txBox="1">
            <a:spLocks noChangeAspect="1" noChangeArrowheads="1"/>
          </p:cNvSpPr>
          <p:nvPr/>
        </p:nvSpPr>
        <p:spPr bwMode="auto">
          <a:xfrm>
            <a:off x="3614738" y="2600325"/>
            <a:ext cx="1047750" cy="646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L2 cache </a:t>
            </a:r>
          </a:p>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(SRAM)</a:t>
            </a:r>
          </a:p>
        </p:txBody>
      </p:sp>
      <p:sp>
        <p:nvSpPr>
          <p:cNvPr id="20" name="Text Box 243">
            <a:extLst>
              <a:ext uri="{FF2B5EF4-FFF2-40B4-BE49-F238E27FC236}">
                <a16:creationId xmlns:a16="http://schemas.microsoft.com/office/drawing/2014/main" id="{FD443791-C78B-460B-993F-DC7B914FE43C}"/>
              </a:ext>
            </a:extLst>
          </p:cNvPr>
          <p:cNvSpPr txBox="1">
            <a:spLocks noChangeAspect="1" noChangeArrowheads="1"/>
          </p:cNvSpPr>
          <p:nvPr/>
        </p:nvSpPr>
        <p:spPr bwMode="auto">
          <a:xfrm>
            <a:off x="5130800" y="2295525"/>
            <a:ext cx="2838450" cy="523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1" fontAlgn="auto" hangingPunct="1">
              <a:spcBef>
                <a:spcPts val="0"/>
              </a:spcBef>
              <a:spcAft>
                <a:spcPts val="0"/>
              </a:spcAft>
              <a:defRPr/>
            </a:pPr>
            <a:r>
              <a:rPr kumimoji="0" lang="en-US" sz="1400" b="1" kern="0" dirty="0">
                <a:latin typeface="Calibri" panose="020F0502020204030204" pitchFamily="34" charset="0"/>
                <a:ea typeface="+mn-ea"/>
                <a:cs typeface="Arial"/>
              </a:rPr>
              <a:t>L1 cache holds </a:t>
            </a:r>
            <a:r>
              <a:rPr kumimoji="0" lang="en-US" sz="1400" b="1" kern="0" dirty="0">
                <a:solidFill>
                  <a:srgbClr val="C00000"/>
                </a:solidFill>
                <a:latin typeface="Calibri" panose="020F0502020204030204" pitchFamily="34" charset="0"/>
                <a:ea typeface="+mn-ea"/>
                <a:cs typeface="Arial"/>
              </a:rPr>
              <a:t>cache lines </a:t>
            </a:r>
            <a:r>
              <a:rPr kumimoji="0" lang="en-US" sz="1400" b="1" kern="0" dirty="0">
                <a:latin typeface="Calibri" panose="020F0502020204030204" pitchFamily="34" charset="0"/>
                <a:ea typeface="+mn-ea"/>
                <a:cs typeface="Arial"/>
              </a:rPr>
              <a:t>retrieved from the L2 cache.</a:t>
            </a:r>
          </a:p>
        </p:txBody>
      </p:sp>
      <p:sp>
        <p:nvSpPr>
          <p:cNvPr id="21" name="Text Box 233">
            <a:extLst>
              <a:ext uri="{FF2B5EF4-FFF2-40B4-BE49-F238E27FC236}">
                <a16:creationId xmlns:a16="http://schemas.microsoft.com/office/drawing/2014/main" id="{D4E3B20B-1149-4F69-B2E7-CF7CC8A4AC9D}"/>
              </a:ext>
            </a:extLst>
          </p:cNvPr>
          <p:cNvSpPr txBox="1">
            <a:spLocks noChangeAspect="1" noChangeArrowheads="1"/>
          </p:cNvSpPr>
          <p:nvPr/>
        </p:nvSpPr>
        <p:spPr bwMode="auto">
          <a:xfrm>
            <a:off x="4737100" y="1698625"/>
            <a:ext cx="2919413" cy="5222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1" fontAlgn="auto" hangingPunct="1">
              <a:spcBef>
                <a:spcPts val="0"/>
              </a:spcBef>
              <a:spcAft>
                <a:spcPts val="0"/>
              </a:spcAft>
              <a:defRPr/>
            </a:pPr>
            <a:r>
              <a:rPr kumimoji="0" lang="en-US" sz="1400" b="1" kern="0" dirty="0">
                <a:latin typeface="Calibri" panose="020F0502020204030204" pitchFamily="34" charset="0"/>
                <a:ea typeface="+mn-ea"/>
                <a:cs typeface="Arial"/>
              </a:rPr>
              <a:t>CPU registers hold </a:t>
            </a:r>
            <a:r>
              <a:rPr kumimoji="0" lang="en-US" sz="1400" b="1" kern="0" dirty="0">
                <a:solidFill>
                  <a:srgbClr val="C00000"/>
                </a:solidFill>
                <a:latin typeface="Calibri" panose="020F0502020204030204" pitchFamily="34" charset="0"/>
                <a:ea typeface="+mn-ea"/>
                <a:cs typeface="Arial"/>
              </a:rPr>
              <a:t>words </a:t>
            </a:r>
            <a:r>
              <a:rPr kumimoji="0" lang="en-US" sz="1400" b="1" kern="0" dirty="0">
                <a:latin typeface="Calibri" panose="020F0502020204030204" pitchFamily="34" charset="0"/>
                <a:ea typeface="+mn-ea"/>
                <a:cs typeface="Arial"/>
              </a:rPr>
              <a:t>retrieved from </a:t>
            </a:r>
            <a:r>
              <a:rPr kumimoji="0" lang="en-US" sz="1400" b="1" kern="0" dirty="0" err="1">
                <a:latin typeface="Calibri" panose="020F0502020204030204" pitchFamily="34" charset="0"/>
                <a:ea typeface="+mn-ea"/>
                <a:cs typeface="Arial"/>
              </a:rPr>
              <a:t>th</a:t>
            </a:r>
            <a:r>
              <a:rPr kumimoji="0" lang="en-US" sz="1400" b="1" kern="0" dirty="0">
                <a:latin typeface="Calibri" panose="020F0502020204030204" pitchFamily="34" charset="0"/>
                <a:ea typeface="+mn-ea"/>
                <a:cs typeface="Arial"/>
              </a:rPr>
              <a:t>e L1 cache.</a:t>
            </a:r>
          </a:p>
        </p:txBody>
      </p:sp>
      <p:sp>
        <p:nvSpPr>
          <p:cNvPr id="22" name="Text Box 231">
            <a:extLst>
              <a:ext uri="{FF2B5EF4-FFF2-40B4-BE49-F238E27FC236}">
                <a16:creationId xmlns:a16="http://schemas.microsoft.com/office/drawing/2014/main" id="{6397B8A2-D446-4E0D-851A-B349820AEE99}"/>
              </a:ext>
            </a:extLst>
          </p:cNvPr>
          <p:cNvSpPr txBox="1">
            <a:spLocks noChangeAspect="1" noChangeArrowheads="1"/>
          </p:cNvSpPr>
          <p:nvPr/>
        </p:nvSpPr>
        <p:spPr bwMode="auto">
          <a:xfrm>
            <a:off x="5507038" y="2932112"/>
            <a:ext cx="2628900" cy="523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1" fontAlgn="auto" hangingPunct="1">
              <a:spcBef>
                <a:spcPts val="0"/>
              </a:spcBef>
              <a:spcAft>
                <a:spcPts val="0"/>
              </a:spcAft>
              <a:defRPr/>
            </a:pPr>
            <a:r>
              <a:rPr kumimoji="0" lang="en-US" sz="1400" b="1" kern="0" dirty="0">
                <a:latin typeface="Calibri" panose="020F0502020204030204" pitchFamily="34" charset="0"/>
                <a:ea typeface="+mn-ea"/>
                <a:cs typeface="Arial"/>
              </a:rPr>
              <a:t>L2 cache holds </a:t>
            </a:r>
            <a:r>
              <a:rPr kumimoji="0" lang="en-US" sz="1400" b="1" kern="0" dirty="0">
                <a:solidFill>
                  <a:srgbClr val="C00000"/>
                </a:solidFill>
                <a:latin typeface="Calibri" panose="020F0502020204030204" pitchFamily="34" charset="0"/>
                <a:ea typeface="+mn-ea"/>
                <a:cs typeface="Arial"/>
              </a:rPr>
              <a:t>cache lines</a:t>
            </a:r>
          </a:p>
          <a:p>
            <a:pPr eaLnBrk="1" fontAlgn="auto" hangingPunct="1">
              <a:spcBef>
                <a:spcPts val="0"/>
              </a:spcBef>
              <a:spcAft>
                <a:spcPts val="0"/>
              </a:spcAft>
              <a:defRPr/>
            </a:pPr>
            <a:r>
              <a:rPr kumimoji="0" lang="en-US" sz="1400" b="1" kern="0" dirty="0">
                <a:solidFill>
                  <a:srgbClr val="C00000"/>
                </a:solidFill>
                <a:latin typeface="Calibri" panose="020F0502020204030204" pitchFamily="34" charset="0"/>
                <a:ea typeface="+mn-ea"/>
                <a:cs typeface="Arial"/>
              </a:rPr>
              <a:t> </a:t>
            </a:r>
            <a:r>
              <a:rPr kumimoji="0" lang="en-US" sz="1400" b="1" kern="0" dirty="0">
                <a:latin typeface="Calibri" panose="020F0502020204030204" pitchFamily="34" charset="0"/>
                <a:ea typeface="+mn-ea"/>
                <a:cs typeface="Arial"/>
              </a:rPr>
              <a:t>retrieved from L3 cache.</a:t>
            </a:r>
          </a:p>
        </p:txBody>
      </p:sp>
      <p:sp>
        <p:nvSpPr>
          <p:cNvPr id="23" name="Text Box 247">
            <a:extLst>
              <a:ext uri="{FF2B5EF4-FFF2-40B4-BE49-F238E27FC236}">
                <a16:creationId xmlns:a16="http://schemas.microsoft.com/office/drawing/2014/main" id="{82392FDE-9D2A-4C29-BF63-C16E0E74211C}"/>
              </a:ext>
            </a:extLst>
          </p:cNvPr>
          <p:cNvSpPr txBox="1">
            <a:spLocks noChangeAspect="1" noChangeArrowheads="1"/>
          </p:cNvSpPr>
          <p:nvPr/>
        </p:nvSpPr>
        <p:spPr bwMode="auto">
          <a:xfrm>
            <a:off x="3346450" y="1365250"/>
            <a:ext cx="46355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800" b="1" kern="0" dirty="0">
                <a:solidFill>
                  <a:srgbClr val="2D2DB9">
                    <a:lumMod val="75000"/>
                  </a:srgbClr>
                </a:solidFill>
                <a:latin typeface="Calibri" panose="020F0502020204030204" pitchFamily="34" charset="0"/>
                <a:ea typeface="+mn-ea"/>
                <a:cs typeface="Arial"/>
              </a:rPr>
              <a:t>L0:</a:t>
            </a:r>
          </a:p>
        </p:txBody>
      </p:sp>
      <p:sp>
        <p:nvSpPr>
          <p:cNvPr id="24" name="Text Box 248">
            <a:extLst>
              <a:ext uri="{FF2B5EF4-FFF2-40B4-BE49-F238E27FC236}">
                <a16:creationId xmlns:a16="http://schemas.microsoft.com/office/drawing/2014/main" id="{2A736CA9-94F3-45C9-A114-C2F52EB270E4}"/>
              </a:ext>
            </a:extLst>
          </p:cNvPr>
          <p:cNvSpPr txBox="1">
            <a:spLocks noChangeAspect="1" noChangeArrowheads="1"/>
          </p:cNvSpPr>
          <p:nvPr/>
        </p:nvSpPr>
        <p:spPr bwMode="auto">
          <a:xfrm>
            <a:off x="2994025" y="2028825"/>
            <a:ext cx="46355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800" b="1" kern="0" dirty="0">
                <a:solidFill>
                  <a:srgbClr val="2D2DB9">
                    <a:lumMod val="75000"/>
                  </a:srgbClr>
                </a:solidFill>
                <a:latin typeface="Calibri" panose="020F0502020204030204" pitchFamily="34" charset="0"/>
                <a:ea typeface="+mn-ea"/>
                <a:cs typeface="Arial"/>
              </a:rPr>
              <a:t>L1:</a:t>
            </a:r>
          </a:p>
        </p:txBody>
      </p:sp>
      <p:sp>
        <p:nvSpPr>
          <p:cNvPr id="25" name="Text Box 249">
            <a:extLst>
              <a:ext uri="{FF2B5EF4-FFF2-40B4-BE49-F238E27FC236}">
                <a16:creationId xmlns:a16="http://schemas.microsoft.com/office/drawing/2014/main" id="{1455D41D-6DF9-4C12-8B73-DF859E982974}"/>
              </a:ext>
            </a:extLst>
          </p:cNvPr>
          <p:cNvSpPr txBox="1">
            <a:spLocks noChangeAspect="1" noChangeArrowheads="1"/>
          </p:cNvSpPr>
          <p:nvPr/>
        </p:nvSpPr>
        <p:spPr bwMode="auto">
          <a:xfrm>
            <a:off x="2565400" y="2649537"/>
            <a:ext cx="463550" cy="369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800" b="1" kern="0" dirty="0" err="1">
                <a:solidFill>
                  <a:srgbClr val="2D2DB9">
                    <a:lumMod val="75000"/>
                  </a:srgbClr>
                </a:solidFill>
                <a:latin typeface="Calibri" panose="020F0502020204030204" pitchFamily="34" charset="0"/>
                <a:ea typeface="+mn-ea"/>
                <a:cs typeface="Arial"/>
              </a:rPr>
              <a:t>L2</a:t>
            </a:r>
            <a:r>
              <a:rPr kumimoji="0" lang="en-US" sz="1800" b="1" kern="0" dirty="0">
                <a:solidFill>
                  <a:srgbClr val="2D2DB9">
                    <a:lumMod val="75000"/>
                  </a:srgbClr>
                </a:solidFill>
                <a:latin typeface="Calibri" panose="020F0502020204030204" pitchFamily="34" charset="0"/>
                <a:ea typeface="+mn-ea"/>
                <a:cs typeface="Arial"/>
              </a:rPr>
              <a:t>:</a:t>
            </a:r>
          </a:p>
        </p:txBody>
      </p:sp>
      <p:sp>
        <p:nvSpPr>
          <p:cNvPr id="26" name="Text Box 250">
            <a:extLst>
              <a:ext uri="{FF2B5EF4-FFF2-40B4-BE49-F238E27FC236}">
                <a16:creationId xmlns:a16="http://schemas.microsoft.com/office/drawing/2014/main" id="{BA0B0D1F-F498-49AC-905F-9A5A70035188}"/>
              </a:ext>
            </a:extLst>
          </p:cNvPr>
          <p:cNvSpPr txBox="1">
            <a:spLocks noChangeAspect="1" noChangeArrowheads="1"/>
          </p:cNvSpPr>
          <p:nvPr/>
        </p:nvSpPr>
        <p:spPr bwMode="auto">
          <a:xfrm>
            <a:off x="2162175" y="3414712"/>
            <a:ext cx="463550" cy="368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800" b="1" kern="0" dirty="0" err="1">
                <a:solidFill>
                  <a:srgbClr val="2D2DB9">
                    <a:lumMod val="75000"/>
                  </a:srgbClr>
                </a:solidFill>
                <a:latin typeface="Calibri" panose="020F0502020204030204" pitchFamily="34" charset="0"/>
                <a:ea typeface="+mn-ea"/>
                <a:cs typeface="Arial"/>
              </a:rPr>
              <a:t>L3</a:t>
            </a:r>
            <a:r>
              <a:rPr kumimoji="0" lang="en-US" sz="1800" b="1" kern="0" dirty="0">
                <a:solidFill>
                  <a:srgbClr val="2D2DB9">
                    <a:lumMod val="75000"/>
                  </a:srgbClr>
                </a:solidFill>
                <a:latin typeface="Calibri" panose="020F0502020204030204" pitchFamily="34" charset="0"/>
                <a:ea typeface="+mn-ea"/>
                <a:cs typeface="Arial"/>
              </a:rPr>
              <a:t>:</a:t>
            </a:r>
          </a:p>
        </p:txBody>
      </p:sp>
      <p:sp>
        <p:nvSpPr>
          <p:cNvPr id="27" name="Text Box 251">
            <a:extLst>
              <a:ext uri="{FF2B5EF4-FFF2-40B4-BE49-F238E27FC236}">
                <a16:creationId xmlns:a16="http://schemas.microsoft.com/office/drawing/2014/main" id="{32F16A25-3A8B-4115-8BD4-4A431132E62D}"/>
              </a:ext>
            </a:extLst>
          </p:cNvPr>
          <p:cNvSpPr txBox="1">
            <a:spLocks noChangeAspect="1" noChangeArrowheads="1"/>
          </p:cNvSpPr>
          <p:nvPr/>
        </p:nvSpPr>
        <p:spPr bwMode="auto">
          <a:xfrm>
            <a:off x="1701800" y="4113212"/>
            <a:ext cx="463550" cy="369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800" b="1" kern="0" dirty="0" err="1">
                <a:solidFill>
                  <a:srgbClr val="2D2DB9">
                    <a:lumMod val="75000"/>
                  </a:srgbClr>
                </a:solidFill>
                <a:latin typeface="Calibri" panose="020F0502020204030204" pitchFamily="34" charset="0"/>
                <a:ea typeface="+mn-ea"/>
                <a:cs typeface="Arial"/>
              </a:rPr>
              <a:t>L4</a:t>
            </a:r>
            <a:r>
              <a:rPr kumimoji="0" lang="en-US" sz="1800" b="1" kern="0" dirty="0">
                <a:solidFill>
                  <a:srgbClr val="2D2DB9">
                    <a:lumMod val="75000"/>
                  </a:srgbClr>
                </a:solidFill>
                <a:latin typeface="Calibri" panose="020F0502020204030204" pitchFamily="34" charset="0"/>
                <a:ea typeface="+mn-ea"/>
                <a:cs typeface="Arial"/>
              </a:rPr>
              <a:t>:</a:t>
            </a:r>
          </a:p>
        </p:txBody>
      </p:sp>
      <p:sp>
        <p:nvSpPr>
          <p:cNvPr id="28" name="Text Box 252">
            <a:extLst>
              <a:ext uri="{FF2B5EF4-FFF2-40B4-BE49-F238E27FC236}">
                <a16:creationId xmlns:a16="http://schemas.microsoft.com/office/drawing/2014/main" id="{0C8DB207-523A-4E8C-BF8F-26F24DE997A8}"/>
              </a:ext>
            </a:extLst>
          </p:cNvPr>
          <p:cNvSpPr txBox="1">
            <a:spLocks noChangeAspect="1" noChangeArrowheads="1"/>
          </p:cNvSpPr>
          <p:nvPr/>
        </p:nvSpPr>
        <p:spPr bwMode="auto">
          <a:xfrm>
            <a:off x="1238250" y="4995862"/>
            <a:ext cx="463550" cy="369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800" b="1" kern="0" dirty="0" err="1">
                <a:solidFill>
                  <a:srgbClr val="2D2DB9">
                    <a:lumMod val="75000"/>
                  </a:srgbClr>
                </a:solidFill>
                <a:latin typeface="Calibri" panose="020F0502020204030204" pitchFamily="34" charset="0"/>
                <a:ea typeface="+mn-ea"/>
                <a:cs typeface="Arial"/>
              </a:rPr>
              <a:t>L5</a:t>
            </a:r>
            <a:r>
              <a:rPr kumimoji="0" lang="en-US" sz="1800" b="1" kern="0" dirty="0">
                <a:solidFill>
                  <a:srgbClr val="2D2DB9">
                    <a:lumMod val="75000"/>
                  </a:srgbClr>
                </a:solidFill>
                <a:latin typeface="Calibri" panose="020F0502020204030204" pitchFamily="34" charset="0"/>
                <a:ea typeface="+mn-ea"/>
                <a:cs typeface="Arial"/>
              </a:rPr>
              <a:t>:</a:t>
            </a:r>
          </a:p>
        </p:txBody>
      </p:sp>
      <p:sp>
        <p:nvSpPr>
          <p:cNvPr id="29" name="Text Box 289">
            <a:extLst>
              <a:ext uri="{FF2B5EF4-FFF2-40B4-BE49-F238E27FC236}">
                <a16:creationId xmlns:a16="http://schemas.microsoft.com/office/drawing/2014/main" id="{CFE1AA8A-8E36-4BBB-B3B1-C676386234E0}"/>
              </a:ext>
            </a:extLst>
          </p:cNvPr>
          <p:cNvSpPr txBox="1">
            <a:spLocks noChangeAspect="1" noChangeArrowheads="1"/>
          </p:cNvSpPr>
          <p:nvPr/>
        </p:nvSpPr>
        <p:spPr bwMode="auto">
          <a:xfrm>
            <a:off x="130175" y="1311275"/>
            <a:ext cx="1009650" cy="18145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Smaller,</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faster,</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and </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costlier</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(per byte)</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storage </a:t>
            </a:r>
          </a:p>
          <a:p>
            <a:pPr eaLnBrk="1" fontAlgn="auto" hangingPunct="1">
              <a:spcBef>
                <a:spcPts val="0"/>
              </a:spcBef>
              <a:spcAft>
                <a:spcPts val="0"/>
              </a:spcAft>
              <a:defRPr/>
            </a:pPr>
            <a:r>
              <a:rPr kumimoji="0" lang="en-US" sz="1600" kern="0" dirty="0">
                <a:solidFill>
                  <a:sysClr val="windowText" lastClr="000000"/>
                </a:solidFill>
                <a:latin typeface="Calibri" panose="020F0502020204030204" pitchFamily="34" charset="0"/>
                <a:ea typeface="+mn-ea"/>
                <a:cs typeface="Arial"/>
              </a:rPr>
              <a:t>devices</a:t>
            </a:r>
          </a:p>
        </p:txBody>
      </p:sp>
      <p:sp>
        <p:nvSpPr>
          <p:cNvPr id="30" name="Line 291">
            <a:extLst>
              <a:ext uri="{FF2B5EF4-FFF2-40B4-BE49-F238E27FC236}">
                <a16:creationId xmlns:a16="http://schemas.microsoft.com/office/drawing/2014/main" id="{86919387-14ED-490C-8971-C157044B4F96}"/>
              </a:ext>
            </a:extLst>
          </p:cNvPr>
          <p:cNvSpPr>
            <a:spLocks noChangeShapeType="1"/>
          </p:cNvSpPr>
          <p:nvPr/>
        </p:nvSpPr>
        <p:spPr bwMode="auto">
          <a:xfrm flipH="1" flipV="1">
            <a:off x="90488" y="1127125"/>
            <a:ext cx="0" cy="2154237"/>
          </a:xfrm>
          <a:prstGeom prst="line">
            <a:avLst/>
          </a:prstGeom>
          <a:noFill/>
          <a:ln w="38100">
            <a:solidFill>
              <a:srgbClr val="2D2DB9">
                <a:lumMod val="75000"/>
              </a:srgb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600" kern="0">
              <a:solidFill>
                <a:sysClr val="windowText" lastClr="000000"/>
              </a:solidFill>
              <a:latin typeface="Calibri" panose="020F0502020204030204" pitchFamily="34" charset="0"/>
              <a:ea typeface="+mn-ea"/>
              <a:cs typeface="Arial"/>
            </a:endParaRPr>
          </a:p>
        </p:txBody>
      </p:sp>
      <p:sp>
        <p:nvSpPr>
          <p:cNvPr id="31" name="Line 292">
            <a:extLst>
              <a:ext uri="{FF2B5EF4-FFF2-40B4-BE49-F238E27FC236}">
                <a16:creationId xmlns:a16="http://schemas.microsoft.com/office/drawing/2014/main" id="{215E7140-D002-4ABC-8491-E0C755F2025A}"/>
              </a:ext>
            </a:extLst>
          </p:cNvPr>
          <p:cNvSpPr>
            <a:spLocks noChangeAspect="1" noChangeShapeType="1"/>
          </p:cNvSpPr>
          <p:nvPr/>
        </p:nvSpPr>
        <p:spPr bwMode="auto">
          <a:xfrm>
            <a:off x="1354138" y="5775325"/>
            <a:ext cx="5534025"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kern="0">
              <a:solidFill>
                <a:sysClr val="windowText" lastClr="000000"/>
              </a:solidFill>
              <a:latin typeface="Calibri" panose="020F0502020204030204" pitchFamily="34" charset="0"/>
              <a:ea typeface="+mn-ea"/>
              <a:cs typeface="Arial"/>
            </a:endParaRPr>
          </a:p>
        </p:txBody>
      </p:sp>
      <p:sp>
        <p:nvSpPr>
          <p:cNvPr id="32" name="Text Box 293">
            <a:extLst>
              <a:ext uri="{FF2B5EF4-FFF2-40B4-BE49-F238E27FC236}">
                <a16:creationId xmlns:a16="http://schemas.microsoft.com/office/drawing/2014/main" id="{31FB64F6-7ADD-4E19-82B9-23F83E28D8AC}"/>
              </a:ext>
            </a:extLst>
          </p:cNvPr>
          <p:cNvSpPr txBox="1">
            <a:spLocks noChangeAspect="1" noChangeArrowheads="1"/>
          </p:cNvSpPr>
          <p:nvPr/>
        </p:nvSpPr>
        <p:spPr bwMode="auto">
          <a:xfrm>
            <a:off x="3538538" y="3371850"/>
            <a:ext cx="1047750" cy="646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L3 cache </a:t>
            </a:r>
          </a:p>
          <a:p>
            <a:pPr algn="ctr" eaLnBrk="1" fontAlgn="auto" hangingPunct="1">
              <a:spcBef>
                <a:spcPts val="0"/>
              </a:spcBef>
              <a:spcAft>
                <a:spcPts val="0"/>
              </a:spcAft>
              <a:defRPr/>
            </a:pPr>
            <a:r>
              <a:rPr kumimoji="0" lang="en-US" sz="1800" kern="0" dirty="0">
                <a:solidFill>
                  <a:sysClr val="windowText" lastClr="000000"/>
                </a:solidFill>
                <a:latin typeface="Calibri" panose="020F0502020204030204" pitchFamily="34" charset="0"/>
                <a:ea typeface="+mn-ea"/>
                <a:cs typeface="Arial"/>
              </a:rPr>
              <a:t>(SRAM)</a:t>
            </a:r>
          </a:p>
        </p:txBody>
      </p:sp>
      <p:sp>
        <p:nvSpPr>
          <p:cNvPr id="33" name="Text Box 295">
            <a:extLst>
              <a:ext uri="{FF2B5EF4-FFF2-40B4-BE49-F238E27FC236}">
                <a16:creationId xmlns:a16="http://schemas.microsoft.com/office/drawing/2014/main" id="{F9E3CCFA-38B6-453D-895F-5DE5D6C28BFB}"/>
              </a:ext>
            </a:extLst>
          </p:cNvPr>
          <p:cNvSpPr txBox="1">
            <a:spLocks noChangeAspect="1" noChangeArrowheads="1"/>
          </p:cNvSpPr>
          <p:nvPr/>
        </p:nvSpPr>
        <p:spPr bwMode="auto">
          <a:xfrm>
            <a:off x="5972175" y="3738562"/>
            <a:ext cx="2876550" cy="523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1" fontAlgn="auto" hangingPunct="1">
              <a:spcBef>
                <a:spcPts val="0"/>
              </a:spcBef>
              <a:spcAft>
                <a:spcPts val="0"/>
              </a:spcAft>
              <a:defRPr/>
            </a:pPr>
            <a:r>
              <a:rPr kumimoji="0" lang="en-US" sz="1400" b="1" kern="0" dirty="0">
                <a:latin typeface="Calibri" panose="020F0502020204030204" pitchFamily="34" charset="0"/>
                <a:ea typeface="+mn-ea"/>
                <a:cs typeface="Arial"/>
              </a:rPr>
              <a:t>L3 cache holds </a:t>
            </a:r>
            <a:r>
              <a:rPr kumimoji="0" lang="en-US" sz="1400" b="1" kern="0" dirty="0">
                <a:solidFill>
                  <a:srgbClr val="C00000"/>
                </a:solidFill>
                <a:latin typeface="Calibri" panose="020F0502020204030204" pitchFamily="34" charset="0"/>
                <a:ea typeface="+mn-ea"/>
                <a:cs typeface="Arial"/>
              </a:rPr>
              <a:t>cache lines</a:t>
            </a:r>
          </a:p>
          <a:p>
            <a:pPr eaLnBrk="1" fontAlgn="auto" hangingPunct="1">
              <a:spcBef>
                <a:spcPts val="0"/>
              </a:spcBef>
              <a:spcAft>
                <a:spcPts val="0"/>
              </a:spcAft>
              <a:defRPr/>
            </a:pPr>
            <a:r>
              <a:rPr kumimoji="0" lang="en-US" sz="1400" b="1" kern="0" dirty="0">
                <a:solidFill>
                  <a:srgbClr val="C00000"/>
                </a:solidFill>
                <a:latin typeface="Calibri" panose="020F0502020204030204" pitchFamily="34" charset="0"/>
                <a:ea typeface="+mn-ea"/>
                <a:cs typeface="Arial"/>
              </a:rPr>
              <a:t> </a:t>
            </a:r>
            <a:r>
              <a:rPr kumimoji="0" lang="en-US" sz="1400" b="1" kern="0" dirty="0">
                <a:latin typeface="Calibri" panose="020F0502020204030204" pitchFamily="34" charset="0"/>
                <a:ea typeface="+mn-ea"/>
                <a:cs typeface="Arial"/>
              </a:rPr>
              <a:t>retrieved from main memory.</a:t>
            </a:r>
          </a:p>
        </p:txBody>
      </p:sp>
      <p:sp>
        <p:nvSpPr>
          <p:cNvPr id="34" name="Text Box 297">
            <a:extLst>
              <a:ext uri="{FF2B5EF4-FFF2-40B4-BE49-F238E27FC236}">
                <a16:creationId xmlns:a16="http://schemas.microsoft.com/office/drawing/2014/main" id="{A69767FA-0337-4798-9D27-93381182BD8A}"/>
              </a:ext>
            </a:extLst>
          </p:cNvPr>
          <p:cNvSpPr txBox="1">
            <a:spLocks noChangeAspect="1" noChangeArrowheads="1"/>
          </p:cNvSpPr>
          <p:nvPr/>
        </p:nvSpPr>
        <p:spPr bwMode="auto">
          <a:xfrm>
            <a:off x="758825" y="5838825"/>
            <a:ext cx="46355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eaLnBrk="1" fontAlgn="auto" hangingPunct="1">
              <a:spcBef>
                <a:spcPts val="0"/>
              </a:spcBef>
              <a:spcAft>
                <a:spcPts val="0"/>
              </a:spcAft>
              <a:defRPr/>
            </a:pPr>
            <a:r>
              <a:rPr kumimoji="0" lang="en-US" sz="1800" b="1" kern="0" dirty="0" err="1">
                <a:solidFill>
                  <a:srgbClr val="2D2DB9">
                    <a:lumMod val="75000"/>
                  </a:srgbClr>
                </a:solidFill>
                <a:latin typeface="Calibri" panose="020F0502020204030204" pitchFamily="34" charset="0"/>
                <a:ea typeface="+mn-ea"/>
                <a:cs typeface="Arial"/>
              </a:rPr>
              <a:t>L6</a:t>
            </a:r>
            <a:r>
              <a:rPr kumimoji="0" lang="en-US" sz="1800" b="1" kern="0" dirty="0">
                <a:solidFill>
                  <a:srgbClr val="2D2DB9">
                    <a:lumMod val="75000"/>
                  </a:srgbClr>
                </a:solidFill>
                <a:latin typeface="Calibri" panose="020F0502020204030204" pitchFamily="34" charset="0"/>
                <a:ea typeface="+mn-ea"/>
                <a:cs typeface="Arial"/>
              </a:rPr>
              <a:t>:</a:t>
            </a:r>
          </a:p>
        </p:txBody>
      </p:sp>
      <p:sp>
        <p:nvSpPr>
          <p:cNvPr id="35" name="Text Box 229">
            <a:extLst>
              <a:ext uri="{FF2B5EF4-FFF2-40B4-BE49-F238E27FC236}">
                <a16:creationId xmlns:a16="http://schemas.microsoft.com/office/drawing/2014/main" id="{89513E52-2DEE-4736-92FC-814360638B26}"/>
              </a:ext>
            </a:extLst>
          </p:cNvPr>
          <p:cNvSpPr txBox="1">
            <a:spLocks noChangeAspect="1" noChangeArrowheads="1"/>
          </p:cNvSpPr>
          <p:nvPr/>
        </p:nvSpPr>
        <p:spPr bwMode="auto">
          <a:xfrm>
            <a:off x="6399213" y="4519612"/>
            <a:ext cx="2551112" cy="522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1" fontAlgn="auto" hangingPunct="1">
              <a:spcBef>
                <a:spcPts val="0"/>
              </a:spcBef>
              <a:spcAft>
                <a:spcPts val="0"/>
              </a:spcAft>
              <a:defRPr/>
            </a:pPr>
            <a:r>
              <a:rPr kumimoji="0" lang="en-US" sz="1400" b="1" kern="0" dirty="0">
                <a:latin typeface="Calibri" panose="020F0502020204030204" pitchFamily="34" charset="0"/>
                <a:ea typeface="+mn-ea"/>
                <a:cs typeface="Arial"/>
              </a:rPr>
              <a:t>Main memory holds </a:t>
            </a:r>
            <a:r>
              <a:rPr kumimoji="0" lang="en-US" sz="1400" b="1" kern="0" dirty="0">
                <a:solidFill>
                  <a:srgbClr val="C00000"/>
                </a:solidFill>
                <a:latin typeface="Calibri" panose="020F0502020204030204" pitchFamily="34" charset="0"/>
                <a:ea typeface="+mn-ea"/>
                <a:cs typeface="Arial"/>
              </a:rPr>
              <a:t>disk blocks </a:t>
            </a:r>
            <a:r>
              <a:rPr kumimoji="0" lang="en-US" sz="1400" b="1" kern="0" dirty="0">
                <a:latin typeface="Calibri" panose="020F0502020204030204" pitchFamily="34" charset="0"/>
                <a:ea typeface="+mn-ea"/>
                <a:cs typeface="Arial"/>
              </a:rPr>
              <a:t>retrieved from local disks.</a:t>
            </a:r>
          </a:p>
        </p:txBody>
      </p:sp>
    </p:spTree>
  </p:cSld>
  <p:clrMapOvr>
    <a:masterClrMapping/>
  </p:clrMapOvr>
  <p:transition spd="med">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a:extLst>
              <a:ext uri="{FF2B5EF4-FFF2-40B4-BE49-F238E27FC236}">
                <a16:creationId xmlns:a16="http://schemas.microsoft.com/office/drawing/2014/main" id="{52D2853F-0A27-4D0E-B9E3-E577053E8F29}"/>
              </a:ext>
            </a:extLst>
          </p:cNvPr>
          <p:cNvSpPr>
            <a:spLocks noGrp="1" noChangeArrowheads="1"/>
          </p:cNvSpPr>
          <p:nvPr>
            <p:ph type="title"/>
          </p:nvPr>
        </p:nvSpPr>
        <p:spPr/>
        <p:txBody>
          <a:bodyPr/>
          <a:lstStyle/>
          <a:p>
            <a:pPr eaLnBrk="1" hangingPunct="1">
              <a:defRPr/>
            </a:pPr>
            <a:r>
              <a:rPr lang="zh-CN" altLang="en-US"/>
              <a:t>层次结构实例</a:t>
            </a:r>
          </a:p>
        </p:txBody>
      </p:sp>
      <p:grpSp>
        <p:nvGrpSpPr>
          <p:cNvPr id="15364" name="Group 3">
            <a:extLst>
              <a:ext uri="{FF2B5EF4-FFF2-40B4-BE49-F238E27FC236}">
                <a16:creationId xmlns:a16="http://schemas.microsoft.com/office/drawing/2014/main" id="{AA260C74-72B0-45FD-871A-1EBC2B5117C1}"/>
              </a:ext>
            </a:extLst>
          </p:cNvPr>
          <p:cNvGrpSpPr>
            <a:grpSpLocks/>
          </p:cNvGrpSpPr>
          <p:nvPr/>
        </p:nvGrpSpPr>
        <p:grpSpPr bwMode="auto">
          <a:xfrm>
            <a:off x="76200" y="1219200"/>
            <a:ext cx="8991600" cy="4957763"/>
            <a:chOff x="96" y="720"/>
            <a:chExt cx="5664" cy="3123"/>
          </a:xfrm>
        </p:grpSpPr>
        <p:sp>
          <p:nvSpPr>
            <p:cNvPr id="15366" name="Rectangle 4">
              <a:extLst>
                <a:ext uri="{FF2B5EF4-FFF2-40B4-BE49-F238E27FC236}">
                  <a16:creationId xmlns:a16="http://schemas.microsoft.com/office/drawing/2014/main" id="{DDCFFC33-F861-492D-A9EC-4176AA313B87}"/>
                </a:ext>
              </a:extLst>
            </p:cNvPr>
            <p:cNvSpPr>
              <a:spLocks noChangeArrowheads="1"/>
            </p:cNvSpPr>
            <p:nvPr/>
          </p:nvSpPr>
          <p:spPr bwMode="auto">
            <a:xfrm>
              <a:off x="4848" y="1344"/>
              <a:ext cx="91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Hardware</a:t>
              </a:r>
            </a:p>
          </p:txBody>
        </p:sp>
        <p:sp>
          <p:nvSpPr>
            <p:cNvPr id="15367" name="Rectangle 5">
              <a:extLst>
                <a:ext uri="{FF2B5EF4-FFF2-40B4-BE49-F238E27FC236}">
                  <a16:creationId xmlns:a16="http://schemas.microsoft.com/office/drawing/2014/main" id="{C19CF24E-05D1-4900-8AFE-8A7ACAC038E5}"/>
                </a:ext>
              </a:extLst>
            </p:cNvPr>
            <p:cNvSpPr>
              <a:spLocks noChangeArrowheads="1"/>
            </p:cNvSpPr>
            <p:nvPr/>
          </p:nvSpPr>
          <p:spPr bwMode="auto">
            <a:xfrm>
              <a:off x="3744" y="1344"/>
              <a:ext cx="1104"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0</a:t>
              </a:r>
            </a:p>
          </p:txBody>
        </p:sp>
        <p:sp>
          <p:nvSpPr>
            <p:cNvPr id="15368" name="Rectangle 6">
              <a:extLst>
                <a:ext uri="{FF2B5EF4-FFF2-40B4-BE49-F238E27FC236}">
                  <a16:creationId xmlns:a16="http://schemas.microsoft.com/office/drawing/2014/main" id="{699229F4-8EFC-461E-8E5C-5D8D19A6E5B1}"/>
                </a:ext>
              </a:extLst>
            </p:cNvPr>
            <p:cNvSpPr>
              <a:spLocks noChangeArrowheads="1"/>
            </p:cNvSpPr>
            <p:nvPr/>
          </p:nvSpPr>
          <p:spPr bwMode="auto">
            <a:xfrm>
              <a:off x="2448" y="1344"/>
              <a:ext cx="1296"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On-Chip TLB</a:t>
              </a:r>
            </a:p>
          </p:txBody>
        </p:sp>
        <p:sp>
          <p:nvSpPr>
            <p:cNvPr id="15369" name="Rectangle 7">
              <a:extLst>
                <a:ext uri="{FF2B5EF4-FFF2-40B4-BE49-F238E27FC236}">
                  <a16:creationId xmlns:a16="http://schemas.microsoft.com/office/drawing/2014/main" id="{AA8EA46F-123C-4BBA-B535-CAA253CACBAA}"/>
                </a:ext>
              </a:extLst>
            </p:cNvPr>
            <p:cNvSpPr>
              <a:spLocks noChangeArrowheads="1"/>
            </p:cNvSpPr>
            <p:nvPr/>
          </p:nvSpPr>
          <p:spPr bwMode="auto">
            <a:xfrm>
              <a:off x="1248" y="1344"/>
              <a:ext cx="1200"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Address translations</a:t>
              </a:r>
            </a:p>
          </p:txBody>
        </p:sp>
        <p:sp>
          <p:nvSpPr>
            <p:cNvPr id="15370" name="Rectangle 8">
              <a:extLst>
                <a:ext uri="{FF2B5EF4-FFF2-40B4-BE49-F238E27FC236}">
                  <a16:creationId xmlns:a16="http://schemas.microsoft.com/office/drawing/2014/main" id="{E19C5CC5-3752-4F45-A068-2ECAC03382F9}"/>
                </a:ext>
              </a:extLst>
            </p:cNvPr>
            <p:cNvSpPr>
              <a:spLocks noChangeArrowheads="1"/>
            </p:cNvSpPr>
            <p:nvPr/>
          </p:nvSpPr>
          <p:spPr bwMode="auto">
            <a:xfrm>
              <a:off x="96" y="1344"/>
              <a:ext cx="115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TLB</a:t>
              </a:r>
            </a:p>
          </p:txBody>
        </p:sp>
        <p:sp>
          <p:nvSpPr>
            <p:cNvPr id="15371" name="Rectangle 9">
              <a:extLst>
                <a:ext uri="{FF2B5EF4-FFF2-40B4-BE49-F238E27FC236}">
                  <a16:creationId xmlns:a16="http://schemas.microsoft.com/office/drawing/2014/main" id="{B7D01DFB-638B-4473-848E-1CA744329980}"/>
                </a:ext>
              </a:extLst>
            </p:cNvPr>
            <p:cNvSpPr>
              <a:spLocks noChangeArrowheads="1"/>
            </p:cNvSpPr>
            <p:nvPr/>
          </p:nvSpPr>
          <p:spPr bwMode="auto">
            <a:xfrm>
              <a:off x="4848" y="3105"/>
              <a:ext cx="91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Web browser</a:t>
              </a:r>
            </a:p>
          </p:txBody>
        </p:sp>
        <p:sp>
          <p:nvSpPr>
            <p:cNvPr id="15372" name="Rectangle 10">
              <a:extLst>
                <a:ext uri="{FF2B5EF4-FFF2-40B4-BE49-F238E27FC236}">
                  <a16:creationId xmlns:a16="http://schemas.microsoft.com/office/drawing/2014/main" id="{E48B2BF2-53E0-4531-8B44-920B3BCE36B0}"/>
                </a:ext>
              </a:extLst>
            </p:cNvPr>
            <p:cNvSpPr>
              <a:spLocks noChangeArrowheads="1"/>
            </p:cNvSpPr>
            <p:nvPr/>
          </p:nvSpPr>
          <p:spPr bwMode="auto">
            <a:xfrm>
              <a:off x="3744" y="3105"/>
              <a:ext cx="1104"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10,000,000</a:t>
              </a:r>
            </a:p>
          </p:txBody>
        </p:sp>
        <p:sp>
          <p:nvSpPr>
            <p:cNvPr id="15373" name="Rectangle 11">
              <a:extLst>
                <a:ext uri="{FF2B5EF4-FFF2-40B4-BE49-F238E27FC236}">
                  <a16:creationId xmlns:a16="http://schemas.microsoft.com/office/drawing/2014/main" id="{BA7C4AAC-C41B-4754-8699-FE9EF2272ED5}"/>
                </a:ext>
              </a:extLst>
            </p:cNvPr>
            <p:cNvSpPr>
              <a:spLocks noChangeArrowheads="1"/>
            </p:cNvSpPr>
            <p:nvPr/>
          </p:nvSpPr>
          <p:spPr bwMode="auto">
            <a:xfrm>
              <a:off x="2448" y="3105"/>
              <a:ext cx="1296"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Local disk</a:t>
              </a:r>
            </a:p>
          </p:txBody>
        </p:sp>
        <p:sp>
          <p:nvSpPr>
            <p:cNvPr id="15374" name="Rectangle 12">
              <a:extLst>
                <a:ext uri="{FF2B5EF4-FFF2-40B4-BE49-F238E27FC236}">
                  <a16:creationId xmlns:a16="http://schemas.microsoft.com/office/drawing/2014/main" id="{D2E9BB5C-5FC8-44BE-9EA5-38685591443A}"/>
                </a:ext>
              </a:extLst>
            </p:cNvPr>
            <p:cNvSpPr>
              <a:spLocks noChangeArrowheads="1"/>
            </p:cNvSpPr>
            <p:nvPr/>
          </p:nvSpPr>
          <p:spPr bwMode="auto">
            <a:xfrm>
              <a:off x="1248" y="3105"/>
              <a:ext cx="1200"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Web pages</a:t>
              </a:r>
            </a:p>
          </p:txBody>
        </p:sp>
        <p:sp>
          <p:nvSpPr>
            <p:cNvPr id="15375" name="Rectangle 13">
              <a:extLst>
                <a:ext uri="{FF2B5EF4-FFF2-40B4-BE49-F238E27FC236}">
                  <a16:creationId xmlns:a16="http://schemas.microsoft.com/office/drawing/2014/main" id="{7BA8D1E2-7414-4214-8D34-AD947ABB42EF}"/>
                </a:ext>
              </a:extLst>
            </p:cNvPr>
            <p:cNvSpPr>
              <a:spLocks noChangeArrowheads="1"/>
            </p:cNvSpPr>
            <p:nvPr/>
          </p:nvSpPr>
          <p:spPr bwMode="auto">
            <a:xfrm>
              <a:off x="96" y="3105"/>
              <a:ext cx="115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Browser cache</a:t>
              </a:r>
            </a:p>
          </p:txBody>
        </p:sp>
        <p:sp>
          <p:nvSpPr>
            <p:cNvPr id="15376" name="Rectangle 14">
              <a:extLst>
                <a:ext uri="{FF2B5EF4-FFF2-40B4-BE49-F238E27FC236}">
                  <a16:creationId xmlns:a16="http://schemas.microsoft.com/office/drawing/2014/main" id="{F5970153-9AEA-48D3-BB8F-2A1DBEA736D6}"/>
                </a:ext>
              </a:extLst>
            </p:cNvPr>
            <p:cNvSpPr>
              <a:spLocks noChangeArrowheads="1"/>
            </p:cNvSpPr>
            <p:nvPr/>
          </p:nvSpPr>
          <p:spPr bwMode="auto">
            <a:xfrm>
              <a:off x="96" y="3474"/>
              <a:ext cx="115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Web cache</a:t>
              </a:r>
            </a:p>
          </p:txBody>
        </p:sp>
        <p:sp>
          <p:nvSpPr>
            <p:cNvPr id="15377" name="Rectangle 15">
              <a:extLst>
                <a:ext uri="{FF2B5EF4-FFF2-40B4-BE49-F238E27FC236}">
                  <a16:creationId xmlns:a16="http://schemas.microsoft.com/office/drawing/2014/main" id="{8EF04BD5-7271-4D9F-8F3A-BFB40C8D069D}"/>
                </a:ext>
              </a:extLst>
            </p:cNvPr>
            <p:cNvSpPr>
              <a:spLocks noChangeArrowheads="1"/>
            </p:cNvSpPr>
            <p:nvPr/>
          </p:nvSpPr>
          <p:spPr bwMode="auto">
            <a:xfrm>
              <a:off x="96" y="2736"/>
              <a:ext cx="115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Network buffer cache</a:t>
              </a:r>
            </a:p>
          </p:txBody>
        </p:sp>
        <p:sp>
          <p:nvSpPr>
            <p:cNvPr id="15378" name="Rectangle 16">
              <a:extLst>
                <a:ext uri="{FF2B5EF4-FFF2-40B4-BE49-F238E27FC236}">
                  <a16:creationId xmlns:a16="http://schemas.microsoft.com/office/drawing/2014/main" id="{B5C03384-B86E-40AE-BEA2-9B516DE80E9A}"/>
                </a:ext>
              </a:extLst>
            </p:cNvPr>
            <p:cNvSpPr>
              <a:spLocks noChangeArrowheads="1"/>
            </p:cNvSpPr>
            <p:nvPr/>
          </p:nvSpPr>
          <p:spPr bwMode="auto">
            <a:xfrm>
              <a:off x="96" y="2508"/>
              <a:ext cx="1152" cy="22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Buffer cache</a:t>
              </a:r>
            </a:p>
          </p:txBody>
        </p:sp>
        <p:sp>
          <p:nvSpPr>
            <p:cNvPr id="15379" name="Rectangle 17">
              <a:extLst>
                <a:ext uri="{FF2B5EF4-FFF2-40B4-BE49-F238E27FC236}">
                  <a16:creationId xmlns:a16="http://schemas.microsoft.com/office/drawing/2014/main" id="{370D2ED2-570A-44D1-9633-7FB35027A342}"/>
                </a:ext>
              </a:extLst>
            </p:cNvPr>
            <p:cNvSpPr>
              <a:spLocks noChangeArrowheads="1"/>
            </p:cNvSpPr>
            <p:nvPr/>
          </p:nvSpPr>
          <p:spPr bwMode="auto">
            <a:xfrm>
              <a:off x="96" y="2139"/>
              <a:ext cx="115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Virtual Memory</a:t>
              </a:r>
            </a:p>
          </p:txBody>
        </p:sp>
        <p:sp>
          <p:nvSpPr>
            <p:cNvPr id="15380" name="Rectangle 18">
              <a:extLst>
                <a:ext uri="{FF2B5EF4-FFF2-40B4-BE49-F238E27FC236}">
                  <a16:creationId xmlns:a16="http://schemas.microsoft.com/office/drawing/2014/main" id="{D462ADE5-C462-44A4-9A6E-3CBD81414719}"/>
                </a:ext>
              </a:extLst>
            </p:cNvPr>
            <p:cNvSpPr>
              <a:spLocks noChangeArrowheads="1"/>
            </p:cNvSpPr>
            <p:nvPr/>
          </p:nvSpPr>
          <p:spPr bwMode="auto">
            <a:xfrm>
              <a:off x="96" y="1926"/>
              <a:ext cx="1152"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L2 cache</a:t>
              </a:r>
            </a:p>
          </p:txBody>
        </p:sp>
        <p:sp>
          <p:nvSpPr>
            <p:cNvPr id="15381" name="Rectangle 19">
              <a:extLst>
                <a:ext uri="{FF2B5EF4-FFF2-40B4-BE49-F238E27FC236}">
                  <a16:creationId xmlns:a16="http://schemas.microsoft.com/office/drawing/2014/main" id="{717DF939-C804-4E81-B003-35DEA24F7F48}"/>
                </a:ext>
              </a:extLst>
            </p:cNvPr>
            <p:cNvSpPr>
              <a:spLocks noChangeArrowheads="1"/>
            </p:cNvSpPr>
            <p:nvPr/>
          </p:nvSpPr>
          <p:spPr bwMode="auto">
            <a:xfrm>
              <a:off x="96" y="1713"/>
              <a:ext cx="1152"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L1 cache</a:t>
              </a:r>
            </a:p>
          </p:txBody>
        </p:sp>
        <p:sp>
          <p:nvSpPr>
            <p:cNvPr id="15382" name="Rectangle 20">
              <a:extLst>
                <a:ext uri="{FF2B5EF4-FFF2-40B4-BE49-F238E27FC236}">
                  <a16:creationId xmlns:a16="http://schemas.microsoft.com/office/drawing/2014/main" id="{2B6D5648-FDC8-481C-986B-6F69EA6CC975}"/>
                </a:ext>
              </a:extLst>
            </p:cNvPr>
            <p:cNvSpPr>
              <a:spLocks noChangeArrowheads="1"/>
            </p:cNvSpPr>
            <p:nvPr/>
          </p:nvSpPr>
          <p:spPr bwMode="auto">
            <a:xfrm>
              <a:off x="96" y="1123"/>
              <a:ext cx="1152" cy="22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Registers</a:t>
              </a:r>
            </a:p>
          </p:txBody>
        </p:sp>
        <p:sp>
          <p:nvSpPr>
            <p:cNvPr id="15383" name="Rectangle 21">
              <a:extLst>
                <a:ext uri="{FF2B5EF4-FFF2-40B4-BE49-F238E27FC236}">
                  <a16:creationId xmlns:a16="http://schemas.microsoft.com/office/drawing/2014/main" id="{3DAA5A7B-A74F-40A1-8833-A1DBE8B55D4A}"/>
                </a:ext>
              </a:extLst>
            </p:cNvPr>
            <p:cNvSpPr>
              <a:spLocks noChangeArrowheads="1"/>
            </p:cNvSpPr>
            <p:nvPr/>
          </p:nvSpPr>
          <p:spPr bwMode="auto">
            <a:xfrm>
              <a:off x="96" y="720"/>
              <a:ext cx="1152" cy="40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solidFill>
                    <a:srgbClr val="FF0000"/>
                  </a:solidFill>
                  <a:latin typeface="Helvetica" panose="020B0604020202020204" pitchFamily="34" charset="0"/>
                  <a:ea typeface="宋体" panose="02010600030101010101" pitchFamily="2" charset="-122"/>
                </a:rPr>
                <a:t>Cache Type</a:t>
              </a:r>
            </a:p>
          </p:txBody>
        </p:sp>
        <p:sp>
          <p:nvSpPr>
            <p:cNvPr id="15384" name="Rectangle 22">
              <a:extLst>
                <a:ext uri="{FF2B5EF4-FFF2-40B4-BE49-F238E27FC236}">
                  <a16:creationId xmlns:a16="http://schemas.microsoft.com/office/drawing/2014/main" id="{4C4B3493-9350-42D0-B3FC-85195DDDBB02}"/>
                </a:ext>
              </a:extLst>
            </p:cNvPr>
            <p:cNvSpPr>
              <a:spLocks noChangeArrowheads="1"/>
            </p:cNvSpPr>
            <p:nvPr/>
          </p:nvSpPr>
          <p:spPr bwMode="auto">
            <a:xfrm>
              <a:off x="1248" y="3474"/>
              <a:ext cx="1200"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Web pages</a:t>
              </a:r>
            </a:p>
          </p:txBody>
        </p:sp>
        <p:sp>
          <p:nvSpPr>
            <p:cNvPr id="15385" name="Rectangle 23">
              <a:extLst>
                <a:ext uri="{FF2B5EF4-FFF2-40B4-BE49-F238E27FC236}">
                  <a16:creationId xmlns:a16="http://schemas.microsoft.com/office/drawing/2014/main" id="{73F9499A-A0A6-45B0-BBCC-7284CFAB214F}"/>
                </a:ext>
              </a:extLst>
            </p:cNvPr>
            <p:cNvSpPr>
              <a:spLocks noChangeArrowheads="1"/>
            </p:cNvSpPr>
            <p:nvPr/>
          </p:nvSpPr>
          <p:spPr bwMode="auto">
            <a:xfrm>
              <a:off x="1248" y="2736"/>
              <a:ext cx="1200"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Parts of files</a:t>
              </a:r>
            </a:p>
          </p:txBody>
        </p:sp>
        <p:sp>
          <p:nvSpPr>
            <p:cNvPr id="15386" name="Rectangle 24">
              <a:extLst>
                <a:ext uri="{FF2B5EF4-FFF2-40B4-BE49-F238E27FC236}">
                  <a16:creationId xmlns:a16="http://schemas.microsoft.com/office/drawing/2014/main" id="{0A7BD585-2386-48B9-9CD2-ACD3B486FD32}"/>
                </a:ext>
              </a:extLst>
            </p:cNvPr>
            <p:cNvSpPr>
              <a:spLocks noChangeArrowheads="1"/>
            </p:cNvSpPr>
            <p:nvPr/>
          </p:nvSpPr>
          <p:spPr bwMode="auto">
            <a:xfrm>
              <a:off x="1248" y="2508"/>
              <a:ext cx="1200" cy="22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Parts of files</a:t>
              </a:r>
            </a:p>
          </p:txBody>
        </p:sp>
        <p:sp>
          <p:nvSpPr>
            <p:cNvPr id="15387" name="Rectangle 25">
              <a:extLst>
                <a:ext uri="{FF2B5EF4-FFF2-40B4-BE49-F238E27FC236}">
                  <a16:creationId xmlns:a16="http://schemas.microsoft.com/office/drawing/2014/main" id="{BCE9CE0C-4E23-4B54-A188-A545F9DBDE90}"/>
                </a:ext>
              </a:extLst>
            </p:cNvPr>
            <p:cNvSpPr>
              <a:spLocks noChangeArrowheads="1"/>
            </p:cNvSpPr>
            <p:nvPr/>
          </p:nvSpPr>
          <p:spPr bwMode="auto">
            <a:xfrm>
              <a:off x="1248" y="2139"/>
              <a:ext cx="1200"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4-KB page</a:t>
              </a:r>
            </a:p>
          </p:txBody>
        </p:sp>
        <p:sp>
          <p:nvSpPr>
            <p:cNvPr id="15388" name="Rectangle 26">
              <a:extLst>
                <a:ext uri="{FF2B5EF4-FFF2-40B4-BE49-F238E27FC236}">
                  <a16:creationId xmlns:a16="http://schemas.microsoft.com/office/drawing/2014/main" id="{4DA26556-50F9-4623-BF37-E5C6DFDD04F9}"/>
                </a:ext>
              </a:extLst>
            </p:cNvPr>
            <p:cNvSpPr>
              <a:spLocks noChangeArrowheads="1"/>
            </p:cNvSpPr>
            <p:nvPr/>
          </p:nvSpPr>
          <p:spPr bwMode="auto">
            <a:xfrm>
              <a:off x="1248" y="1926"/>
              <a:ext cx="1200"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32-byte block</a:t>
              </a:r>
            </a:p>
          </p:txBody>
        </p:sp>
        <p:sp>
          <p:nvSpPr>
            <p:cNvPr id="15389" name="Rectangle 27">
              <a:extLst>
                <a:ext uri="{FF2B5EF4-FFF2-40B4-BE49-F238E27FC236}">
                  <a16:creationId xmlns:a16="http://schemas.microsoft.com/office/drawing/2014/main" id="{9ECB7DDA-251C-40F0-B137-CF94526282B0}"/>
                </a:ext>
              </a:extLst>
            </p:cNvPr>
            <p:cNvSpPr>
              <a:spLocks noChangeArrowheads="1"/>
            </p:cNvSpPr>
            <p:nvPr/>
          </p:nvSpPr>
          <p:spPr bwMode="auto">
            <a:xfrm>
              <a:off x="1248" y="1713"/>
              <a:ext cx="1200"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32-byte block</a:t>
              </a:r>
            </a:p>
          </p:txBody>
        </p:sp>
        <p:sp>
          <p:nvSpPr>
            <p:cNvPr id="15390" name="Rectangle 28">
              <a:extLst>
                <a:ext uri="{FF2B5EF4-FFF2-40B4-BE49-F238E27FC236}">
                  <a16:creationId xmlns:a16="http://schemas.microsoft.com/office/drawing/2014/main" id="{6C3491DF-A1DD-463E-831F-B0514DACAFDE}"/>
                </a:ext>
              </a:extLst>
            </p:cNvPr>
            <p:cNvSpPr>
              <a:spLocks noChangeArrowheads="1"/>
            </p:cNvSpPr>
            <p:nvPr/>
          </p:nvSpPr>
          <p:spPr bwMode="auto">
            <a:xfrm>
              <a:off x="1248" y="1123"/>
              <a:ext cx="1200" cy="22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4-byte word</a:t>
              </a:r>
            </a:p>
          </p:txBody>
        </p:sp>
        <p:sp>
          <p:nvSpPr>
            <p:cNvPr id="15391" name="Rectangle 29">
              <a:extLst>
                <a:ext uri="{FF2B5EF4-FFF2-40B4-BE49-F238E27FC236}">
                  <a16:creationId xmlns:a16="http://schemas.microsoft.com/office/drawing/2014/main" id="{4E29E28C-5AEE-4921-AADC-79FFB671415F}"/>
                </a:ext>
              </a:extLst>
            </p:cNvPr>
            <p:cNvSpPr>
              <a:spLocks noChangeArrowheads="1"/>
            </p:cNvSpPr>
            <p:nvPr/>
          </p:nvSpPr>
          <p:spPr bwMode="auto">
            <a:xfrm>
              <a:off x="1248" y="720"/>
              <a:ext cx="1200" cy="40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solidFill>
                    <a:srgbClr val="FF0000"/>
                  </a:solidFill>
                  <a:latin typeface="Helvetica" panose="020B0604020202020204" pitchFamily="34" charset="0"/>
                  <a:ea typeface="宋体" panose="02010600030101010101" pitchFamily="2" charset="-122"/>
                </a:rPr>
                <a:t>What Cached</a:t>
              </a:r>
            </a:p>
          </p:txBody>
        </p:sp>
        <p:sp>
          <p:nvSpPr>
            <p:cNvPr id="15392" name="Rectangle 30">
              <a:extLst>
                <a:ext uri="{FF2B5EF4-FFF2-40B4-BE49-F238E27FC236}">
                  <a16:creationId xmlns:a16="http://schemas.microsoft.com/office/drawing/2014/main" id="{CCBAF6B4-77CA-4D1E-A846-87E036BEAFAF}"/>
                </a:ext>
              </a:extLst>
            </p:cNvPr>
            <p:cNvSpPr>
              <a:spLocks noChangeArrowheads="1"/>
            </p:cNvSpPr>
            <p:nvPr/>
          </p:nvSpPr>
          <p:spPr bwMode="auto">
            <a:xfrm>
              <a:off x="4848" y="3474"/>
              <a:ext cx="91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Web proxy server</a:t>
              </a:r>
            </a:p>
          </p:txBody>
        </p:sp>
        <p:sp>
          <p:nvSpPr>
            <p:cNvPr id="15393" name="Rectangle 31">
              <a:extLst>
                <a:ext uri="{FF2B5EF4-FFF2-40B4-BE49-F238E27FC236}">
                  <a16:creationId xmlns:a16="http://schemas.microsoft.com/office/drawing/2014/main" id="{471E70E1-AA90-45E6-BC4C-B01F55057233}"/>
                </a:ext>
              </a:extLst>
            </p:cNvPr>
            <p:cNvSpPr>
              <a:spLocks noChangeArrowheads="1"/>
            </p:cNvSpPr>
            <p:nvPr/>
          </p:nvSpPr>
          <p:spPr bwMode="auto">
            <a:xfrm>
              <a:off x="3744" y="3474"/>
              <a:ext cx="1104"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1,000,000,000</a:t>
              </a:r>
            </a:p>
          </p:txBody>
        </p:sp>
        <p:sp>
          <p:nvSpPr>
            <p:cNvPr id="15394" name="Rectangle 32">
              <a:extLst>
                <a:ext uri="{FF2B5EF4-FFF2-40B4-BE49-F238E27FC236}">
                  <a16:creationId xmlns:a16="http://schemas.microsoft.com/office/drawing/2014/main" id="{FB8F7423-3D45-4C06-8B75-F8EFCF50CDFF}"/>
                </a:ext>
              </a:extLst>
            </p:cNvPr>
            <p:cNvSpPr>
              <a:spLocks noChangeArrowheads="1"/>
            </p:cNvSpPr>
            <p:nvPr/>
          </p:nvSpPr>
          <p:spPr bwMode="auto">
            <a:xfrm>
              <a:off x="2448" y="3474"/>
              <a:ext cx="1296"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Remote server disks</a:t>
              </a:r>
            </a:p>
          </p:txBody>
        </p:sp>
        <p:sp>
          <p:nvSpPr>
            <p:cNvPr id="15395" name="Rectangle 33">
              <a:extLst>
                <a:ext uri="{FF2B5EF4-FFF2-40B4-BE49-F238E27FC236}">
                  <a16:creationId xmlns:a16="http://schemas.microsoft.com/office/drawing/2014/main" id="{E5BBEB72-A5F7-4C29-AE82-7CC925772A41}"/>
                </a:ext>
              </a:extLst>
            </p:cNvPr>
            <p:cNvSpPr>
              <a:spLocks noChangeArrowheads="1"/>
            </p:cNvSpPr>
            <p:nvPr/>
          </p:nvSpPr>
          <p:spPr bwMode="auto">
            <a:xfrm>
              <a:off x="4848" y="2508"/>
              <a:ext cx="912" cy="22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OS</a:t>
              </a:r>
            </a:p>
          </p:txBody>
        </p:sp>
        <p:sp>
          <p:nvSpPr>
            <p:cNvPr id="15396" name="Rectangle 34">
              <a:extLst>
                <a:ext uri="{FF2B5EF4-FFF2-40B4-BE49-F238E27FC236}">
                  <a16:creationId xmlns:a16="http://schemas.microsoft.com/office/drawing/2014/main" id="{33A7DBB5-D44A-4DB8-86E5-DD00E8AA66ED}"/>
                </a:ext>
              </a:extLst>
            </p:cNvPr>
            <p:cNvSpPr>
              <a:spLocks noChangeArrowheads="1"/>
            </p:cNvSpPr>
            <p:nvPr/>
          </p:nvSpPr>
          <p:spPr bwMode="auto">
            <a:xfrm>
              <a:off x="3744" y="2508"/>
              <a:ext cx="1104" cy="22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100</a:t>
              </a:r>
            </a:p>
          </p:txBody>
        </p:sp>
        <p:sp>
          <p:nvSpPr>
            <p:cNvPr id="15397" name="Rectangle 35">
              <a:extLst>
                <a:ext uri="{FF2B5EF4-FFF2-40B4-BE49-F238E27FC236}">
                  <a16:creationId xmlns:a16="http://schemas.microsoft.com/office/drawing/2014/main" id="{0365764E-8664-4497-BEBE-E045B4920D90}"/>
                </a:ext>
              </a:extLst>
            </p:cNvPr>
            <p:cNvSpPr>
              <a:spLocks noChangeArrowheads="1"/>
            </p:cNvSpPr>
            <p:nvPr/>
          </p:nvSpPr>
          <p:spPr bwMode="auto">
            <a:xfrm>
              <a:off x="2448" y="2508"/>
              <a:ext cx="1296" cy="22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Main memory</a:t>
              </a:r>
            </a:p>
          </p:txBody>
        </p:sp>
        <p:sp>
          <p:nvSpPr>
            <p:cNvPr id="15398" name="Rectangle 36">
              <a:extLst>
                <a:ext uri="{FF2B5EF4-FFF2-40B4-BE49-F238E27FC236}">
                  <a16:creationId xmlns:a16="http://schemas.microsoft.com/office/drawing/2014/main" id="{04349807-81CC-41C2-8AE6-A413463B32CB}"/>
                </a:ext>
              </a:extLst>
            </p:cNvPr>
            <p:cNvSpPr>
              <a:spLocks noChangeArrowheads="1"/>
            </p:cNvSpPr>
            <p:nvPr/>
          </p:nvSpPr>
          <p:spPr bwMode="auto">
            <a:xfrm>
              <a:off x="4848" y="1713"/>
              <a:ext cx="912"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Hardware</a:t>
              </a:r>
            </a:p>
          </p:txBody>
        </p:sp>
        <p:sp>
          <p:nvSpPr>
            <p:cNvPr id="15399" name="Rectangle 37">
              <a:extLst>
                <a:ext uri="{FF2B5EF4-FFF2-40B4-BE49-F238E27FC236}">
                  <a16:creationId xmlns:a16="http://schemas.microsoft.com/office/drawing/2014/main" id="{0174EE90-B8E8-4EE6-AF69-64FFB54D9442}"/>
                </a:ext>
              </a:extLst>
            </p:cNvPr>
            <p:cNvSpPr>
              <a:spLocks noChangeArrowheads="1"/>
            </p:cNvSpPr>
            <p:nvPr/>
          </p:nvSpPr>
          <p:spPr bwMode="auto">
            <a:xfrm>
              <a:off x="3744" y="1713"/>
              <a:ext cx="1104"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1</a:t>
              </a:r>
            </a:p>
          </p:txBody>
        </p:sp>
        <p:sp>
          <p:nvSpPr>
            <p:cNvPr id="15400" name="Rectangle 38">
              <a:extLst>
                <a:ext uri="{FF2B5EF4-FFF2-40B4-BE49-F238E27FC236}">
                  <a16:creationId xmlns:a16="http://schemas.microsoft.com/office/drawing/2014/main" id="{9C81FD6C-09AF-4CBE-9C4A-B78EFD03F8F5}"/>
                </a:ext>
              </a:extLst>
            </p:cNvPr>
            <p:cNvSpPr>
              <a:spLocks noChangeArrowheads="1"/>
            </p:cNvSpPr>
            <p:nvPr/>
          </p:nvSpPr>
          <p:spPr bwMode="auto">
            <a:xfrm>
              <a:off x="2448" y="1713"/>
              <a:ext cx="1296"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On-Chip L1</a:t>
              </a:r>
            </a:p>
          </p:txBody>
        </p:sp>
        <p:sp>
          <p:nvSpPr>
            <p:cNvPr id="15401" name="Rectangle 39">
              <a:extLst>
                <a:ext uri="{FF2B5EF4-FFF2-40B4-BE49-F238E27FC236}">
                  <a16:creationId xmlns:a16="http://schemas.microsoft.com/office/drawing/2014/main" id="{9C38EC70-53B8-4F3B-A7F1-23EDA592FF92}"/>
                </a:ext>
              </a:extLst>
            </p:cNvPr>
            <p:cNvSpPr>
              <a:spLocks noChangeArrowheads="1"/>
            </p:cNvSpPr>
            <p:nvPr/>
          </p:nvSpPr>
          <p:spPr bwMode="auto">
            <a:xfrm>
              <a:off x="4848" y="1926"/>
              <a:ext cx="912"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Hardware</a:t>
              </a:r>
            </a:p>
          </p:txBody>
        </p:sp>
        <p:sp>
          <p:nvSpPr>
            <p:cNvPr id="15402" name="Rectangle 40">
              <a:extLst>
                <a:ext uri="{FF2B5EF4-FFF2-40B4-BE49-F238E27FC236}">
                  <a16:creationId xmlns:a16="http://schemas.microsoft.com/office/drawing/2014/main" id="{CF1CFEE5-1E1B-4A64-8C68-432BCCA821F9}"/>
                </a:ext>
              </a:extLst>
            </p:cNvPr>
            <p:cNvSpPr>
              <a:spLocks noChangeArrowheads="1"/>
            </p:cNvSpPr>
            <p:nvPr/>
          </p:nvSpPr>
          <p:spPr bwMode="auto">
            <a:xfrm>
              <a:off x="3744" y="1926"/>
              <a:ext cx="1104"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10</a:t>
              </a:r>
            </a:p>
          </p:txBody>
        </p:sp>
        <p:sp>
          <p:nvSpPr>
            <p:cNvPr id="15403" name="Rectangle 41">
              <a:extLst>
                <a:ext uri="{FF2B5EF4-FFF2-40B4-BE49-F238E27FC236}">
                  <a16:creationId xmlns:a16="http://schemas.microsoft.com/office/drawing/2014/main" id="{A9445F8F-2CB4-4F01-B3C0-2DEEB8EF4FC1}"/>
                </a:ext>
              </a:extLst>
            </p:cNvPr>
            <p:cNvSpPr>
              <a:spLocks noChangeArrowheads="1"/>
            </p:cNvSpPr>
            <p:nvPr/>
          </p:nvSpPr>
          <p:spPr bwMode="auto">
            <a:xfrm>
              <a:off x="2448" y="1926"/>
              <a:ext cx="1296" cy="21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On-Chip L2</a:t>
              </a:r>
            </a:p>
          </p:txBody>
        </p:sp>
        <p:sp>
          <p:nvSpPr>
            <p:cNvPr id="15404" name="Rectangle 42">
              <a:extLst>
                <a:ext uri="{FF2B5EF4-FFF2-40B4-BE49-F238E27FC236}">
                  <a16:creationId xmlns:a16="http://schemas.microsoft.com/office/drawing/2014/main" id="{A48421F0-AB01-4969-AC27-9CD609B5EEC7}"/>
                </a:ext>
              </a:extLst>
            </p:cNvPr>
            <p:cNvSpPr>
              <a:spLocks noChangeArrowheads="1"/>
            </p:cNvSpPr>
            <p:nvPr/>
          </p:nvSpPr>
          <p:spPr bwMode="auto">
            <a:xfrm>
              <a:off x="4848" y="2736"/>
              <a:ext cx="91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AFS/NFS client</a:t>
              </a:r>
            </a:p>
          </p:txBody>
        </p:sp>
        <p:sp>
          <p:nvSpPr>
            <p:cNvPr id="15405" name="Rectangle 43">
              <a:extLst>
                <a:ext uri="{FF2B5EF4-FFF2-40B4-BE49-F238E27FC236}">
                  <a16:creationId xmlns:a16="http://schemas.microsoft.com/office/drawing/2014/main" id="{49FFBAEE-1E59-438B-B092-3F120E11AE62}"/>
                </a:ext>
              </a:extLst>
            </p:cNvPr>
            <p:cNvSpPr>
              <a:spLocks noChangeArrowheads="1"/>
            </p:cNvSpPr>
            <p:nvPr/>
          </p:nvSpPr>
          <p:spPr bwMode="auto">
            <a:xfrm>
              <a:off x="3744" y="2736"/>
              <a:ext cx="1104"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10,000,000</a:t>
              </a:r>
            </a:p>
          </p:txBody>
        </p:sp>
        <p:sp>
          <p:nvSpPr>
            <p:cNvPr id="15406" name="Rectangle 44">
              <a:extLst>
                <a:ext uri="{FF2B5EF4-FFF2-40B4-BE49-F238E27FC236}">
                  <a16:creationId xmlns:a16="http://schemas.microsoft.com/office/drawing/2014/main" id="{148B1D21-6C0D-4A69-BD46-36E3B5D70E43}"/>
                </a:ext>
              </a:extLst>
            </p:cNvPr>
            <p:cNvSpPr>
              <a:spLocks noChangeArrowheads="1"/>
            </p:cNvSpPr>
            <p:nvPr/>
          </p:nvSpPr>
          <p:spPr bwMode="auto">
            <a:xfrm>
              <a:off x="2448" y="2736"/>
              <a:ext cx="1296"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Local disk</a:t>
              </a:r>
            </a:p>
          </p:txBody>
        </p:sp>
        <p:sp>
          <p:nvSpPr>
            <p:cNvPr id="15407" name="Rectangle 45">
              <a:extLst>
                <a:ext uri="{FF2B5EF4-FFF2-40B4-BE49-F238E27FC236}">
                  <a16:creationId xmlns:a16="http://schemas.microsoft.com/office/drawing/2014/main" id="{C8C164E8-38D3-4A0A-BFD4-4485861F7EEB}"/>
                </a:ext>
              </a:extLst>
            </p:cNvPr>
            <p:cNvSpPr>
              <a:spLocks noChangeArrowheads="1"/>
            </p:cNvSpPr>
            <p:nvPr/>
          </p:nvSpPr>
          <p:spPr bwMode="auto">
            <a:xfrm>
              <a:off x="4848" y="2139"/>
              <a:ext cx="912"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Hardware+OS</a:t>
              </a:r>
            </a:p>
          </p:txBody>
        </p:sp>
        <p:sp>
          <p:nvSpPr>
            <p:cNvPr id="15408" name="Rectangle 46">
              <a:extLst>
                <a:ext uri="{FF2B5EF4-FFF2-40B4-BE49-F238E27FC236}">
                  <a16:creationId xmlns:a16="http://schemas.microsoft.com/office/drawing/2014/main" id="{04A9E6A1-7AFA-40E2-BDAE-F66185BE0EDD}"/>
                </a:ext>
              </a:extLst>
            </p:cNvPr>
            <p:cNvSpPr>
              <a:spLocks noChangeArrowheads="1"/>
            </p:cNvSpPr>
            <p:nvPr/>
          </p:nvSpPr>
          <p:spPr bwMode="auto">
            <a:xfrm>
              <a:off x="3744" y="2139"/>
              <a:ext cx="1104"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100</a:t>
              </a:r>
            </a:p>
          </p:txBody>
        </p:sp>
        <p:sp>
          <p:nvSpPr>
            <p:cNvPr id="15409" name="Rectangle 47">
              <a:extLst>
                <a:ext uri="{FF2B5EF4-FFF2-40B4-BE49-F238E27FC236}">
                  <a16:creationId xmlns:a16="http://schemas.microsoft.com/office/drawing/2014/main" id="{89F9D4FE-EE2D-4F36-BA49-8D5194CCD262}"/>
                </a:ext>
              </a:extLst>
            </p:cNvPr>
            <p:cNvSpPr>
              <a:spLocks noChangeArrowheads="1"/>
            </p:cNvSpPr>
            <p:nvPr/>
          </p:nvSpPr>
          <p:spPr bwMode="auto">
            <a:xfrm>
              <a:off x="2448" y="2139"/>
              <a:ext cx="1296" cy="36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Main memory</a:t>
              </a:r>
            </a:p>
          </p:txBody>
        </p:sp>
        <p:sp>
          <p:nvSpPr>
            <p:cNvPr id="15410" name="Rectangle 48">
              <a:extLst>
                <a:ext uri="{FF2B5EF4-FFF2-40B4-BE49-F238E27FC236}">
                  <a16:creationId xmlns:a16="http://schemas.microsoft.com/office/drawing/2014/main" id="{D24BC316-8584-4753-B62E-DB3E7114FB6E}"/>
                </a:ext>
              </a:extLst>
            </p:cNvPr>
            <p:cNvSpPr>
              <a:spLocks noChangeArrowheads="1"/>
            </p:cNvSpPr>
            <p:nvPr/>
          </p:nvSpPr>
          <p:spPr bwMode="auto">
            <a:xfrm>
              <a:off x="4848" y="1123"/>
              <a:ext cx="912" cy="22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Compiler</a:t>
              </a:r>
            </a:p>
          </p:txBody>
        </p:sp>
        <p:sp>
          <p:nvSpPr>
            <p:cNvPr id="15411" name="Rectangle 49">
              <a:extLst>
                <a:ext uri="{FF2B5EF4-FFF2-40B4-BE49-F238E27FC236}">
                  <a16:creationId xmlns:a16="http://schemas.microsoft.com/office/drawing/2014/main" id="{43F2D14F-91C7-4A66-AFC6-C7751EAE38C6}"/>
                </a:ext>
              </a:extLst>
            </p:cNvPr>
            <p:cNvSpPr>
              <a:spLocks noChangeArrowheads="1"/>
            </p:cNvSpPr>
            <p:nvPr/>
          </p:nvSpPr>
          <p:spPr bwMode="auto">
            <a:xfrm>
              <a:off x="3744" y="1123"/>
              <a:ext cx="1104" cy="22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FontTx/>
                <a:buNone/>
              </a:pPr>
              <a:r>
                <a:rPr kumimoji="0" lang="en-US" altLang="zh-CN" sz="1800">
                  <a:latin typeface="Helvetica" panose="020B0604020202020204" pitchFamily="34" charset="0"/>
                  <a:ea typeface="宋体" panose="02010600030101010101" pitchFamily="2" charset="-122"/>
                </a:rPr>
                <a:t>0</a:t>
              </a:r>
            </a:p>
          </p:txBody>
        </p:sp>
        <p:sp>
          <p:nvSpPr>
            <p:cNvPr id="15412" name="Rectangle 50">
              <a:extLst>
                <a:ext uri="{FF2B5EF4-FFF2-40B4-BE49-F238E27FC236}">
                  <a16:creationId xmlns:a16="http://schemas.microsoft.com/office/drawing/2014/main" id="{39C3AE1B-9A2B-4B97-A194-F246506CAD90}"/>
                </a:ext>
              </a:extLst>
            </p:cNvPr>
            <p:cNvSpPr>
              <a:spLocks noChangeArrowheads="1"/>
            </p:cNvSpPr>
            <p:nvPr/>
          </p:nvSpPr>
          <p:spPr bwMode="auto">
            <a:xfrm>
              <a:off x="2448" y="1123"/>
              <a:ext cx="1296" cy="22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latin typeface="Helvetica" panose="020B0604020202020204" pitchFamily="34" charset="0"/>
                  <a:ea typeface="宋体" panose="02010600030101010101" pitchFamily="2" charset="-122"/>
                </a:rPr>
                <a:t> CPU registers</a:t>
              </a:r>
            </a:p>
          </p:txBody>
        </p:sp>
        <p:sp>
          <p:nvSpPr>
            <p:cNvPr id="15413" name="Rectangle 51">
              <a:extLst>
                <a:ext uri="{FF2B5EF4-FFF2-40B4-BE49-F238E27FC236}">
                  <a16:creationId xmlns:a16="http://schemas.microsoft.com/office/drawing/2014/main" id="{90386178-CF68-46F5-A2AD-DBDB0E18A6CC}"/>
                </a:ext>
              </a:extLst>
            </p:cNvPr>
            <p:cNvSpPr>
              <a:spLocks noChangeArrowheads="1"/>
            </p:cNvSpPr>
            <p:nvPr/>
          </p:nvSpPr>
          <p:spPr bwMode="auto">
            <a:xfrm>
              <a:off x="4848" y="720"/>
              <a:ext cx="912" cy="40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solidFill>
                    <a:srgbClr val="FF0000"/>
                  </a:solidFill>
                  <a:latin typeface="Helvetica" panose="020B0604020202020204" pitchFamily="34" charset="0"/>
                  <a:ea typeface="宋体" panose="02010600030101010101" pitchFamily="2" charset="-122"/>
                </a:rPr>
                <a:t>Managed By</a:t>
              </a:r>
            </a:p>
          </p:txBody>
        </p:sp>
        <p:sp>
          <p:nvSpPr>
            <p:cNvPr id="15414" name="Rectangle 52">
              <a:extLst>
                <a:ext uri="{FF2B5EF4-FFF2-40B4-BE49-F238E27FC236}">
                  <a16:creationId xmlns:a16="http://schemas.microsoft.com/office/drawing/2014/main" id="{586C407C-35D9-4DE5-99B6-1279664DF4A9}"/>
                </a:ext>
              </a:extLst>
            </p:cNvPr>
            <p:cNvSpPr>
              <a:spLocks noChangeArrowheads="1"/>
            </p:cNvSpPr>
            <p:nvPr/>
          </p:nvSpPr>
          <p:spPr bwMode="auto">
            <a:xfrm>
              <a:off x="3744" y="720"/>
              <a:ext cx="1104" cy="40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solidFill>
                    <a:srgbClr val="FF0000"/>
                  </a:solidFill>
                  <a:latin typeface="Helvetica" panose="020B0604020202020204" pitchFamily="34" charset="0"/>
                  <a:ea typeface="宋体" panose="02010600030101010101" pitchFamily="2" charset="-122"/>
                </a:rPr>
                <a:t>Latency (cycles)</a:t>
              </a:r>
            </a:p>
          </p:txBody>
        </p:sp>
        <p:sp>
          <p:nvSpPr>
            <p:cNvPr id="15415" name="Rectangle 53">
              <a:extLst>
                <a:ext uri="{FF2B5EF4-FFF2-40B4-BE49-F238E27FC236}">
                  <a16:creationId xmlns:a16="http://schemas.microsoft.com/office/drawing/2014/main" id="{797998FE-8EB8-4E48-AC03-92247CE4859C}"/>
                </a:ext>
              </a:extLst>
            </p:cNvPr>
            <p:cNvSpPr>
              <a:spLocks noChangeArrowheads="1"/>
            </p:cNvSpPr>
            <p:nvPr/>
          </p:nvSpPr>
          <p:spPr bwMode="auto">
            <a:xfrm>
              <a:off x="2448" y="720"/>
              <a:ext cx="1296" cy="40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Tx/>
                <a:buNone/>
              </a:pPr>
              <a:r>
                <a:rPr kumimoji="0" lang="en-US" altLang="zh-CN" sz="1800">
                  <a:solidFill>
                    <a:srgbClr val="FF0000"/>
                  </a:solidFill>
                  <a:latin typeface="Helvetica" panose="020B0604020202020204" pitchFamily="34" charset="0"/>
                  <a:ea typeface="宋体" panose="02010600030101010101" pitchFamily="2" charset="-122"/>
                </a:rPr>
                <a:t>Where Cached</a:t>
              </a:r>
            </a:p>
          </p:txBody>
        </p:sp>
        <p:sp>
          <p:nvSpPr>
            <p:cNvPr id="15416" name="Line 54">
              <a:extLst>
                <a:ext uri="{FF2B5EF4-FFF2-40B4-BE49-F238E27FC236}">
                  <a16:creationId xmlns:a16="http://schemas.microsoft.com/office/drawing/2014/main" id="{0FD2BD9D-1DC7-49A9-9B37-79FA0953658B}"/>
                </a:ext>
              </a:extLst>
            </p:cNvPr>
            <p:cNvSpPr>
              <a:spLocks noChangeShapeType="1"/>
            </p:cNvSpPr>
            <p:nvPr/>
          </p:nvSpPr>
          <p:spPr bwMode="auto">
            <a:xfrm>
              <a:off x="96" y="720"/>
              <a:ext cx="566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7" name="Line 55">
              <a:extLst>
                <a:ext uri="{FF2B5EF4-FFF2-40B4-BE49-F238E27FC236}">
                  <a16:creationId xmlns:a16="http://schemas.microsoft.com/office/drawing/2014/main" id="{03644650-EF4E-4881-A8A6-63F0FDE97718}"/>
                </a:ext>
              </a:extLst>
            </p:cNvPr>
            <p:cNvSpPr>
              <a:spLocks noChangeShapeType="1"/>
            </p:cNvSpPr>
            <p:nvPr/>
          </p:nvSpPr>
          <p:spPr bwMode="auto">
            <a:xfrm>
              <a:off x="96" y="1123"/>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8" name="Line 56">
              <a:extLst>
                <a:ext uri="{FF2B5EF4-FFF2-40B4-BE49-F238E27FC236}">
                  <a16:creationId xmlns:a16="http://schemas.microsoft.com/office/drawing/2014/main" id="{7641274F-07DB-400D-AE22-A11D29B0E3DF}"/>
                </a:ext>
              </a:extLst>
            </p:cNvPr>
            <p:cNvSpPr>
              <a:spLocks noChangeShapeType="1"/>
            </p:cNvSpPr>
            <p:nvPr/>
          </p:nvSpPr>
          <p:spPr bwMode="auto">
            <a:xfrm>
              <a:off x="96" y="1344"/>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9" name="Line 57">
              <a:extLst>
                <a:ext uri="{FF2B5EF4-FFF2-40B4-BE49-F238E27FC236}">
                  <a16:creationId xmlns:a16="http://schemas.microsoft.com/office/drawing/2014/main" id="{A5267160-F167-4C32-9CF4-C323DE1F7206}"/>
                </a:ext>
              </a:extLst>
            </p:cNvPr>
            <p:cNvSpPr>
              <a:spLocks noChangeShapeType="1"/>
            </p:cNvSpPr>
            <p:nvPr/>
          </p:nvSpPr>
          <p:spPr bwMode="auto">
            <a:xfrm>
              <a:off x="96" y="2736"/>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0" name="Line 58">
              <a:extLst>
                <a:ext uri="{FF2B5EF4-FFF2-40B4-BE49-F238E27FC236}">
                  <a16:creationId xmlns:a16="http://schemas.microsoft.com/office/drawing/2014/main" id="{D282CB85-4F78-451A-AB4D-49450AFD0064}"/>
                </a:ext>
              </a:extLst>
            </p:cNvPr>
            <p:cNvSpPr>
              <a:spLocks noChangeShapeType="1"/>
            </p:cNvSpPr>
            <p:nvPr/>
          </p:nvSpPr>
          <p:spPr bwMode="auto">
            <a:xfrm>
              <a:off x="96" y="3843"/>
              <a:ext cx="566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1" name="Line 59">
              <a:extLst>
                <a:ext uri="{FF2B5EF4-FFF2-40B4-BE49-F238E27FC236}">
                  <a16:creationId xmlns:a16="http://schemas.microsoft.com/office/drawing/2014/main" id="{5C2A4C61-DD06-489D-A2F8-DD36444899B1}"/>
                </a:ext>
              </a:extLst>
            </p:cNvPr>
            <p:cNvSpPr>
              <a:spLocks noChangeShapeType="1"/>
            </p:cNvSpPr>
            <p:nvPr/>
          </p:nvSpPr>
          <p:spPr bwMode="auto">
            <a:xfrm>
              <a:off x="96" y="720"/>
              <a:ext cx="0" cy="40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2" name="Line 60">
              <a:extLst>
                <a:ext uri="{FF2B5EF4-FFF2-40B4-BE49-F238E27FC236}">
                  <a16:creationId xmlns:a16="http://schemas.microsoft.com/office/drawing/2014/main" id="{8DF853B7-B7DC-43CC-B09E-452C5FD11346}"/>
                </a:ext>
              </a:extLst>
            </p:cNvPr>
            <p:cNvSpPr>
              <a:spLocks noChangeShapeType="1"/>
            </p:cNvSpPr>
            <p:nvPr/>
          </p:nvSpPr>
          <p:spPr bwMode="auto">
            <a:xfrm>
              <a:off x="3744" y="720"/>
              <a:ext cx="0" cy="312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3" name="Line 61">
              <a:extLst>
                <a:ext uri="{FF2B5EF4-FFF2-40B4-BE49-F238E27FC236}">
                  <a16:creationId xmlns:a16="http://schemas.microsoft.com/office/drawing/2014/main" id="{F10625EB-139E-4010-8B58-B10F8FC178E3}"/>
                </a:ext>
              </a:extLst>
            </p:cNvPr>
            <p:cNvSpPr>
              <a:spLocks noChangeShapeType="1"/>
            </p:cNvSpPr>
            <p:nvPr/>
          </p:nvSpPr>
          <p:spPr bwMode="auto">
            <a:xfrm>
              <a:off x="4848" y="720"/>
              <a:ext cx="0" cy="312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4" name="Line 62">
              <a:extLst>
                <a:ext uri="{FF2B5EF4-FFF2-40B4-BE49-F238E27FC236}">
                  <a16:creationId xmlns:a16="http://schemas.microsoft.com/office/drawing/2014/main" id="{511E28F3-3FC9-4FB7-ACAB-D4D1627383F9}"/>
                </a:ext>
              </a:extLst>
            </p:cNvPr>
            <p:cNvSpPr>
              <a:spLocks noChangeShapeType="1"/>
            </p:cNvSpPr>
            <p:nvPr/>
          </p:nvSpPr>
          <p:spPr bwMode="auto">
            <a:xfrm>
              <a:off x="5760" y="720"/>
              <a:ext cx="0" cy="3123"/>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5" name="Line 63">
              <a:extLst>
                <a:ext uri="{FF2B5EF4-FFF2-40B4-BE49-F238E27FC236}">
                  <a16:creationId xmlns:a16="http://schemas.microsoft.com/office/drawing/2014/main" id="{3FCCA675-D347-41C8-A201-BD2EA05F3D5D}"/>
                </a:ext>
              </a:extLst>
            </p:cNvPr>
            <p:cNvSpPr>
              <a:spLocks noChangeShapeType="1"/>
            </p:cNvSpPr>
            <p:nvPr/>
          </p:nvSpPr>
          <p:spPr bwMode="auto">
            <a:xfrm>
              <a:off x="96" y="720"/>
              <a:ext cx="0" cy="3123"/>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6" name="Line 64">
              <a:extLst>
                <a:ext uri="{FF2B5EF4-FFF2-40B4-BE49-F238E27FC236}">
                  <a16:creationId xmlns:a16="http://schemas.microsoft.com/office/drawing/2014/main" id="{55EFE90F-8AFE-4F6B-B05B-58935725AE3B}"/>
                </a:ext>
              </a:extLst>
            </p:cNvPr>
            <p:cNvSpPr>
              <a:spLocks noChangeShapeType="1"/>
            </p:cNvSpPr>
            <p:nvPr/>
          </p:nvSpPr>
          <p:spPr bwMode="auto">
            <a:xfrm>
              <a:off x="96" y="2139"/>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7" name="Line 65">
              <a:extLst>
                <a:ext uri="{FF2B5EF4-FFF2-40B4-BE49-F238E27FC236}">
                  <a16:creationId xmlns:a16="http://schemas.microsoft.com/office/drawing/2014/main" id="{9742EE30-4DB2-4881-980F-522BEBADE7A6}"/>
                </a:ext>
              </a:extLst>
            </p:cNvPr>
            <p:cNvSpPr>
              <a:spLocks noChangeShapeType="1"/>
            </p:cNvSpPr>
            <p:nvPr/>
          </p:nvSpPr>
          <p:spPr bwMode="auto">
            <a:xfrm>
              <a:off x="96" y="1926"/>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8" name="Line 66">
              <a:extLst>
                <a:ext uri="{FF2B5EF4-FFF2-40B4-BE49-F238E27FC236}">
                  <a16:creationId xmlns:a16="http://schemas.microsoft.com/office/drawing/2014/main" id="{ECF36189-8750-4CFC-A6AD-3539BD903E89}"/>
                </a:ext>
              </a:extLst>
            </p:cNvPr>
            <p:cNvSpPr>
              <a:spLocks noChangeShapeType="1"/>
            </p:cNvSpPr>
            <p:nvPr/>
          </p:nvSpPr>
          <p:spPr bwMode="auto">
            <a:xfrm>
              <a:off x="96" y="3105"/>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9" name="Line 67">
              <a:extLst>
                <a:ext uri="{FF2B5EF4-FFF2-40B4-BE49-F238E27FC236}">
                  <a16:creationId xmlns:a16="http://schemas.microsoft.com/office/drawing/2014/main" id="{8783D558-426F-405C-8498-BA2C57D1C6D9}"/>
                </a:ext>
              </a:extLst>
            </p:cNvPr>
            <p:cNvSpPr>
              <a:spLocks noChangeShapeType="1"/>
            </p:cNvSpPr>
            <p:nvPr/>
          </p:nvSpPr>
          <p:spPr bwMode="auto">
            <a:xfrm>
              <a:off x="96" y="2508"/>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0" name="Line 68">
              <a:extLst>
                <a:ext uri="{FF2B5EF4-FFF2-40B4-BE49-F238E27FC236}">
                  <a16:creationId xmlns:a16="http://schemas.microsoft.com/office/drawing/2014/main" id="{564BC1AA-FB8F-4B87-866A-381551A8BB1B}"/>
                </a:ext>
              </a:extLst>
            </p:cNvPr>
            <p:cNvSpPr>
              <a:spLocks noChangeShapeType="1"/>
            </p:cNvSpPr>
            <p:nvPr/>
          </p:nvSpPr>
          <p:spPr bwMode="auto">
            <a:xfrm>
              <a:off x="2448" y="720"/>
              <a:ext cx="0" cy="312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1" name="Line 69">
              <a:extLst>
                <a:ext uri="{FF2B5EF4-FFF2-40B4-BE49-F238E27FC236}">
                  <a16:creationId xmlns:a16="http://schemas.microsoft.com/office/drawing/2014/main" id="{03DEFDE8-1EFA-44FE-8D91-8B5709E45ECF}"/>
                </a:ext>
              </a:extLst>
            </p:cNvPr>
            <p:cNvSpPr>
              <a:spLocks noChangeShapeType="1"/>
            </p:cNvSpPr>
            <p:nvPr/>
          </p:nvSpPr>
          <p:spPr bwMode="auto">
            <a:xfrm>
              <a:off x="1248" y="720"/>
              <a:ext cx="0" cy="312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2" name="Line 70">
              <a:extLst>
                <a:ext uri="{FF2B5EF4-FFF2-40B4-BE49-F238E27FC236}">
                  <a16:creationId xmlns:a16="http://schemas.microsoft.com/office/drawing/2014/main" id="{0F0DFC02-AB79-4644-9E9A-DE1178B6384B}"/>
                </a:ext>
              </a:extLst>
            </p:cNvPr>
            <p:cNvSpPr>
              <a:spLocks noChangeShapeType="1"/>
            </p:cNvSpPr>
            <p:nvPr/>
          </p:nvSpPr>
          <p:spPr bwMode="auto">
            <a:xfrm>
              <a:off x="96" y="3474"/>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33" name="Line 71">
              <a:extLst>
                <a:ext uri="{FF2B5EF4-FFF2-40B4-BE49-F238E27FC236}">
                  <a16:creationId xmlns:a16="http://schemas.microsoft.com/office/drawing/2014/main" id="{437B23AB-D2F9-4779-B82E-A181E163E669}"/>
                </a:ext>
              </a:extLst>
            </p:cNvPr>
            <p:cNvSpPr>
              <a:spLocks noChangeShapeType="1"/>
            </p:cNvSpPr>
            <p:nvPr/>
          </p:nvSpPr>
          <p:spPr bwMode="auto">
            <a:xfrm>
              <a:off x="96" y="1713"/>
              <a:ext cx="56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365" name="Line 72">
            <a:extLst>
              <a:ext uri="{FF2B5EF4-FFF2-40B4-BE49-F238E27FC236}">
                <a16:creationId xmlns:a16="http://schemas.microsoft.com/office/drawing/2014/main" id="{B01D7673-7992-41BC-BC6D-C41B5B567EF5}"/>
              </a:ext>
            </a:extLst>
          </p:cNvPr>
          <p:cNvSpPr>
            <a:spLocks noChangeShapeType="1"/>
          </p:cNvSpPr>
          <p:nvPr/>
        </p:nvSpPr>
        <p:spPr bwMode="auto">
          <a:xfrm>
            <a:off x="76200" y="1858963"/>
            <a:ext cx="8991600" cy="0"/>
          </a:xfrm>
          <a:prstGeom prst="line">
            <a:avLst/>
          </a:prstGeom>
          <a:noFill/>
          <a:ln w="28575">
            <a:solidFill>
              <a:schemeClr val="tx2"/>
            </a:solidFill>
            <a:round/>
            <a:headEnd/>
            <a:tailEnd type="none" w="sm" len="sm"/>
          </a:ln>
          <a:extLst>
            <a:ext uri="{909E8E84-426E-40DD-AFC4-6F175D3DCCD1}">
              <a14:hiddenFill xmlns:a14="http://schemas.microsoft.com/office/drawing/2010/main">
                <a:noFill/>
              </a14:hiddenFill>
            </a:ext>
          </a:extLst>
        </p:spPr>
        <p:txBody>
          <a:bodyPr wrap="none" lIns="45720" rIns="45720" anchor="ctr">
            <a:spAutoFit/>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6E90F5-011C-4752-968F-D92DE3D08445}"/>
              </a:ext>
            </a:extLst>
          </p:cNvPr>
          <p:cNvSpPr>
            <a:spLocks noGrp="1"/>
          </p:cNvSpPr>
          <p:nvPr>
            <p:ph type="title"/>
          </p:nvPr>
        </p:nvSpPr>
        <p:spPr/>
        <p:txBody>
          <a:bodyPr/>
          <a:lstStyle/>
          <a:p>
            <a:pPr>
              <a:defRPr/>
            </a:pPr>
            <a:r>
              <a:rPr lang="zh-CN" altLang="en-US"/>
              <a:t>高速缓存</a:t>
            </a:r>
            <a:r>
              <a:rPr lang="en-US" altLang="zh-CN"/>
              <a:t>Cache</a:t>
            </a:r>
            <a:endParaRPr lang="zh-CN" altLang="en-US"/>
          </a:p>
        </p:txBody>
      </p:sp>
      <p:sp>
        <p:nvSpPr>
          <p:cNvPr id="16387" name="内容占位符 2">
            <a:extLst>
              <a:ext uri="{FF2B5EF4-FFF2-40B4-BE49-F238E27FC236}">
                <a16:creationId xmlns:a16="http://schemas.microsoft.com/office/drawing/2014/main" id="{2222A69B-8117-4CF7-8026-95792BEDBCE7}"/>
              </a:ext>
            </a:extLst>
          </p:cNvPr>
          <p:cNvSpPr>
            <a:spLocks noGrp="1" noChangeArrowheads="1"/>
          </p:cNvSpPr>
          <p:nvPr>
            <p:ph idx="1"/>
          </p:nvPr>
        </p:nvSpPr>
        <p:spPr/>
        <p:txBody>
          <a:bodyPr/>
          <a:lstStyle/>
          <a:p>
            <a:r>
              <a:rPr lang="en-US" altLang="zh-CN" sz="2400"/>
              <a:t>Cache</a:t>
            </a:r>
            <a:r>
              <a:rPr lang="zh-CN" altLang="en-US" sz="2400"/>
              <a:t>是一个小而快速的存储设备，它作为存储在更大、也更慢的设备中的数据对象的缓存区域</a:t>
            </a:r>
            <a:endParaRPr lang="en-US" altLang="zh-CN" sz="2400"/>
          </a:p>
          <a:p>
            <a:r>
              <a:rPr lang="en-US" altLang="zh-CN" sz="2400"/>
              <a:t>Cache</a:t>
            </a:r>
            <a:r>
              <a:rPr lang="zh-CN" altLang="en-US" sz="2400"/>
              <a:t>通常采用高速</a:t>
            </a:r>
            <a:r>
              <a:rPr lang="en-US" altLang="zh-CN" sz="2400"/>
              <a:t>SRAM</a:t>
            </a:r>
            <a:r>
              <a:rPr lang="zh-CN" altLang="en-US" sz="2400"/>
              <a:t>来实现</a:t>
            </a:r>
            <a:endParaRPr lang="en-US" altLang="zh-CN" sz="2400"/>
          </a:p>
          <a:p>
            <a:r>
              <a:rPr lang="zh-CN" altLang="en-US" sz="2400"/>
              <a:t>利用局部性原理，在</a:t>
            </a:r>
            <a:r>
              <a:rPr lang="en-US" altLang="zh-CN" sz="2400"/>
              <a:t>Cache</a:t>
            </a:r>
            <a:r>
              <a:rPr lang="zh-CN" altLang="en-US" sz="2400"/>
              <a:t>中完成大多数访问，从而缩短平均访问时间</a:t>
            </a:r>
          </a:p>
          <a:p>
            <a:r>
              <a:rPr lang="en-US" altLang="zh-CN" sz="2400"/>
              <a:t>CPU</a:t>
            </a:r>
            <a:r>
              <a:rPr lang="zh-CN" altLang="en-US" sz="2400"/>
              <a:t>和主存之间的速度差很大通常采用两级或多级</a:t>
            </a:r>
            <a:r>
              <a:rPr lang="en-US" altLang="zh-CN" sz="2400"/>
              <a:t>Cache</a:t>
            </a:r>
            <a:r>
              <a:rPr lang="zh-CN" altLang="en-US" sz="2400"/>
              <a:t>系统</a:t>
            </a:r>
          </a:p>
          <a:p>
            <a:r>
              <a:rPr lang="zh-CN" altLang="en-US" sz="2400">
                <a:solidFill>
                  <a:srgbClr val="FF0000"/>
                </a:solidFill>
              </a:rPr>
              <a:t>全由硬件调度</a:t>
            </a:r>
            <a:r>
              <a:rPr lang="zh-CN" altLang="en-US" sz="2400"/>
              <a:t>，对用户透明</a:t>
            </a:r>
          </a:p>
          <a:p>
            <a:endParaRPr lang="zh-CN" altLang="en-US"/>
          </a:p>
        </p:txBody>
      </p:sp>
      <p:grpSp>
        <p:nvGrpSpPr>
          <p:cNvPr id="16389" name="组合 5">
            <a:extLst>
              <a:ext uri="{FF2B5EF4-FFF2-40B4-BE49-F238E27FC236}">
                <a16:creationId xmlns:a16="http://schemas.microsoft.com/office/drawing/2014/main" id="{0B400291-D2F4-4808-A20D-05A2E333B7E3}"/>
              </a:ext>
            </a:extLst>
          </p:cNvPr>
          <p:cNvGrpSpPr>
            <a:grpSpLocks/>
          </p:cNvGrpSpPr>
          <p:nvPr/>
        </p:nvGrpSpPr>
        <p:grpSpPr bwMode="auto">
          <a:xfrm>
            <a:off x="1858963" y="4267200"/>
            <a:ext cx="6904037" cy="2489200"/>
            <a:chOff x="1174448" y="3988385"/>
            <a:chExt cx="6902752" cy="2488615"/>
          </a:xfrm>
        </p:grpSpPr>
        <p:sp>
          <p:nvSpPr>
            <p:cNvPr id="7" name="Rectangle 223">
              <a:extLst>
                <a:ext uri="{FF2B5EF4-FFF2-40B4-BE49-F238E27FC236}">
                  <a16:creationId xmlns:a16="http://schemas.microsoft.com/office/drawing/2014/main" id="{B2DA2B56-6D21-4588-9689-634B8357EE77}"/>
                </a:ext>
              </a:extLst>
            </p:cNvPr>
            <p:cNvSpPr>
              <a:spLocks noChangeAspect="1" noChangeArrowheads="1"/>
            </p:cNvSpPr>
            <p:nvPr/>
          </p:nvSpPr>
          <p:spPr bwMode="auto">
            <a:xfrm>
              <a:off x="1196669" y="4280416"/>
              <a:ext cx="3380746" cy="2196584"/>
            </a:xfrm>
            <a:prstGeom prst="rect">
              <a:avLst/>
            </a:prstGeom>
            <a:solidFill>
              <a:srgbClr val="808080">
                <a:lumMod val="20000"/>
                <a:lumOff val="80000"/>
              </a:srgbClr>
            </a:solidFill>
            <a:ln w="12700" cap="rnd">
              <a:solidFill>
                <a:srgbClr val="000000"/>
              </a:solidFill>
              <a:prstDash val="solid"/>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8" name="Rectangle 146">
              <a:extLst>
                <a:ext uri="{FF2B5EF4-FFF2-40B4-BE49-F238E27FC236}">
                  <a16:creationId xmlns:a16="http://schemas.microsoft.com/office/drawing/2014/main" id="{E4FD7333-4970-4D50-914D-45191C2F7227}"/>
                </a:ext>
              </a:extLst>
            </p:cNvPr>
            <p:cNvSpPr>
              <a:spLocks noChangeAspect="1" noChangeArrowheads="1"/>
            </p:cNvSpPr>
            <p:nvPr/>
          </p:nvSpPr>
          <p:spPr bwMode="auto">
            <a:xfrm>
              <a:off x="7258202" y="5653282"/>
              <a:ext cx="818998" cy="823718"/>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Main</a:t>
              </a:r>
            </a:p>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memory</a:t>
              </a:r>
            </a:p>
          </p:txBody>
        </p:sp>
        <p:sp>
          <p:nvSpPr>
            <p:cNvPr id="9" name="AutoShape 201">
              <a:extLst>
                <a:ext uri="{FF2B5EF4-FFF2-40B4-BE49-F238E27FC236}">
                  <a16:creationId xmlns:a16="http://schemas.microsoft.com/office/drawing/2014/main" id="{AA4C20C4-4478-407B-B5F6-6A77EB8E2A88}"/>
                </a:ext>
              </a:extLst>
            </p:cNvPr>
            <p:cNvSpPr>
              <a:spLocks noChangeAspect="1" noChangeArrowheads="1"/>
            </p:cNvSpPr>
            <p:nvPr/>
          </p:nvSpPr>
          <p:spPr bwMode="auto">
            <a:xfrm>
              <a:off x="5885271" y="5789775"/>
              <a:ext cx="1344362" cy="480899"/>
            </a:xfrm>
            <a:prstGeom prst="leftRightArrow">
              <a:avLst>
                <a:gd name="adj1" fmla="val 50000"/>
                <a:gd name="adj2" fmla="val 55908"/>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0" name="Rectangle 202">
              <a:extLst>
                <a:ext uri="{FF2B5EF4-FFF2-40B4-BE49-F238E27FC236}">
                  <a16:creationId xmlns:a16="http://schemas.microsoft.com/office/drawing/2014/main" id="{69B07719-BCC7-4685-9DD1-9422EDDF95F4}"/>
                </a:ext>
              </a:extLst>
            </p:cNvPr>
            <p:cNvSpPr>
              <a:spLocks noChangeAspect="1" noChangeArrowheads="1"/>
            </p:cNvSpPr>
            <p:nvPr/>
          </p:nvSpPr>
          <p:spPr bwMode="auto">
            <a:xfrm>
              <a:off x="5061511" y="5818343"/>
              <a:ext cx="818998" cy="520578"/>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I/O</a:t>
              </a:r>
            </a:p>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bridge</a:t>
              </a:r>
            </a:p>
          </p:txBody>
        </p:sp>
        <p:sp>
          <p:nvSpPr>
            <p:cNvPr id="11" name="Rectangle 206">
              <a:extLst>
                <a:ext uri="{FF2B5EF4-FFF2-40B4-BE49-F238E27FC236}">
                  <a16:creationId xmlns:a16="http://schemas.microsoft.com/office/drawing/2014/main" id="{97A9CBD3-5E46-4D93-AA37-87A9EA935C24}"/>
                </a:ext>
              </a:extLst>
            </p:cNvPr>
            <p:cNvSpPr>
              <a:spLocks noChangeAspect="1" noChangeArrowheads="1"/>
            </p:cNvSpPr>
            <p:nvPr/>
          </p:nvSpPr>
          <p:spPr bwMode="auto">
            <a:xfrm>
              <a:off x="1349040" y="5818343"/>
              <a:ext cx="2374458" cy="520578"/>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Bus interface</a:t>
              </a:r>
            </a:p>
          </p:txBody>
        </p:sp>
        <p:sp>
          <p:nvSpPr>
            <p:cNvPr id="12" name="Rectangle 207">
              <a:extLst>
                <a:ext uri="{FF2B5EF4-FFF2-40B4-BE49-F238E27FC236}">
                  <a16:creationId xmlns:a16="http://schemas.microsoft.com/office/drawing/2014/main" id="{ED8B384E-F8F1-4C2F-98E7-2A12694C0E5C}"/>
                </a:ext>
              </a:extLst>
            </p:cNvPr>
            <p:cNvSpPr>
              <a:spLocks noChangeAspect="1" noChangeArrowheads="1"/>
            </p:cNvSpPr>
            <p:nvPr/>
          </p:nvSpPr>
          <p:spPr bwMode="auto">
            <a:xfrm>
              <a:off x="2861646" y="4623236"/>
              <a:ext cx="615835" cy="138081"/>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3" name="Rectangle 208">
              <a:extLst>
                <a:ext uri="{FF2B5EF4-FFF2-40B4-BE49-F238E27FC236}">
                  <a16:creationId xmlns:a16="http://schemas.microsoft.com/office/drawing/2014/main" id="{531D79EE-D4B4-47F6-92F1-9DDFCFA09A8B}"/>
                </a:ext>
              </a:extLst>
            </p:cNvPr>
            <p:cNvSpPr>
              <a:spLocks noChangeAspect="1" noChangeArrowheads="1"/>
            </p:cNvSpPr>
            <p:nvPr/>
          </p:nvSpPr>
          <p:spPr bwMode="auto">
            <a:xfrm>
              <a:off x="2861646" y="4761316"/>
              <a:ext cx="615835" cy="136493"/>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4" name="Rectangle 210">
              <a:extLst>
                <a:ext uri="{FF2B5EF4-FFF2-40B4-BE49-F238E27FC236}">
                  <a16:creationId xmlns:a16="http://schemas.microsoft.com/office/drawing/2014/main" id="{E6F860A6-ED74-437D-A728-028C1AD3BAC0}"/>
                </a:ext>
              </a:extLst>
            </p:cNvPr>
            <p:cNvSpPr>
              <a:spLocks noChangeAspect="1" noChangeArrowheads="1"/>
            </p:cNvSpPr>
            <p:nvPr/>
          </p:nvSpPr>
          <p:spPr bwMode="auto">
            <a:xfrm>
              <a:off x="2861646" y="4897809"/>
              <a:ext cx="615835" cy="138080"/>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5" name="Rectangle 211">
              <a:extLst>
                <a:ext uri="{FF2B5EF4-FFF2-40B4-BE49-F238E27FC236}">
                  <a16:creationId xmlns:a16="http://schemas.microsoft.com/office/drawing/2014/main" id="{155E5A3E-FC0C-4203-A1DB-77FAAEE2BE69}"/>
                </a:ext>
              </a:extLst>
            </p:cNvPr>
            <p:cNvSpPr>
              <a:spLocks noChangeAspect="1" noChangeArrowheads="1"/>
            </p:cNvSpPr>
            <p:nvPr/>
          </p:nvSpPr>
          <p:spPr bwMode="auto">
            <a:xfrm>
              <a:off x="2861646" y="5035889"/>
              <a:ext cx="615835" cy="136493"/>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6" name="Rectangle 212">
              <a:extLst>
                <a:ext uri="{FF2B5EF4-FFF2-40B4-BE49-F238E27FC236}">
                  <a16:creationId xmlns:a16="http://schemas.microsoft.com/office/drawing/2014/main" id="{1B7C5E8D-BB91-43AF-9116-5AF3EA9A986E}"/>
                </a:ext>
              </a:extLst>
            </p:cNvPr>
            <p:cNvSpPr>
              <a:spLocks noChangeAspect="1" noChangeArrowheads="1"/>
            </p:cNvSpPr>
            <p:nvPr/>
          </p:nvSpPr>
          <p:spPr bwMode="auto">
            <a:xfrm>
              <a:off x="2861646" y="5172382"/>
              <a:ext cx="615835" cy="138081"/>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7" name="AutoShape 214">
              <a:extLst>
                <a:ext uri="{FF2B5EF4-FFF2-40B4-BE49-F238E27FC236}">
                  <a16:creationId xmlns:a16="http://schemas.microsoft.com/office/drawing/2014/main" id="{D8565AA6-7120-41AD-A81D-7E999AE9DD08}"/>
                </a:ext>
              </a:extLst>
            </p:cNvPr>
            <p:cNvSpPr>
              <a:spLocks noChangeAspect="1" noChangeArrowheads="1"/>
            </p:cNvSpPr>
            <p:nvPr/>
          </p:nvSpPr>
          <p:spPr bwMode="auto">
            <a:xfrm>
              <a:off x="3558429" y="4623236"/>
              <a:ext cx="401562" cy="342819"/>
            </a:xfrm>
            <a:prstGeom prst="rightArrow">
              <a:avLst>
                <a:gd name="adj1" fmla="val 50000"/>
                <a:gd name="adj2" fmla="val 29167"/>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8" name="AutoShape 215">
              <a:extLst>
                <a:ext uri="{FF2B5EF4-FFF2-40B4-BE49-F238E27FC236}">
                  <a16:creationId xmlns:a16="http://schemas.microsoft.com/office/drawing/2014/main" id="{E4170740-540A-42EA-8ED9-38E2B841534D}"/>
                </a:ext>
              </a:extLst>
            </p:cNvPr>
            <p:cNvSpPr>
              <a:spLocks noChangeAspect="1" noChangeArrowheads="1"/>
            </p:cNvSpPr>
            <p:nvPr/>
          </p:nvSpPr>
          <p:spPr bwMode="auto">
            <a:xfrm flipH="1">
              <a:off x="3477481" y="4966055"/>
              <a:ext cx="401563" cy="344407"/>
            </a:xfrm>
            <a:prstGeom prst="rightArrow">
              <a:avLst>
                <a:gd name="adj1" fmla="val 50000"/>
                <a:gd name="adj2" fmla="val 29032"/>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19" name="Rectangle 220">
              <a:extLst>
                <a:ext uri="{FF2B5EF4-FFF2-40B4-BE49-F238E27FC236}">
                  <a16:creationId xmlns:a16="http://schemas.microsoft.com/office/drawing/2014/main" id="{C9BAB79B-5268-4E38-9025-778722B6DBD2}"/>
                </a:ext>
              </a:extLst>
            </p:cNvPr>
            <p:cNvSpPr>
              <a:spLocks noChangeAspect="1" noChangeArrowheads="1"/>
            </p:cNvSpPr>
            <p:nvPr/>
          </p:nvSpPr>
          <p:spPr bwMode="auto">
            <a:xfrm>
              <a:off x="3959991" y="4486743"/>
              <a:ext cx="479336" cy="960212"/>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ALU</a:t>
              </a:r>
            </a:p>
          </p:txBody>
        </p:sp>
        <p:sp>
          <p:nvSpPr>
            <p:cNvPr id="20" name="Text Box 221">
              <a:extLst>
                <a:ext uri="{FF2B5EF4-FFF2-40B4-BE49-F238E27FC236}">
                  <a16:creationId xmlns:a16="http://schemas.microsoft.com/office/drawing/2014/main" id="{0F86EEEE-88B8-4037-93D6-67B9FDA8D9D3}"/>
                </a:ext>
              </a:extLst>
            </p:cNvPr>
            <p:cNvSpPr txBox="1">
              <a:spLocks noChangeAspect="1" noChangeArrowheads="1"/>
            </p:cNvSpPr>
            <p:nvPr/>
          </p:nvSpPr>
          <p:spPr bwMode="auto">
            <a:xfrm>
              <a:off x="2594996" y="4316921"/>
              <a:ext cx="1184055" cy="338058"/>
            </a:xfrm>
            <a:prstGeom prst="rect">
              <a:avLst/>
            </a:prstGeom>
            <a:noFill/>
            <a:ln w="12700">
              <a:noFill/>
              <a:miter lim="800000"/>
              <a:headEnd/>
              <a:tailEnd/>
            </a:ln>
            <a:effectLst/>
          </p:spPr>
          <p:txBody>
            <a:bodyPr wrap="none" anchor="ctr">
              <a:spAutoFit/>
            </a:bodyPr>
            <a:lstStyle/>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Register file</a:t>
              </a:r>
            </a:p>
          </p:txBody>
        </p:sp>
        <p:sp>
          <p:nvSpPr>
            <p:cNvPr id="21" name="AutoShape 222">
              <a:extLst>
                <a:ext uri="{FF2B5EF4-FFF2-40B4-BE49-F238E27FC236}">
                  <a16:creationId xmlns:a16="http://schemas.microsoft.com/office/drawing/2014/main" id="{F5B0697D-939E-40B1-BFA0-DE1819F4DC4C}"/>
                </a:ext>
              </a:extLst>
            </p:cNvPr>
            <p:cNvSpPr>
              <a:spLocks noChangeAspect="1" noChangeArrowheads="1"/>
            </p:cNvSpPr>
            <p:nvPr/>
          </p:nvSpPr>
          <p:spPr bwMode="auto">
            <a:xfrm>
              <a:off x="2928309" y="5378708"/>
              <a:ext cx="549173" cy="411066"/>
            </a:xfrm>
            <a:prstGeom prst="upDownArrow">
              <a:avLst>
                <a:gd name="adj1" fmla="val 50000"/>
                <a:gd name="adj2" fmla="val 20000"/>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22" name="Text Box 225">
              <a:extLst>
                <a:ext uri="{FF2B5EF4-FFF2-40B4-BE49-F238E27FC236}">
                  <a16:creationId xmlns:a16="http://schemas.microsoft.com/office/drawing/2014/main" id="{7FABA2D7-4D07-4E15-8210-A8ECC09F313A}"/>
                </a:ext>
              </a:extLst>
            </p:cNvPr>
            <p:cNvSpPr txBox="1">
              <a:spLocks noChangeAspect="1" noChangeArrowheads="1"/>
            </p:cNvSpPr>
            <p:nvPr/>
          </p:nvSpPr>
          <p:spPr bwMode="auto">
            <a:xfrm>
              <a:off x="1174448" y="3988385"/>
              <a:ext cx="931689" cy="338059"/>
            </a:xfrm>
            <a:prstGeom prst="rect">
              <a:avLst/>
            </a:prstGeom>
            <a:noFill/>
            <a:ln w="12700">
              <a:noFill/>
              <a:miter lim="800000"/>
              <a:headEnd/>
              <a:tailEnd/>
            </a:ln>
            <a:effectLst/>
          </p:spPr>
          <p:txBody>
            <a:bodyPr wrap="none" anchor="ctr">
              <a:spAutoFit/>
            </a:bodyPr>
            <a:lstStyle/>
            <a:p>
              <a:pPr algn="ctr" eaLnBrk="1" fontAlgn="auto" hangingPunct="1">
                <a:spcBef>
                  <a:spcPts val="0"/>
                </a:spcBef>
                <a:spcAft>
                  <a:spcPts val="0"/>
                </a:spcAft>
                <a:defRPr/>
              </a:pPr>
              <a:r>
                <a:rPr kumimoji="0" lang="en-US" sz="1600" b="1" kern="0" dirty="0">
                  <a:solidFill>
                    <a:srgbClr val="000000"/>
                  </a:solidFill>
                  <a:latin typeface="Calibri" panose="020F0502020204030204" pitchFamily="34" charset="0"/>
                  <a:ea typeface="+mn-ea"/>
                </a:rPr>
                <a:t>CPU chip</a:t>
              </a:r>
            </a:p>
          </p:txBody>
        </p:sp>
        <p:sp>
          <p:nvSpPr>
            <p:cNvPr id="23" name="Text Box 229">
              <a:extLst>
                <a:ext uri="{FF2B5EF4-FFF2-40B4-BE49-F238E27FC236}">
                  <a16:creationId xmlns:a16="http://schemas.microsoft.com/office/drawing/2014/main" id="{49205899-462B-40E7-B7EC-F304B88F3D52}"/>
                </a:ext>
              </a:extLst>
            </p:cNvPr>
            <p:cNvSpPr txBox="1">
              <a:spLocks noChangeAspect="1" noChangeArrowheads="1"/>
            </p:cNvSpPr>
            <p:nvPr/>
          </p:nvSpPr>
          <p:spPr bwMode="auto">
            <a:xfrm>
              <a:off x="4650426" y="5154924"/>
              <a:ext cx="1142787" cy="338058"/>
            </a:xfrm>
            <a:prstGeom prst="rect">
              <a:avLst/>
            </a:prstGeom>
            <a:noFill/>
            <a:ln w="12700">
              <a:noFill/>
              <a:miter lim="800000"/>
              <a:headEnd/>
              <a:tailEnd/>
            </a:ln>
            <a:effectLst/>
          </p:spPr>
          <p:txBody>
            <a:bodyPr wrap="none" anchor="ctr">
              <a:spAutoFit/>
            </a:bodyPr>
            <a:lstStyle/>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System bus</a:t>
              </a:r>
            </a:p>
          </p:txBody>
        </p:sp>
        <p:sp>
          <p:nvSpPr>
            <p:cNvPr id="24" name="Line 230">
              <a:extLst>
                <a:ext uri="{FF2B5EF4-FFF2-40B4-BE49-F238E27FC236}">
                  <a16:creationId xmlns:a16="http://schemas.microsoft.com/office/drawing/2014/main" id="{EB7002FA-BAE4-4724-9A1A-F7A3700ABC57}"/>
                </a:ext>
              </a:extLst>
            </p:cNvPr>
            <p:cNvSpPr>
              <a:spLocks noChangeAspect="1" noChangeShapeType="1"/>
            </p:cNvSpPr>
            <p:nvPr/>
          </p:nvSpPr>
          <p:spPr bwMode="auto">
            <a:xfrm flipH="1">
              <a:off x="4439327" y="5446955"/>
              <a:ext cx="619010" cy="412653"/>
            </a:xfrm>
            <a:prstGeom prst="line">
              <a:avLst/>
            </a:prstGeom>
            <a:noFill/>
            <a:ln w="12700">
              <a:solidFill>
                <a:srgbClr val="000000"/>
              </a:solidFill>
              <a:round/>
              <a:headEn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25" name="Text Box 231">
              <a:extLst>
                <a:ext uri="{FF2B5EF4-FFF2-40B4-BE49-F238E27FC236}">
                  <a16:creationId xmlns:a16="http://schemas.microsoft.com/office/drawing/2014/main" id="{84150B01-0B54-4DEA-8EFC-DE58CEAFD677}"/>
                </a:ext>
              </a:extLst>
            </p:cNvPr>
            <p:cNvSpPr txBox="1">
              <a:spLocks noChangeAspect="1" noChangeArrowheads="1"/>
            </p:cNvSpPr>
            <p:nvPr/>
          </p:nvSpPr>
          <p:spPr bwMode="auto">
            <a:xfrm>
              <a:off x="5931299" y="5154924"/>
              <a:ext cx="1266589" cy="338058"/>
            </a:xfrm>
            <a:prstGeom prst="rect">
              <a:avLst/>
            </a:prstGeom>
            <a:noFill/>
            <a:ln w="12700">
              <a:noFill/>
              <a:miter lim="800000"/>
              <a:headEnd/>
              <a:tailEnd/>
            </a:ln>
            <a:effectLst/>
          </p:spPr>
          <p:txBody>
            <a:bodyPr wrap="none" anchor="ctr">
              <a:spAutoFit/>
            </a:bodyPr>
            <a:lstStyle/>
            <a:p>
              <a:pPr algn="ctr" eaLnBrk="1" fontAlgn="auto" hangingPunct="1">
                <a:spcBef>
                  <a:spcPts val="0"/>
                </a:spcBef>
                <a:spcAft>
                  <a:spcPts val="0"/>
                </a:spcAft>
                <a:defRPr/>
              </a:pPr>
              <a:r>
                <a:rPr kumimoji="0" lang="en-US" sz="1600" b="1" kern="0">
                  <a:solidFill>
                    <a:srgbClr val="000000"/>
                  </a:solidFill>
                  <a:latin typeface="Calibri" panose="020F0502020204030204" pitchFamily="34" charset="0"/>
                  <a:ea typeface="+mn-ea"/>
                </a:rPr>
                <a:t>Memory bus</a:t>
              </a:r>
            </a:p>
          </p:txBody>
        </p:sp>
        <p:sp>
          <p:nvSpPr>
            <p:cNvPr id="26" name="Line 232">
              <a:extLst>
                <a:ext uri="{FF2B5EF4-FFF2-40B4-BE49-F238E27FC236}">
                  <a16:creationId xmlns:a16="http://schemas.microsoft.com/office/drawing/2014/main" id="{CA83ACB4-1960-4373-9B1F-1E9E39CF2330}"/>
                </a:ext>
              </a:extLst>
            </p:cNvPr>
            <p:cNvSpPr>
              <a:spLocks noChangeAspect="1" noChangeShapeType="1"/>
            </p:cNvSpPr>
            <p:nvPr/>
          </p:nvSpPr>
          <p:spPr bwMode="auto">
            <a:xfrm>
              <a:off x="6531263" y="5446955"/>
              <a:ext cx="0" cy="412653"/>
            </a:xfrm>
            <a:prstGeom prst="line">
              <a:avLst/>
            </a:prstGeom>
            <a:noFill/>
            <a:ln w="12700">
              <a:solidFill>
                <a:srgbClr val="000000"/>
              </a:solidFill>
              <a:round/>
              <a:headEn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27" name="Rectangle 233">
              <a:extLst>
                <a:ext uri="{FF2B5EF4-FFF2-40B4-BE49-F238E27FC236}">
                  <a16:creationId xmlns:a16="http://schemas.microsoft.com/office/drawing/2014/main" id="{A73923B0-1823-4AD5-A665-6629D8B466E9}"/>
                </a:ext>
              </a:extLst>
            </p:cNvPr>
            <p:cNvSpPr>
              <a:spLocks noChangeAspect="1" noChangeArrowheads="1"/>
            </p:cNvSpPr>
            <p:nvPr/>
          </p:nvSpPr>
          <p:spPr bwMode="auto">
            <a:xfrm>
              <a:off x="1349040" y="4720051"/>
              <a:ext cx="1066601" cy="520578"/>
            </a:xfrm>
            <a:prstGeom prst="rect">
              <a:avLst/>
            </a:prstGeom>
            <a:solidFill>
              <a:srgbClr val="F1C7C7"/>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dirty="0">
                  <a:solidFill>
                    <a:srgbClr val="000000"/>
                  </a:solidFill>
                  <a:latin typeface="Calibri" panose="020F0502020204030204" pitchFamily="34" charset="0"/>
                  <a:ea typeface="+mn-ea"/>
                </a:rPr>
                <a:t>Cache </a:t>
              </a:r>
            </a:p>
            <a:p>
              <a:pPr algn="ctr" eaLnBrk="1" fontAlgn="auto" hangingPunct="1">
                <a:spcBef>
                  <a:spcPts val="0"/>
                </a:spcBef>
                <a:spcAft>
                  <a:spcPts val="0"/>
                </a:spcAft>
                <a:defRPr/>
              </a:pPr>
              <a:r>
                <a:rPr kumimoji="0" lang="en-US" sz="1600" b="1" kern="0" dirty="0">
                  <a:solidFill>
                    <a:srgbClr val="000000"/>
                  </a:solidFill>
                  <a:latin typeface="Calibri" panose="020F0502020204030204" pitchFamily="34" charset="0"/>
                  <a:ea typeface="+mn-ea"/>
                </a:rPr>
                <a:t>memory</a:t>
              </a:r>
            </a:p>
          </p:txBody>
        </p:sp>
        <p:sp>
          <p:nvSpPr>
            <p:cNvPr id="28" name="AutoShape 234">
              <a:extLst>
                <a:ext uri="{FF2B5EF4-FFF2-40B4-BE49-F238E27FC236}">
                  <a16:creationId xmlns:a16="http://schemas.microsoft.com/office/drawing/2014/main" id="{2A6FCCE4-7FC0-4AF5-A119-F4695D919D48}"/>
                </a:ext>
              </a:extLst>
            </p:cNvPr>
            <p:cNvSpPr>
              <a:spLocks noChangeAspect="1" noChangeArrowheads="1"/>
            </p:cNvSpPr>
            <p:nvPr/>
          </p:nvSpPr>
          <p:spPr bwMode="auto">
            <a:xfrm>
              <a:off x="1577598" y="5240629"/>
              <a:ext cx="549173" cy="549146"/>
            </a:xfrm>
            <a:prstGeom prst="upDownArrow">
              <a:avLst>
                <a:gd name="adj1" fmla="val 50000"/>
                <a:gd name="adj2" fmla="val 20000"/>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29" name="AutoShape 236">
              <a:extLst>
                <a:ext uri="{FF2B5EF4-FFF2-40B4-BE49-F238E27FC236}">
                  <a16:creationId xmlns:a16="http://schemas.microsoft.com/office/drawing/2014/main" id="{E1BB1412-0C10-4B19-8B18-2772200E4634}"/>
                </a:ext>
              </a:extLst>
            </p:cNvPr>
            <p:cNvSpPr>
              <a:spLocks noChangeAspect="1" noChangeArrowheads="1"/>
            </p:cNvSpPr>
            <p:nvPr/>
          </p:nvSpPr>
          <p:spPr bwMode="auto">
            <a:xfrm flipH="1">
              <a:off x="2441037" y="4767665"/>
              <a:ext cx="399976" cy="344406"/>
            </a:xfrm>
            <a:prstGeom prst="leftRightArrow">
              <a:avLst>
                <a:gd name="adj1" fmla="val 50000"/>
                <a:gd name="adj2" fmla="val 23226"/>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sp>
          <p:nvSpPr>
            <p:cNvPr id="30" name="AutoShape 205">
              <a:extLst>
                <a:ext uri="{FF2B5EF4-FFF2-40B4-BE49-F238E27FC236}">
                  <a16:creationId xmlns:a16="http://schemas.microsoft.com/office/drawing/2014/main" id="{E1EEB21E-2801-4000-9725-FC2F88238B77}"/>
                </a:ext>
              </a:extLst>
            </p:cNvPr>
            <p:cNvSpPr>
              <a:spLocks noChangeAspect="1" noChangeArrowheads="1"/>
            </p:cNvSpPr>
            <p:nvPr/>
          </p:nvSpPr>
          <p:spPr bwMode="auto">
            <a:xfrm>
              <a:off x="3747306" y="5789775"/>
              <a:ext cx="1311031" cy="480899"/>
            </a:xfrm>
            <a:prstGeom prst="leftRightArrow">
              <a:avLst>
                <a:gd name="adj1" fmla="val 50000"/>
                <a:gd name="adj2" fmla="val 54455"/>
              </a:avLst>
            </a:prstGeom>
            <a:solidFill>
              <a:srgbClr val="FFFFFF"/>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panose="020F0502020204030204" pitchFamily="34" charset="0"/>
                <a:ea typeface="+mn-ea"/>
              </a:endParaRPr>
            </a:p>
          </p:txBody>
        </p:sp>
      </p:grpSp>
    </p:spTree>
  </p:cSld>
  <p:clrMapOvr>
    <a:masterClrMapping/>
  </p:clrMapOvr>
  <p:transition spd="med">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0104E3-B206-4864-A151-C8CA9D87B18C}"/>
              </a:ext>
            </a:extLst>
          </p:cNvPr>
          <p:cNvSpPr>
            <a:spLocks noGrp="1"/>
          </p:cNvSpPr>
          <p:nvPr>
            <p:ph type="title"/>
          </p:nvPr>
        </p:nvSpPr>
        <p:spPr/>
        <p:txBody>
          <a:bodyPr/>
          <a:lstStyle/>
          <a:p>
            <a:pPr>
              <a:defRPr/>
            </a:pPr>
            <a:r>
              <a:rPr lang="en-US" altLang="zh-CN" dirty="0"/>
              <a:t>Intel Sandy Bridge Processor Die</a:t>
            </a:r>
            <a:endParaRPr lang="zh-CN" altLang="en-US" dirty="0"/>
          </a:p>
        </p:txBody>
      </p:sp>
      <p:sp>
        <p:nvSpPr>
          <p:cNvPr id="18435" name="内容占位符 2">
            <a:extLst>
              <a:ext uri="{FF2B5EF4-FFF2-40B4-BE49-F238E27FC236}">
                <a16:creationId xmlns:a16="http://schemas.microsoft.com/office/drawing/2014/main" id="{36DC120B-56B3-46BA-A15F-F5CB2AB0C12F}"/>
              </a:ext>
            </a:extLst>
          </p:cNvPr>
          <p:cNvSpPr>
            <a:spLocks noGrp="1" noChangeArrowheads="1"/>
          </p:cNvSpPr>
          <p:nvPr>
            <p:ph idx="1"/>
          </p:nvPr>
        </p:nvSpPr>
        <p:spPr/>
        <p:txBody>
          <a:bodyPr/>
          <a:lstStyle/>
          <a:p>
            <a:endParaRPr lang="zh-CN" altLang="en-US"/>
          </a:p>
        </p:txBody>
      </p:sp>
      <p:pic>
        <p:nvPicPr>
          <p:cNvPr id="18437" name="Picture 1">
            <a:extLst>
              <a:ext uri="{FF2B5EF4-FFF2-40B4-BE49-F238E27FC236}">
                <a16:creationId xmlns:a16="http://schemas.microsoft.com/office/drawing/2014/main" id="{A137EA75-33EA-4DB5-BDC1-7B4F1BAF937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1108256"/>
            <a:ext cx="5145088" cy="51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4">
            <a:extLst>
              <a:ext uri="{FF2B5EF4-FFF2-40B4-BE49-F238E27FC236}">
                <a16:creationId xmlns:a16="http://schemas.microsoft.com/office/drawing/2014/main" id="{7D805214-9D5A-44F7-B40D-7223EEC5D0E9}"/>
              </a:ext>
            </a:extLst>
          </p:cNvPr>
          <p:cNvSpPr txBox="1"/>
          <p:nvPr/>
        </p:nvSpPr>
        <p:spPr>
          <a:xfrm>
            <a:off x="5929313" y="3135313"/>
            <a:ext cx="2963862" cy="1076325"/>
          </a:xfrm>
          <a:prstGeom prst="rect">
            <a:avLst/>
          </a:prstGeom>
          <a:noFill/>
        </p:spPr>
        <p:txBody>
          <a:bodyPr wrap="none">
            <a:spAutoFit/>
          </a:bodyPr>
          <a:lstStyle/>
          <a:p>
            <a:pPr algn="l">
              <a:defRPr/>
            </a:pPr>
            <a:r>
              <a:rPr kumimoji="0" lang="en-US" sz="1600" b="1" dirty="0">
                <a:solidFill>
                  <a:srgbClr val="000000"/>
                </a:solidFill>
                <a:latin typeface="Calibri" pitchFamily="34" charset="0"/>
                <a:ea typeface="+mn-ea"/>
              </a:rPr>
              <a:t>8 </a:t>
            </a:r>
            <a:r>
              <a:rPr kumimoji="0" lang="en-US" altLang="zh-CN" sz="1600" b="1" dirty="0">
                <a:solidFill>
                  <a:srgbClr val="000000"/>
                </a:solidFill>
                <a:latin typeface="Calibri" pitchFamily="34" charset="0"/>
                <a:ea typeface="+mn-ea"/>
              </a:rPr>
              <a:t>cores</a:t>
            </a:r>
            <a:endParaRPr kumimoji="0" lang="en-US" sz="1600" b="1" dirty="0">
              <a:solidFill>
                <a:srgbClr val="000000"/>
              </a:solidFill>
              <a:latin typeface="Calibri" pitchFamily="34" charset="0"/>
              <a:ea typeface="+mn-ea"/>
            </a:endParaRPr>
          </a:p>
          <a:p>
            <a:pPr algn="l">
              <a:defRPr/>
            </a:pPr>
            <a:r>
              <a:rPr kumimoji="0" lang="en-US" sz="1600" b="1" dirty="0">
                <a:solidFill>
                  <a:srgbClr val="000000"/>
                </a:solidFill>
                <a:latin typeface="Calibri" pitchFamily="34" charset="0"/>
                <a:ea typeface="+mn-ea"/>
              </a:rPr>
              <a:t>L1: 32KB Instruction + 32KB Data</a:t>
            </a:r>
          </a:p>
          <a:p>
            <a:pPr algn="l">
              <a:defRPr/>
            </a:pPr>
            <a:r>
              <a:rPr kumimoji="0" lang="en-US" sz="1600" b="1" dirty="0">
                <a:solidFill>
                  <a:srgbClr val="000000"/>
                </a:solidFill>
                <a:latin typeface="Calibri" pitchFamily="34" charset="0"/>
                <a:ea typeface="+mn-ea"/>
              </a:rPr>
              <a:t>L2: 256KB</a:t>
            </a:r>
          </a:p>
          <a:p>
            <a:pPr algn="l">
              <a:defRPr/>
            </a:pPr>
            <a:r>
              <a:rPr kumimoji="0" lang="en-US" sz="1600" b="1" dirty="0">
                <a:solidFill>
                  <a:srgbClr val="000000"/>
                </a:solidFill>
                <a:latin typeface="Calibri" pitchFamily="34" charset="0"/>
                <a:ea typeface="+mn-ea"/>
              </a:rPr>
              <a:t>L3: 3–20MB</a:t>
            </a:r>
          </a:p>
        </p:txBody>
      </p:sp>
      <p:sp>
        <p:nvSpPr>
          <p:cNvPr id="18439" name="矩形 7">
            <a:extLst>
              <a:ext uri="{FF2B5EF4-FFF2-40B4-BE49-F238E27FC236}">
                <a16:creationId xmlns:a16="http://schemas.microsoft.com/office/drawing/2014/main" id="{B4C63A79-F05A-4D7A-9CAC-78A3888B0F48}"/>
              </a:ext>
            </a:extLst>
          </p:cNvPr>
          <p:cNvSpPr>
            <a:spLocks noChangeArrowheads="1"/>
          </p:cNvSpPr>
          <p:nvPr/>
        </p:nvSpPr>
        <p:spPr bwMode="auto">
          <a:xfrm>
            <a:off x="1835150" y="1828799"/>
            <a:ext cx="2232025" cy="3352801"/>
          </a:xfrm>
          <a:prstGeom prst="rect">
            <a:avLst/>
          </a:prstGeom>
          <a:noFill/>
          <a:ln w="254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a:extLst>
              <a:ext uri="{FF2B5EF4-FFF2-40B4-BE49-F238E27FC236}">
                <a16:creationId xmlns:a16="http://schemas.microsoft.com/office/drawing/2014/main" id="{069393B0-21C7-4D3E-A77E-79DBB760FBC4}"/>
              </a:ext>
            </a:extLst>
          </p:cNvPr>
          <p:cNvSpPr>
            <a:spLocks noGrp="1" noChangeArrowheads="1"/>
          </p:cNvSpPr>
          <p:nvPr>
            <p:ph type="title"/>
          </p:nvPr>
        </p:nvSpPr>
        <p:spPr>
          <a:xfrm>
            <a:off x="160337" y="238125"/>
            <a:ext cx="8683625" cy="711200"/>
          </a:xfrm>
        </p:spPr>
        <p:txBody>
          <a:bodyPr/>
          <a:lstStyle/>
          <a:p>
            <a:pPr eaLnBrk="1" hangingPunct="1">
              <a:defRPr/>
            </a:pPr>
            <a:r>
              <a:rPr lang="en-US" altLang="zh-CN" dirty="0">
                <a:latin typeface="黑体" pitchFamily="2" charset="-122"/>
              </a:rPr>
              <a:t>Cache</a:t>
            </a:r>
            <a:r>
              <a:rPr lang="zh-CN" altLang="en-US" dirty="0">
                <a:latin typeface="黑体" pitchFamily="2" charset="-122"/>
              </a:rPr>
              <a:t>基本原理（</a:t>
            </a:r>
            <a:r>
              <a:rPr lang="en-US" altLang="zh-CN" dirty="0">
                <a:latin typeface="黑体" pitchFamily="2" charset="-122"/>
              </a:rPr>
              <a:t>1</a:t>
            </a:r>
            <a:r>
              <a:rPr lang="zh-CN" altLang="en-US" dirty="0">
                <a:latin typeface="黑体" pitchFamily="2" charset="-122"/>
              </a:rPr>
              <a:t>）</a:t>
            </a:r>
          </a:p>
        </p:txBody>
      </p:sp>
      <p:sp>
        <p:nvSpPr>
          <p:cNvPr id="20484" name="Rectangle 3">
            <a:extLst>
              <a:ext uri="{FF2B5EF4-FFF2-40B4-BE49-F238E27FC236}">
                <a16:creationId xmlns:a16="http://schemas.microsoft.com/office/drawing/2014/main" id="{CEB1EAFB-29FF-4575-A68A-E5E05FFD3AC8}"/>
              </a:ext>
            </a:extLst>
          </p:cNvPr>
          <p:cNvSpPr>
            <a:spLocks noChangeArrowheads="1"/>
          </p:cNvSpPr>
          <p:nvPr/>
        </p:nvSpPr>
        <p:spPr bwMode="auto">
          <a:xfrm>
            <a:off x="1111250" y="3429000"/>
            <a:ext cx="4267200" cy="2286000"/>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85" name="Rectangle 4">
            <a:extLst>
              <a:ext uri="{FF2B5EF4-FFF2-40B4-BE49-F238E27FC236}">
                <a16:creationId xmlns:a16="http://schemas.microsoft.com/office/drawing/2014/main" id="{0D159B5D-C256-4565-A578-C26330367E47}"/>
              </a:ext>
            </a:extLst>
          </p:cNvPr>
          <p:cNvSpPr>
            <a:spLocks noChangeArrowheads="1"/>
          </p:cNvSpPr>
          <p:nvPr/>
        </p:nvSpPr>
        <p:spPr bwMode="auto">
          <a:xfrm>
            <a:off x="1644650" y="37338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0</a:t>
            </a:r>
          </a:p>
        </p:txBody>
      </p:sp>
      <p:sp>
        <p:nvSpPr>
          <p:cNvPr id="20486" name="Rectangle 5">
            <a:extLst>
              <a:ext uri="{FF2B5EF4-FFF2-40B4-BE49-F238E27FC236}">
                <a16:creationId xmlns:a16="http://schemas.microsoft.com/office/drawing/2014/main" id="{B315EE1B-45DE-4E43-910E-34A3341FFE20}"/>
              </a:ext>
            </a:extLst>
          </p:cNvPr>
          <p:cNvSpPr>
            <a:spLocks noChangeArrowheads="1"/>
          </p:cNvSpPr>
          <p:nvPr/>
        </p:nvSpPr>
        <p:spPr bwMode="auto">
          <a:xfrm>
            <a:off x="2482850" y="37338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a:t>
            </a:r>
          </a:p>
        </p:txBody>
      </p:sp>
      <p:sp>
        <p:nvSpPr>
          <p:cNvPr id="20487" name="Rectangle 6">
            <a:extLst>
              <a:ext uri="{FF2B5EF4-FFF2-40B4-BE49-F238E27FC236}">
                <a16:creationId xmlns:a16="http://schemas.microsoft.com/office/drawing/2014/main" id="{683BAE3F-3EEE-4BEA-93B0-826ED6F40D90}"/>
              </a:ext>
            </a:extLst>
          </p:cNvPr>
          <p:cNvSpPr>
            <a:spLocks noChangeArrowheads="1"/>
          </p:cNvSpPr>
          <p:nvPr/>
        </p:nvSpPr>
        <p:spPr bwMode="auto">
          <a:xfrm>
            <a:off x="3321050" y="37338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2</a:t>
            </a:r>
          </a:p>
        </p:txBody>
      </p:sp>
      <p:sp>
        <p:nvSpPr>
          <p:cNvPr id="20488" name="Rectangle 7">
            <a:extLst>
              <a:ext uri="{FF2B5EF4-FFF2-40B4-BE49-F238E27FC236}">
                <a16:creationId xmlns:a16="http://schemas.microsoft.com/office/drawing/2014/main" id="{B6F3AEDB-A99A-4002-80EA-DBE3E8148C3F}"/>
              </a:ext>
            </a:extLst>
          </p:cNvPr>
          <p:cNvSpPr>
            <a:spLocks noChangeArrowheads="1"/>
          </p:cNvSpPr>
          <p:nvPr/>
        </p:nvSpPr>
        <p:spPr bwMode="auto">
          <a:xfrm>
            <a:off x="4159250" y="37338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3</a:t>
            </a:r>
          </a:p>
        </p:txBody>
      </p:sp>
      <p:sp>
        <p:nvSpPr>
          <p:cNvPr id="20489" name="Rectangle 8">
            <a:extLst>
              <a:ext uri="{FF2B5EF4-FFF2-40B4-BE49-F238E27FC236}">
                <a16:creationId xmlns:a16="http://schemas.microsoft.com/office/drawing/2014/main" id="{C4F28986-4E11-4676-BAF0-3D4C743EA724}"/>
              </a:ext>
            </a:extLst>
          </p:cNvPr>
          <p:cNvSpPr>
            <a:spLocks noChangeArrowheads="1"/>
          </p:cNvSpPr>
          <p:nvPr/>
        </p:nvSpPr>
        <p:spPr bwMode="auto">
          <a:xfrm>
            <a:off x="1644650" y="41910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20490" name="Rectangle 9">
            <a:extLst>
              <a:ext uri="{FF2B5EF4-FFF2-40B4-BE49-F238E27FC236}">
                <a16:creationId xmlns:a16="http://schemas.microsoft.com/office/drawing/2014/main" id="{3D8661C3-3C04-41D6-B226-1308B4DDD23C}"/>
              </a:ext>
            </a:extLst>
          </p:cNvPr>
          <p:cNvSpPr>
            <a:spLocks noChangeArrowheads="1"/>
          </p:cNvSpPr>
          <p:nvPr/>
        </p:nvSpPr>
        <p:spPr bwMode="auto">
          <a:xfrm>
            <a:off x="2482850" y="41910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5</a:t>
            </a:r>
          </a:p>
        </p:txBody>
      </p:sp>
      <p:sp>
        <p:nvSpPr>
          <p:cNvPr id="20491" name="Rectangle 10">
            <a:extLst>
              <a:ext uri="{FF2B5EF4-FFF2-40B4-BE49-F238E27FC236}">
                <a16:creationId xmlns:a16="http://schemas.microsoft.com/office/drawing/2014/main" id="{F6FFA5D6-8E41-47FA-BF4E-E4E470A219F4}"/>
              </a:ext>
            </a:extLst>
          </p:cNvPr>
          <p:cNvSpPr>
            <a:spLocks noChangeArrowheads="1"/>
          </p:cNvSpPr>
          <p:nvPr/>
        </p:nvSpPr>
        <p:spPr bwMode="auto">
          <a:xfrm>
            <a:off x="3321050" y="41910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6</a:t>
            </a:r>
          </a:p>
        </p:txBody>
      </p:sp>
      <p:sp>
        <p:nvSpPr>
          <p:cNvPr id="20492" name="Rectangle 11">
            <a:extLst>
              <a:ext uri="{FF2B5EF4-FFF2-40B4-BE49-F238E27FC236}">
                <a16:creationId xmlns:a16="http://schemas.microsoft.com/office/drawing/2014/main" id="{A41C9832-06EA-428F-B319-F17B7E607DA5}"/>
              </a:ext>
            </a:extLst>
          </p:cNvPr>
          <p:cNvSpPr>
            <a:spLocks noChangeArrowheads="1"/>
          </p:cNvSpPr>
          <p:nvPr/>
        </p:nvSpPr>
        <p:spPr bwMode="auto">
          <a:xfrm>
            <a:off x="4159250" y="41910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7</a:t>
            </a:r>
          </a:p>
        </p:txBody>
      </p:sp>
      <p:sp>
        <p:nvSpPr>
          <p:cNvPr id="20493" name="Rectangle 12">
            <a:extLst>
              <a:ext uri="{FF2B5EF4-FFF2-40B4-BE49-F238E27FC236}">
                <a16:creationId xmlns:a16="http://schemas.microsoft.com/office/drawing/2014/main" id="{E46A473D-48F1-4CA7-9ADA-4CACA7727DBE}"/>
              </a:ext>
            </a:extLst>
          </p:cNvPr>
          <p:cNvSpPr>
            <a:spLocks noChangeArrowheads="1"/>
          </p:cNvSpPr>
          <p:nvPr/>
        </p:nvSpPr>
        <p:spPr bwMode="auto">
          <a:xfrm>
            <a:off x="1644650" y="46482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8</a:t>
            </a:r>
          </a:p>
        </p:txBody>
      </p:sp>
      <p:sp>
        <p:nvSpPr>
          <p:cNvPr id="20494" name="Rectangle 13">
            <a:extLst>
              <a:ext uri="{FF2B5EF4-FFF2-40B4-BE49-F238E27FC236}">
                <a16:creationId xmlns:a16="http://schemas.microsoft.com/office/drawing/2014/main" id="{5706405D-75F1-4517-B6CD-6F3611D7F54B}"/>
              </a:ext>
            </a:extLst>
          </p:cNvPr>
          <p:cNvSpPr>
            <a:spLocks noChangeArrowheads="1"/>
          </p:cNvSpPr>
          <p:nvPr/>
        </p:nvSpPr>
        <p:spPr bwMode="auto">
          <a:xfrm>
            <a:off x="2482850" y="46482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9</a:t>
            </a:r>
          </a:p>
        </p:txBody>
      </p:sp>
      <p:sp>
        <p:nvSpPr>
          <p:cNvPr id="20495" name="Rectangle 14">
            <a:extLst>
              <a:ext uri="{FF2B5EF4-FFF2-40B4-BE49-F238E27FC236}">
                <a16:creationId xmlns:a16="http://schemas.microsoft.com/office/drawing/2014/main" id="{2F501637-3E9B-4A25-AE26-02FAADA7E515}"/>
              </a:ext>
            </a:extLst>
          </p:cNvPr>
          <p:cNvSpPr>
            <a:spLocks noChangeArrowheads="1"/>
          </p:cNvSpPr>
          <p:nvPr/>
        </p:nvSpPr>
        <p:spPr bwMode="auto">
          <a:xfrm>
            <a:off x="3321050" y="46482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10</a:t>
            </a:r>
          </a:p>
        </p:txBody>
      </p:sp>
      <p:sp>
        <p:nvSpPr>
          <p:cNvPr id="20496" name="Rectangle 15">
            <a:extLst>
              <a:ext uri="{FF2B5EF4-FFF2-40B4-BE49-F238E27FC236}">
                <a16:creationId xmlns:a16="http://schemas.microsoft.com/office/drawing/2014/main" id="{9D4AD05D-A2D3-4955-9B30-44A07E6C6DA8}"/>
              </a:ext>
            </a:extLst>
          </p:cNvPr>
          <p:cNvSpPr>
            <a:spLocks noChangeArrowheads="1"/>
          </p:cNvSpPr>
          <p:nvPr/>
        </p:nvSpPr>
        <p:spPr bwMode="auto">
          <a:xfrm>
            <a:off x="4159250" y="46482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11</a:t>
            </a:r>
          </a:p>
        </p:txBody>
      </p:sp>
      <p:sp>
        <p:nvSpPr>
          <p:cNvPr id="20497" name="Rectangle 16">
            <a:extLst>
              <a:ext uri="{FF2B5EF4-FFF2-40B4-BE49-F238E27FC236}">
                <a16:creationId xmlns:a16="http://schemas.microsoft.com/office/drawing/2014/main" id="{F253EEBC-1C98-4F45-A69A-45EC0134A0F4}"/>
              </a:ext>
            </a:extLst>
          </p:cNvPr>
          <p:cNvSpPr>
            <a:spLocks noChangeArrowheads="1"/>
          </p:cNvSpPr>
          <p:nvPr/>
        </p:nvSpPr>
        <p:spPr bwMode="auto">
          <a:xfrm>
            <a:off x="1644650" y="51054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12</a:t>
            </a:r>
          </a:p>
        </p:txBody>
      </p:sp>
      <p:sp>
        <p:nvSpPr>
          <p:cNvPr id="20498" name="Rectangle 17">
            <a:extLst>
              <a:ext uri="{FF2B5EF4-FFF2-40B4-BE49-F238E27FC236}">
                <a16:creationId xmlns:a16="http://schemas.microsoft.com/office/drawing/2014/main" id="{8100EA5C-02BF-4C14-B52A-EBC36463AA31}"/>
              </a:ext>
            </a:extLst>
          </p:cNvPr>
          <p:cNvSpPr>
            <a:spLocks noChangeArrowheads="1"/>
          </p:cNvSpPr>
          <p:nvPr/>
        </p:nvSpPr>
        <p:spPr bwMode="auto">
          <a:xfrm>
            <a:off x="2482850" y="51054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13</a:t>
            </a:r>
          </a:p>
        </p:txBody>
      </p:sp>
      <p:sp>
        <p:nvSpPr>
          <p:cNvPr id="20499" name="Rectangle 18">
            <a:extLst>
              <a:ext uri="{FF2B5EF4-FFF2-40B4-BE49-F238E27FC236}">
                <a16:creationId xmlns:a16="http://schemas.microsoft.com/office/drawing/2014/main" id="{0A8D9A3A-F41C-4E4B-BDCD-174A3799CB2E}"/>
              </a:ext>
            </a:extLst>
          </p:cNvPr>
          <p:cNvSpPr>
            <a:spLocks noChangeArrowheads="1"/>
          </p:cNvSpPr>
          <p:nvPr/>
        </p:nvSpPr>
        <p:spPr bwMode="auto">
          <a:xfrm>
            <a:off x="3321050" y="51054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14</a:t>
            </a:r>
          </a:p>
        </p:txBody>
      </p:sp>
      <p:sp>
        <p:nvSpPr>
          <p:cNvPr id="20500" name="Rectangle 19">
            <a:extLst>
              <a:ext uri="{FF2B5EF4-FFF2-40B4-BE49-F238E27FC236}">
                <a16:creationId xmlns:a16="http://schemas.microsoft.com/office/drawing/2014/main" id="{A77EF19F-122C-4DAD-8DC4-4EAEBAC92464}"/>
              </a:ext>
            </a:extLst>
          </p:cNvPr>
          <p:cNvSpPr>
            <a:spLocks noChangeArrowheads="1"/>
          </p:cNvSpPr>
          <p:nvPr/>
        </p:nvSpPr>
        <p:spPr bwMode="auto">
          <a:xfrm>
            <a:off x="4159250" y="5105400"/>
            <a:ext cx="685800" cy="304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15</a:t>
            </a:r>
          </a:p>
        </p:txBody>
      </p:sp>
      <p:sp>
        <p:nvSpPr>
          <p:cNvPr id="20501" name="Text Box 20">
            <a:extLst>
              <a:ext uri="{FF2B5EF4-FFF2-40B4-BE49-F238E27FC236}">
                <a16:creationId xmlns:a16="http://schemas.microsoft.com/office/drawing/2014/main" id="{79FB8AA8-D6BF-47A6-BA6E-FD915599F5C8}"/>
              </a:ext>
            </a:extLst>
          </p:cNvPr>
          <p:cNvSpPr txBox="1">
            <a:spLocks noChangeArrowheads="1"/>
          </p:cNvSpPr>
          <p:nvPr/>
        </p:nvSpPr>
        <p:spPr bwMode="auto">
          <a:xfrm>
            <a:off x="5292725" y="4203770"/>
            <a:ext cx="402546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a:spcBef>
                <a:spcPct val="0"/>
              </a:spcBef>
              <a:buClrTx/>
              <a:buNone/>
            </a:pPr>
            <a:r>
              <a:rPr kumimoji="0" lang="zh-CN" altLang="en-US" sz="2000" dirty="0">
                <a:latin typeface="楷体" panose="02010609060101010101" pitchFamily="49" charset="-122"/>
                <a:ea typeface="楷体" panose="02010609060101010101" pitchFamily="49" charset="-122"/>
              </a:rPr>
              <a:t>在第</a:t>
            </a:r>
            <a:r>
              <a:rPr kumimoji="0" lang="en-US" altLang="zh-CN" sz="2000" dirty="0">
                <a:latin typeface="楷体" panose="02010609060101010101" pitchFamily="49" charset="-122"/>
                <a:ea typeface="楷体" panose="02010609060101010101" pitchFamily="49" charset="-122"/>
              </a:rPr>
              <a:t>k+1</a:t>
            </a:r>
            <a:r>
              <a:rPr kumimoji="0" lang="zh-CN" altLang="en-US" sz="2000" dirty="0">
                <a:latin typeface="楷体" panose="02010609060101010101" pitchFamily="49" charset="-122"/>
                <a:ea typeface="楷体" panose="02010609060101010101" pitchFamily="49" charset="-122"/>
              </a:rPr>
              <a:t>层，较大、较慢、较便宜</a:t>
            </a:r>
          </a:p>
          <a:p>
            <a:pPr algn="l">
              <a:spcBef>
                <a:spcPct val="0"/>
              </a:spcBef>
              <a:buClrTx/>
              <a:buNone/>
            </a:pPr>
            <a:r>
              <a:rPr kumimoji="0" lang="zh-CN" altLang="en-US" sz="2000" dirty="0">
                <a:latin typeface="楷体" panose="02010609060101010101" pitchFamily="49" charset="-122"/>
                <a:ea typeface="楷体" panose="02010609060101010101" pitchFamily="49" charset="-122"/>
              </a:rPr>
              <a:t>的存储设备上的数据分成若干块</a:t>
            </a:r>
          </a:p>
        </p:txBody>
      </p:sp>
      <p:grpSp>
        <p:nvGrpSpPr>
          <p:cNvPr id="2" name="Group 21">
            <a:extLst>
              <a:ext uri="{FF2B5EF4-FFF2-40B4-BE49-F238E27FC236}">
                <a16:creationId xmlns:a16="http://schemas.microsoft.com/office/drawing/2014/main" id="{78840886-F615-420D-BFD1-4EF286FAD711}"/>
              </a:ext>
            </a:extLst>
          </p:cNvPr>
          <p:cNvGrpSpPr>
            <a:grpSpLocks/>
          </p:cNvGrpSpPr>
          <p:nvPr/>
        </p:nvGrpSpPr>
        <p:grpSpPr bwMode="auto">
          <a:xfrm>
            <a:off x="3244850" y="1833563"/>
            <a:ext cx="3352800" cy="1524000"/>
            <a:chOff x="2044" y="1152"/>
            <a:chExt cx="2112" cy="960"/>
          </a:xfrm>
        </p:grpSpPr>
        <p:sp>
          <p:nvSpPr>
            <p:cNvPr id="20517" name="Line 22">
              <a:extLst>
                <a:ext uri="{FF2B5EF4-FFF2-40B4-BE49-F238E27FC236}">
                  <a16:creationId xmlns:a16="http://schemas.microsoft.com/office/drawing/2014/main" id="{F483BA78-BBFF-4AB0-8B51-FBDD996D2EA8}"/>
                </a:ext>
              </a:extLst>
            </p:cNvPr>
            <p:cNvSpPr>
              <a:spLocks noChangeShapeType="1"/>
            </p:cNvSpPr>
            <p:nvPr/>
          </p:nvSpPr>
          <p:spPr bwMode="auto">
            <a:xfrm>
              <a:off x="2044" y="1152"/>
              <a:ext cx="0" cy="96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8" name="Text Box 23">
              <a:extLst>
                <a:ext uri="{FF2B5EF4-FFF2-40B4-BE49-F238E27FC236}">
                  <a16:creationId xmlns:a16="http://schemas.microsoft.com/office/drawing/2014/main" id="{EB37A9FB-CB69-4B53-B7DB-97C529BAC286}"/>
                </a:ext>
              </a:extLst>
            </p:cNvPr>
            <p:cNvSpPr txBox="1">
              <a:spLocks noChangeArrowheads="1"/>
            </p:cNvSpPr>
            <p:nvPr/>
          </p:nvSpPr>
          <p:spPr bwMode="auto">
            <a:xfrm>
              <a:off x="2053" y="1352"/>
              <a:ext cx="210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a:spcBef>
                  <a:spcPct val="0"/>
                </a:spcBef>
                <a:buClrTx/>
                <a:buNone/>
              </a:pPr>
              <a:r>
                <a:rPr kumimoji="0" lang="zh-CN" altLang="en-US" sz="2000" dirty="0">
                  <a:latin typeface="楷体" panose="02010609060101010101" pitchFamily="49" charset="-122"/>
                  <a:ea typeface="楷体" panose="02010609060101010101" pitchFamily="49" charset="-122"/>
                </a:rPr>
                <a:t>数据以块为单位</a:t>
              </a:r>
            </a:p>
            <a:p>
              <a:pPr algn="l">
                <a:spcBef>
                  <a:spcPct val="0"/>
                </a:spcBef>
                <a:buClrTx/>
                <a:buNone/>
              </a:pPr>
              <a:r>
                <a:rPr kumimoji="0" lang="zh-CN" altLang="en-US" sz="2000" dirty="0">
                  <a:latin typeface="楷体" panose="02010609060101010101" pitchFamily="49" charset="-122"/>
                  <a:ea typeface="楷体" panose="02010609060101010101" pitchFamily="49" charset="-122"/>
                </a:rPr>
                <a:t>在层间复制</a:t>
              </a:r>
            </a:p>
          </p:txBody>
        </p:sp>
      </p:grpSp>
      <p:sp>
        <p:nvSpPr>
          <p:cNvPr id="20503" name="Rectangle 25">
            <a:extLst>
              <a:ext uri="{FF2B5EF4-FFF2-40B4-BE49-F238E27FC236}">
                <a16:creationId xmlns:a16="http://schemas.microsoft.com/office/drawing/2014/main" id="{580BFB40-42C1-45B3-BCC4-4B28E86334A7}"/>
              </a:ext>
            </a:extLst>
          </p:cNvPr>
          <p:cNvSpPr>
            <a:spLocks noChangeArrowheads="1"/>
          </p:cNvSpPr>
          <p:nvPr/>
        </p:nvSpPr>
        <p:spPr bwMode="auto">
          <a:xfrm>
            <a:off x="1416050" y="1206500"/>
            <a:ext cx="3581400" cy="609600"/>
          </a:xfrm>
          <a:prstGeom prst="rect">
            <a:avLst/>
          </a:prstGeom>
          <a:solidFill>
            <a:srgbClr val="80008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504" name="Rectangle 26">
            <a:extLst>
              <a:ext uri="{FF2B5EF4-FFF2-40B4-BE49-F238E27FC236}">
                <a16:creationId xmlns:a16="http://schemas.microsoft.com/office/drawing/2014/main" id="{68ED8052-6CEE-41BC-A003-51A5F8C38BE7}"/>
              </a:ext>
            </a:extLst>
          </p:cNvPr>
          <p:cNvSpPr>
            <a:spLocks noChangeArrowheads="1"/>
          </p:cNvSpPr>
          <p:nvPr/>
        </p:nvSpPr>
        <p:spPr bwMode="auto">
          <a:xfrm>
            <a:off x="1557338" y="1349375"/>
            <a:ext cx="685800"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8</a:t>
            </a:r>
          </a:p>
        </p:txBody>
      </p:sp>
      <p:sp>
        <p:nvSpPr>
          <p:cNvPr id="20505" name="Rectangle 27">
            <a:extLst>
              <a:ext uri="{FF2B5EF4-FFF2-40B4-BE49-F238E27FC236}">
                <a16:creationId xmlns:a16="http://schemas.microsoft.com/office/drawing/2014/main" id="{2D2F89F5-4D3D-4C3B-9ABF-C66EB89528BA}"/>
              </a:ext>
            </a:extLst>
          </p:cNvPr>
          <p:cNvSpPr>
            <a:spLocks noChangeArrowheads="1"/>
          </p:cNvSpPr>
          <p:nvPr/>
        </p:nvSpPr>
        <p:spPr bwMode="auto">
          <a:xfrm>
            <a:off x="2406650" y="1358900"/>
            <a:ext cx="685800"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9</a:t>
            </a:r>
          </a:p>
        </p:txBody>
      </p:sp>
      <p:sp>
        <p:nvSpPr>
          <p:cNvPr id="20506" name="Rectangle 28">
            <a:extLst>
              <a:ext uri="{FF2B5EF4-FFF2-40B4-BE49-F238E27FC236}">
                <a16:creationId xmlns:a16="http://schemas.microsoft.com/office/drawing/2014/main" id="{09B8DD31-F146-49A0-8B29-43911BB4C3D7}"/>
              </a:ext>
            </a:extLst>
          </p:cNvPr>
          <p:cNvSpPr>
            <a:spLocks noChangeArrowheads="1"/>
          </p:cNvSpPr>
          <p:nvPr/>
        </p:nvSpPr>
        <p:spPr bwMode="auto">
          <a:xfrm>
            <a:off x="3244850" y="1358900"/>
            <a:ext cx="685800"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14</a:t>
            </a:r>
          </a:p>
        </p:txBody>
      </p:sp>
      <p:sp>
        <p:nvSpPr>
          <p:cNvPr id="20507" name="Rectangle 29">
            <a:extLst>
              <a:ext uri="{FF2B5EF4-FFF2-40B4-BE49-F238E27FC236}">
                <a16:creationId xmlns:a16="http://schemas.microsoft.com/office/drawing/2014/main" id="{AD8BDDCD-E49F-4739-8FE9-93044BD3C4BA}"/>
              </a:ext>
            </a:extLst>
          </p:cNvPr>
          <p:cNvSpPr>
            <a:spLocks noChangeArrowheads="1"/>
          </p:cNvSpPr>
          <p:nvPr/>
        </p:nvSpPr>
        <p:spPr bwMode="auto">
          <a:xfrm>
            <a:off x="4083050" y="1358900"/>
            <a:ext cx="685800" cy="304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3</a:t>
            </a:r>
          </a:p>
        </p:txBody>
      </p:sp>
      <p:sp>
        <p:nvSpPr>
          <p:cNvPr id="20508" name="Text Box 30">
            <a:extLst>
              <a:ext uri="{FF2B5EF4-FFF2-40B4-BE49-F238E27FC236}">
                <a16:creationId xmlns:a16="http://schemas.microsoft.com/office/drawing/2014/main" id="{8F4A9B27-35A3-4023-A337-A84E46DFC031}"/>
              </a:ext>
            </a:extLst>
          </p:cNvPr>
          <p:cNvSpPr txBox="1">
            <a:spLocks noChangeArrowheads="1"/>
          </p:cNvSpPr>
          <p:nvPr/>
        </p:nvSpPr>
        <p:spPr bwMode="auto">
          <a:xfrm>
            <a:off x="5033963" y="1128713"/>
            <a:ext cx="41465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a:spcBef>
                <a:spcPct val="0"/>
              </a:spcBef>
              <a:buClrTx/>
              <a:buFontTx/>
              <a:buNone/>
            </a:pPr>
            <a:r>
              <a:rPr kumimoji="0" lang="zh-CN" altLang="en-US" sz="2000" dirty="0">
                <a:latin typeface="楷体" panose="02010609060101010101" pitchFamily="49" charset="-122"/>
                <a:ea typeface="楷体" panose="02010609060101010101" pitchFamily="49" charset="-122"/>
              </a:rPr>
              <a:t>在第</a:t>
            </a:r>
            <a:r>
              <a:rPr kumimoji="0" lang="en-US" altLang="zh-CN" sz="2000" dirty="0">
                <a:latin typeface="楷体" panose="02010609060101010101" pitchFamily="49" charset="-122"/>
                <a:ea typeface="楷体" panose="02010609060101010101" pitchFamily="49" charset="-122"/>
              </a:rPr>
              <a:t>k</a:t>
            </a:r>
            <a:r>
              <a:rPr kumimoji="0" lang="zh-CN" altLang="en-US" sz="2000" dirty="0">
                <a:latin typeface="楷体" panose="02010609060101010101" pitchFamily="49" charset="-122"/>
                <a:ea typeface="楷体" panose="02010609060101010101" pitchFamily="49" charset="-122"/>
              </a:rPr>
              <a:t>层，较小、较快、较贵的设备</a:t>
            </a:r>
          </a:p>
          <a:p>
            <a:pPr algn="l">
              <a:spcBef>
                <a:spcPct val="0"/>
              </a:spcBef>
              <a:buClrTx/>
              <a:buFontTx/>
              <a:buNone/>
            </a:pPr>
            <a:r>
              <a:rPr kumimoji="0" lang="zh-CN" altLang="en-US" sz="2000" dirty="0">
                <a:latin typeface="楷体" panose="02010609060101010101" pitchFamily="49" charset="-122"/>
                <a:ea typeface="楷体" panose="02010609060101010101" pitchFamily="49" charset="-122"/>
              </a:rPr>
              <a:t>缓冲来自第</a:t>
            </a:r>
            <a:r>
              <a:rPr kumimoji="0" lang="en-US" altLang="zh-CN" sz="2000" dirty="0">
                <a:latin typeface="楷体" panose="02010609060101010101" pitchFamily="49" charset="-122"/>
                <a:ea typeface="楷体" panose="02010609060101010101" pitchFamily="49" charset="-122"/>
              </a:rPr>
              <a:t>k+1</a:t>
            </a:r>
            <a:r>
              <a:rPr kumimoji="0" lang="zh-CN" altLang="en-US" sz="2000" dirty="0">
                <a:latin typeface="楷体" panose="02010609060101010101" pitchFamily="49" charset="-122"/>
                <a:ea typeface="楷体" panose="02010609060101010101" pitchFamily="49" charset="-122"/>
              </a:rPr>
              <a:t>层数据块的子集</a:t>
            </a:r>
          </a:p>
        </p:txBody>
      </p:sp>
      <p:sp>
        <p:nvSpPr>
          <p:cNvPr id="20509" name="Text Box 31">
            <a:extLst>
              <a:ext uri="{FF2B5EF4-FFF2-40B4-BE49-F238E27FC236}">
                <a16:creationId xmlns:a16="http://schemas.microsoft.com/office/drawing/2014/main" id="{70F24E7D-3A84-4123-9BC6-852A22FCEC50}"/>
              </a:ext>
            </a:extLst>
          </p:cNvPr>
          <p:cNvSpPr txBox="1">
            <a:spLocks noChangeArrowheads="1"/>
          </p:cNvSpPr>
          <p:nvPr/>
        </p:nvSpPr>
        <p:spPr bwMode="auto">
          <a:xfrm>
            <a:off x="350838" y="1355725"/>
            <a:ext cx="9413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Level k:</a:t>
            </a:r>
          </a:p>
        </p:txBody>
      </p:sp>
      <p:sp>
        <p:nvSpPr>
          <p:cNvPr id="20510" name="Text Box 32">
            <a:extLst>
              <a:ext uri="{FF2B5EF4-FFF2-40B4-BE49-F238E27FC236}">
                <a16:creationId xmlns:a16="http://schemas.microsoft.com/office/drawing/2014/main" id="{69C88FCB-A093-4210-8F0F-EC79623C516D}"/>
              </a:ext>
            </a:extLst>
          </p:cNvPr>
          <p:cNvSpPr txBox="1">
            <a:spLocks noChangeArrowheads="1"/>
          </p:cNvSpPr>
          <p:nvPr/>
        </p:nvSpPr>
        <p:spPr bwMode="auto">
          <a:xfrm>
            <a:off x="-50800" y="4267200"/>
            <a:ext cx="1173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Level k+1:</a:t>
            </a:r>
          </a:p>
        </p:txBody>
      </p:sp>
      <p:sp>
        <p:nvSpPr>
          <p:cNvPr id="777249" name="Rectangle 33">
            <a:extLst>
              <a:ext uri="{FF2B5EF4-FFF2-40B4-BE49-F238E27FC236}">
                <a16:creationId xmlns:a16="http://schemas.microsoft.com/office/drawing/2014/main" id="{622F4F0A-2CF3-4B3B-9B5A-09A4B7B5FC55}"/>
              </a:ext>
            </a:extLst>
          </p:cNvPr>
          <p:cNvSpPr>
            <a:spLocks noChangeArrowheads="1"/>
          </p:cNvSpPr>
          <p:nvPr/>
        </p:nvSpPr>
        <p:spPr bwMode="auto">
          <a:xfrm>
            <a:off x="1646238" y="4191000"/>
            <a:ext cx="685800" cy="304800"/>
          </a:xfrm>
          <a:prstGeom prst="rect">
            <a:avLst/>
          </a:prstGeom>
          <a:solidFill>
            <a:srgbClr val="FF7C8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777250" name="Rectangle 34">
            <a:extLst>
              <a:ext uri="{FF2B5EF4-FFF2-40B4-BE49-F238E27FC236}">
                <a16:creationId xmlns:a16="http://schemas.microsoft.com/office/drawing/2014/main" id="{3144960C-603E-4BFA-B64B-CC9A82CE45B9}"/>
              </a:ext>
            </a:extLst>
          </p:cNvPr>
          <p:cNvSpPr>
            <a:spLocks noChangeArrowheads="1"/>
          </p:cNvSpPr>
          <p:nvPr/>
        </p:nvSpPr>
        <p:spPr bwMode="auto">
          <a:xfrm>
            <a:off x="2411413" y="2411413"/>
            <a:ext cx="685800" cy="304800"/>
          </a:xfrm>
          <a:prstGeom prst="rect">
            <a:avLst/>
          </a:prstGeom>
          <a:solidFill>
            <a:srgbClr val="FF7C8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777251" name="Rectangle 35">
            <a:extLst>
              <a:ext uri="{FF2B5EF4-FFF2-40B4-BE49-F238E27FC236}">
                <a16:creationId xmlns:a16="http://schemas.microsoft.com/office/drawing/2014/main" id="{8A1CBF64-856E-4395-A300-18E770217509}"/>
              </a:ext>
            </a:extLst>
          </p:cNvPr>
          <p:cNvSpPr>
            <a:spLocks noChangeArrowheads="1"/>
          </p:cNvSpPr>
          <p:nvPr/>
        </p:nvSpPr>
        <p:spPr bwMode="auto">
          <a:xfrm>
            <a:off x="1546225" y="1354138"/>
            <a:ext cx="685800" cy="304800"/>
          </a:xfrm>
          <a:prstGeom prst="rect">
            <a:avLst/>
          </a:prstGeom>
          <a:solidFill>
            <a:srgbClr val="FF7C8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777252" name="Rectangle 36">
            <a:extLst>
              <a:ext uri="{FF2B5EF4-FFF2-40B4-BE49-F238E27FC236}">
                <a16:creationId xmlns:a16="http://schemas.microsoft.com/office/drawing/2014/main" id="{593577DB-73C6-4AAD-84FF-CB789D699232}"/>
              </a:ext>
            </a:extLst>
          </p:cNvPr>
          <p:cNvSpPr>
            <a:spLocks noChangeArrowheads="1"/>
          </p:cNvSpPr>
          <p:nvPr/>
        </p:nvSpPr>
        <p:spPr bwMode="auto">
          <a:xfrm>
            <a:off x="3241675" y="1363663"/>
            <a:ext cx="685800" cy="304800"/>
          </a:xfrm>
          <a:prstGeom prst="rect">
            <a:avLst/>
          </a:prstGeom>
          <a:solidFill>
            <a:srgbClr val="0000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10</a:t>
            </a:r>
          </a:p>
        </p:txBody>
      </p:sp>
      <p:sp>
        <p:nvSpPr>
          <p:cNvPr id="777253" name="Rectangle 37">
            <a:extLst>
              <a:ext uri="{FF2B5EF4-FFF2-40B4-BE49-F238E27FC236}">
                <a16:creationId xmlns:a16="http://schemas.microsoft.com/office/drawing/2014/main" id="{AAD55509-AD4A-4191-89CA-391D5F2A5634}"/>
              </a:ext>
            </a:extLst>
          </p:cNvPr>
          <p:cNvSpPr>
            <a:spLocks noChangeArrowheads="1"/>
          </p:cNvSpPr>
          <p:nvPr/>
        </p:nvSpPr>
        <p:spPr bwMode="auto">
          <a:xfrm>
            <a:off x="2411413" y="2403475"/>
            <a:ext cx="685800" cy="304800"/>
          </a:xfrm>
          <a:prstGeom prst="rect">
            <a:avLst/>
          </a:prstGeom>
          <a:solidFill>
            <a:srgbClr val="0000CC"/>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10</a:t>
            </a:r>
          </a:p>
        </p:txBody>
      </p:sp>
      <p:sp>
        <p:nvSpPr>
          <p:cNvPr id="777254" name="Rectangle 38">
            <a:extLst>
              <a:ext uri="{FF2B5EF4-FFF2-40B4-BE49-F238E27FC236}">
                <a16:creationId xmlns:a16="http://schemas.microsoft.com/office/drawing/2014/main" id="{532D00E7-D725-4803-911C-37FF34E5D4F5}"/>
              </a:ext>
            </a:extLst>
          </p:cNvPr>
          <p:cNvSpPr>
            <a:spLocks noChangeArrowheads="1"/>
          </p:cNvSpPr>
          <p:nvPr/>
        </p:nvSpPr>
        <p:spPr bwMode="auto">
          <a:xfrm>
            <a:off x="3319463" y="4648200"/>
            <a:ext cx="685800" cy="304800"/>
          </a:xfrm>
          <a:prstGeom prst="rect">
            <a:avLst/>
          </a:prstGeom>
          <a:solidFill>
            <a:srgbClr val="0000CC"/>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72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77250"/>
                                        </p:tgtEl>
                                        <p:attrNameLst>
                                          <p:attrName>style.visibility</p:attrName>
                                        </p:attrNameLst>
                                      </p:cBhvr>
                                      <p:to>
                                        <p:strVal val="visible"/>
                                      </p:to>
                                    </p:set>
                                  </p:childTnLst>
                                  <p:subTnLst>
                                    <p:set>
                                      <p:cBhvr override="childStyle">
                                        <p:cTn dur="1" fill="hold" display="0" masterRel="nextClick" afterEffect="1"/>
                                        <p:tgtEl>
                                          <p:spTgt spid="777250"/>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7725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7725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77253"/>
                                        </p:tgtEl>
                                        <p:attrNameLst>
                                          <p:attrName>style.visibility</p:attrName>
                                        </p:attrNameLst>
                                      </p:cBhvr>
                                      <p:to>
                                        <p:strVal val="visible"/>
                                      </p:to>
                                    </p:set>
                                  </p:childTnLst>
                                  <p:subTnLst>
                                    <p:set>
                                      <p:cBhvr override="childStyle">
                                        <p:cTn dur="1" fill="hold" display="0" masterRel="nextClick" afterEffect="1"/>
                                        <p:tgtEl>
                                          <p:spTgt spid="777253"/>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77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249" grpId="0" animBg="1" autoUpdateAnimBg="0"/>
      <p:bldP spid="777250" grpId="0" animBg="1" autoUpdateAnimBg="0"/>
      <p:bldP spid="777251" grpId="0" animBg="1" autoUpdateAnimBg="0"/>
      <p:bldP spid="777252" grpId="0" animBg="1" autoUpdateAnimBg="0"/>
      <p:bldP spid="777253" grpId="0" animBg="1" autoUpdateAnimBg="0"/>
      <p:bldP spid="77725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9" name="Rectangle 5">
            <a:extLst>
              <a:ext uri="{FF2B5EF4-FFF2-40B4-BE49-F238E27FC236}">
                <a16:creationId xmlns:a16="http://schemas.microsoft.com/office/drawing/2014/main" id="{07C2B3CD-BD59-488F-81D7-5EE6B8DD0C72}"/>
              </a:ext>
            </a:extLst>
          </p:cNvPr>
          <p:cNvSpPr>
            <a:spLocks noGrp="1" noChangeArrowheads="1"/>
          </p:cNvSpPr>
          <p:nvPr>
            <p:ph type="title"/>
          </p:nvPr>
        </p:nvSpPr>
        <p:spPr/>
        <p:txBody>
          <a:bodyPr/>
          <a:lstStyle/>
          <a:p>
            <a:pPr eaLnBrk="1" hangingPunct="1">
              <a:defRPr/>
            </a:pPr>
            <a:r>
              <a:rPr lang="en-US" altLang="zh-CN" dirty="0">
                <a:ea typeface="宋体" pitchFamily="2" charset="-122"/>
              </a:rPr>
              <a:t>Cache</a:t>
            </a:r>
            <a:r>
              <a:rPr lang="zh-CN" altLang="en-US" dirty="0"/>
              <a:t>基本原理</a:t>
            </a:r>
            <a:r>
              <a:rPr lang="zh-CN" altLang="en-US" dirty="0">
                <a:ea typeface="宋体" pitchFamily="2" charset="-122"/>
              </a:rPr>
              <a:t>（</a:t>
            </a:r>
            <a:r>
              <a:rPr lang="en-US" altLang="zh-CN" dirty="0">
                <a:ea typeface="宋体" pitchFamily="2" charset="-122"/>
              </a:rPr>
              <a:t>2</a:t>
            </a:r>
            <a:r>
              <a:rPr lang="zh-CN" altLang="en-US" dirty="0">
                <a:ea typeface="宋体" pitchFamily="2" charset="-122"/>
              </a:rPr>
              <a:t>）</a:t>
            </a:r>
          </a:p>
        </p:txBody>
      </p:sp>
      <p:sp>
        <p:nvSpPr>
          <p:cNvPr id="21507" name="Rectangle 6">
            <a:extLst>
              <a:ext uri="{FF2B5EF4-FFF2-40B4-BE49-F238E27FC236}">
                <a16:creationId xmlns:a16="http://schemas.microsoft.com/office/drawing/2014/main" id="{024AEB7F-E0A9-411C-8489-489C03AABA3A}"/>
              </a:ext>
            </a:extLst>
          </p:cNvPr>
          <p:cNvSpPr>
            <a:spLocks noGrp="1" noChangeArrowheads="1"/>
          </p:cNvSpPr>
          <p:nvPr>
            <p:ph idx="1"/>
          </p:nvPr>
        </p:nvSpPr>
        <p:spPr>
          <a:xfrm>
            <a:off x="3263900" y="1252537"/>
            <a:ext cx="5700713" cy="5224463"/>
          </a:xfrm>
        </p:spPr>
        <p:txBody>
          <a:bodyPr/>
          <a:lstStyle/>
          <a:p>
            <a:pPr eaLnBrk="1" hangingPunct="1">
              <a:lnSpc>
                <a:spcPct val="90000"/>
              </a:lnSpc>
            </a:pPr>
            <a:r>
              <a:rPr lang="zh-CN" altLang="en-US" sz="2400" dirty="0"/>
              <a:t>程序需要访问块</a:t>
            </a:r>
            <a:r>
              <a:rPr lang="en-US" altLang="zh-CN" sz="2400" dirty="0"/>
              <a:t>b</a:t>
            </a:r>
            <a:r>
              <a:rPr lang="zh-CN" altLang="en-US" sz="2400" dirty="0"/>
              <a:t>中的对象</a:t>
            </a:r>
            <a:r>
              <a:rPr lang="en-US" altLang="zh-CN" sz="2400" dirty="0"/>
              <a:t>d.</a:t>
            </a:r>
          </a:p>
          <a:p>
            <a:pPr eaLnBrk="1" hangingPunct="1">
              <a:lnSpc>
                <a:spcPct val="90000"/>
              </a:lnSpc>
            </a:pPr>
            <a:r>
              <a:rPr lang="en-US" altLang="zh-CN" sz="2400" dirty="0"/>
              <a:t>Cache</a:t>
            </a:r>
            <a:r>
              <a:rPr lang="zh-CN" altLang="en-US" sz="2400" dirty="0"/>
              <a:t>命中（</a:t>
            </a:r>
            <a:r>
              <a:rPr lang="en-US" altLang="zh-CN" sz="2400" dirty="0"/>
              <a:t>Cache hit</a:t>
            </a:r>
            <a:r>
              <a:rPr lang="zh-CN" altLang="en-US" sz="2400" dirty="0"/>
              <a:t>）</a:t>
            </a:r>
          </a:p>
          <a:p>
            <a:pPr lvl="1" eaLnBrk="1" hangingPunct="1">
              <a:lnSpc>
                <a:spcPct val="90000"/>
              </a:lnSpc>
            </a:pPr>
            <a:r>
              <a:rPr lang="zh-CN" altLang="en-US" sz="2000" dirty="0"/>
              <a:t>程序在层</a:t>
            </a:r>
            <a:r>
              <a:rPr lang="en-US" altLang="zh-CN" sz="2000" dirty="0"/>
              <a:t>k Cache</a:t>
            </a:r>
            <a:r>
              <a:rPr lang="zh-CN" altLang="en-US" sz="2000" dirty="0"/>
              <a:t>找到</a:t>
            </a:r>
            <a:r>
              <a:rPr lang="en-US" altLang="zh-CN" sz="2000" dirty="0"/>
              <a:t>b</a:t>
            </a:r>
            <a:r>
              <a:rPr lang="zh-CN" altLang="en-US" sz="2000" dirty="0"/>
              <a:t>， 例如：块</a:t>
            </a:r>
            <a:r>
              <a:rPr lang="en-US" altLang="zh-CN" sz="2000" dirty="0"/>
              <a:t>14</a:t>
            </a:r>
          </a:p>
          <a:p>
            <a:pPr eaLnBrk="1" hangingPunct="1">
              <a:lnSpc>
                <a:spcPct val="90000"/>
              </a:lnSpc>
            </a:pPr>
            <a:r>
              <a:rPr lang="en-US" altLang="zh-CN" sz="2400" dirty="0"/>
              <a:t>Cache</a:t>
            </a:r>
            <a:r>
              <a:rPr lang="zh-CN" altLang="en-US" sz="2400" dirty="0"/>
              <a:t>缺失（</a:t>
            </a:r>
            <a:r>
              <a:rPr lang="en-US" altLang="zh-CN" sz="2400" dirty="0"/>
              <a:t>Cache miss</a:t>
            </a:r>
            <a:r>
              <a:rPr lang="zh-CN" altLang="en-US" sz="2400" dirty="0"/>
              <a:t>）</a:t>
            </a:r>
          </a:p>
          <a:p>
            <a:pPr lvl="1" eaLnBrk="1" hangingPunct="1">
              <a:lnSpc>
                <a:spcPct val="90000"/>
              </a:lnSpc>
            </a:pPr>
            <a:r>
              <a:rPr lang="zh-CN" altLang="en-US" sz="2000" dirty="0"/>
              <a:t>块</a:t>
            </a:r>
            <a:r>
              <a:rPr lang="en-US" altLang="zh-CN" sz="2000" dirty="0"/>
              <a:t>b</a:t>
            </a:r>
            <a:r>
              <a:rPr lang="zh-CN" altLang="en-US" sz="2000" dirty="0"/>
              <a:t>不在层</a:t>
            </a:r>
            <a:r>
              <a:rPr lang="en-US" altLang="zh-CN" sz="2000" dirty="0"/>
              <a:t>k</a:t>
            </a:r>
            <a:r>
              <a:rPr lang="zh-CN" altLang="en-US" sz="2000" dirty="0"/>
              <a:t>中，所以层</a:t>
            </a:r>
            <a:r>
              <a:rPr lang="en-US" altLang="zh-CN" sz="2000" dirty="0"/>
              <a:t>k cache</a:t>
            </a:r>
            <a:r>
              <a:rPr lang="zh-CN" altLang="en-US" sz="2000" dirty="0"/>
              <a:t>必须从层</a:t>
            </a:r>
            <a:r>
              <a:rPr lang="en-US" altLang="zh-CN" sz="2000" dirty="0"/>
              <a:t>k+1</a:t>
            </a:r>
            <a:r>
              <a:rPr lang="zh-CN" altLang="en-US" sz="2000" dirty="0"/>
              <a:t>去取它，例：块</a:t>
            </a:r>
            <a:r>
              <a:rPr lang="en-US" altLang="zh-CN" sz="2000" dirty="0"/>
              <a:t>12.</a:t>
            </a:r>
          </a:p>
          <a:p>
            <a:pPr lvl="1" eaLnBrk="1" hangingPunct="1">
              <a:lnSpc>
                <a:spcPct val="90000"/>
              </a:lnSpc>
            </a:pPr>
            <a:r>
              <a:rPr lang="zh-CN" altLang="en-US" sz="2000" dirty="0"/>
              <a:t>如果层</a:t>
            </a:r>
            <a:r>
              <a:rPr lang="en-US" altLang="zh-CN" sz="2000" dirty="0"/>
              <a:t>k</a:t>
            </a:r>
            <a:r>
              <a:rPr lang="zh-CN" altLang="en-US" sz="2000" dirty="0"/>
              <a:t>的</a:t>
            </a:r>
            <a:r>
              <a:rPr lang="en-US" altLang="zh-CN" sz="2000" dirty="0"/>
              <a:t>cache</a:t>
            </a:r>
            <a:r>
              <a:rPr lang="zh-CN" altLang="en-US" sz="2000" dirty="0"/>
              <a:t>已满，则当前的某块必须被替换。哪块被替换出去？ </a:t>
            </a:r>
          </a:p>
          <a:p>
            <a:pPr lvl="2">
              <a:lnSpc>
                <a:spcPct val="90000"/>
              </a:lnSpc>
            </a:pPr>
            <a:r>
              <a:rPr lang="zh-CN" altLang="en-US" dirty="0"/>
              <a:t>替换策略：哪一块被替换出？ 例如：最久未使用</a:t>
            </a:r>
            <a:r>
              <a:rPr lang="en-US" altLang="zh-CN" dirty="0"/>
              <a:t>LRU</a:t>
            </a:r>
            <a:r>
              <a:rPr lang="zh-CN" altLang="en-US" dirty="0"/>
              <a:t>策略</a:t>
            </a:r>
          </a:p>
          <a:p>
            <a:pPr lvl="2">
              <a:lnSpc>
                <a:spcPct val="90000"/>
              </a:lnSpc>
            </a:pPr>
            <a:r>
              <a:rPr lang="zh-CN" altLang="en-US" dirty="0"/>
              <a:t>放置策略：新块放在何处？例如：</a:t>
            </a:r>
            <a:r>
              <a:rPr lang="en-US" altLang="zh-CN" dirty="0"/>
              <a:t>b mod 4</a:t>
            </a:r>
          </a:p>
        </p:txBody>
      </p:sp>
      <p:sp>
        <p:nvSpPr>
          <p:cNvPr id="21509" name="Rectangle 2">
            <a:extLst>
              <a:ext uri="{FF2B5EF4-FFF2-40B4-BE49-F238E27FC236}">
                <a16:creationId xmlns:a16="http://schemas.microsoft.com/office/drawing/2014/main" id="{FA8EBF61-E1AF-45DC-BAFB-284F839BF469}"/>
              </a:ext>
            </a:extLst>
          </p:cNvPr>
          <p:cNvSpPr>
            <a:spLocks noChangeAspect="1" noChangeArrowheads="1"/>
          </p:cNvSpPr>
          <p:nvPr/>
        </p:nvSpPr>
        <p:spPr bwMode="auto">
          <a:xfrm>
            <a:off x="401638" y="2535237"/>
            <a:ext cx="2862262" cy="487363"/>
          </a:xfrm>
          <a:prstGeom prst="rect">
            <a:avLst/>
          </a:prstGeom>
          <a:solidFill>
            <a:srgbClr val="FF99CC"/>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4147" name="Text Box 3">
            <a:extLst>
              <a:ext uri="{FF2B5EF4-FFF2-40B4-BE49-F238E27FC236}">
                <a16:creationId xmlns:a16="http://schemas.microsoft.com/office/drawing/2014/main" id="{86AEBC60-A3E4-4558-B3D2-9AE7E22ED5F8}"/>
              </a:ext>
            </a:extLst>
          </p:cNvPr>
          <p:cNvSpPr txBox="1">
            <a:spLocks noChangeArrowheads="1"/>
          </p:cNvSpPr>
          <p:nvPr/>
        </p:nvSpPr>
        <p:spPr bwMode="auto">
          <a:xfrm>
            <a:off x="1865313" y="1728787"/>
            <a:ext cx="8921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0"/>
              </a:spcBef>
              <a:buClrTx/>
              <a:buFontTx/>
              <a:buNone/>
            </a:pPr>
            <a:r>
              <a:rPr kumimoji="0" lang="en-US" altLang="zh-CN" sz="1600">
                <a:latin typeface="Helvetica" panose="020B0604020202020204" pitchFamily="34" charset="0"/>
                <a:ea typeface="宋体" panose="02010600030101010101" pitchFamily="2" charset="-122"/>
              </a:rPr>
              <a:t>Request</a:t>
            </a:r>
          </a:p>
          <a:p>
            <a:pPr algn="ctr">
              <a:lnSpc>
                <a:spcPct val="90000"/>
              </a:lnSpc>
              <a:spcBef>
                <a:spcPct val="0"/>
              </a:spcBef>
              <a:buClrTx/>
              <a:buFontTx/>
              <a:buNone/>
            </a:pPr>
            <a:r>
              <a:rPr kumimoji="0" lang="en-US" altLang="zh-CN" sz="1600">
                <a:latin typeface="Helvetica" panose="020B0604020202020204" pitchFamily="34" charset="0"/>
                <a:ea typeface="宋体" panose="02010600030101010101" pitchFamily="2" charset="-122"/>
              </a:rPr>
              <a:t>14</a:t>
            </a:r>
          </a:p>
        </p:txBody>
      </p:sp>
      <p:sp>
        <p:nvSpPr>
          <p:cNvPr id="774148" name="Text Box 4">
            <a:extLst>
              <a:ext uri="{FF2B5EF4-FFF2-40B4-BE49-F238E27FC236}">
                <a16:creationId xmlns:a16="http://schemas.microsoft.com/office/drawing/2014/main" id="{D1C55166-7EAA-4F7A-B22A-4CC3708AD382}"/>
              </a:ext>
            </a:extLst>
          </p:cNvPr>
          <p:cNvSpPr txBox="1">
            <a:spLocks noChangeArrowheads="1"/>
          </p:cNvSpPr>
          <p:nvPr/>
        </p:nvSpPr>
        <p:spPr bwMode="auto">
          <a:xfrm>
            <a:off x="1868488" y="1719262"/>
            <a:ext cx="8921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0"/>
              </a:spcBef>
              <a:buClrTx/>
              <a:buFontTx/>
              <a:buNone/>
            </a:pPr>
            <a:r>
              <a:rPr kumimoji="0" lang="en-US" altLang="zh-CN" sz="1600">
                <a:latin typeface="Helvetica" panose="020B0604020202020204" pitchFamily="34" charset="0"/>
                <a:ea typeface="宋体" panose="02010600030101010101" pitchFamily="2" charset="-122"/>
              </a:rPr>
              <a:t>Request</a:t>
            </a:r>
          </a:p>
          <a:p>
            <a:pPr algn="ctr">
              <a:lnSpc>
                <a:spcPct val="90000"/>
              </a:lnSpc>
              <a:spcBef>
                <a:spcPct val="0"/>
              </a:spcBef>
              <a:buClrTx/>
              <a:buFontTx/>
              <a:buNone/>
            </a:pPr>
            <a:r>
              <a:rPr kumimoji="0" lang="en-US" altLang="zh-CN" sz="1600">
                <a:latin typeface="Helvetica" panose="020B0604020202020204" pitchFamily="34" charset="0"/>
                <a:ea typeface="宋体" panose="02010600030101010101" pitchFamily="2" charset="-122"/>
              </a:rPr>
              <a:t>12</a:t>
            </a:r>
          </a:p>
        </p:txBody>
      </p:sp>
      <p:sp>
        <p:nvSpPr>
          <p:cNvPr id="21512" name="Rectangle 7">
            <a:extLst>
              <a:ext uri="{FF2B5EF4-FFF2-40B4-BE49-F238E27FC236}">
                <a16:creationId xmlns:a16="http://schemas.microsoft.com/office/drawing/2014/main" id="{4BDC0089-0A72-4319-BE7C-785B5CCDE82C}"/>
              </a:ext>
            </a:extLst>
          </p:cNvPr>
          <p:cNvSpPr>
            <a:spLocks noChangeAspect="1" noChangeArrowheads="1"/>
          </p:cNvSpPr>
          <p:nvPr/>
        </p:nvSpPr>
        <p:spPr bwMode="auto">
          <a:xfrm>
            <a:off x="1162050" y="2647950"/>
            <a:ext cx="547688" cy="242887"/>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9</a:t>
            </a:r>
          </a:p>
        </p:txBody>
      </p:sp>
      <p:sp>
        <p:nvSpPr>
          <p:cNvPr id="21513" name="Rectangle 8">
            <a:extLst>
              <a:ext uri="{FF2B5EF4-FFF2-40B4-BE49-F238E27FC236}">
                <a16:creationId xmlns:a16="http://schemas.microsoft.com/office/drawing/2014/main" id="{C4D55193-E137-4985-87CF-1348A3B138A9}"/>
              </a:ext>
            </a:extLst>
          </p:cNvPr>
          <p:cNvSpPr>
            <a:spLocks noChangeAspect="1" noChangeArrowheads="1"/>
          </p:cNvSpPr>
          <p:nvPr/>
        </p:nvSpPr>
        <p:spPr bwMode="auto">
          <a:xfrm>
            <a:off x="2501900" y="2647950"/>
            <a:ext cx="547688" cy="242887"/>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3</a:t>
            </a:r>
          </a:p>
        </p:txBody>
      </p:sp>
      <p:sp>
        <p:nvSpPr>
          <p:cNvPr id="21514" name="Rectangle 9">
            <a:extLst>
              <a:ext uri="{FF2B5EF4-FFF2-40B4-BE49-F238E27FC236}">
                <a16:creationId xmlns:a16="http://schemas.microsoft.com/office/drawing/2014/main" id="{89137055-C168-47B1-99FF-5D7B8B584C05}"/>
              </a:ext>
            </a:extLst>
          </p:cNvPr>
          <p:cNvSpPr>
            <a:spLocks noChangeAspect="1" noChangeArrowheads="1"/>
          </p:cNvSpPr>
          <p:nvPr/>
        </p:nvSpPr>
        <p:spPr bwMode="auto">
          <a:xfrm>
            <a:off x="127000" y="4302125"/>
            <a:ext cx="3409950" cy="1825625"/>
          </a:xfrm>
          <a:prstGeom prst="rect">
            <a:avLst/>
          </a:prstGeom>
          <a:solidFill>
            <a:srgbClr val="FF99CC"/>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1515" name="Rectangle 10">
            <a:extLst>
              <a:ext uri="{FF2B5EF4-FFF2-40B4-BE49-F238E27FC236}">
                <a16:creationId xmlns:a16="http://schemas.microsoft.com/office/drawing/2014/main" id="{1274CFDE-91AA-4618-9EAF-F440CA5E97AB}"/>
              </a:ext>
            </a:extLst>
          </p:cNvPr>
          <p:cNvSpPr>
            <a:spLocks noChangeAspect="1" noChangeArrowheads="1"/>
          </p:cNvSpPr>
          <p:nvPr/>
        </p:nvSpPr>
        <p:spPr bwMode="auto">
          <a:xfrm>
            <a:off x="552450" y="4545012"/>
            <a:ext cx="549275"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0</a:t>
            </a:r>
          </a:p>
        </p:txBody>
      </p:sp>
      <p:sp>
        <p:nvSpPr>
          <p:cNvPr id="21516" name="Rectangle 11">
            <a:extLst>
              <a:ext uri="{FF2B5EF4-FFF2-40B4-BE49-F238E27FC236}">
                <a16:creationId xmlns:a16="http://schemas.microsoft.com/office/drawing/2014/main" id="{D43F5F01-0DFC-4F83-AA0D-451673BD879E}"/>
              </a:ext>
            </a:extLst>
          </p:cNvPr>
          <p:cNvSpPr>
            <a:spLocks noChangeAspect="1" noChangeArrowheads="1"/>
          </p:cNvSpPr>
          <p:nvPr/>
        </p:nvSpPr>
        <p:spPr bwMode="auto">
          <a:xfrm>
            <a:off x="1222375" y="4545012"/>
            <a:ext cx="549275"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a:t>
            </a:r>
          </a:p>
        </p:txBody>
      </p:sp>
      <p:sp>
        <p:nvSpPr>
          <p:cNvPr id="21517" name="Rectangle 12">
            <a:extLst>
              <a:ext uri="{FF2B5EF4-FFF2-40B4-BE49-F238E27FC236}">
                <a16:creationId xmlns:a16="http://schemas.microsoft.com/office/drawing/2014/main" id="{2EFC7B4F-7504-4228-8D7A-2B8646AD0717}"/>
              </a:ext>
            </a:extLst>
          </p:cNvPr>
          <p:cNvSpPr>
            <a:spLocks noChangeAspect="1" noChangeArrowheads="1"/>
          </p:cNvSpPr>
          <p:nvPr/>
        </p:nvSpPr>
        <p:spPr bwMode="auto">
          <a:xfrm>
            <a:off x="1892300" y="4545012"/>
            <a:ext cx="547688"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2</a:t>
            </a:r>
          </a:p>
        </p:txBody>
      </p:sp>
      <p:sp>
        <p:nvSpPr>
          <p:cNvPr id="21518" name="Rectangle 13">
            <a:extLst>
              <a:ext uri="{FF2B5EF4-FFF2-40B4-BE49-F238E27FC236}">
                <a16:creationId xmlns:a16="http://schemas.microsoft.com/office/drawing/2014/main" id="{93F66E24-205B-400C-9109-0D3A4ACE33B1}"/>
              </a:ext>
            </a:extLst>
          </p:cNvPr>
          <p:cNvSpPr>
            <a:spLocks noChangeAspect="1" noChangeArrowheads="1"/>
          </p:cNvSpPr>
          <p:nvPr/>
        </p:nvSpPr>
        <p:spPr bwMode="auto">
          <a:xfrm>
            <a:off x="2562225" y="4545012"/>
            <a:ext cx="547688"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3</a:t>
            </a:r>
          </a:p>
        </p:txBody>
      </p:sp>
      <p:sp>
        <p:nvSpPr>
          <p:cNvPr id="21519" name="Rectangle 14">
            <a:extLst>
              <a:ext uri="{FF2B5EF4-FFF2-40B4-BE49-F238E27FC236}">
                <a16:creationId xmlns:a16="http://schemas.microsoft.com/office/drawing/2014/main" id="{CF35E8B0-6430-4F71-9369-7F6FC5F56B04}"/>
              </a:ext>
            </a:extLst>
          </p:cNvPr>
          <p:cNvSpPr>
            <a:spLocks noChangeAspect="1" noChangeArrowheads="1"/>
          </p:cNvSpPr>
          <p:nvPr/>
        </p:nvSpPr>
        <p:spPr bwMode="auto">
          <a:xfrm>
            <a:off x="552450" y="4910137"/>
            <a:ext cx="549275"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21520" name="Rectangle 15">
            <a:extLst>
              <a:ext uri="{FF2B5EF4-FFF2-40B4-BE49-F238E27FC236}">
                <a16:creationId xmlns:a16="http://schemas.microsoft.com/office/drawing/2014/main" id="{A5A466EC-D577-4FA1-88D1-FB397EEC7D6D}"/>
              </a:ext>
            </a:extLst>
          </p:cNvPr>
          <p:cNvSpPr>
            <a:spLocks noChangeAspect="1" noChangeArrowheads="1"/>
          </p:cNvSpPr>
          <p:nvPr/>
        </p:nvSpPr>
        <p:spPr bwMode="auto">
          <a:xfrm>
            <a:off x="1222375" y="4910137"/>
            <a:ext cx="549275"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5</a:t>
            </a:r>
          </a:p>
        </p:txBody>
      </p:sp>
      <p:sp>
        <p:nvSpPr>
          <p:cNvPr id="21521" name="Rectangle 16">
            <a:extLst>
              <a:ext uri="{FF2B5EF4-FFF2-40B4-BE49-F238E27FC236}">
                <a16:creationId xmlns:a16="http://schemas.microsoft.com/office/drawing/2014/main" id="{01CE8220-0873-44D2-B1CB-EBE539019679}"/>
              </a:ext>
            </a:extLst>
          </p:cNvPr>
          <p:cNvSpPr>
            <a:spLocks noChangeAspect="1" noChangeArrowheads="1"/>
          </p:cNvSpPr>
          <p:nvPr/>
        </p:nvSpPr>
        <p:spPr bwMode="auto">
          <a:xfrm>
            <a:off x="1892300" y="4910137"/>
            <a:ext cx="547688"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6</a:t>
            </a:r>
          </a:p>
        </p:txBody>
      </p:sp>
      <p:sp>
        <p:nvSpPr>
          <p:cNvPr id="21522" name="Rectangle 17">
            <a:extLst>
              <a:ext uri="{FF2B5EF4-FFF2-40B4-BE49-F238E27FC236}">
                <a16:creationId xmlns:a16="http://schemas.microsoft.com/office/drawing/2014/main" id="{1443F7C8-919E-4091-BB25-8452EC0FB8A2}"/>
              </a:ext>
            </a:extLst>
          </p:cNvPr>
          <p:cNvSpPr>
            <a:spLocks noChangeAspect="1" noChangeArrowheads="1"/>
          </p:cNvSpPr>
          <p:nvPr/>
        </p:nvSpPr>
        <p:spPr bwMode="auto">
          <a:xfrm>
            <a:off x="2562225" y="4910137"/>
            <a:ext cx="547688"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7</a:t>
            </a:r>
          </a:p>
        </p:txBody>
      </p:sp>
      <p:sp>
        <p:nvSpPr>
          <p:cNvPr id="21523" name="Rectangle 18">
            <a:extLst>
              <a:ext uri="{FF2B5EF4-FFF2-40B4-BE49-F238E27FC236}">
                <a16:creationId xmlns:a16="http://schemas.microsoft.com/office/drawing/2014/main" id="{EF626DA8-4A2E-4342-BDEA-248D41FDDD80}"/>
              </a:ext>
            </a:extLst>
          </p:cNvPr>
          <p:cNvSpPr>
            <a:spLocks noChangeAspect="1" noChangeArrowheads="1"/>
          </p:cNvSpPr>
          <p:nvPr/>
        </p:nvSpPr>
        <p:spPr bwMode="auto">
          <a:xfrm>
            <a:off x="552450" y="5275262"/>
            <a:ext cx="549275"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8</a:t>
            </a:r>
          </a:p>
        </p:txBody>
      </p:sp>
      <p:sp>
        <p:nvSpPr>
          <p:cNvPr id="21524" name="Rectangle 19">
            <a:extLst>
              <a:ext uri="{FF2B5EF4-FFF2-40B4-BE49-F238E27FC236}">
                <a16:creationId xmlns:a16="http://schemas.microsoft.com/office/drawing/2014/main" id="{DCB2D32D-7C2C-45C8-9C07-08C73BF4DEF1}"/>
              </a:ext>
            </a:extLst>
          </p:cNvPr>
          <p:cNvSpPr>
            <a:spLocks noChangeAspect="1" noChangeArrowheads="1"/>
          </p:cNvSpPr>
          <p:nvPr/>
        </p:nvSpPr>
        <p:spPr bwMode="auto">
          <a:xfrm>
            <a:off x="1222375" y="5275262"/>
            <a:ext cx="549275"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9</a:t>
            </a:r>
          </a:p>
        </p:txBody>
      </p:sp>
      <p:sp>
        <p:nvSpPr>
          <p:cNvPr id="21525" name="Rectangle 20">
            <a:extLst>
              <a:ext uri="{FF2B5EF4-FFF2-40B4-BE49-F238E27FC236}">
                <a16:creationId xmlns:a16="http://schemas.microsoft.com/office/drawing/2014/main" id="{5ABE0BEE-EF8B-4409-92BF-688499AF728F}"/>
              </a:ext>
            </a:extLst>
          </p:cNvPr>
          <p:cNvSpPr>
            <a:spLocks noChangeAspect="1" noChangeArrowheads="1"/>
          </p:cNvSpPr>
          <p:nvPr/>
        </p:nvSpPr>
        <p:spPr bwMode="auto">
          <a:xfrm>
            <a:off x="1892300" y="5275262"/>
            <a:ext cx="547688"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10</a:t>
            </a:r>
          </a:p>
        </p:txBody>
      </p:sp>
      <p:sp>
        <p:nvSpPr>
          <p:cNvPr id="21526" name="Rectangle 21">
            <a:extLst>
              <a:ext uri="{FF2B5EF4-FFF2-40B4-BE49-F238E27FC236}">
                <a16:creationId xmlns:a16="http://schemas.microsoft.com/office/drawing/2014/main" id="{FE141A6E-E85F-46A4-9C7B-1F1706B3784C}"/>
              </a:ext>
            </a:extLst>
          </p:cNvPr>
          <p:cNvSpPr>
            <a:spLocks noChangeAspect="1" noChangeArrowheads="1"/>
          </p:cNvSpPr>
          <p:nvPr/>
        </p:nvSpPr>
        <p:spPr bwMode="auto">
          <a:xfrm>
            <a:off x="2562225" y="5275262"/>
            <a:ext cx="547688"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11</a:t>
            </a:r>
          </a:p>
        </p:txBody>
      </p:sp>
      <p:sp>
        <p:nvSpPr>
          <p:cNvPr id="21527" name="Rectangle 22">
            <a:extLst>
              <a:ext uri="{FF2B5EF4-FFF2-40B4-BE49-F238E27FC236}">
                <a16:creationId xmlns:a16="http://schemas.microsoft.com/office/drawing/2014/main" id="{0615BB3B-CBDD-4A66-85C2-763F7D914155}"/>
              </a:ext>
            </a:extLst>
          </p:cNvPr>
          <p:cNvSpPr>
            <a:spLocks noChangeAspect="1" noChangeArrowheads="1"/>
          </p:cNvSpPr>
          <p:nvPr/>
        </p:nvSpPr>
        <p:spPr bwMode="auto">
          <a:xfrm>
            <a:off x="552450" y="5640387"/>
            <a:ext cx="549275"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12</a:t>
            </a:r>
          </a:p>
        </p:txBody>
      </p:sp>
      <p:sp>
        <p:nvSpPr>
          <p:cNvPr id="21528" name="Rectangle 23">
            <a:extLst>
              <a:ext uri="{FF2B5EF4-FFF2-40B4-BE49-F238E27FC236}">
                <a16:creationId xmlns:a16="http://schemas.microsoft.com/office/drawing/2014/main" id="{D1004C46-4515-41B6-AE30-F6F82C430EC7}"/>
              </a:ext>
            </a:extLst>
          </p:cNvPr>
          <p:cNvSpPr>
            <a:spLocks noChangeAspect="1" noChangeArrowheads="1"/>
          </p:cNvSpPr>
          <p:nvPr/>
        </p:nvSpPr>
        <p:spPr bwMode="auto">
          <a:xfrm>
            <a:off x="1222375" y="5640387"/>
            <a:ext cx="549275"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13</a:t>
            </a:r>
          </a:p>
        </p:txBody>
      </p:sp>
      <p:sp>
        <p:nvSpPr>
          <p:cNvPr id="21529" name="Rectangle 24">
            <a:extLst>
              <a:ext uri="{FF2B5EF4-FFF2-40B4-BE49-F238E27FC236}">
                <a16:creationId xmlns:a16="http://schemas.microsoft.com/office/drawing/2014/main" id="{C442E7AE-0F45-48CD-AF94-311037878462}"/>
              </a:ext>
            </a:extLst>
          </p:cNvPr>
          <p:cNvSpPr>
            <a:spLocks noChangeAspect="1" noChangeArrowheads="1"/>
          </p:cNvSpPr>
          <p:nvPr/>
        </p:nvSpPr>
        <p:spPr bwMode="auto">
          <a:xfrm>
            <a:off x="1892300" y="5640387"/>
            <a:ext cx="547688"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14</a:t>
            </a:r>
          </a:p>
        </p:txBody>
      </p:sp>
      <p:sp>
        <p:nvSpPr>
          <p:cNvPr id="21530" name="Rectangle 25">
            <a:extLst>
              <a:ext uri="{FF2B5EF4-FFF2-40B4-BE49-F238E27FC236}">
                <a16:creationId xmlns:a16="http://schemas.microsoft.com/office/drawing/2014/main" id="{42CD5011-E85D-4AC3-B197-56C8EC512130}"/>
              </a:ext>
            </a:extLst>
          </p:cNvPr>
          <p:cNvSpPr>
            <a:spLocks noChangeAspect="1" noChangeArrowheads="1"/>
          </p:cNvSpPr>
          <p:nvPr/>
        </p:nvSpPr>
        <p:spPr bwMode="auto">
          <a:xfrm>
            <a:off x="2562225" y="5640387"/>
            <a:ext cx="547688" cy="2444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15</a:t>
            </a:r>
          </a:p>
        </p:txBody>
      </p:sp>
      <p:sp>
        <p:nvSpPr>
          <p:cNvPr id="21531" name="Line 26">
            <a:extLst>
              <a:ext uri="{FF2B5EF4-FFF2-40B4-BE49-F238E27FC236}">
                <a16:creationId xmlns:a16="http://schemas.microsoft.com/office/drawing/2014/main" id="{4FF2F247-B54D-4585-9F2D-0F5FA54B9553}"/>
              </a:ext>
            </a:extLst>
          </p:cNvPr>
          <p:cNvSpPr>
            <a:spLocks noChangeAspect="1" noChangeShapeType="1"/>
          </p:cNvSpPr>
          <p:nvPr/>
        </p:nvSpPr>
        <p:spPr bwMode="auto">
          <a:xfrm>
            <a:off x="1831975" y="3022600"/>
            <a:ext cx="0" cy="1217612"/>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2" name="Rectangle 27">
            <a:extLst>
              <a:ext uri="{FF2B5EF4-FFF2-40B4-BE49-F238E27FC236}">
                <a16:creationId xmlns:a16="http://schemas.microsoft.com/office/drawing/2014/main" id="{9D333E8F-67FE-40CD-8D63-2E4C7270C91B}"/>
              </a:ext>
            </a:extLst>
          </p:cNvPr>
          <p:cNvSpPr>
            <a:spLocks noChangeAspect="1" noChangeArrowheads="1"/>
          </p:cNvSpPr>
          <p:nvPr/>
        </p:nvSpPr>
        <p:spPr bwMode="auto">
          <a:xfrm>
            <a:off x="1162050" y="3449637"/>
            <a:ext cx="547688" cy="242888"/>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prstDash val="sysDot"/>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600">
              <a:latin typeface="Helvetica" panose="020B0604020202020204" pitchFamily="34" charset="0"/>
              <a:ea typeface="宋体" panose="02010600030101010101" pitchFamily="2" charset="-122"/>
            </a:endParaRPr>
          </a:p>
        </p:txBody>
      </p:sp>
      <p:sp>
        <p:nvSpPr>
          <p:cNvPr id="21533" name="Text Box 28">
            <a:extLst>
              <a:ext uri="{FF2B5EF4-FFF2-40B4-BE49-F238E27FC236}">
                <a16:creationId xmlns:a16="http://schemas.microsoft.com/office/drawing/2014/main" id="{BE2C1079-34E2-4D23-82CB-167A00B875E3}"/>
              </a:ext>
            </a:extLst>
          </p:cNvPr>
          <p:cNvSpPr txBox="1">
            <a:spLocks noChangeAspect="1" noChangeArrowheads="1"/>
          </p:cNvSpPr>
          <p:nvPr/>
        </p:nvSpPr>
        <p:spPr bwMode="auto">
          <a:xfrm>
            <a:off x="360363" y="1755775"/>
            <a:ext cx="7000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Level</a:t>
            </a:r>
          </a:p>
          <a:p>
            <a:pPr algn="ctr">
              <a:spcBef>
                <a:spcPct val="0"/>
              </a:spcBef>
              <a:buClrTx/>
              <a:buFontTx/>
              <a:buNone/>
            </a:pPr>
            <a:r>
              <a:rPr kumimoji="0" lang="en-US" altLang="zh-CN" sz="1600">
                <a:latin typeface="Helvetica" panose="020B0604020202020204" pitchFamily="34" charset="0"/>
                <a:ea typeface="宋体" panose="02010600030101010101" pitchFamily="2" charset="-122"/>
              </a:rPr>
              <a:t> k:</a:t>
            </a:r>
          </a:p>
        </p:txBody>
      </p:sp>
      <p:sp>
        <p:nvSpPr>
          <p:cNvPr id="21534" name="Text Box 29">
            <a:extLst>
              <a:ext uri="{FF2B5EF4-FFF2-40B4-BE49-F238E27FC236}">
                <a16:creationId xmlns:a16="http://schemas.microsoft.com/office/drawing/2014/main" id="{65592030-90BB-415F-99A3-32EB73C78D2B}"/>
              </a:ext>
            </a:extLst>
          </p:cNvPr>
          <p:cNvSpPr txBox="1">
            <a:spLocks noChangeAspect="1" noChangeArrowheads="1"/>
          </p:cNvSpPr>
          <p:nvPr/>
        </p:nvSpPr>
        <p:spPr bwMode="auto">
          <a:xfrm>
            <a:off x="107950" y="3700462"/>
            <a:ext cx="7572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Level </a:t>
            </a:r>
          </a:p>
          <a:p>
            <a:pPr algn="ctr">
              <a:spcBef>
                <a:spcPct val="0"/>
              </a:spcBef>
              <a:buClrTx/>
              <a:buFontTx/>
              <a:buNone/>
            </a:pPr>
            <a:r>
              <a:rPr kumimoji="0" lang="en-US" altLang="zh-CN" sz="1600">
                <a:latin typeface="Helvetica" panose="020B0604020202020204" pitchFamily="34" charset="0"/>
                <a:ea typeface="宋体" panose="02010600030101010101" pitchFamily="2" charset="-122"/>
              </a:rPr>
              <a:t>k+1:</a:t>
            </a:r>
          </a:p>
        </p:txBody>
      </p:sp>
      <p:sp>
        <p:nvSpPr>
          <p:cNvPr id="21535" name="Rectangle 30">
            <a:extLst>
              <a:ext uri="{FF2B5EF4-FFF2-40B4-BE49-F238E27FC236}">
                <a16:creationId xmlns:a16="http://schemas.microsoft.com/office/drawing/2014/main" id="{6CBD3DDC-48D4-4CD2-AFD8-7B307A0CB54E}"/>
              </a:ext>
            </a:extLst>
          </p:cNvPr>
          <p:cNvSpPr>
            <a:spLocks noChangeAspect="1" noChangeArrowheads="1"/>
          </p:cNvSpPr>
          <p:nvPr/>
        </p:nvSpPr>
        <p:spPr bwMode="auto">
          <a:xfrm>
            <a:off x="1831975" y="2647950"/>
            <a:ext cx="547688" cy="242887"/>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14</a:t>
            </a:r>
          </a:p>
        </p:txBody>
      </p:sp>
      <p:sp>
        <p:nvSpPr>
          <p:cNvPr id="774175" name="Rectangle 31">
            <a:extLst>
              <a:ext uri="{FF2B5EF4-FFF2-40B4-BE49-F238E27FC236}">
                <a16:creationId xmlns:a16="http://schemas.microsoft.com/office/drawing/2014/main" id="{6ED16296-EF44-4E14-9058-BFEF381A4293}"/>
              </a:ext>
            </a:extLst>
          </p:cNvPr>
          <p:cNvSpPr>
            <a:spLocks noChangeAspect="1" noChangeArrowheads="1"/>
          </p:cNvSpPr>
          <p:nvPr/>
        </p:nvSpPr>
        <p:spPr bwMode="auto">
          <a:xfrm>
            <a:off x="1824038" y="2636837"/>
            <a:ext cx="547687" cy="242888"/>
          </a:xfrm>
          <a:prstGeom prst="rect">
            <a:avLst/>
          </a:prstGeom>
          <a:solidFill>
            <a:srgbClr val="CC33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14</a:t>
            </a:r>
          </a:p>
        </p:txBody>
      </p:sp>
      <p:sp>
        <p:nvSpPr>
          <p:cNvPr id="774176" name="Rectangle 32">
            <a:extLst>
              <a:ext uri="{FF2B5EF4-FFF2-40B4-BE49-F238E27FC236}">
                <a16:creationId xmlns:a16="http://schemas.microsoft.com/office/drawing/2014/main" id="{30E5156B-7AB4-46AD-8A83-9B492B09A11C}"/>
              </a:ext>
            </a:extLst>
          </p:cNvPr>
          <p:cNvSpPr>
            <a:spLocks noChangeAspect="1" noChangeArrowheads="1"/>
          </p:cNvSpPr>
          <p:nvPr/>
        </p:nvSpPr>
        <p:spPr bwMode="auto">
          <a:xfrm>
            <a:off x="554038" y="5641975"/>
            <a:ext cx="549275" cy="244475"/>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12</a:t>
            </a:r>
          </a:p>
        </p:txBody>
      </p:sp>
      <p:sp>
        <p:nvSpPr>
          <p:cNvPr id="21538" name="Line 33">
            <a:extLst>
              <a:ext uri="{FF2B5EF4-FFF2-40B4-BE49-F238E27FC236}">
                <a16:creationId xmlns:a16="http://schemas.microsoft.com/office/drawing/2014/main" id="{7B19748D-78DC-4497-BB6A-5BC10E896C84}"/>
              </a:ext>
            </a:extLst>
          </p:cNvPr>
          <p:cNvSpPr>
            <a:spLocks noChangeShapeType="1"/>
          </p:cNvSpPr>
          <p:nvPr/>
        </p:nvSpPr>
        <p:spPr bwMode="auto">
          <a:xfrm flipH="1" flipV="1">
            <a:off x="1809750" y="1557337"/>
            <a:ext cx="3175" cy="985838"/>
          </a:xfrm>
          <a:prstGeom prst="line">
            <a:avLst/>
          </a:prstGeom>
          <a:noFill/>
          <a:ln w="19050">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lIns="45720" rIns="45720" anchor="ctr">
            <a:spAutoFit/>
          </a:bodyPr>
          <a:lstStyle/>
          <a:p>
            <a:endParaRPr lang="zh-CN" altLang="en-US"/>
          </a:p>
        </p:txBody>
      </p:sp>
      <p:sp>
        <p:nvSpPr>
          <p:cNvPr id="774178" name="Rectangle 34">
            <a:extLst>
              <a:ext uri="{FF2B5EF4-FFF2-40B4-BE49-F238E27FC236}">
                <a16:creationId xmlns:a16="http://schemas.microsoft.com/office/drawing/2014/main" id="{21F33469-4B2D-4E7C-A688-3F77FDC2C72A}"/>
              </a:ext>
            </a:extLst>
          </p:cNvPr>
          <p:cNvSpPr>
            <a:spLocks noChangeAspect="1" noChangeArrowheads="1"/>
          </p:cNvSpPr>
          <p:nvPr/>
        </p:nvSpPr>
        <p:spPr bwMode="auto">
          <a:xfrm>
            <a:off x="1150938" y="1841500"/>
            <a:ext cx="547687" cy="242887"/>
          </a:xfrm>
          <a:prstGeom prst="rect">
            <a:avLst/>
          </a:prstGeom>
          <a:solidFill>
            <a:srgbClr val="CC33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14</a:t>
            </a:r>
          </a:p>
        </p:txBody>
      </p:sp>
      <p:sp>
        <p:nvSpPr>
          <p:cNvPr id="774179" name="Rectangle 35">
            <a:extLst>
              <a:ext uri="{FF2B5EF4-FFF2-40B4-BE49-F238E27FC236}">
                <a16:creationId xmlns:a16="http://schemas.microsoft.com/office/drawing/2014/main" id="{052F8B60-0AB9-4421-8985-5628FD19128E}"/>
              </a:ext>
            </a:extLst>
          </p:cNvPr>
          <p:cNvSpPr>
            <a:spLocks noChangeAspect="1" noChangeArrowheads="1"/>
          </p:cNvSpPr>
          <p:nvPr/>
        </p:nvSpPr>
        <p:spPr bwMode="auto">
          <a:xfrm>
            <a:off x="554038" y="4913312"/>
            <a:ext cx="547687" cy="242888"/>
          </a:xfrm>
          <a:prstGeom prst="rect">
            <a:avLst/>
          </a:prstGeom>
          <a:solidFill>
            <a:srgbClr val="6600FF"/>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4*</a:t>
            </a:r>
          </a:p>
        </p:txBody>
      </p:sp>
      <p:sp>
        <p:nvSpPr>
          <p:cNvPr id="774180" name="Rectangle 36">
            <a:extLst>
              <a:ext uri="{FF2B5EF4-FFF2-40B4-BE49-F238E27FC236}">
                <a16:creationId xmlns:a16="http://schemas.microsoft.com/office/drawing/2014/main" id="{3F7523EA-607C-4A05-9068-99AA35B0D998}"/>
              </a:ext>
            </a:extLst>
          </p:cNvPr>
          <p:cNvSpPr>
            <a:spLocks noChangeAspect="1" noChangeArrowheads="1"/>
          </p:cNvSpPr>
          <p:nvPr/>
        </p:nvSpPr>
        <p:spPr bwMode="auto">
          <a:xfrm>
            <a:off x="1154113" y="3451225"/>
            <a:ext cx="547687" cy="242887"/>
          </a:xfrm>
          <a:prstGeom prst="rect">
            <a:avLst/>
          </a:prstGeom>
          <a:solidFill>
            <a:srgbClr val="6600FF"/>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774181" name="Rectangle 37">
            <a:extLst>
              <a:ext uri="{FF2B5EF4-FFF2-40B4-BE49-F238E27FC236}">
                <a16:creationId xmlns:a16="http://schemas.microsoft.com/office/drawing/2014/main" id="{2063EDF6-557B-490F-BE47-B93FF1D1C113}"/>
              </a:ext>
            </a:extLst>
          </p:cNvPr>
          <p:cNvSpPr>
            <a:spLocks noChangeAspect="1" noChangeArrowheads="1"/>
          </p:cNvSpPr>
          <p:nvPr/>
        </p:nvSpPr>
        <p:spPr bwMode="auto">
          <a:xfrm>
            <a:off x="1116013" y="3443287"/>
            <a:ext cx="549275" cy="244475"/>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12</a:t>
            </a:r>
          </a:p>
        </p:txBody>
      </p:sp>
      <p:sp>
        <p:nvSpPr>
          <p:cNvPr id="774182" name="Rectangle 38">
            <a:extLst>
              <a:ext uri="{FF2B5EF4-FFF2-40B4-BE49-F238E27FC236}">
                <a16:creationId xmlns:a16="http://schemas.microsoft.com/office/drawing/2014/main" id="{71A11827-88C2-48C9-88AD-3116316AAA68}"/>
              </a:ext>
            </a:extLst>
          </p:cNvPr>
          <p:cNvSpPr>
            <a:spLocks noChangeAspect="1" noChangeArrowheads="1"/>
          </p:cNvSpPr>
          <p:nvPr/>
        </p:nvSpPr>
        <p:spPr bwMode="auto">
          <a:xfrm>
            <a:off x="1154113" y="1252537"/>
            <a:ext cx="549275" cy="244475"/>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12</a:t>
            </a:r>
          </a:p>
        </p:txBody>
      </p:sp>
      <p:sp>
        <p:nvSpPr>
          <p:cNvPr id="21544" name="Text Box 39">
            <a:extLst>
              <a:ext uri="{FF2B5EF4-FFF2-40B4-BE49-F238E27FC236}">
                <a16:creationId xmlns:a16="http://schemas.microsoft.com/office/drawing/2014/main" id="{45C0CC8C-416E-4E63-8EB8-A9AF15F825FF}"/>
              </a:ext>
            </a:extLst>
          </p:cNvPr>
          <p:cNvSpPr txBox="1">
            <a:spLocks noChangeArrowheads="1"/>
          </p:cNvSpPr>
          <p:nvPr/>
        </p:nvSpPr>
        <p:spPr bwMode="auto">
          <a:xfrm>
            <a:off x="712788" y="2324100"/>
            <a:ext cx="176212"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0"/>
              </a:spcBef>
              <a:buClrTx/>
              <a:buFontTx/>
              <a:buNone/>
            </a:pPr>
            <a:r>
              <a:rPr kumimoji="0" lang="en-US" altLang="zh-CN" sz="1200">
                <a:latin typeface="Helvetica" panose="020B0604020202020204" pitchFamily="34" charset="0"/>
                <a:ea typeface="宋体" panose="02010600030101010101" pitchFamily="2" charset="-122"/>
              </a:rPr>
              <a:t>0</a:t>
            </a:r>
          </a:p>
        </p:txBody>
      </p:sp>
      <p:sp>
        <p:nvSpPr>
          <p:cNvPr id="21545" name="Text Box 40">
            <a:extLst>
              <a:ext uri="{FF2B5EF4-FFF2-40B4-BE49-F238E27FC236}">
                <a16:creationId xmlns:a16="http://schemas.microsoft.com/office/drawing/2014/main" id="{EA43171C-92E6-4F38-9944-F351275A5A8C}"/>
              </a:ext>
            </a:extLst>
          </p:cNvPr>
          <p:cNvSpPr txBox="1">
            <a:spLocks noChangeArrowheads="1"/>
          </p:cNvSpPr>
          <p:nvPr/>
        </p:nvSpPr>
        <p:spPr bwMode="auto">
          <a:xfrm>
            <a:off x="1341438" y="2324100"/>
            <a:ext cx="176212"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0"/>
              </a:spcBef>
              <a:buClrTx/>
              <a:buFontTx/>
              <a:buNone/>
            </a:pPr>
            <a:r>
              <a:rPr kumimoji="0" lang="en-US" altLang="zh-CN" sz="1200">
                <a:latin typeface="Helvetica" panose="020B0604020202020204" pitchFamily="34" charset="0"/>
                <a:ea typeface="宋体" panose="02010600030101010101" pitchFamily="2" charset="-122"/>
              </a:rPr>
              <a:t>1</a:t>
            </a:r>
          </a:p>
        </p:txBody>
      </p:sp>
      <p:sp>
        <p:nvSpPr>
          <p:cNvPr id="21546" name="Text Box 41">
            <a:extLst>
              <a:ext uri="{FF2B5EF4-FFF2-40B4-BE49-F238E27FC236}">
                <a16:creationId xmlns:a16="http://schemas.microsoft.com/office/drawing/2014/main" id="{30151C58-ADA4-400F-A02D-5145F9A13B16}"/>
              </a:ext>
            </a:extLst>
          </p:cNvPr>
          <p:cNvSpPr txBox="1">
            <a:spLocks noChangeArrowheads="1"/>
          </p:cNvSpPr>
          <p:nvPr/>
        </p:nvSpPr>
        <p:spPr bwMode="auto">
          <a:xfrm>
            <a:off x="2044700" y="2324100"/>
            <a:ext cx="176213"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0"/>
              </a:spcBef>
              <a:buClrTx/>
              <a:buFontTx/>
              <a:buNone/>
            </a:pPr>
            <a:r>
              <a:rPr kumimoji="0" lang="en-US" altLang="zh-CN" sz="1200">
                <a:latin typeface="Helvetica" panose="020B0604020202020204" pitchFamily="34" charset="0"/>
                <a:ea typeface="宋体" panose="02010600030101010101" pitchFamily="2" charset="-122"/>
              </a:rPr>
              <a:t>2</a:t>
            </a:r>
          </a:p>
        </p:txBody>
      </p:sp>
      <p:sp>
        <p:nvSpPr>
          <p:cNvPr id="21547" name="Text Box 42">
            <a:extLst>
              <a:ext uri="{FF2B5EF4-FFF2-40B4-BE49-F238E27FC236}">
                <a16:creationId xmlns:a16="http://schemas.microsoft.com/office/drawing/2014/main" id="{97D3E5D3-9712-4471-80FA-9E1793F76D6D}"/>
              </a:ext>
            </a:extLst>
          </p:cNvPr>
          <p:cNvSpPr txBox="1">
            <a:spLocks noChangeArrowheads="1"/>
          </p:cNvSpPr>
          <p:nvPr/>
        </p:nvSpPr>
        <p:spPr bwMode="auto">
          <a:xfrm>
            <a:off x="2693988" y="2324100"/>
            <a:ext cx="176212"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0"/>
              </a:spcBef>
              <a:buClrTx/>
              <a:buFontTx/>
              <a:buNone/>
            </a:pPr>
            <a:r>
              <a:rPr kumimoji="0" lang="en-US" altLang="zh-CN" sz="1200">
                <a:latin typeface="Helvetica" panose="020B0604020202020204" pitchFamily="34" charset="0"/>
                <a:ea typeface="宋体" panose="02010600030101010101" pitchFamily="2" charset="-122"/>
              </a:rPr>
              <a:t>3</a:t>
            </a:r>
          </a:p>
        </p:txBody>
      </p:sp>
      <p:sp>
        <p:nvSpPr>
          <p:cNvPr id="21548" name="Rectangle 43">
            <a:extLst>
              <a:ext uri="{FF2B5EF4-FFF2-40B4-BE49-F238E27FC236}">
                <a16:creationId xmlns:a16="http://schemas.microsoft.com/office/drawing/2014/main" id="{EEB95692-E288-4C8E-B3B1-DBC2289AF3E4}"/>
              </a:ext>
            </a:extLst>
          </p:cNvPr>
          <p:cNvSpPr>
            <a:spLocks noChangeAspect="1" noChangeArrowheads="1"/>
          </p:cNvSpPr>
          <p:nvPr/>
        </p:nvSpPr>
        <p:spPr bwMode="auto">
          <a:xfrm>
            <a:off x="1152525" y="1873250"/>
            <a:ext cx="547688" cy="242887"/>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prstDash val="sysDot"/>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600">
              <a:latin typeface="Helvetica" panose="020B0604020202020204" pitchFamily="34" charset="0"/>
              <a:ea typeface="宋体" panose="02010600030101010101" pitchFamily="2" charset="-122"/>
            </a:endParaRPr>
          </a:p>
        </p:txBody>
      </p:sp>
      <p:sp>
        <p:nvSpPr>
          <p:cNvPr id="774188" name="Text Box 44">
            <a:extLst>
              <a:ext uri="{FF2B5EF4-FFF2-40B4-BE49-F238E27FC236}">
                <a16:creationId xmlns:a16="http://schemas.microsoft.com/office/drawing/2014/main" id="{B508B4F6-166A-4333-A71B-0EE7E04A5F68}"/>
              </a:ext>
            </a:extLst>
          </p:cNvPr>
          <p:cNvSpPr txBox="1">
            <a:spLocks noChangeArrowheads="1"/>
          </p:cNvSpPr>
          <p:nvPr/>
        </p:nvSpPr>
        <p:spPr bwMode="auto">
          <a:xfrm>
            <a:off x="1887538" y="3338512"/>
            <a:ext cx="8921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0"/>
              </a:spcBef>
              <a:buClrTx/>
              <a:buFontTx/>
              <a:buNone/>
            </a:pPr>
            <a:r>
              <a:rPr kumimoji="0" lang="en-US" altLang="zh-CN" sz="1600">
                <a:latin typeface="Helvetica" panose="020B0604020202020204" pitchFamily="34" charset="0"/>
                <a:ea typeface="宋体" panose="02010600030101010101" pitchFamily="2" charset="-122"/>
              </a:rPr>
              <a:t>Request</a:t>
            </a:r>
          </a:p>
          <a:p>
            <a:pPr algn="ctr">
              <a:lnSpc>
                <a:spcPct val="90000"/>
              </a:lnSpc>
              <a:spcBef>
                <a:spcPct val="0"/>
              </a:spcBef>
              <a:buClrTx/>
              <a:buFontTx/>
              <a:buNone/>
            </a:pPr>
            <a:r>
              <a:rPr kumimoji="0" lang="en-US" altLang="zh-CN" sz="1600">
                <a:latin typeface="Helvetica" panose="020B0604020202020204" pitchFamily="34" charset="0"/>
                <a:ea typeface="宋体" panose="02010600030101010101" pitchFamily="2" charset="-122"/>
              </a:rPr>
              <a:t>12</a:t>
            </a:r>
          </a:p>
        </p:txBody>
      </p:sp>
      <p:sp>
        <p:nvSpPr>
          <p:cNvPr id="21550" name="Rectangle 45">
            <a:extLst>
              <a:ext uri="{FF2B5EF4-FFF2-40B4-BE49-F238E27FC236}">
                <a16:creationId xmlns:a16="http://schemas.microsoft.com/office/drawing/2014/main" id="{BEDD581E-C713-4C2A-BA0D-DD15F4F1C11E}"/>
              </a:ext>
            </a:extLst>
          </p:cNvPr>
          <p:cNvSpPr>
            <a:spLocks noChangeAspect="1" noChangeArrowheads="1"/>
          </p:cNvSpPr>
          <p:nvPr/>
        </p:nvSpPr>
        <p:spPr bwMode="auto">
          <a:xfrm>
            <a:off x="522288" y="2655887"/>
            <a:ext cx="547687" cy="242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774190" name="Rectangle 46">
            <a:extLst>
              <a:ext uri="{FF2B5EF4-FFF2-40B4-BE49-F238E27FC236}">
                <a16:creationId xmlns:a16="http://schemas.microsoft.com/office/drawing/2014/main" id="{38975080-E2F3-4653-9950-C49AC686DB0F}"/>
              </a:ext>
            </a:extLst>
          </p:cNvPr>
          <p:cNvSpPr>
            <a:spLocks noChangeAspect="1" noChangeArrowheads="1"/>
          </p:cNvSpPr>
          <p:nvPr/>
        </p:nvSpPr>
        <p:spPr bwMode="auto">
          <a:xfrm>
            <a:off x="514350" y="2638425"/>
            <a:ext cx="547688" cy="242887"/>
          </a:xfrm>
          <a:prstGeom prst="rect">
            <a:avLst/>
          </a:prstGeom>
          <a:solidFill>
            <a:srgbClr val="6600FF"/>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latin typeface="Helvetica" panose="020B0604020202020204" pitchFamily="34" charset="0"/>
                <a:ea typeface="宋体" panose="02010600030101010101" pitchFamily="2" charset="-122"/>
              </a:rPr>
              <a:t>4*</a:t>
            </a:r>
          </a:p>
        </p:txBody>
      </p:sp>
      <p:sp>
        <p:nvSpPr>
          <p:cNvPr id="774191" name="Rectangle 47">
            <a:extLst>
              <a:ext uri="{FF2B5EF4-FFF2-40B4-BE49-F238E27FC236}">
                <a16:creationId xmlns:a16="http://schemas.microsoft.com/office/drawing/2014/main" id="{565BC9AE-41A7-4721-A029-9BED1FB606EF}"/>
              </a:ext>
            </a:extLst>
          </p:cNvPr>
          <p:cNvSpPr>
            <a:spLocks noChangeAspect="1" noChangeArrowheads="1"/>
          </p:cNvSpPr>
          <p:nvPr/>
        </p:nvSpPr>
        <p:spPr bwMode="auto">
          <a:xfrm>
            <a:off x="468313" y="2649537"/>
            <a:ext cx="549275" cy="244475"/>
          </a:xfrm>
          <a:prstGeom prst="rect">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a:solidFill>
                  <a:schemeClr val="bg1"/>
                </a:solidFill>
                <a:latin typeface="Helvetica" panose="020B0604020202020204" pitchFamily="34" charset="0"/>
                <a:ea typeface="宋体" panose="02010600030101010101" pitchFamily="2" charset="-122"/>
              </a:rPr>
              <a:t>12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74147"/>
                                        </p:tgtEl>
                                        <p:attrNameLst>
                                          <p:attrName>style.visibility</p:attrName>
                                        </p:attrNameLst>
                                      </p:cBhvr>
                                      <p:to>
                                        <p:strVal val="visible"/>
                                      </p:to>
                                    </p:set>
                                  </p:childTnLst>
                                  <p:subTnLst>
                                    <p:set>
                                      <p:cBhvr override="childStyle">
                                        <p:cTn dur="1" fill="hold" display="0" masterRel="nextClick" afterEffect="1"/>
                                        <p:tgtEl>
                                          <p:spTgt spid="774147"/>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417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74178"/>
                                        </p:tgtEl>
                                        <p:attrNameLst>
                                          <p:attrName>style.visibility</p:attrName>
                                        </p:attrNameLst>
                                      </p:cBhvr>
                                      <p:to>
                                        <p:strVal val="visible"/>
                                      </p:to>
                                    </p:set>
                                  </p:childTnLst>
                                  <p:subTnLst>
                                    <p:set>
                                      <p:cBhvr override="childStyle">
                                        <p:cTn dur="1" fill="hold" display="0" masterRel="nextClick" afterEffect="1"/>
                                        <p:tgtEl>
                                          <p:spTgt spid="774178"/>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74148"/>
                                        </p:tgtEl>
                                        <p:attrNameLst>
                                          <p:attrName>style.visibility</p:attrName>
                                        </p:attrNameLst>
                                      </p:cBhvr>
                                      <p:to>
                                        <p:strVal val="visible"/>
                                      </p:to>
                                    </p:set>
                                  </p:childTnLst>
                                  <p:subTnLst>
                                    <p:set>
                                      <p:cBhvr override="childStyle">
                                        <p:cTn dur="1" fill="hold" display="0" masterRel="nextClick" afterEffect="1"/>
                                        <p:tgtEl>
                                          <p:spTgt spid="774148"/>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7419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74180"/>
                                        </p:tgtEl>
                                        <p:attrNameLst>
                                          <p:attrName>style.visibility</p:attrName>
                                        </p:attrNameLst>
                                      </p:cBhvr>
                                      <p:to>
                                        <p:strVal val="visible"/>
                                      </p:to>
                                    </p:set>
                                  </p:childTnLst>
                                  <p:subTnLst>
                                    <p:set>
                                      <p:cBhvr override="childStyle">
                                        <p:cTn dur="1" fill="hold" display="0" masterRel="nextClick" afterEffect="1"/>
                                        <p:tgtEl>
                                          <p:spTgt spid="774180"/>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7417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74188"/>
                                        </p:tgtEl>
                                        <p:attrNameLst>
                                          <p:attrName>style.visibility</p:attrName>
                                        </p:attrNameLst>
                                      </p:cBhvr>
                                      <p:to>
                                        <p:strVal val="visible"/>
                                      </p:to>
                                    </p:set>
                                  </p:childTnLst>
                                  <p:subTnLst>
                                    <p:set>
                                      <p:cBhvr override="childStyle">
                                        <p:cTn dur="1" fill="hold" display="0" masterRel="nextClick" afterEffect="1"/>
                                        <p:tgtEl>
                                          <p:spTgt spid="774188"/>
                                        </p:tgtEl>
                                        <p:attrNameLst>
                                          <p:attrName>style.visibility</p:attrName>
                                        </p:attrNameLst>
                                      </p:cBhvr>
                                      <p:to>
                                        <p:strVal val="hidden"/>
                                      </p:to>
                                    </p:set>
                                  </p:sub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7417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74181"/>
                                        </p:tgtEl>
                                        <p:attrNameLst>
                                          <p:attrName>style.visibility</p:attrName>
                                        </p:attrNameLst>
                                      </p:cBhvr>
                                      <p:to>
                                        <p:strVal val="visible"/>
                                      </p:to>
                                    </p:set>
                                  </p:childTnLst>
                                  <p:subTnLst>
                                    <p:set>
                                      <p:cBhvr override="childStyle">
                                        <p:cTn dur="1" fill="hold" display="0" masterRel="nextClick" afterEffect="1"/>
                                        <p:tgtEl>
                                          <p:spTgt spid="774181"/>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74191"/>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74182"/>
                                        </p:tgtEl>
                                        <p:attrNameLst>
                                          <p:attrName>style.visibility</p:attrName>
                                        </p:attrNameLst>
                                      </p:cBhvr>
                                      <p:to>
                                        <p:strVal val="visible"/>
                                      </p:to>
                                    </p:set>
                                  </p:childTnLst>
                                  <p:subTnLst>
                                    <p:set>
                                      <p:cBhvr override="childStyle">
                                        <p:cTn dur="1" fill="hold" display="0" masterRel="nextClick" afterEffect="1"/>
                                        <p:tgtEl>
                                          <p:spTgt spid="77418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47" grpId="0" autoUpdateAnimBg="0"/>
      <p:bldP spid="774148" grpId="0"/>
      <p:bldP spid="774175" grpId="0" animBg="1" autoUpdateAnimBg="0"/>
      <p:bldP spid="774176" grpId="0" animBg="1" autoUpdateAnimBg="0"/>
      <p:bldP spid="774178" grpId="0" animBg="1" autoUpdateAnimBg="0"/>
      <p:bldP spid="774179" grpId="0" animBg="1" autoUpdateAnimBg="0"/>
      <p:bldP spid="774180" grpId="0" animBg="1" autoUpdateAnimBg="0"/>
      <p:bldP spid="774181" grpId="0" animBg="1" autoUpdateAnimBg="0"/>
      <p:bldP spid="774182" grpId="0" animBg="1" autoUpdateAnimBg="0"/>
      <p:bldP spid="774188" grpId="0" autoUpdateAnimBg="0"/>
      <p:bldP spid="774190" grpId="0" animBg="1" autoUpdateAnimBg="0"/>
      <p:bldP spid="774191"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31B10B-547B-446A-8182-38E9E0C3D2BD}"/>
              </a:ext>
            </a:extLst>
          </p:cNvPr>
          <p:cNvSpPr>
            <a:spLocks noGrp="1"/>
          </p:cNvSpPr>
          <p:nvPr>
            <p:ph type="title"/>
          </p:nvPr>
        </p:nvSpPr>
        <p:spPr/>
        <p:txBody>
          <a:bodyPr/>
          <a:lstStyle/>
          <a:p>
            <a:pPr>
              <a:defRPr/>
            </a:pPr>
            <a:r>
              <a:rPr lang="en-US" altLang="zh-CN" dirty="0"/>
              <a:t>Cache</a:t>
            </a:r>
            <a:r>
              <a:rPr lang="zh-CN" altLang="en-US" dirty="0"/>
              <a:t>的命中与缺失</a:t>
            </a:r>
          </a:p>
        </p:txBody>
      </p:sp>
      <p:pic>
        <p:nvPicPr>
          <p:cNvPr id="22531" name="内容占位符 4">
            <a:extLst>
              <a:ext uri="{FF2B5EF4-FFF2-40B4-BE49-F238E27FC236}">
                <a16:creationId xmlns:a16="http://schemas.microsoft.com/office/drawing/2014/main" id="{88883FD6-802C-499D-977A-43000C95F2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1079500"/>
            <a:ext cx="7488238" cy="5549900"/>
          </a:xfrm>
        </p:spPr>
      </p:pic>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a:extLst>
              <a:ext uri="{FF2B5EF4-FFF2-40B4-BE49-F238E27FC236}">
                <a16:creationId xmlns:a16="http://schemas.microsoft.com/office/drawing/2014/main" id="{43284AD5-D39A-4261-A339-1E1EBD345A1A}"/>
              </a:ext>
            </a:extLst>
          </p:cNvPr>
          <p:cNvSpPr>
            <a:spLocks noGrp="1" noChangeArrowheads="1"/>
          </p:cNvSpPr>
          <p:nvPr>
            <p:ph type="title"/>
          </p:nvPr>
        </p:nvSpPr>
        <p:spPr/>
        <p:txBody>
          <a:bodyPr/>
          <a:lstStyle/>
          <a:p>
            <a:pPr eaLnBrk="1" hangingPunct="1">
              <a:defRPr/>
            </a:pPr>
            <a:r>
              <a:rPr lang="en-US" altLang="zh-CN">
                <a:ea typeface="宋体" panose="02010600030101010101" pitchFamily="2" charset="-122"/>
              </a:rPr>
              <a:t>Cache</a:t>
            </a:r>
            <a:r>
              <a:rPr lang="zh-CN" altLang="en-US"/>
              <a:t>缺失类型</a:t>
            </a:r>
          </a:p>
        </p:txBody>
      </p:sp>
      <p:sp>
        <p:nvSpPr>
          <p:cNvPr id="23555" name="Rectangle 3">
            <a:extLst>
              <a:ext uri="{FF2B5EF4-FFF2-40B4-BE49-F238E27FC236}">
                <a16:creationId xmlns:a16="http://schemas.microsoft.com/office/drawing/2014/main" id="{766E1847-4F7F-444C-BD0A-2CB533ACDD06}"/>
              </a:ext>
            </a:extLst>
          </p:cNvPr>
          <p:cNvSpPr>
            <a:spLocks noGrp="1" noChangeArrowheads="1"/>
          </p:cNvSpPr>
          <p:nvPr>
            <p:ph idx="1"/>
          </p:nvPr>
        </p:nvSpPr>
        <p:spPr/>
        <p:txBody>
          <a:bodyPr/>
          <a:lstStyle/>
          <a:p>
            <a:pPr eaLnBrk="1" hangingPunct="1"/>
            <a:r>
              <a:rPr lang="zh-CN" altLang="en-US" dirty="0">
                <a:latin typeface="楷体_GB2312" pitchFamily="49" charset="-122"/>
              </a:rPr>
              <a:t>冷启缺失</a:t>
            </a:r>
            <a:r>
              <a:rPr lang="en-US" altLang="zh-CN" dirty="0">
                <a:latin typeface="楷体_GB2312" pitchFamily="49" charset="-122"/>
              </a:rPr>
              <a:t>/</a:t>
            </a:r>
            <a:r>
              <a:rPr lang="zh-CN" altLang="en-US" dirty="0">
                <a:latin typeface="楷体_GB2312" pitchFamily="49" charset="-122"/>
              </a:rPr>
              <a:t>义务缺失（</a:t>
            </a:r>
            <a:r>
              <a:rPr lang="en-US" altLang="zh-CN" dirty="0">
                <a:latin typeface="楷体_GB2312" pitchFamily="49" charset="-122"/>
              </a:rPr>
              <a:t>Cold miss or Compulsory miss</a:t>
            </a:r>
            <a:r>
              <a:rPr lang="zh-CN" altLang="en-US" dirty="0">
                <a:latin typeface="楷体_GB2312" pitchFamily="49" charset="-122"/>
              </a:rPr>
              <a:t>）</a:t>
            </a:r>
          </a:p>
          <a:p>
            <a:pPr lvl="1" eaLnBrk="1" hangingPunct="1"/>
            <a:r>
              <a:rPr lang="zh-CN" altLang="en-US" dirty="0">
                <a:latin typeface="楷体" panose="02010609060101010101" pitchFamily="49" charset="-122"/>
                <a:ea typeface="楷体" panose="02010609060101010101" pitchFamily="49" charset="-122"/>
              </a:rPr>
              <a:t>当</a:t>
            </a:r>
            <a:r>
              <a:rPr lang="en-US" altLang="zh-CN" dirty="0">
                <a:latin typeface="楷体" panose="02010609060101010101" pitchFamily="49" charset="-122"/>
                <a:ea typeface="楷体" panose="02010609060101010101" pitchFamily="49" charset="-122"/>
              </a:rPr>
              <a:t>cache</a:t>
            </a:r>
            <a:r>
              <a:rPr lang="zh-CN" altLang="en-US" dirty="0">
                <a:latin typeface="楷体" panose="02010609060101010101" pitchFamily="49" charset="-122"/>
                <a:ea typeface="楷体" panose="02010609060101010101" pitchFamily="49" charset="-122"/>
              </a:rPr>
              <a:t>为空时就产生冷启缺失</a:t>
            </a:r>
          </a:p>
          <a:p>
            <a:pPr eaLnBrk="1" hangingPunct="1"/>
            <a:r>
              <a:rPr lang="zh-CN" altLang="en-US" dirty="0">
                <a:latin typeface="楷体_GB2312" pitchFamily="49" charset="-122"/>
              </a:rPr>
              <a:t>冲突缺失（</a:t>
            </a:r>
            <a:r>
              <a:rPr lang="en-US" altLang="zh-CN" dirty="0">
                <a:latin typeface="楷体_GB2312" pitchFamily="49" charset="-122"/>
              </a:rPr>
              <a:t>Conflict miss</a:t>
            </a:r>
            <a:r>
              <a:rPr lang="zh-CN" altLang="en-US" dirty="0">
                <a:latin typeface="楷体_GB2312" pitchFamily="49" charset="-122"/>
              </a:rPr>
              <a:t>）</a:t>
            </a:r>
          </a:p>
          <a:p>
            <a:pPr lvl="1"/>
            <a:r>
              <a:rPr lang="zh-CN" altLang="en-US" dirty="0">
                <a:ea typeface="楷体" panose="02010609060101010101" pitchFamily="49" charset="-122"/>
              </a:rPr>
              <a:t>层</a:t>
            </a:r>
            <a:r>
              <a:rPr lang="en-US" altLang="zh-CN" dirty="0">
                <a:ea typeface="楷体" panose="02010609060101010101" pitchFamily="49" charset="-122"/>
              </a:rPr>
              <a:t>k+1</a:t>
            </a:r>
            <a:r>
              <a:rPr lang="zh-CN" altLang="en-US" dirty="0">
                <a:ea typeface="楷体" panose="02010609060101010101" pitchFamily="49" charset="-122"/>
              </a:rPr>
              <a:t>的数据块通常只能映射到层</a:t>
            </a:r>
            <a:r>
              <a:rPr lang="en-US" altLang="zh-CN" dirty="0">
                <a:ea typeface="楷体" panose="02010609060101010101" pitchFamily="49" charset="-122"/>
              </a:rPr>
              <a:t>k</a:t>
            </a:r>
            <a:r>
              <a:rPr lang="zh-CN" altLang="en-US" dirty="0">
                <a:ea typeface="楷体" panose="02010609060101010101" pitchFamily="49" charset="-122"/>
              </a:rPr>
              <a:t>的有限位置上。尽管层</a:t>
            </a:r>
            <a:r>
              <a:rPr lang="en-US" altLang="zh-CN" dirty="0">
                <a:ea typeface="楷体" panose="02010609060101010101" pitchFamily="49" charset="-122"/>
              </a:rPr>
              <a:t>k</a:t>
            </a:r>
            <a:r>
              <a:rPr lang="zh-CN" altLang="en-US" dirty="0">
                <a:ea typeface="楷体" panose="02010609060101010101" pitchFamily="49" charset="-122"/>
              </a:rPr>
              <a:t>中</a:t>
            </a:r>
            <a:r>
              <a:rPr lang="en-US" altLang="zh-CN" dirty="0">
                <a:ea typeface="楷体" panose="02010609060101010101" pitchFamily="49" charset="-122"/>
              </a:rPr>
              <a:t>cache</a:t>
            </a:r>
            <a:r>
              <a:rPr lang="zh-CN" altLang="en-US" dirty="0">
                <a:ea typeface="楷体" panose="02010609060101010101" pitchFamily="49" charset="-122"/>
              </a:rPr>
              <a:t>足够大，但层</a:t>
            </a:r>
            <a:r>
              <a:rPr lang="en-US" altLang="zh-CN" dirty="0">
                <a:ea typeface="楷体" panose="02010609060101010101" pitchFamily="49" charset="-122"/>
              </a:rPr>
              <a:t>k+1</a:t>
            </a:r>
            <a:r>
              <a:rPr lang="zh-CN" altLang="en-US" dirty="0">
                <a:ea typeface="楷体" panose="02010609060101010101" pitchFamily="49" charset="-122"/>
              </a:rPr>
              <a:t>有多个数据块全都映射到层</a:t>
            </a:r>
            <a:r>
              <a:rPr lang="en-US" altLang="zh-CN" dirty="0">
                <a:ea typeface="楷体" panose="02010609060101010101" pitchFamily="49" charset="-122"/>
              </a:rPr>
              <a:t>k</a:t>
            </a:r>
            <a:r>
              <a:rPr lang="zh-CN" altLang="en-US" dirty="0">
                <a:ea typeface="楷体" panose="02010609060101010101" pitchFamily="49" charset="-122"/>
              </a:rPr>
              <a:t>的同一位置上，则产生冲突缺失</a:t>
            </a:r>
          </a:p>
          <a:p>
            <a:pPr eaLnBrk="1" hangingPunct="1"/>
            <a:r>
              <a:rPr lang="zh-CN" altLang="en-US" dirty="0">
                <a:latin typeface="楷体_GB2312" pitchFamily="49" charset="-122"/>
              </a:rPr>
              <a:t>容量缺失（</a:t>
            </a:r>
            <a:r>
              <a:rPr lang="en-US" altLang="zh-CN" dirty="0">
                <a:latin typeface="楷体_GB2312" pitchFamily="49" charset="-122"/>
              </a:rPr>
              <a:t>Capacity miss</a:t>
            </a:r>
            <a:r>
              <a:rPr lang="zh-CN" altLang="en-US" dirty="0">
                <a:latin typeface="楷体_GB2312" pitchFamily="49" charset="-122"/>
              </a:rPr>
              <a:t>）</a:t>
            </a:r>
          </a:p>
          <a:p>
            <a:pPr lvl="1" eaLnBrk="1" hangingPunct="1"/>
            <a:r>
              <a:rPr lang="zh-CN" altLang="en-US" dirty="0">
                <a:ea typeface="楷体" panose="02010609060101010101" pitchFamily="49" charset="-122"/>
              </a:rPr>
              <a:t>当活动的</a:t>
            </a:r>
            <a:r>
              <a:rPr lang="en-US" altLang="zh-CN" dirty="0">
                <a:ea typeface="楷体" panose="02010609060101010101" pitchFamily="49" charset="-122"/>
              </a:rPr>
              <a:t>cache</a:t>
            </a:r>
            <a:r>
              <a:rPr lang="zh-CN" altLang="en-US" dirty="0">
                <a:ea typeface="楷体" panose="02010609060101010101" pitchFamily="49" charset="-122"/>
              </a:rPr>
              <a:t>块的数量超过</a:t>
            </a:r>
            <a:r>
              <a:rPr lang="en-US" altLang="zh-CN" dirty="0">
                <a:ea typeface="楷体" panose="02010609060101010101" pitchFamily="49" charset="-122"/>
              </a:rPr>
              <a:t>cache</a:t>
            </a:r>
            <a:r>
              <a:rPr lang="zh-CN" altLang="en-US" dirty="0">
                <a:ea typeface="楷体" panose="02010609060101010101" pitchFamily="49" charset="-122"/>
              </a:rPr>
              <a:t>的容量就产生容量缺失</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a:extLst>
              <a:ext uri="{FF2B5EF4-FFF2-40B4-BE49-F238E27FC236}">
                <a16:creationId xmlns:a16="http://schemas.microsoft.com/office/drawing/2014/main" id="{C3DD6100-2D11-4886-ACCD-4AF3D9EC68A7}"/>
              </a:ext>
            </a:extLst>
          </p:cNvPr>
          <p:cNvSpPr>
            <a:spLocks noGrp="1" noChangeArrowheads="1"/>
          </p:cNvSpPr>
          <p:nvPr>
            <p:ph type="title"/>
          </p:nvPr>
        </p:nvSpPr>
        <p:spPr>
          <a:xfrm>
            <a:off x="17462" y="244475"/>
            <a:ext cx="9109075" cy="762000"/>
          </a:xfrm>
        </p:spPr>
        <p:txBody>
          <a:bodyPr/>
          <a:lstStyle/>
          <a:p>
            <a:pPr eaLnBrk="1" hangingPunct="1">
              <a:defRPr/>
            </a:pPr>
            <a:r>
              <a:rPr lang="en-US" altLang="zh-CN" dirty="0"/>
              <a:t>Cache</a:t>
            </a:r>
            <a:r>
              <a:rPr lang="zh-CN" altLang="en-US" dirty="0"/>
              <a:t>的基本工作原理</a:t>
            </a:r>
          </a:p>
        </p:txBody>
      </p:sp>
      <p:sp>
        <p:nvSpPr>
          <p:cNvPr id="24580" name="Rectangle 29">
            <a:extLst>
              <a:ext uri="{FF2B5EF4-FFF2-40B4-BE49-F238E27FC236}">
                <a16:creationId xmlns:a16="http://schemas.microsoft.com/office/drawing/2014/main" id="{79B08B81-8D27-4041-809E-324BEBCBAB47}"/>
              </a:ext>
            </a:extLst>
          </p:cNvPr>
          <p:cNvSpPr>
            <a:spLocks noChangeArrowheads="1"/>
          </p:cNvSpPr>
          <p:nvPr/>
        </p:nvSpPr>
        <p:spPr bwMode="auto">
          <a:xfrm>
            <a:off x="2162175" y="1641475"/>
            <a:ext cx="4371975" cy="3822700"/>
          </a:xfrm>
          <a:prstGeom prst="rect">
            <a:avLst/>
          </a:prstGeom>
          <a:solidFill>
            <a:srgbClr val="99CCFF"/>
          </a:solidFill>
          <a:ln w="22225">
            <a:solidFill>
              <a:schemeClr val="tx2"/>
            </a:solidFill>
            <a:prstDash val="dash"/>
            <a:miter lim="800000"/>
            <a:headEnd/>
            <a:tailEnd/>
          </a:ln>
        </p:spPr>
        <p:txBody>
          <a:bodyPr wrap="none" anchor="ct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4581" name="Text Box 4">
            <a:extLst>
              <a:ext uri="{FF2B5EF4-FFF2-40B4-BE49-F238E27FC236}">
                <a16:creationId xmlns:a16="http://schemas.microsoft.com/office/drawing/2014/main" id="{2D10013D-705E-4952-B953-16C9176DA8A1}"/>
              </a:ext>
            </a:extLst>
          </p:cNvPr>
          <p:cNvSpPr txBox="1">
            <a:spLocks noChangeArrowheads="1"/>
          </p:cNvSpPr>
          <p:nvPr/>
        </p:nvSpPr>
        <p:spPr bwMode="auto">
          <a:xfrm>
            <a:off x="1501775" y="892175"/>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400">
                <a:latin typeface="Arial" panose="020B0604020202020204" pitchFamily="34" charset="0"/>
              </a:rPr>
              <a:t>AB</a:t>
            </a:r>
          </a:p>
        </p:txBody>
      </p:sp>
      <p:sp>
        <p:nvSpPr>
          <p:cNvPr id="24582" name="Rectangle 6">
            <a:extLst>
              <a:ext uri="{FF2B5EF4-FFF2-40B4-BE49-F238E27FC236}">
                <a16:creationId xmlns:a16="http://schemas.microsoft.com/office/drawing/2014/main" id="{D6E999E4-1575-4AD6-B846-AEBCBF86EC49}"/>
              </a:ext>
            </a:extLst>
          </p:cNvPr>
          <p:cNvSpPr>
            <a:spLocks noChangeArrowheads="1"/>
          </p:cNvSpPr>
          <p:nvPr/>
        </p:nvSpPr>
        <p:spPr bwMode="auto">
          <a:xfrm>
            <a:off x="323850" y="1196975"/>
            <a:ext cx="1101725" cy="4648200"/>
          </a:xfrm>
          <a:prstGeom prst="rect">
            <a:avLst/>
          </a:prstGeom>
          <a:solidFill>
            <a:srgbClr val="663300"/>
          </a:solidFill>
          <a:ln>
            <a:noFill/>
          </a:ln>
          <a:effectLst>
            <a:outerShdw dist="35921" dir="2700000" algn="ctr" rotWithShape="0">
              <a:schemeClr val="tx1">
                <a:lumMod val="50000"/>
                <a:lumOff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a:solidFill>
                  <a:schemeClr val="bg1"/>
                </a:solidFill>
                <a:latin typeface="Arial" panose="020B0604020202020204" pitchFamily="34" charset="0"/>
              </a:rPr>
              <a:t>CPU</a:t>
            </a:r>
          </a:p>
        </p:txBody>
      </p:sp>
      <p:sp>
        <p:nvSpPr>
          <p:cNvPr id="24583" name="Rectangle 7">
            <a:extLst>
              <a:ext uri="{FF2B5EF4-FFF2-40B4-BE49-F238E27FC236}">
                <a16:creationId xmlns:a16="http://schemas.microsoft.com/office/drawing/2014/main" id="{E103A3ED-5D13-450F-8F3F-364638AA280B}"/>
              </a:ext>
            </a:extLst>
          </p:cNvPr>
          <p:cNvSpPr>
            <a:spLocks noChangeArrowheads="1"/>
          </p:cNvSpPr>
          <p:nvPr/>
        </p:nvSpPr>
        <p:spPr bwMode="auto">
          <a:xfrm>
            <a:off x="8255000" y="1196975"/>
            <a:ext cx="660400" cy="4495800"/>
          </a:xfrm>
          <a:prstGeom prst="rect">
            <a:avLst/>
          </a:prstGeom>
          <a:solidFill>
            <a:srgbClr val="660066"/>
          </a:solidFill>
          <a:ln>
            <a:noFill/>
          </a:ln>
          <a:effectLst>
            <a:outerShdw dist="35921" dir="2700000" algn="ctr" rotWithShape="0">
              <a:schemeClr val="tx1">
                <a:lumMod val="50000"/>
                <a:lumOff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a:solidFill>
                  <a:schemeClr val="bg1"/>
                </a:solidFill>
                <a:latin typeface="Arial" panose="020B0604020202020204" pitchFamily="34" charset="0"/>
              </a:rPr>
              <a:t>主</a:t>
            </a:r>
          </a:p>
          <a:p>
            <a:pPr algn="ctr" eaLnBrk="1" hangingPunct="1">
              <a:spcBef>
                <a:spcPct val="0"/>
              </a:spcBef>
              <a:buClrTx/>
              <a:buFontTx/>
              <a:buNone/>
            </a:pPr>
            <a:r>
              <a:rPr lang="zh-CN" altLang="en-US">
                <a:solidFill>
                  <a:schemeClr val="bg1"/>
                </a:solidFill>
                <a:latin typeface="Arial" panose="020B0604020202020204" pitchFamily="34" charset="0"/>
              </a:rPr>
              <a:t>存</a:t>
            </a:r>
          </a:p>
        </p:txBody>
      </p:sp>
      <p:sp>
        <p:nvSpPr>
          <p:cNvPr id="24584" name="Line 8">
            <a:extLst>
              <a:ext uri="{FF2B5EF4-FFF2-40B4-BE49-F238E27FC236}">
                <a16:creationId xmlns:a16="http://schemas.microsoft.com/office/drawing/2014/main" id="{E3801139-0330-401F-99D7-5A1A63C90997}"/>
              </a:ext>
            </a:extLst>
          </p:cNvPr>
          <p:cNvSpPr>
            <a:spLocks noChangeShapeType="1"/>
          </p:cNvSpPr>
          <p:nvPr/>
        </p:nvSpPr>
        <p:spPr bwMode="auto">
          <a:xfrm>
            <a:off x="1425575" y="1349375"/>
            <a:ext cx="6829425"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585" name="Rectangle 9">
            <a:extLst>
              <a:ext uri="{FF2B5EF4-FFF2-40B4-BE49-F238E27FC236}">
                <a16:creationId xmlns:a16="http://schemas.microsoft.com/office/drawing/2014/main" id="{08CF5924-DC24-4F32-84F4-99227C71738A}"/>
              </a:ext>
            </a:extLst>
          </p:cNvPr>
          <p:cNvSpPr>
            <a:spLocks noChangeArrowheads="1"/>
          </p:cNvSpPr>
          <p:nvPr/>
        </p:nvSpPr>
        <p:spPr bwMode="auto">
          <a:xfrm>
            <a:off x="2452688" y="2111375"/>
            <a:ext cx="808037" cy="2514600"/>
          </a:xfrm>
          <a:prstGeom prst="rect">
            <a:avLst/>
          </a:prstGeom>
          <a:solidFill>
            <a:srgbClr val="CC3300"/>
          </a:solidFill>
          <a:ln>
            <a:noFill/>
          </a:ln>
          <a:effectLst>
            <a:outerShdw dist="35921" dir="2700000" algn="ctr" rotWithShape="0">
              <a:schemeClr val="tx1">
                <a:lumMod val="50000"/>
                <a:lumOff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2400">
                <a:solidFill>
                  <a:schemeClr val="bg1"/>
                </a:solidFill>
                <a:latin typeface="Arial" panose="020B0604020202020204" pitchFamily="34" charset="0"/>
              </a:rPr>
              <a:t>主存</a:t>
            </a:r>
          </a:p>
          <a:p>
            <a:pPr eaLnBrk="1" hangingPunct="1">
              <a:spcBef>
                <a:spcPct val="0"/>
              </a:spcBef>
              <a:buClrTx/>
              <a:buFontTx/>
              <a:buNone/>
            </a:pPr>
            <a:r>
              <a:rPr lang="zh-CN" altLang="en-US" sz="2400">
                <a:solidFill>
                  <a:schemeClr val="bg1"/>
                </a:solidFill>
                <a:latin typeface="Arial" panose="020B0604020202020204" pitchFamily="34" charset="0"/>
              </a:rPr>
              <a:t>地址</a:t>
            </a:r>
          </a:p>
          <a:p>
            <a:pPr eaLnBrk="1" hangingPunct="1">
              <a:spcBef>
                <a:spcPct val="0"/>
              </a:spcBef>
              <a:buClrTx/>
              <a:buFontTx/>
              <a:buNone/>
            </a:pPr>
            <a:r>
              <a:rPr lang="zh-CN" altLang="en-US" sz="2400">
                <a:solidFill>
                  <a:schemeClr val="bg1"/>
                </a:solidFill>
                <a:latin typeface="Arial" panose="020B0604020202020204" pitchFamily="34" charset="0"/>
              </a:rPr>
              <a:t>寄存</a:t>
            </a:r>
          </a:p>
          <a:p>
            <a:pPr eaLnBrk="1" hangingPunct="1">
              <a:spcBef>
                <a:spcPct val="0"/>
              </a:spcBef>
              <a:buClrTx/>
              <a:buFontTx/>
              <a:buNone/>
            </a:pPr>
            <a:r>
              <a:rPr lang="zh-CN" altLang="en-US" sz="2400">
                <a:solidFill>
                  <a:schemeClr val="bg1"/>
                </a:solidFill>
                <a:latin typeface="Arial" panose="020B0604020202020204" pitchFamily="34" charset="0"/>
              </a:rPr>
              <a:t>器</a:t>
            </a:r>
          </a:p>
          <a:p>
            <a:pPr eaLnBrk="1" hangingPunct="1">
              <a:spcBef>
                <a:spcPct val="0"/>
              </a:spcBef>
              <a:buClrTx/>
              <a:buFontTx/>
              <a:buNone/>
            </a:pPr>
            <a:r>
              <a:rPr lang="en-US" altLang="zh-CN" sz="2800">
                <a:solidFill>
                  <a:schemeClr val="bg1"/>
                </a:solidFill>
                <a:latin typeface="Arial" panose="020B0604020202020204" pitchFamily="34" charset="0"/>
              </a:rPr>
              <a:t>MA</a:t>
            </a:r>
          </a:p>
        </p:txBody>
      </p:sp>
      <p:sp>
        <p:nvSpPr>
          <p:cNvPr id="24586" name="Rectangle 10">
            <a:extLst>
              <a:ext uri="{FF2B5EF4-FFF2-40B4-BE49-F238E27FC236}">
                <a16:creationId xmlns:a16="http://schemas.microsoft.com/office/drawing/2014/main" id="{BF92D8D9-E4D1-4185-AFF0-9DBDEB386966}"/>
              </a:ext>
            </a:extLst>
          </p:cNvPr>
          <p:cNvSpPr>
            <a:spLocks noChangeArrowheads="1"/>
          </p:cNvSpPr>
          <p:nvPr/>
        </p:nvSpPr>
        <p:spPr bwMode="auto">
          <a:xfrm>
            <a:off x="3702050" y="2797175"/>
            <a:ext cx="1247775" cy="1828800"/>
          </a:xfrm>
          <a:prstGeom prst="rect">
            <a:avLst/>
          </a:prstGeom>
          <a:solidFill>
            <a:srgbClr val="CC3300"/>
          </a:solidFill>
          <a:ln>
            <a:noFill/>
          </a:ln>
          <a:effectLst>
            <a:outerShdw dist="35921" dir="2700000" algn="ctr" rotWithShape="0">
              <a:schemeClr val="tx1">
                <a:lumMod val="50000"/>
                <a:lumOff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latin typeface="Arial" panose="020B0604020202020204" pitchFamily="34" charset="0"/>
              </a:rPr>
              <a:t>主存</a:t>
            </a:r>
            <a:r>
              <a:rPr lang="en-US" altLang="zh-CN" sz="2000">
                <a:solidFill>
                  <a:schemeClr val="bg1"/>
                </a:solidFill>
                <a:latin typeface="Arial" panose="020B0604020202020204" pitchFamily="34" charset="0"/>
              </a:rPr>
              <a:t>-</a:t>
            </a:r>
          </a:p>
          <a:p>
            <a:pPr algn="ctr" eaLnBrk="1" hangingPunct="1">
              <a:spcBef>
                <a:spcPct val="0"/>
              </a:spcBef>
              <a:buClrTx/>
              <a:buFontTx/>
              <a:buNone/>
            </a:pPr>
            <a:r>
              <a:rPr lang="en-US" altLang="zh-CN" sz="2000">
                <a:solidFill>
                  <a:schemeClr val="bg1"/>
                </a:solidFill>
                <a:latin typeface="Arial" panose="020B0604020202020204" pitchFamily="34" charset="0"/>
              </a:rPr>
              <a:t>Cache</a:t>
            </a:r>
          </a:p>
          <a:p>
            <a:pPr algn="ctr" eaLnBrk="1" hangingPunct="1">
              <a:spcBef>
                <a:spcPct val="0"/>
              </a:spcBef>
              <a:buClrTx/>
              <a:buFontTx/>
              <a:buNone/>
            </a:pPr>
            <a:r>
              <a:rPr lang="zh-CN" altLang="en-US" sz="2000">
                <a:solidFill>
                  <a:schemeClr val="bg1"/>
                </a:solidFill>
                <a:latin typeface="Arial" panose="020B0604020202020204" pitchFamily="34" charset="0"/>
              </a:rPr>
              <a:t>地址变换</a:t>
            </a:r>
          </a:p>
          <a:p>
            <a:pPr algn="ctr" eaLnBrk="1" hangingPunct="1">
              <a:spcBef>
                <a:spcPct val="0"/>
              </a:spcBef>
              <a:buClrTx/>
              <a:buFontTx/>
              <a:buNone/>
            </a:pPr>
            <a:r>
              <a:rPr lang="zh-CN" altLang="en-US" sz="2000">
                <a:solidFill>
                  <a:schemeClr val="bg1"/>
                </a:solidFill>
                <a:latin typeface="Arial" panose="020B0604020202020204" pitchFamily="34" charset="0"/>
              </a:rPr>
              <a:t>（</a:t>
            </a:r>
            <a:r>
              <a:rPr lang="en-US" altLang="zh-CN" sz="2000">
                <a:solidFill>
                  <a:schemeClr val="bg1"/>
                </a:solidFill>
                <a:latin typeface="Arial" panose="020B0604020202020204" pitchFamily="34" charset="0"/>
              </a:rPr>
              <a:t>CAM</a:t>
            </a:r>
            <a:r>
              <a:rPr lang="zh-CN" altLang="en-US" sz="2000">
                <a:solidFill>
                  <a:schemeClr val="bg1"/>
                </a:solidFill>
                <a:latin typeface="Arial" panose="020B0604020202020204" pitchFamily="34" charset="0"/>
              </a:rPr>
              <a:t>）</a:t>
            </a:r>
          </a:p>
        </p:txBody>
      </p:sp>
      <p:sp>
        <p:nvSpPr>
          <p:cNvPr id="24587" name="Rectangle 11">
            <a:extLst>
              <a:ext uri="{FF2B5EF4-FFF2-40B4-BE49-F238E27FC236}">
                <a16:creationId xmlns:a16="http://schemas.microsoft.com/office/drawing/2014/main" id="{7CB02859-3101-49C0-8EC3-9B4238DF9767}"/>
              </a:ext>
            </a:extLst>
          </p:cNvPr>
          <p:cNvSpPr>
            <a:spLocks noChangeArrowheads="1"/>
          </p:cNvSpPr>
          <p:nvPr/>
        </p:nvSpPr>
        <p:spPr bwMode="auto">
          <a:xfrm>
            <a:off x="6786563" y="2720975"/>
            <a:ext cx="954087" cy="2362200"/>
          </a:xfrm>
          <a:prstGeom prst="rect">
            <a:avLst/>
          </a:prstGeom>
          <a:solidFill>
            <a:srgbClr val="008000"/>
          </a:solidFill>
          <a:ln>
            <a:noFill/>
          </a:ln>
          <a:effectLst>
            <a:outerShdw dist="35921" dir="2700000" algn="ctr" rotWithShape="0">
              <a:schemeClr val="tx1">
                <a:lumMod val="50000"/>
                <a:lumOff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latin typeface="Arial" panose="020B0604020202020204" pitchFamily="34" charset="0"/>
              </a:rPr>
              <a:t>Cache</a:t>
            </a:r>
          </a:p>
          <a:p>
            <a:pPr algn="ctr" eaLnBrk="1" hangingPunct="1">
              <a:spcBef>
                <a:spcPct val="0"/>
              </a:spcBef>
              <a:buClrTx/>
              <a:buFontTx/>
              <a:buNone/>
            </a:pPr>
            <a:r>
              <a:rPr lang="zh-CN" altLang="en-US" sz="2000">
                <a:solidFill>
                  <a:schemeClr val="bg1"/>
                </a:solidFill>
                <a:latin typeface="Arial" panose="020B0604020202020204" pitchFamily="34" charset="0"/>
              </a:rPr>
              <a:t>存储器</a:t>
            </a:r>
          </a:p>
        </p:txBody>
      </p:sp>
      <p:sp>
        <p:nvSpPr>
          <p:cNvPr id="24588" name="Rectangle 12">
            <a:extLst>
              <a:ext uri="{FF2B5EF4-FFF2-40B4-BE49-F238E27FC236}">
                <a16:creationId xmlns:a16="http://schemas.microsoft.com/office/drawing/2014/main" id="{27B5D422-6A90-416F-88B3-69B59AE70BE4}"/>
              </a:ext>
            </a:extLst>
          </p:cNvPr>
          <p:cNvSpPr>
            <a:spLocks noChangeArrowheads="1"/>
          </p:cNvSpPr>
          <p:nvPr/>
        </p:nvSpPr>
        <p:spPr bwMode="auto">
          <a:xfrm>
            <a:off x="5391150" y="2644775"/>
            <a:ext cx="954088" cy="2667000"/>
          </a:xfrm>
          <a:prstGeom prst="rect">
            <a:avLst/>
          </a:prstGeom>
          <a:solidFill>
            <a:srgbClr val="CC3300"/>
          </a:solidFill>
          <a:ln>
            <a:noFill/>
          </a:ln>
          <a:effectLst>
            <a:outerShdw dist="35921" dir="2700000" algn="ctr" rotWithShape="0">
              <a:schemeClr val="tx1">
                <a:lumMod val="50000"/>
                <a:lumOff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solidFill>
                  <a:schemeClr val="bg1"/>
                </a:solidFill>
                <a:latin typeface="Arial" panose="020B0604020202020204" pitchFamily="34" charset="0"/>
              </a:rPr>
              <a:t>Cache</a:t>
            </a:r>
          </a:p>
          <a:p>
            <a:pPr algn="ctr" eaLnBrk="1" hangingPunct="1">
              <a:spcBef>
                <a:spcPct val="0"/>
              </a:spcBef>
              <a:buClrTx/>
              <a:buFontTx/>
              <a:buNone/>
            </a:pPr>
            <a:r>
              <a:rPr lang="zh-CN" altLang="en-US" sz="2000">
                <a:solidFill>
                  <a:schemeClr val="bg1"/>
                </a:solidFill>
                <a:latin typeface="Arial" panose="020B0604020202020204" pitchFamily="34" charset="0"/>
              </a:rPr>
              <a:t>地址</a:t>
            </a:r>
          </a:p>
          <a:p>
            <a:pPr algn="ctr" eaLnBrk="1" hangingPunct="1">
              <a:spcBef>
                <a:spcPct val="0"/>
              </a:spcBef>
              <a:buClrTx/>
              <a:buFontTx/>
              <a:buNone/>
            </a:pPr>
            <a:r>
              <a:rPr lang="zh-CN" altLang="en-US" sz="2000">
                <a:solidFill>
                  <a:schemeClr val="bg1"/>
                </a:solidFill>
                <a:latin typeface="Arial" panose="020B0604020202020204" pitchFamily="34" charset="0"/>
              </a:rPr>
              <a:t>寄存器</a:t>
            </a:r>
          </a:p>
        </p:txBody>
      </p:sp>
      <p:sp>
        <p:nvSpPr>
          <p:cNvPr id="24589" name="Rectangle 13">
            <a:extLst>
              <a:ext uri="{FF2B5EF4-FFF2-40B4-BE49-F238E27FC236}">
                <a16:creationId xmlns:a16="http://schemas.microsoft.com/office/drawing/2014/main" id="{42906EFF-5488-4D0D-89BF-19EE5913B2D4}"/>
              </a:ext>
            </a:extLst>
          </p:cNvPr>
          <p:cNvSpPr>
            <a:spLocks noChangeArrowheads="1"/>
          </p:cNvSpPr>
          <p:nvPr/>
        </p:nvSpPr>
        <p:spPr bwMode="auto">
          <a:xfrm>
            <a:off x="4289425" y="1806575"/>
            <a:ext cx="2055813" cy="533400"/>
          </a:xfrm>
          <a:prstGeom prst="rect">
            <a:avLst/>
          </a:prstGeom>
          <a:solidFill>
            <a:srgbClr val="CC3300"/>
          </a:solidFill>
          <a:ln>
            <a:noFill/>
          </a:ln>
          <a:effectLst>
            <a:outerShdw dist="35921" dir="2700000" algn="ctr" rotWithShape="0">
              <a:schemeClr val="tx1">
                <a:lumMod val="50000"/>
                <a:lumOff val="50000"/>
              </a:scheme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000">
                <a:solidFill>
                  <a:schemeClr val="bg1"/>
                </a:solidFill>
                <a:latin typeface="Arial" panose="020B0604020202020204" pitchFamily="34" charset="0"/>
              </a:rPr>
              <a:t>替换控制部件</a:t>
            </a:r>
          </a:p>
        </p:txBody>
      </p:sp>
      <p:sp>
        <p:nvSpPr>
          <p:cNvPr id="24590" name="Line 14">
            <a:extLst>
              <a:ext uri="{FF2B5EF4-FFF2-40B4-BE49-F238E27FC236}">
                <a16:creationId xmlns:a16="http://schemas.microsoft.com/office/drawing/2014/main" id="{45B5AF15-F3EE-49F8-9731-D68C5754FED4}"/>
              </a:ext>
            </a:extLst>
          </p:cNvPr>
          <p:cNvSpPr>
            <a:spLocks noChangeShapeType="1"/>
          </p:cNvSpPr>
          <p:nvPr/>
        </p:nvSpPr>
        <p:spPr bwMode="auto">
          <a:xfrm>
            <a:off x="1425575" y="5616575"/>
            <a:ext cx="6829425"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591" name="Line 15">
            <a:extLst>
              <a:ext uri="{FF2B5EF4-FFF2-40B4-BE49-F238E27FC236}">
                <a16:creationId xmlns:a16="http://schemas.microsoft.com/office/drawing/2014/main" id="{5DC3B401-3251-4765-9D65-D22B4F552D93}"/>
              </a:ext>
            </a:extLst>
          </p:cNvPr>
          <p:cNvSpPr>
            <a:spLocks noChangeShapeType="1"/>
          </p:cNvSpPr>
          <p:nvPr/>
        </p:nvSpPr>
        <p:spPr bwMode="auto">
          <a:xfrm>
            <a:off x="2820988" y="1349375"/>
            <a:ext cx="0" cy="76200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592" name="Line 16">
            <a:extLst>
              <a:ext uri="{FF2B5EF4-FFF2-40B4-BE49-F238E27FC236}">
                <a16:creationId xmlns:a16="http://schemas.microsoft.com/office/drawing/2014/main" id="{BF4ACB7C-5A40-4FB1-B729-DC1BD29BC820}"/>
              </a:ext>
            </a:extLst>
          </p:cNvPr>
          <p:cNvSpPr>
            <a:spLocks noChangeShapeType="1"/>
          </p:cNvSpPr>
          <p:nvPr/>
        </p:nvSpPr>
        <p:spPr bwMode="auto">
          <a:xfrm>
            <a:off x="3260725" y="3559175"/>
            <a:ext cx="441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93" name="Line 17">
            <a:extLst>
              <a:ext uri="{FF2B5EF4-FFF2-40B4-BE49-F238E27FC236}">
                <a16:creationId xmlns:a16="http://schemas.microsoft.com/office/drawing/2014/main" id="{B65AC139-EEE4-469B-A421-DED2FF11BA64}"/>
              </a:ext>
            </a:extLst>
          </p:cNvPr>
          <p:cNvSpPr>
            <a:spLocks noChangeShapeType="1"/>
          </p:cNvSpPr>
          <p:nvPr/>
        </p:nvSpPr>
        <p:spPr bwMode="auto">
          <a:xfrm>
            <a:off x="4949825" y="3635375"/>
            <a:ext cx="441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94" name="Line 18">
            <a:extLst>
              <a:ext uri="{FF2B5EF4-FFF2-40B4-BE49-F238E27FC236}">
                <a16:creationId xmlns:a16="http://schemas.microsoft.com/office/drawing/2014/main" id="{3BF7748A-B672-49AA-92D4-6CA94CDD4BB9}"/>
              </a:ext>
            </a:extLst>
          </p:cNvPr>
          <p:cNvSpPr>
            <a:spLocks noChangeShapeType="1"/>
          </p:cNvSpPr>
          <p:nvPr/>
        </p:nvSpPr>
        <p:spPr bwMode="auto">
          <a:xfrm>
            <a:off x="6345238" y="3635375"/>
            <a:ext cx="441325" cy="0"/>
          </a:xfrm>
          <a:prstGeom prst="line">
            <a:avLst/>
          </a:prstGeom>
          <a:noFill/>
          <a:ln w="57150" cmpd="thinThick">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95" name="Line 19">
            <a:extLst>
              <a:ext uri="{FF2B5EF4-FFF2-40B4-BE49-F238E27FC236}">
                <a16:creationId xmlns:a16="http://schemas.microsoft.com/office/drawing/2014/main" id="{D4B92CF8-4A6F-4F4A-825C-9B50A4D2A23E}"/>
              </a:ext>
            </a:extLst>
          </p:cNvPr>
          <p:cNvSpPr>
            <a:spLocks noChangeShapeType="1"/>
          </p:cNvSpPr>
          <p:nvPr/>
        </p:nvSpPr>
        <p:spPr bwMode="auto">
          <a:xfrm flipH="1">
            <a:off x="7740650" y="3635375"/>
            <a:ext cx="514350" cy="0"/>
          </a:xfrm>
          <a:prstGeom prst="line">
            <a:avLst/>
          </a:prstGeom>
          <a:noFill/>
          <a:ln w="57150" cmpd="thinThick">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96" name="Line 20">
            <a:extLst>
              <a:ext uri="{FF2B5EF4-FFF2-40B4-BE49-F238E27FC236}">
                <a16:creationId xmlns:a16="http://schemas.microsoft.com/office/drawing/2014/main" id="{E7028239-8E30-42FD-B5C1-5DFC7AA66FC1}"/>
              </a:ext>
            </a:extLst>
          </p:cNvPr>
          <p:cNvSpPr>
            <a:spLocks noChangeShapeType="1"/>
          </p:cNvSpPr>
          <p:nvPr/>
        </p:nvSpPr>
        <p:spPr bwMode="auto">
          <a:xfrm>
            <a:off x="7226300" y="5083175"/>
            <a:ext cx="0" cy="533400"/>
          </a:xfrm>
          <a:prstGeom prst="line">
            <a:avLst/>
          </a:prstGeom>
          <a:noFill/>
          <a:ln w="57150" cmpd="thinThick">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97" name="Line 21">
            <a:extLst>
              <a:ext uri="{FF2B5EF4-FFF2-40B4-BE49-F238E27FC236}">
                <a16:creationId xmlns:a16="http://schemas.microsoft.com/office/drawing/2014/main" id="{7CD442E1-B4FE-4A1B-AFBE-2BEA06BA6F16}"/>
              </a:ext>
            </a:extLst>
          </p:cNvPr>
          <p:cNvSpPr>
            <a:spLocks noChangeShapeType="1"/>
          </p:cNvSpPr>
          <p:nvPr/>
        </p:nvSpPr>
        <p:spPr bwMode="auto">
          <a:xfrm>
            <a:off x="3995738" y="2035175"/>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598" name="Line 22">
            <a:extLst>
              <a:ext uri="{FF2B5EF4-FFF2-40B4-BE49-F238E27FC236}">
                <a16:creationId xmlns:a16="http://schemas.microsoft.com/office/drawing/2014/main" id="{46091354-6FD1-4B33-AE29-8103D1BECAEE}"/>
              </a:ext>
            </a:extLst>
          </p:cNvPr>
          <p:cNvSpPr>
            <a:spLocks noChangeShapeType="1"/>
          </p:cNvSpPr>
          <p:nvPr/>
        </p:nvSpPr>
        <p:spPr bwMode="auto">
          <a:xfrm>
            <a:off x="3995738" y="2035175"/>
            <a:ext cx="2936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599" name="Line 23">
            <a:extLst>
              <a:ext uri="{FF2B5EF4-FFF2-40B4-BE49-F238E27FC236}">
                <a16:creationId xmlns:a16="http://schemas.microsoft.com/office/drawing/2014/main" id="{114CFFA2-740B-4CB1-AA9C-B60602701075}"/>
              </a:ext>
            </a:extLst>
          </p:cNvPr>
          <p:cNvSpPr>
            <a:spLocks noChangeShapeType="1"/>
          </p:cNvSpPr>
          <p:nvPr/>
        </p:nvSpPr>
        <p:spPr bwMode="auto">
          <a:xfrm>
            <a:off x="6345238" y="1958975"/>
            <a:ext cx="19097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600" name="Line 24">
            <a:extLst>
              <a:ext uri="{FF2B5EF4-FFF2-40B4-BE49-F238E27FC236}">
                <a16:creationId xmlns:a16="http://schemas.microsoft.com/office/drawing/2014/main" id="{E4A4F08D-067D-48A0-B0DD-8261FC9D56BA}"/>
              </a:ext>
            </a:extLst>
          </p:cNvPr>
          <p:cNvSpPr>
            <a:spLocks noChangeShapeType="1"/>
          </p:cNvSpPr>
          <p:nvPr/>
        </p:nvSpPr>
        <p:spPr bwMode="auto">
          <a:xfrm>
            <a:off x="7226300" y="1958975"/>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601" name="Text Box 25">
            <a:extLst>
              <a:ext uri="{FF2B5EF4-FFF2-40B4-BE49-F238E27FC236}">
                <a16:creationId xmlns:a16="http://schemas.microsoft.com/office/drawing/2014/main" id="{22976FA4-0EC8-41DA-BBD1-2C22288E9DD0}"/>
              </a:ext>
            </a:extLst>
          </p:cNvPr>
          <p:cNvSpPr txBox="1">
            <a:spLocks noChangeArrowheads="1"/>
          </p:cNvSpPr>
          <p:nvPr/>
        </p:nvSpPr>
        <p:spPr bwMode="auto">
          <a:xfrm>
            <a:off x="1501775" y="5159375"/>
            <a:ext cx="66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400">
                <a:latin typeface="Arial" panose="020B0604020202020204" pitchFamily="34" charset="0"/>
              </a:rPr>
              <a:t>DB</a:t>
            </a:r>
          </a:p>
        </p:txBody>
      </p:sp>
      <p:sp>
        <p:nvSpPr>
          <p:cNvPr id="24602" name="Text Box 26">
            <a:extLst>
              <a:ext uri="{FF2B5EF4-FFF2-40B4-BE49-F238E27FC236}">
                <a16:creationId xmlns:a16="http://schemas.microsoft.com/office/drawing/2014/main" id="{02B7A34D-EF50-4378-B362-530BC33AA8DD}"/>
              </a:ext>
            </a:extLst>
          </p:cNvPr>
          <p:cNvSpPr txBox="1">
            <a:spLocks noChangeArrowheads="1"/>
          </p:cNvSpPr>
          <p:nvPr/>
        </p:nvSpPr>
        <p:spPr bwMode="auto">
          <a:xfrm>
            <a:off x="3629025" y="1806575"/>
            <a:ext cx="4397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latin typeface="Arial" panose="020B0604020202020204" pitchFamily="34" charset="0"/>
              </a:rPr>
              <a:t>不命中</a:t>
            </a:r>
          </a:p>
        </p:txBody>
      </p:sp>
      <p:sp>
        <p:nvSpPr>
          <p:cNvPr id="24603" name="Text Box 27">
            <a:extLst>
              <a:ext uri="{FF2B5EF4-FFF2-40B4-BE49-F238E27FC236}">
                <a16:creationId xmlns:a16="http://schemas.microsoft.com/office/drawing/2014/main" id="{632300EA-D89C-4535-9885-FABDF5A03E3D}"/>
              </a:ext>
            </a:extLst>
          </p:cNvPr>
          <p:cNvSpPr txBox="1">
            <a:spLocks noChangeArrowheads="1"/>
          </p:cNvSpPr>
          <p:nvPr/>
        </p:nvSpPr>
        <p:spPr bwMode="auto">
          <a:xfrm>
            <a:off x="4931896" y="3711575"/>
            <a:ext cx="587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dirty="0">
                <a:latin typeface="Arial" panose="020B0604020202020204" pitchFamily="34" charset="0"/>
              </a:rPr>
              <a:t>命中</a:t>
            </a:r>
          </a:p>
        </p:txBody>
      </p:sp>
      <p:sp>
        <p:nvSpPr>
          <p:cNvPr id="24604" name="Text Box 28">
            <a:extLst>
              <a:ext uri="{FF2B5EF4-FFF2-40B4-BE49-F238E27FC236}">
                <a16:creationId xmlns:a16="http://schemas.microsoft.com/office/drawing/2014/main" id="{9813FEF6-8A2C-4045-966A-5A03C9962573}"/>
              </a:ext>
            </a:extLst>
          </p:cNvPr>
          <p:cNvSpPr txBox="1">
            <a:spLocks noChangeArrowheads="1"/>
          </p:cNvSpPr>
          <p:nvPr/>
        </p:nvSpPr>
        <p:spPr bwMode="auto">
          <a:xfrm>
            <a:off x="2260600" y="4914900"/>
            <a:ext cx="2028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a:latin typeface="Arial" panose="020B0604020202020204" pitchFamily="34" charset="0"/>
              </a:rPr>
              <a:t>Cache</a:t>
            </a:r>
            <a:r>
              <a:rPr lang="zh-CN" altLang="en-US" sz="2000">
                <a:latin typeface="Arial" panose="020B0604020202020204" pitchFamily="34" charset="0"/>
              </a:rPr>
              <a:t>控制部件</a:t>
            </a:r>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563718A5-D001-4858-A8BB-D432A80699A4}"/>
              </a:ext>
            </a:extLst>
          </p:cNvPr>
          <p:cNvSpPr>
            <a:spLocks noGrp="1" noChangeArrowheads="1"/>
          </p:cNvSpPr>
          <p:nvPr>
            <p:ph type="title"/>
          </p:nvPr>
        </p:nvSpPr>
        <p:spPr/>
        <p:txBody>
          <a:bodyPr/>
          <a:lstStyle/>
          <a:p>
            <a:pPr eaLnBrk="1" hangingPunct="1">
              <a:defRPr/>
            </a:pPr>
            <a:r>
              <a:rPr lang="en-US" altLang="zh-CN"/>
              <a:t>cache</a:t>
            </a:r>
            <a:r>
              <a:rPr lang="zh-CN" altLang="en-US">
                <a:latin typeface="Arial" charset="0"/>
              </a:rPr>
              <a:t>控制部件的功能</a:t>
            </a:r>
          </a:p>
        </p:txBody>
      </p:sp>
      <p:sp>
        <p:nvSpPr>
          <p:cNvPr id="25603" name="Rectangle 3">
            <a:extLst>
              <a:ext uri="{FF2B5EF4-FFF2-40B4-BE49-F238E27FC236}">
                <a16:creationId xmlns:a16="http://schemas.microsoft.com/office/drawing/2014/main" id="{5EA7CBE8-640D-4A22-995B-3ECA1F7A97B9}"/>
              </a:ext>
            </a:extLst>
          </p:cNvPr>
          <p:cNvSpPr>
            <a:spLocks noGrp="1" noChangeArrowheads="1"/>
          </p:cNvSpPr>
          <p:nvPr>
            <p:ph idx="1"/>
          </p:nvPr>
        </p:nvSpPr>
        <p:spPr/>
        <p:txBody>
          <a:bodyPr/>
          <a:lstStyle/>
          <a:p>
            <a:pPr eaLnBrk="1" hangingPunct="1">
              <a:tabLst>
                <a:tab pos="2389188" algn="l"/>
              </a:tabLst>
            </a:pPr>
            <a:r>
              <a:rPr lang="zh-CN" altLang="en-US">
                <a:latin typeface="Arial" panose="020B0604020202020204" pitchFamily="34" charset="0"/>
              </a:rPr>
              <a:t>地址映射：如何在主存地址与</a:t>
            </a:r>
            <a:r>
              <a:rPr lang="en-US" altLang="zh-CN">
                <a:latin typeface="Arial" panose="020B0604020202020204" pitchFamily="34" charset="0"/>
              </a:rPr>
              <a:t>cache</a:t>
            </a:r>
            <a:r>
              <a:rPr lang="zh-CN" altLang="en-US">
                <a:latin typeface="Arial" panose="020B0604020202020204" pitchFamily="34" charset="0"/>
              </a:rPr>
              <a:t>地址之间进行变换</a:t>
            </a:r>
          </a:p>
          <a:p>
            <a:pPr eaLnBrk="1" hangingPunct="1">
              <a:tabLst>
                <a:tab pos="2389188" algn="l"/>
              </a:tabLst>
            </a:pPr>
            <a:r>
              <a:rPr lang="zh-CN" altLang="en-US">
                <a:latin typeface="Arial" panose="020B0604020202020204" pitchFamily="34" charset="0"/>
              </a:rPr>
              <a:t>替换算法：在</a:t>
            </a:r>
            <a:r>
              <a:rPr lang="en-US" altLang="zh-CN">
                <a:latin typeface="Arial" panose="020B0604020202020204" pitchFamily="34" charset="0"/>
              </a:rPr>
              <a:t>cache</a:t>
            </a:r>
            <a:r>
              <a:rPr lang="zh-CN" altLang="en-US">
                <a:latin typeface="Arial" panose="020B0604020202020204" pitchFamily="34" charset="0"/>
              </a:rPr>
              <a:t>不命中时如何替换</a:t>
            </a:r>
            <a:r>
              <a:rPr lang="en-US" altLang="zh-CN">
                <a:latin typeface="Arial" panose="020B0604020202020204" pitchFamily="34" charset="0"/>
              </a:rPr>
              <a:t>cache</a:t>
            </a:r>
            <a:r>
              <a:rPr lang="zh-CN" altLang="en-US">
                <a:latin typeface="Arial" panose="020B0604020202020204" pitchFamily="34" charset="0"/>
              </a:rPr>
              <a:t>中的内容</a:t>
            </a:r>
          </a:p>
          <a:p>
            <a:pPr eaLnBrk="1" hangingPunct="1">
              <a:tabLst>
                <a:tab pos="2389188" algn="l"/>
              </a:tabLst>
            </a:pPr>
            <a:r>
              <a:rPr lang="zh-CN" altLang="en-US">
                <a:latin typeface="Arial" panose="020B0604020202020204" pitchFamily="34" charset="0"/>
              </a:rPr>
              <a:t>更新算法：如何保持主存与</a:t>
            </a:r>
            <a:r>
              <a:rPr lang="en-US" altLang="zh-CN">
                <a:latin typeface="Arial" panose="020B0604020202020204" pitchFamily="34" charset="0"/>
              </a:rPr>
              <a:t>cache</a:t>
            </a:r>
            <a:r>
              <a:rPr lang="zh-CN" altLang="en-US">
                <a:latin typeface="Arial" panose="020B0604020202020204" pitchFamily="34" charset="0"/>
              </a:rPr>
              <a:t>的一致性</a:t>
            </a:r>
          </a:p>
        </p:txBody>
      </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E2AD5-19D6-4C43-B438-34C4AE110587}"/>
              </a:ext>
            </a:extLst>
          </p:cNvPr>
          <p:cNvSpPr>
            <a:spLocks noGrp="1"/>
          </p:cNvSpPr>
          <p:nvPr>
            <p:ph type="title"/>
          </p:nvPr>
        </p:nvSpPr>
        <p:spPr/>
        <p:txBody>
          <a:bodyPr/>
          <a:lstStyle/>
          <a:p>
            <a:pPr>
              <a:defRPr/>
            </a:pPr>
            <a:r>
              <a:rPr lang="zh-CN" altLang="en-US"/>
              <a:t>内容可寻址储存器</a:t>
            </a:r>
            <a:r>
              <a:rPr lang="en-US" altLang="zh-CN"/>
              <a:t>CAM</a:t>
            </a:r>
            <a:endParaRPr lang="zh-CN" altLang="en-US"/>
          </a:p>
        </p:txBody>
      </p:sp>
      <p:sp>
        <p:nvSpPr>
          <p:cNvPr id="27651" name="内容占位符 2">
            <a:extLst>
              <a:ext uri="{FF2B5EF4-FFF2-40B4-BE49-F238E27FC236}">
                <a16:creationId xmlns:a16="http://schemas.microsoft.com/office/drawing/2014/main" id="{EF384439-0B51-4CBC-B7BD-0F5C94CA8ECF}"/>
              </a:ext>
            </a:extLst>
          </p:cNvPr>
          <p:cNvSpPr>
            <a:spLocks noGrp="1" noChangeArrowheads="1"/>
          </p:cNvSpPr>
          <p:nvPr>
            <p:ph idx="1"/>
          </p:nvPr>
        </p:nvSpPr>
        <p:spPr/>
        <p:txBody>
          <a:bodyPr/>
          <a:lstStyle/>
          <a:p>
            <a:r>
              <a:rPr lang="en-US" altLang="zh-CN" sz="2400"/>
              <a:t>CAM</a:t>
            </a:r>
            <a:r>
              <a:rPr lang="zh-CN" altLang="en-US" sz="2400"/>
              <a:t>（</a:t>
            </a:r>
            <a:r>
              <a:rPr lang="en-US" altLang="zh-CN" sz="2400"/>
              <a:t>Content Addressable Memory</a:t>
            </a:r>
            <a:r>
              <a:rPr lang="zh-CN" altLang="en-US" sz="2400"/>
              <a:t>）是一种用内容进行寻址的存储器。将一个输入数据项与存储的所有数据项同时进行比较，若存在匹配，输出该数据项对应的匹配信息（或地址）。同时也能按地址进行读和写。</a:t>
            </a:r>
            <a:endParaRPr lang="en-US" altLang="zh-CN" sz="2400"/>
          </a:p>
          <a:p>
            <a:r>
              <a:rPr lang="en-US" altLang="zh-CN" sz="2400"/>
              <a:t>RAM vs. CAM</a:t>
            </a:r>
            <a:endParaRPr lang="zh-CN" altLang="en-US" sz="2400"/>
          </a:p>
        </p:txBody>
      </p:sp>
      <p:grpSp>
        <p:nvGrpSpPr>
          <p:cNvPr id="27653" name="组合 220">
            <a:extLst>
              <a:ext uri="{FF2B5EF4-FFF2-40B4-BE49-F238E27FC236}">
                <a16:creationId xmlns:a16="http://schemas.microsoft.com/office/drawing/2014/main" id="{8EF89BD5-96BD-4388-9679-3A72D8BC40D9}"/>
              </a:ext>
            </a:extLst>
          </p:cNvPr>
          <p:cNvGrpSpPr>
            <a:grpSpLocks/>
          </p:cNvGrpSpPr>
          <p:nvPr/>
        </p:nvGrpSpPr>
        <p:grpSpPr bwMode="auto">
          <a:xfrm>
            <a:off x="522288" y="2684463"/>
            <a:ext cx="8008937" cy="3744912"/>
            <a:chOff x="180975" y="2392363"/>
            <a:chExt cx="8961441" cy="4589470"/>
          </a:xfrm>
        </p:grpSpPr>
        <p:grpSp>
          <p:nvGrpSpPr>
            <p:cNvPr id="27654" name="Group 4">
              <a:extLst>
                <a:ext uri="{FF2B5EF4-FFF2-40B4-BE49-F238E27FC236}">
                  <a16:creationId xmlns:a16="http://schemas.microsoft.com/office/drawing/2014/main" id="{8D2CC72C-AFBC-482B-8971-752E021ED96C}"/>
                </a:ext>
              </a:extLst>
            </p:cNvPr>
            <p:cNvGrpSpPr>
              <a:grpSpLocks noChangeAspect="1"/>
            </p:cNvGrpSpPr>
            <p:nvPr/>
          </p:nvGrpSpPr>
          <p:grpSpPr bwMode="auto">
            <a:xfrm>
              <a:off x="1258888" y="2852738"/>
              <a:ext cx="3167062" cy="2808287"/>
              <a:chOff x="781" y="2024"/>
              <a:chExt cx="1648" cy="1461"/>
            </a:xfrm>
          </p:grpSpPr>
          <p:sp>
            <p:nvSpPr>
              <p:cNvPr id="6" name="Rectangle 5">
                <a:extLst>
                  <a:ext uri="{FF2B5EF4-FFF2-40B4-BE49-F238E27FC236}">
                    <a16:creationId xmlns:a16="http://schemas.microsoft.com/office/drawing/2014/main" id="{2D03BA41-CDBB-45FA-98AF-46B42CC3BA82}"/>
                  </a:ext>
                </a:extLst>
              </p:cNvPr>
              <p:cNvSpPr>
                <a:spLocks noChangeAspect="1" noChangeArrowheads="1"/>
              </p:cNvSpPr>
              <p:nvPr/>
            </p:nvSpPr>
            <p:spPr bwMode="auto">
              <a:xfrm>
                <a:off x="2245" y="3241"/>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7" name="Rectangle 6">
                <a:extLst>
                  <a:ext uri="{FF2B5EF4-FFF2-40B4-BE49-F238E27FC236}">
                    <a16:creationId xmlns:a16="http://schemas.microsoft.com/office/drawing/2014/main" id="{8C7BCF87-C815-4126-A74D-42B4178A4961}"/>
                  </a:ext>
                </a:extLst>
              </p:cNvPr>
              <p:cNvSpPr>
                <a:spLocks noChangeAspect="1" noChangeArrowheads="1"/>
              </p:cNvSpPr>
              <p:nvPr/>
            </p:nvSpPr>
            <p:spPr bwMode="auto">
              <a:xfrm>
                <a:off x="2063" y="3241"/>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8" name="Rectangle 7">
                <a:extLst>
                  <a:ext uri="{FF2B5EF4-FFF2-40B4-BE49-F238E27FC236}">
                    <a16:creationId xmlns:a16="http://schemas.microsoft.com/office/drawing/2014/main" id="{4F371F4D-93FE-4239-B679-C1582F5C9D61}"/>
                  </a:ext>
                </a:extLst>
              </p:cNvPr>
              <p:cNvSpPr>
                <a:spLocks noChangeAspect="1" noChangeArrowheads="1"/>
              </p:cNvSpPr>
              <p:nvPr/>
            </p:nvSpPr>
            <p:spPr bwMode="auto">
              <a:xfrm>
                <a:off x="1880" y="3241"/>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9" name="Rectangle 8">
                <a:extLst>
                  <a:ext uri="{FF2B5EF4-FFF2-40B4-BE49-F238E27FC236}">
                    <a16:creationId xmlns:a16="http://schemas.microsoft.com/office/drawing/2014/main" id="{EC81D131-8E31-40A4-B578-5CEEBFE6A80E}"/>
                  </a:ext>
                </a:extLst>
              </p:cNvPr>
              <p:cNvSpPr>
                <a:spLocks noChangeAspect="1" noChangeArrowheads="1"/>
              </p:cNvSpPr>
              <p:nvPr/>
            </p:nvSpPr>
            <p:spPr bwMode="auto">
              <a:xfrm>
                <a:off x="1696" y="3241"/>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0" name="Rectangle 9">
                <a:extLst>
                  <a:ext uri="{FF2B5EF4-FFF2-40B4-BE49-F238E27FC236}">
                    <a16:creationId xmlns:a16="http://schemas.microsoft.com/office/drawing/2014/main" id="{99EAC8AE-B932-4DDC-8652-1D8DB994063F}"/>
                  </a:ext>
                </a:extLst>
              </p:cNvPr>
              <p:cNvSpPr>
                <a:spLocks noChangeAspect="1" noChangeArrowheads="1"/>
              </p:cNvSpPr>
              <p:nvPr/>
            </p:nvSpPr>
            <p:spPr bwMode="auto">
              <a:xfrm>
                <a:off x="1514" y="3241"/>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1" name="Rectangle 10">
                <a:extLst>
                  <a:ext uri="{FF2B5EF4-FFF2-40B4-BE49-F238E27FC236}">
                    <a16:creationId xmlns:a16="http://schemas.microsoft.com/office/drawing/2014/main" id="{5CCBC7DF-4DBD-4157-897A-D62A78447802}"/>
                  </a:ext>
                </a:extLst>
              </p:cNvPr>
              <p:cNvSpPr>
                <a:spLocks noChangeAspect="1" noChangeArrowheads="1"/>
              </p:cNvSpPr>
              <p:nvPr/>
            </p:nvSpPr>
            <p:spPr bwMode="auto">
              <a:xfrm>
                <a:off x="1330" y="3241"/>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2" name="Rectangle 11">
                <a:extLst>
                  <a:ext uri="{FF2B5EF4-FFF2-40B4-BE49-F238E27FC236}">
                    <a16:creationId xmlns:a16="http://schemas.microsoft.com/office/drawing/2014/main" id="{AA6F8521-7395-426F-B4BA-C27677DDCE11}"/>
                  </a:ext>
                </a:extLst>
              </p:cNvPr>
              <p:cNvSpPr>
                <a:spLocks noChangeAspect="1" noChangeArrowheads="1"/>
              </p:cNvSpPr>
              <p:nvPr/>
            </p:nvSpPr>
            <p:spPr bwMode="auto">
              <a:xfrm>
                <a:off x="1147" y="3241"/>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3" name="Rectangle 12">
                <a:extLst>
                  <a:ext uri="{FF2B5EF4-FFF2-40B4-BE49-F238E27FC236}">
                    <a16:creationId xmlns:a16="http://schemas.microsoft.com/office/drawing/2014/main" id="{DA879D7A-CA1F-4E5A-A871-7C28200CAE22}"/>
                  </a:ext>
                </a:extLst>
              </p:cNvPr>
              <p:cNvSpPr>
                <a:spLocks noChangeAspect="1" noChangeArrowheads="1"/>
              </p:cNvSpPr>
              <p:nvPr/>
            </p:nvSpPr>
            <p:spPr bwMode="auto">
              <a:xfrm>
                <a:off x="965" y="3241"/>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4" name="Rectangle 13">
                <a:extLst>
                  <a:ext uri="{FF2B5EF4-FFF2-40B4-BE49-F238E27FC236}">
                    <a16:creationId xmlns:a16="http://schemas.microsoft.com/office/drawing/2014/main" id="{7A941D65-E33F-4567-8717-C169B8A7EEB6}"/>
                  </a:ext>
                </a:extLst>
              </p:cNvPr>
              <p:cNvSpPr>
                <a:spLocks noChangeAspect="1" noChangeArrowheads="1"/>
              </p:cNvSpPr>
              <p:nvPr/>
            </p:nvSpPr>
            <p:spPr bwMode="auto">
              <a:xfrm>
                <a:off x="781" y="3241"/>
                <a:ext cx="184" cy="244"/>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5</a:t>
                </a:r>
                <a:endParaRPr kumimoji="0" lang="ru-RU" altLang="zh-CN" sz="2400" b="1" kern="0">
                  <a:solidFill>
                    <a:srgbClr val="FFFFFF"/>
                  </a:solidFill>
                  <a:ea typeface="+mn-ea"/>
                </a:endParaRPr>
              </a:p>
            </p:txBody>
          </p:sp>
          <p:sp>
            <p:nvSpPr>
              <p:cNvPr id="15" name="Rectangle 14">
                <a:extLst>
                  <a:ext uri="{FF2B5EF4-FFF2-40B4-BE49-F238E27FC236}">
                    <a16:creationId xmlns:a16="http://schemas.microsoft.com/office/drawing/2014/main" id="{E1AED1B1-0CD0-46E4-8603-347EF714809F}"/>
                  </a:ext>
                </a:extLst>
              </p:cNvPr>
              <p:cNvSpPr>
                <a:spLocks noChangeAspect="1" noChangeArrowheads="1"/>
              </p:cNvSpPr>
              <p:nvPr/>
            </p:nvSpPr>
            <p:spPr bwMode="auto">
              <a:xfrm>
                <a:off x="2245" y="2998"/>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6" name="Rectangle 15">
                <a:extLst>
                  <a:ext uri="{FF2B5EF4-FFF2-40B4-BE49-F238E27FC236}">
                    <a16:creationId xmlns:a16="http://schemas.microsoft.com/office/drawing/2014/main" id="{2B7B13F8-3920-448F-9123-AC19C33DA2D6}"/>
                  </a:ext>
                </a:extLst>
              </p:cNvPr>
              <p:cNvSpPr>
                <a:spLocks noChangeAspect="1" noChangeArrowheads="1"/>
              </p:cNvSpPr>
              <p:nvPr/>
            </p:nvSpPr>
            <p:spPr bwMode="auto">
              <a:xfrm>
                <a:off x="2063" y="2998"/>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7" name="Rectangle 16">
                <a:extLst>
                  <a:ext uri="{FF2B5EF4-FFF2-40B4-BE49-F238E27FC236}">
                    <a16:creationId xmlns:a16="http://schemas.microsoft.com/office/drawing/2014/main" id="{EE9EAA9A-251E-4BB8-97A9-205CD200B81B}"/>
                  </a:ext>
                </a:extLst>
              </p:cNvPr>
              <p:cNvSpPr>
                <a:spLocks noChangeAspect="1" noChangeArrowheads="1"/>
              </p:cNvSpPr>
              <p:nvPr/>
            </p:nvSpPr>
            <p:spPr bwMode="auto">
              <a:xfrm>
                <a:off x="1880" y="2998"/>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8" name="Rectangle 17">
                <a:extLst>
                  <a:ext uri="{FF2B5EF4-FFF2-40B4-BE49-F238E27FC236}">
                    <a16:creationId xmlns:a16="http://schemas.microsoft.com/office/drawing/2014/main" id="{4FD00BFC-CDFA-48DE-A9C2-65B63F4C8913}"/>
                  </a:ext>
                </a:extLst>
              </p:cNvPr>
              <p:cNvSpPr>
                <a:spLocks noChangeAspect="1" noChangeArrowheads="1"/>
              </p:cNvSpPr>
              <p:nvPr/>
            </p:nvSpPr>
            <p:spPr bwMode="auto">
              <a:xfrm>
                <a:off x="1696" y="2998"/>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9" name="Rectangle 18">
                <a:extLst>
                  <a:ext uri="{FF2B5EF4-FFF2-40B4-BE49-F238E27FC236}">
                    <a16:creationId xmlns:a16="http://schemas.microsoft.com/office/drawing/2014/main" id="{D2B9005E-9A1D-47E4-A4CB-F20BFD8EE9EA}"/>
                  </a:ext>
                </a:extLst>
              </p:cNvPr>
              <p:cNvSpPr>
                <a:spLocks noChangeAspect="1" noChangeArrowheads="1"/>
              </p:cNvSpPr>
              <p:nvPr/>
            </p:nvSpPr>
            <p:spPr bwMode="auto">
              <a:xfrm>
                <a:off x="1514" y="2998"/>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0" name="Rectangle 19">
                <a:extLst>
                  <a:ext uri="{FF2B5EF4-FFF2-40B4-BE49-F238E27FC236}">
                    <a16:creationId xmlns:a16="http://schemas.microsoft.com/office/drawing/2014/main" id="{69C3A551-ADE0-4380-A0FE-282B77643D5B}"/>
                  </a:ext>
                </a:extLst>
              </p:cNvPr>
              <p:cNvSpPr>
                <a:spLocks noChangeAspect="1" noChangeArrowheads="1"/>
              </p:cNvSpPr>
              <p:nvPr/>
            </p:nvSpPr>
            <p:spPr bwMode="auto">
              <a:xfrm>
                <a:off x="1330" y="2998"/>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1" name="Rectangle 20">
                <a:extLst>
                  <a:ext uri="{FF2B5EF4-FFF2-40B4-BE49-F238E27FC236}">
                    <a16:creationId xmlns:a16="http://schemas.microsoft.com/office/drawing/2014/main" id="{BEDEDABD-0BE4-4C95-9FAE-8F66D65E7BD9}"/>
                  </a:ext>
                </a:extLst>
              </p:cNvPr>
              <p:cNvSpPr>
                <a:spLocks noChangeAspect="1" noChangeArrowheads="1"/>
              </p:cNvSpPr>
              <p:nvPr/>
            </p:nvSpPr>
            <p:spPr bwMode="auto">
              <a:xfrm>
                <a:off x="1147" y="2998"/>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2" name="Rectangle 21">
                <a:extLst>
                  <a:ext uri="{FF2B5EF4-FFF2-40B4-BE49-F238E27FC236}">
                    <a16:creationId xmlns:a16="http://schemas.microsoft.com/office/drawing/2014/main" id="{BFBD60C3-9330-4D44-82E0-D299AF03A6F5}"/>
                  </a:ext>
                </a:extLst>
              </p:cNvPr>
              <p:cNvSpPr>
                <a:spLocks noChangeAspect="1" noChangeArrowheads="1"/>
              </p:cNvSpPr>
              <p:nvPr/>
            </p:nvSpPr>
            <p:spPr bwMode="auto">
              <a:xfrm>
                <a:off x="965" y="2998"/>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3" name="Rectangle 22">
                <a:extLst>
                  <a:ext uri="{FF2B5EF4-FFF2-40B4-BE49-F238E27FC236}">
                    <a16:creationId xmlns:a16="http://schemas.microsoft.com/office/drawing/2014/main" id="{1DBFE358-498C-4874-92C5-9FDF02CE3ECC}"/>
                  </a:ext>
                </a:extLst>
              </p:cNvPr>
              <p:cNvSpPr>
                <a:spLocks noChangeAspect="1" noChangeArrowheads="1"/>
              </p:cNvSpPr>
              <p:nvPr/>
            </p:nvSpPr>
            <p:spPr bwMode="auto">
              <a:xfrm>
                <a:off x="781" y="2998"/>
                <a:ext cx="184" cy="243"/>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4</a:t>
                </a:r>
                <a:endParaRPr kumimoji="0" lang="ru-RU" altLang="zh-CN" sz="2400" b="1" kern="0">
                  <a:solidFill>
                    <a:srgbClr val="FFFFFF"/>
                  </a:solidFill>
                  <a:ea typeface="+mn-ea"/>
                </a:endParaRPr>
              </a:p>
            </p:txBody>
          </p:sp>
          <p:sp>
            <p:nvSpPr>
              <p:cNvPr id="24" name="Rectangle 23">
                <a:extLst>
                  <a:ext uri="{FF2B5EF4-FFF2-40B4-BE49-F238E27FC236}">
                    <a16:creationId xmlns:a16="http://schemas.microsoft.com/office/drawing/2014/main" id="{6D1B894F-3FFE-460B-8959-DA7BC8654E7C}"/>
                  </a:ext>
                </a:extLst>
              </p:cNvPr>
              <p:cNvSpPr>
                <a:spLocks noChangeAspect="1" noChangeArrowheads="1"/>
              </p:cNvSpPr>
              <p:nvPr/>
            </p:nvSpPr>
            <p:spPr bwMode="auto">
              <a:xfrm>
                <a:off x="2245" y="2755"/>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5" name="Rectangle 24">
                <a:extLst>
                  <a:ext uri="{FF2B5EF4-FFF2-40B4-BE49-F238E27FC236}">
                    <a16:creationId xmlns:a16="http://schemas.microsoft.com/office/drawing/2014/main" id="{C7D3336B-162C-4663-8159-51CEDA2F68E9}"/>
                  </a:ext>
                </a:extLst>
              </p:cNvPr>
              <p:cNvSpPr>
                <a:spLocks noChangeAspect="1" noChangeArrowheads="1"/>
              </p:cNvSpPr>
              <p:nvPr/>
            </p:nvSpPr>
            <p:spPr bwMode="auto">
              <a:xfrm>
                <a:off x="2063" y="2755"/>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6" name="Rectangle 25">
                <a:extLst>
                  <a:ext uri="{FF2B5EF4-FFF2-40B4-BE49-F238E27FC236}">
                    <a16:creationId xmlns:a16="http://schemas.microsoft.com/office/drawing/2014/main" id="{D0E0D3D9-A6A7-44F7-A297-6A5479DE5C5C}"/>
                  </a:ext>
                </a:extLst>
              </p:cNvPr>
              <p:cNvSpPr>
                <a:spLocks noChangeAspect="1" noChangeArrowheads="1"/>
              </p:cNvSpPr>
              <p:nvPr/>
            </p:nvSpPr>
            <p:spPr bwMode="auto">
              <a:xfrm>
                <a:off x="1880" y="2755"/>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7" name="Rectangle 26">
                <a:extLst>
                  <a:ext uri="{FF2B5EF4-FFF2-40B4-BE49-F238E27FC236}">
                    <a16:creationId xmlns:a16="http://schemas.microsoft.com/office/drawing/2014/main" id="{AFD7D61D-B12F-4CD6-AD61-303B9808FC46}"/>
                  </a:ext>
                </a:extLst>
              </p:cNvPr>
              <p:cNvSpPr>
                <a:spLocks noChangeAspect="1" noChangeArrowheads="1"/>
              </p:cNvSpPr>
              <p:nvPr/>
            </p:nvSpPr>
            <p:spPr bwMode="auto">
              <a:xfrm>
                <a:off x="1696" y="2755"/>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8" name="Rectangle 27">
                <a:extLst>
                  <a:ext uri="{FF2B5EF4-FFF2-40B4-BE49-F238E27FC236}">
                    <a16:creationId xmlns:a16="http://schemas.microsoft.com/office/drawing/2014/main" id="{58D90107-1BAD-44A4-8373-FA29B06D63D8}"/>
                  </a:ext>
                </a:extLst>
              </p:cNvPr>
              <p:cNvSpPr>
                <a:spLocks noChangeAspect="1" noChangeArrowheads="1"/>
              </p:cNvSpPr>
              <p:nvPr/>
            </p:nvSpPr>
            <p:spPr bwMode="auto">
              <a:xfrm>
                <a:off x="1514" y="2755"/>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9" name="Rectangle 28">
                <a:extLst>
                  <a:ext uri="{FF2B5EF4-FFF2-40B4-BE49-F238E27FC236}">
                    <a16:creationId xmlns:a16="http://schemas.microsoft.com/office/drawing/2014/main" id="{EAB1EF33-BFD7-40C2-A2A4-4BC27D467B2D}"/>
                  </a:ext>
                </a:extLst>
              </p:cNvPr>
              <p:cNvSpPr>
                <a:spLocks noChangeAspect="1" noChangeArrowheads="1"/>
              </p:cNvSpPr>
              <p:nvPr/>
            </p:nvSpPr>
            <p:spPr bwMode="auto">
              <a:xfrm>
                <a:off x="1330" y="2755"/>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30" name="Rectangle 29">
                <a:extLst>
                  <a:ext uri="{FF2B5EF4-FFF2-40B4-BE49-F238E27FC236}">
                    <a16:creationId xmlns:a16="http://schemas.microsoft.com/office/drawing/2014/main" id="{1D1488D2-0E15-4B9D-BBFE-781E99328223}"/>
                  </a:ext>
                </a:extLst>
              </p:cNvPr>
              <p:cNvSpPr>
                <a:spLocks noChangeAspect="1" noChangeArrowheads="1"/>
              </p:cNvSpPr>
              <p:nvPr/>
            </p:nvSpPr>
            <p:spPr bwMode="auto">
              <a:xfrm>
                <a:off x="1147" y="2755"/>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31" name="Rectangle 30">
                <a:extLst>
                  <a:ext uri="{FF2B5EF4-FFF2-40B4-BE49-F238E27FC236}">
                    <a16:creationId xmlns:a16="http://schemas.microsoft.com/office/drawing/2014/main" id="{AAEA5E57-E493-4669-9446-F6C06C7C9FEF}"/>
                  </a:ext>
                </a:extLst>
              </p:cNvPr>
              <p:cNvSpPr>
                <a:spLocks noChangeAspect="1" noChangeArrowheads="1"/>
              </p:cNvSpPr>
              <p:nvPr/>
            </p:nvSpPr>
            <p:spPr bwMode="auto">
              <a:xfrm>
                <a:off x="965" y="2755"/>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32" name="Rectangle 31">
                <a:extLst>
                  <a:ext uri="{FF2B5EF4-FFF2-40B4-BE49-F238E27FC236}">
                    <a16:creationId xmlns:a16="http://schemas.microsoft.com/office/drawing/2014/main" id="{A9F82DA6-3089-485E-A839-FB41E316E895}"/>
                  </a:ext>
                </a:extLst>
              </p:cNvPr>
              <p:cNvSpPr>
                <a:spLocks noChangeAspect="1" noChangeArrowheads="1"/>
              </p:cNvSpPr>
              <p:nvPr/>
            </p:nvSpPr>
            <p:spPr bwMode="auto">
              <a:xfrm>
                <a:off x="781" y="2755"/>
                <a:ext cx="184" cy="243"/>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3</a:t>
                </a:r>
                <a:endParaRPr kumimoji="0" lang="ru-RU" altLang="zh-CN" sz="2400" b="1" kern="0">
                  <a:solidFill>
                    <a:srgbClr val="FFFFFF"/>
                  </a:solidFill>
                  <a:ea typeface="+mn-ea"/>
                </a:endParaRPr>
              </a:p>
            </p:txBody>
          </p:sp>
          <p:sp>
            <p:nvSpPr>
              <p:cNvPr id="33" name="Rectangle 32">
                <a:extLst>
                  <a:ext uri="{FF2B5EF4-FFF2-40B4-BE49-F238E27FC236}">
                    <a16:creationId xmlns:a16="http://schemas.microsoft.com/office/drawing/2014/main" id="{A11569D5-C7B7-4E9F-93EF-F3379DC81451}"/>
                  </a:ext>
                </a:extLst>
              </p:cNvPr>
              <p:cNvSpPr>
                <a:spLocks noChangeAspect="1" noChangeArrowheads="1"/>
              </p:cNvSpPr>
              <p:nvPr/>
            </p:nvSpPr>
            <p:spPr bwMode="auto">
              <a:xfrm>
                <a:off x="2245" y="2511"/>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34" name="Rectangle 33">
                <a:extLst>
                  <a:ext uri="{FF2B5EF4-FFF2-40B4-BE49-F238E27FC236}">
                    <a16:creationId xmlns:a16="http://schemas.microsoft.com/office/drawing/2014/main" id="{1D279EDC-BE82-4C38-B770-47B544D96DC8}"/>
                  </a:ext>
                </a:extLst>
              </p:cNvPr>
              <p:cNvSpPr>
                <a:spLocks noChangeAspect="1" noChangeArrowheads="1"/>
              </p:cNvSpPr>
              <p:nvPr/>
            </p:nvSpPr>
            <p:spPr bwMode="auto">
              <a:xfrm>
                <a:off x="2063" y="2511"/>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35" name="Rectangle 34">
                <a:extLst>
                  <a:ext uri="{FF2B5EF4-FFF2-40B4-BE49-F238E27FC236}">
                    <a16:creationId xmlns:a16="http://schemas.microsoft.com/office/drawing/2014/main" id="{EDAC7C23-0A6D-461A-8E6D-E059BFED891C}"/>
                  </a:ext>
                </a:extLst>
              </p:cNvPr>
              <p:cNvSpPr>
                <a:spLocks noChangeAspect="1" noChangeArrowheads="1"/>
              </p:cNvSpPr>
              <p:nvPr/>
            </p:nvSpPr>
            <p:spPr bwMode="auto">
              <a:xfrm>
                <a:off x="1880" y="2511"/>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36" name="Rectangle 35">
                <a:extLst>
                  <a:ext uri="{FF2B5EF4-FFF2-40B4-BE49-F238E27FC236}">
                    <a16:creationId xmlns:a16="http://schemas.microsoft.com/office/drawing/2014/main" id="{AD5BAFA5-122A-4C2F-A1AD-F8DF7EDB8458}"/>
                  </a:ext>
                </a:extLst>
              </p:cNvPr>
              <p:cNvSpPr>
                <a:spLocks noChangeAspect="1" noChangeArrowheads="1"/>
              </p:cNvSpPr>
              <p:nvPr/>
            </p:nvSpPr>
            <p:spPr bwMode="auto">
              <a:xfrm>
                <a:off x="1696" y="2511"/>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37" name="Rectangle 36">
                <a:extLst>
                  <a:ext uri="{FF2B5EF4-FFF2-40B4-BE49-F238E27FC236}">
                    <a16:creationId xmlns:a16="http://schemas.microsoft.com/office/drawing/2014/main" id="{FE23BAC6-80EB-4E55-97EB-F5777B103281}"/>
                  </a:ext>
                </a:extLst>
              </p:cNvPr>
              <p:cNvSpPr>
                <a:spLocks noChangeAspect="1" noChangeArrowheads="1"/>
              </p:cNvSpPr>
              <p:nvPr/>
            </p:nvSpPr>
            <p:spPr bwMode="auto">
              <a:xfrm>
                <a:off x="1514" y="2511"/>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38" name="Rectangle 37">
                <a:extLst>
                  <a:ext uri="{FF2B5EF4-FFF2-40B4-BE49-F238E27FC236}">
                    <a16:creationId xmlns:a16="http://schemas.microsoft.com/office/drawing/2014/main" id="{BAA3C5E7-74B7-4E51-9F8F-D43AE328D38B}"/>
                  </a:ext>
                </a:extLst>
              </p:cNvPr>
              <p:cNvSpPr>
                <a:spLocks noChangeAspect="1" noChangeArrowheads="1"/>
              </p:cNvSpPr>
              <p:nvPr/>
            </p:nvSpPr>
            <p:spPr bwMode="auto">
              <a:xfrm>
                <a:off x="1330" y="2511"/>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39" name="Rectangle 38">
                <a:extLst>
                  <a:ext uri="{FF2B5EF4-FFF2-40B4-BE49-F238E27FC236}">
                    <a16:creationId xmlns:a16="http://schemas.microsoft.com/office/drawing/2014/main" id="{0C702F7F-1CFE-49A2-8F71-D8AE257847E7}"/>
                  </a:ext>
                </a:extLst>
              </p:cNvPr>
              <p:cNvSpPr>
                <a:spLocks noChangeAspect="1" noChangeArrowheads="1"/>
              </p:cNvSpPr>
              <p:nvPr/>
            </p:nvSpPr>
            <p:spPr bwMode="auto">
              <a:xfrm>
                <a:off x="1147" y="2511"/>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40" name="Rectangle 39">
                <a:extLst>
                  <a:ext uri="{FF2B5EF4-FFF2-40B4-BE49-F238E27FC236}">
                    <a16:creationId xmlns:a16="http://schemas.microsoft.com/office/drawing/2014/main" id="{59B4C045-EBDA-45B6-BEBD-79C9B9663859}"/>
                  </a:ext>
                </a:extLst>
              </p:cNvPr>
              <p:cNvSpPr>
                <a:spLocks noChangeAspect="1" noChangeArrowheads="1"/>
              </p:cNvSpPr>
              <p:nvPr/>
            </p:nvSpPr>
            <p:spPr bwMode="auto">
              <a:xfrm>
                <a:off x="965" y="2511"/>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41" name="Rectangle 40">
                <a:extLst>
                  <a:ext uri="{FF2B5EF4-FFF2-40B4-BE49-F238E27FC236}">
                    <a16:creationId xmlns:a16="http://schemas.microsoft.com/office/drawing/2014/main" id="{5496A18A-3BE7-48B9-9325-3EFB50D91936}"/>
                  </a:ext>
                </a:extLst>
              </p:cNvPr>
              <p:cNvSpPr>
                <a:spLocks noChangeAspect="1" noChangeArrowheads="1"/>
              </p:cNvSpPr>
              <p:nvPr/>
            </p:nvSpPr>
            <p:spPr bwMode="auto">
              <a:xfrm>
                <a:off x="781" y="2511"/>
                <a:ext cx="184" cy="244"/>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2</a:t>
                </a:r>
                <a:endParaRPr kumimoji="0" lang="ru-RU" altLang="zh-CN" sz="2400" b="1" kern="0">
                  <a:solidFill>
                    <a:srgbClr val="FFFFFF"/>
                  </a:solidFill>
                  <a:ea typeface="+mn-ea"/>
                </a:endParaRPr>
              </a:p>
            </p:txBody>
          </p:sp>
          <p:sp>
            <p:nvSpPr>
              <p:cNvPr id="42" name="Rectangle 41">
                <a:extLst>
                  <a:ext uri="{FF2B5EF4-FFF2-40B4-BE49-F238E27FC236}">
                    <a16:creationId xmlns:a16="http://schemas.microsoft.com/office/drawing/2014/main" id="{E4A5CC41-A0FA-4E3E-83B3-7D8ECD4D857C}"/>
                  </a:ext>
                </a:extLst>
              </p:cNvPr>
              <p:cNvSpPr>
                <a:spLocks noChangeAspect="1" noChangeArrowheads="1"/>
              </p:cNvSpPr>
              <p:nvPr/>
            </p:nvSpPr>
            <p:spPr bwMode="auto">
              <a:xfrm>
                <a:off x="2245" y="2268"/>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43" name="Rectangle 42">
                <a:extLst>
                  <a:ext uri="{FF2B5EF4-FFF2-40B4-BE49-F238E27FC236}">
                    <a16:creationId xmlns:a16="http://schemas.microsoft.com/office/drawing/2014/main" id="{541F1FD6-D37A-4FA3-9415-FCF03B777682}"/>
                  </a:ext>
                </a:extLst>
              </p:cNvPr>
              <p:cNvSpPr>
                <a:spLocks noChangeAspect="1" noChangeArrowheads="1"/>
              </p:cNvSpPr>
              <p:nvPr/>
            </p:nvSpPr>
            <p:spPr bwMode="auto">
              <a:xfrm>
                <a:off x="2063" y="2268"/>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44" name="Rectangle 43">
                <a:extLst>
                  <a:ext uri="{FF2B5EF4-FFF2-40B4-BE49-F238E27FC236}">
                    <a16:creationId xmlns:a16="http://schemas.microsoft.com/office/drawing/2014/main" id="{E4AFCEEE-F918-4EBB-B1E4-1DA8F97F765B}"/>
                  </a:ext>
                </a:extLst>
              </p:cNvPr>
              <p:cNvSpPr>
                <a:spLocks noChangeAspect="1" noChangeArrowheads="1"/>
              </p:cNvSpPr>
              <p:nvPr/>
            </p:nvSpPr>
            <p:spPr bwMode="auto">
              <a:xfrm>
                <a:off x="1880" y="2268"/>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45" name="Rectangle 44">
                <a:extLst>
                  <a:ext uri="{FF2B5EF4-FFF2-40B4-BE49-F238E27FC236}">
                    <a16:creationId xmlns:a16="http://schemas.microsoft.com/office/drawing/2014/main" id="{741E500C-20DB-4326-991F-ECC049F1A6B6}"/>
                  </a:ext>
                </a:extLst>
              </p:cNvPr>
              <p:cNvSpPr>
                <a:spLocks noChangeAspect="1" noChangeArrowheads="1"/>
              </p:cNvSpPr>
              <p:nvPr/>
            </p:nvSpPr>
            <p:spPr bwMode="auto">
              <a:xfrm>
                <a:off x="1696" y="2268"/>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46" name="Rectangle 45">
                <a:extLst>
                  <a:ext uri="{FF2B5EF4-FFF2-40B4-BE49-F238E27FC236}">
                    <a16:creationId xmlns:a16="http://schemas.microsoft.com/office/drawing/2014/main" id="{B904279F-3FED-402D-B0DA-4DF25A300AD9}"/>
                  </a:ext>
                </a:extLst>
              </p:cNvPr>
              <p:cNvSpPr>
                <a:spLocks noChangeAspect="1" noChangeArrowheads="1"/>
              </p:cNvSpPr>
              <p:nvPr/>
            </p:nvSpPr>
            <p:spPr bwMode="auto">
              <a:xfrm>
                <a:off x="1514" y="2268"/>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47" name="Rectangle 46">
                <a:extLst>
                  <a:ext uri="{FF2B5EF4-FFF2-40B4-BE49-F238E27FC236}">
                    <a16:creationId xmlns:a16="http://schemas.microsoft.com/office/drawing/2014/main" id="{3ECA175F-211A-439D-8C59-4360955C9736}"/>
                  </a:ext>
                </a:extLst>
              </p:cNvPr>
              <p:cNvSpPr>
                <a:spLocks noChangeAspect="1" noChangeArrowheads="1"/>
              </p:cNvSpPr>
              <p:nvPr/>
            </p:nvSpPr>
            <p:spPr bwMode="auto">
              <a:xfrm>
                <a:off x="1330" y="2268"/>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48" name="Rectangle 47">
                <a:extLst>
                  <a:ext uri="{FF2B5EF4-FFF2-40B4-BE49-F238E27FC236}">
                    <a16:creationId xmlns:a16="http://schemas.microsoft.com/office/drawing/2014/main" id="{C6A5F231-3A5E-4F3B-BF39-4BF1CF904430}"/>
                  </a:ext>
                </a:extLst>
              </p:cNvPr>
              <p:cNvSpPr>
                <a:spLocks noChangeAspect="1" noChangeArrowheads="1"/>
              </p:cNvSpPr>
              <p:nvPr/>
            </p:nvSpPr>
            <p:spPr bwMode="auto">
              <a:xfrm>
                <a:off x="1147" y="2268"/>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49" name="Rectangle 48">
                <a:extLst>
                  <a:ext uri="{FF2B5EF4-FFF2-40B4-BE49-F238E27FC236}">
                    <a16:creationId xmlns:a16="http://schemas.microsoft.com/office/drawing/2014/main" id="{C14EF948-C90C-4C31-8D15-5FFF1113E4AA}"/>
                  </a:ext>
                </a:extLst>
              </p:cNvPr>
              <p:cNvSpPr>
                <a:spLocks noChangeAspect="1" noChangeArrowheads="1"/>
              </p:cNvSpPr>
              <p:nvPr/>
            </p:nvSpPr>
            <p:spPr bwMode="auto">
              <a:xfrm>
                <a:off x="965" y="2268"/>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50" name="Rectangle 49">
                <a:extLst>
                  <a:ext uri="{FF2B5EF4-FFF2-40B4-BE49-F238E27FC236}">
                    <a16:creationId xmlns:a16="http://schemas.microsoft.com/office/drawing/2014/main" id="{E5447C6D-AFEF-4424-85DB-D0EFD8D63D5F}"/>
                  </a:ext>
                </a:extLst>
              </p:cNvPr>
              <p:cNvSpPr>
                <a:spLocks noChangeAspect="1" noChangeArrowheads="1"/>
              </p:cNvSpPr>
              <p:nvPr/>
            </p:nvSpPr>
            <p:spPr bwMode="auto">
              <a:xfrm>
                <a:off x="781" y="2268"/>
                <a:ext cx="184" cy="243"/>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1</a:t>
                </a:r>
                <a:endParaRPr kumimoji="0" lang="ru-RU" altLang="zh-CN" sz="2400" b="1" kern="0">
                  <a:solidFill>
                    <a:srgbClr val="FFFFFF"/>
                  </a:solidFill>
                  <a:ea typeface="+mn-ea"/>
                </a:endParaRPr>
              </a:p>
            </p:txBody>
          </p:sp>
          <p:sp>
            <p:nvSpPr>
              <p:cNvPr id="51" name="Rectangle 50">
                <a:extLst>
                  <a:ext uri="{FF2B5EF4-FFF2-40B4-BE49-F238E27FC236}">
                    <a16:creationId xmlns:a16="http://schemas.microsoft.com/office/drawing/2014/main" id="{53DCDEBB-110A-428E-B7D9-04D17011700D}"/>
                  </a:ext>
                </a:extLst>
              </p:cNvPr>
              <p:cNvSpPr>
                <a:spLocks noChangeAspect="1" noChangeArrowheads="1"/>
              </p:cNvSpPr>
              <p:nvPr/>
            </p:nvSpPr>
            <p:spPr bwMode="auto">
              <a:xfrm>
                <a:off x="2245" y="2024"/>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52" name="Rectangle 51">
                <a:extLst>
                  <a:ext uri="{FF2B5EF4-FFF2-40B4-BE49-F238E27FC236}">
                    <a16:creationId xmlns:a16="http://schemas.microsoft.com/office/drawing/2014/main" id="{F0647474-F872-4FC9-8FE5-4163D40B27CE}"/>
                  </a:ext>
                </a:extLst>
              </p:cNvPr>
              <p:cNvSpPr>
                <a:spLocks noChangeAspect="1" noChangeArrowheads="1"/>
              </p:cNvSpPr>
              <p:nvPr/>
            </p:nvSpPr>
            <p:spPr bwMode="auto">
              <a:xfrm>
                <a:off x="2063" y="2024"/>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53" name="Rectangle 52">
                <a:extLst>
                  <a:ext uri="{FF2B5EF4-FFF2-40B4-BE49-F238E27FC236}">
                    <a16:creationId xmlns:a16="http://schemas.microsoft.com/office/drawing/2014/main" id="{A9564774-3574-4A45-B75C-895CEF7DD9E4}"/>
                  </a:ext>
                </a:extLst>
              </p:cNvPr>
              <p:cNvSpPr>
                <a:spLocks noChangeAspect="1" noChangeArrowheads="1"/>
              </p:cNvSpPr>
              <p:nvPr/>
            </p:nvSpPr>
            <p:spPr bwMode="auto">
              <a:xfrm>
                <a:off x="1880" y="2024"/>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54" name="Rectangle 53">
                <a:extLst>
                  <a:ext uri="{FF2B5EF4-FFF2-40B4-BE49-F238E27FC236}">
                    <a16:creationId xmlns:a16="http://schemas.microsoft.com/office/drawing/2014/main" id="{7C2E367A-0429-4544-96B6-7161D80160A1}"/>
                  </a:ext>
                </a:extLst>
              </p:cNvPr>
              <p:cNvSpPr>
                <a:spLocks noChangeAspect="1" noChangeArrowheads="1"/>
              </p:cNvSpPr>
              <p:nvPr/>
            </p:nvSpPr>
            <p:spPr bwMode="auto">
              <a:xfrm>
                <a:off x="1696" y="2024"/>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55" name="Rectangle 54">
                <a:extLst>
                  <a:ext uri="{FF2B5EF4-FFF2-40B4-BE49-F238E27FC236}">
                    <a16:creationId xmlns:a16="http://schemas.microsoft.com/office/drawing/2014/main" id="{931B919C-3D6C-48C0-8B87-BA4D2A8137BA}"/>
                  </a:ext>
                </a:extLst>
              </p:cNvPr>
              <p:cNvSpPr>
                <a:spLocks noChangeAspect="1" noChangeArrowheads="1"/>
              </p:cNvSpPr>
              <p:nvPr/>
            </p:nvSpPr>
            <p:spPr bwMode="auto">
              <a:xfrm>
                <a:off x="1514" y="2024"/>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56" name="Rectangle 55">
                <a:extLst>
                  <a:ext uri="{FF2B5EF4-FFF2-40B4-BE49-F238E27FC236}">
                    <a16:creationId xmlns:a16="http://schemas.microsoft.com/office/drawing/2014/main" id="{A7602D09-2AB9-426D-A49B-D250DB8E915E}"/>
                  </a:ext>
                </a:extLst>
              </p:cNvPr>
              <p:cNvSpPr>
                <a:spLocks noChangeAspect="1" noChangeArrowheads="1"/>
              </p:cNvSpPr>
              <p:nvPr/>
            </p:nvSpPr>
            <p:spPr bwMode="auto">
              <a:xfrm>
                <a:off x="1330" y="2024"/>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57" name="Rectangle 56">
                <a:extLst>
                  <a:ext uri="{FF2B5EF4-FFF2-40B4-BE49-F238E27FC236}">
                    <a16:creationId xmlns:a16="http://schemas.microsoft.com/office/drawing/2014/main" id="{0ABE90F2-4DCE-438E-A58B-4147DD0F5655}"/>
                  </a:ext>
                </a:extLst>
              </p:cNvPr>
              <p:cNvSpPr>
                <a:spLocks noChangeAspect="1" noChangeArrowheads="1"/>
              </p:cNvSpPr>
              <p:nvPr/>
            </p:nvSpPr>
            <p:spPr bwMode="auto">
              <a:xfrm>
                <a:off x="1147" y="2024"/>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58" name="Rectangle 57">
                <a:extLst>
                  <a:ext uri="{FF2B5EF4-FFF2-40B4-BE49-F238E27FC236}">
                    <a16:creationId xmlns:a16="http://schemas.microsoft.com/office/drawing/2014/main" id="{1EBDDEAB-5331-4A2B-ABAA-3FABA24F5288}"/>
                  </a:ext>
                </a:extLst>
              </p:cNvPr>
              <p:cNvSpPr>
                <a:spLocks noChangeAspect="1" noChangeArrowheads="1"/>
              </p:cNvSpPr>
              <p:nvPr/>
            </p:nvSpPr>
            <p:spPr bwMode="auto">
              <a:xfrm>
                <a:off x="965" y="2024"/>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59" name="Rectangle 58">
                <a:extLst>
                  <a:ext uri="{FF2B5EF4-FFF2-40B4-BE49-F238E27FC236}">
                    <a16:creationId xmlns:a16="http://schemas.microsoft.com/office/drawing/2014/main" id="{B8FB13DB-6FFF-4077-8685-18CBD5895BAF}"/>
                  </a:ext>
                </a:extLst>
              </p:cNvPr>
              <p:cNvSpPr>
                <a:spLocks noChangeAspect="1" noChangeArrowheads="1"/>
              </p:cNvSpPr>
              <p:nvPr/>
            </p:nvSpPr>
            <p:spPr bwMode="auto">
              <a:xfrm>
                <a:off x="781" y="2024"/>
                <a:ext cx="184" cy="244"/>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0</a:t>
                </a:r>
                <a:endParaRPr kumimoji="0" lang="ru-RU" altLang="zh-CN" sz="2400" b="1" kern="0">
                  <a:solidFill>
                    <a:srgbClr val="FFFFFF"/>
                  </a:solidFill>
                  <a:ea typeface="+mn-ea"/>
                </a:endParaRPr>
              </a:p>
            </p:txBody>
          </p:sp>
          <p:sp>
            <p:nvSpPr>
              <p:cNvPr id="60" name="Line 59">
                <a:extLst>
                  <a:ext uri="{FF2B5EF4-FFF2-40B4-BE49-F238E27FC236}">
                    <a16:creationId xmlns:a16="http://schemas.microsoft.com/office/drawing/2014/main" id="{52E6CC93-805A-47E8-B307-177ECECE6441}"/>
                  </a:ext>
                </a:extLst>
              </p:cNvPr>
              <p:cNvSpPr>
                <a:spLocks noChangeAspect="1" noChangeShapeType="1"/>
              </p:cNvSpPr>
              <p:nvPr/>
            </p:nvSpPr>
            <p:spPr bwMode="auto">
              <a:xfrm>
                <a:off x="781" y="2024"/>
                <a:ext cx="1648"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1" name="Line 60">
                <a:extLst>
                  <a:ext uri="{FF2B5EF4-FFF2-40B4-BE49-F238E27FC236}">
                    <a16:creationId xmlns:a16="http://schemas.microsoft.com/office/drawing/2014/main" id="{60C38EBE-28B5-4979-A6B6-B1ACB1EA9B5E}"/>
                  </a:ext>
                </a:extLst>
              </p:cNvPr>
              <p:cNvSpPr>
                <a:spLocks noChangeAspect="1" noChangeShapeType="1"/>
              </p:cNvSpPr>
              <p:nvPr/>
            </p:nvSpPr>
            <p:spPr bwMode="auto">
              <a:xfrm>
                <a:off x="781" y="2268"/>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2" name="Line 61">
                <a:extLst>
                  <a:ext uri="{FF2B5EF4-FFF2-40B4-BE49-F238E27FC236}">
                    <a16:creationId xmlns:a16="http://schemas.microsoft.com/office/drawing/2014/main" id="{3EB0A025-616A-46C9-BEA6-2E5E90ABD5A8}"/>
                  </a:ext>
                </a:extLst>
              </p:cNvPr>
              <p:cNvSpPr>
                <a:spLocks noChangeAspect="1" noChangeShapeType="1"/>
              </p:cNvSpPr>
              <p:nvPr/>
            </p:nvSpPr>
            <p:spPr bwMode="auto">
              <a:xfrm>
                <a:off x="781" y="2511"/>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3" name="Line 62">
                <a:extLst>
                  <a:ext uri="{FF2B5EF4-FFF2-40B4-BE49-F238E27FC236}">
                    <a16:creationId xmlns:a16="http://schemas.microsoft.com/office/drawing/2014/main" id="{44603EE5-7FF1-49C6-B4C3-A7E3892B4E5A}"/>
                  </a:ext>
                </a:extLst>
              </p:cNvPr>
              <p:cNvSpPr>
                <a:spLocks noChangeAspect="1" noChangeShapeType="1"/>
              </p:cNvSpPr>
              <p:nvPr/>
            </p:nvSpPr>
            <p:spPr bwMode="auto">
              <a:xfrm>
                <a:off x="781" y="2755"/>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4" name="Line 63">
                <a:extLst>
                  <a:ext uri="{FF2B5EF4-FFF2-40B4-BE49-F238E27FC236}">
                    <a16:creationId xmlns:a16="http://schemas.microsoft.com/office/drawing/2014/main" id="{D2CE2526-8E01-495E-96D0-D0C3208D024A}"/>
                  </a:ext>
                </a:extLst>
              </p:cNvPr>
              <p:cNvSpPr>
                <a:spLocks noChangeAspect="1" noChangeShapeType="1"/>
              </p:cNvSpPr>
              <p:nvPr/>
            </p:nvSpPr>
            <p:spPr bwMode="auto">
              <a:xfrm>
                <a:off x="781" y="2998"/>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5" name="Line 64">
                <a:extLst>
                  <a:ext uri="{FF2B5EF4-FFF2-40B4-BE49-F238E27FC236}">
                    <a16:creationId xmlns:a16="http://schemas.microsoft.com/office/drawing/2014/main" id="{BE417BCF-5606-4132-84FD-43269E949C5A}"/>
                  </a:ext>
                </a:extLst>
              </p:cNvPr>
              <p:cNvSpPr>
                <a:spLocks noChangeAspect="1" noChangeShapeType="1"/>
              </p:cNvSpPr>
              <p:nvPr/>
            </p:nvSpPr>
            <p:spPr bwMode="auto">
              <a:xfrm>
                <a:off x="781" y="3241"/>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6" name="Line 65">
                <a:extLst>
                  <a:ext uri="{FF2B5EF4-FFF2-40B4-BE49-F238E27FC236}">
                    <a16:creationId xmlns:a16="http://schemas.microsoft.com/office/drawing/2014/main" id="{F18261A6-DB85-4109-B7E0-3CD9EC6EA84C}"/>
                  </a:ext>
                </a:extLst>
              </p:cNvPr>
              <p:cNvSpPr>
                <a:spLocks noChangeAspect="1" noChangeShapeType="1"/>
              </p:cNvSpPr>
              <p:nvPr/>
            </p:nvSpPr>
            <p:spPr bwMode="auto">
              <a:xfrm>
                <a:off x="781" y="3485"/>
                <a:ext cx="1648"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7" name="Line 66">
                <a:extLst>
                  <a:ext uri="{FF2B5EF4-FFF2-40B4-BE49-F238E27FC236}">
                    <a16:creationId xmlns:a16="http://schemas.microsoft.com/office/drawing/2014/main" id="{5FC9D15C-DE2D-4CB4-A8D8-3F0A31D27CFC}"/>
                  </a:ext>
                </a:extLst>
              </p:cNvPr>
              <p:cNvSpPr>
                <a:spLocks noChangeAspect="1" noChangeShapeType="1"/>
              </p:cNvSpPr>
              <p:nvPr/>
            </p:nvSpPr>
            <p:spPr bwMode="auto">
              <a:xfrm>
                <a:off x="781" y="2024"/>
                <a:ext cx="0" cy="1461"/>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8" name="Line 67">
                <a:extLst>
                  <a:ext uri="{FF2B5EF4-FFF2-40B4-BE49-F238E27FC236}">
                    <a16:creationId xmlns:a16="http://schemas.microsoft.com/office/drawing/2014/main" id="{0F722EA4-0525-41EA-B866-CDC4F93FB33A}"/>
                  </a:ext>
                </a:extLst>
              </p:cNvPr>
              <p:cNvSpPr>
                <a:spLocks noChangeAspect="1" noChangeShapeType="1"/>
              </p:cNvSpPr>
              <p:nvPr/>
            </p:nvSpPr>
            <p:spPr bwMode="auto">
              <a:xfrm>
                <a:off x="965"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69" name="Line 68">
                <a:extLst>
                  <a:ext uri="{FF2B5EF4-FFF2-40B4-BE49-F238E27FC236}">
                    <a16:creationId xmlns:a16="http://schemas.microsoft.com/office/drawing/2014/main" id="{CCCDCED2-7B3F-4AA0-B1BC-11606438D7D3}"/>
                  </a:ext>
                </a:extLst>
              </p:cNvPr>
              <p:cNvSpPr>
                <a:spLocks noChangeAspect="1" noChangeShapeType="1"/>
              </p:cNvSpPr>
              <p:nvPr/>
            </p:nvSpPr>
            <p:spPr bwMode="auto">
              <a:xfrm>
                <a:off x="1147"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70" name="Line 69">
                <a:extLst>
                  <a:ext uri="{FF2B5EF4-FFF2-40B4-BE49-F238E27FC236}">
                    <a16:creationId xmlns:a16="http://schemas.microsoft.com/office/drawing/2014/main" id="{509A92C0-9220-4F95-90B5-C446BC084DDB}"/>
                  </a:ext>
                </a:extLst>
              </p:cNvPr>
              <p:cNvSpPr>
                <a:spLocks noChangeAspect="1" noChangeShapeType="1"/>
              </p:cNvSpPr>
              <p:nvPr/>
            </p:nvSpPr>
            <p:spPr bwMode="auto">
              <a:xfrm>
                <a:off x="1330"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71" name="Line 70">
                <a:extLst>
                  <a:ext uri="{FF2B5EF4-FFF2-40B4-BE49-F238E27FC236}">
                    <a16:creationId xmlns:a16="http://schemas.microsoft.com/office/drawing/2014/main" id="{6260AB3E-0D88-45A8-8F77-0E034B2EE794}"/>
                  </a:ext>
                </a:extLst>
              </p:cNvPr>
              <p:cNvSpPr>
                <a:spLocks noChangeAspect="1" noChangeShapeType="1"/>
              </p:cNvSpPr>
              <p:nvPr/>
            </p:nvSpPr>
            <p:spPr bwMode="auto">
              <a:xfrm>
                <a:off x="1514"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72" name="Line 71">
                <a:extLst>
                  <a:ext uri="{FF2B5EF4-FFF2-40B4-BE49-F238E27FC236}">
                    <a16:creationId xmlns:a16="http://schemas.microsoft.com/office/drawing/2014/main" id="{D99A2D41-49AF-4EB0-A488-F41FD304F7EB}"/>
                  </a:ext>
                </a:extLst>
              </p:cNvPr>
              <p:cNvSpPr>
                <a:spLocks noChangeAspect="1" noChangeShapeType="1"/>
              </p:cNvSpPr>
              <p:nvPr/>
            </p:nvSpPr>
            <p:spPr bwMode="auto">
              <a:xfrm>
                <a:off x="1696"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73" name="Line 72">
                <a:extLst>
                  <a:ext uri="{FF2B5EF4-FFF2-40B4-BE49-F238E27FC236}">
                    <a16:creationId xmlns:a16="http://schemas.microsoft.com/office/drawing/2014/main" id="{FCFEE757-361D-43C3-8C5A-E21F699F210F}"/>
                  </a:ext>
                </a:extLst>
              </p:cNvPr>
              <p:cNvSpPr>
                <a:spLocks noChangeAspect="1" noChangeShapeType="1"/>
              </p:cNvSpPr>
              <p:nvPr/>
            </p:nvSpPr>
            <p:spPr bwMode="auto">
              <a:xfrm>
                <a:off x="1880"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74" name="Line 73">
                <a:extLst>
                  <a:ext uri="{FF2B5EF4-FFF2-40B4-BE49-F238E27FC236}">
                    <a16:creationId xmlns:a16="http://schemas.microsoft.com/office/drawing/2014/main" id="{945B919D-E839-43D3-95A6-B62916852D76}"/>
                  </a:ext>
                </a:extLst>
              </p:cNvPr>
              <p:cNvSpPr>
                <a:spLocks noChangeAspect="1" noChangeShapeType="1"/>
              </p:cNvSpPr>
              <p:nvPr/>
            </p:nvSpPr>
            <p:spPr bwMode="auto">
              <a:xfrm>
                <a:off x="2063"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75" name="Line 74">
                <a:extLst>
                  <a:ext uri="{FF2B5EF4-FFF2-40B4-BE49-F238E27FC236}">
                    <a16:creationId xmlns:a16="http://schemas.microsoft.com/office/drawing/2014/main" id="{C00AA6E4-CECB-4324-97DC-623FF1E75016}"/>
                  </a:ext>
                </a:extLst>
              </p:cNvPr>
              <p:cNvSpPr>
                <a:spLocks noChangeAspect="1" noChangeShapeType="1"/>
              </p:cNvSpPr>
              <p:nvPr/>
            </p:nvSpPr>
            <p:spPr bwMode="auto">
              <a:xfrm>
                <a:off x="2245" y="2024"/>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76" name="Line 75">
                <a:extLst>
                  <a:ext uri="{FF2B5EF4-FFF2-40B4-BE49-F238E27FC236}">
                    <a16:creationId xmlns:a16="http://schemas.microsoft.com/office/drawing/2014/main" id="{1BDEAEE8-4C74-43FD-A0E5-E89E3A83CFBF}"/>
                  </a:ext>
                </a:extLst>
              </p:cNvPr>
              <p:cNvSpPr>
                <a:spLocks noChangeAspect="1" noChangeShapeType="1"/>
              </p:cNvSpPr>
              <p:nvPr/>
            </p:nvSpPr>
            <p:spPr bwMode="auto">
              <a:xfrm>
                <a:off x="2429" y="2024"/>
                <a:ext cx="0" cy="1461"/>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27655" name="Group 76">
              <a:extLst>
                <a:ext uri="{FF2B5EF4-FFF2-40B4-BE49-F238E27FC236}">
                  <a16:creationId xmlns:a16="http://schemas.microsoft.com/office/drawing/2014/main" id="{08EA68AC-2191-46E9-B0DC-E8EF3D8B0FCD}"/>
                </a:ext>
              </a:extLst>
            </p:cNvPr>
            <p:cNvGrpSpPr>
              <a:grpSpLocks/>
            </p:cNvGrpSpPr>
            <p:nvPr/>
          </p:nvGrpSpPr>
          <p:grpSpPr bwMode="auto">
            <a:xfrm>
              <a:off x="1619250" y="5697544"/>
              <a:ext cx="2814638" cy="1284289"/>
              <a:chOff x="1020" y="3589"/>
              <a:chExt cx="1773" cy="809"/>
            </a:xfrm>
          </p:grpSpPr>
          <p:grpSp>
            <p:nvGrpSpPr>
              <p:cNvPr id="27777" name="Group 77">
                <a:extLst>
                  <a:ext uri="{FF2B5EF4-FFF2-40B4-BE49-F238E27FC236}">
                    <a16:creationId xmlns:a16="http://schemas.microsoft.com/office/drawing/2014/main" id="{11702C2B-8B5A-471A-9607-FB0B6ED91DED}"/>
                  </a:ext>
                </a:extLst>
              </p:cNvPr>
              <p:cNvGrpSpPr>
                <a:grpSpLocks noChangeAspect="1"/>
              </p:cNvGrpSpPr>
              <p:nvPr/>
            </p:nvGrpSpPr>
            <p:grpSpPr bwMode="auto">
              <a:xfrm>
                <a:off x="1020" y="3793"/>
                <a:ext cx="1773" cy="274"/>
                <a:chOff x="961" y="3785"/>
                <a:chExt cx="1466" cy="226"/>
              </a:xfrm>
            </p:grpSpPr>
            <p:sp>
              <p:nvSpPr>
                <p:cNvPr id="81" name="Rectangle 78">
                  <a:extLst>
                    <a:ext uri="{FF2B5EF4-FFF2-40B4-BE49-F238E27FC236}">
                      <a16:creationId xmlns:a16="http://schemas.microsoft.com/office/drawing/2014/main" id="{7A9E109D-34A8-4F6D-840F-4A647652D3D1}"/>
                    </a:ext>
                  </a:extLst>
                </p:cNvPr>
                <p:cNvSpPr>
                  <a:spLocks noChangeAspect="1" noChangeArrowheads="1"/>
                </p:cNvSpPr>
                <p:nvPr/>
              </p:nvSpPr>
              <p:spPr bwMode="auto">
                <a:xfrm>
                  <a:off x="2244" y="3784"/>
                  <a:ext cx="183"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82" name="Rectangle 79">
                  <a:extLst>
                    <a:ext uri="{FF2B5EF4-FFF2-40B4-BE49-F238E27FC236}">
                      <a16:creationId xmlns:a16="http://schemas.microsoft.com/office/drawing/2014/main" id="{E9B886CE-FCB3-4AE5-9B64-BEDFB3AAC2E3}"/>
                    </a:ext>
                  </a:extLst>
                </p:cNvPr>
                <p:cNvSpPr>
                  <a:spLocks noChangeAspect="1" noChangeArrowheads="1"/>
                </p:cNvSpPr>
                <p:nvPr/>
              </p:nvSpPr>
              <p:spPr bwMode="auto">
                <a:xfrm>
                  <a:off x="2061" y="3784"/>
                  <a:ext cx="179"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83" name="Rectangle 80">
                  <a:extLst>
                    <a:ext uri="{FF2B5EF4-FFF2-40B4-BE49-F238E27FC236}">
                      <a16:creationId xmlns:a16="http://schemas.microsoft.com/office/drawing/2014/main" id="{03F3F709-3F4A-47EC-9559-3E93D46CD927}"/>
                    </a:ext>
                  </a:extLst>
                </p:cNvPr>
                <p:cNvSpPr>
                  <a:spLocks noChangeAspect="1" noChangeArrowheads="1"/>
                </p:cNvSpPr>
                <p:nvPr/>
              </p:nvSpPr>
              <p:spPr bwMode="auto">
                <a:xfrm>
                  <a:off x="1877" y="3784"/>
                  <a:ext cx="184"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84" name="Rectangle 81">
                  <a:extLst>
                    <a:ext uri="{FF2B5EF4-FFF2-40B4-BE49-F238E27FC236}">
                      <a16:creationId xmlns:a16="http://schemas.microsoft.com/office/drawing/2014/main" id="{C5256E86-DD0E-45ED-9E88-5A2E6C30D85B}"/>
                    </a:ext>
                  </a:extLst>
                </p:cNvPr>
                <p:cNvSpPr>
                  <a:spLocks noChangeAspect="1" noChangeArrowheads="1"/>
                </p:cNvSpPr>
                <p:nvPr/>
              </p:nvSpPr>
              <p:spPr bwMode="auto">
                <a:xfrm>
                  <a:off x="1694" y="3784"/>
                  <a:ext cx="183"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85" name="Rectangle 82">
                  <a:extLst>
                    <a:ext uri="{FF2B5EF4-FFF2-40B4-BE49-F238E27FC236}">
                      <a16:creationId xmlns:a16="http://schemas.microsoft.com/office/drawing/2014/main" id="{17FEBCBA-9540-4DA7-9820-95D03CCB131C}"/>
                    </a:ext>
                  </a:extLst>
                </p:cNvPr>
                <p:cNvSpPr>
                  <a:spLocks noChangeAspect="1" noChangeArrowheads="1"/>
                </p:cNvSpPr>
                <p:nvPr/>
              </p:nvSpPr>
              <p:spPr bwMode="auto">
                <a:xfrm>
                  <a:off x="1511" y="3784"/>
                  <a:ext cx="183"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86" name="Rectangle 83">
                  <a:extLst>
                    <a:ext uri="{FF2B5EF4-FFF2-40B4-BE49-F238E27FC236}">
                      <a16:creationId xmlns:a16="http://schemas.microsoft.com/office/drawing/2014/main" id="{A1B16F02-1036-4543-847F-16E3D2428A6F}"/>
                    </a:ext>
                  </a:extLst>
                </p:cNvPr>
                <p:cNvSpPr>
                  <a:spLocks noChangeAspect="1" noChangeArrowheads="1"/>
                </p:cNvSpPr>
                <p:nvPr/>
              </p:nvSpPr>
              <p:spPr bwMode="auto">
                <a:xfrm>
                  <a:off x="1327" y="3784"/>
                  <a:ext cx="184"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87" name="Rectangle 84">
                  <a:extLst>
                    <a:ext uri="{FF2B5EF4-FFF2-40B4-BE49-F238E27FC236}">
                      <a16:creationId xmlns:a16="http://schemas.microsoft.com/office/drawing/2014/main" id="{81924843-97F4-4A03-BC46-C27F0C8F15A3}"/>
                    </a:ext>
                  </a:extLst>
                </p:cNvPr>
                <p:cNvSpPr>
                  <a:spLocks noChangeAspect="1" noChangeArrowheads="1"/>
                </p:cNvSpPr>
                <p:nvPr/>
              </p:nvSpPr>
              <p:spPr bwMode="auto">
                <a:xfrm>
                  <a:off x="1144" y="3784"/>
                  <a:ext cx="179"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88" name="Rectangle 85">
                  <a:extLst>
                    <a:ext uri="{FF2B5EF4-FFF2-40B4-BE49-F238E27FC236}">
                      <a16:creationId xmlns:a16="http://schemas.microsoft.com/office/drawing/2014/main" id="{29C1A00F-E0A6-455A-87E6-5E7BCC24BB0C}"/>
                    </a:ext>
                  </a:extLst>
                </p:cNvPr>
                <p:cNvSpPr>
                  <a:spLocks noChangeAspect="1" noChangeArrowheads="1"/>
                </p:cNvSpPr>
                <p:nvPr/>
              </p:nvSpPr>
              <p:spPr bwMode="auto">
                <a:xfrm>
                  <a:off x="961" y="3784"/>
                  <a:ext cx="183" cy="226"/>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89" name="Line 86">
                  <a:extLst>
                    <a:ext uri="{FF2B5EF4-FFF2-40B4-BE49-F238E27FC236}">
                      <a16:creationId xmlns:a16="http://schemas.microsoft.com/office/drawing/2014/main" id="{85CE2CBB-AA47-4906-A2D9-FB675E485CE8}"/>
                    </a:ext>
                  </a:extLst>
                </p:cNvPr>
                <p:cNvSpPr>
                  <a:spLocks noChangeAspect="1" noChangeShapeType="1"/>
                </p:cNvSpPr>
                <p:nvPr/>
              </p:nvSpPr>
              <p:spPr bwMode="auto">
                <a:xfrm>
                  <a:off x="961" y="3784"/>
                  <a:ext cx="1465"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0" name="Line 87">
                  <a:extLst>
                    <a:ext uri="{FF2B5EF4-FFF2-40B4-BE49-F238E27FC236}">
                      <a16:creationId xmlns:a16="http://schemas.microsoft.com/office/drawing/2014/main" id="{5B087874-16D2-4330-AFE2-065FFB092C10}"/>
                    </a:ext>
                  </a:extLst>
                </p:cNvPr>
                <p:cNvSpPr>
                  <a:spLocks noChangeAspect="1" noChangeShapeType="1"/>
                </p:cNvSpPr>
                <p:nvPr/>
              </p:nvSpPr>
              <p:spPr bwMode="auto">
                <a:xfrm>
                  <a:off x="961" y="4011"/>
                  <a:ext cx="1465"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1" name="Line 88">
                  <a:extLst>
                    <a:ext uri="{FF2B5EF4-FFF2-40B4-BE49-F238E27FC236}">
                      <a16:creationId xmlns:a16="http://schemas.microsoft.com/office/drawing/2014/main" id="{1F5F26D5-E184-4122-8D14-799BDE8DBD36}"/>
                    </a:ext>
                  </a:extLst>
                </p:cNvPr>
                <p:cNvSpPr>
                  <a:spLocks noChangeAspect="1" noChangeShapeType="1"/>
                </p:cNvSpPr>
                <p:nvPr/>
              </p:nvSpPr>
              <p:spPr bwMode="auto">
                <a:xfrm>
                  <a:off x="961" y="3784"/>
                  <a:ext cx="0" cy="226"/>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2" name="Line 89">
                  <a:extLst>
                    <a:ext uri="{FF2B5EF4-FFF2-40B4-BE49-F238E27FC236}">
                      <a16:creationId xmlns:a16="http://schemas.microsoft.com/office/drawing/2014/main" id="{A7BCFA7E-4C22-4C74-8FC2-880F3D076962}"/>
                    </a:ext>
                  </a:extLst>
                </p:cNvPr>
                <p:cNvSpPr>
                  <a:spLocks noChangeAspect="1" noChangeShapeType="1"/>
                </p:cNvSpPr>
                <p:nvPr/>
              </p:nvSpPr>
              <p:spPr bwMode="auto">
                <a:xfrm>
                  <a:off x="1144" y="3784"/>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3" name="Line 90">
                  <a:extLst>
                    <a:ext uri="{FF2B5EF4-FFF2-40B4-BE49-F238E27FC236}">
                      <a16:creationId xmlns:a16="http://schemas.microsoft.com/office/drawing/2014/main" id="{F3732731-EE47-4C3F-825F-0EA16A6DB123}"/>
                    </a:ext>
                  </a:extLst>
                </p:cNvPr>
                <p:cNvSpPr>
                  <a:spLocks noChangeAspect="1" noChangeShapeType="1"/>
                </p:cNvSpPr>
                <p:nvPr/>
              </p:nvSpPr>
              <p:spPr bwMode="auto">
                <a:xfrm>
                  <a:off x="1327" y="3784"/>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4" name="Line 91">
                  <a:extLst>
                    <a:ext uri="{FF2B5EF4-FFF2-40B4-BE49-F238E27FC236}">
                      <a16:creationId xmlns:a16="http://schemas.microsoft.com/office/drawing/2014/main" id="{BCAE2B32-0EDB-450B-8069-BEBF04B0F34E}"/>
                    </a:ext>
                  </a:extLst>
                </p:cNvPr>
                <p:cNvSpPr>
                  <a:spLocks noChangeAspect="1" noChangeShapeType="1"/>
                </p:cNvSpPr>
                <p:nvPr/>
              </p:nvSpPr>
              <p:spPr bwMode="auto">
                <a:xfrm>
                  <a:off x="1511" y="3784"/>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5" name="Line 92">
                  <a:extLst>
                    <a:ext uri="{FF2B5EF4-FFF2-40B4-BE49-F238E27FC236}">
                      <a16:creationId xmlns:a16="http://schemas.microsoft.com/office/drawing/2014/main" id="{841BC90E-EF9E-4051-B4A8-7511A6B72C9D}"/>
                    </a:ext>
                  </a:extLst>
                </p:cNvPr>
                <p:cNvSpPr>
                  <a:spLocks noChangeAspect="1" noChangeShapeType="1"/>
                </p:cNvSpPr>
                <p:nvPr/>
              </p:nvSpPr>
              <p:spPr bwMode="auto">
                <a:xfrm>
                  <a:off x="1694" y="3784"/>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6" name="Line 93">
                  <a:extLst>
                    <a:ext uri="{FF2B5EF4-FFF2-40B4-BE49-F238E27FC236}">
                      <a16:creationId xmlns:a16="http://schemas.microsoft.com/office/drawing/2014/main" id="{1A81C126-3194-4855-A745-A979507D0629}"/>
                    </a:ext>
                  </a:extLst>
                </p:cNvPr>
                <p:cNvSpPr>
                  <a:spLocks noChangeAspect="1" noChangeShapeType="1"/>
                </p:cNvSpPr>
                <p:nvPr/>
              </p:nvSpPr>
              <p:spPr bwMode="auto">
                <a:xfrm>
                  <a:off x="1877" y="3784"/>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7" name="Line 94">
                  <a:extLst>
                    <a:ext uri="{FF2B5EF4-FFF2-40B4-BE49-F238E27FC236}">
                      <a16:creationId xmlns:a16="http://schemas.microsoft.com/office/drawing/2014/main" id="{6D289409-1EBF-41F9-8964-38934F82EF57}"/>
                    </a:ext>
                  </a:extLst>
                </p:cNvPr>
                <p:cNvSpPr>
                  <a:spLocks noChangeAspect="1" noChangeShapeType="1"/>
                </p:cNvSpPr>
                <p:nvPr/>
              </p:nvSpPr>
              <p:spPr bwMode="auto">
                <a:xfrm>
                  <a:off x="2061" y="3784"/>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8" name="Line 95">
                  <a:extLst>
                    <a:ext uri="{FF2B5EF4-FFF2-40B4-BE49-F238E27FC236}">
                      <a16:creationId xmlns:a16="http://schemas.microsoft.com/office/drawing/2014/main" id="{3A7F89BA-26F4-4163-B1F2-066BB9EDF033}"/>
                    </a:ext>
                  </a:extLst>
                </p:cNvPr>
                <p:cNvSpPr>
                  <a:spLocks noChangeAspect="1" noChangeShapeType="1"/>
                </p:cNvSpPr>
                <p:nvPr/>
              </p:nvSpPr>
              <p:spPr bwMode="auto">
                <a:xfrm>
                  <a:off x="2244" y="3784"/>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99" name="Line 96">
                  <a:extLst>
                    <a:ext uri="{FF2B5EF4-FFF2-40B4-BE49-F238E27FC236}">
                      <a16:creationId xmlns:a16="http://schemas.microsoft.com/office/drawing/2014/main" id="{E7A3DEB1-6DA2-48C7-9967-5DD5FB39F031}"/>
                    </a:ext>
                  </a:extLst>
                </p:cNvPr>
                <p:cNvSpPr>
                  <a:spLocks noChangeAspect="1" noChangeShapeType="1"/>
                </p:cNvSpPr>
                <p:nvPr/>
              </p:nvSpPr>
              <p:spPr bwMode="auto">
                <a:xfrm>
                  <a:off x="2427" y="3784"/>
                  <a:ext cx="0" cy="226"/>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79" name="AutoShape 97">
                <a:extLst>
                  <a:ext uri="{FF2B5EF4-FFF2-40B4-BE49-F238E27FC236}">
                    <a16:creationId xmlns:a16="http://schemas.microsoft.com/office/drawing/2014/main" id="{F650BA48-CC14-46AC-ABF8-96E863A3F5D6}"/>
                  </a:ext>
                </a:extLst>
              </p:cNvPr>
              <p:cNvSpPr>
                <a:spLocks noChangeArrowheads="1"/>
              </p:cNvSpPr>
              <p:nvPr/>
            </p:nvSpPr>
            <p:spPr bwMode="auto">
              <a:xfrm>
                <a:off x="1755" y="3589"/>
                <a:ext cx="206" cy="181"/>
              </a:xfrm>
              <a:prstGeom prst="downArrow">
                <a:avLst>
                  <a:gd name="adj1" fmla="val 50000"/>
                  <a:gd name="adj2" fmla="val 25000"/>
                </a:avLst>
              </a:prstGeom>
              <a:solidFill>
                <a:srgbClr val="9933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80" name="Text Box 98">
                <a:extLst>
                  <a:ext uri="{FF2B5EF4-FFF2-40B4-BE49-F238E27FC236}">
                    <a16:creationId xmlns:a16="http://schemas.microsoft.com/office/drawing/2014/main" id="{A87CD198-D9D2-459B-A7BC-8F10BE2DE317}"/>
                  </a:ext>
                </a:extLst>
              </p:cNvPr>
              <p:cNvSpPr txBox="1">
                <a:spLocks noChangeArrowheads="1"/>
              </p:cNvSpPr>
              <p:nvPr/>
            </p:nvSpPr>
            <p:spPr bwMode="auto">
              <a:xfrm>
                <a:off x="1349" y="4041"/>
                <a:ext cx="1223"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2400" b="1" kern="0" dirty="0">
                    <a:solidFill>
                      <a:srgbClr val="993300"/>
                    </a:solidFill>
                    <a:latin typeface="Arial" panose="020B0604020202020204" pitchFamily="34" charset="0"/>
                    <a:ea typeface="宋体" panose="02010600030101010101" pitchFamily="2" charset="-122"/>
                  </a:rPr>
                  <a:t>Data Out</a:t>
                </a:r>
                <a:endParaRPr kumimoji="0" lang="ru-RU" altLang="zh-CN" sz="2400" b="1" kern="0" dirty="0">
                  <a:solidFill>
                    <a:srgbClr val="993300"/>
                  </a:solidFill>
                  <a:latin typeface="Arial" panose="020B0604020202020204" pitchFamily="34" charset="0"/>
                  <a:ea typeface="+mn-ea"/>
                </a:endParaRPr>
              </a:p>
            </p:txBody>
          </p:sp>
        </p:grpSp>
        <p:grpSp>
          <p:nvGrpSpPr>
            <p:cNvPr id="27656" name="Group 99">
              <a:extLst>
                <a:ext uri="{FF2B5EF4-FFF2-40B4-BE49-F238E27FC236}">
                  <a16:creationId xmlns:a16="http://schemas.microsoft.com/office/drawing/2014/main" id="{F888F311-5467-4723-866C-0A97A40E3EC7}"/>
                </a:ext>
              </a:extLst>
            </p:cNvPr>
            <p:cNvGrpSpPr>
              <a:grpSpLocks/>
            </p:cNvGrpSpPr>
            <p:nvPr/>
          </p:nvGrpSpPr>
          <p:grpSpPr bwMode="auto">
            <a:xfrm>
              <a:off x="180975" y="3500438"/>
              <a:ext cx="1041399" cy="2555875"/>
              <a:chOff x="114" y="2205"/>
              <a:chExt cx="656" cy="1610"/>
            </a:xfrm>
          </p:grpSpPr>
          <p:sp>
            <p:nvSpPr>
              <p:cNvPr id="101" name="Text Box 100">
                <a:extLst>
                  <a:ext uri="{FF2B5EF4-FFF2-40B4-BE49-F238E27FC236}">
                    <a16:creationId xmlns:a16="http://schemas.microsoft.com/office/drawing/2014/main" id="{7757D962-F509-441C-8497-076FD04E2C33}"/>
                  </a:ext>
                </a:extLst>
              </p:cNvPr>
              <p:cNvSpPr txBox="1">
                <a:spLocks noChangeArrowheads="1"/>
              </p:cNvSpPr>
              <p:nvPr/>
            </p:nvSpPr>
            <p:spPr bwMode="auto">
              <a:xfrm>
                <a:off x="436" y="2682"/>
                <a:ext cx="226" cy="306"/>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2400" b="1" kern="0" dirty="0">
                    <a:solidFill>
                      <a:srgbClr val="FFFFFF"/>
                    </a:solidFill>
                    <a:effectLst>
                      <a:outerShdw blurRad="38100" dist="38100" dir="2700000" algn="tl">
                        <a:srgbClr val="660000"/>
                      </a:outerShdw>
                    </a:effectLst>
                    <a:ea typeface="宋体" panose="02010600030101010101" pitchFamily="2" charset="-122"/>
                  </a:rPr>
                  <a:t>4</a:t>
                </a:r>
                <a:endParaRPr kumimoji="0" lang="ru-RU" altLang="zh-CN" sz="2400" b="1" kern="0" dirty="0">
                  <a:solidFill>
                    <a:srgbClr val="FFFFFF"/>
                  </a:solidFill>
                  <a:effectLst>
                    <a:outerShdw blurRad="38100" dist="38100" dir="2700000" algn="tl">
                      <a:srgbClr val="660000"/>
                    </a:outerShdw>
                  </a:effectLst>
                  <a:ea typeface="+mn-ea"/>
                </a:endParaRPr>
              </a:p>
            </p:txBody>
          </p:sp>
          <p:sp>
            <p:nvSpPr>
              <p:cNvPr id="102" name="Line 101">
                <a:extLst>
                  <a:ext uri="{FF2B5EF4-FFF2-40B4-BE49-F238E27FC236}">
                    <a16:creationId xmlns:a16="http://schemas.microsoft.com/office/drawing/2014/main" id="{202CC44C-1746-4A54-AE5B-B59DFE8A054C}"/>
                  </a:ext>
                </a:extLst>
              </p:cNvPr>
              <p:cNvSpPr>
                <a:spLocks noChangeShapeType="1"/>
              </p:cNvSpPr>
              <p:nvPr/>
            </p:nvSpPr>
            <p:spPr bwMode="auto">
              <a:xfrm>
                <a:off x="385" y="3106"/>
                <a:ext cx="385" cy="1"/>
              </a:xfrm>
              <a:prstGeom prst="line">
                <a:avLst/>
              </a:prstGeom>
              <a:noFill/>
              <a:ln w="31750">
                <a:solidFill>
                  <a:srgbClr val="9933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03" name="Text Box 102">
                <a:extLst>
                  <a:ext uri="{FF2B5EF4-FFF2-40B4-BE49-F238E27FC236}">
                    <a16:creationId xmlns:a16="http://schemas.microsoft.com/office/drawing/2014/main" id="{117A95CD-B7C8-4BAB-A0BD-D2DEF6E34980}"/>
                  </a:ext>
                </a:extLst>
              </p:cNvPr>
              <p:cNvSpPr txBox="1">
                <a:spLocks noChangeArrowheads="1"/>
              </p:cNvSpPr>
              <p:nvPr/>
            </p:nvSpPr>
            <p:spPr bwMode="auto">
              <a:xfrm rot="16200000">
                <a:off x="-526" y="2848"/>
                <a:ext cx="1604"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auto" hangingPunct="1">
                  <a:spcBef>
                    <a:spcPct val="50000"/>
                  </a:spcBef>
                  <a:spcAft>
                    <a:spcPts val="0"/>
                  </a:spcAft>
                  <a:defRPr/>
                </a:pPr>
                <a:r>
                  <a:rPr kumimoji="0" lang="en-US" altLang="zh-CN" sz="2400" b="1" kern="0" dirty="0">
                    <a:solidFill>
                      <a:srgbClr val="993300"/>
                    </a:solidFill>
                    <a:latin typeface="Arial" panose="020B0604020202020204" pitchFamily="34" charset="0"/>
                    <a:ea typeface="宋体" panose="02010600030101010101" pitchFamily="2" charset="-122"/>
                  </a:rPr>
                  <a:t>Address In</a:t>
                </a:r>
                <a:endParaRPr kumimoji="0" lang="ru-RU" altLang="zh-CN" sz="2400" b="1" kern="0" dirty="0">
                  <a:solidFill>
                    <a:srgbClr val="993300"/>
                  </a:solidFill>
                  <a:latin typeface="Arial" panose="020B0604020202020204" pitchFamily="34" charset="0"/>
                  <a:ea typeface="+mn-ea"/>
                </a:endParaRPr>
              </a:p>
            </p:txBody>
          </p:sp>
        </p:grpSp>
        <p:grpSp>
          <p:nvGrpSpPr>
            <p:cNvPr id="27657" name="Group 103">
              <a:extLst>
                <a:ext uri="{FF2B5EF4-FFF2-40B4-BE49-F238E27FC236}">
                  <a16:creationId xmlns:a16="http://schemas.microsoft.com/office/drawing/2014/main" id="{E3DDC044-CCAA-4F1F-B4D1-CD6E55E7BC4D}"/>
                </a:ext>
              </a:extLst>
            </p:cNvPr>
            <p:cNvGrpSpPr>
              <a:grpSpLocks noChangeAspect="1"/>
            </p:cNvGrpSpPr>
            <p:nvPr/>
          </p:nvGrpSpPr>
          <p:grpSpPr bwMode="auto">
            <a:xfrm>
              <a:off x="4859338" y="3716338"/>
              <a:ext cx="3167062" cy="2808287"/>
              <a:chOff x="3107" y="2515"/>
              <a:chExt cx="1648" cy="1461"/>
            </a:xfrm>
          </p:grpSpPr>
          <p:sp>
            <p:nvSpPr>
              <p:cNvPr id="105" name="Rectangle 104">
                <a:extLst>
                  <a:ext uri="{FF2B5EF4-FFF2-40B4-BE49-F238E27FC236}">
                    <a16:creationId xmlns:a16="http://schemas.microsoft.com/office/drawing/2014/main" id="{EE7BD0B6-6993-4CB8-9311-E7F05184A231}"/>
                  </a:ext>
                </a:extLst>
              </p:cNvPr>
              <p:cNvSpPr>
                <a:spLocks noChangeAspect="1" noChangeArrowheads="1"/>
              </p:cNvSpPr>
              <p:nvPr/>
            </p:nvSpPr>
            <p:spPr bwMode="auto">
              <a:xfrm>
                <a:off x="4571" y="3732"/>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06" name="Rectangle 105">
                <a:extLst>
                  <a:ext uri="{FF2B5EF4-FFF2-40B4-BE49-F238E27FC236}">
                    <a16:creationId xmlns:a16="http://schemas.microsoft.com/office/drawing/2014/main" id="{A9E15554-EC23-4861-8E81-8194F0902709}"/>
                  </a:ext>
                </a:extLst>
              </p:cNvPr>
              <p:cNvSpPr>
                <a:spLocks noChangeAspect="1" noChangeArrowheads="1"/>
              </p:cNvSpPr>
              <p:nvPr/>
            </p:nvSpPr>
            <p:spPr bwMode="auto">
              <a:xfrm>
                <a:off x="4389" y="3732"/>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07" name="Rectangle 106">
                <a:extLst>
                  <a:ext uri="{FF2B5EF4-FFF2-40B4-BE49-F238E27FC236}">
                    <a16:creationId xmlns:a16="http://schemas.microsoft.com/office/drawing/2014/main" id="{7BE812D1-C626-46C2-AA07-24FD39EC9DB7}"/>
                  </a:ext>
                </a:extLst>
              </p:cNvPr>
              <p:cNvSpPr>
                <a:spLocks noChangeAspect="1" noChangeArrowheads="1"/>
              </p:cNvSpPr>
              <p:nvPr/>
            </p:nvSpPr>
            <p:spPr bwMode="auto">
              <a:xfrm>
                <a:off x="4206" y="3732"/>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08" name="Rectangle 107">
                <a:extLst>
                  <a:ext uri="{FF2B5EF4-FFF2-40B4-BE49-F238E27FC236}">
                    <a16:creationId xmlns:a16="http://schemas.microsoft.com/office/drawing/2014/main" id="{1E584264-4EFB-4F99-A112-BE6190407E3C}"/>
                  </a:ext>
                </a:extLst>
              </p:cNvPr>
              <p:cNvSpPr>
                <a:spLocks noChangeAspect="1" noChangeArrowheads="1"/>
              </p:cNvSpPr>
              <p:nvPr/>
            </p:nvSpPr>
            <p:spPr bwMode="auto">
              <a:xfrm>
                <a:off x="4022" y="3732"/>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09" name="Rectangle 108">
                <a:extLst>
                  <a:ext uri="{FF2B5EF4-FFF2-40B4-BE49-F238E27FC236}">
                    <a16:creationId xmlns:a16="http://schemas.microsoft.com/office/drawing/2014/main" id="{B9C15373-342D-4A1E-B8C1-5A8C9D943529}"/>
                  </a:ext>
                </a:extLst>
              </p:cNvPr>
              <p:cNvSpPr>
                <a:spLocks noChangeAspect="1" noChangeArrowheads="1"/>
              </p:cNvSpPr>
              <p:nvPr/>
            </p:nvSpPr>
            <p:spPr bwMode="auto">
              <a:xfrm>
                <a:off x="3840" y="3732"/>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10" name="Rectangle 109">
                <a:extLst>
                  <a:ext uri="{FF2B5EF4-FFF2-40B4-BE49-F238E27FC236}">
                    <a16:creationId xmlns:a16="http://schemas.microsoft.com/office/drawing/2014/main" id="{BCA022D2-5631-4433-AEE8-39D4D5234770}"/>
                  </a:ext>
                </a:extLst>
              </p:cNvPr>
              <p:cNvSpPr>
                <a:spLocks noChangeAspect="1" noChangeArrowheads="1"/>
              </p:cNvSpPr>
              <p:nvPr/>
            </p:nvSpPr>
            <p:spPr bwMode="auto">
              <a:xfrm>
                <a:off x="3656" y="3732"/>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11" name="Rectangle 110">
                <a:extLst>
                  <a:ext uri="{FF2B5EF4-FFF2-40B4-BE49-F238E27FC236}">
                    <a16:creationId xmlns:a16="http://schemas.microsoft.com/office/drawing/2014/main" id="{8464FFDB-686D-4F0B-9051-C8EC0D4CD534}"/>
                  </a:ext>
                </a:extLst>
              </p:cNvPr>
              <p:cNvSpPr>
                <a:spLocks noChangeAspect="1" noChangeArrowheads="1"/>
              </p:cNvSpPr>
              <p:nvPr/>
            </p:nvSpPr>
            <p:spPr bwMode="auto">
              <a:xfrm>
                <a:off x="3473" y="3732"/>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12" name="Rectangle 111">
                <a:extLst>
                  <a:ext uri="{FF2B5EF4-FFF2-40B4-BE49-F238E27FC236}">
                    <a16:creationId xmlns:a16="http://schemas.microsoft.com/office/drawing/2014/main" id="{30E6CC63-CACA-4A03-B7E4-E4900ADCC984}"/>
                  </a:ext>
                </a:extLst>
              </p:cNvPr>
              <p:cNvSpPr>
                <a:spLocks noChangeAspect="1" noChangeArrowheads="1"/>
              </p:cNvSpPr>
              <p:nvPr/>
            </p:nvSpPr>
            <p:spPr bwMode="auto">
              <a:xfrm>
                <a:off x="3291" y="3732"/>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13" name="Rectangle 112">
                <a:extLst>
                  <a:ext uri="{FF2B5EF4-FFF2-40B4-BE49-F238E27FC236}">
                    <a16:creationId xmlns:a16="http://schemas.microsoft.com/office/drawing/2014/main" id="{A4934814-38DB-4904-BE3F-1836118E3886}"/>
                  </a:ext>
                </a:extLst>
              </p:cNvPr>
              <p:cNvSpPr>
                <a:spLocks noChangeAspect="1" noChangeArrowheads="1"/>
              </p:cNvSpPr>
              <p:nvPr/>
            </p:nvSpPr>
            <p:spPr bwMode="auto">
              <a:xfrm>
                <a:off x="3107" y="3732"/>
                <a:ext cx="184" cy="244"/>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5</a:t>
                </a:r>
                <a:endParaRPr kumimoji="0" lang="ru-RU" altLang="zh-CN" sz="2400" b="1" kern="0">
                  <a:solidFill>
                    <a:srgbClr val="FFFFFF"/>
                  </a:solidFill>
                  <a:ea typeface="+mn-ea"/>
                </a:endParaRPr>
              </a:p>
            </p:txBody>
          </p:sp>
          <p:sp>
            <p:nvSpPr>
              <p:cNvPr id="114" name="Rectangle 113">
                <a:extLst>
                  <a:ext uri="{FF2B5EF4-FFF2-40B4-BE49-F238E27FC236}">
                    <a16:creationId xmlns:a16="http://schemas.microsoft.com/office/drawing/2014/main" id="{4752390F-ECD8-4A5E-A705-994A5BD2189D}"/>
                  </a:ext>
                </a:extLst>
              </p:cNvPr>
              <p:cNvSpPr>
                <a:spLocks noChangeAspect="1" noChangeArrowheads="1"/>
              </p:cNvSpPr>
              <p:nvPr/>
            </p:nvSpPr>
            <p:spPr bwMode="auto">
              <a:xfrm>
                <a:off x="4571" y="3489"/>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15" name="Rectangle 114">
                <a:extLst>
                  <a:ext uri="{FF2B5EF4-FFF2-40B4-BE49-F238E27FC236}">
                    <a16:creationId xmlns:a16="http://schemas.microsoft.com/office/drawing/2014/main" id="{F0544E39-C3BF-4537-9250-DE986D53F688}"/>
                  </a:ext>
                </a:extLst>
              </p:cNvPr>
              <p:cNvSpPr>
                <a:spLocks noChangeAspect="1" noChangeArrowheads="1"/>
              </p:cNvSpPr>
              <p:nvPr/>
            </p:nvSpPr>
            <p:spPr bwMode="auto">
              <a:xfrm>
                <a:off x="4389" y="3489"/>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16" name="Rectangle 115">
                <a:extLst>
                  <a:ext uri="{FF2B5EF4-FFF2-40B4-BE49-F238E27FC236}">
                    <a16:creationId xmlns:a16="http://schemas.microsoft.com/office/drawing/2014/main" id="{081B33A1-82F1-462F-9EED-CE48F53FEE2F}"/>
                  </a:ext>
                </a:extLst>
              </p:cNvPr>
              <p:cNvSpPr>
                <a:spLocks noChangeAspect="1" noChangeArrowheads="1"/>
              </p:cNvSpPr>
              <p:nvPr/>
            </p:nvSpPr>
            <p:spPr bwMode="auto">
              <a:xfrm>
                <a:off x="4206" y="3489"/>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17" name="Rectangle 116">
                <a:extLst>
                  <a:ext uri="{FF2B5EF4-FFF2-40B4-BE49-F238E27FC236}">
                    <a16:creationId xmlns:a16="http://schemas.microsoft.com/office/drawing/2014/main" id="{423C0721-7EFE-4197-B08B-F2ED03628192}"/>
                  </a:ext>
                </a:extLst>
              </p:cNvPr>
              <p:cNvSpPr>
                <a:spLocks noChangeAspect="1" noChangeArrowheads="1"/>
              </p:cNvSpPr>
              <p:nvPr/>
            </p:nvSpPr>
            <p:spPr bwMode="auto">
              <a:xfrm>
                <a:off x="4022" y="3489"/>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18" name="Rectangle 117">
                <a:extLst>
                  <a:ext uri="{FF2B5EF4-FFF2-40B4-BE49-F238E27FC236}">
                    <a16:creationId xmlns:a16="http://schemas.microsoft.com/office/drawing/2014/main" id="{33BDFD8C-4B3D-41C9-AAD8-644160FCE04F}"/>
                  </a:ext>
                </a:extLst>
              </p:cNvPr>
              <p:cNvSpPr>
                <a:spLocks noChangeAspect="1" noChangeArrowheads="1"/>
              </p:cNvSpPr>
              <p:nvPr/>
            </p:nvSpPr>
            <p:spPr bwMode="auto">
              <a:xfrm>
                <a:off x="3840" y="3489"/>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19" name="Rectangle 118">
                <a:extLst>
                  <a:ext uri="{FF2B5EF4-FFF2-40B4-BE49-F238E27FC236}">
                    <a16:creationId xmlns:a16="http://schemas.microsoft.com/office/drawing/2014/main" id="{0257D665-88E6-48FD-A5D3-1ACFC2A24E57}"/>
                  </a:ext>
                </a:extLst>
              </p:cNvPr>
              <p:cNvSpPr>
                <a:spLocks noChangeAspect="1" noChangeArrowheads="1"/>
              </p:cNvSpPr>
              <p:nvPr/>
            </p:nvSpPr>
            <p:spPr bwMode="auto">
              <a:xfrm>
                <a:off x="3656" y="3489"/>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20" name="Rectangle 119">
                <a:extLst>
                  <a:ext uri="{FF2B5EF4-FFF2-40B4-BE49-F238E27FC236}">
                    <a16:creationId xmlns:a16="http://schemas.microsoft.com/office/drawing/2014/main" id="{B23D404A-0769-407E-9F12-C54E84BE25DA}"/>
                  </a:ext>
                </a:extLst>
              </p:cNvPr>
              <p:cNvSpPr>
                <a:spLocks noChangeAspect="1" noChangeArrowheads="1"/>
              </p:cNvSpPr>
              <p:nvPr/>
            </p:nvSpPr>
            <p:spPr bwMode="auto">
              <a:xfrm>
                <a:off x="3473" y="3489"/>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21" name="Rectangle 120">
                <a:extLst>
                  <a:ext uri="{FF2B5EF4-FFF2-40B4-BE49-F238E27FC236}">
                    <a16:creationId xmlns:a16="http://schemas.microsoft.com/office/drawing/2014/main" id="{C39D1771-FDA7-4B43-9F52-0280C47D1859}"/>
                  </a:ext>
                </a:extLst>
              </p:cNvPr>
              <p:cNvSpPr>
                <a:spLocks noChangeAspect="1" noChangeArrowheads="1"/>
              </p:cNvSpPr>
              <p:nvPr/>
            </p:nvSpPr>
            <p:spPr bwMode="auto">
              <a:xfrm>
                <a:off x="3291" y="3489"/>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22" name="Rectangle 121">
                <a:extLst>
                  <a:ext uri="{FF2B5EF4-FFF2-40B4-BE49-F238E27FC236}">
                    <a16:creationId xmlns:a16="http://schemas.microsoft.com/office/drawing/2014/main" id="{41F0372C-3B55-42F9-987D-A048D66DE325}"/>
                  </a:ext>
                </a:extLst>
              </p:cNvPr>
              <p:cNvSpPr>
                <a:spLocks noChangeAspect="1" noChangeArrowheads="1"/>
              </p:cNvSpPr>
              <p:nvPr/>
            </p:nvSpPr>
            <p:spPr bwMode="auto">
              <a:xfrm>
                <a:off x="3107" y="3489"/>
                <a:ext cx="184" cy="243"/>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4</a:t>
                </a:r>
                <a:endParaRPr kumimoji="0" lang="ru-RU" altLang="zh-CN" sz="2400" b="1" kern="0">
                  <a:solidFill>
                    <a:srgbClr val="FFFFFF"/>
                  </a:solidFill>
                  <a:ea typeface="+mn-ea"/>
                </a:endParaRPr>
              </a:p>
            </p:txBody>
          </p:sp>
          <p:sp>
            <p:nvSpPr>
              <p:cNvPr id="123" name="Rectangle 122">
                <a:extLst>
                  <a:ext uri="{FF2B5EF4-FFF2-40B4-BE49-F238E27FC236}">
                    <a16:creationId xmlns:a16="http://schemas.microsoft.com/office/drawing/2014/main" id="{E7CB738E-C6D6-45D8-A3C6-B2DC71349AD7}"/>
                  </a:ext>
                </a:extLst>
              </p:cNvPr>
              <p:cNvSpPr>
                <a:spLocks noChangeAspect="1" noChangeArrowheads="1"/>
              </p:cNvSpPr>
              <p:nvPr/>
            </p:nvSpPr>
            <p:spPr bwMode="auto">
              <a:xfrm>
                <a:off x="4571" y="3246"/>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24" name="Rectangle 123">
                <a:extLst>
                  <a:ext uri="{FF2B5EF4-FFF2-40B4-BE49-F238E27FC236}">
                    <a16:creationId xmlns:a16="http://schemas.microsoft.com/office/drawing/2014/main" id="{78187F2D-7D16-44B5-BF52-D854F47C1335}"/>
                  </a:ext>
                </a:extLst>
              </p:cNvPr>
              <p:cNvSpPr>
                <a:spLocks noChangeAspect="1" noChangeArrowheads="1"/>
              </p:cNvSpPr>
              <p:nvPr/>
            </p:nvSpPr>
            <p:spPr bwMode="auto">
              <a:xfrm>
                <a:off x="4389" y="3246"/>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25" name="Rectangle 124">
                <a:extLst>
                  <a:ext uri="{FF2B5EF4-FFF2-40B4-BE49-F238E27FC236}">
                    <a16:creationId xmlns:a16="http://schemas.microsoft.com/office/drawing/2014/main" id="{A04EE963-F13C-4054-980E-02446557543C}"/>
                  </a:ext>
                </a:extLst>
              </p:cNvPr>
              <p:cNvSpPr>
                <a:spLocks noChangeAspect="1" noChangeArrowheads="1"/>
              </p:cNvSpPr>
              <p:nvPr/>
            </p:nvSpPr>
            <p:spPr bwMode="auto">
              <a:xfrm>
                <a:off x="4206" y="3246"/>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26" name="Rectangle 125">
                <a:extLst>
                  <a:ext uri="{FF2B5EF4-FFF2-40B4-BE49-F238E27FC236}">
                    <a16:creationId xmlns:a16="http://schemas.microsoft.com/office/drawing/2014/main" id="{1BF528DA-62CF-489F-B0FF-37268E38B90B}"/>
                  </a:ext>
                </a:extLst>
              </p:cNvPr>
              <p:cNvSpPr>
                <a:spLocks noChangeAspect="1" noChangeArrowheads="1"/>
              </p:cNvSpPr>
              <p:nvPr/>
            </p:nvSpPr>
            <p:spPr bwMode="auto">
              <a:xfrm>
                <a:off x="4022" y="3246"/>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27" name="Rectangle 126">
                <a:extLst>
                  <a:ext uri="{FF2B5EF4-FFF2-40B4-BE49-F238E27FC236}">
                    <a16:creationId xmlns:a16="http://schemas.microsoft.com/office/drawing/2014/main" id="{8DAD4CD1-42E0-4428-A2AA-825631B77E80}"/>
                  </a:ext>
                </a:extLst>
              </p:cNvPr>
              <p:cNvSpPr>
                <a:spLocks noChangeAspect="1" noChangeArrowheads="1"/>
              </p:cNvSpPr>
              <p:nvPr/>
            </p:nvSpPr>
            <p:spPr bwMode="auto">
              <a:xfrm>
                <a:off x="3840" y="3246"/>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28" name="Rectangle 127">
                <a:extLst>
                  <a:ext uri="{FF2B5EF4-FFF2-40B4-BE49-F238E27FC236}">
                    <a16:creationId xmlns:a16="http://schemas.microsoft.com/office/drawing/2014/main" id="{2CAF49A7-61E3-4E37-9806-EF56A14C6A05}"/>
                  </a:ext>
                </a:extLst>
              </p:cNvPr>
              <p:cNvSpPr>
                <a:spLocks noChangeAspect="1" noChangeArrowheads="1"/>
              </p:cNvSpPr>
              <p:nvPr/>
            </p:nvSpPr>
            <p:spPr bwMode="auto">
              <a:xfrm>
                <a:off x="3656" y="3246"/>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29" name="Rectangle 128">
                <a:extLst>
                  <a:ext uri="{FF2B5EF4-FFF2-40B4-BE49-F238E27FC236}">
                    <a16:creationId xmlns:a16="http://schemas.microsoft.com/office/drawing/2014/main" id="{ED5E08D5-5836-4679-A22E-6BFD1B9D35EB}"/>
                  </a:ext>
                </a:extLst>
              </p:cNvPr>
              <p:cNvSpPr>
                <a:spLocks noChangeAspect="1" noChangeArrowheads="1"/>
              </p:cNvSpPr>
              <p:nvPr/>
            </p:nvSpPr>
            <p:spPr bwMode="auto">
              <a:xfrm>
                <a:off x="3473" y="3246"/>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30" name="Rectangle 129">
                <a:extLst>
                  <a:ext uri="{FF2B5EF4-FFF2-40B4-BE49-F238E27FC236}">
                    <a16:creationId xmlns:a16="http://schemas.microsoft.com/office/drawing/2014/main" id="{E07EC682-C139-4473-A1A4-854B5BA79291}"/>
                  </a:ext>
                </a:extLst>
              </p:cNvPr>
              <p:cNvSpPr>
                <a:spLocks noChangeAspect="1" noChangeArrowheads="1"/>
              </p:cNvSpPr>
              <p:nvPr/>
            </p:nvSpPr>
            <p:spPr bwMode="auto">
              <a:xfrm>
                <a:off x="3291" y="3246"/>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rgbClr val="FF0000">
                        <a:alpha val="5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31" name="Rectangle 130">
                <a:extLst>
                  <a:ext uri="{FF2B5EF4-FFF2-40B4-BE49-F238E27FC236}">
                    <a16:creationId xmlns:a16="http://schemas.microsoft.com/office/drawing/2014/main" id="{7693794F-A248-490F-BE67-42880D532B4A}"/>
                  </a:ext>
                </a:extLst>
              </p:cNvPr>
              <p:cNvSpPr>
                <a:spLocks noChangeAspect="1" noChangeArrowheads="1"/>
              </p:cNvSpPr>
              <p:nvPr/>
            </p:nvSpPr>
            <p:spPr bwMode="auto">
              <a:xfrm>
                <a:off x="3107" y="3246"/>
                <a:ext cx="184" cy="243"/>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3</a:t>
                </a:r>
                <a:endParaRPr kumimoji="0" lang="ru-RU" altLang="zh-CN" sz="2400" b="1" kern="0">
                  <a:solidFill>
                    <a:srgbClr val="FFFFFF"/>
                  </a:solidFill>
                  <a:ea typeface="+mn-ea"/>
                </a:endParaRPr>
              </a:p>
            </p:txBody>
          </p:sp>
          <p:sp>
            <p:nvSpPr>
              <p:cNvPr id="132" name="Rectangle 131">
                <a:extLst>
                  <a:ext uri="{FF2B5EF4-FFF2-40B4-BE49-F238E27FC236}">
                    <a16:creationId xmlns:a16="http://schemas.microsoft.com/office/drawing/2014/main" id="{F316CC4C-2917-4569-9403-D077FCA1E67A}"/>
                  </a:ext>
                </a:extLst>
              </p:cNvPr>
              <p:cNvSpPr>
                <a:spLocks noChangeAspect="1" noChangeArrowheads="1"/>
              </p:cNvSpPr>
              <p:nvPr/>
            </p:nvSpPr>
            <p:spPr bwMode="auto">
              <a:xfrm>
                <a:off x="4571" y="3002"/>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33" name="Rectangle 132">
                <a:extLst>
                  <a:ext uri="{FF2B5EF4-FFF2-40B4-BE49-F238E27FC236}">
                    <a16:creationId xmlns:a16="http://schemas.microsoft.com/office/drawing/2014/main" id="{C3A1325C-6720-481D-9075-055C5B83DADF}"/>
                  </a:ext>
                </a:extLst>
              </p:cNvPr>
              <p:cNvSpPr>
                <a:spLocks noChangeAspect="1" noChangeArrowheads="1"/>
              </p:cNvSpPr>
              <p:nvPr/>
            </p:nvSpPr>
            <p:spPr bwMode="auto">
              <a:xfrm>
                <a:off x="4389" y="3002"/>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34" name="Rectangle 133">
                <a:extLst>
                  <a:ext uri="{FF2B5EF4-FFF2-40B4-BE49-F238E27FC236}">
                    <a16:creationId xmlns:a16="http://schemas.microsoft.com/office/drawing/2014/main" id="{2D643952-F8B8-45A0-8E8D-B49AD38845A5}"/>
                  </a:ext>
                </a:extLst>
              </p:cNvPr>
              <p:cNvSpPr>
                <a:spLocks noChangeAspect="1" noChangeArrowheads="1"/>
              </p:cNvSpPr>
              <p:nvPr/>
            </p:nvSpPr>
            <p:spPr bwMode="auto">
              <a:xfrm>
                <a:off x="4206" y="3002"/>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35" name="Rectangle 134">
                <a:extLst>
                  <a:ext uri="{FF2B5EF4-FFF2-40B4-BE49-F238E27FC236}">
                    <a16:creationId xmlns:a16="http://schemas.microsoft.com/office/drawing/2014/main" id="{3A4E52DA-7613-4040-88C3-8D5A0AA864C1}"/>
                  </a:ext>
                </a:extLst>
              </p:cNvPr>
              <p:cNvSpPr>
                <a:spLocks noChangeAspect="1" noChangeArrowheads="1"/>
              </p:cNvSpPr>
              <p:nvPr/>
            </p:nvSpPr>
            <p:spPr bwMode="auto">
              <a:xfrm>
                <a:off x="4022" y="3002"/>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36" name="Rectangle 135">
                <a:extLst>
                  <a:ext uri="{FF2B5EF4-FFF2-40B4-BE49-F238E27FC236}">
                    <a16:creationId xmlns:a16="http://schemas.microsoft.com/office/drawing/2014/main" id="{F9238802-4869-48EB-AA26-E67EB45E03C2}"/>
                  </a:ext>
                </a:extLst>
              </p:cNvPr>
              <p:cNvSpPr>
                <a:spLocks noChangeAspect="1" noChangeArrowheads="1"/>
              </p:cNvSpPr>
              <p:nvPr/>
            </p:nvSpPr>
            <p:spPr bwMode="auto">
              <a:xfrm>
                <a:off x="3840" y="3002"/>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37" name="Rectangle 136">
                <a:extLst>
                  <a:ext uri="{FF2B5EF4-FFF2-40B4-BE49-F238E27FC236}">
                    <a16:creationId xmlns:a16="http://schemas.microsoft.com/office/drawing/2014/main" id="{D8B1806A-6B06-482F-83C1-2A14959F9199}"/>
                  </a:ext>
                </a:extLst>
              </p:cNvPr>
              <p:cNvSpPr>
                <a:spLocks noChangeAspect="1" noChangeArrowheads="1"/>
              </p:cNvSpPr>
              <p:nvPr/>
            </p:nvSpPr>
            <p:spPr bwMode="auto">
              <a:xfrm>
                <a:off x="3656" y="3002"/>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38" name="Rectangle 137">
                <a:extLst>
                  <a:ext uri="{FF2B5EF4-FFF2-40B4-BE49-F238E27FC236}">
                    <a16:creationId xmlns:a16="http://schemas.microsoft.com/office/drawing/2014/main" id="{AAE36DCB-A223-4794-9B63-38E640FB904A}"/>
                  </a:ext>
                </a:extLst>
              </p:cNvPr>
              <p:cNvSpPr>
                <a:spLocks noChangeAspect="1" noChangeArrowheads="1"/>
              </p:cNvSpPr>
              <p:nvPr/>
            </p:nvSpPr>
            <p:spPr bwMode="auto">
              <a:xfrm>
                <a:off x="3473" y="3002"/>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39" name="Rectangle 138">
                <a:extLst>
                  <a:ext uri="{FF2B5EF4-FFF2-40B4-BE49-F238E27FC236}">
                    <a16:creationId xmlns:a16="http://schemas.microsoft.com/office/drawing/2014/main" id="{C95C20C5-29C8-474E-8A66-564DA0B7E1C0}"/>
                  </a:ext>
                </a:extLst>
              </p:cNvPr>
              <p:cNvSpPr>
                <a:spLocks noChangeAspect="1" noChangeArrowheads="1"/>
              </p:cNvSpPr>
              <p:nvPr/>
            </p:nvSpPr>
            <p:spPr bwMode="auto">
              <a:xfrm>
                <a:off x="3291" y="3002"/>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40" name="Rectangle 139">
                <a:extLst>
                  <a:ext uri="{FF2B5EF4-FFF2-40B4-BE49-F238E27FC236}">
                    <a16:creationId xmlns:a16="http://schemas.microsoft.com/office/drawing/2014/main" id="{D47F895D-9C90-4A55-BE7E-37E93EF6DB36}"/>
                  </a:ext>
                </a:extLst>
              </p:cNvPr>
              <p:cNvSpPr>
                <a:spLocks noChangeAspect="1" noChangeArrowheads="1"/>
              </p:cNvSpPr>
              <p:nvPr/>
            </p:nvSpPr>
            <p:spPr bwMode="auto">
              <a:xfrm>
                <a:off x="3107" y="3002"/>
                <a:ext cx="184" cy="244"/>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2</a:t>
                </a:r>
                <a:endParaRPr kumimoji="0" lang="ru-RU" altLang="zh-CN" sz="2400" b="1" kern="0">
                  <a:solidFill>
                    <a:srgbClr val="FFFFFF"/>
                  </a:solidFill>
                  <a:ea typeface="+mn-ea"/>
                </a:endParaRPr>
              </a:p>
            </p:txBody>
          </p:sp>
          <p:sp>
            <p:nvSpPr>
              <p:cNvPr id="141" name="Rectangle 140">
                <a:extLst>
                  <a:ext uri="{FF2B5EF4-FFF2-40B4-BE49-F238E27FC236}">
                    <a16:creationId xmlns:a16="http://schemas.microsoft.com/office/drawing/2014/main" id="{4D5972B6-CBA3-48B5-AF16-819E77CA1130}"/>
                  </a:ext>
                </a:extLst>
              </p:cNvPr>
              <p:cNvSpPr>
                <a:spLocks noChangeAspect="1" noChangeArrowheads="1"/>
              </p:cNvSpPr>
              <p:nvPr/>
            </p:nvSpPr>
            <p:spPr bwMode="auto">
              <a:xfrm>
                <a:off x="4571" y="2759"/>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42" name="Rectangle 141">
                <a:extLst>
                  <a:ext uri="{FF2B5EF4-FFF2-40B4-BE49-F238E27FC236}">
                    <a16:creationId xmlns:a16="http://schemas.microsoft.com/office/drawing/2014/main" id="{0E42B827-D58E-461B-AB82-98D6E4888933}"/>
                  </a:ext>
                </a:extLst>
              </p:cNvPr>
              <p:cNvSpPr>
                <a:spLocks noChangeAspect="1" noChangeArrowheads="1"/>
              </p:cNvSpPr>
              <p:nvPr/>
            </p:nvSpPr>
            <p:spPr bwMode="auto">
              <a:xfrm>
                <a:off x="4389" y="2759"/>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43" name="Rectangle 142">
                <a:extLst>
                  <a:ext uri="{FF2B5EF4-FFF2-40B4-BE49-F238E27FC236}">
                    <a16:creationId xmlns:a16="http://schemas.microsoft.com/office/drawing/2014/main" id="{AFE5FE26-C562-4110-99F6-C6EC45F34450}"/>
                  </a:ext>
                </a:extLst>
              </p:cNvPr>
              <p:cNvSpPr>
                <a:spLocks noChangeAspect="1" noChangeArrowheads="1"/>
              </p:cNvSpPr>
              <p:nvPr/>
            </p:nvSpPr>
            <p:spPr bwMode="auto">
              <a:xfrm>
                <a:off x="4206" y="2759"/>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44" name="Rectangle 143">
                <a:extLst>
                  <a:ext uri="{FF2B5EF4-FFF2-40B4-BE49-F238E27FC236}">
                    <a16:creationId xmlns:a16="http://schemas.microsoft.com/office/drawing/2014/main" id="{31ABDE9D-D07D-407E-907F-498358C557AE}"/>
                  </a:ext>
                </a:extLst>
              </p:cNvPr>
              <p:cNvSpPr>
                <a:spLocks noChangeAspect="1" noChangeArrowheads="1"/>
              </p:cNvSpPr>
              <p:nvPr/>
            </p:nvSpPr>
            <p:spPr bwMode="auto">
              <a:xfrm>
                <a:off x="4022" y="2759"/>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45" name="Rectangle 144">
                <a:extLst>
                  <a:ext uri="{FF2B5EF4-FFF2-40B4-BE49-F238E27FC236}">
                    <a16:creationId xmlns:a16="http://schemas.microsoft.com/office/drawing/2014/main" id="{92259ACC-AB9A-4E33-BB35-8C5CCD303DCD}"/>
                  </a:ext>
                </a:extLst>
              </p:cNvPr>
              <p:cNvSpPr>
                <a:spLocks noChangeAspect="1" noChangeArrowheads="1"/>
              </p:cNvSpPr>
              <p:nvPr/>
            </p:nvSpPr>
            <p:spPr bwMode="auto">
              <a:xfrm>
                <a:off x="3840" y="2759"/>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46" name="Rectangle 145">
                <a:extLst>
                  <a:ext uri="{FF2B5EF4-FFF2-40B4-BE49-F238E27FC236}">
                    <a16:creationId xmlns:a16="http://schemas.microsoft.com/office/drawing/2014/main" id="{45FBF3B8-310B-493B-AB1C-730950A7C5B3}"/>
                  </a:ext>
                </a:extLst>
              </p:cNvPr>
              <p:cNvSpPr>
                <a:spLocks noChangeAspect="1" noChangeArrowheads="1"/>
              </p:cNvSpPr>
              <p:nvPr/>
            </p:nvSpPr>
            <p:spPr bwMode="auto">
              <a:xfrm>
                <a:off x="3656" y="2759"/>
                <a:ext cx="184"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47" name="Rectangle 146">
                <a:extLst>
                  <a:ext uri="{FF2B5EF4-FFF2-40B4-BE49-F238E27FC236}">
                    <a16:creationId xmlns:a16="http://schemas.microsoft.com/office/drawing/2014/main" id="{9E89070E-4B66-41FF-9B86-77E5EE4EB1C6}"/>
                  </a:ext>
                </a:extLst>
              </p:cNvPr>
              <p:cNvSpPr>
                <a:spLocks noChangeAspect="1" noChangeArrowheads="1"/>
              </p:cNvSpPr>
              <p:nvPr/>
            </p:nvSpPr>
            <p:spPr bwMode="auto">
              <a:xfrm>
                <a:off x="3473" y="2759"/>
                <a:ext cx="183"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48" name="Rectangle 147">
                <a:extLst>
                  <a:ext uri="{FF2B5EF4-FFF2-40B4-BE49-F238E27FC236}">
                    <a16:creationId xmlns:a16="http://schemas.microsoft.com/office/drawing/2014/main" id="{9DAC42B4-B104-4E18-9DA0-FD52350A0501}"/>
                  </a:ext>
                </a:extLst>
              </p:cNvPr>
              <p:cNvSpPr>
                <a:spLocks noChangeAspect="1" noChangeArrowheads="1"/>
              </p:cNvSpPr>
              <p:nvPr/>
            </p:nvSpPr>
            <p:spPr bwMode="auto">
              <a:xfrm>
                <a:off x="3291" y="2759"/>
                <a:ext cx="182" cy="243"/>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49" name="Rectangle 148">
                <a:extLst>
                  <a:ext uri="{FF2B5EF4-FFF2-40B4-BE49-F238E27FC236}">
                    <a16:creationId xmlns:a16="http://schemas.microsoft.com/office/drawing/2014/main" id="{F638C535-36D4-464B-97BE-69154AF71FFF}"/>
                  </a:ext>
                </a:extLst>
              </p:cNvPr>
              <p:cNvSpPr>
                <a:spLocks noChangeAspect="1" noChangeArrowheads="1"/>
              </p:cNvSpPr>
              <p:nvPr/>
            </p:nvSpPr>
            <p:spPr bwMode="auto">
              <a:xfrm>
                <a:off x="3107" y="2759"/>
                <a:ext cx="184" cy="243"/>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1</a:t>
                </a:r>
                <a:endParaRPr kumimoji="0" lang="ru-RU" altLang="zh-CN" sz="2400" b="1" kern="0">
                  <a:solidFill>
                    <a:srgbClr val="FFFFFF"/>
                  </a:solidFill>
                  <a:ea typeface="+mn-ea"/>
                </a:endParaRPr>
              </a:p>
            </p:txBody>
          </p:sp>
          <p:sp>
            <p:nvSpPr>
              <p:cNvPr id="150" name="Rectangle 149">
                <a:extLst>
                  <a:ext uri="{FF2B5EF4-FFF2-40B4-BE49-F238E27FC236}">
                    <a16:creationId xmlns:a16="http://schemas.microsoft.com/office/drawing/2014/main" id="{5EB8BAA5-8FF6-499B-9D1E-CAE104BCEE38}"/>
                  </a:ext>
                </a:extLst>
              </p:cNvPr>
              <p:cNvSpPr>
                <a:spLocks noChangeAspect="1" noChangeArrowheads="1"/>
              </p:cNvSpPr>
              <p:nvPr/>
            </p:nvSpPr>
            <p:spPr bwMode="auto">
              <a:xfrm>
                <a:off x="4571" y="2515"/>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51" name="Rectangle 150">
                <a:extLst>
                  <a:ext uri="{FF2B5EF4-FFF2-40B4-BE49-F238E27FC236}">
                    <a16:creationId xmlns:a16="http://schemas.microsoft.com/office/drawing/2014/main" id="{1535729A-5296-4AF1-B800-D64DDD1F0309}"/>
                  </a:ext>
                </a:extLst>
              </p:cNvPr>
              <p:cNvSpPr>
                <a:spLocks noChangeAspect="1" noChangeArrowheads="1"/>
              </p:cNvSpPr>
              <p:nvPr/>
            </p:nvSpPr>
            <p:spPr bwMode="auto">
              <a:xfrm>
                <a:off x="4389" y="2515"/>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52" name="Rectangle 151">
                <a:extLst>
                  <a:ext uri="{FF2B5EF4-FFF2-40B4-BE49-F238E27FC236}">
                    <a16:creationId xmlns:a16="http://schemas.microsoft.com/office/drawing/2014/main" id="{31283FB5-1D9F-4768-935E-5B1DBF817F43}"/>
                  </a:ext>
                </a:extLst>
              </p:cNvPr>
              <p:cNvSpPr>
                <a:spLocks noChangeAspect="1" noChangeArrowheads="1"/>
              </p:cNvSpPr>
              <p:nvPr/>
            </p:nvSpPr>
            <p:spPr bwMode="auto">
              <a:xfrm>
                <a:off x="4206" y="2515"/>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53" name="Rectangle 152">
                <a:extLst>
                  <a:ext uri="{FF2B5EF4-FFF2-40B4-BE49-F238E27FC236}">
                    <a16:creationId xmlns:a16="http://schemas.microsoft.com/office/drawing/2014/main" id="{E25D79B6-0450-4468-A548-88867A4326D5}"/>
                  </a:ext>
                </a:extLst>
              </p:cNvPr>
              <p:cNvSpPr>
                <a:spLocks noChangeAspect="1" noChangeArrowheads="1"/>
              </p:cNvSpPr>
              <p:nvPr/>
            </p:nvSpPr>
            <p:spPr bwMode="auto">
              <a:xfrm>
                <a:off x="4022" y="2515"/>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54" name="Rectangle 153">
                <a:extLst>
                  <a:ext uri="{FF2B5EF4-FFF2-40B4-BE49-F238E27FC236}">
                    <a16:creationId xmlns:a16="http://schemas.microsoft.com/office/drawing/2014/main" id="{48732F1E-1D27-4006-89B0-5C6A88224755}"/>
                  </a:ext>
                </a:extLst>
              </p:cNvPr>
              <p:cNvSpPr>
                <a:spLocks noChangeAspect="1" noChangeArrowheads="1"/>
              </p:cNvSpPr>
              <p:nvPr/>
            </p:nvSpPr>
            <p:spPr bwMode="auto">
              <a:xfrm>
                <a:off x="3840" y="2515"/>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55" name="Rectangle 154">
                <a:extLst>
                  <a:ext uri="{FF2B5EF4-FFF2-40B4-BE49-F238E27FC236}">
                    <a16:creationId xmlns:a16="http://schemas.microsoft.com/office/drawing/2014/main" id="{E631D7CD-ADE7-4F5B-A336-B2645D3A6716}"/>
                  </a:ext>
                </a:extLst>
              </p:cNvPr>
              <p:cNvSpPr>
                <a:spLocks noChangeAspect="1" noChangeArrowheads="1"/>
              </p:cNvSpPr>
              <p:nvPr/>
            </p:nvSpPr>
            <p:spPr bwMode="auto">
              <a:xfrm>
                <a:off x="3656" y="2515"/>
                <a:ext cx="184"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56" name="Rectangle 155">
                <a:extLst>
                  <a:ext uri="{FF2B5EF4-FFF2-40B4-BE49-F238E27FC236}">
                    <a16:creationId xmlns:a16="http://schemas.microsoft.com/office/drawing/2014/main" id="{ABAE9297-7FA8-46B5-BFE9-D0DA3488584B}"/>
                  </a:ext>
                </a:extLst>
              </p:cNvPr>
              <p:cNvSpPr>
                <a:spLocks noChangeAspect="1" noChangeArrowheads="1"/>
              </p:cNvSpPr>
              <p:nvPr/>
            </p:nvSpPr>
            <p:spPr bwMode="auto">
              <a:xfrm>
                <a:off x="3473" y="2515"/>
                <a:ext cx="183"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57" name="Rectangle 156">
                <a:extLst>
                  <a:ext uri="{FF2B5EF4-FFF2-40B4-BE49-F238E27FC236}">
                    <a16:creationId xmlns:a16="http://schemas.microsoft.com/office/drawing/2014/main" id="{8EE32A27-929C-491F-AEA0-5AC36B935E5A}"/>
                  </a:ext>
                </a:extLst>
              </p:cNvPr>
              <p:cNvSpPr>
                <a:spLocks noChangeAspect="1" noChangeArrowheads="1"/>
              </p:cNvSpPr>
              <p:nvPr/>
            </p:nvSpPr>
            <p:spPr bwMode="auto">
              <a:xfrm>
                <a:off x="3291" y="2515"/>
                <a:ext cx="182" cy="244"/>
              </a:xfrm>
              <a:prstGeom prst="rect">
                <a:avLst/>
              </a:prstGeom>
              <a:noFill/>
              <a:ln w="2857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58" name="Rectangle 157">
                <a:extLst>
                  <a:ext uri="{FF2B5EF4-FFF2-40B4-BE49-F238E27FC236}">
                    <a16:creationId xmlns:a16="http://schemas.microsoft.com/office/drawing/2014/main" id="{DDA2B56F-4805-4F0C-9EA8-8B133538B253}"/>
                  </a:ext>
                </a:extLst>
              </p:cNvPr>
              <p:cNvSpPr>
                <a:spLocks noChangeAspect="1" noChangeArrowheads="1"/>
              </p:cNvSpPr>
              <p:nvPr/>
            </p:nvSpPr>
            <p:spPr bwMode="auto">
              <a:xfrm>
                <a:off x="3107" y="2515"/>
                <a:ext cx="184" cy="244"/>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FFFFFF"/>
                    </a:solidFill>
                    <a:ea typeface="宋体" panose="02010600030101010101" pitchFamily="2" charset="-122"/>
                  </a:rPr>
                  <a:t>0</a:t>
                </a:r>
                <a:endParaRPr kumimoji="0" lang="ru-RU" altLang="zh-CN" sz="2400" b="1" kern="0">
                  <a:solidFill>
                    <a:srgbClr val="FFFFFF"/>
                  </a:solidFill>
                  <a:ea typeface="+mn-ea"/>
                </a:endParaRPr>
              </a:p>
            </p:txBody>
          </p:sp>
          <p:sp>
            <p:nvSpPr>
              <p:cNvPr id="159" name="Line 158">
                <a:extLst>
                  <a:ext uri="{FF2B5EF4-FFF2-40B4-BE49-F238E27FC236}">
                    <a16:creationId xmlns:a16="http://schemas.microsoft.com/office/drawing/2014/main" id="{65F2C131-8086-48DB-84D8-8C4765ECFA05}"/>
                  </a:ext>
                </a:extLst>
              </p:cNvPr>
              <p:cNvSpPr>
                <a:spLocks noChangeAspect="1" noChangeShapeType="1"/>
              </p:cNvSpPr>
              <p:nvPr/>
            </p:nvSpPr>
            <p:spPr bwMode="auto">
              <a:xfrm>
                <a:off x="3107" y="2759"/>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0" name="Line 159">
                <a:extLst>
                  <a:ext uri="{FF2B5EF4-FFF2-40B4-BE49-F238E27FC236}">
                    <a16:creationId xmlns:a16="http://schemas.microsoft.com/office/drawing/2014/main" id="{97D5F7CD-89CA-4D2D-9D76-13152E18B629}"/>
                  </a:ext>
                </a:extLst>
              </p:cNvPr>
              <p:cNvSpPr>
                <a:spLocks noChangeAspect="1" noChangeShapeType="1"/>
              </p:cNvSpPr>
              <p:nvPr/>
            </p:nvSpPr>
            <p:spPr bwMode="auto">
              <a:xfrm>
                <a:off x="3107" y="3002"/>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1" name="Line 160">
                <a:extLst>
                  <a:ext uri="{FF2B5EF4-FFF2-40B4-BE49-F238E27FC236}">
                    <a16:creationId xmlns:a16="http://schemas.microsoft.com/office/drawing/2014/main" id="{2C3C9D68-102E-48BB-A3F6-181CE3877A04}"/>
                  </a:ext>
                </a:extLst>
              </p:cNvPr>
              <p:cNvSpPr>
                <a:spLocks noChangeAspect="1" noChangeShapeType="1"/>
              </p:cNvSpPr>
              <p:nvPr/>
            </p:nvSpPr>
            <p:spPr bwMode="auto">
              <a:xfrm>
                <a:off x="3107" y="3246"/>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2" name="Line 161">
                <a:extLst>
                  <a:ext uri="{FF2B5EF4-FFF2-40B4-BE49-F238E27FC236}">
                    <a16:creationId xmlns:a16="http://schemas.microsoft.com/office/drawing/2014/main" id="{DD6C53A8-412B-456D-B642-9B6A6CF374E3}"/>
                  </a:ext>
                </a:extLst>
              </p:cNvPr>
              <p:cNvSpPr>
                <a:spLocks noChangeAspect="1" noChangeShapeType="1"/>
              </p:cNvSpPr>
              <p:nvPr/>
            </p:nvSpPr>
            <p:spPr bwMode="auto">
              <a:xfrm>
                <a:off x="3107" y="3489"/>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3" name="Line 162">
                <a:extLst>
                  <a:ext uri="{FF2B5EF4-FFF2-40B4-BE49-F238E27FC236}">
                    <a16:creationId xmlns:a16="http://schemas.microsoft.com/office/drawing/2014/main" id="{9549947F-2D31-4856-A483-292337AF8D6E}"/>
                  </a:ext>
                </a:extLst>
              </p:cNvPr>
              <p:cNvSpPr>
                <a:spLocks noChangeAspect="1" noChangeShapeType="1"/>
              </p:cNvSpPr>
              <p:nvPr/>
            </p:nvSpPr>
            <p:spPr bwMode="auto">
              <a:xfrm>
                <a:off x="3107" y="3732"/>
                <a:ext cx="1648" cy="0"/>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4" name="Line 163">
                <a:extLst>
                  <a:ext uri="{FF2B5EF4-FFF2-40B4-BE49-F238E27FC236}">
                    <a16:creationId xmlns:a16="http://schemas.microsoft.com/office/drawing/2014/main" id="{B01B6FE7-917D-41E1-9112-6E009B040669}"/>
                  </a:ext>
                </a:extLst>
              </p:cNvPr>
              <p:cNvSpPr>
                <a:spLocks noChangeAspect="1" noChangeShapeType="1"/>
              </p:cNvSpPr>
              <p:nvPr/>
            </p:nvSpPr>
            <p:spPr bwMode="auto">
              <a:xfrm>
                <a:off x="3107" y="3976"/>
                <a:ext cx="1648"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5" name="Line 164">
                <a:extLst>
                  <a:ext uri="{FF2B5EF4-FFF2-40B4-BE49-F238E27FC236}">
                    <a16:creationId xmlns:a16="http://schemas.microsoft.com/office/drawing/2014/main" id="{8DE9684C-B448-4FD6-A19B-20A92626D7A4}"/>
                  </a:ext>
                </a:extLst>
              </p:cNvPr>
              <p:cNvSpPr>
                <a:spLocks noChangeAspect="1" noChangeShapeType="1"/>
              </p:cNvSpPr>
              <p:nvPr/>
            </p:nvSpPr>
            <p:spPr bwMode="auto">
              <a:xfrm>
                <a:off x="3107" y="2515"/>
                <a:ext cx="0" cy="1461"/>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6" name="Line 165">
                <a:extLst>
                  <a:ext uri="{FF2B5EF4-FFF2-40B4-BE49-F238E27FC236}">
                    <a16:creationId xmlns:a16="http://schemas.microsoft.com/office/drawing/2014/main" id="{C495B1F4-1EB8-485A-A2BD-8AA02CBD0128}"/>
                  </a:ext>
                </a:extLst>
              </p:cNvPr>
              <p:cNvSpPr>
                <a:spLocks noChangeAspect="1" noChangeShapeType="1"/>
              </p:cNvSpPr>
              <p:nvPr/>
            </p:nvSpPr>
            <p:spPr bwMode="auto">
              <a:xfrm>
                <a:off x="3291"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7" name="Line 166">
                <a:extLst>
                  <a:ext uri="{FF2B5EF4-FFF2-40B4-BE49-F238E27FC236}">
                    <a16:creationId xmlns:a16="http://schemas.microsoft.com/office/drawing/2014/main" id="{78FFED5B-F399-4681-9588-ADE86F4B9674}"/>
                  </a:ext>
                </a:extLst>
              </p:cNvPr>
              <p:cNvSpPr>
                <a:spLocks noChangeAspect="1" noChangeShapeType="1"/>
              </p:cNvSpPr>
              <p:nvPr/>
            </p:nvSpPr>
            <p:spPr bwMode="auto">
              <a:xfrm>
                <a:off x="3473"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8" name="Line 167">
                <a:extLst>
                  <a:ext uri="{FF2B5EF4-FFF2-40B4-BE49-F238E27FC236}">
                    <a16:creationId xmlns:a16="http://schemas.microsoft.com/office/drawing/2014/main" id="{BF6B68DA-ED67-40BE-89D1-F21C05CE9355}"/>
                  </a:ext>
                </a:extLst>
              </p:cNvPr>
              <p:cNvSpPr>
                <a:spLocks noChangeAspect="1" noChangeShapeType="1"/>
              </p:cNvSpPr>
              <p:nvPr/>
            </p:nvSpPr>
            <p:spPr bwMode="auto">
              <a:xfrm>
                <a:off x="3656"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9" name="Line 168">
                <a:extLst>
                  <a:ext uri="{FF2B5EF4-FFF2-40B4-BE49-F238E27FC236}">
                    <a16:creationId xmlns:a16="http://schemas.microsoft.com/office/drawing/2014/main" id="{CB7233FC-0581-4EF2-B0ED-6E06F15EF22B}"/>
                  </a:ext>
                </a:extLst>
              </p:cNvPr>
              <p:cNvSpPr>
                <a:spLocks noChangeAspect="1" noChangeShapeType="1"/>
              </p:cNvSpPr>
              <p:nvPr/>
            </p:nvSpPr>
            <p:spPr bwMode="auto">
              <a:xfrm>
                <a:off x="3840"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0" name="Line 169">
                <a:extLst>
                  <a:ext uri="{FF2B5EF4-FFF2-40B4-BE49-F238E27FC236}">
                    <a16:creationId xmlns:a16="http://schemas.microsoft.com/office/drawing/2014/main" id="{E385AE20-29A9-44CB-95E9-549D703EFE0D}"/>
                  </a:ext>
                </a:extLst>
              </p:cNvPr>
              <p:cNvSpPr>
                <a:spLocks noChangeAspect="1" noChangeShapeType="1"/>
              </p:cNvSpPr>
              <p:nvPr/>
            </p:nvSpPr>
            <p:spPr bwMode="auto">
              <a:xfrm>
                <a:off x="4022"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1" name="Line 170">
                <a:extLst>
                  <a:ext uri="{FF2B5EF4-FFF2-40B4-BE49-F238E27FC236}">
                    <a16:creationId xmlns:a16="http://schemas.microsoft.com/office/drawing/2014/main" id="{42484952-065C-4793-A8E1-32F2293F32D0}"/>
                  </a:ext>
                </a:extLst>
              </p:cNvPr>
              <p:cNvSpPr>
                <a:spLocks noChangeAspect="1" noChangeShapeType="1"/>
              </p:cNvSpPr>
              <p:nvPr/>
            </p:nvSpPr>
            <p:spPr bwMode="auto">
              <a:xfrm>
                <a:off x="4206"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2" name="Line 171">
                <a:extLst>
                  <a:ext uri="{FF2B5EF4-FFF2-40B4-BE49-F238E27FC236}">
                    <a16:creationId xmlns:a16="http://schemas.microsoft.com/office/drawing/2014/main" id="{3836863C-3D7F-459D-9324-1017FA187962}"/>
                  </a:ext>
                </a:extLst>
              </p:cNvPr>
              <p:cNvSpPr>
                <a:spLocks noChangeAspect="1" noChangeShapeType="1"/>
              </p:cNvSpPr>
              <p:nvPr/>
            </p:nvSpPr>
            <p:spPr bwMode="auto">
              <a:xfrm>
                <a:off x="4389"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3" name="Line 172">
                <a:extLst>
                  <a:ext uri="{FF2B5EF4-FFF2-40B4-BE49-F238E27FC236}">
                    <a16:creationId xmlns:a16="http://schemas.microsoft.com/office/drawing/2014/main" id="{591FBFDD-1E95-4B43-A81E-C3D850ED376F}"/>
                  </a:ext>
                </a:extLst>
              </p:cNvPr>
              <p:cNvSpPr>
                <a:spLocks noChangeAspect="1" noChangeShapeType="1"/>
              </p:cNvSpPr>
              <p:nvPr/>
            </p:nvSpPr>
            <p:spPr bwMode="auto">
              <a:xfrm>
                <a:off x="4571" y="2515"/>
                <a:ext cx="0" cy="1461"/>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4" name="Line 173">
                <a:extLst>
                  <a:ext uri="{FF2B5EF4-FFF2-40B4-BE49-F238E27FC236}">
                    <a16:creationId xmlns:a16="http://schemas.microsoft.com/office/drawing/2014/main" id="{4EF5CA0A-1B5D-48C9-9643-1770A0F47484}"/>
                  </a:ext>
                </a:extLst>
              </p:cNvPr>
              <p:cNvSpPr>
                <a:spLocks noChangeAspect="1" noChangeShapeType="1"/>
              </p:cNvSpPr>
              <p:nvPr/>
            </p:nvSpPr>
            <p:spPr bwMode="auto">
              <a:xfrm>
                <a:off x="4755" y="2515"/>
                <a:ext cx="0" cy="1461"/>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5" name="Line 174">
                <a:extLst>
                  <a:ext uri="{FF2B5EF4-FFF2-40B4-BE49-F238E27FC236}">
                    <a16:creationId xmlns:a16="http://schemas.microsoft.com/office/drawing/2014/main" id="{FA09FA17-6BA4-4D65-B79B-195A6E614EA5}"/>
                  </a:ext>
                </a:extLst>
              </p:cNvPr>
              <p:cNvSpPr>
                <a:spLocks noChangeAspect="1" noChangeShapeType="1"/>
              </p:cNvSpPr>
              <p:nvPr/>
            </p:nvSpPr>
            <p:spPr bwMode="auto">
              <a:xfrm>
                <a:off x="3107" y="2515"/>
                <a:ext cx="1648"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27658" name="Group 175">
              <a:extLst>
                <a:ext uri="{FF2B5EF4-FFF2-40B4-BE49-F238E27FC236}">
                  <a16:creationId xmlns:a16="http://schemas.microsoft.com/office/drawing/2014/main" id="{D4F15C10-40F4-4E64-8E45-90361D762E19}"/>
                </a:ext>
              </a:extLst>
            </p:cNvPr>
            <p:cNvGrpSpPr>
              <a:grpSpLocks/>
            </p:cNvGrpSpPr>
            <p:nvPr/>
          </p:nvGrpSpPr>
          <p:grpSpPr bwMode="auto">
            <a:xfrm>
              <a:off x="5221288" y="2392363"/>
              <a:ext cx="2827338" cy="1300162"/>
              <a:chOff x="3335" y="1688"/>
              <a:chExt cx="1781" cy="819"/>
            </a:xfrm>
          </p:grpSpPr>
          <p:grpSp>
            <p:nvGrpSpPr>
              <p:cNvPr id="27681" name="Group 176">
                <a:extLst>
                  <a:ext uri="{FF2B5EF4-FFF2-40B4-BE49-F238E27FC236}">
                    <a16:creationId xmlns:a16="http://schemas.microsoft.com/office/drawing/2014/main" id="{6248BF1C-03B9-42AF-AA09-53B7305CACC6}"/>
                  </a:ext>
                </a:extLst>
              </p:cNvPr>
              <p:cNvGrpSpPr>
                <a:grpSpLocks noChangeAspect="1"/>
              </p:cNvGrpSpPr>
              <p:nvPr/>
            </p:nvGrpSpPr>
            <p:grpSpPr bwMode="auto">
              <a:xfrm>
                <a:off x="3335" y="2021"/>
                <a:ext cx="1781" cy="287"/>
                <a:chOff x="3288" y="2016"/>
                <a:chExt cx="1469" cy="237"/>
              </a:xfrm>
            </p:grpSpPr>
            <p:sp>
              <p:nvSpPr>
                <p:cNvPr id="180" name="Rectangle 177">
                  <a:extLst>
                    <a:ext uri="{FF2B5EF4-FFF2-40B4-BE49-F238E27FC236}">
                      <a16:creationId xmlns:a16="http://schemas.microsoft.com/office/drawing/2014/main" id="{6CC87958-253B-4E62-AB1D-9B1434BE9196}"/>
                    </a:ext>
                  </a:extLst>
                </p:cNvPr>
                <p:cNvSpPr>
                  <a:spLocks noChangeAspect="1" noChangeArrowheads="1"/>
                </p:cNvSpPr>
                <p:nvPr/>
              </p:nvSpPr>
              <p:spPr bwMode="auto">
                <a:xfrm>
                  <a:off x="4571" y="2016"/>
                  <a:ext cx="183"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81" name="Rectangle 178">
                  <a:extLst>
                    <a:ext uri="{FF2B5EF4-FFF2-40B4-BE49-F238E27FC236}">
                      <a16:creationId xmlns:a16="http://schemas.microsoft.com/office/drawing/2014/main" id="{408DE8FB-3F38-4CA4-8A7E-264D143695DD}"/>
                    </a:ext>
                  </a:extLst>
                </p:cNvPr>
                <p:cNvSpPr>
                  <a:spLocks noChangeAspect="1" noChangeArrowheads="1"/>
                </p:cNvSpPr>
                <p:nvPr/>
              </p:nvSpPr>
              <p:spPr bwMode="auto">
                <a:xfrm>
                  <a:off x="4389" y="2016"/>
                  <a:ext cx="186"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82" name="Rectangle 179">
                  <a:extLst>
                    <a:ext uri="{FF2B5EF4-FFF2-40B4-BE49-F238E27FC236}">
                      <a16:creationId xmlns:a16="http://schemas.microsoft.com/office/drawing/2014/main" id="{9BB386F7-F6A9-488B-99BF-AC7452D01181}"/>
                    </a:ext>
                  </a:extLst>
                </p:cNvPr>
                <p:cNvSpPr>
                  <a:spLocks noChangeAspect="1" noChangeArrowheads="1"/>
                </p:cNvSpPr>
                <p:nvPr/>
              </p:nvSpPr>
              <p:spPr bwMode="auto">
                <a:xfrm>
                  <a:off x="4204" y="2016"/>
                  <a:ext cx="185"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83" name="Rectangle 180">
                  <a:extLst>
                    <a:ext uri="{FF2B5EF4-FFF2-40B4-BE49-F238E27FC236}">
                      <a16:creationId xmlns:a16="http://schemas.microsoft.com/office/drawing/2014/main" id="{D43F0E99-F201-47A0-A1C3-D15C62577B16}"/>
                    </a:ext>
                  </a:extLst>
                </p:cNvPr>
                <p:cNvSpPr>
                  <a:spLocks noChangeAspect="1" noChangeArrowheads="1"/>
                </p:cNvSpPr>
                <p:nvPr/>
              </p:nvSpPr>
              <p:spPr bwMode="auto">
                <a:xfrm>
                  <a:off x="4021" y="2016"/>
                  <a:ext cx="183"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84" name="Rectangle 181">
                  <a:extLst>
                    <a:ext uri="{FF2B5EF4-FFF2-40B4-BE49-F238E27FC236}">
                      <a16:creationId xmlns:a16="http://schemas.microsoft.com/office/drawing/2014/main" id="{C55D9BAF-6AE3-470B-A2B1-0C08B4404CC5}"/>
                    </a:ext>
                  </a:extLst>
                </p:cNvPr>
                <p:cNvSpPr>
                  <a:spLocks noChangeAspect="1" noChangeArrowheads="1"/>
                </p:cNvSpPr>
                <p:nvPr/>
              </p:nvSpPr>
              <p:spPr bwMode="auto">
                <a:xfrm>
                  <a:off x="3839" y="2016"/>
                  <a:ext cx="183"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dirty="0">
                      <a:solidFill>
                        <a:srgbClr val="000000"/>
                      </a:solidFill>
                      <a:ea typeface="宋体" panose="02010600030101010101" pitchFamily="2" charset="-122"/>
                    </a:rPr>
                    <a:t>1</a:t>
                  </a:r>
                  <a:endParaRPr kumimoji="0" lang="ru-RU" altLang="zh-CN" sz="2400" b="1" kern="0" dirty="0">
                    <a:solidFill>
                      <a:srgbClr val="000000"/>
                    </a:solidFill>
                    <a:ea typeface="+mn-ea"/>
                  </a:endParaRPr>
                </a:p>
              </p:txBody>
            </p:sp>
            <p:sp>
              <p:nvSpPr>
                <p:cNvPr id="185" name="Rectangle 182">
                  <a:extLst>
                    <a:ext uri="{FF2B5EF4-FFF2-40B4-BE49-F238E27FC236}">
                      <a16:creationId xmlns:a16="http://schemas.microsoft.com/office/drawing/2014/main" id="{ABD4B89F-F09F-439D-BCE8-4A691E27C061}"/>
                    </a:ext>
                  </a:extLst>
                </p:cNvPr>
                <p:cNvSpPr>
                  <a:spLocks noChangeAspect="1" noChangeArrowheads="1"/>
                </p:cNvSpPr>
                <p:nvPr/>
              </p:nvSpPr>
              <p:spPr bwMode="auto">
                <a:xfrm>
                  <a:off x="3654" y="2016"/>
                  <a:ext cx="186"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86" name="Rectangle 183">
                  <a:extLst>
                    <a:ext uri="{FF2B5EF4-FFF2-40B4-BE49-F238E27FC236}">
                      <a16:creationId xmlns:a16="http://schemas.microsoft.com/office/drawing/2014/main" id="{0030FD36-2986-483B-9488-7AF87380B7C4}"/>
                    </a:ext>
                  </a:extLst>
                </p:cNvPr>
                <p:cNvSpPr>
                  <a:spLocks noChangeAspect="1" noChangeArrowheads="1"/>
                </p:cNvSpPr>
                <p:nvPr/>
              </p:nvSpPr>
              <p:spPr bwMode="auto">
                <a:xfrm>
                  <a:off x="3471" y="2016"/>
                  <a:ext cx="183"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187" name="Rectangle 184">
                  <a:extLst>
                    <a:ext uri="{FF2B5EF4-FFF2-40B4-BE49-F238E27FC236}">
                      <a16:creationId xmlns:a16="http://schemas.microsoft.com/office/drawing/2014/main" id="{DEF8E899-1374-45CE-B341-A229D26F20E0}"/>
                    </a:ext>
                  </a:extLst>
                </p:cNvPr>
                <p:cNvSpPr>
                  <a:spLocks noChangeAspect="1" noChangeArrowheads="1"/>
                </p:cNvSpPr>
                <p:nvPr/>
              </p:nvSpPr>
              <p:spPr bwMode="auto">
                <a:xfrm>
                  <a:off x="3288" y="2016"/>
                  <a:ext cx="183" cy="226"/>
                </a:xfrm>
                <a:prstGeom prst="rect">
                  <a:avLst/>
                </a:prstGeom>
                <a:solidFill>
                  <a:srgbClr val="CCCC00"/>
                </a:solidFill>
                <a:ln>
                  <a:noFill/>
                </a:ln>
                <a:effectLst/>
                <a:extLs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188" name="Line 185">
                  <a:extLst>
                    <a:ext uri="{FF2B5EF4-FFF2-40B4-BE49-F238E27FC236}">
                      <a16:creationId xmlns:a16="http://schemas.microsoft.com/office/drawing/2014/main" id="{CC263564-4B04-4238-A9F0-58236075038D}"/>
                    </a:ext>
                  </a:extLst>
                </p:cNvPr>
                <p:cNvSpPr>
                  <a:spLocks noChangeAspect="1" noChangeShapeType="1"/>
                </p:cNvSpPr>
                <p:nvPr/>
              </p:nvSpPr>
              <p:spPr bwMode="auto">
                <a:xfrm>
                  <a:off x="3288" y="2016"/>
                  <a:ext cx="1466"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89" name="Line 186">
                  <a:extLst>
                    <a:ext uri="{FF2B5EF4-FFF2-40B4-BE49-F238E27FC236}">
                      <a16:creationId xmlns:a16="http://schemas.microsoft.com/office/drawing/2014/main" id="{F4395D7D-F33B-4C6D-B4F4-9AA4EEB6EC92}"/>
                    </a:ext>
                  </a:extLst>
                </p:cNvPr>
                <p:cNvSpPr>
                  <a:spLocks noChangeAspect="1" noChangeShapeType="1"/>
                </p:cNvSpPr>
                <p:nvPr/>
              </p:nvSpPr>
              <p:spPr bwMode="auto">
                <a:xfrm>
                  <a:off x="3291" y="2253"/>
                  <a:ext cx="1466"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0" name="Line 187">
                  <a:extLst>
                    <a:ext uri="{FF2B5EF4-FFF2-40B4-BE49-F238E27FC236}">
                      <a16:creationId xmlns:a16="http://schemas.microsoft.com/office/drawing/2014/main" id="{13FC7711-12ED-4482-A9D7-64E5CE8EDFB3}"/>
                    </a:ext>
                  </a:extLst>
                </p:cNvPr>
                <p:cNvSpPr>
                  <a:spLocks noChangeAspect="1" noChangeShapeType="1"/>
                </p:cNvSpPr>
                <p:nvPr/>
              </p:nvSpPr>
              <p:spPr bwMode="auto">
                <a:xfrm>
                  <a:off x="3288" y="2016"/>
                  <a:ext cx="0" cy="226"/>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1" name="Line 188">
                  <a:extLst>
                    <a:ext uri="{FF2B5EF4-FFF2-40B4-BE49-F238E27FC236}">
                      <a16:creationId xmlns:a16="http://schemas.microsoft.com/office/drawing/2014/main" id="{B4C52EBC-6867-4F84-8A07-8D2754536EC0}"/>
                    </a:ext>
                  </a:extLst>
                </p:cNvPr>
                <p:cNvSpPr>
                  <a:spLocks noChangeAspect="1" noChangeShapeType="1"/>
                </p:cNvSpPr>
                <p:nvPr/>
              </p:nvSpPr>
              <p:spPr bwMode="auto">
                <a:xfrm>
                  <a:off x="3471" y="2016"/>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2" name="Line 189">
                  <a:extLst>
                    <a:ext uri="{FF2B5EF4-FFF2-40B4-BE49-F238E27FC236}">
                      <a16:creationId xmlns:a16="http://schemas.microsoft.com/office/drawing/2014/main" id="{F2C13A43-8443-4DB8-8E90-8A98FCBA3C18}"/>
                    </a:ext>
                  </a:extLst>
                </p:cNvPr>
                <p:cNvSpPr>
                  <a:spLocks noChangeAspect="1" noChangeShapeType="1"/>
                </p:cNvSpPr>
                <p:nvPr/>
              </p:nvSpPr>
              <p:spPr bwMode="auto">
                <a:xfrm>
                  <a:off x="3654" y="2016"/>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3" name="Line 190">
                  <a:extLst>
                    <a:ext uri="{FF2B5EF4-FFF2-40B4-BE49-F238E27FC236}">
                      <a16:creationId xmlns:a16="http://schemas.microsoft.com/office/drawing/2014/main" id="{CE518960-6E0E-43F9-961C-76869D06F81C}"/>
                    </a:ext>
                  </a:extLst>
                </p:cNvPr>
                <p:cNvSpPr>
                  <a:spLocks noChangeAspect="1" noChangeShapeType="1"/>
                </p:cNvSpPr>
                <p:nvPr/>
              </p:nvSpPr>
              <p:spPr bwMode="auto">
                <a:xfrm>
                  <a:off x="3839" y="2016"/>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4" name="Line 191">
                  <a:extLst>
                    <a:ext uri="{FF2B5EF4-FFF2-40B4-BE49-F238E27FC236}">
                      <a16:creationId xmlns:a16="http://schemas.microsoft.com/office/drawing/2014/main" id="{EEE3C208-5180-449A-8899-15DB6ACCC65E}"/>
                    </a:ext>
                  </a:extLst>
                </p:cNvPr>
                <p:cNvSpPr>
                  <a:spLocks noChangeAspect="1" noChangeShapeType="1"/>
                </p:cNvSpPr>
                <p:nvPr/>
              </p:nvSpPr>
              <p:spPr bwMode="auto">
                <a:xfrm>
                  <a:off x="4021" y="2016"/>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5" name="Line 192">
                  <a:extLst>
                    <a:ext uri="{FF2B5EF4-FFF2-40B4-BE49-F238E27FC236}">
                      <a16:creationId xmlns:a16="http://schemas.microsoft.com/office/drawing/2014/main" id="{7C6CD0B1-A9A4-4001-A23C-0F7C1E0FDAAA}"/>
                    </a:ext>
                  </a:extLst>
                </p:cNvPr>
                <p:cNvSpPr>
                  <a:spLocks noChangeAspect="1" noChangeShapeType="1"/>
                </p:cNvSpPr>
                <p:nvPr/>
              </p:nvSpPr>
              <p:spPr bwMode="auto">
                <a:xfrm>
                  <a:off x="4204" y="2016"/>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6" name="Line 193">
                  <a:extLst>
                    <a:ext uri="{FF2B5EF4-FFF2-40B4-BE49-F238E27FC236}">
                      <a16:creationId xmlns:a16="http://schemas.microsoft.com/office/drawing/2014/main" id="{EBE6C45C-E386-48CB-B54E-B67786BEDC57}"/>
                    </a:ext>
                  </a:extLst>
                </p:cNvPr>
                <p:cNvSpPr>
                  <a:spLocks noChangeAspect="1" noChangeShapeType="1"/>
                </p:cNvSpPr>
                <p:nvPr/>
              </p:nvSpPr>
              <p:spPr bwMode="auto">
                <a:xfrm>
                  <a:off x="4389" y="2016"/>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7" name="Line 194">
                  <a:extLst>
                    <a:ext uri="{FF2B5EF4-FFF2-40B4-BE49-F238E27FC236}">
                      <a16:creationId xmlns:a16="http://schemas.microsoft.com/office/drawing/2014/main" id="{E7B96210-D094-47DE-B618-168E80330265}"/>
                    </a:ext>
                  </a:extLst>
                </p:cNvPr>
                <p:cNvSpPr>
                  <a:spLocks noChangeAspect="1" noChangeShapeType="1"/>
                </p:cNvSpPr>
                <p:nvPr/>
              </p:nvSpPr>
              <p:spPr bwMode="auto">
                <a:xfrm>
                  <a:off x="4571" y="2016"/>
                  <a:ext cx="0" cy="226"/>
                </a:xfrm>
                <a:prstGeom prst="line">
                  <a:avLst/>
                </a:prstGeom>
                <a:noFill/>
                <a:ln w="28575">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98" name="Line 195">
                  <a:extLst>
                    <a:ext uri="{FF2B5EF4-FFF2-40B4-BE49-F238E27FC236}">
                      <a16:creationId xmlns:a16="http://schemas.microsoft.com/office/drawing/2014/main" id="{02A3AB21-1DAF-40E4-A18E-5993552C1082}"/>
                    </a:ext>
                  </a:extLst>
                </p:cNvPr>
                <p:cNvSpPr>
                  <a:spLocks noChangeAspect="1" noChangeShapeType="1"/>
                </p:cNvSpPr>
                <p:nvPr/>
              </p:nvSpPr>
              <p:spPr bwMode="auto">
                <a:xfrm>
                  <a:off x="4754" y="2016"/>
                  <a:ext cx="0" cy="226"/>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178" name="AutoShape 196">
                <a:extLst>
                  <a:ext uri="{FF2B5EF4-FFF2-40B4-BE49-F238E27FC236}">
                    <a16:creationId xmlns:a16="http://schemas.microsoft.com/office/drawing/2014/main" id="{BDEE3CE6-CF18-457E-AABD-E071643FF007}"/>
                  </a:ext>
                </a:extLst>
              </p:cNvPr>
              <p:cNvSpPr>
                <a:spLocks noChangeArrowheads="1"/>
              </p:cNvSpPr>
              <p:nvPr/>
            </p:nvSpPr>
            <p:spPr bwMode="auto">
              <a:xfrm>
                <a:off x="4118" y="2325"/>
                <a:ext cx="191" cy="179"/>
              </a:xfrm>
              <a:prstGeom prst="downArrow">
                <a:avLst>
                  <a:gd name="adj1" fmla="val 50000"/>
                  <a:gd name="adj2" fmla="val 25000"/>
                </a:avLst>
              </a:prstGeom>
              <a:solidFill>
                <a:srgbClr val="9933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9" name="Text Box 197">
                <a:extLst>
                  <a:ext uri="{FF2B5EF4-FFF2-40B4-BE49-F238E27FC236}">
                    <a16:creationId xmlns:a16="http://schemas.microsoft.com/office/drawing/2014/main" id="{7B04CB13-8154-4665-8582-EA99E72EF967}"/>
                  </a:ext>
                </a:extLst>
              </p:cNvPr>
              <p:cNvSpPr txBox="1">
                <a:spLocks noChangeArrowheads="1"/>
              </p:cNvSpPr>
              <p:nvPr/>
            </p:nvSpPr>
            <p:spPr bwMode="auto">
              <a:xfrm>
                <a:off x="3833" y="1688"/>
                <a:ext cx="1175" cy="35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2400" b="1" kern="0" dirty="0">
                    <a:solidFill>
                      <a:srgbClr val="993300"/>
                    </a:solidFill>
                    <a:latin typeface="Arial" panose="020B0604020202020204" pitchFamily="34" charset="0"/>
                    <a:ea typeface="宋体" panose="02010600030101010101" pitchFamily="2" charset="-122"/>
                  </a:rPr>
                  <a:t>Data In</a:t>
                </a:r>
                <a:endParaRPr kumimoji="0" lang="ru-RU" altLang="zh-CN" sz="2400" b="1" kern="0" dirty="0">
                  <a:solidFill>
                    <a:srgbClr val="993300"/>
                  </a:solidFill>
                  <a:latin typeface="Arial" panose="020B0604020202020204" pitchFamily="34" charset="0"/>
                  <a:ea typeface="+mn-ea"/>
                </a:endParaRPr>
              </a:p>
            </p:txBody>
          </p:sp>
        </p:grpSp>
        <p:grpSp>
          <p:nvGrpSpPr>
            <p:cNvPr id="27659" name="Group 198">
              <a:extLst>
                <a:ext uri="{FF2B5EF4-FFF2-40B4-BE49-F238E27FC236}">
                  <a16:creationId xmlns:a16="http://schemas.microsoft.com/office/drawing/2014/main" id="{21189BD3-8DE5-4558-B45E-59D8E46A296C}"/>
                </a:ext>
              </a:extLst>
            </p:cNvPr>
            <p:cNvGrpSpPr>
              <a:grpSpLocks/>
            </p:cNvGrpSpPr>
            <p:nvPr/>
          </p:nvGrpSpPr>
          <p:grpSpPr bwMode="auto">
            <a:xfrm>
              <a:off x="8048628" y="3360739"/>
              <a:ext cx="1093788" cy="2944813"/>
              <a:chOff x="4785" y="2117"/>
              <a:chExt cx="689" cy="1855"/>
            </a:xfrm>
          </p:grpSpPr>
          <p:sp>
            <p:nvSpPr>
              <p:cNvPr id="200" name="Text Box 199">
                <a:extLst>
                  <a:ext uri="{FF2B5EF4-FFF2-40B4-BE49-F238E27FC236}">
                    <a16:creationId xmlns:a16="http://schemas.microsoft.com/office/drawing/2014/main" id="{17EAB9E4-D364-490B-A083-FDDEC5B30F77}"/>
                  </a:ext>
                </a:extLst>
              </p:cNvPr>
              <p:cNvSpPr txBox="1">
                <a:spLocks noChangeArrowheads="1"/>
              </p:cNvSpPr>
              <p:nvPr/>
            </p:nvSpPr>
            <p:spPr bwMode="auto">
              <a:xfrm>
                <a:off x="4833" y="2931"/>
                <a:ext cx="227" cy="306"/>
              </a:xfrm>
              <a:prstGeom prst="rect">
                <a:avLst/>
              </a:prstGeom>
              <a:solidFill>
                <a:srgbClr val="0000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2400" b="1" kern="0" dirty="0">
                    <a:solidFill>
                      <a:srgbClr val="FFFFFF"/>
                    </a:solidFill>
                    <a:effectLst>
                      <a:outerShdw blurRad="38100" dist="38100" dir="2700000" algn="tl">
                        <a:srgbClr val="660000"/>
                      </a:outerShdw>
                    </a:effectLst>
                    <a:ea typeface="宋体" panose="02010600030101010101" pitchFamily="2" charset="-122"/>
                  </a:rPr>
                  <a:t>3</a:t>
                </a:r>
                <a:endParaRPr kumimoji="0" lang="ru-RU" altLang="zh-CN" sz="2400" b="1" kern="0" dirty="0">
                  <a:solidFill>
                    <a:srgbClr val="FFFFFF"/>
                  </a:solidFill>
                  <a:effectLst>
                    <a:outerShdw blurRad="38100" dist="38100" dir="2700000" algn="tl">
                      <a:srgbClr val="660000"/>
                    </a:outerShdw>
                  </a:effectLst>
                  <a:ea typeface="+mn-ea"/>
                </a:endParaRPr>
              </a:p>
            </p:txBody>
          </p:sp>
          <p:sp>
            <p:nvSpPr>
              <p:cNvPr id="201" name="Line 200">
                <a:extLst>
                  <a:ext uri="{FF2B5EF4-FFF2-40B4-BE49-F238E27FC236}">
                    <a16:creationId xmlns:a16="http://schemas.microsoft.com/office/drawing/2014/main" id="{3BECAE1F-819D-4624-B0A8-A9CD430F31AE}"/>
                  </a:ext>
                </a:extLst>
              </p:cNvPr>
              <p:cNvSpPr>
                <a:spLocks noChangeShapeType="1"/>
              </p:cNvSpPr>
              <p:nvPr/>
            </p:nvSpPr>
            <p:spPr bwMode="auto">
              <a:xfrm>
                <a:off x="4785" y="3339"/>
                <a:ext cx="385" cy="1"/>
              </a:xfrm>
              <a:prstGeom prst="line">
                <a:avLst/>
              </a:prstGeom>
              <a:noFill/>
              <a:ln w="31750">
                <a:solidFill>
                  <a:srgbClr val="9933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02" name="Text Box 201">
                <a:extLst>
                  <a:ext uri="{FF2B5EF4-FFF2-40B4-BE49-F238E27FC236}">
                    <a16:creationId xmlns:a16="http://schemas.microsoft.com/office/drawing/2014/main" id="{C61F526F-4F51-463A-BC06-335DCAB1EE0C}"/>
                  </a:ext>
                </a:extLst>
              </p:cNvPr>
              <p:cNvSpPr txBox="1">
                <a:spLocks noChangeArrowheads="1"/>
              </p:cNvSpPr>
              <p:nvPr/>
            </p:nvSpPr>
            <p:spPr bwMode="auto">
              <a:xfrm rot="16200000">
                <a:off x="4386" y="2882"/>
                <a:ext cx="18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auto" hangingPunct="1">
                  <a:spcBef>
                    <a:spcPct val="50000"/>
                  </a:spcBef>
                  <a:spcAft>
                    <a:spcPts val="0"/>
                  </a:spcAft>
                  <a:defRPr/>
                </a:pPr>
                <a:r>
                  <a:rPr kumimoji="0" lang="en-US" altLang="zh-CN" sz="2400" b="1" kern="0" dirty="0">
                    <a:solidFill>
                      <a:srgbClr val="993300"/>
                    </a:solidFill>
                    <a:latin typeface="Arial" panose="020B0604020202020204" pitchFamily="34" charset="0"/>
                    <a:ea typeface="宋体" panose="02010600030101010101" pitchFamily="2" charset="-122"/>
                  </a:rPr>
                  <a:t>Address Out</a:t>
                </a:r>
                <a:endParaRPr kumimoji="0" lang="ru-RU" altLang="zh-CN" sz="2400" b="1" kern="0" dirty="0">
                  <a:solidFill>
                    <a:srgbClr val="993300"/>
                  </a:solidFill>
                  <a:latin typeface="Arial" panose="020B0604020202020204" pitchFamily="34" charset="0"/>
                  <a:ea typeface="+mn-ea"/>
                </a:endParaRPr>
              </a:p>
            </p:txBody>
          </p:sp>
        </p:grpSp>
        <p:grpSp>
          <p:nvGrpSpPr>
            <p:cNvPr id="27660" name="Group 202">
              <a:extLst>
                <a:ext uri="{FF2B5EF4-FFF2-40B4-BE49-F238E27FC236}">
                  <a16:creationId xmlns:a16="http://schemas.microsoft.com/office/drawing/2014/main" id="{7159440D-3992-48B4-B2E6-88FB0319766C}"/>
                </a:ext>
              </a:extLst>
            </p:cNvPr>
            <p:cNvGrpSpPr>
              <a:grpSpLocks/>
            </p:cNvGrpSpPr>
            <p:nvPr/>
          </p:nvGrpSpPr>
          <p:grpSpPr bwMode="auto">
            <a:xfrm>
              <a:off x="1612900" y="4724400"/>
              <a:ext cx="2813050" cy="468313"/>
              <a:chOff x="1016" y="2976"/>
              <a:chExt cx="1772" cy="295"/>
            </a:xfrm>
          </p:grpSpPr>
          <p:sp>
            <p:nvSpPr>
              <p:cNvPr id="204" name="Rectangle 203">
                <a:extLst>
                  <a:ext uri="{FF2B5EF4-FFF2-40B4-BE49-F238E27FC236}">
                    <a16:creationId xmlns:a16="http://schemas.microsoft.com/office/drawing/2014/main" id="{EF6B0BD3-74CE-4860-A360-478DC118BEE8}"/>
                  </a:ext>
                </a:extLst>
              </p:cNvPr>
              <p:cNvSpPr>
                <a:spLocks noChangeAspect="1" noChangeArrowheads="1"/>
              </p:cNvSpPr>
              <p:nvPr/>
            </p:nvSpPr>
            <p:spPr bwMode="auto">
              <a:xfrm>
                <a:off x="2567" y="2976"/>
                <a:ext cx="226"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05" name="Rectangle 204">
                <a:extLst>
                  <a:ext uri="{FF2B5EF4-FFF2-40B4-BE49-F238E27FC236}">
                    <a16:creationId xmlns:a16="http://schemas.microsoft.com/office/drawing/2014/main" id="{B796B5E0-F255-4D4A-8B74-5FE99B27DA40}"/>
                  </a:ext>
                </a:extLst>
              </p:cNvPr>
              <p:cNvSpPr>
                <a:spLocks noChangeAspect="1" noChangeArrowheads="1"/>
              </p:cNvSpPr>
              <p:nvPr/>
            </p:nvSpPr>
            <p:spPr bwMode="auto">
              <a:xfrm>
                <a:off x="2345" y="2976"/>
                <a:ext cx="220"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06" name="Rectangle 205">
                <a:extLst>
                  <a:ext uri="{FF2B5EF4-FFF2-40B4-BE49-F238E27FC236}">
                    <a16:creationId xmlns:a16="http://schemas.microsoft.com/office/drawing/2014/main" id="{9A46F93A-A23D-4D72-A69A-A76237C9079A}"/>
                  </a:ext>
                </a:extLst>
              </p:cNvPr>
              <p:cNvSpPr>
                <a:spLocks noChangeAspect="1" noChangeArrowheads="1"/>
              </p:cNvSpPr>
              <p:nvPr/>
            </p:nvSpPr>
            <p:spPr bwMode="auto">
              <a:xfrm>
                <a:off x="2124" y="2976"/>
                <a:ext cx="226"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07" name="Rectangle 206">
                <a:extLst>
                  <a:ext uri="{FF2B5EF4-FFF2-40B4-BE49-F238E27FC236}">
                    <a16:creationId xmlns:a16="http://schemas.microsoft.com/office/drawing/2014/main" id="{BD1714C3-4E85-4F97-9E8B-98963EA33074}"/>
                  </a:ext>
                </a:extLst>
              </p:cNvPr>
              <p:cNvSpPr>
                <a:spLocks noChangeAspect="1" noChangeArrowheads="1"/>
              </p:cNvSpPr>
              <p:nvPr/>
            </p:nvSpPr>
            <p:spPr bwMode="auto">
              <a:xfrm>
                <a:off x="1901" y="2976"/>
                <a:ext cx="223"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08" name="Rectangle 207">
                <a:extLst>
                  <a:ext uri="{FF2B5EF4-FFF2-40B4-BE49-F238E27FC236}">
                    <a16:creationId xmlns:a16="http://schemas.microsoft.com/office/drawing/2014/main" id="{9EB1C395-6F3E-442F-BD1C-7B1FA054692E}"/>
                  </a:ext>
                </a:extLst>
              </p:cNvPr>
              <p:cNvSpPr>
                <a:spLocks noChangeAspect="1" noChangeArrowheads="1"/>
              </p:cNvSpPr>
              <p:nvPr/>
            </p:nvSpPr>
            <p:spPr bwMode="auto">
              <a:xfrm>
                <a:off x="1681" y="2976"/>
                <a:ext cx="220"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09" name="Rectangle 208">
                <a:extLst>
                  <a:ext uri="{FF2B5EF4-FFF2-40B4-BE49-F238E27FC236}">
                    <a16:creationId xmlns:a16="http://schemas.microsoft.com/office/drawing/2014/main" id="{D2106C0F-37C6-4AEE-B6F1-7B12C725FB44}"/>
                  </a:ext>
                </a:extLst>
              </p:cNvPr>
              <p:cNvSpPr>
                <a:spLocks noChangeAspect="1" noChangeArrowheads="1"/>
              </p:cNvSpPr>
              <p:nvPr/>
            </p:nvSpPr>
            <p:spPr bwMode="auto">
              <a:xfrm>
                <a:off x="1458" y="2976"/>
                <a:ext cx="223"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10" name="Rectangle 209">
                <a:extLst>
                  <a:ext uri="{FF2B5EF4-FFF2-40B4-BE49-F238E27FC236}">
                    <a16:creationId xmlns:a16="http://schemas.microsoft.com/office/drawing/2014/main" id="{F54582EF-DCE5-40BB-89ED-E0655678FEB2}"/>
                  </a:ext>
                </a:extLst>
              </p:cNvPr>
              <p:cNvSpPr>
                <a:spLocks noChangeAspect="1" noChangeArrowheads="1"/>
              </p:cNvSpPr>
              <p:nvPr/>
            </p:nvSpPr>
            <p:spPr bwMode="auto">
              <a:xfrm>
                <a:off x="1236" y="2976"/>
                <a:ext cx="222"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11" name="Rectangle 210">
                <a:extLst>
                  <a:ext uri="{FF2B5EF4-FFF2-40B4-BE49-F238E27FC236}">
                    <a16:creationId xmlns:a16="http://schemas.microsoft.com/office/drawing/2014/main" id="{F8A851C0-97F1-4FEE-92D6-B27FF754770E}"/>
                  </a:ext>
                </a:extLst>
              </p:cNvPr>
              <p:cNvSpPr>
                <a:spLocks noChangeAspect="1" noChangeArrowheads="1"/>
              </p:cNvSpPr>
              <p:nvPr/>
            </p:nvSpPr>
            <p:spPr bwMode="auto">
              <a:xfrm>
                <a:off x="1016" y="2976"/>
                <a:ext cx="220" cy="292"/>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algn="ct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grpSp>
        <p:grpSp>
          <p:nvGrpSpPr>
            <p:cNvPr id="27661" name="Group 211">
              <a:extLst>
                <a:ext uri="{FF2B5EF4-FFF2-40B4-BE49-F238E27FC236}">
                  <a16:creationId xmlns:a16="http://schemas.microsoft.com/office/drawing/2014/main" id="{59044064-153D-42AE-8237-1287162CEC31}"/>
                </a:ext>
              </a:extLst>
            </p:cNvPr>
            <p:cNvGrpSpPr>
              <a:grpSpLocks/>
            </p:cNvGrpSpPr>
            <p:nvPr/>
          </p:nvGrpSpPr>
          <p:grpSpPr bwMode="auto">
            <a:xfrm>
              <a:off x="5213350" y="5121275"/>
              <a:ext cx="2813050" cy="466725"/>
              <a:chOff x="3284" y="3226"/>
              <a:chExt cx="1772" cy="294"/>
            </a:xfrm>
          </p:grpSpPr>
          <p:sp>
            <p:nvSpPr>
              <p:cNvPr id="213" name="Rectangle 212">
                <a:extLst>
                  <a:ext uri="{FF2B5EF4-FFF2-40B4-BE49-F238E27FC236}">
                    <a16:creationId xmlns:a16="http://schemas.microsoft.com/office/drawing/2014/main" id="{C1074B1E-E24A-4A3E-81F8-19ED6EE9886E}"/>
                  </a:ext>
                </a:extLst>
              </p:cNvPr>
              <p:cNvSpPr>
                <a:spLocks noChangeAspect="1" noChangeArrowheads="1"/>
              </p:cNvSpPr>
              <p:nvPr/>
            </p:nvSpPr>
            <p:spPr bwMode="auto">
              <a:xfrm>
                <a:off x="4835" y="3226"/>
                <a:ext cx="226"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14" name="Rectangle 213">
                <a:extLst>
                  <a:ext uri="{FF2B5EF4-FFF2-40B4-BE49-F238E27FC236}">
                    <a16:creationId xmlns:a16="http://schemas.microsoft.com/office/drawing/2014/main" id="{F7898BC9-D450-4793-B6E1-13C900698823}"/>
                  </a:ext>
                </a:extLst>
              </p:cNvPr>
              <p:cNvSpPr>
                <a:spLocks noChangeAspect="1" noChangeArrowheads="1"/>
              </p:cNvSpPr>
              <p:nvPr/>
            </p:nvSpPr>
            <p:spPr bwMode="auto">
              <a:xfrm>
                <a:off x="4613" y="3226"/>
                <a:ext cx="220"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15" name="Rectangle 214">
                <a:extLst>
                  <a:ext uri="{FF2B5EF4-FFF2-40B4-BE49-F238E27FC236}">
                    <a16:creationId xmlns:a16="http://schemas.microsoft.com/office/drawing/2014/main" id="{84843B43-5209-45DC-BC1E-651ED91E3669}"/>
                  </a:ext>
                </a:extLst>
              </p:cNvPr>
              <p:cNvSpPr>
                <a:spLocks noChangeAspect="1" noChangeArrowheads="1"/>
              </p:cNvSpPr>
              <p:nvPr/>
            </p:nvSpPr>
            <p:spPr bwMode="auto">
              <a:xfrm>
                <a:off x="4392" y="3226"/>
                <a:ext cx="226"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16" name="Rectangle 215">
                <a:extLst>
                  <a:ext uri="{FF2B5EF4-FFF2-40B4-BE49-F238E27FC236}">
                    <a16:creationId xmlns:a16="http://schemas.microsoft.com/office/drawing/2014/main" id="{F7618145-5BC5-4D4E-82DB-3682F4E6FD6D}"/>
                  </a:ext>
                </a:extLst>
              </p:cNvPr>
              <p:cNvSpPr>
                <a:spLocks noChangeAspect="1" noChangeArrowheads="1"/>
              </p:cNvSpPr>
              <p:nvPr/>
            </p:nvSpPr>
            <p:spPr bwMode="auto">
              <a:xfrm>
                <a:off x="4169" y="3226"/>
                <a:ext cx="223"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17" name="Rectangle 216">
                <a:extLst>
                  <a:ext uri="{FF2B5EF4-FFF2-40B4-BE49-F238E27FC236}">
                    <a16:creationId xmlns:a16="http://schemas.microsoft.com/office/drawing/2014/main" id="{926C566A-952E-4FD7-8418-E5D4F6A27C6B}"/>
                  </a:ext>
                </a:extLst>
              </p:cNvPr>
              <p:cNvSpPr>
                <a:spLocks noChangeAspect="1" noChangeArrowheads="1"/>
              </p:cNvSpPr>
              <p:nvPr/>
            </p:nvSpPr>
            <p:spPr bwMode="auto">
              <a:xfrm>
                <a:off x="3949" y="3226"/>
                <a:ext cx="220"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18" name="Rectangle 217">
                <a:extLst>
                  <a:ext uri="{FF2B5EF4-FFF2-40B4-BE49-F238E27FC236}">
                    <a16:creationId xmlns:a16="http://schemas.microsoft.com/office/drawing/2014/main" id="{167D61D0-A2EC-4606-8A4F-3892084BFBCF}"/>
                  </a:ext>
                </a:extLst>
              </p:cNvPr>
              <p:cNvSpPr>
                <a:spLocks noChangeAspect="1" noChangeArrowheads="1"/>
              </p:cNvSpPr>
              <p:nvPr/>
            </p:nvSpPr>
            <p:spPr bwMode="auto">
              <a:xfrm>
                <a:off x="3726" y="3226"/>
                <a:ext cx="223"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sp>
            <p:nvSpPr>
              <p:cNvPr id="219" name="Rectangle 218">
                <a:extLst>
                  <a:ext uri="{FF2B5EF4-FFF2-40B4-BE49-F238E27FC236}">
                    <a16:creationId xmlns:a16="http://schemas.microsoft.com/office/drawing/2014/main" id="{4B54C0F4-D65B-4829-90CB-3D482540A37D}"/>
                  </a:ext>
                </a:extLst>
              </p:cNvPr>
              <p:cNvSpPr>
                <a:spLocks noChangeAspect="1" noChangeArrowheads="1"/>
              </p:cNvSpPr>
              <p:nvPr/>
            </p:nvSpPr>
            <p:spPr bwMode="auto">
              <a:xfrm>
                <a:off x="3504" y="3226"/>
                <a:ext cx="222"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0</a:t>
                </a:r>
                <a:endParaRPr kumimoji="0" lang="ru-RU" altLang="zh-CN" sz="2400" b="1" kern="0">
                  <a:solidFill>
                    <a:srgbClr val="000000"/>
                  </a:solidFill>
                  <a:ea typeface="+mn-ea"/>
                </a:endParaRPr>
              </a:p>
            </p:txBody>
          </p:sp>
          <p:sp>
            <p:nvSpPr>
              <p:cNvPr id="220" name="Rectangle 219">
                <a:extLst>
                  <a:ext uri="{FF2B5EF4-FFF2-40B4-BE49-F238E27FC236}">
                    <a16:creationId xmlns:a16="http://schemas.microsoft.com/office/drawing/2014/main" id="{233E865A-6654-44A6-9045-E2706965D8D4}"/>
                  </a:ext>
                </a:extLst>
              </p:cNvPr>
              <p:cNvSpPr>
                <a:spLocks noChangeAspect="1" noChangeArrowheads="1"/>
              </p:cNvSpPr>
              <p:nvPr/>
            </p:nvSpPr>
            <p:spPr bwMode="auto">
              <a:xfrm>
                <a:off x="3284" y="3226"/>
                <a:ext cx="220" cy="294"/>
              </a:xfrm>
              <a:prstGeom prst="rect">
                <a:avLst/>
              </a:prstGeom>
              <a:solidFill>
                <a:srgbClr val="CCCC00"/>
              </a:solidFill>
              <a:ln w="2857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0000"/>
                  <a:buFont typeface="Wingdings" panose="05000000000000000000" pitchFamily="2" charset="2"/>
                  <a:buChar char="o"/>
                  <a:defRPr sz="2800">
                    <a:solidFill>
                      <a:schemeClr val="tx1"/>
                    </a:solidFill>
                    <a:latin typeface="Times New Roman" panose="02020603050405020304" pitchFamily="18" charset="0"/>
                  </a:defRPr>
                </a:lvl1pPr>
                <a:lvl2pPr indent="14288">
                  <a:spcBef>
                    <a:spcPct val="20000"/>
                  </a:spcBef>
                  <a:buClr>
                    <a:schemeClr val="accent2"/>
                  </a:buClr>
                  <a:buSzPct val="75000"/>
                  <a:buFont typeface="Wingdings" panose="05000000000000000000" pitchFamily="2" charset="2"/>
                  <a:buChar char="n"/>
                  <a:defRPr sz="2400">
                    <a:solidFill>
                      <a:schemeClr val="tx1"/>
                    </a:solidFill>
                    <a:latin typeface="Times New Roman" panose="02020603050405020304" pitchFamily="18" charset="0"/>
                  </a:defRPr>
                </a:lvl2pPr>
                <a:lvl3pPr indent="-4763">
                  <a:spcBef>
                    <a:spcPct val="20000"/>
                  </a:spcBef>
                  <a:buClr>
                    <a:schemeClr val="bg2"/>
                  </a:buClr>
                  <a:buSzPct val="65000"/>
                  <a:buFont typeface="Wingdings" panose="05000000000000000000" pitchFamily="2" charset="2"/>
                  <a:buChar char="o"/>
                  <a:defRPr sz="2000">
                    <a:solidFill>
                      <a:schemeClr val="tx1"/>
                    </a:solidFill>
                    <a:latin typeface="Times New Roman" panose="02020603050405020304" pitchFamily="18" charset="0"/>
                  </a:defRPr>
                </a:lvl3pPr>
                <a:lvl4pPr indent="17463">
                  <a:spcBef>
                    <a:spcPct val="20000"/>
                  </a:spcBef>
                  <a:buClr>
                    <a:schemeClr val="accent2"/>
                  </a:buClr>
                  <a:buSzPct val="75000"/>
                  <a:buFont typeface="Wingdings" panose="05000000000000000000" pitchFamily="2" charset="2"/>
                  <a:buChar char="n"/>
                  <a:defRPr>
                    <a:solidFill>
                      <a:schemeClr val="tx1"/>
                    </a:solidFill>
                    <a:latin typeface="Times New Roman" panose="02020603050405020304" pitchFamily="18" charset="0"/>
                  </a:defRPr>
                </a:lvl4pPr>
                <a:lvl5pPr>
                  <a:spcBef>
                    <a:spcPct val="20000"/>
                  </a:spcBef>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buChar char="o"/>
                  <a:defRPr>
                    <a:solidFill>
                      <a:schemeClr val="tx1"/>
                    </a:solidFill>
                    <a:latin typeface="Times New Roman" panose="02020603050405020304" pitchFamily="18" charset="0"/>
                  </a:defRPr>
                </a:lvl9pPr>
              </a:lstStyle>
              <a:p>
                <a:pPr eaLnBrk="1" fontAlgn="auto" hangingPunct="1">
                  <a:spcAft>
                    <a:spcPts val="0"/>
                  </a:spcAft>
                  <a:buClr>
                    <a:srgbClr val="660000"/>
                  </a:buClr>
                  <a:buFont typeface="Wingdings" panose="05000000000000000000" pitchFamily="2" charset="2"/>
                  <a:buNone/>
                  <a:defRPr/>
                </a:pPr>
                <a:r>
                  <a:rPr kumimoji="0" lang="en-US" altLang="zh-CN" sz="2400" b="1" kern="0">
                    <a:solidFill>
                      <a:srgbClr val="000000"/>
                    </a:solidFill>
                    <a:ea typeface="宋体" panose="02010600030101010101" pitchFamily="2" charset="-122"/>
                  </a:rPr>
                  <a:t>1</a:t>
                </a:r>
                <a:endParaRPr kumimoji="0" lang="ru-RU" altLang="zh-CN" sz="2400" b="1" kern="0">
                  <a:solidFill>
                    <a:srgbClr val="000000"/>
                  </a:solidFill>
                  <a:ea typeface="+mn-ea"/>
                </a:endParaRPr>
              </a:p>
            </p:txBody>
          </p:sp>
        </p:grpSp>
      </p:grpSp>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53D994-1609-4BDB-B111-4AC0C8253F92}"/>
              </a:ext>
            </a:extLst>
          </p:cNvPr>
          <p:cNvSpPr>
            <a:spLocks noGrp="1"/>
          </p:cNvSpPr>
          <p:nvPr>
            <p:ph type="title"/>
          </p:nvPr>
        </p:nvSpPr>
        <p:spPr/>
        <p:txBody>
          <a:bodyPr/>
          <a:lstStyle/>
          <a:p>
            <a:pPr>
              <a:defRPr/>
            </a:pPr>
            <a:r>
              <a:rPr lang="zh-CN" altLang="en-US"/>
              <a:t>简化的</a:t>
            </a:r>
            <a:r>
              <a:rPr lang="en-US" altLang="zh-CN"/>
              <a:t>CAM</a:t>
            </a:r>
            <a:r>
              <a:rPr lang="zh-CN" altLang="en-US"/>
              <a:t>功能框图</a:t>
            </a:r>
          </a:p>
        </p:txBody>
      </p:sp>
      <p:sp>
        <p:nvSpPr>
          <p:cNvPr id="29699" name="内容占位符 2">
            <a:extLst>
              <a:ext uri="{FF2B5EF4-FFF2-40B4-BE49-F238E27FC236}">
                <a16:creationId xmlns:a16="http://schemas.microsoft.com/office/drawing/2014/main" id="{E32479A8-14BD-4EF8-84F3-D26C103E9369}"/>
              </a:ext>
            </a:extLst>
          </p:cNvPr>
          <p:cNvSpPr>
            <a:spLocks noGrp="1" noChangeArrowheads="1"/>
          </p:cNvSpPr>
          <p:nvPr>
            <p:ph idx="1"/>
          </p:nvPr>
        </p:nvSpPr>
        <p:spPr/>
        <p:txBody>
          <a:bodyPr/>
          <a:lstStyle/>
          <a:p>
            <a:r>
              <a:rPr lang="en-US" altLang="zh-CN" sz="2400"/>
              <a:t>Search Word</a:t>
            </a:r>
            <a:r>
              <a:rPr lang="zh-CN" altLang="en-US" sz="2400"/>
              <a:t>：输入检索字</a:t>
            </a:r>
            <a:endParaRPr lang="en-US" altLang="zh-CN" sz="2400"/>
          </a:p>
          <a:p>
            <a:r>
              <a:rPr lang="zh-CN" altLang="en-US" sz="2400"/>
              <a:t>检索字在</a:t>
            </a:r>
            <a:r>
              <a:rPr lang="en-US" altLang="zh-CN" sz="2400"/>
              <a:t>search lines</a:t>
            </a:r>
            <a:r>
              <a:rPr lang="zh-CN" altLang="en-US" sz="2400"/>
              <a:t>上广播</a:t>
            </a:r>
            <a:endParaRPr lang="en-US" altLang="zh-CN" sz="2400"/>
          </a:p>
          <a:p>
            <a:r>
              <a:rPr lang="en-US" altLang="zh-CN" sz="2400"/>
              <a:t>Match line</a:t>
            </a:r>
            <a:r>
              <a:rPr lang="zh-CN" altLang="en-US" sz="2400"/>
              <a:t>：检索字与存储字是否匹配</a:t>
            </a:r>
            <a:endParaRPr lang="en-US" altLang="zh-CN" sz="2400"/>
          </a:p>
          <a:p>
            <a:r>
              <a:rPr lang="en-US" altLang="zh-CN" sz="2400"/>
              <a:t>Encoder</a:t>
            </a:r>
            <a:r>
              <a:rPr lang="zh-CN" altLang="en-US" sz="2400"/>
              <a:t>输出匹配位置</a:t>
            </a:r>
          </a:p>
        </p:txBody>
      </p:sp>
      <p:pic>
        <p:nvPicPr>
          <p:cNvPr id="29701" name="Picture 4">
            <a:extLst>
              <a:ext uri="{FF2B5EF4-FFF2-40B4-BE49-F238E27FC236}">
                <a16:creationId xmlns:a16="http://schemas.microsoft.com/office/drawing/2014/main" id="{A26FDB6C-B4E9-41C8-B5D4-27BAC7D74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511" t="10320" r="3006" b="6126"/>
          <a:stretch>
            <a:fillRect/>
          </a:stretch>
        </p:blipFill>
        <p:spPr bwMode="auto">
          <a:xfrm>
            <a:off x="1427163" y="2874963"/>
            <a:ext cx="6705600" cy="33115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233A66-3693-4004-BB99-0B546EADDE3F}"/>
              </a:ext>
            </a:extLst>
          </p:cNvPr>
          <p:cNvSpPr>
            <a:spLocks noGrp="1"/>
          </p:cNvSpPr>
          <p:nvPr>
            <p:ph type="title"/>
          </p:nvPr>
        </p:nvSpPr>
        <p:spPr/>
        <p:txBody>
          <a:bodyPr/>
          <a:lstStyle/>
          <a:p>
            <a:pPr>
              <a:defRPr/>
            </a:pPr>
            <a:r>
              <a:rPr lang="zh-CN" altLang="en-US"/>
              <a:t>二进制</a:t>
            </a:r>
            <a:r>
              <a:rPr lang="en-US" altLang="zh-CN"/>
              <a:t>CAM</a:t>
            </a:r>
            <a:r>
              <a:rPr lang="zh-CN" altLang="en-US"/>
              <a:t>单元</a:t>
            </a:r>
          </a:p>
        </p:txBody>
      </p:sp>
      <p:sp>
        <p:nvSpPr>
          <p:cNvPr id="3" name="内容占位符 2">
            <a:extLst>
              <a:ext uri="{FF2B5EF4-FFF2-40B4-BE49-F238E27FC236}">
                <a16:creationId xmlns:a16="http://schemas.microsoft.com/office/drawing/2014/main" id="{03C73B52-9F4D-4DF6-BCE3-7CD7D9517571}"/>
              </a:ext>
            </a:extLst>
          </p:cNvPr>
          <p:cNvSpPr>
            <a:spLocks noGrp="1"/>
          </p:cNvSpPr>
          <p:nvPr>
            <p:ph idx="1"/>
          </p:nvPr>
        </p:nvSpPr>
        <p:spPr>
          <a:xfrm>
            <a:off x="179388" y="1066800"/>
            <a:ext cx="2543175" cy="5314950"/>
          </a:xfrm>
        </p:spPr>
        <p:txBody>
          <a:bodyPr/>
          <a:lstStyle/>
          <a:p>
            <a:pPr marL="0" indent="0">
              <a:buFont typeface="Wingdings 2" panose="05020102010507070707" pitchFamily="18" charset="2"/>
              <a:buNone/>
              <a:defRPr/>
            </a:pPr>
            <a:r>
              <a:rPr lang="en-US" altLang="zh-CN" sz="2000" dirty="0"/>
              <a:t>SL</a:t>
            </a:r>
            <a:r>
              <a:rPr lang="zh-CN" altLang="en-US" sz="2000" dirty="0"/>
              <a:t>：</a:t>
            </a:r>
            <a:r>
              <a:rPr lang="en-US" altLang="zh-CN" sz="2000" dirty="0"/>
              <a:t>search line</a:t>
            </a:r>
          </a:p>
          <a:p>
            <a:pPr marL="0" indent="0">
              <a:buFont typeface="Wingdings 2" panose="05020102010507070707" pitchFamily="18" charset="2"/>
              <a:buNone/>
              <a:defRPr/>
            </a:pPr>
            <a:r>
              <a:rPr lang="en-US" altLang="zh-CN" sz="2000" dirty="0"/>
              <a:t>BL</a:t>
            </a:r>
            <a:r>
              <a:rPr lang="zh-CN" altLang="en-US" sz="2000" dirty="0"/>
              <a:t>：</a:t>
            </a:r>
            <a:r>
              <a:rPr lang="en-US" altLang="zh-CN" sz="2000" dirty="0"/>
              <a:t>bit line</a:t>
            </a:r>
          </a:p>
          <a:p>
            <a:pPr marL="0" indent="0">
              <a:buFont typeface="Wingdings 2" panose="05020102010507070707" pitchFamily="18" charset="2"/>
              <a:buNone/>
              <a:defRPr/>
            </a:pPr>
            <a:r>
              <a:rPr lang="en-US" altLang="zh-CN" sz="2000" dirty="0"/>
              <a:t>WL</a:t>
            </a:r>
            <a:r>
              <a:rPr lang="zh-CN" altLang="en-US" sz="2000" dirty="0"/>
              <a:t>：</a:t>
            </a:r>
            <a:r>
              <a:rPr lang="en-US" altLang="zh-CN" sz="2000" dirty="0"/>
              <a:t>word line</a:t>
            </a:r>
          </a:p>
          <a:p>
            <a:pPr marL="0" indent="0">
              <a:buFont typeface="Wingdings 2" panose="05020102010507070707" pitchFamily="18" charset="2"/>
              <a:buNone/>
              <a:defRPr/>
            </a:pPr>
            <a:r>
              <a:rPr lang="en-US" altLang="zh-CN" sz="2000" dirty="0"/>
              <a:t>ML</a:t>
            </a:r>
            <a:r>
              <a:rPr lang="zh-CN" altLang="en-US" sz="2000" dirty="0"/>
              <a:t>：</a:t>
            </a:r>
            <a:r>
              <a:rPr lang="en-US" altLang="zh-CN" sz="2000" dirty="0"/>
              <a:t>match line</a:t>
            </a:r>
          </a:p>
          <a:p>
            <a:pPr marL="0" indent="0">
              <a:buFont typeface="Wingdings 2" panose="05020102010507070707" pitchFamily="18" charset="2"/>
              <a:buNone/>
              <a:defRPr/>
            </a:pPr>
            <a:r>
              <a:rPr lang="en-US" altLang="zh-CN" sz="2000" dirty="0"/>
              <a:t>ML pre-charged to VDD</a:t>
            </a:r>
          </a:p>
          <a:p>
            <a:pPr marL="0" indent="0">
              <a:buFont typeface="Wingdings 2" panose="05020102010507070707" pitchFamily="18" charset="2"/>
              <a:buNone/>
              <a:defRPr/>
            </a:pPr>
            <a:r>
              <a:rPr lang="en-US" altLang="zh-CN" sz="2000" dirty="0"/>
              <a:t>Match: ML remains at VDD</a:t>
            </a:r>
          </a:p>
          <a:p>
            <a:pPr marL="0" indent="0">
              <a:buFont typeface="Wingdings 2" panose="05020102010507070707" pitchFamily="18" charset="2"/>
              <a:buNone/>
              <a:defRPr/>
            </a:pPr>
            <a:r>
              <a:rPr lang="en-US" altLang="zh-CN" sz="2000" dirty="0"/>
              <a:t>Mismatch: ML discharges</a:t>
            </a:r>
          </a:p>
          <a:p>
            <a:pPr>
              <a:defRPr/>
            </a:pPr>
            <a:endParaRPr lang="zh-CN" altLang="en-US" sz="2400" dirty="0"/>
          </a:p>
        </p:txBody>
      </p:sp>
      <p:grpSp>
        <p:nvGrpSpPr>
          <p:cNvPr id="30725" name="Group 5">
            <a:extLst>
              <a:ext uri="{FF2B5EF4-FFF2-40B4-BE49-F238E27FC236}">
                <a16:creationId xmlns:a16="http://schemas.microsoft.com/office/drawing/2014/main" id="{8865DFF0-8D3C-43FF-A7FF-47B966EF2387}"/>
              </a:ext>
            </a:extLst>
          </p:cNvPr>
          <p:cNvGrpSpPr>
            <a:grpSpLocks/>
          </p:cNvGrpSpPr>
          <p:nvPr/>
        </p:nvGrpSpPr>
        <p:grpSpPr bwMode="auto">
          <a:xfrm>
            <a:off x="3300413" y="2400300"/>
            <a:ext cx="381000" cy="1185863"/>
            <a:chOff x="1066" y="2296"/>
            <a:chExt cx="240" cy="747"/>
          </a:xfrm>
        </p:grpSpPr>
        <p:grpSp>
          <p:nvGrpSpPr>
            <p:cNvPr id="31026" name="Group 6">
              <a:extLst>
                <a:ext uri="{FF2B5EF4-FFF2-40B4-BE49-F238E27FC236}">
                  <a16:creationId xmlns:a16="http://schemas.microsoft.com/office/drawing/2014/main" id="{F3F68386-D888-4F7C-AC50-C2A21C17FEF2}"/>
                </a:ext>
              </a:extLst>
            </p:cNvPr>
            <p:cNvGrpSpPr>
              <a:grpSpLocks/>
            </p:cNvGrpSpPr>
            <p:nvPr/>
          </p:nvGrpSpPr>
          <p:grpSpPr bwMode="auto">
            <a:xfrm>
              <a:off x="1066" y="2296"/>
              <a:ext cx="240" cy="384"/>
              <a:chOff x="960" y="768"/>
              <a:chExt cx="240" cy="384"/>
            </a:xfrm>
          </p:grpSpPr>
          <p:sp>
            <p:nvSpPr>
              <p:cNvPr id="294" name="Line 7">
                <a:extLst>
                  <a:ext uri="{FF2B5EF4-FFF2-40B4-BE49-F238E27FC236}">
                    <a16:creationId xmlns:a16="http://schemas.microsoft.com/office/drawing/2014/main" id="{2E85C8DD-2ED7-401E-AAED-5C7B7CAC63AF}"/>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5" name="Line 8">
                <a:extLst>
                  <a:ext uri="{FF2B5EF4-FFF2-40B4-BE49-F238E27FC236}">
                    <a16:creationId xmlns:a16="http://schemas.microsoft.com/office/drawing/2014/main" id="{040B3834-EBBF-4FE6-BC33-3FB760A167E7}"/>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6" name="Line 9">
                <a:extLst>
                  <a:ext uri="{FF2B5EF4-FFF2-40B4-BE49-F238E27FC236}">
                    <a16:creationId xmlns:a16="http://schemas.microsoft.com/office/drawing/2014/main" id="{D055B0E5-BAB4-421D-A0A3-48F94153206D}"/>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7" name="Line 10">
                <a:extLst>
                  <a:ext uri="{FF2B5EF4-FFF2-40B4-BE49-F238E27FC236}">
                    <a16:creationId xmlns:a16="http://schemas.microsoft.com/office/drawing/2014/main" id="{C7160B22-2501-4FB0-B1B0-88BB534BED59}"/>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8" name="Line 11">
                <a:extLst>
                  <a:ext uri="{FF2B5EF4-FFF2-40B4-BE49-F238E27FC236}">
                    <a16:creationId xmlns:a16="http://schemas.microsoft.com/office/drawing/2014/main" id="{89D94D3E-6D4A-4260-B0BF-4818BD94010C}"/>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9" name="Line 12">
                <a:extLst>
                  <a:ext uri="{FF2B5EF4-FFF2-40B4-BE49-F238E27FC236}">
                    <a16:creationId xmlns:a16="http://schemas.microsoft.com/office/drawing/2014/main" id="{1B01A94F-E7F1-4DF2-825C-4FFC58B1D7CC}"/>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00" name="Line 13">
                <a:extLst>
                  <a:ext uri="{FF2B5EF4-FFF2-40B4-BE49-F238E27FC236}">
                    <a16:creationId xmlns:a16="http://schemas.microsoft.com/office/drawing/2014/main" id="{9E9A843D-2EF1-46F2-A317-D23DBA885D76}"/>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1027" name="Group 14">
              <a:extLst>
                <a:ext uri="{FF2B5EF4-FFF2-40B4-BE49-F238E27FC236}">
                  <a16:creationId xmlns:a16="http://schemas.microsoft.com/office/drawing/2014/main" id="{AF0C86FE-692F-48CD-90FD-9ECC30DB8930}"/>
                </a:ext>
              </a:extLst>
            </p:cNvPr>
            <p:cNvGrpSpPr>
              <a:grpSpLocks/>
            </p:cNvGrpSpPr>
            <p:nvPr/>
          </p:nvGrpSpPr>
          <p:grpSpPr bwMode="auto">
            <a:xfrm>
              <a:off x="1066" y="2659"/>
              <a:ext cx="240" cy="384"/>
              <a:chOff x="960" y="768"/>
              <a:chExt cx="240" cy="384"/>
            </a:xfrm>
          </p:grpSpPr>
          <p:sp>
            <p:nvSpPr>
              <p:cNvPr id="287" name="Line 15">
                <a:extLst>
                  <a:ext uri="{FF2B5EF4-FFF2-40B4-BE49-F238E27FC236}">
                    <a16:creationId xmlns:a16="http://schemas.microsoft.com/office/drawing/2014/main" id="{78B94208-D5A5-4E8A-8631-29B4D336DEF3}"/>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88" name="Line 16">
                <a:extLst>
                  <a:ext uri="{FF2B5EF4-FFF2-40B4-BE49-F238E27FC236}">
                    <a16:creationId xmlns:a16="http://schemas.microsoft.com/office/drawing/2014/main" id="{068ACFBF-C448-4C74-8EF9-73EB320C58E7}"/>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89" name="Line 17">
                <a:extLst>
                  <a:ext uri="{FF2B5EF4-FFF2-40B4-BE49-F238E27FC236}">
                    <a16:creationId xmlns:a16="http://schemas.microsoft.com/office/drawing/2014/main" id="{A659FB16-A1FD-482C-8C9D-6463045D5E50}"/>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0" name="Line 18">
                <a:extLst>
                  <a:ext uri="{FF2B5EF4-FFF2-40B4-BE49-F238E27FC236}">
                    <a16:creationId xmlns:a16="http://schemas.microsoft.com/office/drawing/2014/main" id="{71A63E12-F18D-49CB-9474-5309FEEEAE7F}"/>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1" name="Line 19">
                <a:extLst>
                  <a:ext uri="{FF2B5EF4-FFF2-40B4-BE49-F238E27FC236}">
                    <a16:creationId xmlns:a16="http://schemas.microsoft.com/office/drawing/2014/main" id="{02C4A9C5-2056-41A8-8AD3-7DB903EF9046}"/>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2" name="Line 20">
                <a:extLst>
                  <a:ext uri="{FF2B5EF4-FFF2-40B4-BE49-F238E27FC236}">
                    <a16:creationId xmlns:a16="http://schemas.microsoft.com/office/drawing/2014/main" id="{D72BE103-0F9E-4B80-9602-EA48A95CD240}"/>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93" name="Line 21">
                <a:extLst>
                  <a:ext uri="{FF2B5EF4-FFF2-40B4-BE49-F238E27FC236}">
                    <a16:creationId xmlns:a16="http://schemas.microsoft.com/office/drawing/2014/main" id="{849090C5-2647-48A8-B657-7F417C881B1B}"/>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726" name="Group 22">
            <a:extLst>
              <a:ext uri="{FF2B5EF4-FFF2-40B4-BE49-F238E27FC236}">
                <a16:creationId xmlns:a16="http://schemas.microsoft.com/office/drawing/2014/main" id="{AD646A0E-326D-4402-909F-0B11542DCF63}"/>
              </a:ext>
            </a:extLst>
          </p:cNvPr>
          <p:cNvGrpSpPr>
            <a:grpSpLocks/>
          </p:cNvGrpSpPr>
          <p:nvPr/>
        </p:nvGrpSpPr>
        <p:grpSpPr bwMode="auto">
          <a:xfrm flipH="1">
            <a:off x="3935413" y="2400300"/>
            <a:ext cx="381000" cy="1185863"/>
            <a:chOff x="1066" y="2296"/>
            <a:chExt cx="240" cy="747"/>
          </a:xfrm>
        </p:grpSpPr>
        <p:grpSp>
          <p:nvGrpSpPr>
            <p:cNvPr id="31010" name="Group 23">
              <a:extLst>
                <a:ext uri="{FF2B5EF4-FFF2-40B4-BE49-F238E27FC236}">
                  <a16:creationId xmlns:a16="http://schemas.microsoft.com/office/drawing/2014/main" id="{04E663F2-A07A-4247-B2DA-D24A0D10F35D}"/>
                </a:ext>
              </a:extLst>
            </p:cNvPr>
            <p:cNvGrpSpPr>
              <a:grpSpLocks/>
            </p:cNvGrpSpPr>
            <p:nvPr/>
          </p:nvGrpSpPr>
          <p:grpSpPr bwMode="auto">
            <a:xfrm>
              <a:off x="1066" y="2296"/>
              <a:ext cx="240" cy="384"/>
              <a:chOff x="960" y="768"/>
              <a:chExt cx="240" cy="384"/>
            </a:xfrm>
          </p:grpSpPr>
          <p:sp>
            <p:nvSpPr>
              <p:cNvPr id="278" name="Line 24">
                <a:extLst>
                  <a:ext uri="{FF2B5EF4-FFF2-40B4-BE49-F238E27FC236}">
                    <a16:creationId xmlns:a16="http://schemas.microsoft.com/office/drawing/2014/main" id="{B0C9219C-2E16-4A92-9910-5B379E5C32B9}"/>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79" name="Line 25">
                <a:extLst>
                  <a:ext uri="{FF2B5EF4-FFF2-40B4-BE49-F238E27FC236}">
                    <a16:creationId xmlns:a16="http://schemas.microsoft.com/office/drawing/2014/main" id="{06BB1F72-0C09-4BAA-B9C9-DF62C21ECD1D}"/>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80" name="Line 26">
                <a:extLst>
                  <a:ext uri="{FF2B5EF4-FFF2-40B4-BE49-F238E27FC236}">
                    <a16:creationId xmlns:a16="http://schemas.microsoft.com/office/drawing/2014/main" id="{15AAC829-57E1-4151-8A6C-6701180F3049}"/>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81" name="Line 27">
                <a:extLst>
                  <a:ext uri="{FF2B5EF4-FFF2-40B4-BE49-F238E27FC236}">
                    <a16:creationId xmlns:a16="http://schemas.microsoft.com/office/drawing/2014/main" id="{7D684BB2-9DF3-4779-9BEB-5D3C2BEE18CC}"/>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82" name="Line 28">
                <a:extLst>
                  <a:ext uri="{FF2B5EF4-FFF2-40B4-BE49-F238E27FC236}">
                    <a16:creationId xmlns:a16="http://schemas.microsoft.com/office/drawing/2014/main" id="{B266A3A9-E37A-4C46-803F-BF0BF1FECFB4}"/>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83" name="Line 29">
                <a:extLst>
                  <a:ext uri="{FF2B5EF4-FFF2-40B4-BE49-F238E27FC236}">
                    <a16:creationId xmlns:a16="http://schemas.microsoft.com/office/drawing/2014/main" id="{8F50FBF4-F1D5-4D88-996E-B729BFAD2CAA}"/>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84" name="Line 30">
                <a:extLst>
                  <a:ext uri="{FF2B5EF4-FFF2-40B4-BE49-F238E27FC236}">
                    <a16:creationId xmlns:a16="http://schemas.microsoft.com/office/drawing/2014/main" id="{F32E6772-409A-47A2-B8CB-6AD13063255F}"/>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1011" name="Group 31">
              <a:extLst>
                <a:ext uri="{FF2B5EF4-FFF2-40B4-BE49-F238E27FC236}">
                  <a16:creationId xmlns:a16="http://schemas.microsoft.com/office/drawing/2014/main" id="{E15A947A-ACE8-48A9-A623-A0312A6E62D0}"/>
                </a:ext>
              </a:extLst>
            </p:cNvPr>
            <p:cNvGrpSpPr>
              <a:grpSpLocks/>
            </p:cNvGrpSpPr>
            <p:nvPr/>
          </p:nvGrpSpPr>
          <p:grpSpPr bwMode="auto">
            <a:xfrm>
              <a:off x="1066" y="2659"/>
              <a:ext cx="240" cy="384"/>
              <a:chOff x="960" y="768"/>
              <a:chExt cx="240" cy="384"/>
            </a:xfrm>
          </p:grpSpPr>
          <p:sp>
            <p:nvSpPr>
              <p:cNvPr id="271" name="Line 32">
                <a:extLst>
                  <a:ext uri="{FF2B5EF4-FFF2-40B4-BE49-F238E27FC236}">
                    <a16:creationId xmlns:a16="http://schemas.microsoft.com/office/drawing/2014/main" id="{E471CDFE-D17E-47D5-A933-92E26AE31C01}"/>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72" name="Line 33">
                <a:extLst>
                  <a:ext uri="{FF2B5EF4-FFF2-40B4-BE49-F238E27FC236}">
                    <a16:creationId xmlns:a16="http://schemas.microsoft.com/office/drawing/2014/main" id="{05268464-72C1-4A3A-89EE-47CA7A7EC775}"/>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73" name="Line 34">
                <a:extLst>
                  <a:ext uri="{FF2B5EF4-FFF2-40B4-BE49-F238E27FC236}">
                    <a16:creationId xmlns:a16="http://schemas.microsoft.com/office/drawing/2014/main" id="{E7413C8C-DCD2-41A7-BA16-824D1C0A4D9C}"/>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74" name="Line 35">
                <a:extLst>
                  <a:ext uri="{FF2B5EF4-FFF2-40B4-BE49-F238E27FC236}">
                    <a16:creationId xmlns:a16="http://schemas.microsoft.com/office/drawing/2014/main" id="{A6DAF619-8CEC-45DD-B6D2-7FEC4DACC111}"/>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75" name="Line 36">
                <a:extLst>
                  <a:ext uri="{FF2B5EF4-FFF2-40B4-BE49-F238E27FC236}">
                    <a16:creationId xmlns:a16="http://schemas.microsoft.com/office/drawing/2014/main" id="{5587ED16-9C27-4DBC-A116-AD6339BD4DB9}"/>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76" name="Line 37">
                <a:extLst>
                  <a:ext uri="{FF2B5EF4-FFF2-40B4-BE49-F238E27FC236}">
                    <a16:creationId xmlns:a16="http://schemas.microsoft.com/office/drawing/2014/main" id="{2B9363DB-5744-4781-B079-336D7CF06A1C}"/>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77" name="Line 38">
                <a:extLst>
                  <a:ext uri="{FF2B5EF4-FFF2-40B4-BE49-F238E27FC236}">
                    <a16:creationId xmlns:a16="http://schemas.microsoft.com/office/drawing/2014/main" id="{C9D1E88C-35DF-40BB-B743-5C16BB3FBB9D}"/>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727" name="Group 39">
            <a:extLst>
              <a:ext uri="{FF2B5EF4-FFF2-40B4-BE49-F238E27FC236}">
                <a16:creationId xmlns:a16="http://schemas.microsoft.com/office/drawing/2014/main" id="{57E2441A-74AA-4331-9ED0-8B8F658D9F80}"/>
              </a:ext>
            </a:extLst>
          </p:cNvPr>
          <p:cNvGrpSpPr>
            <a:grpSpLocks/>
          </p:cNvGrpSpPr>
          <p:nvPr/>
        </p:nvGrpSpPr>
        <p:grpSpPr bwMode="auto">
          <a:xfrm>
            <a:off x="3646488" y="3840163"/>
            <a:ext cx="304800" cy="152400"/>
            <a:chOff x="4032" y="624"/>
            <a:chExt cx="192" cy="96"/>
          </a:xfrm>
        </p:grpSpPr>
        <p:sp>
          <p:nvSpPr>
            <p:cNvPr id="266" name="Line 40">
              <a:extLst>
                <a:ext uri="{FF2B5EF4-FFF2-40B4-BE49-F238E27FC236}">
                  <a16:creationId xmlns:a16="http://schemas.microsoft.com/office/drawing/2014/main" id="{6F292D12-8F96-45B8-BB1D-DF3DE5E9A88A}"/>
                </a:ext>
              </a:extLst>
            </p:cNvPr>
            <p:cNvSpPr>
              <a:spLocks noChangeShapeType="1"/>
            </p:cNvSpPr>
            <p:nvPr/>
          </p:nvSpPr>
          <p:spPr bwMode="auto">
            <a:xfrm>
              <a:off x="4032" y="624"/>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7" name="Line 41">
              <a:extLst>
                <a:ext uri="{FF2B5EF4-FFF2-40B4-BE49-F238E27FC236}">
                  <a16:creationId xmlns:a16="http://schemas.microsoft.com/office/drawing/2014/main" id="{B5BF335E-82CB-4B78-B17D-1708B7F161A2}"/>
                </a:ext>
              </a:extLst>
            </p:cNvPr>
            <p:cNvSpPr>
              <a:spLocks noChangeShapeType="1"/>
            </p:cNvSpPr>
            <p:nvPr/>
          </p:nvSpPr>
          <p:spPr bwMode="auto">
            <a:xfrm>
              <a:off x="4080" y="672"/>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8" name="Line 42">
              <a:extLst>
                <a:ext uri="{FF2B5EF4-FFF2-40B4-BE49-F238E27FC236}">
                  <a16:creationId xmlns:a16="http://schemas.microsoft.com/office/drawing/2014/main" id="{23072BE1-98E8-4F72-90F6-E0A8B6C7E2FB}"/>
                </a:ext>
              </a:extLst>
            </p:cNvPr>
            <p:cNvSpPr>
              <a:spLocks noChangeShapeType="1"/>
            </p:cNvSpPr>
            <p:nvPr/>
          </p:nvSpPr>
          <p:spPr bwMode="auto">
            <a:xfrm>
              <a:off x="4080" y="72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cxnSp>
        <p:nvCxnSpPr>
          <p:cNvPr id="30728" name="AutoShape 43">
            <a:extLst>
              <a:ext uri="{FF2B5EF4-FFF2-40B4-BE49-F238E27FC236}">
                <a16:creationId xmlns:a16="http://schemas.microsoft.com/office/drawing/2014/main" id="{ADC43AD8-53F0-48A2-A8FD-D969E4A64CDF}"/>
              </a:ext>
            </a:extLst>
          </p:cNvPr>
          <p:cNvCxnSpPr>
            <a:cxnSpLocks noChangeShapeType="1"/>
            <a:stCxn id="298" idx="0"/>
          </p:cNvCxnSpPr>
          <p:nvPr/>
        </p:nvCxnSpPr>
        <p:spPr bwMode="auto">
          <a:xfrm rot="5400000" flipH="1">
            <a:off x="2673351" y="2078037"/>
            <a:ext cx="881062" cy="373063"/>
          </a:xfrm>
          <a:prstGeom prst="bentConnector3">
            <a:avLst>
              <a:gd name="adj1" fmla="val -5"/>
            </a:avLst>
          </a:prstGeom>
          <a:noFill/>
          <a:ln w="38100">
            <a:solidFill>
              <a:srgbClr val="0000CC"/>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29" name="AutoShape 44">
            <a:extLst>
              <a:ext uri="{FF2B5EF4-FFF2-40B4-BE49-F238E27FC236}">
                <a16:creationId xmlns:a16="http://schemas.microsoft.com/office/drawing/2014/main" id="{FF2307FE-A550-47E9-AE02-5EBCB19100F1}"/>
              </a:ext>
            </a:extLst>
          </p:cNvPr>
          <p:cNvCxnSpPr>
            <a:cxnSpLocks noChangeShapeType="1"/>
            <a:stCxn id="282" idx="1"/>
          </p:cNvCxnSpPr>
          <p:nvPr/>
        </p:nvCxnSpPr>
        <p:spPr bwMode="auto">
          <a:xfrm rot="5400000" flipH="1" flipV="1">
            <a:off x="4040188" y="1947863"/>
            <a:ext cx="882650" cy="635000"/>
          </a:xfrm>
          <a:prstGeom prst="bentConnector3">
            <a:avLst>
              <a:gd name="adj1" fmla="val 176"/>
            </a:avLst>
          </a:prstGeom>
          <a:noFill/>
          <a:ln w="381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730" name="Group 45">
            <a:extLst>
              <a:ext uri="{FF2B5EF4-FFF2-40B4-BE49-F238E27FC236}">
                <a16:creationId xmlns:a16="http://schemas.microsoft.com/office/drawing/2014/main" id="{FEEC665E-3170-420F-B93A-26CD94700089}"/>
              </a:ext>
            </a:extLst>
          </p:cNvPr>
          <p:cNvGrpSpPr>
            <a:grpSpLocks/>
          </p:cNvGrpSpPr>
          <p:nvPr/>
        </p:nvGrpSpPr>
        <p:grpSpPr bwMode="auto">
          <a:xfrm rot="-5400000">
            <a:off x="2393950" y="4589463"/>
            <a:ext cx="381000" cy="609600"/>
            <a:chOff x="960" y="768"/>
            <a:chExt cx="240" cy="384"/>
          </a:xfrm>
        </p:grpSpPr>
        <p:sp>
          <p:nvSpPr>
            <p:cNvPr id="259" name="Line 46">
              <a:extLst>
                <a:ext uri="{FF2B5EF4-FFF2-40B4-BE49-F238E27FC236}">
                  <a16:creationId xmlns:a16="http://schemas.microsoft.com/office/drawing/2014/main" id="{10AE8D05-EA0B-49FA-A8D8-0B061218DADE}"/>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0" name="Line 47">
              <a:extLst>
                <a:ext uri="{FF2B5EF4-FFF2-40B4-BE49-F238E27FC236}">
                  <a16:creationId xmlns:a16="http://schemas.microsoft.com/office/drawing/2014/main" id="{D4E49099-0213-49A0-9B86-C644A2340FED}"/>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1" name="Line 48">
              <a:extLst>
                <a:ext uri="{FF2B5EF4-FFF2-40B4-BE49-F238E27FC236}">
                  <a16:creationId xmlns:a16="http://schemas.microsoft.com/office/drawing/2014/main" id="{E3A0633F-8F15-47EA-A8DD-957E967FE547}"/>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2" name="Line 49">
              <a:extLst>
                <a:ext uri="{FF2B5EF4-FFF2-40B4-BE49-F238E27FC236}">
                  <a16:creationId xmlns:a16="http://schemas.microsoft.com/office/drawing/2014/main" id="{519D1D72-B271-460B-AA0A-A0122474A7A2}"/>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3" name="Line 50">
              <a:extLst>
                <a:ext uri="{FF2B5EF4-FFF2-40B4-BE49-F238E27FC236}">
                  <a16:creationId xmlns:a16="http://schemas.microsoft.com/office/drawing/2014/main" id="{820E364C-23B9-4331-974A-0BFB5CB61875}"/>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4" name="Line 51">
              <a:extLst>
                <a:ext uri="{FF2B5EF4-FFF2-40B4-BE49-F238E27FC236}">
                  <a16:creationId xmlns:a16="http://schemas.microsoft.com/office/drawing/2014/main" id="{D3F3B10F-64F3-4B6D-845C-C7610A9CBA17}"/>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65" name="Line 52">
              <a:extLst>
                <a:ext uri="{FF2B5EF4-FFF2-40B4-BE49-F238E27FC236}">
                  <a16:creationId xmlns:a16="http://schemas.microsoft.com/office/drawing/2014/main" id="{5CE22B40-B481-4552-BAEB-24A83D4FDA18}"/>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731" name="Group 53">
            <a:extLst>
              <a:ext uri="{FF2B5EF4-FFF2-40B4-BE49-F238E27FC236}">
                <a16:creationId xmlns:a16="http://schemas.microsoft.com/office/drawing/2014/main" id="{98598C6A-34F4-47D1-9F46-18A4D2860DA9}"/>
              </a:ext>
            </a:extLst>
          </p:cNvPr>
          <p:cNvGrpSpPr>
            <a:grpSpLocks/>
          </p:cNvGrpSpPr>
          <p:nvPr/>
        </p:nvGrpSpPr>
        <p:grpSpPr bwMode="auto">
          <a:xfrm rot="-5400000">
            <a:off x="4986338" y="4446588"/>
            <a:ext cx="381000" cy="609600"/>
            <a:chOff x="960" y="768"/>
            <a:chExt cx="240" cy="384"/>
          </a:xfrm>
        </p:grpSpPr>
        <p:sp>
          <p:nvSpPr>
            <p:cNvPr id="252" name="Line 54">
              <a:extLst>
                <a:ext uri="{FF2B5EF4-FFF2-40B4-BE49-F238E27FC236}">
                  <a16:creationId xmlns:a16="http://schemas.microsoft.com/office/drawing/2014/main" id="{ABD0E22F-8E53-4261-813D-1B9F875FA8E6}"/>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3" name="Line 55">
              <a:extLst>
                <a:ext uri="{FF2B5EF4-FFF2-40B4-BE49-F238E27FC236}">
                  <a16:creationId xmlns:a16="http://schemas.microsoft.com/office/drawing/2014/main" id="{F00144C4-4A22-4DCA-B9B9-60DB49D6D37F}"/>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4" name="Line 56">
              <a:extLst>
                <a:ext uri="{FF2B5EF4-FFF2-40B4-BE49-F238E27FC236}">
                  <a16:creationId xmlns:a16="http://schemas.microsoft.com/office/drawing/2014/main" id="{6B20C950-E1B1-4E72-BE86-0B16679844A7}"/>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5" name="Line 57">
              <a:extLst>
                <a:ext uri="{FF2B5EF4-FFF2-40B4-BE49-F238E27FC236}">
                  <a16:creationId xmlns:a16="http://schemas.microsoft.com/office/drawing/2014/main" id="{C3EEBA53-C099-4CA8-8858-55DBA11E37EE}"/>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6" name="Line 58">
              <a:extLst>
                <a:ext uri="{FF2B5EF4-FFF2-40B4-BE49-F238E27FC236}">
                  <a16:creationId xmlns:a16="http://schemas.microsoft.com/office/drawing/2014/main" id="{A5164B56-956E-4DCA-A801-A1FB554F6C15}"/>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7" name="Line 59">
              <a:extLst>
                <a:ext uri="{FF2B5EF4-FFF2-40B4-BE49-F238E27FC236}">
                  <a16:creationId xmlns:a16="http://schemas.microsoft.com/office/drawing/2014/main" id="{B7189950-DC73-40D9-AF5F-2C2E0FB2786A}"/>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8" name="Line 60">
              <a:extLst>
                <a:ext uri="{FF2B5EF4-FFF2-40B4-BE49-F238E27FC236}">
                  <a16:creationId xmlns:a16="http://schemas.microsoft.com/office/drawing/2014/main" id="{E63B5768-469D-4BA6-848D-2D8DAFEC7252}"/>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161" name="Line 61">
            <a:extLst>
              <a:ext uri="{FF2B5EF4-FFF2-40B4-BE49-F238E27FC236}">
                <a16:creationId xmlns:a16="http://schemas.microsoft.com/office/drawing/2014/main" id="{4EA52D55-314D-4B92-B8A7-81757627B1D4}"/>
              </a:ext>
            </a:extLst>
          </p:cNvPr>
          <p:cNvSpPr>
            <a:spLocks noChangeShapeType="1"/>
          </p:cNvSpPr>
          <p:nvPr/>
        </p:nvSpPr>
        <p:spPr bwMode="auto">
          <a:xfrm>
            <a:off x="2279650" y="4559300"/>
            <a:ext cx="0" cy="38100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2" name="Line 62">
            <a:extLst>
              <a:ext uri="{FF2B5EF4-FFF2-40B4-BE49-F238E27FC236}">
                <a16:creationId xmlns:a16="http://schemas.microsoft.com/office/drawing/2014/main" id="{21BD8697-B161-4F5A-ADB4-412B86884ABC}"/>
              </a:ext>
            </a:extLst>
          </p:cNvPr>
          <p:cNvSpPr>
            <a:spLocks noChangeShapeType="1"/>
          </p:cNvSpPr>
          <p:nvPr/>
        </p:nvSpPr>
        <p:spPr bwMode="auto">
          <a:xfrm>
            <a:off x="5480050" y="4405313"/>
            <a:ext cx="0" cy="38100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63" name="Text Box 63">
            <a:extLst>
              <a:ext uri="{FF2B5EF4-FFF2-40B4-BE49-F238E27FC236}">
                <a16:creationId xmlns:a16="http://schemas.microsoft.com/office/drawing/2014/main" id="{686A3AC2-0C32-43FD-A541-1F0D1D91A0E9}"/>
              </a:ext>
            </a:extLst>
          </p:cNvPr>
          <p:cNvSpPr txBox="1">
            <a:spLocks noChangeArrowheads="1"/>
          </p:cNvSpPr>
          <p:nvPr/>
        </p:nvSpPr>
        <p:spPr bwMode="auto">
          <a:xfrm>
            <a:off x="5226050" y="4849813"/>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BL1</a:t>
            </a:r>
            <a:endParaRPr kumimoji="0" lang="en-CA" altLang="zh-CN" sz="1200" kern="0" dirty="0">
              <a:solidFill>
                <a:srgbClr val="000000"/>
              </a:solidFill>
              <a:latin typeface="Arial" panose="020B0604020202020204" pitchFamily="34" charset="0"/>
              <a:ea typeface="+mn-ea"/>
            </a:endParaRPr>
          </a:p>
        </p:txBody>
      </p:sp>
      <p:sp>
        <p:nvSpPr>
          <p:cNvPr id="164" name="Text Box 64">
            <a:extLst>
              <a:ext uri="{FF2B5EF4-FFF2-40B4-BE49-F238E27FC236}">
                <a16:creationId xmlns:a16="http://schemas.microsoft.com/office/drawing/2014/main" id="{57272794-815D-4189-8166-130EB21078E5}"/>
              </a:ext>
            </a:extLst>
          </p:cNvPr>
          <p:cNvSpPr txBox="1">
            <a:spLocks noChangeArrowheads="1"/>
          </p:cNvSpPr>
          <p:nvPr/>
        </p:nvSpPr>
        <p:spPr bwMode="auto">
          <a:xfrm>
            <a:off x="2057400" y="4992688"/>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BL1</a:t>
            </a:r>
            <a:endParaRPr kumimoji="0" lang="en-CA" altLang="zh-CN" sz="1200" kern="0">
              <a:solidFill>
                <a:srgbClr val="000000"/>
              </a:solidFill>
              <a:latin typeface="Arial" panose="020B0604020202020204" pitchFamily="34" charset="0"/>
              <a:ea typeface="+mn-ea"/>
            </a:endParaRPr>
          </a:p>
        </p:txBody>
      </p:sp>
      <p:sp>
        <p:nvSpPr>
          <p:cNvPr id="165" name="Text Box 65">
            <a:extLst>
              <a:ext uri="{FF2B5EF4-FFF2-40B4-BE49-F238E27FC236}">
                <a16:creationId xmlns:a16="http://schemas.microsoft.com/office/drawing/2014/main" id="{2C5FDB1B-1087-4ED9-885C-B17FD2C72CC4}"/>
              </a:ext>
            </a:extLst>
          </p:cNvPr>
          <p:cNvSpPr txBox="1">
            <a:spLocks noChangeArrowheads="1"/>
          </p:cNvSpPr>
          <p:nvPr/>
        </p:nvSpPr>
        <p:spPr bwMode="auto">
          <a:xfrm>
            <a:off x="3690938" y="5721350"/>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WL</a:t>
            </a:r>
            <a:endParaRPr kumimoji="0" lang="en-CA" altLang="zh-CN" sz="1200" kern="0" dirty="0">
              <a:solidFill>
                <a:srgbClr val="000000"/>
              </a:solidFill>
              <a:latin typeface="Arial" panose="020B0604020202020204" pitchFamily="34" charset="0"/>
              <a:ea typeface="+mn-ea"/>
            </a:endParaRPr>
          </a:p>
        </p:txBody>
      </p:sp>
      <p:sp>
        <p:nvSpPr>
          <p:cNvPr id="166" name="Text Box 66">
            <a:extLst>
              <a:ext uri="{FF2B5EF4-FFF2-40B4-BE49-F238E27FC236}">
                <a16:creationId xmlns:a16="http://schemas.microsoft.com/office/drawing/2014/main" id="{E6FEBD9A-7270-4187-BD6E-520E3E2EF409}"/>
              </a:ext>
            </a:extLst>
          </p:cNvPr>
          <p:cNvSpPr txBox="1">
            <a:spLocks noChangeArrowheads="1"/>
          </p:cNvSpPr>
          <p:nvPr/>
        </p:nvSpPr>
        <p:spPr bwMode="auto">
          <a:xfrm>
            <a:off x="2711450" y="1536700"/>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SL1</a:t>
            </a:r>
            <a:endParaRPr kumimoji="0" lang="en-CA" altLang="zh-CN" sz="1200" kern="0" dirty="0">
              <a:solidFill>
                <a:srgbClr val="000000"/>
              </a:solidFill>
              <a:latin typeface="Arial" panose="020B0604020202020204" pitchFamily="34" charset="0"/>
              <a:ea typeface="+mn-ea"/>
            </a:endParaRPr>
          </a:p>
        </p:txBody>
      </p:sp>
      <p:sp>
        <p:nvSpPr>
          <p:cNvPr id="167" name="Text Box 67">
            <a:extLst>
              <a:ext uri="{FF2B5EF4-FFF2-40B4-BE49-F238E27FC236}">
                <a16:creationId xmlns:a16="http://schemas.microsoft.com/office/drawing/2014/main" id="{F17BE5DD-F4AA-41EC-A65E-9DF096F6C4FC}"/>
              </a:ext>
            </a:extLst>
          </p:cNvPr>
          <p:cNvSpPr txBox="1">
            <a:spLocks noChangeArrowheads="1"/>
          </p:cNvSpPr>
          <p:nvPr/>
        </p:nvSpPr>
        <p:spPr bwMode="auto">
          <a:xfrm>
            <a:off x="4583113" y="1536700"/>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SL1</a:t>
            </a:r>
            <a:endParaRPr kumimoji="0" lang="en-CA" altLang="zh-CN" sz="1200" kern="0">
              <a:solidFill>
                <a:srgbClr val="000000"/>
              </a:solidFill>
              <a:latin typeface="Arial" panose="020B0604020202020204" pitchFamily="34" charset="0"/>
              <a:ea typeface="+mn-ea"/>
            </a:endParaRPr>
          </a:p>
        </p:txBody>
      </p:sp>
      <p:sp>
        <p:nvSpPr>
          <p:cNvPr id="168" name="Text Box 68">
            <a:extLst>
              <a:ext uri="{FF2B5EF4-FFF2-40B4-BE49-F238E27FC236}">
                <a16:creationId xmlns:a16="http://schemas.microsoft.com/office/drawing/2014/main" id="{FD419B38-1B48-4E9D-8A87-B7092C499468}"/>
              </a:ext>
            </a:extLst>
          </p:cNvPr>
          <p:cNvSpPr txBox="1">
            <a:spLocks noChangeArrowheads="1"/>
          </p:cNvSpPr>
          <p:nvPr/>
        </p:nvSpPr>
        <p:spPr bwMode="auto">
          <a:xfrm>
            <a:off x="3616325" y="1831975"/>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ML</a:t>
            </a:r>
            <a:endParaRPr kumimoji="0" lang="en-CA" altLang="zh-CN" sz="1200" kern="0" dirty="0">
              <a:solidFill>
                <a:srgbClr val="000000"/>
              </a:solidFill>
              <a:latin typeface="Arial" panose="020B0604020202020204" pitchFamily="34" charset="0"/>
              <a:ea typeface="+mn-ea"/>
            </a:endParaRPr>
          </a:p>
        </p:txBody>
      </p:sp>
      <p:sp>
        <p:nvSpPr>
          <p:cNvPr id="169" name="Line 69">
            <a:extLst>
              <a:ext uri="{FF2B5EF4-FFF2-40B4-BE49-F238E27FC236}">
                <a16:creationId xmlns:a16="http://schemas.microsoft.com/office/drawing/2014/main" id="{B6B21415-8CBE-4339-A311-14CE04BAF902}"/>
              </a:ext>
            </a:extLst>
          </p:cNvPr>
          <p:cNvSpPr>
            <a:spLocks noChangeShapeType="1"/>
          </p:cNvSpPr>
          <p:nvPr/>
        </p:nvSpPr>
        <p:spPr bwMode="auto">
          <a:xfrm>
            <a:off x="3681413" y="3587750"/>
            <a:ext cx="25241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0" name="Line 70">
            <a:extLst>
              <a:ext uri="{FF2B5EF4-FFF2-40B4-BE49-F238E27FC236}">
                <a16:creationId xmlns:a16="http://schemas.microsoft.com/office/drawing/2014/main" id="{4F92D792-98FD-483B-B657-428C920749D4}"/>
              </a:ext>
            </a:extLst>
          </p:cNvPr>
          <p:cNvSpPr>
            <a:spLocks noChangeShapeType="1"/>
          </p:cNvSpPr>
          <p:nvPr/>
        </p:nvSpPr>
        <p:spPr bwMode="auto">
          <a:xfrm>
            <a:off x="3790950" y="3587750"/>
            <a:ext cx="0" cy="25241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1" name="Line 71">
            <a:extLst>
              <a:ext uri="{FF2B5EF4-FFF2-40B4-BE49-F238E27FC236}">
                <a16:creationId xmlns:a16="http://schemas.microsoft.com/office/drawing/2014/main" id="{5F5110B0-C3E6-4B87-98B6-215706708EF5}"/>
              </a:ext>
            </a:extLst>
          </p:cNvPr>
          <p:cNvSpPr>
            <a:spLocks noChangeShapeType="1"/>
          </p:cNvSpPr>
          <p:nvPr/>
        </p:nvSpPr>
        <p:spPr bwMode="auto">
          <a:xfrm>
            <a:off x="3681413" y="2400300"/>
            <a:ext cx="25241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2" name="Line 72">
            <a:extLst>
              <a:ext uri="{FF2B5EF4-FFF2-40B4-BE49-F238E27FC236}">
                <a16:creationId xmlns:a16="http://schemas.microsoft.com/office/drawing/2014/main" id="{52DAAB1B-2EEF-49C4-AF52-2D9A6829D075}"/>
              </a:ext>
            </a:extLst>
          </p:cNvPr>
          <p:cNvSpPr>
            <a:spLocks noChangeShapeType="1"/>
          </p:cNvSpPr>
          <p:nvPr/>
        </p:nvSpPr>
        <p:spPr bwMode="auto">
          <a:xfrm>
            <a:off x="3790950" y="2147888"/>
            <a:ext cx="0" cy="25241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3" name="Line 73">
            <a:extLst>
              <a:ext uri="{FF2B5EF4-FFF2-40B4-BE49-F238E27FC236}">
                <a16:creationId xmlns:a16="http://schemas.microsoft.com/office/drawing/2014/main" id="{7E643A2C-4CB3-44FC-8AFC-57B144BDFF5C}"/>
              </a:ext>
            </a:extLst>
          </p:cNvPr>
          <p:cNvSpPr>
            <a:spLocks noChangeShapeType="1"/>
          </p:cNvSpPr>
          <p:nvPr/>
        </p:nvSpPr>
        <p:spPr bwMode="auto">
          <a:xfrm>
            <a:off x="2513013" y="2147888"/>
            <a:ext cx="271303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745" name="Group 74">
            <a:extLst>
              <a:ext uri="{FF2B5EF4-FFF2-40B4-BE49-F238E27FC236}">
                <a16:creationId xmlns:a16="http://schemas.microsoft.com/office/drawing/2014/main" id="{2DFE7875-95A1-45AE-9017-CE348D5B8F1C}"/>
              </a:ext>
            </a:extLst>
          </p:cNvPr>
          <p:cNvGrpSpPr>
            <a:grpSpLocks/>
          </p:cNvGrpSpPr>
          <p:nvPr/>
        </p:nvGrpSpPr>
        <p:grpSpPr bwMode="auto">
          <a:xfrm>
            <a:off x="3143250" y="4056063"/>
            <a:ext cx="569913" cy="1331912"/>
            <a:chOff x="4128" y="2205"/>
            <a:chExt cx="359" cy="839"/>
          </a:xfrm>
        </p:grpSpPr>
        <p:grpSp>
          <p:nvGrpSpPr>
            <p:cNvPr id="30967" name="Group 75">
              <a:extLst>
                <a:ext uri="{FF2B5EF4-FFF2-40B4-BE49-F238E27FC236}">
                  <a16:creationId xmlns:a16="http://schemas.microsoft.com/office/drawing/2014/main" id="{8B8E0859-FF6B-448E-A436-FC7AE3B2A7E3}"/>
                </a:ext>
              </a:extLst>
            </p:cNvPr>
            <p:cNvGrpSpPr>
              <a:grpSpLocks/>
            </p:cNvGrpSpPr>
            <p:nvPr/>
          </p:nvGrpSpPr>
          <p:grpSpPr bwMode="auto">
            <a:xfrm>
              <a:off x="4195" y="2205"/>
              <a:ext cx="288" cy="384"/>
              <a:chOff x="1344" y="768"/>
              <a:chExt cx="288" cy="384"/>
            </a:xfrm>
          </p:grpSpPr>
          <p:sp>
            <p:nvSpPr>
              <p:cNvPr id="243" name="Line 76">
                <a:extLst>
                  <a:ext uri="{FF2B5EF4-FFF2-40B4-BE49-F238E27FC236}">
                    <a16:creationId xmlns:a16="http://schemas.microsoft.com/office/drawing/2014/main" id="{DC18C873-3359-40B0-8DA5-DE2236808C47}"/>
                  </a:ext>
                </a:extLst>
              </p:cNvPr>
              <p:cNvSpPr>
                <a:spLocks noChangeShapeType="1"/>
              </p:cNvSpPr>
              <p:nvPr/>
            </p:nvSpPr>
            <p:spPr bwMode="auto">
              <a:xfrm>
                <a:off x="1536"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985" name="Group 77">
                <a:extLst>
                  <a:ext uri="{FF2B5EF4-FFF2-40B4-BE49-F238E27FC236}">
                    <a16:creationId xmlns:a16="http://schemas.microsoft.com/office/drawing/2014/main" id="{7741FCC5-07EF-4E4C-A9E4-3AE18B21B4C9}"/>
                  </a:ext>
                </a:extLst>
              </p:cNvPr>
              <p:cNvGrpSpPr>
                <a:grpSpLocks/>
              </p:cNvGrpSpPr>
              <p:nvPr/>
            </p:nvGrpSpPr>
            <p:grpSpPr bwMode="auto">
              <a:xfrm>
                <a:off x="1344" y="768"/>
                <a:ext cx="192" cy="384"/>
                <a:chOff x="1344" y="768"/>
                <a:chExt cx="192" cy="384"/>
              </a:xfrm>
            </p:grpSpPr>
            <p:sp>
              <p:nvSpPr>
                <p:cNvPr id="245" name="Line 78">
                  <a:extLst>
                    <a:ext uri="{FF2B5EF4-FFF2-40B4-BE49-F238E27FC236}">
                      <a16:creationId xmlns:a16="http://schemas.microsoft.com/office/drawing/2014/main" id="{13F0DCBB-877F-4A3E-A068-1C77E9C2B03E}"/>
                    </a:ext>
                  </a:extLst>
                </p:cNvPr>
                <p:cNvSpPr>
                  <a:spLocks noChangeShapeType="1"/>
                </p:cNvSpPr>
                <p:nvPr/>
              </p:nvSpPr>
              <p:spPr bwMode="auto">
                <a:xfrm>
                  <a:off x="1440"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46" name="Line 79">
                  <a:extLst>
                    <a:ext uri="{FF2B5EF4-FFF2-40B4-BE49-F238E27FC236}">
                      <a16:creationId xmlns:a16="http://schemas.microsoft.com/office/drawing/2014/main" id="{F2A078B8-8FF0-401A-B431-04AA4468551A}"/>
                    </a:ext>
                  </a:extLst>
                </p:cNvPr>
                <p:cNvSpPr>
                  <a:spLocks noChangeShapeType="1"/>
                </p:cNvSpPr>
                <p:nvPr/>
              </p:nvSpPr>
              <p:spPr bwMode="auto">
                <a:xfrm>
                  <a:off x="1488"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47" name="Line 80">
                  <a:extLst>
                    <a:ext uri="{FF2B5EF4-FFF2-40B4-BE49-F238E27FC236}">
                      <a16:creationId xmlns:a16="http://schemas.microsoft.com/office/drawing/2014/main" id="{31211254-159A-4C3D-BF5D-916879063B8B}"/>
                    </a:ext>
                  </a:extLst>
                </p:cNvPr>
                <p:cNvSpPr>
                  <a:spLocks noChangeShapeType="1"/>
                </p:cNvSpPr>
                <p:nvPr/>
              </p:nvSpPr>
              <p:spPr bwMode="auto">
                <a:xfrm>
                  <a:off x="134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48" name="Line 81">
                  <a:extLst>
                    <a:ext uri="{FF2B5EF4-FFF2-40B4-BE49-F238E27FC236}">
                      <a16:creationId xmlns:a16="http://schemas.microsoft.com/office/drawing/2014/main" id="{60C5F957-89B0-4290-AB98-FCBE505ECDC7}"/>
                    </a:ext>
                  </a:extLst>
                </p:cNvPr>
                <p:cNvSpPr>
                  <a:spLocks noChangeShapeType="1"/>
                </p:cNvSpPr>
                <p:nvPr/>
              </p:nvSpPr>
              <p:spPr bwMode="auto">
                <a:xfrm>
                  <a:off x="134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49" name="Line 82">
                  <a:extLst>
                    <a:ext uri="{FF2B5EF4-FFF2-40B4-BE49-F238E27FC236}">
                      <a16:creationId xmlns:a16="http://schemas.microsoft.com/office/drawing/2014/main" id="{63C62EF3-02B4-4CC3-9BD2-3FF6DAF41787}"/>
                    </a:ext>
                  </a:extLst>
                </p:cNvPr>
                <p:cNvSpPr>
                  <a:spLocks noChangeShapeType="1"/>
                </p:cNvSpPr>
                <p:nvPr/>
              </p:nvSpPr>
              <p:spPr bwMode="auto">
                <a:xfrm>
                  <a:off x="1344"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0" name="Line 83">
                  <a:extLst>
                    <a:ext uri="{FF2B5EF4-FFF2-40B4-BE49-F238E27FC236}">
                      <a16:creationId xmlns:a16="http://schemas.microsoft.com/office/drawing/2014/main" id="{2E422C29-F988-4A1B-B55F-5462E5573EAB}"/>
                    </a:ext>
                  </a:extLst>
                </p:cNvPr>
                <p:cNvSpPr>
                  <a:spLocks noChangeShapeType="1"/>
                </p:cNvSpPr>
                <p:nvPr/>
              </p:nvSpPr>
              <p:spPr bwMode="auto">
                <a:xfrm>
                  <a:off x="1344"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51" name="Oval 84">
                  <a:extLst>
                    <a:ext uri="{FF2B5EF4-FFF2-40B4-BE49-F238E27FC236}">
                      <a16:creationId xmlns:a16="http://schemas.microsoft.com/office/drawing/2014/main" id="{2E4860F2-3DB8-415C-A17E-6D61B45D261A}"/>
                    </a:ext>
                  </a:extLst>
                </p:cNvPr>
                <p:cNvSpPr>
                  <a:spLocks noChangeArrowheads="1"/>
                </p:cNvSpPr>
                <p:nvPr/>
              </p:nvSpPr>
              <p:spPr bwMode="auto">
                <a:xfrm>
                  <a:off x="1488" y="927"/>
                  <a:ext cx="48" cy="48"/>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968" name="Group 85">
              <a:extLst>
                <a:ext uri="{FF2B5EF4-FFF2-40B4-BE49-F238E27FC236}">
                  <a16:creationId xmlns:a16="http://schemas.microsoft.com/office/drawing/2014/main" id="{1184DCE5-FDBA-4F1F-8986-6D8B2E9F8E9F}"/>
                </a:ext>
              </a:extLst>
            </p:cNvPr>
            <p:cNvGrpSpPr>
              <a:grpSpLocks/>
            </p:cNvGrpSpPr>
            <p:nvPr/>
          </p:nvGrpSpPr>
          <p:grpSpPr bwMode="auto">
            <a:xfrm flipH="1">
              <a:off x="4195" y="2568"/>
              <a:ext cx="240" cy="384"/>
              <a:chOff x="960" y="768"/>
              <a:chExt cx="240" cy="384"/>
            </a:xfrm>
          </p:grpSpPr>
          <p:sp>
            <p:nvSpPr>
              <p:cNvPr id="236" name="Line 86">
                <a:extLst>
                  <a:ext uri="{FF2B5EF4-FFF2-40B4-BE49-F238E27FC236}">
                    <a16:creationId xmlns:a16="http://schemas.microsoft.com/office/drawing/2014/main" id="{649BDFA3-76FB-4B44-9FA9-DDDF04A2EC4E}"/>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37" name="Line 87">
                <a:extLst>
                  <a:ext uri="{FF2B5EF4-FFF2-40B4-BE49-F238E27FC236}">
                    <a16:creationId xmlns:a16="http://schemas.microsoft.com/office/drawing/2014/main" id="{44B3AFDB-6D01-4347-91C2-0C648096B994}"/>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38" name="Line 88">
                <a:extLst>
                  <a:ext uri="{FF2B5EF4-FFF2-40B4-BE49-F238E27FC236}">
                    <a16:creationId xmlns:a16="http://schemas.microsoft.com/office/drawing/2014/main" id="{AA675522-41F4-4365-B53C-75C300C4CDF5}"/>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39" name="Line 89">
                <a:extLst>
                  <a:ext uri="{FF2B5EF4-FFF2-40B4-BE49-F238E27FC236}">
                    <a16:creationId xmlns:a16="http://schemas.microsoft.com/office/drawing/2014/main" id="{709ACF62-000E-4E4F-8278-C6EC12F4978E}"/>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40" name="Line 90">
                <a:extLst>
                  <a:ext uri="{FF2B5EF4-FFF2-40B4-BE49-F238E27FC236}">
                    <a16:creationId xmlns:a16="http://schemas.microsoft.com/office/drawing/2014/main" id="{22A8C362-8678-402B-8AA0-C36205469F3A}"/>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41" name="Line 91">
                <a:extLst>
                  <a:ext uri="{FF2B5EF4-FFF2-40B4-BE49-F238E27FC236}">
                    <a16:creationId xmlns:a16="http://schemas.microsoft.com/office/drawing/2014/main" id="{E7DCEDFD-06AD-46C4-B612-FCC523E185D5}"/>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42" name="Line 92">
                <a:extLst>
                  <a:ext uri="{FF2B5EF4-FFF2-40B4-BE49-F238E27FC236}">
                    <a16:creationId xmlns:a16="http://schemas.microsoft.com/office/drawing/2014/main" id="{46BC8046-A6BF-4306-A91A-43DD0E21B9A2}"/>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969" name="Group 93">
              <a:extLst>
                <a:ext uri="{FF2B5EF4-FFF2-40B4-BE49-F238E27FC236}">
                  <a16:creationId xmlns:a16="http://schemas.microsoft.com/office/drawing/2014/main" id="{90068A7E-BCCE-47C9-A035-3324CCF08FB2}"/>
                </a:ext>
              </a:extLst>
            </p:cNvPr>
            <p:cNvGrpSpPr>
              <a:grpSpLocks/>
            </p:cNvGrpSpPr>
            <p:nvPr/>
          </p:nvGrpSpPr>
          <p:grpSpPr bwMode="auto">
            <a:xfrm>
              <a:off x="4441" y="2398"/>
              <a:ext cx="46" cy="363"/>
              <a:chOff x="4422" y="2387"/>
              <a:chExt cx="46" cy="363"/>
            </a:xfrm>
          </p:grpSpPr>
          <p:sp>
            <p:nvSpPr>
              <p:cNvPr id="234" name="Line 94">
                <a:extLst>
                  <a:ext uri="{FF2B5EF4-FFF2-40B4-BE49-F238E27FC236}">
                    <a16:creationId xmlns:a16="http://schemas.microsoft.com/office/drawing/2014/main" id="{F2D8039F-E8AE-45DE-82EC-3288D3018703}"/>
                  </a:ext>
                </a:extLst>
              </p:cNvPr>
              <p:cNvSpPr>
                <a:spLocks noChangeShapeType="1"/>
              </p:cNvSpPr>
              <p:nvPr/>
            </p:nvSpPr>
            <p:spPr bwMode="auto">
              <a:xfrm flipH="1" flipV="1">
                <a:off x="4468" y="2387"/>
                <a:ext cx="0" cy="36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35" name="Line 95">
                <a:extLst>
                  <a:ext uri="{FF2B5EF4-FFF2-40B4-BE49-F238E27FC236}">
                    <a16:creationId xmlns:a16="http://schemas.microsoft.com/office/drawing/2014/main" id="{F3E73EB6-6026-4431-A748-474E079560C4}"/>
                  </a:ext>
                </a:extLst>
              </p:cNvPr>
              <p:cNvSpPr>
                <a:spLocks noChangeShapeType="1"/>
              </p:cNvSpPr>
              <p:nvPr/>
            </p:nvSpPr>
            <p:spPr bwMode="auto">
              <a:xfrm flipH="1">
                <a:off x="4422" y="2750"/>
                <a:ext cx="4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229" name="Line 96">
              <a:extLst>
                <a:ext uri="{FF2B5EF4-FFF2-40B4-BE49-F238E27FC236}">
                  <a16:creationId xmlns:a16="http://schemas.microsoft.com/office/drawing/2014/main" id="{80198C25-9A1A-4EE5-A368-A6372BA99784}"/>
                </a:ext>
              </a:extLst>
            </p:cNvPr>
            <p:cNvSpPr>
              <a:spLocks noChangeShapeType="1"/>
            </p:cNvSpPr>
            <p:nvPr/>
          </p:nvSpPr>
          <p:spPr bwMode="auto">
            <a:xfrm flipH="1">
              <a:off x="4146" y="2205"/>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971" name="Group 97">
              <a:extLst>
                <a:ext uri="{FF2B5EF4-FFF2-40B4-BE49-F238E27FC236}">
                  <a16:creationId xmlns:a16="http://schemas.microsoft.com/office/drawing/2014/main" id="{C13CB75A-820A-4B77-9D40-F76EAA311038}"/>
                </a:ext>
              </a:extLst>
            </p:cNvPr>
            <p:cNvGrpSpPr>
              <a:grpSpLocks/>
            </p:cNvGrpSpPr>
            <p:nvPr/>
          </p:nvGrpSpPr>
          <p:grpSpPr bwMode="auto">
            <a:xfrm flipH="1">
              <a:off x="4128" y="2953"/>
              <a:ext cx="136" cy="91"/>
              <a:chOff x="4059" y="2523"/>
              <a:chExt cx="136" cy="91"/>
            </a:xfrm>
          </p:grpSpPr>
          <p:sp>
            <p:nvSpPr>
              <p:cNvPr id="231" name="Line 98">
                <a:extLst>
                  <a:ext uri="{FF2B5EF4-FFF2-40B4-BE49-F238E27FC236}">
                    <a16:creationId xmlns:a16="http://schemas.microsoft.com/office/drawing/2014/main" id="{927CAEC6-D9ED-4B20-9B5D-687F3143CBEF}"/>
                  </a:ext>
                </a:extLst>
              </p:cNvPr>
              <p:cNvSpPr>
                <a:spLocks noChangeShapeType="1"/>
              </p:cNvSpPr>
              <p:nvPr/>
            </p:nvSpPr>
            <p:spPr bwMode="auto">
              <a:xfrm>
                <a:off x="4059" y="2523"/>
                <a:ext cx="13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32" name="Line 99">
                <a:extLst>
                  <a:ext uri="{FF2B5EF4-FFF2-40B4-BE49-F238E27FC236}">
                    <a16:creationId xmlns:a16="http://schemas.microsoft.com/office/drawing/2014/main" id="{8CEE8416-50A5-4102-9220-872B96ACC25C}"/>
                  </a:ext>
                </a:extLst>
              </p:cNvPr>
              <p:cNvSpPr>
                <a:spLocks noChangeShapeType="1"/>
              </p:cNvSpPr>
              <p:nvPr/>
            </p:nvSpPr>
            <p:spPr bwMode="auto">
              <a:xfrm>
                <a:off x="4082" y="2568"/>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33" name="Line 100">
                <a:extLst>
                  <a:ext uri="{FF2B5EF4-FFF2-40B4-BE49-F238E27FC236}">
                    <a16:creationId xmlns:a16="http://schemas.microsoft.com/office/drawing/2014/main" id="{10982924-53D3-45C5-83AA-9E165782CA4A}"/>
                  </a:ext>
                </a:extLst>
              </p:cNvPr>
              <p:cNvSpPr>
                <a:spLocks noChangeShapeType="1"/>
              </p:cNvSpPr>
              <p:nvPr/>
            </p:nvSpPr>
            <p:spPr bwMode="auto">
              <a:xfrm>
                <a:off x="4105" y="2614"/>
                <a:ext cx="4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sp>
        <p:nvSpPr>
          <p:cNvPr id="175" name="Line 101">
            <a:extLst>
              <a:ext uri="{FF2B5EF4-FFF2-40B4-BE49-F238E27FC236}">
                <a16:creationId xmlns:a16="http://schemas.microsoft.com/office/drawing/2014/main" id="{86E23476-4A4F-45CE-8470-01662AB7BC97}"/>
              </a:ext>
            </a:extLst>
          </p:cNvPr>
          <p:cNvSpPr>
            <a:spLocks noChangeShapeType="1"/>
          </p:cNvSpPr>
          <p:nvPr/>
        </p:nvSpPr>
        <p:spPr bwMode="auto">
          <a:xfrm>
            <a:off x="3251200" y="4592638"/>
            <a:ext cx="75565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6" name="Line 102">
            <a:extLst>
              <a:ext uri="{FF2B5EF4-FFF2-40B4-BE49-F238E27FC236}">
                <a16:creationId xmlns:a16="http://schemas.microsoft.com/office/drawing/2014/main" id="{D4BF15F0-1B47-45EA-AB56-AEC5ED20E995}"/>
              </a:ext>
            </a:extLst>
          </p:cNvPr>
          <p:cNvSpPr>
            <a:spLocks noChangeShapeType="1"/>
          </p:cNvSpPr>
          <p:nvPr/>
        </p:nvSpPr>
        <p:spPr bwMode="auto">
          <a:xfrm>
            <a:off x="3719513" y="4703763"/>
            <a:ext cx="75565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7" name="Line 103">
            <a:extLst>
              <a:ext uri="{FF2B5EF4-FFF2-40B4-BE49-F238E27FC236}">
                <a16:creationId xmlns:a16="http://schemas.microsoft.com/office/drawing/2014/main" id="{02D49A6C-77AC-469E-8A97-EFDB7071F3F8}"/>
              </a:ext>
            </a:extLst>
          </p:cNvPr>
          <p:cNvSpPr>
            <a:spLocks noChangeShapeType="1"/>
          </p:cNvSpPr>
          <p:nvPr/>
        </p:nvSpPr>
        <p:spPr bwMode="auto">
          <a:xfrm>
            <a:off x="2817813" y="4703763"/>
            <a:ext cx="4318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8" name="Line 104">
            <a:extLst>
              <a:ext uri="{FF2B5EF4-FFF2-40B4-BE49-F238E27FC236}">
                <a16:creationId xmlns:a16="http://schemas.microsoft.com/office/drawing/2014/main" id="{3001B030-09B1-427C-BD38-A346609B6A21}"/>
              </a:ext>
            </a:extLst>
          </p:cNvPr>
          <p:cNvSpPr>
            <a:spLocks noChangeShapeType="1"/>
          </p:cNvSpPr>
          <p:nvPr/>
        </p:nvSpPr>
        <p:spPr bwMode="auto">
          <a:xfrm>
            <a:off x="4473575" y="4560888"/>
            <a:ext cx="4318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79" name="Line 105">
            <a:extLst>
              <a:ext uri="{FF2B5EF4-FFF2-40B4-BE49-F238E27FC236}">
                <a16:creationId xmlns:a16="http://schemas.microsoft.com/office/drawing/2014/main" id="{C906A6B5-0515-4501-A721-D78C1C3CF5DF}"/>
              </a:ext>
            </a:extLst>
          </p:cNvPr>
          <p:cNvSpPr>
            <a:spLocks noChangeShapeType="1"/>
          </p:cNvSpPr>
          <p:nvPr/>
        </p:nvSpPr>
        <p:spPr bwMode="auto">
          <a:xfrm flipV="1">
            <a:off x="2927350" y="3278188"/>
            <a:ext cx="0" cy="143986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80" name="Line 106">
            <a:extLst>
              <a:ext uri="{FF2B5EF4-FFF2-40B4-BE49-F238E27FC236}">
                <a16:creationId xmlns:a16="http://schemas.microsoft.com/office/drawing/2014/main" id="{B29BCD0B-DF60-47F9-9FD8-289ED877676B}"/>
              </a:ext>
            </a:extLst>
          </p:cNvPr>
          <p:cNvSpPr>
            <a:spLocks noChangeShapeType="1"/>
          </p:cNvSpPr>
          <p:nvPr/>
        </p:nvSpPr>
        <p:spPr bwMode="auto">
          <a:xfrm>
            <a:off x="2927350" y="3279775"/>
            <a:ext cx="395288"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81" name="Line 107">
            <a:extLst>
              <a:ext uri="{FF2B5EF4-FFF2-40B4-BE49-F238E27FC236}">
                <a16:creationId xmlns:a16="http://schemas.microsoft.com/office/drawing/2014/main" id="{E180390C-D078-4353-B5BC-BA3924FA3476}"/>
              </a:ext>
            </a:extLst>
          </p:cNvPr>
          <p:cNvSpPr>
            <a:spLocks noChangeShapeType="1"/>
          </p:cNvSpPr>
          <p:nvPr/>
        </p:nvSpPr>
        <p:spPr bwMode="auto">
          <a:xfrm flipV="1">
            <a:off x="4799013" y="3278188"/>
            <a:ext cx="0" cy="129540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182" name="Line 108">
            <a:extLst>
              <a:ext uri="{FF2B5EF4-FFF2-40B4-BE49-F238E27FC236}">
                <a16:creationId xmlns:a16="http://schemas.microsoft.com/office/drawing/2014/main" id="{28D0B16D-97BC-40BE-B5D6-417FDF3C7EC0}"/>
              </a:ext>
            </a:extLst>
          </p:cNvPr>
          <p:cNvSpPr>
            <a:spLocks noChangeShapeType="1"/>
          </p:cNvSpPr>
          <p:nvPr/>
        </p:nvSpPr>
        <p:spPr bwMode="auto">
          <a:xfrm>
            <a:off x="4295775" y="3278188"/>
            <a:ext cx="503238" cy="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754" name="Group 109">
            <a:extLst>
              <a:ext uri="{FF2B5EF4-FFF2-40B4-BE49-F238E27FC236}">
                <a16:creationId xmlns:a16="http://schemas.microsoft.com/office/drawing/2014/main" id="{190B00D1-93A8-4C0D-B885-C08EE57BE1FD}"/>
              </a:ext>
            </a:extLst>
          </p:cNvPr>
          <p:cNvGrpSpPr>
            <a:grpSpLocks/>
          </p:cNvGrpSpPr>
          <p:nvPr/>
        </p:nvGrpSpPr>
        <p:grpSpPr bwMode="auto">
          <a:xfrm>
            <a:off x="2584450" y="4919663"/>
            <a:ext cx="2592388" cy="1081087"/>
            <a:chOff x="1247" y="2840"/>
            <a:chExt cx="1633" cy="681"/>
          </a:xfrm>
        </p:grpSpPr>
        <p:sp>
          <p:nvSpPr>
            <p:cNvPr id="223" name="Line 110">
              <a:extLst>
                <a:ext uri="{FF2B5EF4-FFF2-40B4-BE49-F238E27FC236}">
                  <a16:creationId xmlns:a16="http://schemas.microsoft.com/office/drawing/2014/main" id="{FBC49BA1-E3A7-4A46-A3BD-8B4DF28F5659}"/>
                </a:ext>
              </a:extLst>
            </p:cNvPr>
            <p:cNvSpPr>
              <a:spLocks noChangeShapeType="1"/>
            </p:cNvSpPr>
            <p:nvPr/>
          </p:nvSpPr>
          <p:spPr bwMode="auto">
            <a:xfrm>
              <a:off x="1247" y="2931"/>
              <a:ext cx="0" cy="59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24" name="Line 111">
              <a:extLst>
                <a:ext uri="{FF2B5EF4-FFF2-40B4-BE49-F238E27FC236}">
                  <a16:creationId xmlns:a16="http://schemas.microsoft.com/office/drawing/2014/main" id="{03EF0A96-EA68-412A-BB8F-290741F427CC}"/>
                </a:ext>
              </a:extLst>
            </p:cNvPr>
            <p:cNvSpPr>
              <a:spLocks noChangeShapeType="1"/>
            </p:cNvSpPr>
            <p:nvPr/>
          </p:nvSpPr>
          <p:spPr bwMode="auto">
            <a:xfrm>
              <a:off x="2880" y="2840"/>
              <a:ext cx="0" cy="68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25" name="Line 112">
              <a:extLst>
                <a:ext uri="{FF2B5EF4-FFF2-40B4-BE49-F238E27FC236}">
                  <a16:creationId xmlns:a16="http://schemas.microsoft.com/office/drawing/2014/main" id="{D751937F-10DB-4D54-9B52-C8DF95D220CB}"/>
                </a:ext>
              </a:extLst>
            </p:cNvPr>
            <p:cNvSpPr>
              <a:spLocks noChangeShapeType="1"/>
            </p:cNvSpPr>
            <p:nvPr/>
          </p:nvSpPr>
          <p:spPr bwMode="auto">
            <a:xfrm>
              <a:off x="1247" y="3521"/>
              <a:ext cx="163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184" name="Text Box 113">
            <a:extLst>
              <a:ext uri="{FF2B5EF4-FFF2-40B4-BE49-F238E27FC236}">
                <a16:creationId xmlns:a16="http://schemas.microsoft.com/office/drawing/2014/main" id="{C35C0196-5359-4CA2-989B-5CF861787137}"/>
              </a:ext>
            </a:extLst>
          </p:cNvPr>
          <p:cNvSpPr txBox="1">
            <a:spLocks noChangeArrowheads="1"/>
          </p:cNvSpPr>
          <p:nvPr/>
        </p:nvSpPr>
        <p:spPr bwMode="auto">
          <a:xfrm>
            <a:off x="4222750" y="2976563"/>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BL1_cell</a:t>
            </a:r>
            <a:endParaRPr kumimoji="0" lang="en-CA" altLang="zh-CN" sz="1200" kern="0" dirty="0">
              <a:solidFill>
                <a:srgbClr val="000000"/>
              </a:solidFill>
              <a:latin typeface="Arial" panose="020B0604020202020204" pitchFamily="34" charset="0"/>
              <a:ea typeface="+mn-ea"/>
            </a:endParaRPr>
          </a:p>
        </p:txBody>
      </p:sp>
      <p:sp>
        <p:nvSpPr>
          <p:cNvPr id="185" name="Text Box 114">
            <a:extLst>
              <a:ext uri="{FF2B5EF4-FFF2-40B4-BE49-F238E27FC236}">
                <a16:creationId xmlns:a16="http://schemas.microsoft.com/office/drawing/2014/main" id="{24C9D455-F121-4CA0-A49B-A327E906462A}"/>
              </a:ext>
            </a:extLst>
          </p:cNvPr>
          <p:cNvSpPr txBox="1">
            <a:spLocks noChangeArrowheads="1"/>
          </p:cNvSpPr>
          <p:nvPr/>
        </p:nvSpPr>
        <p:spPr bwMode="auto">
          <a:xfrm>
            <a:off x="2638425" y="2976563"/>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BL1_cell</a:t>
            </a:r>
            <a:endParaRPr kumimoji="0" lang="en-CA" altLang="zh-CN" sz="1200" kern="0">
              <a:solidFill>
                <a:srgbClr val="000000"/>
              </a:solidFill>
              <a:latin typeface="Arial" panose="020B0604020202020204" pitchFamily="34" charset="0"/>
              <a:ea typeface="+mn-ea"/>
            </a:endParaRPr>
          </a:p>
        </p:txBody>
      </p:sp>
      <p:grpSp>
        <p:nvGrpSpPr>
          <p:cNvPr id="30757" name="Group 115">
            <a:extLst>
              <a:ext uri="{FF2B5EF4-FFF2-40B4-BE49-F238E27FC236}">
                <a16:creationId xmlns:a16="http://schemas.microsoft.com/office/drawing/2014/main" id="{6DA8F2F4-E4E5-4D03-A749-255077849D01}"/>
              </a:ext>
            </a:extLst>
          </p:cNvPr>
          <p:cNvGrpSpPr>
            <a:grpSpLocks/>
          </p:cNvGrpSpPr>
          <p:nvPr/>
        </p:nvGrpSpPr>
        <p:grpSpPr bwMode="auto">
          <a:xfrm flipH="1">
            <a:off x="4006850" y="4056063"/>
            <a:ext cx="569913" cy="1331912"/>
            <a:chOff x="4128" y="2205"/>
            <a:chExt cx="359" cy="839"/>
          </a:xfrm>
        </p:grpSpPr>
        <p:grpSp>
          <p:nvGrpSpPr>
            <p:cNvPr id="30938" name="Group 116">
              <a:extLst>
                <a:ext uri="{FF2B5EF4-FFF2-40B4-BE49-F238E27FC236}">
                  <a16:creationId xmlns:a16="http://schemas.microsoft.com/office/drawing/2014/main" id="{1913CD95-F1DC-46B9-B5FC-0840EF6BA730}"/>
                </a:ext>
              </a:extLst>
            </p:cNvPr>
            <p:cNvGrpSpPr>
              <a:grpSpLocks/>
            </p:cNvGrpSpPr>
            <p:nvPr/>
          </p:nvGrpSpPr>
          <p:grpSpPr bwMode="auto">
            <a:xfrm>
              <a:off x="4195" y="2205"/>
              <a:ext cx="288" cy="384"/>
              <a:chOff x="1344" y="768"/>
              <a:chExt cx="288" cy="384"/>
            </a:xfrm>
          </p:grpSpPr>
          <p:sp>
            <p:nvSpPr>
              <p:cNvPr id="214" name="Line 117">
                <a:extLst>
                  <a:ext uri="{FF2B5EF4-FFF2-40B4-BE49-F238E27FC236}">
                    <a16:creationId xmlns:a16="http://schemas.microsoft.com/office/drawing/2014/main" id="{9B1B404A-5BBA-4A64-AC93-2CC23BEB3842}"/>
                  </a:ext>
                </a:extLst>
              </p:cNvPr>
              <p:cNvSpPr>
                <a:spLocks noChangeShapeType="1"/>
              </p:cNvSpPr>
              <p:nvPr/>
            </p:nvSpPr>
            <p:spPr bwMode="auto">
              <a:xfrm>
                <a:off x="1536"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956" name="Group 118">
                <a:extLst>
                  <a:ext uri="{FF2B5EF4-FFF2-40B4-BE49-F238E27FC236}">
                    <a16:creationId xmlns:a16="http://schemas.microsoft.com/office/drawing/2014/main" id="{CBE5E3BA-9020-4F7C-A52C-5DF57D5079FB}"/>
                  </a:ext>
                </a:extLst>
              </p:cNvPr>
              <p:cNvGrpSpPr>
                <a:grpSpLocks/>
              </p:cNvGrpSpPr>
              <p:nvPr/>
            </p:nvGrpSpPr>
            <p:grpSpPr bwMode="auto">
              <a:xfrm>
                <a:off x="1344" y="768"/>
                <a:ext cx="192" cy="384"/>
                <a:chOff x="1344" y="768"/>
                <a:chExt cx="192" cy="384"/>
              </a:xfrm>
            </p:grpSpPr>
            <p:sp>
              <p:nvSpPr>
                <p:cNvPr id="216" name="Line 119">
                  <a:extLst>
                    <a:ext uri="{FF2B5EF4-FFF2-40B4-BE49-F238E27FC236}">
                      <a16:creationId xmlns:a16="http://schemas.microsoft.com/office/drawing/2014/main" id="{F8AC543E-F965-4F0B-979D-506F2384DD29}"/>
                    </a:ext>
                  </a:extLst>
                </p:cNvPr>
                <p:cNvSpPr>
                  <a:spLocks noChangeShapeType="1"/>
                </p:cNvSpPr>
                <p:nvPr/>
              </p:nvSpPr>
              <p:spPr bwMode="auto">
                <a:xfrm>
                  <a:off x="1440"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17" name="Line 120">
                  <a:extLst>
                    <a:ext uri="{FF2B5EF4-FFF2-40B4-BE49-F238E27FC236}">
                      <a16:creationId xmlns:a16="http://schemas.microsoft.com/office/drawing/2014/main" id="{D3C52132-8C9A-4D99-8286-7F6FFC559254}"/>
                    </a:ext>
                  </a:extLst>
                </p:cNvPr>
                <p:cNvSpPr>
                  <a:spLocks noChangeShapeType="1"/>
                </p:cNvSpPr>
                <p:nvPr/>
              </p:nvSpPr>
              <p:spPr bwMode="auto">
                <a:xfrm>
                  <a:off x="1488"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18" name="Line 121">
                  <a:extLst>
                    <a:ext uri="{FF2B5EF4-FFF2-40B4-BE49-F238E27FC236}">
                      <a16:creationId xmlns:a16="http://schemas.microsoft.com/office/drawing/2014/main" id="{97C9D4F0-21FE-4050-B7E7-E3A0F78CAA05}"/>
                    </a:ext>
                  </a:extLst>
                </p:cNvPr>
                <p:cNvSpPr>
                  <a:spLocks noChangeShapeType="1"/>
                </p:cNvSpPr>
                <p:nvPr/>
              </p:nvSpPr>
              <p:spPr bwMode="auto">
                <a:xfrm>
                  <a:off x="134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19" name="Line 122">
                  <a:extLst>
                    <a:ext uri="{FF2B5EF4-FFF2-40B4-BE49-F238E27FC236}">
                      <a16:creationId xmlns:a16="http://schemas.microsoft.com/office/drawing/2014/main" id="{2F06C026-36E0-4165-A500-83EA0301E860}"/>
                    </a:ext>
                  </a:extLst>
                </p:cNvPr>
                <p:cNvSpPr>
                  <a:spLocks noChangeShapeType="1"/>
                </p:cNvSpPr>
                <p:nvPr/>
              </p:nvSpPr>
              <p:spPr bwMode="auto">
                <a:xfrm>
                  <a:off x="134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20" name="Line 123">
                  <a:extLst>
                    <a:ext uri="{FF2B5EF4-FFF2-40B4-BE49-F238E27FC236}">
                      <a16:creationId xmlns:a16="http://schemas.microsoft.com/office/drawing/2014/main" id="{D0ADD570-BAF6-4894-B51E-9F39AD0D5A18}"/>
                    </a:ext>
                  </a:extLst>
                </p:cNvPr>
                <p:cNvSpPr>
                  <a:spLocks noChangeShapeType="1"/>
                </p:cNvSpPr>
                <p:nvPr/>
              </p:nvSpPr>
              <p:spPr bwMode="auto">
                <a:xfrm>
                  <a:off x="1344"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21" name="Line 124">
                  <a:extLst>
                    <a:ext uri="{FF2B5EF4-FFF2-40B4-BE49-F238E27FC236}">
                      <a16:creationId xmlns:a16="http://schemas.microsoft.com/office/drawing/2014/main" id="{2C8D10BE-7984-4471-A725-539C7DB7F281}"/>
                    </a:ext>
                  </a:extLst>
                </p:cNvPr>
                <p:cNvSpPr>
                  <a:spLocks noChangeShapeType="1"/>
                </p:cNvSpPr>
                <p:nvPr/>
              </p:nvSpPr>
              <p:spPr bwMode="auto">
                <a:xfrm>
                  <a:off x="1344"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22" name="Oval 125">
                  <a:extLst>
                    <a:ext uri="{FF2B5EF4-FFF2-40B4-BE49-F238E27FC236}">
                      <a16:creationId xmlns:a16="http://schemas.microsoft.com/office/drawing/2014/main" id="{72B845E4-80AF-4AD3-959B-7B5D112CBBB5}"/>
                    </a:ext>
                  </a:extLst>
                </p:cNvPr>
                <p:cNvSpPr>
                  <a:spLocks noChangeArrowheads="1"/>
                </p:cNvSpPr>
                <p:nvPr/>
              </p:nvSpPr>
              <p:spPr bwMode="auto">
                <a:xfrm>
                  <a:off x="1488" y="927"/>
                  <a:ext cx="48" cy="48"/>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939" name="Group 126">
              <a:extLst>
                <a:ext uri="{FF2B5EF4-FFF2-40B4-BE49-F238E27FC236}">
                  <a16:creationId xmlns:a16="http://schemas.microsoft.com/office/drawing/2014/main" id="{2A06E913-C7CE-4575-B304-0AA2F2DB71B7}"/>
                </a:ext>
              </a:extLst>
            </p:cNvPr>
            <p:cNvGrpSpPr>
              <a:grpSpLocks/>
            </p:cNvGrpSpPr>
            <p:nvPr/>
          </p:nvGrpSpPr>
          <p:grpSpPr bwMode="auto">
            <a:xfrm flipH="1">
              <a:off x="4195" y="2568"/>
              <a:ext cx="240" cy="384"/>
              <a:chOff x="960" y="768"/>
              <a:chExt cx="240" cy="384"/>
            </a:xfrm>
          </p:grpSpPr>
          <p:sp>
            <p:nvSpPr>
              <p:cNvPr id="207" name="Line 127">
                <a:extLst>
                  <a:ext uri="{FF2B5EF4-FFF2-40B4-BE49-F238E27FC236}">
                    <a16:creationId xmlns:a16="http://schemas.microsoft.com/office/drawing/2014/main" id="{94102CD9-1DAF-4EE4-9634-0F3646B52BFC}"/>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08" name="Line 128">
                <a:extLst>
                  <a:ext uri="{FF2B5EF4-FFF2-40B4-BE49-F238E27FC236}">
                    <a16:creationId xmlns:a16="http://schemas.microsoft.com/office/drawing/2014/main" id="{1654D508-F243-4F54-AF31-4BA139A52492}"/>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09" name="Line 129">
                <a:extLst>
                  <a:ext uri="{FF2B5EF4-FFF2-40B4-BE49-F238E27FC236}">
                    <a16:creationId xmlns:a16="http://schemas.microsoft.com/office/drawing/2014/main" id="{912A6BF4-E58D-48C1-B90C-94B6B2E73381}"/>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10" name="Line 130">
                <a:extLst>
                  <a:ext uri="{FF2B5EF4-FFF2-40B4-BE49-F238E27FC236}">
                    <a16:creationId xmlns:a16="http://schemas.microsoft.com/office/drawing/2014/main" id="{5DB7F2C5-5108-4F42-93A0-C94BD9B1A18D}"/>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11" name="Line 131">
                <a:extLst>
                  <a:ext uri="{FF2B5EF4-FFF2-40B4-BE49-F238E27FC236}">
                    <a16:creationId xmlns:a16="http://schemas.microsoft.com/office/drawing/2014/main" id="{38264C07-0580-412C-8A1A-2A30312B79A9}"/>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12" name="Line 132">
                <a:extLst>
                  <a:ext uri="{FF2B5EF4-FFF2-40B4-BE49-F238E27FC236}">
                    <a16:creationId xmlns:a16="http://schemas.microsoft.com/office/drawing/2014/main" id="{4F073FEE-D40B-4858-93B4-10F727EFB516}"/>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13" name="Line 133">
                <a:extLst>
                  <a:ext uri="{FF2B5EF4-FFF2-40B4-BE49-F238E27FC236}">
                    <a16:creationId xmlns:a16="http://schemas.microsoft.com/office/drawing/2014/main" id="{A055D05A-7F48-48FE-87CF-750CD1969EA7}"/>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940" name="Group 134">
              <a:extLst>
                <a:ext uri="{FF2B5EF4-FFF2-40B4-BE49-F238E27FC236}">
                  <a16:creationId xmlns:a16="http://schemas.microsoft.com/office/drawing/2014/main" id="{D26D2D0F-D7BD-4722-8FBB-57B8502ADD47}"/>
                </a:ext>
              </a:extLst>
            </p:cNvPr>
            <p:cNvGrpSpPr>
              <a:grpSpLocks/>
            </p:cNvGrpSpPr>
            <p:nvPr/>
          </p:nvGrpSpPr>
          <p:grpSpPr bwMode="auto">
            <a:xfrm>
              <a:off x="4441" y="2398"/>
              <a:ext cx="46" cy="363"/>
              <a:chOff x="4422" y="2387"/>
              <a:chExt cx="46" cy="363"/>
            </a:xfrm>
          </p:grpSpPr>
          <p:sp>
            <p:nvSpPr>
              <p:cNvPr id="205" name="Line 135">
                <a:extLst>
                  <a:ext uri="{FF2B5EF4-FFF2-40B4-BE49-F238E27FC236}">
                    <a16:creationId xmlns:a16="http://schemas.microsoft.com/office/drawing/2014/main" id="{19F7E614-1CDC-4358-9422-0789F715B9A1}"/>
                  </a:ext>
                </a:extLst>
              </p:cNvPr>
              <p:cNvSpPr>
                <a:spLocks noChangeShapeType="1"/>
              </p:cNvSpPr>
              <p:nvPr/>
            </p:nvSpPr>
            <p:spPr bwMode="auto">
              <a:xfrm flipH="1" flipV="1">
                <a:off x="4468" y="2387"/>
                <a:ext cx="0" cy="36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06" name="Line 136">
                <a:extLst>
                  <a:ext uri="{FF2B5EF4-FFF2-40B4-BE49-F238E27FC236}">
                    <a16:creationId xmlns:a16="http://schemas.microsoft.com/office/drawing/2014/main" id="{8E742780-E8AB-4746-8482-B3C09B4434B2}"/>
                  </a:ext>
                </a:extLst>
              </p:cNvPr>
              <p:cNvSpPr>
                <a:spLocks noChangeShapeType="1"/>
              </p:cNvSpPr>
              <p:nvPr/>
            </p:nvSpPr>
            <p:spPr bwMode="auto">
              <a:xfrm flipH="1">
                <a:off x="4422" y="2750"/>
                <a:ext cx="4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200" name="Line 137">
              <a:extLst>
                <a:ext uri="{FF2B5EF4-FFF2-40B4-BE49-F238E27FC236}">
                  <a16:creationId xmlns:a16="http://schemas.microsoft.com/office/drawing/2014/main" id="{9A68B6E5-2C18-4D2F-8AF5-BE2A99A09B08}"/>
                </a:ext>
              </a:extLst>
            </p:cNvPr>
            <p:cNvSpPr>
              <a:spLocks noChangeShapeType="1"/>
            </p:cNvSpPr>
            <p:nvPr/>
          </p:nvSpPr>
          <p:spPr bwMode="auto">
            <a:xfrm flipH="1">
              <a:off x="4146" y="2205"/>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942" name="Group 138">
              <a:extLst>
                <a:ext uri="{FF2B5EF4-FFF2-40B4-BE49-F238E27FC236}">
                  <a16:creationId xmlns:a16="http://schemas.microsoft.com/office/drawing/2014/main" id="{27BD3FB4-DAC8-47D1-B2B8-A79DB710FFE4}"/>
                </a:ext>
              </a:extLst>
            </p:cNvPr>
            <p:cNvGrpSpPr>
              <a:grpSpLocks/>
            </p:cNvGrpSpPr>
            <p:nvPr/>
          </p:nvGrpSpPr>
          <p:grpSpPr bwMode="auto">
            <a:xfrm flipH="1">
              <a:off x="4128" y="2953"/>
              <a:ext cx="136" cy="91"/>
              <a:chOff x="4059" y="2523"/>
              <a:chExt cx="136" cy="91"/>
            </a:xfrm>
          </p:grpSpPr>
          <p:sp>
            <p:nvSpPr>
              <p:cNvPr id="202" name="Line 139">
                <a:extLst>
                  <a:ext uri="{FF2B5EF4-FFF2-40B4-BE49-F238E27FC236}">
                    <a16:creationId xmlns:a16="http://schemas.microsoft.com/office/drawing/2014/main" id="{28C26F51-70AC-4960-88B2-83A4C885E611}"/>
                  </a:ext>
                </a:extLst>
              </p:cNvPr>
              <p:cNvSpPr>
                <a:spLocks noChangeShapeType="1"/>
              </p:cNvSpPr>
              <p:nvPr/>
            </p:nvSpPr>
            <p:spPr bwMode="auto">
              <a:xfrm>
                <a:off x="4059" y="2523"/>
                <a:ext cx="13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03" name="Line 140">
                <a:extLst>
                  <a:ext uri="{FF2B5EF4-FFF2-40B4-BE49-F238E27FC236}">
                    <a16:creationId xmlns:a16="http://schemas.microsoft.com/office/drawing/2014/main" id="{6417D2CD-D670-471B-B7DA-AAAD37CCD4BC}"/>
                  </a:ext>
                </a:extLst>
              </p:cNvPr>
              <p:cNvSpPr>
                <a:spLocks noChangeShapeType="1"/>
              </p:cNvSpPr>
              <p:nvPr/>
            </p:nvSpPr>
            <p:spPr bwMode="auto">
              <a:xfrm>
                <a:off x="4082" y="2568"/>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204" name="Line 141">
                <a:extLst>
                  <a:ext uri="{FF2B5EF4-FFF2-40B4-BE49-F238E27FC236}">
                    <a16:creationId xmlns:a16="http://schemas.microsoft.com/office/drawing/2014/main" id="{3C435944-5AA6-462A-9197-0AEE3E8063B3}"/>
                  </a:ext>
                </a:extLst>
              </p:cNvPr>
              <p:cNvSpPr>
                <a:spLocks noChangeShapeType="1"/>
              </p:cNvSpPr>
              <p:nvPr/>
            </p:nvSpPr>
            <p:spPr bwMode="auto">
              <a:xfrm>
                <a:off x="4105" y="2614"/>
                <a:ext cx="4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sp>
        <p:nvSpPr>
          <p:cNvPr id="187" name="Text Box 142">
            <a:extLst>
              <a:ext uri="{FF2B5EF4-FFF2-40B4-BE49-F238E27FC236}">
                <a16:creationId xmlns:a16="http://schemas.microsoft.com/office/drawing/2014/main" id="{4D37E196-2AB7-49F9-B3C4-2BB2E9D9CF55}"/>
              </a:ext>
            </a:extLst>
          </p:cNvPr>
          <p:cNvSpPr txBox="1">
            <a:spLocks noChangeArrowheads="1"/>
          </p:cNvSpPr>
          <p:nvPr/>
        </p:nvSpPr>
        <p:spPr bwMode="auto">
          <a:xfrm>
            <a:off x="3071813" y="4200525"/>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P1</a:t>
            </a:r>
            <a:endParaRPr kumimoji="0" lang="en-CA" altLang="zh-CN" sz="1200" kern="0">
              <a:solidFill>
                <a:srgbClr val="000000"/>
              </a:solidFill>
              <a:latin typeface="Arial" panose="020B0604020202020204" pitchFamily="34" charset="0"/>
              <a:ea typeface="+mn-ea"/>
            </a:endParaRPr>
          </a:p>
        </p:txBody>
      </p:sp>
      <p:sp>
        <p:nvSpPr>
          <p:cNvPr id="188" name="Text Box 143">
            <a:extLst>
              <a:ext uri="{FF2B5EF4-FFF2-40B4-BE49-F238E27FC236}">
                <a16:creationId xmlns:a16="http://schemas.microsoft.com/office/drawing/2014/main" id="{47C0F43B-DB9C-4DF6-8794-6DFFAC516797}"/>
              </a:ext>
            </a:extLst>
          </p:cNvPr>
          <p:cNvSpPr txBox="1">
            <a:spLocks noChangeArrowheads="1"/>
          </p:cNvSpPr>
          <p:nvPr/>
        </p:nvSpPr>
        <p:spPr bwMode="auto">
          <a:xfrm>
            <a:off x="4367213" y="4200525"/>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P2</a:t>
            </a:r>
            <a:endParaRPr kumimoji="0" lang="en-CA" altLang="zh-CN" sz="1200" kern="0">
              <a:solidFill>
                <a:srgbClr val="000000"/>
              </a:solidFill>
              <a:latin typeface="Arial" panose="020B0604020202020204" pitchFamily="34" charset="0"/>
              <a:ea typeface="+mn-ea"/>
            </a:endParaRPr>
          </a:p>
        </p:txBody>
      </p:sp>
      <p:sp>
        <p:nvSpPr>
          <p:cNvPr id="189" name="Text Box 144">
            <a:extLst>
              <a:ext uri="{FF2B5EF4-FFF2-40B4-BE49-F238E27FC236}">
                <a16:creationId xmlns:a16="http://schemas.microsoft.com/office/drawing/2014/main" id="{C0956633-B2C6-4FBA-9AB1-2524800C4E61}"/>
              </a:ext>
            </a:extLst>
          </p:cNvPr>
          <p:cNvSpPr txBox="1">
            <a:spLocks noChangeArrowheads="1"/>
          </p:cNvSpPr>
          <p:nvPr/>
        </p:nvSpPr>
        <p:spPr bwMode="auto">
          <a:xfrm>
            <a:off x="3071813" y="4776788"/>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N1</a:t>
            </a:r>
            <a:endParaRPr kumimoji="0" lang="en-CA" altLang="zh-CN" sz="1200" kern="0">
              <a:solidFill>
                <a:srgbClr val="000000"/>
              </a:solidFill>
              <a:latin typeface="Arial" panose="020B0604020202020204" pitchFamily="34" charset="0"/>
              <a:ea typeface="+mn-ea"/>
            </a:endParaRPr>
          </a:p>
        </p:txBody>
      </p:sp>
      <p:sp>
        <p:nvSpPr>
          <p:cNvPr id="190" name="Text Box 145">
            <a:extLst>
              <a:ext uri="{FF2B5EF4-FFF2-40B4-BE49-F238E27FC236}">
                <a16:creationId xmlns:a16="http://schemas.microsoft.com/office/drawing/2014/main" id="{291D1B43-447E-4D58-BDB7-9B69E6561256}"/>
              </a:ext>
            </a:extLst>
          </p:cNvPr>
          <p:cNvSpPr txBox="1">
            <a:spLocks noChangeArrowheads="1"/>
          </p:cNvSpPr>
          <p:nvPr/>
        </p:nvSpPr>
        <p:spPr bwMode="auto">
          <a:xfrm>
            <a:off x="4295775" y="4776788"/>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N2</a:t>
            </a:r>
            <a:endParaRPr kumimoji="0" lang="en-CA" altLang="zh-CN" sz="1200" kern="0">
              <a:solidFill>
                <a:srgbClr val="000000"/>
              </a:solidFill>
              <a:latin typeface="Arial" panose="020B0604020202020204" pitchFamily="34" charset="0"/>
              <a:ea typeface="+mn-ea"/>
            </a:endParaRPr>
          </a:p>
        </p:txBody>
      </p:sp>
      <p:sp>
        <p:nvSpPr>
          <p:cNvPr id="191" name="Text Box 146">
            <a:extLst>
              <a:ext uri="{FF2B5EF4-FFF2-40B4-BE49-F238E27FC236}">
                <a16:creationId xmlns:a16="http://schemas.microsoft.com/office/drawing/2014/main" id="{FA179754-11E6-4F76-8478-A33F110443EE}"/>
              </a:ext>
            </a:extLst>
          </p:cNvPr>
          <p:cNvSpPr txBox="1">
            <a:spLocks noChangeArrowheads="1"/>
          </p:cNvSpPr>
          <p:nvPr/>
        </p:nvSpPr>
        <p:spPr bwMode="auto">
          <a:xfrm>
            <a:off x="2422525" y="4416425"/>
            <a:ext cx="533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N3</a:t>
            </a:r>
            <a:endParaRPr kumimoji="0" lang="en-CA" altLang="zh-CN" sz="1200" kern="0">
              <a:solidFill>
                <a:srgbClr val="000000"/>
              </a:solidFill>
              <a:latin typeface="Arial" panose="020B0604020202020204" pitchFamily="34" charset="0"/>
              <a:ea typeface="+mn-ea"/>
            </a:endParaRPr>
          </a:p>
        </p:txBody>
      </p:sp>
      <p:sp>
        <p:nvSpPr>
          <p:cNvPr id="192" name="Text Box 147">
            <a:extLst>
              <a:ext uri="{FF2B5EF4-FFF2-40B4-BE49-F238E27FC236}">
                <a16:creationId xmlns:a16="http://schemas.microsoft.com/office/drawing/2014/main" id="{8787E653-CDE3-44FA-BB94-7F544E7E4759}"/>
              </a:ext>
            </a:extLst>
          </p:cNvPr>
          <p:cNvSpPr txBox="1">
            <a:spLocks noChangeArrowheads="1"/>
          </p:cNvSpPr>
          <p:nvPr/>
        </p:nvSpPr>
        <p:spPr bwMode="auto">
          <a:xfrm>
            <a:off x="5014913" y="4271963"/>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N4</a:t>
            </a:r>
            <a:endParaRPr kumimoji="0" lang="en-CA" altLang="zh-CN" sz="1200" kern="0">
              <a:solidFill>
                <a:srgbClr val="000000"/>
              </a:solidFill>
              <a:latin typeface="Arial" panose="020B0604020202020204" pitchFamily="34" charset="0"/>
              <a:ea typeface="+mn-ea"/>
            </a:endParaRPr>
          </a:p>
        </p:txBody>
      </p:sp>
      <p:sp>
        <p:nvSpPr>
          <p:cNvPr id="193" name="Text Box 148">
            <a:extLst>
              <a:ext uri="{FF2B5EF4-FFF2-40B4-BE49-F238E27FC236}">
                <a16:creationId xmlns:a16="http://schemas.microsoft.com/office/drawing/2014/main" id="{490DBB8B-7D66-4155-B35A-579A497A0209}"/>
              </a:ext>
            </a:extLst>
          </p:cNvPr>
          <p:cNvSpPr txBox="1">
            <a:spLocks noChangeArrowheads="1"/>
          </p:cNvSpPr>
          <p:nvPr/>
        </p:nvSpPr>
        <p:spPr bwMode="auto">
          <a:xfrm>
            <a:off x="3359150" y="2255838"/>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N5</a:t>
            </a:r>
            <a:endParaRPr kumimoji="0" lang="en-CA" altLang="zh-CN" sz="1200" kern="0">
              <a:solidFill>
                <a:srgbClr val="000000"/>
              </a:solidFill>
              <a:latin typeface="Arial" panose="020B0604020202020204" pitchFamily="34" charset="0"/>
              <a:ea typeface="+mn-ea"/>
            </a:endParaRPr>
          </a:p>
        </p:txBody>
      </p:sp>
      <p:sp>
        <p:nvSpPr>
          <p:cNvPr id="194" name="Text Box 149">
            <a:extLst>
              <a:ext uri="{FF2B5EF4-FFF2-40B4-BE49-F238E27FC236}">
                <a16:creationId xmlns:a16="http://schemas.microsoft.com/office/drawing/2014/main" id="{C1A47494-A354-427C-ADDE-2A57A3F68A77}"/>
              </a:ext>
            </a:extLst>
          </p:cNvPr>
          <p:cNvSpPr txBox="1">
            <a:spLocks noChangeArrowheads="1"/>
          </p:cNvSpPr>
          <p:nvPr/>
        </p:nvSpPr>
        <p:spPr bwMode="auto">
          <a:xfrm>
            <a:off x="3935413" y="2255838"/>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N7</a:t>
            </a:r>
            <a:endParaRPr kumimoji="0" lang="en-CA" altLang="zh-CN" sz="1200" kern="0">
              <a:solidFill>
                <a:srgbClr val="000000"/>
              </a:solidFill>
              <a:latin typeface="Arial" panose="020B0604020202020204" pitchFamily="34" charset="0"/>
              <a:ea typeface="+mn-ea"/>
            </a:endParaRPr>
          </a:p>
        </p:txBody>
      </p:sp>
      <p:sp>
        <p:nvSpPr>
          <p:cNvPr id="195" name="Text Box 150">
            <a:extLst>
              <a:ext uri="{FF2B5EF4-FFF2-40B4-BE49-F238E27FC236}">
                <a16:creationId xmlns:a16="http://schemas.microsoft.com/office/drawing/2014/main" id="{4ED61570-EA8C-4932-978C-6DBA5AC6AE78}"/>
              </a:ext>
            </a:extLst>
          </p:cNvPr>
          <p:cNvSpPr txBox="1">
            <a:spLocks noChangeArrowheads="1"/>
          </p:cNvSpPr>
          <p:nvPr/>
        </p:nvSpPr>
        <p:spPr bwMode="auto">
          <a:xfrm>
            <a:off x="3359150" y="3408363"/>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N6</a:t>
            </a:r>
            <a:endParaRPr kumimoji="0" lang="en-CA" altLang="zh-CN" sz="1200" kern="0">
              <a:solidFill>
                <a:srgbClr val="000000"/>
              </a:solidFill>
              <a:latin typeface="Arial" panose="020B0604020202020204" pitchFamily="34" charset="0"/>
              <a:ea typeface="+mn-ea"/>
            </a:endParaRPr>
          </a:p>
        </p:txBody>
      </p:sp>
      <p:sp>
        <p:nvSpPr>
          <p:cNvPr id="196" name="Text Box 151">
            <a:extLst>
              <a:ext uri="{FF2B5EF4-FFF2-40B4-BE49-F238E27FC236}">
                <a16:creationId xmlns:a16="http://schemas.microsoft.com/office/drawing/2014/main" id="{A2FAB0A3-8D32-4EF2-A0C7-D14BCCF243DA}"/>
              </a:ext>
            </a:extLst>
          </p:cNvPr>
          <p:cNvSpPr txBox="1">
            <a:spLocks noChangeArrowheads="1"/>
          </p:cNvSpPr>
          <p:nvPr/>
        </p:nvSpPr>
        <p:spPr bwMode="auto">
          <a:xfrm>
            <a:off x="3935413" y="3408363"/>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N8</a:t>
            </a:r>
            <a:endParaRPr kumimoji="0" lang="en-CA" altLang="zh-CN" sz="1200" kern="0">
              <a:solidFill>
                <a:srgbClr val="000000"/>
              </a:solidFill>
              <a:latin typeface="Arial" panose="020B0604020202020204" pitchFamily="34" charset="0"/>
              <a:ea typeface="+mn-ea"/>
            </a:endParaRPr>
          </a:p>
        </p:txBody>
      </p:sp>
      <p:cxnSp>
        <p:nvCxnSpPr>
          <p:cNvPr id="30768" name="直接连接符 301">
            <a:extLst>
              <a:ext uri="{FF2B5EF4-FFF2-40B4-BE49-F238E27FC236}">
                <a16:creationId xmlns:a16="http://schemas.microsoft.com/office/drawing/2014/main" id="{09FF8066-547C-4C5B-B8C4-F096D57B8D3A}"/>
              </a:ext>
            </a:extLst>
          </p:cNvPr>
          <p:cNvCxnSpPr>
            <a:cxnSpLocks noChangeShapeType="1"/>
          </p:cNvCxnSpPr>
          <p:nvPr/>
        </p:nvCxnSpPr>
        <p:spPr bwMode="auto">
          <a:xfrm>
            <a:off x="2814638" y="1573213"/>
            <a:ext cx="215900"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30769" name="直接连接符 302">
            <a:extLst>
              <a:ext uri="{FF2B5EF4-FFF2-40B4-BE49-F238E27FC236}">
                <a16:creationId xmlns:a16="http://schemas.microsoft.com/office/drawing/2014/main" id="{58D99484-6AF9-4DF3-86AC-A4354852EFF4}"/>
              </a:ext>
            </a:extLst>
          </p:cNvPr>
          <p:cNvCxnSpPr>
            <a:cxnSpLocks noChangeShapeType="1"/>
          </p:cNvCxnSpPr>
          <p:nvPr/>
        </p:nvCxnSpPr>
        <p:spPr bwMode="auto">
          <a:xfrm>
            <a:off x="4324350" y="3013075"/>
            <a:ext cx="217488"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30770" name="直接连接符 303">
            <a:extLst>
              <a:ext uri="{FF2B5EF4-FFF2-40B4-BE49-F238E27FC236}">
                <a16:creationId xmlns:a16="http://schemas.microsoft.com/office/drawing/2014/main" id="{6E804AA4-9D36-4979-9D23-E83B6404B52A}"/>
              </a:ext>
            </a:extLst>
          </p:cNvPr>
          <p:cNvCxnSpPr>
            <a:cxnSpLocks noChangeShapeType="1"/>
          </p:cNvCxnSpPr>
          <p:nvPr/>
        </p:nvCxnSpPr>
        <p:spPr bwMode="auto">
          <a:xfrm>
            <a:off x="5329238" y="4886325"/>
            <a:ext cx="215900"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grpSp>
        <p:nvGrpSpPr>
          <p:cNvPr id="30771" name="组合 305">
            <a:extLst>
              <a:ext uri="{FF2B5EF4-FFF2-40B4-BE49-F238E27FC236}">
                <a16:creationId xmlns:a16="http://schemas.microsoft.com/office/drawing/2014/main" id="{DA2EE973-8B26-4AA2-9BFB-FE9EFEFDB342}"/>
              </a:ext>
            </a:extLst>
          </p:cNvPr>
          <p:cNvGrpSpPr>
            <a:grpSpLocks/>
          </p:cNvGrpSpPr>
          <p:nvPr/>
        </p:nvGrpSpPr>
        <p:grpSpPr bwMode="auto">
          <a:xfrm>
            <a:off x="5576888" y="1522413"/>
            <a:ext cx="3702050" cy="4464050"/>
            <a:chOff x="4713365" y="1447801"/>
            <a:chExt cx="3702050" cy="4464050"/>
          </a:xfrm>
        </p:grpSpPr>
        <p:grpSp>
          <p:nvGrpSpPr>
            <p:cNvPr id="30787" name="Group 4">
              <a:extLst>
                <a:ext uri="{FF2B5EF4-FFF2-40B4-BE49-F238E27FC236}">
                  <a16:creationId xmlns:a16="http://schemas.microsoft.com/office/drawing/2014/main" id="{A0B5D0B1-C142-40E7-9365-B21A15A5E576}"/>
                </a:ext>
              </a:extLst>
            </p:cNvPr>
            <p:cNvGrpSpPr>
              <a:grpSpLocks/>
            </p:cNvGrpSpPr>
            <p:nvPr/>
          </p:nvGrpSpPr>
          <p:grpSpPr bwMode="auto">
            <a:xfrm>
              <a:off x="4713365" y="1447801"/>
              <a:ext cx="3702050" cy="4464050"/>
              <a:chOff x="3243" y="1162"/>
              <a:chExt cx="2332" cy="2812"/>
            </a:xfrm>
          </p:grpSpPr>
          <p:grpSp>
            <p:nvGrpSpPr>
              <p:cNvPr id="30791" name="Group 5">
                <a:extLst>
                  <a:ext uri="{FF2B5EF4-FFF2-40B4-BE49-F238E27FC236}">
                    <a16:creationId xmlns:a16="http://schemas.microsoft.com/office/drawing/2014/main" id="{C6DB86C6-1151-45F6-A834-94534613F0E7}"/>
                  </a:ext>
                </a:extLst>
              </p:cNvPr>
              <p:cNvGrpSpPr>
                <a:grpSpLocks/>
              </p:cNvGrpSpPr>
              <p:nvPr/>
            </p:nvGrpSpPr>
            <p:grpSpPr bwMode="auto">
              <a:xfrm>
                <a:off x="4026" y="1706"/>
                <a:ext cx="240" cy="747"/>
                <a:chOff x="1066" y="2296"/>
                <a:chExt cx="240" cy="747"/>
              </a:xfrm>
            </p:grpSpPr>
            <p:grpSp>
              <p:nvGrpSpPr>
                <p:cNvPr id="30922" name="Group 6">
                  <a:extLst>
                    <a:ext uri="{FF2B5EF4-FFF2-40B4-BE49-F238E27FC236}">
                      <a16:creationId xmlns:a16="http://schemas.microsoft.com/office/drawing/2014/main" id="{AD433924-F0F8-4113-8F7F-C3F67B2A6060}"/>
                    </a:ext>
                  </a:extLst>
                </p:cNvPr>
                <p:cNvGrpSpPr>
                  <a:grpSpLocks/>
                </p:cNvGrpSpPr>
                <p:nvPr/>
              </p:nvGrpSpPr>
              <p:grpSpPr bwMode="auto">
                <a:xfrm>
                  <a:off x="1066" y="2296"/>
                  <a:ext cx="240" cy="384"/>
                  <a:chOff x="960" y="768"/>
                  <a:chExt cx="240" cy="384"/>
                </a:xfrm>
              </p:grpSpPr>
              <p:sp>
                <p:nvSpPr>
                  <p:cNvPr id="451" name="Line 7">
                    <a:extLst>
                      <a:ext uri="{FF2B5EF4-FFF2-40B4-BE49-F238E27FC236}">
                        <a16:creationId xmlns:a16="http://schemas.microsoft.com/office/drawing/2014/main" id="{9E4E5EAA-64C6-4172-824F-21CCA447F89A}"/>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52" name="Line 8">
                    <a:extLst>
                      <a:ext uri="{FF2B5EF4-FFF2-40B4-BE49-F238E27FC236}">
                        <a16:creationId xmlns:a16="http://schemas.microsoft.com/office/drawing/2014/main" id="{2ADACF57-071F-4192-BC81-BA0DB089C3D9}"/>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53" name="Line 9">
                    <a:extLst>
                      <a:ext uri="{FF2B5EF4-FFF2-40B4-BE49-F238E27FC236}">
                        <a16:creationId xmlns:a16="http://schemas.microsoft.com/office/drawing/2014/main" id="{0D69C5B1-34F5-4F3B-B0EC-AFDC2063843F}"/>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54" name="Line 10">
                    <a:extLst>
                      <a:ext uri="{FF2B5EF4-FFF2-40B4-BE49-F238E27FC236}">
                        <a16:creationId xmlns:a16="http://schemas.microsoft.com/office/drawing/2014/main" id="{F57F4E3E-4E22-4B52-BC90-D39F701525D0}"/>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55" name="Line 11">
                    <a:extLst>
                      <a:ext uri="{FF2B5EF4-FFF2-40B4-BE49-F238E27FC236}">
                        <a16:creationId xmlns:a16="http://schemas.microsoft.com/office/drawing/2014/main" id="{A54AD4DF-AC95-4F27-A62F-C4C872EB707A}"/>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56" name="Line 12">
                    <a:extLst>
                      <a:ext uri="{FF2B5EF4-FFF2-40B4-BE49-F238E27FC236}">
                        <a16:creationId xmlns:a16="http://schemas.microsoft.com/office/drawing/2014/main" id="{6318BCF0-9662-40AE-9752-D98C80D450D6}"/>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57" name="Line 13">
                    <a:extLst>
                      <a:ext uri="{FF2B5EF4-FFF2-40B4-BE49-F238E27FC236}">
                        <a16:creationId xmlns:a16="http://schemas.microsoft.com/office/drawing/2014/main" id="{15BCFD10-9F96-4B4B-9135-0967D262CC06}"/>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923" name="Group 14">
                  <a:extLst>
                    <a:ext uri="{FF2B5EF4-FFF2-40B4-BE49-F238E27FC236}">
                      <a16:creationId xmlns:a16="http://schemas.microsoft.com/office/drawing/2014/main" id="{F1462F39-0EB4-4CB2-B7F2-775DE7656D53}"/>
                    </a:ext>
                  </a:extLst>
                </p:cNvPr>
                <p:cNvGrpSpPr>
                  <a:grpSpLocks/>
                </p:cNvGrpSpPr>
                <p:nvPr/>
              </p:nvGrpSpPr>
              <p:grpSpPr bwMode="auto">
                <a:xfrm>
                  <a:off x="1066" y="2659"/>
                  <a:ext cx="240" cy="384"/>
                  <a:chOff x="960" y="768"/>
                  <a:chExt cx="240" cy="384"/>
                </a:xfrm>
              </p:grpSpPr>
              <p:sp>
                <p:nvSpPr>
                  <p:cNvPr id="444" name="Line 15">
                    <a:extLst>
                      <a:ext uri="{FF2B5EF4-FFF2-40B4-BE49-F238E27FC236}">
                        <a16:creationId xmlns:a16="http://schemas.microsoft.com/office/drawing/2014/main" id="{63FF31E1-EA7E-458E-B2AC-1C92CB8372C9}"/>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45" name="Line 16">
                    <a:extLst>
                      <a:ext uri="{FF2B5EF4-FFF2-40B4-BE49-F238E27FC236}">
                        <a16:creationId xmlns:a16="http://schemas.microsoft.com/office/drawing/2014/main" id="{9DE87336-0695-41B6-AA42-BBFB1F610DE9}"/>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46" name="Line 17">
                    <a:extLst>
                      <a:ext uri="{FF2B5EF4-FFF2-40B4-BE49-F238E27FC236}">
                        <a16:creationId xmlns:a16="http://schemas.microsoft.com/office/drawing/2014/main" id="{E8E5EC63-DED6-448C-98E1-B6520EF3A295}"/>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47" name="Line 18">
                    <a:extLst>
                      <a:ext uri="{FF2B5EF4-FFF2-40B4-BE49-F238E27FC236}">
                        <a16:creationId xmlns:a16="http://schemas.microsoft.com/office/drawing/2014/main" id="{A5E144FF-E779-4A80-A50E-DB57DFCCF915}"/>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48" name="Line 19">
                    <a:extLst>
                      <a:ext uri="{FF2B5EF4-FFF2-40B4-BE49-F238E27FC236}">
                        <a16:creationId xmlns:a16="http://schemas.microsoft.com/office/drawing/2014/main" id="{C07FD21E-8D11-4C05-9CB9-E9AFDDF12DBC}"/>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49" name="Line 20">
                    <a:extLst>
                      <a:ext uri="{FF2B5EF4-FFF2-40B4-BE49-F238E27FC236}">
                        <a16:creationId xmlns:a16="http://schemas.microsoft.com/office/drawing/2014/main" id="{BF1770EB-6696-40AC-96EE-369CA3E3009E}"/>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50" name="Line 21">
                    <a:extLst>
                      <a:ext uri="{FF2B5EF4-FFF2-40B4-BE49-F238E27FC236}">
                        <a16:creationId xmlns:a16="http://schemas.microsoft.com/office/drawing/2014/main" id="{026B4F61-A3E5-48ED-8E41-93430EB90E93}"/>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792" name="Group 22">
                <a:extLst>
                  <a:ext uri="{FF2B5EF4-FFF2-40B4-BE49-F238E27FC236}">
                    <a16:creationId xmlns:a16="http://schemas.microsoft.com/office/drawing/2014/main" id="{752373E5-E621-4CB5-A3F7-B78F37DE1C53}"/>
                  </a:ext>
                </a:extLst>
              </p:cNvPr>
              <p:cNvGrpSpPr>
                <a:grpSpLocks/>
              </p:cNvGrpSpPr>
              <p:nvPr/>
            </p:nvGrpSpPr>
            <p:grpSpPr bwMode="auto">
              <a:xfrm flipH="1">
                <a:off x="4426" y="1706"/>
                <a:ext cx="240" cy="747"/>
                <a:chOff x="1066" y="2296"/>
                <a:chExt cx="240" cy="747"/>
              </a:xfrm>
            </p:grpSpPr>
            <p:grpSp>
              <p:nvGrpSpPr>
                <p:cNvPr id="30906" name="Group 23">
                  <a:extLst>
                    <a:ext uri="{FF2B5EF4-FFF2-40B4-BE49-F238E27FC236}">
                      <a16:creationId xmlns:a16="http://schemas.microsoft.com/office/drawing/2014/main" id="{5711C783-2470-44D5-8BCD-132E2D6C489E}"/>
                    </a:ext>
                  </a:extLst>
                </p:cNvPr>
                <p:cNvGrpSpPr>
                  <a:grpSpLocks/>
                </p:cNvGrpSpPr>
                <p:nvPr/>
              </p:nvGrpSpPr>
              <p:grpSpPr bwMode="auto">
                <a:xfrm>
                  <a:off x="1066" y="2296"/>
                  <a:ext cx="240" cy="384"/>
                  <a:chOff x="960" y="768"/>
                  <a:chExt cx="240" cy="384"/>
                </a:xfrm>
              </p:grpSpPr>
              <p:sp>
                <p:nvSpPr>
                  <p:cNvPr id="435" name="Line 24">
                    <a:extLst>
                      <a:ext uri="{FF2B5EF4-FFF2-40B4-BE49-F238E27FC236}">
                        <a16:creationId xmlns:a16="http://schemas.microsoft.com/office/drawing/2014/main" id="{9F7DC62D-3EE7-4E52-AD18-66A364D6F781}"/>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6" name="Line 25">
                    <a:extLst>
                      <a:ext uri="{FF2B5EF4-FFF2-40B4-BE49-F238E27FC236}">
                        <a16:creationId xmlns:a16="http://schemas.microsoft.com/office/drawing/2014/main" id="{B819EFBB-5110-4040-87B1-89A7A9425DAF}"/>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7" name="Line 26">
                    <a:extLst>
                      <a:ext uri="{FF2B5EF4-FFF2-40B4-BE49-F238E27FC236}">
                        <a16:creationId xmlns:a16="http://schemas.microsoft.com/office/drawing/2014/main" id="{462C3139-A391-4E8E-8A30-6FB9B2029B6E}"/>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8" name="Line 27">
                    <a:extLst>
                      <a:ext uri="{FF2B5EF4-FFF2-40B4-BE49-F238E27FC236}">
                        <a16:creationId xmlns:a16="http://schemas.microsoft.com/office/drawing/2014/main" id="{09F2D095-4338-4A07-94F6-EDDAA9A55012}"/>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9" name="Line 28">
                    <a:extLst>
                      <a:ext uri="{FF2B5EF4-FFF2-40B4-BE49-F238E27FC236}">
                        <a16:creationId xmlns:a16="http://schemas.microsoft.com/office/drawing/2014/main" id="{8399B0B0-9CA4-4E65-8353-D1B9C2094B27}"/>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40" name="Line 29">
                    <a:extLst>
                      <a:ext uri="{FF2B5EF4-FFF2-40B4-BE49-F238E27FC236}">
                        <a16:creationId xmlns:a16="http://schemas.microsoft.com/office/drawing/2014/main" id="{F2F03012-CE03-4016-B53B-13308A439B94}"/>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41" name="Line 30">
                    <a:extLst>
                      <a:ext uri="{FF2B5EF4-FFF2-40B4-BE49-F238E27FC236}">
                        <a16:creationId xmlns:a16="http://schemas.microsoft.com/office/drawing/2014/main" id="{0BB16BAF-8F58-45FC-B767-553CDC13A7E3}"/>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907" name="Group 31">
                  <a:extLst>
                    <a:ext uri="{FF2B5EF4-FFF2-40B4-BE49-F238E27FC236}">
                      <a16:creationId xmlns:a16="http://schemas.microsoft.com/office/drawing/2014/main" id="{14248F7F-ECC0-428B-B3C0-C74A1FE41603}"/>
                    </a:ext>
                  </a:extLst>
                </p:cNvPr>
                <p:cNvGrpSpPr>
                  <a:grpSpLocks/>
                </p:cNvGrpSpPr>
                <p:nvPr/>
              </p:nvGrpSpPr>
              <p:grpSpPr bwMode="auto">
                <a:xfrm>
                  <a:off x="1066" y="2659"/>
                  <a:ext cx="240" cy="384"/>
                  <a:chOff x="960" y="768"/>
                  <a:chExt cx="240" cy="384"/>
                </a:xfrm>
              </p:grpSpPr>
              <p:sp>
                <p:nvSpPr>
                  <p:cNvPr id="428" name="Line 32">
                    <a:extLst>
                      <a:ext uri="{FF2B5EF4-FFF2-40B4-BE49-F238E27FC236}">
                        <a16:creationId xmlns:a16="http://schemas.microsoft.com/office/drawing/2014/main" id="{F5CBCC88-A532-4B18-9593-5A9F26B4EBB7}"/>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29" name="Line 33">
                    <a:extLst>
                      <a:ext uri="{FF2B5EF4-FFF2-40B4-BE49-F238E27FC236}">
                        <a16:creationId xmlns:a16="http://schemas.microsoft.com/office/drawing/2014/main" id="{BF7B6B77-AB10-4B4A-A0E6-F5AB75E812B2}"/>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0" name="Line 34">
                    <a:extLst>
                      <a:ext uri="{FF2B5EF4-FFF2-40B4-BE49-F238E27FC236}">
                        <a16:creationId xmlns:a16="http://schemas.microsoft.com/office/drawing/2014/main" id="{1A2CFC76-392E-46EA-BAC0-2852F002CEE8}"/>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1" name="Line 35">
                    <a:extLst>
                      <a:ext uri="{FF2B5EF4-FFF2-40B4-BE49-F238E27FC236}">
                        <a16:creationId xmlns:a16="http://schemas.microsoft.com/office/drawing/2014/main" id="{39FCBDB0-4B53-4E0E-9B1F-F038419FD107}"/>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2" name="Line 36">
                    <a:extLst>
                      <a:ext uri="{FF2B5EF4-FFF2-40B4-BE49-F238E27FC236}">
                        <a16:creationId xmlns:a16="http://schemas.microsoft.com/office/drawing/2014/main" id="{86A839CF-EB4F-40AB-AF02-0A77A549EC27}"/>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3" name="Line 37">
                    <a:extLst>
                      <a:ext uri="{FF2B5EF4-FFF2-40B4-BE49-F238E27FC236}">
                        <a16:creationId xmlns:a16="http://schemas.microsoft.com/office/drawing/2014/main" id="{4BD9421C-F650-4D4E-BDB1-E787E41BABC2}"/>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34" name="Line 38">
                    <a:extLst>
                      <a:ext uri="{FF2B5EF4-FFF2-40B4-BE49-F238E27FC236}">
                        <a16:creationId xmlns:a16="http://schemas.microsoft.com/office/drawing/2014/main" id="{0E62B221-C18A-4A28-B615-B4144A88E2E2}"/>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793" name="Group 39">
                <a:extLst>
                  <a:ext uri="{FF2B5EF4-FFF2-40B4-BE49-F238E27FC236}">
                    <a16:creationId xmlns:a16="http://schemas.microsoft.com/office/drawing/2014/main" id="{46D084BD-0262-4531-A4C4-2BC97314C547}"/>
                  </a:ext>
                </a:extLst>
              </p:cNvPr>
              <p:cNvGrpSpPr>
                <a:grpSpLocks/>
              </p:cNvGrpSpPr>
              <p:nvPr/>
            </p:nvGrpSpPr>
            <p:grpSpPr bwMode="auto">
              <a:xfrm>
                <a:off x="4244" y="2613"/>
                <a:ext cx="192" cy="96"/>
                <a:chOff x="4032" y="624"/>
                <a:chExt cx="192" cy="96"/>
              </a:xfrm>
            </p:grpSpPr>
            <p:sp>
              <p:nvSpPr>
                <p:cNvPr id="423" name="Line 40">
                  <a:extLst>
                    <a:ext uri="{FF2B5EF4-FFF2-40B4-BE49-F238E27FC236}">
                      <a16:creationId xmlns:a16="http://schemas.microsoft.com/office/drawing/2014/main" id="{77190FD3-4475-4A6C-87F6-32FF06F7F59B}"/>
                    </a:ext>
                  </a:extLst>
                </p:cNvPr>
                <p:cNvSpPr>
                  <a:spLocks noChangeShapeType="1"/>
                </p:cNvSpPr>
                <p:nvPr/>
              </p:nvSpPr>
              <p:spPr bwMode="auto">
                <a:xfrm>
                  <a:off x="4032" y="624"/>
                  <a:ext cx="19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24" name="Line 41">
                  <a:extLst>
                    <a:ext uri="{FF2B5EF4-FFF2-40B4-BE49-F238E27FC236}">
                      <a16:creationId xmlns:a16="http://schemas.microsoft.com/office/drawing/2014/main" id="{A107D088-EE13-4E1B-AA7C-051E585F8CBF}"/>
                    </a:ext>
                  </a:extLst>
                </p:cNvPr>
                <p:cNvSpPr>
                  <a:spLocks noChangeShapeType="1"/>
                </p:cNvSpPr>
                <p:nvPr/>
              </p:nvSpPr>
              <p:spPr bwMode="auto">
                <a:xfrm>
                  <a:off x="4080" y="672"/>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25" name="Line 42">
                  <a:extLst>
                    <a:ext uri="{FF2B5EF4-FFF2-40B4-BE49-F238E27FC236}">
                      <a16:creationId xmlns:a16="http://schemas.microsoft.com/office/drawing/2014/main" id="{F12EB57A-8BCE-44DF-A266-A0B5795D79DA}"/>
                    </a:ext>
                  </a:extLst>
                </p:cNvPr>
                <p:cNvSpPr>
                  <a:spLocks noChangeShapeType="1"/>
                </p:cNvSpPr>
                <p:nvPr/>
              </p:nvSpPr>
              <p:spPr bwMode="auto">
                <a:xfrm>
                  <a:off x="4080" y="72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cxnSp>
            <p:nvCxnSpPr>
              <p:cNvPr id="30794" name="AutoShape 43">
                <a:extLst>
                  <a:ext uri="{FF2B5EF4-FFF2-40B4-BE49-F238E27FC236}">
                    <a16:creationId xmlns:a16="http://schemas.microsoft.com/office/drawing/2014/main" id="{75B5691F-ACA0-499A-AE7D-F92188B6B317}"/>
                  </a:ext>
                </a:extLst>
              </p:cNvPr>
              <p:cNvCxnSpPr>
                <a:cxnSpLocks noChangeShapeType="1"/>
                <a:stCxn id="455" idx="0"/>
              </p:cNvCxnSpPr>
              <p:nvPr/>
            </p:nvCxnSpPr>
            <p:spPr bwMode="auto">
              <a:xfrm rot="5400000" flipH="1">
                <a:off x="3631" y="1503"/>
                <a:ext cx="555" cy="235"/>
              </a:xfrm>
              <a:prstGeom prst="bentConnector3">
                <a:avLst>
                  <a:gd name="adj1" fmla="val -5"/>
                </a:avLst>
              </a:prstGeom>
              <a:noFill/>
              <a:ln w="38100">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95" name="AutoShape 44">
                <a:extLst>
                  <a:ext uri="{FF2B5EF4-FFF2-40B4-BE49-F238E27FC236}">
                    <a16:creationId xmlns:a16="http://schemas.microsoft.com/office/drawing/2014/main" id="{08CA1D8A-E009-4969-8518-D5BA367390AB}"/>
                  </a:ext>
                </a:extLst>
              </p:cNvPr>
              <p:cNvCxnSpPr>
                <a:cxnSpLocks noChangeShapeType="1"/>
                <a:stCxn id="439" idx="1"/>
              </p:cNvCxnSpPr>
              <p:nvPr/>
            </p:nvCxnSpPr>
            <p:spPr bwMode="auto">
              <a:xfrm rot="5400000" flipH="1" flipV="1">
                <a:off x="4492" y="1421"/>
                <a:ext cx="555" cy="400"/>
              </a:xfrm>
              <a:prstGeom prst="bentConnector3">
                <a:avLst>
                  <a:gd name="adj1" fmla="val 176"/>
                </a:avLst>
              </a:prstGeom>
              <a:noFill/>
              <a:ln w="38100">
                <a:solidFill>
                  <a:srgbClr val="0000CC"/>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796" name="Group 45">
                <a:extLst>
                  <a:ext uri="{FF2B5EF4-FFF2-40B4-BE49-F238E27FC236}">
                    <a16:creationId xmlns:a16="http://schemas.microsoft.com/office/drawing/2014/main" id="{71A78288-A421-4F8A-8367-3E0C2DD9420A}"/>
                  </a:ext>
                </a:extLst>
              </p:cNvPr>
              <p:cNvGrpSpPr>
                <a:grpSpLocks/>
              </p:cNvGrpSpPr>
              <p:nvPr/>
            </p:nvGrpSpPr>
            <p:grpSpPr bwMode="auto">
              <a:xfrm rot="-5400000">
                <a:off x="3455" y="3085"/>
                <a:ext cx="240" cy="384"/>
                <a:chOff x="960" y="768"/>
                <a:chExt cx="240" cy="384"/>
              </a:xfrm>
            </p:grpSpPr>
            <p:sp>
              <p:nvSpPr>
                <p:cNvPr id="416" name="Line 46">
                  <a:extLst>
                    <a:ext uri="{FF2B5EF4-FFF2-40B4-BE49-F238E27FC236}">
                      <a16:creationId xmlns:a16="http://schemas.microsoft.com/office/drawing/2014/main" id="{6DCED9C6-BECD-4852-B490-CBDCD3E7724D}"/>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7" name="Line 47">
                  <a:extLst>
                    <a:ext uri="{FF2B5EF4-FFF2-40B4-BE49-F238E27FC236}">
                      <a16:creationId xmlns:a16="http://schemas.microsoft.com/office/drawing/2014/main" id="{EB214F66-AC82-4DF0-899D-901AC4682268}"/>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8" name="Line 48">
                  <a:extLst>
                    <a:ext uri="{FF2B5EF4-FFF2-40B4-BE49-F238E27FC236}">
                      <a16:creationId xmlns:a16="http://schemas.microsoft.com/office/drawing/2014/main" id="{E3A58909-F972-4C2C-B4AF-14E5E2DF47CA}"/>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9" name="Line 49">
                  <a:extLst>
                    <a:ext uri="{FF2B5EF4-FFF2-40B4-BE49-F238E27FC236}">
                      <a16:creationId xmlns:a16="http://schemas.microsoft.com/office/drawing/2014/main" id="{BFDF2571-2425-42BA-8697-900C482507CB}"/>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20" name="Line 50">
                  <a:extLst>
                    <a:ext uri="{FF2B5EF4-FFF2-40B4-BE49-F238E27FC236}">
                      <a16:creationId xmlns:a16="http://schemas.microsoft.com/office/drawing/2014/main" id="{C2B223D6-7495-45D8-B7AD-C6B24B73B763}"/>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21" name="Line 51">
                  <a:extLst>
                    <a:ext uri="{FF2B5EF4-FFF2-40B4-BE49-F238E27FC236}">
                      <a16:creationId xmlns:a16="http://schemas.microsoft.com/office/drawing/2014/main" id="{7B4B2C35-63A1-4E2E-BC25-33DD1691C982}"/>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22" name="Line 52">
                  <a:extLst>
                    <a:ext uri="{FF2B5EF4-FFF2-40B4-BE49-F238E27FC236}">
                      <a16:creationId xmlns:a16="http://schemas.microsoft.com/office/drawing/2014/main" id="{674DDEDE-36FC-4CDF-BFC2-FF0D041A122E}"/>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797" name="Group 53">
                <a:extLst>
                  <a:ext uri="{FF2B5EF4-FFF2-40B4-BE49-F238E27FC236}">
                    <a16:creationId xmlns:a16="http://schemas.microsoft.com/office/drawing/2014/main" id="{C8F7947C-41A9-4C4C-84C7-B2BB8BA2A300}"/>
                  </a:ext>
                </a:extLst>
              </p:cNvPr>
              <p:cNvGrpSpPr>
                <a:grpSpLocks/>
              </p:cNvGrpSpPr>
              <p:nvPr/>
            </p:nvGrpSpPr>
            <p:grpSpPr bwMode="auto">
              <a:xfrm rot="-5400000">
                <a:off x="5088" y="2995"/>
                <a:ext cx="240" cy="384"/>
                <a:chOff x="960" y="768"/>
                <a:chExt cx="240" cy="384"/>
              </a:xfrm>
            </p:grpSpPr>
            <p:sp>
              <p:nvSpPr>
                <p:cNvPr id="409" name="Line 54">
                  <a:extLst>
                    <a:ext uri="{FF2B5EF4-FFF2-40B4-BE49-F238E27FC236}">
                      <a16:creationId xmlns:a16="http://schemas.microsoft.com/office/drawing/2014/main" id="{0EBE2A80-55EC-4426-AA61-F74CDC85A485}"/>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0" name="Line 55">
                  <a:extLst>
                    <a:ext uri="{FF2B5EF4-FFF2-40B4-BE49-F238E27FC236}">
                      <a16:creationId xmlns:a16="http://schemas.microsoft.com/office/drawing/2014/main" id="{37F13594-7642-48E6-845F-AC5E89AB27BC}"/>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1" name="Line 56">
                  <a:extLst>
                    <a:ext uri="{FF2B5EF4-FFF2-40B4-BE49-F238E27FC236}">
                      <a16:creationId xmlns:a16="http://schemas.microsoft.com/office/drawing/2014/main" id="{ED47930D-EE55-443F-9888-26BBA3B9B153}"/>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2" name="Line 57">
                  <a:extLst>
                    <a:ext uri="{FF2B5EF4-FFF2-40B4-BE49-F238E27FC236}">
                      <a16:creationId xmlns:a16="http://schemas.microsoft.com/office/drawing/2014/main" id="{9ADFFA68-9885-4D2E-87C0-1414ED14CAF4}"/>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3" name="Line 58">
                  <a:extLst>
                    <a:ext uri="{FF2B5EF4-FFF2-40B4-BE49-F238E27FC236}">
                      <a16:creationId xmlns:a16="http://schemas.microsoft.com/office/drawing/2014/main" id="{9270AE62-090C-4B56-B56C-CD2698226DC3}"/>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4" name="Line 59">
                  <a:extLst>
                    <a:ext uri="{FF2B5EF4-FFF2-40B4-BE49-F238E27FC236}">
                      <a16:creationId xmlns:a16="http://schemas.microsoft.com/office/drawing/2014/main" id="{424385FC-36DA-4847-BB8A-59B174A465B5}"/>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15" name="Line 60">
                  <a:extLst>
                    <a:ext uri="{FF2B5EF4-FFF2-40B4-BE49-F238E27FC236}">
                      <a16:creationId xmlns:a16="http://schemas.microsoft.com/office/drawing/2014/main" id="{7173F025-AEDF-4DB8-A1B7-86CADF6C74B9}"/>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318" name="Line 61">
                <a:extLst>
                  <a:ext uri="{FF2B5EF4-FFF2-40B4-BE49-F238E27FC236}">
                    <a16:creationId xmlns:a16="http://schemas.microsoft.com/office/drawing/2014/main" id="{237F2FCE-2172-42DE-ADEE-4781232D4420}"/>
                  </a:ext>
                </a:extLst>
              </p:cNvPr>
              <p:cNvSpPr>
                <a:spLocks noChangeShapeType="1"/>
              </p:cNvSpPr>
              <p:nvPr/>
            </p:nvSpPr>
            <p:spPr bwMode="auto">
              <a:xfrm>
                <a:off x="3383" y="3066"/>
                <a:ext cx="0" cy="2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19" name="Line 62">
                <a:extLst>
                  <a:ext uri="{FF2B5EF4-FFF2-40B4-BE49-F238E27FC236}">
                    <a16:creationId xmlns:a16="http://schemas.microsoft.com/office/drawing/2014/main" id="{A28EC226-54A3-4558-94CF-7DDECA4B44C8}"/>
                  </a:ext>
                </a:extLst>
              </p:cNvPr>
              <p:cNvSpPr>
                <a:spLocks noChangeShapeType="1"/>
              </p:cNvSpPr>
              <p:nvPr/>
            </p:nvSpPr>
            <p:spPr bwMode="auto">
              <a:xfrm>
                <a:off x="5399" y="2969"/>
                <a:ext cx="0" cy="2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20" name="Text Box 63">
                <a:extLst>
                  <a:ext uri="{FF2B5EF4-FFF2-40B4-BE49-F238E27FC236}">
                    <a16:creationId xmlns:a16="http://schemas.microsoft.com/office/drawing/2014/main" id="{E58F4F46-4C6F-42C7-84D2-9B2681C0ADB9}"/>
                  </a:ext>
                </a:extLst>
              </p:cNvPr>
              <p:cNvSpPr txBox="1">
                <a:spLocks noChangeArrowheads="1"/>
              </p:cNvSpPr>
              <p:nvPr/>
            </p:nvSpPr>
            <p:spPr bwMode="auto">
              <a:xfrm>
                <a:off x="5239" y="3249"/>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BL1</a:t>
                </a:r>
                <a:endParaRPr kumimoji="0" lang="en-CA" altLang="zh-CN" sz="1200" kern="0" dirty="0">
                  <a:solidFill>
                    <a:srgbClr val="000000"/>
                  </a:solidFill>
                  <a:latin typeface="Arial" panose="020B0604020202020204" pitchFamily="34" charset="0"/>
                  <a:ea typeface="+mn-ea"/>
                </a:endParaRPr>
              </a:p>
            </p:txBody>
          </p:sp>
          <p:sp>
            <p:nvSpPr>
              <p:cNvPr id="321" name="Text Box 64">
                <a:extLst>
                  <a:ext uri="{FF2B5EF4-FFF2-40B4-BE49-F238E27FC236}">
                    <a16:creationId xmlns:a16="http://schemas.microsoft.com/office/drawing/2014/main" id="{119E7C6A-33DA-4ED3-81EB-69337BC3DF48}"/>
                  </a:ext>
                </a:extLst>
              </p:cNvPr>
              <p:cNvSpPr txBox="1">
                <a:spLocks noChangeArrowheads="1"/>
              </p:cNvSpPr>
              <p:nvPr/>
            </p:nvSpPr>
            <p:spPr bwMode="auto">
              <a:xfrm>
                <a:off x="3243" y="3339"/>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BL1</a:t>
                </a:r>
                <a:endParaRPr kumimoji="0" lang="en-CA" altLang="zh-CN" sz="1200" kern="0">
                  <a:solidFill>
                    <a:srgbClr val="000000"/>
                  </a:solidFill>
                  <a:latin typeface="Arial" panose="020B0604020202020204" pitchFamily="34" charset="0"/>
                  <a:ea typeface="+mn-ea"/>
                </a:endParaRPr>
              </a:p>
            </p:txBody>
          </p:sp>
          <p:sp>
            <p:nvSpPr>
              <p:cNvPr id="322" name="Text Box 65">
                <a:extLst>
                  <a:ext uri="{FF2B5EF4-FFF2-40B4-BE49-F238E27FC236}">
                    <a16:creationId xmlns:a16="http://schemas.microsoft.com/office/drawing/2014/main" id="{69300F0D-F3BD-4F18-9557-25094572806A}"/>
                  </a:ext>
                </a:extLst>
              </p:cNvPr>
              <p:cNvSpPr txBox="1">
                <a:spLocks noChangeArrowheads="1"/>
              </p:cNvSpPr>
              <p:nvPr/>
            </p:nvSpPr>
            <p:spPr bwMode="auto">
              <a:xfrm>
                <a:off x="4258" y="3792"/>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WL</a:t>
                </a:r>
                <a:endParaRPr kumimoji="0" lang="en-CA" altLang="zh-CN" sz="1200" kern="0" dirty="0">
                  <a:solidFill>
                    <a:srgbClr val="000000"/>
                  </a:solidFill>
                  <a:latin typeface="Arial" panose="020B0604020202020204" pitchFamily="34" charset="0"/>
                  <a:ea typeface="+mn-ea"/>
                </a:endParaRPr>
              </a:p>
            </p:txBody>
          </p:sp>
          <p:sp>
            <p:nvSpPr>
              <p:cNvPr id="323" name="Text Box 66">
                <a:extLst>
                  <a:ext uri="{FF2B5EF4-FFF2-40B4-BE49-F238E27FC236}">
                    <a16:creationId xmlns:a16="http://schemas.microsoft.com/office/drawing/2014/main" id="{7285BB81-54D0-4EF1-8A46-67D247B34A70}"/>
                  </a:ext>
                </a:extLst>
              </p:cNvPr>
              <p:cNvSpPr txBox="1">
                <a:spLocks noChangeArrowheads="1"/>
              </p:cNvSpPr>
              <p:nvPr/>
            </p:nvSpPr>
            <p:spPr bwMode="auto">
              <a:xfrm>
                <a:off x="3655" y="1162"/>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SL1</a:t>
                </a:r>
                <a:endParaRPr kumimoji="0" lang="en-CA" altLang="zh-CN" sz="1200" kern="0" dirty="0">
                  <a:solidFill>
                    <a:srgbClr val="000000"/>
                  </a:solidFill>
                  <a:latin typeface="Arial" panose="020B0604020202020204" pitchFamily="34" charset="0"/>
                  <a:ea typeface="+mn-ea"/>
                </a:endParaRPr>
              </a:p>
            </p:txBody>
          </p:sp>
          <p:sp>
            <p:nvSpPr>
              <p:cNvPr id="324" name="Text Box 67">
                <a:extLst>
                  <a:ext uri="{FF2B5EF4-FFF2-40B4-BE49-F238E27FC236}">
                    <a16:creationId xmlns:a16="http://schemas.microsoft.com/office/drawing/2014/main" id="{AE92F80F-D9A2-4611-96C3-E0B9FCDDDDE4}"/>
                  </a:ext>
                </a:extLst>
              </p:cNvPr>
              <p:cNvSpPr txBox="1">
                <a:spLocks noChangeArrowheads="1"/>
              </p:cNvSpPr>
              <p:nvPr/>
            </p:nvSpPr>
            <p:spPr bwMode="auto">
              <a:xfrm>
                <a:off x="4834" y="1162"/>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SL1</a:t>
                </a:r>
                <a:endParaRPr kumimoji="0" lang="en-CA" altLang="zh-CN" sz="1200" kern="0">
                  <a:solidFill>
                    <a:srgbClr val="000000"/>
                  </a:solidFill>
                  <a:latin typeface="Arial" panose="020B0604020202020204" pitchFamily="34" charset="0"/>
                  <a:ea typeface="+mn-ea"/>
                </a:endParaRPr>
              </a:p>
            </p:txBody>
          </p:sp>
          <p:sp>
            <p:nvSpPr>
              <p:cNvPr id="325" name="Text Box 68">
                <a:extLst>
                  <a:ext uri="{FF2B5EF4-FFF2-40B4-BE49-F238E27FC236}">
                    <a16:creationId xmlns:a16="http://schemas.microsoft.com/office/drawing/2014/main" id="{F5096162-B195-40D5-82C5-DF4D8F47902A}"/>
                  </a:ext>
                </a:extLst>
              </p:cNvPr>
              <p:cNvSpPr txBox="1">
                <a:spLocks noChangeArrowheads="1"/>
              </p:cNvSpPr>
              <p:nvPr/>
            </p:nvSpPr>
            <p:spPr bwMode="auto">
              <a:xfrm>
                <a:off x="4229" y="1353"/>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ML</a:t>
                </a:r>
                <a:endParaRPr kumimoji="0" lang="en-CA" altLang="zh-CN" sz="1200" kern="0" dirty="0">
                  <a:solidFill>
                    <a:srgbClr val="000000"/>
                  </a:solidFill>
                  <a:latin typeface="Arial" panose="020B0604020202020204" pitchFamily="34" charset="0"/>
                  <a:ea typeface="+mn-ea"/>
                </a:endParaRPr>
              </a:p>
            </p:txBody>
          </p:sp>
          <p:sp>
            <p:nvSpPr>
              <p:cNvPr id="326" name="Line 69">
                <a:extLst>
                  <a:ext uri="{FF2B5EF4-FFF2-40B4-BE49-F238E27FC236}">
                    <a16:creationId xmlns:a16="http://schemas.microsoft.com/office/drawing/2014/main" id="{631E2932-6564-4911-84A0-F25C5989181D}"/>
                  </a:ext>
                </a:extLst>
              </p:cNvPr>
              <p:cNvSpPr>
                <a:spLocks noChangeShapeType="1"/>
              </p:cNvSpPr>
              <p:nvPr/>
            </p:nvSpPr>
            <p:spPr bwMode="auto">
              <a:xfrm>
                <a:off x="4266" y="2454"/>
                <a:ext cx="15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27" name="Line 70">
                <a:extLst>
                  <a:ext uri="{FF2B5EF4-FFF2-40B4-BE49-F238E27FC236}">
                    <a16:creationId xmlns:a16="http://schemas.microsoft.com/office/drawing/2014/main" id="{F7733B78-0504-4769-898C-98D44E429F3F}"/>
                  </a:ext>
                </a:extLst>
              </p:cNvPr>
              <p:cNvSpPr>
                <a:spLocks noChangeShapeType="1"/>
              </p:cNvSpPr>
              <p:nvPr/>
            </p:nvSpPr>
            <p:spPr bwMode="auto">
              <a:xfrm>
                <a:off x="4335" y="2454"/>
                <a:ext cx="0" cy="15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28" name="Line 71">
                <a:extLst>
                  <a:ext uri="{FF2B5EF4-FFF2-40B4-BE49-F238E27FC236}">
                    <a16:creationId xmlns:a16="http://schemas.microsoft.com/office/drawing/2014/main" id="{B1287AC1-5EFB-41F6-A64A-0BF6224D84C2}"/>
                  </a:ext>
                </a:extLst>
              </p:cNvPr>
              <p:cNvSpPr>
                <a:spLocks noChangeShapeType="1"/>
              </p:cNvSpPr>
              <p:nvPr/>
            </p:nvSpPr>
            <p:spPr bwMode="auto">
              <a:xfrm>
                <a:off x="4266" y="1706"/>
                <a:ext cx="15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29" name="Line 72">
                <a:extLst>
                  <a:ext uri="{FF2B5EF4-FFF2-40B4-BE49-F238E27FC236}">
                    <a16:creationId xmlns:a16="http://schemas.microsoft.com/office/drawing/2014/main" id="{4E8DF337-609D-42D8-8714-C9FBCB8B930F}"/>
                  </a:ext>
                </a:extLst>
              </p:cNvPr>
              <p:cNvSpPr>
                <a:spLocks noChangeShapeType="1"/>
              </p:cNvSpPr>
              <p:nvPr/>
            </p:nvSpPr>
            <p:spPr bwMode="auto">
              <a:xfrm>
                <a:off x="4335" y="1547"/>
                <a:ext cx="0" cy="15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0" name="Line 73">
                <a:extLst>
                  <a:ext uri="{FF2B5EF4-FFF2-40B4-BE49-F238E27FC236}">
                    <a16:creationId xmlns:a16="http://schemas.microsoft.com/office/drawing/2014/main" id="{479EFED3-83BE-446F-8E5B-DF319B6A5637}"/>
                  </a:ext>
                </a:extLst>
              </p:cNvPr>
              <p:cNvSpPr>
                <a:spLocks noChangeShapeType="1"/>
              </p:cNvSpPr>
              <p:nvPr/>
            </p:nvSpPr>
            <p:spPr bwMode="auto">
              <a:xfrm flipV="1">
                <a:off x="3479" y="1545"/>
                <a:ext cx="1760" cy="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811" name="Group 74">
                <a:extLst>
                  <a:ext uri="{FF2B5EF4-FFF2-40B4-BE49-F238E27FC236}">
                    <a16:creationId xmlns:a16="http://schemas.microsoft.com/office/drawing/2014/main" id="{3AD0024F-A6D5-4C79-A238-67A665A09931}"/>
                  </a:ext>
                </a:extLst>
              </p:cNvPr>
              <p:cNvGrpSpPr>
                <a:grpSpLocks/>
              </p:cNvGrpSpPr>
              <p:nvPr/>
            </p:nvGrpSpPr>
            <p:grpSpPr bwMode="auto">
              <a:xfrm>
                <a:off x="3927" y="2749"/>
                <a:ext cx="359" cy="839"/>
                <a:chOff x="4128" y="2205"/>
                <a:chExt cx="359" cy="839"/>
              </a:xfrm>
            </p:grpSpPr>
            <p:grpSp>
              <p:nvGrpSpPr>
                <p:cNvPr id="30863" name="Group 75">
                  <a:extLst>
                    <a:ext uri="{FF2B5EF4-FFF2-40B4-BE49-F238E27FC236}">
                      <a16:creationId xmlns:a16="http://schemas.microsoft.com/office/drawing/2014/main" id="{B9CBBE47-2A2A-43A7-BD4F-47170B545579}"/>
                    </a:ext>
                  </a:extLst>
                </p:cNvPr>
                <p:cNvGrpSpPr>
                  <a:grpSpLocks/>
                </p:cNvGrpSpPr>
                <p:nvPr/>
              </p:nvGrpSpPr>
              <p:grpSpPr bwMode="auto">
                <a:xfrm>
                  <a:off x="4195" y="2205"/>
                  <a:ext cx="288" cy="384"/>
                  <a:chOff x="1344" y="768"/>
                  <a:chExt cx="288" cy="384"/>
                </a:xfrm>
              </p:grpSpPr>
              <p:sp>
                <p:nvSpPr>
                  <p:cNvPr id="400" name="Line 76">
                    <a:extLst>
                      <a:ext uri="{FF2B5EF4-FFF2-40B4-BE49-F238E27FC236}">
                        <a16:creationId xmlns:a16="http://schemas.microsoft.com/office/drawing/2014/main" id="{DC936984-FADD-477A-A169-3C87B12337B8}"/>
                      </a:ext>
                    </a:extLst>
                  </p:cNvPr>
                  <p:cNvSpPr>
                    <a:spLocks noChangeShapeType="1"/>
                  </p:cNvSpPr>
                  <p:nvPr/>
                </p:nvSpPr>
                <p:spPr bwMode="auto">
                  <a:xfrm>
                    <a:off x="1536"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881" name="Group 77">
                    <a:extLst>
                      <a:ext uri="{FF2B5EF4-FFF2-40B4-BE49-F238E27FC236}">
                        <a16:creationId xmlns:a16="http://schemas.microsoft.com/office/drawing/2014/main" id="{7330BFAA-1138-4164-99E7-3B4588AA8D5B}"/>
                      </a:ext>
                    </a:extLst>
                  </p:cNvPr>
                  <p:cNvGrpSpPr>
                    <a:grpSpLocks/>
                  </p:cNvGrpSpPr>
                  <p:nvPr/>
                </p:nvGrpSpPr>
                <p:grpSpPr bwMode="auto">
                  <a:xfrm>
                    <a:off x="1344" y="768"/>
                    <a:ext cx="192" cy="384"/>
                    <a:chOff x="1344" y="768"/>
                    <a:chExt cx="192" cy="384"/>
                  </a:xfrm>
                </p:grpSpPr>
                <p:sp>
                  <p:nvSpPr>
                    <p:cNvPr id="402" name="Line 78">
                      <a:extLst>
                        <a:ext uri="{FF2B5EF4-FFF2-40B4-BE49-F238E27FC236}">
                          <a16:creationId xmlns:a16="http://schemas.microsoft.com/office/drawing/2014/main" id="{0179FFA8-41E5-4C2A-AB8F-F818571FF85C}"/>
                        </a:ext>
                      </a:extLst>
                    </p:cNvPr>
                    <p:cNvSpPr>
                      <a:spLocks noChangeShapeType="1"/>
                    </p:cNvSpPr>
                    <p:nvPr/>
                  </p:nvSpPr>
                  <p:spPr bwMode="auto">
                    <a:xfrm>
                      <a:off x="1440"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03" name="Line 79">
                      <a:extLst>
                        <a:ext uri="{FF2B5EF4-FFF2-40B4-BE49-F238E27FC236}">
                          <a16:creationId xmlns:a16="http://schemas.microsoft.com/office/drawing/2014/main" id="{199FCF37-BBAC-462E-B349-9E919459C0B6}"/>
                        </a:ext>
                      </a:extLst>
                    </p:cNvPr>
                    <p:cNvSpPr>
                      <a:spLocks noChangeShapeType="1"/>
                    </p:cNvSpPr>
                    <p:nvPr/>
                  </p:nvSpPr>
                  <p:spPr bwMode="auto">
                    <a:xfrm>
                      <a:off x="1488"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04" name="Line 80">
                      <a:extLst>
                        <a:ext uri="{FF2B5EF4-FFF2-40B4-BE49-F238E27FC236}">
                          <a16:creationId xmlns:a16="http://schemas.microsoft.com/office/drawing/2014/main" id="{DAB0272E-B979-4E21-9B2B-9E51C1333111}"/>
                        </a:ext>
                      </a:extLst>
                    </p:cNvPr>
                    <p:cNvSpPr>
                      <a:spLocks noChangeShapeType="1"/>
                    </p:cNvSpPr>
                    <p:nvPr/>
                  </p:nvSpPr>
                  <p:spPr bwMode="auto">
                    <a:xfrm>
                      <a:off x="134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05" name="Line 81">
                      <a:extLst>
                        <a:ext uri="{FF2B5EF4-FFF2-40B4-BE49-F238E27FC236}">
                          <a16:creationId xmlns:a16="http://schemas.microsoft.com/office/drawing/2014/main" id="{08E67EE1-B1DE-45CE-AB72-488A9A434FD2}"/>
                        </a:ext>
                      </a:extLst>
                    </p:cNvPr>
                    <p:cNvSpPr>
                      <a:spLocks noChangeShapeType="1"/>
                    </p:cNvSpPr>
                    <p:nvPr/>
                  </p:nvSpPr>
                  <p:spPr bwMode="auto">
                    <a:xfrm>
                      <a:off x="134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06" name="Line 82">
                      <a:extLst>
                        <a:ext uri="{FF2B5EF4-FFF2-40B4-BE49-F238E27FC236}">
                          <a16:creationId xmlns:a16="http://schemas.microsoft.com/office/drawing/2014/main" id="{7D19188C-CE82-4042-A2BD-A9D4CD6D9A8A}"/>
                        </a:ext>
                      </a:extLst>
                    </p:cNvPr>
                    <p:cNvSpPr>
                      <a:spLocks noChangeShapeType="1"/>
                    </p:cNvSpPr>
                    <p:nvPr/>
                  </p:nvSpPr>
                  <p:spPr bwMode="auto">
                    <a:xfrm>
                      <a:off x="1344"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07" name="Line 83">
                      <a:extLst>
                        <a:ext uri="{FF2B5EF4-FFF2-40B4-BE49-F238E27FC236}">
                          <a16:creationId xmlns:a16="http://schemas.microsoft.com/office/drawing/2014/main" id="{F1066010-C476-4726-8FF7-7BDB4A0F6D81}"/>
                        </a:ext>
                      </a:extLst>
                    </p:cNvPr>
                    <p:cNvSpPr>
                      <a:spLocks noChangeShapeType="1"/>
                    </p:cNvSpPr>
                    <p:nvPr/>
                  </p:nvSpPr>
                  <p:spPr bwMode="auto">
                    <a:xfrm>
                      <a:off x="1344"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408" name="Oval 84">
                      <a:extLst>
                        <a:ext uri="{FF2B5EF4-FFF2-40B4-BE49-F238E27FC236}">
                          <a16:creationId xmlns:a16="http://schemas.microsoft.com/office/drawing/2014/main" id="{604BA43A-1D7A-49A6-BC68-EEEA4907C928}"/>
                        </a:ext>
                      </a:extLst>
                    </p:cNvPr>
                    <p:cNvSpPr>
                      <a:spLocks noChangeArrowheads="1"/>
                    </p:cNvSpPr>
                    <p:nvPr/>
                  </p:nvSpPr>
                  <p:spPr bwMode="auto">
                    <a:xfrm>
                      <a:off x="1488" y="927"/>
                      <a:ext cx="48" cy="48"/>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864" name="Group 85">
                  <a:extLst>
                    <a:ext uri="{FF2B5EF4-FFF2-40B4-BE49-F238E27FC236}">
                      <a16:creationId xmlns:a16="http://schemas.microsoft.com/office/drawing/2014/main" id="{47317C97-69EA-4DC2-8134-F500F8F369B2}"/>
                    </a:ext>
                  </a:extLst>
                </p:cNvPr>
                <p:cNvGrpSpPr>
                  <a:grpSpLocks/>
                </p:cNvGrpSpPr>
                <p:nvPr/>
              </p:nvGrpSpPr>
              <p:grpSpPr bwMode="auto">
                <a:xfrm flipH="1">
                  <a:off x="4195" y="2568"/>
                  <a:ext cx="240" cy="384"/>
                  <a:chOff x="960" y="768"/>
                  <a:chExt cx="240" cy="384"/>
                </a:xfrm>
              </p:grpSpPr>
              <p:sp>
                <p:nvSpPr>
                  <p:cNvPr id="393" name="Line 86">
                    <a:extLst>
                      <a:ext uri="{FF2B5EF4-FFF2-40B4-BE49-F238E27FC236}">
                        <a16:creationId xmlns:a16="http://schemas.microsoft.com/office/drawing/2014/main" id="{328059A3-7181-4F7C-A438-AAD18A88FEF4}"/>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4" name="Line 87">
                    <a:extLst>
                      <a:ext uri="{FF2B5EF4-FFF2-40B4-BE49-F238E27FC236}">
                        <a16:creationId xmlns:a16="http://schemas.microsoft.com/office/drawing/2014/main" id="{46134BB4-CCAB-4416-8BBB-9D0AC31E471A}"/>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5" name="Line 88">
                    <a:extLst>
                      <a:ext uri="{FF2B5EF4-FFF2-40B4-BE49-F238E27FC236}">
                        <a16:creationId xmlns:a16="http://schemas.microsoft.com/office/drawing/2014/main" id="{29445766-530C-4C16-A6CC-85BC0DCBD741}"/>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6" name="Line 89">
                    <a:extLst>
                      <a:ext uri="{FF2B5EF4-FFF2-40B4-BE49-F238E27FC236}">
                        <a16:creationId xmlns:a16="http://schemas.microsoft.com/office/drawing/2014/main" id="{782FC78E-A838-43E8-BFED-4806ADE1C4CD}"/>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7" name="Line 90">
                    <a:extLst>
                      <a:ext uri="{FF2B5EF4-FFF2-40B4-BE49-F238E27FC236}">
                        <a16:creationId xmlns:a16="http://schemas.microsoft.com/office/drawing/2014/main" id="{A44796CC-40B5-4BF7-A50D-A39EF9C101B6}"/>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8" name="Line 91">
                    <a:extLst>
                      <a:ext uri="{FF2B5EF4-FFF2-40B4-BE49-F238E27FC236}">
                        <a16:creationId xmlns:a16="http://schemas.microsoft.com/office/drawing/2014/main" id="{48136902-E0E4-47F0-845A-AA50E889A508}"/>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9" name="Line 92">
                    <a:extLst>
                      <a:ext uri="{FF2B5EF4-FFF2-40B4-BE49-F238E27FC236}">
                        <a16:creationId xmlns:a16="http://schemas.microsoft.com/office/drawing/2014/main" id="{41705F09-3087-4CC5-98AE-7F1CAA5C48B5}"/>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865" name="Group 93">
                  <a:extLst>
                    <a:ext uri="{FF2B5EF4-FFF2-40B4-BE49-F238E27FC236}">
                      <a16:creationId xmlns:a16="http://schemas.microsoft.com/office/drawing/2014/main" id="{B7D97769-3FAC-41C6-BD10-10D4DA81CF83}"/>
                    </a:ext>
                  </a:extLst>
                </p:cNvPr>
                <p:cNvGrpSpPr>
                  <a:grpSpLocks/>
                </p:cNvGrpSpPr>
                <p:nvPr/>
              </p:nvGrpSpPr>
              <p:grpSpPr bwMode="auto">
                <a:xfrm>
                  <a:off x="4441" y="2398"/>
                  <a:ext cx="46" cy="363"/>
                  <a:chOff x="4422" y="2387"/>
                  <a:chExt cx="46" cy="363"/>
                </a:xfrm>
              </p:grpSpPr>
              <p:sp>
                <p:nvSpPr>
                  <p:cNvPr id="391" name="Line 94">
                    <a:extLst>
                      <a:ext uri="{FF2B5EF4-FFF2-40B4-BE49-F238E27FC236}">
                        <a16:creationId xmlns:a16="http://schemas.microsoft.com/office/drawing/2014/main" id="{F72ACBB7-F513-43E5-8579-7CEDC309C203}"/>
                      </a:ext>
                    </a:extLst>
                  </p:cNvPr>
                  <p:cNvSpPr>
                    <a:spLocks noChangeShapeType="1"/>
                  </p:cNvSpPr>
                  <p:nvPr/>
                </p:nvSpPr>
                <p:spPr bwMode="auto">
                  <a:xfrm flipH="1" flipV="1">
                    <a:off x="4468" y="2387"/>
                    <a:ext cx="0" cy="36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2" name="Line 95">
                    <a:extLst>
                      <a:ext uri="{FF2B5EF4-FFF2-40B4-BE49-F238E27FC236}">
                        <a16:creationId xmlns:a16="http://schemas.microsoft.com/office/drawing/2014/main" id="{2DAC86B3-B4AB-4BD5-A3CC-ECEF1A8A9005}"/>
                      </a:ext>
                    </a:extLst>
                  </p:cNvPr>
                  <p:cNvSpPr>
                    <a:spLocks noChangeShapeType="1"/>
                  </p:cNvSpPr>
                  <p:nvPr/>
                </p:nvSpPr>
                <p:spPr bwMode="auto">
                  <a:xfrm flipH="1">
                    <a:off x="4422" y="2750"/>
                    <a:ext cx="4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386" name="Line 96">
                  <a:extLst>
                    <a:ext uri="{FF2B5EF4-FFF2-40B4-BE49-F238E27FC236}">
                      <a16:creationId xmlns:a16="http://schemas.microsoft.com/office/drawing/2014/main" id="{208F1DC8-DCC8-4776-8A44-5A54417160E0}"/>
                    </a:ext>
                  </a:extLst>
                </p:cNvPr>
                <p:cNvSpPr>
                  <a:spLocks noChangeShapeType="1"/>
                </p:cNvSpPr>
                <p:nvPr/>
              </p:nvSpPr>
              <p:spPr bwMode="auto">
                <a:xfrm flipH="1">
                  <a:off x="4146" y="2205"/>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867" name="Group 97">
                  <a:extLst>
                    <a:ext uri="{FF2B5EF4-FFF2-40B4-BE49-F238E27FC236}">
                      <a16:creationId xmlns:a16="http://schemas.microsoft.com/office/drawing/2014/main" id="{D858F68C-2C5E-43BB-8C07-62556132D3E7}"/>
                    </a:ext>
                  </a:extLst>
                </p:cNvPr>
                <p:cNvGrpSpPr>
                  <a:grpSpLocks/>
                </p:cNvGrpSpPr>
                <p:nvPr/>
              </p:nvGrpSpPr>
              <p:grpSpPr bwMode="auto">
                <a:xfrm flipH="1">
                  <a:off x="4128" y="2953"/>
                  <a:ext cx="136" cy="91"/>
                  <a:chOff x="4059" y="2523"/>
                  <a:chExt cx="136" cy="91"/>
                </a:xfrm>
              </p:grpSpPr>
              <p:sp>
                <p:nvSpPr>
                  <p:cNvPr id="388" name="Line 98">
                    <a:extLst>
                      <a:ext uri="{FF2B5EF4-FFF2-40B4-BE49-F238E27FC236}">
                        <a16:creationId xmlns:a16="http://schemas.microsoft.com/office/drawing/2014/main" id="{6A63E6CE-0143-46ED-8A44-29D798CD4CB8}"/>
                      </a:ext>
                    </a:extLst>
                  </p:cNvPr>
                  <p:cNvSpPr>
                    <a:spLocks noChangeShapeType="1"/>
                  </p:cNvSpPr>
                  <p:nvPr/>
                </p:nvSpPr>
                <p:spPr bwMode="auto">
                  <a:xfrm>
                    <a:off x="4059" y="2523"/>
                    <a:ext cx="13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89" name="Line 99">
                    <a:extLst>
                      <a:ext uri="{FF2B5EF4-FFF2-40B4-BE49-F238E27FC236}">
                        <a16:creationId xmlns:a16="http://schemas.microsoft.com/office/drawing/2014/main" id="{04E20E43-0CEA-4AC2-90A7-B61AE3CF6C08}"/>
                      </a:ext>
                    </a:extLst>
                  </p:cNvPr>
                  <p:cNvSpPr>
                    <a:spLocks noChangeShapeType="1"/>
                  </p:cNvSpPr>
                  <p:nvPr/>
                </p:nvSpPr>
                <p:spPr bwMode="auto">
                  <a:xfrm>
                    <a:off x="4082" y="2568"/>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90" name="Line 100">
                    <a:extLst>
                      <a:ext uri="{FF2B5EF4-FFF2-40B4-BE49-F238E27FC236}">
                        <a16:creationId xmlns:a16="http://schemas.microsoft.com/office/drawing/2014/main" id="{2BA3FA49-AA6B-4C67-9E40-B62DE2CD3B90}"/>
                      </a:ext>
                    </a:extLst>
                  </p:cNvPr>
                  <p:cNvSpPr>
                    <a:spLocks noChangeShapeType="1"/>
                  </p:cNvSpPr>
                  <p:nvPr/>
                </p:nvSpPr>
                <p:spPr bwMode="auto">
                  <a:xfrm>
                    <a:off x="4105" y="2614"/>
                    <a:ext cx="4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sp>
            <p:nvSpPr>
              <p:cNvPr id="332" name="Line 101">
                <a:extLst>
                  <a:ext uri="{FF2B5EF4-FFF2-40B4-BE49-F238E27FC236}">
                    <a16:creationId xmlns:a16="http://schemas.microsoft.com/office/drawing/2014/main" id="{E0E6ED01-756E-4544-BBBA-9C85683E7CBA}"/>
                  </a:ext>
                </a:extLst>
              </p:cNvPr>
              <p:cNvSpPr>
                <a:spLocks noChangeShapeType="1"/>
              </p:cNvSpPr>
              <p:nvPr/>
            </p:nvSpPr>
            <p:spPr bwMode="auto">
              <a:xfrm>
                <a:off x="3995" y="3087"/>
                <a:ext cx="47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3" name="Line 102">
                <a:extLst>
                  <a:ext uri="{FF2B5EF4-FFF2-40B4-BE49-F238E27FC236}">
                    <a16:creationId xmlns:a16="http://schemas.microsoft.com/office/drawing/2014/main" id="{3B9C011F-E281-4656-86A3-C867673119C7}"/>
                  </a:ext>
                </a:extLst>
              </p:cNvPr>
              <p:cNvSpPr>
                <a:spLocks noChangeShapeType="1"/>
              </p:cNvSpPr>
              <p:nvPr/>
            </p:nvSpPr>
            <p:spPr bwMode="auto">
              <a:xfrm>
                <a:off x="4290" y="3157"/>
                <a:ext cx="47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4" name="Line 103">
                <a:extLst>
                  <a:ext uri="{FF2B5EF4-FFF2-40B4-BE49-F238E27FC236}">
                    <a16:creationId xmlns:a16="http://schemas.microsoft.com/office/drawing/2014/main" id="{39A8F3D0-1069-4B6E-9135-C5DB15ACF7D5}"/>
                  </a:ext>
                </a:extLst>
              </p:cNvPr>
              <p:cNvSpPr>
                <a:spLocks noChangeShapeType="1"/>
              </p:cNvSpPr>
              <p:nvPr/>
            </p:nvSpPr>
            <p:spPr bwMode="auto">
              <a:xfrm>
                <a:off x="3722" y="3157"/>
                <a:ext cx="27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5" name="Line 104">
                <a:extLst>
                  <a:ext uri="{FF2B5EF4-FFF2-40B4-BE49-F238E27FC236}">
                    <a16:creationId xmlns:a16="http://schemas.microsoft.com/office/drawing/2014/main" id="{9AA630BB-FFEC-4E8B-8235-CA6310E35A01}"/>
                  </a:ext>
                </a:extLst>
              </p:cNvPr>
              <p:cNvSpPr>
                <a:spLocks noChangeShapeType="1"/>
              </p:cNvSpPr>
              <p:nvPr/>
            </p:nvSpPr>
            <p:spPr bwMode="auto">
              <a:xfrm>
                <a:off x="4765" y="3067"/>
                <a:ext cx="27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6" name="Line 105">
                <a:extLst>
                  <a:ext uri="{FF2B5EF4-FFF2-40B4-BE49-F238E27FC236}">
                    <a16:creationId xmlns:a16="http://schemas.microsoft.com/office/drawing/2014/main" id="{A8707BD1-CCB1-4AEA-B72F-218796EF83E1}"/>
                  </a:ext>
                </a:extLst>
              </p:cNvPr>
              <p:cNvSpPr>
                <a:spLocks noChangeShapeType="1"/>
              </p:cNvSpPr>
              <p:nvPr/>
            </p:nvSpPr>
            <p:spPr bwMode="auto">
              <a:xfrm flipV="1">
                <a:off x="3791" y="2259"/>
                <a:ext cx="0" cy="90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7" name="Line 106">
                <a:extLst>
                  <a:ext uri="{FF2B5EF4-FFF2-40B4-BE49-F238E27FC236}">
                    <a16:creationId xmlns:a16="http://schemas.microsoft.com/office/drawing/2014/main" id="{0B448002-18F4-4D5B-8979-23DDA09BAF90}"/>
                  </a:ext>
                </a:extLst>
              </p:cNvPr>
              <p:cNvSpPr>
                <a:spLocks noChangeShapeType="1"/>
              </p:cNvSpPr>
              <p:nvPr/>
            </p:nvSpPr>
            <p:spPr bwMode="auto">
              <a:xfrm>
                <a:off x="3791" y="2262"/>
                <a:ext cx="249"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8" name="Line 107">
                <a:extLst>
                  <a:ext uri="{FF2B5EF4-FFF2-40B4-BE49-F238E27FC236}">
                    <a16:creationId xmlns:a16="http://schemas.microsoft.com/office/drawing/2014/main" id="{977869F1-63D4-4B4C-BBBA-FACB3D338F1D}"/>
                  </a:ext>
                </a:extLst>
              </p:cNvPr>
              <p:cNvSpPr>
                <a:spLocks noChangeShapeType="1"/>
              </p:cNvSpPr>
              <p:nvPr/>
            </p:nvSpPr>
            <p:spPr bwMode="auto">
              <a:xfrm flipV="1">
                <a:off x="4970" y="2259"/>
                <a:ext cx="0" cy="816"/>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39" name="Line 108">
                <a:extLst>
                  <a:ext uri="{FF2B5EF4-FFF2-40B4-BE49-F238E27FC236}">
                    <a16:creationId xmlns:a16="http://schemas.microsoft.com/office/drawing/2014/main" id="{1B985D64-11B0-4B28-B084-A8E7C4EDEF9F}"/>
                  </a:ext>
                </a:extLst>
              </p:cNvPr>
              <p:cNvSpPr>
                <a:spLocks noChangeShapeType="1"/>
              </p:cNvSpPr>
              <p:nvPr/>
            </p:nvSpPr>
            <p:spPr bwMode="auto">
              <a:xfrm>
                <a:off x="4663" y="2262"/>
                <a:ext cx="317" cy="0"/>
              </a:xfrm>
              <a:prstGeom prst="line">
                <a:avLst/>
              </a:prstGeom>
              <a:noFill/>
              <a:ln w="381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820" name="Group 109">
                <a:extLst>
                  <a:ext uri="{FF2B5EF4-FFF2-40B4-BE49-F238E27FC236}">
                    <a16:creationId xmlns:a16="http://schemas.microsoft.com/office/drawing/2014/main" id="{DA3B2B21-7D70-4F1E-8790-AA4BB47F8263}"/>
                  </a:ext>
                </a:extLst>
              </p:cNvPr>
              <p:cNvGrpSpPr>
                <a:grpSpLocks/>
              </p:cNvGrpSpPr>
              <p:nvPr/>
            </p:nvGrpSpPr>
            <p:grpSpPr bwMode="auto">
              <a:xfrm>
                <a:off x="3575" y="3293"/>
                <a:ext cx="1633" cy="681"/>
                <a:chOff x="1247" y="2840"/>
                <a:chExt cx="1633" cy="681"/>
              </a:xfrm>
            </p:grpSpPr>
            <p:sp>
              <p:nvSpPr>
                <p:cNvPr id="380" name="Line 110">
                  <a:extLst>
                    <a:ext uri="{FF2B5EF4-FFF2-40B4-BE49-F238E27FC236}">
                      <a16:creationId xmlns:a16="http://schemas.microsoft.com/office/drawing/2014/main" id="{B10450DC-E505-451F-9677-4231207B1B39}"/>
                    </a:ext>
                  </a:extLst>
                </p:cNvPr>
                <p:cNvSpPr>
                  <a:spLocks noChangeShapeType="1"/>
                </p:cNvSpPr>
                <p:nvPr/>
              </p:nvSpPr>
              <p:spPr bwMode="auto">
                <a:xfrm>
                  <a:off x="1247" y="2931"/>
                  <a:ext cx="0" cy="59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81" name="Line 111">
                  <a:extLst>
                    <a:ext uri="{FF2B5EF4-FFF2-40B4-BE49-F238E27FC236}">
                      <a16:creationId xmlns:a16="http://schemas.microsoft.com/office/drawing/2014/main" id="{1E4ACBF2-DEE6-4B7D-8039-68B4B7F07C0A}"/>
                    </a:ext>
                  </a:extLst>
                </p:cNvPr>
                <p:cNvSpPr>
                  <a:spLocks noChangeShapeType="1"/>
                </p:cNvSpPr>
                <p:nvPr/>
              </p:nvSpPr>
              <p:spPr bwMode="auto">
                <a:xfrm>
                  <a:off x="2880" y="2840"/>
                  <a:ext cx="0" cy="68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82" name="Line 112">
                  <a:extLst>
                    <a:ext uri="{FF2B5EF4-FFF2-40B4-BE49-F238E27FC236}">
                      <a16:creationId xmlns:a16="http://schemas.microsoft.com/office/drawing/2014/main" id="{765D5BA7-5CFD-48E6-BFD6-F4B69648B7D3}"/>
                    </a:ext>
                  </a:extLst>
                </p:cNvPr>
                <p:cNvSpPr>
                  <a:spLocks noChangeShapeType="1"/>
                </p:cNvSpPr>
                <p:nvPr/>
              </p:nvSpPr>
              <p:spPr bwMode="auto">
                <a:xfrm>
                  <a:off x="1247" y="3521"/>
                  <a:ext cx="163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341" name="Text Box 113">
                <a:extLst>
                  <a:ext uri="{FF2B5EF4-FFF2-40B4-BE49-F238E27FC236}">
                    <a16:creationId xmlns:a16="http://schemas.microsoft.com/office/drawing/2014/main" id="{FC926359-B868-410F-8E18-13D52C8AB5DA}"/>
                  </a:ext>
                </a:extLst>
              </p:cNvPr>
              <p:cNvSpPr txBox="1">
                <a:spLocks noChangeArrowheads="1"/>
              </p:cNvSpPr>
              <p:nvPr/>
            </p:nvSpPr>
            <p:spPr bwMode="auto">
              <a:xfrm>
                <a:off x="4607" y="2069"/>
                <a:ext cx="54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BL1_cell</a:t>
                </a:r>
                <a:endParaRPr kumimoji="0" lang="en-CA" altLang="zh-CN" sz="1200" kern="0" dirty="0">
                  <a:solidFill>
                    <a:srgbClr val="000000"/>
                  </a:solidFill>
                  <a:latin typeface="Arial" panose="020B0604020202020204" pitchFamily="34" charset="0"/>
                  <a:ea typeface="+mn-ea"/>
                </a:endParaRPr>
              </a:p>
            </p:txBody>
          </p:sp>
          <p:sp>
            <p:nvSpPr>
              <p:cNvPr id="342" name="Text Box 114">
                <a:extLst>
                  <a:ext uri="{FF2B5EF4-FFF2-40B4-BE49-F238E27FC236}">
                    <a16:creationId xmlns:a16="http://schemas.microsoft.com/office/drawing/2014/main" id="{F44AF5CF-4E40-4DE1-A2BD-9C012DDAEA78}"/>
                  </a:ext>
                </a:extLst>
              </p:cNvPr>
              <p:cNvSpPr txBox="1">
                <a:spLocks noChangeArrowheads="1"/>
              </p:cNvSpPr>
              <p:nvPr/>
            </p:nvSpPr>
            <p:spPr bwMode="auto">
              <a:xfrm>
                <a:off x="3609" y="2069"/>
                <a:ext cx="54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BL1_cell</a:t>
                </a:r>
                <a:endParaRPr kumimoji="0" lang="en-CA" altLang="zh-CN" sz="1200" kern="0">
                  <a:solidFill>
                    <a:srgbClr val="000000"/>
                  </a:solidFill>
                  <a:latin typeface="Arial" panose="020B0604020202020204" pitchFamily="34" charset="0"/>
                  <a:ea typeface="+mn-ea"/>
                </a:endParaRPr>
              </a:p>
            </p:txBody>
          </p:sp>
          <p:grpSp>
            <p:nvGrpSpPr>
              <p:cNvPr id="30823" name="Group 115">
                <a:extLst>
                  <a:ext uri="{FF2B5EF4-FFF2-40B4-BE49-F238E27FC236}">
                    <a16:creationId xmlns:a16="http://schemas.microsoft.com/office/drawing/2014/main" id="{06BA6B0A-F613-4D10-9529-90EF3D4757A1}"/>
                  </a:ext>
                </a:extLst>
              </p:cNvPr>
              <p:cNvGrpSpPr>
                <a:grpSpLocks/>
              </p:cNvGrpSpPr>
              <p:nvPr/>
            </p:nvGrpSpPr>
            <p:grpSpPr bwMode="auto">
              <a:xfrm flipH="1">
                <a:off x="4471" y="2749"/>
                <a:ext cx="359" cy="839"/>
                <a:chOff x="4128" y="2205"/>
                <a:chExt cx="359" cy="839"/>
              </a:xfrm>
            </p:grpSpPr>
            <p:grpSp>
              <p:nvGrpSpPr>
                <p:cNvPr id="30834" name="Group 116">
                  <a:extLst>
                    <a:ext uri="{FF2B5EF4-FFF2-40B4-BE49-F238E27FC236}">
                      <a16:creationId xmlns:a16="http://schemas.microsoft.com/office/drawing/2014/main" id="{BCD7F20E-F207-4997-A414-4F7EEFEA56B7}"/>
                    </a:ext>
                  </a:extLst>
                </p:cNvPr>
                <p:cNvGrpSpPr>
                  <a:grpSpLocks/>
                </p:cNvGrpSpPr>
                <p:nvPr/>
              </p:nvGrpSpPr>
              <p:grpSpPr bwMode="auto">
                <a:xfrm>
                  <a:off x="4195" y="2205"/>
                  <a:ext cx="288" cy="384"/>
                  <a:chOff x="1344" y="768"/>
                  <a:chExt cx="288" cy="384"/>
                </a:xfrm>
              </p:grpSpPr>
              <p:sp>
                <p:nvSpPr>
                  <p:cNvPr id="371" name="Line 117">
                    <a:extLst>
                      <a:ext uri="{FF2B5EF4-FFF2-40B4-BE49-F238E27FC236}">
                        <a16:creationId xmlns:a16="http://schemas.microsoft.com/office/drawing/2014/main" id="{420634BE-C91F-4BDC-86FD-7C21934E26A6}"/>
                      </a:ext>
                    </a:extLst>
                  </p:cNvPr>
                  <p:cNvSpPr>
                    <a:spLocks noChangeShapeType="1"/>
                  </p:cNvSpPr>
                  <p:nvPr/>
                </p:nvSpPr>
                <p:spPr bwMode="auto">
                  <a:xfrm>
                    <a:off x="1536"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852" name="Group 118">
                    <a:extLst>
                      <a:ext uri="{FF2B5EF4-FFF2-40B4-BE49-F238E27FC236}">
                        <a16:creationId xmlns:a16="http://schemas.microsoft.com/office/drawing/2014/main" id="{49CE5A12-7885-477B-B0A9-9DF6906B1F48}"/>
                      </a:ext>
                    </a:extLst>
                  </p:cNvPr>
                  <p:cNvGrpSpPr>
                    <a:grpSpLocks/>
                  </p:cNvGrpSpPr>
                  <p:nvPr/>
                </p:nvGrpSpPr>
                <p:grpSpPr bwMode="auto">
                  <a:xfrm>
                    <a:off x="1344" y="768"/>
                    <a:ext cx="192" cy="384"/>
                    <a:chOff x="1344" y="768"/>
                    <a:chExt cx="192" cy="384"/>
                  </a:xfrm>
                </p:grpSpPr>
                <p:sp>
                  <p:nvSpPr>
                    <p:cNvPr id="373" name="Line 119">
                      <a:extLst>
                        <a:ext uri="{FF2B5EF4-FFF2-40B4-BE49-F238E27FC236}">
                          <a16:creationId xmlns:a16="http://schemas.microsoft.com/office/drawing/2014/main" id="{2283F8A7-0687-4D16-B9BA-DB8A45EA4561}"/>
                        </a:ext>
                      </a:extLst>
                    </p:cNvPr>
                    <p:cNvSpPr>
                      <a:spLocks noChangeShapeType="1"/>
                    </p:cNvSpPr>
                    <p:nvPr/>
                  </p:nvSpPr>
                  <p:spPr bwMode="auto">
                    <a:xfrm>
                      <a:off x="1440"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74" name="Line 120">
                      <a:extLst>
                        <a:ext uri="{FF2B5EF4-FFF2-40B4-BE49-F238E27FC236}">
                          <a16:creationId xmlns:a16="http://schemas.microsoft.com/office/drawing/2014/main" id="{28D3DB80-3D6F-4C6F-ACFF-6E144C58154C}"/>
                        </a:ext>
                      </a:extLst>
                    </p:cNvPr>
                    <p:cNvSpPr>
                      <a:spLocks noChangeShapeType="1"/>
                    </p:cNvSpPr>
                    <p:nvPr/>
                  </p:nvSpPr>
                  <p:spPr bwMode="auto">
                    <a:xfrm>
                      <a:off x="1488"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75" name="Line 121">
                      <a:extLst>
                        <a:ext uri="{FF2B5EF4-FFF2-40B4-BE49-F238E27FC236}">
                          <a16:creationId xmlns:a16="http://schemas.microsoft.com/office/drawing/2014/main" id="{ED9C9104-171C-4320-AA68-36DA9B491E4D}"/>
                        </a:ext>
                      </a:extLst>
                    </p:cNvPr>
                    <p:cNvSpPr>
                      <a:spLocks noChangeShapeType="1"/>
                    </p:cNvSpPr>
                    <p:nvPr/>
                  </p:nvSpPr>
                  <p:spPr bwMode="auto">
                    <a:xfrm>
                      <a:off x="134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76" name="Line 122">
                      <a:extLst>
                        <a:ext uri="{FF2B5EF4-FFF2-40B4-BE49-F238E27FC236}">
                          <a16:creationId xmlns:a16="http://schemas.microsoft.com/office/drawing/2014/main" id="{1D53F2F0-AE62-4478-9D04-99E03BF14A48}"/>
                        </a:ext>
                      </a:extLst>
                    </p:cNvPr>
                    <p:cNvSpPr>
                      <a:spLocks noChangeShapeType="1"/>
                    </p:cNvSpPr>
                    <p:nvPr/>
                  </p:nvSpPr>
                  <p:spPr bwMode="auto">
                    <a:xfrm>
                      <a:off x="134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77" name="Line 123">
                      <a:extLst>
                        <a:ext uri="{FF2B5EF4-FFF2-40B4-BE49-F238E27FC236}">
                          <a16:creationId xmlns:a16="http://schemas.microsoft.com/office/drawing/2014/main" id="{5F485A96-432A-4382-ADC8-E4E6BA093354}"/>
                        </a:ext>
                      </a:extLst>
                    </p:cNvPr>
                    <p:cNvSpPr>
                      <a:spLocks noChangeShapeType="1"/>
                    </p:cNvSpPr>
                    <p:nvPr/>
                  </p:nvSpPr>
                  <p:spPr bwMode="auto">
                    <a:xfrm>
                      <a:off x="1344"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78" name="Line 124">
                      <a:extLst>
                        <a:ext uri="{FF2B5EF4-FFF2-40B4-BE49-F238E27FC236}">
                          <a16:creationId xmlns:a16="http://schemas.microsoft.com/office/drawing/2014/main" id="{3998EBBF-573D-489D-8A71-A872330BF4EB}"/>
                        </a:ext>
                      </a:extLst>
                    </p:cNvPr>
                    <p:cNvSpPr>
                      <a:spLocks noChangeShapeType="1"/>
                    </p:cNvSpPr>
                    <p:nvPr/>
                  </p:nvSpPr>
                  <p:spPr bwMode="auto">
                    <a:xfrm>
                      <a:off x="1344"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79" name="Oval 125">
                      <a:extLst>
                        <a:ext uri="{FF2B5EF4-FFF2-40B4-BE49-F238E27FC236}">
                          <a16:creationId xmlns:a16="http://schemas.microsoft.com/office/drawing/2014/main" id="{412561C4-428F-4412-AEF1-E46499FCEA41}"/>
                        </a:ext>
                      </a:extLst>
                    </p:cNvPr>
                    <p:cNvSpPr>
                      <a:spLocks noChangeArrowheads="1"/>
                    </p:cNvSpPr>
                    <p:nvPr/>
                  </p:nvSpPr>
                  <p:spPr bwMode="auto">
                    <a:xfrm>
                      <a:off x="1488" y="927"/>
                      <a:ext cx="48" cy="48"/>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grpSp>
              <p:nvGrpSpPr>
                <p:cNvPr id="30835" name="Group 126">
                  <a:extLst>
                    <a:ext uri="{FF2B5EF4-FFF2-40B4-BE49-F238E27FC236}">
                      <a16:creationId xmlns:a16="http://schemas.microsoft.com/office/drawing/2014/main" id="{A6E7FB35-CAA6-4AE2-AD04-36BC7E0A1B4D}"/>
                    </a:ext>
                  </a:extLst>
                </p:cNvPr>
                <p:cNvGrpSpPr>
                  <a:grpSpLocks/>
                </p:cNvGrpSpPr>
                <p:nvPr/>
              </p:nvGrpSpPr>
              <p:grpSpPr bwMode="auto">
                <a:xfrm flipH="1">
                  <a:off x="4195" y="2568"/>
                  <a:ext cx="240" cy="384"/>
                  <a:chOff x="960" y="768"/>
                  <a:chExt cx="240" cy="384"/>
                </a:xfrm>
              </p:grpSpPr>
              <p:sp>
                <p:nvSpPr>
                  <p:cNvPr id="364" name="Line 127">
                    <a:extLst>
                      <a:ext uri="{FF2B5EF4-FFF2-40B4-BE49-F238E27FC236}">
                        <a16:creationId xmlns:a16="http://schemas.microsoft.com/office/drawing/2014/main" id="{44F6BF33-C343-4C7D-9663-A647A698762F}"/>
                      </a:ext>
                    </a:extLst>
                  </p:cNvPr>
                  <p:cNvSpPr>
                    <a:spLocks noChangeShapeType="1"/>
                  </p:cNvSpPr>
                  <p:nvPr/>
                </p:nvSpPr>
                <p:spPr bwMode="auto">
                  <a:xfrm>
                    <a:off x="1056"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5" name="Line 128">
                    <a:extLst>
                      <a:ext uri="{FF2B5EF4-FFF2-40B4-BE49-F238E27FC236}">
                        <a16:creationId xmlns:a16="http://schemas.microsoft.com/office/drawing/2014/main" id="{886D1813-1FD2-4C4F-B347-99328EDF2B61}"/>
                      </a:ext>
                    </a:extLst>
                  </p:cNvPr>
                  <p:cNvSpPr>
                    <a:spLocks noChangeShapeType="1"/>
                  </p:cNvSpPr>
                  <p:nvPr/>
                </p:nvSpPr>
                <p:spPr bwMode="auto">
                  <a:xfrm>
                    <a:off x="1104" y="864"/>
                    <a:ext cx="0" cy="19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6" name="Line 129">
                    <a:extLst>
                      <a:ext uri="{FF2B5EF4-FFF2-40B4-BE49-F238E27FC236}">
                        <a16:creationId xmlns:a16="http://schemas.microsoft.com/office/drawing/2014/main" id="{5FDD6161-6126-4292-8669-4A2ECC1E48A8}"/>
                      </a:ext>
                    </a:extLst>
                  </p:cNvPr>
                  <p:cNvSpPr>
                    <a:spLocks noChangeShapeType="1"/>
                  </p:cNvSpPr>
                  <p:nvPr/>
                </p:nvSpPr>
                <p:spPr bwMode="auto">
                  <a:xfrm>
                    <a:off x="1104" y="1056"/>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7" name="Line 130">
                    <a:extLst>
                      <a:ext uri="{FF2B5EF4-FFF2-40B4-BE49-F238E27FC236}">
                        <a16:creationId xmlns:a16="http://schemas.microsoft.com/office/drawing/2014/main" id="{721F67F8-6848-4672-82D7-375C88219494}"/>
                      </a:ext>
                    </a:extLst>
                  </p:cNvPr>
                  <p:cNvSpPr>
                    <a:spLocks noChangeShapeType="1"/>
                  </p:cNvSpPr>
                  <p:nvPr/>
                </p:nvSpPr>
                <p:spPr bwMode="auto">
                  <a:xfrm>
                    <a:off x="1104" y="864"/>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8" name="Line 131">
                    <a:extLst>
                      <a:ext uri="{FF2B5EF4-FFF2-40B4-BE49-F238E27FC236}">
                        <a16:creationId xmlns:a16="http://schemas.microsoft.com/office/drawing/2014/main" id="{0896B111-5E4A-48B3-903B-0774F28A7820}"/>
                      </a:ext>
                    </a:extLst>
                  </p:cNvPr>
                  <p:cNvSpPr>
                    <a:spLocks noChangeShapeType="1"/>
                  </p:cNvSpPr>
                  <p:nvPr/>
                </p:nvSpPr>
                <p:spPr bwMode="auto">
                  <a:xfrm>
                    <a:off x="960" y="960"/>
                    <a:ext cx="9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9" name="Line 132">
                    <a:extLst>
                      <a:ext uri="{FF2B5EF4-FFF2-40B4-BE49-F238E27FC236}">
                        <a16:creationId xmlns:a16="http://schemas.microsoft.com/office/drawing/2014/main" id="{11909781-A0E4-4F73-B567-0CC356F52B84}"/>
                      </a:ext>
                    </a:extLst>
                  </p:cNvPr>
                  <p:cNvSpPr>
                    <a:spLocks noChangeShapeType="1"/>
                  </p:cNvSpPr>
                  <p:nvPr/>
                </p:nvSpPr>
                <p:spPr bwMode="auto">
                  <a:xfrm>
                    <a:off x="1200" y="768"/>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70" name="Line 133">
                    <a:extLst>
                      <a:ext uri="{FF2B5EF4-FFF2-40B4-BE49-F238E27FC236}">
                        <a16:creationId xmlns:a16="http://schemas.microsoft.com/office/drawing/2014/main" id="{B631CE7F-C5FE-4086-9C6A-09F678792B7E}"/>
                      </a:ext>
                    </a:extLst>
                  </p:cNvPr>
                  <p:cNvSpPr>
                    <a:spLocks noChangeShapeType="1"/>
                  </p:cNvSpPr>
                  <p:nvPr/>
                </p:nvSpPr>
                <p:spPr bwMode="auto">
                  <a:xfrm>
                    <a:off x="1200" y="1056"/>
                    <a:ext cx="0"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nvGrpSpPr>
                <p:cNvPr id="30836" name="Group 134">
                  <a:extLst>
                    <a:ext uri="{FF2B5EF4-FFF2-40B4-BE49-F238E27FC236}">
                      <a16:creationId xmlns:a16="http://schemas.microsoft.com/office/drawing/2014/main" id="{81F5909B-EA2F-4E16-B6CE-F29211A222BC}"/>
                    </a:ext>
                  </a:extLst>
                </p:cNvPr>
                <p:cNvGrpSpPr>
                  <a:grpSpLocks/>
                </p:cNvGrpSpPr>
                <p:nvPr/>
              </p:nvGrpSpPr>
              <p:grpSpPr bwMode="auto">
                <a:xfrm>
                  <a:off x="4441" y="2398"/>
                  <a:ext cx="46" cy="363"/>
                  <a:chOff x="4422" y="2387"/>
                  <a:chExt cx="46" cy="363"/>
                </a:xfrm>
              </p:grpSpPr>
              <p:sp>
                <p:nvSpPr>
                  <p:cNvPr id="362" name="Line 135">
                    <a:extLst>
                      <a:ext uri="{FF2B5EF4-FFF2-40B4-BE49-F238E27FC236}">
                        <a16:creationId xmlns:a16="http://schemas.microsoft.com/office/drawing/2014/main" id="{24CA099F-2C39-43F2-BA80-347D99E58EC8}"/>
                      </a:ext>
                    </a:extLst>
                  </p:cNvPr>
                  <p:cNvSpPr>
                    <a:spLocks noChangeShapeType="1"/>
                  </p:cNvSpPr>
                  <p:nvPr/>
                </p:nvSpPr>
                <p:spPr bwMode="auto">
                  <a:xfrm flipH="1" flipV="1">
                    <a:off x="4468" y="2387"/>
                    <a:ext cx="0" cy="36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3" name="Line 136">
                    <a:extLst>
                      <a:ext uri="{FF2B5EF4-FFF2-40B4-BE49-F238E27FC236}">
                        <a16:creationId xmlns:a16="http://schemas.microsoft.com/office/drawing/2014/main" id="{DCF00DB9-E94F-4AC3-B7ED-57D133156C25}"/>
                      </a:ext>
                    </a:extLst>
                  </p:cNvPr>
                  <p:cNvSpPr>
                    <a:spLocks noChangeShapeType="1"/>
                  </p:cNvSpPr>
                  <p:nvPr/>
                </p:nvSpPr>
                <p:spPr bwMode="auto">
                  <a:xfrm flipH="1">
                    <a:off x="4422" y="2750"/>
                    <a:ext cx="4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sp>
              <p:nvSpPr>
                <p:cNvPr id="357" name="Line 137">
                  <a:extLst>
                    <a:ext uri="{FF2B5EF4-FFF2-40B4-BE49-F238E27FC236}">
                      <a16:creationId xmlns:a16="http://schemas.microsoft.com/office/drawing/2014/main" id="{4D663D6B-E217-4162-8AFB-0F307BF11D23}"/>
                    </a:ext>
                  </a:extLst>
                </p:cNvPr>
                <p:cNvSpPr>
                  <a:spLocks noChangeShapeType="1"/>
                </p:cNvSpPr>
                <p:nvPr/>
              </p:nvSpPr>
              <p:spPr bwMode="auto">
                <a:xfrm flipH="1">
                  <a:off x="4146" y="2205"/>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nvGrpSpPr>
                <p:cNvPr id="30838" name="Group 138">
                  <a:extLst>
                    <a:ext uri="{FF2B5EF4-FFF2-40B4-BE49-F238E27FC236}">
                      <a16:creationId xmlns:a16="http://schemas.microsoft.com/office/drawing/2014/main" id="{E3B7C86C-970A-4CAB-8FD7-F2FC9EC2B2FF}"/>
                    </a:ext>
                  </a:extLst>
                </p:cNvPr>
                <p:cNvGrpSpPr>
                  <a:grpSpLocks/>
                </p:cNvGrpSpPr>
                <p:nvPr/>
              </p:nvGrpSpPr>
              <p:grpSpPr bwMode="auto">
                <a:xfrm flipH="1">
                  <a:off x="4128" y="2953"/>
                  <a:ext cx="136" cy="91"/>
                  <a:chOff x="4059" y="2523"/>
                  <a:chExt cx="136" cy="91"/>
                </a:xfrm>
              </p:grpSpPr>
              <p:sp>
                <p:nvSpPr>
                  <p:cNvPr id="359" name="Line 139">
                    <a:extLst>
                      <a:ext uri="{FF2B5EF4-FFF2-40B4-BE49-F238E27FC236}">
                        <a16:creationId xmlns:a16="http://schemas.microsoft.com/office/drawing/2014/main" id="{15A2F9C4-E31F-41B4-A71F-398FED4F4E33}"/>
                      </a:ext>
                    </a:extLst>
                  </p:cNvPr>
                  <p:cNvSpPr>
                    <a:spLocks noChangeShapeType="1"/>
                  </p:cNvSpPr>
                  <p:nvPr/>
                </p:nvSpPr>
                <p:spPr bwMode="auto">
                  <a:xfrm>
                    <a:off x="4059" y="2523"/>
                    <a:ext cx="13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0" name="Line 140">
                    <a:extLst>
                      <a:ext uri="{FF2B5EF4-FFF2-40B4-BE49-F238E27FC236}">
                        <a16:creationId xmlns:a16="http://schemas.microsoft.com/office/drawing/2014/main" id="{4E2A1F55-7F13-4C0B-9147-607E93EE3555}"/>
                      </a:ext>
                    </a:extLst>
                  </p:cNvPr>
                  <p:cNvSpPr>
                    <a:spLocks noChangeShapeType="1"/>
                  </p:cNvSpPr>
                  <p:nvPr/>
                </p:nvSpPr>
                <p:spPr bwMode="auto">
                  <a:xfrm>
                    <a:off x="4082" y="2568"/>
                    <a:ext cx="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sp>
                <p:nvSpPr>
                  <p:cNvPr id="361" name="Line 141">
                    <a:extLst>
                      <a:ext uri="{FF2B5EF4-FFF2-40B4-BE49-F238E27FC236}">
                        <a16:creationId xmlns:a16="http://schemas.microsoft.com/office/drawing/2014/main" id="{02D8D7DE-5A54-4AB8-B276-86146ADF7125}"/>
                      </a:ext>
                    </a:extLst>
                  </p:cNvPr>
                  <p:cNvSpPr>
                    <a:spLocks noChangeShapeType="1"/>
                  </p:cNvSpPr>
                  <p:nvPr/>
                </p:nvSpPr>
                <p:spPr bwMode="auto">
                  <a:xfrm>
                    <a:off x="4105" y="2614"/>
                    <a:ext cx="4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fontAlgn="auto" hangingPunct="1">
                      <a:spcBef>
                        <a:spcPts val="0"/>
                      </a:spcBef>
                      <a:spcAft>
                        <a:spcPts val="0"/>
                      </a:spcAft>
                      <a:defRPr/>
                    </a:pPr>
                    <a:endParaRPr kumimoji="0" lang="zh-CN" altLang="en-US" sz="1800" kern="0">
                      <a:solidFill>
                        <a:srgbClr val="000000"/>
                      </a:solidFill>
                      <a:ea typeface="+mn-ea"/>
                    </a:endParaRPr>
                  </a:p>
                </p:txBody>
              </p:sp>
            </p:grpSp>
          </p:grpSp>
          <p:sp>
            <p:nvSpPr>
              <p:cNvPr id="344" name="Text Box 142">
                <a:extLst>
                  <a:ext uri="{FF2B5EF4-FFF2-40B4-BE49-F238E27FC236}">
                    <a16:creationId xmlns:a16="http://schemas.microsoft.com/office/drawing/2014/main" id="{F557AC69-BB85-4A5D-B94A-16BF26C93164}"/>
                  </a:ext>
                </a:extLst>
              </p:cNvPr>
              <p:cNvSpPr txBox="1">
                <a:spLocks noChangeArrowheads="1"/>
              </p:cNvSpPr>
              <p:nvPr/>
            </p:nvSpPr>
            <p:spPr bwMode="auto">
              <a:xfrm>
                <a:off x="3882" y="2840"/>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P1</a:t>
                </a:r>
                <a:endParaRPr kumimoji="0" lang="en-CA" altLang="zh-CN" sz="1200" kern="0">
                  <a:solidFill>
                    <a:srgbClr val="000000"/>
                  </a:solidFill>
                  <a:latin typeface="Arial" panose="020B0604020202020204" pitchFamily="34" charset="0"/>
                  <a:ea typeface="+mn-ea"/>
                </a:endParaRPr>
              </a:p>
            </p:txBody>
          </p:sp>
          <p:sp>
            <p:nvSpPr>
              <p:cNvPr id="345" name="Text Box 143">
                <a:extLst>
                  <a:ext uri="{FF2B5EF4-FFF2-40B4-BE49-F238E27FC236}">
                    <a16:creationId xmlns:a16="http://schemas.microsoft.com/office/drawing/2014/main" id="{B1DA7BE2-6F51-40EC-8EA3-37D60526E794}"/>
                  </a:ext>
                </a:extLst>
              </p:cNvPr>
              <p:cNvSpPr txBox="1">
                <a:spLocks noChangeArrowheads="1"/>
              </p:cNvSpPr>
              <p:nvPr/>
            </p:nvSpPr>
            <p:spPr bwMode="auto">
              <a:xfrm>
                <a:off x="4698" y="2840"/>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P2</a:t>
                </a:r>
                <a:endParaRPr kumimoji="0" lang="en-CA" altLang="zh-CN" sz="1200" kern="0">
                  <a:solidFill>
                    <a:srgbClr val="000000"/>
                  </a:solidFill>
                  <a:latin typeface="Arial" panose="020B0604020202020204" pitchFamily="34" charset="0"/>
                  <a:ea typeface="+mn-ea"/>
                </a:endParaRPr>
              </a:p>
            </p:txBody>
          </p:sp>
          <p:sp>
            <p:nvSpPr>
              <p:cNvPr id="346" name="Text Box 144">
                <a:extLst>
                  <a:ext uri="{FF2B5EF4-FFF2-40B4-BE49-F238E27FC236}">
                    <a16:creationId xmlns:a16="http://schemas.microsoft.com/office/drawing/2014/main" id="{59FC878D-3C65-4E06-AC23-4559FDD4BAC6}"/>
                  </a:ext>
                </a:extLst>
              </p:cNvPr>
              <p:cNvSpPr txBox="1">
                <a:spLocks noChangeArrowheads="1"/>
              </p:cNvSpPr>
              <p:nvPr/>
            </p:nvSpPr>
            <p:spPr bwMode="auto">
              <a:xfrm>
                <a:off x="3882" y="3203"/>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N1</a:t>
                </a:r>
                <a:endParaRPr kumimoji="0" lang="en-CA" altLang="zh-CN" sz="1200" kern="0">
                  <a:solidFill>
                    <a:srgbClr val="000000"/>
                  </a:solidFill>
                  <a:latin typeface="Arial" panose="020B0604020202020204" pitchFamily="34" charset="0"/>
                  <a:ea typeface="+mn-ea"/>
                </a:endParaRPr>
              </a:p>
            </p:txBody>
          </p:sp>
          <p:sp>
            <p:nvSpPr>
              <p:cNvPr id="347" name="Text Box 145">
                <a:extLst>
                  <a:ext uri="{FF2B5EF4-FFF2-40B4-BE49-F238E27FC236}">
                    <a16:creationId xmlns:a16="http://schemas.microsoft.com/office/drawing/2014/main" id="{D4ACE105-F03D-40AB-8427-BFE2BAAE68E6}"/>
                  </a:ext>
                </a:extLst>
              </p:cNvPr>
              <p:cNvSpPr txBox="1">
                <a:spLocks noChangeArrowheads="1"/>
              </p:cNvSpPr>
              <p:nvPr/>
            </p:nvSpPr>
            <p:spPr bwMode="auto">
              <a:xfrm>
                <a:off x="4653" y="3203"/>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N2</a:t>
                </a:r>
                <a:endParaRPr kumimoji="0" lang="en-CA" altLang="zh-CN" sz="1200" kern="0">
                  <a:solidFill>
                    <a:srgbClr val="000000"/>
                  </a:solidFill>
                  <a:latin typeface="Arial" panose="020B0604020202020204" pitchFamily="34" charset="0"/>
                  <a:ea typeface="+mn-ea"/>
                </a:endParaRPr>
              </a:p>
            </p:txBody>
          </p:sp>
          <p:sp>
            <p:nvSpPr>
              <p:cNvPr id="348" name="Text Box 146">
                <a:extLst>
                  <a:ext uri="{FF2B5EF4-FFF2-40B4-BE49-F238E27FC236}">
                    <a16:creationId xmlns:a16="http://schemas.microsoft.com/office/drawing/2014/main" id="{0AE96E61-C6D2-476A-9ED7-18910D1AF076}"/>
                  </a:ext>
                </a:extLst>
              </p:cNvPr>
              <p:cNvSpPr txBox="1">
                <a:spLocks noChangeArrowheads="1"/>
              </p:cNvSpPr>
              <p:nvPr/>
            </p:nvSpPr>
            <p:spPr bwMode="auto">
              <a:xfrm>
                <a:off x="3473" y="2976"/>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N3</a:t>
                </a:r>
                <a:endParaRPr kumimoji="0" lang="en-CA" altLang="zh-CN" sz="1200" kern="0">
                  <a:solidFill>
                    <a:srgbClr val="000000"/>
                  </a:solidFill>
                  <a:latin typeface="Arial" panose="020B0604020202020204" pitchFamily="34" charset="0"/>
                  <a:ea typeface="+mn-ea"/>
                </a:endParaRPr>
              </a:p>
            </p:txBody>
          </p:sp>
          <p:sp>
            <p:nvSpPr>
              <p:cNvPr id="349" name="Text Box 147">
                <a:extLst>
                  <a:ext uri="{FF2B5EF4-FFF2-40B4-BE49-F238E27FC236}">
                    <a16:creationId xmlns:a16="http://schemas.microsoft.com/office/drawing/2014/main" id="{12B67D38-DEDC-4070-B23B-CBAE531985C1}"/>
                  </a:ext>
                </a:extLst>
              </p:cNvPr>
              <p:cNvSpPr txBox="1">
                <a:spLocks noChangeArrowheads="1"/>
              </p:cNvSpPr>
              <p:nvPr/>
            </p:nvSpPr>
            <p:spPr bwMode="auto">
              <a:xfrm>
                <a:off x="5106" y="2885"/>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N4</a:t>
                </a:r>
                <a:endParaRPr kumimoji="0" lang="en-CA" altLang="zh-CN" sz="1200" kern="0">
                  <a:solidFill>
                    <a:srgbClr val="000000"/>
                  </a:solidFill>
                  <a:latin typeface="Arial" panose="020B0604020202020204" pitchFamily="34" charset="0"/>
                  <a:ea typeface="+mn-ea"/>
                </a:endParaRPr>
              </a:p>
            </p:txBody>
          </p:sp>
          <p:sp>
            <p:nvSpPr>
              <p:cNvPr id="350" name="Text Box 148">
                <a:extLst>
                  <a:ext uri="{FF2B5EF4-FFF2-40B4-BE49-F238E27FC236}">
                    <a16:creationId xmlns:a16="http://schemas.microsoft.com/office/drawing/2014/main" id="{AA20CB93-F6FB-4800-A897-B87880AF9014}"/>
                  </a:ext>
                </a:extLst>
              </p:cNvPr>
              <p:cNvSpPr txBox="1">
                <a:spLocks noChangeArrowheads="1"/>
              </p:cNvSpPr>
              <p:nvPr/>
            </p:nvSpPr>
            <p:spPr bwMode="auto">
              <a:xfrm>
                <a:off x="4063" y="1615"/>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N5</a:t>
                </a:r>
                <a:endParaRPr kumimoji="0" lang="en-CA" altLang="zh-CN" sz="1200" kern="0">
                  <a:solidFill>
                    <a:srgbClr val="000000"/>
                  </a:solidFill>
                  <a:latin typeface="Arial" panose="020B0604020202020204" pitchFamily="34" charset="0"/>
                  <a:ea typeface="+mn-ea"/>
                </a:endParaRPr>
              </a:p>
            </p:txBody>
          </p:sp>
          <p:sp>
            <p:nvSpPr>
              <p:cNvPr id="351" name="Text Box 149">
                <a:extLst>
                  <a:ext uri="{FF2B5EF4-FFF2-40B4-BE49-F238E27FC236}">
                    <a16:creationId xmlns:a16="http://schemas.microsoft.com/office/drawing/2014/main" id="{C78195A4-12CD-46F9-A838-A325F4051BC2}"/>
                  </a:ext>
                </a:extLst>
              </p:cNvPr>
              <p:cNvSpPr txBox="1">
                <a:spLocks noChangeArrowheads="1"/>
              </p:cNvSpPr>
              <p:nvPr/>
            </p:nvSpPr>
            <p:spPr bwMode="auto">
              <a:xfrm>
                <a:off x="4426" y="1615"/>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N7</a:t>
                </a:r>
                <a:endParaRPr kumimoji="0" lang="en-CA" altLang="zh-CN" sz="1200" kern="0">
                  <a:solidFill>
                    <a:srgbClr val="000000"/>
                  </a:solidFill>
                  <a:latin typeface="Arial" panose="020B0604020202020204" pitchFamily="34" charset="0"/>
                  <a:ea typeface="+mn-ea"/>
                </a:endParaRPr>
              </a:p>
            </p:txBody>
          </p:sp>
          <p:sp>
            <p:nvSpPr>
              <p:cNvPr id="352" name="Text Box 150">
                <a:extLst>
                  <a:ext uri="{FF2B5EF4-FFF2-40B4-BE49-F238E27FC236}">
                    <a16:creationId xmlns:a16="http://schemas.microsoft.com/office/drawing/2014/main" id="{96D92837-539E-468C-BBCB-9921971054D5}"/>
                  </a:ext>
                </a:extLst>
              </p:cNvPr>
              <p:cNvSpPr txBox="1">
                <a:spLocks noChangeArrowheads="1"/>
              </p:cNvSpPr>
              <p:nvPr/>
            </p:nvSpPr>
            <p:spPr bwMode="auto">
              <a:xfrm>
                <a:off x="4063" y="2341"/>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N6</a:t>
                </a:r>
                <a:endParaRPr kumimoji="0" lang="en-CA" altLang="zh-CN" sz="1200" kern="0">
                  <a:solidFill>
                    <a:srgbClr val="000000"/>
                  </a:solidFill>
                  <a:latin typeface="Arial" panose="020B0604020202020204" pitchFamily="34" charset="0"/>
                  <a:ea typeface="+mn-ea"/>
                </a:endParaRPr>
              </a:p>
            </p:txBody>
          </p:sp>
          <p:sp>
            <p:nvSpPr>
              <p:cNvPr id="353" name="Text Box 151">
                <a:extLst>
                  <a:ext uri="{FF2B5EF4-FFF2-40B4-BE49-F238E27FC236}">
                    <a16:creationId xmlns:a16="http://schemas.microsoft.com/office/drawing/2014/main" id="{98FF4114-2A35-4891-8CD8-49653A127D3C}"/>
                  </a:ext>
                </a:extLst>
              </p:cNvPr>
              <p:cNvSpPr txBox="1">
                <a:spLocks noChangeArrowheads="1"/>
              </p:cNvSpPr>
              <p:nvPr/>
            </p:nvSpPr>
            <p:spPr bwMode="auto">
              <a:xfrm>
                <a:off x="4426" y="2341"/>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a:solidFill>
                      <a:srgbClr val="000000"/>
                    </a:solidFill>
                    <a:latin typeface="Arial" panose="020B0604020202020204" pitchFamily="34" charset="0"/>
                    <a:ea typeface="宋体" panose="02010600030101010101" pitchFamily="2" charset="-122"/>
                  </a:rPr>
                  <a:t>N8</a:t>
                </a:r>
                <a:endParaRPr kumimoji="0" lang="en-CA" altLang="zh-CN" sz="1200" kern="0">
                  <a:solidFill>
                    <a:srgbClr val="000000"/>
                  </a:solidFill>
                  <a:latin typeface="Arial" panose="020B0604020202020204" pitchFamily="34" charset="0"/>
                  <a:ea typeface="+mn-ea"/>
                </a:endParaRPr>
              </a:p>
            </p:txBody>
          </p:sp>
        </p:grpSp>
        <p:cxnSp>
          <p:nvCxnSpPr>
            <p:cNvPr id="30788" name="直接连接符 307">
              <a:extLst>
                <a:ext uri="{FF2B5EF4-FFF2-40B4-BE49-F238E27FC236}">
                  <a16:creationId xmlns:a16="http://schemas.microsoft.com/office/drawing/2014/main" id="{292CCB70-0230-43DE-87FA-5F7BE5B35B27}"/>
                </a:ext>
              </a:extLst>
            </p:cNvPr>
            <p:cNvCxnSpPr>
              <a:cxnSpLocks noChangeShapeType="1"/>
            </p:cNvCxnSpPr>
            <p:nvPr/>
          </p:nvCxnSpPr>
          <p:spPr bwMode="auto">
            <a:xfrm>
              <a:off x="5471248" y="1484784"/>
              <a:ext cx="216024"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30789" name="直接连接符 308">
              <a:extLst>
                <a:ext uri="{FF2B5EF4-FFF2-40B4-BE49-F238E27FC236}">
                  <a16:creationId xmlns:a16="http://schemas.microsoft.com/office/drawing/2014/main" id="{3BF5B683-C80F-4C45-A3CE-47CBE6690B62}"/>
                </a:ext>
              </a:extLst>
            </p:cNvPr>
            <p:cNvCxnSpPr>
              <a:cxnSpLocks noChangeShapeType="1"/>
            </p:cNvCxnSpPr>
            <p:nvPr/>
          </p:nvCxnSpPr>
          <p:spPr bwMode="auto">
            <a:xfrm>
              <a:off x="6981780" y="2924944"/>
              <a:ext cx="216024"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30790" name="直接连接符 309">
              <a:extLst>
                <a:ext uri="{FF2B5EF4-FFF2-40B4-BE49-F238E27FC236}">
                  <a16:creationId xmlns:a16="http://schemas.microsoft.com/office/drawing/2014/main" id="{B54DFE8F-492D-4548-A9B8-D78005056D02}"/>
                </a:ext>
              </a:extLst>
            </p:cNvPr>
            <p:cNvCxnSpPr>
              <a:cxnSpLocks noChangeShapeType="1"/>
            </p:cNvCxnSpPr>
            <p:nvPr/>
          </p:nvCxnSpPr>
          <p:spPr bwMode="auto">
            <a:xfrm>
              <a:off x="7985203" y="4797152"/>
              <a:ext cx="216024"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grpSp>
      <p:sp>
        <p:nvSpPr>
          <p:cNvPr id="458" name="Text Box 68">
            <a:extLst>
              <a:ext uri="{FF2B5EF4-FFF2-40B4-BE49-F238E27FC236}">
                <a16:creationId xmlns:a16="http://schemas.microsoft.com/office/drawing/2014/main" id="{FAE4CF6C-4EEF-4FFD-8B1B-125A6BDB7315}"/>
              </a:ext>
            </a:extLst>
          </p:cNvPr>
          <p:cNvSpPr txBox="1">
            <a:spLocks noChangeArrowheads="1"/>
          </p:cNvSpPr>
          <p:nvPr/>
        </p:nvSpPr>
        <p:spPr bwMode="auto">
          <a:xfrm>
            <a:off x="3517900" y="1395413"/>
            <a:ext cx="6445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C00000"/>
                </a:solidFill>
                <a:latin typeface="Arial" panose="020B0604020202020204" pitchFamily="34" charset="0"/>
                <a:ea typeface="宋体" panose="02010600030101010101" pitchFamily="2" charset="-122"/>
              </a:rPr>
              <a:t>Match</a:t>
            </a:r>
            <a:endParaRPr kumimoji="0" lang="en-CA" altLang="zh-CN" sz="1200" kern="0" dirty="0">
              <a:solidFill>
                <a:srgbClr val="C00000"/>
              </a:solidFill>
              <a:latin typeface="Arial" panose="020B0604020202020204" pitchFamily="34" charset="0"/>
              <a:ea typeface="+mn-ea"/>
            </a:endParaRPr>
          </a:p>
        </p:txBody>
      </p:sp>
      <p:sp>
        <p:nvSpPr>
          <p:cNvPr id="459" name="Text Box 68">
            <a:extLst>
              <a:ext uri="{FF2B5EF4-FFF2-40B4-BE49-F238E27FC236}">
                <a16:creationId xmlns:a16="http://schemas.microsoft.com/office/drawing/2014/main" id="{C29EB4EC-9878-4151-BD2C-D8E77109F38A}"/>
              </a:ext>
            </a:extLst>
          </p:cNvPr>
          <p:cNvSpPr txBox="1">
            <a:spLocks noChangeArrowheads="1"/>
          </p:cNvSpPr>
          <p:nvPr/>
        </p:nvSpPr>
        <p:spPr bwMode="auto">
          <a:xfrm>
            <a:off x="4878388" y="1871663"/>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1</a:t>
            </a:r>
            <a:r>
              <a:rPr kumimoji="0" lang="en-US" altLang="zh-CN" sz="1200" kern="0" dirty="0">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0" lang="en-US" altLang="zh-CN" sz="1200" kern="0" dirty="0">
                <a:solidFill>
                  <a:srgbClr val="000000"/>
                </a:solidFill>
                <a:latin typeface="Arial" panose="020B0604020202020204" pitchFamily="34" charset="0"/>
                <a:ea typeface="宋体" panose="02010600030101010101" pitchFamily="2" charset="-122"/>
              </a:rPr>
              <a:t>1</a:t>
            </a:r>
            <a:endParaRPr kumimoji="0" lang="en-CA" altLang="zh-CN" sz="1200" kern="0" dirty="0">
              <a:solidFill>
                <a:srgbClr val="000000"/>
              </a:solidFill>
              <a:latin typeface="Arial" panose="020B0604020202020204" pitchFamily="34" charset="0"/>
              <a:ea typeface="+mn-ea"/>
            </a:endParaRPr>
          </a:p>
        </p:txBody>
      </p:sp>
      <p:sp>
        <p:nvSpPr>
          <p:cNvPr id="460" name="Text Box 68">
            <a:extLst>
              <a:ext uri="{FF2B5EF4-FFF2-40B4-BE49-F238E27FC236}">
                <a16:creationId xmlns:a16="http://schemas.microsoft.com/office/drawing/2014/main" id="{E46EE196-815D-4D49-9B05-E11CDED355E1}"/>
              </a:ext>
            </a:extLst>
          </p:cNvPr>
          <p:cNvSpPr txBox="1">
            <a:spLocks noChangeArrowheads="1"/>
          </p:cNvSpPr>
          <p:nvPr/>
        </p:nvSpPr>
        <p:spPr bwMode="auto">
          <a:xfrm>
            <a:off x="4533900" y="1782763"/>
            <a:ext cx="2857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FF0000"/>
                </a:solidFill>
                <a:latin typeface="Arial" panose="020B0604020202020204" pitchFamily="34" charset="0"/>
                <a:ea typeface="宋体" panose="02010600030101010101" pitchFamily="2" charset="-122"/>
              </a:rPr>
              <a:t>1</a:t>
            </a:r>
            <a:endParaRPr kumimoji="0" lang="en-CA" altLang="zh-CN" sz="1200" kern="0" dirty="0">
              <a:solidFill>
                <a:srgbClr val="FF0000"/>
              </a:solidFill>
              <a:latin typeface="Arial" panose="020B0604020202020204" pitchFamily="34" charset="0"/>
              <a:ea typeface="+mn-ea"/>
            </a:endParaRPr>
          </a:p>
        </p:txBody>
      </p:sp>
      <p:sp>
        <p:nvSpPr>
          <p:cNvPr id="461" name="Text Box 68">
            <a:extLst>
              <a:ext uri="{FF2B5EF4-FFF2-40B4-BE49-F238E27FC236}">
                <a16:creationId xmlns:a16="http://schemas.microsoft.com/office/drawing/2014/main" id="{5EF449DA-A698-472F-A630-2A2CD336DBD1}"/>
              </a:ext>
            </a:extLst>
          </p:cNvPr>
          <p:cNvSpPr txBox="1">
            <a:spLocks noChangeArrowheads="1"/>
          </p:cNvSpPr>
          <p:nvPr/>
        </p:nvSpPr>
        <p:spPr bwMode="auto">
          <a:xfrm>
            <a:off x="2913063" y="1747838"/>
            <a:ext cx="28416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CC"/>
                </a:solidFill>
                <a:latin typeface="Arial" panose="020B0604020202020204" pitchFamily="34" charset="0"/>
                <a:ea typeface="宋体" panose="02010600030101010101" pitchFamily="2" charset="-122"/>
              </a:rPr>
              <a:t>0</a:t>
            </a:r>
            <a:endParaRPr kumimoji="0" lang="en-CA" altLang="zh-CN" sz="1200" kern="0" dirty="0">
              <a:solidFill>
                <a:srgbClr val="0000CC"/>
              </a:solidFill>
              <a:latin typeface="Arial" panose="020B0604020202020204" pitchFamily="34" charset="0"/>
              <a:ea typeface="+mn-ea"/>
            </a:endParaRPr>
          </a:p>
        </p:txBody>
      </p:sp>
      <p:sp>
        <p:nvSpPr>
          <p:cNvPr id="462" name="Text Box 68">
            <a:extLst>
              <a:ext uri="{FF2B5EF4-FFF2-40B4-BE49-F238E27FC236}">
                <a16:creationId xmlns:a16="http://schemas.microsoft.com/office/drawing/2014/main" id="{4FFF1F2F-6430-4D9E-86B4-CF97F8EC5F70}"/>
              </a:ext>
            </a:extLst>
          </p:cNvPr>
          <p:cNvSpPr txBox="1">
            <a:spLocks noChangeArrowheads="1"/>
          </p:cNvSpPr>
          <p:nvPr/>
        </p:nvSpPr>
        <p:spPr bwMode="auto">
          <a:xfrm>
            <a:off x="3733800" y="5056188"/>
            <a:ext cx="2841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800" kern="0" dirty="0">
                <a:solidFill>
                  <a:srgbClr val="FF0000"/>
                </a:solidFill>
                <a:latin typeface="Arial" panose="020B0604020202020204" pitchFamily="34" charset="0"/>
                <a:ea typeface="宋体" panose="02010600030101010101" pitchFamily="2" charset="-122"/>
              </a:rPr>
              <a:t>1</a:t>
            </a:r>
            <a:endParaRPr kumimoji="0" lang="en-CA" altLang="zh-CN" sz="1800" kern="0" dirty="0">
              <a:solidFill>
                <a:srgbClr val="FF0000"/>
              </a:solidFill>
              <a:latin typeface="Arial" panose="020B0604020202020204" pitchFamily="34" charset="0"/>
              <a:ea typeface="+mn-ea"/>
            </a:endParaRPr>
          </a:p>
        </p:txBody>
      </p:sp>
      <p:sp>
        <p:nvSpPr>
          <p:cNvPr id="463" name="Text Box 68">
            <a:extLst>
              <a:ext uri="{FF2B5EF4-FFF2-40B4-BE49-F238E27FC236}">
                <a16:creationId xmlns:a16="http://schemas.microsoft.com/office/drawing/2014/main" id="{20A75528-58E1-486C-8265-588278B72005}"/>
              </a:ext>
            </a:extLst>
          </p:cNvPr>
          <p:cNvSpPr txBox="1">
            <a:spLocks noChangeArrowheads="1"/>
          </p:cNvSpPr>
          <p:nvPr/>
        </p:nvSpPr>
        <p:spPr bwMode="auto">
          <a:xfrm>
            <a:off x="7226300" y="5100638"/>
            <a:ext cx="28416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800" kern="0" dirty="0">
                <a:solidFill>
                  <a:srgbClr val="FF0000"/>
                </a:solidFill>
                <a:latin typeface="Arial" panose="020B0604020202020204" pitchFamily="34" charset="0"/>
                <a:ea typeface="宋体" panose="02010600030101010101" pitchFamily="2" charset="-122"/>
              </a:rPr>
              <a:t>1</a:t>
            </a:r>
            <a:endParaRPr kumimoji="0" lang="en-CA" altLang="zh-CN" sz="1800" kern="0" dirty="0">
              <a:solidFill>
                <a:srgbClr val="FF0000"/>
              </a:solidFill>
              <a:latin typeface="Arial" panose="020B0604020202020204" pitchFamily="34" charset="0"/>
              <a:ea typeface="+mn-ea"/>
            </a:endParaRPr>
          </a:p>
        </p:txBody>
      </p:sp>
      <p:sp>
        <p:nvSpPr>
          <p:cNvPr id="464" name="Text Box 68">
            <a:extLst>
              <a:ext uri="{FF2B5EF4-FFF2-40B4-BE49-F238E27FC236}">
                <a16:creationId xmlns:a16="http://schemas.microsoft.com/office/drawing/2014/main" id="{6B0FCAEE-A689-4F8F-B0D6-3A2F2A123C1E}"/>
              </a:ext>
            </a:extLst>
          </p:cNvPr>
          <p:cNvSpPr txBox="1">
            <a:spLocks noChangeArrowheads="1"/>
          </p:cNvSpPr>
          <p:nvPr/>
        </p:nvSpPr>
        <p:spPr bwMode="auto">
          <a:xfrm>
            <a:off x="6464300" y="1771650"/>
            <a:ext cx="2841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FF0000"/>
                </a:solidFill>
                <a:latin typeface="Arial" panose="020B0604020202020204" pitchFamily="34" charset="0"/>
                <a:ea typeface="宋体" panose="02010600030101010101" pitchFamily="2" charset="-122"/>
              </a:rPr>
              <a:t>1</a:t>
            </a:r>
            <a:endParaRPr kumimoji="0" lang="en-CA" altLang="zh-CN" sz="1200" kern="0" dirty="0">
              <a:solidFill>
                <a:srgbClr val="FF0000"/>
              </a:solidFill>
              <a:latin typeface="Arial" panose="020B0604020202020204" pitchFamily="34" charset="0"/>
              <a:ea typeface="+mn-ea"/>
            </a:endParaRPr>
          </a:p>
        </p:txBody>
      </p:sp>
      <p:sp>
        <p:nvSpPr>
          <p:cNvPr id="465" name="Text Box 68">
            <a:extLst>
              <a:ext uri="{FF2B5EF4-FFF2-40B4-BE49-F238E27FC236}">
                <a16:creationId xmlns:a16="http://schemas.microsoft.com/office/drawing/2014/main" id="{E2FBD131-1EE9-4954-A4C8-5B244E39837F}"/>
              </a:ext>
            </a:extLst>
          </p:cNvPr>
          <p:cNvSpPr txBox="1">
            <a:spLocks noChangeArrowheads="1"/>
          </p:cNvSpPr>
          <p:nvPr/>
        </p:nvSpPr>
        <p:spPr bwMode="auto">
          <a:xfrm>
            <a:off x="8067675" y="1755775"/>
            <a:ext cx="2857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CC"/>
                </a:solidFill>
                <a:latin typeface="Arial" panose="020B0604020202020204" pitchFamily="34" charset="0"/>
                <a:ea typeface="宋体" panose="02010600030101010101" pitchFamily="2" charset="-122"/>
              </a:rPr>
              <a:t>0</a:t>
            </a:r>
            <a:endParaRPr kumimoji="0" lang="en-CA" altLang="zh-CN" sz="1200" kern="0" dirty="0">
              <a:solidFill>
                <a:srgbClr val="0000CC"/>
              </a:solidFill>
              <a:latin typeface="Arial" panose="020B0604020202020204" pitchFamily="34" charset="0"/>
              <a:ea typeface="+mn-ea"/>
            </a:endParaRPr>
          </a:p>
        </p:txBody>
      </p:sp>
      <p:sp>
        <p:nvSpPr>
          <p:cNvPr id="466" name="Text Box 68">
            <a:extLst>
              <a:ext uri="{FF2B5EF4-FFF2-40B4-BE49-F238E27FC236}">
                <a16:creationId xmlns:a16="http://schemas.microsoft.com/office/drawing/2014/main" id="{D20E33F3-C810-4A9F-925E-F727039DD6E8}"/>
              </a:ext>
            </a:extLst>
          </p:cNvPr>
          <p:cNvSpPr txBox="1">
            <a:spLocks noChangeArrowheads="1"/>
          </p:cNvSpPr>
          <p:nvPr/>
        </p:nvSpPr>
        <p:spPr bwMode="auto">
          <a:xfrm>
            <a:off x="8339138" y="1862138"/>
            <a:ext cx="533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a:solidFill>
                  <a:srgbClr val="000000"/>
                </a:solidFill>
                <a:latin typeface="Arial" panose="020B0604020202020204" pitchFamily="34" charset="0"/>
                <a:ea typeface="宋体" panose="02010600030101010101" pitchFamily="2" charset="-122"/>
              </a:rPr>
              <a:t>1</a:t>
            </a:r>
            <a:r>
              <a:rPr kumimoji="0" lang="en-US" altLang="zh-CN" sz="1200" kern="0" dirty="0">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0" lang="en-US" altLang="zh-CN" sz="1200" kern="0" dirty="0">
                <a:solidFill>
                  <a:srgbClr val="000000"/>
                </a:solidFill>
                <a:latin typeface="Arial" panose="020B0604020202020204" pitchFamily="34" charset="0"/>
                <a:ea typeface="宋体" panose="02010600030101010101" pitchFamily="2" charset="-122"/>
              </a:rPr>
              <a:t>0</a:t>
            </a:r>
            <a:endParaRPr kumimoji="0" lang="en-CA" altLang="zh-CN" sz="1200" kern="0" dirty="0">
              <a:solidFill>
                <a:srgbClr val="000000"/>
              </a:solidFill>
              <a:latin typeface="Arial" panose="020B0604020202020204" pitchFamily="34" charset="0"/>
              <a:ea typeface="+mn-ea"/>
            </a:endParaRPr>
          </a:p>
        </p:txBody>
      </p:sp>
      <p:sp>
        <p:nvSpPr>
          <p:cNvPr id="467" name="Text Box 68">
            <a:extLst>
              <a:ext uri="{FF2B5EF4-FFF2-40B4-BE49-F238E27FC236}">
                <a16:creationId xmlns:a16="http://schemas.microsoft.com/office/drawing/2014/main" id="{FC72C46E-AA0F-4390-87F4-5A797DAC1E79}"/>
              </a:ext>
            </a:extLst>
          </p:cNvPr>
          <p:cNvSpPr txBox="1">
            <a:spLocks noChangeArrowheads="1"/>
          </p:cNvSpPr>
          <p:nvPr/>
        </p:nvSpPr>
        <p:spPr bwMode="auto">
          <a:xfrm>
            <a:off x="6935788" y="1400175"/>
            <a:ext cx="950912"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kumimoji="0" lang="en-US" altLang="zh-CN" sz="1200" kern="0" dirty="0" err="1">
                <a:solidFill>
                  <a:srgbClr val="C00000"/>
                </a:solidFill>
                <a:latin typeface="Arial" panose="020B0604020202020204" pitchFamily="34" charset="0"/>
                <a:ea typeface="宋体" panose="02010600030101010101" pitchFamily="2" charset="-122"/>
              </a:rPr>
              <a:t>Mismatch</a:t>
            </a:r>
            <a:endParaRPr kumimoji="0" lang="en-CA" altLang="zh-CN" sz="1200" kern="0" dirty="0">
              <a:solidFill>
                <a:srgbClr val="C00000"/>
              </a:solidFill>
              <a:latin typeface="Arial" panose="020B0604020202020204" pitchFamily="34" charset="0"/>
              <a:ea typeface="+mn-ea"/>
            </a:endParaRPr>
          </a:p>
        </p:txBody>
      </p:sp>
      <p:cxnSp>
        <p:nvCxnSpPr>
          <p:cNvPr id="30782" name="直接连接符 468">
            <a:extLst>
              <a:ext uri="{FF2B5EF4-FFF2-40B4-BE49-F238E27FC236}">
                <a16:creationId xmlns:a16="http://schemas.microsoft.com/office/drawing/2014/main" id="{84944F62-9E7B-4062-88A8-77ECFD4F8568}"/>
              </a:ext>
            </a:extLst>
          </p:cNvPr>
          <p:cNvCxnSpPr>
            <a:cxnSpLocks noChangeShapeType="1"/>
          </p:cNvCxnSpPr>
          <p:nvPr/>
        </p:nvCxnSpPr>
        <p:spPr bwMode="auto">
          <a:xfrm>
            <a:off x="7270750" y="2690813"/>
            <a:ext cx="7938" cy="703262"/>
          </a:xfrm>
          <a:prstGeom prst="line">
            <a:avLst/>
          </a:prstGeom>
          <a:noFill/>
          <a:ln w="22225" algn="ctr">
            <a:solidFill>
              <a:srgbClr val="FF00FF"/>
            </a:solidFill>
            <a:miter lim="800000"/>
            <a:headEnd/>
            <a:tailEnd type="triangle" w="lg" len="med"/>
          </a:ln>
          <a:extLst>
            <a:ext uri="{909E8E84-426E-40DD-AFC4-6F175D3DCCD1}">
              <a14:hiddenFill xmlns:a14="http://schemas.microsoft.com/office/drawing/2010/main">
                <a:noFill/>
              </a14:hiddenFill>
            </a:ext>
          </a:extLst>
        </p:spPr>
      </p:cxnSp>
      <p:cxnSp>
        <p:nvCxnSpPr>
          <p:cNvPr id="30783" name="直接连接符 6">
            <a:extLst>
              <a:ext uri="{FF2B5EF4-FFF2-40B4-BE49-F238E27FC236}">
                <a16:creationId xmlns:a16="http://schemas.microsoft.com/office/drawing/2014/main" id="{A7B532CA-A64D-4267-B86F-106FAF944C1F}"/>
              </a:ext>
            </a:extLst>
          </p:cNvPr>
          <p:cNvCxnSpPr>
            <a:cxnSpLocks noChangeShapeType="1"/>
          </p:cNvCxnSpPr>
          <p:nvPr/>
        </p:nvCxnSpPr>
        <p:spPr bwMode="auto">
          <a:xfrm flipV="1">
            <a:off x="2927350" y="2725738"/>
            <a:ext cx="0" cy="234950"/>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30784" name="直接连接符 330">
            <a:extLst>
              <a:ext uri="{FF2B5EF4-FFF2-40B4-BE49-F238E27FC236}">
                <a16:creationId xmlns:a16="http://schemas.microsoft.com/office/drawing/2014/main" id="{44F7F1DF-446D-4AE4-ABBA-6ED6E56BC7D8}"/>
              </a:ext>
            </a:extLst>
          </p:cNvPr>
          <p:cNvCxnSpPr>
            <a:cxnSpLocks noChangeShapeType="1"/>
          </p:cNvCxnSpPr>
          <p:nvPr/>
        </p:nvCxnSpPr>
        <p:spPr bwMode="auto">
          <a:xfrm flipV="1">
            <a:off x="8321675" y="2684463"/>
            <a:ext cx="0" cy="234950"/>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30785" name="直接连接符 339">
            <a:extLst>
              <a:ext uri="{FF2B5EF4-FFF2-40B4-BE49-F238E27FC236}">
                <a16:creationId xmlns:a16="http://schemas.microsoft.com/office/drawing/2014/main" id="{660C03B8-1BC0-4E8D-A6D1-9046DD2BADCB}"/>
              </a:ext>
            </a:extLst>
          </p:cNvPr>
          <p:cNvCxnSpPr>
            <a:cxnSpLocks noChangeShapeType="1"/>
          </p:cNvCxnSpPr>
          <p:nvPr/>
        </p:nvCxnSpPr>
        <p:spPr bwMode="auto">
          <a:xfrm flipV="1">
            <a:off x="4794250" y="2725738"/>
            <a:ext cx="0" cy="23495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30786" name="直接连接符 342">
            <a:extLst>
              <a:ext uri="{FF2B5EF4-FFF2-40B4-BE49-F238E27FC236}">
                <a16:creationId xmlns:a16="http://schemas.microsoft.com/office/drawing/2014/main" id="{D008C23B-C08F-4615-AA8D-4D276A7CAADC}"/>
              </a:ext>
            </a:extLst>
          </p:cNvPr>
          <p:cNvCxnSpPr>
            <a:cxnSpLocks noChangeShapeType="1"/>
          </p:cNvCxnSpPr>
          <p:nvPr/>
        </p:nvCxnSpPr>
        <p:spPr bwMode="auto">
          <a:xfrm flipV="1">
            <a:off x="6448425" y="2698750"/>
            <a:ext cx="0" cy="23495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632432FB-B3AD-4280-8BCB-1F4901045D18}"/>
              </a:ext>
            </a:extLst>
          </p:cNvPr>
          <p:cNvSpPr>
            <a:spLocks noGrp="1" noChangeArrowheads="1"/>
          </p:cNvSpPr>
          <p:nvPr>
            <p:ph type="title"/>
          </p:nvPr>
        </p:nvSpPr>
        <p:spPr/>
        <p:txBody>
          <a:bodyPr/>
          <a:lstStyle/>
          <a:p>
            <a:pPr eaLnBrk="1" hangingPunct="1">
              <a:defRPr/>
            </a:pPr>
            <a:r>
              <a:rPr lang="zh-CN" altLang="en-US"/>
              <a:t>主存和</a:t>
            </a:r>
            <a:r>
              <a:rPr lang="en-US" altLang="zh-CN"/>
              <a:t>cache</a:t>
            </a:r>
            <a:r>
              <a:rPr lang="zh-CN" altLang="en-US"/>
              <a:t>的分块</a:t>
            </a:r>
          </a:p>
        </p:txBody>
      </p:sp>
      <p:sp>
        <p:nvSpPr>
          <p:cNvPr id="32771" name="Rectangle 3">
            <a:extLst>
              <a:ext uri="{FF2B5EF4-FFF2-40B4-BE49-F238E27FC236}">
                <a16:creationId xmlns:a16="http://schemas.microsoft.com/office/drawing/2014/main" id="{7D98AFFA-8599-4865-96FE-5943F90262A8}"/>
              </a:ext>
            </a:extLst>
          </p:cNvPr>
          <p:cNvSpPr>
            <a:spLocks noGrp="1" noChangeArrowheads="1"/>
          </p:cNvSpPr>
          <p:nvPr>
            <p:ph idx="1"/>
          </p:nvPr>
        </p:nvSpPr>
        <p:spPr/>
        <p:txBody>
          <a:bodyPr/>
          <a:lstStyle/>
          <a:p>
            <a:pPr eaLnBrk="1" hangingPunct="1"/>
            <a:endParaRPr lang="en-US" altLang="zh-CN" sz="3600" dirty="0"/>
          </a:p>
          <a:p>
            <a:pPr eaLnBrk="1" hangingPunct="1"/>
            <a:endParaRPr lang="en-US" altLang="zh-CN" sz="3600" dirty="0"/>
          </a:p>
          <a:p>
            <a:pPr eaLnBrk="1" hangingPunct="1"/>
            <a:endParaRPr lang="en-US" altLang="zh-CN" sz="3600" dirty="0"/>
          </a:p>
          <a:p>
            <a:pPr eaLnBrk="1" hangingPunct="1"/>
            <a:r>
              <a:rPr lang="zh-CN" altLang="en-US" sz="2800" dirty="0"/>
              <a:t>主存和</a:t>
            </a:r>
            <a:r>
              <a:rPr lang="en-US" altLang="zh-CN" sz="2800" dirty="0"/>
              <a:t>cache</a:t>
            </a:r>
            <a:r>
              <a:rPr lang="zh-CN" altLang="en-US" sz="2800" dirty="0"/>
              <a:t>间以数据块为单位进行复制，为便于管理，将主存和</a:t>
            </a:r>
            <a:r>
              <a:rPr lang="en-US" altLang="zh-CN" sz="2800" dirty="0"/>
              <a:t>cache</a:t>
            </a:r>
            <a:r>
              <a:rPr lang="zh-CN" altLang="en-US" sz="2800" dirty="0"/>
              <a:t>都划分为大小相等的数据块（也称</a:t>
            </a:r>
            <a:r>
              <a:rPr lang="zh-CN" altLang="en-US" sz="2800" dirty="0">
                <a:solidFill>
                  <a:srgbClr val="FF0000"/>
                </a:solidFill>
              </a:rPr>
              <a:t>行</a:t>
            </a:r>
            <a:r>
              <a:rPr lang="zh-CN" altLang="en-US" sz="2800" dirty="0"/>
              <a:t>），所以，只需对块地址进行映射</a:t>
            </a:r>
          </a:p>
          <a:p>
            <a:pPr eaLnBrk="1" hangingPunct="1">
              <a:buFont typeface="Wingdings 2" panose="05020102010507070707" pitchFamily="18" charset="2"/>
              <a:buNone/>
            </a:pPr>
            <a:r>
              <a:rPr lang="zh-CN" altLang="en-US" sz="2400" dirty="0"/>
              <a:t>主存地址（</a:t>
            </a:r>
            <a:r>
              <a:rPr lang="en-US" altLang="zh-CN" sz="2400" dirty="0"/>
              <a:t>n</a:t>
            </a:r>
            <a:r>
              <a:rPr lang="zh-CN" altLang="en-US" sz="2400" dirty="0"/>
              <a:t>位） ＝  主存块号（</a:t>
            </a:r>
            <a:r>
              <a:rPr lang="en-US" altLang="zh-CN" sz="2400" dirty="0"/>
              <a:t>m</a:t>
            </a:r>
            <a:r>
              <a:rPr lang="zh-CN" altLang="en-US" sz="2400" dirty="0"/>
              <a:t>位）＋ 主存块内地址（</a:t>
            </a:r>
            <a:r>
              <a:rPr lang="en-US" altLang="zh-CN" sz="2400" dirty="0"/>
              <a:t>b</a:t>
            </a:r>
            <a:r>
              <a:rPr lang="zh-CN" altLang="en-US" sz="2400" dirty="0"/>
              <a:t>位）</a:t>
            </a:r>
          </a:p>
          <a:p>
            <a:pPr eaLnBrk="1" hangingPunct="1">
              <a:buFont typeface="Wingdings 2" panose="05020102010507070707" pitchFamily="18" charset="2"/>
              <a:buNone/>
            </a:pPr>
            <a:r>
              <a:rPr lang="en-US" altLang="zh-CN" sz="2400" dirty="0"/>
              <a:t>cache</a:t>
            </a:r>
            <a:r>
              <a:rPr lang="zh-CN" altLang="en-US" sz="2400" dirty="0"/>
              <a:t>地址（</a:t>
            </a:r>
            <a:r>
              <a:rPr lang="en-US" altLang="zh-CN" sz="2400" dirty="0"/>
              <a:t>l</a:t>
            </a:r>
            <a:r>
              <a:rPr lang="zh-CN" altLang="en-US" sz="2400" dirty="0"/>
              <a:t>位）＝ </a:t>
            </a:r>
            <a:r>
              <a:rPr lang="en-US" altLang="zh-CN" sz="2400" dirty="0"/>
              <a:t>cache</a:t>
            </a:r>
            <a:r>
              <a:rPr lang="zh-CN" altLang="en-US" sz="2400" dirty="0"/>
              <a:t>块号（</a:t>
            </a:r>
            <a:r>
              <a:rPr lang="en-US" altLang="zh-CN" sz="2400" dirty="0"/>
              <a:t>c</a:t>
            </a:r>
            <a:r>
              <a:rPr lang="zh-CN" altLang="en-US" sz="2400" dirty="0"/>
              <a:t>位）＋ </a:t>
            </a:r>
            <a:r>
              <a:rPr lang="en-US" altLang="zh-CN" sz="2400" dirty="0"/>
              <a:t>cache</a:t>
            </a:r>
            <a:r>
              <a:rPr lang="zh-CN" altLang="en-US" sz="2400" dirty="0"/>
              <a:t>块内地址（</a:t>
            </a:r>
            <a:r>
              <a:rPr lang="en-US" altLang="zh-CN" sz="2400" dirty="0"/>
              <a:t>b</a:t>
            </a:r>
            <a:r>
              <a:rPr lang="zh-CN" altLang="en-US" sz="2400" dirty="0"/>
              <a:t>位）</a:t>
            </a:r>
            <a:endParaRPr lang="en-US" altLang="zh-CN" sz="2400" dirty="0"/>
          </a:p>
          <a:p>
            <a:pPr eaLnBrk="1" hangingPunct="1">
              <a:buFont typeface="Wingdings 2" panose="05020102010507070707" pitchFamily="18" charset="2"/>
              <a:buNone/>
            </a:pPr>
            <a:r>
              <a:rPr lang="zh-CN" altLang="en-US" sz="2400" dirty="0"/>
              <a:t>其中，</a:t>
            </a:r>
            <a:r>
              <a:rPr lang="en-US" altLang="zh-CN" sz="2400" dirty="0"/>
              <a:t>c &lt;&lt; m</a:t>
            </a:r>
            <a:endParaRPr lang="zh-CN" altLang="en-US" sz="2400" dirty="0"/>
          </a:p>
        </p:txBody>
      </p:sp>
      <p:graphicFrame>
        <p:nvGraphicFramePr>
          <p:cNvPr id="788482" name="Group 2">
            <a:extLst>
              <a:ext uri="{FF2B5EF4-FFF2-40B4-BE49-F238E27FC236}">
                <a16:creationId xmlns:a16="http://schemas.microsoft.com/office/drawing/2014/main" id="{2F41EC37-EADF-43E8-A3B2-3715126A57F9}"/>
              </a:ext>
            </a:extLst>
          </p:cNvPr>
          <p:cNvGraphicFramePr>
            <a:graphicFrameLocks noGrp="1"/>
          </p:cNvGraphicFramePr>
          <p:nvPr>
            <p:extLst>
              <p:ext uri="{D42A27DB-BD31-4B8C-83A1-F6EECF244321}">
                <p14:modId xmlns:p14="http://schemas.microsoft.com/office/powerpoint/2010/main" val="144706640"/>
              </p:ext>
            </p:extLst>
          </p:nvPr>
        </p:nvGraphicFramePr>
        <p:xfrm>
          <a:off x="914400" y="1219200"/>
          <a:ext cx="6965950" cy="1631951"/>
        </p:xfrm>
        <a:graphic>
          <a:graphicData uri="http://schemas.openxmlformats.org/drawingml/2006/table">
            <a:tbl>
              <a:tblPr/>
              <a:tblGrid>
                <a:gridCol w="1255713">
                  <a:extLst>
                    <a:ext uri="{9D8B030D-6E8A-4147-A177-3AD203B41FA5}">
                      <a16:colId xmlns:a16="http://schemas.microsoft.com/office/drawing/2014/main" val="1884940489"/>
                    </a:ext>
                  </a:extLst>
                </a:gridCol>
                <a:gridCol w="1273175">
                  <a:extLst>
                    <a:ext uri="{9D8B030D-6E8A-4147-A177-3AD203B41FA5}">
                      <a16:colId xmlns:a16="http://schemas.microsoft.com/office/drawing/2014/main" val="3819219954"/>
                    </a:ext>
                  </a:extLst>
                </a:gridCol>
                <a:gridCol w="2549525">
                  <a:extLst>
                    <a:ext uri="{9D8B030D-6E8A-4147-A177-3AD203B41FA5}">
                      <a16:colId xmlns:a16="http://schemas.microsoft.com/office/drawing/2014/main" val="3364088025"/>
                    </a:ext>
                  </a:extLst>
                </a:gridCol>
                <a:gridCol w="1887537">
                  <a:extLst>
                    <a:ext uri="{9D8B030D-6E8A-4147-A177-3AD203B41FA5}">
                      <a16:colId xmlns:a16="http://schemas.microsoft.com/office/drawing/2014/main" val="2276531006"/>
                    </a:ext>
                  </a:extLst>
                </a:gridCol>
              </a:tblGrid>
              <a:tr h="595439">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8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1442" marR="91442"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容量</a:t>
                      </a:r>
                    </a:p>
                  </a:txBody>
                  <a:tcPr marL="91442" marR="91442"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
                          <a:srgbClr val="CC3300"/>
                        </a:buClr>
                        <a:buSzTx/>
                        <a:buFont typeface="Wingdings 2" panose="05020102010507070707" pitchFamily="18" charset="2"/>
                        <a:buNone/>
                        <a:tabLst>
                          <a:tab pos="1524000" algn="l"/>
                        </a:tabLst>
                      </a:pPr>
                      <a:r>
                        <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块（行）大小</a:t>
                      </a:r>
                    </a:p>
                  </a:txBody>
                  <a:tcPr marL="91442" marR="91442"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块数</a:t>
                      </a:r>
                    </a:p>
                  </a:txBody>
                  <a:tcPr marL="91442" marR="91442"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0463894"/>
                  </a:ext>
                </a:extLst>
              </a:tr>
              <a:tr h="518256">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主存</a:t>
                      </a:r>
                    </a:p>
                  </a:txBody>
                  <a:tcPr marL="91442" marR="91442"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a:ln>
                            <a:noFill/>
                          </a:ln>
                          <a:solidFill>
                            <a:schemeClr val="tx1"/>
                          </a:solidFill>
                          <a:effectLst/>
                          <a:latin typeface="Times New Roman" panose="02020603050405020304" pitchFamily="18" charset="0"/>
                          <a:ea typeface="楷体_GB2312" pitchFamily="49" charset="-122"/>
                        </a:rPr>
                        <a:t>n</a:t>
                      </a:r>
                    </a:p>
                  </a:txBody>
                  <a:tcPr marL="91442" marR="91442"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a:ln>
                            <a:noFill/>
                          </a:ln>
                          <a:solidFill>
                            <a:schemeClr val="tx1"/>
                          </a:solidFill>
                          <a:effectLst/>
                          <a:latin typeface="Times New Roman" panose="02020603050405020304" pitchFamily="18" charset="0"/>
                          <a:ea typeface="楷体_GB2312" pitchFamily="49" charset="-122"/>
                        </a:rPr>
                        <a:t>b</a:t>
                      </a:r>
                    </a:p>
                  </a:txBody>
                  <a:tcPr marL="91442" marR="91442"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a:ln>
                            <a:noFill/>
                          </a:ln>
                          <a:solidFill>
                            <a:schemeClr val="tx1"/>
                          </a:solidFill>
                          <a:effectLst/>
                          <a:latin typeface="Times New Roman" panose="02020603050405020304" pitchFamily="18" charset="0"/>
                          <a:ea typeface="楷体_GB2312" pitchFamily="49" charset="-122"/>
                        </a:rPr>
                        <a:t>n</a:t>
                      </a: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a:ln>
                            <a:noFill/>
                          </a:ln>
                          <a:solidFill>
                            <a:schemeClr val="tx1"/>
                          </a:solidFill>
                          <a:effectLst/>
                          <a:latin typeface="Times New Roman" panose="02020603050405020304" pitchFamily="18" charset="0"/>
                          <a:ea typeface="楷体_GB2312" pitchFamily="49" charset="-122"/>
                        </a:rPr>
                        <a:t>b</a:t>
                      </a: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a:ln>
                            <a:noFill/>
                          </a:ln>
                          <a:solidFill>
                            <a:schemeClr val="tx1"/>
                          </a:solidFill>
                          <a:effectLst/>
                          <a:latin typeface="Times New Roman" panose="02020603050405020304" pitchFamily="18" charset="0"/>
                          <a:ea typeface="楷体_GB2312" pitchFamily="49" charset="-122"/>
                        </a:rPr>
                        <a:t>m</a:t>
                      </a:r>
                    </a:p>
                  </a:txBody>
                  <a:tcPr marL="91442" marR="91442"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3523568"/>
                  </a:ext>
                </a:extLst>
              </a:tr>
              <a:tr h="518256">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cache</a:t>
                      </a:r>
                    </a:p>
                  </a:txBody>
                  <a:tcPr marL="91442" marR="91442"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a:ln>
                            <a:noFill/>
                          </a:ln>
                          <a:solidFill>
                            <a:schemeClr val="tx1"/>
                          </a:solidFill>
                          <a:effectLst/>
                          <a:latin typeface="Times New Roman" panose="02020603050405020304" pitchFamily="18" charset="0"/>
                          <a:ea typeface="楷体_GB2312" pitchFamily="49" charset="-122"/>
                        </a:rPr>
                        <a:t>l</a:t>
                      </a:r>
                    </a:p>
                  </a:txBody>
                  <a:tcPr marL="91442" marR="91442"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800" b="1" i="0" u="none" strike="noStrike" cap="none" normalizeH="0" baseline="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a:ln>
                            <a:noFill/>
                          </a:ln>
                          <a:solidFill>
                            <a:schemeClr val="tx1"/>
                          </a:solidFill>
                          <a:effectLst/>
                          <a:latin typeface="Times New Roman" panose="02020603050405020304" pitchFamily="18" charset="0"/>
                          <a:ea typeface="楷体_GB2312" pitchFamily="49" charset="-122"/>
                        </a:rPr>
                        <a:t>b</a:t>
                      </a:r>
                    </a:p>
                  </a:txBody>
                  <a:tcPr marL="91442" marR="91442"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800" b="1" i="0" u="none" strike="noStrike" cap="none" normalizeH="0" baseline="0" dirty="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dirty="0">
                          <a:ln>
                            <a:noFill/>
                          </a:ln>
                          <a:solidFill>
                            <a:schemeClr val="tx1"/>
                          </a:solidFill>
                          <a:effectLst/>
                          <a:latin typeface="Times New Roman" panose="02020603050405020304" pitchFamily="18" charset="0"/>
                          <a:ea typeface="楷体_GB2312" pitchFamily="49" charset="-122"/>
                        </a:rPr>
                        <a:t>l</a:t>
                      </a:r>
                      <a:r>
                        <a:rPr kumimoji="1" lang="en-US" altLang="zh-CN" sz="2800" b="1" i="0" u="none" strike="noStrike" cap="none" normalizeH="0" baseline="0" dirty="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dirty="0">
                          <a:ln>
                            <a:noFill/>
                          </a:ln>
                          <a:solidFill>
                            <a:schemeClr val="tx1"/>
                          </a:solidFill>
                          <a:effectLst/>
                          <a:latin typeface="Times New Roman" panose="02020603050405020304" pitchFamily="18" charset="0"/>
                          <a:ea typeface="楷体_GB2312" pitchFamily="49" charset="-122"/>
                        </a:rPr>
                        <a:t>b</a:t>
                      </a:r>
                      <a:r>
                        <a:rPr kumimoji="1" lang="en-US" altLang="zh-CN" sz="2800" b="1" i="0" u="none" strike="noStrike" cap="none" normalizeH="0" baseline="0" dirty="0">
                          <a:ln>
                            <a:noFill/>
                          </a:ln>
                          <a:solidFill>
                            <a:schemeClr val="tx1"/>
                          </a:solidFill>
                          <a:effectLst/>
                          <a:latin typeface="Times New Roman" panose="02020603050405020304" pitchFamily="18" charset="0"/>
                          <a:ea typeface="楷体_GB2312" pitchFamily="49" charset="-122"/>
                        </a:rPr>
                        <a:t>=2</a:t>
                      </a:r>
                      <a:r>
                        <a:rPr kumimoji="1" lang="en-US" altLang="zh-CN" sz="2800" b="1" i="0" u="none" strike="noStrike" cap="none" normalizeH="0" baseline="30000" dirty="0">
                          <a:ln>
                            <a:noFill/>
                          </a:ln>
                          <a:solidFill>
                            <a:schemeClr val="tx1"/>
                          </a:solidFill>
                          <a:effectLst/>
                          <a:latin typeface="Times New Roman" panose="02020603050405020304" pitchFamily="18" charset="0"/>
                          <a:ea typeface="楷体_GB2312" pitchFamily="49" charset="-122"/>
                        </a:rPr>
                        <a:t>c</a:t>
                      </a:r>
                    </a:p>
                  </a:txBody>
                  <a:tcPr marL="91442" marR="91442"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0123921"/>
                  </a:ext>
                </a:extLst>
              </a:tr>
            </a:tbl>
          </a:graphicData>
        </a:graphic>
      </p:graphicFrame>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a:extLst>
              <a:ext uri="{FF2B5EF4-FFF2-40B4-BE49-F238E27FC236}">
                <a16:creationId xmlns:a16="http://schemas.microsoft.com/office/drawing/2014/main" id="{03877B1C-3840-4FC9-9A1A-EF0142EE1683}"/>
              </a:ext>
            </a:extLst>
          </p:cNvPr>
          <p:cNvSpPr>
            <a:spLocks noGrp="1" noChangeArrowheads="1"/>
          </p:cNvSpPr>
          <p:nvPr>
            <p:ph type="title"/>
          </p:nvPr>
        </p:nvSpPr>
        <p:spPr>
          <a:xfrm>
            <a:off x="282575" y="242888"/>
            <a:ext cx="8833784" cy="571500"/>
          </a:xfrm>
        </p:spPr>
        <p:txBody>
          <a:bodyPr/>
          <a:lstStyle/>
          <a:p>
            <a:pPr eaLnBrk="1" hangingPunct="1">
              <a:defRPr/>
            </a:pPr>
            <a:r>
              <a:rPr lang="en-US" altLang="zh-CN" dirty="0"/>
              <a:t>Cache</a:t>
            </a:r>
            <a:r>
              <a:rPr lang="zh-CN" altLang="en-US" dirty="0">
                <a:latin typeface="宋体" panose="02010600030101010101" pitchFamily="2" charset="-122"/>
              </a:rPr>
              <a:t>的结构</a:t>
            </a:r>
            <a:r>
              <a:rPr lang="zh-CN" altLang="en-US" dirty="0"/>
              <a:t> </a:t>
            </a:r>
          </a:p>
        </p:txBody>
      </p:sp>
      <p:sp>
        <p:nvSpPr>
          <p:cNvPr id="34820" name="Line 6">
            <a:extLst>
              <a:ext uri="{FF2B5EF4-FFF2-40B4-BE49-F238E27FC236}">
                <a16:creationId xmlns:a16="http://schemas.microsoft.com/office/drawing/2014/main" id="{0B5E40D9-0303-4E63-A42C-55F0429302B8}"/>
              </a:ext>
            </a:extLst>
          </p:cNvPr>
          <p:cNvSpPr>
            <a:spLocks noChangeShapeType="1"/>
          </p:cNvSpPr>
          <p:nvPr/>
        </p:nvSpPr>
        <p:spPr bwMode="auto">
          <a:xfrm>
            <a:off x="3101975" y="1878013"/>
            <a:ext cx="0" cy="177800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21" name="Line 7">
            <a:extLst>
              <a:ext uri="{FF2B5EF4-FFF2-40B4-BE49-F238E27FC236}">
                <a16:creationId xmlns:a16="http://schemas.microsoft.com/office/drawing/2014/main" id="{4D7B8039-ADE5-4DFD-94D0-0AB7BD3F7910}"/>
              </a:ext>
            </a:extLst>
          </p:cNvPr>
          <p:cNvSpPr>
            <a:spLocks noChangeShapeType="1"/>
          </p:cNvSpPr>
          <p:nvPr/>
        </p:nvSpPr>
        <p:spPr bwMode="auto">
          <a:xfrm>
            <a:off x="2905125" y="5099050"/>
            <a:ext cx="4022725"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22" name="Line 8">
            <a:extLst>
              <a:ext uri="{FF2B5EF4-FFF2-40B4-BE49-F238E27FC236}">
                <a16:creationId xmlns:a16="http://schemas.microsoft.com/office/drawing/2014/main" id="{0A1CEC26-64C2-4C1B-BEEB-4FD2F63DDA15}"/>
              </a:ext>
            </a:extLst>
          </p:cNvPr>
          <p:cNvSpPr>
            <a:spLocks noChangeShapeType="1"/>
          </p:cNvSpPr>
          <p:nvPr/>
        </p:nvSpPr>
        <p:spPr bwMode="auto">
          <a:xfrm flipH="1">
            <a:off x="2895600" y="5380038"/>
            <a:ext cx="4032250"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23" name="Line 9">
            <a:extLst>
              <a:ext uri="{FF2B5EF4-FFF2-40B4-BE49-F238E27FC236}">
                <a16:creationId xmlns:a16="http://schemas.microsoft.com/office/drawing/2014/main" id="{5AA1B4B0-952F-4468-A8E4-A626E7B035E1}"/>
              </a:ext>
            </a:extLst>
          </p:cNvPr>
          <p:cNvSpPr>
            <a:spLocks noChangeShapeType="1"/>
          </p:cNvSpPr>
          <p:nvPr/>
        </p:nvSpPr>
        <p:spPr bwMode="auto">
          <a:xfrm>
            <a:off x="6170613" y="4094163"/>
            <a:ext cx="757237"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24" name="Text Box 11">
            <a:extLst>
              <a:ext uri="{FF2B5EF4-FFF2-40B4-BE49-F238E27FC236}">
                <a16:creationId xmlns:a16="http://schemas.microsoft.com/office/drawing/2014/main" id="{CEF91E44-FBCC-4E46-A7AF-2C749438D7D0}"/>
              </a:ext>
            </a:extLst>
          </p:cNvPr>
          <p:cNvSpPr txBox="1">
            <a:spLocks noChangeArrowheads="1"/>
          </p:cNvSpPr>
          <p:nvPr/>
        </p:nvSpPr>
        <p:spPr bwMode="auto">
          <a:xfrm>
            <a:off x="152400" y="3259138"/>
            <a:ext cx="1457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a:latin typeface="楷体_GB2312" pitchFamily="49" charset="-122"/>
              </a:rPr>
              <a:t>Cache</a:t>
            </a:r>
            <a:r>
              <a:rPr lang="zh-CN" altLang="en-US" sz="2000">
                <a:latin typeface="楷体_GB2312" pitchFamily="49" charset="-122"/>
              </a:rPr>
              <a:t>地址</a:t>
            </a:r>
          </a:p>
        </p:txBody>
      </p:sp>
      <p:sp>
        <p:nvSpPr>
          <p:cNvPr id="34825" name="Text Box 13">
            <a:extLst>
              <a:ext uri="{FF2B5EF4-FFF2-40B4-BE49-F238E27FC236}">
                <a16:creationId xmlns:a16="http://schemas.microsoft.com/office/drawing/2014/main" id="{34D90BE7-05B9-4161-9A49-5E8B9881949D}"/>
              </a:ext>
            </a:extLst>
          </p:cNvPr>
          <p:cNvSpPr txBox="1">
            <a:spLocks noChangeArrowheads="1"/>
          </p:cNvSpPr>
          <p:nvPr/>
        </p:nvSpPr>
        <p:spPr bwMode="auto">
          <a:xfrm>
            <a:off x="7334250" y="3276600"/>
            <a:ext cx="671513"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eaVert">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b="0">
                <a:latin typeface="楷体_GB2312" pitchFamily="49" charset="-122"/>
              </a:rPr>
              <a:t>主存</a:t>
            </a:r>
          </a:p>
        </p:txBody>
      </p:sp>
      <p:sp>
        <p:nvSpPr>
          <p:cNvPr id="34826" name="Text Box 14">
            <a:extLst>
              <a:ext uri="{FF2B5EF4-FFF2-40B4-BE49-F238E27FC236}">
                <a16:creationId xmlns:a16="http://schemas.microsoft.com/office/drawing/2014/main" id="{54F836D6-ACDB-4F1F-85FB-3973BF353F80}"/>
              </a:ext>
            </a:extLst>
          </p:cNvPr>
          <p:cNvSpPr txBox="1">
            <a:spLocks noChangeArrowheads="1"/>
          </p:cNvSpPr>
          <p:nvPr/>
        </p:nvSpPr>
        <p:spPr bwMode="auto">
          <a:xfrm>
            <a:off x="1630363" y="5099050"/>
            <a:ext cx="136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400" b="0">
                <a:latin typeface="楷体_GB2312" pitchFamily="49" charset="-122"/>
              </a:rPr>
              <a:t>Cache</a:t>
            </a:r>
          </a:p>
        </p:txBody>
      </p:sp>
      <p:sp>
        <p:nvSpPr>
          <p:cNvPr id="34827" name="Line 15">
            <a:extLst>
              <a:ext uri="{FF2B5EF4-FFF2-40B4-BE49-F238E27FC236}">
                <a16:creationId xmlns:a16="http://schemas.microsoft.com/office/drawing/2014/main" id="{1FD45DF6-5AC4-4BCA-AF10-1A79E84215F6}"/>
              </a:ext>
            </a:extLst>
          </p:cNvPr>
          <p:cNvSpPr>
            <a:spLocks noChangeShapeType="1"/>
          </p:cNvSpPr>
          <p:nvPr/>
        </p:nvSpPr>
        <p:spPr bwMode="auto">
          <a:xfrm>
            <a:off x="7934325" y="1171575"/>
            <a:ext cx="0" cy="43815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28" name="Text Box 16">
            <a:extLst>
              <a:ext uri="{FF2B5EF4-FFF2-40B4-BE49-F238E27FC236}">
                <a16:creationId xmlns:a16="http://schemas.microsoft.com/office/drawing/2014/main" id="{9BC5B76E-CEE8-42FE-B477-136DFA36807F}"/>
              </a:ext>
            </a:extLst>
          </p:cNvPr>
          <p:cNvSpPr txBox="1">
            <a:spLocks noChangeArrowheads="1"/>
          </p:cNvSpPr>
          <p:nvPr/>
        </p:nvSpPr>
        <p:spPr bwMode="auto">
          <a:xfrm>
            <a:off x="628650" y="1463675"/>
            <a:ext cx="1260475" cy="4397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solidFill>
                  <a:schemeClr val="folHlink"/>
                </a:solidFill>
                <a:latin typeface="楷体_GB2312" pitchFamily="49" charset="-122"/>
              </a:rPr>
              <a:t> </a:t>
            </a:r>
            <a:r>
              <a:rPr kumimoji="0" lang="zh-CN" altLang="en-US" sz="2000">
                <a:latin typeface="楷体_GB2312" pitchFamily="49" charset="-122"/>
              </a:rPr>
              <a:t>块号</a:t>
            </a:r>
          </a:p>
        </p:txBody>
      </p:sp>
      <p:sp>
        <p:nvSpPr>
          <p:cNvPr id="34829" name="Text Box 17">
            <a:extLst>
              <a:ext uri="{FF2B5EF4-FFF2-40B4-BE49-F238E27FC236}">
                <a16:creationId xmlns:a16="http://schemas.microsoft.com/office/drawing/2014/main" id="{A4373FD7-6EDC-4F60-9858-84C5D25423A0}"/>
              </a:ext>
            </a:extLst>
          </p:cNvPr>
          <p:cNvSpPr txBox="1">
            <a:spLocks noChangeArrowheads="1"/>
          </p:cNvSpPr>
          <p:nvPr/>
        </p:nvSpPr>
        <p:spPr bwMode="auto">
          <a:xfrm>
            <a:off x="1889125" y="1463675"/>
            <a:ext cx="1762125" cy="4397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latin typeface="楷体_GB2312" pitchFamily="49" charset="-122"/>
              </a:rPr>
              <a:t>块内地址 </a:t>
            </a:r>
          </a:p>
        </p:txBody>
      </p:sp>
      <p:sp>
        <p:nvSpPr>
          <p:cNvPr id="34830" name="Text Box 18">
            <a:extLst>
              <a:ext uri="{FF2B5EF4-FFF2-40B4-BE49-F238E27FC236}">
                <a16:creationId xmlns:a16="http://schemas.microsoft.com/office/drawing/2014/main" id="{88501849-5DFA-434B-929B-361AE15D2F01}"/>
              </a:ext>
            </a:extLst>
          </p:cNvPr>
          <p:cNvSpPr txBox="1">
            <a:spLocks noChangeArrowheads="1"/>
          </p:cNvSpPr>
          <p:nvPr/>
        </p:nvSpPr>
        <p:spPr bwMode="auto">
          <a:xfrm>
            <a:off x="881063" y="2341563"/>
            <a:ext cx="1762125" cy="7286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latin typeface="楷体_GB2312" pitchFamily="49" charset="-122"/>
              </a:rPr>
              <a:t>主存</a:t>
            </a:r>
            <a:r>
              <a:rPr kumimoji="0" lang="en-US" altLang="zh-CN" sz="2000">
                <a:latin typeface="楷体_GB2312" pitchFamily="49" charset="-122"/>
              </a:rPr>
              <a:t>-Cache</a:t>
            </a:r>
          </a:p>
          <a:p>
            <a:pPr algn="ctr">
              <a:spcBef>
                <a:spcPct val="0"/>
              </a:spcBef>
              <a:buClrTx/>
              <a:buFontTx/>
              <a:buNone/>
            </a:pPr>
            <a:r>
              <a:rPr kumimoji="0" lang="zh-CN" altLang="en-US" sz="2000">
                <a:latin typeface="楷体_GB2312" pitchFamily="49" charset="-122"/>
              </a:rPr>
              <a:t>地址变换</a:t>
            </a:r>
          </a:p>
        </p:txBody>
      </p:sp>
      <p:sp>
        <p:nvSpPr>
          <p:cNvPr id="34831" name="Text Box 19">
            <a:extLst>
              <a:ext uri="{FF2B5EF4-FFF2-40B4-BE49-F238E27FC236}">
                <a16:creationId xmlns:a16="http://schemas.microsoft.com/office/drawing/2014/main" id="{83176494-D0F4-498B-9468-316CF0257749}"/>
              </a:ext>
            </a:extLst>
          </p:cNvPr>
          <p:cNvSpPr txBox="1">
            <a:spLocks noChangeArrowheads="1"/>
          </p:cNvSpPr>
          <p:nvPr/>
        </p:nvSpPr>
        <p:spPr bwMode="auto">
          <a:xfrm>
            <a:off x="881063" y="3656013"/>
            <a:ext cx="1258887" cy="4381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solidFill>
                  <a:schemeClr val="folHlink"/>
                </a:solidFill>
                <a:latin typeface="楷体_GB2312" pitchFamily="49" charset="-122"/>
              </a:rPr>
              <a:t> </a:t>
            </a:r>
            <a:r>
              <a:rPr kumimoji="0" lang="zh-CN" altLang="en-US" sz="2000">
                <a:latin typeface="楷体_GB2312" pitchFamily="49" charset="-122"/>
              </a:rPr>
              <a:t>块号</a:t>
            </a:r>
          </a:p>
        </p:txBody>
      </p:sp>
      <p:sp>
        <p:nvSpPr>
          <p:cNvPr id="34832" name="Text Box 20">
            <a:extLst>
              <a:ext uri="{FF2B5EF4-FFF2-40B4-BE49-F238E27FC236}">
                <a16:creationId xmlns:a16="http://schemas.microsoft.com/office/drawing/2014/main" id="{0F67DC01-9635-44F9-B925-DF8ED95B381A}"/>
              </a:ext>
            </a:extLst>
          </p:cNvPr>
          <p:cNvSpPr txBox="1">
            <a:spLocks noChangeArrowheads="1"/>
          </p:cNvSpPr>
          <p:nvPr/>
        </p:nvSpPr>
        <p:spPr bwMode="auto">
          <a:xfrm>
            <a:off x="2139950" y="3656013"/>
            <a:ext cx="1763713" cy="4381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2000">
                <a:latin typeface="楷体_GB2312" pitchFamily="49" charset="-122"/>
              </a:rPr>
              <a:t>块内地址 </a:t>
            </a:r>
          </a:p>
        </p:txBody>
      </p:sp>
      <p:sp>
        <p:nvSpPr>
          <p:cNvPr id="34833" name="Line 21">
            <a:extLst>
              <a:ext uri="{FF2B5EF4-FFF2-40B4-BE49-F238E27FC236}">
                <a16:creationId xmlns:a16="http://schemas.microsoft.com/office/drawing/2014/main" id="{2F7DB58B-6C50-4AAD-9E3F-FE7C4684F07D}"/>
              </a:ext>
            </a:extLst>
          </p:cNvPr>
          <p:cNvSpPr>
            <a:spLocks noChangeShapeType="1"/>
          </p:cNvSpPr>
          <p:nvPr/>
        </p:nvSpPr>
        <p:spPr bwMode="auto">
          <a:xfrm>
            <a:off x="1636713" y="3070225"/>
            <a:ext cx="0" cy="585788"/>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34" name="Line 22">
            <a:extLst>
              <a:ext uri="{FF2B5EF4-FFF2-40B4-BE49-F238E27FC236}">
                <a16:creationId xmlns:a16="http://schemas.microsoft.com/office/drawing/2014/main" id="{8D22E2F6-E685-46CA-8DF1-43DE93924641}"/>
              </a:ext>
            </a:extLst>
          </p:cNvPr>
          <p:cNvSpPr>
            <a:spLocks noChangeShapeType="1"/>
          </p:cNvSpPr>
          <p:nvPr/>
        </p:nvSpPr>
        <p:spPr bwMode="auto">
          <a:xfrm>
            <a:off x="1384300" y="1903413"/>
            <a:ext cx="0" cy="43815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35" name="Text Box 23">
            <a:extLst>
              <a:ext uri="{FF2B5EF4-FFF2-40B4-BE49-F238E27FC236}">
                <a16:creationId xmlns:a16="http://schemas.microsoft.com/office/drawing/2014/main" id="{D7DDA474-B2CD-4692-BE2F-C56145B69DF3}"/>
              </a:ext>
            </a:extLst>
          </p:cNvPr>
          <p:cNvSpPr txBox="1">
            <a:spLocks noChangeArrowheads="1"/>
          </p:cNvSpPr>
          <p:nvPr/>
        </p:nvSpPr>
        <p:spPr bwMode="auto">
          <a:xfrm>
            <a:off x="1636713" y="4533900"/>
            <a:ext cx="1258887" cy="1460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endParaRPr kumimoji="0" lang="en-US" altLang="zh-CN" sz="2000">
              <a:solidFill>
                <a:schemeClr val="folHlink"/>
              </a:solidFill>
              <a:latin typeface="楷体_GB2312" pitchFamily="49" charset="-122"/>
            </a:endParaRPr>
          </a:p>
          <a:p>
            <a:pPr algn="just">
              <a:spcBef>
                <a:spcPct val="0"/>
              </a:spcBef>
              <a:buClrTx/>
              <a:buFontTx/>
              <a:buNone/>
            </a:pPr>
            <a:endParaRPr kumimoji="0" lang="en-US" altLang="zh-CN" sz="2000">
              <a:solidFill>
                <a:schemeClr val="folHlink"/>
              </a:solidFill>
              <a:latin typeface="楷体_GB2312" pitchFamily="49" charset="-122"/>
            </a:endParaRPr>
          </a:p>
          <a:p>
            <a:pPr algn="just">
              <a:spcBef>
                <a:spcPct val="0"/>
              </a:spcBef>
              <a:buClrTx/>
              <a:buFontTx/>
              <a:buNone/>
            </a:pPr>
            <a:r>
              <a:rPr kumimoji="0" lang="en-US" altLang="zh-CN" sz="2000">
                <a:solidFill>
                  <a:schemeClr val="folHlink"/>
                </a:solidFill>
                <a:latin typeface="楷体_GB2312" pitchFamily="49" charset="-122"/>
              </a:rPr>
              <a:t>  </a:t>
            </a:r>
          </a:p>
        </p:txBody>
      </p:sp>
      <p:sp>
        <p:nvSpPr>
          <p:cNvPr id="34836" name="Line 24">
            <a:extLst>
              <a:ext uri="{FF2B5EF4-FFF2-40B4-BE49-F238E27FC236}">
                <a16:creationId xmlns:a16="http://schemas.microsoft.com/office/drawing/2014/main" id="{305F6563-6134-48C0-8F3B-E62B84EAAE3B}"/>
              </a:ext>
            </a:extLst>
          </p:cNvPr>
          <p:cNvSpPr>
            <a:spLocks noChangeShapeType="1"/>
          </p:cNvSpPr>
          <p:nvPr/>
        </p:nvSpPr>
        <p:spPr bwMode="auto">
          <a:xfrm>
            <a:off x="1636713" y="4824413"/>
            <a:ext cx="12588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7" name="Line 25">
            <a:extLst>
              <a:ext uri="{FF2B5EF4-FFF2-40B4-BE49-F238E27FC236}">
                <a16:creationId xmlns:a16="http://schemas.microsoft.com/office/drawing/2014/main" id="{A02A45CE-4EFE-4756-8D53-ED12AF73971D}"/>
              </a:ext>
            </a:extLst>
          </p:cNvPr>
          <p:cNvSpPr>
            <a:spLocks noChangeShapeType="1"/>
          </p:cNvSpPr>
          <p:nvPr/>
        </p:nvSpPr>
        <p:spPr bwMode="auto">
          <a:xfrm>
            <a:off x="1636713" y="5118100"/>
            <a:ext cx="12588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8" name="Line 26">
            <a:extLst>
              <a:ext uri="{FF2B5EF4-FFF2-40B4-BE49-F238E27FC236}">
                <a16:creationId xmlns:a16="http://schemas.microsoft.com/office/drawing/2014/main" id="{1FD72BA9-FE63-44F6-A6D1-B74AA745C85E}"/>
              </a:ext>
            </a:extLst>
          </p:cNvPr>
          <p:cNvSpPr>
            <a:spLocks noChangeShapeType="1"/>
          </p:cNvSpPr>
          <p:nvPr/>
        </p:nvSpPr>
        <p:spPr bwMode="auto">
          <a:xfrm>
            <a:off x="1636713" y="5700713"/>
            <a:ext cx="12588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9" name="Line 27">
            <a:extLst>
              <a:ext uri="{FF2B5EF4-FFF2-40B4-BE49-F238E27FC236}">
                <a16:creationId xmlns:a16="http://schemas.microsoft.com/office/drawing/2014/main" id="{0CD9F7F2-15CB-47F7-A63B-A6F783CFA940}"/>
              </a:ext>
            </a:extLst>
          </p:cNvPr>
          <p:cNvSpPr>
            <a:spLocks noChangeShapeType="1"/>
          </p:cNvSpPr>
          <p:nvPr/>
        </p:nvSpPr>
        <p:spPr bwMode="auto">
          <a:xfrm>
            <a:off x="2139950" y="5994400"/>
            <a:ext cx="0" cy="438150"/>
          </a:xfrm>
          <a:prstGeom prst="line">
            <a:avLst/>
          </a:prstGeom>
          <a:noFill/>
          <a:ln w="2857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40" name="Text Box 28">
            <a:extLst>
              <a:ext uri="{FF2B5EF4-FFF2-40B4-BE49-F238E27FC236}">
                <a16:creationId xmlns:a16="http://schemas.microsoft.com/office/drawing/2014/main" id="{60AE975D-C8A0-423C-9DCB-B3FDC88B16D2}"/>
              </a:ext>
            </a:extLst>
          </p:cNvPr>
          <p:cNvSpPr txBox="1">
            <a:spLocks noChangeArrowheads="1"/>
          </p:cNvSpPr>
          <p:nvPr/>
        </p:nvSpPr>
        <p:spPr bwMode="auto">
          <a:xfrm>
            <a:off x="4729163" y="3656013"/>
            <a:ext cx="1441450" cy="10223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dirty="0">
                <a:latin typeface="楷体_GB2312" pitchFamily="49" charset="-122"/>
              </a:rPr>
              <a:t>Cache</a:t>
            </a:r>
          </a:p>
          <a:p>
            <a:pPr algn="ctr">
              <a:spcBef>
                <a:spcPct val="0"/>
              </a:spcBef>
              <a:buClrTx/>
              <a:buFontTx/>
              <a:buNone/>
            </a:pPr>
            <a:r>
              <a:rPr kumimoji="0" lang="zh-CN" altLang="en-US" sz="2400" dirty="0">
                <a:latin typeface="楷体_GB2312" pitchFamily="49" charset="-122"/>
              </a:rPr>
              <a:t>替换部件</a:t>
            </a:r>
          </a:p>
        </p:txBody>
      </p:sp>
      <p:sp>
        <p:nvSpPr>
          <p:cNvPr id="34841" name="Text Box 29">
            <a:extLst>
              <a:ext uri="{FF2B5EF4-FFF2-40B4-BE49-F238E27FC236}">
                <a16:creationId xmlns:a16="http://schemas.microsoft.com/office/drawing/2014/main" id="{2D20AA12-2D70-4CBD-8C39-A108DD6943CC}"/>
              </a:ext>
            </a:extLst>
          </p:cNvPr>
          <p:cNvSpPr txBox="1">
            <a:spLocks noChangeArrowheads="1"/>
          </p:cNvSpPr>
          <p:nvPr/>
        </p:nvSpPr>
        <p:spPr bwMode="auto">
          <a:xfrm>
            <a:off x="6927851" y="1609725"/>
            <a:ext cx="1762124" cy="42386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endParaRPr kumimoji="0" lang="en-US" altLang="zh-CN" sz="2000">
              <a:solidFill>
                <a:schemeClr val="folHlink"/>
              </a:solidFill>
              <a:latin typeface="楷体_GB2312" pitchFamily="49" charset="-122"/>
            </a:endParaRPr>
          </a:p>
          <a:p>
            <a:pPr algn="just">
              <a:spcBef>
                <a:spcPct val="0"/>
              </a:spcBef>
              <a:buClrTx/>
              <a:buFontTx/>
              <a:buNone/>
            </a:pPr>
            <a:endParaRPr kumimoji="0" lang="en-US" altLang="zh-CN" sz="2000">
              <a:solidFill>
                <a:schemeClr val="folHlink"/>
              </a:solidFill>
              <a:latin typeface="楷体_GB2312" pitchFamily="49" charset="-122"/>
            </a:endParaRPr>
          </a:p>
          <a:p>
            <a:pPr algn="just">
              <a:spcBef>
                <a:spcPct val="0"/>
              </a:spcBef>
              <a:buClrTx/>
              <a:buFontTx/>
              <a:buNone/>
            </a:pPr>
            <a:endParaRPr kumimoji="0" lang="en-US" altLang="zh-CN" sz="2000">
              <a:solidFill>
                <a:schemeClr val="folHlink"/>
              </a:solidFill>
              <a:latin typeface="楷体_GB2312" pitchFamily="49" charset="-122"/>
            </a:endParaRPr>
          </a:p>
          <a:p>
            <a:pPr algn="just">
              <a:spcBef>
                <a:spcPct val="0"/>
              </a:spcBef>
              <a:buClrTx/>
              <a:buFontTx/>
              <a:buNone/>
            </a:pPr>
            <a:endParaRPr kumimoji="0" lang="en-US" altLang="zh-CN" sz="2000">
              <a:solidFill>
                <a:schemeClr val="folHlink"/>
              </a:solidFill>
              <a:latin typeface="楷体_GB2312" pitchFamily="49" charset="-122"/>
            </a:endParaRPr>
          </a:p>
          <a:p>
            <a:pPr algn="just">
              <a:spcBef>
                <a:spcPct val="0"/>
              </a:spcBef>
              <a:buClrTx/>
              <a:buFontTx/>
              <a:buNone/>
            </a:pPr>
            <a:endParaRPr kumimoji="0" lang="en-US" altLang="zh-CN" sz="2000">
              <a:solidFill>
                <a:schemeClr val="folHlink"/>
              </a:solidFill>
              <a:latin typeface="楷体_GB2312" pitchFamily="49" charset="-122"/>
            </a:endParaRPr>
          </a:p>
          <a:p>
            <a:pPr algn="just">
              <a:spcBef>
                <a:spcPct val="0"/>
              </a:spcBef>
              <a:buClrTx/>
              <a:buFontTx/>
              <a:buNone/>
            </a:pPr>
            <a:r>
              <a:rPr kumimoji="0" lang="en-US" altLang="zh-CN" sz="2000">
                <a:solidFill>
                  <a:schemeClr val="folHlink"/>
                </a:solidFill>
                <a:latin typeface="楷体_GB2312" pitchFamily="49" charset="-122"/>
              </a:rPr>
              <a:t>   </a:t>
            </a:r>
          </a:p>
        </p:txBody>
      </p:sp>
      <p:sp>
        <p:nvSpPr>
          <p:cNvPr id="34842" name="Line 30">
            <a:extLst>
              <a:ext uri="{FF2B5EF4-FFF2-40B4-BE49-F238E27FC236}">
                <a16:creationId xmlns:a16="http://schemas.microsoft.com/office/drawing/2014/main" id="{CE7C1AC1-EF93-4BF0-9DFF-D36275EF8AA5}"/>
              </a:ext>
            </a:extLst>
          </p:cNvPr>
          <p:cNvSpPr>
            <a:spLocks noChangeShapeType="1"/>
          </p:cNvSpPr>
          <p:nvPr/>
        </p:nvSpPr>
        <p:spPr bwMode="auto">
          <a:xfrm>
            <a:off x="6927850" y="2047875"/>
            <a:ext cx="17621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3" name="Line 31">
            <a:extLst>
              <a:ext uri="{FF2B5EF4-FFF2-40B4-BE49-F238E27FC236}">
                <a16:creationId xmlns:a16="http://schemas.microsoft.com/office/drawing/2014/main" id="{05825A0D-24A7-4F84-AC49-8F7BB79DDADE}"/>
              </a:ext>
            </a:extLst>
          </p:cNvPr>
          <p:cNvSpPr>
            <a:spLocks noChangeShapeType="1"/>
          </p:cNvSpPr>
          <p:nvPr/>
        </p:nvSpPr>
        <p:spPr bwMode="auto">
          <a:xfrm>
            <a:off x="6927850" y="2341563"/>
            <a:ext cx="17621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4" name="Line 32">
            <a:extLst>
              <a:ext uri="{FF2B5EF4-FFF2-40B4-BE49-F238E27FC236}">
                <a16:creationId xmlns:a16="http://schemas.microsoft.com/office/drawing/2014/main" id="{24FEA483-25DB-4FBF-A97A-9F601CCC09A2}"/>
              </a:ext>
            </a:extLst>
          </p:cNvPr>
          <p:cNvSpPr>
            <a:spLocks noChangeShapeType="1"/>
          </p:cNvSpPr>
          <p:nvPr/>
        </p:nvSpPr>
        <p:spPr bwMode="auto">
          <a:xfrm>
            <a:off x="6927850" y="2632075"/>
            <a:ext cx="17621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5" name="Line 33">
            <a:extLst>
              <a:ext uri="{FF2B5EF4-FFF2-40B4-BE49-F238E27FC236}">
                <a16:creationId xmlns:a16="http://schemas.microsoft.com/office/drawing/2014/main" id="{1F6C383A-DAC5-422E-81DB-3D0281D6BDD5}"/>
              </a:ext>
            </a:extLst>
          </p:cNvPr>
          <p:cNvSpPr>
            <a:spLocks noChangeShapeType="1"/>
          </p:cNvSpPr>
          <p:nvPr/>
        </p:nvSpPr>
        <p:spPr bwMode="auto">
          <a:xfrm>
            <a:off x="6927850" y="2925763"/>
            <a:ext cx="17621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6" name="Line 34">
            <a:extLst>
              <a:ext uri="{FF2B5EF4-FFF2-40B4-BE49-F238E27FC236}">
                <a16:creationId xmlns:a16="http://schemas.microsoft.com/office/drawing/2014/main" id="{FAA5BCFA-CCD1-4815-BFD8-6F0B2A5FAD20}"/>
              </a:ext>
            </a:extLst>
          </p:cNvPr>
          <p:cNvSpPr>
            <a:spLocks noChangeShapeType="1"/>
          </p:cNvSpPr>
          <p:nvPr/>
        </p:nvSpPr>
        <p:spPr bwMode="auto">
          <a:xfrm>
            <a:off x="6927850" y="5700713"/>
            <a:ext cx="17621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7" name="Line 35">
            <a:extLst>
              <a:ext uri="{FF2B5EF4-FFF2-40B4-BE49-F238E27FC236}">
                <a16:creationId xmlns:a16="http://schemas.microsoft.com/office/drawing/2014/main" id="{599C8FA8-4585-4B3B-9896-59A6210B649E}"/>
              </a:ext>
            </a:extLst>
          </p:cNvPr>
          <p:cNvSpPr>
            <a:spLocks noChangeShapeType="1"/>
          </p:cNvSpPr>
          <p:nvPr/>
        </p:nvSpPr>
        <p:spPr bwMode="auto">
          <a:xfrm>
            <a:off x="2643188" y="2632075"/>
            <a:ext cx="27717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8" name="Line 36">
            <a:extLst>
              <a:ext uri="{FF2B5EF4-FFF2-40B4-BE49-F238E27FC236}">
                <a16:creationId xmlns:a16="http://schemas.microsoft.com/office/drawing/2014/main" id="{D11524EC-49B5-42DA-9482-6BBDEB689604}"/>
              </a:ext>
            </a:extLst>
          </p:cNvPr>
          <p:cNvSpPr>
            <a:spLocks noChangeShapeType="1"/>
          </p:cNvSpPr>
          <p:nvPr/>
        </p:nvSpPr>
        <p:spPr bwMode="auto">
          <a:xfrm>
            <a:off x="5414963" y="2632075"/>
            <a:ext cx="0" cy="1023938"/>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49" name="Line 37">
            <a:extLst>
              <a:ext uri="{FF2B5EF4-FFF2-40B4-BE49-F238E27FC236}">
                <a16:creationId xmlns:a16="http://schemas.microsoft.com/office/drawing/2014/main" id="{D5695C6E-A7AC-41B6-9B18-4A0D9402716F}"/>
              </a:ext>
            </a:extLst>
          </p:cNvPr>
          <p:cNvSpPr>
            <a:spLocks noChangeShapeType="1"/>
          </p:cNvSpPr>
          <p:nvPr/>
        </p:nvSpPr>
        <p:spPr bwMode="auto">
          <a:xfrm>
            <a:off x="2139950" y="4094163"/>
            <a:ext cx="0" cy="439737"/>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50" name="Line 38">
            <a:extLst>
              <a:ext uri="{FF2B5EF4-FFF2-40B4-BE49-F238E27FC236}">
                <a16:creationId xmlns:a16="http://schemas.microsoft.com/office/drawing/2014/main" id="{23CE5045-A4B7-4ED5-BE96-45309D54AF21}"/>
              </a:ext>
            </a:extLst>
          </p:cNvPr>
          <p:cNvSpPr>
            <a:spLocks noChangeShapeType="1"/>
          </p:cNvSpPr>
          <p:nvPr/>
        </p:nvSpPr>
        <p:spPr bwMode="auto">
          <a:xfrm>
            <a:off x="5162550" y="4678363"/>
            <a:ext cx="0" cy="4397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1" name="Line 39">
            <a:extLst>
              <a:ext uri="{FF2B5EF4-FFF2-40B4-BE49-F238E27FC236}">
                <a16:creationId xmlns:a16="http://schemas.microsoft.com/office/drawing/2014/main" id="{3EF65A90-956C-4F5E-907D-191338FF5534}"/>
              </a:ext>
            </a:extLst>
          </p:cNvPr>
          <p:cNvSpPr>
            <a:spLocks noChangeShapeType="1"/>
          </p:cNvSpPr>
          <p:nvPr/>
        </p:nvSpPr>
        <p:spPr bwMode="auto">
          <a:xfrm>
            <a:off x="5918200" y="4678363"/>
            <a:ext cx="0" cy="7318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2" name="Line 40">
            <a:extLst>
              <a:ext uri="{FF2B5EF4-FFF2-40B4-BE49-F238E27FC236}">
                <a16:creationId xmlns:a16="http://schemas.microsoft.com/office/drawing/2014/main" id="{13EC5F00-C0C8-4528-914D-265A34C88BB0}"/>
              </a:ext>
            </a:extLst>
          </p:cNvPr>
          <p:cNvSpPr>
            <a:spLocks noChangeShapeType="1"/>
          </p:cNvSpPr>
          <p:nvPr/>
        </p:nvSpPr>
        <p:spPr bwMode="auto">
          <a:xfrm>
            <a:off x="1384300" y="6432550"/>
            <a:ext cx="68008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3" name="Line 41">
            <a:extLst>
              <a:ext uri="{FF2B5EF4-FFF2-40B4-BE49-F238E27FC236}">
                <a16:creationId xmlns:a16="http://schemas.microsoft.com/office/drawing/2014/main" id="{40F58870-74BB-4225-90D1-F6D74F0B5AFD}"/>
              </a:ext>
            </a:extLst>
          </p:cNvPr>
          <p:cNvSpPr>
            <a:spLocks noChangeShapeType="1"/>
          </p:cNvSpPr>
          <p:nvPr/>
        </p:nvSpPr>
        <p:spPr bwMode="auto">
          <a:xfrm>
            <a:off x="7681913" y="5848350"/>
            <a:ext cx="0" cy="584200"/>
          </a:xfrm>
          <a:prstGeom prst="line">
            <a:avLst/>
          </a:prstGeom>
          <a:noFill/>
          <a:ln w="28575">
            <a:solidFill>
              <a:schemeClr val="tx1"/>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4854" name="Line 42">
            <a:extLst>
              <a:ext uri="{FF2B5EF4-FFF2-40B4-BE49-F238E27FC236}">
                <a16:creationId xmlns:a16="http://schemas.microsoft.com/office/drawing/2014/main" id="{7D3F39C3-5D2F-4A3A-851D-DE69573D99E0}"/>
              </a:ext>
            </a:extLst>
          </p:cNvPr>
          <p:cNvSpPr>
            <a:spLocks noChangeShapeType="1"/>
          </p:cNvSpPr>
          <p:nvPr/>
        </p:nvSpPr>
        <p:spPr bwMode="auto">
          <a:xfrm flipH="1">
            <a:off x="1889125" y="1171575"/>
            <a:ext cx="6045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5" name="Line 43">
            <a:extLst>
              <a:ext uri="{FF2B5EF4-FFF2-40B4-BE49-F238E27FC236}">
                <a16:creationId xmlns:a16="http://schemas.microsoft.com/office/drawing/2014/main" id="{36C9DF23-B383-4299-9756-314C580A3BFB}"/>
              </a:ext>
            </a:extLst>
          </p:cNvPr>
          <p:cNvSpPr>
            <a:spLocks noChangeShapeType="1"/>
          </p:cNvSpPr>
          <p:nvPr/>
        </p:nvSpPr>
        <p:spPr bwMode="auto">
          <a:xfrm>
            <a:off x="1889125" y="1171575"/>
            <a:ext cx="0" cy="292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6" name="Text Box 44">
            <a:extLst>
              <a:ext uri="{FF2B5EF4-FFF2-40B4-BE49-F238E27FC236}">
                <a16:creationId xmlns:a16="http://schemas.microsoft.com/office/drawing/2014/main" id="{A10416C3-A408-41F4-8A56-733F0CFFF329}"/>
              </a:ext>
            </a:extLst>
          </p:cNvPr>
          <p:cNvSpPr txBox="1">
            <a:spLocks noChangeArrowheads="1"/>
          </p:cNvSpPr>
          <p:nvPr/>
        </p:nvSpPr>
        <p:spPr bwMode="auto">
          <a:xfrm>
            <a:off x="152400" y="1066800"/>
            <a:ext cx="1222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latin typeface="楷体_GB2312" pitchFamily="49" charset="-122"/>
              </a:rPr>
              <a:t>主存地址</a:t>
            </a:r>
          </a:p>
        </p:txBody>
      </p:sp>
      <p:sp>
        <p:nvSpPr>
          <p:cNvPr id="34857" name="Text Box 45">
            <a:extLst>
              <a:ext uri="{FF2B5EF4-FFF2-40B4-BE49-F238E27FC236}">
                <a16:creationId xmlns:a16="http://schemas.microsoft.com/office/drawing/2014/main" id="{A95F78CF-7BBB-47AD-B21F-48365D25055F}"/>
              </a:ext>
            </a:extLst>
          </p:cNvPr>
          <p:cNvSpPr txBox="1">
            <a:spLocks noChangeArrowheads="1"/>
          </p:cNvSpPr>
          <p:nvPr/>
        </p:nvSpPr>
        <p:spPr bwMode="auto">
          <a:xfrm>
            <a:off x="2905125" y="4552950"/>
            <a:ext cx="1457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latin typeface="楷体_GB2312" pitchFamily="49" charset="-122"/>
              </a:rPr>
              <a:t>替换块</a:t>
            </a:r>
          </a:p>
        </p:txBody>
      </p:sp>
      <p:sp>
        <p:nvSpPr>
          <p:cNvPr id="34858" name="Text Box 46">
            <a:extLst>
              <a:ext uri="{FF2B5EF4-FFF2-40B4-BE49-F238E27FC236}">
                <a16:creationId xmlns:a16="http://schemas.microsoft.com/office/drawing/2014/main" id="{B8A4F5D6-3699-4057-918C-855D68E0D39C}"/>
              </a:ext>
            </a:extLst>
          </p:cNvPr>
          <p:cNvSpPr txBox="1">
            <a:spLocks noChangeArrowheads="1"/>
          </p:cNvSpPr>
          <p:nvPr/>
        </p:nvSpPr>
        <p:spPr bwMode="auto">
          <a:xfrm>
            <a:off x="3724275" y="5605463"/>
            <a:ext cx="1912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latin typeface="楷体_GB2312" pitchFamily="49" charset="-122"/>
              </a:rPr>
              <a:t>装入块</a:t>
            </a:r>
          </a:p>
        </p:txBody>
      </p:sp>
      <p:sp>
        <p:nvSpPr>
          <p:cNvPr id="34859" name="Text Box 47">
            <a:extLst>
              <a:ext uri="{FF2B5EF4-FFF2-40B4-BE49-F238E27FC236}">
                <a16:creationId xmlns:a16="http://schemas.microsoft.com/office/drawing/2014/main" id="{46D51A57-00D4-44DF-AF9F-60A22286243C}"/>
              </a:ext>
            </a:extLst>
          </p:cNvPr>
          <p:cNvSpPr txBox="1">
            <a:spLocks noChangeArrowheads="1"/>
          </p:cNvSpPr>
          <p:nvPr/>
        </p:nvSpPr>
        <p:spPr bwMode="auto">
          <a:xfrm>
            <a:off x="3633788" y="2147888"/>
            <a:ext cx="1457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latin typeface="楷体_GB2312" pitchFamily="49" charset="-122"/>
              </a:rPr>
              <a:t>不命中</a:t>
            </a:r>
          </a:p>
        </p:txBody>
      </p:sp>
      <p:sp>
        <p:nvSpPr>
          <p:cNvPr id="34860" name="Text Box 48">
            <a:extLst>
              <a:ext uri="{FF2B5EF4-FFF2-40B4-BE49-F238E27FC236}">
                <a16:creationId xmlns:a16="http://schemas.microsoft.com/office/drawing/2014/main" id="{4465DD4F-DA48-4B4F-9209-AD3958496782}"/>
              </a:ext>
            </a:extLst>
          </p:cNvPr>
          <p:cNvSpPr txBox="1">
            <a:spLocks noChangeArrowheads="1"/>
          </p:cNvSpPr>
          <p:nvPr/>
        </p:nvSpPr>
        <p:spPr bwMode="auto">
          <a:xfrm>
            <a:off x="5091113" y="6035675"/>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latin typeface="楷体_GB2312" pitchFamily="49" charset="-122"/>
              </a:rPr>
              <a:t>数据或指令</a:t>
            </a:r>
          </a:p>
        </p:txBody>
      </p:sp>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a:extLst>
              <a:ext uri="{FF2B5EF4-FFF2-40B4-BE49-F238E27FC236}">
                <a16:creationId xmlns:a16="http://schemas.microsoft.com/office/drawing/2014/main" id="{B84504AF-0186-4234-84BD-39BD1A33CB12}"/>
              </a:ext>
            </a:extLst>
          </p:cNvPr>
          <p:cNvSpPr>
            <a:spLocks noGrp="1" noChangeArrowheads="1"/>
          </p:cNvSpPr>
          <p:nvPr>
            <p:ph type="title"/>
          </p:nvPr>
        </p:nvSpPr>
        <p:spPr/>
        <p:txBody>
          <a:bodyPr/>
          <a:lstStyle/>
          <a:p>
            <a:pPr eaLnBrk="1" hangingPunct="1">
              <a:defRPr/>
            </a:pPr>
            <a:r>
              <a:rPr lang="zh-CN" altLang="en-US"/>
              <a:t>主存与</a:t>
            </a:r>
            <a:r>
              <a:rPr lang="en-US" altLang="zh-CN"/>
              <a:t>Cache</a:t>
            </a:r>
            <a:r>
              <a:rPr lang="zh-CN" altLang="en-US"/>
              <a:t>的地址映射</a:t>
            </a:r>
          </a:p>
        </p:txBody>
      </p:sp>
      <p:sp>
        <p:nvSpPr>
          <p:cNvPr id="35843" name="Rectangle 3">
            <a:extLst>
              <a:ext uri="{FF2B5EF4-FFF2-40B4-BE49-F238E27FC236}">
                <a16:creationId xmlns:a16="http://schemas.microsoft.com/office/drawing/2014/main" id="{89AA6AF4-FB9D-443B-804D-247A06963981}"/>
              </a:ext>
            </a:extLst>
          </p:cNvPr>
          <p:cNvSpPr>
            <a:spLocks noGrp="1" noChangeArrowheads="1"/>
          </p:cNvSpPr>
          <p:nvPr>
            <p:ph idx="1"/>
          </p:nvPr>
        </p:nvSpPr>
        <p:spPr/>
        <p:txBody>
          <a:bodyPr/>
          <a:lstStyle/>
          <a:p>
            <a:pPr eaLnBrk="1" hangingPunct="1"/>
            <a:r>
              <a:rPr lang="zh-CN" altLang="en-US" dirty="0"/>
              <a:t>为了把主存块放到</a:t>
            </a:r>
            <a:r>
              <a:rPr lang="en-US" altLang="zh-CN" dirty="0"/>
              <a:t>Cache</a:t>
            </a:r>
            <a:r>
              <a:rPr lang="zh-CN" altLang="en-US" dirty="0"/>
              <a:t>中，必须应用某种方法把主存地址变换成</a:t>
            </a:r>
            <a:r>
              <a:rPr lang="en-US" altLang="zh-CN" dirty="0"/>
              <a:t>Cache</a:t>
            </a:r>
            <a:r>
              <a:rPr lang="zh-CN" altLang="en-US" dirty="0"/>
              <a:t>中的地址，称作</a:t>
            </a:r>
            <a:r>
              <a:rPr lang="zh-CN" altLang="en-US" dirty="0">
                <a:solidFill>
                  <a:srgbClr val="CC3300"/>
                </a:solidFill>
              </a:rPr>
              <a:t>地址映射（地址变换）</a:t>
            </a:r>
          </a:p>
          <a:p>
            <a:pPr eaLnBrk="1" hangingPunct="1"/>
            <a:r>
              <a:rPr lang="zh-CN" altLang="en-US" dirty="0"/>
              <a:t>地址映射方式</a:t>
            </a:r>
          </a:p>
          <a:p>
            <a:pPr lvl="1" eaLnBrk="1" hangingPunct="1"/>
            <a:r>
              <a:rPr lang="zh-CN" altLang="en-US" dirty="0"/>
              <a:t>全相联映射（ </a:t>
            </a:r>
            <a:r>
              <a:rPr lang="en-US" altLang="zh-CN" dirty="0">
                <a:ea typeface="宋体" panose="02010600030101010101" pitchFamily="2" charset="-122"/>
              </a:rPr>
              <a:t>Fully Associative</a:t>
            </a:r>
            <a:r>
              <a:rPr lang="en-US" altLang="zh-CN" dirty="0"/>
              <a:t> Mapping</a:t>
            </a:r>
            <a:r>
              <a:rPr lang="zh-CN" altLang="en-US" dirty="0"/>
              <a:t>）</a:t>
            </a:r>
          </a:p>
          <a:p>
            <a:pPr lvl="1" eaLnBrk="1" hangingPunct="1"/>
            <a:r>
              <a:rPr lang="zh-CN" altLang="en-US" dirty="0"/>
              <a:t>直接映射（</a:t>
            </a:r>
            <a:r>
              <a:rPr lang="en-US" altLang="zh-CN" dirty="0"/>
              <a:t>Direct Mapping</a:t>
            </a:r>
            <a:r>
              <a:rPr lang="zh-CN" altLang="en-US" dirty="0"/>
              <a:t>）</a:t>
            </a:r>
          </a:p>
          <a:p>
            <a:pPr lvl="1" eaLnBrk="1" hangingPunct="1"/>
            <a:r>
              <a:rPr lang="zh-CN" altLang="en-US" dirty="0"/>
              <a:t>组相联映射（</a:t>
            </a:r>
            <a:r>
              <a:rPr lang="en-US" altLang="zh-CN" dirty="0"/>
              <a:t>Set </a:t>
            </a:r>
            <a:r>
              <a:rPr lang="en-US" altLang="zh-CN" dirty="0">
                <a:ea typeface="宋体" panose="02010600030101010101" pitchFamily="2" charset="-122"/>
              </a:rPr>
              <a:t>Associative</a:t>
            </a:r>
            <a:r>
              <a:rPr lang="en-US" altLang="zh-CN" dirty="0"/>
              <a:t> Mapping </a:t>
            </a:r>
            <a:r>
              <a:rPr lang="zh-CN" altLang="en-US" dirty="0"/>
              <a:t>）</a:t>
            </a:r>
          </a:p>
        </p:txBody>
      </p:sp>
    </p:spTree>
  </p:cSld>
  <p:clrMapOvr>
    <a:masterClrMapping/>
  </p:clrMapOvr>
  <p:transition spd="med">
    <p:pull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a:extLst>
              <a:ext uri="{FF2B5EF4-FFF2-40B4-BE49-F238E27FC236}">
                <a16:creationId xmlns:a16="http://schemas.microsoft.com/office/drawing/2014/main" id="{F0084869-06E1-4461-BC7C-F6A1026649B4}"/>
              </a:ext>
            </a:extLst>
          </p:cNvPr>
          <p:cNvSpPr>
            <a:spLocks noGrp="1" noChangeArrowheads="1"/>
          </p:cNvSpPr>
          <p:nvPr>
            <p:ph type="title"/>
          </p:nvPr>
        </p:nvSpPr>
        <p:spPr/>
        <p:txBody>
          <a:bodyPr/>
          <a:lstStyle/>
          <a:p>
            <a:pPr eaLnBrk="1" hangingPunct="1">
              <a:defRPr/>
            </a:pPr>
            <a:r>
              <a:rPr lang="en-US" altLang="zh-CN" dirty="0"/>
              <a:t>1</a:t>
            </a:r>
            <a:r>
              <a:rPr lang="zh-CN" altLang="en-US" dirty="0"/>
              <a:t>、全相联映射（</a:t>
            </a:r>
            <a:r>
              <a:rPr lang="en-US" altLang="zh-CN" dirty="0"/>
              <a:t>1</a:t>
            </a:r>
            <a:r>
              <a:rPr lang="zh-CN" altLang="en-US" dirty="0"/>
              <a:t>）</a:t>
            </a:r>
          </a:p>
        </p:txBody>
      </p:sp>
      <p:grpSp>
        <p:nvGrpSpPr>
          <p:cNvPr id="36868" name="Group 1057">
            <a:extLst>
              <a:ext uri="{FF2B5EF4-FFF2-40B4-BE49-F238E27FC236}">
                <a16:creationId xmlns:a16="http://schemas.microsoft.com/office/drawing/2014/main" id="{18444879-8964-486C-8414-6E1487BC7251}"/>
              </a:ext>
            </a:extLst>
          </p:cNvPr>
          <p:cNvGrpSpPr>
            <a:grpSpLocks/>
          </p:cNvGrpSpPr>
          <p:nvPr/>
        </p:nvGrpSpPr>
        <p:grpSpPr bwMode="auto">
          <a:xfrm>
            <a:off x="5867400" y="1616075"/>
            <a:ext cx="2520950" cy="3429000"/>
            <a:chOff x="2720" y="1872"/>
            <a:chExt cx="1168" cy="2160"/>
          </a:xfrm>
        </p:grpSpPr>
        <p:sp>
          <p:nvSpPr>
            <p:cNvPr id="36892" name="Text Box 1058">
              <a:extLst>
                <a:ext uri="{FF2B5EF4-FFF2-40B4-BE49-F238E27FC236}">
                  <a16:creationId xmlns:a16="http://schemas.microsoft.com/office/drawing/2014/main" id="{9BD3497A-41EA-46C5-AF2D-94655653A8E2}"/>
                </a:ext>
              </a:extLst>
            </p:cNvPr>
            <p:cNvSpPr txBox="1">
              <a:spLocks noChangeArrowheads="1"/>
            </p:cNvSpPr>
            <p:nvPr/>
          </p:nvSpPr>
          <p:spPr bwMode="auto">
            <a:xfrm>
              <a:off x="2720" y="1872"/>
              <a:ext cx="1168" cy="216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 </a:t>
              </a:r>
              <a:r>
                <a:rPr kumimoji="0" lang="zh-CN" altLang="en-US" sz="2000">
                  <a:ea typeface="宋体" panose="02010600030101010101" pitchFamily="2" charset="-122"/>
                </a:rPr>
                <a:t>块</a:t>
              </a:r>
              <a:r>
                <a:rPr kumimoji="0" lang="en-US" altLang="zh-CN" sz="2000">
                  <a:ea typeface="宋体" panose="02010600030101010101" pitchFamily="2" charset="-122"/>
                </a:rPr>
                <a:t>0</a:t>
              </a:r>
            </a:p>
            <a:p>
              <a:pPr algn="ctr">
                <a:spcBef>
                  <a:spcPct val="0"/>
                </a:spcBef>
                <a:buClrTx/>
                <a:buFontTx/>
                <a:buNone/>
              </a:pPr>
              <a:endParaRPr kumimoji="0" lang="en-US" altLang="zh-CN" sz="2000">
                <a:ea typeface="宋体" panose="02010600030101010101" pitchFamily="2" charset="-122"/>
              </a:endParaRPr>
            </a:p>
            <a:p>
              <a:pPr algn="ctr">
                <a:spcBef>
                  <a:spcPct val="0"/>
                </a:spcBef>
                <a:buClrTx/>
                <a:buFontTx/>
                <a:buNone/>
              </a:pPr>
              <a:r>
                <a:rPr kumimoji="0" lang="en-US" altLang="zh-CN" sz="2000">
                  <a:ea typeface="宋体" panose="02010600030101010101" pitchFamily="2" charset="-122"/>
                </a:rPr>
                <a:t> </a:t>
              </a:r>
              <a:r>
                <a:rPr kumimoji="0" lang="zh-CN" altLang="en-US" sz="2000">
                  <a:ea typeface="宋体" panose="02010600030101010101" pitchFamily="2" charset="-122"/>
                </a:rPr>
                <a:t>块</a:t>
              </a:r>
              <a:r>
                <a:rPr kumimoji="0" lang="en-US" altLang="zh-CN" sz="2000">
                  <a:ea typeface="宋体" panose="02010600030101010101" pitchFamily="2" charset="-122"/>
                </a:rPr>
                <a:t>1</a:t>
              </a:r>
            </a:p>
            <a:p>
              <a:pPr algn="ctr">
                <a:spcBef>
                  <a:spcPct val="0"/>
                </a:spcBef>
                <a:buClrTx/>
                <a:buFontTx/>
                <a:buNone/>
              </a:pPr>
              <a:endParaRPr kumimoji="0" lang="en-US" altLang="zh-CN" sz="2000">
                <a:ea typeface="宋体" panose="02010600030101010101" pitchFamily="2" charset="-122"/>
              </a:endParaRPr>
            </a:p>
            <a:p>
              <a:pPr algn="ctr">
                <a:spcBef>
                  <a:spcPct val="0"/>
                </a:spcBef>
                <a:buClrTx/>
                <a:buFontTx/>
                <a:buNone/>
              </a:pPr>
              <a:r>
                <a:rPr kumimoji="0" lang="en-US" altLang="zh-CN" sz="2000">
                  <a:ea typeface="宋体" panose="02010600030101010101" pitchFamily="2" charset="-122"/>
                </a:rPr>
                <a:t>  </a:t>
              </a:r>
              <a:r>
                <a:rPr kumimoji="0" lang="zh-CN" altLang="en-US" sz="2000">
                  <a:ea typeface="宋体" panose="02010600030101010101" pitchFamily="2" charset="-122"/>
                </a:rPr>
                <a:t>：</a:t>
              </a:r>
            </a:p>
            <a:p>
              <a:pPr algn="ctr">
                <a:spcBef>
                  <a:spcPct val="0"/>
                </a:spcBef>
                <a:buClrTx/>
                <a:buFontTx/>
                <a:buNone/>
              </a:pPr>
              <a:r>
                <a:rPr kumimoji="0" lang="zh-CN" altLang="en-US" sz="2000">
                  <a:ea typeface="宋体" panose="02010600030101010101" pitchFamily="2" charset="-122"/>
                </a:rPr>
                <a:t> 块</a:t>
              </a:r>
              <a:r>
                <a:rPr kumimoji="0" lang="en-US" altLang="zh-CN" sz="2000">
                  <a:ea typeface="宋体" panose="02010600030101010101" pitchFamily="2" charset="-122"/>
                </a:rPr>
                <a:t>i</a:t>
              </a:r>
            </a:p>
            <a:p>
              <a:pPr algn="ctr">
                <a:spcBef>
                  <a:spcPct val="0"/>
                </a:spcBef>
                <a:buClrTx/>
                <a:buFontTx/>
                <a:buNone/>
              </a:pPr>
              <a:endParaRPr kumimoji="0" lang="en-US" altLang="zh-CN" sz="2000">
                <a:ea typeface="宋体" panose="02010600030101010101" pitchFamily="2" charset="-122"/>
              </a:endParaRPr>
            </a:p>
            <a:p>
              <a:pPr algn="ctr">
                <a:spcBef>
                  <a:spcPct val="0"/>
                </a:spcBef>
                <a:buClrTx/>
                <a:buFontTx/>
                <a:buNone/>
              </a:pPr>
              <a:r>
                <a:rPr kumimoji="0" lang="zh-CN" altLang="en-US" sz="2000">
                  <a:ea typeface="宋体" panose="02010600030101010101" pitchFamily="2" charset="-122"/>
                </a:rPr>
                <a:t>：</a:t>
              </a:r>
            </a:p>
            <a:p>
              <a:pPr algn="ctr">
                <a:spcBef>
                  <a:spcPct val="0"/>
                </a:spcBef>
                <a:buClrTx/>
                <a:buFontTx/>
                <a:buNone/>
              </a:pPr>
              <a:endParaRPr kumimoji="0" lang="zh-CN" altLang="en-US" sz="2000">
                <a:ea typeface="宋体" panose="02010600030101010101" pitchFamily="2" charset="-122"/>
              </a:endParaRPr>
            </a:p>
            <a:p>
              <a:pPr algn="ctr">
                <a:spcBef>
                  <a:spcPct val="0"/>
                </a:spcBef>
                <a:buClrTx/>
                <a:buFontTx/>
                <a:buNone/>
              </a:pPr>
              <a:r>
                <a:rPr kumimoji="0" lang="zh-CN" altLang="en-US" sz="2000">
                  <a:ea typeface="宋体" panose="02010600030101010101" pitchFamily="2" charset="-122"/>
                </a:rPr>
                <a:t>块</a:t>
              </a:r>
              <a:r>
                <a:rPr kumimoji="0" lang="en-US" altLang="zh-CN" sz="2000">
                  <a:ea typeface="宋体" panose="02010600030101010101" pitchFamily="2" charset="-122"/>
                </a:rPr>
                <a:t>2</a:t>
              </a:r>
              <a:r>
                <a:rPr kumimoji="0" lang="en-US" altLang="zh-CN" sz="2000" baseline="30000">
                  <a:ea typeface="宋体" panose="02010600030101010101" pitchFamily="2" charset="-122"/>
                </a:rPr>
                <a:t>M</a:t>
              </a:r>
              <a:r>
                <a:rPr kumimoji="0" lang="zh-CN" altLang="en-US" sz="2000">
                  <a:ea typeface="宋体" panose="02010600030101010101" pitchFamily="2" charset="-122"/>
                </a:rPr>
                <a:t>－</a:t>
              </a:r>
              <a:r>
                <a:rPr kumimoji="0" lang="en-US" altLang="zh-CN" sz="2000">
                  <a:ea typeface="宋体" panose="02010600030101010101" pitchFamily="2" charset="-122"/>
                </a:rPr>
                <a:t>1</a:t>
              </a:r>
            </a:p>
          </p:txBody>
        </p:sp>
        <p:sp>
          <p:nvSpPr>
            <p:cNvPr id="36893" name="Line 1059">
              <a:extLst>
                <a:ext uri="{FF2B5EF4-FFF2-40B4-BE49-F238E27FC236}">
                  <a16:creationId xmlns:a16="http://schemas.microsoft.com/office/drawing/2014/main" id="{B1E7F9C5-225B-4816-9F64-0005972F9206}"/>
                </a:ext>
              </a:extLst>
            </p:cNvPr>
            <p:cNvSpPr>
              <a:spLocks noChangeShapeType="1"/>
            </p:cNvSpPr>
            <p:nvPr/>
          </p:nvSpPr>
          <p:spPr bwMode="auto">
            <a:xfrm>
              <a:off x="2720" y="2204"/>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4" name="Line 1060">
              <a:extLst>
                <a:ext uri="{FF2B5EF4-FFF2-40B4-BE49-F238E27FC236}">
                  <a16:creationId xmlns:a16="http://schemas.microsoft.com/office/drawing/2014/main" id="{59E15248-6C2D-41A1-815C-A1F0FCABAA3A}"/>
                </a:ext>
              </a:extLst>
            </p:cNvPr>
            <p:cNvSpPr>
              <a:spLocks noChangeShapeType="1"/>
            </p:cNvSpPr>
            <p:nvPr/>
          </p:nvSpPr>
          <p:spPr bwMode="auto">
            <a:xfrm>
              <a:off x="2720" y="2537"/>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5" name="Line 1061">
              <a:extLst>
                <a:ext uri="{FF2B5EF4-FFF2-40B4-BE49-F238E27FC236}">
                  <a16:creationId xmlns:a16="http://schemas.microsoft.com/office/drawing/2014/main" id="{6B803377-B96C-446F-A8F9-8C2BEC620D68}"/>
                </a:ext>
              </a:extLst>
            </p:cNvPr>
            <p:cNvSpPr>
              <a:spLocks noChangeShapeType="1"/>
            </p:cNvSpPr>
            <p:nvPr/>
          </p:nvSpPr>
          <p:spPr bwMode="auto">
            <a:xfrm>
              <a:off x="2720" y="2869"/>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6" name="Line 1062">
              <a:extLst>
                <a:ext uri="{FF2B5EF4-FFF2-40B4-BE49-F238E27FC236}">
                  <a16:creationId xmlns:a16="http://schemas.microsoft.com/office/drawing/2014/main" id="{A437FEA6-9AE5-42FA-AA62-E45417B792D7}"/>
                </a:ext>
              </a:extLst>
            </p:cNvPr>
            <p:cNvSpPr>
              <a:spLocks noChangeShapeType="1"/>
            </p:cNvSpPr>
            <p:nvPr/>
          </p:nvSpPr>
          <p:spPr bwMode="auto">
            <a:xfrm>
              <a:off x="2720" y="3312"/>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7" name="Line 1063">
              <a:extLst>
                <a:ext uri="{FF2B5EF4-FFF2-40B4-BE49-F238E27FC236}">
                  <a16:creationId xmlns:a16="http://schemas.microsoft.com/office/drawing/2014/main" id="{F9F04DDF-9D7C-4F61-B4C1-832A2770092F}"/>
                </a:ext>
              </a:extLst>
            </p:cNvPr>
            <p:cNvSpPr>
              <a:spLocks noChangeShapeType="1"/>
            </p:cNvSpPr>
            <p:nvPr/>
          </p:nvSpPr>
          <p:spPr bwMode="auto">
            <a:xfrm>
              <a:off x="2720" y="3534"/>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69" name="Line 1065">
            <a:extLst>
              <a:ext uri="{FF2B5EF4-FFF2-40B4-BE49-F238E27FC236}">
                <a16:creationId xmlns:a16="http://schemas.microsoft.com/office/drawing/2014/main" id="{4DA09EA4-E69F-4538-ACA1-303BB540DF93}"/>
              </a:ext>
            </a:extLst>
          </p:cNvPr>
          <p:cNvSpPr>
            <a:spLocks noChangeShapeType="1"/>
          </p:cNvSpPr>
          <p:nvPr/>
        </p:nvSpPr>
        <p:spPr bwMode="auto">
          <a:xfrm flipH="1">
            <a:off x="3348038" y="2441575"/>
            <a:ext cx="2519362" cy="7921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0" name="Line 1066">
            <a:extLst>
              <a:ext uri="{FF2B5EF4-FFF2-40B4-BE49-F238E27FC236}">
                <a16:creationId xmlns:a16="http://schemas.microsoft.com/office/drawing/2014/main" id="{BF2BE6B1-71FD-4785-81B9-80A556F85510}"/>
              </a:ext>
            </a:extLst>
          </p:cNvPr>
          <p:cNvSpPr>
            <a:spLocks noChangeShapeType="1"/>
          </p:cNvSpPr>
          <p:nvPr/>
        </p:nvSpPr>
        <p:spPr bwMode="auto">
          <a:xfrm>
            <a:off x="3348038" y="3233738"/>
            <a:ext cx="2519362" cy="263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1" name="Line 1067">
            <a:extLst>
              <a:ext uri="{FF2B5EF4-FFF2-40B4-BE49-F238E27FC236}">
                <a16:creationId xmlns:a16="http://schemas.microsoft.com/office/drawing/2014/main" id="{5E5BFEA7-FFCA-4356-922E-DB7F897FE0B8}"/>
              </a:ext>
            </a:extLst>
          </p:cNvPr>
          <p:cNvSpPr>
            <a:spLocks noChangeShapeType="1"/>
          </p:cNvSpPr>
          <p:nvPr/>
        </p:nvSpPr>
        <p:spPr bwMode="auto">
          <a:xfrm flipH="1" flipV="1">
            <a:off x="3348038" y="3233738"/>
            <a:ext cx="2519362" cy="15827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2" name="Line 1068">
            <a:extLst>
              <a:ext uri="{FF2B5EF4-FFF2-40B4-BE49-F238E27FC236}">
                <a16:creationId xmlns:a16="http://schemas.microsoft.com/office/drawing/2014/main" id="{014C5B20-1736-437D-81E8-EEB3D7CA1B98}"/>
              </a:ext>
            </a:extLst>
          </p:cNvPr>
          <p:cNvSpPr>
            <a:spLocks noChangeShapeType="1"/>
          </p:cNvSpPr>
          <p:nvPr/>
        </p:nvSpPr>
        <p:spPr bwMode="auto">
          <a:xfrm flipH="1">
            <a:off x="3348038" y="1914525"/>
            <a:ext cx="2519362" cy="13192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6873" name="Group 1069">
            <a:extLst>
              <a:ext uri="{FF2B5EF4-FFF2-40B4-BE49-F238E27FC236}">
                <a16:creationId xmlns:a16="http://schemas.microsoft.com/office/drawing/2014/main" id="{178B522E-5F39-456E-A680-87287DB9A390}"/>
              </a:ext>
            </a:extLst>
          </p:cNvPr>
          <p:cNvGrpSpPr>
            <a:grpSpLocks/>
          </p:cNvGrpSpPr>
          <p:nvPr/>
        </p:nvGrpSpPr>
        <p:grpSpPr bwMode="auto">
          <a:xfrm>
            <a:off x="3348038" y="1879600"/>
            <a:ext cx="2519362" cy="2901950"/>
            <a:chOff x="1552" y="2038"/>
            <a:chExt cx="1168" cy="1828"/>
          </a:xfrm>
        </p:grpSpPr>
        <p:sp>
          <p:nvSpPr>
            <p:cNvPr id="36888" name="Line 1070">
              <a:extLst>
                <a:ext uri="{FF2B5EF4-FFF2-40B4-BE49-F238E27FC236}">
                  <a16:creationId xmlns:a16="http://schemas.microsoft.com/office/drawing/2014/main" id="{B08852F4-1251-4B51-9F32-4954904CC3AC}"/>
                </a:ext>
              </a:extLst>
            </p:cNvPr>
            <p:cNvSpPr>
              <a:spLocks noChangeShapeType="1"/>
            </p:cNvSpPr>
            <p:nvPr/>
          </p:nvSpPr>
          <p:spPr bwMode="auto">
            <a:xfrm>
              <a:off x="1552" y="3700"/>
              <a:ext cx="1168" cy="1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9" name="Line 1071">
              <a:extLst>
                <a:ext uri="{FF2B5EF4-FFF2-40B4-BE49-F238E27FC236}">
                  <a16:creationId xmlns:a16="http://schemas.microsoft.com/office/drawing/2014/main" id="{7E39D2F6-84BC-411E-922A-086B11EA2AAF}"/>
                </a:ext>
              </a:extLst>
            </p:cNvPr>
            <p:cNvSpPr>
              <a:spLocks noChangeShapeType="1"/>
            </p:cNvSpPr>
            <p:nvPr/>
          </p:nvSpPr>
          <p:spPr bwMode="auto">
            <a:xfrm flipV="1">
              <a:off x="1552" y="3035"/>
              <a:ext cx="1168" cy="66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0" name="Line 1072">
              <a:extLst>
                <a:ext uri="{FF2B5EF4-FFF2-40B4-BE49-F238E27FC236}">
                  <a16:creationId xmlns:a16="http://schemas.microsoft.com/office/drawing/2014/main" id="{27EC845E-6D5B-4BC7-AB4D-56887276CBD5}"/>
                </a:ext>
              </a:extLst>
            </p:cNvPr>
            <p:cNvSpPr>
              <a:spLocks noChangeShapeType="1"/>
            </p:cNvSpPr>
            <p:nvPr/>
          </p:nvSpPr>
          <p:spPr bwMode="auto">
            <a:xfrm flipH="1">
              <a:off x="1552" y="2038"/>
              <a:ext cx="1168" cy="16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1" name="Line 1073">
              <a:extLst>
                <a:ext uri="{FF2B5EF4-FFF2-40B4-BE49-F238E27FC236}">
                  <a16:creationId xmlns:a16="http://schemas.microsoft.com/office/drawing/2014/main" id="{6FDE77C4-557E-4C8D-83FB-FA001301330A}"/>
                </a:ext>
              </a:extLst>
            </p:cNvPr>
            <p:cNvSpPr>
              <a:spLocks noChangeShapeType="1"/>
            </p:cNvSpPr>
            <p:nvPr/>
          </p:nvSpPr>
          <p:spPr bwMode="auto">
            <a:xfrm flipH="1">
              <a:off x="1552" y="2370"/>
              <a:ext cx="1168" cy="133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74" name="Line 1075">
            <a:extLst>
              <a:ext uri="{FF2B5EF4-FFF2-40B4-BE49-F238E27FC236}">
                <a16:creationId xmlns:a16="http://schemas.microsoft.com/office/drawing/2014/main" id="{24AD8320-E5BC-4D23-B066-225C40F31FA7}"/>
              </a:ext>
            </a:extLst>
          </p:cNvPr>
          <p:cNvSpPr>
            <a:spLocks noChangeShapeType="1"/>
          </p:cNvSpPr>
          <p:nvPr/>
        </p:nvSpPr>
        <p:spPr bwMode="auto">
          <a:xfrm flipV="1">
            <a:off x="3348038" y="1879600"/>
            <a:ext cx="2519362" cy="5286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5" name="Line 1076">
            <a:extLst>
              <a:ext uri="{FF2B5EF4-FFF2-40B4-BE49-F238E27FC236}">
                <a16:creationId xmlns:a16="http://schemas.microsoft.com/office/drawing/2014/main" id="{990680AE-927E-4CF8-BA8B-18344BDDBCF7}"/>
              </a:ext>
            </a:extLst>
          </p:cNvPr>
          <p:cNvSpPr>
            <a:spLocks noChangeShapeType="1"/>
          </p:cNvSpPr>
          <p:nvPr/>
        </p:nvSpPr>
        <p:spPr bwMode="auto">
          <a:xfrm flipV="1">
            <a:off x="3348038" y="2408238"/>
            <a:ext cx="25193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6" name="Line 1077">
            <a:extLst>
              <a:ext uri="{FF2B5EF4-FFF2-40B4-BE49-F238E27FC236}">
                <a16:creationId xmlns:a16="http://schemas.microsoft.com/office/drawing/2014/main" id="{04D8F705-F403-4E28-9328-8310CF85143E}"/>
              </a:ext>
            </a:extLst>
          </p:cNvPr>
          <p:cNvSpPr>
            <a:spLocks noChangeShapeType="1"/>
          </p:cNvSpPr>
          <p:nvPr/>
        </p:nvSpPr>
        <p:spPr bwMode="auto">
          <a:xfrm flipH="1" flipV="1">
            <a:off x="3348038" y="2408238"/>
            <a:ext cx="2519362" cy="23733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7" name="Line 1078">
            <a:extLst>
              <a:ext uri="{FF2B5EF4-FFF2-40B4-BE49-F238E27FC236}">
                <a16:creationId xmlns:a16="http://schemas.microsoft.com/office/drawing/2014/main" id="{CC5E3296-DA62-46EF-BD76-42FF092D0B5E}"/>
              </a:ext>
            </a:extLst>
          </p:cNvPr>
          <p:cNvSpPr>
            <a:spLocks noChangeShapeType="1"/>
          </p:cNvSpPr>
          <p:nvPr/>
        </p:nvSpPr>
        <p:spPr bwMode="auto">
          <a:xfrm flipH="1" flipV="1">
            <a:off x="3348038" y="2406650"/>
            <a:ext cx="2519362" cy="5286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6878" name="Group 1079">
            <a:extLst>
              <a:ext uri="{FF2B5EF4-FFF2-40B4-BE49-F238E27FC236}">
                <a16:creationId xmlns:a16="http://schemas.microsoft.com/office/drawing/2014/main" id="{36D6C8B1-6488-4819-8240-CF7D14321B58}"/>
              </a:ext>
            </a:extLst>
          </p:cNvPr>
          <p:cNvGrpSpPr>
            <a:grpSpLocks/>
          </p:cNvGrpSpPr>
          <p:nvPr/>
        </p:nvGrpSpPr>
        <p:grpSpPr bwMode="auto">
          <a:xfrm>
            <a:off x="827088" y="2143125"/>
            <a:ext cx="2520950" cy="2638425"/>
            <a:chOff x="384" y="2204"/>
            <a:chExt cx="1168" cy="1662"/>
          </a:xfrm>
        </p:grpSpPr>
        <p:sp>
          <p:nvSpPr>
            <p:cNvPr id="36883" name="Text Box 1080">
              <a:extLst>
                <a:ext uri="{FF2B5EF4-FFF2-40B4-BE49-F238E27FC236}">
                  <a16:creationId xmlns:a16="http://schemas.microsoft.com/office/drawing/2014/main" id="{88F8A7C5-B8F4-4E6D-828D-F55F9D51BC00}"/>
                </a:ext>
              </a:extLst>
            </p:cNvPr>
            <p:cNvSpPr txBox="1">
              <a:spLocks noChangeArrowheads="1"/>
            </p:cNvSpPr>
            <p:nvPr/>
          </p:nvSpPr>
          <p:spPr bwMode="auto">
            <a:xfrm>
              <a:off x="384" y="2204"/>
              <a:ext cx="1168" cy="16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000">
                  <a:ea typeface="宋体" panose="02010600030101010101" pitchFamily="2" charset="-122"/>
                </a:rPr>
                <a:t>  </a:t>
              </a:r>
              <a:r>
                <a:rPr kumimoji="0" lang="zh-CN" altLang="en-US" sz="2000">
                  <a:ea typeface="宋体" panose="02010600030101010101" pitchFamily="2" charset="-122"/>
                </a:rPr>
                <a:t>块</a:t>
              </a:r>
              <a:r>
                <a:rPr kumimoji="0" lang="en-US" altLang="zh-CN" sz="2000">
                  <a:ea typeface="宋体" panose="02010600030101010101" pitchFamily="2" charset="-122"/>
                </a:rPr>
                <a:t>0</a:t>
              </a:r>
            </a:p>
            <a:p>
              <a:pPr algn="ctr">
                <a:spcBef>
                  <a:spcPct val="0"/>
                </a:spcBef>
                <a:buClrTx/>
                <a:buFontTx/>
                <a:buNone/>
              </a:pPr>
              <a:r>
                <a:rPr kumimoji="0" lang="en-US" altLang="zh-CN" sz="2000">
                  <a:ea typeface="宋体" panose="02010600030101010101" pitchFamily="2" charset="-122"/>
                </a:rPr>
                <a:t>  </a:t>
              </a:r>
              <a:r>
                <a:rPr kumimoji="0" lang="zh-CN" altLang="en-US" sz="2000">
                  <a:ea typeface="宋体" panose="02010600030101010101" pitchFamily="2" charset="-122"/>
                </a:rPr>
                <a:t>块</a:t>
              </a:r>
              <a:r>
                <a:rPr kumimoji="0" lang="en-US" altLang="zh-CN" sz="2000">
                  <a:ea typeface="宋体" panose="02010600030101010101" pitchFamily="2" charset="-122"/>
                </a:rPr>
                <a:t>1  </a:t>
              </a:r>
            </a:p>
            <a:p>
              <a:pPr algn="ctr">
                <a:spcBef>
                  <a:spcPct val="0"/>
                </a:spcBef>
                <a:buClrTx/>
                <a:buFontTx/>
                <a:buNone/>
              </a:pPr>
              <a:endParaRPr kumimoji="0" lang="en-US" altLang="zh-CN" sz="2000">
                <a:ea typeface="宋体" panose="02010600030101010101" pitchFamily="2" charset="-122"/>
              </a:endParaRPr>
            </a:p>
            <a:p>
              <a:pPr algn="ctr">
                <a:spcBef>
                  <a:spcPct val="0"/>
                </a:spcBef>
                <a:buClrTx/>
                <a:buFontTx/>
                <a:buNone/>
              </a:pPr>
              <a:r>
                <a:rPr kumimoji="0" lang="en-US" altLang="zh-CN" sz="2000">
                  <a:ea typeface="宋体" panose="02010600030101010101" pitchFamily="2" charset="-122"/>
                </a:rPr>
                <a:t>   </a:t>
              </a:r>
              <a:r>
                <a:rPr kumimoji="0" lang="zh-CN" altLang="en-US" sz="2000">
                  <a:ea typeface="宋体" panose="02010600030101010101" pitchFamily="2" charset="-122"/>
                </a:rPr>
                <a:t>：</a:t>
              </a:r>
            </a:p>
            <a:p>
              <a:pPr algn="ctr">
                <a:spcBef>
                  <a:spcPct val="0"/>
                </a:spcBef>
                <a:buClrTx/>
                <a:buFontTx/>
                <a:buNone/>
              </a:pPr>
              <a:endParaRPr kumimoji="0" lang="zh-CN" altLang="en-US" sz="2000">
                <a:ea typeface="宋体" panose="02010600030101010101" pitchFamily="2" charset="-122"/>
              </a:endParaRPr>
            </a:p>
            <a:p>
              <a:pPr algn="ctr">
                <a:spcBef>
                  <a:spcPct val="0"/>
                </a:spcBef>
                <a:buClrTx/>
                <a:buFontTx/>
                <a:buNone/>
              </a:pPr>
              <a:endParaRPr kumimoji="0" lang="zh-CN" altLang="en-US" sz="2000">
                <a:ea typeface="宋体" panose="02010600030101010101" pitchFamily="2" charset="-122"/>
              </a:endParaRPr>
            </a:p>
            <a:p>
              <a:pPr algn="ctr">
                <a:spcBef>
                  <a:spcPct val="0"/>
                </a:spcBef>
                <a:buClrTx/>
                <a:buFontTx/>
                <a:buNone/>
              </a:pPr>
              <a:endParaRPr kumimoji="0" lang="zh-CN" altLang="en-US" sz="2000">
                <a:ea typeface="宋体" panose="02010600030101010101" pitchFamily="2" charset="-122"/>
              </a:endParaRPr>
            </a:p>
            <a:p>
              <a:pPr algn="ctr">
                <a:spcBef>
                  <a:spcPct val="0"/>
                </a:spcBef>
                <a:buClrTx/>
                <a:buFontTx/>
                <a:buNone/>
              </a:pPr>
              <a:r>
                <a:rPr kumimoji="0" lang="zh-CN" altLang="en-US" sz="2000">
                  <a:ea typeface="宋体" panose="02010600030101010101" pitchFamily="2" charset="-122"/>
                </a:rPr>
                <a:t>块</a:t>
              </a:r>
              <a:r>
                <a:rPr kumimoji="0" lang="en-US" altLang="zh-CN" sz="2000">
                  <a:ea typeface="宋体" panose="02010600030101010101" pitchFamily="2" charset="-122"/>
                </a:rPr>
                <a:t>2</a:t>
              </a:r>
              <a:r>
                <a:rPr kumimoji="0" lang="en-US" altLang="zh-CN" sz="2000" baseline="30000">
                  <a:ea typeface="宋体" panose="02010600030101010101" pitchFamily="2" charset="-122"/>
                </a:rPr>
                <a:t>C</a:t>
              </a:r>
              <a:r>
                <a:rPr kumimoji="0" lang="zh-CN" altLang="en-US" sz="2000">
                  <a:ea typeface="宋体" panose="02010600030101010101" pitchFamily="2" charset="-122"/>
                </a:rPr>
                <a:t>－</a:t>
              </a:r>
              <a:r>
                <a:rPr kumimoji="0" lang="en-US" altLang="zh-CN" sz="2000">
                  <a:ea typeface="宋体" panose="02010600030101010101" pitchFamily="2" charset="-122"/>
                </a:rPr>
                <a:t>1</a:t>
              </a:r>
            </a:p>
          </p:txBody>
        </p:sp>
        <p:sp>
          <p:nvSpPr>
            <p:cNvPr id="36884" name="Line 1081">
              <a:extLst>
                <a:ext uri="{FF2B5EF4-FFF2-40B4-BE49-F238E27FC236}">
                  <a16:creationId xmlns:a16="http://schemas.microsoft.com/office/drawing/2014/main" id="{7E924939-52D3-4FF9-A5B7-D7A259094E77}"/>
                </a:ext>
              </a:extLst>
            </p:cNvPr>
            <p:cNvSpPr>
              <a:spLocks noChangeShapeType="1"/>
            </p:cNvSpPr>
            <p:nvPr/>
          </p:nvSpPr>
          <p:spPr bwMode="auto">
            <a:xfrm>
              <a:off x="384" y="2703"/>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5" name="Line 1082">
              <a:extLst>
                <a:ext uri="{FF2B5EF4-FFF2-40B4-BE49-F238E27FC236}">
                  <a16:creationId xmlns:a16="http://schemas.microsoft.com/office/drawing/2014/main" id="{84AE8D42-4FB5-43A3-9F5F-B9F74E39F606}"/>
                </a:ext>
              </a:extLst>
            </p:cNvPr>
            <p:cNvSpPr>
              <a:spLocks noChangeShapeType="1"/>
            </p:cNvSpPr>
            <p:nvPr/>
          </p:nvSpPr>
          <p:spPr bwMode="auto">
            <a:xfrm>
              <a:off x="384" y="3035"/>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6" name="Line 1083">
              <a:extLst>
                <a:ext uri="{FF2B5EF4-FFF2-40B4-BE49-F238E27FC236}">
                  <a16:creationId xmlns:a16="http://schemas.microsoft.com/office/drawing/2014/main" id="{ECADA795-F35B-4274-9ACD-58EEAA9DA3BD}"/>
                </a:ext>
              </a:extLst>
            </p:cNvPr>
            <p:cNvSpPr>
              <a:spLocks noChangeShapeType="1"/>
            </p:cNvSpPr>
            <p:nvPr/>
          </p:nvSpPr>
          <p:spPr bwMode="auto">
            <a:xfrm>
              <a:off x="384" y="3367"/>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7" name="Line 1084">
              <a:extLst>
                <a:ext uri="{FF2B5EF4-FFF2-40B4-BE49-F238E27FC236}">
                  <a16:creationId xmlns:a16="http://schemas.microsoft.com/office/drawing/2014/main" id="{8074855F-C65C-4713-9CBC-54EE62A0EE87}"/>
                </a:ext>
              </a:extLst>
            </p:cNvPr>
            <p:cNvSpPr>
              <a:spLocks noChangeShapeType="1"/>
            </p:cNvSpPr>
            <p:nvPr/>
          </p:nvSpPr>
          <p:spPr bwMode="auto">
            <a:xfrm>
              <a:off x="384" y="2448"/>
              <a:ext cx="11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79" name="Text Box 1085">
            <a:extLst>
              <a:ext uri="{FF2B5EF4-FFF2-40B4-BE49-F238E27FC236}">
                <a16:creationId xmlns:a16="http://schemas.microsoft.com/office/drawing/2014/main" id="{AC17E61C-A3DB-4F7A-B815-958E6E970637}"/>
              </a:ext>
            </a:extLst>
          </p:cNvPr>
          <p:cNvSpPr txBox="1">
            <a:spLocks noChangeArrowheads="1"/>
          </p:cNvSpPr>
          <p:nvPr/>
        </p:nvSpPr>
        <p:spPr bwMode="auto">
          <a:xfrm>
            <a:off x="1344613" y="5045075"/>
            <a:ext cx="18653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800" dirty="0">
                <a:ea typeface="宋体" panose="02010600030101010101" pitchFamily="2" charset="-122"/>
              </a:rPr>
              <a:t>Cache</a:t>
            </a:r>
          </a:p>
        </p:txBody>
      </p:sp>
      <p:sp>
        <p:nvSpPr>
          <p:cNvPr id="36880" name="Text Box 1086">
            <a:extLst>
              <a:ext uri="{FF2B5EF4-FFF2-40B4-BE49-F238E27FC236}">
                <a16:creationId xmlns:a16="http://schemas.microsoft.com/office/drawing/2014/main" id="{685E1551-DA95-461E-97FC-33EDE5AFFEEE}"/>
              </a:ext>
            </a:extLst>
          </p:cNvPr>
          <p:cNvSpPr txBox="1">
            <a:spLocks noChangeArrowheads="1"/>
          </p:cNvSpPr>
          <p:nvPr/>
        </p:nvSpPr>
        <p:spPr bwMode="auto">
          <a:xfrm>
            <a:off x="6530975" y="5121275"/>
            <a:ext cx="15700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800" dirty="0">
                <a:latin typeface="楷体" panose="02010609060101010101" pitchFamily="49" charset="-122"/>
                <a:ea typeface="楷体" panose="02010609060101010101" pitchFamily="49" charset="-122"/>
              </a:rPr>
              <a:t>主存</a:t>
            </a:r>
          </a:p>
        </p:txBody>
      </p:sp>
      <p:sp>
        <p:nvSpPr>
          <p:cNvPr id="36881" name="Line 1089">
            <a:extLst>
              <a:ext uri="{FF2B5EF4-FFF2-40B4-BE49-F238E27FC236}">
                <a16:creationId xmlns:a16="http://schemas.microsoft.com/office/drawing/2014/main" id="{7096C15C-E951-4B3B-ACF2-E2EA93E55FAD}"/>
              </a:ext>
            </a:extLst>
          </p:cNvPr>
          <p:cNvSpPr>
            <a:spLocks noChangeShapeType="1"/>
          </p:cNvSpPr>
          <p:nvPr/>
        </p:nvSpPr>
        <p:spPr bwMode="auto">
          <a:xfrm flipH="1">
            <a:off x="3348038" y="1879600"/>
            <a:ext cx="2519362" cy="7921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2" name="Line 1090">
            <a:extLst>
              <a:ext uri="{FF2B5EF4-FFF2-40B4-BE49-F238E27FC236}">
                <a16:creationId xmlns:a16="http://schemas.microsoft.com/office/drawing/2014/main" id="{16456C9A-564B-4A7A-8330-1B8F85970A12}"/>
              </a:ext>
            </a:extLst>
          </p:cNvPr>
          <p:cNvSpPr>
            <a:spLocks noChangeShapeType="1"/>
          </p:cNvSpPr>
          <p:nvPr/>
        </p:nvSpPr>
        <p:spPr bwMode="auto">
          <a:xfrm flipH="1">
            <a:off x="3348038" y="1914525"/>
            <a:ext cx="2519362" cy="1801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D1E67CC9-88D1-4CEF-9492-5FE60607A9F3}"/>
              </a:ext>
            </a:extLst>
          </p:cNvPr>
          <p:cNvSpPr>
            <a:spLocks noGrp="1" noChangeArrowheads="1"/>
          </p:cNvSpPr>
          <p:nvPr>
            <p:ph type="title"/>
          </p:nvPr>
        </p:nvSpPr>
        <p:spPr>
          <a:xfrm>
            <a:off x="411162" y="225426"/>
            <a:ext cx="8550275" cy="692150"/>
          </a:xfrm>
        </p:spPr>
        <p:txBody>
          <a:bodyPr/>
          <a:lstStyle/>
          <a:p>
            <a:pPr eaLnBrk="1" hangingPunct="1">
              <a:defRPr/>
            </a:pPr>
            <a:r>
              <a:rPr lang="zh-CN" altLang="en-US" dirty="0"/>
              <a:t>全相联映射（</a:t>
            </a:r>
            <a:r>
              <a:rPr lang="en-US" altLang="zh-CN" dirty="0"/>
              <a:t>2</a:t>
            </a:r>
            <a:r>
              <a:rPr lang="zh-CN" altLang="en-US" dirty="0"/>
              <a:t>） </a:t>
            </a:r>
          </a:p>
        </p:txBody>
      </p:sp>
      <p:sp>
        <p:nvSpPr>
          <p:cNvPr id="689156" name="Text Box 4">
            <a:extLst>
              <a:ext uri="{FF2B5EF4-FFF2-40B4-BE49-F238E27FC236}">
                <a16:creationId xmlns:a16="http://schemas.microsoft.com/office/drawing/2014/main" id="{734DE22A-9E8E-4ACC-8ADF-AA347809C4E0}"/>
              </a:ext>
            </a:extLst>
          </p:cNvPr>
          <p:cNvSpPr txBox="1">
            <a:spLocks noChangeArrowheads="1"/>
          </p:cNvSpPr>
          <p:nvPr/>
        </p:nvSpPr>
        <p:spPr bwMode="auto">
          <a:xfrm>
            <a:off x="1066800" y="5029200"/>
            <a:ext cx="7315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zh-CN" altLang="en-US" sz="2400" dirty="0">
                <a:solidFill>
                  <a:srgbClr val="C00000"/>
                </a:solidFill>
                <a:latin typeface="楷体" panose="02010609060101010101" pitchFamily="49" charset="-122"/>
                <a:ea typeface="楷体" panose="02010609060101010101" pitchFamily="49" charset="-122"/>
              </a:rPr>
              <a:t>优点：命中率较高，</a:t>
            </a:r>
            <a:r>
              <a:rPr lang="en-US" altLang="zh-CN" sz="2400" dirty="0">
                <a:solidFill>
                  <a:srgbClr val="C00000"/>
                </a:solidFill>
                <a:latin typeface="楷体" panose="02010609060101010101" pitchFamily="49" charset="-122"/>
                <a:ea typeface="楷体" panose="02010609060101010101" pitchFamily="49" charset="-122"/>
              </a:rPr>
              <a:t>Cache</a:t>
            </a:r>
            <a:r>
              <a:rPr lang="zh-CN" altLang="en-US" sz="2400" dirty="0">
                <a:solidFill>
                  <a:srgbClr val="C00000"/>
                </a:solidFill>
                <a:latin typeface="楷体" panose="02010609060101010101" pitchFamily="49" charset="-122"/>
                <a:ea typeface="楷体" panose="02010609060101010101" pitchFamily="49" charset="-122"/>
              </a:rPr>
              <a:t>的存储空间利用率高</a:t>
            </a:r>
          </a:p>
          <a:p>
            <a:pPr algn="l" eaLnBrk="1" hangingPunct="1">
              <a:spcBef>
                <a:spcPct val="50000"/>
              </a:spcBef>
              <a:buClrTx/>
              <a:buFontTx/>
              <a:buNone/>
            </a:pPr>
            <a:r>
              <a:rPr lang="zh-CN" altLang="en-US" sz="2400" dirty="0">
                <a:solidFill>
                  <a:srgbClr val="C00000"/>
                </a:solidFill>
                <a:latin typeface="楷体" panose="02010609060101010101" pitchFamily="49" charset="-122"/>
                <a:ea typeface="楷体" panose="02010609060101010101" pitchFamily="49" charset="-122"/>
              </a:rPr>
              <a:t>缺点：需要</a:t>
            </a:r>
            <a:r>
              <a:rPr lang="en-US" altLang="zh-CN" sz="2400" dirty="0">
                <a:solidFill>
                  <a:srgbClr val="C00000"/>
                </a:solidFill>
                <a:latin typeface="楷体" panose="02010609060101010101" pitchFamily="49" charset="-122"/>
                <a:ea typeface="楷体" panose="02010609060101010101" pitchFamily="49" charset="-122"/>
              </a:rPr>
              <a:t>CAM</a:t>
            </a:r>
            <a:r>
              <a:rPr lang="zh-CN" altLang="en-US" sz="2400" dirty="0">
                <a:solidFill>
                  <a:srgbClr val="C00000"/>
                </a:solidFill>
                <a:latin typeface="楷体" panose="02010609060101010101" pitchFamily="49" charset="-122"/>
                <a:ea typeface="楷体" panose="02010609060101010101" pitchFamily="49" charset="-122"/>
              </a:rPr>
              <a:t>存储器，线路复杂，成本高</a:t>
            </a:r>
          </a:p>
        </p:txBody>
      </p:sp>
      <p:sp>
        <p:nvSpPr>
          <p:cNvPr id="38917" name="Freeform 7">
            <a:extLst>
              <a:ext uri="{FF2B5EF4-FFF2-40B4-BE49-F238E27FC236}">
                <a16:creationId xmlns:a16="http://schemas.microsoft.com/office/drawing/2014/main" id="{F83D1A99-A3A8-48FC-BDE3-FBDF2ACF0EFD}"/>
              </a:ext>
            </a:extLst>
          </p:cNvPr>
          <p:cNvSpPr>
            <a:spLocks/>
          </p:cNvSpPr>
          <p:nvPr/>
        </p:nvSpPr>
        <p:spPr bwMode="auto">
          <a:xfrm flipH="1">
            <a:off x="3606800" y="2333625"/>
            <a:ext cx="53975" cy="1308100"/>
          </a:xfrm>
          <a:custGeom>
            <a:avLst/>
            <a:gdLst>
              <a:gd name="T0" fmla="*/ 0 w 1"/>
              <a:gd name="T1" fmla="*/ 2147483646 h 1335"/>
              <a:gd name="T2" fmla="*/ 0 w 1"/>
              <a:gd name="T3" fmla="*/ 0 h 1335"/>
              <a:gd name="T4" fmla="*/ 0 60000 65536"/>
              <a:gd name="T5" fmla="*/ 0 60000 65536"/>
              <a:gd name="T6" fmla="*/ 0 w 1"/>
              <a:gd name="T7" fmla="*/ 0 h 1335"/>
              <a:gd name="T8" fmla="*/ 1 w 1"/>
              <a:gd name="T9" fmla="*/ 1335 h 1335"/>
            </a:gdLst>
            <a:ahLst/>
            <a:cxnLst>
              <a:cxn ang="T4">
                <a:pos x="T0" y="T1"/>
              </a:cxn>
              <a:cxn ang="T5">
                <a:pos x="T2" y="T3"/>
              </a:cxn>
            </a:cxnLst>
            <a:rect l="T6" t="T7" r="T8" b="T9"/>
            <a:pathLst>
              <a:path w="1" h="1335">
                <a:moveTo>
                  <a:pt x="0" y="1335"/>
                </a:moveTo>
                <a:lnTo>
                  <a:pt x="0" y="0"/>
                </a:lnTo>
              </a:path>
            </a:pathLst>
          </a:custGeom>
          <a:noFill/>
          <a:ln w="22225">
            <a:solidFill>
              <a:schemeClr val="tx1"/>
            </a:solidFill>
            <a:round/>
            <a:headEnd/>
            <a:tailEnd type="triangle" w="lg"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18" name="Text Box 8">
            <a:extLst>
              <a:ext uri="{FF2B5EF4-FFF2-40B4-BE49-F238E27FC236}">
                <a16:creationId xmlns:a16="http://schemas.microsoft.com/office/drawing/2014/main" id="{6EF8AAEB-E32E-4416-994A-E5E12877C84E}"/>
              </a:ext>
            </a:extLst>
          </p:cNvPr>
          <p:cNvSpPr txBox="1">
            <a:spLocks noChangeArrowheads="1"/>
          </p:cNvSpPr>
          <p:nvPr/>
        </p:nvSpPr>
        <p:spPr bwMode="auto">
          <a:xfrm>
            <a:off x="685800" y="1279525"/>
            <a:ext cx="6324600" cy="415925"/>
          </a:xfrm>
          <a:prstGeom prst="rect">
            <a:avLst/>
          </a:prstGeom>
          <a:noFill/>
          <a:ln w="1905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rPr>
              <a:t>                  </a:t>
            </a:r>
            <a:r>
              <a:rPr kumimoji="0" lang="zh-CN" altLang="en-US" sz="2000"/>
              <a:t>主存块号                               块内地址</a:t>
            </a:r>
          </a:p>
        </p:txBody>
      </p:sp>
      <p:sp>
        <p:nvSpPr>
          <p:cNvPr id="38919" name="Text Box 9">
            <a:extLst>
              <a:ext uri="{FF2B5EF4-FFF2-40B4-BE49-F238E27FC236}">
                <a16:creationId xmlns:a16="http://schemas.microsoft.com/office/drawing/2014/main" id="{E21A44BE-CD9E-4F77-9B6F-A7DDEACC55E2}"/>
              </a:ext>
            </a:extLst>
          </p:cNvPr>
          <p:cNvSpPr txBox="1">
            <a:spLocks noChangeArrowheads="1"/>
          </p:cNvSpPr>
          <p:nvPr/>
        </p:nvSpPr>
        <p:spPr bwMode="auto">
          <a:xfrm>
            <a:off x="7086600" y="1217613"/>
            <a:ext cx="189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400">
                <a:latin typeface="楷体_GB2312" pitchFamily="49" charset="-122"/>
              </a:rPr>
              <a:t>主存地址</a:t>
            </a:r>
          </a:p>
        </p:txBody>
      </p:sp>
      <p:sp>
        <p:nvSpPr>
          <p:cNvPr id="38920" name="Text Box 10">
            <a:extLst>
              <a:ext uri="{FF2B5EF4-FFF2-40B4-BE49-F238E27FC236}">
                <a16:creationId xmlns:a16="http://schemas.microsoft.com/office/drawing/2014/main" id="{F031CFE8-62BE-4182-BBA0-EBBA1E537BC0}"/>
              </a:ext>
            </a:extLst>
          </p:cNvPr>
          <p:cNvSpPr txBox="1">
            <a:spLocks noChangeArrowheads="1"/>
          </p:cNvSpPr>
          <p:nvPr/>
        </p:nvSpPr>
        <p:spPr bwMode="auto">
          <a:xfrm>
            <a:off x="2843213" y="1936750"/>
            <a:ext cx="4167187" cy="40957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a:t>Cache</a:t>
            </a:r>
            <a:r>
              <a:rPr kumimoji="0" lang="zh-CN" altLang="en-US" sz="2000"/>
              <a:t>块号                  块内地址</a:t>
            </a:r>
          </a:p>
        </p:txBody>
      </p:sp>
      <p:sp>
        <p:nvSpPr>
          <p:cNvPr id="38921" name="Text Box 12">
            <a:extLst>
              <a:ext uri="{FF2B5EF4-FFF2-40B4-BE49-F238E27FC236}">
                <a16:creationId xmlns:a16="http://schemas.microsoft.com/office/drawing/2014/main" id="{CA182E1C-E056-4701-AFF0-30BB90649A17}"/>
              </a:ext>
            </a:extLst>
          </p:cNvPr>
          <p:cNvSpPr txBox="1">
            <a:spLocks noChangeArrowheads="1"/>
          </p:cNvSpPr>
          <p:nvPr/>
        </p:nvSpPr>
        <p:spPr bwMode="auto">
          <a:xfrm>
            <a:off x="7086600" y="1889125"/>
            <a:ext cx="187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400"/>
              <a:t>Cache</a:t>
            </a:r>
            <a:r>
              <a:rPr kumimoji="0" lang="zh-CN" altLang="en-US" sz="2400"/>
              <a:t>地址</a:t>
            </a:r>
          </a:p>
        </p:txBody>
      </p:sp>
      <p:sp>
        <p:nvSpPr>
          <p:cNvPr id="38922" name="Text Box 13">
            <a:extLst>
              <a:ext uri="{FF2B5EF4-FFF2-40B4-BE49-F238E27FC236}">
                <a16:creationId xmlns:a16="http://schemas.microsoft.com/office/drawing/2014/main" id="{F9E3E769-3BB1-4150-A5D6-94230D4614F7}"/>
              </a:ext>
            </a:extLst>
          </p:cNvPr>
          <p:cNvSpPr txBox="1">
            <a:spLocks noChangeArrowheads="1"/>
          </p:cNvSpPr>
          <p:nvPr/>
        </p:nvSpPr>
        <p:spPr bwMode="auto">
          <a:xfrm>
            <a:off x="1371600" y="3119438"/>
            <a:ext cx="5638800" cy="1393825"/>
          </a:xfrm>
          <a:prstGeom prst="rect">
            <a:avLst/>
          </a:prstGeom>
          <a:noFill/>
          <a:ln w="22225"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just">
              <a:spcBef>
                <a:spcPct val="0"/>
              </a:spcBef>
              <a:buClrTx/>
              <a:buFontTx/>
              <a:buNone/>
            </a:pPr>
            <a:endParaRPr kumimoji="0" lang="en-US" altLang="zh-CN" sz="2000" b="0">
              <a:solidFill>
                <a:schemeClr val="tx2"/>
              </a:solidFill>
            </a:endParaRPr>
          </a:p>
          <a:p>
            <a:pPr algn="just">
              <a:spcBef>
                <a:spcPct val="0"/>
              </a:spcBef>
              <a:buClrTx/>
              <a:buFontTx/>
              <a:buNone/>
            </a:pPr>
            <a:r>
              <a:rPr kumimoji="0" lang="en-US" altLang="zh-CN" sz="2000" b="0">
                <a:solidFill>
                  <a:schemeClr val="tx2"/>
                </a:solidFill>
              </a:rPr>
              <a:t>             </a:t>
            </a:r>
            <a:r>
              <a:rPr kumimoji="0" lang="en-US" altLang="zh-CN" sz="2000" b="0"/>
              <a:t>Bi                         bi                          </a:t>
            </a:r>
          </a:p>
          <a:p>
            <a:pPr algn="just">
              <a:spcBef>
                <a:spcPct val="0"/>
              </a:spcBef>
              <a:buClrTx/>
              <a:buFontTx/>
              <a:buNone/>
            </a:pPr>
            <a:endParaRPr kumimoji="0" lang="en-US" altLang="zh-CN" sz="2000" b="0"/>
          </a:p>
          <a:p>
            <a:pPr algn="just">
              <a:spcBef>
                <a:spcPct val="0"/>
              </a:spcBef>
              <a:buClrTx/>
              <a:buFontTx/>
              <a:buNone/>
            </a:pPr>
            <a:endParaRPr lang="en-US" altLang="zh-CN" sz="2400" b="0"/>
          </a:p>
        </p:txBody>
      </p:sp>
      <p:sp>
        <p:nvSpPr>
          <p:cNvPr id="38923" name="Line 14">
            <a:extLst>
              <a:ext uri="{FF2B5EF4-FFF2-40B4-BE49-F238E27FC236}">
                <a16:creationId xmlns:a16="http://schemas.microsoft.com/office/drawing/2014/main" id="{91ED7364-1460-44E9-8B8B-78658E4855A0}"/>
              </a:ext>
            </a:extLst>
          </p:cNvPr>
          <p:cNvSpPr>
            <a:spLocks noChangeShapeType="1"/>
          </p:cNvSpPr>
          <p:nvPr/>
        </p:nvSpPr>
        <p:spPr bwMode="auto">
          <a:xfrm>
            <a:off x="1371600" y="3489325"/>
            <a:ext cx="56388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24" name="Line 15">
            <a:extLst>
              <a:ext uri="{FF2B5EF4-FFF2-40B4-BE49-F238E27FC236}">
                <a16:creationId xmlns:a16="http://schemas.microsoft.com/office/drawing/2014/main" id="{F13EA50C-B1E0-4408-9F3E-C1E93606CA40}"/>
              </a:ext>
            </a:extLst>
          </p:cNvPr>
          <p:cNvSpPr>
            <a:spLocks noChangeShapeType="1"/>
          </p:cNvSpPr>
          <p:nvPr/>
        </p:nvSpPr>
        <p:spPr bwMode="auto">
          <a:xfrm>
            <a:off x="1371600" y="3794125"/>
            <a:ext cx="56388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25" name="Text Box 16">
            <a:extLst>
              <a:ext uri="{FF2B5EF4-FFF2-40B4-BE49-F238E27FC236}">
                <a16:creationId xmlns:a16="http://schemas.microsoft.com/office/drawing/2014/main" id="{638CA6AF-259D-4542-910B-4C396957750D}"/>
              </a:ext>
            </a:extLst>
          </p:cNvPr>
          <p:cNvSpPr txBox="1">
            <a:spLocks noChangeArrowheads="1"/>
          </p:cNvSpPr>
          <p:nvPr/>
        </p:nvSpPr>
        <p:spPr bwMode="auto">
          <a:xfrm>
            <a:off x="1371600" y="4479925"/>
            <a:ext cx="662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en-US" altLang="zh-CN" sz="2000" b="0">
                <a:solidFill>
                  <a:schemeClr val="tx2"/>
                </a:solidFill>
              </a:rPr>
              <a:t>       </a:t>
            </a:r>
            <a:r>
              <a:rPr kumimoji="0" lang="zh-CN" altLang="en-US" sz="2000"/>
              <a:t>主块号</a:t>
            </a:r>
            <a:r>
              <a:rPr kumimoji="0" lang="en-US" altLang="zh-CN" sz="2000"/>
              <a:t>B             Cache</a:t>
            </a:r>
            <a:r>
              <a:rPr kumimoji="0" lang="zh-CN" altLang="en-US" sz="2000"/>
              <a:t>块号</a:t>
            </a:r>
            <a:r>
              <a:rPr kumimoji="0" lang="en-US" altLang="zh-CN" sz="2000"/>
              <a:t>b                </a:t>
            </a:r>
          </a:p>
        </p:txBody>
      </p:sp>
      <p:sp>
        <p:nvSpPr>
          <p:cNvPr id="38926" name="Line 17">
            <a:extLst>
              <a:ext uri="{FF2B5EF4-FFF2-40B4-BE49-F238E27FC236}">
                <a16:creationId xmlns:a16="http://schemas.microsoft.com/office/drawing/2014/main" id="{C8090BE1-1FB3-4B9E-AC3F-E05C44CF057A}"/>
              </a:ext>
            </a:extLst>
          </p:cNvPr>
          <p:cNvSpPr>
            <a:spLocks noChangeShapeType="1"/>
          </p:cNvSpPr>
          <p:nvPr/>
        </p:nvSpPr>
        <p:spPr bwMode="auto">
          <a:xfrm>
            <a:off x="1371600" y="4098925"/>
            <a:ext cx="5638800" cy="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27" name="Line 18">
            <a:extLst>
              <a:ext uri="{FF2B5EF4-FFF2-40B4-BE49-F238E27FC236}">
                <a16:creationId xmlns:a16="http://schemas.microsoft.com/office/drawing/2014/main" id="{1A68D659-6A59-4009-8025-9A1D37CAF8F8}"/>
              </a:ext>
            </a:extLst>
          </p:cNvPr>
          <p:cNvSpPr>
            <a:spLocks noChangeShapeType="1"/>
          </p:cNvSpPr>
          <p:nvPr/>
        </p:nvSpPr>
        <p:spPr bwMode="auto">
          <a:xfrm>
            <a:off x="3276600" y="3108325"/>
            <a:ext cx="0" cy="13716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28" name="Line 19">
            <a:extLst>
              <a:ext uri="{FF2B5EF4-FFF2-40B4-BE49-F238E27FC236}">
                <a16:creationId xmlns:a16="http://schemas.microsoft.com/office/drawing/2014/main" id="{565CF521-BBCA-4510-9579-EC21B847DB85}"/>
              </a:ext>
            </a:extLst>
          </p:cNvPr>
          <p:cNvSpPr>
            <a:spLocks noChangeShapeType="1"/>
          </p:cNvSpPr>
          <p:nvPr/>
        </p:nvSpPr>
        <p:spPr bwMode="auto">
          <a:xfrm>
            <a:off x="5292725" y="3141663"/>
            <a:ext cx="0" cy="13716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29" name="Line 20">
            <a:extLst>
              <a:ext uri="{FF2B5EF4-FFF2-40B4-BE49-F238E27FC236}">
                <a16:creationId xmlns:a16="http://schemas.microsoft.com/office/drawing/2014/main" id="{EB75C4DD-666B-4805-B4DD-164B5391468F}"/>
              </a:ext>
            </a:extLst>
          </p:cNvPr>
          <p:cNvSpPr>
            <a:spLocks noChangeShapeType="1"/>
          </p:cNvSpPr>
          <p:nvPr/>
        </p:nvSpPr>
        <p:spPr bwMode="auto">
          <a:xfrm>
            <a:off x="4140200" y="1279525"/>
            <a:ext cx="0" cy="409575"/>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30" name="Line 21">
            <a:extLst>
              <a:ext uri="{FF2B5EF4-FFF2-40B4-BE49-F238E27FC236}">
                <a16:creationId xmlns:a16="http://schemas.microsoft.com/office/drawing/2014/main" id="{0CC73465-4DD4-458A-817F-E5B289944623}"/>
              </a:ext>
            </a:extLst>
          </p:cNvPr>
          <p:cNvSpPr>
            <a:spLocks noChangeShapeType="1"/>
          </p:cNvSpPr>
          <p:nvPr/>
        </p:nvSpPr>
        <p:spPr bwMode="auto">
          <a:xfrm>
            <a:off x="4140200" y="1965325"/>
            <a:ext cx="0" cy="381000"/>
          </a:xfrm>
          <a:prstGeom prst="line">
            <a:avLst/>
          </a:prstGeom>
          <a:noFill/>
          <a:ln w="2222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8931" name="Text Box 22">
            <a:extLst>
              <a:ext uri="{FF2B5EF4-FFF2-40B4-BE49-F238E27FC236}">
                <a16:creationId xmlns:a16="http://schemas.microsoft.com/office/drawing/2014/main" id="{24982343-CA84-4295-95D1-22F1974F57FD}"/>
              </a:ext>
            </a:extLst>
          </p:cNvPr>
          <p:cNvSpPr txBox="1">
            <a:spLocks noChangeArrowheads="1"/>
          </p:cNvSpPr>
          <p:nvPr/>
        </p:nvSpPr>
        <p:spPr bwMode="auto">
          <a:xfrm>
            <a:off x="112713" y="3282950"/>
            <a:ext cx="1219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000">
                <a:latin typeface="楷体_GB2312" pitchFamily="49" charset="-122"/>
              </a:rPr>
              <a:t>主存</a:t>
            </a:r>
            <a:r>
              <a:rPr kumimoji="0" lang="en-US" altLang="zh-CN" sz="2000">
                <a:latin typeface="楷体_GB2312" pitchFamily="49" charset="-122"/>
              </a:rPr>
              <a:t>-Cache</a:t>
            </a:r>
          </a:p>
          <a:p>
            <a:pPr eaLnBrk="1" hangingPunct="1">
              <a:spcBef>
                <a:spcPct val="0"/>
              </a:spcBef>
              <a:buClrTx/>
              <a:buFontTx/>
              <a:buNone/>
            </a:pPr>
            <a:r>
              <a:rPr kumimoji="0" lang="zh-CN" altLang="en-US" sz="2000">
                <a:latin typeface="楷体_GB2312" pitchFamily="49" charset="-122"/>
              </a:rPr>
              <a:t>地址变换</a:t>
            </a:r>
          </a:p>
        </p:txBody>
      </p:sp>
      <p:sp>
        <p:nvSpPr>
          <p:cNvPr id="38932" name="Freeform 23">
            <a:extLst>
              <a:ext uri="{FF2B5EF4-FFF2-40B4-BE49-F238E27FC236}">
                <a16:creationId xmlns:a16="http://schemas.microsoft.com/office/drawing/2014/main" id="{DB1D2142-DB45-4D3D-8E4A-69C6A6F129DE}"/>
              </a:ext>
            </a:extLst>
          </p:cNvPr>
          <p:cNvSpPr>
            <a:spLocks/>
          </p:cNvSpPr>
          <p:nvPr/>
        </p:nvSpPr>
        <p:spPr bwMode="auto">
          <a:xfrm flipV="1">
            <a:off x="2101850" y="1695450"/>
            <a:ext cx="93663" cy="2000250"/>
          </a:xfrm>
          <a:custGeom>
            <a:avLst/>
            <a:gdLst>
              <a:gd name="T0" fmla="*/ 0 w 1"/>
              <a:gd name="T1" fmla="*/ 2147483646 h 1335"/>
              <a:gd name="T2" fmla="*/ 0 w 1"/>
              <a:gd name="T3" fmla="*/ 0 h 1335"/>
              <a:gd name="T4" fmla="*/ 0 60000 65536"/>
              <a:gd name="T5" fmla="*/ 0 60000 65536"/>
              <a:gd name="T6" fmla="*/ 0 w 1"/>
              <a:gd name="T7" fmla="*/ 0 h 1335"/>
              <a:gd name="T8" fmla="*/ 1 w 1"/>
              <a:gd name="T9" fmla="*/ 1335 h 1335"/>
            </a:gdLst>
            <a:ahLst/>
            <a:cxnLst>
              <a:cxn ang="T4">
                <a:pos x="T0" y="T1"/>
              </a:cxn>
              <a:cxn ang="T5">
                <a:pos x="T2" y="T3"/>
              </a:cxn>
            </a:cxnLst>
            <a:rect l="T6" t="T7" r="T8" b="T9"/>
            <a:pathLst>
              <a:path w="1" h="1335">
                <a:moveTo>
                  <a:pt x="0" y="1335"/>
                </a:moveTo>
                <a:lnTo>
                  <a:pt x="0" y="0"/>
                </a:lnTo>
              </a:path>
            </a:pathLst>
          </a:custGeom>
          <a:noFill/>
          <a:ln w="22225">
            <a:solidFill>
              <a:schemeClr val="tx1"/>
            </a:solidFill>
            <a:round/>
            <a:headEnd/>
            <a:tailEnd type="triangle" w="lg"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33" name="Text Box 24">
            <a:extLst>
              <a:ext uri="{FF2B5EF4-FFF2-40B4-BE49-F238E27FC236}">
                <a16:creationId xmlns:a16="http://schemas.microsoft.com/office/drawing/2014/main" id="{1D6C6F29-6DEA-416C-8602-0006EEC823C0}"/>
              </a:ext>
            </a:extLst>
          </p:cNvPr>
          <p:cNvSpPr txBox="1">
            <a:spLocks noChangeArrowheads="1"/>
          </p:cNvSpPr>
          <p:nvPr/>
        </p:nvSpPr>
        <p:spPr bwMode="auto">
          <a:xfrm>
            <a:off x="2119313" y="2414588"/>
            <a:ext cx="93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kumimoji="0" lang="zh-CN" altLang="en-US" sz="2400" b="0"/>
              <a:t>命中</a:t>
            </a:r>
          </a:p>
        </p:txBody>
      </p:sp>
      <p:sp>
        <p:nvSpPr>
          <p:cNvPr id="38934" name="TextBox 23">
            <a:extLst>
              <a:ext uri="{FF2B5EF4-FFF2-40B4-BE49-F238E27FC236}">
                <a16:creationId xmlns:a16="http://schemas.microsoft.com/office/drawing/2014/main" id="{8C3D3B0E-CBA5-4A53-9B34-1CCA98CD8E49}"/>
              </a:ext>
            </a:extLst>
          </p:cNvPr>
          <p:cNvSpPr txBox="1">
            <a:spLocks noChangeArrowheads="1"/>
          </p:cNvSpPr>
          <p:nvPr/>
        </p:nvSpPr>
        <p:spPr bwMode="auto">
          <a:xfrm>
            <a:off x="1258888" y="2728913"/>
            <a:ext cx="714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b="0">
                <a:ea typeface="黑体" panose="02010609060101010101" pitchFamily="49" charset="-122"/>
              </a:rPr>
              <a:t>CAM</a:t>
            </a:r>
            <a:endParaRPr lang="zh-CN" altLang="en-US" sz="1800" b="0">
              <a:ea typeface="黑体" panose="02010609060101010101" pitchFamily="49" charset="-122"/>
            </a:endParaRPr>
          </a:p>
        </p:txBody>
      </p:sp>
      <p:cxnSp>
        <p:nvCxnSpPr>
          <p:cNvPr id="38935" name="直接箭头连接符 25">
            <a:extLst>
              <a:ext uri="{FF2B5EF4-FFF2-40B4-BE49-F238E27FC236}">
                <a16:creationId xmlns:a16="http://schemas.microsoft.com/office/drawing/2014/main" id="{F8D423D5-7025-437B-9246-4E11426A50E1}"/>
              </a:ext>
            </a:extLst>
          </p:cNvPr>
          <p:cNvCxnSpPr>
            <a:cxnSpLocks noChangeShapeType="1"/>
          </p:cNvCxnSpPr>
          <p:nvPr/>
        </p:nvCxnSpPr>
        <p:spPr bwMode="auto">
          <a:xfrm rot="5400000">
            <a:off x="5499894" y="1837531"/>
            <a:ext cx="241300" cy="1588"/>
          </a:xfrm>
          <a:prstGeom prst="straightConnector1">
            <a:avLst/>
          </a:prstGeom>
          <a:noFill/>
          <a:ln w="19050" algn="ctr">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8936" name="Line 15">
            <a:extLst>
              <a:ext uri="{FF2B5EF4-FFF2-40B4-BE49-F238E27FC236}">
                <a16:creationId xmlns:a16="http://schemas.microsoft.com/office/drawing/2014/main" id="{9290ED9A-8CE0-4900-A861-600DDFAC9AD9}"/>
              </a:ext>
            </a:extLst>
          </p:cNvPr>
          <p:cNvSpPr>
            <a:spLocks noChangeShapeType="1"/>
          </p:cNvSpPr>
          <p:nvPr/>
        </p:nvSpPr>
        <p:spPr bwMode="auto">
          <a:xfrm>
            <a:off x="2101850" y="2871788"/>
            <a:ext cx="1531938" cy="0"/>
          </a:xfrm>
          <a:prstGeom prst="line">
            <a:avLst/>
          </a:prstGeom>
          <a:noFill/>
          <a:ln w="22225" cap="sq">
            <a:solidFill>
              <a:schemeClr val="tx1"/>
            </a:solidFill>
            <a:round/>
            <a:headEnd type="none" w="sm" len="sm"/>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89156"/>
                                        </p:tgtEl>
                                        <p:attrNameLst>
                                          <p:attrName>style.visibility</p:attrName>
                                        </p:attrNameLst>
                                      </p:cBhvr>
                                      <p:to>
                                        <p:strVal val="visible"/>
                                      </p:to>
                                    </p:set>
                                    <p:anim calcmode="lin" valueType="num">
                                      <p:cBhvr additive="base">
                                        <p:cTn id="7" dur="500" fill="hold"/>
                                        <p:tgtEl>
                                          <p:spTgt spid="689156"/>
                                        </p:tgtEl>
                                        <p:attrNameLst>
                                          <p:attrName>ppt_x</p:attrName>
                                        </p:attrNameLst>
                                      </p:cBhvr>
                                      <p:tavLst>
                                        <p:tav tm="0">
                                          <p:val>
                                            <p:strVal val="0-#ppt_w/2"/>
                                          </p:val>
                                        </p:tav>
                                        <p:tav tm="100000">
                                          <p:val>
                                            <p:strVal val="#ppt_x"/>
                                          </p:val>
                                        </p:tav>
                                      </p:tavLst>
                                    </p:anim>
                                    <p:anim calcmode="lin" valueType="num">
                                      <p:cBhvr additive="base">
                                        <p:cTn id="8" dur="500" fill="hold"/>
                                        <p:tgtEl>
                                          <p:spTgt spid="6891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5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712" name="Rectangle 16">
            <a:extLst>
              <a:ext uri="{FF2B5EF4-FFF2-40B4-BE49-F238E27FC236}">
                <a16:creationId xmlns:a16="http://schemas.microsoft.com/office/drawing/2014/main" id="{FF098DCB-213A-4D2A-B439-6B1F4C947107}"/>
              </a:ext>
            </a:extLst>
          </p:cNvPr>
          <p:cNvSpPr>
            <a:spLocks noGrp="1" noChangeArrowheads="1"/>
          </p:cNvSpPr>
          <p:nvPr>
            <p:ph type="title"/>
          </p:nvPr>
        </p:nvSpPr>
        <p:spPr/>
        <p:txBody>
          <a:bodyPr/>
          <a:lstStyle/>
          <a:p>
            <a:pPr eaLnBrk="1" hangingPunct="1">
              <a:defRPr/>
            </a:pPr>
            <a:r>
              <a:rPr lang="zh-CN" altLang="en-US"/>
              <a:t>全相联映射</a:t>
            </a:r>
            <a:r>
              <a:rPr lang="en-US" altLang="zh-CN"/>
              <a:t>Cache</a:t>
            </a:r>
            <a:r>
              <a:rPr lang="zh-CN" altLang="en-US"/>
              <a:t>示例</a:t>
            </a:r>
          </a:p>
        </p:txBody>
      </p:sp>
      <p:sp>
        <p:nvSpPr>
          <p:cNvPr id="40963" name="Rectangle 17">
            <a:extLst>
              <a:ext uri="{FF2B5EF4-FFF2-40B4-BE49-F238E27FC236}">
                <a16:creationId xmlns:a16="http://schemas.microsoft.com/office/drawing/2014/main" id="{D86617A9-35DB-48A5-A0A2-C1DA6C4FD053}"/>
              </a:ext>
            </a:extLst>
          </p:cNvPr>
          <p:cNvSpPr>
            <a:spLocks noGrp="1" noChangeArrowheads="1"/>
          </p:cNvSpPr>
          <p:nvPr>
            <p:ph idx="1"/>
          </p:nvPr>
        </p:nvSpPr>
        <p:spPr/>
        <p:txBody>
          <a:bodyPr/>
          <a:lstStyle/>
          <a:p>
            <a:pPr eaLnBrk="1" hangingPunct="1"/>
            <a:r>
              <a:rPr kumimoji="0" lang="zh-CN" altLang="en-US" sz="2400"/>
              <a:t>主存储器地址宽度：</a:t>
            </a:r>
            <a:r>
              <a:rPr kumimoji="0" lang="en-US" altLang="zh-CN" sz="2400"/>
              <a:t>24</a:t>
            </a:r>
            <a:r>
              <a:rPr kumimoji="0" lang="zh-CN" altLang="en-US" sz="2400"/>
              <a:t>位；容量</a:t>
            </a:r>
            <a:r>
              <a:rPr kumimoji="0" lang="en-US" altLang="zh-CN" sz="2400"/>
              <a:t>: 2</a:t>
            </a:r>
            <a:r>
              <a:rPr kumimoji="0" lang="en-US" altLang="zh-CN" sz="2400" baseline="30000"/>
              <a:t>24</a:t>
            </a:r>
            <a:r>
              <a:rPr kumimoji="0" lang="en-US" altLang="zh-CN" sz="2400"/>
              <a:t> bytes</a:t>
            </a:r>
            <a:r>
              <a:rPr kumimoji="0" lang="zh-CN" altLang="en-US" sz="2400"/>
              <a:t>；</a:t>
            </a:r>
            <a:r>
              <a:rPr kumimoji="0" lang="en-US" altLang="zh-CN" sz="2400"/>
              <a:t> 2</a:t>
            </a:r>
            <a:r>
              <a:rPr kumimoji="0" lang="en-US" altLang="zh-CN" sz="2400" baseline="30000"/>
              <a:t>24</a:t>
            </a:r>
            <a:r>
              <a:rPr kumimoji="0" lang="en-US" altLang="zh-CN" sz="2400"/>
              <a:t>/2</a:t>
            </a:r>
            <a:r>
              <a:rPr kumimoji="0" lang="en-US" altLang="zh-CN" sz="2400" baseline="30000"/>
              <a:t>5</a:t>
            </a:r>
            <a:r>
              <a:rPr kumimoji="0" lang="en-US" altLang="zh-CN" sz="2400"/>
              <a:t>=2</a:t>
            </a:r>
            <a:r>
              <a:rPr kumimoji="0" lang="en-US" altLang="zh-CN" sz="2400" baseline="30000"/>
              <a:t>19</a:t>
            </a:r>
            <a:r>
              <a:rPr kumimoji="0" lang="zh-CN" altLang="en-US" sz="2400"/>
              <a:t>块</a:t>
            </a:r>
            <a:endParaRPr kumimoji="0" lang="en-US" altLang="zh-CN" sz="2400"/>
          </a:p>
          <a:p>
            <a:pPr eaLnBrk="1" hangingPunct="1"/>
            <a:r>
              <a:rPr kumimoji="0" lang="en-US" altLang="zh-CN" sz="2400"/>
              <a:t>Cache</a:t>
            </a:r>
            <a:r>
              <a:rPr kumimoji="0" lang="zh-CN" altLang="en-US" sz="2400"/>
              <a:t>容量</a:t>
            </a:r>
            <a:r>
              <a:rPr kumimoji="0" lang="en-US" altLang="zh-CN" sz="2400"/>
              <a:t>: 256 bytes</a:t>
            </a:r>
            <a:r>
              <a:rPr kumimoji="0" lang="zh-CN" altLang="en-US" sz="2400"/>
              <a:t>，块大小为</a:t>
            </a:r>
            <a:r>
              <a:rPr kumimoji="0" lang="en-US" altLang="zh-CN" sz="2400"/>
              <a:t> 32 bytes</a:t>
            </a:r>
            <a:r>
              <a:rPr kumimoji="0" lang="zh-CN" altLang="en-US" sz="2400"/>
              <a:t>；</a:t>
            </a:r>
            <a:r>
              <a:rPr kumimoji="0" lang="en-US" altLang="zh-CN" sz="2400"/>
              <a:t>256/32=8</a:t>
            </a:r>
            <a:r>
              <a:rPr kumimoji="0" lang="zh-CN" altLang="en-US" sz="2400"/>
              <a:t>块</a:t>
            </a:r>
            <a:endParaRPr kumimoji="0" lang="en-US" altLang="zh-CN" sz="2400"/>
          </a:p>
          <a:p>
            <a:pPr eaLnBrk="1" hangingPunct="1"/>
            <a:endParaRPr kumimoji="0" lang="zh-CN" altLang="en-US" sz="2400"/>
          </a:p>
        </p:txBody>
      </p:sp>
      <p:sp>
        <p:nvSpPr>
          <p:cNvPr id="40965" name="Line 73">
            <a:extLst>
              <a:ext uri="{FF2B5EF4-FFF2-40B4-BE49-F238E27FC236}">
                <a16:creationId xmlns:a16="http://schemas.microsoft.com/office/drawing/2014/main" id="{1244E869-9744-44B3-9234-C55017A29234}"/>
              </a:ext>
            </a:extLst>
          </p:cNvPr>
          <p:cNvSpPr>
            <a:spLocks noChangeShapeType="1"/>
          </p:cNvSpPr>
          <p:nvPr/>
        </p:nvSpPr>
        <p:spPr bwMode="auto">
          <a:xfrm flipH="1" flipV="1">
            <a:off x="1300163" y="3214688"/>
            <a:ext cx="392112" cy="0"/>
          </a:xfrm>
          <a:prstGeom prst="line">
            <a:avLst/>
          </a:prstGeom>
          <a:noFill/>
          <a:ln w="69850">
            <a:solidFill>
              <a:srgbClr val="0099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0966" name="Line 77">
            <a:extLst>
              <a:ext uri="{FF2B5EF4-FFF2-40B4-BE49-F238E27FC236}">
                <a16:creationId xmlns:a16="http://schemas.microsoft.com/office/drawing/2014/main" id="{1F8EF20F-0057-434E-B33E-2820F0A0659E}"/>
              </a:ext>
            </a:extLst>
          </p:cNvPr>
          <p:cNvSpPr>
            <a:spLocks noChangeShapeType="1"/>
          </p:cNvSpPr>
          <p:nvPr/>
        </p:nvSpPr>
        <p:spPr bwMode="auto">
          <a:xfrm flipH="1" flipV="1">
            <a:off x="1300163" y="3789363"/>
            <a:ext cx="392112" cy="0"/>
          </a:xfrm>
          <a:prstGeom prst="line">
            <a:avLst/>
          </a:prstGeom>
          <a:noFill/>
          <a:ln w="69850">
            <a:solidFill>
              <a:srgbClr val="0099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0967" name="Line 76">
            <a:extLst>
              <a:ext uri="{FF2B5EF4-FFF2-40B4-BE49-F238E27FC236}">
                <a16:creationId xmlns:a16="http://schemas.microsoft.com/office/drawing/2014/main" id="{4324C464-3F62-4E08-A70E-DE08DF5A62EC}"/>
              </a:ext>
            </a:extLst>
          </p:cNvPr>
          <p:cNvSpPr>
            <a:spLocks noChangeShapeType="1"/>
          </p:cNvSpPr>
          <p:nvPr/>
        </p:nvSpPr>
        <p:spPr bwMode="auto">
          <a:xfrm flipH="1" flipV="1">
            <a:off x="1300163" y="4105275"/>
            <a:ext cx="392112" cy="0"/>
          </a:xfrm>
          <a:prstGeom prst="line">
            <a:avLst/>
          </a:prstGeom>
          <a:noFill/>
          <a:ln w="69850">
            <a:solidFill>
              <a:srgbClr val="0099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0968" name="Line 74">
            <a:extLst>
              <a:ext uri="{FF2B5EF4-FFF2-40B4-BE49-F238E27FC236}">
                <a16:creationId xmlns:a16="http://schemas.microsoft.com/office/drawing/2014/main" id="{201BD8B2-FB25-4AB0-8F44-5DBEEEAA1B25}"/>
              </a:ext>
            </a:extLst>
          </p:cNvPr>
          <p:cNvSpPr>
            <a:spLocks noChangeShapeType="1"/>
          </p:cNvSpPr>
          <p:nvPr/>
        </p:nvSpPr>
        <p:spPr bwMode="auto">
          <a:xfrm flipH="1" flipV="1">
            <a:off x="1300163" y="3500438"/>
            <a:ext cx="392112" cy="0"/>
          </a:xfrm>
          <a:prstGeom prst="line">
            <a:avLst/>
          </a:prstGeom>
          <a:noFill/>
          <a:ln w="69850">
            <a:solidFill>
              <a:srgbClr val="0099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0969" name="Line 75">
            <a:extLst>
              <a:ext uri="{FF2B5EF4-FFF2-40B4-BE49-F238E27FC236}">
                <a16:creationId xmlns:a16="http://schemas.microsoft.com/office/drawing/2014/main" id="{15CF1E3D-2AFA-48E2-8558-080E9EBFD7D3}"/>
              </a:ext>
            </a:extLst>
          </p:cNvPr>
          <p:cNvSpPr>
            <a:spLocks noChangeShapeType="1"/>
          </p:cNvSpPr>
          <p:nvPr/>
        </p:nvSpPr>
        <p:spPr bwMode="auto">
          <a:xfrm flipH="1" flipV="1">
            <a:off x="1295400" y="4437063"/>
            <a:ext cx="392113" cy="0"/>
          </a:xfrm>
          <a:prstGeom prst="line">
            <a:avLst/>
          </a:prstGeom>
          <a:noFill/>
          <a:ln w="69850">
            <a:solidFill>
              <a:srgbClr val="0099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0970" name="Line 2">
            <a:extLst>
              <a:ext uri="{FF2B5EF4-FFF2-40B4-BE49-F238E27FC236}">
                <a16:creationId xmlns:a16="http://schemas.microsoft.com/office/drawing/2014/main" id="{364A9401-3DC2-4C37-B0AF-5EBE22B5A0BF}"/>
              </a:ext>
            </a:extLst>
          </p:cNvPr>
          <p:cNvSpPr>
            <a:spLocks noChangeShapeType="1"/>
          </p:cNvSpPr>
          <p:nvPr/>
        </p:nvSpPr>
        <p:spPr bwMode="auto">
          <a:xfrm flipH="1">
            <a:off x="4616450" y="2276475"/>
            <a:ext cx="2449513" cy="2544763"/>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0971" name="Rectangle 3">
            <a:extLst>
              <a:ext uri="{FF2B5EF4-FFF2-40B4-BE49-F238E27FC236}">
                <a16:creationId xmlns:a16="http://schemas.microsoft.com/office/drawing/2014/main" id="{502053D6-816E-483D-9165-30F9DA07DCE7}"/>
              </a:ext>
            </a:extLst>
          </p:cNvPr>
          <p:cNvSpPr>
            <a:spLocks noChangeArrowheads="1"/>
          </p:cNvSpPr>
          <p:nvPr/>
        </p:nvSpPr>
        <p:spPr bwMode="auto">
          <a:xfrm>
            <a:off x="7065963" y="2101850"/>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dirty="0">
                <a:solidFill>
                  <a:schemeClr val="bg1"/>
                </a:solidFill>
                <a:ea typeface="宋体" panose="02010600030101010101" pitchFamily="2" charset="-122"/>
              </a:rPr>
              <a:t>Block 0</a:t>
            </a:r>
          </a:p>
        </p:txBody>
      </p:sp>
      <p:sp>
        <p:nvSpPr>
          <p:cNvPr id="40972" name="Rectangle 4">
            <a:extLst>
              <a:ext uri="{FF2B5EF4-FFF2-40B4-BE49-F238E27FC236}">
                <a16:creationId xmlns:a16="http://schemas.microsoft.com/office/drawing/2014/main" id="{CCE7E565-C21F-44E2-823A-5826B479B7A0}"/>
              </a:ext>
            </a:extLst>
          </p:cNvPr>
          <p:cNvSpPr>
            <a:spLocks noChangeArrowheads="1"/>
          </p:cNvSpPr>
          <p:nvPr/>
        </p:nvSpPr>
        <p:spPr bwMode="auto">
          <a:xfrm>
            <a:off x="7065963" y="2436813"/>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1</a:t>
            </a:r>
          </a:p>
        </p:txBody>
      </p:sp>
      <p:sp>
        <p:nvSpPr>
          <p:cNvPr id="40973" name="Rectangle 5">
            <a:extLst>
              <a:ext uri="{FF2B5EF4-FFF2-40B4-BE49-F238E27FC236}">
                <a16:creationId xmlns:a16="http://schemas.microsoft.com/office/drawing/2014/main" id="{1CB890AF-52CE-4542-96A6-7B1D840236DC}"/>
              </a:ext>
            </a:extLst>
          </p:cNvPr>
          <p:cNvSpPr>
            <a:spLocks noChangeArrowheads="1"/>
          </p:cNvSpPr>
          <p:nvPr/>
        </p:nvSpPr>
        <p:spPr bwMode="auto">
          <a:xfrm>
            <a:off x="7065963" y="2771775"/>
            <a:ext cx="1827212" cy="333375"/>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2</a:t>
            </a:r>
          </a:p>
        </p:txBody>
      </p:sp>
      <p:sp>
        <p:nvSpPr>
          <p:cNvPr id="40974" name="Rectangle 6">
            <a:extLst>
              <a:ext uri="{FF2B5EF4-FFF2-40B4-BE49-F238E27FC236}">
                <a16:creationId xmlns:a16="http://schemas.microsoft.com/office/drawing/2014/main" id="{8E021191-9F61-47B9-ACF3-903FF39E22C3}"/>
              </a:ext>
            </a:extLst>
          </p:cNvPr>
          <p:cNvSpPr>
            <a:spLocks noChangeArrowheads="1"/>
          </p:cNvSpPr>
          <p:nvPr/>
        </p:nvSpPr>
        <p:spPr bwMode="auto">
          <a:xfrm>
            <a:off x="7065963" y="3105150"/>
            <a:ext cx="1827212" cy="336550"/>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3</a:t>
            </a:r>
          </a:p>
        </p:txBody>
      </p:sp>
      <p:sp>
        <p:nvSpPr>
          <p:cNvPr id="40975" name="Rectangle 7">
            <a:extLst>
              <a:ext uri="{FF2B5EF4-FFF2-40B4-BE49-F238E27FC236}">
                <a16:creationId xmlns:a16="http://schemas.microsoft.com/office/drawing/2014/main" id="{EABFD62A-BE05-4057-8536-CA418586395C}"/>
              </a:ext>
            </a:extLst>
          </p:cNvPr>
          <p:cNvSpPr>
            <a:spLocks noChangeArrowheads="1"/>
          </p:cNvSpPr>
          <p:nvPr/>
        </p:nvSpPr>
        <p:spPr bwMode="auto">
          <a:xfrm>
            <a:off x="7065963" y="3441700"/>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4</a:t>
            </a:r>
          </a:p>
        </p:txBody>
      </p:sp>
      <p:sp>
        <p:nvSpPr>
          <p:cNvPr id="40976" name="Rectangle 8">
            <a:extLst>
              <a:ext uri="{FF2B5EF4-FFF2-40B4-BE49-F238E27FC236}">
                <a16:creationId xmlns:a16="http://schemas.microsoft.com/office/drawing/2014/main" id="{06FC1A90-E614-4143-B95F-167B88C9A94A}"/>
              </a:ext>
            </a:extLst>
          </p:cNvPr>
          <p:cNvSpPr>
            <a:spLocks noChangeArrowheads="1"/>
          </p:cNvSpPr>
          <p:nvPr/>
        </p:nvSpPr>
        <p:spPr bwMode="auto">
          <a:xfrm>
            <a:off x="7065963" y="3776663"/>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5</a:t>
            </a:r>
          </a:p>
        </p:txBody>
      </p:sp>
      <p:sp>
        <p:nvSpPr>
          <p:cNvPr id="40977" name="Rectangle 9">
            <a:extLst>
              <a:ext uri="{FF2B5EF4-FFF2-40B4-BE49-F238E27FC236}">
                <a16:creationId xmlns:a16="http://schemas.microsoft.com/office/drawing/2014/main" id="{CB040B71-CE71-4660-9395-61AD9301E641}"/>
              </a:ext>
            </a:extLst>
          </p:cNvPr>
          <p:cNvSpPr>
            <a:spLocks noChangeArrowheads="1"/>
          </p:cNvSpPr>
          <p:nvPr/>
        </p:nvSpPr>
        <p:spPr bwMode="auto">
          <a:xfrm>
            <a:off x="7065963" y="4111625"/>
            <a:ext cx="1827212" cy="333375"/>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6</a:t>
            </a:r>
          </a:p>
        </p:txBody>
      </p:sp>
      <p:sp>
        <p:nvSpPr>
          <p:cNvPr id="40978" name="Rectangle 10">
            <a:extLst>
              <a:ext uri="{FF2B5EF4-FFF2-40B4-BE49-F238E27FC236}">
                <a16:creationId xmlns:a16="http://schemas.microsoft.com/office/drawing/2014/main" id="{240E9EE2-8DFD-4151-BBF5-A85CE9C8A924}"/>
              </a:ext>
            </a:extLst>
          </p:cNvPr>
          <p:cNvSpPr>
            <a:spLocks noChangeArrowheads="1"/>
          </p:cNvSpPr>
          <p:nvPr/>
        </p:nvSpPr>
        <p:spPr bwMode="auto">
          <a:xfrm>
            <a:off x="7065963" y="4445000"/>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7</a:t>
            </a:r>
          </a:p>
        </p:txBody>
      </p:sp>
      <p:sp>
        <p:nvSpPr>
          <p:cNvPr id="40979" name="Rectangle 11">
            <a:extLst>
              <a:ext uri="{FF2B5EF4-FFF2-40B4-BE49-F238E27FC236}">
                <a16:creationId xmlns:a16="http://schemas.microsoft.com/office/drawing/2014/main" id="{2D05BEF7-E9FB-4C3E-926D-260DBC7B1058}"/>
              </a:ext>
            </a:extLst>
          </p:cNvPr>
          <p:cNvSpPr>
            <a:spLocks noChangeArrowheads="1"/>
          </p:cNvSpPr>
          <p:nvPr/>
        </p:nvSpPr>
        <p:spPr bwMode="auto">
          <a:xfrm>
            <a:off x="7065963" y="4779963"/>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8</a:t>
            </a:r>
          </a:p>
        </p:txBody>
      </p:sp>
      <p:sp>
        <p:nvSpPr>
          <p:cNvPr id="40980" name="Rectangle 12">
            <a:extLst>
              <a:ext uri="{FF2B5EF4-FFF2-40B4-BE49-F238E27FC236}">
                <a16:creationId xmlns:a16="http://schemas.microsoft.com/office/drawing/2014/main" id="{B1E67475-1B6E-4FF7-B462-0C591D0C5EE6}"/>
              </a:ext>
            </a:extLst>
          </p:cNvPr>
          <p:cNvSpPr>
            <a:spLocks noChangeArrowheads="1"/>
          </p:cNvSpPr>
          <p:nvPr/>
        </p:nvSpPr>
        <p:spPr bwMode="auto">
          <a:xfrm>
            <a:off x="7065963" y="5784850"/>
            <a:ext cx="1827212" cy="333375"/>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219-1</a:t>
            </a:r>
          </a:p>
        </p:txBody>
      </p:sp>
      <p:sp>
        <p:nvSpPr>
          <p:cNvPr id="40981" name="Rectangle 13">
            <a:extLst>
              <a:ext uri="{FF2B5EF4-FFF2-40B4-BE49-F238E27FC236}">
                <a16:creationId xmlns:a16="http://schemas.microsoft.com/office/drawing/2014/main" id="{6676FF16-D397-4DA7-B839-48588521C72C}"/>
              </a:ext>
            </a:extLst>
          </p:cNvPr>
          <p:cNvSpPr>
            <a:spLocks noChangeArrowheads="1"/>
          </p:cNvSpPr>
          <p:nvPr/>
        </p:nvSpPr>
        <p:spPr bwMode="auto">
          <a:xfrm>
            <a:off x="7065963" y="5449888"/>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ea typeface="宋体" panose="02010600030101010101" pitchFamily="2" charset="-122"/>
              </a:rPr>
              <a:t>…</a:t>
            </a:r>
          </a:p>
        </p:txBody>
      </p:sp>
      <p:sp>
        <p:nvSpPr>
          <p:cNvPr id="40982" name="Rectangle 14">
            <a:extLst>
              <a:ext uri="{FF2B5EF4-FFF2-40B4-BE49-F238E27FC236}">
                <a16:creationId xmlns:a16="http://schemas.microsoft.com/office/drawing/2014/main" id="{1FC0F1D6-3C6A-47E1-9DF9-6317FD2FEFDB}"/>
              </a:ext>
            </a:extLst>
          </p:cNvPr>
          <p:cNvSpPr>
            <a:spLocks noChangeArrowheads="1"/>
          </p:cNvSpPr>
          <p:nvPr/>
        </p:nvSpPr>
        <p:spPr bwMode="auto">
          <a:xfrm>
            <a:off x="7065963" y="5114925"/>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en-US" altLang="zh-CN" sz="2400" b="0" dirty="0">
                <a:solidFill>
                  <a:schemeClr val="bg1"/>
                </a:solidFill>
                <a:ea typeface="宋体" panose="02010600030101010101" pitchFamily="2" charset="-122"/>
              </a:rPr>
              <a:t>Block 9</a:t>
            </a:r>
          </a:p>
        </p:txBody>
      </p:sp>
      <p:sp>
        <p:nvSpPr>
          <p:cNvPr id="40983" name="Rectangle 18">
            <a:extLst>
              <a:ext uri="{FF2B5EF4-FFF2-40B4-BE49-F238E27FC236}">
                <a16:creationId xmlns:a16="http://schemas.microsoft.com/office/drawing/2014/main" id="{7CA312A4-C948-43CE-91FE-529404306DD2}"/>
              </a:ext>
            </a:extLst>
          </p:cNvPr>
          <p:cNvSpPr>
            <a:spLocks noChangeArrowheads="1"/>
          </p:cNvSpPr>
          <p:nvPr/>
        </p:nvSpPr>
        <p:spPr bwMode="auto">
          <a:xfrm>
            <a:off x="768350" y="2493963"/>
            <a:ext cx="4233863" cy="277812"/>
          </a:xfrm>
          <a:prstGeom prst="rect">
            <a:avLst/>
          </a:prstGeom>
          <a:solidFill>
            <a:srgbClr val="339933"/>
          </a:solidFill>
          <a:ln w="19050" algn="ctr">
            <a:solidFill>
              <a:schemeClr val="tx1"/>
            </a:solidFill>
            <a:miter lim="800000"/>
            <a:headEnd/>
            <a:tailEnd/>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Tag</a:t>
            </a:r>
            <a:r>
              <a:rPr lang="zh-CN" altLang="en-US" sz="2000">
                <a:solidFill>
                  <a:schemeClr val="bg1"/>
                </a:solidFill>
                <a:ea typeface="方正准圆简体" pitchFamily="2" charset="-122"/>
              </a:rPr>
              <a:t>（</a:t>
            </a:r>
            <a:r>
              <a:rPr lang="en-US" altLang="zh-CN" sz="2000">
                <a:solidFill>
                  <a:schemeClr val="bg1"/>
                </a:solidFill>
                <a:ea typeface="方正准圆简体" pitchFamily="2" charset="-122"/>
              </a:rPr>
              <a:t>19</a:t>
            </a:r>
            <a:r>
              <a:rPr lang="zh-CN" altLang="en-US" sz="2000">
                <a:solidFill>
                  <a:schemeClr val="bg1"/>
                </a:solidFill>
                <a:ea typeface="方正准圆简体" pitchFamily="2" charset="-122"/>
              </a:rPr>
              <a:t>位）</a:t>
            </a:r>
          </a:p>
        </p:txBody>
      </p:sp>
      <p:sp>
        <p:nvSpPr>
          <p:cNvPr id="40984" name="Rectangle 20">
            <a:extLst>
              <a:ext uri="{FF2B5EF4-FFF2-40B4-BE49-F238E27FC236}">
                <a16:creationId xmlns:a16="http://schemas.microsoft.com/office/drawing/2014/main" id="{5F89A2B6-BE72-42FF-8702-CB6BB5807D4A}"/>
              </a:ext>
            </a:extLst>
          </p:cNvPr>
          <p:cNvSpPr>
            <a:spLocks noChangeArrowheads="1"/>
          </p:cNvSpPr>
          <p:nvPr/>
        </p:nvSpPr>
        <p:spPr bwMode="auto">
          <a:xfrm>
            <a:off x="5016500" y="2493963"/>
            <a:ext cx="1439863" cy="277812"/>
          </a:xfrm>
          <a:prstGeom prst="rect">
            <a:avLst/>
          </a:prstGeom>
          <a:solidFill>
            <a:srgbClr val="800080"/>
          </a:solidFill>
          <a:ln w="19050" algn="ctr">
            <a:solidFill>
              <a:schemeClr val="tx1"/>
            </a:solidFill>
            <a:miter lim="800000"/>
            <a:headEnd/>
            <a:tailEnd/>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Offset</a:t>
            </a:r>
          </a:p>
        </p:txBody>
      </p:sp>
      <p:sp>
        <p:nvSpPr>
          <p:cNvPr id="40985" name="Text Box 21">
            <a:extLst>
              <a:ext uri="{FF2B5EF4-FFF2-40B4-BE49-F238E27FC236}">
                <a16:creationId xmlns:a16="http://schemas.microsoft.com/office/drawing/2014/main" id="{F07B6EF4-CB0B-4067-BC4B-593931C1BF6C}"/>
              </a:ext>
            </a:extLst>
          </p:cNvPr>
          <p:cNvSpPr txBox="1">
            <a:spLocks noChangeArrowheads="1"/>
          </p:cNvSpPr>
          <p:nvPr/>
        </p:nvSpPr>
        <p:spPr bwMode="auto">
          <a:xfrm>
            <a:off x="6084888" y="21336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40986" name="Text Box 22">
            <a:extLst>
              <a:ext uri="{FF2B5EF4-FFF2-40B4-BE49-F238E27FC236}">
                <a16:creationId xmlns:a16="http://schemas.microsoft.com/office/drawing/2014/main" id="{E10E06E4-79AF-45EA-895F-81FB4EBFA96C}"/>
              </a:ext>
            </a:extLst>
          </p:cNvPr>
          <p:cNvSpPr txBox="1">
            <a:spLocks noChangeArrowheads="1"/>
          </p:cNvSpPr>
          <p:nvPr/>
        </p:nvSpPr>
        <p:spPr bwMode="auto">
          <a:xfrm>
            <a:off x="5016500" y="21574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4</a:t>
            </a:r>
          </a:p>
        </p:txBody>
      </p:sp>
      <p:sp>
        <p:nvSpPr>
          <p:cNvPr id="40987" name="Text Box 23">
            <a:extLst>
              <a:ext uri="{FF2B5EF4-FFF2-40B4-BE49-F238E27FC236}">
                <a16:creationId xmlns:a16="http://schemas.microsoft.com/office/drawing/2014/main" id="{98D97948-C40F-4102-844B-ACE3C19356F7}"/>
              </a:ext>
            </a:extLst>
          </p:cNvPr>
          <p:cNvSpPr txBox="1">
            <a:spLocks noChangeArrowheads="1"/>
          </p:cNvSpPr>
          <p:nvPr/>
        </p:nvSpPr>
        <p:spPr bwMode="auto">
          <a:xfrm>
            <a:off x="4716463" y="21574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5</a:t>
            </a:r>
          </a:p>
        </p:txBody>
      </p:sp>
      <p:sp>
        <p:nvSpPr>
          <p:cNvPr id="40988" name="Text Box 26">
            <a:extLst>
              <a:ext uri="{FF2B5EF4-FFF2-40B4-BE49-F238E27FC236}">
                <a16:creationId xmlns:a16="http://schemas.microsoft.com/office/drawing/2014/main" id="{1B5BA8ED-6867-4828-9E81-9252BBF0EAE6}"/>
              </a:ext>
            </a:extLst>
          </p:cNvPr>
          <p:cNvSpPr txBox="1">
            <a:spLocks noChangeArrowheads="1"/>
          </p:cNvSpPr>
          <p:nvPr/>
        </p:nvSpPr>
        <p:spPr bwMode="auto">
          <a:xfrm>
            <a:off x="755650" y="21574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23</a:t>
            </a:r>
          </a:p>
        </p:txBody>
      </p:sp>
      <p:sp>
        <p:nvSpPr>
          <p:cNvPr id="40989" name="Text Box 45">
            <a:extLst>
              <a:ext uri="{FF2B5EF4-FFF2-40B4-BE49-F238E27FC236}">
                <a16:creationId xmlns:a16="http://schemas.microsoft.com/office/drawing/2014/main" id="{C641017C-2C02-4936-B980-01C31D569F8A}"/>
              </a:ext>
            </a:extLst>
          </p:cNvPr>
          <p:cNvSpPr txBox="1">
            <a:spLocks noChangeArrowheads="1"/>
          </p:cNvSpPr>
          <p:nvPr/>
        </p:nvSpPr>
        <p:spPr bwMode="auto">
          <a:xfrm>
            <a:off x="1406525" y="45926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40990" name="Text Box 46">
            <a:extLst>
              <a:ext uri="{FF2B5EF4-FFF2-40B4-BE49-F238E27FC236}">
                <a16:creationId xmlns:a16="http://schemas.microsoft.com/office/drawing/2014/main" id="{F2F3845A-2DDC-466C-8B2B-85F8B76607F3}"/>
              </a:ext>
            </a:extLst>
          </p:cNvPr>
          <p:cNvSpPr txBox="1">
            <a:spLocks noChangeArrowheads="1"/>
          </p:cNvSpPr>
          <p:nvPr/>
        </p:nvSpPr>
        <p:spPr bwMode="auto">
          <a:xfrm>
            <a:off x="1406525" y="48974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1</a:t>
            </a:r>
          </a:p>
        </p:txBody>
      </p:sp>
      <p:sp>
        <p:nvSpPr>
          <p:cNvPr id="40991" name="Text Box 47">
            <a:extLst>
              <a:ext uri="{FF2B5EF4-FFF2-40B4-BE49-F238E27FC236}">
                <a16:creationId xmlns:a16="http://schemas.microsoft.com/office/drawing/2014/main" id="{14E48667-175B-4638-9EB7-19BA093AA851}"/>
              </a:ext>
            </a:extLst>
          </p:cNvPr>
          <p:cNvSpPr txBox="1">
            <a:spLocks noChangeArrowheads="1"/>
          </p:cNvSpPr>
          <p:nvPr/>
        </p:nvSpPr>
        <p:spPr bwMode="auto">
          <a:xfrm>
            <a:off x="1406525" y="53292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2</a:t>
            </a:r>
          </a:p>
        </p:txBody>
      </p:sp>
      <p:sp>
        <p:nvSpPr>
          <p:cNvPr id="40992" name="Text Box 48">
            <a:extLst>
              <a:ext uri="{FF2B5EF4-FFF2-40B4-BE49-F238E27FC236}">
                <a16:creationId xmlns:a16="http://schemas.microsoft.com/office/drawing/2014/main" id="{EA1DAE52-937D-4774-A176-FA754F9B4B2E}"/>
              </a:ext>
            </a:extLst>
          </p:cNvPr>
          <p:cNvSpPr txBox="1">
            <a:spLocks noChangeArrowheads="1"/>
          </p:cNvSpPr>
          <p:nvPr/>
        </p:nvSpPr>
        <p:spPr bwMode="auto">
          <a:xfrm>
            <a:off x="1403350" y="6048375"/>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7</a:t>
            </a:r>
          </a:p>
        </p:txBody>
      </p:sp>
      <p:sp>
        <p:nvSpPr>
          <p:cNvPr id="40993" name="Text Box 49">
            <a:extLst>
              <a:ext uri="{FF2B5EF4-FFF2-40B4-BE49-F238E27FC236}">
                <a16:creationId xmlns:a16="http://schemas.microsoft.com/office/drawing/2014/main" id="{3CE4C05F-5381-4170-AD61-A597163AACF5}"/>
              </a:ext>
            </a:extLst>
          </p:cNvPr>
          <p:cNvSpPr txBox="1">
            <a:spLocks noChangeArrowheads="1"/>
          </p:cNvSpPr>
          <p:nvPr/>
        </p:nvSpPr>
        <p:spPr bwMode="auto">
          <a:xfrm>
            <a:off x="395288" y="5186363"/>
            <a:ext cx="1109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a:latin typeface="楷体_GB2312" pitchFamily="49" charset="-122"/>
              </a:rPr>
              <a:t>Cache</a:t>
            </a:r>
            <a:r>
              <a:rPr lang="zh-CN" altLang="en-US" sz="1600">
                <a:latin typeface="楷体_GB2312" pitchFamily="49" charset="-122"/>
              </a:rPr>
              <a:t>数据</a:t>
            </a:r>
          </a:p>
        </p:txBody>
      </p:sp>
      <p:sp>
        <p:nvSpPr>
          <p:cNvPr id="40994" name="Text Box 60">
            <a:extLst>
              <a:ext uri="{FF2B5EF4-FFF2-40B4-BE49-F238E27FC236}">
                <a16:creationId xmlns:a16="http://schemas.microsoft.com/office/drawing/2014/main" id="{3A620BF6-4E13-4398-AF54-C93625F413E2}"/>
              </a:ext>
            </a:extLst>
          </p:cNvPr>
          <p:cNvSpPr txBox="1">
            <a:spLocks noChangeArrowheads="1"/>
          </p:cNvSpPr>
          <p:nvPr/>
        </p:nvSpPr>
        <p:spPr bwMode="auto">
          <a:xfrm>
            <a:off x="1406525" y="29289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40995" name="Text Box 61">
            <a:extLst>
              <a:ext uri="{FF2B5EF4-FFF2-40B4-BE49-F238E27FC236}">
                <a16:creationId xmlns:a16="http://schemas.microsoft.com/office/drawing/2014/main" id="{6470A3DF-BB5B-4AF3-8413-92D9BB4C78A1}"/>
              </a:ext>
            </a:extLst>
          </p:cNvPr>
          <p:cNvSpPr txBox="1">
            <a:spLocks noChangeArrowheads="1"/>
          </p:cNvSpPr>
          <p:nvPr/>
        </p:nvSpPr>
        <p:spPr bwMode="auto">
          <a:xfrm>
            <a:off x="1406525" y="32146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1</a:t>
            </a:r>
          </a:p>
        </p:txBody>
      </p:sp>
      <p:sp>
        <p:nvSpPr>
          <p:cNvPr id="40996" name="Text Box 62">
            <a:extLst>
              <a:ext uri="{FF2B5EF4-FFF2-40B4-BE49-F238E27FC236}">
                <a16:creationId xmlns:a16="http://schemas.microsoft.com/office/drawing/2014/main" id="{3EF184A9-2555-4706-B682-22154EA69B06}"/>
              </a:ext>
            </a:extLst>
          </p:cNvPr>
          <p:cNvSpPr txBox="1">
            <a:spLocks noChangeArrowheads="1"/>
          </p:cNvSpPr>
          <p:nvPr/>
        </p:nvSpPr>
        <p:spPr bwMode="auto">
          <a:xfrm>
            <a:off x="1406525" y="4143375"/>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7</a:t>
            </a:r>
          </a:p>
        </p:txBody>
      </p:sp>
      <p:sp>
        <p:nvSpPr>
          <p:cNvPr id="40997" name="Text Box 63">
            <a:extLst>
              <a:ext uri="{FF2B5EF4-FFF2-40B4-BE49-F238E27FC236}">
                <a16:creationId xmlns:a16="http://schemas.microsoft.com/office/drawing/2014/main" id="{6C0C2EAE-569F-4A27-907A-B85D7F803306}"/>
              </a:ext>
            </a:extLst>
          </p:cNvPr>
          <p:cNvSpPr txBox="1">
            <a:spLocks noChangeArrowheads="1"/>
          </p:cNvSpPr>
          <p:nvPr/>
        </p:nvSpPr>
        <p:spPr bwMode="auto">
          <a:xfrm>
            <a:off x="4572000" y="2997200"/>
            <a:ext cx="1144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lang="en-US" altLang="zh-CN" sz="1600" b="1">
                <a:ea typeface="楷体_GB2312" pitchFamily="49" charset="-122"/>
              </a:rPr>
              <a:t>Cache</a:t>
            </a:r>
            <a:r>
              <a:rPr lang="zh-CN" altLang="en-US" sz="1600" b="1">
                <a:latin typeface="楷体_GB2312" pitchFamily="49" charset="-122"/>
                <a:ea typeface="楷体_GB2312" pitchFamily="49" charset="-122"/>
              </a:rPr>
              <a:t>目录</a:t>
            </a:r>
            <a:endParaRPr lang="en-US" altLang="zh-CN" sz="1600" b="1">
              <a:latin typeface="楷体_GB2312" pitchFamily="49" charset="-122"/>
              <a:ea typeface="楷体_GB2312" pitchFamily="49" charset="-122"/>
            </a:endParaRPr>
          </a:p>
          <a:p>
            <a:pPr eaLnBrk="1" hangingPunct="1"/>
            <a:r>
              <a:rPr lang="zh-CN" altLang="en-US" sz="1600" b="1">
                <a:latin typeface="楷体_GB2312" pitchFamily="49" charset="-122"/>
                <a:ea typeface="楷体_GB2312" pitchFamily="49" charset="-122"/>
              </a:rPr>
              <a:t> （</a:t>
            </a:r>
            <a:r>
              <a:rPr lang="en-US" altLang="zh-CN" sz="1600" b="1">
                <a:solidFill>
                  <a:srgbClr val="FF0000"/>
                </a:solidFill>
                <a:latin typeface="楷体_GB2312" pitchFamily="49" charset="-122"/>
                <a:ea typeface="楷体_GB2312" pitchFamily="49" charset="-122"/>
              </a:rPr>
              <a:t>CAM</a:t>
            </a:r>
            <a:r>
              <a:rPr lang="zh-CN" altLang="en-US" sz="1600" b="1">
                <a:latin typeface="楷体_GB2312" pitchFamily="49" charset="-122"/>
                <a:ea typeface="楷体_GB2312" pitchFamily="49" charset="-122"/>
              </a:rPr>
              <a:t>）</a:t>
            </a:r>
          </a:p>
        </p:txBody>
      </p:sp>
      <p:sp>
        <p:nvSpPr>
          <p:cNvPr id="40998" name="Line 64">
            <a:extLst>
              <a:ext uri="{FF2B5EF4-FFF2-40B4-BE49-F238E27FC236}">
                <a16:creationId xmlns:a16="http://schemas.microsoft.com/office/drawing/2014/main" id="{26A2BBD7-5A11-479B-95C6-6025473CB463}"/>
              </a:ext>
            </a:extLst>
          </p:cNvPr>
          <p:cNvSpPr>
            <a:spLocks noChangeShapeType="1"/>
          </p:cNvSpPr>
          <p:nvPr/>
        </p:nvSpPr>
        <p:spPr bwMode="auto">
          <a:xfrm flipH="1">
            <a:off x="4616450" y="2636838"/>
            <a:ext cx="2449513" cy="222726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0999" name="Line 65">
            <a:extLst>
              <a:ext uri="{FF2B5EF4-FFF2-40B4-BE49-F238E27FC236}">
                <a16:creationId xmlns:a16="http://schemas.microsoft.com/office/drawing/2014/main" id="{6953D68F-CC69-429F-A3FB-0CFF768950A6}"/>
              </a:ext>
            </a:extLst>
          </p:cNvPr>
          <p:cNvSpPr>
            <a:spLocks noChangeShapeType="1"/>
          </p:cNvSpPr>
          <p:nvPr/>
        </p:nvSpPr>
        <p:spPr bwMode="auto">
          <a:xfrm flipH="1" flipV="1">
            <a:off x="4616450" y="4864100"/>
            <a:ext cx="2449513" cy="12541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1000" name="Line 66">
            <a:extLst>
              <a:ext uri="{FF2B5EF4-FFF2-40B4-BE49-F238E27FC236}">
                <a16:creationId xmlns:a16="http://schemas.microsoft.com/office/drawing/2014/main" id="{84D6D342-4AD8-448F-BF02-C65A6D6FCCFE}"/>
              </a:ext>
            </a:extLst>
          </p:cNvPr>
          <p:cNvSpPr>
            <a:spLocks noChangeShapeType="1"/>
          </p:cNvSpPr>
          <p:nvPr/>
        </p:nvSpPr>
        <p:spPr bwMode="auto">
          <a:xfrm>
            <a:off x="4138613" y="2770188"/>
            <a:ext cx="0" cy="153987"/>
          </a:xfrm>
          <a:prstGeom prst="line">
            <a:avLst/>
          </a:prstGeom>
          <a:noFill/>
          <a:ln w="698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01" name="Line 67">
            <a:extLst>
              <a:ext uri="{FF2B5EF4-FFF2-40B4-BE49-F238E27FC236}">
                <a16:creationId xmlns:a16="http://schemas.microsoft.com/office/drawing/2014/main" id="{6016099D-BAB6-4202-8865-88C7319AAE82}"/>
              </a:ext>
            </a:extLst>
          </p:cNvPr>
          <p:cNvSpPr>
            <a:spLocks noChangeShapeType="1"/>
          </p:cNvSpPr>
          <p:nvPr/>
        </p:nvSpPr>
        <p:spPr bwMode="auto">
          <a:xfrm flipH="1">
            <a:off x="250825" y="2924175"/>
            <a:ext cx="3887788" cy="0"/>
          </a:xfrm>
          <a:prstGeom prst="line">
            <a:avLst/>
          </a:prstGeom>
          <a:noFill/>
          <a:ln w="698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02" name="Line 68">
            <a:extLst>
              <a:ext uri="{FF2B5EF4-FFF2-40B4-BE49-F238E27FC236}">
                <a16:creationId xmlns:a16="http://schemas.microsoft.com/office/drawing/2014/main" id="{25792DFF-74C7-4C72-A070-A3669E0C523F}"/>
              </a:ext>
            </a:extLst>
          </p:cNvPr>
          <p:cNvSpPr>
            <a:spLocks noChangeShapeType="1"/>
          </p:cNvSpPr>
          <p:nvPr/>
        </p:nvSpPr>
        <p:spPr bwMode="auto">
          <a:xfrm>
            <a:off x="250825" y="2924175"/>
            <a:ext cx="0" cy="866775"/>
          </a:xfrm>
          <a:prstGeom prst="line">
            <a:avLst/>
          </a:prstGeom>
          <a:noFill/>
          <a:ln w="698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03" name="Line 69">
            <a:extLst>
              <a:ext uri="{FF2B5EF4-FFF2-40B4-BE49-F238E27FC236}">
                <a16:creationId xmlns:a16="http://schemas.microsoft.com/office/drawing/2014/main" id="{EC0DBB5C-A68C-4E3A-B1C6-7F6AB0462183}"/>
              </a:ext>
            </a:extLst>
          </p:cNvPr>
          <p:cNvSpPr>
            <a:spLocks noChangeShapeType="1"/>
          </p:cNvSpPr>
          <p:nvPr/>
        </p:nvSpPr>
        <p:spPr bwMode="auto">
          <a:xfrm>
            <a:off x="611188" y="3214688"/>
            <a:ext cx="390525" cy="0"/>
          </a:xfrm>
          <a:prstGeom prst="line">
            <a:avLst/>
          </a:prstGeom>
          <a:noFill/>
          <a:ln w="6985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004" name="Line 70">
            <a:extLst>
              <a:ext uri="{FF2B5EF4-FFF2-40B4-BE49-F238E27FC236}">
                <a16:creationId xmlns:a16="http://schemas.microsoft.com/office/drawing/2014/main" id="{C0FAC0B5-B4B5-4FD4-A25C-5AE8B4B11E1F}"/>
              </a:ext>
            </a:extLst>
          </p:cNvPr>
          <p:cNvSpPr>
            <a:spLocks noChangeShapeType="1"/>
          </p:cNvSpPr>
          <p:nvPr/>
        </p:nvSpPr>
        <p:spPr bwMode="auto">
          <a:xfrm flipH="1">
            <a:off x="4616450" y="2924175"/>
            <a:ext cx="2449513" cy="19399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3837" name="Text Box 71">
            <a:extLst>
              <a:ext uri="{FF2B5EF4-FFF2-40B4-BE49-F238E27FC236}">
                <a16:creationId xmlns:a16="http://schemas.microsoft.com/office/drawing/2014/main" id="{653B1C37-67F3-4C23-9299-389A3B03558C}"/>
              </a:ext>
            </a:extLst>
          </p:cNvPr>
          <p:cNvSpPr txBox="1">
            <a:spLocks noChangeArrowheads="1"/>
          </p:cNvSpPr>
          <p:nvPr/>
        </p:nvSpPr>
        <p:spPr bwMode="auto">
          <a:xfrm>
            <a:off x="7624763" y="1628775"/>
            <a:ext cx="803275" cy="461963"/>
          </a:xfrm>
          <a:prstGeom prst="rect">
            <a:avLst/>
          </a:prstGeom>
          <a:noFill/>
          <a:ln w="69850" algn="ctr">
            <a:noFill/>
            <a:miter lim="800000"/>
            <a:headEnd/>
            <a:tailEnd/>
          </a:ln>
        </p:spPr>
        <p:txBody>
          <a:bodyPr wrap="none">
            <a:spAutoFit/>
          </a:bodyPr>
          <a:lstStyle/>
          <a:p>
            <a:pPr eaLnBrk="1" hangingPunct="1">
              <a:defRPr/>
            </a:pPr>
            <a:r>
              <a:rPr lang="zh-CN" altLang="en-US" sz="2400" b="1" dirty="0">
                <a:latin typeface="+mn-ea"/>
                <a:ea typeface="+mn-ea"/>
              </a:rPr>
              <a:t>主存</a:t>
            </a:r>
          </a:p>
        </p:txBody>
      </p:sp>
      <p:sp>
        <p:nvSpPr>
          <p:cNvPr id="41006" name="Line 78">
            <a:extLst>
              <a:ext uri="{FF2B5EF4-FFF2-40B4-BE49-F238E27FC236}">
                <a16:creationId xmlns:a16="http://schemas.microsoft.com/office/drawing/2014/main" id="{6AAEFA4A-3F5B-4D5F-858E-BCE35853C255}"/>
              </a:ext>
            </a:extLst>
          </p:cNvPr>
          <p:cNvSpPr>
            <a:spLocks noChangeShapeType="1"/>
          </p:cNvSpPr>
          <p:nvPr/>
        </p:nvSpPr>
        <p:spPr bwMode="auto">
          <a:xfrm>
            <a:off x="611188" y="3500438"/>
            <a:ext cx="390525" cy="0"/>
          </a:xfrm>
          <a:prstGeom prst="line">
            <a:avLst/>
          </a:prstGeom>
          <a:noFill/>
          <a:ln w="6985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007" name="Line 79">
            <a:extLst>
              <a:ext uri="{FF2B5EF4-FFF2-40B4-BE49-F238E27FC236}">
                <a16:creationId xmlns:a16="http://schemas.microsoft.com/office/drawing/2014/main" id="{16F1117B-9FC2-4F7E-B3E4-E517BAA91664}"/>
              </a:ext>
            </a:extLst>
          </p:cNvPr>
          <p:cNvSpPr>
            <a:spLocks noChangeShapeType="1"/>
          </p:cNvSpPr>
          <p:nvPr/>
        </p:nvSpPr>
        <p:spPr bwMode="auto">
          <a:xfrm>
            <a:off x="611188" y="3790950"/>
            <a:ext cx="390525" cy="0"/>
          </a:xfrm>
          <a:prstGeom prst="line">
            <a:avLst/>
          </a:prstGeom>
          <a:noFill/>
          <a:ln w="6985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008" name="Line 80">
            <a:extLst>
              <a:ext uri="{FF2B5EF4-FFF2-40B4-BE49-F238E27FC236}">
                <a16:creationId xmlns:a16="http://schemas.microsoft.com/office/drawing/2014/main" id="{6F21E04C-13B7-4099-98F7-B519DB162111}"/>
              </a:ext>
            </a:extLst>
          </p:cNvPr>
          <p:cNvSpPr>
            <a:spLocks noChangeShapeType="1"/>
          </p:cNvSpPr>
          <p:nvPr/>
        </p:nvSpPr>
        <p:spPr bwMode="auto">
          <a:xfrm>
            <a:off x="611188" y="4076700"/>
            <a:ext cx="390525" cy="0"/>
          </a:xfrm>
          <a:prstGeom prst="line">
            <a:avLst/>
          </a:prstGeom>
          <a:noFill/>
          <a:ln w="6985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009" name="Line 83">
            <a:extLst>
              <a:ext uri="{FF2B5EF4-FFF2-40B4-BE49-F238E27FC236}">
                <a16:creationId xmlns:a16="http://schemas.microsoft.com/office/drawing/2014/main" id="{D312A46D-9996-4F08-BC8A-F18409676519}"/>
              </a:ext>
            </a:extLst>
          </p:cNvPr>
          <p:cNvSpPr>
            <a:spLocks noChangeShapeType="1"/>
          </p:cNvSpPr>
          <p:nvPr/>
        </p:nvSpPr>
        <p:spPr bwMode="auto">
          <a:xfrm>
            <a:off x="611188" y="4437063"/>
            <a:ext cx="390525" cy="0"/>
          </a:xfrm>
          <a:prstGeom prst="line">
            <a:avLst/>
          </a:prstGeom>
          <a:noFill/>
          <a:ln w="6985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41010" name="Text Box 84">
            <a:extLst>
              <a:ext uri="{FF2B5EF4-FFF2-40B4-BE49-F238E27FC236}">
                <a16:creationId xmlns:a16="http://schemas.microsoft.com/office/drawing/2014/main" id="{18682A21-31D3-4BCD-A4A8-21B7EA0EF491}"/>
              </a:ext>
            </a:extLst>
          </p:cNvPr>
          <p:cNvSpPr txBox="1">
            <a:spLocks noChangeArrowheads="1"/>
          </p:cNvSpPr>
          <p:nvPr/>
        </p:nvSpPr>
        <p:spPr bwMode="auto">
          <a:xfrm>
            <a:off x="965200" y="2997200"/>
            <a:ext cx="582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9850"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000">
                <a:solidFill>
                  <a:schemeClr val="tx2"/>
                </a:solidFill>
                <a:ea typeface="方正准圆简体" pitchFamily="2" charset="-122"/>
              </a:rPr>
              <a:t>=</a:t>
            </a:r>
            <a:r>
              <a:rPr lang="zh-CN" altLang="en-US" sz="2000">
                <a:solidFill>
                  <a:schemeClr val="tx2"/>
                </a:solidFill>
                <a:ea typeface="方正准圆简体" pitchFamily="2" charset="-122"/>
              </a:rPr>
              <a:t>？</a:t>
            </a:r>
          </a:p>
        </p:txBody>
      </p:sp>
      <p:sp>
        <p:nvSpPr>
          <p:cNvPr id="41011" name="Line 89">
            <a:extLst>
              <a:ext uri="{FF2B5EF4-FFF2-40B4-BE49-F238E27FC236}">
                <a16:creationId xmlns:a16="http://schemas.microsoft.com/office/drawing/2014/main" id="{12074ADF-7997-4B57-9E2D-3992CDE4B64B}"/>
              </a:ext>
            </a:extLst>
          </p:cNvPr>
          <p:cNvSpPr>
            <a:spLocks noChangeShapeType="1"/>
          </p:cNvSpPr>
          <p:nvPr/>
        </p:nvSpPr>
        <p:spPr bwMode="auto">
          <a:xfrm>
            <a:off x="611188" y="3214688"/>
            <a:ext cx="0" cy="1246187"/>
          </a:xfrm>
          <a:prstGeom prst="line">
            <a:avLst/>
          </a:prstGeom>
          <a:noFill/>
          <a:ln w="698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2" name="Line 90">
            <a:extLst>
              <a:ext uri="{FF2B5EF4-FFF2-40B4-BE49-F238E27FC236}">
                <a16:creationId xmlns:a16="http://schemas.microsoft.com/office/drawing/2014/main" id="{C244F5CF-9A93-4151-8B4F-94868FE86D97}"/>
              </a:ext>
            </a:extLst>
          </p:cNvPr>
          <p:cNvSpPr>
            <a:spLocks noChangeShapeType="1"/>
          </p:cNvSpPr>
          <p:nvPr/>
        </p:nvSpPr>
        <p:spPr bwMode="auto">
          <a:xfrm flipV="1">
            <a:off x="250825" y="3789363"/>
            <a:ext cx="360363" cy="1587"/>
          </a:xfrm>
          <a:prstGeom prst="line">
            <a:avLst/>
          </a:prstGeom>
          <a:noFill/>
          <a:ln w="698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3" name="Freeform 91">
            <a:extLst>
              <a:ext uri="{FF2B5EF4-FFF2-40B4-BE49-F238E27FC236}">
                <a16:creationId xmlns:a16="http://schemas.microsoft.com/office/drawing/2014/main" id="{5C67BF61-98AA-45CD-ABCC-92EA0CFE4A8D}"/>
              </a:ext>
            </a:extLst>
          </p:cNvPr>
          <p:cNvSpPr>
            <a:spLocks/>
          </p:cNvSpPr>
          <p:nvPr/>
        </p:nvSpPr>
        <p:spPr bwMode="auto">
          <a:xfrm>
            <a:off x="4859338" y="2781300"/>
            <a:ext cx="889000" cy="2016125"/>
          </a:xfrm>
          <a:custGeom>
            <a:avLst/>
            <a:gdLst>
              <a:gd name="T0" fmla="*/ 2147483646 w 560"/>
              <a:gd name="T1" fmla="*/ 0 h 1270"/>
              <a:gd name="T2" fmla="*/ 2147483646 w 560"/>
              <a:gd name="T3" fmla="*/ 2147483646 h 1270"/>
              <a:gd name="T4" fmla="*/ 2147483646 w 560"/>
              <a:gd name="T5" fmla="*/ 2147483646 h 1270"/>
              <a:gd name="T6" fmla="*/ 0 w 560"/>
              <a:gd name="T7" fmla="*/ 2147483646 h 1270"/>
              <a:gd name="T8" fmla="*/ 0 60000 65536"/>
              <a:gd name="T9" fmla="*/ 0 60000 65536"/>
              <a:gd name="T10" fmla="*/ 0 60000 65536"/>
              <a:gd name="T11" fmla="*/ 0 60000 65536"/>
              <a:gd name="T12" fmla="*/ 0 w 560"/>
              <a:gd name="T13" fmla="*/ 0 h 1270"/>
              <a:gd name="T14" fmla="*/ 560 w 560"/>
              <a:gd name="T15" fmla="*/ 1270 h 1270"/>
            </a:gdLst>
            <a:ahLst/>
            <a:cxnLst>
              <a:cxn ang="T8">
                <a:pos x="T0" y="T1"/>
              </a:cxn>
              <a:cxn ang="T9">
                <a:pos x="T2" y="T3"/>
              </a:cxn>
              <a:cxn ang="T10">
                <a:pos x="T4" y="T5"/>
              </a:cxn>
              <a:cxn ang="T11">
                <a:pos x="T6" y="T7"/>
              </a:cxn>
            </a:cxnLst>
            <a:rect l="T12" t="T13" r="T14" b="T15"/>
            <a:pathLst>
              <a:path w="560" h="1270">
                <a:moveTo>
                  <a:pt x="545" y="0"/>
                </a:moveTo>
                <a:cubicBezTo>
                  <a:pt x="552" y="68"/>
                  <a:pt x="560" y="136"/>
                  <a:pt x="545" y="272"/>
                </a:cubicBezTo>
                <a:cubicBezTo>
                  <a:pt x="530" y="408"/>
                  <a:pt x="545" y="650"/>
                  <a:pt x="454" y="816"/>
                </a:cubicBezTo>
                <a:cubicBezTo>
                  <a:pt x="363" y="982"/>
                  <a:pt x="76" y="1194"/>
                  <a:pt x="0" y="1270"/>
                </a:cubicBezTo>
              </a:path>
            </a:pathLst>
          </a:custGeom>
          <a:noFill/>
          <a:ln w="69850">
            <a:solidFill>
              <a:srgbClr val="9900CC"/>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014" name="Text Box 92">
            <a:extLst>
              <a:ext uri="{FF2B5EF4-FFF2-40B4-BE49-F238E27FC236}">
                <a16:creationId xmlns:a16="http://schemas.microsoft.com/office/drawing/2014/main" id="{F9EB02DC-29CC-4172-9E53-A527C7105319}"/>
              </a:ext>
            </a:extLst>
          </p:cNvPr>
          <p:cNvSpPr txBox="1">
            <a:spLocks noChangeArrowheads="1"/>
          </p:cNvSpPr>
          <p:nvPr/>
        </p:nvSpPr>
        <p:spPr bwMode="auto">
          <a:xfrm>
            <a:off x="965200" y="3284538"/>
            <a:ext cx="582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9850"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000">
                <a:solidFill>
                  <a:schemeClr val="tx2"/>
                </a:solidFill>
                <a:ea typeface="方正准圆简体" pitchFamily="2" charset="-122"/>
              </a:rPr>
              <a:t>=</a:t>
            </a:r>
            <a:r>
              <a:rPr lang="zh-CN" altLang="en-US" sz="2000">
                <a:solidFill>
                  <a:schemeClr val="tx2"/>
                </a:solidFill>
                <a:ea typeface="方正准圆简体" pitchFamily="2" charset="-122"/>
              </a:rPr>
              <a:t>？</a:t>
            </a:r>
          </a:p>
        </p:txBody>
      </p:sp>
      <p:sp>
        <p:nvSpPr>
          <p:cNvPr id="41015" name="Text Box 93">
            <a:extLst>
              <a:ext uri="{FF2B5EF4-FFF2-40B4-BE49-F238E27FC236}">
                <a16:creationId xmlns:a16="http://schemas.microsoft.com/office/drawing/2014/main" id="{9399023C-E8B6-439C-AEB6-BBB30A5FC1D0}"/>
              </a:ext>
            </a:extLst>
          </p:cNvPr>
          <p:cNvSpPr txBox="1">
            <a:spLocks noChangeArrowheads="1"/>
          </p:cNvSpPr>
          <p:nvPr/>
        </p:nvSpPr>
        <p:spPr bwMode="auto">
          <a:xfrm>
            <a:off x="965200" y="3573463"/>
            <a:ext cx="582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9850"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000">
                <a:solidFill>
                  <a:schemeClr val="tx2"/>
                </a:solidFill>
                <a:ea typeface="方正准圆简体" pitchFamily="2" charset="-122"/>
              </a:rPr>
              <a:t>=</a:t>
            </a:r>
            <a:r>
              <a:rPr lang="zh-CN" altLang="en-US" sz="2000">
                <a:solidFill>
                  <a:schemeClr val="tx2"/>
                </a:solidFill>
                <a:ea typeface="方正准圆简体" pitchFamily="2" charset="-122"/>
              </a:rPr>
              <a:t>？</a:t>
            </a:r>
          </a:p>
        </p:txBody>
      </p:sp>
      <p:sp>
        <p:nvSpPr>
          <p:cNvPr id="41016" name="Text Box 94">
            <a:extLst>
              <a:ext uri="{FF2B5EF4-FFF2-40B4-BE49-F238E27FC236}">
                <a16:creationId xmlns:a16="http://schemas.microsoft.com/office/drawing/2014/main" id="{6E9217E0-631E-409C-872D-923D92B1F267}"/>
              </a:ext>
            </a:extLst>
          </p:cNvPr>
          <p:cNvSpPr txBox="1">
            <a:spLocks noChangeArrowheads="1"/>
          </p:cNvSpPr>
          <p:nvPr/>
        </p:nvSpPr>
        <p:spPr bwMode="auto">
          <a:xfrm>
            <a:off x="971550" y="3895725"/>
            <a:ext cx="582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9850"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000">
                <a:solidFill>
                  <a:schemeClr val="tx2"/>
                </a:solidFill>
                <a:ea typeface="方正准圆简体" pitchFamily="2" charset="-122"/>
              </a:rPr>
              <a:t>=</a:t>
            </a:r>
            <a:r>
              <a:rPr lang="zh-CN" altLang="en-US" sz="2000">
                <a:solidFill>
                  <a:schemeClr val="tx2"/>
                </a:solidFill>
                <a:ea typeface="方正准圆简体" pitchFamily="2" charset="-122"/>
              </a:rPr>
              <a:t>？</a:t>
            </a:r>
          </a:p>
        </p:txBody>
      </p:sp>
      <p:sp>
        <p:nvSpPr>
          <p:cNvPr id="41017" name="Text Box 95">
            <a:extLst>
              <a:ext uri="{FF2B5EF4-FFF2-40B4-BE49-F238E27FC236}">
                <a16:creationId xmlns:a16="http://schemas.microsoft.com/office/drawing/2014/main" id="{1F517282-D241-4E3A-80CE-0EDABD07A2E4}"/>
              </a:ext>
            </a:extLst>
          </p:cNvPr>
          <p:cNvSpPr txBox="1">
            <a:spLocks noChangeArrowheads="1"/>
          </p:cNvSpPr>
          <p:nvPr/>
        </p:nvSpPr>
        <p:spPr bwMode="auto">
          <a:xfrm>
            <a:off x="965200" y="4221163"/>
            <a:ext cx="582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9850"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2000">
                <a:solidFill>
                  <a:schemeClr val="tx2"/>
                </a:solidFill>
                <a:ea typeface="方正准圆简体" pitchFamily="2" charset="-122"/>
              </a:rPr>
              <a:t>=</a:t>
            </a:r>
            <a:r>
              <a:rPr lang="zh-CN" altLang="en-US" sz="2000">
                <a:solidFill>
                  <a:schemeClr val="tx2"/>
                </a:solidFill>
                <a:ea typeface="方正准圆简体" pitchFamily="2" charset="-122"/>
              </a:rPr>
              <a:t>？</a:t>
            </a:r>
          </a:p>
        </p:txBody>
      </p:sp>
      <p:grpSp>
        <p:nvGrpSpPr>
          <p:cNvPr id="41018" name="Group 96">
            <a:extLst>
              <a:ext uri="{FF2B5EF4-FFF2-40B4-BE49-F238E27FC236}">
                <a16:creationId xmlns:a16="http://schemas.microsoft.com/office/drawing/2014/main" id="{0AFD1462-C023-4F77-AA18-A261818F135C}"/>
              </a:ext>
            </a:extLst>
          </p:cNvPr>
          <p:cNvGrpSpPr>
            <a:grpSpLocks/>
          </p:cNvGrpSpPr>
          <p:nvPr/>
        </p:nvGrpSpPr>
        <p:grpSpPr bwMode="auto">
          <a:xfrm>
            <a:off x="1692275" y="4652963"/>
            <a:ext cx="2940050" cy="1677987"/>
            <a:chOff x="1056" y="2795"/>
            <a:chExt cx="1852" cy="1193"/>
          </a:xfrm>
        </p:grpSpPr>
        <p:grpSp>
          <p:nvGrpSpPr>
            <p:cNvPr id="41037" name="Group 97">
              <a:extLst>
                <a:ext uri="{FF2B5EF4-FFF2-40B4-BE49-F238E27FC236}">
                  <a16:creationId xmlns:a16="http://schemas.microsoft.com/office/drawing/2014/main" id="{B676AF3D-1C1B-4C53-91D4-28BA2AA8C2B5}"/>
                </a:ext>
              </a:extLst>
            </p:cNvPr>
            <p:cNvGrpSpPr>
              <a:grpSpLocks/>
            </p:cNvGrpSpPr>
            <p:nvPr/>
          </p:nvGrpSpPr>
          <p:grpSpPr bwMode="auto">
            <a:xfrm>
              <a:off x="1056" y="2795"/>
              <a:ext cx="1852" cy="240"/>
              <a:chOff x="1056" y="2911"/>
              <a:chExt cx="1852" cy="240"/>
            </a:xfrm>
          </p:grpSpPr>
          <p:sp>
            <p:nvSpPr>
              <p:cNvPr id="41050" name="Rectangle 98">
                <a:extLst>
                  <a:ext uri="{FF2B5EF4-FFF2-40B4-BE49-F238E27FC236}">
                    <a16:creationId xmlns:a16="http://schemas.microsoft.com/office/drawing/2014/main" id="{D8E74C29-2831-41D7-8BF9-460EBF856544}"/>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ea typeface="宋体" panose="02010600030101010101" pitchFamily="2" charset="-122"/>
                  </a:rPr>
                  <a:t>0</a:t>
                </a:r>
              </a:p>
            </p:txBody>
          </p:sp>
          <p:sp>
            <p:nvSpPr>
              <p:cNvPr id="41051" name="Rectangle 99">
                <a:extLst>
                  <a:ext uri="{FF2B5EF4-FFF2-40B4-BE49-F238E27FC236}">
                    <a16:creationId xmlns:a16="http://schemas.microsoft.com/office/drawing/2014/main" id="{0E1366F0-B2CD-4FCA-9661-F05E79FDB3F1}"/>
                  </a:ext>
                </a:extLst>
              </p:cNvPr>
              <p:cNvSpPr>
                <a:spLocks noChangeArrowheads="1"/>
              </p:cNvSpPr>
              <p:nvPr/>
            </p:nvSpPr>
            <p:spPr bwMode="auto">
              <a:xfrm>
                <a:off x="1519"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ea typeface="宋体" panose="02010600030101010101" pitchFamily="2" charset="-122"/>
                  </a:rPr>
                  <a:t>字节</a:t>
                </a:r>
                <a:r>
                  <a:rPr kumimoji="0" lang="en-US" altLang="zh-CN" sz="1800" b="0">
                    <a:solidFill>
                      <a:schemeClr val="bg1"/>
                    </a:solidFill>
                    <a:ea typeface="宋体" panose="02010600030101010101" pitchFamily="2" charset="-122"/>
                  </a:rPr>
                  <a:t>1</a:t>
                </a:r>
              </a:p>
            </p:txBody>
          </p:sp>
          <p:sp>
            <p:nvSpPr>
              <p:cNvPr id="41052" name="Rectangle 100">
                <a:extLst>
                  <a:ext uri="{FF2B5EF4-FFF2-40B4-BE49-F238E27FC236}">
                    <a16:creationId xmlns:a16="http://schemas.microsoft.com/office/drawing/2014/main" id="{FD79F4F8-8CC8-4CE0-B616-C18242AC2DDE}"/>
                  </a:ext>
                </a:extLst>
              </p:cNvPr>
              <p:cNvSpPr>
                <a:spLocks noChangeArrowheads="1"/>
              </p:cNvSpPr>
              <p:nvPr/>
            </p:nvSpPr>
            <p:spPr bwMode="auto">
              <a:xfrm>
                <a:off x="1982"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en-US" altLang="zh-CN" sz="1800" b="0">
                  <a:solidFill>
                    <a:schemeClr val="bg1"/>
                  </a:solidFill>
                  <a:ea typeface="宋体" panose="02010600030101010101" pitchFamily="2" charset="-122"/>
                </a:endParaRPr>
              </a:p>
            </p:txBody>
          </p:sp>
          <p:sp>
            <p:nvSpPr>
              <p:cNvPr id="41053" name="Rectangle 101">
                <a:extLst>
                  <a:ext uri="{FF2B5EF4-FFF2-40B4-BE49-F238E27FC236}">
                    <a16:creationId xmlns:a16="http://schemas.microsoft.com/office/drawing/2014/main" id="{D779FAC9-3137-4E6C-9B9C-D58B21257AF8}"/>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ea typeface="宋体" panose="02010600030101010101" pitchFamily="2" charset="-122"/>
                  </a:rPr>
                  <a:t>31</a:t>
                </a:r>
              </a:p>
            </p:txBody>
          </p:sp>
        </p:grpSp>
        <p:grpSp>
          <p:nvGrpSpPr>
            <p:cNvPr id="41038" name="Group 102">
              <a:extLst>
                <a:ext uri="{FF2B5EF4-FFF2-40B4-BE49-F238E27FC236}">
                  <a16:creationId xmlns:a16="http://schemas.microsoft.com/office/drawing/2014/main" id="{BBBE3838-396F-4608-9355-697673038ACF}"/>
                </a:ext>
              </a:extLst>
            </p:cNvPr>
            <p:cNvGrpSpPr>
              <a:grpSpLocks/>
            </p:cNvGrpSpPr>
            <p:nvPr/>
          </p:nvGrpSpPr>
          <p:grpSpPr bwMode="auto">
            <a:xfrm>
              <a:off x="1056" y="3035"/>
              <a:ext cx="1852" cy="240"/>
              <a:chOff x="1056" y="2911"/>
              <a:chExt cx="1852" cy="240"/>
            </a:xfrm>
          </p:grpSpPr>
          <p:sp>
            <p:nvSpPr>
              <p:cNvPr id="41046" name="Rectangle 103">
                <a:extLst>
                  <a:ext uri="{FF2B5EF4-FFF2-40B4-BE49-F238E27FC236}">
                    <a16:creationId xmlns:a16="http://schemas.microsoft.com/office/drawing/2014/main" id="{7E64FDB3-F7E0-46F9-BB44-90D90B8A69C8}"/>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latin typeface="楷体_GB2312" pitchFamily="49" charset="-122"/>
                  </a:rPr>
                  <a:t>0</a:t>
                </a:r>
                <a:endParaRPr kumimoji="0" lang="en-US" altLang="zh-CN" sz="1800" b="0">
                  <a:solidFill>
                    <a:schemeClr val="bg1"/>
                  </a:solidFill>
                  <a:ea typeface="宋体" panose="02010600030101010101" pitchFamily="2" charset="-122"/>
                </a:endParaRPr>
              </a:p>
            </p:txBody>
          </p:sp>
          <p:sp>
            <p:nvSpPr>
              <p:cNvPr id="41047" name="Rectangle 104">
                <a:extLst>
                  <a:ext uri="{FF2B5EF4-FFF2-40B4-BE49-F238E27FC236}">
                    <a16:creationId xmlns:a16="http://schemas.microsoft.com/office/drawing/2014/main" id="{CE3FDE51-D3AD-4FB8-969F-0F2312BE6B3F}"/>
                  </a:ext>
                </a:extLst>
              </p:cNvPr>
              <p:cNvSpPr>
                <a:spLocks noChangeArrowheads="1"/>
              </p:cNvSpPr>
              <p:nvPr/>
            </p:nvSpPr>
            <p:spPr bwMode="auto">
              <a:xfrm>
                <a:off x="1519"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 typeface="Wingdings 2" panose="05020102010507070707" pitchFamily="18" charset="2"/>
                  <a:buNone/>
                </a:pPr>
                <a:r>
                  <a:rPr kumimoji="0" lang="zh-CN" altLang="en-US" sz="1800" b="0">
                    <a:solidFill>
                      <a:srgbClr val="FFFFFF"/>
                    </a:solidFill>
                    <a:ea typeface="宋体" panose="02010600030101010101" pitchFamily="2" charset="-122"/>
                  </a:rPr>
                  <a:t>字节</a:t>
                </a:r>
                <a:r>
                  <a:rPr kumimoji="0" lang="en-US" altLang="zh-CN" sz="1800" b="0">
                    <a:solidFill>
                      <a:srgbClr val="FFFFFF"/>
                    </a:solidFill>
                    <a:ea typeface="宋体" panose="02010600030101010101" pitchFamily="2" charset="-122"/>
                  </a:rPr>
                  <a:t>1</a:t>
                </a:r>
              </a:p>
            </p:txBody>
          </p:sp>
          <p:sp>
            <p:nvSpPr>
              <p:cNvPr id="41048" name="Rectangle 105">
                <a:extLst>
                  <a:ext uri="{FF2B5EF4-FFF2-40B4-BE49-F238E27FC236}">
                    <a16:creationId xmlns:a16="http://schemas.microsoft.com/office/drawing/2014/main" id="{2D828F81-26A2-44BD-A9EE-D55EF835627D}"/>
                  </a:ext>
                </a:extLst>
              </p:cNvPr>
              <p:cNvSpPr>
                <a:spLocks noChangeArrowheads="1"/>
              </p:cNvSpPr>
              <p:nvPr/>
            </p:nvSpPr>
            <p:spPr bwMode="auto">
              <a:xfrm>
                <a:off x="1982"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en-US" altLang="zh-CN" sz="1800" b="0">
                  <a:solidFill>
                    <a:schemeClr val="bg1"/>
                  </a:solidFill>
                  <a:ea typeface="宋体" panose="02010600030101010101" pitchFamily="2" charset="-122"/>
                </a:endParaRPr>
              </a:p>
            </p:txBody>
          </p:sp>
          <p:sp>
            <p:nvSpPr>
              <p:cNvPr id="41049" name="Rectangle 106">
                <a:extLst>
                  <a:ext uri="{FF2B5EF4-FFF2-40B4-BE49-F238E27FC236}">
                    <a16:creationId xmlns:a16="http://schemas.microsoft.com/office/drawing/2014/main" id="{2C4BBB13-5429-4275-B608-13C95000A908}"/>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latin typeface="楷体_GB2312" pitchFamily="49" charset="-122"/>
                  </a:rPr>
                  <a:t>31</a:t>
                </a:r>
                <a:endParaRPr kumimoji="0" lang="en-US" altLang="zh-CN" sz="1800" b="0">
                  <a:solidFill>
                    <a:schemeClr val="bg1"/>
                  </a:solidFill>
                  <a:ea typeface="宋体" panose="02010600030101010101" pitchFamily="2" charset="-122"/>
                </a:endParaRPr>
              </a:p>
            </p:txBody>
          </p:sp>
        </p:grpSp>
        <p:sp>
          <p:nvSpPr>
            <p:cNvPr id="41039" name="Rectangle 107">
              <a:extLst>
                <a:ext uri="{FF2B5EF4-FFF2-40B4-BE49-F238E27FC236}">
                  <a16:creationId xmlns:a16="http://schemas.microsoft.com/office/drawing/2014/main" id="{571531D5-D75E-4606-BE1D-6343DAFDF84F}"/>
                </a:ext>
              </a:extLst>
            </p:cNvPr>
            <p:cNvSpPr>
              <a:spLocks noChangeArrowheads="1"/>
            </p:cNvSpPr>
            <p:nvPr/>
          </p:nvSpPr>
          <p:spPr bwMode="auto">
            <a:xfrm>
              <a:off x="1057" y="3508"/>
              <a:ext cx="1851"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b="0">
                  <a:solidFill>
                    <a:schemeClr val="bg1"/>
                  </a:solidFill>
                  <a:ea typeface="方正准圆简体" pitchFamily="2" charset="-122"/>
                </a:rPr>
                <a:t>…</a:t>
              </a:r>
            </a:p>
            <a:p>
              <a:pPr algn="ctr">
                <a:spcBef>
                  <a:spcPct val="0"/>
                </a:spcBef>
                <a:buClrTx/>
                <a:buFontTx/>
                <a:buNone/>
              </a:pPr>
              <a:endParaRPr kumimoji="0" lang="en-US" altLang="zh-CN" sz="1800" b="0">
                <a:solidFill>
                  <a:schemeClr val="bg1"/>
                </a:solidFill>
                <a:ea typeface="宋体" panose="02010600030101010101" pitchFamily="2" charset="-122"/>
              </a:endParaRPr>
            </a:p>
          </p:txBody>
        </p:sp>
        <p:grpSp>
          <p:nvGrpSpPr>
            <p:cNvPr id="41040" name="Group 108">
              <a:extLst>
                <a:ext uri="{FF2B5EF4-FFF2-40B4-BE49-F238E27FC236}">
                  <a16:creationId xmlns:a16="http://schemas.microsoft.com/office/drawing/2014/main" id="{31589E56-43C2-4BC7-940A-12A41A1F9CD1}"/>
                </a:ext>
              </a:extLst>
            </p:cNvPr>
            <p:cNvGrpSpPr>
              <a:grpSpLocks/>
            </p:cNvGrpSpPr>
            <p:nvPr/>
          </p:nvGrpSpPr>
          <p:grpSpPr bwMode="auto">
            <a:xfrm>
              <a:off x="1056" y="3743"/>
              <a:ext cx="1852" cy="245"/>
              <a:chOff x="1056" y="2906"/>
              <a:chExt cx="1852" cy="245"/>
            </a:xfrm>
          </p:grpSpPr>
          <p:sp>
            <p:nvSpPr>
              <p:cNvPr id="41042" name="Rectangle 109">
                <a:extLst>
                  <a:ext uri="{FF2B5EF4-FFF2-40B4-BE49-F238E27FC236}">
                    <a16:creationId xmlns:a16="http://schemas.microsoft.com/office/drawing/2014/main" id="{206F89C4-D43A-4BC9-9636-1E854B26EEAA}"/>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sp>
            <p:nvSpPr>
              <p:cNvPr id="41043" name="Rectangle 110">
                <a:extLst>
                  <a:ext uri="{FF2B5EF4-FFF2-40B4-BE49-F238E27FC236}">
                    <a16:creationId xmlns:a16="http://schemas.microsoft.com/office/drawing/2014/main" id="{AE626949-2DFD-4FCC-ABEA-E3E6DFE0C9EA}"/>
                  </a:ext>
                </a:extLst>
              </p:cNvPr>
              <p:cNvSpPr>
                <a:spLocks noChangeArrowheads="1"/>
              </p:cNvSpPr>
              <p:nvPr/>
            </p:nvSpPr>
            <p:spPr bwMode="auto">
              <a:xfrm>
                <a:off x="1982" y="2906"/>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sp>
            <p:nvSpPr>
              <p:cNvPr id="41044" name="Rectangle 111">
                <a:extLst>
                  <a:ext uri="{FF2B5EF4-FFF2-40B4-BE49-F238E27FC236}">
                    <a16:creationId xmlns:a16="http://schemas.microsoft.com/office/drawing/2014/main" id="{64ACAB5F-C7EA-40AB-9D93-D26190725F1D}"/>
                  </a:ext>
                </a:extLst>
              </p:cNvPr>
              <p:cNvSpPr>
                <a:spLocks noChangeArrowheads="1"/>
              </p:cNvSpPr>
              <p:nvPr/>
            </p:nvSpPr>
            <p:spPr bwMode="auto">
              <a:xfrm>
                <a:off x="1519" y="2906"/>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sp>
            <p:nvSpPr>
              <p:cNvPr id="41045" name="Rectangle 112">
                <a:extLst>
                  <a:ext uri="{FF2B5EF4-FFF2-40B4-BE49-F238E27FC236}">
                    <a16:creationId xmlns:a16="http://schemas.microsoft.com/office/drawing/2014/main" id="{ADD1AC35-9CE0-43C5-9E03-76F394EEA215}"/>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grpSp>
        <p:sp>
          <p:nvSpPr>
            <p:cNvPr id="41041" name="Rectangle 113">
              <a:extLst>
                <a:ext uri="{FF2B5EF4-FFF2-40B4-BE49-F238E27FC236}">
                  <a16:creationId xmlns:a16="http://schemas.microsoft.com/office/drawing/2014/main" id="{7EBB778C-08BE-4478-ABC2-B00BE23D00D8}"/>
                </a:ext>
              </a:extLst>
            </p:cNvPr>
            <p:cNvSpPr>
              <a:spLocks noChangeArrowheads="1"/>
            </p:cNvSpPr>
            <p:nvPr/>
          </p:nvSpPr>
          <p:spPr bwMode="auto">
            <a:xfrm>
              <a:off x="1057" y="3275"/>
              <a:ext cx="1851"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b="0">
                  <a:solidFill>
                    <a:schemeClr val="bg1"/>
                  </a:solidFill>
                  <a:ea typeface="方正准圆简体" pitchFamily="2" charset="-122"/>
                </a:rPr>
                <a:t>…</a:t>
              </a:r>
            </a:p>
            <a:p>
              <a:pPr algn="ctr">
                <a:spcBef>
                  <a:spcPct val="0"/>
                </a:spcBef>
                <a:buClrTx/>
                <a:buFontTx/>
                <a:buNone/>
              </a:pPr>
              <a:endParaRPr kumimoji="0" lang="en-US" altLang="zh-CN" sz="1800" b="0">
                <a:solidFill>
                  <a:schemeClr val="bg1"/>
                </a:solidFill>
                <a:ea typeface="宋体" panose="02010600030101010101" pitchFamily="2" charset="-122"/>
              </a:endParaRPr>
            </a:p>
          </p:txBody>
        </p:sp>
      </p:grpSp>
      <p:sp>
        <p:nvSpPr>
          <p:cNvPr id="41019" name="Rectangle 114">
            <a:extLst>
              <a:ext uri="{FF2B5EF4-FFF2-40B4-BE49-F238E27FC236}">
                <a16:creationId xmlns:a16="http://schemas.microsoft.com/office/drawing/2014/main" id="{18C5EA35-9BC1-4F78-AC09-DDCA2E3762D5}"/>
              </a:ext>
            </a:extLst>
          </p:cNvPr>
          <p:cNvSpPr>
            <a:spLocks noChangeArrowheads="1"/>
          </p:cNvSpPr>
          <p:nvPr/>
        </p:nvSpPr>
        <p:spPr bwMode="auto">
          <a:xfrm>
            <a:off x="2138363" y="3068638"/>
            <a:ext cx="2493962" cy="288925"/>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1</a:t>
            </a:r>
          </a:p>
        </p:txBody>
      </p:sp>
      <p:sp>
        <p:nvSpPr>
          <p:cNvPr id="41020" name="Rectangle 115">
            <a:extLst>
              <a:ext uri="{FF2B5EF4-FFF2-40B4-BE49-F238E27FC236}">
                <a16:creationId xmlns:a16="http://schemas.microsoft.com/office/drawing/2014/main" id="{CC95515D-879B-4CBB-B4B2-C6E0962EDCB1}"/>
              </a:ext>
            </a:extLst>
          </p:cNvPr>
          <p:cNvSpPr>
            <a:spLocks noChangeArrowheads="1"/>
          </p:cNvSpPr>
          <p:nvPr/>
        </p:nvSpPr>
        <p:spPr bwMode="auto">
          <a:xfrm>
            <a:off x="1703388" y="3068638"/>
            <a:ext cx="433387" cy="576262"/>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1021" name="Rectangle 116">
            <a:extLst>
              <a:ext uri="{FF2B5EF4-FFF2-40B4-BE49-F238E27FC236}">
                <a16:creationId xmlns:a16="http://schemas.microsoft.com/office/drawing/2014/main" id="{905EB279-DFAA-48F8-B95F-59F5F4020EB1}"/>
              </a:ext>
            </a:extLst>
          </p:cNvPr>
          <p:cNvSpPr>
            <a:spLocks noChangeArrowheads="1"/>
          </p:cNvSpPr>
          <p:nvPr/>
        </p:nvSpPr>
        <p:spPr bwMode="auto">
          <a:xfrm>
            <a:off x="2138363" y="3357563"/>
            <a:ext cx="2493962" cy="287337"/>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2</a:t>
            </a:r>
          </a:p>
        </p:txBody>
      </p:sp>
      <p:sp>
        <p:nvSpPr>
          <p:cNvPr id="41022" name="Rectangle 117">
            <a:extLst>
              <a:ext uri="{FF2B5EF4-FFF2-40B4-BE49-F238E27FC236}">
                <a16:creationId xmlns:a16="http://schemas.microsoft.com/office/drawing/2014/main" id="{CB64B0EB-C480-4240-B401-01ABB53603EB}"/>
              </a:ext>
            </a:extLst>
          </p:cNvPr>
          <p:cNvSpPr>
            <a:spLocks noChangeArrowheads="1"/>
          </p:cNvSpPr>
          <p:nvPr/>
        </p:nvSpPr>
        <p:spPr bwMode="auto">
          <a:xfrm>
            <a:off x="1704975" y="3357563"/>
            <a:ext cx="433388" cy="576262"/>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1023" name="Rectangle 118">
            <a:extLst>
              <a:ext uri="{FF2B5EF4-FFF2-40B4-BE49-F238E27FC236}">
                <a16:creationId xmlns:a16="http://schemas.microsoft.com/office/drawing/2014/main" id="{AA3D1CE1-FCF3-4AB9-B7F3-D09B95E9BCC1}"/>
              </a:ext>
            </a:extLst>
          </p:cNvPr>
          <p:cNvSpPr>
            <a:spLocks noChangeArrowheads="1"/>
          </p:cNvSpPr>
          <p:nvPr/>
        </p:nvSpPr>
        <p:spPr bwMode="auto">
          <a:xfrm>
            <a:off x="2138363" y="3644900"/>
            <a:ext cx="2493962" cy="288925"/>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3</a:t>
            </a:r>
          </a:p>
        </p:txBody>
      </p:sp>
      <p:sp>
        <p:nvSpPr>
          <p:cNvPr id="41024" name="Rectangle 119">
            <a:extLst>
              <a:ext uri="{FF2B5EF4-FFF2-40B4-BE49-F238E27FC236}">
                <a16:creationId xmlns:a16="http://schemas.microsoft.com/office/drawing/2014/main" id="{A818F750-1F05-4FB2-AD13-30A6B584639D}"/>
              </a:ext>
            </a:extLst>
          </p:cNvPr>
          <p:cNvSpPr>
            <a:spLocks noChangeArrowheads="1"/>
          </p:cNvSpPr>
          <p:nvPr/>
        </p:nvSpPr>
        <p:spPr bwMode="auto">
          <a:xfrm>
            <a:off x="1704975" y="3644900"/>
            <a:ext cx="433388" cy="576263"/>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1025" name="Rectangle 120">
            <a:extLst>
              <a:ext uri="{FF2B5EF4-FFF2-40B4-BE49-F238E27FC236}">
                <a16:creationId xmlns:a16="http://schemas.microsoft.com/office/drawing/2014/main" id="{487E1A85-6CBA-452D-A076-62EDA61E4268}"/>
              </a:ext>
            </a:extLst>
          </p:cNvPr>
          <p:cNvSpPr>
            <a:spLocks noChangeArrowheads="1"/>
          </p:cNvSpPr>
          <p:nvPr/>
        </p:nvSpPr>
        <p:spPr bwMode="auto">
          <a:xfrm>
            <a:off x="2138363" y="3932238"/>
            <a:ext cx="2493962" cy="361950"/>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chemeClr val="bg1"/>
                </a:solidFill>
                <a:ea typeface="方正准圆简体" pitchFamily="2" charset="-122"/>
              </a:rPr>
              <a:t>……</a:t>
            </a:r>
          </a:p>
        </p:txBody>
      </p:sp>
      <p:sp>
        <p:nvSpPr>
          <p:cNvPr id="41026" name="Rectangle 121">
            <a:extLst>
              <a:ext uri="{FF2B5EF4-FFF2-40B4-BE49-F238E27FC236}">
                <a16:creationId xmlns:a16="http://schemas.microsoft.com/office/drawing/2014/main" id="{43CBFFE9-E17D-4F55-AF5E-5AD3B6FCDC36}"/>
              </a:ext>
            </a:extLst>
          </p:cNvPr>
          <p:cNvSpPr>
            <a:spLocks noChangeArrowheads="1"/>
          </p:cNvSpPr>
          <p:nvPr/>
        </p:nvSpPr>
        <p:spPr bwMode="auto">
          <a:xfrm>
            <a:off x="1704975" y="3932238"/>
            <a:ext cx="433388" cy="361950"/>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1027" name="Rectangle 122">
            <a:extLst>
              <a:ext uri="{FF2B5EF4-FFF2-40B4-BE49-F238E27FC236}">
                <a16:creationId xmlns:a16="http://schemas.microsoft.com/office/drawing/2014/main" id="{BB103A03-40F6-45A0-B8B6-9FFF963E5A8B}"/>
              </a:ext>
            </a:extLst>
          </p:cNvPr>
          <p:cNvSpPr>
            <a:spLocks noChangeArrowheads="1"/>
          </p:cNvSpPr>
          <p:nvPr/>
        </p:nvSpPr>
        <p:spPr bwMode="auto">
          <a:xfrm>
            <a:off x="2138363" y="4292600"/>
            <a:ext cx="2493962" cy="287338"/>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1028" name="Rectangle 123">
            <a:extLst>
              <a:ext uri="{FF2B5EF4-FFF2-40B4-BE49-F238E27FC236}">
                <a16:creationId xmlns:a16="http://schemas.microsoft.com/office/drawing/2014/main" id="{DED7AE05-F3D5-409C-99FF-CC7AD9077ECD}"/>
              </a:ext>
            </a:extLst>
          </p:cNvPr>
          <p:cNvSpPr>
            <a:spLocks noChangeArrowheads="1"/>
          </p:cNvSpPr>
          <p:nvPr/>
        </p:nvSpPr>
        <p:spPr bwMode="auto">
          <a:xfrm>
            <a:off x="1704975" y="4292600"/>
            <a:ext cx="433388" cy="287338"/>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1029" name="Line 2">
            <a:extLst>
              <a:ext uri="{FF2B5EF4-FFF2-40B4-BE49-F238E27FC236}">
                <a16:creationId xmlns:a16="http://schemas.microsoft.com/office/drawing/2014/main" id="{6D32A470-FD5A-45C9-8F18-61A484B56A45}"/>
              </a:ext>
            </a:extLst>
          </p:cNvPr>
          <p:cNvSpPr>
            <a:spLocks noChangeShapeType="1"/>
          </p:cNvSpPr>
          <p:nvPr/>
        </p:nvSpPr>
        <p:spPr bwMode="auto">
          <a:xfrm flipH="1">
            <a:off x="4632325" y="2325688"/>
            <a:ext cx="2433638" cy="290830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1030" name="Line 2">
            <a:extLst>
              <a:ext uri="{FF2B5EF4-FFF2-40B4-BE49-F238E27FC236}">
                <a16:creationId xmlns:a16="http://schemas.microsoft.com/office/drawing/2014/main" id="{9128BF60-0E45-4B1B-A81F-425E02BCAED6}"/>
              </a:ext>
            </a:extLst>
          </p:cNvPr>
          <p:cNvSpPr>
            <a:spLocks noChangeShapeType="1"/>
          </p:cNvSpPr>
          <p:nvPr/>
        </p:nvSpPr>
        <p:spPr bwMode="auto">
          <a:xfrm flipH="1">
            <a:off x="4632325" y="2325688"/>
            <a:ext cx="2433638" cy="31972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1031" name="Line 2">
            <a:extLst>
              <a:ext uri="{FF2B5EF4-FFF2-40B4-BE49-F238E27FC236}">
                <a16:creationId xmlns:a16="http://schemas.microsoft.com/office/drawing/2014/main" id="{E7CD5C45-6AC5-4FF4-B980-FF3F7A5DF81E}"/>
              </a:ext>
            </a:extLst>
          </p:cNvPr>
          <p:cNvSpPr>
            <a:spLocks noChangeShapeType="1"/>
          </p:cNvSpPr>
          <p:nvPr/>
        </p:nvSpPr>
        <p:spPr bwMode="auto">
          <a:xfrm flipH="1">
            <a:off x="4632325" y="2325688"/>
            <a:ext cx="2433638" cy="349885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1032" name="Line 2">
            <a:extLst>
              <a:ext uri="{FF2B5EF4-FFF2-40B4-BE49-F238E27FC236}">
                <a16:creationId xmlns:a16="http://schemas.microsoft.com/office/drawing/2014/main" id="{8162A73D-0805-4B47-96CB-BEAA7F51E4BB}"/>
              </a:ext>
            </a:extLst>
          </p:cNvPr>
          <p:cNvSpPr>
            <a:spLocks noChangeShapeType="1"/>
          </p:cNvSpPr>
          <p:nvPr/>
        </p:nvSpPr>
        <p:spPr bwMode="auto">
          <a:xfrm flipH="1">
            <a:off x="4632325" y="2325688"/>
            <a:ext cx="2433638" cy="389096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1033" name="Line 65">
            <a:extLst>
              <a:ext uri="{FF2B5EF4-FFF2-40B4-BE49-F238E27FC236}">
                <a16:creationId xmlns:a16="http://schemas.microsoft.com/office/drawing/2014/main" id="{DB113CC9-DA43-45FB-8F08-C5B20FDCEEE9}"/>
              </a:ext>
            </a:extLst>
          </p:cNvPr>
          <p:cNvSpPr>
            <a:spLocks noChangeShapeType="1"/>
          </p:cNvSpPr>
          <p:nvPr/>
        </p:nvSpPr>
        <p:spPr bwMode="auto">
          <a:xfrm flipH="1">
            <a:off x="4632325" y="6118225"/>
            <a:ext cx="2387600" cy="9842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1034" name="Text Box 61">
            <a:extLst>
              <a:ext uri="{FF2B5EF4-FFF2-40B4-BE49-F238E27FC236}">
                <a16:creationId xmlns:a16="http://schemas.microsoft.com/office/drawing/2014/main" id="{9D171A12-334E-4F66-8063-DF814FDD4D20}"/>
              </a:ext>
            </a:extLst>
          </p:cNvPr>
          <p:cNvSpPr txBox="1">
            <a:spLocks noChangeArrowheads="1"/>
          </p:cNvSpPr>
          <p:nvPr/>
        </p:nvSpPr>
        <p:spPr bwMode="auto">
          <a:xfrm>
            <a:off x="1403350" y="35242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2</a:t>
            </a:r>
          </a:p>
        </p:txBody>
      </p:sp>
      <p:sp>
        <p:nvSpPr>
          <p:cNvPr id="41035" name="Rectangle 104">
            <a:extLst>
              <a:ext uri="{FF2B5EF4-FFF2-40B4-BE49-F238E27FC236}">
                <a16:creationId xmlns:a16="http://schemas.microsoft.com/office/drawing/2014/main" id="{2A2CFA81-B5EB-4C0D-A2FA-66D84EB1028B}"/>
              </a:ext>
            </a:extLst>
          </p:cNvPr>
          <p:cNvSpPr>
            <a:spLocks noChangeArrowheads="1"/>
          </p:cNvSpPr>
          <p:nvPr/>
        </p:nvSpPr>
        <p:spPr bwMode="auto">
          <a:xfrm>
            <a:off x="3154363" y="4656138"/>
            <a:ext cx="735012" cy="33655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sp>
        <p:nvSpPr>
          <p:cNvPr id="41036" name="Rectangle 104">
            <a:extLst>
              <a:ext uri="{FF2B5EF4-FFF2-40B4-BE49-F238E27FC236}">
                <a16:creationId xmlns:a16="http://schemas.microsoft.com/office/drawing/2014/main" id="{D1263A54-9C8F-499F-A303-090C37899AE9}"/>
              </a:ext>
            </a:extLst>
          </p:cNvPr>
          <p:cNvSpPr>
            <a:spLocks noChangeArrowheads="1"/>
          </p:cNvSpPr>
          <p:nvPr/>
        </p:nvSpPr>
        <p:spPr bwMode="auto">
          <a:xfrm>
            <a:off x="3162300" y="4989513"/>
            <a:ext cx="735013" cy="338137"/>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spTree>
  </p:cSld>
  <p:clrMapOvr>
    <a:masterClrMapping/>
  </p:clrMapOvr>
  <p:transition spd="med">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CCD364-2DF7-446F-9672-D6C6D1362220}"/>
              </a:ext>
            </a:extLst>
          </p:cNvPr>
          <p:cNvSpPr>
            <a:spLocks noGrp="1"/>
          </p:cNvSpPr>
          <p:nvPr>
            <p:ph type="title"/>
          </p:nvPr>
        </p:nvSpPr>
        <p:spPr/>
        <p:txBody>
          <a:bodyPr/>
          <a:lstStyle/>
          <a:p>
            <a:pPr>
              <a:defRPr/>
            </a:pPr>
            <a:r>
              <a:rPr lang="en-US" altLang="zh-CN"/>
              <a:t>Cache</a:t>
            </a:r>
            <a:r>
              <a:rPr lang="zh-CN" altLang="en-US"/>
              <a:t>组织结构</a:t>
            </a:r>
          </a:p>
        </p:txBody>
      </p:sp>
      <p:sp>
        <p:nvSpPr>
          <p:cNvPr id="41987" name="内容占位符 2">
            <a:extLst>
              <a:ext uri="{FF2B5EF4-FFF2-40B4-BE49-F238E27FC236}">
                <a16:creationId xmlns:a16="http://schemas.microsoft.com/office/drawing/2014/main" id="{91DF1DED-B7B3-4625-B181-051068E4198C}"/>
              </a:ext>
            </a:extLst>
          </p:cNvPr>
          <p:cNvSpPr>
            <a:spLocks noGrp="1" noChangeArrowheads="1"/>
          </p:cNvSpPr>
          <p:nvPr>
            <p:ph idx="1"/>
          </p:nvPr>
        </p:nvSpPr>
        <p:spPr/>
        <p:txBody>
          <a:bodyPr/>
          <a:lstStyle/>
          <a:p>
            <a:r>
              <a:rPr lang="zh-CN" altLang="en-US" sz="2800"/>
              <a:t>主存地址的</a:t>
            </a:r>
            <a:r>
              <a:rPr lang="en-US" altLang="zh-CN" sz="2800"/>
              <a:t>tag</a:t>
            </a:r>
            <a:r>
              <a:rPr lang="zh-CN" altLang="en-US" sz="2800"/>
              <a:t>字段与</a:t>
            </a:r>
            <a:r>
              <a:rPr lang="en-US" altLang="zh-CN" sz="2800"/>
              <a:t>Cache</a:t>
            </a:r>
            <a:r>
              <a:rPr lang="zh-CN" altLang="en-US" sz="2800"/>
              <a:t>目录中匹配后，意味着找到了所在的行，然后用</a:t>
            </a:r>
            <a:r>
              <a:rPr lang="en-US" altLang="zh-CN" sz="2800"/>
              <a:t>offset</a:t>
            </a:r>
            <a:r>
              <a:rPr lang="zh-CN" altLang="en-US" sz="2800"/>
              <a:t>访问数据</a:t>
            </a:r>
            <a:endParaRPr lang="en-US" altLang="zh-CN" sz="2800"/>
          </a:p>
          <a:p>
            <a:r>
              <a:rPr lang="zh-CN" altLang="en-US" sz="2800"/>
              <a:t>从图中可看出称之为“行”的原因</a:t>
            </a:r>
          </a:p>
        </p:txBody>
      </p:sp>
      <p:sp>
        <p:nvSpPr>
          <p:cNvPr id="5" name="AutoShape 16">
            <a:extLst>
              <a:ext uri="{FF2B5EF4-FFF2-40B4-BE49-F238E27FC236}">
                <a16:creationId xmlns:a16="http://schemas.microsoft.com/office/drawing/2014/main" id="{E0933E2E-B048-44C2-B01B-196E6A935392}"/>
              </a:ext>
            </a:extLst>
          </p:cNvPr>
          <p:cNvSpPr>
            <a:spLocks/>
          </p:cNvSpPr>
          <p:nvPr/>
        </p:nvSpPr>
        <p:spPr bwMode="auto">
          <a:xfrm>
            <a:off x="2532063" y="2906713"/>
            <a:ext cx="228600" cy="2960687"/>
          </a:xfrm>
          <a:prstGeom prst="leftBrace">
            <a:avLst>
              <a:gd name="adj1" fmla="val 75000"/>
              <a:gd name="adj2" fmla="val 50000"/>
            </a:avLst>
          </a:prstGeom>
          <a:noFill/>
          <a:ln w="254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6" name="TextBox 56">
            <a:extLst>
              <a:ext uri="{FF2B5EF4-FFF2-40B4-BE49-F238E27FC236}">
                <a16:creationId xmlns:a16="http://schemas.microsoft.com/office/drawing/2014/main" id="{9092D025-30A4-4E6F-98E4-5FD221EAD148}"/>
              </a:ext>
            </a:extLst>
          </p:cNvPr>
          <p:cNvSpPr txBox="1"/>
          <p:nvPr/>
        </p:nvSpPr>
        <p:spPr>
          <a:xfrm>
            <a:off x="1711325" y="4186238"/>
            <a:ext cx="796925" cy="368300"/>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8 lines</a:t>
            </a:r>
          </a:p>
        </p:txBody>
      </p:sp>
      <p:cxnSp>
        <p:nvCxnSpPr>
          <p:cNvPr id="41991" name="Straight Connector 124">
            <a:extLst>
              <a:ext uri="{FF2B5EF4-FFF2-40B4-BE49-F238E27FC236}">
                <a16:creationId xmlns:a16="http://schemas.microsoft.com/office/drawing/2014/main" id="{312C37F3-8290-4AA4-9837-316D4EA5E973}"/>
              </a:ext>
            </a:extLst>
          </p:cNvPr>
          <p:cNvCxnSpPr>
            <a:cxnSpLocks noChangeShapeType="1"/>
          </p:cNvCxnSpPr>
          <p:nvPr/>
        </p:nvCxnSpPr>
        <p:spPr bwMode="auto">
          <a:xfrm>
            <a:off x="3265488" y="5097463"/>
            <a:ext cx="3124200" cy="7937"/>
          </a:xfrm>
          <a:prstGeom prst="line">
            <a:avLst/>
          </a:prstGeom>
          <a:noFill/>
          <a:ln w="76200" cap="rnd" algn="ctr">
            <a:solidFill>
              <a:srgbClr val="000000"/>
            </a:solidFill>
            <a:prstDash val="sysDot"/>
            <a:round/>
            <a:headEnd/>
            <a:tailEnd/>
          </a:ln>
          <a:extLst>
            <a:ext uri="{909E8E84-426E-40DD-AFC4-6F175D3DCCD1}">
              <a14:hiddenFill xmlns:a14="http://schemas.microsoft.com/office/drawing/2010/main">
                <a:noFill/>
              </a14:hiddenFill>
            </a:ext>
          </a:extLst>
        </p:spPr>
      </p:cxnSp>
      <p:sp>
        <p:nvSpPr>
          <p:cNvPr id="12" name="Rectangle 131">
            <a:extLst>
              <a:ext uri="{FF2B5EF4-FFF2-40B4-BE49-F238E27FC236}">
                <a16:creationId xmlns:a16="http://schemas.microsoft.com/office/drawing/2014/main" id="{05F68A49-F4D8-4602-BF1D-AC5B227B3082}"/>
              </a:ext>
            </a:extLst>
          </p:cNvPr>
          <p:cNvSpPr/>
          <p:nvPr/>
        </p:nvSpPr>
        <p:spPr bwMode="auto">
          <a:xfrm>
            <a:off x="2884488" y="4267200"/>
            <a:ext cx="38481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13" name="Rectangle 132">
            <a:extLst>
              <a:ext uri="{FF2B5EF4-FFF2-40B4-BE49-F238E27FC236}">
                <a16:creationId xmlns:a16="http://schemas.microsoft.com/office/drawing/2014/main" id="{83BF2E4F-9786-43C3-9F6F-CAC735ED1BA7}"/>
              </a:ext>
            </a:extLst>
          </p:cNvPr>
          <p:cNvSpPr/>
          <p:nvPr/>
        </p:nvSpPr>
        <p:spPr bwMode="auto">
          <a:xfrm>
            <a:off x="4382195" y="43822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14" name="Rectangle 133">
            <a:extLst>
              <a:ext uri="{FF2B5EF4-FFF2-40B4-BE49-F238E27FC236}">
                <a16:creationId xmlns:a16="http://schemas.microsoft.com/office/drawing/2014/main" id="{D514B6E3-69CD-4337-ADCD-C24176AE7D59}"/>
              </a:ext>
            </a:extLst>
          </p:cNvPr>
          <p:cNvSpPr/>
          <p:nvPr/>
        </p:nvSpPr>
        <p:spPr bwMode="auto">
          <a:xfrm>
            <a:off x="4654800" y="43822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15" name="Rectangle 134">
            <a:extLst>
              <a:ext uri="{FF2B5EF4-FFF2-40B4-BE49-F238E27FC236}">
                <a16:creationId xmlns:a16="http://schemas.microsoft.com/office/drawing/2014/main" id="{F6D31EFE-844F-42A3-8615-B7526C80E7A4}"/>
              </a:ext>
            </a:extLst>
          </p:cNvPr>
          <p:cNvSpPr/>
          <p:nvPr/>
        </p:nvSpPr>
        <p:spPr bwMode="auto">
          <a:xfrm>
            <a:off x="4915595" y="43822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16" name="Rectangle 135">
            <a:extLst>
              <a:ext uri="{FF2B5EF4-FFF2-40B4-BE49-F238E27FC236}">
                <a16:creationId xmlns:a16="http://schemas.microsoft.com/office/drawing/2014/main" id="{C3F31D9D-50B4-4290-81F9-4C76A060E7C7}"/>
              </a:ext>
            </a:extLst>
          </p:cNvPr>
          <p:cNvSpPr/>
          <p:nvPr/>
        </p:nvSpPr>
        <p:spPr bwMode="auto">
          <a:xfrm>
            <a:off x="6337640" y="43822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17" name="Rectangle 138">
            <a:extLst>
              <a:ext uri="{FF2B5EF4-FFF2-40B4-BE49-F238E27FC236}">
                <a16:creationId xmlns:a16="http://schemas.microsoft.com/office/drawing/2014/main" id="{7C2A1707-A89A-4D93-AA01-45219C4BBFBF}"/>
              </a:ext>
            </a:extLst>
          </p:cNvPr>
          <p:cNvSpPr/>
          <p:nvPr/>
        </p:nvSpPr>
        <p:spPr bwMode="auto">
          <a:xfrm>
            <a:off x="3479800" y="4381500"/>
            <a:ext cx="717550"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tag</a:t>
            </a:r>
          </a:p>
        </p:txBody>
      </p:sp>
      <p:sp>
        <p:nvSpPr>
          <p:cNvPr id="18" name="Rectangle 139">
            <a:extLst>
              <a:ext uri="{FF2B5EF4-FFF2-40B4-BE49-F238E27FC236}">
                <a16:creationId xmlns:a16="http://schemas.microsoft.com/office/drawing/2014/main" id="{E53FCC31-5190-42C0-84E9-02FEFD3DFC6B}"/>
              </a:ext>
            </a:extLst>
          </p:cNvPr>
          <p:cNvSpPr/>
          <p:nvPr/>
        </p:nvSpPr>
        <p:spPr bwMode="auto">
          <a:xfrm>
            <a:off x="3009900" y="4381500"/>
            <a:ext cx="273050"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19" name="Rectangle 140">
            <a:extLst>
              <a:ext uri="{FF2B5EF4-FFF2-40B4-BE49-F238E27FC236}">
                <a16:creationId xmlns:a16="http://schemas.microsoft.com/office/drawing/2014/main" id="{B3486F05-BED1-41D8-AD61-A2511A64C8FC}"/>
              </a:ext>
            </a:extLst>
          </p:cNvPr>
          <p:cNvSpPr/>
          <p:nvPr/>
        </p:nvSpPr>
        <p:spPr bwMode="auto">
          <a:xfrm>
            <a:off x="5188923" y="43822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20" name="Rectangle 141">
            <a:extLst>
              <a:ext uri="{FF2B5EF4-FFF2-40B4-BE49-F238E27FC236}">
                <a16:creationId xmlns:a16="http://schemas.microsoft.com/office/drawing/2014/main" id="{796299DB-DA65-4BF5-8A07-237E3F2C7253}"/>
              </a:ext>
            </a:extLst>
          </p:cNvPr>
          <p:cNvSpPr/>
          <p:nvPr/>
        </p:nvSpPr>
        <p:spPr bwMode="auto">
          <a:xfrm>
            <a:off x="6046440" y="43822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21" name="Rectangle 142">
            <a:extLst>
              <a:ext uri="{FF2B5EF4-FFF2-40B4-BE49-F238E27FC236}">
                <a16:creationId xmlns:a16="http://schemas.microsoft.com/office/drawing/2014/main" id="{FE0F5E6F-F5E9-4653-A4E9-45DA03F76783}"/>
              </a:ext>
            </a:extLst>
          </p:cNvPr>
          <p:cNvSpPr/>
          <p:nvPr/>
        </p:nvSpPr>
        <p:spPr bwMode="auto">
          <a:xfrm>
            <a:off x="5754518" y="43822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22" name="Rectangle 143">
            <a:extLst>
              <a:ext uri="{FF2B5EF4-FFF2-40B4-BE49-F238E27FC236}">
                <a16:creationId xmlns:a16="http://schemas.microsoft.com/office/drawing/2014/main" id="{AD62902E-B23C-42F7-8E50-EDF11A01468E}"/>
              </a:ext>
            </a:extLst>
          </p:cNvPr>
          <p:cNvSpPr/>
          <p:nvPr/>
        </p:nvSpPr>
        <p:spPr bwMode="auto">
          <a:xfrm>
            <a:off x="5462596" y="43822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23" name="Rectangle 146">
            <a:extLst>
              <a:ext uri="{FF2B5EF4-FFF2-40B4-BE49-F238E27FC236}">
                <a16:creationId xmlns:a16="http://schemas.microsoft.com/office/drawing/2014/main" id="{7EF2D8E7-AC2D-472B-8966-9AB695FBE19F}"/>
              </a:ext>
            </a:extLst>
          </p:cNvPr>
          <p:cNvSpPr/>
          <p:nvPr/>
        </p:nvSpPr>
        <p:spPr bwMode="auto">
          <a:xfrm>
            <a:off x="2884488" y="3581400"/>
            <a:ext cx="38481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24" name="Rectangle 147">
            <a:extLst>
              <a:ext uri="{FF2B5EF4-FFF2-40B4-BE49-F238E27FC236}">
                <a16:creationId xmlns:a16="http://schemas.microsoft.com/office/drawing/2014/main" id="{940CAF40-6A52-4993-9BF7-840B2D5AF13B}"/>
              </a:ext>
            </a:extLst>
          </p:cNvPr>
          <p:cNvSpPr/>
          <p:nvPr/>
        </p:nvSpPr>
        <p:spPr bwMode="auto">
          <a:xfrm>
            <a:off x="438219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25" name="Rectangle 148">
            <a:extLst>
              <a:ext uri="{FF2B5EF4-FFF2-40B4-BE49-F238E27FC236}">
                <a16:creationId xmlns:a16="http://schemas.microsoft.com/office/drawing/2014/main" id="{AB3DEE3F-FE8A-4F0E-A0F8-476C2A6CF1E0}"/>
              </a:ext>
            </a:extLst>
          </p:cNvPr>
          <p:cNvSpPr/>
          <p:nvPr/>
        </p:nvSpPr>
        <p:spPr bwMode="auto">
          <a:xfrm>
            <a:off x="465480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26" name="Rectangle 149">
            <a:extLst>
              <a:ext uri="{FF2B5EF4-FFF2-40B4-BE49-F238E27FC236}">
                <a16:creationId xmlns:a16="http://schemas.microsoft.com/office/drawing/2014/main" id="{47DEBA75-2E9D-4ABB-9431-B372B685BD7C}"/>
              </a:ext>
            </a:extLst>
          </p:cNvPr>
          <p:cNvSpPr/>
          <p:nvPr/>
        </p:nvSpPr>
        <p:spPr bwMode="auto">
          <a:xfrm>
            <a:off x="491559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27" name="Rectangle 150">
            <a:extLst>
              <a:ext uri="{FF2B5EF4-FFF2-40B4-BE49-F238E27FC236}">
                <a16:creationId xmlns:a16="http://schemas.microsoft.com/office/drawing/2014/main" id="{B5EE70C7-AB13-424A-A3C9-A88656B98521}"/>
              </a:ext>
            </a:extLst>
          </p:cNvPr>
          <p:cNvSpPr/>
          <p:nvPr/>
        </p:nvSpPr>
        <p:spPr bwMode="auto">
          <a:xfrm>
            <a:off x="6337640"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28" name="Rectangle 151">
            <a:extLst>
              <a:ext uri="{FF2B5EF4-FFF2-40B4-BE49-F238E27FC236}">
                <a16:creationId xmlns:a16="http://schemas.microsoft.com/office/drawing/2014/main" id="{50ED144E-94A5-499C-9C3D-B04626B2154E}"/>
              </a:ext>
            </a:extLst>
          </p:cNvPr>
          <p:cNvSpPr/>
          <p:nvPr/>
        </p:nvSpPr>
        <p:spPr bwMode="auto">
          <a:xfrm>
            <a:off x="3479800" y="3695700"/>
            <a:ext cx="717550"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tag</a:t>
            </a:r>
          </a:p>
        </p:txBody>
      </p:sp>
      <p:sp>
        <p:nvSpPr>
          <p:cNvPr id="29" name="Rectangle 152">
            <a:extLst>
              <a:ext uri="{FF2B5EF4-FFF2-40B4-BE49-F238E27FC236}">
                <a16:creationId xmlns:a16="http://schemas.microsoft.com/office/drawing/2014/main" id="{33802775-C253-45DA-8DCB-960FDBA2E87C}"/>
              </a:ext>
            </a:extLst>
          </p:cNvPr>
          <p:cNvSpPr/>
          <p:nvPr/>
        </p:nvSpPr>
        <p:spPr bwMode="auto">
          <a:xfrm>
            <a:off x="3009900" y="3695700"/>
            <a:ext cx="273050"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30" name="Rectangle 153">
            <a:extLst>
              <a:ext uri="{FF2B5EF4-FFF2-40B4-BE49-F238E27FC236}">
                <a16:creationId xmlns:a16="http://schemas.microsoft.com/office/drawing/2014/main" id="{12CC95B8-DEB7-4E2E-BF56-2BC05C8B0B98}"/>
              </a:ext>
            </a:extLst>
          </p:cNvPr>
          <p:cNvSpPr/>
          <p:nvPr/>
        </p:nvSpPr>
        <p:spPr bwMode="auto">
          <a:xfrm>
            <a:off x="518892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31" name="Rectangle 154">
            <a:extLst>
              <a:ext uri="{FF2B5EF4-FFF2-40B4-BE49-F238E27FC236}">
                <a16:creationId xmlns:a16="http://schemas.microsoft.com/office/drawing/2014/main" id="{33F57764-7026-494A-9F1B-F2BA755C756D}"/>
              </a:ext>
            </a:extLst>
          </p:cNvPr>
          <p:cNvSpPr/>
          <p:nvPr/>
        </p:nvSpPr>
        <p:spPr bwMode="auto">
          <a:xfrm>
            <a:off x="6046440"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32" name="Rectangle 155">
            <a:extLst>
              <a:ext uri="{FF2B5EF4-FFF2-40B4-BE49-F238E27FC236}">
                <a16:creationId xmlns:a16="http://schemas.microsoft.com/office/drawing/2014/main" id="{08D81541-F938-4DE1-AF49-97DE66A666C7}"/>
              </a:ext>
            </a:extLst>
          </p:cNvPr>
          <p:cNvSpPr/>
          <p:nvPr/>
        </p:nvSpPr>
        <p:spPr bwMode="auto">
          <a:xfrm>
            <a:off x="575451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33" name="Rectangle 156">
            <a:extLst>
              <a:ext uri="{FF2B5EF4-FFF2-40B4-BE49-F238E27FC236}">
                <a16:creationId xmlns:a16="http://schemas.microsoft.com/office/drawing/2014/main" id="{8F701056-7B41-4F62-BFCB-38C48E3C0252}"/>
              </a:ext>
            </a:extLst>
          </p:cNvPr>
          <p:cNvSpPr/>
          <p:nvPr/>
        </p:nvSpPr>
        <p:spPr bwMode="auto">
          <a:xfrm>
            <a:off x="546259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34" name="Rectangle 158">
            <a:extLst>
              <a:ext uri="{FF2B5EF4-FFF2-40B4-BE49-F238E27FC236}">
                <a16:creationId xmlns:a16="http://schemas.microsoft.com/office/drawing/2014/main" id="{853F03E8-9860-4D6C-BDB6-3961B12229F4}"/>
              </a:ext>
            </a:extLst>
          </p:cNvPr>
          <p:cNvSpPr/>
          <p:nvPr/>
        </p:nvSpPr>
        <p:spPr bwMode="auto">
          <a:xfrm>
            <a:off x="2884488" y="2895600"/>
            <a:ext cx="38481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normAutofit/>
          </a:bodyPr>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35" name="Rectangle 159">
            <a:extLst>
              <a:ext uri="{FF2B5EF4-FFF2-40B4-BE49-F238E27FC236}">
                <a16:creationId xmlns:a16="http://schemas.microsoft.com/office/drawing/2014/main" id="{B469DD68-95EF-4462-8004-A89E5154F0F8}"/>
              </a:ext>
            </a:extLst>
          </p:cNvPr>
          <p:cNvSpPr/>
          <p:nvPr/>
        </p:nvSpPr>
        <p:spPr bwMode="auto">
          <a:xfrm>
            <a:off x="4382195" y="3010604"/>
            <a:ext cx="272605" cy="304800"/>
          </a:xfrm>
          <a:prstGeom prst="rect">
            <a:avLst/>
          </a:prstGeom>
          <a:solidFill>
            <a:srgbClr val="9900CC"/>
          </a:solidFill>
          <a:ln w="28575" cap="flat" cmpd="sng" algn="ctr">
            <a:solidFill>
              <a:schemeClr val="accent3"/>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36" name="Rectangle 160">
            <a:extLst>
              <a:ext uri="{FF2B5EF4-FFF2-40B4-BE49-F238E27FC236}">
                <a16:creationId xmlns:a16="http://schemas.microsoft.com/office/drawing/2014/main" id="{E00C54EB-729D-4C11-862E-71DFFE0CF0E7}"/>
              </a:ext>
            </a:extLst>
          </p:cNvPr>
          <p:cNvSpPr/>
          <p:nvPr/>
        </p:nvSpPr>
        <p:spPr bwMode="auto">
          <a:xfrm>
            <a:off x="4654800" y="3010604"/>
            <a:ext cx="272605" cy="304800"/>
          </a:xfrm>
          <a:prstGeom prst="rect">
            <a:avLst/>
          </a:prstGeom>
          <a:solidFill>
            <a:srgbClr val="9900CC"/>
          </a:solidFill>
          <a:ln w="28575" cap="flat" cmpd="sng" algn="ctr">
            <a:solidFill>
              <a:schemeClr val="accent3"/>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37" name="Rectangle 161">
            <a:extLst>
              <a:ext uri="{FF2B5EF4-FFF2-40B4-BE49-F238E27FC236}">
                <a16:creationId xmlns:a16="http://schemas.microsoft.com/office/drawing/2014/main" id="{C5340387-91FF-4656-BF02-FA306042175F}"/>
              </a:ext>
            </a:extLst>
          </p:cNvPr>
          <p:cNvSpPr/>
          <p:nvPr/>
        </p:nvSpPr>
        <p:spPr bwMode="auto">
          <a:xfrm>
            <a:off x="4915595" y="3010604"/>
            <a:ext cx="272605" cy="304800"/>
          </a:xfrm>
          <a:prstGeom prst="rect">
            <a:avLst/>
          </a:prstGeom>
          <a:solidFill>
            <a:srgbClr val="9900CC"/>
          </a:solidFill>
          <a:ln w="28575" cap="flat" cmpd="sng" algn="ctr">
            <a:solidFill>
              <a:schemeClr val="accent3"/>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38" name="Rectangle 162">
            <a:extLst>
              <a:ext uri="{FF2B5EF4-FFF2-40B4-BE49-F238E27FC236}">
                <a16:creationId xmlns:a16="http://schemas.microsoft.com/office/drawing/2014/main" id="{FAD507D1-36A2-4571-BC60-E1283E5446D0}"/>
              </a:ext>
            </a:extLst>
          </p:cNvPr>
          <p:cNvSpPr/>
          <p:nvPr/>
        </p:nvSpPr>
        <p:spPr bwMode="auto">
          <a:xfrm>
            <a:off x="6337640" y="30106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39" name="Rectangle 163">
            <a:extLst>
              <a:ext uri="{FF2B5EF4-FFF2-40B4-BE49-F238E27FC236}">
                <a16:creationId xmlns:a16="http://schemas.microsoft.com/office/drawing/2014/main" id="{011FA77F-8D0A-4CE3-965D-05B15670A64E}"/>
              </a:ext>
            </a:extLst>
          </p:cNvPr>
          <p:cNvSpPr/>
          <p:nvPr/>
        </p:nvSpPr>
        <p:spPr bwMode="auto">
          <a:xfrm>
            <a:off x="3479800" y="3009900"/>
            <a:ext cx="717550"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tag</a:t>
            </a:r>
          </a:p>
        </p:txBody>
      </p:sp>
      <p:sp>
        <p:nvSpPr>
          <p:cNvPr id="40" name="Rectangle 164">
            <a:extLst>
              <a:ext uri="{FF2B5EF4-FFF2-40B4-BE49-F238E27FC236}">
                <a16:creationId xmlns:a16="http://schemas.microsoft.com/office/drawing/2014/main" id="{E224C335-7EEF-4290-80ED-8D8865D802DA}"/>
              </a:ext>
            </a:extLst>
          </p:cNvPr>
          <p:cNvSpPr/>
          <p:nvPr/>
        </p:nvSpPr>
        <p:spPr bwMode="auto">
          <a:xfrm>
            <a:off x="3009900" y="3009900"/>
            <a:ext cx="273050"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41" name="Rectangle 165">
            <a:extLst>
              <a:ext uri="{FF2B5EF4-FFF2-40B4-BE49-F238E27FC236}">
                <a16:creationId xmlns:a16="http://schemas.microsoft.com/office/drawing/2014/main" id="{3AEE0533-DC5F-4566-9C1F-BD59B8BC515A}"/>
              </a:ext>
            </a:extLst>
          </p:cNvPr>
          <p:cNvSpPr/>
          <p:nvPr/>
        </p:nvSpPr>
        <p:spPr bwMode="auto">
          <a:xfrm>
            <a:off x="5188923" y="3010604"/>
            <a:ext cx="272605" cy="304800"/>
          </a:xfrm>
          <a:prstGeom prst="rect">
            <a:avLst/>
          </a:prstGeom>
          <a:solidFill>
            <a:srgbClr val="9900CC"/>
          </a:solidFill>
          <a:ln w="28575" cap="flat" cmpd="sng" algn="ctr">
            <a:solidFill>
              <a:schemeClr val="accent3"/>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42" name="Rectangle 166">
            <a:extLst>
              <a:ext uri="{FF2B5EF4-FFF2-40B4-BE49-F238E27FC236}">
                <a16:creationId xmlns:a16="http://schemas.microsoft.com/office/drawing/2014/main" id="{5A78F686-63C6-4E85-B8FC-AFB60393C1FB}"/>
              </a:ext>
            </a:extLst>
          </p:cNvPr>
          <p:cNvSpPr/>
          <p:nvPr/>
        </p:nvSpPr>
        <p:spPr bwMode="auto">
          <a:xfrm>
            <a:off x="6046440" y="3010604"/>
            <a:ext cx="292644" cy="304800"/>
          </a:xfrm>
          <a:prstGeom prst="rect">
            <a:avLst/>
          </a:prstGeom>
          <a:solidFill>
            <a:srgbClr val="9900CC"/>
          </a:solidFill>
          <a:ln w="28575" cap="flat" cmpd="sng" algn="ctr">
            <a:solidFill>
              <a:schemeClr val="accent3"/>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43" name="Rectangle 167">
            <a:extLst>
              <a:ext uri="{FF2B5EF4-FFF2-40B4-BE49-F238E27FC236}">
                <a16:creationId xmlns:a16="http://schemas.microsoft.com/office/drawing/2014/main" id="{F716EBDB-DA0B-427B-831B-C69C328EC400}"/>
              </a:ext>
            </a:extLst>
          </p:cNvPr>
          <p:cNvSpPr/>
          <p:nvPr/>
        </p:nvSpPr>
        <p:spPr bwMode="auto">
          <a:xfrm>
            <a:off x="5754518" y="3010604"/>
            <a:ext cx="292644" cy="304800"/>
          </a:xfrm>
          <a:prstGeom prst="rect">
            <a:avLst/>
          </a:prstGeom>
          <a:solidFill>
            <a:srgbClr val="9900CC"/>
          </a:solidFill>
          <a:ln w="28575" cap="flat" cmpd="sng" algn="ctr">
            <a:solidFill>
              <a:schemeClr val="accent3"/>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44" name="Rectangle 168">
            <a:extLst>
              <a:ext uri="{FF2B5EF4-FFF2-40B4-BE49-F238E27FC236}">
                <a16:creationId xmlns:a16="http://schemas.microsoft.com/office/drawing/2014/main" id="{8A2A5D94-A145-439A-AB8F-1CB705EC5B25}"/>
              </a:ext>
            </a:extLst>
          </p:cNvPr>
          <p:cNvSpPr/>
          <p:nvPr/>
        </p:nvSpPr>
        <p:spPr bwMode="auto">
          <a:xfrm>
            <a:off x="5462596" y="3010604"/>
            <a:ext cx="292644" cy="304800"/>
          </a:xfrm>
          <a:prstGeom prst="rect">
            <a:avLst/>
          </a:prstGeom>
          <a:solidFill>
            <a:srgbClr val="9900CC"/>
          </a:solidFill>
          <a:ln w="28575" cap="flat" cmpd="sng" algn="ctr">
            <a:solidFill>
              <a:schemeClr val="accent3"/>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45" name="Rectangle 170">
            <a:extLst>
              <a:ext uri="{FF2B5EF4-FFF2-40B4-BE49-F238E27FC236}">
                <a16:creationId xmlns:a16="http://schemas.microsoft.com/office/drawing/2014/main" id="{9B912EFA-D91E-4818-9290-420725744551}"/>
              </a:ext>
            </a:extLst>
          </p:cNvPr>
          <p:cNvSpPr/>
          <p:nvPr/>
        </p:nvSpPr>
        <p:spPr bwMode="auto">
          <a:xfrm>
            <a:off x="2884488" y="5334000"/>
            <a:ext cx="3848100" cy="533400"/>
          </a:xfrm>
          <a:prstGeom prst="rect">
            <a:avLst/>
          </a:prstGeom>
          <a:solidFill>
            <a:srgbClr val="3333CC">
              <a:lumMod val="40000"/>
              <a:lumOff val="60000"/>
            </a:srgbClr>
          </a:solidFill>
          <a:ln w="28575" cap="flat" cmpd="sng" algn="ctr">
            <a:solidFill>
              <a:schemeClr val="bg1"/>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46" name="Rectangle 171">
            <a:extLst>
              <a:ext uri="{FF2B5EF4-FFF2-40B4-BE49-F238E27FC236}">
                <a16:creationId xmlns:a16="http://schemas.microsoft.com/office/drawing/2014/main" id="{BCD0F4DB-2158-45F6-9232-BF54821C8502}"/>
              </a:ext>
            </a:extLst>
          </p:cNvPr>
          <p:cNvSpPr/>
          <p:nvPr/>
        </p:nvSpPr>
        <p:spPr bwMode="auto">
          <a:xfrm>
            <a:off x="4382195" y="54490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47" name="Rectangle 172">
            <a:extLst>
              <a:ext uri="{FF2B5EF4-FFF2-40B4-BE49-F238E27FC236}">
                <a16:creationId xmlns:a16="http://schemas.microsoft.com/office/drawing/2014/main" id="{41862CDE-8B26-4993-8089-B7DBCD6BB4BC}"/>
              </a:ext>
            </a:extLst>
          </p:cNvPr>
          <p:cNvSpPr/>
          <p:nvPr/>
        </p:nvSpPr>
        <p:spPr bwMode="auto">
          <a:xfrm>
            <a:off x="4654800" y="54490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48" name="Rectangle 173">
            <a:extLst>
              <a:ext uri="{FF2B5EF4-FFF2-40B4-BE49-F238E27FC236}">
                <a16:creationId xmlns:a16="http://schemas.microsoft.com/office/drawing/2014/main" id="{25D06591-0E76-44E0-922F-703B6F88553A}"/>
              </a:ext>
            </a:extLst>
          </p:cNvPr>
          <p:cNvSpPr/>
          <p:nvPr/>
        </p:nvSpPr>
        <p:spPr bwMode="auto">
          <a:xfrm>
            <a:off x="4915595" y="54490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49" name="Rectangle 174">
            <a:extLst>
              <a:ext uri="{FF2B5EF4-FFF2-40B4-BE49-F238E27FC236}">
                <a16:creationId xmlns:a16="http://schemas.microsoft.com/office/drawing/2014/main" id="{BC373265-7232-4196-847D-DEBDA739022D}"/>
              </a:ext>
            </a:extLst>
          </p:cNvPr>
          <p:cNvSpPr/>
          <p:nvPr/>
        </p:nvSpPr>
        <p:spPr bwMode="auto">
          <a:xfrm>
            <a:off x="6337640" y="54490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50" name="Rectangle 175">
            <a:extLst>
              <a:ext uri="{FF2B5EF4-FFF2-40B4-BE49-F238E27FC236}">
                <a16:creationId xmlns:a16="http://schemas.microsoft.com/office/drawing/2014/main" id="{90F1817C-1EE2-4EC9-ACA9-83D99009865C}"/>
              </a:ext>
            </a:extLst>
          </p:cNvPr>
          <p:cNvSpPr/>
          <p:nvPr/>
        </p:nvSpPr>
        <p:spPr bwMode="auto">
          <a:xfrm>
            <a:off x="3479800" y="5448300"/>
            <a:ext cx="717550"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normAutofit fontScale="92500" lnSpcReduction="10000"/>
          </a:bodyPr>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tag</a:t>
            </a:r>
          </a:p>
        </p:txBody>
      </p:sp>
      <p:sp>
        <p:nvSpPr>
          <p:cNvPr id="51" name="Rectangle 176">
            <a:extLst>
              <a:ext uri="{FF2B5EF4-FFF2-40B4-BE49-F238E27FC236}">
                <a16:creationId xmlns:a16="http://schemas.microsoft.com/office/drawing/2014/main" id="{7EA32441-4D47-4805-B401-A5E49FDDF22F}"/>
              </a:ext>
            </a:extLst>
          </p:cNvPr>
          <p:cNvSpPr/>
          <p:nvPr/>
        </p:nvSpPr>
        <p:spPr bwMode="auto">
          <a:xfrm>
            <a:off x="3009900" y="5448300"/>
            <a:ext cx="273050"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52" name="Rectangle 177">
            <a:extLst>
              <a:ext uri="{FF2B5EF4-FFF2-40B4-BE49-F238E27FC236}">
                <a16:creationId xmlns:a16="http://schemas.microsoft.com/office/drawing/2014/main" id="{82FBFA8D-7D05-45C4-847E-C1C2330F70ED}"/>
              </a:ext>
            </a:extLst>
          </p:cNvPr>
          <p:cNvSpPr/>
          <p:nvPr/>
        </p:nvSpPr>
        <p:spPr bwMode="auto">
          <a:xfrm>
            <a:off x="5188923" y="54490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53" name="Rectangle 178">
            <a:extLst>
              <a:ext uri="{FF2B5EF4-FFF2-40B4-BE49-F238E27FC236}">
                <a16:creationId xmlns:a16="http://schemas.microsoft.com/office/drawing/2014/main" id="{F53DF05B-D073-4D6E-931D-F5CFC20A3F86}"/>
              </a:ext>
            </a:extLst>
          </p:cNvPr>
          <p:cNvSpPr/>
          <p:nvPr/>
        </p:nvSpPr>
        <p:spPr bwMode="auto">
          <a:xfrm>
            <a:off x="6046440" y="54490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54" name="Rectangle 179">
            <a:extLst>
              <a:ext uri="{FF2B5EF4-FFF2-40B4-BE49-F238E27FC236}">
                <a16:creationId xmlns:a16="http://schemas.microsoft.com/office/drawing/2014/main" id="{CD6FCB75-D6AE-4F48-A178-91EAFA85D695}"/>
              </a:ext>
            </a:extLst>
          </p:cNvPr>
          <p:cNvSpPr/>
          <p:nvPr/>
        </p:nvSpPr>
        <p:spPr bwMode="auto">
          <a:xfrm>
            <a:off x="5754518" y="54490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55" name="Rectangle 180">
            <a:extLst>
              <a:ext uri="{FF2B5EF4-FFF2-40B4-BE49-F238E27FC236}">
                <a16:creationId xmlns:a16="http://schemas.microsoft.com/office/drawing/2014/main" id="{2B662CA4-7625-4120-B05A-FD06063BE249}"/>
              </a:ext>
            </a:extLst>
          </p:cNvPr>
          <p:cNvSpPr/>
          <p:nvPr/>
        </p:nvSpPr>
        <p:spPr bwMode="auto">
          <a:xfrm>
            <a:off x="5462596" y="54490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42036" name="圆角矩形 57">
            <a:extLst>
              <a:ext uri="{FF2B5EF4-FFF2-40B4-BE49-F238E27FC236}">
                <a16:creationId xmlns:a16="http://schemas.microsoft.com/office/drawing/2014/main" id="{E441AFE4-2495-4B3C-AB74-490BA211F024}"/>
              </a:ext>
            </a:extLst>
          </p:cNvPr>
          <p:cNvSpPr>
            <a:spLocks noChangeArrowheads="1"/>
          </p:cNvSpPr>
          <p:nvPr/>
        </p:nvSpPr>
        <p:spPr bwMode="auto">
          <a:xfrm>
            <a:off x="2768600" y="2662238"/>
            <a:ext cx="1516063" cy="3384550"/>
          </a:xfrm>
          <a:prstGeom prst="roundRect">
            <a:avLst>
              <a:gd name="adj" fmla="val 16667"/>
            </a:avLst>
          </a:prstGeom>
          <a:noFill/>
          <a:ln w="19050" algn="ctr">
            <a:solidFill>
              <a:srgbClr val="C00000"/>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42037" name="文本框 58">
            <a:extLst>
              <a:ext uri="{FF2B5EF4-FFF2-40B4-BE49-F238E27FC236}">
                <a16:creationId xmlns:a16="http://schemas.microsoft.com/office/drawing/2014/main" id="{782AC3C4-0CB7-467B-B2EE-BB816C9D29D9}"/>
              </a:ext>
            </a:extLst>
          </p:cNvPr>
          <p:cNvSpPr txBox="1">
            <a:spLocks noChangeArrowheads="1"/>
          </p:cNvSpPr>
          <p:nvPr/>
        </p:nvSpPr>
        <p:spPr bwMode="auto">
          <a:xfrm>
            <a:off x="2914650" y="608330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800">
                <a:solidFill>
                  <a:srgbClr val="C00000"/>
                </a:solidFill>
              </a:rPr>
              <a:t>Cache</a:t>
            </a:r>
            <a:r>
              <a:rPr lang="zh-CN" altLang="en-US" sz="1800">
                <a:solidFill>
                  <a:srgbClr val="C00000"/>
                </a:solidFill>
              </a:rPr>
              <a:t>目录</a:t>
            </a:r>
          </a:p>
        </p:txBody>
      </p:sp>
    </p:spTree>
  </p:cSld>
  <p:clrMapOvr>
    <a:masterClrMapping/>
  </p:clrMapOvr>
  <p:transition spd="med">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02EB6A-6E43-448F-BB07-9AB4FC68B772}"/>
              </a:ext>
            </a:extLst>
          </p:cNvPr>
          <p:cNvSpPr>
            <a:spLocks noGrp="1"/>
          </p:cNvSpPr>
          <p:nvPr>
            <p:ph type="title"/>
          </p:nvPr>
        </p:nvSpPr>
        <p:spPr/>
        <p:txBody>
          <a:bodyPr/>
          <a:lstStyle/>
          <a:p>
            <a:pPr>
              <a:defRPr/>
            </a:pPr>
            <a:r>
              <a:rPr lang="zh-CN" altLang="en-US" sz="3200"/>
              <a:t>全相联映射</a:t>
            </a:r>
            <a:r>
              <a:rPr lang="en-US" altLang="zh-CN" sz="3200"/>
              <a:t>Cache</a:t>
            </a:r>
            <a:r>
              <a:rPr lang="zh-CN" altLang="en-US" sz="3200"/>
              <a:t>中的行匹配和字选择过程</a:t>
            </a:r>
          </a:p>
        </p:txBody>
      </p:sp>
      <p:sp>
        <p:nvSpPr>
          <p:cNvPr id="43011" name="内容占位符 2">
            <a:extLst>
              <a:ext uri="{FF2B5EF4-FFF2-40B4-BE49-F238E27FC236}">
                <a16:creationId xmlns:a16="http://schemas.microsoft.com/office/drawing/2014/main" id="{20FC9F8F-426E-4203-9D57-7193080162C9}"/>
              </a:ext>
            </a:extLst>
          </p:cNvPr>
          <p:cNvSpPr>
            <a:spLocks noGrp="1" noChangeArrowheads="1"/>
          </p:cNvSpPr>
          <p:nvPr>
            <p:ph idx="1"/>
          </p:nvPr>
        </p:nvSpPr>
        <p:spPr/>
        <p:txBody>
          <a:bodyPr/>
          <a:lstStyle/>
          <a:p>
            <a:r>
              <a:rPr lang="zh-CN" altLang="en-US" sz="2800"/>
              <a:t>假设</a:t>
            </a:r>
            <a:r>
              <a:rPr lang="en-US" altLang="zh-CN" sz="2800"/>
              <a:t>CPU</a:t>
            </a:r>
            <a:r>
              <a:rPr lang="zh-CN" altLang="en-US" sz="2800"/>
              <a:t>欲从</a:t>
            </a:r>
            <a:r>
              <a:rPr lang="en-US" altLang="zh-CN" sz="2800"/>
              <a:t>0xFF0144</a:t>
            </a:r>
            <a:r>
              <a:rPr lang="zh-CN" altLang="en-US" sz="2800"/>
              <a:t>地址读出一个字（</a:t>
            </a:r>
            <a:r>
              <a:rPr lang="en-US" altLang="zh-CN" sz="2800"/>
              <a:t>32</a:t>
            </a:r>
            <a:r>
              <a:rPr lang="zh-CN" altLang="en-US" sz="2800"/>
              <a:t>位）</a:t>
            </a:r>
          </a:p>
        </p:txBody>
      </p:sp>
      <p:sp>
        <p:nvSpPr>
          <p:cNvPr id="43013" name="Rectangle 18">
            <a:extLst>
              <a:ext uri="{FF2B5EF4-FFF2-40B4-BE49-F238E27FC236}">
                <a16:creationId xmlns:a16="http://schemas.microsoft.com/office/drawing/2014/main" id="{C5B8FAD0-DD01-490C-B1E7-E81735C3BF52}"/>
              </a:ext>
            </a:extLst>
          </p:cNvPr>
          <p:cNvSpPr>
            <a:spLocks noChangeArrowheads="1"/>
          </p:cNvSpPr>
          <p:nvPr/>
        </p:nvSpPr>
        <p:spPr bwMode="auto">
          <a:xfrm>
            <a:off x="2195513" y="1700213"/>
            <a:ext cx="1830387" cy="360362"/>
          </a:xfrm>
          <a:prstGeom prst="rect">
            <a:avLst/>
          </a:prstGeom>
          <a:solidFill>
            <a:srgbClr val="FF0000"/>
          </a:solidFill>
          <a:ln w="25400" algn="ctr">
            <a:solidFill>
              <a:schemeClr val="bg1"/>
            </a:solidFill>
            <a:miter lim="800000"/>
            <a:headEnd/>
            <a:tailEnd/>
          </a:ln>
          <a:effectLst>
            <a:outerShdw blurRad="50800" dist="50800" dir="5400000" algn="ctr" rotWithShape="0">
              <a:schemeClr val="tx1">
                <a:lumMod val="65000"/>
                <a:lumOff val="35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0x7F80A</a:t>
            </a:r>
            <a:endParaRPr lang="zh-CN" altLang="en-US" sz="2000">
              <a:solidFill>
                <a:schemeClr val="bg1"/>
              </a:solidFill>
              <a:ea typeface="方正准圆简体" pitchFamily="2" charset="-122"/>
            </a:endParaRPr>
          </a:p>
        </p:txBody>
      </p:sp>
      <p:sp>
        <p:nvSpPr>
          <p:cNvPr id="43014" name="Rectangle 20">
            <a:extLst>
              <a:ext uri="{FF2B5EF4-FFF2-40B4-BE49-F238E27FC236}">
                <a16:creationId xmlns:a16="http://schemas.microsoft.com/office/drawing/2014/main" id="{BF7D435A-7B71-4B67-AFD4-381343EE4407}"/>
              </a:ext>
            </a:extLst>
          </p:cNvPr>
          <p:cNvSpPr>
            <a:spLocks noChangeArrowheads="1"/>
          </p:cNvSpPr>
          <p:nvPr/>
        </p:nvSpPr>
        <p:spPr bwMode="auto">
          <a:xfrm>
            <a:off x="4029075" y="1700213"/>
            <a:ext cx="1293813" cy="360362"/>
          </a:xfrm>
          <a:prstGeom prst="rect">
            <a:avLst/>
          </a:prstGeom>
          <a:solidFill>
            <a:srgbClr val="FF9900"/>
          </a:solidFill>
          <a:ln w="25400" algn="ctr">
            <a:solidFill>
              <a:schemeClr val="bg1"/>
            </a:solidFill>
            <a:miter lim="800000"/>
            <a:headEnd/>
            <a:tailEnd/>
          </a:ln>
          <a:effectLst>
            <a:outerShdw blurRad="50800" dist="50800" dir="5400000" algn="ctr" rotWithShape="0">
              <a:schemeClr val="tx1">
                <a:lumMod val="65000"/>
                <a:lumOff val="35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00100</a:t>
            </a:r>
          </a:p>
        </p:txBody>
      </p:sp>
      <p:grpSp>
        <p:nvGrpSpPr>
          <p:cNvPr id="43015" name="组合 20">
            <a:extLst>
              <a:ext uri="{FF2B5EF4-FFF2-40B4-BE49-F238E27FC236}">
                <a16:creationId xmlns:a16="http://schemas.microsoft.com/office/drawing/2014/main" id="{7B8C740D-33D5-41F0-B95B-C88B2B887CC3}"/>
              </a:ext>
            </a:extLst>
          </p:cNvPr>
          <p:cNvGrpSpPr>
            <a:grpSpLocks/>
          </p:cNvGrpSpPr>
          <p:nvPr/>
        </p:nvGrpSpPr>
        <p:grpSpPr bwMode="auto">
          <a:xfrm>
            <a:off x="1692275" y="3581400"/>
            <a:ext cx="5400675" cy="533400"/>
            <a:chOff x="1691680" y="3581400"/>
            <a:chExt cx="5400600" cy="533400"/>
          </a:xfrm>
        </p:grpSpPr>
        <p:sp>
          <p:nvSpPr>
            <p:cNvPr id="8" name="Rectangle 146">
              <a:extLst>
                <a:ext uri="{FF2B5EF4-FFF2-40B4-BE49-F238E27FC236}">
                  <a16:creationId xmlns:a16="http://schemas.microsoft.com/office/drawing/2014/main" id="{D41BF6AE-B859-4949-A333-3EE9EB91F029}"/>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9" name="Rectangle 147">
              <a:extLst>
                <a:ext uri="{FF2B5EF4-FFF2-40B4-BE49-F238E27FC236}">
                  <a16:creationId xmlns:a16="http://schemas.microsoft.com/office/drawing/2014/main" id="{EA31E675-4051-4F9A-9D93-E9792D831B21}"/>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10" name="Rectangle 148">
              <a:extLst>
                <a:ext uri="{FF2B5EF4-FFF2-40B4-BE49-F238E27FC236}">
                  <a16:creationId xmlns:a16="http://schemas.microsoft.com/office/drawing/2014/main" id="{B72A7A7F-C404-4420-ADC2-262E1201C473}"/>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11" name="Rectangle 149">
              <a:extLst>
                <a:ext uri="{FF2B5EF4-FFF2-40B4-BE49-F238E27FC236}">
                  <a16:creationId xmlns:a16="http://schemas.microsoft.com/office/drawing/2014/main" id="{BC40739A-E463-4B40-9CCE-2C4E0F28D564}"/>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12" name="Rectangle 150">
              <a:extLst>
                <a:ext uri="{FF2B5EF4-FFF2-40B4-BE49-F238E27FC236}">
                  <a16:creationId xmlns:a16="http://schemas.microsoft.com/office/drawing/2014/main" id="{99CCFE78-6D31-4AD2-A278-3BEB6450D2C2}"/>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13" name="Rectangle 151">
              <a:extLst>
                <a:ext uri="{FF2B5EF4-FFF2-40B4-BE49-F238E27FC236}">
                  <a16:creationId xmlns:a16="http://schemas.microsoft.com/office/drawing/2014/main" id="{CBF8460B-3AB3-4B21-BECA-F65D322DED3F}"/>
                </a:ext>
              </a:extLst>
            </p:cNvPr>
            <p:cNvSpPr/>
            <p:nvPr/>
          </p:nvSpPr>
          <p:spPr bwMode="auto">
            <a:xfrm>
              <a:off x="2252060" y="3695700"/>
              <a:ext cx="1657327"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0</a:t>
              </a:r>
              <a:r>
                <a:rPr kumimoji="0" lang="en-US" altLang="zh-CN" sz="1600" b="1" kern="0" dirty="0">
                  <a:solidFill>
                    <a:schemeClr val="bg1"/>
                  </a:solidFill>
                  <a:latin typeface="Calibri" pitchFamily="34" charset="0"/>
                  <a:ea typeface="+mn-ea"/>
                </a:rPr>
                <a:t>x12345</a:t>
              </a:r>
            </a:p>
          </p:txBody>
        </p:sp>
        <p:sp>
          <p:nvSpPr>
            <p:cNvPr id="14" name="Rectangle 152">
              <a:extLst>
                <a:ext uri="{FF2B5EF4-FFF2-40B4-BE49-F238E27FC236}">
                  <a16:creationId xmlns:a16="http://schemas.microsoft.com/office/drawing/2014/main" id="{D9847F3F-211A-4A32-875B-9CC5EE6D45BA}"/>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15" name="Rectangle 153">
              <a:extLst>
                <a:ext uri="{FF2B5EF4-FFF2-40B4-BE49-F238E27FC236}">
                  <a16:creationId xmlns:a16="http://schemas.microsoft.com/office/drawing/2014/main" id="{71F37E2C-2FF9-4C54-A467-1545CFAD32AD}"/>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16" name="Rectangle 154">
              <a:extLst>
                <a:ext uri="{FF2B5EF4-FFF2-40B4-BE49-F238E27FC236}">
                  <a16:creationId xmlns:a16="http://schemas.microsoft.com/office/drawing/2014/main" id="{236080D3-CFE2-421B-9202-6807FF423185}"/>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17" name="Rectangle 155">
              <a:extLst>
                <a:ext uri="{FF2B5EF4-FFF2-40B4-BE49-F238E27FC236}">
                  <a16:creationId xmlns:a16="http://schemas.microsoft.com/office/drawing/2014/main" id="{BA5C1BC6-BC5E-4F4D-973F-0CCC784A577E}"/>
                </a:ext>
              </a:extLst>
            </p:cNvPr>
            <p:cNvSpPr/>
            <p:nvPr/>
          </p:nvSpPr>
          <p:spPr bwMode="auto">
            <a:xfrm>
              <a:off x="546613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18" name="Rectangle 156">
              <a:extLst>
                <a:ext uri="{FF2B5EF4-FFF2-40B4-BE49-F238E27FC236}">
                  <a16:creationId xmlns:a16="http://schemas.microsoft.com/office/drawing/2014/main" id="{96BA5444-0B74-4CBE-8C8F-8250DF4ADF53}"/>
                </a:ext>
              </a:extLst>
            </p:cNvPr>
            <p:cNvSpPr/>
            <p:nvPr/>
          </p:nvSpPr>
          <p:spPr bwMode="auto">
            <a:xfrm>
              <a:off x="517421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19" name="Rectangle 155">
              <a:extLst>
                <a:ext uri="{FF2B5EF4-FFF2-40B4-BE49-F238E27FC236}">
                  <a16:creationId xmlns:a16="http://schemas.microsoft.com/office/drawing/2014/main" id="{F8630948-AB57-47B2-AA7F-92DA702DA8A8}"/>
                </a:ext>
              </a:extLst>
            </p:cNvPr>
            <p:cNvSpPr/>
            <p:nvPr/>
          </p:nvSpPr>
          <p:spPr bwMode="auto">
            <a:xfrm>
              <a:off x="5747717" y="369570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6</a:t>
              </a:r>
            </a:p>
          </p:txBody>
        </p:sp>
        <p:sp>
          <p:nvSpPr>
            <p:cNvPr id="20" name="Rectangle 155">
              <a:extLst>
                <a:ext uri="{FF2B5EF4-FFF2-40B4-BE49-F238E27FC236}">
                  <a16:creationId xmlns:a16="http://schemas.microsoft.com/office/drawing/2014/main" id="{D7F4398E-5000-4BFE-A240-E4EC9EC00484}"/>
                </a:ext>
              </a:extLst>
            </p:cNvPr>
            <p:cNvSpPr/>
            <p:nvPr/>
          </p:nvSpPr>
          <p:spPr bwMode="auto">
            <a:xfrm>
              <a:off x="6030054" y="3693682"/>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7</a:t>
              </a:r>
            </a:p>
          </p:txBody>
        </p:sp>
      </p:grpSp>
      <p:grpSp>
        <p:nvGrpSpPr>
          <p:cNvPr id="43016" name="组合 21">
            <a:extLst>
              <a:ext uri="{FF2B5EF4-FFF2-40B4-BE49-F238E27FC236}">
                <a16:creationId xmlns:a16="http://schemas.microsoft.com/office/drawing/2014/main" id="{A12807E8-3104-45BC-AC1E-388C45774B70}"/>
              </a:ext>
            </a:extLst>
          </p:cNvPr>
          <p:cNvGrpSpPr>
            <a:grpSpLocks/>
          </p:cNvGrpSpPr>
          <p:nvPr/>
        </p:nvGrpSpPr>
        <p:grpSpPr bwMode="auto">
          <a:xfrm>
            <a:off x="1692275" y="2967038"/>
            <a:ext cx="5400675" cy="533400"/>
            <a:chOff x="1691680" y="3581400"/>
            <a:chExt cx="5400600" cy="533400"/>
          </a:xfrm>
        </p:grpSpPr>
        <p:sp>
          <p:nvSpPr>
            <p:cNvPr id="23" name="Rectangle 146">
              <a:extLst>
                <a:ext uri="{FF2B5EF4-FFF2-40B4-BE49-F238E27FC236}">
                  <a16:creationId xmlns:a16="http://schemas.microsoft.com/office/drawing/2014/main" id="{7403F619-1DF5-40BC-AE8A-552A72260F9D}"/>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24" name="Rectangle 147">
              <a:extLst>
                <a:ext uri="{FF2B5EF4-FFF2-40B4-BE49-F238E27FC236}">
                  <a16:creationId xmlns:a16="http://schemas.microsoft.com/office/drawing/2014/main" id="{C35B6144-22E2-4B5C-B50F-9EC95366D8CE}"/>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25" name="Rectangle 148">
              <a:extLst>
                <a:ext uri="{FF2B5EF4-FFF2-40B4-BE49-F238E27FC236}">
                  <a16:creationId xmlns:a16="http://schemas.microsoft.com/office/drawing/2014/main" id="{36E2FC1F-A6D0-408C-AB4A-B688763E0CD9}"/>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26" name="Rectangle 149">
              <a:extLst>
                <a:ext uri="{FF2B5EF4-FFF2-40B4-BE49-F238E27FC236}">
                  <a16:creationId xmlns:a16="http://schemas.microsoft.com/office/drawing/2014/main" id="{412039E7-027E-401B-89F2-CA840F0E2641}"/>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27" name="Rectangle 150">
              <a:extLst>
                <a:ext uri="{FF2B5EF4-FFF2-40B4-BE49-F238E27FC236}">
                  <a16:creationId xmlns:a16="http://schemas.microsoft.com/office/drawing/2014/main" id="{C8E068E7-209B-4600-ABF3-EF644297CCCA}"/>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28" name="Rectangle 151">
              <a:extLst>
                <a:ext uri="{FF2B5EF4-FFF2-40B4-BE49-F238E27FC236}">
                  <a16:creationId xmlns:a16="http://schemas.microsoft.com/office/drawing/2014/main" id="{B7576C39-102C-496C-9478-97AB850B4CD9}"/>
                </a:ext>
              </a:extLst>
            </p:cNvPr>
            <p:cNvSpPr/>
            <p:nvPr/>
          </p:nvSpPr>
          <p:spPr bwMode="auto">
            <a:xfrm>
              <a:off x="2252060" y="3695700"/>
              <a:ext cx="1657327"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0</a:t>
              </a:r>
              <a:r>
                <a:rPr kumimoji="0" lang="en-US" altLang="zh-CN" sz="1600" b="1" kern="0" dirty="0">
                  <a:solidFill>
                    <a:schemeClr val="bg1"/>
                  </a:solidFill>
                  <a:latin typeface="Calibri" pitchFamily="34" charset="0"/>
                  <a:ea typeface="+mn-ea"/>
                </a:rPr>
                <a:t>x53C9F</a:t>
              </a:r>
            </a:p>
          </p:txBody>
        </p:sp>
        <p:sp>
          <p:nvSpPr>
            <p:cNvPr id="29" name="Rectangle 152">
              <a:extLst>
                <a:ext uri="{FF2B5EF4-FFF2-40B4-BE49-F238E27FC236}">
                  <a16:creationId xmlns:a16="http://schemas.microsoft.com/office/drawing/2014/main" id="{E479B473-8D82-49AC-9CBB-83EECDF965C3}"/>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30" name="Rectangle 153">
              <a:extLst>
                <a:ext uri="{FF2B5EF4-FFF2-40B4-BE49-F238E27FC236}">
                  <a16:creationId xmlns:a16="http://schemas.microsoft.com/office/drawing/2014/main" id="{8FD84E30-9EAD-44E9-B6CC-90AA3C848F36}"/>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31" name="Rectangle 154">
              <a:extLst>
                <a:ext uri="{FF2B5EF4-FFF2-40B4-BE49-F238E27FC236}">
                  <a16:creationId xmlns:a16="http://schemas.microsoft.com/office/drawing/2014/main" id="{2CB490C5-5BF1-41CC-A2FA-2ACE533E4904}"/>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32" name="Rectangle 155">
              <a:extLst>
                <a:ext uri="{FF2B5EF4-FFF2-40B4-BE49-F238E27FC236}">
                  <a16:creationId xmlns:a16="http://schemas.microsoft.com/office/drawing/2014/main" id="{B9EFE926-6C4E-4DE6-AE75-75597C502E83}"/>
                </a:ext>
              </a:extLst>
            </p:cNvPr>
            <p:cNvSpPr/>
            <p:nvPr/>
          </p:nvSpPr>
          <p:spPr bwMode="auto">
            <a:xfrm>
              <a:off x="546613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33" name="Rectangle 156">
              <a:extLst>
                <a:ext uri="{FF2B5EF4-FFF2-40B4-BE49-F238E27FC236}">
                  <a16:creationId xmlns:a16="http://schemas.microsoft.com/office/drawing/2014/main" id="{E7D268EC-EEBD-495A-82A5-25232AF7F56C}"/>
                </a:ext>
              </a:extLst>
            </p:cNvPr>
            <p:cNvSpPr/>
            <p:nvPr/>
          </p:nvSpPr>
          <p:spPr bwMode="auto">
            <a:xfrm>
              <a:off x="517421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34" name="Rectangle 155">
              <a:extLst>
                <a:ext uri="{FF2B5EF4-FFF2-40B4-BE49-F238E27FC236}">
                  <a16:creationId xmlns:a16="http://schemas.microsoft.com/office/drawing/2014/main" id="{4D28FD44-3930-4BB4-A3D6-5D6A7082E91C}"/>
                </a:ext>
              </a:extLst>
            </p:cNvPr>
            <p:cNvSpPr/>
            <p:nvPr/>
          </p:nvSpPr>
          <p:spPr bwMode="auto">
            <a:xfrm>
              <a:off x="5747717" y="369570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6</a:t>
              </a:r>
            </a:p>
          </p:txBody>
        </p:sp>
        <p:sp>
          <p:nvSpPr>
            <p:cNvPr id="35" name="Rectangle 155">
              <a:extLst>
                <a:ext uri="{FF2B5EF4-FFF2-40B4-BE49-F238E27FC236}">
                  <a16:creationId xmlns:a16="http://schemas.microsoft.com/office/drawing/2014/main" id="{D92A30FA-5597-4DBB-B97E-388A8ABACFC1}"/>
                </a:ext>
              </a:extLst>
            </p:cNvPr>
            <p:cNvSpPr/>
            <p:nvPr/>
          </p:nvSpPr>
          <p:spPr bwMode="auto">
            <a:xfrm>
              <a:off x="6030054" y="3693682"/>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7</a:t>
              </a:r>
            </a:p>
          </p:txBody>
        </p:sp>
      </p:grpSp>
      <p:grpSp>
        <p:nvGrpSpPr>
          <p:cNvPr id="43017" name="组合 35">
            <a:extLst>
              <a:ext uri="{FF2B5EF4-FFF2-40B4-BE49-F238E27FC236}">
                <a16:creationId xmlns:a16="http://schemas.microsoft.com/office/drawing/2014/main" id="{F672CF70-E08E-4A6B-8EC4-49D41B4835F0}"/>
              </a:ext>
            </a:extLst>
          </p:cNvPr>
          <p:cNvGrpSpPr>
            <a:grpSpLocks/>
          </p:cNvGrpSpPr>
          <p:nvPr/>
        </p:nvGrpSpPr>
        <p:grpSpPr bwMode="auto">
          <a:xfrm>
            <a:off x="1692275" y="4191000"/>
            <a:ext cx="5400675" cy="533400"/>
            <a:chOff x="1691680" y="3581400"/>
            <a:chExt cx="5400600" cy="533400"/>
          </a:xfrm>
        </p:grpSpPr>
        <p:sp>
          <p:nvSpPr>
            <p:cNvPr id="37" name="Rectangle 146">
              <a:extLst>
                <a:ext uri="{FF2B5EF4-FFF2-40B4-BE49-F238E27FC236}">
                  <a16:creationId xmlns:a16="http://schemas.microsoft.com/office/drawing/2014/main" id="{77EAE9AE-B6FF-4871-B893-A917B2A78656}"/>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38" name="Rectangle 147">
              <a:extLst>
                <a:ext uri="{FF2B5EF4-FFF2-40B4-BE49-F238E27FC236}">
                  <a16:creationId xmlns:a16="http://schemas.microsoft.com/office/drawing/2014/main" id="{9979B9EB-5685-49E7-8313-45C3850A7CA5}"/>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39" name="Rectangle 148">
              <a:extLst>
                <a:ext uri="{FF2B5EF4-FFF2-40B4-BE49-F238E27FC236}">
                  <a16:creationId xmlns:a16="http://schemas.microsoft.com/office/drawing/2014/main" id="{56A1A919-5372-486D-A2D8-70E6EC80DE38}"/>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40" name="Rectangle 149">
              <a:extLst>
                <a:ext uri="{FF2B5EF4-FFF2-40B4-BE49-F238E27FC236}">
                  <a16:creationId xmlns:a16="http://schemas.microsoft.com/office/drawing/2014/main" id="{F6637DBE-0CB2-4F35-8397-027C93F42CA8}"/>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41" name="Rectangle 150">
              <a:extLst>
                <a:ext uri="{FF2B5EF4-FFF2-40B4-BE49-F238E27FC236}">
                  <a16:creationId xmlns:a16="http://schemas.microsoft.com/office/drawing/2014/main" id="{AED4BCBE-F305-4463-B775-894010A320A8}"/>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42" name="Rectangle 151">
              <a:extLst>
                <a:ext uri="{FF2B5EF4-FFF2-40B4-BE49-F238E27FC236}">
                  <a16:creationId xmlns:a16="http://schemas.microsoft.com/office/drawing/2014/main" id="{EC01D7F2-38D3-415B-907F-12E4349B4234}"/>
                </a:ext>
              </a:extLst>
            </p:cNvPr>
            <p:cNvSpPr/>
            <p:nvPr/>
          </p:nvSpPr>
          <p:spPr bwMode="auto">
            <a:xfrm>
              <a:off x="2252060" y="3695700"/>
              <a:ext cx="1657327" cy="304800"/>
            </a:xfrm>
            <a:prstGeom prst="rect">
              <a:avLst/>
            </a:prstGeom>
            <a:solidFill>
              <a:srgbClr val="FF0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0</a:t>
              </a:r>
              <a:r>
                <a:rPr kumimoji="0" lang="en-US" altLang="zh-CN" sz="1600" b="1" kern="0" dirty="0">
                  <a:solidFill>
                    <a:schemeClr val="bg1"/>
                  </a:solidFill>
                  <a:latin typeface="Calibri" pitchFamily="34" charset="0"/>
                  <a:ea typeface="+mn-ea"/>
                </a:rPr>
                <a:t>x7F80A</a:t>
              </a:r>
            </a:p>
          </p:txBody>
        </p:sp>
        <p:sp>
          <p:nvSpPr>
            <p:cNvPr id="43" name="Rectangle 152">
              <a:extLst>
                <a:ext uri="{FF2B5EF4-FFF2-40B4-BE49-F238E27FC236}">
                  <a16:creationId xmlns:a16="http://schemas.microsoft.com/office/drawing/2014/main" id="{54405585-8855-4A8F-81E9-56FE67D133C1}"/>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44" name="Rectangle 153">
              <a:extLst>
                <a:ext uri="{FF2B5EF4-FFF2-40B4-BE49-F238E27FC236}">
                  <a16:creationId xmlns:a16="http://schemas.microsoft.com/office/drawing/2014/main" id="{AAEC3B96-B096-44DC-ACF0-DDAEB5F93DE1}"/>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45" name="Rectangle 154">
              <a:extLst>
                <a:ext uri="{FF2B5EF4-FFF2-40B4-BE49-F238E27FC236}">
                  <a16:creationId xmlns:a16="http://schemas.microsoft.com/office/drawing/2014/main" id="{477290B4-76AE-4135-85B5-A5DD022DE3C5}"/>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46" name="Rectangle 155">
              <a:extLst>
                <a:ext uri="{FF2B5EF4-FFF2-40B4-BE49-F238E27FC236}">
                  <a16:creationId xmlns:a16="http://schemas.microsoft.com/office/drawing/2014/main" id="{0786FD8A-5272-4384-97F7-E6B2EF365221}"/>
                </a:ext>
              </a:extLst>
            </p:cNvPr>
            <p:cNvSpPr/>
            <p:nvPr/>
          </p:nvSpPr>
          <p:spPr bwMode="auto">
            <a:xfrm>
              <a:off x="5466138" y="3696404"/>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47" name="Rectangle 156">
              <a:extLst>
                <a:ext uri="{FF2B5EF4-FFF2-40B4-BE49-F238E27FC236}">
                  <a16:creationId xmlns:a16="http://schemas.microsoft.com/office/drawing/2014/main" id="{9F76A210-2CDE-45C0-9576-296EB1589041}"/>
                </a:ext>
              </a:extLst>
            </p:cNvPr>
            <p:cNvSpPr/>
            <p:nvPr/>
          </p:nvSpPr>
          <p:spPr bwMode="auto">
            <a:xfrm>
              <a:off x="5174216" y="3696404"/>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48" name="Rectangle 155">
              <a:extLst>
                <a:ext uri="{FF2B5EF4-FFF2-40B4-BE49-F238E27FC236}">
                  <a16:creationId xmlns:a16="http://schemas.microsoft.com/office/drawing/2014/main" id="{523E6962-FA2A-4138-B3FC-F040BB13A76F}"/>
                </a:ext>
              </a:extLst>
            </p:cNvPr>
            <p:cNvSpPr/>
            <p:nvPr/>
          </p:nvSpPr>
          <p:spPr bwMode="auto">
            <a:xfrm>
              <a:off x="5747717" y="3695700"/>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6</a:t>
              </a:r>
            </a:p>
          </p:txBody>
        </p:sp>
        <p:sp>
          <p:nvSpPr>
            <p:cNvPr id="49" name="Rectangle 155">
              <a:extLst>
                <a:ext uri="{FF2B5EF4-FFF2-40B4-BE49-F238E27FC236}">
                  <a16:creationId xmlns:a16="http://schemas.microsoft.com/office/drawing/2014/main" id="{EBFF9E3C-7A8D-48AC-8F64-065C353F91B8}"/>
                </a:ext>
              </a:extLst>
            </p:cNvPr>
            <p:cNvSpPr/>
            <p:nvPr/>
          </p:nvSpPr>
          <p:spPr bwMode="auto">
            <a:xfrm>
              <a:off x="6030054" y="3693682"/>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7</a:t>
              </a:r>
            </a:p>
          </p:txBody>
        </p:sp>
      </p:grpSp>
      <p:grpSp>
        <p:nvGrpSpPr>
          <p:cNvPr id="43018" name="组合 49">
            <a:extLst>
              <a:ext uri="{FF2B5EF4-FFF2-40B4-BE49-F238E27FC236}">
                <a16:creationId xmlns:a16="http://schemas.microsoft.com/office/drawing/2014/main" id="{B86F648C-A601-414F-9D9E-0851D0596E5F}"/>
              </a:ext>
            </a:extLst>
          </p:cNvPr>
          <p:cNvGrpSpPr>
            <a:grpSpLocks/>
          </p:cNvGrpSpPr>
          <p:nvPr/>
        </p:nvGrpSpPr>
        <p:grpSpPr bwMode="auto">
          <a:xfrm>
            <a:off x="1692275" y="5289550"/>
            <a:ext cx="5400675" cy="533400"/>
            <a:chOff x="1691680" y="3581400"/>
            <a:chExt cx="5400600" cy="533400"/>
          </a:xfrm>
        </p:grpSpPr>
        <p:sp>
          <p:nvSpPr>
            <p:cNvPr id="51" name="Rectangle 146">
              <a:extLst>
                <a:ext uri="{FF2B5EF4-FFF2-40B4-BE49-F238E27FC236}">
                  <a16:creationId xmlns:a16="http://schemas.microsoft.com/office/drawing/2014/main" id="{79790C39-7B5A-4CDD-9D89-6D6B6B00129F}"/>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mn-ea"/>
              </a:endParaRPr>
            </a:p>
          </p:txBody>
        </p:sp>
        <p:sp>
          <p:nvSpPr>
            <p:cNvPr id="52" name="Rectangle 147">
              <a:extLst>
                <a:ext uri="{FF2B5EF4-FFF2-40B4-BE49-F238E27FC236}">
                  <a16:creationId xmlns:a16="http://schemas.microsoft.com/office/drawing/2014/main" id="{CEF7E860-1841-42F5-85CC-ED21AA5921F2}"/>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0</a:t>
              </a:r>
            </a:p>
          </p:txBody>
        </p:sp>
        <p:sp>
          <p:nvSpPr>
            <p:cNvPr id="53" name="Rectangle 148">
              <a:extLst>
                <a:ext uri="{FF2B5EF4-FFF2-40B4-BE49-F238E27FC236}">
                  <a16:creationId xmlns:a16="http://schemas.microsoft.com/office/drawing/2014/main" id="{6B4FE35C-609E-4321-9D48-6917A82530E1}"/>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1</a:t>
              </a:r>
            </a:p>
          </p:txBody>
        </p:sp>
        <p:sp>
          <p:nvSpPr>
            <p:cNvPr id="54" name="Rectangle 149">
              <a:extLst>
                <a:ext uri="{FF2B5EF4-FFF2-40B4-BE49-F238E27FC236}">
                  <a16:creationId xmlns:a16="http://schemas.microsoft.com/office/drawing/2014/main" id="{09AF9FF8-0CAA-404B-B749-E7038A325856}"/>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2</a:t>
              </a:r>
            </a:p>
          </p:txBody>
        </p:sp>
        <p:sp>
          <p:nvSpPr>
            <p:cNvPr id="55" name="Rectangle 150">
              <a:extLst>
                <a:ext uri="{FF2B5EF4-FFF2-40B4-BE49-F238E27FC236}">
                  <a16:creationId xmlns:a16="http://schemas.microsoft.com/office/drawing/2014/main" id="{EC935065-6EAD-4023-94CF-4A7992787A90}"/>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31</a:t>
              </a:r>
            </a:p>
          </p:txBody>
        </p:sp>
        <p:sp>
          <p:nvSpPr>
            <p:cNvPr id="56" name="Rectangle 151">
              <a:extLst>
                <a:ext uri="{FF2B5EF4-FFF2-40B4-BE49-F238E27FC236}">
                  <a16:creationId xmlns:a16="http://schemas.microsoft.com/office/drawing/2014/main" id="{AE00551C-54E8-4B11-ABF3-41EF0F62AC61}"/>
                </a:ext>
              </a:extLst>
            </p:cNvPr>
            <p:cNvSpPr/>
            <p:nvPr/>
          </p:nvSpPr>
          <p:spPr bwMode="auto">
            <a:xfrm>
              <a:off x="2252060" y="3695700"/>
              <a:ext cx="1657327"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0</a:t>
              </a:r>
              <a:r>
                <a:rPr kumimoji="0" lang="en-US" altLang="zh-CN" sz="1600" b="1" kern="0" dirty="0">
                  <a:solidFill>
                    <a:schemeClr val="bg1"/>
                  </a:solidFill>
                  <a:latin typeface="Calibri" pitchFamily="34" charset="0"/>
                  <a:ea typeface="+mn-ea"/>
                </a:rPr>
                <a:t>x6FF88</a:t>
              </a:r>
            </a:p>
          </p:txBody>
        </p:sp>
        <p:sp>
          <p:nvSpPr>
            <p:cNvPr id="57" name="Rectangle 152">
              <a:extLst>
                <a:ext uri="{FF2B5EF4-FFF2-40B4-BE49-F238E27FC236}">
                  <a16:creationId xmlns:a16="http://schemas.microsoft.com/office/drawing/2014/main" id="{23821D08-7E20-482B-8DC3-170E1451DA0F}"/>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chemeClr val="bg1"/>
                  </a:solidFill>
                  <a:latin typeface="Calibri" pitchFamily="34" charset="0"/>
                  <a:ea typeface="+mn-ea"/>
                </a:rPr>
                <a:t>v</a:t>
              </a:r>
            </a:p>
          </p:txBody>
        </p:sp>
        <p:sp>
          <p:nvSpPr>
            <p:cNvPr id="58" name="Rectangle 153">
              <a:extLst>
                <a:ext uri="{FF2B5EF4-FFF2-40B4-BE49-F238E27FC236}">
                  <a16:creationId xmlns:a16="http://schemas.microsoft.com/office/drawing/2014/main" id="{476612FD-7714-41F6-98CF-EB6B0CFCC5ED}"/>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3</a:t>
              </a:r>
            </a:p>
          </p:txBody>
        </p:sp>
        <p:sp>
          <p:nvSpPr>
            <p:cNvPr id="59" name="Rectangle 154">
              <a:extLst>
                <a:ext uri="{FF2B5EF4-FFF2-40B4-BE49-F238E27FC236}">
                  <a16:creationId xmlns:a16="http://schemas.microsoft.com/office/drawing/2014/main" id="{17B5241B-71CD-41CE-94C2-55E309A927C2}"/>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sym typeface="Symbol" panose="05050102010706020507" pitchFamily="18" charset="2"/>
                </a:rPr>
                <a:t></a:t>
              </a:r>
              <a:endParaRPr kumimoji="0" lang="en-US" sz="1600" b="1" kern="0" dirty="0">
                <a:ln>
                  <a:solidFill>
                    <a:schemeClr val="bg1"/>
                  </a:solidFill>
                </a:ln>
                <a:solidFill>
                  <a:schemeClr val="bg1"/>
                </a:solidFill>
                <a:latin typeface="Calibri" pitchFamily="34" charset="0"/>
                <a:ea typeface="+mn-ea"/>
              </a:endParaRPr>
            </a:p>
          </p:txBody>
        </p:sp>
        <p:sp>
          <p:nvSpPr>
            <p:cNvPr id="60" name="Rectangle 155">
              <a:extLst>
                <a:ext uri="{FF2B5EF4-FFF2-40B4-BE49-F238E27FC236}">
                  <a16:creationId xmlns:a16="http://schemas.microsoft.com/office/drawing/2014/main" id="{6D089EBF-ED1E-45F9-A0F9-4145BD42AE40}"/>
                </a:ext>
              </a:extLst>
            </p:cNvPr>
            <p:cNvSpPr/>
            <p:nvPr/>
          </p:nvSpPr>
          <p:spPr bwMode="auto">
            <a:xfrm>
              <a:off x="546613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5</a:t>
              </a:r>
            </a:p>
          </p:txBody>
        </p:sp>
        <p:sp>
          <p:nvSpPr>
            <p:cNvPr id="61" name="Rectangle 156">
              <a:extLst>
                <a:ext uri="{FF2B5EF4-FFF2-40B4-BE49-F238E27FC236}">
                  <a16:creationId xmlns:a16="http://schemas.microsoft.com/office/drawing/2014/main" id="{BC4D6844-6C65-47AA-A969-9FD50446D573}"/>
                </a:ext>
              </a:extLst>
            </p:cNvPr>
            <p:cNvSpPr/>
            <p:nvPr/>
          </p:nvSpPr>
          <p:spPr bwMode="auto">
            <a:xfrm>
              <a:off x="517421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4</a:t>
              </a:r>
            </a:p>
          </p:txBody>
        </p:sp>
        <p:sp>
          <p:nvSpPr>
            <p:cNvPr id="62" name="Rectangle 155">
              <a:extLst>
                <a:ext uri="{FF2B5EF4-FFF2-40B4-BE49-F238E27FC236}">
                  <a16:creationId xmlns:a16="http://schemas.microsoft.com/office/drawing/2014/main" id="{E03CFB89-E791-4FBD-91E8-D8E04B21A92C}"/>
                </a:ext>
              </a:extLst>
            </p:cNvPr>
            <p:cNvSpPr/>
            <p:nvPr/>
          </p:nvSpPr>
          <p:spPr bwMode="auto">
            <a:xfrm>
              <a:off x="5747717" y="369570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6</a:t>
              </a:r>
            </a:p>
          </p:txBody>
        </p:sp>
        <p:sp>
          <p:nvSpPr>
            <p:cNvPr id="63" name="Rectangle 155">
              <a:extLst>
                <a:ext uri="{FF2B5EF4-FFF2-40B4-BE49-F238E27FC236}">
                  <a16:creationId xmlns:a16="http://schemas.microsoft.com/office/drawing/2014/main" id="{7B35E18F-F879-4721-A8DC-2386AB6FA43F}"/>
                </a:ext>
              </a:extLst>
            </p:cNvPr>
            <p:cNvSpPr/>
            <p:nvPr/>
          </p:nvSpPr>
          <p:spPr bwMode="auto">
            <a:xfrm>
              <a:off x="6030054" y="3693682"/>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chemeClr val="bg1"/>
                    </a:solidFill>
                  </a:ln>
                  <a:solidFill>
                    <a:schemeClr val="bg1"/>
                  </a:solidFill>
                  <a:latin typeface="Calibri" pitchFamily="34" charset="0"/>
                  <a:ea typeface="+mn-ea"/>
                </a:rPr>
                <a:t>7</a:t>
              </a:r>
            </a:p>
          </p:txBody>
        </p:sp>
      </p:grpSp>
      <p:cxnSp>
        <p:nvCxnSpPr>
          <p:cNvPr id="43019" name="Straight Connector 124">
            <a:extLst>
              <a:ext uri="{FF2B5EF4-FFF2-40B4-BE49-F238E27FC236}">
                <a16:creationId xmlns:a16="http://schemas.microsoft.com/office/drawing/2014/main" id="{4C5E846B-6B02-465C-81DD-E15505C6EDCF}"/>
              </a:ext>
            </a:extLst>
          </p:cNvPr>
          <p:cNvCxnSpPr>
            <a:cxnSpLocks noChangeShapeType="1"/>
          </p:cNvCxnSpPr>
          <p:nvPr/>
        </p:nvCxnSpPr>
        <p:spPr bwMode="auto">
          <a:xfrm>
            <a:off x="1709738" y="4997450"/>
            <a:ext cx="5383212" cy="0"/>
          </a:xfrm>
          <a:prstGeom prst="line">
            <a:avLst/>
          </a:prstGeom>
          <a:noFill/>
          <a:ln w="76200" cap="rnd" algn="ctr">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43020" name="直接连接符 66">
            <a:extLst>
              <a:ext uri="{FF2B5EF4-FFF2-40B4-BE49-F238E27FC236}">
                <a16:creationId xmlns:a16="http://schemas.microsoft.com/office/drawing/2014/main" id="{55918FBD-631C-4559-89BF-19EBE678FA43}"/>
              </a:ext>
            </a:extLst>
          </p:cNvPr>
          <p:cNvCxnSpPr>
            <a:cxnSpLocks noChangeShapeType="1"/>
            <a:stCxn id="43013" idx="2"/>
            <a:endCxn id="43013" idx="2"/>
          </p:cNvCxnSpPr>
          <p:nvPr/>
        </p:nvCxnSpPr>
        <p:spPr bwMode="auto">
          <a:xfrm>
            <a:off x="3111500" y="2060575"/>
            <a:ext cx="0" cy="0"/>
          </a:xfrm>
          <a:prstGeom prst="line">
            <a:avLst/>
          </a:prstGeom>
          <a:noFill/>
          <a:ln>
            <a:noFill/>
          </a:ln>
          <a:effectLst>
            <a:outerShdw blurRad="50800" dist="50800" dir="5400000" algn="ctr" rotWithShape="0">
              <a:schemeClr val="tx1">
                <a:lumMod val="65000"/>
                <a:lumOff val="35000"/>
              </a:schemeClr>
            </a:outerShdw>
          </a:effectLst>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miter lim="800000"/>
                <a:headEnd/>
                <a:tailEnd/>
              </a14:hiddenLine>
            </a:ext>
          </a:extLst>
        </p:spPr>
      </p:cxnSp>
      <p:cxnSp>
        <p:nvCxnSpPr>
          <p:cNvPr id="43021" name="直接连接符 68">
            <a:extLst>
              <a:ext uri="{FF2B5EF4-FFF2-40B4-BE49-F238E27FC236}">
                <a16:creationId xmlns:a16="http://schemas.microsoft.com/office/drawing/2014/main" id="{2A764FF8-9DCB-46EE-9E21-0C0B2FEEB019}"/>
              </a:ext>
            </a:extLst>
          </p:cNvPr>
          <p:cNvCxnSpPr>
            <a:cxnSpLocks noChangeShapeType="1"/>
            <a:stCxn id="43013" idx="2"/>
          </p:cNvCxnSpPr>
          <p:nvPr/>
        </p:nvCxnSpPr>
        <p:spPr bwMode="auto">
          <a:xfrm>
            <a:off x="3111500" y="2060575"/>
            <a:ext cx="914400"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miter lim="800000"/>
                <a:headEnd/>
                <a:tailEnd/>
              </a14:hiddenLine>
            </a:ext>
          </a:extLst>
        </p:spPr>
      </p:cxnSp>
      <p:cxnSp>
        <p:nvCxnSpPr>
          <p:cNvPr id="43022" name="直接连接符 70">
            <a:extLst>
              <a:ext uri="{FF2B5EF4-FFF2-40B4-BE49-F238E27FC236}">
                <a16:creationId xmlns:a16="http://schemas.microsoft.com/office/drawing/2014/main" id="{3D6F4BC0-7E74-4E2E-ACD2-3E61D2192F45}"/>
              </a:ext>
            </a:extLst>
          </p:cNvPr>
          <p:cNvCxnSpPr>
            <a:cxnSpLocks noChangeShapeType="1"/>
            <a:stCxn id="43013" idx="2"/>
          </p:cNvCxnSpPr>
          <p:nvPr/>
        </p:nvCxnSpPr>
        <p:spPr bwMode="auto">
          <a:xfrm>
            <a:off x="3111500" y="2060575"/>
            <a:ext cx="0" cy="42862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23" name="直接连接符 74">
            <a:extLst>
              <a:ext uri="{FF2B5EF4-FFF2-40B4-BE49-F238E27FC236}">
                <a16:creationId xmlns:a16="http://schemas.microsoft.com/office/drawing/2014/main" id="{8153858B-8702-44B7-B572-7EA62FFDE008}"/>
              </a:ext>
            </a:extLst>
          </p:cNvPr>
          <p:cNvCxnSpPr>
            <a:cxnSpLocks noChangeShapeType="1"/>
          </p:cNvCxnSpPr>
          <p:nvPr/>
        </p:nvCxnSpPr>
        <p:spPr bwMode="auto">
          <a:xfrm flipH="1">
            <a:off x="1116013" y="2489200"/>
            <a:ext cx="1995487" cy="317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24" name="直接连接符 78">
            <a:extLst>
              <a:ext uri="{FF2B5EF4-FFF2-40B4-BE49-F238E27FC236}">
                <a16:creationId xmlns:a16="http://schemas.microsoft.com/office/drawing/2014/main" id="{FC3E253A-EE65-4B32-80EB-AC234781BF81}"/>
              </a:ext>
            </a:extLst>
          </p:cNvPr>
          <p:cNvCxnSpPr>
            <a:cxnSpLocks noChangeShapeType="1"/>
          </p:cNvCxnSpPr>
          <p:nvPr/>
        </p:nvCxnSpPr>
        <p:spPr bwMode="auto">
          <a:xfrm>
            <a:off x="1116013" y="2492375"/>
            <a:ext cx="0" cy="2376488"/>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25" name="直接连接符 80">
            <a:extLst>
              <a:ext uri="{FF2B5EF4-FFF2-40B4-BE49-F238E27FC236}">
                <a16:creationId xmlns:a16="http://schemas.microsoft.com/office/drawing/2014/main" id="{1B05023F-3E7E-407B-A54A-048B577685A9}"/>
              </a:ext>
            </a:extLst>
          </p:cNvPr>
          <p:cNvCxnSpPr>
            <a:cxnSpLocks noChangeShapeType="1"/>
          </p:cNvCxnSpPr>
          <p:nvPr/>
        </p:nvCxnSpPr>
        <p:spPr bwMode="auto">
          <a:xfrm>
            <a:off x="1116013" y="4868863"/>
            <a:ext cx="1965325"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26" name="直接连接符 82">
            <a:extLst>
              <a:ext uri="{FF2B5EF4-FFF2-40B4-BE49-F238E27FC236}">
                <a16:creationId xmlns:a16="http://schemas.microsoft.com/office/drawing/2014/main" id="{BAE83B57-A4C4-4662-852B-DA6A81945E1A}"/>
              </a:ext>
            </a:extLst>
          </p:cNvPr>
          <p:cNvCxnSpPr>
            <a:cxnSpLocks noChangeShapeType="1"/>
            <a:stCxn id="42" idx="2"/>
            <a:endCxn id="42" idx="2"/>
          </p:cNvCxnSpPr>
          <p:nvPr/>
        </p:nvCxnSpPr>
        <p:spPr bwMode="auto">
          <a:xfrm>
            <a:off x="3081338" y="4610100"/>
            <a:ext cx="0"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27" name="直接连接符 84">
            <a:extLst>
              <a:ext uri="{FF2B5EF4-FFF2-40B4-BE49-F238E27FC236}">
                <a16:creationId xmlns:a16="http://schemas.microsoft.com/office/drawing/2014/main" id="{67DB92CE-4AE9-46E9-A53F-A0F8B1AE6ADC}"/>
              </a:ext>
            </a:extLst>
          </p:cNvPr>
          <p:cNvCxnSpPr>
            <a:cxnSpLocks noChangeShapeType="1"/>
            <a:stCxn id="42" idx="2"/>
          </p:cNvCxnSpPr>
          <p:nvPr/>
        </p:nvCxnSpPr>
        <p:spPr bwMode="auto">
          <a:xfrm>
            <a:off x="3081338" y="4610100"/>
            <a:ext cx="0" cy="258763"/>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43028" name="文本框 89">
            <a:extLst>
              <a:ext uri="{FF2B5EF4-FFF2-40B4-BE49-F238E27FC236}">
                <a16:creationId xmlns:a16="http://schemas.microsoft.com/office/drawing/2014/main" id="{FBFD6A07-7264-4543-92D7-283CB1BE8BA5}"/>
              </a:ext>
            </a:extLst>
          </p:cNvPr>
          <p:cNvSpPr txBox="1">
            <a:spLocks noChangeArrowheads="1"/>
          </p:cNvSpPr>
          <p:nvPr/>
        </p:nvSpPr>
        <p:spPr bwMode="auto">
          <a:xfrm>
            <a:off x="835025" y="2117725"/>
            <a:ext cx="2276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匹配所有标签，命中</a:t>
            </a:r>
          </a:p>
        </p:txBody>
      </p:sp>
      <p:cxnSp>
        <p:nvCxnSpPr>
          <p:cNvPr id="43029" name="直接连接符 90">
            <a:extLst>
              <a:ext uri="{FF2B5EF4-FFF2-40B4-BE49-F238E27FC236}">
                <a16:creationId xmlns:a16="http://schemas.microsoft.com/office/drawing/2014/main" id="{18B447CD-9F44-4085-B9A3-F327416DA1F5}"/>
              </a:ext>
            </a:extLst>
          </p:cNvPr>
          <p:cNvCxnSpPr>
            <a:cxnSpLocks noChangeShapeType="1"/>
          </p:cNvCxnSpPr>
          <p:nvPr/>
        </p:nvCxnSpPr>
        <p:spPr bwMode="auto">
          <a:xfrm>
            <a:off x="4675188" y="2078038"/>
            <a:ext cx="0" cy="4318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30" name="直接连接符 96">
            <a:extLst>
              <a:ext uri="{FF2B5EF4-FFF2-40B4-BE49-F238E27FC236}">
                <a16:creationId xmlns:a16="http://schemas.microsoft.com/office/drawing/2014/main" id="{DCF30E67-5C09-40A0-88E4-405E4F42DD6E}"/>
              </a:ext>
            </a:extLst>
          </p:cNvPr>
          <p:cNvCxnSpPr>
            <a:cxnSpLocks noChangeShapeType="1"/>
          </p:cNvCxnSpPr>
          <p:nvPr/>
        </p:nvCxnSpPr>
        <p:spPr bwMode="auto">
          <a:xfrm flipH="1" flipV="1">
            <a:off x="4670425" y="2495550"/>
            <a:ext cx="2925763" cy="127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31" name="直接连接符 98">
            <a:extLst>
              <a:ext uri="{FF2B5EF4-FFF2-40B4-BE49-F238E27FC236}">
                <a16:creationId xmlns:a16="http://schemas.microsoft.com/office/drawing/2014/main" id="{7E5521F7-1A2E-4176-B175-718C04DFE60A}"/>
              </a:ext>
            </a:extLst>
          </p:cNvPr>
          <p:cNvCxnSpPr>
            <a:cxnSpLocks noChangeShapeType="1"/>
          </p:cNvCxnSpPr>
          <p:nvPr/>
        </p:nvCxnSpPr>
        <p:spPr bwMode="auto">
          <a:xfrm>
            <a:off x="7596188" y="2495550"/>
            <a:ext cx="0" cy="2376488"/>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32" name="直接连接符 99">
            <a:extLst>
              <a:ext uri="{FF2B5EF4-FFF2-40B4-BE49-F238E27FC236}">
                <a16:creationId xmlns:a16="http://schemas.microsoft.com/office/drawing/2014/main" id="{CBD98F7F-E681-4505-A176-244B8578F565}"/>
              </a:ext>
            </a:extLst>
          </p:cNvPr>
          <p:cNvCxnSpPr>
            <a:cxnSpLocks noChangeShapeType="1"/>
          </p:cNvCxnSpPr>
          <p:nvPr/>
        </p:nvCxnSpPr>
        <p:spPr bwMode="auto">
          <a:xfrm>
            <a:off x="5322888" y="4868863"/>
            <a:ext cx="2254250"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3033" name="直接连接符 101">
            <a:extLst>
              <a:ext uri="{FF2B5EF4-FFF2-40B4-BE49-F238E27FC236}">
                <a16:creationId xmlns:a16="http://schemas.microsoft.com/office/drawing/2014/main" id="{7B6FA1A2-B7BE-4D5C-8E96-39AED5C53609}"/>
              </a:ext>
            </a:extLst>
          </p:cNvPr>
          <p:cNvCxnSpPr>
            <a:cxnSpLocks noChangeShapeType="1"/>
          </p:cNvCxnSpPr>
          <p:nvPr/>
        </p:nvCxnSpPr>
        <p:spPr bwMode="auto">
          <a:xfrm>
            <a:off x="5322888" y="4614863"/>
            <a:ext cx="0" cy="25717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43034" name="文本框 102">
            <a:extLst>
              <a:ext uri="{FF2B5EF4-FFF2-40B4-BE49-F238E27FC236}">
                <a16:creationId xmlns:a16="http://schemas.microsoft.com/office/drawing/2014/main" id="{B5463917-5232-41CD-8BF8-08A3212DBB4A}"/>
              </a:ext>
            </a:extLst>
          </p:cNvPr>
          <p:cNvSpPr txBox="1">
            <a:spLocks noChangeArrowheads="1"/>
          </p:cNvSpPr>
          <p:nvPr/>
        </p:nvSpPr>
        <p:spPr bwMode="auto">
          <a:xfrm>
            <a:off x="4670425" y="2136775"/>
            <a:ext cx="3089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从偏移地址</a:t>
            </a:r>
            <a:r>
              <a:rPr lang="en-US" altLang="zh-CN" sz="1800" b="1">
                <a:solidFill>
                  <a:srgbClr val="FF0000"/>
                </a:solidFill>
                <a:ea typeface="楷体_GB2312" pitchFamily="49" charset="-122"/>
              </a:rPr>
              <a:t>4</a:t>
            </a:r>
            <a:r>
              <a:rPr lang="zh-CN" altLang="en-US" sz="1800" b="1">
                <a:solidFill>
                  <a:srgbClr val="FF0000"/>
                </a:solidFill>
                <a:ea typeface="楷体_GB2312" pitchFamily="49" charset="-122"/>
              </a:rPr>
              <a:t>开始读出一个字</a:t>
            </a:r>
          </a:p>
        </p:txBody>
      </p:sp>
      <p:sp>
        <p:nvSpPr>
          <p:cNvPr id="43035" name="圆角矩形 57">
            <a:extLst>
              <a:ext uri="{FF2B5EF4-FFF2-40B4-BE49-F238E27FC236}">
                <a16:creationId xmlns:a16="http://schemas.microsoft.com/office/drawing/2014/main" id="{EBFBBD6A-BA55-4721-B961-FF34816A1DC2}"/>
              </a:ext>
            </a:extLst>
          </p:cNvPr>
          <p:cNvSpPr>
            <a:spLocks noChangeArrowheads="1"/>
          </p:cNvSpPr>
          <p:nvPr/>
        </p:nvSpPr>
        <p:spPr bwMode="auto">
          <a:xfrm>
            <a:off x="1331913" y="2662238"/>
            <a:ext cx="6100762" cy="3503612"/>
          </a:xfrm>
          <a:prstGeom prst="roundRect">
            <a:avLst>
              <a:gd name="adj" fmla="val 16667"/>
            </a:avLst>
          </a:prstGeom>
          <a:noFill/>
          <a:ln w="25400" algn="ctr">
            <a:solidFill>
              <a:srgbClr val="0033CC"/>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43036" name="文本框 104">
            <a:extLst>
              <a:ext uri="{FF2B5EF4-FFF2-40B4-BE49-F238E27FC236}">
                <a16:creationId xmlns:a16="http://schemas.microsoft.com/office/drawing/2014/main" id="{938700F1-F121-4B39-924E-6860CB5350D8}"/>
              </a:ext>
            </a:extLst>
          </p:cNvPr>
          <p:cNvSpPr txBox="1">
            <a:spLocks noChangeArrowheads="1"/>
          </p:cNvSpPr>
          <p:nvPr/>
        </p:nvSpPr>
        <p:spPr bwMode="auto">
          <a:xfrm>
            <a:off x="3930650" y="5851525"/>
            <a:ext cx="760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800">
                <a:solidFill>
                  <a:srgbClr val="0033CC"/>
                </a:solidFill>
                <a:ea typeface="楷体_GB2312" pitchFamily="49" charset="-122"/>
              </a:rPr>
              <a:t>Cache</a:t>
            </a:r>
            <a:endParaRPr lang="zh-CN" altLang="en-US" sz="1800">
              <a:solidFill>
                <a:srgbClr val="0033CC"/>
              </a:solidFill>
              <a:ea typeface="楷体_GB2312" pitchFamily="49" charset="-122"/>
            </a:endParaRPr>
          </a:p>
        </p:txBody>
      </p:sp>
    </p:spTree>
  </p:cSld>
  <p:clrMapOvr>
    <a:masterClrMapping/>
  </p:clrMapOvr>
  <p:transition spd="med">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Rectangle 2">
            <a:extLst>
              <a:ext uri="{FF2B5EF4-FFF2-40B4-BE49-F238E27FC236}">
                <a16:creationId xmlns:a16="http://schemas.microsoft.com/office/drawing/2014/main" id="{EC087815-8757-41F1-8F89-B67ACCCBB302}"/>
              </a:ext>
            </a:extLst>
          </p:cNvPr>
          <p:cNvSpPr>
            <a:spLocks noGrp="1" noChangeArrowheads="1"/>
          </p:cNvSpPr>
          <p:nvPr>
            <p:ph type="title"/>
          </p:nvPr>
        </p:nvSpPr>
        <p:spPr>
          <a:xfrm>
            <a:off x="107950" y="226220"/>
            <a:ext cx="9001125" cy="762000"/>
          </a:xfrm>
        </p:spPr>
        <p:txBody>
          <a:bodyPr/>
          <a:lstStyle/>
          <a:p>
            <a:pPr eaLnBrk="1" hangingPunct="1">
              <a:defRPr/>
            </a:pPr>
            <a:r>
              <a:rPr lang="en-US" altLang="zh-CN" dirty="0"/>
              <a:t>2</a:t>
            </a:r>
            <a:r>
              <a:rPr lang="zh-CN" altLang="en-US" dirty="0"/>
              <a:t>、直接映射</a:t>
            </a:r>
          </a:p>
        </p:txBody>
      </p:sp>
      <p:sp>
        <p:nvSpPr>
          <p:cNvPr id="45059" name="Rectangle 121">
            <a:extLst>
              <a:ext uri="{FF2B5EF4-FFF2-40B4-BE49-F238E27FC236}">
                <a16:creationId xmlns:a16="http://schemas.microsoft.com/office/drawing/2014/main" id="{849A883E-4683-4BCE-9E2D-E07B8328CB1E}"/>
              </a:ext>
            </a:extLst>
          </p:cNvPr>
          <p:cNvSpPr>
            <a:spLocks noGrp="1" noChangeArrowheads="1"/>
          </p:cNvSpPr>
          <p:nvPr>
            <p:ph type="body" sz="half" idx="1"/>
          </p:nvPr>
        </p:nvSpPr>
        <p:spPr>
          <a:xfrm>
            <a:off x="107950" y="877888"/>
            <a:ext cx="8824913" cy="5334000"/>
          </a:xfrm>
        </p:spPr>
        <p:txBody>
          <a:bodyPr/>
          <a:lstStyle/>
          <a:p>
            <a:pPr eaLnBrk="1" hangingPunct="1"/>
            <a:r>
              <a:rPr kumimoji="0" lang="zh-CN" altLang="en-US" sz="2400"/>
              <a:t>直接映射是一种</a:t>
            </a:r>
            <a:r>
              <a:rPr kumimoji="0" lang="zh-CN" altLang="en-US" sz="2400">
                <a:solidFill>
                  <a:srgbClr val="FF0000"/>
                </a:solidFill>
              </a:rPr>
              <a:t>多对一</a:t>
            </a:r>
            <a:r>
              <a:rPr kumimoji="0" lang="zh-CN" altLang="en-US" sz="2400"/>
              <a:t>的映射关系，一个主存块只能复制到</a:t>
            </a:r>
            <a:r>
              <a:rPr kumimoji="0" lang="en-US" altLang="zh-CN" sz="2400"/>
              <a:t>Cache</a:t>
            </a:r>
            <a:r>
              <a:rPr kumimoji="0" lang="zh-CN" altLang="en-US" sz="2400"/>
              <a:t>的一个特定行位置上去</a:t>
            </a:r>
          </a:p>
          <a:p>
            <a:pPr eaLnBrk="1" hangingPunct="1"/>
            <a:r>
              <a:rPr kumimoji="0" lang="en-US" altLang="zh-CN" sz="2400"/>
              <a:t>m</a:t>
            </a:r>
            <a:r>
              <a:rPr kumimoji="0" lang="zh-CN" altLang="en-US" sz="2400"/>
              <a:t>行</a:t>
            </a:r>
            <a:r>
              <a:rPr kumimoji="0" lang="en-US" altLang="zh-CN" sz="2400"/>
              <a:t>Cache</a:t>
            </a:r>
            <a:r>
              <a:rPr kumimoji="0" lang="zh-CN" altLang="en-US" sz="2400"/>
              <a:t>的行号</a:t>
            </a:r>
            <a:r>
              <a:rPr kumimoji="0" lang="en-US" altLang="zh-CN" sz="2400"/>
              <a:t>i</a:t>
            </a:r>
            <a:r>
              <a:rPr kumimoji="0" lang="zh-CN" altLang="en-US" sz="2400"/>
              <a:t>和主存的块号</a:t>
            </a:r>
            <a:r>
              <a:rPr kumimoji="0" lang="en-US" altLang="zh-CN" sz="2400"/>
              <a:t>j</a:t>
            </a:r>
            <a:r>
              <a:rPr kumimoji="0" lang="zh-CN" altLang="en-US" sz="2400"/>
              <a:t>有如下函数关系：</a:t>
            </a:r>
          </a:p>
          <a:p>
            <a:pPr eaLnBrk="1" hangingPunct="1">
              <a:buFont typeface="Wingdings 2" panose="05020102010507070707" pitchFamily="18" charset="2"/>
              <a:buNone/>
            </a:pPr>
            <a:r>
              <a:rPr kumimoji="0" lang="zh-CN" altLang="en-US" sz="2400"/>
              <a:t>         </a:t>
            </a:r>
            <a:r>
              <a:rPr kumimoji="0" lang="en-US" altLang="zh-CN" sz="2400"/>
              <a:t>i = j  mod  m</a:t>
            </a:r>
          </a:p>
          <a:p>
            <a:pPr eaLnBrk="1" hangingPunct="1"/>
            <a:r>
              <a:rPr kumimoji="0" lang="zh-CN" altLang="en-US" sz="2400"/>
              <a:t>特点：实现简单，易产生冲突缺失</a:t>
            </a:r>
          </a:p>
        </p:txBody>
      </p:sp>
      <p:graphicFrame>
        <p:nvGraphicFramePr>
          <p:cNvPr id="791625" name="Group 73">
            <a:extLst>
              <a:ext uri="{FF2B5EF4-FFF2-40B4-BE49-F238E27FC236}">
                <a16:creationId xmlns:a16="http://schemas.microsoft.com/office/drawing/2014/main" id="{02AE450C-45ED-4D84-949A-ABFB223DDC91}"/>
              </a:ext>
            </a:extLst>
          </p:cNvPr>
          <p:cNvGraphicFramePr>
            <a:graphicFrameLocks noGrp="1"/>
          </p:cNvGraphicFramePr>
          <p:nvPr>
            <p:ph sz="half" idx="2"/>
          </p:nvPr>
        </p:nvGraphicFramePr>
        <p:xfrm>
          <a:off x="6953250" y="2189163"/>
          <a:ext cx="1460500" cy="4373564"/>
        </p:xfrm>
        <a:graphic>
          <a:graphicData uri="http://schemas.openxmlformats.org/drawingml/2006/table">
            <a:tbl>
              <a:tblPr/>
              <a:tblGrid>
                <a:gridCol w="1460500">
                  <a:extLst>
                    <a:ext uri="{9D8B030D-6E8A-4147-A177-3AD203B41FA5}">
                      <a16:colId xmlns:a16="http://schemas.microsoft.com/office/drawing/2014/main" val="20000"/>
                    </a:ext>
                  </a:extLst>
                </a:gridCol>
              </a:tblGrid>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00"/>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48880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04"/>
                  </a:ext>
                </a:extLst>
              </a:tr>
              <a:tr h="534831">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6"/>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07"/>
                  </a:ext>
                </a:extLst>
              </a:tr>
              <a:tr h="461829">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8"/>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9"/>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10"/>
                  </a:ext>
                </a:extLst>
              </a:tr>
              <a:tr h="693536">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11"/>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12"/>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13"/>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14"/>
                  </a:ext>
                </a:extLst>
              </a:tr>
              <a:tr h="18288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dirty="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15"/>
                  </a:ext>
                </a:extLst>
              </a:tr>
            </a:tbl>
          </a:graphicData>
        </a:graphic>
      </p:graphicFrame>
      <p:sp>
        <p:nvSpPr>
          <p:cNvPr id="45097" name="Rectangle 134">
            <a:extLst>
              <a:ext uri="{FF2B5EF4-FFF2-40B4-BE49-F238E27FC236}">
                <a16:creationId xmlns:a16="http://schemas.microsoft.com/office/drawing/2014/main" id="{8792D76A-94A7-4A7A-85A4-4EFCE34C722F}"/>
              </a:ext>
            </a:extLst>
          </p:cNvPr>
          <p:cNvSpPr>
            <a:spLocks noChangeArrowheads="1"/>
          </p:cNvSpPr>
          <p:nvPr/>
        </p:nvSpPr>
        <p:spPr bwMode="auto">
          <a:xfrm>
            <a:off x="6958013" y="5851525"/>
            <a:ext cx="1446212" cy="708025"/>
          </a:xfrm>
          <a:prstGeom prst="rect">
            <a:avLst/>
          </a:prstGeom>
          <a:solidFill>
            <a:srgbClr val="9900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5098" name="Rectangle 132">
            <a:extLst>
              <a:ext uri="{FF2B5EF4-FFF2-40B4-BE49-F238E27FC236}">
                <a16:creationId xmlns:a16="http://schemas.microsoft.com/office/drawing/2014/main" id="{5B4752BC-7E77-468A-8F8E-38992187A6B5}"/>
              </a:ext>
            </a:extLst>
          </p:cNvPr>
          <p:cNvSpPr>
            <a:spLocks noChangeArrowheads="1"/>
          </p:cNvSpPr>
          <p:nvPr/>
        </p:nvSpPr>
        <p:spPr bwMode="auto">
          <a:xfrm>
            <a:off x="6962775" y="4129088"/>
            <a:ext cx="1446213" cy="823912"/>
          </a:xfrm>
          <a:prstGeom prst="rect">
            <a:avLst/>
          </a:prstGeom>
          <a:solidFill>
            <a:srgbClr val="00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5099" name="Rectangle 124">
            <a:extLst>
              <a:ext uri="{FF2B5EF4-FFF2-40B4-BE49-F238E27FC236}">
                <a16:creationId xmlns:a16="http://schemas.microsoft.com/office/drawing/2014/main" id="{36C12831-03CB-41B2-BB9B-DDF4E24DD01D}"/>
              </a:ext>
            </a:extLst>
          </p:cNvPr>
          <p:cNvSpPr>
            <a:spLocks noChangeArrowheads="1"/>
          </p:cNvSpPr>
          <p:nvPr/>
        </p:nvSpPr>
        <p:spPr bwMode="auto">
          <a:xfrm>
            <a:off x="6958013" y="3246438"/>
            <a:ext cx="1446212" cy="879475"/>
          </a:xfrm>
          <a:prstGeom prst="rect">
            <a:avLst/>
          </a:prstGeom>
          <a:solidFill>
            <a:srgbClr val="CC0066"/>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5100" name="Rectangle 131">
            <a:extLst>
              <a:ext uri="{FF2B5EF4-FFF2-40B4-BE49-F238E27FC236}">
                <a16:creationId xmlns:a16="http://schemas.microsoft.com/office/drawing/2014/main" id="{11989F92-C556-463A-92CB-774672B7D3DC}"/>
              </a:ext>
            </a:extLst>
          </p:cNvPr>
          <p:cNvSpPr>
            <a:spLocks noChangeArrowheads="1"/>
          </p:cNvSpPr>
          <p:nvPr/>
        </p:nvSpPr>
        <p:spPr bwMode="auto">
          <a:xfrm>
            <a:off x="6948488" y="2189163"/>
            <a:ext cx="1446212" cy="1050925"/>
          </a:xfrm>
          <a:prstGeom prst="rect">
            <a:avLst/>
          </a:prstGeom>
          <a:solidFill>
            <a:srgbClr val="CC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5101" name="Rectangle 122">
            <a:extLst>
              <a:ext uri="{FF2B5EF4-FFF2-40B4-BE49-F238E27FC236}">
                <a16:creationId xmlns:a16="http://schemas.microsoft.com/office/drawing/2014/main" id="{0759068C-3FDB-4207-9855-2B73F2F248D1}"/>
              </a:ext>
            </a:extLst>
          </p:cNvPr>
          <p:cNvSpPr>
            <a:spLocks noChangeArrowheads="1"/>
          </p:cNvSpPr>
          <p:nvPr/>
        </p:nvSpPr>
        <p:spPr bwMode="auto">
          <a:xfrm>
            <a:off x="1981200" y="3186113"/>
            <a:ext cx="647700" cy="2170112"/>
          </a:xfrm>
          <a:prstGeom prst="rect">
            <a:avLst/>
          </a:prstGeom>
          <a:solidFill>
            <a:srgbClr val="FF7C8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aphicFrame>
        <p:nvGraphicFramePr>
          <p:cNvPr id="791672" name="Group 120">
            <a:extLst>
              <a:ext uri="{FF2B5EF4-FFF2-40B4-BE49-F238E27FC236}">
                <a16:creationId xmlns:a16="http://schemas.microsoft.com/office/drawing/2014/main" id="{EFC58A43-F3D5-4D41-9360-BA8D6217DC0E}"/>
              </a:ext>
            </a:extLst>
          </p:cNvPr>
          <p:cNvGraphicFramePr>
            <a:graphicFrameLocks noGrp="1"/>
          </p:cNvGraphicFramePr>
          <p:nvPr/>
        </p:nvGraphicFramePr>
        <p:xfrm>
          <a:off x="1476375" y="2908300"/>
          <a:ext cx="2662238" cy="2743200"/>
        </p:xfrm>
        <a:graphic>
          <a:graphicData uri="http://schemas.openxmlformats.org/drawingml/2006/table">
            <a:tbl>
              <a:tblPr/>
              <a:tblGrid>
                <a:gridCol w="492215">
                  <a:extLst>
                    <a:ext uri="{9D8B030D-6E8A-4147-A177-3AD203B41FA5}">
                      <a16:colId xmlns:a16="http://schemas.microsoft.com/office/drawing/2014/main" val="20000"/>
                    </a:ext>
                  </a:extLst>
                </a:gridCol>
                <a:gridCol w="277864">
                  <a:extLst>
                    <a:ext uri="{9D8B030D-6E8A-4147-A177-3AD203B41FA5}">
                      <a16:colId xmlns:a16="http://schemas.microsoft.com/office/drawing/2014/main" val="20001"/>
                    </a:ext>
                  </a:extLst>
                </a:gridCol>
                <a:gridCol w="597604">
                  <a:extLst>
                    <a:ext uri="{9D8B030D-6E8A-4147-A177-3AD203B41FA5}">
                      <a16:colId xmlns:a16="http://schemas.microsoft.com/office/drawing/2014/main" val="20002"/>
                    </a:ext>
                  </a:extLst>
                </a:gridCol>
                <a:gridCol w="1294555">
                  <a:extLst>
                    <a:ext uri="{9D8B030D-6E8A-4147-A177-3AD203B41FA5}">
                      <a16:colId xmlns:a16="http://schemas.microsoft.com/office/drawing/2014/main" val="20003"/>
                    </a:ext>
                  </a:extLst>
                </a:gridCol>
              </a:tblGrid>
              <a:tr h="119063">
                <a:tc gridSpan="2">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dirty="0">
                          <a:ln>
                            <a:noFill/>
                          </a:ln>
                          <a:solidFill>
                            <a:schemeClr val="tx1"/>
                          </a:solidFill>
                          <a:effectLst/>
                          <a:latin typeface="Times New Roman" pitchFamily="18" charset="0"/>
                          <a:ea typeface="楷体_GB2312" pitchFamily="49" charset="-122"/>
                        </a:rPr>
                        <a:t>行号</a:t>
                      </a:r>
                    </a:p>
                  </a:txBody>
                  <a:tcPr marL="90016" marR="90016" marT="0" marB="0" horzOverflow="overflow">
                    <a:lnL cap="flat">
                      <a:noFill/>
                    </a:lnL>
                    <a:lnR>
                      <a:noFill/>
                    </a:lnR>
                    <a:lnT cap="flat">
                      <a:noFill/>
                    </a:lnT>
                    <a:lnB>
                      <a:noFill/>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itchFamily="18" charset="0"/>
                          <a:ea typeface="楷体_GB2312" pitchFamily="49" charset="-122"/>
                        </a:rPr>
                        <a:t>Cache</a:t>
                      </a:r>
                    </a:p>
                  </a:txBody>
                  <a:tcPr marL="90016" marR="90016" marT="0" marB="0" horzOverflow="overflow">
                    <a:lnL>
                      <a:noFill/>
                    </a:lnL>
                    <a:lnR cap="flat">
                      <a:noFill/>
                    </a:lnR>
                    <a:lnT cap="flat">
                      <a:noFill/>
                    </a:lnT>
                    <a:lnB w="28575"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119063">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L0</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120650">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L1</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119063">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L2</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119063">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L3</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r h="119063">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L4</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r h="120650">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L5</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6"/>
                  </a:ext>
                </a:extLst>
              </a:tr>
              <a:tr h="119063">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L6</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r>
                        <a:rPr lang="en-US" altLang="zh-CN" dirty="0"/>
                        <a:t>       </a:t>
                      </a:r>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7"/>
                  </a:ext>
                </a:extLst>
              </a:tr>
              <a:tr h="119063">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kern="1200" cap="none" normalizeH="0" baseline="0">
                          <a:ln>
                            <a:noFill/>
                          </a:ln>
                          <a:solidFill>
                            <a:schemeClr val="tx1"/>
                          </a:solidFill>
                          <a:effectLst/>
                          <a:latin typeface="Times New Roman" pitchFamily="18" charset="0"/>
                          <a:ea typeface="楷体_GB2312" pitchFamily="49" charset="-122"/>
                          <a:cs typeface="+mn-cs"/>
                        </a:rPr>
                        <a:t>L7</a:t>
                      </a:r>
                    </a:p>
                  </a:txBody>
                  <a:tcPr marL="90016" marR="90016" marT="0" marB="0" horzOverflow="overflow">
                    <a:lnL cap="flat">
                      <a:noFill/>
                    </a:lnL>
                    <a:lnR w="28575" cap="flat" cmpd="sng" algn="ctr">
                      <a:solidFill>
                        <a:schemeClr val="tx1"/>
                      </a:solidFill>
                      <a:prstDash val="solid"/>
                      <a:round/>
                      <a:headEnd type="none" w="med" len="med"/>
                      <a:tailEnd type="none" w="lg" len="lg"/>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kern="1200" cap="none" normalizeH="0" baseline="0" dirty="0">
                        <a:ln>
                          <a:noFill/>
                        </a:ln>
                        <a:solidFill>
                          <a:schemeClr val="tx1"/>
                        </a:solidFill>
                        <a:effectLst/>
                        <a:latin typeface="Times New Roman" pitchFamily="18" charset="0"/>
                        <a:ea typeface="楷体_GB2312" pitchFamily="49" charset="-122"/>
                        <a:cs typeface="+mn-cs"/>
                      </a:endParaRPr>
                    </a:p>
                  </a:txBody>
                  <a:tcPr marL="90016" marR="90016"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660066"/>
                    </a:solidFill>
                  </a:tcPr>
                </a:tc>
                <a:tc>
                  <a:txBody>
                    <a:bodyPr/>
                    <a:lstStyle/>
                    <a:p>
                      <a:endParaRPr lang="zh-CN" altLang="en-US" dirty="0"/>
                    </a:p>
                  </a:txBody>
                  <a:tcPr marL="90016" marR="90016" marT="0" marB="0"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FF5050"/>
                    </a:solidFill>
                  </a:tcPr>
                </a:tc>
                <a:tc>
                  <a:txBody>
                    <a:body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itchFamily="18" charset="0"/>
                        <a:ea typeface="楷体_GB2312" pitchFamily="49" charset="-122"/>
                      </a:endParaRPr>
                    </a:p>
                  </a:txBody>
                  <a:tcPr marL="90016" marR="90016"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91608" name="Text Box 56">
            <a:extLst>
              <a:ext uri="{FF2B5EF4-FFF2-40B4-BE49-F238E27FC236}">
                <a16:creationId xmlns:a16="http://schemas.microsoft.com/office/drawing/2014/main" id="{42BBCB48-7862-42EF-A3EA-748A46B22D41}"/>
              </a:ext>
            </a:extLst>
          </p:cNvPr>
          <p:cNvSpPr txBox="1">
            <a:spLocks noChangeArrowheads="1"/>
          </p:cNvSpPr>
          <p:nvPr/>
        </p:nvSpPr>
        <p:spPr bwMode="auto">
          <a:xfrm>
            <a:off x="2484438" y="5995988"/>
            <a:ext cx="1104900" cy="400050"/>
          </a:xfrm>
          <a:prstGeom prst="rect">
            <a:avLst/>
          </a:prstGeom>
          <a:noFill/>
          <a:ln w="19050">
            <a:noFill/>
            <a:miter lim="800000"/>
            <a:headEnd/>
            <a:tailEnd type="none" w="lg" len="lg"/>
          </a:ln>
          <a:effectLst/>
        </p:spPr>
        <p:txBody>
          <a:bodyPr wrap="none">
            <a:spAutoFit/>
          </a:bodyPr>
          <a:lstStyle/>
          <a:p>
            <a:pPr algn="r" eaLnBrk="1" hangingPunct="1">
              <a:defRPr/>
            </a:pPr>
            <a:r>
              <a:rPr kumimoji="0" lang="zh-CN" altLang="en-US" sz="2000" b="1" dirty="0">
                <a:effectLst>
                  <a:outerShdw blurRad="38100" dist="38100" dir="2700000" algn="tl">
                    <a:srgbClr val="C0C0C0"/>
                  </a:outerShdw>
                </a:effectLst>
                <a:ea typeface="楷体_GB2312" pitchFamily="49" charset="-122"/>
              </a:rPr>
              <a:t>标签</a:t>
            </a:r>
            <a:r>
              <a:rPr kumimoji="0" lang="en-US" altLang="zh-CN" sz="2000" b="1" dirty="0">
                <a:effectLst>
                  <a:outerShdw blurRad="38100" dist="38100" dir="2700000" algn="tl">
                    <a:srgbClr val="C0C0C0"/>
                  </a:outerShdw>
                </a:effectLst>
                <a:ea typeface="楷体_GB2312" pitchFamily="49" charset="-122"/>
              </a:rPr>
              <a:t>Tag</a:t>
            </a:r>
          </a:p>
        </p:txBody>
      </p:sp>
      <p:sp>
        <p:nvSpPr>
          <p:cNvPr id="791609" name="Text Box 57">
            <a:extLst>
              <a:ext uri="{FF2B5EF4-FFF2-40B4-BE49-F238E27FC236}">
                <a16:creationId xmlns:a16="http://schemas.microsoft.com/office/drawing/2014/main" id="{C21237EF-19E2-478A-80CC-0B9D5E28F816}"/>
              </a:ext>
            </a:extLst>
          </p:cNvPr>
          <p:cNvSpPr txBox="1">
            <a:spLocks noChangeArrowheads="1"/>
          </p:cNvSpPr>
          <p:nvPr/>
        </p:nvSpPr>
        <p:spPr bwMode="auto">
          <a:xfrm>
            <a:off x="7423150" y="1825625"/>
            <a:ext cx="692150"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zh-CN" altLang="en-US" sz="2000" b="1">
                <a:effectLst>
                  <a:outerShdw blurRad="38100" dist="38100" dir="2700000" algn="tl">
                    <a:srgbClr val="C0C0C0"/>
                  </a:outerShdw>
                </a:effectLst>
                <a:latin typeface="Tahoma" pitchFamily="34" charset="0"/>
                <a:ea typeface="宋体" pitchFamily="2" charset="-122"/>
              </a:rPr>
              <a:t>主存</a:t>
            </a:r>
          </a:p>
        </p:txBody>
      </p:sp>
      <p:sp>
        <p:nvSpPr>
          <p:cNvPr id="791610" name="Text Box 58">
            <a:extLst>
              <a:ext uri="{FF2B5EF4-FFF2-40B4-BE49-F238E27FC236}">
                <a16:creationId xmlns:a16="http://schemas.microsoft.com/office/drawing/2014/main" id="{66D500F6-8B5D-41E4-B20C-2CF5AD518D53}"/>
              </a:ext>
            </a:extLst>
          </p:cNvPr>
          <p:cNvSpPr txBox="1">
            <a:spLocks noChangeArrowheads="1"/>
          </p:cNvSpPr>
          <p:nvPr/>
        </p:nvSpPr>
        <p:spPr bwMode="auto">
          <a:xfrm>
            <a:off x="8355013" y="1824038"/>
            <a:ext cx="692150" cy="396875"/>
          </a:xfrm>
          <a:prstGeom prst="rect">
            <a:avLst/>
          </a:prstGeom>
          <a:noFill/>
          <a:ln w="19050">
            <a:noFill/>
            <a:miter lim="800000"/>
            <a:headEnd/>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r" eaLnBrk="1" hangingPunct="1">
              <a:defRPr/>
            </a:pPr>
            <a:r>
              <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rPr>
              <a:t>块号</a:t>
            </a:r>
          </a:p>
        </p:txBody>
      </p:sp>
      <p:sp>
        <p:nvSpPr>
          <p:cNvPr id="791611" name="Text Box 59">
            <a:extLst>
              <a:ext uri="{FF2B5EF4-FFF2-40B4-BE49-F238E27FC236}">
                <a16:creationId xmlns:a16="http://schemas.microsoft.com/office/drawing/2014/main" id="{7E30EE45-540C-4280-9BE3-191B3B51352B}"/>
              </a:ext>
            </a:extLst>
          </p:cNvPr>
          <p:cNvSpPr txBox="1">
            <a:spLocks noChangeArrowheads="1"/>
          </p:cNvSpPr>
          <p:nvPr/>
        </p:nvSpPr>
        <p:spPr bwMode="auto">
          <a:xfrm>
            <a:off x="8391525" y="2090738"/>
            <a:ext cx="471488"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B0</a:t>
            </a:r>
          </a:p>
        </p:txBody>
      </p:sp>
      <p:sp>
        <p:nvSpPr>
          <p:cNvPr id="791612" name="Text Box 60">
            <a:extLst>
              <a:ext uri="{FF2B5EF4-FFF2-40B4-BE49-F238E27FC236}">
                <a16:creationId xmlns:a16="http://schemas.microsoft.com/office/drawing/2014/main" id="{1FBB7DC0-FC2A-4D24-A938-CD41B4641F78}"/>
              </a:ext>
            </a:extLst>
          </p:cNvPr>
          <p:cNvSpPr txBox="1">
            <a:spLocks noChangeArrowheads="1"/>
          </p:cNvSpPr>
          <p:nvPr/>
        </p:nvSpPr>
        <p:spPr bwMode="auto">
          <a:xfrm>
            <a:off x="8389938" y="2319338"/>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B1</a:t>
            </a:r>
          </a:p>
        </p:txBody>
      </p:sp>
      <p:sp>
        <p:nvSpPr>
          <p:cNvPr id="791613" name="Text Box 61">
            <a:extLst>
              <a:ext uri="{FF2B5EF4-FFF2-40B4-BE49-F238E27FC236}">
                <a16:creationId xmlns:a16="http://schemas.microsoft.com/office/drawing/2014/main" id="{7C5F8E06-C61A-495D-A8D9-AD1C155B8E3F}"/>
              </a:ext>
            </a:extLst>
          </p:cNvPr>
          <p:cNvSpPr txBox="1">
            <a:spLocks noChangeArrowheads="1"/>
          </p:cNvSpPr>
          <p:nvPr/>
        </p:nvSpPr>
        <p:spPr bwMode="auto">
          <a:xfrm>
            <a:off x="8404225" y="6318250"/>
            <a:ext cx="747713"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B255</a:t>
            </a:r>
          </a:p>
        </p:txBody>
      </p:sp>
      <p:sp>
        <p:nvSpPr>
          <p:cNvPr id="45156" name="Line 62">
            <a:extLst>
              <a:ext uri="{FF2B5EF4-FFF2-40B4-BE49-F238E27FC236}">
                <a16:creationId xmlns:a16="http://schemas.microsoft.com/office/drawing/2014/main" id="{87CA612A-3E24-446F-BBDC-5DD3DD2271FE}"/>
              </a:ext>
            </a:extLst>
          </p:cNvPr>
          <p:cNvSpPr>
            <a:spLocks noChangeShapeType="1"/>
          </p:cNvSpPr>
          <p:nvPr/>
        </p:nvSpPr>
        <p:spPr bwMode="auto">
          <a:xfrm flipH="1">
            <a:off x="4060825" y="2274888"/>
            <a:ext cx="2873375" cy="971550"/>
          </a:xfrm>
          <a:prstGeom prst="line">
            <a:avLst/>
          </a:prstGeom>
          <a:noFill/>
          <a:ln w="1905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57" name="Line 63">
            <a:extLst>
              <a:ext uri="{FF2B5EF4-FFF2-40B4-BE49-F238E27FC236}">
                <a16:creationId xmlns:a16="http://schemas.microsoft.com/office/drawing/2014/main" id="{1FB20F28-8C1B-457D-9FB8-4DCBE293026B}"/>
              </a:ext>
            </a:extLst>
          </p:cNvPr>
          <p:cNvSpPr>
            <a:spLocks noChangeShapeType="1"/>
          </p:cNvSpPr>
          <p:nvPr/>
        </p:nvSpPr>
        <p:spPr bwMode="auto">
          <a:xfrm flipH="1" flipV="1">
            <a:off x="4057650" y="3262313"/>
            <a:ext cx="2874963" cy="41275"/>
          </a:xfrm>
          <a:prstGeom prst="line">
            <a:avLst/>
          </a:prstGeom>
          <a:noFill/>
          <a:ln w="1905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58" name="Line 64">
            <a:extLst>
              <a:ext uri="{FF2B5EF4-FFF2-40B4-BE49-F238E27FC236}">
                <a16:creationId xmlns:a16="http://schemas.microsoft.com/office/drawing/2014/main" id="{326ABAFF-5C52-4138-8D43-B077C06EC26A}"/>
              </a:ext>
            </a:extLst>
          </p:cNvPr>
          <p:cNvSpPr>
            <a:spLocks noChangeShapeType="1"/>
          </p:cNvSpPr>
          <p:nvPr/>
        </p:nvSpPr>
        <p:spPr bwMode="auto">
          <a:xfrm flipH="1" flipV="1">
            <a:off x="4060825" y="3333750"/>
            <a:ext cx="2916238" cy="857250"/>
          </a:xfrm>
          <a:prstGeom prst="line">
            <a:avLst/>
          </a:prstGeom>
          <a:noFill/>
          <a:ln w="1905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59" name="Line 65">
            <a:extLst>
              <a:ext uri="{FF2B5EF4-FFF2-40B4-BE49-F238E27FC236}">
                <a16:creationId xmlns:a16="http://schemas.microsoft.com/office/drawing/2014/main" id="{AD383663-7A7A-403E-B2EB-E5A3E44299C8}"/>
              </a:ext>
            </a:extLst>
          </p:cNvPr>
          <p:cNvSpPr>
            <a:spLocks noChangeShapeType="1"/>
          </p:cNvSpPr>
          <p:nvPr/>
        </p:nvSpPr>
        <p:spPr bwMode="auto">
          <a:xfrm flipH="1" flipV="1">
            <a:off x="4075113" y="3376613"/>
            <a:ext cx="2859087" cy="1655762"/>
          </a:xfrm>
          <a:prstGeom prst="line">
            <a:avLst/>
          </a:prstGeom>
          <a:noFill/>
          <a:ln w="1905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60" name="Line 66">
            <a:extLst>
              <a:ext uri="{FF2B5EF4-FFF2-40B4-BE49-F238E27FC236}">
                <a16:creationId xmlns:a16="http://schemas.microsoft.com/office/drawing/2014/main" id="{D86DB03F-7737-42DF-B34B-798907A4E89F}"/>
              </a:ext>
            </a:extLst>
          </p:cNvPr>
          <p:cNvSpPr>
            <a:spLocks noChangeShapeType="1"/>
          </p:cNvSpPr>
          <p:nvPr/>
        </p:nvSpPr>
        <p:spPr bwMode="auto">
          <a:xfrm flipH="1" flipV="1">
            <a:off x="4075113" y="3463925"/>
            <a:ext cx="2873375" cy="2424113"/>
          </a:xfrm>
          <a:prstGeom prst="line">
            <a:avLst/>
          </a:prstGeom>
          <a:noFill/>
          <a:ln w="19050">
            <a:solidFill>
              <a:schemeClr val="tx2"/>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61" name="Line 67">
            <a:extLst>
              <a:ext uri="{FF2B5EF4-FFF2-40B4-BE49-F238E27FC236}">
                <a16:creationId xmlns:a16="http://schemas.microsoft.com/office/drawing/2014/main" id="{BF52C2BF-F698-46AA-A651-C1E522F1C9C9}"/>
              </a:ext>
            </a:extLst>
          </p:cNvPr>
          <p:cNvSpPr>
            <a:spLocks noChangeShapeType="1"/>
          </p:cNvSpPr>
          <p:nvPr/>
        </p:nvSpPr>
        <p:spPr bwMode="auto">
          <a:xfrm flipH="1">
            <a:off x="4103688" y="3144838"/>
            <a:ext cx="2830512" cy="223520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62" name="Line 68">
            <a:extLst>
              <a:ext uri="{FF2B5EF4-FFF2-40B4-BE49-F238E27FC236}">
                <a16:creationId xmlns:a16="http://schemas.microsoft.com/office/drawing/2014/main" id="{B49FDA3B-8DA8-4EB9-8D3A-B82695F0F41E}"/>
              </a:ext>
            </a:extLst>
          </p:cNvPr>
          <p:cNvSpPr>
            <a:spLocks noChangeShapeType="1"/>
          </p:cNvSpPr>
          <p:nvPr/>
        </p:nvSpPr>
        <p:spPr bwMode="auto">
          <a:xfrm flipH="1">
            <a:off x="4060825" y="4059238"/>
            <a:ext cx="2873375" cy="13779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63" name="Line 69">
            <a:extLst>
              <a:ext uri="{FF2B5EF4-FFF2-40B4-BE49-F238E27FC236}">
                <a16:creationId xmlns:a16="http://schemas.microsoft.com/office/drawing/2014/main" id="{04FB6009-4761-41A8-B584-4E8A1F68FC04}"/>
              </a:ext>
            </a:extLst>
          </p:cNvPr>
          <p:cNvSpPr>
            <a:spLocks noChangeShapeType="1"/>
          </p:cNvSpPr>
          <p:nvPr/>
        </p:nvSpPr>
        <p:spPr bwMode="auto">
          <a:xfrm flipH="1">
            <a:off x="4075113" y="4843463"/>
            <a:ext cx="2844800" cy="60960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5164" name="Line 70">
            <a:extLst>
              <a:ext uri="{FF2B5EF4-FFF2-40B4-BE49-F238E27FC236}">
                <a16:creationId xmlns:a16="http://schemas.microsoft.com/office/drawing/2014/main" id="{B880B41B-6A61-4D5A-89DE-C4D03CC720CE}"/>
              </a:ext>
            </a:extLst>
          </p:cNvPr>
          <p:cNvSpPr>
            <a:spLocks noChangeShapeType="1"/>
          </p:cNvSpPr>
          <p:nvPr/>
        </p:nvSpPr>
        <p:spPr bwMode="auto">
          <a:xfrm flipH="1" flipV="1">
            <a:off x="4075113" y="5524500"/>
            <a:ext cx="2901950" cy="9445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791624" name="Text Box 72">
            <a:extLst>
              <a:ext uri="{FF2B5EF4-FFF2-40B4-BE49-F238E27FC236}">
                <a16:creationId xmlns:a16="http://schemas.microsoft.com/office/drawing/2014/main" id="{203EB7F2-8570-4563-978F-E534C569A4DB}"/>
              </a:ext>
            </a:extLst>
          </p:cNvPr>
          <p:cNvSpPr txBox="1">
            <a:spLocks noChangeArrowheads="1"/>
          </p:cNvSpPr>
          <p:nvPr/>
        </p:nvSpPr>
        <p:spPr bwMode="auto">
          <a:xfrm rot="5400000">
            <a:off x="7468707" y="2453243"/>
            <a:ext cx="723275" cy="738664"/>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b="1" dirty="0">
                <a:solidFill>
                  <a:schemeClr val="bg1"/>
                </a:solidFill>
                <a:effectLst>
                  <a:outerShdw blurRad="38100" dist="38100" dir="2700000" algn="tl">
                    <a:srgbClr val="C0C0C0"/>
                  </a:outerShdw>
                </a:effectLst>
                <a:latin typeface="Arial"/>
                <a:ea typeface="宋体" pitchFamily="2" charset="-122"/>
              </a:rPr>
              <a:t>…</a:t>
            </a:r>
            <a:endParaRPr kumimoji="0" lang="en-US" altLang="zh-CN" b="1" dirty="0">
              <a:solidFill>
                <a:schemeClr val="bg1"/>
              </a:solidFill>
              <a:effectLst>
                <a:outerShdw blurRad="38100" dist="38100" dir="2700000" algn="tl">
                  <a:srgbClr val="C0C0C0"/>
                </a:outerShdw>
              </a:effectLst>
              <a:latin typeface="Tahoma" pitchFamily="34" charset="0"/>
              <a:ea typeface="宋体" pitchFamily="2" charset="-122"/>
            </a:endParaRPr>
          </a:p>
        </p:txBody>
      </p:sp>
      <p:sp>
        <p:nvSpPr>
          <p:cNvPr id="791661" name="Text Box 109">
            <a:extLst>
              <a:ext uri="{FF2B5EF4-FFF2-40B4-BE49-F238E27FC236}">
                <a16:creationId xmlns:a16="http://schemas.microsoft.com/office/drawing/2014/main" id="{878C5349-977A-463A-B17E-C01B5373B061}"/>
              </a:ext>
            </a:extLst>
          </p:cNvPr>
          <p:cNvSpPr txBox="1">
            <a:spLocks noChangeArrowheads="1"/>
          </p:cNvSpPr>
          <p:nvPr/>
        </p:nvSpPr>
        <p:spPr bwMode="auto">
          <a:xfrm rot="5400000">
            <a:off x="7454420" y="3323193"/>
            <a:ext cx="723275" cy="738664"/>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b="1" dirty="0">
                <a:solidFill>
                  <a:schemeClr val="bg1"/>
                </a:solidFill>
                <a:effectLst>
                  <a:outerShdw blurRad="38100" dist="38100" dir="2700000" algn="tl">
                    <a:srgbClr val="C0C0C0"/>
                  </a:outerShdw>
                </a:effectLst>
                <a:latin typeface="Arial"/>
                <a:ea typeface="宋体" pitchFamily="2" charset="-122"/>
              </a:rPr>
              <a:t>…</a:t>
            </a:r>
            <a:endParaRPr kumimoji="0" lang="en-US" altLang="zh-CN" b="1" dirty="0">
              <a:solidFill>
                <a:schemeClr val="bg1"/>
              </a:solidFill>
              <a:effectLst>
                <a:outerShdw blurRad="38100" dist="38100" dir="2700000" algn="tl">
                  <a:srgbClr val="C0C0C0"/>
                </a:outerShdw>
              </a:effectLst>
              <a:latin typeface="Tahoma" pitchFamily="34" charset="0"/>
              <a:ea typeface="宋体" pitchFamily="2" charset="-122"/>
            </a:endParaRPr>
          </a:p>
        </p:txBody>
      </p:sp>
      <p:sp>
        <p:nvSpPr>
          <p:cNvPr id="791662" name="Text Box 110">
            <a:extLst>
              <a:ext uri="{FF2B5EF4-FFF2-40B4-BE49-F238E27FC236}">
                <a16:creationId xmlns:a16="http://schemas.microsoft.com/office/drawing/2014/main" id="{CEDF9801-3CB9-45E3-9A50-D079B3A02FE9}"/>
              </a:ext>
            </a:extLst>
          </p:cNvPr>
          <p:cNvSpPr txBox="1">
            <a:spLocks noChangeArrowheads="1"/>
          </p:cNvSpPr>
          <p:nvPr/>
        </p:nvSpPr>
        <p:spPr bwMode="auto">
          <a:xfrm rot="5400000">
            <a:off x="7456007" y="4178856"/>
            <a:ext cx="723275" cy="738664"/>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b="1" dirty="0">
                <a:solidFill>
                  <a:schemeClr val="bg1"/>
                </a:solidFill>
                <a:effectLst>
                  <a:outerShdw blurRad="38100" dist="38100" dir="2700000" algn="tl">
                    <a:srgbClr val="C0C0C0"/>
                  </a:outerShdw>
                </a:effectLst>
                <a:latin typeface="Arial"/>
                <a:ea typeface="宋体" pitchFamily="2" charset="-122"/>
              </a:rPr>
              <a:t>…</a:t>
            </a:r>
            <a:endParaRPr kumimoji="0" lang="en-US" altLang="zh-CN" b="1" dirty="0">
              <a:solidFill>
                <a:schemeClr val="bg1"/>
              </a:solidFill>
              <a:effectLst>
                <a:outerShdw blurRad="38100" dist="38100" dir="2700000" algn="tl">
                  <a:srgbClr val="C0C0C0"/>
                </a:outerShdw>
              </a:effectLst>
              <a:latin typeface="Tahoma" pitchFamily="34" charset="0"/>
              <a:ea typeface="宋体" pitchFamily="2" charset="-122"/>
            </a:endParaRPr>
          </a:p>
        </p:txBody>
      </p:sp>
      <p:sp>
        <p:nvSpPr>
          <p:cNvPr id="791663" name="Text Box 111">
            <a:extLst>
              <a:ext uri="{FF2B5EF4-FFF2-40B4-BE49-F238E27FC236}">
                <a16:creationId xmlns:a16="http://schemas.microsoft.com/office/drawing/2014/main" id="{CD34EFB1-28ED-444F-99C4-DD9B0BF89753}"/>
              </a:ext>
            </a:extLst>
          </p:cNvPr>
          <p:cNvSpPr txBox="1">
            <a:spLocks noChangeArrowheads="1"/>
          </p:cNvSpPr>
          <p:nvPr/>
        </p:nvSpPr>
        <p:spPr bwMode="auto">
          <a:xfrm rot="5400000">
            <a:off x="7470295" y="5150406"/>
            <a:ext cx="723275" cy="738664"/>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b="1" dirty="0">
                <a:solidFill>
                  <a:schemeClr val="bg1"/>
                </a:solidFill>
                <a:effectLst>
                  <a:outerShdw blurRad="38100" dist="38100" dir="2700000" algn="tl">
                    <a:srgbClr val="C0C0C0"/>
                  </a:outerShdw>
                </a:effectLst>
                <a:latin typeface="Arial"/>
                <a:ea typeface="宋体" pitchFamily="2" charset="-122"/>
              </a:rPr>
              <a:t>…</a:t>
            </a:r>
            <a:endParaRPr kumimoji="0" lang="en-US" altLang="zh-CN" b="1" dirty="0">
              <a:solidFill>
                <a:schemeClr val="bg1"/>
              </a:solidFill>
              <a:effectLst>
                <a:outerShdw blurRad="38100" dist="38100" dir="2700000" algn="tl">
                  <a:srgbClr val="C0C0C0"/>
                </a:outerShdw>
              </a:effectLst>
              <a:latin typeface="Tahoma" pitchFamily="34" charset="0"/>
              <a:ea typeface="宋体" pitchFamily="2" charset="-122"/>
            </a:endParaRPr>
          </a:p>
        </p:txBody>
      </p:sp>
      <p:sp>
        <p:nvSpPr>
          <p:cNvPr id="791664" name="Text Box 112">
            <a:extLst>
              <a:ext uri="{FF2B5EF4-FFF2-40B4-BE49-F238E27FC236}">
                <a16:creationId xmlns:a16="http://schemas.microsoft.com/office/drawing/2014/main" id="{8C9F5CAC-0ECA-4F04-9B2F-BA0D5666D722}"/>
              </a:ext>
            </a:extLst>
          </p:cNvPr>
          <p:cNvSpPr txBox="1">
            <a:spLocks noChangeArrowheads="1"/>
          </p:cNvSpPr>
          <p:nvPr/>
        </p:nvSpPr>
        <p:spPr bwMode="auto">
          <a:xfrm>
            <a:off x="8389938" y="2927350"/>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B7</a:t>
            </a:r>
          </a:p>
        </p:txBody>
      </p:sp>
      <p:sp>
        <p:nvSpPr>
          <p:cNvPr id="791665" name="Text Box 113">
            <a:extLst>
              <a:ext uri="{FF2B5EF4-FFF2-40B4-BE49-F238E27FC236}">
                <a16:creationId xmlns:a16="http://schemas.microsoft.com/office/drawing/2014/main" id="{5342067C-AE7D-41EF-B5EF-F3C5955F6C73}"/>
              </a:ext>
            </a:extLst>
          </p:cNvPr>
          <p:cNvSpPr txBox="1">
            <a:spLocks noChangeArrowheads="1"/>
          </p:cNvSpPr>
          <p:nvPr/>
        </p:nvSpPr>
        <p:spPr bwMode="auto">
          <a:xfrm>
            <a:off x="8389938" y="3146425"/>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B8</a:t>
            </a:r>
          </a:p>
        </p:txBody>
      </p:sp>
      <p:sp>
        <p:nvSpPr>
          <p:cNvPr id="791666" name="Text Box 114">
            <a:extLst>
              <a:ext uri="{FF2B5EF4-FFF2-40B4-BE49-F238E27FC236}">
                <a16:creationId xmlns:a16="http://schemas.microsoft.com/office/drawing/2014/main" id="{C7A7F755-B330-4123-BE35-657DF3CE28C0}"/>
              </a:ext>
            </a:extLst>
          </p:cNvPr>
          <p:cNvSpPr txBox="1">
            <a:spLocks noChangeArrowheads="1"/>
          </p:cNvSpPr>
          <p:nvPr/>
        </p:nvSpPr>
        <p:spPr bwMode="auto">
          <a:xfrm>
            <a:off x="8394700" y="3827463"/>
            <a:ext cx="609600"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B15</a:t>
            </a:r>
          </a:p>
        </p:txBody>
      </p:sp>
      <p:sp>
        <p:nvSpPr>
          <p:cNvPr id="791667" name="Text Box 115">
            <a:extLst>
              <a:ext uri="{FF2B5EF4-FFF2-40B4-BE49-F238E27FC236}">
                <a16:creationId xmlns:a16="http://schemas.microsoft.com/office/drawing/2014/main" id="{E2229ED4-F400-49C5-90C7-577DB0EBDF7D}"/>
              </a:ext>
            </a:extLst>
          </p:cNvPr>
          <p:cNvSpPr txBox="1">
            <a:spLocks noChangeArrowheads="1"/>
          </p:cNvSpPr>
          <p:nvPr/>
        </p:nvSpPr>
        <p:spPr bwMode="auto">
          <a:xfrm>
            <a:off x="8394700" y="4046538"/>
            <a:ext cx="609600"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B16</a:t>
            </a:r>
          </a:p>
        </p:txBody>
      </p:sp>
      <p:sp>
        <p:nvSpPr>
          <p:cNvPr id="791668" name="Text Box 116">
            <a:extLst>
              <a:ext uri="{FF2B5EF4-FFF2-40B4-BE49-F238E27FC236}">
                <a16:creationId xmlns:a16="http://schemas.microsoft.com/office/drawing/2014/main" id="{5DF72C8B-8D2E-4EE7-8F91-8AA68CB72BA5}"/>
              </a:ext>
            </a:extLst>
          </p:cNvPr>
          <p:cNvSpPr txBox="1">
            <a:spLocks noChangeArrowheads="1"/>
          </p:cNvSpPr>
          <p:nvPr/>
        </p:nvSpPr>
        <p:spPr bwMode="auto">
          <a:xfrm>
            <a:off x="8408988" y="4654550"/>
            <a:ext cx="609600"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B23</a:t>
            </a:r>
          </a:p>
        </p:txBody>
      </p:sp>
      <p:sp>
        <p:nvSpPr>
          <p:cNvPr id="791669" name="Text Box 117">
            <a:extLst>
              <a:ext uri="{FF2B5EF4-FFF2-40B4-BE49-F238E27FC236}">
                <a16:creationId xmlns:a16="http://schemas.microsoft.com/office/drawing/2014/main" id="{7261A3DD-4BFC-4946-86BB-5844A27733F7}"/>
              </a:ext>
            </a:extLst>
          </p:cNvPr>
          <p:cNvSpPr txBox="1">
            <a:spLocks noChangeArrowheads="1"/>
          </p:cNvSpPr>
          <p:nvPr/>
        </p:nvSpPr>
        <p:spPr bwMode="auto">
          <a:xfrm>
            <a:off x="8408988" y="4873625"/>
            <a:ext cx="609600"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B24</a:t>
            </a:r>
          </a:p>
        </p:txBody>
      </p:sp>
      <p:sp>
        <p:nvSpPr>
          <p:cNvPr id="791670" name="Text Box 118">
            <a:extLst>
              <a:ext uri="{FF2B5EF4-FFF2-40B4-BE49-F238E27FC236}">
                <a16:creationId xmlns:a16="http://schemas.microsoft.com/office/drawing/2014/main" id="{14F11FF7-3014-4E77-BCD7-D9C2F7A54A0A}"/>
              </a:ext>
            </a:extLst>
          </p:cNvPr>
          <p:cNvSpPr txBox="1">
            <a:spLocks noChangeArrowheads="1"/>
          </p:cNvSpPr>
          <p:nvPr/>
        </p:nvSpPr>
        <p:spPr bwMode="auto">
          <a:xfrm>
            <a:off x="8402638" y="5713413"/>
            <a:ext cx="747712"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B248</a:t>
            </a:r>
          </a:p>
        </p:txBody>
      </p:sp>
      <p:sp>
        <p:nvSpPr>
          <p:cNvPr id="791671" name="Text Box 119">
            <a:extLst>
              <a:ext uri="{FF2B5EF4-FFF2-40B4-BE49-F238E27FC236}">
                <a16:creationId xmlns:a16="http://schemas.microsoft.com/office/drawing/2014/main" id="{9835E0CE-03D6-4ECE-9AAC-F1946270E402}"/>
              </a:ext>
            </a:extLst>
          </p:cNvPr>
          <p:cNvSpPr txBox="1">
            <a:spLocks noChangeArrowheads="1"/>
          </p:cNvSpPr>
          <p:nvPr/>
        </p:nvSpPr>
        <p:spPr bwMode="auto">
          <a:xfrm>
            <a:off x="8402638" y="5932488"/>
            <a:ext cx="747712"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B249</a:t>
            </a:r>
          </a:p>
        </p:txBody>
      </p:sp>
      <p:sp>
        <p:nvSpPr>
          <p:cNvPr id="39" name="Text Box 56">
            <a:extLst>
              <a:ext uri="{FF2B5EF4-FFF2-40B4-BE49-F238E27FC236}">
                <a16:creationId xmlns:a16="http://schemas.microsoft.com/office/drawing/2014/main" id="{ABABEF0D-154F-418A-AD25-6A52A9C4E13B}"/>
              </a:ext>
            </a:extLst>
          </p:cNvPr>
          <p:cNvSpPr txBox="1">
            <a:spLocks noChangeArrowheads="1"/>
          </p:cNvSpPr>
          <p:nvPr/>
        </p:nvSpPr>
        <p:spPr bwMode="auto">
          <a:xfrm>
            <a:off x="1465263" y="5948363"/>
            <a:ext cx="758825" cy="400050"/>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b="1" dirty="0">
                <a:effectLst>
                  <a:outerShdw blurRad="38100" dist="38100" dir="2700000" algn="tl">
                    <a:srgbClr val="C0C0C0"/>
                  </a:outerShdw>
                </a:effectLst>
                <a:ea typeface="楷体_GB2312" pitchFamily="49" charset="-122"/>
              </a:rPr>
              <a:t>Valid</a:t>
            </a:r>
          </a:p>
        </p:txBody>
      </p:sp>
      <p:cxnSp>
        <p:nvCxnSpPr>
          <p:cNvPr id="45178" name="直接箭头连接符 2">
            <a:extLst>
              <a:ext uri="{FF2B5EF4-FFF2-40B4-BE49-F238E27FC236}">
                <a16:creationId xmlns:a16="http://schemas.microsoft.com/office/drawing/2014/main" id="{9B9F9925-4105-44B8-A8DF-A5B479816536}"/>
              </a:ext>
            </a:extLst>
          </p:cNvPr>
          <p:cNvCxnSpPr>
            <a:cxnSpLocks noChangeShapeType="1"/>
            <a:stCxn id="39" idx="0"/>
          </p:cNvCxnSpPr>
          <p:nvPr/>
        </p:nvCxnSpPr>
        <p:spPr bwMode="auto">
          <a:xfrm flipV="1">
            <a:off x="1844675" y="5713413"/>
            <a:ext cx="206375" cy="234950"/>
          </a:xfrm>
          <a:prstGeom prst="straightConnector1">
            <a:avLst/>
          </a:prstGeom>
          <a:noFill/>
          <a:ln w="19050" algn="ctr">
            <a:solidFill>
              <a:schemeClr val="accent2"/>
            </a:solidFill>
            <a:miter lim="800000"/>
            <a:headEnd/>
            <a:tailEnd type="arrow" w="med" len="med"/>
          </a:ln>
          <a:extLst>
            <a:ext uri="{909E8E84-426E-40DD-AFC4-6F175D3DCCD1}">
              <a14:hiddenFill xmlns:a14="http://schemas.microsoft.com/office/drawing/2010/main">
                <a:noFill/>
              </a14:hiddenFill>
            </a:ext>
          </a:extLst>
        </p:spPr>
      </p:cxnSp>
      <p:cxnSp>
        <p:nvCxnSpPr>
          <p:cNvPr id="45179" name="直接箭头连接符 5">
            <a:extLst>
              <a:ext uri="{FF2B5EF4-FFF2-40B4-BE49-F238E27FC236}">
                <a16:creationId xmlns:a16="http://schemas.microsoft.com/office/drawing/2014/main" id="{38E4C596-5433-4920-9E2D-94C82D7808F6}"/>
              </a:ext>
            </a:extLst>
          </p:cNvPr>
          <p:cNvCxnSpPr>
            <a:cxnSpLocks noChangeShapeType="1"/>
          </p:cNvCxnSpPr>
          <p:nvPr/>
        </p:nvCxnSpPr>
        <p:spPr bwMode="auto">
          <a:xfrm flipH="1" flipV="1">
            <a:off x="2555875" y="5713413"/>
            <a:ext cx="360363" cy="282575"/>
          </a:xfrm>
          <a:prstGeom prst="straightConnector1">
            <a:avLst/>
          </a:prstGeom>
          <a:noFill/>
          <a:ln w="19050" algn="ctr">
            <a:solidFill>
              <a:schemeClr val="accent2"/>
            </a:solidFill>
            <a:miter lim="800000"/>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a:extLst>
              <a:ext uri="{FF2B5EF4-FFF2-40B4-BE49-F238E27FC236}">
                <a16:creationId xmlns:a16="http://schemas.microsoft.com/office/drawing/2014/main" id="{6D5EE346-B514-4CCF-B81E-3A2A83BDD593}"/>
              </a:ext>
            </a:extLst>
          </p:cNvPr>
          <p:cNvSpPr>
            <a:spLocks noGrp="1" noChangeArrowheads="1"/>
          </p:cNvSpPr>
          <p:nvPr>
            <p:ph type="title"/>
          </p:nvPr>
        </p:nvSpPr>
        <p:spPr>
          <a:xfrm>
            <a:off x="304800" y="237189"/>
            <a:ext cx="8804275" cy="762000"/>
          </a:xfrm>
        </p:spPr>
        <p:txBody>
          <a:bodyPr/>
          <a:lstStyle/>
          <a:p>
            <a:pPr eaLnBrk="1" hangingPunct="1">
              <a:defRPr/>
            </a:pPr>
            <a:r>
              <a:rPr lang="zh-CN" altLang="en-US" dirty="0"/>
              <a:t>直接映射的</a:t>
            </a:r>
            <a:r>
              <a:rPr lang="en-US" altLang="zh-CN" dirty="0"/>
              <a:t>Cache</a:t>
            </a:r>
            <a:r>
              <a:rPr lang="zh-CN" altLang="en-US" dirty="0"/>
              <a:t>标签和行号</a:t>
            </a:r>
          </a:p>
        </p:txBody>
      </p:sp>
      <p:sp>
        <p:nvSpPr>
          <p:cNvPr id="46083" name="Rectangle 3">
            <a:extLst>
              <a:ext uri="{FF2B5EF4-FFF2-40B4-BE49-F238E27FC236}">
                <a16:creationId xmlns:a16="http://schemas.microsoft.com/office/drawing/2014/main" id="{0DBA0B98-29C0-4932-AE87-B6DA1DF8F5AF}"/>
              </a:ext>
            </a:extLst>
          </p:cNvPr>
          <p:cNvSpPr>
            <a:spLocks noGrp="1" noChangeArrowheads="1"/>
          </p:cNvSpPr>
          <p:nvPr>
            <p:ph idx="1"/>
          </p:nvPr>
        </p:nvSpPr>
        <p:spPr/>
        <p:txBody>
          <a:bodyPr/>
          <a:lstStyle/>
          <a:p>
            <a:pPr eaLnBrk="1" hangingPunct="1"/>
            <a:r>
              <a:rPr lang="zh-CN" altLang="en-US" sz="2400"/>
              <a:t>块大小</a:t>
            </a:r>
            <a:r>
              <a:rPr lang="en-US" altLang="zh-CN" sz="2400"/>
              <a:t>2</a:t>
            </a:r>
            <a:r>
              <a:rPr lang="en-US" altLang="zh-CN" sz="2400" baseline="30000"/>
              <a:t>W</a:t>
            </a:r>
            <a:r>
              <a:rPr lang="zh-CN" altLang="en-US" sz="2400"/>
              <a:t>字节</a:t>
            </a:r>
          </a:p>
          <a:p>
            <a:pPr eaLnBrk="1" hangingPunct="1"/>
            <a:r>
              <a:rPr lang="zh-CN" altLang="en-US" sz="2400"/>
              <a:t>假设存储器按字节寻址，其地址宽度为</a:t>
            </a:r>
            <a:r>
              <a:rPr lang="en-US" altLang="zh-CN" sz="2400" b="0"/>
              <a:t>S+W</a:t>
            </a:r>
            <a:r>
              <a:rPr lang="zh-CN" altLang="en-US" sz="2400"/>
              <a:t>位</a:t>
            </a:r>
            <a:endParaRPr lang="zh-CN" altLang="en-US" sz="2400" b="0"/>
          </a:p>
          <a:p>
            <a:pPr eaLnBrk="1" hangingPunct="1"/>
            <a:r>
              <a:rPr lang="zh-CN" altLang="en-US" sz="2400"/>
              <a:t>直接映射</a:t>
            </a:r>
            <a:r>
              <a:rPr lang="en-US" altLang="zh-CN" sz="2400" b="0"/>
              <a:t>cache</a:t>
            </a:r>
            <a:r>
              <a:rPr lang="zh-CN" altLang="en-US" sz="2400"/>
              <a:t>的空间为</a:t>
            </a:r>
            <a:r>
              <a:rPr lang="en-US" altLang="zh-CN" sz="2400" b="0"/>
              <a:t>2</a:t>
            </a:r>
            <a:r>
              <a:rPr lang="en-US" altLang="zh-CN" sz="2400" b="0" baseline="30000"/>
              <a:t>R</a:t>
            </a:r>
            <a:r>
              <a:rPr lang="en-US" altLang="zh-CN" sz="2400" b="0"/>
              <a:t> </a:t>
            </a:r>
            <a:r>
              <a:rPr lang="zh-CN" altLang="en-US" sz="2400"/>
              <a:t>个行</a:t>
            </a:r>
            <a:endParaRPr lang="zh-CN" altLang="en-US" sz="2400" b="0"/>
          </a:p>
          <a:p>
            <a:pPr lvl="1" eaLnBrk="1" hangingPunct="1"/>
            <a:r>
              <a:rPr lang="en-US" altLang="zh-CN" sz="2000" b="0"/>
              <a:t>Cache</a:t>
            </a:r>
            <a:r>
              <a:rPr lang="zh-CN" altLang="en-US" sz="2000"/>
              <a:t>行号（ </a:t>
            </a:r>
            <a:r>
              <a:rPr lang="en-US" altLang="zh-CN" sz="2000"/>
              <a:t>Line </a:t>
            </a:r>
            <a:r>
              <a:rPr lang="zh-CN" altLang="en-US" sz="2000"/>
              <a:t>）</a:t>
            </a:r>
            <a:r>
              <a:rPr lang="en-US" altLang="zh-CN" sz="2000" b="0"/>
              <a:t>:</a:t>
            </a:r>
            <a:r>
              <a:rPr lang="zh-CN" altLang="en-US" sz="2000"/>
              <a:t>存储器地址中的</a:t>
            </a:r>
            <a:r>
              <a:rPr lang="en-US" altLang="zh-CN" sz="2000"/>
              <a:t>R</a:t>
            </a:r>
            <a:r>
              <a:rPr lang="zh-CN" altLang="en-US" sz="2000"/>
              <a:t>位。也称行索引</a:t>
            </a:r>
          </a:p>
          <a:p>
            <a:pPr lvl="1" eaLnBrk="1" hangingPunct="1"/>
            <a:r>
              <a:rPr lang="en-US" altLang="zh-CN" sz="2000" b="0"/>
              <a:t>Cache</a:t>
            </a:r>
            <a:r>
              <a:rPr lang="zh-CN" altLang="en-US" sz="2000"/>
              <a:t>标签 （</a:t>
            </a:r>
            <a:r>
              <a:rPr lang="en-US" altLang="zh-CN" sz="2000"/>
              <a:t>Tag </a:t>
            </a:r>
            <a:r>
              <a:rPr lang="zh-CN" altLang="en-US" sz="2000"/>
              <a:t>）</a:t>
            </a:r>
            <a:r>
              <a:rPr lang="en-US" altLang="zh-CN" sz="2000" b="0"/>
              <a:t>: </a:t>
            </a:r>
            <a:r>
              <a:rPr lang="zh-CN" altLang="en-US" sz="2000"/>
              <a:t>存储器地址的</a:t>
            </a:r>
            <a:r>
              <a:rPr lang="en-US" altLang="zh-CN" sz="2000"/>
              <a:t>S</a:t>
            </a:r>
            <a:r>
              <a:rPr lang="en-US" altLang="zh-CN" sz="2000" b="0"/>
              <a:t> - R</a:t>
            </a:r>
            <a:r>
              <a:rPr lang="zh-CN" altLang="en-US" sz="2000"/>
              <a:t>位</a:t>
            </a:r>
          </a:p>
        </p:txBody>
      </p:sp>
      <p:sp>
        <p:nvSpPr>
          <p:cNvPr id="46085" name="Rectangle 4">
            <a:extLst>
              <a:ext uri="{FF2B5EF4-FFF2-40B4-BE49-F238E27FC236}">
                <a16:creationId xmlns:a16="http://schemas.microsoft.com/office/drawing/2014/main" id="{DF261322-A698-4503-940D-1C3166333519}"/>
              </a:ext>
            </a:extLst>
          </p:cNvPr>
          <p:cNvSpPr>
            <a:spLocks noChangeArrowheads="1"/>
          </p:cNvSpPr>
          <p:nvPr/>
        </p:nvSpPr>
        <p:spPr bwMode="auto">
          <a:xfrm>
            <a:off x="1835150" y="3502025"/>
            <a:ext cx="2376488" cy="431800"/>
          </a:xfrm>
          <a:prstGeom prst="rect">
            <a:avLst/>
          </a:prstGeom>
          <a:solidFill>
            <a:srgbClr val="339933"/>
          </a:solidFill>
          <a:ln w="19050" algn="ctr">
            <a:solidFill>
              <a:schemeClr val="tx1"/>
            </a:solidFill>
            <a:miter lim="800000"/>
            <a:headEnd/>
            <a:tailEnd/>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Tag</a:t>
            </a:r>
          </a:p>
        </p:txBody>
      </p:sp>
      <p:sp>
        <p:nvSpPr>
          <p:cNvPr id="46086" name="Rectangle 5">
            <a:extLst>
              <a:ext uri="{FF2B5EF4-FFF2-40B4-BE49-F238E27FC236}">
                <a16:creationId xmlns:a16="http://schemas.microsoft.com/office/drawing/2014/main" id="{964AB2CE-735B-4155-ABD5-91D7EB0A00F5}"/>
              </a:ext>
            </a:extLst>
          </p:cNvPr>
          <p:cNvSpPr>
            <a:spLocks noChangeArrowheads="1"/>
          </p:cNvSpPr>
          <p:nvPr/>
        </p:nvSpPr>
        <p:spPr bwMode="auto">
          <a:xfrm>
            <a:off x="4211638" y="3502025"/>
            <a:ext cx="1871662" cy="431800"/>
          </a:xfrm>
          <a:prstGeom prst="rect">
            <a:avLst/>
          </a:prstGeom>
          <a:solidFill>
            <a:srgbClr val="339933"/>
          </a:solidFill>
          <a:ln w="19050" algn="ctr">
            <a:solidFill>
              <a:schemeClr val="tx1"/>
            </a:solidFill>
            <a:miter lim="800000"/>
            <a:headEnd/>
            <a:tailEnd/>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Line Index</a:t>
            </a:r>
          </a:p>
        </p:txBody>
      </p:sp>
      <p:sp>
        <p:nvSpPr>
          <p:cNvPr id="46087" name="Rectangle 6">
            <a:extLst>
              <a:ext uri="{FF2B5EF4-FFF2-40B4-BE49-F238E27FC236}">
                <a16:creationId xmlns:a16="http://schemas.microsoft.com/office/drawing/2014/main" id="{CFA91E22-FE8C-4DFE-9ACF-26C406CC9D5F}"/>
              </a:ext>
            </a:extLst>
          </p:cNvPr>
          <p:cNvSpPr>
            <a:spLocks noChangeArrowheads="1"/>
          </p:cNvSpPr>
          <p:nvPr/>
        </p:nvSpPr>
        <p:spPr bwMode="auto">
          <a:xfrm>
            <a:off x="6083300" y="3502025"/>
            <a:ext cx="1439863" cy="431800"/>
          </a:xfrm>
          <a:prstGeom prst="rect">
            <a:avLst/>
          </a:prstGeom>
          <a:solidFill>
            <a:srgbClr val="339933"/>
          </a:solidFill>
          <a:ln w="19050" algn="ctr">
            <a:solidFill>
              <a:schemeClr val="tx1"/>
            </a:solidFill>
            <a:miter lim="800000"/>
            <a:headEnd/>
            <a:tailEnd/>
          </a:ln>
          <a:effectLst>
            <a:outerShdw dist="35921" dir="27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Offset</a:t>
            </a:r>
          </a:p>
        </p:txBody>
      </p:sp>
      <p:sp>
        <p:nvSpPr>
          <p:cNvPr id="46088" name="Text Box 7">
            <a:extLst>
              <a:ext uri="{FF2B5EF4-FFF2-40B4-BE49-F238E27FC236}">
                <a16:creationId xmlns:a16="http://schemas.microsoft.com/office/drawing/2014/main" id="{4D854CDB-2D31-4D35-860B-39FE581B8E48}"/>
              </a:ext>
            </a:extLst>
          </p:cNvPr>
          <p:cNvSpPr txBox="1">
            <a:spLocks noChangeArrowheads="1"/>
          </p:cNvSpPr>
          <p:nvPr/>
        </p:nvSpPr>
        <p:spPr bwMode="auto">
          <a:xfrm>
            <a:off x="6588125" y="3141663"/>
            <a:ext cx="3762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W</a:t>
            </a:r>
          </a:p>
        </p:txBody>
      </p:sp>
      <p:sp>
        <p:nvSpPr>
          <p:cNvPr id="46089" name="Text Box 8">
            <a:extLst>
              <a:ext uri="{FF2B5EF4-FFF2-40B4-BE49-F238E27FC236}">
                <a16:creationId xmlns:a16="http://schemas.microsoft.com/office/drawing/2014/main" id="{A788C421-0D32-467A-9B9A-114A2010B444}"/>
              </a:ext>
            </a:extLst>
          </p:cNvPr>
          <p:cNvSpPr txBox="1">
            <a:spLocks noChangeArrowheads="1"/>
          </p:cNvSpPr>
          <p:nvPr/>
        </p:nvSpPr>
        <p:spPr bwMode="auto">
          <a:xfrm>
            <a:off x="4932363" y="3141663"/>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R</a:t>
            </a:r>
          </a:p>
        </p:txBody>
      </p:sp>
      <p:sp>
        <p:nvSpPr>
          <p:cNvPr id="46090" name="Text Box 9">
            <a:extLst>
              <a:ext uri="{FF2B5EF4-FFF2-40B4-BE49-F238E27FC236}">
                <a16:creationId xmlns:a16="http://schemas.microsoft.com/office/drawing/2014/main" id="{1619A723-356E-43FE-B4B6-0273D8A1EF32}"/>
              </a:ext>
            </a:extLst>
          </p:cNvPr>
          <p:cNvSpPr txBox="1">
            <a:spLocks noChangeArrowheads="1"/>
          </p:cNvSpPr>
          <p:nvPr/>
        </p:nvSpPr>
        <p:spPr bwMode="auto">
          <a:xfrm>
            <a:off x="2755900" y="3141663"/>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S-R</a:t>
            </a:r>
          </a:p>
        </p:txBody>
      </p:sp>
      <p:sp>
        <p:nvSpPr>
          <p:cNvPr id="46091" name="Rectangle 10">
            <a:extLst>
              <a:ext uri="{FF2B5EF4-FFF2-40B4-BE49-F238E27FC236}">
                <a16:creationId xmlns:a16="http://schemas.microsoft.com/office/drawing/2014/main" id="{D7F1B10B-5B75-4214-8B1C-3B86FE8A59AD}"/>
              </a:ext>
            </a:extLst>
          </p:cNvPr>
          <p:cNvSpPr>
            <a:spLocks noChangeArrowheads="1"/>
          </p:cNvSpPr>
          <p:nvPr/>
        </p:nvSpPr>
        <p:spPr bwMode="auto">
          <a:xfrm>
            <a:off x="1835150" y="4365625"/>
            <a:ext cx="2376488" cy="288925"/>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1</a:t>
            </a:r>
          </a:p>
        </p:txBody>
      </p:sp>
      <p:sp>
        <p:nvSpPr>
          <p:cNvPr id="46092" name="Rectangle 12">
            <a:extLst>
              <a:ext uri="{FF2B5EF4-FFF2-40B4-BE49-F238E27FC236}">
                <a16:creationId xmlns:a16="http://schemas.microsoft.com/office/drawing/2014/main" id="{C7CB2432-5C58-4A37-995B-D34F64F31DE4}"/>
              </a:ext>
            </a:extLst>
          </p:cNvPr>
          <p:cNvSpPr>
            <a:spLocks noChangeArrowheads="1"/>
          </p:cNvSpPr>
          <p:nvPr/>
        </p:nvSpPr>
        <p:spPr bwMode="auto">
          <a:xfrm>
            <a:off x="1400175" y="4365625"/>
            <a:ext cx="433388" cy="576263"/>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6093" name="Rectangle 15">
            <a:extLst>
              <a:ext uri="{FF2B5EF4-FFF2-40B4-BE49-F238E27FC236}">
                <a16:creationId xmlns:a16="http://schemas.microsoft.com/office/drawing/2014/main" id="{9821529B-926F-428B-BEF8-C5DACC32A474}"/>
              </a:ext>
            </a:extLst>
          </p:cNvPr>
          <p:cNvSpPr>
            <a:spLocks noChangeArrowheads="1"/>
          </p:cNvSpPr>
          <p:nvPr/>
        </p:nvSpPr>
        <p:spPr bwMode="auto">
          <a:xfrm>
            <a:off x="1835150" y="4654550"/>
            <a:ext cx="2378075" cy="287338"/>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2</a:t>
            </a:r>
          </a:p>
        </p:txBody>
      </p:sp>
      <p:sp>
        <p:nvSpPr>
          <p:cNvPr id="46094" name="Rectangle 16">
            <a:extLst>
              <a:ext uri="{FF2B5EF4-FFF2-40B4-BE49-F238E27FC236}">
                <a16:creationId xmlns:a16="http://schemas.microsoft.com/office/drawing/2014/main" id="{3D202B4C-65E5-4254-BE90-4CF2222E0283}"/>
              </a:ext>
            </a:extLst>
          </p:cNvPr>
          <p:cNvSpPr>
            <a:spLocks noChangeArrowheads="1"/>
          </p:cNvSpPr>
          <p:nvPr/>
        </p:nvSpPr>
        <p:spPr bwMode="auto">
          <a:xfrm>
            <a:off x="1401763" y="4654550"/>
            <a:ext cx="433387" cy="576263"/>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6095" name="Rectangle 18">
            <a:extLst>
              <a:ext uri="{FF2B5EF4-FFF2-40B4-BE49-F238E27FC236}">
                <a16:creationId xmlns:a16="http://schemas.microsoft.com/office/drawing/2014/main" id="{7668CB29-7583-46BA-8EFA-EB4126939369}"/>
              </a:ext>
            </a:extLst>
          </p:cNvPr>
          <p:cNvSpPr>
            <a:spLocks noChangeArrowheads="1"/>
          </p:cNvSpPr>
          <p:nvPr/>
        </p:nvSpPr>
        <p:spPr bwMode="auto">
          <a:xfrm>
            <a:off x="1835150" y="4941888"/>
            <a:ext cx="2378075" cy="288925"/>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3</a:t>
            </a:r>
          </a:p>
        </p:txBody>
      </p:sp>
      <p:sp>
        <p:nvSpPr>
          <p:cNvPr id="46096" name="Rectangle 19">
            <a:extLst>
              <a:ext uri="{FF2B5EF4-FFF2-40B4-BE49-F238E27FC236}">
                <a16:creationId xmlns:a16="http://schemas.microsoft.com/office/drawing/2014/main" id="{24A7C961-B330-4199-81CA-72CBAD89A988}"/>
              </a:ext>
            </a:extLst>
          </p:cNvPr>
          <p:cNvSpPr>
            <a:spLocks noChangeArrowheads="1"/>
          </p:cNvSpPr>
          <p:nvPr/>
        </p:nvSpPr>
        <p:spPr bwMode="auto">
          <a:xfrm>
            <a:off x="1401763" y="4941888"/>
            <a:ext cx="433387" cy="576262"/>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6097" name="Rectangle 21">
            <a:extLst>
              <a:ext uri="{FF2B5EF4-FFF2-40B4-BE49-F238E27FC236}">
                <a16:creationId xmlns:a16="http://schemas.microsoft.com/office/drawing/2014/main" id="{8A26DCE0-354B-4AE4-A522-6D0A0FA2B0F9}"/>
              </a:ext>
            </a:extLst>
          </p:cNvPr>
          <p:cNvSpPr>
            <a:spLocks noChangeArrowheads="1"/>
          </p:cNvSpPr>
          <p:nvPr/>
        </p:nvSpPr>
        <p:spPr bwMode="auto">
          <a:xfrm>
            <a:off x="1835150" y="5229225"/>
            <a:ext cx="2378075" cy="576263"/>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chemeClr val="bg2"/>
                </a:solidFill>
                <a:ea typeface="方正准圆简体" pitchFamily="2" charset="-122"/>
              </a:rPr>
              <a:t>……</a:t>
            </a:r>
          </a:p>
        </p:txBody>
      </p:sp>
      <p:sp>
        <p:nvSpPr>
          <p:cNvPr id="46098" name="Rectangle 22">
            <a:extLst>
              <a:ext uri="{FF2B5EF4-FFF2-40B4-BE49-F238E27FC236}">
                <a16:creationId xmlns:a16="http://schemas.microsoft.com/office/drawing/2014/main" id="{904C52CB-FC99-4A2A-A5AB-B138293C2EA5}"/>
              </a:ext>
            </a:extLst>
          </p:cNvPr>
          <p:cNvSpPr>
            <a:spLocks noChangeArrowheads="1"/>
          </p:cNvSpPr>
          <p:nvPr/>
        </p:nvSpPr>
        <p:spPr bwMode="auto">
          <a:xfrm>
            <a:off x="1401763" y="5229225"/>
            <a:ext cx="433387" cy="576263"/>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6099" name="Rectangle 24">
            <a:extLst>
              <a:ext uri="{FF2B5EF4-FFF2-40B4-BE49-F238E27FC236}">
                <a16:creationId xmlns:a16="http://schemas.microsoft.com/office/drawing/2014/main" id="{FFCD3A58-CF43-4B11-AFB7-7D384A09AAB2}"/>
              </a:ext>
            </a:extLst>
          </p:cNvPr>
          <p:cNvSpPr>
            <a:spLocks noChangeArrowheads="1"/>
          </p:cNvSpPr>
          <p:nvPr/>
        </p:nvSpPr>
        <p:spPr bwMode="auto">
          <a:xfrm>
            <a:off x="1835150" y="5805488"/>
            <a:ext cx="2378075" cy="287337"/>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6100" name="Rectangle 25">
            <a:extLst>
              <a:ext uri="{FF2B5EF4-FFF2-40B4-BE49-F238E27FC236}">
                <a16:creationId xmlns:a16="http://schemas.microsoft.com/office/drawing/2014/main" id="{2D87B569-30A7-4C90-BC52-7EEFC34BB42D}"/>
              </a:ext>
            </a:extLst>
          </p:cNvPr>
          <p:cNvSpPr>
            <a:spLocks noChangeArrowheads="1"/>
          </p:cNvSpPr>
          <p:nvPr/>
        </p:nvSpPr>
        <p:spPr bwMode="auto">
          <a:xfrm>
            <a:off x="1401763" y="5805488"/>
            <a:ext cx="433387" cy="287337"/>
          </a:xfrm>
          <a:prstGeom prst="rect">
            <a:avLst/>
          </a:prstGeom>
          <a:solidFill>
            <a:srgbClr val="33CCCC"/>
          </a:solidFill>
          <a:ln w="19050" algn="ctr">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6101" name="Text Box 27">
            <a:extLst>
              <a:ext uri="{FF2B5EF4-FFF2-40B4-BE49-F238E27FC236}">
                <a16:creationId xmlns:a16="http://schemas.microsoft.com/office/drawing/2014/main" id="{2690FEF0-3D22-4A9C-AA50-44C8709275C8}"/>
              </a:ext>
            </a:extLst>
          </p:cNvPr>
          <p:cNvSpPr txBox="1">
            <a:spLocks noChangeArrowheads="1"/>
          </p:cNvSpPr>
          <p:nvPr/>
        </p:nvSpPr>
        <p:spPr bwMode="auto">
          <a:xfrm>
            <a:off x="1187450" y="3862388"/>
            <a:ext cx="8493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1400"/>
              <a:t>有效位</a:t>
            </a:r>
          </a:p>
          <a:p>
            <a:pPr eaLnBrk="1" hangingPunct="1">
              <a:spcBef>
                <a:spcPct val="0"/>
              </a:spcBef>
              <a:buClrTx/>
              <a:buFontTx/>
              <a:buNone/>
            </a:pPr>
            <a:r>
              <a:rPr lang="en-US" altLang="zh-CN" sz="1400"/>
              <a:t>Valid bit</a:t>
            </a:r>
          </a:p>
        </p:txBody>
      </p:sp>
      <p:sp>
        <p:nvSpPr>
          <p:cNvPr id="46102" name="AutoShape 28">
            <a:extLst>
              <a:ext uri="{FF2B5EF4-FFF2-40B4-BE49-F238E27FC236}">
                <a16:creationId xmlns:a16="http://schemas.microsoft.com/office/drawing/2014/main" id="{B87F49E1-0D18-4BD8-907C-61909CFD7750}"/>
              </a:ext>
            </a:extLst>
          </p:cNvPr>
          <p:cNvSpPr>
            <a:spLocks noChangeArrowheads="1"/>
          </p:cNvSpPr>
          <p:nvPr/>
        </p:nvSpPr>
        <p:spPr bwMode="auto">
          <a:xfrm>
            <a:off x="2833688" y="3933825"/>
            <a:ext cx="215900" cy="431800"/>
          </a:xfrm>
          <a:prstGeom prst="downArrow">
            <a:avLst>
              <a:gd name="adj1" fmla="val 50000"/>
              <a:gd name="adj2" fmla="val 35602"/>
            </a:avLst>
          </a:prstGeom>
          <a:solidFill>
            <a:srgbClr val="FF6600"/>
          </a:solidFill>
          <a:ln>
            <a:noFill/>
          </a:ln>
          <a:effectLst>
            <a:outerShdw dist="35921" dir="2700000" algn="ctr" rotWithShape="0">
              <a:schemeClr val="bg2"/>
            </a:outer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6103" name="Text Box 29">
            <a:extLst>
              <a:ext uri="{FF2B5EF4-FFF2-40B4-BE49-F238E27FC236}">
                <a16:creationId xmlns:a16="http://schemas.microsoft.com/office/drawing/2014/main" id="{5077A9C6-14D3-4945-88B3-A8AC72E0E6FE}"/>
              </a:ext>
            </a:extLst>
          </p:cNvPr>
          <p:cNvSpPr txBox="1">
            <a:spLocks noChangeArrowheads="1"/>
          </p:cNvSpPr>
          <p:nvPr/>
        </p:nvSpPr>
        <p:spPr bwMode="auto">
          <a:xfrm>
            <a:off x="1046163" y="429418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46104" name="Text Box 30">
            <a:extLst>
              <a:ext uri="{FF2B5EF4-FFF2-40B4-BE49-F238E27FC236}">
                <a16:creationId xmlns:a16="http://schemas.microsoft.com/office/drawing/2014/main" id="{F15310A7-8D81-47C8-9523-7FE5D4EB1650}"/>
              </a:ext>
            </a:extLst>
          </p:cNvPr>
          <p:cNvSpPr txBox="1">
            <a:spLocks noChangeArrowheads="1"/>
          </p:cNvSpPr>
          <p:nvPr/>
        </p:nvSpPr>
        <p:spPr bwMode="auto">
          <a:xfrm>
            <a:off x="1042988" y="46053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1</a:t>
            </a:r>
          </a:p>
        </p:txBody>
      </p:sp>
      <p:sp>
        <p:nvSpPr>
          <p:cNvPr id="46105" name="Text Box 31">
            <a:extLst>
              <a:ext uri="{FF2B5EF4-FFF2-40B4-BE49-F238E27FC236}">
                <a16:creationId xmlns:a16="http://schemas.microsoft.com/office/drawing/2014/main" id="{688F81E4-5E06-4F80-8E04-D63FD6395E82}"/>
              </a:ext>
            </a:extLst>
          </p:cNvPr>
          <p:cNvSpPr txBox="1">
            <a:spLocks noChangeArrowheads="1"/>
          </p:cNvSpPr>
          <p:nvPr/>
        </p:nvSpPr>
        <p:spPr bwMode="auto">
          <a:xfrm>
            <a:off x="900113" y="5757863"/>
            <a:ext cx="549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2</a:t>
            </a:r>
            <a:r>
              <a:rPr lang="en-US" altLang="zh-CN" sz="1600" b="0" baseline="30000">
                <a:ea typeface="方正准圆简体" pitchFamily="2" charset="-122"/>
              </a:rPr>
              <a:t>R</a:t>
            </a:r>
            <a:r>
              <a:rPr lang="en-US" altLang="zh-CN" sz="1600" b="0">
                <a:ea typeface="方正准圆简体" pitchFamily="2" charset="-122"/>
              </a:rPr>
              <a:t>-1</a:t>
            </a:r>
          </a:p>
        </p:txBody>
      </p:sp>
      <p:sp>
        <p:nvSpPr>
          <p:cNvPr id="46106" name="Text Box 34">
            <a:extLst>
              <a:ext uri="{FF2B5EF4-FFF2-40B4-BE49-F238E27FC236}">
                <a16:creationId xmlns:a16="http://schemas.microsoft.com/office/drawing/2014/main" id="{5A791860-B3D2-4ECA-AAF3-EA36260CBC67}"/>
              </a:ext>
            </a:extLst>
          </p:cNvPr>
          <p:cNvSpPr txBox="1">
            <a:spLocks noChangeArrowheads="1"/>
          </p:cNvSpPr>
          <p:nvPr/>
        </p:nvSpPr>
        <p:spPr bwMode="auto">
          <a:xfrm>
            <a:off x="4356100" y="4962525"/>
            <a:ext cx="40116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1800"/>
              <a:t>该表是</a:t>
            </a:r>
            <a:r>
              <a:rPr lang="en-US" altLang="zh-CN" sz="1800"/>
              <a:t>cache</a:t>
            </a:r>
            <a:r>
              <a:rPr lang="zh-CN" altLang="en-US" sz="1800"/>
              <a:t>的一部分，</a:t>
            </a:r>
          </a:p>
          <a:p>
            <a:pPr eaLnBrk="1" hangingPunct="1">
              <a:spcBef>
                <a:spcPct val="0"/>
              </a:spcBef>
              <a:buClrTx/>
              <a:buFontTx/>
              <a:buNone/>
            </a:pPr>
            <a:r>
              <a:rPr lang="zh-CN" altLang="en-US" sz="1800"/>
              <a:t>也称为</a:t>
            </a:r>
            <a:r>
              <a:rPr lang="en-US" altLang="zh-CN" sz="1800"/>
              <a:t>Cache</a:t>
            </a:r>
            <a:r>
              <a:rPr lang="zh-CN" altLang="en-US" sz="1800"/>
              <a:t>目录（</a:t>
            </a:r>
            <a:r>
              <a:rPr lang="en-US" altLang="zh-CN" sz="1800"/>
              <a:t>Cache Directory</a:t>
            </a:r>
            <a:r>
              <a:rPr lang="zh-CN" altLang="en-US" sz="1800"/>
              <a:t>）</a:t>
            </a:r>
          </a:p>
        </p:txBody>
      </p:sp>
      <p:cxnSp>
        <p:nvCxnSpPr>
          <p:cNvPr id="46107" name="曲线连接符 2">
            <a:extLst>
              <a:ext uri="{FF2B5EF4-FFF2-40B4-BE49-F238E27FC236}">
                <a16:creationId xmlns:a16="http://schemas.microsoft.com/office/drawing/2014/main" id="{109C2EAF-F8F5-43C6-8319-724A681E1322}"/>
              </a:ext>
            </a:extLst>
          </p:cNvPr>
          <p:cNvCxnSpPr>
            <a:cxnSpLocks noChangeShapeType="1"/>
            <a:stCxn id="46086" idx="2"/>
            <a:endCxn id="46095" idx="3"/>
          </p:cNvCxnSpPr>
          <p:nvPr/>
        </p:nvCxnSpPr>
        <p:spPr bwMode="auto">
          <a:xfrm rot="5400000">
            <a:off x="4104481" y="4042569"/>
            <a:ext cx="1152525" cy="935038"/>
          </a:xfrm>
          <a:prstGeom prst="curvedConnector2">
            <a:avLst/>
          </a:prstGeom>
          <a:noFill/>
          <a:ln w="28575" algn="ctr">
            <a:solidFill>
              <a:srgbClr val="C00000"/>
            </a:solidFill>
            <a:miter lim="800000"/>
            <a:headEnd/>
            <a:tailEnd type="arrow" w="med" len="med"/>
          </a:ln>
          <a:extLst>
            <a:ext uri="{909E8E84-426E-40DD-AFC4-6F175D3DCCD1}">
              <a14:hiddenFill xmlns:a14="http://schemas.microsoft.com/office/drawing/2010/main">
                <a:noFill/>
              </a14:hiddenFill>
            </a:ext>
          </a:extLst>
        </p:spPr>
      </p:cxnSp>
      <p:sp>
        <p:nvSpPr>
          <p:cNvPr id="46108" name="TextBox 4">
            <a:extLst>
              <a:ext uri="{FF2B5EF4-FFF2-40B4-BE49-F238E27FC236}">
                <a16:creationId xmlns:a16="http://schemas.microsoft.com/office/drawing/2014/main" id="{76D85529-1F00-40A8-9A46-B2FF4EA27085}"/>
              </a:ext>
            </a:extLst>
          </p:cNvPr>
          <p:cNvSpPr txBox="1">
            <a:spLocks noChangeArrowheads="1"/>
          </p:cNvSpPr>
          <p:nvPr/>
        </p:nvSpPr>
        <p:spPr bwMode="auto">
          <a:xfrm>
            <a:off x="4913313" y="4365625"/>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2000" b="0">
                <a:solidFill>
                  <a:srgbClr val="FF0000"/>
                </a:solidFill>
                <a:latin typeface="隶书" panose="02010509060101010101" pitchFamily="49" charset="-122"/>
                <a:ea typeface="隶书" panose="02010509060101010101" pitchFamily="49" charset="-122"/>
              </a:rPr>
              <a:t>选择行</a:t>
            </a:r>
          </a:p>
        </p:txBody>
      </p:sp>
      <p:sp>
        <p:nvSpPr>
          <p:cNvPr id="46109" name="TextBox 4">
            <a:extLst>
              <a:ext uri="{FF2B5EF4-FFF2-40B4-BE49-F238E27FC236}">
                <a16:creationId xmlns:a16="http://schemas.microsoft.com/office/drawing/2014/main" id="{3D1BF2FA-BB42-4A16-8491-FB6F58A950F5}"/>
              </a:ext>
            </a:extLst>
          </p:cNvPr>
          <p:cNvSpPr txBox="1">
            <a:spLocks noChangeArrowheads="1"/>
          </p:cNvSpPr>
          <p:nvPr/>
        </p:nvSpPr>
        <p:spPr bwMode="auto">
          <a:xfrm>
            <a:off x="2941638" y="3957638"/>
            <a:ext cx="203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1800" b="0">
                <a:solidFill>
                  <a:srgbClr val="FF0000"/>
                </a:solidFill>
                <a:latin typeface="隶书" panose="02010509060101010101" pitchFamily="49" charset="-122"/>
                <a:ea typeface="隶书" panose="02010509060101010101" pitchFamily="49" charset="-122"/>
              </a:rPr>
              <a:t>比较标签是否相等</a:t>
            </a:r>
          </a:p>
        </p:txBody>
      </p:sp>
    </p:spTree>
  </p:cSld>
  <p:clrMapOvr>
    <a:masterClrMapping/>
  </p:clrMapOvr>
  <p:transition spd="med">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a:extLst>
              <a:ext uri="{FF2B5EF4-FFF2-40B4-BE49-F238E27FC236}">
                <a16:creationId xmlns:a16="http://schemas.microsoft.com/office/drawing/2014/main" id="{A492CF17-9B92-41C1-AAB5-C0413C0316FC}"/>
              </a:ext>
            </a:extLst>
          </p:cNvPr>
          <p:cNvSpPr>
            <a:spLocks noGrp="1" noChangeArrowheads="1"/>
          </p:cNvSpPr>
          <p:nvPr>
            <p:ph type="title"/>
          </p:nvPr>
        </p:nvSpPr>
        <p:spPr/>
        <p:txBody>
          <a:bodyPr/>
          <a:lstStyle/>
          <a:p>
            <a:pPr eaLnBrk="1" hangingPunct="1">
              <a:defRPr/>
            </a:pPr>
            <a:r>
              <a:rPr lang="zh-CN" altLang="en-US"/>
              <a:t>直接映射</a:t>
            </a:r>
            <a:r>
              <a:rPr lang="en-US" altLang="zh-CN"/>
              <a:t>Cache</a:t>
            </a:r>
            <a:r>
              <a:rPr lang="zh-CN" altLang="en-US"/>
              <a:t>的检索过程</a:t>
            </a:r>
          </a:p>
        </p:txBody>
      </p:sp>
      <p:sp>
        <p:nvSpPr>
          <p:cNvPr id="47107" name="Rectangle 3">
            <a:extLst>
              <a:ext uri="{FF2B5EF4-FFF2-40B4-BE49-F238E27FC236}">
                <a16:creationId xmlns:a16="http://schemas.microsoft.com/office/drawing/2014/main" id="{9D02127E-0B1D-492A-A4A4-6D31CF1CB338}"/>
              </a:ext>
            </a:extLst>
          </p:cNvPr>
          <p:cNvSpPr>
            <a:spLocks noGrp="1" noChangeArrowheads="1"/>
          </p:cNvSpPr>
          <p:nvPr>
            <p:ph idx="1"/>
          </p:nvPr>
        </p:nvSpPr>
        <p:spPr/>
        <p:txBody>
          <a:bodyPr/>
          <a:lstStyle/>
          <a:p>
            <a:pPr eaLnBrk="1" hangingPunct="1"/>
            <a:endParaRPr lang="zh-CN" altLang="zh-CN"/>
          </a:p>
        </p:txBody>
      </p:sp>
      <p:pic>
        <p:nvPicPr>
          <p:cNvPr id="47109" name="Picture 4" descr="p24">
            <a:extLst>
              <a:ext uri="{FF2B5EF4-FFF2-40B4-BE49-F238E27FC236}">
                <a16:creationId xmlns:a16="http://schemas.microsoft.com/office/drawing/2014/main" id="{2A45B0CB-0DF2-4B43-93C4-261E69664E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713" y="1082675"/>
            <a:ext cx="8675687" cy="531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86" name="Rectangle 38">
            <a:extLst>
              <a:ext uri="{FF2B5EF4-FFF2-40B4-BE49-F238E27FC236}">
                <a16:creationId xmlns:a16="http://schemas.microsoft.com/office/drawing/2014/main" id="{54724C24-DB6A-4D97-8260-6F4886DB9D3C}"/>
              </a:ext>
            </a:extLst>
          </p:cNvPr>
          <p:cNvSpPr>
            <a:spLocks noGrp="1" noChangeArrowheads="1"/>
          </p:cNvSpPr>
          <p:nvPr>
            <p:ph type="title"/>
          </p:nvPr>
        </p:nvSpPr>
        <p:spPr/>
        <p:txBody>
          <a:bodyPr/>
          <a:lstStyle/>
          <a:p>
            <a:pPr eaLnBrk="1" hangingPunct="1">
              <a:defRPr/>
            </a:pPr>
            <a:r>
              <a:rPr lang="zh-CN" altLang="en-US" dirty="0"/>
              <a:t>直接映射</a:t>
            </a:r>
            <a:r>
              <a:rPr lang="en-US" altLang="zh-CN" dirty="0"/>
              <a:t>Cache</a:t>
            </a:r>
            <a:r>
              <a:rPr lang="zh-CN" altLang="en-US" dirty="0"/>
              <a:t>示例（</a:t>
            </a:r>
            <a:r>
              <a:rPr lang="en-US" altLang="zh-CN" dirty="0"/>
              <a:t>1</a:t>
            </a:r>
            <a:r>
              <a:rPr lang="zh-CN" altLang="en-US" dirty="0"/>
              <a:t>）</a:t>
            </a:r>
          </a:p>
        </p:txBody>
      </p:sp>
      <p:sp>
        <p:nvSpPr>
          <p:cNvPr id="48131" name="Rectangle 39">
            <a:extLst>
              <a:ext uri="{FF2B5EF4-FFF2-40B4-BE49-F238E27FC236}">
                <a16:creationId xmlns:a16="http://schemas.microsoft.com/office/drawing/2014/main" id="{712D63CA-5129-4AC9-90FD-A05768092070}"/>
              </a:ext>
            </a:extLst>
          </p:cNvPr>
          <p:cNvSpPr>
            <a:spLocks noGrp="1" noChangeArrowheads="1"/>
          </p:cNvSpPr>
          <p:nvPr>
            <p:ph idx="1"/>
          </p:nvPr>
        </p:nvSpPr>
        <p:spPr/>
        <p:txBody>
          <a:bodyPr/>
          <a:lstStyle/>
          <a:p>
            <a:pPr eaLnBrk="1" hangingPunct="1"/>
            <a:r>
              <a:rPr kumimoji="0" lang="zh-CN" altLang="en-US" sz="2800"/>
              <a:t>主存地址宽度：</a:t>
            </a:r>
            <a:r>
              <a:rPr kumimoji="0" lang="en-US" altLang="zh-CN" sz="2800"/>
              <a:t>24</a:t>
            </a:r>
            <a:r>
              <a:rPr kumimoji="0" lang="zh-CN" altLang="en-US" sz="2800"/>
              <a:t>位；容量</a:t>
            </a:r>
            <a:r>
              <a:rPr kumimoji="0" lang="en-US" altLang="zh-CN" sz="2800"/>
              <a:t>2</a:t>
            </a:r>
            <a:r>
              <a:rPr kumimoji="0" lang="en-US" altLang="zh-CN" sz="2800" baseline="30000"/>
              <a:t>24</a:t>
            </a:r>
            <a:r>
              <a:rPr kumimoji="0" lang="en-US" altLang="zh-CN" sz="2800"/>
              <a:t> bytes</a:t>
            </a:r>
            <a:r>
              <a:rPr kumimoji="0" lang="zh-CN" altLang="en-US" sz="2800"/>
              <a:t>；</a:t>
            </a:r>
            <a:r>
              <a:rPr kumimoji="0" lang="en-US" altLang="zh-CN" sz="2800"/>
              <a:t> 2</a:t>
            </a:r>
            <a:r>
              <a:rPr kumimoji="0" lang="en-US" altLang="zh-CN" sz="2800" baseline="30000"/>
              <a:t>24</a:t>
            </a:r>
            <a:r>
              <a:rPr kumimoji="0" lang="en-US" altLang="zh-CN" sz="2800"/>
              <a:t>/2</a:t>
            </a:r>
            <a:r>
              <a:rPr kumimoji="0" lang="en-US" altLang="zh-CN" sz="2800" baseline="30000"/>
              <a:t>5</a:t>
            </a:r>
            <a:r>
              <a:rPr kumimoji="0" lang="en-US" altLang="zh-CN" sz="2800"/>
              <a:t>=2</a:t>
            </a:r>
            <a:r>
              <a:rPr kumimoji="0" lang="en-US" altLang="zh-CN" sz="2800" baseline="30000"/>
              <a:t>19</a:t>
            </a:r>
            <a:r>
              <a:rPr kumimoji="0" lang="zh-CN" altLang="en-US" sz="2800"/>
              <a:t>块</a:t>
            </a:r>
            <a:endParaRPr kumimoji="0" lang="en-US" altLang="zh-CN" sz="2800"/>
          </a:p>
          <a:p>
            <a:pPr eaLnBrk="1" hangingPunct="1"/>
            <a:r>
              <a:rPr kumimoji="0" lang="zh-CN" altLang="en-US" sz="2800"/>
              <a:t>块大小 </a:t>
            </a:r>
            <a:r>
              <a:rPr kumimoji="0" lang="en-US" altLang="zh-CN" sz="2800"/>
              <a:t>= 32 bytes</a:t>
            </a:r>
          </a:p>
          <a:p>
            <a:pPr eaLnBrk="1" hangingPunct="1"/>
            <a:r>
              <a:rPr kumimoji="0" lang="en-US" altLang="zh-CN" sz="2800"/>
              <a:t>Cache</a:t>
            </a:r>
            <a:r>
              <a:rPr kumimoji="0" lang="zh-CN" altLang="en-US" sz="2800"/>
              <a:t>容量</a:t>
            </a:r>
            <a:r>
              <a:rPr kumimoji="0" lang="en-US" altLang="zh-CN" sz="2800"/>
              <a:t>: 256 bytes</a:t>
            </a:r>
            <a:r>
              <a:rPr kumimoji="0" lang="zh-CN" altLang="en-US" sz="2800"/>
              <a:t>，</a:t>
            </a:r>
            <a:r>
              <a:rPr kumimoji="0" lang="en-US" altLang="zh-CN" sz="2800"/>
              <a:t> 256/32=8</a:t>
            </a:r>
            <a:r>
              <a:rPr kumimoji="0" lang="zh-CN" altLang="en-US" sz="2800"/>
              <a:t>块</a:t>
            </a:r>
            <a:endParaRPr kumimoji="0" lang="en-US" altLang="zh-CN" sz="2800"/>
          </a:p>
        </p:txBody>
      </p:sp>
      <p:sp>
        <p:nvSpPr>
          <p:cNvPr id="48133" name="Line 116">
            <a:extLst>
              <a:ext uri="{FF2B5EF4-FFF2-40B4-BE49-F238E27FC236}">
                <a16:creationId xmlns:a16="http://schemas.microsoft.com/office/drawing/2014/main" id="{D6B00791-17E3-4644-B1D6-B600B2C270E5}"/>
              </a:ext>
            </a:extLst>
          </p:cNvPr>
          <p:cNvSpPr>
            <a:spLocks noChangeShapeType="1"/>
          </p:cNvSpPr>
          <p:nvPr/>
        </p:nvSpPr>
        <p:spPr bwMode="auto">
          <a:xfrm flipH="1">
            <a:off x="4616450" y="2492375"/>
            <a:ext cx="2449513" cy="2544763"/>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8134" name="Rectangle 3">
            <a:extLst>
              <a:ext uri="{FF2B5EF4-FFF2-40B4-BE49-F238E27FC236}">
                <a16:creationId xmlns:a16="http://schemas.microsoft.com/office/drawing/2014/main" id="{51BA7EAB-A7DD-4586-900B-6FFC7F105EAB}"/>
              </a:ext>
            </a:extLst>
          </p:cNvPr>
          <p:cNvSpPr>
            <a:spLocks noChangeArrowheads="1"/>
          </p:cNvSpPr>
          <p:nvPr/>
        </p:nvSpPr>
        <p:spPr bwMode="auto">
          <a:xfrm>
            <a:off x="7065963" y="2317750"/>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dirty="0">
                <a:solidFill>
                  <a:schemeClr val="bg1"/>
                </a:solidFill>
                <a:ea typeface="宋体" panose="02010600030101010101" pitchFamily="2" charset="-122"/>
              </a:rPr>
              <a:t>Block 0</a:t>
            </a:r>
          </a:p>
        </p:txBody>
      </p:sp>
      <p:sp>
        <p:nvSpPr>
          <p:cNvPr id="48135" name="Rectangle 4">
            <a:extLst>
              <a:ext uri="{FF2B5EF4-FFF2-40B4-BE49-F238E27FC236}">
                <a16:creationId xmlns:a16="http://schemas.microsoft.com/office/drawing/2014/main" id="{4823CA1D-17C1-4648-A418-F0EABF5016EA}"/>
              </a:ext>
            </a:extLst>
          </p:cNvPr>
          <p:cNvSpPr>
            <a:spLocks noChangeArrowheads="1"/>
          </p:cNvSpPr>
          <p:nvPr/>
        </p:nvSpPr>
        <p:spPr bwMode="auto">
          <a:xfrm>
            <a:off x="7065963" y="2652713"/>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dirty="0">
                <a:solidFill>
                  <a:schemeClr val="bg1"/>
                </a:solidFill>
                <a:ea typeface="宋体" panose="02010600030101010101" pitchFamily="2" charset="-122"/>
              </a:rPr>
              <a:t>Block 1</a:t>
            </a:r>
          </a:p>
        </p:txBody>
      </p:sp>
      <p:sp>
        <p:nvSpPr>
          <p:cNvPr id="48136" name="Rectangle 5">
            <a:extLst>
              <a:ext uri="{FF2B5EF4-FFF2-40B4-BE49-F238E27FC236}">
                <a16:creationId xmlns:a16="http://schemas.microsoft.com/office/drawing/2014/main" id="{35712501-5615-404B-AF2C-29CE0B5EBC2C}"/>
              </a:ext>
            </a:extLst>
          </p:cNvPr>
          <p:cNvSpPr>
            <a:spLocks noChangeArrowheads="1"/>
          </p:cNvSpPr>
          <p:nvPr/>
        </p:nvSpPr>
        <p:spPr bwMode="auto">
          <a:xfrm>
            <a:off x="7065963" y="2987675"/>
            <a:ext cx="1827212" cy="333375"/>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2</a:t>
            </a:r>
          </a:p>
        </p:txBody>
      </p:sp>
      <p:sp>
        <p:nvSpPr>
          <p:cNvPr id="48137" name="Rectangle 6">
            <a:extLst>
              <a:ext uri="{FF2B5EF4-FFF2-40B4-BE49-F238E27FC236}">
                <a16:creationId xmlns:a16="http://schemas.microsoft.com/office/drawing/2014/main" id="{1AFF2CCC-84E4-4918-9266-58ABED60CFEA}"/>
              </a:ext>
            </a:extLst>
          </p:cNvPr>
          <p:cNvSpPr>
            <a:spLocks noChangeArrowheads="1"/>
          </p:cNvSpPr>
          <p:nvPr/>
        </p:nvSpPr>
        <p:spPr bwMode="auto">
          <a:xfrm>
            <a:off x="7065963" y="3321050"/>
            <a:ext cx="1827212" cy="336550"/>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3</a:t>
            </a:r>
          </a:p>
        </p:txBody>
      </p:sp>
      <p:sp>
        <p:nvSpPr>
          <p:cNvPr id="48138" name="Rectangle 7">
            <a:extLst>
              <a:ext uri="{FF2B5EF4-FFF2-40B4-BE49-F238E27FC236}">
                <a16:creationId xmlns:a16="http://schemas.microsoft.com/office/drawing/2014/main" id="{BF7EAD47-275B-4069-A2EB-C1F5D105994A}"/>
              </a:ext>
            </a:extLst>
          </p:cNvPr>
          <p:cNvSpPr>
            <a:spLocks noChangeArrowheads="1"/>
          </p:cNvSpPr>
          <p:nvPr/>
        </p:nvSpPr>
        <p:spPr bwMode="auto">
          <a:xfrm>
            <a:off x="7065963" y="3657600"/>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4</a:t>
            </a:r>
          </a:p>
        </p:txBody>
      </p:sp>
      <p:sp>
        <p:nvSpPr>
          <p:cNvPr id="48139" name="Rectangle 8">
            <a:extLst>
              <a:ext uri="{FF2B5EF4-FFF2-40B4-BE49-F238E27FC236}">
                <a16:creationId xmlns:a16="http://schemas.microsoft.com/office/drawing/2014/main" id="{644E2F87-60D8-4DDD-8472-4ADAB1E3347D}"/>
              </a:ext>
            </a:extLst>
          </p:cNvPr>
          <p:cNvSpPr>
            <a:spLocks noChangeArrowheads="1"/>
          </p:cNvSpPr>
          <p:nvPr/>
        </p:nvSpPr>
        <p:spPr bwMode="auto">
          <a:xfrm>
            <a:off x="7065963" y="3992563"/>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5</a:t>
            </a:r>
          </a:p>
        </p:txBody>
      </p:sp>
      <p:sp>
        <p:nvSpPr>
          <p:cNvPr id="48140" name="Rectangle 9">
            <a:extLst>
              <a:ext uri="{FF2B5EF4-FFF2-40B4-BE49-F238E27FC236}">
                <a16:creationId xmlns:a16="http://schemas.microsoft.com/office/drawing/2014/main" id="{81A65096-9579-4FBC-9F61-0E7D3A58F1E2}"/>
              </a:ext>
            </a:extLst>
          </p:cNvPr>
          <p:cNvSpPr>
            <a:spLocks noChangeArrowheads="1"/>
          </p:cNvSpPr>
          <p:nvPr/>
        </p:nvSpPr>
        <p:spPr bwMode="auto">
          <a:xfrm>
            <a:off x="7065963" y="4327525"/>
            <a:ext cx="1827212" cy="333375"/>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6</a:t>
            </a:r>
          </a:p>
        </p:txBody>
      </p:sp>
      <p:sp>
        <p:nvSpPr>
          <p:cNvPr id="48141" name="Rectangle 10">
            <a:extLst>
              <a:ext uri="{FF2B5EF4-FFF2-40B4-BE49-F238E27FC236}">
                <a16:creationId xmlns:a16="http://schemas.microsoft.com/office/drawing/2014/main" id="{AB7BE21C-3B2B-46BA-AB0D-A34D301654DA}"/>
              </a:ext>
            </a:extLst>
          </p:cNvPr>
          <p:cNvSpPr>
            <a:spLocks noChangeArrowheads="1"/>
          </p:cNvSpPr>
          <p:nvPr/>
        </p:nvSpPr>
        <p:spPr bwMode="auto">
          <a:xfrm>
            <a:off x="7065963" y="4660900"/>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7</a:t>
            </a:r>
          </a:p>
        </p:txBody>
      </p:sp>
      <p:sp>
        <p:nvSpPr>
          <p:cNvPr id="48142" name="Rectangle 11">
            <a:extLst>
              <a:ext uri="{FF2B5EF4-FFF2-40B4-BE49-F238E27FC236}">
                <a16:creationId xmlns:a16="http://schemas.microsoft.com/office/drawing/2014/main" id="{C7576B70-257A-4500-97C8-5AA57CC1C64A}"/>
              </a:ext>
            </a:extLst>
          </p:cNvPr>
          <p:cNvSpPr>
            <a:spLocks noChangeArrowheads="1"/>
          </p:cNvSpPr>
          <p:nvPr/>
        </p:nvSpPr>
        <p:spPr bwMode="auto">
          <a:xfrm>
            <a:off x="7065963" y="4995863"/>
            <a:ext cx="1827212" cy="334962"/>
          </a:xfrm>
          <a:prstGeom prst="rect">
            <a:avLst/>
          </a:prstGeom>
          <a:solidFill>
            <a:srgbClr val="FF7C80"/>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8</a:t>
            </a:r>
          </a:p>
        </p:txBody>
      </p:sp>
      <p:sp>
        <p:nvSpPr>
          <p:cNvPr id="48143" name="Rectangle 15">
            <a:extLst>
              <a:ext uri="{FF2B5EF4-FFF2-40B4-BE49-F238E27FC236}">
                <a16:creationId xmlns:a16="http://schemas.microsoft.com/office/drawing/2014/main" id="{48FBF050-84D8-423F-96E7-DEA9BE28ADBF}"/>
              </a:ext>
            </a:extLst>
          </p:cNvPr>
          <p:cNvSpPr>
            <a:spLocks noChangeArrowheads="1"/>
          </p:cNvSpPr>
          <p:nvPr/>
        </p:nvSpPr>
        <p:spPr bwMode="auto">
          <a:xfrm>
            <a:off x="7065963" y="6000750"/>
            <a:ext cx="1827212" cy="333375"/>
          </a:xfrm>
          <a:prstGeom prst="rect">
            <a:avLst/>
          </a:prstGeom>
          <a:solidFill>
            <a:srgbClr val="006600"/>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2</a:t>
            </a:r>
            <a:r>
              <a:rPr kumimoji="0" lang="en-US" altLang="zh-CN" sz="2400" b="0" baseline="30000">
                <a:solidFill>
                  <a:schemeClr val="bg1"/>
                </a:solidFill>
                <a:ea typeface="宋体" panose="02010600030101010101" pitchFamily="2" charset="-122"/>
              </a:rPr>
              <a:t>19</a:t>
            </a:r>
            <a:r>
              <a:rPr kumimoji="0" lang="en-US" altLang="zh-CN" sz="2400" b="0">
                <a:solidFill>
                  <a:schemeClr val="bg1"/>
                </a:solidFill>
                <a:ea typeface="宋体" panose="02010600030101010101" pitchFamily="2" charset="-122"/>
              </a:rPr>
              <a:t>-1</a:t>
            </a:r>
          </a:p>
        </p:txBody>
      </p:sp>
      <p:sp>
        <p:nvSpPr>
          <p:cNvPr id="48144" name="Rectangle 16">
            <a:extLst>
              <a:ext uri="{FF2B5EF4-FFF2-40B4-BE49-F238E27FC236}">
                <a16:creationId xmlns:a16="http://schemas.microsoft.com/office/drawing/2014/main" id="{27AA6561-5C36-4D9D-A11E-8625886B10D7}"/>
              </a:ext>
            </a:extLst>
          </p:cNvPr>
          <p:cNvSpPr>
            <a:spLocks noChangeArrowheads="1"/>
          </p:cNvSpPr>
          <p:nvPr/>
        </p:nvSpPr>
        <p:spPr bwMode="auto">
          <a:xfrm>
            <a:off x="7065963" y="5665788"/>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a:t>
            </a:r>
          </a:p>
        </p:txBody>
      </p:sp>
      <p:sp>
        <p:nvSpPr>
          <p:cNvPr id="48145" name="Rectangle 17">
            <a:extLst>
              <a:ext uri="{FF2B5EF4-FFF2-40B4-BE49-F238E27FC236}">
                <a16:creationId xmlns:a16="http://schemas.microsoft.com/office/drawing/2014/main" id="{C1FE6A5C-85E9-42DB-B0EC-2F3FAC2AA4DF}"/>
              </a:ext>
            </a:extLst>
          </p:cNvPr>
          <p:cNvSpPr>
            <a:spLocks noChangeArrowheads="1"/>
          </p:cNvSpPr>
          <p:nvPr/>
        </p:nvSpPr>
        <p:spPr bwMode="auto">
          <a:xfrm>
            <a:off x="7065963" y="5330825"/>
            <a:ext cx="1827212" cy="334963"/>
          </a:xfrm>
          <a:prstGeom prst="rect">
            <a:avLst/>
          </a:prstGeom>
          <a:solidFill>
            <a:srgbClr val="FF0000"/>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9</a:t>
            </a:r>
          </a:p>
        </p:txBody>
      </p:sp>
      <p:sp>
        <p:nvSpPr>
          <p:cNvPr id="48146" name="Rectangle 40">
            <a:extLst>
              <a:ext uri="{FF2B5EF4-FFF2-40B4-BE49-F238E27FC236}">
                <a16:creationId xmlns:a16="http://schemas.microsoft.com/office/drawing/2014/main" id="{FD0349B8-01AD-4170-B26D-E196B3B1F120}"/>
              </a:ext>
            </a:extLst>
          </p:cNvPr>
          <p:cNvSpPr>
            <a:spLocks noChangeArrowheads="1"/>
          </p:cNvSpPr>
          <p:nvPr/>
        </p:nvSpPr>
        <p:spPr bwMode="auto">
          <a:xfrm>
            <a:off x="768350" y="2709863"/>
            <a:ext cx="2376488" cy="277812"/>
          </a:xfrm>
          <a:prstGeom prst="rect">
            <a:avLst/>
          </a:prstGeom>
          <a:solidFill>
            <a:srgbClr val="339933"/>
          </a:solidFill>
          <a:ln w="19050" algn="ctr">
            <a:solidFill>
              <a:schemeClr val="bg1"/>
            </a:solidFill>
            <a:miter lim="800000"/>
            <a:headEnd/>
            <a:tailEnd/>
          </a:ln>
          <a:effectLst>
            <a:outerShdw blurRad="50800" dist="50800" dir="54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Tag</a:t>
            </a:r>
          </a:p>
        </p:txBody>
      </p:sp>
      <p:sp>
        <p:nvSpPr>
          <p:cNvPr id="48147" name="Rectangle 41">
            <a:extLst>
              <a:ext uri="{FF2B5EF4-FFF2-40B4-BE49-F238E27FC236}">
                <a16:creationId xmlns:a16="http://schemas.microsoft.com/office/drawing/2014/main" id="{79DE46C1-ED18-4DB7-A008-737E577B2F82}"/>
              </a:ext>
            </a:extLst>
          </p:cNvPr>
          <p:cNvSpPr>
            <a:spLocks noChangeArrowheads="1"/>
          </p:cNvSpPr>
          <p:nvPr/>
        </p:nvSpPr>
        <p:spPr bwMode="auto">
          <a:xfrm>
            <a:off x="3144838" y="2709863"/>
            <a:ext cx="1871662" cy="277812"/>
          </a:xfrm>
          <a:prstGeom prst="rect">
            <a:avLst/>
          </a:prstGeom>
          <a:solidFill>
            <a:srgbClr val="808000"/>
          </a:solidFill>
          <a:ln w="19050" algn="ctr">
            <a:solidFill>
              <a:schemeClr val="bg1"/>
            </a:solidFill>
            <a:miter lim="800000"/>
            <a:headEnd/>
            <a:tailEnd/>
          </a:ln>
          <a:effectLst>
            <a:outerShdw blurRad="50800" dist="50800" dir="54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Line Index</a:t>
            </a:r>
          </a:p>
        </p:txBody>
      </p:sp>
      <p:sp>
        <p:nvSpPr>
          <p:cNvPr id="48148" name="Rectangle 42">
            <a:extLst>
              <a:ext uri="{FF2B5EF4-FFF2-40B4-BE49-F238E27FC236}">
                <a16:creationId xmlns:a16="http://schemas.microsoft.com/office/drawing/2014/main" id="{666CC8EE-1271-42A5-994B-67AF51A08760}"/>
              </a:ext>
            </a:extLst>
          </p:cNvPr>
          <p:cNvSpPr>
            <a:spLocks noChangeArrowheads="1"/>
          </p:cNvSpPr>
          <p:nvPr/>
        </p:nvSpPr>
        <p:spPr bwMode="auto">
          <a:xfrm>
            <a:off x="5016500" y="2709863"/>
            <a:ext cx="1439863" cy="277812"/>
          </a:xfrm>
          <a:prstGeom prst="rect">
            <a:avLst/>
          </a:prstGeom>
          <a:solidFill>
            <a:srgbClr val="800080"/>
          </a:solidFill>
          <a:ln w="19050" algn="ctr">
            <a:solidFill>
              <a:schemeClr val="bg1"/>
            </a:solidFill>
            <a:miter lim="800000"/>
            <a:headEnd/>
            <a:tailEnd/>
          </a:ln>
          <a:effectLst>
            <a:outerShdw blurRad="50800" dist="50800" dir="54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Offset</a:t>
            </a:r>
          </a:p>
        </p:txBody>
      </p:sp>
      <p:sp>
        <p:nvSpPr>
          <p:cNvPr id="48149" name="Text Box 43">
            <a:extLst>
              <a:ext uri="{FF2B5EF4-FFF2-40B4-BE49-F238E27FC236}">
                <a16:creationId xmlns:a16="http://schemas.microsoft.com/office/drawing/2014/main" id="{808C20F4-347D-40E4-B909-2EFD02B096E2}"/>
              </a:ext>
            </a:extLst>
          </p:cNvPr>
          <p:cNvSpPr txBox="1">
            <a:spLocks noChangeArrowheads="1"/>
          </p:cNvSpPr>
          <p:nvPr/>
        </p:nvSpPr>
        <p:spPr bwMode="auto">
          <a:xfrm>
            <a:off x="6084888" y="23495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48150" name="Text Box 44">
            <a:extLst>
              <a:ext uri="{FF2B5EF4-FFF2-40B4-BE49-F238E27FC236}">
                <a16:creationId xmlns:a16="http://schemas.microsoft.com/office/drawing/2014/main" id="{FDCCD4FF-EDEF-4CAC-988D-BA744CAE5FDB}"/>
              </a:ext>
            </a:extLst>
          </p:cNvPr>
          <p:cNvSpPr txBox="1">
            <a:spLocks noChangeArrowheads="1"/>
          </p:cNvSpPr>
          <p:nvPr/>
        </p:nvSpPr>
        <p:spPr bwMode="auto">
          <a:xfrm>
            <a:off x="5016500" y="23733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4</a:t>
            </a:r>
          </a:p>
        </p:txBody>
      </p:sp>
      <p:sp>
        <p:nvSpPr>
          <p:cNvPr id="48151" name="Text Box 67">
            <a:extLst>
              <a:ext uri="{FF2B5EF4-FFF2-40B4-BE49-F238E27FC236}">
                <a16:creationId xmlns:a16="http://schemas.microsoft.com/office/drawing/2014/main" id="{4FC7C172-84D3-4B25-B8C1-94A7B2003DAC}"/>
              </a:ext>
            </a:extLst>
          </p:cNvPr>
          <p:cNvSpPr txBox="1">
            <a:spLocks noChangeArrowheads="1"/>
          </p:cNvSpPr>
          <p:nvPr/>
        </p:nvSpPr>
        <p:spPr bwMode="auto">
          <a:xfrm>
            <a:off x="4716463" y="23733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5</a:t>
            </a:r>
          </a:p>
        </p:txBody>
      </p:sp>
      <p:sp>
        <p:nvSpPr>
          <p:cNvPr id="48152" name="Text Box 68">
            <a:extLst>
              <a:ext uri="{FF2B5EF4-FFF2-40B4-BE49-F238E27FC236}">
                <a16:creationId xmlns:a16="http://schemas.microsoft.com/office/drawing/2014/main" id="{31F58487-C077-4BF4-B29E-F11D6221BE76}"/>
              </a:ext>
            </a:extLst>
          </p:cNvPr>
          <p:cNvSpPr txBox="1">
            <a:spLocks noChangeArrowheads="1"/>
          </p:cNvSpPr>
          <p:nvPr/>
        </p:nvSpPr>
        <p:spPr bwMode="auto">
          <a:xfrm>
            <a:off x="3128963" y="23733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7</a:t>
            </a:r>
          </a:p>
        </p:txBody>
      </p:sp>
      <p:sp>
        <p:nvSpPr>
          <p:cNvPr id="48153" name="Text Box 69">
            <a:extLst>
              <a:ext uri="{FF2B5EF4-FFF2-40B4-BE49-F238E27FC236}">
                <a16:creationId xmlns:a16="http://schemas.microsoft.com/office/drawing/2014/main" id="{C9622E50-BC37-4874-A199-4F4F552D389F}"/>
              </a:ext>
            </a:extLst>
          </p:cNvPr>
          <p:cNvSpPr txBox="1">
            <a:spLocks noChangeArrowheads="1"/>
          </p:cNvSpPr>
          <p:nvPr/>
        </p:nvSpPr>
        <p:spPr bwMode="auto">
          <a:xfrm>
            <a:off x="2841625" y="23733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8</a:t>
            </a:r>
          </a:p>
        </p:txBody>
      </p:sp>
      <p:sp>
        <p:nvSpPr>
          <p:cNvPr id="48154" name="Text Box 70">
            <a:extLst>
              <a:ext uri="{FF2B5EF4-FFF2-40B4-BE49-F238E27FC236}">
                <a16:creationId xmlns:a16="http://schemas.microsoft.com/office/drawing/2014/main" id="{409ECB88-958D-4286-A2C1-D7FE3206CA00}"/>
              </a:ext>
            </a:extLst>
          </p:cNvPr>
          <p:cNvSpPr txBox="1">
            <a:spLocks noChangeArrowheads="1"/>
          </p:cNvSpPr>
          <p:nvPr/>
        </p:nvSpPr>
        <p:spPr bwMode="auto">
          <a:xfrm>
            <a:off x="755650" y="23733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23</a:t>
            </a:r>
          </a:p>
        </p:txBody>
      </p:sp>
      <p:sp>
        <p:nvSpPr>
          <p:cNvPr id="48155" name="Text Box 96">
            <a:extLst>
              <a:ext uri="{FF2B5EF4-FFF2-40B4-BE49-F238E27FC236}">
                <a16:creationId xmlns:a16="http://schemas.microsoft.com/office/drawing/2014/main" id="{454E78BA-0635-4C49-956F-C81B036A89C6}"/>
              </a:ext>
            </a:extLst>
          </p:cNvPr>
          <p:cNvSpPr txBox="1">
            <a:spLocks noChangeArrowheads="1"/>
          </p:cNvSpPr>
          <p:nvPr/>
        </p:nvSpPr>
        <p:spPr bwMode="auto">
          <a:xfrm>
            <a:off x="1406525" y="4676775"/>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48156" name="Rectangle 101">
            <a:extLst>
              <a:ext uri="{FF2B5EF4-FFF2-40B4-BE49-F238E27FC236}">
                <a16:creationId xmlns:a16="http://schemas.microsoft.com/office/drawing/2014/main" id="{6CDD6A05-A180-46A6-B7B7-A026D486E041}"/>
              </a:ext>
            </a:extLst>
          </p:cNvPr>
          <p:cNvSpPr>
            <a:spLocks noChangeArrowheads="1"/>
          </p:cNvSpPr>
          <p:nvPr/>
        </p:nvSpPr>
        <p:spPr bwMode="auto">
          <a:xfrm>
            <a:off x="2122488" y="3284538"/>
            <a:ext cx="2493962" cy="288925"/>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1</a:t>
            </a:r>
          </a:p>
        </p:txBody>
      </p:sp>
      <p:sp>
        <p:nvSpPr>
          <p:cNvPr id="48157" name="Rectangle 102">
            <a:extLst>
              <a:ext uri="{FF2B5EF4-FFF2-40B4-BE49-F238E27FC236}">
                <a16:creationId xmlns:a16="http://schemas.microsoft.com/office/drawing/2014/main" id="{5D9F524A-7013-416E-9591-34353BA31D27}"/>
              </a:ext>
            </a:extLst>
          </p:cNvPr>
          <p:cNvSpPr>
            <a:spLocks noChangeArrowheads="1"/>
          </p:cNvSpPr>
          <p:nvPr/>
        </p:nvSpPr>
        <p:spPr bwMode="auto">
          <a:xfrm>
            <a:off x="1687513" y="3284538"/>
            <a:ext cx="433387" cy="576262"/>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8158" name="Rectangle 103">
            <a:extLst>
              <a:ext uri="{FF2B5EF4-FFF2-40B4-BE49-F238E27FC236}">
                <a16:creationId xmlns:a16="http://schemas.microsoft.com/office/drawing/2014/main" id="{0833DF38-7CAD-4BCC-92B1-6A86FF3E857A}"/>
              </a:ext>
            </a:extLst>
          </p:cNvPr>
          <p:cNvSpPr>
            <a:spLocks noChangeArrowheads="1"/>
          </p:cNvSpPr>
          <p:nvPr/>
        </p:nvSpPr>
        <p:spPr bwMode="auto">
          <a:xfrm>
            <a:off x="2122488" y="3573463"/>
            <a:ext cx="2493962" cy="287337"/>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2</a:t>
            </a:r>
          </a:p>
        </p:txBody>
      </p:sp>
      <p:sp>
        <p:nvSpPr>
          <p:cNvPr id="48159" name="Rectangle 104">
            <a:extLst>
              <a:ext uri="{FF2B5EF4-FFF2-40B4-BE49-F238E27FC236}">
                <a16:creationId xmlns:a16="http://schemas.microsoft.com/office/drawing/2014/main" id="{B9C40B70-CBB7-4475-B894-0522643BFA8A}"/>
              </a:ext>
            </a:extLst>
          </p:cNvPr>
          <p:cNvSpPr>
            <a:spLocks noChangeArrowheads="1"/>
          </p:cNvSpPr>
          <p:nvPr/>
        </p:nvSpPr>
        <p:spPr bwMode="auto">
          <a:xfrm>
            <a:off x="1689100" y="3573463"/>
            <a:ext cx="433388" cy="576262"/>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8160" name="Rectangle 105">
            <a:extLst>
              <a:ext uri="{FF2B5EF4-FFF2-40B4-BE49-F238E27FC236}">
                <a16:creationId xmlns:a16="http://schemas.microsoft.com/office/drawing/2014/main" id="{B1EC3822-EF37-4035-A6F7-1AE3921CF623}"/>
              </a:ext>
            </a:extLst>
          </p:cNvPr>
          <p:cNvSpPr>
            <a:spLocks noChangeArrowheads="1"/>
          </p:cNvSpPr>
          <p:nvPr/>
        </p:nvSpPr>
        <p:spPr bwMode="auto">
          <a:xfrm>
            <a:off x="2122488" y="3860800"/>
            <a:ext cx="2493962" cy="288925"/>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3</a:t>
            </a:r>
          </a:p>
        </p:txBody>
      </p:sp>
      <p:sp>
        <p:nvSpPr>
          <p:cNvPr id="48161" name="Rectangle 106">
            <a:extLst>
              <a:ext uri="{FF2B5EF4-FFF2-40B4-BE49-F238E27FC236}">
                <a16:creationId xmlns:a16="http://schemas.microsoft.com/office/drawing/2014/main" id="{6BE93AA6-327A-4F7C-A499-CFB5074EC9FA}"/>
              </a:ext>
            </a:extLst>
          </p:cNvPr>
          <p:cNvSpPr>
            <a:spLocks noChangeArrowheads="1"/>
          </p:cNvSpPr>
          <p:nvPr/>
        </p:nvSpPr>
        <p:spPr bwMode="auto">
          <a:xfrm>
            <a:off x="1689100" y="3860800"/>
            <a:ext cx="433388" cy="576263"/>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8162" name="Rectangle 107">
            <a:extLst>
              <a:ext uri="{FF2B5EF4-FFF2-40B4-BE49-F238E27FC236}">
                <a16:creationId xmlns:a16="http://schemas.microsoft.com/office/drawing/2014/main" id="{46F69694-BFDE-4B63-9473-F62D099C8772}"/>
              </a:ext>
            </a:extLst>
          </p:cNvPr>
          <p:cNvSpPr>
            <a:spLocks noChangeArrowheads="1"/>
          </p:cNvSpPr>
          <p:nvPr/>
        </p:nvSpPr>
        <p:spPr bwMode="auto">
          <a:xfrm>
            <a:off x="2122488" y="4148138"/>
            <a:ext cx="2493962" cy="361950"/>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chemeClr val="bg1"/>
                </a:solidFill>
                <a:ea typeface="方正准圆简体" pitchFamily="2" charset="-122"/>
              </a:rPr>
              <a:t>……</a:t>
            </a:r>
          </a:p>
        </p:txBody>
      </p:sp>
      <p:sp>
        <p:nvSpPr>
          <p:cNvPr id="48163" name="Rectangle 108">
            <a:extLst>
              <a:ext uri="{FF2B5EF4-FFF2-40B4-BE49-F238E27FC236}">
                <a16:creationId xmlns:a16="http://schemas.microsoft.com/office/drawing/2014/main" id="{9E08D1FB-80D6-47F8-8EBB-8809A31B96B8}"/>
              </a:ext>
            </a:extLst>
          </p:cNvPr>
          <p:cNvSpPr>
            <a:spLocks noChangeArrowheads="1"/>
          </p:cNvSpPr>
          <p:nvPr/>
        </p:nvSpPr>
        <p:spPr bwMode="auto">
          <a:xfrm>
            <a:off x="1689100" y="4148138"/>
            <a:ext cx="433388" cy="361950"/>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8164" name="Rectangle 109">
            <a:extLst>
              <a:ext uri="{FF2B5EF4-FFF2-40B4-BE49-F238E27FC236}">
                <a16:creationId xmlns:a16="http://schemas.microsoft.com/office/drawing/2014/main" id="{52AF8CD6-D8E9-49E6-990F-9331D285A370}"/>
              </a:ext>
            </a:extLst>
          </p:cNvPr>
          <p:cNvSpPr>
            <a:spLocks noChangeArrowheads="1"/>
          </p:cNvSpPr>
          <p:nvPr/>
        </p:nvSpPr>
        <p:spPr bwMode="auto">
          <a:xfrm>
            <a:off x="2122488" y="4508500"/>
            <a:ext cx="2493962" cy="287338"/>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8165" name="Rectangle 110">
            <a:extLst>
              <a:ext uri="{FF2B5EF4-FFF2-40B4-BE49-F238E27FC236}">
                <a16:creationId xmlns:a16="http://schemas.microsoft.com/office/drawing/2014/main" id="{90757AC4-5677-4271-A046-14A951EB368A}"/>
              </a:ext>
            </a:extLst>
          </p:cNvPr>
          <p:cNvSpPr>
            <a:spLocks noChangeArrowheads="1"/>
          </p:cNvSpPr>
          <p:nvPr/>
        </p:nvSpPr>
        <p:spPr bwMode="auto">
          <a:xfrm>
            <a:off x="1689100" y="4508500"/>
            <a:ext cx="433388" cy="287338"/>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8166" name="Text Box 111">
            <a:extLst>
              <a:ext uri="{FF2B5EF4-FFF2-40B4-BE49-F238E27FC236}">
                <a16:creationId xmlns:a16="http://schemas.microsoft.com/office/drawing/2014/main" id="{AAF56552-9909-40E3-A917-D66C9DD881DE}"/>
              </a:ext>
            </a:extLst>
          </p:cNvPr>
          <p:cNvSpPr txBox="1">
            <a:spLocks noChangeArrowheads="1"/>
          </p:cNvSpPr>
          <p:nvPr/>
        </p:nvSpPr>
        <p:spPr bwMode="auto">
          <a:xfrm>
            <a:off x="1406525" y="32131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48167" name="Text Box 112">
            <a:extLst>
              <a:ext uri="{FF2B5EF4-FFF2-40B4-BE49-F238E27FC236}">
                <a16:creationId xmlns:a16="http://schemas.microsoft.com/office/drawing/2014/main" id="{967CB323-CE8F-4BD9-A2F7-8D06D1D356E7}"/>
              </a:ext>
            </a:extLst>
          </p:cNvPr>
          <p:cNvSpPr txBox="1">
            <a:spLocks noChangeArrowheads="1"/>
          </p:cNvSpPr>
          <p:nvPr/>
        </p:nvSpPr>
        <p:spPr bwMode="auto">
          <a:xfrm>
            <a:off x="1403350" y="35242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1</a:t>
            </a:r>
          </a:p>
        </p:txBody>
      </p:sp>
      <p:sp>
        <p:nvSpPr>
          <p:cNvPr id="48168" name="Text Box 113">
            <a:extLst>
              <a:ext uri="{FF2B5EF4-FFF2-40B4-BE49-F238E27FC236}">
                <a16:creationId xmlns:a16="http://schemas.microsoft.com/office/drawing/2014/main" id="{C48530AF-4C08-43DB-8FE8-E203D097DC75}"/>
              </a:ext>
            </a:extLst>
          </p:cNvPr>
          <p:cNvSpPr txBox="1">
            <a:spLocks noChangeArrowheads="1"/>
          </p:cNvSpPr>
          <p:nvPr/>
        </p:nvSpPr>
        <p:spPr bwMode="auto">
          <a:xfrm>
            <a:off x="1406525" y="4460875"/>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7</a:t>
            </a:r>
          </a:p>
        </p:txBody>
      </p:sp>
      <p:sp>
        <p:nvSpPr>
          <p:cNvPr id="48169" name="Text Box 115">
            <a:extLst>
              <a:ext uri="{FF2B5EF4-FFF2-40B4-BE49-F238E27FC236}">
                <a16:creationId xmlns:a16="http://schemas.microsoft.com/office/drawing/2014/main" id="{9A9D768F-C619-4E0A-9826-773500BBEEC5}"/>
              </a:ext>
            </a:extLst>
          </p:cNvPr>
          <p:cNvSpPr txBox="1">
            <a:spLocks noChangeArrowheads="1"/>
          </p:cNvSpPr>
          <p:nvPr/>
        </p:nvSpPr>
        <p:spPr bwMode="auto">
          <a:xfrm>
            <a:off x="395288" y="3860800"/>
            <a:ext cx="1144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lang="en-US" altLang="zh-CN" sz="1600" b="1">
                <a:ea typeface="楷体_GB2312" pitchFamily="49" charset="-122"/>
              </a:rPr>
              <a:t>Cache</a:t>
            </a:r>
            <a:r>
              <a:rPr lang="zh-CN" altLang="en-US" sz="1600" b="1">
                <a:latin typeface="楷体_GB2312" pitchFamily="49" charset="-122"/>
                <a:ea typeface="楷体_GB2312" pitchFamily="49" charset="-122"/>
              </a:rPr>
              <a:t>目录</a:t>
            </a:r>
          </a:p>
        </p:txBody>
      </p:sp>
      <p:sp>
        <p:nvSpPr>
          <p:cNvPr id="48170" name="Line 117">
            <a:extLst>
              <a:ext uri="{FF2B5EF4-FFF2-40B4-BE49-F238E27FC236}">
                <a16:creationId xmlns:a16="http://schemas.microsoft.com/office/drawing/2014/main" id="{D3787FAB-62D5-4FB5-903B-5E088C9D8BAA}"/>
              </a:ext>
            </a:extLst>
          </p:cNvPr>
          <p:cNvSpPr>
            <a:spLocks noChangeShapeType="1"/>
          </p:cNvSpPr>
          <p:nvPr/>
        </p:nvSpPr>
        <p:spPr bwMode="auto">
          <a:xfrm flipH="1" flipV="1">
            <a:off x="4616450" y="5080000"/>
            <a:ext cx="2449513" cy="12700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8171" name="Line 118">
            <a:extLst>
              <a:ext uri="{FF2B5EF4-FFF2-40B4-BE49-F238E27FC236}">
                <a16:creationId xmlns:a16="http://schemas.microsoft.com/office/drawing/2014/main" id="{A55D7AE8-41EA-4497-B863-A0077BFB29DB}"/>
              </a:ext>
            </a:extLst>
          </p:cNvPr>
          <p:cNvSpPr>
            <a:spLocks noChangeShapeType="1"/>
          </p:cNvSpPr>
          <p:nvPr/>
        </p:nvSpPr>
        <p:spPr bwMode="auto">
          <a:xfrm flipH="1" flipV="1">
            <a:off x="4616450" y="5402263"/>
            <a:ext cx="2449513" cy="6667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48172" name="Line 119">
            <a:extLst>
              <a:ext uri="{FF2B5EF4-FFF2-40B4-BE49-F238E27FC236}">
                <a16:creationId xmlns:a16="http://schemas.microsoft.com/office/drawing/2014/main" id="{E1C455C6-C29C-4241-81FC-BABD7CBC60E4}"/>
              </a:ext>
            </a:extLst>
          </p:cNvPr>
          <p:cNvSpPr>
            <a:spLocks noChangeShapeType="1"/>
          </p:cNvSpPr>
          <p:nvPr/>
        </p:nvSpPr>
        <p:spPr bwMode="auto">
          <a:xfrm>
            <a:off x="4138613" y="2986088"/>
            <a:ext cx="0" cy="153987"/>
          </a:xfrm>
          <a:prstGeom prst="line">
            <a:avLst/>
          </a:prstGeom>
          <a:noFill/>
          <a:ln w="31750">
            <a:solidFill>
              <a:srgbClr val="FF0000"/>
            </a:solidFill>
            <a:round/>
            <a:headEnd/>
            <a:tailEnd/>
          </a:ln>
          <a:effectLst>
            <a:outerShdw blurRad="50800" dist="50800" dir="5400000" algn="ctr" rotWithShape="0">
              <a:schemeClr val="tx1">
                <a:lumMod val="50000"/>
                <a:lumOff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48173" name="Line 120">
            <a:extLst>
              <a:ext uri="{FF2B5EF4-FFF2-40B4-BE49-F238E27FC236}">
                <a16:creationId xmlns:a16="http://schemas.microsoft.com/office/drawing/2014/main" id="{5C25B58E-B107-4C80-9E16-D742DCEC9133}"/>
              </a:ext>
            </a:extLst>
          </p:cNvPr>
          <p:cNvSpPr>
            <a:spLocks noChangeShapeType="1"/>
          </p:cNvSpPr>
          <p:nvPr/>
        </p:nvSpPr>
        <p:spPr bwMode="auto">
          <a:xfrm flipH="1">
            <a:off x="900113" y="3140075"/>
            <a:ext cx="3238500" cy="0"/>
          </a:xfrm>
          <a:prstGeom prst="line">
            <a:avLst/>
          </a:prstGeom>
          <a:noFill/>
          <a:ln w="31750">
            <a:solidFill>
              <a:srgbClr val="FF0000"/>
            </a:solidFill>
            <a:round/>
            <a:headEnd/>
            <a:tailEnd/>
          </a:ln>
          <a:effectLst>
            <a:outerShdw blurRad="50800" dist="50800" dir="5400000" algn="ctr" rotWithShape="0">
              <a:schemeClr val="tx1">
                <a:lumMod val="50000"/>
                <a:lumOff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48174" name="Line 121">
            <a:extLst>
              <a:ext uri="{FF2B5EF4-FFF2-40B4-BE49-F238E27FC236}">
                <a16:creationId xmlns:a16="http://schemas.microsoft.com/office/drawing/2014/main" id="{2FBE6656-C2C6-4A59-A8CF-729D9A832325}"/>
              </a:ext>
            </a:extLst>
          </p:cNvPr>
          <p:cNvSpPr>
            <a:spLocks noChangeShapeType="1"/>
          </p:cNvSpPr>
          <p:nvPr/>
        </p:nvSpPr>
        <p:spPr bwMode="auto">
          <a:xfrm>
            <a:off x="900113" y="3140075"/>
            <a:ext cx="0" cy="515938"/>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75" name="Line 122">
            <a:extLst>
              <a:ext uri="{FF2B5EF4-FFF2-40B4-BE49-F238E27FC236}">
                <a16:creationId xmlns:a16="http://schemas.microsoft.com/office/drawing/2014/main" id="{8764FA74-536D-4F70-92C6-D84310F2A60A}"/>
              </a:ext>
            </a:extLst>
          </p:cNvPr>
          <p:cNvSpPr>
            <a:spLocks noChangeShapeType="1"/>
          </p:cNvSpPr>
          <p:nvPr/>
        </p:nvSpPr>
        <p:spPr bwMode="auto">
          <a:xfrm>
            <a:off x="900113" y="3656013"/>
            <a:ext cx="430212" cy="0"/>
          </a:xfrm>
          <a:prstGeom prst="line">
            <a:avLst/>
          </a:prstGeom>
          <a:noFill/>
          <a:ln w="317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8176" name="Line 123">
            <a:extLst>
              <a:ext uri="{FF2B5EF4-FFF2-40B4-BE49-F238E27FC236}">
                <a16:creationId xmlns:a16="http://schemas.microsoft.com/office/drawing/2014/main" id="{E45CA1C0-243F-473E-8ECA-26C8B2749C10}"/>
              </a:ext>
            </a:extLst>
          </p:cNvPr>
          <p:cNvSpPr>
            <a:spLocks noChangeShapeType="1"/>
          </p:cNvSpPr>
          <p:nvPr/>
        </p:nvSpPr>
        <p:spPr bwMode="auto">
          <a:xfrm flipH="1">
            <a:off x="4616450" y="4868863"/>
            <a:ext cx="2449513" cy="146526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2822" name="Text Box 124">
            <a:extLst>
              <a:ext uri="{FF2B5EF4-FFF2-40B4-BE49-F238E27FC236}">
                <a16:creationId xmlns:a16="http://schemas.microsoft.com/office/drawing/2014/main" id="{2CDF2BC5-93C3-437B-8BC3-1076C493010A}"/>
              </a:ext>
            </a:extLst>
          </p:cNvPr>
          <p:cNvSpPr txBox="1">
            <a:spLocks noChangeArrowheads="1"/>
          </p:cNvSpPr>
          <p:nvPr/>
        </p:nvSpPr>
        <p:spPr bwMode="auto">
          <a:xfrm>
            <a:off x="7624763" y="1844675"/>
            <a:ext cx="803275" cy="461963"/>
          </a:xfrm>
          <a:prstGeom prst="rect">
            <a:avLst/>
          </a:prstGeom>
          <a:noFill/>
          <a:ln w="69850" algn="ctr">
            <a:noFill/>
            <a:miter lim="800000"/>
            <a:headEnd/>
            <a:tailEnd/>
          </a:ln>
        </p:spPr>
        <p:txBody>
          <a:bodyPr wrap="none">
            <a:spAutoFit/>
          </a:bodyPr>
          <a:lstStyle/>
          <a:p>
            <a:pPr eaLnBrk="1" hangingPunct="1">
              <a:defRPr/>
            </a:pPr>
            <a:r>
              <a:rPr lang="zh-CN" altLang="en-US" sz="2400" b="1" dirty="0">
                <a:latin typeface="+mn-ea"/>
                <a:ea typeface="+mn-ea"/>
              </a:rPr>
              <a:t>主存</a:t>
            </a:r>
          </a:p>
        </p:txBody>
      </p:sp>
      <p:sp>
        <p:nvSpPr>
          <p:cNvPr id="48178" name="Freeform 127">
            <a:extLst>
              <a:ext uri="{FF2B5EF4-FFF2-40B4-BE49-F238E27FC236}">
                <a16:creationId xmlns:a16="http://schemas.microsoft.com/office/drawing/2014/main" id="{B1920A9A-29CA-4096-9805-B6418699AFD5}"/>
              </a:ext>
            </a:extLst>
          </p:cNvPr>
          <p:cNvSpPr>
            <a:spLocks/>
          </p:cNvSpPr>
          <p:nvPr/>
        </p:nvSpPr>
        <p:spPr bwMode="auto">
          <a:xfrm>
            <a:off x="4778375" y="2997200"/>
            <a:ext cx="969963" cy="2235200"/>
          </a:xfrm>
          <a:custGeom>
            <a:avLst/>
            <a:gdLst>
              <a:gd name="T0" fmla="*/ 2147483646 w 560"/>
              <a:gd name="T1" fmla="*/ 0 h 1270"/>
              <a:gd name="T2" fmla="*/ 2147483646 w 560"/>
              <a:gd name="T3" fmla="*/ 2147483646 h 1270"/>
              <a:gd name="T4" fmla="*/ 2147483646 w 560"/>
              <a:gd name="T5" fmla="*/ 2147483646 h 1270"/>
              <a:gd name="T6" fmla="*/ 0 w 560"/>
              <a:gd name="T7" fmla="*/ 2147483646 h 1270"/>
              <a:gd name="T8" fmla="*/ 0 60000 65536"/>
              <a:gd name="T9" fmla="*/ 0 60000 65536"/>
              <a:gd name="T10" fmla="*/ 0 60000 65536"/>
              <a:gd name="T11" fmla="*/ 0 60000 65536"/>
              <a:gd name="T12" fmla="*/ 0 w 560"/>
              <a:gd name="T13" fmla="*/ 0 h 1270"/>
              <a:gd name="T14" fmla="*/ 560 w 560"/>
              <a:gd name="T15" fmla="*/ 1270 h 1270"/>
            </a:gdLst>
            <a:ahLst/>
            <a:cxnLst>
              <a:cxn ang="T8">
                <a:pos x="T0" y="T1"/>
              </a:cxn>
              <a:cxn ang="T9">
                <a:pos x="T2" y="T3"/>
              </a:cxn>
              <a:cxn ang="T10">
                <a:pos x="T4" y="T5"/>
              </a:cxn>
              <a:cxn ang="T11">
                <a:pos x="T6" y="T7"/>
              </a:cxn>
            </a:cxnLst>
            <a:rect l="T12" t="T13" r="T14" b="T15"/>
            <a:pathLst>
              <a:path w="560" h="1270">
                <a:moveTo>
                  <a:pt x="545" y="0"/>
                </a:moveTo>
                <a:cubicBezTo>
                  <a:pt x="552" y="68"/>
                  <a:pt x="560" y="136"/>
                  <a:pt x="545" y="272"/>
                </a:cubicBezTo>
                <a:cubicBezTo>
                  <a:pt x="530" y="408"/>
                  <a:pt x="545" y="650"/>
                  <a:pt x="454" y="816"/>
                </a:cubicBezTo>
                <a:cubicBezTo>
                  <a:pt x="363" y="982"/>
                  <a:pt x="76" y="1194"/>
                  <a:pt x="0" y="1270"/>
                </a:cubicBezTo>
              </a:path>
            </a:pathLst>
          </a:custGeom>
          <a:noFill/>
          <a:ln w="31750">
            <a:solidFill>
              <a:srgbClr val="9900CC"/>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179" name="Text Box 46">
            <a:extLst>
              <a:ext uri="{FF2B5EF4-FFF2-40B4-BE49-F238E27FC236}">
                <a16:creationId xmlns:a16="http://schemas.microsoft.com/office/drawing/2014/main" id="{7243296A-E6D2-460D-878B-E295C1C0C4A5}"/>
              </a:ext>
            </a:extLst>
          </p:cNvPr>
          <p:cNvSpPr txBox="1">
            <a:spLocks noChangeArrowheads="1"/>
          </p:cNvSpPr>
          <p:nvPr/>
        </p:nvSpPr>
        <p:spPr bwMode="auto">
          <a:xfrm>
            <a:off x="1406525" y="50419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1</a:t>
            </a:r>
          </a:p>
        </p:txBody>
      </p:sp>
      <p:sp>
        <p:nvSpPr>
          <p:cNvPr id="48180" name="Text Box 47">
            <a:extLst>
              <a:ext uri="{FF2B5EF4-FFF2-40B4-BE49-F238E27FC236}">
                <a16:creationId xmlns:a16="http://schemas.microsoft.com/office/drawing/2014/main" id="{B2412D11-8805-4C4B-90CA-3D161586AF95}"/>
              </a:ext>
            </a:extLst>
          </p:cNvPr>
          <p:cNvSpPr txBox="1">
            <a:spLocks noChangeArrowheads="1"/>
          </p:cNvSpPr>
          <p:nvPr/>
        </p:nvSpPr>
        <p:spPr bwMode="auto">
          <a:xfrm>
            <a:off x="1406525" y="54737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2</a:t>
            </a:r>
          </a:p>
        </p:txBody>
      </p:sp>
      <p:sp>
        <p:nvSpPr>
          <p:cNvPr id="48181" name="Text Box 48">
            <a:extLst>
              <a:ext uri="{FF2B5EF4-FFF2-40B4-BE49-F238E27FC236}">
                <a16:creationId xmlns:a16="http://schemas.microsoft.com/office/drawing/2014/main" id="{A666E32F-8897-4041-826B-92B0FDEB46FB}"/>
              </a:ext>
            </a:extLst>
          </p:cNvPr>
          <p:cNvSpPr txBox="1">
            <a:spLocks noChangeArrowheads="1"/>
          </p:cNvSpPr>
          <p:nvPr/>
        </p:nvSpPr>
        <p:spPr bwMode="auto">
          <a:xfrm>
            <a:off x="1403350" y="61928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7</a:t>
            </a:r>
          </a:p>
        </p:txBody>
      </p:sp>
      <p:sp>
        <p:nvSpPr>
          <p:cNvPr id="48182" name="Text Box 49">
            <a:extLst>
              <a:ext uri="{FF2B5EF4-FFF2-40B4-BE49-F238E27FC236}">
                <a16:creationId xmlns:a16="http://schemas.microsoft.com/office/drawing/2014/main" id="{2C751AAB-CF70-4F5A-AC11-A3A6DBA65E96}"/>
              </a:ext>
            </a:extLst>
          </p:cNvPr>
          <p:cNvSpPr txBox="1">
            <a:spLocks noChangeArrowheads="1"/>
          </p:cNvSpPr>
          <p:nvPr/>
        </p:nvSpPr>
        <p:spPr bwMode="auto">
          <a:xfrm>
            <a:off x="395288" y="5330825"/>
            <a:ext cx="1109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a:latin typeface="楷体_GB2312" pitchFamily="49" charset="-122"/>
              </a:rPr>
              <a:t>Cache</a:t>
            </a:r>
            <a:r>
              <a:rPr lang="zh-CN" altLang="en-US" sz="1600">
                <a:latin typeface="楷体_GB2312" pitchFamily="49" charset="-122"/>
              </a:rPr>
              <a:t>数据</a:t>
            </a:r>
          </a:p>
        </p:txBody>
      </p:sp>
      <p:grpSp>
        <p:nvGrpSpPr>
          <p:cNvPr id="48183" name="Group 96">
            <a:extLst>
              <a:ext uri="{FF2B5EF4-FFF2-40B4-BE49-F238E27FC236}">
                <a16:creationId xmlns:a16="http://schemas.microsoft.com/office/drawing/2014/main" id="{C79E17C9-7104-4943-9C9D-7E9E32BC1125}"/>
              </a:ext>
            </a:extLst>
          </p:cNvPr>
          <p:cNvGrpSpPr>
            <a:grpSpLocks/>
          </p:cNvGrpSpPr>
          <p:nvPr/>
        </p:nvGrpSpPr>
        <p:grpSpPr bwMode="auto">
          <a:xfrm>
            <a:off x="1692275" y="4797425"/>
            <a:ext cx="2940050" cy="1681163"/>
            <a:chOff x="1056" y="2795"/>
            <a:chExt cx="1852" cy="1195"/>
          </a:xfrm>
        </p:grpSpPr>
        <p:grpSp>
          <p:nvGrpSpPr>
            <p:cNvPr id="48191" name="Group 97">
              <a:extLst>
                <a:ext uri="{FF2B5EF4-FFF2-40B4-BE49-F238E27FC236}">
                  <a16:creationId xmlns:a16="http://schemas.microsoft.com/office/drawing/2014/main" id="{BCF2D8E6-695A-403E-BB53-E70D6B1CF1AA}"/>
                </a:ext>
              </a:extLst>
            </p:cNvPr>
            <p:cNvGrpSpPr>
              <a:grpSpLocks/>
            </p:cNvGrpSpPr>
            <p:nvPr/>
          </p:nvGrpSpPr>
          <p:grpSpPr bwMode="auto">
            <a:xfrm>
              <a:off x="1056" y="2795"/>
              <a:ext cx="1852" cy="240"/>
              <a:chOff x="1056" y="2911"/>
              <a:chExt cx="1852" cy="240"/>
            </a:xfrm>
          </p:grpSpPr>
          <p:sp>
            <p:nvSpPr>
              <p:cNvPr id="48204" name="Rectangle 98">
                <a:extLst>
                  <a:ext uri="{FF2B5EF4-FFF2-40B4-BE49-F238E27FC236}">
                    <a16:creationId xmlns:a16="http://schemas.microsoft.com/office/drawing/2014/main" id="{16A95352-696C-49B8-A05A-C570FE0B1528}"/>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ea typeface="宋体" panose="02010600030101010101" pitchFamily="2" charset="-122"/>
                  </a:rPr>
                  <a:t>0</a:t>
                </a:r>
              </a:p>
            </p:txBody>
          </p:sp>
          <p:sp>
            <p:nvSpPr>
              <p:cNvPr id="48205" name="Rectangle 99">
                <a:extLst>
                  <a:ext uri="{FF2B5EF4-FFF2-40B4-BE49-F238E27FC236}">
                    <a16:creationId xmlns:a16="http://schemas.microsoft.com/office/drawing/2014/main" id="{EBAB5739-AF4E-4797-BB7F-F01F371215B8}"/>
                  </a:ext>
                </a:extLst>
              </p:cNvPr>
              <p:cNvSpPr>
                <a:spLocks noChangeArrowheads="1"/>
              </p:cNvSpPr>
              <p:nvPr/>
            </p:nvSpPr>
            <p:spPr bwMode="auto">
              <a:xfrm>
                <a:off x="1519"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ea typeface="宋体" panose="02010600030101010101" pitchFamily="2" charset="-122"/>
                  </a:rPr>
                  <a:t>字节</a:t>
                </a:r>
                <a:r>
                  <a:rPr kumimoji="0" lang="en-US" altLang="zh-CN" sz="1800" b="0">
                    <a:solidFill>
                      <a:schemeClr val="bg1"/>
                    </a:solidFill>
                    <a:ea typeface="宋体" panose="02010600030101010101" pitchFamily="2" charset="-122"/>
                  </a:rPr>
                  <a:t>1</a:t>
                </a:r>
              </a:p>
            </p:txBody>
          </p:sp>
          <p:sp>
            <p:nvSpPr>
              <p:cNvPr id="48206" name="Rectangle 100">
                <a:extLst>
                  <a:ext uri="{FF2B5EF4-FFF2-40B4-BE49-F238E27FC236}">
                    <a16:creationId xmlns:a16="http://schemas.microsoft.com/office/drawing/2014/main" id="{64C984E9-FC78-43EC-AA21-00E3B1947502}"/>
                  </a:ext>
                </a:extLst>
              </p:cNvPr>
              <p:cNvSpPr>
                <a:spLocks noChangeArrowheads="1"/>
              </p:cNvSpPr>
              <p:nvPr/>
            </p:nvSpPr>
            <p:spPr bwMode="auto">
              <a:xfrm>
                <a:off x="1982"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en-US" altLang="zh-CN" sz="1800" b="0">
                  <a:solidFill>
                    <a:schemeClr val="bg1"/>
                  </a:solidFill>
                  <a:ea typeface="宋体" panose="02010600030101010101" pitchFamily="2" charset="-122"/>
                </a:endParaRPr>
              </a:p>
            </p:txBody>
          </p:sp>
          <p:sp>
            <p:nvSpPr>
              <p:cNvPr id="48207" name="Rectangle 101">
                <a:extLst>
                  <a:ext uri="{FF2B5EF4-FFF2-40B4-BE49-F238E27FC236}">
                    <a16:creationId xmlns:a16="http://schemas.microsoft.com/office/drawing/2014/main" id="{CB21AFF1-7657-49AF-9333-84DE3ED978BA}"/>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ea typeface="宋体" panose="02010600030101010101" pitchFamily="2" charset="-122"/>
                  </a:rPr>
                  <a:t>31</a:t>
                </a:r>
              </a:p>
            </p:txBody>
          </p:sp>
        </p:grpSp>
        <p:grpSp>
          <p:nvGrpSpPr>
            <p:cNvPr id="48192" name="Group 102">
              <a:extLst>
                <a:ext uri="{FF2B5EF4-FFF2-40B4-BE49-F238E27FC236}">
                  <a16:creationId xmlns:a16="http://schemas.microsoft.com/office/drawing/2014/main" id="{244E2D17-5437-4377-B609-7E48B94C98CC}"/>
                </a:ext>
              </a:extLst>
            </p:cNvPr>
            <p:cNvGrpSpPr>
              <a:grpSpLocks/>
            </p:cNvGrpSpPr>
            <p:nvPr/>
          </p:nvGrpSpPr>
          <p:grpSpPr bwMode="auto">
            <a:xfrm>
              <a:off x="1056" y="3035"/>
              <a:ext cx="1852" cy="240"/>
              <a:chOff x="1056" y="2911"/>
              <a:chExt cx="1852" cy="240"/>
            </a:xfrm>
          </p:grpSpPr>
          <p:sp>
            <p:nvSpPr>
              <p:cNvPr id="48200" name="Rectangle 103">
                <a:extLst>
                  <a:ext uri="{FF2B5EF4-FFF2-40B4-BE49-F238E27FC236}">
                    <a16:creationId xmlns:a16="http://schemas.microsoft.com/office/drawing/2014/main" id="{8898987B-498A-4142-93A9-1565FF620516}"/>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latin typeface="楷体_GB2312" pitchFamily="49" charset="-122"/>
                  </a:rPr>
                  <a:t>0</a:t>
                </a:r>
                <a:endParaRPr kumimoji="0" lang="en-US" altLang="zh-CN" sz="1800" b="0">
                  <a:solidFill>
                    <a:schemeClr val="bg1"/>
                  </a:solidFill>
                  <a:ea typeface="宋体" panose="02010600030101010101" pitchFamily="2" charset="-122"/>
                </a:endParaRPr>
              </a:p>
            </p:txBody>
          </p:sp>
          <p:sp>
            <p:nvSpPr>
              <p:cNvPr id="48201" name="Rectangle 104">
                <a:extLst>
                  <a:ext uri="{FF2B5EF4-FFF2-40B4-BE49-F238E27FC236}">
                    <a16:creationId xmlns:a16="http://schemas.microsoft.com/office/drawing/2014/main" id="{37B8652B-9549-4B17-8E1A-74264398D61E}"/>
                  </a:ext>
                </a:extLst>
              </p:cNvPr>
              <p:cNvSpPr>
                <a:spLocks noChangeArrowheads="1"/>
              </p:cNvSpPr>
              <p:nvPr/>
            </p:nvSpPr>
            <p:spPr bwMode="auto">
              <a:xfrm>
                <a:off x="1519"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 typeface="Wingdings 2" panose="05020102010507070707" pitchFamily="18" charset="2"/>
                  <a:buNone/>
                </a:pPr>
                <a:r>
                  <a:rPr kumimoji="0" lang="zh-CN" altLang="en-US" sz="1800" b="0">
                    <a:solidFill>
                      <a:srgbClr val="FFFFFF"/>
                    </a:solidFill>
                    <a:ea typeface="宋体" panose="02010600030101010101" pitchFamily="2" charset="-122"/>
                  </a:rPr>
                  <a:t>字节</a:t>
                </a:r>
                <a:r>
                  <a:rPr kumimoji="0" lang="en-US" altLang="zh-CN" sz="1800" b="0">
                    <a:solidFill>
                      <a:srgbClr val="FFFFFF"/>
                    </a:solidFill>
                    <a:ea typeface="宋体" panose="02010600030101010101" pitchFamily="2" charset="-122"/>
                  </a:rPr>
                  <a:t>1</a:t>
                </a:r>
              </a:p>
            </p:txBody>
          </p:sp>
          <p:sp>
            <p:nvSpPr>
              <p:cNvPr id="48202" name="Rectangle 105">
                <a:extLst>
                  <a:ext uri="{FF2B5EF4-FFF2-40B4-BE49-F238E27FC236}">
                    <a16:creationId xmlns:a16="http://schemas.microsoft.com/office/drawing/2014/main" id="{B93B1B2C-4C6C-4C11-8932-9437DB6498A3}"/>
                  </a:ext>
                </a:extLst>
              </p:cNvPr>
              <p:cNvSpPr>
                <a:spLocks noChangeArrowheads="1"/>
              </p:cNvSpPr>
              <p:nvPr/>
            </p:nvSpPr>
            <p:spPr bwMode="auto">
              <a:xfrm>
                <a:off x="1982"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en-US" altLang="zh-CN" sz="1800" b="0">
                  <a:solidFill>
                    <a:schemeClr val="bg1"/>
                  </a:solidFill>
                  <a:ea typeface="宋体" panose="02010600030101010101" pitchFamily="2" charset="-122"/>
                </a:endParaRPr>
              </a:p>
            </p:txBody>
          </p:sp>
          <p:sp>
            <p:nvSpPr>
              <p:cNvPr id="48203" name="Rectangle 106">
                <a:extLst>
                  <a:ext uri="{FF2B5EF4-FFF2-40B4-BE49-F238E27FC236}">
                    <a16:creationId xmlns:a16="http://schemas.microsoft.com/office/drawing/2014/main" id="{9E5F1DC1-57D0-479D-9FBF-EF5A2A4D3570}"/>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latin typeface="楷体_GB2312" pitchFamily="49" charset="-122"/>
                  </a:rPr>
                  <a:t>31</a:t>
                </a:r>
                <a:endParaRPr kumimoji="0" lang="en-US" altLang="zh-CN" sz="1800" b="0">
                  <a:solidFill>
                    <a:schemeClr val="bg1"/>
                  </a:solidFill>
                  <a:ea typeface="宋体" panose="02010600030101010101" pitchFamily="2" charset="-122"/>
                </a:endParaRPr>
              </a:p>
            </p:txBody>
          </p:sp>
        </p:grpSp>
        <p:sp>
          <p:nvSpPr>
            <p:cNvPr id="48193" name="Rectangle 107">
              <a:extLst>
                <a:ext uri="{FF2B5EF4-FFF2-40B4-BE49-F238E27FC236}">
                  <a16:creationId xmlns:a16="http://schemas.microsoft.com/office/drawing/2014/main" id="{93102432-5F00-4F7B-9DBA-BB3E85ACB205}"/>
                </a:ext>
              </a:extLst>
            </p:cNvPr>
            <p:cNvSpPr>
              <a:spLocks noChangeArrowheads="1"/>
            </p:cNvSpPr>
            <p:nvPr/>
          </p:nvSpPr>
          <p:spPr bwMode="auto">
            <a:xfrm>
              <a:off x="1057" y="3508"/>
              <a:ext cx="1851"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b="0">
                  <a:solidFill>
                    <a:schemeClr val="bg1"/>
                  </a:solidFill>
                  <a:ea typeface="方正准圆简体" pitchFamily="2" charset="-122"/>
                </a:rPr>
                <a:t>…</a:t>
              </a:r>
            </a:p>
            <a:p>
              <a:pPr algn="ctr">
                <a:spcBef>
                  <a:spcPct val="0"/>
                </a:spcBef>
                <a:buClrTx/>
                <a:buFontTx/>
                <a:buNone/>
              </a:pPr>
              <a:endParaRPr kumimoji="0" lang="en-US" altLang="zh-CN" sz="1800" b="0">
                <a:solidFill>
                  <a:schemeClr val="bg1"/>
                </a:solidFill>
                <a:ea typeface="宋体" panose="02010600030101010101" pitchFamily="2" charset="-122"/>
              </a:endParaRPr>
            </a:p>
          </p:txBody>
        </p:sp>
        <p:grpSp>
          <p:nvGrpSpPr>
            <p:cNvPr id="48194" name="Group 108">
              <a:extLst>
                <a:ext uri="{FF2B5EF4-FFF2-40B4-BE49-F238E27FC236}">
                  <a16:creationId xmlns:a16="http://schemas.microsoft.com/office/drawing/2014/main" id="{1A1183AD-546E-4EDC-94C2-FDBF80136D13}"/>
                </a:ext>
              </a:extLst>
            </p:cNvPr>
            <p:cNvGrpSpPr>
              <a:grpSpLocks/>
            </p:cNvGrpSpPr>
            <p:nvPr/>
          </p:nvGrpSpPr>
          <p:grpSpPr bwMode="auto">
            <a:xfrm>
              <a:off x="1056" y="3748"/>
              <a:ext cx="1852" cy="242"/>
              <a:chOff x="1056" y="2911"/>
              <a:chExt cx="1852" cy="242"/>
            </a:xfrm>
          </p:grpSpPr>
          <p:sp>
            <p:nvSpPr>
              <p:cNvPr id="48196" name="Rectangle 109">
                <a:extLst>
                  <a:ext uri="{FF2B5EF4-FFF2-40B4-BE49-F238E27FC236}">
                    <a16:creationId xmlns:a16="http://schemas.microsoft.com/office/drawing/2014/main" id="{12DCB423-CA1F-4B9D-AE43-19C2B89706F0}"/>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sp>
            <p:nvSpPr>
              <p:cNvPr id="48197" name="Rectangle 110">
                <a:extLst>
                  <a:ext uri="{FF2B5EF4-FFF2-40B4-BE49-F238E27FC236}">
                    <a16:creationId xmlns:a16="http://schemas.microsoft.com/office/drawing/2014/main" id="{FBFAF112-1EA6-45CB-A0F9-43E5AB8DBFA1}"/>
                  </a:ext>
                </a:extLst>
              </p:cNvPr>
              <p:cNvSpPr>
                <a:spLocks noChangeArrowheads="1"/>
              </p:cNvSpPr>
              <p:nvPr/>
            </p:nvSpPr>
            <p:spPr bwMode="auto">
              <a:xfrm>
                <a:off x="1982" y="2913"/>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sp>
            <p:nvSpPr>
              <p:cNvPr id="48198" name="Rectangle 111">
                <a:extLst>
                  <a:ext uri="{FF2B5EF4-FFF2-40B4-BE49-F238E27FC236}">
                    <a16:creationId xmlns:a16="http://schemas.microsoft.com/office/drawing/2014/main" id="{2B8CBB2F-E3F1-4D36-BA14-0BCCD571A5AB}"/>
                  </a:ext>
                </a:extLst>
              </p:cNvPr>
              <p:cNvSpPr>
                <a:spLocks noChangeArrowheads="1"/>
              </p:cNvSpPr>
              <p:nvPr/>
            </p:nvSpPr>
            <p:spPr bwMode="auto">
              <a:xfrm>
                <a:off x="1519"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sp>
            <p:nvSpPr>
              <p:cNvPr id="48199" name="Rectangle 112">
                <a:extLst>
                  <a:ext uri="{FF2B5EF4-FFF2-40B4-BE49-F238E27FC236}">
                    <a16:creationId xmlns:a16="http://schemas.microsoft.com/office/drawing/2014/main" id="{90FCBFA1-1666-4B9B-B537-0843E54FB18C}"/>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grpSp>
        <p:sp>
          <p:nvSpPr>
            <p:cNvPr id="48195" name="Rectangle 113">
              <a:extLst>
                <a:ext uri="{FF2B5EF4-FFF2-40B4-BE49-F238E27FC236}">
                  <a16:creationId xmlns:a16="http://schemas.microsoft.com/office/drawing/2014/main" id="{9ACC2D87-5F45-47F8-93E6-5BAB0C563A17}"/>
                </a:ext>
              </a:extLst>
            </p:cNvPr>
            <p:cNvSpPr>
              <a:spLocks noChangeArrowheads="1"/>
            </p:cNvSpPr>
            <p:nvPr/>
          </p:nvSpPr>
          <p:spPr bwMode="auto">
            <a:xfrm>
              <a:off x="1057" y="3275"/>
              <a:ext cx="1851"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b="0">
                  <a:solidFill>
                    <a:schemeClr val="bg1"/>
                  </a:solidFill>
                  <a:ea typeface="方正准圆简体" pitchFamily="2" charset="-122"/>
                </a:rPr>
                <a:t>…</a:t>
              </a:r>
            </a:p>
            <a:p>
              <a:pPr algn="ctr">
                <a:spcBef>
                  <a:spcPct val="0"/>
                </a:spcBef>
                <a:buClrTx/>
                <a:buFontTx/>
                <a:buNone/>
              </a:pPr>
              <a:endParaRPr kumimoji="0" lang="en-US" altLang="zh-CN" sz="1800" b="0">
                <a:solidFill>
                  <a:schemeClr val="bg1"/>
                </a:solidFill>
                <a:ea typeface="宋体" panose="02010600030101010101" pitchFamily="2" charset="-122"/>
              </a:endParaRPr>
            </a:p>
          </p:txBody>
        </p:sp>
      </p:grpSp>
      <p:sp>
        <p:nvSpPr>
          <p:cNvPr id="48184" name="Rectangle 104">
            <a:extLst>
              <a:ext uri="{FF2B5EF4-FFF2-40B4-BE49-F238E27FC236}">
                <a16:creationId xmlns:a16="http://schemas.microsoft.com/office/drawing/2014/main" id="{3E087CCD-22FC-41F8-B2B9-6DEDA065F5AD}"/>
              </a:ext>
            </a:extLst>
          </p:cNvPr>
          <p:cNvSpPr>
            <a:spLocks noChangeArrowheads="1"/>
          </p:cNvSpPr>
          <p:nvPr/>
        </p:nvSpPr>
        <p:spPr bwMode="auto">
          <a:xfrm>
            <a:off x="3154363" y="4799013"/>
            <a:ext cx="735012" cy="338137"/>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sp>
        <p:nvSpPr>
          <p:cNvPr id="48185" name="Rectangle 104">
            <a:extLst>
              <a:ext uri="{FF2B5EF4-FFF2-40B4-BE49-F238E27FC236}">
                <a16:creationId xmlns:a16="http://schemas.microsoft.com/office/drawing/2014/main" id="{F85B2D25-90F1-4B8B-A773-A9C122143293}"/>
              </a:ext>
            </a:extLst>
          </p:cNvPr>
          <p:cNvSpPr>
            <a:spLocks noChangeArrowheads="1"/>
          </p:cNvSpPr>
          <p:nvPr/>
        </p:nvSpPr>
        <p:spPr bwMode="auto">
          <a:xfrm>
            <a:off x="3162300" y="5133975"/>
            <a:ext cx="735013" cy="338138"/>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grpSp>
        <p:nvGrpSpPr>
          <p:cNvPr id="48186" name="组合 1">
            <a:extLst>
              <a:ext uri="{FF2B5EF4-FFF2-40B4-BE49-F238E27FC236}">
                <a16:creationId xmlns:a16="http://schemas.microsoft.com/office/drawing/2014/main" id="{C4453C98-C4CD-45B1-9798-E773161D1979}"/>
              </a:ext>
            </a:extLst>
          </p:cNvPr>
          <p:cNvGrpSpPr>
            <a:grpSpLocks/>
          </p:cNvGrpSpPr>
          <p:nvPr/>
        </p:nvGrpSpPr>
        <p:grpSpPr bwMode="auto">
          <a:xfrm>
            <a:off x="4616450" y="3717925"/>
            <a:ext cx="400050" cy="1585913"/>
            <a:chOff x="4616450" y="3717925"/>
            <a:chExt cx="400050" cy="1585913"/>
          </a:xfrm>
        </p:grpSpPr>
        <p:cxnSp>
          <p:nvCxnSpPr>
            <p:cNvPr id="48188" name="直接连接符 2">
              <a:extLst>
                <a:ext uri="{FF2B5EF4-FFF2-40B4-BE49-F238E27FC236}">
                  <a16:creationId xmlns:a16="http://schemas.microsoft.com/office/drawing/2014/main" id="{98651140-9788-468E-8F34-55F89313970E}"/>
                </a:ext>
              </a:extLst>
            </p:cNvPr>
            <p:cNvCxnSpPr>
              <a:cxnSpLocks noChangeShapeType="1"/>
              <a:stCxn id="48158" idx="3"/>
            </p:cNvCxnSpPr>
            <p:nvPr/>
          </p:nvCxnSpPr>
          <p:spPr bwMode="auto">
            <a:xfrm>
              <a:off x="4616450" y="3717925"/>
              <a:ext cx="400050" cy="0"/>
            </a:xfrm>
            <a:prstGeom prst="line">
              <a:avLst/>
            </a:prstGeom>
            <a:noFill/>
            <a:ln w="3175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48189" name="直接连接符 5">
              <a:extLst>
                <a:ext uri="{FF2B5EF4-FFF2-40B4-BE49-F238E27FC236}">
                  <a16:creationId xmlns:a16="http://schemas.microsoft.com/office/drawing/2014/main" id="{D0FA9F68-9D73-4DEC-AF75-22A8713B11DC}"/>
                </a:ext>
              </a:extLst>
            </p:cNvPr>
            <p:cNvCxnSpPr>
              <a:cxnSpLocks noChangeShapeType="1"/>
            </p:cNvCxnSpPr>
            <p:nvPr/>
          </p:nvCxnSpPr>
          <p:spPr bwMode="auto">
            <a:xfrm flipH="1">
              <a:off x="5002213" y="3717925"/>
              <a:ext cx="14287" cy="1585913"/>
            </a:xfrm>
            <a:prstGeom prst="line">
              <a:avLst/>
            </a:prstGeom>
            <a:noFill/>
            <a:ln w="3175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48190" name="直接箭头连接符 7">
              <a:extLst>
                <a:ext uri="{FF2B5EF4-FFF2-40B4-BE49-F238E27FC236}">
                  <a16:creationId xmlns:a16="http://schemas.microsoft.com/office/drawing/2014/main" id="{94927B35-8CFD-48E5-848E-3B05FEDEBEF5}"/>
                </a:ext>
              </a:extLst>
            </p:cNvPr>
            <p:cNvCxnSpPr>
              <a:cxnSpLocks noChangeShapeType="1"/>
              <a:endCxn id="48203" idx="3"/>
            </p:cNvCxnSpPr>
            <p:nvPr/>
          </p:nvCxnSpPr>
          <p:spPr bwMode="auto">
            <a:xfrm flipH="1">
              <a:off x="4632325" y="5303838"/>
              <a:ext cx="369888" cy="0"/>
            </a:xfrm>
            <a:prstGeom prst="straightConnector1">
              <a:avLst/>
            </a:prstGeom>
            <a:noFill/>
            <a:ln w="31750" algn="ctr">
              <a:solidFill>
                <a:srgbClr val="FF0000"/>
              </a:solidFill>
              <a:miter lim="800000"/>
              <a:headEnd/>
              <a:tailEnd type="triangle" w="med" len="med"/>
            </a:ln>
            <a:extLst>
              <a:ext uri="{909E8E84-426E-40DD-AFC4-6F175D3DCCD1}">
                <a14:hiddenFill xmlns:a14="http://schemas.microsoft.com/office/drawing/2010/main">
                  <a:noFill/>
                </a14:hiddenFill>
              </a:ext>
            </a:extLst>
          </p:spPr>
        </p:cxnSp>
      </p:grpSp>
      <p:sp>
        <p:nvSpPr>
          <p:cNvPr id="107" name="Text Box 115">
            <a:extLst>
              <a:ext uri="{FF2B5EF4-FFF2-40B4-BE49-F238E27FC236}">
                <a16:creationId xmlns:a16="http://schemas.microsoft.com/office/drawing/2014/main" id="{57E06E50-1D15-494D-B6F0-DC3395E52D8E}"/>
              </a:ext>
            </a:extLst>
          </p:cNvPr>
          <p:cNvSpPr txBox="1">
            <a:spLocks noChangeArrowheads="1"/>
          </p:cNvSpPr>
          <p:nvPr/>
        </p:nvSpPr>
        <p:spPr bwMode="auto">
          <a:xfrm>
            <a:off x="4606925" y="3321050"/>
            <a:ext cx="1049338" cy="338138"/>
          </a:xfrm>
          <a:prstGeom prst="rect">
            <a:avLst/>
          </a:prstGeom>
          <a:noFill/>
          <a:ln w="9525" algn="ctr">
            <a:noFill/>
            <a:miter lim="800000"/>
            <a:headEnd/>
            <a:tailEnd/>
          </a:ln>
        </p:spPr>
        <p:txBody>
          <a:bodyPr wrap="none">
            <a:spAutoFit/>
          </a:bodyPr>
          <a:lstStyle/>
          <a:p>
            <a:pPr eaLnBrk="1" hangingPunct="1">
              <a:defRPr/>
            </a:pPr>
            <a:r>
              <a:rPr lang="en-US" altLang="zh-CN" sz="1600" b="1" dirty="0">
                <a:solidFill>
                  <a:srgbClr val="FF0000"/>
                </a:solidFill>
                <a:latin typeface="+mn-lt"/>
                <a:ea typeface="楷体_GB2312" pitchFamily="49" charset="-122"/>
              </a:rPr>
              <a:t>Tag=Tag2</a:t>
            </a:r>
            <a:endParaRPr lang="zh-CN" altLang="en-US" sz="1600" b="1" dirty="0">
              <a:solidFill>
                <a:srgbClr val="FF0000"/>
              </a:solidFill>
              <a:latin typeface="楷体_GB2312" pitchFamily="49" charset="-122"/>
              <a:ea typeface="楷体_GB2312" pitchFamily="49" charset="-122"/>
            </a:endParaRPr>
          </a:p>
        </p:txBody>
      </p:sp>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6591C0-B484-4160-823F-40D9A0A8D130}"/>
              </a:ext>
            </a:extLst>
          </p:cNvPr>
          <p:cNvSpPr>
            <a:spLocks noGrp="1"/>
          </p:cNvSpPr>
          <p:nvPr>
            <p:ph type="title"/>
          </p:nvPr>
        </p:nvSpPr>
        <p:spPr/>
        <p:txBody>
          <a:bodyPr/>
          <a:lstStyle/>
          <a:p>
            <a:pPr>
              <a:defRPr/>
            </a:pPr>
            <a:r>
              <a:rPr lang="zh-CN" altLang="en-US" dirty="0"/>
              <a:t>直接映射</a:t>
            </a:r>
            <a:r>
              <a:rPr lang="en-US" altLang="zh-CN" dirty="0"/>
              <a:t>Cache</a:t>
            </a:r>
            <a:r>
              <a:rPr lang="zh-CN" altLang="en-US" dirty="0"/>
              <a:t>示例（</a:t>
            </a:r>
            <a:r>
              <a:rPr lang="en-US" altLang="zh-CN" dirty="0"/>
              <a:t>2</a:t>
            </a:r>
            <a:r>
              <a:rPr lang="zh-CN" altLang="en-US" dirty="0"/>
              <a:t>）</a:t>
            </a:r>
            <a:endParaRPr lang="zh-CN" altLang="en-US" sz="3200" dirty="0"/>
          </a:p>
        </p:txBody>
      </p:sp>
      <p:sp>
        <p:nvSpPr>
          <p:cNvPr id="49155" name="内容占位符 2">
            <a:extLst>
              <a:ext uri="{FF2B5EF4-FFF2-40B4-BE49-F238E27FC236}">
                <a16:creationId xmlns:a16="http://schemas.microsoft.com/office/drawing/2014/main" id="{83D31662-7D4E-48E9-A20F-CE80631E1E40}"/>
              </a:ext>
            </a:extLst>
          </p:cNvPr>
          <p:cNvSpPr>
            <a:spLocks noGrp="1" noChangeArrowheads="1"/>
          </p:cNvSpPr>
          <p:nvPr>
            <p:ph idx="1"/>
          </p:nvPr>
        </p:nvSpPr>
        <p:spPr/>
        <p:txBody>
          <a:bodyPr/>
          <a:lstStyle/>
          <a:p>
            <a:r>
              <a:rPr lang="zh-CN" altLang="en-US" sz="2800"/>
              <a:t>假设</a:t>
            </a:r>
            <a:r>
              <a:rPr lang="en-US" altLang="zh-CN" sz="2800"/>
              <a:t>CPU</a:t>
            </a:r>
            <a:r>
              <a:rPr lang="zh-CN" altLang="en-US" sz="2800"/>
              <a:t>欲从</a:t>
            </a:r>
            <a:r>
              <a:rPr lang="en-US" altLang="zh-CN" sz="2800"/>
              <a:t>0xFF0144</a:t>
            </a:r>
            <a:r>
              <a:rPr lang="zh-CN" altLang="en-US" sz="2800"/>
              <a:t>地址读出一个字（</a:t>
            </a:r>
            <a:r>
              <a:rPr lang="en-US" altLang="zh-CN" sz="2800"/>
              <a:t>32</a:t>
            </a:r>
            <a:r>
              <a:rPr lang="zh-CN" altLang="en-US" sz="2800"/>
              <a:t>位）</a:t>
            </a:r>
          </a:p>
        </p:txBody>
      </p:sp>
      <p:sp>
        <p:nvSpPr>
          <p:cNvPr id="49157" name="Rectangle 18">
            <a:extLst>
              <a:ext uri="{FF2B5EF4-FFF2-40B4-BE49-F238E27FC236}">
                <a16:creationId xmlns:a16="http://schemas.microsoft.com/office/drawing/2014/main" id="{96A010F8-A91F-4A48-9FD0-0DB189173EA8}"/>
              </a:ext>
            </a:extLst>
          </p:cNvPr>
          <p:cNvSpPr>
            <a:spLocks noChangeArrowheads="1"/>
          </p:cNvSpPr>
          <p:nvPr/>
        </p:nvSpPr>
        <p:spPr bwMode="auto">
          <a:xfrm>
            <a:off x="2195513" y="1700213"/>
            <a:ext cx="1830387" cy="360362"/>
          </a:xfrm>
          <a:prstGeom prst="rect">
            <a:avLst/>
          </a:prstGeom>
          <a:solidFill>
            <a:srgbClr val="FF0000"/>
          </a:solidFill>
          <a:ln w="25400" algn="ctr">
            <a:solidFill>
              <a:schemeClr val="bg1"/>
            </a:solidFill>
            <a:miter lim="800000"/>
            <a:headEnd/>
            <a:tailEnd/>
          </a:ln>
          <a:effectLst>
            <a:outerShdw dist="35921" dir="2700000" algn="ctr" rotWithShape="0">
              <a:schemeClr val="bg2"/>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FFFF"/>
                </a:solidFill>
                <a:ea typeface="方正准圆简体" pitchFamily="2" charset="-122"/>
              </a:rPr>
              <a:t>0xFF01</a:t>
            </a:r>
            <a:endParaRPr lang="zh-CN" altLang="en-US" sz="2000">
              <a:solidFill>
                <a:srgbClr val="FFFFFF"/>
              </a:solidFill>
              <a:ea typeface="方正准圆简体" pitchFamily="2" charset="-122"/>
            </a:endParaRPr>
          </a:p>
        </p:txBody>
      </p:sp>
      <p:grpSp>
        <p:nvGrpSpPr>
          <p:cNvPr id="49158" name="组合 20">
            <a:extLst>
              <a:ext uri="{FF2B5EF4-FFF2-40B4-BE49-F238E27FC236}">
                <a16:creationId xmlns:a16="http://schemas.microsoft.com/office/drawing/2014/main" id="{966033B2-C91F-40C4-9D57-764C5E50AEFE}"/>
              </a:ext>
            </a:extLst>
          </p:cNvPr>
          <p:cNvGrpSpPr>
            <a:grpSpLocks/>
          </p:cNvGrpSpPr>
          <p:nvPr/>
        </p:nvGrpSpPr>
        <p:grpSpPr bwMode="auto">
          <a:xfrm>
            <a:off x="1692275" y="3581400"/>
            <a:ext cx="5400675" cy="533400"/>
            <a:chOff x="1691680" y="3581400"/>
            <a:chExt cx="5400600" cy="533400"/>
          </a:xfrm>
        </p:grpSpPr>
        <p:sp>
          <p:nvSpPr>
            <p:cNvPr id="8" name="Rectangle 146">
              <a:extLst>
                <a:ext uri="{FF2B5EF4-FFF2-40B4-BE49-F238E27FC236}">
                  <a16:creationId xmlns:a16="http://schemas.microsoft.com/office/drawing/2014/main" id="{2D6788D9-E25B-47A6-9FA4-A5C143B351A2}"/>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楷体_GB2312"/>
              </a:endParaRPr>
            </a:p>
          </p:txBody>
        </p:sp>
        <p:sp>
          <p:nvSpPr>
            <p:cNvPr id="9" name="Rectangle 147">
              <a:extLst>
                <a:ext uri="{FF2B5EF4-FFF2-40B4-BE49-F238E27FC236}">
                  <a16:creationId xmlns:a16="http://schemas.microsoft.com/office/drawing/2014/main" id="{098ED731-F873-4CCF-8498-9E20C88D89B3}"/>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10" name="Rectangle 148">
              <a:extLst>
                <a:ext uri="{FF2B5EF4-FFF2-40B4-BE49-F238E27FC236}">
                  <a16:creationId xmlns:a16="http://schemas.microsoft.com/office/drawing/2014/main" id="{F0B497AA-394F-4222-9298-6A98AC4099D2}"/>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11" name="Rectangle 149">
              <a:extLst>
                <a:ext uri="{FF2B5EF4-FFF2-40B4-BE49-F238E27FC236}">
                  <a16:creationId xmlns:a16="http://schemas.microsoft.com/office/drawing/2014/main" id="{63240872-1B48-4831-A4AD-64679936DAAD}"/>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12" name="Rectangle 150">
              <a:extLst>
                <a:ext uri="{FF2B5EF4-FFF2-40B4-BE49-F238E27FC236}">
                  <a16:creationId xmlns:a16="http://schemas.microsoft.com/office/drawing/2014/main" id="{5456DC30-2F95-4D4C-9718-4B1346EDF8FC}"/>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13" name="Rectangle 151">
              <a:extLst>
                <a:ext uri="{FF2B5EF4-FFF2-40B4-BE49-F238E27FC236}">
                  <a16:creationId xmlns:a16="http://schemas.microsoft.com/office/drawing/2014/main" id="{45100F94-CD33-40A3-AE96-48A1811390DA}"/>
                </a:ext>
              </a:extLst>
            </p:cNvPr>
            <p:cNvSpPr/>
            <p:nvPr/>
          </p:nvSpPr>
          <p:spPr bwMode="auto">
            <a:xfrm>
              <a:off x="2252060" y="3695700"/>
              <a:ext cx="1657327"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x1234</a:t>
              </a:r>
            </a:p>
          </p:txBody>
        </p:sp>
        <p:sp>
          <p:nvSpPr>
            <p:cNvPr id="14" name="Rectangle 152">
              <a:extLst>
                <a:ext uri="{FF2B5EF4-FFF2-40B4-BE49-F238E27FC236}">
                  <a16:creationId xmlns:a16="http://schemas.microsoft.com/office/drawing/2014/main" id="{75B9D978-3944-4E1D-9487-B88AA2226108}"/>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15" name="Rectangle 153">
              <a:extLst>
                <a:ext uri="{FF2B5EF4-FFF2-40B4-BE49-F238E27FC236}">
                  <a16:creationId xmlns:a16="http://schemas.microsoft.com/office/drawing/2014/main" id="{CEFCDB4D-5386-4864-8040-D7AC354FE8FF}"/>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16" name="Rectangle 154">
              <a:extLst>
                <a:ext uri="{FF2B5EF4-FFF2-40B4-BE49-F238E27FC236}">
                  <a16:creationId xmlns:a16="http://schemas.microsoft.com/office/drawing/2014/main" id="{AB65CD01-D5A3-4A4C-AECC-D8596D927F35}"/>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17" name="Rectangle 155">
              <a:extLst>
                <a:ext uri="{FF2B5EF4-FFF2-40B4-BE49-F238E27FC236}">
                  <a16:creationId xmlns:a16="http://schemas.microsoft.com/office/drawing/2014/main" id="{BAB77981-13DC-498B-AB1C-D762B87B1363}"/>
                </a:ext>
              </a:extLst>
            </p:cNvPr>
            <p:cNvSpPr/>
            <p:nvPr/>
          </p:nvSpPr>
          <p:spPr bwMode="auto">
            <a:xfrm>
              <a:off x="546613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18" name="Rectangle 156">
              <a:extLst>
                <a:ext uri="{FF2B5EF4-FFF2-40B4-BE49-F238E27FC236}">
                  <a16:creationId xmlns:a16="http://schemas.microsoft.com/office/drawing/2014/main" id="{1DA3015D-5840-490C-85AA-A6CD6A7483EA}"/>
                </a:ext>
              </a:extLst>
            </p:cNvPr>
            <p:cNvSpPr/>
            <p:nvPr/>
          </p:nvSpPr>
          <p:spPr bwMode="auto">
            <a:xfrm>
              <a:off x="517421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19" name="Rectangle 155">
              <a:extLst>
                <a:ext uri="{FF2B5EF4-FFF2-40B4-BE49-F238E27FC236}">
                  <a16:creationId xmlns:a16="http://schemas.microsoft.com/office/drawing/2014/main" id="{119DC383-235A-4BEC-A2C8-16403558F7CB}"/>
                </a:ext>
              </a:extLst>
            </p:cNvPr>
            <p:cNvSpPr/>
            <p:nvPr/>
          </p:nvSpPr>
          <p:spPr bwMode="auto">
            <a:xfrm>
              <a:off x="5747717" y="369570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20" name="Rectangle 155">
              <a:extLst>
                <a:ext uri="{FF2B5EF4-FFF2-40B4-BE49-F238E27FC236}">
                  <a16:creationId xmlns:a16="http://schemas.microsoft.com/office/drawing/2014/main" id="{293266D0-9057-4F96-8580-67ABD89A2AC1}"/>
                </a:ext>
              </a:extLst>
            </p:cNvPr>
            <p:cNvSpPr/>
            <p:nvPr/>
          </p:nvSpPr>
          <p:spPr bwMode="auto">
            <a:xfrm>
              <a:off x="6030054" y="3693682"/>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grpSp>
      <p:grpSp>
        <p:nvGrpSpPr>
          <p:cNvPr id="49159" name="组合 21">
            <a:extLst>
              <a:ext uri="{FF2B5EF4-FFF2-40B4-BE49-F238E27FC236}">
                <a16:creationId xmlns:a16="http://schemas.microsoft.com/office/drawing/2014/main" id="{AF5D9929-CA15-4BBC-B531-E84796678863}"/>
              </a:ext>
            </a:extLst>
          </p:cNvPr>
          <p:cNvGrpSpPr>
            <a:grpSpLocks/>
          </p:cNvGrpSpPr>
          <p:nvPr/>
        </p:nvGrpSpPr>
        <p:grpSpPr bwMode="auto">
          <a:xfrm>
            <a:off x="1692275" y="2967038"/>
            <a:ext cx="5400675" cy="533400"/>
            <a:chOff x="1691680" y="3581400"/>
            <a:chExt cx="5400600" cy="533400"/>
          </a:xfrm>
        </p:grpSpPr>
        <p:sp>
          <p:nvSpPr>
            <p:cNvPr id="23" name="Rectangle 146">
              <a:extLst>
                <a:ext uri="{FF2B5EF4-FFF2-40B4-BE49-F238E27FC236}">
                  <a16:creationId xmlns:a16="http://schemas.microsoft.com/office/drawing/2014/main" id="{64D2D6E7-65DF-4081-BC27-261CCE469B30}"/>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楷体_GB2312"/>
              </a:endParaRPr>
            </a:p>
          </p:txBody>
        </p:sp>
        <p:sp>
          <p:nvSpPr>
            <p:cNvPr id="24" name="Rectangle 147">
              <a:extLst>
                <a:ext uri="{FF2B5EF4-FFF2-40B4-BE49-F238E27FC236}">
                  <a16:creationId xmlns:a16="http://schemas.microsoft.com/office/drawing/2014/main" id="{04BA1BA1-AD9C-4336-B226-6103FBF99F70}"/>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25" name="Rectangle 148">
              <a:extLst>
                <a:ext uri="{FF2B5EF4-FFF2-40B4-BE49-F238E27FC236}">
                  <a16:creationId xmlns:a16="http://schemas.microsoft.com/office/drawing/2014/main" id="{1EC7AA44-1048-4DA7-A407-D815A96B6A45}"/>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26" name="Rectangle 149">
              <a:extLst>
                <a:ext uri="{FF2B5EF4-FFF2-40B4-BE49-F238E27FC236}">
                  <a16:creationId xmlns:a16="http://schemas.microsoft.com/office/drawing/2014/main" id="{30DD7446-FBE8-486B-B7A0-07D16DF5923F}"/>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27" name="Rectangle 150">
              <a:extLst>
                <a:ext uri="{FF2B5EF4-FFF2-40B4-BE49-F238E27FC236}">
                  <a16:creationId xmlns:a16="http://schemas.microsoft.com/office/drawing/2014/main" id="{6FFE3EB9-57CB-4DE4-B4FB-F1CC436F6884}"/>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28" name="Rectangle 151">
              <a:extLst>
                <a:ext uri="{FF2B5EF4-FFF2-40B4-BE49-F238E27FC236}">
                  <a16:creationId xmlns:a16="http://schemas.microsoft.com/office/drawing/2014/main" id="{CD9B9F05-E4BD-4A3E-BB5F-5603578E4BF7}"/>
                </a:ext>
              </a:extLst>
            </p:cNvPr>
            <p:cNvSpPr/>
            <p:nvPr/>
          </p:nvSpPr>
          <p:spPr bwMode="auto">
            <a:xfrm>
              <a:off x="2252060" y="3695700"/>
              <a:ext cx="1657327"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x53C9</a:t>
              </a:r>
            </a:p>
          </p:txBody>
        </p:sp>
        <p:sp>
          <p:nvSpPr>
            <p:cNvPr id="29" name="Rectangle 152">
              <a:extLst>
                <a:ext uri="{FF2B5EF4-FFF2-40B4-BE49-F238E27FC236}">
                  <a16:creationId xmlns:a16="http://schemas.microsoft.com/office/drawing/2014/main" id="{4E64FBDC-2F6D-47B4-AA68-0C09897DCE93}"/>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30" name="Rectangle 153">
              <a:extLst>
                <a:ext uri="{FF2B5EF4-FFF2-40B4-BE49-F238E27FC236}">
                  <a16:creationId xmlns:a16="http://schemas.microsoft.com/office/drawing/2014/main" id="{D72C0D02-70BF-4369-AA67-F2AEC54F0A67}"/>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31" name="Rectangle 154">
              <a:extLst>
                <a:ext uri="{FF2B5EF4-FFF2-40B4-BE49-F238E27FC236}">
                  <a16:creationId xmlns:a16="http://schemas.microsoft.com/office/drawing/2014/main" id="{5673DEC0-A72A-42DB-8B53-593C97D0E7A6}"/>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32" name="Rectangle 155">
              <a:extLst>
                <a:ext uri="{FF2B5EF4-FFF2-40B4-BE49-F238E27FC236}">
                  <a16:creationId xmlns:a16="http://schemas.microsoft.com/office/drawing/2014/main" id="{FAFC2C23-A34D-4B0F-9A6E-AB4CDFD85725}"/>
                </a:ext>
              </a:extLst>
            </p:cNvPr>
            <p:cNvSpPr/>
            <p:nvPr/>
          </p:nvSpPr>
          <p:spPr bwMode="auto">
            <a:xfrm>
              <a:off x="546613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33" name="Rectangle 156">
              <a:extLst>
                <a:ext uri="{FF2B5EF4-FFF2-40B4-BE49-F238E27FC236}">
                  <a16:creationId xmlns:a16="http://schemas.microsoft.com/office/drawing/2014/main" id="{CE530EF1-5101-4344-96AC-73B914CDD00D}"/>
                </a:ext>
              </a:extLst>
            </p:cNvPr>
            <p:cNvSpPr/>
            <p:nvPr/>
          </p:nvSpPr>
          <p:spPr bwMode="auto">
            <a:xfrm>
              <a:off x="517421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34" name="Rectangle 155">
              <a:extLst>
                <a:ext uri="{FF2B5EF4-FFF2-40B4-BE49-F238E27FC236}">
                  <a16:creationId xmlns:a16="http://schemas.microsoft.com/office/drawing/2014/main" id="{5431C916-7CB1-42E4-8E66-0560F92AF688}"/>
                </a:ext>
              </a:extLst>
            </p:cNvPr>
            <p:cNvSpPr/>
            <p:nvPr/>
          </p:nvSpPr>
          <p:spPr bwMode="auto">
            <a:xfrm>
              <a:off x="5747717" y="369570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35" name="Rectangle 155">
              <a:extLst>
                <a:ext uri="{FF2B5EF4-FFF2-40B4-BE49-F238E27FC236}">
                  <a16:creationId xmlns:a16="http://schemas.microsoft.com/office/drawing/2014/main" id="{38F56831-B70C-44B9-8510-23D30F07BC61}"/>
                </a:ext>
              </a:extLst>
            </p:cNvPr>
            <p:cNvSpPr/>
            <p:nvPr/>
          </p:nvSpPr>
          <p:spPr bwMode="auto">
            <a:xfrm>
              <a:off x="6030054" y="3693682"/>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grpSp>
      <p:grpSp>
        <p:nvGrpSpPr>
          <p:cNvPr id="49160" name="组合 35">
            <a:extLst>
              <a:ext uri="{FF2B5EF4-FFF2-40B4-BE49-F238E27FC236}">
                <a16:creationId xmlns:a16="http://schemas.microsoft.com/office/drawing/2014/main" id="{B121D695-6F16-438E-B5B2-5B7DB918CDCD}"/>
              </a:ext>
            </a:extLst>
          </p:cNvPr>
          <p:cNvGrpSpPr>
            <a:grpSpLocks/>
          </p:cNvGrpSpPr>
          <p:nvPr/>
        </p:nvGrpSpPr>
        <p:grpSpPr bwMode="auto">
          <a:xfrm>
            <a:off x="1692275" y="4191000"/>
            <a:ext cx="5400675" cy="533400"/>
            <a:chOff x="1691680" y="3581400"/>
            <a:chExt cx="5400600" cy="533400"/>
          </a:xfrm>
        </p:grpSpPr>
        <p:sp>
          <p:nvSpPr>
            <p:cNvPr id="37" name="Rectangle 146">
              <a:extLst>
                <a:ext uri="{FF2B5EF4-FFF2-40B4-BE49-F238E27FC236}">
                  <a16:creationId xmlns:a16="http://schemas.microsoft.com/office/drawing/2014/main" id="{F657DB7A-FA1D-4D7A-8F13-80F519F87B4B}"/>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楷体_GB2312"/>
              </a:endParaRPr>
            </a:p>
          </p:txBody>
        </p:sp>
        <p:sp>
          <p:nvSpPr>
            <p:cNvPr id="38" name="Rectangle 147">
              <a:extLst>
                <a:ext uri="{FF2B5EF4-FFF2-40B4-BE49-F238E27FC236}">
                  <a16:creationId xmlns:a16="http://schemas.microsoft.com/office/drawing/2014/main" id="{38E4C202-51F7-4899-9E72-6F4F248E70E1}"/>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39" name="Rectangle 148">
              <a:extLst>
                <a:ext uri="{FF2B5EF4-FFF2-40B4-BE49-F238E27FC236}">
                  <a16:creationId xmlns:a16="http://schemas.microsoft.com/office/drawing/2014/main" id="{A444F5C1-26CA-4629-8D41-4E1DB3786ADF}"/>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40" name="Rectangle 149">
              <a:extLst>
                <a:ext uri="{FF2B5EF4-FFF2-40B4-BE49-F238E27FC236}">
                  <a16:creationId xmlns:a16="http://schemas.microsoft.com/office/drawing/2014/main" id="{343F0D16-D0DC-4C4B-8703-7940CB886A30}"/>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41" name="Rectangle 150">
              <a:extLst>
                <a:ext uri="{FF2B5EF4-FFF2-40B4-BE49-F238E27FC236}">
                  <a16:creationId xmlns:a16="http://schemas.microsoft.com/office/drawing/2014/main" id="{505A9285-73D9-4120-83A6-A872EC5468BF}"/>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42" name="Rectangle 151">
              <a:extLst>
                <a:ext uri="{FF2B5EF4-FFF2-40B4-BE49-F238E27FC236}">
                  <a16:creationId xmlns:a16="http://schemas.microsoft.com/office/drawing/2014/main" id="{227EA154-7E82-44B3-9D43-7B03461BE0D7}"/>
                </a:ext>
              </a:extLst>
            </p:cNvPr>
            <p:cNvSpPr/>
            <p:nvPr/>
          </p:nvSpPr>
          <p:spPr bwMode="auto">
            <a:xfrm>
              <a:off x="2252060" y="3695700"/>
              <a:ext cx="1657327" cy="304800"/>
            </a:xfrm>
            <a:prstGeom prst="rect">
              <a:avLst/>
            </a:prstGeom>
            <a:solidFill>
              <a:srgbClr val="FF0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xFF01</a:t>
              </a:r>
            </a:p>
          </p:txBody>
        </p:sp>
        <p:sp>
          <p:nvSpPr>
            <p:cNvPr id="43" name="Rectangle 152">
              <a:extLst>
                <a:ext uri="{FF2B5EF4-FFF2-40B4-BE49-F238E27FC236}">
                  <a16:creationId xmlns:a16="http://schemas.microsoft.com/office/drawing/2014/main" id="{B9DACB01-B7CB-4BF6-8090-CE24AE49F4E6}"/>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44" name="Rectangle 153">
              <a:extLst>
                <a:ext uri="{FF2B5EF4-FFF2-40B4-BE49-F238E27FC236}">
                  <a16:creationId xmlns:a16="http://schemas.microsoft.com/office/drawing/2014/main" id="{B65ED11D-72B1-410E-86E0-C1FCA9F79C7F}"/>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45" name="Rectangle 154">
              <a:extLst>
                <a:ext uri="{FF2B5EF4-FFF2-40B4-BE49-F238E27FC236}">
                  <a16:creationId xmlns:a16="http://schemas.microsoft.com/office/drawing/2014/main" id="{99009C7B-4F7B-45EE-ACF7-4BE4F15ED5A5}"/>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46" name="Rectangle 155">
              <a:extLst>
                <a:ext uri="{FF2B5EF4-FFF2-40B4-BE49-F238E27FC236}">
                  <a16:creationId xmlns:a16="http://schemas.microsoft.com/office/drawing/2014/main" id="{58FD4DBE-AA26-4AB5-BC2B-EA4488649148}"/>
                </a:ext>
              </a:extLst>
            </p:cNvPr>
            <p:cNvSpPr/>
            <p:nvPr/>
          </p:nvSpPr>
          <p:spPr bwMode="auto">
            <a:xfrm>
              <a:off x="5466138" y="3696404"/>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47" name="Rectangle 156">
              <a:extLst>
                <a:ext uri="{FF2B5EF4-FFF2-40B4-BE49-F238E27FC236}">
                  <a16:creationId xmlns:a16="http://schemas.microsoft.com/office/drawing/2014/main" id="{EEF8AD07-95A2-449B-B2A5-3C9443CEC1F4}"/>
                </a:ext>
              </a:extLst>
            </p:cNvPr>
            <p:cNvSpPr/>
            <p:nvPr/>
          </p:nvSpPr>
          <p:spPr bwMode="auto">
            <a:xfrm>
              <a:off x="5174216" y="3696404"/>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48" name="Rectangle 155">
              <a:extLst>
                <a:ext uri="{FF2B5EF4-FFF2-40B4-BE49-F238E27FC236}">
                  <a16:creationId xmlns:a16="http://schemas.microsoft.com/office/drawing/2014/main" id="{AE4510BB-D74E-4814-975A-BFE14DFF8FE2}"/>
                </a:ext>
              </a:extLst>
            </p:cNvPr>
            <p:cNvSpPr/>
            <p:nvPr/>
          </p:nvSpPr>
          <p:spPr bwMode="auto">
            <a:xfrm>
              <a:off x="5747717" y="3695700"/>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49" name="Rectangle 155">
              <a:extLst>
                <a:ext uri="{FF2B5EF4-FFF2-40B4-BE49-F238E27FC236}">
                  <a16:creationId xmlns:a16="http://schemas.microsoft.com/office/drawing/2014/main" id="{9FE815E6-72E6-4C8F-AD9E-43A62DDE3713}"/>
                </a:ext>
              </a:extLst>
            </p:cNvPr>
            <p:cNvSpPr/>
            <p:nvPr/>
          </p:nvSpPr>
          <p:spPr bwMode="auto">
            <a:xfrm>
              <a:off x="6030054" y="3693682"/>
              <a:ext cx="292644"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grpSp>
      <p:grpSp>
        <p:nvGrpSpPr>
          <p:cNvPr id="49161" name="组合 49">
            <a:extLst>
              <a:ext uri="{FF2B5EF4-FFF2-40B4-BE49-F238E27FC236}">
                <a16:creationId xmlns:a16="http://schemas.microsoft.com/office/drawing/2014/main" id="{E8738522-5B09-4A3F-BBB0-6E393416294B}"/>
              </a:ext>
            </a:extLst>
          </p:cNvPr>
          <p:cNvGrpSpPr>
            <a:grpSpLocks/>
          </p:cNvGrpSpPr>
          <p:nvPr/>
        </p:nvGrpSpPr>
        <p:grpSpPr bwMode="auto">
          <a:xfrm>
            <a:off x="1692275" y="5289550"/>
            <a:ext cx="5400675" cy="533400"/>
            <a:chOff x="1691680" y="3581400"/>
            <a:chExt cx="5400600" cy="533400"/>
          </a:xfrm>
        </p:grpSpPr>
        <p:sp>
          <p:nvSpPr>
            <p:cNvPr id="51" name="Rectangle 146">
              <a:extLst>
                <a:ext uri="{FF2B5EF4-FFF2-40B4-BE49-F238E27FC236}">
                  <a16:creationId xmlns:a16="http://schemas.microsoft.com/office/drawing/2014/main" id="{49129EE1-9CF3-44FC-B16B-FBA765265D77}"/>
                </a:ext>
              </a:extLst>
            </p:cNvPr>
            <p:cNvSpPr/>
            <p:nvPr/>
          </p:nvSpPr>
          <p:spPr bwMode="auto">
            <a:xfrm>
              <a:off x="1691680" y="3581400"/>
              <a:ext cx="5400600" cy="533400"/>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楷体_GB2312"/>
              </a:endParaRPr>
            </a:p>
          </p:txBody>
        </p:sp>
        <p:sp>
          <p:nvSpPr>
            <p:cNvPr id="52" name="Rectangle 147">
              <a:extLst>
                <a:ext uri="{FF2B5EF4-FFF2-40B4-BE49-F238E27FC236}">
                  <a16:creationId xmlns:a16="http://schemas.microsoft.com/office/drawing/2014/main" id="{99FBFC4B-9DCD-439B-9C84-77B559AC8E6D}"/>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53" name="Rectangle 148">
              <a:extLst>
                <a:ext uri="{FF2B5EF4-FFF2-40B4-BE49-F238E27FC236}">
                  <a16:creationId xmlns:a16="http://schemas.microsoft.com/office/drawing/2014/main" id="{F2659CD0-3EDB-4905-8A0A-06F8C55A9C47}"/>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54" name="Rectangle 149">
              <a:extLst>
                <a:ext uri="{FF2B5EF4-FFF2-40B4-BE49-F238E27FC236}">
                  <a16:creationId xmlns:a16="http://schemas.microsoft.com/office/drawing/2014/main" id="{E7F54BA1-BBB4-42C9-B654-43467183DFDF}"/>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55" name="Rectangle 150">
              <a:extLst>
                <a:ext uri="{FF2B5EF4-FFF2-40B4-BE49-F238E27FC236}">
                  <a16:creationId xmlns:a16="http://schemas.microsoft.com/office/drawing/2014/main" id="{6B555B99-3294-4EE3-9BB0-F002B15258B6}"/>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56" name="Rectangle 151">
              <a:extLst>
                <a:ext uri="{FF2B5EF4-FFF2-40B4-BE49-F238E27FC236}">
                  <a16:creationId xmlns:a16="http://schemas.microsoft.com/office/drawing/2014/main" id="{32A3D083-D75F-4F10-9D88-68A33497B9EC}"/>
                </a:ext>
              </a:extLst>
            </p:cNvPr>
            <p:cNvSpPr/>
            <p:nvPr/>
          </p:nvSpPr>
          <p:spPr bwMode="auto">
            <a:xfrm>
              <a:off x="2252060" y="3695700"/>
              <a:ext cx="1657327"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x6FF8</a:t>
              </a:r>
            </a:p>
          </p:txBody>
        </p:sp>
        <p:sp>
          <p:nvSpPr>
            <p:cNvPr id="57" name="Rectangle 152">
              <a:extLst>
                <a:ext uri="{FF2B5EF4-FFF2-40B4-BE49-F238E27FC236}">
                  <a16:creationId xmlns:a16="http://schemas.microsoft.com/office/drawing/2014/main" id="{C51B741F-AF50-432D-A045-822411AF0A4A}"/>
                </a:ext>
              </a:extLst>
            </p:cNvPr>
            <p:cNvSpPr/>
            <p:nvPr/>
          </p:nvSpPr>
          <p:spPr bwMode="auto">
            <a:xfrm>
              <a:off x="1836141" y="3695700"/>
              <a:ext cx="273046"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58" name="Rectangle 153">
              <a:extLst>
                <a:ext uri="{FF2B5EF4-FFF2-40B4-BE49-F238E27FC236}">
                  <a16:creationId xmlns:a16="http://schemas.microsoft.com/office/drawing/2014/main" id="{6208E0F3-E9A1-4953-8FAC-6F9526EB2B7B}"/>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59" name="Rectangle 154">
              <a:extLst>
                <a:ext uri="{FF2B5EF4-FFF2-40B4-BE49-F238E27FC236}">
                  <a16:creationId xmlns:a16="http://schemas.microsoft.com/office/drawing/2014/main" id="{C3F34175-0443-44AD-87CB-E791722E2FCF}"/>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60" name="Rectangle 155">
              <a:extLst>
                <a:ext uri="{FF2B5EF4-FFF2-40B4-BE49-F238E27FC236}">
                  <a16:creationId xmlns:a16="http://schemas.microsoft.com/office/drawing/2014/main" id="{FFBE535D-ED2B-40BC-8D77-A9E6AA795BD8}"/>
                </a:ext>
              </a:extLst>
            </p:cNvPr>
            <p:cNvSpPr/>
            <p:nvPr/>
          </p:nvSpPr>
          <p:spPr bwMode="auto">
            <a:xfrm>
              <a:off x="546613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61" name="Rectangle 156">
              <a:extLst>
                <a:ext uri="{FF2B5EF4-FFF2-40B4-BE49-F238E27FC236}">
                  <a16:creationId xmlns:a16="http://schemas.microsoft.com/office/drawing/2014/main" id="{38572D73-70D1-4E7E-8F9B-8DA06BBC14E3}"/>
                </a:ext>
              </a:extLst>
            </p:cNvPr>
            <p:cNvSpPr/>
            <p:nvPr/>
          </p:nvSpPr>
          <p:spPr bwMode="auto">
            <a:xfrm>
              <a:off x="517421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62" name="Rectangle 155">
              <a:extLst>
                <a:ext uri="{FF2B5EF4-FFF2-40B4-BE49-F238E27FC236}">
                  <a16:creationId xmlns:a16="http://schemas.microsoft.com/office/drawing/2014/main" id="{A4CFE390-B7DA-4F81-BDE3-C12B091B9870}"/>
                </a:ext>
              </a:extLst>
            </p:cNvPr>
            <p:cNvSpPr/>
            <p:nvPr/>
          </p:nvSpPr>
          <p:spPr bwMode="auto">
            <a:xfrm>
              <a:off x="5747717" y="369570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63" name="Rectangle 155">
              <a:extLst>
                <a:ext uri="{FF2B5EF4-FFF2-40B4-BE49-F238E27FC236}">
                  <a16:creationId xmlns:a16="http://schemas.microsoft.com/office/drawing/2014/main" id="{B25F454B-C98E-4092-95CA-61FA1145AAB9}"/>
                </a:ext>
              </a:extLst>
            </p:cNvPr>
            <p:cNvSpPr/>
            <p:nvPr/>
          </p:nvSpPr>
          <p:spPr bwMode="auto">
            <a:xfrm>
              <a:off x="6030054" y="3693682"/>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grpSp>
      <p:cxnSp>
        <p:nvCxnSpPr>
          <p:cNvPr id="49162" name="Straight Connector 124">
            <a:extLst>
              <a:ext uri="{FF2B5EF4-FFF2-40B4-BE49-F238E27FC236}">
                <a16:creationId xmlns:a16="http://schemas.microsoft.com/office/drawing/2014/main" id="{71E547C5-D15F-4D8A-A65F-EB87587FCE9A}"/>
              </a:ext>
            </a:extLst>
          </p:cNvPr>
          <p:cNvCxnSpPr>
            <a:cxnSpLocks noChangeShapeType="1"/>
          </p:cNvCxnSpPr>
          <p:nvPr/>
        </p:nvCxnSpPr>
        <p:spPr bwMode="auto">
          <a:xfrm>
            <a:off x="1709738" y="4997450"/>
            <a:ext cx="5383212" cy="0"/>
          </a:xfrm>
          <a:prstGeom prst="line">
            <a:avLst/>
          </a:prstGeom>
          <a:noFill/>
          <a:ln w="76200" cap="rnd" algn="ctr">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49163" name="直接连接符 66">
            <a:extLst>
              <a:ext uri="{FF2B5EF4-FFF2-40B4-BE49-F238E27FC236}">
                <a16:creationId xmlns:a16="http://schemas.microsoft.com/office/drawing/2014/main" id="{D7292352-98FC-4C71-A26F-9ACFF8C84F18}"/>
              </a:ext>
            </a:extLst>
          </p:cNvPr>
          <p:cNvCxnSpPr>
            <a:cxnSpLocks noChangeShapeType="1"/>
            <a:stCxn id="49157" idx="2"/>
            <a:endCxn id="49157" idx="2"/>
          </p:cNvCxnSpPr>
          <p:nvPr/>
        </p:nvCxnSpPr>
        <p:spPr bwMode="auto">
          <a:xfrm>
            <a:off x="3111500" y="2060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miter lim="800000"/>
                <a:headEnd/>
                <a:tailEnd/>
              </a14:hiddenLine>
            </a:ext>
          </a:extLst>
        </p:spPr>
      </p:cxnSp>
      <p:cxnSp>
        <p:nvCxnSpPr>
          <p:cNvPr id="49164" name="直接连接符 68">
            <a:extLst>
              <a:ext uri="{FF2B5EF4-FFF2-40B4-BE49-F238E27FC236}">
                <a16:creationId xmlns:a16="http://schemas.microsoft.com/office/drawing/2014/main" id="{D587B1CF-6688-4310-A570-0B36B6194C57}"/>
              </a:ext>
            </a:extLst>
          </p:cNvPr>
          <p:cNvCxnSpPr>
            <a:cxnSpLocks noChangeShapeType="1"/>
            <a:stCxn id="49157" idx="2"/>
          </p:cNvCxnSpPr>
          <p:nvPr/>
        </p:nvCxnSpPr>
        <p:spPr bwMode="auto">
          <a:xfrm>
            <a:off x="3111500" y="2060575"/>
            <a:ext cx="914400"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miter lim="800000"/>
                <a:headEnd/>
                <a:tailEnd/>
              </a14:hiddenLine>
            </a:ext>
          </a:extLst>
        </p:spPr>
      </p:cxnSp>
      <p:cxnSp>
        <p:nvCxnSpPr>
          <p:cNvPr id="49165" name="直接连接符 70">
            <a:extLst>
              <a:ext uri="{FF2B5EF4-FFF2-40B4-BE49-F238E27FC236}">
                <a16:creationId xmlns:a16="http://schemas.microsoft.com/office/drawing/2014/main" id="{876BFA59-C111-4DAC-B635-D50FBF360C17}"/>
              </a:ext>
            </a:extLst>
          </p:cNvPr>
          <p:cNvCxnSpPr>
            <a:cxnSpLocks noChangeShapeType="1"/>
            <a:stCxn id="49157" idx="2"/>
          </p:cNvCxnSpPr>
          <p:nvPr/>
        </p:nvCxnSpPr>
        <p:spPr bwMode="auto">
          <a:xfrm>
            <a:off x="3111500" y="2060575"/>
            <a:ext cx="0" cy="42862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66" name="直接连接符 74">
            <a:extLst>
              <a:ext uri="{FF2B5EF4-FFF2-40B4-BE49-F238E27FC236}">
                <a16:creationId xmlns:a16="http://schemas.microsoft.com/office/drawing/2014/main" id="{0DD8EA88-B69E-457A-A962-DAD14AB62D25}"/>
              </a:ext>
            </a:extLst>
          </p:cNvPr>
          <p:cNvCxnSpPr>
            <a:cxnSpLocks noChangeShapeType="1"/>
          </p:cNvCxnSpPr>
          <p:nvPr/>
        </p:nvCxnSpPr>
        <p:spPr bwMode="auto">
          <a:xfrm flipH="1" flipV="1">
            <a:off x="684213" y="2481263"/>
            <a:ext cx="2427287" cy="7937"/>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67" name="直接连接符 78">
            <a:extLst>
              <a:ext uri="{FF2B5EF4-FFF2-40B4-BE49-F238E27FC236}">
                <a16:creationId xmlns:a16="http://schemas.microsoft.com/office/drawing/2014/main" id="{507BCDF9-E333-493D-860F-6A5C4C373975}"/>
              </a:ext>
            </a:extLst>
          </p:cNvPr>
          <p:cNvCxnSpPr>
            <a:cxnSpLocks noChangeShapeType="1"/>
          </p:cNvCxnSpPr>
          <p:nvPr/>
        </p:nvCxnSpPr>
        <p:spPr bwMode="auto">
          <a:xfrm>
            <a:off x="684213" y="2486025"/>
            <a:ext cx="0" cy="2376488"/>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68" name="直接连接符 80">
            <a:extLst>
              <a:ext uri="{FF2B5EF4-FFF2-40B4-BE49-F238E27FC236}">
                <a16:creationId xmlns:a16="http://schemas.microsoft.com/office/drawing/2014/main" id="{7E43C809-A08E-4E88-AAD5-7A4C815E3911}"/>
              </a:ext>
            </a:extLst>
          </p:cNvPr>
          <p:cNvCxnSpPr>
            <a:cxnSpLocks noChangeShapeType="1"/>
          </p:cNvCxnSpPr>
          <p:nvPr/>
        </p:nvCxnSpPr>
        <p:spPr bwMode="auto">
          <a:xfrm flipV="1">
            <a:off x="684213" y="4868863"/>
            <a:ext cx="2397125" cy="317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69" name="直接连接符 82">
            <a:extLst>
              <a:ext uri="{FF2B5EF4-FFF2-40B4-BE49-F238E27FC236}">
                <a16:creationId xmlns:a16="http://schemas.microsoft.com/office/drawing/2014/main" id="{13B4CEE6-568E-4F67-843B-488C95D2D826}"/>
              </a:ext>
            </a:extLst>
          </p:cNvPr>
          <p:cNvCxnSpPr>
            <a:cxnSpLocks noChangeShapeType="1"/>
            <a:stCxn id="42" idx="2"/>
            <a:endCxn id="42" idx="2"/>
          </p:cNvCxnSpPr>
          <p:nvPr/>
        </p:nvCxnSpPr>
        <p:spPr bwMode="auto">
          <a:xfrm>
            <a:off x="3081338" y="4610100"/>
            <a:ext cx="0"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70" name="直接连接符 84">
            <a:extLst>
              <a:ext uri="{FF2B5EF4-FFF2-40B4-BE49-F238E27FC236}">
                <a16:creationId xmlns:a16="http://schemas.microsoft.com/office/drawing/2014/main" id="{0349D95B-1B71-40D4-BAC8-74F7B3E6F63F}"/>
              </a:ext>
            </a:extLst>
          </p:cNvPr>
          <p:cNvCxnSpPr>
            <a:cxnSpLocks noChangeShapeType="1"/>
            <a:stCxn id="42" idx="2"/>
          </p:cNvCxnSpPr>
          <p:nvPr/>
        </p:nvCxnSpPr>
        <p:spPr bwMode="auto">
          <a:xfrm>
            <a:off x="3081338" y="4610100"/>
            <a:ext cx="0" cy="258763"/>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49171" name="文本框 89">
            <a:extLst>
              <a:ext uri="{FF2B5EF4-FFF2-40B4-BE49-F238E27FC236}">
                <a16:creationId xmlns:a16="http://schemas.microsoft.com/office/drawing/2014/main" id="{91FD2D0C-8740-4CFE-85EB-9F06E2AD6AEA}"/>
              </a:ext>
            </a:extLst>
          </p:cNvPr>
          <p:cNvSpPr txBox="1">
            <a:spLocks noChangeArrowheads="1"/>
          </p:cNvSpPr>
          <p:nvPr/>
        </p:nvSpPr>
        <p:spPr bwMode="auto">
          <a:xfrm>
            <a:off x="603250" y="2117725"/>
            <a:ext cx="2509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匹配所选行标签，命中</a:t>
            </a:r>
          </a:p>
        </p:txBody>
      </p:sp>
      <p:cxnSp>
        <p:nvCxnSpPr>
          <p:cNvPr id="49172" name="直接连接符 90">
            <a:extLst>
              <a:ext uri="{FF2B5EF4-FFF2-40B4-BE49-F238E27FC236}">
                <a16:creationId xmlns:a16="http://schemas.microsoft.com/office/drawing/2014/main" id="{D5FF6973-5A48-428F-819B-5D530EF85B96}"/>
              </a:ext>
            </a:extLst>
          </p:cNvPr>
          <p:cNvCxnSpPr>
            <a:cxnSpLocks noChangeShapeType="1"/>
          </p:cNvCxnSpPr>
          <p:nvPr/>
        </p:nvCxnSpPr>
        <p:spPr bwMode="auto">
          <a:xfrm>
            <a:off x="5121275" y="2054225"/>
            <a:ext cx="0" cy="4318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73" name="直接连接符 96">
            <a:extLst>
              <a:ext uri="{FF2B5EF4-FFF2-40B4-BE49-F238E27FC236}">
                <a16:creationId xmlns:a16="http://schemas.microsoft.com/office/drawing/2014/main" id="{17AA0899-6625-4B84-A295-4C3E619E8A48}"/>
              </a:ext>
            </a:extLst>
          </p:cNvPr>
          <p:cNvCxnSpPr>
            <a:cxnSpLocks noChangeShapeType="1"/>
          </p:cNvCxnSpPr>
          <p:nvPr/>
        </p:nvCxnSpPr>
        <p:spPr bwMode="auto">
          <a:xfrm flipH="1" flipV="1">
            <a:off x="5121275" y="2486025"/>
            <a:ext cx="2474913" cy="2222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74" name="直接连接符 98">
            <a:extLst>
              <a:ext uri="{FF2B5EF4-FFF2-40B4-BE49-F238E27FC236}">
                <a16:creationId xmlns:a16="http://schemas.microsoft.com/office/drawing/2014/main" id="{BEB32E6A-6765-44A9-A6E3-A94D1EE09A58}"/>
              </a:ext>
            </a:extLst>
          </p:cNvPr>
          <p:cNvCxnSpPr>
            <a:cxnSpLocks noChangeShapeType="1"/>
          </p:cNvCxnSpPr>
          <p:nvPr/>
        </p:nvCxnSpPr>
        <p:spPr bwMode="auto">
          <a:xfrm>
            <a:off x="7596188" y="2495550"/>
            <a:ext cx="0" cy="2376488"/>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75" name="直接连接符 99">
            <a:extLst>
              <a:ext uri="{FF2B5EF4-FFF2-40B4-BE49-F238E27FC236}">
                <a16:creationId xmlns:a16="http://schemas.microsoft.com/office/drawing/2014/main" id="{A5107AAC-C519-49D0-907B-C45C2A4A071F}"/>
              </a:ext>
            </a:extLst>
          </p:cNvPr>
          <p:cNvCxnSpPr>
            <a:cxnSpLocks noChangeShapeType="1"/>
          </p:cNvCxnSpPr>
          <p:nvPr/>
        </p:nvCxnSpPr>
        <p:spPr bwMode="auto">
          <a:xfrm>
            <a:off x="5322888" y="4868863"/>
            <a:ext cx="2254250"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76" name="直接连接符 101">
            <a:extLst>
              <a:ext uri="{FF2B5EF4-FFF2-40B4-BE49-F238E27FC236}">
                <a16:creationId xmlns:a16="http://schemas.microsoft.com/office/drawing/2014/main" id="{9661007E-523F-4756-B21D-9D22D9944AC3}"/>
              </a:ext>
            </a:extLst>
          </p:cNvPr>
          <p:cNvCxnSpPr>
            <a:cxnSpLocks noChangeShapeType="1"/>
          </p:cNvCxnSpPr>
          <p:nvPr/>
        </p:nvCxnSpPr>
        <p:spPr bwMode="auto">
          <a:xfrm>
            <a:off x="5322888" y="4614863"/>
            <a:ext cx="0" cy="25717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49177" name="文本框 102">
            <a:extLst>
              <a:ext uri="{FF2B5EF4-FFF2-40B4-BE49-F238E27FC236}">
                <a16:creationId xmlns:a16="http://schemas.microsoft.com/office/drawing/2014/main" id="{4EC4E4A9-519A-43CA-BC47-2D3B8A6C3F3F}"/>
              </a:ext>
            </a:extLst>
          </p:cNvPr>
          <p:cNvSpPr txBox="1">
            <a:spLocks noChangeArrowheads="1"/>
          </p:cNvSpPr>
          <p:nvPr/>
        </p:nvSpPr>
        <p:spPr bwMode="auto">
          <a:xfrm>
            <a:off x="5321300" y="2120900"/>
            <a:ext cx="3089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从偏移地址</a:t>
            </a:r>
            <a:r>
              <a:rPr lang="en-US" altLang="zh-CN" sz="1800" b="1">
                <a:solidFill>
                  <a:srgbClr val="FF0000"/>
                </a:solidFill>
                <a:ea typeface="楷体_GB2312" pitchFamily="49" charset="-122"/>
              </a:rPr>
              <a:t>4</a:t>
            </a:r>
            <a:r>
              <a:rPr lang="zh-CN" altLang="en-US" sz="1800" b="1">
                <a:solidFill>
                  <a:srgbClr val="FF0000"/>
                </a:solidFill>
                <a:ea typeface="楷体_GB2312" pitchFamily="49" charset="-122"/>
              </a:rPr>
              <a:t>开始读出一个字</a:t>
            </a:r>
          </a:p>
        </p:txBody>
      </p:sp>
      <p:sp>
        <p:nvSpPr>
          <p:cNvPr id="49178" name="圆角矩形 57">
            <a:extLst>
              <a:ext uri="{FF2B5EF4-FFF2-40B4-BE49-F238E27FC236}">
                <a16:creationId xmlns:a16="http://schemas.microsoft.com/office/drawing/2014/main" id="{9FE7FFB8-442D-490A-BDEA-A84E96DC5AF5}"/>
              </a:ext>
            </a:extLst>
          </p:cNvPr>
          <p:cNvSpPr>
            <a:spLocks noChangeArrowheads="1"/>
          </p:cNvSpPr>
          <p:nvPr/>
        </p:nvSpPr>
        <p:spPr bwMode="auto">
          <a:xfrm>
            <a:off x="1331913" y="2662238"/>
            <a:ext cx="6100762" cy="3503612"/>
          </a:xfrm>
          <a:prstGeom prst="roundRect">
            <a:avLst>
              <a:gd name="adj" fmla="val 16667"/>
            </a:avLst>
          </a:prstGeom>
          <a:noFill/>
          <a:ln w="25400" algn="ctr">
            <a:solidFill>
              <a:srgbClr val="0033CC"/>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solidFill>
                <a:srgbClr val="000000"/>
              </a:solidFill>
            </a:endParaRPr>
          </a:p>
        </p:txBody>
      </p:sp>
      <p:sp>
        <p:nvSpPr>
          <p:cNvPr id="49179" name="文本框 104">
            <a:extLst>
              <a:ext uri="{FF2B5EF4-FFF2-40B4-BE49-F238E27FC236}">
                <a16:creationId xmlns:a16="http://schemas.microsoft.com/office/drawing/2014/main" id="{915505F1-21AD-48FF-8E68-4F84ABBB5D90}"/>
              </a:ext>
            </a:extLst>
          </p:cNvPr>
          <p:cNvSpPr txBox="1">
            <a:spLocks noChangeArrowheads="1"/>
          </p:cNvSpPr>
          <p:nvPr/>
        </p:nvSpPr>
        <p:spPr bwMode="auto">
          <a:xfrm>
            <a:off x="3930650" y="5851525"/>
            <a:ext cx="760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800">
                <a:solidFill>
                  <a:srgbClr val="0033CC"/>
                </a:solidFill>
                <a:ea typeface="楷体_GB2312" pitchFamily="49" charset="-122"/>
              </a:rPr>
              <a:t>Cache</a:t>
            </a:r>
            <a:endParaRPr lang="zh-CN" altLang="en-US" sz="1800">
              <a:solidFill>
                <a:srgbClr val="0033CC"/>
              </a:solidFill>
              <a:ea typeface="楷体_GB2312" pitchFamily="49" charset="-122"/>
            </a:endParaRPr>
          </a:p>
        </p:txBody>
      </p:sp>
      <p:sp>
        <p:nvSpPr>
          <p:cNvPr id="49180" name="Rectangle 20">
            <a:extLst>
              <a:ext uri="{FF2B5EF4-FFF2-40B4-BE49-F238E27FC236}">
                <a16:creationId xmlns:a16="http://schemas.microsoft.com/office/drawing/2014/main" id="{AF9A4EB3-4D99-477E-94B8-2464ECE5ACC0}"/>
              </a:ext>
            </a:extLst>
          </p:cNvPr>
          <p:cNvSpPr>
            <a:spLocks noChangeArrowheads="1"/>
          </p:cNvSpPr>
          <p:nvPr/>
        </p:nvSpPr>
        <p:spPr bwMode="auto">
          <a:xfrm>
            <a:off x="4025900" y="1700213"/>
            <a:ext cx="595313" cy="360362"/>
          </a:xfrm>
          <a:prstGeom prst="rect">
            <a:avLst/>
          </a:prstGeom>
          <a:solidFill>
            <a:srgbClr val="0033CC"/>
          </a:solidFill>
          <a:ln w="25400" algn="ctr">
            <a:solidFill>
              <a:schemeClr val="bg1"/>
            </a:solidFill>
            <a:miter lim="800000"/>
            <a:headEnd/>
            <a:tailEnd/>
          </a:ln>
          <a:effectLst>
            <a:outerShdw dist="35921" dir="2700000" algn="ctr" rotWithShape="0">
              <a:schemeClr val="bg2"/>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FFFF"/>
                </a:solidFill>
                <a:ea typeface="方正准圆简体" pitchFamily="2" charset="-122"/>
              </a:rPr>
              <a:t>010</a:t>
            </a:r>
          </a:p>
        </p:txBody>
      </p:sp>
      <p:sp>
        <p:nvSpPr>
          <p:cNvPr id="49181" name="Rectangle 20">
            <a:extLst>
              <a:ext uri="{FF2B5EF4-FFF2-40B4-BE49-F238E27FC236}">
                <a16:creationId xmlns:a16="http://schemas.microsoft.com/office/drawing/2014/main" id="{E263F5B2-ADF7-4C15-B9EA-4701AB4C84FD}"/>
              </a:ext>
            </a:extLst>
          </p:cNvPr>
          <p:cNvSpPr>
            <a:spLocks noChangeArrowheads="1"/>
          </p:cNvSpPr>
          <p:nvPr/>
        </p:nvSpPr>
        <p:spPr bwMode="auto">
          <a:xfrm>
            <a:off x="4618038" y="1700213"/>
            <a:ext cx="1006475" cy="360362"/>
          </a:xfrm>
          <a:prstGeom prst="rect">
            <a:avLst/>
          </a:prstGeom>
          <a:solidFill>
            <a:srgbClr val="FF9900"/>
          </a:solidFill>
          <a:ln w="25400" algn="ctr">
            <a:solidFill>
              <a:schemeClr val="bg1"/>
            </a:solidFill>
            <a:miter lim="800000"/>
            <a:headEnd/>
            <a:tailEnd/>
          </a:ln>
          <a:effectLst>
            <a:outerShdw dist="35921" dir="2700000" algn="ctr" rotWithShape="0">
              <a:schemeClr val="bg2"/>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FFFF"/>
                </a:solidFill>
                <a:ea typeface="方正准圆简体" pitchFamily="2" charset="-122"/>
              </a:rPr>
              <a:t>00100</a:t>
            </a:r>
          </a:p>
        </p:txBody>
      </p:sp>
      <p:cxnSp>
        <p:nvCxnSpPr>
          <p:cNvPr id="49182" name="直接连接符 83">
            <a:extLst>
              <a:ext uri="{FF2B5EF4-FFF2-40B4-BE49-F238E27FC236}">
                <a16:creationId xmlns:a16="http://schemas.microsoft.com/office/drawing/2014/main" id="{7EEA9497-6AFC-4192-86E5-AFEB370D535B}"/>
              </a:ext>
            </a:extLst>
          </p:cNvPr>
          <p:cNvCxnSpPr>
            <a:cxnSpLocks noChangeShapeType="1"/>
          </p:cNvCxnSpPr>
          <p:nvPr/>
        </p:nvCxnSpPr>
        <p:spPr bwMode="auto">
          <a:xfrm>
            <a:off x="4367213" y="2089150"/>
            <a:ext cx="0" cy="474663"/>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83" name="直接连接符 85">
            <a:extLst>
              <a:ext uri="{FF2B5EF4-FFF2-40B4-BE49-F238E27FC236}">
                <a16:creationId xmlns:a16="http://schemas.microsoft.com/office/drawing/2014/main" id="{7DE86B34-615D-4A4C-88D3-5356535AE48C}"/>
              </a:ext>
            </a:extLst>
          </p:cNvPr>
          <p:cNvCxnSpPr>
            <a:cxnSpLocks noChangeShapeType="1"/>
          </p:cNvCxnSpPr>
          <p:nvPr/>
        </p:nvCxnSpPr>
        <p:spPr bwMode="auto">
          <a:xfrm flipH="1" flipV="1">
            <a:off x="1187450" y="2555875"/>
            <a:ext cx="3187700" cy="7938"/>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84" name="直接连接符 88">
            <a:extLst>
              <a:ext uri="{FF2B5EF4-FFF2-40B4-BE49-F238E27FC236}">
                <a16:creationId xmlns:a16="http://schemas.microsoft.com/office/drawing/2014/main" id="{E937D0F0-8CC0-46FA-B36D-B7D11914F9B5}"/>
              </a:ext>
            </a:extLst>
          </p:cNvPr>
          <p:cNvCxnSpPr>
            <a:cxnSpLocks noChangeShapeType="1"/>
          </p:cNvCxnSpPr>
          <p:nvPr/>
        </p:nvCxnSpPr>
        <p:spPr bwMode="auto">
          <a:xfrm>
            <a:off x="1187450" y="2565400"/>
            <a:ext cx="0" cy="1890713"/>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85" name="直接连接符 91">
            <a:extLst>
              <a:ext uri="{FF2B5EF4-FFF2-40B4-BE49-F238E27FC236}">
                <a16:creationId xmlns:a16="http://schemas.microsoft.com/office/drawing/2014/main" id="{AD5125BD-27F6-4815-9932-9E99725C3511}"/>
              </a:ext>
            </a:extLst>
          </p:cNvPr>
          <p:cNvCxnSpPr>
            <a:cxnSpLocks noChangeShapeType="1"/>
          </p:cNvCxnSpPr>
          <p:nvPr/>
        </p:nvCxnSpPr>
        <p:spPr bwMode="auto">
          <a:xfrm>
            <a:off x="1187450" y="4456113"/>
            <a:ext cx="504825"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49186" name="文本框 95">
            <a:extLst>
              <a:ext uri="{FF2B5EF4-FFF2-40B4-BE49-F238E27FC236}">
                <a16:creationId xmlns:a16="http://schemas.microsoft.com/office/drawing/2014/main" id="{43183E73-3D7D-43CA-8761-FCCF6941B98F}"/>
              </a:ext>
            </a:extLst>
          </p:cNvPr>
          <p:cNvSpPr txBox="1">
            <a:spLocks noChangeArrowheads="1"/>
          </p:cNvSpPr>
          <p:nvPr/>
        </p:nvSpPr>
        <p:spPr bwMode="auto">
          <a:xfrm>
            <a:off x="3536950" y="2133600"/>
            <a:ext cx="882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选择行</a:t>
            </a:r>
          </a:p>
        </p:txBody>
      </p:sp>
    </p:spTree>
  </p:cSld>
  <p:clrMapOvr>
    <a:masterClrMapping/>
  </p:clrMapOvr>
  <p:transition spd="med">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Rectangle 2">
            <a:extLst>
              <a:ext uri="{FF2B5EF4-FFF2-40B4-BE49-F238E27FC236}">
                <a16:creationId xmlns:a16="http://schemas.microsoft.com/office/drawing/2014/main" id="{77EB4DEB-699B-4201-A8AB-957C9C6979E6}"/>
              </a:ext>
            </a:extLst>
          </p:cNvPr>
          <p:cNvSpPr>
            <a:spLocks noGrp="1" noChangeArrowheads="1"/>
          </p:cNvSpPr>
          <p:nvPr>
            <p:ph type="title"/>
          </p:nvPr>
        </p:nvSpPr>
        <p:spPr>
          <a:xfrm>
            <a:off x="179387" y="227807"/>
            <a:ext cx="8929688" cy="762000"/>
          </a:xfrm>
        </p:spPr>
        <p:txBody>
          <a:bodyPr/>
          <a:lstStyle/>
          <a:p>
            <a:pPr eaLnBrk="1" hangingPunct="1">
              <a:defRPr/>
            </a:pPr>
            <a:r>
              <a:rPr lang="en-US" altLang="zh-CN" dirty="0"/>
              <a:t>3</a:t>
            </a:r>
            <a:r>
              <a:rPr lang="zh-CN" altLang="en-US" dirty="0"/>
              <a:t>、</a:t>
            </a:r>
            <a:r>
              <a:rPr lang="en-US" altLang="zh-CN" dirty="0"/>
              <a:t>v</a:t>
            </a:r>
            <a:r>
              <a:rPr lang="zh-CN" altLang="en-US" dirty="0"/>
              <a:t>路（</a:t>
            </a:r>
            <a:r>
              <a:rPr lang="en-US" altLang="zh-CN" dirty="0"/>
              <a:t>v-way</a:t>
            </a:r>
            <a:r>
              <a:rPr lang="zh-CN" altLang="en-US" dirty="0"/>
              <a:t>）组相联映射</a:t>
            </a:r>
          </a:p>
        </p:txBody>
      </p:sp>
      <p:sp>
        <p:nvSpPr>
          <p:cNvPr id="50179" name="Rectangle 128">
            <a:extLst>
              <a:ext uri="{FF2B5EF4-FFF2-40B4-BE49-F238E27FC236}">
                <a16:creationId xmlns:a16="http://schemas.microsoft.com/office/drawing/2014/main" id="{03310D49-AB88-454F-AF46-6623EB1B19BD}"/>
              </a:ext>
            </a:extLst>
          </p:cNvPr>
          <p:cNvSpPr>
            <a:spLocks noGrp="1" noChangeArrowheads="1"/>
          </p:cNvSpPr>
          <p:nvPr>
            <p:ph type="body" sz="half" idx="1"/>
          </p:nvPr>
        </p:nvSpPr>
        <p:spPr>
          <a:xfrm>
            <a:off x="179388" y="914400"/>
            <a:ext cx="8785225" cy="5334000"/>
          </a:xfrm>
        </p:spPr>
        <p:txBody>
          <a:bodyPr/>
          <a:lstStyle/>
          <a:p>
            <a:pPr eaLnBrk="1" hangingPunct="1"/>
            <a:r>
              <a:rPr kumimoji="0" lang="zh-CN" altLang="en-US" sz="2800"/>
              <a:t>组相联映射方式是前两者的折衷方案，被普遍采用</a:t>
            </a:r>
          </a:p>
          <a:p>
            <a:pPr eaLnBrk="1" hangingPunct="1"/>
            <a:r>
              <a:rPr kumimoji="0" lang="zh-CN" altLang="en-US" sz="2800"/>
              <a:t>将</a:t>
            </a:r>
            <a:r>
              <a:rPr kumimoji="0" lang="en-US" altLang="zh-CN" sz="2800"/>
              <a:t>Cache</a:t>
            </a:r>
            <a:r>
              <a:rPr kumimoji="0" lang="zh-CN" altLang="en-US" sz="2800"/>
              <a:t>分成</a:t>
            </a:r>
            <a:r>
              <a:rPr kumimoji="0" lang="en-US" altLang="zh-CN" sz="2800"/>
              <a:t>u</a:t>
            </a:r>
            <a:r>
              <a:rPr kumimoji="0" lang="zh-CN" altLang="en-US" sz="2800"/>
              <a:t>组，每组</a:t>
            </a:r>
            <a:r>
              <a:rPr kumimoji="0" lang="en-US" altLang="zh-CN" sz="2800"/>
              <a:t>v</a:t>
            </a:r>
            <a:r>
              <a:rPr kumimoji="0" lang="zh-CN" altLang="en-US" sz="2800"/>
              <a:t>行，主存块存放到哪个组是固定的，放在组内的哪一行是任意的。</a:t>
            </a:r>
          </a:p>
          <a:p>
            <a:pPr eaLnBrk="1" hangingPunct="1"/>
            <a:r>
              <a:rPr kumimoji="0" lang="zh-CN" altLang="en-US" sz="2800"/>
              <a:t>组号：</a:t>
            </a:r>
            <a:r>
              <a:rPr kumimoji="0" lang="en-US" altLang="zh-CN" sz="2800"/>
              <a:t>q = j  mod  u</a:t>
            </a:r>
            <a:r>
              <a:rPr kumimoji="0" lang="zh-CN" altLang="en-US" sz="2800"/>
              <a:t>；对应多个块</a:t>
            </a:r>
            <a:endParaRPr lang="zh-CN" altLang="en-US" sz="2800"/>
          </a:p>
        </p:txBody>
      </p:sp>
      <p:graphicFrame>
        <p:nvGraphicFramePr>
          <p:cNvPr id="798790" name="Group 70">
            <a:extLst>
              <a:ext uri="{FF2B5EF4-FFF2-40B4-BE49-F238E27FC236}">
                <a16:creationId xmlns:a16="http://schemas.microsoft.com/office/drawing/2014/main" id="{C6688BB5-456A-4B7B-B9F3-AD3C35F79F88}"/>
              </a:ext>
            </a:extLst>
          </p:cNvPr>
          <p:cNvGraphicFramePr>
            <a:graphicFrameLocks noGrp="1"/>
          </p:cNvGraphicFramePr>
          <p:nvPr>
            <p:ph sz="half" idx="2"/>
          </p:nvPr>
        </p:nvGraphicFramePr>
        <p:xfrm>
          <a:off x="6419850" y="2092325"/>
          <a:ext cx="1460500" cy="4489451"/>
        </p:xfrm>
        <a:graphic>
          <a:graphicData uri="http://schemas.openxmlformats.org/drawingml/2006/table">
            <a:tbl>
              <a:tblPr/>
              <a:tblGrid>
                <a:gridCol w="1460500">
                  <a:extLst>
                    <a:ext uri="{9D8B030D-6E8A-4147-A177-3AD203B41FA5}">
                      <a16:colId xmlns:a16="http://schemas.microsoft.com/office/drawing/2014/main" val="20000"/>
                    </a:ext>
                  </a:extLst>
                </a:gridCol>
              </a:tblGrid>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00"/>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209550">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04"/>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6"/>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7"/>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08"/>
                  </a:ext>
                </a:extLst>
              </a:tr>
              <a:tr h="1746245">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9"/>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folHlink"/>
                      </a:fgClr>
                      <a:bgClr>
                        <a:schemeClr val="bg1"/>
                      </a:bgClr>
                    </a:pattFill>
                  </a:tcPr>
                </a:tc>
                <a:extLst>
                  <a:ext uri="{0D108BD9-81ED-4DB2-BD59-A6C34878D82A}">
                    <a16:rowId xmlns:a16="http://schemas.microsoft.com/office/drawing/2014/main" val="10010"/>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11"/>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12"/>
                  </a:ext>
                </a:extLst>
              </a:tr>
              <a:tr h="21113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200" b="1" i="0" u="none" strike="noStrike" cap="none" normalizeH="0" baseline="0" dirty="0">
                        <a:ln>
                          <a:noFill/>
                        </a:ln>
                        <a:solidFill>
                          <a:schemeClr val="tx1"/>
                        </a:solidFill>
                        <a:effectLst/>
                        <a:latin typeface="Times New Roman"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13"/>
                  </a:ext>
                </a:extLst>
              </a:tr>
            </a:tbl>
          </a:graphicData>
        </a:graphic>
      </p:graphicFrame>
      <p:graphicFrame>
        <p:nvGraphicFramePr>
          <p:cNvPr id="798724" name="Group 4">
            <a:extLst>
              <a:ext uri="{FF2B5EF4-FFF2-40B4-BE49-F238E27FC236}">
                <a16:creationId xmlns:a16="http://schemas.microsoft.com/office/drawing/2014/main" id="{86BE8F15-0175-4B94-BFDD-4F4D7A27F824}"/>
              </a:ext>
            </a:extLst>
          </p:cNvPr>
          <p:cNvGraphicFramePr>
            <a:graphicFrameLocks noGrp="1"/>
          </p:cNvGraphicFramePr>
          <p:nvPr>
            <p:extLst>
              <p:ext uri="{D42A27DB-BD31-4B8C-83A1-F6EECF244321}">
                <p14:modId xmlns:p14="http://schemas.microsoft.com/office/powerpoint/2010/main" val="2965615251"/>
              </p:ext>
            </p:extLst>
          </p:nvPr>
        </p:nvGraphicFramePr>
        <p:xfrm>
          <a:off x="642938" y="2811463"/>
          <a:ext cx="2598737" cy="2743200"/>
        </p:xfrm>
        <a:graphic>
          <a:graphicData uri="http://schemas.openxmlformats.org/drawingml/2006/table">
            <a:tbl>
              <a:tblPr/>
              <a:tblGrid>
                <a:gridCol w="492125">
                  <a:extLst>
                    <a:ext uri="{9D8B030D-6E8A-4147-A177-3AD203B41FA5}">
                      <a16:colId xmlns:a16="http://schemas.microsoft.com/office/drawing/2014/main" val="4036148918"/>
                    </a:ext>
                  </a:extLst>
                </a:gridCol>
                <a:gridCol w="277812">
                  <a:extLst>
                    <a:ext uri="{9D8B030D-6E8A-4147-A177-3AD203B41FA5}">
                      <a16:colId xmlns:a16="http://schemas.microsoft.com/office/drawing/2014/main" val="1360844651"/>
                    </a:ext>
                  </a:extLst>
                </a:gridCol>
                <a:gridCol w="382588">
                  <a:extLst>
                    <a:ext uri="{9D8B030D-6E8A-4147-A177-3AD203B41FA5}">
                      <a16:colId xmlns:a16="http://schemas.microsoft.com/office/drawing/2014/main" val="3579005887"/>
                    </a:ext>
                  </a:extLst>
                </a:gridCol>
                <a:gridCol w="1446212">
                  <a:extLst>
                    <a:ext uri="{9D8B030D-6E8A-4147-A177-3AD203B41FA5}">
                      <a16:colId xmlns:a16="http://schemas.microsoft.com/office/drawing/2014/main" val="3466392419"/>
                    </a:ext>
                  </a:extLst>
                </a:gridCol>
              </a:tblGrid>
              <a:tr h="119063">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
                          <a:srgbClr val="CC3300"/>
                        </a:buClr>
                        <a:buSzTx/>
                        <a:buFont typeface="Wingdings 2" panose="05020102010507070707" pitchFamily="18" charset="2"/>
                        <a:buNone/>
                        <a:tabLst>
                          <a:tab pos="1524000" algn="l"/>
                        </a:tabLst>
                        <a:defRPr/>
                      </a:pPr>
                      <a:r>
                        <a:rPr lang="zh-CN" altLang="en-US" sz="2000" b="1" kern="1200" dirty="0">
                          <a:solidFill>
                            <a:srgbClr val="000000"/>
                          </a:solidFill>
                          <a:effectLst>
                            <a:outerShdw blurRad="38100" dist="38100" dir="2700000" algn="tl">
                              <a:srgbClr val="C0C0C0"/>
                            </a:outerShdw>
                          </a:effectLst>
                          <a:latin typeface="楷体" panose="02010609060101010101" pitchFamily="49" charset="-122"/>
                          <a:ea typeface="楷体" panose="02010609060101010101" pitchFamily="49" charset="-122"/>
                          <a:sym typeface="Gill Sans" charset="0"/>
                        </a:rPr>
                        <a:t>组号</a:t>
                      </a:r>
                    </a:p>
                  </a:txBody>
                  <a:tcPr marL="90000" marR="90000" marT="0" marB="0" horzOverflow="overflow">
                    <a:lnL>
                      <a:noFill/>
                    </a:lnL>
                    <a:lnR>
                      <a:noFill/>
                    </a:lnR>
                    <a:lnT>
                      <a:noFill/>
                    </a:lnT>
                    <a:lnB>
                      <a:noFill/>
                    </a:lnB>
                    <a:lnTlToBr>
                      <a:noFill/>
                    </a:lnTlToBr>
                    <a:lnBlToTr>
                      <a:noFill/>
                    </a:lnBlToTr>
                    <a:noFill/>
                  </a:tcPr>
                </a:tc>
                <a:tc hMerge="1">
                  <a:txBody>
                    <a:bodyPr/>
                    <a:lstStyle/>
                    <a:p>
                      <a:endParaRPr lang="zh-CN" altLang="en-US"/>
                    </a:p>
                  </a:txBody>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Cache</a:t>
                      </a:r>
                    </a:p>
                  </a:txBody>
                  <a:tcPr marL="90000" marR="90000" marT="0" marB="0"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4205133240"/>
                  </a:ext>
                </a:extLst>
              </a:tr>
              <a:tr h="11906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486798541"/>
                  </a:ext>
                </a:extLst>
              </a:tr>
              <a:tr h="12065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749051428"/>
                  </a:ext>
                </a:extLst>
              </a:tr>
              <a:tr h="11906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2302073808"/>
                  </a:ext>
                </a:extLst>
              </a:tr>
              <a:tr h="11906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355708718"/>
                  </a:ext>
                </a:extLst>
              </a:tr>
              <a:tr h="11906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50545305"/>
                  </a:ext>
                </a:extLst>
              </a:tr>
              <a:tr h="12065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4250526370"/>
                  </a:ext>
                </a:extLst>
              </a:tr>
              <a:tr h="11906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481330010"/>
                  </a:ext>
                </a:extLst>
              </a:tr>
              <a:tr h="11906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gridSpan="2">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FF7C80"/>
                    </a:solidFill>
                  </a:tcPr>
                </a:tc>
                <a:tc hMerge="1">
                  <a:txBody>
                    <a:bodyPr/>
                    <a:lstStyle/>
                    <a:p>
                      <a:endParaRPr lang="zh-CN" altLang="en-US"/>
                    </a:p>
                  </a:txBody>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4234328521"/>
                  </a:ext>
                </a:extLst>
              </a:tr>
            </a:tbl>
          </a:graphicData>
        </a:graphic>
      </p:graphicFrame>
      <p:sp>
        <p:nvSpPr>
          <p:cNvPr id="798776" name="Text Box 56">
            <a:extLst>
              <a:ext uri="{FF2B5EF4-FFF2-40B4-BE49-F238E27FC236}">
                <a16:creationId xmlns:a16="http://schemas.microsoft.com/office/drawing/2014/main" id="{151024A4-1E9E-4274-B300-78791A2F2EA6}"/>
              </a:ext>
            </a:extLst>
          </p:cNvPr>
          <p:cNvSpPr txBox="1">
            <a:spLocks noChangeArrowheads="1"/>
          </p:cNvSpPr>
          <p:nvPr/>
        </p:nvSpPr>
        <p:spPr bwMode="auto">
          <a:xfrm>
            <a:off x="1071563" y="5516563"/>
            <a:ext cx="700087" cy="400050"/>
          </a:xfrm>
          <a:prstGeom prst="rect">
            <a:avLst/>
          </a:prstGeom>
          <a:noFill/>
          <a:ln w="19050">
            <a:noFill/>
            <a:miter lim="800000"/>
            <a:headEnd/>
            <a:tailEnd type="none" w="lg" len="lg"/>
          </a:ln>
          <a:effectLst/>
        </p:spPr>
        <p:txBody>
          <a:bodyPr wrap="none">
            <a:spAutoFit/>
          </a:bodyPr>
          <a:lstStyle/>
          <a:p>
            <a:pPr algn="r" eaLnBrk="1" hangingPunct="1">
              <a:defRPr/>
            </a:pPr>
            <a:r>
              <a:rPr lang="zh-CN" altLang="en-US" sz="2000" b="1" dirty="0">
                <a:effectLst>
                  <a:outerShdw blurRad="38100" dist="38100" dir="2700000" algn="tl">
                    <a:srgbClr val="C0C0C0"/>
                  </a:outerShdw>
                </a:effectLst>
                <a:latin typeface="楷体" panose="02010609060101010101" pitchFamily="49" charset="-122"/>
                <a:ea typeface="楷体" panose="02010609060101010101" pitchFamily="49" charset="-122"/>
              </a:rPr>
              <a:t>标记</a:t>
            </a:r>
          </a:p>
        </p:txBody>
      </p:sp>
      <p:sp>
        <p:nvSpPr>
          <p:cNvPr id="798777" name="Text Box 57">
            <a:extLst>
              <a:ext uri="{FF2B5EF4-FFF2-40B4-BE49-F238E27FC236}">
                <a16:creationId xmlns:a16="http://schemas.microsoft.com/office/drawing/2014/main" id="{B9F2C6B2-0B54-4DDF-9137-210D5126312D}"/>
              </a:ext>
            </a:extLst>
          </p:cNvPr>
          <p:cNvSpPr txBox="1">
            <a:spLocks noChangeArrowheads="1"/>
          </p:cNvSpPr>
          <p:nvPr/>
        </p:nvSpPr>
        <p:spPr bwMode="auto">
          <a:xfrm>
            <a:off x="6884988" y="1743075"/>
            <a:ext cx="696912" cy="400050"/>
          </a:xfrm>
          <a:prstGeom prst="rect">
            <a:avLst/>
          </a:prstGeom>
          <a:noFill/>
          <a:ln w="19050">
            <a:noFill/>
            <a:miter lim="800000"/>
            <a:headEnd/>
            <a:tailEnd type="none" w="lg" len="lg"/>
          </a:ln>
          <a:effectLst/>
        </p:spPr>
        <p:txBody>
          <a:bodyPr wrap="none">
            <a:spAutoFit/>
          </a:bodyPr>
          <a:lstStyle/>
          <a:p>
            <a:pPr algn="r" eaLnBrk="1" hangingPunct="1">
              <a:defRPr/>
            </a:pPr>
            <a:r>
              <a:rPr kumimoji="0" lang="zh-CN" altLang="en-US" sz="2000" b="1" dirty="0">
                <a:effectLst>
                  <a:outerShdw blurRad="38100" dist="38100" dir="2700000" algn="tl">
                    <a:srgbClr val="C0C0C0"/>
                  </a:outerShdw>
                </a:effectLst>
                <a:latin typeface="楷体" panose="02010609060101010101" pitchFamily="49" charset="-122"/>
                <a:ea typeface="楷体" panose="02010609060101010101" pitchFamily="49" charset="-122"/>
              </a:rPr>
              <a:t>主存</a:t>
            </a:r>
          </a:p>
        </p:txBody>
      </p:sp>
      <p:sp>
        <p:nvSpPr>
          <p:cNvPr id="798778" name="Text Box 58">
            <a:extLst>
              <a:ext uri="{FF2B5EF4-FFF2-40B4-BE49-F238E27FC236}">
                <a16:creationId xmlns:a16="http://schemas.microsoft.com/office/drawing/2014/main" id="{DAD0D48C-2609-4A43-8BC7-3E872807C596}"/>
              </a:ext>
            </a:extLst>
          </p:cNvPr>
          <p:cNvSpPr txBox="1">
            <a:spLocks noChangeArrowheads="1"/>
          </p:cNvSpPr>
          <p:nvPr/>
        </p:nvSpPr>
        <p:spPr bwMode="auto">
          <a:xfrm>
            <a:off x="7813675" y="1727200"/>
            <a:ext cx="700088" cy="400050"/>
          </a:xfrm>
          <a:prstGeom prst="rect">
            <a:avLst/>
          </a:prstGeom>
          <a:noFill/>
          <a:ln w="19050">
            <a:noFill/>
            <a:miter lim="800000"/>
            <a:headEnd/>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r">
              <a:buFont typeface="Wingdings" panose="05000000000000000000" pitchFamily="2" charset="2"/>
              <a:buNone/>
              <a:defRPr/>
            </a:pPr>
            <a:r>
              <a:rPr kumimoji="0" lang="zh-CN" altLang="en-US" sz="2000" b="1" dirty="0">
                <a:solidFill>
                  <a:srgbClr val="000000"/>
                </a:solidFill>
                <a:effectLst>
                  <a:outerShdw blurRad="38100" dist="38100" dir="2700000" algn="tl">
                    <a:srgbClr val="C0C0C0"/>
                  </a:outerShdw>
                </a:effectLst>
                <a:latin typeface="楷体" panose="02010609060101010101" pitchFamily="49" charset="-122"/>
                <a:ea typeface="楷体" panose="02010609060101010101" pitchFamily="49" charset="-122"/>
              </a:rPr>
              <a:t>块号</a:t>
            </a:r>
          </a:p>
        </p:txBody>
      </p:sp>
      <p:sp>
        <p:nvSpPr>
          <p:cNvPr id="798779" name="Text Box 59">
            <a:extLst>
              <a:ext uri="{FF2B5EF4-FFF2-40B4-BE49-F238E27FC236}">
                <a16:creationId xmlns:a16="http://schemas.microsoft.com/office/drawing/2014/main" id="{C59DD1AA-2F42-42E4-995C-F529E693AA05}"/>
              </a:ext>
            </a:extLst>
          </p:cNvPr>
          <p:cNvSpPr txBox="1">
            <a:spLocks noChangeArrowheads="1"/>
          </p:cNvSpPr>
          <p:nvPr/>
        </p:nvSpPr>
        <p:spPr bwMode="auto">
          <a:xfrm>
            <a:off x="7885113" y="1968500"/>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B0</a:t>
            </a:r>
          </a:p>
        </p:txBody>
      </p:sp>
      <p:sp>
        <p:nvSpPr>
          <p:cNvPr id="798780" name="Text Box 60">
            <a:extLst>
              <a:ext uri="{FF2B5EF4-FFF2-40B4-BE49-F238E27FC236}">
                <a16:creationId xmlns:a16="http://schemas.microsoft.com/office/drawing/2014/main" id="{8BA92407-640C-42C5-B0BC-E70C161CD848}"/>
              </a:ext>
            </a:extLst>
          </p:cNvPr>
          <p:cNvSpPr txBox="1">
            <a:spLocks noChangeArrowheads="1"/>
          </p:cNvSpPr>
          <p:nvPr/>
        </p:nvSpPr>
        <p:spPr bwMode="auto">
          <a:xfrm>
            <a:off x="7885113" y="2185988"/>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B1</a:t>
            </a:r>
          </a:p>
        </p:txBody>
      </p:sp>
      <p:sp>
        <p:nvSpPr>
          <p:cNvPr id="798781" name="Text Box 61">
            <a:extLst>
              <a:ext uri="{FF2B5EF4-FFF2-40B4-BE49-F238E27FC236}">
                <a16:creationId xmlns:a16="http://schemas.microsoft.com/office/drawing/2014/main" id="{E1F684C2-2908-4BF6-87AC-ADE81F233B3B}"/>
              </a:ext>
            </a:extLst>
          </p:cNvPr>
          <p:cNvSpPr txBox="1">
            <a:spLocks noChangeArrowheads="1"/>
          </p:cNvSpPr>
          <p:nvPr/>
        </p:nvSpPr>
        <p:spPr bwMode="auto">
          <a:xfrm>
            <a:off x="7869238" y="5641975"/>
            <a:ext cx="747712"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B252</a:t>
            </a:r>
          </a:p>
        </p:txBody>
      </p:sp>
      <p:sp>
        <p:nvSpPr>
          <p:cNvPr id="50258" name="Line 62">
            <a:extLst>
              <a:ext uri="{FF2B5EF4-FFF2-40B4-BE49-F238E27FC236}">
                <a16:creationId xmlns:a16="http://schemas.microsoft.com/office/drawing/2014/main" id="{5EED5DCF-DF78-4C30-AFE0-6B2A3F820CF1}"/>
              </a:ext>
            </a:extLst>
          </p:cNvPr>
          <p:cNvSpPr>
            <a:spLocks noChangeShapeType="1"/>
          </p:cNvSpPr>
          <p:nvPr/>
        </p:nvSpPr>
        <p:spPr bwMode="auto">
          <a:xfrm flipH="1">
            <a:off x="3367088" y="2178050"/>
            <a:ext cx="3033712" cy="1130300"/>
          </a:xfrm>
          <a:prstGeom prst="line">
            <a:avLst/>
          </a:prstGeom>
          <a:noFill/>
          <a:ln w="19050">
            <a:solidFill>
              <a:schemeClr val="folHlink"/>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59" name="Line 63">
            <a:extLst>
              <a:ext uri="{FF2B5EF4-FFF2-40B4-BE49-F238E27FC236}">
                <a16:creationId xmlns:a16="http://schemas.microsoft.com/office/drawing/2014/main" id="{835272F2-89A1-4AE8-A84B-60380E9044A6}"/>
              </a:ext>
            </a:extLst>
          </p:cNvPr>
          <p:cNvSpPr>
            <a:spLocks noChangeShapeType="1"/>
          </p:cNvSpPr>
          <p:nvPr/>
        </p:nvSpPr>
        <p:spPr bwMode="auto">
          <a:xfrm flipH="1">
            <a:off x="3392488" y="2989263"/>
            <a:ext cx="3035300" cy="379412"/>
          </a:xfrm>
          <a:prstGeom prst="line">
            <a:avLst/>
          </a:prstGeom>
          <a:noFill/>
          <a:ln w="19050">
            <a:solidFill>
              <a:schemeClr val="folHlink"/>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60" name="Line 64">
            <a:extLst>
              <a:ext uri="{FF2B5EF4-FFF2-40B4-BE49-F238E27FC236}">
                <a16:creationId xmlns:a16="http://schemas.microsoft.com/office/drawing/2014/main" id="{C954008F-790E-4810-97D8-B1E1F3791BD5}"/>
              </a:ext>
            </a:extLst>
          </p:cNvPr>
          <p:cNvSpPr>
            <a:spLocks noChangeShapeType="1"/>
          </p:cNvSpPr>
          <p:nvPr/>
        </p:nvSpPr>
        <p:spPr bwMode="auto">
          <a:xfrm flipH="1" flipV="1">
            <a:off x="3395663" y="3425825"/>
            <a:ext cx="2989262" cy="481013"/>
          </a:xfrm>
          <a:prstGeom prst="line">
            <a:avLst/>
          </a:prstGeom>
          <a:noFill/>
          <a:ln w="19050">
            <a:solidFill>
              <a:schemeClr val="folHlink"/>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61" name="Line 65">
            <a:extLst>
              <a:ext uri="{FF2B5EF4-FFF2-40B4-BE49-F238E27FC236}">
                <a16:creationId xmlns:a16="http://schemas.microsoft.com/office/drawing/2014/main" id="{AE99268A-8675-41E0-9E4D-1FBAA398159C}"/>
              </a:ext>
            </a:extLst>
          </p:cNvPr>
          <p:cNvSpPr>
            <a:spLocks noChangeShapeType="1"/>
          </p:cNvSpPr>
          <p:nvPr/>
        </p:nvSpPr>
        <p:spPr bwMode="auto">
          <a:xfrm flipH="1" flipV="1">
            <a:off x="3397250" y="3468688"/>
            <a:ext cx="3003550" cy="2381250"/>
          </a:xfrm>
          <a:prstGeom prst="line">
            <a:avLst/>
          </a:prstGeom>
          <a:noFill/>
          <a:ln w="19050">
            <a:solidFill>
              <a:schemeClr val="folHlink"/>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62" name="Line 66">
            <a:extLst>
              <a:ext uri="{FF2B5EF4-FFF2-40B4-BE49-F238E27FC236}">
                <a16:creationId xmlns:a16="http://schemas.microsoft.com/office/drawing/2014/main" id="{2AB51625-743D-4FFF-BF2B-042ABD414172}"/>
              </a:ext>
            </a:extLst>
          </p:cNvPr>
          <p:cNvSpPr>
            <a:spLocks noChangeShapeType="1"/>
          </p:cNvSpPr>
          <p:nvPr/>
        </p:nvSpPr>
        <p:spPr bwMode="auto">
          <a:xfrm flipH="1">
            <a:off x="3397250" y="2409825"/>
            <a:ext cx="3032125" cy="1538288"/>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63" name="Line 67">
            <a:extLst>
              <a:ext uri="{FF2B5EF4-FFF2-40B4-BE49-F238E27FC236}">
                <a16:creationId xmlns:a16="http://schemas.microsoft.com/office/drawing/2014/main" id="{3A547E0A-8644-415D-BE67-B36EE6A40172}"/>
              </a:ext>
            </a:extLst>
          </p:cNvPr>
          <p:cNvSpPr>
            <a:spLocks noChangeShapeType="1"/>
          </p:cNvSpPr>
          <p:nvPr/>
        </p:nvSpPr>
        <p:spPr bwMode="auto">
          <a:xfrm flipH="1">
            <a:off x="3411538" y="3206750"/>
            <a:ext cx="2974975" cy="7969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64" name="Line 68">
            <a:extLst>
              <a:ext uri="{FF2B5EF4-FFF2-40B4-BE49-F238E27FC236}">
                <a16:creationId xmlns:a16="http://schemas.microsoft.com/office/drawing/2014/main" id="{33129FF2-43DB-455D-86DA-CE14BB8FACE5}"/>
              </a:ext>
            </a:extLst>
          </p:cNvPr>
          <p:cNvSpPr>
            <a:spLocks noChangeShapeType="1"/>
          </p:cNvSpPr>
          <p:nvPr/>
        </p:nvSpPr>
        <p:spPr bwMode="auto">
          <a:xfrm flipH="1" flipV="1">
            <a:off x="3411538" y="4078288"/>
            <a:ext cx="2959100" cy="196056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798822" name="Text Box 102">
            <a:extLst>
              <a:ext uri="{FF2B5EF4-FFF2-40B4-BE49-F238E27FC236}">
                <a16:creationId xmlns:a16="http://schemas.microsoft.com/office/drawing/2014/main" id="{01CD340B-565E-4E6B-92D1-ACAE66E414D1}"/>
              </a:ext>
            </a:extLst>
          </p:cNvPr>
          <p:cNvSpPr txBox="1">
            <a:spLocks noChangeArrowheads="1"/>
          </p:cNvSpPr>
          <p:nvPr/>
        </p:nvSpPr>
        <p:spPr bwMode="auto">
          <a:xfrm rot="5400000">
            <a:off x="6753225" y="4370388"/>
            <a:ext cx="1098550" cy="641350"/>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3600" b="1">
                <a:effectLst>
                  <a:outerShdw blurRad="38100" dist="38100" dir="2700000" algn="tl">
                    <a:srgbClr val="C0C0C0"/>
                  </a:outerShdw>
                </a:effectLst>
                <a:latin typeface="Arial"/>
                <a:ea typeface="宋体" pitchFamily="2" charset="-122"/>
              </a:rPr>
              <a:t>……</a:t>
            </a:r>
            <a:endParaRPr kumimoji="0" lang="en-US" altLang="zh-CN" sz="3600" b="1">
              <a:effectLst>
                <a:outerShdw blurRad="38100" dist="38100" dir="2700000" algn="tl">
                  <a:srgbClr val="C0C0C0"/>
                </a:outerShdw>
              </a:effectLst>
              <a:latin typeface="Tahoma" pitchFamily="34" charset="0"/>
              <a:ea typeface="宋体" pitchFamily="2" charset="-122"/>
            </a:endParaRPr>
          </a:p>
        </p:txBody>
      </p:sp>
      <p:grpSp>
        <p:nvGrpSpPr>
          <p:cNvPr id="50266" name="Group 103">
            <a:extLst>
              <a:ext uri="{FF2B5EF4-FFF2-40B4-BE49-F238E27FC236}">
                <a16:creationId xmlns:a16="http://schemas.microsoft.com/office/drawing/2014/main" id="{B1484167-B4FC-4D8B-8681-3EAD3147C660}"/>
              </a:ext>
            </a:extLst>
          </p:cNvPr>
          <p:cNvGrpSpPr>
            <a:grpSpLocks/>
          </p:cNvGrpSpPr>
          <p:nvPr/>
        </p:nvGrpSpPr>
        <p:grpSpPr bwMode="auto">
          <a:xfrm>
            <a:off x="946150" y="3163888"/>
            <a:ext cx="133350" cy="2338387"/>
            <a:chOff x="596" y="1993"/>
            <a:chExt cx="84" cy="1473"/>
          </a:xfrm>
        </p:grpSpPr>
        <p:sp>
          <p:nvSpPr>
            <p:cNvPr id="50288" name="AutoShape 104">
              <a:extLst>
                <a:ext uri="{FF2B5EF4-FFF2-40B4-BE49-F238E27FC236}">
                  <a16:creationId xmlns:a16="http://schemas.microsoft.com/office/drawing/2014/main" id="{2DB47D85-4363-4722-9186-D74DD211A1B8}"/>
                </a:ext>
              </a:extLst>
            </p:cNvPr>
            <p:cNvSpPr>
              <a:spLocks/>
            </p:cNvSpPr>
            <p:nvPr/>
          </p:nvSpPr>
          <p:spPr bwMode="auto">
            <a:xfrm>
              <a:off x="606" y="1993"/>
              <a:ext cx="74" cy="311"/>
            </a:xfrm>
            <a:prstGeom prst="leftBrace">
              <a:avLst>
                <a:gd name="adj1" fmla="val 35023"/>
                <a:gd name="adj2" fmla="val 50000"/>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0289" name="AutoShape 105">
              <a:extLst>
                <a:ext uri="{FF2B5EF4-FFF2-40B4-BE49-F238E27FC236}">
                  <a16:creationId xmlns:a16="http://schemas.microsoft.com/office/drawing/2014/main" id="{2AA23172-102A-414C-A217-8F5CCC960F9C}"/>
                </a:ext>
              </a:extLst>
            </p:cNvPr>
            <p:cNvSpPr>
              <a:spLocks/>
            </p:cNvSpPr>
            <p:nvPr/>
          </p:nvSpPr>
          <p:spPr bwMode="auto">
            <a:xfrm>
              <a:off x="605" y="2396"/>
              <a:ext cx="74" cy="311"/>
            </a:xfrm>
            <a:prstGeom prst="leftBrace">
              <a:avLst>
                <a:gd name="adj1" fmla="val 35023"/>
                <a:gd name="adj2" fmla="val 50000"/>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98826" name="AutoShape 106">
              <a:extLst>
                <a:ext uri="{FF2B5EF4-FFF2-40B4-BE49-F238E27FC236}">
                  <a16:creationId xmlns:a16="http://schemas.microsoft.com/office/drawing/2014/main" id="{C5E80ED0-68B5-4588-A421-501A4DBAFD77}"/>
                </a:ext>
              </a:extLst>
            </p:cNvPr>
            <p:cNvSpPr>
              <a:spLocks/>
            </p:cNvSpPr>
            <p:nvPr/>
          </p:nvSpPr>
          <p:spPr bwMode="auto">
            <a:xfrm>
              <a:off x="596" y="2771"/>
              <a:ext cx="74" cy="311"/>
            </a:xfrm>
            <a:prstGeom prst="leftBrace">
              <a:avLst>
                <a:gd name="adj1" fmla="val 35023"/>
                <a:gd name="adj2" fmla="val 50000"/>
              </a:avLst>
            </a:prstGeom>
            <a:noFill/>
            <a:ln w="19050">
              <a:solidFill>
                <a:schemeClr val="tx1"/>
              </a:solidFill>
              <a:round/>
              <a:headEnd/>
              <a:tailEnd type="none" w="lg" len="lg"/>
            </a:ln>
            <a:effectLst/>
          </p:spPr>
          <p:txBody>
            <a:bodyPr wrap="none" anchor="ctr"/>
            <a:lstStyle/>
            <a:p>
              <a:pPr algn="ctr" eaLnBrk="1" hangingPunct="1">
                <a:defRPr/>
              </a:pPr>
              <a:endParaRPr kumimoji="0" lang="zh-CN" altLang="zh-CN" sz="1800">
                <a:effectLst>
                  <a:outerShdw blurRad="38100" dist="38100" dir="2700000" algn="tl">
                    <a:srgbClr val="C0C0C0"/>
                  </a:outerShdw>
                </a:effectLst>
                <a:latin typeface="Tahoma" pitchFamily="34" charset="0"/>
                <a:ea typeface="宋体" pitchFamily="2" charset="-122"/>
              </a:endParaRPr>
            </a:p>
          </p:txBody>
        </p:sp>
        <p:sp>
          <p:nvSpPr>
            <p:cNvPr id="798827" name="AutoShape 107">
              <a:extLst>
                <a:ext uri="{FF2B5EF4-FFF2-40B4-BE49-F238E27FC236}">
                  <a16:creationId xmlns:a16="http://schemas.microsoft.com/office/drawing/2014/main" id="{7D1ABA0F-C1E8-4700-97A6-062B9AD5873E}"/>
                </a:ext>
              </a:extLst>
            </p:cNvPr>
            <p:cNvSpPr>
              <a:spLocks/>
            </p:cNvSpPr>
            <p:nvPr/>
          </p:nvSpPr>
          <p:spPr bwMode="auto">
            <a:xfrm>
              <a:off x="596" y="3155"/>
              <a:ext cx="74" cy="311"/>
            </a:xfrm>
            <a:prstGeom prst="leftBrace">
              <a:avLst>
                <a:gd name="adj1" fmla="val 35023"/>
                <a:gd name="adj2" fmla="val 50000"/>
              </a:avLst>
            </a:prstGeom>
            <a:noFill/>
            <a:ln w="19050">
              <a:solidFill>
                <a:schemeClr val="tx1"/>
              </a:solidFill>
              <a:round/>
              <a:headEnd/>
              <a:tailEnd type="none" w="lg" len="lg"/>
            </a:ln>
            <a:effectLst/>
          </p:spPr>
          <p:txBody>
            <a:bodyPr wrap="none" anchor="ctr"/>
            <a:lstStyle/>
            <a:p>
              <a:pPr algn="ctr" eaLnBrk="1" hangingPunct="1">
                <a:defRPr/>
              </a:pPr>
              <a:endParaRPr kumimoji="0" lang="zh-CN" altLang="zh-CN" sz="1800">
                <a:effectLst>
                  <a:outerShdw blurRad="38100" dist="38100" dir="2700000" algn="tl">
                    <a:srgbClr val="C0C0C0"/>
                  </a:outerShdw>
                </a:effectLst>
                <a:latin typeface="Tahoma" pitchFamily="34" charset="0"/>
                <a:ea typeface="宋体" pitchFamily="2" charset="-122"/>
              </a:endParaRPr>
            </a:p>
          </p:txBody>
        </p:sp>
      </p:grpSp>
      <p:sp>
        <p:nvSpPr>
          <p:cNvPr id="798828" name="Text Box 108">
            <a:extLst>
              <a:ext uri="{FF2B5EF4-FFF2-40B4-BE49-F238E27FC236}">
                <a16:creationId xmlns:a16="http://schemas.microsoft.com/office/drawing/2014/main" id="{0701BC93-6ECA-4451-9D8A-CF4F1AF4201B}"/>
              </a:ext>
            </a:extLst>
          </p:cNvPr>
          <p:cNvSpPr txBox="1">
            <a:spLocks noChangeArrowheads="1"/>
          </p:cNvSpPr>
          <p:nvPr/>
        </p:nvSpPr>
        <p:spPr bwMode="auto">
          <a:xfrm>
            <a:off x="500063" y="3179763"/>
            <a:ext cx="520700" cy="457200"/>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400">
                <a:effectLst>
                  <a:outerShdw blurRad="38100" dist="38100" dir="2700000" algn="tl">
                    <a:srgbClr val="C0C0C0"/>
                  </a:outerShdw>
                </a:effectLst>
                <a:latin typeface="Tahoma" pitchFamily="34" charset="0"/>
                <a:ea typeface="宋体" pitchFamily="2" charset="-122"/>
              </a:rPr>
              <a:t>S0</a:t>
            </a:r>
          </a:p>
        </p:txBody>
      </p:sp>
      <p:sp>
        <p:nvSpPr>
          <p:cNvPr id="798829" name="Text Box 109">
            <a:extLst>
              <a:ext uri="{FF2B5EF4-FFF2-40B4-BE49-F238E27FC236}">
                <a16:creationId xmlns:a16="http://schemas.microsoft.com/office/drawing/2014/main" id="{EB279C2C-64BF-452C-8FBB-DB97DB4FC33C}"/>
              </a:ext>
            </a:extLst>
          </p:cNvPr>
          <p:cNvSpPr txBox="1">
            <a:spLocks noChangeArrowheads="1"/>
          </p:cNvSpPr>
          <p:nvPr/>
        </p:nvSpPr>
        <p:spPr bwMode="auto">
          <a:xfrm>
            <a:off x="500063" y="3817938"/>
            <a:ext cx="520700" cy="457200"/>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400">
                <a:effectLst>
                  <a:outerShdw blurRad="38100" dist="38100" dir="2700000" algn="tl">
                    <a:srgbClr val="C0C0C0"/>
                  </a:outerShdw>
                </a:effectLst>
                <a:latin typeface="Tahoma" pitchFamily="34" charset="0"/>
                <a:ea typeface="宋体" pitchFamily="2" charset="-122"/>
              </a:rPr>
              <a:t>S1</a:t>
            </a:r>
          </a:p>
        </p:txBody>
      </p:sp>
      <p:sp>
        <p:nvSpPr>
          <p:cNvPr id="798830" name="Text Box 110">
            <a:extLst>
              <a:ext uri="{FF2B5EF4-FFF2-40B4-BE49-F238E27FC236}">
                <a16:creationId xmlns:a16="http://schemas.microsoft.com/office/drawing/2014/main" id="{21DCA3AB-6A7A-4C5B-9F41-478FF34F99A0}"/>
              </a:ext>
            </a:extLst>
          </p:cNvPr>
          <p:cNvSpPr txBox="1">
            <a:spLocks noChangeArrowheads="1"/>
          </p:cNvSpPr>
          <p:nvPr/>
        </p:nvSpPr>
        <p:spPr bwMode="auto">
          <a:xfrm>
            <a:off x="500063" y="4411663"/>
            <a:ext cx="520700" cy="457200"/>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400">
                <a:effectLst>
                  <a:outerShdw blurRad="38100" dist="38100" dir="2700000" algn="tl">
                    <a:srgbClr val="C0C0C0"/>
                  </a:outerShdw>
                </a:effectLst>
                <a:latin typeface="Tahoma" pitchFamily="34" charset="0"/>
                <a:ea typeface="宋体" pitchFamily="2" charset="-122"/>
              </a:rPr>
              <a:t>S2</a:t>
            </a:r>
          </a:p>
        </p:txBody>
      </p:sp>
      <p:sp>
        <p:nvSpPr>
          <p:cNvPr id="798831" name="Text Box 111">
            <a:extLst>
              <a:ext uri="{FF2B5EF4-FFF2-40B4-BE49-F238E27FC236}">
                <a16:creationId xmlns:a16="http://schemas.microsoft.com/office/drawing/2014/main" id="{726E64F8-164B-4598-BEA1-9F48C5D12B20}"/>
              </a:ext>
            </a:extLst>
          </p:cNvPr>
          <p:cNvSpPr txBox="1">
            <a:spLocks noChangeArrowheads="1"/>
          </p:cNvSpPr>
          <p:nvPr/>
        </p:nvSpPr>
        <p:spPr bwMode="auto">
          <a:xfrm>
            <a:off x="500063" y="5010150"/>
            <a:ext cx="520700" cy="457200"/>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400">
                <a:effectLst>
                  <a:outerShdw blurRad="38100" dist="38100" dir="2700000" algn="tl">
                    <a:srgbClr val="C0C0C0"/>
                  </a:outerShdw>
                </a:effectLst>
                <a:latin typeface="Tahoma" pitchFamily="34" charset="0"/>
                <a:ea typeface="宋体" pitchFamily="2" charset="-122"/>
              </a:rPr>
              <a:t>S3</a:t>
            </a:r>
          </a:p>
        </p:txBody>
      </p:sp>
      <p:grpSp>
        <p:nvGrpSpPr>
          <p:cNvPr id="50271" name="Group 112">
            <a:extLst>
              <a:ext uri="{FF2B5EF4-FFF2-40B4-BE49-F238E27FC236}">
                <a16:creationId xmlns:a16="http://schemas.microsoft.com/office/drawing/2014/main" id="{3DE8E3A0-A1FA-43CC-BE42-A0BC6531493F}"/>
              </a:ext>
            </a:extLst>
          </p:cNvPr>
          <p:cNvGrpSpPr>
            <a:grpSpLocks/>
          </p:cNvGrpSpPr>
          <p:nvPr/>
        </p:nvGrpSpPr>
        <p:grpSpPr bwMode="auto">
          <a:xfrm flipH="1">
            <a:off x="3297238" y="3148013"/>
            <a:ext cx="133350" cy="2338387"/>
            <a:chOff x="596" y="1993"/>
            <a:chExt cx="84" cy="1473"/>
          </a:xfrm>
        </p:grpSpPr>
        <p:sp>
          <p:nvSpPr>
            <p:cNvPr id="50284" name="AutoShape 113">
              <a:extLst>
                <a:ext uri="{FF2B5EF4-FFF2-40B4-BE49-F238E27FC236}">
                  <a16:creationId xmlns:a16="http://schemas.microsoft.com/office/drawing/2014/main" id="{F5EFF9FC-4FCE-4990-8F1A-7A6F190E7CE0}"/>
                </a:ext>
              </a:extLst>
            </p:cNvPr>
            <p:cNvSpPr>
              <a:spLocks/>
            </p:cNvSpPr>
            <p:nvPr/>
          </p:nvSpPr>
          <p:spPr bwMode="auto">
            <a:xfrm>
              <a:off x="606" y="1993"/>
              <a:ext cx="74" cy="311"/>
            </a:xfrm>
            <a:prstGeom prst="leftBrace">
              <a:avLst>
                <a:gd name="adj1" fmla="val 35023"/>
                <a:gd name="adj2" fmla="val 50000"/>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0285" name="AutoShape 114">
              <a:extLst>
                <a:ext uri="{FF2B5EF4-FFF2-40B4-BE49-F238E27FC236}">
                  <a16:creationId xmlns:a16="http://schemas.microsoft.com/office/drawing/2014/main" id="{DFD31A0C-06FD-4778-B94A-E0B35197601A}"/>
                </a:ext>
              </a:extLst>
            </p:cNvPr>
            <p:cNvSpPr>
              <a:spLocks/>
            </p:cNvSpPr>
            <p:nvPr/>
          </p:nvSpPr>
          <p:spPr bwMode="auto">
            <a:xfrm>
              <a:off x="605" y="2396"/>
              <a:ext cx="74" cy="311"/>
            </a:xfrm>
            <a:prstGeom prst="leftBrace">
              <a:avLst>
                <a:gd name="adj1" fmla="val 35023"/>
                <a:gd name="adj2" fmla="val 50000"/>
              </a:avLst>
            </a:prstGeom>
            <a:noFill/>
            <a:ln w="19050">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98835" name="AutoShape 115">
              <a:extLst>
                <a:ext uri="{FF2B5EF4-FFF2-40B4-BE49-F238E27FC236}">
                  <a16:creationId xmlns:a16="http://schemas.microsoft.com/office/drawing/2014/main" id="{2A3BA7BD-D135-43A0-849C-4D1532186006}"/>
                </a:ext>
              </a:extLst>
            </p:cNvPr>
            <p:cNvSpPr>
              <a:spLocks/>
            </p:cNvSpPr>
            <p:nvPr/>
          </p:nvSpPr>
          <p:spPr bwMode="auto">
            <a:xfrm>
              <a:off x="596" y="2771"/>
              <a:ext cx="74" cy="311"/>
            </a:xfrm>
            <a:prstGeom prst="leftBrace">
              <a:avLst>
                <a:gd name="adj1" fmla="val 35023"/>
                <a:gd name="adj2" fmla="val 50000"/>
              </a:avLst>
            </a:prstGeom>
            <a:noFill/>
            <a:ln w="19050">
              <a:solidFill>
                <a:schemeClr val="tx1"/>
              </a:solidFill>
              <a:round/>
              <a:headEnd/>
              <a:tailEnd type="none" w="lg" len="lg"/>
            </a:ln>
            <a:effectLst/>
          </p:spPr>
          <p:txBody>
            <a:bodyPr wrap="none" anchor="ctr"/>
            <a:lstStyle/>
            <a:p>
              <a:pPr algn="ctr" eaLnBrk="1" hangingPunct="1">
                <a:defRPr/>
              </a:pPr>
              <a:endParaRPr kumimoji="0" lang="zh-CN" altLang="zh-CN" sz="1800">
                <a:effectLst>
                  <a:outerShdw blurRad="38100" dist="38100" dir="2700000" algn="tl">
                    <a:srgbClr val="C0C0C0"/>
                  </a:outerShdw>
                </a:effectLst>
                <a:latin typeface="Tahoma" pitchFamily="34" charset="0"/>
                <a:ea typeface="宋体" pitchFamily="2" charset="-122"/>
              </a:endParaRPr>
            </a:p>
          </p:txBody>
        </p:sp>
        <p:sp>
          <p:nvSpPr>
            <p:cNvPr id="798836" name="AutoShape 116">
              <a:extLst>
                <a:ext uri="{FF2B5EF4-FFF2-40B4-BE49-F238E27FC236}">
                  <a16:creationId xmlns:a16="http://schemas.microsoft.com/office/drawing/2014/main" id="{434EE50B-80CB-4C70-BC44-2510156152E5}"/>
                </a:ext>
              </a:extLst>
            </p:cNvPr>
            <p:cNvSpPr>
              <a:spLocks/>
            </p:cNvSpPr>
            <p:nvPr/>
          </p:nvSpPr>
          <p:spPr bwMode="auto">
            <a:xfrm>
              <a:off x="596" y="3155"/>
              <a:ext cx="74" cy="311"/>
            </a:xfrm>
            <a:prstGeom prst="leftBrace">
              <a:avLst>
                <a:gd name="adj1" fmla="val 35023"/>
                <a:gd name="adj2" fmla="val 50000"/>
              </a:avLst>
            </a:prstGeom>
            <a:noFill/>
            <a:ln w="19050">
              <a:solidFill>
                <a:schemeClr val="tx1"/>
              </a:solidFill>
              <a:round/>
              <a:headEnd/>
              <a:tailEnd type="none" w="lg" len="lg"/>
            </a:ln>
            <a:effectLst/>
          </p:spPr>
          <p:txBody>
            <a:bodyPr wrap="none" anchor="ctr"/>
            <a:lstStyle/>
            <a:p>
              <a:pPr algn="ctr" eaLnBrk="1" hangingPunct="1">
                <a:defRPr/>
              </a:pPr>
              <a:endParaRPr kumimoji="0" lang="zh-CN" altLang="zh-CN" sz="1800">
                <a:effectLst>
                  <a:outerShdw blurRad="38100" dist="38100" dir="2700000" algn="tl">
                    <a:srgbClr val="C0C0C0"/>
                  </a:outerShdw>
                </a:effectLst>
                <a:latin typeface="Tahoma" pitchFamily="34" charset="0"/>
                <a:ea typeface="宋体" pitchFamily="2" charset="-122"/>
              </a:endParaRPr>
            </a:p>
          </p:txBody>
        </p:sp>
      </p:grpSp>
      <p:sp>
        <p:nvSpPr>
          <p:cNvPr id="798837" name="Text Box 117">
            <a:extLst>
              <a:ext uri="{FF2B5EF4-FFF2-40B4-BE49-F238E27FC236}">
                <a16:creationId xmlns:a16="http://schemas.microsoft.com/office/drawing/2014/main" id="{ECEE62F5-24B4-4DB2-AC46-C2BCA18F95B8}"/>
              </a:ext>
            </a:extLst>
          </p:cNvPr>
          <p:cNvSpPr txBox="1">
            <a:spLocks noChangeArrowheads="1"/>
          </p:cNvSpPr>
          <p:nvPr/>
        </p:nvSpPr>
        <p:spPr bwMode="auto">
          <a:xfrm>
            <a:off x="7885113" y="2405063"/>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a:t>
            </a:r>
          </a:p>
        </p:txBody>
      </p:sp>
      <p:sp>
        <p:nvSpPr>
          <p:cNvPr id="798838" name="Text Box 118">
            <a:extLst>
              <a:ext uri="{FF2B5EF4-FFF2-40B4-BE49-F238E27FC236}">
                <a16:creationId xmlns:a16="http://schemas.microsoft.com/office/drawing/2014/main" id="{79967E5C-442D-43EC-B72A-39CB4DD9005D}"/>
              </a:ext>
            </a:extLst>
          </p:cNvPr>
          <p:cNvSpPr txBox="1">
            <a:spLocks noChangeArrowheads="1"/>
          </p:cNvSpPr>
          <p:nvPr/>
        </p:nvSpPr>
        <p:spPr bwMode="auto">
          <a:xfrm>
            <a:off x="7885113" y="2622550"/>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B3</a:t>
            </a:r>
          </a:p>
        </p:txBody>
      </p:sp>
      <p:sp>
        <p:nvSpPr>
          <p:cNvPr id="798839" name="Text Box 119">
            <a:extLst>
              <a:ext uri="{FF2B5EF4-FFF2-40B4-BE49-F238E27FC236}">
                <a16:creationId xmlns:a16="http://schemas.microsoft.com/office/drawing/2014/main" id="{46CB087F-D0B7-4EFD-A7F5-ADFF43188CEC}"/>
              </a:ext>
            </a:extLst>
          </p:cNvPr>
          <p:cNvSpPr txBox="1">
            <a:spLocks noChangeArrowheads="1"/>
          </p:cNvSpPr>
          <p:nvPr/>
        </p:nvSpPr>
        <p:spPr bwMode="auto">
          <a:xfrm>
            <a:off x="7885113" y="2840038"/>
            <a:ext cx="471487"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B4</a:t>
            </a:r>
          </a:p>
        </p:txBody>
      </p:sp>
      <p:sp>
        <p:nvSpPr>
          <p:cNvPr id="798840" name="Text Box 120">
            <a:extLst>
              <a:ext uri="{FF2B5EF4-FFF2-40B4-BE49-F238E27FC236}">
                <a16:creationId xmlns:a16="http://schemas.microsoft.com/office/drawing/2014/main" id="{22ECE6CC-22D3-4A4C-8E7F-1F196EF3B6FE}"/>
              </a:ext>
            </a:extLst>
          </p:cNvPr>
          <p:cNvSpPr txBox="1">
            <a:spLocks noChangeArrowheads="1"/>
          </p:cNvSpPr>
          <p:nvPr/>
        </p:nvSpPr>
        <p:spPr bwMode="auto">
          <a:xfrm>
            <a:off x="7899400" y="3709988"/>
            <a:ext cx="471488"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B8</a:t>
            </a:r>
          </a:p>
        </p:txBody>
      </p:sp>
      <p:sp>
        <p:nvSpPr>
          <p:cNvPr id="798841" name="Text Box 121">
            <a:extLst>
              <a:ext uri="{FF2B5EF4-FFF2-40B4-BE49-F238E27FC236}">
                <a16:creationId xmlns:a16="http://schemas.microsoft.com/office/drawing/2014/main" id="{3C78C275-0824-4D75-BAAF-CBA1381EB019}"/>
              </a:ext>
            </a:extLst>
          </p:cNvPr>
          <p:cNvSpPr txBox="1">
            <a:spLocks noChangeArrowheads="1"/>
          </p:cNvSpPr>
          <p:nvPr/>
        </p:nvSpPr>
        <p:spPr bwMode="auto">
          <a:xfrm>
            <a:off x="7885113" y="6249988"/>
            <a:ext cx="747712" cy="396875"/>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000">
                <a:effectLst>
                  <a:outerShdw blurRad="38100" dist="38100" dir="2700000" algn="tl">
                    <a:srgbClr val="C0C0C0"/>
                  </a:outerShdw>
                </a:effectLst>
                <a:latin typeface="Tahoma" pitchFamily="34" charset="0"/>
                <a:ea typeface="宋体" pitchFamily="2" charset="-122"/>
              </a:rPr>
              <a:t>B255</a:t>
            </a:r>
          </a:p>
        </p:txBody>
      </p:sp>
      <p:sp>
        <p:nvSpPr>
          <p:cNvPr id="50277" name="Line 122">
            <a:extLst>
              <a:ext uri="{FF2B5EF4-FFF2-40B4-BE49-F238E27FC236}">
                <a16:creationId xmlns:a16="http://schemas.microsoft.com/office/drawing/2014/main" id="{2253368E-550A-4D72-8C09-381A698DA713}"/>
              </a:ext>
            </a:extLst>
          </p:cNvPr>
          <p:cNvSpPr>
            <a:spLocks noChangeShapeType="1"/>
          </p:cNvSpPr>
          <p:nvPr/>
        </p:nvSpPr>
        <p:spPr bwMode="auto">
          <a:xfrm flipH="1">
            <a:off x="3425825" y="2627313"/>
            <a:ext cx="2960688" cy="188595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78" name="Line 123">
            <a:extLst>
              <a:ext uri="{FF2B5EF4-FFF2-40B4-BE49-F238E27FC236}">
                <a16:creationId xmlns:a16="http://schemas.microsoft.com/office/drawing/2014/main" id="{F57A10F5-3EF6-4CD8-BC6C-9372ECFF4714}"/>
              </a:ext>
            </a:extLst>
          </p:cNvPr>
          <p:cNvSpPr>
            <a:spLocks noChangeShapeType="1"/>
          </p:cNvSpPr>
          <p:nvPr/>
        </p:nvSpPr>
        <p:spPr bwMode="auto">
          <a:xfrm flipH="1">
            <a:off x="3395663" y="3425825"/>
            <a:ext cx="2974975" cy="1217613"/>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79" name="Line 124">
            <a:extLst>
              <a:ext uri="{FF2B5EF4-FFF2-40B4-BE49-F238E27FC236}">
                <a16:creationId xmlns:a16="http://schemas.microsoft.com/office/drawing/2014/main" id="{5F5A816B-44A3-463E-83B1-35545C5E2E3B}"/>
              </a:ext>
            </a:extLst>
          </p:cNvPr>
          <p:cNvSpPr>
            <a:spLocks noChangeShapeType="1"/>
          </p:cNvSpPr>
          <p:nvPr/>
        </p:nvSpPr>
        <p:spPr bwMode="auto">
          <a:xfrm flipH="1" flipV="1">
            <a:off x="3395663" y="4745038"/>
            <a:ext cx="3046412" cy="1497012"/>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80" name="Line 125">
            <a:extLst>
              <a:ext uri="{FF2B5EF4-FFF2-40B4-BE49-F238E27FC236}">
                <a16:creationId xmlns:a16="http://schemas.microsoft.com/office/drawing/2014/main" id="{AC2B2FFC-3D56-4E7F-8844-8151FFA27ACA}"/>
              </a:ext>
            </a:extLst>
          </p:cNvPr>
          <p:cNvSpPr>
            <a:spLocks noChangeShapeType="1"/>
          </p:cNvSpPr>
          <p:nvPr/>
        </p:nvSpPr>
        <p:spPr bwMode="auto">
          <a:xfrm flipH="1" flipV="1">
            <a:off x="3395663" y="5310188"/>
            <a:ext cx="2987675" cy="1149350"/>
          </a:xfrm>
          <a:prstGeom prst="line">
            <a:avLst/>
          </a:prstGeom>
          <a:noFill/>
          <a:ln w="19050">
            <a:solidFill>
              <a:srgbClr val="8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81" name="Line 126">
            <a:extLst>
              <a:ext uri="{FF2B5EF4-FFF2-40B4-BE49-F238E27FC236}">
                <a16:creationId xmlns:a16="http://schemas.microsoft.com/office/drawing/2014/main" id="{ADEA1382-4628-477D-8C73-0085A0B1E826}"/>
              </a:ext>
            </a:extLst>
          </p:cNvPr>
          <p:cNvSpPr>
            <a:spLocks noChangeShapeType="1"/>
          </p:cNvSpPr>
          <p:nvPr/>
        </p:nvSpPr>
        <p:spPr bwMode="auto">
          <a:xfrm flipH="1">
            <a:off x="3395663" y="3643313"/>
            <a:ext cx="2987675" cy="1565275"/>
          </a:xfrm>
          <a:prstGeom prst="line">
            <a:avLst/>
          </a:prstGeom>
          <a:noFill/>
          <a:ln w="19050">
            <a:solidFill>
              <a:srgbClr val="8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82" name="Line 127">
            <a:extLst>
              <a:ext uri="{FF2B5EF4-FFF2-40B4-BE49-F238E27FC236}">
                <a16:creationId xmlns:a16="http://schemas.microsoft.com/office/drawing/2014/main" id="{EA970CCF-31DB-4F6A-86B3-1C3073BCCB4A}"/>
              </a:ext>
            </a:extLst>
          </p:cNvPr>
          <p:cNvSpPr>
            <a:spLocks noChangeShapeType="1"/>
          </p:cNvSpPr>
          <p:nvPr/>
        </p:nvSpPr>
        <p:spPr bwMode="auto">
          <a:xfrm flipH="1">
            <a:off x="3409950" y="2816225"/>
            <a:ext cx="2987675" cy="2290763"/>
          </a:xfrm>
          <a:prstGeom prst="line">
            <a:avLst/>
          </a:prstGeom>
          <a:noFill/>
          <a:ln w="19050">
            <a:solidFill>
              <a:srgbClr val="8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283" name="文本框 1">
            <a:extLst>
              <a:ext uri="{FF2B5EF4-FFF2-40B4-BE49-F238E27FC236}">
                <a16:creationId xmlns:a16="http://schemas.microsoft.com/office/drawing/2014/main" id="{4F652602-2043-49CD-9BC6-C74757CB7562}"/>
              </a:ext>
            </a:extLst>
          </p:cNvPr>
          <p:cNvSpPr txBox="1">
            <a:spLocks noChangeArrowheads="1"/>
          </p:cNvSpPr>
          <p:nvPr/>
        </p:nvSpPr>
        <p:spPr bwMode="auto">
          <a:xfrm>
            <a:off x="500063" y="5940425"/>
            <a:ext cx="3898900" cy="460375"/>
          </a:xfrm>
          <a:prstGeom prst="rect">
            <a:avLst/>
          </a:prstGeom>
          <a:noFill/>
          <a:ln w="19050">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b="1" dirty="0">
                <a:solidFill>
                  <a:srgbClr val="C00000"/>
                </a:solidFill>
                <a:latin typeface="楷体" panose="02010609060101010101" pitchFamily="49" charset="-122"/>
                <a:ea typeface="楷体" panose="02010609060101010101" pitchFamily="49" charset="-122"/>
              </a:rPr>
              <a:t>v</a:t>
            </a:r>
            <a:r>
              <a:rPr lang="zh-CN" altLang="en-US" sz="2400" b="1" dirty="0">
                <a:solidFill>
                  <a:srgbClr val="C00000"/>
                </a:solidFill>
                <a:latin typeface="楷体" panose="02010609060101010101" pitchFamily="49" charset="-122"/>
                <a:ea typeface="楷体" panose="02010609060101010101" pitchFamily="49" charset="-122"/>
              </a:rPr>
              <a:t>路组相联是一种多对</a:t>
            </a:r>
            <a:r>
              <a:rPr lang="en-US" altLang="zh-CN" sz="2400" b="1" dirty="0">
                <a:solidFill>
                  <a:srgbClr val="C00000"/>
                </a:solidFill>
                <a:latin typeface="楷体" panose="02010609060101010101" pitchFamily="49" charset="-122"/>
                <a:ea typeface="楷体" panose="02010609060101010101" pitchFamily="49" charset="-122"/>
              </a:rPr>
              <a:t>v</a:t>
            </a:r>
            <a:r>
              <a:rPr lang="zh-CN" altLang="en-US" sz="2400" b="1" dirty="0">
                <a:solidFill>
                  <a:srgbClr val="C00000"/>
                </a:solidFill>
                <a:latin typeface="楷体" panose="02010609060101010101" pitchFamily="49" charset="-122"/>
                <a:ea typeface="楷体" panose="02010609060101010101" pitchFamily="49" charset="-122"/>
              </a:rPr>
              <a:t>映射</a:t>
            </a:r>
          </a:p>
        </p:txBody>
      </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Rectangle 2">
            <a:extLst>
              <a:ext uri="{FF2B5EF4-FFF2-40B4-BE49-F238E27FC236}">
                <a16:creationId xmlns:a16="http://schemas.microsoft.com/office/drawing/2014/main" id="{5C3D024A-9E0F-4C75-9AEB-4A46AED38B80}"/>
              </a:ext>
            </a:extLst>
          </p:cNvPr>
          <p:cNvSpPr>
            <a:spLocks noGrp="1" noChangeArrowheads="1"/>
          </p:cNvSpPr>
          <p:nvPr>
            <p:ph type="title"/>
          </p:nvPr>
        </p:nvSpPr>
        <p:spPr/>
        <p:txBody>
          <a:bodyPr/>
          <a:lstStyle/>
          <a:p>
            <a:pPr eaLnBrk="1" hangingPunct="1">
              <a:defRPr/>
            </a:pPr>
            <a:r>
              <a:rPr lang="zh-CN" altLang="en-US"/>
              <a:t>组相联映射的检索过程</a:t>
            </a:r>
          </a:p>
        </p:txBody>
      </p:sp>
      <p:sp>
        <p:nvSpPr>
          <p:cNvPr id="52227" name="Rectangle 3">
            <a:extLst>
              <a:ext uri="{FF2B5EF4-FFF2-40B4-BE49-F238E27FC236}">
                <a16:creationId xmlns:a16="http://schemas.microsoft.com/office/drawing/2014/main" id="{7A5658CB-3A26-456E-8DD1-2A76289833F8}"/>
              </a:ext>
            </a:extLst>
          </p:cNvPr>
          <p:cNvSpPr>
            <a:spLocks noGrp="1" noChangeArrowheads="1"/>
          </p:cNvSpPr>
          <p:nvPr>
            <p:ph idx="1"/>
          </p:nvPr>
        </p:nvSpPr>
        <p:spPr/>
        <p:txBody>
          <a:bodyPr/>
          <a:lstStyle/>
          <a:p>
            <a:pPr eaLnBrk="1" hangingPunct="1"/>
            <a:endParaRPr lang="zh-CN" altLang="zh-CN"/>
          </a:p>
        </p:txBody>
      </p:sp>
      <p:pic>
        <p:nvPicPr>
          <p:cNvPr id="52229" name="Picture 4" descr="p25">
            <a:extLst>
              <a:ext uri="{FF2B5EF4-FFF2-40B4-BE49-F238E27FC236}">
                <a16:creationId xmlns:a16="http://schemas.microsoft.com/office/drawing/2014/main" id="{45D64E49-9F7C-4839-802A-B687B641D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069975"/>
            <a:ext cx="8172450"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86" name="Rectangle 38">
            <a:extLst>
              <a:ext uri="{FF2B5EF4-FFF2-40B4-BE49-F238E27FC236}">
                <a16:creationId xmlns:a16="http://schemas.microsoft.com/office/drawing/2014/main" id="{8EE852DE-C377-46B7-992D-C9DB682A9E65}"/>
              </a:ext>
            </a:extLst>
          </p:cNvPr>
          <p:cNvSpPr>
            <a:spLocks noGrp="1" noChangeArrowheads="1"/>
          </p:cNvSpPr>
          <p:nvPr>
            <p:ph type="title"/>
          </p:nvPr>
        </p:nvSpPr>
        <p:spPr/>
        <p:txBody>
          <a:bodyPr/>
          <a:lstStyle/>
          <a:p>
            <a:pPr eaLnBrk="1" hangingPunct="1">
              <a:defRPr/>
            </a:pPr>
            <a:r>
              <a:rPr lang="en-US" altLang="zh-CN"/>
              <a:t>2</a:t>
            </a:r>
            <a:r>
              <a:rPr lang="zh-CN" altLang="en-US"/>
              <a:t>路组相联映射</a:t>
            </a:r>
            <a:r>
              <a:rPr lang="en-US" altLang="zh-CN"/>
              <a:t>Cache</a:t>
            </a:r>
            <a:r>
              <a:rPr lang="zh-CN" altLang="en-US"/>
              <a:t>示例（</a:t>
            </a:r>
            <a:r>
              <a:rPr lang="en-US" altLang="zh-CN"/>
              <a:t>1</a:t>
            </a:r>
            <a:r>
              <a:rPr lang="zh-CN" altLang="en-US"/>
              <a:t>）</a:t>
            </a:r>
          </a:p>
        </p:txBody>
      </p:sp>
      <p:sp>
        <p:nvSpPr>
          <p:cNvPr id="53251" name="Rectangle 39">
            <a:extLst>
              <a:ext uri="{FF2B5EF4-FFF2-40B4-BE49-F238E27FC236}">
                <a16:creationId xmlns:a16="http://schemas.microsoft.com/office/drawing/2014/main" id="{BAF7F758-05D5-449A-89F8-D52A10B4B293}"/>
              </a:ext>
            </a:extLst>
          </p:cNvPr>
          <p:cNvSpPr>
            <a:spLocks noGrp="1" noChangeArrowheads="1"/>
          </p:cNvSpPr>
          <p:nvPr>
            <p:ph idx="1"/>
          </p:nvPr>
        </p:nvSpPr>
        <p:spPr>
          <a:ln>
            <a:noFill/>
            <a:miter lim="800000"/>
            <a:headEnd/>
            <a:tailEnd/>
          </a:ln>
        </p:spPr>
        <p:txBody>
          <a:bodyPr/>
          <a:lstStyle/>
          <a:p>
            <a:pPr eaLnBrk="1" hangingPunct="1"/>
            <a:r>
              <a:rPr kumimoji="0" lang="zh-CN" altLang="en-US" sz="2800"/>
              <a:t>主存地址宽度：</a:t>
            </a:r>
            <a:r>
              <a:rPr kumimoji="0" lang="en-US" altLang="zh-CN" sz="2800"/>
              <a:t>24</a:t>
            </a:r>
            <a:r>
              <a:rPr kumimoji="0" lang="zh-CN" altLang="en-US" sz="2800"/>
              <a:t>位；容量</a:t>
            </a:r>
            <a:r>
              <a:rPr kumimoji="0" lang="en-US" altLang="zh-CN" sz="2800"/>
              <a:t>2</a:t>
            </a:r>
            <a:r>
              <a:rPr kumimoji="0" lang="en-US" altLang="zh-CN" sz="2800" baseline="30000"/>
              <a:t>24</a:t>
            </a:r>
            <a:r>
              <a:rPr kumimoji="0" lang="en-US" altLang="zh-CN" sz="2800"/>
              <a:t> bytes</a:t>
            </a:r>
            <a:r>
              <a:rPr kumimoji="0" lang="zh-CN" altLang="en-US" sz="2800"/>
              <a:t>；</a:t>
            </a:r>
            <a:r>
              <a:rPr kumimoji="0" lang="en-US" altLang="zh-CN" sz="2800"/>
              <a:t> 2</a:t>
            </a:r>
            <a:r>
              <a:rPr kumimoji="0" lang="en-US" altLang="zh-CN" sz="2800" baseline="30000"/>
              <a:t>24</a:t>
            </a:r>
            <a:r>
              <a:rPr kumimoji="0" lang="en-US" altLang="zh-CN" sz="2800"/>
              <a:t>/2</a:t>
            </a:r>
            <a:r>
              <a:rPr kumimoji="0" lang="en-US" altLang="zh-CN" sz="2800" baseline="30000"/>
              <a:t>5</a:t>
            </a:r>
            <a:r>
              <a:rPr kumimoji="0" lang="en-US" altLang="zh-CN" sz="2800"/>
              <a:t>=2</a:t>
            </a:r>
            <a:r>
              <a:rPr kumimoji="0" lang="en-US" altLang="zh-CN" sz="2800" baseline="30000"/>
              <a:t>19</a:t>
            </a:r>
            <a:r>
              <a:rPr kumimoji="0" lang="zh-CN" altLang="en-US" sz="2800"/>
              <a:t>块</a:t>
            </a:r>
            <a:endParaRPr kumimoji="0" lang="en-US" altLang="zh-CN" sz="2800"/>
          </a:p>
          <a:p>
            <a:pPr eaLnBrk="1" hangingPunct="1"/>
            <a:r>
              <a:rPr kumimoji="0" lang="zh-CN" altLang="en-US" sz="2800"/>
              <a:t>块大小 </a:t>
            </a:r>
            <a:r>
              <a:rPr kumimoji="0" lang="en-US" altLang="zh-CN" sz="2800"/>
              <a:t>= 32 bytes</a:t>
            </a:r>
          </a:p>
          <a:p>
            <a:pPr eaLnBrk="1" hangingPunct="1"/>
            <a:r>
              <a:rPr kumimoji="0" lang="en-US" altLang="zh-CN" sz="2800"/>
              <a:t>Cache</a:t>
            </a:r>
            <a:r>
              <a:rPr kumimoji="0" lang="zh-CN" altLang="en-US" sz="2800"/>
              <a:t>容量</a:t>
            </a:r>
            <a:r>
              <a:rPr kumimoji="0" lang="en-US" altLang="zh-CN" sz="2800"/>
              <a:t>: 256 bytes</a:t>
            </a:r>
            <a:r>
              <a:rPr kumimoji="0" lang="zh-CN" altLang="en-US" sz="2800"/>
              <a:t>，</a:t>
            </a:r>
            <a:r>
              <a:rPr kumimoji="0" lang="en-US" altLang="zh-CN" sz="2800"/>
              <a:t>2</a:t>
            </a:r>
            <a:r>
              <a:rPr kumimoji="0" lang="zh-CN" altLang="en-US" sz="2800"/>
              <a:t>路</a:t>
            </a:r>
            <a:r>
              <a:rPr kumimoji="0" lang="en-US" altLang="zh-CN" sz="2800"/>
              <a:t> 256/32</a:t>
            </a:r>
            <a:r>
              <a:rPr kumimoji="0" lang="zh-CN" altLang="en-US" sz="2800"/>
              <a:t>*</a:t>
            </a:r>
            <a:r>
              <a:rPr kumimoji="0" lang="en-US" altLang="zh-CN" sz="2800"/>
              <a:t>2=4</a:t>
            </a:r>
            <a:r>
              <a:rPr kumimoji="0" lang="zh-CN" altLang="en-US" sz="2800"/>
              <a:t>组</a:t>
            </a:r>
            <a:endParaRPr kumimoji="0" lang="en-US" altLang="zh-CN" sz="2800"/>
          </a:p>
        </p:txBody>
      </p:sp>
      <p:sp>
        <p:nvSpPr>
          <p:cNvPr id="53253" name="Line 116">
            <a:extLst>
              <a:ext uri="{FF2B5EF4-FFF2-40B4-BE49-F238E27FC236}">
                <a16:creationId xmlns:a16="http://schemas.microsoft.com/office/drawing/2014/main" id="{9C83221C-F055-4673-882B-E16A038F4AA4}"/>
              </a:ext>
            </a:extLst>
          </p:cNvPr>
          <p:cNvSpPr>
            <a:spLocks noChangeShapeType="1"/>
          </p:cNvSpPr>
          <p:nvPr/>
        </p:nvSpPr>
        <p:spPr bwMode="auto">
          <a:xfrm flipH="1">
            <a:off x="4616450" y="2492375"/>
            <a:ext cx="2449513" cy="2544763"/>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54" name="Rectangle 3">
            <a:extLst>
              <a:ext uri="{FF2B5EF4-FFF2-40B4-BE49-F238E27FC236}">
                <a16:creationId xmlns:a16="http://schemas.microsoft.com/office/drawing/2014/main" id="{AA021797-2460-49B0-B8B4-E76752FB626D}"/>
              </a:ext>
            </a:extLst>
          </p:cNvPr>
          <p:cNvSpPr>
            <a:spLocks noChangeArrowheads="1"/>
          </p:cNvSpPr>
          <p:nvPr/>
        </p:nvSpPr>
        <p:spPr bwMode="auto">
          <a:xfrm>
            <a:off x="7065963" y="2317750"/>
            <a:ext cx="1827212" cy="334963"/>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0</a:t>
            </a:r>
          </a:p>
        </p:txBody>
      </p:sp>
      <p:sp>
        <p:nvSpPr>
          <p:cNvPr id="53255" name="Rectangle 4">
            <a:extLst>
              <a:ext uri="{FF2B5EF4-FFF2-40B4-BE49-F238E27FC236}">
                <a16:creationId xmlns:a16="http://schemas.microsoft.com/office/drawing/2014/main" id="{A209A8E2-F666-4817-BB75-29373C2EB32E}"/>
              </a:ext>
            </a:extLst>
          </p:cNvPr>
          <p:cNvSpPr>
            <a:spLocks noChangeArrowheads="1"/>
          </p:cNvSpPr>
          <p:nvPr/>
        </p:nvSpPr>
        <p:spPr bwMode="auto">
          <a:xfrm>
            <a:off x="7065963" y="2652713"/>
            <a:ext cx="1827212" cy="334962"/>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1</a:t>
            </a:r>
          </a:p>
        </p:txBody>
      </p:sp>
      <p:sp>
        <p:nvSpPr>
          <p:cNvPr id="53256" name="Rectangle 5">
            <a:extLst>
              <a:ext uri="{FF2B5EF4-FFF2-40B4-BE49-F238E27FC236}">
                <a16:creationId xmlns:a16="http://schemas.microsoft.com/office/drawing/2014/main" id="{AAA8B890-C0E1-49D2-BA85-77815361C74C}"/>
              </a:ext>
            </a:extLst>
          </p:cNvPr>
          <p:cNvSpPr>
            <a:spLocks noChangeArrowheads="1"/>
          </p:cNvSpPr>
          <p:nvPr/>
        </p:nvSpPr>
        <p:spPr bwMode="auto">
          <a:xfrm>
            <a:off x="7065963" y="2987675"/>
            <a:ext cx="1827212" cy="333375"/>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2</a:t>
            </a:r>
          </a:p>
        </p:txBody>
      </p:sp>
      <p:sp>
        <p:nvSpPr>
          <p:cNvPr id="53257" name="Rectangle 6">
            <a:extLst>
              <a:ext uri="{FF2B5EF4-FFF2-40B4-BE49-F238E27FC236}">
                <a16:creationId xmlns:a16="http://schemas.microsoft.com/office/drawing/2014/main" id="{FA8844AF-C70A-474E-8378-7A30DAAE2E3A}"/>
              </a:ext>
            </a:extLst>
          </p:cNvPr>
          <p:cNvSpPr>
            <a:spLocks noChangeArrowheads="1"/>
          </p:cNvSpPr>
          <p:nvPr/>
        </p:nvSpPr>
        <p:spPr bwMode="auto">
          <a:xfrm>
            <a:off x="7065963" y="3321050"/>
            <a:ext cx="1827212" cy="336550"/>
          </a:xfrm>
          <a:prstGeom prst="rect">
            <a:avLst/>
          </a:prstGeom>
          <a:solidFill>
            <a:schemeClr val="accent1"/>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3</a:t>
            </a:r>
          </a:p>
        </p:txBody>
      </p:sp>
      <p:sp>
        <p:nvSpPr>
          <p:cNvPr id="53258" name="Rectangle 7">
            <a:extLst>
              <a:ext uri="{FF2B5EF4-FFF2-40B4-BE49-F238E27FC236}">
                <a16:creationId xmlns:a16="http://schemas.microsoft.com/office/drawing/2014/main" id="{F762E24E-F146-4961-A9DD-0B0C540ECC3C}"/>
              </a:ext>
            </a:extLst>
          </p:cNvPr>
          <p:cNvSpPr>
            <a:spLocks noChangeArrowheads="1"/>
          </p:cNvSpPr>
          <p:nvPr/>
        </p:nvSpPr>
        <p:spPr bwMode="auto">
          <a:xfrm>
            <a:off x="7065963" y="3657600"/>
            <a:ext cx="1827212" cy="334963"/>
          </a:xfrm>
          <a:prstGeom prst="rect">
            <a:avLst/>
          </a:prstGeom>
          <a:solidFill>
            <a:srgbClr val="00CCFF"/>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4</a:t>
            </a:r>
          </a:p>
        </p:txBody>
      </p:sp>
      <p:sp>
        <p:nvSpPr>
          <p:cNvPr id="53259" name="Rectangle 8">
            <a:extLst>
              <a:ext uri="{FF2B5EF4-FFF2-40B4-BE49-F238E27FC236}">
                <a16:creationId xmlns:a16="http://schemas.microsoft.com/office/drawing/2014/main" id="{D32023B6-070C-405F-B162-289B8CD3F6C3}"/>
              </a:ext>
            </a:extLst>
          </p:cNvPr>
          <p:cNvSpPr>
            <a:spLocks noChangeArrowheads="1"/>
          </p:cNvSpPr>
          <p:nvPr/>
        </p:nvSpPr>
        <p:spPr bwMode="auto">
          <a:xfrm>
            <a:off x="7065963" y="3992563"/>
            <a:ext cx="1827212" cy="334962"/>
          </a:xfrm>
          <a:prstGeom prst="rect">
            <a:avLst/>
          </a:prstGeom>
          <a:solidFill>
            <a:srgbClr val="00CCFF"/>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5</a:t>
            </a:r>
          </a:p>
        </p:txBody>
      </p:sp>
      <p:sp>
        <p:nvSpPr>
          <p:cNvPr id="53260" name="Rectangle 9">
            <a:extLst>
              <a:ext uri="{FF2B5EF4-FFF2-40B4-BE49-F238E27FC236}">
                <a16:creationId xmlns:a16="http://schemas.microsoft.com/office/drawing/2014/main" id="{477604F3-0E8B-442A-9640-D1AB078B688A}"/>
              </a:ext>
            </a:extLst>
          </p:cNvPr>
          <p:cNvSpPr>
            <a:spLocks noChangeArrowheads="1"/>
          </p:cNvSpPr>
          <p:nvPr/>
        </p:nvSpPr>
        <p:spPr bwMode="auto">
          <a:xfrm>
            <a:off x="7065963" y="4327525"/>
            <a:ext cx="1827212" cy="333375"/>
          </a:xfrm>
          <a:prstGeom prst="rect">
            <a:avLst/>
          </a:prstGeom>
          <a:solidFill>
            <a:srgbClr val="00CCFF"/>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6</a:t>
            </a:r>
          </a:p>
        </p:txBody>
      </p:sp>
      <p:sp>
        <p:nvSpPr>
          <p:cNvPr id="53261" name="Rectangle 10">
            <a:extLst>
              <a:ext uri="{FF2B5EF4-FFF2-40B4-BE49-F238E27FC236}">
                <a16:creationId xmlns:a16="http://schemas.microsoft.com/office/drawing/2014/main" id="{CFD4151B-193E-40DA-85BD-1A79163805DA}"/>
              </a:ext>
            </a:extLst>
          </p:cNvPr>
          <p:cNvSpPr>
            <a:spLocks noChangeArrowheads="1"/>
          </p:cNvSpPr>
          <p:nvPr/>
        </p:nvSpPr>
        <p:spPr bwMode="auto">
          <a:xfrm>
            <a:off x="7065963" y="4660900"/>
            <a:ext cx="1827212" cy="334963"/>
          </a:xfrm>
          <a:prstGeom prst="rect">
            <a:avLst/>
          </a:prstGeom>
          <a:solidFill>
            <a:srgbClr val="00CCFF"/>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7</a:t>
            </a:r>
          </a:p>
        </p:txBody>
      </p:sp>
      <p:sp>
        <p:nvSpPr>
          <p:cNvPr id="53262" name="Rectangle 11">
            <a:extLst>
              <a:ext uri="{FF2B5EF4-FFF2-40B4-BE49-F238E27FC236}">
                <a16:creationId xmlns:a16="http://schemas.microsoft.com/office/drawing/2014/main" id="{FD53FB00-46E7-4CCD-9666-376511B810DE}"/>
              </a:ext>
            </a:extLst>
          </p:cNvPr>
          <p:cNvSpPr>
            <a:spLocks noChangeArrowheads="1"/>
          </p:cNvSpPr>
          <p:nvPr/>
        </p:nvSpPr>
        <p:spPr bwMode="auto">
          <a:xfrm>
            <a:off x="7065963" y="4995863"/>
            <a:ext cx="1827212" cy="334962"/>
          </a:xfrm>
          <a:prstGeom prst="rect">
            <a:avLst/>
          </a:prstGeom>
          <a:solidFill>
            <a:srgbClr val="FF5050"/>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8</a:t>
            </a:r>
          </a:p>
        </p:txBody>
      </p:sp>
      <p:sp>
        <p:nvSpPr>
          <p:cNvPr id="53263" name="Rectangle 15">
            <a:extLst>
              <a:ext uri="{FF2B5EF4-FFF2-40B4-BE49-F238E27FC236}">
                <a16:creationId xmlns:a16="http://schemas.microsoft.com/office/drawing/2014/main" id="{6837EED0-76A8-474F-AB86-7B2AA8ECD279}"/>
              </a:ext>
            </a:extLst>
          </p:cNvPr>
          <p:cNvSpPr>
            <a:spLocks noChangeArrowheads="1"/>
          </p:cNvSpPr>
          <p:nvPr/>
        </p:nvSpPr>
        <p:spPr bwMode="auto">
          <a:xfrm>
            <a:off x="7065963" y="6000750"/>
            <a:ext cx="1827212" cy="333375"/>
          </a:xfrm>
          <a:prstGeom prst="rect">
            <a:avLst/>
          </a:prstGeom>
          <a:solidFill>
            <a:srgbClr val="006600"/>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2</a:t>
            </a:r>
            <a:r>
              <a:rPr kumimoji="0" lang="en-US" altLang="zh-CN" sz="2400" b="0" baseline="30000">
                <a:solidFill>
                  <a:schemeClr val="bg1"/>
                </a:solidFill>
                <a:ea typeface="宋体" panose="02010600030101010101" pitchFamily="2" charset="-122"/>
              </a:rPr>
              <a:t>19</a:t>
            </a:r>
            <a:r>
              <a:rPr kumimoji="0" lang="en-US" altLang="zh-CN" sz="2400" b="0">
                <a:solidFill>
                  <a:schemeClr val="bg1"/>
                </a:solidFill>
                <a:ea typeface="宋体" panose="02010600030101010101" pitchFamily="2" charset="-122"/>
              </a:rPr>
              <a:t>-1</a:t>
            </a:r>
          </a:p>
        </p:txBody>
      </p:sp>
      <p:sp>
        <p:nvSpPr>
          <p:cNvPr id="53264" name="Rectangle 16">
            <a:extLst>
              <a:ext uri="{FF2B5EF4-FFF2-40B4-BE49-F238E27FC236}">
                <a16:creationId xmlns:a16="http://schemas.microsoft.com/office/drawing/2014/main" id="{4D92E308-9538-41A4-B621-2661644E3345}"/>
              </a:ext>
            </a:extLst>
          </p:cNvPr>
          <p:cNvSpPr>
            <a:spLocks noChangeArrowheads="1"/>
          </p:cNvSpPr>
          <p:nvPr/>
        </p:nvSpPr>
        <p:spPr bwMode="auto">
          <a:xfrm>
            <a:off x="7065963" y="5665788"/>
            <a:ext cx="1827212" cy="334962"/>
          </a:xfrm>
          <a:prstGeom prst="rect">
            <a:avLst/>
          </a:prstGeom>
          <a:solidFill>
            <a:srgbClr val="FF5050"/>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dirty="0">
                <a:solidFill>
                  <a:schemeClr val="bg1"/>
                </a:solidFill>
                <a:ea typeface="宋体" panose="02010600030101010101" pitchFamily="2" charset="-122"/>
              </a:rPr>
              <a:t>…</a:t>
            </a:r>
          </a:p>
        </p:txBody>
      </p:sp>
      <p:sp>
        <p:nvSpPr>
          <p:cNvPr id="53265" name="Rectangle 17">
            <a:extLst>
              <a:ext uri="{FF2B5EF4-FFF2-40B4-BE49-F238E27FC236}">
                <a16:creationId xmlns:a16="http://schemas.microsoft.com/office/drawing/2014/main" id="{D2E7F205-2211-4823-842C-4E491B298DF0}"/>
              </a:ext>
            </a:extLst>
          </p:cNvPr>
          <p:cNvSpPr>
            <a:spLocks noChangeArrowheads="1"/>
          </p:cNvSpPr>
          <p:nvPr/>
        </p:nvSpPr>
        <p:spPr bwMode="auto">
          <a:xfrm>
            <a:off x="7065963" y="5330825"/>
            <a:ext cx="1827212" cy="334963"/>
          </a:xfrm>
          <a:prstGeom prst="rect">
            <a:avLst/>
          </a:prstGeom>
          <a:solidFill>
            <a:srgbClr val="FF5050"/>
          </a:solidFill>
          <a:ln w="1587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b="0">
                <a:solidFill>
                  <a:schemeClr val="bg1"/>
                </a:solidFill>
                <a:ea typeface="宋体" panose="02010600030101010101" pitchFamily="2" charset="-122"/>
              </a:rPr>
              <a:t>Block 9</a:t>
            </a:r>
          </a:p>
        </p:txBody>
      </p:sp>
      <p:sp>
        <p:nvSpPr>
          <p:cNvPr id="53266" name="Rectangle 40">
            <a:extLst>
              <a:ext uri="{FF2B5EF4-FFF2-40B4-BE49-F238E27FC236}">
                <a16:creationId xmlns:a16="http://schemas.microsoft.com/office/drawing/2014/main" id="{073098FD-38A8-48ED-9C0B-FF741FB6BA83}"/>
              </a:ext>
            </a:extLst>
          </p:cNvPr>
          <p:cNvSpPr>
            <a:spLocks noChangeArrowheads="1"/>
          </p:cNvSpPr>
          <p:nvPr/>
        </p:nvSpPr>
        <p:spPr bwMode="auto">
          <a:xfrm>
            <a:off x="768350" y="2709863"/>
            <a:ext cx="2376488" cy="277812"/>
          </a:xfrm>
          <a:prstGeom prst="rect">
            <a:avLst/>
          </a:prstGeom>
          <a:solidFill>
            <a:srgbClr val="339933"/>
          </a:solidFill>
          <a:ln w="19050" algn="ctr">
            <a:solidFill>
              <a:schemeClr val="bg1"/>
            </a:solidFill>
            <a:miter lim="800000"/>
            <a:headEnd/>
            <a:tailEnd/>
          </a:ln>
          <a:effectLst>
            <a:outerShdw blurRad="50800" dist="50800" dir="54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Tag</a:t>
            </a:r>
          </a:p>
        </p:txBody>
      </p:sp>
      <p:sp>
        <p:nvSpPr>
          <p:cNvPr id="53267" name="Rectangle 41">
            <a:extLst>
              <a:ext uri="{FF2B5EF4-FFF2-40B4-BE49-F238E27FC236}">
                <a16:creationId xmlns:a16="http://schemas.microsoft.com/office/drawing/2014/main" id="{E7D64E42-5FE3-46DE-AC81-A69B5934CC24}"/>
              </a:ext>
            </a:extLst>
          </p:cNvPr>
          <p:cNvSpPr>
            <a:spLocks noChangeArrowheads="1"/>
          </p:cNvSpPr>
          <p:nvPr/>
        </p:nvSpPr>
        <p:spPr bwMode="auto">
          <a:xfrm>
            <a:off x="3144838" y="2709863"/>
            <a:ext cx="1871662" cy="277812"/>
          </a:xfrm>
          <a:prstGeom prst="rect">
            <a:avLst/>
          </a:prstGeom>
          <a:solidFill>
            <a:srgbClr val="808000"/>
          </a:solidFill>
          <a:ln w="19050" algn="ctr">
            <a:solidFill>
              <a:schemeClr val="bg1"/>
            </a:solidFill>
            <a:miter lim="800000"/>
            <a:headEnd/>
            <a:tailEnd/>
          </a:ln>
          <a:effectLst>
            <a:outerShdw blurRad="50800" dist="50800" dir="54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Set Index</a:t>
            </a:r>
          </a:p>
        </p:txBody>
      </p:sp>
      <p:sp>
        <p:nvSpPr>
          <p:cNvPr id="53268" name="Rectangle 42">
            <a:extLst>
              <a:ext uri="{FF2B5EF4-FFF2-40B4-BE49-F238E27FC236}">
                <a16:creationId xmlns:a16="http://schemas.microsoft.com/office/drawing/2014/main" id="{46EFEA12-D204-4761-850E-586228FEC1D0}"/>
              </a:ext>
            </a:extLst>
          </p:cNvPr>
          <p:cNvSpPr>
            <a:spLocks noChangeArrowheads="1"/>
          </p:cNvSpPr>
          <p:nvPr/>
        </p:nvSpPr>
        <p:spPr bwMode="auto">
          <a:xfrm>
            <a:off x="5016500" y="2709863"/>
            <a:ext cx="1439863" cy="277812"/>
          </a:xfrm>
          <a:prstGeom prst="rect">
            <a:avLst/>
          </a:prstGeom>
          <a:solidFill>
            <a:srgbClr val="800080"/>
          </a:solidFill>
          <a:ln w="19050" algn="ctr">
            <a:solidFill>
              <a:schemeClr val="bg1"/>
            </a:solidFill>
            <a:miter lim="800000"/>
            <a:headEnd/>
            <a:tailEnd/>
          </a:ln>
          <a:effectLst>
            <a:outerShdw blurRad="50800" dist="50800" dir="5400000" algn="ctr" rotWithShape="0">
              <a:schemeClr val="tx1">
                <a:lumMod val="50000"/>
                <a:lumOff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chemeClr val="bg1"/>
                </a:solidFill>
                <a:ea typeface="方正准圆简体" pitchFamily="2" charset="-122"/>
              </a:rPr>
              <a:t>Offset</a:t>
            </a:r>
          </a:p>
        </p:txBody>
      </p:sp>
      <p:sp>
        <p:nvSpPr>
          <p:cNvPr id="53269" name="Text Box 43">
            <a:extLst>
              <a:ext uri="{FF2B5EF4-FFF2-40B4-BE49-F238E27FC236}">
                <a16:creationId xmlns:a16="http://schemas.microsoft.com/office/drawing/2014/main" id="{BC9B3497-669C-4FAB-B245-90116BA0AF53}"/>
              </a:ext>
            </a:extLst>
          </p:cNvPr>
          <p:cNvSpPr txBox="1">
            <a:spLocks noChangeArrowheads="1"/>
          </p:cNvSpPr>
          <p:nvPr/>
        </p:nvSpPr>
        <p:spPr bwMode="auto">
          <a:xfrm>
            <a:off x="6084888" y="24384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0</a:t>
            </a:r>
          </a:p>
        </p:txBody>
      </p:sp>
      <p:sp>
        <p:nvSpPr>
          <p:cNvPr id="53270" name="Text Box 44">
            <a:extLst>
              <a:ext uri="{FF2B5EF4-FFF2-40B4-BE49-F238E27FC236}">
                <a16:creationId xmlns:a16="http://schemas.microsoft.com/office/drawing/2014/main" id="{3B0C81D9-180D-46F3-AE4C-0871F640F7E9}"/>
              </a:ext>
            </a:extLst>
          </p:cNvPr>
          <p:cNvSpPr txBox="1">
            <a:spLocks noChangeArrowheads="1"/>
          </p:cNvSpPr>
          <p:nvPr/>
        </p:nvSpPr>
        <p:spPr bwMode="auto">
          <a:xfrm>
            <a:off x="5016500" y="24622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4</a:t>
            </a:r>
          </a:p>
        </p:txBody>
      </p:sp>
      <p:sp>
        <p:nvSpPr>
          <p:cNvPr id="53271" name="Text Box 67">
            <a:extLst>
              <a:ext uri="{FF2B5EF4-FFF2-40B4-BE49-F238E27FC236}">
                <a16:creationId xmlns:a16="http://schemas.microsoft.com/office/drawing/2014/main" id="{8818B08C-0D7A-494D-AE45-5402DE07A655}"/>
              </a:ext>
            </a:extLst>
          </p:cNvPr>
          <p:cNvSpPr txBox="1">
            <a:spLocks noChangeArrowheads="1"/>
          </p:cNvSpPr>
          <p:nvPr/>
        </p:nvSpPr>
        <p:spPr bwMode="auto">
          <a:xfrm>
            <a:off x="4716463" y="24622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5</a:t>
            </a:r>
          </a:p>
        </p:txBody>
      </p:sp>
      <p:sp>
        <p:nvSpPr>
          <p:cNvPr id="53272" name="Text Box 68">
            <a:extLst>
              <a:ext uri="{FF2B5EF4-FFF2-40B4-BE49-F238E27FC236}">
                <a16:creationId xmlns:a16="http://schemas.microsoft.com/office/drawing/2014/main" id="{DA08F70C-910D-43C4-AFD3-95B22FB3BACC}"/>
              </a:ext>
            </a:extLst>
          </p:cNvPr>
          <p:cNvSpPr txBox="1">
            <a:spLocks noChangeArrowheads="1"/>
          </p:cNvSpPr>
          <p:nvPr/>
        </p:nvSpPr>
        <p:spPr bwMode="auto">
          <a:xfrm>
            <a:off x="3128963" y="2462213"/>
            <a:ext cx="2873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6</a:t>
            </a:r>
          </a:p>
        </p:txBody>
      </p:sp>
      <p:sp>
        <p:nvSpPr>
          <p:cNvPr id="53273" name="Text Box 69">
            <a:extLst>
              <a:ext uri="{FF2B5EF4-FFF2-40B4-BE49-F238E27FC236}">
                <a16:creationId xmlns:a16="http://schemas.microsoft.com/office/drawing/2014/main" id="{E4F77C8B-4581-41DE-96AB-E94359B7E82D}"/>
              </a:ext>
            </a:extLst>
          </p:cNvPr>
          <p:cNvSpPr txBox="1">
            <a:spLocks noChangeArrowheads="1"/>
          </p:cNvSpPr>
          <p:nvPr/>
        </p:nvSpPr>
        <p:spPr bwMode="auto">
          <a:xfrm>
            <a:off x="2841625" y="2462213"/>
            <a:ext cx="2873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7</a:t>
            </a:r>
          </a:p>
        </p:txBody>
      </p:sp>
      <p:sp>
        <p:nvSpPr>
          <p:cNvPr id="53274" name="Text Box 70">
            <a:extLst>
              <a:ext uri="{FF2B5EF4-FFF2-40B4-BE49-F238E27FC236}">
                <a16:creationId xmlns:a16="http://schemas.microsoft.com/office/drawing/2014/main" id="{0DD69345-8410-4C8A-A2ED-43FA8A6D1ACA}"/>
              </a:ext>
            </a:extLst>
          </p:cNvPr>
          <p:cNvSpPr txBox="1">
            <a:spLocks noChangeArrowheads="1"/>
          </p:cNvSpPr>
          <p:nvPr/>
        </p:nvSpPr>
        <p:spPr bwMode="auto">
          <a:xfrm>
            <a:off x="755650" y="24622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b="0">
                <a:ea typeface="方正准圆简体" pitchFamily="2" charset="-122"/>
              </a:rPr>
              <a:t>23</a:t>
            </a:r>
          </a:p>
        </p:txBody>
      </p:sp>
      <p:sp>
        <p:nvSpPr>
          <p:cNvPr id="34846" name="Text Box 98">
            <a:extLst>
              <a:ext uri="{FF2B5EF4-FFF2-40B4-BE49-F238E27FC236}">
                <a16:creationId xmlns:a16="http://schemas.microsoft.com/office/drawing/2014/main" id="{184A5EE1-0DBE-435F-B006-D6EBCECC1301}"/>
              </a:ext>
            </a:extLst>
          </p:cNvPr>
          <p:cNvSpPr txBox="1">
            <a:spLocks noChangeArrowheads="1"/>
          </p:cNvSpPr>
          <p:nvPr/>
        </p:nvSpPr>
        <p:spPr bwMode="auto">
          <a:xfrm>
            <a:off x="1011238" y="5951538"/>
            <a:ext cx="4937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lang="zh-CN" altLang="en-US" sz="1600" b="1" dirty="0">
                <a:solidFill>
                  <a:srgbClr val="660066"/>
                </a:solidFill>
                <a:latin typeface="+mn-ea"/>
                <a:ea typeface="+mn-ea"/>
              </a:rPr>
              <a:t>组</a:t>
            </a:r>
            <a:r>
              <a:rPr lang="en-US" altLang="zh-CN" sz="1600" b="1" dirty="0">
                <a:solidFill>
                  <a:srgbClr val="660066"/>
                </a:solidFill>
                <a:latin typeface="+mn-ea"/>
                <a:ea typeface="+mn-ea"/>
              </a:rPr>
              <a:t>3</a:t>
            </a:r>
          </a:p>
        </p:txBody>
      </p:sp>
      <p:sp>
        <p:nvSpPr>
          <p:cNvPr id="53276" name="Rectangle 101">
            <a:extLst>
              <a:ext uri="{FF2B5EF4-FFF2-40B4-BE49-F238E27FC236}">
                <a16:creationId xmlns:a16="http://schemas.microsoft.com/office/drawing/2014/main" id="{82511BAF-644D-465D-9563-4431F4B8D33C}"/>
              </a:ext>
            </a:extLst>
          </p:cNvPr>
          <p:cNvSpPr>
            <a:spLocks noChangeArrowheads="1"/>
          </p:cNvSpPr>
          <p:nvPr/>
        </p:nvSpPr>
        <p:spPr bwMode="auto">
          <a:xfrm>
            <a:off x="2122488" y="3284538"/>
            <a:ext cx="2493962" cy="288925"/>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1</a:t>
            </a:r>
          </a:p>
        </p:txBody>
      </p:sp>
      <p:sp>
        <p:nvSpPr>
          <p:cNvPr id="53277" name="Rectangle 102">
            <a:extLst>
              <a:ext uri="{FF2B5EF4-FFF2-40B4-BE49-F238E27FC236}">
                <a16:creationId xmlns:a16="http://schemas.microsoft.com/office/drawing/2014/main" id="{A858A209-EC53-433D-83FF-6438BB014C5A}"/>
              </a:ext>
            </a:extLst>
          </p:cNvPr>
          <p:cNvSpPr>
            <a:spLocks noChangeArrowheads="1"/>
          </p:cNvSpPr>
          <p:nvPr/>
        </p:nvSpPr>
        <p:spPr bwMode="auto">
          <a:xfrm>
            <a:off x="1687513" y="3284538"/>
            <a:ext cx="433387" cy="576262"/>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3278" name="Rectangle 103">
            <a:extLst>
              <a:ext uri="{FF2B5EF4-FFF2-40B4-BE49-F238E27FC236}">
                <a16:creationId xmlns:a16="http://schemas.microsoft.com/office/drawing/2014/main" id="{54CD4113-6C10-4748-B302-AED2148DD11D}"/>
              </a:ext>
            </a:extLst>
          </p:cNvPr>
          <p:cNvSpPr>
            <a:spLocks noChangeArrowheads="1"/>
          </p:cNvSpPr>
          <p:nvPr/>
        </p:nvSpPr>
        <p:spPr bwMode="auto">
          <a:xfrm>
            <a:off x="2122488" y="3573463"/>
            <a:ext cx="2493962" cy="287337"/>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2</a:t>
            </a:r>
          </a:p>
        </p:txBody>
      </p:sp>
      <p:sp>
        <p:nvSpPr>
          <p:cNvPr id="53279" name="Rectangle 104">
            <a:extLst>
              <a:ext uri="{FF2B5EF4-FFF2-40B4-BE49-F238E27FC236}">
                <a16:creationId xmlns:a16="http://schemas.microsoft.com/office/drawing/2014/main" id="{F85D1C9C-ECE1-4DD0-B73A-7C8B1DB952ED}"/>
              </a:ext>
            </a:extLst>
          </p:cNvPr>
          <p:cNvSpPr>
            <a:spLocks noChangeArrowheads="1"/>
          </p:cNvSpPr>
          <p:nvPr/>
        </p:nvSpPr>
        <p:spPr bwMode="auto">
          <a:xfrm>
            <a:off x="1689100" y="3573463"/>
            <a:ext cx="433388" cy="576262"/>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3280" name="Rectangle 105">
            <a:extLst>
              <a:ext uri="{FF2B5EF4-FFF2-40B4-BE49-F238E27FC236}">
                <a16:creationId xmlns:a16="http://schemas.microsoft.com/office/drawing/2014/main" id="{B4B28BA9-5A40-452D-8581-7C4278BDFBFA}"/>
              </a:ext>
            </a:extLst>
          </p:cNvPr>
          <p:cNvSpPr>
            <a:spLocks noChangeArrowheads="1"/>
          </p:cNvSpPr>
          <p:nvPr/>
        </p:nvSpPr>
        <p:spPr bwMode="auto">
          <a:xfrm>
            <a:off x="2122488" y="3860800"/>
            <a:ext cx="2493962" cy="288925"/>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1600">
                <a:solidFill>
                  <a:schemeClr val="bg1"/>
                </a:solidFill>
                <a:ea typeface="方正准圆简体" pitchFamily="2" charset="-122"/>
              </a:rPr>
              <a:t>Tag 3</a:t>
            </a:r>
          </a:p>
        </p:txBody>
      </p:sp>
      <p:sp>
        <p:nvSpPr>
          <p:cNvPr id="53281" name="Rectangle 106">
            <a:extLst>
              <a:ext uri="{FF2B5EF4-FFF2-40B4-BE49-F238E27FC236}">
                <a16:creationId xmlns:a16="http://schemas.microsoft.com/office/drawing/2014/main" id="{705832BC-E182-45C3-BB51-0D44261F55E0}"/>
              </a:ext>
            </a:extLst>
          </p:cNvPr>
          <p:cNvSpPr>
            <a:spLocks noChangeArrowheads="1"/>
          </p:cNvSpPr>
          <p:nvPr/>
        </p:nvSpPr>
        <p:spPr bwMode="auto">
          <a:xfrm>
            <a:off x="1689100" y="3860800"/>
            <a:ext cx="433388" cy="576263"/>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3282" name="Rectangle 107">
            <a:extLst>
              <a:ext uri="{FF2B5EF4-FFF2-40B4-BE49-F238E27FC236}">
                <a16:creationId xmlns:a16="http://schemas.microsoft.com/office/drawing/2014/main" id="{ACE7EBBC-D174-4B11-B743-66B7C276B49F}"/>
              </a:ext>
            </a:extLst>
          </p:cNvPr>
          <p:cNvSpPr>
            <a:spLocks noChangeArrowheads="1"/>
          </p:cNvSpPr>
          <p:nvPr/>
        </p:nvSpPr>
        <p:spPr bwMode="auto">
          <a:xfrm>
            <a:off x="2122488" y="4148138"/>
            <a:ext cx="2493962" cy="361950"/>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b="0">
                <a:solidFill>
                  <a:schemeClr val="bg1"/>
                </a:solidFill>
                <a:ea typeface="方正准圆简体" pitchFamily="2" charset="-122"/>
              </a:rPr>
              <a:t>……</a:t>
            </a:r>
          </a:p>
        </p:txBody>
      </p:sp>
      <p:sp>
        <p:nvSpPr>
          <p:cNvPr id="53283" name="Rectangle 108">
            <a:extLst>
              <a:ext uri="{FF2B5EF4-FFF2-40B4-BE49-F238E27FC236}">
                <a16:creationId xmlns:a16="http://schemas.microsoft.com/office/drawing/2014/main" id="{BBB76ED7-CC80-4860-B0D0-D6A9246ABEBA}"/>
              </a:ext>
            </a:extLst>
          </p:cNvPr>
          <p:cNvSpPr>
            <a:spLocks noChangeArrowheads="1"/>
          </p:cNvSpPr>
          <p:nvPr/>
        </p:nvSpPr>
        <p:spPr bwMode="auto">
          <a:xfrm>
            <a:off x="1689100" y="4148138"/>
            <a:ext cx="433388" cy="361950"/>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3284" name="Rectangle 109">
            <a:extLst>
              <a:ext uri="{FF2B5EF4-FFF2-40B4-BE49-F238E27FC236}">
                <a16:creationId xmlns:a16="http://schemas.microsoft.com/office/drawing/2014/main" id="{9A8A8CA6-1EA5-44B7-90DE-EC4C747ACCAD}"/>
              </a:ext>
            </a:extLst>
          </p:cNvPr>
          <p:cNvSpPr>
            <a:spLocks noChangeArrowheads="1"/>
          </p:cNvSpPr>
          <p:nvPr/>
        </p:nvSpPr>
        <p:spPr bwMode="auto">
          <a:xfrm>
            <a:off x="2122488" y="4508500"/>
            <a:ext cx="2493962" cy="287338"/>
          </a:xfrm>
          <a:prstGeom prst="rect">
            <a:avLst/>
          </a:prstGeom>
          <a:solidFill>
            <a:srgbClr val="009900"/>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3285" name="Rectangle 110">
            <a:extLst>
              <a:ext uri="{FF2B5EF4-FFF2-40B4-BE49-F238E27FC236}">
                <a16:creationId xmlns:a16="http://schemas.microsoft.com/office/drawing/2014/main" id="{4A305483-E02C-4464-AF9E-4A931F33F4DD}"/>
              </a:ext>
            </a:extLst>
          </p:cNvPr>
          <p:cNvSpPr>
            <a:spLocks noChangeArrowheads="1"/>
          </p:cNvSpPr>
          <p:nvPr/>
        </p:nvSpPr>
        <p:spPr bwMode="auto">
          <a:xfrm>
            <a:off x="1689100" y="4508500"/>
            <a:ext cx="433388" cy="287338"/>
          </a:xfrm>
          <a:prstGeom prst="rect">
            <a:avLst/>
          </a:prstGeom>
          <a:solidFill>
            <a:srgbClr val="33CCCC"/>
          </a:solidFill>
          <a:ln w="19050" algn="ctr">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4859" name="Text Box 111">
            <a:extLst>
              <a:ext uri="{FF2B5EF4-FFF2-40B4-BE49-F238E27FC236}">
                <a16:creationId xmlns:a16="http://schemas.microsoft.com/office/drawing/2014/main" id="{0B262AA4-F897-49C8-9779-A922F12A28B5}"/>
              </a:ext>
            </a:extLst>
          </p:cNvPr>
          <p:cNvSpPr txBox="1">
            <a:spLocks noChangeArrowheads="1"/>
          </p:cNvSpPr>
          <p:nvPr/>
        </p:nvSpPr>
        <p:spPr bwMode="auto">
          <a:xfrm>
            <a:off x="987425" y="3467100"/>
            <a:ext cx="492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lang="zh-CN" altLang="en-US" sz="1600" b="1" dirty="0">
                <a:latin typeface="+mn-ea"/>
                <a:ea typeface="+mn-ea"/>
              </a:rPr>
              <a:t>组</a:t>
            </a:r>
            <a:r>
              <a:rPr lang="en-US" altLang="zh-CN" sz="1600" b="1" dirty="0">
                <a:latin typeface="+mn-ea"/>
                <a:ea typeface="+mn-ea"/>
              </a:rPr>
              <a:t>0</a:t>
            </a:r>
          </a:p>
        </p:txBody>
      </p:sp>
      <p:sp>
        <p:nvSpPr>
          <p:cNvPr id="53287" name="Text Box 115">
            <a:extLst>
              <a:ext uri="{FF2B5EF4-FFF2-40B4-BE49-F238E27FC236}">
                <a16:creationId xmlns:a16="http://schemas.microsoft.com/office/drawing/2014/main" id="{8546CA83-37E4-4771-BA88-C9DD35462B3E}"/>
              </a:ext>
            </a:extLst>
          </p:cNvPr>
          <p:cNvSpPr txBox="1">
            <a:spLocks noChangeArrowheads="1"/>
          </p:cNvSpPr>
          <p:nvPr/>
        </p:nvSpPr>
        <p:spPr bwMode="auto">
          <a:xfrm>
            <a:off x="395288" y="3860800"/>
            <a:ext cx="1144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lang="en-US" altLang="zh-CN" sz="1600" b="1">
                <a:ea typeface="楷体_GB2312" pitchFamily="49" charset="-122"/>
              </a:rPr>
              <a:t>Cache</a:t>
            </a:r>
            <a:r>
              <a:rPr lang="zh-CN" altLang="en-US" sz="1600" b="1">
                <a:latin typeface="楷体_GB2312" pitchFamily="49" charset="-122"/>
                <a:ea typeface="楷体_GB2312" pitchFamily="49" charset="-122"/>
              </a:rPr>
              <a:t>目录</a:t>
            </a:r>
          </a:p>
        </p:txBody>
      </p:sp>
      <p:sp>
        <p:nvSpPr>
          <p:cNvPr id="53288" name="Line 117">
            <a:extLst>
              <a:ext uri="{FF2B5EF4-FFF2-40B4-BE49-F238E27FC236}">
                <a16:creationId xmlns:a16="http://schemas.microsoft.com/office/drawing/2014/main" id="{D1D7E5AD-44B1-463E-8F18-270410116159}"/>
              </a:ext>
            </a:extLst>
          </p:cNvPr>
          <p:cNvSpPr>
            <a:spLocks noChangeShapeType="1"/>
          </p:cNvSpPr>
          <p:nvPr/>
        </p:nvSpPr>
        <p:spPr bwMode="auto">
          <a:xfrm flipH="1">
            <a:off x="4616450" y="3862388"/>
            <a:ext cx="2449513" cy="121761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89" name="Line 118">
            <a:extLst>
              <a:ext uri="{FF2B5EF4-FFF2-40B4-BE49-F238E27FC236}">
                <a16:creationId xmlns:a16="http://schemas.microsoft.com/office/drawing/2014/main" id="{A1ACFA36-44D0-4477-8300-BFE291B18F03}"/>
              </a:ext>
            </a:extLst>
          </p:cNvPr>
          <p:cNvSpPr>
            <a:spLocks noChangeShapeType="1"/>
          </p:cNvSpPr>
          <p:nvPr/>
        </p:nvSpPr>
        <p:spPr bwMode="auto">
          <a:xfrm flipH="1">
            <a:off x="4616450" y="5213350"/>
            <a:ext cx="2449513" cy="188913"/>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3290" name="Line 119">
            <a:extLst>
              <a:ext uri="{FF2B5EF4-FFF2-40B4-BE49-F238E27FC236}">
                <a16:creationId xmlns:a16="http://schemas.microsoft.com/office/drawing/2014/main" id="{5CAA9614-F2E1-48A5-915A-F80A1892AC61}"/>
              </a:ext>
            </a:extLst>
          </p:cNvPr>
          <p:cNvSpPr>
            <a:spLocks noChangeShapeType="1"/>
          </p:cNvSpPr>
          <p:nvPr/>
        </p:nvSpPr>
        <p:spPr bwMode="auto">
          <a:xfrm>
            <a:off x="4138613" y="2986088"/>
            <a:ext cx="0" cy="153987"/>
          </a:xfrm>
          <a:prstGeom prst="line">
            <a:avLst/>
          </a:prstGeom>
          <a:noFill/>
          <a:ln w="31750">
            <a:solidFill>
              <a:srgbClr val="FF0000"/>
            </a:solidFill>
            <a:round/>
            <a:headEnd/>
            <a:tailEnd/>
          </a:ln>
          <a:effectLst>
            <a:outerShdw blurRad="50800" dist="50800" dir="5400000" algn="ctr" rotWithShape="0">
              <a:schemeClr val="tx1">
                <a:lumMod val="50000"/>
                <a:lumOff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53291" name="Line 120">
            <a:extLst>
              <a:ext uri="{FF2B5EF4-FFF2-40B4-BE49-F238E27FC236}">
                <a16:creationId xmlns:a16="http://schemas.microsoft.com/office/drawing/2014/main" id="{A32C3B7C-E771-4367-BC54-6B3D6D9D4425}"/>
              </a:ext>
            </a:extLst>
          </p:cNvPr>
          <p:cNvSpPr>
            <a:spLocks noChangeShapeType="1"/>
          </p:cNvSpPr>
          <p:nvPr/>
        </p:nvSpPr>
        <p:spPr bwMode="auto">
          <a:xfrm flipH="1">
            <a:off x="900113" y="3140075"/>
            <a:ext cx="3238500" cy="0"/>
          </a:xfrm>
          <a:prstGeom prst="line">
            <a:avLst/>
          </a:prstGeom>
          <a:noFill/>
          <a:ln w="31750">
            <a:solidFill>
              <a:srgbClr val="FF0000"/>
            </a:solidFill>
            <a:round/>
            <a:headEnd/>
            <a:tailEnd/>
          </a:ln>
          <a:effectLst>
            <a:outerShdw blurRad="50800" dist="50800" dir="5400000" algn="ctr" rotWithShape="0">
              <a:schemeClr val="tx1">
                <a:lumMod val="50000"/>
                <a:lumOff val="50000"/>
              </a:schemeClr>
            </a:outerShdw>
          </a:effectLst>
          <a:extLst>
            <a:ext uri="{909E8E84-426E-40DD-AFC4-6F175D3DCCD1}">
              <a14:hiddenFill xmlns:a14="http://schemas.microsoft.com/office/drawing/2010/main">
                <a:noFill/>
              </a14:hiddenFill>
            </a:ext>
          </a:extLst>
        </p:spPr>
        <p:txBody>
          <a:bodyPr/>
          <a:lstStyle/>
          <a:p>
            <a:endParaRPr lang="zh-CN" altLang="en-US"/>
          </a:p>
        </p:txBody>
      </p:sp>
      <p:sp>
        <p:nvSpPr>
          <p:cNvPr id="53292" name="Line 121">
            <a:extLst>
              <a:ext uri="{FF2B5EF4-FFF2-40B4-BE49-F238E27FC236}">
                <a16:creationId xmlns:a16="http://schemas.microsoft.com/office/drawing/2014/main" id="{14DA2587-4AF5-4CF3-BF18-D76F1BF28D12}"/>
              </a:ext>
            </a:extLst>
          </p:cNvPr>
          <p:cNvSpPr>
            <a:spLocks noChangeShapeType="1"/>
          </p:cNvSpPr>
          <p:nvPr/>
        </p:nvSpPr>
        <p:spPr bwMode="auto">
          <a:xfrm>
            <a:off x="900113" y="3151188"/>
            <a:ext cx="0" cy="34925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93" name="Line 122">
            <a:extLst>
              <a:ext uri="{FF2B5EF4-FFF2-40B4-BE49-F238E27FC236}">
                <a16:creationId xmlns:a16="http://schemas.microsoft.com/office/drawing/2014/main" id="{D7439537-B1B0-4462-9263-D1F305EB0FB3}"/>
              </a:ext>
            </a:extLst>
          </p:cNvPr>
          <p:cNvSpPr>
            <a:spLocks noChangeShapeType="1"/>
          </p:cNvSpPr>
          <p:nvPr/>
        </p:nvSpPr>
        <p:spPr bwMode="auto">
          <a:xfrm>
            <a:off x="900113" y="3500438"/>
            <a:ext cx="430212" cy="0"/>
          </a:xfrm>
          <a:prstGeom prst="line">
            <a:avLst/>
          </a:prstGeom>
          <a:noFill/>
          <a:ln w="317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3294" name="Line 123">
            <a:extLst>
              <a:ext uri="{FF2B5EF4-FFF2-40B4-BE49-F238E27FC236}">
                <a16:creationId xmlns:a16="http://schemas.microsoft.com/office/drawing/2014/main" id="{5F67783A-98DF-4881-84C4-E099DE387272}"/>
              </a:ext>
            </a:extLst>
          </p:cNvPr>
          <p:cNvSpPr>
            <a:spLocks noChangeShapeType="1"/>
          </p:cNvSpPr>
          <p:nvPr/>
        </p:nvSpPr>
        <p:spPr bwMode="auto">
          <a:xfrm flipH="1">
            <a:off x="4616450" y="4868863"/>
            <a:ext cx="2449513" cy="146526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2822" name="Text Box 124">
            <a:extLst>
              <a:ext uri="{FF2B5EF4-FFF2-40B4-BE49-F238E27FC236}">
                <a16:creationId xmlns:a16="http://schemas.microsoft.com/office/drawing/2014/main" id="{0FBE99C1-7D98-47D7-8789-1FD96695A5B3}"/>
              </a:ext>
            </a:extLst>
          </p:cNvPr>
          <p:cNvSpPr txBox="1">
            <a:spLocks noChangeArrowheads="1"/>
          </p:cNvSpPr>
          <p:nvPr/>
        </p:nvSpPr>
        <p:spPr bwMode="auto">
          <a:xfrm>
            <a:off x="7624763" y="1844675"/>
            <a:ext cx="803275" cy="461963"/>
          </a:xfrm>
          <a:prstGeom prst="rect">
            <a:avLst/>
          </a:prstGeom>
          <a:noFill/>
          <a:ln w="69850" algn="ctr">
            <a:noFill/>
            <a:miter lim="800000"/>
            <a:headEnd/>
            <a:tailEnd/>
          </a:ln>
        </p:spPr>
        <p:txBody>
          <a:bodyPr wrap="none">
            <a:spAutoFit/>
          </a:bodyPr>
          <a:lstStyle/>
          <a:p>
            <a:pPr eaLnBrk="1" hangingPunct="1">
              <a:defRPr/>
            </a:pPr>
            <a:r>
              <a:rPr lang="zh-CN" altLang="en-US" sz="2400" b="1" dirty="0">
                <a:latin typeface="楷体" panose="02010609060101010101" pitchFamily="49" charset="-122"/>
                <a:ea typeface="楷体" panose="02010609060101010101" pitchFamily="49" charset="-122"/>
              </a:rPr>
              <a:t>主存</a:t>
            </a:r>
          </a:p>
        </p:txBody>
      </p:sp>
      <p:sp>
        <p:nvSpPr>
          <p:cNvPr id="53296" name="Freeform 127">
            <a:extLst>
              <a:ext uri="{FF2B5EF4-FFF2-40B4-BE49-F238E27FC236}">
                <a16:creationId xmlns:a16="http://schemas.microsoft.com/office/drawing/2014/main" id="{B172403C-5140-4F15-9D6E-C50DAF29933B}"/>
              </a:ext>
            </a:extLst>
          </p:cNvPr>
          <p:cNvSpPr>
            <a:spLocks/>
          </p:cNvSpPr>
          <p:nvPr/>
        </p:nvSpPr>
        <p:spPr bwMode="auto">
          <a:xfrm>
            <a:off x="4778375" y="2997200"/>
            <a:ext cx="969963" cy="2239963"/>
          </a:xfrm>
          <a:custGeom>
            <a:avLst/>
            <a:gdLst>
              <a:gd name="T0" fmla="*/ 2147483646 w 560"/>
              <a:gd name="T1" fmla="*/ 0 h 1270"/>
              <a:gd name="T2" fmla="*/ 2147483646 w 560"/>
              <a:gd name="T3" fmla="*/ 2147483646 h 1270"/>
              <a:gd name="T4" fmla="*/ 2147483646 w 560"/>
              <a:gd name="T5" fmla="*/ 2147483646 h 1270"/>
              <a:gd name="T6" fmla="*/ 0 w 560"/>
              <a:gd name="T7" fmla="*/ 2147483646 h 1270"/>
              <a:gd name="T8" fmla="*/ 0 60000 65536"/>
              <a:gd name="T9" fmla="*/ 0 60000 65536"/>
              <a:gd name="T10" fmla="*/ 0 60000 65536"/>
              <a:gd name="T11" fmla="*/ 0 60000 65536"/>
              <a:gd name="T12" fmla="*/ 0 w 560"/>
              <a:gd name="T13" fmla="*/ 0 h 1270"/>
              <a:gd name="T14" fmla="*/ 560 w 560"/>
              <a:gd name="T15" fmla="*/ 1270 h 1270"/>
            </a:gdLst>
            <a:ahLst/>
            <a:cxnLst>
              <a:cxn ang="T8">
                <a:pos x="T0" y="T1"/>
              </a:cxn>
              <a:cxn ang="T9">
                <a:pos x="T2" y="T3"/>
              </a:cxn>
              <a:cxn ang="T10">
                <a:pos x="T4" y="T5"/>
              </a:cxn>
              <a:cxn ang="T11">
                <a:pos x="T6" y="T7"/>
              </a:cxn>
            </a:cxnLst>
            <a:rect l="T12" t="T13" r="T14" b="T15"/>
            <a:pathLst>
              <a:path w="560" h="1270">
                <a:moveTo>
                  <a:pt x="545" y="0"/>
                </a:moveTo>
                <a:cubicBezTo>
                  <a:pt x="552" y="68"/>
                  <a:pt x="560" y="136"/>
                  <a:pt x="545" y="272"/>
                </a:cubicBezTo>
                <a:cubicBezTo>
                  <a:pt x="530" y="408"/>
                  <a:pt x="545" y="650"/>
                  <a:pt x="454" y="816"/>
                </a:cubicBezTo>
                <a:cubicBezTo>
                  <a:pt x="363" y="982"/>
                  <a:pt x="76" y="1194"/>
                  <a:pt x="0" y="1270"/>
                </a:cubicBezTo>
              </a:path>
            </a:pathLst>
          </a:custGeom>
          <a:noFill/>
          <a:ln w="31750">
            <a:solidFill>
              <a:srgbClr val="9900CC"/>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弧形 1">
            <a:extLst>
              <a:ext uri="{FF2B5EF4-FFF2-40B4-BE49-F238E27FC236}">
                <a16:creationId xmlns:a16="http://schemas.microsoft.com/office/drawing/2014/main" id="{C128DC6E-6359-49B5-B248-BB94CA7E2DCC}"/>
              </a:ext>
            </a:extLst>
          </p:cNvPr>
          <p:cNvSpPr/>
          <p:nvPr/>
        </p:nvSpPr>
        <p:spPr bwMode="auto">
          <a:xfrm flipH="1">
            <a:off x="1463675" y="4935538"/>
            <a:ext cx="439738" cy="460375"/>
          </a:xfrm>
          <a:prstGeom prst="arc">
            <a:avLst>
              <a:gd name="adj1" fmla="val 16200000"/>
              <a:gd name="adj2" fmla="val 5175570"/>
            </a:avLst>
          </a:prstGeom>
          <a:noFill/>
          <a:ln w="22225" cap="flat" cmpd="sng" algn="ctr">
            <a:solidFill>
              <a:srgbClr val="800080"/>
            </a:solidFill>
            <a:prstDash val="solid"/>
            <a:miter lim="800000"/>
            <a:headEnd type="none" w="med" len="med"/>
            <a:tailEnd type="none" w="med" len="med"/>
          </a:ln>
          <a:effectLst/>
        </p:spPr>
        <p:txBody>
          <a:bodyPr/>
          <a:lstStyle/>
          <a:p>
            <a:pPr algn="ctr" eaLnBrk="1" hangingPunct="1">
              <a:spcBef>
                <a:spcPct val="20000"/>
              </a:spcBef>
              <a:buFont typeface="Wingdings" panose="05000000000000000000" pitchFamily="2" charset="2"/>
              <a:buNone/>
              <a:defRPr/>
            </a:pPr>
            <a:endParaRPr lang="zh-CN" altLang="en-US">
              <a:ea typeface="黑体" pitchFamily="2" charset="-122"/>
            </a:endParaRPr>
          </a:p>
        </p:txBody>
      </p:sp>
      <p:sp>
        <p:nvSpPr>
          <p:cNvPr id="75" name="弧形 74">
            <a:extLst>
              <a:ext uri="{FF2B5EF4-FFF2-40B4-BE49-F238E27FC236}">
                <a16:creationId xmlns:a16="http://schemas.microsoft.com/office/drawing/2014/main" id="{FD31D5B7-F610-4587-A83B-3725F5F640B3}"/>
              </a:ext>
            </a:extLst>
          </p:cNvPr>
          <p:cNvSpPr/>
          <p:nvPr/>
        </p:nvSpPr>
        <p:spPr bwMode="auto">
          <a:xfrm flipH="1">
            <a:off x="1471613" y="5922963"/>
            <a:ext cx="407987" cy="460375"/>
          </a:xfrm>
          <a:prstGeom prst="arc">
            <a:avLst>
              <a:gd name="adj1" fmla="val 16200000"/>
              <a:gd name="adj2" fmla="val 5175570"/>
            </a:avLst>
          </a:prstGeom>
          <a:noFill/>
          <a:ln w="22225" cap="flat" cmpd="sng" algn="ctr">
            <a:solidFill>
              <a:srgbClr val="800080"/>
            </a:solidFill>
            <a:prstDash val="solid"/>
            <a:miter lim="800000"/>
            <a:headEnd type="none" w="med" len="med"/>
            <a:tailEnd type="none" w="med" len="med"/>
          </a:ln>
          <a:effectLst/>
        </p:spPr>
        <p:txBody>
          <a:bodyPr/>
          <a:lstStyle/>
          <a:p>
            <a:pPr algn="ctr" eaLnBrk="1" hangingPunct="1">
              <a:spcBef>
                <a:spcPct val="20000"/>
              </a:spcBef>
              <a:buFont typeface="Wingdings" panose="05000000000000000000" pitchFamily="2" charset="2"/>
              <a:buNone/>
              <a:defRPr/>
            </a:pPr>
            <a:endParaRPr lang="zh-CN" altLang="en-US">
              <a:ea typeface="黑体" pitchFamily="2" charset="-122"/>
            </a:endParaRPr>
          </a:p>
        </p:txBody>
      </p:sp>
      <p:sp>
        <p:nvSpPr>
          <p:cNvPr id="76" name="Text Box 98">
            <a:extLst>
              <a:ext uri="{FF2B5EF4-FFF2-40B4-BE49-F238E27FC236}">
                <a16:creationId xmlns:a16="http://schemas.microsoft.com/office/drawing/2014/main" id="{E9F657D5-BA64-4190-9E10-8949D9539E46}"/>
              </a:ext>
            </a:extLst>
          </p:cNvPr>
          <p:cNvSpPr txBox="1">
            <a:spLocks noChangeArrowheads="1"/>
          </p:cNvSpPr>
          <p:nvPr/>
        </p:nvSpPr>
        <p:spPr bwMode="auto">
          <a:xfrm>
            <a:off x="1008063" y="4987925"/>
            <a:ext cx="4968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lang="zh-CN" altLang="en-US" sz="1600" b="1" dirty="0">
                <a:solidFill>
                  <a:srgbClr val="660066"/>
                </a:solidFill>
                <a:latin typeface="+mn-ea"/>
                <a:ea typeface="+mn-ea"/>
              </a:rPr>
              <a:t>组</a:t>
            </a:r>
            <a:r>
              <a:rPr lang="en-US" altLang="zh-CN" sz="1600" b="1" dirty="0">
                <a:solidFill>
                  <a:srgbClr val="660066"/>
                </a:solidFill>
                <a:latin typeface="+mn-ea"/>
                <a:ea typeface="+mn-ea"/>
              </a:rPr>
              <a:t>0</a:t>
            </a:r>
          </a:p>
        </p:txBody>
      </p:sp>
      <p:sp>
        <p:nvSpPr>
          <p:cNvPr id="95" name="弧形 94">
            <a:extLst>
              <a:ext uri="{FF2B5EF4-FFF2-40B4-BE49-F238E27FC236}">
                <a16:creationId xmlns:a16="http://schemas.microsoft.com/office/drawing/2014/main" id="{3B6D8A44-FF21-42BE-B173-FBCAD6EE1D97}"/>
              </a:ext>
            </a:extLst>
          </p:cNvPr>
          <p:cNvSpPr/>
          <p:nvPr/>
        </p:nvSpPr>
        <p:spPr bwMode="auto">
          <a:xfrm flipH="1">
            <a:off x="1462088" y="3343275"/>
            <a:ext cx="406400" cy="460375"/>
          </a:xfrm>
          <a:prstGeom prst="arc">
            <a:avLst>
              <a:gd name="adj1" fmla="val 16200000"/>
              <a:gd name="adj2" fmla="val 5175570"/>
            </a:avLst>
          </a:prstGeom>
          <a:noFill/>
          <a:ln w="22225" cap="flat" cmpd="sng" algn="ctr">
            <a:solidFill>
              <a:srgbClr val="008000"/>
            </a:solidFill>
            <a:prstDash val="solid"/>
            <a:miter lim="800000"/>
            <a:headEnd type="none" w="med" len="med"/>
            <a:tailEnd type="none" w="med" len="med"/>
          </a:ln>
          <a:effectLst/>
        </p:spPr>
        <p:txBody>
          <a:bodyPr/>
          <a:lstStyle/>
          <a:p>
            <a:pPr algn="ctr" eaLnBrk="1" hangingPunct="1">
              <a:spcBef>
                <a:spcPct val="20000"/>
              </a:spcBef>
              <a:buFont typeface="Wingdings" panose="05000000000000000000" pitchFamily="2" charset="2"/>
              <a:buNone/>
              <a:defRPr/>
            </a:pPr>
            <a:endParaRPr lang="zh-CN" altLang="en-US">
              <a:ea typeface="黑体" pitchFamily="2" charset="-122"/>
            </a:endParaRPr>
          </a:p>
        </p:txBody>
      </p:sp>
      <p:sp>
        <p:nvSpPr>
          <p:cNvPr id="96" name="弧形 95">
            <a:extLst>
              <a:ext uri="{FF2B5EF4-FFF2-40B4-BE49-F238E27FC236}">
                <a16:creationId xmlns:a16="http://schemas.microsoft.com/office/drawing/2014/main" id="{DE53815B-95A7-47C7-8D92-B98CD2387ECC}"/>
              </a:ext>
            </a:extLst>
          </p:cNvPr>
          <p:cNvSpPr/>
          <p:nvPr/>
        </p:nvSpPr>
        <p:spPr bwMode="auto">
          <a:xfrm flipH="1">
            <a:off x="1470025" y="4267200"/>
            <a:ext cx="406400" cy="460375"/>
          </a:xfrm>
          <a:prstGeom prst="arc">
            <a:avLst>
              <a:gd name="adj1" fmla="val 16200000"/>
              <a:gd name="adj2" fmla="val 5175570"/>
            </a:avLst>
          </a:prstGeom>
          <a:noFill/>
          <a:ln w="22225" cap="flat" cmpd="sng" algn="ctr">
            <a:solidFill>
              <a:srgbClr val="008000"/>
            </a:solidFill>
            <a:prstDash val="solid"/>
            <a:miter lim="800000"/>
            <a:headEnd type="none" w="med" len="med"/>
            <a:tailEnd type="none" w="med" len="med"/>
          </a:ln>
          <a:effectLst/>
        </p:spPr>
        <p:txBody>
          <a:bodyPr/>
          <a:lstStyle/>
          <a:p>
            <a:pPr algn="ctr" eaLnBrk="1" hangingPunct="1">
              <a:spcBef>
                <a:spcPct val="20000"/>
              </a:spcBef>
              <a:buFont typeface="Wingdings" panose="05000000000000000000" pitchFamily="2" charset="2"/>
              <a:buNone/>
              <a:defRPr/>
            </a:pPr>
            <a:endParaRPr lang="zh-CN" altLang="en-US">
              <a:ea typeface="黑体" pitchFamily="2" charset="-122"/>
            </a:endParaRPr>
          </a:p>
        </p:txBody>
      </p:sp>
      <p:sp>
        <p:nvSpPr>
          <p:cNvPr id="97" name="Text Box 111">
            <a:extLst>
              <a:ext uri="{FF2B5EF4-FFF2-40B4-BE49-F238E27FC236}">
                <a16:creationId xmlns:a16="http://schemas.microsoft.com/office/drawing/2014/main" id="{C71E8EA9-AE5C-41FA-9AF3-9E05B5E7F63D}"/>
              </a:ext>
            </a:extLst>
          </p:cNvPr>
          <p:cNvSpPr txBox="1">
            <a:spLocks noChangeArrowheads="1"/>
          </p:cNvSpPr>
          <p:nvPr/>
        </p:nvSpPr>
        <p:spPr bwMode="auto">
          <a:xfrm>
            <a:off x="982663" y="4329113"/>
            <a:ext cx="4937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lang="zh-CN" altLang="en-US" sz="1600" b="1" dirty="0">
                <a:latin typeface="+mn-ea"/>
                <a:ea typeface="+mn-ea"/>
              </a:rPr>
              <a:t>组</a:t>
            </a:r>
            <a:r>
              <a:rPr lang="en-US" altLang="zh-CN" sz="1600" b="1" dirty="0">
                <a:latin typeface="+mn-ea"/>
                <a:ea typeface="+mn-ea"/>
              </a:rPr>
              <a:t>3</a:t>
            </a:r>
          </a:p>
        </p:txBody>
      </p:sp>
      <p:sp>
        <p:nvSpPr>
          <p:cNvPr id="53303" name="Text Box 49">
            <a:extLst>
              <a:ext uri="{FF2B5EF4-FFF2-40B4-BE49-F238E27FC236}">
                <a16:creationId xmlns:a16="http://schemas.microsoft.com/office/drawing/2014/main" id="{A6BE9601-CB48-4165-AE8B-9A587C9D99FF}"/>
              </a:ext>
            </a:extLst>
          </p:cNvPr>
          <p:cNvSpPr txBox="1">
            <a:spLocks noChangeArrowheads="1"/>
          </p:cNvSpPr>
          <p:nvPr/>
        </p:nvSpPr>
        <p:spPr bwMode="auto">
          <a:xfrm>
            <a:off x="395288" y="5326063"/>
            <a:ext cx="1109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600">
                <a:latin typeface="楷体_GB2312" pitchFamily="49" charset="-122"/>
              </a:rPr>
              <a:t>Cache</a:t>
            </a:r>
            <a:r>
              <a:rPr lang="zh-CN" altLang="en-US" sz="1600">
                <a:latin typeface="楷体_GB2312" pitchFamily="49" charset="-122"/>
              </a:rPr>
              <a:t>数据</a:t>
            </a:r>
          </a:p>
        </p:txBody>
      </p:sp>
      <p:grpSp>
        <p:nvGrpSpPr>
          <p:cNvPr id="53304" name="Group 96">
            <a:extLst>
              <a:ext uri="{FF2B5EF4-FFF2-40B4-BE49-F238E27FC236}">
                <a16:creationId xmlns:a16="http://schemas.microsoft.com/office/drawing/2014/main" id="{9370364E-BAC5-4B01-AE37-F0D28636E192}"/>
              </a:ext>
            </a:extLst>
          </p:cNvPr>
          <p:cNvGrpSpPr>
            <a:grpSpLocks/>
          </p:cNvGrpSpPr>
          <p:nvPr/>
        </p:nvGrpSpPr>
        <p:grpSpPr bwMode="auto">
          <a:xfrm>
            <a:off x="1692275" y="4792663"/>
            <a:ext cx="2940050" cy="1679575"/>
            <a:chOff x="1056" y="2795"/>
            <a:chExt cx="1852" cy="1194"/>
          </a:xfrm>
        </p:grpSpPr>
        <p:grpSp>
          <p:nvGrpSpPr>
            <p:cNvPr id="53312" name="Group 97">
              <a:extLst>
                <a:ext uri="{FF2B5EF4-FFF2-40B4-BE49-F238E27FC236}">
                  <a16:creationId xmlns:a16="http://schemas.microsoft.com/office/drawing/2014/main" id="{98FC8610-2679-4B3F-9C58-A2A08C78C60A}"/>
                </a:ext>
              </a:extLst>
            </p:cNvPr>
            <p:cNvGrpSpPr>
              <a:grpSpLocks/>
            </p:cNvGrpSpPr>
            <p:nvPr/>
          </p:nvGrpSpPr>
          <p:grpSpPr bwMode="auto">
            <a:xfrm>
              <a:off x="1056" y="2795"/>
              <a:ext cx="1852" cy="240"/>
              <a:chOff x="1056" y="2911"/>
              <a:chExt cx="1852" cy="240"/>
            </a:xfrm>
          </p:grpSpPr>
          <p:sp>
            <p:nvSpPr>
              <p:cNvPr id="53325" name="Rectangle 98">
                <a:extLst>
                  <a:ext uri="{FF2B5EF4-FFF2-40B4-BE49-F238E27FC236}">
                    <a16:creationId xmlns:a16="http://schemas.microsoft.com/office/drawing/2014/main" id="{3660D859-2E9C-489F-8A02-1780001B3CD8}"/>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ea typeface="宋体" panose="02010600030101010101" pitchFamily="2" charset="-122"/>
                  </a:rPr>
                  <a:t>0</a:t>
                </a:r>
              </a:p>
            </p:txBody>
          </p:sp>
          <p:sp>
            <p:nvSpPr>
              <p:cNvPr id="53326" name="Rectangle 99">
                <a:extLst>
                  <a:ext uri="{FF2B5EF4-FFF2-40B4-BE49-F238E27FC236}">
                    <a16:creationId xmlns:a16="http://schemas.microsoft.com/office/drawing/2014/main" id="{50B55339-2CF0-4F8E-BF95-87BE508FCAF5}"/>
                  </a:ext>
                </a:extLst>
              </p:cNvPr>
              <p:cNvSpPr>
                <a:spLocks noChangeArrowheads="1"/>
              </p:cNvSpPr>
              <p:nvPr/>
            </p:nvSpPr>
            <p:spPr bwMode="auto">
              <a:xfrm>
                <a:off x="1519"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ea typeface="宋体" panose="02010600030101010101" pitchFamily="2" charset="-122"/>
                  </a:rPr>
                  <a:t>字节</a:t>
                </a:r>
                <a:r>
                  <a:rPr kumimoji="0" lang="en-US" altLang="zh-CN" sz="1800" b="0">
                    <a:solidFill>
                      <a:schemeClr val="bg1"/>
                    </a:solidFill>
                    <a:ea typeface="宋体" panose="02010600030101010101" pitchFamily="2" charset="-122"/>
                  </a:rPr>
                  <a:t>1</a:t>
                </a:r>
              </a:p>
            </p:txBody>
          </p:sp>
          <p:sp>
            <p:nvSpPr>
              <p:cNvPr id="53327" name="Rectangle 100">
                <a:extLst>
                  <a:ext uri="{FF2B5EF4-FFF2-40B4-BE49-F238E27FC236}">
                    <a16:creationId xmlns:a16="http://schemas.microsoft.com/office/drawing/2014/main" id="{3B04A9FC-F660-4E7D-8E80-E37AB2C68B96}"/>
                  </a:ext>
                </a:extLst>
              </p:cNvPr>
              <p:cNvSpPr>
                <a:spLocks noChangeArrowheads="1"/>
              </p:cNvSpPr>
              <p:nvPr/>
            </p:nvSpPr>
            <p:spPr bwMode="auto">
              <a:xfrm>
                <a:off x="1982"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en-US" altLang="zh-CN" sz="1800" b="0">
                  <a:solidFill>
                    <a:schemeClr val="bg1"/>
                  </a:solidFill>
                  <a:ea typeface="宋体" panose="02010600030101010101" pitchFamily="2" charset="-122"/>
                </a:endParaRPr>
              </a:p>
            </p:txBody>
          </p:sp>
          <p:sp>
            <p:nvSpPr>
              <p:cNvPr id="53328" name="Rectangle 101">
                <a:extLst>
                  <a:ext uri="{FF2B5EF4-FFF2-40B4-BE49-F238E27FC236}">
                    <a16:creationId xmlns:a16="http://schemas.microsoft.com/office/drawing/2014/main" id="{1E2251FE-6270-4AFC-A8B1-CF3687DC28B4}"/>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ea typeface="宋体" panose="02010600030101010101" pitchFamily="2" charset="-122"/>
                  </a:rPr>
                  <a:t>31</a:t>
                </a:r>
              </a:p>
            </p:txBody>
          </p:sp>
        </p:grpSp>
        <p:grpSp>
          <p:nvGrpSpPr>
            <p:cNvPr id="53313" name="Group 102">
              <a:extLst>
                <a:ext uri="{FF2B5EF4-FFF2-40B4-BE49-F238E27FC236}">
                  <a16:creationId xmlns:a16="http://schemas.microsoft.com/office/drawing/2014/main" id="{5B4B55CB-FDB5-4BDF-9D7D-B2A0562D8F4E}"/>
                </a:ext>
              </a:extLst>
            </p:cNvPr>
            <p:cNvGrpSpPr>
              <a:grpSpLocks/>
            </p:cNvGrpSpPr>
            <p:nvPr/>
          </p:nvGrpSpPr>
          <p:grpSpPr bwMode="auto">
            <a:xfrm>
              <a:off x="1056" y="3035"/>
              <a:ext cx="1852" cy="240"/>
              <a:chOff x="1056" y="2911"/>
              <a:chExt cx="1852" cy="240"/>
            </a:xfrm>
          </p:grpSpPr>
          <p:sp>
            <p:nvSpPr>
              <p:cNvPr id="53321" name="Rectangle 103">
                <a:extLst>
                  <a:ext uri="{FF2B5EF4-FFF2-40B4-BE49-F238E27FC236}">
                    <a16:creationId xmlns:a16="http://schemas.microsoft.com/office/drawing/2014/main" id="{55CBD6E1-FF73-403F-9B1B-3A924415DDB3}"/>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latin typeface="楷体_GB2312" pitchFamily="49" charset="-122"/>
                  </a:rPr>
                  <a:t>0</a:t>
                </a:r>
                <a:endParaRPr kumimoji="0" lang="en-US" altLang="zh-CN" sz="1800" b="0">
                  <a:solidFill>
                    <a:schemeClr val="bg1"/>
                  </a:solidFill>
                  <a:ea typeface="宋体" panose="02010600030101010101" pitchFamily="2" charset="-122"/>
                </a:endParaRPr>
              </a:p>
            </p:txBody>
          </p:sp>
          <p:sp>
            <p:nvSpPr>
              <p:cNvPr id="53322" name="Rectangle 104">
                <a:extLst>
                  <a:ext uri="{FF2B5EF4-FFF2-40B4-BE49-F238E27FC236}">
                    <a16:creationId xmlns:a16="http://schemas.microsoft.com/office/drawing/2014/main" id="{4CA1C412-EE1D-4894-AFD7-7398AC74AE5D}"/>
                  </a:ext>
                </a:extLst>
              </p:cNvPr>
              <p:cNvSpPr>
                <a:spLocks noChangeArrowheads="1"/>
              </p:cNvSpPr>
              <p:nvPr/>
            </p:nvSpPr>
            <p:spPr bwMode="auto">
              <a:xfrm>
                <a:off x="1519"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 typeface="Wingdings 2" panose="05020102010507070707" pitchFamily="18" charset="2"/>
                  <a:buNone/>
                </a:pPr>
                <a:r>
                  <a:rPr kumimoji="0" lang="zh-CN" altLang="en-US" sz="1800" b="0">
                    <a:solidFill>
                      <a:srgbClr val="FFFFFF"/>
                    </a:solidFill>
                    <a:ea typeface="宋体" panose="02010600030101010101" pitchFamily="2" charset="-122"/>
                  </a:rPr>
                  <a:t>字节</a:t>
                </a:r>
                <a:r>
                  <a:rPr kumimoji="0" lang="en-US" altLang="zh-CN" sz="1800" b="0">
                    <a:solidFill>
                      <a:srgbClr val="FFFFFF"/>
                    </a:solidFill>
                    <a:ea typeface="宋体" panose="02010600030101010101" pitchFamily="2" charset="-122"/>
                  </a:rPr>
                  <a:t>1</a:t>
                </a:r>
              </a:p>
            </p:txBody>
          </p:sp>
          <p:sp>
            <p:nvSpPr>
              <p:cNvPr id="53323" name="Rectangle 105">
                <a:extLst>
                  <a:ext uri="{FF2B5EF4-FFF2-40B4-BE49-F238E27FC236}">
                    <a16:creationId xmlns:a16="http://schemas.microsoft.com/office/drawing/2014/main" id="{4F9E5F7C-8309-454E-A608-ABE70F413023}"/>
                  </a:ext>
                </a:extLst>
              </p:cNvPr>
              <p:cNvSpPr>
                <a:spLocks noChangeArrowheads="1"/>
              </p:cNvSpPr>
              <p:nvPr/>
            </p:nvSpPr>
            <p:spPr bwMode="auto">
              <a:xfrm>
                <a:off x="1982"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en-US" altLang="zh-CN" sz="1800" b="0">
                  <a:solidFill>
                    <a:schemeClr val="bg1"/>
                  </a:solidFill>
                  <a:ea typeface="宋体" panose="02010600030101010101" pitchFamily="2" charset="-122"/>
                </a:endParaRPr>
              </a:p>
            </p:txBody>
          </p:sp>
          <p:sp>
            <p:nvSpPr>
              <p:cNvPr id="53324" name="Rectangle 106">
                <a:extLst>
                  <a:ext uri="{FF2B5EF4-FFF2-40B4-BE49-F238E27FC236}">
                    <a16:creationId xmlns:a16="http://schemas.microsoft.com/office/drawing/2014/main" id="{EA6FC14D-C6E7-45FD-99D1-1271DE7D624F}"/>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zh-CN" altLang="en-US" sz="1800" b="0">
                    <a:solidFill>
                      <a:schemeClr val="bg1"/>
                    </a:solidFill>
                    <a:latin typeface="楷体_GB2312" pitchFamily="49" charset="-122"/>
                  </a:rPr>
                  <a:t>字节</a:t>
                </a:r>
                <a:r>
                  <a:rPr kumimoji="0" lang="en-US" altLang="zh-CN" sz="1800" b="0">
                    <a:solidFill>
                      <a:schemeClr val="bg1"/>
                    </a:solidFill>
                    <a:latin typeface="楷体_GB2312" pitchFamily="49" charset="-122"/>
                  </a:rPr>
                  <a:t>31</a:t>
                </a:r>
                <a:endParaRPr kumimoji="0" lang="en-US" altLang="zh-CN" sz="1800" b="0">
                  <a:solidFill>
                    <a:schemeClr val="bg1"/>
                  </a:solidFill>
                  <a:ea typeface="宋体" panose="02010600030101010101" pitchFamily="2" charset="-122"/>
                </a:endParaRPr>
              </a:p>
            </p:txBody>
          </p:sp>
        </p:grpSp>
        <p:sp>
          <p:nvSpPr>
            <p:cNvPr id="53314" name="Rectangle 107">
              <a:extLst>
                <a:ext uri="{FF2B5EF4-FFF2-40B4-BE49-F238E27FC236}">
                  <a16:creationId xmlns:a16="http://schemas.microsoft.com/office/drawing/2014/main" id="{6C68B54E-2850-4A33-B84F-175D4B526D20}"/>
                </a:ext>
              </a:extLst>
            </p:cNvPr>
            <p:cNvSpPr>
              <a:spLocks noChangeArrowheads="1"/>
            </p:cNvSpPr>
            <p:nvPr/>
          </p:nvSpPr>
          <p:spPr bwMode="auto">
            <a:xfrm>
              <a:off x="1057" y="3508"/>
              <a:ext cx="1851"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b="0">
                  <a:solidFill>
                    <a:schemeClr val="bg1"/>
                  </a:solidFill>
                  <a:ea typeface="方正准圆简体" pitchFamily="2" charset="-122"/>
                </a:rPr>
                <a:t>…</a:t>
              </a:r>
            </a:p>
            <a:p>
              <a:pPr algn="ctr">
                <a:spcBef>
                  <a:spcPct val="0"/>
                </a:spcBef>
                <a:buClrTx/>
                <a:buFontTx/>
                <a:buNone/>
              </a:pPr>
              <a:endParaRPr kumimoji="0" lang="en-US" altLang="zh-CN" sz="1800" b="0">
                <a:solidFill>
                  <a:schemeClr val="bg1"/>
                </a:solidFill>
                <a:ea typeface="宋体" panose="02010600030101010101" pitchFamily="2" charset="-122"/>
              </a:endParaRPr>
            </a:p>
          </p:txBody>
        </p:sp>
        <p:grpSp>
          <p:nvGrpSpPr>
            <p:cNvPr id="53315" name="Group 108">
              <a:extLst>
                <a:ext uri="{FF2B5EF4-FFF2-40B4-BE49-F238E27FC236}">
                  <a16:creationId xmlns:a16="http://schemas.microsoft.com/office/drawing/2014/main" id="{E932CB8B-6143-4797-BAB2-2EC3BB9FA9A4}"/>
                </a:ext>
              </a:extLst>
            </p:cNvPr>
            <p:cNvGrpSpPr>
              <a:grpSpLocks/>
            </p:cNvGrpSpPr>
            <p:nvPr/>
          </p:nvGrpSpPr>
          <p:grpSpPr bwMode="auto">
            <a:xfrm>
              <a:off x="1056" y="3748"/>
              <a:ext cx="1852" cy="241"/>
              <a:chOff x="1056" y="2911"/>
              <a:chExt cx="1852" cy="241"/>
            </a:xfrm>
          </p:grpSpPr>
          <p:sp>
            <p:nvSpPr>
              <p:cNvPr id="53317" name="Rectangle 109">
                <a:extLst>
                  <a:ext uri="{FF2B5EF4-FFF2-40B4-BE49-F238E27FC236}">
                    <a16:creationId xmlns:a16="http://schemas.microsoft.com/office/drawing/2014/main" id="{69E344AA-05CD-4C77-974D-7B80A6A49FD2}"/>
                  </a:ext>
                </a:extLst>
              </p:cNvPr>
              <p:cNvSpPr>
                <a:spLocks noChangeArrowheads="1"/>
              </p:cNvSpPr>
              <p:nvPr/>
            </p:nvSpPr>
            <p:spPr bwMode="auto">
              <a:xfrm>
                <a:off x="1056"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sp>
            <p:nvSpPr>
              <p:cNvPr id="53318" name="Rectangle 110">
                <a:extLst>
                  <a:ext uri="{FF2B5EF4-FFF2-40B4-BE49-F238E27FC236}">
                    <a16:creationId xmlns:a16="http://schemas.microsoft.com/office/drawing/2014/main" id="{D752B90F-4EC2-4896-B753-9AD23ECF5DEF}"/>
                  </a:ext>
                </a:extLst>
              </p:cNvPr>
              <p:cNvSpPr>
                <a:spLocks noChangeArrowheads="1"/>
              </p:cNvSpPr>
              <p:nvPr/>
            </p:nvSpPr>
            <p:spPr bwMode="auto">
              <a:xfrm>
                <a:off x="1982" y="2912"/>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sp>
            <p:nvSpPr>
              <p:cNvPr id="53319" name="Rectangle 111">
                <a:extLst>
                  <a:ext uri="{FF2B5EF4-FFF2-40B4-BE49-F238E27FC236}">
                    <a16:creationId xmlns:a16="http://schemas.microsoft.com/office/drawing/2014/main" id="{5C515D71-B3B1-45C7-9595-11F3499625B2}"/>
                  </a:ext>
                </a:extLst>
              </p:cNvPr>
              <p:cNvSpPr>
                <a:spLocks noChangeArrowheads="1"/>
              </p:cNvSpPr>
              <p:nvPr/>
            </p:nvSpPr>
            <p:spPr bwMode="auto">
              <a:xfrm>
                <a:off x="1519" y="2912"/>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sp>
            <p:nvSpPr>
              <p:cNvPr id="53320" name="Rectangle 112">
                <a:extLst>
                  <a:ext uri="{FF2B5EF4-FFF2-40B4-BE49-F238E27FC236}">
                    <a16:creationId xmlns:a16="http://schemas.microsoft.com/office/drawing/2014/main" id="{13590EFA-1CFA-42B4-827D-9DD2052553E7}"/>
                  </a:ext>
                </a:extLst>
              </p:cNvPr>
              <p:cNvSpPr>
                <a:spLocks noChangeArrowheads="1"/>
              </p:cNvSpPr>
              <p:nvPr/>
            </p:nvSpPr>
            <p:spPr bwMode="auto">
              <a:xfrm>
                <a:off x="2445" y="2911"/>
                <a:ext cx="463"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endParaRPr kumimoji="0" lang="zh-CN" altLang="zh-CN" sz="1800" b="0">
                  <a:solidFill>
                    <a:schemeClr val="bg1"/>
                  </a:solidFill>
                  <a:ea typeface="宋体" panose="02010600030101010101" pitchFamily="2" charset="-122"/>
                </a:endParaRPr>
              </a:p>
            </p:txBody>
          </p:sp>
        </p:grpSp>
        <p:sp>
          <p:nvSpPr>
            <p:cNvPr id="53316" name="Rectangle 113">
              <a:extLst>
                <a:ext uri="{FF2B5EF4-FFF2-40B4-BE49-F238E27FC236}">
                  <a16:creationId xmlns:a16="http://schemas.microsoft.com/office/drawing/2014/main" id="{5C334216-5CEB-40F2-9F7D-2EAD0A166063}"/>
                </a:ext>
              </a:extLst>
            </p:cNvPr>
            <p:cNvSpPr>
              <a:spLocks noChangeArrowheads="1"/>
            </p:cNvSpPr>
            <p:nvPr/>
          </p:nvSpPr>
          <p:spPr bwMode="auto">
            <a:xfrm>
              <a:off x="1057" y="3275"/>
              <a:ext cx="1851" cy="240"/>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600" b="0">
                  <a:solidFill>
                    <a:schemeClr val="bg1"/>
                  </a:solidFill>
                  <a:ea typeface="方正准圆简体" pitchFamily="2" charset="-122"/>
                </a:rPr>
                <a:t>…</a:t>
              </a:r>
            </a:p>
            <a:p>
              <a:pPr algn="ctr">
                <a:spcBef>
                  <a:spcPct val="0"/>
                </a:spcBef>
                <a:buClrTx/>
                <a:buFontTx/>
                <a:buNone/>
              </a:pPr>
              <a:endParaRPr kumimoji="0" lang="en-US" altLang="zh-CN" sz="1800" b="0">
                <a:solidFill>
                  <a:schemeClr val="bg1"/>
                </a:solidFill>
                <a:ea typeface="宋体" panose="02010600030101010101" pitchFamily="2" charset="-122"/>
              </a:endParaRPr>
            </a:p>
          </p:txBody>
        </p:sp>
      </p:grpSp>
      <p:sp>
        <p:nvSpPr>
          <p:cNvPr id="53305" name="Rectangle 104">
            <a:extLst>
              <a:ext uri="{FF2B5EF4-FFF2-40B4-BE49-F238E27FC236}">
                <a16:creationId xmlns:a16="http://schemas.microsoft.com/office/drawing/2014/main" id="{9105366D-E4D8-4044-A58B-9B1CB9858B5B}"/>
              </a:ext>
            </a:extLst>
          </p:cNvPr>
          <p:cNvSpPr>
            <a:spLocks noChangeArrowheads="1"/>
          </p:cNvSpPr>
          <p:nvPr/>
        </p:nvSpPr>
        <p:spPr bwMode="auto">
          <a:xfrm>
            <a:off x="3154363" y="4794250"/>
            <a:ext cx="735012" cy="338138"/>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sp>
        <p:nvSpPr>
          <p:cNvPr id="53306" name="Rectangle 104">
            <a:extLst>
              <a:ext uri="{FF2B5EF4-FFF2-40B4-BE49-F238E27FC236}">
                <a16:creationId xmlns:a16="http://schemas.microsoft.com/office/drawing/2014/main" id="{710A242C-C588-479E-A5EE-E174114E1704}"/>
              </a:ext>
            </a:extLst>
          </p:cNvPr>
          <p:cNvSpPr>
            <a:spLocks noChangeArrowheads="1"/>
          </p:cNvSpPr>
          <p:nvPr/>
        </p:nvSpPr>
        <p:spPr bwMode="auto">
          <a:xfrm>
            <a:off x="3162300" y="5129213"/>
            <a:ext cx="735013" cy="338137"/>
          </a:xfrm>
          <a:prstGeom prst="rect">
            <a:avLst/>
          </a:prstGeom>
          <a:solidFill>
            <a:srgbClr val="800080"/>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1800" b="0">
                <a:solidFill>
                  <a:schemeClr val="bg1"/>
                </a:solidFill>
                <a:ea typeface="宋体" panose="02010600030101010101" pitchFamily="2" charset="-122"/>
              </a:rPr>
              <a:t>…</a:t>
            </a:r>
          </a:p>
        </p:txBody>
      </p:sp>
      <p:grpSp>
        <p:nvGrpSpPr>
          <p:cNvPr id="53307" name="组合 105">
            <a:extLst>
              <a:ext uri="{FF2B5EF4-FFF2-40B4-BE49-F238E27FC236}">
                <a16:creationId xmlns:a16="http://schemas.microsoft.com/office/drawing/2014/main" id="{4A9410B0-708A-4B05-89CD-FC9E492A0161}"/>
              </a:ext>
            </a:extLst>
          </p:cNvPr>
          <p:cNvGrpSpPr>
            <a:grpSpLocks/>
          </p:cNvGrpSpPr>
          <p:nvPr/>
        </p:nvGrpSpPr>
        <p:grpSpPr bwMode="auto">
          <a:xfrm>
            <a:off x="4616450" y="3717925"/>
            <a:ext cx="400050" cy="1585913"/>
            <a:chOff x="4616450" y="3717925"/>
            <a:chExt cx="400050" cy="1585913"/>
          </a:xfrm>
        </p:grpSpPr>
        <p:cxnSp>
          <p:nvCxnSpPr>
            <p:cNvPr id="53309" name="直接连接符 2">
              <a:extLst>
                <a:ext uri="{FF2B5EF4-FFF2-40B4-BE49-F238E27FC236}">
                  <a16:creationId xmlns:a16="http://schemas.microsoft.com/office/drawing/2014/main" id="{99AB66DF-08C2-4C86-B91D-E22E366F9EB5}"/>
                </a:ext>
              </a:extLst>
            </p:cNvPr>
            <p:cNvCxnSpPr>
              <a:cxnSpLocks noChangeShapeType="1"/>
            </p:cNvCxnSpPr>
            <p:nvPr/>
          </p:nvCxnSpPr>
          <p:spPr bwMode="auto">
            <a:xfrm>
              <a:off x="4616450" y="3717925"/>
              <a:ext cx="400050" cy="0"/>
            </a:xfrm>
            <a:prstGeom prst="line">
              <a:avLst/>
            </a:prstGeom>
            <a:noFill/>
            <a:ln w="3175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53310" name="直接连接符 5">
              <a:extLst>
                <a:ext uri="{FF2B5EF4-FFF2-40B4-BE49-F238E27FC236}">
                  <a16:creationId xmlns:a16="http://schemas.microsoft.com/office/drawing/2014/main" id="{95931671-A3CD-4C26-9CDC-A6D9E3843317}"/>
                </a:ext>
              </a:extLst>
            </p:cNvPr>
            <p:cNvCxnSpPr>
              <a:cxnSpLocks noChangeShapeType="1"/>
            </p:cNvCxnSpPr>
            <p:nvPr/>
          </p:nvCxnSpPr>
          <p:spPr bwMode="auto">
            <a:xfrm flipH="1">
              <a:off x="5002213" y="3717925"/>
              <a:ext cx="14287" cy="1585913"/>
            </a:xfrm>
            <a:prstGeom prst="line">
              <a:avLst/>
            </a:prstGeom>
            <a:noFill/>
            <a:ln w="3175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53311" name="直接箭头连接符 7">
              <a:extLst>
                <a:ext uri="{FF2B5EF4-FFF2-40B4-BE49-F238E27FC236}">
                  <a16:creationId xmlns:a16="http://schemas.microsoft.com/office/drawing/2014/main" id="{6EF00852-7E4F-4E11-8D23-2E8DA3C6FFFC}"/>
                </a:ext>
              </a:extLst>
            </p:cNvPr>
            <p:cNvCxnSpPr>
              <a:cxnSpLocks noChangeShapeType="1"/>
            </p:cNvCxnSpPr>
            <p:nvPr/>
          </p:nvCxnSpPr>
          <p:spPr bwMode="auto">
            <a:xfrm flipH="1">
              <a:off x="4632325" y="5303838"/>
              <a:ext cx="369888" cy="0"/>
            </a:xfrm>
            <a:prstGeom prst="straightConnector1">
              <a:avLst/>
            </a:prstGeom>
            <a:noFill/>
            <a:ln w="31750" algn="ctr">
              <a:solidFill>
                <a:srgbClr val="FF0000"/>
              </a:solidFill>
              <a:miter lim="800000"/>
              <a:headEnd/>
              <a:tailEnd type="triangle" w="med" len="med"/>
            </a:ln>
            <a:extLst>
              <a:ext uri="{909E8E84-426E-40DD-AFC4-6F175D3DCCD1}">
                <a14:hiddenFill xmlns:a14="http://schemas.microsoft.com/office/drawing/2010/main">
                  <a:noFill/>
                </a14:hiddenFill>
              </a:ext>
            </a:extLst>
          </p:spPr>
        </p:cxnSp>
      </p:grpSp>
      <p:sp>
        <p:nvSpPr>
          <p:cNvPr id="110" name="Text Box 115">
            <a:extLst>
              <a:ext uri="{FF2B5EF4-FFF2-40B4-BE49-F238E27FC236}">
                <a16:creationId xmlns:a16="http://schemas.microsoft.com/office/drawing/2014/main" id="{92D72BF2-757A-41AA-BDE6-4F8113B647F6}"/>
              </a:ext>
            </a:extLst>
          </p:cNvPr>
          <p:cNvSpPr txBox="1">
            <a:spLocks noChangeArrowheads="1"/>
          </p:cNvSpPr>
          <p:nvPr/>
        </p:nvSpPr>
        <p:spPr bwMode="auto">
          <a:xfrm>
            <a:off x="4572000" y="3382963"/>
            <a:ext cx="1049338" cy="338137"/>
          </a:xfrm>
          <a:prstGeom prst="rect">
            <a:avLst/>
          </a:prstGeom>
          <a:noFill/>
          <a:ln w="9525" algn="ctr">
            <a:noFill/>
            <a:miter lim="800000"/>
            <a:headEnd/>
            <a:tailEnd/>
          </a:ln>
        </p:spPr>
        <p:txBody>
          <a:bodyPr wrap="none">
            <a:spAutoFit/>
          </a:bodyPr>
          <a:lstStyle/>
          <a:p>
            <a:pPr eaLnBrk="1" hangingPunct="1">
              <a:defRPr/>
            </a:pPr>
            <a:r>
              <a:rPr lang="en-US" altLang="zh-CN" sz="1600" b="1" dirty="0">
                <a:solidFill>
                  <a:srgbClr val="FF0000"/>
                </a:solidFill>
                <a:latin typeface="+mn-lt"/>
                <a:ea typeface="楷体_GB2312" pitchFamily="49" charset="-122"/>
              </a:rPr>
              <a:t>Tag=Tag2</a:t>
            </a:r>
            <a:endParaRPr lang="zh-CN" altLang="en-US" sz="1600" b="1" dirty="0">
              <a:solidFill>
                <a:srgbClr val="FF0000"/>
              </a:solidFill>
              <a:latin typeface="楷体_GB2312" pitchFamily="49" charset="-122"/>
              <a:ea typeface="楷体_GB2312" pitchFamily="49" charset="-122"/>
            </a:endParaRPr>
          </a:p>
        </p:txBody>
      </p:sp>
    </p:spTree>
  </p:cSld>
  <p:clrMapOvr>
    <a:masterClrMapping/>
  </p:clrMapOvr>
  <p:transition spd="med">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a:extLst>
              <a:ext uri="{FF2B5EF4-FFF2-40B4-BE49-F238E27FC236}">
                <a16:creationId xmlns:a16="http://schemas.microsoft.com/office/drawing/2014/main" id="{BD112C55-9552-40DF-8040-9F3718199FA3}"/>
              </a:ext>
            </a:extLst>
          </p:cNvPr>
          <p:cNvSpPr>
            <a:spLocks noGrp="1" noChangeArrowheads="1"/>
          </p:cNvSpPr>
          <p:nvPr>
            <p:ph idx="1"/>
          </p:nvPr>
        </p:nvSpPr>
        <p:spPr>
          <a:xfrm>
            <a:off x="179388" y="1000125"/>
            <a:ext cx="8785225" cy="5400675"/>
          </a:xfrm>
        </p:spPr>
        <p:txBody>
          <a:bodyPr/>
          <a:lstStyle/>
          <a:p>
            <a:r>
              <a:rPr lang="zh-CN" altLang="en-US" sz="2800"/>
              <a:t>假设</a:t>
            </a:r>
            <a:r>
              <a:rPr lang="en-US" altLang="zh-CN" sz="2800"/>
              <a:t>CPU</a:t>
            </a:r>
            <a:r>
              <a:rPr lang="zh-CN" altLang="en-US" sz="2800"/>
              <a:t>欲从</a:t>
            </a:r>
            <a:r>
              <a:rPr lang="en-US" altLang="zh-CN" sz="2800"/>
              <a:t>0xFF0144</a:t>
            </a:r>
            <a:r>
              <a:rPr lang="zh-CN" altLang="en-US" sz="2800"/>
              <a:t>地址读出一个字（</a:t>
            </a:r>
            <a:r>
              <a:rPr lang="en-US" altLang="zh-CN" sz="2800"/>
              <a:t>32</a:t>
            </a:r>
            <a:r>
              <a:rPr lang="zh-CN" altLang="en-US" sz="2800"/>
              <a:t>位）</a:t>
            </a:r>
          </a:p>
        </p:txBody>
      </p:sp>
      <p:sp>
        <p:nvSpPr>
          <p:cNvPr id="51" name="Rectangle 146">
            <a:extLst>
              <a:ext uri="{FF2B5EF4-FFF2-40B4-BE49-F238E27FC236}">
                <a16:creationId xmlns:a16="http://schemas.microsoft.com/office/drawing/2014/main" id="{93B69804-3806-41C9-87A6-1BCBBE13001E}"/>
              </a:ext>
            </a:extLst>
          </p:cNvPr>
          <p:cNvSpPr/>
          <p:nvPr/>
        </p:nvSpPr>
        <p:spPr bwMode="auto">
          <a:xfrm>
            <a:off x="1692275" y="4508500"/>
            <a:ext cx="5400675" cy="950913"/>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楷体_GB2312"/>
            </a:endParaRPr>
          </a:p>
        </p:txBody>
      </p:sp>
      <p:sp>
        <p:nvSpPr>
          <p:cNvPr id="23" name="Rectangle 146">
            <a:extLst>
              <a:ext uri="{FF2B5EF4-FFF2-40B4-BE49-F238E27FC236}">
                <a16:creationId xmlns:a16="http://schemas.microsoft.com/office/drawing/2014/main" id="{48DFEC7D-581C-401A-AA82-ACC4081BEA66}"/>
              </a:ext>
            </a:extLst>
          </p:cNvPr>
          <p:cNvSpPr/>
          <p:nvPr/>
        </p:nvSpPr>
        <p:spPr bwMode="auto">
          <a:xfrm>
            <a:off x="1692275" y="2967038"/>
            <a:ext cx="5400675" cy="955675"/>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400" b="1" kern="0" dirty="0">
              <a:solidFill>
                <a:srgbClr val="000000"/>
              </a:solidFill>
              <a:latin typeface="Calibri" pitchFamily="34" charset="0"/>
              <a:ea typeface="楷体_GB2312"/>
            </a:endParaRPr>
          </a:p>
        </p:txBody>
      </p:sp>
      <p:sp>
        <p:nvSpPr>
          <p:cNvPr id="2" name="标题 1">
            <a:extLst>
              <a:ext uri="{FF2B5EF4-FFF2-40B4-BE49-F238E27FC236}">
                <a16:creationId xmlns:a16="http://schemas.microsoft.com/office/drawing/2014/main" id="{4D6A491C-8C2E-40F8-94B9-14E9EC9BB81D}"/>
              </a:ext>
            </a:extLst>
          </p:cNvPr>
          <p:cNvSpPr>
            <a:spLocks noGrp="1"/>
          </p:cNvSpPr>
          <p:nvPr>
            <p:ph type="title"/>
          </p:nvPr>
        </p:nvSpPr>
        <p:spPr/>
        <p:txBody>
          <a:bodyPr/>
          <a:lstStyle/>
          <a:p>
            <a:pPr>
              <a:defRPr/>
            </a:pPr>
            <a:r>
              <a:rPr lang="en-US" altLang="zh-CN"/>
              <a:t>2</a:t>
            </a:r>
            <a:r>
              <a:rPr lang="zh-CN" altLang="en-US"/>
              <a:t>路组相联映射</a:t>
            </a:r>
            <a:r>
              <a:rPr lang="en-US" altLang="zh-CN"/>
              <a:t>Cache</a:t>
            </a:r>
            <a:r>
              <a:rPr lang="zh-CN" altLang="en-US"/>
              <a:t>示例（</a:t>
            </a:r>
            <a:r>
              <a:rPr lang="en-US" altLang="zh-CN"/>
              <a:t>2</a:t>
            </a:r>
            <a:r>
              <a:rPr lang="zh-CN" altLang="en-US"/>
              <a:t>）</a:t>
            </a:r>
            <a:endParaRPr lang="zh-CN" altLang="en-US" sz="3200"/>
          </a:p>
        </p:txBody>
      </p:sp>
      <p:sp>
        <p:nvSpPr>
          <p:cNvPr id="54279" name="Rectangle 18">
            <a:extLst>
              <a:ext uri="{FF2B5EF4-FFF2-40B4-BE49-F238E27FC236}">
                <a16:creationId xmlns:a16="http://schemas.microsoft.com/office/drawing/2014/main" id="{FF916141-03F6-425D-989C-C3BAAAC311BD}"/>
              </a:ext>
            </a:extLst>
          </p:cNvPr>
          <p:cNvSpPr>
            <a:spLocks noChangeArrowheads="1"/>
          </p:cNvSpPr>
          <p:nvPr/>
        </p:nvSpPr>
        <p:spPr bwMode="auto">
          <a:xfrm>
            <a:off x="2195513" y="1700213"/>
            <a:ext cx="1830387" cy="360362"/>
          </a:xfrm>
          <a:prstGeom prst="rect">
            <a:avLst/>
          </a:prstGeom>
          <a:solidFill>
            <a:srgbClr val="FF0000"/>
          </a:solidFill>
          <a:ln w="25400" algn="ctr">
            <a:solidFill>
              <a:schemeClr val="bg1"/>
            </a:solidFill>
            <a:miter lim="800000"/>
            <a:headEnd/>
            <a:tailEnd/>
          </a:ln>
          <a:effectLst>
            <a:outerShdw dist="35921" dir="2700000" algn="ctr" rotWithShape="0">
              <a:schemeClr val="bg2"/>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FFFF"/>
                </a:solidFill>
                <a:ea typeface="方正准圆简体" pitchFamily="2" charset="-122"/>
              </a:rPr>
              <a:t>0x1FE02</a:t>
            </a:r>
            <a:endParaRPr lang="zh-CN" altLang="en-US" sz="2000">
              <a:solidFill>
                <a:srgbClr val="FFFFFF"/>
              </a:solidFill>
              <a:ea typeface="方正准圆简体" pitchFamily="2" charset="-122"/>
            </a:endParaRPr>
          </a:p>
        </p:txBody>
      </p:sp>
      <p:grpSp>
        <p:nvGrpSpPr>
          <p:cNvPr id="54280" name="组合 20">
            <a:extLst>
              <a:ext uri="{FF2B5EF4-FFF2-40B4-BE49-F238E27FC236}">
                <a16:creationId xmlns:a16="http://schemas.microsoft.com/office/drawing/2014/main" id="{F630D2D6-9DD1-4EC9-9D2A-0E6538C0B468}"/>
              </a:ext>
            </a:extLst>
          </p:cNvPr>
          <p:cNvGrpSpPr>
            <a:grpSpLocks/>
          </p:cNvGrpSpPr>
          <p:nvPr/>
        </p:nvGrpSpPr>
        <p:grpSpPr bwMode="auto">
          <a:xfrm>
            <a:off x="1836738" y="3500438"/>
            <a:ext cx="5073650" cy="307975"/>
            <a:chOff x="1836141" y="3693520"/>
            <a:chExt cx="5073515" cy="307684"/>
          </a:xfrm>
        </p:grpSpPr>
        <p:sp>
          <p:nvSpPr>
            <p:cNvPr id="9" name="Rectangle 147">
              <a:extLst>
                <a:ext uri="{FF2B5EF4-FFF2-40B4-BE49-F238E27FC236}">
                  <a16:creationId xmlns:a16="http://schemas.microsoft.com/office/drawing/2014/main" id="{900B046C-DC4C-45DA-8927-567A4E793EC4}"/>
                </a:ext>
              </a:extLst>
            </p:cNvPr>
            <p:cNvSpPr/>
            <p:nvPr/>
          </p:nvSpPr>
          <p:spPr bwMode="auto">
            <a:xfrm>
              <a:off x="40938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10" name="Rectangle 148">
              <a:extLst>
                <a:ext uri="{FF2B5EF4-FFF2-40B4-BE49-F238E27FC236}">
                  <a16:creationId xmlns:a16="http://schemas.microsoft.com/office/drawing/2014/main" id="{7F0AA6BC-2B18-4A0A-805F-90189E284772}"/>
                </a:ext>
              </a:extLst>
            </p:cNvPr>
            <p:cNvSpPr/>
            <p:nvPr/>
          </p:nvSpPr>
          <p:spPr bwMode="auto">
            <a:xfrm>
              <a:off x="4366420"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11" name="Rectangle 149">
              <a:extLst>
                <a:ext uri="{FF2B5EF4-FFF2-40B4-BE49-F238E27FC236}">
                  <a16:creationId xmlns:a16="http://schemas.microsoft.com/office/drawing/2014/main" id="{6AA8364B-A46A-41DF-A15D-8F2E7EFD8ED5}"/>
                </a:ext>
              </a:extLst>
            </p:cNvPr>
            <p:cNvSpPr/>
            <p:nvPr/>
          </p:nvSpPr>
          <p:spPr bwMode="auto">
            <a:xfrm>
              <a:off x="4627215"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12" name="Rectangle 150">
              <a:extLst>
                <a:ext uri="{FF2B5EF4-FFF2-40B4-BE49-F238E27FC236}">
                  <a16:creationId xmlns:a16="http://schemas.microsoft.com/office/drawing/2014/main" id="{3D6D807D-DF70-4F33-9A69-32BBEE9842E2}"/>
                </a:ext>
              </a:extLst>
            </p:cNvPr>
            <p:cNvSpPr/>
            <p:nvPr/>
          </p:nvSpPr>
          <p:spPr bwMode="auto">
            <a:xfrm>
              <a:off x="6617012" y="369352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13" name="Rectangle 151">
              <a:extLst>
                <a:ext uri="{FF2B5EF4-FFF2-40B4-BE49-F238E27FC236}">
                  <a16:creationId xmlns:a16="http://schemas.microsoft.com/office/drawing/2014/main" id="{F2E83435-4EFD-4FEF-AAF7-646C897692FE}"/>
                </a:ext>
              </a:extLst>
            </p:cNvPr>
            <p:cNvSpPr/>
            <p:nvPr/>
          </p:nvSpPr>
          <p:spPr bwMode="auto">
            <a:xfrm>
              <a:off x="2252055" y="3695106"/>
              <a:ext cx="1657306" cy="306098"/>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x1234E</a:t>
              </a:r>
            </a:p>
          </p:txBody>
        </p:sp>
        <p:sp>
          <p:nvSpPr>
            <p:cNvPr id="14" name="Rectangle 152">
              <a:extLst>
                <a:ext uri="{FF2B5EF4-FFF2-40B4-BE49-F238E27FC236}">
                  <a16:creationId xmlns:a16="http://schemas.microsoft.com/office/drawing/2014/main" id="{CCB233F3-EA44-4AE0-8AC3-2887BC5E6990}"/>
                </a:ext>
              </a:extLst>
            </p:cNvPr>
            <p:cNvSpPr/>
            <p:nvPr/>
          </p:nvSpPr>
          <p:spPr bwMode="auto">
            <a:xfrm>
              <a:off x="1836141" y="3695106"/>
              <a:ext cx="273043" cy="306098"/>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15" name="Rectangle 153">
              <a:extLst>
                <a:ext uri="{FF2B5EF4-FFF2-40B4-BE49-F238E27FC236}">
                  <a16:creationId xmlns:a16="http://schemas.microsoft.com/office/drawing/2014/main" id="{C2E50F85-F267-4E5B-9674-C09A891D66B3}"/>
                </a:ext>
              </a:extLst>
            </p:cNvPr>
            <p:cNvSpPr/>
            <p:nvPr/>
          </p:nvSpPr>
          <p:spPr bwMode="auto">
            <a:xfrm>
              <a:off x="4900543" y="3696404"/>
              <a:ext cx="272605"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16" name="Rectangle 154">
              <a:extLst>
                <a:ext uri="{FF2B5EF4-FFF2-40B4-BE49-F238E27FC236}">
                  <a16:creationId xmlns:a16="http://schemas.microsoft.com/office/drawing/2014/main" id="{C828BF19-A497-4154-BDC5-E15EA81C2EBC}"/>
                </a:ext>
              </a:extLst>
            </p:cNvPr>
            <p:cNvSpPr/>
            <p:nvPr/>
          </p:nvSpPr>
          <p:spPr bwMode="auto">
            <a:xfrm>
              <a:off x="6322698" y="3693601"/>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17" name="Rectangle 155">
              <a:extLst>
                <a:ext uri="{FF2B5EF4-FFF2-40B4-BE49-F238E27FC236}">
                  <a16:creationId xmlns:a16="http://schemas.microsoft.com/office/drawing/2014/main" id="{D0D0A268-BD72-4BE0-9051-03C2DDF416C8}"/>
                </a:ext>
              </a:extLst>
            </p:cNvPr>
            <p:cNvSpPr/>
            <p:nvPr/>
          </p:nvSpPr>
          <p:spPr bwMode="auto">
            <a:xfrm>
              <a:off x="5466138"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18" name="Rectangle 156">
              <a:extLst>
                <a:ext uri="{FF2B5EF4-FFF2-40B4-BE49-F238E27FC236}">
                  <a16:creationId xmlns:a16="http://schemas.microsoft.com/office/drawing/2014/main" id="{91463FF0-C363-4481-B08B-B202F29005B4}"/>
                </a:ext>
              </a:extLst>
            </p:cNvPr>
            <p:cNvSpPr/>
            <p:nvPr/>
          </p:nvSpPr>
          <p:spPr bwMode="auto">
            <a:xfrm>
              <a:off x="5174216" y="3696404"/>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19" name="Rectangle 155">
              <a:extLst>
                <a:ext uri="{FF2B5EF4-FFF2-40B4-BE49-F238E27FC236}">
                  <a16:creationId xmlns:a16="http://schemas.microsoft.com/office/drawing/2014/main" id="{BC42671C-3F8C-493C-8D09-3E85D5590617}"/>
                </a:ext>
              </a:extLst>
            </p:cNvPr>
            <p:cNvSpPr/>
            <p:nvPr/>
          </p:nvSpPr>
          <p:spPr bwMode="auto">
            <a:xfrm>
              <a:off x="5747717" y="3695700"/>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20" name="Rectangle 155">
              <a:extLst>
                <a:ext uri="{FF2B5EF4-FFF2-40B4-BE49-F238E27FC236}">
                  <a16:creationId xmlns:a16="http://schemas.microsoft.com/office/drawing/2014/main" id="{38F11A89-A38D-462C-8D1C-4A0128E0D6BE}"/>
                </a:ext>
              </a:extLst>
            </p:cNvPr>
            <p:cNvSpPr/>
            <p:nvPr/>
          </p:nvSpPr>
          <p:spPr bwMode="auto">
            <a:xfrm>
              <a:off x="6030054" y="3693682"/>
              <a:ext cx="292644"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grpSp>
      <p:sp>
        <p:nvSpPr>
          <p:cNvPr id="24" name="Rectangle 147">
            <a:extLst>
              <a:ext uri="{FF2B5EF4-FFF2-40B4-BE49-F238E27FC236}">
                <a16:creationId xmlns:a16="http://schemas.microsoft.com/office/drawing/2014/main" id="{D230B444-A658-465C-ABD6-E1E29DD97C3D}"/>
              </a:ext>
            </a:extLst>
          </p:cNvPr>
          <p:cNvSpPr/>
          <p:nvPr/>
        </p:nvSpPr>
        <p:spPr bwMode="auto">
          <a:xfrm>
            <a:off x="4094443" y="3082042"/>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25" name="Rectangle 148">
            <a:extLst>
              <a:ext uri="{FF2B5EF4-FFF2-40B4-BE49-F238E27FC236}">
                <a16:creationId xmlns:a16="http://schemas.microsoft.com/office/drawing/2014/main" id="{B11C11CC-5C3B-4A6E-B4A0-5F1D98B48B77}"/>
              </a:ext>
            </a:extLst>
          </p:cNvPr>
          <p:cNvSpPr/>
          <p:nvPr/>
        </p:nvSpPr>
        <p:spPr bwMode="auto">
          <a:xfrm>
            <a:off x="4367052" y="3082042"/>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26" name="Rectangle 149">
            <a:extLst>
              <a:ext uri="{FF2B5EF4-FFF2-40B4-BE49-F238E27FC236}">
                <a16:creationId xmlns:a16="http://schemas.microsoft.com/office/drawing/2014/main" id="{AFB267D5-2304-4E15-8EEA-C35C85736C59}"/>
              </a:ext>
            </a:extLst>
          </p:cNvPr>
          <p:cNvSpPr/>
          <p:nvPr/>
        </p:nvSpPr>
        <p:spPr bwMode="auto">
          <a:xfrm>
            <a:off x="4627851" y="3082042"/>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27" name="Rectangle 150">
            <a:extLst>
              <a:ext uri="{FF2B5EF4-FFF2-40B4-BE49-F238E27FC236}">
                <a16:creationId xmlns:a16="http://schemas.microsoft.com/office/drawing/2014/main" id="{95CCA43E-FA44-4D54-8D0D-CB794DD41E39}"/>
              </a:ext>
            </a:extLst>
          </p:cNvPr>
          <p:cNvSpPr/>
          <p:nvPr/>
        </p:nvSpPr>
        <p:spPr bwMode="auto">
          <a:xfrm>
            <a:off x="6617675" y="3079158"/>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28" name="Rectangle 151">
            <a:extLst>
              <a:ext uri="{FF2B5EF4-FFF2-40B4-BE49-F238E27FC236}">
                <a16:creationId xmlns:a16="http://schemas.microsoft.com/office/drawing/2014/main" id="{DB6591C3-8B20-4405-A601-4C8A5FE0EBB6}"/>
              </a:ext>
            </a:extLst>
          </p:cNvPr>
          <p:cNvSpPr/>
          <p:nvPr/>
        </p:nvSpPr>
        <p:spPr bwMode="auto">
          <a:xfrm>
            <a:off x="2252663" y="3081338"/>
            <a:ext cx="1657350"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x153C9</a:t>
            </a:r>
          </a:p>
        </p:txBody>
      </p:sp>
      <p:sp>
        <p:nvSpPr>
          <p:cNvPr id="29" name="Rectangle 152">
            <a:extLst>
              <a:ext uri="{FF2B5EF4-FFF2-40B4-BE49-F238E27FC236}">
                <a16:creationId xmlns:a16="http://schemas.microsoft.com/office/drawing/2014/main" id="{5644C366-FEEB-4988-9B43-88BEF433E183}"/>
              </a:ext>
            </a:extLst>
          </p:cNvPr>
          <p:cNvSpPr/>
          <p:nvPr/>
        </p:nvSpPr>
        <p:spPr bwMode="auto">
          <a:xfrm>
            <a:off x="1836738" y="3081338"/>
            <a:ext cx="273050"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30" name="Rectangle 153">
            <a:extLst>
              <a:ext uri="{FF2B5EF4-FFF2-40B4-BE49-F238E27FC236}">
                <a16:creationId xmlns:a16="http://schemas.microsoft.com/office/drawing/2014/main" id="{8EC8C51C-519A-4D80-B94A-161C74D4F6D6}"/>
              </a:ext>
            </a:extLst>
          </p:cNvPr>
          <p:cNvSpPr/>
          <p:nvPr/>
        </p:nvSpPr>
        <p:spPr bwMode="auto">
          <a:xfrm>
            <a:off x="4901183" y="3082042"/>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31" name="Rectangle 154">
            <a:extLst>
              <a:ext uri="{FF2B5EF4-FFF2-40B4-BE49-F238E27FC236}">
                <a16:creationId xmlns:a16="http://schemas.microsoft.com/office/drawing/2014/main" id="{4C607B79-11EC-431D-B09A-34A6A5D0FA3A}"/>
              </a:ext>
            </a:extLst>
          </p:cNvPr>
          <p:cNvSpPr/>
          <p:nvPr/>
        </p:nvSpPr>
        <p:spPr bwMode="auto">
          <a:xfrm>
            <a:off x="6323357" y="3079239"/>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32" name="Rectangle 155">
            <a:extLst>
              <a:ext uri="{FF2B5EF4-FFF2-40B4-BE49-F238E27FC236}">
                <a16:creationId xmlns:a16="http://schemas.microsoft.com/office/drawing/2014/main" id="{F3D5160E-9ABB-4EF2-9B4B-69583FAA062C}"/>
              </a:ext>
            </a:extLst>
          </p:cNvPr>
          <p:cNvSpPr/>
          <p:nvPr/>
        </p:nvSpPr>
        <p:spPr bwMode="auto">
          <a:xfrm>
            <a:off x="5466785" y="3082042"/>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33" name="Rectangle 156">
            <a:extLst>
              <a:ext uri="{FF2B5EF4-FFF2-40B4-BE49-F238E27FC236}">
                <a16:creationId xmlns:a16="http://schemas.microsoft.com/office/drawing/2014/main" id="{6F5061F7-B29E-4735-BD31-7EDB6ED374DA}"/>
              </a:ext>
            </a:extLst>
          </p:cNvPr>
          <p:cNvSpPr/>
          <p:nvPr/>
        </p:nvSpPr>
        <p:spPr bwMode="auto">
          <a:xfrm>
            <a:off x="5174859" y="3082042"/>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34" name="Rectangle 155">
            <a:extLst>
              <a:ext uri="{FF2B5EF4-FFF2-40B4-BE49-F238E27FC236}">
                <a16:creationId xmlns:a16="http://schemas.microsoft.com/office/drawing/2014/main" id="{48E9EB42-1DFF-41F0-B00B-0EA60C541A4C}"/>
              </a:ext>
            </a:extLst>
          </p:cNvPr>
          <p:cNvSpPr/>
          <p:nvPr/>
        </p:nvSpPr>
        <p:spPr bwMode="auto">
          <a:xfrm>
            <a:off x="5748368" y="3081338"/>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35" name="Rectangle 155">
            <a:extLst>
              <a:ext uri="{FF2B5EF4-FFF2-40B4-BE49-F238E27FC236}">
                <a16:creationId xmlns:a16="http://schemas.microsoft.com/office/drawing/2014/main" id="{3DF7954F-467F-4BC8-995E-48F4ED05A48B}"/>
              </a:ext>
            </a:extLst>
          </p:cNvPr>
          <p:cNvSpPr/>
          <p:nvPr/>
        </p:nvSpPr>
        <p:spPr bwMode="auto">
          <a:xfrm>
            <a:off x="6030709" y="3079320"/>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sp>
        <p:nvSpPr>
          <p:cNvPr id="38" name="Rectangle 147">
            <a:extLst>
              <a:ext uri="{FF2B5EF4-FFF2-40B4-BE49-F238E27FC236}">
                <a16:creationId xmlns:a16="http://schemas.microsoft.com/office/drawing/2014/main" id="{1B918758-0312-40E7-B24E-3E1F1C8AFA5F}"/>
              </a:ext>
            </a:extLst>
          </p:cNvPr>
          <p:cNvSpPr/>
          <p:nvPr/>
        </p:nvSpPr>
        <p:spPr bwMode="auto">
          <a:xfrm>
            <a:off x="4094443" y="4633490"/>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39" name="Rectangle 148">
            <a:extLst>
              <a:ext uri="{FF2B5EF4-FFF2-40B4-BE49-F238E27FC236}">
                <a16:creationId xmlns:a16="http://schemas.microsoft.com/office/drawing/2014/main" id="{EDE4A767-C2A3-421E-809A-9C7F905D74FE}"/>
              </a:ext>
            </a:extLst>
          </p:cNvPr>
          <p:cNvSpPr/>
          <p:nvPr/>
        </p:nvSpPr>
        <p:spPr bwMode="auto">
          <a:xfrm>
            <a:off x="4367052" y="4633490"/>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40" name="Rectangle 149">
            <a:extLst>
              <a:ext uri="{FF2B5EF4-FFF2-40B4-BE49-F238E27FC236}">
                <a16:creationId xmlns:a16="http://schemas.microsoft.com/office/drawing/2014/main" id="{985E341C-F89E-4D9F-870F-51A3793661C5}"/>
              </a:ext>
            </a:extLst>
          </p:cNvPr>
          <p:cNvSpPr/>
          <p:nvPr/>
        </p:nvSpPr>
        <p:spPr bwMode="auto">
          <a:xfrm>
            <a:off x="4627851" y="4633490"/>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41" name="Rectangle 150">
            <a:extLst>
              <a:ext uri="{FF2B5EF4-FFF2-40B4-BE49-F238E27FC236}">
                <a16:creationId xmlns:a16="http://schemas.microsoft.com/office/drawing/2014/main" id="{E77BFDC6-83FF-4767-8B4B-3635FA0364DA}"/>
              </a:ext>
            </a:extLst>
          </p:cNvPr>
          <p:cNvSpPr/>
          <p:nvPr/>
        </p:nvSpPr>
        <p:spPr bwMode="auto">
          <a:xfrm>
            <a:off x="6617675" y="4630606"/>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42" name="Rectangle 151">
            <a:extLst>
              <a:ext uri="{FF2B5EF4-FFF2-40B4-BE49-F238E27FC236}">
                <a16:creationId xmlns:a16="http://schemas.microsoft.com/office/drawing/2014/main" id="{49460E42-6668-4F47-A22D-42298605432E}"/>
              </a:ext>
            </a:extLst>
          </p:cNvPr>
          <p:cNvSpPr/>
          <p:nvPr/>
        </p:nvSpPr>
        <p:spPr bwMode="auto">
          <a:xfrm>
            <a:off x="2252663" y="4632325"/>
            <a:ext cx="1657350" cy="304800"/>
          </a:xfrm>
          <a:prstGeom prst="rect">
            <a:avLst/>
          </a:prstGeom>
          <a:solidFill>
            <a:srgbClr val="FF0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x1FE02</a:t>
            </a:r>
          </a:p>
        </p:txBody>
      </p:sp>
      <p:sp>
        <p:nvSpPr>
          <p:cNvPr id="43" name="Rectangle 152">
            <a:extLst>
              <a:ext uri="{FF2B5EF4-FFF2-40B4-BE49-F238E27FC236}">
                <a16:creationId xmlns:a16="http://schemas.microsoft.com/office/drawing/2014/main" id="{3448D893-370E-4840-B84C-680D96C65C80}"/>
              </a:ext>
            </a:extLst>
          </p:cNvPr>
          <p:cNvSpPr/>
          <p:nvPr/>
        </p:nvSpPr>
        <p:spPr bwMode="auto">
          <a:xfrm>
            <a:off x="1836738" y="4632325"/>
            <a:ext cx="273050"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44" name="Rectangle 153">
            <a:extLst>
              <a:ext uri="{FF2B5EF4-FFF2-40B4-BE49-F238E27FC236}">
                <a16:creationId xmlns:a16="http://schemas.microsoft.com/office/drawing/2014/main" id="{669FBB5A-2DC5-48ED-A1B4-CB154EF019CC}"/>
              </a:ext>
            </a:extLst>
          </p:cNvPr>
          <p:cNvSpPr/>
          <p:nvPr/>
        </p:nvSpPr>
        <p:spPr bwMode="auto">
          <a:xfrm>
            <a:off x="4901183" y="4633490"/>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45" name="Rectangle 154">
            <a:extLst>
              <a:ext uri="{FF2B5EF4-FFF2-40B4-BE49-F238E27FC236}">
                <a16:creationId xmlns:a16="http://schemas.microsoft.com/office/drawing/2014/main" id="{DD134606-BDC8-4D8B-9254-9C0953B549B2}"/>
              </a:ext>
            </a:extLst>
          </p:cNvPr>
          <p:cNvSpPr/>
          <p:nvPr/>
        </p:nvSpPr>
        <p:spPr bwMode="auto">
          <a:xfrm>
            <a:off x="6323357" y="4630687"/>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46" name="Rectangle 155">
            <a:extLst>
              <a:ext uri="{FF2B5EF4-FFF2-40B4-BE49-F238E27FC236}">
                <a16:creationId xmlns:a16="http://schemas.microsoft.com/office/drawing/2014/main" id="{047231A7-330F-476F-B7C1-3DD58612EFE7}"/>
              </a:ext>
            </a:extLst>
          </p:cNvPr>
          <p:cNvSpPr/>
          <p:nvPr/>
        </p:nvSpPr>
        <p:spPr bwMode="auto">
          <a:xfrm>
            <a:off x="5466785" y="4633490"/>
            <a:ext cx="292648"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47" name="Rectangle 156">
            <a:extLst>
              <a:ext uri="{FF2B5EF4-FFF2-40B4-BE49-F238E27FC236}">
                <a16:creationId xmlns:a16="http://schemas.microsoft.com/office/drawing/2014/main" id="{359D5F1A-2B3A-40BC-B1AF-6B78C3709419}"/>
              </a:ext>
            </a:extLst>
          </p:cNvPr>
          <p:cNvSpPr/>
          <p:nvPr/>
        </p:nvSpPr>
        <p:spPr bwMode="auto">
          <a:xfrm>
            <a:off x="5174859" y="4633490"/>
            <a:ext cx="292648"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48" name="Rectangle 155">
            <a:extLst>
              <a:ext uri="{FF2B5EF4-FFF2-40B4-BE49-F238E27FC236}">
                <a16:creationId xmlns:a16="http://schemas.microsoft.com/office/drawing/2014/main" id="{B8D58EFE-6E27-481E-B656-A80DF27CF648}"/>
              </a:ext>
            </a:extLst>
          </p:cNvPr>
          <p:cNvSpPr/>
          <p:nvPr/>
        </p:nvSpPr>
        <p:spPr bwMode="auto">
          <a:xfrm>
            <a:off x="5748368" y="4632786"/>
            <a:ext cx="292648"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49" name="Rectangle 155">
            <a:extLst>
              <a:ext uri="{FF2B5EF4-FFF2-40B4-BE49-F238E27FC236}">
                <a16:creationId xmlns:a16="http://schemas.microsoft.com/office/drawing/2014/main" id="{CE18BDDD-C636-4E88-A8B9-2696008941E1}"/>
              </a:ext>
            </a:extLst>
          </p:cNvPr>
          <p:cNvSpPr/>
          <p:nvPr/>
        </p:nvSpPr>
        <p:spPr bwMode="auto">
          <a:xfrm>
            <a:off x="6030709" y="4630768"/>
            <a:ext cx="292648" cy="304800"/>
          </a:xfrm>
          <a:prstGeom prst="rect">
            <a:avLst/>
          </a:prstGeom>
          <a:solidFill>
            <a:srgbClr val="FF99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sp>
        <p:nvSpPr>
          <p:cNvPr id="52" name="Rectangle 147">
            <a:extLst>
              <a:ext uri="{FF2B5EF4-FFF2-40B4-BE49-F238E27FC236}">
                <a16:creationId xmlns:a16="http://schemas.microsoft.com/office/drawing/2014/main" id="{34221C9B-46AF-41AE-B59E-7A514D58F05F}"/>
              </a:ext>
            </a:extLst>
          </p:cNvPr>
          <p:cNvSpPr/>
          <p:nvPr/>
        </p:nvSpPr>
        <p:spPr bwMode="auto">
          <a:xfrm>
            <a:off x="4094443" y="5041636"/>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0</a:t>
            </a:r>
          </a:p>
        </p:txBody>
      </p:sp>
      <p:sp>
        <p:nvSpPr>
          <p:cNvPr id="53" name="Rectangle 148">
            <a:extLst>
              <a:ext uri="{FF2B5EF4-FFF2-40B4-BE49-F238E27FC236}">
                <a16:creationId xmlns:a16="http://schemas.microsoft.com/office/drawing/2014/main" id="{0E46F6C8-2786-486E-8D33-2B37BAC1827C}"/>
              </a:ext>
            </a:extLst>
          </p:cNvPr>
          <p:cNvSpPr/>
          <p:nvPr/>
        </p:nvSpPr>
        <p:spPr bwMode="auto">
          <a:xfrm>
            <a:off x="4367052" y="5041636"/>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1</a:t>
            </a:r>
          </a:p>
        </p:txBody>
      </p:sp>
      <p:sp>
        <p:nvSpPr>
          <p:cNvPr id="54" name="Rectangle 149">
            <a:extLst>
              <a:ext uri="{FF2B5EF4-FFF2-40B4-BE49-F238E27FC236}">
                <a16:creationId xmlns:a16="http://schemas.microsoft.com/office/drawing/2014/main" id="{1719A52F-15CD-49FA-97AF-1B59F3834064}"/>
              </a:ext>
            </a:extLst>
          </p:cNvPr>
          <p:cNvSpPr/>
          <p:nvPr/>
        </p:nvSpPr>
        <p:spPr bwMode="auto">
          <a:xfrm>
            <a:off x="4627851" y="5041636"/>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2</a:t>
            </a:r>
          </a:p>
        </p:txBody>
      </p:sp>
      <p:sp>
        <p:nvSpPr>
          <p:cNvPr id="55" name="Rectangle 150">
            <a:extLst>
              <a:ext uri="{FF2B5EF4-FFF2-40B4-BE49-F238E27FC236}">
                <a16:creationId xmlns:a16="http://schemas.microsoft.com/office/drawing/2014/main" id="{449A4357-0001-4B7B-AB90-DBBB34FF39CE}"/>
              </a:ext>
            </a:extLst>
          </p:cNvPr>
          <p:cNvSpPr/>
          <p:nvPr/>
        </p:nvSpPr>
        <p:spPr bwMode="auto">
          <a:xfrm>
            <a:off x="6617675" y="5038752"/>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31</a:t>
            </a:r>
          </a:p>
        </p:txBody>
      </p:sp>
      <p:sp>
        <p:nvSpPr>
          <p:cNvPr id="56" name="Rectangle 151">
            <a:extLst>
              <a:ext uri="{FF2B5EF4-FFF2-40B4-BE49-F238E27FC236}">
                <a16:creationId xmlns:a16="http://schemas.microsoft.com/office/drawing/2014/main" id="{3CE6E141-F8E7-4F27-85F3-A0B7613F651C}"/>
              </a:ext>
            </a:extLst>
          </p:cNvPr>
          <p:cNvSpPr/>
          <p:nvPr/>
        </p:nvSpPr>
        <p:spPr bwMode="auto">
          <a:xfrm>
            <a:off x="2252663" y="5040313"/>
            <a:ext cx="1657350" cy="304800"/>
          </a:xfrm>
          <a:prstGeom prst="rect">
            <a:avLst/>
          </a:prstGeom>
          <a:solidFill>
            <a:srgbClr val="008000"/>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0</a:t>
            </a:r>
            <a:r>
              <a:rPr kumimoji="0" lang="en-US" altLang="zh-CN" sz="1600" b="1" kern="0" dirty="0">
                <a:solidFill>
                  <a:srgbClr val="FFFFFF"/>
                </a:solidFill>
                <a:latin typeface="Calibri" pitchFamily="34" charset="0"/>
                <a:ea typeface="楷体_GB2312"/>
              </a:rPr>
              <a:t>x06FF8</a:t>
            </a:r>
          </a:p>
        </p:txBody>
      </p:sp>
      <p:sp>
        <p:nvSpPr>
          <p:cNvPr id="57" name="Rectangle 152">
            <a:extLst>
              <a:ext uri="{FF2B5EF4-FFF2-40B4-BE49-F238E27FC236}">
                <a16:creationId xmlns:a16="http://schemas.microsoft.com/office/drawing/2014/main" id="{A75474C2-66D0-4981-A737-1C73F35F5A8C}"/>
              </a:ext>
            </a:extLst>
          </p:cNvPr>
          <p:cNvSpPr/>
          <p:nvPr/>
        </p:nvSpPr>
        <p:spPr bwMode="auto">
          <a:xfrm>
            <a:off x="1836738" y="5040313"/>
            <a:ext cx="273050" cy="304800"/>
          </a:xfrm>
          <a:prstGeom prst="rect">
            <a:avLst/>
          </a:prstGeom>
          <a:solidFill>
            <a:srgbClr val="00CCFF"/>
          </a:solidFill>
          <a:ln w="28575" cap="flat" cmpd="sng" algn="ctr">
            <a:solidFill>
              <a:schemeClr val="bg1"/>
            </a:solidFill>
            <a:prstDash val="solid"/>
            <a:round/>
            <a:headEnd type="none" w="med" len="med"/>
            <a:tailEnd type="triangle" w="med" len="med"/>
          </a:ln>
          <a:effectLst/>
        </p:spPr>
        <p:txBody>
          <a:bodyPr wrap="none" anchor="ctr"/>
          <a:lstStyle/>
          <a:p>
            <a:pPr algn="ctr" eaLnBrk="1" fontAlgn="auto" hangingPunct="1">
              <a:spcBef>
                <a:spcPts val="0"/>
              </a:spcBef>
              <a:spcAft>
                <a:spcPts val="0"/>
              </a:spcAft>
              <a:defRPr/>
            </a:pPr>
            <a:r>
              <a:rPr kumimoji="0" lang="en-US" sz="1600" b="1" kern="0" dirty="0">
                <a:solidFill>
                  <a:srgbClr val="FFFFFF"/>
                </a:solidFill>
                <a:latin typeface="Calibri" pitchFamily="34" charset="0"/>
                <a:ea typeface="楷体_GB2312"/>
              </a:rPr>
              <a:t>v</a:t>
            </a:r>
          </a:p>
        </p:txBody>
      </p:sp>
      <p:sp>
        <p:nvSpPr>
          <p:cNvPr id="58" name="Rectangle 153">
            <a:extLst>
              <a:ext uri="{FF2B5EF4-FFF2-40B4-BE49-F238E27FC236}">
                <a16:creationId xmlns:a16="http://schemas.microsoft.com/office/drawing/2014/main" id="{4D6F911A-FBDF-4EA2-AB24-527415C96CB6}"/>
              </a:ext>
            </a:extLst>
          </p:cNvPr>
          <p:cNvSpPr/>
          <p:nvPr/>
        </p:nvSpPr>
        <p:spPr bwMode="auto">
          <a:xfrm>
            <a:off x="4901183" y="5041636"/>
            <a:ext cx="272609"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3</a:t>
            </a:r>
          </a:p>
        </p:txBody>
      </p:sp>
      <p:sp>
        <p:nvSpPr>
          <p:cNvPr id="59" name="Rectangle 154">
            <a:extLst>
              <a:ext uri="{FF2B5EF4-FFF2-40B4-BE49-F238E27FC236}">
                <a16:creationId xmlns:a16="http://schemas.microsoft.com/office/drawing/2014/main" id="{B2BE7EC6-3D7A-4CAC-9844-9DD7AFEC3A60}"/>
              </a:ext>
            </a:extLst>
          </p:cNvPr>
          <p:cNvSpPr/>
          <p:nvPr/>
        </p:nvSpPr>
        <p:spPr bwMode="auto">
          <a:xfrm>
            <a:off x="6323357" y="5038833"/>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sym typeface="Symbol" panose="05050102010706020507" pitchFamily="18" charset="2"/>
              </a:rPr>
              <a:t></a:t>
            </a:r>
            <a:endParaRPr kumimoji="0" lang="en-US" sz="1600" b="1" kern="0" dirty="0">
              <a:ln>
                <a:solidFill>
                  <a:srgbClr val="FFFFFF"/>
                </a:solidFill>
              </a:ln>
              <a:solidFill>
                <a:srgbClr val="FFFFFF"/>
              </a:solidFill>
              <a:latin typeface="Calibri" pitchFamily="34" charset="0"/>
              <a:ea typeface="楷体_GB2312"/>
            </a:endParaRPr>
          </a:p>
        </p:txBody>
      </p:sp>
      <p:sp>
        <p:nvSpPr>
          <p:cNvPr id="60" name="Rectangle 155">
            <a:extLst>
              <a:ext uri="{FF2B5EF4-FFF2-40B4-BE49-F238E27FC236}">
                <a16:creationId xmlns:a16="http://schemas.microsoft.com/office/drawing/2014/main" id="{B0F320DA-8AB8-4329-ADE9-7BDD57515D3C}"/>
              </a:ext>
            </a:extLst>
          </p:cNvPr>
          <p:cNvSpPr/>
          <p:nvPr/>
        </p:nvSpPr>
        <p:spPr bwMode="auto">
          <a:xfrm>
            <a:off x="5466785" y="5041636"/>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5</a:t>
            </a:r>
          </a:p>
        </p:txBody>
      </p:sp>
      <p:sp>
        <p:nvSpPr>
          <p:cNvPr id="61" name="Rectangle 156">
            <a:extLst>
              <a:ext uri="{FF2B5EF4-FFF2-40B4-BE49-F238E27FC236}">
                <a16:creationId xmlns:a16="http://schemas.microsoft.com/office/drawing/2014/main" id="{414D8612-7CFB-47DA-BDD9-EA3729BD04F5}"/>
              </a:ext>
            </a:extLst>
          </p:cNvPr>
          <p:cNvSpPr/>
          <p:nvPr/>
        </p:nvSpPr>
        <p:spPr bwMode="auto">
          <a:xfrm>
            <a:off x="5174859" y="5041636"/>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4</a:t>
            </a:r>
          </a:p>
        </p:txBody>
      </p:sp>
      <p:sp>
        <p:nvSpPr>
          <p:cNvPr id="62" name="Rectangle 155">
            <a:extLst>
              <a:ext uri="{FF2B5EF4-FFF2-40B4-BE49-F238E27FC236}">
                <a16:creationId xmlns:a16="http://schemas.microsoft.com/office/drawing/2014/main" id="{25EED8EE-6E53-4120-8F0E-8BC80FD96398}"/>
              </a:ext>
            </a:extLst>
          </p:cNvPr>
          <p:cNvSpPr/>
          <p:nvPr/>
        </p:nvSpPr>
        <p:spPr bwMode="auto">
          <a:xfrm>
            <a:off x="5748368" y="5040932"/>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6</a:t>
            </a:r>
          </a:p>
        </p:txBody>
      </p:sp>
      <p:sp>
        <p:nvSpPr>
          <p:cNvPr id="63" name="Rectangle 155">
            <a:extLst>
              <a:ext uri="{FF2B5EF4-FFF2-40B4-BE49-F238E27FC236}">
                <a16:creationId xmlns:a16="http://schemas.microsoft.com/office/drawing/2014/main" id="{6581F6DE-6D0C-4FAB-9BBF-E166DEF96F70}"/>
              </a:ext>
            </a:extLst>
          </p:cNvPr>
          <p:cNvSpPr/>
          <p:nvPr/>
        </p:nvSpPr>
        <p:spPr bwMode="auto">
          <a:xfrm>
            <a:off x="6030709" y="5038914"/>
            <a:ext cx="292648" cy="304800"/>
          </a:xfrm>
          <a:prstGeom prst="rect">
            <a:avLst/>
          </a:prstGeom>
          <a:solidFill>
            <a:srgbClr val="9900CC"/>
          </a:solidFill>
          <a:ln w="28575" cap="flat" cmpd="sng" algn="ctr">
            <a:solidFill>
              <a:schemeClr val="bg1"/>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ln>
                  <a:solidFill>
                    <a:srgbClr val="FFFFFF"/>
                  </a:solidFill>
                </a:ln>
                <a:solidFill>
                  <a:srgbClr val="FFFFFF"/>
                </a:solidFill>
                <a:latin typeface="Calibri" pitchFamily="34" charset="0"/>
                <a:ea typeface="楷体_GB2312"/>
              </a:rPr>
              <a:t>7</a:t>
            </a:r>
          </a:p>
        </p:txBody>
      </p:sp>
      <p:cxnSp>
        <p:nvCxnSpPr>
          <p:cNvPr id="54317" name="Straight Connector 124">
            <a:extLst>
              <a:ext uri="{FF2B5EF4-FFF2-40B4-BE49-F238E27FC236}">
                <a16:creationId xmlns:a16="http://schemas.microsoft.com/office/drawing/2014/main" id="{7BCFE4C2-8BE2-4813-89E2-4165B7901B75}"/>
              </a:ext>
            </a:extLst>
          </p:cNvPr>
          <p:cNvCxnSpPr>
            <a:cxnSpLocks noChangeShapeType="1"/>
          </p:cNvCxnSpPr>
          <p:nvPr/>
        </p:nvCxnSpPr>
        <p:spPr bwMode="auto">
          <a:xfrm>
            <a:off x="1779588" y="4221163"/>
            <a:ext cx="5383212" cy="0"/>
          </a:xfrm>
          <a:prstGeom prst="line">
            <a:avLst/>
          </a:prstGeom>
          <a:noFill/>
          <a:ln w="76200" cap="rnd" algn="ctr">
            <a:solidFill>
              <a:srgbClr val="000000"/>
            </a:solidFill>
            <a:prstDash val="sysDot"/>
            <a:round/>
            <a:headEnd/>
            <a:tailEnd/>
          </a:ln>
          <a:extLst>
            <a:ext uri="{909E8E84-426E-40DD-AFC4-6F175D3DCCD1}">
              <a14:hiddenFill xmlns:a14="http://schemas.microsoft.com/office/drawing/2010/main">
                <a:noFill/>
              </a14:hiddenFill>
            </a:ext>
          </a:extLst>
        </p:spPr>
      </p:cxnSp>
      <p:cxnSp>
        <p:nvCxnSpPr>
          <p:cNvPr id="54318" name="直接连接符 66">
            <a:extLst>
              <a:ext uri="{FF2B5EF4-FFF2-40B4-BE49-F238E27FC236}">
                <a16:creationId xmlns:a16="http://schemas.microsoft.com/office/drawing/2014/main" id="{E4A9181F-395A-48E5-B5F2-7F03A32C14F4}"/>
              </a:ext>
            </a:extLst>
          </p:cNvPr>
          <p:cNvCxnSpPr>
            <a:cxnSpLocks noChangeShapeType="1"/>
            <a:stCxn id="54279" idx="2"/>
            <a:endCxn id="54279" idx="2"/>
          </p:cNvCxnSpPr>
          <p:nvPr/>
        </p:nvCxnSpPr>
        <p:spPr bwMode="auto">
          <a:xfrm>
            <a:off x="3111500" y="2060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miter lim="800000"/>
                <a:headEnd/>
                <a:tailEnd/>
              </a14:hiddenLine>
            </a:ext>
          </a:extLst>
        </p:spPr>
      </p:cxnSp>
      <p:cxnSp>
        <p:nvCxnSpPr>
          <p:cNvPr id="54319" name="直接连接符 68">
            <a:extLst>
              <a:ext uri="{FF2B5EF4-FFF2-40B4-BE49-F238E27FC236}">
                <a16:creationId xmlns:a16="http://schemas.microsoft.com/office/drawing/2014/main" id="{33AC87C4-9DBA-4B0D-ACEB-56736847A742}"/>
              </a:ext>
            </a:extLst>
          </p:cNvPr>
          <p:cNvCxnSpPr>
            <a:cxnSpLocks noChangeShapeType="1"/>
            <a:stCxn id="54279" idx="2"/>
          </p:cNvCxnSpPr>
          <p:nvPr/>
        </p:nvCxnSpPr>
        <p:spPr bwMode="auto">
          <a:xfrm>
            <a:off x="3111500" y="2060575"/>
            <a:ext cx="914400"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miter lim="800000"/>
                <a:headEnd/>
                <a:tailEnd/>
              </a14:hiddenLine>
            </a:ext>
          </a:extLst>
        </p:spPr>
      </p:cxnSp>
      <p:cxnSp>
        <p:nvCxnSpPr>
          <p:cNvPr id="54320" name="直接连接符 70">
            <a:extLst>
              <a:ext uri="{FF2B5EF4-FFF2-40B4-BE49-F238E27FC236}">
                <a16:creationId xmlns:a16="http://schemas.microsoft.com/office/drawing/2014/main" id="{01D4360F-C83A-4ABF-A8D3-22A1D559F26C}"/>
              </a:ext>
            </a:extLst>
          </p:cNvPr>
          <p:cNvCxnSpPr>
            <a:cxnSpLocks noChangeShapeType="1"/>
            <a:stCxn id="54279" idx="2"/>
          </p:cNvCxnSpPr>
          <p:nvPr/>
        </p:nvCxnSpPr>
        <p:spPr bwMode="auto">
          <a:xfrm>
            <a:off x="3111500" y="2060575"/>
            <a:ext cx="0" cy="42862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21" name="直接连接符 74">
            <a:extLst>
              <a:ext uri="{FF2B5EF4-FFF2-40B4-BE49-F238E27FC236}">
                <a16:creationId xmlns:a16="http://schemas.microsoft.com/office/drawing/2014/main" id="{1149EA50-D0A9-4C7F-86DB-4D6DAA0F641C}"/>
              </a:ext>
            </a:extLst>
          </p:cNvPr>
          <p:cNvCxnSpPr>
            <a:cxnSpLocks noChangeShapeType="1"/>
          </p:cNvCxnSpPr>
          <p:nvPr/>
        </p:nvCxnSpPr>
        <p:spPr bwMode="auto">
          <a:xfrm flipH="1" flipV="1">
            <a:off x="684213" y="2481263"/>
            <a:ext cx="2427287" cy="7937"/>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22" name="直接连接符 78">
            <a:extLst>
              <a:ext uri="{FF2B5EF4-FFF2-40B4-BE49-F238E27FC236}">
                <a16:creationId xmlns:a16="http://schemas.microsoft.com/office/drawing/2014/main" id="{C2EDFA27-3B25-48D6-AC44-D1FED5CE2E33}"/>
              </a:ext>
            </a:extLst>
          </p:cNvPr>
          <p:cNvCxnSpPr>
            <a:cxnSpLocks noChangeShapeType="1"/>
          </p:cNvCxnSpPr>
          <p:nvPr/>
        </p:nvCxnSpPr>
        <p:spPr bwMode="auto">
          <a:xfrm>
            <a:off x="684213" y="2486025"/>
            <a:ext cx="0" cy="1871663"/>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23" name="直接连接符 80">
            <a:extLst>
              <a:ext uri="{FF2B5EF4-FFF2-40B4-BE49-F238E27FC236}">
                <a16:creationId xmlns:a16="http://schemas.microsoft.com/office/drawing/2014/main" id="{53F21A0F-2C70-4F0F-A117-ECED02DA0167}"/>
              </a:ext>
            </a:extLst>
          </p:cNvPr>
          <p:cNvCxnSpPr>
            <a:cxnSpLocks noChangeShapeType="1"/>
          </p:cNvCxnSpPr>
          <p:nvPr/>
        </p:nvCxnSpPr>
        <p:spPr bwMode="auto">
          <a:xfrm flipV="1">
            <a:off x="684213" y="4354513"/>
            <a:ext cx="2397125" cy="317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24" name="直接连接符 82">
            <a:extLst>
              <a:ext uri="{FF2B5EF4-FFF2-40B4-BE49-F238E27FC236}">
                <a16:creationId xmlns:a16="http://schemas.microsoft.com/office/drawing/2014/main" id="{4B430E4C-7476-469E-A4AF-32F46B06CAAB}"/>
              </a:ext>
            </a:extLst>
          </p:cNvPr>
          <p:cNvCxnSpPr>
            <a:cxnSpLocks noChangeShapeType="1"/>
            <a:stCxn id="42" idx="2"/>
            <a:endCxn id="42" idx="2"/>
          </p:cNvCxnSpPr>
          <p:nvPr/>
        </p:nvCxnSpPr>
        <p:spPr bwMode="auto">
          <a:xfrm>
            <a:off x="3081338" y="4610100"/>
            <a:ext cx="0"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25" name="直接连接符 84">
            <a:extLst>
              <a:ext uri="{FF2B5EF4-FFF2-40B4-BE49-F238E27FC236}">
                <a16:creationId xmlns:a16="http://schemas.microsoft.com/office/drawing/2014/main" id="{930438D4-C339-44B7-9DA0-A59982D5AC4A}"/>
              </a:ext>
            </a:extLst>
          </p:cNvPr>
          <p:cNvCxnSpPr>
            <a:cxnSpLocks noChangeShapeType="1"/>
          </p:cNvCxnSpPr>
          <p:nvPr/>
        </p:nvCxnSpPr>
        <p:spPr bwMode="auto">
          <a:xfrm>
            <a:off x="3081338" y="4338638"/>
            <a:ext cx="0" cy="150812"/>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54326" name="文本框 89">
            <a:extLst>
              <a:ext uri="{FF2B5EF4-FFF2-40B4-BE49-F238E27FC236}">
                <a16:creationId xmlns:a16="http://schemas.microsoft.com/office/drawing/2014/main" id="{54468A57-B397-4167-A62B-68507B414CE0}"/>
              </a:ext>
            </a:extLst>
          </p:cNvPr>
          <p:cNvSpPr txBox="1">
            <a:spLocks noChangeArrowheads="1"/>
          </p:cNvSpPr>
          <p:nvPr/>
        </p:nvSpPr>
        <p:spPr bwMode="auto">
          <a:xfrm>
            <a:off x="603250" y="2117725"/>
            <a:ext cx="2276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匹配组内标签，命中</a:t>
            </a:r>
          </a:p>
        </p:txBody>
      </p:sp>
      <p:cxnSp>
        <p:nvCxnSpPr>
          <p:cNvPr id="54327" name="直接连接符 90">
            <a:extLst>
              <a:ext uri="{FF2B5EF4-FFF2-40B4-BE49-F238E27FC236}">
                <a16:creationId xmlns:a16="http://schemas.microsoft.com/office/drawing/2014/main" id="{690C4780-987D-4DC9-A385-12DA2A2E3D29}"/>
              </a:ext>
            </a:extLst>
          </p:cNvPr>
          <p:cNvCxnSpPr>
            <a:cxnSpLocks noChangeShapeType="1"/>
          </p:cNvCxnSpPr>
          <p:nvPr/>
        </p:nvCxnSpPr>
        <p:spPr bwMode="auto">
          <a:xfrm>
            <a:off x="5121275" y="2054225"/>
            <a:ext cx="0" cy="4318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28" name="直接连接符 96">
            <a:extLst>
              <a:ext uri="{FF2B5EF4-FFF2-40B4-BE49-F238E27FC236}">
                <a16:creationId xmlns:a16="http://schemas.microsoft.com/office/drawing/2014/main" id="{6367CB7C-20E3-4F90-9292-F6C67F099053}"/>
              </a:ext>
            </a:extLst>
          </p:cNvPr>
          <p:cNvCxnSpPr>
            <a:cxnSpLocks noChangeShapeType="1"/>
          </p:cNvCxnSpPr>
          <p:nvPr/>
        </p:nvCxnSpPr>
        <p:spPr bwMode="auto">
          <a:xfrm flipH="1" flipV="1">
            <a:off x="5121275" y="2486025"/>
            <a:ext cx="2474913" cy="22225"/>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29" name="直接连接符 98">
            <a:extLst>
              <a:ext uri="{FF2B5EF4-FFF2-40B4-BE49-F238E27FC236}">
                <a16:creationId xmlns:a16="http://schemas.microsoft.com/office/drawing/2014/main" id="{C3B8A166-BB66-4E9C-B489-63054A1DB220}"/>
              </a:ext>
            </a:extLst>
          </p:cNvPr>
          <p:cNvCxnSpPr>
            <a:cxnSpLocks noChangeShapeType="1"/>
          </p:cNvCxnSpPr>
          <p:nvPr/>
        </p:nvCxnSpPr>
        <p:spPr bwMode="auto">
          <a:xfrm>
            <a:off x="7596188" y="2495550"/>
            <a:ext cx="0" cy="1858963"/>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30" name="直接连接符 99">
            <a:extLst>
              <a:ext uri="{FF2B5EF4-FFF2-40B4-BE49-F238E27FC236}">
                <a16:creationId xmlns:a16="http://schemas.microsoft.com/office/drawing/2014/main" id="{19BCAC1A-0EE9-4BF8-9C3D-C2BE927CAB05}"/>
              </a:ext>
            </a:extLst>
          </p:cNvPr>
          <p:cNvCxnSpPr>
            <a:cxnSpLocks noChangeShapeType="1"/>
          </p:cNvCxnSpPr>
          <p:nvPr/>
        </p:nvCxnSpPr>
        <p:spPr bwMode="auto">
          <a:xfrm>
            <a:off x="5321300" y="4337050"/>
            <a:ext cx="2274888"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31" name="直接连接符 101">
            <a:extLst>
              <a:ext uri="{FF2B5EF4-FFF2-40B4-BE49-F238E27FC236}">
                <a16:creationId xmlns:a16="http://schemas.microsoft.com/office/drawing/2014/main" id="{6B944877-6029-4949-A692-14E2D71BB37C}"/>
              </a:ext>
            </a:extLst>
          </p:cNvPr>
          <p:cNvCxnSpPr>
            <a:cxnSpLocks noChangeShapeType="1"/>
          </p:cNvCxnSpPr>
          <p:nvPr/>
        </p:nvCxnSpPr>
        <p:spPr bwMode="auto">
          <a:xfrm>
            <a:off x="5321300" y="4343400"/>
            <a:ext cx="0" cy="16510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54332" name="文本框 102">
            <a:extLst>
              <a:ext uri="{FF2B5EF4-FFF2-40B4-BE49-F238E27FC236}">
                <a16:creationId xmlns:a16="http://schemas.microsoft.com/office/drawing/2014/main" id="{8410FC31-7016-4E41-B902-5079DF30B65C}"/>
              </a:ext>
            </a:extLst>
          </p:cNvPr>
          <p:cNvSpPr txBox="1">
            <a:spLocks noChangeArrowheads="1"/>
          </p:cNvSpPr>
          <p:nvPr/>
        </p:nvSpPr>
        <p:spPr bwMode="auto">
          <a:xfrm>
            <a:off x="5321300" y="2120900"/>
            <a:ext cx="3089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从偏移地址</a:t>
            </a:r>
            <a:r>
              <a:rPr lang="en-US" altLang="zh-CN" sz="1800" b="1">
                <a:solidFill>
                  <a:srgbClr val="FF0000"/>
                </a:solidFill>
                <a:ea typeface="楷体_GB2312" pitchFamily="49" charset="-122"/>
              </a:rPr>
              <a:t>4</a:t>
            </a:r>
            <a:r>
              <a:rPr lang="zh-CN" altLang="en-US" sz="1800" b="1">
                <a:solidFill>
                  <a:srgbClr val="FF0000"/>
                </a:solidFill>
                <a:ea typeface="楷体_GB2312" pitchFamily="49" charset="-122"/>
              </a:rPr>
              <a:t>开始读出一个字</a:t>
            </a:r>
          </a:p>
        </p:txBody>
      </p:sp>
      <p:sp>
        <p:nvSpPr>
          <p:cNvPr id="54333" name="圆角矩形 57">
            <a:extLst>
              <a:ext uri="{FF2B5EF4-FFF2-40B4-BE49-F238E27FC236}">
                <a16:creationId xmlns:a16="http://schemas.microsoft.com/office/drawing/2014/main" id="{69188D4A-51CB-4557-9EBE-7E3C3A85B009}"/>
              </a:ext>
            </a:extLst>
          </p:cNvPr>
          <p:cNvSpPr>
            <a:spLocks noChangeArrowheads="1"/>
          </p:cNvSpPr>
          <p:nvPr/>
        </p:nvSpPr>
        <p:spPr bwMode="auto">
          <a:xfrm>
            <a:off x="1331913" y="2662238"/>
            <a:ext cx="6100762" cy="3503612"/>
          </a:xfrm>
          <a:prstGeom prst="roundRect">
            <a:avLst>
              <a:gd name="adj" fmla="val 16667"/>
            </a:avLst>
          </a:prstGeom>
          <a:noFill/>
          <a:ln w="25400" algn="ctr">
            <a:solidFill>
              <a:srgbClr val="0033CC"/>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solidFill>
                <a:srgbClr val="000000"/>
              </a:solidFill>
            </a:endParaRPr>
          </a:p>
        </p:txBody>
      </p:sp>
      <p:sp>
        <p:nvSpPr>
          <p:cNvPr id="54334" name="文本框 104">
            <a:extLst>
              <a:ext uri="{FF2B5EF4-FFF2-40B4-BE49-F238E27FC236}">
                <a16:creationId xmlns:a16="http://schemas.microsoft.com/office/drawing/2014/main" id="{9930F8E0-0136-461B-95EE-6C5D7D69CEDF}"/>
              </a:ext>
            </a:extLst>
          </p:cNvPr>
          <p:cNvSpPr txBox="1">
            <a:spLocks noChangeArrowheads="1"/>
          </p:cNvSpPr>
          <p:nvPr/>
        </p:nvSpPr>
        <p:spPr bwMode="auto">
          <a:xfrm>
            <a:off x="3930650" y="5851525"/>
            <a:ext cx="760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800">
                <a:solidFill>
                  <a:srgbClr val="0033CC"/>
                </a:solidFill>
                <a:ea typeface="楷体_GB2312" pitchFamily="49" charset="-122"/>
              </a:rPr>
              <a:t>Cache</a:t>
            </a:r>
            <a:endParaRPr lang="zh-CN" altLang="en-US" sz="1800">
              <a:solidFill>
                <a:srgbClr val="0033CC"/>
              </a:solidFill>
              <a:ea typeface="楷体_GB2312" pitchFamily="49" charset="-122"/>
            </a:endParaRPr>
          </a:p>
        </p:txBody>
      </p:sp>
      <p:sp>
        <p:nvSpPr>
          <p:cNvPr id="54335" name="Rectangle 20">
            <a:extLst>
              <a:ext uri="{FF2B5EF4-FFF2-40B4-BE49-F238E27FC236}">
                <a16:creationId xmlns:a16="http://schemas.microsoft.com/office/drawing/2014/main" id="{F06008C0-A138-484F-BB81-E9E364C20636}"/>
              </a:ext>
            </a:extLst>
          </p:cNvPr>
          <p:cNvSpPr>
            <a:spLocks noChangeArrowheads="1"/>
          </p:cNvSpPr>
          <p:nvPr/>
        </p:nvSpPr>
        <p:spPr bwMode="auto">
          <a:xfrm>
            <a:off x="4025900" y="1700213"/>
            <a:ext cx="595313" cy="360362"/>
          </a:xfrm>
          <a:prstGeom prst="rect">
            <a:avLst/>
          </a:prstGeom>
          <a:solidFill>
            <a:srgbClr val="0033CC"/>
          </a:solidFill>
          <a:ln w="25400" algn="ctr">
            <a:solidFill>
              <a:schemeClr val="bg1"/>
            </a:solidFill>
            <a:miter lim="800000"/>
            <a:headEnd/>
            <a:tailEnd/>
          </a:ln>
          <a:effectLst>
            <a:outerShdw dist="35921" dir="2700000" algn="ctr" rotWithShape="0">
              <a:schemeClr val="bg2"/>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FFFF"/>
                </a:solidFill>
                <a:ea typeface="方正准圆简体" pitchFamily="2" charset="-122"/>
              </a:rPr>
              <a:t>10</a:t>
            </a:r>
          </a:p>
        </p:txBody>
      </p:sp>
      <p:sp>
        <p:nvSpPr>
          <p:cNvPr id="54336" name="Rectangle 20">
            <a:extLst>
              <a:ext uri="{FF2B5EF4-FFF2-40B4-BE49-F238E27FC236}">
                <a16:creationId xmlns:a16="http://schemas.microsoft.com/office/drawing/2014/main" id="{4B6CA698-029A-4EB1-8287-EDC51B909276}"/>
              </a:ext>
            </a:extLst>
          </p:cNvPr>
          <p:cNvSpPr>
            <a:spLocks noChangeArrowheads="1"/>
          </p:cNvSpPr>
          <p:nvPr/>
        </p:nvSpPr>
        <p:spPr bwMode="auto">
          <a:xfrm>
            <a:off x="4618038" y="1700213"/>
            <a:ext cx="1006475" cy="360362"/>
          </a:xfrm>
          <a:prstGeom prst="rect">
            <a:avLst/>
          </a:prstGeom>
          <a:solidFill>
            <a:srgbClr val="FF9900"/>
          </a:solidFill>
          <a:ln w="25400" algn="ctr">
            <a:solidFill>
              <a:schemeClr val="bg1"/>
            </a:solidFill>
            <a:miter lim="800000"/>
            <a:headEnd/>
            <a:tailEnd/>
          </a:ln>
          <a:effectLst>
            <a:outerShdw dist="35921" dir="2700000" algn="ctr" rotWithShape="0">
              <a:schemeClr val="bg2"/>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000">
                <a:solidFill>
                  <a:srgbClr val="FFFFFF"/>
                </a:solidFill>
                <a:ea typeface="方正准圆简体" pitchFamily="2" charset="-122"/>
              </a:rPr>
              <a:t>00100</a:t>
            </a:r>
          </a:p>
        </p:txBody>
      </p:sp>
      <p:cxnSp>
        <p:nvCxnSpPr>
          <p:cNvPr id="54337" name="直接连接符 83">
            <a:extLst>
              <a:ext uri="{FF2B5EF4-FFF2-40B4-BE49-F238E27FC236}">
                <a16:creationId xmlns:a16="http://schemas.microsoft.com/office/drawing/2014/main" id="{0E2003D5-2E11-4950-896B-4620088BCCA0}"/>
              </a:ext>
            </a:extLst>
          </p:cNvPr>
          <p:cNvCxnSpPr>
            <a:cxnSpLocks noChangeShapeType="1"/>
          </p:cNvCxnSpPr>
          <p:nvPr/>
        </p:nvCxnSpPr>
        <p:spPr bwMode="auto">
          <a:xfrm>
            <a:off x="4367213" y="2089150"/>
            <a:ext cx="0" cy="474663"/>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38" name="直接连接符 85">
            <a:extLst>
              <a:ext uri="{FF2B5EF4-FFF2-40B4-BE49-F238E27FC236}">
                <a16:creationId xmlns:a16="http://schemas.microsoft.com/office/drawing/2014/main" id="{8A3C1341-4DA7-4B50-AA91-6FD7F9A8744D}"/>
              </a:ext>
            </a:extLst>
          </p:cNvPr>
          <p:cNvCxnSpPr>
            <a:cxnSpLocks noChangeShapeType="1"/>
          </p:cNvCxnSpPr>
          <p:nvPr/>
        </p:nvCxnSpPr>
        <p:spPr bwMode="auto">
          <a:xfrm flipH="1" flipV="1">
            <a:off x="1187450" y="2555875"/>
            <a:ext cx="3187700" cy="7938"/>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39" name="直接连接符 88">
            <a:extLst>
              <a:ext uri="{FF2B5EF4-FFF2-40B4-BE49-F238E27FC236}">
                <a16:creationId xmlns:a16="http://schemas.microsoft.com/office/drawing/2014/main" id="{150D4633-370F-437A-A7C1-8137B79C3467}"/>
              </a:ext>
            </a:extLst>
          </p:cNvPr>
          <p:cNvCxnSpPr>
            <a:cxnSpLocks noChangeShapeType="1"/>
          </p:cNvCxnSpPr>
          <p:nvPr/>
        </p:nvCxnSpPr>
        <p:spPr bwMode="auto">
          <a:xfrm>
            <a:off x="1187450" y="2565400"/>
            <a:ext cx="0" cy="241935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54340" name="直接连接符 91">
            <a:extLst>
              <a:ext uri="{FF2B5EF4-FFF2-40B4-BE49-F238E27FC236}">
                <a16:creationId xmlns:a16="http://schemas.microsoft.com/office/drawing/2014/main" id="{0579A160-2D46-4E62-97BD-19ECC5DBAC35}"/>
              </a:ext>
            </a:extLst>
          </p:cNvPr>
          <p:cNvCxnSpPr>
            <a:cxnSpLocks noChangeShapeType="1"/>
          </p:cNvCxnSpPr>
          <p:nvPr/>
        </p:nvCxnSpPr>
        <p:spPr bwMode="auto">
          <a:xfrm>
            <a:off x="1187450" y="4984750"/>
            <a:ext cx="504825" cy="0"/>
          </a:xfrm>
          <a:prstGeom prst="line">
            <a:avLst/>
          </a:prstGeom>
          <a:noFill/>
          <a:ln w="22225" algn="ctr">
            <a:solidFill>
              <a:schemeClr val="tx1"/>
            </a:solidFill>
            <a:miter lim="800000"/>
            <a:headEnd/>
            <a:tailEnd/>
          </a:ln>
          <a:extLst>
            <a:ext uri="{909E8E84-426E-40DD-AFC4-6F175D3DCCD1}">
              <a14:hiddenFill xmlns:a14="http://schemas.microsoft.com/office/drawing/2010/main">
                <a:noFill/>
              </a14:hiddenFill>
            </a:ext>
          </a:extLst>
        </p:spPr>
      </p:cxnSp>
      <p:sp>
        <p:nvSpPr>
          <p:cNvPr id="54341" name="文本框 95">
            <a:extLst>
              <a:ext uri="{FF2B5EF4-FFF2-40B4-BE49-F238E27FC236}">
                <a16:creationId xmlns:a16="http://schemas.microsoft.com/office/drawing/2014/main" id="{962CE958-AA3D-49D9-8F16-3E2F3B77E846}"/>
              </a:ext>
            </a:extLst>
          </p:cNvPr>
          <p:cNvSpPr txBox="1">
            <a:spLocks noChangeArrowheads="1"/>
          </p:cNvSpPr>
          <p:nvPr/>
        </p:nvSpPr>
        <p:spPr bwMode="auto">
          <a:xfrm>
            <a:off x="3536950" y="2133600"/>
            <a:ext cx="882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1800" b="1">
                <a:solidFill>
                  <a:srgbClr val="FF0000"/>
                </a:solidFill>
                <a:ea typeface="楷体_GB2312" pitchFamily="49" charset="-122"/>
              </a:rPr>
              <a:t>选择组</a:t>
            </a:r>
          </a:p>
        </p:txBody>
      </p:sp>
      <p:cxnSp>
        <p:nvCxnSpPr>
          <p:cNvPr id="54342" name="Straight Connector 124">
            <a:extLst>
              <a:ext uri="{FF2B5EF4-FFF2-40B4-BE49-F238E27FC236}">
                <a16:creationId xmlns:a16="http://schemas.microsoft.com/office/drawing/2014/main" id="{DF6BF494-29F6-4378-85B2-D0CCBADCC68C}"/>
              </a:ext>
            </a:extLst>
          </p:cNvPr>
          <p:cNvCxnSpPr>
            <a:cxnSpLocks noChangeShapeType="1"/>
          </p:cNvCxnSpPr>
          <p:nvPr/>
        </p:nvCxnSpPr>
        <p:spPr bwMode="auto">
          <a:xfrm>
            <a:off x="1728788" y="5732463"/>
            <a:ext cx="5381625" cy="0"/>
          </a:xfrm>
          <a:prstGeom prst="line">
            <a:avLst/>
          </a:prstGeom>
          <a:noFill/>
          <a:ln w="76200" cap="rnd" algn="ctr">
            <a:solidFill>
              <a:srgbClr val="000000"/>
            </a:solidFill>
            <a:prstDash val="sysDot"/>
            <a:round/>
            <a:headEnd/>
            <a:tailEnd/>
          </a:ln>
          <a:extLst>
            <a:ext uri="{909E8E84-426E-40DD-AFC4-6F175D3DCCD1}">
              <a14:hiddenFill xmlns:a14="http://schemas.microsoft.com/office/drawing/2010/main">
                <a:noFill/>
              </a14:hiddenFill>
            </a:ext>
          </a:extLst>
        </p:spPr>
      </p:cxnSp>
      <p:sp>
        <p:nvSpPr>
          <p:cNvPr id="94" name="Text Box 111">
            <a:extLst>
              <a:ext uri="{FF2B5EF4-FFF2-40B4-BE49-F238E27FC236}">
                <a16:creationId xmlns:a16="http://schemas.microsoft.com/office/drawing/2014/main" id="{F4A45F34-EFE2-47BB-A02B-BE22788C03CA}"/>
              </a:ext>
            </a:extLst>
          </p:cNvPr>
          <p:cNvSpPr txBox="1">
            <a:spLocks noChangeArrowheads="1"/>
          </p:cNvSpPr>
          <p:nvPr/>
        </p:nvSpPr>
        <p:spPr bwMode="auto">
          <a:xfrm>
            <a:off x="1273175" y="3265488"/>
            <a:ext cx="492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lang="zh-CN" altLang="en-US" sz="1600" b="1" dirty="0">
                <a:latin typeface="+mn-ea"/>
                <a:ea typeface="+mn-ea"/>
              </a:rPr>
              <a:t>组</a:t>
            </a:r>
            <a:r>
              <a:rPr lang="en-US" altLang="zh-CN" sz="1600" b="1" dirty="0">
                <a:latin typeface="+mn-ea"/>
                <a:ea typeface="+mn-ea"/>
              </a:rPr>
              <a:t>0</a:t>
            </a:r>
          </a:p>
        </p:txBody>
      </p:sp>
      <p:sp>
        <p:nvSpPr>
          <p:cNvPr id="95" name="Text Box 111">
            <a:extLst>
              <a:ext uri="{FF2B5EF4-FFF2-40B4-BE49-F238E27FC236}">
                <a16:creationId xmlns:a16="http://schemas.microsoft.com/office/drawing/2014/main" id="{F3892376-244F-4797-8C57-6A3B8D90F3E9}"/>
              </a:ext>
            </a:extLst>
          </p:cNvPr>
          <p:cNvSpPr txBox="1">
            <a:spLocks noChangeArrowheads="1"/>
          </p:cNvSpPr>
          <p:nvPr/>
        </p:nvSpPr>
        <p:spPr bwMode="auto">
          <a:xfrm>
            <a:off x="1270000" y="4673600"/>
            <a:ext cx="4953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3200">
                <a:solidFill>
                  <a:schemeClr val="tx1"/>
                </a:solidFill>
                <a:latin typeface="Times New Roman" pitchFamily="18" charset="0"/>
                <a:ea typeface="黑体" pitchFamily="2" charset="-122"/>
              </a:defRPr>
            </a:lvl1pPr>
            <a:lvl2pPr marL="742950" indent="-285750" eaLnBrk="0" hangingPunct="0">
              <a:defRPr kumimoji="1" sz="3200">
                <a:solidFill>
                  <a:schemeClr val="tx1"/>
                </a:solidFill>
                <a:latin typeface="Times New Roman" pitchFamily="18" charset="0"/>
                <a:ea typeface="黑体" pitchFamily="2" charset="-122"/>
              </a:defRPr>
            </a:lvl2pPr>
            <a:lvl3pPr marL="1143000" indent="-228600" eaLnBrk="0" hangingPunct="0">
              <a:defRPr kumimoji="1" sz="3200">
                <a:solidFill>
                  <a:schemeClr val="tx1"/>
                </a:solidFill>
                <a:latin typeface="Times New Roman" pitchFamily="18" charset="0"/>
                <a:ea typeface="黑体" pitchFamily="2" charset="-122"/>
              </a:defRPr>
            </a:lvl3pPr>
            <a:lvl4pPr marL="1600200" indent="-228600" eaLnBrk="0" hangingPunct="0">
              <a:defRPr kumimoji="1" sz="3200">
                <a:solidFill>
                  <a:schemeClr val="tx1"/>
                </a:solidFill>
                <a:latin typeface="Times New Roman" pitchFamily="18" charset="0"/>
                <a:ea typeface="黑体" pitchFamily="2" charset="-122"/>
              </a:defRPr>
            </a:lvl4pPr>
            <a:lvl5pPr marL="2057400" indent="-228600" eaLnBrk="0" hangingPunct="0">
              <a:defRPr kumimoji="1" sz="3200">
                <a:solidFill>
                  <a:schemeClr val="tx1"/>
                </a:solidFill>
                <a:latin typeface="Times New Roman" pitchFamily="18" charset="0"/>
                <a:ea typeface="黑体" pitchFamily="2" charset="-122"/>
              </a:defRPr>
            </a:lvl5pPr>
            <a:lvl6pPr marL="25146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6pPr>
            <a:lvl7pPr marL="29718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7pPr>
            <a:lvl8pPr marL="34290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8pPr>
            <a:lvl9pPr marL="3886200" indent="-228600" algn="ctr" eaLnBrk="0" fontAlgn="base" hangingPunct="0">
              <a:spcBef>
                <a:spcPct val="20000"/>
              </a:spcBef>
              <a:spcAft>
                <a:spcPct val="0"/>
              </a:spcAft>
              <a:buFont typeface="Wingdings" pitchFamily="2" charset="2"/>
              <a:defRPr kumimoji="1" sz="3200">
                <a:solidFill>
                  <a:schemeClr val="tx1"/>
                </a:solidFill>
                <a:latin typeface="Times New Roman" pitchFamily="18" charset="0"/>
                <a:ea typeface="黑体" pitchFamily="2" charset="-122"/>
              </a:defRPr>
            </a:lvl9pPr>
          </a:lstStyle>
          <a:p>
            <a:pPr eaLnBrk="1" hangingPunct="1">
              <a:defRPr/>
            </a:pPr>
            <a:r>
              <a:rPr lang="zh-CN" altLang="en-US" sz="1600" b="1" dirty="0">
                <a:latin typeface="+mn-ea"/>
                <a:ea typeface="+mn-ea"/>
              </a:rPr>
              <a:t>组</a:t>
            </a:r>
            <a:r>
              <a:rPr lang="en-US" altLang="zh-CN" sz="1600" b="1" dirty="0">
                <a:latin typeface="+mn-ea"/>
                <a:ea typeface="+mn-ea"/>
              </a:rPr>
              <a:t>2</a:t>
            </a:r>
          </a:p>
        </p:txBody>
      </p:sp>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5F9758-DC63-4AF9-83D1-51F4FBD4EBE9}"/>
              </a:ext>
            </a:extLst>
          </p:cNvPr>
          <p:cNvSpPr>
            <a:spLocks noGrp="1"/>
          </p:cNvSpPr>
          <p:nvPr>
            <p:ph type="title"/>
          </p:nvPr>
        </p:nvSpPr>
        <p:spPr/>
        <p:txBody>
          <a:bodyPr/>
          <a:lstStyle/>
          <a:p>
            <a:pPr>
              <a:defRPr/>
            </a:pPr>
            <a:r>
              <a:rPr lang="en-US" altLang="zh-CN"/>
              <a:t>4</a:t>
            </a:r>
            <a:r>
              <a:rPr lang="zh-CN" altLang="en-US"/>
              <a:t>路组相联映射的一个实现</a:t>
            </a:r>
          </a:p>
        </p:txBody>
      </p:sp>
      <p:sp>
        <p:nvSpPr>
          <p:cNvPr id="55300" name="Text Box 4">
            <a:extLst>
              <a:ext uri="{FF2B5EF4-FFF2-40B4-BE49-F238E27FC236}">
                <a16:creationId xmlns:a16="http://schemas.microsoft.com/office/drawing/2014/main" id="{8A1AAEB3-DDD3-4AA5-846E-1F0B90DDE38B}"/>
              </a:ext>
            </a:extLst>
          </p:cNvPr>
          <p:cNvSpPr txBox="1">
            <a:spLocks noChangeArrowheads="1"/>
          </p:cNvSpPr>
          <p:nvPr/>
        </p:nvSpPr>
        <p:spPr bwMode="auto">
          <a:xfrm>
            <a:off x="3768725" y="1011238"/>
            <a:ext cx="8286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200" b="1">
                <a:solidFill>
                  <a:srgbClr val="000000"/>
                </a:solidFill>
                <a:latin typeface="Courier New" panose="02070309020205020404" pitchFamily="49" charset="0"/>
                <a:ea typeface="宋体" panose="02010600030101010101" pitchFamily="2" charset="-122"/>
              </a:rPr>
              <a:t>Address</a:t>
            </a:r>
          </a:p>
        </p:txBody>
      </p:sp>
      <p:sp>
        <p:nvSpPr>
          <p:cNvPr id="55301" name="Text Box 5">
            <a:extLst>
              <a:ext uri="{FF2B5EF4-FFF2-40B4-BE49-F238E27FC236}">
                <a16:creationId xmlns:a16="http://schemas.microsoft.com/office/drawing/2014/main" id="{13450D3A-D9AF-4968-B9E4-79178721B5B0}"/>
              </a:ext>
            </a:extLst>
          </p:cNvPr>
          <p:cNvSpPr txBox="1">
            <a:spLocks noChangeArrowheads="1"/>
          </p:cNvSpPr>
          <p:nvPr/>
        </p:nvSpPr>
        <p:spPr bwMode="auto">
          <a:xfrm>
            <a:off x="522288" y="5705475"/>
            <a:ext cx="80962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600" b="1">
                <a:solidFill>
                  <a:srgbClr val="000000"/>
                </a:solidFill>
                <a:latin typeface="Tahoma" panose="020B0604030504040204" pitchFamily="34" charset="0"/>
                <a:ea typeface="宋体" panose="02010600030101010101" pitchFamily="2" charset="-122"/>
              </a:rPr>
              <a:t>4-way set-associative cache with </a:t>
            </a:r>
            <a:r>
              <a:rPr kumimoji="0" lang="en-US" altLang="zh-CN" sz="1600" b="1">
                <a:solidFill>
                  <a:srgbClr val="FF0000"/>
                </a:solidFill>
                <a:latin typeface="Tahoma" panose="020B0604030504040204" pitchFamily="34" charset="0"/>
                <a:ea typeface="宋体" panose="02010600030101010101" pitchFamily="2" charset="-122"/>
              </a:rPr>
              <a:t>4 comparators </a:t>
            </a:r>
            <a:r>
              <a:rPr kumimoji="0" lang="en-US" altLang="zh-CN" sz="1600" b="1">
                <a:solidFill>
                  <a:srgbClr val="000000"/>
                </a:solidFill>
                <a:latin typeface="Tahoma" panose="020B0604030504040204" pitchFamily="34" charset="0"/>
                <a:ea typeface="宋体" panose="02010600030101010101" pitchFamily="2" charset="-122"/>
              </a:rPr>
              <a:t>and one </a:t>
            </a:r>
            <a:r>
              <a:rPr kumimoji="0" lang="en-US" altLang="zh-CN" sz="1600" b="1">
                <a:solidFill>
                  <a:srgbClr val="FF0000"/>
                </a:solidFill>
                <a:latin typeface="Tahoma" panose="020B0604030504040204" pitchFamily="34" charset="0"/>
                <a:ea typeface="宋体" panose="02010600030101010101" pitchFamily="2" charset="-122"/>
              </a:rPr>
              <a:t>4-to-1 multiplexor</a:t>
            </a:r>
            <a:endParaRPr kumimoji="0" lang="en-US" altLang="zh-CN" sz="1600" b="1">
              <a:solidFill>
                <a:srgbClr val="000000"/>
              </a:solidFill>
              <a:latin typeface="Tahoma" panose="020B0604030504040204" pitchFamily="34" charset="0"/>
              <a:ea typeface="宋体" panose="02010600030101010101" pitchFamily="2" charset="-122"/>
            </a:endParaRPr>
          </a:p>
        </p:txBody>
      </p:sp>
      <p:sp>
        <p:nvSpPr>
          <p:cNvPr id="8" name="Oval 6">
            <a:extLst>
              <a:ext uri="{FF2B5EF4-FFF2-40B4-BE49-F238E27FC236}">
                <a16:creationId xmlns:a16="http://schemas.microsoft.com/office/drawing/2014/main" id="{19D15B75-B576-428B-8247-6958F4A131C8}"/>
              </a:ext>
            </a:extLst>
          </p:cNvPr>
          <p:cNvSpPr>
            <a:spLocks noChangeArrowheads="1"/>
          </p:cNvSpPr>
          <p:nvPr/>
        </p:nvSpPr>
        <p:spPr bwMode="auto">
          <a:xfrm>
            <a:off x="2057400" y="2720975"/>
            <a:ext cx="5791200" cy="381000"/>
          </a:xfrm>
          <a:prstGeom prst="ellipse">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kern="0">
              <a:solidFill>
                <a:srgbClr val="000000"/>
              </a:solidFill>
              <a:latin typeface="Tahoma" panose="020B0604030504040204" pitchFamily="34" charset="0"/>
              <a:ea typeface="+mn-ea"/>
            </a:endParaRPr>
          </a:p>
        </p:txBody>
      </p:sp>
      <p:sp>
        <p:nvSpPr>
          <p:cNvPr id="55303" name="Text Box 7">
            <a:extLst>
              <a:ext uri="{FF2B5EF4-FFF2-40B4-BE49-F238E27FC236}">
                <a16:creationId xmlns:a16="http://schemas.microsoft.com/office/drawing/2014/main" id="{5E1A9926-FCE0-4F22-A8EF-1A6ECFC1DD64}"/>
              </a:ext>
            </a:extLst>
          </p:cNvPr>
          <p:cNvSpPr txBox="1">
            <a:spLocks noChangeArrowheads="1"/>
          </p:cNvSpPr>
          <p:nvPr/>
        </p:nvSpPr>
        <p:spPr bwMode="auto">
          <a:xfrm>
            <a:off x="7832725" y="2765425"/>
            <a:ext cx="4714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en-US" altLang="zh-CN" sz="1600">
                <a:solidFill>
                  <a:srgbClr val="FF0000"/>
                </a:solidFill>
                <a:latin typeface="Tahoma" panose="020B0604030504040204" pitchFamily="34" charset="0"/>
                <a:ea typeface="宋体" panose="02010600030101010101" pitchFamily="2" charset="-122"/>
              </a:rPr>
              <a:t>Set</a:t>
            </a:r>
          </a:p>
        </p:txBody>
      </p:sp>
      <p:sp>
        <p:nvSpPr>
          <p:cNvPr id="55304" name="AutoShape 3">
            <a:extLst>
              <a:ext uri="{FF2B5EF4-FFF2-40B4-BE49-F238E27FC236}">
                <a16:creationId xmlns:a16="http://schemas.microsoft.com/office/drawing/2014/main" id="{1C0982FC-97EF-4909-AD32-445DD58EEA8C}"/>
              </a:ext>
            </a:extLst>
          </p:cNvPr>
          <p:cNvSpPr>
            <a:spLocks noChangeAspect="1" noChangeArrowheads="1" noTextEdit="1"/>
          </p:cNvSpPr>
          <p:nvPr/>
        </p:nvSpPr>
        <p:spPr bwMode="auto">
          <a:xfrm>
            <a:off x="1676400" y="1196975"/>
            <a:ext cx="5791200" cy="448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05" name="Line 5">
            <a:extLst>
              <a:ext uri="{FF2B5EF4-FFF2-40B4-BE49-F238E27FC236}">
                <a16:creationId xmlns:a16="http://schemas.microsoft.com/office/drawing/2014/main" id="{F165700D-D49E-4E67-9561-652787BBDD3E}"/>
              </a:ext>
            </a:extLst>
          </p:cNvPr>
          <p:cNvSpPr>
            <a:spLocks noChangeShapeType="1"/>
          </p:cNvSpPr>
          <p:nvPr/>
        </p:nvSpPr>
        <p:spPr bwMode="auto">
          <a:xfrm flipV="1">
            <a:off x="4567238" y="1430338"/>
            <a:ext cx="0" cy="1682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6" name="Line 6">
            <a:extLst>
              <a:ext uri="{FF2B5EF4-FFF2-40B4-BE49-F238E27FC236}">
                <a16:creationId xmlns:a16="http://schemas.microsoft.com/office/drawing/2014/main" id="{D4389557-A0DB-462E-A52E-6F3960B5DD6E}"/>
              </a:ext>
            </a:extLst>
          </p:cNvPr>
          <p:cNvSpPr>
            <a:spLocks noChangeShapeType="1"/>
          </p:cNvSpPr>
          <p:nvPr/>
        </p:nvSpPr>
        <p:spPr bwMode="auto">
          <a:xfrm flipV="1">
            <a:off x="3786188" y="1419225"/>
            <a:ext cx="0" cy="17303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7" name="Freeform 7">
            <a:extLst>
              <a:ext uri="{FF2B5EF4-FFF2-40B4-BE49-F238E27FC236}">
                <a16:creationId xmlns:a16="http://schemas.microsoft.com/office/drawing/2014/main" id="{8D13DFBD-B667-49DF-96D9-EA4D28DC37CA}"/>
              </a:ext>
            </a:extLst>
          </p:cNvPr>
          <p:cNvSpPr>
            <a:spLocks/>
          </p:cNvSpPr>
          <p:nvPr/>
        </p:nvSpPr>
        <p:spPr bwMode="auto">
          <a:xfrm>
            <a:off x="3216275" y="1422400"/>
            <a:ext cx="1947863" cy="179388"/>
          </a:xfrm>
          <a:custGeom>
            <a:avLst/>
            <a:gdLst>
              <a:gd name="T0" fmla="*/ 0 w 1227"/>
              <a:gd name="T1" fmla="*/ 2147483646 h 113"/>
              <a:gd name="T2" fmla="*/ 2147483646 w 1227"/>
              <a:gd name="T3" fmla="*/ 0 h 113"/>
              <a:gd name="T4" fmla="*/ 2147483646 w 1227"/>
              <a:gd name="T5" fmla="*/ 0 h 113"/>
              <a:gd name="T6" fmla="*/ 2147483646 w 1227"/>
              <a:gd name="T7" fmla="*/ 2147483646 h 113"/>
              <a:gd name="T8" fmla="*/ 2147483646 w 1227"/>
              <a:gd name="T9" fmla="*/ 2147483646 h 113"/>
              <a:gd name="T10" fmla="*/ 2147483646 w 1227"/>
              <a:gd name="T11" fmla="*/ 2147483646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27" h="113">
                <a:moveTo>
                  <a:pt x="0" y="111"/>
                </a:moveTo>
                <a:lnTo>
                  <a:pt x="2" y="0"/>
                </a:lnTo>
                <a:lnTo>
                  <a:pt x="1227" y="0"/>
                </a:lnTo>
                <a:lnTo>
                  <a:pt x="1227" y="113"/>
                </a:lnTo>
                <a:lnTo>
                  <a:pt x="2" y="113"/>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08" name="Freeform 15">
            <a:extLst>
              <a:ext uri="{FF2B5EF4-FFF2-40B4-BE49-F238E27FC236}">
                <a16:creationId xmlns:a16="http://schemas.microsoft.com/office/drawing/2014/main" id="{6A3EE76B-3786-430C-8AED-D0C6DC7B6416}"/>
              </a:ext>
            </a:extLst>
          </p:cNvPr>
          <p:cNvSpPr>
            <a:spLocks/>
          </p:cNvSpPr>
          <p:nvPr/>
        </p:nvSpPr>
        <p:spPr bwMode="auto">
          <a:xfrm>
            <a:off x="2782888" y="3735388"/>
            <a:ext cx="53975" cy="50800"/>
          </a:xfrm>
          <a:custGeom>
            <a:avLst/>
            <a:gdLst>
              <a:gd name="T0" fmla="*/ 2147483646 w 34"/>
              <a:gd name="T1" fmla="*/ 0 h 32"/>
              <a:gd name="T2" fmla="*/ 0 w 34"/>
              <a:gd name="T3" fmla="*/ 0 h 32"/>
              <a:gd name="T4" fmla="*/ 2147483646 w 34"/>
              <a:gd name="T5" fmla="*/ 2147483646 h 32"/>
              <a:gd name="T6" fmla="*/ 2147483646 w 34"/>
              <a:gd name="T7" fmla="*/ 0 h 32"/>
              <a:gd name="T8" fmla="*/ 2147483646 w 34"/>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2">
                <a:moveTo>
                  <a:pt x="34" y="0"/>
                </a:moveTo>
                <a:lnTo>
                  <a:pt x="0" y="0"/>
                </a:lnTo>
                <a:lnTo>
                  <a:pt x="18" y="32"/>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09" name="Line 16">
            <a:extLst>
              <a:ext uri="{FF2B5EF4-FFF2-40B4-BE49-F238E27FC236}">
                <a16:creationId xmlns:a16="http://schemas.microsoft.com/office/drawing/2014/main" id="{07AB9F7F-859F-4972-907F-D8159296604C}"/>
              </a:ext>
            </a:extLst>
          </p:cNvPr>
          <p:cNvSpPr>
            <a:spLocks noChangeShapeType="1"/>
          </p:cNvSpPr>
          <p:nvPr/>
        </p:nvSpPr>
        <p:spPr bwMode="auto">
          <a:xfrm>
            <a:off x="3492500" y="1700213"/>
            <a:ext cx="142875" cy="762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0" name="Rectangle 17">
            <a:extLst>
              <a:ext uri="{FF2B5EF4-FFF2-40B4-BE49-F238E27FC236}">
                <a16:creationId xmlns:a16="http://schemas.microsoft.com/office/drawing/2014/main" id="{3F8E2727-3D32-430B-929E-2DE8B0F8AD7F}"/>
              </a:ext>
            </a:extLst>
          </p:cNvPr>
          <p:cNvSpPr>
            <a:spLocks noChangeArrowheads="1"/>
          </p:cNvSpPr>
          <p:nvPr/>
        </p:nvSpPr>
        <p:spPr bwMode="auto">
          <a:xfrm>
            <a:off x="3636963" y="1646238"/>
            <a:ext cx="63500" cy="13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900">
                <a:solidFill>
                  <a:srgbClr val="000000"/>
                </a:solidFill>
                <a:latin typeface="Arial" panose="020B0604020202020204" pitchFamily="34" charset="0"/>
              </a:rPr>
              <a:t>1</a:t>
            </a:r>
            <a:endParaRPr lang="zh-CN" altLang="zh-CN"/>
          </a:p>
        </p:txBody>
      </p:sp>
      <p:sp>
        <p:nvSpPr>
          <p:cNvPr id="55311" name="Rectangle 18">
            <a:extLst>
              <a:ext uri="{FF2B5EF4-FFF2-40B4-BE49-F238E27FC236}">
                <a16:creationId xmlns:a16="http://schemas.microsoft.com/office/drawing/2014/main" id="{C178405C-D906-4591-ACBB-22B40937C721}"/>
              </a:ext>
            </a:extLst>
          </p:cNvPr>
          <p:cNvSpPr>
            <a:spLocks noChangeArrowheads="1"/>
          </p:cNvSpPr>
          <p:nvPr/>
        </p:nvSpPr>
        <p:spPr bwMode="auto">
          <a:xfrm>
            <a:off x="3697288" y="1646238"/>
            <a:ext cx="63500" cy="13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900">
                <a:solidFill>
                  <a:srgbClr val="000000"/>
                </a:solidFill>
                <a:latin typeface="Arial" panose="020B0604020202020204" pitchFamily="34" charset="0"/>
              </a:rPr>
              <a:t>9</a:t>
            </a:r>
            <a:endParaRPr lang="zh-CN" altLang="zh-CN"/>
          </a:p>
        </p:txBody>
      </p:sp>
      <p:sp>
        <p:nvSpPr>
          <p:cNvPr id="55312" name="Line 19">
            <a:extLst>
              <a:ext uri="{FF2B5EF4-FFF2-40B4-BE49-F238E27FC236}">
                <a16:creationId xmlns:a16="http://schemas.microsoft.com/office/drawing/2014/main" id="{8531F184-3E88-46EE-AF2F-AA7E47AF61A5}"/>
              </a:ext>
            </a:extLst>
          </p:cNvPr>
          <p:cNvSpPr>
            <a:spLocks noChangeShapeType="1"/>
          </p:cNvSpPr>
          <p:nvPr/>
        </p:nvSpPr>
        <p:spPr bwMode="auto">
          <a:xfrm>
            <a:off x="4197350" y="1722438"/>
            <a:ext cx="142875" cy="762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3" name="Rectangle 20">
            <a:extLst>
              <a:ext uri="{FF2B5EF4-FFF2-40B4-BE49-F238E27FC236}">
                <a16:creationId xmlns:a16="http://schemas.microsoft.com/office/drawing/2014/main" id="{11C981D8-20A0-41F2-8A70-1250D75DED7F}"/>
              </a:ext>
            </a:extLst>
          </p:cNvPr>
          <p:cNvSpPr>
            <a:spLocks noChangeArrowheads="1"/>
          </p:cNvSpPr>
          <p:nvPr/>
        </p:nvSpPr>
        <p:spPr bwMode="auto">
          <a:xfrm>
            <a:off x="4330700" y="16351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8</a:t>
            </a:r>
            <a:endParaRPr lang="zh-CN" altLang="zh-CN"/>
          </a:p>
        </p:txBody>
      </p:sp>
      <p:sp>
        <p:nvSpPr>
          <p:cNvPr id="55314" name="Freeform 21">
            <a:extLst>
              <a:ext uri="{FF2B5EF4-FFF2-40B4-BE49-F238E27FC236}">
                <a16:creationId xmlns:a16="http://schemas.microsoft.com/office/drawing/2014/main" id="{C8A8779A-5156-4EA8-B0C3-56A74E8335AF}"/>
              </a:ext>
            </a:extLst>
          </p:cNvPr>
          <p:cNvSpPr>
            <a:spLocks/>
          </p:cNvSpPr>
          <p:nvPr/>
        </p:nvSpPr>
        <p:spPr bwMode="auto">
          <a:xfrm>
            <a:off x="2482850" y="2386013"/>
            <a:ext cx="1041400" cy="153987"/>
          </a:xfrm>
          <a:custGeom>
            <a:avLst/>
            <a:gdLst>
              <a:gd name="T0" fmla="*/ 2147483646 w 656"/>
              <a:gd name="T1" fmla="*/ 2147483646 h 97"/>
              <a:gd name="T2" fmla="*/ 2147483646 w 656"/>
              <a:gd name="T3" fmla="*/ 0 h 97"/>
              <a:gd name="T4" fmla="*/ 0 w 656"/>
              <a:gd name="T5" fmla="*/ 0 h 97"/>
              <a:gd name="T6" fmla="*/ 0 w 656"/>
              <a:gd name="T7" fmla="*/ 2147483646 h 97"/>
              <a:gd name="T8" fmla="*/ 2147483646 w 656"/>
              <a:gd name="T9" fmla="*/ 2147483646 h 97"/>
              <a:gd name="T10" fmla="*/ 2147483646 w 656"/>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6" h="97">
                <a:moveTo>
                  <a:pt x="656" y="97"/>
                </a:moveTo>
                <a:lnTo>
                  <a:pt x="656" y="0"/>
                </a:lnTo>
                <a:lnTo>
                  <a:pt x="0" y="0"/>
                </a:lnTo>
                <a:lnTo>
                  <a:pt x="0" y="97"/>
                </a:lnTo>
                <a:lnTo>
                  <a:pt x="656"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15" name="Rectangle 22">
            <a:extLst>
              <a:ext uri="{FF2B5EF4-FFF2-40B4-BE49-F238E27FC236}">
                <a16:creationId xmlns:a16="http://schemas.microsoft.com/office/drawing/2014/main" id="{0F069F87-F5A2-4802-9110-FC3AF44BDFE1}"/>
              </a:ext>
            </a:extLst>
          </p:cNvPr>
          <p:cNvSpPr>
            <a:spLocks noChangeArrowheads="1"/>
          </p:cNvSpPr>
          <p:nvPr/>
        </p:nvSpPr>
        <p:spPr bwMode="auto">
          <a:xfrm>
            <a:off x="2514600" y="2230438"/>
            <a:ext cx="1365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V</a:t>
            </a:r>
            <a:endParaRPr lang="zh-CN" altLang="zh-CN"/>
          </a:p>
        </p:txBody>
      </p:sp>
      <p:sp>
        <p:nvSpPr>
          <p:cNvPr id="55316" name="Rectangle 23">
            <a:extLst>
              <a:ext uri="{FF2B5EF4-FFF2-40B4-BE49-F238E27FC236}">
                <a16:creationId xmlns:a16="http://schemas.microsoft.com/office/drawing/2014/main" id="{0BA6E59B-4167-4166-9FD9-B3EACD7DE365}"/>
              </a:ext>
            </a:extLst>
          </p:cNvPr>
          <p:cNvSpPr>
            <a:spLocks noChangeArrowheads="1"/>
          </p:cNvSpPr>
          <p:nvPr/>
        </p:nvSpPr>
        <p:spPr bwMode="auto">
          <a:xfrm>
            <a:off x="2733675" y="2230438"/>
            <a:ext cx="1285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317" name="Rectangle 24">
            <a:extLst>
              <a:ext uri="{FF2B5EF4-FFF2-40B4-BE49-F238E27FC236}">
                <a16:creationId xmlns:a16="http://schemas.microsoft.com/office/drawing/2014/main" id="{F50E8FEA-8C2A-4087-8CD3-9742E8871A3B}"/>
              </a:ext>
            </a:extLst>
          </p:cNvPr>
          <p:cNvSpPr>
            <a:spLocks noChangeArrowheads="1"/>
          </p:cNvSpPr>
          <p:nvPr/>
        </p:nvSpPr>
        <p:spPr bwMode="auto">
          <a:xfrm>
            <a:off x="2805113"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318" name="Rectangle 25">
            <a:extLst>
              <a:ext uri="{FF2B5EF4-FFF2-40B4-BE49-F238E27FC236}">
                <a16:creationId xmlns:a16="http://schemas.microsoft.com/office/drawing/2014/main" id="{AC214830-62DB-4792-8EDC-8DD477FC5FF8}"/>
              </a:ext>
            </a:extLst>
          </p:cNvPr>
          <p:cNvSpPr>
            <a:spLocks noChangeArrowheads="1"/>
          </p:cNvSpPr>
          <p:nvPr/>
        </p:nvSpPr>
        <p:spPr bwMode="auto">
          <a:xfrm>
            <a:off x="2873375"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g</a:t>
            </a:r>
            <a:endParaRPr lang="zh-CN" altLang="zh-CN"/>
          </a:p>
        </p:txBody>
      </p:sp>
      <p:sp>
        <p:nvSpPr>
          <p:cNvPr id="55319" name="Freeform 26">
            <a:extLst>
              <a:ext uri="{FF2B5EF4-FFF2-40B4-BE49-F238E27FC236}">
                <a16:creationId xmlns:a16="http://schemas.microsoft.com/office/drawing/2014/main" id="{77F07F47-9C25-4CEE-B2E9-FE2E0B694156}"/>
              </a:ext>
            </a:extLst>
          </p:cNvPr>
          <p:cNvSpPr>
            <a:spLocks/>
          </p:cNvSpPr>
          <p:nvPr/>
        </p:nvSpPr>
        <p:spPr bwMode="auto">
          <a:xfrm>
            <a:off x="2482850" y="2540000"/>
            <a:ext cx="1041400" cy="152400"/>
          </a:xfrm>
          <a:custGeom>
            <a:avLst/>
            <a:gdLst>
              <a:gd name="T0" fmla="*/ 2147483646 w 656"/>
              <a:gd name="T1" fmla="*/ 2147483646 h 96"/>
              <a:gd name="T2" fmla="*/ 2147483646 w 656"/>
              <a:gd name="T3" fmla="*/ 0 h 96"/>
              <a:gd name="T4" fmla="*/ 0 w 656"/>
              <a:gd name="T5" fmla="*/ 0 h 96"/>
              <a:gd name="T6" fmla="*/ 0 w 656"/>
              <a:gd name="T7" fmla="*/ 2147483646 h 96"/>
              <a:gd name="T8" fmla="*/ 2147483646 w 656"/>
              <a:gd name="T9" fmla="*/ 2147483646 h 96"/>
              <a:gd name="T10" fmla="*/ 2147483646 w 656"/>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6" h="96">
                <a:moveTo>
                  <a:pt x="656" y="94"/>
                </a:moveTo>
                <a:lnTo>
                  <a:pt x="656" y="0"/>
                </a:lnTo>
                <a:lnTo>
                  <a:pt x="0" y="0"/>
                </a:lnTo>
                <a:lnTo>
                  <a:pt x="0" y="96"/>
                </a:lnTo>
                <a:lnTo>
                  <a:pt x="656"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0" name="Freeform 27">
            <a:extLst>
              <a:ext uri="{FF2B5EF4-FFF2-40B4-BE49-F238E27FC236}">
                <a16:creationId xmlns:a16="http://schemas.microsoft.com/office/drawing/2014/main" id="{0BF704F7-0EF7-43A5-B1B8-3927EC2D1C07}"/>
              </a:ext>
            </a:extLst>
          </p:cNvPr>
          <p:cNvSpPr>
            <a:spLocks/>
          </p:cNvSpPr>
          <p:nvPr/>
        </p:nvSpPr>
        <p:spPr bwMode="auto">
          <a:xfrm>
            <a:off x="2482850" y="2692400"/>
            <a:ext cx="1041400" cy="152400"/>
          </a:xfrm>
          <a:custGeom>
            <a:avLst/>
            <a:gdLst>
              <a:gd name="T0" fmla="*/ 2147483646 w 656"/>
              <a:gd name="T1" fmla="*/ 2147483646 h 96"/>
              <a:gd name="T2" fmla="*/ 2147483646 w 656"/>
              <a:gd name="T3" fmla="*/ 0 h 96"/>
              <a:gd name="T4" fmla="*/ 0 w 656"/>
              <a:gd name="T5" fmla="*/ 0 h 96"/>
              <a:gd name="T6" fmla="*/ 0 w 656"/>
              <a:gd name="T7" fmla="*/ 2147483646 h 96"/>
              <a:gd name="T8" fmla="*/ 2147483646 w 656"/>
              <a:gd name="T9" fmla="*/ 2147483646 h 96"/>
              <a:gd name="T10" fmla="*/ 2147483646 w 656"/>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6" h="96">
                <a:moveTo>
                  <a:pt x="656" y="94"/>
                </a:moveTo>
                <a:lnTo>
                  <a:pt x="656" y="0"/>
                </a:lnTo>
                <a:lnTo>
                  <a:pt x="0" y="0"/>
                </a:lnTo>
                <a:lnTo>
                  <a:pt x="0" y="96"/>
                </a:lnTo>
                <a:lnTo>
                  <a:pt x="656"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1" name="Freeform 28">
            <a:extLst>
              <a:ext uri="{FF2B5EF4-FFF2-40B4-BE49-F238E27FC236}">
                <a16:creationId xmlns:a16="http://schemas.microsoft.com/office/drawing/2014/main" id="{FFAE15B7-2E54-4B40-98DE-15AB997CF559}"/>
              </a:ext>
            </a:extLst>
          </p:cNvPr>
          <p:cNvSpPr>
            <a:spLocks/>
          </p:cNvSpPr>
          <p:nvPr/>
        </p:nvSpPr>
        <p:spPr bwMode="auto">
          <a:xfrm>
            <a:off x="2482850" y="2844800"/>
            <a:ext cx="1041400" cy="152400"/>
          </a:xfrm>
          <a:custGeom>
            <a:avLst/>
            <a:gdLst>
              <a:gd name="T0" fmla="*/ 2147483646 w 656"/>
              <a:gd name="T1" fmla="*/ 2147483646 h 96"/>
              <a:gd name="T2" fmla="*/ 2147483646 w 656"/>
              <a:gd name="T3" fmla="*/ 0 h 96"/>
              <a:gd name="T4" fmla="*/ 0 w 656"/>
              <a:gd name="T5" fmla="*/ 0 h 96"/>
              <a:gd name="T6" fmla="*/ 0 w 656"/>
              <a:gd name="T7" fmla="*/ 2147483646 h 96"/>
              <a:gd name="T8" fmla="*/ 2147483646 w 656"/>
              <a:gd name="T9" fmla="*/ 2147483646 h 96"/>
              <a:gd name="T10" fmla="*/ 2147483646 w 656"/>
              <a:gd name="T11" fmla="*/ 2147483646 h 96"/>
              <a:gd name="T12" fmla="*/ 2147483646 w 656"/>
              <a:gd name="T13" fmla="*/ 2147483646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6" h="96">
                <a:moveTo>
                  <a:pt x="656" y="94"/>
                </a:moveTo>
                <a:lnTo>
                  <a:pt x="656" y="0"/>
                </a:lnTo>
                <a:lnTo>
                  <a:pt x="0" y="0"/>
                </a:lnTo>
                <a:lnTo>
                  <a:pt x="0" y="96"/>
                </a:lnTo>
                <a:lnTo>
                  <a:pt x="656" y="96"/>
                </a:lnTo>
                <a:lnTo>
                  <a:pt x="656" y="9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22" name="Freeform 29">
            <a:extLst>
              <a:ext uri="{FF2B5EF4-FFF2-40B4-BE49-F238E27FC236}">
                <a16:creationId xmlns:a16="http://schemas.microsoft.com/office/drawing/2014/main" id="{E1D9BA00-9FA2-4A29-B0ED-33EACF822372}"/>
              </a:ext>
            </a:extLst>
          </p:cNvPr>
          <p:cNvSpPr>
            <a:spLocks/>
          </p:cNvSpPr>
          <p:nvPr/>
        </p:nvSpPr>
        <p:spPr bwMode="auto">
          <a:xfrm>
            <a:off x="2482850" y="2844800"/>
            <a:ext cx="1041400" cy="152400"/>
          </a:xfrm>
          <a:custGeom>
            <a:avLst/>
            <a:gdLst>
              <a:gd name="T0" fmla="*/ 2147483646 w 656"/>
              <a:gd name="T1" fmla="*/ 2147483646 h 96"/>
              <a:gd name="T2" fmla="*/ 2147483646 w 656"/>
              <a:gd name="T3" fmla="*/ 0 h 96"/>
              <a:gd name="T4" fmla="*/ 0 w 656"/>
              <a:gd name="T5" fmla="*/ 0 h 96"/>
              <a:gd name="T6" fmla="*/ 0 w 656"/>
              <a:gd name="T7" fmla="*/ 2147483646 h 96"/>
              <a:gd name="T8" fmla="*/ 2147483646 w 656"/>
              <a:gd name="T9" fmla="*/ 2147483646 h 96"/>
              <a:gd name="T10" fmla="*/ 2147483646 w 656"/>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6" h="96">
                <a:moveTo>
                  <a:pt x="656" y="94"/>
                </a:moveTo>
                <a:lnTo>
                  <a:pt x="656" y="0"/>
                </a:lnTo>
                <a:lnTo>
                  <a:pt x="0" y="0"/>
                </a:lnTo>
                <a:lnTo>
                  <a:pt x="0" y="96"/>
                </a:lnTo>
                <a:lnTo>
                  <a:pt x="656"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3" name="Freeform 30">
            <a:extLst>
              <a:ext uri="{FF2B5EF4-FFF2-40B4-BE49-F238E27FC236}">
                <a16:creationId xmlns:a16="http://schemas.microsoft.com/office/drawing/2014/main" id="{5B69CA93-846C-4BF4-AFB6-E059B49E0E61}"/>
              </a:ext>
            </a:extLst>
          </p:cNvPr>
          <p:cNvSpPr>
            <a:spLocks/>
          </p:cNvSpPr>
          <p:nvPr/>
        </p:nvSpPr>
        <p:spPr bwMode="auto">
          <a:xfrm>
            <a:off x="2482850" y="2997200"/>
            <a:ext cx="1041400" cy="153988"/>
          </a:xfrm>
          <a:custGeom>
            <a:avLst/>
            <a:gdLst>
              <a:gd name="T0" fmla="*/ 2147483646 w 656"/>
              <a:gd name="T1" fmla="*/ 2147483646 h 97"/>
              <a:gd name="T2" fmla="*/ 2147483646 w 656"/>
              <a:gd name="T3" fmla="*/ 0 h 97"/>
              <a:gd name="T4" fmla="*/ 0 w 656"/>
              <a:gd name="T5" fmla="*/ 0 h 97"/>
              <a:gd name="T6" fmla="*/ 0 w 656"/>
              <a:gd name="T7" fmla="*/ 2147483646 h 97"/>
              <a:gd name="T8" fmla="*/ 2147483646 w 656"/>
              <a:gd name="T9" fmla="*/ 2147483646 h 97"/>
              <a:gd name="T10" fmla="*/ 2147483646 w 656"/>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6" h="97">
                <a:moveTo>
                  <a:pt x="656" y="95"/>
                </a:moveTo>
                <a:lnTo>
                  <a:pt x="656" y="0"/>
                </a:lnTo>
                <a:lnTo>
                  <a:pt x="0" y="0"/>
                </a:lnTo>
                <a:lnTo>
                  <a:pt x="0" y="97"/>
                </a:lnTo>
                <a:lnTo>
                  <a:pt x="656"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4" name="Freeform 31">
            <a:extLst>
              <a:ext uri="{FF2B5EF4-FFF2-40B4-BE49-F238E27FC236}">
                <a16:creationId xmlns:a16="http://schemas.microsoft.com/office/drawing/2014/main" id="{B340F131-F5FC-4211-B66D-56B11B261367}"/>
              </a:ext>
            </a:extLst>
          </p:cNvPr>
          <p:cNvSpPr>
            <a:spLocks/>
          </p:cNvSpPr>
          <p:nvPr/>
        </p:nvSpPr>
        <p:spPr bwMode="auto">
          <a:xfrm>
            <a:off x="2482850" y="3151188"/>
            <a:ext cx="1041400" cy="149225"/>
          </a:xfrm>
          <a:custGeom>
            <a:avLst/>
            <a:gdLst>
              <a:gd name="T0" fmla="*/ 2147483646 w 656"/>
              <a:gd name="T1" fmla="*/ 2147483646 h 94"/>
              <a:gd name="T2" fmla="*/ 2147483646 w 656"/>
              <a:gd name="T3" fmla="*/ 0 h 94"/>
              <a:gd name="T4" fmla="*/ 0 w 656"/>
              <a:gd name="T5" fmla="*/ 0 h 94"/>
              <a:gd name="T6" fmla="*/ 0 w 656"/>
              <a:gd name="T7" fmla="*/ 2147483646 h 94"/>
              <a:gd name="T8" fmla="*/ 2147483646 w 656"/>
              <a:gd name="T9" fmla="*/ 2147483646 h 94"/>
              <a:gd name="T10" fmla="*/ 2147483646 w 656"/>
              <a:gd name="T11" fmla="*/ 2147483646 h 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6" h="94">
                <a:moveTo>
                  <a:pt x="656" y="94"/>
                </a:moveTo>
                <a:lnTo>
                  <a:pt x="656" y="0"/>
                </a:lnTo>
                <a:lnTo>
                  <a:pt x="0" y="0"/>
                </a:lnTo>
                <a:lnTo>
                  <a:pt x="0" y="94"/>
                </a:lnTo>
                <a:lnTo>
                  <a:pt x="656" y="9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5" name="Freeform 32">
            <a:extLst>
              <a:ext uri="{FF2B5EF4-FFF2-40B4-BE49-F238E27FC236}">
                <a16:creationId xmlns:a16="http://schemas.microsoft.com/office/drawing/2014/main" id="{5C4E3830-C1CA-4CEA-A37D-FAE4E30603B4}"/>
              </a:ext>
            </a:extLst>
          </p:cNvPr>
          <p:cNvSpPr>
            <a:spLocks/>
          </p:cNvSpPr>
          <p:nvPr/>
        </p:nvSpPr>
        <p:spPr bwMode="auto">
          <a:xfrm>
            <a:off x="2482850" y="3300413"/>
            <a:ext cx="1041400" cy="152400"/>
          </a:xfrm>
          <a:custGeom>
            <a:avLst/>
            <a:gdLst>
              <a:gd name="T0" fmla="*/ 2147483646 w 656"/>
              <a:gd name="T1" fmla="*/ 2147483646 h 96"/>
              <a:gd name="T2" fmla="*/ 2147483646 w 656"/>
              <a:gd name="T3" fmla="*/ 0 h 96"/>
              <a:gd name="T4" fmla="*/ 0 w 656"/>
              <a:gd name="T5" fmla="*/ 0 h 96"/>
              <a:gd name="T6" fmla="*/ 0 w 656"/>
              <a:gd name="T7" fmla="*/ 2147483646 h 96"/>
              <a:gd name="T8" fmla="*/ 2147483646 w 656"/>
              <a:gd name="T9" fmla="*/ 2147483646 h 96"/>
              <a:gd name="T10" fmla="*/ 2147483646 w 656"/>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6" h="96">
                <a:moveTo>
                  <a:pt x="656" y="96"/>
                </a:moveTo>
                <a:lnTo>
                  <a:pt x="656" y="0"/>
                </a:lnTo>
                <a:lnTo>
                  <a:pt x="0" y="0"/>
                </a:lnTo>
                <a:lnTo>
                  <a:pt x="0" y="96"/>
                </a:lnTo>
                <a:lnTo>
                  <a:pt x="656"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6" name="Freeform 33">
            <a:extLst>
              <a:ext uri="{FF2B5EF4-FFF2-40B4-BE49-F238E27FC236}">
                <a16:creationId xmlns:a16="http://schemas.microsoft.com/office/drawing/2014/main" id="{856E3AD2-1C24-4312-A569-2C41C4D188C9}"/>
              </a:ext>
            </a:extLst>
          </p:cNvPr>
          <p:cNvSpPr>
            <a:spLocks/>
          </p:cNvSpPr>
          <p:nvPr/>
        </p:nvSpPr>
        <p:spPr bwMode="auto">
          <a:xfrm>
            <a:off x="2528888"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20" y="31"/>
                </a:lnTo>
                <a:lnTo>
                  <a:pt x="23" y="31"/>
                </a:lnTo>
                <a:lnTo>
                  <a:pt x="25" y="29"/>
                </a:lnTo>
                <a:lnTo>
                  <a:pt x="27" y="29"/>
                </a:lnTo>
                <a:lnTo>
                  <a:pt x="29" y="27"/>
                </a:lnTo>
                <a:lnTo>
                  <a:pt x="32" y="25"/>
                </a:lnTo>
                <a:lnTo>
                  <a:pt x="32" y="23"/>
                </a:lnTo>
                <a:lnTo>
                  <a:pt x="34" y="21"/>
                </a:lnTo>
                <a:lnTo>
                  <a:pt x="34" y="18"/>
                </a:lnTo>
                <a:lnTo>
                  <a:pt x="34" y="16"/>
                </a:lnTo>
                <a:lnTo>
                  <a:pt x="34" y="12"/>
                </a:lnTo>
                <a:lnTo>
                  <a:pt x="34" y="10"/>
                </a:lnTo>
                <a:lnTo>
                  <a:pt x="32" y="8"/>
                </a:lnTo>
                <a:lnTo>
                  <a:pt x="32" y="6"/>
                </a:lnTo>
                <a:lnTo>
                  <a:pt x="29" y="4"/>
                </a:lnTo>
                <a:lnTo>
                  <a:pt x="27" y="2"/>
                </a:lnTo>
                <a:lnTo>
                  <a:pt x="25" y="2"/>
                </a:lnTo>
                <a:lnTo>
                  <a:pt x="23" y="0"/>
                </a:lnTo>
                <a:lnTo>
                  <a:pt x="20" y="0"/>
                </a:lnTo>
                <a:lnTo>
                  <a:pt x="16" y="0"/>
                </a:lnTo>
                <a:lnTo>
                  <a:pt x="13" y="0"/>
                </a:lnTo>
                <a:lnTo>
                  <a:pt x="11" y="0"/>
                </a:lnTo>
                <a:lnTo>
                  <a:pt x="9" y="2"/>
                </a:lnTo>
                <a:lnTo>
                  <a:pt x="7" y="2"/>
                </a:lnTo>
                <a:lnTo>
                  <a:pt x="4" y="4"/>
                </a:lnTo>
                <a:lnTo>
                  <a:pt x="2" y="6"/>
                </a:lnTo>
                <a:lnTo>
                  <a:pt x="2" y="8"/>
                </a:lnTo>
                <a:lnTo>
                  <a:pt x="0" y="10"/>
                </a:lnTo>
                <a:lnTo>
                  <a:pt x="0" y="12"/>
                </a:lnTo>
                <a:lnTo>
                  <a:pt x="0" y="16"/>
                </a:lnTo>
                <a:lnTo>
                  <a:pt x="0" y="18"/>
                </a:lnTo>
                <a:lnTo>
                  <a:pt x="0" y="21"/>
                </a:lnTo>
                <a:lnTo>
                  <a:pt x="2" y="23"/>
                </a:lnTo>
                <a:lnTo>
                  <a:pt x="2" y="25"/>
                </a:lnTo>
                <a:lnTo>
                  <a:pt x="4" y="27"/>
                </a:lnTo>
                <a:lnTo>
                  <a:pt x="7" y="29"/>
                </a:lnTo>
                <a:lnTo>
                  <a:pt x="9" y="29"/>
                </a:lnTo>
                <a:lnTo>
                  <a:pt x="11" y="31"/>
                </a:lnTo>
                <a:lnTo>
                  <a:pt x="13"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27" name="Freeform 34">
            <a:extLst>
              <a:ext uri="{FF2B5EF4-FFF2-40B4-BE49-F238E27FC236}">
                <a16:creationId xmlns:a16="http://schemas.microsoft.com/office/drawing/2014/main" id="{650E3369-89FE-459B-BB63-DF28645F8597}"/>
              </a:ext>
            </a:extLst>
          </p:cNvPr>
          <p:cNvSpPr>
            <a:spLocks/>
          </p:cNvSpPr>
          <p:nvPr/>
        </p:nvSpPr>
        <p:spPr bwMode="auto">
          <a:xfrm>
            <a:off x="2782888"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2147483646 w 34"/>
              <a:gd name="T85" fmla="*/ 2147483646 h 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4" h="31">
                <a:moveTo>
                  <a:pt x="16" y="31"/>
                </a:moveTo>
                <a:lnTo>
                  <a:pt x="20" y="31"/>
                </a:lnTo>
                <a:lnTo>
                  <a:pt x="23" y="31"/>
                </a:lnTo>
                <a:lnTo>
                  <a:pt x="25" y="29"/>
                </a:lnTo>
                <a:lnTo>
                  <a:pt x="27" y="29"/>
                </a:lnTo>
                <a:lnTo>
                  <a:pt x="29" y="27"/>
                </a:lnTo>
                <a:lnTo>
                  <a:pt x="32" y="25"/>
                </a:lnTo>
                <a:lnTo>
                  <a:pt x="32" y="23"/>
                </a:lnTo>
                <a:lnTo>
                  <a:pt x="34" y="21"/>
                </a:lnTo>
                <a:lnTo>
                  <a:pt x="34" y="18"/>
                </a:lnTo>
                <a:lnTo>
                  <a:pt x="34" y="16"/>
                </a:lnTo>
                <a:lnTo>
                  <a:pt x="34" y="12"/>
                </a:lnTo>
                <a:lnTo>
                  <a:pt x="34" y="10"/>
                </a:lnTo>
                <a:lnTo>
                  <a:pt x="32" y="8"/>
                </a:lnTo>
                <a:lnTo>
                  <a:pt x="32" y="6"/>
                </a:lnTo>
                <a:lnTo>
                  <a:pt x="29" y="4"/>
                </a:lnTo>
                <a:lnTo>
                  <a:pt x="27" y="2"/>
                </a:lnTo>
                <a:lnTo>
                  <a:pt x="25" y="2"/>
                </a:lnTo>
                <a:lnTo>
                  <a:pt x="23" y="0"/>
                </a:lnTo>
                <a:lnTo>
                  <a:pt x="20" y="0"/>
                </a:lnTo>
                <a:lnTo>
                  <a:pt x="18" y="0"/>
                </a:lnTo>
                <a:lnTo>
                  <a:pt x="14" y="0"/>
                </a:lnTo>
                <a:lnTo>
                  <a:pt x="11" y="0"/>
                </a:lnTo>
                <a:lnTo>
                  <a:pt x="9" y="2"/>
                </a:lnTo>
                <a:lnTo>
                  <a:pt x="7" y="2"/>
                </a:lnTo>
                <a:lnTo>
                  <a:pt x="5" y="4"/>
                </a:lnTo>
                <a:lnTo>
                  <a:pt x="2" y="6"/>
                </a:lnTo>
                <a:lnTo>
                  <a:pt x="2" y="8"/>
                </a:lnTo>
                <a:lnTo>
                  <a:pt x="0" y="10"/>
                </a:lnTo>
                <a:lnTo>
                  <a:pt x="0" y="12"/>
                </a:lnTo>
                <a:lnTo>
                  <a:pt x="0" y="16"/>
                </a:lnTo>
                <a:lnTo>
                  <a:pt x="0" y="18"/>
                </a:lnTo>
                <a:lnTo>
                  <a:pt x="0" y="21"/>
                </a:lnTo>
                <a:lnTo>
                  <a:pt x="2" y="23"/>
                </a:lnTo>
                <a:lnTo>
                  <a:pt x="2" y="25"/>
                </a:lnTo>
                <a:lnTo>
                  <a:pt x="5" y="27"/>
                </a:lnTo>
                <a:lnTo>
                  <a:pt x="7" y="29"/>
                </a:lnTo>
                <a:lnTo>
                  <a:pt x="9" y="29"/>
                </a:lnTo>
                <a:lnTo>
                  <a:pt x="11" y="31"/>
                </a:lnTo>
                <a:lnTo>
                  <a:pt x="14" y="31"/>
                </a:lnTo>
                <a:lnTo>
                  <a:pt x="18"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28" name="Rectangle 35">
            <a:extLst>
              <a:ext uri="{FF2B5EF4-FFF2-40B4-BE49-F238E27FC236}">
                <a16:creationId xmlns:a16="http://schemas.microsoft.com/office/drawing/2014/main" id="{648576D8-CA69-4456-A44D-FE927022A57F}"/>
              </a:ext>
            </a:extLst>
          </p:cNvPr>
          <p:cNvSpPr>
            <a:spLocks noChangeArrowheads="1"/>
          </p:cNvSpPr>
          <p:nvPr/>
        </p:nvSpPr>
        <p:spPr bwMode="auto">
          <a:xfrm>
            <a:off x="2024063" y="2230438"/>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I</a:t>
            </a:r>
            <a:endParaRPr lang="zh-CN" altLang="zh-CN"/>
          </a:p>
        </p:txBody>
      </p:sp>
      <p:sp>
        <p:nvSpPr>
          <p:cNvPr id="55329" name="Rectangle 36">
            <a:extLst>
              <a:ext uri="{FF2B5EF4-FFF2-40B4-BE49-F238E27FC236}">
                <a16:creationId xmlns:a16="http://schemas.microsoft.com/office/drawing/2014/main" id="{668B3A35-3AC2-4673-ABE8-AE14D9D75AF2}"/>
              </a:ext>
            </a:extLst>
          </p:cNvPr>
          <p:cNvSpPr>
            <a:spLocks noChangeArrowheads="1"/>
          </p:cNvSpPr>
          <p:nvPr/>
        </p:nvSpPr>
        <p:spPr bwMode="auto">
          <a:xfrm>
            <a:off x="2058988" y="2230438"/>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n</a:t>
            </a:r>
            <a:endParaRPr lang="zh-CN" altLang="zh-CN"/>
          </a:p>
        </p:txBody>
      </p:sp>
      <p:sp>
        <p:nvSpPr>
          <p:cNvPr id="55330" name="Rectangle 37">
            <a:extLst>
              <a:ext uri="{FF2B5EF4-FFF2-40B4-BE49-F238E27FC236}">
                <a16:creationId xmlns:a16="http://schemas.microsoft.com/office/drawing/2014/main" id="{0F72667F-4B81-40FE-B54E-E50809806FA4}"/>
              </a:ext>
            </a:extLst>
          </p:cNvPr>
          <p:cNvSpPr>
            <a:spLocks noChangeArrowheads="1"/>
          </p:cNvSpPr>
          <p:nvPr/>
        </p:nvSpPr>
        <p:spPr bwMode="auto">
          <a:xfrm>
            <a:off x="2124075"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d</a:t>
            </a:r>
            <a:endParaRPr lang="zh-CN" altLang="zh-CN"/>
          </a:p>
        </p:txBody>
      </p:sp>
      <p:sp>
        <p:nvSpPr>
          <p:cNvPr id="55331" name="Rectangle 38">
            <a:extLst>
              <a:ext uri="{FF2B5EF4-FFF2-40B4-BE49-F238E27FC236}">
                <a16:creationId xmlns:a16="http://schemas.microsoft.com/office/drawing/2014/main" id="{44480956-4DB7-4100-BE2D-54EDBC0E8895}"/>
              </a:ext>
            </a:extLst>
          </p:cNvPr>
          <p:cNvSpPr>
            <a:spLocks noChangeArrowheads="1"/>
          </p:cNvSpPr>
          <p:nvPr/>
        </p:nvSpPr>
        <p:spPr bwMode="auto">
          <a:xfrm>
            <a:off x="2192338"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e</a:t>
            </a:r>
            <a:endParaRPr lang="zh-CN" altLang="zh-CN"/>
          </a:p>
        </p:txBody>
      </p:sp>
      <p:sp>
        <p:nvSpPr>
          <p:cNvPr id="55332" name="Rectangle 39">
            <a:extLst>
              <a:ext uri="{FF2B5EF4-FFF2-40B4-BE49-F238E27FC236}">
                <a16:creationId xmlns:a16="http://schemas.microsoft.com/office/drawing/2014/main" id="{D752DDB6-160D-4F0B-8101-4A7D364090F0}"/>
              </a:ext>
            </a:extLst>
          </p:cNvPr>
          <p:cNvSpPr>
            <a:spLocks noChangeArrowheads="1"/>
          </p:cNvSpPr>
          <p:nvPr/>
        </p:nvSpPr>
        <p:spPr bwMode="auto">
          <a:xfrm>
            <a:off x="2255838" y="2230438"/>
            <a:ext cx="1111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x</a:t>
            </a:r>
            <a:endParaRPr lang="zh-CN" altLang="zh-CN"/>
          </a:p>
        </p:txBody>
      </p:sp>
      <p:sp>
        <p:nvSpPr>
          <p:cNvPr id="55333" name="Rectangle 40">
            <a:extLst>
              <a:ext uri="{FF2B5EF4-FFF2-40B4-BE49-F238E27FC236}">
                <a16:creationId xmlns:a16="http://schemas.microsoft.com/office/drawing/2014/main" id="{A5B31F0A-7061-46B2-8DFA-12F87AA63A37}"/>
              </a:ext>
            </a:extLst>
          </p:cNvPr>
          <p:cNvSpPr>
            <a:spLocks noChangeArrowheads="1"/>
          </p:cNvSpPr>
          <p:nvPr/>
        </p:nvSpPr>
        <p:spPr bwMode="auto">
          <a:xfrm>
            <a:off x="2127250" y="2392363"/>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0</a:t>
            </a:r>
            <a:endParaRPr lang="zh-CN" altLang="zh-CN"/>
          </a:p>
        </p:txBody>
      </p:sp>
      <p:sp>
        <p:nvSpPr>
          <p:cNvPr id="55334" name="Rectangle 41">
            <a:extLst>
              <a:ext uri="{FF2B5EF4-FFF2-40B4-BE49-F238E27FC236}">
                <a16:creationId xmlns:a16="http://schemas.microsoft.com/office/drawing/2014/main" id="{866D7488-0DE8-4A39-9326-FC6B124802C5}"/>
              </a:ext>
            </a:extLst>
          </p:cNvPr>
          <p:cNvSpPr>
            <a:spLocks noChangeArrowheads="1"/>
          </p:cNvSpPr>
          <p:nvPr/>
        </p:nvSpPr>
        <p:spPr bwMode="auto">
          <a:xfrm>
            <a:off x="2127250" y="2546350"/>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335" name="Rectangle 42">
            <a:extLst>
              <a:ext uri="{FF2B5EF4-FFF2-40B4-BE49-F238E27FC236}">
                <a16:creationId xmlns:a16="http://schemas.microsoft.com/office/drawing/2014/main" id="{AB5EC979-C2AB-4BFE-93EE-3C272F2E892B}"/>
              </a:ext>
            </a:extLst>
          </p:cNvPr>
          <p:cNvSpPr>
            <a:spLocks noChangeArrowheads="1"/>
          </p:cNvSpPr>
          <p:nvPr/>
        </p:nvSpPr>
        <p:spPr bwMode="auto">
          <a:xfrm>
            <a:off x="2127250" y="2698750"/>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336" name="Rectangle 43">
            <a:extLst>
              <a:ext uri="{FF2B5EF4-FFF2-40B4-BE49-F238E27FC236}">
                <a16:creationId xmlns:a16="http://schemas.microsoft.com/office/drawing/2014/main" id="{84D5A9F8-F727-4BBE-818D-EF2FCDE579B0}"/>
              </a:ext>
            </a:extLst>
          </p:cNvPr>
          <p:cNvSpPr>
            <a:spLocks noChangeArrowheads="1"/>
          </p:cNvSpPr>
          <p:nvPr/>
        </p:nvSpPr>
        <p:spPr bwMode="auto">
          <a:xfrm>
            <a:off x="2055813" y="3005138"/>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337" name="Rectangle 44">
            <a:extLst>
              <a:ext uri="{FF2B5EF4-FFF2-40B4-BE49-F238E27FC236}">
                <a16:creationId xmlns:a16="http://schemas.microsoft.com/office/drawing/2014/main" id="{4C276B19-C294-4449-B54D-EC761CE89975}"/>
              </a:ext>
            </a:extLst>
          </p:cNvPr>
          <p:cNvSpPr>
            <a:spLocks noChangeArrowheads="1"/>
          </p:cNvSpPr>
          <p:nvPr/>
        </p:nvSpPr>
        <p:spPr bwMode="auto">
          <a:xfrm>
            <a:off x="2120900" y="3005138"/>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5</a:t>
            </a:r>
            <a:endParaRPr lang="zh-CN" altLang="zh-CN"/>
          </a:p>
        </p:txBody>
      </p:sp>
      <p:sp>
        <p:nvSpPr>
          <p:cNvPr id="55338" name="Rectangle 45">
            <a:extLst>
              <a:ext uri="{FF2B5EF4-FFF2-40B4-BE49-F238E27FC236}">
                <a16:creationId xmlns:a16="http://schemas.microsoft.com/office/drawing/2014/main" id="{47EA8010-1E8E-45FC-83F9-BE37307428DB}"/>
              </a:ext>
            </a:extLst>
          </p:cNvPr>
          <p:cNvSpPr>
            <a:spLocks noChangeArrowheads="1"/>
          </p:cNvSpPr>
          <p:nvPr/>
        </p:nvSpPr>
        <p:spPr bwMode="auto">
          <a:xfrm>
            <a:off x="2189163" y="3005138"/>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3</a:t>
            </a:r>
            <a:endParaRPr lang="zh-CN" altLang="zh-CN"/>
          </a:p>
        </p:txBody>
      </p:sp>
      <p:sp>
        <p:nvSpPr>
          <p:cNvPr id="55339" name="Rectangle 46">
            <a:extLst>
              <a:ext uri="{FF2B5EF4-FFF2-40B4-BE49-F238E27FC236}">
                <a16:creationId xmlns:a16="http://schemas.microsoft.com/office/drawing/2014/main" id="{D6986461-42F3-4FB8-8828-C3C43EC76520}"/>
              </a:ext>
            </a:extLst>
          </p:cNvPr>
          <p:cNvSpPr>
            <a:spLocks noChangeArrowheads="1"/>
          </p:cNvSpPr>
          <p:nvPr/>
        </p:nvSpPr>
        <p:spPr bwMode="auto">
          <a:xfrm>
            <a:off x="2055813" y="3157538"/>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340" name="Rectangle 47">
            <a:extLst>
              <a:ext uri="{FF2B5EF4-FFF2-40B4-BE49-F238E27FC236}">
                <a16:creationId xmlns:a16="http://schemas.microsoft.com/office/drawing/2014/main" id="{DF3B7110-713F-438B-A424-EBCC474C8399}"/>
              </a:ext>
            </a:extLst>
          </p:cNvPr>
          <p:cNvSpPr>
            <a:spLocks noChangeArrowheads="1"/>
          </p:cNvSpPr>
          <p:nvPr/>
        </p:nvSpPr>
        <p:spPr bwMode="auto">
          <a:xfrm>
            <a:off x="2120900" y="3157538"/>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5</a:t>
            </a:r>
            <a:endParaRPr lang="zh-CN" altLang="zh-CN"/>
          </a:p>
        </p:txBody>
      </p:sp>
      <p:sp>
        <p:nvSpPr>
          <p:cNvPr id="55341" name="Rectangle 48">
            <a:extLst>
              <a:ext uri="{FF2B5EF4-FFF2-40B4-BE49-F238E27FC236}">
                <a16:creationId xmlns:a16="http://schemas.microsoft.com/office/drawing/2014/main" id="{CC674E92-CAC9-4596-A727-E54994A5A48A}"/>
              </a:ext>
            </a:extLst>
          </p:cNvPr>
          <p:cNvSpPr>
            <a:spLocks noChangeArrowheads="1"/>
          </p:cNvSpPr>
          <p:nvPr/>
        </p:nvSpPr>
        <p:spPr bwMode="auto">
          <a:xfrm>
            <a:off x="2189163" y="3157538"/>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4</a:t>
            </a:r>
            <a:endParaRPr lang="zh-CN" altLang="zh-CN"/>
          </a:p>
        </p:txBody>
      </p:sp>
      <p:sp>
        <p:nvSpPr>
          <p:cNvPr id="55342" name="Rectangle 49">
            <a:extLst>
              <a:ext uri="{FF2B5EF4-FFF2-40B4-BE49-F238E27FC236}">
                <a16:creationId xmlns:a16="http://schemas.microsoft.com/office/drawing/2014/main" id="{3FF95030-2273-4613-A1B4-C032F44306A0}"/>
              </a:ext>
            </a:extLst>
          </p:cNvPr>
          <p:cNvSpPr>
            <a:spLocks noChangeArrowheads="1"/>
          </p:cNvSpPr>
          <p:nvPr/>
        </p:nvSpPr>
        <p:spPr bwMode="auto">
          <a:xfrm>
            <a:off x="2055813" y="3306763"/>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343" name="Rectangle 50">
            <a:extLst>
              <a:ext uri="{FF2B5EF4-FFF2-40B4-BE49-F238E27FC236}">
                <a16:creationId xmlns:a16="http://schemas.microsoft.com/office/drawing/2014/main" id="{EA18C892-D04B-410B-87EE-AB6E9C895379}"/>
              </a:ext>
            </a:extLst>
          </p:cNvPr>
          <p:cNvSpPr>
            <a:spLocks noChangeArrowheads="1"/>
          </p:cNvSpPr>
          <p:nvPr/>
        </p:nvSpPr>
        <p:spPr bwMode="auto">
          <a:xfrm>
            <a:off x="2120900" y="3306763"/>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5</a:t>
            </a:r>
            <a:endParaRPr lang="zh-CN" altLang="zh-CN"/>
          </a:p>
        </p:txBody>
      </p:sp>
      <p:sp>
        <p:nvSpPr>
          <p:cNvPr id="55344" name="Rectangle 51">
            <a:extLst>
              <a:ext uri="{FF2B5EF4-FFF2-40B4-BE49-F238E27FC236}">
                <a16:creationId xmlns:a16="http://schemas.microsoft.com/office/drawing/2014/main" id="{DD7E5421-9EEA-4C58-B81B-4E98C2BB0F0A}"/>
              </a:ext>
            </a:extLst>
          </p:cNvPr>
          <p:cNvSpPr>
            <a:spLocks noChangeArrowheads="1"/>
          </p:cNvSpPr>
          <p:nvPr/>
        </p:nvSpPr>
        <p:spPr bwMode="auto">
          <a:xfrm>
            <a:off x="2189163" y="3306763"/>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5</a:t>
            </a:r>
            <a:endParaRPr lang="zh-CN" altLang="zh-CN"/>
          </a:p>
        </p:txBody>
      </p:sp>
      <p:sp>
        <p:nvSpPr>
          <p:cNvPr id="55345" name="Freeform 52">
            <a:extLst>
              <a:ext uri="{FF2B5EF4-FFF2-40B4-BE49-F238E27FC236}">
                <a16:creationId xmlns:a16="http://schemas.microsoft.com/office/drawing/2014/main" id="{45E63385-125C-4310-B88F-402A061D7497}"/>
              </a:ext>
            </a:extLst>
          </p:cNvPr>
          <p:cNvSpPr>
            <a:spLocks/>
          </p:cNvSpPr>
          <p:nvPr/>
        </p:nvSpPr>
        <p:spPr bwMode="auto">
          <a:xfrm>
            <a:off x="2389188" y="2895600"/>
            <a:ext cx="57150" cy="52388"/>
          </a:xfrm>
          <a:custGeom>
            <a:avLst/>
            <a:gdLst>
              <a:gd name="T0" fmla="*/ 0 w 36"/>
              <a:gd name="T1" fmla="*/ 0 h 33"/>
              <a:gd name="T2" fmla="*/ 2147483646 w 36"/>
              <a:gd name="T3" fmla="*/ 2147483646 h 33"/>
              <a:gd name="T4" fmla="*/ 2147483646 w 36"/>
              <a:gd name="T5" fmla="*/ 2147483646 h 33"/>
              <a:gd name="T6" fmla="*/ 0 w 36"/>
              <a:gd name="T7" fmla="*/ 0 h 33"/>
              <a:gd name="T8" fmla="*/ 0 w 36"/>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3">
                <a:moveTo>
                  <a:pt x="0" y="0"/>
                </a:moveTo>
                <a:lnTo>
                  <a:pt x="2" y="33"/>
                </a:lnTo>
                <a:lnTo>
                  <a:pt x="36" y="1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46" name="Freeform 53">
            <a:extLst>
              <a:ext uri="{FF2B5EF4-FFF2-40B4-BE49-F238E27FC236}">
                <a16:creationId xmlns:a16="http://schemas.microsoft.com/office/drawing/2014/main" id="{5B8099FF-F876-4BBD-B780-A8B998AF44FC}"/>
              </a:ext>
            </a:extLst>
          </p:cNvPr>
          <p:cNvSpPr>
            <a:spLocks/>
          </p:cNvSpPr>
          <p:nvPr/>
        </p:nvSpPr>
        <p:spPr bwMode="auto">
          <a:xfrm>
            <a:off x="1909763" y="1601788"/>
            <a:ext cx="2349500" cy="1319212"/>
          </a:xfrm>
          <a:custGeom>
            <a:avLst/>
            <a:gdLst>
              <a:gd name="T0" fmla="*/ 2147483646 w 1714"/>
              <a:gd name="T1" fmla="*/ 0 h 831"/>
              <a:gd name="T2" fmla="*/ 2147483646 w 1714"/>
              <a:gd name="T3" fmla="*/ 2147483646 h 831"/>
              <a:gd name="T4" fmla="*/ 0 w 1714"/>
              <a:gd name="T5" fmla="*/ 2147483646 h 831"/>
              <a:gd name="T6" fmla="*/ 0 w 1714"/>
              <a:gd name="T7" fmla="*/ 2147483646 h 831"/>
              <a:gd name="T8" fmla="*/ 2147483646 w 1714"/>
              <a:gd name="T9" fmla="*/ 2147483646 h 8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14" h="831">
                <a:moveTo>
                  <a:pt x="1712" y="0"/>
                </a:moveTo>
                <a:lnTo>
                  <a:pt x="1714" y="319"/>
                </a:lnTo>
                <a:lnTo>
                  <a:pt x="0" y="319"/>
                </a:lnTo>
                <a:lnTo>
                  <a:pt x="0" y="831"/>
                </a:lnTo>
                <a:lnTo>
                  <a:pt x="313" y="831"/>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47" name="Freeform 54">
            <a:extLst>
              <a:ext uri="{FF2B5EF4-FFF2-40B4-BE49-F238E27FC236}">
                <a16:creationId xmlns:a16="http://schemas.microsoft.com/office/drawing/2014/main" id="{42E8169F-6D9B-4E20-A894-25A79F4F1DEE}"/>
              </a:ext>
            </a:extLst>
          </p:cNvPr>
          <p:cNvSpPr>
            <a:spLocks/>
          </p:cNvSpPr>
          <p:nvPr/>
        </p:nvSpPr>
        <p:spPr bwMode="auto">
          <a:xfrm>
            <a:off x="2514600" y="4214813"/>
            <a:ext cx="219075" cy="238125"/>
          </a:xfrm>
          <a:custGeom>
            <a:avLst/>
            <a:gdLst>
              <a:gd name="T0" fmla="*/ 0 w 138"/>
              <a:gd name="T1" fmla="*/ 2147483646 h 150"/>
              <a:gd name="T2" fmla="*/ 2147483646 w 138"/>
              <a:gd name="T3" fmla="*/ 2147483646 h 150"/>
              <a:gd name="T4" fmla="*/ 2147483646 w 138"/>
              <a:gd name="T5" fmla="*/ 2147483646 h 150"/>
              <a:gd name="T6" fmla="*/ 2147483646 w 138"/>
              <a:gd name="T7" fmla="*/ 2147483646 h 150"/>
              <a:gd name="T8" fmla="*/ 2147483646 w 138"/>
              <a:gd name="T9" fmla="*/ 2147483646 h 150"/>
              <a:gd name="T10" fmla="*/ 2147483646 w 138"/>
              <a:gd name="T11" fmla="*/ 2147483646 h 150"/>
              <a:gd name="T12" fmla="*/ 2147483646 w 138"/>
              <a:gd name="T13" fmla="*/ 2147483646 h 150"/>
              <a:gd name="T14" fmla="*/ 2147483646 w 138"/>
              <a:gd name="T15" fmla="*/ 2147483646 h 150"/>
              <a:gd name="T16" fmla="*/ 2147483646 w 138"/>
              <a:gd name="T17" fmla="*/ 2147483646 h 150"/>
              <a:gd name="T18" fmla="*/ 2147483646 w 138"/>
              <a:gd name="T19" fmla="*/ 2147483646 h 150"/>
              <a:gd name="T20" fmla="*/ 2147483646 w 138"/>
              <a:gd name="T21" fmla="*/ 2147483646 h 150"/>
              <a:gd name="T22" fmla="*/ 2147483646 w 138"/>
              <a:gd name="T23" fmla="*/ 2147483646 h 150"/>
              <a:gd name="T24" fmla="*/ 2147483646 w 138"/>
              <a:gd name="T25" fmla="*/ 2147483646 h 150"/>
              <a:gd name="T26" fmla="*/ 2147483646 w 138"/>
              <a:gd name="T27" fmla="*/ 2147483646 h 150"/>
              <a:gd name="T28" fmla="*/ 2147483646 w 138"/>
              <a:gd name="T29" fmla="*/ 2147483646 h 150"/>
              <a:gd name="T30" fmla="*/ 2147483646 w 138"/>
              <a:gd name="T31" fmla="*/ 2147483646 h 150"/>
              <a:gd name="T32" fmla="*/ 2147483646 w 138"/>
              <a:gd name="T33" fmla="*/ 2147483646 h 150"/>
              <a:gd name="T34" fmla="*/ 2147483646 w 138"/>
              <a:gd name="T35" fmla="*/ 2147483646 h 150"/>
              <a:gd name="T36" fmla="*/ 2147483646 w 138"/>
              <a:gd name="T37" fmla="*/ 2147483646 h 150"/>
              <a:gd name="T38" fmla="*/ 2147483646 w 138"/>
              <a:gd name="T39" fmla="*/ 2147483646 h 150"/>
              <a:gd name="T40" fmla="*/ 2147483646 w 138"/>
              <a:gd name="T41" fmla="*/ 2147483646 h 150"/>
              <a:gd name="T42" fmla="*/ 2147483646 w 138"/>
              <a:gd name="T43" fmla="*/ 0 h 150"/>
              <a:gd name="T44" fmla="*/ 0 w 138"/>
              <a:gd name="T45" fmla="*/ 0 h 150"/>
              <a:gd name="T46" fmla="*/ 0 w 138"/>
              <a:gd name="T47" fmla="*/ 2147483646 h 150"/>
              <a:gd name="T48" fmla="*/ 0 w 138"/>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8" h="150">
                <a:moveTo>
                  <a:pt x="0" y="90"/>
                </a:moveTo>
                <a:lnTo>
                  <a:pt x="2" y="100"/>
                </a:lnTo>
                <a:lnTo>
                  <a:pt x="4" y="108"/>
                </a:lnTo>
                <a:lnTo>
                  <a:pt x="9" y="117"/>
                </a:lnTo>
                <a:lnTo>
                  <a:pt x="13" y="125"/>
                </a:lnTo>
                <a:lnTo>
                  <a:pt x="20" y="134"/>
                </a:lnTo>
                <a:lnTo>
                  <a:pt x="29" y="140"/>
                </a:lnTo>
                <a:lnTo>
                  <a:pt x="38" y="144"/>
                </a:lnTo>
                <a:lnTo>
                  <a:pt x="47" y="148"/>
                </a:lnTo>
                <a:lnTo>
                  <a:pt x="59" y="150"/>
                </a:lnTo>
                <a:lnTo>
                  <a:pt x="68" y="150"/>
                </a:lnTo>
                <a:lnTo>
                  <a:pt x="79" y="150"/>
                </a:lnTo>
                <a:lnTo>
                  <a:pt x="90" y="148"/>
                </a:lnTo>
                <a:lnTo>
                  <a:pt x="99" y="144"/>
                </a:lnTo>
                <a:lnTo>
                  <a:pt x="108" y="140"/>
                </a:lnTo>
                <a:lnTo>
                  <a:pt x="117" y="134"/>
                </a:lnTo>
                <a:lnTo>
                  <a:pt x="124" y="125"/>
                </a:lnTo>
                <a:lnTo>
                  <a:pt x="129" y="117"/>
                </a:lnTo>
                <a:lnTo>
                  <a:pt x="133" y="108"/>
                </a:lnTo>
                <a:lnTo>
                  <a:pt x="135" y="100"/>
                </a:lnTo>
                <a:lnTo>
                  <a:pt x="138" y="90"/>
                </a:lnTo>
                <a:lnTo>
                  <a:pt x="138" y="0"/>
                </a:lnTo>
                <a:lnTo>
                  <a:pt x="0" y="0"/>
                </a:lnTo>
                <a:lnTo>
                  <a:pt x="0" y="9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48" name="Freeform 55">
            <a:extLst>
              <a:ext uri="{FF2B5EF4-FFF2-40B4-BE49-F238E27FC236}">
                <a16:creationId xmlns:a16="http://schemas.microsoft.com/office/drawing/2014/main" id="{CB9EB555-EA51-444F-BC9C-2C5A25830571}"/>
              </a:ext>
            </a:extLst>
          </p:cNvPr>
          <p:cNvSpPr>
            <a:spLocks/>
          </p:cNvSpPr>
          <p:nvPr/>
        </p:nvSpPr>
        <p:spPr bwMode="auto">
          <a:xfrm>
            <a:off x="2686050" y="3795713"/>
            <a:ext cx="247650" cy="228600"/>
          </a:xfrm>
          <a:custGeom>
            <a:avLst/>
            <a:gdLst>
              <a:gd name="T0" fmla="*/ 2147483646 w 156"/>
              <a:gd name="T1" fmla="*/ 2147483646 h 144"/>
              <a:gd name="T2" fmla="*/ 2147483646 w 156"/>
              <a:gd name="T3" fmla="*/ 2147483646 h 144"/>
              <a:gd name="T4" fmla="*/ 2147483646 w 156"/>
              <a:gd name="T5" fmla="*/ 2147483646 h 144"/>
              <a:gd name="T6" fmla="*/ 2147483646 w 156"/>
              <a:gd name="T7" fmla="*/ 2147483646 h 144"/>
              <a:gd name="T8" fmla="*/ 2147483646 w 156"/>
              <a:gd name="T9" fmla="*/ 2147483646 h 144"/>
              <a:gd name="T10" fmla="*/ 2147483646 w 156"/>
              <a:gd name="T11" fmla="*/ 2147483646 h 144"/>
              <a:gd name="T12" fmla="*/ 2147483646 w 156"/>
              <a:gd name="T13" fmla="*/ 2147483646 h 144"/>
              <a:gd name="T14" fmla="*/ 2147483646 w 156"/>
              <a:gd name="T15" fmla="*/ 2147483646 h 144"/>
              <a:gd name="T16" fmla="*/ 2147483646 w 156"/>
              <a:gd name="T17" fmla="*/ 2147483646 h 144"/>
              <a:gd name="T18" fmla="*/ 2147483646 w 156"/>
              <a:gd name="T19" fmla="*/ 2147483646 h 144"/>
              <a:gd name="T20" fmla="*/ 2147483646 w 156"/>
              <a:gd name="T21" fmla="*/ 2147483646 h 144"/>
              <a:gd name="T22" fmla="*/ 2147483646 w 156"/>
              <a:gd name="T23" fmla="*/ 2147483646 h 144"/>
              <a:gd name="T24" fmla="*/ 2147483646 w 156"/>
              <a:gd name="T25" fmla="*/ 2147483646 h 144"/>
              <a:gd name="T26" fmla="*/ 2147483646 w 156"/>
              <a:gd name="T27" fmla="*/ 2147483646 h 144"/>
              <a:gd name="T28" fmla="*/ 2147483646 w 156"/>
              <a:gd name="T29" fmla="*/ 2147483646 h 144"/>
              <a:gd name="T30" fmla="*/ 2147483646 w 156"/>
              <a:gd name="T31" fmla="*/ 2147483646 h 144"/>
              <a:gd name="T32" fmla="*/ 2147483646 w 156"/>
              <a:gd name="T33" fmla="*/ 2147483646 h 144"/>
              <a:gd name="T34" fmla="*/ 2147483646 w 156"/>
              <a:gd name="T35" fmla="*/ 2147483646 h 144"/>
              <a:gd name="T36" fmla="*/ 2147483646 w 156"/>
              <a:gd name="T37" fmla="*/ 2147483646 h 144"/>
              <a:gd name="T38" fmla="*/ 2147483646 w 156"/>
              <a:gd name="T39" fmla="*/ 0 h 144"/>
              <a:gd name="T40" fmla="*/ 2147483646 w 156"/>
              <a:gd name="T41" fmla="*/ 0 h 144"/>
              <a:gd name="T42" fmla="*/ 2147483646 w 156"/>
              <a:gd name="T43" fmla="*/ 0 h 144"/>
              <a:gd name="T44" fmla="*/ 2147483646 w 156"/>
              <a:gd name="T45" fmla="*/ 2147483646 h 144"/>
              <a:gd name="T46" fmla="*/ 2147483646 w 156"/>
              <a:gd name="T47" fmla="*/ 2147483646 h 144"/>
              <a:gd name="T48" fmla="*/ 2147483646 w 156"/>
              <a:gd name="T49" fmla="*/ 2147483646 h 144"/>
              <a:gd name="T50" fmla="*/ 2147483646 w 156"/>
              <a:gd name="T51" fmla="*/ 2147483646 h 144"/>
              <a:gd name="T52" fmla="*/ 2147483646 w 156"/>
              <a:gd name="T53" fmla="*/ 2147483646 h 144"/>
              <a:gd name="T54" fmla="*/ 2147483646 w 156"/>
              <a:gd name="T55" fmla="*/ 2147483646 h 144"/>
              <a:gd name="T56" fmla="*/ 2147483646 w 156"/>
              <a:gd name="T57" fmla="*/ 2147483646 h 144"/>
              <a:gd name="T58" fmla="*/ 2147483646 w 156"/>
              <a:gd name="T59" fmla="*/ 2147483646 h 144"/>
              <a:gd name="T60" fmla="*/ 0 w 156"/>
              <a:gd name="T61" fmla="*/ 2147483646 h 144"/>
              <a:gd name="T62" fmla="*/ 2147483646 w 156"/>
              <a:gd name="T63" fmla="*/ 2147483646 h 144"/>
              <a:gd name="T64" fmla="*/ 2147483646 w 156"/>
              <a:gd name="T65" fmla="*/ 2147483646 h 144"/>
              <a:gd name="T66" fmla="*/ 2147483646 w 156"/>
              <a:gd name="T67" fmla="*/ 2147483646 h 144"/>
              <a:gd name="T68" fmla="*/ 2147483646 w 156"/>
              <a:gd name="T69" fmla="*/ 2147483646 h 144"/>
              <a:gd name="T70" fmla="*/ 2147483646 w 156"/>
              <a:gd name="T71" fmla="*/ 2147483646 h 144"/>
              <a:gd name="T72" fmla="*/ 2147483646 w 156"/>
              <a:gd name="T73" fmla="*/ 2147483646 h 144"/>
              <a:gd name="T74" fmla="*/ 2147483646 w 156"/>
              <a:gd name="T75" fmla="*/ 2147483646 h 144"/>
              <a:gd name="T76" fmla="*/ 2147483646 w 156"/>
              <a:gd name="T77" fmla="*/ 2147483646 h 144"/>
              <a:gd name="T78" fmla="*/ 2147483646 w 156"/>
              <a:gd name="T79" fmla="*/ 2147483646 h 144"/>
              <a:gd name="T80" fmla="*/ 2147483646 w 156"/>
              <a:gd name="T81" fmla="*/ 2147483646 h 144"/>
              <a:gd name="T82" fmla="*/ 2147483646 w 156"/>
              <a:gd name="T83" fmla="*/ 2147483646 h 1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56" h="144">
                <a:moveTo>
                  <a:pt x="77" y="142"/>
                </a:moveTo>
                <a:lnTo>
                  <a:pt x="90" y="142"/>
                </a:lnTo>
                <a:lnTo>
                  <a:pt x="104" y="140"/>
                </a:lnTo>
                <a:lnTo>
                  <a:pt x="115" y="136"/>
                </a:lnTo>
                <a:lnTo>
                  <a:pt x="124" y="130"/>
                </a:lnTo>
                <a:lnTo>
                  <a:pt x="133" y="121"/>
                </a:lnTo>
                <a:lnTo>
                  <a:pt x="142" y="113"/>
                </a:lnTo>
                <a:lnTo>
                  <a:pt x="147" y="104"/>
                </a:lnTo>
                <a:lnTo>
                  <a:pt x="151" y="94"/>
                </a:lnTo>
                <a:lnTo>
                  <a:pt x="156" y="84"/>
                </a:lnTo>
                <a:lnTo>
                  <a:pt x="156" y="71"/>
                </a:lnTo>
                <a:lnTo>
                  <a:pt x="156" y="61"/>
                </a:lnTo>
                <a:lnTo>
                  <a:pt x="151" y="48"/>
                </a:lnTo>
                <a:lnTo>
                  <a:pt x="147" y="38"/>
                </a:lnTo>
                <a:lnTo>
                  <a:pt x="142" y="29"/>
                </a:lnTo>
                <a:lnTo>
                  <a:pt x="133" y="21"/>
                </a:lnTo>
                <a:lnTo>
                  <a:pt x="124" y="12"/>
                </a:lnTo>
                <a:lnTo>
                  <a:pt x="115" y="8"/>
                </a:lnTo>
                <a:lnTo>
                  <a:pt x="104" y="2"/>
                </a:lnTo>
                <a:lnTo>
                  <a:pt x="90" y="0"/>
                </a:lnTo>
                <a:lnTo>
                  <a:pt x="79" y="0"/>
                </a:lnTo>
                <a:lnTo>
                  <a:pt x="66" y="0"/>
                </a:lnTo>
                <a:lnTo>
                  <a:pt x="54" y="2"/>
                </a:lnTo>
                <a:lnTo>
                  <a:pt x="43" y="8"/>
                </a:lnTo>
                <a:lnTo>
                  <a:pt x="32" y="12"/>
                </a:lnTo>
                <a:lnTo>
                  <a:pt x="23" y="21"/>
                </a:lnTo>
                <a:lnTo>
                  <a:pt x="16" y="29"/>
                </a:lnTo>
                <a:lnTo>
                  <a:pt x="9" y="38"/>
                </a:lnTo>
                <a:lnTo>
                  <a:pt x="5" y="48"/>
                </a:lnTo>
                <a:lnTo>
                  <a:pt x="2" y="61"/>
                </a:lnTo>
                <a:lnTo>
                  <a:pt x="0" y="71"/>
                </a:lnTo>
                <a:lnTo>
                  <a:pt x="2" y="84"/>
                </a:lnTo>
                <a:lnTo>
                  <a:pt x="5" y="94"/>
                </a:lnTo>
                <a:lnTo>
                  <a:pt x="9" y="104"/>
                </a:lnTo>
                <a:lnTo>
                  <a:pt x="16" y="113"/>
                </a:lnTo>
                <a:lnTo>
                  <a:pt x="23" y="121"/>
                </a:lnTo>
                <a:lnTo>
                  <a:pt x="32" y="130"/>
                </a:lnTo>
                <a:lnTo>
                  <a:pt x="43" y="136"/>
                </a:lnTo>
                <a:lnTo>
                  <a:pt x="54" y="140"/>
                </a:lnTo>
                <a:lnTo>
                  <a:pt x="66" y="142"/>
                </a:lnTo>
                <a:lnTo>
                  <a:pt x="79" y="14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49" name="Line 56">
            <a:extLst>
              <a:ext uri="{FF2B5EF4-FFF2-40B4-BE49-F238E27FC236}">
                <a16:creationId xmlns:a16="http://schemas.microsoft.com/office/drawing/2014/main" id="{C7B5AF72-602F-439C-BE29-377B0E93BB09}"/>
              </a:ext>
            </a:extLst>
          </p:cNvPr>
          <p:cNvSpPr>
            <a:spLocks noChangeShapeType="1"/>
          </p:cNvSpPr>
          <p:nvPr/>
        </p:nvSpPr>
        <p:spPr bwMode="auto">
          <a:xfrm>
            <a:off x="2808288" y="2917825"/>
            <a:ext cx="3175" cy="831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0" name="Freeform 57">
            <a:extLst>
              <a:ext uri="{FF2B5EF4-FFF2-40B4-BE49-F238E27FC236}">
                <a16:creationId xmlns:a16="http://schemas.microsoft.com/office/drawing/2014/main" id="{690D15F3-382C-4501-8307-12599389C623}"/>
              </a:ext>
            </a:extLst>
          </p:cNvPr>
          <p:cNvSpPr>
            <a:spLocks noEditPoints="1"/>
          </p:cNvSpPr>
          <p:nvPr/>
        </p:nvSpPr>
        <p:spPr bwMode="auto">
          <a:xfrm>
            <a:off x="2771775" y="3892550"/>
            <a:ext cx="76200" cy="31750"/>
          </a:xfrm>
          <a:custGeom>
            <a:avLst/>
            <a:gdLst>
              <a:gd name="T0" fmla="*/ 0 w 48"/>
              <a:gd name="T1" fmla="*/ 0 h 20"/>
              <a:gd name="T2" fmla="*/ 2147483646 w 48"/>
              <a:gd name="T3" fmla="*/ 0 h 20"/>
              <a:gd name="T4" fmla="*/ 2147483646 w 48"/>
              <a:gd name="T5" fmla="*/ 2147483646 h 20"/>
              <a:gd name="T6" fmla="*/ 2147483646 w 48"/>
              <a:gd name="T7" fmla="*/ 2147483646 h 20"/>
              <a:gd name="T8" fmla="*/ 2147483646 w 48"/>
              <a:gd name="T9" fmla="*/ 0 h 20"/>
              <a:gd name="T10" fmla="*/ 2147483646 w 48"/>
              <a:gd name="T11" fmla="*/ 0 h 20"/>
              <a:gd name="T12" fmla="*/ 0 w 48"/>
              <a:gd name="T13" fmla="*/ 0 h 20"/>
              <a:gd name="T14" fmla="*/ 2147483646 w 48"/>
              <a:gd name="T15" fmla="*/ 2147483646 h 20"/>
              <a:gd name="T16" fmla="*/ 2147483646 w 48"/>
              <a:gd name="T17" fmla="*/ 2147483646 h 20"/>
              <a:gd name="T18" fmla="*/ 2147483646 w 48"/>
              <a:gd name="T19" fmla="*/ 2147483646 h 20"/>
              <a:gd name="T20" fmla="*/ 2147483646 w 48"/>
              <a:gd name="T21" fmla="*/ 2147483646 h 20"/>
              <a:gd name="T22" fmla="*/ 2147483646 w 48"/>
              <a:gd name="T23" fmla="*/ 2147483646 h 20"/>
              <a:gd name="T24" fmla="*/ 2147483646 w 48"/>
              <a:gd name="T25" fmla="*/ 2147483646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8" h="20">
                <a:moveTo>
                  <a:pt x="0" y="0"/>
                </a:moveTo>
                <a:lnTo>
                  <a:pt x="48" y="0"/>
                </a:lnTo>
                <a:lnTo>
                  <a:pt x="48" y="6"/>
                </a:lnTo>
                <a:lnTo>
                  <a:pt x="3" y="6"/>
                </a:lnTo>
                <a:lnTo>
                  <a:pt x="3" y="0"/>
                </a:lnTo>
                <a:lnTo>
                  <a:pt x="0" y="0"/>
                </a:lnTo>
                <a:close/>
                <a:moveTo>
                  <a:pt x="3" y="16"/>
                </a:moveTo>
                <a:lnTo>
                  <a:pt x="48" y="16"/>
                </a:lnTo>
                <a:lnTo>
                  <a:pt x="48" y="20"/>
                </a:lnTo>
                <a:lnTo>
                  <a:pt x="3" y="20"/>
                </a:lnTo>
                <a:lnTo>
                  <a:pt x="3"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51" name="Line 58">
            <a:extLst>
              <a:ext uri="{FF2B5EF4-FFF2-40B4-BE49-F238E27FC236}">
                <a16:creationId xmlns:a16="http://schemas.microsoft.com/office/drawing/2014/main" id="{119EC1DF-7F14-446B-8CB1-746141A3C5EA}"/>
              </a:ext>
            </a:extLst>
          </p:cNvPr>
          <p:cNvSpPr>
            <a:spLocks noChangeShapeType="1"/>
          </p:cNvSpPr>
          <p:nvPr/>
        </p:nvSpPr>
        <p:spPr bwMode="auto">
          <a:xfrm>
            <a:off x="2554288" y="2917825"/>
            <a:ext cx="0" cy="12969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2" name="Freeform 59">
            <a:extLst>
              <a:ext uri="{FF2B5EF4-FFF2-40B4-BE49-F238E27FC236}">
                <a16:creationId xmlns:a16="http://schemas.microsoft.com/office/drawing/2014/main" id="{F902E52D-0DB1-4484-B6EA-1678D1429967}"/>
              </a:ext>
            </a:extLst>
          </p:cNvPr>
          <p:cNvSpPr>
            <a:spLocks/>
          </p:cNvSpPr>
          <p:nvPr/>
        </p:nvSpPr>
        <p:spPr bwMode="auto">
          <a:xfrm>
            <a:off x="2625725" y="3881438"/>
            <a:ext cx="53975" cy="53975"/>
          </a:xfrm>
          <a:custGeom>
            <a:avLst/>
            <a:gdLst>
              <a:gd name="T0" fmla="*/ 0 w 34"/>
              <a:gd name="T1" fmla="*/ 0 h 34"/>
              <a:gd name="T2" fmla="*/ 0 w 34"/>
              <a:gd name="T3" fmla="*/ 2147483646 h 34"/>
              <a:gd name="T4" fmla="*/ 2147483646 w 34"/>
              <a:gd name="T5" fmla="*/ 2147483646 h 34"/>
              <a:gd name="T6" fmla="*/ 0 w 34"/>
              <a:gd name="T7" fmla="*/ 0 h 34"/>
              <a:gd name="T8" fmla="*/ 0 w 34"/>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4">
                <a:moveTo>
                  <a:pt x="0" y="0"/>
                </a:moveTo>
                <a:lnTo>
                  <a:pt x="0" y="34"/>
                </a:lnTo>
                <a:lnTo>
                  <a:pt x="34"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53" name="Freeform 60">
            <a:extLst>
              <a:ext uri="{FF2B5EF4-FFF2-40B4-BE49-F238E27FC236}">
                <a16:creationId xmlns:a16="http://schemas.microsoft.com/office/drawing/2014/main" id="{8648418A-7389-4674-B7A9-2191AA8E940F}"/>
              </a:ext>
            </a:extLst>
          </p:cNvPr>
          <p:cNvSpPr>
            <a:spLocks/>
          </p:cNvSpPr>
          <p:nvPr/>
        </p:nvSpPr>
        <p:spPr bwMode="auto">
          <a:xfrm>
            <a:off x="1704975" y="1604963"/>
            <a:ext cx="1847850" cy="2303462"/>
          </a:xfrm>
          <a:custGeom>
            <a:avLst/>
            <a:gdLst>
              <a:gd name="T0" fmla="*/ 2147483646 w 1293"/>
              <a:gd name="T1" fmla="*/ 0 h 1451"/>
              <a:gd name="T2" fmla="*/ 2147483646 w 1293"/>
              <a:gd name="T3" fmla="*/ 2147483646 h 1451"/>
              <a:gd name="T4" fmla="*/ 0 w 1293"/>
              <a:gd name="T5" fmla="*/ 2147483646 h 1451"/>
              <a:gd name="T6" fmla="*/ 0 w 1293"/>
              <a:gd name="T7" fmla="*/ 2147483646 h 1451"/>
              <a:gd name="T8" fmla="*/ 2147483646 w 1293"/>
              <a:gd name="T9" fmla="*/ 2147483646 h 14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3" h="1451">
                <a:moveTo>
                  <a:pt x="1291" y="0"/>
                </a:moveTo>
                <a:lnTo>
                  <a:pt x="1293" y="199"/>
                </a:lnTo>
                <a:lnTo>
                  <a:pt x="0" y="197"/>
                </a:lnTo>
                <a:lnTo>
                  <a:pt x="0" y="1451"/>
                </a:lnTo>
                <a:lnTo>
                  <a:pt x="593" y="1451"/>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54" name="Line 61">
            <a:extLst>
              <a:ext uri="{FF2B5EF4-FFF2-40B4-BE49-F238E27FC236}">
                <a16:creationId xmlns:a16="http://schemas.microsoft.com/office/drawing/2014/main" id="{6D21A0D3-6145-44F2-918C-FBEEC4B8033C}"/>
              </a:ext>
            </a:extLst>
          </p:cNvPr>
          <p:cNvSpPr>
            <a:spLocks noChangeShapeType="1"/>
          </p:cNvSpPr>
          <p:nvPr/>
        </p:nvSpPr>
        <p:spPr bwMode="auto">
          <a:xfrm>
            <a:off x="2994025" y="2386013"/>
            <a:ext cx="0"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55" name="Rectangle 62">
            <a:extLst>
              <a:ext uri="{FF2B5EF4-FFF2-40B4-BE49-F238E27FC236}">
                <a16:creationId xmlns:a16="http://schemas.microsoft.com/office/drawing/2014/main" id="{0AD738C4-48D1-48A8-ACE7-DAE9D9E4CED9}"/>
              </a:ext>
            </a:extLst>
          </p:cNvPr>
          <p:cNvSpPr>
            <a:spLocks noChangeArrowheads="1"/>
          </p:cNvSpPr>
          <p:nvPr/>
        </p:nvSpPr>
        <p:spPr bwMode="auto">
          <a:xfrm>
            <a:off x="3073400" y="2230438"/>
            <a:ext cx="1428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D</a:t>
            </a:r>
            <a:endParaRPr lang="zh-CN" altLang="zh-CN"/>
          </a:p>
        </p:txBody>
      </p:sp>
      <p:sp>
        <p:nvSpPr>
          <p:cNvPr id="55356" name="Rectangle 63">
            <a:extLst>
              <a:ext uri="{FF2B5EF4-FFF2-40B4-BE49-F238E27FC236}">
                <a16:creationId xmlns:a16="http://schemas.microsoft.com/office/drawing/2014/main" id="{B5D399BA-4102-4071-B378-6242FAA32C89}"/>
              </a:ext>
            </a:extLst>
          </p:cNvPr>
          <p:cNvSpPr>
            <a:spLocks noChangeArrowheads="1"/>
          </p:cNvSpPr>
          <p:nvPr/>
        </p:nvSpPr>
        <p:spPr bwMode="auto">
          <a:xfrm>
            <a:off x="3159125"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357" name="Rectangle 64">
            <a:extLst>
              <a:ext uri="{FF2B5EF4-FFF2-40B4-BE49-F238E27FC236}">
                <a16:creationId xmlns:a16="http://schemas.microsoft.com/office/drawing/2014/main" id="{CC78E927-8339-4F2A-AC16-D22107F557E5}"/>
              </a:ext>
            </a:extLst>
          </p:cNvPr>
          <p:cNvSpPr>
            <a:spLocks noChangeArrowheads="1"/>
          </p:cNvSpPr>
          <p:nvPr/>
        </p:nvSpPr>
        <p:spPr bwMode="auto">
          <a:xfrm>
            <a:off x="3224213" y="2230438"/>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358" name="Rectangle 65">
            <a:extLst>
              <a:ext uri="{FF2B5EF4-FFF2-40B4-BE49-F238E27FC236}">
                <a16:creationId xmlns:a16="http://schemas.microsoft.com/office/drawing/2014/main" id="{0B96D522-FDA5-4FF6-B452-18E84F259C93}"/>
              </a:ext>
            </a:extLst>
          </p:cNvPr>
          <p:cNvSpPr>
            <a:spLocks noChangeArrowheads="1"/>
          </p:cNvSpPr>
          <p:nvPr/>
        </p:nvSpPr>
        <p:spPr bwMode="auto">
          <a:xfrm>
            <a:off x="3255963"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359" name="Freeform 66">
            <a:extLst>
              <a:ext uri="{FF2B5EF4-FFF2-40B4-BE49-F238E27FC236}">
                <a16:creationId xmlns:a16="http://schemas.microsoft.com/office/drawing/2014/main" id="{EC29E904-D98D-40CF-9669-1CADB3663FC6}"/>
              </a:ext>
            </a:extLst>
          </p:cNvPr>
          <p:cNvSpPr>
            <a:spLocks/>
          </p:cNvSpPr>
          <p:nvPr/>
        </p:nvSpPr>
        <p:spPr bwMode="auto">
          <a:xfrm>
            <a:off x="3227388"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20" y="31"/>
                </a:lnTo>
                <a:lnTo>
                  <a:pt x="22" y="31"/>
                </a:lnTo>
                <a:lnTo>
                  <a:pt x="25" y="29"/>
                </a:lnTo>
                <a:lnTo>
                  <a:pt x="27" y="29"/>
                </a:lnTo>
                <a:lnTo>
                  <a:pt x="29" y="27"/>
                </a:lnTo>
                <a:lnTo>
                  <a:pt x="31" y="25"/>
                </a:lnTo>
                <a:lnTo>
                  <a:pt x="31" y="23"/>
                </a:lnTo>
                <a:lnTo>
                  <a:pt x="34" y="21"/>
                </a:lnTo>
                <a:lnTo>
                  <a:pt x="34" y="18"/>
                </a:lnTo>
                <a:lnTo>
                  <a:pt x="34" y="16"/>
                </a:lnTo>
                <a:lnTo>
                  <a:pt x="34" y="12"/>
                </a:lnTo>
                <a:lnTo>
                  <a:pt x="34" y="10"/>
                </a:lnTo>
                <a:lnTo>
                  <a:pt x="31" y="8"/>
                </a:lnTo>
                <a:lnTo>
                  <a:pt x="31" y="6"/>
                </a:lnTo>
                <a:lnTo>
                  <a:pt x="29" y="4"/>
                </a:lnTo>
                <a:lnTo>
                  <a:pt x="27" y="2"/>
                </a:lnTo>
                <a:lnTo>
                  <a:pt x="25" y="2"/>
                </a:lnTo>
                <a:lnTo>
                  <a:pt x="22" y="0"/>
                </a:lnTo>
                <a:lnTo>
                  <a:pt x="20" y="0"/>
                </a:lnTo>
                <a:lnTo>
                  <a:pt x="16" y="0"/>
                </a:lnTo>
                <a:lnTo>
                  <a:pt x="13" y="0"/>
                </a:lnTo>
                <a:lnTo>
                  <a:pt x="11" y="0"/>
                </a:lnTo>
                <a:lnTo>
                  <a:pt x="9" y="2"/>
                </a:lnTo>
                <a:lnTo>
                  <a:pt x="7" y="2"/>
                </a:lnTo>
                <a:lnTo>
                  <a:pt x="4" y="4"/>
                </a:lnTo>
                <a:lnTo>
                  <a:pt x="2" y="6"/>
                </a:lnTo>
                <a:lnTo>
                  <a:pt x="2" y="8"/>
                </a:lnTo>
                <a:lnTo>
                  <a:pt x="0" y="10"/>
                </a:lnTo>
                <a:lnTo>
                  <a:pt x="0" y="12"/>
                </a:lnTo>
                <a:lnTo>
                  <a:pt x="0" y="16"/>
                </a:lnTo>
                <a:lnTo>
                  <a:pt x="0" y="18"/>
                </a:lnTo>
                <a:lnTo>
                  <a:pt x="0" y="21"/>
                </a:lnTo>
                <a:lnTo>
                  <a:pt x="2" y="23"/>
                </a:lnTo>
                <a:lnTo>
                  <a:pt x="2" y="25"/>
                </a:lnTo>
                <a:lnTo>
                  <a:pt x="4" y="27"/>
                </a:lnTo>
                <a:lnTo>
                  <a:pt x="7" y="29"/>
                </a:lnTo>
                <a:lnTo>
                  <a:pt x="9" y="29"/>
                </a:lnTo>
                <a:lnTo>
                  <a:pt x="11" y="31"/>
                </a:lnTo>
                <a:lnTo>
                  <a:pt x="13"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60" name="Freeform 67">
            <a:extLst>
              <a:ext uri="{FF2B5EF4-FFF2-40B4-BE49-F238E27FC236}">
                <a16:creationId xmlns:a16="http://schemas.microsoft.com/office/drawing/2014/main" id="{5D9F81A4-6FB7-4885-B8A9-46CB3E6631BE}"/>
              </a:ext>
            </a:extLst>
          </p:cNvPr>
          <p:cNvSpPr>
            <a:spLocks/>
          </p:cNvSpPr>
          <p:nvPr/>
        </p:nvSpPr>
        <p:spPr bwMode="auto">
          <a:xfrm>
            <a:off x="4129088" y="3735388"/>
            <a:ext cx="53975" cy="50800"/>
          </a:xfrm>
          <a:custGeom>
            <a:avLst/>
            <a:gdLst>
              <a:gd name="T0" fmla="*/ 2147483646 w 34"/>
              <a:gd name="T1" fmla="*/ 0 h 32"/>
              <a:gd name="T2" fmla="*/ 0 w 34"/>
              <a:gd name="T3" fmla="*/ 0 h 32"/>
              <a:gd name="T4" fmla="*/ 2147483646 w 34"/>
              <a:gd name="T5" fmla="*/ 2147483646 h 32"/>
              <a:gd name="T6" fmla="*/ 2147483646 w 34"/>
              <a:gd name="T7" fmla="*/ 0 h 32"/>
              <a:gd name="T8" fmla="*/ 2147483646 w 34"/>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2">
                <a:moveTo>
                  <a:pt x="34" y="0"/>
                </a:moveTo>
                <a:lnTo>
                  <a:pt x="0" y="0"/>
                </a:lnTo>
                <a:lnTo>
                  <a:pt x="16" y="32"/>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61" name="Freeform 68">
            <a:extLst>
              <a:ext uri="{FF2B5EF4-FFF2-40B4-BE49-F238E27FC236}">
                <a16:creationId xmlns:a16="http://schemas.microsoft.com/office/drawing/2014/main" id="{16088995-2392-4469-93C5-E530C12E5119}"/>
              </a:ext>
            </a:extLst>
          </p:cNvPr>
          <p:cNvSpPr>
            <a:spLocks/>
          </p:cNvSpPr>
          <p:nvPr/>
        </p:nvSpPr>
        <p:spPr bwMode="auto">
          <a:xfrm>
            <a:off x="3825875" y="2386013"/>
            <a:ext cx="1044575" cy="153987"/>
          </a:xfrm>
          <a:custGeom>
            <a:avLst/>
            <a:gdLst>
              <a:gd name="T0" fmla="*/ 2147483646 w 658"/>
              <a:gd name="T1" fmla="*/ 2147483646 h 97"/>
              <a:gd name="T2" fmla="*/ 2147483646 w 658"/>
              <a:gd name="T3" fmla="*/ 0 h 97"/>
              <a:gd name="T4" fmla="*/ 0 w 658"/>
              <a:gd name="T5" fmla="*/ 0 h 97"/>
              <a:gd name="T6" fmla="*/ 0 w 658"/>
              <a:gd name="T7" fmla="*/ 2147483646 h 97"/>
              <a:gd name="T8" fmla="*/ 2147483646 w 658"/>
              <a:gd name="T9" fmla="*/ 2147483646 h 97"/>
              <a:gd name="T10" fmla="*/ 2147483646 w 658"/>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8" h="97">
                <a:moveTo>
                  <a:pt x="656" y="97"/>
                </a:moveTo>
                <a:lnTo>
                  <a:pt x="658" y="0"/>
                </a:lnTo>
                <a:lnTo>
                  <a:pt x="0" y="0"/>
                </a:lnTo>
                <a:lnTo>
                  <a:pt x="0" y="97"/>
                </a:lnTo>
                <a:lnTo>
                  <a:pt x="658"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62" name="Rectangle 69">
            <a:extLst>
              <a:ext uri="{FF2B5EF4-FFF2-40B4-BE49-F238E27FC236}">
                <a16:creationId xmlns:a16="http://schemas.microsoft.com/office/drawing/2014/main" id="{3B109381-84DA-43D4-9FA2-6E3696CB5DC9}"/>
              </a:ext>
            </a:extLst>
          </p:cNvPr>
          <p:cNvSpPr>
            <a:spLocks noChangeArrowheads="1"/>
          </p:cNvSpPr>
          <p:nvPr/>
        </p:nvSpPr>
        <p:spPr bwMode="auto">
          <a:xfrm>
            <a:off x="3860800" y="2230438"/>
            <a:ext cx="1365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V</a:t>
            </a:r>
            <a:endParaRPr lang="zh-CN" altLang="zh-CN"/>
          </a:p>
        </p:txBody>
      </p:sp>
      <p:sp>
        <p:nvSpPr>
          <p:cNvPr id="55363" name="Rectangle 70">
            <a:extLst>
              <a:ext uri="{FF2B5EF4-FFF2-40B4-BE49-F238E27FC236}">
                <a16:creationId xmlns:a16="http://schemas.microsoft.com/office/drawing/2014/main" id="{090F5612-D365-4D10-9B44-0AA1B71D3CF0}"/>
              </a:ext>
            </a:extLst>
          </p:cNvPr>
          <p:cNvSpPr>
            <a:spLocks noChangeArrowheads="1"/>
          </p:cNvSpPr>
          <p:nvPr/>
        </p:nvSpPr>
        <p:spPr bwMode="auto">
          <a:xfrm>
            <a:off x="4079875" y="2230438"/>
            <a:ext cx="1285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364" name="Rectangle 71">
            <a:extLst>
              <a:ext uri="{FF2B5EF4-FFF2-40B4-BE49-F238E27FC236}">
                <a16:creationId xmlns:a16="http://schemas.microsoft.com/office/drawing/2014/main" id="{37BF2676-5C76-494D-98E7-4DA592ED6F81}"/>
              </a:ext>
            </a:extLst>
          </p:cNvPr>
          <p:cNvSpPr>
            <a:spLocks noChangeArrowheads="1"/>
          </p:cNvSpPr>
          <p:nvPr/>
        </p:nvSpPr>
        <p:spPr bwMode="auto">
          <a:xfrm>
            <a:off x="4151313"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365" name="Rectangle 72">
            <a:extLst>
              <a:ext uri="{FF2B5EF4-FFF2-40B4-BE49-F238E27FC236}">
                <a16:creationId xmlns:a16="http://schemas.microsoft.com/office/drawing/2014/main" id="{B9D6ECED-1D70-462C-904E-BCBC74351A7C}"/>
              </a:ext>
            </a:extLst>
          </p:cNvPr>
          <p:cNvSpPr>
            <a:spLocks noChangeArrowheads="1"/>
          </p:cNvSpPr>
          <p:nvPr/>
        </p:nvSpPr>
        <p:spPr bwMode="auto">
          <a:xfrm>
            <a:off x="4219575"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g</a:t>
            </a:r>
            <a:endParaRPr lang="zh-CN" altLang="zh-CN"/>
          </a:p>
        </p:txBody>
      </p:sp>
      <p:sp>
        <p:nvSpPr>
          <p:cNvPr id="55366" name="Freeform 73">
            <a:extLst>
              <a:ext uri="{FF2B5EF4-FFF2-40B4-BE49-F238E27FC236}">
                <a16:creationId xmlns:a16="http://schemas.microsoft.com/office/drawing/2014/main" id="{1285D2BA-AFC9-494C-9737-10016F440EBB}"/>
              </a:ext>
            </a:extLst>
          </p:cNvPr>
          <p:cNvSpPr>
            <a:spLocks/>
          </p:cNvSpPr>
          <p:nvPr/>
        </p:nvSpPr>
        <p:spPr bwMode="auto">
          <a:xfrm>
            <a:off x="3825875" y="2540000"/>
            <a:ext cx="1044575" cy="152400"/>
          </a:xfrm>
          <a:custGeom>
            <a:avLst/>
            <a:gdLst>
              <a:gd name="T0" fmla="*/ 2147483646 w 658"/>
              <a:gd name="T1" fmla="*/ 2147483646 h 96"/>
              <a:gd name="T2" fmla="*/ 2147483646 w 658"/>
              <a:gd name="T3" fmla="*/ 0 h 96"/>
              <a:gd name="T4" fmla="*/ 0 w 658"/>
              <a:gd name="T5" fmla="*/ 0 h 96"/>
              <a:gd name="T6" fmla="*/ 0 w 658"/>
              <a:gd name="T7" fmla="*/ 2147483646 h 96"/>
              <a:gd name="T8" fmla="*/ 2147483646 w 658"/>
              <a:gd name="T9" fmla="*/ 2147483646 h 96"/>
              <a:gd name="T10" fmla="*/ 2147483646 w 658"/>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8" h="96">
                <a:moveTo>
                  <a:pt x="656" y="94"/>
                </a:moveTo>
                <a:lnTo>
                  <a:pt x="658" y="0"/>
                </a:lnTo>
                <a:lnTo>
                  <a:pt x="0" y="0"/>
                </a:lnTo>
                <a:lnTo>
                  <a:pt x="0" y="96"/>
                </a:lnTo>
                <a:lnTo>
                  <a:pt x="658"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67" name="Freeform 74">
            <a:extLst>
              <a:ext uri="{FF2B5EF4-FFF2-40B4-BE49-F238E27FC236}">
                <a16:creationId xmlns:a16="http://schemas.microsoft.com/office/drawing/2014/main" id="{67788D6F-09A9-4F7B-8960-CD682391DCCA}"/>
              </a:ext>
            </a:extLst>
          </p:cNvPr>
          <p:cNvSpPr>
            <a:spLocks/>
          </p:cNvSpPr>
          <p:nvPr/>
        </p:nvSpPr>
        <p:spPr bwMode="auto">
          <a:xfrm>
            <a:off x="3825875" y="2692400"/>
            <a:ext cx="1044575" cy="152400"/>
          </a:xfrm>
          <a:custGeom>
            <a:avLst/>
            <a:gdLst>
              <a:gd name="T0" fmla="*/ 2147483646 w 658"/>
              <a:gd name="T1" fmla="*/ 2147483646 h 96"/>
              <a:gd name="T2" fmla="*/ 2147483646 w 658"/>
              <a:gd name="T3" fmla="*/ 0 h 96"/>
              <a:gd name="T4" fmla="*/ 0 w 658"/>
              <a:gd name="T5" fmla="*/ 0 h 96"/>
              <a:gd name="T6" fmla="*/ 0 w 658"/>
              <a:gd name="T7" fmla="*/ 2147483646 h 96"/>
              <a:gd name="T8" fmla="*/ 2147483646 w 658"/>
              <a:gd name="T9" fmla="*/ 2147483646 h 96"/>
              <a:gd name="T10" fmla="*/ 2147483646 w 658"/>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8" h="96">
                <a:moveTo>
                  <a:pt x="656" y="94"/>
                </a:moveTo>
                <a:lnTo>
                  <a:pt x="658" y="0"/>
                </a:lnTo>
                <a:lnTo>
                  <a:pt x="0" y="0"/>
                </a:lnTo>
                <a:lnTo>
                  <a:pt x="0" y="96"/>
                </a:lnTo>
                <a:lnTo>
                  <a:pt x="658"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68" name="Freeform 75">
            <a:extLst>
              <a:ext uri="{FF2B5EF4-FFF2-40B4-BE49-F238E27FC236}">
                <a16:creationId xmlns:a16="http://schemas.microsoft.com/office/drawing/2014/main" id="{F3DDF118-240E-4F96-9D38-120C5399DB2D}"/>
              </a:ext>
            </a:extLst>
          </p:cNvPr>
          <p:cNvSpPr>
            <a:spLocks/>
          </p:cNvSpPr>
          <p:nvPr/>
        </p:nvSpPr>
        <p:spPr bwMode="auto">
          <a:xfrm>
            <a:off x="3825875" y="2844800"/>
            <a:ext cx="1044575" cy="152400"/>
          </a:xfrm>
          <a:custGeom>
            <a:avLst/>
            <a:gdLst>
              <a:gd name="T0" fmla="*/ 2147483646 w 658"/>
              <a:gd name="T1" fmla="*/ 2147483646 h 96"/>
              <a:gd name="T2" fmla="*/ 2147483646 w 658"/>
              <a:gd name="T3" fmla="*/ 0 h 96"/>
              <a:gd name="T4" fmla="*/ 0 w 658"/>
              <a:gd name="T5" fmla="*/ 0 h 96"/>
              <a:gd name="T6" fmla="*/ 0 w 658"/>
              <a:gd name="T7" fmla="*/ 2147483646 h 96"/>
              <a:gd name="T8" fmla="*/ 2147483646 w 658"/>
              <a:gd name="T9" fmla="*/ 2147483646 h 96"/>
              <a:gd name="T10" fmla="*/ 2147483646 w 658"/>
              <a:gd name="T11" fmla="*/ 2147483646 h 96"/>
              <a:gd name="T12" fmla="*/ 2147483646 w 658"/>
              <a:gd name="T13" fmla="*/ 2147483646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8" h="96">
                <a:moveTo>
                  <a:pt x="656" y="94"/>
                </a:moveTo>
                <a:lnTo>
                  <a:pt x="658" y="0"/>
                </a:lnTo>
                <a:lnTo>
                  <a:pt x="0" y="0"/>
                </a:lnTo>
                <a:lnTo>
                  <a:pt x="0" y="96"/>
                </a:lnTo>
                <a:lnTo>
                  <a:pt x="658" y="96"/>
                </a:lnTo>
                <a:lnTo>
                  <a:pt x="656" y="9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69" name="Freeform 76">
            <a:extLst>
              <a:ext uri="{FF2B5EF4-FFF2-40B4-BE49-F238E27FC236}">
                <a16:creationId xmlns:a16="http://schemas.microsoft.com/office/drawing/2014/main" id="{6E3852C0-CFCF-4795-8870-A0C2ADE174BC}"/>
              </a:ext>
            </a:extLst>
          </p:cNvPr>
          <p:cNvSpPr>
            <a:spLocks/>
          </p:cNvSpPr>
          <p:nvPr/>
        </p:nvSpPr>
        <p:spPr bwMode="auto">
          <a:xfrm>
            <a:off x="3825875" y="2844800"/>
            <a:ext cx="1044575" cy="152400"/>
          </a:xfrm>
          <a:custGeom>
            <a:avLst/>
            <a:gdLst>
              <a:gd name="T0" fmla="*/ 2147483646 w 658"/>
              <a:gd name="T1" fmla="*/ 2147483646 h 96"/>
              <a:gd name="T2" fmla="*/ 2147483646 w 658"/>
              <a:gd name="T3" fmla="*/ 0 h 96"/>
              <a:gd name="T4" fmla="*/ 0 w 658"/>
              <a:gd name="T5" fmla="*/ 0 h 96"/>
              <a:gd name="T6" fmla="*/ 0 w 658"/>
              <a:gd name="T7" fmla="*/ 2147483646 h 96"/>
              <a:gd name="T8" fmla="*/ 2147483646 w 658"/>
              <a:gd name="T9" fmla="*/ 2147483646 h 96"/>
              <a:gd name="T10" fmla="*/ 2147483646 w 658"/>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8" h="96">
                <a:moveTo>
                  <a:pt x="656" y="94"/>
                </a:moveTo>
                <a:lnTo>
                  <a:pt x="658" y="0"/>
                </a:lnTo>
                <a:lnTo>
                  <a:pt x="0" y="0"/>
                </a:lnTo>
                <a:lnTo>
                  <a:pt x="0" y="96"/>
                </a:lnTo>
                <a:lnTo>
                  <a:pt x="658"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70" name="Freeform 77">
            <a:extLst>
              <a:ext uri="{FF2B5EF4-FFF2-40B4-BE49-F238E27FC236}">
                <a16:creationId xmlns:a16="http://schemas.microsoft.com/office/drawing/2014/main" id="{31F6798F-317E-41A1-9624-9F3FC8CC7BD2}"/>
              </a:ext>
            </a:extLst>
          </p:cNvPr>
          <p:cNvSpPr>
            <a:spLocks/>
          </p:cNvSpPr>
          <p:nvPr/>
        </p:nvSpPr>
        <p:spPr bwMode="auto">
          <a:xfrm>
            <a:off x="3825875" y="2997200"/>
            <a:ext cx="1044575" cy="153988"/>
          </a:xfrm>
          <a:custGeom>
            <a:avLst/>
            <a:gdLst>
              <a:gd name="T0" fmla="*/ 2147483646 w 658"/>
              <a:gd name="T1" fmla="*/ 2147483646 h 97"/>
              <a:gd name="T2" fmla="*/ 2147483646 w 658"/>
              <a:gd name="T3" fmla="*/ 0 h 97"/>
              <a:gd name="T4" fmla="*/ 0 w 658"/>
              <a:gd name="T5" fmla="*/ 0 h 97"/>
              <a:gd name="T6" fmla="*/ 0 w 658"/>
              <a:gd name="T7" fmla="*/ 2147483646 h 97"/>
              <a:gd name="T8" fmla="*/ 2147483646 w 658"/>
              <a:gd name="T9" fmla="*/ 2147483646 h 97"/>
              <a:gd name="T10" fmla="*/ 2147483646 w 658"/>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8" h="97">
                <a:moveTo>
                  <a:pt x="656" y="95"/>
                </a:moveTo>
                <a:lnTo>
                  <a:pt x="658" y="0"/>
                </a:lnTo>
                <a:lnTo>
                  <a:pt x="0" y="0"/>
                </a:lnTo>
                <a:lnTo>
                  <a:pt x="0" y="97"/>
                </a:lnTo>
                <a:lnTo>
                  <a:pt x="658"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71" name="Freeform 78">
            <a:extLst>
              <a:ext uri="{FF2B5EF4-FFF2-40B4-BE49-F238E27FC236}">
                <a16:creationId xmlns:a16="http://schemas.microsoft.com/office/drawing/2014/main" id="{AF0191EB-A680-4FA2-8710-63FE44E27FB3}"/>
              </a:ext>
            </a:extLst>
          </p:cNvPr>
          <p:cNvSpPr>
            <a:spLocks/>
          </p:cNvSpPr>
          <p:nvPr/>
        </p:nvSpPr>
        <p:spPr bwMode="auto">
          <a:xfrm>
            <a:off x="3825875" y="3151188"/>
            <a:ext cx="1044575" cy="149225"/>
          </a:xfrm>
          <a:custGeom>
            <a:avLst/>
            <a:gdLst>
              <a:gd name="T0" fmla="*/ 2147483646 w 658"/>
              <a:gd name="T1" fmla="*/ 2147483646 h 94"/>
              <a:gd name="T2" fmla="*/ 2147483646 w 658"/>
              <a:gd name="T3" fmla="*/ 0 h 94"/>
              <a:gd name="T4" fmla="*/ 0 w 658"/>
              <a:gd name="T5" fmla="*/ 0 h 94"/>
              <a:gd name="T6" fmla="*/ 0 w 658"/>
              <a:gd name="T7" fmla="*/ 2147483646 h 94"/>
              <a:gd name="T8" fmla="*/ 2147483646 w 658"/>
              <a:gd name="T9" fmla="*/ 2147483646 h 94"/>
              <a:gd name="T10" fmla="*/ 2147483646 w 658"/>
              <a:gd name="T11" fmla="*/ 2147483646 h 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8" h="94">
                <a:moveTo>
                  <a:pt x="656" y="94"/>
                </a:moveTo>
                <a:lnTo>
                  <a:pt x="658" y="0"/>
                </a:lnTo>
                <a:lnTo>
                  <a:pt x="0" y="0"/>
                </a:lnTo>
                <a:lnTo>
                  <a:pt x="0" y="94"/>
                </a:lnTo>
                <a:lnTo>
                  <a:pt x="658" y="9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72" name="Freeform 79">
            <a:extLst>
              <a:ext uri="{FF2B5EF4-FFF2-40B4-BE49-F238E27FC236}">
                <a16:creationId xmlns:a16="http://schemas.microsoft.com/office/drawing/2014/main" id="{48556836-6333-45EF-932F-2775A9230FC7}"/>
              </a:ext>
            </a:extLst>
          </p:cNvPr>
          <p:cNvSpPr>
            <a:spLocks/>
          </p:cNvSpPr>
          <p:nvPr/>
        </p:nvSpPr>
        <p:spPr bwMode="auto">
          <a:xfrm>
            <a:off x="3825875" y="3300413"/>
            <a:ext cx="1044575" cy="152400"/>
          </a:xfrm>
          <a:custGeom>
            <a:avLst/>
            <a:gdLst>
              <a:gd name="T0" fmla="*/ 2147483646 w 658"/>
              <a:gd name="T1" fmla="*/ 2147483646 h 96"/>
              <a:gd name="T2" fmla="*/ 2147483646 w 658"/>
              <a:gd name="T3" fmla="*/ 0 h 96"/>
              <a:gd name="T4" fmla="*/ 0 w 658"/>
              <a:gd name="T5" fmla="*/ 0 h 96"/>
              <a:gd name="T6" fmla="*/ 0 w 658"/>
              <a:gd name="T7" fmla="*/ 2147483646 h 96"/>
              <a:gd name="T8" fmla="*/ 2147483646 w 658"/>
              <a:gd name="T9" fmla="*/ 2147483646 h 96"/>
              <a:gd name="T10" fmla="*/ 2147483646 w 658"/>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8" h="96">
                <a:moveTo>
                  <a:pt x="656" y="96"/>
                </a:moveTo>
                <a:lnTo>
                  <a:pt x="658" y="0"/>
                </a:lnTo>
                <a:lnTo>
                  <a:pt x="0" y="0"/>
                </a:lnTo>
                <a:lnTo>
                  <a:pt x="0" y="96"/>
                </a:lnTo>
                <a:lnTo>
                  <a:pt x="658"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73" name="Freeform 80">
            <a:extLst>
              <a:ext uri="{FF2B5EF4-FFF2-40B4-BE49-F238E27FC236}">
                <a16:creationId xmlns:a16="http://schemas.microsoft.com/office/drawing/2014/main" id="{E21CDA8F-C900-43E1-842A-092BB1A45D3D}"/>
              </a:ext>
            </a:extLst>
          </p:cNvPr>
          <p:cNvSpPr>
            <a:spLocks/>
          </p:cNvSpPr>
          <p:nvPr/>
        </p:nvSpPr>
        <p:spPr bwMode="auto">
          <a:xfrm>
            <a:off x="3871913"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2147483646 w 34"/>
              <a:gd name="T85" fmla="*/ 2147483646 h 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4" h="31">
                <a:moveTo>
                  <a:pt x="16" y="31"/>
                </a:moveTo>
                <a:lnTo>
                  <a:pt x="20" y="31"/>
                </a:lnTo>
                <a:lnTo>
                  <a:pt x="23" y="31"/>
                </a:lnTo>
                <a:lnTo>
                  <a:pt x="25" y="29"/>
                </a:lnTo>
                <a:lnTo>
                  <a:pt x="27" y="29"/>
                </a:lnTo>
                <a:lnTo>
                  <a:pt x="29" y="27"/>
                </a:lnTo>
                <a:lnTo>
                  <a:pt x="32" y="25"/>
                </a:lnTo>
                <a:lnTo>
                  <a:pt x="32" y="23"/>
                </a:lnTo>
                <a:lnTo>
                  <a:pt x="34" y="21"/>
                </a:lnTo>
                <a:lnTo>
                  <a:pt x="34" y="18"/>
                </a:lnTo>
                <a:lnTo>
                  <a:pt x="34" y="16"/>
                </a:lnTo>
                <a:lnTo>
                  <a:pt x="34" y="12"/>
                </a:lnTo>
                <a:lnTo>
                  <a:pt x="34" y="10"/>
                </a:lnTo>
                <a:lnTo>
                  <a:pt x="32" y="8"/>
                </a:lnTo>
                <a:lnTo>
                  <a:pt x="32" y="6"/>
                </a:lnTo>
                <a:lnTo>
                  <a:pt x="29" y="4"/>
                </a:lnTo>
                <a:lnTo>
                  <a:pt x="27" y="2"/>
                </a:lnTo>
                <a:lnTo>
                  <a:pt x="25" y="2"/>
                </a:lnTo>
                <a:lnTo>
                  <a:pt x="23" y="0"/>
                </a:lnTo>
                <a:lnTo>
                  <a:pt x="20" y="0"/>
                </a:lnTo>
                <a:lnTo>
                  <a:pt x="18" y="0"/>
                </a:lnTo>
                <a:lnTo>
                  <a:pt x="14" y="0"/>
                </a:lnTo>
                <a:lnTo>
                  <a:pt x="11" y="0"/>
                </a:lnTo>
                <a:lnTo>
                  <a:pt x="9" y="2"/>
                </a:lnTo>
                <a:lnTo>
                  <a:pt x="7" y="2"/>
                </a:lnTo>
                <a:lnTo>
                  <a:pt x="4" y="4"/>
                </a:lnTo>
                <a:lnTo>
                  <a:pt x="2" y="6"/>
                </a:lnTo>
                <a:lnTo>
                  <a:pt x="2" y="8"/>
                </a:lnTo>
                <a:lnTo>
                  <a:pt x="0" y="10"/>
                </a:lnTo>
                <a:lnTo>
                  <a:pt x="0" y="12"/>
                </a:lnTo>
                <a:lnTo>
                  <a:pt x="0" y="16"/>
                </a:lnTo>
                <a:lnTo>
                  <a:pt x="0" y="18"/>
                </a:lnTo>
                <a:lnTo>
                  <a:pt x="0" y="21"/>
                </a:lnTo>
                <a:lnTo>
                  <a:pt x="2" y="23"/>
                </a:lnTo>
                <a:lnTo>
                  <a:pt x="2" y="25"/>
                </a:lnTo>
                <a:lnTo>
                  <a:pt x="4" y="27"/>
                </a:lnTo>
                <a:lnTo>
                  <a:pt x="7" y="29"/>
                </a:lnTo>
                <a:lnTo>
                  <a:pt x="9" y="29"/>
                </a:lnTo>
                <a:lnTo>
                  <a:pt x="11" y="31"/>
                </a:lnTo>
                <a:lnTo>
                  <a:pt x="14" y="31"/>
                </a:lnTo>
                <a:lnTo>
                  <a:pt x="18"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74" name="Freeform 81">
            <a:extLst>
              <a:ext uri="{FF2B5EF4-FFF2-40B4-BE49-F238E27FC236}">
                <a16:creationId xmlns:a16="http://schemas.microsoft.com/office/drawing/2014/main" id="{4EE78425-9001-4BB9-A08C-9F48CDC5B806}"/>
              </a:ext>
            </a:extLst>
          </p:cNvPr>
          <p:cNvSpPr>
            <a:spLocks/>
          </p:cNvSpPr>
          <p:nvPr/>
        </p:nvSpPr>
        <p:spPr bwMode="auto">
          <a:xfrm>
            <a:off x="4125913" y="2895600"/>
            <a:ext cx="57150" cy="49213"/>
          </a:xfrm>
          <a:custGeom>
            <a:avLst/>
            <a:gdLst>
              <a:gd name="T0" fmla="*/ 2147483646 w 36"/>
              <a:gd name="T1" fmla="*/ 2147483646 h 31"/>
              <a:gd name="T2" fmla="*/ 2147483646 w 36"/>
              <a:gd name="T3" fmla="*/ 2147483646 h 31"/>
              <a:gd name="T4" fmla="*/ 2147483646 w 36"/>
              <a:gd name="T5" fmla="*/ 2147483646 h 31"/>
              <a:gd name="T6" fmla="*/ 2147483646 w 36"/>
              <a:gd name="T7" fmla="*/ 2147483646 h 31"/>
              <a:gd name="T8" fmla="*/ 2147483646 w 36"/>
              <a:gd name="T9" fmla="*/ 2147483646 h 31"/>
              <a:gd name="T10" fmla="*/ 2147483646 w 36"/>
              <a:gd name="T11" fmla="*/ 2147483646 h 31"/>
              <a:gd name="T12" fmla="*/ 2147483646 w 36"/>
              <a:gd name="T13" fmla="*/ 2147483646 h 31"/>
              <a:gd name="T14" fmla="*/ 2147483646 w 36"/>
              <a:gd name="T15" fmla="*/ 2147483646 h 31"/>
              <a:gd name="T16" fmla="*/ 2147483646 w 36"/>
              <a:gd name="T17" fmla="*/ 2147483646 h 31"/>
              <a:gd name="T18" fmla="*/ 2147483646 w 36"/>
              <a:gd name="T19" fmla="*/ 2147483646 h 31"/>
              <a:gd name="T20" fmla="*/ 2147483646 w 36"/>
              <a:gd name="T21" fmla="*/ 2147483646 h 31"/>
              <a:gd name="T22" fmla="*/ 2147483646 w 36"/>
              <a:gd name="T23" fmla="*/ 2147483646 h 31"/>
              <a:gd name="T24" fmla="*/ 2147483646 w 36"/>
              <a:gd name="T25" fmla="*/ 2147483646 h 31"/>
              <a:gd name="T26" fmla="*/ 2147483646 w 36"/>
              <a:gd name="T27" fmla="*/ 2147483646 h 31"/>
              <a:gd name="T28" fmla="*/ 2147483646 w 36"/>
              <a:gd name="T29" fmla="*/ 2147483646 h 31"/>
              <a:gd name="T30" fmla="*/ 2147483646 w 36"/>
              <a:gd name="T31" fmla="*/ 2147483646 h 31"/>
              <a:gd name="T32" fmla="*/ 2147483646 w 36"/>
              <a:gd name="T33" fmla="*/ 2147483646 h 31"/>
              <a:gd name="T34" fmla="*/ 2147483646 w 36"/>
              <a:gd name="T35" fmla="*/ 2147483646 h 31"/>
              <a:gd name="T36" fmla="*/ 2147483646 w 36"/>
              <a:gd name="T37" fmla="*/ 0 h 31"/>
              <a:gd name="T38" fmla="*/ 2147483646 w 36"/>
              <a:gd name="T39" fmla="*/ 0 h 31"/>
              <a:gd name="T40" fmla="*/ 2147483646 w 36"/>
              <a:gd name="T41" fmla="*/ 0 h 31"/>
              <a:gd name="T42" fmla="*/ 2147483646 w 36"/>
              <a:gd name="T43" fmla="*/ 0 h 31"/>
              <a:gd name="T44" fmla="*/ 2147483646 w 36"/>
              <a:gd name="T45" fmla="*/ 0 h 31"/>
              <a:gd name="T46" fmla="*/ 2147483646 w 36"/>
              <a:gd name="T47" fmla="*/ 2147483646 h 31"/>
              <a:gd name="T48" fmla="*/ 2147483646 w 36"/>
              <a:gd name="T49" fmla="*/ 2147483646 h 31"/>
              <a:gd name="T50" fmla="*/ 2147483646 w 36"/>
              <a:gd name="T51" fmla="*/ 2147483646 h 31"/>
              <a:gd name="T52" fmla="*/ 2147483646 w 36"/>
              <a:gd name="T53" fmla="*/ 2147483646 h 31"/>
              <a:gd name="T54" fmla="*/ 2147483646 w 36"/>
              <a:gd name="T55" fmla="*/ 2147483646 h 31"/>
              <a:gd name="T56" fmla="*/ 2147483646 w 36"/>
              <a:gd name="T57" fmla="*/ 2147483646 h 31"/>
              <a:gd name="T58" fmla="*/ 2147483646 w 36"/>
              <a:gd name="T59" fmla="*/ 2147483646 h 31"/>
              <a:gd name="T60" fmla="*/ 0 w 36"/>
              <a:gd name="T61" fmla="*/ 2147483646 h 31"/>
              <a:gd name="T62" fmla="*/ 2147483646 w 36"/>
              <a:gd name="T63" fmla="*/ 2147483646 h 31"/>
              <a:gd name="T64" fmla="*/ 2147483646 w 36"/>
              <a:gd name="T65" fmla="*/ 2147483646 h 31"/>
              <a:gd name="T66" fmla="*/ 2147483646 w 36"/>
              <a:gd name="T67" fmla="*/ 2147483646 h 31"/>
              <a:gd name="T68" fmla="*/ 2147483646 w 36"/>
              <a:gd name="T69" fmla="*/ 2147483646 h 31"/>
              <a:gd name="T70" fmla="*/ 2147483646 w 36"/>
              <a:gd name="T71" fmla="*/ 2147483646 h 31"/>
              <a:gd name="T72" fmla="*/ 2147483646 w 36"/>
              <a:gd name="T73" fmla="*/ 2147483646 h 31"/>
              <a:gd name="T74" fmla="*/ 2147483646 w 36"/>
              <a:gd name="T75" fmla="*/ 2147483646 h 31"/>
              <a:gd name="T76" fmla="*/ 2147483646 w 36"/>
              <a:gd name="T77" fmla="*/ 2147483646 h 31"/>
              <a:gd name="T78" fmla="*/ 2147483646 w 36"/>
              <a:gd name="T79" fmla="*/ 2147483646 h 31"/>
              <a:gd name="T80" fmla="*/ 2147483646 w 36"/>
              <a:gd name="T81" fmla="*/ 2147483646 h 31"/>
              <a:gd name="T82" fmla="*/ 2147483646 w 36"/>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6" h="31">
                <a:moveTo>
                  <a:pt x="18" y="31"/>
                </a:moveTo>
                <a:lnTo>
                  <a:pt x="20" y="31"/>
                </a:lnTo>
                <a:lnTo>
                  <a:pt x="25" y="31"/>
                </a:lnTo>
                <a:lnTo>
                  <a:pt x="27" y="29"/>
                </a:lnTo>
                <a:lnTo>
                  <a:pt x="29" y="29"/>
                </a:lnTo>
                <a:lnTo>
                  <a:pt x="32" y="27"/>
                </a:lnTo>
                <a:lnTo>
                  <a:pt x="32" y="25"/>
                </a:lnTo>
                <a:lnTo>
                  <a:pt x="34" y="23"/>
                </a:lnTo>
                <a:lnTo>
                  <a:pt x="34" y="21"/>
                </a:lnTo>
                <a:lnTo>
                  <a:pt x="36" y="18"/>
                </a:lnTo>
                <a:lnTo>
                  <a:pt x="36" y="16"/>
                </a:lnTo>
                <a:lnTo>
                  <a:pt x="36" y="12"/>
                </a:lnTo>
                <a:lnTo>
                  <a:pt x="34" y="10"/>
                </a:lnTo>
                <a:lnTo>
                  <a:pt x="34" y="8"/>
                </a:lnTo>
                <a:lnTo>
                  <a:pt x="32" y="6"/>
                </a:lnTo>
                <a:lnTo>
                  <a:pt x="32" y="4"/>
                </a:lnTo>
                <a:lnTo>
                  <a:pt x="29" y="2"/>
                </a:lnTo>
                <a:lnTo>
                  <a:pt x="27" y="2"/>
                </a:lnTo>
                <a:lnTo>
                  <a:pt x="25" y="0"/>
                </a:lnTo>
                <a:lnTo>
                  <a:pt x="20" y="0"/>
                </a:lnTo>
                <a:lnTo>
                  <a:pt x="18" y="0"/>
                </a:lnTo>
                <a:lnTo>
                  <a:pt x="16" y="0"/>
                </a:lnTo>
                <a:lnTo>
                  <a:pt x="14" y="0"/>
                </a:lnTo>
                <a:lnTo>
                  <a:pt x="11" y="2"/>
                </a:lnTo>
                <a:lnTo>
                  <a:pt x="9" y="2"/>
                </a:lnTo>
                <a:lnTo>
                  <a:pt x="7" y="4"/>
                </a:lnTo>
                <a:lnTo>
                  <a:pt x="5" y="6"/>
                </a:lnTo>
                <a:lnTo>
                  <a:pt x="2" y="8"/>
                </a:lnTo>
                <a:lnTo>
                  <a:pt x="2" y="10"/>
                </a:lnTo>
                <a:lnTo>
                  <a:pt x="2" y="12"/>
                </a:lnTo>
                <a:lnTo>
                  <a:pt x="0" y="16"/>
                </a:lnTo>
                <a:lnTo>
                  <a:pt x="2" y="18"/>
                </a:lnTo>
                <a:lnTo>
                  <a:pt x="2" y="21"/>
                </a:lnTo>
                <a:lnTo>
                  <a:pt x="2" y="23"/>
                </a:lnTo>
                <a:lnTo>
                  <a:pt x="5" y="25"/>
                </a:lnTo>
                <a:lnTo>
                  <a:pt x="7" y="27"/>
                </a:lnTo>
                <a:lnTo>
                  <a:pt x="9" y="29"/>
                </a:lnTo>
                <a:lnTo>
                  <a:pt x="11" y="29"/>
                </a:lnTo>
                <a:lnTo>
                  <a:pt x="14" y="31"/>
                </a:lnTo>
                <a:lnTo>
                  <a:pt x="16" y="31"/>
                </a:lnTo>
                <a:lnTo>
                  <a:pt x="18"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75" name="Freeform 82">
            <a:extLst>
              <a:ext uri="{FF2B5EF4-FFF2-40B4-BE49-F238E27FC236}">
                <a16:creationId xmlns:a16="http://schemas.microsoft.com/office/drawing/2014/main" id="{DE558778-A07D-44B5-8BA2-CA9D0E5F5D31}"/>
              </a:ext>
            </a:extLst>
          </p:cNvPr>
          <p:cNvSpPr>
            <a:spLocks/>
          </p:cNvSpPr>
          <p:nvPr/>
        </p:nvSpPr>
        <p:spPr bwMode="auto">
          <a:xfrm>
            <a:off x="3860800" y="4214813"/>
            <a:ext cx="215900" cy="238125"/>
          </a:xfrm>
          <a:custGeom>
            <a:avLst/>
            <a:gdLst>
              <a:gd name="T0" fmla="*/ 0 w 136"/>
              <a:gd name="T1" fmla="*/ 2147483646 h 150"/>
              <a:gd name="T2" fmla="*/ 2147483646 w 136"/>
              <a:gd name="T3" fmla="*/ 2147483646 h 150"/>
              <a:gd name="T4" fmla="*/ 2147483646 w 136"/>
              <a:gd name="T5" fmla="*/ 2147483646 h 150"/>
              <a:gd name="T6" fmla="*/ 2147483646 w 136"/>
              <a:gd name="T7" fmla="*/ 2147483646 h 150"/>
              <a:gd name="T8" fmla="*/ 2147483646 w 136"/>
              <a:gd name="T9" fmla="*/ 2147483646 h 150"/>
              <a:gd name="T10" fmla="*/ 2147483646 w 136"/>
              <a:gd name="T11" fmla="*/ 2147483646 h 150"/>
              <a:gd name="T12" fmla="*/ 2147483646 w 136"/>
              <a:gd name="T13" fmla="*/ 2147483646 h 150"/>
              <a:gd name="T14" fmla="*/ 2147483646 w 136"/>
              <a:gd name="T15" fmla="*/ 2147483646 h 150"/>
              <a:gd name="T16" fmla="*/ 2147483646 w 136"/>
              <a:gd name="T17" fmla="*/ 2147483646 h 150"/>
              <a:gd name="T18" fmla="*/ 2147483646 w 136"/>
              <a:gd name="T19" fmla="*/ 2147483646 h 150"/>
              <a:gd name="T20" fmla="*/ 2147483646 w 136"/>
              <a:gd name="T21" fmla="*/ 2147483646 h 150"/>
              <a:gd name="T22" fmla="*/ 2147483646 w 136"/>
              <a:gd name="T23" fmla="*/ 2147483646 h 150"/>
              <a:gd name="T24" fmla="*/ 2147483646 w 136"/>
              <a:gd name="T25" fmla="*/ 2147483646 h 150"/>
              <a:gd name="T26" fmla="*/ 2147483646 w 136"/>
              <a:gd name="T27" fmla="*/ 2147483646 h 150"/>
              <a:gd name="T28" fmla="*/ 2147483646 w 136"/>
              <a:gd name="T29" fmla="*/ 2147483646 h 150"/>
              <a:gd name="T30" fmla="*/ 2147483646 w 136"/>
              <a:gd name="T31" fmla="*/ 2147483646 h 150"/>
              <a:gd name="T32" fmla="*/ 2147483646 w 136"/>
              <a:gd name="T33" fmla="*/ 2147483646 h 150"/>
              <a:gd name="T34" fmla="*/ 2147483646 w 136"/>
              <a:gd name="T35" fmla="*/ 2147483646 h 150"/>
              <a:gd name="T36" fmla="*/ 2147483646 w 136"/>
              <a:gd name="T37" fmla="*/ 2147483646 h 150"/>
              <a:gd name="T38" fmla="*/ 2147483646 w 136"/>
              <a:gd name="T39" fmla="*/ 2147483646 h 150"/>
              <a:gd name="T40" fmla="*/ 2147483646 w 136"/>
              <a:gd name="T41" fmla="*/ 2147483646 h 150"/>
              <a:gd name="T42" fmla="*/ 2147483646 w 136"/>
              <a:gd name="T43" fmla="*/ 0 h 150"/>
              <a:gd name="T44" fmla="*/ 0 w 136"/>
              <a:gd name="T45" fmla="*/ 0 h 150"/>
              <a:gd name="T46" fmla="*/ 0 w 136"/>
              <a:gd name="T47" fmla="*/ 2147483646 h 150"/>
              <a:gd name="T48" fmla="*/ 0 w 136"/>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6" h="150">
                <a:moveTo>
                  <a:pt x="0" y="90"/>
                </a:moveTo>
                <a:lnTo>
                  <a:pt x="2" y="100"/>
                </a:lnTo>
                <a:lnTo>
                  <a:pt x="5" y="108"/>
                </a:lnTo>
                <a:lnTo>
                  <a:pt x="9" y="117"/>
                </a:lnTo>
                <a:lnTo>
                  <a:pt x="14" y="125"/>
                </a:lnTo>
                <a:lnTo>
                  <a:pt x="21" y="134"/>
                </a:lnTo>
                <a:lnTo>
                  <a:pt x="27" y="140"/>
                </a:lnTo>
                <a:lnTo>
                  <a:pt x="36" y="144"/>
                </a:lnTo>
                <a:lnTo>
                  <a:pt x="48" y="148"/>
                </a:lnTo>
                <a:lnTo>
                  <a:pt x="57" y="150"/>
                </a:lnTo>
                <a:lnTo>
                  <a:pt x="68" y="150"/>
                </a:lnTo>
                <a:lnTo>
                  <a:pt x="79" y="150"/>
                </a:lnTo>
                <a:lnTo>
                  <a:pt x="90" y="148"/>
                </a:lnTo>
                <a:lnTo>
                  <a:pt x="99" y="144"/>
                </a:lnTo>
                <a:lnTo>
                  <a:pt x="108" y="140"/>
                </a:lnTo>
                <a:lnTo>
                  <a:pt x="115" y="134"/>
                </a:lnTo>
                <a:lnTo>
                  <a:pt x="122" y="125"/>
                </a:lnTo>
                <a:lnTo>
                  <a:pt x="129" y="117"/>
                </a:lnTo>
                <a:lnTo>
                  <a:pt x="133" y="108"/>
                </a:lnTo>
                <a:lnTo>
                  <a:pt x="136" y="100"/>
                </a:lnTo>
                <a:lnTo>
                  <a:pt x="136" y="90"/>
                </a:lnTo>
                <a:lnTo>
                  <a:pt x="136" y="0"/>
                </a:lnTo>
                <a:lnTo>
                  <a:pt x="0" y="0"/>
                </a:lnTo>
                <a:lnTo>
                  <a:pt x="0" y="9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76" name="Freeform 83">
            <a:extLst>
              <a:ext uri="{FF2B5EF4-FFF2-40B4-BE49-F238E27FC236}">
                <a16:creationId xmlns:a16="http://schemas.microsoft.com/office/drawing/2014/main" id="{F5BFFF21-7868-4865-8187-8FB0B34C0FBD}"/>
              </a:ext>
            </a:extLst>
          </p:cNvPr>
          <p:cNvSpPr>
            <a:spLocks/>
          </p:cNvSpPr>
          <p:nvPr/>
        </p:nvSpPr>
        <p:spPr bwMode="auto">
          <a:xfrm>
            <a:off x="4032250" y="3795713"/>
            <a:ext cx="247650" cy="228600"/>
          </a:xfrm>
          <a:custGeom>
            <a:avLst/>
            <a:gdLst>
              <a:gd name="T0" fmla="*/ 2147483646 w 156"/>
              <a:gd name="T1" fmla="*/ 2147483646 h 144"/>
              <a:gd name="T2" fmla="*/ 2147483646 w 156"/>
              <a:gd name="T3" fmla="*/ 2147483646 h 144"/>
              <a:gd name="T4" fmla="*/ 2147483646 w 156"/>
              <a:gd name="T5" fmla="*/ 2147483646 h 144"/>
              <a:gd name="T6" fmla="*/ 2147483646 w 156"/>
              <a:gd name="T7" fmla="*/ 2147483646 h 144"/>
              <a:gd name="T8" fmla="*/ 2147483646 w 156"/>
              <a:gd name="T9" fmla="*/ 2147483646 h 144"/>
              <a:gd name="T10" fmla="*/ 2147483646 w 156"/>
              <a:gd name="T11" fmla="*/ 2147483646 h 144"/>
              <a:gd name="T12" fmla="*/ 2147483646 w 156"/>
              <a:gd name="T13" fmla="*/ 2147483646 h 144"/>
              <a:gd name="T14" fmla="*/ 2147483646 w 156"/>
              <a:gd name="T15" fmla="*/ 2147483646 h 144"/>
              <a:gd name="T16" fmla="*/ 2147483646 w 156"/>
              <a:gd name="T17" fmla="*/ 2147483646 h 144"/>
              <a:gd name="T18" fmla="*/ 2147483646 w 156"/>
              <a:gd name="T19" fmla="*/ 2147483646 h 144"/>
              <a:gd name="T20" fmla="*/ 2147483646 w 156"/>
              <a:gd name="T21" fmla="*/ 2147483646 h 144"/>
              <a:gd name="T22" fmla="*/ 2147483646 w 156"/>
              <a:gd name="T23" fmla="*/ 2147483646 h 144"/>
              <a:gd name="T24" fmla="*/ 2147483646 w 156"/>
              <a:gd name="T25" fmla="*/ 2147483646 h 144"/>
              <a:gd name="T26" fmla="*/ 2147483646 w 156"/>
              <a:gd name="T27" fmla="*/ 2147483646 h 144"/>
              <a:gd name="T28" fmla="*/ 2147483646 w 156"/>
              <a:gd name="T29" fmla="*/ 2147483646 h 144"/>
              <a:gd name="T30" fmla="*/ 2147483646 w 156"/>
              <a:gd name="T31" fmla="*/ 2147483646 h 144"/>
              <a:gd name="T32" fmla="*/ 2147483646 w 156"/>
              <a:gd name="T33" fmla="*/ 2147483646 h 144"/>
              <a:gd name="T34" fmla="*/ 2147483646 w 156"/>
              <a:gd name="T35" fmla="*/ 2147483646 h 144"/>
              <a:gd name="T36" fmla="*/ 2147483646 w 156"/>
              <a:gd name="T37" fmla="*/ 2147483646 h 144"/>
              <a:gd name="T38" fmla="*/ 2147483646 w 156"/>
              <a:gd name="T39" fmla="*/ 0 h 144"/>
              <a:gd name="T40" fmla="*/ 2147483646 w 156"/>
              <a:gd name="T41" fmla="*/ 0 h 144"/>
              <a:gd name="T42" fmla="*/ 2147483646 w 156"/>
              <a:gd name="T43" fmla="*/ 0 h 144"/>
              <a:gd name="T44" fmla="*/ 2147483646 w 156"/>
              <a:gd name="T45" fmla="*/ 2147483646 h 144"/>
              <a:gd name="T46" fmla="*/ 2147483646 w 156"/>
              <a:gd name="T47" fmla="*/ 2147483646 h 144"/>
              <a:gd name="T48" fmla="*/ 2147483646 w 156"/>
              <a:gd name="T49" fmla="*/ 2147483646 h 144"/>
              <a:gd name="T50" fmla="*/ 2147483646 w 156"/>
              <a:gd name="T51" fmla="*/ 2147483646 h 144"/>
              <a:gd name="T52" fmla="*/ 2147483646 w 156"/>
              <a:gd name="T53" fmla="*/ 2147483646 h 144"/>
              <a:gd name="T54" fmla="*/ 2147483646 w 156"/>
              <a:gd name="T55" fmla="*/ 2147483646 h 144"/>
              <a:gd name="T56" fmla="*/ 2147483646 w 156"/>
              <a:gd name="T57" fmla="*/ 2147483646 h 144"/>
              <a:gd name="T58" fmla="*/ 0 w 156"/>
              <a:gd name="T59" fmla="*/ 2147483646 h 144"/>
              <a:gd name="T60" fmla="*/ 0 w 156"/>
              <a:gd name="T61" fmla="*/ 2147483646 h 144"/>
              <a:gd name="T62" fmla="*/ 0 w 156"/>
              <a:gd name="T63" fmla="*/ 2147483646 h 144"/>
              <a:gd name="T64" fmla="*/ 2147483646 w 156"/>
              <a:gd name="T65" fmla="*/ 2147483646 h 144"/>
              <a:gd name="T66" fmla="*/ 2147483646 w 156"/>
              <a:gd name="T67" fmla="*/ 2147483646 h 144"/>
              <a:gd name="T68" fmla="*/ 2147483646 w 156"/>
              <a:gd name="T69" fmla="*/ 2147483646 h 144"/>
              <a:gd name="T70" fmla="*/ 2147483646 w 156"/>
              <a:gd name="T71" fmla="*/ 2147483646 h 144"/>
              <a:gd name="T72" fmla="*/ 2147483646 w 156"/>
              <a:gd name="T73" fmla="*/ 2147483646 h 144"/>
              <a:gd name="T74" fmla="*/ 2147483646 w 156"/>
              <a:gd name="T75" fmla="*/ 2147483646 h 144"/>
              <a:gd name="T76" fmla="*/ 2147483646 w 156"/>
              <a:gd name="T77" fmla="*/ 2147483646 h 144"/>
              <a:gd name="T78" fmla="*/ 2147483646 w 156"/>
              <a:gd name="T79" fmla="*/ 2147483646 h 144"/>
              <a:gd name="T80" fmla="*/ 2147483646 w 156"/>
              <a:gd name="T81" fmla="*/ 2147483646 h 144"/>
              <a:gd name="T82" fmla="*/ 2147483646 w 156"/>
              <a:gd name="T83" fmla="*/ 2147483646 h 1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56" h="144">
                <a:moveTo>
                  <a:pt x="77" y="142"/>
                </a:moveTo>
                <a:lnTo>
                  <a:pt x="91" y="142"/>
                </a:lnTo>
                <a:lnTo>
                  <a:pt x="102" y="140"/>
                </a:lnTo>
                <a:lnTo>
                  <a:pt x="113" y="136"/>
                </a:lnTo>
                <a:lnTo>
                  <a:pt x="125" y="130"/>
                </a:lnTo>
                <a:lnTo>
                  <a:pt x="134" y="121"/>
                </a:lnTo>
                <a:lnTo>
                  <a:pt x="140" y="113"/>
                </a:lnTo>
                <a:lnTo>
                  <a:pt x="147" y="104"/>
                </a:lnTo>
                <a:lnTo>
                  <a:pt x="152" y="94"/>
                </a:lnTo>
                <a:lnTo>
                  <a:pt x="154" y="84"/>
                </a:lnTo>
                <a:lnTo>
                  <a:pt x="156" y="71"/>
                </a:lnTo>
                <a:lnTo>
                  <a:pt x="154" y="61"/>
                </a:lnTo>
                <a:lnTo>
                  <a:pt x="152" y="48"/>
                </a:lnTo>
                <a:lnTo>
                  <a:pt x="147" y="38"/>
                </a:lnTo>
                <a:lnTo>
                  <a:pt x="140" y="29"/>
                </a:lnTo>
                <a:lnTo>
                  <a:pt x="134" y="21"/>
                </a:lnTo>
                <a:lnTo>
                  <a:pt x="125" y="12"/>
                </a:lnTo>
                <a:lnTo>
                  <a:pt x="113" y="8"/>
                </a:lnTo>
                <a:lnTo>
                  <a:pt x="102" y="2"/>
                </a:lnTo>
                <a:lnTo>
                  <a:pt x="91" y="0"/>
                </a:lnTo>
                <a:lnTo>
                  <a:pt x="77" y="0"/>
                </a:lnTo>
                <a:lnTo>
                  <a:pt x="66" y="0"/>
                </a:lnTo>
                <a:lnTo>
                  <a:pt x="52" y="2"/>
                </a:lnTo>
                <a:lnTo>
                  <a:pt x="43" y="8"/>
                </a:lnTo>
                <a:lnTo>
                  <a:pt x="32" y="12"/>
                </a:lnTo>
                <a:lnTo>
                  <a:pt x="23" y="21"/>
                </a:lnTo>
                <a:lnTo>
                  <a:pt x="16" y="29"/>
                </a:lnTo>
                <a:lnTo>
                  <a:pt x="10" y="38"/>
                </a:lnTo>
                <a:lnTo>
                  <a:pt x="5" y="48"/>
                </a:lnTo>
                <a:lnTo>
                  <a:pt x="0" y="61"/>
                </a:lnTo>
                <a:lnTo>
                  <a:pt x="0" y="71"/>
                </a:lnTo>
                <a:lnTo>
                  <a:pt x="0" y="84"/>
                </a:lnTo>
                <a:lnTo>
                  <a:pt x="5" y="94"/>
                </a:lnTo>
                <a:lnTo>
                  <a:pt x="10" y="104"/>
                </a:lnTo>
                <a:lnTo>
                  <a:pt x="16" y="113"/>
                </a:lnTo>
                <a:lnTo>
                  <a:pt x="23" y="121"/>
                </a:lnTo>
                <a:lnTo>
                  <a:pt x="32" y="130"/>
                </a:lnTo>
                <a:lnTo>
                  <a:pt x="43" y="136"/>
                </a:lnTo>
                <a:lnTo>
                  <a:pt x="52" y="140"/>
                </a:lnTo>
                <a:lnTo>
                  <a:pt x="66" y="142"/>
                </a:lnTo>
                <a:lnTo>
                  <a:pt x="77" y="14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77" name="Line 84">
            <a:extLst>
              <a:ext uri="{FF2B5EF4-FFF2-40B4-BE49-F238E27FC236}">
                <a16:creationId xmlns:a16="http://schemas.microsoft.com/office/drawing/2014/main" id="{A0E797B4-DD46-4718-8FEB-EFD12E0786D4}"/>
              </a:ext>
            </a:extLst>
          </p:cNvPr>
          <p:cNvSpPr>
            <a:spLocks noChangeShapeType="1"/>
          </p:cNvSpPr>
          <p:nvPr/>
        </p:nvSpPr>
        <p:spPr bwMode="auto">
          <a:xfrm>
            <a:off x="4154488" y="2917825"/>
            <a:ext cx="0" cy="831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78" name="Freeform 85">
            <a:extLst>
              <a:ext uri="{FF2B5EF4-FFF2-40B4-BE49-F238E27FC236}">
                <a16:creationId xmlns:a16="http://schemas.microsoft.com/office/drawing/2014/main" id="{B05C5D7B-D848-4CC0-95E5-C1BDBBCCE821}"/>
              </a:ext>
            </a:extLst>
          </p:cNvPr>
          <p:cNvSpPr>
            <a:spLocks noEditPoints="1"/>
          </p:cNvSpPr>
          <p:nvPr/>
        </p:nvSpPr>
        <p:spPr bwMode="auto">
          <a:xfrm>
            <a:off x="4119563" y="3892550"/>
            <a:ext cx="71437" cy="31750"/>
          </a:xfrm>
          <a:custGeom>
            <a:avLst/>
            <a:gdLst>
              <a:gd name="T0" fmla="*/ 0 w 45"/>
              <a:gd name="T1" fmla="*/ 0 h 20"/>
              <a:gd name="T2" fmla="*/ 2147483646 w 45"/>
              <a:gd name="T3" fmla="*/ 0 h 20"/>
              <a:gd name="T4" fmla="*/ 2147483646 w 45"/>
              <a:gd name="T5" fmla="*/ 2147483646 h 20"/>
              <a:gd name="T6" fmla="*/ 0 w 45"/>
              <a:gd name="T7" fmla="*/ 2147483646 h 20"/>
              <a:gd name="T8" fmla="*/ 0 w 45"/>
              <a:gd name="T9" fmla="*/ 0 h 20"/>
              <a:gd name="T10" fmla="*/ 0 w 45"/>
              <a:gd name="T11" fmla="*/ 0 h 20"/>
              <a:gd name="T12" fmla="*/ 0 w 45"/>
              <a:gd name="T13" fmla="*/ 2147483646 h 20"/>
              <a:gd name="T14" fmla="*/ 2147483646 w 45"/>
              <a:gd name="T15" fmla="*/ 2147483646 h 20"/>
              <a:gd name="T16" fmla="*/ 2147483646 w 45"/>
              <a:gd name="T17" fmla="*/ 2147483646 h 20"/>
              <a:gd name="T18" fmla="*/ 0 w 45"/>
              <a:gd name="T19" fmla="*/ 2147483646 h 20"/>
              <a:gd name="T20" fmla="*/ 0 w 45"/>
              <a:gd name="T21" fmla="*/ 2147483646 h 20"/>
              <a:gd name="T22" fmla="*/ 0 w 45"/>
              <a:gd name="T23" fmla="*/ 2147483646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5" h="20">
                <a:moveTo>
                  <a:pt x="0" y="0"/>
                </a:moveTo>
                <a:lnTo>
                  <a:pt x="45" y="0"/>
                </a:lnTo>
                <a:lnTo>
                  <a:pt x="45" y="6"/>
                </a:lnTo>
                <a:lnTo>
                  <a:pt x="0" y="6"/>
                </a:lnTo>
                <a:lnTo>
                  <a:pt x="0" y="0"/>
                </a:lnTo>
                <a:close/>
                <a:moveTo>
                  <a:pt x="0" y="16"/>
                </a:moveTo>
                <a:lnTo>
                  <a:pt x="45" y="16"/>
                </a:lnTo>
                <a:lnTo>
                  <a:pt x="45" y="20"/>
                </a:lnTo>
                <a:lnTo>
                  <a:pt x="0" y="2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79" name="Line 86">
            <a:extLst>
              <a:ext uri="{FF2B5EF4-FFF2-40B4-BE49-F238E27FC236}">
                <a16:creationId xmlns:a16="http://schemas.microsoft.com/office/drawing/2014/main" id="{415FEEB0-AADB-49DD-8385-C24B5D8E54A2}"/>
              </a:ext>
            </a:extLst>
          </p:cNvPr>
          <p:cNvSpPr>
            <a:spLocks noChangeShapeType="1"/>
          </p:cNvSpPr>
          <p:nvPr/>
        </p:nvSpPr>
        <p:spPr bwMode="auto">
          <a:xfrm>
            <a:off x="3900488" y="2917825"/>
            <a:ext cx="0" cy="12969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0" name="Freeform 87">
            <a:extLst>
              <a:ext uri="{FF2B5EF4-FFF2-40B4-BE49-F238E27FC236}">
                <a16:creationId xmlns:a16="http://schemas.microsoft.com/office/drawing/2014/main" id="{95B61F2E-66ED-46B8-AAC1-AEB842231CC2}"/>
              </a:ext>
            </a:extLst>
          </p:cNvPr>
          <p:cNvSpPr>
            <a:spLocks/>
          </p:cNvSpPr>
          <p:nvPr/>
        </p:nvSpPr>
        <p:spPr bwMode="auto">
          <a:xfrm>
            <a:off x="3979863" y="3881438"/>
            <a:ext cx="52387" cy="53975"/>
          </a:xfrm>
          <a:custGeom>
            <a:avLst/>
            <a:gdLst>
              <a:gd name="T0" fmla="*/ 0 w 33"/>
              <a:gd name="T1" fmla="*/ 0 h 34"/>
              <a:gd name="T2" fmla="*/ 0 w 33"/>
              <a:gd name="T3" fmla="*/ 2147483646 h 34"/>
              <a:gd name="T4" fmla="*/ 2147483646 w 33"/>
              <a:gd name="T5" fmla="*/ 2147483646 h 34"/>
              <a:gd name="T6" fmla="*/ 0 w 33"/>
              <a:gd name="T7" fmla="*/ 0 h 34"/>
              <a:gd name="T8" fmla="*/ 0 w 33"/>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34">
                <a:moveTo>
                  <a:pt x="0" y="0"/>
                </a:moveTo>
                <a:lnTo>
                  <a:pt x="0" y="34"/>
                </a:lnTo>
                <a:lnTo>
                  <a:pt x="33"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81" name="Line 88">
            <a:extLst>
              <a:ext uri="{FF2B5EF4-FFF2-40B4-BE49-F238E27FC236}">
                <a16:creationId xmlns:a16="http://schemas.microsoft.com/office/drawing/2014/main" id="{95D3B3CD-D0A3-4993-A456-AD5B45AB3A68}"/>
              </a:ext>
            </a:extLst>
          </p:cNvPr>
          <p:cNvSpPr>
            <a:spLocks noChangeShapeType="1"/>
          </p:cNvSpPr>
          <p:nvPr/>
        </p:nvSpPr>
        <p:spPr bwMode="auto">
          <a:xfrm>
            <a:off x="4337050" y="2386013"/>
            <a:ext cx="4763"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82" name="Rectangle 89">
            <a:extLst>
              <a:ext uri="{FF2B5EF4-FFF2-40B4-BE49-F238E27FC236}">
                <a16:creationId xmlns:a16="http://schemas.microsoft.com/office/drawing/2014/main" id="{1DD6093B-125E-4EF3-A2C9-D509BFD233C4}"/>
              </a:ext>
            </a:extLst>
          </p:cNvPr>
          <p:cNvSpPr>
            <a:spLocks noChangeArrowheads="1"/>
          </p:cNvSpPr>
          <p:nvPr/>
        </p:nvSpPr>
        <p:spPr bwMode="auto">
          <a:xfrm>
            <a:off x="4416425" y="2230438"/>
            <a:ext cx="1428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D</a:t>
            </a:r>
            <a:endParaRPr lang="zh-CN" altLang="zh-CN"/>
          </a:p>
        </p:txBody>
      </p:sp>
      <p:sp>
        <p:nvSpPr>
          <p:cNvPr id="55383" name="Rectangle 90">
            <a:extLst>
              <a:ext uri="{FF2B5EF4-FFF2-40B4-BE49-F238E27FC236}">
                <a16:creationId xmlns:a16="http://schemas.microsoft.com/office/drawing/2014/main" id="{753B9685-5B0B-46CF-B04F-EDCC0B2439D9}"/>
              </a:ext>
            </a:extLst>
          </p:cNvPr>
          <p:cNvSpPr>
            <a:spLocks noChangeArrowheads="1"/>
          </p:cNvSpPr>
          <p:nvPr/>
        </p:nvSpPr>
        <p:spPr bwMode="auto">
          <a:xfrm>
            <a:off x="4502150"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384" name="Rectangle 91">
            <a:extLst>
              <a:ext uri="{FF2B5EF4-FFF2-40B4-BE49-F238E27FC236}">
                <a16:creationId xmlns:a16="http://schemas.microsoft.com/office/drawing/2014/main" id="{F39EA35C-4F0E-442D-A525-C412FF482E09}"/>
              </a:ext>
            </a:extLst>
          </p:cNvPr>
          <p:cNvSpPr>
            <a:spLocks noChangeArrowheads="1"/>
          </p:cNvSpPr>
          <p:nvPr/>
        </p:nvSpPr>
        <p:spPr bwMode="auto">
          <a:xfrm>
            <a:off x="4570413" y="2230438"/>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385" name="Rectangle 92">
            <a:extLst>
              <a:ext uri="{FF2B5EF4-FFF2-40B4-BE49-F238E27FC236}">
                <a16:creationId xmlns:a16="http://schemas.microsoft.com/office/drawing/2014/main" id="{46BDE0E1-2392-4660-A406-C789A7C221E9}"/>
              </a:ext>
            </a:extLst>
          </p:cNvPr>
          <p:cNvSpPr>
            <a:spLocks noChangeArrowheads="1"/>
          </p:cNvSpPr>
          <p:nvPr/>
        </p:nvSpPr>
        <p:spPr bwMode="auto">
          <a:xfrm>
            <a:off x="4602163"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386" name="Freeform 93">
            <a:extLst>
              <a:ext uri="{FF2B5EF4-FFF2-40B4-BE49-F238E27FC236}">
                <a16:creationId xmlns:a16="http://schemas.microsoft.com/office/drawing/2014/main" id="{15940FE5-D56E-413B-A3BC-1602EECCA65C}"/>
              </a:ext>
            </a:extLst>
          </p:cNvPr>
          <p:cNvSpPr>
            <a:spLocks/>
          </p:cNvSpPr>
          <p:nvPr/>
        </p:nvSpPr>
        <p:spPr bwMode="auto">
          <a:xfrm>
            <a:off x="4513263" y="2895600"/>
            <a:ext cx="57150" cy="49213"/>
          </a:xfrm>
          <a:custGeom>
            <a:avLst/>
            <a:gdLst>
              <a:gd name="T0" fmla="*/ 2147483646 w 36"/>
              <a:gd name="T1" fmla="*/ 2147483646 h 31"/>
              <a:gd name="T2" fmla="*/ 2147483646 w 36"/>
              <a:gd name="T3" fmla="*/ 2147483646 h 31"/>
              <a:gd name="T4" fmla="*/ 2147483646 w 36"/>
              <a:gd name="T5" fmla="*/ 2147483646 h 31"/>
              <a:gd name="T6" fmla="*/ 2147483646 w 36"/>
              <a:gd name="T7" fmla="*/ 2147483646 h 31"/>
              <a:gd name="T8" fmla="*/ 2147483646 w 36"/>
              <a:gd name="T9" fmla="*/ 2147483646 h 31"/>
              <a:gd name="T10" fmla="*/ 2147483646 w 36"/>
              <a:gd name="T11" fmla="*/ 2147483646 h 31"/>
              <a:gd name="T12" fmla="*/ 2147483646 w 36"/>
              <a:gd name="T13" fmla="*/ 2147483646 h 31"/>
              <a:gd name="T14" fmla="*/ 2147483646 w 36"/>
              <a:gd name="T15" fmla="*/ 2147483646 h 31"/>
              <a:gd name="T16" fmla="*/ 2147483646 w 36"/>
              <a:gd name="T17" fmla="*/ 2147483646 h 31"/>
              <a:gd name="T18" fmla="*/ 2147483646 w 36"/>
              <a:gd name="T19" fmla="*/ 2147483646 h 31"/>
              <a:gd name="T20" fmla="*/ 2147483646 w 36"/>
              <a:gd name="T21" fmla="*/ 2147483646 h 31"/>
              <a:gd name="T22" fmla="*/ 2147483646 w 36"/>
              <a:gd name="T23" fmla="*/ 2147483646 h 31"/>
              <a:gd name="T24" fmla="*/ 2147483646 w 36"/>
              <a:gd name="T25" fmla="*/ 2147483646 h 31"/>
              <a:gd name="T26" fmla="*/ 2147483646 w 36"/>
              <a:gd name="T27" fmla="*/ 2147483646 h 31"/>
              <a:gd name="T28" fmla="*/ 2147483646 w 36"/>
              <a:gd name="T29" fmla="*/ 2147483646 h 31"/>
              <a:gd name="T30" fmla="*/ 2147483646 w 36"/>
              <a:gd name="T31" fmla="*/ 2147483646 h 31"/>
              <a:gd name="T32" fmla="*/ 2147483646 w 36"/>
              <a:gd name="T33" fmla="*/ 2147483646 h 31"/>
              <a:gd name="T34" fmla="*/ 2147483646 w 36"/>
              <a:gd name="T35" fmla="*/ 2147483646 h 31"/>
              <a:gd name="T36" fmla="*/ 2147483646 w 36"/>
              <a:gd name="T37" fmla="*/ 0 h 31"/>
              <a:gd name="T38" fmla="*/ 2147483646 w 36"/>
              <a:gd name="T39" fmla="*/ 0 h 31"/>
              <a:gd name="T40" fmla="*/ 2147483646 w 36"/>
              <a:gd name="T41" fmla="*/ 0 h 31"/>
              <a:gd name="T42" fmla="*/ 2147483646 w 36"/>
              <a:gd name="T43" fmla="*/ 0 h 31"/>
              <a:gd name="T44" fmla="*/ 2147483646 w 36"/>
              <a:gd name="T45" fmla="*/ 0 h 31"/>
              <a:gd name="T46" fmla="*/ 2147483646 w 36"/>
              <a:gd name="T47" fmla="*/ 2147483646 h 31"/>
              <a:gd name="T48" fmla="*/ 2147483646 w 36"/>
              <a:gd name="T49" fmla="*/ 2147483646 h 31"/>
              <a:gd name="T50" fmla="*/ 2147483646 w 36"/>
              <a:gd name="T51" fmla="*/ 2147483646 h 31"/>
              <a:gd name="T52" fmla="*/ 2147483646 w 36"/>
              <a:gd name="T53" fmla="*/ 2147483646 h 31"/>
              <a:gd name="T54" fmla="*/ 2147483646 w 36"/>
              <a:gd name="T55" fmla="*/ 2147483646 h 31"/>
              <a:gd name="T56" fmla="*/ 2147483646 w 36"/>
              <a:gd name="T57" fmla="*/ 2147483646 h 31"/>
              <a:gd name="T58" fmla="*/ 2147483646 w 36"/>
              <a:gd name="T59" fmla="*/ 2147483646 h 31"/>
              <a:gd name="T60" fmla="*/ 0 w 36"/>
              <a:gd name="T61" fmla="*/ 2147483646 h 31"/>
              <a:gd name="T62" fmla="*/ 2147483646 w 36"/>
              <a:gd name="T63" fmla="*/ 2147483646 h 31"/>
              <a:gd name="T64" fmla="*/ 2147483646 w 36"/>
              <a:gd name="T65" fmla="*/ 2147483646 h 31"/>
              <a:gd name="T66" fmla="*/ 2147483646 w 36"/>
              <a:gd name="T67" fmla="*/ 2147483646 h 31"/>
              <a:gd name="T68" fmla="*/ 2147483646 w 36"/>
              <a:gd name="T69" fmla="*/ 2147483646 h 31"/>
              <a:gd name="T70" fmla="*/ 2147483646 w 36"/>
              <a:gd name="T71" fmla="*/ 2147483646 h 31"/>
              <a:gd name="T72" fmla="*/ 2147483646 w 36"/>
              <a:gd name="T73" fmla="*/ 2147483646 h 31"/>
              <a:gd name="T74" fmla="*/ 2147483646 w 36"/>
              <a:gd name="T75" fmla="*/ 2147483646 h 31"/>
              <a:gd name="T76" fmla="*/ 2147483646 w 36"/>
              <a:gd name="T77" fmla="*/ 2147483646 h 31"/>
              <a:gd name="T78" fmla="*/ 2147483646 w 36"/>
              <a:gd name="T79" fmla="*/ 2147483646 h 31"/>
              <a:gd name="T80" fmla="*/ 2147483646 w 36"/>
              <a:gd name="T81" fmla="*/ 2147483646 h 31"/>
              <a:gd name="T82" fmla="*/ 2147483646 w 36"/>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6" h="31">
                <a:moveTo>
                  <a:pt x="18" y="31"/>
                </a:moveTo>
                <a:lnTo>
                  <a:pt x="20" y="31"/>
                </a:lnTo>
                <a:lnTo>
                  <a:pt x="22" y="31"/>
                </a:lnTo>
                <a:lnTo>
                  <a:pt x="27" y="29"/>
                </a:lnTo>
                <a:lnTo>
                  <a:pt x="29" y="29"/>
                </a:lnTo>
                <a:lnTo>
                  <a:pt x="29" y="27"/>
                </a:lnTo>
                <a:lnTo>
                  <a:pt x="31" y="25"/>
                </a:lnTo>
                <a:lnTo>
                  <a:pt x="34" y="23"/>
                </a:lnTo>
                <a:lnTo>
                  <a:pt x="34" y="21"/>
                </a:lnTo>
                <a:lnTo>
                  <a:pt x="36" y="18"/>
                </a:lnTo>
                <a:lnTo>
                  <a:pt x="36" y="16"/>
                </a:lnTo>
                <a:lnTo>
                  <a:pt x="36" y="12"/>
                </a:lnTo>
                <a:lnTo>
                  <a:pt x="34" y="10"/>
                </a:lnTo>
                <a:lnTo>
                  <a:pt x="34" y="8"/>
                </a:lnTo>
                <a:lnTo>
                  <a:pt x="31" y="6"/>
                </a:lnTo>
                <a:lnTo>
                  <a:pt x="29" y="4"/>
                </a:lnTo>
                <a:lnTo>
                  <a:pt x="29" y="2"/>
                </a:lnTo>
                <a:lnTo>
                  <a:pt x="27" y="2"/>
                </a:lnTo>
                <a:lnTo>
                  <a:pt x="22" y="0"/>
                </a:lnTo>
                <a:lnTo>
                  <a:pt x="20" y="0"/>
                </a:lnTo>
                <a:lnTo>
                  <a:pt x="18" y="0"/>
                </a:lnTo>
                <a:lnTo>
                  <a:pt x="16" y="0"/>
                </a:lnTo>
                <a:lnTo>
                  <a:pt x="13" y="0"/>
                </a:lnTo>
                <a:lnTo>
                  <a:pt x="11" y="2"/>
                </a:lnTo>
                <a:lnTo>
                  <a:pt x="9" y="2"/>
                </a:lnTo>
                <a:lnTo>
                  <a:pt x="7" y="4"/>
                </a:lnTo>
                <a:lnTo>
                  <a:pt x="4" y="6"/>
                </a:lnTo>
                <a:lnTo>
                  <a:pt x="2" y="8"/>
                </a:lnTo>
                <a:lnTo>
                  <a:pt x="2" y="10"/>
                </a:lnTo>
                <a:lnTo>
                  <a:pt x="2" y="12"/>
                </a:lnTo>
                <a:lnTo>
                  <a:pt x="0" y="16"/>
                </a:lnTo>
                <a:lnTo>
                  <a:pt x="2" y="18"/>
                </a:lnTo>
                <a:lnTo>
                  <a:pt x="2" y="21"/>
                </a:lnTo>
                <a:lnTo>
                  <a:pt x="2" y="23"/>
                </a:lnTo>
                <a:lnTo>
                  <a:pt x="4" y="25"/>
                </a:lnTo>
                <a:lnTo>
                  <a:pt x="7" y="27"/>
                </a:lnTo>
                <a:lnTo>
                  <a:pt x="9" y="29"/>
                </a:lnTo>
                <a:lnTo>
                  <a:pt x="11" y="29"/>
                </a:lnTo>
                <a:lnTo>
                  <a:pt x="13" y="31"/>
                </a:lnTo>
                <a:lnTo>
                  <a:pt x="16" y="31"/>
                </a:lnTo>
                <a:lnTo>
                  <a:pt x="18"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87" name="Freeform 94">
            <a:extLst>
              <a:ext uri="{FF2B5EF4-FFF2-40B4-BE49-F238E27FC236}">
                <a16:creationId xmlns:a16="http://schemas.microsoft.com/office/drawing/2014/main" id="{3F1762D7-3917-41C8-B98E-0CD8F26E9C93}"/>
              </a:ext>
            </a:extLst>
          </p:cNvPr>
          <p:cNvSpPr>
            <a:spLocks/>
          </p:cNvSpPr>
          <p:nvPr/>
        </p:nvSpPr>
        <p:spPr bwMode="auto">
          <a:xfrm>
            <a:off x="5408613" y="3735388"/>
            <a:ext cx="57150" cy="50800"/>
          </a:xfrm>
          <a:custGeom>
            <a:avLst/>
            <a:gdLst>
              <a:gd name="T0" fmla="*/ 2147483646 w 36"/>
              <a:gd name="T1" fmla="*/ 0 h 32"/>
              <a:gd name="T2" fmla="*/ 0 w 36"/>
              <a:gd name="T3" fmla="*/ 0 h 32"/>
              <a:gd name="T4" fmla="*/ 2147483646 w 36"/>
              <a:gd name="T5" fmla="*/ 2147483646 h 32"/>
              <a:gd name="T6" fmla="*/ 2147483646 w 36"/>
              <a:gd name="T7" fmla="*/ 0 h 32"/>
              <a:gd name="T8" fmla="*/ 2147483646 w 36"/>
              <a:gd name="T9" fmla="*/ 0 h 32"/>
              <a:gd name="T10" fmla="*/ 2147483646 w 36"/>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6" h="32">
                <a:moveTo>
                  <a:pt x="34" y="0"/>
                </a:moveTo>
                <a:lnTo>
                  <a:pt x="0" y="0"/>
                </a:lnTo>
                <a:lnTo>
                  <a:pt x="18" y="32"/>
                </a:lnTo>
                <a:lnTo>
                  <a:pt x="36" y="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88" name="Freeform 95">
            <a:extLst>
              <a:ext uri="{FF2B5EF4-FFF2-40B4-BE49-F238E27FC236}">
                <a16:creationId xmlns:a16="http://schemas.microsoft.com/office/drawing/2014/main" id="{1A86BCA8-E77C-4323-8263-6C971EB628E4}"/>
              </a:ext>
            </a:extLst>
          </p:cNvPr>
          <p:cNvSpPr>
            <a:spLocks/>
          </p:cNvSpPr>
          <p:nvPr/>
        </p:nvSpPr>
        <p:spPr bwMode="auto">
          <a:xfrm>
            <a:off x="5118100" y="2386013"/>
            <a:ext cx="1038225" cy="153987"/>
          </a:xfrm>
          <a:custGeom>
            <a:avLst/>
            <a:gdLst>
              <a:gd name="T0" fmla="*/ 2147483646 w 654"/>
              <a:gd name="T1" fmla="*/ 2147483646 h 97"/>
              <a:gd name="T2" fmla="*/ 2147483646 w 654"/>
              <a:gd name="T3" fmla="*/ 0 h 97"/>
              <a:gd name="T4" fmla="*/ 0 w 654"/>
              <a:gd name="T5" fmla="*/ 0 h 97"/>
              <a:gd name="T6" fmla="*/ 0 w 654"/>
              <a:gd name="T7" fmla="*/ 2147483646 h 97"/>
              <a:gd name="T8" fmla="*/ 2147483646 w 654"/>
              <a:gd name="T9" fmla="*/ 2147483646 h 97"/>
              <a:gd name="T10" fmla="*/ 2147483646 w 654"/>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4" h="97">
                <a:moveTo>
                  <a:pt x="654" y="97"/>
                </a:moveTo>
                <a:lnTo>
                  <a:pt x="654" y="0"/>
                </a:lnTo>
                <a:lnTo>
                  <a:pt x="0" y="0"/>
                </a:lnTo>
                <a:lnTo>
                  <a:pt x="0" y="97"/>
                </a:lnTo>
                <a:lnTo>
                  <a:pt x="654"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89" name="Rectangle 96">
            <a:extLst>
              <a:ext uri="{FF2B5EF4-FFF2-40B4-BE49-F238E27FC236}">
                <a16:creationId xmlns:a16="http://schemas.microsoft.com/office/drawing/2014/main" id="{3DF45DB0-B254-4DED-8C14-15F4B0B627E8}"/>
              </a:ext>
            </a:extLst>
          </p:cNvPr>
          <p:cNvSpPr>
            <a:spLocks noChangeArrowheads="1"/>
          </p:cNvSpPr>
          <p:nvPr/>
        </p:nvSpPr>
        <p:spPr bwMode="auto">
          <a:xfrm>
            <a:off x="5146675" y="2230438"/>
            <a:ext cx="1365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V</a:t>
            </a:r>
            <a:endParaRPr lang="zh-CN" altLang="zh-CN"/>
          </a:p>
        </p:txBody>
      </p:sp>
      <p:sp>
        <p:nvSpPr>
          <p:cNvPr id="55390" name="Rectangle 97">
            <a:extLst>
              <a:ext uri="{FF2B5EF4-FFF2-40B4-BE49-F238E27FC236}">
                <a16:creationId xmlns:a16="http://schemas.microsoft.com/office/drawing/2014/main" id="{90114BFB-E9DC-43C4-B064-3975373926E6}"/>
              </a:ext>
            </a:extLst>
          </p:cNvPr>
          <p:cNvSpPr>
            <a:spLocks noChangeArrowheads="1"/>
          </p:cNvSpPr>
          <p:nvPr/>
        </p:nvSpPr>
        <p:spPr bwMode="auto">
          <a:xfrm>
            <a:off x="5365750" y="2230438"/>
            <a:ext cx="1285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391" name="Rectangle 98">
            <a:extLst>
              <a:ext uri="{FF2B5EF4-FFF2-40B4-BE49-F238E27FC236}">
                <a16:creationId xmlns:a16="http://schemas.microsoft.com/office/drawing/2014/main" id="{1C97EEE8-F273-40F4-8802-B9D968C2207A}"/>
              </a:ext>
            </a:extLst>
          </p:cNvPr>
          <p:cNvSpPr>
            <a:spLocks noChangeArrowheads="1"/>
          </p:cNvSpPr>
          <p:nvPr/>
        </p:nvSpPr>
        <p:spPr bwMode="auto">
          <a:xfrm>
            <a:off x="5440363"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392" name="Rectangle 99">
            <a:extLst>
              <a:ext uri="{FF2B5EF4-FFF2-40B4-BE49-F238E27FC236}">
                <a16:creationId xmlns:a16="http://schemas.microsoft.com/office/drawing/2014/main" id="{90A7FA6E-444F-453B-97F1-FF51969C184C}"/>
              </a:ext>
            </a:extLst>
          </p:cNvPr>
          <p:cNvSpPr>
            <a:spLocks noChangeArrowheads="1"/>
          </p:cNvSpPr>
          <p:nvPr/>
        </p:nvSpPr>
        <p:spPr bwMode="auto">
          <a:xfrm>
            <a:off x="5505450"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g</a:t>
            </a:r>
            <a:endParaRPr lang="zh-CN" altLang="zh-CN"/>
          </a:p>
        </p:txBody>
      </p:sp>
      <p:sp>
        <p:nvSpPr>
          <p:cNvPr id="55393" name="Freeform 100">
            <a:extLst>
              <a:ext uri="{FF2B5EF4-FFF2-40B4-BE49-F238E27FC236}">
                <a16:creationId xmlns:a16="http://schemas.microsoft.com/office/drawing/2014/main" id="{49529C76-4757-433D-A939-CEC5F9DDB797}"/>
              </a:ext>
            </a:extLst>
          </p:cNvPr>
          <p:cNvSpPr>
            <a:spLocks/>
          </p:cNvSpPr>
          <p:nvPr/>
        </p:nvSpPr>
        <p:spPr bwMode="auto">
          <a:xfrm>
            <a:off x="5118100" y="2540000"/>
            <a:ext cx="1038225" cy="152400"/>
          </a:xfrm>
          <a:custGeom>
            <a:avLst/>
            <a:gdLst>
              <a:gd name="T0" fmla="*/ 2147483646 w 654"/>
              <a:gd name="T1" fmla="*/ 2147483646 h 96"/>
              <a:gd name="T2" fmla="*/ 2147483646 w 654"/>
              <a:gd name="T3" fmla="*/ 0 h 96"/>
              <a:gd name="T4" fmla="*/ 0 w 654"/>
              <a:gd name="T5" fmla="*/ 0 h 96"/>
              <a:gd name="T6" fmla="*/ 0 w 654"/>
              <a:gd name="T7" fmla="*/ 2147483646 h 96"/>
              <a:gd name="T8" fmla="*/ 2147483646 w 654"/>
              <a:gd name="T9" fmla="*/ 2147483646 h 96"/>
              <a:gd name="T10" fmla="*/ 2147483646 w 654"/>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4" h="96">
                <a:moveTo>
                  <a:pt x="654" y="94"/>
                </a:moveTo>
                <a:lnTo>
                  <a:pt x="654" y="0"/>
                </a:lnTo>
                <a:lnTo>
                  <a:pt x="0" y="0"/>
                </a:lnTo>
                <a:lnTo>
                  <a:pt x="0" y="96"/>
                </a:lnTo>
                <a:lnTo>
                  <a:pt x="654"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94" name="Freeform 101">
            <a:extLst>
              <a:ext uri="{FF2B5EF4-FFF2-40B4-BE49-F238E27FC236}">
                <a16:creationId xmlns:a16="http://schemas.microsoft.com/office/drawing/2014/main" id="{4B7AA6E3-A853-496E-B1AE-A4CEF4289EE2}"/>
              </a:ext>
            </a:extLst>
          </p:cNvPr>
          <p:cNvSpPr>
            <a:spLocks/>
          </p:cNvSpPr>
          <p:nvPr/>
        </p:nvSpPr>
        <p:spPr bwMode="auto">
          <a:xfrm>
            <a:off x="5118100" y="2692400"/>
            <a:ext cx="1038225" cy="152400"/>
          </a:xfrm>
          <a:custGeom>
            <a:avLst/>
            <a:gdLst>
              <a:gd name="T0" fmla="*/ 2147483646 w 654"/>
              <a:gd name="T1" fmla="*/ 2147483646 h 96"/>
              <a:gd name="T2" fmla="*/ 2147483646 w 654"/>
              <a:gd name="T3" fmla="*/ 0 h 96"/>
              <a:gd name="T4" fmla="*/ 0 w 654"/>
              <a:gd name="T5" fmla="*/ 0 h 96"/>
              <a:gd name="T6" fmla="*/ 0 w 654"/>
              <a:gd name="T7" fmla="*/ 2147483646 h 96"/>
              <a:gd name="T8" fmla="*/ 2147483646 w 654"/>
              <a:gd name="T9" fmla="*/ 2147483646 h 96"/>
              <a:gd name="T10" fmla="*/ 2147483646 w 654"/>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4" h="96">
                <a:moveTo>
                  <a:pt x="654" y="94"/>
                </a:moveTo>
                <a:lnTo>
                  <a:pt x="654" y="0"/>
                </a:lnTo>
                <a:lnTo>
                  <a:pt x="0" y="0"/>
                </a:lnTo>
                <a:lnTo>
                  <a:pt x="0" y="96"/>
                </a:lnTo>
                <a:lnTo>
                  <a:pt x="654"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95" name="Freeform 102">
            <a:extLst>
              <a:ext uri="{FF2B5EF4-FFF2-40B4-BE49-F238E27FC236}">
                <a16:creationId xmlns:a16="http://schemas.microsoft.com/office/drawing/2014/main" id="{D7C4B8D3-2FDE-475B-83BF-EE7DD1A46102}"/>
              </a:ext>
            </a:extLst>
          </p:cNvPr>
          <p:cNvSpPr>
            <a:spLocks/>
          </p:cNvSpPr>
          <p:nvPr/>
        </p:nvSpPr>
        <p:spPr bwMode="auto">
          <a:xfrm>
            <a:off x="5118100" y="2844800"/>
            <a:ext cx="1038225" cy="152400"/>
          </a:xfrm>
          <a:custGeom>
            <a:avLst/>
            <a:gdLst>
              <a:gd name="T0" fmla="*/ 2147483646 w 654"/>
              <a:gd name="T1" fmla="*/ 2147483646 h 96"/>
              <a:gd name="T2" fmla="*/ 2147483646 w 654"/>
              <a:gd name="T3" fmla="*/ 0 h 96"/>
              <a:gd name="T4" fmla="*/ 0 w 654"/>
              <a:gd name="T5" fmla="*/ 0 h 96"/>
              <a:gd name="T6" fmla="*/ 0 w 654"/>
              <a:gd name="T7" fmla="*/ 2147483646 h 96"/>
              <a:gd name="T8" fmla="*/ 2147483646 w 654"/>
              <a:gd name="T9" fmla="*/ 2147483646 h 96"/>
              <a:gd name="T10" fmla="*/ 2147483646 w 654"/>
              <a:gd name="T11" fmla="*/ 2147483646 h 96"/>
              <a:gd name="T12" fmla="*/ 2147483646 w 654"/>
              <a:gd name="T13" fmla="*/ 2147483646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4" h="96">
                <a:moveTo>
                  <a:pt x="654" y="94"/>
                </a:moveTo>
                <a:lnTo>
                  <a:pt x="654" y="0"/>
                </a:lnTo>
                <a:lnTo>
                  <a:pt x="0" y="0"/>
                </a:lnTo>
                <a:lnTo>
                  <a:pt x="0" y="96"/>
                </a:lnTo>
                <a:lnTo>
                  <a:pt x="654" y="96"/>
                </a:lnTo>
                <a:lnTo>
                  <a:pt x="654" y="9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96" name="Freeform 103">
            <a:extLst>
              <a:ext uri="{FF2B5EF4-FFF2-40B4-BE49-F238E27FC236}">
                <a16:creationId xmlns:a16="http://schemas.microsoft.com/office/drawing/2014/main" id="{AC0ECE5F-7ADA-4659-8C9E-672F0B86EBA2}"/>
              </a:ext>
            </a:extLst>
          </p:cNvPr>
          <p:cNvSpPr>
            <a:spLocks/>
          </p:cNvSpPr>
          <p:nvPr/>
        </p:nvSpPr>
        <p:spPr bwMode="auto">
          <a:xfrm>
            <a:off x="5118100" y="2844800"/>
            <a:ext cx="1038225" cy="152400"/>
          </a:xfrm>
          <a:custGeom>
            <a:avLst/>
            <a:gdLst>
              <a:gd name="T0" fmla="*/ 2147483646 w 654"/>
              <a:gd name="T1" fmla="*/ 2147483646 h 96"/>
              <a:gd name="T2" fmla="*/ 2147483646 w 654"/>
              <a:gd name="T3" fmla="*/ 0 h 96"/>
              <a:gd name="T4" fmla="*/ 0 w 654"/>
              <a:gd name="T5" fmla="*/ 0 h 96"/>
              <a:gd name="T6" fmla="*/ 0 w 654"/>
              <a:gd name="T7" fmla="*/ 2147483646 h 96"/>
              <a:gd name="T8" fmla="*/ 2147483646 w 654"/>
              <a:gd name="T9" fmla="*/ 2147483646 h 96"/>
              <a:gd name="T10" fmla="*/ 2147483646 w 654"/>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4" h="96">
                <a:moveTo>
                  <a:pt x="654" y="94"/>
                </a:moveTo>
                <a:lnTo>
                  <a:pt x="654" y="0"/>
                </a:lnTo>
                <a:lnTo>
                  <a:pt x="0" y="0"/>
                </a:lnTo>
                <a:lnTo>
                  <a:pt x="0" y="96"/>
                </a:lnTo>
                <a:lnTo>
                  <a:pt x="654"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97" name="Freeform 104">
            <a:extLst>
              <a:ext uri="{FF2B5EF4-FFF2-40B4-BE49-F238E27FC236}">
                <a16:creationId xmlns:a16="http://schemas.microsoft.com/office/drawing/2014/main" id="{68A9B934-7A4F-41DE-A2EF-B43FDE700018}"/>
              </a:ext>
            </a:extLst>
          </p:cNvPr>
          <p:cNvSpPr>
            <a:spLocks/>
          </p:cNvSpPr>
          <p:nvPr/>
        </p:nvSpPr>
        <p:spPr bwMode="auto">
          <a:xfrm>
            <a:off x="5118100" y="2997200"/>
            <a:ext cx="1038225" cy="153988"/>
          </a:xfrm>
          <a:custGeom>
            <a:avLst/>
            <a:gdLst>
              <a:gd name="T0" fmla="*/ 2147483646 w 654"/>
              <a:gd name="T1" fmla="*/ 2147483646 h 97"/>
              <a:gd name="T2" fmla="*/ 2147483646 w 654"/>
              <a:gd name="T3" fmla="*/ 0 h 97"/>
              <a:gd name="T4" fmla="*/ 0 w 654"/>
              <a:gd name="T5" fmla="*/ 0 h 97"/>
              <a:gd name="T6" fmla="*/ 0 w 654"/>
              <a:gd name="T7" fmla="*/ 2147483646 h 97"/>
              <a:gd name="T8" fmla="*/ 2147483646 w 654"/>
              <a:gd name="T9" fmla="*/ 2147483646 h 97"/>
              <a:gd name="T10" fmla="*/ 2147483646 w 654"/>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4" h="97">
                <a:moveTo>
                  <a:pt x="654" y="95"/>
                </a:moveTo>
                <a:lnTo>
                  <a:pt x="654" y="0"/>
                </a:lnTo>
                <a:lnTo>
                  <a:pt x="0" y="0"/>
                </a:lnTo>
                <a:lnTo>
                  <a:pt x="0" y="97"/>
                </a:lnTo>
                <a:lnTo>
                  <a:pt x="654"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98" name="Freeform 105">
            <a:extLst>
              <a:ext uri="{FF2B5EF4-FFF2-40B4-BE49-F238E27FC236}">
                <a16:creationId xmlns:a16="http://schemas.microsoft.com/office/drawing/2014/main" id="{A1ACAD48-9763-4B33-BCFE-6EEAEE8959D4}"/>
              </a:ext>
            </a:extLst>
          </p:cNvPr>
          <p:cNvSpPr>
            <a:spLocks/>
          </p:cNvSpPr>
          <p:nvPr/>
        </p:nvSpPr>
        <p:spPr bwMode="auto">
          <a:xfrm>
            <a:off x="5118100" y="3151188"/>
            <a:ext cx="1038225" cy="149225"/>
          </a:xfrm>
          <a:custGeom>
            <a:avLst/>
            <a:gdLst>
              <a:gd name="T0" fmla="*/ 2147483646 w 654"/>
              <a:gd name="T1" fmla="*/ 2147483646 h 94"/>
              <a:gd name="T2" fmla="*/ 2147483646 w 654"/>
              <a:gd name="T3" fmla="*/ 0 h 94"/>
              <a:gd name="T4" fmla="*/ 0 w 654"/>
              <a:gd name="T5" fmla="*/ 0 h 94"/>
              <a:gd name="T6" fmla="*/ 0 w 654"/>
              <a:gd name="T7" fmla="*/ 2147483646 h 94"/>
              <a:gd name="T8" fmla="*/ 2147483646 w 654"/>
              <a:gd name="T9" fmla="*/ 2147483646 h 94"/>
              <a:gd name="T10" fmla="*/ 2147483646 w 654"/>
              <a:gd name="T11" fmla="*/ 2147483646 h 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4" h="94">
                <a:moveTo>
                  <a:pt x="654" y="94"/>
                </a:moveTo>
                <a:lnTo>
                  <a:pt x="654" y="0"/>
                </a:lnTo>
                <a:lnTo>
                  <a:pt x="0" y="0"/>
                </a:lnTo>
                <a:lnTo>
                  <a:pt x="0" y="94"/>
                </a:lnTo>
                <a:lnTo>
                  <a:pt x="654" y="9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99" name="Freeform 106">
            <a:extLst>
              <a:ext uri="{FF2B5EF4-FFF2-40B4-BE49-F238E27FC236}">
                <a16:creationId xmlns:a16="http://schemas.microsoft.com/office/drawing/2014/main" id="{0031C2F3-3A49-43FD-A845-C8ECE104D775}"/>
              </a:ext>
            </a:extLst>
          </p:cNvPr>
          <p:cNvSpPr>
            <a:spLocks/>
          </p:cNvSpPr>
          <p:nvPr/>
        </p:nvSpPr>
        <p:spPr bwMode="auto">
          <a:xfrm>
            <a:off x="5118100" y="3300413"/>
            <a:ext cx="1038225" cy="152400"/>
          </a:xfrm>
          <a:custGeom>
            <a:avLst/>
            <a:gdLst>
              <a:gd name="T0" fmla="*/ 2147483646 w 654"/>
              <a:gd name="T1" fmla="*/ 2147483646 h 96"/>
              <a:gd name="T2" fmla="*/ 2147483646 w 654"/>
              <a:gd name="T3" fmla="*/ 0 h 96"/>
              <a:gd name="T4" fmla="*/ 0 w 654"/>
              <a:gd name="T5" fmla="*/ 0 h 96"/>
              <a:gd name="T6" fmla="*/ 0 w 654"/>
              <a:gd name="T7" fmla="*/ 2147483646 h 96"/>
              <a:gd name="T8" fmla="*/ 2147483646 w 654"/>
              <a:gd name="T9" fmla="*/ 2147483646 h 96"/>
              <a:gd name="T10" fmla="*/ 2147483646 w 654"/>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4" h="96">
                <a:moveTo>
                  <a:pt x="654" y="96"/>
                </a:moveTo>
                <a:lnTo>
                  <a:pt x="654" y="0"/>
                </a:lnTo>
                <a:lnTo>
                  <a:pt x="0" y="0"/>
                </a:lnTo>
                <a:lnTo>
                  <a:pt x="0" y="96"/>
                </a:lnTo>
                <a:lnTo>
                  <a:pt x="654"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00" name="Freeform 107">
            <a:extLst>
              <a:ext uri="{FF2B5EF4-FFF2-40B4-BE49-F238E27FC236}">
                <a16:creationId xmlns:a16="http://schemas.microsoft.com/office/drawing/2014/main" id="{D4638A29-AC31-4E73-9C29-99738D7D34DB}"/>
              </a:ext>
            </a:extLst>
          </p:cNvPr>
          <p:cNvSpPr>
            <a:spLocks/>
          </p:cNvSpPr>
          <p:nvPr/>
        </p:nvSpPr>
        <p:spPr bwMode="auto">
          <a:xfrm>
            <a:off x="5160963"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2147483646 w 34"/>
              <a:gd name="T85" fmla="*/ 2147483646 h 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4" h="31">
                <a:moveTo>
                  <a:pt x="16" y="31"/>
                </a:moveTo>
                <a:lnTo>
                  <a:pt x="20" y="31"/>
                </a:lnTo>
                <a:lnTo>
                  <a:pt x="23" y="31"/>
                </a:lnTo>
                <a:lnTo>
                  <a:pt x="25" y="29"/>
                </a:lnTo>
                <a:lnTo>
                  <a:pt x="27" y="29"/>
                </a:lnTo>
                <a:lnTo>
                  <a:pt x="29" y="27"/>
                </a:lnTo>
                <a:lnTo>
                  <a:pt x="32" y="25"/>
                </a:lnTo>
                <a:lnTo>
                  <a:pt x="34" y="23"/>
                </a:lnTo>
                <a:lnTo>
                  <a:pt x="34" y="21"/>
                </a:lnTo>
                <a:lnTo>
                  <a:pt x="34" y="18"/>
                </a:lnTo>
                <a:lnTo>
                  <a:pt x="34" y="16"/>
                </a:lnTo>
                <a:lnTo>
                  <a:pt x="34" y="12"/>
                </a:lnTo>
                <a:lnTo>
                  <a:pt x="34" y="10"/>
                </a:lnTo>
                <a:lnTo>
                  <a:pt x="34" y="8"/>
                </a:lnTo>
                <a:lnTo>
                  <a:pt x="32" y="6"/>
                </a:lnTo>
                <a:lnTo>
                  <a:pt x="29" y="4"/>
                </a:lnTo>
                <a:lnTo>
                  <a:pt x="27" y="2"/>
                </a:lnTo>
                <a:lnTo>
                  <a:pt x="25" y="2"/>
                </a:lnTo>
                <a:lnTo>
                  <a:pt x="23" y="0"/>
                </a:lnTo>
                <a:lnTo>
                  <a:pt x="20" y="0"/>
                </a:lnTo>
                <a:lnTo>
                  <a:pt x="18" y="0"/>
                </a:lnTo>
                <a:lnTo>
                  <a:pt x="14" y="0"/>
                </a:lnTo>
                <a:lnTo>
                  <a:pt x="11" y="0"/>
                </a:lnTo>
                <a:lnTo>
                  <a:pt x="9" y="2"/>
                </a:lnTo>
                <a:lnTo>
                  <a:pt x="7" y="2"/>
                </a:lnTo>
                <a:lnTo>
                  <a:pt x="5" y="4"/>
                </a:lnTo>
                <a:lnTo>
                  <a:pt x="5" y="6"/>
                </a:lnTo>
                <a:lnTo>
                  <a:pt x="2" y="8"/>
                </a:lnTo>
                <a:lnTo>
                  <a:pt x="0" y="10"/>
                </a:lnTo>
                <a:lnTo>
                  <a:pt x="0" y="12"/>
                </a:lnTo>
                <a:lnTo>
                  <a:pt x="0" y="16"/>
                </a:lnTo>
                <a:lnTo>
                  <a:pt x="0" y="18"/>
                </a:lnTo>
                <a:lnTo>
                  <a:pt x="0" y="21"/>
                </a:lnTo>
                <a:lnTo>
                  <a:pt x="2" y="23"/>
                </a:lnTo>
                <a:lnTo>
                  <a:pt x="5" y="25"/>
                </a:lnTo>
                <a:lnTo>
                  <a:pt x="5" y="27"/>
                </a:lnTo>
                <a:lnTo>
                  <a:pt x="7" y="29"/>
                </a:lnTo>
                <a:lnTo>
                  <a:pt x="9" y="29"/>
                </a:lnTo>
                <a:lnTo>
                  <a:pt x="11" y="31"/>
                </a:lnTo>
                <a:lnTo>
                  <a:pt x="14" y="31"/>
                </a:lnTo>
                <a:lnTo>
                  <a:pt x="18"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01" name="Freeform 108">
            <a:extLst>
              <a:ext uri="{FF2B5EF4-FFF2-40B4-BE49-F238E27FC236}">
                <a16:creationId xmlns:a16="http://schemas.microsoft.com/office/drawing/2014/main" id="{5B919074-9AE7-4FA3-B10B-30A77733F3B7}"/>
              </a:ext>
            </a:extLst>
          </p:cNvPr>
          <p:cNvSpPr>
            <a:spLocks/>
          </p:cNvSpPr>
          <p:nvPr/>
        </p:nvSpPr>
        <p:spPr bwMode="auto">
          <a:xfrm>
            <a:off x="5408613" y="2895600"/>
            <a:ext cx="57150" cy="49213"/>
          </a:xfrm>
          <a:custGeom>
            <a:avLst/>
            <a:gdLst>
              <a:gd name="T0" fmla="*/ 2147483646 w 36"/>
              <a:gd name="T1" fmla="*/ 2147483646 h 31"/>
              <a:gd name="T2" fmla="*/ 2147483646 w 36"/>
              <a:gd name="T3" fmla="*/ 2147483646 h 31"/>
              <a:gd name="T4" fmla="*/ 2147483646 w 36"/>
              <a:gd name="T5" fmla="*/ 2147483646 h 31"/>
              <a:gd name="T6" fmla="*/ 2147483646 w 36"/>
              <a:gd name="T7" fmla="*/ 2147483646 h 31"/>
              <a:gd name="T8" fmla="*/ 2147483646 w 36"/>
              <a:gd name="T9" fmla="*/ 2147483646 h 31"/>
              <a:gd name="T10" fmla="*/ 2147483646 w 36"/>
              <a:gd name="T11" fmla="*/ 2147483646 h 31"/>
              <a:gd name="T12" fmla="*/ 2147483646 w 36"/>
              <a:gd name="T13" fmla="*/ 2147483646 h 31"/>
              <a:gd name="T14" fmla="*/ 2147483646 w 36"/>
              <a:gd name="T15" fmla="*/ 2147483646 h 31"/>
              <a:gd name="T16" fmla="*/ 2147483646 w 36"/>
              <a:gd name="T17" fmla="*/ 2147483646 h 31"/>
              <a:gd name="T18" fmla="*/ 2147483646 w 36"/>
              <a:gd name="T19" fmla="*/ 2147483646 h 31"/>
              <a:gd name="T20" fmla="*/ 2147483646 w 36"/>
              <a:gd name="T21" fmla="*/ 2147483646 h 31"/>
              <a:gd name="T22" fmla="*/ 2147483646 w 36"/>
              <a:gd name="T23" fmla="*/ 2147483646 h 31"/>
              <a:gd name="T24" fmla="*/ 2147483646 w 36"/>
              <a:gd name="T25" fmla="*/ 2147483646 h 31"/>
              <a:gd name="T26" fmla="*/ 2147483646 w 36"/>
              <a:gd name="T27" fmla="*/ 2147483646 h 31"/>
              <a:gd name="T28" fmla="*/ 2147483646 w 36"/>
              <a:gd name="T29" fmla="*/ 2147483646 h 31"/>
              <a:gd name="T30" fmla="*/ 2147483646 w 36"/>
              <a:gd name="T31" fmla="*/ 2147483646 h 31"/>
              <a:gd name="T32" fmla="*/ 2147483646 w 36"/>
              <a:gd name="T33" fmla="*/ 2147483646 h 31"/>
              <a:gd name="T34" fmla="*/ 2147483646 w 36"/>
              <a:gd name="T35" fmla="*/ 2147483646 h 31"/>
              <a:gd name="T36" fmla="*/ 2147483646 w 36"/>
              <a:gd name="T37" fmla="*/ 0 h 31"/>
              <a:gd name="T38" fmla="*/ 2147483646 w 36"/>
              <a:gd name="T39" fmla="*/ 0 h 31"/>
              <a:gd name="T40" fmla="*/ 2147483646 w 36"/>
              <a:gd name="T41" fmla="*/ 0 h 31"/>
              <a:gd name="T42" fmla="*/ 2147483646 w 36"/>
              <a:gd name="T43" fmla="*/ 0 h 31"/>
              <a:gd name="T44" fmla="*/ 2147483646 w 36"/>
              <a:gd name="T45" fmla="*/ 0 h 31"/>
              <a:gd name="T46" fmla="*/ 2147483646 w 36"/>
              <a:gd name="T47" fmla="*/ 2147483646 h 31"/>
              <a:gd name="T48" fmla="*/ 2147483646 w 36"/>
              <a:gd name="T49" fmla="*/ 2147483646 h 31"/>
              <a:gd name="T50" fmla="*/ 2147483646 w 36"/>
              <a:gd name="T51" fmla="*/ 2147483646 h 31"/>
              <a:gd name="T52" fmla="*/ 2147483646 w 36"/>
              <a:gd name="T53" fmla="*/ 2147483646 h 31"/>
              <a:gd name="T54" fmla="*/ 2147483646 w 36"/>
              <a:gd name="T55" fmla="*/ 2147483646 h 31"/>
              <a:gd name="T56" fmla="*/ 2147483646 w 36"/>
              <a:gd name="T57" fmla="*/ 2147483646 h 31"/>
              <a:gd name="T58" fmla="*/ 2147483646 w 36"/>
              <a:gd name="T59" fmla="*/ 2147483646 h 31"/>
              <a:gd name="T60" fmla="*/ 0 w 36"/>
              <a:gd name="T61" fmla="*/ 2147483646 h 31"/>
              <a:gd name="T62" fmla="*/ 2147483646 w 36"/>
              <a:gd name="T63" fmla="*/ 2147483646 h 31"/>
              <a:gd name="T64" fmla="*/ 2147483646 w 36"/>
              <a:gd name="T65" fmla="*/ 2147483646 h 31"/>
              <a:gd name="T66" fmla="*/ 2147483646 w 36"/>
              <a:gd name="T67" fmla="*/ 2147483646 h 31"/>
              <a:gd name="T68" fmla="*/ 2147483646 w 36"/>
              <a:gd name="T69" fmla="*/ 2147483646 h 31"/>
              <a:gd name="T70" fmla="*/ 2147483646 w 36"/>
              <a:gd name="T71" fmla="*/ 2147483646 h 31"/>
              <a:gd name="T72" fmla="*/ 2147483646 w 36"/>
              <a:gd name="T73" fmla="*/ 2147483646 h 31"/>
              <a:gd name="T74" fmla="*/ 2147483646 w 36"/>
              <a:gd name="T75" fmla="*/ 2147483646 h 31"/>
              <a:gd name="T76" fmla="*/ 2147483646 w 36"/>
              <a:gd name="T77" fmla="*/ 2147483646 h 31"/>
              <a:gd name="T78" fmla="*/ 2147483646 w 36"/>
              <a:gd name="T79" fmla="*/ 2147483646 h 31"/>
              <a:gd name="T80" fmla="*/ 2147483646 w 36"/>
              <a:gd name="T81" fmla="*/ 2147483646 h 31"/>
              <a:gd name="T82" fmla="*/ 2147483646 w 36"/>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6" h="31">
                <a:moveTo>
                  <a:pt x="18" y="31"/>
                </a:moveTo>
                <a:lnTo>
                  <a:pt x="20" y="31"/>
                </a:lnTo>
                <a:lnTo>
                  <a:pt x="25" y="31"/>
                </a:lnTo>
                <a:lnTo>
                  <a:pt x="27" y="29"/>
                </a:lnTo>
                <a:lnTo>
                  <a:pt x="29" y="29"/>
                </a:lnTo>
                <a:lnTo>
                  <a:pt x="31" y="27"/>
                </a:lnTo>
                <a:lnTo>
                  <a:pt x="31" y="25"/>
                </a:lnTo>
                <a:lnTo>
                  <a:pt x="34" y="23"/>
                </a:lnTo>
                <a:lnTo>
                  <a:pt x="34" y="21"/>
                </a:lnTo>
                <a:lnTo>
                  <a:pt x="36" y="18"/>
                </a:lnTo>
                <a:lnTo>
                  <a:pt x="36" y="16"/>
                </a:lnTo>
                <a:lnTo>
                  <a:pt x="36" y="12"/>
                </a:lnTo>
                <a:lnTo>
                  <a:pt x="34" y="10"/>
                </a:lnTo>
                <a:lnTo>
                  <a:pt x="34" y="8"/>
                </a:lnTo>
                <a:lnTo>
                  <a:pt x="31" y="6"/>
                </a:lnTo>
                <a:lnTo>
                  <a:pt x="31" y="4"/>
                </a:lnTo>
                <a:lnTo>
                  <a:pt x="29" y="2"/>
                </a:lnTo>
                <a:lnTo>
                  <a:pt x="27" y="2"/>
                </a:lnTo>
                <a:lnTo>
                  <a:pt x="25" y="0"/>
                </a:lnTo>
                <a:lnTo>
                  <a:pt x="20" y="0"/>
                </a:lnTo>
                <a:lnTo>
                  <a:pt x="18" y="0"/>
                </a:lnTo>
                <a:lnTo>
                  <a:pt x="16" y="0"/>
                </a:lnTo>
                <a:lnTo>
                  <a:pt x="13" y="0"/>
                </a:lnTo>
                <a:lnTo>
                  <a:pt x="11" y="2"/>
                </a:lnTo>
                <a:lnTo>
                  <a:pt x="9" y="2"/>
                </a:lnTo>
                <a:lnTo>
                  <a:pt x="7" y="4"/>
                </a:lnTo>
                <a:lnTo>
                  <a:pt x="4" y="6"/>
                </a:lnTo>
                <a:lnTo>
                  <a:pt x="2" y="8"/>
                </a:lnTo>
                <a:lnTo>
                  <a:pt x="2" y="10"/>
                </a:lnTo>
                <a:lnTo>
                  <a:pt x="2" y="12"/>
                </a:lnTo>
                <a:lnTo>
                  <a:pt x="0" y="16"/>
                </a:lnTo>
                <a:lnTo>
                  <a:pt x="2" y="18"/>
                </a:lnTo>
                <a:lnTo>
                  <a:pt x="2" y="21"/>
                </a:lnTo>
                <a:lnTo>
                  <a:pt x="2" y="23"/>
                </a:lnTo>
                <a:lnTo>
                  <a:pt x="4" y="25"/>
                </a:lnTo>
                <a:lnTo>
                  <a:pt x="7" y="27"/>
                </a:lnTo>
                <a:lnTo>
                  <a:pt x="9" y="29"/>
                </a:lnTo>
                <a:lnTo>
                  <a:pt x="11" y="29"/>
                </a:lnTo>
                <a:lnTo>
                  <a:pt x="13" y="31"/>
                </a:lnTo>
                <a:lnTo>
                  <a:pt x="16" y="31"/>
                </a:lnTo>
                <a:lnTo>
                  <a:pt x="18"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02" name="Freeform 109">
            <a:extLst>
              <a:ext uri="{FF2B5EF4-FFF2-40B4-BE49-F238E27FC236}">
                <a16:creationId xmlns:a16="http://schemas.microsoft.com/office/drawing/2014/main" id="{EC1C7451-3FC2-415D-8F1A-3827B7712219}"/>
              </a:ext>
            </a:extLst>
          </p:cNvPr>
          <p:cNvSpPr>
            <a:spLocks/>
          </p:cNvSpPr>
          <p:nvPr/>
        </p:nvSpPr>
        <p:spPr bwMode="auto">
          <a:xfrm>
            <a:off x="5146675" y="4214813"/>
            <a:ext cx="219075" cy="238125"/>
          </a:xfrm>
          <a:custGeom>
            <a:avLst/>
            <a:gdLst>
              <a:gd name="T0" fmla="*/ 0 w 138"/>
              <a:gd name="T1" fmla="*/ 2147483646 h 150"/>
              <a:gd name="T2" fmla="*/ 2147483646 w 138"/>
              <a:gd name="T3" fmla="*/ 2147483646 h 150"/>
              <a:gd name="T4" fmla="*/ 2147483646 w 138"/>
              <a:gd name="T5" fmla="*/ 2147483646 h 150"/>
              <a:gd name="T6" fmla="*/ 2147483646 w 138"/>
              <a:gd name="T7" fmla="*/ 2147483646 h 150"/>
              <a:gd name="T8" fmla="*/ 2147483646 w 138"/>
              <a:gd name="T9" fmla="*/ 2147483646 h 150"/>
              <a:gd name="T10" fmla="*/ 2147483646 w 138"/>
              <a:gd name="T11" fmla="*/ 2147483646 h 150"/>
              <a:gd name="T12" fmla="*/ 2147483646 w 138"/>
              <a:gd name="T13" fmla="*/ 2147483646 h 150"/>
              <a:gd name="T14" fmla="*/ 2147483646 w 138"/>
              <a:gd name="T15" fmla="*/ 2147483646 h 150"/>
              <a:gd name="T16" fmla="*/ 2147483646 w 138"/>
              <a:gd name="T17" fmla="*/ 2147483646 h 150"/>
              <a:gd name="T18" fmla="*/ 2147483646 w 138"/>
              <a:gd name="T19" fmla="*/ 2147483646 h 150"/>
              <a:gd name="T20" fmla="*/ 2147483646 w 138"/>
              <a:gd name="T21" fmla="*/ 2147483646 h 150"/>
              <a:gd name="T22" fmla="*/ 2147483646 w 138"/>
              <a:gd name="T23" fmla="*/ 2147483646 h 150"/>
              <a:gd name="T24" fmla="*/ 2147483646 w 138"/>
              <a:gd name="T25" fmla="*/ 2147483646 h 150"/>
              <a:gd name="T26" fmla="*/ 2147483646 w 138"/>
              <a:gd name="T27" fmla="*/ 2147483646 h 150"/>
              <a:gd name="T28" fmla="*/ 2147483646 w 138"/>
              <a:gd name="T29" fmla="*/ 2147483646 h 150"/>
              <a:gd name="T30" fmla="*/ 2147483646 w 138"/>
              <a:gd name="T31" fmla="*/ 2147483646 h 150"/>
              <a:gd name="T32" fmla="*/ 2147483646 w 138"/>
              <a:gd name="T33" fmla="*/ 2147483646 h 150"/>
              <a:gd name="T34" fmla="*/ 2147483646 w 138"/>
              <a:gd name="T35" fmla="*/ 2147483646 h 150"/>
              <a:gd name="T36" fmla="*/ 2147483646 w 138"/>
              <a:gd name="T37" fmla="*/ 2147483646 h 150"/>
              <a:gd name="T38" fmla="*/ 2147483646 w 138"/>
              <a:gd name="T39" fmla="*/ 2147483646 h 150"/>
              <a:gd name="T40" fmla="*/ 2147483646 w 138"/>
              <a:gd name="T41" fmla="*/ 2147483646 h 150"/>
              <a:gd name="T42" fmla="*/ 2147483646 w 138"/>
              <a:gd name="T43" fmla="*/ 0 h 150"/>
              <a:gd name="T44" fmla="*/ 2147483646 w 138"/>
              <a:gd name="T45" fmla="*/ 0 h 150"/>
              <a:gd name="T46" fmla="*/ 2147483646 w 138"/>
              <a:gd name="T47" fmla="*/ 2147483646 h 150"/>
              <a:gd name="T48" fmla="*/ 2147483646 w 138"/>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8" h="150">
                <a:moveTo>
                  <a:pt x="0" y="90"/>
                </a:moveTo>
                <a:lnTo>
                  <a:pt x="2" y="100"/>
                </a:lnTo>
                <a:lnTo>
                  <a:pt x="5" y="108"/>
                </a:lnTo>
                <a:lnTo>
                  <a:pt x="9" y="117"/>
                </a:lnTo>
                <a:lnTo>
                  <a:pt x="14" y="125"/>
                </a:lnTo>
                <a:lnTo>
                  <a:pt x="20" y="134"/>
                </a:lnTo>
                <a:lnTo>
                  <a:pt x="29" y="140"/>
                </a:lnTo>
                <a:lnTo>
                  <a:pt x="38" y="144"/>
                </a:lnTo>
                <a:lnTo>
                  <a:pt x="47" y="148"/>
                </a:lnTo>
                <a:lnTo>
                  <a:pt x="59" y="150"/>
                </a:lnTo>
                <a:lnTo>
                  <a:pt x="70" y="150"/>
                </a:lnTo>
                <a:lnTo>
                  <a:pt x="81" y="150"/>
                </a:lnTo>
                <a:lnTo>
                  <a:pt x="90" y="148"/>
                </a:lnTo>
                <a:lnTo>
                  <a:pt x="99" y="144"/>
                </a:lnTo>
                <a:lnTo>
                  <a:pt x="108" y="140"/>
                </a:lnTo>
                <a:lnTo>
                  <a:pt x="117" y="134"/>
                </a:lnTo>
                <a:lnTo>
                  <a:pt x="124" y="125"/>
                </a:lnTo>
                <a:lnTo>
                  <a:pt x="129" y="117"/>
                </a:lnTo>
                <a:lnTo>
                  <a:pt x="133" y="108"/>
                </a:lnTo>
                <a:lnTo>
                  <a:pt x="135" y="100"/>
                </a:lnTo>
                <a:lnTo>
                  <a:pt x="138" y="90"/>
                </a:lnTo>
                <a:lnTo>
                  <a:pt x="138" y="0"/>
                </a:lnTo>
                <a:lnTo>
                  <a:pt x="2" y="0"/>
                </a:lnTo>
                <a:lnTo>
                  <a:pt x="2" y="9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03" name="Freeform 110">
            <a:extLst>
              <a:ext uri="{FF2B5EF4-FFF2-40B4-BE49-F238E27FC236}">
                <a16:creationId xmlns:a16="http://schemas.microsoft.com/office/drawing/2014/main" id="{119F2BB9-098A-4645-BDD5-667D3376C4E7}"/>
              </a:ext>
            </a:extLst>
          </p:cNvPr>
          <p:cNvSpPr>
            <a:spLocks/>
          </p:cNvSpPr>
          <p:nvPr/>
        </p:nvSpPr>
        <p:spPr bwMode="auto">
          <a:xfrm>
            <a:off x="5314950" y="3795713"/>
            <a:ext cx="247650" cy="228600"/>
          </a:xfrm>
          <a:custGeom>
            <a:avLst/>
            <a:gdLst>
              <a:gd name="T0" fmla="*/ 2147483646 w 156"/>
              <a:gd name="T1" fmla="*/ 2147483646 h 144"/>
              <a:gd name="T2" fmla="*/ 2147483646 w 156"/>
              <a:gd name="T3" fmla="*/ 2147483646 h 144"/>
              <a:gd name="T4" fmla="*/ 2147483646 w 156"/>
              <a:gd name="T5" fmla="*/ 2147483646 h 144"/>
              <a:gd name="T6" fmla="*/ 2147483646 w 156"/>
              <a:gd name="T7" fmla="*/ 2147483646 h 144"/>
              <a:gd name="T8" fmla="*/ 2147483646 w 156"/>
              <a:gd name="T9" fmla="*/ 2147483646 h 144"/>
              <a:gd name="T10" fmla="*/ 2147483646 w 156"/>
              <a:gd name="T11" fmla="*/ 2147483646 h 144"/>
              <a:gd name="T12" fmla="*/ 2147483646 w 156"/>
              <a:gd name="T13" fmla="*/ 2147483646 h 144"/>
              <a:gd name="T14" fmla="*/ 2147483646 w 156"/>
              <a:gd name="T15" fmla="*/ 2147483646 h 144"/>
              <a:gd name="T16" fmla="*/ 2147483646 w 156"/>
              <a:gd name="T17" fmla="*/ 2147483646 h 144"/>
              <a:gd name="T18" fmla="*/ 2147483646 w 156"/>
              <a:gd name="T19" fmla="*/ 2147483646 h 144"/>
              <a:gd name="T20" fmla="*/ 2147483646 w 156"/>
              <a:gd name="T21" fmla="*/ 2147483646 h 144"/>
              <a:gd name="T22" fmla="*/ 2147483646 w 156"/>
              <a:gd name="T23" fmla="*/ 2147483646 h 144"/>
              <a:gd name="T24" fmla="*/ 2147483646 w 156"/>
              <a:gd name="T25" fmla="*/ 2147483646 h 144"/>
              <a:gd name="T26" fmla="*/ 2147483646 w 156"/>
              <a:gd name="T27" fmla="*/ 2147483646 h 144"/>
              <a:gd name="T28" fmla="*/ 2147483646 w 156"/>
              <a:gd name="T29" fmla="*/ 2147483646 h 144"/>
              <a:gd name="T30" fmla="*/ 2147483646 w 156"/>
              <a:gd name="T31" fmla="*/ 2147483646 h 144"/>
              <a:gd name="T32" fmla="*/ 2147483646 w 156"/>
              <a:gd name="T33" fmla="*/ 2147483646 h 144"/>
              <a:gd name="T34" fmla="*/ 2147483646 w 156"/>
              <a:gd name="T35" fmla="*/ 2147483646 h 144"/>
              <a:gd name="T36" fmla="*/ 2147483646 w 156"/>
              <a:gd name="T37" fmla="*/ 2147483646 h 144"/>
              <a:gd name="T38" fmla="*/ 2147483646 w 156"/>
              <a:gd name="T39" fmla="*/ 0 h 144"/>
              <a:gd name="T40" fmla="*/ 2147483646 w 156"/>
              <a:gd name="T41" fmla="*/ 0 h 144"/>
              <a:gd name="T42" fmla="*/ 2147483646 w 156"/>
              <a:gd name="T43" fmla="*/ 0 h 144"/>
              <a:gd name="T44" fmla="*/ 2147483646 w 156"/>
              <a:gd name="T45" fmla="*/ 2147483646 h 144"/>
              <a:gd name="T46" fmla="*/ 2147483646 w 156"/>
              <a:gd name="T47" fmla="*/ 2147483646 h 144"/>
              <a:gd name="T48" fmla="*/ 2147483646 w 156"/>
              <a:gd name="T49" fmla="*/ 2147483646 h 144"/>
              <a:gd name="T50" fmla="*/ 2147483646 w 156"/>
              <a:gd name="T51" fmla="*/ 2147483646 h 144"/>
              <a:gd name="T52" fmla="*/ 2147483646 w 156"/>
              <a:gd name="T53" fmla="*/ 2147483646 h 144"/>
              <a:gd name="T54" fmla="*/ 2147483646 w 156"/>
              <a:gd name="T55" fmla="*/ 2147483646 h 144"/>
              <a:gd name="T56" fmla="*/ 2147483646 w 156"/>
              <a:gd name="T57" fmla="*/ 2147483646 h 144"/>
              <a:gd name="T58" fmla="*/ 0 w 156"/>
              <a:gd name="T59" fmla="*/ 2147483646 h 144"/>
              <a:gd name="T60" fmla="*/ 0 w 156"/>
              <a:gd name="T61" fmla="*/ 2147483646 h 144"/>
              <a:gd name="T62" fmla="*/ 0 w 156"/>
              <a:gd name="T63" fmla="*/ 2147483646 h 144"/>
              <a:gd name="T64" fmla="*/ 2147483646 w 156"/>
              <a:gd name="T65" fmla="*/ 2147483646 h 144"/>
              <a:gd name="T66" fmla="*/ 2147483646 w 156"/>
              <a:gd name="T67" fmla="*/ 2147483646 h 144"/>
              <a:gd name="T68" fmla="*/ 2147483646 w 156"/>
              <a:gd name="T69" fmla="*/ 2147483646 h 144"/>
              <a:gd name="T70" fmla="*/ 2147483646 w 156"/>
              <a:gd name="T71" fmla="*/ 2147483646 h 144"/>
              <a:gd name="T72" fmla="*/ 2147483646 w 156"/>
              <a:gd name="T73" fmla="*/ 2147483646 h 144"/>
              <a:gd name="T74" fmla="*/ 2147483646 w 156"/>
              <a:gd name="T75" fmla="*/ 2147483646 h 144"/>
              <a:gd name="T76" fmla="*/ 2147483646 w 156"/>
              <a:gd name="T77" fmla="*/ 2147483646 h 144"/>
              <a:gd name="T78" fmla="*/ 2147483646 w 156"/>
              <a:gd name="T79" fmla="*/ 2147483646 h 144"/>
              <a:gd name="T80" fmla="*/ 2147483646 w 156"/>
              <a:gd name="T81" fmla="*/ 2147483646 h 144"/>
              <a:gd name="T82" fmla="*/ 2147483646 w 156"/>
              <a:gd name="T83" fmla="*/ 2147483646 h 1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56" h="144">
                <a:moveTo>
                  <a:pt x="77" y="142"/>
                </a:moveTo>
                <a:lnTo>
                  <a:pt x="90" y="142"/>
                </a:lnTo>
                <a:lnTo>
                  <a:pt x="102" y="140"/>
                </a:lnTo>
                <a:lnTo>
                  <a:pt x="113" y="136"/>
                </a:lnTo>
                <a:lnTo>
                  <a:pt x="124" y="130"/>
                </a:lnTo>
                <a:lnTo>
                  <a:pt x="133" y="121"/>
                </a:lnTo>
                <a:lnTo>
                  <a:pt x="140" y="113"/>
                </a:lnTo>
                <a:lnTo>
                  <a:pt x="147" y="104"/>
                </a:lnTo>
                <a:lnTo>
                  <a:pt x="151" y="94"/>
                </a:lnTo>
                <a:lnTo>
                  <a:pt x="154" y="84"/>
                </a:lnTo>
                <a:lnTo>
                  <a:pt x="156" y="71"/>
                </a:lnTo>
                <a:lnTo>
                  <a:pt x="154" y="61"/>
                </a:lnTo>
                <a:lnTo>
                  <a:pt x="151" y="48"/>
                </a:lnTo>
                <a:lnTo>
                  <a:pt x="147" y="38"/>
                </a:lnTo>
                <a:lnTo>
                  <a:pt x="140" y="29"/>
                </a:lnTo>
                <a:lnTo>
                  <a:pt x="133" y="21"/>
                </a:lnTo>
                <a:lnTo>
                  <a:pt x="124" y="12"/>
                </a:lnTo>
                <a:lnTo>
                  <a:pt x="113" y="8"/>
                </a:lnTo>
                <a:lnTo>
                  <a:pt x="102" y="2"/>
                </a:lnTo>
                <a:lnTo>
                  <a:pt x="90" y="0"/>
                </a:lnTo>
                <a:lnTo>
                  <a:pt x="77" y="0"/>
                </a:lnTo>
                <a:lnTo>
                  <a:pt x="66" y="0"/>
                </a:lnTo>
                <a:lnTo>
                  <a:pt x="52" y="2"/>
                </a:lnTo>
                <a:lnTo>
                  <a:pt x="41" y="8"/>
                </a:lnTo>
                <a:lnTo>
                  <a:pt x="32" y="12"/>
                </a:lnTo>
                <a:lnTo>
                  <a:pt x="23" y="21"/>
                </a:lnTo>
                <a:lnTo>
                  <a:pt x="14" y="29"/>
                </a:lnTo>
                <a:lnTo>
                  <a:pt x="9" y="38"/>
                </a:lnTo>
                <a:lnTo>
                  <a:pt x="5" y="48"/>
                </a:lnTo>
                <a:lnTo>
                  <a:pt x="0" y="61"/>
                </a:lnTo>
                <a:lnTo>
                  <a:pt x="0" y="71"/>
                </a:lnTo>
                <a:lnTo>
                  <a:pt x="0" y="84"/>
                </a:lnTo>
                <a:lnTo>
                  <a:pt x="5" y="94"/>
                </a:lnTo>
                <a:lnTo>
                  <a:pt x="9" y="104"/>
                </a:lnTo>
                <a:lnTo>
                  <a:pt x="14" y="113"/>
                </a:lnTo>
                <a:lnTo>
                  <a:pt x="23" y="121"/>
                </a:lnTo>
                <a:lnTo>
                  <a:pt x="32" y="130"/>
                </a:lnTo>
                <a:lnTo>
                  <a:pt x="41" y="136"/>
                </a:lnTo>
                <a:lnTo>
                  <a:pt x="52" y="140"/>
                </a:lnTo>
                <a:lnTo>
                  <a:pt x="66" y="142"/>
                </a:lnTo>
                <a:lnTo>
                  <a:pt x="77" y="14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04" name="Line 111">
            <a:extLst>
              <a:ext uri="{FF2B5EF4-FFF2-40B4-BE49-F238E27FC236}">
                <a16:creationId xmlns:a16="http://schemas.microsoft.com/office/drawing/2014/main" id="{ED25AC8D-D231-4CB3-AC92-0065CF2403C8}"/>
              </a:ext>
            </a:extLst>
          </p:cNvPr>
          <p:cNvSpPr>
            <a:spLocks noChangeShapeType="1"/>
          </p:cNvSpPr>
          <p:nvPr/>
        </p:nvSpPr>
        <p:spPr bwMode="auto">
          <a:xfrm>
            <a:off x="5437188" y="2917825"/>
            <a:ext cx="0" cy="831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5" name="Freeform 112">
            <a:extLst>
              <a:ext uri="{FF2B5EF4-FFF2-40B4-BE49-F238E27FC236}">
                <a16:creationId xmlns:a16="http://schemas.microsoft.com/office/drawing/2014/main" id="{7786FBBE-A94E-4B35-AFED-7C31A8A8B53B}"/>
              </a:ext>
            </a:extLst>
          </p:cNvPr>
          <p:cNvSpPr>
            <a:spLocks noEditPoints="1"/>
          </p:cNvSpPr>
          <p:nvPr/>
        </p:nvSpPr>
        <p:spPr bwMode="auto">
          <a:xfrm>
            <a:off x="5400675" y="3892550"/>
            <a:ext cx="71438" cy="31750"/>
          </a:xfrm>
          <a:custGeom>
            <a:avLst/>
            <a:gdLst>
              <a:gd name="T0" fmla="*/ 0 w 45"/>
              <a:gd name="T1" fmla="*/ 0 h 20"/>
              <a:gd name="T2" fmla="*/ 2147483646 w 45"/>
              <a:gd name="T3" fmla="*/ 0 h 20"/>
              <a:gd name="T4" fmla="*/ 2147483646 w 45"/>
              <a:gd name="T5" fmla="*/ 2147483646 h 20"/>
              <a:gd name="T6" fmla="*/ 0 w 45"/>
              <a:gd name="T7" fmla="*/ 2147483646 h 20"/>
              <a:gd name="T8" fmla="*/ 0 w 45"/>
              <a:gd name="T9" fmla="*/ 0 h 20"/>
              <a:gd name="T10" fmla="*/ 0 w 45"/>
              <a:gd name="T11" fmla="*/ 0 h 20"/>
              <a:gd name="T12" fmla="*/ 0 w 45"/>
              <a:gd name="T13" fmla="*/ 2147483646 h 20"/>
              <a:gd name="T14" fmla="*/ 2147483646 w 45"/>
              <a:gd name="T15" fmla="*/ 2147483646 h 20"/>
              <a:gd name="T16" fmla="*/ 2147483646 w 45"/>
              <a:gd name="T17" fmla="*/ 2147483646 h 20"/>
              <a:gd name="T18" fmla="*/ 0 w 45"/>
              <a:gd name="T19" fmla="*/ 2147483646 h 20"/>
              <a:gd name="T20" fmla="*/ 0 w 45"/>
              <a:gd name="T21" fmla="*/ 2147483646 h 20"/>
              <a:gd name="T22" fmla="*/ 0 w 45"/>
              <a:gd name="T23" fmla="*/ 2147483646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5" h="20">
                <a:moveTo>
                  <a:pt x="0" y="0"/>
                </a:moveTo>
                <a:lnTo>
                  <a:pt x="45" y="0"/>
                </a:lnTo>
                <a:lnTo>
                  <a:pt x="45" y="6"/>
                </a:lnTo>
                <a:lnTo>
                  <a:pt x="0" y="6"/>
                </a:lnTo>
                <a:lnTo>
                  <a:pt x="0" y="0"/>
                </a:lnTo>
                <a:close/>
                <a:moveTo>
                  <a:pt x="0" y="16"/>
                </a:moveTo>
                <a:lnTo>
                  <a:pt x="45" y="16"/>
                </a:lnTo>
                <a:lnTo>
                  <a:pt x="45" y="20"/>
                </a:lnTo>
                <a:lnTo>
                  <a:pt x="0" y="2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06" name="Line 113">
            <a:extLst>
              <a:ext uri="{FF2B5EF4-FFF2-40B4-BE49-F238E27FC236}">
                <a16:creationId xmlns:a16="http://schemas.microsoft.com/office/drawing/2014/main" id="{15667B7B-4ED7-4B7B-8888-372263555D14}"/>
              </a:ext>
            </a:extLst>
          </p:cNvPr>
          <p:cNvSpPr>
            <a:spLocks noChangeShapeType="1"/>
          </p:cNvSpPr>
          <p:nvPr/>
        </p:nvSpPr>
        <p:spPr bwMode="auto">
          <a:xfrm>
            <a:off x="5186363" y="2917825"/>
            <a:ext cx="3175" cy="12969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07" name="Freeform 114">
            <a:extLst>
              <a:ext uri="{FF2B5EF4-FFF2-40B4-BE49-F238E27FC236}">
                <a16:creationId xmlns:a16="http://schemas.microsoft.com/office/drawing/2014/main" id="{5D3E86B4-0497-41C8-A43D-4004C2B4DB6C}"/>
              </a:ext>
            </a:extLst>
          </p:cNvPr>
          <p:cNvSpPr>
            <a:spLocks/>
          </p:cNvSpPr>
          <p:nvPr/>
        </p:nvSpPr>
        <p:spPr bwMode="auto">
          <a:xfrm>
            <a:off x="5326063" y="4021138"/>
            <a:ext cx="111125" cy="193675"/>
          </a:xfrm>
          <a:custGeom>
            <a:avLst/>
            <a:gdLst>
              <a:gd name="T0" fmla="*/ 2147483646 w 70"/>
              <a:gd name="T1" fmla="*/ 0 h 122"/>
              <a:gd name="T2" fmla="*/ 2147483646 w 70"/>
              <a:gd name="T3" fmla="*/ 2147483646 h 122"/>
              <a:gd name="T4" fmla="*/ 0 w 70"/>
              <a:gd name="T5" fmla="*/ 2147483646 h 122"/>
              <a:gd name="T6" fmla="*/ 0 w 70"/>
              <a:gd name="T7" fmla="*/ 2147483646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0" h="122">
                <a:moveTo>
                  <a:pt x="70" y="0"/>
                </a:moveTo>
                <a:lnTo>
                  <a:pt x="70" y="61"/>
                </a:lnTo>
                <a:lnTo>
                  <a:pt x="0" y="61"/>
                </a:lnTo>
                <a:lnTo>
                  <a:pt x="0" y="122"/>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08" name="Freeform 115">
            <a:extLst>
              <a:ext uri="{FF2B5EF4-FFF2-40B4-BE49-F238E27FC236}">
                <a16:creationId xmlns:a16="http://schemas.microsoft.com/office/drawing/2014/main" id="{A0C978EE-0C89-4783-B153-4AFC2A056763}"/>
              </a:ext>
            </a:extLst>
          </p:cNvPr>
          <p:cNvSpPr>
            <a:spLocks/>
          </p:cNvSpPr>
          <p:nvPr/>
        </p:nvSpPr>
        <p:spPr bwMode="auto">
          <a:xfrm>
            <a:off x="4043363" y="4021138"/>
            <a:ext cx="111125" cy="193675"/>
          </a:xfrm>
          <a:custGeom>
            <a:avLst/>
            <a:gdLst>
              <a:gd name="T0" fmla="*/ 2147483646 w 70"/>
              <a:gd name="T1" fmla="*/ 0 h 122"/>
              <a:gd name="T2" fmla="*/ 2147483646 w 70"/>
              <a:gd name="T3" fmla="*/ 2147483646 h 122"/>
              <a:gd name="T4" fmla="*/ 0 w 70"/>
              <a:gd name="T5" fmla="*/ 2147483646 h 122"/>
              <a:gd name="T6" fmla="*/ 0 w 70"/>
              <a:gd name="T7" fmla="*/ 2147483646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0" h="122">
                <a:moveTo>
                  <a:pt x="70" y="0"/>
                </a:moveTo>
                <a:lnTo>
                  <a:pt x="70" y="61"/>
                </a:lnTo>
                <a:lnTo>
                  <a:pt x="0" y="61"/>
                </a:lnTo>
                <a:lnTo>
                  <a:pt x="0" y="122"/>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09" name="Freeform 116">
            <a:extLst>
              <a:ext uri="{FF2B5EF4-FFF2-40B4-BE49-F238E27FC236}">
                <a16:creationId xmlns:a16="http://schemas.microsoft.com/office/drawing/2014/main" id="{E1824A3C-377B-48C3-9315-6918B8E56CDE}"/>
              </a:ext>
            </a:extLst>
          </p:cNvPr>
          <p:cNvSpPr>
            <a:spLocks/>
          </p:cNvSpPr>
          <p:nvPr/>
        </p:nvSpPr>
        <p:spPr bwMode="auto">
          <a:xfrm>
            <a:off x="2693988" y="4021138"/>
            <a:ext cx="114300" cy="193675"/>
          </a:xfrm>
          <a:custGeom>
            <a:avLst/>
            <a:gdLst>
              <a:gd name="T0" fmla="*/ 2147483646 w 72"/>
              <a:gd name="T1" fmla="*/ 0 h 122"/>
              <a:gd name="T2" fmla="*/ 2147483646 w 72"/>
              <a:gd name="T3" fmla="*/ 2147483646 h 122"/>
              <a:gd name="T4" fmla="*/ 0 w 72"/>
              <a:gd name="T5" fmla="*/ 2147483646 h 122"/>
              <a:gd name="T6" fmla="*/ 0 w 72"/>
              <a:gd name="T7" fmla="*/ 2147483646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 h="122">
                <a:moveTo>
                  <a:pt x="70" y="0"/>
                </a:moveTo>
                <a:lnTo>
                  <a:pt x="72" y="61"/>
                </a:lnTo>
                <a:lnTo>
                  <a:pt x="0" y="61"/>
                </a:lnTo>
                <a:lnTo>
                  <a:pt x="0" y="122"/>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10" name="Freeform 117">
            <a:extLst>
              <a:ext uri="{FF2B5EF4-FFF2-40B4-BE49-F238E27FC236}">
                <a16:creationId xmlns:a16="http://schemas.microsoft.com/office/drawing/2014/main" id="{5ADC2489-4677-4138-8DED-6795723AB446}"/>
              </a:ext>
            </a:extLst>
          </p:cNvPr>
          <p:cNvSpPr>
            <a:spLocks/>
          </p:cNvSpPr>
          <p:nvPr/>
        </p:nvSpPr>
        <p:spPr bwMode="auto">
          <a:xfrm>
            <a:off x="6583363" y="4021138"/>
            <a:ext cx="114300" cy="193675"/>
          </a:xfrm>
          <a:custGeom>
            <a:avLst/>
            <a:gdLst>
              <a:gd name="T0" fmla="*/ 2147483646 w 72"/>
              <a:gd name="T1" fmla="*/ 0 h 122"/>
              <a:gd name="T2" fmla="*/ 2147483646 w 72"/>
              <a:gd name="T3" fmla="*/ 2147483646 h 122"/>
              <a:gd name="T4" fmla="*/ 0 w 72"/>
              <a:gd name="T5" fmla="*/ 2147483646 h 122"/>
              <a:gd name="T6" fmla="*/ 0 w 72"/>
              <a:gd name="T7" fmla="*/ 2147483646 h 1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 h="122">
                <a:moveTo>
                  <a:pt x="70" y="0"/>
                </a:moveTo>
                <a:lnTo>
                  <a:pt x="72" y="61"/>
                </a:lnTo>
                <a:lnTo>
                  <a:pt x="0" y="61"/>
                </a:lnTo>
                <a:lnTo>
                  <a:pt x="0" y="122"/>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11" name="Freeform 118">
            <a:extLst>
              <a:ext uri="{FF2B5EF4-FFF2-40B4-BE49-F238E27FC236}">
                <a16:creationId xmlns:a16="http://schemas.microsoft.com/office/drawing/2014/main" id="{EC06E22C-C6CB-41F3-8A35-4FEF98C6E1F1}"/>
              </a:ext>
            </a:extLst>
          </p:cNvPr>
          <p:cNvSpPr>
            <a:spLocks/>
          </p:cNvSpPr>
          <p:nvPr/>
        </p:nvSpPr>
        <p:spPr bwMode="auto">
          <a:xfrm>
            <a:off x="5251450" y="3881438"/>
            <a:ext cx="57150" cy="53975"/>
          </a:xfrm>
          <a:custGeom>
            <a:avLst/>
            <a:gdLst>
              <a:gd name="T0" fmla="*/ 0 w 36"/>
              <a:gd name="T1" fmla="*/ 0 h 34"/>
              <a:gd name="T2" fmla="*/ 0 w 36"/>
              <a:gd name="T3" fmla="*/ 2147483646 h 34"/>
              <a:gd name="T4" fmla="*/ 2147483646 w 36"/>
              <a:gd name="T5" fmla="*/ 2147483646 h 34"/>
              <a:gd name="T6" fmla="*/ 0 w 36"/>
              <a:gd name="T7" fmla="*/ 0 h 34"/>
              <a:gd name="T8" fmla="*/ 0 w 36"/>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4">
                <a:moveTo>
                  <a:pt x="0" y="0"/>
                </a:moveTo>
                <a:lnTo>
                  <a:pt x="0" y="34"/>
                </a:lnTo>
                <a:lnTo>
                  <a:pt x="36"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12" name="Line 119">
            <a:extLst>
              <a:ext uri="{FF2B5EF4-FFF2-40B4-BE49-F238E27FC236}">
                <a16:creationId xmlns:a16="http://schemas.microsoft.com/office/drawing/2014/main" id="{BAC3192F-4310-4B34-9410-91CEC05EF07F}"/>
              </a:ext>
            </a:extLst>
          </p:cNvPr>
          <p:cNvSpPr>
            <a:spLocks noChangeShapeType="1"/>
          </p:cNvSpPr>
          <p:nvPr/>
        </p:nvSpPr>
        <p:spPr bwMode="auto">
          <a:xfrm>
            <a:off x="5626100" y="2386013"/>
            <a:ext cx="0"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13" name="Rectangle 120">
            <a:extLst>
              <a:ext uri="{FF2B5EF4-FFF2-40B4-BE49-F238E27FC236}">
                <a16:creationId xmlns:a16="http://schemas.microsoft.com/office/drawing/2014/main" id="{599DED0B-12BD-4F07-8CC7-C2A2F99C784B}"/>
              </a:ext>
            </a:extLst>
          </p:cNvPr>
          <p:cNvSpPr>
            <a:spLocks noChangeArrowheads="1"/>
          </p:cNvSpPr>
          <p:nvPr/>
        </p:nvSpPr>
        <p:spPr bwMode="auto">
          <a:xfrm>
            <a:off x="5705475" y="2230438"/>
            <a:ext cx="1428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D</a:t>
            </a:r>
            <a:endParaRPr lang="zh-CN" altLang="zh-CN"/>
          </a:p>
        </p:txBody>
      </p:sp>
      <p:sp>
        <p:nvSpPr>
          <p:cNvPr id="55414" name="Rectangle 121">
            <a:extLst>
              <a:ext uri="{FF2B5EF4-FFF2-40B4-BE49-F238E27FC236}">
                <a16:creationId xmlns:a16="http://schemas.microsoft.com/office/drawing/2014/main" id="{4D60E03E-3923-40F2-80C5-75D5850851CF}"/>
              </a:ext>
            </a:extLst>
          </p:cNvPr>
          <p:cNvSpPr>
            <a:spLocks noChangeArrowheads="1"/>
          </p:cNvSpPr>
          <p:nvPr/>
        </p:nvSpPr>
        <p:spPr bwMode="auto">
          <a:xfrm>
            <a:off x="5791200"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415" name="Rectangle 122">
            <a:extLst>
              <a:ext uri="{FF2B5EF4-FFF2-40B4-BE49-F238E27FC236}">
                <a16:creationId xmlns:a16="http://schemas.microsoft.com/office/drawing/2014/main" id="{CB3354FE-0189-43EC-B99D-7B5926F0C550}"/>
              </a:ext>
            </a:extLst>
          </p:cNvPr>
          <p:cNvSpPr>
            <a:spLocks noChangeArrowheads="1"/>
          </p:cNvSpPr>
          <p:nvPr/>
        </p:nvSpPr>
        <p:spPr bwMode="auto">
          <a:xfrm>
            <a:off x="5856288" y="2230438"/>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416" name="Rectangle 123">
            <a:extLst>
              <a:ext uri="{FF2B5EF4-FFF2-40B4-BE49-F238E27FC236}">
                <a16:creationId xmlns:a16="http://schemas.microsoft.com/office/drawing/2014/main" id="{A6494D6D-C578-41B3-A7A2-85D52DADB8B1}"/>
              </a:ext>
            </a:extLst>
          </p:cNvPr>
          <p:cNvSpPr>
            <a:spLocks noChangeArrowheads="1"/>
          </p:cNvSpPr>
          <p:nvPr/>
        </p:nvSpPr>
        <p:spPr bwMode="auto">
          <a:xfrm>
            <a:off x="5891213"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417" name="Freeform 124">
            <a:extLst>
              <a:ext uri="{FF2B5EF4-FFF2-40B4-BE49-F238E27FC236}">
                <a16:creationId xmlns:a16="http://schemas.microsoft.com/office/drawing/2014/main" id="{2D1F05AB-0455-4649-80C5-85BC43D8D574}"/>
              </a:ext>
            </a:extLst>
          </p:cNvPr>
          <p:cNvSpPr>
            <a:spLocks/>
          </p:cNvSpPr>
          <p:nvPr/>
        </p:nvSpPr>
        <p:spPr bwMode="auto">
          <a:xfrm>
            <a:off x="5862638"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0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0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18" y="31"/>
                </a:lnTo>
                <a:lnTo>
                  <a:pt x="23" y="31"/>
                </a:lnTo>
                <a:lnTo>
                  <a:pt x="25" y="29"/>
                </a:lnTo>
                <a:lnTo>
                  <a:pt x="27" y="29"/>
                </a:lnTo>
                <a:lnTo>
                  <a:pt x="30" y="27"/>
                </a:lnTo>
                <a:lnTo>
                  <a:pt x="30" y="25"/>
                </a:lnTo>
                <a:lnTo>
                  <a:pt x="32" y="23"/>
                </a:lnTo>
                <a:lnTo>
                  <a:pt x="32" y="21"/>
                </a:lnTo>
                <a:lnTo>
                  <a:pt x="34" y="18"/>
                </a:lnTo>
                <a:lnTo>
                  <a:pt x="34" y="16"/>
                </a:lnTo>
                <a:lnTo>
                  <a:pt x="34" y="12"/>
                </a:lnTo>
                <a:lnTo>
                  <a:pt x="32" y="10"/>
                </a:lnTo>
                <a:lnTo>
                  <a:pt x="32" y="8"/>
                </a:lnTo>
                <a:lnTo>
                  <a:pt x="30" y="6"/>
                </a:lnTo>
                <a:lnTo>
                  <a:pt x="30" y="4"/>
                </a:lnTo>
                <a:lnTo>
                  <a:pt x="27" y="2"/>
                </a:lnTo>
                <a:lnTo>
                  <a:pt x="25" y="2"/>
                </a:lnTo>
                <a:lnTo>
                  <a:pt x="23" y="0"/>
                </a:lnTo>
                <a:lnTo>
                  <a:pt x="18" y="0"/>
                </a:lnTo>
                <a:lnTo>
                  <a:pt x="16" y="0"/>
                </a:lnTo>
                <a:lnTo>
                  <a:pt x="14" y="0"/>
                </a:lnTo>
                <a:lnTo>
                  <a:pt x="12" y="0"/>
                </a:lnTo>
                <a:lnTo>
                  <a:pt x="9" y="2"/>
                </a:lnTo>
                <a:lnTo>
                  <a:pt x="7" y="2"/>
                </a:lnTo>
                <a:lnTo>
                  <a:pt x="5" y="4"/>
                </a:lnTo>
                <a:lnTo>
                  <a:pt x="3" y="6"/>
                </a:lnTo>
                <a:lnTo>
                  <a:pt x="0" y="8"/>
                </a:lnTo>
                <a:lnTo>
                  <a:pt x="0" y="10"/>
                </a:lnTo>
                <a:lnTo>
                  <a:pt x="0" y="12"/>
                </a:lnTo>
                <a:lnTo>
                  <a:pt x="0" y="16"/>
                </a:lnTo>
                <a:lnTo>
                  <a:pt x="0" y="18"/>
                </a:lnTo>
                <a:lnTo>
                  <a:pt x="0" y="21"/>
                </a:lnTo>
                <a:lnTo>
                  <a:pt x="0" y="23"/>
                </a:lnTo>
                <a:lnTo>
                  <a:pt x="3" y="25"/>
                </a:lnTo>
                <a:lnTo>
                  <a:pt x="5" y="27"/>
                </a:lnTo>
                <a:lnTo>
                  <a:pt x="7" y="29"/>
                </a:lnTo>
                <a:lnTo>
                  <a:pt x="9" y="29"/>
                </a:lnTo>
                <a:lnTo>
                  <a:pt x="12" y="31"/>
                </a:lnTo>
                <a:lnTo>
                  <a:pt x="14"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18" name="Freeform 125">
            <a:extLst>
              <a:ext uri="{FF2B5EF4-FFF2-40B4-BE49-F238E27FC236}">
                <a16:creationId xmlns:a16="http://schemas.microsoft.com/office/drawing/2014/main" id="{BE822CED-87EF-43C3-9DE2-B8EC0924D43C}"/>
              </a:ext>
            </a:extLst>
          </p:cNvPr>
          <p:cNvSpPr>
            <a:spLocks/>
          </p:cNvSpPr>
          <p:nvPr/>
        </p:nvSpPr>
        <p:spPr bwMode="auto">
          <a:xfrm>
            <a:off x="6669088" y="3735388"/>
            <a:ext cx="53975" cy="50800"/>
          </a:xfrm>
          <a:custGeom>
            <a:avLst/>
            <a:gdLst>
              <a:gd name="T0" fmla="*/ 2147483646 w 34"/>
              <a:gd name="T1" fmla="*/ 0 h 32"/>
              <a:gd name="T2" fmla="*/ 0 w 34"/>
              <a:gd name="T3" fmla="*/ 0 h 32"/>
              <a:gd name="T4" fmla="*/ 2147483646 w 34"/>
              <a:gd name="T5" fmla="*/ 2147483646 h 32"/>
              <a:gd name="T6" fmla="*/ 2147483646 w 34"/>
              <a:gd name="T7" fmla="*/ 0 h 32"/>
              <a:gd name="T8" fmla="*/ 2147483646 w 34"/>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2">
                <a:moveTo>
                  <a:pt x="34" y="0"/>
                </a:moveTo>
                <a:lnTo>
                  <a:pt x="0" y="0"/>
                </a:lnTo>
                <a:lnTo>
                  <a:pt x="16" y="32"/>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19" name="Freeform 126">
            <a:extLst>
              <a:ext uri="{FF2B5EF4-FFF2-40B4-BE49-F238E27FC236}">
                <a16:creationId xmlns:a16="http://schemas.microsoft.com/office/drawing/2014/main" id="{24EE48E9-4779-4E58-B98A-8326790C457B}"/>
              </a:ext>
            </a:extLst>
          </p:cNvPr>
          <p:cNvSpPr>
            <a:spLocks/>
          </p:cNvSpPr>
          <p:nvPr/>
        </p:nvSpPr>
        <p:spPr bwMode="auto">
          <a:xfrm>
            <a:off x="6367463" y="2386013"/>
            <a:ext cx="1049337" cy="153987"/>
          </a:xfrm>
          <a:custGeom>
            <a:avLst/>
            <a:gdLst>
              <a:gd name="T0" fmla="*/ 2147483646 w 661"/>
              <a:gd name="T1" fmla="*/ 2147483646 h 97"/>
              <a:gd name="T2" fmla="*/ 2147483646 w 661"/>
              <a:gd name="T3" fmla="*/ 0 h 97"/>
              <a:gd name="T4" fmla="*/ 0 w 661"/>
              <a:gd name="T5" fmla="*/ 0 h 97"/>
              <a:gd name="T6" fmla="*/ 0 w 661"/>
              <a:gd name="T7" fmla="*/ 2147483646 h 97"/>
              <a:gd name="T8" fmla="*/ 2147483646 w 661"/>
              <a:gd name="T9" fmla="*/ 2147483646 h 97"/>
              <a:gd name="T10" fmla="*/ 2147483646 w 661"/>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1" h="97">
                <a:moveTo>
                  <a:pt x="661" y="97"/>
                </a:moveTo>
                <a:lnTo>
                  <a:pt x="661" y="0"/>
                </a:lnTo>
                <a:lnTo>
                  <a:pt x="0" y="0"/>
                </a:lnTo>
                <a:lnTo>
                  <a:pt x="0" y="97"/>
                </a:lnTo>
                <a:lnTo>
                  <a:pt x="661"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20" name="Rectangle 127">
            <a:extLst>
              <a:ext uri="{FF2B5EF4-FFF2-40B4-BE49-F238E27FC236}">
                <a16:creationId xmlns:a16="http://schemas.microsoft.com/office/drawing/2014/main" id="{5B757DDE-A986-4EFD-8517-88B0EF9245F6}"/>
              </a:ext>
            </a:extLst>
          </p:cNvPr>
          <p:cNvSpPr>
            <a:spLocks noChangeArrowheads="1"/>
          </p:cNvSpPr>
          <p:nvPr/>
        </p:nvSpPr>
        <p:spPr bwMode="auto">
          <a:xfrm>
            <a:off x="6407150" y="2230438"/>
            <a:ext cx="1365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V</a:t>
            </a:r>
            <a:endParaRPr lang="zh-CN" altLang="zh-CN"/>
          </a:p>
        </p:txBody>
      </p:sp>
      <p:sp>
        <p:nvSpPr>
          <p:cNvPr id="55421" name="Rectangle 128">
            <a:extLst>
              <a:ext uri="{FF2B5EF4-FFF2-40B4-BE49-F238E27FC236}">
                <a16:creationId xmlns:a16="http://schemas.microsoft.com/office/drawing/2014/main" id="{BF28FDA9-9233-469B-A9C5-1EE389F5D4B7}"/>
              </a:ext>
            </a:extLst>
          </p:cNvPr>
          <p:cNvSpPr>
            <a:spLocks noChangeArrowheads="1"/>
          </p:cNvSpPr>
          <p:nvPr/>
        </p:nvSpPr>
        <p:spPr bwMode="auto">
          <a:xfrm>
            <a:off x="6626225" y="2230438"/>
            <a:ext cx="1285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422" name="Rectangle 129">
            <a:extLst>
              <a:ext uri="{FF2B5EF4-FFF2-40B4-BE49-F238E27FC236}">
                <a16:creationId xmlns:a16="http://schemas.microsoft.com/office/drawing/2014/main" id="{9198DC66-2FA2-44FE-B71F-E7BF0B85C6FE}"/>
              </a:ext>
            </a:extLst>
          </p:cNvPr>
          <p:cNvSpPr>
            <a:spLocks noChangeArrowheads="1"/>
          </p:cNvSpPr>
          <p:nvPr/>
        </p:nvSpPr>
        <p:spPr bwMode="auto">
          <a:xfrm>
            <a:off x="6700838"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423" name="Rectangle 130">
            <a:extLst>
              <a:ext uri="{FF2B5EF4-FFF2-40B4-BE49-F238E27FC236}">
                <a16:creationId xmlns:a16="http://schemas.microsoft.com/office/drawing/2014/main" id="{1672E2C5-7C5A-4774-B16E-B24E22A09E32}"/>
              </a:ext>
            </a:extLst>
          </p:cNvPr>
          <p:cNvSpPr>
            <a:spLocks noChangeArrowheads="1"/>
          </p:cNvSpPr>
          <p:nvPr/>
        </p:nvSpPr>
        <p:spPr bwMode="auto">
          <a:xfrm>
            <a:off x="6765925"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g</a:t>
            </a:r>
            <a:endParaRPr lang="zh-CN" altLang="zh-CN"/>
          </a:p>
        </p:txBody>
      </p:sp>
      <p:sp>
        <p:nvSpPr>
          <p:cNvPr id="55424" name="Freeform 131">
            <a:extLst>
              <a:ext uri="{FF2B5EF4-FFF2-40B4-BE49-F238E27FC236}">
                <a16:creationId xmlns:a16="http://schemas.microsoft.com/office/drawing/2014/main" id="{507FFDFE-A0C0-416E-BD96-76FBB4DE0500}"/>
              </a:ext>
            </a:extLst>
          </p:cNvPr>
          <p:cNvSpPr>
            <a:spLocks/>
          </p:cNvSpPr>
          <p:nvPr/>
        </p:nvSpPr>
        <p:spPr bwMode="auto">
          <a:xfrm>
            <a:off x="6367463" y="2540000"/>
            <a:ext cx="1049337" cy="152400"/>
          </a:xfrm>
          <a:custGeom>
            <a:avLst/>
            <a:gdLst>
              <a:gd name="T0" fmla="*/ 2147483646 w 661"/>
              <a:gd name="T1" fmla="*/ 2147483646 h 96"/>
              <a:gd name="T2" fmla="*/ 2147483646 w 661"/>
              <a:gd name="T3" fmla="*/ 0 h 96"/>
              <a:gd name="T4" fmla="*/ 0 w 661"/>
              <a:gd name="T5" fmla="*/ 0 h 96"/>
              <a:gd name="T6" fmla="*/ 0 w 661"/>
              <a:gd name="T7" fmla="*/ 2147483646 h 96"/>
              <a:gd name="T8" fmla="*/ 2147483646 w 661"/>
              <a:gd name="T9" fmla="*/ 2147483646 h 96"/>
              <a:gd name="T10" fmla="*/ 2147483646 w 661"/>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1" h="96">
                <a:moveTo>
                  <a:pt x="661" y="94"/>
                </a:moveTo>
                <a:lnTo>
                  <a:pt x="661" y="0"/>
                </a:lnTo>
                <a:lnTo>
                  <a:pt x="0" y="0"/>
                </a:lnTo>
                <a:lnTo>
                  <a:pt x="0" y="96"/>
                </a:lnTo>
                <a:lnTo>
                  <a:pt x="661"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25" name="Freeform 132">
            <a:extLst>
              <a:ext uri="{FF2B5EF4-FFF2-40B4-BE49-F238E27FC236}">
                <a16:creationId xmlns:a16="http://schemas.microsoft.com/office/drawing/2014/main" id="{03361190-8DC1-4BF9-868B-340626918071}"/>
              </a:ext>
            </a:extLst>
          </p:cNvPr>
          <p:cNvSpPr>
            <a:spLocks/>
          </p:cNvSpPr>
          <p:nvPr/>
        </p:nvSpPr>
        <p:spPr bwMode="auto">
          <a:xfrm>
            <a:off x="6367463" y="2692400"/>
            <a:ext cx="1049337" cy="152400"/>
          </a:xfrm>
          <a:custGeom>
            <a:avLst/>
            <a:gdLst>
              <a:gd name="T0" fmla="*/ 2147483646 w 661"/>
              <a:gd name="T1" fmla="*/ 2147483646 h 96"/>
              <a:gd name="T2" fmla="*/ 2147483646 w 661"/>
              <a:gd name="T3" fmla="*/ 0 h 96"/>
              <a:gd name="T4" fmla="*/ 0 w 661"/>
              <a:gd name="T5" fmla="*/ 0 h 96"/>
              <a:gd name="T6" fmla="*/ 0 w 661"/>
              <a:gd name="T7" fmla="*/ 2147483646 h 96"/>
              <a:gd name="T8" fmla="*/ 2147483646 w 661"/>
              <a:gd name="T9" fmla="*/ 2147483646 h 96"/>
              <a:gd name="T10" fmla="*/ 2147483646 w 661"/>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1" h="96">
                <a:moveTo>
                  <a:pt x="661" y="94"/>
                </a:moveTo>
                <a:lnTo>
                  <a:pt x="661" y="0"/>
                </a:lnTo>
                <a:lnTo>
                  <a:pt x="0" y="0"/>
                </a:lnTo>
                <a:lnTo>
                  <a:pt x="0" y="96"/>
                </a:lnTo>
                <a:lnTo>
                  <a:pt x="661"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26" name="Freeform 133">
            <a:extLst>
              <a:ext uri="{FF2B5EF4-FFF2-40B4-BE49-F238E27FC236}">
                <a16:creationId xmlns:a16="http://schemas.microsoft.com/office/drawing/2014/main" id="{321E3195-31E4-4247-9C09-775B7BC4D111}"/>
              </a:ext>
            </a:extLst>
          </p:cNvPr>
          <p:cNvSpPr>
            <a:spLocks/>
          </p:cNvSpPr>
          <p:nvPr/>
        </p:nvSpPr>
        <p:spPr bwMode="auto">
          <a:xfrm>
            <a:off x="6367463" y="2844800"/>
            <a:ext cx="1049337" cy="152400"/>
          </a:xfrm>
          <a:custGeom>
            <a:avLst/>
            <a:gdLst>
              <a:gd name="T0" fmla="*/ 2147483646 w 661"/>
              <a:gd name="T1" fmla="*/ 2147483646 h 96"/>
              <a:gd name="T2" fmla="*/ 2147483646 w 661"/>
              <a:gd name="T3" fmla="*/ 0 h 96"/>
              <a:gd name="T4" fmla="*/ 0 w 661"/>
              <a:gd name="T5" fmla="*/ 0 h 96"/>
              <a:gd name="T6" fmla="*/ 0 w 661"/>
              <a:gd name="T7" fmla="*/ 2147483646 h 96"/>
              <a:gd name="T8" fmla="*/ 2147483646 w 661"/>
              <a:gd name="T9" fmla="*/ 2147483646 h 96"/>
              <a:gd name="T10" fmla="*/ 2147483646 w 661"/>
              <a:gd name="T11" fmla="*/ 2147483646 h 96"/>
              <a:gd name="T12" fmla="*/ 2147483646 w 661"/>
              <a:gd name="T13" fmla="*/ 2147483646 h 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1" h="96">
                <a:moveTo>
                  <a:pt x="661" y="94"/>
                </a:moveTo>
                <a:lnTo>
                  <a:pt x="661" y="0"/>
                </a:lnTo>
                <a:lnTo>
                  <a:pt x="0" y="0"/>
                </a:lnTo>
                <a:lnTo>
                  <a:pt x="0" y="96"/>
                </a:lnTo>
                <a:lnTo>
                  <a:pt x="661" y="96"/>
                </a:lnTo>
                <a:lnTo>
                  <a:pt x="661" y="94"/>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27" name="Freeform 134">
            <a:extLst>
              <a:ext uri="{FF2B5EF4-FFF2-40B4-BE49-F238E27FC236}">
                <a16:creationId xmlns:a16="http://schemas.microsoft.com/office/drawing/2014/main" id="{D9E693DC-A11C-4950-800A-2B8248C0B24D}"/>
              </a:ext>
            </a:extLst>
          </p:cNvPr>
          <p:cNvSpPr>
            <a:spLocks/>
          </p:cNvSpPr>
          <p:nvPr/>
        </p:nvSpPr>
        <p:spPr bwMode="auto">
          <a:xfrm>
            <a:off x="6367463" y="2844800"/>
            <a:ext cx="1049337" cy="152400"/>
          </a:xfrm>
          <a:custGeom>
            <a:avLst/>
            <a:gdLst>
              <a:gd name="T0" fmla="*/ 2147483646 w 661"/>
              <a:gd name="T1" fmla="*/ 2147483646 h 96"/>
              <a:gd name="T2" fmla="*/ 2147483646 w 661"/>
              <a:gd name="T3" fmla="*/ 0 h 96"/>
              <a:gd name="T4" fmla="*/ 0 w 661"/>
              <a:gd name="T5" fmla="*/ 0 h 96"/>
              <a:gd name="T6" fmla="*/ 0 w 661"/>
              <a:gd name="T7" fmla="*/ 2147483646 h 96"/>
              <a:gd name="T8" fmla="*/ 2147483646 w 661"/>
              <a:gd name="T9" fmla="*/ 2147483646 h 96"/>
              <a:gd name="T10" fmla="*/ 2147483646 w 661"/>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1" h="96">
                <a:moveTo>
                  <a:pt x="661" y="94"/>
                </a:moveTo>
                <a:lnTo>
                  <a:pt x="661" y="0"/>
                </a:lnTo>
                <a:lnTo>
                  <a:pt x="0" y="0"/>
                </a:lnTo>
                <a:lnTo>
                  <a:pt x="0" y="96"/>
                </a:lnTo>
                <a:lnTo>
                  <a:pt x="661"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28" name="Freeform 135">
            <a:extLst>
              <a:ext uri="{FF2B5EF4-FFF2-40B4-BE49-F238E27FC236}">
                <a16:creationId xmlns:a16="http://schemas.microsoft.com/office/drawing/2014/main" id="{2C14933E-181B-4BAA-8D25-2F2B872E2878}"/>
              </a:ext>
            </a:extLst>
          </p:cNvPr>
          <p:cNvSpPr>
            <a:spLocks/>
          </p:cNvSpPr>
          <p:nvPr/>
        </p:nvSpPr>
        <p:spPr bwMode="auto">
          <a:xfrm>
            <a:off x="6367463" y="2997200"/>
            <a:ext cx="1049337" cy="153988"/>
          </a:xfrm>
          <a:custGeom>
            <a:avLst/>
            <a:gdLst>
              <a:gd name="T0" fmla="*/ 2147483646 w 661"/>
              <a:gd name="T1" fmla="*/ 2147483646 h 97"/>
              <a:gd name="T2" fmla="*/ 2147483646 w 661"/>
              <a:gd name="T3" fmla="*/ 0 h 97"/>
              <a:gd name="T4" fmla="*/ 0 w 661"/>
              <a:gd name="T5" fmla="*/ 0 h 97"/>
              <a:gd name="T6" fmla="*/ 0 w 661"/>
              <a:gd name="T7" fmla="*/ 2147483646 h 97"/>
              <a:gd name="T8" fmla="*/ 2147483646 w 661"/>
              <a:gd name="T9" fmla="*/ 2147483646 h 97"/>
              <a:gd name="T10" fmla="*/ 2147483646 w 661"/>
              <a:gd name="T11" fmla="*/ 2147483646 h 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1" h="97">
                <a:moveTo>
                  <a:pt x="661" y="95"/>
                </a:moveTo>
                <a:lnTo>
                  <a:pt x="661" y="0"/>
                </a:lnTo>
                <a:lnTo>
                  <a:pt x="0" y="0"/>
                </a:lnTo>
                <a:lnTo>
                  <a:pt x="0" y="97"/>
                </a:lnTo>
                <a:lnTo>
                  <a:pt x="661" y="97"/>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29" name="Freeform 136">
            <a:extLst>
              <a:ext uri="{FF2B5EF4-FFF2-40B4-BE49-F238E27FC236}">
                <a16:creationId xmlns:a16="http://schemas.microsoft.com/office/drawing/2014/main" id="{C8B76F8F-D7D5-4994-B706-FACBDC1C8867}"/>
              </a:ext>
            </a:extLst>
          </p:cNvPr>
          <p:cNvSpPr>
            <a:spLocks/>
          </p:cNvSpPr>
          <p:nvPr/>
        </p:nvSpPr>
        <p:spPr bwMode="auto">
          <a:xfrm>
            <a:off x="6367463" y="3151188"/>
            <a:ext cx="1049337" cy="149225"/>
          </a:xfrm>
          <a:custGeom>
            <a:avLst/>
            <a:gdLst>
              <a:gd name="T0" fmla="*/ 2147483646 w 661"/>
              <a:gd name="T1" fmla="*/ 2147483646 h 94"/>
              <a:gd name="T2" fmla="*/ 2147483646 w 661"/>
              <a:gd name="T3" fmla="*/ 0 h 94"/>
              <a:gd name="T4" fmla="*/ 0 w 661"/>
              <a:gd name="T5" fmla="*/ 0 h 94"/>
              <a:gd name="T6" fmla="*/ 0 w 661"/>
              <a:gd name="T7" fmla="*/ 2147483646 h 94"/>
              <a:gd name="T8" fmla="*/ 2147483646 w 661"/>
              <a:gd name="T9" fmla="*/ 2147483646 h 94"/>
              <a:gd name="T10" fmla="*/ 2147483646 w 661"/>
              <a:gd name="T11" fmla="*/ 2147483646 h 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1" h="94">
                <a:moveTo>
                  <a:pt x="661" y="94"/>
                </a:moveTo>
                <a:lnTo>
                  <a:pt x="661" y="0"/>
                </a:lnTo>
                <a:lnTo>
                  <a:pt x="0" y="0"/>
                </a:lnTo>
                <a:lnTo>
                  <a:pt x="0" y="94"/>
                </a:lnTo>
                <a:lnTo>
                  <a:pt x="661" y="9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30" name="Freeform 137">
            <a:extLst>
              <a:ext uri="{FF2B5EF4-FFF2-40B4-BE49-F238E27FC236}">
                <a16:creationId xmlns:a16="http://schemas.microsoft.com/office/drawing/2014/main" id="{D84AB1E6-9093-4AE8-8533-075F0408D158}"/>
              </a:ext>
            </a:extLst>
          </p:cNvPr>
          <p:cNvSpPr>
            <a:spLocks/>
          </p:cNvSpPr>
          <p:nvPr/>
        </p:nvSpPr>
        <p:spPr bwMode="auto">
          <a:xfrm>
            <a:off x="6367463" y="3300413"/>
            <a:ext cx="1049337" cy="152400"/>
          </a:xfrm>
          <a:custGeom>
            <a:avLst/>
            <a:gdLst>
              <a:gd name="T0" fmla="*/ 2147483646 w 661"/>
              <a:gd name="T1" fmla="*/ 2147483646 h 96"/>
              <a:gd name="T2" fmla="*/ 2147483646 w 661"/>
              <a:gd name="T3" fmla="*/ 0 h 96"/>
              <a:gd name="T4" fmla="*/ 0 w 661"/>
              <a:gd name="T5" fmla="*/ 0 h 96"/>
              <a:gd name="T6" fmla="*/ 0 w 661"/>
              <a:gd name="T7" fmla="*/ 2147483646 h 96"/>
              <a:gd name="T8" fmla="*/ 2147483646 w 661"/>
              <a:gd name="T9" fmla="*/ 2147483646 h 96"/>
              <a:gd name="T10" fmla="*/ 2147483646 w 661"/>
              <a:gd name="T11" fmla="*/ 2147483646 h 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1" h="96">
                <a:moveTo>
                  <a:pt x="661" y="96"/>
                </a:moveTo>
                <a:lnTo>
                  <a:pt x="661" y="0"/>
                </a:lnTo>
                <a:lnTo>
                  <a:pt x="0" y="0"/>
                </a:lnTo>
                <a:lnTo>
                  <a:pt x="0" y="96"/>
                </a:lnTo>
                <a:lnTo>
                  <a:pt x="661" y="9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31" name="Freeform 138">
            <a:extLst>
              <a:ext uri="{FF2B5EF4-FFF2-40B4-BE49-F238E27FC236}">
                <a16:creationId xmlns:a16="http://schemas.microsoft.com/office/drawing/2014/main" id="{D9B8DA72-0865-46AB-882F-4C0641D552A7}"/>
              </a:ext>
            </a:extLst>
          </p:cNvPr>
          <p:cNvSpPr>
            <a:spLocks/>
          </p:cNvSpPr>
          <p:nvPr/>
        </p:nvSpPr>
        <p:spPr bwMode="auto">
          <a:xfrm>
            <a:off x="6418263"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20" y="31"/>
                </a:lnTo>
                <a:lnTo>
                  <a:pt x="23" y="31"/>
                </a:lnTo>
                <a:lnTo>
                  <a:pt x="25" y="29"/>
                </a:lnTo>
                <a:lnTo>
                  <a:pt x="27" y="29"/>
                </a:lnTo>
                <a:lnTo>
                  <a:pt x="29" y="27"/>
                </a:lnTo>
                <a:lnTo>
                  <a:pt x="32" y="25"/>
                </a:lnTo>
                <a:lnTo>
                  <a:pt x="32" y="23"/>
                </a:lnTo>
                <a:lnTo>
                  <a:pt x="34" y="21"/>
                </a:lnTo>
                <a:lnTo>
                  <a:pt x="34" y="18"/>
                </a:lnTo>
                <a:lnTo>
                  <a:pt x="34" y="16"/>
                </a:lnTo>
                <a:lnTo>
                  <a:pt x="34" y="12"/>
                </a:lnTo>
                <a:lnTo>
                  <a:pt x="34" y="10"/>
                </a:lnTo>
                <a:lnTo>
                  <a:pt x="32" y="8"/>
                </a:lnTo>
                <a:lnTo>
                  <a:pt x="32" y="6"/>
                </a:lnTo>
                <a:lnTo>
                  <a:pt x="29" y="4"/>
                </a:lnTo>
                <a:lnTo>
                  <a:pt x="27" y="2"/>
                </a:lnTo>
                <a:lnTo>
                  <a:pt x="25" y="2"/>
                </a:lnTo>
                <a:lnTo>
                  <a:pt x="23" y="0"/>
                </a:lnTo>
                <a:lnTo>
                  <a:pt x="20" y="0"/>
                </a:lnTo>
                <a:lnTo>
                  <a:pt x="16" y="0"/>
                </a:lnTo>
                <a:lnTo>
                  <a:pt x="14" y="0"/>
                </a:lnTo>
                <a:lnTo>
                  <a:pt x="11" y="0"/>
                </a:lnTo>
                <a:lnTo>
                  <a:pt x="9" y="2"/>
                </a:lnTo>
                <a:lnTo>
                  <a:pt x="7" y="2"/>
                </a:lnTo>
                <a:lnTo>
                  <a:pt x="5" y="4"/>
                </a:lnTo>
                <a:lnTo>
                  <a:pt x="2" y="6"/>
                </a:lnTo>
                <a:lnTo>
                  <a:pt x="2" y="8"/>
                </a:lnTo>
                <a:lnTo>
                  <a:pt x="0" y="10"/>
                </a:lnTo>
                <a:lnTo>
                  <a:pt x="0" y="12"/>
                </a:lnTo>
                <a:lnTo>
                  <a:pt x="0" y="16"/>
                </a:lnTo>
                <a:lnTo>
                  <a:pt x="0" y="18"/>
                </a:lnTo>
                <a:lnTo>
                  <a:pt x="0" y="21"/>
                </a:lnTo>
                <a:lnTo>
                  <a:pt x="2" y="23"/>
                </a:lnTo>
                <a:lnTo>
                  <a:pt x="2" y="25"/>
                </a:lnTo>
                <a:lnTo>
                  <a:pt x="5" y="27"/>
                </a:lnTo>
                <a:lnTo>
                  <a:pt x="7" y="29"/>
                </a:lnTo>
                <a:lnTo>
                  <a:pt x="9" y="29"/>
                </a:lnTo>
                <a:lnTo>
                  <a:pt x="11" y="31"/>
                </a:lnTo>
                <a:lnTo>
                  <a:pt x="14"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32" name="Freeform 139">
            <a:extLst>
              <a:ext uri="{FF2B5EF4-FFF2-40B4-BE49-F238E27FC236}">
                <a16:creationId xmlns:a16="http://schemas.microsoft.com/office/drawing/2014/main" id="{02A152F5-CE69-4260-9610-B51E6FC99452}"/>
              </a:ext>
            </a:extLst>
          </p:cNvPr>
          <p:cNvSpPr>
            <a:spLocks/>
          </p:cNvSpPr>
          <p:nvPr/>
        </p:nvSpPr>
        <p:spPr bwMode="auto">
          <a:xfrm>
            <a:off x="6669088"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2147483646 w 34"/>
              <a:gd name="T85" fmla="*/ 2147483646 h 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4" h="31">
                <a:moveTo>
                  <a:pt x="16" y="31"/>
                </a:moveTo>
                <a:lnTo>
                  <a:pt x="20" y="31"/>
                </a:lnTo>
                <a:lnTo>
                  <a:pt x="23" y="31"/>
                </a:lnTo>
                <a:lnTo>
                  <a:pt x="25" y="29"/>
                </a:lnTo>
                <a:lnTo>
                  <a:pt x="27" y="29"/>
                </a:lnTo>
                <a:lnTo>
                  <a:pt x="29" y="27"/>
                </a:lnTo>
                <a:lnTo>
                  <a:pt x="32" y="25"/>
                </a:lnTo>
                <a:lnTo>
                  <a:pt x="32" y="23"/>
                </a:lnTo>
                <a:lnTo>
                  <a:pt x="34" y="21"/>
                </a:lnTo>
                <a:lnTo>
                  <a:pt x="34" y="18"/>
                </a:lnTo>
                <a:lnTo>
                  <a:pt x="34" y="16"/>
                </a:lnTo>
                <a:lnTo>
                  <a:pt x="34" y="12"/>
                </a:lnTo>
                <a:lnTo>
                  <a:pt x="34" y="10"/>
                </a:lnTo>
                <a:lnTo>
                  <a:pt x="32" y="8"/>
                </a:lnTo>
                <a:lnTo>
                  <a:pt x="32" y="6"/>
                </a:lnTo>
                <a:lnTo>
                  <a:pt x="29" y="4"/>
                </a:lnTo>
                <a:lnTo>
                  <a:pt x="27" y="2"/>
                </a:lnTo>
                <a:lnTo>
                  <a:pt x="25" y="2"/>
                </a:lnTo>
                <a:lnTo>
                  <a:pt x="23" y="0"/>
                </a:lnTo>
                <a:lnTo>
                  <a:pt x="20" y="0"/>
                </a:lnTo>
                <a:lnTo>
                  <a:pt x="18" y="0"/>
                </a:lnTo>
                <a:lnTo>
                  <a:pt x="13" y="0"/>
                </a:lnTo>
                <a:lnTo>
                  <a:pt x="11" y="0"/>
                </a:lnTo>
                <a:lnTo>
                  <a:pt x="9" y="2"/>
                </a:lnTo>
                <a:lnTo>
                  <a:pt x="7" y="2"/>
                </a:lnTo>
                <a:lnTo>
                  <a:pt x="4" y="4"/>
                </a:lnTo>
                <a:lnTo>
                  <a:pt x="2" y="6"/>
                </a:lnTo>
                <a:lnTo>
                  <a:pt x="2" y="8"/>
                </a:lnTo>
                <a:lnTo>
                  <a:pt x="0" y="10"/>
                </a:lnTo>
                <a:lnTo>
                  <a:pt x="0" y="12"/>
                </a:lnTo>
                <a:lnTo>
                  <a:pt x="0" y="16"/>
                </a:lnTo>
                <a:lnTo>
                  <a:pt x="0" y="18"/>
                </a:lnTo>
                <a:lnTo>
                  <a:pt x="0" y="21"/>
                </a:lnTo>
                <a:lnTo>
                  <a:pt x="2" y="23"/>
                </a:lnTo>
                <a:lnTo>
                  <a:pt x="2" y="25"/>
                </a:lnTo>
                <a:lnTo>
                  <a:pt x="4" y="27"/>
                </a:lnTo>
                <a:lnTo>
                  <a:pt x="7" y="29"/>
                </a:lnTo>
                <a:lnTo>
                  <a:pt x="9" y="29"/>
                </a:lnTo>
                <a:lnTo>
                  <a:pt x="11" y="31"/>
                </a:lnTo>
                <a:lnTo>
                  <a:pt x="13" y="31"/>
                </a:lnTo>
                <a:lnTo>
                  <a:pt x="18"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33" name="Freeform 140">
            <a:extLst>
              <a:ext uri="{FF2B5EF4-FFF2-40B4-BE49-F238E27FC236}">
                <a16:creationId xmlns:a16="http://schemas.microsoft.com/office/drawing/2014/main" id="{3FFB9804-8290-4296-9F12-131AE75DC514}"/>
              </a:ext>
            </a:extLst>
          </p:cNvPr>
          <p:cNvSpPr>
            <a:spLocks/>
          </p:cNvSpPr>
          <p:nvPr/>
        </p:nvSpPr>
        <p:spPr bwMode="auto">
          <a:xfrm>
            <a:off x="6400800" y="4214813"/>
            <a:ext cx="214313" cy="238125"/>
          </a:xfrm>
          <a:custGeom>
            <a:avLst/>
            <a:gdLst>
              <a:gd name="T0" fmla="*/ 0 w 135"/>
              <a:gd name="T1" fmla="*/ 2147483646 h 150"/>
              <a:gd name="T2" fmla="*/ 0 w 135"/>
              <a:gd name="T3" fmla="*/ 2147483646 h 150"/>
              <a:gd name="T4" fmla="*/ 2147483646 w 135"/>
              <a:gd name="T5" fmla="*/ 2147483646 h 150"/>
              <a:gd name="T6" fmla="*/ 2147483646 w 135"/>
              <a:gd name="T7" fmla="*/ 2147483646 h 150"/>
              <a:gd name="T8" fmla="*/ 2147483646 w 135"/>
              <a:gd name="T9" fmla="*/ 2147483646 h 150"/>
              <a:gd name="T10" fmla="*/ 2147483646 w 135"/>
              <a:gd name="T11" fmla="*/ 2147483646 h 150"/>
              <a:gd name="T12" fmla="*/ 2147483646 w 135"/>
              <a:gd name="T13" fmla="*/ 2147483646 h 150"/>
              <a:gd name="T14" fmla="*/ 2147483646 w 135"/>
              <a:gd name="T15" fmla="*/ 2147483646 h 150"/>
              <a:gd name="T16" fmla="*/ 2147483646 w 135"/>
              <a:gd name="T17" fmla="*/ 2147483646 h 150"/>
              <a:gd name="T18" fmla="*/ 2147483646 w 135"/>
              <a:gd name="T19" fmla="*/ 2147483646 h 150"/>
              <a:gd name="T20" fmla="*/ 2147483646 w 135"/>
              <a:gd name="T21" fmla="*/ 2147483646 h 150"/>
              <a:gd name="T22" fmla="*/ 2147483646 w 135"/>
              <a:gd name="T23" fmla="*/ 2147483646 h 150"/>
              <a:gd name="T24" fmla="*/ 2147483646 w 135"/>
              <a:gd name="T25" fmla="*/ 2147483646 h 150"/>
              <a:gd name="T26" fmla="*/ 2147483646 w 135"/>
              <a:gd name="T27" fmla="*/ 2147483646 h 150"/>
              <a:gd name="T28" fmla="*/ 2147483646 w 135"/>
              <a:gd name="T29" fmla="*/ 2147483646 h 150"/>
              <a:gd name="T30" fmla="*/ 2147483646 w 135"/>
              <a:gd name="T31" fmla="*/ 2147483646 h 150"/>
              <a:gd name="T32" fmla="*/ 2147483646 w 135"/>
              <a:gd name="T33" fmla="*/ 2147483646 h 150"/>
              <a:gd name="T34" fmla="*/ 2147483646 w 135"/>
              <a:gd name="T35" fmla="*/ 2147483646 h 150"/>
              <a:gd name="T36" fmla="*/ 2147483646 w 135"/>
              <a:gd name="T37" fmla="*/ 2147483646 h 150"/>
              <a:gd name="T38" fmla="*/ 2147483646 w 135"/>
              <a:gd name="T39" fmla="*/ 2147483646 h 150"/>
              <a:gd name="T40" fmla="*/ 2147483646 w 135"/>
              <a:gd name="T41" fmla="*/ 2147483646 h 150"/>
              <a:gd name="T42" fmla="*/ 2147483646 w 135"/>
              <a:gd name="T43" fmla="*/ 0 h 150"/>
              <a:gd name="T44" fmla="*/ 0 w 135"/>
              <a:gd name="T45" fmla="*/ 0 h 150"/>
              <a:gd name="T46" fmla="*/ 0 w 135"/>
              <a:gd name="T47" fmla="*/ 2147483646 h 150"/>
              <a:gd name="T48" fmla="*/ 0 w 135"/>
              <a:gd name="T49" fmla="*/ 2147483646 h 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5" h="150">
                <a:moveTo>
                  <a:pt x="0" y="90"/>
                </a:moveTo>
                <a:lnTo>
                  <a:pt x="0" y="100"/>
                </a:lnTo>
                <a:lnTo>
                  <a:pt x="4" y="108"/>
                </a:lnTo>
                <a:lnTo>
                  <a:pt x="7" y="117"/>
                </a:lnTo>
                <a:lnTo>
                  <a:pt x="13" y="125"/>
                </a:lnTo>
                <a:lnTo>
                  <a:pt x="20" y="134"/>
                </a:lnTo>
                <a:lnTo>
                  <a:pt x="27" y="140"/>
                </a:lnTo>
                <a:lnTo>
                  <a:pt x="36" y="144"/>
                </a:lnTo>
                <a:lnTo>
                  <a:pt x="47" y="148"/>
                </a:lnTo>
                <a:lnTo>
                  <a:pt x="56" y="150"/>
                </a:lnTo>
                <a:lnTo>
                  <a:pt x="67" y="150"/>
                </a:lnTo>
                <a:lnTo>
                  <a:pt x="79" y="150"/>
                </a:lnTo>
                <a:lnTo>
                  <a:pt x="90" y="148"/>
                </a:lnTo>
                <a:lnTo>
                  <a:pt x="99" y="144"/>
                </a:lnTo>
                <a:lnTo>
                  <a:pt x="108" y="140"/>
                </a:lnTo>
                <a:lnTo>
                  <a:pt x="115" y="134"/>
                </a:lnTo>
                <a:lnTo>
                  <a:pt x="122" y="125"/>
                </a:lnTo>
                <a:lnTo>
                  <a:pt x="128" y="117"/>
                </a:lnTo>
                <a:lnTo>
                  <a:pt x="133" y="108"/>
                </a:lnTo>
                <a:lnTo>
                  <a:pt x="135" y="100"/>
                </a:lnTo>
                <a:lnTo>
                  <a:pt x="135" y="90"/>
                </a:lnTo>
                <a:lnTo>
                  <a:pt x="135" y="0"/>
                </a:lnTo>
                <a:lnTo>
                  <a:pt x="0" y="0"/>
                </a:lnTo>
                <a:lnTo>
                  <a:pt x="0" y="9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34" name="Freeform 141">
            <a:extLst>
              <a:ext uri="{FF2B5EF4-FFF2-40B4-BE49-F238E27FC236}">
                <a16:creationId xmlns:a16="http://schemas.microsoft.com/office/drawing/2014/main" id="{9D2FDD50-BDBA-4CCC-874C-0FEDA744CF36}"/>
              </a:ext>
            </a:extLst>
          </p:cNvPr>
          <p:cNvSpPr>
            <a:spLocks/>
          </p:cNvSpPr>
          <p:nvPr/>
        </p:nvSpPr>
        <p:spPr bwMode="auto">
          <a:xfrm>
            <a:off x="6572250" y="3795713"/>
            <a:ext cx="247650" cy="228600"/>
          </a:xfrm>
          <a:custGeom>
            <a:avLst/>
            <a:gdLst>
              <a:gd name="T0" fmla="*/ 2147483646 w 156"/>
              <a:gd name="T1" fmla="*/ 2147483646 h 144"/>
              <a:gd name="T2" fmla="*/ 2147483646 w 156"/>
              <a:gd name="T3" fmla="*/ 2147483646 h 144"/>
              <a:gd name="T4" fmla="*/ 2147483646 w 156"/>
              <a:gd name="T5" fmla="*/ 2147483646 h 144"/>
              <a:gd name="T6" fmla="*/ 2147483646 w 156"/>
              <a:gd name="T7" fmla="*/ 2147483646 h 144"/>
              <a:gd name="T8" fmla="*/ 2147483646 w 156"/>
              <a:gd name="T9" fmla="*/ 2147483646 h 144"/>
              <a:gd name="T10" fmla="*/ 2147483646 w 156"/>
              <a:gd name="T11" fmla="*/ 2147483646 h 144"/>
              <a:gd name="T12" fmla="*/ 2147483646 w 156"/>
              <a:gd name="T13" fmla="*/ 2147483646 h 144"/>
              <a:gd name="T14" fmla="*/ 2147483646 w 156"/>
              <a:gd name="T15" fmla="*/ 2147483646 h 144"/>
              <a:gd name="T16" fmla="*/ 2147483646 w 156"/>
              <a:gd name="T17" fmla="*/ 2147483646 h 144"/>
              <a:gd name="T18" fmla="*/ 2147483646 w 156"/>
              <a:gd name="T19" fmla="*/ 2147483646 h 144"/>
              <a:gd name="T20" fmla="*/ 2147483646 w 156"/>
              <a:gd name="T21" fmla="*/ 2147483646 h 144"/>
              <a:gd name="T22" fmla="*/ 2147483646 w 156"/>
              <a:gd name="T23" fmla="*/ 2147483646 h 144"/>
              <a:gd name="T24" fmla="*/ 2147483646 w 156"/>
              <a:gd name="T25" fmla="*/ 2147483646 h 144"/>
              <a:gd name="T26" fmla="*/ 2147483646 w 156"/>
              <a:gd name="T27" fmla="*/ 2147483646 h 144"/>
              <a:gd name="T28" fmla="*/ 2147483646 w 156"/>
              <a:gd name="T29" fmla="*/ 2147483646 h 144"/>
              <a:gd name="T30" fmla="*/ 2147483646 w 156"/>
              <a:gd name="T31" fmla="*/ 2147483646 h 144"/>
              <a:gd name="T32" fmla="*/ 2147483646 w 156"/>
              <a:gd name="T33" fmla="*/ 2147483646 h 144"/>
              <a:gd name="T34" fmla="*/ 2147483646 w 156"/>
              <a:gd name="T35" fmla="*/ 2147483646 h 144"/>
              <a:gd name="T36" fmla="*/ 2147483646 w 156"/>
              <a:gd name="T37" fmla="*/ 2147483646 h 144"/>
              <a:gd name="T38" fmla="*/ 2147483646 w 156"/>
              <a:gd name="T39" fmla="*/ 0 h 144"/>
              <a:gd name="T40" fmla="*/ 2147483646 w 156"/>
              <a:gd name="T41" fmla="*/ 0 h 144"/>
              <a:gd name="T42" fmla="*/ 2147483646 w 156"/>
              <a:gd name="T43" fmla="*/ 0 h 144"/>
              <a:gd name="T44" fmla="*/ 2147483646 w 156"/>
              <a:gd name="T45" fmla="*/ 2147483646 h 144"/>
              <a:gd name="T46" fmla="*/ 2147483646 w 156"/>
              <a:gd name="T47" fmla="*/ 2147483646 h 144"/>
              <a:gd name="T48" fmla="*/ 2147483646 w 156"/>
              <a:gd name="T49" fmla="*/ 2147483646 h 144"/>
              <a:gd name="T50" fmla="*/ 2147483646 w 156"/>
              <a:gd name="T51" fmla="*/ 2147483646 h 144"/>
              <a:gd name="T52" fmla="*/ 2147483646 w 156"/>
              <a:gd name="T53" fmla="*/ 2147483646 h 144"/>
              <a:gd name="T54" fmla="*/ 2147483646 w 156"/>
              <a:gd name="T55" fmla="*/ 2147483646 h 144"/>
              <a:gd name="T56" fmla="*/ 2147483646 w 156"/>
              <a:gd name="T57" fmla="*/ 2147483646 h 144"/>
              <a:gd name="T58" fmla="*/ 0 w 156"/>
              <a:gd name="T59" fmla="*/ 2147483646 h 144"/>
              <a:gd name="T60" fmla="*/ 0 w 156"/>
              <a:gd name="T61" fmla="*/ 2147483646 h 144"/>
              <a:gd name="T62" fmla="*/ 0 w 156"/>
              <a:gd name="T63" fmla="*/ 2147483646 h 144"/>
              <a:gd name="T64" fmla="*/ 2147483646 w 156"/>
              <a:gd name="T65" fmla="*/ 2147483646 h 144"/>
              <a:gd name="T66" fmla="*/ 2147483646 w 156"/>
              <a:gd name="T67" fmla="*/ 2147483646 h 144"/>
              <a:gd name="T68" fmla="*/ 2147483646 w 156"/>
              <a:gd name="T69" fmla="*/ 2147483646 h 144"/>
              <a:gd name="T70" fmla="*/ 2147483646 w 156"/>
              <a:gd name="T71" fmla="*/ 2147483646 h 144"/>
              <a:gd name="T72" fmla="*/ 2147483646 w 156"/>
              <a:gd name="T73" fmla="*/ 2147483646 h 144"/>
              <a:gd name="T74" fmla="*/ 2147483646 w 156"/>
              <a:gd name="T75" fmla="*/ 2147483646 h 144"/>
              <a:gd name="T76" fmla="*/ 2147483646 w 156"/>
              <a:gd name="T77" fmla="*/ 2147483646 h 144"/>
              <a:gd name="T78" fmla="*/ 2147483646 w 156"/>
              <a:gd name="T79" fmla="*/ 2147483646 h 144"/>
              <a:gd name="T80" fmla="*/ 2147483646 w 156"/>
              <a:gd name="T81" fmla="*/ 2147483646 h 144"/>
              <a:gd name="T82" fmla="*/ 2147483646 w 156"/>
              <a:gd name="T83" fmla="*/ 2147483646 h 1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56" h="144">
                <a:moveTo>
                  <a:pt x="77" y="142"/>
                </a:moveTo>
                <a:lnTo>
                  <a:pt x="90" y="142"/>
                </a:lnTo>
                <a:lnTo>
                  <a:pt x="102" y="140"/>
                </a:lnTo>
                <a:lnTo>
                  <a:pt x="113" y="136"/>
                </a:lnTo>
                <a:lnTo>
                  <a:pt x="124" y="130"/>
                </a:lnTo>
                <a:lnTo>
                  <a:pt x="133" y="121"/>
                </a:lnTo>
                <a:lnTo>
                  <a:pt x="140" y="113"/>
                </a:lnTo>
                <a:lnTo>
                  <a:pt x="147" y="104"/>
                </a:lnTo>
                <a:lnTo>
                  <a:pt x="151" y="94"/>
                </a:lnTo>
                <a:lnTo>
                  <a:pt x="153" y="84"/>
                </a:lnTo>
                <a:lnTo>
                  <a:pt x="156" y="71"/>
                </a:lnTo>
                <a:lnTo>
                  <a:pt x="153" y="61"/>
                </a:lnTo>
                <a:lnTo>
                  <a:pt x="151" y="48"/>
                </a:lnTo>
                <a:lnTo>
                  <a:pt x="147" y="38"/>
                </a:lnTo>
                <a:lnTo>
                  <a:pt x="140" y="29"/>
                </a:lnTo>
                <a:lnTo>
                  <a:pt x="133" y="21"/>
                </a:lnTo>
                <a:lnTo>
                  <a:pt x="124" y="12"/>
                </a:lnTo>
                <a:lnTo>
                  <a:pt x="113" y="8"/>
                </a:lnTo>
                <a:lnTo>
                  <a:pt x="102" y="2"/>
                </a:lnTo>
                <a:lnTo>
                  <a:pt x="90" y="0"/>
                </a:lnTo>
                <a:lnTo>
                  <a:pt x="77" y="0"/>
                </a:lnTo>
                <a:lnTo>
                  <a:pt x="65" y="0"/>
                </a:lnTo>
                <a:lnTo>
                  <a:pt x="52" y="2"/>
                </a:lnTo>
                <a:lnTo>
                  <a:pt x="41" y="8"/>
                </a:lnTo>
                <a:lnTo>
                  <a:pt x="32" y="12"/>
                </a:lnTo>
                <a:lnTo>
                  <a:pt x="23" y="21"/>
                </a:lnTo>
                <a:lnTo>
                  <a:pt x="16" y="29"/>
                </a:lnTo>
                <a:lnTo>
                  <a:pt x="9" y="38"/>
                </a:lnTo>
                <a:lnTo>
                  <a:pt x="5" y="48"/>
                </a:lnTo>
                <a:lnTo>
                  <a:pt x="0" y="61"/>
                </a:lnTo>
                <a:lnTo>
                  <a:pt x="0" y="71"/>
                </a:lnTo>
                <a:lnTo>
                  <a:pt x="0" y="84"/>
                </a:lnTo>
                <a:lnTo>
                  <a:pt x="5" y="94"/>
                </a:lnTo>
                <a:lnTo>
                  <a:pt x="9" y="104"/>
                </a:lnTo>
                <a:lnTo>
                  <a:pt x="16" y="113"/>
                </a:lnTo>
                <a:lnTo>
                  <a:pt x="23" y="121"/>
                </a:lnTo>
                <a:lnTo>
                  <a:pt x="32" y="130"/>
                </a:lnTo>
                <a:lnTo>
                  <a:pt x="41" y="136"/>
                </a:lnTo>
                <a:lnTo>
                  <a:pt x="52" y="140"/>
                </a:lnTo>
                <a:lnTo>
                  <a:pt x="65" y="142"/>
                </a:lnTo>
                <a:lnTo>
                  <a:pt x="77" y="144"/>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35" name="Line 142">
            <a:extLst>
              <a:ext uri="{FF2B5EF4-FFF2-40B4-BE49-F238E27FC236}">
                <a16:creationId xmlns:a16="http://schemas.microsoft.com/office/drawing/2014/main" id="{B753FBAD-C440-4503-98E3-9B468FA069E2}"/>
              </a:ext>
            </a:extLst>
          </p:cNvPr>
          <p:cNvSpPr>
            <a:spLocks noChangeShapeType="1"/>
          </p:cNvSpPr>
          <p:nvPr/>
        </p:nvSpPr>
        <p:spPr bwMode="auto">
          <a:xfrm>
            <a:off x="6694488" y="2917825"/>
            <a:ext cx="0" cy="831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6" name="Freeform 143">
            <a:extLst>
              <a:ext uri="{FF2B5EF4-FFF2-40B4-BE49-F238E27FC236}">
                <a16:creationId xmlns:a16="http://schemas.microsoft.com/office/drawing/2014/main" id="{22E0DBAE-CE32-4DA2-B8AB-76DB164A5C97}"/>
              </a:ext>
            </a:extLst>
          </p:cNvPr>
          <p:cNvSpPr>
            <a:spLocks noEditPoints="1"/>
          </p:cNvSpPr>
          <p:nvPr/>
        </p:nvSpPr>
        <p:spPr bwMode="auto">
          <a:xfrm>
            <a:off x="6657975" y="3892550"/>
            <a:ext cx="71438" cy="31750"/>
          </a:xfrm>
          <a:custGeom>
            <a:avLst/>
            <a:gdLst>
              <a:gd name="T0" fmla="*/ 0 w 45"/>
              <a:gd name="T1" fmla="*/ 0 h 20"/>
              <a:gd name="T2" fmla="*/ 2147483646 w 45"/>
              <a:gd name="T3" fmla="*/ 0 h 20"/>
              <a:gd name="T4" fmla="*/ 2147483646 w 45"/>
              <a:gd name="T5" fmla="*/ 2147483646 h 20"/>
              <a:gd name="T6" fmla="*/ 0 w 45"/>
              <a:gd name="T7" fmla="*/ 2147483646 h 20"/>
              <a:gd name="T8" fmla="*/ 0 w 45"/>
              <a:gd name="T9" fmla="*/ 0 h 20"/>
              <a:gd name="T10" fmla="*/ 0 w 45"/>
              <a:gd name="T11" fmla="*/ 0 h 20"/>
              <a:gd name="T12" fmla="*/ 0 w 45"/>
              <a:gd name="T13" fmla="*/ 2147483646 h 20"/>
              <a:gd name="T14" fmla="*/ 2147483646 w 45"/>
              <a:gd name="T15" fmla="*/ 2147483646 h 20"/>
              <a:gd name="T16" fmla="*/ 2147483646 w 45"/>
              <a:gd name="T17" fmla="*/ 2147483646 h 20"/>
              <a:gd name="T18" fmla="*/ 0 w 45"/>
              <a:gd name="T19" fmla="*/ 2147483646 h 20"/>
              <a:gd name="T20" fmla="*/ 0 w 45"/>
              <a:gd name="T21" fmla="*/ 2147483646 h 20"/>
              <a:gd name="T22" fmla="*/ 0 w 45"/>
              <a:gd name="T23" fmla="*/ 2147483646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5" h="20">
                <a:moveTo>
                  <a:pt x="0" y="0"/>
                </a:moveTo>
                <a:lnTo>
                  <a:pt x="45" y="0"/>
                </a:lnTo>
                <a:lnTo>
                  <a:pt x="45" y="6"/>
                </a:lnTo>
                <a:lnTo>
                  <a:pt x="0" y="6"/>
                </a:lnTo>
                <a:lnTo>
                  <a:pt x="0" y="0"/>
                </a:lnTo>
                <a:close/>
                <a:moveTo>
                  <a:pt x="0" y="16"/>
                </a:moveTo>
                <a:lnTo>
                  <a:pt x="45" y="16"/>
                </a:lnTo>
                <a:lnTo>
                  <a:pt x="45" y="20"/>
                </a:lnTo>
                <a:lnTo>
                  <a:pt x="0" y="2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37" name="Line 144">
            <a:extLst>
              <a:ext uri="{FF2B5EF4-FFF2-40B4-BE49-F238E27FC236}">
                <a16:creationId xmlns:a16="http://schemas.microsoft.com/office/drawing/2014/main" id="{0C283DCF-3023-41DD-B15E-254315E56F17}"/>
              </a:ext>
            </a:extLst>
          </p:cNvPr>
          <p:cNvSpPr>
            <a:spLocks noChangeShapeType="1"/>
          </p:cNvSpPr>
          <p:nvPr/>
        </p:nvSpPr>
        <p:spPr bwMode="auto">
          <a:xfrm>
            <a:off x="6443663" y="2917825"/>
            <a:ext cx="0" cy="12969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38" name="Freeform 145">
            <a:extLst>
              <a:ext uri="{FF2B5EF4-FFF2-40B4-BE49-F238E27FC236}">
                <a16:creationId xmlns:a16="http://schemas.microsoft.com/office/drawing/2014/main" id="{9E7E1A23-35E8-429B-9AF0-F7000768958F}"/>
              </a:ext>
            </a:extLst>
          </p:cNvPr>
          <p:cNvSpPr>
            <a:spLocks/>
          </p:cNvSpPr>
          <p:nvPr/>
        </p:nvSpPr>
        <p:spPr bwMode="auto">
          <a:xfrm>
            <a:off x="6511925" y="3881438"/>
            <a:ext cx="57150" cy="53975"/>
          </a:xfrm>
          <a:custGeom>
            <a:avLst/>
            <a:gdLst>
              <a:gd name="T0" fmla="*/ 0 w 36"/>
              <a:gd name="T1" fmla="*/ 0 h 34"/>
              <a:gd name="T2" fmla="*/ 0 w 36"/>
              <a:gd name="T3" fmla="*/ 2147483646 h 34"/>
              <a:gd name="T4" fmla="*/ 2147483646 w 36"/>
              <a:gd name="T5" fmla="*/ 2147483646 h 34"/>
              <a:gd name="T6" fmla="*/ 0 w 36"/>
              <a:gd name="T7" fmla="*/ 0 h 34"/>
              <a:gd name="T8" fmla="*/ 0 w 36"/>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4">
                <a:moveTo>
                  <a:pt x="0" y="0"/>
                </a:moveTo>
                <a:lnTo>
                  <a:pt x="0" y="34"/>
                </a:lnTo>
                <a:lnTo>
                  <a:pt x="36" y="1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39" name="Line 146">
            <a:extLst>
              <a:ext uri="{FF2B5EF4-FFF2-40B4-BE49-F238E27FC236}">
                <a16:creationId xmlns:a16="http://schemas.microsoft.com/office/drawing/2014/main" id="{B0034A84-82B8-4325-A19C-A35E8086E168}"/>
              </a:ext>
            </a:extLst>
          </p:cNvPr>
          <p:cNvSpPr>
            <a:spLocks noChangeShapeType="1"/>
          </p:cNvSpPr>
          <p:nvPr/>
        </p:nvSpPr>
        <p:spPr bwMode="auto">
          <a:xfrm>
            <a:off x="6888163" y="2386013"/>
            <a:ext cx="0"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0" name="Line 147">
            <a:extLst>
              <a:ext uri="{FF2B5EF4-FFF2-40B4-BE49-F238E27FC236}">
                <a16:creationId xmlns:a16="http://schemas.microsoft.com/office/drawing/2014/main" id="{D07C173A-76BD-443B-9934-86B27DAA07B1}"/>
              </a:ext>
            </a:extLst>
          </p:cNvPr>
          <p:cNvSpPr>
            <a:spLocks noChangeShapeType="1"/>
          </p:cNvSpPr>
          <p:nvPr/>
        </p:nvSpPr>
        <p:spPr bwMode="auto">
          <a:xfrm>
            <a:off x="2617788" y="2386013"/>
            <a:ext cx="4762"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1" name="Line 148">
            <a:extLst>
              <a:ext uri="{FF2B5EF4-FFF2-40B4-BE49-F238E27FC236}">
                <a16:creationId xmlns:a16="http://schemas.microsoft.com/office/drawing/2014/main" id="{37B22B27-D61D-4BEB-976D-5A8A0982F7D0}"/>
              </a:ext>
            </a:extLst>
          </p:cNvPr>
          <p:cNvSpPr>
            <a:spLocks noChangeShapeType="1"/>
          </p:cNvSpPr>
          <p:nvPr/>
        </p:nvSpPr>
        <p:spPr bwMode="auto">
          <a:xfrm>
            <a:off x="3965575" y="2386013"/>
            <a:ext cx="3175"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2" name="Line 149">
            <a:extLst>
              <a:ext uri="{FF2B5EF4-FFF2-40B4-BE49-F238E27FC236}">
                <a16:creationId xmlns:a16="http://schemas.microsoft.com/office/drawing/2014/main" id="{2E695DA8-FB8F-42EB-951C-73E3FDBECDAD}"/>
              </a:ext>
            </a:extLst>
          </p:cNvPr>
          <p:cNvSpPr>
            <a:spLocks noChangeShapeType="1"/>
          </p:cNvSpPr>
          <p:nvPr/>
        </p:nvSpPr>
        <p:spPr bwMode="auto">
          <a:xfrm>
            <a:off x="5254625" y="2386013"/>
            <a:ext cx="0"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3" name="Line 150">
            <a:extLst>
              <a:ext uri="{FF2B5EF4-FFF2-40B4-BE49-F238E27FC236}">
                <a16:creationId xmlns:a16="http://schemas.microsoft.com/office/drawing/2014/main" id="{E4EDA27D-EAF6-4FEC-B1F7-5E8518496AAB}"/>
              </a:ext>
            </a:extLst>
          </p:cNvPr>
          <p:cNvSpPr>
            <a:spLocks noChangeShapeType="1"/>
          </p:cNvSpPr>
          <p:nvPr/>
        </p:nvSpPr>
        <p:spPr bwMode="auto">
          <a:xfrm>
            <a:off x="6515100" y="2386013"/>
            <a:ext cx="0" cy="10668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44" name="Rectangle 151">
            <a:extLst>
              <a:ext uri="{FF2B5EF4-FFF2-40B4-BE49-F238E27FC236}">
                <a16:creationId xmlns:a16="http://schemas.microsoft.com/office/drawing/2014/main" id="{4AEDCD62-F69C-446F-9F56-5F910B07029D}"/>
              </a:ext>
            </a:extLst>
          </p:cNvPr>
          <p:cNvSpPr>
            <a:spLocks noChangeArrowheads="1"/>
          </p:cNvSpPr>
          <p:nvPr/>
        </p:nvSpPr>
        <p:spPr bwMode="auto">
          <a:xfrm>
            <a:off x="6965950" y="2230438"/>
            <a:ext cx="1428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D</a:t>
            </a:r>
            <a:endParaRPr lang="zh-CN" altLang="zh-CN"/>
          </a:p>
        </p:txBody>
      </p:sp>
      <p:sp>
        <p:nvSpPr>
          <p:cNvPr id="55445" name="Rectangle 152">
            <a:extLst>
              <a:ext uri="{FF2B5EF4-FFF2-40B4-BE49-F238E27FC236}">
                <a16:creationId xmlns:a16="http://schemas.microsoft.com/office/drawing/2014/main" id="{1673923B-AB08-4A62-9401-9ADA8A1C6C3E}"/>
              </a:ext>
            </a:extLst>
          </p:cNvPr>
          <p:cNvSpPr>
            <a:spLocks noChangeArrowheads="1"/>
          </p:cNvSpPr>
          <p:nvPr/>
        </p:nvSpPr>
        <p:spPr bwMode="auto">
          <a:xfrm>
            <a:off x="7051675"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446" name="Rectangle 153">
            <a:extLst>
              <a:ext uri="{FF2B5EF4-FFF2-40B4-BE49-F238E27FC236}">
                <a16:creationId xmlns:a16="http://schemas.microsoft.com/office/drawing/2014/main" id="{5D8FA009-3397-416A-952A-042B74C5C2D5}"/>
              </a:ext>
            </a:extLst>
          </p:cNvPr>
          <p:cNvSpPr>
            <a:spLocks noChangeArrowheads="1"/>
          </p:cNvSpPr>
          <p:nvPr/>
        </p:nvSpPr>
        <p:spPr bwMode="auto">
          <a:xfrm>
            <a:off x="7116763" y="2230438"/>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447" name="Rectangle 154">
            <a:extLst>
              <a:ext uri="{FF2B5EF4-FFF2-40B4-BE49-F238E27FC236}">
                <a16:creationId xmlns:a16="http://schemas.microsoft.com/office/drawing/2014/main" id="{6693BC7F-CAF3-4969-ACA3-5FEFA3C12366}"/>
              </a:ext>
            </a:extLst>
          </p:cNvPr>
          <p:cNvSpPr>
            <a:spLocks noChangeArrowheads="1"/>
          </p:cNvSpPr>
          <p:nvPr/>
        </p:nvSpPr>
        <p:spPr bwMode="auto">
          <a:xfrm>
            <a:off x="7153275" y="2230438"/>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448" name="Freeform 155">
            <a:extLst>
              <a:ext uri="{FF2B5EF4-FFF2-40B4-BE49-F238E27FC236}">
                <a16:creationId xmlns:a16="http://schemas.microsoft.com/office/drawing/2014/main" id="{FF299C70-46BB-41A1-9A52-3439D1514418}"/>
              </a:ext>
            </a:extLst>
          </p:cNvPr>
          <p:cNvSpPr>
            <a:spLocks/>
          </p:cNvSpPr>
          <p:nvPr/>
        </p:nvSpPr>
        <p:spPr bwMode="auto">
          <a:xfrm>
            <a:off x="7127875" y="2895600"/>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20" y="31"/>
                </a:lnTo>
                <a:lnTo>
                  <a:pt x="22" y="31"/>
                </a:lnTo>
                <a:lnTo>
                  <a:pt x="25" y="29"/>
                </a:lnTo>
                <a:lnTo>
                  <a:pt x="27" y="29"/>
                </a:lnTo>
                <a:lnTo>
                  <a:pt x="29" y="27"/>
                </a:lnTo>
                <a:lnTo>
                  <a:pt x="31" y="25"/>
                </a:lnTo>
                <a:lnTo>
                  <a:pt x="31" y="23"/>
                </a:lnTo>
                <a:lnTo>
                  <a:pt x="34" y="21"/>
                </a:lnTo>
                <a:lnTo>
                  <a:pt x="34" y="18"/>
                </a:lnTo>
                <a:lnTo>
                  <a:pt x="34" y="16"/>
                </a:lnTo>
                <a:lnTo>
                  <a:pt x="34" y="12"/>
                </a:lnTo>
                <a:lnTo>
                  <a:pt x="34" y="10"/>
                </a:lnTo>
                <a:lnTo>
                  <a:pt x="31" y="8"/>
                </a:lnTo>
                <a:lnTo>
                  <a:pt x="31" y="6"/>
                </a:lnTo>
                <a:lnTo>
                  <a:pt x="29" y="4"/>
                </a:lnTo>
                <a:lnTo>
                  <a:pt x="27" y="2"/>
                </a:lnTo>
                <a:lnTo>
                  <a:pt x="25" y="2"/>
                </a:lnTo>
                <a:lnTo>
                  <a:pt x="22" y="0"/>
                </a:lnTo>
                <a:lnTo>
                  <a:pt x="20" y="0"/>
                </a:lnTo>
                <a:lnTo>
                  <a:pt x="16" y="0"/>
                </a:lnTo>
                <a:lnTo>
                  <a:pt x="13" y="0"/>
                </a:lnTo>
                <a:lnTo>
                  <a:pt x="11" y="0"/>
                </a:lnTo>
                <a:lnTo>
                  <a:pt x="9" y="2"/>
                </a:lnTo>
                <a:lnTo>
                  <a:pt x="6" y="2"/>
                </a:lnTo>
                <a:lnTo>
                  <a:pt x="4" y="4"/>
                </a:lnTo>
                <a:lnTo>
                  <a:pt x="2" y="6"/>
                </a:lnTo>
                <a:lnTo>
                  <a:pt x="2" y="8"/>
                </a:lnTo>
                <a:lnTo>
                  <a:pt x="0" y="10"/>
                </a:lnTo>
                <a:lnTo>
                  <a:pt x="0" y="12"/>
                </a:lnTo>
                <a:lnTo>
                  <a:pt x="0" y="16"/>
                </a:lnTo>
                <a:lnTo>
                  <a:pt x="0" y="18"/>
                </a:lnTo>
                <a:lnTo>
                  <a:pt x="0" y="21"/>
                </a:lnTo>
                <a:lnTo>
                  <a:pt x="2" y="23"/>
                </a:lnTo>
                <a:lnTo>
                  <a:pt x="2" y="25"/>
                </a:lnTo>
                <a:lnTo>
                  <a:pt x="4" y="27"/>
                </a:lnTo>
                <a:lnTo>
                  <a:pt x="6" y="29"/>
                </a:lnTo>
                <a:lnTo>
                  <a:pt x="9" y="29"/>
                </a:lnTo>
                <a:lnTo>
                  <a:pt x="11" y="31"/>
                </a:lnTo>
                <a:lnTo>
                  <a:pt x="13"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49" name="Freeform 156">
            <a:extLst>
              <a:ext uri="{FF2B5EF4-FFF2-40B4-BE49-F238E27FC236}">
                <a16:creationId xmlns:a16="http://schemas.microsoft.com/office/drawing/2014/main" id="{BE7F673A-BD82-4E46-BEF5-EE8A6183F7BF}"/>
              </a:ext>
            </a:extLst>
          </p:cNvPr>
          <p:cNvSpPr>
            <a:spLocks/>
          </p:cNvSpPr>
          <p:nvPr/>
        </p:nvSpPr>
        <p:spPr bwMode="auto">
          <a:xfrm>
            <a:off x="3252788" y="2917825"/>
            <a:ext cx="2513012" cy="2070100"/>
          </a:xfrm>
          <a:custGeom>
            <a:avLst/>
            <a:gdLst>
              <a:gd name="T0" fmla="*/ 0 w 1583"/>
              <a:gd name="T1" fmla="*/ 0 h 1304"/>
              <a:gd name="T2" fmla="*/ 0 w 1583"/>
              <a:gd name="T3" fmla="*/ 2147483646 h 1304"/>
              <a:gd name="T4" fmla="*/ 2147483646 w 1583"/>
              <a:gd name="T5" fmla="*/ 2147483646 h 1304"/>
              <a:gd name="T6" fmla="*/ 2147483646 w 1583"/>
              <a:gd name="T7" fmla="*/ 2147483646 h 13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83" h="1304">
                <a:moveTo>
                  <a:pt x="0" y="0"/>
                </a:moveTo>
                <a:lnTo>
                  <a:pt x="0" y="1095"/>
                </a:lnTo>
                <a:lnTo>
                  <a:pt x="1583" y="1095"/>
                </a:lnTo>
                <a:lnTo>
                  <a:pt x="1583" y="1304"/>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50" name="Freeform 157">
            <a:extLst>
              <a:ext uri="{FF2B5EF4-FFF2-40B4-BE49-F238E27FC236}">
                <a16:creationId xmlns:a16="http://schemas.microsoft.com/office/drawing/2014/main" id="{3D1A614E-FE2B-4238-BC16-1C7D328C2632}"/>
              </a:ext>
            </a:extLst>
          </p:cNvPr>
          <p:cNvSpPr>
            <a:spLocks/>
          </p:cNvSpPr>
          <p:nvPr/>
        </p:nvSpPr>
        <p:spPr bwMode="auto">
          <a:xfrm>
            <a:off x="4541838" y="2917825"/>
            <a:ext cx="1460500" cy="2070100"/>
          </a:xfrm>
          <a:custGeom>
            <a:avLst/>
            <a:gdLst>
              <a:gd name="T0" fmla="*/ 0 w 920"/>
              <a:gd name="T1" fmla="*/ 0 h 1304"/>
              <a:gd name="T2" fmla="*/ 0 w 920"/>
              <a:gd name="T3" fmla="*/ 2147483646 h 1304"/>
              <a:gd name="T4" fmla="*/ 2147483646 w 920"/>
              <a:gd name="T5" fmla="*/ 2147483646 h 1304"/>
              <a:gd name="T6" fmla="*/ 2147483646 w 920"/>
              <a:gd name="T7" fmla="*/ 2147483646 h 13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20" h="1304">
                <a:moveTo>
                  <a:pt x="0" y="0"/>
                </a:moveTo>
                <a:lnTo>
                  <a:pt x="0" y="1001"/>
                </a:lnTo>
                <a:lnTo>
                  <a:pt x="920" y="1001"/>
                </a:lnTo>
                <a:lnTo>
                  <a:pt x="920" y="1304"/>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51" name="Line 158">
            <a:extLst>
              <a:ext uri="{FF2B5EF4-FFF2-40B4-BE49-F238E27FC236}">
                <a16:creationId xmlns:a16="http://schemas.microsoft.com/office/drawing/2014/main" id="{6456A20F-AAFF-45CB-90BA-26158581571C}"/>
              </a:ext>
            </a:extLst>
          </p:cNvPr>
          <p:cNvSpPr>
            <a:spLocks noChangeShapeType="1"/>
          </p:cNvSpPr>
          <p:nvPr/>
        </p:nvSpPr>
        <p:spPr bwMode="auto">
          <a:xfrm>
            <a:off x="5888038" y="2917825"/>
            <a:ext cx="3175" cy="2070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2" name="Freeform 159">
            <a:extLst>
              <a:ext uri="{FF2B5EF4-FFF2-40B4-BE49-F238E27FC236}">
                <a16:creationId xmlns:a16="http://schemas.microsoft.com/office/drawing/2014/main" id="{929D8608-DF82-47FB-A900-8C6E1AA58FBB}"/>
              </a:ext>
            </a:extLst>
          </p:cNvPr>
          <p:cNvSpPr>
            <a:spLocks/>
          </p:cNvSpPr>
          <p:nvPr/>
        </p:nvSpPr>
        <p:spPr bwMode="auto">
          <a:xfrm>
            <a:off x="6121400" y="2917825"/>
            <a:ext cx="1031875" cy="2070100"/>
          </a:xfrm>
          <a:custGeom>
            <a:avLst/>
            <a:gdLst>
              <a:gd name="T0" fmla="*/ 2147483646 w 650"/>
              <a:gd name="T1" fmla="*/ 0 h 1304"/>
              <a:gd name="T2" fmla="*/ 2147483646 w 650"/>
              <a:gd name="T3" fmla="*/ 2147483646 h 1304"/>
              <a:gd name="T4" fmla="*/ 0 w 650"/>
              <a:gd name="T5" fmla="*/ 2147483646 h 1304"/>
              <a:gd name="T6" fmla="*/ 0 w 650"/>
              <a:gd name="T7" fmla="*/ 2147483646 h 13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0" h="1304">
                <a:moveTo>
                  <a:pt x="650" y="0"/>
                </a:moveTo>
                <a:lnTo>
                  <a:pt x="650" y="1185"/>
                </a:lnTo>
                <a:lnTo>
                  <a:pt x="0" y="1185"/>
                </a:lnTo>
                <a:lnTo>
                  <a:pt x="0" y="1304"/>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53" name="Line 160">
            <a:extLst>
              <a:ext uri="{FF2B5EF4-FFF2-40B4-BE49-F238E27FC236}">
                <a16:creationId xmlns:a16="http://schemas.microsoft.com/office/drawing/2014/main" id="{E1467177-99A9-47F6-AD3F-CF04366EA335}"/>
              </a:ext>
            </a:extLst>
          </p:cNvPr>
          <p:cNvSpPr>
            <a:spLocks noChangeShapeType="1"/>
          </p:cNvSpPr>
          <p:nvPr/>
        </p:nvSpPr>
        <p:spPr bwMode="auto">
          <a:xfrm>
            <a:off x="7080250" y="3562350"/>
            <a:ext cx="144463"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4" name="Rectangle 161">
            <a:extLst>
              <a:ext uri="{FF2B5EF4-FFF2-40B4-BE49-F238E27FC236}">
                <a16:creationId xmlns:a16="http://schemas.microsoft.com/office/drawing/2014/main" id="{5312C996-7069-4901-8422-4F7CCEB61874}"/>
              </a:ext>
            </a:extLst>
          </p:cNvPr>
          <p:cNvSpPr>
            <a:spLocks noChangeArrowheads="1"/>
          </p:cNvSpPr>
          <p:nvPr/>
        </p:nvSpPr>
        <p:spPr bwMode="auto">
          <a:xfrm>
            <a:off x="7205663" y="34766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3</a:t>
            </a:r>
            <a:endParaRPr lang="zh-CN" altLang="zh-CN"/>
          </a:p>
        </p:txBody>
      </p:sp>
      <p:sp>
        <p:nvSpPr>
          <p:cNvPr id="55455" name="Rectangle 162">
            <a:extLst>
              <a:ext uri="{FF2B5EF4-FFF2-40B4-BE49-F238E27FC236}">
                <a16:creationId xmlns:a16="http://schemas.microsoft.com/office/drawing/2014/main" id="{0ED93254-7D82-4541-9D03-E44D571A25D2}"/>
              </a:ext>
            </a:extLst>
          </p:cNvPr>
          <p:cNvSpPr>
            <a:spLocks noChangeArrowheads="1"/>
          </p:cNvSpPr>
          <p:nvPr/>
        </p:nvSpPr>
        <p:spPr bwMode="auto">
          <a:xfrm>
            <a:off x="7273925" y="34766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456" name="Line 163">
            <a:extLst>
              <a:ext uri="{FF2B5EF4-FFF2-40B4-BE49-F238E27FC236}">
                <a16:creationId xmlns:a16="http://schemas.microsoft.com/office/drawing/2014/main" id="{8E5998A8-C665-478C-9707-B4217D475AB2}"/>
              </a:ext>
            </a:extLst>
          </p:cNvPr>
          <p:cNvSpPr>
            <a:spLocks noChangeShapeType="1"/>
          </p:cNvSpPr>
          <p:nvPr/>
        </p:nvSpPr>
        <p:spPr bwMode="auto">
          <a:xfrm>
            <a:off x="6623050" y="3562350"/>
            <a:ext cx="142875" cy="8096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57" name="Rectangle 164">
            <a:extLst>
              <a:ext uri="{FF2B5EF4-FFF2-40B4-BE49-F238E27FC236}">
                <a16:creationId xmlns:a16="http://schemas.microsoft.com/office/drawing/2014/main" id="{F4F7993F-C174-4273-8E92-200B408B3EF5}"/>
              </a:ext>
            </a:extLst>
          </p:cNvPr>
          <p:cNvSpPr>
            <a:spLocks noChangeArrowheads="1"/>
          </p:cNvSpPr>
          <p:nvPr/>
        </p:nvSpPr>
        <p:spPr bwMode="auto">
          <a:xfrm>
            <a:off x="6748463" y="34766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458" name="Rectangle 165">
            <a:extLst>
              <a:ext uri="{FF2B5EF4-FFF2-40B4-BE49-F238E27FC236}">
                <a16:creationId xmlns:a16="http://schemas.microsoft.com/office/drawing/2014/main" id="{9D1BBE3C-F906-4ECD-B888-A6574ED4DEA1}"/>
              </a:ext>
            </a:extLst>
          </p:cNvPr>
          <p:cNvSpPr>
            <a:spLocks noChangeArrowheads="1"/>
          </p:cNvSpPr>
          <p:nvPr/>
        </p:nvSpPr>
        <p:spPr bwMode="auto">
          <a:xfrm>
            <a:off x="6815138" y="34766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459" name="Freeform 166">
            <a:extLst>
              <a:ext uri="{FF2B5EF4-FFF2-40B4-BE49-F238E27FC236}">
                <a16:creationId xmlns:a16="http://schemas.microsoft.com/office/drawing/2014/main" id="{53707B53-F96A-44BE-9444-58A265901260}"/>
              </a:ext>
            </a:extLst>
          </p:cNvPr>
          <p:cNvSpPr>
            <a:spLocks/>
          </p:cNvSpPr>
          <p:nvPr/>
        </p:nvSpPr>
        <p:spPr bwMode="auto">
          <a:xfrm>
            <a:off x="1704975" y="3606800"/>
            <a:ext cx="4806950" cy="301625"/>
          </a:xfrm>
          <a:custGeom>
            <a:avLst/>
            <a:gdLst>
              <a:gd name="T0" fmla="*/ 2147483646 w 3028"/>
              <a:gd name="T1" fmla="*/ 2147483646 h 190"/>
              <a:gd name="T2" fmla="*/ 2147483646 w 3028"/>
              <a:gd name="T3" fmla="*/ 2147483646 h 190"/>
              <a:gd name="T4" fmla="*/ 2147483646 w 3028"/>
              <a:gd name="T5" fmla="*/ 0 h 190"/>
              <a:gd name="T6" fmla="*/ 0 w 3028"/>
              <a:gd name="T7" fmla="*/ 0 h 1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28" h="190">
                <a:moveTo>
                  <a:pt x="3028" y="190"/>
                </a:moveTo>
                <a:lnTo>
                  <a:pt x="2874" y="190"/>
                </a:lnTo>
                <a:lnTo>
                  <a:pt x="2874" y="0"/>
                </a:lnTo>
                <a:lnTo>
                  <a:pt x="0"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60" name="Freeform 167">
            <a:extLst>
              <a:ext uri="{FF2B5EF4-FFF2-40B4-BE49-F238E27FC236}">
                <a16:creationId xmlns:a16="http://schemas.microsoft.com/office/drawing/2014/main" id="{FEA5A916-F29D-453B-B413-E815592B5C5C}"/>
              </a:ext>
            </a:extLst>
          </p:cNvPr>
          <p:cNvSpPr>
            <a:spLocks/>
          </p:cNvSpPr>
          <p:nvPr/>
        </p:nvSpPr>
        <p:spPr bwMode="auto">
          <a:xfrm>
            <a:off x="4864100" y="3606800"/>
            <a:ext cx="401638" cy="301625"/>
          </a:xfrm>
          <a:custGeom>
            <a:avLst/>
            <a:gdLst>
              <a:gd name="T0" fmla="*/ 0 w 253"/>
              <a:gd name="T1" fmla="*/ 0 h 190"/>
              <a:gd name="T2" fmla="*/ 0 w 253"/>
              <a:gd name="T3" fmla="*/ 2147483646 h 190"/>
              <a:gd name="T4" fmla="*/ 2147483646 w 253"/>
              <a:gd name="T5" fmla="*/ 2147483646 h 190"/>
              <a:gd name="T6" fmla="*/ 0 60000 65536"/>
              <a:gd name="T7" fmla="*/ 0 60000 65536"/>
              <a:gd name="T8" fmla="*/ 0 60000 65536"/>
            </a:gdLst>
            <a:ahLst/>
            <a:cxnLst>
              <a:cxn ang="T6">
                <a:pos x="T0" y="T1"/>
              </a:cxn>
              <a:cxn ang="T7">
                <a:pos x="T2" y="T3"/>
              </a:cxn>
              <a:cxn ang="T8">
                <a:pos x="T4" y="T5"/>
              </a:cxn>
            </a:cxnLst>
            <a:rect l="0" t="0" r="r" b="b"/>
            <a:pathLst>
              <a:path w="253" h="190">
                <a:moveTo>
                  <a:pt x="0" y="0"/>
                </a:moveTo>
                <a:lnTo>
                  <a:pt x="0" y="190"/>
                </a:lnTo>
                <a:lnTo>
                  <a:pt x="253" y="19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61" name="Freeform 168">
            <a:extLst>
              <a:ext uri="{FF2B5EF4-FFF2-40B4-BE49-F238E27FC236}">
                <a16:creationId xmlns:a16="http://schemas.microsoft.com/office/drawing/2014/main" id="{6B81DA21-4472-493E-A2C3-83564BA3C383}"/>
              </a:ext>
            </a:extLst>
          </p:cNvPr>
          <p:cNvSpPr>
            <a:spLocks/>
          </p:cNvSpPr>
          <p:nvPr/>
        </p:nvSpPr>
        <p:spPr bwMode="auto">
          <a:xfrm>
            <a:off x="4838700" y="3582988"/>
            <a:ext cx="53975" cy="49212"/>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0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0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20" y="31"/>
                </a:lnTo>
                <a:lnTo>
                  <a:pt x="23" y="31"/>
                </a:lnTo>
                <a:lnTo>
                  <a:pt x="25" y="29"/>
                </a:lnTo>
                <a:lnTo>
                  <a:pt x="27" y="29"/>
                </a:lnTo>
                <a:lnTo>
                  <a:pt x="29" y="27"/>
                </a:lnTo>
                <a:lnTo>
                  <a:pt x="29" y="25"/>
                </a:lnTo>
                <a:lnTo>
                  <a:pt x="32" y="23"/>
                </a:lnTo>
                <a:lnTo>
                  <a:pt x="34" y="21"/>
                </a:lnTo>
                <a:lnTo>
                  <a:pt x="34" y="19"/>
                </a:lnTo>
                <a:lnTo>
                  <a:pt x="34" y="15"/>
                </a:lnTo>
                <a:lnTo>
                  <a:pt x="34" y="12"/>
                </a:lnTo>
                <a:lnTo>
                  <a:pt x="34" y="10"/>
                </a:lnTo>
                <a:lnTo>
                  <a:pt x="32" y="8"/>
                </a:lnTo>
                <a:lnTo>
                  <a:pt x="29" y="6"/>
                </a:lnTo>
                <a:lnTo>
                  <a:pt x="29" y="4"/>
                </a:lnTo>
                <a:lnTo>
                  <a:pt x="27" y="2"/>
                </a:lnTo>
                <a:lnTo>
                  <a:pt x="25" y="2"/>
                </a:lnTo>
                <a:lnTo>
                  <a:pt x="23" y="0"/>
                </a:lnTo>
                <a:lnTo>
                  <a:pt x="20" y="0"/>
                </a:lnTo>
                <a:lnTo>
                  <a:pt x="16" y="0"/>
                </a:lnTo>
                <a:lnTo>
                  <a:pt x="14" y="0"/>
                </a:lnTo>
                <a:lnTo>
                  <a:pt x="11" y="0"/>
                </a:lnTo>
                <a:lnTo>
                  <a:pt x="9" y="2"/>
                </a:lnTo>
                <a:lnTo>
                  <a:pt x="7" y="2"/>
                </a:lnTo>
                <a:lnTo>
                  <a:pt x="5" y="4"/>
                </a:lnTo>
                <a:lnTo>
                  <a:pt x="2" y="6"/>
                </a:lnTo>
                <a:lnTo>
                  <a:pt x="0" y="8"/>
                </a:lnTo>
                <a:lnTo>
                  <a:pt x="0" y="10"/>
                </a:lnTo>
                <a:lnTo>
                  <a:pt x="0" y="12"/>
                </a:lnTo>
                <a:lnTo>
                  <a:pt x="0" y="15"/>
                </a:lnTo>
                <a:lnTo>
                  <a:pt x="0" y="19"/>
                </a:lnTo>
                <a:lnTo>
                  <a:pt x="0" y="21"/>
                </a:lnTo>
                <a:lnTo>
                  <a:pt x="0" y="23"/>
                </a:lnTo>
                <a:lnTo>
                  <a:pt x="2" y="25"/>
                </a:lnTo>
                <a:lnTo>
                  <a:pt x="5" y="27"/>
                </a:lnTo>
                <a:lnTo>
                  <a:pt x="7" y="29"/>
                </a:lnTo>
                <a:lnTo>
                  <a:pt x="9" y="29"/>
                </a:lnTo>
                <a:lnTo>
                  <a:pt x="11" y="31"/>
                </a:lnTo>
                <a:lnTo>
                  <a:pt x="14"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62" name="Freeform 169">
            <a:extLst>
              <a:ext uri="{FF2B5EF4-FFF2-40B4-BE49-F238E27FC236}">
                <a16:creationId xmlns:a16="http://schemas.microsoft.com/office/drawing/2014/main" id="{58C0C43E-80F7-480E-8601-0F75873A81B7}"/>
              </a:ext>
            </a:extLst>
          </p:cNvPr>
          <p:cNvSpPr>
            <a:spLocks/>
          </p:cNvSpPr>
          <p:nvPr/>
        </p:nvSpPr>
        <p:spPr bwMode="auto">
          <a:xfrm>
            <a:off x="3546475" y="3606800"/>
            <a:ext cx="442913" cy="301625"/>
          </a:xfrm>
          <a:custGeom>
            <a:avLst/>
            <a:gdLst>
              <a:gd name="T0" fmla="*/ 0 w 279"/>
              <a:gd name="T1" fmla="*/ 0 h 190"/>
              <a:gd name="T2" fmla="*/ 0 w 279"/>
              <a:gd name="T3" fmla="*/ 2147483646 h 190"/>
              <a:gd name="T4" fmla="*/ 2147483646 w 279"/>
              <a:gd name="T5" fmla="*/ 2147483646 h 190"/>
              <a:gd name="T6" fmla="*/ 0 60000 65536"/>
              <a:gd name="T7" fmla="*/ 0 60000 65536"/>
              <a:gd name="T8" fmla="*/ 0 60000 65536"/>
            </a:gdLst>
            <a:ahLst/>
            <a:cxnLst>
              <a:cxn ang="T6">
                <a:pos x="T0" y="T1"/>
              </a:cxn>
              <a:cxn ang="T7">
                <a:pos x="T2" y="T3"/>
              </a:cxn>
              <a:cxn ang="T8">
                <a:pos x="T4" y="T5"/>
              </a:cxn>
            </a:cxnLst>
            <a:rect l="0" t="0" r="r" b="b"/>
            <a:pathLst>
              <a:path w="279" h="190">
                <a:moveTo>
                  <a:pt x="0" y="0"/>
                </a:moveTo>
                <a:lnTo>
                  <a:pt x="0" y="190"/>
                </a:lnTo>
                <a:lnTo>
                  <a:pt x="279" y="19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63" name="Freeform 170">
            <a:extLst>
              <a:ext uri="{FF2B5EF4-FFF2-40B4-BE49-F238E27FC236}">
                <a16:creationId xmlns:a16="http://schemas.microsoft.com/office/drawing/2014/main" id="{E4F28E0F-0E57-46A3-AA3F-34E78A776187}"/>
              </a:ext>
            </a:extLst>
          </p:cNvPr>
          <p:cNvSpPr>
            <a:spLocks/>
          </p:cNvSpPr>
          <p:nvPr/>
        </p:nvSpPr>
        <p:spPr bwMode="auto">
          <a:xfrm>
            <a:off x="3521075" y="3582988"/>
            <a:ext cx="53975" cy="49212"/>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20" y="31"/>
                </a:lnTo>
                <a:lnTo>
                  <a:pt x="22" y="31"/>
                </a:lnTo>
                <a:lnTo>
                  <a:pt x="25" y="29"/>
                </a:lnTo>
                <a:lnTo>
                  <a:pt x="27" y="29"/>
                </a:lnTo>
                <a:lnTo>
                  <a:pt x="29" y="27"/>
                </a:lnTo>
                <a:lnTo>
                  <a:pt x="29" y="25"/>
                </a:lnTo>
                <a:lnTo>
                  <a:pt x="31" y="23"/>
                </a:lnTo>
                <a:lnTo>
                  <a:pt x="34" y="21"/>
                </a:lnTo>
                <a:lnTo>
                  <a:pt x="34" y="19"/>
                </a:lnTo>
                <a:lnTo>
                  <a:pt x="34" y="15"/>
                </a:lnTo>
                <a:lnTo>
                  <a:pt x="34" y="12"/>
                </a:lnTo>
                <a:lnTo>
                  <a:pt x="34" y="10"/>
                </a:lnTo>
                <a:lnTo>
                  <a:pt x="31" y="8"/>
                </a:lnTo>
                <a:lnTo>
                  <a:pt x="29" y="6"/>
                </a:lnTo>
                <a:lnTo>
                  <a:pt x="29" y="4"/>
                </a:lnTo>
                <a:lnTo>
                  <a:pt x="27" y="2"/>
                </a:lnTo>
                <a:lnTo>
                  <a:pt x="25" y="2"/>
                </a:lnTo>
                <a:lnTo>
                  <a:pt x="22" y="0"/>
                </a:lnTo>
                <a:lnTo>
                  <a:pt x="20" y="0"/>
                </a:lnTo>
                <a:lnTo>
                  <a:pt x="16" y="0"/>
                </a:lnTo>
                <a:lnTo>
                  <a:pt x="13" y="0"/>
                </a:lnTo>
                <a:lnTo>
                  <a:pt x="11" y="0"/>
                </a:lnTo>
                <a:lnTo>
                  <a:pt x="9" y="2"/>
                </a:lnTo>
                <a:lnTo>
                  <a:pt x="7" y="2"/>
                </a:lnTo>
                <a:lnTo>
                  <a:pt x="4" y="4"/>
                </a:lnTo>
                <a:lnTo>
                  <a:pt x="2" y="6"/>
                </a:lnTo>
                <a:lnTo>
                  <a:pt x="2" y="8"/>
                </a:lnTo>
                <a:lnTo>
                  <a:pt x="0" y="10"/>
                </a:lnTo>
                <a:lnTo>
                  <a:pt x="0" y="12"/>
                </a:lnTo>
                <a:lnTo>
                  <a:pt x="0" y="15"/>
                </a:lnTo>
                <a:lnTo>
                  <a:pt x="0" y="19"/>
                </a:lnTo>
                <a:lnTo>
                  <a:pt x="0" y="21"/>
                </a:lnTo>
                <a:lnTo>
                  <a:pt x="2" y="23"/>
                </a:lnTo>
                <a:lnTo>
                  <a:pt x="2" y="25"/>
                </a:lnTo>
                <a:lnTo>
                  <a:pt x="4" y="27"/>
                </a:lnTo>
                <a:lnTo>
                  <a:pt x="7" y="29"/>
                </a:lnTo>
                <a:lnTo>
                  <a:pt x="9" y="29"/>
                </a:lnTo>
                <a:lnTo>
                  <a:pt x="11" y="31"/>
                </a:lnTo>
                <a:lnTo>
                  <a:pt x="13"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64" name="Freeform 171">
            <a:extLst>
              <a:ext uri="{FF2B5EF4-FFF2-40B4-BE49-F238E27FC236}">
                <a16:creationId xmlns:a16="http://schemas.microsoft.com/office/drawing/2014/main" id="{7996E5FF-73FE-44F7-9B46-BBF53DCAA9A1}"/>
              </a:ext>
            </a:extLst>
          </p:cNvPr>
          <p:cNvSpPr>
            <a:spLocks/>
          </p:cNvSpPr>
          <p:nvPr/>
        </p:nvSpPr>
        <p:spPr bwMode="auto">
          <a:xfrm>
            <a:off x="1676400" y="3582988"/>
            <a:ext cx="53975" cy="49212"/>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2147483646 w 34"/>
              <a:gd name="T57" fmla="*/ 2147483646 h 31"/>
              <a:gd name="T58" fmla="*/ 0 w 34"/>
              <a:gd name="T59" fmla="*/ 2147483646 h 31"/>
              <a:gd name="T60" fmla="*/ 0 w 34"/>
              <a:gd name="T61" fmla="*/ 2147483646 h 31"/>
              <a:gd name="T62" fmla="*/ 0 w 34"/>
              <a:gd name="T63" fmla="*/ 2147483646 h 31"/>
              <a:gd name="T64" fmla="*/ 2147483646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2147483646 w 34"/>
              <a:gd name="T85" fmla="*/ 2147483646 h 3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4" h="31">
                <a:moveTo>
                  <a:pt x="16" y="31"/>
                </a:moveTo>
                <a:lnTo>
                  <a:pt x="20" y="31"/>
                </a:lnTo>
                <a:lnTo>
                  <a:pt x="23" y="31"/>
                </a:lnTo>
                <a:lnTo>
                  <a:pt x="25" y="29"/>
                </a:lnTo>
                <a:lnTo>
                  <a:pt x="27" y="29"/>
                </a:lnTo>
                <a:lnTo>
                  <a:pt x="29" y="27"/>
                </a:lnTo>
                <a:lnTo>
                  <a:pt x="32" y="25"/>
                </a:lnTo>
                <a:lnTo>
                  <a:pt x="34" y="23"/>
                </a:lnTo>
                <a:lnTo>
                  <a:pt x="34" y="21"/>
                </a:lnTo>
                <a:lnTo>
                  <a:pt x="34" y="19"/>
                </a:lnTo>
                <a:lnTo>
                  <a:pt x="34" y="15"/>
                </a:lnTo>
                <a:lnTo>
                  <a:pt x="34" y="12"/>
                </a:lnTo>
                <a:lnTo>
                  <a:pt x="34" y="10"/>
                </a:lnTo>
                <a:lnTo>
                  <a:pt x="34" y="8"/>
                </a:lnTo>
                <a:lnTo>
                  <a:pt x="32" y="6"/>
                </a:lnTo>
                <a:lnTo>
                  <a:pt x="29" y="4"/>
                </a:lnTo>
                <a:lnTo>
                  <a:pt x="27" y="2"/>
                </a:lnTo>
                <a:lnTo>
                  <a:pt x="25" y="2"/>
                </a:lnTo>
                <a:lnTo>
                  <a:pt x="23" y="0"/>
                </a:lnTo>
                <a:lnTo>
                  <a:pt x="20" y="0"/>
                </a:lnTo>
                <a:lnTo>
                  <a:pt x="18" y="0"/>
                </a:lnTo>
                <a:lnTo>
                  <a:pt x="16" y="0"/>
                </a:lnTo>
                <a:lnTo>
                  <a:pt x="11" y="0"/>
                </a:lnTo>
                <a:lnTo>
                  <a:pt x="9" y="2"/>
                </a:lnTo>
                <a:lnTo>
                  <a:pt x="7" y="2"/>
                </a:lnTo>
                <a:lnTo>
                  <a:pt x="5" y="4"/>
                </a:lnTo>
                <a:lnTo>
                  <a:pt x="5" y="6"/>
                </a:lnTo>
                <a:lnTo>
                  <a:pt x="2" y="8"/>
                </a:lnTo>
                <a:lnTo>
                  <a:pt x="2" y="10"/>
                </a:lnTo>
                <a:lnTo>
                  <a:pt x="0" y="12"/>
                </a:lnTo>
                <a:lnTo>
                  <a:pt x="0" y="15"/>
                </a:lnTo>
                <a:lnTo>
                  <a:pt x="0" y="19"/>
                </a:lnTo>
                <a:lnTo>
                  <a:pt x="2" y="21"/>
                </a:lnTo>
                <a:lnTo>
                  <a:pt x="2" y="23"/>
                </a:lnTo>
                <a:lnTo>
                  <a:pt x="5" y="25"/>
                </a:lnTo>
                <a:lnTo>
                  <a:pt x="5" y="27"/>
                </a:lnTo>
                <a:lnTo>
                  <a:pt x="7" y="29"/>
                </a:lnTo>
                <a:lnTo>
                  <a:pt x="9" y="29"/>
                </a:lnTo>
                <a:lnTo>
                  <a:pt x="11" y="31"/>
                </a:lnTo>
                <a:lnTo>
                  <a:pt x="16" y="31"/>
                </a:lnTo>
                <a:lnTo>
                  <a:pt x="18"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65" name="Freeform 172">
            <a:extLst>
              <a:ext uri="{FF2B5EF4-FFF2-40B4-BE49-F238E27FC236}">
                <a16:creationId xmlns:a16="http://schemas.microsoft.com/office/drawing/2014/main" id="{E3DAD9AD-B6D3-494C-9E3B-AFE581F7E2E8}"/>
              </a:ext>
            </a:extLst>
          </p:cNvPr>
          <p:cNvSpPr>
            <a:spLocks/>
          </p:cNvSpPr>
          <p:nvPr/>
        </p:nvSpPr>
        <p:spPr bwMode="auto">
          <a:xfrm>
            <a:off x="3886200" y="5014913"/>
            <a:ext cx="219075" cy="279400"/>
          </a:xfrm>
          <a:custGeom>
            <a:avLst/>
            <a:gdLst>
              <a:gd name="T0" fmla="*/ 2147483646 w 138"/>
              <a:gd name="T1" fmla="*/ 2147483646 h 176"/>
              <a:gd name="T2" fmla="*/ 2147483646 w 138"/>
              <a:gd name="T3" fmla="*/ 2147483646 h 176"/>
              <a:gd name="T4" fmla="*/ 2147483646 w 138"/>
              <a:gd name="T5" fmla="*/ 2147483646 h 176"/>
              <a:gd name="T6" fmla="*/ 2147483646 w 138"/>
              <a:gd name="T7" fmla="*/ 2147483646 h 176"/>
              <a:gd name="T8" fmla="*/ 2147483646 w 138"/>
              <a:gd name="T9" fmla="*/ 2147483646 h 176"/>
              <a:gd name="T10" fmla="*/ 2147483646 w 138"/>
              <a:gd name="T11" fmla="*/ 2147483646 h 176"/>
              <a:gd name="T12" fmla="*/ 2147483646 w 138"/>
              <a:gd name="T13" fmla="*/ 2147483646 h 176"/>
              <a:gd name="T14" fmla="*/ 2147483646 w 138"/>
              <a:gd name="T15" fmla="*/ 2147483646 h 176"/>
              <a:gd name="T16" fmla="*/ 2147483646 w 138"/>
              <a:gd name="T17" fmla="*/ 2147483646 h 176"/>
              <a:gd name="T18" fmla="*/ 2147483646 w 138"/>
              <a:gd name="T19" fmla="*/ 2147483646 h 176"/>
              <a:gd name="T20" fmla="*/ 2147483646 w 138"/>
              <a:gd name="T21" fmla="*/ 0 h 176"/>
              <a:gd name="T22" fmla="*/ 2147483646 w 138"/>
              <a:gd name="T23" fmla="*/ 2147483646 h 176"/>
              <a:gd name="T24" fmla="*/ 0 w 138"/>
              <a:gd name="T25" fmla="*/ 2147483646 h 176"/>
              <a:gd name="T26" fmla="*/ 0 w 138"/>
              <a:gd name="T27" fmla="*/ 2147483646 h 176"/>
              <a:gd name="T28" fmla="*/ 0 w 138"/>
              <a:gd name="T29" fmla="*/ 2147483646 h 176"/>
              <a:gd name="T30" fmla="*/ 0 w 138"/>
              <a:gd name="T31" fmla="*/ 2147483646 h 176"/>
              <a:gd name="T32" fmla="*/ 2147483646 w 138"/>
              <a:gd name="T33" fmla="*/ 2147483646 h 176"/>
              <a:gd name="T34" fmla="*/ 2147483646 w 138"/>
              <a:gd name="T35" fmla="*/ 2147483646 h 176"/>
              <a:gd name="T36" fmla="*/ 2147483646 w 138"/>
              <a:gd name="T37" fmla="*/ 2147483646 h 176"/>
              <a:gd name="T38" fmla="*/ 2147483646 w 138"/>
              <a:gd name="T39" fmla="*/ 2147483646 h 176"/>
              <a:gd name="T40" fmla="*/ 2147483646 w 138"/>
              <a:gd name="T41" fmla="*/ 2147483646 h 176"/>
              <a:gd name="T42" fmla="*/ 2147483646 w 138"/>
              <a:gd name="T43" fmla="*/ 2147483646 h 176"/>
              <a:gd name="T44" fmla="*/ 2147483646 w 138"/>
              <a:gd name="T45" fmla="*/ 2147483646 h 176"/>
              <a:gd name="T46" fmla="*/ 2147483646 w 138"/>
              <a:gd name="T47" fmla="*/ 2147483646 h 176"/>
              <a:gd name="T48" fmla="*/ 2147483646 w 138"/>
              <a:gd name="T49" fmla="*/ 2147483646 h 176"/>
              <a:gd name="T50" fmla="*/ 2147483646 w 138"/>
              <a:gd name="T51" fmla="*/ 2147483646 h 176"/>
              <a:gd name="T52" fmla="*/ 2147483646 w 138"/>
              <a:gd name="T53" fmla="*/ 2147483646 h 176"/>
              <a:gd name="T54" fmla="*/ 2147483646 w 138"/>
              <a:gd name="T55" fmla="*/ 2147483646 h 176"/>
              <a:gd name="T56" fmla="*/ 2147483646 w 138"/>
              <a:gd name="T57" fmla="*/ 2147483646 h 176"/>
              <a:gd name="T58" fmla="*/ 2147483646 w 138"/>
              <a:gd name="T59" fmla="*/ 2147483646 h 176"/>
              <a:gd name="T60" fmla="*/ 2147483646 w 138"/>
              <a:gd name="T61" fmla="*/ 2147483646 h 176"/>
              <a:gd name="T62" fmla="*/ 2147483646 w 138"/>
              <a:gd name="T63" fmla="*/ 2147483646 h 176"/>
              <a:gd name="T64" fmla="*/ 2147483646 w 138"/>
              <a:gd name="T65" fmla="*/ 2147483646 h 176"/>
              <a:gd name="T66" fmla="*/ 2147483646 w 138"/>
              <a:gd name="T67" fmla="*/ 2147483646 h 176"/>
              <a:gd name="T68" fmla="*/ 2147483646 w 138"/>
              <a:gd name="T69" fmla="*/ 2147483646 h 176"/>
              <a:gd name="T70" fmla="*/ 2147483646 w 138"/>
              <a:gd name="T71" fmla="*/ 2147483646 h 176"/>
              <a:gd name="T72" fmla="*/ 2147483646 w 138"/>
              <a:gd name="T73" fmla="*/ 2147483646 h 176"/>
              <a:gd name="T74" fmla="*/ 2147483646 w 138"/>
              <a:gd name="T75" fmla="*/ 2147483646 h 176"/>
              <a:gd name="T76" fmla="*/ 2147483646 w 138"/>
              <a:gd name="T77" fmla="*/ 2147483646 h 176"/>
              <a:gd name="T78" fmla="*/ 2147483646 w 138"/>
              <a:gd name="T79" fmla="*/ 2147483646 h 176"/>
              <a:gd name="T80" fmla="*/ 2147483646 w 138"/>
              <a:gd name="T81" fmla="*/ 2147483646 h 176"/>
              <a:gd name="T82" fmla="*/ 2147483646 w 138"/>
              <a:gd name="T83" fmla="*/ 2147483646 h 176"/>
              <a:gd name="T84" fmla="*/ 2147483646 w 138"/>
              <a:gd name="T85" fmla="*/ 2147483646 h 176"/>
              <a:gd name="T86" fmla="*/ 2147483646 w 138"/>
              <a:gd name="T87" fmla="*/ 2147483646 h 176"/>
              <a:gd name="T88" fmla="*/ 2147483646 w 138"/>
              <a:gd name="T89" fmla="*/ 2147483646 h 176"/>
              <a:gd name="T90" fmla="*/ 2147483646 w 138"/>
              <a:gd name="T91" fmla="*/ 2147483646 h 176"/>
              <a:gd name="T92" fmla="*/ 2147483646 w 138"/>
              <a:gd name="T93" fmla="*/ 2147483646 h 176"/>
              <a:gd name="T94" fmla="*/ 2147483646 w 138"/>
              <a:gd name="T95" fmla="*/ 2147483646 h 176"/>
              <a:gd name="T96" fmla="*/ 2147483646 w 138"/>
              <a:gd name="T97" fmla="*/ 2147483646 h 176"/>
              <a:gd name="T98" fmla="*/ 2147483646 w 138"/>
              <a:gd name="T99" fmla="*/ 2147483646 h 176"/>
              <a:gd name="T100" fmla="*/ 2147483646 w 138"/>
              <a:gd name="T101" fmla="*/ 0 h 176"/>
              <a:gd name="T102" fmla="*/ 2147483646 w 138"/>
              <a:gd name="T103" fmla="*/ 2147483646 h 176"/>
              <a:gd name="T104" fmla="*/ 2147483646 w 138"/>
              <a:gd name="T105" fmla="*/ 2147483646 h 176"/>
              <a:gd name="T106" fmla="*/ 2147483646 w 138"/>
              <a:gd name="T107" fmla="*/ 2147483646 h 176"/>
              <a:gd name="T108" fmla="*/ 2147483646 w 138"/>
              <a:gd name="T109" fmla="*/ 2147483646 h 176"/>
              <a:gd name="T110" fmla="*/ 2147483646 w 138"/>
              <a:gd name="T111" fmla="*/ 2147483646 h 176"/>
              <a:gd name="T112" fmla="*/ 2147483646 w 138"/>
              <a:gd name="T113" fmla="*/ 2147483646 h 176"/>
              <a:gd name="T114" fmla="*/ 2147483646 w 138"/>
              <a:gd name="T115" fmla="*/ 2147483646 h 176"/>
              <a:gd name="T116" fmla="*/ 2147483646 w 138"/>
              <a:gd name="T117" fmla="*/ 2147483646 h 176"/>
              <a:gd name="T118" fmla="*/ 2147483646 w 138"/>
              <a:gd name="T119" fmla="*/ 2147483646 h 176"/>
              <a:gd name="T120" fmla="*/ 2147483646 w 138"/>
              <a:gd name="T121" fmla="*/ 2147483646 h 176"/>
              <a:gd name="T122" fmla="*/ 2147483646 w 138"/>
              <a:gd name="T123" fmla="*/ 2147483646 h 1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38" h="176">
                <a:moveTo>
                  <a:pt x="65" y="17"/>
                </a:moveTo>
                <a:lnTo>
                  <a:pt x="59" y="17"/>
                </a:lnTo>
                <a:lnTo>
                  <a:pt x="50" y="17"/>
                </a:lnTo>
                <a:lnTo>
                  <a:pt x="43" y="17"/>
                </a:lnTo>
                <a:lnTo>
                  <a:pt x="38" y="15"/>
                </a:lnTo>
                <a:lnTo>
                  <a:pt x="32" y="15"/>
                </a:lnTo>
                <a:lnTo>
                  <a:pt x="27" y="13"/>
                </a:lnTo>
                <a:lnTo>
                  <a:pt x="20" y="10"/>
                </a:lnTo>
                <a:lnTo>
                  <a:pt x="16" y="8"/>
                </a:lnTo>
                <a:lnTo>
                  <a:pt x="9" y="4"/>
                </a:lnTo>
                <a:lnTo>
                  <a:pt x="2" y="0"/>
                </a:lnTo>
                <a:lnTo>
                  <a:pt x="2" y="4"/>
                </a:lnTo>
                <a:lnTo>
                  <a:pt x="0" y="10"/>
                </a:lnTo>
                <a:lnTo>
                  <a:pt x="0" y="21"/>
                </a:lnTo>
                <a:lnTo>
                  <a:pt x="0" y="34"/>
                </a:lnTo>
                <a:lnTo>
                  <a:pt x="0" y="46"/>
                </a:lnTo>
                <a:lnTo>
                  <a:pt x="2" y="61"/>
                </a:lnTo>
                <a:lnTo>
                  <a:pt x="2" y="75"/>
                </a:lnTo>
                <a:lnTo>
                  <a:pt x="2" y="88"/>
                </a:lnTo>
                <a:lnTo>
                  <a:pt x="2" y="98"/>
                </a:lnTo>
                <a:lnTo>
                  <a:pt x="5" y="105"/>
                </a:lnTo>
                <a:lnTo>
                  <a:pt x="9" y="117"/>
                </a:lnTo>
                <a:lnTo>
                  <a:pt x="14" y="128"/>
                </a:lnTo>
                <a:lnTo>
                  <a:pt x="20" y="138"/>
                </a:lnTo>
                <a:lnTo>
                  <a:pt x="27" y="147"/>
                </a:lnTo>
                <a:lnTo>
                  <a:pt x="36" y="155"/>
                </a:lnTo>
                <a:lnTo>
                  <a:pt x="43" y="161"/>
                </a:lnTo>
                <a:lnTo>
                  <a:pt x="50" y="165"/>
                </a:lnTo>
                <a:lnTo>
                  <a:pt x="56" y="170"/>
                </a:lnTo>
                <a:lnTo>
                  <a:pt x="63" y="174"/>
                </a:lnTo>
                <a:lnTo>
                  <a:pt x="68" y="176"/>
                </a:lnTo>
                <a:lnTo>
                  <a:pt x="74" y="174"/>
                </a:lnTo>
                <a:lnTo>
                  <a:pt x="81" y="170"/>
                </a:lnTo>
                <a:lnTo>
                  <a:pt x="88" y="165"/>
                </a:lnTo>
                <a:lnTo>
                  <a:pt x="95" y="161"/>
                </a:lnTo>
                <a:lnTo>
                  <a:pt x="102" y="155"/>
                </a:lnTo>
                <a:lnTo>
                  <a:pt x="111" y="147"/>
                </a:lnTo>
                <a:lnTo>
                  <a:pt x="117" y="138"/>
                </a:lnTo>
                <a:lnTo>
                  <a:pt x="124" y="128"/>
                </a:lnTo>
                <a:lnTo>
                  <a:pt x="129" y="117"/>
                </a:lnTo>
                <a:lnTo>
                  <a:pt x="133" y="105"/>
                </a:lnTo>
                <a:lnTo>
                  <a:pt x="135" y="98"/>
                </a:lnTo>
                <a:lnTo>
                  <a:pt x="135" y="88"/>
                </a:lnTo>
                <a:lnTo>
                  <a:pt x="135" y="75"/>
                </a:lnTo>
                <a:lnTo>
                  <a:pt x="135" y="61"/>
                </a:lnTo>
                <a:lnTo>
                  <a:pt x="138" y="46"/>
                </a:lnTo>
                <a:lnTo>
                  <a:pt x="135" y="34"/>
                </a:lnTo>
                <a:lnTo>
                  <a:pt x="135" y="21"/>
                </a:lnTo>
                <a:lnTo>
                  <a:pt x="135" y="10"/>
                </a:lnTo>
                <a:lnTo>
                  <a:pt x="135" y="4"/>
                </a:lnTo>
                <a:lnTo>
                  <a:pt x="135" y="0"/>
                </a:lnTo>
                <a:lnTo>
                  <a:pt x="129" y="4"/>
                </a:lnTo>
                <a:lnTo>
                  <a:pt x="122" y="8"/>
                </a:lnTo>
                <a:lnTo>
                  <a:pt x="115" y="10"/>
                </a:lnTo>
                <a:lnTo>
                  <a:pt x="108" y="13"/>
                </a:lnTo>
                <a:lnTo>
                  <a:pt x="104" y="15"/>
                </a:lnTo>
                <a:lnTo>
                  <a:pt x="97" y="15"/>
                </a:lnTo>
                <a:lnTo>
                  <a:pt x="90" y="17"/>
                </a:lnTo>
                <a:lnTo>
                  <a:pt x="83" y="17"/>
                </a:lnTo>
                <a:lnTo>
                  <a:pt x="74" y="17"/>
                </a:lnTo>
                <a:lnTo>
                  <a:pt x="68" y="1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66" name="Freeform 173">
            <a:extLst>
              <a:ext uri="{FF2B5EF4-FFF2-40B4-BE49-F238E27FC236}">
                <a16:creationId xmlns:a16="http://schemas.microsoft.com/office/drawing/2014/main" id="{3F17CEB7-2197-461D-8BBD-A71831AF460C}"/>
              </a:ext>
            </a:extLst>
          </p:cNvPr>
          <p:cNvSpPr>
            <a:spLocks/>
          </p:cNvSpPr>
          <p:nvPr/>
        </p:nvSpPr>
        <p:spPr bwMode="auto">
          <a:xfrm>
            <a:off x="5472113" y="4987925"/>
            <a:ext cx="1096962" cy="306388"/>
          </a:xfrm>
          <a:custGeom>
            <a:avLst/>
            <a:gdLst>
              <a:gd name="T0" fmla="*/ 2147483646 w 691"/>
              <a:gd name="T1" fmla="*/ 2147483646 h 193"/>
              <a:gd name="T2" fmla="*/ 2147483646 w 691"/>
              <a:gd name="T3" fmla="*/ 2147483646 h 193"/>
              <a:gd name="T4" fmla="*/ 2147483646 w 691"/>
              <a:gd name="T5" fmla="*/ 2147483646 h 193"/>
              <a:gd name="T6" fmla="*/ 2147483646 w 691"/>
              <a:gd name="T7" fmla="*/ 2147483646 h 193"/>
              <a:gd name="T8" fmla="*/ 2147483646 w 691"/>
              <a:gd name="T9" fmla="*/ 2147483646 h 193"/>
              <a:gd name="T10" fmla="*/ 2147483646 w 691"/>
              <a:gd name="T11" fmla="*/ 2147483646 h 193"/>
              <a:gd name="T12" fmla="*/ 2147483646 w 691"/>
              <a:gd name="T13" fmla="*/ 2147483646 h 193"/>
              <a:gd name="T14" fmla="*/ 2147483646 w 691"/>
              <a:gd name="T15" fmla="*/ 2147483646 h 193"/>
              <a:gd name="T16" fmla="*/ 2147483646 w 691"/>
              <a:gd name="T17" fmla="*/ 2147483646 h 193"/>
              <a:gd name="T18" fmla="*/ 2147483646 w 691"/>
              <a:gd name="T19" fmla="*/ 2147483646 h 193"/>
              <a:gd name="T20" fmla="*/ 0 w 691"/>
              <a:gd name="T21" fmla="*/ 2147483646 h 193"/>
              <a:gd name="T22" fmla="*/ 2147483646 w 691"/>
              <a:gd name="T23" fmla="*/ 2147483646 h 193"/>
              <a:gd name="T24" fmla="*/ 2147483646 w 691"/>
              <a:gd name="T25" fmla="*/ 2147483646 h 193"/>
              <a:gd name="T26" fmla="*/ 2147483646 w 691"/>
              <a:gd name="T27" fmla="*/ 2147483646 h 193"/>
              <a:gd name="T28" fmla="*/ 2147483646 w 691"/>
              <a:gd name="T29" fmla="*/ 2147483646 h 193"/>
              <a:gd name="T30" fmla="*/ 2147483646 w 691"/>
              <a:gd name="T31" fmla="*/ 2147483646 h 193"/>
              <a:gd name="T32" fmla="*/ 2147483646 w 691"/>
              <a:gd name="T33" fmla="*/ 2147483646 h 193"/>
              <a:gd name="T34" fmla="*/ 2147483646 w 691"/>
              <a:gd name="T35" fmla="*/ 2147483646 h 193"/>
              <a:gd name="T36" fmla="*/ 2147483646 w 691"/>
              <a:gd name="T37" fmla="*/ 2147483646 h 193"/>
              <a:gd name="T38" fmla="*/ 2147483646 w 691"/>
              <a:gd name="T39" fmla="*/ 2147483646 h 193"/>
              <a:gd name="T40" fmla="*/ 2147483646 w 691"/>
              <a:gd name="T41" fmla="*/ 0 h 193"/>
              <a:gd name="T42" fmla="*/ 2147483646 w 691"/>
              <a:gd name="T43" fmla="*/ 0 h 193"/>
              <a:gd name="T44" fmla="*/ 2147483646 w 691"/>
              <a:gd name="T45" fmla="*/ 2147483646 h 193"/>
              <a:gd name="T46" fmla="*/ 2147483646 w 691"/>
              <a:gd name="T47" fmla="*/ 2147483646 h 193"/>
              <a:gd name="T48" fmla="*/ 2147483646 w 691"/>
              <a:gd name="T49" fmla="*/ 2147483646 h 193"/>
              <a:gd name="T50" fmla="*/ 2147483646 w 691"/>
              <a:gd name="T51" fmla="*/ 2147483646 h 193"/>
              <a:gd name="T52" fmla="*/ 2147483646 w 691"/>
              <a:gd name="T53" fmla="*/ 2147483646 h 193"/>
              <a:gd name="T54" fmla="*/ 2147483646 w 691"/>
              <a:gd name="T55" fmla="*/ 2147483646 h 193"/>
              <a:gd name="T56" fmla="*/ 2147483646 w 691"/>
              <a:gd name="T57" fmla="*/ 2147483646 h 193"/>
              <a:gd name="T58" fmla="*/ 2147483646 w 691"/>
              <a:gd name="T59" fmla="*/ 2147483646 h 193"/>
              <a:gd name="T60" fmla="*/ 2147483646 w 691"/>
              <a:gd name="T61" fmla="*/ 2147483646 h 193"/>
              <a:gd name="T62" fmla="*/ 2147483646 w 691"/>
              <a:gd name="T63" fmla="*/ 2147483646 h 193"/>
              <a:gd name="T64" fmla="*/ 2147483646 w 691"/>
              <a:gd name="T65" fmla="*/ 2147483646 h 193"/>
              <a:gd name="T66" fmla="*/ 2147483646 w 691"/>
              <a:gd name="T67" fmla="*/ 2147483646 h 193"/>
              <a:gd name="T68" fmla="*/ 2147483646 w 691"/>
              <a:gd name="T69" fmla="*/ 2147483646 h 193"/>
              <a:gd name="T70" fmla="*/ 2147483646 w 691"/>
              <a:gd name="T71" fmla="*/ 2147483646 h 193"/>
              <a:gd name="T72" fmla="*/ 2147483646 w 691"/>
              <a:gd name="T73" fmla="*/ 2147483646 h 193"/>
              <a:gd name="T74" fmla="*/ 2147483646 w 691"/>
              <a:gd name="T75" fmla="*/ 2147483646 h 193"/>
              <a:gd name="T76" fmla="*/ 2147483646 w 691"/>
              <a:gd name="T77" fmla="*/ 2147483646 h 193"/>
              <a:gd name="T78" fmla="*/ 2147483646 w 691"/>
              <a:gd name="T79" fmla="*/ 2147483646 h 193"/>
              <a:gd name="T80" fmla="*/ 2147483646 w 691"/>
              <a:gd name="T81" fmla="*/ 2147483646 h 193"/>
              <a:gd name="T82" fmla="*/ 2147483646 w 691"/>
              <a:gd name="T83" fmla="*/ 2147483646 h 193"/>
              <a:gd name="T84" fmla="*/ 2147483646 w 691"/>
              <a:gd name="T85" fmla="*/ 2147483646 h 193"/>
              <a:gd name="T86" fmla="*/ 2147483646 w 691"/>
              <a:gd name="T87" fmla="*/ 2147483646 h 19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91" h="193">
                <a:moveTo>
                  <a:pt x="104" y="191"/>
                </a:moveTo>
                <a:lnTo>
                  <a:pt x="88" y="191"/>
                </a:lnTo>
                <a:lnTo>
                  <a:pt x="70" y="187"/>
                </a:lnTo>
                <a:lnTo>
                  <a:pt x="57" y="182"/>
                </a:lnTo>
                <a:lnTo>
                  <a:pt x="43" y="174"/>
                </a:lnTo>
                <a:lnTo>
                  <a:pt x="32" y="164"/>
                </a:lnTo>
                <a:lnTo>
                  <a:pt x="21" y="153"/>
                </a:lnTo>
                <a:lnTo>
                  <a:pt x="12" y="141"/>
                </a:lnTo>
                <a:lnTo>
                  <a:pt x="5" y="126"/>
                </a:lnTo>
                <a:lnTo>
                  <a:pt x="3" y="111"/>
                </a:lnTo>
                <a:lnTo>
                  <a:pt x="0" y="97"/>
                </a:lnTo>
                <a:lnTo>
                  <a:pt x="3" y="80"/>
                </a:lnTo>
                <a:lnTo>
                  <a:pt x="5" y="65"/>
                </a:lnTo>
                <a:lnTo>
                  <a:pt x="12" y="53"/>
                </a:lnTo>
                <a:lnTo>
                  <a:pt x="21" y="40"/>
                </a:lnTo>
                <a:lnTo>
                  <a:pt x="32" y="27"/>
                </a:lnTo>
                <a:lnTo>
                  <a:pt x="43" y="19"/>
                </a:lnTo>
                <a:lnTo>
                  <a:pt x="57" y="11"/>
                </a:lnTo>
                <a:lnTo>
                  <a:pt x="70" y="4"/>
                </a:lnTo>
                <a:lnTo>
                  <a:pt x="88" y="2"/>
                </a:lnTo>
                <a:lnTo>
                  <a:pt x="104" y="0"/>
                </a:lnTo>
                <a:lnTo>
                  <a:pt x="587" y="0"/>
                </a:lnTo>
                <a:lnTo>
                  <a:pt x="605" y="2"/>
                </a:lnTo>
                <a:lnTo>
                  <a:pt x="621" y="4"/>
                </a:lnTo>
                <a:lnTo>
                  <a:pt x="634" y="11"/>
                </a:lnTo>
                <a:lnTo>
                  <a:pt x="648" y="19"/>
                </a:lnTo>
                <a:lnTo>
                  <a:pt x="661" y="27"/>
                </a:lnTo>
                <a:lnTo>
                  <a:pt x="670" y="40"/>
                </a:lnTo>
                <a:lnTo>
                  <a:pt x="679" y="53"/>
                </a:lnTo>
                <a:lnTo>
                  <a:pt x="686" y="65"/>
                </a:lnTo>
                <a:lnTo>
                  <a:pt x="689" y="80"/>
                </a:lnTo>
                <a:lnTo>
                  <a:pt x="691" y="97"/>
                </a:lnTo>
                <a:lnTo>
                  <a:pt x="689" y="111"/>
                </a:lnTo>
                <a:lnTo>
                  <a:pt x="686" y="126"/>
                </a:lnTo>
                <a:lnTo>
                  <a:pt x="679" y="141"/>
                </a:lnTo>
                <a:lnTo>
                  <a:pt x="670" y="153"/>
                </a:lnTo>
                <a:lnTo>
                  <a:pt x="661" y="164"/>
                </a:lnTo>
                <a:lnTo>
                  <a:pt x="648" y="174"/>
                </a:lnTo>
                <a:lnTo>
                  <a:pt x="634" y="182"/>
                </a:lnTo>
                <a:lnTo>
                  <a:pt x="621" y="187"/>
                </a:lnTo>
                <a:lnTo>
                  <a:pt x="605" y="191"/>
                </a:lnTo>
                <a:lnTo>
                  <a:pt x="587" y="193"/>
                </a:lnTo>
                <a:lnTo>
                  <a:pt x="104" y="193"/>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67" name="Rectangle 174">
            <a:extLst>
              <a:ext uri="{FF2B5EF4-FFF2-40B4-BE49-F238E27FC236}">
                <a16:creationId xmlns:a16="http://schemas.microsoft.com/office/drawing/2014/main" id="{96DD6704-9BB5-479B-B8DE-E62A16826339}"/>
              </a:ext>
            </a:extLst>
          </p:cNvPr>
          <p:cNvSpPr>
            <a:spLocks noChangeArrowheads="1"/>
          </p:cNvSpPr>
          <p:nvPr/>
        </p:nvSpPr>
        <p:spPr bwMode="auto">
          <a:xfrm>
            <a:off x="5554663" y="507047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4</a:t>
            </a:r>
            <a:endParaRPr lang="zh-CN" altLang="zh-CN"/>
          </a:p>
        </p:txBody>
      </p:sp>
      <p:sp>
        <p:nvSpPr>
          <p:cNvPr id="55468" name="Rectangle 175">
            <a:extLst>
              <a:ext uri="{FF2B5EF4-FFF2-40B4-BE49-F238E27FC236}">
                <a16:creationId xmlns:a16="http://schemas.microsoft.com/office/drawing/2014/main" id="{2200014C-AF06-4D96-B67A-E4202B879503}"/>
              </a:ext>
            </a:extLst>
          </p:cNvPr>
          <p:cNvSpPr>
            <a:spLocks noChangeArrowheads="1"/>
          </p:cNvSpPr>
          <p:nvPr/>
        </p:nvSpPr>
        <p:spPr bwMode="auto">
          <a:xfrm>
            <a:off x="5626100" y="5070475"/>
            <a:ext cx="936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t>
            </a:r>
            <a:endParaRPr lang="zh-CN" altLang="zh-CN"/>
          </a:p>
        </p:txBody>
      </p:sp>
      <p:sp>
        <p:nvSpPr>
          <p:cNvPr id="55469" name="Rectangle 176">
            <a:extLst>
              <a:ext uri="{FF2B5EF4-FFF2-40B4-BE49-F238E27FC236}">
                <a16:creationId xmlns:a16="http://schemas.microsoft.com/office/drawing/2014/main" id="{122339AB-801A-4EFC-81F8-CA2FF18A0C23}"/>
              </a:ext>
            </a:extLst>
          </p:cNvPr>
          <p:cNvSpPr>
            <a:spLocks noChangeArrowheads="1"/>
          </p:cNvSpPr>
          <p:nvPr/>
        </p:nvSpPr>
        <p:spPr bwMode="auto">
          <a:xfrm>
            <a:off x="5673725" y="5070475"/>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470" name="Rectangle 177">
            <a:extLst>
              <a:ext uri="{FF2B5EF4-FFF2-40B4-BE49-F238E27FC236}">
                <a16:creationId xmlns:a16="http://schemas.microsoft.com/office/drawing/2014/main" id="{6F9874E8-F691-4B57-9D32-5E7F6B48B16F}"/>
              </a:ext>
            </a:extLst>
          </p:cNvPr>
          <p:cNvSpPr>
            <a:spLocks noChangeArrowheads="1"/>
          </p:cNvSpPr>
          <p:nvPr/>
        </p:nvSpPr>
        <p:spPr bwMode="auto">
          <a:xfrm>
            <a:off x="5705475" y="5070475"/>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o</a:t>
            </a:r>
            <a:endParaRPr lang="zh-CN" altLang="zh-CN"/>
          </a:p>
        </p:txBody>
      </p:sp>
      <p:sp>
        <p:nvSpPr>
          <p:cNvPr id="55471" name="Rectangle 178">
            <a:extLst>
              <a:ext uri="{FF2B5EF4-FFF2-40B4-BE49-F238E27FC236}">
                <a16:creationId xmlns:a16="http://schemas.microsoft.com/office/drawing/2014/main" id="{55FC9796-45F5-4B58-BE07-3327EE1C051D}"/>
              </a:ext>
            </a:extLst>
          </p:cNvPr>
          <p:cNvSpPr>
            <a:spLocks noChangeArrowheads="1"/>
          </p:cNvSpPr>
          <p:nvPr/>
        </p:nvSpPr>
        <p:spPr bwMode="auto">
          <a:xfrm>
            <a:off x="5776913" y="5070475"/>
            <a:ext cx="936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t>
            </a:r>
            <a:endParaRPr lang="zh-CN" altLang="zh-CN"/>
          </a:p>
        </p:txBody>
      </p:sp>
      <p:sp>
        <p:nvSpPr>
          <p:cNvPr id="55472" name="Rectangle 179">
            <a:extLst>
              <a:ext uri="{FF2B5EF4-FFF2-40B4-BE49-F238E27FC236}">
                <a16:creationId xmlns:a16="http://schemas.microsoft.com/office/drawing/2014/main" id="{BD151F43-693C-4CCD-9617-7E89030F43F1}"/>
              </a:ext>
            </a:extLst>
          </p:cNvPr>
          <p:cNvSpPr>
            <a:spLocks noChangeArrowheads="1"/>
          </p:cNvSpPr>
          <p:nvPr/>
        </p:nvSpPr>
        <p:spPr bwMode="auto">
          <a:xfrm>
            <a:off x="5824538" y="507047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473" name="Rectangle 180">
            <a:extLst>
              <a:ext uri="{FF2B5EF4-FFF2-40B4-BE49-F238E27FC236}">
                <a16:creationId xmlns:a16="http://schemas.microsoft.com/office/drawing/2014/main" id="{CC8895DD-D21F-4FDE-A043-B448C141F3A0}"/>
              </a:ext>
            </a:extLst>
          </p:cNvPr>
          <p:cNvSpPr>
            <a:spLocks noChangeArrowheads="1"/>
          </p:cNvSpPr>
          <p:nvPr/>
        </p:nvSpPr>
        <p:spPr bwMode="auto">
          <a:xfrm>
            <a:off x="5891213" y="5070475"/>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 </a:t>
            </a:r>
            <a:endParaRPr lang="zh-CN" altLang="zh-CN"/>
          </a:p>
        </p:txBody>
      </p:sp>
      <p:sp>
        <p:nvSpPr>
          <p:cNvPr id="55474" name="Rectangle 181">
            <a:extLst>
              <a:ext uri="{FF2B5EF4-FFF2-40B4-BE49-F238E27FC236}">
                <a16:creationId xmlns:a16="http://schemas.microsoft.com/office/drawing/2014/main" id="{AE2DDAD8-A51E-406F-AE7A-54F62E617312}"/>
              </a:ext>
            </a:extLst>
          </p:cNvPr>
          <p:cNvSpPr>
            <a:spLocks noChangeArrowheads="1"/>
          </p:cNvSpPr>
          <p:nvPr/>
        </p:nvSpPr>
        <p:spPr bwMode="auto">
          <a:xfrm>
            <a:off x="5924550" y="5070475"/>
            <a:ext cx="15081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m</a:t>
            </a:r>
            <a:endParaRPr lang="zh-CN" altLang="zh-CN"/>
          </a:p>
        </p:txBody>
      </p:sp>
      <p:sp>
        <p:nvSpPr>
          <p:cNvPr id="55475" name="Rectangle 182">
            <a:extLst>
              <a:ext uri="{FF2B5EF4-FFF2-40B4-BE49-F238E27FC236}">
                <a16:creationId xmlns:a16="http://schemas.microsoft.com/office/drawing/2014/main" id="{7A9420DC-75C8-4F28-A0F8-5C1B40D37CF6}"/>
              </a:ext>
            </a:extLst>
          </p:cNvPr>
          <p:cNvSpPr>
            <a:spLocks noChangeArrowheads="1"/>
          </p:cNvSpPr>
          <p:nvPr/>
        </p:nvSpPr>
        <p:spPr bwMode="auto">
          <a:xfrm>
            <a:off x="6024563" y="507047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u</a:t>
            </a:r>
            <a:endParaRPr lang="zh-CN" altLang="zh-CN"/>
          </a:p>
        </p:txBody>
      </p:sp>
      <p:sp>
        <p:nvSpPr>
          <p:cNvPr id="55476" name="Rectangle 183">
            <a:extLst>
              <a:ext uri="{FF2B5EF4-FFF2-40B4-BE49-F238E27FC236}">
                <a16:creationId xmlns:a16="http://schemas.microsoft.com/office/drawing/2014/main" id="{18CAC070-DF72-4CCB-8384-B6D4B1C26A25}"/>
              </a:ext>
            </a:extLst>
          </p:cNvPr>
          <p:cNvSpPr>
            <a:spLocks noChangeArrowheads="1"/>
          </p:cNvSpPr>
          <p:nvPr/>
        </p:nvSpPr>
        <p:spPr bwMode="auto">
          <a:xfrm>
            <a:off x="6088063" y="5070475"/>
            <a:ext cx="793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l</a:t>
            </a:r>
            <a:endParaRPr lang="zh-CN" altLang="zh-CN"/>
          </a:p>
        </p:txBody>
      </p:sp>
      <p:sp>
        <p:nvSpPr>
          <p:cNvPr id="55477" name="Rectangle 184">
            <a:extLst>
              <a:ext uri="{FF2B5EF4-FFF2-40B4-BE49-F238E27FC236}">
                <a16:creationId xmlns:a16="http://schemas.microsoft.com/office/drawing/2014/main" id="{080A4C8A-73E7-4590-9CEA-03D6B2BFAA74}"/>
              </a:ext>
            </a:extLst>
          </p:cNvPr>
          <p:cNvSpPr>
            <a:spLocks noChangeArrowheads="1"/>
          </p:cNvSpPr>
          <p:nvPr/>
        </p:nvSpPr>
        <p:spPr bwMode="auto">
          <a:xfrm>
            <a:off x="6118225" y="5070475"/>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478" name="Rectangle 185">
            <a:extLst>
              <a:ext uri="{FF2B5EF4-FFF2-40B4-BE49-F238E27FC236}">
                <a16:creationId xmlns:a16="http://schemas.microsoft.com/office/drawing/2014/main" id="{84F84A3F-B3EB-44EF-9E0D-F4E6CE6FC818}"/>
              </a:ext>
            </a:extLst>
          </p:cNvPr>
          <p:cNvSpPr>
            <a:spLocks noChangeArrowheads="1"/>
          </p:cNvSpPr>
          <p:nvPr/>
        </p:nvSpPr>
        <p:spPr bwMode="auto">
          <a:xfrm>
            <a:off x="6149975" y="5070475"/>
            <a:ext cx="793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i</a:t>
            </a:r>
            <a:endParaRPr lang="zh-CN" altLang="zh-CN"/>
          </a:p>
        </p:txBody>
      </p:sp>
      <p:sp>
        <p:nvSpPr>
          <p:cNvPr id="55479" name="Rectangle 186">
            <a:extLst>
              <a:ext uri="{FF2B5EF4-FFF2-40B4-BE49-F238E27FC236}">
                <a16:creationId xmlns:a16="http://schemas.microsoft.com/office/drawing/2014/main" id="{45E5F31B-069F-4E0E-89F4-57E9D42D739E}"/>
              </a:ext>
            </a:extLst>
          </p:cNvPr>
          <p:cNvSpPr>
            <a:spLocks noChangeArrowheads="1"/>
          </p:cNvSpPr>
          <p:nvPr/>
        </p:nvSpPr>
        <p:spPr bwMode="auto">
          <a:xfrm>
            <a:off x="6175375" y="5070475"/>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p</a:t>
            </a:r>
            <a:endParaRPr lang="zh-CN" altLang="zh-CN"/>
          </a:p>
        </p:txBody>
      </p:sp>
      <p:sp>
        <p:nvSpPr>
          <p:cNvPr id="55480" name="Rectangle 187">
            <a:extLst>
              <a:ext uri="{FF2B5EF4-FFF2-40B4-BE49-F238E27FC236}">
                <a16:creationId xmlns:a16="http://schemas.microsoft.com/office/drawing/2014/main" id="{6A17E669-63A0-402B-A19A-1C8DB219F75F}"/>
              </a:ext>
            </a:extLst>
          </p:cNvPr>
          <p:cNvSpPr>
            <a:spLocks noChangeArrowheads="1"/>
          </p:cNvSpPr>
          <p:nvPr/>
        </p:nvSpPr>
        <p:spPr bwMode="auto">
          <a:xfrm>
            <a:off x="6242050" y="5070475"/>
            <a:ext cx="793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l</a:t>
            </a:r>
            <a:endParaRPr lang="zh-CN" altLang="zh-CN"/>
          </a:p>
        </p:txBody>
      </p:sp>
      <p:sp>
        <p:nvSpPr>
          <p:cNvPr id="55481" name="Rectangle 188">
            <a:extLst>
              <a:ext uri="{FF2B5EF4-FFF2-40B4-BE49-F238E27FC236}">
                <a16:creationId xmlns:a16="http://schemas.microsoft.com/office/drawing/2014/main" id="{8E410C16-CED1-4E68-94D6-BAC1A3B1762D}"/>
              </a:ext>
            </a:extLst>
          </p:cNvPr>
          <p:cNvSpPr>
            <a:spLocks noChangeArrowheads="1"/>
          </p:cNvSpPr>
          <p:nvPr/>
        </p:nvSpPr>
        <p:spPr bwMode="auto">
          <a:xfrm>
            <a:off x="6267450" y="5070475"/>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e</a:t>
            </a:r>
            <a:endParaRPr lang="zh-CN" altLang="zh-CN"/>
          </a:p>
        </p:txBody>
      </p:sp>
      <p:sp>
        <p:nvSpPr>
          <p:cNvPr id="55482" name="Rectangle 189">
            <a:extLst>
              <a:ext uri="{FF2B5EF4-FFF2-40B4-BE49-F238E27FC236}">
                <a16:creationId xmlns:a16="http://schemas.microsoft.com/office/drawing/2014/main" id="{96152385-083A-460B-858B-6E3142A1600C}"/>
              </a:ext>
            </a:extLst>
          </p:cNvPr>
          <p:cNvSpPr>
            <a:spLocks noChangeArrowheads="1"/>
          </p:cNvSpPr>
          <p:nvPr/>
        </p:nvSpPr>
        <p:spPr bwMode="auto">
          <a:xfrm>
            <a:off x="6335713" y="5070475"/>
            <a:ext cx="1111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x</a:t>
            </a:r>
            <a:endParaRPr lang="zh-CN" altLang="zh-CN"/>
          </a:p>
        </p:txBody>
      </p:sp>
      <p:sp>
        <p:nvSpPr>
          <p:cNvPr id="55483" name="Rectangle 190">
            <a:extLst>
              <a:ext uri="{FF2B5EF4-FFF2-40B4-BE49-F238E27FC236}">
                <a16:creationId xmlns:a16="http://schemas.microsoft.com/office/drawing/2014/main" id="{4347A9EB-D672-402E-AA83-C0CA4B907680}"/>
              </a:ext>
            </a:extLst>
          </p:cNvPr>
          <p:cNvSpPr>
            <a:spLocks noChangeArrowheads="1"/>
          </p:cNvSpPr>
          <p:nvPr/>
        </p:nvSpPr>
        <p:spPr bwMode="auto">
          <a:xfrm>
            <a:off x="6392863" y="5070475"/>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o</a:t>
            </a:r>
            <a:endParaRPr lang="zh-CN" altLang="zh-CN"/>
          </a:p>
        </p:txBody>
      </p:sp>
      <p:sp>
        <p:nvSpPr>
          <p:cNvPr id="55484" name="Rectangle 191">
            <a:extLst>
              <a:ext uri="{FF2B5EF4-FFF2-40B4-BE49-F238E27FC236}">
                <a16:creationId xmlns:a16="http://schemas.microsoft.com/office/drawing/2014/main" id="{687BE635-51EC-429A-8C4D-703C7408144B}"/>
              </a:ext>
            </a:extLst>
          </p:cNvPr>
          <p:cNvSpPr>
            <a:spLocks noChangeArrowheads="1"/>
          </p:cNvSpPr>
          <p:nvPr/>
        </p:nvSpPr>
        <p:spPr bwMode="auto">
          <a:xfrm>
            <a:off x="6461125" y="5070475"/>
            <a:ext cx="936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r</a:t>
            </a:r>
            <a:endParaRPr lang="zh-CN" altLang="zh-CN"/>
          </a:p>
        </p:txBody>
      </p:sp>
      <p:sp>
        <p:nvSpPr>
          <p:cNvPr id="55485" name="Freeform 192">
            <a:extLst>
              <a:ext uri="{FF2B5EF4-FFF2-40B4-BE49-F238E27FC236}">
                <a16:creationId xmlns:a16="http://schemas.microsoft.com/office/drawing/2014/main" id="{2B29557A-87BD-416C-AAAE-0AC531AB0E78}"/>
              </a:ext>
            </a:extLst>
          </p:cNvPr>
          <p:cNvSpPr>
            <a:spLocks/>
          </p:cNvSpPr>
          <p:nvPr/>
        </p:nvSpPr>
        <p:spPr bwMode="auto">
          <a:xfrm>
            <a:off x="4022725" y="4452938"/>
            <a:ext cx="1231900" cy="588962"/>
          </a:xfrm>
          <a:custGeom>
            <a:avLst/>
            <a:gdLst>
              <a:gd name="T0" fmla="*/ 2147483646 w 776"/>
              <a:gd name="T1" fmla="*/ 0 h 371"/>
              <a:gd name="T2" fmla="*/ 2147483646 w 776"/>
              <a:gd name="T3" fmla="*/ 2147483646 h 371"/>
              <a:gd name="T4" fmla="*/ 0 w 776"/>
              <a:gd name="T5" fmla="*/ 2147483646 h 371"/>
              <a:gd name="T6" fmla="*/ 0 w 776"/>
              <a:gd name="T7" fmla="*/ 2147483646 h 3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 h="371">
                <a:moveTo>
                  <a:pt x="776" y="0"/>
                </a:moveTo>
                <a:lnTo>
                  <a:pt x="776" y="65"/>
                </a:lnTo>
                <a:lnTo>
                  <a:pt x="0" y="65"/>
                </a:lnTo>
                <a:lnTo>
                  <a:pt x="0" y="371"/>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86" name="Line 193">
            <a:extLst>
              <a:ext uri="{FF2B5EF4-FFF2-40B4-BE49-F238E27FC236}">
                <a16:creationId xmlns:a16="http://schemas.microsoft.com/office/drawing/2014/main" id="{9CFEE55C-18ED-4DED-AF13-EF572B645153}"/>
              </a:ext>
            </a:extLst>
          </p:cNvPr>
          <p:cNvSpPr>
            <a:spLocks noChangeShapeType="1"/>
          </p:cNvSpPr>
          <p:nvPr/>
        </p:nvSpPr>
        <p:spPr bwMode="auto">
          <a:xfrm>
            <a:off x="3965575" y="4459288"/>
            <a:ext cx="0" cy="58261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87" name="Freeform 194">
            <a:extLst>
              <a:ext uri="{FF2B5EF4-FFF2-40B4-BE49-F238E27FC236}">
                <a16:creationId xmlns:a16="http://schemas.microsoft.com/office/drawing/2014/main" id="{949B9DA2-79C2-40D8-833F-6C2BAD4E5E50}"/>
              </a:ext>
            </a:extLst>
          </p:cNvPr>
          <p:cNvSpPr>
            <a:spLocks/>
          </p:cNvSpPr>
          <p:nvPr/>
        </p:nvSpPr>
        <p:spPr bwMode="auto">
          <a:xfrm>
            <a:off x="4076700" y="4452938"/>
            <a:ext cx="2430463" cy="574675"/>
          </a:xfrm>
          <a:custGeom>
            <a:avLst/>
            <a:gdLst>
              <a:gd name="T0" fmla="*/ 2147483646 w 1531"/>
              <a:gd name="T1" fmla="*/ 0 h 362"/>
              <a:gd name="T2" fmla="*/ 2147483646 w 1531"/>
              <a:gd name="T3" fmla="*/ 2147483646 h 362"/>
              <a:gd name="T4" fmla="*/ 0 w 1531"/>
              <a:gd name="T5" fmla="*/ 2147483646 h 362"/>
              <a:gd name="T6" fmla="*/ 0 w 1531"/>
              <a:gd name="T7" fmla="*/ 2147483646 h 3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31" h="362">
                <a:moveTo>
                  <a:pt x="1531" y="0"/>
                </a:moveTo>
                <a:lnTo>
                  <a:pt x="1531" y="97"/>
                </a:lnTo>
                <a:lnTo>
                  <a:pt x="0" y="97"/>
                </a:lnTo>
                <a:lnTo>
                  <a:pt x="0" y="362"/>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88" name="Freeform 195">
            <a:extLst>
              <a:ext uri="{FF2B5EF4-FFF2-40B4-BE49-F238E27FC236}">
                <a16:creationId xmlns:a16="http://schemas.microsoft.com/office/drawing/2014/main" id="{7A9A8602-1EAD-4C4A-A473-3355C620AA1D}"/>
              </a:ext>
            </a:extLst>
          </p:cNvPr>
          <p:cNvSpPr>
            <a:spLocks/>
          </p:cNvSpPr>
          <p:nvPr/>
        </p:nvSpPr>
        <p:spPr bwMode="auto">
          <a:xfrm>
            <a:off x="2622550" y="4452938"/>
            <a:ext cx="1289050" cy="574675"/>
          </a:xfrm>
          <a:custGeom>
            <a:avLst/>
            <a:gdLst>
              <a:gd name="T0" fmla="*/ 0 w 812"/>
              <a:gd name="T1" fmla="*/ 0 h 362"/>
              <a:gd name="T2" fmla="*/ 2147483646 w 812"/>
              <a:gd name="T3" fmla="*/ 2147483646 h 362"/>
              <a:gd name="T4" fmla="*/ 2147483646 w 812"/>
              <a:gd name="T5" fmla="*/ 2147483646 h 362"/>
              <a:gd name="T6" fmla="*/ 2147483646 w 812"/>
              <a:gd name="T7" fmla="*/ 2147483646 h 3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12" h="362">
                <a:moveTo>
                  <a:pt x="0" y="0"/>
                </a:moveTo>
                <a:lnTo>
                  <a:pt x="2" y="193"/>
                </a:lnTo>
                <a:lnTo>
                  <a:pt x="812" y="193"/>
                </a:lnTo>
                <a:lnTo>
                  <a:pt x="812" y="362"/>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89" name="Freeform 196">
            <a:extLst>
              <a:ext uri="{FF2B5EF4-FFF2-40B4-BE49-F238E27FC236}">
                <a16:creationId xmlns:a16="http://schemas.microsoft.com/office/drawing/2014/main" id="{1B6C7AD2-22D0-4D66-BE49-ED956CCBB336}"/>
              </a:ext>
            </a:extLst>
          </p:cNvPr>
          <p:cNvSpPr>
            <a:spLocks/>
          </p:cNvSpPr>
          <p:nvPr/>
        </p:nvSpPr>
        <p:spPr bwMode="auto">
          <a:xfrm>
            <a:off x="4076700" y="4708525"/>
            <a:ext cx="1414463" cy="355600"/>
          </a:xfrm>
          <a:custGeom>
            <a:avLst/>
            <a:gdLst>
              <a:gd name="T0" fmla="*/ 2147483646 w 891"/>
              <a:gd name="T1" fmla="*/ 2147483646 h 224"/>
              <a:gd name="T2" fmla="*/ 2147483646 w 891"/>
              <a:gd name="T3" fmla="*/ 2147483646 h 224"/>
              <a:gd name="T4" fmla="*/ 2147483646 w 891"/>
              <a:gd name="T5" fmla="*/ 0 h 224"/>
              <a:gd name="T6" fmla="*/ 0 w 891"/>
              <a:gd name="T7" fmla="*/ 0 h 2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91" h="224">
                <a:moveTo>
                  <a:pt x="891" y="222"/>
                </a:moveTo>
                <a:lnTo>
                  <a:pt x="586" y="224"/>
                </a:lnTo>
                <a:lnTo>
                  <a:pt x="586" y="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90" name="Freeform 197">
            <a:extLst>
              <a:ext uri="{FF2B5EF4-FFF2-40B4-BE49-F238E27FC236}">
                <a16:creationId xmlns:a16="http://schemas.microsoft.com/office/drawing/2014/main" id="{508A8451-BD9D-4A15-BA73-6E40D0F1E80F}"/>
              </a:ext>
            </a:extLst>
          </p:cNvPr>
          <p:cNvSpPr>
            <a:spLocks/>
          </p:cNvSpPr>
          <p:nvPr/>
        </p:nvSpPr>
        <p:spPr bwMode="auto">
          <a:xfrm>
            <a:off x="4051300" y="4683125"/>
            <a:ext cx="53975" cy="49213"/>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2147483646 h 31"/>
              <a:gd name="T38" fmla="*/ 2147483646 w 34"/>
              <a:gd name="T39" fmla="*/ 0 h 31"/>
              <a:gd name="T40" fmla="*/ 2147483646 w 34"/>
              <a:gd name="T41" fmla="*/ 0 h 31"/>
              <a:gd name="T42" fmla="*/ 2147483646 w 34"/>
              <a:gd name="T43" fmla="*/ 0 h 31"/>
              <a:gd name="T44" fmla="*/ 2147483646 w 34"/>
              <a:gd name="T45" fmla="*/ 2147483646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2147483646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2147483646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20" y="31"/>
                </a:lnTo>
                <a:lnTo>
                  <a:pt x="22" y="31"/>
                </a:lnTo>
                <a:lnTo>
                  <a:pt x="25" y="31"/>
                </a:lnTo>
                <a:lnTo>
                  <a:pt x="27" y="29"/>
                </a:lnTo>
                <a:lnTo>
                  <a:pt x="29" y="27"/>
                </a:lnTo>
                <a:lnTo>
                  <a:pt x="31" y="25"/>
                </a:lnTo>
                <a:lnTo>
                  <a:pt x="31" y="23"/>
                </a:lnTo>
                <a:lnTo>
                  <a:pt x="34" y="21"/>
                </a:lnTo>
                <a:lnTo>
                  <a:pt x="34" y="19"/>
                </a:lnTo>
                <a:lnTo>
                  <a:pt x="34" y="16"/>
                </a:lnTo>
                <a:lnTo>
                  <a:pt x="34" y="14"/>
                </a:lnTo>
                <a:lnTo>
                  <a:pt x="34" y="10"/>
                </a:lnTo>
                <a:lnTo>
                  <a:pt x="31" y="8"/>
                </a:lnTo>
                <a:lnTo>
                  <a:pt x="31" y="6"/>
                </a:lnTo>
                <a:lnTo>
                  <a:pt x="29" y="4"/>
                </a:lnTo>
                <a:lnTo>
                  <a:pt x="27" y="4"/>
                </a:lnTo>
                <a:lnTo>
                  <a:pt x="25" y="2"/>
                </a:lnTo>
                <a:lnTo>
                  <a:pt x="22" y="2"/>
                </a:lnTo>
                <a:lnTo>
                  <a:pt x="20" y="0"/>
                </a:lnTo>
                <a:lnTo>
                  <a:pt x="16" y="0"/>
                </a:lnTo>
                <a:lnTo>
                  <a:pt x="13" y="0"/>
                </a:lnTo>
                <a:lnTo>
                  <a:pt x="11" y="2"/>
                </a:lnTo>
                <a:lnTo>
                  <a:pt x="9" y="2"/>
                </a:lnTo>
                <a:lnTo>
                  <a:pt x="7" y="4"/>
                </a:lnTo>
                <a:lnTo>
                  <a:pt x="4" y="4"/>
                </a:lnTo>
                <a:lnTo>
                  <a:pt x="2" y="6"/>
                </a:lnTo>
                <a:lnTo>
                  <a:pt x="2" y="8"/>
                </a:lnTo>
                <a:lnTo>
                  <a:pt x="0" y="10"/>
                </a:lnTo>
                <a:lnTo>
                  <a:pt x="0" y="14"/>
                </a:lnTo>
                <a:lnTo>
                  <a:pt x="0" y="16"/>
                </a:lnTo>
                <a:lnTo>
                  <a:pt x="0" y="19"/>
                </a:lnTo>
                <a:lnTo>
                  <a:pt x="0" y="21"/>
                </a:lnTo>
                <a:lnTo>
                  <a:pt x="2" y="23"/>
                </a:lnTo>
                <a:lnTo>
                  <a:pt x="2" y="25"/>
                </a:lnTo>
                <a:lnTo>
                  <a:pt x="4" y="27"/>
                </a:lnTo>
                <a:lnTo>
                  <a:pt x="7" y="29"/>
                </a:lnTo>
                <a:lnTo>
                  <a:pt x="9" y="31"/>
                </a:lnTo>
                <a:lnTo>
                  <a:pt x="11" y="31"/>
                </a:lnTo>
                <a:lnTo>
                  <a:pt x="13"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91" name="Freeform 198">
            <a:extLst>
              <a:ext uri="{FF2B5EF4-FFF2-40B4-BE49-F238E27FC236}">
                <a16:creationId xmlns:a16="http://schemas.microsoft.com/office/drawing/2014/main" id="{52FB6EAD-B997-48DA-BDA2-D5C6784523DA}"/>
              </a:ext>
            </a:extLst>
          </p:cNvPr>
          <p:cNvSpPr>
            <a:spLocks/>
          </p:cNvSpPr>
          <p:nvPr/>
        </p:nvSpPr>
        <p:spPr bwMode="auto">
          <a:xfrm>
            <a:off x="4022725" y="4759325"/>
            <a:ext cx="1449388" cy="355600"/>
          </a:xfrm>
          <a:custGeom>
            <a:avLst/>
            <a:gdLst>
              <a:gd name="T0" fmla="*/ 2147483646 w 913"/>
              <a:gd name="T1" fmla="*/ 2147483646 h 224"/>
              <a:gd name="T2" fmla="*/ 2147483646 w 913"/>
              <a:gd name="T3" fmla="*/ 2147483646 h 224"/>
              <a:gd name="T4" fmla="*/ 2147483646 w 913"/>
              <a:gd name="T5" fmla="*/ 0 h 224"/>
              <a:gd name="T6" fmla="*/ 0 w 913"/>
              <a:gd name="T7" fmla="*/ 0 h 2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3" h="224">
                <a:moveTo>
                  <a:pt x="913" y="224"/>
                </a:moveTo>
                <a:lnTo>
                  <a:pt x="586" y="224"/>
                </a:lnTo>
                <a:lnTo>
                  <a:pt x="586" y="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92" name="Freeform 199">
            <a:extLst>
              <a:ext uri="{FF2B5EF4-FFF2-40B4-BE49-F238E27FC236}">
                <a16:creationId xmlns:a16="http://schemas.microsoft.com/office/drawing/2014/main" id="{B717C7BE-C74B-4090-8CAD-D468A50482C5}"/>
              </a:ext>
            </a:extLst>
          </p:cNvPr>
          <p:cNvSpPr>
            <a:spLocks/>
          </p:cNvSpPr>
          <p:nvPr/>
        </p:nvSpPr>
        <p:spPr bwMode="auto">
          <a:xfrm>
            <a:off x="3994150" y="4732338"/>
            <a:ext cx="57150" cy="53975"/>
          </a:xfrm>
          <a:custGeom>
            <a:avLst/>
            <a:gdLst>
              <a:gd name="T0" fmla="*/ 2147483646 w 36"/>
              <a:gd name="T1" fmla="*/ 2147483646 h 34"/>
              <a:gd name="T2" fmla="*/ 2147483646 w 36"/>
              <a:gd name="T3" fmla="*/ 2147483646 h 34"/>
              <a:gd name="T4" fmla="*/ 2147483646 w 36"/>
              <a:gd name="T5" fmla="*/ 2147483646 h 34"/>
              <a:gd name="T6" fmla="*/ 2147483646 w 36"/>
              <a:gd name="T7" fmla="*/ 2147483646 h 34"/>
              <a:gd name="T8" fmla="*/ 2147483646 w 36"/>
              <a:gd name="T9" fmla="*/ 2147483646 h 34"/>
              <a:gd name="T10" fmla="*/ 2147483646 w 36"/>
              <a:gd name="T11" fmla="*/ 2147483646 h 34"/>
              <a:gd name="T12" fmla="*/ 2147483646 w 36"/>
              <a:gd name="T13" fmla="*/ 2147483646 h 34"/>
              <a:gd name="T14" fmla="*/ 2147483646 w 36"/>
              <a:gd name="T15" fmla="*/ 2147483646 h 34"/>
              <a:gd name="T16" fmla="*/ 2147483646 w 36"/>
              <a:gd name="T17" fmla="*/ 2147483646 h 34"/>
              <a:gd name="T18" fmla="*/ 2147483646 w 36"/>
              <a:gd name="T19" fmla="*/ 2147483646 h 34"/>
              <a:gd name="T20" fmla="*/ 2147483646 w 36"/>
              <a:gd name="T21" fmla="*/ 2147483646 h 34"/>
              <a:gd name="T22" fmla="*/ 2147483646 w 36"/>
              <a:gd name="T23" fmla="*/ 2147483646 h 34"/>
              <a:gd name="T24" fmla="*/ 2147483646 w 36"/>
              <a:gd name="T25" fmla="*/ 2147483646 h 34"/>
              <a:gd name="T26" fmla="*/ 2147483646 w 36"/>
              <a:gd name="T27" fmla="*/ 2147483646 h 34"/>
              <a:gd name="T28" fmla="*/ 2147483646 w 36"/>
              <a:gd name="T29" fmla="*/ 2147483646 h 34"/>
              <a:gd name="T30" fmla="*/ 2147483646 w 36"/>
              <a:gd name="T31" fmla="*/ 2147483646 h 34"/>
              <a:gd name="T32" fmla="*/ 2147483646 w 36"/>
              <a:gd name="T33" fmla="*/ 2147483646 h 34"/>
              <a:gd name="T34" fmla="*/ 2147483646 w 36"/>
              <a:gd name="T35" fmla="*/ 2147483646 h 34"/>
              <a:gd name="T36" fmla="*/ 2147483646 w 36"/>
              <a:gd name="T37" fmla="*/ 2147483646 h 34"/>
              <a:gd name="T38" fmla="*/ 2147483646 w 36"/>
              <a:gd name="T39" fmla="*/ 2147483646 h 34"/>
              <a:gd name="T40" fmla="*/ 2147483646 w 36"/>
              <a:gd name="T41" fmla="*/ 0 h 34"/>
              <a:gd name="T42" fmla="*/ 2147483646 w 36"/>
              <a:gd name="T43" fmla="*/ 2147483646 h 34"/>
              <a:gd name="T44" fmla="*/ 2147483646 w 36"/>
              <a:gd name="T45" fmla="*/ 2147483646 h 34"/>
              <a:gd name="T46" fmla="*/ 2147483646 w 36"/>
              <a:gd name="T47" fmla="*/ 2147483646 h 34"/>
              <a:gd name="T48" fmla="*/ 2147483646 w 36"/>
              <a:gd name="T49" fmla="*/ 2147483646 h 34"/>
              <a:gd name="T50" fmla="*/ 2147483646 w 36"/>
              <a:gd name="T51" fmla="*/ 2147483646 h 34"/>
              <a:gd name="T52" fmla="*/ 2147483646 w 36"/>
              <a:gd name="T53" fmla="*/ 2147483646 h 34"/>
              <a:gd name="T54" fmla="*/ 2147483646 w 36"/>
              <a:gd name="T55" fmla="*/ 2147483646 h 34"/>
              <a:gd name="T56" fmla="*/ 2147483646 w 36"/>
              <a:gd name="T57" fmla="*/ 2147483646 h 34"/>
              <a:gd name="T58" fmla="*/ 0 w 36"/>
              <a:gd name="T59" fmla="*/ 2147483646 h 34"/>
              <a:gd name="T60" fmla="*/ 0 w 36"/>
              <a:gd name="T61" fmla="*/ 2147483646 h 34"/>
              <a:gd name="T62" fmla="*/ 0 w 36"/>
              <a:gd name="T63" fmla="*/ 2147483646 h 34"/>
              <a:gd name="T64" fmla="*/ 2147483646 w 36"/>
              <a:gd name="T65" fmla="*/ 2147483646 h 34"/>
              <a:gd name="T66" fmla="*/ 2147483646 w 36"/>
              <a:gd name="T67" fmla="*/ 2147483646 h 34"/>
              <a:gd name="T68" fmla="*/ 2147483646 w 36"/>
              <a:gd name="T69" fmla="*/ 2147483646 h 34"/>
              <a:gd name="T70" fmla="*/ 2147483646 w 36"/>
              <a:gd name="T71" fmla="*/ 2147483646 h 34"/>
              <a:gd name="T72" fmla="*/ 2147483646 w 36"/>
              <a:gd name="T73" fmla="*/ 2147483646 h 34"/>
              <a:gd name="T74" fmla="*/ 2147483646 w 36"/>
              <a:gd name="T75" fmla="*/ 2147483646 h 34"/>
              <a:gd name="T76" fmla="*/ 2147483646 w 36"/>
              <a:gd name="T77" fmla="*/ 2147483646 h 34"/>
              <a:gd name="T78" fmla="*/ 2147483646 w 36"/>
              <a:gd name="T79" fmla="*/ 2147483646 h 34"/>
              <a:gd name="T80" fmla="*/ 2147483646 w 36"/>
              <a:gd name="T81" fmla="*/ 2147483646 h 34"/>
              <a:gd name="T82" fmla="*/ 2147483646 w 36"/>
              <a:gd name="T83" fmla="*/ 2147483646 h 34"/>
              <a:gd name="T84" fmla="*/ 2147483646 w 36"/>
              <a:gd name="T85" fmla="*/ 2147483646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6" h="34">
                <a:moveTo>
                  <a:pt x="18" y="32"/>
                </a:moveTo>
                <a:lnTo>
                  <a:pt x="20" y="34"/>
                </a:lnTo>
                <a:lnTo>
                  <a:pt x="22" y="32"/>
                </a:lnTo>
                <a:lnTo>
                  <a:pt x="27" y="32"/>
                </a:lnTo>
                <a:lnTo>
                  <a:pt x="29" y="29"/>
                </a:lnTo>
                <a:lnTo>
                  <a:pt x="29" y="27"/>
                </a:lnTo>
                <a:lnTo>
                  <a:pt x="31" y="27"/>
                </a:lnTo>
                <a:lnTo>
                  <a:pt x="34" y="25"/>
                </a:lnTo>
                <a:lnTo>
                  <a:pt x="34" y="23"/>
                </a:lnTo>
                <a:lnTo>
                  <a:pt x="36" y="19"/>
                </a:lnTo>
                <a:lnTo>
                  <a:pt x="36" y="17"/>
                </a:lnTo>
                <a:lnTo>
                  <a:pt x="36" y="15"/>
                </a:lnTo>
                <a:lnTo>
                  <a:pt x="34" y="13"/>
                </a:lnTo>
                <a:lnTo>
                  <a:pt x="34" y="11"/>
                </a:lnTo>
                <a:lnTo>
                  <a:pt x="31" y="8"/>
                </a:lnTo>
                <a:lnTo>
                  <a:pt x="29" y="6"/>
                </a:lnTo>
                <a:lnTo>
                  <a:pt x="29" y="4"/>
                </a:lnTo>
                <a:lnTo>
                  <a:pt x="27" y="2"/>
                </a:lnTo>
                <a:lnTo>
                  <a:pt x="22" y="2"/>
                </a:lnTo>
                <a:lnTo>
                  <a:pt x="20" y="2"/>
                </a:lnTo>
                <a:lnTo>
                  <a:pt x="18" y="0"/>
                </a:lnTo>
                <a:lnTo>
                  <a:pt x="15" y="2"/>
                </a:lnTo>
                <a:lnTo>
                  <a:pt x="13" y="2"/>
                </a:lnTo>
                <a:lnTo>
                  <a:pt x="11" y="2"/>
                </a:lnTo>
                <a:lnTo>
                  <a:pt x="9" y="4"/>
                </a:lnTo>
                <a:lnTo>
                  <a:pt x="6" y="6"/>
                </a:lnTo>
                <a:lnTo>
                  <a:pt x="4" y="8"/>
                </a:lnTo>
                <a:lnTo>
                  <a:pt x="2" y="11"/>
                </a:lnTo>
                <a:lnTo>
                  <a:pt x="2" y="13"/>
                </a:lnTo>
                <a:lnTo>
                  <a:pt x="0" y="15"/>
                </a:lnTo>
                <a:lnTo>
                  <a:pt x="0" y="17"/>
                </a:lnTo>
                <a:lnTo>
                  <a:pt x="0" y="19"/>
                </a:lnTo>
                <a:lnTo>
                  <a:pt x="2" y="23"/>
                </a:lnTo>
                <a:lnTo>
                  <a:pt x="2" y="25"/>
                </a:lnTo>
                <a:lnTo>
                  <a:pt x="4" y="27"/>
                </a:lnTo>
                <a:lnTo>
                  <a:pt x="6" y="27"/>
                </a:lnTo>
                <a:lnTo>
                  <a:pt x="9" y="29"/>
                </a:lnTo>
                <a:lnTo>
                  <a:pt x="11" y="32"/>
                </a:lnTo>
                <a:lnTo>
                  <a:pt x="13" y="32"/>
                </a:lnTo>
                <a:lnTo>
                  <a:pt x="15" y="34"/>
                </a:lnTo>
                <a:lnTo>
                  <a:pt x="18" y="34"/>
                </a:lnTo>
                <a:lnTo>
                  <a:pt x="18"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93" name="Freeform 200">
            <a:extLst>
              <a:ext uri="{FF2B5EF4-FFF2-40B4-BE49-F238E27FC236}">
                <a16:creationId xmlns:a16="http://schemas.microsoft.com/office/drawing/2014/main" id="{00E4ECD2-4BF5-4752-B3BE-2385F6B19053}"/>
              </a:ext>
            </a:extLst>
          </p:cNvPr>
          <p:cNvSpPr>
            <a:spLocks/>
          </p:cNvSpPr>
          <p:nvPr/>
        </p:nvSpPr>
        <p:spPr bwMode="auto">
          <a:xfrm>
            <a:off x="3965575" y="4808538"/>
            <a:ext cx="1506538" cy="355600"/>
          </a:xfrm>
          <a:custGeom>
            <a:avLst/>
            <a:gdLst>
              <a:gd name="T0" fmla="*/ 2147483646 w 949"/>
              <a:gd name="T1" fmla="*/ 2147483646 h 224"/>
              <a:gd name="T2" fmla="*/ 2147483646 w 949"/>
              <a:gd name="T3" fmla="*/ 2147483646 h 224"/>
              <a:gd name="T4" fmla="*/ 2147483646 w 949"/>
              <a:gd name="T5" fmla="*/ 0 h 224"/>
              <a:gd name="T6" fmla="*/ 0 w 949"/>
              <a:gd name="T7" fmla="*/ 0 h 2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9" h="224">
                <a:moveTo>
                  <a:pt x="949" y="224"/>
                </a:moveTo>
                <a:lnTo>
                  <a:pt x="586" y="224"/>
                </a:lnTo>
                <a:lnTo>
                  <a:pt x="586" y="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94" name="Freeform 201">
            <a:extLst>
              <a:ext uri="{FF2B5EF4-FFF2-40B4-BE49-F238E27FC236}">
                <a16:creationId xmlns:a16="http://schemas.microsoft.com/office/drawing/2014/main" id="{B78D7E1F-4215-49EE-95B0-C2E24158D91D}"/>
              </a:ext>
            </a:extLst>
          </p:cNvPr>
          <p:cNvSpPr>
            <a:spLocks/>
          </p:cNvSpPr>
          <p:nvPr/>
        </p:nvSpPr>
        <p:spPr bwMode="auto">
          <a:xfrm>
            <a:off x="3940175" y="4786313"/>
            <a:ext cx="53975" cy="49212"/>
          </a:xfrm>
          <a:custGeom>
            <a:avLst/>
            <a:gdLst>
              <a:gd name="T0" fmla="*/ 2147483646 w 34"/>
              <a:gd name="T1" fmla="*/ 2147483646 h 31"/>
              <a:gd name="T2" fmla="*/ 2147483646 w 34"/>
              <a:gd name="T3" fmla="*/ 2147483646 h 31"/>
              <a:gd name="T4" fmla="*/ 2147483646 w 34"/>
              <a:gd name="T5" fmla="*/ 2147483646 h 31"/>
              <a:gd name="T6" fmla="*/ 2147483646 w 34"/>
              <a:gd name="T7" fmla="*/ 2147483646 h 31"/>
              <a:gd name="T8" fmla="*/ 2147483646 w 34"/>
              <a:gd name="T9" fmla="*/ 2147483646 h 31"/>
              <a:gd name="T10" fmla="*/ 2147483646 w 34"/>
              <a:gd name="T11" fmla="*/ 2147483646 h 31"/>
              <a:gd name="T12" fmla="*/ 2147483646 w 34"/>
              <a:gd name="T13" fmla="*/ 2147483646 h 31"/>
              <a:gd name="T14" fmla="*/ 2147483646 w 34"/>
              <a:gd name="T15" fmla="*/ 2147483646 h 31"/>
              <a:gd name="T16" fmla="*/ 2147483646 w 34"/>
              <a:gd name="T17" fmla="*/ 2147483646 h 31"/>
              <a:gd name="T18" fmla="*/ 2147483646 w 34"/>
              <a:gd name="T19" fmla="*/ 2147483646 h 31"/>
              <a:gd name="T20" fmla="*/ 2147483646 w 34"/>
              <a:gd name="T21" fmla="*/ 2147483646 h 31"/>
              <a:gd name="T22" fmla="*/ 2147483646 w 34"/>
              <a:gd name="T23" fmla="*/ 2147483646 h 31"/>
              <a:gd name="T24" fmla="*/ 2147483646 w 34"/>
              <a:gd name="T25" fmla="*/ 2147483646 h 31"/>
              <a:gd name="T26" fmla="*/ 2147483646 w 34"/>
              <a:gd name="T27" fmla="*/ 2147483646 h 31"/>
              <a:gd name="T28" fmla="*/ 2147483646 w 34"/>
              <a:gd name="T29" fmla="*/ 2147483646 h 31"/>
              <a:gd name="T30" fmla="*/ 2147483646 w 34"/>
              <a:gd name="T31" fmla="*/ 2147483646 h 31"/>
              <a:gd name="T32" fmla="*/ 2147483646 w 34"/>
              <a:gd name="T33" fmla="*/ 2147483646 h 31"/>
              <a:gd name="T34" fmla="*/ 2147483646 w 34"/>
              <a:gd name="T35" fmla="*/ 2147483646 h 31"/>
              <a:gd name="T36" fmla="*/ 2147483646 w 34"/>
              <a:gd name="T37" fmla="*/ 0 h 31"/>
              <a:gd name="T38" fmla="*/ 2147483646 w 34"/>
              <a:gd name="T39" fmla="*/ 0 h 31"/>
              <a:gd name="T40" fmla="*/ 2147483646 w 34"/>
              <a:gd name="T41" fmla="*/ 0 h 31"/>
              <a:gd name="T42" fmla="*/ 2147483646 w 34"/>
              <a:gd name="T43" fmla="*/ 0 h 31"/>
              <a:gd name="T44" fmla="*/ 2147483646 w 34"/>
              <a:gd name="T45" fmla="*/ 0 h 31"/>
              <a:gd name="T46" fmla="*/ 2147483646 w 34"/>
              <a:gd name="T47" fmla="*/ 2147483646 h 31"/>
              <a:gd name="T48" fmla="*/ 2147483646 w 34"/>
              <a:gd name="T49" fmla="*/ 2147483646 h 31"/>
              <a:gd name="T50" fmla="*/ 2147483646 w 34"/>
              <a:gd name="T51" fmla="*/ 2147483646 h 31"/>
              <a:gd name="T52" fmla="*/ 2147483646 w 34"/>
              <a:gd name="T53" fmla="*/ 2147483646 h 31"/>
              <a:gd name="T54" fmla="*/ 0 w 34"/>
              <a:gd name="T55" fmla="*/ 2147483646 h 31"/>
              <a:gd name="T56" fmla="*/ 0 w 34"/>
              <a:gd name="T57" fmla="*/ 2147483646 h 31"/>
              <a:gd name="T58" fmla="*/ 0 w 34"/>
              <a:gd name="T59" fmla="*/ 2147483646 h 31"/>
              <a:gd name="T60" fmla="*/ 0 w 34"/>
              <a:gd name="T61" fmla="*/ 2147483646 h 31"/>
              <a:gd name="T62" fmla="*/ 0 w 34"/>
              <a:gd name="T63" fmla="*/ 2147483646 h 31"/>
              <a:gd name="T64" fmla="*/ 0 w 34"/>
              <a:gd name="T65" fmla="*/ 2147483646 h 31"/>
              <a:gd name="T66" fmla="*/ 0 w 34"/>
              <a:gd name="T67" fmla="*/ 2147483646 h 31"/>
              <a:gd name="T68" fmla="*/ 2147483646 w 34"/>
              <a:gd name="T69" fmla="*/ 2147483646 h 31"/>
              <a:gd name="T70" fmla="*/ 2147483646 w 34"/>
              <a:gd name="T71" fmla="*/ 2147483646 h 31"/>
              <a:gd name="T72" fmla="*/ 2147483646 w 34"/>
              <a:gd name="T73" fmla="*/ 2147483646 h 31"/>
              <a:gd name="T74" fmla="*/ 2147483646 w 34"/>
              <a:gd name="T75" fmla="*/ 2147483646 h 31"/>
              <a:gd name="T76" fmla="*/ 2147483646 w 34"/>
              <a:gd name="T77" fmla="*/ 2147483646 h 31"/>
              <a:gd name="T78" fmla="*/ 2147483646 w 34"/>
              <a:gd name="T79" fmla="*/ 2147483646 h 31"/>
              <a:gd name="T80" fmla="*/ 2147483646 w 34"/>
              <a:gd name="T81" fmla="*/ 2147483646 h 31"/>
              <a:gd name="T82" fmla="*/ 2147483646 w 34"/>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4" h="31">
                <a:moveTo>
                  <a:pt x="16" y="31"/>
                </a:moveTo>
                <a:lnTo>
                  <a:pt x="18" y="31"/>
                </a:lnTo>
                <a:lnTo>
                  <a:pt x="22" y="31"/>
                </a:lnTo>
                <a:lnTo>
                  <a:pt x="25" y="29"/>
                </a:lnTo>
                <a:lnTo>
                  <a:pt x="27" y="29"/>
                </a:lnTo>
                <a:lnTo>
                  <a:pt x="29" y="27"/>
                </a:lnTo>
                <a:lnTo>
                  <a:pt x="29" y="25"/>
                </a:lnTo>
                <a:lnTo>
                  <a:pt x="31" y="23"/>
                </a:lnTo>
                <a:lnTo>
                  <a:pt x="34" y="21"/>
                </a:lnTo>
                <a:lnTo>
                  <a:pt x="34" y="18"/>
                </a:lnTo>
                <a:lnTo>
                  <a:pt x="34" y="14"/>
                </a:lnTo>
                <a:lnTo>
                  <a:pt x="34" y="12"/>
                </a:lnTo>
                <a:lnTo>
                  <a:pt x="34" y="10"/>
                </a:lnTo>
                <a:lnTo>
                  <a:pt x="31" y="8"/>
                </a:lnTo>
                <a:lnTo>
                  <a:pt x="29" y="6"/>
                </a:lnTo>
                <a:lnTo>
                  <a:pt x="29" y="4"/>
                </a:lnTo>
                <a:lnTo>
                  <a:pt x="27" y="2"/>
                </a:lnTo>
                <a:lnTo>
                  <a:pt x="25" y="2"/>
                </a:lnTo>
                <a:lnTo>
                  <a:pt x="22" y="0"/>
                </a:lnTo>
                <a:lnTo>
                  <a:pt x="18" y="0"/>
                </a:lnTo>
                <a:lnTo>
                  <a:pt x="16" y="0"/>
                </a:lnTo>
                <a:lnTo>
                  <a:pt x="13" y="0"/>
                </a:lnTo>
                <a:lnTo>
                  <a:pt x="11" y="0"/>
                </a:lnTo>
                <a:lnTo>
                  <a:pt x="9" y="2"/>
                </a:lnTo>
                <a:lnTo>
                  <a:pt x="7" y="2"/>
                </a:lnTo>
                <a:lnTo>
                  <a:pt x="4" y="4"/>
                </a:lnTo>
                <a:lnTo>
                  <a:pt x="2" y="6"/>
                </a:lnTo>
                <a:lnTo>
                  <a:pt x="0" y="8"/>
                </a:lnTo>
                <a:lnTo>
                  <a:pt x="0" y="10"/>
                </a:lnTo>
                <a:lnTo>
                  <a:pt x="0" y="12"/>
                </a:lnTo>
                <a:lnTo>
                  <a:pt x="0" y="14"/>
                </a:lnTo>
                <a:lnTo>
                  <a:pt x="0" y="18"/>
                </a:lnTo>
                <a:lnTo>
                  <a:pt x="0" y="21"/>
                </a:lnTo>
                <a:lnTo>
                  <a:pt x="0" y="23"/>
                </a:lnTo>
                <a:lnTo>
                  <a:pt x="2" y="25"/>
                </a:lnTo>
                <a:lnTo>
                  <a:pt x="4" y="27"/>
                </a:lnTo>
                <a:lnTo>
                  <a:pt x="7" y="29"/>
                </a:lnTo>
                <a:lnTo>
                  <a:pt x="9" y="29"/>
                </a:lnTo>
                <a:lnTo>
                  <a:pt x="11" y="31"/>
                </a:lnTo>
                <a:lnTo>
                  <a:pt x="13" y="31"/>
                </a:lnTo>
                <a:lnTo>
                  <a:pt x="16"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95" name="Freeform 202">
            <a:extLst>
              <a:ext uri="{FF2B5EF4-FFF2-40B4-BE49-F238E27FC236}">
                <a16:creationId xmlns:a16="http://schemas.microsoft.com/office/drawing/2014/main" id="{7FB96226-40CE-42F7-A7BE-5AB6413C6149}"/>
              </a:ext>
            </a:extLst>
          </p:cNvPr>
          <p:cNvSpPr>
            <a:spLocks/>
          </p:cNvSpPr>
          <p:nvPr/>
        </p:nvSpPr>
        <p:spPr bwMode="auto">
          <a:xfrm>
            <a:off x="3911600" y="4862513"/>
            <a:ext cx="1579563" cy="355600"/>
          </a:xfrm>
          <a:custGeom>
            <a:avLst/>
            <a:gdLst>
              <a:gd name="T0" fmla="*/ 2147483646 w 995"/>
              <a:gd name="T1" fmla="*/ 2147483646 h 224"/>
              <a:gd name="T2" fmla="*/ 2147483646 w 995"/>
              <a:gd name="T3" fmla="*/ 2147483646 h 224"/>
              <a:gd name="T4" fmla="*/ 2147483646 w 995"/>
              <a:gd name="T5" fmla="*/ 0 h 224"/>
              <a:gd name="T6" fmla="*/ 0 w 995"/>
              <a:gd name="T7" fmla="*/ 0 h 2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5" h="224">
                <a:moveTo>
                  <a:pt x="995" y="222"/>
                </a:moveTo>
                <a:lnTo>
                  <a:pt x="586" y="224"/>
                </a:lnTo>
                <a:lnTo>
                  <a:pt x="586" y="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496" name="Freeform 203">
            <a:extLst>
              <a:ext uri="{FF2B5EF4-FFF2-40B4-BE49-F238E27FC236}">
                <a16:creationId xmlns:a16="http://schemas.microsoft.com/office/drawing/2014/main" id="{2AE802BA-EB10-48F5-A1C7-E59379629CAA}"/>
              </a:ext>
            </a:extLst>
          </p:cNvPr>
          <p:cNvSpPr>
            <a:spLocks/>
          </p:cNvSpPr>
          <p:nvPr/>
        </p:nvSpPr>
        <p:spPr bwMode="auto">
          <a:xfrm>
            <a:off x="3883025" y="4835525"/>
            <a:ext cx="57150" cy="49213"/>
          </a:xfrm>
          <a:custGeom>
            <a:avLst/>
            <a:gdLst>
              <a:gd name="T0" fmla="*/ 2147483646 w 36"/>
              <a:gd name="T1" fmla="*/ 2147483646 h 31"/>
              <a:gd name="T2" fmla="*/ 2147483646 w 36"/>
              <a:gd name="T3" fmla="*/ 2147483646 h 31"/>
              <a:gd name="T4" fmla="*/ 2147483646 w 36"/>
              <a:gd name="T5" fmla="*/ 2147483646 h 31"/>
              <a:gd name="T6" fmla="*/ 2147483646 w 36"/>
              <a:gd name="T7" fmla="*/ 2147483646 h 31"/>
              <a:gd name="T8" fmla="*/ 2147483646 w 36"/>
              <a:gd name="T9" fmla="*/ 2147483646 h 31"/>
              <a:gd name="T10" fmla="*/ 2147483646 w 36"/>
              <a:gd name="T11" fmla="*/ 2147483646 h 31"/>
              <a:gd name="T12" fmla="*/ 2147483646 w 36"/>
              <a:gd name="T13" fmla="*/ 2147483646 h 31"/>
              <a:gd name="T14" fmla="*/ 2147483646 w 36"/>
              <a:gd name="T15" fmla="*/ 2147483646 h 31"/>
              <a:gd name="T16" fmla="*/ 2147483646 w 36"/>
              <a:gd name="T17" fmla="*/ 2147483646 h 31"/>
              <a:gd name="T18" fmla="*/ 2147483646 w 36"/>
              <a:gd name="T19" fmla="*/ 2147483646 h 31"/>
              <a:gd name="T20" fmla="*/ 2147483646 w 36"/>
              <a:gd name="T21" fmla="*/ 2147483646 h 31"/>
              <a:gd name="T22" fmla="*/ 2147483646 w 36"/>
              <a:gd name="T23" fmla="*/ 2147483646 h 31"/>
              <a:gd name="T24" fmla="*/ 2147483646 w 36"/>
              <a:gd name="T25" fmla="*/ 2147483646 h 31"/>
              <a:gd name="T26" fmla="*/ 2147483646 w 36"/>
              <a:gd name="T27" fmla="*/ 2147483646 h 31"/>
              <a:gd name="T28" fmla="*/ 2147483646 w 36"/>
              <a:gd name="T29" fmla="*/ 2147483646 h 31"/>
              <a:gd name="T30" fmla="*/ 2147483646 w 36"/>
              <a:gd name="T31" fmla="*/ 2147483646 h 31"/>
              <a:gd name="T32" fmla="*/ 2147483646 w 36"/>
              <a:gd name="T33" fmla="*/ 2147483646 h 31"/>
              <a:gd name="T34" fmla="*/ 2147483646 w 36"/>
              <a:gd name="T35" fmla="*/ 2147483646 h 31"/>
              <a:gd name="T36" fmla="*/ 2147483646 w 36"/>
              <a:gd name="T37" fmla="*/ 0 h 31"/>
              <a:gd name="T38" fmla="*/ 2147483646 w 36"/>
              <a:gd name="T39" fmla="*/ 0 h 31"/>
              <a:gd name="T40" fmla="*/ 2147483646 w 36"/>
              <a:gd name="T41" fmla="*/ 0 h 31"/>
              <a:gd name="T42" fmla="*/ 2147483646 w 36"/>
              <a:gd name="T43" fmla="*/ 0 h 31"/>
              <a:gd name="T44" fmla="*/ 2147483646 w 36"/>
              <a:gd name="T45" fmla="*/ 0 h 31"/>
              <a:gd name="T46" fmla="*/ 2147483646 w 36"/>
              <a:gd name="T47" fmla="*/ 2147483646 h 31"/>
              <a:gd name="T48" fmla="*/ 2147483646 w 36"/>
              <a:gd name="T49" fmla="*/ 2147483646 h 31"/>
              <a:gd name="T50" fmla="*/ 2147483646 w 36"/>
              <a:gd name="T51" fmla="*/ 2147483646 h 31"/>
              <a:gd name="T52" fmla="*/ 2147483646 w 36"/>
              <a:gd name="T53" fmla="*/ 2147483646 h 31"/>
              <a:gd name="T54" fmla="*/ 2147483646 w 36"/>
              <a:gd name="T55" fmla="*/ 2147483646 h 31"/>
              <a:gd name="T56" fmla="*/ 2147483646 w 36"/>
              <a:gd name="T57" fmla="*/ 2147483646 h 31"/>
              <a:gd name="T58" fmla="*/ 0 w 36"/>
              <a:gd name="T59" fmla="*/ 2147483646 h 31"/>
              <a:gd name="T60" fmla="*/ 0 w 36"/>
              <a:gd name="T61" fmla="*/ 2147483646 h 31"/>
              <a:gd name="T62" fmla="*/ 0 w 36"/>
              <a:gd name="T63" fmla="*/ 2147483646 h 31"/>
              <a:gd name="T64" fmla="*/ 2147483646 w 36"/>
              <a:gd name="T65" fmla="*/ 2147483646 h 31"/>
              <a:gd name="T66" fmla="*/ 2147483646 w 36"/>
              <a:gd name="T67" fmla="*/ 2147483646 h 31"/>
              <a:gd name="T68" fmla="*/ 2147483646 w 36"/>
              <a:gd name="T69" fmla="*/ 2147483646 h 31"/>
              <a:gd name="T70" fmla="*/ 2147483646 w 36"/>
              <a:gd name="T71" fmla="*/ 2147483646 h 31"/>
              <a:gd name="T72" fmla="*/ 2147483646 w 36"/>
              <a:gd name="T73" fmla="*/ 2147483646 h 31"/>
              <a:gd name="T74" fmla="*/ 2147483646 w 36"/>
              <a:gd name="T75" fmla="*/ 2147483646 h 31"/>
              <a:gd name="T76" fmla="*/ 2147483646 w 36"/>
              <a:gd name="T77" fmla="*/ 2147483646 h 31"/>
              <a:gd name="T78" fmla="*/ 2147483646 w 36"/>
              <a:gd name="T79" fmla="*/ 2147483646 h 31"/>
              <a:gd name="T80" fmla="*/ 2147483646 w 36"/>
              <a:gd name="T81" fmla="*/ 2147483646 h 31"/>
              <a:gd name="T82" fmla="*/ 2147483646 w 36"/>
              <a:gd name="T83" fmla="*/ 2147483646 h 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6" h="31">
                <a:moveTo>
                  <a:pt x="18" y="31"/>
                </a:moveTo>
                <a:lnTo>
                  <a:pt x="20" y="31"/>
                </a:lnTo>
                <a:lnTo>
                  <a:pt x="22" y="31"/>
                </a:lnTo>
                <a:lnTo>
                  <a:pt x="25" y="29"/>
                </a:lnTo>
                <a:lnTo>
                  <a:pt x="27" y="29"/>
                </a:lnTo>
                <a:lnTo>
                  <a:pt x="29" y="27"/>
                </a:lnTo>
                <a:lnTo>
                  <a:pt x="31" y="25"/>
                </a:lnTo>
                <a:lnTo>
                  <a:pt x="34" y="23"/>
                </a:lnTo>
                <a:lnTo>
                  <a:pt x="34" y="21"/>
                </a:lnTo>
                <a:lnTo>
                  <a:pt x="36" y="19"/>
                </a:lnTo>
                <a:lnTo>
                  <a:pt x="36" y="17"/>
                </a:lnTo>
                <a:lnTo>
                  <a:pt x="36" y="13"/>
                </a:lnTo>
                <a:lnTo>
                  <a:pt x="34" y="10"/>
                </a:lnTo>
                <a:lnTo>
                  <a:pt x="34" y="8"/>
                </a:lnTo>
                <a:lnTo>
                  <a:pt x="31" y="6"/>
                </a:lnTo>
                <a:lnTo>
                  <a:pt x="29" y="4"/>
                </a:lnTo>
                <a:lnTo>
                  <a:pt x="27" y="4"/>
                </a:lnTo>
                <a:lnTo>
                  <a:pt x="25" y="2"/>
                </a:lnTo>
                <a:lnTo>
                  <a:pt x="22" y="0"/>
                </a:lnTo>
                <a:lnTo>
                  <a:pt x="20" y="0"/>
                </a:lnTo>
                <a:lnTo>
                  <a:pt x="18" y="0"/>
                </a:lnTo>
                <a:lnTo>
                  <a:pt x="16" y="0"/>
                </a:lnTo>
                <a:lnTo>
                  <a:pt x="13" y="0"/>
                </a:lnTo>
                <a:lnTo>
                  <a:pt x="9" y="2"/>
                </a:lnTo>
                <a:lnTo>
                  <a:pt x="7" y="4"/>
                </a:lnTo>
                <a:lnTo>
                  <a:pt x="4" y="6"/>
                </a:lnTo>
                <a:lnTo>
                  <a:pt x="2" y="8"/>
                </a:lnTo>
                <a:lnTo>
                  <a:pt x="2" y="10"/>
                </a:lnTo>
                <a:lnTo>
                  <a:pt x="0" y="13"/>
                </a:lnTo>
                <a:lnTo>
                  <a:pt x="0" y="17"/>
                </a:lnTo>
                <a:lnTo>
                  <a:pt x="0" y="19"/>
                </a:lnTo>
                <a:lnTo>
                  <a:pt x="2" y="21"/>
                </a:lnTo>
                <a:lnTo>
                  <a:pt x="2" y="23"/>
                </a:lnTo>
                <a:lnTo>
                  <a:pt x="4" y="25"/>
                </a:lnTo>
                <a:lnTo>
                  <a:pt x="7" y="27"/>
                </a:lnTo>
                <a:lnTo>
                  <a:pt x="7" y="29"/>
                </a:lnTo>
                <a:lnTo>
                  <a:pt x="9" y="29"/>
                </a:lnTo>
                <a:lnTo>
                  <a:pt x="13" y="31"/>
                </a:lnTo>
                <a:lnTo>
                  <a:pt x="16" y="31"/>
                </a:lnTo>
                <a:lnTo>
                  <a:pt x="18"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97" name="Freeform 204">
            <a:extLst>
              <a:ext uri="{FF2B5EF4-FFF2-40B4-BE49-F238E27FC236}">
                <a16:creationId xmlns:a16="http://schemas.microsoft.com/office/drawing/2014/main" id="{0F601C6D-EE48-41F8-AB1D-AC1E1C8D1EDB}"/>
              </a:ext>
            </a:extLst>
          </p:cNvPr>
          <p:cNvSpPr>
            <a:spLocks/>
          </p:cNvSpPr>
          <p:nvPr/>
        </p:nvSpPr>
        <p:spPr bwMode="auto">
          <a:xfrm>
            <a:off x="3968750" y="5470525"/>
            <a:ext cx="53975" cy="52388"/>
          </a:xfrm>
          <a:custGeom>
            <a:avLst/>
            <a:gdLst>
              <a:gd name="T0" fmla="*/ 2147483646 w 34"/>
              <a:gd name="T1" fmla="*/ 0 h 33"/>
              <a:gd name="T2" fmla="*/ 0 w 34"/>
              <a:gd name="T3" fmla="*/ 0 h 33"/>
              <a:gd name="T4" fmla="*/ 2147483646 w 34"/>
              <a:gd name="T5" fmla="*/ 2147483646 h 33"/>
              <a:gd name="T6" fmla="*/ 2147483646 w 34"/>
              <a:gd name="T7" fmla="*/ 0 h 33"/>
              <a:gd name="T8" fmla="*/ 2147483646 w 34"/>
              <a:gd name="T9" fmla="*/ 0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3">
                <a:moveTo>
                  <a:pt x="34" y="0"/>
                </a:moveTo>
                <a:lnTo>
                  <a:pt x="0" y="0"/>
                </a:lnTo>
                <a:lnTo>
                  <a:pt x="16" y="33"/>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498" name="Line 206">
            <a:extLst>
              <a:ext uri="{FF2B5EF4-FFF2-40B4-BE49-F238E27FC236}">
                <a16:creationId xmlns:a16="http://schemas.microsoft.com/office/drawing/2014/main" id="{FA8B6FEA-4754-4411-92FF-F1D910FA944F}"/>
              </a:ext>
            </a:extLst>
          </p:cNvPr>
          <p:cNvSpPr>
            <a:spLocks noChangeShapeType="1"/>
          </p:cNvSpPr>
          <p:nvPr/>
        </p:nvSpPr>
        <p:spPr bwMode="auto">
          <a:xfrm flipV="1">
            <a:off x="3994150" y="5294313"/>
            <a:ext cx="0" cy="18891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499" name="Rectangle 207">
            <a:extLst>
              <a:ext uri="{FF2B5EF4-FFF2-40B4-BE49-F238E27FC236}">
                <a16:creationId xmlns:a16="http://schemas.microsoft.com/office/drawing/2014/main" id="{A54E2643-1C20-4FD3-B0F8-31C5B855CB61}"/>
              </a:ext>
            </a:extLst>
          </p:cNvPr>
          <p:cNvSpPr>
            <a:spLocks noChangeArrowheads="1"/>
          </p:cNvSpPr>
          <p:nvPr/>
        </p:nvSpPr>
        <p:spPr bwMode="auto">
          <a:xfrm>
            <a:off x="3922713" y="5543550"/>
            <a:ext cx="1428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H</a:t>
            </a:r>
            <a:endParaRPr lang="zh-CN" altLang="zh-CN"/>
          </a:p>
        </p:txBody>
      </p:sp>
      <p:sp>
        <p:nvSpPr>
          <p:cNvPr id="55500" name="Rectangle 208">
            <a:extLst>
              <a:ext uri="{FF2B5EF4-FFF2-40B4-BE49-F238E27FC236}">
                <a16:creationId xmlns:a16="http://schemas.microsoft.com/office/drawing/2014/main" id="{ACC000D9-168A-4824-B402-785E8B4DDC52}"/>
              </a:ext>
            </a:extLst>
          </p:cNvPr>
          <p:cNvSpPr>
            <a:spLocks noChangeArrowheads="1"/>
          </p:cNvSpPr>
          <p:nvPr/>
        </p:nvSpPr>
        <p:spPr bwMode="auto">
          <a:xfrm>
            <a:off x="4008438" y="5543550"/>
            <a:ext cx="793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i</a:t>
            </a:r>
            <a:endParaRPr lang="zh-CN" altLang="zh-CN"/>
          </a:p>
        </p:txBody>
      </p:sp>
      <p:sp>
        <p:nvSpPr>
          <p:cNvPr id="55501" name="Rectangle 209">
            <a:extLst>
              <a:ext uri="{FF2B5EF4-FFF2-40B4-BE49-F238E27FC236}">
                <a16:creationId xmlns:a16="http://schemas.microsoft.com/office/drawing/2014/main" id="{24018009-6257-4DDF-9564-5B0057A6CAEC}"/>
              </a:ext>
            </a:extLst>
          </p:cNvPr>
          <p:cNvSpPr>
            <a:spLocks noChangeArrowheads="1"/>
          </p:cNvSpPr>
          <p:nvPr/>
        </p:nvSpPr>
        <p:spPr bwMode="auto">
          <a:xfrm>
            <a:off x="4032250" y="5543550"/>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502" name="Freeform 210">
            <a:extLst>
              <a:ext uri="{FF2B5EF4-FFF2-40B4-BE49-F238E27FC236}">
                <a16:creationId xmlns:a16="http://schemas.microsoft.com/office/drawing/2014/main" id="{EB269BE8-2524-4863-AAB1-D55370320186}"/>
              </a:ext>
            </a:extLst>
          </p:cNvPr>
          <p:cNvSpPr>
            <a:spLocks/>
          </p:cNvSpPr>
          <p:nvPr/>
        </p:nvSpPr>
        <p:spPr bwMode="auto">
          <a:xfrm>
            <a:off x="5992813" y="5470525"/>
            <a:ext cx="57150" cy="52388"/>
          </a:xfrm>
          <a:custGeom>
            <a:avLst/>
            <a:gdLst>
              <a:gd name="T0" fmla="*/ 2147483646 w 36"/>
              <a:gd name="T1" fmla="*/ 0 h 33"/>
              <a:gd name="T2" fmla="*/ 0 w 36"/>
              <a:gd name="T3" fmla="*/ 0 h 33"/>
              <a:gd name="T4" fmla="*/ 2147483646 w 36"/>
              <a:gd name="T5" fmla="*/ 2147483646 h 33"/>
              <a:gd name="T6" fmla="*/ 2147483646 w 36"/>
              <a:gd name="T7" fmla="*/ 0 h 33"/>
              <a:gd name="T8" fmla="*/ 2147483646 w 36"/>
              <a:gd name="T9" fmla="*/ 0 h 33"/>
              <a:gd name="T10" fmla="*/ 2147483646 w 36"/>
              <a:gd name="T11" fmla="*/ 0 h 3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6" h="33">
                <a:moveTo>
                  <a:pt x="33" y="0"/>
                </a:moveTo>
                <a:lnTo>
                  <a:pt x="0" y="0"/>
                </a:lnTo>
                <a:lnTo>
                  <a:pt x="18" y="33"/>
                </a:lnTo>
                <a:lnTo>
                  <a:pt x="36" y="0"/>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503" name="Line 211">
            <a:extLst>
              <a:ext uri="{FF2B5EF4-FFF2-40B4-BE49-F238E27FC236}">
                <a16:creationId xmlns:a16="http://schemas.microsoft.com/office/drawing/2014/main" id="{A612F4FB-C283-4FCB-A522-2ECC2B4D7949}"/>
              </a:ext>
            </a:extLst>
          </p:cNvPr>
          <p:cNvSpPr>
            <a:spLocks noChangeShapeType="1"/>
          </p:cNvSpPr>
          <p:nvPr/>
        </p:nvSpPr>
        <p:spPr bwMode="auto">
          <a:xfrm flipV="1">
            <a:off x="6021388" y="5294313"/>
            <a:ext cx="0" cy="1857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504" name="Rectangle 212">
            <a:extLst>
              <a:ext uri="{FF2B5EF4-FFF2-40B4-BE49-F238E27FC236}">
                <a16:creationId xmlns:a16="http://schemas.microsoft.com/office/drawing/2014/main" id="{236CBCB0-C005-48F4-9623-92CF85FBB2E8}"/>
              </a:ext>
            </a:extLst>
          </p:cNvPr>
          <p:cNvSpPr>
            <a:spLocks noChangeArrowheads="1"/>
          </p:cNvSpPr>
          <p:nvPr/>
        </p:nvSpPr>
        <p:spPr bwMode="auto">
          <a:xfrm>
            <a:off x="5895975" y="5543550"/>
            <a:ext cx="1428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D</a:t>
            </a:r>
            <a:endParaRPr lang="zh-CN" altLang="zh-CN"/>
          </a:p>
        </p:txBody>
      </p:sp>
      <p:sp>
        <p:nvSpPr>
          <p:cNvPr id="55505" name="Rectangle 213">
            <a:extLst>
              <a:ext uri="{FF2B5EF4-FFF2-40B4-BE49-F238E27FC236}">
                <a16:creationId xmlns:a16="http://schemas.microsoft.com/office/drawing/2014/main" id="{EE70D545-EC40-45E3-BCC3-6D3BA577503D}"/>
              </a:ext>
            </a:extLst>
          </p:cNvPr>
          <p:cNvSpPr>
            <a:spLocks noChangeArrowheads="1"/>
          </p:cNvSpPr>
          <p:nvPr/>
        </p:nvSpPr>
        <p:spPr bwMode="auto">
          <a:xfrm>
            <a:off x="5981700" y="5543550"/>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506" name="Rectangle 214">
            <a:extLst>
              <a:ext uri="{FF2B5EF4-FFF2-40B4-BE49-F238E27FC236}">
                <a16:creationId xmlns:a16="http://schemas.microsoft.com/office/drawing/2014/main" id="{283E8652-47E8-4328-84C0-D97D6D2AEC94}"/>
              </a:ext>
            </a:extLst>
          </p:cNvPr>
          <p:cNvSpPr>
            <a:spLocks noChangeArrowheads="1"/>
          </p:cNvSpPr>
          <p:nvPr/>
        </p:nvSpPr>
        <p:spPr bwMode="auto">
          <a:xfrm>
            <a:off x="6049963" y="5543550"/>
            <a:ext cx="85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t</a:t>
            </a:r>
            <a:endParaRPr lang="zh-CN" altLang="zh-CN"/>
          </a:p>
        </p:txBody>
      </p:sp>
      <p:sp>
        <p:nvSpPr>
          <p:cNvPr id="55507" name="Rectangle 215">
            <a:extLst>
              <a:ext uri="{FF2B5EF4-FFF2-40B4-BE49-F238E27FC236}">
                <a16:creationId xmlns:a16="http://schemas.microsoft.com/office/drawing/2014/main" id="{73B19015-B3DF-4ECC-9D5B-2F7997363E44}"/>
              </a:ext>
            </a:extLst>
          </p:cNvPr>
          <p:cNvSpPr>
            <a:spLocks noChangeArrowheads="1"/>
          </p:cNvSpPr>
          <p:nvPr/>
        </p:nvSpPr>
        <p:spPr bwMode="auto">
          <a:xfrm>
            <a:off x="6081713" y="5543550"/>
            <a:ext cx="1174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a</a:t>
            </a:r>
            <a:endParaRPr lang="zh-CN" altLang="zh-CN"/>
          </a:p>
        </p:txBody>
      </p:sp>
      <p:sp>
        <p:nvSpPr>
          <p:cNvPr id="55508" name="Rectangle 216">
            <a:extLst>
              <a:ext uri="{FF2B5EF4-FFF2-40B4-BE49-F238E27FC236}">
                <a16:creationId xmlns:a16="http://schemas.microsoft.com/office/drawing/2014/main" id="{3E33DD33-C22A-4974-81BB-396B65ADCCA6}"/>
              </a:ext>
            </a:extLst>
          </p:cNvPr>
          <p:cNvSpPr>
            <a:spLocks noChangeArrowheads="1"/>
          </p:cNvSpPr>
          <p:nvPr/>
        </p:nvSpPr>
        <p:spPr bwMode="auto">
          <a:xfrm>
            <a:off x="4957763"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509" name="Rectangle 217">
            <a:extLst>
              <a:ext uri="{FF2B5EF4-FFF2-40B4-BE49-F238E27FC236}">
                <a16:creationId xmlns:a16="http://schemas.microsoft.com/office/drawing/2014/main" id="{FF119C58-713B-4944-8B7C-4C0C301BF62C}"/>
              </a:ext>
            </a:extLst>
          </p:cNvPr>
          <p:cNvSpPr>
            <a:spLocks noChangeArrowheads="1"/>
          </p:cNvSpPr>
          <p:nvPr/>
        </p:nvSpPr>
        <p:spPr bwMode="auto">
          <a:xfrm>
            <a:off x="4852988"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510" name="Rectangle 218">
            <a:extLst>
              <a:ext uri="{FF2B5EF4-FFF2-40B4-BE49-F238E27FC236}">
                <a16:creationId xmlns:a16="http://schemas.microsoft.com/office/drawing/2014/main" id="{EE8690D9-8CF7-42AF-AA67-F5D44BA54863}"/>
              </a:ext>
            </a:extLst>
          </p:cNvPr>
          <p:cNvSpPr>
            <a:spLocks noChangeArrowheads="1"/>
          </p:cNvSpPr>
          <p:nvPr/>
        </p:nvSpPr>
        <p:spPr bwMode="auto">
          <a:xfrm>
            <a:off x="4749800" y="12668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3</a:t>
            </a:r>
            <a:endParaRPr lang="zh-CN" altLang="zh-CN"/>
          </a:p>
        </p:txBody>
      </p:sp>
      <p:sp>
        <p:nvSpPr>
          <p:cNvPr id="55511" name="Rectangle 219">
            <a:extLst>
              <a:ext uri="{FF2B5EF4-FFF2-40B4-BE49-F238E27FC236}">
                <a16:creationId xmlns:a16="http://schemas.microsoft.com/office/drawing/2014/main" id="{0379FB92-F6B1-4051-80B6-8D910602FDE3}"/>
              </a:ext>
            </a:extLst>
          </p:cNvPr>
          <p:cNvSpPr>
            <a:spLocks noChangeArrowheads="1"/>
          </p:cNvSpPr>
          <p:nvPr/>
        </p:nvSpPr>
        <p:spPr bwMode="auto">
          <a:xfrm>
            <a:off x="4433888"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8</a:t>
            </a:r>
            <a:endParaRPr lang="zh-CN" altLang="zh-CN"/>
          </a:p>
        </p:txBody>
      </p:sp>
      <p:sp>
        <p:nvSpPr>
          <p:cNvPr id="55512" name="Rectangle 220">
            <a:extLst>
              <a:ext uri="{FF2B5EF4-FFF2-40B4-BE49-F238E27FC236}">
                <a16:creationId xmlns:a16="http://schemas.microsoft.com/office/drawing/2014/main" id="{F9C8D0DA-DEF2-42C5-A2C2-AA1CC96F01CA}"/>
              </a:ext>
            </a:extLst>
          </p:cNvPr>
          <p:cNvSpPr>
            <a:spLocks noChangeArrowheads="1"/>
          </p:cNvSpPr>
          <p:nvPr/>
        </p:nvSpPr>
        <p:spPr bwMode="auto">
          <a:xfrm>
            <a:off x="4325938"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9</a:t>
            </a:r>
            <a:endParaRPr lang="zh-CN" altLang="zh-CN"/>
          </a:p>
        </p:txBody>
      </p:sp>
      <p:sp>
        <p:nvSpPr>
          <p:cNvPr id="55513" name="Rectangle 221">
            <a:extLst>
              <a:ext uri="{FF2B5EF4-FFF2-40B4-BE49-F238E27FC236}">
                <a16:creationId xmlns:a16="http://schemas.microsoft.com/office/drawing/2014/main" id="{4B1CCDDF-2445-4CA0-8259-3135AC6EF507}"/>
              </a:ext>
            </a:extLst>
          </p:cNvPr>
          <p:cNvSpPr>
            <a:spLocks noChangeArrowheads="1"/>
          </p:cNvSpPr>
          <p:nvPr/>
        </p:nvSpPr>
        <p:spPr bwMode="auto">
          <a:xfrm>
            <a:off x="4143375" y="12668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514" name="Rectangle 222">
            <a:extLst>
              <a:ext uri="{FF2B5EF4-FFF2-40B4-BE49-F238E27FC236}">
                <a16:creationId xmlns:a16="http://schemas.microsoft.com/office/drawing/2014/main" id="{027607FF-0F00-48AE-98B2-1D00D32975A5}"/>
              </a:ext>
            </a:extLst>
          </p:cNvPr>
          <p:cNvSpPr>
            <a:spLocks noChangeArrowheads="1"/>
          </p:cNvSpPr>
          <p:nvPr/>
        </p:nvSpPr>
        <p:spPr bwMode="auto">
          <a:xfrm>
            <a:off x="4208463"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0</a:t>
            </a:r>
            <a:endParaRPr lang="zh-CN" altLang="zh-CN"/>
          </a:p>
        </p:txBody>
      </p:sp>
      <p:sp>
        <p:nvSpPr>
          <p:cNvPr id="55515" name="Rectangle 223">
            <a:extLst>
              <a:ext uri="{FF2B5EF4-FFF2-40B4-BE49-F238E27FC236}">
                <a16:creationId xmlns:a16="http://schemas.microsoft.com/office/drawing/2014/main" id="{D474C8DB-7DE9-4D62-8F68-3A8153DA8932}"/>
              </a:ext>
            </a:extLst>
          </p:cNvPr>
          <p:cNvSpPr>
            <a:spLocks noChangeArrowheads="1"/>
          </p:cNvSpPr>
          <p:nvPr/>
        </p:nvSpPr>
        <p:spPr bwMode="auto">
          <a:xfrm>
            <a:off x="3960813"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516" name="Rectangle 224">
            <a:extLst>
              <a:ext uri="{FF2B5EF4-FFF2-40B4-BE49-F238E27FC236}">
                <a16:creationId xmlns:a16="http://schemas.microsoft.com/office/drawing/2014/main" id="{6D561F98-1D0F-4B74-906E-EE60DE33F660}"/>
              </a:ext>
            </a:extLst>
          </p:cNvPr>
          <p:cNvSpPr>
            <a:spLocks noChangeArrowheads="1"/>
          </p:cNvSpPr>
          <p:nvPr/>
        </p:nvSpPr>
        <p:spPr bwMode="auto">
          <a:xfrm>
            <a:off x="4025900" y="12668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517" name="Rectangle 225">
            <a:extLst>
              <a:ext uri="{FF2B5EF4-FFF2-40B4-BE49-F238E27FC236}">
                <a16:creationId xmlns:a16="http://schemas.microsoft.com/office/drawing/2014/main" id="{86A74BF0-B93B-4216-B4E1-506B91F5004A}"/>
              </a:ext>
            </a:extLst>
          </p:cNvPr>
          <p:cNvSpPr>
            <a:spLocks noChangeArrowheads="1"/>
          </p:cNvSpPr>
          <p:nvPr/>
        </p:nvSpPr>
        <p:spPr bwMode="auto">
          <a:xfrm>
            <a:off x="3775075" y="12668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518" name="Rectangle 226">
            <a:extLst>
              <a:ext uri="{FF2B5EF4-FFF2-40B4-BE49-F238E27FC236}">
                <a16:creationId xmlns:a16="http://schemas.microsoft.com/office/drawing/2014/main" id="{0BFEC868-CAA9-4A62-91F7-1C87A59BCD1C}"/>
              </a:ext>
            </a:extLst>
          </p:cNvPr>
          <p:cNvSpPr>
            <a:spLocks noChangeArrowheads="1"/>
          </p:cNvSpPr>
          <p:nvPr/>
        </p:nvSpPr>
        <p:spPr bwMode="auto">
          <a:xfrm>
            <a:off x="3843338"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2</a:t>
            </a:r>
            <a:endParaRPr lang="zh-CN" altLang="zh-CN"/>
          </a:p>
        </p:txBody>
      </p:sp>
      <p:sp>
        <p:nvSpPr>
          <p:cNvPr id="55519" name="Rectangle 227">
            <a:extLst>
              <a:ext uri="{FF2B5EF4-FFF2-40B4-BE49-F238E27FC236}">
                <a16:creationId xmlns:a16="http://schemas.microsoft.com/office/drawing/2014/main" id="{6C8B73F6-703E-44B5-86AB-C8BF8B6EC1B5}"/>
              </a:ext>
            </a:extLst>
          </p:cNvPr>
          <p:cNvSpPr>
            <a:spLocks noChangeArrowheads="1"/>
          </p:cNvSpPr>
          <p:nvPr/>
        </p:nvSpPr>
        <p:spPr bwMode="auto">
          <a:xfrm>
            <a:off x="3406775" y="12668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3</a:t>
            </a:r>
            <a:endParaRPr lang="zh-CN" altLang="zh-CN"/>
          </a:p>
        </p:txBody>
      </p:sp>
      <p:sp>
        <p:nvSpPr>
          <p:cNvPr id="55520" name="Rectangle 228">
            <a:extLst>
              <a:ext uri="{FF2B5EF4-FFF2-40B4-BE49-F238E27FC236}">
                <a16:creationId xmlns:a16="http://schemas.microsoft.com/office/drawing/2014/main" id="{3161F3A1-1133-4340-8AEC-91EDF523B0D3}"/>
              </a:ext>
            </a:extLst>
          </p:cNvPr>
          <p:cNvSpPr>
            <a:spLocks noChangeArrowheads="1"/>
          </p:cNvSpPr>
          <p:nvPr/>
        </p:nvSpPr>
        <p:spPr bwMode="auto">
          <a:xfrm>
            <a:off x="3475038"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0</a:t>
            </a:r>
            <a:endParaRPr lang="zh-CN" altLang="zh-CN"/>
          </a:p>
        </p:txBody>
      </p:sp>
      <p:sp>
        <p:nvSpPr>
          <p:cNvPr id="55521" name="Rectangle 229">
            <a:extLst>
              <a:ext uri="{FF2B5EF4-FFF2-40B4-BE49-F238E27FC236}">
                <a16:creationId xmlns:a16="http://schemas.microsoft.com/office/drawing/2014/main" id="{443C870C-5396-4DA5-A835-6C5E70BD9334}"/>
              </a:ext>
            </a:extLst>
          </p:cNvPr>
          <p:cNvSpPr>
            <a:spLocks noChangeArrowheads="1"/>
          </p:cNvSpPr>
          <p:nvPr/>
        </p:nvSpPr>
        <p:spPr bwMode="auto">
          <a:xfrm>
            <a:off x="3219450" y="12668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3</a:t>
            </a:r>
            <a:endParaRPr lang="zh-CN" altLang="zh-CN"/>
          </a:p>
        </p:txBody>
      </p:sp>
      <p:sp>
        <p:nvSpPr>
          <p:cNvPr id="55522" name="Rectangle 230">
            <a:extLst>
              <a:ext uri="{FF2B5EF4-FFF2-40B4-BE49-F238E27FC236}">
                <a16:creationId xmlns:a16="http://schemas.microsoft.com/office/drawing/2014/main" id="{577AAB27-18FD-4B2E-8EF5-ED1B2F165968}"/>
              </a:ext>
            </a:extLst>
          </p:cNvPr>
          <p:cNvSpPr>
            <a:spLocks noChangeArrowheads="1"/>
          </p:cNvSpPr>
          <p:nvPr/>
        </p:nvSpPr>
        <p:spPr bwMode="auto">
          <a:xfrm>
            <a:off x="3284538" y="1266825"/>
            <a:ext cx="1222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1</a:t>
            </a:r>
            <a:endParaRPr lang="zh-CN" altLang="zh-CN"/>
          </a:p>
        </p:txBody>
      </p:sp>
      <p:sp>
        <p:nvSpPr>
          <p:cNvPr id="55523" name="Rectangle 231">
            <a:extLst>
              <a:ext uri="{FF2B5EF4-FFF2-40B4-BE49-F238E27FC236}">
                <a16:creationId xmlns:a16="http://schemas.microsoft.com/office/drawing/2014/main" id="{E246B5EC-57BF-4387-A3B4-FA2F5DA78B9C}"/>
              </a:ext>
            </a:extLst>
          </p:cNvPr>
          <p:cNvSpPr>
            <a:spLocks noChangeArrowheads="1"/>
          </p:cNvSpPr>
          <p:nvPr/>
        </p:nvSpPr>
        <p:spPr bwMode="auto">
          <a:xfrm>
            <a:off x="5067300" y="1266825"/>
            <a:ext cx="1222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zh-CN" sz="900">
                <a:solidFill>
                  <a:srgbClr val="000000"/>
                </a:solidFill>
                <a:latin typeface="Arial" panose="020B0604020202020204" pitchFamily="34" charset="0"/>
              </a:rPr>
              <a:t>0</a:t>
            </a:r>
            <a:endParaRPr lang="zh-CN" altLang="zh-CN"/>
          </a:p>
        </p:txBody>
      </p:sp>
      <p:sp>
        <p:nvSpPr>
          <p:cNvPr id="55524" name="Freeform 232">
            <a:extLst>
              <a:ext uri="{FF2B5EF4-FFF2-40B4-BE49-F238E27FC236}">
                <a16:creationId xmlns:a16="http://schemas.microsoft.com/office/drawing/2014/main" id="{BA1FA013-4849-401B-8DB2-2826C62D6A8E}"/>
              </a:ext>
            </a:extLst>
          </p:cNvPr>
          <p:cNvSpPr>
            <a:spLocks/>
          </p:cNvSpPr>
          <p:nvPr/>
        </p:nvSpPr>
        <p:spPr bwMode="auto">
          <a:xfrm>
            <a:off x="4619625" y="1330325"/>
            <a:ext cx="22225" cy="19050"/>
          </a:xfrm>
          <a:custGeom>
            <a:avLst/>
            <a:gdLst>
              <a:gd name="T0" fmla="*/ 2147483646 w 14"/>
              <a:gd name="T1" fmla="*/ 2147483646 h 12"/>
              <a:gd name="T2" fmla="*/ 2147483646 w 14"/>
              <a:gd name="T3" fmla="*/ 2147483646 h 12"/>
              <a:gd name="T4" fmla="*/ 2147483646 w 14"/>
              <a:gd name="T5" fmla="*/ 2147483646 h 12"/>
              <a:gd name="T6" fmla="*/ 2147483646 w 14"/>
              <a:gd name="T7" fmla="*/ 2147483646 h 12"/>
              <a:gd name="T8" fmla="*/ 2147483646 w 14"/>
              <a:gd name="T9" fmla="*/ 2147483646 h 12"/>
              <a:gd name="T10" fmla="*/ 2147483646 w 14"/>
              <a:gd name="T11" fmla="*/ 2147483646 h 12"/>
              <a:gd name="T12" fmla="*/ 2147483646 w 14"/>
              <a:gd name="T13" fmla="*/ 2147483646 h 12"/>
              <a:gd name="T14" fmla="*/ 2147483646 w 14"/>
              <a:gd name="T15" fmla="*/ 2147483646 h 12"/>
              <a:gd name="T16" fmla="*/ 2147483646 w 14"/>
              <a:gd name="T17" fmla="*/ 2147483646 h 12"/>
              <a:gd name="T18" fmla="*/ 2147483646 w 14"/>
              <a:gd name="T19" fmla="*/ 2147483646 h 12"/>
              <a:gd name="T20" fmla="*/ 2147483646 w 14"/>
              <a:gd name="T21" fmla="*/ 2147483646 h 12"/>
              <a:gd name="T22" fmla="*/ 2147483646 w 14"/>
              <a:gd name="T23" fmla="*/ 2147483646 h 12"/>
              <a:gd name="T24" fmla="*/ 2147483646 w 14"/>
              <a:gd name="T25" fmla="*/ 2147483646 h 12"/>
              <a:gd name="T26" fmla="*/ 2147483646 w 14"/>
              <a:gd name="T27" fmla="*/ 2147483646 h 12"/>
              <a:gd name="T28" fmla="*/ 2147483646 w 14"/>
              <a:gd name="T29" fmla="*/ 2147483646 h 12"/>
              <a:gd name="T30" fmla="*/ 2147483646 w 14"/>
              <a:gd name="T31" fmla="*/ 2147483646 h 12"/>
              <a:gd name="T32" fmla="*/ 2147483646 w 14"/>
              <a:gd name="T33" fmla="*/ 0 h 12"/>
              <a:gd name="T34" fmla="*/ 2147483646 w 14"/>
              <a:gd name="T35" fmla="*/ 0 h 12"/>
              <a:gd name="T36" fmla="*/ 2147483646 w 14"/>
              <a:gd name="T37" fmla="*/ 0 h 12"/>
              <a:gd name="T38" fmla="*/ 2147483646 w 14"/>
              <a:gd name="T39" fmla="*/ 0 h 12"/>
              <a:gd name="T40" fmla="*/ 2147483646 w 14"/>
              <a:gd name="T41" fmla="*/ 0 h 12"/>
              <a:gd name="T42" fmla="*/ 2147483646 w 14"/>
              <a:gd name="T43" fmla="*/ 0 h 12"/>
              <a:gd name="T44" fmla="*/ 2147483646 w 14"/>
              <a:gd name="T45" fmla="*/ 0 h 12"/>
              <a:gd name="T46" fmla="*/ 2147483646 w 14"/>
              <a:gd name="T47" fmla="*/ 0 h 12"/>
              <a:gd name="T48" fmla="*/ 2147483646 w 14"/>
              <a:gd name="T49" fmla="*/ 0 h 12"/>
              <a:gd name="T50" fmla="*/ 2147483646 w 14"/>
              <a:gd name="T51" fmla="*/ 2147483646 h 12"/>
              <a:gd name="T52" fmla="*/ 2147483646 w 14"/>
              <a:gd name="T53" fmla="*/ 2147483646 h 12"/>
              <a:gd name="T54" fmla="*/ 0 w 14"/>
              <a:gd name="T55" fmla="*/ 2147483646 h 12"/>
              <a:gd name="T56" fmla="*/ 0 w 14"/>
              <a:gd name="T57" fmla="*/ 2147483646 h 12"/>
              <a:gd name="T58" fmla="*/ 0 w 14"/>
              <a:gd name="T59" fmla="*/ 2147483646 h 12"/>
              <a:gd name="T60" fmla="*/ 0 w 14"/>
              <a:gd name="T61" fmla="*/ 2147483646 h 12"/>
              <a:gd name="T62" fmla="*/ 0 w 14"/>
              <a:gd name="T63" fmla="*/ 2147483646 h 12"/>
              <a:gd name="T64" fmla="*/ 0 w 14"/>
              <a:gd name="T65" fmla="*/ 2147483646 h 12"/>
              <a:gd name="T66" fmla="*/ 0 w 14"/>
              <a:gd name="T67" fmla="*/ 2147483646 h 12"/>
              <a:gd name="T68" fmla="*/ 2147483646 w 14"/>
              <a:gd name="T69" fmla="*/ 2147483646 h 12"/>
              <a:gd name="T70" fmla="*/ 2147483646 w 14"/>
              <a:gd name="T71" fmla="*/ 2147483646 h 12"/>
              <a:gd name="T72" fmla="*/ 2147483646 w 14"/>
              <a:gd name="T73" fmla="*/ 2147483646 h 12"/>
              <a:gd name="T74" fmla="*/ 2147483646 w 14"/>
              <a:gd name="T75" fmla="*/ 2147483646 h 12"/>
              <a:gd name="T76" fmla="*/ 2147483646 w 14"/>
              <a:gd name="T77" fmla="*/ 2147483646 h 12"/>
              <a:gd name="T78" fmla="*/ 2147483646 w 14"/>
              <a:gd name="T79" fmla="*/ 2147483646 h 12"/>
              <a:gd name="T80" fmla="*/ 2147483646 w 14"/>
              <a:gd name="T81" fmla="*/ 2147483646 h 12"/>
              <a:gd name="T82" fmla="*/ 2147483646 w 14"/>
              <a:gd name="T83" fmla="*/ 2147483646 h 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 h="12">
                <a:moveTo>
                  <a:pt x="7" y="12"/>
                </a:moveTo>
                <a:lnTo>
                  <a:pt x="10" y="12"/>
                </a:lnTo>
                <a:lnTo>
                  <a:pt x="12" y="12"/>
                </a:lnTo>
                <a:lnTo>
                  <a:pt x="12" y="10"/>
                </a:lnTo>
                <a:lnTo>
                  <a:pt x="14" y="10"/>
                </a:lnTo>
                <a:lnTo>
                  <a:pt x="14" y="8"/>
                </a:lnTo>
                <a:lnTo>
                  <a:pt x="14" y="6"/>
                </a:lnTo>
                <a:lnTo>
                  <a:pt x="14" y="4"/>
                </a:lnTo>
                <a:lnTo>
                  <a:pt x="14" y="2"/>
                </a:lnTo>
                <a:lnTo>
                  <a:pt x="12" y="2"/>
                </a:lnTo>
                <a:lnTo>
                  <a:pt x="12" y="0"/>
                </a:lnTo>
                <a:lnTo>
                  <a:pt x="10" y="0"/>
                </a:lnTo>
                <a:lnTo>
                  <a:pt x="7" y="0"/>
                </a:lnTo>
                <a:lnTo>
                  <a:pt x="5" y="0"/>
                </a:lnTo>
                <a:lnTo>
                  <a:pt x="3" y="0"/>
                </a:lnTo>
                <a:lnTo>
                  <a:pt x="3" y="2"/>
                </a:lnTo>
                <a:lnTo>
                  <a:pt x="0" y="4"/>
                </a:lnTo>
                <a:lnTo>
                  <a:pt x="0" y="6"/>
                </a:lnTo>
                <a:lnTo>
                  <a:pt x="0" y="8"/>
                </a:lnTo>
                <a:lnTo>
                  <a:pt x="3" y="10"/>
                </a:lnTo>
                <a:lnTo>
                  <a:pt x="5" y="12"/>
                </a:lnTo>
                <a:lnTo>
                  <a:pt x="7"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525" name="Freeform 233">
            <a:extLst>
              <a:ext uri="{FF2B5EF4-FFF2-40B4-BE49-F238E27FC236}">
                <a16:creationId xmlns:a16="http://schemas.microsoft.com/office/drawing/2014/main" id="{32924AAF-DCBB-416E-BEBA-E0E1886D44B3}"/>
              </a:ext>
            </a:extLst>
          </p:cNvPr>
          <p:cNvSpPr>
            <a:spLocks/>
          </p:cNvSpPr>
          <p:nvPr/>
        </p:nvSpPr>
        <p:spPr bwMode="auto">
          <a:xfrm>
            <a:off x="4695825" y="1330325"/>
            <a:ext cx="20638" cy="19050"/>
          </a:xfrm>
          <a:custGeom>
            <a:avLst/>
            <a:gdLst>
              <a:gd name="T0" fmla="*/ 2147483646 w 13"/>
              <a:gd name="T1" fmla="*/ 2147483646 h 12"/>
              <a:gd name="T2" fmla="*/ 2147483646 w 13"/>
              <a:gd name="T3" fmla="*/ 2147483646 h 12"/>
              <a:gd name="T4" fmla="*/ 2147483646 w 13"/>
              <a:gd name="T5" fmla="*/ 2147483646 h 12"/>
              <a:gd name="T6" fmla="*/ 2147483646 w 13"/>
              <a:gd name="T7" fmla="*/ 2147483646 h 12"/>
              <a:gd name="T8" fmla="*/ 2147483646 w 13"/>
              <a:gd name="T9" fmla="*/ 2147483646 h 12"/>
              <a:gd name="T10" fmla="*/ 2147483646 w 13"/>
              <a:gd name="T11" fmla="*/ 2147483646 h 12"/>
              <a:gd name="T12" fmla="*/ 2147483646 w 13"/>
              <a:gd name="T13" fmla="*/ 2147483646 h 12"/>
              <a:gd name="T14" fmla="*/ 2147483646 w 13"/>
              <a:gd name="T15" fmla="*/ 2147483646 h 12"/>
              <a:gd name="T16" fmla="*/ 2147483646 w 13"/>
              <a:gd name="T17" fmla="*/ 2147483646 h 12"/>
              <a:gd name="T18" fmla="*/ 2147483646 w 13"/>
              <a:gd name="T19" fmla="*/ 2147483646 h 12"/>
              <a:gd name="T20" fmla="*/ 2147483646 w 13"/>
              <a:gd name="T21" fmla="*/ 2147483646 h 12"/>
              <a:gd name="T22" fmla="*/ 2147483646 w 13"/>
              <a:gd name="T23" fmla="*/ 2147483646 h 12"/>
              <a:gd name="T24" fmla="*/ 2147483646 w 13"/>
              <a:gd name="T25" fmla="*/ 2147483646 h 12"/>
              <a:gd name="T26" fmla="*/ 2147483646 w 13"/>
              <a:gd name="T27" fmla="*/ 2147483646 h 12"/>
              <a:gd name="T28" fmla="*/ 2147483646 w 13"/>
              <a:gd name="T29" fmla="*/ 2147483646 h 12"/>
              <a:gd name="T30" fmla="*/ 2147483646 w 13"/>
              <a:gd name="T31" fmla="*/ 2147483646 h 12"/>
              <a:gd name="T32" fmla="*/ 2147483646 w 13"/>
              <a:gd name="T33" fmla="*/ 0 h 12"/>
              <a:gd name="T34" fmla="*/ 2147483646 w 13"/>
              <a:gd name="T35" fmla="*/ 0 h 12"/>
              <a:gd name="T36" fmla="*/ 2147483646 w 13"/>
              <a:gd name="T37" fmla="*/ 0 h 12"/>
              <a:gd name="T38" fmla="*/ 2147483646 w 13"/>
              <a:gd name="T39" fmla="*/ 0 h 12"/>
              <a:gd name="T40" fmla="*/ 2147483646 w 13"/>
              <a:gd name="T41" fmla="*/ 0 h 12"/>
              <a:gd name="T42" fmla="*/ 2147483646 w 13"/>
              <a:gd name="T43" fmla="*/ 0 h 12"/>
              <a:gd name="T44" fmla="*/ 2147483646 w 13"/>
              <a:gd name="T45" fmla="*/ 0 h 12"/>
              <a:gd name="T46" fmla="*/ 2147483646 w 13"/>
              <a:gd name="T47" fmla="*/ 0 h 12"/>
              <a:gd name="T48" fmla="*/ 2147483646 w 13"/>
              <a:gd name="T49" fmla="*/ 0 h 12"/>
              <a:gd name="T50" fmla="*/ 2147483646 w 13"/>
              <a:gd name="T51" fmla="*/ 2147483646 h 12"/>
              <a:gd name="T52" fmla="*/ 2147483646 w 13"/>
              <a:gd name="T53" fmla="*/ 2147483646 h 12"/>
              <a:gd name="T54" fmla="*/ 0 w 13"/>
              <a:gd name="T55" fmla="*/ 2147483646 h 12"/>
              <a:gd name="T56" fmla="*/ 0 w 13"/>
              <a:gd name="T57" fmla="*/ 2147483646 h 12"/>
              <a:gd name="T58" fmla="*/ 0 w 13"/>
              <a:gd name="T59" fmla="*/ 2147483646 h 12"/>
              <a:gd name="T60" fmla="*/ 0 w 13"/>
              <a:gd name="T61" fmla="*/ 2147483646 h 12"/>
              <a:gd name="T62" fmla="*/ 0 w 13"/>
              <a:gd name="T63" fmla="*/ 2147483646 h 12"/>
              <a:gd name="T64" fmla="*/ 0 w 13"/>
              <a:gd name="T65" fmla="*/ 2147483646 h 12"/>
              <a:gd name="T66" fmla="*/ 0 w 13"/>
              <a:gd name="T67" fmla="*/ 2147483646 h 12"/>
              <a:gd name="T68" fmla="*/ 2147483646 w 13"/>
              <a:gd name="T69" fmla="*/ 2147483646 h 12"/>
              <a:gd name="T70" fmla="*/ 2147483646 w 13"/>
              <a:gd name="T71" fmla="*/ 2147483646 h 12"/>
              <a:gd name="T72" fmla="*/ 2147483646 w 13"/>
              <a:gd name="T73" fmla="*/ 2147483646 h 12"/>
              <a:gd name="T74" fmla="*/ 2147483646 w 13"/>
              <a:gd name="T75" fmla="*/ 2147483646 h 12"/>
              <a:gd name="T76" fmla="*/ 2147483646 w 13"/>
              <a:gd name="T77" fmla="*/ 2147483646 h 12"/>
              <a:gd name="T78" fmla="*/ 2147483646 w 13"/>
              <a:gd name="T79" fmla="*/ 2147483646 h 12"/>
              <a:gd name="T80" fmla="*/ 2147483646 w 13"/>
              <a:gd name="T81" fmla="*/ 2147483646 h 12"/>
              <a:gd name="T82" fmla="*/ 2147483646 w 13"/>
              <a:gd name="T83" fmla="*/ 2147483646 h 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3" h="12">
                <a:moveTo>
                  <a:pt x="7" y="12"/>
                </a:moveTo>
                <a:lnTo>
                  <a:pt x="9" y="12"/>
                </a:lnTo>
                <a:lnTo>
                  <a:pt x="11" y="12"/>
                </a:lnTo>
                <a:lnTo>
                  <a:pt x="11" y="10"/>
                </a:lnTo>
                <a:lnTo>
                  <a:pt x="13" y="10"/>
                </a:lnTo>
                <a:lnTo>
                  <a:pt x="13" y="8"/>
                </a:lnTo>
                <a:lnTo>
                  <a:pt x="13" y="6"/>
                </a:lnTo>
                <a:lnTo>
                  <a:pt x="13" y="4"/>
                </a:lnTo>
                <a:lnTo>
                  <a:pt x="13" y="2"/>
                </a:lnTo>
                <a:lnTo>
                  <a:pt x="11" y="2"/>
                </a:lnTo>
                <a:lnTo>
                  <a:pt x="11" y="0"/>
                </a:lnTo>
                <a:lnTo>
                  <a:pt x="9" y="0"/>
                </a:lnTo>
                <a:lnTo>
                  <a:pt x="7" y="0"/>
                </a:lnTo>
                <a:lnTo>
                  <a:pt x="4" y="0"/>
                </a:lnTo>
                <a:lnTo>
                  <a:pt x="2" y="0"/>
                </a:lnTo>
                <a:lnTo>
                  <a:pt x="2" y="2"/>
                </a:lnTo>
                <a:lnTo>
                  <a:pt x="0" y="4"/>
                </a:lnTo>
                <a:lnTo>
                  <a:pt x="0" y="6"/>
                </a:lnTo>
                <a:lnTo>
                  <a:pt x="0" y="8"/>
                </a:lnTo>
                <a:lnTo>
                  <a:pt x="2" y="10"/>
                </a:lnTo>
                <a:lnTo>
                  <a:pt x="4" y="12"/>
                </a:lnTo>
                <a:lnTo>
                  <a:pt x="7"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526" name="Freeform 234">
            <a:extLst>
              <a:ext uri="{FF2B5EF4-FFF2-40B4-BE49-F238E27FC236}">
                <a16:creationId xmlns:a16="http://schemas.microsoft.com/office/drawing/2014/main" id="{F82B19E7-09BF-4D7B-ABCA-9A443246829B}"/>
              </a:ext>
            </a:extLst>
          </p:cNvPr>
          <p:cNvSpPr>
            <a:spLocks/>
          </p:cNvSpPr>
          <p:nvPr/>
        </p:nvSpPr>
        <p:spPr bwMode="auto">
          <a:xfrm>
            <a:off x="4545013" y="1330325"/>
            <a:ext cx="25400" cy="19050"/>
          </a:xfrm>
          <a:custGeom>
            <a:avLst/>
            <a:gdLst>
              <a:gd name="T0" fmla="*/ 2147483646 w 16"/>
              <a:gd name="T1" fmla="*/ 2147483646 h 12"/>
              <a:gd name="T2" fmla="*/ 2147483646 w 16"/>
              <a:gd name="T3" fmla="*/ 2147483646 h 12"/>
              <a:gd name="T4" fmla="*/ 2147483646 w 16"/>
              <a:gd name="T5" fmla="*/ 2147483646 h 12"/>
              <a:gd name="T6" fmla="*/ 2147483646 w 16"/>
              <a:gd name="T7" fmla="*/ 2147483646 h 12"/>
              <a:gd name="T8" fmla="*/ 2147483646 w 16"/>
              <a:gd name="T9" fmla="*/ 2147483646 h 12"/>
              <a:gd name="T10" fmla="*/ 2147483646 w 16"/>
              <a:gd name="T11" fmla="*/ 2147483646 h 12"/>
              <a:gd name="T12" fmla="*/ 2147483646 w 16"/>
              <a:gd name="T13" fmla="*/ 2147483646 h 12"/>
              <a:gd name="T14" fmla="*/ 2147483646 w 16"/>
              <a:gd name="T15" fmla="*/ 2147483646 h 12"/>
              <a:gd name="T16" fmla="*/ 2147483646 w 16"/>
              <a:gd name="T17" fmla="*/ 2147483646 h 12"/>
              <a:gd name="T18" fmla="*/ 2147483646 w 16"/>
              <a:gd name="T19" fmla="*/ 2147483646 h 12"/>
              <a:gd name="T20" fmla="*/ 2147483646 w 16"/>
              <a:gd name="T21" fmla="*/ 2147483646 h 12"/>
              <a:gd name="T22" fmla="*/ 2147483646 w 16"/>
              <a:gd name="T23" fmla="*/ 2147483646 h 12"/>
              <a:gd name="T24" fmla="*/ 2147483646 w 16"/>
              <a:gd name="T25" fmla="*/ 2147483646 h 12"/>
              <a:gd name="T26" fmla="*/ 2147483646 w 16"/>
              <a:gd name="T27" fmla="*/ 2147483646 h 12"/>
              <a:gd name="T28" fmla="*/ 2147483646 w 16"/>
              <a:gd name="T29" fmla="*/ 2147483646 h 12"/>
              <a:gd name="T30" fmla="*/ 2147483646 w 16"/>
              <a:gd name="T31" fmla="*/ 2147483646 h 12"/>
              <a:gd name="T32" fmla="*/ 2147483646 w 16"/>
              <a:gd name="T33" fmla="*/ 0 h 12"/>
              <a:gd name="T34" fmla="*/ 2147483646 w 16"/>
              <a:gd name="T35" fmla="*/ 0 h 12"/>
              <a:gd name="T36" fmla="*/ 2147483646 w 16"/>
              <a:gd name="T37" fmla="*/ 0 h 12"/>
              <a:gd name="T38" fmla="*/ 2147483646 w 16"/>
              <a:gd name="T39" fmla="*/ 0 h 12"/>
              <a:gd name="T40" fmla="*/ 2147483646 w 16"/>
              <a:gd name="T41" fmla="*/ 0 h 12"/>
              <a:gd name="T42" fmla="*/ 2147483646 w 16"/>
              <a:gd name="T43" fmla="*/ 0 h 12"/>
              <a:gd name="T44" fmla="*/ 2147483646 w 16"/>
              <a:gd name="T45" fmla="*/ 0 h 12"/>
              <a:gd name="T46" fmla="*/ 2147483646 w 16"/>
              <a:gd name="T47" fmla="*/ 0 h 12"/>
              <a:gd name="T48" fmla="*/ 2147483646 w 16"/>
              <a:gd name="T49" fmla="*/ 0 h 12"/>
              <a:gd name="T50" fmla="*/ 2147483646 w 16"/>
              <a:gd name="T51" fmla="*/ 2147483646 h 12"/>
              <a:gd name="T52" fmla="*/ 2147483646 w 16"/>
              <a:gd name="T53" fmla="*/ 2147483646 h 12"/>
              <a:gd name="T54" fmla="*/ 2147483646 w 16"/>
              <a:gd name="T55" fmla="*/ 2147483646 h 12"/>
              <a:gd name="T56" fmla="*/ 0 w 16"/>
              <a:gd name="T57" fmla="*/ 2147483646 h 12"/>
              <a:gd name="T58" fmla="*/ 0 w 16"/>
              <a:gd name="T59" fmla="*/ 2147483646 h 12"/>
              <a:gd name="T60" fmla="*/ 0 w 16"/>
              <a:gd name="T61" fmla="*/ 2147483646 h 12"/>
              <a:gd name="T62" fmla="*/ 0 w 16"/>
              <a:gd name="T63" fmla="*/ 2147483646 h 12"/>
              <a:gd name="T64" fmla="*/ 0 w 16"/>
              <a:gd name="T65" fmla="*/ 2147483646 h 12"/>
              <a:gd name="T66" fmla="*/ 2147483646 w 16"/>
              <a:gd name="T67" fmla="*/ 2147483646 h 12"/>
              <a:gd name="T68" fmla="*/ 2147483646 w 16"/>
              <a:gd name="T69" fmla="*/ 2147483646 h 12"/>
              <a:gd name="T70" fmla="*/ 2147483646 w 16"/>
              <a:gd name="T71" fmla="*/ 2147483646 h 12"/>
              <a:gd name="T72" fmla="*/ 2147483646 w 16"/>
              <a:gd name="T73" fmla="*/ 2147483646 h 12"/>
              <a:gd name="T74" fmla="*/ 2147483646 w 16"/>
              <a:gd name="T75" fmla="*/ 2147483646 h 12"/>
              <a:gd name="T76" fmla="*/ 2147483646 w 16"/>
              <a:gd name="T77" fmla="*/ 2147483646 h 12"/>
              <a:gd name="T78" fmla="*/ 2147483646 w 16"/>
              <a:gd name="T79" fmla="*/ 2147483646 h 12"/>
              <a:gd name="T80" fmla="*/ 2147483646 w 16"/>
              <a:gd name="T81" fmla="*/ 2147483646 h 12"/>
              <a:gd name="T82" fmla="*/ 2147483646 w 16"/>
              <a:gd name="T83" fmla="*/ 2147483646 h 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6" h="12">
                <a:moveTo>
                  <a:pt x="7" y="12"/>
                </a:moveTo>
                <a:lnTo>
                  <a:pt x="9" y="12"/>
                </a:lnTo>
                <a:lnTo>
                  <a:pt x="11" y="12"/>
                </a:lnTo>
                <a:lnTo>
                  <a:pt x="11" y="10"/>
                </a:lnTo>
                <a:lnTo>
                  <a:pt x="14" y="10"/>
                </a:lnTo>
                <a:lnTo>
                  <a:pt x="14" y="8"/>
                </a:lnTo>
                <a:lnTo>
                  <a:pt x="14" y="6"/>
                </a:lnTo>
                <a:lnTo>
                  <a:pt x="16" y="6"/>
                </a:lnTo>
                <a:lnTo>
                  <a:pt x="14" y="4"/>
                </a:lnTo>
                <a:lnTo>
                  <a:pt x="14" y="2"/>
                </a:lnTo>
                <a:lnTo>
                  <a:pt x="11" y="0"/>
                </a:lnTo>
                <a:lnTo>
                  <a:pt x="9" y="0"/>
                </a:lnTo>
                <a:lnTo>
                  <a:pt x="7" y="0"/>
                </a:lnTo>
                <a:lnTo>
                  <a:pt x="5" y="0"/>
                </a:lnTo>
                <a:lnTo>
                  <a:pt x="2" y="2"/>
                </a:lnTo>
                <a:lnTo>
                  <a:pt x="2" y="4"/>
                </a:lnTo>
                <a:lnTo>
                  <a:pt x="0" y="4"/>
                </a:lnTo>
                <a:lnTo>
                  <a:pt x="0" y="6"/>
                </a:lnTo>
                <a:lnTo>
                  <a:pt x="0" y="8"/>
                </a:lnTo>
                <a:lnTo>
                  <a:pt x="2" y="8"/>
                </a:lnTo>
                <a:lnTo>
                  <a:pt x="2" y="10"/>
                </a:lnTo>
                <a:lnTo>
                  <a:pt x="5" y="10"/>
                </a:lnTo>
                <a:lnTo>
                  <a:pt x="5" y="12"/>
                </a:lnTo>
                <a:lnTo>
                  <a:pt x="7"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527" name="Freeform 235">
            <a:extLst>
              <a:ext uri="{FF2B5EF4-FFF2-40B4-BE49-F238E27FC236}">
                <a16:creationId xmlns:a16="http://schemas.microsoft.com/office/drawing/2014/main" id="{753C7CEA-BF28-4902-88B5-768840E39651}"/>
              </a:ext>
            </a:extLst>
          </p:cNvPr>
          <p:cNvSpPr>
            <a:spLocks/>
          </p:cNvSpPr>
          <p:nvPr/>
        </p:nvSpPr>
        <p:spPr bwMode="auto">
          <a:xfrm>
            <a:off x="3663950" y="1330325"/>
            <a:ext cx="22225" cy="19050"/>
          </a:xfrm>
          <a:custGeom>
            <a:avLst/>
            <a:gdLst>
              <a:gd name="T0" fmla="*/ 2147483646 w 14"/>
              <a:gd name="T1" fmla="*/ 2147483646 h 12"/>
              <a:gd name="T2" fmla="*/ 2147483646 w 14"/>
              <a:gd name="T3" fmla="*/ 2147483646 h 12"/>
              <a:gd name="T4" fmla="*/ 2147483646 w 14"/>
              <a:gd name="T5" fmla="*/ 2147483646 h 12"/>
              <a:gd name="T6" fmla="*/ 2147483646 w 14"/>
              <a:gd name="T7" fmla="*/ 2147483646 h 12"/>
              <a:gd name="T8" fmla="*/ 2147483646 w 14"/>
              <a:gd name="T9" fmla="*/ 2147483646 h 12"/>
              <a:gd name="T10" fmla="*/ 2147483646 w 14"/>
              <a:gd name="T11" fmla="*/ 2147483646 h 12"/>
              <a:gd name="T12" fmla="*/ 2147483646 w 14"/>
              <a:gd name="T13" fmla="*/ 2147483646 h 12"/>
              <a:gd name="T14" fmla="*/ 2147483646 w 14"/>
              <a:gd name="T15" fmla="*/ 2147483646 h 12"/>
              <a:gd name="T16" fmla="*/ 2147483646 w 14"/>
              <a:gd name="T17" fmla="*/ 2147483646 h 12"/>
              <a:gd name="T18" fmla="*/ 2147483646 w 14"/>
              <a:gd name="T19" fmla="*/ 2147483646 h 12"/>
              <a:gd name="T20" fmla="*/ 2147483646 w 14"/>
              <a:gd name="T21" fmla="*/ 2147483646 h 12"/>
              <a:gd name="T22" fmla="*/ 2147483646 w 14"/>
              <a:gd name="T23" fmla="*/ 2147483646 h 12"/>
              <a:gd name="T24" fmla="*/ 2147483646 w 14"/>
              <a:gd name="T25" fmla="*/ 2147483646 h 12"/>
              <a:gd name="T26" fmla="*/ 2147483646 w 14"/>
              <a:gd name="T27" fmla="*/ 2147483646 h 12"/>
              <a:gd name="T28" fmla="*/ 2147483646 w 14"/>
              <a:gd name="T29" fmla="*/ 2147483646 h 12"/>
              <a:gd name="T30" fmla="*/ 2147483646 w 14"/>
              <a:gd name="T31" fmla="*/ 2147483646 h 12"/>
              <a:gd name="T32" fmla="*/ 2147483646 w 14"/>
              <a:gd name="T33" fmla="*/ 0 h 12"/>
              <a:gd name="T34" fmla="*/ 2147483646 w 14"/>
              <a:gd name="T35" fmla="*/ 0 h 12"/>
              <a:gd name="T36" fmla="*/ 2147483646 w 14"/>
              <a:gd name="T37" fmla="*/ 0 h 12"/>
              <a:gd name="T38" fmla="*/ 2147483646 w 14"/>
              <a:gd name="T39" fmla="*/ 0 h 12"/>
              <a:gd name="T40" fmla="*/ 2147483646 w 14"/>
              <a:gd name="T41" fmla="*/ 0 h 12"/>
              <a:gd name="T42" fmla="*/ 2147483646 w 14"/>
              <a:gd name="T43" fmla="*/ 0 h 12"/>
              <a:gd name="T44" fmla="*/ 2147483646 w 14"/>
              <a:gd name="T45" fmla="*/ 0 h 12"/>
              <a:gd name="T46" fmla="*/ 2147483646 w 14"/>
              <a:gd name="T47" fmla="*/ 0 h 12"/>
              <a:gd name="T48" fmla="*/ 2147483646 w 14"/>
              <a:gd name="T49" fmla="*/ 0 h 12"/>
              <a:gd name="T50" fmla="*/ 2147483646 w 14"/>
              <a:gd name="T51" fmla="*/ 2147483646 h 12"/>
              <a:gd name="T52" fmla="*/ 0 w 14"/>
              <a:gd name="T53" fmla="*/ 2147483646 h 12"/>
              <a:gd name="T54" fmla="*/ 0 w 14"/>
              <a:gd name="T55" fmla="*/ 2147483646 h 12"/>
              <a:gd name="T56" fmla="*/ 0 w 14"/>
              <a:gd name="T57" fmla="*/ 2147483646 h 12"/>
              <a:gd name="T58" fmla="*/ 0 w 14"/>
              <a:gd name="T59" fmla="*/ 2147483646 h 12"/>
              <a:gd name="T60" fmla="*/ 0 w 14"/>
              <a:gd name="T61" fmla="*/ 2147483646 h 12"/>
              <a:gd name="T62" fmla="*/ 0 w 14"/>
              <a:gd name="T63" fmla="*/ 2147483646 h 12"/>
              <a:gd name="T64" fmla="*/ 0 w 14"/>
              <a:gd name="T65" fmla="*/ 2147483646 h 12"/>
              <a:gd name="T66" fmla="*/ 0 w 14"/>
              <a:gd name="T67" fmla="*/ 2147483646 h 12"/>
              <a:gd name="T68" fmla="*/ 0 w 14"/>
              <a:gd name="T69" fmla="*/ 2147483646 h 12"/>
              <a:gd name="T70" fmla="*/ 2147483646 w 14"/>
              <a:gd name="T71" fmla="*/ 2147483646 h 12"/>
              <a:gd name="T72" fmla="*/ 2147483646 w 14"/>
              <a:gd name="T73" fmla="*/ 2147483646 h 12"/>
              <a:gd name="T74" fmla="*/ 2147483646 w 14"/>
              <a:gd name="T75" fmla="*/ 2147483646 h 12"/>
              <a:gd name="T76" fmla="*/ 2147483646 w 14"/>
              <a:gd name="T77" fmla="*/ 2147483646 h 12"/>
              <a:gd name="T78" fmla="*/ 2147483646 w 14"/>
              <a:gd name="T79" fmla="*/ 2147483646 h 12"/>
              <a:gd name="T80" fmla="*/ 2147483646 w 14"/>
              <a:gd name="T81" fmla="*/ 2147483646 h 12"/>
              <a:gd name="T82" fmla="*/ 2147483646 w 14"/>
              <a:gd name="T83" fmla="*/ 2147483646 h 12"/>
              <a:gd name="T84" fmla="*/ 2147483646 w 14"/>
              <a:gd name="T85" fmla="*/ 2147483646 h 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 h="12">
                <a:moveTo>
                  <a:pt x="5" y="12"/>
                </a:moveTo>
                <a:lnTo>
                  <a:pt x="7" y="12"/>
                </a:lnTo>
                <a:lnTo>
                  <a:pt x="9" y="12"/>
                </a:lnTo>
                <a:lnTo>
                  <a:pt x="11" y="10"/>
                </a:lnTo>
                <a:lnTo>
                  <a:pt x="14" y="8"/>
                </a:lnTo>
                <a:lnTo>
                  <a:pt x="14" y="6"/>
                </a:lnTo>
                <a:lnTo>
                  <a:pt x="14" y="4"/>
                </a:lnTo>
                <a:lnTo>
                  <a:pt x="11" y="2"/>
                </a:lnTo>
                <a:lnTo>
                  <a:pt x="11" y="0"/>
                </a:lnTo>
                <a:lnTo>
                  <a:pt x="9" y="0"/>
                </a:lnTo>
                <a:lnTo>
                  <a:pt x="7" y="0"/>
                </a:lnTo>
                <a:lnTo>
                  <a:pt x="5" y="0"/>
                </a:lnTo>
                <a:lnTo>
                  <a:pt x="2" y="0"/>
                </a:lnTo>
                <a:lnTo>
                  <a:pt x="2" y="2"/>
                </a:lnTo>
                <a:lnTo>
                  <a:pt x="0" y="2"/>
                </a:lnTo>
                <a:lnTo>
                  <a:pt x="0" y="4"/>
                </a:lnTo>
                <a:lnTo>
                  <a:pt x="0" y="6"/>
                </a:lnTo>
                <a:lnTo>
                  <a:pt x="0" y="8"/>
                </a:lnTo>
                <a:lnTo>
                  <a:pt x="0" y="10"/>
                </a:lnTo>
                <a:lnTo>
                  <a:pt x="2" y="10"/>
                </a:lnTo>
                <a:lnTo>
                  <a:pt x="2" y="12"/>
                </a:lnTo>
                <a:lnTo>
                  <a:pt x="5" y="12"/>
                </a:lnTo>
                <a:lnTo>
                  <a:pt x="7" y="12"/>
                </a:lnTo>
                <a:lnTo>
                  <a:pt x="5"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528" name="Freeform 236">
            <a:extLst>
              <a:ext uri="{FF2B5EF4-FFF2-40B4-BE49-F238E27FC236}">
                <a16:creationId xmlns:a16="http://schemas.microsoft.com/office/drawing/2014/main" id="{4442AD3E-0C78-4C46-B15B-F5827DD9362A}"/>
              </a:ext>
            </a:extLst>
          </p:cNvPr>
          <p:cNvSpPr>
            <a:spLocks/>
          </p:cNvSpPr>
          <p:nvPr/>
        </p:nvSpPr>
        <p:spPr bwMode="auto">
          <a:xfrm>
            <a:off x="3738563" y="1330325"/>
            <a:ext cx="22225" cy="19050"/>
          </a:xfrm>
          <a:custGeom>
            <a:avLst/>
            <a:gdLst>
              <a:gd name="T0" fmla="*/ 2147483646 w 14"/>
              <a:gd name="T1" fmla="*/ 2147483646 h 12"/>
              <a:gd name="T2" fmla="*/ 2147483646 w 14"/>
              <a:gd name="T3" fmla="*/ 2147483646 h 12"/>
              <a:gd name="T4" fmla="*/ 2147483646 w 14"/>
              <a:gd name="T5" fmla="*/ 2147483646 h 12"/>
              <a:gd name="T6" fmla="*/ 2147483646 w 14"/>
              <a:gd name="T7" fmla="*/ 2147483646 h 12"/>
              <a:gd name="T8" fmla="*/ 2147483646 w 14"/>
              <a:gd name="T9" fmla="*/ 2147483646 h 12"/>
              <a:gd name="T10" fmla="*/ 2147483646 w 14"/>
              <a:gd name="T11" fmla="*/ 2147483646 h 12"/>
              <a:gd name="T12" fmla="*/ 2147483646 w 14"/>
              <a:gd name="T13" fmla="*/ 2147483646 h 12"/>
              <a:gd name="T14" fmla="*/ 2147483646 w 14"/>
              <a:gd name="T15" fmla="*/ 2147483646 h 12"/>
              <a:gd name="T16" fmla="*/ 2147483646 w 14"/>
              <a:gd name="T17" fmla="*/ 2147483646 h 12"/>
              <a:gd name="T18" fmla="*/ 2147483646 w 14"/>
              <a:gd name="T19" fmla="*/ 2147483646 h 12"/>
              <a:gd name="T20" fmla="*/ 2147483646 w 14"/>
              <a:gd name="T21" fmla="*/ 2147483646 h 12"/>
              <a:gd name="T22" fmla="*/ 2147483646 w 14"/>
              <a:gd name="T23" fmla="*/ 2147483646 h 12"/>
              <a:gd name="T24" fmla="*/ 2147483646 w 14"/>
              <a:gd name="T25" fmla="*/ 2147483646 h 12"/>
              <a:gd name="T26" fmla="*/ 2147483646 w 14"/>
              <a:gd name="T27" fmla="*/ 2147483646 h 12"/>
              <a:gd name="T28" fmla="*/ 2147483646 w 14"/>
              <a:gd name="T29" fmla="*/ 2147483646 h 12"/>
              <a:gd name="T30" fmla="*/ 2147483646 w 14"/>
              <a:gd name="T31" fmla="*/ 2147483646 h 12"/>
              <a:gd name="T32" fmla="*/ 2147483646 w 14"/>
              <a:gd name="T33" fmla="*/ 0 h 12"/>
              <a:gd name="T34" fmla="*/ 2147483646 w 14"/>
              <a:gd name="T35" fmla="*/ 0 h 12"/>
              <a:gd name="T36" fmla="*/ 2147483646 w 14"/>
              <a:gd name="T37" fmla="*/ 0 h 12"/>
              <a:gd name="T38" fmla="*/ 2147483646 w 14"/>
              <a:gd name="T39" fmla="*/ 0 h 12"/>
              <a:gd name="T40" fmla="*/ 2147483646 w 14"/>
              <a:gd name="T41" fmla="*/ 0 h 12"/>
              <a:gd name="T42" fmla="*/ 2147483646 w 14"/>
              <a:gd name="T43" fmla="*/ 0 h 12"/>
              <a:gd name="T44" fmla="*/ 2147483646 w 14"/>
              <a:gd name="T45" fmla="*/ 0 h 12"/>
              <a:gd name="T46" fmla="*/ 2147483646 w 14"/>
              <a:gd name="T47" fmla="*/ 0 h 12"/>
              <a:gd name="T48" fmla="*/ 2147483646 w 14"/>
              <a:gd name="T49" fmla="*/ 0 h 12"/>
              <a:gd name="T50" fmla="*/ 2147483646 w 14"/>
              <a:gd name="T51" fmla="*/ 2147483646 h 12"/>
              <a:gd name="T52" fmla="*/ 0 w 14"/>
              <a:gd name="T53" fmla="*/ 2147483646 h 12"/>
              <a:gd name="T54" fmla="*/ 0 w 14"/>
              <a:gd name="T55" fmla="*/ 2147483646 h 12"/>
              <a:gd name="T56" fmla="*/ 0 w 14"/>
              <a:gd name="T57" fmla="*/ 2147483646 h 12"/>
              <a:gd name="T58" fmla="*/ 0 w 14"/>
              <a:gd name="T59" fmla="*/ 2147483646 h 12"/>
              <a:gd name="T60" fmla="*/ 0 w 14"/>
              <a:gd name="T61" fmla="*/ 2147483646 h 12"/>
              <a:gd name="T62" fmla="*/ 0 w 14"/>
              <a:gd name="T63" fmla="*/ 2147483646 h 12"/>
              <a:gd name="T64" fmla="*/ 0 w 14"/>
              <a:gd name="T65" fmla="*/ 2147483646 h 12"/>
              <a:gd name="T66" fmla="*/ 0 w 14"/>
              <a:gd name="T67" fmla="*/ 2147483646 h 12"/>
              <a:gd name="T68" fmla="*/ 0 w 14"/>
              <a:gd name="T69" fmla="*/ 2147483646 h 12"/>
              <a:gd name="T70" fmla="*/ 2147483646 w 14"/>
              <a:gd name="T71" fmla="*/ 2147483646 h 12"/>
              <a:gd name="T72" fmla="*/ 2147483646 w 14"/>
              <a:gd name="T73" fmla="*/ 2147483646 h 12"/>
              <a:gd name="T74" fmla="*/ 2147483646 w 14"/>
              <a:gd name="T75" fmla="*/ 2147483646 h 12"/>
              <a:gd name="T76" fmla="*/ 2147483646 w 14"/>
              <a:gd name="T77" fmla="*/ 2147483646 h 12"/>
              <a:gd name="T78" fmla="*/ 2147483646 w 14"/>
              <a:gd name="T79" fmla="*/ 2147483646 h 12"/>
              <a:gd name="T80" fmla="*/ 2147483646 w 14"/>
              <a:gd name="T81" fmla="*/ 2147483646 h 12"/>
              <a:gd name="T82" fmla="*/ 2147483646 w 14"/>
              <a:gd name="T83" fmla="*/ 2147483646 h 12"/>
              <a:gd name="T84" fmla="*/ 2147483646 w 14"/>
              <a:gd name="T85" fmla="*/ 2147483646 h 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 h="12">
                <a:moveTo>
                  <a:pt x="5" y="12"/>
                </a:moveTo>
                <a:lnTo>
                  <a:pt x="7" y="12"/>
                </a:lnTo>
                <a:lnTo>
                  <a:pt x="10" y="12"/>
                </a:lnTo>
                <a:lnTo>
                  <a:pt x="12" y="10"/>
                </a:lnTo>
                <a:lnTo>
                  <a:pt x="12" y="8"/>
                </a:lnTo>
                <a:lnTo>
                  <a:pt x="14" y="8"/>
                </a:lnTo>
                <a:lnTo>
                  <a:pt x="14" y="6"/>
                </a:lnTo>
                <a:lnTo>
                  <a:pt x="14" y="4"/>
                </a:lnTo>
                <a:lnTo>
                  <a:pt x="12" y="4"/>
                </a:lnTo>
                <a:lnTo>
                  <a:pt x="12" y="2"/>
                </a:lnTo>
                <a:lnTo>
                  <a:pt x="12" y="0"/>
                </a:lnTo>
                <a:lnTo>
                  <a:pt x="10" y="0"/>
                </a:lnTo>
                <a:lnTo>
                  <a:pt x="7" y="0"/>
                </a:lnTo>
                <a:lnTo>
                  <a:pt x="5" y="0"/>
                </a:lnTo>
                <a:lnTo>
                  <a:pt x="3" y="0"/>
                </a:lnTo>
                <a:lnTo>
                  <a:pt x="3" y="2"/>
                </a:lnTo>
                <a:lnTo>
                  <a:pt x="0" y="2"/>
                </a:lnTo>
                <a:lnTo>
                  <a:pt x="0" y="4"/>
                </a:lnTo>
                <a:lnTo>
                  <a:pt x="0" y="6"/>
                </a:lnTo>
                <a:lnTo>
                  <a:pt x="0" y="8"/>
                </a:lnTo>
                <a:lnTo>
                  <a:pt x="0" y="10"/>
                </a:lnTo>
                <a:lnTo>
                  <a:pt x="3" y="10"/>
                </a:lnTo>
                <a:lnTo>
                  <a:pt x="3" y="12"/>
                </a:lnTo>
                <a:lnTo>
                  <a:pt x="5" y="12"/>
                </a:lnTo>
                <a:lnTo>
                  <a:pt x="7" y="12"/>
                </a:lnTo>
                <a:lnTo>
                  <a:pt x="5"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529" name="Freeform 237">
            <a:extLst>
              <a:ext uri="{FF2B5EF4-FFF2-40B4-BE49-F238E27FC236}">
                <a16:creationId xmlns:a16="http://schemas.microsoft.com/office/drawing/2014/main" id="{BE4D89FD-6977-4A32-9283-3B891125F963}"/>
              </a:ext>
            </a:extLst>
          </p:cNvPr>
          <p:cNvSpPr>
            <a:spLocks/>
          </p:cNvSpPr>
          <p:nvPr/>
        </p:nvSpPr>
        <p:spPr bwMode="auto">
          <a:xfrm>
            <a:off x="3589338" y="1330325"/>
            <a:ext cx="20637" cy="19050"/>
          </a:xfrm>
          <a:custGeom>
            <a:avLst/>
            <a:gdLst>
              <a:gd name="T0" fmla="*/ 2147483646 w 13"/>
              <a:gd name="T1" fmla="*/ 2147483646 h 12"/>
              <a:gd name="T2" fmla="*/ 2147483646 w 13"/>
              <a:gd name="T3" fmla="*/ 2147483646 h 12"/>
              <a:gd name="T4" fmla="*/ 2147483646 w 13"/>
              <a:gd name="T5" fmla="*/ 2147483646 h 12"/>
              <a:gd name="T6" fmla="*/ 2147483646 w 13"/>
              <a:gd name="T7" fmla="*/ 2147483646 h 12"/>
              <a:gd name="T8" fmla="*/ 2147483646 w 13"/>
              <a:gd name="T9" fmla="*/ 2147483646 h 12"/>
              <a:gd name="T10" fmla="*/ 2147483646 w 13"/>
              <a:gd name="T11" fmla="*/ 2147483646 h 12"/>
              <a:gd name="T12" fmla="*/ 2147483646 w 13"/>
              <a:gd name="T13" fmla="*/ 2147483646 h 12"/>
              <a:gd name="T14" fmla="*/ 2147483646 w 13"/>
              <a:gd name="T15" fmla="*/ 2147483646 h 12"/>
              <a:gd name="T16" fmla="*/ 2147483646 w 13"/>
              <a:gd name="T17" fmla="*/ 2147483646 h 12"/>
              <a:gd name="T18" fmla="*/ 2147483646 w 13"/>
              <a:gd name="T19" fmla="*/ 2147483646 h 12"/>
              <a:gd name="T20" fmla="*/ 2147483646 w 13"/>
              <a:gd name="T21" fmla="*/ 2147483646 h 12"/>
              <a:gd name="T22" fmla="*/ 2147483646 w 13"/>
              <a:gd name="T23" fmla="*/ 2147483646 h 12"/>
              <a:gd name="T24" fmla="*/ 2147483646 w 13"/>
              <a:gd name="T25" fmla="*/ 2147483646 h 12"/>
              <a:gd name="T26" fmla="*/ 2147483646 w 13"/>
              <a:gd name="T27" fmla="*/ 2147483646 h 12"/>
              <a:gd name="T28" fmla="*/ 2147483646 w 13"/>
              <a:gd name="T29" fmla="*/ 2147483646 h 12"/>
              <a:gd name="T30" fmla="*/ 2147483646 w 13"/>
              <a:gd name="T31" fmla="*/ 2147483646 h 12"/>
              <a:gd name="T32" fmla="*/ 2147483646 w 13"/>
              <a:gd name="T33" fmla="*/ 0 h 12"/>
              <a:gd name="T34" fmla="*/ 2147483646 w 13"/>
              <a:gd name="T35" fmla="*/ 0 h 12"/>
              <a:gd name="T36" fmla="*/ 2147483646 w 13"/>
              <a:gd name="T37" fmla="*/ 0 h 12"/>
              <a:gd name="T38" fmla="*/ 2147483646 w 13"/>
              <a:gd name="T39" fmla="*/ 0 h 12"/>
              <a:gd name="T40" fmla="*/ 2147483646 w 13"/>
              <a:gd name="T41" fmla="*/ 0 h 12"/>
              <a:gd name="T42" fmla="*/ 2147483646 w 13"/>
              <a:gd name="T43" fmla="*/ 0 h 12"/>
              <a:gd name="T44" fmla="*/ 2147483646 w 13"/>
              <a:gd name="T45" fmla="*/ 0 h 12"/>
              <a:gd name="T46" fmla="*/ 2147483646 w 13"/>
              <a:gd name="T47" fmla="*/ 0 h 12"/>
              <a:gd name="T48" fmla="*/ 2147483646 w 13"/>
              <a:gd name="T49" fmla="*/ 0 h 12"/>
              <a:gd name="T50" fmla="*/ 2147483646 w 13"/>
              <a:gd name="T51" fmla="*/ 2147483646 h 12"/>
              <a:gd name="T52" fmla="*/ 2147483646 w 13"/>
              <a:gd name="T53" fmla="*/ 2147483646 h 12"/>
              <a:gd name="T54" fmla="*/ 0 w 13"/>
              <a:gd name="T55" fmla="*/ 2147483646 h 12"/>
              <a:gd name="T56" fmla="*/ 0 w 13"/>
              <a:gd name="T57" fmla="*/ 2147483646 h 12"/>
              <a:gd name="T58" fmla="*/ 0 w 13"/>
              <a:gd name="T59" fmla="*/ 2147483646 h 12"/>
              <a:gd name="T60" fmla="*/ 0 w 13"/>
              <a:gd name="T61" fmla="*/ 2147483646 h 12"/>
              <a:gd name="T62" fmla="*/ 0 w 13"/>
              <a:gd name="T63" fmla="*/ 2147483646 h 12"/>
              <a:gd name="T64" fmla="*/ 0 w 13"/>
              <a:gd name="T65" fmla="*/ 2147483646 h 12"/>
              <a:gd name="T66" fmla="*/ 0 w 13"/>
              <a:gd name="T67" fmla="*/ 2147483646 h 12"/>
              <a:gd name="T68" fmla="*/ 2147483646 w 13"/>
              <a:gd name="T69" fmla="*/ 2147483646 h 12"/>
              <a:gd name="T70" fmla="*/ 2147483646 w 13"/>
              <a:gd name="T71" fmla="*/ 2147483646 h 12"/>
              <a:gd name="T72" fmla="*/ 2147483646 w 13"/>
              <a:gd name="T73" fmla="*/ 2147483646 h 12"/>
              <a:gd name="T74" fmla="*/ 2147483646 w 13"/>
              <a:gd name="T75" fmla="*/ 2147483646 h 12"/>
              <a:gd name="T76" fmla="*/ 2147483646 w 13"/>
              <a:gd name="T77" fmla="*/ 2147483646 h 12"/>
              <a:gd name="T78" fmla="*/ 2147483646 w 13"/>
              <a:gd name="T79" fmla="*/ 2147483646 h 12"/>
              <a:gd name="T80" fmla="*/ 2147483646 w 13"/>
              <a:gd name="T81" fmla="*/ 2147483646 h 12"/>
              <a:gd name="T82" fmla="*/ 2147483646 w 13"/>
              <a:gd name="T83" fmla="*/ 2147483646 h 1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3" h="12">
                <a:moveTo>
                  <a:pt x="7" y="12"/>
                </a:moveTo>
                <a:lnTo>
                  <a:pt x="9" y="12"/>
                </a:lnTo>
                <a:lnTo>
                  <a:pt x="11" y="10"/>
                </a:lnTo>
                <a:lnTo>
                  <a:pt x="13" y="10"/>
                </a:lnTo>
                <a:lnTo>
                  <a:pt x="13" y="8"/>
                </a:lnTo>
                <a:lnTo>
                  <a:pt x="13" y="6"/>
                </a:lnTo>
                <a:lnTo>
                  <a:pt x="13" y="4"/>
                </a:lnTo>
                <a:lnTo>
                  <a:pt x="13" y="2"/>
                </a:lnTo>
                <a:lnTo>
                  <a:pt x="11" y="2"/>
                </a:lnTo>
                <a:lnTo>
                  <a:pt x="11" y="0"/>
                </a:lnTo>
                <a:lnTo>
                  <a:pt x="9" y="0"/>
                </a:lnTo>
                <a:lnTo>
                  <a:pt x="7" y="0"/>
                </a:lnTo>
                <a:lnTo>
                  <a:pt x="4" y="0"/>
                </a:lnTo>
                <a:lnTo>
                  <a:pt x="2" y="0"/>
                </a:lnTo>
                <a:lnTo>
                  <a:pt x="2" y="2"/>
                </a:lnTo>
                <a:lnTo>
                  <a:pt x="0" y="4"/>
                </a:lnTo>
                <a:lnTo>
                  <a:pt x="0" y="6"/>
                </a:lnTo>
                <a:lnTo>
                  <a:pt x="0" y="8"/>
                </a:lnTo>
                <a:lnTo>
                  <a:pt x="2" y="10"/>
                </a:lnTo>
                <a:lnTo>
                  <a:pt x="4" y="12"/>
                </a:lnTo>
                <a:lnTo>
                  <a:pt x="7"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530" name="Text Box 5">
            <a:extLst>
              <a:ext uri="{FF2B5EF4-FFF2-40B4-BE49-F238E27FC236}">
                <a16:creationId xmlns:a16="http://schemas.microsoft.com/office/drawing/2014/main" id="{891A120C-B39B-497F-A14E-47C6AF008B05}"/>
              </a:ext>
            </a:extLst>
          </p:cNvPr>
          <p:cNvSpPr txBox="1">
            <a:spLocks noChangeArrowheads="1"/>
          </p:cNvSpPr>
          <p:nvPr/>
        </p:nvSpPr>
        <p:spPr bwMode="auto">
          <a:xfrm>
            <a:off x="5564188" y="1149350"/>
            <a:ext cx="3254375" cy="831850"/>
          </a:xfrm>
          <a:prstGeom prst="rect">
            <a:avLst/>
          </a:prstGeom>
          <a:noFill/>
          <a:ln w="1905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l" eaLnBrk="1" hangingPunct="1"/>
            <a:r>
              <a:rPr kumimoji="0" lang="en-US" altLang="zh-CN" sz="1600" b="1" dirty="0">
                <a:solidFill>
                  <a:srgbClr val="000000"/>
                </a:solidFill>
                <a:latin typeface="Tahoma" panose="020B0604030504040204" pitchFamily="34" charset="0"/>
                <a:ea typeface="宋体" panose="02010600030101010101" pitchFamily="2" charset="-122"/>
              </a:rPr>
              <a:t>4-way set-associative cache</a:t>
            </a:r>
            <a:r>
              <a:rPr kumimoji="0" lang="zh-CN" altLang="en-US" sz="1600" b="1" dirty="0">
                <a:solidFill>
                  <a:srgbClr val="000000"/>
                </a:solidFill>
                <a:latin typeface="Tahoma" panose="020B0604030504040204" pitchFamily="34" charset="0"/>
                <a:ea typeface="宋体" panose="02010600030101010101" pitchFamily="2" charset="-122"/>
              </a:rPr>
              <a:t>：</a:t>
            </a:r>
            <a:r>
              <a:rPr kumimoji="0" lang="en-US" altLang="zh-CN" sz="1600" b="1" dirty="0">
                <a:solidFill>
                  <a:srgbClr val="000000"/>
                </a:solidFill>
                <a:latin typeface="Tahoma" panose="020B0604030504040204" pitchFamily="34" charset="0"/>
                <a:ea typeface="宋体" panose="02010600030101010101" pitchFamily="2" charset="-122"/>
              </a:rPr>
              <a:t> Cache</a:t>
            </a:r>
            <a:r>
              <a:rPr kumimoji="0" lang="zh-CN" altLang="en-US" sz="1600" b="1" dirty="0">
                <a:solidFill>
                  <a:srgbClr val="000000"/>
                </a:solidFill>
                <a:latin typeface="Tahoma" panose="020B0604030504040204" pitchFamily="34" charset="0"/>
                <a:ea typeface="宋体" panose="02010600030101010101" pitchFamily="2" charset="-122"/>
              </a:rPr>
              <a:t>容量：</a:t>
            </a:r>
            <a:r>
              <a:rPr kumimoji="0" lang="en-US" altLang="zh-CN" sz="1600" b="1" dirty="0">
                <a:solidFill>
                  <a:srgbClr val="000000"/>
                </a:solidFill>
                <a:latin typeface="Tahoma" panose="020B0604030504040204" pitchFamily="34" charset="0"/>
                <a:ea typeface="宋体" panose="02010600030101010101" pitchFamily="2" charset="-122"/>
              </a:rPr>
              <a:t>32KB</a:t>
            </a:r>
          </a:p>
          <a:p>
            <a:pPr algn="l" eaLnBrk="1" hangingPunct="1"/>
            <a:r>
              <a:rPr kumimoji="0" lang="zh-CN" altLang="en-US" sz="1600" b="1" dirty="0">
                <a:solidFill>
                  <a:srgbClr val="000000"/>
                </a:solidFill>
                <a:latin typeface="Tahoma" panose="020B0604030504040204" pitchFamily="34" charset="0"/>
                <a:ea typeface="宋体" panose="02010600030101010101" pitchFamily="2" charset="-122"/>
              </a:rPr>
              <a:t>       块大小：</a:t>
            </a:r>
            <a:r>
              <a:rPr kumimoji="0" lang="en-US" altLang="zh-CN" sz="1600" b="1" dirty="0">
                <a:solidFill>
                  <a:srgbClr val="000000"/>
                </a:solidFill>
                <a:latin typeface="Tahoma" panose="020B0604030504040204" pitchFamily="34" charset="0"/>
                <a:ea typeface="宋体" panose="02010600030101010101" pitchFamily="2" charset="-122"/>
              </a:rPr>
              <a:t>32bytes</a:t>
            </a:r>
          </a:p>
        </p:txBody>
      </p:sp>
    </p:spTree>
  </p:cSld>
  <p:clrMapOvr>
    <a:masterClrMapping/>
  </p:clrMapOvr>
  <p:transition spd="med">
    <p:pull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a:extLst>
              <a:ext uri="{FF2B5EF4-FFF2-40B4-BE49-F238E27FC236}">
                <a16:creationId xmlns:a16="http://schemas.microsoft.com/office/drawing/2014/main" id="{8773B3C5-0E4B-4399-A46E-E03E7001CB7A}"/>
              </a:ext>
            </a:extLst>
          </p:cNvPr>
          <p:cNvSpPr>
            <a:spLocks noGrp="1" noChangeArrowheads="1"/>
          </p:cNvSpPr>
          <p:nvPr>
            <p:ph type="title"/>
          </p:nvPr>
        </p:nvSpPr>
        <p:spPr/>
        <p:txBody>
          <a:bodyPr/>
          <a:lstStyle/>
          <a:p>
            <a:pPr eaLnBrk="1" hangingPunct="1">
              <a:defRPr/>
            </a:pPr>
            <a:r>
              <a:rPr lang="en-US" altLang="zh-CN"/>
              <a:t>3</a:t>
            </a:r>
            <a:r>
              <a:rPr lang="zh-CN" altLang="en-US"/>
              <a:t>种映射方式比较</a:t>
            </a:r>
          </a:p>
        </p:txBody>
      </p:sp>
      <p:sp>
        <p:nvSpPr>
          <p:cNvPr id="57347" name="Rectangle 3">
            <a:extLst>
              <a:ext uri="{FF2B5EF4-FFF2-40B4-BE49-F238E27FC236}">
                <a16:creationId xmlns:a16="http://schemas.microsoft.com/office/drawing/2014/main" id="{4363A9C3-E83E-4201-BB40-FBCCDD328B80}"/>
              </a:ext>
            </a:extLst>
          </p:cNvPr>
          <p:cNvSpPr>
            <a:spLocks noGrp="1" noChangeArrowheads="1"/>
          </p:cNvSpPr>
          <p:nvPr>
            <p:ph idx="1"/>
          </p:nvPr>
        </p:nvSpPr>
        <p:spPr/>
        <p:txBody>
          <a:bodyPr/>
          <a:lstStyle/>
          <a:p>
            <a:pPr eaLnBrk="1" hangingPunct="1"/>
            <a:r>
              <a:rPr lang="zh-CN" altLang="en-US" sz="2800"/>
              <a:t>直接映射</a:t>
            </a:r>
            <a:r>
              <a:rPr lang="en-US" altLang="zh-CN" sz="2800" b="0"/>
              <a:t>Cache</a:t>
            </a:r>
            <a:r>
              <a:rPr lang="zh-CN" altLang="en-US" sz="2800"/>
              <a:t>：</a:t>
            </a:r>
          </a:p>
          <a:p>
            <a:pPr lvl="1" eaLnBrk="1" hangingPunct="1"/>
            <a:r>
              <a:rPr lang="zh-CN" altLang="en-US" sz="2400"/>
              <a:t>每个存储器位置只能映射到唯一一个</a:t>
            </a:r>
            <a:r>
              <a:rPr lang="en-US" altLang="zh-CN" sz="2400" b="0"/>
              <a:t>cache</a:t>
            </a:r>
            <a:r>
              <a:rPr lang="zh-CN" altLang="en-US" sz="2400"/>
              <a:t>位置</a:t>
            </a:r>
          </a:p>
          <a:p>
            <a:pPr lvl="1" eaLnBrk="1" hangingPunct="1"/>
            <a:r>
              <a:rPr lang="zh-CN" altLang="en-US" sz="2400"/>
              <a:t>在定位时，不需要进行任何判断</a:t>
            </a:r>
            <a:endParaRPr lang="en-US" altLang="zh-CN" sz="2400"/>
          </a:p>
          <a:p>
            <a:pPr lvl="1" eaLnBrk="1" hangingPunct="1"/>
            <a:r>
              <a:rPr lang="zh-CN" altLang="en-US" sz="2400">
                <a:latin typeface="华文新魏" panose="02010800040101010101" pitchFamily="2" charset="-122"/>
              </a:rPr>
              <a:t>当前的数据库替换掉</a:t>
            </a:r>
            <a:r>
              <a:rPr lang="en-US" altLang="zh-CN" sz="2400" b="0">
                <a:latin typeface="华文新魏" panose="02010800040101010101" pitchFamily="2" charset="-122"/>
              </a:rPr>
              <a:t>Cache</a:t>
            </a:r>
            <a:r>
              <a:rPr lang="zh-CN" altLang="en-US" sz="2400">
                <a:latin typeface="华文新魏" panose="02010800040101010101" pitchFamily="2" charset="-122"/>
              </a:rPr>
              <a:t>中该位置上的前一个数据块</a:t>
            </a:r>
          </a:p>
          <a:p>
            <a:pPr eaLnBrk="1" hangingPunct="1"/>
            <a:r>
              <a:rPr lang="en-US" altLang="zh-CN" sz="2800" b="0"/>
              <a:t>v</a:t>
            </a:r>
            <a:r>
              <a:rPr lang="zh-CN" altLang="en-US" sz="2800"/>
              <a:t>路组相联</a:t>
            </a:r>
            <a:r>
              <a:rPr lang="en-US" altLang="zh-CN" sz="2800" b="0"/>
              <a:t>Cache</a:t>
            </a:r>
            <a:r>
              <a:rPr lang="zh-CN" altLang="en-US" sz="2800"/>
              <a:t>：</a:t>
            </a:r>
          </a:p>
          <a:p>
            <a:pPr lvl="1" eaLnBrk="1" hangingPunct="1"/>
            <a:r>
              <a:rPr lang="zh-CN" altLang="en-US" sz="2400"/>
              <a:t>每个存储器位置可以选择</a:t>
            </a:r>
            <a:r>
              <a:rPr lang="en-US" altLang="zh-CN" sz="2400" b="0"/>
              <a:t>v</a:t>
            </a:r>
            <a:r>
              <a:rPr lang="zh-CN" altLang="en-US" sz="2400"/>
              <a:t>个</a:t>
            </a:r>
            <a:r>
              <a:rPr lang="en-US" altLang="zh-CN" sz="2400" b="0"/>
              <a:t>cache</a:t>
            </a:r>
            <a:r>
              <a:rPr lang="zh-CN" altLang="en-US" sz="2400"/>
              <a:t>位置之一，需要</a:t>
            </a:r>
            <a:r>
              <a:rPr lang="en-US" altLang="zh-CN" sz="2400"/>
              <a:t>CAM</a:t>
            </a:r>
          </a:p>
          <a:p>
            <a:pPr eaLnBrk="1" hangingPunct="1"/>
            <a:r>
              <a:rPr lang="zh-CN" altLang="en-US" sz="2800"/>
              <a:t>全相联</a:t>
            </a:r>
            <a:r>
              <a:rPr lang="en-US" altLang="zh-CN" sz="2800" b="0"/>
              <a:t>Cache</a:t>
            </a:r>
            <a:r>
              <a:rPr lang="zh-CN" altLang="en-US" sz="2800"/>
              <a:t>：</a:t>
            </a:r>
          </a:p>
          <a:p>
            <a:pPr lvl="1" eaLnBrk="1" hangingPunct="1"/>
            <a:r>
              <a:rPr lang="zh-CN" altLang="en-US" sz="2400"/>
              <a:t>每个存储器位置可以存放在任一</a:t>
            </a:r>
            <a:r>
              <a:rPr lang="en-US" altLang="zh-CN" sz="2400" b="0"/>
              <a:t>cache</a:t>
            </a:r>
            <a:r>
              <a:rPr lang="zh-CN" altLang="en-US" sz="2400"/>
              <a:t>位置，需要</a:t>
            </a:r>
            <a:r>
              <a:rPr lang="en-US" altLang="zh-CN" sz="2400"/>
              <a:t>CAM</a:t>
            </a:r>
          </a:p>
        </p:txBody>
      </p:sp>
    </p:spTree>
  </p:cSld>
  <p:clrMapOvr>
    <a:masterClrMapping/>
  </p:clrMapOvr>
  <p:transition spd="med">
    <p:pull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a:extLst>
              <a:ext uri="{FF2B5EF4-FFF2-40B4-BE49-F238E27FC236}">
                <a16:creationId xmlns:a16="http://schemas.microsoft.com/office/drawing/2014/main" id="{1B2FDDB9-5418-4552-A06D-19BAC4B22719}"/>
              </a:ext>
            </a:extLst>
          </p:cNvPr>
          <p:cNvSpPr>
            <a:spLocks noGrp="1" noChangeArrowheads="1"/>
          </p:cNvSpPr>
          <p:nvPr>
            <p:ph type="title"/>
          </p:nvPr>
        </p:nvSpPr>
        <p:spPr/>
        <p:txBody>
          <a:bodyPr/>
          <a:lstStyle/>
          <a:p>
            <a:pPr eaLnBrk="1" hangingPunct="1">
              <a:defRPr/>
            </a:pPr>
            <a:r>
              <a:rPr lang="en-US" altLang="zh-CN"/>
              <a:t>Cache</a:t>
            </a:r>
            <a:r>
              <a:rPr lang="zh-CN" altLang="en-US"/>
              <a:t>冲突缺失和容量缺失的处理</a:t>
            </a:r>
          </a:p>
        </p:txBody>
      </p:sp>
      <p:sp>
        <p:nvSpPr>
          <p:cNvPr id="58371" name="Rectangle 3">
            <a:extLst>
              <a:ext uri="{FF2B5EF4-FFF2-40B4-BE49-F238E27FC236}">
                <a16:creationId xmlns:a16="http://schemas.microsoft.com/office/drawing/2014/main" id="{B52A8262-FF20-43D8-BE59-9B0376C58522}"/>
              </a:ext>
            </a:extLst>
          </p:cNvPr>
          <p:cNvSpPr>
            <a:spLocks noGrp="1" noChangeArrowheads="1"/>
          </p:cNvSpPr>
          <p:nvPr>
            <p:ph idx="1"/>
          </p:nvPr>
        </p:nvSpPr>
        <p:spPr/>
        <p:txBody>
          <a:bodyPr/>
          <a:lstStyle/>
          <a:p>
            <a:pPr eaLnBrk="1" hangingPunct="1"/>
            <a:r>
              <a:rPr lang="zh-CN" altLang="en-US" sz="2400"/>
              <a:t>从低一层存储器中取出新的数据块</a:t>
            </a:r>
          </a:p>
          <a:p>
            <a:pPr eaLnBrk="1" hangingPunct="1"/>
            <a:r>
              <a:rPr lang="zh-CN" altLang="en-US" sz="2400"/>
              <a:t>若需给新块腾出空间，要替换出某一个数据块</a:t>
            </a:r>
          </a:p>
          <a:p>
            <a:pPr eaLnBrk="1" hangingPunct="1"/>
            <a:r>
              <a:rPr lang="zh-CN" altLang="en-US" sz="2400"/>
              <a:t>故需制定策略确定替换出哪一个数据块</a:t>
            </a:r>
            <a:endParaRPr lang="en-US" altLang="zh-CN" sz="2400"/>
          </a:p>
          <a:p>
            <a:pPr eaLnBrk="1" hangingPunct="1">
              <a:buFont typeface="Wingdings 2" panose="05020102010507070707" pitchFamily="18" charset="2"/>
              <a:buNone/>
            </a:pPr>
            <a:r>
              <a:rPr lang="en-US" altLang="zh-CN" sz="2400"/>
              <a:t>Cache</a:t>
            </a:r>
            <a:r>
              <a:rPr lang="zh-CN" altLang="en-US" sz="2400"/>
              <a:t>块替换策略</a:t>
            </a:r>
            <a:endParaRPr lang="en-US" altLang="zh-CN" sz="2400"/>
          </a:p>
          <a:p>
            <a:pPr eaLnBrk="1" hangingPunct="1"/>
            <a:r>
              <a:rPr lang="zh-CN" altLang="en-US" sz="2400"/>
              <a:t>随机替换法（</a:t>
            </a:r>
            <a:r>
              <a:rPr lang="en-US" altLang="zh-CN" sz="2400"/>
              <a:t>RAND</a:t>
            </a:r>
            <a:r>
              <a:rPr lang="zh-CN" altLang="en-US" sz="2400"/>
              <a:t>）</a:t>
            </a:r>
            <a:endParaRPr lang="en-US" altLang="zh-CN" sz="2400"/>
          </a:p>
          <a:p>
            <a:pPr lvl="1" eaLnBrk="1" hangingPunct="1"/>
            <a:r>
              <a:rPr lang="zh-CN" altLang="en-US" sz="2000"/>
              <a:t>硬件随机选择一个</a:t>
            </a:r>
            <a:r>
              <a:rPr lang="en-US" altLang="zh-CN" sz="2000"/>
              <a:t>Cache</a:t>
            </a:r>
            <a:r>
              <a:rPr lang="zh-CN" altLang="en-US" sz="2000"/>
              <a:t>数据块替换出去</a:t>
            </a:r>
          </a:p>
          <a:p>
            <a:pPr eaLnBrk="1" hangingPunct="1"/>
            <a:r>
              <a:rPr lang="zh-CN" altLang="en-US" sz="2400"/>
              <a:t>先进先出（</a:t>
            </a:r>
            <a:r>
              <a:rPr lang="en-US" altLang="zh-CN" sz="2400"/>
              <a:t>FIFO</a:t>
            </a:r>
            <a:r>
              <a:rPr lang="zh-CN" altLang="en-US" sz="2400"/>
              <a:t>：</a:t>
            </a:r>
            <a:r>
              <a:rPr lang="en-US" altLang="zh-CN" sz="2400"/>
              <a:t>First-In First-Out</a:t>
            </a:r>
            <a:r>
              <a:rPr lang="zh-CN" altLang="en-US" sz="2400"/>
              <a:t>）</a:t>
            </a:r>
            <a:endParaRPr lang="en-US" altLang="zh-CN" sz="2400"/>
          </a:p>
          <a:p>
            <a:pPr lvl="1" eaLnBrk="1" hangingPunct="1"/>
            <a:r>
              <a:rPr lang="zh-CN" altLang="en-US" sz="2000"/>
              <a:t>把最先调入 </a:t>
            </a:r>
            <a:r>
              <a:rPr lang="en-US" altLang="zh-CN" sz="2000"/>
              <a:t>cache</a:t>
            </a:r>
            <a:r>
              <a:rPr lang="zh-CN" altLang="en-US" sz="2000"/>
              <a:t>数据块作为被替换对象</a:t>
            </a:r>
          </a:p>
          <a:p>
            <a:pPr eaLnBrk="1" hangingPunct="1"/>
            <a:r>
              <a:rPr lang="zh-CN" altLang="en-US" sz="2400"/>
              <a:t>最少使用（</a:t>
            </a:r>
            <a:r>
              <a:rPr lang="en-US" altLang="zh-CN" sz="2400"/>
              <a:t>LFU</a:t>
            </a:r>
            <a:r>
              <a:rPr lang="zh-CN" altLang="en-US" sz="2400"/>
              <a:t>：</a:t>
            </a:r>
            <a:r>
              <a:rPr lang="en-US" altLang="zh-CN" sz="2400"/>
              <a:t>Least Frequently Used</a:t>
            </a:r>
            <a:r>
              <a:rPr lang="zh-CN" altLang="en-US" sz="2400"/>
              <a:t>）</a:t>
            </a:r>
            <a:endParaRPr lang="en-US" altLang="zh-CN" sz="2400"/>
          </a:p>
          <a:p>
            <a:pPr lvl="1" eaLnBrk="1" hangingPunct="1">
              <a:buClr>
                <a:srgbClr val="008000"/>
              </a:buClr>
            </a:pPr>
            <a:r>
              <a:rPr lang="zh-CN" altLang="en-US" sz="2000"/>
              <a:t>将最近一段时间内被访问次数最少的数据块换出。需为每个</a:t>
            </a:r>
            <a:r>
              <a:rPr lang="en-US" altLang="zh-CN" sz="2000"/>
              <a:t>Cache</a:t>
            </a:r>
            <a:r>
              <a:rPr lang="zh-CN" altLang="en-US" sz="2000"/>
              <a:t>块设置访问计数器</a:t>
            </a:r>
          </a:p>
          <a:p>
            <a:pPr eaLnBrk="1" hangingPunct="1"/>
            <a:r>
              <a:rPr lang="zh-CN" altLang="en-US" sz="2400"/>
              <a:t>最久未使用（</a:t>
            </a:r>
            <a:r>
              <a:rPr lang="en-US" altLang="zh-CN" sz="2400"/>
              <a:t>LRU</a:t>
            </a:r>
            <a:r>
              <a:rPr lang="zh-CN" altLang="en-US" sz="2400"/>
              <a:t>：</a:t>
            </a:r>
            <a:r>
              <a:rPr lang="en-US" altLang="zh-CN" sz="2400"/>
              <a:t>Least Recently Used</a:t>
            </a:r>
            <a:r>
              <a:rPr lang="zh-CN" altLang="en-US" sz="2400"/>
              <a:t>）</a:t>
            </a:r>
            <a:endParaRPr lang="en-US" altLang="zh-CN" sz="2400"/>
          </a:p>
          <a:p>
            <a:pPr lvl="1" eaLnBrk="1" hangingPunct="1">
              <a:buClr>
                <a:srgbClr val="008000"/>
              </a:buClr>
            </a:pPr>
            <a:r>
              <a:rPr lang="zh-CN" altLang="en-US" sz="2000"/>
              <a:t>将近期内最长时间未被访问过的数据块换出。需要为每个</a:t>
            </a:r>
            <a:r>
              <a:rPr lang="en-US" altLang="zh-CN" sz="2000"/>
              <a:t>Cache</a:t>
            </a:r>
            <a:r>
              <a:rPr lang="zh-CN" altLang="en-US" sz="2000"/>
              <a:t>块设置计时器。一旦被访问，计数器就清零</a:t>
            </a:r>
          </a:p>
          <a:p>
            <a:pPr lvl="1" eaLnBrk="1" hangingPunct="1">
              <a:buClr>
                <a:srgbClr val="008000"/>
              </a:buClr>
            </a:pPr>
            <a:endParaRPr lang="zh-CN" altLang="en-US"/>
          </a:p>
        </p:txBody>
      </p:sp>
    </p:spTree>
  </p:cSld>
  <p:clrMapOvr>
    <a:masterClrMapping/>
  </p:clrMapOvr>
  <p:transition spd="med">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E9FDF6-B3F4-461A-8FF7-08795B78E76E}"/>
              </a:ext>
            </a:extLst>
          </p:cNvPr>
          <p:cNvSpPr>
            <a:spLocks noGrp="1"/>
          </p:cNvSpPr>
          <p:nvPr>
            <p:ph type="title"/>
          </p:nvPr>
        </p:nvSpPr>
        <p:spPr/>
        <p:txBody>
          <a:bodyPr/>
          <a:lstStyle/>
          <a:p>
            <a:pPr>
              <a:defRPr/>
            </a:pPr>
            <a:r>
              <a:rPr lang="zh-CN" altLang="en-US" dirty="0"/>
              <a:t>例</a:t>
            </a:r>
          </a:p>
        </p:txBody>
      </p:sp>
      <p:sp>
        <p:nvSpPr>
          <p:cNvPr id="60419" name="内容占位符 2">
            <a:extLst>
              <a:ext uri="{FF2B5EF4-FFF2-40B4-BE49-F238E27FC236}">
                <a16:creationId xmlns:a16="http://schemas.microsoft.com/office/drawing/2014/main" id="{5BB39558-AE95-49F8-B302-3C7ACF70D133}"/>
              </a:ext>
            </a:extLst>
          </p:cNvPr>
          <p:cNvSpPr>
            <a:spLocks noGrp="1" noChangeArrowheads="1"/>
          </p:cNvSpPr>
          <p:nvPr>
            <p:ph idx="1"/>
          </p:nvPr>
        </p:nvSpPr>
        <p:spPr/>
        <p:txBody>
          <a:bodyPr/>
          <a:lstStyle/>
          <a:p>
            <a:r>
              <a:rPr lang="zh-CN" altLang="en-US" dirty="0"/>
              <a:t>一个</a:t>
            </a:r>
            <a:r>
              <a:rPr lang="en-US" altLang="zh-CN" dirty="0"/>
              <a:t>4</a:t>
            </a:r>
            <a:r>
              <a:rPr lang="zh-CN" altLang="en-US" dirty="0"/>
              <a:t>路组相联的</a:t>
            </a:r>
            <a:r>
              <a:rPr lang="en-US" altLang="zh-CN" dirty="0"/>
              <a:t>Cache</a:t>
            </a:r>
            <a:r>
              <a:rPr lang="zh-CN" altLang="en-US" dirty="0"/>
              <a:t>共有</a:t>
            </a:r>
            <a:r>
              <a:rPr lang="en-US" altLang="zh-CN" dirty="0"/>
              <a:t>64</a:t>
            </a:r>
            <a:r>
              <a:rPr lang="zh-CN" altLang="en-US" dirty="0"/>
              <a:t>块，主存共有</a:t>
            </a:r>
            <a:r>
              <a:rPr lang="en-US" altLang="zh-CN" dirty="0"/>
              <a:t>8192</a:t>
            </a:r>
            <a:r>
              <a:rPr lang="zh-CN" altLang="en-US" dirty="0"/>
              <a:t>块，每块</a:t>
            </a:r>
            <a:r>
              <a:rPr lang="en-US" altLang="zh-CN" dirty="0"/>
              <a:t>32</a:t>
            </a:r>
            <a:r>
              <a:rPr lang="zh-CN" altLang="en-US" dirty="0"/>
              <a:t>个字节。则主存地址的标记、组号和块内地址各是多少位？</a:t>
            </a:r>
            <a:endParaRPr lang="en-US" altLang="zh-CN" dirty="0"/>
          </a:p>
          <a:p>
            <a:r>
              <a:rPr lang="zh-CN" altLang="en-US" dirty="0"/>
              <a:t>块内地址：</a:t>
            </a:r>
          </a:p>
          <a:p>
            <a:r>
              <a:rPr lang="zh-CN" altLang="en-US" dirty="0"/>
              <a:t>组号：</a:t>
            </a:r>
            <a:endParaRPr lang="en-US" altLang="zh-CN" dirty="0"/>
          </a:p>
          <a:p>
            <a:r>
              <a:rPr lang="zh-CN" altLang="en-US" dirty="0"/>
              <a:t>标记：</a:t>
            </a:r>
            <a:endParaRPr lang="en-US" altLang="zh-CN" dirty="0"/>
          </a:p>
        </p:txBody>
      </p:sp>
      <p:sp>
        <p:nvSpPr>
          <p:cNvPr id="5" name="TextBox 4">
            <a:extLst>
              <a:ext uri="{FF2B5EF4-FFF2-40B4-BE49-F238E27FC236}">
                <a16:creationId xmlns:a16="http://schemas.microsoft.com/office/drawing/2014/main" id="{C7330EF5-5E47-44CB-892A-3144C79A86B4}"/>
              </a:ext>
            </a:extLst>
          </p:cNvPr>
          <p:cNvSpPr txBox="1"/>
          <p:nvPr/>
        </p:nvSpPr>
        <p:spPr>
          <a:xfrm>
            <a:off x="2286000" y="2438400"/>
            <a:ext cx="838200" cy="523220"/>
          </a:xfrm>
          <a:prstGeom prst="rect">
            <a:avLst/>
          </a:prstGeom>
          <a:noFill/>
        </p:spPr>
        <p:txBody>
          <a:bodyPr wrap="square">
            <a:spAutoFit/>
          </a:bodyPr>
          <a:lstStyle/>
          <a:p>
            <a:pPr algn="ctr" eaLnBrk="1" hangingPunct="1">
              <a:spcBef>
                <a:spcPct val="20000"/>
              </a:spcBef>
              <a:buFont typeface="Wingdings" panose="05000000000000000000" pitchFamily="2" charset="2"/>
              <a:buNone/>
              <a:defRPr/>
            </a:pPr>
            <a:r>
              <a:rPr lang="en-US" altLang="zh-CN" sz="2800" b="1" dirty="0">
                <a:latin typeface="宋体" panose="02010600030101010101" pitchFamily="2" charset="-122"/>
                <a:ea typeface="宋体" panose="02010600030101010101" pitchFamily="2" charset="-122"/>
              </a:rPr>
              <a:t>5</a:t>
            </a:r>
            <a:r>
              <a:rPr lang="zh-CN" altLang="en-US" sz="2800" b="1" dirty="0">
                <a:latin typeface="宋体" panose="02010600030101010101" pitchFamily="2" charset="-122"/>
                <a:ea typeface="宋体" panose="02010600030101010101" pitchFamily="2" charset="-122"/>
              </a:rPr>
              <a:t>位</a:t>
            </a:r>
          </a:p>
        </p:txBody>
      </p:sp>
      <p:sp>
        <p:nvSpPr>
          <p:cNvPr id="6" name="TextBox 5">
            <a:extLst>
              <a:ext uri="{FF2B5EF4-FFF2-40B4-BE49-F238E27FC236}">
                <a16:creationId xmlns:a16="http://schemas.microsoft.com/office/drawing/2014/main" id="{1CDBD217-08F0-42DD-8D70-EB90C98C4A5C}"/>
              </a:ext>
            </a:extLst>
          </p:cNvPr>
          <p:cNvSpPr txBox="1">
            <a:spLocks noChangeArrowheads="1"/>
          </p:cNvSpPr>
          <p:nvPr/>
        </p:nvSpPr>
        <p:spPr bwMode="auto">
          <a:xfrm>
            <a:off x="1524000" y="2961620"/>
            <a:ext cx="50658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spcBef>
                <a:spcPct val="20000"/>
              </a:spcBef>
              <a:defRPr/>
            </a:pPr>
            <a:r>
              <a:rPr lang="en-US" altLang="zh-CN" sz="2800" b="1" dirty="0">
                <a:solidFill>
                  <a:srgbClr val="000000"/>
                </a:solidFill>
                <a:latin typeface="宋体" panose="02010600030101010101" pitchFamily="2" charset="-122"/>
                <a:ea typeface="宋体" panose="02010600030101010101" pitchFamily="2" charset="-122"/>
              </a:rPr>
              <a:t>4</a:t>
            </a:r>
            <a:r>
              <a:rPr lang="zh-CN" altLang="en-US" sz="2800" b="1" dirty="0">
                <a:solidFill>
                  <a:srgbClr val="000000"/>
                </a:solidFill>
                <a:latin typeface="宋体" panose="02010600030101010101" pitchFamily="2" charset="-122"/>
                <a:ea typeface="宋体" panose="02010600030101010101" pitchFamily="2" charset="-122"/>
              </a:rPr>
              <a:t>位</a:t>
            </a:r>
            <a:r>
              <a:rPr lang="en-US" altLang="zh-CN" sz="2800" b="1" dirty="0">
                <a:solidFill>
                  <a:srgbClr val="000000"/>
                </a:solidFill>
                <a:latin typeface="宋体" panose="02010600030101010101" pitchFamily="2" charset="-122"/>
                <a:ea typeface="宋体" panose="02010600030101010101" pitchFamily="2" charset="-122"/>
              </a:rPr>
              <a:t>,</a:t>
            </a:r>
            <a:r>
              <a:rPr lang="zh-CN" altLang="en-US" sz="2800" b="1" dirty="0">
                <a:solidFill>
                  <a:srgbClr val="000000"/>
                </a:solidFill>
                <a:latin typeface="宋体" panose="02010600030101010101" pitchFamily="2" charset="-122"/>
                <a:ea typeface="宋体" panose="02010600030101010101" pitchFamily="2" charset="-122"/>
              </a:rPr>
              <a:t>因为</a:t>
            </a:r>
            <a:r>
              <a:rPr lang="en-US" altLang="zh-CN" sz="2800" b="1" dirty="0">
                <a:solidFill>
                  <a:srgbClr val="000000"/>
                </a:solidFill>
                <a:latin typeface="宋体" panose="02010600030101010101" pitchFamily="2" charset="-122"/>
                <a:ea typeface="宋体" panose="02010600030101010101" pitchFamily="2" charset="-122"/>
              </a:rPr>
              <a:t>Cache</a:t>
            </a:r>
            <a:r>
              <a:rPr lang="zh-CN" altLang="en-US" sz="2800" b="1" dirty="0">
                <a:solidFill>
                  <a:srgbClr val="000000"/>
                </a:solidFill>
                <a:latin typeface="宋体" panose="02010600030101010101" pitchFamily="2" charset="-122"/>
                <a:ea typeface="宋体" panose="02010600030101010101" pitchFamily="2" charset="-122"/>
              </a:rPr>
              <a:t>分为 </a:t>
            </a:r>
            <a:r>
              <a:rPr lang="en-US" altLang="zh-CN" sz="2800" b="1" dirty="0">
                <a:solidFill>
                  <a:srgbClr val="000000"/>
                </a:solidFill>
                <a:latin typeface="宋体" panose="02010600030101010101" pitchFamily="2" charset="-122"/>
                <a:ea typeface="宋体" panose="02010600030101010101" pitchFamily="2" charset="-122"/>
              </a:rPr>
              <a:t>64/4=16</a:t>
            </a:r>
            <a:r>
              <a:rPr lang="zh-CN" altLang="en-US" sz="2800" b="1" dirty="0">
                <a:solidFill>
                  <a:srgbClr val="000000"/>
                </a:solidFill>
                <a:latin typeface="宋体" panose="02010600030101010101" pitchFamily="2" charset="-122"/>
                <a:ea typeface="宋体" panose="02010600030101010101" pitchFamily="2" charset="-122"/>
              </a:rPr>
              <a:t>组</a:t>
            </a:r>
          </a:p>
        </p:txBody>
      </p:sp>
      <p:sp>
        <p:nvSpPr>
          <p:cNvPr id="7" name="TextBox 6">
            <a:extLst>
              <a:ext uri="{FF2B5EF4-FFF2-40B4-BE49-F238E27FC236}">
                <a16:creationId xmlns:a16="http://schemas.microsoft.com/office/drawing/2014/main" id="{5BE6D8C3-8272-445D-AE35-97703FAD8ED1}"/>
              </a:ext>
            </a:extLst>
          </p:cNvPr>
          <p:cNvSpPr txBox="1"/>
          <p:nvPr/>
        </p:nvSpPr>
        <p:spPr>
          <a:xfrm>
            <a:off x="1524000" y="3452204"/>
            <a:ext cx="726481" cy="523220"/>
          </a:xfrm>
          <a:prstGeom prst="rect">
            <a:avLst/>
          </a:prstGeom>
          <a:noFill/>
        </p:spPr>
        <p:txBody>
          <a:bodyPr wrap="none">
            <a:spAutoFit/>
          </a:bodyPr>
          <a:lstStyle/>
          <a:p>
            <a:pPr>
              <a:spcBef>
                <a:spcPct val="20000"/>
              </a:spcBef>
              <a:defRPr/>
            </a:pPr>
            <a:r>
              <a:rPr lang="en-US" altLang="zh-CN" sz="2800" b="1" dirty="0">
                <a:latin typeface="宋体" panose="02010600030101010101" pitchFamily="2" charset="-122"/>
                <a:ea typeface="宋体" panose="02010600030101010101" pitchFamily="2" charset="-122"/>
              </a:rPr>
              <a:t>9</a:t>
            </a:r>
            <a:r>
              <a:rPr lang="zh-CN" altLang="en-US" sz="2800" b="1" dirty="0">
                <a:latin typeface="宋体" panose="02010600030101010101" pitchFamily="2" charset="-122"/>
                <a:ea typeface="宋体" panose="02010600030101010101" pitchFamily="2" charset="-122"/>
              </a:rPr>
              <a:t>位</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094E55-FC29-417F-9E99-7D542FCF62B7}"/>
              </a:ext>
            </a:extLst>
          </p:cNvPr>
          <p:cNvSpPr>
            <a:spLocks noGrp="1"/>
          </p:cNvSpPr>
          <p:nvPr>
            <p:ph type="title"/>
          </p:nvPr>
        </p:nvSpPr>
        <p:spPr/>
        <p:txBody>
          <a:bodyPr/>
          <a:lstStyle/>
          <a:p>
            <a:pPr>
              <a:defRPr/>
            </a:pPr>
            <a:r>
              <a:rPr lang="zh-CN" altLang="en-US" dirty="0"/>
              <a:t>例</a:t>
            </a:r>
          </a:p>
        </p:txBody>
      </p:sp>
      <p:sp>
        <p:nvSpPr>
          <p:cNvPr id="61443" name="内容占位符 2">
            <a:extLst>
              <a:ext uri="{FF2B5EF4-FFF2-40B4-BE49-F238E27FC236}">
                <a16:creationId xmlns:a16="http://schemas.microsoft.com/office/drawing/2014/main" id="{3BAB4B99-0260-4EE7-8846-DFECA41B6E74}"/>
              </a:ext>
            </a:extLst>
          </p:cNvPr>
          <p:cNvSpPr>
            <a:spLocks noGrp="1" noChangeArrowheads="1"/>
          </p:cNvSpPr>
          <p:nvPr>
            <p:ph idx="1"/>
          </p:nvPr>
        </p:nvSpPr>
        <p:spPr/>
        <p:txBody>
          <a:bodyPr/>
          <a:lstStyle/>
          <a:p>
            <a:pPr marL="0" indent="0">
              <a:buFont typeface="Wingdings 2" panose="05020102010507070707" pitchFamily="18" charset="2"/>
              <a:buNone/>
            </a:pPr>
            <a:r>
              <a:rPr lang="zh-CN" altLang="en-US"/>
              <a:t>某计算机的</a:t>
            </a:r>
            <a:r>
              <a:rPr lang="en-US" altLang="zh-CN"/>
              <a:t>Cache</a:t>
            </a:r>
            <a:r>
              <a:rPr lang="zh-CN" altLang="en-US"/>
              <a:t>共有</a:t>
            </a:r>
            <a:r>
              <a:rPr lang="en-US" altLang="zh-CN"/>
              <a:t>16</a:t>
            </a:r>
            <a:r>
              <a:rPr lang="zh-CN" altLang="en-US"/>
              <a:t>块，采用</a:t>
            </a:r>
            <a:r>
              <a:rPr lang="en-US" altLang="zh-CN"/>
              <a:t>2</a:t>
            </a:r>
            <a:r>
              <a:rPr lang="zh-CN" altLang="en-US"/>
              <a:t>路组相联映射方式（即每组</a:t>
            </a:r>
            <a:r>
              <a:rPr lang="en-US" altLang="zh-CN"/>
              <a:t>2</a:t>
            </a:r>
            <a:r>
              <a:rPr lang="zh-CN" altLang="en-US"/>
              <a:t>块）。每个主存块大小为</a:t>
            </a:r>
            <a:r>
              <a:rPr lang="en-US" altLang="zh-CN"/>
              <a:t>32</a:t>
            </a:r>
            <a:r>
              <a:rPr lang="zh-CN" altLang="en-US"/>
              <a:t>字节，按字节编址。主存</a:t>
            </a:r>
            <a:r>
              <a:rPr lang="en-US" altLang="zh-CN"/>
              <a:t>129</a:t>
            </a:r>
            <a:r>
              <a:rPr lang="zh-CN" altLang="en-US"/>
              <a:t>号单元所在主存块应装入到的</a:t>
            </a:r>
            <a:r>
              <a:rPr lang="en-US" altLang="zh-CN"/>
              <a:t>Cache</a:t>
            </a:r>
            <a:r>
              <a:rPr lang="zh-CN" altLang="en-US"/>
              <a:t>组号是  </a:t>
            </a:r>
          </a:p>
          <a:p>
            <a:pPr marL="0" indent="0">
              <a:buFont typeface="Wingdings 2" panose="05020102010507070707" pitchFamily="18" charset="2"/>
              <a:buNone/>
            </a:pPr>
            <a:r>
              <a:rPr lang="en-US" altLang="zh-CN"/>
              <a:t>A. 0 </a:t>
            </a:r>
          </a:p>
          <a:p>
            <a:pPr marL="0" indent="0">
              <a:buFont typeface="Wingdings 2" panose="05020102010507070707" pitchFamily="18" charset="2"/>
              <a:buNone/>
            </a:pPr>
            <a:r>
              <a:rPr lang="en-US" altLang="zh-CN"/>
              <a:t>B. 2  </a:t>
            </a:r>
          </a:p>
          <a:p>
            <a:pPr marL="0" indent="0">
              <a:buFont typeface="Wingdings 2" panose="05020102010507070707" pitchFamily="18" charset="2"/>
              <a:buNone/>
            </a:pPr>
            <a:r>
              <a:rPr lang="en-US" altLang="zh-CN"/>
              <a:t>C. 4  </a:t>
            </a:r>
          </a:p>
          <a:p>
            <a:pPr marL="0" indent="0">
              <a:buFont typeface="Wingdings 2" panose="05020102010507070707" pitchFamily="18" charset="2"/>
              <a:buNone/>
            </a:pPr>
            <a:r>
              <a:rPr lang="en-US" altLang="zh-CN"/>
              <a:t>D. 6 </a:t>
            </a:r>
            <a:endParaRPr lang="zh-CN" altLang="en-US"/>
          </a:p>
        </p:txBody>
      </p:sp>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a:extLst>
              <a:ext uri="{FF2B5EF4-FFF2-40B4-BE49-F238E27FC236}">
                <a16:creationId xmlns:a16="http://schemas.microsoft.com/office/drawing/2014/main" id="{6FA0F66D-854E-4DCE-926C-DF95A4AC9E60}"/>
              </a:ext>
            </a:extLst>
          </p:cNvPr>
          <p:cNvSpPr>
            <a:spLocks noGrp="1" noChangeArrowheads="1"/>
          </p:cNvSpPr>
          <p:nvPr>
            <p:ph type="title"/>
          </p:nvPr>
        </p:nvSpPr>
        <p:spPr/>
        <p:txBody>
          <a:bodyPr/>
          <a:lstStyle/>
          <a:p>
            <a:pPr eaLnBrk="1" hangingPunct="1">
              <a:defRPr/>
            </a:pPr>
            <a:r>
              <a:rPr lang="en-US" altLang="zh-CN"/>
              <a:t>Cache</a:t>
            </a:r>
            <a:r>
              <a:rPr lang="zh-CN" altLang="en-US"/>
              <a:t>写操作处理（</a:t>
            </a:r>
            <a:r>
              <a:rPr lang="en-US" altLang="zh-CN"/>
              <a:t>1</a:t>
            </a:r>
            <a:r>
              <a:rPr lang="zh-CN" altLang="en-US"/>
              <a:t>）</a:t>
            </a:r>
          </a:p>
        </p:txBody>
      </p:sp>
      <p:sp>
        <p:nvSpPr>
          <p:cNvPr id="63491" name="Rectangle 3">
            <a:extLst>
              <a:ext uri="{FF2B5EF4-FFF2-40B4-BE49-F238E27FC236}">
                <a16:creationId xmlns:a16="http://schemas.microsoft.com/office/drawing/2014/main" id="{A6D735E4-D636-4627-B47D-DD2DFAE9BFC9}"/>
              </a:ext>
            </a:extLst>
          </p:cNvPr>
          <p:cNvSpPr>
            <a:spLocks noGrp="1" noChangeArrowheads="1"/>
          </p:cNvSpPr>
          <p:nvPr>
            <p:ph idx="1"/>
          </p:nvPr>
        </p:nvSpPr>
        <p:spPr/>
        <p:txBody>
          <a:bodyPr/>
          <a:lstStyle/>
          <a:p>
            <a:pPr eaLnBrk="1" hangingPunct="1"/>
            <a:r>
              <a:rPr lang="zh-CN" altLang="en-US" sz="2800"/>
              <a:t>数据的多份拷贝存在于</a:t>
            </a:r>
            <a:endParaRPr lang="en-US" altLang="zh-CN" sz="2800"/>
          </a:p>
          <a:p>
            <a:pPr lvl="1" eaLnBrk="1" hangingPunct="1"/>
            <a:r>
              <a:rPr lang="en-US" altLang="zh-CN" sz="2400"/>
              <a:t>L1</a:t>
            </a:r>
            <a:r>
              <a:rPr lang="zh-CN" altLang="en-US" sz="2400"/>
              <a:t>、</a:t>
            </a:r>
            <a:r>
              <a:rPr lang="en-US" altLang="zh-CN" sz="2400"/>
              <a:t>L2</a:t>
            </a:r>
            <a:r>
              <a:rPr lang="zh-CN" altLang="en-US" sz="2400"/>
              <a:t>、</a:t>
            </a:r>
            <a:r>
              <a:rPr lang="en-US" altLang="zh-CN" sz="2400"/>
              <a:t>L3</a:t>
            </a:r>
            <a:r>
              <a:rPr lang="zh-CN" altLang="en-US" sz="2400"/>
              <a:t>、主存、磁盘</a:t>
            </a:r>
            <a:endParaRPr lang="en-US" altLang="zh-CN" sz="2400"/>
          </a:p>
          <a:p>
            <a:pPr eaLnBrk="1" hangingPunct="1"/>
            <a:r>
              <a:rPr lang="en-US" altLang="zh-CN" sz="2800" b="0"/>
              <a:t>cache</a:t>
            </a:r>
            <a:r>
              <a:rPr lang="zh-CN" altLang="en-US" sz="2800"/>
              <a:t>写操作处理需要保证</a:t>
            </a:r>
            <a:r>
              <a:rPr lang="en-US" altLang="zh-CN" sz="2800" b="0"/>
              <a:t>cache</a:t>
            </a:r>
            <a:r>
              <a:rPr lang="zh-CN" altLang="en-US" sz="2800"/>
              <a:t>和存储器中数据的一致性</a:t>
            </a:r>
            <a:endParaRPr lang="en-US" altLang="zh-CN" sz="2800" b="0"/>
          </a:p>
          <a:p>
            <a:pPr eaLnBrk="1" hangingPunct="1"/>
            <a:r>
              <a:rPr lang="zh-CN" altLang="en-US" sz="2800"/>
              <a:t>写命中（</a:t>
            </a:r>
            <a:r>
              <a:rPr lang="en-US" altLang="zh-CN" sz="2800"/>
              <a:t>write hit</a:t>
            </a:r>
            <a:r>
              <a:rPr lang="zh-CN" altLang="en-US" sz="2800"/>
              <a:t>）的情况下</a:t>
            </a:r>
          </a:p>
          <a:p>
            <a:pPr lvl="1" eaLnBrk="1" hangingPunct="1"/>
            <a:r>
              <a:rPr lang="zh-CN" altLang="en-US" sz="2400"/>
              <a:t>写穿透（</a:t>
            </a:r>
            <a:r>
              <a:rPr lang="en-US" altLang="zh-CN" sz="2400" b="0"/>
              <a:t>Write Through</a:t>
            </a:r>
            <a:r>
              <a:rPr lang="zh-CN" altLang="en-US" sz="2400"/>
              <a:t>）：写操作同时更新</a:t>
            </a:r>
            <a:r>
              <a:rPr lang="en-US" altLang="zh-CN" sz="2400"/>
              <a:t>cache</a:t>
            </a:r>
            <a:r>
              <a:rPr lang="zh-CN" altLang="en-US" sz="2400"/>
              <a:t>和低一层存储器。每次写都会占用总线带宽。</a:t>
            </a:r>
          </a:p>
          <a:p>
            <a:pPr lvl="1" eaLnBrk="1" hangingPunct="1"/>
            <a:r>
              <a:rPr lang="zh-CN" altLang="en-US" sz="2400"/>
              <a:t>写回（</a:t>
            </a:r>
            <a:r>
              <a:rPr lang="en-US" altLang="zh-CN" sz="2400" b="0"/>
              <a:t>Write Back</a:t>
            </a:r>
            <a:r>
              <a:rPr lang="zh-CN" altLang="en-US" sz="2400"/>
              <a:t>）： 只写入</a:t>
            </a:r>
            <a:r>
              <a:rPr lang="en-US" altLang="zh-CN" sz="2400" b="0"/>
              <a:t>Cache</a:t>
            </a:r>
            <a:r>
              <a:rPr lang="zh-CN" altLang="en-US" sz="2400"/>
              <a:t>。当出现</a:t>
            </a:r>
            <a:r>
              <a:rPr lang="en-US" altLang="zh-CN" sz="2400" b="0"/>
              <a:t>cache</a:t>
            </a:r>
            <a:r>
              <a:rPr lang="zh-CN" altLang="en-US" sz="2400"/>
              <a:t>缺失且该</a:t>
            </a:r>
            <a:r>
              <a:rPr lang="en-US" altLang="zh-CN" sz="2400" b="0"/>
              <a:t>cache</a:t>
            </a:r>
            <a:r>
              <a:rPr lang="zh-CN" altLang="en-US" sz="2400"/>
              <a:t>数据块需要替换出时，才将该</a:t>
            </a:r>
            <a:r>
              <a:rPr lang="en-US" altLang="zh-CN" sz="2400" b="0"/>
              <a:t>Cache</a:t>
            </a:r>
            <a:r>
              <a:rPr lang="zh-CN" altLang="en-US" sz="2400"/>
              <a:t>块的数据回写会到存储器中。需要增加一个修改标志位</a:t>
            </a:r>
            <a:r>
              <a:rPr lang="en-US" altLang="zh-CN" sz="2400"/>
              <a:t>d</a:t>
            </a:r>
            <a:r>
              <a:rPr lang="zh-CN" altLang="en-US" sz="2400"/>
              <a:t>。显著较少总线流量。实现复杂。</a:t>
            </a:r>
          </a:p>
        </p:txBody>
      </p:sp>
      <p:grpSp>
        <p:nvGrpSpPr>
          <p:cNvPr id="5" name="Group 2">
            <a:extLst>
              <a:ext uri="{FF2B5EF4-FFF2-40B4-BE49-F238E27FC236}">
                <a16:creationId xmlns:a16="http://schemas.microsoft.com/office/drawing/2014/main" id="{DF0E4F99-6121-4A6D-84ED-9870C3F7AC0C}"/>
              </a:ext>
            </a:extLst>
          </p:cNvPr>
          <p:cNvGrpSpPr>
            <a:grpSpLocks/>
          </p:cNvGrpSpPr>
          <p:nvPr/>
        </p:nvGrpSpPr>
        <p:grpSpPr bwMode="auto">
          <a:xfrm>
            <a:off x="4343400" y="5444565"/>
            <a:ext cx="4275138" cy="1168400"/>
            <a:chOff x="4640515" y="1115144"/>
            <a:chExt cx="4274886" cy="1168756"/>
          </a:xfrm>
        </p:grpSpPr>
        <p:sp>
          <p:nvSpPr>
            <p:cNvPr id="6" name="Rectangle 4">
              <a:extLst>
                <a:ext uri="{FF2B5EF4-FFF2-40B4-BE49-F238E27FC236}">
                  <a16:creationId xmlns:a16="http://schemas.microsoft.com/office/drawing/2014/main" id="{36690D2F-94CA-46F3-B0C1-ECDDC670F484}"/>
                </a:ext>
              </a:extLst>
            </p:cNvPr>
            <p:cNvSpPr/>
            <p:nvPr/>
          </p:nvSpPr>
          <p:spPr bwMode="auto">
            <a:xfrm>
              <a:off x="5105626" y="1115144"/>
              <a:ext cx="3809775" cy="533563"/>
            </a:xfrm>
            <a:prstGeom prst="rect">
              <a:avLst/>
            </a:prstGeom>
            <a:solidFill>
              <a:schemeClr val="accent2">
                <a:lumMod val="40000"/>
                <a:lumOff val="60000"/>
              </a:schemeClr>
            </a:solidFill>
            <a:ln w="28575" cap="flat" cmpd="sng" algn="ctr">
              <a:solidFill>
                <a:schemeClr val="tx1"/>
              </a:solidFill>
              <a:prstDash val="solid"/>
              <a:round/>
              <a:headEnd type="none" w="med" len="med"/>
              <a:tailEnd type="triangle" w="med" len="med"/>
            </a:ln>
            <a:effectLst/>
          </p:spPr>
          <p:txBody>
            <a:bodyPr anchor="ctr" anchorCtr="1"/>
            <a:lstStyle/>
            <a:p>
              <a:pPr algn="ctr">
                <a:defRPr/>
              </a:pPr>
              <a:endParaRPr lang="en-US" sz="1600" dirty="0">
                <a:latin typeface="Calibri" pitchFamily="34" charset="0"/>
              </a:endParaRPr>
            </a:p>
          </p:txBody>
        </p:sp>
        <p:sp>
          <p:nvSpPr>
            <p:cNvPr id="63495" name="Rectangle 5">
              <a:extLst>
                <a:ext uri="{FF2B5EF4-FFF2-40B4-BE49-F238E27FC236}">
                  <a16:creationId xmlns:a16="http://schemas.microsoft.com/office/drawing/2014/main" id="{284141A6-427B-4B94-B712-8925C221FC6E}"/>
                </a:ext>
              </a:extLst>
            </p:cNvPr>
            <p:cNvSpPr>
              <a:spLocks noChangeArrowheads="1"/>
            </p:cNvSpPr>
            <p:nvPr/>
          </p:nvSpPr>
          <p:spPr bwMode="auto">
            <a:xfrm>
              <a:off x="6890195" y="1229444"/>
              <a:ext cx="272605" cy="304800"/>
            </a:xfrm>
            <a:prstGeom prst="rect">
              <a:avLst/>
            </a:prstGeom>
            <a:solidFill>
              <a:schemeClr val="bg1"/>
            </a:solidFill>
            <a:ln w="28575" algn="ctr">
              <a:solidFill>
                <a:schemeClr val="tx1"/>
              </a:solidFill>
              <a:round/>
              <a:headEnd/>
              <a:tailEnd type="triangle" w="med" len="med"/>
            </a:ln>
          </p:spPr>
          <p:txBody>
            <a:bodyPr wrap="none"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lang="en-US" altLang="zh-CN" sz="1600">
                  <a:latin typeface="Calibri" panose="020F0502020204030204" pitchFamily="34" charset="0"/>
                </a:rPr>
                <a:t>0</a:t>
              </a:r>
            </a:p>
          </p:txBody>
        </p:sp>
        <p:sp>
          <p:nvSpPr>
            <p:cNvPr id="63496" name="Rectangle 6">
              <a:extLst>
                <a:ext uri="{FF2B5EF4-FFF2-40B4-BE49-F238E27FC236}">
                  <a16:creationId xmlns:a16="http://schemas.microsoft.com/office/drawing/2014/main" id="{B50E868C-77F9-424A-B635-B071E32B170D}"/>
                </a:ext>
              </a:extLst>
            </p:cNvPr>
            <p:cNvSpPr>
              <a:spLocks noChangeArrowheads="1"/>
            </p:cNvSpPr>
            <p:nvPr/>
          </p:nvSpPr>
          <p:spPr bwMode="auto">
            <a:xfrm>
              <a:off x="7162800" y="1229444"/>
              <a:ext cx="272605" cy="304800"/>
            </a:xfrm>
            <a:prstGeom prst="rect">
              <a:avLst/>
            </a:prstGeom>
            <a:solidFill>
              <a:schemeClr val="bg1"/>
            </a:solidFill>
            <a:ln w="28575" algn="ctr">
              <a:solidFill>
                <a:schemeClr val="tx1"/>
              </a:solidFill>
              <a:round/>
              <a:headEnd/>
              <a:tailEnd type="triangle" w="med" len="med"/>
            </a:ln>
          </p:spPr>
          <p:txBody>
            <a:bodyPr wrap="none"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lang="en-US" altLang="zh-CN" sz="1600">
                  <a:latin typeface="Calibri" panose="020F0502020204030204" pitchFamily="34" charset="0"/>
                </a:rPr>
                <a:t>1</a:t>
              </a:r>
            </a:p>
          </p:txBody>
        </p:sp>
        <p:sp>
          <p:nvSpPr>
            <p:cNvPr id="63497" name="Rectangle 7">
              <a:extLst>
                <a:ext uri="{FF2B5EF4-FFF2-40B4-BE49-F238E27FC236}">
                  <a16:creationId xmlns:a16="http://schemas.microsoft.com/office/drawing/2014/main" id="{FD2C75E1-C5F4-460F-94F0-F5C4BFCE133D}"/>
                </a:ext>
              </a:extLst>
            </p:cNvPr>
            <p:cNvSpPr>
              <a:spLocks noChangeArrowheads="1"/>
            </p:cNvSpPr>
            <p:nvPr/>
          </p:nvSpPr>
          <p:spPr bwMode="auto">
            <a:xfrm>
              <a:off x="7423595" y="1229444"/>
              <a:ext cx="272605" cy="304800"/>
            </a:xfrm>
            <a:prstGeom prst="rect">
              <a:avLst/>
            </a:prstGeom>
            <a:solidFill>
              <a:schemeClr val="bg1"/>
            </a:solidFill>
            <a:ln w="28575" algn="ctr">
              <a:solidFill>
                <a:schemeClr val="tx1"/>
              </a:solidFill>
              <a:round/>
              <a:headEnd/>
              <a:tailEnd type="triangle" w="med" len="med"/>
            </a:ln>
          </p:spPr>
          <p:txBody>
            <a:bodyPr wrap="none"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lang="en-US" altLang="zh-CN" sz="1600">
                  <a:latin typeface="Calibri" panose="020F0502020204030204" pitchFamily="34" charset="0"/>
                </a:rPr>
                <a:t>2</a:t>
              </a:r>
            </a:p>
          </p:txBody>
        </p:sp>
        <p:sp>
          <p:nvSpPr>
            <p:cNvPr id="10" name="Rectangle 8">
              <a:extLst>
                <a:ext uri="{FF2B5EF4-FFF2-40B4-BE49-F238E27FC236}">
                  <a16:creationId xmlns:a16="http://schemas.microsoft.com/office/drawing/2014/main" id="{EDCAFE3F-94B7-44FC-A97A-92746D96E4D6}"/>
                </a:ext>
              </a:extLst>
            </p:cNvPr>
            <p:cNvSpPr/>
            <p:nvPr/>
          </p:nvSpPr>
          <p:spPr bwMode="auto">
            <a:xfrm>
              <a:off x="8337585" y="1229479"/>
              <a:ext cx="457173" cy="304893"/>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wrap="none" anchor="ctr" anchorCtr="1">
              <a:normAutofit fontScale="92500" lnSpcReduction="10000"/>
            </a:bodyPr>
            <a:lstStyle/>
            <a:p>
              <a:pPr algn="ctr">
                <a:defRPr/>
              </a:pPr>
              <a:r>
                <a:rPr lang="en-US" sz="1600" dirty="0">
                  <a:latin typeface="Calibri" pitchFamily="34" charset="0"/>
                </a:rPr>
                <a:t>B-1</a:t>
              </a:r>
            </a:p>
          </p:txBody>
        </p:sp>
        <p:sp>
          <p:nvSpPr>
            <p:cNvPr id="63499" name="Rectangle 9">
              <a:extLst>
                <a:ext uri="{FF2B5EF4-FFF2-40B4-BE49-F238E27FC236}">
                  <a16:creationId xmlns:a16="http://schemas.microsoft.com/office/drawing/2014/main" id="{1B9931A9-4B82-43F2-90A6-32BA30DED98C}"/>
                </a:ext>
              </a:extLst>
            </p:cNvPr>
            <p:cNvSpPr>
              <a:spLocks noChangeArrowheads="1"/>
            </p:cNvSpPr>
            <p:nvPr/>
          </p:nvSpPr>
          <p:spPr bwMode="auto">
            <a:xfrm>
              <a:off x="7696200" y="1229444"/>
              <a:ext cx="641795" cy="304800"/>
            </a:xfrm>
            <a:prstGeom prst="rect">
              <a:avLst/>
            </a:prstGeom>
            <a:solidFill>
              <a:schemeClr val="bg1"/>
            </a:solidFill>
            <a:ln w="28575" algn="ctr">
              <a:solidFill>
                <a:schemeClr val="tx1"/>
              </a:solidFill>
              <a:round/>
              <a:headEnd/>
              <a:tailEnd type="triangle" w="med" len="med"/>
            </a:ln>
          </p:spPr>
          <p:txBody>
            <a:bodyPr wrap="none"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endParaRPr lang="en-US" altLang="zh-CN" sz="1600">
                <a:latin typeface="Calibri" panose="020F0502020204030204" pitchFamily="34" charset="0"/>
              </a:endParaRPr>
            </a:p>
          </p:txBody>
        </p:sp>
        <p:cxnSp>
          <p:nvCxnSpPr>
            <p:cNvPr id="63500" name="Straight Connector 10">
              <a:extLst>
                <a:ext uri="{FF2B5EF4-FFF2-40B4-BE49-F238E27FC236}">
                  <a16:creationId xmlns:a16="http://schemas.microsoft.com/office/drawing/2014/main" id="{030FE18A-997C-4ADE-8518-07081433C049}"/>
                </a:ext>
              </a:extLst>
            </p:cNvPr>
            <p:cNvCxnSpPr>
              <a:cxnSpLocks noChangeShapeType="1"/>
            </p:cNvCxnSpPr>
            <p:nvPr/>
          </p:nvCxnSpPr>
          <p:spPr bwMode="auto">
            <a:xfrm>
              <a:off x="7830351" y="1381050"/>
              <a:ext cx="457200" cy="1588"/>
            </a:xfrm>
            <a:prstGeom prst="line">
              <a:avLst/>
            </a:prstGeom>
            <a:noFill/>
            <a:ln w="38100" cap="rnd" algn="ctr">
              <a:solidFill>
                <a:schemeClr val="tx1"/>
              </a:solidFill>
              <a:prstDash val="sysDot"/>
              <a:round/>
              <a:headEnd/>
              <a:tailEnd/>
            </a:ln>
            <a:extLst>
              <a:ext uri="{909E8E84-426E-40DD-AFC4-6F175D3DCCD1}">
                <a14:hiddenFill xmlns:a14="http://schemas.microsoft.com/office/drawing/2010/main">
                  <a:noFill/>
                </a14:hiddenFill>
              </a:ext>
            </a:extLst>
          </p:spPr>
        </p:cxnSp>
        <p:sp>
          <p:nvSpPr>
            <p:cNvPr id="63501" name="Rectangle 11">
              <a:extLst>
                <a:ext uri="{FF2B5EF4-FFF2-40B4-BE49-F238E27FC236}">
                  <a16:creationId xmlns:a16="http://schemas.microsoft.com/office/drawing/2014/main" id="{C4875B5C-EBBE-44CB-A79B-EAFF7AD5B61B}"/>
                </a:ext>
              </a:extLst>
            </p:cNvPr>
            <p:cNvSpPr>
              <a:spLocks noChangeArrowheads="1"/>
            </p:cNvSpPr>
            <p:nvPr/>
          </p:nvSpPr>
          <p:spPr bwMode="auto">
            <a:xfrm>
              <a:off x="5987605" y="1229444"/>
              <a:ext cx="717995" cy="304800"/>
            </a:xfrm>
            <a:prstGeom prst="rect">
              <a:avLst/>
            </a:prstGeom>
            <a:solidFill>
              <a:schemeClr val="bg1"/>
            </a:solidFill>
            <a:ln w="28575" algn="ctr">
              <a:solidFill>
                <a:schemeClr val="tx1"/>
              </a:solidFill>
              <a:round/>
              <a:headEnd/>
              <a:tailEnd type="triangle" w="med" len="med"/>
            </a:ln>
          </p:spPr>
          <p:txBody>
            <a:bodyPr wrap="none"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lang="en-US" altLang="zh-CN" sz="1600">
                  <a:latin typeface="Calibri" panose="020F0502020204030204" pitchFamily="34" charset="0"/>
                </a:rPr>
                <a:t>tag</a:t>
              </a:r>
            </a:p>
          </p:txBody>
        </p:sp>
        <p:sp>
          <p:nvSpPr>
            <p:cNvPr id="63502" name="Rectangle 12">
              <a:extLst>
                <a:ext uri="{FF2B5EF4-FFF2-40B4-BE49-F238E27FC236}">
                  <a16:creationId xmlns:a16="http://schemas.microsoft.com/office/drawing/2014/main" id="{1F60DC93-3E14-4A93-B2C7-8D7613D11029}"/>
                </a:ext>
              </a:extLst>
            </p:cNvPr>
            <p:cNvSpPr>
              <a:spLocks noChangeArrowheads="1"/>
            </p:cNvSpPr>
            <p:nvPr/>
          </p:nvSpPr>
          <p:spPr bwMode="auto">
            <a:xfrm>
              <a:off x="5597532" y="1241788"/>
              <a:ext cx="272605" cy="304800"/>
            </a:xfrm>
            <a:prstGeom prst="rect">
              <a:avLst/>
            </a:prstGeom>
            <a:solidFill>
              <a:schemeClr val="bg1"/>
            </a:solidFill>
            <a:ln w="28575" algn="ctr">
              <a:solidFill>
                <a:schemeClr val="tx1"/>
              </a:solidFill>
              <a:round/>
              <a:headEnd/>
              <a:tailEnd type="triangle" w="med" len="med"/>
            </a:ln>
          </p:spPr>
          <p:txBody>
            <a:bodyPr wrap="none"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lang="en-US" altLang="zh-CN" sz="1600">
                  <a:solidFill>
                    <a:srgbClr val="FF0000"/>
                  </a:solidFill>
                  <a:latin typeface="Calibri" panose="020F0502020204030204" pitchFamily="34" charset="0"/>
                </a:rPr>
                <a:t>d</a:t>
              </a:r>
            </a:p>
          </p:txBody>
        </p:sp>
        <p:sp>
          <p:nvSpPr>
            <p:cNvPr id="63503" name="AutoShape 16">
              <a:extLst>
                <a:ext uri="{FF2B5EF4-FFF2-40B4-BE49-F238E27FC236}">
                  <a16:creationId xmlns:a16="http://schemas.microsoft.com/office/drawing/2014/main" id="{53597257-D20C-419F-ACC9-CD6AEC6FD27B}"/>
                </a:ext>
              </a:extLst>
            </p:cNvPr>
            <p:cNvSpPr>
              <a:spLocks/>
            </p:cNvSpPr>
            <p:nvPr/>
          </p:nvSpPr>
          <p:spPr bwMode="auto">
            <a:xfrm rot="16200000" flipV="1">
              <a:off x="7741272" y="873133"/>
              <a:ext cx="228600" cy="1905000"/>
            </a:xfrm>
            <a:prstGeom prst="leftBrace">
              <a:avLst>
                <a:gd name="adj1" fmla="val 136960"/>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endParaRPr lang="en-US" altLang="zh-CN" sz="1800">
                <a:latin typeface="Calibri" panose="020F0502020204030204" pitchFamily="34" charset="0"/>
              </a:endParaRPr>
            </a:p>
          </p:txBody>
        </p:sp>
        <p:sp>
          <p:nvSpPr>
            <p:cNvPr id="63504" name="TextBox 14">
              <a:extLst>
                <a:ext uri="{FF2B5EF4-FFF2-40B4-BE49-F238E27FC236}">
                  <a16:creationId xmlns:a16="http://schemas.microsoft.com/office/drawing/2014/main" id="{87DFBD25-4323-45FE-A211-4EDD51E935A0}"/>
                </a:ext>
              </a:extLst>
            </p:cNvPr>
            <p:cNvSpPr txBox="1">
              <a:spLocks noChangeArrowheads="1"/>
            </p:cNvSpPr>
            <p:nvPr/>
          </p:nvSpPr>
          <p:spPr bwMode="auto">
            <a:xfrm>
              <a:off x="7544471" y="1914568"/>
              <a:ext cx="6864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800">
                  <a:latin typeface="Calibri" panose="020F0502020204030204" pitchFamily="34" charset="0"/>
                </a:rPr>
                <a:t>Block</a:t>
              </a:r>
            </a:p>
          </p:txBody>
        </p:sp>
        <p:grpSp>
          <p:nvGrpSpPr>
            <p:cNvPr id="63505" name="Group 1">
              <a:extLst>
                <a:ext uri="{FF2B5EF4-FFF2-40B4-BE49-F238E27FC236}">
                  <a16:creationId xmlns:a16="http://schemas.microsoft.com/office/drawing/2014/main" id="{3F562CB4-09F2-44FF-9353-1BBF76BCA317}"/>
                </a:ext>
              </a:extLst>
            </p:cNvPr>
            <p:cNvGrpSpPr>
              <a:grpSpLocks/>
            </p:cNvGrpSpPr>
            <p:nvPr/>
          </p:nvGrpSpPr>
          <p:grpSpPr bwMode="auto">
            <a:xfrm>
              <a:off x="5544193" y="1567588"/>
              <a:ext cx="947695" cy="633800"/>
              <a:chOff x="5493251" y="1546588"/>
              <a:chExt cx="947695" cy="633800"/>
            </a:xfrm>
          </p:grpSpPr>
          <p:sp>
            <p:nvSpPr>
              <p:cNvPr id="63509" name="TextBox 15">
                <a:extLst>
                  <a:ext uri="{FF2B5EF4-FFF2-40B4-BE49-F238E27FC236}">
                    <a16:creationId xmlns:a16="http://schemas.microsoft.com/office/drawing/2014/main" id="{E6277484-C023-45D8-825D-42758375AE6B}"/>
                  </a:ext>
                </a:extLst>
              </p:cNvPr>
              <p:cNvSpPr txBox="1">
                <a:spLocks noChangeArrowheads="1"/>
              </p:cNvSpPr>
              <p:nvPr/>
            </p:nvSpPr>
            <p:spPr bwMode="auto">
              <a:xfrm>
                <a:off x="5493251" y="1811056"/>
                <a:ext cx="9476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800">
                    <a:solidFill>
                      <a:srgbClr val="FF0000"/>
                    </a:solidFill>
                    <a:latin typeface="Calibri" panose="020F0502020204030204" pitchFamily="34" charset="0"/>
                  </a:rPr>
                  <a:t>dirty bit</a:t>
                </a:r>
              </a:p>
            </p:txBody>
          </p:sp>
          <p:cxnSp>
            <p:nvCxnSpPr>
              <p:cNvPr id="63510" name="Straight Connector 16">
                <a:extLst>
                  <a:ext uri="{FF2B5EF4-FFF2-40B4-BE49-F238E27FC236}">
                    <a16:creationId xmlns:a16="http://schemas.microsoft.com/office/drawing/2014/main" id="{977C0BEA-95DD-4230-B72F-523A8C0F2ECE}"/>
                  </a:ext>
                </a:extLst>
              </p:cNvPr>
              <p:cNvCxnSpPr>
                <a:cxnSpLocks noChangeShapeType="1"/>
              </p:cNvCxnSpPr>
              <p:nvPr/>
            </p:nvCxnSpPr>
            <p:spPr bwMode="auto">
              <a:xfrm rot="5400000" flipH="1" flipV="1">
                <a:off x="5530333" y="1698194"/>
                <a:ext cx="304800" cy="1588"/>
              </a:xfrm>
              <a:prstGeom prst="line">
                <a:avLst/>
              </a:prstGeom>
              <a:noFill/>
              <a:ln w="9525" algn="ctr">
                <a:solidFill>
                  <a:srgbClr val="FF0000"/>
                </a:solidFill>
                <a:round/>
                <a:headEnd/>
                <a:tailEnd type="triangle" w="med" len="med"/>
              </a:ln>
              <a:extLst>
                <a:ext uri="{909E8E84-426E-40DD-AFC4-6F175D3DCCD1}">
                  <a14:hiddenFill xmlns:a14="http://schemas.microsoft.com/office/drawing/2010/main">
                    <a:noFill/>
                  </a14:hiddenFill>
                </a:ext>
              </a:extLst>
            </p:spPr>
          </p:cxnSp>
        </p:grpSp>
        <p:sp>
          <p:nvSpPr>
            <p:cNvPr id="63506" name="Rectangle 17">
              <a:extLst>
                <a:ext uri="{FF2B5EF4-FFF2-40B4-BE49-F238E27FC236}">
                  <a16:creationId xmlns:a16="http://schemas.microsoft.com/office/drawing/2014/main" id="{56113881-D1DB-43B5-82B7-04C576E10925}"/>
                </a:ext>
              </a:extLst>
            </p:cNvPr>
            <p:cNvSpPr>
              <a:spLocks noChangeArrowheads="1"/>
            </p:cNvSpPr>
            <p:nvPr/>
          </p:nvSpPr>
          <p:spPr bwMode="auto">
            <a:xfrm>
              <a:off x="5178914" y="1241788"/>
              <a:ext cx="272605" cy="304800"/>
            </a:xfrm>
            <a:prstGeom prst="rect">
              <a:avLst/>
            </a:prstGeom>
            <a:solidFill>
              <a:schemeClr val="bg1"/>
            </a:solidFill>
            <a:ln w="28575" algn="ctr">
              <a:solidFill>
                <a:schemeClr val="tx1"/>
              </a:solidFill>
              <a:round/>
              <a:headEnd/>
              <a:tailEnd type="triangle" w="med" len="med"/>
            </a:ln>
          </p:spPr>
          <p:txBody>
            <a:bodyPr wrap="none" anchor="ctr" anchorCtr="1"/>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lang="en-US" altLang="zh-CN" sz="1600">
                  <a:latin typeface="Calibri" panose="020F0502020204030204" pitchFamily="34" charset="0"/>
                </a:rPr>
                <a:t>v</a:t>
              </a:r>
            </a:p>
          </p:txBody>
        </p:sp>
        <p:sp>
          <p:nvSpPr>
            <p:cNvPr id="63507" name="TextBox 20">
              <a:extLst>
                <a:ext uri="{FF2B5EF4-FFF2-40B4-BE49-F238E27FC236}">
                  <a16:creationId xmlns:a16="http://schemas.microsoft.com/office/drawing/2014/main" id="{59CE8549-2EC6-44DA-918E-D22DB53A7FB6}"/>
                </a:ext>
              </a:extLst>
            </p:cNvPr>
            <p:cNvSpPr txBox="1">
              <a:spLocks noChangeArrowheads="1"/>
            </p:cNvSpPr>
            <p:nvPr/>
          </p:nvSpPr>
          <p:spPr bwMode="auto">
            <a:xfrm>
              <a:off x="4640515" y="1814224"/>
              <a:ext cx="952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800">
                  <a:latin typeface="Calibri" panose="020F0502020204030204" pitchFamily="34" charset="0"/>
                </a:rPr>
                <a:t>valid bit</a:t>
              </a:r>
            </a:p>
          </p:txBody>
        </p:sp>
        <p:cxnSp>
          <p:nvCxnSpPr>
            <p:cNvPr id="63508" name="Straight Connector 21">
              <a:extLst>
                <a:ext uri="{FF2B5EF4-FFF2-40B4-BE49-F238E27FC236}">
                  <a16:creationId xmlns:a16="http://schemas.microsoft.com/office/drawing/2014/main" id="{2DC71C5F-B3F8-414E-8298-9CA8BB57824F}"/>
                </a:ext>
              </a:extLst>
            </p:cNvPr>
            <p:cNvCxnSpPr>
              <a:cxnSpLocks noChangeShapeType="1"/>
            </p:cNvCxnSpPr>
            <p:nvPr/>
          </p:nvCxnSpPr>
          <p:spPr bwMode="auto">
            <a:xfrm rot="5400000" flipH="1" flipV="1">
              <a:off x="5176878" y="1706187"/>
              <a:ext cx="304800" cy="1588"/>
            </a:xfrm>
            <a:prstGeom prst="line">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DB8249-4B9E-40B8-9C5D-27923AA64770}"/>
              </a:ext>
            </a:extLst>
          </p:cNvPr>
          <p:cNvSpPr>
            <a:spLocks noGrp="1"/>
          </p:cNvSpPr>
          <p:nvPr>
            <p:ph type="title"/>
          </p:nvPr>
        </p:nvSpPr>
        <p:spPr/>
        <p:txBody>
          <a:bodyPr/>
          <a:lstStyle/>
          <a:p>
            <a:pPr>
              <a:defRPr/>
            </a:pPr>
            <a:r>
              <a:rPr lang="en-US" altLang="zh-CN"/>
              <a:t>Cache</a:t>
            </a:r>
            <a:r>
              <a:rPr lang="zh-CN" altLang="en-US"/>
              <a:t>写操作处理（</a:t>
            </a:r>
            <a:r>
              <a:rPr lang="en-US" altLang="zh-CN"/>
              <a:t>2</a:t>
            </a:r>
            <a:r>
              <a:rPr lang="zh-CN" altLang="en-US"/>
              <a:t>）</a:t>
            </a:r>
          </a:p>
        </p:txBody>
      </p:sp>
      <p:sp>
        <p:nvSpPr>
          <p:cNvPr id="65539" name="内容占位符 2">
            <a:extLst>
              <a:ext uri="{FF2B5EF4-FFF2-40B4-BE49-F238E27FC236}">
                <a16:creationId xmlns:a16="http://schemas.microsoft.com/office/drawing/2014/main" id="{3C322C02-F461-4867-AF1B-F894083A3E61}"/>
              </a:ext>
            </a:extLst>
          </p:cNvPr>
          <p:cNvSpPr>
            <a:spLocks noGrp="1" noChangeArrowheads="1"/>
          </p:cNvSpPr>
          <p:nvPr>
            <p:ph idx="1"/>
          </p:nvPr>
        </p:nvSpPr>
        <p:spPr/>
        <p:txBody>
          <a:bodyPr/>
          <a:lstStyle/>
          <a:p>
            <a:r>
              <a:rPr lang="zh-CN" altLang="en-US" sz="2800"/>
              <a:t>写缺失（</a:t>
            </a:r>
            <a:r>
              <a:rPr lang="en-US" altLang="zh-CN" sz="2800"/>
              <a:t>write miss</a:t>
            </a:r>
            <a:r>
              <a:rPr lang="zh-CN" altLang="en-US" sz="2800"/>
              <a:t>）的情况下</a:t>
            </a:r>
            <a:endParaRPr lang="en-US" altLang="zh-CN" sz="2800"/>
          </a:p>
          <a:p>
            <a:pPr lvl="1"/>
            <a:r>
              <a:rPr lang="zh-CN" altLang="en-US" sz="2400"/>
              <a:t>写分配（</a:t>
            </a:r>
            <a:r>
              <a:rPr lang="en-US" altLang="zh-CN" sz="2400"/>
              <a:t>write-allocate</a:t>
            </a:r>
            <a:r>
              <a:rPr lang="zh-CN" altLang="en-US" sz="2400"/>
              <a:t>）</a:t>
            </a:r>
            <a:endParaRPr lang="en-US" altLang="zh-CN" sz="2400"/>
          </a:p>
          <a:p>
            <a:pPr lvl="1">
              <a:buFont typeface="Wingdings" panose="05000000000000000000" pitchFamily="2" charset="2"/>
              <a:buNone/>
            </a:pPr>
            <a:r>
              <a:rPr lang="zh-CN" altLang="en-US" sz="2400"/>
              <a:t>加载相应的低一层中的块到</a:t>
            </a:r>
            <a:r>
              <a:rPr lang="en-US" altLang="zh-CN" sz="2400"/>
              <a:t>cache</a:t>
            </a:r>
            <a:r>
              <a:rPr lang="zh-CN" altLang="en-US" sz="2400"/>
              <a:t>，然后更新。试图利用写 的空间局部性。缺点是每次不命中都会导致一个块的传送</a:t>
            </a:r>
            <a:endParaRPr lang="en-US" altLang="zh-CN" sz="2400"/>
          </a:p>
          <a:p>
            <a:pPr lvl="1"/>
            <a:r>
              <a:rPr lang="zh-CN" altLang="en-US" sz="2400"/>
              <a:t>非写分配（</a:t>
            </a:r>
            <a:r>
              <a:rPr lang="en-US" altLang="zh-CN" sz="2400"/>
              <a:t>non-write-allocate</a:t>
            </a:r>
            <a:r>
              <a:rPr lang="zh-CN" altLang="en-US" sz="2400"/>
              <a:t>）</a:t>
            </a:r>
            <a:endParaRPr lang="en-US" altLang="zh-CN" sz="2400"/>
          </a:p>
          <a:p>
            <a:pPr lvl="1">
              <a:buFont typeface="Wingdings" panose="05000000000000000000" pitchFamily="2" charset="2"/>
              <a:buNone/>
            </a:pPr>
            <a:r>
              <a:rPr lang="zh-CN" altLang="en-US" sz="2400"/>
              <a:t>直接写到低一层中</a:t>
            </a:r>
            <a:endParaRPr lang="en-US" altLang="zh-CN" sz="2400"/>
          </a:p>
          <a:p>
            <a:r>
              <a:rPr lang="zh-CN" altLang="en-US" sz="2800"/>
              <a:t>典型搭配</a:t>
            </a:r>
            <a:endParaRPr lang="en-US" altLang="zh-CN">
              <a:ea typeface="华文新魏" panose="02010800040101010101" pitchFamily="2" charset="-122"/>
            </a:endParaRPr>
          </a:p>
          <a:p>
            <a:pPr lvl="1"/>
            <a:r>
              <a:rPr lang="en-US" altLang="zh-CN" sz="2400"/>
              <a:t>Write-through + No-write-allocate</a:t>
            </a:r>
          </a:p>
          <a:p>
            <a:pPr lvl="1"/>
            <a:r>
              <a:rPr lang="en-US" altLang="zh-CN" sz="2400"/>
              <a:t>Write-back + Write-allocate</a:t>
            </a:r>
          </a:p>
        </p:txBody>
      </p:sp>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a:extLst>
              <a:ext uri="{FF2B5EF4-FFF2-40B4-BE49-F238E27FC236}">
                <a16:creationId xmlns:a16="http://schemas.microsoft.com/office/drawing/2014/main" id="{A336E5D3-3008-43A6-8E5D-895A188DF21A}"/>
              </a:ext>
            </a:extLst>
          </p:cNvPr>
          <p:cNvSpPr>
            <a:spLocks noGrp="1" noChangeArrowheads="1"/>
          </p:cNvSpPr>
          <p:nvPr>
            <p:ph type="title"/>
          </p:nvPr>
        </p:nvSpPr>
        <p:spPr/>
        <p:txBody>
          <a:bodyPr/>
          <a:lstStyle/>
          <a:p>
            <a:pPr eaLnBrk="1" hangingPunct="1">
              <a:defRPr/>
            </a:pPr>
            <a:r>
              <a:rPr lang="it-IT" altLang="zh-CN" dirty="0"/>
              <a:t>Intel Core i7 Cache Hierarchy</a:t>
            </a:r>
            <a:endParaRPr lang="en-US" dirty="0"/>
          </a:p>
        </p:txBody>
      </p:sp>
      <p:sp>
        <p:nvSpPr>
          <p:cNvPr id="71683" name="Rectangle 3">
            <a:extLst>
              <a:ext uri="{FF2B5EF4-FFF2-40B4-BE49-F238E27FC236}">
                <a16:creationId xmlns:a16="http://schemas.microsoft.com/office/drawing/2014/main" id="{B3B93D41-104C-4998-A860-08FCDFAD93A2}"/>
              </a:ext>
            </a:extLst>
          </p:cNvPr>
          <p:cNvSpPr>
            <a:spLocks noGrp="1" noChangeArrowheads="1"/>
          </p:cNvSpPr>
          <p:nvPr>
            <p:ph idx="1"/>
          </p:nvPr>
        </p:nvSpPr>
        <p:spPr>
          <a:xfrm>
            <a:off x="381000" y="1168400"/>
            <a:ext cx="8382000" cy="5232400"/>
          </a:xfrm>
        </p:spPr>
        <p:txBody>
          <a:bodyPr/>
          <a:lstStyle/>
          <a:p>
            <a:pPr marL="0" indent="0" eaLnBrk="1" hangingPunct="1">
              <a:buFont typeface="Wingdings 2" panose="05020102010507070707" pitchFamily="18" charset="2"/>
              <a:buNone/>
              <a:defRPr/>
            </a:pPr>
            <a:endParaRPr lang="en-US" altLang="zh-CN" dirty="0"/>
          </a:p>
          <a:p>
            <a:pPr eaLnBrk="1" hangingPunct="1">
              <a:defRPr/>
            </a:pPr>
            <a:endParaRPr lang="en-US" altLang="zh-CN" dirty="0"/>
          </a:p>
        </p:txBody>
      </p:sp>
      <p:sp>
        <p:nvSpPr>
          <p:cNvPr id="27" name="Rectangle 425">
            <a:extLst>
              <a:ext uri="{FF2B5EF4-FFF2-40B4-BE49-F238E27FC236}">
                <a16:creationId xmlns:a16="http://schemas.microsoft.com/office/drawing/2014/main" id="{AD5A5368-0386-4879-A132-C7666020018E}"/>
              </a:ext>
            </a:extLst>
          </p:cNvPr>
          <p:cNvSpPr>
            <a:spLocks noChangeArrowheads="1"/>
          </p:cNvSpPr>
          <p:nvPr/>
        </p:nvSpPr>
        <p:spPr bwMode="auto">
          <a:xfrm>
            <a:off x="228600" y="1355074"/>
            <a:ext cx="6172200" cy="3886200"/>
          </a:xfrm>
          <a:prstGeom prst="rect">
            <a:avLst/>
          </a:prstGeom>
          <a:solidFill>
            <a:srgbClr val="D5F1CF"/>
          </a:solidFill>
          <a:ln w="12700">
            <a:solidFill>
              <a:srgbClr val="000000"/>
            </a:solidFill>
            <a:prstDash val="solid"/>
            <a:miter lim="800000"/>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28" name="Rectangle 404">
            <a:extLst>
              <a:ext uri="{FF2B5EF4-FFF2-40B4-BE49-F238E27FC236}">
                <a16:creationId xmlns:a16="http://schemas.microsoft.com/office/drawing/2014/main" id="{EE5E5352-21B8-4875-A937-1E299882CEFF}"/>
              </a:ext>
            </a:extLst>
          </p:cNvPr>
          <p:cNvSpPr>
            <a:spLocks noChangeArrowheads="1"/>
          </p:cNvSpPr>
          <p:nvPr/>
        </p:nvSpPr>
        <p:spPr bwMode="auto">
          <a:xfrm>
            <a:off x="381000" y="1659874"/>
            <a:ext cx="2122488" cy="2438400"/>
          </a:xfrm>
          <a:prstGeom prst="rect">
            <a:avLst/>
          </a:prstGeom>
          <a:solidFill>
            <a:srgbClr val="F6F5BD"/>
          </a:solidFill>
          <a:ln w="12700">
            <a:solidFill>
              <a:srgbClr val="000000"/>
            </a:solidFill>
            <a:miter lim="800000"/>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29" name="Rectangle 413">
            <a:extLst>
              <a:ext uri="{FF2B5EF4-FFF2-40B4-BE49-F238E27FC236}">
                <a16:creationId xmlns:a16="http://schemas.microsoft.com/office/drawing/2014/main" id="{2DE93869-89A2-46F0-A265-1773E902AB07}"/>
              </a:ext>
            </a:extLst>
          </p:cNvPr>
          <p:cNvSpPr>
            <a:spLocks noChangeArrowheads="1"/>
          </p:cNvSpPr>
          <p:nvPr/>
        </p:nvSpPr>
        <p:spPr bwMode="auto">
          <a:xfrm>
            <a:off x="4114800" y="1659874"/>
            <a:ext cx="2122488" cy="2438400"/>
          </a:xfrm>
          <a:prstGeom prst="rect">
            <a:avLst/>
          </a:prstGeom>
          <a:solidFill>
            <a:srgbClr val="F6F5BD"/>
          </a:solidFill>
          <a:ln w="12700">
            <a:solidFill>
              <a:srgbClr val="000000"/>
            </a:solidFill>
            <a:miter lim="800000"/>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30" name="Rectangle 396">
            <a:extLst>
              <a:ext uri="{FF2B5EF4-FFF2-40B4-BE49-F238E27FC236}">
                <a16:creationId xmlns:a16="http://schemas.microsoft.com/office/drawing/2014/main" id="{715CDC93-6A5F-481B-8DF2-12B27BDB777E}"/>
              </a:ext>
            </a:extLst>
          </p:cNvPr>
          <p:cNvSpPr>
            <a:spLocks noChangeArrowheads="1"/>
          </p:cNvSpPr>
          <p:nvPr/>
        </p:nvSpPr>
        <p:spPr bwMode="auto">
          <a:xfrm>
            <a:off x="546100" y="1812274"/>
            <a:ext cx="977900" cy="304800"/>
          </a:xfrm>
          <a:prstGeom prst="rect">
            <a:avLst/>
          </a:prstGeom>
          <a:solidFill>
            <a:srgbClr val="FFFFFF"/>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800" b="1" kern="0" dirty="0" err="1">
                <a:solidFill>
                  <a:srgbClr val="000000"/>
                </a:solidFill>
                <a:latin typeface="Calibri" panose="020F0502020204030204" pitchFamily="34" charset="0"/>
                <a:ea typeface="+mn-ea"/>
              </a:rPr>
              <a:t>Regs</a:t>
            </a:r>
            <a:endParaRPr kumimoji="0" lang="en-US" sz="1800" b="1" kern="0" dirty="0">
              <a:solidFill>
                <a:srgbClr val="000000"/>
              </a:solidFill>
              <a:latin typeface="Calibri" panose="020F0502020204030204" pitchFamily="34" charset="0"/>
              <a:ea typeface="+mn-ea"/>
            </a:endParaRPr>
          </a:p>
        </p:txBody>
      </p:sp>
      <p:sp>
        <p:nvSpPr>
          <p:cNvPr id="31" name="Rectangle 397">
            <a:extLst>
              <a:ext uri="{FF2B5EF4-FFF2-40B4-BE49-F238E27FC236}">
                <a16:creationId xmlns:a16="http://schemas.microsoft.com/office/drawing/2014/main" id="{E80FA97A-862B-4468-925E-343BD796246A}"/>
              </a:ext>
            </a:extLst>
          </p:cNvPr>
          <p:cNvSpPr>
            <a:spLocks noChangeArrowheads="1"/>
          </p:cNvSpPr>
          <p:nvPr/>
        </p:nvSpPr>
        <p:spPr bwMode="auto">
          <a:xfrm>
            <a:off x="588963" y="2459974"/>
            <a:ext cx="782637" cy="571500"/>
          </a:xfrm>
          <a:prstGeom prst="rect">
            <a:avLst/>
          </a:prstGeom>
          <a:solidFill>
            <a:srgbClr val="F1C7C7"/>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800" b="1" kern="0" dirty="0">
                <a:solidFill>
                  <a:srgbClr val="000000"/>
                </a:solidFill>
                <a:latin typeface="Calibri" panose="020F0502020204030204" pitchFamily="34" charset="0"/>
                <a:ea typeface="+mn-ea"/>
              </a:rPr>
              <a:t>L1 </a:t>
            </a:r>
          </a:p>
          <a:p>
            <a:pPr algn="ctr" eaLnBrk="1" fontAlgn="auto" hangingPunct="1">
              <a:spcBef>
                <a:spcPts val="0"/>
              </a:spcBef>
              <a:spcAft>
                <a:spcPts val="0"/>
              </a:spcAft>
              <a:defRPr/>
            </a:pPr>
            <a:r>
              <a:rPr kumimoji="0" lang="en-US" sz="1800" b="1" kern="0" dirty="0">
                <a:solidFill>
                  <a:srgbClr val="000000"/>
                </a:solidFill>
                <a:latin typeface="Calibri" panose="020F0502020204030204" pitchFamily="34" charset="0"/>
                <a:ea typeface="+mn-ea"/>
              </a:rPr>
              <a:t>d-cache</a:t>
            </a:r>
          </a:p>
        </p:txBody>
      </p:sp>
      <p:sp>
        <p:nvSpPr>
          <p:cNvPr id="32" name="Rectangle 399">
            <a:extLst>
              <a:ext uri="{FF2B5EF4-FFF2-40B4-BE49-F238E27FC236}">
                <a16:creationId xmlns:a16="http://schemas.microsoft.com/office/drawing/2014/main" id="{ED12B736-3D86-43DE-9381-3DB2A675D0C0}"/>
              </a:ext>
            </a:extLst>
          </p:cNvPr>
          <p:cNvSpPr>
            <a:spLocks noChangeArrowheads="1"/>
          </p:cNvSpPr>
          <p:nvPr/>
        </p:nvSpPr>
        <p:spPr bwMode="auto">
          <a:xfrm>
            <a:off x="1524000" y="2459974"/>
            <a:ext cx="795338" cy="571500"/>
          </a:xfrm>
          <a:prstGeom prst="rect">
            <a:avLst/>
          </a:prstGeom>
          <a:solidFill>
            <a:srgbClr val="DEDFF5"/>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800" b="1" kern="0" dirty="0">
                <a:solidFill>
                  <a:srgbClr val="000000"/>
                </a:solidFill>
                <a:latin typeface="Calibri" panose="020F0502020204030204" pitchFamily="34" charset="0"/>
                <a:ea typeface="+mn-ea"/>
              </a:rPr>
              <a:t>L1 </a:t>
            </a:r>
          </a:p>
          <a:p>
            <a:pPr algn="ctr" eaLnBrk="1" fontAlgn="auto" hangingPunct="1">
              <a:spcBef>
                <a:spcPts val="0"/>
              </a:spcBef>
              <a:spcAft>
                <a:spcPts val="0"/>
              </a:spcAft>
              <a:defRPr/>
            </a:pPr>
            <a:r>
              <a:rPr kumimoji="0" lang="en-US" sz="1800" b="1" kern="0" dirty="0" err="1">
                <a:solidFill>
                  <a:srgbClr val="000000"/>
                </a:solidFill>
                <a:latin typeface="Calibri" panose="020F0502020204030204" pitchFamily="34" charset="0"/>
                <a:ea typeface="+mn-ea"/>
              </a:rPr>
              <a:t>i</a:t>
            </a:r>
            <a:r>
              <a:rPr kumimoji="0" lang="en-US" sz="1800" b="1" kern="0" dirty="0">
                <a:solidFill>
                  <a:srgbClr val="000000"/>
                </a:solidFill>
                <a:latin typeface="Calibri" panose="020F0502020204030204" pitchFamily="34" charset="0"/>
                <a:ea typeface="+mn-ea"/>
              </a:rPr>
              <a:t>-cache</a:t>
            </a:r>
          </a:p>
        </p:txBody>
      </p:sp>
      <p:sp>
        <p:nvSpPr>
          <p:cNvPr id="33" name="Rectangle 400">
            <a:extLst>
              <a:ext uri="{FF2B5EF4-FFF2-40B4-BE49-F238E27FC236}">
                <a16:creationId xmlns:a16="http://schemas.microsoft.com/office/drawing/2014/main" id="{943B176B-D23C-4752-9AF2-495D5763C025}"/>
              </a:ext>
            </a:extLst>
          </p:cNvPr>
          <p:cNvSpPr>
            <a:spLocks noChangeArrowheads="1"/>
          </p:cNvSpPr>
          <p:nvPr/>
        </p:nvSpPr>
        <p:spPr bwMode="auto">
          <a:xfrm>
            <a:off x="609600" y="3374374"/>
            <a:ext cx="1709738" cy="571500"/>
          </a:xfrm>
          <a:prstGeom prst="rect">
            <a:avLst/>
          </a:prstGeom>
          <a:solidFill>
            <a:srgbClr val="F1C7C7"/>
          </a:solidFill>
          <a:ln w="12700">
            <a:solidFill>
              <a:srgbClr val="000000"/>
            </a:solidFill>
            <a:miter lim="800000"/>
            <a:headEnd/>
            <a:tailEnd/>
          </a:ln>
          <a:effectLst/>
        </p:spPr>
        <p:txBody>
          <a:bodyPr anchor="ctr"/>
          <a:lstStyle/>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L2 unified cache</a:t>
            </a:r>
          </a:p>
        </p:txBody>
      </p:sp>
      <p:sp>
        <p:nvSpPr>
          <p:cNvPr id="34" name="Line 401">
            <a:extLst>
              <a:ext uri="{FF2B5EF4-FFF2-40B4-BE49-F238E27FC236}">
                <a16:creationId xmlns:a16="http://schemas.microsoft.com/office/drawing/2014/main" id="{060E9BB6-1C9E-4013-A9B1-E08D82AE0782}"/>
              </a:ext>
            </a:extLst>
          </p:cNvPr>
          <p:cNvSpPr>
            <a:spLocks noChangeShapeType="1"/>
          </p:cNvSpPr>
          <p:nvPr/>
        </p:nvSpPr>
        <p:spPr bwMode="auto">
          <a:xfrm>
            <a:off x="1066800" y="2117074"/>
            <a:ext cx="0" cy="3429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35" name="Line 402">
            <a:extLst>
              <a:ext uri="{FF2B5EF4-FFF2-40B4-BE49-F238E27FC236}">
                <a16:creationId xmlns:a16="http://schemas.microsoft.com/office/drawing/2014/main" id="{95860D14-359A-4D76-B73F-23A0225F6D1F}"/>
              </a:ext>
            </a:extLst>
          </p:cNvPr>
          <p:cNvSpPr>
            <a:spLocks noChangeShapeType="1"/>
          </p:cNvSpPr>
          <p:nvPr/>
        </p:nvSpPr>
        <p:spPr bwMode="auto">
          <a:xfrm>
            <a:off x="1066800" y="3031474"/>
            <a:ext cx="0" cy="3429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36" name="Line 403">
            <a:extLst>
              <a:ext uri="{FF2B5EF4-FFF2-40B4-BE49-F238E27FC236}">
                <a16:creationId xmlns:a16="http://schemas.microsoft.com/office/drawing/2014/main" id="{59BE541E-93AC-404B-92DF-F8DF519A5E5B}"/>
              </a:ext>
            </a:extLst>
          </p:cNvPr>
          <p:cNvSpPr>
            <a:spLocks noChangeShapeType="1"/>
          </p:cNvSpPr>
          <p:nvPr/>
        </p:nvSpPr>
        <p:spPr bwMode="auto">
          <a:xfrm>
            <a:off x="1905000" y="3031474"/>
            <a:ext cx="0" cy="3429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37" name="Text Box 405">
            <a:extLst>
              <a:ext uri="{FF2B5EF4-FFF2-40B4-BE49-F238E27FC236}">
                <a16:creationId xmlns:a16="http://schemas.microsoft.com/office/drawing/2014/main" id="{F1DDE31E-404B-4741-BC73-0E762BD41EC4}"/>
              </a:ext>
            </a:extLst>
          </p:cNvPr>
          <p:cNvSpPr txBox="1">
            <a:spLocks noChangeArrowheads="1"/>
          </p:cNvSpPr>
          <p:nvPr/>
        </p:nvSpPr>
        <p:spPr bwMode="auto">
          <a:xfrm>
            <a:off x="304800" y="1355074"/>
            <a:ext cx="793750" cy="369887"/>
          </a:xfrm>
          <a:prstGeom prst="rect">
            <a:avLst/>
          </a:prstGeom>
          <a:noFill/>
          <a:ln w="12700">
            <a:noFill/>
            <a:miter lim="800000"/>
            <a:headEnd/>
            <a:tailEnd/>
          </a:ln>
          <a:effectLst/>
        </p:spPr>
        <p:txBody>
          <a:bodyPr wrap="none">
            <a:spAutoFit/>
          </a:bodyPr>
          <a:lstStyle/>
          <a:p>
            <a:pPr>
              <a:defRPr/>
            </a:pPr>
            <a:r>
              <a:rPr kumimoji="0" lang="en-US" sz="1800" b="1">
                <a:solidFill>
                  <a:srgbClr val="000000"/>
                </a:solidFill>
                <a:latin typeface="Calibri" panose="020F0502020204030204" pitchFamily="34" charset="0"/>
                <a:ea typeface="+mn-ea"/>
              </a:rPr>
              <a:t>Core 0</a:t>
            </a:r>
          </a:p>
        </p:txBody>
      </p:sp>
      <p:sp>
        <p:nvSpPr>
          <p:cNvPr id="38" name="Rectangle 406">
            <a:extLst>
              <a:ext uri="{FF2B5EF4-FFF2-40B4-BE49-F238E27FC236}">
                <a16:creationId xmlns:a16="http://schemas.microsoft.com/office/drawing/2014/main" id="{F26DE5DE-7D7B-406D-877E-17B058E5EC4E}"/>
              </a:ext>
            </a:extLst>
          </p:cNvPr>
          <p:cNvSpPr>
            <a:spLocks noChangeArrowheads="1"/>
          </p:cNvSpPr>
          <p:nvPr/>
        </p:nvSpPr>
        <p:spPr bwMode="auto">
          <a:xfrm>
            <a:off x="4279900" y="1812274"/>
            <a:ext cx="977900" cy="304800"/>
          </a:xfrm>
          <a:prstGeom prst="rect">
            <a:avLst/>
          </a:prstGeom>
          <a:solidFill>
            <a:srgbClr val="FFFFFF"/>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Regs</a:t>
            </a:r>
          </a:p>
        </p:txBody>
      </p:sp>
      <p:sp>
        <p:nvSpPr>
          <p:cNvPr id="39" name="Rectangle 407">
            <a:extLst>
              <a:ext uri="{FF2B5EF4-FFF2-40B4-BE49-F238E27FC236}">
                <a16:creationId xmlns:a16="http://schemas.microsoft.com/office/drawing/2014/main" id="{0CBAEA54-2248-4082-9C0F-298A24354323}"/>
              </a:ext>
            </a:extLst>
          </p:cNvPr>
          <p:cNvSpPr>
            <a:spLocks noChangeArrowheads="1"/>
          </p:cNvSpPr>
          <p:nvPr/>
        </p:nvSpPr>
        <p:spPr bwMode="auto">
          <a:xfrm>
            <a:off x="4322763" y="2459974"/>
            <a:ext cx="782637" cy="571500"/>
          </a:xfrm>
          <a:prstGeom prst="rect">
            <a:avLst/>
          </a:prstGeom>
          <a:solidFill>
            <a:srgbClr val="F1C7C7"/>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800" b="1" kern="0" dirty="0">
                <a:solidFill>
                  <a:srgbClr val="000000"/>
                </a:solidFill>
                <a:latin typeface="Calibri" panose="020F0502020204030204" pitchFamily="34" charset="0"/>
                <a:ea typeface="+mn-ea"/>
              </a:rPr>
              <a:t>L1 </a:t>
            </a:r>
          </a:p>
          <a:p>
            <a:pPr algn="ctr" eaLnBrk="1" fontAlgn="auto" hangingPunct="1">
              <a:spcBef>
                <a:spcPts val="0"/>
              </a:spcBef>
              <a:spcAft>
                <a:spcPts val="0"/>
              </a:spcAft>
              <a:defRPr/>
            </a:pPr>
            <a:r>
              <a:rPr kumimoji="0" lang="en-US" sz="1800" b="1" kern="0" dirty="0" err="1">
                <a:solidFill>
                  <a:srgbClr val="000000"/>
                </a:solidFill>
                <a:latin typeface="Calibri" panose="020F0502020204030204" pitchFamily="34" charset="0"/>
                <a:ea typeface="+mn-ea"/>
              </a:rPr>
              <a:t>d</a:t>
            </a:r>
            <a:r>
              <a:rPr kumimoji="0" lang="en-US" sz="1800" b="1" kern="0" dirty="0">
                <a:solidFill>
                  <a:srgbClr val="000000"/>
                </a:solidFill>
                <a:latin typeface="Calibri" panose="020F0502020204030204" pitchFamily="34" charset="0"/>
                <a:ea typeface="+mn-ea"/>
              </a:rPr>
              <a:t>-cache</a:t>
            </a:r>
          </a:p>
        </p:txBody>
      </p:sp>
      <p:sp>
        <p:nvSpPr>
          <p:cNvPr id="40" name="Rectangle 408">
            <a:extLst>
              <a:ext uri="{FF2B5EF4-FFF2-40B4-BE49-F238E27FC236}">
                <a16:creationId xmlns:a16="http://schemas.microsoft.com/office/drawing/2014/main" id="{A5D42D62-8218-4FB6-8D85-D7A44B6751DD}"/>
              </a:ext>
            </a:extLst>
          </p:cNvPr>
          <p:cNvSpPr>
            <a:spLocks noChangeArrowheads="1"/>
          </p:cNvSpPr>
          <p:nvPr/>
        </p:nvSpPr>
        <p:spPr bwMode="auto">
          <a:xfrm>
            <a:off x="5257800" y="2459974"/>
            <a:ext cx="795338" cy="571500"/>
          </a:xfrm>
          <a:prstGeom prst="rect">
            <a:avLst/>
          </a:prstGeom>
          <a:solidFill>
            <a:srgbClr val="DEDFF5"/>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L1 </a:t>
            </a:r>
          </a:p>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i-cache</a:t>
            </a:r>
          </a:p>
        </p:txBody>
      </p:sp>
      <p:sp>
        <p:nvSpPr>
          <p:cNvPr id="41" name="Rectangle 409">
            <a:extLst>
              <a:ext uri="{FF2B5EF4-FFF2-40B4-BE49-F238E27FC236}">
                <a16:creationId xmlns:a16="http://schemas.microsoft.com/office/drawing/2014/main" id="{6677B226-2FB7-41BB-BA10-29DC6D55F019}"/>
              </a:ext>
            </a:extLst>
          </p:cNvPr>
          <p:cNvSpPr>
            <a:spLocks noChangeArrowheads="1"/>
          </p:cNvSpPr>
          <p:nvPr/>
        </p:nvSpPr>
        <p:spPr bwMode="auto">
          <a:xfrm>
            <a:off x="4343400" y="3374374"/>
            <a:ext cx="1709738" cy="571500"/>
          </a:xfrm>
          <a:prstGeom prst="rect">
            <a:avLst/>
          </a:prstGeom>
          <a:solidFill>
            <a:srgbClr val="F1C7C7"/>
          </a:solidFill>
          <a:ln w="12700">
            <a:solidFill>
              <a:srgbClr val="000000"/>
            </a:solidFill>
            <a:miter lim="800000"/>
            <a:headEnd/>
            <a:tailEnd/>
          </a:ln>
          <a:effectLst/>
        </p:spPr>
        <p:txBody>
          <a:bodyPr anchor="ctr"/>
          <a:lstStyle/>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L2 unified cache</a:t>
            </a:r>
          </a:p>
        </p:txBody>
      </p:sp>
      <p:sp>
        <p:nvSpPr>
          <p:cNvPr id="42" name="Line 410">
            <a:extLst>
              <a:ext uri="{FF2B5EF4-FFF2-40B4-BE49-F238E27FC236}">
                <a16:creationId xmlns:a16="http://schemas.microsoft.com/office/drawing/2014/main" id="{C006D191-F129-4033-B6BE-FE745AA2480B}"/>
              </a:ext>
            </a:extLst>
          </p:cNvPr>
          <p:cNvSpPr>
            <a:spLocks noChangeShapeType="1"/>
          </p:cNvSpPr>
          <p:nvPr/>
        </p:nvSpPr>
        <p:spPr bwMode="auto">
          <a:xfrm>
            <a:off x="4800600" y="2117074"/>
            <a:ext cx="0" cy="3429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43" name="Line 411">
            <a:extLst>
              <a:ext uri="{FF2B5EF4-FFF2-40B4-BE49-F238E27FC236}">
                <a16:creationId xmlns:a16="http://schemas.microsoft.com/office/drawing/2014/main" id="{A625DB88-FFAA-44E0-95D9-77AB1843B645}"/>
              </a:ext>
            </a:extLst>
          </p:cNvPr>
          <p:cNvSpPr>
            <a:spLocks noChangeShapeType="1"/>
          </p:cNvSpPr>
          <p:nvPr/>
        </p:nvSpPr>
        <p:spPr bwMode="auto">
          <a:xfrm>
            <a:off x="4800600" y="3031474"/>
            <a:ext cx="0" cy="3429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44" name="Line 412">
            <a:extLst>
              <a:ext uri="{FF2B5EF4-FFF2-40B4-BE49-F238E27FC236}">
                <a16:creationId xmlns:a16="http://schemas.microsoft.com/office/drawing/2014/main" id="{B8BC4BD4-1F7C-4458-AA1F-3FA9EAB8A440}"/>
              </a:ext>
            </a:extLst>
          </p:cNvPr>
          <p:cNvSpPr>
            <a:spLocks noChangeShapeType="1"/>
          </p:cNvSpPr>
          <p:nvPr/>
        </p:nvSpPr>
        <p:spPr bwMode="auto">
          <a:xfrm>
            <a:off x="5638800" y="3031474"/>
            <a:ext cx="0" cy="3429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45" name="Text Box 414">
            <a:extLst>
              <a:ext uri="{FF2B5EF4-FFF2-40B4-BE49-F238E27FC236}">
                <a16:creationId xmlns:a16="http://schemas.microsoft.com/office/drawing/2014/main" id="{96BD2982-CDD1-46EE-9614-B6AC42472961}"/>
              </a:ext>
            </a:extLst>
          </p:cNvPr>
          <p:cNvSpPr txBox="1">
            <a:spLocks noChangeArrowheads="1"/>
          </p:cNvSpPr>
          <p:nvPr/>
        </p:nvSpPr>
        <p:spPr bwMode="auto">
          <a:xfrm>
            <a:off x="4038600" y="1355074"/>
            <a:ext cx="793750" cy="369887"/>
          </a:xfrm>
          <a:prstGeom prst="rect">
            <a:avLst/>
          </a:prstGeom>
          <a:noFill/>
          <a:ln w="12700">
            <a:noFill/>
            <a:miter lim="800000"/>
            <a:headEnd/>
            <a:tailEnd/>
          </a:ln>
          <a:effectLst/>
        </p:spPr>
        <p:txBody>
          <a:bodyPr wrap="none">
            <a:spAutoFit/>
          </a:bodyPr>
          <a:lstStyle/>
          <a:p>
            <a:pPr>
              <a:defRPr/>
            </a:pPr>
            <a:r>
              <a:rPr kumimoji="0" lang="en-US" sz="1800" b="1">
                <a:solidFill>
                  <a:srgbClr val="000000"/>
                </a:solidFill>
                <a:latin typeface="Calibri" panose="020F0502020204030204" pitchFamily="34" charset="0"/>
                <a:ea typeface="+mn-ea"/>
              </a:rPr>
              <a:t>Core 3</a:t>
            </a:r>
          </a:p>
        </p:txBody>
      </p:sp>
      <p:sp>
        <p:nvSpPr>
          <p:cNvPr id="46" name="Text Box 415">
            <a:extLst>
              <a:ext uri="{FF2B5EF4-FFF2-40B4-BE49-F238E27FC236}">
                <a16:creationId xmlns:a16="http://schemas.microsoft.com/office/drawing/2014/main" id="{B6A091E2-60CB-403E-80EC-A3D1F6901BEE}"/>
              </a:ext>
            </a:extLst>
          </p:cNvPr>
          <p:cNvSpPr txBox="1">
            <a:spLocks noChangeArrowheads="1"/>
          </p:cNvSpPr>
          <p:nvPr/>
        </p:nvSpPr>
        <p:spPr bwMode="auto">
          <a:xfrm>
            <a:off x="2971800" y="2661586"/>
            <a:ext cx="723900" cy="647700"/>
          </a:xfrm>
          <a:prstGeom prst="rect">
            <a:avLst/>
          </a:prstGeom>
          <a:noFill/>
          <a:ln w="12700">
            <a:noFill/>
            <a:miter lim="800000"/>
            <a:headEnd/>
            <a:tailEnd/>
          </a:ln>
          <a:effectLst/>
        </p:spPr>
        <p:txBody>
          <a:bodyPr>
            <a:spAutoFit/>
          </a:bodyPr>
          <a:lstStyle/>
          <a:p>
            <a:pPr algn="ctr">
              <a:defRPr/>
            </a:pPr>
            <a:r>
              <a:rPr kumimoji="0" lang="en-US" sz="3600" b="1" dirty="0">
                <a:solidFill>
                  <a:srgbClr val="000000"/>
                </a:solidFill>
                <a:latin typeface="Calibri" panose="020F0502020204030204" pitchFamily="34" charset="0"/>
                <a:ea typeface="+mn-ea"/>
              </a:rPr>
              <a:t>…</a:t>
            </a:r>
          </a:p>
        </p:txBody>
      </p:sp>
      <p:sp>
        <p:nvSpPr>
          <p:cNvPr id="47" name="Line 417">
            <a:extLst>
              <a:ext uri="{FF2B5EF4-FFF2-40B4-BE49-F238E27FC236}">
                <a16:creationId xmlns:a16="http://schemas.microsoft.com/office/drawing/2014/main" id="{36C25F53-878F-4EF9-863A-BCEDFF282ACD}"/>
              </a:ext>
            </a:extLst>
          </p:cNvPr>
          <p:cNvSpPr>
            <a:spLocks noChangeShapeType="1"/>
          </p:cNvSpPr>
          <p:nvPr/>
        </p:nvSpPr>
        <p:spPr bwMode="auto">
          <a:xfrm>
            <a:off x="1447800" y="3945874"/>
            <a:ext cx="0" cy="5334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48" name="Line 418">
            <a:extLst>
              <a:ext uri="{FF2B5EF4-FFF2-40B4-BE49-F238E27FC236}">
                <a16:creationId xmlns:a16="http://schemas.microsoft.com/office/drawing/2014/main" id="{73B5CB81-8D26-47FB-AAD4-D9DC16122D56}"/>
              </a:ext>
            </a:extLst>
          </p:cNvPr>
          <p:cNvSpPr>
            <a:spLocks noChangeShapeType="1"/>
          </p:cNvSpPr>
          <p:nvPr/>
        </p:nvSpPr>
        <p:spPr bwMode="auto">
          <a:xfrm>
            <a:off x="5181600" y="3945874"/>
            <a:ext cx="0" cy="5334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49" name="Rectangle 419">
            <a:extLst>
              <a:ext uri="{FF2B5EF4-FFF2-40B4-BE49-F238E27FC236}">
                <a16:creationId xmlns:a16="http://schemas.microsoft.com/office/drawing/2014/main" id="{B3749C90-7321-4AEC-8A98-64E25BFBC3EB}"/>
              </a:ext>
            </a:extLst>
          </p:cNvPr>
          <p:cNvSpPr>
            <a:spLocks noChangeArrowheads="1"/>
          </p:cNvSpPr>
          <p:nvPr/>
        </p:nvSpPr>
        <p:spPr bwMode="auto">
          <a:xfrm>
            <a:off x="1098550" y="4479274"/>
            <a:ext cx="4387850" cy="571500"/>
          </a:xfrm>
          <a:prstGeom prst="rect">
            <a:avLst/>
          </a:prstGeom>
          <a:solidFill>
            <a:srgbClr val="F1C7C7"/>
          </a:solidFill>
          <a:ln w="12700">
            <a:solidFill>
              <a:srgbClr val="000000"/>
            </a:solidFill>
            <a:miter lim="800000"/>
            <a:headEnd/>
            <a:tailEnd/>
          </a:ln>
          <a:effectLst/>
        </p:spPr>
        <p:txBody>
          <a:bodyPr anchor="ctr"/>
          <a:lstStyle/>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L3 unified cache</a:t>
            </a:r>
          </a:p>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(shared by all cores)</a:t>
            </a:r>
          </a:p>
        </p:txBody>
      </p:sp>
      <p:sp>
        <p:nvSpPr>
          <p:cNvPr id="50" name="Rectangle 420">
            <a:extLst>
              <a:ext uri="{FF2B5EF4-FFF2-40B4-BE49-F238E27FC236}">
                <a16:creationId xmlns:a16="http://schemas.microsoft.com/office/drawing/2014/main" id="{C68CBCDE-06F2-4559-BE57-DBCCC3D3FDDA}"/>
              </a:ext>
            </a:extLst>
          </p:cNvPr>
          <p:cNvSpPr>
            <a:spLocks noChangeArrowheads="1"/>
          </p:cNvSpPr>
          <p:nvPr/>
        </p:nvSpPr>
        <p:spPr bwMode="auto">
          <a:xfrm>
            <a:off x="228600" y="5736574"/>
            <a:ext cx="6172200" cy="571500"/>
          </a:xfrm>
          <a:prstGeom prst="rect">
            <a:avLst/>
          </a:prstGeom>
          <a:solidFill>
            <a:srgbClr val="D5F1CF"/>
          </a:solidFill>
          <a:ln w="12700">
            <a:solidFill>
              <a:srgbClr val="000000"/>
            </a:solidFill>
            <a:miter lim="800000"/>
            <a:headEnd/>
            <a:tailEnd/>
          </a:ln>
          <a:effectLst/>
        </p:spPr>
        <p:txBody>
          <a:bodyPr anchor="ctr"/>
          <a:lstStyle/>
          <a:p>
            <a:pPr algn="ctr" eaLnBrk="1" fontAlgn="auto" hangingPunct="1">
              <a:spcBef>
                <a:spcPts val="0"/>
              </a:spcBef>
              <a:spcAft>
                <a:spcPts val="0"/>
              </a:spcAft>
              <a:defRPr/>
            </a:pPr>
            <a:r>
              <a:rPr kumimoji="0" lang="en-US" sz="1800" b="1" kern="0">
                <a:solidFill>
                  <a:srgbClr val="000000"/>
                </a:solidFill>
                <a:latin typeface="Calibri" panose="020F0502020204030204" pitchFamily="34" charset="0"/>
                <a:ea typeface="+mn-ea"/>
              </a:rPr>
              <a:t>Main memory</a:t>
            </a:r>
          </a:p>
        </p:txBody>
      </p:sp>
      <p:sp>
        <p:nvSpPr>
          <p:cNvPr id="51" name="Line 421">
            <a:extLst>
              <a:ext uri="{FF2B5EF4-FFF2-40B4-BE49-F238E27FC236}">
                <a16:creationId xmlns:a16="http://schemas.microsoft.com/office/drawing/2014/main" id="{F00D6975-52EB-47C4-BC90-969C5E0B1BB8}"/>
              </a:ext>
            </a:extLst>
          </p:cNvPr>
          <p:cNvSpPr>
            <a:spLocks noChangeShapeType="1"/>
          </p:cNvSpPr>
          <p:nvPr/>
        </p:nvSpPr>
        <p:spPr bwMode="auto">
          <a:xfrm>
            <a:off x="3371850" y="5050774"/>
            <a:ext cx="0" cy="685800"/>
          </a:xfrm>
          <a:prstGeom prst="line">
            <a:avLst/>
          </a:prstGeom>
          <a:noFill/>
          <a:ln w="12700">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panose="020F0502020204030204" pitchFamily="34" charset="0"/>
              <a:ea typeface="+mn-ea"/>
            </a:endParaRPr>
          </a:p>
        </p:txBody>
      </p:sp>
      <p:sp>
        <p:nvSpPr>
          <p:cNvPr id="52" name="Text Box 426">
            <a:extLst>
              <a:ext uri="{FF2B5EF4-FFF2-40B4-BE49-F238E27FC236}">
                <a16:creationId xmlns:a16="http://schemas.microsoft.com/office/drawing/2014/main" id="{0ECCE0D4-F9F3-47DE-8171-ABCAE2C80B3B}"/>
              </a:ext>
            </a:extLst>
          </p:cNvPr>
          <p:cNvSpPr txBox="1">
            <a:spLocks noChangeArrowheads="1"/>
          </p:cNvSpPr>
          <p:nvPr/>
        </p:nvSpPr>
        <p:spPr bwMode="auto">
          <a:xfrm>
            <a:off x="152400" y="974074"/>
            <a:ext cx="1939925" cy="369887"/>
          </a:xfrm>
          <a:prstGeom prst="rect">
            <a:avLst/>
          </a:prstGeom>
          <a:noFill/>
          <a:ln w="12700">
            <a:noFill/>
            <a:miter lim="800000"/>
            <a:headEnd/>
            <a:tailEnd/>
          </a:ln>
          <a:effectLst/>
        </p:spPr>
        <p:txBody>
          <a:bodyPr wrap="none">
            <a:spAutoFit/>
          </a:bodyPr>
          <a:lstStyle/>
          <a:p>
            <a:pPr>
              <a:defRPr/>
            </a:pPr>
            <a:r>
              <a:rPr kumimoji="0" lang="en-US" sz="1800" b="1" dirty="0">
                <a:solidFill>
                  <a:srgbClr val="000000"/>
                </a:solidFill>
                <a:latin typeface="Calibri" panose="020F0502020204030204" pitchFamily="34" charset="0"/>
                <a:ea typeface="+mn-ea"/>
              </a:rPr>
              <a:t>Processor package</a:t>
            </a:r>
          </a:p>
        </p:txBody>
      </p:sp>
      <p:sp>
        <p:nvSpPr>
          <p:cNvPr id="53" name="TextBox 29">
            <a:extLst>
              <a:ext uri="{FF2B5EF4-FFF2-40B4-BE49-F238E27FC236}">
                <a16:creationId xmlns:a16="http://schemas.microsoft.com/office/drawing/2014/main" id="{65B570DA-458D-4761-A374-084D07C69D38}"/>
              </a:ext>
            </a:extLst>
          </p:cNvPr>
          <p:cNvSpPr txBox="1"/>
          <p:nvPr/>
        </p:nvSpPr>
        <p:spPr>
          <a:xfrm>
            <a:off x="6553200" y="1284288"/>
            <a:ext cx="2514600" cy="3970337"/>
          </a:xfrm>
          <a:prstGeom prst="rect">
            <a:avLst/>
          </a:prstGeom>
          <a:noFill/>
        </p:spPr>
        <p:txBody>
          <a:bodyPr>
            <a:spAutoFit/>
          </a:bodyPr>
          <a:lstStyle/>
          <a:p>
            <a:pPr algn="l">
              <a:defRPr/>
            </a:pPr>
            <a:r>
              <a:rPr kumimoji="0" lang="en-US" sz="1800" b="1" dirty="0">
                <a:solidFill>
                  <a:srgbClr val="000000"/>
                </a:solidFill>
                <a:latin typeface="Calibri" panose="020F0502020204030204" pitchFamily="34" charset="0"/>
                <a:ea typeface="+mn-ea"/>
              </a:rPr>
              <a:t>L1 </a:t>
            </a:r>
            <a:r>
              <a:rPr kumimoji="0" lang="en-US" sz="1800" b="1" dirty="0" err="1">
                <a:solidFill>
                  <a:srgbClr val="000000"/>
                </a:solidFill>
                <a:latin typeface="Calibri" pitchFamily="34" charset="0"/>
                <a:ea typeface="+mn-ea"/>
              </a:rPr>
              <a:t>i</a:t>
            </a:r>
            <a:r>
              <a:rPr kumimoji="0" lang="en-US" sz="1800" b="1" dirty="0">
                <a:solidFill>
                  <a:srgbClr val="000000"/>
                </a:solidFill>
                <a:latin typeface="Calibri" pitchFamily="34" charset="0"/>
                <a:ea typeface="+mn-ea"/>
              </a:rPr>
              <a:t>-cache and </a:t>
            </a:r>
            <a:r>
              <a:rPr kumimoji="0" lang="en-US" sz="1800" b="1" dirty="0" err="1">
                <a:solidFill>
                  <a:srgbClr val="000000"/>
                </a:solidFill>
                <a:latin typeface="Calibri" pitchFamily="34" charset="0"/>
                <a:ea typeface="+mn-ea"/>
              </a:rPr>
              <a:t>d</a:t>
            </a:r>
            <a:r>
              <a:rPr kumimoji="0" lang="en-US" sz="1800" b="1" dirty="0">
                <a:solidFill>
                  <a:srgbClr val="000000"/>
                </a:solidFill>
                <a:latin typeface="Calibri" pitchFamily="34" charset="0"/>
                <a:ea typeface="+mn-ea"/>
              </a:rPr>
              <a:t>-cache:</a:t>
            </a:r>
          </a:p>
          <a:p>
            <a:pPr lvl="1" algn="l">
              <a:defRPr/>
            </a:pPr>
            <a:r>
              <a:rPr kumimoji="0" lang="en-US" sz="1800" dirty="0">
                <a:solidFill>
                  <a:srgbClr val="000000"/>
                </a:solidFill>
                <a:latin typeface="Calibri" pitchFamily="34" charset="0"/>
                <a:ea typeface="+mn-ea"/>
              </a:rPr>
              <a:t>32 KB,  8-way, </a:t>
            </a:r>
          </a:p>
          <a:p>
            <a:pPr lvl="1" algn="l">
              <a:defRPr/>
            </a:pPr>
            <a:r>
              <a:rPr kumimoji="0" lang="en-US" sz="1800" dirty="0">
                <a:solidFill>
                  <a:srgbClr val="000000"/>
                </a:solidFill>
                <a:latin typeface="Calibri" pitchFamily="34" charset="0"/>
                <a:ea typeface="+mn-ea"/>
              </a:rPr>
              <a:t>Access: 4 cycles</a:t>
            </a:r>
          </a:p>
          <a:p>
            <a:pPr algn="l">
              <a:defRPr/>
            </a:pPr>
            <a:endParaRPr kumimoji="0" lang="en-US" sz="1800" dirty="0">
              <a:solidFill>
                <a:srgbClr val="000000"/>
              </a:solidFill>
              <a:latin typeface="Calibri" pitchFamily="34" charset="0"/>
              <a:ea typeface="+mn-ea"/>
            </a:endParaRPr>
          </a:p>
          <a:p>
            <a:pPr algn="l">
              <a:defRPr/>
            </a:pPr>
            <a:r>
              <a:rPr kumimoji="0" lang="en-US" sz="1800" b="1" dirty="0">
                <a:solidFill>
                  <a:srgbClr val="000000"/>
                </a:solidFill>
                <a:latin typeface="Calibri" pitchFamily="34" charset="0"/>
                <a:ea typeface="+mn-ea"/>
              </a:rPr>
              <a:t>L2 unified cache:</a:t>
            </a:r>
          </a:p>
          <a:p>
            <a:pPr lvl="1" algn="l">
              <a:defRPr/>
            </a:pPr>
            <a:r>
              <a:rPr kumimoji="0" lang="en-US" sz="1800" dirty="0">
                <a:solidFill>
                  <a:srgbClr val="000000"/>
                </a:solidFill>
                <a:latin typeface="Calibri" pitchFamily="34" charset="0"/>
                <a:ea typeface="+mn-ea"/>
              </a:rPr>
              <a:t> 256 KB, 8-way, </a:t>
            </a:r>
          </a:p>
          <a:p>
            <a:pPr lvl="1" algn="l">
              <a:defRPr/>
            </a:pPr>
            <a:r>
              <a:rPr kumimoji="0" lang="en-US" sz="1800" dirty="0">
                <a:solidFill>
                  <a:srgbClr val="000000"/>
                </a:solidFill>
                <a:latin typeface="Calibri" pitchFamily="34" charset="0"/>
                <a:ea typeface="+mn-ea"/>
              </a:rPr>
              <a:t>Access: 10 cycles</a:t>
            </a:r>
          </a:p>
          <a:p>
            <a:pPr lvl="1" algn="l">
              <a:defRPr/>
            </a:pPr>
            <a:endParaRPr kumimoji="0" lang="en-US" sz="1800" dirty="0">
              <a:solidFill>
                <a:srgbClr val="000000"/>
              </a:solidFill>
              <a:latin typeface="Calibri" pitchFamily="34" charset="0"/>
              <a:ea typeface="+mn-ea"/>
            </a:endParaRPr>
          </a:p>
          <a:p>
            <a:pPr algn="l">
              <a:defRPr/>
            </a:pPr>
            <a:r>
              <a:rPr kumimoji="0" lang="en-US" sz="1800" b="1" dirty="0">
                <a:solidFill>
                  <a:srgbClr val="000000"/>
                </a:solidFill>
                <a:latin typeface="Calibri" pitchFamily="34" charset="0"/>
                <a:ea typeface="+mn-ea"/>
              </a:rPr>
              <a:t>L3 unified cache:</a:t>
            </a:r>
          </a:p>
          <a:p>
            <a:pPr lvl="1" algn="l">
              <a:defRPr/>
            </a:pPr>
            <a:r>
              <a:rPr kumimoji="0" lang="en-US" sz="1800" dirty="0">
                <a:solidFill>
                  <a:srgbClr val="000000"/>
                </a:solidFill>
                <a:latin typeface="Calibri" pitchFamily="34" charset="0"/>
                <a:ea typeface="+mn-ea"/>
              </a:rPr>
              <a:t>8 MB, 16-way,</a:t>
            </a:r>
          </a:p>
          <a:p>
            <a:pPr lvl="1" algn="l">
              <a:defRPr/>
            </a:pPr>
            <a:r>
              <a:rPr kumimoji="0" lang="en-US" sz="1800" dirty="0">
                <a:solidFill>
                  <a:srgbClr val="000000"/>
                </a:solidFill>
                <a:latin typeface="Calibri" pitchFamily="34" charset="0"/>
                <a:ea typeface="+mn-ea"/>
              </a:rPr>
              <a:t>Access: 40-75 cycles</a:t>
            </a:r>
          </a:p>
          <a:p>
            <a:pPr lvl="1" algn="l">
              <a:defRPr/>
            </a:pPr>
            <a:endParaRPr kumimoji="0" lang="en-US" sz="1800" dirty="0">
              <a:solidFill>
                <a:srgbClr val="000000"/>
              </a:solidFill>
              <a:latin typeface="Calibri" pitchFamily="34" charset="0"/>
              <a:ea typeface="+mn-ea"/>
            </a:endParaRPr>
          </a:p>
          <a:p>
            <a:pPr algn="l">
              <a:defRPr/>
            </a:pPr>
            <a:r>
              <a:rPr kumimoji="0" lang="en-US" sz="1800" b="1" dirty="0">
                <a:solidFill>
                  <a:srgbClr val="000000"/>
                </a:solidFill>
                <a:latin typeface="Calibri" pitchFamily="34" charset="0"/>
                <a:ea typeface="+mn-ea"/>
              </a:rPr>
              <a:t>Block size</a:t>
            </a:r>
            <a:r>
              <a:rPr kumimoji="0" lang="en-US" sz="1800" dirty="0">
                <a:solidFill>
                  <a:srgbClr val="000000"/>
                </a:solidFill>
                <a:latin typeface="Calibri" pitchFamily="34" charset="0"/>
                <a:ea typeface="+mn-ea"/>
              </a:rPr>
              <a:t>: 64 bytes for all caches.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F779D-4D83-4025-B866-AAD54C62684C}"/>
              </a:ext>
            </a:extLst>
          </p:cNvPr>
          <p:cNvSpPr>
            <a:spLocks noGrp="1"/>
          </p:cNvSpPr>
          <p:nvPr>
            <p:ph type="title"/>
          </p:nvPr>
        </p:nvSpPr>
        <p:spPr/>
        <p:txBody>
          <a:bodyPr/>
          <a:lstStyle/>
          <a:p>
            <a:pPr>
              <a:defRPr/>
            </a:pPr>
            <a:r>
              <a:rPr lang="zh-CN" altLang="it-IT" dirty="0"/>
              <a:t>例</a:t>
            </a:r>
            <a:r>
              <a:rPr lang="it-IT" altLang="zh-CN" dirty="0"/>
              <a:t>: Core i7 L1 Data Cache</a:t>
            </a:r>
            <a:endParaRPr lang="zh-CN" altLang="en-US" dirty="0"/>
          </a:p>
        </p:txBody>
      </p:sp>
      <p:sp>
        <p:nvSpPr>
          <p:cNvPr id="5" name="Rectangle 4">
            <a:extLst>
              <a:ext uri="{FF2B5EF4-FFF2-40B4-BE49-F238E27FC236}">
                <a16:creationId xmlns:a16="http://schemas.microsoft.com/office/drawing/2014/main" id="{38DE26B9-8C1D-4AE3-8AC6-67DB1D07F2D1}"/>
              </a:ext>
            </a:extLst>
          </p:cNvPr>
          <p:cNvSpPr/>
          <p:nvPr/>
        </p:nvSpPr>
        <p:spPr bwMode="auto">
          <a:xfrm>
            <a:off x="323850" y="3868738"/>
            <a:ext cx="2689225" cy="2439987"/>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2400" b="1" kern="0" dirty="0">
              <a:solidFill>
                <a:srgbClr val="000000"/>
              </a:solidFill>
              <a:latin typeface="Calibri" pitchFamily="34" charset="0"/>
              <a:ea typeface="+mn-ea"/>
            </a:endParaRPr>
          </a:p>
        </p:txBody>
      </p:sp>
      <p:sp>
        <p:nvSpPr>
          <p:cNvPr id="6" name="Rectangle 3">
            <a:extLst>
              <a:ext uri="{FF2B5EF4-FFF2-40B4-BE49-F238E27FC236}">
                <a16:creationId xmlns:a16="http://schemas.microsoft.com/office/drawing/2014/main" id="{345989E2-9D8C-4108-AE61-ABD184F59E62}"/>
              </a:ext>
            </a:extLst>
          </p:cNvPr>
          <p:cNvSpPr/>
          <p:nvPr/>
        </p:nvSpPr>
        <p:spPr bwMode="auto">
          <a:xfrm>
            <a:off x="3165475" y="4556125"/>
            <a:ext cx="5791200" cy="1752600"/>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2400" b="1" kern="0" dirty="0">
              <a:solidFill>
                <a:srgbClr val="000000"/>
              </a:solidFill>
              <a:latin typeface="Calibri" pitchFamily="34" charset="0"/>
              <a:ea typeface="+mn-ea"/>
            </a:endParaRPr>
          </a:p>
        </p:txBody>
      </p:sp>
      <p:sp>
        <p:nvSpPr>
          <p:cNvPr id="8" name="Rectangle 5">
            <a:extLst>
              <a:ext uri="{FF2B5EF4-FFF2-40B4-BE49-F238E27FC236}">
                <a16:creationId xmlns:a16="http://schemas.microsoft.com/office/drawing/2014/main" id="{045B1BD3-D9EB-41DE-9A8A-A5B663110F16}"/>
              </a:ext>
            </a:extLst>
          </p:cNvPr>
          <p:cNvSpPr/>
          <p:nvPr/>
        </p:nvSpPr>
        <p:spPr bwMode="auto">
          <a:xfrm>
            <a:off x="323850" y="944563"/>
            <a:ext cx="7335838" cy="2871787"/>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2400" b="1" kern="0" dirty="0">
              <a:solidFill>
                <a:srgbClr val="000000"/>
              </a:solidFill>
              <a:latin typeface="Calibri" pitchFamily="34" charset="0"/>
              <a:ea typeface="+mn-ea"/>
            </a:endParaRPr>
          </a:p>
        </p:txBody>
      </p:sp>
      <p:sp>
        <p:nvSpPr>
          <p:cNvPr id="9" name="TextBox 126">
            <a:extLst>
              <a:ext uri="{FF2B5EF4-FFF2-40B4-BE49-F238E27FC236}">
                <a16:creationId xmlns:a16="http://schemas.microsoft.com/office/drawing/2014/main" id="{710467FD-AFCC-4BC2-928E-4A500DBC6B7F}"/>
              </a:ext>
            </a:extLst>
          </p:cNvPr>
          <p:cNvSpPr txBox="1"/>
          <p:nvPr/>
        </p:nvSpPr>
        <p:spPr bwMode="auto">
          <a:xfrm>
            <a:off x="460375" y="1230313"/>
            <a:ext cx="1125538" cy="2032000"/>
          </a:xfrm>
          <a:prstGeom prst="rect">
            <a:avLst/>
          </a:prstGeom>
          <a:noFill/>
        </p:spPr>
        <p:txBody>
          <a:bodyPr wrap="none">
            <a:spAutoFit/>
          </a:bodyPr>
          <a:lstStyle/>
          <a:p>
            <a:pP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a:p>
            <a:pP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a:p>
            <a:pP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B =</a:t>
            </a: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S =    , s = </a:t>
            </a: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E =    , e = </a:t>
            </a: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C = </a:t>
            </a:r>
          </a:p>
        </p:txBody>
      </p:sp>
      <p:pic>
        <p:nvPicPr>
          <p:cNvPr id="69640" name="Picture 2">
            <a:extLst>
              <a:ext uri="{FF2B5EF4-FFF2-40B4-BE49-F238E27FC236}">
                <a16:creationId xmlns:a16="http://schemas.microsoft.com/office/drawing/2014/main" id="{E06B18B2-B917-42D7-86B3-8124BB9C319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13075" y="944563"/>
            <a:ext cx="4648200" cy="287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88">
            <a:extLst>
              <a:ext uri="{FF2B5EF4-FFF2-40B4-BE49-F238E27FC236}">
                <a16:creationId xmlns:a16="http://schemas.microsoft.com/office/drawing/2014/main" id="{680882FA-601D-4345-80CF-6963EF75073F}"/>
              </a:ext>
            </a:extLst>
          </p:cNvPr>
          <p:cNvSpPr txBox="1"/>
          <p:nvPr/>
        </p:nvSpPr>
        <p:spPr>
          <a:xfrm>
            <a:off x="460375" y="5233988"/>
            <a:ext cx="1989138" cy="922337"/>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Block offset:  ? bits</a:t>
            </a:r>
          </a:p>
          <a:p>
            <a:pPr>
              <a:defRPr/>
            </a:pPr>
            <a:r>
              <a:rPr kumimoji="0" lang="en-US" sz="1800" b="1" dirty="0">
                <a:solidFill>
                  <a:srgbClr val="000000"/>
                </a:solidFill>
                <a:latin typeface="Calibri" pitchFamily="34" charset="0"/>
                <a:ea typeface="+mn-ea"/>
              </a:rPr>
              <a:t>Set index: ? bits</a:t>
            </a:r>
          </a:p>
          <a:p>
            <a:pPr>
              <a:defRPr/>
            </a:pPr>
            <a:r>
              <a:rPr kumimoji="0" lang="en-US" sz="1800" b="1" dirty="0">
                <a:solidFill>
                  <a:srgbClr val="000000"/>
                </a:solidFill>
                <a:latin typeface="Calibri" pitchFamily="34" charset="0"/>
                <a:ea typeface="+mn-ea"/>
              </a:rPr>
              <a:t>Tag: ? bits</a:t>
            </a:r>
          </a:p>
        </p:txBody>
      </p:sp>
      <p:pic>
        <p:nvPicPr>
          <p:cNvPr id="12" name="Picture 3">
            <a:extLst>
              <a:ext uri="{FF2B5EF4-FFF2-40B4-BE49-F238E27FC236}">
                <a16:creationId xmlns:a16="http://schemas.microsoft.com/office/drawing/2014/main" id="{2FCEE5E7-C804-47B5-8362-80C30B559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3935413"/>
            <a:ext cx="20447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5">
            <a:extLst>
              <a:ext uri="{FF2B5EF4-FFF2-40B4-BE49-F238E27FC236}">
                <a16:creationId xmlns:a16="http://schemas.microsoft.com/office/drawing/2014/main" id="{B7607AC1-DE87-499A-9C49-FFA91A9FAC8A}"/>
              </a:ext>
            </a:extLst>
          </p:cNvPr>
          <p:cNvSpPr txBox="1"/>
          <p:nvPr/>
        </p:nvSpPr>
        <p:spPr>
          <a:xfrm>
            <a:off x="3165475" y="4708525"/>
            <a:ext cx="2667000" cy="647700"/>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Stack Address:</a:t>
            </a:r>
            <a:br>
              <a:rPr kumimoji="0" lang="en-US" sz="1800" b="1" dirty="0">
                <a:solidFill>
                  <a:srgbClr val="000000"/>
                </a:solidFill>
                <a:latin typeface="Calibri" pitchFamily="34" charset="0"/>
                <a:ea typeface="+mn-ea"/>
              </a:rPr>
            </a:br>
            <a:r>
              <a:rPr kumimoji="0" lang="en-US" sz="1800" b="1" dirty="0">
                <a:solidFill>
                  <a:srgbClr val="C00000"/>
                </a:solidFill>
                <a:latin typeface="Courier New" pitchFamily="49" charset="0"/>
                <a:ea typeface="+mn-ea"/>
              </a:rPr>
              <a:t>0x00007f7262a1e010</a:t>
            </a:r>
          </a:p>
        </p:txBody>
      </p:sp>
      <p:sp>
        <p:nvSpPr>
          <p:cNvPr id="14" name="TextBox 132">
            <a:extLst>
              <a:ext uri="{FF2B5EF4-FFF2-40B4-BE49-F238E27FC236}">
                <a16:creationId xmlns:a16="http://schemas.microsoft.com/office/drawing/2014/main" id="{B1F0E8BB-A83C-436A-A4A6-7096C130F322}"/>
              </a:ext>
            </a:extLst>
          </p:cNvPr>
          <p:cNvSpPr txBox="1"/>
          <p:nvPr/>
        </p:nvSpPr>
        <p:spPr>
          <a:xfrm>
            <a:off x="6253163" y="4708525"/>
            <a:ext cx="2624137" cy="923925"/>
          </a:xfrm>
          <a:prstGeom prst="rect">
            <a:avLst/>
          </a:prstGeom>
          <a:noFill/>
        </p:spPr>
        <p:txBody>
          <a:bodyPr wrap="none">
            <a:spAutoFit/>
          </a:bodyPr>
          <a:lstStyle/>
          <a:p>
            <a:pPr>
              <a:tabLst>
                <a:tab pos="2344738" algn="r"/>
                <a:tab pos="2398713" algn="r"/>
              </a:tabLst>
              <a:defRPr/>
            </a:pPr>
            <a:r>
              <a:rPr kumimoji="0" lang="en-US" sz="1800" b="1" dirty="0">
                <a:solidFill>
                  <a:srgbClr val="C00000"/>
                </a:solidFill>
                <a:latin typeface="Calibri" pitchFamily="34" charset="0"/>
                <a:ea typeface="+mn-ea"/>
              </a:rPr>
              <a:t>Block offset:	</a:t>
            </a:r>
            <a:r>
              <a:rPr kumimoji="0" lang="en-US" sz="1800" b="1" dirty="0">
                <a:solidFill>
                  <a:srgbClr val="C00000"/>
                </a:solidFill>
                <a:latin typeface="Courier New" pitchFamily="49" charset="0"/>
                <a:ea typeface="+mn-ea"/>
              </a:rPr>
              <a:t>0x??</a:t>
            </a:r>
          </a:p>
          <a:p>
            <a:pPr>
              <a:tabLst>
                <a:tab pos="2344738" algn="r"/>
                <a:tab pos="2398713" algn="r"/>
              </a:tabLst>
              <a:defRPr/>
            </a:pPr>
            <a:r>
              <a:rPr kumimoji="0" lang="en-US" sz="1800" b="1" dirty="0">
                <a:solidFill>
                  <a:srgbClr val="C00000"/>
                </a:solidFill>
                <a:latin typeface="Calibri" pitchFamily="34" charset="0"/>
                <a:ea typeface="+mn-ea"/>
              </a:rPr>
              <a:t>Set index: 	</a:t>
            </a:r>
            <a:r>
              <a:rPr kumimoji="0" lang="en-US" sz="1800" b="1" dirty="0">
                <a:solidFill>
                  <a:srgbClr val="C00000"/>
                </a:solidFill>
                <a:latin typeface="Courier New" panose="02070309020205020404" pitchFamily="49" charset="0"/>
                <a:ea typeface="+mn-ea"/>
                <a:cs typeface="Courier New" panose="02070309020205020404" pitchFamily="49" charset="0"/>
              </a:rPr>
              <a:t> </a:t>
            </a:r>
            <a:r>
              <a:rPr kumimoji="0" lang="en-US" sz="1800" b="1" dirty="0">
                <a:solidFill>
                  <a:srgbClr val="C00000"/>
                </a:solidFill>
                <a:latin typeface="Courier New" pitchFamily="49" charset="0"/>
                <a:ea typeface="+mn-ea"/>
              </a:rPr>
              <a:t>0x??</a:t>
            </a:r>
          </a:p>
          <a:p>
            <a:pPr>
              <a:tabLst>
                <a:tab pos="2344738" algn="r"/>
                <a:tab pos="2398713" algn="r"/>
              </a:tabLst>
              <a:defRPr/>
            </a:pPr>
            <a:r>
              <a:rPr kumimoji="0" lang="en-US" sz="1800" b="1" dirty="0">
                <a:solidFill>
                  <a:srgbClr val="C00000"/>
                </a:solidFill>
                <a:latin typeface="Calibri" pitchFamily="34" charset="0"/>
                <a:ea typeface="+mn-ea"/>
              </a:rPr>
              <a:t>Tag: 	</a:t>
            </a:r>
            <a:r>
              <a:rPr kumimoji="0" lang="en-US" sz="1800" b="1" dirty="0">
                <a:solidFill>
                  <a:srgbClr val="C00000"/>
                </a:solidFill>
                <a:latin typeface="Courier New" pitchFamily="49" charset="0"/>
                <a:ea typeface="+mn-ea"/>
              </a:rPr>
              <a:t>0x??</a:t>
            </a:r>
            <a:endParaRPr kumimoji="0" lang="en-US" sz="1800" b="1" dirty="0">
              <a:solidFill>
                <a:srgbClr val="C00000"/>
              </a:solidFill>
              <a:latin typeface="Calibri" pitchFamily="34" charset="0"/>
              <a:ea typeface="+mn-ea"/>
            </a:endParaRPr>
          </a:p>
        </p:txBody>
      </p:sp>
      <p:sp>
        <p:nvSpPr>
          <p:cNvPr id="15" name="TextBox 291">
            <a:extLst>
              <a:ext uri="{FF2B5EF4-FFF2-40B4-BE49-F238E27FC236}">
                <a16:creationId xmlns:a16="http://schemas.microsoft.com/office/drawing/2014/main" id="{10492B18-6180-42DA-99C6-5D806585D7F4}"/>
              </a:ext>
            </a:extLst>
          </p:cNvPr>
          <p:cNvSpPr txBox="1"/>
          <p:nvPr/>
        </p:nvSpPr>
        <p:spPr>
          <a:xfrm>
            <a:off x="460375" y="1014413"/>
            <a:ext cx="2833688" cy="923925"/>
          </a:xfrm>
          <a:prstGeom prst="rect">
            <a:avLst/>
          </a:prstGeom>
          <a:noFill/>
        </p:spPr>
        <p:txBody>
          <a:bodyPr wrap="none">
            <a:spAutoFit/>
          </a:bodyPr>
          <a:lstStyle/>
          <a:p>
            <a:pPr>
              <a:defRPr/>
            </a:pPr>
            <a:r>
              <a:rPr kumimoji="0" lang="en-US" sz="1800" b="1" dirty="0">
                <a:solidFill>
                  <a:srgbClr val="C00000"/>
                </a:solidFill>
                <a:latin typeface="Calibri" pitchFamily="34" charset="0"/>
                <a:ea typeface="+mn-ea"/>
              </a:rPr>
              <a:t>32 kB 8-way set associative</a:t>
            </a:r>
          </a:p>
          <a:p>
            <a:pPr>
              <a:defRPr/>
            </a:pPr>
            <a:r>
              <a:rPr kumimoji="0" lang="en-US" sz="1800" b="1" dirty="0">
                <a:solidFill>
                  <a:srgbClr val="C00000"/>
                </a:solidFill>
                <a:latin typeface="Calibri" pitchFamily="34" charset="0"/>
                <a:ea typeface="+mn-ea"/>
              </a:rPr>
              <a:t>64 bytes/block</a:t>
            </a:r>
          </a:p>
          <a:p>
            <a:pPr>
              <a:defRPr/>
            </a:pPr>
            <a:r>
              <a:rPr kumimoji="0" lang="en-US" sz="1800" b="1" dirty="0">
                <a:solidFill>
                  <a:srgbClr val="C00000"/>
                </a:solidFill>
                <a:latin typeface="Calibri" pitchFamily="34" charset="0"/>
                <a:ea typeface="+mn-ea"/>
              </a:rPr>
              <a:t>47 bit address range</a:t>
            </a:r>
          </a:p>
        </p:txBody>
      </p:sp>
      <p:sp>
        <p:nvSpPr>
          <p:cNvPr id="69646" name="文本框 2">
            <a:extLst>
              <a:ext uri="{FF2B5EF4-FFF2-40B4-BE49-F238E27FC236}">
                <a16:creationId xmlns:a16="http://schemas.microsoft.com/office/drawing/2014/main" id="{890F7710-573D-424D-B324-A875A87452AC}"/>
              </a:ext>
            </a:extLst>
          </p:cNvPr>
          <p:cNvSpPr txBox="1">
            <a:spLocks noChangeArrowheads="1"/>
          </p:cNvSpPr>
          <p:nvPr/>
        </p:nvSpPr>
        <p:spPr bwMode="auto">
          <a:xfrm>
            <a:off x="4932363" y="3562350"/>
            <a:ext cx="6080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000" b="1"/>
              <a:t>B bytes</a:t>
            </a:r>
            <a:endParaRPr lang="zh-CN" altLang="en-US" sz="1000" b="1"/>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p:bldP spid="13"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423B0D-F1C7-40C2-A0B5-91994A697BDC}"/>
              </a:ext>
            </a:extLst>
          </p:cNvPr>
          <p:cNvSpPr>
            <a:spLocks noGrp="1"/>
          </p:cNvSpPr>
          <p:nvPr>
            <p:ph type="title"/>
          </p:nvPr>
        </p:nvSpPr>
        <p:spPr/>
        <p:txBody>
          <a:bodyPr/>
          <a:lstStyle/>
          <a:p>
            <a:pPr>
              <a:defRPr/>
            </a:pPr>
            <a:r>
              <a:rPr lang="zh-CN" altLang="en-US" dirty="0"/>
              <a:t>例</a:t>
            </a:r>
            <a:r>
              <a:rPr lang="it-IT" altLang="zh-CN" dirty="0"/>
              <a:t>: Core i7 L1 Data Cache</a:t>
            </a:r>
            <a:endParaRPr lang="zh-CN" altLang="en-US" dirty="0"/>
          </a:p>
        </p:txBody>
      </p:sp>
      <p:sp>
        <p:nvSpPr>
          <p:cNvPr id="5" name="Rectangle 4">
            <a:extLst>
              <a:ext uri="{FF2B5EF4-FFF2-40B4-BE49-F238E27FC236}">
                <a16:creationId xmlns:a16="http://schemas.microsoft.com/office/drawing/2014/main" id="{2E459A7A-74FC-48A5-A606-03ADFA53EB93}"/>
              </a:ext>
            </a:extLst>
          </p:cNvPr>
          <p:cNvSpPr/>
          <p:nvPr/>
        </p:nvSpPr>
        <p:spPr bwMode="auto">
          <a:xfrm>
            <a:off x="330200" y="3868738"/>
            <a:ext cx="2690813" cy="2439987"/>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2400" b="1" kern="0" dirty="0">
              <a:solidFill>
                <a:srgbClr val="000000"/>
              </a:solidFill>
              <a:latin typeface="Calibri" pitchFamily="34" charset="0"/>
              <a:ea typeface="+mn-ea"/>
            </a:endParaRPr>
          </a:p>
        </p:txBody>
      </p:sp>
      <p:sp>
        <p:nvSpPr>
          <p:cNvPr id="6" name="Rectangle 3">
            <a:extLst>
              <a:ext uri="{FF2B5EF4-FFF2-40B4-BE49-F238E27FC236}">
                <a16:creationId xmlns:a16="http://schemas.microsoft.com/office/drawing/2014/main" id="{BC10399F-29EB-4637-A76A-48C15A9488FC}"/>
              </a:ext>
            </a:extLst>
          </p:cNvPr>
          <p:cNvSpPr/>
          <p:nvPr/>
        </p:nvSpPr>
        <p:spPr bwMode="auto">
          <a:xfrm>
            <a:off x="3173413" y="4556125"/>
            <a:ext cx="5791200" cy="1752600"/>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2400" b="1" kern="0" dirty="0">
              <a:solidFill>
                <a:srgbClr val="000000"/>
              </a:solidFill>
              <a:latin typeface="Calibri" pitchFamily="34" charset="0"/>
              <a:ea typeface="+mn-ea"/>
            </a:endParaRPr>
          </a:p>
        </p:txBody>
      </p:sp>
      <p:grpSp>
        <p:nvGrpSpPr>
          <p:cNvPr id="70662" name="Group 6">
            <a:extLst>
              <a:ext uri="{FF2B5EF4-FFF2-40B4-BE49-F238E27FC236}">
                <a16:creationId xmlns:a16="http://schemas.microsoft.com/office/drawing/2014/main" id="{D2DDE584-D9B8-4B14-B590-A3FA3853C3A1}"/>
              </a:ext>
            </a:extLst>
          </p:cNvPr>
          <p:cNvGrpSpPr>
            <a:grpSpLocks/>
          </p:cNvGrpSpPr>
          <p:nvPr/>
        </p:nvGrpSpPr>
        <p:grpSpPr bwMode="auto">
          <a:xfrm>
            <a:off x="330200" y="944563"/>
            <a:ext cx="7339013" cy="2871787"/>
            <a:chOff x="357762" y="1188162"/>
            <a:chExt cx="7338438" cy="2871436"/>
          </a:xfrm>
        </p:grpSpPr>
        <p:sp>
          <p:nvSpPr>
            <p:cNvPr id="8" name="Rectangle 5">
              <a:extLst>
                <a:ext uri="{FF2B5EF4-FFF2-40B4-BE49-F238E27FC236}">
                  <a16:creationId xmlns:a16="http://schemas.microsoft.com/office/drawing/2014/main" id="{E0B17894-926C-4D97-BCEB-03B2BA1EE730}"/>
                </a:ext>
              </a:extLst>
            </p:cNvPr>
            <p:cNvSpPr/>
            <p:nvPr/>
          </p:nvSpPr>
          <p:spPr bwMode="auto">
            <a:xfrm>
              <a:off x="357762" y="1188162"/>
              <a:ext cx="7336850" cy="2871436"/>
            </a:xfrm>
            <a:prstGeom prst="rect">
              <a:avLst/>
            </a:prstGeom>
            <a:solidFill>
              <a:srgbClr val="808080">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2400" b="1" kern="0" dirty="0">
                <a:solidFill>
                  <a:srgbClr val="000000"/>
                </a:solidFill>
                <a:latin typeface="Calibri" pitchFamily="34" charset="0"/>
                <a:ea typeface="+mn-ea"/>
              </a:endParaRPr>
            </a:p>
          </p:txBody>
        </p:sp>
        <p:sp>
          <p:nvSpPr>
            <p:cNvPr id="9" name="TextBox 126">
              <a:extLst>
                <a:ext uri="{FF2B5EF4-FFF2-40B4-BE49-F238E27FC236}">
                  <a16:creationId xmlns:a16="http://schemas.microsoft.com/office/drawing/2014/main" id="{118AF801-CEAD-4820-A82B-DCACE8ECA644}"/>
                </a:ext>
              </a:extLst>
            </p:cNvPr>
            <p:cNvSpPr txBox="1"/>
            <p:nvPr/>
          </p:nvSpPr>
          <p:spPr>
            <a:xfrm>
              <a:off x="494276" y="1397686"/>
              <a:ext cx="2401700" cy="2031752"/>
            </a:xfrm>
            <a:prstGeom prst="rect">
              <a:avLst/>
            </a:prstGeom>
            <a:noFill/>
          </p:spPr>
          <p:txBody>
            <a:bodyPr wrap="none">
              <a:spAutoFit/>
            </a:bodyPr>
            <a:lstStyle/>
            <a:p>
              <a:pP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a:p>
              <a:pP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a:p>
              <a:pPr eaLnBrk="1" fontAlgn="auto" hangingPunct="1">
                <a:spcBef>
                  <a:spcPts val="0"/>
                </a:spcBef>
                <a:spcAft>
                  <a:spcPts val="0"/>
                </a:spcAft>
                <a:defRPr/>
              </a:pPr>
              <a:endParaRPr kumimoji="0" lang="en-US" sz="1800" b="1" kern="0" dirty="0">
                <a:solidFill>
                  <a:srgbClr val="000000"/>
                </a:solidFill>
                <a:latin typeface="Calibri" pitchFamily="34" charset="0"/>
                <a:ea typeface="+mn-ea"/>
              </a:endParaRP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B = 64</a:t>
              </a: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S = 64, s = 6</a:t>
              </a: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E = 8, e = 3</a:t>
              </a:r>
            </a:p>
            <a:p>
              <a:pPr eaLnBrk="1" fontAlgn="auto" hangingPunct="1">
                <a:spcBef>
                  <a:spcPts val="0"/>
                </a:spcBef>
                <a:spcAft>
                  <a:spcPts val="0"/>
                </a:spcAft>
                <a:defRPr/>
              </a:pPr>
              <a:r>
                <a:rPr kumimoji="0" lang="en-US" sz="1800" b="1" kern="0" dirty="0">
                  <a:solidFill>
                    <a:srgbClr val="000000"/>
                  </a:solidFill>
                  <a:latin typeface="Calibri" pitchFamily="34" charset="0"/>
                  <a:ea typeface="+mn-ea"/>
                </a:rPr>
                <a:t>C = 64 x 64 x 8 = 32,768</a:t>
              </a:r>
            </a:p>
          </p:txBody>
        </p:sp>
        <p:pic>
          <p:nvPicPr>
            <p:cNvPr id="70675" name="Picture 2">
              <a:extLst>
                <a:ext uri="{FF2B5EF4-FFF2-40B4-BE49-F238E27FC236}">
                  <a16:creationId xmlns:a16="http://schemas.microsoft.com/office/drawing/2014/main" id="{6C728D1C-892B-4C93-9E0E-A5A5E45D6A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0" y="1188162"/>
              <a:ext cx="4648200" cy="2871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1" name="TextBox 88">
            <a:extLst>
              <a:ext uri="{FF2B5EF4-FFF2-40B4-BE49-F238E27FC236}">
                <a16:creationId xmlns:a16="http://schemas.microsoft.com/office/drawing/2014/main" id="{1E2B73A2-6DE5-4085-9E75-8587F485B958}"/>
              </a:ext>
            </a:extLst>
          </p:cNvPr>
          <p:cNvSpPr txBox="1"/>
          <p:nvPr/>
        </p:nvSpPr>
        <p:spPr>
          <a:xfrm>
            <a:off x="466725" y="5233988"/>
            <a:ext cx="1998663" cy="922337"/>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Block offset:  6 bits</a:t>
            </a:r>
          </a:p>
          <a:p>
            <a:pPr>
              <a:defRPr/>
            </a:pPr>
            <a:r>
              <a:rPr kumimoji="0" lang="en-US" sz="1800" b="1" dirty="0">
                <a:solidFill>
                  <a:srgbClr val="000000"/>
                </a:solidFill>
                <a:latin typeface="Calibri" pitchFamily="34" charset="0"/>
                <a:ea typeface="+mn-ea"/>
              </a:rPr>
              <a:t>Set index: 6 bits</a:t>
            </a:r>
          </a:p>
          <a:p>
            <a:pPr>
              <a:defRPr/>
            </a:pPr>
            <a:r>
              <a:rPr kumimoji="0" lang="en-US" sz="1800" b="1" dirty="0">
                <a:solidFill>
                  <a:srgbClr val="000000"/>
                </a:solidFill>
                <a:latin typeface="Calibri" pitchFamily="34" charset="0"/>
                <a:ea typeface="+mn-ea"/>
              </a:rPr>
              <a:t>Tag: 35 bits</a:t>
            </a:r>
          </a:p>
        </p:txBody>
      </p:sp>
      <p:pic>
        <p:nvPicPr>
          <p:cNvPr id="70664" name="Picture 3">
            <a:extLst>
              <a:ext uri="{FF2B5EF4-FFF2-40B4-BE49-F238E27FC236}">
                <a16:creationId xmlns:a16="http://schemas.microsoft.com/office/drawing/2014/main" id="{6D775812-8A24-4E3B-AC68-8DFF165B8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725" y="3935413"/>
            <a:ext cx="20447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5">
            <a:extLst>
              <a:ext uri="{FF2B5EF4-FFF2-40B4-BE49-F238E27FC236}">
                <a16:creationId xmlns:a16="http://schemas.microsoft.com/office/drawing/2014/main" id="{7C0B6D4C-78CA-4028-9E70-04CEE83F1CFF}"/>
              </a:ext>
            </a:extLst>
          </p:cNvPr>
          <p:cNvSpPr txBox="1"/>
          <p:nvPr/>
        </p:nvSpPr>
        <p:spPr>
          <a:xfrm>
            <a:off x="3173413" y="4708525"/>
            <a:ext cx="2665412" cy="647700"/>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Stack Address:</a:t>
            </a:r>
            <a:br>
              <a:rPr kumimoji="0" lang="en-US" sz="1800" b="1" dirty="0">
                <a:solidFill>
                  <a:srgbClr val="000000"/>
                </a:solidFill>
                <a:latin typeface="Calibri" pitchFamily="34" charset="0"/>
                <a:ea typeface="+mn-ea"/>
              </a:rPr>
            </a:br>
            <a:r>
              <a:rPr kumimoji="0" lang="en-US" sz="1800" b="1" dirty="0">
                <a:solidFill>
                  <a:srgbClr val="C00000"/>
                </a:solidFill>
                <a:latin typeface="Courier New" pitchFamily="49" charset="0"/>
                <a:ea typeface="+mn-ea"/>
              </a:rPr>
              <a:t>0x00007F7262A1E</a:t>
            </a:r>
            <a:r>
              <a:rPr kumimoji="0" lang="en-US" sz="1800" b="1" u="sng" dirty="0">
                <a:solidFill>
                  <a:srgbClr val="C00000"/>
                </a:solidFill>
                <a:latin typeface="Courier New" pitchFamily="49" charset="0"/>
                <a:ea typeface="+mn-ea"/>
              </a:rPr>
              <a:t>010</a:t>
            </a:r>
          </a:p>
        </p:txBody>
      </p:sp>
      <p:sp>
        <p:nvSpPr>
          <p:cNvPr id="14" name="TextBox 132">
            <a:extLst>
              <a:ext uri="{FF2B5EF4-FFF2-40B4-BE49-F238E27FC236}">
                <a16:creationId xmlns:a16="http://schemas.microsoft.com/office/drawing/2014/main" id="{DE8E0C9F-766F-4CC5-A008-ADF0C8233755}"/>
              </a:ext>
            </a:extLst>
          </p:cNvPr>
          <p:cNvSpPr txBox="1"/>
          <p:nvPr/>
        </p:nvSpPr>
        <p:spPr>
          <a:xfrm>
            <a:off x="6259513" y="4708525"/>
            <a:ext cx="2624137" cy="923925"/>
          </a:xfrm>
          <a:prstGeom prst="rect">
            <a:avLst/>
          </a:prstGeom>
          <a:noFill/>
        </p:spPr>
        <p:txBody>
          <a:bodyPr wrap="none">
            <a:spAutoFit/>
          </a:bodyPr>
          <a:lstStyle/>
          <a:p>
            <a:pPr>
              <a:tabLst>
                <a:tab pos="2344738" algn="r"/>
                <a:tab pos="2398713" algn="r"/>
              </a:tabLst>
              <a:defRPr/>
            </a:pPr>
            <a:r>
              <a:rPr kumimoji="0" lang="en-US" sz="1800" b="1" dirty="0">
                <a:solidFill>
                  <a:srgbClr val="C00000"/>
                </a:solidFill>
                <a:latin typeface="Calibri" pitchFamily="34" charset="0"/>
                <a:ea typeface="+mn-ea"/>
              </a:rPr>
              <a:t>Block offset:	</a:t>
            </a:r>
            <a:r>
              <a:rPr kumimoji="0" lang="en-US" sz="1800" b="1" dirty="0">
                <a:solidFill>
                  <a:srgbClr val="0070C0"/>
                </a:solidFill>
                <a:latin typeface="Courier New" pitchFamily="49" charset="0"/>
                <a:ea typeface="+mn-ea"/>
              </a:rPr>
              <a:t>0x10</a:t>
            </a:r>
          </a:p>
          <a:p>
            <a:pPr>
              <a:tabLst>
                <a:tab pos="2344738" algn="r"/>
                <a:tab pos="2398713" algn="r"/>
              </a:tabLst>
              <a:defRPr/>
            </a:pPr>
            <a:r>
              <a:rPr kumimoji="0" lang="en-US" sz="1800" b="1" dirty="0">
                <a:solidFill>
                  <a:srgbClr val="C00000"/>
                </a:solidFill>
                <a:latin typeface="Calibri" pitchFamily="34" charset="0"/>
                <a:ea typeface="+mn-ea"/>
              </a:rPr>
              <a:t>Set index: 	</a:t>
            </a:r>
            <a:r>
              <a:rPr kumimoji="0" lang="en-US" sz="1800" b="1" dirty="0">
                <a:solidFill>
                  <a:srgbClr val="C00000"/>
                </a:solidFill>
                <a:latin typeface="Courier New" panose="02070309020205020404" pitchFamily="49" charset="0"/>
                <a:ea typeface="+mn-ea"/>
                <a:cs typeface="Courier New" panose="02070309020205020404" pitchFamily="49" charset="0"/>
              </a:rPr>
              <a:t> </a:t>
            </a:r>
            <a:r>
              <a:rPr kumimoji="0" lang="en-US" sz="1800" b="1" dirty="0">
                <a:solidFill>
                  <a:srgbClr val="00B050"/>
                </a:solidFill>
                <a:latin typeface="Courier New" pitchFamily="49" charset="0"/>
                <a:ea typeface="+mn-ea"/>
              </a:rPr>
              <a:t>0x0</a:t>
            </a:r>
          </a:p>
          <a:p>
            <a:pPr>
              <a:tabLst>
                <a:tab pos="2344738" algn="r"/>
                <a:tab pos="2398713" algn="r"/>
              </a:tabLst>
              <a:defRPr/>
            </a:pPr>
            <a:r>
              <a:rPr kumimoji="0" lang="en-US" sz="1800" b="1" dirty="0">
                <a:solidFill>
                  <a:srgbClr val="C00000"/>
                </a:solidFill>
                <a:latin typeface="Calibri" pitchFamily="34" charset="0"/>
                <a:ea typeface="+mn-ea"/>
              </a:rPr>
              <a:t>Tag: 	</a:t>
            </a:r>
            <a:r>
              <a:rPr kumimoji="0" lang="en-US" sz="1800" b="1" dirty="0">
                <a:solidFill>
                  <a:srgbClr val="C00000"/>
                </a:solidFill>
                <a:latin typeface="Courier New" pitchFamily="49" charset="0"/>
                <a:ea typeface="+mn-ea"/>
              </a:rPr>
              <a:t>0x7f7262</a:t>
            </a:r>
            <a:r>
              <a:rPr kumimoji="0" lang="en-US" altLang="zh-CN" sz="1800" b="1" dirty="0">
                <a:solidFill>
                  <a:srgbClr val="C00000"/>
                </a:solidFill>
                <a:latin typeface="Courier New" pitchFamily="49" charset="0"/>
                <a:ea typeface="+mn-ea"/>
              </a:rPr>
              <a:t>A</a:t>
            </a:r>
            <a:r>
              <a:rPr kumimoji="0" lang="en-US" sz="1800" b="1" dirty="0">
                <a:solidFill>
                  <a:srgbClr val="C00000"/>
                </a:solidFill>
                <a:latin typeface="Courier New" pitchFamily="49" charset="0"/>
                <a:ea typeface="+mn-ea"/>
              </a:rPr>
              <a:t>1</a:t>
            </a:r>
            <a:r>
              <a:rPr kumimoji="0" lang="en-US" altLang="zh-CN" sz="1800" b="1" dirty="0">
                <a:solidFill>
                  <a:srgbClr val="C00000"/>
                </a:solidFill>
                <a:latin typeface="Courier New" pitchFamily="49" charset="0"/>
                <a:ea typeface="+mn-ea"/>
              </a:rPr>
              <a:t>E</a:t>
            </a:r>
            <a:endParaRPr kumimoji="0" lang="en-US" sz="1800" b="1" dirty="0">
              <a:solidFill>
                <a:srgbClr val="C00000"/>
              </a:solidFill>
              <a:latin typeface="Calibri" pitchFamily="34" charset="0"/>
              <a:ea typeface="+mn-ea"/>
            </a:endParaRPr>
          </a:p>
        </p:txBody>
      </p:sp>
      <p:sp>
        <p:nvSpPr>
          <p:cNvPr id="15" name="TextBox 291">
            <a:extLst>
              <a:ext uri="{FF2B5EF4-FFF2-40B4-BE49-F238E27FC236}">
                <a16:creationId xmlns:a16="http://schemas.microsoft.com/office/drawing/2014/main" id="{D896BA0A-D144-40CD-B5D3-E9F2D79A4974}"/>
              </a:ext>
            </a:extLst>
          </p:cNvPr>
          <p:cNvSpPr txBox="1"/>
          <p:nvPr/>
        </p:nvSpPr>
        <p:spPr>
          <a:xfrm>
            <a:off x="466725" y="1014413"/>
            <a:ext cx="2774950" cy="923925"/>
          </a:xfrm>
          <a:prstGeom prst="rect">
            <a:avLst/>
          </a:prstGeom>
          <a:noFill/>
        </p:spPr>
        <p:txBody>
          <a:bodyPr wrap="none">
            <a:spAutoFit/>
          </a:bodyPr>
          <a:lstStyle/>
          <a:p>
            <a:pPr>
              <a:defRPr/>
            </a:pPr>
            <a:r>
              <a:rPr kumimoji="0" lang="en-US" sz="1800" b="1" dirty="0">
                <a:solidFill>
                  <a:srgbClr val="C00000"/>
                </a:solidFill>
                <a:latin typeface="Calibri" pitchFamily="34" charset="0"/>
                <a:ea typeface="+mn-ea"/>
              </a:rPr>
              <a:t>32 kB 8-way set associative</a:t>
            </a:r>
            <a:br>
              <a:rPr kumimoji="0" lang="en-US" sz="1800" b="1" dirty="0">
                <a:solidFill>
                  <a:srgbClr val="C00000"/>
                </a:solidFill>
                <a:latin typeface="Calibri" pitchFamily="34" charset="0"/>
                <a:ea typeface="+mn-ea"/>
              </a:rPr>
            </a:br>
            <a:r>
              <a:rPr kumimoji="0" lang="en-US" sz="1800" b="1" dirty="0">
                <a:solidFill>
                  <a:srgbClr val="C00000"/>
                </a:solidFill>
                <a:latin typeface="Calibri" pitchFamily="34" charset="0"/>
                <a:ea typeface="+mn-ea"/>
              </a:rPr>
              <a:t>64 bytes/block</a:t>
            </a:r>
          </a:p>
          <a:p>
            <a:pPr>
              <a:defRPr/>
            </a:pPr>
            <a:r>
              <a:rPr kumimoji="0" lang="en-US" sz="1800" b="1" dirty="0">
                <a:solidFill>
                  <a:srgbClr val="C00000"/>
                </a:solidFill>
                <a:latin typeface="Calibri" pitchFamily="34" charset="0"/>
                <a:ea typeface="+mn-ea"/>
              </a:rPr>
              <a:t>47 bit address range</a:t>
            </a:r>
          </a:p>
        </p:txBody>
      </p:sp>
      <p:sp>
        <p:nvSpPr>
          <p:cNvPr id="16" name="TextBox 14">
            <a:extLst>
              <a:ext uri="{FF2B5EF4-FFF2-40B4-BE49-F238E27FC236}">
                <a16:creationId xmlns:a16="http://schemas.microsoft.com/office/drawing/2014/main" id="{638BEA0A-4727-4D36-8278-DA0570EB3FE2}"/>
              </a:ext>
            </a:extLst>
          </p:cNvPr>
          <p:cNvSpPr txBox="1"/>
          <p:nvPr/>
        </p:nvSpPr>
        <p:spPr>
          <a:xfrm>
            <a:off x="3965575" y="5788025"/>
            <a:ext cx="2114550" cy="368300"/>
          </a:xfrm>
          <a:prstGeom prst="rect">
            <a:avLst/>
          </a:prstGeom>
          <a:noFill/>
        </p:spPr>
        <p:txBody>
          <a:bodyPr wrap="none">
            <a:spAutoFit/>
          </a:bodyPr>
          <a:lstStyle/>
          <a:p>
            <a:pPr>
              <a:defRPr/>
            </a:pPr>
            <a:r>
              <a:rPr kumimoji="0" lang="en-US" sz="1800" b="1" dirty="0">
                <a:solidFill>
                  <a:srgbClr val="00B050"/>
                </a:solidFill>
                <a:latin typeface="Courier New" pitchFamily="49" charset="0"/>
                <a:ea typeface="+mn-ea"/>
              </a:rPr>
              <a:t>0000 00</a:t>
            </a:r>
            <a:r>
              <a:rPr kumimoji="0" lang="en-US" sz="1800" b="1" dirty="0">
                <a:solidFill>
                  <a:srgbClr val="0070C0"/>
                </a:solidFill>
                <a:latin typeface="Courier New" pitchFamily="49" charset="0"/>
                <a:ea typeface="+mn-ea"/>
              </a:rPr>
              <a:t>01 0000</a:t>
            </a:r>
            <a:endParaRPr kumimoji="0" lang="en-US" sz="1800" b="1" u="sng" dirty="0">
              <a:solidFill>
                <a:srgbClr val="0070C0"/>
              </a:solidFill>
              <a:latin typeface="Courier New" pitchFamily="49" charset="0"/>
              <a:ea typeface="+mn-ea"/>
            </a:endParaRPr>
          </a:p>
        </p:txBody>
      </p:sp>
      <p:cxnSp>
        <p:nvCxnSpPr>
          <p:cNvPr id="70669" name="Straight Connector 7">
            <a:extLst>
              <a:ext uri="{FF2B5EF4-FFF2-40B4-BE49-F238E27FC236}">
                <a16:creationId xmlns:a16="http://schemas.microsoft.com/office/drawing/2014/main" id="{B4049702-92D0-4DB2-BFC5-792B6B228F9B}"/>
              </a:ext>
            </a:extLst>
          </p:cNvPr>
          <p:cNvCxnSpPr>
            <a:cxnSpLocks noChangeShapeType="1"/>
          </p:cNvCxnSpPr>
          <p:nvPr/>
        </p:nvCxnSpPr>
        <p:spPr bwMode="auto">
          <a:xfrm flipV="1">
            <a:off x="4087813" y="5313363"/>
            <a:ext cx="1219200" cy="533400"/>
          </a:xfrm>
          <a:prstGeom prst="line">
            <a:avLst/>
          </a:prstGeom>
          <a:noFill/>
          <a:ln w="25400" algn="ctr">
            <a:solidFill>
              <a:srgbClr val="C00000"/>
            </a:solidFill>
            <a:round/>
            <a:headEnd/>
            <a:tailEnd/>
          </a:ln>
          <a:extLst>
            <a:ext uri="{909E8E84-426E-40DD-AFC4-6F175D3DCCD1}">
              <a14:hiddenFill xmlns:a14="http://schemas.microsoft.com/office/drawing/2010/main">
                <a:noFill/>
              </a14:hiddenFill>
            </a:ext>
          </a:extLst>
        </p:spPr>
      </p:cxnSp>
      <p:cxnSp>
        <p:nvCxnSpPr>
          <p:cNvPr id="70670" name="Straight Connector 18">
            <a:extLst>
              <a:ext uri="{FF2B5EF4-FFF2-40B4-BE49-F238E27FC236}">
                <a16:creationId xmlns:a16="http://schemas.microsoft.com/office/drawing/2014/main" id="{E328DEBB-C7A8-43A6-B1B4-6094EFBFFA96}"/>
              </a:ext>
            </a:extLst>
          </p:cNvPr>
          <p:cNvCxnSpPr>
            <a:cxnSpLocks noChangeShapeType="1"/>
          </p:cNvCxnSpPr>
          <p:nvPr/>
        </p:nvCxnSpPr>
        <p:spPr bwMode="auto">
          <a:xfrm flipH="1" flipV="1">
            <a:off x="5743575" y="5318125"/>
            <a:ext cx="152400" cy="533400"/>
          </a:xfrm>
          <a:prstGeom prst="line">
            <a:avLst/>
          </a:prstGeom>
          <a:noFill/>
          <a:ln w="25400" algn="ctr">
            <a:solidFill>
              <a:srgbClr val="C00000"/>
            </a:solidFill>
            <a:round/>
            <a:headEnd/>
            <a:tailEnd/>
          </a:ln>
          <a:extLst>
            <a:ext uri="{909E8E84-426E-40DD-AFC4-6F175D3DCCD1}">
              <a14:hiddenFill xmlns:a14="http://schemas.microsoft.com/office/drawing/2010/main">
                <a:noFill/>
              </a14:hiddenFill>
            </a:ext>
          </a:extLst>
        </p:spPr>
      </p:cxnSp>
      <p:sp>
        <p:nvSpPr>
          <p:cNvPr id="70671" name="文本框 17">
            <a:extLst>
              <a:ext uri="{FF2B5EF4-FFF2-40B4-BE49-F238E27FC236}">
                <a16:creationId xmlns:a16="http://schemas.microsoft.com/office/drawing/2014/main" id="{800362E4-5146-4B0D-9D7D-70FAD2AF894A}"/>
              </a:ext>
            </a:extLst>
          </p:cNvPr>
          <p:cNvSpPr txBox="1">
            <a:spLocks noChangeArrowheads="1"/>
          </p:cNvSpPr>
          <p:nvPr/>
        </p:nvSpPr>
        <p:spPr bwMode="auto">
          <a:xfrm>
            <a:off x="4932363" y="3562350"/>
            <a:ext cx="608012"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000" b="1"/>
              <a:t>B bytes</a:t>
            </a:r>
            <a:endParaRPr lang="zh-CN" altLang="en-US" sz="1000" b="1"/>
          </a:p>
        </p:txBody>
      </p:sp>
      <p:sp>
        <p:nvSpPr>
          <p:cNvPr id="70672" name="文本框 18">
            <a:extLst>
              <a:ext uri="{FF2B5EF4-FFF2-40B4-BE49-F238E27FC236}">
                <a16:creationId xmlns:a16="http://schemas.microsoft.com/office/drawing/2014/main" id="{81F98550-DDDE-4BB8-9E25-A9BC9E52C5CF}"/>
              </a:ext>
            </a:extLst>
          </p:cNvPr>
          <p:cNvSpPr txBox="1">
            <a:spLocks noChangeArrowheads="1"/>
          </p:cNvSpPr>
          <p:nvPr/>
        </p:nvSpPr>
        <p:spPr bwMode="auto">
          <a:xfrm>
            <a:off x="5988050" y="3459163"/>
            <a:ext cx="153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200" b="1" u="sng">
                <a:solidFill>
                  <a:srgbClr val="FF0000"/>
                </a:solidFill>
              </a:rPr>
              <a:t>Cache real size &gt; C !</a:t>
            </a:r>
            <a:endParaRPr lang="zh-CN" altLang="en-US" sz="1200" b="1" u="sng">
              <a:solidFill>
                <a:srgbClr val="FF0000"/>
              </a:solidFill>
            </a:endParaRPr>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a:extLst>
              <a:ext uri="{FF2B5EF4-FFF2-40B4-BE49-F238E27FC236}">
                <a16:creationId xmlns:a16="http://schemas.microsoft.com/office/drawing/2014/main" id="{0E255046-1888-466B-854B-E98C0B680C2F}"/>
              </a:ext>
            </a:extLst>
          </p:cNvPr>
          <p:cNvSpPr>
            <a:spLocks noGrp="1" noChangeArrowheads="1"/>
          </p:cNvSpPr>
          <p:nvPr>
            <p:ph type="title"/>
          </p:nvPr>
        </p:nvSpPr>
        <p:spPr>
          <a:xfrm>
            <a:off x="179388" y="219075"/>
            <a:ext cx="8947149" cy="762000"/>
          </a:xfrm>
        </p:spPr>
        <p:txBody>
          <a:bodyPr/>
          <a:lstStyle/>
          <a:p>
            <a:pPr eaLnBrk="1" hangingPunct="1">
              <a:defRPr/>
            </a:pPr>
            <a:r>
              <a:rPr lang="en-US" altLang="zh-CN" dirty="0"/>
              <a:t>Cache</a:t>
            </a:r>
            <a:r>
              <a:rPr lang="zh-CN" altLang="en-US" dirty="0"/>
              <a:t>性能指标（</a:t>
            </a:r>
            <a:r>
              <a:rPr lang="en-US" altLang="zh-CN" dirty="0"/>
              <a:t>1</a:t>
            </a:r>
            <a:r>
              <a:rPr lang="zh-CN" altLang="en-US" dirty="0"/>
              <a:t>）</a:t>
            </a:r>
          </a:p>
        </p:txBody>
      </p:sp>
      <p:sp>
        <p:nvSpPr>
          <p:cNvPr id="71683" name="Rectangle 3">
            <a:extLst>
              <a:ext uri="{FF2B5EF4-FFF2-40B4-BE49-F238E27FC236}">
                <a16:creationId xmlns:a16="http://schemas.microsoft.com/office/drawing/2014/main" id="{FAB2C4C2-CF7D-4B72-9E8E-0ED605022B42}"/>
              </a:ext>
            </a:extLst>
          </p:cNvPr>
          <p:cNvSpPr>
            <a:spLocks noGrp="1" noChangeArrowheads="1"/>
          </p:cNvSpPr>
          <p:nvPr>
            <p:ph type="body" sz="half" idx="1"/>
          </p:nvPr>
        </p:nvSpPr>
        <p:spPr>
          <a:xfrm>
            <a:off x="179388" y="981075"/>
            <a:ext cx="8763000" cy="5400675"/>
          </a:xfrm>
        </p:spPr>
        <p:txBody>
          <a:bodyPr/>
          <a:lstStyle/>
          <a:p>
            <a:pPr eaLnBrk="1" hangingPunct="1"/>
            <a:r>
              <a:rPr lang="zh-CN" altLang="en-US" sz="2800"/>
              <a:t>命中率（</a:t>
            </a:r>
            <a:r>
              <a:rPr lang="en-US" altLang="zh-CN" sz="2800" b="0"/>
              <a:t>Hit Rate</a:t>
            </a:r>
            <a:r>
              <a:rPr lang="zh-CN" altLang="en-US" sz="2800"/>
              <a:t>）：</a:t>
            </a:r>
          </a:p>
          <a:p>
            <a:pPr lvl="1" eaLnBrk="1" hangingPunct="1"/>
            <a:r>
              <a:rPr lang="zh-CN" altLang="en-US" sz="2400"/>
              <a:t>在一个程序执行期间，设</a:t>
            </a:r>
            <a:r>
              <a:rPr lang="en-US" altLang="zh-CN" sz="2400"/>
              <a:t>N</a:t>
            </a:r>
            <a:r>
              <a:rPr lang="en-US" altLang="zh-CN" sz="2400" baseline="-25000"/>
              <a:t>c</a:t>
            </a:r>
            <a:r>
              <a:rPr lang="zh-CN" altLang="en-US" sz="2400"/>
              <a:t>表示在</a:t>
            </a:r>
            <a:r>
              <a:rPr lang="en-US" altLang="zh-CN" sz="2400"/>
              <a:t>Cache</a:t>
            </a:r>
            <a:r>
              <a:rPr lang="zh-CN" altLang="en-US" sz="2400"/>
              <a:t>中完成存取的总次数，</a:t>
            </a:r>
            <a:r>
              <a:rPr lang="en-US" altLang="zh-CN" sz="2400"/>
              <a:t>N</a:t>
            </a:r>
            <a:r>
              <a:rPr lang="en-US" altLang="zh-CN" sz="2400" baseline="-25000"/>
              <a:t>m</a:t>
            </a:r>
            <a:r>
              <a:rPr lang="zh-CN" altLang="en-US" sz="2400"/>
              <a:t>表示在主存中完成存取的总次数，则</a:t>
            </a:r>
            <a:r>
              <a:rPr lang="zh-CN" altLang="en-US" sz="2400">
                <a:solidFill>
                  <a:srgbClr val="CC3300"/>
                </a:solidFill>
              </a:rPr>
              <a:t>命中率</a:t>
            </a:r>
            <a:r>
              <a:rPr lang="en-US" altLang="zh-CN" sz="2400">
                <a:solidFill>
                  <a:srgbClr val="CC3300"/>
                </a:solidFill>
              </a:rPr>
              <a:t>h</a:t>
            </a:r>
            <a:r>
              <a:rPr lang="zh-CN" altLang="en-US" sz="2400"/>
              <a:t>为：</a:t>
            </a:r>
          </a:p>
          <a:p>
            <a:pPr lvl="1" eaLnBrk="1" hangingPunct="1">
              <a:buFont typeface="Wingdings" panose="05000000000000000000" pitchFamily="2" charset="2"/>
              <a:buNone/>
            </a:pPr>
            <a:r>
              <a:rPr lang="zh-CN" altLang="en-US" sz="2400"/>
              <a:t>              </a:t>
            </a:r>
            <a:r>
              <a:rPr lang="en-US" altLang="zh-CN" sz="2400"/>
              <a:t>h= N</a:t>
            </a:r>
            <a:r>
              <a:rPr lang="en-US" altLang="zh-CN" sz="2400" baseline="-25000"/>
              <a:t>c</a:t>
            </a:r>
            <a:r>
              <a:rPr lang="en-US" altLang="zh-CN" sz="2400"/>
              <a:t> / (N</a:t>
            </a:r>
            <a:r>
              <a:rPr lang="en-US" altLang="zh-CN" sz="2400" baseline="-25000"/>
              <a:t>c</a:t>
            </a:r>
            <a:r>
              <a:rPr lang="en-US" altLang="zh-CN" sz="2400"/>
              <a:t> + N</a:t>
            </a:r>
            <a:r>
              <a:rPr lang="en-US" altLang="zh-CN" sz="2400" baseline="-25000"/>
              <a:t>m</a:t>
            </a:r>
            <a:r>
              <a:rPr lang="en-US" altLang="zh-CN" sz="2400"/>
              <a:t>)</a:t>
            </a:r>
          </a:p>
          <a:p>
            <a:pPr lvl="1" eaLnBrk="1" hangingPunct="1"/>
            <a:r>
              <a:rPr lang="en-US" altLang="zh-CN" sz="2400"/>
              <a:t> </a:t>
            </a:r>
            <a:r>
              <a:rPr lang="zh-CN" altLang="en-US" sz="2400"/>
              <a:t>若</a:t>
            </a:r>
            <a:r>
              <a:rPr lang="en-US" altLang="zh-CN" sz="2400"/>
              <a:t>t</a:t>
            </a:r>
            <a:r>
              <a:rPr lang="en-US" altLang="zh-CN" sz="2400" baseline="-25000"/>
              <a:t>c</a:t>
            </a:r>
            <a:r>
              <a:rPr lang="zh-CN" altLang="en-US" sz="2400"/>
              <a:t>表示命中时</a:t>
            </a:r>
            <a:r>
              <a:rPr lang="en-US" altLang="zh-CN" sz="2400"/>
              <a:t>Cache</a:t>
            </a:r>
            <a:r>
              <a:rPr lang="zh-CN" altLang="en-US" sz="2400"/>
              <a:t>访问时间，</a:t>
            </a:r>
            <a:r>
              <a:rPr lang="en-US" altLang="zh-CN" sz="2400"/>
              <a:t>t</a:t>
            </a:r>
            <a:r>
              <a:rPr lang="en-US" altLang="zh-CN" sz="2400" baseline="-25000"/>
              <a:t>m</a:t>
            </a:r>
            <a:r>
              <a:rPr lang="zh-CN" altLang="en-US" sz="2400"/>
              <a:t>表示未命中时的主存访问时间，则</a:t>
            </a:r>
            <a:r>
              <a:rPr lang="en-US" altLang="zh-CN" sz="2400"/>
              <a:t>Cache/</a:t>
            </a:r>
            <a:r>
              <a:rPr lang="zh-CN" altLang="en-US" sz="2400"/>
              <a:t>主存系统的</a:t>
            </a:r>
            <a:r>
              <a:rPr lang="zh-CN" altLang="en-US" sz="2400">
                <a:solidFill>
                  <a:srgbClr val="CC3300"/>
                </a:solidFill>
              </a:rPr>
              <a:t>平均访问时间</a:t>
            </a:r>
            <a:r>
              <a:rPr lang="en-US" altLang="zh-CN" sz="2400">
                <a:solidFill>
                  <a:srgbClr val="CC3300"/>
                </a:solidFill>
              </a:rPr>
              <a:t>t</a:t>
            </a:r>
            <a:r>
              <a:rPr lang="en-US" altLang="zh-CN" sz="2400" baseline="-25000">
                <a:solidFill>
                  <a:srgbClr val="CC3300"/>
                </a:solidFill>
              </a:rPr>
              <a:t>a</a:t>
            </a:r>
            <a:r>
              <a:rPr lang="zh-CN" altLang="en-US" sz="2400"/>
              <a:t>为</a:t>
            </a:r>
            <a:r>
              <a:rPr lang="en-US" altLang="zh-CN" sz="2400"/>
              <a:t>:</a:t>
            </a:r>
          </a:p>
          <a:p>
            <a:pPr lvl="1" eaLnBrk="1" hangingPunct="1">
              <a:buFont typeface="Wingdings" panose="05000000000000000000" pitchFamily="2" charset="2"/>
              <a:buNone/>
            </a:pPr>
            <a:r>
              <a:rPr lang="en-US" altLang="zh-CN" sz="2400"/>
              <a:t>              t </a:t>
            </a:r>
            <a:r>
              <a:rPr lang="en-US" altLang="zh-CN" sz="2400" baseline="-25000"/>
              <a:t>a </a:t>
            </a:r>
            <a:r>
              <a:rPr lang="en-US" altLang="zh-CN" sz="2400"/>
              <a:t>= ht</a:t>
            </a:r>
            <a:r>
              <a:rPr lang="en-US" altLang="zh-CN" sz="2400" baseline="-25000"/>
              <a:t>c </a:t>
            </a:r>
            <a:r>
              <a:rPr lang="en-US" altLang="zh-CN" sz="2400"/>
              <a:t>+ (1 - h) t</a:t>
            </a:r>
            <a:r>
              <a:rPr lang="en-US" altLang="zh-CN" sz="2400" baseline="-25000"/>
              <a:t>m          </a:t>
            </a:r>
            <a:r>
              <a:rPr lang="zh-CN" altLang="en-US" sz="2400"/>
              <a:t>显然，</a:t>
            </a:r>
            <a:r>
              <a:rPr lang="en-US" altLang="zh-CN" sz="2400"/>
              <a:t>ta</a:t>
            </a:r>
            <a:r>
              <a:rPr lang="zh-CN" altLang="en-US" sz="2400"/>
              <a:t>越接近</a:t>
            </a:r>
            <a:r>
              <a:rPr lang="en-US" altLang="zh-CN" sz="2400"/>
              <a:t>tc</a:t>
            </a:r>
            <a:r>
              <a:rPr lang="zh-CN" altLang="en-US" sz="2400"/>
              <a:t>越好</a:t>
            </a:r>
            <a:endParaRPr lang="en-US" altLang="zh-CN" sz="2400"/>
          </a:p>
          <a:p>
            <a:pPr lvl="1" eaLnBrk="1" hangingPunct="1"/>
            <a:r>
              <a:rPr lang="zh-CN" altLang="en-US" sz="2400"/>
              <a:t>设</a:t>
            </a:r>
            <a:r>
              <a:rPr lang="en-US" altLang="zh-CN" sz="2400"/>
              <a:t>r= t</a:t>
            </a:r>
            <a:r>
              <a:rPr lang="en-US" altLang="zh-CN" sz="2400" baseline="-25000"/>
              <a:t>m</a:t>
            </a:r>
            <a:r>
              <a:rPr lang="en-US" altLang="zh-CN" sz="2400"/>
              <a:t>/t</a:t>
            </a:r>
            <a:r>
              <a:rPr lang="en-US" altLang="zh-CN" sz="2400" baseline="-25000"/>
              <a:t>c</a:t>
            </a:r>
            <a:r>
              <a:rPr lang="zh-CN" altLang="en-US" sz="2400"/>
              <a:t>表示主存慢于</a:t>
            </a:r>
            <a:r>
              <a:rPr lang="en-US" altLang="zh-CN" sz="2400"/>
              <a:t>cache</a:t>
            </a:r>
            <a:r>
              <a:rPr lang="zh-CN" altLang="en-US" sz="2400"/>
              <a:t>的倍率，</a:t>
            </a:r>
            <a:r>
              <a:rPr lang="en-US" altLang="zh-CN" sz="2400"/>
              <a:t>e</a:t>
            </a:r>
            <a:r>
              <a:rPr lang="zh-CN" altLang="en-US" sz="2400"/>
              <a:t>表示</a:t>
            </a:r>
            <a:r>
              <a:rPr lang="zh-CN" altLang="en-US" sz="2400">
                <a:solidFill>
                  <a:srgbClr val="CC3300"/>
                </a:solidFill>
              </a:rPr>
              <a:t>访问效率</a:t>
            </a:r>
            <a:r>
              <a:rPr lang="zh-CN" altLang="en-US" sz="2400"/>
              <a:t>，则有</a:t>
            </a:r>
            <a:endParaRPr lang="zh-CN" altLang="en-US" sz="2400" baseline="-25000"/>
          </a:p>
        </p:txBody>
      </p:sp>
      <p:graphicFrame>
        <p:nvGraphicFramePr>
          <p:cNvPr id="71684" name="Object 10">
            <a:extLst>
              <a:ext uri="{FF2B5EF4-FFF2-40B4-BE49-F238E27FC236}">
                <a16:creationId xmlns:a16="http://schemas.microsoft.com/office/drawing/2014/main" id="{6A21CCDA-9C98-41BC-A79F-1621C66527C6}"/>
              </a:ext>
            </a:extLst>
          </p:cNvPr>
          <p:cNvGraphicFramePr>
            <a:graphicFrameLocks noGrp="1" noChangeAspect="1"/>
          </p:cNvGraphicFramePr>
          <p:nvPr>
            <p:ph sz="half" idx="2"/>
          </p:nvPr>
        </p:nvGraphicFramePr>
        <p:xfrm>
          <a:off x="881063" y="4821238"/>
          <a:ext cx="7821612" cy="1111250"/>
        </p:xfrm>
        <a:graphic>
          <a:graphicData uri="http://schemas.openxmlformats.org/presentationml/2006/ole">
            <mc:AlternateContent xmlns:mc="http://schemas.openxmlformats.org/markup-compatibility/2006">
              <mc:Choice xmlns:v="urn:schemas-microsoft-com:vml" Requires="v">
                <p:oleObj spid="_x0000_s1029" name="公式" r:id="rId3" imgW="52444650" imgH="7458075" progId="Equation.3">
                  <p:embed/>
                </p:oleObj>
              </mc:Choice>
              <mc:Fallback>
                <p:oleObj name="公式" r:id="rId3" imgW="52444650" imgH="7458075" progId="Equation.3">
                  <p:embed/>
                  <p:pic>
                    <p:nvPicPr>
                      <p:cNvPr id="71684" name="Object 10">
                        <a:extLst>
                          <a:ext uri="{FF2B5EF4-FFF2-40B4-BE49-F238E27FC236}">
                            <a16:creationId xmlns:a16="http://schemas.microsoft.com/office/drawing/2014/main" id="{6A21CCDA-9C98-41BC-A79F-1621C66527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63" y="4821238"/>
                        <a:ext cx="7821612" cy="1111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a:extLst>
              <a:ext uri="{FF2B5EF4-FFF2-40B4-BE49-F238E27FC236}">
                <a16:creationId xmlns:a16="http://schemas.microsoft.com/office/drawing/2014/main" id="{CEF8F31C-82C2-43C9-9D21-9E1EFC2F5826}"/>
              </a:ext>
            </a:extLst>
          </p:cNvPr>
          <p:cNvSpPr>
            <a:spLocks noGrp="1" noChangeArrowheads="1"/>
          </p:cNvSpPr>
          <p:nvPr>
            <p:ph type="title"/>
          </p:nvPr>
        </p:nvSpPr>
        <p:spPr>
          <a:xfrm>
            <a:off x="179388" y="228040"/>
            <a:ext cx="8929687" cy="762000"/>
          </a:xfrm>
        </p:spPr>
        <p:txBody>
          <a:bodyPr/>
          <a:lstStyle/>
          <a:p>
            <a:pPr eaLnBrk="1" hangingPunct="1">
              <a:defRPr/>
            </a:pPr>
            <a:r>
              <a:rPr lang="en-US" altLang="zh-CN" dirty="0"/>
              <a:t>Cache</a:t>
            </a:r>
            <a:r>
              <a:rPr lang="zh-CN" altLang="en-US" dirty="0"/>
              <a:t>性能指标（</a:t>
            </a:r>
            <a:r>
              <a:rPr lang="en-US" altLang="zh-CN" dirty="0"/>
              <a:t>2</a:t>
            </a:r>
            <a:r>
              <a:rPr lang="zh-CN" altLang="en-US" dirty="0"/>
              <a:t>）</a:t>
            </a:r>
          </a:p>
        </p:txBody>
      </p:sp>
      <p:sp>
        <p:nvSpPr>
          <p:cNvPr id="72707" name="Rectangle 3">
            <a:extLst>
              <a:ext uri="{FF2B5EF4-FFF2-40B4-BE49-F238E27FC236}">
                <a16:creationId xmlns:a16="http://schemas.microsoft.com/office/drawing/2014/main" id="{6BFD8D86-4458-4532-AF74-066A1EA1E4CE}"/>
              </a:ext>
            </a:extLst>
          </p:cNvPr>
          <p:cNvSpPr>
            <a:spLocks noGrp="1" noChangeArrowheads="1"/>
          </p:cNvSpPr>
          <p:nvPr>
            <p:ph type="body" sz="half" idx="1"/>
          </p:nvPr>
        </p:nvSpPr>
        <p:spPr>
          <a:xfrm>
            <a:off x="179388" y="981075"/>
            <a:ext cx="8763000" cy="5400675"/>
          </a:xfrm>
        </p:spPr>
        <p:txBody>
          <a:bodyPr/>
          <a:lstStyle/>
          <a:p>
            <a:pPr eaLnBrk="1" hangingPunct="1"/>
            <a:r>
              <a:rPr lang="zh-CN" altLang="en-US" sz="2800"/>
              <a:t>命中时间（</a:t>
            </a:r>
            <a:r>
              <a:rPr lang="en-US" altLang="zh-CN" sz="2800" b="0"/>
              <a:t>Hit Time</a:t>
            </a:r>
            <a:r>
              <a:rPr lang="zh-CN" altLang="en-US" sz="2800"/>
              <a:t>）：从</a:t>
            </a:r>
            <a:r>
              <a:rPr lang="en-US" altLang="zh-CN" sz="2800"/>
              <a:t>cache</a:t>
            </a:r>
            <a:r>
              <a:rPr lang="zh-CN" altLang="en-US" sz="2800"/>
              <a:t>传送一个字到</a:t>
            </a:r>
            <a:r>
              <a:rPr lang="en-US" altLang="zh-CN" sz="2800"/>
              <a:t>CPU</a:t>
            </a:r>
            <a:r>
              <a:rPr lang="zh-CN" altLang="en-US" sz="2800"/>
              <a:t>所需的时间</a:t>
            </a:r>
          </a:p>
          <a:p>
            <a:pPr lvl="1" eaLnBrk="1" hangingPunct="1"/>
            <a:r>
              <a:rPr lang="en-US" altLang="zh-CN" sz="2400" b="0"/>
              <a:t>RAM</a:t>
            </a:r>
            <a:r>
              <a:rPr lang="zh-CN" altLang="en-US" sz="2400"/>
              <a:t>访问时间</a:t>
            </a:r>
            <a:r>
              <a:rPr lang="en-US" altLang="zh-CN" sz="2400" b="0"/>
              <a:t>+ </a:t>
            </a:r>
            <a:r>
              <a:rPr lang="zh-CN" altLang="en-US" sz="2400"/>
              <a:t>确定命中</a:t>
            </a:r>
            <a:r>
              <a:rPr lang="en-US" altLang="zh-CN" sz="2400" b="0"/>
              <a:t>/</a:t>
            </a:r>
            <a:r>
              <a:rPr lang="zh-CN" altLang="en-US" sz="2400"/>
              <a:t>失效的时间（组选择、行确认和字选择的时间）</a:t>
            </a:r>
            <a:endParaRPr lang="en-US" altLang="zh-CN" sz="2400"/>
          </a:p>
          <a:p>
            <a:pPr lvl="1" eaLnBrk="1" hangingPunct="1"/>
            <a:r>
              <a:rPr lang="zh-CN" altLang="en-US" sz="2400"/>
              <a:t>典型数据</a:t>
            </a:r>
            <a:endParaRPr lang="en-US" altLang="zh-CN" sz="2400"/>
          </a:p>
          <a:p>
            <a:pPr lvl="2" eaLnBrk="1" hangingPunct="1"/>
            <a:r>
              <a:rPr lang="en-US" altLang="zh-CN" sz="2000"/>
              <a:t>4 clock cycle for L1</a:t>
            </a:r>
          </a:p>
          <a:p>
            <a:pPr lvl="2" eaLnBrk="1" hangingPunct="1"/>
            <a:r>
              <a:rPr lang="en-US" altLang="zh-CN" sz="2000"/>
              <a:t>10 clock cycles for L2</a:t>
            </a:r>
          </a:p>
          <a:p>
            <a:pPr eaLnBrk="1" hangingPunct="1"/>
            <a:r>
              <a:rPr lang="zh-CN" altLang="en-US" sz="2800"/>
              <a:t>缺失（</a:t>
            </a:r>
            <a:r>
              <a:rPr lang="en-US" altLang="zh-CN" sz="2800" b="0"/>
              <a:t>Miss</a:t>
            </a:r>
            <a:r>
              <a:rPr lang="zh-CN" altLang="en-US" sz="2800"/>
              <a:t>）：需要从低一层的块中找回数据</a:t>
            </a:r>
          </a:p>
          <a:p>
            <a:pPr lvl="1" eaLnBrk="1" hangingPunct="1"/>
            <a:r>
              <a:rPr lang="zh-CN" altLang="en-US" sz="2400"/>
              <a:t>缺失率（</a:t>
            </a:r>
            <a:r>
              <a:rPr lang="en-US" altLang="zh-CN" sz="2400" b="0"/>
              <a:t>Miss Rate</a:t>
            </a:r>
            <a:r>
              <a:rPr lang="zh-CN" altLang="en-US" sz="2400"/>
              <a:t>） </a:t>
            </a:r>
            <a:r>
              <a:rPr lang="en-US" altLang="zh-CN" sz="2400" b="0"/>
              <a:t>= 1 - </a:t>
            </a:r>
            <a:r>
              <a:rPr lang="zh-CN" altLang="en-US" sz="2400"/>
              <a:t>命中率</a:t>
            </a:r>
            <a:endParaRPr lang="en-US" altLang="zh-CN" sz="2400"/>
          </a:p>
          <a:p>
            <a:pPr lvl="2" eaLnBrk="1" hangingPunct="1"/>
            <a:r>
              <a:rPr lang="en-US" altLang="zh-CN" sz="2000" b="0"/>
              <a:t>L1 cache</a:t>
            </a:r>
            <a:r>
              <a:rPr lang="zh-CN" altLang="en-US" sz="2000" b="0"/>
              <a:t>缺失率一般为 </a:t>
            </a:r>
            <a:r>
              <a:rPr lang="en-US" altLang="zh-CN" sz="2000" b="0"/>
              <a:t>3-10%</a:t>
            </a:r>
            <a:r>
              <a:rPr lang="zh-CN" altLang="en-US" sz="2000" b="0"/>
              <a:t>，</a:t>
            </a:r>
            <a:r>
              <a:rPr lang="en-US" altLang="zh-CN" sz="2000" b="0"/>
              <a:t>L2 cache</a:t>
            </a:r>
            <a:r>
              <a:rPr lang="zh-CN" altLang="en-US" sz="2000" b="0"/>
              <a:t>缺失率就更小</a:t>
            </a:r>
            <a:endParaRPr lang="en-US" altLang="zh-CN" sz="2000" b="0"/>
          </a:p>
          <a:p>
            <a:pPr lvl="1" eaLnBrk="1" hangingPunct="1"/>
            <a:r>
              <a:rPr lang="zh-CN" altLang="en-US" sz="2400"/>
              <a:t>缺失损失（</a:t>
            </a:r>
            <a:r>
              <a:rPr lang="en-US" altLang="zh-CN" sz="2400" b="0"/>
              <a:t>Miss Penalty</a:t>
            </a:r>
            <a:r>
              <a:rPr lang="zh-CN" altLang="en-US" sz="2400"/>
              <a:t>）：加载低一层中的数据块到当前层的时间</a:t>
            </a:r>
            <a:r>
              <a:rPr lang="en-US" altLang="zh-CN" sz="2400" b="0"/>
              <a:t>+ </a:t>
            </a:r>
            <a:r>
              <a:rPr lang="zh-CN" altLang="en-US" sz="2400"/>
              <a:t>将数据交付给处理器的时间。也称为缺失处罚</a:t>
            </a:r>
            <a:endParaRPr lang="en-US" altLang="zh-CN" sz="2400"/>
          </a:p>
          <a:p>
            <a:pPr lvl="2" eaLnBrk="1" hangingPunct="1"/>
            <a:r>
              <a:rPr lang="zh-CN" altLang="en-US" sz="2000"/>
              <a:t>从主存加载的典型时间是</a:t>
            </a:r>
            <a:r>
              <a:rPr lang="en-US" altLang="zh-CN" sz="2000"/>
              <a:t>50-200</a:t>
            </a:r>
            <a:r>
              <a:rPr lang="zh-CN" altLang="en-US" sz="2000"/>
              <a:t>时钟</a:t>
            </a:r>
          </a:p>
        </p:txBody>
      </p:sp>
    </p:spTree>
  </p:cSld>
  <p:clrMapOvr>
    <a:masterClrMapping/>
  </p:clrMapOvr>
  <p:transition spd="med">
    <p:pull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F1C4A2-CAA2-4030-801A-D9DACCD3AAFF}"/>
              </a:ext>
            </a:extLst>
          </p:cNvPr>
          <p:cNvSpPr>
            <a:spLocks noGrp="1"/>
          </p:cNvSpPr>
          <p:nvPr>
            <p:ph type="title"/>
          </p:nvPr>
        </p:nvSpPr>
        <p:spPr/>
        <p:txBody>
          <a:bodyPr/>
          <a:lstStyle/>
          <a:p>
            <a:pPr>
              <a:defRPr/>
            </a:pPr>
            <a:r>
              <a:rPr lang="zh-CN" altLang="en-US" dirty="0"/>
              <a:t>“缺失率” 指标更真实</a:t>
            </a:r>
          </a:p>
        </p:txBody>
      </p:sp>
      <p:sp>
        <p:nvSpPr>
          <p:cNvPr id="3" name="内容占位符 2">
            <a:extLst>
              <a:ext uri="{FF2B5EF4-FFF2-40B4-BE49-F238E27FC236}">
                <a16:creationId xmlns:a16="http://schemas.microsoft.com/office/drawing/2014/main" id="{6D358B04-8226-465A-8300-DBB71604FCEF}"/>
              </a:ext>
            </a:extLst>
          </p:cNvPr>
          <p:cNvSpPr>
            <a:spLocks noGrp="1" noChangeArrowheads="1"/>
          </p:cNvSpPr>
          <p:nvPr>
            <p:ph idx="1"/>
          </p:nvPr>
        </p:nvSpPr>
        <p:spPr/>
        <p:txBody>
          <a:bodyPr/>
          <a:lstStyle/>
          <a:p>
            <a:r>
              <a:rPr lang="zh-CN" altLang="en-US" dirty="0"/>
              <a:t>假设一个有</a:t>
            </a:r>
            <a:r>
              <a:rPr lang="en-US" altLang="zh-CN" dirty="0"/>
              <a:t>cache</a:t>
            </a:r>
            <a:r>
              <a:rPr lang="zh-CN" altLang="en-US" dirty="0"/>
              <a:t>的系统</a:t>
            </a:r>
            <a:endParaRPr lang="en-US" altLang="zh-CN" dirty="0"/>
          </a:p>
          <a:p>
            <a:pPr lvl="1"/>
            <a:r>
              <a:rPr lang="en-US" altLang="zh-CN" dirty="0"/>
              <a:t>Cache</a:t>
            </a:r>
            <a:r>
              <a:rPr lang="zh-CN" altLang="en-US" dirty="0"/>
              <a:t>命中时间：</a:t>
            </a:r>
            <a:r>
              <a:rPr lang="en-US" altLang="zh-CN" dirty="0"/>
              <a:t>1</a:t>
            </a:r>
            <a:r>
              <a:rPr lang="zh-CN" altLang="en-US" dirty="0"/>
              <a:t>个时钟周期</a:t>
            </a:r>
            <a:endParaRPr lang="en-US" altLang="zh-CN" dirty="0"/>
          </a:p>
          <a:p>
            <a:pPr lvl="1"/>
            <a:r>
              <a:rPr lang="zh-CN" altLang="en-US" dirty="0"/>
              <a:t>缺失处罚：</a:t>
            </a:r>
            <a:r>
              <a:rPr lang="en-US" altLang="zh-CN" dirty="0"/>
              <a:t>100</a:t>
            </a:r>
            <a:r>
              <a:rPr lang="zh-CN" altLang="en-US" dirty="0"/>
              <a:t>个时钟周期</a:t>
            </a:r>
            <a:endParaRPr lang="en-US" altLang="zh-CN" dirty="0"/>
          </a:p>
          <a:p>
            <a:r>
              <a:rPr lang="zh-CN" altLang="en-US" dirty="0"/>
              <a:t>命中率从</a:t>
            </a:r>
            <a:r>
              <a:rPr lang="en-US" altLang="zh-CN" dirty="0"/>
              <a:t>97%</a:t>
            </a:r>
            <a:r>
              <a:rPr lang="zh-CN" altLang="en-US" dirty="0"/>
              <a:t>提高到</a:t>
            </a:r>
            <a:r>
              <a:rPr lang="en-US" altLang="zh-CN" dirty="0"/>
              <a:t>99%</a:t>
            </a:r>
            <a:r>
              <a:rPr lang="zh-CN" altLang="en-US" dirty="0"/>
              <a:t>，性能改善多少？</a:t>
            </a:r>
            <a:endParaRPr lang="en-US" altLang="zh-CN" dirty="0"/>
          </a:p>
          <a:p>
            <a:r>
              <a:rPr lang="zh-CN" altLang="en-US" dirty="0"/>
              <a:t>平均访问时间：</a:t>
            </a:r>
            <a:endParaRPr lang="en-US" altLang="zh-CN" dirty="0"/>
          </a:p>
          <a:p>
            <a:pPr lvl="1"/>
            <a:r>
              <a:rPr lang="en-US" altLang="zh-CN" dirty="0"/>
              <a:t>97%</a:t>
            </a:r>
            <a:r>
              <a:rPr lang="zh-CN" altLang="en-US" dirty="0"/>
              <a:t>命中：</a:t>
            </a:r>
            <a:r>
              <a:rPr lang="en-US" altLang="zh-CN" dirty="0"/>
              <a:t>1 + 0.003 x 100 = 4 </a:t>
            </a:r>
            <a:r>
              <a:rPr lang="zh-CN" altLang="en-US" dirty="0"/>
              <a:t>时钟周期</a:t>
            </a:r>
            <a:endParaRPr lang="en-US" altLang="zh-CN" dirty="0"/>
          </a:p>
          <a:p>
            <a:pPr lvl="1"/>
            <a:r>
              <a:rPr lang="en-US" altLang="zh-CN" dirty="0"/>
              <a:t>99%</a:t>
            </a:r>
            <a:r>
              <a:rPr lang="zh-CN" altLang="en-US" dirty="0"/>
              <a:t>命中：</a:t>
            </a:r>
            <a:r>
              <a:rPr lang="en-US" altLang="zh-CN" dirty="0"/>
              <a:t>1 + 0.001 x 100 = 2 </a:t>
            </a:r>
            <a:r>
              <a:rPr lang="zh-CN" altLang="en-US" dirty="0"/>
              <a:t>时钟周期</a:t>
            </a:r>
          </a:p>
          <a:p>
            <a:endParaRPr lang="zh-CN" altLang="en-US" dirty="0"/>
          </a:p>
        </p:txBody>
      </p:sp>
      <p:sp>
        <p:nvSpPr>
          <p:cNvPr id="5" name="文本框 4">
            <a:extLst>
              <a:ext uri="{FF2B5EF4-FFF2-40B4-BE49-F238E27FC236}">
                <a16:creationId xmlns:a16="http://schemas.microsoft.com/office/drawing/2014/main" id="{60076434-CB58-494B-B881-A571F333E557}"/>
              </a:ext>
            </a:extLst>
          </p:cNvPr>
          <p:cNvSpPr txBox="1">
            <a:spLocks noChangeArrowheads="1"/>
          </p:cNvSpPr>
          <p:nvPr/>
        </p:nvSpPr>
        <p:spPr bwMode="auto">
          <a:xfrm>
            <a:off x="3276600" y="4648200"/>
            <a:ext cx="1800493" cy="523220"/>
          </a:xfrm>
          <a:prstGeom prst="rect">
            <a:avLst/>
          </a:prstGeom>
          <a:noFill/>
          <a:ln w="25400">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lang="en-US" altLang="zh-CN" sz="2800" dirty="0">
                <a:solidFill>
                  <a:srgbClr val="C00000"/>
                </a:solidFill>
                <a:latin typeface="隶书" panose="02010509060101010101" pitchFamily="49" charset="-122"/>
              </a:rPr>
              <a:t>2</a:t>
            </a:r>
            <a:r>
              <a:rPr lang="zh-CN" altLang="en-US" sz="2800" dirty="0">
                <a:solidFill>
                  <a:srgbClr val="C00000"/>
                </a:solidFill>
                <a:latin typeface="隶书" panose="02010509060101010101" pitchFamily="49" charset="-122"/>
              </a:rPr>
              <a:t>倍提升！</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a:extLst>
              <a:ext uri="{FF2B5EF4-FFF2-40B4-BE49-F238E27FC236}">
                <a16:creationId xmlns:a16="http://schemas.microsoft.com/office/drawing/2014/main" id="{51198D90-3FA8-48B6-8363-8D145FFC0703}"/>
              </a:ext>
            </a:extLst>
          </p:cNvPr>
          <p:cNvSpPr>
            <a:spLocks noGrp="1" noChangeArrowheads="1"/>
          </p:cNvSpPr>
          <p:nvPr>
            <p:ph type="title"/>
          </p:nvPr>
        </p:nvSpPr>
        <p:spPr>
          <a:xfrm>
            <a:off x="-934" y="237332"/>
            <a:ext cx="9109075" cy="762000"/>
          </a:xfrm>
        </p:spPr>
        <p:txBody>
          <a:bodyPr/>
          <a:lstStyle/>
          <a:p>
            <a:pPr eaLnBrk="1" hangingPunct="1">
              <a:defRPr/>
            </a:pPr>
            <a:r>
              <a:rPr lang="zh-CN" altLang="en-US" dirty="0"/>
              <a:t>例</a:t>
            </a:r>
          </a:p>
        </p:txBody>
      </p:sp>
      <p:sp>
        <p:nvSpPr>
          <p:cNvPr id="783363" name="Rectangle 3">
            <a:extLst>
              <a:ext uri="{FF2B5EF4-FFF2-40B4-BE49-F238E27FC236}">
                <a16:creationId xmlns:a16="http://schemas.microsoft.com/office/drawing/2014/main" id="{B7DBEC54-CD72-4CEA-B963-E68CE882D730}"/>
              </a:ext>
            </a:extLst>
          </p:cNvPr>
          <p:cNvSpPr>
            <a:spLocks noGrp="1" noChangeArrowheads="1"/>
          </p:cNvSpPr>
          <p:nvPr>
            <p:ph type="body" sz="half" idx="1"/>
          </p:nvPr>
        </p:nvSpPr>
        <p:spPr>
          <a:xfrm>
            <a:off x="179388" y="914400"/>
            <a:ext cx="8785225" cy="5334000"/>
          </a:xfrm>
        </p:spPr>
        <p:txBody>
          <a:bodyPr/>
          <a:lstStyle/>
          <a:p>
            <a:pPr marL="0" indent="0" eaLnBrk="1" hangingPunct="1">
              <a:buFont typeface="Wingdings 2" panose="05020102010507070707" pitchFamily="18" charset="2"/>
              <a:buNone/>
              <a:defRPr/>
            </a:pPr>
            <a:r>
              <a:rPr lang="en-US" altLang="zh-CN" sz="2400"/>
              <a:t>CPU</a:t>
            </a:r>
            <a:r>
              <a:rPr lang="zh-CN" altLang="en-US" sz="2400"/>
              <a:t>执行一段程序时，</a:t>
            </a:r>
            <a:r>
              <a:rPr lang="en-US" altLang="zh-CN" sz="2400"/>
              <a:t>Cache</a:t>
            </a:r>
            <a:r>
              <a:rPr lang="zh-CN" altLang="en-US" sz="2400"/>
              <a:t>完成存取的次数为</a:t>
            </a:r>
            <a:r>
              <a:rPr lang="en-US" altLang="zh-CN" sz="2400"/>
              <a:t>1900</a:t>
            </a:r>
            <a:r>
              <a:rPr lang="zh-CN" altLang="en-US" sz="2400"/>
              <a:t>次，主存完成存取的次数为</a:t>
            </a:r>
            <a:r>
              <a:rPr lang="en-US" altLang="zh-CN" sz="2400"/>
              <a:t>100</a:t>
            </a:r>
            <a:r>
              <a:rPr lang="zh-CN" altLang="en-US" sz="2400"/>
              <a:t>次，已知</a:t>
            </a:r>
            <a:r>
              <a:rPr lang="en-US" altLang="zh-CN" sz="2400"/>
              <a:t>Cache</a:t>
            </a:r>
            <a:r>
              <a:rPr lang="zh-CN" altLang="en-US" sz="2400"/>
              <a:t>存取周期为</a:t>
            </a:r>
            <a:r>
              <a:rPr lang="en-US" altLang="zh-CN" sz="2400"/>
              <a:t>50ns</a:t>
            </a:r>
            <a:r>
              <a:rPr lang="zh-CN" altLang="en-US" sz="2400"/>
              <a:t>，主存存取周期为</a:t>
            </a:r>
            <a:r>
              <a:rPr lang="en-US" altLang="zh-CN" sz="2400"/>
              <a:t>250ns</a:t>
            </a:r>
            <a:r>
              <a:rPr lang="zh-CN" altLang="en-US" sz="2400"/>
              <a:t>，求</a:t>
            </a:r>
            <a:r>
              <a:rPr lang="en-US" altLang="zh-CN" sz="2400"/>
              <a:t>Cache/</a:t>
            </a:r>
            <a:r>
              <a:rPr lang="zh-CN" altLang="en-US" sz="2400"/>
              <a:t>主存系统的效率和平均访问时间。</a:t>
            </a:r>
          </a:p>
          <a:p>
            <a:pPr marL="0" indent="0" eaLnBrk="1" hangingPunct="1">
              <a:buFont typeface="Wingdings 2" panose="05020102010507070707" pitchFamily="18" charset="2"/>
              <a:buNone/>
              <a:defRPr/>
            </a:pPr>
            <a:r>
              <a:rPr lang="zh-CN" altLang="en-US" sz="2400"/>
              <a:t>解：</a:t>
            </a:r>
          </a:p>
          <a:p>
            <a:pPr marL="0" indent="0" eaLnBrk="1" hangingPunct="1">
              <a:buFont typeface="Wingdings 2" panose="05020102010507070707" pitchFamily="18" charset="2"/>
              <a:buNone/>
              <a:defRPr/>
            </a:pPr>
            <a:endParaRPr lang="zh-CN" altLang="en-US" sz="2400"/>
          </a:p>
          <a:p>
            <a:pPr marL="0" indent="0" eaLnBrk="1" hangingPunct="1">
              <a:buFont typeface="Wingdings 2" panose="05020102010507070707" pitchFamily="18" charset="2"/>
              <a:buNone/>
              <a:defRPr/>
            </a:pPr>
            <a:endParaRPr lang="zh-CN" altLang="en-US" sz="2400"/>
          </a:p>
          <a:p>
            <a:pPr marL="0" indent="0" eaLnBrk="1" hangingPunct="1">
              <a:buFont typeface="Wingdings 2" panose="05020102010507070707" pitchFamily="18" charset="2"/>
              <a:buNone/>
              <a:defRPr/>
            </a:pPr>
            <a:r>
              <a:rPr kumimoji="0" lang="zh-CN" altLang="en-US" sz="2400"/>
              <a:t>访问效率：</a:t>
            </a:r>
          </a:p>
          <a:p>
            <a:pPr marL="0" indent="0" eaLnBrk="1" hangingPunct="1">
              <a:buFont typeface="Wingdings 2" panose="05020102010507070707" pitchFamily="18" charset="2"/>
              <a:buNone/>
              <a:defRPr/>
            </a:pPr>
            <a:endParaRPr kumimoji="0" lang="zh-CN" altLang="en-US" sz="2400" b="0">
              <a:effectLst>
                <a:outerShdw blurRad="38100" dist="38100" dir="2700000" algn="tl">
                  <a:srgbClr val="C0C0C0"/>
                </a:outerShdw>
              </a:effectLst>
            </a:endParaRPr>
          </a:p>
          <a:p>
            <a:pPr marL="0" indent="0" eaLnBrk="1" hangingPunct="1">
              <a:buFont typeface="Wingdings 2" panose="05020102010507070707" pitchFamily="18" charset="2"/>
              <a:buNone/>
              <a:defRPr/>
            </a:pPr>
            <a:endParaRPr kumimoji="0" lang="zh-CN" altLang="en-US" sz="2400" b="0">
              <a:effectLst>
                <a:outerShdw blurRad="38100" dist="38100" dir="2700000" algn="tl">
                  <a:srgbClr val="C0C0C0"/>
                </a:outerShdw>
              </a:effectLst>
            </a:endParaRPr>
          </a:p>
          <a:p>
            <a:pPr marL="0" indent="0" eaLnBrk="1" hangingPunct="1">
              <a:buFont typeface="Wingdings 2" panose="05020102010507070707" pitchFamily="18" charset="2"/>
              <a:buNone/>
              <a:defRPr/>
            </a:pPr>
            <a:endParaRPr kumimoji="0" lang="zh-CN" altLang="en-US" sz="2400" b="0">
              <a:effectLst>
                <a:outerShdw blurRad="38100" dist="38100" dir="2700000" algn="tl">
                  <a:srgbClr val="C0C0C0"/>
                </a:outerShdw>
              </a:effectLst>
            </a:endParaRPr>
          </a:p>
          <a:p>
            <a:pPr marL="0" indent="0" eaLnBrk="1" hangingPunct="1">
              <a:buFont typeface="Wingdings 2" panose="05020102010507070707" pitchFamily="18" charset="2"/>
              <a:buNone/>
              <a:defRPr/>
            </a:pPr>
            <a:r>
              <a:rPr kumimoji="0" lang="zh-CN" altLang="en-US" sz="2400"/>
              <a:t>平均访问时间：</a:t>
            </a:r>
          </a:p>
        </p:txBody>
      </p:sp>
      <p:graphicFrame>
        <p:nvGraphicFramePr>
          <p:cNvPr id="783364" name="Object 4">
            <a:extLst>
              <a:ext uri="{FF2B5EF4-FFF2-40B4-BE49-F238E27FC236}">
                <a16:creationId xmlns:a16="http://schemas.microsoft.com/office/drawing/2014/main" id="{D87506D3-4F2B-4E4F-86D5-86EC232C52CB}"/>
              </a:ext>
            </a:extLst>
          </p:cNvPr>
          <p:cNvGraphicFramePr>
            <a:graphicFrameLocks noGrp="1" noChangeAspect="1"/>
          </p:cNvGraphicFramePr>
          <p:nvPr>
            <p:ph sz="quarter" idx="2"/>
          </p:nvPr>
        </p:nvGraphicFramePr>
        <p:xfrm>
          <a:off x="1309688" y="2393950"/>
          <a:ext cx="2998787" cy="633413"/>
        </p:xfrm>
        <a:graphic>
          <a:graphicData uri="http://schemas.openxmlformats.org/presentationml/2006/ole">
            <mc:AlternateContent xmlns:mc="http://schemas.openxmlformats.org/markup-compatibility/2006">
              <mc:Choice xmlns:v="urn:schemas-microsoft-com:vml" Requires="v">
                <p:oleObj spid="_x0000_s2062" name="公式" r:id="rId3" imgW="35328225" imgH="7458075" progId="Equation.3">
                  <p:embed/>
                </p:oleObj>
              </mc:Choice>
              <mc:Fallback>
                <p:oleObj name="公式" r:id="rId3" imgW="35328225" imgH="7458075" progId="Equation.3">
                  <p:embed/>
                  <p:pic>
                    <p:nvPicPr>
                      <p:cNvPr id="783364" name="Object 4">
                        <a:extLst>
                          <a:ext uri="{FF2B5EF4-FFF2-40B4-BE49-F238E27FC236}">
                            <a16:creationId xmlns:a16="http://schemas.microsoft.com/office/drawing/2014/main" id="{D87506D3-4F2B-4E4F-86D5-86EC232C5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688" y="2393950"/>
                        <a:ext cx="2998787" cy="6334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3366" name="Object 6">
            <a:extLst>
              <a:ext uri="{FF2B5EF4-FFF2-40B4-BE49-F238E27FC236}">
                <a16:creationId xmlns:a16="http://schemas.microsoft.com/office/drawing/2014/main" id="{0340A76C-2EA8-4B49-9BE8-7F5F393C0935}"/>
              </a:ext>
            </a:extLst>
          </p:cNvPr>
          <p:cNvGraphicFramePr>
            <a:graphicFrameLocks noGrp="1" noChangeAspect="1"/>
          </p:cNvGraphicFramePr>
          <p:nvPr>
            <p:ph sz="quarter" idx="3"/>
          </p:nvPr>
        </p:nvGraphicFramePr>
        <p:xfrm>
          <a:off x="5610225" y="2319338"/>
          <a:ext cx="1955800" cy="708025"/>
        </p:xfrm>
        <a:graphic>
          <a:graphicData uri="http://schemas.openxmlformats.org/presentationml/2006/ole">
            <mc:AlternateContent xmlns:mc="http://schemas.openxmlformats.org/markup-compatibility/2006">
              <mc:Choice xmlns:v="urn:schemas-microsoft-com:vml" Requires="v">
                <p:oleObj spid="_x0000_s2063" name="公式" r:id="rId5" imgW="20621625" imgH="7458075" progId="Equation.3">
                  <p:embed/>
                </p:oleObj>
              </mc:Choice>
              <mc:Fallback>
                <p:oleObj name="公式" r:id="rId5" imgW="20621625" imgH="7458075" progId="Equation.3">
                  <p:embed/>
                  <p:pic>
                    <p:nvPicPr>
                      <p:cNvPr id="783366" name="Object 6">
                        <a:extLst>
                          <a:ext uri="{FF2B5EF4-FFF2-40B4-BE49-F238E27FC236}">
                            <a16:creationId xmlns:a16="http://schemas.microsoft.com/office/drawing/2014/main" id="{0340A76C-2EA8-4B49-9BE8-7F5F393C09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0225" y="2319338"/>
                        <a:ext cx="1955800" cy="7080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3368" name="Object 8">
            <a:extLst>
              <a:ext uri="{FF2B5EF4-FFF2-40B4-BE49-F238E27FC236}">
                <a16:creationId xmlns:a16="http://schemas.microsoft.com/office/drawing/2014/main" id="{BC429441-02EF-42A4-838A-1F62EC0317AF}"/>
              </a:ext>
            </a:extLst>
          </p:cNvPr>
          <p:cNvGraphicFramePr>
            <a:graphicFrameLocks noChangeAspect="1"/>
          </p:cNvGraphicFramePr>
          <p:nvPr/>
        </p:nvGraphicFramePr>
        <p:xfrm>
          <a:off x="1628775" y="5399088"/>
          <a:ext cx="4456113" cy="982662"/>
        </p:xfrm>
        <a:graphic>
          <a:graphicData uri="http://schemas.openxmlformats.org/presentationml/2006/ole">
            <mc:AlternateContent xmlns:mc="http://schemas.openxmlformats.org/markup-compatibility/2006">
              <mc:Choice xmlns:v="urn:schemas-microsoft-com:vml" Requires="v">
                <p:oleObj spid="_x0000_s2064" name="公式" r:id="rId7" imgW="24136350" imgH="6800850" progId="Equation.3">
                  <p:embed/>
                </p:oleObj>
              </mc:Choice>
              <mc:Fallback>
                <p:oleObj name="公式" r:id="rId7" imgW="24136350" imgH="6800850" progId="Equation.3">
                  <p:embed/>
                  <p:pic>
                    <p:nvPicPr>
                      <p:cNvPr id="783368" name="Object 8">
                        <a:extLst>
                          <a:ext uri="{FF2B5EF4-FFF2-40B4-BE49-F238E27FC236}">
                            <a16:creationId xmlns:a16="http://schemas.microsoft.com/office/drawing/2014/main" id="{BC429441-02EF-42A4-838A-1F62EC0317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8775" y="5399088"/>
                        <a:ext cx="4456113" cy="98266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3369" name="Object 9">
            <a:extLst>
              <a:ext uri="{FF2B5EF4-FFF2-40B4-BE49-F238E27FC236}">
                <a16:creationId xmlns:a16="http://schemas.microsoft.com/office/drawing/2014/main" id="{66252E63-E5A0-4789-9D99-6CE6D21F4DD5}"/>
              </a:ext>
            </a:extLst>
          </p:cNvPr>
          <p:cNvGraphicFramePr>
            <a:graphicFrameLocks noChangeAspect="1"/>
          </p:cNvGraphicFramePr>
          <p:nvPr/>
        </p:nvGraphicFramePr>
        <p:xfrm>
          <a:off x="1547813" y="3554413"/>
          <a:ext cx="6840537" cy="866775"/>
        </p:xfrm>
        <a:graphic>
          <a:graphicData uri="http://schemas.openxmlformats.org/presentationml/2006/ole">
            <mc:AlternateContent xmlns:mc="http://schemas.openxmlformats.org/markup-compatibility/2006">
              <mc:Choice xmlns:v="urn:schemas-microsoft-com:vml" Requires="v">
                <p:oleObj spid="_x0000_s2065" name="公式" r:id="rId9" imgW="44767500" imgH="7239000" progId="Equation.3">
                  <p:embed/>
                </p:oleObj>
              </mc:Choice>
              <mc:Fallback>
                <p:oleObj name="公式" r:id="rId9" imgW="44767500" imgH="7239000" progId="Equation.3">
                  <p:embed/>
                  <p:pic>
                    <p:nvPicPr>
                      <p:cNvPr id="783369" name="Object 9">
                        <a:extLst>
                          <a:ext uri="{FF2B5EF4-FFF2-40B4-BE49-F238E27FC236}">
                            <a16:creationId xmlns:a16="http://schemas.microsoft.com/office/drawing/2014/main" id="{66252E63-E5A0-4789-9D99-6CE6D21F4DD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3554413"/>
                        <a:ext cx="6840537" cy="866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83364"/>
                                        </p:tgtEl>
                                        <p:attrNameLst>
                                          <p:attrName>style.visibility</p:attrName>
                                        </p:attrNameLst>
                                      </p:cBhvr>
                                      <p:to>
                                        <p:strVal val="visible"/>
                                      </p:to>
                                    </p:set>
                                    <p:anim calcmode="lin" valueType="num">
                                      <p:cBhvr additive="base">
                                        <p:cTn id="7" dur="500" fill="hold"/>
                                        <p:tgtEl>
                                          <p:spTgt spid="783364"/>
                                        </p:tgtEl>
                                        <p:attrNameLst>
                                          <p:attrName>ppt_x</p:attrName>
                                        </p:attrNameLst>
                                      </p:cBhvr>
                                      <p:tavLst>
                                        <p:tav tm="0">
                                          <p:val>
                                            <p:strVal val="1+#ppt_w/2"/>
                                          </p:val>
                                        </p:tav>
                                        <p:tav tm="100000">
                                          <p:val>
                                            <p:strVal val="#ppt_x"/>
                                          </p:val>
                                        </p:tav>
                                      </p:tavLst>
                                    </p:anim>
                                    <p:anim calcmode="lin" valueType="num">
                                      <p:cBhvr additive="base">
                                        <p:cTn id="8" dur="500" fill="hold"/>
                                        <p:tgtEl>
                                          <p:spTgt spid="7833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783366"/>
                                        </p:tgtEl>
                                        <p:attrNameLst>
                                          <p:attrName>style.visibility</p:attrName>
                                        </p:attrNameLst>
                                      </p:cBhvr>
                                      <p:to>
                                        <p:strVal val="visible"/>
                                      </p:to>
                                    </p:set>
                                    <p:anim calcmode="lin" valueType="num">
                                      <p:cBhvr additive="base">
                                        <p:cTn id="13" dur="500" fill="hold"/>
                                        <p:tgtEl>
                                          <p:spTgt spid="783366"/>
                                        </p:tgtEl>
                                        <p:attrNameLst>
                                          <p:attrName>ppt_x</p:attrName>
                                        </p:attrNameLst>
                                      </p:cBhvr>
                                      <p:tavLst>
                                        <p:tav tm="0">
                                          <p:val>
                                            <p:strVal val="1+#ppt_w/2"/>
                                          </p:val>
                                        </p:tav>
                                        <p:tav tm="100000">
                                          <p:val>
                                            <p:strVal val="#ppt_x"/>
                                          </p:val>
                                        </p:tav>
                                      </p:tavLst>
                                    </p:anim>
                                    <p:anim calcmode="lin" valueType="num">
                                      <p:cBhvr additive="base">
                                        <p:cTn id="14" dur="500" fill="hold"/>
                                        <p:tgtEl>
                                          <p:spTgt spid="78336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783369"/>
                                        </p:tgtEl>
                                        <p:attrNameLst>
                                          <p:attrName>style.visibility</p:attrName>
                                        </p:attrNameLst>
                                      </p:cBhvr>
                                      <p:to>
                                        <p:strVal val="visible"/>
                                      </p:to>
                                    </p:set>
                                    <p:anim calcmode="lin" valueType="num">
                                      <p:cBhvr additive="base">
                                        <p:cTn id="19" dur="500" fill="hold"/>
                                        <p:tgtEl>
                                          <p:spTgt spid="783369"/>
                                        </p:tgtEl>
                                        <p:attrNameLst>
                                          <p:attrName>ppt_x</p:attrName>
                                        </p:attrNameLst>
                                      </p:cBhvr>
                                      <p:tavLst>
                                        <p:tav tm="0">
                                          <p:val>
                                            <p:strVal val="1+#ppt_w/2"/>
                                          </p:val>
                                        </p:tav>
                                        <p:tav tm="100000">
                                          <p:val>
                                            <p:strVal val="#ppt_x"/>
                                          </p:val>
                                        </p:tav>
                                      </p:tavLst>
                                    </p:anim>
                                    <p:anim calcmode="lin" valueType="num">
                                      <p:cBhvr additive="base">
                                        <p:cTn id="20" dur="500" fill="hold"/>
                                        <p:tgtEl>
                                          <p:spTgt spid="7833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783368"/>
                                        </p:tgtEl>
                                        <p:attrNameLst>
                                          <p:attrName>style.visibility</p:attrName>
                                        </p:attrNameLst>
                                      </p:cBhvr>
                                      <p:to>
                                        <p:strVal val="visible"/>
                                      </p:to>
                                    </p:set>
                                    <p:anim calcmode="lin" valueType="num">
                                      <p:cBhvr additive="base">
                                        <p:cTn id="25" dur="500" fill="hold"/>
                                        <p:tgtEl>
                                          <p:spTgt spid="783368"/>
                                        </p:tgtEl>
                                        <p:attrNameLst>
                                          <p:attrName>ppt_x</p:attrName>
                                        </p:attrNameLst>
                                      </p:cBhvr>
                                      <p:tavLst>
                                        <p:tav tm="0">
                                          <p:val>
                                            <p:strVal val="1+#ppt_w/2"/>
                                          </p:val>
                                        </p:tav>
                                        <p:tav tm="100000">
                                          <p:val>
                                            <p:strVal val="#ppt_x"/>
                                          </p:val>
                                        </p:tav>
                                      </p:tavLst>
                                    </p:anim>
                                    <p:anim calcmode="lin" valueType="num">
                                      <p:cBhvr additive="base">
                                        <p:cTn id="26" dur="500" fill="hold"/>
                                        <p:tgtEl>
                                          <p:spTgt spid="7833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5AE33-D63E-4A6F-8A4F-A08DF4EB69CD}"/>
              </a:ext>
            </a:extLst>
          </p:cNvPr>
          <p:cNvSpPr>
            <a:spLocks noGrp="1"/>
          </p:cNvSpPr>
          <p:nvPr>
            <p:ph type="title"/>
          </p:nvPr>
        </p:nvSpPr>
        <p:spPr/>
        <p:txBody>
          <a:bodyPr/>
          <a:lstStyle/>
          <a:p>
            <a:pPr>
              <a:defRPr/>
            </a:pPr>
            <a:r>
              <a:rPr lang="zh-CN" altLang="en-US" dirty="0"/>
              <a:t>选择题</a:t>
            </a:r>
          </a:p>
        </p:txBody>
      </p:sp>
      <p:sp>
        <p:nvSpPr>
          <p:cNvPr id="75779" name="内容占位符 2">
            <a:extLst>
              <a:ext uri="{FF2B5EF4-FFF2-40B4-BE49-F238E27FC236}">
                <a16:creationId xmlns:a16="http://schemas.microsoft.com/office/drawing/2014/main" id="{054945F2-1D10-4977-A830-8FB5CF209B81}"/>
              </a:ext>
            </a:extLst>
          </p:cNvPr>
          <p:cNvSpPr>
            <a:spLocks noGrp="1" noChangeArrowheads="1"/>
          </p:cNvSpPr>
          <p:nvPr>
            <p:ph idx="1"/>
          </p:nvPr>
        </p:nvSpPr>
        <p:spPr/>
        <p:txBody>
          <a:bodyPr/>
          <a:lstStyle/>
          <a:p>
            <a:pPr marL="0" indent="0">
              <a:buFont typeface="Wingdings 2" panose="05020102010507070707" pitchFamily="18" charset="2"/>
              <a:buNone/>
            </a:pPr>
            <a:r>
              <a:rPr lang="zh-CN" altLang="en-US" dirty="0"/>
              <a:t>假设某计算机的存储系统由</a:t>
            </a:r>
            <a:r>
              <a:rPr lang="en-US" altLang="zh-CN" dirty="0"/>
              <a:t>Cache</a:t>
            </a:r>
            <a:r>
              <a:rPr lang="zh-CN" altLang="en-US" dirty="0"/>
              <a:t>和主存组成，某程序执行过程中访存</a:t>
            </a:r>
            <a:r>
              <a:rPr lang="en-US" altLang="zh-CN" dirty="0"/>
              <a:t>1000</a:t>
            </a:r>
            <a:r>
              <a:rPr lang="zh-CN" altLang="en-US" dirty="0"/>
              <a:t>次，其中访问</a:t>
            </a:r>
            <a:r>
              <a:rPr lang="en-US" altLang="zh-CN" dirty="0"/>
              <a:t>Cache</a:t>
            </a:r>
            <a:r>
              <a:rPr lang="zh-CN" altLang="en-US" dirty="0"/>
              <a:t>缺失（未命中）</a:t>
            </a:r>
            <a:r>
              <a:rPr lang="en-US" altLang="zh-CN" dirty="0"/>
              <a:t>50</a:t>
            </a:r>
            <a:r>
              <a:rPr lang="zh-CN" altLang="en-US" dirty="0"/>
              <a:t>次，则</a:t>
            </a:r>
            <a:r>
              <a:rPr lang="en-US" altLang="zh-CN" dirty="0"/>
              <a:t>Cache</a:t>
            </a:r>
            <a:r>
              <a:rPr lang="zh-CN" altLang="en-US" dirty="0"/>
              <a:t>的命中率是  </a:t>
            </a:r>
          </a:p>
          <a:p>
            <a:pPr marL="0" indent="0">
              <a:buFont typeface="Wingdings 2" panose="05020102010507070707" pitchFamily="18" charset="2"/>
              <a:buNone/>
            </a:pPr>
            <a:r>
              <a:rPr lang="en-US" altLang="zh-CN" dirty="0"/>
              <a:t>A.  5%  </a:t>
            </a:r>
          </a:p>
          <a:p>
            <a:pPr marL="0" indent="0">
              <a:buFont typeface="Wingdings 2" panose="05020102010507070707" pitchFamily="18" charset="2"/>
              <a:buNone/>
            </a:pPr>
            <a:r>
              <a:rPr lang="en-US" altLang="zh-CN" dirty="0"/>
              <a:t>B.  9.5%  </a:t>
            </a:r>
          </a:p>
          <a:p>
            <a:pPr marL="0" indent="0">
              <a:buFont typeface="Wingdings 2" panose="05020102010507070707" pitchFamily="18" charset="2"/>
              <a:buNone/>
            </a:pPr>
            <a:r>
              <a:rPr lang="en-US" altLang="zh-CN" dirty="0"/>
              <a:t>C.  50%  </a:t>
            </a:r>
          </a:p>
          <a:p>
            <a:pPr marL="0" indent="0">
              <a:buFont typeface="Wingdings 2" panose="05020102010507070707" pitchFamily="18" charset="2"/>
              <a:buNone/>
            </a:pPr>
            <a:r>
              <a:rPr lang="en-US" altLang="zh-CN" dirty="0"/>
              <a:t>D.  95% </a:t>
            </a:r>
            <a:endParaRPr lang="zh-CN" altLang="en-US" dirty="0"/>
          </a:p>
        </p:txBody>
      </p:sp>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783C4D-2F41-4A66-8605-76CAC2348AEC}"/>
              </a:ext>
            </a:extLst>
          </p:cNvPr>
          <p:cNvSpPr>
            <a:spLocks noGrp="1"/>
          </p:cNvSpPr>
          <p:nvPr>
            <p:ph type="title"/>
          </p:nvPr>
        </p:nvSpPr>
        <p:spPr/>
        <p:txBody>
          <a:bodyPr/>
          <a:lstStyle/>
          <a:p>
            <a:pPr>
              <a:defRPr/>
            </a:pPr>
            <a:r>
              <a:rPr lang="zh-CN" altLang="en-US" dirty="0"/>
              <a:t>教材 例 </a:t>
            </a:r>
            <a:r>
              <a:rPr lang="en-US" altLang="zh-CN" dirty="0"/>
              <a:t>10</a:t>
            </a:r>
            <a:endParaRPr lang="zh-CN" altLang="en-US" dirty="0"/>
          </a:p>
        </p:txBody>
      </p:sp>
      <p:sp>
        <p:nvSpPr>
          <p:cNvPr id="3" name="内容占位符 2">
            <a:extLst>
              <a:ext uri="{FF2B5EF4-FFF2-40B4-BE49-F238E27FC236}">
                <a16:creationId xmlns:a16="http://schemas.microsoft.com/office/drawing/2014/main" id="{86687B84-8E4F-470E-8628-8EA269DC7333}"/>
              </a:ext>
            </a:extLst>
          </p:cNvPr>
          <p:cNvSpPr>
            <a:spLocks noGrp="1" noChangeArrowheads="1"/>
          </p:cNvSpPr>
          <p:nvPr>
            <p:ph idx="1"/>
          </p:nvPr>
        </p:nvSpPr>
        <p:spPr/>
        <p:txBody>
          <a:bodyPr/>
          <a:lstStyle/>
          <a:p>
            <a:pPr marL="0" indent="0">
              <a:buFont typeface="Wingdings 2" panose="05020102010507070707" pitchFamily="18" charset="2"/>
              <a:buNone/>
            </a:pPr>
            <a:r>
              <a:rPr lang="zh-CN" altLang="en-US" sz="2400"/>
              <a:t>假设处理器基本的</a:t>
            </a:r>
            <a:r>
              <a:rPr lang="en-US" altLang="zh-CN" sz="2400"/>
              <a:t>CPI</a:t>
            </a:r>
            <a:r>
              <a:rPr lang="zh-CN" altLang="en-US" sz="2400"/>
              <a:t>为</a:t>
            </a:r>
            <a:r>
              <a:rPr lang="en-US" altLang="zh-CN" sz="2400"/>
              <a:t>1.0</a:t>
            </a:r>
            <a:r>
              <a:rPr lang="zh-CN" altLang="en-US" sz="2400"/>
              <a:t>，所有访问在一级</a:t>
            </a:r>
            <a:r>
              <a:rPr lang="en-US" altLang="zh-CN" sz="2400"/>
              <a:t>Cache</a:t>
            </a:r>
            <a:r>
              <a:rPr lang="zh-CN" altLang="en-US" sz="2400"/>
              <a:t>中均命中，时钟频率为</a:t>
            </a:r>
            <a:r>
              <a:rPr lang="en-US" altLang="zh-CN" sz="2400"/>
              <a:t>5GHz</a:t>
            </a:r>
            <a:r>
              <a:rPr lang="zh-CN" altLang="en-US" sz="2400"/>
              <a:t>。假定主存访问时间为</a:t>
            </a:r>
            <a:r>
              <a:rPr lang="en-US" altLang="zh-CN" sz="2400"/>
              <a:t>100ns</a:t>
            </a:r>
            <a:r>
              <a:rPr lang="zh-CN" altLang="en-US" sz="2400"/>
              <a:t>，其中包括缺失处理时间。设一级</a:t>
            </a:r>
            <a:r>
              <a:rPr lang="en-US" altLang="zh-CN" sz="2400"/>
              <a:t>cache</a:t>
            </a:r>
            <a:r>
              <a:rPr lang="zh-CN" altLang="en-US" sz="2400"/>
              <a:t>中每条指令缺失率为</a:t>
            </a:r>
            <a:r>
              <a:rPr lang="en-US" altLang="zh-CN" sz="2400"/>
              <a:t>2%</a:t>
            </a:r>
            <a:r>
              <a:rPr lang="zh-CN" altLang="en-US" sz="2400"/>
              <a:t>。如果增加一个二级</a:t>
            </a:r>
            <a:r>
              <a:rPr lang="en-US" altLang="zh-CN" sz="2400"/>
              <a:t>cache</a:t>
            </a:r>
            <a:r>
              <a:rPr lang="zh-CN" altLang="en-US" sz="2400"/>
              <a:t>，命中或缺失访问的时间都是</a:t>
            </a:r>
            <a:r>
              <a:rPr lang="en-US" altLang="zh-CN" sz="2400"/>
              <a:t>5ns</a:t>
            </a:r>
            <a:r>
              <a:rPr lang="zh-CN" altLang="en-US" sz="2400"/>
              <a:t>，而且容量大到使访问主存的缺失率减为</a:t>
            </a:r>
            <a:r>
              <a:rPr lang="en-US" altLang="zh-CN" sz="2400"/>
              <a:t>0.5%</a:t>
            </a:r>
            <a:r>
              <a:rPr lang="zh-CN" altLang="en-US" sz="2400"/>
              <a:t>，问处理器速率提高了多少？</a:t>
            </a:r>
            <a:endParaRPr lang="en-US" altLang="zh-CN" sz="2400"/>
          </a:p>
          <a:p>
            <a:pPr marL="0" indent="0">
              <a:buFont typeface="Wingdings 2" panose="05020102010507070707" pitchFamily="18" charset="2"/>
              <a:buNone/>
            </a:pPr>
            <a:r>
              <a:rPr lang="zh-CN" altLang="en-US" sz="2400"/>
              <a:t>解： 访问主存的缺失损失折算为主频的时钟周期数为：</a:t>
            </a:r>
            <a:endParaRPr lang="en-US" altLang="zh-CN" sz="2400"/>
          </a:p>
          <a:p>
            <a:pPr marL="0" indent="0">
              <a:buFont typeface="Wingdings 2" panose="05020102010507070707" pitchFamily="18" charset="2"/>
              <a:buNone/>
            </a:pPr>
            <a:r>
              <a:rPr lang="en-US" altLang="zh-CN" sz="2400"/>
              <a:t>             100ns </a:t>
            </a:r>
            <a:r>
              <a:rPr lang="en-US" altLang="zh-CN" sz="2400">
                <a:sym typeface="Symbol" panose="05050102010706020507" pitchFamily="18" charset="2"/>
              </a:rPr>
              <a:t> 0.2ns = 500 </a:t>
            </a:r>
            <a:r>
              <a:rPr lang="zh-CN" altLang="en-US" sz="2400">
                <a:sym typeface="Symbol" panose="05050102010706020507" pitchFamily="18" charset="2"/>
              </a:rPr>
              <a:t>个时钟周期</a:t>
            </a:r>
            <a:endParaRPr lang="en-US" altLang="zh-CN" sz="2400">
              <a:sym typeface="Symbol" panose="05050102010706020507" pitchFamily="18" charset="2"/>
            </a:endParaRPr>
          </a:p>
          <a:p>
            <a:pPr marL="0" indent="0">
              <a:buFont typeface="Wingdings 2" panose="05020102010507070707" pitchFamily="18" charset="2"/>
              <a:buNone/>
            </a:pPr>
            <a:r>
              <a:rPr lang="en-US" altLang="zh-CN" sz="2400">
                <a:sym typeface="Symbol" panose="05050102010706020507" pitchFamily="18" charset="2"/>
              </a:rPr>
              <a:t>             </a:t>
            </a:r>
            <a:r>
              <a:rPr lang="zh-CN" altLang="en-US" sz="2400">
                <a:sym typeface="Symbol" panose="05050102010706020507" pitchFamily="18" charset="2"/>
              </a:rPr>
              <a:t>仅有一级</a:t>
            </a:r>
            <a:r>
              <a:rPr lang="en-US" altLang="zh-CN" sz="2400">
                <a:sym typeface="Symbol" panose="05050102010706020507" pitchFamily="18" charset="2"/>
              </a:rPr>
              <a:t>cache</a:t>
            </a:r>
            <a:r>
              <a:rPr lang="zh-CN" altLang="en-US" sz="2400">
                <a:sym typeface="Symbol" panose="05050102010706020507" pitchFamily="18" charset="2"/>
              </a:rPr>
              <a:t>的处理器的实际</a:t>
            </a:r>
            <a:r>
              <a:rPr lang="en-US" altLang="zh-CN" sz="2400">
                <a:sym typeface="Symbol" panose="05050102010706020507" pitchFamily="18" charset="2"/>
              </a:rPr>
              <a:t>CPI</a:t>
            </a:r>
            <a:r>
              <a:rPr lang="zh-CN" altLang="en-US" sz="2400">
                <a:sym typeface="Symbol" panose="05050102010706020507" pitchFamily="18" charset="2"/>
              </a:rPr>
              <a:t>为：</a:t>
            </a:r>
            <a:endParaRPr lang="en-US" altLang="zh-CN" sz="2400">
              <a:sym typeface="Symbol" panose="05050102010706020507" pitchFamily="18" charset="2"/>
            </a:endParaRPr>
          </a:p>
          <a:p>
            <a:pPr marL="0" indent="0">
              <a:buFont typeface="Wingdings 2" panose="05020102010507070707" pitchFamily="18" charset="2"/>
              <a:buNone/>
            </a:pPr>
            <a:r>
              <a:rPr lang="en-US" altLang="zh-CN" sz="2400">
                <a:sym typeface="Symbol" panose="05050102010706020507" pitchFamily="18" charset="2"/>
              </a:rPr>
              <a:t>              CPI = </a:t>
            </a:r>
            <a:r>
              <a:rPr lang="zh-CN" altLang="en-US" sz="2400">
                <a:sym typeface="Symbol" panose="05050102010706020507" pitchFamily="18" charset="2"/>
              </a:rPr>
              <a:t>基本</a:t>
            </a:r>
            <a:r>
              <a:rPr lang="en-US" altLang="zh-CN" sz="2400">
                <a:sym typeface="Symbol" panose="05050102010706020507" pitchFamily="18" charset="2"/>
              </a:rPr>
              <a:t>CPI + </a:t>
            </a:r>
            <a:r>
              <a:rPr lang="zh-CN" altLang="en-US" sz="2400">
                <a:sym typeface="Symbol" panose="05050102010706020507" pitchFamily="18" charset="2"/>
              </a:rPr>
              <a:t>每条指令中存储器停顿的时钟周期</a:t>
            </a:r>
            <a:endParaRPr lang="en-US" altLang="zh-CN" sz="2400">
              <a:sym typeface="Symbol" panose="05050102010706020507" pitchFamily="18" charset="2"/>
            </a:endParaRPr>
          </a:p>
          <a:p>
            <a:pPr marL="0" indent="0">
              <a:buFont typeface="Wingdings 2" panose="05020102010507070707" pitchFamily="18" charset="2"/>
              <a:buNone/>
            </a:pPr>
            <a:r>
              <a:rPr lang="en-US" altLang="zh-CN" sz="2400">
                <a:sym typeface="Symbol" panose="05050102010706020507" pitchFamily="18" charset="2"/>
              </a:rPr>
              <a:t>                      = 1.0 + 2% × 500 </a:t>
            </a:r>
          </a:p>
          <a:p>
            <a:pPr marL="0" indent="0">
              <a:buFont typeface="Wingdings 2" panose="05020102010507070707" pitchFamily="18" charset="2"/>
              <a:buNone/>
            </a:pPr>
            <a:r>
              <a:rPr lang="en-US" altLang="zh-CN" sz="2400">
                <a:sym typeface="Symbol" panose="05050102010706020507" pitchFamily="18" charset="2"/>
              </a:rPr>
              <a:t>                      =11</a:t>
            </a:r>
          </a:p>
          <a:p>
            <a:pPr marL="0" indent="0">
              <a:buFont typeface="Wingdings 2" panose="05020102010507070707" pitchFamily="18" charset="2"/>
              <a:buNone/>
            </a:pPr>
            <a:r>
              <a:rPr lang="en-US" altLang="zh-CN" sz="2400">
                <a:sym typeface="Symbol" panose="05050102010706020507" pitchFamily="18" charset="2"/>
              </a:rPr>
              <a:t>              </a:t>
            </a:r>
            <a:endParaRPr lang="zh-CN" altLang="en-US" sz="2400">
              <a:sym typeface="Symbol" panose="05050102010706020507" pitchFamily="18" charset="2"/>
            </a:endParaRPr>
          </a:p>
          <a:p>
            <a:pPr marL="0" indent="0">
              <a:buFont typeface="Wingdings 2" panose="05020102010507070707" pitchFamily="18" charset="2"/>
              <a:buNone/>
            </a:pPr>
            <a:endParaRPr lang="en-US" altLang="zh-CN" sz="240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207E5B-14DE-4424-9C57-21E37242D44A}"/>
              </a:ext>
            </a:extLst>
          </p:cNvPr>
          <p:cNvSpPr>
            <a:spLocks noGrp="1"/>
          </p:cNvSpPr>
          <p:nvPr>
            <p:ph type="title"/>
          </p:nvPr>
        </p:nvSpPr>
        <p:spPr/>
        <p:txBody>
          <a:bodyPr/>
          <a:lstStyle/>
          <a:p>
            <a:pPr>
              <a:defRPr/>
            </a:pPr>
            <a:r>
              <a:rPr lang="zh-CN" altLang="en-US" dirty="0"/>
              <a:t>教材 例 </a:t>
            </a:r>
            <a:r>
              <a:rPr lang="en-US" altLang="zh-CN" dirty="0"/>
              <a:t>10</a:t>
            </a:r>
            <a:endParaRPr lang="zh-CN" altLang="en-US" dirty="0"/>
          </a:p>
        </p:txBody>
      </p:sp>
      <p:sp>
        <p:nvSpPr>
          <p:cNvPr id="78851" name="内容占位符 2">
            <a:extLst>
              <a:ext uri="{FF2B5EF4-FFF2-40B4-BE49-F238E27FC236}">
                <a16:creationId xmlns:a16="http://schemas.microsoft.com/office/drawing/2014/main" id="{29BC11F5-A5AD-42B9-A9CF-B0D7BD3BB9B1}"/>
              </a:ext>
            </a:extLst>
          </p:cNvPr>
          <p:cNvSpPr>
            <a:spLocks noGrp="1" noChangeArrowheads="1"/>
          </p:cNvSpPr>
          <p:nvPr>
            <p:ph idx="1"/>
          </p:nvPr>
        </p:nvSpPr>
        <p:spPr/>
        <p:txBody>
          <a:bodyPr/>
          <a:lstStyle/>
          <a:p>
            <a:pPr marL="0" indent="0">
              <a:buFont typeface="Wingdings 2" panose="05020102010507070707" pitchFamily="18" charset="2"/>
              <a:buNone/>
            </a:pPr>
            <a:r>
              <a:rPr lang="zh-CN" altLang="en-US" sz="2400" dirty="0"/>
              <a:t>增加二级</a:t>
            </a:r>
            <a:r>
              <a:rPr lang="en-US" altLang="zh-CN" sz="2400" dirty="0"/>
              <a:t>cache</a:t>
            </a:r>
            <a:r>
              <a:rPr lang="zh-CN" altLang="en-US" sz="2400" dirty="0"/>
              <a:t>后，访问二级</a:t>
            </a:r>
            <a:r>
              <a:rPr lang="en-US" altLang="zh-CN" sz="2400" dirty="0"/>
              <a:t>cache</a:t>
            </a:r>
            <a:r>
              <a:rPr lang="zh-CN" altLang="en-US" sz="2400" dirty="0"/>
              <a:t>的缺失损失折算为主频的时钟周期数为：</a:t>
            </a:r>
            <a:endParaRPr lang="en-US" altLang="zh-CN" sz="2400" dirty="0"/>
          </a:p>
          <a:p>
            <a:pPr marL="0" indent="0">
              <a:buFont typeface="Wingdings 2" panose="05020102010507070707" pitchFamily="18" charset="2"/>
              <a:buNone/>
            </a:pPr>
            <a:r>
              <a:rPr lang="en-US" altLang="zh-CN" sz="2400" dirty="0"/>
              <a:t>         5ns </a:t>
            </a:r>
            <a:r>
              <a:rPr lang="en-US" altLang="zh-CN" sz="2400" dirty="0">
                <a:sym typeface="Symbol" panose="05050102010706020507" pitchFamily="18" charset="2"/>
              </a:rPr>
              <a:t> 0.2ns = 25 </a:t>
            </a:r>
            <a:r>
              <a:rPr lang="zh-CN" altLang="en-US" sz="2400" dirty="0">
                <a:sym typeface="Symbol" panose="05050102010706020507" pitchFamily="18" charset="2"/>
              </a:rPr>
              <a:t>个时钟周期</a:t>
            </a:r>
            <a:endParaRPr lang="en-US" altLang="zh-CN" sz="2400" dirty="0">
              <a:sym typeface="Symbol" panose="05050102010706020507" pitchFamily="18" charset="2"/>
            </a:endParaRPr>
          </a:p>
          <a:p>
            <a:pPr marL="0" indent="0">
              <a:buFont typeface="Wingdings 2" panose="05020102010507070707" pitchFamily="18" charset="2"/>
              <a:buNone/>
            </a:pPr>
            <a:r>
              <a:rPr lang="zh-CN" altLang="en-US" sz="2400" dirty="0"/>
              <a:t>有一、二级</a:t>
            </a:r>
            <a:r>
              <a:rPr lang="en-US" altLang="zh-CN" sz="2400" dirty="0"/>
              <a:t>cache</a:t>
            </a:r>
            <a:r>
              <a:rPr lang="zh-CN" altLang="en-US" sz="2400" dirty="0"/>
              <a:t>的处理器的实际</a:t>
            </a:r>
            <a:r>
              <a:rPr lang="en-US" altLang="zh-CN" sz="2400" dirty="0"/>
              <a:t>CPI</a:t>
            </a:r>
            <a:r>
              <a:rPr lang="zh-CN" altLang="en-US" sz="2400" dirty="0"/>
              <a:t>为：</a:t>
            </a:r>
          </a:p>
          <a:p>
            <a:pPr marL="0" indent="0">
              <a:buFont typeface="Wingdings 2" panose="05020102010507070707" pitchFamily="18" charset="2"/>
              <a:buNone/>
            </a:pPr>
            <a:r>
              <a:rPr lang="zh-CN" altLang="en-US" sz="2400" dirty="0"/>
              <a:t>   </a:t>
            </a:r>
            <a:r>
              <a:rPr lang="en-US" altLang="zh-CN" sz="2400" dirty="0"/>
              <a:t>CPI = </a:t>
            </a:r>
            <a:r>
              <a:rPr lang="zh-CN" altLang="en-US" sz="2400" dirty="0"/>
              <a:t>基本</a:t>
            </a:r>
            <a:r>
              <a:rPr lang="en-US" altLang="zh-CN" sz="2400" dirty="0"/>
              <a:t>CPI + </a:t>
            </a:r>
            <a:r>
              <a:rPr lang="zh-CN" altLang="en-US" sz="2400" dirty="0"/>
              <a:t>每条指令的一级停顿</a:t>
            </a:r>
            <a:r>
              <a:rPr lang="en-US" altLang="zh-CN" sz="2400" dirty="0"/>
              <a:t>+</a:t>
            </a:r>
            <a:r>
              <a:rPr lang="zh-CN" altLang="en-US" sz="2400" dirty="0"/>
              <a:t>每条指令的二级停顿</a:t>
            </a:r>
            <a:endParaRPr lang="en-US" altLang="zh-CN" sz="2400" dirty="0"/>
          </a:p>
          <a:p>
            <a:pPr marL="0" indent="0">
              <a:buFont typeface="Wingdings 2" panose="05020102010507070707" pitchFamily="18" charset="2"/>
              <a:buNone/>
            </a:pPr>
            <a:r>
              <a:rPr lang="en-US" altLang="zh-CN" sz="2400" dirty="0"/>
              <a:t>           =1 + 2%×25  + 0.5%×500 </a:t>
            </a:r>
          </a:p>
          <a:p>
            <a:pPr marL="0" indent="0">
              <a:buFont typeface="Wingdings 2" panose="05020102010507070707" pitchFamily="18" charset="2"/>
              <a:buNone/>
            </a:pPr>
            <a:r>
              <a:rPr lang="en-US" altLang="zh-CN" sz="2400" dirty="0"/>
              <a:t>           =4</a:t>
            </a:r>
          </a:p>
          <a:p>
            <a:pPr marL="0" indent="0">
              <a:buFont typeface="Wingdings 2" panose="05020102010507070707" pitchFamily="18" charset="2"/>
              <a:buNone/>
            </a:pPr>
            <a:r>
              <a:rPr lang="zh-CN" altLang="en-US" sz="2400" dirty="0"/>
              <a:t>性能提升：</a:t>
            </a:r>
            <a:endParaRPr lang="en-US" altLang="zh-CN" sz="2400" dirty="0"/>
          </a:p>
          <a:p>
            <a:pPr marL="0" indent="0">
              <a:buFont typeface="Wingdings 2" panose="05020102010507070707" pitchFamily="18" charset="2"/>
              <a:buNone/>
            </a:pPr>
            <a:r>
              <a:rPr lang="en-US" altLang="zh-CN" sz="2400" dirty="0"/>
              <a:t>      11 </a:t>
            </a:r>
            <a:r>
              <a:rPr lang="en-US" altLang="zh-CN" sz="2400" dirty="0">
                <a:sym typeface="Symbol" panose="05050102010706020507" pitchFamily="18" charset="2"/>
              </a:rPr>
              <a:t> 4 = 2.75</a:t>
            </a:r>
            <a:r>
              <a:rPr lang="zh-CN" altLang="en-US" sz="2400" dirty="0">
                <a:sym typeface="Symbol" panose="05050102010706020507" pitchFamily="18" charset="2"/>
              </a:rPr>
              <a:t>倍</a:t>
            </a:r>
            <a:endParaRPr lang="zh-CN" altLang="en-US" sz="2400" dirty="0"/>
          </a:p>
          <a:p>
            <a:pPr marL="0" indent="0">
              <a:buFont typeface="Wingdings 2" panose="05020102010507070707" pitchFamily="18" charset="2"/>
              <a:buNone/>
            </a:pPr>
            <a:endParaRPr lang="zh-CN" altLang="en-US" sz="2400" dirty="0"/>
          </a:p>
        </p:txBody>
      </p:sp>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3.7 </a:t>
            </a:r>
            <a:r>
              <a:rPr lang="zh-CN" altLang="en-US" dirty="0"/>
              <a:t>虚拟存储器</a:t>
            </a:r>
          </a:p>
        </p:txBody>
      </p:sp>
    </p:spTree>
    <p:extLst>
      <p:ext uri="{BB962C8B-B14F-4D97-AF65-F5344CB8AC3E}">
        <p14:creationId xmlns:p14="http://schemas.microsoft.com/office/powerpoint/2010/main" val="145674060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30BC8-4049-4653-9F79-628045981347}"/>
              </a:ext>
            </a:extLst>
          </p:cNvPr>
          <p:cNvSpPr>
            <a:spLocks noGrp="1"/>
          </p:cNvSpPr>
          <p:nvPr>
            <p:ph type="title"/>
          </p:nvPr>
        </p:nvSpPr>
        <p:spPr>
          <a:xfrm>
            <a:off x="260630" y="254000"/>
            <a:ext cx="8502370" cy="812800"/>
          </a:xfrm>
        </p:spPr>
        <p:txBody>
          <a:bodyPr/>
          <a:lstStyle/>
          <a:p>
            <a:pPr algn="l" eaLnBrk="1" hangingPunct="1">
              <a:defRPr/>
            </a:pPr>
            <a:r>
              <a:rPr lang="zh-CN" altLang="en-US" dirty="0"/>
              <a:t>实例   事务处理的高性能需求</a:t>
            </a:r>
          </a:p>
        </p:txBody>
      </p:sp>
      <p:sp>
        <p:nvSpPr>
          <p:cNvPr id="3" name="内容占位符 2">
            <a:extLst>
              <a:ext uri="{FF2B5EF4-FFF2-40B4-BE49-F238E27FC236}">
                <a16:creationId xmlns:a16="http://schemas.microsoft.com/office/drawing/2014/main" id="{968ED0E4-071A-472E-88C8-9DAF8AC12FD8}"/>
              </a:ext>
            </a:extLst>
          </p:cNvPr>
          <p:cNvSpPr>
            <a:spLocks noGrp="1" noChangeArrowheads="1"/>
          </p:cNvSpPr>
          <p:nvPr>
            <p:ph idx="1"/>
          </p:nvPr>
        </p:nvSpPr>
        <p:spPr>
          <a:xfrm>
            <a:off x="260630" y="1143000"/>
            <a:ext cx="8497888" cy="5278438"/>
          </a:xfrm>
        </p:spPr>
        <p:txBody>
          <a:bodyPr/>
          <a:lstStyle/>
          <a:p>
            <a:pPr>
              <a:lnSpc>
                <a:spcPts val="3363"/>
              </a:lnSpc>
            </a:pPr>
            <a:r>
              <a:rPr lang="zh-CN" altLang="zh-CN" dirty="0"/>
              <a:t>Google</a:t>
            </a:r>
            <a:r>
              <a:rPr lang="zh-CN" altLang="en-US" dirty="0"/>
              <a:t>信息</a:t>
            </a:r>
            <a:r>
              <a:rPr lang="zh-CN" altLang="zh-CN" dirty="0"/>
              <a:t>查询</a:t>
            </a:r>
            <a:endParaRPr lang="en-US" altLang="zh-CN" dirty="0"/>
          </a:p>
          <a:p>
            <a:pPr lvl="1">
              <a:lnSpc>
                <a:spcPts val="3363"/>
              </a:lnSpc>
            </a:pPr>
            <a:r>
              <a:rPr lang="en-US" altLang="zh-CN" dirty="0"/>
              <a:t>150M</a:t>
            </a:r>
            <a:r>
              <a:rPr lang="zh-CN" altLang="en-US" dirty="0"/>
              <a:t>次查询</a:t>
            </a:r>
            <a:r>
              <a:rPr lang="en-US" altLang="zh-CN" dirty="0"/>
              <a:t>/</a:t>
            </a:r>
            <a:r>
              <a:rPr lang="zh-CN" altLang="en-US" dirty="0"/>
              <a:t>天</a:t>
            </a:r>
            <a:r>
              <a:rPr lang="en-US" altLang="zh-CN" dirty="0"/>
              <a:t> (2000</a:t>
            </a:r>
            <a:r>
              <a:rPr lang="zh-CN" altLang="en-US" dirty="0"/>
              <a:t>次</a:t>
            </a:r>
            <a:r>
              <a:rPr lang="en-US" altLang="zh-CN" dirty="0"/>
              <a:t>/s)</a:t>
            </a:r>
          </a:p>
          <a:p>
            <a:pPr lvl="1">
              <a:lnSpc>
                <a:spcPts val="3363"/>
              </a:lnSpc>
            </a:pPr>
            <a:r>
              <a:rPr lang="en-US" altLang="zh-CN" dirty="0"/>
              <a:t>100 </a:t>
            </a:r>
            <a:r>
              <a:rPr lang="zh-CN" altLang="en-US" dirty="0"/>
              <a:t>个国家的用户</a:t>
            </a:r>
            <a:endParaRPr lang="en-US" altLang="zh-CN" dirty="0"/>
          </a:p>
          <a:p>
            <a:pPr lvl="1">
              <a:lnSpc>
                <a:spcPts val="3363"/>
              </a:lnSpc>
            </a:pPr>
            <a:r>
              <a:rPr lang="zh-CN" altLang="en-US" dirty="0"/>
              <a:t>可索引</a:t>
            </a:r>
            <a:r>
              <a:rPr lang="en-US" altLang="zh-CN" dirty="0"/>
              <a:t>80</a:t>
            </a:r>
            <a:r>
              <a:rPr lang="zh-CN" altLang="en-US" dirty="0"/>
              <a:t>亿个文档</a:t>
            </a:r>
            <a:endParaRPr lang="en-US" altLang="zh-CN" dirty="0"/>
          </a:p>
          <a:p>
            <a:pPr>
              <a:lnSpc>
                <a:spcPts val="3363"/>
              </a:lnSpc>
            </a:pPr>
            <a:r>
              <a:rPr lang="en-US" altLang="zh-CN" dirty="0"/>
              <a:t>Google</a:t>
            </a:r>
            <a:r>
              <a:rPr lang="zh-CN" altLang="en-US" dirty="0"/>
              <a:t>基础架构</a:t>
            </a:r>
            <a:endParaRPr lang="en-US" altLang="zh-CN" dirty="0"/>
          </a:p>
          <a:p>
            <a:pPr lvl="1">
              <a:lnSpc>
                <a:spcPts val="3363"/>
              </a:lnSpc>
            </a:pPr>
            <a:r>
              <a:rPr lang="en-US" altLang="zh-CN" dirty="0"/>
              <a:t> &gt;200,000</a:t>
            </a:r>
            <a:r>
              <a:rPr lang="zh-CN" altLang="en-US" dirty="0"/>
              <a:t>台商业</a:t>
            </a:r>
            <a:r>
              <a:rPr lang="en-US" altLang="zh-CN" dirty="0"/>
              <a:t>Linux</a:t>
            </a:r>
            <a:r>
              <a:rPr lang="zh-CN" altLang="en-US" dirty="0"/>
              <a:t>服务器</a:t>
            </a:r>
            <a:endParaRPr lang="en-US" altLang="zh-CN" dirty="0"/>
          </a:p>
          <a:p>
            <a:pPr lvl="1">
              <a:lnSpc>
                <a:spcPts val="3363"/>
              </a:lnSpc>
            </a:pPr>
            <a:r>
              <a:rPr lang="zh-CN" altLang="en-US" dirty="0"/>
              <a:t>存储容量</a:t>
            </a:r>
            <a:r>
              <a:rPr lang="en-US" altLang="zh-CN" dirty="0"/>
              <a:t>&gt;5 petabytes</a:t>
            </a:r>
          </a:p>
          <a:p>
            <a:pPr lvl="1">
              <a:lnSpc>
                <a:spcPts val="3363"/>
              </a:lnSpc>
            </a:pPr>
            <a:r>
              <a:rPr lang="zh-CN" altLang="en-US" dirty="0"/>
              <a:t>可索引</a:t>
            </a:r>
            <a:r>
              <a:rPr lang="en-US" altLang="zh-CN" dirty="0"/>
              <a:t> &gt;80</a:t>
            </a:r>
            <a:r>
              <a:rPr lang="zh-CN" altLang="en-US" dirty="0"/>
              <a:t>亿个网页</a:t>
            </a:r>
            <a:endParaRPr lang="en-US" altLang="zh-CN" dirty="0"/>
          </a:p>
          <a:p>
            <a:pPr lvl="1">
              <a:lnSpc>
                <a:spcPts val="3363"/>
              </a:lnSpc>
            </a:pPr>
            <a:r>
              <a:rPr lang="zh-CN" altLang="zh-CN" dirty="0"/>
              <a:t>资本和运营成本</a:t>
            </a:r>
            <a:r>
              <a:rPr lang="zh-CN" altLang="en-US" dirty="0"/>
              <a:t>只是</a:t>
            </a:r>
            <a:r>
              <a:rPr lang="zh-CN" altLang="zh-CN" dirty="0"/>
              <a:t>大型商业服务器的一小部分</a:t>
            </a:r>
            <a:r>
              <a:rPr lang="en-US" altLang="zh-CN" dirty="0"/>
              <a:t> </a:t>
            </a:r>
          </a:p>
          <a:p>
            <a:pPr lvl="1">
              <a:lnSpc>
                <a:spcPts val="3363"/>
              </a:lnSpc>
            </a:pPr>
            <a:r>
              <a:rPr lang="zh-CN" altLang="en-US" dirty="0"/>
              <a:t>访问量的增长为</a:t>
            </a:r>
            <a:r>
              <a:rPr lang="en-US" altLang="zh-CN" dirty="0"/>
              <a:t>20-30</a:t>
            </a:r>
            <a:r>
              <a:rPr lang="zh-CN" altLang="en-US" dirty="0"/>
              <a:t>％</a:t>
            </a:r>
            <a:r>
              <a:rPr lang="en-US" altLang="zh-CN" dirty="0"/>
              <a:t>/</a:t>
            </a:r>
            <a:r>
              <a:rPr lang="zh-CN" altLang="en-US" dirty="0"/>
              <a:t>月</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lide(fromBottom)">
                                      <p:cBhvr>
                                        <p:cTn id="7" dur="500"/>
                                        <p:tgtEl>
                                          <p:spTgt spid="3">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slide(fromBottom)">
                                      <p:cBhvr>
                                        <p:cTn id="10" dur="500"/>
                                        <p:tgtEl>
                                          <p:spTgt spid="3">
                                            <p:txEl>
                                              <p:pRg st="1" end="1"/>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slide(fromBottom)">
                                      <p:cBhvr>
                                        <p:cTn id="13" dur="500"/>
                                        <p:tgtEl>
                                          <p:spTgt spid="3">
                                            <p:txEl>
                                              <p:pRg st="2" end="2"/>
                                            </p:txEl>
                                          </p:spTgt>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slide(fromBottom)">
                                      <p:cBhvr>
                                        <p:cTn id="16" dur="500"/>
                                        <p:tgtEl>
                                          <p:spTgt spid="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slide(fromBottom)">
                                      <p:cBhvr>
                                        <p:cTn id="21" dur="500"/>
                                        <p:tgtEl>
                                          <p:spTgt spid="3">
                                            <p:txEl>
                                              <p:pRg st="4" end="4"/>
                                            </p:txEl>
                                          </p:spTgt>
                                        </p:tgtEl>
                                      </p:cBhvr>
                                    </p:animEffect>
                                  </p:childTnLst>
                                </p:cTn>
                              </p:par>
                              <p:par>
                                <p:cTn id="22" presetID="12" presetClass="entr" presetSubtype="4"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slide(fromBottom)">
                                      <p:cBhvr>
                                        <p:cTn id="24" dur="500"/>
                                        <p:tgtEl>
                                          <p:spTgt spid="3">
                                            <p:txEl>
                                              <p:pRg st="5" end="5"/>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slide(fromBottom)">
                                      <p:cBhvr>
                                        <p:cTn id="27" dur="500"/>
                                        <p:tgtEl>
                                          <p:spTgt spid="3">
                                            <p:txEl>
                                              <p:pRg st="6" end="6"/>
                                            </p:txEl>
                                          </p:spTgt>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slide(fromBottom)">
                                      <p:cBhvr>
                                        <p:cTn id="30" dur="500"/>
                                        <p:tgtEl>
                                          <p:spTgt spid="3">
                                            <p:txEl>
                                              <p:pRg st="7" end="7"/>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slide(fromBottom)">
                                      <p:cBhvr>
                                        <p:cTn id="33" dur="500"/>
                                        <p:tgtEl>
                                          <p:spTgt spid="3">
                                            <p:txEl>
                                              <p:pRg st="8" end="8"/>
                                            </p:txEl>
                                          </p:spTgt>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slide(fromBottom)">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1270BF-68DB-404F-87EB-BDD6D76D7718}"/>
              </a:ext>
            </a:extLst>
          </p:cNvPr>
          <p:cNvSpPr>
            <a:spLocks noGrp="1"/>
          </p:cNvSpPr>
          <p:nvPr>
            <p:ph type="title"/>
          </p:nvPr>
        </p:nvSpPr>
        <p:spPr/>
        <p:txBody>
          <a:bodyPr/>
          <a:lstStyle/>
          <a:p>
            <a:pPr eaLnBrk="1" hangingPunct="1">
              <a:defRPr/>
            </a:pPr>
            <a:r>
              <a:rPr lang="en-US" altLang="zh-CN" dirty="0"/>
              <a:t>Google</a:t>
            </a:r>
            <a:r>
              <a:rPr lang="zh-CN" altLang="en-US" dirty="0"/>
              <a:t>数据中心</a:t>
            </a:r>
          </a:p>
        </p:txBody>
      </p:sp>
      <p:sp>
        <p:nvSpPr>
          <p:cNvPr id="3" name="内容占位符 2">
            <a:extLst>
              <a:ext uri="{FF2B5EF4-FFF2-40B4-BE49-F238E27FC236}">
                <a16:creationId xmlns:a16="http://schemas.microsoft.com/office/drawing/2014/main" id="{D66CE5C4-0D85-44A2-9E59-4F628FFF22CE}"/>
              </a:ext>
            </a:extLst>
          </p:cNvPr>
          <p:cNvSpPr>
            <a:spLocks noGrp="1" noChangeArrowheads="1"/>
          </p:cNvSpPr>
          <p:nvPr>
            <p:ph idx="1"/>
          </p:nvPr>
        </p:nvSpPr>
        <p:spPr>
          <a:xfrm>
            <a:off x="381000" y="1066800"/>
            <a:ext cx="8497887" cy="5278438"/>
          </a:xfrm>
        </p:spPr>
        <p:txBody>
          <a:bodyPr/>
          <a:lstStyle/>
          <a:p>
            <a:pPr marL="0" indent="0">
              <a:lnSpc>
                <a:spcPts val="3363"/>
              </a:lnSpc>
              <a:buFont typeface="Wingdings 2" panose="05020102010507070707" pitchFamily="18" charset="2"/>
              <a:buNone/>
            </a:pPr>
            <a:r>
              <a:rPr lang="en-US" altLang="zh-CN" dirty="0"/>
              <a:t>Google</a:t>
            </a:r>
            <a:r>
              <a:rPr lang="zh-CN" altLang="en-US" dirty="0"/>
              <a:t>在全球分布着众多的数据中心，共有</a:t>
            </a:r>
            <a:r>
              <a:rPr lang="en-US" altLang="zh-CN" dirty="0"/>
              <a:t>36</a:t>
            </a:r>
            <a:r>
              <a:rPr lang="zh-CN" altLang="en-US" dirty="0"/>
              <a:t>个数据中心。 其中美国有</a:t>
            </a:r>
            <a:r>
              <a:rPr lang="en-US" altLang="zh-CN" dirty="0"/>
              <a:t>19</a:t>
            </a:r>
            <a:r>
              <a:rPr lang="zh-CN" altLang="en-US" dirty="0"/>
              <a:t>个、欧洲</a:t>
            </a:r>
            <a:r>
              <a:rPr lang="en-US" altLang="zh-CN" dirty="0"/>
              <a:t>12</a:t>
            </a:r>
            <a:r>
              <a:rPr lang="zh-CN" altLang="en-US" dirty="0"/>
              <a:t>个、俄罗斯</a:t>
            </a:r>
            <a:r>
              <a:rPr lang="en-US" altLang="zh-CN" dirty="0"/>
              <a:t>1</a:t>
            </a:r>
            <a:r>
              <a:rPr lang="zh-CN" altLang="en-US" dirty="0"/>
              <a:t>个、南美</a:t>
            </a:r>
            <a:r>
              <a:rPr lang="en-US" altLang="zh-CN" dirty="0"/>
              <a:t>1</a:t>
            </a:r>
            <a:r>
              <a:rPr lang="zh-CN" altLang="en-US" dirty="0"/>
              <a:t>个和亚洲</a:t>
            </a:r>
            <a:r>
              <a:rPr lang="en-US" altLang="zh-CN" dirty="0"/>
              <a:t>3</a:t>
            </a:r>
            <a:r>
              <a:rPr lang="zh-CN" altLang="en-US" dirty="0"/>
              <a:t>个。</a:t>
            </a:r>
            <a:endParaRPr lang="en-US" altLang="zh-CN" dirty="0"/>
          </a:p>
          <a:p>
            <a:pPr lvl="1">
              <a:lnSpc>
                <a:spcPts val="3363"/>
              </a:lnSpc>
            </a:pPr>
            <a:endParaRPr lang="en-US" altLang="zh-CN" dirty="0"/>
          </a:p>
        </p:txBody>
      </p:sp>
      <p:pic>
        <p:nvPicPr>
          <p:cNvPr id="4" name="图片 3" descr="google数据中心.jpg">
            <a:extLst>
              <a:ext uri="{FF2B5EF4-FFF2-40B4-BE49-F238E27FC236}">
                <a16:creationId xmlns:a16="http://schemas.microsoft.com/office/drawing/2014/main" id="{66E6A777-B498-42C1-94E6-4CDE1A2F71C7}"/>
              </a:ext>
            </a:extLst>
          </p:cNvPr>
          <p:cNvPicPr>
            <a:picLocks noChangeAspect="1"/>
          </p:cNvPicPr>
          <p:nvPr/>
        </p:nvPicPr>
        <p:blipFill>
          <a:blip r:embed="rId2">
            <a:lum contrast="30000"/>
            <a:extLst>
              <a:ext uri="{28A0092B-C50C-407E-A947-70E740481C1C}">
                <a14:useLocalDpi xmlns:a14="http://schemas.microsoft.com/office/drawing/2010/main" val="0"/>
              </a:ext>
            </a:extLst>
          </a:blip>
          <a:srcRect l="2805" t="6210" r="2805" b="6982"/>
          <a:stretch>
            <a:fillRect/>
          </a:stretch>
        </p:blipFill>
        <p:spPr bwMode="auto">
          <a:xfrm>
            <a:off x="539750" y="2416175"/>
            <a:ext cx="7858125"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C88919C8-7B0B-4554-A1E3-2AA7A586F7D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3275" y="2432050"/>
            <a:ext cx="523875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19EE7988-97C3-4835-80B3-F5EE18C3A9B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03588" y="2420938"/>
            <a:ext cx="5214937"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1026">
            <a:extLst>
              <a:ext uri="{FF2B5EF4-FFF2-40B4-BE49-F238E27FC236}">
                <a16:creationId xmlns:a16="http://schemas.microsoft.com/office/drawing/2014/main" id="{C4031675-59EE-47EE-908F-E08331AA0955}"/>
              </a:ext>
            </a:extLst>
          </p:cNvPr>
          <p:cNvSpPr>
            <a:spLocks noGrp="1" noChangeArrowheads="1"/>
          </p:cNvSpPr>
          <p:nvPr>
            <p:ph type="title"/>
          </p:nvPr>
        </p:nvSpPr>
        <p:spPr/>
        <p:txBody>
          <a:bodyPr/>
          <a:lstStyle/>
          <a:p>
            <a:pPr eaLnBrk="1" hangingPunct="1">
              <a:defRPr/>
            </a:pPr>
            <a:r>
              <a:rPr lang="zh-CN" altLang="en-US"/>
              <a:t>虚存的引入 </a:t>
            </a:r>
          </a:p>
        </p:txBody>
      </p:sp>
      <p:sp>
        <p:nvSpPr>
          <p:cNvPr id="82947" name="Rectangle 1027">
            <a:extLst>
              <a:ext uri="{FF2B5EF4-FFF2-40B4-BE49-F238E27FC236}">
                <a16:creationId xmlns:a16="http://schemas.microsoft.com/office/drawing/2014/main" id="{4566590F-1B9F-46AA-877A-FB32CFA22185}"/>
              </a:ext>
            </a:extLst>
          </p:cNvPr>
          <p:cNvSpPr>
            <a:spLocks noGrp="1" noChangeArrowheads="1"/>
          </p:cNvSpPr>
          <p:nvPr>
            <p:ph idx="1"/>
          </p:nvPr>
        </p:nvSpPr>
        <p:spPr>
          <a:xfrm>
            <a:off x="255587" y="1203325"/>
            <a:ext cx="8632825" cy="5400675"/>
          </a:xfrm>
        </p:spPr>
        <p:txBody>
          <a:bodyPr/>
          <a:lstStyle/>
          <a:p>
            <a:pPr eaLnBrk="1" hangingPunct="1">
              <a:lnSpc>
                <a:spcPct val="90000"/>
              </a:lnSpc>
            </a:pPr>
            <a:r>
              <a:rPr lang="zh-CN" altLang="en-US" dirty="0"/>
              <a:t>程序所需的存储器容量可能大于计算机系统实际配备的主存储器容量</a:t>
            </a:r>
          </a:p>
          <a:p>
            <a:pPr eaLnBrk="1" hangingPunct="1">
              <a:lnSpc>
                <a:spcPct val="90000"/>
              </a:lnSpc>
            </a:pPr>
            <a:r>
              <a:rPr lang="zh-CN" altLang="en-US" dirty="0"/>
              <a:t>在编写程序时希望</a:t>
            </a:r>
            <a:r>
              <a:rPr lang="zh-CN" altLang="en-US" dirty="0">
                <a:solidFill>
                  <a:srgbClr val="CC3300"/>
                </a:solidFill>
              </a:rPr>
              <a:t>独立编址</a:t>
            </a:r>
          </a:p>
          <a:p>
            <a:pPr lvl="1" eaLnBrk="1" hangingPunct="1">
              <a:lnSpc>
                <a:spcPct val="90000"/>
              </a:lnSpc>
            </a:pPr>
            <a:r>
              <a:rPr lang="zh-CN" altLang="en-US" dirty="0"/>
              <a:t>无需考虑程序是否能在物理存储器中存放得下</a:t>
            </a:r>
          </a:p>
          <a:p>
            <a:pPr lvl="1" eaLnBrk="1" hangingPunct="1">
              <a:lnSpc>
                <a:spcPct val="90000"/>
              </a:lnSpc>
            </a:pPr>
            <a:r>
              <a:rPr lang="zh-CN" altLang="en-US" dirty="0"/>
              <a:t>无线考虑程序应该存放在什么物理位置</a:t>
            </a:r>
          </a:p>
          <a:p>
            <a:pPr eaLnBrk="1" hangingPunct="1">
              <a:lnSpc>
                <a:spcPct val="90000"/>
              </a:lnSpc>
            </a:pPr>
            <a:r>
              <a:rPr lang="zh-CN" altLang="en-US" dirty="0"/>
              <a:t>在程序运行时分配给每个程序一定的运行空间</a:t>
            </a:r>
          </a:p>
          <a:p>
            <a:pPr lvl="1" eaLnBrk="1" hangingPunct="1">
              <a:lnSpc>
                <a:spcPct val="90000"/>
              </a:lnSpc>
            </a:pPr>
            <a:r>
              <a:rPr lang="zh-CN" altLang="en-US" dirty="0"/>
              <a:t>由地址转换部件（硬件或软件）将编写程序时使用的地址（逻辑地址）转换成实际内存的地址（物理地址）</a:t>
            </a:r>
          </a:p>
          <a:p>
            <a:pPr eaLnBrk="1" hangingPunct="1">
              <a:lnSpc>
                <a:spcPct val="90000"/>
              </a:lnSpc>
              <a:buFont typeface="Wingdings 2" panose="05020102010507070707" pitchFamily="18" charset="2"/>
              <a:buNone/>
            </a:pPr>
            <a:r>
              <a:rPr lang="zh-CN" altLang="en-US" dirty="0">
                <a:solidFill>
                  <a:srgbClr val="CC3300"/>
                </a:solidFill>
              </a:rPr>
              <a:t>目的：给程序员一个比实际内存大得多的编址</a:t>
            </a:r>
          </a:p>
          <a:p>
            <a:pPr eaLnBrk="1" hangingPunct="1">
              <a:lnSpc>
                <a:spcPct val="90000"/>
              </a:lnSpc>
              <a:buFont typeface="Wingdings 2" panose="05020102010507070707" pitchFamily="18" charset="2"/>
              <a:buNone/>
            </a:pPr>
            <a:r>
              <a:rPr lang="zh-CN" altLang="en-US" dirty="0">
                <a:solidFill>
                  <a:srgbClr val="CC3300"/>
                </a:solidFill>
              </a:rPr>
              <a:t>            空间</a:t>
            </a:r>
          </a:p>
        </p:txBody>
      </p:sp>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952AFA-0A5B-4DCB-A5F9-D71F9DC8D7B2}"/>
              </a:ext>
            </a:extLst>
          </p:cNvPr>
          <p:cNvSpPr>
            <a:spLocks noGrp="1"/>
          </p:cNvSpPr>
          <p:nvPr>
            <p:ph type="title"/>
          </p:nvPr>
        </p:nvSpPr>
        <p:spPr>
          <a:xfrm>
            <a:off x="152400" y="226828"/>
            <a:ext cx="8839200" cy="812800"/>
          </a:xfrm>
        </p:spPr>
        <p:txBody>
          <a:bodyPr/>
          <a:lstStyle/>
          <a:p>
            <a:pPr>
              <a:defRPr/>
            </a:pPr>
            <a:r>
              <a:rPr lang="zh-CN" altLang="en-US" sz="4000" dirty="0"/>
              <a:t>虚存能为每个进程提供统一的地址空间</a:t>
            </a:r>
          </a:p>
        </p:txBody>
      </p:sp>
      <p:sp>
        <p:nvSpPr>
          <p:cNvPr id="83971" name="内容占位符 2">
            <a:extLst>
              <a:ext uri="{FF2B5EF4-FFF2-40B4-BE49-F238E27FC236}">
                <a16:creationId xmlns:a16="http://schemas.microsoft.com/office/drawing/2014/main" id="{2FB2E704-7FB6-4925-B209-BF2853E14CC9}"/>
              </a:ext>
            </a:extLst>
          </p:cNvPr>
          <p:cNvSpPr>
            <a:spLocks noGrp="1" noChangeArrowheads="1"/>
          </p:cNvSpPr>
          <p:nvPr>
            <p:ph idx="1"/>
          </p:nvPr>
        </p:nvSpPr>
        <p:spPr/>
        <p:txBody>
          <a:bodyPr/>
          <a:lstStyle/>
          <a:p>
            <a:endParaRPr lang="zh-CN" altLang="en-US"/>
          </a:p>
        </p:txBody>
      </p:sp>
      <p:pic>
        <p:nvPicPr>
          <p:cNvPr id="83973" name="Picture 2">
            <a:extLst>
              <a:ext uri="{FF2B5EF4-FFF2-40B4-BE49-F238E27FC236}">
                <a16:creationId xmlns:a16="http://schemas.microsoft.com/office/drawing/2014/main" id="{0F104125-2437-419F-83E3-2FA1CA8ABC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611313"/>
            <a:ext cx="2925763" cy="452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a:extLst>
              <a:ext uri="{FF2B5EF4-FFF2-40B4-BE49-F238E27FC236}">
                <a16:creationId xmlns:a16="http://schemas.microsoft.com/office/drawing/2014/main" id="{1C97E5EE-15E1-4690-8F17-29B2ADB25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0632"/>
          <a:stretch>
            <a:fillRect/>
          </a:stretch>
        </p:blipFill>
        <p:spPr bwMode="auto">
          <a:xfrm>
            <a:off x="3832225" y="1611313"/>
            <a:ext cx="1152525" cy="452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16">
            <a:extLst>
              <a:ext uri="{FF2B5EF4-FFF2-40B4-BE49-F238E27FC236}">
                <a16:creationId xmlns:a16="http://schemas.microsoft.com/office/drawing/2014/main" id="{9EC65363-8474-441E-B139-6C7F38C6508D}"/>
              </a:ext>
            </a:extLst>
          </p:cNvPr>
          <p:cNvSpPr/>
          <p:nvPr/>
        </p:nvSpPr>
        <p:spPr bwMode="auto">
          <a:xfrm>
            <a:off x="5661025" y="3733800"/>
            <a:ext cx="76200" cy="76200"/>
          </a:xfrm>
          <a:prstGeom prst="ellipse">
            <a:avLst/>
          </a:prstGeom>
          <a:solidFill>
            <a:srgbClr val="808080">
              <a:lumMod val="75000"/>
            </a:srgbClr>
          </a:solidFill>
          <a:ln w="12700" cap="flat" cmpd="sng" algn="ctr">
            <a:no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8" name="Oval 20">
            <a:extLst>
              <a:ext uri="{FF2B5EF4-FFF2-40B4-BE49-F238E27FC236}">
                <a16:creationId xmlns:a16="http://schemas.microsoft.com/office/drawing/2014/main" id="{14274857-8D62-48B8-8E44-B7EE31783C54}"/>
              </a:ext>
            </a:extLst>
          </p:cNvPr>
          <p:cNvSpPr/>
          <p:nvPr/>
        </p:nvSpPr>
        <p:spPr bwMode="auto">
          <a:xfrm>
            <a:off x="5889625" y="3733800"/>
            <a:ext cx="76200" cy="76200"/>
          </a:xfrm>
          <a:prstGeom prst="ellipse">
            <a:avLst/>
          </a:prstGeom>
          <a:solidFill>
            <a:srgbClr val="808080">
              <a:lumMod val="75000"/>
            </a:srgbClr>
          </a:solidFill>
          <a:ln w="12700" cap="flat" cmpd="sng" algn="ctr">
            <a:no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9" name="Oval 21">
            <a:extLst>
              <a:ext uri="{FF2B5EF4-FFF2-40B4-BE49-F238E27FC236}">
                <a16:creationId xmlns:a16="http://schemas.microsoft.com/office/drawing/2014/main" id="{19CFCD74-CBF0-4FDB-949C-584979D9CE34}"/>
              </a:ext>
            </a:extLst>
          </p:cNvPr>
          <p:cNvSpPr/>
          <p:nvPr/>
        </p:nvSpPr>
        <p:spPr bwMode="auto">
          <a:xfrm>
            <a:off x="6118225" y="3733800"/>
            <a:ext cx="76200" cy="76200"/>
          </a:xfrm>
          <a:prstGeom prst="ellipse">
            <a:avLst/>
          </a:prstGeom>
          <a:solidFill>
            <a:srgbClr val="808080">
              <a:lumMod val="75000"/>
            </a:srgbClr>
          </a:solidFill>
          <a:ln w="12700" cap="flat" cmpd="sng" algn="ctr">
            <a:no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10" name="TextBox 19">
            <a:extLst>
              <a:ext uri="{FF2B5EF4-FFF2-40B4-BE49-F238E27FC236}">
                <a16:creationId xmlns:a16="http://schemas.microsoft.com/office/drawing/2014/main" id="{8632C96B-4730-45CE-992A-22D686757C4A}"/>
              </a:ext>
            </a:extLst>
          </p:cNvPr>
          <p:cNvSpPr txBox="1"/>
          <p:nvPr/>
        </p:nvSpPr>
        <p:spPr>
          <a:xfrm>
            <a:off x="1995488" y="1219200"/>
            <a:ext cx="1074737" cy="369888"/>
          </a:xfrm>
          <a:prstGeom prst="rect">
            <a:avLst/>
          </a:prstGeom>
          <a:noFill/>
        </p:spPr>
        <p:txBody>
          <a:bodyPr wrap="none">
            <a:spAutoFit/>
          </a:bodyPr>
          <a:lstStyle/>
          <a:p>
            <a:pPr>
              <a:defRPr/>
            </a:pPr>
            <a:r>
              <a:rPr kumimoji="0" lang="en-US" sz="1800" b="1" dirty="0">
                <a:solidFill>
                  <a:srgbClr val="C00000"/>
                </a:solidFill>
                <a:latin typeface="Calibri" pitchFamily="34" charset="0"/>
                <a:ea typeface="+mn-ea"/>
              </a:rPr>
              <a:t>Process 1</a:t>
            </a:r>
          </a:p>
        </p:txBody>
      </p:sp>
      <p:sp>
        <p:nvSpPr>
          <p:cNvPr id="11" name="TextBox 23">
            <a:extLst>
              <a:ext uri="{FF2B5EF4-FFF2-40B4-BE49-F238E27FC236}">
                <a16:creationId xmlns:a16="http://schemas.microsoft.com/office/drawing/2014/main" id="{159F64B7-9B21-4121-BDEF-EB7A5FF1A5D3}"/>
              </a:ext>
            </a:extLst>
          </p:cNvPr>
          <p:cNvSpPr txBox="1"/>
          <p:nvPr/>
        </p:nvSpPr>
        <p:spPr>
          <a:xfrm>
            <a:off x="3756025" y="1219200"/>
            <a:ext cx="1074738" cy="369888"/>
          </a:xfrm>
          <a:prstGeom prst="rect">
            <a:avLst/>
          </a:prstGeom>
          <a:noFill/>
        </p:spPr>
        <p:txBody>
          <a:bodyPr wrap="none">
            <a:spAutoFit/>
          </a:bodyPr>
          <a:lstStyle/>
          <a:p>
            <a:pPr>
              <a:defRPr/>
            </a:pPr>
            <a:r>
              <a:rPr kumimoji="0" lang="en-US" sz="1800" b="1" dirty="0">
                <a:solidFill>
                  <a:srgbClr val="C00000"/>
                </a:solidFill>
                <a:latin typeface="Calibri" pitchFamily="34" charset="0"/>
                <a:ea typeface="+mn-ea"/>
              </a:rPr>
              <a:t>Process 2</a:t>
            </a:r>
          </a:p>
        </p:txBody>
      </p:sp>
      <p:sp>
        <p:nvSpPr>
          <p:cNvPr id="12" name="TextBox 24">
            <a:extLst>
              <a:ext uri="{FF2B5EF4-FFF2-40B4-BE49-F238E27FC236}">
                <a16:creationId xmlns:a16="http://schemas.microsoft.com/office/drawing/2014/main" id="{1ADBCEDF-5D47-463F-B91A-84ADAB9E0651}"/>
              </a:ext>
            </a:extLst>
          </p:cNvPr>
          <p:cNvSpPr txBox="1"/>
          <p:nvPr/>
        </p:nvSpPr>
        <p:spPr>
          <a:xfrm>
            <a:off x="7094538" y="1219200"/>
            <a:ext cx="1081087" cy="369888"/>
          </a:xfrm>
          <a:prstGeom prst="rect">
            <a:avLst/>
          </a:prstGeom>
          <a:noFill/>
        </p:spPr>
        <p:txBody>
          <a:bodyPr wrap="none">
            <a:spAutoFit/>
          </a:bodyPr>
          <a:lstStyle/>
          <a:p>
            <a:pPr>
              <a:defRPr/>
            </a:pPr>
            <a:r>
              <a:rPr kumimoji="0" lang="en-US" sz="1800" b="1" dirty="0">
                <a:solidFill>
                  <a:srgbClr val="C00000"/>
                </a:solidFill>
                <a:latin typeface="Calibri" pitchFamily="34" charset="0"/>
                <a:ea typeface="+mn-ea"/>
              </a:rPr>
              <a:t>Process n</a:t>
            </a:r>
          </a:p>
        </p:txBody>
      </p:sp>
      <p:pic>
        <p:nvPicPr>
          <p:cNvPr id="13" name="Picture 2">
            <a:extLst>
              <a:ext uri="{FF2B5EF4-FFF2-40B4-BE49-F238E27FC236}">
                <a16:creationId xmlns:a16="http://schemas.microsoft.com/office/drawing/2014/main" id="{FB0D52A9-0B9C-4817-97F0-2A71DB756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6225" y="1611313"/>
            <a:ext cx="2925763" cy="452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p:bldP spid="1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a:extLst>
              <a:ext uri="{FF2B5EF4-FFF2-40B4-BE49-F238E27FC236}">
                <a16:creationId xmlns:a16="http://schemas.microsoft.com/office/drawing/2014/main" id="{9D5AC4DE-408E-4F74-A6E6-485AB13A8B04}"/>
              </a:ext>
            </a:extLst>
          </p:cNvPr>
          <p:cNvSpPr>
            <a:spLocks noGrp="1" noChangeArrowheads="1"/>
          </p:cNvSpPr>
          <p:nvPr>
            <p:ph type="title"/>
          </p:nvPr>
        </p:nvSpPr>
        <p:spPr/>
        <p:txBody>
          <a:bodyPr/>
          <a:lstStyle/>
          <a:p>
            <a:pPr eaLnBrk="1" hangingPunct="1">
              <a:defRPr/>
            </a:pPr>
            <a:r>
              <a:rPr lang="zh-CN" altLang="en-US"/>
              <a:t>基本概念（</a:t>
            </a:r>
            <a:r>
              <a:rPr lang="en-US" altLang="zh-CN"/>
              <a:t>1</a:t>
            </a:r>
            <a:r>
              <a:rPr lang="zh-CN" altLang="en-US"/>
              <a:t>）</a:t>
            </a:r>
          </a:p>
        </p:txBody>
      </p:sp>
      <p:sp>
        <p:nvSpPr>
          <p:cNvPr id="809987" name="Rectangle 3">
            <a:extLst>
              <a:ext uri="{FF2B5EF4-FFF2-40B4-BE49-F238E27FC236}">
                <a16:creationId xmlns:a16="http://schemas.microsoft.com/office/drawing/2014/main" id="{E038AECB-0830-414B-8DDF-1978D5CCF182}"/>
              </a:ext>
            </a:extLst>
          </p:cNvPr>
          <p:cNvSpPr>
            <a:spLocks noGrp="1" noChangeArrowheads="1"/>
          </p:cNvSpPr>
          <p:nvPr>
            <p:ph idx="1"/>
          </p:nvPr>
        </p:nvSpPr>
        <p:spPr>
          <a:xfrm>
            <a:off x="179387" y="1084729"/>
            <a:ext cx="8785225" cy="5400675"/>
          </a:xfrm>
        </p:spPr>
        <p:txBody>
          <a:bodyPr/>
          <a:lstStyle/>
          <a:p>
            <a:pPr eaLnBrk="1" hangingPunct="1">
              <a:defRPr/>
            </a:pPr>
            <a:r>
              <a:rPr lang="zh-CN" altLang="en-US" sz="2800" dirty="0">
                <a:effectLst>
                  <a:outerShdw blurRad="38100" dist="38100" dir="2700000" algn="tl">
                    <a:srgbClr val="C0C0C0"/>
                  </a:outerShdw>
                </a:effectLst>
              </a:rPr>
              <a:t>虚拟存储器</a:t>
            </a:r>
            <a:r>
              <a:rPr lang="zh-CN" altLang="en-US" sz="2800" dirty="0"/>
              <a:t>只是一个容量非常大的存储器的逻辑模型，以透明的方式为用户提供了一个比实际主存空间大得多的程序地址空间</a:t>
            </a:r>
          </a:p>
          <a:p>
            <a:pPr eaLnBrk="1" hangingPunct="1">
              <a:defRPr/>
            </a:pPr>
            <a:r>
              <a:rPr lang="zh-CN" altLang="en-US" sz="2800" dirty="0"/>
              <a:t>虚拟存储器</a:t>
            </a:r>
            <a:r>
              <a:rPr lang="zh-CN" altLang="en-US" sz="2800" dirty="0">
                <a:solidFill>
                  <a:srgbClr val="C00000"/>
                </a:solidFill>
              </a:rPr>
              <a:t>借助于</a:t>
            </a:r>
            <a:r>
              <a:rPr lang="zh-CN" altLang="en-US" sz="2800" dirty="0"/>
              <a:t>磁盘等辅助存储器来扩大主存容量，可视为存储在硬盘上</a:t>
            </a:r>
            <a:r>
              <a:rPr lang="en-US" altLang="zh-CN" sz="2800" dirty="0"/>
              <a:t>N</a:t>
            </a:r>
            <a:r>
              <a:rPr lang="zh-CN" altLang="en-US" sz="2800" dirty="0"/>
              <a:t>个字节的大数组（</a:t>
            </a:r>
            <a:r>
              <a:rPr lang="en-US" altLang="zh-CN" sz="2800" dirty="0"/>
              <a:t>N</a:t>
            </a:r>
            <a:r>
              <a:rPr lang="zh-CN" altLang="en-US" sz="2800" dirty="0"/>
              <a:t>为虚存的大小）</a:t>
            </a:r>
          </a:p>
        </p:txBody>
      </p:sp>
      <p:sp>
        <p:nvSpPr>
          <p:cNvPr id="5" name="Rectangle 3">
            <a:extLst>
              <a:ext uri="{FF2B5EF4-FFF2-40B4-BE49-F238E27FC236}">
                <a16:creationId xmlns:a16="http://schemas.microsoft.com/office/drawing/2014/main" id="{1D145BE3-DD89-48B6-9F69-4FA07F6089B2}"/>
              </a:ext>
            </a:extLst>
          </p:cNvPr>
          <p:cNvSpPr>
            <a:spLocks noChangeArrowheads="1"/>
          </p:cNvSpPr>
          <p:nvPr/>
        </p:nvSpPr>
        <p:spPr bwMode="auto">
          <a:xfrm>
            <a:off x="5437188" y="5154613"/>
            <a:ext cx="914400" cy="228600"/>
          </a:xfrm>
          <a:prstGeom prst="rect">
            <a:avLst/>
          </a:prstGeom>
          <a:solidFill>
            <a:srgbClr val="3333CC">
              <a:lumMod val="40000"/>
              <a:lumOff val="60000"/>
            </a:srgbClr>
          </a:solidFill>
          <a:ln w="19080">
            <a:solidFill>
              <a:srgbClr val="000000"/>
            </a:solidFill>
            <a:miter lim="800000"/>
            <a:headEnd/>
            <a:tailEnd/>
          </a:ln>
          <a:effectLst/>
        </p:spPr>
        <p:txBody>
          <a:bodyPr wrap="none" anchor="ctr"/>
          <a:lstStyle/>
          <a:p>
            <a:pPr eaLnBrk="1" fontAlgn="auto" hangingPunct="1">
              <a:spcBef>
                <a:spcPts val="0"/>
              </a:spcBef>
              <a:spcAft>
                <a:spcPts val="0"/>
              </a:spcAft>
              <a:defRPr/>
            </a:pPr>
            <a:endParaRPr kumimoji="0" lang="en-US" sz="2400" b="1" kern="0">
              <a:solidFill>
                <a:srgbClr val="000000"/>
              </a:solidFill>
              <a:latin typeface="Arial Narrow" pitchFamily="34" charset="0"/>
            </a:endParaRPr>
          </a:p>
        </p:txBody>
      </p:sp>
      <p:sp>
        <p:nvSpPr>
          <p:cNvPr id="86022" name="Text Box 4">
            <a:extLst>
              <a:ext uri="{FF2B5EF4-FFF2-40B4-BE49-F238E27FC236}">
                <a16:creationId xmlns:a16="http://schemas.microsoft.com/office/drawing/2014/main" id="{FCC52175-F501-4BF9-BD2C-1015EB1FFC55}"/>
              </a:ext>
            </a:extLst>
          </p:cNvPr>
          <p:cNvSpPr txBox="1">
            <a:spLocks noChangeArrowheads="1"/>
          </p:cNvSpPr>
          <p:nvPr/>
        </p:nvSpPr>
        <p:spPr bwMode="auto">
          <a:xfrm>
            <a:off x="6313488" y="5133975"/>
            <a:ext cx="8509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400" b="1">
                <a:solidFill>
                  <a:srgbClr val="000000"/>
                </a:solidFill>
                <a:latin typeface="Calibri" panose="020F0502020204030204" pitchFamily="34" charset="0"/>
              </a:rPr>
              <a:t>PP 2</a:t>
            </a:r>
            <a:r>
              <a:rPr kumimoji="0" lang="en-GB" altLang="zh-CN" sz="1400" b="1" baseline="30000">
                <a:solidFill>
                  <a:srgbClr val="000000"/>
                </a:solidFill>
                <a:latin typeface="Calibri" panose="020F0502020204030204" pitchFamily="34" charset="0"/>
              </a:rPr>
              <a:t>m-p</a:t>
            </a:r>
            <a:r>
              <a:rPr kumimoji="0" lang="en-GB" altLang="zh-CN" sz="1400" b="1">
                <a:solidFill>
                  <a:srgbClr val="000000"/>
                </a:solidFill>
                <a:latin typeface="Calibri" panose="020F0502020204030204" pitchFamily="34" charset="0"/>
              </a:rPr>
              <a:t>-1</a:t>
            </a:r>
          </a:p>
        </p:txBody>
      </p:sp>
      <p:sp>
        <p:nvSpPr>
          <p:cNvPr id="86023" name="Text Box 5">
            <a:extLst>
              <a:ext uri="{FF2B5EF4-FFF2-40B4-BE49-F238E27FC236}">
                <a16:creationId xmlns:a16="http://schemas.microsoft.com/office/drawing/2014/main" id="{3BB965B1-2A57-4C42-A67E-69E017391320}"/>
              </a:ext>
            </a:extLst>
          </p:cNvPr>
          <p:cNvSpPr txBox="1">
            <a:spLocks noChangeArrowheads="1"/>
          </p:cNvSpPr>
          <p:nvPr/>
        </p:nvSpPr>
        <p:spPr bwMode="auto">
          <a:xfrm>
            <a:off x="5054600" y="3357563"/>
            <a:ext cx="1627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Physical memory</a:t>
            </a:r>
          </a:p>
        </p:txBody>
      </p:sp>
      <p:sp>
        <p:nvSpPr>
          <p:cNvPr id="8" name="Rectangle 6">
            <a:extLst>
              <a:ext uri="{FF2B5EF4-FFF2-40B4-BE49-F238E27FC236}">
                <a16:creationId xmlns:a16="http://schemas.microsoft.com/office/drawing/2014/main" id="{9F9D15E2-B27F-48CA-87E3-0979AF377A82}"/>
              </a:ext>
            </a:extLst>
          </p:cNvPr>
          <p:cNvSpPr>
            <a:spLocks noChangeArrowheads="1"/>
          </p:cNvSpPr>
          <p:nvPr/>
        </p:nvSpPr>
        <p:spPr bwMode="auto">
          <a:xfrm>
            <a:off x="5437188" y="4024313"/>
            <a:ext cx="914400" cy="228600"/>
          </a:xfrm>
          <a:prstGeom prst="rect">
            <a:avLst/>
          </a:prstGeom>
          <a:solidFill>
            <a:srgbClr val="FFFFFF"/>
          </a:solidFill>
          <a:ln w="1908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Empty</a:t>
            </a:r>
          </a:p>
        </p:txBody>
      </p:sp>
      <p:sp>
        <p:nvSpPr>
          <p:cNvPr id="9" name="Rectangle 7">
            <a:extLst>
              <a:ext uri="{FF2B5EF4-FFF2-40B4-BE49-F238E27FC236}">
                <a16:creationId xmlns:a16="http://schemas.microsoft.com/office/drawing/2014/main" id="{936A0A74-56CD-4B8B-B2E5-56A250E9D3AE}"/>
              </a:ext>
            </a:extLst>
          </p:cNvPr>
          <p:cNvSpPr>
            <a:spLocks noChangeArrowheads="1"/>
          </p:cNvSpPr>
          <p:nvPr/>
        </p:nvSpPr>
        <p:spPr bwMode="auto">
          <a:xfrm>
            <a:off x="5437188" y="4252913"/>
            <a:ext cx="914400" cy="228600"/>
          </a:xfrm>
          <a:prstGeom prst="rect">
            <a:avLst/>
          </a:prstGeom>
          <a:solidFill>
            <a:srgbClr val="3333CC">
              <a:lumMod val="40000"/>
              <a:lumOff val="60000"/>
            </a:srgbClr>
          </a:solidFill>
          <a:ln w="19080">
            <a:solidFill>
              <a:srgbClr val="000000"/>
            </a:solidFill>
            <a:miter lim="800000"/>
            <a:headEnd/>
            <a:tailEnd/>
          </a:ln>
          <a:effectLst/>
        </p:spPr>
        <p:txBody>
          <a:bodyPr wrap="none" anchor="ctr"/>
          <a:lstStyle/>
          <a:p>
            <a:pPr eaLnBrk="1" fontAlgn="auto" hangingPunct="1">
              <a:spcBef>
                <a:spcPts val="0"/>
              </a:spcBef>
              <a:spcAft>
                <a:spcPts val="0"/>
              </a:spcAft>
              <a:defRPr/>
            </a:pPr>
            <a:endParaRPr kumimoji="0" lang="en-US" sz="2400" b="1" kern="0">
              <a:solidFill>
                <a:srgbClr val="000000"/>
              </a:solidFill>
              <a:latin typeface="Arial Narrow" pitchFamily="34" charset="0"/>
            </a:endParaRPr>
          </a:p>
        </p:txBody>
      </p:sp>
      <p:sp>
        <p:nvSpPr>
          <p:cNvPr id="10" name="Rectangle 8">
            <a:extLst>
              <a:ext uri="{FF2B5EF4-FFF2-40B4-BE49-F238E27FC236}">
                <a16:creationId xmlns:a16="http://schemas.microsoft.com/office/drawing/2014/main" id="{B1E61ED7-B5E9-4068-AA0A-DAF699F011F5}"/>
              </a:ext>
            </a:extLst>
          </p:cNvPr>
          <p:cNvSpPr>
            <a:spLocks noChangeArrowheads="1"/>
          </p:cNvSpPr>
          <p:nvPr/>
        </p:nvSpPr>
        <p:spPr bwMode="auto">
          <a:xfrm>
            <a:off x="5437188" y="4481513"/>
            <a:ext cx="914400" cy="228600"/>
          </a:xfrm>
          <a:prstGeom prst="rect">
            <a:avLst/>
          </a:prstGeom>
          <a:solidFill>
            <a:srgbClr val="FFFFFF"/>
          </a:solidFill>
          <a:ln w="1908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Empty</a:t>
            </a:r>
          </a:p>
        </p:txBody>
      </p:sp>
      <p:sp>
        <p:nvSpPr>
          <p:cNvPr id="11" name="Rectangle 9">
            <a:extLst>
              <a:ext uri="{FF2B5EF4-FFF2-40B4-BE49-F238E27FC236}">
                <a16:creationId xmlns:a16="http://schemas.microsoft.com/office/drawing/2014/main" id="{57703547-319D-45A8-9CFC-59E720A29EC7}"/>
              </a:ext>
            </a:extLst>
          </p:cNvPr>
          <p:cNvSpPr>
            <a:spLocks noChangeArrowheads="1"/>
          </p:cNvSpPr>
          <p:nvPr/>
        </p:nvSpPr>
        <p:spPr bwMode="auto">
          <a:xfrm>
            <a:off x="2620963" y="5360988"/>
            <a:ext cx="914400" cy="228600"/>
          </a:xfrm>
          <a:prstGeom prst="rect">
            <a:avLst/>
          </a:prstGeom>
          <a:solidFill>
            <a:srgbClr val="808080">
              <a:lumMod val="20000"/>
              <a:lumOff val="80000"/>
            </a:srgbClr>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err="1">
                <a:solidFill>
                  <a:srgbClr val="000000"/>
                </a:solidFill>
                <a:latin typeface="Calibri" pitchFamily="34" charset="0"/>
              </a:rPr>
              <a:t>Uncached</a:t>
            </a:r>
            <a:endParaRPr kumimoji="0" lang="en-GB" sz="1200" b="1" kern="0" dirty="0">
              <a:solidFill>
                <a:srgbClr val="000000"/>
              </a:solidFill>
              <a:latin typeface="Calibri" pitchFamily="34" charset="0"/>
            </a:endParaRPr>
          </a:p>
        </p:txBody>
      </p:sp>
      <p:sp>
        <p:nvSpPr>
          <p:cNvPr id="86028" name="Text Box 10">
            <a:extLst>
              <a:ext uri="{FF2B5EF4-FFF2-40B4-BE49-F238E27FC236}">
                <a16:creationId xmlns:a16="http://schemas.microsoft.com/office/drawing/2014/main" id="{826366F9-1DE4-432B-8E34-0849A911E0D1}"/>
              </a:ext>
            </a:extLst>
          </p:cNvPr>
          <p:cNvSpPr txBox="1">
            <a:spLocks noChangeArrowheads="1"/>
          </p:cNvSpPr>
          <p:nvPr/>
        </p:nvSpPr>
        <p:spPr bwMode="auto">
          <a:xfrm>
            <a:off x="2127250" y="3768725"/>
            <a:ext cx="5159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r">
              <a:lnSpc>
                <a:spcPct val="88000"/>
              </a:lnSpc>
              <a:spcBef>
                <a:spcPts val="600"/>
              </a:spcBef>
            </a:pPr>
            <a:r>
              <a:rPr kumimoji="0" lang="en-GB" altLang="zh-CN" sz="1400" b="1">
                <a:solidFill>
                  <a:srgbClr val="000000"/>
                </a:solidFill>
                <a:latin typeface="Calibri" panose="020F0502020204030204" pitchFamily="34" charset="0"/>
              </a:rPr>
              <a:t>VP 0</a:t>
            </a:r>
          </a:p>
        </p:txBody>
      </p:sp>
      <p:sp>
        <p:nvSpPr>
          <p:cNvPr id="86029" name="Text Box 11">
            <a:extLst>
              <a:ext uri="{FF2B5EF4-FFF2-40B4-BE49-F238E27FC236}">
                <a16:creationId xmlns:a16="http://schemas.microsoft.com/office/drawing/2014/main" id="{F3FA8505-49B9-49C0-B59B-94E848EF7F72}"/>
              </a:ext>
            </a:extLst>
          </p:cNvPr>
          <p:cNvSpPr txBox="1">
            <a:spLocks noChangeArrowheads="1"/>
          </p:cNvSpPr>
          <p:nvPr/>
        </p:nvSpPr>
        <p:spPr bwMode="auto">
          <a:xfrm>
            <a:off x="2127250" y="3997325"/>
            <a:ext cx="5159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r">
              <a:lnSpc>
                <a:spcPct val="88000"/>
              </a:lnSpc>
              <a:spcBef>
                <a:spcPts val="600"/>
              </a:spcBef>
            </a:pPr>
            <a:r>
              <a:rPr kumimoji="0" lang="en-GB" altLang="zh-CN" sz="1400" b="1">
                <a:solidFill>
                  <a:srgbClr val="000000"/>
                </a:solidFill>
                <a:latin typeface="Calibri" panose="020F0502020204030204" pitchFamily="34" charset="0"/>
              </a:rPr>
              <a:t>VP 1</a:t>
            </a:r>
          </a:p>
        </p:txBody>
      </p:sp>
      <p:sp>
        <p:nvSpPr>
          <p:cNvPr id="86030" name="Text Box 12">
            <a:extLst>
              <a:ext uri="{FF2B5EF4-FFF2-40B4-BE49-F238E27FC236}">
                <a16:creationId xmlns:a16="http://schemas.microsoft.com/office/drawing/2014/main" id="{F4B9B099-1FD7-460A-A412-C59751428034}"/>
              </a:ext>
            </a:extLst>
          </p:cNvPr>
          <p:cNvSpPr txBox="1">
            <a:spLocks noChangeArrowheads="1"/>
          </p:cNvSpPr>
          <p:nvPr/>
        </p:nvSpPr>
        <p:spPr bwMode="auto">
          <a:xfrm>
            <a:off x="1816100" y="5357813"/>
            <a:ext cx="8270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r">
              <a:lnSpc>
                <a:spcPct val="88000"/>
              </a:lnSpc>
              <a:spcBef>
                <a:spcPts val="600"/>
              </a:spcBef>
            </a:pPr>
            <a:r>
              <a:rPr kumimoji="0" lang="en-GB" altLang="zh-CN" sz="1400" b="1">
                <a:solidFill>
                  <a:srgbClr val="000000"/>
                </a:solidFill>
                <a:latin typeface="Calibri" panose="020F0502020204030204" pitchFamily="34" charset="0"/>
              </a:rPr>
              <a:t>VP 2</a:t>
            </a:r>
            <a:r>
              <a:rPr kumimoji="0" lang="en-GB" altLang="zh-CN" sz="1400" b="1" baseline="30000">
                <a:solidFill>
                  <a:srgbClr val="000000"/>
                </a:solidFill>
                <a:latin typeface="Calibri" panose="020F0502020204030204" pitchFamily="34" charset="0"/>
              </a:rPr>
              <a:t>n-p</a:t>
            </a:r>
            <a:r>
              <a:rPr kumimoji="0" lang="en-GB" altLang="zh-CN" sz="1400" b="1">
                <a:solidFill>
                  <a:srgbClr val="000000"/>
                </a:solidFill>
                <a:latin typeface="Calibri" panose="020F0502020204030204" pitchFamily="34" charset="0"/>
              </a:rPr>
              <a:t>-1</a:t>
            </a:r>
          </a:p>
        </p:txBody>
      </p:sp>
      <p:sp>
        <p:nvSpPr>
          <p:cNvPr id="86031" name="Text Box 13">
            <a:extLst>
              <a:ext uri="{FF2B5EF4-FFF2-40B4-BE49-F238E27FC236}">
                <a16:creationId xmlns:a16="http://schemas.microsoft.com/office/drawing/2014/main" id="{E1806B30-936B-4F46-A183-EAE1A3A64DA5}"/>
              </a:ext>
            </a:extLst>
          </p:cNvPr>
          <p:cNvSpPr txBox="1">
            <a:spLocks noChangeArrowheads="1"/>
          </p:cNvSpPr>
          <p:nvPr/>
        </p:nvSpPr>
        <p:spPr bwMode="auto">
          <a:xfrm>
            <a:off x="2311400" y="3357563"/>
            <a:ext cx="1525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Virtual memory</a:t>
            </a:r>
          </a:p>
        </p:txBody>
      </p:sp>
      <p:sp>
        <p:nvSpPr>
          <p:cNvPr id="16" name="Rectangle 14">
            <a:extLst>
              <a:ext uri="{FF2B5EF4-FFF2-40B4-BE49-F238E27FC236}">
                <a16:creationId xmlns:a16="http://schemas.microsoft.com/office/drawing/2014/main" id="{4611E118-6336-44DE-B66B-090868CDCFB7}"/>
              </a:ext>
            </a:extLst>
          </p:cNvPr>
          <p:cNvSpPr>
            <a:spLocks noChangeArrowheads="1"/>
          </p:cNvSpPr>
          <p:nvPr/>
        </p:nvSpPr>
        <p:spPr bwMode="auto">
          <a:xfrm>
            <a:off x="2620963" y="3779838"/>
            <a:ext cx="914400" cy="228600"/>
          </a:xfrm>
          <a:prstGeom prst="rect">
            <a:avLst/>
          </a:prstGeom>
          <a:solidFill>
            <a:srgbClr val="FFFFFF"/>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Unallocated</a:t>
            </a:r>
          </a:p>
        </p:txBody>
      </p:sp>
      <p:sp>
        <p:nvSpPr>
          <p:cNvPr id="17" name="Rectangle 15">
            <a:extLst>
              <a:ext uri="{FF2B5EF4-FFF2-40B4-BE49-F238E27FC236}">
                <a16:creationId xmlns:a16="http://schemas.microsoft.com/office/drawing/2014/main" id="{6AE95625-B764-4610-B81D-3CE9DA575371}"/>
              </a:ext>
            </a:extLst>
          </p:cNvPr>
          <p:cNvSpPr>
            <a:spLocks noChangeArrowheads="1"/>
          </p:cNvSpPr>
          <p:nvPr/>
        </p:nvSpPr>
        <p:spPr bwMode="auto">
          <a:xfrm>
            <a:off x="2620963" y="4008438"/>
            <a:ext cx="914400" cy="228600"/>
          </a:xfrm>
          <a:prstGeom prst="rect">
            <a:avLst/>
          </a:prstGeom>
          <a:solidFill>
            <a:srgbClr val="3333CC">
              <a:lumMod val="40000"/>
              <a:lumOff val="60000"/>
            </a:srgbClr>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Cached</a:t>
            </a:r>
          </a:p>
        </p:txBody>
      </p:sp>
      <p:sp>
        <p:nvSpPr>
          <p:cNvPr id="18" name="Rectangle 16">
            <a:extLst>
              <a:ext uri="{FF2B5EF4-FFF2-40B4-BE49-F238E27FC236}">
                <a16:creationId xmlns:a16="http://schemas.microsoft.com/office/drawing/2014/main" id="{3198034D-B8C5-4853-A1C6-EE2AD5174C96}"/>
              </a:ext>
            </a:extLst>
          </p:cNvPr>
          <p:cNvSpPr>
            <a:spLocks noChangeArrowheads="1"/>
          </p:cNvSpPr>
          <p:nvPr/>
        </p:nvSpPr>
        <p:spPr bwMode="auto">
          <a:xfrm>
            <a:off x="2620963" y="4237038"/>
            <a:ext cx="914400" cy="228600"/>
          </a:xfrm>
          <a:prstGeom prst="rect">
            <a:avLst/>
          </a:prstGeom>
          <a:solidFill>
            <a:srgbClr val="808080">
              <a:lumMod val="20000"/>
              <a:lumOff val="80000"/>
            </a:srgbClr>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err="1">
                <a:solidFill>
                  <a:srgbClr val="000000"/>
                </a:solidFill>
                <a:latin typeface="Calibri" pitchFamily="34" charset="0"/>
              </a:rPr>
              <a:t>Uncached</a:t>
            </a:r>
            <a:endParaRPr kumimoji="0" lang="en-GB" sz="1200" b="1" kern="0" dirty="0">
              <a:solidFill>
                <a:srgbClr val="000000"/>
              </a:solidFill>
              <a:latin typeface="Calibri" pitchFamily="34" charset="0"/>
            </a:endParaRPr>
          </a:p>
        </p:txBody>
      </p:sp>
      <p:sp>
        <p:nvSpPr>
          <p:cNvPr id="19" name="Rectangle 17">
            <a:extLst>
              <a:ext uri="{FF2B5EF4-FFF2-40B4-BE49-F238E27FC236}">
                <a16:creationId xmlns:a16="http://schemas.microsoft.com/office/drawing/2014/main" id="{DA0C308A-1C66-4765-9DF1-0A784A35F1BC}"/>
              </a:ext>
            </a:extLst>
          </p:cNvPr>
          <p:cNvSpPr>
            <a:spLocks noChangeArrowheads="1"/>
          </p:cNvSpPr>
          <p:nvPr/>
        </p:nvSpPr>
        <p:spPr bwMode="auto">
          <a:xfrm>
            <a:off x="2620963" y="4462463"/>
            <a:ext cx="914400" cy="228600"/>
          </a:xfrm>
          <a:prstGeom prst="rect">
            <a:avLst/>
          </a:prstGeom>
          <a:solidFill>
            <a:srgbClr val="FFFFFF"/>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Unallocated</a:t>
            </a:r>
          </a:p>
        </p:txBody>
      </p:sp>
      <p:sp>
        <p:nvSpPr>
          <p:cNvPr id="20" name="Rectangle 18">
            <a:extLst>
              <a:ext uri="{FF2B5EF4-FFF2-40B4-BE49-F238E27FC236}">
                <a16:creationId xmlns:a16="http://schemas.microsoft.com/office/drawing/2014/main" id="{E54F6EC6-7CDF-487B-9FF0-A67DD7869EE0}"/>
              </a:ext>
            </a:extLst>
          </p:cNvPr>
          <p:cNvSpPr>
            <a:spLocks noChangeArrowheads="1"/>
          </p:cNvSpPr>
          <p:nvPr/>
        </p:nvSpPr>
        <p:spPr bwMode="auto">
          <a:xfrm>
            <a:off x="2620963" y="4687888"/>
            <a:ext cx="914400" cy="228600"/>
          </a:xfrm>
          <a:prstGeom prst="rect">
            <a:avLst/>
          </a:prstGeom>
          <a:solidFill>
            <a:srgbClr val="3333CC">
              <a:lumMod val="40000"/>
              <a:lumOff val="60000"/>
            </a:srgbClr>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Cached</a:t>
            </a:r>
          </a:p>
        </p:txBody>
      </p:sp>
      <p:sp>
        <p:nvSpPr>
          <p:cNvPr id="21" name="Rectangle 19">
            <a:extLst>
              <a:ext uri="{FF2B5EF4-FFF2-40B4-BE49-F238E27FC236}">
                <a16:creationId xmlns:a16="http://schemas.microsoft.com/office/drawing/2014/main" id="{28687282-F3B6-48D5-A674-5E1E425FCE1D}"/>
              </a:ext>
            </a:extLst>
          </p:cNvPr>
          <p:cNvSpPr>
            <a:spLocks noChangeArrowheads="1"/>
          </p:cNvSpPr>
          <p:nvPr/>
        </p:nvSpPr>
        <p:spPr bwMode="auto">
          <a:xfrm>
            <a:off x="2620963" y="4916488"/>
            <a:ext cx="914400" cy="228600"/>
          </a:xfrm>
          <a:prstGeom prst="rect">
            <a:avLst/>
          </a:prstGeom>
          <a:solidFill>
            <a:srgbClr val="808080">
              <a:lumMod val="20000"/>
              <a:lumOff val="80000"/>
            </a:srgbClr>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err="1">
                <a:solidFill>
                  <a:srgbClr val="000000"/>
                </a:solidFill>
                <a:latin typeface="Calibri" pitchFamily="34" charset="0"/>
              </a:rPr>
              <a:t>Uncached</a:t>
            </a:r>
            <a:endParaRPr kumimoji="0" lang="en-GB" sz="1200" b="1" kern="0" dirty="0">
              <a:solidFill>
                <a:srgbClr val="000000"/>
              </a:solidFill>
              <a:latin typeface="Calibri" pitchFamily="34" charset="0"/>
            </a:endParaRPr>
          </a:p>
        </p:txBody>
      </p:sp>
      <p:sp>
        <p:nvSpPr>
          <p:cNvPr id="86038" name="Text Box 20">
            <a:extLst>
              <a:ext uri="{FF2B5EF4-FFF2-40B4-BE49-F238E27FC236}">
                <a16:creationId xmlns:a16="http://schemas.microsoft.com/office/drawing/2014/main" id="{F21E49C3-B0AD-4F0D-9FD3-FAF7D428949E}"/>
              </a:ext>
            </a:extLst>
          </p:cNvPr>
          <p:cNvSpPr txBox="1">
            <a:spLocks noChangeArrowheads="1"/>
          </p:cNvSpPr>
          <p:nvPr/>
        </p:nvSpPr>
        <p:spPr bwMode="auto">
          <a:xfrm>
            <a:off x="6313488" y="3994150"/>
            <a:ext cx="5048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400" b="1">
                <a:solidFill>
                  <a:srgbClr val="000000"/>
                </a:solidFill>
                <a:latin typeface="Calibri" panose="020F0502020204030204" pitchFamily="34" charset="0"/>
              </a:rPr>
              <a:t>PP 0</a:t>
            </a:r>
          </a:p>
        </p:txBody>
      </p:sp>
      <p:sp>
        <p:nvSpPr>
          <p:cNvPr id="86039" name="Text Box 21">
            <a:extLst>
              <a:ext uri="{FF2B5EF4-FFF2-40B4-BE49-F238E27FC236}">
                <a16:creationId xmlns:a16="http://schemas.microsoft.com/office/drawing/2014/main" id="{A5AFFF83-F748-4C6C-8441-0D301138CA1E}"/>
              </a:ext>
            </a:extLst>
          </p:cNvPr>
          <p:cNvSpPr txBox="1">
            <a:spLocks noChangeArrowheads="1"/>
          </p:cNvSpPr>
          <p:nvPr/>
        </p:nvSpPr>
        <p:spPr bwMode="auto">
          <a:xfrm>
            <a:off x="6313488" y="4222750"/>
            <a:ext cx="5048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400" b="1">
                <a:solidFill>
                  <a:srgbClr val="000000"/>
                </a:solidFill>
                <a:latin typeface="Calibri" panose="020F0502020204030204" pitchFamily="34" charset="0"/>
              </a:rPr>
              <a:t>PP 1</a:t>
            </a:r>
          </a:p>
        </p:txBody>
      </p:sp>
      <p:sp>
        <p:nvSpPr>
          <p:cNvPr id="24" name="Line 22">
            <a:extLst>
              <a:ext uri="{FF2B5EF4-FFF2-40B4-BE49-F238E27FC236}">
                <a16:creationId xmlns:a16="http://schemas.microsoft.com/office/drawing/2014/main" id="{5F052D24-6647-4254-8962-5CCA62F83F4D}"/>
              </a:ext>
            </a:extLst>
          </p:cNvPr>
          <p:cNvSpPr>
            <a:spLocks noChangeShapeType="1"/>
          </p:cNvSpPr>
          <p:nvPr/>
        </p:nvSpPr>
        <p:spPr bwMode="auto">
          <a:xfrm>
            <a:off x="3535363" y="4116388"/>
            <a:ext cx="1905000" cy="260350"/>
          </a:xfrm>
          <a:prstGeom prst="line">
            <a:avLst/>
          </a:prstGeom>
          <a:noFill/>
          <a:ln w="12600">
            <a:solidFill>
              <a:srgbClr val="000000"/>
            </a:solidFill>
            <a:miter lim="800000"/>
            <a:headEnd/>
            <a:tailEnd type="triangle" w="med" len="med"/>
          </a:ln>
          <a:effectLst/>
        </p:spPr>
        <p:txBody>
          <a:bodyPr/>
          <a:lstStyle/>
          <a:p>
            <a:pPr eaLnBrk="1" fontAlgn="auto" hangingPunct="1">
              <a:spcBef>
                <a:spcPts val="0"/>
              </a:spcBef>
              <a:spcAft>
                <a:spcPts val="0"/>
              </a:spcAft>
              <a:defRPr/>
            </a:pPr>
            <a:endParaRPr kumimoji="0" lang="en-US" sz="2400" b="1" kern="0">
              <a:solidFill>
                <a:srgbClr val="000000"/>
              </a:solidFill>
              <a:latin typeface="Arial Narrow" pitchFamily="34" charset="0"/>
            </a:endParaRPr>
          </a:p>
        </p:txBody>
      </p:sp>
      <p:sp>
        <p:nvSpPr>
          <p:cNvPr id="25" name="Rectangle 23">
            <a:extLst>
              <a:ext uri="{FF2B5EF4-FFF2-40B4-BE49-F238E27FC236}">
                <a16:creationId xmlns:a16="http://schemas.microsoft.com/office/drawing/2014/main" id="{EFAE7913-43DB-4F7F-8939-34526D6266B8}"/>
              </a:ext>
            </a:extLst>
          </p:cNvPr>
          <p:cNvSpPr>
            <a:spLocks noChangeArrowheads="1"/>
          </p:cNvSpPr>
          <p:nvPr/>
        </p:nvSpPr>
        <p:spPr bwMode="auto">
          <a:xfrm>
            <a:off x="5437188" y="4926013"/>
            <a:ext cx="914400" cy="228600"/>
          </a:xfrm>
          <a:prstGeom prst="rect">
            <a:avLst/>
          </a:prstGeom>
          <a:solidFill>
            <a:srgbClr val="FFFFFF"/>
          </a:solidFill>
          <a:ln w="1908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Empty</a:t>
            </a:r>
          </a:p>
        </p:txBody>
      </p:sp>
      <p:sp>
        <p:nvSpPr>
          <p:cNvPr id="26" name="Line 24">
            <a:extLst>
              <a:ext uri="{FF2B5EF4-FFF2-40B4-BE49-F238E27FC236}">
                <a16:creationId xmlns:a16="http://schemas.microsoft.com/office/drawing/2014/main" id="{5C197E05-8B1C-4228-BB30-0CE632B99053}"/>
              </a:ext>
            </a:extLst>
          </p:cNvPr>
          <p:cNvSpPr>
            <a:spLocks noChangeShapeType="1"/>
          </p:cNvSpPr>
          <p:nvPr/>
        </p:nvSpPr>
        <p:spPr bwMode="auto">
          <a:xfrm>
            <a:off x="3535363" y="4833938"/>
            <a:ext cx="1905000" cy="457200"/>
          </a:xfrm>
          <a:prstGeom prst="line">
            <a:avLst/>
          </a:prstGeom>
          <a:noFill/>
          <a:ln w="12600">
            <a:solidFill>
              <a:srgbClr val="000000"/>
            </a:solidFill>
            <a:miter lim="800000"/>
            <a:headEnd/>
            <a:tailEnd type="triangle" w="med" len="med"/>
          </a:ln>
          <a:effectLst/>
        </p:spPr>
        <p:txBody>
          <a:bodyPr/>
          <a:lstStyle/>
          <a:p>
            <a:pPr eaLnBrk="1" fontAlgn="auto" hangingPunct="1">
              <a:spcBef>
                <a:spcPts val="0"/>
              </a:spcBef>
              <a:spcAft>
                <a:spcPts val="0"/>
              </a:spcAft>
              <a:defRPr/>
            </a:pPr>
            <a:endParaRPr kumimoji="0" lang="en-US" sz="2400" b="1" kern="0">
              <a:solidFill>
                <a:srgbClr val="000000"/>
              </a:solidFill>
              <a:latin typeface="Arial Narrow" pitchFamily="34" charset="0"/>
            </a:endParaRPr>
          </a:p>
        </p:txBody>
      </p:sp>
      <p:sp>
        <p:nvSpPr>
          <p:cNvPr id="27" name="Rectangle 25">
            <a:extLst>
              <a:ext uri="{FF2B5EF4-FFF2-40B4-BE49-F238E27FC236}">
                <a16:creationId xmlns:a16="http://schemas.microsoft.com/office/drawing/2014/main" id="{937CB90C-3E0B-405D-8668-18486C0B6B96}"/>
              </a:ext>
            </a:extLst>
          </p:cNvPr>
          <p:cNvSpPr>
            <a:spLocks noChangeArrowheads="1"/>
          </p:cNvSpPr>
          <p:nvPr/>
        </p:nvSpPr>
        <p:spPr bwMode="auto">
          <a:xfrm>
            <a:off x="2620963" y="5138738"/>
            <a:ext cx="914400" cy="228600"/>
          </a:xfrm>
          <a:prstGeom prst="rect">
            <a:avLst/>
          </a:prstGeom>
          <a:solidFill>
            <a:srgbClr val="3333CC">
              <a:lumMod val="40000"/>
              <a:lumOff val="60000"/>
            </a:srgbClr>
          </a:solidFill>
          <a:ln w="19080">
            <a:solidFill>
              <a:srgbClr val="000000"/>
            </a:solidFill>
            <a:miter lim="800000"/>
            <a:headEnd/>
            <a:tailEnd/>
          </a:ln>
          <a:effectLst/>
        </p:spPr>
        <p:txBody>
          <a:bodyPr wrap="none" lIns="90360" tIns="44280" rIns="90360" bIns="44280" anchor="ctr"/>
          <a:lstStyle/>
          <a:p>
            <a:pP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kern="0" dirty="0">
                <a:solidFill>
                  <a:srgbClr val="000000"/>
                </a:solidFill>
                <a:latin typeface="Calibri" pitchFamily="34" charset="0"/>
              </a:rPr>
              <a:t>Cached</a:t>
            </a:r>
          </a:p>
        </p:txBody>
      </p:sp>
      <p:sp>
        <p:nvSpPr>
          <p:cNvPr id="28" name="Rectangle 26">
            <a:extLst>
              <a:ext uri="{FF2B5EF4-FFF2-40B4-BE49-F238E27FC236}">
                <a16:creationId xmlns:a16="http://schemas.microsoft.com/office/drawing/2014/main" id="{CBFD0D94-C1D7-475B-AD1F-5FE3C7CABF80}"/>
              </a:ext>
            </a:extLst>
          </p:cNvPr>
          <p:cNvSpPr>
            <a:spLocks noChangeArrowheads="1"/>
          </p:cNvSpPr>
          <p:nvPr/>
        </p:nvSpPr>
        <p:spPr bwMode="auto">
          <a:xfrm>
            <a:off x="5437188" y="4710113"/>
            <a:ext cx="914400" cy="228600"/>
          </a:xfrm>
          <a:prstGeom prst="rect">
            <a:avLst/>
          </a:prstGeom>
          <a:solidFill>
            <a:srgbClr val="3333CC">
              <a:lumMod val="40000"/>
              <a:lumOff val="60000"/>
            </a:srgbClr>
          </a:solidFill>
          <a:ln w="19080">
            <a:solidFill>
              <a:srgbClr val="000000"/>
            </a:solidFill>
            <a:miter lim="800000"/>
            <a:headEnd/>
            <a:tailEnd/>
          </a:ln>
          <a:effectLst/>
        </p:spPr>
        <p:txBody>
          <a:bodyPr wrap="none" anchor="ctr"/>
          <a:lstStyle/>
          <a:p>
            <a:pPr eaLnBrk="1" fontAlgn="auto" hangingPunct="1">
              <a:spcBef>
                <a:spcPts val="0"/>
              </a:spcBef>
              <a:spcAft>
                <a:spcPts val="0"/>
              </a:spcAft>
              <a:defRPr/>
            </a:pPr>
            <a:endParaRPr kumimoji="0" lang="en-US" sz="2400" b="1" kern="0">
              <a:solidFill>
                <a:srgbClr val="000000"/>
              </a:solidFill>
              <a:latin typeface="Arial Narrow" pitchFamily="34" charset="0"/>
            </a:endParaRPr>
          </a:p>
        </p:txBody>
      </p:sp>
      <p:sp>
        <p:nvSpPr>
          <p:cNvPr id="29" name="Line 27">
            <a:extLst>
              <a:ext uri="{FF2B5EF4-FFF2-40B4-BE49-F238E27FC236}">
                <a16:creationId xmlns:a16="http://schemas.microsoft.com/office/drawing/2014/main" id="{F77C79AF-0D7B-46E2-B3D1-2FAA5A879C53}"/>
              </a:ext>
            </a:extLst>
          </p:cNvPr>
          <p:cNvSpPr>
            <a:spLocks noChangeShapeType="1"/>
          </p:cNvSpPr>
          <p:nvPr/>
        </p:nvSpPr>
        <p:spPr bwMode="auto">
          <a:xfrm flipV="1">
            <a:off x="3535363" y="4832350"/>
            <a:ext cx="1905000" cy="384175"/>
          </a:xfrm>
          <a:prstGeom prst="line">
            <a:avLst/>
          </a:prstGeom>
          <a:noFill/>
          <a:ln w="12600">
            <a:solidFill>
              <a:srgbClr val="000000"/>
            </a:solidFill>
            <a:miter lim="800000"/>
            <a:headEnd/>
            <a:tailEnd type="triangle" w="med" len="med"/>
          </a:ln>
          <a:effectLst/>
        </p:spPr>
        <p:txBody>
          <a:bodyPr/>
          <a:lstStyle/>
          <a:p>
            <a:pPr eaLnBrk="1" fontAlgn="auto" hangingPunct="1">
              <a:spcBef>
                <a:spcPts val="0"/>
              </a:spcBef>
              <a:spcAft>
                <a:spcPts val="0"/>
              </a:spcAft>
              <a:defRPr/>
            </a:pPr>
            <a:endParaRPr kumimoji="0" lang="en-US" sz="2400" b="1" kern="0">
              <a:solidFill>
                <a:srgbClr val="000000"/>
              </a:solidFill>
              <a:latin typeface="Arial Narrow" pitchFamily="34" charset="0"/>
            </a:endParaRPr>
          </a:p>
        </p:txBody>
      </p:sp>
      <p:sp>
        <p:nvSpPr>
          <p:cNvPr id="86046" name="Text Box 28">
            <a:extLst>
              <a:ext uri="{FF2B5EF4-FFF2-40B4-BE49-F238E27FC236}">
                <a16:creationId xmlns:a16="http://schemas.microsoft.com/office/drawing/2014/main" id="{94057210-9AA8-4B87-815A-7582CBEBD7A4}"/>
              </a:ext>
            </a:extLst>
          </p:cNvPr>
          <p:cNvSpPr txBox="1">
            <a:spLocks noChangeArrowheads="1"/>
          </p:cNvSpPr>
          <p:nvPr/>
        </p:nvSpPr>
        <p:spPr bwMode="auto">
          <a:xfrm>
            <a:off x="3481388" y="3662363"/>
            <a:ext cx="254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000" b="1">
                <a:solidFill>
                  <a:srgbClr val="000000"/>
                </a:solidFill>
                <a:latin typeface="Calibri" panose="020F0502020204030204" pitchFamily="34" charset="0"/>
              </a:rPr>
              <a:t>0</a:t>
            </a:r>
          </a:p>
        </p:txBody>
      </p:sp>
      <p:sp>
        <p:nvSpPr>
          <p:cNvPr id="86047" name="Text Box 29">
            <a:extLst>
              <a:ext uri="{FF2B5EF4-FFF2-40B4-BE49-F238E27FC236}">
                <a16:creationId xmlns:a16="http://schemas.microsoft.com/office/drawing/2014/main" id="{16E57ED4-0E7B-4A31-B1CE-1E36EDFA80AD}"/>
              </a:ext>
            </a:extLst>
          </p:cNvPr>
          <p:cNvSpPr txBox="1">
            <a:spLocks noChangeArrowheads="1"/>
          </p:cNvSpPr>
          <p:nvPr/>
        </p:nvSpPr>
        <p:spPr bwMode="auto">
          <a:xfrm>
            <a:off x="3495675" y="5459413"/>
            <a:ext cx="369888"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000" b="1">
                <a:solidFill>
                  <a:srgbClr val="000000"/>
                </a:solidFill>
                <a:latin typeface="Calibri" panose="020F0502020204030204" pitchFamily="34" charset="0"/>
              </a:rPr>
              <a:t>N-1</a:t>
            </a:r>
          </a:p>
        </p:txBody>
      </p:sp>
      <p:sp>
        <p:nvSpPr>
          <p:cNvPr id="86048" name="Text Box 30">
            <a:extLst>
              <a:ext uri="{FF2B5EF4-FFF2-40B4-BE49-F238E27FC236}">
                <a16:creationId xmlns:a16="http://schemas.microsoft.com/office/drawing/2014/main" id="{989C35AF-C5A2-4CFA-AED4-7D3CC472BD93}"/>
              </a:ext>
            </a:extLst>
          </p:cNvPr>
          <p:cNvSpPr txBox="1">
            <a:spLocks noChangeArrowheads="1"/>
          </p:cNvSpPr>
          <p:nvPr/>
        </p:nvSpPr>
        <p:spPr bwMode="auto">
          <a:xfrm>
            <a:off x="5091113" y="5267325"/>
            <a:ext cx="3984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000" b="1">
                <a:solidFill>
                  <a:srgbClr val="000000"/>
                </a:solidFill>
                <a:latin typeface="Calibri" panose="020F0502020204030204" pitchFamily="34" charset="0"/>
              </a:rPr>
              <a:t>M-1</a:t>
            </a:r>
          </a:p>
        </p:txBody>
      </p:sp>
      <p:sp>
        <p:nvSpPr>
          <p:cNvPr id="86049" name="Text Box 31">
            <a:extLst>
              <a:ext uri="{FF2B5EF4-FFF2-40B4-BE49-F238E27FC236}">
                <a16:creationId xmlns:a16="http://schemas.microsoft.com/office/drawing/2014/main" id="{8CF68B08-FAEE-4730-A115-0C453F9F6B7B}"/>
              </a:ext>
            </a:extLst>
          </p:cNvPr>
          <p:cNvSpPr txBox="1">
            <a:spLocks noChangeArrowheads="1"/>
          </p:cNvSpPr>
          <p:nvPr/>
        </p:nvSpPr>
        <p:spPr bwMode="auto">
          <a:xfrm>
            <a:off x="5240338" y="3908425"/>
            <a:ext cx="254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000" b="1">
                <a:solidFill>
                  <a:srgbClr val="000000"/>
                </a:solidFill>
                <a:latin typeface="Calibri" panose="020F0502020204030204" pitchFamily="34" charset="0"/>
              </a:rPr>
              <a:t>0</a:t>
            </a:r>
          </a:p>
        </p:txBody>
      </p:sp>
      <p:sp>
        <p:nvSpPr>
          <p:cNvPr id="86050" name="Text Box 32">
            <a:extLst>
              <a:ext uri="{FF2B5EF4-FFF2-40B4-BE49-F238E27FC236}">
                <a16:creationId xmlns:a16="http://schemas.microsoft.com/office/drawing/2014/main" id="{F4EA0166-7120-46CB-8967-BB81288762C5}"/>
              </a:ext>
            </a:extLst>
          </p:cNvPr>
          <p:cNvSpPr txBox="1">
            <a:spLocks noChangeArrowheads="1"/>
          </p:cNvSpPr>
          <p:nvPr/>
        </p:nvSpPr>
        <p:spPr bwMode="auto">
          <a:xfrm>
            <a:off x="2205038" y="5753100"/>
            <a:ext cx="179546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Virtual pages (VPs) </a:t>
            </a:r>
          </a:p>
          <a:p>
            <a:pPr algn="ctr">
              <a:lnSpc>
                <a:spcPct val="98000"/>
              </a:lnSpc>
            </a:pPr>
            <a:r>
              <a:rPr kumimoji="0" lang="en-GB" altLang="zh-CN" sz="1600" b="1">
                <a:solidFill>
                  <a:srgbClr val="000000"/>
                </a:solidFill>
                <a:latin typeface="Calibri" panose="020F0502020204030204" pitchFamily="34" charset="0"/>
              </a:rPr>
              <a:t>stored on disk</a:t>
            </a:r>
          </a:p>
        </p:txBody>
      </p:sp>
      <p:sp>
        <p:nvSpPr>
          <p:cNvPr id="86051" name="Text Box 33">
            <a:extLst>
              <a:ext uri="{FF2B5EF4-FFF2-40B4-BE49-F238E27FC236}">
                <a16:creationId xmlns:a16="http://schemas.microsoft.com/office/drawing/2014/main" id="{C9AEC2E0-73B1-4ED8-A313-29030DEBB5B3}"/>
              </a:ext>
            </a:extLst>
          </p:cNvPr>
          <p:cNvSpPr txBox="1">
            <a:spLocks noChangeArrowheads="1"/>
          </p:cNvSpPr>
          <p:nvPr/>
        </p:nvSpPr>
        <p:spPr bwMode="auto">
          <a:xfrm>
            <a:off x="5000625" y="5753100"/>
            <a:ext cx="187166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Physical pages (PPs) </a:t>
            </a:r>
          </a:p>
          <a:p>
            <a:pPr algn="ctr">
              <a:lnSpc>
                <a:spcPct val="98000"/>
              </a:lnSpc>
            </a:pPr>
            <a:r>
              <a:rPr kumimoji="0" lang="en-GB" altLang="zh-CN" sz="1600" b="1">
                <a:solidFill>
                  <a:srgbClr val="000000"/>
                </a:solidFill>
                <a:latin typeface="Calibri" panose="020F0502020204030204" pitchFamily="34" charset="0"/>
              </a:rPr>
              <a:t>cached in DRAM</a:t>
            </a:r>
          </a:p>
        </p:txBody>
      </p:sp>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a:extLst>
              <a:ext uri="{FF2B5EF4-FFF2-40B4-BE49-F238E27FC236}">
                <a16:creationId xmlns:a16="http://schemas.microsoft.com/office/drawing/2014/main" id="{5C5A4D05-A4E8-4A5D-B5B7-43F90DAB16E8}"/>
              </a:ext>
            </a:extLst>
          </p:cNvPr>
          <p:cNvSpPr>
            <a:spLocks noGrp="1" noChangeArrowheads="1"/>
          </p:cNvSpPr>
          <p:nvPr>
            <p:ph type="title"/>
          </p:nvPr>
        </p:nvSpPr>
        <p:spPr/>
        <p:txBody>
          <a:bodyPr/>
          <a:lstStyle/>
          <a:p>
            <a:pPr eaLnBrk="1" hangingPunct="1">
              <a:defRPr/>
            </a:pPr>
            <a:r>
              <a:rPr lang="zh-CN" altLang="en-US"/>
              <a:t>基本概念（</a:t>
            </a:r>
            <a:r>
              <a:rPr lang="en-US" altLang="zh-CN"/>
              <a:t>2</a:t>
            </a:r>
            <a:r>
              <a:rPr lang="zh-CN" altLang="en-US"/>
              <a:t>）</a:t>
            </a:r>
          </a:p>
        </p:txBody>
      </p:sp>
      <p:sp>
        <p:nvSpPr>
          <p:cNvPr id="87043" name="Rectangle 3">
            <a:extLst>
              <a:ext uri="{FF2B5EF4-FFF2-40B4-BE49-F238E27FC236}">
                <a16:creationId xmlns:a16="http://schemas.microsoft.com/office/drawing/2014/main" id="{36773B90-076F-4173-83A2-0CA4441D2E9E}"/>
              </a:ext>
            </a:extLst>
          </p:cNvPr>
          <p:cNvSpPr>
            <a:spLocks noGrp="1" noChangeArrowheads="1"/>
          </p:cNvSpPr>
          <p:nvPr>
            <p:ph idx="1"/>
          </p:nvPr>
        </p:nvSpPr>
        <p:spPr>
          <a:xfrm>
            <a:off x="179387" y="1075765"/>
            <a:ext cx="8785225" cy="5400675"/>
          </a:xfrm>
        </p:spPr>
        <p:txBody>
          <a:bodyPr/>
          <a:lstStyle/>
          <a:p>
            <a:pPr eaLnBrk="1" hangingPunct="1"/>
            <a:r>
              <a:rPr lang="zh-CN" altLang="en-US" sz="2800" dirty="0"/>
              <a:t>虚拟存储器指的是主存－外存层次</a:t>
            </a:r>
          </a:p>
          <a:p>
            <a:pPr eaLnBrk="1" hangingPunct="1"/>
            <a:r>
              <a:rPr lang="zh-CN" altLang="en-US" sz="2800" dirty="0"/>
              <a:t>用户编写程序时使用的地址称为</a:t>
            </a:r>
            <a:r>
              <a:rPr lang="zh-CN" altLang="en-US" sz="2800" dirty="0">
                <a:solidFill>
                  <a:srgbClr val="C00000"/>
                </a:solidFill>
              </a:rPr>
              <a:t>虚拟地址</a:t>
            </a:r>
            <a:r>
              <a:rPr lang="zh-CN" altLang="en-US" sz="2800" dirty="0"/>
              <a:t>（</a:t>
            </a:r>
            <a:r>
              <a:rPr lang="en-US" altLang="zh-CN" sz="2800" dirty="0"/>
              <a:t>Virtual Address</a:t>
            </a:r>
            <a:r>
              <a:rPr lang="zh-CN" altLang="en-US" sz="2800" dirty="0"/>
              <a:t>）或逻辑地址（</a:t>
            </a:r>
            <a:r>
              <a:rPr lang="en-US" altLang="zh-CN" sz="2800" dirty="0"/>
              <a:t>Logical address</a:t>
            </a:r>
            <a:r>
              <a:rPr lang="zh-CN" altLang="en-US" sz="2800" dirty="0"/>
              <a:t>），其对应的存储空间称为虚存空间或逻辑地址空间</a:t>
            </a:r>
          </a:p>
          <a:p>
            <a:pPr eaLnBrk="1" hangingPunct="1"/>
            <a:r>
              <a:rPr lang="zh-CN" altLang="en-US" sz="2800" dirty="0">
                <a:solidFill>
                  <a:srgbClr val="C00000"/>
                </a:solidFill>
              </a:rPr>
              <a:t>物理地址</a:t>
            </a:r>
            <a:r>
              <a:rPr lang="zh-CN" altLang="en-US" sz="2800" dirty="0"/>
              <a:t>（</a:t>
            </a:r>
            <a:r>
              <a:rPr lang="en-US" altLang="zh-CN" sz="2800" dirty="0"/>
              <a:t>Physical Address</a:t>
            </a:r>
            <a:r>
              <a:rPr lang="zh-CN" altLang="en-US" sz="2800" dirty="0"/>
              <a:t>）或称实地址（</a:t>
            </a:r>
            <a:r>
              <a:rPr lang="en-US" altLang="zh-CN" sz="2800" dirty="0"/>
              <a:t>Real Address</a:t>
            </a:r>
            <a:r>
              <a:rPr lang="zh-CN" altLang="en-US" sz="2800" dirty="0"/>
              <a:t>）是由</a:t>
            </a:r>
            <a:r>
              <a:rPr lang="en-US" altLang="zh-CN" sz="2800" dirty="0"/>
              <a:t>CPU</a:t>
            </a:r>
            <a:r>
              <a:rPr lang="zh-CN" altLang="en-US" sz="2800" dirty="0"/>
              <a:t>地址引脚送出的、用于访问主存的地址，其对应的存储空间称为物理地址空间或主存空间</a:t>
            </a:r>
          </a:p>
          <a:p>
            <a:pPr lvl="1" eaLnBrk="1" hangingPunct="1"/>
            <a:r>
              <a:rPr lang="zh-CN" altLang="en-US" dirty="0">
                <a:ea typeface="楷体_GB2312" pitchFamily="49" charset="-122"/>
              </a:rPr>
              <a:t>若</a:t>
            </a:r>
            <a:r>
              <a:rPr lang="en-US" altLang="zh-CN" dirty="0">
                <a:ea typeface="楷体_GB2312" pitchFamily="49" charset="-122"/>
              </a:rPr>
              <a:t>CPU</a:t>
            </a:r>
            <a:r>
              <a:rPr lang="zh-CN" altLang="en-US" dirty="0">
                <a:ea typeface="楷体_GB2312" pitchFamily="49" charset="-122"/>
              </a:rPr>
              <a:t>地址总线的宽度为</a:t>
            </a:r>
            <a:r>
              <a:rPr lang="en-US" altLang="zh-CN" dirty="0">
                <a:ea typeface="楷体_GB2312" pitchFamily="49" charset="-122"/>
              </a:rPr>
              <a:t>m</a:t>
            </a:r>
            <a:r>
              <a:rPr lang="zh-CN" altLang="en-US" dirty="0">
                <a:ea typeface="楷体_GB2312" pitchFamily="49" charset="-122"/>
              </a:rPr>
              <a:t>位，那么物理地址空间的大小用</a:t>
            </a:r>
            <a:r>
              <a:rPr lang="en-US" altLang="zh-CN" dirty="0">
                <a:ea typeface="楷体_GB2312" pitchFamily="49" charset="-122"/>
              </a:rPr>
              <a:t>2</a:t>
            </a:r>
            <a:r>
              <a:rPr lang="en-US" altLang="zh-CN" baseline="30000" dirty="0">
                <a:ea typeface="楷体_GB2312" pitchFamily="49" charset="-122"/>
              </a:rPr>
              <a:t>m</a:t>
            </a:r>
            <a:r>
              <a:rPr lang="zh-CN" altLang="en-US" dirty="0">
                <a:ea typeface="楷体_GB2312" pitchFamily="49" charset="-122"/>
              </a:rPr>
              <a:t>来表示</a:t>
            </a:r>
          </a:p>
          <a:p>
            <a:pPr eaLnBrk="1" hangingPunct="1"/>
            <a:r>
              <a:rPr lang="zh-CN" altLang="en-US" sz="2800" dirty="0"/>
              <a:t>程序进行虚拟地址到物理地址的转换过程称为程序再定位 </a:t>
            </a:r>
          </a:p>
        </p:txBody>
      </p:sp>
    </p:spTree>
  </p:cSld>
  <p:clrMapOvr>
    <a:masterClrMapping/>
  </p:clrMapOvr>
  <p:transition spd="med">
    <p:pull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72603FD4-221F-4117-B08F-0C0539B1CB80}"/>
              </a:ext>
            </a:extLst>
          </p:cNvPr>
          <p:cNvSpPr>
            <a:spLocks noGrp="1" noChangeArrowheads="1"/>
          </p:cNvSpPr>
          <p:nvPr>
            <p:ph type="title"/>
          </p:nvPr>
        </p:nvSpPr>
        <p:spPr/>
        <p:txBody>
          <a:bodyPr/>
          <a:lstStyle/>
          <a:p>
            <a:pPr eaLnBrk="1" hangingPunct="1"/>
            <a:r>
              <a:rPr lang="zh-CN" altLang="en-US">
                <a:effectLst/>
              </a:rPr>
              <a:t>主存－外存层次结构特点</a:t>
            </a:r>
          </a:p>
        </p:txBody>
      </p:sp>
      <p:sp>
        <p:nvSpPr>
          <p:cNvPr id="88067" name="Rectangle 3">
            <a:extLst>
              <a:ext uri="{FF2B5EF4-FFF2-40B4-BE49-F238E27FC236}">
                <a16:creationId xmlns:a16="http://schemas.microsoft.com/office/drawing/2014/main" id="{E03EAAF9-B8F4-433B-871B-16AA47B37AE4}"/>
              </a:ext>
            </a:extLst>
          </p:cNvPr>
          <p:cNvSpPr>
            <a:spLocks noGrp="1" noChangeArrowheads="1"/>
          </p:cNvSpPr>
          <p:nvPr>
            <p:ph idx="1"/>
          </p:nvPr>
        </p:nvSpPr>
        <p:spPr>
          <a:xfrm>
            <a:off x="376518" y="1143000"/>
            <a:ext cx="8382000" cy="5232400"/>
          </a:xfrm>
        </p:spPr>
        <p:txBody>
          <a:bodyPr/>
          <a:lstStyle/>
          <a:p>
            <a:pPr eaLnBrk="1" hangingPunct="1">
              <a:lnSpc>
                <a:spcPct val="90000"/>
              </a:lnSpc>
            </a:pPr>
            <a:r>
              <a:rPr lang="zh-CN" altLang="en-US" sz="2400" dirty="0"/>
              <a:t>与</a:t>
            </a:r>
            <a:r>
              <a:rPr lang="en-US" altLang="zh-CN" sz="2400" dirty="0"/>
              <a:t>Cache-</a:t>
            </a:r>
            <a:r>
              <a:rPr lang="zh-CN" altLang="en-US" sz="2400" dirty="0"/>
              <a:t>主存层次有很多相似之处</a:t>
            </a:r>
          </a:p>
          <a:p>
            <a:pPr lvl="1" eaLnBrk="1" hangingPunct="1">
              <a:lnSpc>
                <a:spcPct val="90000"/>
              </a:lnSpc>
            </a:pPr>
            <a:r>
              <a:rPr lang="zh-CN" altLang="en-US" sz="2400" dirty="0"/>
              <a:t>地址变换</a:t>
            </a:r>
          </a:p>
          <a:p>
            <a:pPr lvl="1" eaLnBrk="1" hangingPunct="1">
              <a:lnSpc>
                <a:spcPct val="90000"/>
              </a:lnSpc>
            </a:pPr>
            <a:r>
              <a:rPr lang="zh-CN" altLang="en-US" sz="2400" dirty="0"/>
              <a:t>替换策略</a:t>
            </a:r>
          </a:p>
          <a:p>
            <a:pPr lvl="1" eaLnBrk="1" hangingPunct="1">
              <a:lnSpc>
                <a:spcPct val="90000"/>
              </a:lnSpc>
            </a:pPr>
            <a:r>
              <a:rPr lang="zh-CN" altLang="en-US" sz="2400" dirty="0"/>
              <a:t>基于程序局部性原理</a:t>
            </a:r>
          </a:p>
          <a:p>
            <a:pPr eaLnBrk="1" hangingPunct="1">
              <a:lnSpc>
                <a:spcPct val="90000"/>
              </a:lnSpc>
            </a:pPr>
            <a:r>
              <a:rPr lang="zh-CN" altLang="en-US" sz="2400" dirty="0"/>
              <a:t>主存</a:t>
            </a:r>
            <a:r>
              <a:rPr lang="en-US" altLang="zh-CN" sz="2400" dirty="0"/>
              <a:t>-</a:t>
            </a:r>
            <a:r>
              <a:rPr lang="zh-CN" altLang="en-US" sz="2400" dirty="0"/>
              <a:t>外存层次和</a:t>
            </a:r>
            <a:r>
              <a:rPr lang="en-US" altLang="zh-CN" sz="2400" dirty="0"/>
              <a:t>Cache-</a:t>
            </a:r>
            <a:r>
              <a:rPr lang="zh-CN" altLang="en-US" sz="2400" dirty="0"/>
              <a:t>主存层次遵循的原则</a:t>
            </a:r>
          </a:p>
          <a:p>
            <a:pPr lvl="1" eaLnBrk="1" hangingPunct="1">
              <a:lnSpc>
                <a:spcPct val="90000"/>
              </a:lnSpc>
            </a:pPr>
            <a:r>
              <a:rPr lang="zh-CN" altLang="en-US" sz="2000" dirty="0"/>
              <a:t>把程序中最近常用的部分驻留在高速的存储器中</a:t>
            </a:r>
          </a:p>
          <a:p>
            <a:pPr lvl="1" eaLnBrk="1" hangingPunct="1">
              <a:lnSpc>
                <a:spcPct val="90000"/>
              </a:lnSpc>
            </a:pPr>
            <a:r>
              <a:rPr lang="zh-CN" altLang="en-US" sz="2000" dirty="0"/>
              <a:t>一旦这部分变得不常用了，把它们送回到低速的存储器中</a:t>
            </a:r>
          </a:p>
          <a:p>
            <a:pPr lvl="1" eaLnBrk="1" hangingPunct="1">
              <a:lnSpc>
                <a:spcPct val="90000"/>
              </a:lnSpc>
            </a:pPr>
            <a:r>
              <a:rPr lang="zh-CN" altLang="en-US" sz="2000" dirty="0"/>
              <a:t>这种换入换出是由硬件或操作系统完成的，对用户是透明的</a:t>
            </a:r>
          </a:p>
          <a:p>
            <a:pPr lvl="1" eaLnBrk="1" hangingPunct="1">
              <a:lnSpc>
                <a:spcPct val="90000"/>
              </a:lnSpc>
            </a:pPr>
            <a:r>
              <a:rPr lang="zh-CN" altLang="en-US" sz="2000" dirty="0"/>
              <a:t>力图使存储系统的性能接近高速存储器，价格接近低速存储器</a:t>
            </a:r>
          </a:p>
          <a:p>
            <a:pPr eaLnBrk="1" hangingPunct="1">
              <a:lnSpc>
                <a:spcPct val="90000"/>
              </a:lnSpc>
            </a:pPr>
            <a:r>
              <a:rPr lang="zh-CN" altLang="en-US" sz="2400" dirty="0"/>
              <a:t>常用的</a:t>
            </a:r>
            <a:r>
              <a:rPr lang="en-US" altLang="zh-CN" sz="2400" dirty="0"/>
              <a:t>3</a:t>
            </a:r>
            <a:r>
              <a:rPr lang="zh-CN" altLang="en-US" sz="2400" dirty="0"/>
              <a:t>种存储管理方式</a:t>
            </a:r>
          </a:p>
          <a:p>
            <a:pPr lvl="1" eaLnBrk="1" hangingPunct="1">
              <a:lnSpc>
                <a:spcPct val="90000"/>
              </a:lnSpc>
            </a:pPr>
            <a:r>
              <a:rPr lang="zh-CN" altLang="en-US" sz="2400" dirty="0"/>
              <a:t>段式存储管理</a:t>
            </a:r>
          </a:p>
          <a:p>
            <a:pPr lvl="1" eaLnBrk="1" hangingPunct="1">
              <a:lnSpc>
                <a:spcPct val="90000"/>
              </a:lnSpc>
            </a:pPr>
            <a:r>
              <a:rPr lang="zh-CN" altLang="en-US" sz="2400" dirty="0"/>
              <a:t>页式存储管理</a:t>
            </a:r>
          </a:p>
          <a:p>
            <a:pPr lvl="1" eaLnBrk="1" hangingPunct="1">
              <a:lnSpc>
                <a:spcPct val="90000"/>
              </a:lnSpc>
            </a:pPr>
            <a:r>
              <a:rPr lang="zh-CN" altLang="en-US" sz="2400" dirty="0"/>
              <a:t>段页式虚拟存储管理</a:t>
            </a:r>
          </a:p>
        </p:txBody>
      </p:sp>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324" name="Rectangle 28">
            <a:extLst>
              <a:ext uri="{FF2B5EF4-FFF2-40B4-BE49-F238E27FC236}">
                <a16:creationId xmlns:a16="http://schemas.microsoft.com/office/drawing/2014/main" id="{8D25BB27-490C-49BD-997B-0A560D1941B5}"/>
              </a:ext>
            </a:extLst>
          </p:cNvPr>
          <p:cNvSpPr>
            <a:spLocks noGrp="1" noChangeArrowheads="1"/>
          </p:cNvSpPr>
          <p:nvPr>
            <p:ph type="title"/>
          </p:nvPr>
        </p:nvSpPr>
        <p:spPr>
          <a:xfrm>
            <a:off x="8965" y="244475"/>
            <a:ext cx="9109075" cy="760413"/>
          </a:xfrm>
        </p:spPr>
        <p:txBody>
          <a:bodyPr/>
          <a:lstStyle/>
          <a:p>
            <a:pPr eaLnBrk="1" hangingPunct="1">
              <a:defRPr/>
            </a:pPr>
            <a:r>
              <a:rPr lang="zh-CN" altLang="en-US" dirty="0"/>
              <a:t>只有物理存储器的系统</a:t>
            </a:r>
            <a:endParaRPr lang="en-US" altLang="zh-CN" dirty="0"/>
          </a:p>
        </p:txBody>
      </p:sp>
      <p:sp>
        <p:nvSpPr>
          <p:cNvPr id="89091" name="Rectangle 29">
            <a:extLst>
              <a:ext uri="{FF2B5EF4-FFF2-40B4-BE49-F238E27FC236}">
                <a16:creationId xmlns:a16="http://schemas.microsoft.com/office/drawing/2014/main" id="{3C6BD50C-4630-4208-9F1D-F6DE5C76F04D}"/>
              </a:ext>
            </a:extLst>
          </p:cNvPr>
          <p:cNvSpPr>
            <a:spLocks noGrp="1" noChangeArrowheads="1"/>
          </p:cNvSpPr>
          <p:nvPr>
            <p:ph idx="1"/>
          </p:nvPr>
        </p:nvSpPr>
        <p:spPr/>
        <p:txBody>
          <a:bodyPr/>
          <a:lstStyle/>
          <a:p>
            <a:pPr eaLnBrk="1" hangingPunct="1"/>
            <a:r>
              <a:rPr lang="zh-CN" altLang="en-US"/>
              <a:t>处理器产生的地址直接指向物理存储器中的存储单元（如：字节）</a:t>
            </a:r>
          </a:p>
          <a:p>
            <a:pPr eaLnBrk="1" hangingPunct="1"/>
            <a:r>
              <a:rPr lang="zh-CN" altLang="en-US"/>
              <a:t>实例</a:t>
            </a:r>
          </a:p>
          <a:p>
            <a:pPr lvl="1" eaLnBrk="1" hangingPunct="1"/>
            <a:r>
              <a:rPr lang="zh-CN" altLang="en-US"/>
              <a:t>早期</a:t>
            </a:r>
            <a:r>
              <a:rPr lang="en-US" altLang="zh-CN"/>
              <a:t>PC</a:t>
            </a:r>
            <a:r>
              <a:rPr lang="zh-CN" altLang="en-US"/>
              <a:t>机</a:t>
            </a:r>
          </a:p>
          <a:p>
            <a:pPr lvl="1" eaLnBrk="1" hangingPunct="1"/>
            <a:r>
              <a:rPr lang="zh-CN" altLang="en-US"/>
              <a:t>几乎所有的嵌入式系统</a:t>
            </a:r>
          </a:p>
          <a:p>
            <a:pPr lvl="1" eaLnBrk="1" hangingPunct="1"/>
            <a:r>
              <a:rPr lang="en-US" altLang="zh-CN"/>
              <a:t>……</a:t>
            </a:r>
          </a:p>
        </p:txBody>
      </p:sp>
      <p:sp>
        <p:nvSpPr>
          <p:cNvPr id="89093" name="Rectangle 7">
            <a:extLst>
              <a:ext uri="{FF2B5EF4-FFF2-40B4-BE49-F238E27FC236}">
                <a16:creationId xmlns:a16="http://schemas.microsoft.com/office/drawing/2014/main" id="{64CA4054-3227-4E93-9CB6-C170CC32D299}"/>
              </a:ext>
            </a:extLst>
          </p:cNvPr>
          <p:cNvSpPr>
            <a:spLocks noChangeArrowheads="1"/>
          </p:cNvSpPr>
          <p:nvPr/>
        </p:nvSpPr>
        <p:spPr bwMode="auto">
          <a:xfrm>
            <a:off x="6515100" y="2801938"/>
            <a:ext cx="1676400" cy="3276600"/>
          </a:xfrm>
          <a:prstGeom prst="rect">
            <a:avLst/>
          </a:prstGeom>
          <a:solidFill>
            <a:srgbClr val="660066"/>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miter lim="800000"/>
                <a:headEnd/>
                <a:tailEnd/>
              </a14:hiddenLine>
            </a:ext>
          </a:extLst>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89094" name="Group 8">
            <a:extLst>
              <a:ext uri="{FF2B5EF4-FFF2-40B4-BE49-F238E27FC236}">
                <a16:creationId xmlns:a16="http://schemas.microsoft.com/office/drawing/2014/main" id="{9BFBE0EC-33F2-45CA-BD2A-D424CF963291}"/>
              </a:ext>
            </a:extLst>
          </p:cNvPr>
          <p:cNvGrpSpPr>
            <a:grpSpLocks/>
          </p:cNvGrpSpPr>
          <p:nvPr/>
        </p:nvGrpSpPr>
        <p:grpSpPr bwMode="auto">
          <a:xfrm>
            <a:off x="7048500" y="2954338"/>
            <a:ext cx="914400" cy="2971800"/>
            <a:chOff x="3360" y="1344"/>
            <a:chExt cx="576" cy="1872"/>
          </a:xfrm>
        </p:grpSpPr>
        <p:sp>
          <p:nvSpPr>
            <p:cNvPr id="89103" name="Rectangle 9">
              <a:extLst>
                <a:ext uri="{FF2B5EF4-FFF2-40B4-BE49-F238E27FC236}">
                  <a16:creationId xmlns:a16="http://schemas.microsoft.com/office/drawing/2014/main" id="{445E3C0E-E449-46BC-AB02-7B0725A908A6}"/>
                </a:ext>
              </a:extLst>
            </p:cNvPr>
            <p:cNvSpPr>
              <a:spLocks noChangeArrowheads="1"/>
            </p:cNvSpPr>
            <p:nvPr/>
          </p:nvSpPr>
          <p:spPr bwMode="auto">
            <a:xfrm>
              <a:off x="3360" y="134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04" name="Rectangle 10">
              <a:extLst>
                <a:ext uri="{FF2B5EF4-FFF2-40B4-BE49-F238E27FC236}">
                  <a16:creationId xmlns:a16="http://schemas.microsoft.com/office/drawing/2014/main" id="{54F242EE-8E77-4D39-98AF-E5D1E73DFACE}"/>
                </a:ext>
              </a:extLst>
            </p:cNvPr>
            <p:cNvSpPr>
              <a:spLocks noChangeArrowheads="1"/>
            </p:cNvSpPr>
            <p:nvPr/>
          </p:nvSpPr>
          <p:spPr bwMode="auto">
            <a:xfrm>
              <a:off x="3360" y="148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05" name="Rectangle 11">
              <a:extLst>
                <a:ext uri="{FF2B5EF4-FFF2-40B4-BE49-F238E27FC236}">
                  <a16:creationId xmlns:a16="http://schemas.microsoft.com/office/drawing/2014/main" id="{AD5380E2-E969-4A66-A00E-62549A08D328}"/>
                </a:ext>
              </a:extLst>
            </p:cNvPr>
            <p:cNvSpPr>
              <a:spLocks noChangeArrowheads="1"/>
            </p:cNvSpPr>
            <p:nvPr/>
          </p:nvSpPr>
          <p:spPr bwMode="auto">
            <a:xfrm>
              <a:off x="3360" y="1632"/>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06" name="Rectangle 12">
              <a:extLst>
                <a:ext uri="{FF2B5EF4-FFF2-40B4-BE49-F238E27FC236}">
                  <a16:creationId xmlns:a16="http://schemas.microsoft.com/office/drawing/2014/main" id="{E06D37EF-01D1-4E5A-A0CF-710EF2F56A19}"/>
                </a:ext>
              </a:extLst>
            </p:cNvPr>
            <p:cNvSpPr>
              <a:spLocks noChangeArrowheads="1"/>
            </p:cNvSpPr>
            <p:nvPr/>
          </p:nvSpPr>
          <p:spPr bwMode="auto">
            <a:xfrm>
              <a:off x="3360" y="1776"/>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07" name="Rectangle 13">
              <a:extLst>
                <a:ext uri="{FF2B5EF4-FFF2-40B4-BE49-F238E27FC236}">
                  <a16:creationId xmlns:a16="http://schemas.microsoft.com/office/drawing/2014/main" id="{014E56C1-1A92-44C8-A83C-4BBC58DB6AF0}"/>
                </a:ext>
              </a:extLst>
            </p:cNvPr>
            <p:cNvSpPr>
              <a:spLocks noChangeArrowheads="1"/>
            </p:cNvSpPr>
            <p:nvPr/>
          </p:nvSpPr>
          <p:spPr bwMode="auto">
            <a:xfrm>
              <a:off x="3360" y="1920"/>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08" name="Rectangle 14">
              <a:extLst>
                <a:ext uri="{FF2B5EF4-FFF2-40B4-BE49-F238E27FC236}">
                  <a16:creationId xmlns:a16="http://schemas.microsoft.com/office/drawing/2014/main" id="{002E5026-1A7E-41C8-9FA2-2B5625A53D46}"/>
                </a:ext>
              </a:extLst>
            </p:cNvPr>
            <p:cNvSpPr>
              <a:spLocks noChangeArrowheads="1"/>
            </p:cNvSpPr>
            <p:nvPr/>
          </p:nvSpPr>
          <p:spPr bwMode="auto">
            <a:xfrm>
              <a:off x="3360" y="220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09" name="Rectangle 15">
              <a:extLst>
                <a:ext uri="{FF2B5EF4-FFF2-40B4-BE49-F238E27FC236}">
                  <a16:creationId xmlns:a16="http://schemas.microsoft.com/office/drawing/2014/main" id="{A75819BD-2C4F-48C9-85D0-1383DE683552}"/>
                </a:ext>
              </a:extLst>
            </p:cNvPr>
            <p:cNvSpPr>
              <a:spLocks noChangeArrowheads="1"/>
            </p:cNvSpPr>
            <p:nvPr/>
          </p:nvSpPr>
          <p:spPr bwMode="auto">
            <a:xfrm>
              <a:off x="3360" y="206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10" name="Rectangle 16">
              <a:extLst>
                <a:ext uri="{FF2B5EF4-FFF2-40B4-BE49-F238E27FC236}">
                  <a16:creationId xmlns:a16="http://schemas.microsoft.com/office/drawing/2014/main" id="{DE792F4A-13B1-4F10-983A-8996BA014363}"/>
                </a:ext>
              </a:extLst>
            </p:cNvPr>
            <p:cNvSpPr>
              <a:spLocks noChangeArrowheads="1"/>
            </p:cNvSpPr>
            <p:nvPr/>
          </p:nvSpPr>
          <p:spPr bwMode="auto">
            <a:xfrm>
              <a:off x="3360" y="2352"/>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11" name="Rectangle 17">
              <a:extLst>
                <a:ext uri="{FF2B5EF4-FFF2-40B4-BE49-F238E27FC236}">
                  <a16:creationId xmlns:a16="http://schemas.microsoft.com/office/drawing/2014/main" id="{9CE342E7-B796-4B76-B99A-8E376C3F01B9}"/>
                </a:ext>
              </a:extLst>
            </p:cNvPr>
            <p:cNvSpPr>
              <a:spLocks noChangeArrowheads="1"/>
            </p:cNvSpPr>
            <p:nvPr/>
          </p:nvSpPr>
          <p:spPr bwMode="auto">
            <a:xfrm>
              <a:off x="3360" y="2496"/>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12" name="Rectangle 18">
              <a:extLst>
                <a:ext uri="{FF2B5EF4-FFF2-40B4-BE49-F238E27FC236}">
                  <a16:creationId xmlns:a16="http://schemas.microsoft.com/office/drawing/2014/main" id="{CAA58259-E49C-450A-89F8-119E44406183}"/>
                </a:ext>
              </a:extLst>
            </p:cNvPr>
            <p:cNvSpPr>
              <a:spLocks noChangeArrowheads="1"/>
            </p:cNvSpPr>
            <p:nvPr/>
          </p:nvSpPr>
          <p:spPr bwMode="auto">
            <a:xfrm>
              <a:off x="3360" y="2640"/>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13" name="Rectangle 19">
              <a:extLst>
                <a:ext uri="{FF2B5EF4-FFF2-40B4-BE49-F238E27FC236}">
                  <a16:creationId xmlns:a16="http://schemas.microsoft.com/office/drawing/2014/main" id="{C5044213-C570-49AF-B0A4-80FE8BE3A5F8}"/>
                </a:ext>
              </a:extLst>
            </p:cNvPr>
            <p:cNvSpPr>
              <a:spLocks noChangeArrowheads="1"/>
            </p:cNvSpPr>
            <p:nvPr/>
          </p:nvSpPr>
          <p:spPr bwMode="auto">
            <a:xfrm>
              <a:off x="3360" y="278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14" name="Rectangle 20">
              <a:extLst>
                <a:ext uri="{FF2B5EF4-FFF2-40B4-BE49-F238E27FC236}">
                  <a16:creationId xmlns:a16="http://schemas.microsoft.com/office/drawing/2014/main" id="{3FE3C01C-D818-4C26-9FA3-8D5BAB23A035}"/>
                </a:ext>
              </a:extLst>
            </p:cNvPr>
            <p:cNvSpPr>
              <a:spLocks noChangeArrowheads="1"/>
            </p:cNvSpPr>
            <p:nvPr/>
          </p:nvSpPr>
          <p:spPr bwMode="auto">
            <a:xfrm>
              <a:off x="3360" y="3072"/>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9115" name="Rectangle 21">
              <a:extLst>
                <a:ext uri="{FF2B5EF4-FFF2-40B4-BE49-F238E27FC236}">
                  <a16:creationId xmlns:a16="http://schemas.microsoft.com/office/drawing/2014/main" id="{A61565BE-0E31-445B-8E2F-B4AB966E2B1C}"/>
                </a:ext>
              </a:extLst>
            </p:cNvPr>
            <p:cNvSpPr>
              <a:spLocks noChangeArrowheads="1"/>
            </p:cNvSpPr>
            <p:nvPr/>
          </p:nvSpPr>
          <p:spPr bwMode="auto">
            <a:xfrm>
              <a:off x="3360" y="292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89095" name="Text Box 22">
            <a:extLst>
              <a:ext uri="{FF2B5EF4-FFF2-40B4-BE49-F238E27FC236}">
                <a16:creationId xmlns:a16="http://schemas.microsoft.com/office/drawing/2014/main" id="{57C91738-716E-4935-8582-414D991BA981}"/>
              </a:ext>
            </a:extLst>
          </p:cNvPr>
          <p:cNvSpPr txBox="1">
            <a:spLocks noChangeArrowheads="1"/>
          </p:cNvSpPr>
          <p:nvPr/>
        </p:nvSpPr>
        <p:spPr bwMode="auto">
          <a:xfrm>
            <a:off x="6743700" y="2878138"/>
            <a:ext cx="384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0:</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89096" name="Text Box 23">
            <a:extLst>
              <a:ext uri="{FF2B5EF4-FFF2-40B4-BE49-F238E27FC236}">
                <a16:creationId xmlns:a16="http://schemas.microsoft.com/office/drawing/2014/main" id="{23D46D95-ED81-46A2-A385-CA334A0C2F2A}"/>
              </a:ext>
            </a:extLst>
          </p:cNvPr>
          <p:cNvSpPr txBox="1">
            <a:spLocks noChangeArrowheads="1"/>
          </p:cNvSpPr>
          <p:nvPr/>
        </p:nvSpPr>
        <p:spPr bwMode="auto">
          <a:xfrm>
            <a:off x="6743700" y="3106738"/>
            <a:ext cx="384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1:</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89097" name="Text Box 24">
            <a:extLst>
              <a:ext uri="{FF2B5EF4-FFF2-40B4-BE49-F238E27FC236}">
                <a16:creationId xmlns:a16="http://schemas.microsoft.com/office/drawing/2014/main" id="{FF413CB3-2E28-41AE-9EC5-619C69943646}"/>
              </a:ext>
            </a:extLst>
          </p:cNvPr>
          <p:cNvSpPr txBox="1">
            <a:spLocks noChangeArrowheads="1"/>
          </p:cNvSpPr>
          <p:nvPr/>
        </p:nvSpPr>
        <p:spPr bwMode="auto">
          <a:xfrm>
            <a:off x="6515100" y="5621338"/>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N-1:</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89098" name="Text Box 25">
            <a:extLst>
              <a:ext uri="{FF2B5EF4-FFF2-40B4-BE49-F238E27FC236}">
                <a16:creationId xmlns:a16="http://schemas.microsoft.com/office/drawing/2014/main" id="{0F5403BB-965E-4A64-A852-887E2D5B1C34}"/>
              </a:ext>
            </a:extLst>
          </p:cNvPr>
          <p:cNvSpPr txBox="1">
            <a:spLocks noChangeArrowheads="1"/>
          </p:cNvSpPr>
          <p:nvPr/>
        </p:nvSpPr>
        <p:spPr bwMode="auto">
          <a:xfrm>
            <a:off x="6819900" y="2420938"/>
            <a:ext cx="1057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latin typeface="Helvetica" panose="020B0604020202020204" pitchFamily="34" charset="0"/>
                <a:ea typeface="宋体" panose="02010600030101010101" pitchFamily="2" charset="-122"/>
              </a:rPr>
              <a:t>Memory</a:t>
            </a:r>
          </a:p>
        </p:txBody>
      </p:sp>
      <p:sp>
        <p:nvSpPr>
          <p:cNvPr id="89099" name="Line 26">
            <a:extLst>
              <a:ext uri="{FF2B5EF4-FFF2-40B4-BE49-F238E27FC236}">
                <a16:creationId xmlns:a16="http://schemas.microsoft.com/office/drawing/2014/main" id="{960C14B6-BC25-4351-9CBE-153296AFC186}"/>
              </a:ext>
            </a:extLst>
          </p:cNvPr>
          <p:cNvSpPr>
            <a:spLocks noChangeShapeType="1"/>
          </p:cNvSpPr>
          <p:nvPr/>
        </p:nvSpPr>
        <p:spPr bwMode="auto">
          <a:xfrm flipV="1">
            <a:off x="4979988" y="3563938"/>
            <a:ext cx="1992312" cy="641350"/>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89100" name="Line 27">
            <a:extLst>
              <a:ext uri="{FF2B5EF4-FFF2-40B4-BE49-F238E27FC236}">
                <a16:creationId xmlns:a16="http://schemas.microsoft.com/office/drawing/2014/main" id="{474E580B-8335-44D7-AF04-2D43B328EB7F}"/>
              </a:ext>
            </a:extLst>
          </p:cNvPr>
          <p:cNvSpPr>
            <a:spLocks noChangeShapeType="1"/>
          </p:cNvSpPr>
          <p:nvPr/>
        </p:nvSpPr>
        <p:spPr bwMode="auto">
          <a:xfrm flipH="1" flipV="1">
            <a:off x="4979988" y="4452938"/>
            <a:ext cx="1992312" cy="406400"/>
          </a:xfrm>
          <a:prstGeom prst="line">
            <a:avLst/>
          </a:prstGeom>
          <a:noFill/>
          <a:ln w="38100">
            <a:solidFill>
              <a:srgbClr val="FF9900"/>
            </a:solidFill>
            <a:round/>
            <a:headEnd type="triangle" w="med" len="med"/>
            <a:tailEn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89101" name="Text Box 31">
            <a:extLst>
              <a:ext uri="{FF2B5EF4-FFF2-40B4-BE49-F238E27FC236}">
                <a16:creationId xmlns:a16="http://schemas.microsoft.com/office/drawing/2014/main" id="{3D37F8D8-A73E-4A0E-8C6E-9F84AE8B1EBD}"/>
              </a:ext>
            </a:extLst>
          </p:cNvPr>
          <p:cNvSpPr txBox="1">
            <a:spLocks noChangeArrowheads="1"/>
          </p:cNvSpPr>
          <p:nvPr/>
        </p:nvSpPr>
        <p:spPr bwMode="auto">
          <a:xfrm>
            <a:off x="5040313" y="3278188"/>
            <a:ext cx="1474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80000"/>
              </a:lnSpc>
              <a:spcBef>
                <a:spcPct val="0"/>
              </a:spcBef>
              <a:buClrTx/>
              <a:buFontTx/>
              <a:buNone/>
            </a:pPr>
            <a:r>
              <a:rPr kumimoji="0" lang="zh-CN" altLang="en-US" sz="2000">
                <a:latin typeface="楷体_GB2312" pitchFamily="49" charset="-122"/>
              </a:rPr>
              <a:t>物理地址</a:t>
            </a:r>
            <a:r>
              <a:rPr kumimoji="0" lang="en-US" altLang="zh-CN" sz="2000">
                <a:latin typeface="楷体_GB2312" pitchFamily="49" charset="-122"/>
              </a:rPr>
              <a:t>PA</a:t>
            </a:r>
            <a:endParaRPr kumimoji="0" lang="zh-CN" altLang="en-US" sz="2000">
              <a:latin typeface="楷体_GB2312" pitchFamily="49" charset="-122"/>
            </a:endParaRPr>
          </a:p>
        </p:txBody>
      </p:sp>
      <p:sp>
        <p:nvSpPr>
          <p:cNvPr id="89102" name="AutoShape 33">
            <a:extLst>
              <a:ext uri="{FF2B5EF4-FFF2-40B4-BE49-F238E27FC236}">
                <a16:creationId xmlns:a16="http://schemas.microsoft.com/office/drawing/2014/main" id="{DC180614-423C-42CC-BA05-9F1612B6C09C}"/>
              </a:ext>
            </a:extLst>
          </p:cNvPr>
          <p:cNvSpPr>
            <a:spLocks noChangeArrowheads="1"/>
          </p:cNvSpPr>
          <p:nvPr/>
        </p:nvSpPr>
        <p:spPr bwMode="auto">
          <a:xfrm>
            <a:off x="3836988" y="3862388"/>
            <a:ext cx="1143000" cy="838200"/>
          </a:xfrm>
          <a:prstGeom prst="roundRect">
            <a:avLst>
              <a:gd name="adj" fmla="val 16667"/>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69850" algn="ctr">
                <a:solidFill>
                  <a:srgbClr val="000000"/>
                </a:solidFill>
                <a:round/>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800">
                <a:solidFill>
                  <a:schemeClr val="bg1"/>
                </a:solidFill>
                <a:ea typeface="方正准圆简体" pitchFamily="2" charset="-122"/>
              </a:rPr>
              <a:t>CPU</a:t>
            </a:r>
          </a:p>
        </p:txBody>
      </p:sp>
    </p:spTree>
  </p:cSld>
  <p:clrMapOvr>
    <a:masterClrMapping/>
  </p:clrMapOvr>
  <p:transition spd="med">
    <p:pull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a:extLst>
              <a:ext uri="{FF2B5EF4-FFF2-40B4-BE49-F238E27FC236}">
                <a16:creationId xmlns:a16="http://schemas.microsoft.com/office/drawing/2014/main" id="{24CA37C6-681A-4E74-9BD4-BD4A325D8C41}"/>
              </a:ext>
            </a:extLst>
          </p:cNvPr>
          <p:cNvSpPr>
            <a:spLocks noGrp="1" noChangeArrowheads="1"/>
          </p:cNvSpPr>
          <p:nvPr>
            <p:ph idx="1"/>
          </p:nvPr>
        </p:nvSpPr>
        <p:spPr>
          <a:xfrm>
            <a:off x="117475" y="1058068"/>
            <a:ext cx="8785225" cy="5478463"/>
          </a:xfrm>
        </p:spPr>
        <p:txBody>
          <a:bodyPr/>
          <a:lstStyle/>
          <a:p>
            <a:pPr>
              <a:lnSpc>
                <a:spcPct val="90000"/>
              </a:lnSpc>
              <a:spcBef>
                <a:spcPct val="30000"/>
              </a:spcBef>
              <a:buClr>
                <a:srgbClr val="C00000"/>
              </a:buClr>
            </a:pPr>
            <a:r>
              <a:rPr kumimoji="0" lang="zh-CN" altLang="en-US" sz="2800" dirty="0"/>
              <a:t>地址翻译：通过操作系统管理的页表可将虚拟地址转换为物理地址</a:t>
            </a:r>
            <a:endParaRPr kumimoji="0" lang="en-US" altLang="zh-CN" sz="2800" dirty="0"/>
          </a:p>
          <a:p>
            <a:pPr eaLnBrk="1" hangingPunct="1"/>
            <a:r>
              <a:rPr lang="zh-CN" altLang="en-US" sz="2800" dirty="0"/>
              <a:t>实例：</a:t>
            </a:r>
            <a:endParaRPr lang="en-US" altLang="zh-CN" sz="2800" dirty="0"/>
          </a:p>
          <a:p>
            <a:pPr lvl="1" eaLnBrk="1" hangingPunct="1"/>
            <a:r>
              <a:rPr lang="zh-CN" altLang="en-US" sz="2400" dirty="0"/>
              <a:t>工作站、服务器，现代</a:t>
            </a:r>
            <a:r>
              <a:rPr lang="en-US" altLang="zh-CN" sz="2400" dirty="0"/>
              <a:t>PC</a:t>
            </a:r>
            <a:r>
              <a:rPr lang="zh-CN" altLang="en-US" sz="2400" dirty="0"/>
              <a:t>机</a:t>
            </a:r>
          </a:p>
          <a:p>
            <a:pPr lvl="1" eaLnBrk="1" hangingPunct="1"/>
            <a:r>
              <a:rPr lang="en-US" altLang="zh-CN" sz="2400" dirty="0"/>
              <a:t>……</a:t>
            </a:r>
          </a:p>
        </p:txBody>
      </p:sp>
      <p:sp>
        <p:nvSpPr>
          <p:cNvPr id="90115" name="流程图: 磁盘 1">
            <a:extLst>
              <a:ext uri="{FF2B5EF4-FFF2-40B4-BE49-F238E27FC236}">
                <a16:creationId xmlns:a16="http://schemas.microsoft.com/office/drawing/2014/main" id="{29D25629-0288-414E-AFDE-F1637D04E1F5}"/>
              </a:ext>
            </a:extLst>
          </p:cNvPr>
          <p:cNvSpPr>
            <a:spLocks noChangeArrowheads="1"/>
          </p:cNvSpPr>
          <p:nvPr/>
        </p:nvSpPr>
        <p:spPr bwMode="auto">
          <a:xfrm>
            <a:off x="5675313" y="5441950"/>
            <a:ext cx="1317625" cy="981075"/>
          </a:xfrm>
          <a:prstGeom prst="flowChartMagneticDisk">
            <a:avLst/>
          </a:prstGeom>
          <a:solidFill>
            <a:srgbClr val="00CC99"/>
          </a:solidFill>
          <a:ln w="9525" algn="ctr">
            <a:solidFill>
              <a:schemeClr val="bg1"/>
            </a:solidFill>
            <a:miter lim="800000"/>
            <a:headEnd/>
            <a:tailEnd/>
          </a:ln>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824322" name="Rectangle 2">
            <a:extLst>
              <a:ext uri="{FF2B5EF4-FFF2-40B4-BE49-F238E27FC236}">
                <a16:creationId xmlns:a16="http://schemas.microsoft.com/office/drawing/2014/main" id="{EDBD10C3-DC9D-40EA-918F-5F698D61691D}"/>
              </a:ext>
            </a:extLst>
          </p:cNvPr>
          <p:cNvSpPr>
            <a:spLocks noGrp="1" noChangeArrowheads="1"/>
          </p:cNvSpPr>
          <p:nvPr>
            <p:ph type="title"/>
          </p:nvPr>
        </p:nvSpPr>
        <p:spPr>
          <a:xfrm>
            <a:off x="17462" y="237331"/>
            <a:ext cx="9109075" cy="695325"/>
          </a:xfrm>
        </p:spPr>
        <p:txBody>
          <a:bodyPr/>
          <a:lstStyle/>
          <a:p>
            <a:pPr eaLnBrk="1" hangingPunct="1">
              <a:defRPr/>
            </a:pPr>
            <a:r>
              <a:rPr lang="zh-CN" altLang="en-US" dirty="0"/>
              <a:t>具有虚拟存储器的系统</a:t>
            </a:r>
            <a:endParaRPr lang="en-US" altLang="zh-CN" dirty="0"/>
          </a:p>
        </p:txBody>
      </p:sp>
      <p:sp>
        <p:nvSpPr>
          <p:cNvPr id="90118" name="Rectangle 11">
            <a:extLst>
              <a:ext uri="{FF2B5EF4-FFF2-40B4-BE49-F238E27FC236}">
                <a16:creationId xmlns:a16="http://schemas.microsoft.com/office/drawing/2014/main" id="{2FDE6A71-DB70-44A6-96CF-75E8F77279B1}"/>
              </a:ext>
            </a:extLst>
          </p:cNvPr>
          <p:cNvSpPr>
            <a:spLocks noChangeArrowheads="1"/>
          </p:cNvSpPr>
          <p:nvPr/>
        </p:nvSpPr>
        <p:spPr bwMode="auto">
          <a:xfrm>
            <a:off x="7013575" y="2273300"/>
            <a:ext cx="1676400" cy="3276600"/>
          </a:xfrm>
          <a:prstGeom prst="rect">
            <a:avLst/>
          </a:prstGeom>
          <a:solidFill>
            <a:srgbClr val="9900CC"/>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miter lim="800000"/>
                <a:headEnd/>
                <a:tailEnd/>
              </a14:hiddenLine>
            </a:ext>
          </a:extLst>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90119" name="Group 12">
            <a:extLst>
              <a:ext uri="{FF2B5EF4-FFF2-40B4-BE49-F238E27FC236}">
                <a16:creationId xmlns:a16="http://schemas.microsoft.com/office/drawing/2014/main" id="{A4F0DE22-56F5-47B0-B894-747E5DF0BA08}"/>
              </a:ext>
            </a:extLst>
          </p:cNvPr>
          <p:cNvGrpSpPr>
            <a:grpSpLocks/>
          </p:cNvGrpSpPr>
          <p:nvPr/>
        </p:nvGrpSpPr>
        <p:grpSpPr bwMode="auto">
          <a:xfrm>
            <a:off x="7546975" y="2425700"/>
            <a:ext cx="914400" cy="2971800"/>
            <a:chOff x="3360" y="1344"/>
            <a:chExt cx="576" cy="1872"/>
          </a:xfrm>
        </p:grpSpPr>
        <p:sp>
          <p:nvSpPr>
            <p:cNvPr id="90159" name="Rectangle 13">
              <a:extLst>
                <a:ext uri="{FF2B5EF4-FFF2-40B4-BE49-F238E27FC236}">
                  <a16:creationId xmlns:a16="http://schemas.microsoft.com/office/drawing/2014/main" id="{8912F049-D11F-4D5E-9365-07D3B88C0D3B}"/>
                </a:ext>
              </a:extLst>
            </p:cNvPr>
            <p:cNvSpPr>
              <a:spLocks noChangeArrowheads="1"/>
            </p:cNvSpPr>
            <p:nvPr/>
          </p:nvSpPr>
          <p:spPr bwMode="auto">
            <a:xfrm>
              <a:off x="3360" y="134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0" name="Rectangle 14">
              <a:extLst>
                <a:ext uri="{FF2B5EF4-FFF2-40B4-BE49-F238E27FC236}">
                  <a16:creationId xmlns:a16="http://schemas.microsoft.com/office/drawing/2014/main" id="{0895F445-4B1A-41CB-B072-D01E8DACB534}"/>
                </a:ext>
              </a:extLst>
            </p:cNvPr>
            <p:cNvSpPr>
              <a:spLocks noChangeArrowheads="1"/>
            </p:cNvSpPr>
            <p:nvPr/>
          </p:nvSpPr>
          <p:spPr bwMode="auto">
            <a:xfrm>
              <a:off x="3360" y="148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1" name="Rectangle 15">
              <a:extLst>
                <a:ext uri="{FF2B5EF4-FFF2-40B4-BE49-F238E27FC236}">
                  <a16:creationId xmlns:a16="http://schemas.microsoft.com/office/drawing/2014/main" id="{07919D89-1D8F-482E-8547-576A87847BC8}"/>
                </a:ext>
              </a:extLst>
            </p:cNvPr>
            <p:cNvSpPr>
              <a:spLocks noChangeArrowheads="1"/>
            </p:cNvSpPr>
            <p:nvPr/>
          </p:nvSpPr>
          <p:spPr bwMode="auto">
            <a:xfrm>
              <a:off x="3360" y="1632"/>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2" name="Rectangle 16">
              <a:extLst>
                <a:ext uri="{FF2B5EF4-FFF2-40B4-BE49-F238E27FC236}">
                  <a16:creationId xmlns:a16="http://schemas.microsoft.com/office/drawing/2014/main" id="{BBE82418-1EEC-4098-BA8F-E395926D6D27}"/>
                </a:ext>
              </a:extLst>
            </p:cNvPr>
            <p:cNvSpPr>
              <a:spLocks noChangeArrowheads="1"/>
            </p:cNvSpPr>
            <p:nvPr/>
          </p:nvSpPr>
          <p:spPr bwMode="auto">
            <a:xfrm>
              <a:off x="3360" y="1776"/>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3" name="Rectangle 17">
              <a:extLst>
                <a:ext uri="{FF2B5EF4-FFF2-40B4-BE49-F238E27FC236}">
                  <a16:creationId xmlns:a16="http://schemas.microsoft.com/office/drawing/2014/main" id="{025D5159-9D3E-493E-81EC-D5302370974B}"/>
                </a:ext>
              </a:extLst>
            </p:cNvPr>
            <p:cNvSpPr>
              <a:spLocks noChangeArrowheads="1"/>
            </p:cNvSpPr>
            <p:nvPr/>
          </p:nvSpPr>
          <p:spPr bwMode="auto">
            <a:xfrm>
              <a:off x="3360" y="1920"/>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4" name="Rectangle 18">
              <a:extLst>
                <a:ext uri="{FF2B5EF4-FFF2-40B4-BE49-F238E27FC236}">
                  <a16:creationId xmlns:a16="http://schemas.microsoft.com/office/drawing/2014/main" id="{6B50DE3A-7A2A-49C1-888D-FB2DC98778F2}"/>
                </a:ext>
              </a:extLst>
            </p:cNvPr>
            <p:cNvSpPr>
              <a:spLocks noChangeArrowheads="1"/>
            </p:cNvSpPr>
            <p:nvPr/>
          </p:nvSpPr>
          <p:spPr bwMode="auto">
            <a:xfrm>
              <a:off x="3360" y="220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5" name="Rectangle 19">
              <a:extLst>
                <a:ext uri="{FF2B5EF4-FFF2-40B4-BE49-F238E27FC236}">
                  <a16:creationId xmlns:a16="http://schemas.microsoft.com/office/drawing/2014/main" id="{5526D99D-28C7-425F-A2C1-6888C0F83FD6}"/>
                </a:ext>
              </a:extLst>
            </p:cNvPr>
            <p:cNvSpPr>
              <a:spLocks noChangeArrowheads="1"/>
            </p:cNvSpPr>
            <p:nvPr/>
          </p:nvSpPr>
          <p:spPr bwMode="auto">
            <a:xfrm>
              <a:off x="3360" y="206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6" name="Rectangle 20">
              <a:extLst>
                <a:ext uri="{FF2B5EF4-FFF2-40B4-BE49-F238E27FC236}">
                  <a16:creationId xmlns:a16="http://schemas.microsoft.com/office/drawing/2014/main" id="{FFB6B908-F37C-4943-95EF-D19AFAC1BC16}"/>
                </a:ext>
              </a:extLst>
            </p:cNvPr>
            <p:cNvSpPr>
              <a:spLocks noChangeArrowheads="1"/>
            </p:cNvSpPr>
            <p:nvPr/>
          </p:nvSpPr>
          <p:spPr bwMode="auto">
            <a:xfrm>
              <a:off x="3360" y="2352"/>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7" name="Rectangle 21">
              <a:extLst>
                <a:ext uri="{FF2B5EF4-FFF2-40B4-BE49-F238E27FC236}">
                  <a16:creationId xmlns:a16="http://schemas.microsoft.com/office/drawing/2014/main" id="{A7733DAF-30A0-4C09-980F-4F783D8A8FB6}"/>
                </a:ext>
              </a:extLst>
            </p:cNvPr>
            <p:cNvSpPr>
              <a:spLocks noChangeArrowheads="1"/>
            </p:cNvSpPr>
            <p:nvPr/>
          </p:nvSpPr>
          <p:spPr bwMode="auto">
            <a:xfrm>
              <a:off x="3360" y="2496"/>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8" name="Rectangle 22">
              <a:extLst>
                <a:ext uri="{FF2B5EF4-FFF2-40B4-BE49-F238E27FC236}">
                  <a16:creationId xmlns:a16="http://schemas.microsoft.com/office/drawing/2014/main" id="{0B050B4F-7B69-40F7-A58B-D5240EB47985}"/>
                </a:ext>
              </a:extLst>
            </p:cNvPr>
            <p:cNvSpPr>
              <a:spLocks noChangeArrowheads="1"/>
            </p:cNvSpPr>
            <p:nvPr/>
          </p:nvSpPr>
          <p:spPr bwMode="auto">
            <a:xfrm>
              <a:off x="3360" y="2640"/>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69" name="Rectangle 23">
              <a:extLst>
                <a:ext uri="{FF2B5EF4-FFF2-40B4-BE49-F238E27FC236}">
                  <a16:creationId xmlns:a16="http://schemas.microsoft.com/office/drawing/2014/main" id="{8B109CFD-AD36-4EE5-A7D9-2D9B63CA1670}"/>
                </a:ext>
              </a:extLst>
            </p:cNvPr>
            <p:cNvSpPr>
              <a:spLocks noChangeArrowheads="1"/>
            </p:cNvSpPr>
            <p:nvPr/>
          </p:nvSpPr>
          <p:spPr bwMode="auto">
            <a:xfrm>
              <a:off x="3360" y="278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70" name="Rectangle 24">
              <a:extLst>
                <a:ext uri="{FF2B5EF4-FFF2-40B4-BE49-F238E27FC236}">
                  <a16:creationId xmlns:a16="http://schemas.microsoft.com/office/drawing/2014/main" id="{922D1845-901B-4831-B78B-24E7ADA9024D}"/>
                </a:ext>
              </a:extLst>
            </p:cNvPr>
            <p:cNvSpPr>
              <a:spLocks noChangeArrowheads="1"/>
            </p:cNvSpPr>
            <p:nvPr/>
          </p:nvSpPr>
          <p:spPr bwMode="auto">
            <a:xfrm>
              <a:off x="3360" y="3072"/>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71" name="Rectangle 25">
              <a:extLst>
                <a:ext uri="{FF2B5EF4-FFF2-40B4-BE49-F238E27FC236}">
                  <a16:creationId xmlns:a16="http://schemas.microsoft.com/office/drawing/2014/main" id="{E039EB7E-265A-4A0A-B56A-B1755547C5DD}"/>
                </a:ext>
              </a:extLst>
            </p:cNvPr>
            <p:cNvSpPr>
              <a:spLocks noChangeArrowheads="1"/>
            </p:cNvSpPr>
            <p:nvPr/>
          </p:nvSpPr>
          <p:spPr bwMode="auto">
            <a:xfrm>
              <a:off x="3360" y="292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90120" name="Text Box 26">
            <a:extLst>
              <a:ext uri="{FF2B5EF4-FFF2-40B4-BE49-F238E27FC236}">
                <a16:creationId xmlns:a16="http://schemas.microsoft.com/office/drawing/2014/main" id="{B6D3D8DB-6F72-4322-84EB-49C279A75A26}"/>
              </a:ext>
            </a:extLst>
          </p:cNvPr>
          <p:cNvSpPr txBox="1">
            <a:spLocks noChangeArrowheads="1"/>
          </p:cNvSpPr>
          <p:nvPr/>
        </p:nvSpPr>
        <p:spPr bwMode="auto">
          <a:xfrm>
            <a:off x="7242175" y="2349500"/>
            <a:ext cx="384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0:</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90121" name="Text Box 27">
            <a:extLst>
              <a:ext uri="{FF2B5EF4-FFF2-40B4-BE49-F238E27FC236}">
                <a16:creationId xmlns:a16="http://schemas.microsoft.com/office/drawing/2014/main" id="{B316BC33-48BF-4DDB-8915-AB87C5FB9AD1}"/>
              </a:ext>
            </a:extLst>
          </p:cNvPr>
          <p:cNvSpPr txBox="1">
            <a:spLocks noChangeArrowheads="1"/>
          </p:cNvSpPr>
          <p:nvPr/>
        </p:nvSpPr>
        <p:spPr bwMode="auto">
          <a:xfrm>
            <a:off x="7242175" y="2578100"/>
            <a:ext cx="384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1:</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90122" name="Text Box 28">
            <a:extLst>
              <a:ext uri="{FF2B5EF4-FFF2-40B4-BE49-F238E27FC236}">
                <a16:creationId xmlns:a16="http://schemas.microsoft.com/office/drawing/2014/main" id="{794AD342-C3AC-4362-AA58-E640014E0DDA}"/>
              </a:ext>
            </a:extLst>
          </p:cNvPr>
          <p:cNvSpPr txBox="1">
            <a:spLocks noChangeArrowheads="1"/>
          </p:cNvSpPr>
          <p:nvPr/>
        </p:nvSpPr>
        <p:spPr bwMode="auto">
          <a:xfrm>
            <a:off x="7013575" y="5092700"/>
            <a:ext cx="62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N-1:</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90123" name="Text Box 29">
            <a:extLst>
              <a:ext uri="{FF2B5EF4-FFF2-40B4-BE49-F238E27FC236}">
                <a16:creationId xmlns:a16="http://schemas.microsoft.com/office/drawing/2014/main" id="{9574D8DC-0553-4F8E-B35E-A4221627A1DB}"/>
              </a:ext>
            </a:extLst>
          </p:cNvPr>
          <p:cNvSpPr txBox="1">
            <a:spLocks noChangeArrowheads="1"/>
          </p:cNvSpPr>
          <p:nvPr/>
        </p:nvSpPr>
        <p:spPr bwMode="auto">
          <a:xfrm>
            <a:off x="7258050" y="1939925"/>
            <a:ext cx="13446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30000"/>
              </a:spcBef>
              <a:buClrTx/>
              <a:buFontTx/>
              <a:buNone/>
            </a:pPr>
            <a:r>
              <a:rPr kumimoji="0" lang="zh-CN" altLang="en-US" sz="1800">
                <a:latin typeface="Helvetica" panose="020B0604020202020204" pitchFamily="34" charset="0"/>
                <a:ea typeface="宋体" panose="02010600030101010101" pitchFamily="2" charset="-122"/>
              </a:rPr>
              <a:t>物理存储器</a:t>
            </a:r>
          </a:p>
        </p:txBody>
      </p:sp>
      <p:sp>
        <p:nvSpPr>
          <p:cNvPr id="90124" name="Rectangle 31">
            <a:extLst>
              <a:ext uri="{FF2B5EF4-FFF2-40B4-BE49-F238E27FC236}">
                <a16:creationId xmlns:a16="http://schemas.microsoft.com/office/drawing/2014/main" id="{85113F91-87C9-4EC2-8C53-EDFA8F0406DC}"/>
              </a:ext>
            </a:extLst>
          </p:cNvPr>
          <p:cNvSpPr>
            <a:spLocks noChangeArrowheads="1"/>
          </p:cNvSpPr>
          <p:nvPr/>
        </p:nvSpPr>
        <p:spPr bwMode="auto">
          <a:xfrm>
            <a:off x="4194175" y="3035300"/>
            <a:ext cx="1219200" cy="2362200"/>
          </a:xfrm>
          <a:prstGeom prst="rect">
            <a:avLst/>
          </a:prstGeom>
          <a:solidFill>
            <a:srgbClr val="0000CC"/>
          </a:solidFill>
          <a:ln>
            <a:noFill/>
          </a:ln>
          <a:effectLst>
            <a:outerShdw dist="35921" dir="2700000" algn="ctr" rotWithShape="0">
              <a:schemeClr val="bg2"/>
            </a:outerShdw>
          </a:effectLst>
          <a:extLst>
            <a:ext uri="{91240B29-F687-4F45-9708-019B960494DF}">
              <a14:hiddenLine xmlns:a14="http://schemas.microsoft.com/office/drawing/2010/main" w="19050">
                <a:solidFill>
                  <a:srgbClr val="000000"/>
                </a:solidFill>
                <a:miter lim="800000"/>
                <a:headEnd/>
                <a:tailEnd/>
              </a14:hiddenLine>
            </a:ext>
          </a:extLst>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90125" name="Group 32">
            <a:extLst>
              <a:ext uri="{FF2B5EF4-FFF2-40B4-BE49-F238E27FC236}">
                <a16:creationId xmlns:a16="http://schemas.microsoft.com/office/drawing/2014/main" id="{04148C2B-6E16-4C43-ABAA-1CA1C5136598}"/>
              </a:ext>
            </a:extLst>
          </p:cNvPr>
          <p:cNvGrpSpPr>
            <a:grpSpLocks/>
          </p:cNvGrpSpPr>
          <p:nvPr/>
        </p:nvGrpSpPr>
        <p:grpSpPr bwMode="auto">
          <a:xfrm>
            <a:off x="4722813" y="3187700"/>
            <a:ext cx="533400" cy="2057400"/>
            <a:chOff x="2688" y="1584"/>
            <a:chExt cx="576" cy="1296"/>
          </a:xfrm>
        </p:grpSpPr>
        <p:sp>
          <p:nvSpPr>
            <p:cNvPr id="90150" name="Rectangle 33">
              <a:extLst>
                <a:ext uri="{FF2B5EF4-FFF2-40B4-BE49-F238E27FC236}">
                  <a16:creationId xmlns:a16="http://schemas.microsoft.com/office/drawing/2014/main" id="{D33499F3-9A3E-4BDA-A4B1-6F3C6C10FF3D}"/>
                </a:ext>
              </a:extLst>
            </p:cNvPr>
            <p:cNvSpPr>
              <a:spLocks noChangeArrowheads="1"/>
            </p:cNvSpPr>
            <p:nvPr/>
          </p:nvSpPr>
          <p:spPr bwMode="auto">
            <a:xfrm>
              <a:off x="2688" y="158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51" name="Rectangle 34">
              <a:extLst>
                <a:ext uri="{FF2B5EF4-FFF2-40B4-BE49-F238E27FC236}">
                  <a16:creationId xmlns:a16="http://schemas.microsoft.com/office/drawing/2014/main" id="{EF85C7AB-A88E-4E3B-BA32-52B417574B7A}"/>
                </a:ext>
              </a:extLst>
            </p:cNvPr>
            <p:cNvSpPr>
              <a:spLocks noChangeArrowheads="1"/>
            </p:cNvSpPr>
            <p:nvPr/>
          </p:nvSpPr>
          <p:spPr bwMode="auto">
            <a:xfrm>
              <a:off x="2688" y="172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52" name="Rectangle 35">
              <a:extLst>
                <a:ext uri="{FF2B5EF4-FFF2-40B4-BE49-F238E27FC236}">
                  <a16:creationId xmlns:a16="http://schemas.microsoft.com/office/drawing/2014/main" id="{8B1403E0-0B19-4726-A617-E1308ED06D4E}"/>
                </a:ext>
              </a:extLst>
            </p:cNvPr>
            <p:cNvSpPr>
              <a:spLocks noChangeArrowheads="1"/>
            </p:cNvSpPr>
            <p:nvPr/>
          </p:nvSpPr>
          <p:spPr bwMode="auto">
            <a:xfrm>
              <a:off x="2688" y="1872"/>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53" name="Rectangle 36">
              <a:extLst>
                <a:ext uri="{FF2B5EF4-FFF2-40B4-BE49-F238E27FC236}">
                  <a16:creationId xmlns:a16="http://schemas.microsoft.com/office/drawing/2014/main" id="{DBB2B084-1C4E-41E2-813D-E0A3FD6D0FD6}"/>
                </a:ext>
              </a:extLst>
            </p:cNvPr>
            <p:cNvSpPr>
              <a:spLocks noChangeArrowheads="1"/>
            </p:cNvSpPr>
            <p:nvPr/>
          </p:nvSpPr>
          <p:spPr bwMode="auto">
            <a:xfrm>
              <a:off x="2688" y="2016"/>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7088" name="Rectangle 37">
              <a:extLst>
                <a:ext uri="{FF2B5EF4-FFF2-40B4-BE49-F238E27FC236}">
                  <a16:creationId xmlns:a16="http://schemas.microsoft.com/office/drawing/2014/main" id="{3D4E1DB7-7145-4C9C-9906-108011F7DC05}"/>
                </a:ext>
              </a:extLst>
            </p:cNvPr>
            <p:cNvSpPr>
              <a:spLocks noChangeArrowheads="1"/>
            </p:cNvSpPr>
            <p:nvPr/>
          </p:nvSpPr>
          <p:spPr bwMode="auto">
            <a:xfrm>
              <a:off x="2688" y="2160"/>
              <a:ext cx="576" cy="144"/>
            </a:xfrm>
            <a:prstGeom prst="rect">
              <a:avLst/>
            </a:prstGeom>
            <a:solidFill>
              <a:schemeClr val="bg1">
                <a:lumMod val="65000"/>
              </a:schemeClr>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defRPr/>
              </a:pPr>
              <a:endParaRPr lang="zh-CN" altLang="en-US" b="0">
                <a:ea typeface="黑体" panose="02010609060101010101" pitchFamily="49" charset="-122"/>
              </a:endParaRPr>
            </a:p>
          </p:txBody>
        </p:sp>
        <p:sp>
          <p:nvSpPr>
            <p:cNvPr id="90155" name="Rectangle 38">
              <a:extLst>
                <a:ext uri="{FF2B5EF4-FFF2-40B4-BE49-F238E27FC236}">
                  <a16:creationId xmlns:a16="http://schemas.microsoft.com/office/drawing/2014/main" id="{08D1CB9B-91FF-4E53-B001-D7C797C8BD4B}"/>
                </a:ext>
              </a:extLst>
            </p:cNvPr>
            <p:cNvSpPr>
              <a:spLocks noChangeArrowheads="1"/>
            </p:cNvSpPr>
            <p:nvPr/>
          </p:nvSpPr>
          <p:spPr bwMode="auto">
            <a:xfrm>
              <a:off x="2688" y="2448"/>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0156" name="Rectangle 39">
              <a:extLst>
                <a:ext uri="{FF2B5EF4-FFF2-40B4-BE49-F238E27FC236}">
                  <a16:creationId xmlns:a16="http://schemas.microsoft.com/office/drawing/2014/main" id="{5D22D9E8-6915-4372-A797-82D702FBB57A}"/>
                </a:ext>
              </a:extLst>
            </p:cNvPr>
            <p:cNvSpPr>
              <a:spLocks noChangeArrowheads="1"/>
            </p:cNvSpPr>
            <p:nvPr/>
          </p:nvSpPr>
          <p:spPr bwMode="auto">
            <a:xfrm>
              <a:off x="2688" y="2304"/>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7091" name="Rectangle 40">
              <a:extLst>
                <a:ext uri="{FF2B5EF4-FFF2-40B4-BE49-F238E27FC236}">
                  <a16:creationId xmlns:a16="http://schemas.microsoft.com/office/drawing/2014/main" id="{A0719615-3F6C-4797-B86A-A7ED553A5D8D}"/>
                </a:ext>
              </a:extLst>
            </p:cNvPr>
            <p:cNvSpPr>
              <a:spLocks noChangeArrowheads="1"/>
            </p:cNvSpPr>
            <p:nvPr/>
          </p:nvSpPr>
          <p:spPr bwMode="auto">
            <a:xfrm>
              <a:off x="2688" y="2592"/>
              <a:ext cx="576" cy="144"/>
            </a:xfrm>
            <a:prstGeom prst="rect">
              <a:avLst/>
            </a:prstGeom>
            <a:solidFill>
              <a:schemeClr val="bg1">
                <a:lumMod val="65000"/>
              </a:schemeClr>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defRPr/>
              </a:pPr>
              <a:endParaRPr lang="zh-CN" altLang="en-US" b="0">
                <a:ea typeface="黑体" panose="02010609060101010101" pitchFamily="49" charset="-122"/>
              </a:endParaRPr>
            </a:p>
          </p:txBody>
        </p:sp>
        <p:sp>
          <p:nvSpPr>
            <p:cNvPr id="90158" name="Rectangle 41">
              <a:extLst>
                <a:ext uri="{FF2B5EF4-FFF2-40B4-BE49-F238E27FC236}">
                  <a16:creationId xmlns:a16="http://schemas.microsoft.com/office/drawing/2014/main" id="{51A5EB9E-FD9C-48F0-9367-49F3CE15C425}"/>
                </a:ext>
              </a:extLst>
            </p:cNvPr>
            <p:cNvSpPr>
              <a:spLocks noChangeArrowheads="1"/>
            </p:cNvSpPr>
            <p:nvPr/>
          </p:nvSpPr>
          <p:spPr bwMode="auto">
            <a:xfrm>
              <a:off x="2688" y="2736"/>
              <a:ext cx="576" cy="144"/>
            </a:xfrm>
            <a:prstGeom prst="rect">
              <a:avLst/>
            </a:prstGeom>
            <a:solidFill>
              <a:schemeClr val="bg1"/>
            </a:solidFill>
            <a:ln w="19050">
              <a:solidFill>
                <a:schemeClr val="tx1"/>
              </a:solidFill>
              <a:miter lim="800000"/>
              <a:headEnd/>
              <a:tailEnd/>
            </a:ln>
          </p:spPr>
          <p:txBody>
            <a:bodyPr wrap="none" lIns="90487" tIns="44450" rIns="90487" bIns="44450"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90126" name="Text Box 42">
            <a:extLst>
              <a:ext uri="{FF2B5EF4-FFF2-40B4-BE49-F238E27FC236}">
                <a16:creationId xmlns:a16="http://schemas.microsoft.com/office/drawing/2014/main" id="{3B842FE8-FD41-4192-82B8-8822B795179A}"/>
              </a:ext>
            </a:extLst>
          </p:cNvPr>
          <p:cNvSpPr txBox="1">
            <a:spLocks noChangeArrowheads="1"/>
          </p:cNvSpPr>
          <p:nvPr/>
        </p:nvSpPr>
        <p:spPr bwMode="auto">
          <a:xfrm>
            <a:off x="4422775" y="3111500"/>
            <a:ext cx="384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0:</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90127" name="Text Box 43">
            <a:extLst>
              <a:ext uri="{FF2B5EF4-FFF2-40B4-BE49-F238E27FC236}">
                <a16:creationId xmlns:a16="http://schemas.microsoft.com/office/drawing/2014/main" id="{10430788-5CC7-4CBD-8885-88D72D78FAFE}"/>
              </a:ext>
            </a:extLst>
          </p:cNvPr>
          <p:cNvSpPr txBox="1">
            <a:spLocks noChangeArrowheads="1"/>
          </p:cNvSpPr>
          <p:nvPr/>
        </p:nvSpPr>
        <p:spPr bwMode="auto">
          <a:xfrm>
            <a:off x="4422775" y="3340100"/>
            <a:ext cx="384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1:</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90128" name="Text Box 44">
            <a:extLst>
              <a:ext uri="{FF2B5EF4-FFF2-40B4-BE49-F238E27FC236}">
                <a16:creationId xmlns:a16="http://schemas.microsoft.com/office/drawing/2014/main" id="{77470D66-2C18-4696-A0C1-43BD44B40B83}"/>
              </a:ext>
            </a:extLst>
          </p:cNvPr>
          <p:cNvSpPr txBox="1">
            <a:spLocks noChangeArrowheads="1"/>
          </p:cNvSpPr>
          <p:nvPr/>
        </p:nvSpPr>
        <p:spPr bwMode="auto">
          <a:xfrm>
            <a:off x="4194175" y="4940300"/>
            <a:ext cx="612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P-1:</a:t>
            </a:r>
            <a:endParaRPr kumimoji="0" lang="en-US" altLang="zh-CN" sz="2400">
              <a:solidFill>
                <a:schemeClr val="bg1"/>
              </a:solidFill>
              <a:latin typeface="Helvetica" panose="020B0604020202020204" pitchFamily="34" charset="0"/>
              <a:ea typeface="宋体" panose="02010600030101010101" pitchFamily="2" charset="-122"/>
            </a:endParaRPr>
          </a:p>
        </p:txBody>
      </p:sp>
      <p:sp>
        <p:nvSpPr>
          <p:cNvPr id="90129" name="Text Box 45">
            <a:extLst>
              <a:ext uri="{FF2B5EF4-FFF2-40B4-BE49-F238E27FC236}">
                <a16:creationId xmlns:a16="http://schemas.microsoft.com/office/drawing/2014/main" id="{CDCDAC56-1E95-47EE-9D94-38B1EB5EC1AA}"/>
              </a:ext>
            </a:extLst>
          </p:cNvPr>
          <p:cNvSpPr txBox="1">
            <a:spLocks noChangeArrowheads="1"/>
          </p:cNvSpPr>
          <p:nvPr/>
        </p:nvSpPr>
        <p:spPr bwMode="auto">
          <a:xfrm>
            <a:off x="4510088" y="2708275"/>
            <a:ext cx="641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30000"/>
              </a:spcBef>
              <a:buClrTx/>
              <a:buFontTx/>
              <a:buNone/>
            </a:pPr>
            <a:r>
              <a:rPr kumimoji="0" lang="zh-CN" altLang="en-US" sz="1800">
                <a:latin typeface="Helvetica" panose="020B0604020202020204" pitchFamily="34" charset="0"/>
                <a:ea typeface="宋体" panose="02010600030101010101" pitchFamily="2" charset="-122"/>
              </a:rPr>
              <a:t>页表</a:t>
            </a:r>
          </a:p>
        </p:txBody>
      </p:sp>
      <p:sp>
        <p:nvSpPr>
          <p:cNvPr id="90130" name="Line 46">
            <a:extLst>
              <a:ext uri="{FF2B5EF4-FFF2-40B4-BE49-F238E27FC236}">
                <a16:creationId xmlns:a16="http://schemas.microsoft.com/office/drawing/2014/main" id="{3E6C0896-09A0-451B-9EAD-8DD5D18C1107}"/>
              </a:ext>
            </a:extLst>
          </p:cNvPr>
          <p:cNvSpPr>
            <a:spLocks noChangeShapeType="1"/>
          </p:cNvSpPr>
          <p:nvPr/>
        </p:nvSpPr>
        <p:spPr bwMode="auto">
          <a:xfrm flipV="1">
            <a:off x="2771775" y="3797300"/>
            <a:ext cx="1955800" cy="238125"/>
          </a:xfrm>
          <a:prstGeom prst="line">
            <a:avLst/>
          </a:prstGeom>
          <a:noFill/>
          <a:ln w="31750">
            <a:solidFill>
              <a:srgbClr val="FF9900"/>
            </a:solidFill>
            <a:round/>
            <a:headEnd/>
            <a:tailEnd type="triangle" w="med" len="me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90131" name="Line 49">
            <a:extLst>
              <a:ext uri="{FF2B5EF4-FFF2-40B4-BE49-F238E27FC236}">
                <a16:creationId xmlns:a16="http://schemas.microsoft.com/office/drawing/2014/main" id="{153B5931-4CA8-495A-959B-0FB3C482A86B}"/>
              </a:ext>
            </a:extLst>
          </p:cNvPr>
          <p:cNvSpPr>
            <a:spLocks noChangeShapeType="1"/>
          </p:cNvSpPr>
          <p:nvPr/>
        </p:nvSpPr>
        <p:spPr bwMode="auto">
          <a:xfrm>
            <a:off x="4997450" y="3776663"/>
            <a:ext cx="2535238" cy="846137"/>
          </a:xfrm>
          <a:prstGeom prst="line">
            <a:avLst/>
          </a:prstGeom>
          <a:noFill/>
          <a:ln w="31750">
            <a:solidFill>
              <a:srgbClr val="FF9900"/>
            </a:solidFill>
            <a:round/>
            <a:headEnd type="oval" w="med" len="med"/>
            <a:tailEnd type="triangle" w="med" len="me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90132" name="Line 50">
            <a:extLst>
              <a:ext uri="{FF2B5EF4-FFF2-40B4-BE49-F238E27FC236}">
                <a16:creationId xmlns:a16="http://schemas.microsoft.com/office/drawing/2014/main" id="{CA3F8A99-94BB-4536-B474-91DDD1BAAB69}"/>
              </a:ext>
            </a:extLst>
          </p:cNvPr>
          <p:cNvSpPr>
            <a:spLocks noChangeShapeType="1"/>
          </p:cNvSpPr>
          <p:nvPr/>
        </p:nvSpPr>
        <p:spPr bwMode="auto">
          <a:xfrm flipV="1">
            <a:off x="4997450" y="3492500"/>
            <a:ext cx="2549525" cy="1182688"/>
          </a:xfrm>
          <a:prstGeom prst="line">
            <a:avLst/>
          </a:prstGeom>
          <a:noFill/>
          <a:ln w="31750">
            <a:solidFill>
              <a:srgbClr val="FF9900"/>
            </a:solidFill>
            <a:round/>
            <a:headEnd type="oval" w="med" len="med"/>
            <a:tailEnd type="triangle" w="med" len="me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90133" name="Line 51">
            <a:extLst>
              <a:ext uri="{FF2B5EF4-FFF2-40B4-BE49-F238E27FC236}">
                <a16:creationId xmlns:a16="http://schemas.microsoft.com/office/drawing/2014/main" id="{EE55FAB8-3BD3-47EC-9FDC-A87A6302939B}"/>
              </a:ext>
            </a:extLst>
          </p:cNvPr>
          <p:cNvSpPr>
            <a:spLocks noChangeShapeType="1"/>
          </p:cNvSpPr>
          <p:nvPr/>
        </p:nvSpPr>
        <p:spPr bwMode="auto">
          <a:xfrm flipH="1" flipV="1">
            <a:off x="2778125" y="4271963"/>
            <a:ext cx="1949450" cy="363537"/>
          </a:xfrm>
          <a:prstGeom prst="line">
            <a:avLst/>
          </a:prstGeom>
          <a:noFill/>
          <a:ln w="31750">
            <a:solidFill>
              <a:srgbClr val="FF9900"/>
            </a:solidFill>
            <a:round/>
            <a:headEnd type="triangle" w="med" len="med"/>
            <a:tailEn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90134" name="Text Box 65">
            <a:extLst>
              <a:ext uri="{FF2B5EF4-FFF2-40B4-BE49-F238E27FC236}">
                <a16:creationId xmlns:a16="http://schemas.microsoft.com/office/drawing/2014/main" id="{50185469-480A-4D45-BFBD-329D81309545}"/>
              </a:ext>
            </a:extLst>
          </p:cNvPr>
          <p:cNvSpPr txBox="1">
            <a:spLocks noChangeArrowheads="1"/>
          </p:cNvSpPr>
          <p:nvPr/>
        </p:nvSpPr>
        <p:spPr bwMode="auto">
          <a:xfrm>
            <a:off x="6016625" y="5468938"/>
            <a:ext cx="663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30000"/>
              </a:spcBef>
              <a:buClrTx/>
              <a:buFontTx/>
              <a:buNone/>
            </a:pPr>
            <a:r>
              <a:rPr kumimoji="0" lang="en-US" altLang="zh-CN" sz="1800">
                <a:solidFill>
                  <a:schemeClr val="bg1"/>
                </a:solidFill>
                <a:latin typeface="Helvetica" panose="020B0604020202020204" pitchFamily="34" charset="0"/>
                <a:ea typeface="宋体" panose="02010600030101010101" pitchFamily="2" charset="-122"/>
              </a:rPr>
              <a:t>Disk</a:t>
            </a:r>
          </a:p>
        </p:txBody>
      </p:sp>
      <p:sp>
        <p:nvSpPr>
          <p:cNvPr id="90135" name="AutoShape 70">
            <a:extLst>
              <a:ext uri="{FF2B5EF4-FFF2-40B4-BE49-F238E27FC236}">
                <a16:creationId xmlns:a16="http://schemas.microsoft.com/office/drawing/2014/main" id="{AF374899-7F72-46E9-8943-6039F267E07D}"/>
              </a:ext>
            </a:extLst>
          </p:cNvPr>
          <p:cNvSpPr>
            <a:spLocks noChangeArrowheads="1"/>
          </p:cNvSpPr>
          <p:nvPr/>
        </p:nvSpPr>
        <p:spPr bwMode="auto">
          <a:xfrm>
            <a:off x="1614488" y="3721100"/>
            <a:ext cx="1143000" cy="838200"/>
          </a:xfrm>
          <a:prstGeom prst="roundRect">
            <a:avLst>
              <a:gd name="adj" fmla="val 16667"/>
            </a:avLst>
          </a:prstGeom>
          <a:solidFill>
            <a:srgbClr val="006600"/>
          </a:solidFill>
          <a:ln>
            <a:noFill/>
          </a:ln>
          <a:effectLst>
            <a:outerShdw dist="35921" dir="2700000" algn="ctr" rotWithShape="0">
              <a:schemeClr val="bg2"/>
            </a:outerShdw>
          </a:effectLst>
          <a:extLst>
            <a:ext uri="{91240B29-F687-4F45-9708-019B960494DF}">
              <a14:hiddenLine xmlns:a14="http://schemas.microsoft.com/office/drawing/2010/main" w="69850" algn="ctr">
                <a:solidFill>
                  <a:srgbClr val="000000"/>
                </a:solidFill>
                <a:round/>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800">
                <a:solidFill>
                  <a:schemeClr val="bg1"/>
                </a:solidFill>
                <a:ea typeface="方正准圆简体" pitchFamily="2" charset="-122"/>
              </a:rPr>
              <a:t>CPU</a:t>
            </a:r>
          </a:p>
        </p:txBody>
      </p:sp>
      <p:sp>
        <p:nvSpPr>
          <p:cNvPr id="90136" name="Text Box 71">
            <a:extLst>
              <a:ext uri="{FF2B5EF4-FFF2-40B4-BE49-F238E27FC236}">
                <a16:creationId xmlns:a16="http://schemas.microsoft.com/office/drawing/2014/main" id="{2F3C6C1F-C870-45E5-9279-FAD200F4F96A}"/>
              </a:ext>
            </a:extLst>
          </p:cNvPr>
          <p:cNvSpPr txBox="1">
            <a:spLocks noChangeArrowheads="1"/>
          </p:cNvSpPr>
          <p:nvPr/>
        </p:nvSpPr>
        <p:spPr bwMode="auto">
          <a:xfrm>
            <a:off x="5627688" y="3465513"/>
            <a:ext cx="13462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80000"/>
              </a:lnSpc>
              <a:spcBef>
                <a:spcPct val="0"/>
              </a:spcBef>
              <a:buClrTx/>
              <a:buFontTx/>
              <a:buNone/>
            </a:pPr>
            <a:r>
              <a:rPr kumimoji="0" lang="zh-CN" altLang="en-US" sz="1800">
                <a:latin typeface="楷体_GB2312" pitchFamily="49" charset="-122"/>
              </a:rPr>
              <a:t>物理地址</a:t>
            </a:r>
            <a:r>
              <a:rPr kumimoji="0" lang="en-US" altLang="zh-CN" sz="1800">
                <a:latin typeface="楷体_GB2312" pitchFamily="49" charset="-122"/>
              </a:rPr>
              <a:t>PA</a:t>
            </a:r>
            <a:endParaRPr kumimoji="0" lang="zh-CN" altLang="en-US" sz="1800">
              <a:latin typeface="楷体_GB2312" pitchFamily="49" charset="-122"/>
            </a:endParaRPr>
          </a:p>
        </p:txBody>
      </p:sp>
      <p:sp>
        <p:nvSpPr>
          <p:cNvPr id="90137" name="Text Box 72">
            <a:extLst>
              <a:ext uri="{FF2B5EF4-FFF2-40B4-BE49-F238E27FC236}">
                <a16:creationId xmlns:a16="http://schemas.microsoft.com/office/drawing/2014/main" id="{63997F85-9925-457A-B0CD-D97FDAF1E51E}"/>
              </a:ext>
            </a:extLst>
          </p:cNvPr>
          <p:cNvSpPr txBox="1">
            <a:spLocks noChangeArrowheads="1"/>
          </p:cNvSpPr>
          <p:nvPr/>
        </p:nvSpPr>
        <p:spPr bwMode="auto">
          <a:xfrm>
            <a:off x="2790825" y="3549650"/>
            <a:ext cx="111283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80000"/>
              </a:lnSpc>
              <a:spcBef>
                <a:spcPct val="0"/>
              </a:spcBef>
              <a:buClrTx/>
              <a:buFontTx/>
              <a:buNone/>
            </a:pPr>
            <a:r>
              <a:rPr kumimoji="0" lang="zh-CN" altLang="en-US" sz="1800">
                <a:latin typeface="楷体_GB2312" pitchFamily="49" charset="-122"/>
              </a:rPr>
              <a:t>虚地址</a:t>
            </a:r>
            <a:r>
              <a:rPr kumimoji="0" lang="en-US" altLang="zh-CN" sz="1800">
                <a:latin typeface="楷体_GB2312" pitchFamily="49" charset="-122"/>
              </a:rPr>
              <a:t>VA</a:t>
            </a:r>
            <a:endParaRPr kumimoji="0" lang="zh-CN" altLang="en-US" sz="1800">
              <a:latin typeface="楷体_GB2312" pitchFamily="49" charset="-122"/>
            </a:endParaRPr>
          </a:p>
        </p:txBody>
      </p:sp>
      <p:sp>
        <p:nvSpPr>
          <p:cNvPr id="90138" name="Arc 76">
            <a:extLst>
              <a:ext uri="{FF2B5EF4-FFF2-40B4-BE49-F238E27FC236}">
                <a16:creationId xmlns:a16="http://schemas.microsoft.com/office/drawing/2014/main" id="{A0A9BCBC-D904-4EF3-B5EF-C0B8F8AD84A7}"/>
              </a:ext>
            </a:extLst>
          </p:cNvPr>
          <p:cNvSpPr>
            <a:spLocks/>
          </p:cNvSpPr>
          <p:nvPr/>
        </p:nvSpPr>
        <p:spPr bwMode="auto">
          <a:xfrm flipH="1">
            <a:off x="6334125" y="4102100"/>
            <a:ext cx="1212850" cy="14478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FF"/>
            </a:solidFill>
            <a:prstDash val="dash"/>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39" name="Arc 77">
            <a:extLst>
              <a:ext uri="{FF2B5EF4-FFF2-40B4-BE49-F238E27FC236}">
                <a16:creationId xmlns:a16="http://schemas.microsoft.com/office/drawing/2014/main" id="{30AB8570-F720-4D3B-B7C6-028C992D2F8C}"/>
              </a:ext>
            </a:extLst>
          </p:cNvPr>
          <p:cNvSpPr>
            <a:spLocks/>
          </p:cNvSpPr>
          <p:nvPr/>
        </p:nvSpPr>
        <p:spPr bwMode="auto">
          <a:xfrm rot="515474" flipH="1">
            <a:off x="6751638" y="4256088"/>
            <a:ext cx="1012825" cy="1370012"/>
          </a:xfrm>
          <a:custGeom>
            <a:avLst/>
            <a:gdLst>
              <a:gd name="T0" fmla="*/ 2147483646 w 21600"/>
              <a:gd name="T1" fmla="*/ 0 h 20411"/>
              <a:gd name="T2" fmla="*/ 2147483646 w 21600"/>
              <a:gd name="T3" fmla="*/ 2147483646 h 20411"/>
              <a:gd name="T4" fmla="*/ 0 w 21600"/>
              <a:gd name="T5" fmla="*/ 2147483646 h 20411"/>
              <a:gd name="T6" fmla="*/ 0 60000 65536"/>
              <a:gd name="T7" fmla="*/ 0 60000 65536"/>
              <a:gd name="T8" fmla="*/ 0 60000 65536"/>
              <a:gd name="T9" fmla="*/ 0 w 21600"/>
              <a:gd name="T10" fmla="*/ 0 h 20411"/>
              <a:gd name="T11" fmla="*/ 21600 w 21600"/>
              <a:gd name="T12" fmla="*/ 20411 h 20411"/>
            </a:gdLst>
            <a:ahLst/>
            <a:cxnLst>
              <a:cxn ang="T6">
                <a:pos x="T0" y="T1"/>
              </a:cxn>
              <a:cxn ang="T7">
                <a:pos x="T2" y="T3"/>
              </a:cxn>
              <a:cxn ang="T8">
                <a:pos x="T4" y="T5"/>
              </a:cxn>
            </a:cxnLst>
            <a:rect l="T9" t="T10" r="T11" b="T12"/>
            <a:pathLst>
              <a:path w="21600" h="20411" fill="none" extrusionOk="0">
                <a:moveTo>
                  <a:pt x="7066" y="-1"/>
                </a:moveTo>
                <a:cubicBezTo>
                  <a:pt x="15765" y="3011"/>
                  <a:pt x="21600" y="11205"/>
                  <a:pt x="21600" y="20411"/>
                </a:cubicBezTo>
              </a:path>
              <a:path w="21600" h="20411" stroke="0" extrusionOk="0">
                <a:moveTo>
                  <a:pt x="7066" y="-1"/>
                </a:moveTo>
                <a:cubicBezTo>
                  <a:pt x="15765" y="3011"/>
                  <a:pt x="21600" y="11205"/>
                  <a:pt x="21600" y="20411"/>
                </a:cubicBezTo>
                <a:lnTo>
                  <a:pt x="0" y="20411"/>
                </a:lnTo>
                <a:lnTo>
                  <a:pt x="7066" y="-1"/>
                </a:lnTo>
                <a:close/>
              </a:path>
            </a:pathLst>
          </a:custGeom>
          <a:noFill/>
          <a:ln w="25400">
            <a:solidFill>
              <a:srgbClr val="0000FF"/>
            </a:solidFill>
            <a:prstDash val="dash"/>
            <a:miter lim="800000"/>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140" name="Text Box 45">
            <a:extLst>
              <a:ext uri="{FF2B5EF4-FFF2-40B4-BE49-F238E27FC236}">
                <a16:creationId xmlns:a16="http://schemas.microsoft.com/office/drawing/2014/main" id="{A67F1D9A-CF00-4C12-A7A7-FDD3576941BB}"/>
              </a:ext>
            </a:extLst>
          </p:cNvPr>
          <p:cNvSpPr txBox="1">
            <a:spLocks noChangeArrowheads="1"/>
          </p:cNvSpPr>
          <p:nvPr/>
        </p:nvSpPr>
        <p:spPr bwMode="auto">
          <a:xfrm>
            <a:off x="4487863" y="5405438"/>
            <a:ext cx="71755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30000"/>
              </a:spcBef>
              <a:buClrTx/>
              <a:buFontTx/>
              <a:buNone/>
            </a:pPr>
            <a:r>
              <a:rPr kumimoji="0" lang="en-US" altLang="zh-CN" sz="1600">
                <a:ea typeface="宋体" panose="02010600030101010101" pitchFamily="2" charset="-122"/>
                <a:cs typeface="Times New Roman" panose="02020603050405020304" pitchFamily="18" charset="0"/>
              </a:rPr>
              <a:t>MMU</a:t>
            </a:r>
            <a:endParaRPr kumimoji="0" lang="zh-CN" altLang="en-US" sz="1600">
              <a:ea typeface="宋体" panose="02010600030101010101" pitchFamily="2" charset="-122"/>
              <a:cs typeface="Times New Roman" panose="02020603050405020304" pitchFamily="18" charset="0"/>
            </a:endParaRPr>
          </a:p>
        </p:txBody>
      </p:sp>
      <p:sp>
        <p:nvSpPr>
          <p:cNvPr id="90141" name="圆角矩形 1">
            <a:extLst>
              <a:ext uri="{FF2B5EF4-FFF2-40B4-BE49-F238E27FC236}">
                <a16:creationId xmlns:a16="http://schemas.microsoft.com/office/drawing/2014/main" id="{D46F0E33-F8FD-480F-B930-9B55079669AF}"/>
              </a:ext>
            </a:extLst>
          </p:cNvPr>
          <p:cNvSpPr>
            <a:spLocks noChangeArrowheads="1"/>
          </p:cNvSpPr>
          <p:nvPr/>
        </p:nvSpPr>
        <p:spPr bwMode="auto">
          <a:xfrm>
            <a:off x="3924300" y="2708275"/>
            <a:ext cx="1730375" cy="2986088"/>
          </a:xfrm>
          <a:prstGeom prst="roundRect">
            <a:avLst>
              <a:gd name="adj" fmla="val 16667"/>
            </a:avLst>
          </a:prstGeom>
          <a:noFill/>
          <a:ln w="22225" algn="ctr">
            <a:solidFill>
              <a:srgbClr val="C00000"/>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3" name="矩形 2">
            <a:extLst>
              <a:ext uri="{FF2B5EF4-FFF2-40B4-BE49-F238E27FC236}">
                <a16:creationId xmlns:a16="http://schemas.microsoft.com/office/drawing/2014/main" id="{DDC27681-37F8-4E21-8174-99D6029E9302}"/>
              </a:ext>
            </a:extLst>
          </p:cNvPr>
          <p:cNvSpPr/>
          <p:nvPr/>
        </p:nvSpPr>
        <p:spPr bwMode="auto">
          <a:xfrm>
            <a:off x="5969000" y="5892800"/>
            <a:ext cx="720725" cy="147638"/>
          </a:xfrm>
          <a:prstGeom prst="rect">
            <a:avLst/>
          </a:prstGeom>
          <a:solidFill>
            <a:schemeClr val="bg1">
              <a:lumMod val="75000"/>
            </a:schemeClr>
          </a:solidFill>
          <a:ln w="12700" cap="flat" cmpd="sng" algn="ctr">
            <a:solidFill>
              <a:schemeClr val="bg1"/>
            </a:solidFill>
            <a:prstDash val="solid"/>
            <a:miter lim="800000"/>
            <a:headEnd type="none" w="med" len="med"/>
            <a:tailEnd type="none" w="med" len="med"/>
          </a:ln>
          <a:effectLst/>
        </p:spPr>
        <p:txBody>
          <a:bodyPr/>
          <a:lstStyle/>
          <a:p>
            <a:pPr algn="ctr" eaLnBrk="1" hangingPunct="1">
              <a:spcBef>
                <a:spcPct val="20000"/>
              </a:spcBef>
              <a:buFont typeface="Wingdings" pitchFamily="2" charset="2"/>
              <a:buNone/>
              <a:defRPr/>
            </a:pPr>
            <a:endParaRPr lang="zh-CN" altLang="en-US">
              <a:ea typeface="黑体" pitchFamily="2" charset="-122"/>
            </a:endParaRPr>
          </a:p>
        </p:txBody>
      </p:sp>
      <p:sp>
        <p:nvSpPr>
          <p:cNvPr id="68" name="矩形 67">
            <a:extLst>
              <a:ext uri="{FF2B5EF4-FFF2-40B4-BE49-F238E27FC236}">
                <a16:creationId xmlns:a16="http://schemas.microsoft.com/office/drawing/2014/main" id="{0D326606-EE4D-4472-82B1-E5543AEDBF19}"/>
              </a:ext>
            </a:extLst>
          </p:cNvPr>
          <p:cNvSpPr/>
          <p:nvPr/>
        </p:nvSpPr>
        <p:spPr bwMode="auto">
          <a:xfrm>
            <a:off x="5973763" y="6094413"/>
            <a:ext cx="720725" cy="146050"/>
          </a:xfrm>
          <a:prstGeom prst="rect">
            <a:avLst/>
          </a:prstGeom>
          <a:solidFill>
            <a:schemeClr val="bg1">
              <a:lumMod val="75000"/>
            </a:schemeClr>
          </a:solidFill>
          <a:ln w="12700" cap="flat" cmpd="sng" algn="ctr">
            <a:solidFill>
              <a:schemeClr val="bg1"/>
            </a:solidFill>
            <a:prstDash val="solid"/>
            <a:miter lim="800000"/>
            <a:headEnd type="none" w="med" len="med"/>
            <a:tailEnd type="none" w="med" len="med"/>
          </a:ln>
          <a:effectLst/>
        </p:spPr>
        <p:txBody>
          <a:bodyPr/>
          <a:lstStyle/>
          <a:p>
            <a:pPr algn="ctr" eaLnBrk="1" hangingPunct="1">
              <a:spcBef>
                <a:spcPct val="20000"/>
              </a:spcBef>
              <a:buFont typeface="Wingdings" pitchFamily="2" charset="2"/>
              <a:buNone/>
              <a:defRPr/>
            </a:pPr>
            <a:endParaRPr lang="zh-CN" altLang="en-US">
              <a:ea typeface="黑体" pitchFamily="2" charset="-122"/>
            </a:endParaRPr>
          </a:p>
        </p:txBody>
      </p:sp>
      <p:sp>
        <p:nvSpPr>
          <p:cNvPr id="90144" name="Line 49">
            <a:extLst>
              <a:ext uri="{FF2B5EF4-FFF2-40B4-BE49-F238E27FC236}">
                <a16:creationId xmlns:a16="http://schemas.microsoft.com/office/drawing/2014/main" id="{4669B797-B8BB-45FA-B16B-B1EAF6AC4A74}"/>
              </a:ext>
            </a:extLst>
          </p:cNvPr>
          <p:cNvSpPr>
            <a:spLocks noChangeShapeType="1"/>
          </p:cNvSpPr>
          <p:nvPr/>
        </p:nvSpPr>
        <p:spPr bwMode="auto">
          <a:xfrm>
            <a:off x="4983163" y="4222750"/>
            <a:ext cx="958850" cy="1749425"/>
          </a:xfrm>
          <a:prstGeom prst="line">
            <a:avLst/>
          </a:prstGeom>
          <a:noFill/>
          <a:ln w="31750">
            <a:solidFill>
              <a:srgbClr val="FF9900"/>
            </a:solidFill>
            <a:round/>
            <a:headEnd type="oval" w="med" len="med"/>
            <a:tailEnd type="triangle" w="med" len="me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90145" name="Line 49">
            <a:extLst>
              <a:ext uri="{FF2B5EF4-FFF2-40B4-BE49-F238E27FC236}">
                <a16:creationId xmlns:a16="http://schemas.microsoft.com/office/drawing/2014/main" id="{09631B58-0ED1-4142-8C85-549C9E61A530}"/>
              </a:ext>
            </a:extLst>
          </p:cNvPr>
          <p:cNvSpPr>
            <a:spLocks noChangeShapeType="1"/>
          </p:cNvSpPr>
          <p:nvPr/>
        </p:nvSpPr>
        <p:spPr bwMode="auto">
          <a:xfrm>
            <a:off x="4997450" y="4914900"/>
            <a:ext cx="944563" cy="1266825"/>
          </a:xfrm>
          <a:prstGeom prst="line">
            <a:avLst/>
          </a:prstGeom>
          <a:noFill/>
          <a:ln w="31750">
            <a:solidFill>
              <a:srgbClr val="FF9900"/>
            </a:solidFill>
            <a:round/>
            <a:headEnd type="oval" w="med" len="med"/>
            <a:tailEnd type="triangle" w="med" len="med"/>
          </a:ln>
          <a:extLst>
            <a:ext uri="{909E8E84-426E-40DD-AFC4-6F175D3DCCD1}">
              <a14:hiddenFill xmlns:a14="http://schemas.microsoft.com/office/drawing/2010/main">
                <a:noFill/>
              </a14:hiddenFill>
            </a:ext>
          </a:extLst>
        </p:spPr>
        <p:txBody>
          <a:bodyPr wrap="none" lIns="90487" tIns="44450" rIns="90487" bIns="44450" anchor="ctr"/>
          <a:lstStyle/>
          <a:p>
            <a:endParaRPr lang="zh-CN" altLang="en-US"/>
          </a:p>
        </p:txBody>
      </p:sp>
      <p:sp>
        <p:nvSpPr>
          <p:cNvPr id="90146" name="矩形 4">
            <a:extLst>
              <a:ext uri="{FF2B5EF4-FFF2-40B4-BE49-F238E27FC236}">
                <a16:creationId xmlns:a16="http://schemas.microsoft.com/office/drawing/2014/main" id="{968257C2-6AC7-47CA-AC31-B4A4C8334B64}"/>
              </a:ext>
            </a:extLst>
          </p:cNvPr>
          <p:cNvSpPr>
            <a:spLocks noChangeArrowheads="1"/>
          </p:cNvSpPr>
          <p:nvPr/>
        </p:nvSpPr>
        <p:spPr bwMode="auto">
          <a:xfrm>
            <a:off x="5867400" y="5805488"/>
            <a:ext cx="936625" cy="527050"/>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90147" name="Text Box 45">
            <a:extLst>
              <a:ext uri="{FF2B5EF4-FFF2-40B4-BE49-F238E27FC236}">
                <a16:creationId xmlns:a16="http://schemas.microsoft.com/office/drawing/2014/main" id="{19DBF011-426D-4FEF-95FB-27814932B628}"/>
              </a:ext>
            </a:extLst>
          </p:cNvPr>
          <p:cNvSpPr txBox="1">
            <a:spLocks noChangeArrowheads="1"/>
          </p:cNvSpPr>
          <p:nvPr/>
        </p:nvSpPr>
        <p:spPr bwMode="auto">
          <a:xfrm>
            <a:off x="7366000" y="5861050"/>
            <a:ext cx="12176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lnSpc>
                <a:spcPct val="90000"/>
              </a:lnSpc>
              <a:spcBef>
                <a:spcPct val="30000"/>
              </a:spcBef>
              <a:buClrTx/>
              <a:buFontTx/>
              <a:buNone/>
            </a:pPr>
            <a:r>
              <a:rPr kumimoji="0" lang="zh-CN" altLang="en-US" sz="1600">
                <a:ea typeface="宋体" panose="02010600030101010101" pitchFamily="2" charset="-122"/>
                <a:cs typeface="Times New Roman" panose="02020603050405020304" pitchFamily="18" charset="0"/>
              </a:rPr>
              <a:t>磁盘交换区</a:t>
            </a:r>
          </a:p>
        </p:txBody>
      </p:sp>
      <p:cxnSp>
        <p:nvCxnSpPr>
          <p:cNvPr id="90148" name="直接箭头连接符 6">
            <a:extLst>
              <a:ext uri="{FF2B5EF4-FFF2-40B4-BE49-F238E27FC236}">
                <a16:creationId xmlns:a16="http://schemas.microsoft.com/office/drawing/2014/main" id="{3158CB3C-84BE-45E1-BAC5-718C4EEEA6EB}"/>
              </a:ext>
            </a:extLst>
          </p:cNvPr>
          <p:cNvCxnSpPr>
            <a:cxnSpLocks noChangeShapeType="1"/>
            <a:stCxn id="90147" idx="1"/>
          </p:cNvCxnSpPr>
          <p:nvPr/>
        </p:nvCxnSpPr>
        <p:spPr bwMode="auto">
          <a:xfrm flipH="1">
            <a:off x="6804025" y="6016625"/>
            <a:ext cx="561975" cy="52388"/>
          </a:xfrm>
          <a:prstGeom prst="straightConnector1">
            <a:avLst/>
          </a:prstGeom>
          <a:noFill/>
          <a:ln w="22225" algn="ctr">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90149" name="Text Box 72">
            <a:extLst>
              <a:ext uri="{FF2B5EF4-FFF2-40B4-BE49-F238E27FC236}">
                <a16:creationId xmlns:a16="http://schemas.microsoft.com/office/drawing/2014/main" id="{CB3D61A0-FE05-45A8-AC44-E277697C919F}"/>
              </a:ext>
            </a:extLst>
          </p:cNvPr>
          <p:cNvSpPr txBox="1">
            <a:spLocks noChangeArrowheads="1"/>
          </p:cNvSpPr>
          <p:nvPr/>
        </p:nvSpPr>
        <p:spPr bwMode="auto">
          <a:xfrm>
            <a:off x="4608513" y="5764213"/>
            <a:ext cx="1112837"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80000"/>
              </a:lnSpc>
              <a:spcBef>
                <a:spcPct val="0"/>
              </a:spcBef>
              <a:buClrTx/>
              <a:buFontTx/>
              <a:buNone/>
            </a:pPr>
            <a:r>
              <a:rPr kumimoji="0" lang="zh-CN" altLang="en-US" sz="1800">
                <a:latin typeface="楷体_GB2312" pitchFamily="49" charset="-122"/>
              </a:rPr>
              <a:t>磁盘地址</a:t>
            </a:r>
          </a:p>
        </p:txBody>
      </p:sp>
    </p:spTree>
  </p:cSld>
  <p:clrMapOvr>
    <a:masterClrMapping/>
  </p:clrMapOvr>
  <p:transition spd="med">
    <p:pull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a:extLst>
              <a:ext uri="{FF2B5EF4-FFF2-40B4-BE49-F238E27FC236}">
                <a16:creationId xmlns:a16="http://schemas.microsoft.com/office/drawing/2014/main" id="{FEED89EB-4EC6-46DA-807F-A7056221B30F}"/>
              </a:ext>
            </a:extLst>
          </p:cNvPr>
          <p:cNvSpPr>
            <a:spLocks noGrp="1" noChangeArrowheads="1"/>
          </p:cNvSpPr>
          <p:nvPr>
            <p:ph type="title"/>
          </p:nvPr>
        </p:nvSpPr>
        <p:spPr/>
        <p:txBody>
          <a:bodyPr/>
          <a:lstStyle/>
          <a:p>
            <a:pPr eaLnBrk="1" hangingPunct="1">
              <a:defRPr/>
            </a:pPr>
            <a:r>
              <a:rPr lang="en-US" altLang="zh-CN"/>
              <a:t>1. </a:t>
            </a:r>
            <a:r>
              <a:rPr lang="zh-CN" altLang="en-US"/>
              <a:t>段式存储管理</a:t>
            </a:r>
          </a:p>
        </p:txBody>
      </p:sp>
      <p:sp>
        <p:nvSpPr>
          <p:cNvPr id="92163" name="Rectangle 3">
            <a:extLst>
              <a:ext uri="{FF2B5EF4-FFF2-40B4-BE49-F238E27FC236}">
                <a16:creationId xmlns:a16="http://schemas.microsoft.com/office/drawing/2014/main" id="{5713D631-913C-4F01-AFB5-C5EE3B98C641}"/>
              </a:ext>
            </a:extLst>
          </p:cNvPr>
          <p:cNvSpPr>
            <a:spLocks noGrp="1" noChangeArrowheads="1"/>
          </p:cNvSpPr>
          <p:nvPr>
            <p:ph idx="1"/>
          </p:nvPr>
        </p:nvSpPr>
        <p:spPr/>
        <p:txBody>
          <a:bodyPr/>
          <a:lstStyle/>
          <a:p>
            <a:pPr eaLnBrk="1" hangingPunct="1"/>
            <a:r>
              <a:rPr lang="zh-CN" altLang="en-US" dirty="0"/>
              <a:t>段是利用程序的模块化性质，按照程序的逻辑结构划分成的多个相对独立部分，作为独立的逻辑单位</a:t>
            </a:r>
          </a:p>
          <a:p>
            <a:pPr eaLnBrk="1" hangingPunct="1"/>
            <a:r>
              <a:rPr lang="zh-CN" altLang="en-US" dirty="0"/>
              <a:t>用</a:t>
            </a:r>
            <a:r>
              <a:rPr lang="zh-CN" altLang="en-US" u="sng" dirty="0"/>
              <a:t>段表</a:t>
            </a:r>
            <a:r>
              <a:rPr lang="zh-CN" altLang="en-US" dirty="0"/>
              <a:t>来指明各段在主存中的位置，各段都有它的名称、段起点、段长等</a:t>
            </a:r>
          </a:p>
          <a:p>
            <a:pPr eaLnBrk="1" hangingPunct="1"/>
            <a:r>
              <a:rPr lang="zh-CN" altLang="en-US" dirty="0"/>
              <a:t>主存按段分配与管理的存储管理方式称之为</a:t>
            </a:r>
            <a:r>
              <a:rPr lang="zh-CN" altLang="en-US" u="sng" dirty="0"/>
              <a:t>段式管理</a:t>
            </a:r>
          </a:p>
          <a:p>
            <a:pPr eaLnBrk="1" hangingPunct="1"/>
            <a:r>
              <a:rPr lang="zh-CN" altLang="en-US" dirty="0"/>
              <a:t>段式管理有利于按段实现信息共享和内存保护，但易造成主存中出现不好用的碎块，会影响主存储器的利用效率</a:t>
            </a:r>
          </a:p>
        </p:txBody>
      </p:sp>
    </p:spTree>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a:extLst>
              <a:ext uri="{FF2B5EF4-FFF2-40B4-BE49-F238E27FC236}">
                <a16:creationId xmlns:a16="http://schemas.microsoft.com/office/drawing/2014/main" id="{7B48BED2-42E3-4407-A0D5-7EEC7C3BFA10}"/>
              </a:ext>
            </a:extLst>
          </p:cNvPr>
          <p:cNvSpPr>
            <a:spLocks noGrp="1" noChangeArrowheads="1"/>
          </p:cNvSpPr>
          <p:nvPr>
            <p:ph type="title"/>
          </p:nvPr>
        </p:nvSpPr>
        <p:spPr/>
        <p:txBody>
          <a:bodyPr/>
          <a:lstStyle/>
          <a:p>
            <a:pPr eaLnBrk="1" hangingPunct="1">
              <a:defRPr/>
            </a:pPr>
            <a:r>
              <a:rPr lang="zh-CN" altLang="en-US"/>
              <a:t>段式虚拟存储器（</a:t>
            </a:r>
            <a:r>
              <a:rPr lang="en-US" altLang="zh-CN"/>
              <a:t>1</a:t>
            </a:r>
            <a:r>
              <a:rPr lang="zh-CN" altLang="en-US"/>
              <a:t>）</a:t>
            </a:r>
          </a:p>
        </p:txBody>
      </p:sp>
      <p:sp>
        <p:nvSpPr>
          <p:cNvPr id="93187" name="Rectangle 3">
            <a:extLst>
              <a:ext uri="{FF2B5EF4-FFF2-40B4-BE49-F238E27FC236}">
                <a16:creationId xmlns:a16="http://schemas.microsoft.com/office/drawing/2014/main" id="{37F7D4CE-3CBD-48BB-897F-B8C21A9E4A16}"/>
              </a:ext>
            </a:extLst>
          </p:cNvPr>
          <p:cNvSpPr>
            <a:spLocks noGrp="1" noChangeArrowheads="1"/>
          </p:cNvSpPr>
          <p:nvPr>
            <p:ph idx="1"/>
          </p:nvPr>
        </p:nvSpPr>
        <p:spPr/>
        <p:txBody>
          <a:bodyPr/>
          <a:lstStyle/>
          <a:p>
            <a:pPr eaLnBrk="1" hangingPunct="1"/>
            <a:endParaRPr lang="zh-CN" altLang="zh-CN"/>
          </a:p>
        </p:txBody>
      </p:sp>
      <p:graphicFrame>
        <p:nvGraphicFramePr>
          <p:cNvPr id="827397" name="Group 5">
            <a:extLst>
              <a:ext uri="{FF2B5EF4-FFF2-40B4-BE49-F238E27FC236}">
                <a16:creationId xmlns:a16="http://schemas.microsoft.com/office/drawing/2014/main" id="{B97D7DA2-F3BB-4F71-8F1F-A7EBF8DB1FCF}"/>
              </a:ext>
            </a:extLst>
          </p:cNvPr>
          <p:cNvGraphicFramePr>
            <a:graphicFrameLocks noGrp="1"/>
          </p:cNvGraphicFramePr>
          <p:nvPr/>
        </p:nvGraphicFramePr>
        <p:xfrm>
          <a:off x="3125788" y="2482850"/>
          <a:ext cx="2655887" cy="2046289"/>
        </p:xfrm>
        <a:graphic>
          <a:graphicData uri="http://schemas.openxmlformats.org/drawingml/2006/table">
            <a:tbl>
              <a:tblPr/>
              <a:tblGrid>
                <a:gridCol w="885825">
                  <a:extLst>
                    <a:ext uri="{9D8B030D-6E8A-4147-A177-3AD203B41FA5}">
                      <a16:colId xmlns:a16="http://schemas.microsoft.com/office/drawing/2014/main" val="2556735739"/>
                    </a:ext>
                  </a:extLst>
                </a:gridCol>
                <a:gridCol w="884237">
                  <a:extLst>
                    <a:ext uri="{9D8B030D-6E8A-4147-A177-3AD203B41FA5}">
                      <a16:colId xmlns:a16="http://schemas.microsoft.com/office/drawing/2014/main" val="601119445"/>
                    </a:ext>
                  </a:extLst>
                </a:gridCol>
                <a:gridCol w="885825">
                  <a:extLst>
                    <a:ext uri="{9D8B030D-6E8A-4147-A177-3AD203B41FA5}">
                      <a16:colId xmlns:a16="http://schemas.microsoft.com/office/drawing/2014/main" val="3631423879"/>
                    </a:ext>
                  </a:extLst>
                </a:gridCol>
              </a:tblGrid>
              <a:tr h="34131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段起址</a:t>
                      </a:r>
                    </a:p>
                  </a:txBody>
                  <a:tcPr marL="0" marR="0" marT="0" marB="0" anchor="ctr" horzOverflow="overflow">
                    <a:lnL w="28575" cap="flat" cmpd="sng" algn="ctr">
                      <a:solidFill>
                        <a:schemeClr val="tx1"/>
                      </a:solidFill>
                      <a:prstDash val="solid"/>
                      <a:round/>
                      <a:headEnd type="none" w="med" len="med"/>
                      <a:tailEnd type="none" w="lg" len="lg"/>
                    </a:lnL>
                    <a:lnR w="1905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装入位</a:t>
                      </a:r>
                    </a:p>
                  </a:txBody>
                  <a:tcPr marL="0" marR="0" marT="0" marB="0" anchor="ctr" horzOverflow="overflow">
                    <a:lnL w="19050"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段长</a:t>
                      </a:r>
                    </a:p>
                  </a:txBody>
                  <a:tcPr marL="0" marR="0" marT="0" marB="0" anchor="ct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669726861"/>
                  </a:ext>
                </a:extLst>
              </a:tr>
              <a:tr h="339725">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1000</a:t>
                      </a:r>
                    </a:p>
                  </a:txBody>
                  <a:tcPr marL="0" marR="0" marT="0" marB="0" anchor="ctr" horzOverflow="overflow">
                    <a:lnL w="28575" cap="flat" cmpd="sng" algn="ctr">
                      <a:solidFill>
                        <a:schemeClr val="tx1"/>
                      </a:solidFill>
                      <a:prstDash val="solid"/>
                      <a:round/>
                      <a:headEnd type="none" w="med" len="med"/>
                      <a:tailEnd type="none" w="lg" len="lg"/>
                    </a:lnL>
                    <a:lnR w="19050"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p>
                  </a:txBody>
                  <a:tcPr marL="0" marR="0" marT="0" marB="0" anchor="ctr" horzOverflow="overflow">
                    <a:lnL w="19050"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1K</a:t>
                      </a:r>
                    </a:p>
                  </a:txBody>
                  <a:tcPr marL="0" marR="0" marT="0" marB="0" anchor="ct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2238661584"/>
                  </a:ext>
                </a:extLst>
              </a:tr>
              <a:tr h="34290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anchor="ctr" horzOverflow="overflow">
                    <a:lnL w="28575" cap="flat" cmpd="sng" algn="ctr">
                      <a:solidFill>
                        <a:schemeClr val="tx1"/>
                      </a:solidFill>
                      <a:prstDash val="solid"/>
                      <a:round/>
                      <a:headEnd type="none" w="med" len="med"/>
                      <a:tailEnd type="none" w="lg" len="lg"/>
                    </a:lnL>
                    <a:lnR w="19050"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0</a:t>
                      </a:r>
                    </a:p>
                  </a:txBody>
                  <a:tcPr marL="0" marR="0" marT="0" marB="0" anchor="ctr" horzOverflow="overflow">
                    <a:lnL w="19050"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0" marB="0" anchor="ct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91291932"/>
                  </a:ext>
                </a:extLst>
              </a:tr>
              <a:tr h="34131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6120</a:t>
                      </a:r>
                    </a:p>
                  </a:txBody>
                  <a:tcPr marL="0" marR="0" marT="0" marB="0" anchor="ctr" horzOverflow="overflow">
                    <a:lnL w="28575" cap="flat" cmpd="sng" algn="ctr">
                      <a:solidFill>
                        <a:schemeClr val="tx1"/>
                      </a:solidFill>
                      <a:prstDash val="solid"/>
                      <a:round/>
                      <a:headEnd type="none" w="med" len="med"/>
                      <a:tailEnd type="none" w="lg" len="lg"/>
                    </a:lnL>
                    <a:lnR w="19050"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p>
                  </a:txBody>
                  <a:tcPr marL="0" marR="0" marT="0" marB="0" anchor="ctr" horzOverflow="overflow">
                    <a:lnL w="19050"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3K</a:t>
                      </a:r>
                    </a:p>
                  </a:txBody>
                  <a:tcPr marL="0" marR="0" marT="0" marB="0" anchor="ct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15158675"/>
                  </a:ext>
                </a:extLst>
              </a:tr>
              <a:tr h="339725">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9192</a:t>
                      </a:r>
                    </a:p>
                  </a:txBody>
                  <a:tcPr marL="0" marR="0" marT="0" marB="0" anchor="ctr" horzOverflow="overflow">
                    <a:lnL w="28575" cap="flat" cmpd="sng" algn="ctr">
                      <a:solidFill>
                        <a:schemeClr val="tx1"/>
                      </a:solidFill>
                      <a:prstDash val="solid"/>
                      <a:round/>
                      <a:headEnd type="none" w="med" len="med"/>
                      <a:tailEnd type="none" w="lg" len="lg"/>
                    </a:lnL>
                    <a:lnR w="19050"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p>
                  </a:txBody>
                  <a:tcPr marL="0" marR="0" marT="0" marB="0" anchor="ctr" horzOverflow="overflow">
                    <a:lnL w="19050"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1K</a:t>
                      </a:r>
                    </a:p>
                  </a:txBody>
                  <a:tcPr marL="0" marR="0" marT="0" marB="0" anchor="ct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2889208537"/>
                  </a:ext>
                </a:extLst>
              </a:tr>
              <a:tr h="34131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2024</a:t>
                      </a:r>
                    </a:p>
                  </a:txBody>
                  <a:tcPr marL="0" marR="0" marT="0" marB="0" anchor="ctr" horzOverflow="overflow">
                    <a:lnL w="28575" cap="flat" cmpd="sng" algn="ctr">
                      <a:solidFill>
                        <a:schemeClr val="tx1"/>
                      </a:solidFill>
                      <a:prstDash val="solid"/>
                      <a:round/>
                      <a:headEnd type="none" w="med" len="med"/>
                      <a:tailEnd type="none" w="lg" len="lg"/>
                    </a:lnL>
                    <a:lnR w="19050"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p>
                  </a:txBody>
                  <a:tcPr marL="0" marR="0" marT="0" marB="0" anchor="ctr" horzOverflow="overflow">
                    <a:lnL w="19050"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2K</a:t>
                      </a:r>
                    </a:p>
                  </a:txBody>
                  <a:tcPr marL="0" marR="0" marT="0" marB="0" anchor="ct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591698185"/>
                  </a:ext>
                </a:extLst>
              </a:tr>
            </a:tbl>
          </a:graphicData>
        </a:graphic>
      </p:graphicFrame>
      <p:sp>
        <p:nvSpPr>
          <p:cNvPr id="93219" name="Text Box 35">
            <a:extLst>
              <a:ext uri="{FF2B5EF4-FFF2-40B4-BE49-F238E27FC236}">
                <a16:creationId xmlns:a16="http://schemas.microsoft.com/office/drawing/2014/main" id="{5BAB8046-E66E-4D0F-9DCF-413EE7E40E44}"/>
              </a:ext>
            </a:extLst>
          </p:cNvPr>
          <p:cNvSpPr txBox="1">
            <a:spLocks noChangeArrowheads="1"/>
          </p:cNvSpPr>
          <p:nvPr/>
        </p:nvSpPr>
        <p:spPr bwMode="auto">
          <a:xfrm>
            <a:off x="3375025" y="2028825"/>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a:latin typeface="Tahoma" panose="020B0604030504040204" pitchFamily="34" charset="0"/>
              </a:rPr>
              <a:t>段表（在主存）</a:t>
            </a:r>
          </a:p>
        </p:txBody>
      </p:sp>
      <p:sp>
        <p:nvSpPr>
          <p:cNvPr id="93220" name="Text Box 36">
            <a:extLst>
              <a:ext uri="{FF2B5EF4-FFF2-40B4-BE49-F238E27FC236}">
                <a16:creationId xmlns:a16="http://schemas.microsoft.com/office/drawing/2014/main" id="{A897A094-968E-4B32-BD79-A6907FCB62F6}"/>
              </a:ext>
            </a:extLst>
          </p:cNvPr>
          <p:cNvSpPr txBox="1">
            <a:spLocks noChangeArrowheads="1"/>
          </p:cNvSpPr>
          <p:nvPr/>
        </p:nvSpPr>
        <p:spPr bwMode="auto">
          <a:xfrm>
            <a:off x="2371725" y="2420938"/>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400">
                <a:latin typeface="Tahoma" panose="020B0604030504040204" pitchFamily="34" charset="0"/>
              </a:rPr>
              <a:t>段号</a:t>
            </a:r>
          </a:p>
        </p:txBody>
      </p:sp>
      <p:sp>
        <p:nvSpPr>
          <p:cNvPr id="93221" name="Text Box 37">
            <a:extLst>
              <a:ext uri="{FF2B5EF4-FFF2-40B4-BE49-F238E27FC236}">
                <a16:creationId xmlns:a16="http://schemas.microsoft.com/office/drawing/2014/main" id="{B36E382F-F44B-492A-87D4-695FE1708DF0}"/>
              </a:ext>
            </a:extLst>
          </p:cNvPr>
          <p:cNvSpPr txBox="1">
            <a:spLocks noChangeArrowheads="1"/>
          </p:cNvSpPr>
          <p:nvPr/>
        </p:nvSpPr>
        <p:spPr bwMode="auto">
          <a:xfrm>
            <a:off x="2790825" y="2767013"/>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0</a:t>
            </a:r>
          </a:p>
        </p:txBody>
      </p:sp>
      <p:sp>
        <p:nvSpPr>
          <p:cNvPr id="93222" name="Text Box 38">
            <a:extLst>
              <a:ext uri="{FF2B5EF4-FFF2-40B4-BE49-F238E27FC236}">
                <a16:creationId xmlns:a16="http://schemas.microsoft.com/office/drawing/2014/main" id="{896FB978-8402-432C-87EC-D3C61B935DAE}"/>
              </a:ext>
            </a:extLst>
          </p:cNvPr>
          <p:cNvSpPr txBox="1">
            <a:spLocks noChangeArrowheads="1"/>
          </p:cNvSpPr>
          <p:nvPr/>
        </p:nvSpPr>
        <p:spPr bwMode="auto">
          <a:xfrm>
            <a:off x="2790825" y="3101975"/>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1</a:t>
            </a:r>
          </a:p>
        </p:txBody>
      </p:sp>
      <p:sp>
        <p:nvSpPr>
          <p:cNvPr id="93223" name="Text Box 39">
            <a:extLst>
              <a:ext uri="{FF2B5EF4-FFF2-40B4-BE49-F238E27FC236}">
                <a16:creationId xmlns:a16="http://schemas.microsoft.com/office/drawing/2014/main" id="{935F315D-9984-4D7F-A1E3-687F3C3306CC}"/>
              </a:ext>
            </a:extLst>
          </p:cNvPr>
          <p:cNvSpPr txBox="1">
            <a:spLocks noChangeArrowheads="1"/>
          </p:cNvSpPr>
          <p:nvPr/>
        </p:nvSpPr>
        <p:spPr bwMode="auto">
          <a:xfrm>
            <a:off x="2776538" y="3435350"/>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2</a:t>
            </a:r>
          </a:p>
        </p:txBody>
      </p:sp>
      <p:sp>
        <p:nvSpPr>
          <p:cNvPr id="93224" name="Text Box 40">
            <a:extLst>
              <a:ext uri="{FF2B5EF4-FFF2-40B4-BE49-F238E27FC236}">
                <a16:creationId xmlns:a16="http://schemas.microsoft.com/office/drawing/2014/main" id="{A00CEC9A-36CC-42F3-845B-3F382A7F7EB0}"/>
              </a:ext>
            </a:extLst>
          </p:cNvPr>
          <p:cNvSpPr txBox="1">
            <a:spLocks noChangeArrowheads="1"/>
          </p:cNvSpPr>
          <p:nvPr/>
        </p:nvSpPr>
        <p:spPr bwMode="auto">
          <a:xfrm>
            <a:off x="2774950" y="4132263"/>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4</a:t>
            </a:r>
          </a:p>
        </p:txBody>
      </p:sp>
      <p:sp>
        <p:nvSpPr>
          <p:cNvPr id="93225" name="Text Box 41">
            <a:extLst>
              <a:ext uri="{FF2B5EF4-FFF2-40B4-BE49-F238E27FC236}">
                <a16:creationId xmlns:a16="http://schemas.microsoft.com/office/drawing/2014/main" id="{09F14CA5-0890-4C57-BA64-D0EF49F0274C}"/>
              </a:ext>
            </a:extLst>
          </p:cNvPr>
          <p:cNvSpPr txBox="1">
            <a:spLocks noChangeArrowheads="1"/>
          </p:cNvSpPr>
          <p:nvPr/>
        </p:nvSpPr>
        <p:spPr bwMode="auto">
          <a:xfrm>
            <a:off x="2787650" y="3784600"/>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3</a:t>
            </a:r>
          </a:p>
        </p:txBody>
      </p:sp>
      <p:graphicFrame>
        <p:nvGraphicFramePr>
          <p:cNvPr id="827434" name="Group 42">
            <a:extLst>
              <a:ext uri="{FF2B5EF4-FFF2-40B4-BE49-F238E27FC236}">
                <a16:creationId xmlns:a16="http://schemas.microsoft.com/office/drawing/2014/main" id="{FA04C13E-50C9-41E9-BACA-19F548DF8931}"/>
              </a:ext>
            </a:extLst>
          </p:cNvPr>
          <p:cNvGraphicFramePr>
            <a:graphicFrameLocks noGrp="1"/>
          </p:cNvGraphicFramePr>
          <p:nvPr/>
        </p:nvGraphicFramePr>
        <p:xfrm>
          <a:off x="6902450" y="1941513"/>
          <a:ext cx="1028700" cy="3756026"/>
        </p:xfrm>
        <a:graphic>
          <a:graphicData uri="http://schemas.openxmlformats.org/drawingml/2006/table">
            <a:tbl>
              <a:tblPr/>
              <a:tblGrid>
                <a:gridCol w="1028700">
                  <a:extLst>
                    <a:ext uri="{9D8B030D-6E8A-4147-A177-3AD203B41FA5}">
                      <a16:colId xmlns:a16="http://schemas.microsoft.com/office/drawing/2014/main" val="20000"/>
                    </a:ext>
                  </a:extLst>
                </a:gridCol>
              </a:tblGrid>
              <a:tr h="4302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itchFamily="18" charset="0"/>
                          <a:ea typeface="楷体_GB2312" pitchFamily="49" charset="-122"/>
                        </a:rPr>
                        <a:t>段</a:t>
                      </a: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0</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663575">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itchFamily="18" charset="0"/>
                          <a:ea typeface="楷体_GB2312" pitchFamily="49" charset="-122"/>
                        </a:rPr>
                        <a:t>段</a:t>
                      </a: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4</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6969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itchFamily="18" charset="0"/>
                          <a:ea typeface="楷体_GB2312" pitchFamily="49" charset="-122"/>
                        </a:rPr>
                        <a:t>未用</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ltUpDiag">
                      <a:fgClr>
                        <a:schemeClr val="tx1"/>
                      </a:fgClr>
                      <a:bgClr>
                        <a:schemeClr val="bg1"/>
                      </a:bgClr>
                    </a:pattFill>
                  </a:tcPr>
                </a:tc>
                <a:extLst>
                  <a:ext uri="{0D108BD9-81ED-4DB2-BD59-A6C34878D82A}">
                    <a16:rowId xmlns:a16="http://schemas.microsoft.com/office/drawing/2014/main" val="10002"/>
                  </a:ext>
                </a:extLst>
              </a:tr>
              <a:tr h="1090612">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itchFamily="18" charset="0"/>
                          <a:ea typeface="楷体_GB2312" pitchFamily="49" charset="-122"/>
                        </a:rPr>
                        <a:t>段</a:t>
                      </a: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2</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482600">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itchFamily="18" charset="0"/>
                          <a:ea typeface="楷体_GB2312" pitchFamily="49" charset="-122"/>
                        </a:rPr>
                        <a:t>段</a:t>
                      </a:r>
                      <a:r>
                        <a:rPr kumimoji="1" lang="en-US" altLang="zh-CN" sz="2000" b="1" i="0" u="none" strike="noStrike" cap="none" normalizeH="0" baseline="0">
                          <a:ln>
                            <a:noFill/>
                          </a:ln>
                          <a:solidFill>
                            <a:schemeClr val="tx1"/>
                          </a:solidFill>
                          <a:effectLst/>
                          <a:latin typeface="Times New Roman" pitchFamily="18" charset="0"/>
                          <a:ea typeface="楷体_GB2312" pitchFamily="49" charset="-122"/>
                        </a:rPr>
                        <a:t>3</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r h="392113">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000" b="0" i="0" u="none" strike="noStrike" cap="none" normalizeH="0" baseline="0" dirty="0">
                        <a:ln>
                          <a:noFill/>
                        </a:ln>
                        <a:solidFill>
                          <a:schemeClr val="tx1"/>
                        </a:solidFill>
                        <a:effectLst/>
                        <a:latin typeface="Times New Roman" pitchFamily="18" charset="0"/>
                        <a:ea typeface="楷体_GB2312" pitchFamily="49" charset="-122"/>
                      </a:endParaRP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3242" name="Text Box 58">
            <a:extLst>
              <a:ext uri="{FF2B5EF4-FFF2-40B4-BE49-F238E27FC236}">
                <a16:creationId xmlns:a16="http://schemas.microsoft.com/office/drawing/2014/main" id="{ED15744F-A52C-4B8A-B98B-1E5DC405A70D}"/>
              </a:ext>
            </a:extLst>
          </p:cNvPr>
          <p:cNvSpPr txBox="1">
            <a:spLocks noChangeArrowheads="1"/>
          </p:cNvSpPr>
          <p:nvPr/>
        </p:nvSpPr>
        <p:spPr bwMode="auto">
          <a:xfrm>
            <a:off x="6619875" y="1258888"/>
            <a:ext cx="17319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000">
                <a:latin typeface="Tahoma" panose="020B0604030504040204" pitchFamily="34" charset="0"/>
              </a:rPr>
              <a:t>物理地址空间</a:t>
            </a:r>
            <a:endParaRPr kumimoji="0" lang="en-US" altLang="zh-CN" sz="2000">
              <a:latin typeface="Tahoma" panose="020B0604030504040204" pitchFamily="34" charset="0"/>
            </a:endParaRPr>
          </a:p>
          <a:p>
            <a:pPr eaLnBrk="1" hangingPunct="1">
              <a:spcBef>
                <a:spcPct val="0"/>
              </a:spcBef>
              <a:buClrTx/>
              <a:buFontTx/>
              <a:buNone/>
            </a:pPr>
            <a:r>
              <a:rPr kumimoji="0" lang="en-US" altLang="zh-CN" sz="2000"/>
              <a:t>    DRAM</a:t>
            </a:r>
            <a:endParaRPr kumimoji="0" lang="zh-CN" altLang="en-US" sz="2000"/>
          </a:p>
        </p:txBody>
      </p:sp>
      <p:sp>
        <p:nvSpPr>
          <p:cNvPr id="93243" name="Line 59">
            <a:extLst>
              <a:ext uri="{FF2B5EF4-FFF2-40B4-BE49-F238E27FC236}">
                <a16:creationId xmlns:a16="http://schemas.microsoft.com/office/drawing/2014/main" id="{D8C90B91-C06D-4C96-A3E2-89E5E246FCD0}"/>
              </a:ext>
            </a:extLst>
          </p:cNvPr>
          <p:cNvSpPr>
            <a:spLocks noChangeShapeType="1"/>
          </p:cNvSpPr>
          <p:nvPr/>
        </p:nvSpPr>
        <p:spPr bwMode="auto">
          <a:xfrm flipV="1">
            <a:off x="5783263" y="2159000"/>
            <a:ext cx="1103312" cy="81280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3244" name="Line 60">
            <a:extLst>
              <a:ext uri="{FF2B5EF4-FFF2-40B4-BE49-F238E27FC236}">
                <a16:creationId xmlns:a16="http://schemas.microsoft.com/office/drawing/2014/main" id="{280E99B2-41A6-42D5-BFE8-0C5280DA1FEC}"/>
              </a:ext>
            </a:extLst>
          </p:cNvPr>
          <p:cNvSpPr>
            <a:spLocks noChangeShapeType="1"/>
          </p:cNvSpPr>
          <p:nvPr/>
        </p:nvSpPr>
        <p:spPr bwMode="auto">
          <a:xfrm>
            <a:off x="5768975" y="3640138"/>
            <a:ext cx="1131888" cy="53657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3245" name="Line 61">
            <a:extLst>
              <a:ext uri="{FF2B5EF4-FFF2-40B4-BE49-F238E27FC236}">
                <a16:creationId xmlns:a16="http://schemas.microsoft.com/office/drawing/2014/main" id="{D0671B90-CDA5-458D-AC9C-BC6E0E641E52}"/>
              </a:ext>
            </a:extLst>
          </p:cNvPr>
          <p:cNvSpPr>
            <a:spLocks noChangeShapeType="1"/>
          </p:cNvSpPr>
          <p:nvPr/>
        </p:nvSpPr>
        <p:spPr bwMode="auto">
          <a:xfrm>
            <a:off x="5783263" y="4002088"/>
            <a:ext cx="1103312" cy="103028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3246" name="Line 62">
            <a:extLst>
              <a:ext uri="{FF2B5EF4-FFF2-40B4-BE49-F238E27FC236}">
                <a16:creationId xmlns:a16="http://schemas.microsoft.com/office/drawing/2014/main" id="{0AA491C7-121F-4548-9866-D83ED0304483}"/>
              </a:ext>
            </a:extLst>
          </p:cNvPr>
          <p:cNvSpPr>
            <a:spLocks noChangeShapeType="1"/>
          </p:cNvSpPr>
          <p:nvPr/>
        </p:nvSpPr>
        <p:spPr bwMode="auto">
          <a:xfrm flipV="1">
            <a:off x="5768975" y="2697163"/>
            <a:ext cx="1117600" cy="163830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3247" name="Text Box 63">
            <a:extLst>
              <a:ext uri="{FF2B5EF4-FFF2-40B4-BE49-F238E27FC236}">
                <a16:creationId xmlns:a16="http://schemas.microsoft.com/office/drawing/2014/main" id="{92B93AF5-DDA1-4D85-8F98-FF1692EACBD6}"/>
              </a:ext>
            </a:extLst>
          </p:cNvPr>
          <p:cNvSpPr txBox="1">
            <a:spLocks noChangeArrowheads="1"/>
          </p:cNvSpPr>
          <p:nvPr/>
        </p:nvSpPr>
        <p:spPr bwMode="auto">
          <a:xfrm>
            <a:off x="8031163" y="1576388"/>
            <a:ext cx="6445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1800">
                <a:latin typeface="Tahoma" panose="020B0604030504040204" pitchFamily="34" charset="0"/>
              </a:rPr>
              <a:t>地址</a:t>
            </a:r>
          </a:p>
        </p:txBody>
      </p:sp>
      <p:sp>
        <p:nvSpPr>
          <p:cNvPr id="93248" name="Text Box 64">
            <a:extLst>
              <a:ext uri="{FF2B5EF4-FFF2-40B4-BE49-F238E27FC236}">
                <a16:creationId xmlns:a16="http://schemas.microsoft.com/office/drawing/2014/main" id="{3E67F15D-E7A3-4E8D-A47C-451DD2746BED}"/>
              </a:ext>
            </a:extLst>
          </p:cNvPr>
          <p:cNvSpPr txBox="1">
            <a:spLocks noChangeArrowheads="1"/>
          </p:cNvSpPr>
          <p:nvPr/>
        </p:nvSpPr>
        <p:spPr bwMode="auto">
          <a:xfrm>
            <a:off x="395288" y="2714625"/>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1K</a:t>
            </a:r>
          </a:p>
        </p:txBody>
      </p:sp>
      <p:sp>
        <p:nvSpPr>
          <p:cNvPr id="93249" name="Text Box 65">
            <a:extLst>
              <a:ext uri="{FF2B5EF4-FFF2-40B4-BE49-F238E27FC236}">
                <a16:creationId xmlns:a16="http://schemas.microsoft.com/office/drawing/2014/main" id="{FD5FAC4D-EC4D-4F1A-8175-9B6528C3EBA7}"/>
              </a:ext>
            </a:extLst>
          </p:cNvPr>
          <p:cNvSpPr txBox="1">
            <a:spLocks noChangeArrowheads="1"/>
          </p:cNvSpPr>
          <p:nvPr/>
        </p:nvSpPr>
        <p:spPr bwMode="auto">
          <a:xfrm>
            <a:off x="7880350" y="1816100"/>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1000</a:t>
            </a:r>
          </a:p>
        </p:txBody>
      </p:sp>
      <p:sp>
        <p:nvSpPr>
          <p:cNvPr id="93250" name="Text Box 66">
            <a:extLst>
              <a:ext uri="{FF2B5EF4-FFF2-40B4-BE49-F238E27FC236}">
                <a16:creationId xmlns:a16="http://schemas.microsoft.com/office/drawing/2014/main" id="{66167D8C-1B4F-4998-9AB2-580BFAA74BA8}"/>
              </a:ext>
            </a:extLst>
          </p:cNvPr>
          <p:cNvSpPr txBox="1">
            <a:spLocks noChangeArrowheads="1"/>
          </p:cNvSpPr>
          <p:nvPr/>
        </p:nvSpPr>
        <p:spPr bwMode="auto">
          <a:xfrm>
            <a:off x="7880350" y="2047875"/>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2023</a:t>
            </a:r>
          </a:p>
        </p:txBody>
      </p:sp>
      <p:sp>
        <p:nvSpPr>
          <p:cNvPr id="93251" name="Text Box 67">
            <a:extLst>
              <a:ext uri="{FF2B5EF4-FFF2-40B4-BE49-F238E27FC236}">
                <a16:creationId xmlns:a16="http://schemas.microsoft.com/office/drawing/2014/main" id="{315C1530-3BD5-4505-A601-7359C318B7E6}"/>
              </a:ext>
            </a:extLst>
          </p:cNvPr>
          <p:cNvSpPr txBox="1">
            <a:spLocks noChangeArrowheads="1"/>
          </p:cNvSpPr>
          <p:nvPr/>
        </p:nvSpPr>
        <p:spPr bwMode="auto">
          <a:xfrm>
            <a:off x="7880350" y="2281238"/>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2024</a:t>
            </a:r>
          </a:p>
        </p:txBody>
      </p:sp>
      <p:sp>
        <p:nvSpPr>
          <p:cNvPr id="93252" name="Text Box 68">
            <a:extLst>
              <a:ext uri="{FF2B5EF4-FFF2-40B4-BE49-F238E27FC236}">
                <a16:creationId xmlns:a16="http://schemas.microsoft.com/office/drawing/2014/main" id="{E6F14363-5CD6-4E5B-BAD5-6A995BB71DB5}"/>
              </a:ext>
            </a:extLst>
          </p:cNvPr>
          <p:cNvSpPr txBox="1">
            <a:spLocks noChangeArrowheads="1"/>
          </p:cNvSpPr>
          <p:nvPr/>
        </p:nvSpPr>
        <p:spPr bwMode="auto">
          <a:xfrm>
            <a:off x="7894638" y="2714625"/>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4071</a:t>
            </a:r>
          </a:p>
        </p:txBody>
      </p:sp>
      <p:sp>
        <p:nvSpPr>
          <p:cNvPr id="93253" name="Text Box 69">
            <a:extLst>
              <a:ext uri="{FF2B5EF4-FFF2-40B4-BE49-F238E27FC236}">
                <a16:creationId xmlns:a16="http://schemas.microsoft.com/office/drawing/2014/main" id="{77F76144-6056-45CB-A976-0FC55EC05AA9}"/>
              </a:ext>
            </a:extLst>
          </p:cNvPr>
          <p:cNvSpPr txBox="1">
            <a:spLocks noChangeArrowheads="1"/>
          </p:cNvSpPr>
          <p:nvPr/>
        </p:nvSpPr>
        <p:spPr bwMode="auto">
          <a:xfrm>
            <a:off x="7908925" y="3659188"/>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6120</a:t>
            </a:r>
          </a:p>
        </p:txBody>
      </p:sp>
      <p:sp>
        <p:nvSpPr>
          <p:cNvPr id="93254" name="Text Box 70">
            <a:extLst>
              <a:ext uri="{FF2B5EF4-FFF2-40B4-BE49-F238E27FC236}">
                <a16:creationId xmlns:a16="http://schemas.microsoft.com/office/drawing/2014/main" id="{6A6669C4-3DC5-4ADD-BF5C-F6CA27A3A7DD}"/>
              </a:ext>
            </a:extLst>
          </p:cNvPr>
          <p:cNvSpPr txBox="1">
            <a:spLocks noChangeArrowheads="1"/>
          </p:cNvSpPr>
          <p:nvPr/>
        </p:nvSpPr>
        <p:spPr bwMode="auto">
          <a:xfrm>
            <a:off x="7908925" y="4486275"/>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9191</a:t>
            </a:r>
          </a:p>
        </p:txBody>
      </p:sp>
      <p:sp>
        <p:nvSpPr>
          <p:cNvPr id="93255" name="Text Box 71">
            <a:extLst>
              <a:ext uri="{FF2B5EF4-FFF2-40B4-BE49-F238E27FC236}">
                <a16:creationId xmlns:a16="http://schemas.microsoft.com/office/drawing/2014/main" id="{1C85F6AC-8F57-4B71-A2F5-7CA175EB3CB8}"/>
              </a:ext>
            </a:extLst>
          </p:cNvPr>
          <p:cNvSpPr txBox="1">
            <a:spLocks noChangeArrowheads="1"/>
          </p:cNvSpPr>
          <p:nvPr/>
        </p:nvSpPr>
        <p:spPr bwMode="auto">
          <a:xfrm>
            <a:off x="7908925" y="4746625"/>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9192</a:t>
            </a:r>
          </a:p>
        </p:txBody>
      </p:sp>
      <p:sp>
        <p:nvSpPr>
          <p:cNvPr id="93256" name="Text Box 72">
            <a:extLst>
              <a:ext uri="{FF2B5EF4-FFF2-40B4-BE49-F238E27FC236}">
                <a16:creationId xmlns:a16="http://schemas.microsoft.com/office/drawing/2014/main" id="{B1D88E40-0B80-4D82-A37D-F9F9BC490DE3}"/>
              </a:ext>
            </a:extLst>
          </p:cNvPr>
          <p:cNvSpPr txBox="1">
            <a:spLocks noChangeArrowheads="1"/>
          </p:cNvSpPr>
          <p:nvPr/>
        </p:nvSpPr>
        <p:spPr bwMode="auto">
          <a:xfrm>
            <a:off x="7918450" y="4978400"/>
            <a:ext cx="993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10215</a:t>
            </a:r>
          </a:p>
        </p:txBody>
      </p:sp>
      <p:sp>
        <p:nvSpPr>
          <p:cNvPr id="93257" name="Rectangle 73">
            <a:extLst>
              <a:ext uri="{FF2B5EF4-FFF2-40B4-BE49-F238E27FC236}">
                <a16:creationId xmlns:a16="http://schemas.microsoft.com/office/drawing/2014/main" id="{6E9C5ACB-618E-4956-9FE8-581B1823FAF0}"/>
              </a:ext>
            </a:extLst>
          </p:cNvPr>
          <p:cNvSpPr>
            <a:spLocks noChangeArrowheads="1"/>
          </p:cNvSpPr>
          <p:nvPr/>
        </p:nvSpPr>
        <p:spPr bwMode="auto">
          <a:xfrm>
            <a:off x="930275" y="2700338"/>
            <a:ext cx="1117600" cy="376237"/>
          </a:xfrm>
          <a:prstGeom prst="rect">
            <a:avLst/>
          </a:prstGeom>
          <a:solidFill>
            <a:srgbClr val="0000CC"/>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段</a:t>
            </a:r>
            <a:r>
              <a:rPr kumimoji="0" lang="en-US" altLang="zh-CN" sz="2000">
                <a:solidFill>
                  <a:schemeClr val="bg1"/>
                </a:solidFill>
                <a:latin typeface="楷体_GB2312" pitchFamily="49" charset="-122"/>
              </a:rPr>
              <a:t>0</a:t>
            </a:r>
          </a:p>
        </p:txBody>
      </p:sp>
      <p:sp>
        <p:nvSpPr>
          <p:cNvPr id="93258" name="Rectangle 74">
            <a:extLst>
              <a:ext uri="{FF2B5EF4-FFF2-40B4-BE49-F238E27FC236}">
                <a16:creationId xmlns:a16="http://schemas.microsoft.com/office/drawing/2014/main" id="{3C95F64C-2EF0-4572-9E24-5BF0F0B44440}"/>
              </a:ext>
            </a:extLst>
          </p:cNvPr>
          <p:cNvSpPr>
            <a:spLocks noChangeArrowheads="1"/>
          </p:cNvSpPr>
          <p:nvPr/>
        </p:nvSpPr>
        <p:spPr bwMode="auto">
          <a:xfrm>
            <a:off x="930275" y="3179763"/>
            <a:ext cx="1117600" cy="534987"/>
          </a:xfrm>
          <a:prstGeom prst="rect">
            <a:avLst/>
          </a:prstGeom>
          <a:solidFill>
            <a:srgbClr val="0000CC"/>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段</a:t>
            </a:r>
            <a:r>
              <a:rPr kumimoji="0" lang="en-US" altLang="zh-CN" sz="2000">
                <a:solidFill>
                  <a:schemeClr val="bg1"/>
                </a:solidFill>
                <a:latin typeface="楷体_GB2312" pitchFamily="49" charset="-122"/>
              </a:rPr>
              <a:t>1</a:t>
            </a:r>
          </a:p>
        </p:txBody>
      </p:sp>
      <p:sp>
        <p:nvSpPr>
          <p:cNvPr id="93259" name="Rectangle 75">
            <a:extLst>
              <a:ext uri="{FF2B5EF4-FFF2-40B4-BE49-F238E27FC236}">
                <a16:creationId xmlns:a16="http://schemas.microsoft.com/office/drawing/2014/main" id="{BD010228-552B-4E67-B9E2-0019859B1E6F}"/>
              </a:ext>
            </a:extLst>
          </p:cNvPr>
          <p:cNvSpPr>
            <a:spLocks noChangeArrowheads="1"/>
          </p:cNvSpPr>
          <p:nvPr/>
        </p:nvSpPr>
        <p:spPr bwMode="auto">
          <a:xfrm>
            <a:off x="930275" y="3819525"/>
            <a:ext cx="1117600" cy="884238"/>
          </a:xfrm>
          <a:prstGeom prst="rect">
            <a:avLst/>
          </a:prstGeom>
          <a:solidFill>
            <a:srgbClr val="0000CC"/>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段</a:t>
            </a:r>
            <a:r>
              <a:rPr kumimoji="0" lang="en-US" altLang="zh-CN" sz="2000">
                <a:solidFill>
                  <a:schemeClr val="bg1"/>
                </a:solidFill>
                <a:latin typeface="楷体_GB2312" pitchFamily="49" charset="-122"/>
              </a:rPr>
              <a:t>2</a:t>
            </a:r>
          </a:p>
        </p:txBody>
      </p:sp>
      <p:sp>
        <p:nvSpPr>
          <p:cNvPr id="93260" name="Rectangle 76">
            <a:extLst>
              <a:ext uri="{FF2B5EF4-FFF2-40B4-BE49-F238E27FC236}">
                <a16:creationId xmlns:a16="http://schemas.microsoft.com/office/drawing/2014/main" id="{8CE2A8C7-2E57-4230-892E-C258AE891C99}"/>
              </a:ext>
            </a:extLst>
          </p:cNvPr>
          <p:cNvSpPr>
            <a:spLocks noChangeArrowheads="1"/>
          </p:cNvSpPr>
          <p:nvPr/>
        </p:nvSpPr>
        <p:spPr bwMode="auto">
          <a:xfrm>
            <a:off x="925513" y="4806950"/>
            <a:ext cx="1117600" cy="360363"/>
          </a:xfrm>
          <a:prstGeom prst="rect">
            <a:avLst/>
          </a:prstGeom>
          <a:solidFill>
            <a:srgbClr val="0000CC"/>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段</a:t>
            </a:r>
            <a:r>
              <a:rPr kumimoji="0" lang="en-US" altLang="zh-CN" sz="2000">
                <a:solidFill>
                  <a:schemeClr val="bg1"/>
                </a:solidFill>
                <a:latin typeface="楷体_GB2312" pitchFamily="49" charset="-122"/>
              </a:rPr>
              <a:t>3</a:t>
            </a:r>
          </a:p>
        </p:txBody>
      </p:sp>
      <p:sp>
        <p:nvSpPr>
          <p:cNvPr id="93261" name="Rectangle 77">
            <a:extLst>
              <a:ext uri="{FF2B5EF4-FFF2-40B4-BE49-F238E27FC236}">
                <a16:creationId xmlns:a16="http://schemas.microsoft.com/office/drawing/2014/main" id="{D6C5D1C2-3D72-4AF5-A2AD-4BEBEE6BB634}"/>
              </a:ext>
            </a:extLst>
          </p:cNvPr>
          <p:cNvSpPr>
            <a:spLocks noChangeArrowheads="1"/>
          </p:cNvSpPr>
          <p:nvPr/>
        </p:nvSpPr>
        <p:spPr bwMode="auto">
          <a:xfrm>
            <a:off x="925513" y="5273675"/>
            <a:ext cx="1117600" cy="534988"/>
          </a:xfrm>
          <a:prstGeom prst="rect">
            <a:avLst/>
          </a:prstGeom>
          <a:solidFill>
            <a:srgbClr val="0000CC"/>
          </a:solidFill>
          <a:ln w="19050">
            <a:solidFill>
              <a:schemeClr val="tx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段</a:t>
            </a:r>
            <a:r>
              <a:rPr kumimoji="0" lang="en-US" altLang="zh-CN" sz="2000">
                <a:solidFill>
                  <a:schemeClr val="bg1"/>
                </a:solidFill>
                <a:latin typeface="楷体_GB2312" pitchFamily="49" charset="-122"/>
              </a:rPr>
              <a:t>4</a:t>
            </a:r>
          </a:p>
        </p:txBody>
      </p:sp>
      <p:sp>
        <p:nvSpPr>
          <p:cNvPr id="93262" name="Text Box 78">
            <a:extLst>
              <a:ext uri="{FF2B5EF4-FFF2-40B4-BE49-F238E27FC236}">
                <a16:creationId xmlns:a16="http://schemas.microsoft.com/office/drawing/2014/main" id="{4EAE4DDB-CAB1-4E1E-AE41-4887D0C6F140}"/>
              </a:ext>
            </a:extLst>
          </p:cNvPr>
          <p:cNvSpPr txBox="1">
            <a:spLocks noChangeArrowheads="1"/>
          </p:cNvSpPr>
          <p:nvPr/>
        </p:nvSpPr>
        <p:spPr bwMode="auto">
          <a:xfrm>
            <a:off x="395288" y="3265488"/>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2K</a:t>
            </a:r>
          </a:p>
        </p:txBody>
      </p:sp>
      <p:sp>
        <p:nvSpPr>
          <p:cNvPr id="93263" name="Text Box 79">
            <a:extLst>
              <a:ext uri="{FF2B5EF4-FFF2-40B4-BE49-F238E27FC236}">
                <a16:creationId xmlns:a16="http://schemas.microsoft.com/office/drawing/2014/main" id="{CB74AA5C-2FC6-4A9B-BE8F-03F4F7CEFDFC}"/>
              </a:ext>
            </a:extLst>
          </p:cNvPr>
          <p:cNvSpPr txBox="1">
            <a:spLocks noChangeArrowheads="1"/>
          </p:cNvSpPr>
          <p:nvPr/>
        </p:nvSpPr>
        <p:spPr bwMode="auto">
          <a:xfrm>
            <a:off x="381000" y="4862513"/>
            <a:ext cx="522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1K</a:t>
            </a:r>
          </a:p>
        </p:txBody>
      </p:sp>
      <p:sp>
        <p:nvSpPr>
          <p:cNvPr id="93264" name="Text Box 80">
            <a:extLst>
              <a:ext uri="{FF2B5EF4-FFF2-40B4-BE49-F238E27FC236}">
                <a16:creationId xmlns:a16="http://schemas.microsoft.com/office/drawing/2014/main" id="{2C38E79C-04B6-4B6D-9FD0-7314E6B79963}"/>
              </a:ext>
            </a:extLst>
          </p:cNvPr>
          <p:cNvSpPr txBox="1">
            <a:spLocks noChangeArrowheads="1"/>
          </p:cNvSpPr>
          <p:nvPr/>
        </p:nvSpPr>
        <p:spPr bwMode="auto">
          <a:xfrm>
            <a:off x="381000" y="5313363"/>
            <a:ext cx="522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2K</a:t>
            </a:r>
          </a:p>
        </p:txBody>
      </p:sp>
      <p:sp>
        <p:nvSpPr>
          <p:cNvPr id="93265" name="Text Box 81">
            <a:extLst>
              <a:ext uri="{FF2B5EF4-FFF2-40B4-BE49-F238E27FC236}">
                <a16:creationId xmlns:a16="http://schemas.microsoft.com/office/drawing/2014/main" id="{9EC8A41A-6C0B-4FFE-97E9-2E9A7CED82A8}"/>
              </a:ext>
            </a:extLst>
          </p:cNvPr>
          <p:cNvSpPr txBox="1">
            <a:spLocks noChangeArrowheads="1"/>
          </p:cNvSpPr>
          <p:nvPr/>
        </p:nvSpPr>
        <p:spPr bwMode="auto">
          <a:xfrm>
            <a:off x="395288" y="4122738"/>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3K</a:t>
            </a:r>
          </a:p>
        </p:txBody>
      </p:sp>
      <p:sp>
        <p:nvSpPr>
          <p:cNvPr id="93266" name="Text Box 82">
            <a:extLst>
              <a:ext uri="{FF2B5EF4-FFF2-40B4-BE49-F238E27FC236}">
                <a16:creationId xmlns:a16="http://schemas.microsoft.com/office/drawing/2014/main" id="{39AAC910-3C13-4830-97C6-F0408ECED722}"/>
              </a:ext>
            </a:extLst>
          </p:cNvPr>
          <p:cNvSpPr txBox="1">
            <a:spLocks noChangeArrowheads="1"/>
          </p:cNvSpPr>
          <p:nvPr/>
        </p:nvSpPr>
        <p:spPr bwMode="auto">
          <a:xfrm>
            <a:off x="327025" y="2454275"/>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1800">
                <a:latin typeface="Tahoma" panose="020B0604030504040204" pitchFamily="34" charset="0"/>
              </a:rPr>
              <a:t>长度</a:t>
            </a:r>
          </a:p>
        </p:txBody>
      </p:sp>
      <p:sp>
        <p:nvSpPr>
          <p:cNvPr id="93267" name="Text Box 83">
            <a:extLst>
              <a:ext uri="{FF2B5EF4-FFF2-40B4-BE49-F238E27FC236}">
                <a16:creationId xmlns:a16="http://schemas.microsoft.com/office/drawing/2014/main" id="{6FC4AE93-FC77-42AA-8E20-65562FD8BBE6}"/>
              </a:ext>
            </a:extLst>
          </p:cNvPr>
          <p:cNvSpPr txBox="1">
            <a:spLocks noChangeArrowheads="1"/>
          </p:cNvSpPr>
          <p:nvPr/>
        </p:nvSpPr>
        <p:spPr bwMode="auto">
          <a:xfrm>
            <a:off x="600075" y="1936750"/>
            <a:ext cx="1717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rPr>
              <a:t>程序分段空间</a:t>
            </a:r>
          </a:p>
          <a:p>
            <a:pPr algn="ctr" eaLnBrk="1" hangingPunct="1">
              <a:spcBef>
                <a:spcPct val="0"/>
              </a:spcBef>
              <a:buClrTx/>
              <a:buFontTx/>
              <a:buNone/>
            </a:pPr>
            <a:r>
              <a:rPr kumimoji="0" lang="zh-CN" altLang="en-US" sz="2000">
                <a:latin typeface="Tahoma" panose="020B0604030504040204" pitchFamily="34" charset="0"/>
              </a:rPr>
              <a:t>（外存）</a:t>
            </a:r>
          </a:p>
        </p:txBody>
      </p:sp>
      <p:sp>
        <p:nvSpPr>
          <p:cNvPr id="93268" name="Line 84">
            <a:extLst>
              <a:ext uri="{FF2B5EF4-FFF2-40B4-BE49-F238E27FC236}">
                <a16:creationId xmlns:a16="http://schemas.microsoft.com/office/drawing/2014/main" id="{2383B935-4E70-47ED-9D6B-172D74A76C1A}"/>
              </a:ext>
            </a:extLst>
          </p:cNvPr>
          <p:cNvSpPr>
            <a:spLocks noChangeShapeType="1"/>
          </p:cNvSpPr>
          <p:nvPr/>
        </p:nvSpPr>
        <p:spPr bwMode="auto">
          <a:xfrm>
            <a:off x="2038350" y="2855913"/>
            <a:ext cx="827088" cy="13017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3269" name="Line 85">
            <a:extLst>
              <a:ext uri="{FF2B5EF4-FFF2-40B4-BE49-F238E27FC236}">
                <a16:creationId xmlns:a16="http://schemas.microsoft.com/office/drawing/2014/main" id="{ED7D2F76-F1D4-4520-839A-68E51E5665A7}"/>
              </a:ext>
            </a:extLst>
          </p:cNvPr>
          <p:cNvSpPr>
            <a:spLocks noChangeShapeType="1"/>
          </p:cNvSpPr>
          <p:nvPr/>
        </p:nvSpPr>
        <p:spPr bwMode="auto">
          <a:xfrm flipV="1">
            <a:off x="2043113" y="3668713"/>
            <a:ext cx="808037" cy="5556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3270" name="Line 86">
            <a:extLst>
              <a:ext uri="{FF2B5EF4-FFF2-40B4-BE49-F238E27FC236}">
                <a16:creationId xmlns:a16="http://schemas.microsoft.com/office/drawing/2014/main" id="{1FBDAD1E-0BBE-4C57-8D01-996BA351F066}"/>
              </a:ext>
            </a:extLst>
          </p:cNvPr>
          <p:cNvSpPr>
            <a:spLocks noChangeShapeType="1"/>
          </p:cNvSpPr>
          <p:nvPr/>
        </p:nvSpPr>
        <p:spPr bwMode="auto">
          <a:xfrm flipV="1">
            <a:off x="2047875" y="4002088"/>
            <a:ext cx="817563" cy="97313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3271" name="Line 87">
            <a:extLst>
              <a:ext uri="{FF2B5EF4-FFF2-40B4-BE49-F238E27FC236}">
                <a16:creationId xmlns:a16="http://schemas.microsoft.com/office/drawing/2014/main" id="{B2FF9E6B-2654-4CC9-899D-693320A0789C}"/>
              </a:ext>
            </a:extLst>
          </p:cNvPr>
          <p:cNvSpPr>
            <a:spLocks noChangeShapeType="1"/>
          </p:cNvSpPr>
          <p:nvPr/>
        </p:nvSpPr>
        <p:spPr bwMode="auto">
          <a:xfrm flipV="1">
            <a:off x="2043113" y="4435475"/>
            <a:ext cx="822325" cy="109061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a:extLst>
              <a:ext uri="{FF2B5EF4-FFF2-40B4-BE49-F238E27FC236}">
                <a16:creationId xmlns:a16="http://schemas.microsoft.com/office/drawing/2014/main" id="{1B3F9D0C-6635-4D9E-8081-12CDB9A27ECD}"/>
              </a:ext>
            </a:extLst>
          </p:cNvPr>
          <p:cNvSpPr>
            <a:spLocks noGrp="1" noChangeArrowheads="1"/>
          </p:cNvSpPr>
          <p:nvPr>
            <p:ph type="title"/>
          </p:nvPr>
        </p:nvSpPr>
        <p:spPr/>
        <p:txBody>
          <a:bodyPr/>
          <a:lstStyle/>
          <a:p>
            <a:pPr eaLnBrk="1" hangingPunct="1">
              <a:defRPr/>
            </a:pPr>
            <a:r>
              <a:rPr lang="zh-CN" altLang="en-US"/>
              <a:t>段式虚拟存储器（</a:t>
            </a:r>
            <a:r>
              <a:rPr lang="en-US" altLang="zh-CN"/>
              <a:t>2</a:t>
            </a:r>
            <a:r>
              <a:rPr lang="zh-CN" altLang="en-US"/>
              <a:t>）</a:t>
            </a:r>
          </a:p>
        </p:txBody>
      </p:sp>
      <p:sp>
        <p:nvSpPr>
          <p:cNvPr id="94211" name="Rectangle 3">
            <a:extLst>
              <a:ext uri="{FF2B5EF4-FFF2-40B4-BE49-F238E27FC236}">
                <a16:creationId xmlns:a16="http://schemas.microsoft.com/office/drawing/2014/main" id="{3DC17388-F24A-473C-9528-9DA96EBAD406}"/>
              </a:ext>
            </a:extLst>
          </p:cNvPr>
          <p:cNvSpPr>
            <a:spLocks noGrp="1" noChangeArrowheads="1"/>
          </p:cNvSpPr>
          <p:nvPr>
            <p:ph idx="1"/>
          </p:nvPr>
        </p:nvSpPr>
        <p:spPr/>
        <p:txBody>
          <a:bodyPr/>
          <a:lstStyle/>
          <a:p>
            <a:pPr eaLnBrk="1" hangingPunct="1"/>
            <a:r>
              <a:rPr kumimoji="0" lang="zh-CN" altLang="en-US" sz="2400" dirty="0"/>
              <a:t>根据</a:t>
            </a:r>
            <a:r>
              <a:rPr kumimoji="0" lang="zh-CN" altLang="en-US" sz="2400" u="sng" dirty="0"/>
              <a:t>段表基址寄存器</a:t>
            </a:r>
            <a:r>
              <a:rPr kumimoji="0" lang="zh-CN" altLang="en-US" sz="2400" dirty="0"/>
              <a:t>和段号在段表中找到相应的段记录</a:t>
            </a:r>
          </a:p>
          <a:p>
            <a:pPr eaLnBrk="1" hangingPunct="1"/>
            <a:r>
              <a:rPr kumimoji="0" lang="zh-CN" altLang="en-US" sz="2400" dirty="0"/>
              <a:t>如果对应的段已装入主存，则称页命中，根据段起址和段内地址得到物理地址</a:t>
            </a:r>
          </a:p>
          <a:p>
            <a:pPr eaLnBrk="1" hangingPunct="1"/>
            <a:r>
              <a:rPr kumimoji="0" lang="zh-CN" altLang="en-US" sz="2400" dirty="0"/>
              <a:t>如果尚未装入主存，则页错，根据替换策略进行替换</a:t>
            </a:r>
          </a:p>
        </p:txBody>
      </p:sp>
      <p:sp>
        <p:nvSpPr>
          <p:cNvPr id="94213" name="Line 5">
            <a:extLst>
              <a:ext uri="{FF2B5EF4-FFF2-40B4-BE49-F238E27FC236}">
                <a16:creationId xmlns:a16="http://schemas.microsoft.com/office/drawing/2014/main" id="{3CE90018-37EC-4551-AE5B-438F36DED897}"/>
              </a:ext>
            </a:extLst>
          </p:cNvPr>
          <p:cNvSpPr>
            <a:spLocks noChangeShapeType="1"/>
          </p:cNvSpPr>
          <p:nvPr/>
        </p:nvSpPr>
        <p:spPr bwMode="auto">
          <a:xfrm>
            <a:off x="5319713" y="3508375"/>
            <a:ext cx="0" cy="33337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214" name="Rectangle 6">
            <a:extLst>
              <a:ext uri="{FF2B5EF4-FFF2-40B4-BE49-F238E27FC236}">
                <a16:creationId xmlns:a16="http://schemas.microsoft.com/office/drawing/2014/main" id="{4D50AC3B-5931-45BB-9F5B-D1B832DC0F62}"/>
              </a:ext>
            </a:extLst>
          </p:cNvPr>
          <p:cNvSpPr>
            <a:spLocks noChangeArrowheads="1"/>
          </p:cNvSpPr>
          <p:nvPr/>
        </p:nvSpPr>
        <p:spPr bwMode="auto">
          <a:xfrm>
            <a:off x="1338263" y="3043238"/>
            <a:ext cx="1871662"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2400" dirty="0">
                <a:solidFill>
                  <a:schemeClr val="bg1"/>
                </a:solidFill>
                <a:latin typeface="楷体" panose="02010609060101010101" pitchFamily="49" charset="-122"/>
                <a:ea typeface="楷体" panose="02010609060101010101" pitchFamily="49" charset="-122"/>
              </a:rPr>
              <a:t>段表基地址</a:t>
            </a:r>
          </a:p>
        </p:txBody>
      </p:sp>
      <p:sp>
        <p:nvSpPr>
          <p:cNvPr id="94215" name="Rectangle 7">
            <a:extLst>
              <a:ext uri="{FF2B5EF4-FFF2-40B4-BE49-F238E27FC236}">
                <a16:creationId xmlns:a16="http://schemas.microsoft.com/office/drawing/2014/main" id="{C81AE9BF-6401-4861-9287-0C2E3E020ECF}"/>
              </a:ext>
            </a:extLst>
          </p:cNvPr>
          <p:cNvSpPr>
            <a:spLocks noChangeArrowheads="1"/>
          </p:cNvSpPr>
          <p:nvPr/>
        </p:nvSpPr>
        <p:spPr bwMode="auto">
          <a:xfrm>
            <a:off x="4622800" y="3057525"/>
            <a:ext cx="1349375"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400" dirty="0">
                <a:solidFill>
                  <a:schemeClr val="bg1"/>
                </a:solidFill>
                <a:latin typeface="楷体" panose="02010609060101010101" pitchFamily="49" charset="-122"/>
                <a:ea typeface="楷体" panose="02010609060101010101" pitchFamily="49" charset="-122"/>
              </a:rPr>
              <a:t>段号</a:t>
            </a:r>
          </a:p>
        </p:txBody>
      </p:sp>
      <p:sp>
        <p:nvSpPr>
          <p:cNvPr id="94216" name="Rectangle 8">
            <a:extLst>
              <a:ext uri="{FF2B5EF4-FFF2-40B4-BE49-F238E27FC236}">
                <a16:creationId xmlns:a16="http://schemas.microsoft.com/office/drawing/2014/main" id="{F04A3E91-BA8D-4EB7-9F3D-A1E53EF8CACF}"/>
              </a:ext>
            </a:extLst>
          </p:cNvPr>
          <p:cNvSpPr>
            <a:spLocks noChangeArrowheads="1"/>
          </p:cNvSpPr>
          <p:nvPr/>
        </p:nvSpPr>
        <p:spPr bwMode="auto">
          <a:xfrm>
            <a:off x="5973763" y="3057525"/>
            <a:ext cx="1914525"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400" dirty="0">
                <a:solidFill>
                  <a:schemeClr val="bg1"/>
                </a:solidFill>
                <a:latin typeface="楷体" panose="02010609060101010101" pitchFamily="49" charset="-122"/>
                <a:ea typeface="楷体" panose="02010609060101010101" pitchFamily="49" charset="-122"/>
              </a:rPr>
              <a:t>段内地址</a:t>
            </a:r>
          </a:p>
        </p:txBody>
      </p:sp>
      <p:sp>
        <p:nvSpPr>
          <p:cNvPr id="94217" name="Text Box 9">
            <a:extLst>
              <a:ext uri="{FF2B5EF4-FFF2-40B4-BE49-F238E27FC236}">
                <a16:creationId xmlns:a16="http://schemas.microsoft.com/office/drawing/2014/main" id="{25599E19-1547-45A7-BC27-00DECC685A0C}"/>
              </a:ext>
            </a:extLst>
          </p:cNvPr>
          <p:cNvSpPr txBox="1">
            <a:spLocks noChangeArrowheads="1"/>
          </p:cNvSpPr>
          <p:nvPr/>
        </p:nvSpPr>
        <p:spPr bwMode="auto">
          <a:xfrm>
            <a:off x="1331913" y="2667000"/>
            <a:ext cx="1973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None/>
            </a:pPr>
            <a:r>
              <a:rPr kumimoji="0" lang="zh-CN" altLang="en-US" sz="2000" dirty="0">
                <a:latin typeface="楷体" panose="02010609060101010101" pitchFamily="49" charset="-122"/>
                <a:ea typeface="楷体" panose="02010609060101010101" pitchFamily="49" charset="-122"/>
              </a:rPr>
              <a:t>段表基址寄存器</a:t>
            </a:r>
          </a:p>
        </p:txBody>
      </p:sp>
      <p:sp>
        <p:nvSpPr>
          <p:cNvPr id="94218" name="Text Box 10">
            <a:extLst>
              <a:ext uri="{FF2B5EF4-FFF2-40B4-BE49-F238E27FC236}">
                <a16:creationId xmlns:a16="http://schemas.microsoft.com/office/drawing/2014/main" id="{DD065A6A-DD5A-472D-8BF6-F11D37C8621F}"/>
              </a:ext>
            </a:extLst>
          </p:cNvPr>
          <p:cNvSpPr txBox="1">
            <a:spLocks noChangeArrowheads="1"/>
          </p:cNvSpPr>
          <p:nvPr/>
        </p:nvSpPr>
        <p:spPr bwMode="auto">
          <a:xfrm>
            <a:off x="5667375" y="2684463"/>
            <a:ext cx="1217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000" dirty="0">
                <a:latin typeface="楷体" panose="02010609060101010101" pitchFamily="49" charset="-122"/>
                <a:ea typeface="楷体" panose="02010609060101010101" pitchFamily="49" charset="-122"/>
              </a:rPr>
              <a:t>虚拟地址</a:t>
            </a:r>
          </a:p>
        </p:txBody>
      </p:sp>
      <p:graphicFrame>
        <p:nvGraphicFramePr>
          <p:cNvPr id="828427" name="Group 11">
            <a:extLst>
              <a:ext uri="{FF2B5EF4-FFF2-40B4-BE49-F238E27FC236}">
                <a16:creationId xmlns:a16="http://schemas.microsoft.com/office/drawing/2014/main" id="{399AA1E4-3CDD-4EFE-9B8D-2143121B6CD7}"/>
              </a:ext>
            </a:extLst>
          </p:cNvPr>
          <p:cNvGraphicFramePr>
            <a:graphicFrameLocks noGrp="1"/>
          </p:cNvGraphicFramePr>
          <p:nvPr>
            <p:extLst>
              <p:ext uri="{D42A27DB-BD31-4B8C-83A1-F6EECF244321}">
                <p14:modId xmlns:p14="http://schemas.microsoft.com/office/powerpoint/2010/main" val="374028882"/>
              </p:ext>
            </p:extLst>
          </p:nvPr>
        </p:nvGraphicFramePr>
        <p:xfrm>
          <a:off x="2660650" y="4408488"/>
          <a:ext cx="2792413" cy="1828800"/>
        </p:xfrm>
        <a:graphic>
          <a:graphicData uri="http://schemas.openxmlformats.org/drawingml/2006/table">
            <a:tbl>
              <a:tblPr/>
              <a:tblGrid>
                <a:gridCol w="992188">
                  <a:extLst>
                    <a:ext uri="{9D8B030D-6E8A-4147-A177-3AD203B41FA5}">
                      <a16:colId xmlns:a16="http://schemas.microsoft.com/office/drawing/2014/main" val="4280874321"/>
                    </a:ext>
                  </a:extLst>
                </a:gridCol>
                <a:gridCol w="987425">
                  <a:extLst>
                    <a:ext uri="{9D8B030D-6E8A-4147-A177-3AD203B41FA5}">
                      <a16:colId xmlns:a16="http://schemas.microsoft.com/office/drawing/2014/main" val="219600377"/>
                    </a:ext>
                  </a:extLst>
                </a:gridCol>
                <a:gridCol w="812800">
                  <a:extLst>
                    <a:ext uri="{9D8B030D-6E8A-4147-A177-3AD203B41FA5}">
                      <a16:colId xmlns:a16="http://schemas.microsoft.com/office/drawing/2014/main" val="1421005917"/>
                    </a:ext>
                  </a:extLst>
                </a:gridCol>
              </a:tblGrid>
              <a:tr h="30480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段起址</a:t>
                      </a:r>
                    </a:p>
                  </a:txBody>
                  <a:tcPr marL="90000" marR="90000" marT="0" marB="0"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装入位</a:t>
                      </a:r>
                    </a:p>
                  </a:txBody>
                  <a:tcPr marL="90000" marR="90000" marT="0" marB="0" horzOverflow="overflow">
                    <a:lnL w="19050" cap="flat" cmpd="sng" algn="ctr">
                      <a:solidFill>
                        <a:schemeClr val="tx1"/>
                      </a:solidFill>
                      <a:prstDash val="dash"/>
                      <a:round/>
                      <a:headEnd type="none" w="med" len="med"/>
                      <a:tailEnd type="none" w="lg" len="lg"/>
                    </a:lnL>
                    <a:lnR w="19050" cap="flat" cmpd="sng" algn="ctr">
                      <a:solidFill>
                        <a:schemeClr val="tx1"/>
                      </a:solidFill>
                      <a:prstDash val="dash"/>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段长</a:t>
                      </a:r>
                    </a:p>
                  </a:txBody>
                  <a:tcPr marL="90000" marR="90000" marT="0" marB="0"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2543363066"/>
                  </a:ext>
                </a:extLst>
              </a:tr>
              <a:tr h="30480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912214472"/>
                  </a:ext>
                </a:extLst>
              </a:tr>
              <a:tr h="30480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905343552"/>
                  </a:ext>
                </a:extLst>
              </a:tr>
              <a:tr h="30480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262223070"/>
                  </a:ext>
                </a:extLst>
              </a:tr>
              <a:tr h="30480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94633749"/>
                  </a:ext>
                </a:extLst>
              </a:tr>
              <a:tr h="304800">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90000" marR="90000" marT="0" marB="0"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462729221"/>
                  </a:ext>
                </a:extLst>
              </a:tr>
            </a:tbl>
          </a:graphicData>
        </a:graphic>
      </p:graphicFrame>
      <p:sp>
        <p:nvSpPr>
          <p:cNvPr id="94249" name="Text Box 41">
            <a:extLst>
              <a:ext uri="{FF2B5EF4-FFF2-40B4-BE49-F238E27FC236}">
                <a16:creationId xmlns:a16="http://schemas.microsoft.com/office/drawing/2014/main" id="{4CF6EB4C-C428-49EF-B58F-8E5B2A9E24D1}"/>
              </a:ext>
            </a:extLst>
          </p:cNvPr>
          <p:cNvSpPr txBox="1">
            <a:spLocks noChangeArrowheads="1"/>
          </p:cNvSpPr>
          <p:nvPr/>
        </p:nvSpPr>
        <p:spPr bwMode="auto">
          <a:xfrm>
            <a:off x="2997200" y="6232525"/>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None/>
            </a:pPr>
            <a:r>
              <a:rPr kumimoji="0" lang="zh-CN" altLang="en-US" sz="2000" dirty="0">
                <a:latin typeface="楷体" panose="02010609060101010101" pitchFamily="49" charset="-122"/>
                <a:ea typeface="楷体" panose="02010609060101010101" pitchFamily="49" charset="-122"/>
              </a:rPr>
              <a:t>段表（在主存中）</a:t>
            </a:r>
          </a:p>
        </p:txBody>
      </p:sp>
      <p:sp>
        <p:nvSpPr>
          <p:cNvPr id="94250" name="Line 42">
            <a:extLst>
              <a:ext uri="{FF2B5EF4-FFF2-40B4-BE49-F238E27FC236}">
                <a16:creationId xmlns:a16="http://schemas.microsoft.com/office/drawing/2014/main" id="{4A55A484-4D3C-4CDB-A17F-E33F6E84AAF0}"/>
              </a:ext>
            </a:extLst>
          </p:cNvPr>
          <p:cNvSpPr>
            <a:spLocks noChangeShapeType="1"/>
          </p:cNvSpPr>
          <p:nvPr/>
        </p:nvSpPr>
        <p:spPr bwMode="auto">
          <a:xfrm>
            <a:off x="1704975" y="4870450"/>
            <a:ext cx="7112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251" name="Line 43">
            <a:extLst>
              <a:ext uri="{FF2B5EF4-FFF2-40B4-BE49-F238E27FC236}">
                <a16:creationId xmlns:a16="http://schemas.microsoft.com/office/drawing/2014/main" id="{E993D814-E2D1-4C4A-B78C-909ED9FE3534}"/>
              </a:ext>
            </a:extLst>
          </p:cNvPr>
          <p:cNvSpPr>
            <a:spLocks noChangeShapeType="1"/>
          </p:cNvSpPr>
          <p:nvPr/>
        </p:nvSpPr>
        <p:spPr bwMode="auto">
          <a:xfrm>
            <a:off x="1689100" y="3535363"/>
            <a:ext cx="0" cy="17716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252" name="Oval 44">
            <a:extLst>
              <a:ext uri="{FF2B5EF4-FFF2-40B4-BE49-F238E27FC236}">
                <a16:creationId xmlns:a16="http://schemas.microsoft.com/office/drawing/2014/main" id="{61C79429-7D58-4AD0-B8FB-80C9A011DE48}"/>
              </a:ext>
            </a:extLst>
          </p:cNvPr>
          <p:cNvSpPr>
            <a:spLocks noChangeArrowheads="1"/>
          </p:cNvSpPr>
          <p:nvPr/>
        </p:nvSpPr>
        <p:spPr bwMode="auto">
          <a:xfrm>
            <a:off x="1528763" y="5322888"/>
            <a:ext cx="304800" cy="304800"/>
          </a:xfrm>
          <a:prstGeom prst="ellipse">
            <a:avLst/>
          </a:prstGeom>
          <a:solidFill>
            <a:schemeClr val="bg1"/>
          </a:solidFill>
          <a:ln w="19050">
            <a:solidFill>
              <a:schemeClr val="tx1"/>
            </a:solidFill>
            <a:round/>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4253" name="Text Box 45">
            <a:extLst>
              <a:ext uri="{FF2B5EF4-FFF2-40B4-BE49-F238E27FC236}">
                <a16:creationId xmlns:a16="http://schemas.microsoft.com/office/drawing/2014/main" id="{84086FC8-B530-46A6-9C83-5AC21DE54708}"/>
              </a:ext>
            </a:extLst>
          </p:cNvPr>
          <p:cNvSpPr txBox="1">
            <a:spLocks noChangeArrowheads="1"/>
          </p:cNvSpPr>
          <p:nvPr/>
        </p:nvSpPr>
        <p:spPr bwMode="auto">
          <a:xfrm>
            <a:off x="1408113" y="519588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800">
                <a:latin typeface="Tahoma" panose="020B0604030504040204" pitchFamily="34" charset="0"/>
                <a:ea typeface="宋体" panose="02010600030101010101" pitchFamily="2" charset="-122"/>
              </a:rPr>
              <a:t>＋</a:t>
            </a:r>
          </a:p>
        </p:txBody>
      </p:sp>
      <p:sp>
        <p:nvSpPr>
          <p:cNvPr id="94254" name="Line 46">
            <a:extLst>
              <a:ext uri="{FF2B5EF4-FFF2-40B4-BE49-F238E27FC236}">
                <a16:creationId xmlns:a16="http://schemas.microsoft.com/office/drawing/2014/main" id="{1429695F-9A8F-4FC0-AD4F-82F57267DAEB}"/>
              </a:ext>
            </a:extLst>
          </p:cNvPr>
          <p:cNvSpPr>
            <a:spLocks noChangeShapeType="1"/>
          </p:cNvSpPr>
          <p:nvPr/>
        </p:nvSpPr>
        <p:spPr bwMode="auto">
          <a:xfrm>
            <a:off x="993775" y="3825875"/>
            <a:ext cx="0" cy="165417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4255" name="Line 47">
            <a:extLst>
              <a:ext uri="{FF2B5EF4-FFF2-40B4-BE49-F238E27FC236}">
                <a16:creationId xmlns:a16="http://schemas.microsoft.com/office/drawing/2014/main" id="{991391EF-F7BC-46A6-BF95-713520D2F986}"/>
              </a:ext>
            </a:extLst>
          </p:cNvPr>
          <p:cNvSpPr>
            <a:spLocks noChangeShapeType="1"/>
          </p:cNvSpPr>
          <p:nvPr/>
        </p:nvSpPr>
        <p:spPr bwMode="auto">
          <a:xfrm>
            <a:off x="1855788" y="5492750"/>
            <a:ext cx="53975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256" name="Line 48">
            <a:extLst>
              <a:ext uri="{FF2B5EF4-FFF2-40B4-BE49-F238E27FC236}">
                <a16:creationId xmlns:a16="http://schemas.microsoft.com/office/drawing/2014/main" id="{CCAB184E-14FB-4421-9233-C4EB41BC0684}"/>
              </a:ext>
            </a:extLst>
          </p:cNvPr>
          <p:cNvSpPr>
            <a:spLocks noChangeShapeType="1"/>
          </p:cNvSpPr>
          <p:nvPr/>
        </p:nvSpPr>
        <p:spPr bwMode="auto">
          <a:xfrm flipH="1">
            <a:off x="1008063" y="3841750"/>
            <a:ext cx="4311650"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4257" name="Rectangle 49">
            <a:extLst>
              <a:ext uri="{FF2B5EF4-FFF2-40B4-BE49-F238E27FC236}">
                <a16:creationId xmlns:a16="http://schemas.microsoft.com/office/drawing/2014/main" id="{49726A2A-BEFC-41AA-A641-B5D12D7AA39C}"/>
              </a:ext>
            </a:extLst>
          </p:cNvPr>
          <p:cNvSpPr>
            <a:spLocks noChangeArrowheads="1"/>
          </p:cNvSpPr>
          <p:nvPr/>
        </p:nvSpPr>
        <p:spPr bwMode="auto">
          <a:xfrm>
            <a:off x="6002338" y="5638800"/>
            <a:ext cx="1914525"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None/>
            </a:pPr>
            <a:r>
              <a:rPr kumimoji="0" lang="zh-CN" altLang="en-US" sz="2400" dirty="0">
                <a:solidFill>
                  <a:schemeClr val="bg1"/>
                </a:solidFill>
                <a:latin typeface="楷体" panose="02010609060101010101" pitchFamily="49" charset="-122"/>
                <a:ea typeface="楷体" panose="02010609060101010101" pitchFamily="49" charset="-122"/>
              </a:rPr>
              <a:t>主存地址</a:t>
            </a:r>
          </a:p>
        </p:txBody>
      </p:sp>
      <p:sp>
        <p:nvSpPr>
          <p:cNvPr id="94258" name="Text Box 50">
            <a:extLst>
              <a:ext uri="{FF2B5EF4-FFF2-40B4-BE49-F238E27FC236}">
                <a16:creationId xmlns:a16="http://schemas.microsoft.com/office/drawing/2014/main" id="{92918666-847A-435D-BD77-3ACC56CEBD65}"/>
              </a:ext>
            </a:extLst>
          </p:cNvPr>
          <p:cNvSpPr txBox="1">
            <a:spLocks noChangeArrowheads="1"/>
          </p:cNvSpPr>
          <p:nvPr/>
        </p:nvSpPr>
        <p:spPr bwMode="auto">
          <a:xfrm>
            <a:off x="6257925" y="6078538"/>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400" dirty="0">
                <a:latin typeface="楷体" panose="02010609060101010101" pitchFamily="49" charset="-122"/>
                <a:ea typeface="楷体" panose="02010609060101010101" pitchFamily="49" charset="-122"/>
              </a:rPr>
              <a:t>物理地址</a:t>
            </a:r>
          </a:p>
        </p:txBody>
      </p:sp>
      <p:sp>
        <p:nvSpPr>
          <p:cNvPr id="94259" name="Line 51">
            <a:extLst>
              <a:ext uri="{FF2B5EF4-FFF2-40B4-BE49-F238E27FC236}">
                <a16:creationId xmlns:a16="http://schemas.microsoft.com/office/drawing/2014/main" id="{5CE8ECDF-CB6D-44FF-B9F6-497FB847599C}"/>
              </a:ext>
            </a:extLst>
          </p:cNvPr>
          <p:cNvSpPr>
            <a:spLocks noChangeShapeType="1"/>
          </p:cNvSpPr>
          <p:nvPr/>
        </p:nvSpPr>
        <p:spPr bwMode="auto">
          <a:xfrm>
            <a:off x="6945313" y="3549650"/>
            <a:ext cx="0" cy="207486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260" name="Line 52">
            <a:extLst>
              <a:ext uri="{FF2B5EF4-FFF2-40B4-BE49-F238E27FC236}">
                <a16:creationId xmlns:a16="http://schemas.microsoft.com/office/drawing/2014/main" id="{2A23A19C-CD78-4000-835F-0E04A68DA8DD}"/>
              </a:ext>
            </a:extLst>
          </p:cNvPr>
          <p:cNvSpPr>
            <a:spLocks noChangeShapeType="1"/>
          </p:cNvSpPr>
          <p:nvPr/>
        </p:nvSpPr>
        <p:spPr bwMode="auto">
          <a:xfrm>
            <a:off x="3228975" y="4130675"/>
            <a:ext cx="354171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261" name="Line 53">
            <a:extLst>
              <a:ext uri="{FF2B5EF4-FFF2-40B4-BE49-F238E27FC236}">
                <a16:creationId xmlns:a16="http://schemas.microsoft.com/office/drawing/2014/main" id="{72EDC42A-E08B-4DD4-810A-21ED8B42BD97}"/>
              </a:ext>
            </a:extLst>
          </p:cNvPr>
          <p:cNvSpPr>
            <a:spLocks noChangeShapeType="1"/>
          </p:cNvSpPr>
          <p:nvPr/>
        </p:nvSpPr>
        <p:spPr bwMode="auto">
          <a:xfrm>
            <a:off x="3228975" y="4130675"/>
            <a:ext cx="0" cy="290513"/>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4262" name="Line 54">
            <a:extLst>
              <a:ext uri="{FF2B5EF4-FFF2-40B4-BE49-F238E27FC236}">
                <a16:creationId xmlns:a16="http://schemas.microsoft.com/office/drawing/2014/main" id="{639CCE08-4C50-4D7D-BC98-AFDA97E70362}"/>
              </a:ext>
            </a:extLst>
          </p:cNvPr>
          <p:cNvSpPr>
            <a:spLocks noChangeShapeType="1"/>
          </p:cNvSpPr>
          <p:nvPr/>
        </p:nvSpPr>
        <p:spPr bwMode="auto">
          <a:xfrm>
            <a:off x="989013" y="5478463"/>
            <a:ext cx="53975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4263" name="Text Box 55">
            <a:extLst>
              <a:ext uri="{FF2B5EF4-FFF2-40B4-BE49-F238E27FC236}">
                <a16:creationId xmlns:a16="http://schemas.microsoft.com/office/drawing/2014/main" id="{BA47638B-6E66-43CC-BAD3-C7EAB8F9628D}"/>
              </a:ext>
            </a:extLst>
          </p:cNvPr>
          <p:cNvSpPr txBox="1">
            <a:spLocks noChangeArrowheads="1"/>
          </p:cNvSpPr>
          <p:nvPr/>
        </p:nvSpPr>
        <p:spPr bwMode="auto">
          <a:xfrm>
            <a:off x="2341563" y="4633913"/>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0</a:t>
            </a:r>
          </a:p>
        </p:txBody>
      </p:sp>
      <p:sp>
        <p:nvSpPr>
          <p:cNvPr id="94264" name="Text Box 56">
            <a:extLst>
              <a:ext uri="{FF2B5EF4-FFF2-40B4-BE49-F238E27FC236}">
                <a16:creationId xmlns:a16="http://schemas.microsoft.com/office/drawing/2014/main" id="{978F8E4B-01C6-4603-B4B1-F47AC2DFD6D4}"/>
              </a:ext>
            </a:extLst>
          </p:cNvPr>
          <p:cNvSpPr txBox="1">
            <a:spLocks noChangeArrowheads="1"/>
          </p:cNvSpPr>
          <p:nvPr/>
        </p:nvSpPr>
        <p:spPr bwMode="auto">
          <a:xfrm>
            <a:off x="2341563" y="4940300"/>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1</a:t>
            </a:r>
          </a:p>
        </p:txBody>
      </p:sp>
      <p:sp>
        <p:nvSpPr>
          <p:cNvPr id="94265" name="Text Box 57">
            <a:extLst>
              <a:ext uri="{FF2B5EF4-FFF2-40B4-BE49-F238E27FC236}">
                <a16:creationId xmlns:a16="http://schemas.microsoft.com/office/drawing/2014/main" id="{0DA70DE1-8E34-481D-8E03-232D8467E5A9}"/>
              </a:ext>
            </a:extLst>
          </p:cNvPr>
          <p:cNvSpPr txBox="1">
            <a:spLocks noChangeArrowheads="1"/>
          </p:cNvSpPr>
          <p:nvPr/>
        </p:nvSpPr>
        <p:spPr bwMode="auto">
          <a:xfrm>
            <a:off x="2327275" y="5245100"/>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2</a:t>
            </a:r>
          </a:p>
        </p:txBody>
      </p:sp>
      <p:sp>
        <p:nvSpPr>
          <p:cNvPr id="94266" name="Text Box 58">
            <a:extLst>
              <a:ext uri="{FF2B5EF4-FFF2-40B4-BE49-F238E27FC236}">
                <a16:creationId xmlns:a16="http://schemas.microsoft.com/office/drawing/2014/main" id="{091705E2-707F-4605-A47E-6C19045F95F8}"/>
              </a:ext>
            </a:extLst>
          </p:cNvPr>
          <p:cNvSpPr txBox="1">
            <a:spLocks noChangeArrowheads="1"/>
          </p:cNvSpPr>
          <p:nvPr/>
        </p:nvSpPr>
        <p:spPr bwMode="auto">
          <a:xfrm>
            <a:off x="2325688" y="5856288"/>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4</a:t>
            </a:r>
          </a:p>
        </p:txBody>
      </p:sp>
      <p:sp>
        <p:nvSpPr>
          <p:cNvPr id="94267" name="Text Box 59">
            <a:extLst>
              <a:ext uri="{FF2B5EF4-FFF2-40B4-BE49-F238E27FC236}">
                <a16:creationId xmlns:a16="http://schemas.microsoft.com/office/drawing/2014/main" id="{5866CA02-3CB7-4FDB-8B1C-5EF0F2A0430E}"/>
              </a:ext>
            </a:extLst>
          </p:cNvPr>
          <p:cNvSpPr txBox="1">
            <a:spLocks noChangeArrowheads="1"/>
          </p:cNvSpPr>
          <p:nvPr/>
        </p:nvSpPr>
        <p:spPr bwMode="auto">
          <a:xfrm>
            <a:off x="2338388" y="5565775"/>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3</a:t>
            </a:r>
          </a:p>
        </p:txBody>
      </p:sp>
      <p:sp>
        <p:nvSpPr>
          <p:cNvPr id="94268" name="Text Box 60">
            <a:extLst>
              <a:ext uri="{FF2B5EF4-FFF2-40B4-BE49-F238E27FC236}">
                <a16:creationId xmlns:a16="http://schemas.microsoft.com/office/drawing/2014/main" id="{D6D42E4A-9F10-4FFE-AFFD-E1D23D8D2BBB}"/>
              </a:ext>
            </a:extLst>
          </p:cNvPr>
          <p:cNvSpPr txBox="1">
            <a:spLocks noChangeArrowheads="1"/>
          </p:cNvSpPr>
          <p:nvPr/>
        </p:nvSpPr>
        <p:spPr bwMode="auto">
          <a:xfrm>
            <a:off x="2005855" y="43053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None/>
            </a:pPr>
            <a:r>
              <a:rPr kumimoji="0" lang="zh-CN" altLang="en-US" sz="2000" dirty="0">
                <a:latin typeface="楷体" panose="02010609060101010101" pitchFamily="49" charset="-122"/>
                <a:ea typeface="楷体" panose="02010609060101010101" pitchFamily="49" charset="-122"/>
              </a:rPr>
              <a:t>段号</a:t>
            </a:r>
          </a:p>
        </p:txBody>
      </p:sp>
      <p:sp>
        <p:nvSpPr>
          <p:cNvPr id="94269" name="Oval 61">
            <a:extLst>
              <a:ext uri="{FF2B5EF4-FFF2-40B4-BE49-F238E27FC236}">
                <a16:creationId xmlns:a16="http://schemas.microsoft.com/office/drawing/2014/main" id="{F9894564-F350-466C-A68F-B8DFBCCA3987}"/>
              </a:ext>
            </a:extLst>
          </p:cNvPr>
          <p:cNvSpPr>
            <a:spLocks noChangeArrowheads="1"/>
          </p:cNvSpPr>
          <p:nvPr/>
        </p:nvSpPr>
        <p:spPr bwMode="auto">
          <a:xfrm>
            <a:off x="6797675" y="3960813"/>
            <a:ext cx="304800" cy="304800"/>
          </a:xfrm>
          <a:prstGeom prst="ellipse">
            <a:avLst/>
          </a:prstGeom>
          <a:solidFill>
            <a:schemeClr val="bg1"/>
          </a:solidFill>
          <a:ln w="19050">
            <a:solidFill>
              <a:schemeClr val="tx1"/>
            </a:solidFill>
            <a:round/>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4270" name="Text Box 62">
            <a:extLst>
              <a:ext uri="{FF2B5EF4-FFF2-40B4-BE49-F238E27FC236}">
                <a16:creationId xmlns:a16="http://schemas.microsoft.com/office/drawing/2014/main" id="{B37AF468-B0D4-41E5-BFD1-513771815C36}"/>
              </a:ext>
            </a:extLst>
          </p:cNvPr>
          <p:cNvSpPr txBox="1">
            <a:spLocks noChangeArrowheads="1"/>
          </p:cNvSpPr>
          <p:nvPr/>
        </p:nvSpPr>
        <p:spPr bwMode="auto">
          <a:xfrm>
            <a:off x="6677025" y="3833813"/>
            <a:ext cx="54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800">
                <a:latin typeface="Tahoma" panose="020B0604030504040204" pitchFamily="34" charset="0"/>
                <a:ea typeface="宋体" panose="02010600030101010101" pitchFamily="2" charset="-122"/>
              </a:rPr>
              <a:t>＋</a:t>
            </a:r>
          </a:p>
        </p:txBody>
      </p:sp>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a:extLst>
              <a:ext uri="{FF2B5EF4-FFF2-40B4-BE49-F238E27FC236}">
                <a16:creationId xmlns:a16="http://schemas.microsoft.com/office/drawing/2014/main" id="{E5C2AC4D-3C3F-4622-9B27-5DFBCDFF167B}"/>
              </a:ext>
            </a:extLst>
          </p:cNvPr>
          <p:cNvSpPr>
            <a:spLocks noGrp="1" noChangeArrowheads="1"/>
          </p:cNvSpPr>
          <p:nvPr>
            <p:ph type="title"/>
          </p:nvPr>
        </p:nvSpPr>
        <p:spPr/>
        <p:txBody>
          <a:bodyPr/>
          <a:lstStyle/>
          <a:p>
            <a:pPr eaLnBrk="1" hangingPunct="1">
              <a:defRPr/>
            </a:pPr>
            <a:r>
              <a:rPr lang="en-US" altLang="zh-CN"/>
              <a:t>2. </a:t>
            </a:r>
            <a:r>
              <a:rPr lang="zh-CN" altLang="en-US"/>
              <a:t>页式虚拟存储器（</a:t>
            </a:r>
            <a:r>
              <a:rPr lang="en-US" altLang="zh-CN"/>
              <a:t>1</a:t>
            </a:r>
            <a:r>
              <a:rPr lang="zh-CN" altLang="en-US"/>
              <a:t>）</a:t>
            </a:r>
          </a:p>
        </p:txBody>
      </p:sp>
      <p:sp>
        <p:nvSpPr>
          <p:cNvPr id="95235" name="Rectangle 3">
            <a:extLst>
              <a:ext uri="{FF2B5EF4-FFF2-40B4-BE49-F238E27FC236}">
                <a16:creationId xmlns:a16="http://schemas.microsoft.com/office/drawing/2014/main" id="{E99A6DA3-ED5A-426E-8B21-F56A12234E62}"/>
              </a:ext>
            </a:extLst>
          </p:cNvPr>
          <p:cNvSpPr>
            <a:spLocks noGrp="1" noChangeArrowheads="1"/>
          </p:cNvSpPr>
          <p:nvPr>
            <p:ph idx="1"/>
          </p:nvPr>
        </p:nvSpPr>
        <p:spPr/>
        <p:txBody>
          <a:bodyPr/>
          <a:lstStyle/>
          <a:p>
            <a:pPr eaLnBrk="1" hangingPunct="1"/>
            <a:r>
              <a:rPr lang="zh-CN" altLang="en-US"/>
              <a:t>把虚拟空间和主存空间都分成</a:t>
            </a:r>
            <a:r>
              <a:rPr lang="zh-CN" altLang="en-US">
                <a:solidFill>
                  <a:srgbClr val="CC3300"/>
                </a:solidFill>
              </a:rPr>
              <a:t>大小相同的页</a:t>
            </a:r>
            <a:r>
              <a:rPr lang="zh-CN" altLang="en-US"/>
              <a:t>（为二的整数幂个字），称为页面，并以页为单位进行虚存与主存间的信息交换。</a:t>
            </a:r>
          </a:p>
          <a:p>
            <a:pPr eaLnBrk="1" hangingPunct="1"/>
            <a:r>
              <a:rPr lang="zh-CN" altLang="en-US"/>
              <a:t>虚拟地址被分为：虚拟页号、页内地址；物理地址被分为：物理页号（</a:t>
            </a:r>
            <a:r>
              <a:rPr lang="zh-CN" altLang="en-US">
                <a:solidFill>
                  <a:srgbClr val="C00000"/>
                </a:solidFill>
              </a:rPr>
              <a:t>页框号</a:t>
            </a:r>
            <a:r>
              <a:rPr lang="zh-CN" altLang="en-US"/>
              <a:t>）、页内地址，尽管它们页号会不同，但使用相同的页内地址。</a:t>
            </a:r>
          </a:p>
          <a:p>
            <a:pPr eaLnBrk="1" hangingPunct="1"/>
            <a:r>
              <a:rPr lang="zh-CN" altLang="en-US"/>
              <a:t>与段式存储管理不同，页不是程序本身的结构特性，而是从管理的角度人为划分的结果。</a:t>
            </a:r>
          </a:p>
          <a:p>
            <a:pPr eaLnBrk="1" hangingPunct="1"/>
            <a:r>
              <a:rPr lang="zh-CN" altLang="en-US"/>
              <a:t>页式管理的缺点是处理、保护和共享都不如段式管理方便。</a:t>
            </a:r>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CC1B4-061D-4175-B271-F4A5892B03A8}"/>
              </a:ext>
            </a:extLst>
          </p:cNvPr>
          <p:cNvSpPr>
            <a:spLocks noGrp="1"/>
          </p:cNvSpPr>
          <p:nvPr>
            <p:ph type="title"/>
          </p:nvPr>
        </p:nvSpPr>
        <p:spPr/>
        <p:txBody>
          <a:bodyPr/>
          <a:lstStyle/>
          <a:p>
            <a:pPr>
              <a:defRPr/>
            </a:pPr>
            <a:r>
              <a:rPr lang="zh-CN" altLang="en-US"/>
              <a:t>页式存储管理示意图</a:t>
            </a:r>
          </a:p>
        </p:txBody>
      </p:sp>
      <p:sp>
        <p:nvSpPr>
          <p:cNvPr id="97283" name="内容占位符 2">
            <a:extLst>
              <a:ext uri="{FF2B5EF4-FFF2-40B4-BE49-F238E27FC236}">
                <a16:creationId xmlns:a16="http://schemas.microsoft.com/office/drawing/2014/main" id="{7E742743-C284-4C46-8AC0-2F2CB0472CE7}"/>
              </a:ext>
            </a:extLst>
          </p:cNvPr>
          <p:cNvSpPr>
            <a:spLocks noGrp="1" noChangeArrowheads="1"/>
          </p:cNvSpPr>
          <p:nvPr>
            <p:ph idx="1"/>
          </p:nvPr>
        </p:nvSpPr>
        <p:spPr/>
        <p:txBody>
          <a:bodyPr/>
          <a:lstStyle/>
          <a:p>
            <a:endParaRPr lang="zh-CN" altLang="en-US"/>
          </a:p>
        </p:txBody>
      </p:sp>
      <p:sp>
        <p:nvSpPr>
          <p:cNvPr id="5" name="Text Box 10">
            <a:extLst>
              <a:ext uri="{FF2B5EF4-FFF2-40B4-BE49-F238E27FC236}">
                <a16:creationId xmlns:a16="http://schemas.microsoft.com/office/drawing/2014/main" id="{83AA457B-C5EE-49DA-B8E1-5FFC7EB73935}"/>
              </a:ext>
            </a:extLst>
          </p:cNvPr>
          <p:cNvSpPr txBox="1">
            <a:spLocks noChangeArrowheads="1"/>
          </p:cNvSpPr>
          <p:nvPr/>
        </p:nvSpPr>
        <p:spPr bwMode="auto">
          <a:xfrm>
            <a:off x="2746375" y="5410200"/>
            <a:ext cx="1358900" cy="304800"/>
          </a:xfrm>
          <a:prstGeom prst="rect">
            <a:avLst/>
          </a:prstGeom>
          <a:solidFill>
            <a:srgbClr val="91919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2400" kern="0">
              <a:solidFill>
                <a:srgbClr val="000000"/>
              </a:solidFill>
              <a:latin typeface="Arial" panose="020B0604020202020204" pitchFamily="34" charset="0"/>
            </a:endParaRPr>
          </a:p>
        </p:txBody>
      </p:sp>
      <p:sp>
        <p:nvSpPr>
          <p:cNvPr id="6" name="Text Box 11">
            <a:extLst>
              <a:ext uri="{FF2B5EF4-FFF2-40B4-BE49-F238E27FC236}">
                <a16:creationId xmlns:a16="http://schemas.microsoft.com/office/drawing/2014/main" id="{CBE90368-43AB-46F9-BD17-94CAE0C8A662}"/>
              </a:ext>
            </a:extLst>
          </p:cNvPr>
          <p:cNvSpPr txBox="1">
            <a:spLocks noChangeArrowheads="1"/>
          </p:cNvSpPr>
          <p:nvPr/>
        </p:nvSpPr>
        <p:spPr bwMode="auto">
          <a:xfrm>
            <a:off x="2746375" y="4800600"/>
            <a:ext cx="1358900" cy="304800"/>
          </a:xfrm>
          <a:prstGeom prst="rect">
            <a:avLst/>
          </a:prstGeom>
          <a:solidFill>
            <a:srgbClr val="91919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2400" kern="0">
              <a:solidFill>
                <a:srgbClr val="000000"/>
              </a:solidFill>
              <a:latin typeface="Arial" panose="020B0604020202020204" pitchFamily="34" charset="0"/>
            </a:endParaRPr>
          </a:p>
        </p:txBody>
      </p:sp>
      <p:sp>
        <p:nvSpPr>
          <p:cNvPr id="7" name="Text Box 12">
            <a:extLst>
              <a:ext uri="{FF2B5EF4-FFF2-40B4-BE49-F238E27FC236}">
                <a16:creationId xmlns:a16="http://schemas.microsoft.com/office/drawing/2014/main" id="{E19B7B04-5158-40FA-AC83-E2A64A4DEBF2}"/>
              </a:ext>
            </a:extLst>
          </p:cNvPr>
          <p:cNvSpPr txBox="1">
            <a:spLocks noChangeArrowheads="1"/>
          </p:cNvSpPr>
          <p:nvPr/>
        </p:nvSpPr>
        <p:spPr bwMode="auto">
          <a:xfrm>
            <a:off x="2746375" y="4495800"/>
            <a:ext cx="1358900" cy="304800"/>
          </a:xfrm>
          <a:prstGeom prst="rect">
            <a:avLst/>
          </a:prstGeom>
          <a:solidFill>
            <a:srgbClr val="91919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2400" kern="0">
              <a:solidFill>
                <a:srgbClr val="000000"/>
              </a:solidFill>
              <a:latin typeface="Arial" panose="020B0604020202020204" pitchFamily="34" charset="0"/>
            </a:endParaRPr>
          </a:p>
        </p:txBody>
      </p:sp>
      <p:sp>
        <p:nvSpPr>
          <p:cNvPr id="8" name="Text Box 13">
            <a:extLst>
              <a:ext uri="{FF2B5EF4-FFF2-40B4-BE49-F238E27FC236}">
                <a16:creationId xmlns:a16="http://schemas.microsoft.com/office/drawing/2014/main" id="{AFB98ECF-C0C7-4ECB-A3B2-15528403C09C}"/>
              </a:ext>
            </a:extLst>
          </p:cNvPr>
          <p:cNvSpPr txBox="1">
            <a:spLocks noChangeArrowheads="1"/>
          </p:cNvSpPr>
          <p:nvPr/>
        </p:nvSpPr>
        <p:spPr bwMode="auto">
          <a:xfrm>
            <a:off x="2746375" y="5105400"/>
            <a:ext cx="1358900" cy="304800"/>
          </a:xfrm>
          <a:prstGeom prst="rect">
            <a:avLst/>
          </a:prstGeom>
          <a:solidFill>
            <a:srgbClr val="91919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2400" kern="0">
              <a:solidFill>
                <a:srgbClr val="000000"/>
              </a:solidFill>
              <a:latin typeface="Arial" panose="020B0604020202020204" pitchFamily="34" charset="0"/>
            </a:endParaRPr>
          </a:p>
        </p:txBody>
      </p:sp>
      <p:cxnSp>
        <p:nvCxnSpPr>
          <p:cNvPr id="97289" name="AutoShape 19">
            <a:extLst>
              <a:ext uri="{FF2B5EF4-FFF2-40B4-BE49-F238E27FC236}">
                <a16:creationId xmlns:a16="http://schemas.microsoft.com/office/drawing/2014/main" id="{AE9C8DE5-6F3A-4FC0-8330-0BF590B22318}"/>
              </a:ext>
            </a:extLst>
          </p:cNvPr>
          <p:cNvCxnSpPr>
            <a:cxnSpLocks noChangeShapeType="1"/>
            <a:endCxn id="5" idx="1"/>
          </p:cNvCxnSpPr>
          <p:nvPr/>
        </p:nvCxnSpPr>
        <p:spPr bwMode="auto">
          <a:xfrm flipV="1">
            <a:off x="2057400" y="5562600"/>
            <a:ext cx="669925" cy="3048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0" name="AutoShape 20">
            <a:extLst>
              <a:ext uri="{FF2B5EF4-FFF2-40B4-BE49-F238E27FC236}">
                <a16:creationId xmlns:a16="http://schemas.microsoft.com/office/drawing/2014/main" id="{33608FF2-5D83-4019-BCF6-EC417958ACCB}"/>
              </a:ext>
            </a:extLst>
          </p:cNvPr>
          <p:cNvCxnSpPr>
            <a:cxnSpLocks noChangeShapeType="1"/>
            <a:stCxn id="5" idx="3"/>
          </p:cNvCxnSpPr>
          <p:nvPr/>
        </p:nvCxnSpPr>
        <p:spPr bwMode="auto">
          <a:xfrm flipV="1">
            <a:off x="4124325" y="3276600"/>
            <a:ext cx="803275" cy="22860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1" name="AutoShape 21">
            <a:extLst>
              <a:ext uri="{FF2B5EF4-FFF2-40B4-BE49-F238E27FC236}">
                <a16:creationId xmlns:a16="http://schemas.microsoft.com/office/drawing/2014/main" id="{CDE69EB8-77DB-41FF-8055-7E5B56841C5E}"/>
              </a:ext>
            </a:extLst>
          </p:cNvPr>
          <p:cNvCxnSpPr>
            <a:cxnSpLocks noChangeShapeType="1"/>
            <a:endCxn id="8" idx="1"/>
          </p:cNvCxnSpPr>
          <p:nvPr/>
        </p:nvCxnSpPr>
        <p:spPr bwMode="auto">
          <a:xfrm>
            <a:off x="2057400" y="4800600"/>
            <a:ext cx="669925" cy="4572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2" name="AutoShape 22">
            <a:extLst>
              <a:ext uri="{FF2B5EF4-FFF2-40B4-BE49-F238E27FC236}">
                <a16:creationId xmlns:a16="http://schemas.microsoft.com/office/drawing/2014/main" id="{47CE26E0-7FBB-48D1-ACC1-F90E6FA6FC15}"/>
              </a:ext>
            </a:extLst>
          </p:cNvPr>
          <p:cNvCxnSpPr>
            <a:cxnSpLocks noChangeShapeType="1"/>
            <a:stCxn id="8" idx="3"/>
          </p:cNvCxnSpPr>
          <p:nvPr/>
        </p:nvCxnSpPr>
        <p:spPr bwMode="auto">
          <a:xfrm>
            <a:off x="4124325" y="5257800"/>
            <a:ext cx="803275" cy="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3" name="AutoShape 23">
            <a:extLst>
              <a:ext uri="{FF2B5EF4-FFF2-40B4-BE49-F238E27FC236}">
                <a16:creationId xmlns:a16="http://schemas.microsoft.com/office/drawing/2014/main" id="{4B4E90AF-D425-40BC-90AF-9218A68A5B6F}"/>
              </a:ext>
            </a:extLst>
          </p:cNvPr>
          <p:cNvCxnSpPr>
            <a:cxnSpLocks noChangeShapeType="1"/>
            <a:endCxn id="6" idx="1"/>
          </p:cNvCxnSpPr>
          <p:nvPr/>
        </p:nvCxnSpPr>
        <p:spPr bwMode="auto">
          <a:xfrm>
            <a:off x="2057400" y="2971800"/>
            <a:ext cx="669925" cy="19812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4" name="AutoShape 24">
            <a:extLst>
              <a:ext uri="{FF2B5EF4-FFF2-40B4-BE49-F238E27FC236}">
                <a16:creationId xmlns:a16="http://schemas.microsoft.com/office/drawing/2014/main" id="{35A3933B-337E-4E86-8C80-34AECC57BC20}"/>
              </a:ext>
            </a:extLst>
          </p:cNvPr>
          <p:cNvCxnSpPr>
            <a:cxnSpLocks noChangeShapeType="1"/>
            <a:stCxn id="6" idx="3"/>
          </p:cNvCxnSpPr>
          <p:nvPr/>
        </p:nvCxnSpPr>
        <p:spPr bwMode="auto">
          <a:xfrm flipV="1">
            <a:off x="4124325" y="2286000"/>
            <a:ext cx="803275" cy="26670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5" name="AutoShape 25">
            <a:extLst>
              <a:ext uri="{FF2B5EF4-FFF2-40B4-BE49-F238E27FC236}">
                <a16:creationId xmlns:a16="http://schemas.microsoft.com/office/drawing/2014/main" id="{4060DC49-FAB0-4B24-A9F2-03C047170C2B}"/>
              </a:ext>
            </a:extLst>
          </p:cNvPr>
          <p:cNvCxnSpPr>
            <a:cxnSpLocks noChangeShapeType="1"/>
            <a:endCxn id="17" idx="1"/>
          </p:cNvCxnSpPr>
          <p:nvPr/>
        </p:nvCxnSpPr>
        <p:spPr bwMode="auto">
          <a:xfrm>
            <a:off x="2057400" y="1981200"/>
            <a:ext cx="669925" cy="23622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6" name="AutoShape 26">
            <a:extLst>
              <a:ext uri="{FF2B5EF4-FFF2-40B4-BE49-F238E27FC236}">
                <a16:creationId xmlns:a16="http://schemas.microsoft.com/office/drawing/2014/main" id="{EBA6DDB7-2846-4D53-89AC-1C60A6FA3ABD}"/>
              </a:ext>
            </a:extLst>
          </p:cNvPr>
          <p:cNvCxnSpPr>
            <a:cxnSpLocks noChangeShapeType="1"/>
            <a:endCxn id="7" idx="1"/>
          </p:cNvCxnSpPr>
          <p:nvPr/>
        </p:nvCxnSpPr>
        <p:spPr bwMode="auto">
          <a:xfrm>
            <a:off x="2057400" y="2667000"/>
            <a:ext cx="669925" cy="19812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Box 27">
            <a:extLst>
              <a:ext uri="{FF2B5EF4-FFF2-40B4-BE49-F238E27FC236}">
                <a16:creationId xmlns:a16="http://schemas.microsoft.com/office/drawing/2014/main" id="{98C11497-8CF3-4569-AD6B-A6332BBCD1DB}"/>
              </a:ext>
            </a:extLst>
          </p:cNvPr>
          <p:cNvSpPr txBox="1">
            <a:spLocks noChangeArrowheads="1"/>
          </p:cNvSpPr>
          <p:nvPr/>
        </p:nvSpPr>
        <p:spPr bwMode="auto">
          <a:xfrm>
            <a:off x="2746375" y="4191000"/>
            <a:ext cx="1358900" cy="304800"/>
          </a:xfrm>
          <a:prstGeom prst="rect">
            <a:avLst/>
          </a:prstGeom>
          <a:solidFill>
            <a:srgbClr val="91919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kumimoji="0" lang="zh-CN" altLang="zh-CN" sz="2400" kern="0">
              <a:solidFill>
                <a:srgbClr val="000000"/>
              </a:solidFill>
              <a:latin typeface="Arial" panose="020B0604020202020204" pitchFamily="34" charset="0"/>
            </a:endParaRPr>
          </a:p>
        </p:txBody>
      </p:sp>
      <p:cxnSp>
        <p:nvCxnSpPr>
          <p:cNvPr id="97298" name="AutoShape 28">
            <a:extLst>
              <a:ext uri="{FF2B5EF4-FFF2-40B4-BE49-F238E27FC236}">
                <a16:creationId xmlns:a16="http://schemas.microsoft.com/office/drawing/2014/main" id="{3927F754-6C45-4615-B524-B6A4837E4934}"/>
              </a:ext>
            </a:extLst>
          </p:cNvPr>
          <p:cNvCxnSpPr>
            <a:cxnSpLocks noChangeShapeType="1"/>
            <a:stCxn id="7" idx="3"/>
          </p:cNvCxnSpPr>
          <p:nvPr/>
        </p:nvCxnSpPr>
        <p:spPr bwMode="auto">
          <a:xfrm flipV="1">
            <a:off x="4124325" y="2819400"/>
            <a:ext cx="803275" cy="18288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299" name="AutoShape 29">
            <a:extLst>
              <a:ext uri="{FF2B5EF4-FFF2-40B4-BE49-F238E27FC236}">
                <a16:creationId xmlns:a16="http://schemas.microsoft.com/office/drawing/2014/main" id="{6CC75D53-C78B-4BF7-A798-B72AE36420CF}"/>
              </a:ext>
            </a:extLst>
          </p:cNvPr>
          <p:cNvCxnSpPr>
            <a:cxnSpLocks noChangeShapeType="1"/>
            <a:stCxn id="17" idx="3"/>
          </p:cNvCxnSpPr>
          <p:nvPr/>
        </p:nvCxnSpPr>
        <p:spPr bwMode="auto">
          <a:xfrm>
            <a:off x="4124325" y="4343400"/>
            <a:ext cx="803275" cy="304800"/>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Box 30">
            <a:extLst>
              <a:ext uri="{FF2B5EF4-FFF2-40B4-BE49-F238E27FC236}">
                <a16:creationId xmlns:a16="http://schemas.microsoft.com/office/drawing/2014/main" id="{8571C087-DE08-4923-8903-089FA0B32343}"/>
              </a:ext>
            </a:extLst>
          </p:cNvPr>
          <p:cNvSpPr txBox="1">
            <a:spLocks noChangeArrowheads="1"/>
          </p:cNvSpPr>
          <p:nvPr/>
        </p:nvSpPr>
        <p:spPr bwMode="auto">
          <a:xfrm>
            <a:off x="2746375" y="4191000"/>
            <a:ext cx="1358900" cy="1524000"/>
          </a:xfrm>
          <a:prstGeom prst="rect">
            <a:avLst/>
          </a:prstGeom>
          <a:solidFill>
            <a:srgbClr val="91919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kumimoji="0" lang="en-US" altLang="zh-CN" sz="2400" b="1" kern="0">
                <a:solidFill>
                  <a:srgbClr val="000000"/>
                </a:solidFill>
                <a:latin typeface="Arial" panose="020B0604020202020204" pitchFamily="34" charset="0"/>
                <a:ea typeface="宋体" panose="02010600030101010101" pitchFamily="2" charset="-122"/>
              </a:rPr>
              <a:t>page</a:t>
            </a:r>
          </a:p>
          <a:p>
            <a:pPr algn="ctr" eaLnBrk="1" fontAlgn="auto" hangingPunct="1">
              <a:spcBef>
                <a:spcPts val="0"/>
              </a:spcBef>
              <a:spcAft>
                <a:spcPts val="0"/>
              </a:spcAft>
              <a:defRPr/>
            </a:pPr>
            <a:r>
              <a:rPr kumimoji="0" lang="en-US" altLang="zh-CN" sz="2400" b="1" kern="0">
                <a:solidFill>
                  <a:srgbClr val="000000"/>
                </a:solidFill>
                <a:latin typeface="Arial" panose="020B0604020202020204" pitchFamily="34" charset="0"/>
                <a:ea typeface="宋体" panose="02010600030101010101" pitchFamily="2" charset="-122"/>
              </a:rPr>
              <a:t>table</a:t>
            </a:r>
          </a:p>
        </p:txBody>
      </p:sp>
      <p:sp>
        <p:nvSpPr>
          <p:cNvPr id="21" name="Rectangle 31">
            <a:extLst>
              <a:ext uri="{FF2B5EF4-FFF2-40B4-BE49-F238E27FC236}">
                <a16:creationId xmlns:a16="http://schemas.microsoft.com/office/drawing/2014/main" id="{C1B3B28D-BC34-4223-97A3-6E5D15E843E0}"/>
              </a:ext>
            </a:extLst>
          </p:cNvPr>
          <p:cNvSpPr>
            <a:spLocks noChangeArrowheads="1"/>
          </p:cNvSpPr>
          <p:nvPr/>
        </p:nvSpPr>
        <p:spPr bwMode="auto">
          <a:xfrm>
            <a:off x="755650" y="1752600"/>
            <a:ext cx="1295400" cy="304800"/>
          </a:xfrm>
          <a:prstGeom prst="rect">
            <a:avLst/>
          </a:prstGeom>
          <a:solidFill>
            <a:srgbClr val="F503FB"/>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2" name="Rectangle 32">
            <a:extLst>
              <a:ext uri="{FF2B5EF4-FFF2-40B4-BE49-F238E27FC236}">
                <a16:creationId xmlns:a16="http://schemas.microsoft.com/office/drawing/2014/main" id="{6F674139-47B7-4BE2-A5F1-350C80E1A7C9}"/>
              </a:ext>
            </a:extLst>
          </p:cNvPr>
          <p:cNvSpPr>
            <a:spLocks noChangeArrowheads="1"/>
          </p:cNvSpPr>
          <p:nvPr/>
        </p:nvSpPr>
        <p:spPr bwMode="auto">
          <a:xfrm>
            <a:off x="755650" y="20574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3" name="Rectangle 33">
            <a:extLst>
              <a:ext uri="{FF2B5EF4-FFF2-40B4-BE49-F238E27FC236}">
                <a16:creationId xmlns:a16="http://schemas.microsoft.com/office/drawing/2014/main" id="{FC4C7333-6FEA-4950-8F2A-B6E1721FD6E6}"/>
              </a:ext>
            </a:extLst>
          </p:cNvPr>
          <p:cNvSpPr>
            <a:spLocks noChangeArrowheads="1"/>
          </p:cNvSpPr>
          <p:nvPr/>
        </p:nvSpPr>
        <p:spPr bwMode="auto">
          <a:xfrm>
            <a:off x="755650" y="23622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4" name="Rectangle 34">
            <a:extLst>
              <a:ext uri="{FF2B5EF4-FFF2-40B4-BE49-F238E27FC236}">
                <a16:creationId xmlns:a16="http://schemas.microsoft.com/office/drawing/2014/main" id="{214A154A-421D-4348-AE78-242B09E2DD5E}"/>
              </a:ext>
            </a:extLst>
          </p:cNvPr>
          <p:cNvSpPr>
            <a:spLocks noChangeArrowheads="1"/>
          </p:cNvSpPr>
          <p:nvPr/>
        </p:nvSpPr>
        <p:spPr bwMode="auto">
          <a:xfrm>
            <a:off x="755650" y="2667000"/>
            <a:ext cx="1295400" cy="304800"/>
          </a:xfrm>
          <a:prstGeom prst="rect">
            <a:avLst/>
          </a:prstGeom>
          <a:solidFill>
            <a:srgbClr val="FF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5" name="Rectangle 35">
            <a:extLst>
              <a:ext uri="{FF2B5EF4-FFF2-40B4-BE49-F238E27FC236}">
                <a16:creationId xmlns:a16="http://schemas.microsoft.com/office/drawing/2014/main" id="{FEEDBC9F-75A3-4A9F-A65D-1C0B229ABEEE}"/>
              </a:ext>
            </a:extLst>
          </p:cNvPr>
          <p:cNvSpPr>
            <a:spLocks noChangeArrowheads="1"/>
          </p:cNvSpPr>
          <p:nvPr/>
        </p:nvSpPr>
        <p:spPr bwMode="auto">
          <a:xfrm>
            <a:off x="755650" y="2971800"/>
            <a:ext cx="1295400" cy="304800"/>
          </a:xfrm>
          <a:prstGeom prst="rect">
            <a:avLst/>
          </a:prstGeom>
          <a:solidFill>
            <a:srgbClr val="618FFD"/>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6" name="Rectangle 36">
            <a:extLst>
              <a:ext uri="{FF2B5EF4-FFF2-40B4-BE49-F238E27FC236}">
                <a16:creationId xmlns:a16="http://schemas.microsoft.com/office/drawing/2014/main" id="{D390E775-512D-4E18-ADEA-7EE900880299}"/>
              </a:ext>
            </a:extLst>
          </p:cNvPr>
          <p:cNvSpPr>
            <a:spLocks noChangeArrowheads="1"/>
          </p:cNvSpPr>
          <p:nvPr/>
        </p:nvSpPr>
        <p:spPr bwMode="auto">
          <a:xfrm>
            <a:off x="755650" y="32766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7" name="Rectangle 37">
            <a:extLst>
              <a:ext uri="{FF2B5EF4-FFF2-40B4-BE49-F238E27FC236}">
                <a16:creationId xmlns:a16="http://schemas.microsoft.com/office/drawing/2014/main" id="{30DDBEC6-8903-48C0-AD9A-92A4D2D40B0D}"/>
              </a:ext>
            </a:extLst>
          </p:cNvPr>
          <p:cNvSpPr>
            <a:spLocks noChangeArrowheads="1"/>
          </p:cNvSpPr>
          <p:nvPr/>
        </p:nvSpPr>
        <p:spPr bwMode="auto">
          <a:xfrm>
            <a:off x="755650" y="35814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8" name="Rectangle 38">
            <a:extLst>
              <a:ext uri="{FF2B5EF4-FFF2-40B4-BE49-F238E27FC236}">
                <a16:creationId xmlns:a16="http://schemas.microsoft.com/office/drawing/2014/main" id="{D75A938D-8E5D-430D-AD6A-D737BE37D299}"/>
              </a:ext>
            </a:extLst>
          </p:cNvPr>
          <p:cNvSpPr>
            <a:spLocks noChangeArrowheads="1"/>
          </p:cNvSpPr>
          <p:nvPr/>
        </p:nvSpPr>
        <p:spPr bwMode="auto">
          <a:xfrm>
            <a:off x="755650" y="38862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29" name="Rectangle 39">
            <a:extLst>
              <a:ext uri="{FF2B5EF4-FFF2-40B4-BE49-F238E27FC236}">
                <a16:creationId xmlns:a16="http://schemas.microsoft.com/office/drawing/2014/main" id="{85F876F6-B555-4408-BF1C-51AF7F19AA74}"/>
              </a:ext>
            </a:extLst>
          </p:cNvPr>
          <p:cNvSpPr>
            <a:spLocks noChangeArrowheads="1"/>
          </p:cNvSpPr>
          <p:nvPr/>
        </p:nvSpPr>
        <p:spPr bwMode="auto">
          <a:xfrm>
            <a:off x="755650" y="41910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0" name="Rectangle 40">
            <a:extLst>
              <a:ext uri="{FF2B5EF4-FFF2-40B4-BE49-F238E27FC236}">
                <a16:creationId xmlns:a16="http://schemas.microsoft.com/office/drawing/2014/main" id="{782761FE-3B37-40DE-8B4B-9340FC72BF42}"/>
              </a:ext>
            </a:extLst>
          </p:cNvPr>
          <p:cNvSpPr>
            <a:spLocks noChangeArrowheads="1"/>
          </p:cNvSpPr>
          <p:nvPr/>
        </p:nvSpPr>
        <p:spPr bwMode="auto">
          <a:xfrm>
            <a:off x="755650" y="44958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1" name="Rectangle 41">
            <a:extLst>
              <a:ext uri="{FF2B5EF4-FFF2-40B4-BE49-F238E27FC236}">
                <a16:creationId xmlns:a16="http://schemas.microsoft.com/office/drawing/2014/main" id="{65856317-95EC-4D0C-AD98-58BC1182956F}"/>
              </a:ext>
            </a:extLst>
          </p:cNvPr>
          <p:cNvSpPr>
            <a:spLocks noChangeArrowheads="1"/>
          </p:cNvSpPr>
          <p:nvPr/>
        </p:nvSpPr>
        <p:spPr bwMode="auto">
          <a:xfrm>
            <a:off x="755650" y="4800600"/>
            <a:ext cx="1295400" cy="304800"/>
          </a:xfrm>
          <a:prstGeom prst="rect">
            <a:avLst/>
          </a:prstGeom>
          <a:solidFill>
            <a:srgbClr val="00AE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2" name="Rectangle 42">
            <a:extLst>
              <a:ext uri="{FF2B5EF4-FFF2-40B4-BE49-F238E27FC236}">
                <a16:creationId xmlns:a16="http://schemas.microsoft.com/office/drawing/2014/main" id="{706C5171-35CA-451F-9ED8-7B0D00FFC08C}"/>
              </a:ext>
            </a:extLst>
          </p:cNvPr>
          <p:cNvSpPr>
            <a:spLocks noChangeArrowheads="1"/>
          </p:cNvSpPr>
          <p:nvPr/>
        </p:nvSpPr>
        <p:spPr bwMode="auto">
          <a:xfrm>
            <a:off x="755650" y="51054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3" name="Rectangle 43">
            <a:extLst>
              <a:ext uri="{FF2B5EF4-FFF2-40B4-BE49-F238E27FC236}">
                <a16:creationId xmlns:a16="http://schemas.microsoft.com/office/drawing/2014/main" id="{92205786-5F94-4A05-8FFC-6A0AAC76C72C}"/>
              </a:ext>
            </a:extLst>
          </p:cNvPr>
          <p:cNvSpPr>
            <a:spLocks noChangeArrowheads="1"/>
          </p:cNvSpPr>
          <p:nvPr/>
        </p:nvSpPr>
        <p:spPr bwMode="auto">
          <a:xfrm>
            <a:off x="755650" y="54102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4" name="Rectangle 44">
            <a:extLst>
              <a:ext uri="{FF2B5EF4-FFF2-40B4-BE49-F238E27FC236}">
                <a16:creationId xmlns:a16="http://schemas.microsoft.com/office/drawing/2014/main" id="{3FD1F036-90E4-4433-9381-17CECB147E87}"/>
              </a:ext>
            </a:extLst>
          </p:cNvPr>
          <p:cNvSpPr>
            <a:spLocks noChangeArrowheads="1"/>
          </p:cNvSpPr>
          <p:nvPr/>
        </p:nvSpPr>
        <p:spPr bwMode="auto">
          <a:xfrm>
            <a:off x="755650" y="5715000"/>
            <a:ext cx="1295400" cy="304800"/>
          </a:xfrm>
          <a:prstGeom prst="rect">
            <a:avLst/>
          </a:prstGeom>
          <a:solidFill>
            <a:srgbClr val="FC0128"/>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5" name="Rectangle 45">
            <a:extLst>
              <a:ext uri="{FF2B5EF4-FFF2-40B4-BE49-F238E27FC236}">
                <a16:creationId xmlns:a16="http://schemas.microsoft.com/office/drawing/2014/main" id="{80D149F2-7F2B-4603-BC96-897C9B6B18ED}"/>
              </a:ext>
            </a:extLst>
          </p:cNvPr>
          <p:cNvSpPr>
            <a:spLocks noChangeArrowheads="1"/>
          </p:cNvSpPr>
          <p:nvPr/>
        </p:nvSpPr>
        <p:spPr bwMode="auto">
          <a:xfrm>
            <a:off x="755650" y="60198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6" name="Rectangle 46">
            <a:extLst>
              <a:ext uri="{FF2B5EF4-FFF2-40B4-BE49-F238E27FC236}">
                <a16:creationId xmlns:a16="http://schemas.microsoft.com/office/drawing/2014/main" id="{DE78D50C-5AE0-47DB-90E4-D994E014238D}"/>
              </a:ext>
            </a:extLst>
          </p:cNvPr>
          <p:cNvSpPr>
            <a:spLocks noChangeArrowheads="1"/>
          </p:cNvSpPr>
          <p:nvPr/>
        </p:nvSpPr>
        <p:spPr bwMode="auto">
          <a:xfrm>
            <a:off x="4946650" y="2209800"/>
            <a:ext cx="1295400" cy="304800"/>
          </a:xfrm>
          <a:prstGeom prst="rect">
            <a:avLst/>
          </a:prstGeom>
          <a:solidFill>
            <a:srgbClr val="618FFD"/>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7" name="Rectangle 47">
            <a:extLst>
              <a:ext uri="{FF2B5EF4-FFF2-40B4-BE49-F238E27FC236}">
                <a16:creationId xmlns:a16="http://schemas.microsoft.com/office/drawing/2014/main" id="{742B6D94-0469-417A-9FC8-37D325B850F1}"/>
              </a:ext>
            </a:extLst>
          </p:cNvPr>
          <p:cNvSpPr>
            <a:spLocks noChangeArrowheads="1"/>
          </p:cNvSpPr>
          <p:nvPr/>
        </p:nvSpPr>
        <p:spPr bwMode="auto">
          <a:xfrm>
            <a:off x="4946650" y="2514600"/>
            <a:ext cx="1295400" cy="304800"/>
          </a:xfrm>
          <a:prstGeom prst="rect">
            <a:avLst/>
          </a:prstGeom>
          <a:solidFill>
            <a:srgbClr val="FF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8" name="Rectangle 48">
            <a:extLst>
              <a:ext uri="{FF2B5EF4-FFF2-40B4-BE49-F238E27FC236}">
                <a16:creationId xmlns:a16="http://schemas.microsoft.com/office/drawing/2014/main" id="{E21C7914-35EE-484E-ADA3-66F9D870177E}"/>
              </a:ext>
            </a:extLst>
          </p:cNvPr>
          <p:cNvSpPr>
            <a:spLocks noChangeArrowheads="1"/>
          </p:cNvSpPr>
          <p:nvPr/>
        </p:nvSpPr>
        <p:spPr bwMode="auto">
          <a:xfrm>
            <a:off x="4946650" y="28194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39" name="Rectangle 49">
            <a:extLst>
              <a:ext uri="{FF2B5EF4-FFF2-40B4-BE49-F238E27FC236}">
                <a16:creationId xmlns:a16="http://schemas.microsoft.com/office/drawing/2014/main" id="{F3DB99D9-5734-4A4C-A466-4D9CAE629775}"/>
              </a:ext>
            </a:extLst>
          </p:cNvPr>
          <p:cNvSpPr>
            <a:spLocks noChangeArrowheads="1"/>
          </p:cNvSpPr>
          <p:nvPr/>
        </p:nvSpPr>
        <p:spPr bwMode="auto">
          <a:xfrm>
            <a:off x="4946650" y="3124200"/>
            <a:ext cx="1295400" cy="304800"/>
          </a:xfrm>
          <a:prstGeom prst="rect">
            <a:avLst/>
          </a:prstGeom>
          <a:solidFill>
            <a:srgbClr val="FC0128"/>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0" name="Rectangle 50">
            <a:extLst>
              <a:ext uri="{FF2B5EF4-FFF2-40B4-BE49-F238E27FC236}">
                <a16:creationId xmlns:a16="http://schemas.microsoft.com/office/drawing/2014/main" id="{94D4D2BD-F44B-49C5-A962-732A3ADEFE60}"/>
              </a:ext>
            </a:extLst>
          </p:cNvPr>
          <p:cNvSpPr>
            <a:spLocks noChangeArrowheads="1"/>
          </p:cNvSpPr>
          <p:nvPr/>
        </p:nvSpPr>
        <p:spPr bwMode="auto">
          <a:xfrm>
            <a:off x="4946650" y="34290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1" name="Rectangle 51">
            <a:extLst>
              <a:ext uri="{FF2B5EF4-FFF2-40B4-BE49-F238E27FC236}">
                <a16:creationId xmlns:a16="http://schemas.microsoft.com/office/drawing/2014/main" id="{ED80A60B-3B3F-4954-8309-18B9EC9BA9D4}"/>
              </a:ext>
            </a:extLst>
          </p:cNvPr>
          <p:cNvSpPr>
            <a:spLocks noChangeArrowheads="1"/>
          </p:cNvSpPr>
          <p:nvPr/>
        </p:nvSpPr>
        <p:spPr bwMode="auto">
          <a:xfrm>
            <a:off x="4946650" y="37338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2" name="Rectangle 52">
            <a:extLst>
              <a:ext uri="{FF2B5EF4-FFF2-40B4-BE49-F238E27FC236}">
                <a16:creationId xmlns:a16="http://schemas.microsoft.com/office/drawing/2014/main" id="{14AEF58A-32E6-4D56-BF8C-85674C6395B4}"/>
              </a:ext>
            </a:extLst>
          </p:cNvPr>
          <p:cNvSpPr>
            <a:spLocks noChangeArrowheads="1"/>
          </p:cNvSpPr>
          <p:nvPr/>
        </p:nvSpPr>
        <p:spPr bwMode="auto">
          <a:xfrm>
            <a:off x="4946650" y="40386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3" name="Rectangle 53">
            <a:extLst>
              <a:ext uri="{FF2B5EF4-FFF2-40B4-BE49-F238E27FC236}">
                <a16:creationId xmlns:a16="http://schemas.microsoft.com/office/drawing/2014/main" id="{5594735C-F4C2-43DD-A180-F21C07FE7731}"/>
              </a:ext>
            </a:extLst>
          </p:cNvPr>
          <p:cNvSpPr>
            <a:spLocks noChangeArrowheads="1"/>
          </p:cNvSpPr>
          <p:nvPr/>
        </p:nvSpPr>
        <p:spPr bwMode="auto">
          <a:xfrm>
            <a:off x="4946650" y="43434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4" name="Rectangle 54">
            <a:extLst>
              <a:ext uri="{FF2B5EF4-FFF2-40B4-BE49-F238E27FC236}">
                <a16:creationId xmlns:a16="http://schemas.microsoft.com/office/drawing/2014/main" id="{8B28CEB4-4A5F-4633-AB76-FE7DF613D310}"/>
              </a:ext>
            </a:extLst>
          </p:cNvPr>
          <p:cNvSpPr>
            <a:spLocks noChangeArrowheads="1"/>
          </p:cNvSpPr>
          <p:nvPr/>
        </p:nvSpPr>
        <p:spPr bwMode="auto">
          <a:xfrm>
            <a:off x="4946650" y="4648200"/>
            <a:ext cx="1295400" cy="304800"/>
          </a:xfrm>
          <a:prstGeom prst="rect">
            <a:avLst/>
          </a:prstGeom>
          <a:solidFill>
            <a:srgbClr val="F503FB"/>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5" name="Rectangle 55">
            <a:extLst>
              <a:ext uri="{FF2B5EF4-FFF2-40B4-BE49-F238E27FC236}">
                <a16:creationId xmlns:a16="http://schemas.microsoft.com/office/drawing/2014/main" id="{8D884046-6B20-4AAC-A375-736150121ABB}"/>
              </a:ext>
            </a:extLst>
          </p:cNvPr>
          <p:cNvSpPr>
            <a:spLocks noChangeArrowheads="1"/>
          </p:cNvSpPr>
          <p:nvPr/>
        </p:nvSpPr>
        <p:spPr bwMode="auto">
          <a:xfrm>
            <a:off x="4946650" y="49530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6" name="Rectangle 56">
            <a:extLst>
              <a:ext uri="{FF2B5EF4-FFF2-40B4-BE49-F238E27FC236}">
                <a16:creationId xmlns:a16="http://schemas.microsoft.com/office/drawing/2014/main" id="{9C1315CF-9C7F-4FF5-9BD2-C65B4A2045CF}"/>
              </a:ext>
            </a:extLst>
          </p:cNvPr>
          <p:cNvSpPr>
            <a:spLocks noChangeArrowheads="1"/>
          </p:cNvSpPr>
          <p:nvPr/>
        </p:nvSpPr>
        <p:spPr bwMode="auto">
          <a:xfrm>
            <a:off x="4946650" y="5257800"/>
            <a:ext cx="1295400" cy="304800"/>
          </a:xfrm>
          <a:prstGeom prst="rect">
            <a:avLst/>
          </a:prstGeom>
          <a:solidFill>
            <a:srgbClr val="00AE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47" name="Rectangle 57">
            <a:extLst>
              <a:ext uri="{FF2B5EF4-FFF2-40B4-BE49-F238E27FC236}">
                <a16:creationId xmlns:a16="http://schemas.microsoft.com/office/drawing/2014/main" id="{7A8C75F7-0706-4CA1-9338-8299086A8461}"/>
              </a:ext>
            </a:extLst>
          </p:cNvPr>
          <p:cNvSpPr>
            <a:spLocks noChangeArrowheads="1"/>
          </p:cNvSpPr>
          <p:nvPr/>
        </p:nvSpPr>
        <p:spPr bwMode="auto">
          <a:xfrm>
            <a:off x="4946650" y="5562600"/>
            <a:ext cx="1295400" cy="304800"/>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kumimoji="0" lang="zh-CN" altLang="en-US" sz="2000" b="1" kern="0">
              <a:solidFill>
                <a:srgbClr val="000000"/>
              </a:solidFill>
              <a:latin typeface="Arial" panose="020B0604020202020204" pitchFamily="34" charset="0"/>
            </a:endParaRPr>
          </a:p>
        </p:txBody>
      </p:sp>
      <p:sp>
        <p:nvSpPr>
          <p:cNvPr id="97328" name="Text Box 58">
            <a:extLst>
              <a:ext uri="{FF2B5EF4-FFF2-40B4-BE49-F238E27FC236}">
                <a16:creationId xmlns:a16="http://schemas.microsoft.com/office/drawing/2014/main" id="{CAF77134-53E6-4850-8701-58CDBC126336}"/>
              </a:ext>
            </a:extLst>
          </p:cNvPr>
          <p:cNvSpPr txBox="1">
            <a:spLocks noChangeArrowheads="1"/>
          </p:cNvSpPr>
          <p:nvPr/>
        </p:nvSpPr>
        <p:spPr bwMode="auto">
          <a:xfrm>
            <a:off x="152400" y="1066800"/>
            <a:ext cx="2979738"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2000" b="1">
                <a:solidFill>
                  <a:srgbClr val="000000"/>
                </a:solidFill>
                <a:latin typeface="Arial" panose="020B0604020202020204" pitchFamily="34" charset="0"/>
                <a:ea typeface="宋体" panose="02010600030101010101" pitchFamily="2" charset="-122"/>
              </a:rPr>
              <a:t>Logical Address Space</a:t>
            </a:r>
          </a:p>
          <a:p>
            <a:pPr algn="ctr"/>
            <a:r>
              <a:rPr kumimoji="0" lang="en-US" altLang="zh-CN" sz="2000" b="1">
                <a:solidFill>
                  <a:srgbClr val="000000"/>
                </a:solidFill>
                <a:latin typeface="Arial" panose="020B0604020202020204" pitchFamily="34" charset="0"/>
                <a:ea typeface="宋体" panose="02010600030101010101" pitchFamily="2" charset="-122"/>
              </a:rPr>
              <a:t>divided into “pages”</a:t>
            </a:r>
          </a:p>
        </p:txBody>
      </p:sp>
      <p:sp>
        <p:nvSpPr>
          <p:cNvPr id="97329" name="Text Box 59">
            <a:extLst>
              <a:ext uri="{FF2B5EF4-FFF2-40B4-BE49-F238E27FC236}">
                <a16:creationId xmlns:a16="http://schemas.microsoft.com/office/drawing/2014/main" id="{D382D150-889B-442B-B77C-7618BE2C4E93}"/>
              </a:ext>
            </a:extLst>
          </p:cNvPr>
          <p:cNvSpPr txBox="1">
            <a:spLocks noChangeArrowheads="1"/>
          </p:cNvSpPr>
          <p:nvPr/>
        </p:nvSpPr>
        <p:spPr bwMode="auto">
          <a:xfrm>
            <a:off x="4191000" y="1371600"/>
            <a:ext cx="3121025"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r>
              <a:rPr kumimoji="0" lang="en-US" altLang="zh-CN" sz="2000" b="1">
                <a:solidFill>
                  <a:srgbClr val="000000"/>
                </a:solidFill>
                <a:latin typeface="Arial" panose="020B0604020202020204" pitchFamily="34" charset="0"/>
                <a:ea typeface="宋体" panose="02010600030101010101" pitchFamily="2" charset="-122"/>
              </a:rPr>
              <a:t>Physical Address Space</a:t>
            </a:r>
          </a:p>
          <a:p>
            <a:pPr algn="ctr"/>
            <a:r>
              <a:rPr kumimoji="0" lang="en-US" altLang="zh-CN" sz="2000" b="1">
                <a:solidFill>
                  <a:srgbClr val="000000"/>
                </a:solidFill>
                <a:latin typeface="Arial" panose="020B0604020202020204" pitchFamily="34" charset="0"/>
                <a:ea typeface="宋体" panose="02010600030101010101" pitchFamily="2" charset="-122"/>
              </a:rPr>
              <a:t>divided into “frames”</a:t>
            </a:r>
          </a:p>
        </p:txBody>
      </p:sp>
      <p:sp>
        <p:nvSpPr>
          <p:cNvPr id="97330" name="文本框 49">
            <a:extLst>
              <a:ext uri="{FF2B5EF4-FFF2-40B4-BE49-F238E27FC236}">
                <a16:creationId xmlns:a16="http://schemas.microsoft.com/office/drawing/2014/main" id="{479233A1-02BC-49CB-838D-616DE9D0E293}"/>
              </a:ext>
            </a:extLst>
          </p:cNvPr>
          <p:cNvSpPr txBox="1">
            <a:spLocks noChangeArrowheads="1"/>
          </p:cNvSpPr>
          <p:nvPr/>
        </p:nvSpPr>
        <p:spPr bwMode="auto">
          <a:xfrm>
            <a:off x="6761163" y="4216400"/>
            <a:ext cx="1843087"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000" b="1">
                <a:latin typeface="楷体" panose="02010609060101010101" pitchFamily="49" charset="-122"/>
                <a:ea typeface="楷体" panose="02010609060101010101" pitchFamily="49" charset="-122"/>
              </a:rPr>
              <a:t>页表大小：页表中表项的数量等于虚拟地址空间中页的数量</a:t>
            </a:r>
          </a:p>
        </p:txBody>
      </p:sp>
      <p:sp>
        <p:nvSpPr>
          <p:cNvPr id="94259" name="文本框 50">
            <a:extLst>
              <a:ext uri="{FF2B5EF4-FFF2-40B4-BE49-F238E27FC236}">
                <a16:creationId xmlns:a16="http://schemas.microsoft.com/office/drawing/2014/main" id="{2163986E-91B5-4133-8EC6-77885F0D890A}"/>
              </a:ext>
            </a:extLst>
          </p:cNvPr>
          <p:cNvSpPr txBox="1">
            <a:spLocks noChangeArrowheads="1"/>
          </p:cNvSpPr>
          <p:nvPr/>
        </p:nvSpPr>
        <p:spPr bwMode="auto">
          <a:xfrm>
            <a:off x="2486025" y="2760663"/>
            <a:ext cx="21145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000" b="1">
                <a:latin typeface="楷体" panose="02010609060101010101" pitchFamily="49" charset="-122"/>
                <a:ea typeface="楷体" panose="02010609060101010101" pitchFamily="49" charset="-122"/>
              </a:rPr>
              <a:t>32</a:t>
            </a:r>
            <a:r>
              <a:rPr lang="zh-CN" altLang="en-US" sz="2000" b="1">
                <a:latin typeface="楷体" panose="02010609060101010101" pitchFamily="49" charset="-122"/>
                <a:ea typeface="楷体" panose="02010609060101010101" pitchFamily="49" charset="-122"/>
              </a:rPr>
              <a:t>位机，</a:t>
            </a:r>
            <a:r>
              <a:rPr lang="en-US" altLang="zh-CN" sz="2000" b="1">
                <a:latin typeface="楷体" panose="02010609060101010101" pitchFamily="49" charset="-122"/>
                <a:ea typeface="楷体" panose="02010609060101010101" pitchFamily="49" charset="-122"/>
              </a:rPr>
              <a:t>4KB</a:t>
            </a:r>
            <a:r>
              <a:rPr lang="zh-CN" altLang="en-US" sz="2000" b="1">
                <a:latin typeface="楷体" panose="02010609060101010101" pitchFamily="49" charset="-122"/>
                <a:ea typeface="楷体" panose="02010609060101010101" pitchFamily="49" charset="-122"/>
              </a:rPr>
              <a:t>页大小，每表项</a:t>
            </a:r>
            <a:r>
              <a:rPr lang="en-US" altLang="zh-CN" sz="2000" b="1">
                <a:latin typeface="楷体" panose="02010609060101010101" pitchFamily="49" charset="-122"/>
                <a:ea typeface="楷体" panose="02010609060101010101" pitchFamily="49" charset="-122"/>
              </a:rPr>
              <a:t>4</a:t>
            </a:r>
            <a:r>
              <a:rPr lang="zh-CN" altLang="en-US" sz="2000" b="1">
                <a:latin typeface="楷体" panose="02010609060101010101" pitchFamily="49" charset="-122"/>
                <a:ea typeface="楷体" panose="02010609060101010101" pitchFamily="49" charset="-122"/>
              </a:rPr>
              <a:t>字节页表有多大？</a:t>
            </a:r>
          </a:p>
        </p:txBody>
      </p:sp>
      <p:sp>
        <p:nvSpPr>
          <p:cNvPr id="52" name="文本框 50">
            <a:extLst>
              <a:ext uri="{FF2B5EF4-FFF2-40B4-BE49-F238E27FC236}">
                <a16:creationId xmlns:a16="http://schemas.microsoft.com/office/drawing/2014/main" id="{6C180BBC-4AD8-4F35-8E56-491DD8A17AD1}"/>
              </a:ext>
            </a:extLst>
          </p:cNvPr>
          <p:cNvSpPr txBox="1">
            <a:spLocks noChangeArrowheads="1"/>
          </p:cNvSpPr>
          <p:nvPr/>
        </p:nvSpPr>
        <p:spPr bwMode="auto">
          <a:xfrm>
            <a:off x="2714625" y="3763963"/>
            <a:ext cx="1476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zh-CN" altLang="en-US" sz="2000" b="1">
                <a:latin typeface="楷体" panose="02010609060101010101" pitchFamily="49" charset="-122"/>
                <a:ea typeface="楷体" panose="02010609060101010101" pitchFamily="49" charset="-122"/>
              </a:rPr>
              <a:t>页表为</a:t>
            </a:r>
            <a:r>
              <a:rPr lang="en-US" altLang="zh-CN" sz="2000" b="1">
                <a:latin typeface="楷体" panose="02010609060101010101" pitchFamily="49" charset="-122"/>
                <a:ea typeface="楷体" panose="02010609060101010101" pitchFamily="49" charset="-122"/>
              </a:rPr>
              <a:t>4MB</a:t>
            </a:r>
            <a:endParaRPr lang="zh-CN" altLang="en-US" sz="2000" b="1">
              <a:latin typeface="楷体" panose="02010609060101010101" pitchFamily="49" charset="-122"/>
              <a:ea typeface="楷体" panose="02010609060101010101" pitchFamily="49"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5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59" grpId="0"/>
      <p:bldP spid="5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a:extLst>
              <a:ext uri="{FF2B5EF4-FFF2-40B4-BE49-F238E27FC236}">
                <a16:creationId xmlns:a16="http://schemas.microsoft.com/office/drawing/2014/main" id="{4110FE90-134C-4915-A6A6-6D675487D8EF}"/>
              </a:ext>
            </a:extLst>
          </p:cNvPr>
          <p:cNvSpPr>
            <a:spLocks noGrp="1" noChangeArrowheads="1"/>
          </p:cNvSpPr>
          <p:nvPr>
            <p:ph type="title"/>
          </p:nvPr>
        </p:nvSpPr>
        <p:spPr/>
        <p:txBody>
          <a:bodyPr/>
          <a:lstStyle/>
          <a:p>
            <a:pPr eaLnBrk="1" hangingPunct="1">
              <a:defRPr/>
            </a:pPr>
            <a:r>
              <a:rPr lang="zh-CN" altLang="en-US"/>
              <a:t>虚拟</a:t>
            </a:r>
            <a:r>
              <a:rPr lang="en-US" altLang="zh-CN"/>
              <a:t>/</a:t>
            </a:r>
            <a:r>
              <a:rPr lang="zh-CN" altLang="en-US"/>
              <a:t>物理地址翻译</a:t>
            </a:r>
          </a:p>
        </p:txBody>
      </p:sp>
      <p:sp>
        <p:nvSpPr>
          <p:cNvPr id="99331" name="Rectangle 3">
            <a:extLst>
              <a:ext uri="{FF2B5EF4-FFF2-40B4-BE49-F238E27FC236}">
                <a16:creationId xmlns:a16="http://schemas.microsoft.com/office/drawing/2014/main" id="{7BC0D029-AB4A-41F3-AFD9-E21174B4C729}"/>
              </a:ext>
            </a:extLst>
          </p:cNvPr>
          <p:cNvSpPr>
            <a:spLocks noGrp="1" noChangeArrowheads="1"/>
          </p:cNvSpPr>
          <p:nvPr>
            <p:ph idx="1"/>
          </p:nvPr>
        </p:nvSpPr>
        <p:spPr>
          <a:xfrm>
            <a:off x="179387" y="995363"/>
            <a:ext cx="8785225" cy="5400675"/>
          </a:xfrm>
        </p:spPr>
        <p:txBody>
          <a:bodyPr/>
          <a:lstStyle/>
          <a:p>
            <a:pPr eaLnBrk="1" hangingPunct="1"/>
            <a:r>
              <a:rPr kumimoji="0" lang="zh-CN" altLang="en-US" sz="2400" dirty="0"/>
              <a:t>在页表中，每个表项内容至少要包含该逻辑页所在的主存页面地址（物理页号）</a:t>
            </a:r>
          </a:p>
          <a:p>
            <a:pPr eaLnBrk="1" hangingPunct="1"/>
            <a:r>
              <a:rPr kumimoji="0" lang="zh-CN" altLang="en-US" sz="2400" dirty="0"/>
              <a:t>此外，在页表的表项中还包括装入位（有效位）、修改位、替换控制位及其他保护位等组成的控制字段</a:t>
            </a:r>
          </a:p>
        </p:txBody>
      </p:sp>
      <p:sp>
        <p:nvSpPr>
          <p:cNvPr id="99333" name="Line 4">
            <a:extLst>
              <a:ext uri="{FF2B5EF4-FFF2-40B4-BE49-F238E27FC236}">
                <a16:creationId xmlns:a16="http://schemas.microsoft.com/office/drawing/2014/main" id="{D2234801-3CEE-4BE3-B04A-254B625EE63E}"/>
              </a:ext>
            </a:extLst>
          </p:cNvPr>
          <p:cNvSpPr>
            <a:spLocks noChangeShapeType="1"/>
          </p:cNvSpPr>
          <p:nvPr/>
        </p:nvSpPr>
        <p:spPr bwMode="auto">
          <a:xfrm>
            <a:off x="5675313" y="3411538"/>
            <a:ext cx="0" cy="33337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9334" name="Rectangle 6">
            <a:extLst>
              <a:ext uri="{FF2B5EF4-FFF2-40B4-BE49-F238E27FC236}">
                <a16:creationId xmlns:a16="http://schemas.microsoft.com/office/drawing/2014/main" id="{5307FE4E-5A68-401A-88E2-3C9582402C7E}"/>
              </a:ext>
            </a:extLst>
          </p:cNvPr>
          <p:cNvSpPr>
            <a:spLocks noChangeArrowheads="1"/>
          </p:cNvSpPr>
          <p:nvPr/>
        </p:nvSpPr>
        <p:spPr bwMode="auto">
          <a:xfrm>
            <a:off x="1420813" y="2946400"/>
            <a:ext cx="1871662"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None/>
            </a:pPr>
            <a:r>
              <a:rPr kumimoji="0" lang="zh-CN" altLang="en-US" sz="2400" dirty="0">
                <a:solidFill>
                  <a:schemeClr val="bg1"/>
                </a:solidFill>
                <a:ea typeface="楷体" panose="02010609060101010101" pitchFamily="49" charset="-122"/>
                <a:cs typeface="Times New Roman" panose="02020603050405020304" pitchFamily="18" charset="0"/>
              </a:rPr>
              <a:t>页表基地址</a:t>
            </a:r>
          </a:p>
        </p:txBody>
      </p:sp>
      <p:sp>
        <p:nvSpPr>
          <p:cNvPr id="99335" name="Rectangle 7">
            <a:extLst>
              <a:ext uri="{FF2B5EF4-FFF2-40B4-BE49-F238E27FC236}">
                <a16:creationId xmlns:a16="http://schemas.microsoft.com/office/drawing/2014/main" id="{7CCD2852-6D51-4452-8384-D97921DE1140}"/>
              </a:ext>
            </a:extLst>
          </p:cNvPr>
          <p:cNvSpPr>
            <a:spLocks noChangeArrowheads="1"/>
          </p:cNvSpPr>
          <p:nvPr/>
        </p:nvSpPr>
        <p:spPr bwMode="auto">
          <a:xfrm>
            <a:off x="4173538" y="2960688"/>
            <a:ext cx="2171700"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虚拟页号</a:t>
            </a:r>
            <a:r>
              <a:rPr kumimoji="0" lang="en-US" altLang="zh-CN" sz="2400" dirty="0">
                <a:solidFill>
                  <a:schemeClr val="bg1"/>
                </a:solidFill>
                <a:ea typeface="楷体" panose="02010609060101010101" pitchFamily="49" charset="-122"/>
                <a:cs typeface="Times New Roman" panose="02020603050405020304" pitchFamily="18" charset="0"/>
              </a:rPr>
              <a:t>VPN</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99336" name="Rectangle 8">
            <a:extLst>
              <a:ext uri="{FF2B5EF4-FFF2-40B4-BE49-F238E27FC236}">
                <a16:creationId xmlns:a16="http://schemas.microsoft.com/office/drawing/2014/main" id="{B459F89E-DE57-4379-BC43-EFF684861614}"/>
              </a:ext>
            </a:extLst>
          </p:cNvPr>
          <p:cNvSpPr>
            <a:spLocks noChangeArrowheads="1"/>
          </p:cNvSpPr>
          <p:nvPr/>
        </p:nvSpPr>
        <p:spPr bwMode="auto">
          <a:xfrm>
            <a:off x="6329363" y="2960688"/>
            <a:ext cx="2203450"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None/>
            </a:pPr>
            <a:r>
              <a:rPr kumimoji="0" lang="zh-CN" altLang="en-US" sz="2400" dirty="0">
                <a:solidFill>
                  <a:schemeClr val="bg1"/>
                </a:solidFill>
                <a:ea typeface="楷体" panose="02010609060101010101" pitchFamily="49" charset="-122"/>
                <a:cs typeface="Times New Roman" panose="02020603050405020304" pitchFamily="18" charset="0"/>
              </a:rPr>
              <a:t>页内地址</a:t>
            </a:r>
            <a:r>
              <a:rPr kumimoji="0" lang="en-US" altLang="zh-CN" sz="2400" dirty="0">
                <a:solidFill>
                  <a:schemeClr val="bg1"/>
                </a:solidFill>
                <a:ea typeface="楷体" panose="02010609060101010101" pitchFamily="49" charset="-122"/>
                <a:cs typeface="Times New Roman" panose="02020603050405020304" pitchFamily="18" charset="0"/>
              </a:rPr>
              <a:t>VPO</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99337" name="Text Box 9">
            <a:extLst>
              <a:ext uri="{FF2B5EF4-FFF2-40B4-BE49-F238E27FC236}">
                <a16:creationId xmlns:a16="http://schemas.microsoft.com/office/drawing/2014/main" id="{72148BCD-FFD1-4030-A2A1-5019196DC258}"/>
              </a:ext>
            </a:extLst>
          </p:cNvPr>
          <p:cNvSpPr txBox="1">
            <a:spLocks noChangeArrowheads="1"/>
          </p:cNvSpPr>
          <p:nvPr/>
        </p:nvSpPr>
        <p:spPr bwMode="auto">
          <a:xfrm>
            <a:off x="828659" y="2574132"/>
            <a:ext cx="39084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000" dirty="0">
                <a:ea typeface="楷体" panose="02010609060101010101" pitchFamily="49" charset="-122"/>
                <a:cs typeface="Times New Roman" panose="02020603050405020304" pitchFamily="18" charset="0"/>
              </a:rPr>
              <a:t>页表基址寄存器（</a:t>
            </a:r>
            <a:r>
              <a:rPr kumimoji="0" lang="en-US" altLang="zh-CN" sz="2000" dirty="0">
                <a:ea typeface="楷体" panose="02010609060101010101" pitchFamily="49" charset="-122"/>
                <a:cs typeface="Times New Roman" panose="02020603050405020304" pitchFamily="18" charset="0"/>
              </a:rPr>
              <a:t>x86</a:t>
            </a:r>
            <a:r>
              <a:rPr kumimoji="0" lang="zh-CN" altLang="en-US" sz="2000" dirty="0">
                <a:ea typeface="楷体" panose="02010609060101010101" pitchFamily="49" charset="-122"/>
                <a:cs typeface="Times New Roman" panose="02020603050405020304" pitchFamily="18" charset="0"/>
              </a:rPr>
              <a:t>中为</a:t>
            </a:r>
            <a:r>
              <a:rPr kumimoji="0" lang="en-US" altLang="zh-CN" sz="2000" dirty="0">
                <a:ea typeface="楷体" panose="02010609060101010101" pitchFamily="49" charset="-122"/>
                <a:cs typeface="Times New Roman" panose="02020603050405020304" pitchFamily="18" charset="0"/>
              </a:rPr>
              <a:t>CR3</a:t>
            </a:r>
            <a:r>
              <a:rPr kumimoji="0" lang="zh-CN" altLang="en-US" sz="2000" dirty="0">
                <a:ea typeface="楷体" panose="02010609060101010101" pitchFamily="49" charset="-122"/>
                <a:cs typeface="Times New Roman" panose="02020603050405020304" pitchFamily="18" charset="0"/>
              </a:rPr>
              <a:t>）</a:t>
            </a:r>
          </a:p>
        </p:txBody>
      </p:sp>
      <p:sp>
        <p:nvSpPr>
          <p:cNvPr id="99338" name="Text Box 10">
            <a:extLst>
              <a:ext uri="{FF2B5EF4-FFF2-40B4-BE49-F238E27FC236}">
                <a16:creationId xmlns:a16="http://schemas.microsoft.com/office/drawing/2014/main" id="{B102D8D5-FB39-447B-ADB3-AE199CD839C3}"/>
              </a:ext>
            </a:extLst>
          </p:cNvPr>
          <p:cNvSpPr txBox="1">
            <a:spLocks noChangeArrowheads="1"/>
          </p:cNvSpPr>
          <p:nvPr/>
        </p:nvSpPr>
        <p:spPr bwMode="auto">
          <a:xfrm>
            <a:off x="6037263" y="2600325"/>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None/>
            </a:pPr>
            <a:r>
              <a:rPr kumimoji="0" lang="zh-CN" altLang="en-US" sz="2000" dirty="0">
                <a:ea typeface="楷体" panose="02010609060101010101" pitchFamily="49" charset="-122"/>
                <a:cs typeface="Times New Roman" panose="02020603050405020304" pitchFamily="18" charset="0"/>
              </a:rPr>
              <a:t>虚存地址</a:t>
            </a:r>
          </a:p>
        </p:txBody>
      </p:sp>
      <p:graphicFrame>
        <p:nvGraphicFramePr>
          <p:cNvPr id="830475" name="Group 11">
            <a:extLst>
              <a:ext uri="{FF2B5EF4-FFF2-40B4-BE49-F238E27FC236}">
                <a16:creationId xmlns:a16="http://schemas.microsoft.com/office/drawing/2014/main" id="{E17FABDB-9B37-436C-BFCA-0A50F4BE21FB}"/>
              </a:ext>
            </a:extLst>
          </p:cNvPr>
          <p:cNvGraphicFramePr>
            <a:graphicFrameLocks noGrp="1"/>
          </p:cNvGraphicFramePr>
          <p:nvPr/>
        </p:nvGraphicFramePr>
        <p:xfrm>
          <a:off x="2003425" y="4240213"/>
          <a:ext cx="2220913" cy="1871663"/>
        </p:xfrm>
        <a:graphic>
          <a:graphicData uri="http://schemas.openxmlformats.org/drawingml/2006/table">
            <a:tbl>
              <a:tblPr/>
              <a:tblGrid>
                <a:gridCol w="1111250">
                  <a:extLst>
                    <a:ext uri="{9D8B030D-6E8A-4147-A177-3AD203B41FA5}">
                      <a16:colId xmlns:a16="http://schemas.microsoft.com/office/drawing/2014/main" val="20000"/>
                    </a:ext>
                  </a:extLst>
                </a:gridCol>
                <a:gridCol w="1109663">
                  <a:extLst>
                    <a:ext uri="{9D8B030D-6E8A-4147-A177-3AD203B41FA5}">
                      <a16:colId xmlns:a16="http://schemas.microsoft.com/office/drawing/2014/main" val="20001"/>
                    </a:ext>
                  </a:extLst>
                </a:gridCol>
              </a:tblGrid>
              <a:tr h="243794">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243794">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414129">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243794">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r h="482358">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4"/>
                  </a:ext>
                </a:extLst>
              </a:tr>
              <a:tr h="243794">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a:ln>
                          <a:noFill/>
                        </a:ln>
                        <a:solidFill>
                          <a:schemeClr val="tx1"/>
                        </a:solidFill>
                        <a:effectLst/>
                        <a:latin typeface="Times New Roman" pitchFamily="18" charset="0"/>
                        <a:ea typeface="楷体_GB2312" pitchFamily="49" charset="-122"/>
                      </a:endParaRPr>
                    </a:p>
                  </a:txBody>
                  <a:tcPr marT="45697" marB="45697"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1000" b="1" i="0" u="none" strike="noStrike" cap="none" normalizeH="0" baseline="0" dirty="0">
                        <a:ln>
                          <a:noFill/>
                        </a:ln>
                        <a:solidFill>
                          <a:schemeClr val="tx1"/>
                        </a:solidFill>
                        <a:effectLst/>
                        <a:latin typeface="Times New Roman" pitchFamily="18" charset="0"/>
                        <a:ea typeface="楷体_GB2312" pitchFamily="49" charset="-122"/>
                      </a:endParaRPr>
                    </a:p>
                  </a:txBody>
                  <a:tcPr marT="45697" marB="45697"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9362" name="Text Box 34">
            <a:extLst>
              <a:ext uri="{FF2B5EF4-FFF2-40B4-BE49-F238E27FC236}">
                <a16:creationId xmlns:a16="http://schemas.microsoft.com/office/drawing/2014/main" id="{1D93855E-FECD-4C0C-B190-5B6247F95974}"/>
              </a:ext>
            </a:extLst>
          </p:cNvPr>
          <p:cNvSpPr txBox="1">
            <a:spLocks noChangeArrowheads="1"/>
          </p:cNvSpPr>
          <p:nvPr/>
        </p:nvSpPr>
        <p:spPr bwMode="auto">
          <a:xfrm>
            <a:off x="3048000" y="3874293"/>
            <a:ext cx="12176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000" dirty="0">
                <a:ea typeface="楷体" panose="02010609060101010101" pitchFamily="49" charset="-122"/>
                <a:cs typeface="Times New Roman" panose="02020603050405020304" pitchFamily="18" charset="0"/>
              </a:rPr>
              <a:t>物理页号</a:t>
            </a:r>
          </a:p>
        </p:txBody>
      </p:sp>
      <p:sp>
        <p:nvSpPr>
          <p:cNvPr id="99363" name="Text Box 35">
            <a:extLst>
              <a:ext uri="{FF2B5EF4-FFF2-40B4-BE49-F238E27FC236}">
                <a16:creationId xmlns:a16="http://schemas.microsoft.com/office/drawing/2014/main" id="{6D8CE4D9-D6C1-4705-B077-63F6A594B3DE}"/>
              </a:ext>
            </a:extLst>
          </p:cNvPr>
          <p:cNvSpPr txBox="1">
            <a:spLocks noChangeArrowheads="1"/>
          </p:cNvSpPr>
          <p:nvPr/>
        </p:nvSpPr>
        <p:spPr bwMode="auto">
          <a:xfrm>
            <a:off x="2044700" y="3870325"/>
            <a:ext cx="950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None/>
            </a:pPr>
            <a:r>
              <a:rPr kumimoji="0" lang="zh-CN" altLang="en-US" sz="2000" dirty="0">
                <a:ea typeface="楷体" panose="02010609060101010101" pitchFamily="49" charset="-122"/>
                <a:cs typeface="Times New Roman" panose="02020603050405020304" pitchFamily="18" charset="0"/>
              </a:rPr>
              <a:t>控制位</a:t>
            </a:r>
          </a:p>
        </p:txBody>
      </p:sp>
      <p:sp>
        <p:nvSpPr>
          <p:cNvPr id="99364" name="Text Box 36">
            <a:extLst>
              <a:ext uri="{FF2B5EF4-FFF2-40B4-BE49-F238E27FC236}">
                <a16:creationId xmlns:a16="http://schemas.microsoft.com/office/drawing/2014/main" id="{590FF912-99B6-4F54-AAF8-BE39D6C9D2D4}"/>
              </a:ext>
            </a:extLst>
          </p:cNvPr>
          <p:cNvSpPr txBox="1">
            <a:spLocks noChangeArrowheads="1"/>
          </p:cNvSpPr>
          <p:nvPr/>
        </p:nvSpPr>
        <p:spPr bwMode="auto">
          <a:xfrm>
            <a:off x="2058988" y="6067425"/>
            <a:ext cx="2247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a:spcBef>
                <a:spcPct val="0"/>
              </a:spcBef>
              <a:buClrTx/>
              <a:buNone/>
            </a:pPr>
            <a:r>
              <a:rPr kumimoji="0" lang="zh-CN" altLang="en-US" sz="2000" dirty="0">
                <a:ea typeface="楷体" panose="02010609060101010101" pitchFamily="49" charset="-122"/>
                <a:cs typeface="Times New Roman" panose="02020603050405020304" pitchFamily="18" charset="0"/>
              </a:rPr>
              <a:t>页表（在主存中）</a:t>
            </a:r>
          </a:p>
        </p:txBody>
      </p:sp>
      <p:sp>
        <p:nvSpPr>
          <p:cNvPr id="99365" name="Line 37">
            <a:extLst>
              <a:ext uri="{FF2B5EF4-FFF2-40B4-BE49-F238E27FC236}">
                <a16:creationId xmlns:a16="http://schemas.microsoft.com/office/drawing/2014/main" id="{6EB72C15-2826-46B6-9E6D-17F39A73F8AF}"/>
              </a:ext>
            </a:extLst>
          </p:cNvPr>
          <p:cNvSpPr>
            <a:spLocks noChangeShapeType="1"/>
          </p:cNvSpPr>
          <p:nvPr/>
        </p:nvSpPr>
        <p:spPr bwMode="auto">
          <a:xfrm>
            <a:off x="1589088" y="4352925"/>
            <a:ext cx="4064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9366" name="Line 38">
            <a:extLst>
              <a:ext uri="{FF2B5EF4-FFF2-40B4-BE49-F238E27FC236}">
                <a16:creationId xmlns:a16="http://schemas.microsoft.com/office/drawing/2014/main" id="{0BFC787D-88E8-4B8A-ACC4-A43B8AC94902}"/>
              </a:ext>
            </a:extLst>
          </p:cNvPr>
          <p:cNvSpPr>
            <a:spLocks noChangeShapeType="1"/>
          </p:cNvSpPr>
          <p:nvPr/>
        </p:nvSpPr>
        <p:spPr bwMode="auto">
          <a:xfrm>
            <a:off x="1589088" y="3425825"/>
            <a:ext cx="0" cy="94138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9367" name="Oval 39">
            <a:extLst>
              <a:ext uri="{FF2B5EF4-FFF2-40B4-BE49-F238E27FC236}">
                <a16:creationId xmlns:a16="http://schemas.microsoft.com/office/drawing/2014/main" id="{FB6572C8-828A-4806-8F2A-E7D602CBBF58}"/>
              </a:ext>
            </a:extLst>
          </p:cNvPr>
          <p:cNvSpPr>
            <a:spLocks noChangeArrowheads="1"/>
          </p:cNvSpPr>
          <p:nvPr/>
        </p:nvSpPr>
        <p:spPr bwMode="auto">
          <a:xfrm>
            <a:off x="827088" y="3587750"/>
            <a:ext cx="304800" cy="304800"/>
          </a:xfrm>
          <a:prstGeom prst="ellipse">
            <a:avLst/>
          </a:prstGeom>
          <a:solidFill>
            <a:schemeClr val="bg1"/>
          </a:solidFill>
          <a:ln w="19050">
            <a:solidFill>
              <a:schemeClr val="tx1"/>
            </a:solidFill>
            <a:round/>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9368" name="Text Box 40">
            <a:extLst>
              <a:ext uri="{FF2B5EF4-FFF2-40B4-BE49-F238E27FC236}">
                <a16:creationId xmlns:a16="http://schemas.microsoft.com/office/drawing/2014/main" id="{D462DD76-350D-44CC-954D-30F36660D060}"/>
              </a:ext>
            </a:extLst>
          </p:cNvPr>
          <p:cNvSpPr txBox="1">
            <a:spLocks noChangeArrowheads="1"/>
          </p:cNvSpPr>
          <p:nvPr/>
        </p:nvSpPr>
        <p:spPr bwMode="auto">
          <a:xfrm>
            <a:off x="709613" y="34813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800">
                <a:latin typeface="Tahoma" panose="020B0604030504040204" pitchFamily="34" charset="0"/>
                <a:ea typeface="宋体" panose="02010600030101010101" pitchFamily="2" charset="-122"/>
              </a:rPr>
              <a:t>＋</a:t>
            </a:r>
          </a:p>
        </p:txBody>
      </p:sp>
      <p:sp>
        <p:nvSpPr>
          <p:cNvPr id="99369" name="Line 41">
            <a:extLst>
              <a:ext uri="{FF2B5EF4-FFF2-40B4-BE49-F238E27FC236}">
                <a16:creationId xmlns:a16="http://schemas.microsoft.com/office/drawing/2014/main" id="{AC451802-AE13-440A-90BA-D0BB25EA4562}"/>
              </a:ext>
            </a:extLst>
          </p:cNvPr>
          <p:cNvSpPr>
            <a:spLocks noChangeShapeType="1"/>
          </p:cNvSpPr>
          <p:nvPr/>
        </p:nvSpPr>
        <p:spPr bwMode="auto">
          <a:xfrm flipH="1">
            <a:off x="989013" y="3192463"/>
            <a:ext cx="422275"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9370" name="Line 42">
            <a:extLst>
              <a:ext uri="{FF2B5EF4-FFF2-40B4-BE49-F238E27FC236}">
                <a16:creationId xmlns:a16="http://schemas.microsoft.com/office/drawing/2014/main" id="{8650A76D-D73D-4261-B219-3248BBD2286C}"/>
              </a:ext>
            </a:extLst>
          </p:cNvPr>
          <p:cNvSpPr>
            <a:spLocks noChangeShapeType="1"/>
          </p:cNvSpPr>
          <p:nvPr/>
        </p:nvSpPr>
        <p:spPr bwMode="auto">
          <a:xfrm>
            <a:off x="989013" y="3192463"/>
            <a:ext cx="0" cy="39211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9371" name="Line 43">
            <a:extLst>
              <a:ext uri="{FF2B5EF4-FFF2-40B4-BE49-F238E27FC236}">
                <a16:creationId xmlns:a16="http://schemas.microsoft.com/office/drawing/2014/main" id="{1BACE5D9-1812-4835-B78B-63748037E01A}"/>
              </a:ext>
            </a:extLst>
          </p:cNvPr>
          <p:cNvSpPr>
            <a:spLocks noChangeShapeType="1"/>
          </p:cNvSpPr>
          <p:nvPr/>
        </p:nvSpPr>
        <p:spPr bwMode="auto">
          <a:xfrm>
            <a:off x="979488" y="3903663"/>
            <a:ext cx="0" cy="134937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9372" name="Line 44">
            <a:extLst>
              <a:ext uri="{FF2B5EF4-FFF2-40B4-BE49-F238E27FC236}">
                <a16:creationId xmlns:a16="http://schemas.microsoft.com/office/drawing/2014/main" id="{165EF8A9-D0FE-4F21-B569-F01FD7F6264C}"/>
              </a:ext>
            </a:extLst>
          </p:cNvPr>
          <p:cNvSpPr>
            <a:spLocks noChangeShapeType="1"/>
          </p:cNvSpPr>
          <p:nvPr/>
        </p:nvSpPr>
        <p:spPr bwMode="auto">
          <a:xfrm>
            <a:off x="963613" y="5238750"/>
            <a:ext cx="103187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9373" name="Line 45">
            <a:extLst>
              <a:ext uri="{FF2B5EF4-FFF2-40B4-BE49-F238E27FC236}">
                <a16:creationId xmlns:a16="http://schemas.microsoft.com/office/drawing/2014/main" id="{311209AB-1A8D-4458-BA65-9D08B2368FDD}"/>
              </a:ext>
            </a:extLst>
          </p:cNvPr>
          <p:cNvSpPr>
            <a:spLocks noChangeShapeType="1"/>
          </p:cNvSpPr>
          <p:nvPr/>
        </p:nvSpPr>
        <p:spPr bwMode="auto">
          <a:xfrm flipH="1" flipV="1">
            <a:off x="1131888" y="3736975"/>
            <a:ext cx="4543425" cy="7938"/>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9374" name="Rectangle 46">
            <a:extLst>
              <a:ext uri="{FF2B5EF4-FFF2-40B4-BE49-F238E27FC236}">
                <a16:creationId xmlns:a16="http://schemas.microsoft.com/office/drawing/2014/main" id="{E301FE6C-A938-410A-9395-BD5FFDFEC458}"/>
              </a:ext>
            </a:extLst>
          </p:cNvPr>
          <p:cNvSpPr>
            <a:spLocks noChangeArrowheads="1"/>
          </p:cNvSpPr>
          <p:nvPr/>
        </p:nvSpPr>
        <p:spPr bwMode="auto">
          <a:xfrm>
            <a:off x="4259263" y="5541963"/>
            <a:ext cx="2097087"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400" dirty="0">
                <a:solidFill>
                  <a:schemeClr val="bg1"/>
                </a:solidFill>
                <a:ea typeface="楷体" panose="02010609060101010101" pitchFamily="49" charset="-122"/>
                <a:cs typeface="Times New Roman" panose="02020603050405020304" pitchFamily="18" charset="0"/>
              </a:rPr>
              <a:t>物理页号</a:t>
            </a:r>
            <a:r>
              <a:rPr kumimoji="0" lang="en-US" altLang="zh-CN" sz="2400" dirty="0">
                <a:solidFill>
                  <a:schemeClr val="bg1"/>
                </a:solidFill>
                <a:ea typeface="楷体" panose="02010609060101010101" pitchFamily="49" charset="-122"/>
                <a:cs typeface="Times New Roman" panose="02020603050405020304" pitchFamily="18" charset="0"/>
              </a:rPr>
              <a:t>PPN</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99375" name="Rectangle 47">
            <a:extLst>
              <a:ext uri="{FF2B5EF4-FFF2-40B4-BE49-F238E27FC236}">
                <a16:creationId xmlns:a16="http://schemas.microsoft.com/office/drawing/2014/main" id="{CE9A0829-EEFA-4C8F-9C2A-DCE44358D404}"/>
              </a:ext>
            </a:extLst>
          </p:cNvPr>
          <p:cNvSpPr>
            <a:spLocks noChangeArrowheads="1"/>
          </p:cNvSpPr>
          <p:nvPr/>
        </p:nvSpPr>
        <p:spPr bwMode="auto">
          <a:xfrm>
            <a:off x="6357938" y="5541963"/>
            <a:ext cx="2174875" cy="479425"/>
          </a:xfrm>
          <a:prstGeom prst="rect">
            <a:avLst/>
          </a:prstGeom>
          <a:solidFill>
            <a:srgbClr val="0000CC"/>
          </a:solidFill>
          <a:ln w="19050">
            <a:solidFill>
              <a:srgbClr val="FFCC00"/>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400" dirty="0">
                <a:solidFill>
                  <a:schemeClr val="bg1"/>
                </a:solidFill>
                <a:ea typeface="楷体" panose="02010609060101010101" pitchFamily="49" charset="-122"/>
                <a:cs typeface="Times New Roman" panose="02020603050405020304" pitchFamily="18" charset="0"/>
              </a:rPr>
              <a:t>页内地址</a:t>
            </a:r>
            <a:r>
              <a:rPr kumimoji="0" lang="en-US" altLang="zh-CN" sz="2400" dirty="0">
                <a:solidFill>
                  <a:schemeClr val="bg1"/>
                </a:solidFill>
                <a:ea typeface="楷体" panose="02010609060101010101" pitchFamily="49" charset="-122"/>
                <a:cs typeface="Times New Roman" panose="02020603050405020304" pitchFamily="18" charset="0"/>
              </a:rPr>
              <a:t>PPO</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99376" name="Text Box 48">
            <a:extLst>
              <a:ext uri="{FF2B5EF4-FFF2-40B4-BE49-F238E27FC236}">
                <a16:creationId xmlns:a16="http://schemas.microsoft.com/office/drawing/2014/main" id="{B2890C3B-9547-4901-82E6-5A6405529F47}"/>
              </a:ext>
            </a:extLst>
          </p:cNvPr>
          <p:cNvSpPr txBox="1">
            <a:spLocks noChangeArrowheads="1"/>
          </p:cNvSpPr>
          <p:nvPr/>
        </p:nvSpPr>
        <p:spPr bwMode="auto">
          <a:xfrm>
            <a:off x="6003925" y="5995988"/>
            <a:ext cx="121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None/>
            </a:pPr>
            <a:r>
              <a:rPr kumimoji="0" lang="zh-CN" altLang="en-US" sz="2000" dirty="0">
                <a:ea typeface="楷体" panose="02010609060101010101" pitchFamily="49" charset="-122"/>
                <a:cs typeface="Times New Roman" panose="02020603050405020304" pitchFamily="18" charset="0"/>
              </a:rPr>
              <a:t>物理地址</a:t>
            </a:r>
          </a:p>
        </p:txBody>
      </p:sp>
      <p:sp>
        <p:nvSpPr>
          <p:cNvPr id="99377" name="Line 49">
            <a:extLst>
              <a:ext uri="{FF2B5EF4-FFF2-40B4-BE49-F238E27FC236}">
                <a16:creationId xmlns:a16="http://schemas.microsoft.com/office/drawing/2014/main" id="{B1C94921-C085-4CDF-B598-8E7F6F0C2990}"/>
              </a:ext>
            </a:extLst>
          </p:cNvPr>
          <p:cNvSpPr>
            <a:spLocks noChangeShapeType="1"/>
          </p:cNvSpPr>
          <p:nvPr/>
        </p:nvSpPr>
        <p:spPr bwMode="auto">
          <a:xfrm>
            <a:off x="7300913" y="3452813"/>
            <a:ext cx="0" cy="207486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9378" name="Line 50">
            <a:extLst>
              <a:ext uri="{FF2B5EF4-FFF2-40B4-BE49-F238E27FC236}">
                <a16:creationId xmlns:a16="http://schemas.microsoft.com/office/drawing/2014/main" id="{33AC4741-EC67-45B2-BA9D-FAADDF40616E}"/>
              </a:ext>
            </a:extLst>
          </p:cNvPr>
          <p:cNvSpPr>
            <a:spLocks noChangeShapeType="1"/>
          </p:cNvSpPr>
          <p:nvPr/>
        </p:nvSpPr>
        <p:spPr bwMode="auto">
          <a:xfrm>
            <a:off x="3903663" y="5238750"/>
            <a:ext cx="1785937"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9379" name="Line 51">
            <a:extLst>
              <a:ext uri="{FF2B5EF4-FFF2-40B4-BE49-F238E27FC236}">
                <a16:creationId xmlns:a16="http://schemas.microsoft.com/office/drawing/2014/main" id="{8856F48E-8857-46A2-BF8E-6D348E15F658}"/>
              </a:ext>
            </a:extLst>
          </p:cNvPr>
          <p:cNvSpPr>
            <a:spLocks noChangeShapeType="1"/>
          </p:cNvSpPr>
          <p:nvPr/>
        </p:nvSpPr>
        <p:spPr bwMode="auto">
          <a:xfrm>
            <a:off x="5689600" y="5238750"/>
            <a:ext cx="0" cy="29051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830516" name="Text Box 52">
            <a:extLst>
              <a:ext uri="{FF2B5EF4-FFF2-40B4-BE49-F238E27FC236}">
                <a16:creationId xmlns:a16="http://schemas.microsoft.com/office/drawing/2014/main" id="{4FB9C7DA-BD06-4895-BB02-92BDAAF34CE4}"/>
              </a:ext>
            </a:extLst>
          </p:cNvPr>
          <p:cNvSpPr txBox="1">
            <a:spLocks noChangeArrowheads="1"/>
          </p:cNvSpPr>
          <p:nvPr/>
        </p:nvSpPr>
        <p:spPr bwMode="auto">
          <a:xfrm rot="5400000">
            <a:off x="2401094" y="4687094"/>
            <a:ext cx="539750" cy="519112"/>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a:effectLst>
                  <a:outerShdw blurRad="38100" dist="38100" dir="2700000" algn="tl">
                    <a:srgbClr val="C0C0C0"/>
                  </a:outerShdw>
                </a:effectLst>
                <a:latin typeface="Arial"/>
                <a:ea typeface="宋体" pitchFamily="2" charset="-122"/>
              </a:rPr>
              <a:t>…</a:t>
            </a:r>
            <a:endParaRPr kumimoji="0" lang="en-US" altLang="zh-CN" sz="2800">
              <a:effectLst>
                <a:outerShdw blurRad="38100" dist="38100" dir="2700000" algn="tl">
                  <a:srgbClr val="C0C0C0"/>
                </a:outerShdw>
              </a:effectLst>
              <a:latin typeface="Tahoma" pitchFamily="34" charset="0"/>
              <a:ea typeface="宋体" pitchFamily="2" charset="-122"/>
            </a:endParaRPr>
          </a:p>
        </p:txBody>
      </p:sp>
      <p:sp>
        <p:nvSpPr>
          <p:cNvPr id="830517" name="Text Box 53">
            <a:extLst>
              <a:ext uri="{FF2B5EF4-FFF2-40B4-BE49-F238E27FC236}">
                <a16:creationId xmlns:a16="http://schemas.microsoft.com/office/drawing/2014/main" id="{BCC1B40C-3DEB-4B5E-A915-188791CAE9DD}"/>
              </a:ext>
            </a:extLst>
          </p:cNvPr>
          <p:cNvSpPr txBox="1">
            <a:spLocks noChangeArrowheads="1"/>
          </p:cNvSpPr>
          <p:nvPr/>
        </p:nvSpPr>
        <p:spPr bwMode="auto">
          <a:xfrm rot="5400000">
            <a:off x="3574257" y="4672806"/>
            <a:ext cx="539750" cy="519113"/>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a:effectLst>
                  <a:outerShdw blurRad="38100" dist="38100" dir="2700000" algn="tl">
                    <a:srgbClr val="C0C0C0"/>
                  </a:outerShdw>
                </a:effectLst>
                <a:latin typeface="Arial"/>
                <a:ea typeface="宋体" pitchFamily="2" charset="-122"/>
              </a:rPr>
              <a:t>…</a:t>
            </a:r>
            <a:endParaRPr kumimoji="0" lang="en-US" altLang="zh-CN" sz="2800">
              <a:effectLst>
                <a:outerShdw blurRad="38100" dist="38100" dir="2700000" algn="tl">
                  <a:srgbClr val="C0C0C0"/>
                </a:outerShdw>
              </a:effectLst>
              <a:latin typeface="Tahoma" pitchFamily="34" charset="0"/>
              <a:ea typeface="宋体" pitchFamily="2" charset="-122"/>
            </a:endParaRPr>
          </a:p>
        </p:txBody>
      </p:sp>
      <p:sp>
        <p:nvSpPr>
          <p:cNvPr id="830518" name="Text Box 54">
            <a:extLst>
              <a:ext uri="{FF2B5EF4-FFF2-40B4-BE49-F238E27FC236}">
                <a16:creationId xmlns:a16="http://schemas.microsoft.com/office/drawing/2014/main" id="{C3DB27B8-58BE-42F9-8A25-A3D305B52718}"/>
              </a:ext>
            </a:extLst>
          </p:cNvPr>
          <p:cNvSpPr txBox="1">
            <a:spLocks noChangeArrowheads="1"/>
          </p:cNvSpPr>
          <p:nvPr/>
        </p:nvSpPr>
        <p:spPr bwMode="auto">
          <a:xfrm rot="5400000">
            <a:off x="2412207" y="5369718"/>
            <a:ext cx="539750" cy="519113"/>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a:effectLst>
                  <a:outerShdw blurRad="38100" dist="38100" dir="2700000" algn="tl">
                    <a:srgbClr val="C0C0C0"/>
                  </a:outerShdw>
                </a:effectLst>
                <a:latin typeface="Arial"/>
                <a:ea typeface="宋体" pitchFamily="2" charset="-122"/>
              </a:rPr>
              <a:t>…</a:t>
            </a:r>
            <a:endParaRPr kumimoji="0" lang="en-US" altLang="zh-CN" sz="2800">
              <a:effectLst>
                <a:outerShdw blurRad="38100" dist="38100" dir="2700000" algn="tl">
                  <a:srgbClr val="C0C0C0"/>
                </a:outerShdw>
              </a:effectLst>
              <a:latin typeface="Tahoma" pitchFamily="34" charset="0"/>
              <a:ea typeface="宋体" pitchFamily="2" charset="-122"/>
            </a:endParaRPr>
          </a:p>
        </p:txBody>
      </p:sp>
      <p:sp>
        <p:nvSpPr>
          <p:cNvPr id="830519" name="Text Box 55">
            <a:extLst>
              <a:ext uri="{FF2B5EF4-FFF2-40B4-BE49-F238E27FC236}">
                <a16:creationId xmlns:a16="http://schemas.microsoft.com/office/drawing/2014/main" id="{7B79E904-1B0D-48C7-8803-8DACCC747ED8}"/>
              </a:ext>
            </a:extLst>
          </p:cNvPr>
          <p:cNvSpPr txBox="1">
            <a:spLocks noChangeArrowheads="1"/>
          </p:cNvSpPr>
          <p:nvPr/>
        </p:nvSpPr>
        <p:spPr bwMode="auto">
          <a:xfrm rot="5400000">
            <a:off x="3572669" y="5369719"/>
            <a:ext cx="539750" cy="519112"/>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a:effectLst>
                  <a:outerShdw blurRad="38100" dist="38100" dir="2700000" algn="tl">
                    <a:srgbClr val="C0C0C0"/>
                  </a:outerShdw>
                </a:effectLst>
                <a:latin typeface="Arial"/>
                <a:ea typeface="宋体" pitchFamily="2" charset="-122"/>
              </a:rPr>
              <a:t>…</a:t>
            </a:r>
            <a:endParaRPr kumimoji="0" lang="en-US" altLang="zh-CN" sz="2800">
              <a:effectLst>
                <a:outerShdw blurRad="38100" dist="38100" dir="2700000" algn="tl">
                  <a:srgbClr val="C0C0C0"/>
                </a:outerShdw>
              </a:effectLst>
              <a:latin typeface="Tahoma" pitchFamily="34" charset="0"/>
              <a:ea typeface="宋体" pitchFamily="2" charset="-122"/>
            </a:endParaRPr>
          </a:p>
        </p:txBody>
      </p:sp>
      <p:sp>
        <p:nvSpPr>
          <p:cNvPr id="99384" name="Text Box 9">
            <a:extLst>
              <a:ext uri="{FF2B5EF4-FFF2-40B4-BE49-F238E27FC236}">
                <a16:creationId xmlns:a16="http://schemas.microsoft.com/office/drawing/2014/main" id="{A8CB4C75-5A79-4598-BA81-D595354DABA3}"/>
              </a:ext>
            </a:extLst>
          </p:cNvPr>
          <p:cNvSpPr txBox="1">
            <a:spLocks noChangeArrowheads="1"/>
          </p:cNvSpPr>
          <p:nvPr/>
        </p:nvSpPr>
        <p:spPr bwMode="auto">
          <a:xfrm>
            <a:off x="1238250" y="4316413"/>
            <a:ext cx="7239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1400">
                <a:solidFill>
                  <a:srgbClr val="C00000"/>
                </a:solidFill>
                <a:latin typeface="Tahoma" panose="020B0604030504040204" pitchFamily="34" charset="0"/>
              </a:rPr>
              <a:t>当前进</a:t>
            </a:r>
            <a:endParaRPr kumimoji="0" lang="en-US" altLang="zh-CN" sz="1400">
              <a:solidFill>
                <a:srgbClr val="C00000"/>
              </a:solidFill>
              <a:latin typeface="Tahoma" panose="020B0604030504040204" pitchFamily="34" charset="0"/>
            </a:endParaRPr>
          </a:p>
          <a:p>
            <a:pPr algn="r" eaLnBrk="1" hangingPunct="1">
              <a:spcBef>
                <a:spcPct val="0"/>
              </a:spcBef>
              <a:buClrTx/>
              <a:buFontTx/>
              <a:buNone/>
            </a:pPr>
            <a:r>
              <a:rPr kumimoji="0" lang="zh-CN" altLang="en-US" sz="1400">
                <a:solidFill>
                  <a:srgbClr val="C00000"/>
                </a:solidFill>
                <a:latin typeface="Tahoma" panose="020B0604030504040204" pitchFamily="34" charset="0"/>
              </a:rPr>
              <a:t>程的页</a:t>
            </a:r>
            <a:endParaRPr kumimoji="0" lang="en-US" altLang="zh-CN" sz="1400">
              <a:solidFill>
                <a:srgbClr val="C00000"/>
              </a:solidFill>
              <a:latin typeface="Tahoma" panose="020B0604030504040204" pitchFamily="34" charset="0"/>
            </a:endParaRPr>
          </a:p>
          <a:p>
            <a:pPr algn="r" eaLnBrk="1" hangingPunct="1">
              <a:spcBef>
                <a:spcPct val="0"/>
              </a:spcBef>
              <a:buClrTx/>
              <a:buFontTx/>
              <a:buNone/>
            </a:pPr>
            <a:r>
              <a:rPr kumimoji="0" lang="zh-CN" altLang="en-US" sz="1400">
                <a:solidFill>
                  <a:srgbClr val="C00000"/>
                </a:solidFill>
                <a:latin typeface="Tahoma" panose="020B0604030504040204" pitchFamily="34" charset="0"/>
              </a:rPr>
              <a:t>表基址</a:t>
            </a:r>
          </a:p>
        </p:txBody>
      </p:sp>
      <p:sp>
        <p:nvSpPr>
          <p:cNvPr id="99385" name="Text Box 9">
            <a:extLst>
              <a:ext uri="{FF2B5EF4-FFF2-40B4-BE49-F238E27FC236}">
                <a16:creationId xmlns:a16="http://schemas.microsoft.com/office/drawing/2014/main" id="{8D5129A3-17DA-4BA1-8684-2BD15FAF8BAC}"/>
              </a:ext>
            </a:extLst>
          </p:cNvPr>
          <p:cNvSpPr txBox="1">
            <a:spLocks noChangeArrowheads="1"/>
          </p:cNvSpPr>
          <p:nvPr/>
        </p:nvSpPr>
        <p:spPr bwMode="auto">
          <a:xfrm>
            <a:off x="327025" y="5551488"/>
            <a:ext cx="1262063" cy="738187"/>
          </a:xfrm>
          <a:prstGeom prst="rect">
            <a:avLst/>
          </a:prstGeom>
          <a:noFill/>
          <a:ln w="19050">
            <a:solidFill>
              <a:srgbClr val="00B0F0"/>
            </a:solidFill>
            <a:miter lim="800000"/>
            <a:headEnd/>
            <a:tailEnd type="none" w="lg" len="lg"/>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zh-CN" altLang="en-US" sz="1400">
                <a:solidFill>
                  <a:srgbClr val="C00000"/>
                </a:solidFill>
                <a:latin typeface="Tahoma" panose="020B0604030504040204" pitchFamily="34" charset="0"/>
              </a:rPr>
              <a:t>有效位为</a:t>
            </a:r>
            <a:r>
              <a:rPr kumimoji="0" lang="en-US" altLang="zh-CN" sz="1400">
                <a:solidFill>
                  <a:srgbClr val="C00000"/>
                </a:solidFill>
                <a:latin typeface="Tahoma" panose="020B0604030504040204" pitchFamily="34" charset="0"/>
              </a:rPr>
              <a:t>0</a:t>
            </a:r>
            <a:r>
              <a:rPr kumimoji="0" lang="zh-CN" altLang="en-US" sz="1400">
                <a:solidFill>
                  <a:srgbClr val="C00000"/>
                </a:solidFill>
                <a:latin typeface="Tahoma" panose="020B0604030504040204" pitchFamily="34" charset="0"/>
              </a:rPr>
              <a:t>表示页面不在存储器中（缺页）</a:t>
            </a:r>
          </a:p>
        </p:txBody>
      </p:sp>
      <p:cxnSp>
        <p:nvCxnSpPr>
          <p:cNvPr id="99386" name="直接箭头连接符 2">
            <a:extLst>
              <a:ext uri="{FF2B5EF4-FFF2-40B4-BE49-F238E27FC236}">
                <a16:creationId xmlns:a16="http://schemas.microsoft.com/office/drawing/2014/main" id="{E077608F-74A3-457B-B6CA-CD0F01C4309A}"/>
              </a:ext>
            </a:extLst>
          </p:cNvPr>
          <p:cNvCxnSpPr>
            <a:cxnSpLocks noChangeShapeType="1"/>
          </p:cNvCxnSpPr>
          <p:nvPr/>
        </p:nvCxnSpPr>
        <p:spPr bwMode="auto">
          <a:xfrm flipV="1">
            <a:off x="1600200" y="5253038"/>
            <a:ext cx="595313" cy="298450"/>
          </a:xfrm>
          <a:prstGeom prst="straightConnector1">
            <a:avLst/>
          </a:prstGeom>
          <a:noFill/>
          <a:ln w="22225" algn="ctr">
            <a:solidFill>
              <a:srgbClr val="00B0F0"/>
            </a:solidFill>
            <a:miter lim="800000"/>
            <a:headEnd/>
            <a:tailEnd type="triangle" w="lg" len="me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7A4DD-12CC-4E38-853C-D1E6F92FFB51}"/>
              </a:ext>
            </a:extLst>
          </p:cNvPr>
          <p:cNvSpPr>
            <a:spLocks noGrp="1"/>
          </p:cNvSpPr>
          <p:nvPr>
            <p:ph type="title"/>
          </p:nvPr>
        </p:nvSpPr>
        <p:spPr/>
        <p:txBody>
          <a:bodyPr/>
          <a:lstStyle/>
          <a:p>
            <a:pPr>
              <a:defRPr/>
            </a:pPr>
            <a:r>
              <a:rPr lang="zh-CN" altLang="en-US"/>
              <a:t>页面命中</a:t>
            </a:r>
          </a:p>
        </p:txBody>
      </p:sp>
      <p:sp>
        <p:nvSpPr>
          <p:cNvPr id="101379" name="内容占位符 2">
            <a:extLst>
              <a:ext uri="{FF2B5EF4-FFF2-40B4-BE49-F238E27FC236}">
                <a16:creationId xmlns:a16="http://schemas.microsoft.com/office/drawing/2014/main" id="{797FDE26-8129-4C3E-8436-F28E903FE9CE}"/>
              </a:ext>
            </a:extLst>
          </p:cNvPr>
          <p:cNvSpPr>
            <a:spLocks noGrp="1" noChangeArrowheads="1"/>
          </p:cNvSpPr>
          <p:nvPr>
            <p:ph idx="1"/>
          </p:nvPr>
        </p:nvSpPr>
        <p:spPr/>
        <p:txBody>
          <a:bodyPr/>
          <a:lstStyle/>
          <a:p>
            <a:endParaRPr lang="zh-CN" altLang="en-US"/>
          </a:p>
        </p:txBody>
      </p:sp>
      <p:sp>
        <p:nvSpPr>
          <p:cNvPr id="5" name="Rectangle 43">
            <a:extLst>
              <a:ext uri="{FF2B5EF4-FFF2-40B4-BE49-F238E27FC236}">
                <a16:creationId xmlns:a16="http://schemas.microsoft.com/office/drawing/2014/main" id="{322A9B26-646E-46A5-8D98-21E683FC8AD9}"/>
              </a:ext>
            </a:extLst>
          </p:cNvPr>
          <p:cNvSpPr/>
          <p:nvPr/>
        </p:nvSpPr>
        <p:spPr bwMode="auto">
          <a:xfrm>
            <a:off x="1384300" y="1573213"/>
            <a:ext cx="3749675" cy="1676400"/>
          </a:xfrm>
          <a:prstGeom prst="rect">
            <a:avLst/>
          </a:prstGeom>
          <a:solidFill>
            <a:srgbClr val="808080">
              <a:lumMod val="20000"/>
              <a:lumOff val="80000"/>
            </a:srgbClr>
          </a:solidFill>
          <a:ln w="25400" cap="flat" cmpd="sng" algn="ctr">
            <a:no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2400" b="1" kern="0">
              <a:solidFill>
                <a:srgbClr val="000000"/>
              </a:solidFill>
              <a:latin typeface="Arial Narrow" pitchFamily="34" charset="0"/>
              <a:ea typeface="+mn-ea"/>
            </a:endParaRPr>
          </a:p>
        </p:txBody>
      </p:sp>
      <p:sp>
        <p:nvSpPr>
          <p:cNvPr id="6" name="Rectangle 2">
            <a:extLst>
              <a:ext uri="{FF2B5EF4-FFF2-40B4-BE49-F238E27FC236}">
                <a16:creationId xmlns:a16="http://schemas.microsoft.com/office/drawing/2014/main" id="{845C81F6-34E7-45D2-BDCD-09BE77AB649D}"/>
              </a:ext>
            </a:extLst>
          </p:cNvPr>
          <p:cNvSpPr txBox="1">
            <a:spLocks noChangeArrowheads="1"/>
          </p:cNvSpPr>
          <p:nvPr/>
        </p:nvSpPr>
        <p:spPr bwMode="auto">
          <a:xfrm>
            <a:off x="439738" y="4173538"/>
            <a:ext cx="7027862" cy="220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CC3300"/>
              </a:buClr>
              <a:buFont typeface="Wingdings 2" panose="05020102010507070707" pitchFamily="18" charset="2"/>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ts val="60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1) </a:t>
            </a:r>
            <a:r>
              <a:rPr kumimoji="0" lang="zh-CN" altLang="en-US" sz="2000" dirty="0">
                <a:solidFill>
                  <a:srgbClr val="000000"/>
                </a:solidFill>
                <a:ea typeface="楷体" panose="02010609060101010101" pitchFamily="49" charset="-122"/>
                <a:cs typeface="Times New Roman" panose="02020603050405020304" pitchFamily="18" charset="0"/>
              </a:rPr>
              <a:t>处理器生成一个虚拟地址，并把它传送给</a:t>
            </a:r>
            <a:r>
              <a:rPr kumimoji="0" lang="en-GB" altLang="zh-CN" sz="2000" dirty="0">
                <a:solidFill>
                  <a:srgbClr val="000000"/>
                </a:solidFill>
                <a:ea typeface="楷体" panose="02010609060101010101" pitchFamily="49" charset="-122"/>
                <a:cs typeface="Times New Roman" panose="02020603050405020304" pitchFamily="18" charset="0"/>
              </a:rPr>
              <a:t>MMU </a:t>
            </a:r>
          </a:p>
          <a:p>
            <a:pPr algn="l" eaLnBrk="1" hangingPunct="1">
              <a:spcBef>
                <a:spcPts val="60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2) MMU</a:t>
            </a:r>
            <a:r>
              <a:rPr kumimoji="0" lang="zh-CN" altLang="en-US" sz="2000" dirty="0">
                <a:solidFill>
                  <a:srgbClr val="000000"/>
                </a:solidFill>
                <a:ea typeface="楷体" panose="02010609060101010101" pitchFamily="49" charset="-122"/>
                <a:cs typeface="Times New Roman" panose="02020603050405020304" pitchFamily="18" charset="0"/>
              </a:rPr>
              <a:t>生成页表项（</a:t>
            </a:r>
            <a:r>
              <a:rPr kumimoji="0" lang="en-US" altLang="zh-CN" sz="2000" dirty="0">
                <a:solidFill>
                  <a:srgbClr val="000000"/>
                </a:solidFill>
                <a:ea typeface="楷体" panose="02010609060101010101" pitchFamily="49" charset="-122"/>
                <a:cs typeface="Times New Roman" panose="02020603050405020304" pitchFamily="18" charset="0"/>
              </a:rPr>
              <a:t>PTE</a:t>
            </a:r>
            <a:r>
              <a:rPr kumimoji="0" lang="zh-CN" altLang="en-US" sz="2000" dirty="0">
                <a:solidFill>
                  <a:srgbClr val="000000"/>
                </a:solidFill>
                <a:ea typeface="楷体" panose="02010609060101010101" pitchFamily="49" charset="-122"/>
                <a:cs typeface="Times New Roman" panose="02020603050405020304" pitchFamily="18" charset="0"/>
              </a:rPr>
              <a:t>）地址，并从</a:t>
            </a:r>
            <a:r>
              <a:rPr kumimoji="0" lang="en-US" altLang="zh-CN" sz="2000" dirty="0">
                <a:solidFill>
                  <a:srgbClr val="000000"/>
                </a:solidFill>
                <a:ea typeface="楷体" panose="02010609060101010101" pitchFamily="49" charset="-122"/>
                <a:cs typeface="Times New Roman" panose="02020603050405020304" pitchFamily="18" charset="0"/>
              </a:rPr>
              <a:t>cache/</a:t>
            </a:r>
            <a:r>
              <a:rPr kumimoji="0" lang="zh-CN" altLang="en-US" sz="2000" dirty="0">
                <a:solidFill>
                  <a:srgbClr val="000000"/>
                </a:solidFill>
                <a:ea typeface="楷体" panose="02010609060101010101" pitchFamily="49" charset="-122"/>
                <a:cs typeface="Times New Roman" panose="02020603050405020304" pitchFamily="18" charset="0"/>
              </a:rPr>
              <a:t>主存请求得到它</a:t>
            </a:r>
            <a:endParaRPr kumimoji="0" lang="en-US" altLang="zh-CN" sz="2000" dirty="0">
              <a:solidFill>
                <a:srgbClr val="000000"/>
              </a:solidFill>
              <a:ea typeface="楷体" panose="02010609060101010101" pitchFamily="49" charset="-122"/>
              <a:cs typeface="Times New Roman" panose="02020603050405020304" pitchFamily="18" charset="0"/>
            </a:endParaRPr>
          </a:p>
          <a:p>
            <a:pPr algn="l" eaLnBrk="1" hangingPunct="1">
              <a:spcBef>
                <a:spcPts val="60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3</a:t>
            </a:r>
            <a:r>
              <a:rPr kumimoji="0" lang="en-US" altLang="zh-CN" sz="2000" dirty="0">
                <a:solidFill>
                  <a:srgbClr val="000000"/>
                </a:solidFill>
                <a:ea typeface="楷体" panose="02010609060101010101" pitchFamily="49" charset="-122"/>
                <a:cs typeface="Times New Roman" panose="02020603050405020304" pitchFamily="18" charset="0"/>
              </a:rPr>
              <a:t>)cache/</a:t>
            </a:r>
            <a:r>
              <a:rPr kumimoji="0" lang="zh-CN" altLang="en-US" sz="2000" dirty="0">
                <a:solidFill>
                  <a:srgbClr val="000000"/>
                </a:solidFill>
                <a:ea typeface="楷体" panose="02010609060101010101" pitchFamily="49" charset="-122"/>
                <a:cs typeface="Times New Roman" panose="02020603050405020304" pitchFamily="18" charset="0"/>
              </a:rPr>
              <a:t>主存向</a:t>
            </a:r>
            <a:r>
              <a:rPr kumimoji="0" lang="en-US" altLang="zh-CN" sz="2000" dirty="0">
                <a:solidFill>
                  <a:srgbClr val="000000"/>
                </a:solidFill>
                <a:ea typeface="楷体" panose="02010609060101010101" pitchFamily="49" charset="-122"/>
                <a:cs typeface="Times New Roman" panose="02020603050405020304" pitchFamily="18" charset="0"/>
              </a:rPr>
              <a:t>MMU</a:t>
            </a:r>
            <a:r>
              <a:rPr kumimoji="0" lang="zh-CN" altLang="en-US" sz="2000" dirty="0">
                <a:solidFill>
                  <a:srgbClr val="000000"/>
                </a:solidFill>
                <a:ea typeface="楷体" panose="02010609060101010101" pitchFamily="49" charset="-122"/>
                <a:cs typeface="Times New Roman" panose="02020603050405020304" pitchFamily="18" charset="0"/>
              </a:rPr>
              <a:t>返回</a:t>
            </a:r>
            <a:r>
              <a:rPr kumimoji="0" lang="en-US" altLang="zh-CN" sz="2000" dirty="0">
                <a:solidFill>
                  <a:srgbClr val="000000"/>
                </a:solidFill>
                <a:ea typeface="楷体" panose="02010609060101010101" pitchFamily="49" charset="-122"/>
                <a:cs typeface="Times New Roman" panose="02020603050405020304" pitchFamily="18" charset="0"/>
              </a:rPr>
              <a:t>PTE</a:t>
            </a:r>
            <a:endParaRPr kumimoji="0" lang="en-GB" altLang="zh-CN" sz="2000" dirty="0">
              <a:solidFill>
                <a:srgbClr val="000000"/>
              </a:solidFill>
              <a:ea typeface="楷体" panose="02010609060101010101" pitchFamily="49" charset="-122"/>
              <a:cs typeface="Times New Roman" panose="02020603050405020304" pitchFamily="18" charset="0"/>
            </a:endParaRPr>
          </a:p>
          <a:p>
            <a:pPr algn="l" eaLnBrk="1" hangingPunct="1">
              <a:spcBef>
                <a:spcPts val="60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4) MMU </a:t>
            </a:r>
            <a:r>
              <a:rPr kumimoji="0" lang="zh-CN" altLang="en-US" sz="2000" dirty="0">
                <a:solidFill>
                  <a:srgbClr val="000000"/>
                </a:solidFill>
                <a:ea typeface="楷体" panose="02010609060101010101" pitchFamily="49" charset="-122"/>
                <a:cs typeface="Times New Roman" panose="02020603050405020304" pitchFamily="18" charset="0"/>
              </a:rPr>
              <a:t>构造物理地址，并把它传送给</a:t>
            </a:r>
            <a:r>
              <a:rPr kumimoji="0" lang="en-US" altLang="zh-CN" sz="2000" dirty="0">
                <a:solidFill>
                  <a:srgbClr val="000000"/>
                </a:solidFill>
                <a:ea typeface="楷体" panose="02010609060101010101" pitchFamily="49" charset="-122"/>
                <a:cs typeface="Times New Roman" panose="02020603050405020304" pitchFamily="18" charset="0"/>
              </a:rPr>
              <a:t>cache/</a:t>
            </a:r>
            <a:r>
              <a:rPr kumimoji="0" lang="zh-CN" altLang="en-US" sz="2000" dirty="0">
                <a:solidFill>
                  <a:srgbClr val="000000"/>
                </a:solidFill>
                <a:ea typeface="楷体" panose="02010609060101010101" pitchFamily="49" charset="-122"/>
                <a:cs typeface="Times New Roman" panose="02020603050405020304" pitchFamily="18" charset="0"/>
              </a:rPr>
              <a:t>主存</a:t>
            </a:r>
            <a:endParaRPr kumimoji="0" lang="en-GB" altLang="zh-CN" sz="2000" dirty="0">
              <a:solidFill>
                <a:srgbClr val="000000"/>
              </a:solidFill>
              <a:ea typeface="楷体" panose="02010609060101010101" pitchFamily="49" charset="-122"/>
              <a:cs typeface="Times New Roman" panose="02020603050405020304" pitchFamily="18" charset="0"/>
            </a:endParaRPr>
          </a:p>
          <a:p>
            <a:pPr algn="l" eaLnBrk="1" hangingPunct="1">
              <a:spcBef>
                <a:spcPts val="60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5) </a:t>
            </a:r>
            <a:r>
              <a:rPr kumimoji="0" lang="en-US" altLang="zh-CN" sz="2000" dirty="0">
                <a:solidFill>
                  <a:srgbClr val="000000"/>
                </a:solidFill>
                <a:ea typeface="楷体" panose="02010609060101010101" pitchFamily="49" charset="-122"/>
                <a:cs typeface="Times New Roman" panose="02020603050405020304" pitchFamily="18" charset="0"/>
              </a:rPr>
              <a:t>c</a:t>
            </a:r>
            <a:r>
              <a:rPr kumimoji="0" lang="en-GB" altLang="zh-CN" sz="2000" dirty="0">
                <a:solidFill>
                  <a:srgbClr val="000000"/>
                </a:solidFill>
                <a:ea typeface="楷体" panose="02010609060101010101" pitchFamily="49" charset="-122"/>
                <a:cs typeface="Times New Roman" panose="02020603050405020304" pitchFamily="18" charset="0"/>
              </a:rPr>
              <a:t>ache/</a:t>
            </a:r>
            <a:r>
              <a:rPr kumimoji="0" lang="zh-CN" altLang="en-US" sz="2000" dirty="0">
                <a:solidFill>
                  <a:srgbClr val="000000"/>
                </a:solidFill>
                <a:ea typeface="楷体" panose="02010609060101010101" pitchFamily="49" charset="-122"/>
                <a:cs typeface="Times New Roman" panose="02020603050405020304" pitchFamily="18" charset="0"/>
              </a:rPr>
              <a:t>主存返回所请求的数据字给处理器</a:t>
            </a:r>
            <a:endParaRPr kumimoji="0" lang="en-GB" altLang="zh-CN" sz="2000" dirty="0">
              <a:solidFill>
                <a:srgbClr val="000000"/>
              </a:solidFill>
              <a:ea typeface="楷体" panose="02010609060101010101" pitchFamily="49" charset="-122"/>
              <a:cs typeface="Times New Roman" panose="02020603050405020304" pitchFamily="18" charset="0"/>
            </a:endParaRPr>
          </a:p>
        </p:txBody>
      </p:sp>
      <p:sp>
        <p:nvSpPr>
          <p:cNvPr id="7" name="Rectangle 10">
            <a:extLst>
              <a:ext uri="{FF2B5EF4-FFF2-40B4-BE49-F238E27FC236}">
                <a16:creationId xmlns:a16="http://schemas.microsoft.com/office/drawing/2014/main" id="{BEE0D86D-15BF-434F-A44D-39E6F560799D}"/>
              </a:ext>
            </a:extLst>
          </p:cNvPr>
          <p:cNvSpPr>
            <a:spLocks noChangeArrowheads="1"/>
          </p:cNvSpPr>
          <p:nvPr/>
        </p:nvSpPr>
        <p:spPr bwMode="auto">
          <a:xfrm>
            <a:off x="3963988" y="1809750"/>
            <a:ext cx="1066800" cy="1236663"/>
          </a:xfrm>
          <a:prstGeom prst="rect">
            <a:avLst/>
          </a:prstGeom>
          <a:solidFill>
            <a:srgbClr val="D5F1CF"/>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MMU</a:t>
            </a:r>
          </a:p>
        </p:txBody>
      </p:sp>
      <p:sp>
        <p:nvSpPr>
          <p:cNvPr id="8" name="Rectangle 17">
            <a:extLst>
              <a:ext uri="{FF2B5EF4-FFF2-40B4-BE49-F238E27FC236}">
                <a16:creationId xmlns:a16="http://schemas.microsoft.com/office/drawing/2014/main" id="{11127DE0-6365-495A-A687-B3387CCD7830}"/>
              </a:ext>
            </a:extLst>
          </p:cNvPr>
          <p:cNvSpPr>
            <a:spLocks noChangeArrowheads="1"/>
          </p:cNvSpPr>
          <p:nvPr/>
        </p:nvSpPr>
        <p:spPr bwMode="auto">
          <a:xfrm>
            <a:off x="6553200" y="1524000"/>
            <a:ext cx="914400" cy="2284413"/>
          </a:xfrm>
          <a:prstGeom prst="rect">
            <a:avLst/>
          </a:prstGeom>
          <a:solidFill>
            <a:srgbClr val="FFFFFF">
              <a:lumMod val="95000"/>
            </a:srgbClr>
          </a:solidFill>
          <a:ln w="19080">
            <a:solidFill>
              <a:srgbClr val="000000"/>
            </a:solidFill>
            <a:miter lim="800000"/>
            <a:headEnd/>
            <a:tailEnd/>
          </a:ln>
          <a:effectLst/>
        </p:spPr>
        <p:txBody>
          <a:bodyPr wrap="none" anchor="ctr"/>
          <a:lstStyle/>
          <a:p>
            <a:pPr eaLnBrk="1" fontAlgn="auto" hangingPunct="1">
              <a:spcBef>
                <a:spcPts val="0"/>
              </a:spcBef>
              <a:spcAft>
                <a:spcPts val="0"/>
              </a:spcAft>
              <a:defRPr/>
            </a:pPr>
            <a:r>
              <a:rPr kumimoji="0" lang="en-US" sz="1600" b="1" kern="0" dirty="0">
                <a:solidFill>
                  <a:srgbClr val="000000"/>
                </a:solidFill>
                <a:latin typeface="Calibri" pitchFamily="34" charset="0"/>
                <a:ea typeface="+mn-ea"/>
              </a:rPr>
              <a:t>Cache/</a:t>
            </a:r>
          </a:p>
          <a:p>
            <a:pPr eaLnBrk="1" fontAlgn="auto" hangingPunct="1">
              <a:spcBef>
                <a:spcPts val="0"/>
              </a:spcBef>
              <a:spcAft>
                <a:spcPts val="0"/>
              </a:spcAft>
              <a:defRPr/>
            </a:pPr>
            <a:r>
              <a:rPr kumimoji="0" lang="en-US" sz="1600" b="1" kern="0" dirty="0">
                <a:solidFill>
                  <a:srgbClr val="000000"/>
                </a:solidFill>
                <a:latin typeface="Calibri" pitchFamily="34" charset="0"/>
                <a:ea typeface="+mn-ea"/>
              </a:rPr>
              <a:t>Memory</a:t>
            </a:r>
          </a:p>
        </p:txBody>
      </p:sp>
      <p:sp>
        <p:nvSpPr>
          <p:cNvPr id="9" name="Text Box 9">
            <a:extLst>
              <a:ext uri="{FF2B5EF4-FFF2-40B4-BE49-F238E27FC236}">
                <a16:creationId xmlns:a16="http://schemas.microsoft.com/office/drawing/2014/main" id="{B7ECF5EE-8CB9-4C6B-A887-4E90C44800EB}"/>
              </a:ext>
            </a:extLst>
          </p:cNvPr>
          <p:cNvSpPr txBox="1">
            <a:spLocks noChangeArrowheads="1"/>
          </p:cNvSpPr>
          <p:nvPr/>
        </p:nvSpPr>
        <p:spPr bwMode="auto">
          <a:xfrm>
            <a:off x="5607050" y="2632075"/>
            <a:ext cx="374650"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PA</a:t>
            </a:r>
          </a:p>
        </p:txBody>
      </p:sp>
      <p:sp>
        <p:nvSpPr>
          <p:cNvPr id="10" name="Text Box 32">
            <a:extLst>
              <a:ext uri="{FF2B5EF4-FFF2-40B4-BE49-F238E27FC236}">
                <a16:creationId xmlns:a16="http://schemas.microsoft.com/office/drawing/2014/main" id="{2AEC6315-157C-4450-B8B7-DFA613FC24C2}"/>
              </a:ext>
            </a:extLst>
          </p:cNvPr>
          <p:cNvSpPr txBox="1">
            <a:spLocks noChangeArrowheads="1"/>
          </p:cNvSpPr>
          <p:nvPr/>
        </p:nvSpPr>
        <p:spPr bwMode="auto">
          <a:xfrm>
            <a:off x="3887788" y="3579813"/>
            <a:ext cx="531812" cy="306387"/>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Data</a:t>
            </a:r>
          </a:p>
        </p:txBody>
      </p:sp>
      <p:cxnSp>
        <p:nvCxnSpPr>
          <p:cNvPr id="11" name="Straight Arrow Connector 39">
            <a:extLst>
              <a:ext uri="{FF2B5EF4-FFF2-40B4-BE49-F238E27FC236}">
                <a16:creationId xmlns:a16="http://schemas.microsoft.com/office/drawing/2014/main" id="{9CCB40CA-242C-4373-B604-2F727DD64B58}"/>
              </a:ext>
            </a:extLst>
          </p:cNvPr>
          <p:cNvCxnSpPr>
            <a:cxnSpLocks noChangeShapeType="1"/>
          </p:cNvCxnSpPr>
          <p:nvPr/>
        </p:nvCxnSpPr>
        <p:spPr bwMode="auto">
          <a:xfrm flipV="1">
            <a:off x="5030788" y="2884488"/>
            <a:ext cx="1522412" cy="1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2" name="Rectangle 10">
            <a:extLst>
              <a:ext uri="{FF2B5EF4-FFF2-40B4-BE49-F238E27FC236}">
                <a16:creationId xmlns:a16="http://schemas.microsoft.com/office/drawing/2014/main" id="{B550D3FF-5DB6-47A3-9A21-96D78B9A9DD6}"/>
              </a:ext>
            </a:extLst>
          </p:cNvPr>
          <p:cNvSpPr>
            <a:spLocks noChangeArrowheads="1"/>
          </p:cNvSpPr>
          <p:nvPr/>
        </p:nvSpPr>
        <p:spPr bwMode="auto">
          <a:xfrm>
            <a:off x="1525588" y="2162175"/>
            <a:ext cx="1066800" cy="533400"/>
          </a:xfrm>
          <a:prstGeom prst="rect">
            <a:avLst/>
          </a:prstGeom>
          <a:solidFill>
            <a:srgbClr val="F1C7C7"/>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CPU</a:t>
            </a:r>
          </a:p>
        </p:txBody>
      </p:sp>
      <p:cxnSp>
        <p:nvCxnSpPr>
          <p:cNvPr id="101389" name="Straight Arrow Connector 37">
            <a:extLst>
              <a:ext uri="{FF2B5EF4-FFF2-40B4-BE49-F238E27FC236}">
                <a16:creationId xmlns:a16="http://schemas.microsoft.com/office/drawing/2014/main" id="{F02B51FA-0BFC-4F15-86ED-ADC6113B9B27}"/>
              </a:ext>
            </a:extLst>
          </p:cNvPr>
          <p:cNvCxnSpPr>
            <a:cxnSpLocks noChangeShapeType="1"/>
            <a:stCxn id="12" idx="3"/>
          </p:cNvCxnSpPr>
          <p:nvPr/>
        </p:nvCxnSpPr>
        <p:spPr bwMode="auto">
          <a:xfrm flipV="1">
            <a:off x="2592388" y="2424113"/>
            <a:ext cx="1370012" cy="4762"/>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4" name="Text Box 9">
            <a:extLst>
              <a:ext uri="{FF2B5EF4-FFF2-40B4-BE49-F238E27FC236}">
                <a16:creationId xmlns:a16="http://schemas.microsoft.com/office/drawing/2014/main" id="{A2666D86-3BA4-4EA5-80CC-9A0D6D6B93BB}"/>
              </a:ext>
            </a:extLst>
          </p:cNvPr>
          <p:cNvSpPr txBox="1">
            <a:spLocks noChangeArrowheads="1"/>
          </p:cNvSpPr>
          <p:nvPr/>
        </p:nvSpPr>
        <p:spPr bwMode="auto">
          <a:xfrm>
            <a:off x="3049588" y="2157413"/>
            <a:ext cx="387350"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VA</a:t>
            </a:r>
          </a:p>
        </p:txBody>
      </p:sp>
      <p:sp>
        <p:nvSpPr>
          <p:cNvPr id="15" name="TextBox 44">
            <a:extLst>
              <a:ext uri="{FF2B5EF4-FFF2-40B4-BE49-F238E27FC236}">
                <a16:creationId xmlns:a16="http://schemas.microsoft.com/office/drawing/2014/main" id="{8824965D-2780-4CE9-B599-5E5FA5D25B17}"/>
              </a:ext>
            </a:extLst>
          </p:cNvPr>
          <p:cNvSpPr txBox="1"/>
          <p:nvPr/>
        </p:nvSpPr>
        <p:spPr>
          <a:xfrm>
            <a:off x="1390650" y="1576388"/>
            <a:ext cx="1057275" cy="369887"/>
          </a:xfrm>
          <a:prstGeom prst="rect">
            <a:avLst/>
          </a:prstGeom>
          <a:noFill/>
        </p:spPr>
        <p:txBody>
          <a:bodyPr wrap="none">
            <a:spAutoFit/>
          </a:bodyPr>
          <a:lstStyle/>
          <a:p>
            <a:pPr>
              <a:defRPr/>
            </a:pPr>
            <a:r>
              <a:rPr kumimoji="0" lang="en-US" sz="1800" b="1" i="1" dirty="0">
                <a:solidFill>
                  <a:srgbClr val="000000">
                    <a:lumMod val="50000"/>
                    <a:lumOff val="50000"/>
                  </a:srgbClr>
                </a:solidFill>
                <a:latin typeface="Calibri" pitchFamily="34" charset="0"/>
                <a:ea typeface="+mn-ea"/>
              </a:rPr>
              <a:t>CPU Chip</a:t>
            </a:r>
          </a:p>
        </p:txBody>
      </p:sp>
      <p:sp>
        <p:nvSpPr>
          <p:cNvPr id="16" name="Text Box 9">
            <a:extLst>
              <a:ext uri="{FF2B5EF4-FFF2-40B4-BE49-F238E27FC236}">
                <a16:creationId xmlns:a16="http://schemas.microsoft.com/office/drawing/2014/main" id="{65E4AA8C-703D-4B08-BD4C-9FB40271C64B}"/>
              </a:ext>
            </a:extLst>
          </p:cNvPr>
          <p:cNvSpPr txBox="1">
            <a:spLocks noChangeArrowheads="1"/>
          </p:cNvSpPr>
          <p:nvPr/>
        </p:nvSpPr>
        <p:spPr bwMode="auto">
          <a:xfrm>
            <a:off x="5513388" y="1717675"/>
            <a:ext cx="560387"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PTEA</a:t>
            </a:r>
          </a:p>
        </p:txBody>
      </p:sp>
      <p:cxnSp>
        <p:nvCxnSpPr>
          <p:cNvPr id="17" name="Straight Arrow Connector 45">
            <a:extLst>
              <a:ext uri="{FF2B5EF4-FFF2-40B4-BE49-F238E27FC236}">
                <a16:creationId xmlns:a16="http://schemas.microsoft.com/office/drawing/2014/main" id="{5C7DC95C-6DFA-4723-AC0E-1D02596DE963}"/>
              </a:ext>
            </a:extLst>
          </p:cNvPr>
          <p:cNvCxnSpPr>
            <a:cxnSpLocks noChangeShapeType="1"/>
          </p:cNvCxnSpPr>
          <p:nvPr/>
        </p:nvCxnSpPr>
        <p:spPr bwMode="auto">
          <a:xfrm flipV="1">
            <a:off x="5030788" y="1970088"/>
            <a:ext cx="1522412" cy="1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8" name="Text Box 9">
            <a:extLst>
              <a:ext uri="{FF2B5EF4-FFF2-40B4-BE49-F238E27FC236}">
                <a16:creationId xmlns:a16="http://schemas.microsoft.com/office/drawing/2014/main" id="{53DB1839-51AD-462F-9D1A-722AC4308E4A}"/>
              </a:ext>
            </a:extLst>
          </p:cNvPr>
          <p:cNvSpPr txBox="1">
            <a:spLocks noChangeArrowheads="1"/>
          </p:cNvSpPr>
          <p:nvPr/>
        </p:nvSpPr>
        <p:spPr bwMode="auto">
          <a:xfrm>
            <a:off x="5567363" y="2022475"/>
            <a:ext cx="452437"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a:t>
            </a:r>
          </a:p>
        </p:txBody>
      </p:sp>
      <p:cxnSp>
        <p:nvCxnSpPr>
          <p:cNvPr id="19" name="Straight Arrow Connector 47">
            <a:extLst>
              <a:ext uri="{FF2B5EF4-FFF2-40B4-BE49-F238E27FC236}">
                <a16:creationId xmlns:a16="http://schemas.microsoft.com/office/drawing/2014/main" id="{7B924B3E-7151-4E48-B710-22192B4DEE60}"/>
              </a:ext>
            </a:extLst>
          </p:cNvPr>
          <p:cNvCxnSpPr>
            <a:cxnSpLocks noChangeShapeType="1"/>
          </p:cNvCxnSpPr>
          <p:nvPr/>
        </p:nvCxnSpPr>
        <p:spPr bwMode="auto">
          <a:xfrm flipH="1" flipV="1">
            <a:off x="5030788" y="2274888"/>
            <a:ext cx="1522412" cy="1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20" name="Shape 49">
            <a:extLst>
              <a:ext uri="{FF2B5EF4-FFF2-40B4-BE49-F238E27FC236}">
                <a16:creationId xmlns:a16="http://schemas.microsoft.com/office/drawing/2014/main" id="{BB73488A-42D9-4DFB-9F88-051D2376DEC1}"/>
              </a:ext>
            </a:extLst>
          </p:cNvPr>
          <p:cNvCxnSpPr>
            <a:cxnSpLocks noChangeShapeType="1"/>
            <a:endCxn id="12" idx="2"/>
          </p:cNvCxnSpPr>
          <p:nvPr/>
        </p:nvCxnSpPr>
        <p:spPr bwMode="auto">
          <a:xfrm rot="10800000">
            <a:off x="2058988" y="2695575"/>
            <a:ext cx="4494212" cy="884238"/>
          </a:xfrm>
          <a:prstGeom prst="bentConnector2">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21" name="Oval 4">
            <a:extLst>
              <a:ext uri="{FF2B5EF4-FFF2-40B4-BE49-F238E27FC236}">
                <a16:creationId xmlns:a16="http://schemas.microsoft.com/office/drawing/2014/main" id="{EC0C4A56-E447-4D71-BBAB-AA1DFC4BCA5A}"/>
              </a:ext>
            </a:extLst>
          </p:cNvPr>
          <p:cNvSpPr>
            <a:spLocks noChangeArrowheads="1"/>
          </p:cNvSpPr>
          <p:nvPr/>
        </p:nvSpPr>
        <p:spPr bwMode="auto">
          <a:xfrm>
            <a:off x="3106738" y="1922463"/>
            <a:ext cx="274637"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1</a:t>
            </a:r>
          </a:p>
        </p:txBody>
      </p:sp>
      <p:sp>
        <p:nvSpPr>
          <p:cNvPr id="22" name="Oval 18">
            <a:extLst>
              <a:ext uri="{FF2B5EF4-FFF2-40B4-BE49-F238E27FC236}">
                <a16:creationId xmlns:a16="http://schemas.microsoft.com/office/drawing/2014/main" id="{3BFC3633-52A3-4B46-99E4-23A0DBE4D1A8}"/>
              </a:ext>
            </a:extLst>
          </p:cNvPr>
          <p:cNvSpPr>
            <a:spLocks noChangeArrowheads="1"/>
          </p:cNvSpPr>
          <p:nvPr/>
        </p:nvSpPr>
        <p:spPr bwMode="auto">
          <a:xfrm>
            <a:off x="5656263" y="1470025"/>
            <a:ext cx="274637"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2</a:t>
            </a:r>
          </a:p>
        </p:txBody>
      </p:sp>
      <p:sp>
        <p:nvSpPr>
          <p:cNvPr id="23" name="Oval 19">
            <a:extLst>
              <a:ext uri="{FF2B5EF4-FFF2-40B4-BE49-F238E27FC236}">
                <a16:creationId xmlns:a16="http://schemas.microsoft.com/office/drawing/2014/main" id="{11DB0647-855F-4871-BC15-FD157AE5CBEA}"/>
              </a:ext>
            </a:extLst>
          </p:cNvPr>
          <p:cNvSpPr>
            <a:spLocks noChangeArrowheads="1"/>
          </p:cNvSpPr>
          <p:nvPr/>
        </p:nvSpPr>
        <p:spPr bwMode="auto">
          <a:xfrm>
            <a:off x="5656263" y="2324100"/>
            <a:ext cx="274637"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3</a:t>
            </a:r>
          </a:p>
        </p:txBody>
      </p:sp>
      <p:sp>
        <p:nvSpPr>
          <p:cNvPr id="24" name="Oval 20">
            <a:extLst>
              <a:ext uri="{FF2B5EF4-FFF2-40B4-BE49-F238E27FC236}">
                <a16:creationId xmlns:a16="http://schemas.microsoft.com/office/drawing/2014/main" id="{0DC8645D-9C32-4D73-BB65-9CF618C2CCE1}"/>
              </a:ext>
            </a:extLst>
          </p:cNvPr>
          <p:cNvSpPr>
            <a:spLocks noChangeArrowheads="1"/>
          </p:cNvSpPr>
          <p:nvPr/>
        </p:nvSpPr>
        <p:spPr bwMode="auto">
          <a:xfrm>
            <a:off x="5656263" y="2951163"/>
            <a:ext cx="274637"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4</a:t>
            </a:r>
          </a:p>
        </p:txBody>
      </p:sp>
      <p:sp>
        <p:nvSpPr>
          <p:cNvPr id="25" name="Oval 21">
            <a:extLst>
              <a:ext uri="{FF2B5EF4-FFF2-40B4-BE49-F238E27FC236}">
                <a16:creationId xmlns:a16="http://schemas.microsoft.com/office/drawing/2014/main" id="{13E8C964-9BC8-46F9-8810-8D098F67A13D}"/>
              </a:ext>
            </a:extLst>
          </p:cNvPr>
          <p:cNvSpPr>
            <a:spLocks noChangeArrowheads="1"/>
          </p:cNvSpPr>
          <p:nvPr/>
        </p:nvSpPr>
        <p:spPr bwMode="auto">
          <a:xfrm>
            <a:off x="4021138" y="3865563"/>
            <a:ext cx="274637"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5</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6" grpId="0"/>
      <p:bldP spid="18" grpId="0"/>
      <p:bldP spid="22" grpId="0" animBg="1"/>
      <p:bldP spid="23" grpId="0" animBg="1"/>
      <p:bldP spid="24"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985F2-4292-492B-83B2-7BC5A30729C2}"/>
              </a:ext>
            </a:extLst>
          </p:cNvPr>
          <p:cNvSpPr>
            <a:spLocks noGrp="1"/>
          </p:cNvSpPr>
          <p:nvPr>
            <p:ph type="title"/>
          </p:nvPr>
        </p:nvSpPr>
        <p:spPr/>
        <p:txBody>
          <a:bodyPr/>
          <a:lstStyle/>
          <a:p>
            <a:pPr>
              <a:defRPr/>
            </a:pPr>
            <a:r>
              <a:rPr lang="zh-CN" altLang="en-US"/>
              <a:t>缺页</a:t>
            </a:r>
          </a:p>
        </p:txBody>
      </p:sp>
      <p:sp>
        <p:nvSpPr>
          <p:cNvPr id="5" name="Rectangle 43">
            <a:extLst>
              <a:ext uri="{FF2B5EF4-FFF2-40B4-BE49-F238E27FC236}">
                <a16:creationId xmlns:a16="http://schemas.microsoft.com/office/drawing/2014/main" id="{AB365C5B-DE71-4D4E-ACFC-24F65FEB679B}"/>
              </a:ext>
            </a:extLst>
          </p:cNvPr>
          <p:cNvSpPr/>
          <p:nvPr/>
        </p:nvSpPr>
        <p:spPr bwMode="auto">
          <a:xfrm>
            <a:off x="609600" y="1965325"/>
            <a:ext cx="3749675" cy="1677988"/>
          </a:xfrm>
          <a:prstGeom prst="rect">
            <a:avLst/>
          </a:prstGeom>
          <a:solidFill>
            <a:srgbClr val="808080">
              <a:lumMod val="20000"/>
              <a:lumOff val="80000"/>
            </a:srgbClr>
          </a:solidFill>
          <a:ln w="25400" cap="flat" cmpd="sng" algn="ctr">
            <a:no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2400" b="1" kern="0">
              <a:solidFill>
                <a:srgbClr val="000000"/>
              </a:solidFill>
              <a:latin typeface="Arial Narrow" pitchFamily="34" charset="0"/>
              <a:ea typeface="+mn-ea"/>
            </a:endParaRPr>
          </a:p>
        </p:txBody>
      </p:sp>
      <p:sp>
        <p:nvSpPr>
          <p:cNvPr id="6" name="Rectangle 2">
            <a:extLst>
              <a:ext uri="{FF2B5EF4-FFF2-40B4-BE49-F238E27FC236}">
                <a16:creationId xmlns:a16="http://schemas.microsoft.com/office/drawing/2014/main" id="{032E80CA-F50C-4E6E-8994-CA6EDA14A3AD}"/>
              </a:ext>
            </a:extLst>
          </p:cNvPr>
          <p:cNvSpPr txBox="1">
            <a:spLocks noChangeArrowheads="1"/>
          </p:cNvSpPr>
          <p:nvPr/>
        </p:nvSpPr>
        <p:spPr bwMode="auto">
          <a:xfrm>
            <a:off x="179388" y="3751263"/>
            <a:ext cx="8856662"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CC3300"/>
              </a:buClr>
              <a:buFont typeface="Wingdings 2" panose="05020102010507070707" pitchFamily="18" charset="2"/>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lnSpc>
                <a:spcPts val="2000"/>
              </a:lnSpc>
              <a:spcBef>
                <a:spcPct val="0"/>
              </a:spcBef>
              <a:buClr>
                <a:srgbClr val="990000"/>
              </a:buClr>
              <a:buSzPct val="60000"/>
              <a:buFont typeface="Wingdings 2" panose="05020102010507070707" pitchFamily="18" charset="2"/>
              <a:buNone/>
            </a:pPr>
            <a:r>
              <a:rPr kumimoji="0" lang="en-GB" altLang="zh-CN" sz="2000" dirty="0">
                <a:solidFill>
                  <a:srgbClr val="000000"/>
                </a:solidFill>
                <a:ea typeface="楷体" panose="02010609060101010101" pitchFamily="49" charset="-122"/>
                <a:cs typeface="Times New Roman" panose="02020603050405020304" pitchFamily="18" charset="0"/>
              </a:rPr>
              <a:t>1) </a:t>
            </a:r>
            <a:r>
              <a:rPr kumimoji="0" lang="zh-CN" altLang="en-US" sz="2000" dirty="0">
                <a:solidFill>
                  <a:srgbClr val="000000"/>
                </a:solidFill>
                <a:ea typeface="楷体" panose="02010609060101010101" pitchFamily="49" charset="-122"/>
                <a:cs typeface="Times New Roman" panose="02020603050405020304" pitchFamily="18" charset="0"/>
              </a:rPr>
              <a:t>处理器生成一个虚拟地址，并把它传送给</a:t>
            </a:r>
            <a:r>
              <a:rPr kumimoji="0" lang="en-GB" altLang="zh-CN" sz="2000" dirty="0">
                <a:solidFill>
                  <a:srgbClr val="000000"/>
                </a:solidFill>
                <a:ea typeface="楷体" panose="02010609060101010101" pitchFamily="49" charset="-122"/>
                <a:cs typeface="Times New Roman" panose="02020603050405020304" pitchFamily="18" charset="0"/>
              </a:rPr>
              <a:t>MMU </a:t>
            </a:r>
          </a:p>
          <a:p>
            <a:pPr algn="l" eaLnBrk="1" hangingPunct="1">
              <a:lnSpc>
                <a:spcPts val="2000"/>
              </a:lnSpc>
              <a:spcBef>
                <a:spcPct val="0"/>
              </a:spcBef>
              <a:buClr>
                <a:srgbClr val="990000"/>
              </a:buClr>
              <a:buSzPct val="60000"/>
              <a:buFont typeface="Wingdings 2" panose="05020102010507070707" pitchFamily="18" charset="2"/>
              <a:buNone/>
            </a:pPr>
            <a:r>
              <a:rPr kumimoji="0" lang="en-GB" altLang="zh-CN" sz="2000" dirty="0">
                <a:solidFill>
                  <a:srgbClr val="000000"/>
                </a:solidFill>
                <a:ea typeface="楷体" panose="02010609060101010101" pitchFamily="49" charset="-122"/>
                <a:cs typeface="Times New Roman" panose="02020603050405020304" pitchFamily="18" charset="0"/>
              </a:rPr>
              <a:t>2) MMU</a:t>
            </a:r>
            <a:r>
              <a:rPr kumimoji="0" lang="zh-CN" altLang="en-US" sz="2000" dirty="0">
                <a:solidFill>
                  <a:srgbClr val="000000"/>
                </a:solidFill>
                <a:ea typeface="楷体" panose="02010609060101010101" pitchFamily="49" charset="-122"/>
                <a:cs typeface="Times New Roman" panose="02020603050405020304" pitchFamily="18" charset="0"/>
              </a:rPr>
              <a:t>生成</a:t>
            </a:r>
            <a:r>
              <a:rPr kumimoji="0" lang="en-US" altLang="zh-CN" sz="2000" dirty="0">
                <a:solidFill>
                  <a:srgbClr val="000000"/>
                </a:solidFill>
                <a:ea typeface="楷体" panose="02010609060101010101" pitchFamily="49" charset="-122"/>
                <a:cs typeface="Times New Roman" panose="02020603050405020304" pitchFamily="18" charset="0"/>
              </a:rPr>
              <a:t>PTE</a:t>
            </a:r>
            <a:r>
              <a:rPr kumimoji="0" lang="zh-CN" altLang="en-US" sz="2000" dirty="0">
                <a:solidFill>
                  <a:srgbClr val="000000"/>
                </a:solidFill>
                <a:ea typeface="楷体" panose="02010609060101010101" pitchFamily="49" charset="-122"/>
                <a:cs typeface="Times New Roman" panose="02020603050405020304" pitchFamily="18" charset="0"/>
              </a:rPr>
              <a:t>地址，并从</a:t>
            </a:r>
            <a:r>
              <a:rPr kumimoji="0" lang="en-US" altLang="zh-CN" sz="2000" dirty="0">
                <a:solidFill>
                  <a:srgbClr val="000000"/>
                </a:solidFill>
                <a:ea typeface="楷体" panose="02010609060101010101" pitchFamily="49" charset="-122"/>
                <a:cs typeface="Times New Roman" panose="02020603050405020304" pitchFamily="18" charset="0"/>
              </a:rPr>
              <a:t>cache/</a:t>
            </a:r>
            <a:r>
              <a:rPr kumimoji="0" lang="zh-CN" altLang="en-US" sz="2000" dirty="0">
                <a:solidFill>
                  <a:srgbClr val="000000"/>
                </a:solidFill>
                <a:ea typeface="楷体" panose="02010609060101010101" pitchFamily="49" charset="-122"/>
                <a:cs typeface="Times New Roman" panose="02020603050405020304" pitchFamily="18" charset="0"/>
              </a:rPr>
              <a:t>主存请求得到它</a:t>
            </a:r>
            <a:endParaRPr kumimoji="0" lang="en-US" altLang="zh-CN" sz="2000" dirty="0">
              <a:solidFill>
                <a:srgbClr val="000000"/>
              </a:solidFill>
              <a:ea typeface="楷体" panose="02010609060101010101" pitchFamily="49" charset="-122"/>
              <a:cs typeface="Times New Roman" panose="02020603050405020304" pitchFamily="18" charset="0"/>
            </a:endParaRPr>
          </a:p>
          <a:p>
            <a:pPr algn="l" eaLnBrk="1" hangingPunct="1">
              <a:lnSpc>
                <a:spcPts val="2000"/>
              </a:lnSpc>
              <a:spcBef>
                <a:spcPct val="0"/>
              </a:spcBef>
              <a:buClr>
                <a:srgbClr val="990000"/>
              </a:buClr>
              <a:buSzPct val="60000"/>
              <a:buFont typeface="Wingdings 2" panose="05020102010507070707" pitchFamily="18" charset="2"/>
              <a:buNone/>
            </a:pPr>
            <a:r>
              <a:rPr kumimoji="0" lang="en-GB" altLang="zh-CN" sz="2000" dirty="0">
                <a:solidFill>
                  <a:srgbClr val="000000"/>
                </a:solidFill>
                <a:ea typeface="楷体" panose="02010609060101010101" pitchFamily="49" charset="-122"/>
                <a:cs typeface="Times New Roman" panose="02020603050405020304" pitchFamily="18" charset="0"/>
              </a:rPr>
              <a:t>3</a:t>
            </a:r>
            <a:r>
              <a:rPr kumimoji="0" lang="en-US" altLang="zh-CN" sz="2000" dirty="0">
                <a:solidFill>
                  <a:srgbClr val="000000"/>
                </a:solidFill>
                <a:ea typeface="楷体" panose="02010609060101010101" pitchFamily="49" charset="-122"/>
                <a:cs typeface="Times New Roman" panose="02020603050405020304" pitchFamily="18" charset="0"/>
              </a:rPr>
              <a:t>)cache/</a:t>
            </a:r>
            <a:r>
              <a:rPr kumimoji="0" lang="zh-CN" altLang="en-US" sz="2000" dirty="0">
                <a:solidFill>
                  <a:srgbClr val="000000"/>
                </a:solidFill>
                <a:ea typeface="楷体" panose="02010609060101010101" pitchFamily="49" charset="-122"/>
                <a:cs typeface="Times New Roman" panose="02020603050405020304" pitchFamily="18" charset="0"/>
              </a:rPr>
              <a:t>主存向</a:t>
            </a:r>
            <a:r>
              <a:rPr kumimoji="0" lang="en-US" altLang="zh-CN" sz="2000" dirty="0">
                <a:solidFill>
                  <a:srgbClr val="000000"/>
                </a:solidFill>
                <a:ea typeface="楷体" panose="02010609060101010101" pitchFamily="49" charset="-122"/>
                <a:cs typeface="Times New Roman" panose="02020603050405020304" pitchFamily="18" charset="0"/>
              </a:rPr>
              <a:t>MMU</a:t>
            </a:r>
            <a:r>
              <a:rPr kumimoji="0" lang="zh-CN" altLang="en-US" sz="2000" dirty="0">
                <a:solidFill>
                  <a:srgbClr val="000000"/>
                </a:solidFill>
                <a:ea typeface="楷体" panose="02010609060101010101" pitchFamily="49" charset="-122"/>
                <a:cs typeface="Times New Roman" panose="02020603050405020304" pitchFamily="18" charset="0"/>
              </a:rPr>
              <a:t>返回</a:t>
            </a:r>
            <a:r>
              <a:rPr kumimoji="0" lang="en-US" altLang="zh-CN" sz="2000" dirty="0">
                <a:solidFill>
                  <a:srgbClr val="000000"/>
                </a:solidFill>
                <a:ea typeface="楷体" panose="02010609060101010101" pitchFamily="49" charset="-122"/>
                <a:cs typeface="Times New Roman" panose="02020603050405020304" pitchFamily="18" charset="0"/>
              </a:rPr>
              <a:t>PTE</a:t>
            </a:r>
            <a:endParaRPr kumimoji="0" lang="en-GB" altLang="zh-CN" sz="2000" dirty="0">
              <a:solidFill>
                <a:srgbClr val="000000"/>
              </a:solidFill>
              <a:ea typeface="楷体" panose="02010609060101010101" pitchFamily="49" charset="-122"/>
              <a:cs typeface="Times New Roman" panose="02020603050405020304" pitchFamily="18" charset="0"/>
            </a:endParaRPr>
          </a:p>
          <a:p>
            <a:pPr algn="l" eaLnBrk="1" hangingPunct="1">
              <a:lnSpc>
                <a:spcPts val="2000"/>
              </a:lnSpc>
              <a:spcBef>
                <a:spcPct val="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4) </a:t>
            </a:r>
            <a:r>
              <a:rPr kumimoji="0" lang="en-US" altLang="zh-CN" sz="2000" dirty="0">
                <a:solidFill>
                  <a:srgbClr val="000000"/>
                </a:solidFill>
                <a:ea typeface="楷体" panose="02010609060101010101" pitchFamily="49" charset="-122"/>
                <a:cs typeface="Times New Roman" panose="02020603050405020304" pitchFamily="18" charset="0"/>
              </a:rPr>
              <a:t>PTE</a:t>
            </a:r>
            <a:r>
              <a:rPr kumimoji="0" lang="zh-CN" altLang="en-US" sz="2000" dirty="0">
                <a:solidFill>
                  <a:srgbClr val="000000"/>
                </a:solidFill>
                <a:ea typeface="楷体" panose="02010609060101010101" pitchFamily="49" charset="-122"/>
                <a:cs typeface="Times New Roman" panose="02020603050405020304" pitchFamily="18" charset="0"/>
              </a:rPr>
              <a:t>中的有效位为</a:t>
            </a:r>
            <a:r>
              <a:rPr kumimoji="0" lang="en-US" altLang="zh-CN" sz="2000" dirty="0">
                <a:solidFill>
                  <a:srgbClr val="000000"/>
                </a:solidFill>
                <a:ea typeface="楷体" panose="02010609060101010101" pitchFamily="49" charset="-122"/>
                <a:cs typeface="Times New Roman" panose="02020603050405020304" pitchFamily="18" charset="0"/>
              </a:rPr>
              <a:t>0</a:t>
            </a:r>
            <a:r>
              <a:rPr kumimoji="0" lang="zh-CN" altLang="en-US" sz="2000" dirty="0">
                <a:solidFill>
                  <a:srgbClr val="000000"/>
                </a:solidFill>
                <a:ea typeface="楷体" panose="02010609060101010101" pitchFamily="49" charset="-122"/>
                <a:cs typeface="Times New Roman" panose="02020603050405020304" pitchFamily="18" charset="0"/>
              </a:rPr>
              <a:t>，所以</a:t>
            </a:r>
            <a:r>
              <a:rPr kumimoji="0" lang="en-US" altLang="zh-CN" sz="2000" dirty="0">
                <a:solidFill>
                  <a:srgbClr val="000000"/>
                </a:solidFill>
                <a:ea typeface="楷体" panose="02010609060101010101" pitchFamily="49" charset="-122"/>
                <a:cs typeface="Times New Roman" panose="02020603050405020304" pitchFamily="18" charset="0"/>
              </a:rPr>
              <a:t>MMU</a:t>
            </a:r>
            <a:r>
              <a:rPr kumimoji="0" lang="zh-CN" altLang="en-US" sz="2000" dirty="0">
                <a:solidFill>
                  <a:srgbClr val="000000"/>
                </a:solidFill>
                <a:ea typeface="楷体" panose="02010609060101010101" pitchFamily="49" charset="-122"/>
                <a:cs typeface="Times New Roman" panose="02020603050405020304" pitchFamily="18" charset="0"/>
              </a:rPr>
              <a:t>触发了一次异常，传递</a:t>
            </a:r>
            <a:r>
              <a:rPr kumimoji="0" lang="en-US" altLang="zh-CN" sz="2000" dirty="0">
                <a:solidFill>
                  <a:srgbClr val="000000"/>
                </a:solidFill>
                <a:ea typeface="楷体" panose="02010609060101010101" pitchFamily="49" charset="-122"/>
                <a:cs typeface="Times New Roman" panose="02020603050405020304" pitchFamily="18" charset="0"/>
              </a:rPr>
              <a:t>CPU</a:t>
            </a:r>
            <a:r>
              <a:rPr kumimoji="0" lang="zh-CN" altLang="en-US" sz="2000" dirty="0">
                <a:solidFill>
                  <a:srgbClr val="000000"/>
                </a:solidFill>
                <a:ea typeface="楷体" panose="02010609060101010101" pitchFamily="49" charset="-122"/>
                <a:cs typeface="Times New Roman" panose="02020603050405020304" pitchFamily="18" charset="0"/>
              </a:rPr>
              <a:t>中的控制到操作系统内核中的缺页异常处理程序</a:t>
            </a:r>
            <a:endParaRPr kumimoji="0" lang="en-GB" altLang="zh-CN" sz="2000" dirty="0">
              <a:solidFill>
                <a:srgbClr val="000000"/>
              </a:solidFill>
              <a:ea typeface="楷体" panose="02010609060101010101" pitchFamily="49" charset="-122"/>
              <a:cs typeface="Times New Roman" panose="02020603050405020304" pitchFamily="18" charset="0"/>
            </a:endParaRPr>
          </a:p>
          <a:p>
            <a:pPr algn="l" eaLnBrk="1" hangingPunct="1">
              <a:lnSpc>
                <a:spcPts val="2000"/>
              </a:lnSpc>
              <a:spcBef>
                <a:spcPct val="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5) </a:t>
            </a:r>
            <a:r>
              <a:rPr kumimoji="0" lang="zh-CN" altLang="en-US" sz="2000" dirty="0">
                <a:solidFill>
                  <a:srgbClr val="000000"/>
                </a:solidFill>
                <a:ea typeface="楷体" panose="02010609060101010101" pitchFamily="49" charset="-122"/>
                <a:cs typeface="Times New Roman" panose="02020603050405020304" pitchFamily="18" charset="0"/>
              </a:rPr>
              <a:t>缺页处理程序确定出物理内存中的牺牲页，如果这个页面已经被修改过，则把它换出到磁盘</a:t>
            </a:r>
            <a:endParaRPr kumimoji="0" lang="en-GB" altLang="zh-CN" sz="2000" dirty="0">
              <a:solidFill>
                <a:srgbClr val="000000"/>
              </a:solidFill>
              <a:ea typeface="楷体" panose="02010609060101010101" pitchFamily="49" charset="-122"/>
              <a:cs typeface="Times New Roman" panose="02020603050405020304" pitchFamily="18" charset="0"/>
            </a:endParaRPr>
          </a:p>
          <a:p>
            <a:pPr algn="l" eaLnBrk="1" hangingPunct="1">
              <a:lnSpc>
                <a:spcPts val="2000"/>
              </a:lnSpc>
              <a:spcBef>
                <a:spcPct val="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6) </a:t>
            </a:r>
            <a:r>
              <a:rPr kumimoji="0" lang="zh-CN" altLang="en-US" sz="2000" dirty="0">
                <a:solidFill>
                  <a:srgbClr val="000000"/>
                </a:solidFill>
                <a:ea typeface="楷体" panose="02010609060101010101" pitchFamily="49" charset="-122"/>
                <a:cs typeface="Times New Roman" panose="02020603050405020304" pitchFamily="18" charset="0"/>
              </a:rPr>
              <a:t>缺页处理程序调入新的页面，并更新内存中的</a:t>
            </a:r>
            <a:r>
              <a:rPr kumimoji="0" lang="en-US" altLang="zh-CN" sz="2000" dirty="0">
                <a:solidFill>
                  <a:srgbClr val="000000"/>
                </a:solidFill>
                <a:ea typeface="楷体" panose="02010609060101010101" pitchFamily="49" charset="-122"/>
                <a:cs typeface="Times New Roman" panose="02020603050405020304" pitchFamily="18" charset="0"/>
              </a:rPr>
              <a:t>PTE</a:t>
            </a:r>
            <a:endParaRPr kumimoji="0" lang="en-GB" altLang="zh-CN" sz="2000" dirty="0">
              <a:solidFill>
                <a:srgbClr val="000000"/>
              </a:solidFill>
              <a:ea typeface="楷体" panose="02010609060101010101" pitchFamily="49" charset="-122"/>
              <a:cs typeface="Times New Roman" panose="02020603050405020304" pitchFamily="18" charset="0"/>
            </a:endParaRPr>
          </a:p>
          <a:p>
            <a:pPr algn="l" eaLnBrk="1" hangingPunct="1">
              <a:lnSpc>
                <a:spcPts val="2000"/>
              </a:lnSpc>
              <a:spcBef>
                <a:spcPct val="0"/>
              </a:spcBef>
              <a:buClr>
                <a:srgbClr val="990000"/>
              </a:buClr>
              <a:buSzPct val="60000"/>
              <a:buFont typeface="Wingdings" panose="05000000000000000000" pitchFamily="2" charset="2"/>
              <a:buNone/>
            </a:pPr>
            <a:r>
              <a:rPr kumimoji="0" lang="en-GB" altLang="zh-CN" sz="2000" dirty="0">
                <a:solidFill>
                  <a:srgbClr val="000000"/>
                </a:solidFill>
                <a:ea typeface="楷体" panose="02010609060101010101" pitchFamily="49" charset="-122"/>
                <a:cs typeface="Times New Roman" panose="02020603050405020304" pitchFamily="18" charset="0"/>
              </a:rPr>
              <a:t>7) </a:t>
            </a:r>
            <a:r>
              <a:rPr kumimoji="0" lang="zh-CN" altLang="en-US" sz="2000" dirty="0">
                <a:solidFill>
                  <a:srgbClr val="000000"/>
                </a:solidFill>
                <a:ea typeface="楷体" panose="02010609060101010101" pitchFamily="49" charset="-122"/>
                <a:cs typeface="Times New Roman" panose="02020603050405020304" pitchFamily="18" charset="0"/>
              </a:rPr>
              <a:t>缺页处理程序返回到原来的进程，再次执行导致缺页的指令。</a:t>
            </a:r>
            <a:r>
              <a:rPr kumimoji="0" lang="en-US" altLang="zh-CN" sz="2000" dirty="0">
                <a:solidFill>
                  <a:srgbClr val="000000"/>
                </a:solidFill>
                <a:ea typeface="楷体" panose="02010609060101010101" pitchFamily="49" charset="-122"/>
                <a:cs typeface="Times New Roman" panose="02020603050405020304" pitchFamily="18" charset="0"/>
              </a:rPr>
              <a:t>CPU</a:t>
            </a:r>
            <a:r>
              <a:rPr kumimoji="0" lang="zh-CN" altLang="en-US" sz="2000" dirty="0">
                <a:solidFill>
                  <a:srgbClr val="000000"/>
                </a:solidFill>
                <a:ea typeface="楷体" panose="02010609060101010101" pitchFamily="49" charset="-122"/>
                <a:cs typeface="Times New Roman" panose="02020603050405020304" pitchFamily="18" charset="0"/>
              </a:rPr>
              <a:t>将引起缺页的虚拟地址重新发给</a:t>
            </a:r>
            <a:r>
              <a:rPr kumimoji="0" lang="en-US" altLang="zh-CN" sz="2000" dirty="0">
                <a:solidFill>
                  <a:srgbClr val="000000"/>
                </a:solidFill>
                <a:ea typeface="楷体" panose="02010609060101010101" pitchFamily="49" charset="-122"/>
                <a:cs typeface="Times New Roman" panose="02020603050405020304" pitchFamily="18" charset="0"/>
              </a:rPr>
              <a:t>MMU</a:t>
            </a:r>
            <a:r>
              <a:rPr kumimoji="0" lang="zh-CN" altLang="en-US" sz="2000" dirty="0">
                <a:solidFill>
                  <a:srgbClr val="000000"/>
                </a:solidFill>
                <a:ea typeface="楷体" panose="02010609060101010101" pitchFamily="49" charset="-122"/>
                <a:cs typeface="Times New Roman" panose="02020603050405020304" pitchFamily="18" charset="0"/>
              </a:rPr>
              <a:t>。因为虚拟页面现在缓存在物理内存中，所以就会命中。</a:t>
            </a:r>
            <a:endParaRPr kumimoji="0" lang="en-GB" altLang="zh-CN" sz="2000" dirty="0">
              <a:solidFill>
                <a:srgbClr val="000000"/>
              </a:solidFill>
              <a:ea typeface="楷体" panose="02010609060101010101" pitchFamily="49" charset="-122"/>
              <a:cs typeface="Times New Roman" panose="02020603050405020304" pitchFamily="18" charset="0"/>
            </a:endParaRPr>
          </a:p>
        </p:txBody>
      </p:sp>
      <p:sp>
        <p:nvSpPr>
          <p:cNvPr id="7" name="Rectangle 10">
            <a:extLst>
              <a:ext uri="{FF2B5EF4-FFF2-40B4-BE49-F238E27FC236}">
                <a16:creationId xmlns:a16="http://schemas.microsoft.com/office/drawing/2014/main" id="{38A04599-E6E8-4774-92DF-ED639358BC19}"/>
              </a:ext>
            </a:extLst>
          </p:cNvPr>
          <p:cNvSpPr>
            <a:spLocks noChangeArrowheads="1"/>
          </p:cNvSpPr>
          <p:nvPr/>
        </p:nvSpPr>
        <p:spPr bwMode="auto">
          <a:xfrm>
            <a:off x="3189288" y="2201863"/>
            <a:ext cx="1066800" cy="1238250"/>
          </a:xfrm>
          <a:prstGeom prst="rect">
            <a:avLst/>
          </a:prstGeom>
          <a:solidFill>
            <a:srgbClr val="D5F1CF"/>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MMU</a:t>
            </a:r>
          </a:p>
        </p:txBody>
      </p:sp>
      <p:sp>
        <p:nvSpPr>
          <p:cNvPr id="8" name="Rectangle 17">
            <a:extLst>
              <a:ext uri="{FF2B5EF4-FFF2-40B4-BE49-F238E27FC236}">
                <a16:creationId xmlns:a16="http://schemas.microsoft.com/office/drawing/2014/main" id="{B06626BE-F40A-44DB-9136-B052F3AD2034}"/>
              </a:ext>
            </a:extLst>
          </p:cNvPr>
          <p:cNvSpPr>
            <a:spLocks noChangeArrowheads="1"/>
          </p:cNvSpPr>
          <p:nvPr/>
        </p:nvSpPr>
        <p:spPr bwMode="auto">
          <a:xfrm>
            <a:off x="5778500" y="1917700"/>
            <a:ext cx="914400" cy="1925638"/>
          </a:xfrm>
          <a:prstGeom prst="rect">
            <a:avLst/>
          </a:prstGeom>
          <a:solidFill>
            <a:srgbClr val="F5F5F5"/>
          </a:solidFill>
          <a:ln w="19080">
            <a:solidFill>
              <a:srgbClr val="000000"/>
            </a:solidFill>
            <a:miter lim="800000"/>
            <a:headEnd/>
            <a:tailEnd/>
          </a:ln>
          <a:effectLst/>
        </p:spPr>
        <p:txBody>
          <a:bodyPr wrap="none" anchor="ctr"/>
          <a:lstStyle/>
          <a:p>
            <a:pPr eaLnBrk="1" fontAlgn="auto" hangingPunct="1">
              <a:spcBef>
                <a:spcPts val="0"/>
              </a:spcBef>
              <a:spcAft>
                <a:spcPts val="0"/>
              </a:spcAft>
              <a:defRPr/>
            </a:pPr>
            <a:r>
              <a:rPr kumimoji="0" lang="en-US" sz="1600" b="1" kern="0" dirty="0">
                <a:solidFill>
                  <a:srgbClr val="000000"/>
                </a:solidFill>
                <a:latin typeface="Calibri" pitchFamily="34" charset="0"/>
                <a:ea typeface="+mn-ea"/>
              </a:rPr>
              <a:t>Cache/</a:t>
            </a:r>
          </a:p>
          <a:p>
            <a:pPr eaLnBrk="1" fontAlgn="auto" hangingPunct="1">
              <a:spcBef>
                <a:spcPts val="0"/>
              </a:spcBef>
              <a:spcAft>
                <a:spcPts val="0"/>
              </a:spcAft>
              <a:defRPr/>
            </a:pPr>
            <a:r>
              <a:rPr kumimoji="0" lang="en-US" sz="1600" b="1" kern="0" dirty="0">
                <a:solidFill>
                  <a:srgbClr val="000000"/>
                </a:solidFill>
                <a:latin typeface="Calibri" pitchFamily="34" charset="0"/>
                <a:ea typeface="+mn-ea"/>
              </a:rPr>
              <a:t>Memory</a:t>
            </a:r>
          </a:p>
        </p:txBody>
      </p:sp>
      <p:sp>
        <p:nvSpPr>
          <p:cNvPr id="9" name="Rectangle 10">
            <a:extLst>
              <a:ext uri="{FF2B5EF4-FFF2-40B4-BE49-F238E27FC236}">
                <a16:creationId xmlns:a16="http://schemas.microsoft.com/office/drawing/2014/main" id="{B92A1C5A-C087-449B-A111-16FC00B38EC9}"/>
              </a:ext>
            </a:extLst>
          </p:cNvPr>
          <p:cNvSpPr>
            <a:spLocks noChangeArrowheads="1"/>
          </p:cNvSpPr>
          <p:nvPr/>
        </p:nvSpPr>
        <p:spPr bwMode="auto">
          <a:xfrm>
            <a:off x="750888" y="2554288"/>
            <a:ext cx="1066800" cy="533400"/>
          </a:xfrm>
          <a:prstGeom prst="rect">
            <a:avLst/>
          </a:prstGeom>
          <a:solidFill>
            <a:srgbClr val="F1C7C7"/>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CPU</a:t>
            </a:r>
          </a:p>
        </p:txBody>
      </p:sp>
      <p:cxnSp>
        <p:nvCxnSpPr>
          <p:cNvPr id="103433" name="Straight Arrow Connector 37">
            <a:extLst>
              <a:ext uri="{FF2B5EF4-FFF2-40B4-BE49-F238E27FC236}">
                <a16:creationId xmlns:a16="http://schemas.microsoft.com/office/drawing/2014/main" id="{82B353F3-D2EC-4BD0-8153-DD3F38B52225}"/>
              </a:ext>
            </a:extLst>
          </p:cNvPr>
          <p:cNvCxnSpPr>
            <a:cxnSpLocks noChangeShapeType="1"/>
            <a:stCxn id="9" idx="3"/>
          </p:cNvCxnSpPr>
          <p:nvPr/>
        </p:nvCxnSpPr>
        <p:spPr bwMode="auto">
          <a:xfrm flipV="1">
            <a:off x="1817688" y="2816225"/>
            <a:ext cx="1370012" cy="4763"/>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1" name="Text Box 9">
            <a:extLst>
              <a:ext uri="{FF2B5EF4-FFF2-40B4-BE49-F238E27FC236}">
                <a16:creationId xmlns:a16="http://schemas.microsoft.com/office/drawing/2014/main" id="{5981FDEE-657F-4455-973D-065B85529481}"/>
              </a:ext>
            </a:extLst>
          </p:cNvPr>
          <p:cNvSpPr txBox="1">
            <a:spLocks noChangeArrowheads="1"/>
          </p:cNvSpPr>
          <p:nvPr/>
        </p:nvSpPr>
        <p:spPr bwMode="auto">
          <a:xfrm>
            <a:off x="2274888" y="2559050"/>
            <a:ext cx="385762"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VA</a:t>
            </a:r>
          </a:p>
        </p:txBody>
      </p:sp>
      <p:sp>
        <p:nvSpPr>
          <p:cNvPr id="12" name="TextBox 44">
            <a:extLst>
              <a:ext uri="{FF2B5EF4-FFF2-40B4-BE49-F238E27FC236}">
                <a16:creationId xmlns:a16="http://schemas.microsoft.com/office/drawing/2014/main" id="{B9F29BE7-F704-4D52-9BC6-F6BB38B99F87}"/>
              </a:ext>
            </a:extLst>
          </p:cNvPr>
          <p:cNvSpPr txBox="1"/>
          <p:nvPr/>
        </p:nvSpPr>
        <p:spPr>
          <a:xfrm>
            <a:off x="614363" y="1970088"/>
            <a:ext cx="1058862" cy="368300"/>
          </a:xfrm>
          <a:prstGeom prst="rect">
            <a:avLst/>
          </a:prstGeom>
          <a:noFill/>
        </p:spPr>
        <p:txBody>
          <a:bodyPr wrap="none">
            <a:spAutoFit/>
          </a:bodyPr>
          <a:lstStyle/>
          <a:p>
            <a:pPr>
              <a:defRPr/>
            </a:pPr>
            <a:r>
              <a:rPr kumimoji="0" lang="en-US" sz="1800" b="1" i="1" dirty="0">
                <a:solidFill>
                  <a:srgbClr val="000000">
                    <a:lumMod val="50000"/>
                    <a:lumOff val="50000"/>
                  </a:srgbClr>
                </a:solidFill>
                <a:latin typeface="Calibri" pitchFamily="34" charset="0"/>
                <a:ea typeface="+mn-ea"/>
              </a:rPr>
              <a:t>CPU Chip</a:t>
            </a:r>
          </a:p>
        </p:txBody>
      </p:sp>
      <p:sp>
        <p:nvSpPr>
          <p:cNvPr id="13" name="Text Box 9">
            <a:extLst>
              <a:ext uri="{FF2B5EF4-FFF2-40B4-BE49-F238E27FC236}">
                <a16:creationId xmlns:a16="http://schemas.microsoft.com/office/drawing/2014/main" id="{0FAC1F53-2F9E-4A19-9293-FC7C56AE081E}"/>
              </a:ext>
            </a:extLst>
          </p:cNvPr>
          <p:cNvSpPr txBox="1">
            <a:spLocks noChangeArrowheads="1"/>
          </p:cNvSpPr>
          <p:nvPr/>
        </p:nvSpPr>
        <p:spPr bwMode="auto">
          <a:xfrm>
            <a:off x="4738688" y="2122488"/>
            <a:ext cx="560387" cy="306387"/>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PTEA</a:t>
            </a:r>
          </a:p>
        </p:txBody>
      </p:sp>
      <p:cxnSp>
        <p:nvCxnSpPr>
          <p:cNvPr id="103437" name="Straight Arrow Connector 45">
            <a:extLst>
              <a:ext uri="{FF2B5EF4-FFF2-40B4-BE49-F238E27FC236}">
                <a16:creationId xmlns:a16="http://schemas.microsoft.com/office/drawing/2014/main" id="{96CC1F67-F11F-40DA-B58C-671F61E86159}"/>
              </a:ext>
            </a:extLst>
          </p:cNvPr>
          <p:cNvCxnSpPr>
            <a:cxnSpLocks noChangeShapeType="1"/>
          </p:cNvCxnSpPr>
          <p:nvPr/>
        </p:nvCxnSpPr>
        <p:spPr bwMode="auto">
          <a:xfrm flipV="1">
            <a:off x="4256088" y="2374900"/>
            <a:ext cx="1522412" cy="1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5" name="Text Box 9">
            <a:extLst>
              <a:ext uri="{FF2B5EF4-FFF2-40B4-BE49-F238E27FC236}">
                <a16:creationId xmlns:a16="http://schemas.microsoft.com/office/drawing/2014/main" id="{056E8A79-F5D9-4233-BF11-693A295C033F}"/>
              </a:ext>
            </a:extLst>
          </p:cNvPr>
          <p:cNvSpPr txBox="1">
            <a:spLocks noChangeArrowheads="1"/>
          </p:cNvSpPr>
          <p:nvPr/>
        </p:nvSpPr>
        <p:spPr bwMode="auto">
          <a:xfrm>
            <a:off x="4791075" y="2563813"/>
            <a:ext cx="454025" cy="306387"/>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a:t>
            </a:r>
          </a:p>
        </p:txBody>
      </p:sp>
      <p:cxnSp>
        <p:nvCxnSpPr>
          <p:cNvPr id="103439" name="Straight Arrow Connector 47">
            <a:extLst>
              <a:ext uri="{FF2B5EF4-FFF2-40B4-BE49-F238E27FC236}">
                <a16:creationId xmlns:a16="http://schemas.microsoft.com/office/drawing/2014/main" id="{D2DD7CD7-39A5-4F20-A164-D257531F0808}"/>
              </a:ext>
            </a:extLst>
          </p:cNvPr>
          <p:cNvCxnSpPr>
            <a:cxnSpLocks noChangeShapeType="1"/>
          </p:cNvCxnSpPr>
          <p:nvPr/>
        </p:nvCxnSpPr>
        <p:spPr bwMode="auto">
          <a:xfrm flipH="1" flipV="1">
            <a:off x="4256088" y="2832100"/>
            <a:ext cx="1522412" cy="1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7" name="Oval 4">
            <a:extLst>
              <a:ext uri="{FF2B5EF4-FFF2-40B4-BE49-F238E27FC236}">
                <a16:creationId xmlns:a16="http://schemas.microsoft.com/office/drawing/2014/main" id="{396F32E3-5062-4F4A-8744-C6305444C8A1}"/>
              </a:ext>
            </a:extLst>
          </p:cNvPr>
          <p:cNvSpPr>
            <a:spLocks noChangeArrowheads="1"/>
          </p:cNvSpPr>
          <p:nvPr/>
        </p:nvSpPr>
        <p:spPr bwMode="auto">
          <a:xfrm>
            <a:off x="2330450" y="2322513"/>
            <a:ext cx="274638"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1</a:t>
            </a:r>
          </a:p>
        </p:txBody>
      </p:sp>
      <p:sp>
        <p:nvSpPr>
          <p:cNvPr id="18" name="Oval 18">
            <a:extLst>
              <a:ext uri="{FF2B5EF4-FFF2-40B4-BE49-F238E27FC236}">
                <a16:creationId xmlns:a16="http://schemas.microsoft.com/office/drawing/2014/main" id="{A3459AA8-5908-49FC-8C04-F65699E10D4E}"/>
              </a:ext>
            </a:extLst>
          </p:cNvPr>
          <p:cNvSpPr>
            <a:spLocks noChangeArrowheads="1"/>
          </p:cNvSpPr>
          <p:nvPr/>
        </p:nvSpPr>
        <p:spPr bwMode="auto">
          <a:xfrm>
            <a:off x="4881563" y="1874838"/>
            <a:ext cx="274637"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2</a:t>
            </a:r>
          </a:p>
        </p:txBody>
      </p:sp>
      <p:sp>
        <p:nvSpPr>
          <p:cNvPr id="19" name="Oval 19">
            <a:extLst>
              <a:ext uri="{FF2B5EF4-FFF2-40B4-BE49-F238E27FC236}">
                <a16:creationId xmlns:a16="http://schemas.microsoft.com/office/drawing/2014/main" id="{3A126C57-8ED7-4C95-8A3B-057C693CCE89}"/>
              </a:ext>
            </a:extLst>
          </p:cNvPr>
          <p:cNvSpPr>
            <a:spLocks noChangeArrowheads="1"/>
          </p:cNvSpPr>
          <p:nvPr/>
        </p:nvSpPr>
        <p:spPr bwMode="auto">
          <a:xfrm>
            <a:off x="4881563" y="2882900"/>
            <a:ext cx="274637"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3</a:t>
            </a:r>
          </a:p>
        </p:txBody>
      </p:sp>
      <p:sp>
        <p:nvSpPr>
          <p:cNvPr id="20" name="Oval 20">
            <a:extLst>
              <a:ext uri="{FF2B5EF4-FFF2-40B4-BE49-F238E27FC236}">
                <a16:creationId xmlns:a16="http://schemas.microsoft.com/office/drawing/2014/main" id="{E2029502-8717-4F45-92AC-5A890BC369B1}"/>
              </a:ext>
            </a:extLst>
          </p:cNvPr>
          <p:cNvSpPr>
            <a:spLocks noChangeArrowheads="1"/>
          </p:cNvSpPr>
          <p:nvPr/>
        </p:nvSpPr>
        <p:spPr bwMode="auto">
          <a:xfrm>
            <a:off x="4564063" y="1282700"/>
            <a:ext cx="274637"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4</a:t>
            </a:r>
          </a:p>
        </p:txBody>
      </p:sp>
      <p:sp>
        <p:nvSpPr>
          <p:cNvPr id="21" name="Oval 21">
            <a:extLst>
              <a:ext uri="{FF2B5EF4-FFF2-40B4-BE49-F238E27FC236}">
                <a16:creationId xmlns:a16="http://schemas.microsoft.com/office/drawing/2014/main" id="{5BBA2538-A2D5-4954-B9F7-E285FA1B6376}"/>
              </a:ext>
            </a:extLst>
          </p:cNvPr>
          <p:cNvSpPr>
            <a:spLocks noChangeArrowheads="1"/>
          </p:cNvSpPr>
          <p:nvPr/>
        </p:nvSpPr>
        <p:spPr bwMode="auto">
          <a:xfrm>
            <a:off x="7192963" y="2428875"/>
            <a:ext cx="274637"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5</a:t>
            </a:r>
          </a:p>
        </p:txBody>
      </p:sp>
      <p:sp>
        <p:nvSpPr>
          <p:cNvPr id="22" name="Rectangle 17">
            <a:extLst>
              <a:ext uri="{FF2B5EF4-FFF2-40B4-BE49-F238E27FC236}">
                <a16:creationId xmlns:a16="http://schemas.microsoft.com/office/drawing/2014/main" id="{3E86DCFD-F23C-417E-BA3A-73601FFFC00B}"/>
              </a:ext>
            </a:extLst>
          </p:cNvPr>
          <p:cNvSpPr>
            <a:spLocks noChangeArrowheads="1"/>
          </p:cNvSpPr>
          <p:nvPr/>
        </p:nvSpPr>
        <p:spPr bwMode="auto">
          <a:xfrm>
            <a:off x="7924800" y="1920875"/>
            <a:ext cx="914400" cy="1927225"/>
          </a:xfrm>
          <a:prstGeom prst="rect">
            <a:avLst/>
          </a:prstGeom>
          <a:solidFill>
            <a:srgbClr val="F5F5F5"/>
          </a:solidFill>
          <a:ln w="1908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Disk</a:t>
            </a:r>
          </a:p>
        </p:txBody>
      </p:sp>
      <p:sp>
        <p:nvSpPr>
          <p:cNvPr id="23" name="Rectangle 10">
            <a:extLst>
              <a:ext uri="{FF2B5EF4-FFF2-40B4-BE49-F238E27FC236}">
                <a16:creationId xmlns:a16="http://schemas.microsoft.com/office/drawing/2014/main" id="{BB265EF8-9075-419B-AB12-C69D036ED80F}"/>
              </a:ext>
            </a:extLst>
          </p:cNvPr>
          <p:cNvSpPr>
            <a:spLocks noChangeArrowheads="1"/>
          </p:cNvSpPr>
          <p:nvPr/>
        </p:nvSpPr>
        <p:spPr bwMode="auto">
          <a:xfrm>
            <a:off x="5761038" y="947738"/>
            <a:ext cx="2527300" cy="533400"/>
          </a:xfrm>
          <a:prstGeom prst="rect">
            <a:avLst/>
          </a:prstGeom>
          <a:solidFill>
            <a:srgbClr val="F6F5BD"/>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Page fault handler</a:t>
            </a:r>
          </a:p>
        </p:txBody>
      </p:sp>
      <p:cxnSp>
        <p:nvCxnSpPr>
          <p:cNvPr id="24" name="Shape 26">
            <a:extLst>
              <a:ext uri="{FF2B5EF4-FFF2-40B4-BE49-F238E27FC236}">
                <a16:creationId xmlns:a16="http://schemas.microsoft.com/office/drawing/2014/main" id="{C54B7175-2083-44C8-B2BB-73B5F2B6A0AA}"/>
              </a:ext>
            </a:extLst>
          </p:cNvPr>
          <p:cNvCxnSpPr>
            <a:cxnSpLocks noChangeShapeType="1"/>
            <a:stCxn id="7" idx="0"/>
            <a:endCxn id="23" idx="1"/>
          </p:cNvCxnSpPr>
          <p:nvPr/>
        </p:nvCxnSpPr>
        <p:spPr bwMode="auto">
          <a:xfrm rot="5400000" flipH="1" flipV="1">
            <a:off x="4248150" y="688976"/>
            <a:ext cx="987425" cy="2038350"/>
          </a:xfrm>
          <a:prstGeom prst="bentConnector2">
            <a:avLst/>
          </a:prstGeom>
          <a:noFill/>
          <a:ln w="25400" algn="ctr">
            <a:solidFill>
              <a:srgbClr val="000000"/>
            </a:solidFill>
            <a:prstDash val="dash"/>
            <a:round/>
            <a:headEnd/>
            <a:tailEnd type="arrow" w="med" len="med"/>
          </a:ln>
          <a:extLst>
            <a:ext uri="{909E8E84-426E-40DD-AFC4-6F175D3DCCD1}">
              <a14:hiddenFill xmlns:a14="http://schemas.microsoft.com/office/drawing/2010/main">
                <a:noFill/>
              </a14:hiddenFill>
            </a:ext>
          </a:extLst>
        </p:spPr>
      </p:cxnSp>
      <p:cxnSp>
        <p:nvCxnSpPr>
          <p:cNvPr id="25" name="Straight Arrow Connector 27">
            <a:extLst>
              <a:ext uri="{FF2B5EF4-FFF2-40B4-BE49-F238E27FC236}">
                <a16:creationId xmlns:a16="http://schemas.microsoft.com/office/drawing/2014/main" id="{A3048C98-CD2E-4D56-99E3-BFB1F6D2EC08}"/>
              </a:ext>
            </a:extLst>
          </p:cNvPr>
          <p:cNvCxnSpPr>
            <a:cxnSpLocks noChangeShapeType="1"/>
          </p:cNvCxnSpPr>
          <p:nvPr/>
        </p:nvCxnSpPr>
        <p:spPr bwMode="auto">
          <a:xfrm>
            <a:off x="6707188" y="2362200"/>
            <a:ext cx="1217612" cy="1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26" name="Straight Arrow Connector 28">
            <a:extLst>
              <a:ext uri="{FF2B5EF4-FFF2-40B4-BE49-F238E27FC236}">
                <a16:creationId xmlns:a16="http://schemas.microsoft.com/office/drawing/2014/main" id="{8AB8ED8E-4963-45D8-B258-C73C649B4816}"/>
              </a:ext>
            </a:extLst>
          </p:cNvPr>
          <p:cNvCxnSpPr>
            <a:cxnSpLocks noChangeShapeType="1"/>
          </p:cNvCxnSpPr>
          <p:nvPr/>
        </p:nvCxnSpPr>
        <p:spPr bwMode="auto">
          <a:xfrm rot="10800000">
            <a:off x="6707188" y="3308350"/>
            <a:ext cx="1217612" cy="1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27" name="Down Arrow 33">
            <a:extLst>
              <a:ext uri="{FF2B5EF4-FFF2-40B4-BE49-F238E27FC236}">
                <a16:creationId xmlns:a16="http://schemas.microsoft.com/office/drawing/2014/main" id="{882EC76B-FD5A-4591-951E-DF2161D5E990}"/>
              </a:ext>
            </a:extLst>
          </p:cNvPr>
          <p:cNvSpPr/>
          <p:nvPr/>
        </p:nvSpPr>
        <p:spPr bwMode="auto">
          <a:xfrm>
            <a:off x="7086600" y="1481138"/>
            <a:ext cx="457200" cy="628650"/>
          </a:xfrm>
          <a:prstGeom prst="downArrow">
            <a:avLst/>
          </a:prstGeom>
          <a:noFill/>
          <a:ln w="635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8" name="Text Box 9">
            <a:extLst>
              <a:ext uri="{FF2B5EF4-FFF2-40B4-BE49-F238E27FC236}">
                <a16:creationId xmlns:a16="http://schemas.microsoft.com/office/drawing/2014/main" id="{E575A7CD-D95F-4E0D-9823-9B4579A8C0E9}"/>
              </a:ext>
            </a:extLst>
          </p:cNvPr>
          <p:cNvSpPr txBox="1">
            <a:spLocks noChangeArrowheads="1"/>
          </p:cNvSpPr>
          <p:nvPr/>
        </p:nvSpPr>
        <p:spPr bwMode="auto">
          <a:xfrm>
            <a:off x="6773863" y="2082800"/>
            <a:ext cx="1057275"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Victim page</a:t>
            </a:r>
          </a:p>
        </p:txBody>
      </p:sp>
      <p:sp>
        <p:nvSpPr>
          <p:cNvPr id="29" name="Text Box 9">
            <a:extLst>
              <a:ext uri="{FF2B5EF4-FFF2-40B4-BE49-F238E27FC236}">
                <a16:creationId xmlns:a16="http://schemas.microsoft.com/office/drawing/2014/main" id="{1E807262-54C7-4BDF-91D6-8406A593A51D}"/>
              </a:ext>
            </a:extLst>
          </p:cNvPr>
          <p:cNvSpPr txBox="1">
            <a:spLocks noChangeArrowheads="1"/>
          </p:cNvSpPr>
          <p:nvPr/>
        </p:nvSpPr>
        <p:spPr bwMode="auto">
          <a:xfrm>
            <a:off x="6858000" y="3030538"/>
            <a:ext cx="919163" cy="306387"/>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New page</a:t>
            </a:r>
          </a:p>
        </p:txBody>
      </p:sp>
      <p:sp>
        <p:nvSpPr>
          <p:cNvPr id="30" name="Text Box 9">
            <a:extLst>
              <a:ext uri="{FF2B5EF4-FFF2-40B4-BE49-F238E27FC236}">
                <a16:creationId xmlns:a16="http://schemas.microsoft.com/office/drawing/2014/main" id="{1BBD9890-8E34-427B-BE2F-4564CAF72D15}"/>
              </a:ext>
            </a:extLst>
          </p:cNvPr>
          <p:cNvSpPr txBox="1">
            <a:spLocks noChangeArrowheads="1"/>
          </p:cNvSpPr>
          <p:nvPr/>
        </p:nvSpPr>
        <p:spPr bwMode="auto">
          <a:xfrm>
            <a:off x="4267200" y="908050"/>
            <a:ext cx="908050" cy="306388"/>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Exception</a:t>
            </a:r>
          </a:p>
        </p:txBody>
      </p:sp>
      <p:sp>
        <p:nvSpPr>
          <p:cNvPr id="31" name="Oval 21">
            <a:extLst>
              <a:ext uri="{FF2B5EF4-FFF2-40B4-BE49-F238E27FC236}">
                <a16:creationId xmlns:a16="http://schemas.microsoft.com/office/drawing/2014/main" id="{AE092DED-B4A7-4084-AA55-B650331314AA}"/>
              </a:ext>
            </a:extLst>
          </p:cNvPr>
          <p:cNvSpPr>
            <a:spLocks noChangeArrowheads="1"/>
          </p:cNvSpPr>
          <p:nvPr/>
        </p:nvSpPr>
        <p:spPr bwMode="auto">
          <a:xfrm>
            <a:off x="7205663" y="3390900"/>
            <a:ext cx="274637"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6</a:t>
            </a:r>
          </a:p>
        </p:txBody>
      </p:sp>
      <p:sp>
        <p:nvSpPr>
          <p:cNvPr id="32" name="Oval 21">
            <a:extLst>
              <a:ext uri="{FF2B5EF4-FFF2-40B4-BE49-F238E27FC236}">
                <a16:creationId xmlns:a16="http://schemas.microsoft.com/office/drawing/2014/main" id="{DE8BE4EE-7085-4F40-8336-E9CDAC2D238B}"/>
              </a:ext>
            </a:extLst>
          </p:cNvPr>
          <p:cNvSpPr>
            <a:spLocks noChangeArrowheads="1"/>
          </p:cNvSpPr>
          <p:nvPr/>
        </p:nvSpPr>
        <p:spPr bwMode="auto">
          <a:xfrm>
            <a:off x="2330450" y="2901950"/>
            <a:ext cx="274638"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7</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6" end="6"/>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7" grpId="0" animBg="1"/>
      <p:bldP spid="28" grpId="0"/>
      <p:bldP spid="29" grpId="0"/>
      <p:bldP spid="30" grpId="0"/>
      <p:bldP spid="31" grpId="0" animBg="1"/>
      <p:bldP spid="32"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BD0EC5-CAF9-46B6-972C-4343DBEC2DED}"/>
              </a:ext>
            </a:extLst>
          </p:cNvPr>
          <p:cNvSpPr>
            <a:spLocks noGrp="1"/>
          </p:cNvSpPr>
          <p:nvPr>
            <p:ph type="title"/>
          </p:nvPr>
        </p:nvSpPr>
        <p:spPr/>
        <p:txBody>
          <a:bodyPr/>
          <a:lstStyle/>
          <a:p>
            <a:pPr>
              <a:defRPr/>
            </a:pPr>
            <a:r>
              <a:rPr lang="zh-CN" altLang="en-US" dirty="0"/>
              <a:t>内存管理（</a:t>
            </a:r>
            <a:r>
              <a:rPr lang="en-US" altLang="zh-CN" dirty="0"/>
              <a:t>1</a:t>
            </a:r>
            <a:r>
              <a:rPr lang="zh-CN" altLang="en-US" dirty="0"/>
              <a:t>）</a:t>
            </a:r>
          </a:p>
        </p:txBody>
      </p:sp>
      <p:sp>
        <p:nvSpPr>
          <p:cNvPr id="105475" name="内容占位符 2">
            <a:extLst>
              <a:ext uri="{FF2B5EF4-FFF2-40B4-BE49-F238E27FC236}">
                <a16:creationId xmlns:a16="http://schemas.microsoft.com/office/drawing/2014/main" id="{4DB501A7-D30F-409E-97C6-BF375F1FCBA4}"/>
              </a:ext>
            </a:extLst>
          </p:cNvPr>
          <p:cNvSpPr>
            <a:spLocks noGrp="1" noChangeArrowheads="1"/>
          </p:cNvSpPr>
          <p:nvPr>
            <p:ph idx="1"/>
          </p:nvPr>
        </p:nvSpPr>
        <p:spPr/>
        <p:txBody>
          <a:bodyPr/>
          <a:lstStyle/>
          <a:p>
            <a:r>
              <a:rPr lang="zh-CN" altLang="en-US" sz="2800"/>
              <a:t>每个进程都具有相同的虚拟地址空间</a:t>
            </a:r>
            <a:endParaRPr lang="en-US" altLang="zh-CN" sz="2800"/>
          </a:p>
          <a:p>
            <a:pPr lvl="1"/>
            <a:r>
              <a:rPr lang="zh-CN" altLang="en-US" sz="2400"/>
              <a:t>将存储器视为一个线性数组</a:t>
            </a:r>
          </a:p>
        </p:txBody>
      </p:sp>
      <p:sp>
        <p:nvSpPr>
          <p:cNvPr id="5" name="Rectangle 3">
            <a:extLst>
              <a:ext uri="{FF2B5EF4-FFF2-40B4-BE49-F238E27FC236}">
                <a16:creationId xmlns:a16="http://schemas.microsoft.com/office/drawing/2014/main" id="{674CF043-3834-40D1-8638-AFAB5C7EC51C}"/>
              </a:ext>
            </a:extLst>
          </p:cNvPr>
          <p:cNvSpPr>
            <a:spLocks noChangeArrowheads="1"/>
          </p:cNvSpPr>
          <p:nvPr/>
        </p:nvSpPr>
        <p:spPr bwMode="auto">
          <a:xfrm>
            <a:off x="993775" y="2379663"/>
            <a:ext cx="1368425" cy="1169987"/>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Virtual Address Space for Process 1:</a:t>
            </a:r>
          </a:p>
        </p:txBody>
      </p:sp>
      <p:sp>
        <p:nvSpPr>
          <p:cNvPr id="6" name="Rectangle 4">
            <a:extLst>
              <a:ext uri="{FF2B5EF4-FFF2-40B4-BE49-F238E27FC236}">
                <a16:creationId xmlns:a16="http://schemas.microsoft.com/office/drawing/2014/main" id="{8C0F2287-690C-41E7-AD99-758ED3BC69F3}"/>
              </a:ext>
            </a:extLst>
          </p:cNvPr>
          <p:cNvSpPr>
            <a:spLocks noChangeArrowheads="1"/>
          </p:cNvSpPr>
          <p:nvPr/>
        </p:nvSpPr>
        <p:spPr bwMode="auto">
          <a:xfrm>
            <a:off x="6731000" y="2352675"/>
            <a:ext cx="1066800" cy="1176338"/>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Physical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Address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Space (DRAM)</a:t>
            </a:r>
          </a:p>
        </p:txBody>
      </p:sp>
      <p:sp>
        <p:nvSpPr>
          <p:cNvPr id="7" name="Rectangle 24">
            <a:extLst>
              <a:ext uri="{FF2B5EF4-FFF2-40B4-BE49-F238E27FC236}">
                <a16:creationId xmlns:a16="http://schemas.microsoft.com/office/drawing/2014/main" id="{3056892F-B544-46BB-8E69-E7E0AA651377}"/>
              </a:ext>
            </a:extLst>
          </p:cNvPr>
          <p:cNvSpPr>
            <a:spLocks noChangeArrowheads="1"/>
          </p:cNvSpPr>
          <p:nvPr/>
        </p:nvSpPr>
        <p:spPr bwMode="auto">
          <a:xfrm>
            <a:off x="2360613" y="2303463"/>
            <a:ext cx="279400"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0</a:t>
            </a:r>
          </a:p>
        </p:txBody>
      </p:sp>
      <p:sp>
        <p:nvSpPr>
          <p:cNvPr id="8" name="Rectangle 26">
            <a:extLst>
              <a:ext uri="{FF2B5EF4-FFF2-40B4-BE49-F238E27FC236}">
                <a16:creationId xmlns:a16="http://schemas.microsoft.com/office/drawing/2014/main" id="{3737A07D-FF00-42C4-92AF-30A6D5BBFD0F}"/>
              </a:ext>
            </a:extLst>
          </p:cNvPr>
          <p:cNvSpPr>
            <a:spLocks noChangeArrowheads="1"/>
          </p:cNvSpPr>
          <p:nvPr/>
        </p:nvSpPr>
        <p:spPr bwMode="auto">
          <a:xfrm>
            <a:off x="2192338" y="3602038"/>
            <a:ext cx="447675"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N-1</a:t>
            </a:r>
          </a:p>
        </p:txBody>
      </p:sp>
      <p:sp>
        <p:nvSpPr>
          <p:cNvPr id="9" name="Rectangle 37">
            <a:extLst>
              <a:ext uri="{FF2B5EF4-FFF2-40B4-BE49-F238E27FC236}">
                <a16:creationId xmlns:a16="http://schemas.microsoft.com/office/drawing/2014/main" id="{BC969FCB-E195-4461-ACED-7E764BB7A494}"/>
              </a:ext>
            </a:extLst>
          </p:cNvPr>
          <p:cNvSpPr>
            <a:spLocks noChangeArrowheads="1"/>
          </p:cNvSpPr>
          <p:nvPr/>
        </p:nvSpPr>
        <p:spPr bwMode="auto">
          <a:xfrm>
            <a:off x="6629400" y="3867150"/>
            <a:ext cx="1449388" cy="512763"/>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(e.g., read-only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library code)</a:t>
            </a:r>
          </a:p>
        </p:txBody>
      </p:sp>
      <p:sp>
        <p:nvSpPr>
          <p:cNvPr id="10" name="Rectangle 40">
            <a:extLst>
              <a:ext uri="{FF2B5EF4-FFF2-40B4-BE49-F238E27FC236}">
                <a16:creationId xmlns:a16="http://schemas.microsoft.com/office/drawing/2014/main" id="{AB67AEFF-0901-4B41-804F-93EA1F0C2734}"/>
              </a:ext>
            </a:extLst>
          </p:cNvPr>
          <p:cNvSpPr>
            <a:spLocks noChangeArrowheads="1"/>
          </p:cNvSpPr>
          <p:nvPr/>
        </p:nvSpPr>
        <p:spPr bwMode="auto">
          <a:xfrm>
            <a:off x="993775" y="4360863"/>
            <a:ext cx="1368425" cy="1169987"/>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Virtual Address Space for Process 2:</a:t>
            </a:r>
          </a:p>
        </p:txBody>
      </p:sp>
      <p:sp>
        <p:nvSpPr>
          <p:cNvPr id="11" name="Rectangle 44">
            <a:extLst>
              <a:ext uri="{FF2B5EF4-FFF2-40B4-BE49-F238E27FC236}">
                <a16:creationId xmlns:a16="http://schemas.microsoft.com/office/drawing/2014/main" id="{1DAB24C9-531B-4FA8-B11C-FC4242D5462A}"/>
              </a:ext>
            </a:extLst>
          </p:cNvPr>
          <p:cNvSpPr/>
          <p:nvPr/>
        </p:nvSpPr>
        <p:spPr bwMode="auto">
          <a:xfrm>
            <a:off x="2616200" y="2459038"/>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12" name="Rectangle 45">
            <a:extLst>
              <a:ext uri="{FF2B5EF4-FFF2-40B4-BE49-F238E27FC236}">
                <a16:creationId xmlns:a16="http://schemas.microsoft.com/office/drawing/2014/main" id="{62DBC3EC-1E2B-478F-AF86-05DBBAF2B1F7}"/>
              </a:ext>
            </a:extLst>
          </p:cNvPr>
          <p:cNvSpPr/>
          <p:nvPr/>
        </p:nvSpPr>
        <p:spPr bwMode="auto">
          <a:xfrm>
            <a:off x="2616200" y="2714625"/>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1</a:t>
            </a:r>
          </a:p>
        </p:txBody>
      </p:sp>
      <p:sp>
        <p:nvSpPr>
          <p:cNvPr id="13" name="Rectangle 46">
            <a:extLst>
              <a:ext uri="{FF2B5EF4-FFF2-40B4-BE49-F238E27FC236}">
                <a16:creationId xmlns:a16="http://schemas.microsoft.com/office/drawing/2014/main" id="{1F8260C9-6731-4185-AD20-5CFEF4614A86}"/>
              </a:ext>
            </a:extLst>
          </p:cNvPr>
          <p:cNvSpPr/>
          <p:nvPr/>
        </p:nvSpPr>
        <p:spPr bwMode="auto">
          <a:xfrm>
            <a:off x="2616200" y="2965450"/>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2</a:t>
            </a:r>
          </a:p>
        </p:txBody>
      </p:sp>
      <p:sp>
        <p:nvSpPr>
          <p:cNvPr id="14" name="Rectangle 47">
            <a:extLst>
              <a:ext uri="{FF2B5EF4-FFF2-40B4-BE49-F238E27FC236}">
                <a16:creationId xmlns:a16="http://schemas.microsoft.com/office/drawing/2014/main" id="{EED18428-6C47-4994-842D-230E39B609FC}"/>
              </a:ext>
            </a:extLst>
          </p:cNvPr>
          <p:cNvSpPr/>
          <p:nvPr/>
        </p:nvSpPr>
        <p:spPr bwMode="auto">
          <a:xfrm>
            <a:off x="2616200" y="347662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15" name="Text Box 38">
            <a:extLst>
              <a:ext uri="{FF2B5EF4-FFF2-40B4-BE49-F238E27FC236}">
                <a16:creationId xmlns:a16="http://schemas.microsoft.com/office/drawing/2014/main" id="{98234131-6F88-4448-9D62-2149E0BFE986}"/>
              </a:ext>
            </a:extLst>
          </p:cNvPr>
          <p:cNvSpPr txBox="1">
            <a:spLocks noChangeArrowheads="1"/>
          </p:cNvSpPr>
          <p:nvPr/>
        </p:nvSpPr>
        <p:spPr bwMode="auto">
          <a:xfrm>
            <a:off x="2838450" y="3095625"/>
            <a:ext cx="428625" cy="414338"/>
          </a:xfrm>
          <a:prstGeom prst="rect">
            <a:avLst/>
          </a:prstGeom>
          <a:noFill/>
          <a:ln w="9525">
            <a:noFill/>
            <a:round/>
            <a:headEnd/>
            <a:tailEnd/>
          </a:ln>
          <a:effectLst/>
        </p:spPr>
        <p:txBody>
          <a:bodyPr wrap="none" lIns="90360" tIns="44280" rIns="90360" bIns="44280">
            <a:spAutoFit/>
          </a:bodyPr>
          <a:lstStyle/>
          <a:p>
            <a:pPr>
              <a:lnSpc>
                <a:spcPct val="88000"/>
              </a:lnSpc>
              <a:spcBef>
                <a:spcPts val="9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400" b="1" dirty="0">
                <a:solidFill>
                  <a:srgbClr val="003300"/>
                </a:solidFill>
                <a:latin typeface="Calibri" pitchFamily="34" charset="0"/>
                <a:ea typeface="+mn-ea"/>
              </a:rPr>
              <a:t>...</a:t>
            </a:r>
          </a:p>
        </p:txBody>
      </p:sp>
      <p:sp>
        <p:nvSpPr>
          <p:cNvPr id="16" name="Rectangle 24">
            <a:extLst>
              <a:ext uri="{FF2B5EF4-FFF2-40B4-BE49-F238E27FC236}">
                <a16:creationId xmlns:a16="http://schemas.microsoft.com/office/drawing/2014/main" id="{D4883208-D68A-4C4B-B57F-35B6CCFF99FD}"/>
              </a:ext>
            </a:extLst>
          </p:cNvPr>
          <p:cNvSpPr>
            <a:spLocks noChangeArrowheads="1"/>
          </p:cNvSpPr>
          <p:nvPr/>
        </p:nvSpPr>
        <p:spPr bwMode="auto">
          <a:xfrm>
            <a:off x="2360613" y="4284663"/>
            <a:ext cx="279400"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0</a:t>
            </a:r>
          </a:p>
        </p:txBody>
      </p:sp>
      <p:sp>
        <p:nvSpPr>
          <p:cNvPr id="17" name="Rectangle 26">
            <a:extLst>
              <a:ext uri="{FF2B5EF4-FFF2-40B4-BE49-F238E27FC236}">
                <a16:creationId xmlns:a16="http://schemas.microsoft.com/office/drawing/2014/main" id="{8EC13F87-B325-4F0A-BF9C-B629537B7718}"/>
              </a:ext>
            </a:extLst>
          </p:cNvPr>
          <p:cNvSpPr>
            <a:spLocks noChangeArrowheads="1"/>
          </p:cNvSpPr>
          <p:nvPr/>
        </p:nvSpPr>
        <p:spPr bwMode="auto">
          <a:xfrm>
            <a:off x="2192338" y="5583238"/>
            <a:ext cx="447675"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N-1</a:t>
            </a:r>
          </a:p>
        </p:txBody>
      </p:sp>
      <p:sp>
        <p:nvSpPr>
          <p:cNvPr id="18" name="Rectangle 51">
            <a:extLst>
              <a:ext uri="{FF2B5EF4-FFF2-40B4-BE49-F238E27FC236}">
                <a16:creationId xmlns:a16="http://schemas.microsoft.com/office/drawing/2014/main" id="{9DB7DA98-D080-4A3C-AC0A-312A0920554E}"/>
              </a:ext>
            </a:extLst>
          </p:cNvPr>
          <p:cNvSpPr/>
          <p:nvPr/>
        </p:nvSpPr>
        <p:spPr bwMode="auto">
          <a:xfrm>
            <a:off x="2616200" y="443547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19" name="Rectangle 52">
            <a:extLst>
              <a:ext uri="{FF2B5EF4-FFF2-40B4-BE49-F238E27FC236}">
                <a16:creationId xmlns:a16="http://schemas.microsoft.com/office/drawing/2014/main" id="{5974428C-1F41-4F7B-A4C1-4C8F3935AC33}"/>
              </a:ext>
            </a:extLst>
          </p:cNvPr>
          <p:cNvSpPr/>
          <p:nvPr/>
        </p:nvSpPr>
        <p:spPr bwMode="auto">
          <a:xfrm>
            <a:off x="2616200" y="469106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1</a:t>
            </a:r>
          </a:p>
        </p:txBody>
      </p:sp>
      <p:sp>
        <p:nvSpPr>
          <p:cNvPr id="20" name="Rectangle 53">
            <a:extLst>
              <a:ext uri="{FF2B5EF4-FFF2-40B4-BE49-F238E27FC236}">
                <a16:creationId xmlns:a16="http://schemas.microsoft.com/office/drawing/2014/main" id="{4669D695-94BB-496E-9ED4-2E40406510F8}"/>
              </a:ext>
            </a:extLst>
          </p:cNvPr>
          <p:cNvSpPr/>
          <p:nvPr/>
        </p:nvSpPr>
        <p:spPr bwMode="auto">
          <a:xfrm>
            <a:off x="2616200" y="4943475"/>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2</a:t>
            </a:r>
          </a:p>
        </p:txBody>
      </p:sp>
      <p:sp>
        <p:nvSpPr>
          <p:cNvPr id="21" name="Rectangle 54">
            <a:extLst>
              <a:ext uri="{FF2B5EF4-FFF2-40B4-BE49-F238E27FC236}">
                <a16:creationId xmlns:a16="http://schemas.microsoft.com/office/drawing/2014/main" id="{154EACAB-F87F-46F9-8BE8-8BB4250B4E64}"/>
              </a:ext>
            </a:extLst>
          </p:cNvPr>
          <p:cNvSpPr/>
          <p:nvPr/>
        </p:nvSpPr>
        <p:spPr bwMode="auto">
          <a:xfrm>
            <a:off x="2616200" y="545306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2" name="Text Box 38">
            <a:extLst>
              <a:ext uri="{FF2B5EF4-FFF2-40B4-BE49-F238E27FC236}">
                <a16:creationId xmlns:a16="http://schemas.microsoft.com/office/drawing/2014/main" id="{853F13E1-939C-42FA-BEA6-C6ADC6763055}"/>
              </a:ext>
            </a:extLst>
          </p:cNvPr>
          <p:cNvSpPr txBox="1">
            <a:spLocks noChangeArrowheads="1"/>
          </p:cNvSpPr>
          <p:nvPr/>
        </p:nvSpPr>
        <p:spPr bwMode="auto">
          <a:xfrm>
            <a:off x="2838450" y="5072063"/>
            <a:ext cx="428625" cy="414337"/>
          </a:xfrm>
          <a:prstGeom prst="rect">
            <a:avLst/>
          </a:prstGeom>
          <a:noFill/>
          <a:ln w="9525">
            <a:noFill/>
            <a:round/>
            <a:headEnd/>
            <a:tailEnd/>
          </a:ln>
          <a:effectLst/>
        </p:spPr>
        <p:txBody>
          <a:bodyPr wrap="none" lIns="90360" tIns="44280" rIns="90360" bIns="44280">
            <a:spAutoFit/>
          </a:bodyPr>
          <a:lstStyle/>
          <a:p>
            <a:pPr>
              <a:lnSpc>
                <a:spcPct val="88000"/>
              </a:lnSpc>
              <a:spcBef>
                <a:spcPts val="9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400" b="1" dirty="0">
                <a:solidFill>
                  <a:srgbClr val="003300"/>
                </a:solidFill>
                <a:latin typeface="Calibri" pitchFamily="34" charset="0"/>
                <a:ea typeface="+mn-ea"/>
              </a:rPr>
              <a:t>...</a:t>
            </a:r>
          </a:p>
        </p:txBody>
      </p:sp>
      <p:sp>
        <p:nvSpPr>
          <p:cNvPr id="23" name="Rectangle 56">
            <a:extLst>
              <a:ext uri="{FF2B5EF4-FFF2-40B4-BE49-F238E27FC236}">
                <a16:creationId xmlns:a16="http://schemas.microsoft.com/office/drawing/2014/main" id="{7F740C76-A8F8-4A27-A750-BC111D429F27}"/>
              </a:ext>
            </a:extLst>
          </p:cNvPr>
          <p:cNvSpPr/>
          <p:nvPr/>
        </p:nvSpPr>
        <p:spPr bwMode="auto">
          <a:xfrm>
            <a:off x="5715000" y="245586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4" name="Rectangle 57">
            <a:extLst>
              <a:ext uri="{FF2B5EF4-FFF2-40B4-BE49-F238E27FC236}">
                <a16:creationId xmlns:a16="http://schemas.microsoft.com/office/drawing/2014/main" id="{0185CD64-F902-427E-B2AB-7420D431379F}"/>
              </a:ext>
            </a:extLst>
          </p:cNvPr>
          <p:cNvSpPr/>
          <p:nvPr/>
        </p:nvSpPr>
        <p:spPr bwMode="auto">
          <a:xfrm>
            <a:off x="5715000" y="2711450"/>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5" name="Rectangle 58">
            <a:extLst>
              <a:ext uri="{FF2B5EF4-FFF2-40B4-BE49-F238E27FC236}">
                <a16:creationId xmlns:a16="http://schemas.microsoft.com/office/drawing/2014/main" id="{13524D10-2228-4EAC-BA1B-E34EB11BB32C}"/>
              </a:ext>
            </a:extLst>
          </p:cNvPr>
          <p:cNvSpPr/>
          <p:nvPr/>
        </p:nvSpPr>
        <p:spPr bwMode="auto">
          <a:xfrm>
            <a:off x="5715000" y="297021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PP 2</a:t>
            </a:r>
          </a:p>
        </p:txBody>
      </p:sp>
      <p:sp>
        <p:nvSpPr>
          <p:cNvPr id="26" name="Rectangle 59">
            <a:extLst>
              <a:ext uri="{FF2B5EF4-FFF2-40B4-BE49-F238E27FC236}">
                <a16:creationId xmlns:a16="http://schemas.microsoft.com/office/drawing/2014/main" id="{348018B6-5F94-4612-8B88-31E32A16BCFF}"/>
              </a:ext>
            </a:extLst>
          </p:cNvPr>
          <p:cNvSpPr/>
          <p:nvPr/>
        </p:nvSpPr>
        <p:spPr bwMode="auto">
          <a:xfrm>
            <a:off x="5715000" y="322262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7" name="Rectangle 60">
            <a:extLst>
              <a:ext uri="{FF2B5EF4-FFF2-40B4-BE49-F238E27FC236}">
                <a16:creationId xmlns:a16="http://schemas.microsoft.com/office/drawing/2014/main" id="{F81528D2-1183-4274-984D-B44A2DB1D083}"/>
              </a:ext>
            </a:extLst>
          </p:cNvPr>
          <p:cNvSpPr/>
          <p:nvPr/>
        </p:nvSpPr>
        <p:spPr bwMode="auto">
          <a:xfrm>
            <a:off x="5715000" y="347821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8" name="Rectangle 61">
            <a:extLst>
              <a:ext uri="{FF2B5EF4-FFF2-40B4-BE49-F238E27FC236}">
                <a16:creationId xmlns:a16="http://schemas.microsoft.com/office/drawing/2014/main" id="{057E497C-1CF7-4032-A1BD-E2E79A549634}"/>
              </a:ext>
            </a:extLst>
          </p:cNvPr>
          <p:cNvSpPr/>
          <p:nvPr/>
        </p:nvSpPr>
        <p:spPr bwMode="auto">
          <a:xfrm>
            <a:off x="5715000" y="373697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9" name="Rectangle 62">
            <a:extLst>
              <a:ext uri="{FF2B5EF4-FFF2-40B4-BE49-F238E27FC236}">
                <a16:creationId xmlns:a16="http://schemas.microsoft.com/office/drawing/2014/main" id="{6687E5E2-EE5A-4D7D-BBDD-F94C867DC21C}"/>
              </a:ext>
            </a:extLst>
          </p:cNvPr>
          <p:cNvSpPr/>
          <p:nvPr/>
        </p:nvSpPr>
        <p:spPr bwMode="auto">
          <a:xfrm>
            <a:off x="5715000" y="399256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PP 6</a:t>
            </a:r>
          </a:p>
        </p:txBody>
      </p:sp>
      <p:sp>
        <p:nvSpPr>
          <p:cNvPr id="30" name="Rectangle 63">
            <a:extLst>
              <a:ext uri="{FF2B5EF4-FFF2-40B4-BE49-F238E27FC236}">
                <a16:creationId xmlns:a16="http://schemas.microsoft.com/office/drawing/2014/main" id="{957F559E-5C70-4247-8FD5-EE6B9370B27A}"/>
              </a:ext>
            </a:extLst>
          </p:cNvPr>
          <p:cNvSpPr/>
          <p:nvPr/>
        </p:nvSpPr>
        <p:spPr bwMode="auto">
          <a:xfrm>
            <a:off x="5715000" y="425132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31" name="Rectangle 64">
            <a:extLst>
              <a:ext uri="{FF2B5EF4-FFF2-40B4-BE49-F238E27FC236}">
                <a16:creationId xmlns:a16="http://schemas.microsoft.com/office/drawing/2014/main" id="{2AB561C7-D322-4E5B-8409-E200A7E98F0F}"/>
              </a:ext>
            </a:extLst>
          </p:cNvPr>
          <p:cNvSpPr/>
          <p:nvPr/>
        </p:nvSpPr>
        <p:spPr bwMode="auto">
          <a:xfrm>
            <a:off x="5715000" y="450691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PP 8</a:t>
            </a:r>
          </a:p>
        </p:txBody>
      </p:sp>
      <p:sp>
        <p:nvSpPr>
          <p:cNvPr id="32" name="Rectangle 65">
            <a:extLst>
              <a:ext uri="{FF2B5EF4-FFF2-40B4-BE49-F238E27FC236}">
                <a16:creationId xmlns:a16="http://schemas.microsoft.com/office/drawing/2014/main" id="{BA26237F-3698-4353-AF32-73846B6F362A}"/>
              </a:ext>
            </a:extLst>
          </p:cNvPr>
          <p:cNvSpPr/>
          <p:nvPr/>
        </p:nvSpPr>
        <p:spPr bwMode="auto">
          <a:xfrm>
            <a:off x="5715000" y="476567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33" name="Rectangle 66">
            <a:extLst>
              <a:ext uri="{FF2B5EF4-FFF2-40B4-BE49-F238E27FC236}">
                <a16:creationId xmlns:a16="http://schemas.microsoft.com/office/drawing/2014/main" id="{66058456-71DE-4D8A-A461-31D9B4FB4F42}"/>
              </a:ext>
            </a:extLst>
          </p:cNvPr>
          <p:cNvSpPr/>
          <p:nvPr/>
        </p:nvSpPr>
        <p:spPr bwMode="auto">
          <a:xfrm>
            <a:off x="5715000" y="542766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34" name="Text Box 38">
            <a:extLst>
              <a:ext uri="{FF2B5EF4-FFF2-40B4-BE49-F238E27FC236}">
                <a16:creationId xmlns:a16="http://schemas.microsoft.com/office/drawing/2014/main" id="{0DE44439-01CD-430B-8F22-71EB0AAB4B62}"/>
              </a:ext>
            </a:extLst>
          </p:cNvPr>
          <p:cNvSpPr txBox="1">
            <a:spLocks noChangeArrowheads="1"/>
          </p:cNvSpPr>
          <p:nvPr/>
        </p:nvSpPr>
        <p:spPr bwMode="auto">
          <a:xfrm>
            <a:off x="5959475" y="4975225"/>
            <a:ext cx="428625" cy="414338"/>
          </a:xfrm>
          <a:prstGeom prst="rect">
            <a:avLst/>
          </a:prstGeom>
          <a:noFill/>
          <a:ln w="9525">
            <a:noFill/>
            <a:round/>
            <a:headEnd/>
            <a:tailEnd/>
          </a:ln>
          <a:effectLst/>
        </p:spPr>
        <p:txBody>
          <a:bodyPr wrap="none" lIns="90360" tIns="44280" rIns="90360" bIns="44280">
            <a:spAutoFit/>
          </a:bodyPr>
          <a:lstStyle/>
          <a:p>
            <a:pPr>
              <a:lnSpc>
                <a:spcPct val="88000"/>
              </a:lnSpc>
              <a:spcBef>
                <a:spcPts val="9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400" b="1" dirty="0">
                <a:solidFill>
                  <a:srgbClr val="003300"/>
                </a:solidFill>
                <a:latin typeface="Calibri" pitchFamily="34" charset="0"/>
                <a:ea typeface="+mn-ea"/>
              </a:rPr>
              <a:t>...</a:t>
            </a:r>
          </a:p>
        </p:txBody>
      </p:sp>
      <p:sp>
        <p:nvSpPr>
          <p:cNvPr id="35" name="Rectangle 24">
            <a:extLst>
              <a:ext uri="{FF2B5EF4-FFF2-40B4-BE49-F238E27FC236}">
                <a16:creationId xmlns:a16="http://schemas.microsoft.com/office/drawing/2014/main" id="{B0BC487F-7089-498B-851A-BB44AE8F8EA2}"/>
              </a:ext>
            </a:extLst>
          </p:cNvPr>
          <p:cNvSpPr>
            <a:spLocks noChangeArrowheads="1"/>
          </p:cNvSpPr>
          <p:nvPr/>
        </p:nvSpPr>
        <p:spPr bwMode="auto">
          <a:xfrm>
            <a:off x="5473700" y="2303463"/>
            <a:ext cx="279400"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0</a:t>
            </a:r>
          </a:p>
        </p:txBody>
      </p:sp>
      <p:sp>
        <p:nvSpPr>
          <p:cNvPr id="36" name="Rectangle 26">
            <a:extLst>
              <a:ext uri="{FF2B5EF4-FFF2-40B4-BE49-F238E27FC236}">
                <a16:creationId xmlns:a16="http://schemas.microsoft.com/office/drawing/2014/main" id="{93F9716D-B250-49C0-9C03-A9C869BA400F}"/>
              </a:ext>
            </a:extLst>
          </p:cNvPr>
          <p:cNvSpPr>
            <a:spLocks noChangeArrowheads="1"/>
          </p:cNvSpPr>
          <p:nvPr/>
        </p:nvSpPr>
        <p:spPr bwMode="auto">
          <a:xfrm>
            <a:off x="5260975" y="5576888"/>
            <a:ext cx="485775"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M-1</a:t>
            </a:r>
          </a:p>
        </p:txBody>
      </p:sp>
      <p:cxnSp>
        <p:nvCxnSpPr>
          <p:cNvPr id="105509" name="Straight Arrow Connector 73">
            <a:extLst>
              <a:ext uri="{FF2B5EF4-FFF2-40B4-BE49-F238E27FC236}">
                <a16:creationId xmlns:a16="http://schemas.microsoft.com/office/drawing/2014/main" id="{D9728B65-F038-47AD-97AB-1B7B44E9FD9D}"/>
              </a:ext>
            </a:extLst>
          </p:cNvPr>
          <p:cNvCxnSpPr>
            <a:cxnSpLocks noChangeShapeType="1"/>
            <a:stCxn id="12" idx="3"/>
            <a:endCxn id="25" idx="1"/>
          </p:cNvCxnSpPr>
          <p:nvPr/>
        </p:nvCxnSpPr>
        <p:spPr bwMode="auto">
          <a:xfrm>
            <a:off x="3530600" y="2841625"/>
            <a:ext cx="2184400" cy="255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05510" name="Straight Arrow Connector 75">
            <a:extLst>
              <a:ext uri="{FF2B5EF4-FFF2-40B4-BE49-F238E27FC236}">
                <a16:creationId xmlns:a16="http://schemas.microsoft.com/office/drawing/2014/main" id="{B1267C3C-2986-46FF-87EF-80FAAB51F097}"/>
              </a:ext>
            </a:extLst>
          </p:cNvPr>
          <p:cNvCxnSpPr>
            <a:cxnSpLocks noChangeShapeType="1"/>
            <a:stCxn id="13" idx="3"/>
            <a:endCxn id="29" idx="1"/>
          </p:cNvCxnSpPr>
          <p:nvPr/>
        </p:nvCxnSpPr>
        <p:spPr bwMode="auto">
          <a:xfrm>
            <a:off x="3530600" y="3094038"/>
            <a:ext cx="2184400" cy="1025525"/>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05511" name="Straight Arrow Connector 77">
            <a:extLst>
              <a:ext uri="{FF2B5EF4-FFF2-40B4-BE49-F238E27FC236}">
                <a16:creationId xmlns:a16="http://schemas.microsoft.com/office/drawing/2014/main" id="{7A98910A-0669-48BC-B9DE-E0B8D8ACCC06}"/>
              </a:ext>
            </a:extLst>
          </p:cNvPr>
          <p:cNvCxnSpPr>
            <a:cxnSpLocks noChangeShapeType="1"/>
            <a:stCxn id="20" idx="3"/>
            <a:endCxn id="29" idx="1"/>
          </p:cNvCxnSpPr>
          <p:nvPr/>
        </p:nvCxnSpPr>
        <p:spPr bwMode="auto">
          <a:xfrm flipV="1">
            <a:off x="3530600" y="4119563"/>
            <a:ext cx="2184400" cy="952500"/>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05512" name="Straight Arrow Connector 79">
            <a:extLst>
              <a:ext uri="{FF2B5EF4-FFF2-40B4-BE49-F238E27FC236}">
                <a16:creationId xmlns:a16="http://schemas.microsoft.com/office/drawing/2014/main" id="{E559FEA3-5876-428D-8039-9BF557EFF83E}"/>
              </a:ext>
            </a:extLst>
          </p:cNvPr>
          <p:cNvCxnSpPr>
            <a:cxnSpLocks noChangeShapeType="1"/>
            <a:stCxn id="19" idx="3"/>
            <a:endCxn id="31" idx="1"/>
          </p:cNvCxnSpPr>
          <p:nvPr/>
        </p:nvCxnSpPr>
        <p:spPr bwMode="auto">
          <a:xfrm flipV="1">
            <a:off x="3530600" y="4635500"/>
            <a:ext cx="2184400" cy="184150"/>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41" name="Rectangle 80">
            <a:extLst>
              <a:ext uri="{FF2B5EF4-FFF2-40B4-BE49-F238E27FC236}">
                <a16:creationId xmlns:a16="http://schemas.microsoft.com/office/drawing/2014/main" id="{74B37F4C-9E8C-4373-9C37-1914CD8E1474}"/>
              </a:ext>
            </a:extLst>
          </p:cNvPr>
          <p:cNvSpPr/>
          <p:nvPr/>
        </p:nvSpPr>
        <p:spPr>
          <a:xfrm>
            <a:off x="3911600" y="2205038"/>
            <a:ext cx="1349375" cy="708025"/>
          </a:xfrm>
          <a:prstGeom prst="rect">
            <a:avLst/>
          </a:prstGeom>
        </p:spPr>
        <p:txBody>
          <a:bodyPr wrap="none">
            <a:spAutoFit/>
          </a:bodyPr>
          <a:lstStyle/>
          <a:p>
            <a:pPr algn="ctr">
              <a:defRPr/>
            </a:pPr>
            <a:r>
              <a:rPr kumimoji="0" lang="en-GB" sz="2000" b="1" i="1" dirty="0">
                <a:solidFill>
                  <a:srgbClr val="000000">
                    <a:lumMod val="50000"/>
                    <a:lumOff val="50000"/>
                  </a:srgbClr>
                </a:solidFill>
                <a:latin typeface="Calibri" pitchFamily="34" charset="0"/>
                <a:ea typeface="+mn-ea"/>
              </a:rPr>
              <a:t>Address </a:t>
            </a:r>
          </a:p>
          <a:p>
            <a:pPr algn="ctr">
              <a:defRPr/>
            </a:pPr>
            <a:r>
              <a:rPr kumimoji="0" lang="en-GB" sz="2000" b="1" i="1" dirty="0">
                <a:solidFill>
                  <a:srgbClr val="000000">
                    <a:lumMod val="50000"/>
                    <a:lumOff val="50000"/>
                  </a:srgbClr>
                </a:solidFill>
                <a:latin typeface="Calibri" pitchFamily="34" charset="0"/>
                <a:ea typeface="+mn-ea"/>
              </a:rPr>
              <a:t>translation</a:t>
            </a:r>
            <a:endParaRPr kumimoji="0" lang="en-US" sz="2000" b="1" dirty="0">
              <a:solidFill>
                <a:srgbClr val="000000"/>
              </a:solidFill>
              <a:latin typeface="Arial Narrow" pitchFamily="34" charset="0"/>
              <a:ea typeface="+mn-ea"/>
            </a:endParaRPr>
          </a:p>
        </p:txBody>
      </p:sp>
      <p:sp>
        <p:nvSpPr>
          <p:cNvPr id="42" name="Rectangle 3">
            <a:extLst>
              <a:ext uri="{FF2B5EF4-FFF2-40B4-BE49-F238E27FC236}">
                <a16:creationId xmlns:a16="http://schemas.microsoft.com/office/drawing/2014/main" id="{D6762D7B-5C80-4626-9D02-A9CC6DC1EB62}"/>
              </a:ext>
            </a:extLst>
          </p:cNvPr>
          <p:cNvSpPr>
            <a:spLocks noChangeArrowheads="1"/>
          </p:cNvSpPr>
          <p:nvPr/>
        </p:nvSpPr>
        <p:spPr bwMode="auto">
          <a:xfrm>
            <a:off x="7265988" y="4903788"/>
            <a:ext cx="1368425" cy="1176337"/>
          </a:xfrm>
          <a:prstGeom prst="rect">
            <a:avLst/>
          </a:prstGeom>
          <a:noFill/>
          <a:ln w="15875">
            <a:solidFill>
              <a:schemeClr val="accent1">
                <a:lumMod val="60000"/>
                <a:lumOff val="40000"/>
              </a:schemeClr>
            </a:solidFill>
            <a:round/>
            <a:headEnd/>
            <a:tailEnd/>
          </a:ln>
          <a:effectLst/>
        </p:spPr>
        <p:txBody>
          <a:bodyPr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98000"/>
              </a:lnSpc>
              <a:defRPr/>
            </a:pPr>
            <a:r>
              <a:rPr kumimoji="0" lang="zh-CN" altLang="en-US" sz="1800">
                <a:solidFill>
                  <a:srgbClr val="C00000"/>
                </a:solidFill>
                <a:latin typeface="Calibri" panose="020F0502020204030204" pitchFamily="34" charset="0"/>
                <a:ea typeface="楷体_GB2312" pitchFamily="49" charset="-122"/>
              </a:rPr>
              <a:t>操作系统必须为每个进程提供一个独立的页表</a:t>
            </a:r>
            <a:endParaRPr kumimoji="0" lang="en-GB" altLang="zh-CN" sz="1800">
              <a:solidFill>
                <a:srgbClr val="C00000"/>
              </a:solidFill>
              <a:latin typeface="Calibri" panose="020F0502020204030204" pitchFamily="34" charset="0"/>
              <a:ea typeface="楷体_GB2312" pitchFamily="49" charset="-122"/>
            </a:endParaRPr>
          </a:p>
        </p:txBody>
      </p:sp>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C89F9B-8E23-4C30-AC99-FB2DCFFA6A1F}"/>
              </a:ext>
            </a:extLst>
          </p:cNvPr>
          <p:cNvSpPr>
            <a:spLocks noGrp="1"/>
          </p:cNvSpPr>
          <p:nvPr>
            <p:ph type="title"/>
          </p:nvPr>
        </p:nvSpPr>
        <p:spPr/>
        <p:txBody>
          <a:bodyPr/>
          <a:lstStyle/>
          <a:p>
            <a:pPr>
              <a:defRPr/>
            </a:pPr>
            <a:r>
              <a:rPr lang="zh-CN" altLang="en-US" dirty="0"/>
              <a:t>内存管理（</a:t>
            </a:r>
            <a:r>
              <a:rPr lang="en-US" altLang="zh-CN" dirty="0"/>
              <a:t>2</a:t>
            </a:r>
            <a:r>
              <a:rPr lang="zh-CN" altLang="en-US" dirty="0"/>
              <a:t>）</a:t>
            </a:r>
          </a:p>
        </p:txBody>
      </p:sp>
      <p:sp>
        <p:nvSpPr>
          <p:cNvPr id="106499" name="内容占位符 2">
            <a:extLst>
              <a:ext uri="{FF2B5EF4-FFF2-40B4-BE49-F238E27FC236}">
                <a16:creationId xmlns:a16="http://schemas.microsoft.com/office/drawing/2014/main" id="{698F3F7A-9689-4DFC-BDC6-0DD184C5538C}"/>
              </a:ext>
            </a:extLst>
          </p:cNvPr>
          <p:cNvSpPr>
            <a:spLocks noGrp="1" noChangeArrowheads="1"/>
          </p:cNvSpPr>
          <p:nvPr>
            <p:ph idx="1"/>
          </p:nvPr>
        </p:nvSpPr>
        <p:spPr/>
        <p:txBody>
          <a:bodyPr/>
          <a:lstStyle/>
          <a:p>
            <a:r>
              <a:rPr lang="zh-CN" altLang="en-US" sz="2800" dirty="0"/>
              <a:t>简化存储器分配相同的虚拟地址空间</a:t>
            </a:r>
            <a:endParaRPr lang="en-US" altLang="zh-CN" sz="2800" dirty="0"/>
          </a:p>
          <a:p>
            <a:pPr lvl="1"/>
            <a:r>
              <a:rPr lang="zh-CN" altLang="en-US" sz="2400" dirty="0"/>
              <a:t>每个虚拟页可以映射到任意物理</a:t>
            </a:r>
            <a:endParaRPr lang="en-US" altLang="zh-CN" sz="2400" dirty="0"/>
          </a:p>
          <a:p>
            <a:pPr lvl="1"/>
            <a:r>
              <a:rPr lang="zh-CN" altLang="en-US" sz="2400" dirty="0"/>
              <a:t>虚拟页在不同的时间可以存储在不同的物理页</a:t>
            </a:r>
            <a:endParaRPr lang="en-US" altLang="zh-CN" sz="2400" dirty="0"/>
          </a:p>
          <a:p>
            <a:r>
              <a:rPr lang="zh-CN" altLang="en-US" sz="2800" dirty="0"/>
              <a:t>进程间共享代码和数据</a:t>
            </a:r>
          </a:p>
        </p:txBody>
      </p:sp>
      <p:sp>
        <p:nvSpPr>
          <p:cNvPr id="5" name="Rectangle 3">
            <a:extLst>
              <a:ext uri="{FF2B5EF4-FFF2-40B4-BE49-F238E27FC236}">
                <a16:creationId xmlns:a16="http://schemas.microsoft.com/office/drawing/2014/main" id="{510D1B2A-63C6-452B-B1B0-DAA0364E946D}"/>
              </a:ext>
            </a:extLst>
          </p:cNvPr>
          <p:cNvSpPr>
            <a:spLocks noChangeArrowheads="1"/>
          </p:cNvSpPr>
          <p:nvPr/>
        </p:nvSpPr>
        <p:spPr bwMode="auto">
          <a:xfrm>
            <a:off x="993775" y="2857500"/>
            <a:ext cx="1368425" cy="1169988"/>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Virtual Address Space for Process 1:</a:t>
            </a:r>
          </a:p>
        </p:txBody>
      </p:sp>
      <p:sp>
        <p:nvSpPr>
          <p:cNvPr id="6" name="Rectangle 4">
            <a:extLst>
              <a:ext uri="{FF2B5EF4-FFF2-40B4-BE49-F238E27FC236}">
                <a16:creationId xmlns:a16="http://schemas.microsoft.com/office/drawing/2014/main" id="{646FA86C-3D6F-4F0B-8ABE-56ADDE7E7BD0}"/>
              </a:ext>
            </a:extLst>
          </p:cNvPr>
          <p:cNvSpPr>
            <a:spLocks noChangeArrowheads="1"/>
          </p:cNvSpPr>
          <p:nvPr/>
        </p:nvSpPr>
        <p:spPr bwMode="auto">
          <a:xfrm>
            <a:off x="6731000" y="2830513"/>
            <a:ext cx="1066800" cy="1176337"/>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Physical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Address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Space (DRAM)</a:t>
            </a:r>
          </a:p>
        </p:txBody>
      </p:sp>
      <p:sp>
        <p:nvSpPr>
          <p:cNvPr id="7" name="Rectangle 24">
            <a:extLst>
              <a:ext uri="{FF2B5EF4-FFF2-40B4-BE49-F238E27FC236}">
                <a16:creationId xmlns:a16="http://schemas.microsoft.com/office/drawing/2014/main" id="{CF85D692-A206-42F1-B398-8974117DC2DF}"/>
              </a:ext>
            </a:extLst>
          </p:cNvPr>
          <p:cNvSpPr>
            <a:spLocks noChangeArrowheads="1"/>
          </p:cNvSpPr>
          <p:nvPr/>
        </p:nvSpPr>
        <p:spPr bwMode="auto">
          <a:xfrm>
            <a:off x="2360613" y="2781300"/>
            <a:ext cx="279400"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0</a:t>
            </a:r>
          </a:p>
        </p:txBody>
      </p:sp>
      <p:sp>
        <p:nvSpPr>
          <p:cNvPr id="8" name="Rectangle 26">
            <a:extLst>
              <a:ext uri="{FF2B5EF4-FFF2-40B4-BE49-F238E27FC236}">
                <a16:creationId xmlns:a16="http://schemas.microsoft.com/office/drawing/2014/main" id="{3FAB6C79-AAAC-4520-97BC-DE6B76FCD62D}"/>
              </a:ext>
            </a:extLst>
          </p:cNvPr>
          <p:cNvSpPr>
            <a:spLocks noChangeArrowheads="1"/>
          </p:cNvSpPr>
          <p:nvPr/>
        </p:nvSpPr>
        <p:spPr bwMode="auto">
          <a:xfrm>
            <a:off x="2192338" y="4079875"/>
            <a:ext cx="447675"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N-1</a:t>
            </a:r>
          </a:p>
        </p:txBody>
      </p:sp>
      <p:sp>
        <p:nvSpPr>
          <p:cNvPr id="9" name="Rectangle 37">
            <a:extLst>
              <a:ext uri="{FF2B5EF4-FFF2-40B4-BE49-F238E27FC236}">
                <a16:creationId xmlns:a16="http://schemas.microsoft.com/office/drawing/2014/main" id="{1D11A32C-320A-4257-AFA6-0F2D02D1CA22}"/>
              </a:ext>
            </a:extLst>
          </p:cNvPr>
          <p:cNvSpPr>
            <a:spLocks noChangeArrowheads="1"/>
          </p:cNvSpPr>
          <p:nvPr/>
        </p:nvSpPr>
        <p:spPr bwMode="auto">
          <a:xfrm>
            <a:off x="6629400" y="4344988"/>
            <a:ext cx="1449388" cy="512762"/>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(e.g., read-only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library code)</a:t>
            </a:r>
          </a:p>
        </p:txBody>
      </p:sp>
      <p:sp>
        <p:nvSpPr>
          <p:cNvPr id="10" name="Rectangle 40">
            <a:extLst>
              <a:ext uri="{FF2B5EF4-FFF2-40B4-BE49-F238E27FC236}">
                <a16:creationId xmlns:a16="http://schemas.microsoft.com/office/drawing/2014/main" id="{4E6F23DC-B810-478A-8D9B-A0BD68D25642}"/>
              </a:ext>
            </a:extLst>
          </p:cNvPr>
          <p:cNvSpPr>
            <a:spLocks noChangeArrowheads="1"/>
          </p:cNvSpPr>
          <p:nvPr/>
        </p:nvSpPr>
        <p:spPr bwMode="auto">
          <a:xfrm>
            <a:off x="993775" y="4838700"/>
            <a:ext cx="1368425" cy="1169988"/>
          </a:xfrm>
          <a:prstGeom prst="rect">
            <a:avLst/>
          </a:prstGeom>
          <a:noFill/>
          <a:ln w="9525">
            <a:noFill/>
            <a:round/>
            <a:headEnd/>
            <a:tailEnd/>
          </a:ln>
          <a:effectLst/>
        </p:spPr>
        <p:txBody>
          <a:bodyPr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Virtual Address Space for Process 2:</a:t>
            </a:r>
          </a:p>
        </p:txBody>
      </p:sp>
      <p:sp>
        <p:nvSpPr>
          <p:cNvPr id="11" name="Rectangle 44">
            <a:extLst>
              <a:ext uri="{FF2B5EF4-FFF2-40B4-BE49-F238E27FC236}">
                <a16:creationId xmlns:a16="http://schemas.microsoft.com/office/drawing/2014/main" id="{48C33B84-5073-40A3-96B2-8A2E8492DDC0}"/>
              </a:ext>
            </a:extLst>
          </p:cNvPr>
          <p:cNvSpPr/>
          <p:nvPr/>
        </p:nvSpPr>
        <p:spPr bwMode="auto">
          <a:xfrm>
            <a:off x="2616200" y="293687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12" name="Rectangle 45">
            <a:extLst>
              <a:ext uri="{FF2B5EF4-FFF2-40B4-BE49-F238E27FC236}">
                <a16:creationId xmlns:a16="http://schemas.microsoft.com/office/drawing/2014/main" id="{8CDC4AD1-F84F-4B99-AB9D-A9679E2556CF}"/>
              </a:ext>
            </a:extLst>
          </p:cNvPr>
          <p:cNvSpPr/>
          <p:nvPr/>
        </p:nvSpPr>
        <p:spPr bwMode="auto">
          <a:xfrm>
            <a:off x="2616200" y="319246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1</a:t>
            </a:r>
          </a:p>
        </p:txBody>
      </p:sp>
      <p:sp>
        <p:nvSpPr>
          <p:cNvPr id="13" name="Rectangle 46">
            <a:extLst>
              <a:ext uri="{FF2B5EF4-FFF2-40B4-BE49-F238E27FC236}">
                <a16:creationId xmlns:a16="http://schemas.microsoft.com/office/drawing/2014/main" id="{46E7EC17-2814-48F4-A5DD-31815FC24219}"/>
              </a:ext>
            </a:extLst>
          </p:cNvPr>
          <p:cNvSpPr/>
          <p:nvPr/>
        </p:nvSpPr>
        <p:spPr bwMode="auto">
          <a:xfrm>
            <a:off x="2616200" y="3443288"/>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2</a:t>
            </a:r>
          </a:p>
        </p:txBody>
      </p:sp>
      <p:sp>
        <p:nvSpPr>
          <p:cNvPr id="14" name="Rectangle 47">
            <a:extLst>
              <a:ext uri="{FF2B5EF4-FFF2-40B4-BE49-F238E27FC236}">
                <a16:creationId xmlns:a16="http://schemas.microsoft.com/office/drawing/2014/main" id="{4EF04035-B5F9-4E13-ABFD-BC26F2EC5391}"/>
              </a:ext>
            </a:extLst>
          </p:cNvPr>
          <p:cNvSpPr/>
          <p:nvPr/>
        </p:nvSpPr>
        <p:spPr bwMode="auto">
          <a:xfrm>
            <a:off x="2616200" y="395446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15" name="Text Box 38">
            <a:extLst>
              <a:ext uri="{FF2B5EF4-FFF2-40B4-BE49-F238E27FC236}">
                <a16:creationId xmlns:a16="http://schemas.microsoft.com/office/drawing/2014/main" id="{8717AFE0-0CA1-4716-9201-A77CFAA6039A}"/>
              </a:ext>
            </a:extLst>
          </p:cNvPr>
          <p:cNvSpPr txBox="1">
            <a:spLocks noChangeArrowheads="1"/>
          </p:cNvSpPr>
          <p:nvPr/>
        </p:nvSpPr>
        <p:spPr bwMode="auto">
          <a:xfrm>
            <a:off x="2838450" y="3573463"/>
            <a:ext cx="428625" cy="414337"/>
          </a:xfrm>
          <a:prstGeom prst="rect">
            <a:avLst/>
          </a:prstGeom>
          <a:noFill/>
          <a:ln w="9525">
            <a:noFill/>
            <a:round/>
            <a:headEnd/>
            <a:tailEnd/>
          </a:ln>
          <a:effectLst/>
        </p:spPr>
        <p:txBody>
          <a:bodyPr wrap="none" lIns="90360" tIns="44280" rIns="90360" bIns="44280">
            <a:spAutoFit/>
          </a:bodyPr>
          <a:lstStyle/>
          <a:p>
            <a:pPr>
              <a:lnSpc>
                <a:spcPct val="88000"/>
              </a:lnSpc>
              <a:spcBef>
                <a:spcPts val="9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400" b="1" dirty="0">
                <a:solidFill>
                  <a:srgbClr val="003300"/>
                </a:solidFill>
                <a:latin typeface="Calibri" pitchFamily="34" charset="0"/>
                <a:ea typeface="+mn-ea"/>
              </a:rPr>
              <a:t>...</a:t>
            </a:r>
          </a:p>
        </p:txBody>
      </p:sp>
      <p:sp>
        <p:nvSpPr>
          <p:cNvPr id="16" name="Rectangle 24">
            <a:extLst>
              <a:ext uri="{FF2B5EF4-FFF2-40B4-BE49-F238E27FC236}">
                <a16:creationId xmlns:a16="http://schemas.microsoft.com/office/drawing/2014/main" id="{ED5CE1CE-0096-4EF0-899E-8BD64639B0DC}"/>
              </a:ext>
            </a:extLst>
          </p:cNvPr>
          <p:cNvSpPr>
            <a:spLocks noChangeArrowheads="1"/>
          </p:cNvSpPr>
          <p:nvPr/>
        </p:nvSpPr>
        <p:spPr bwMode="auto">
          <a:xfrm>
            <a:off x="2360613" y="4762500"/>
            <a:ext cx="279400"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0</a:t>
            </a:r>
          </a:p>
        </p:txBody>
      </p:sp>
      <p:sp>
        <p:nvSpPr>
          <p:cNvPr id="17" name="Rectangle 26">
            <a:extLst>
              <a:ext uri="{FF2B5EF4-FFF2-40B4-BE49-F238E27FC236}">
                <a16:creationId xmlns:a16="http://schemas.microsoft.com/office/drawing/2014/main" id="{54C9BAFF-4427-4C73-9170-556137983059}"/>
              </a:ext>
            </a:extLst>
          </p:cNvPr>
          <p:cNvSpPr>
            <a:spLocks noChangeArrowheads="1"/>
          </p:cNvSpPr>
          <p:nvPr/>
        </p:nvSpPr>
        <p:spPr bwMode="auto">
          <a:xfrm>
            <a:off x="2192338" y="6061075"/>
            <a:ext cx="447675"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N-1</a:t>
            </a:r>
          </a:p>
        </p:txBody>
      </p:sp>
      <p:sp>
        <p:nvSpPr>
          <p:cNvPr id="18" name="Rectangle 51">
            <a:extLst>
              <a:ext uri="{FF2B5EF4-FFF2-40B4-BE49-F238E27FC236}">
                <a16:creationId xmlns:a16="http://schemas.microsoft.com/office/drawing/2014/main" id="{ACDB1499-E4BB-4128-8744-ED377961B476}"/>
              </a:ext>
            </a:extLst>
          </p:cNvPr>
          <p:cNvSpPr/>
          <p:nvPr/>
        </p:nvSpPr>
        <p:spPr bwMode="auto">
          <a:xfrm>
            <a:off x="2616200" y="491331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19" name="Rectangle 52">
            <a:extLst>
              <a:ext uri="{FF2B5EF4-FFF2-40B4-BE49-F238E27FC236}">
                <a16:creationId xmlns:a16="http://schemas.microsoft.com/office/drawing/2014/main" id="{310C4E4B-A17B-4F9B-860F-8FE3B5AFE489}"/>
              </a:ext>
            </a:extLst>
          </p:cNvPr>
          <p:cNvSpPr/>
          <p:nvPr/>
        </p:nvSpPr>
        <p:spPr bwMode="auto">
          <a:xfrm>
            <a:off x="2616200" y="5168900"/>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1</a:t>
            </a:r>
          </a:p>
        </p:txBody>
      </p:sp>
      <p:sp>
        <p:nvSpPr>
          <p:cNvPr id="20" name="Rectangle 53">
            <a:extLst>
              <a:ext uri="{FF2B5EF4-FFF2-40B4-BE49-F238E27FC236}">
                <a16:creationId xmlns:a16="http://schemas.microsoft.com/office/drawing/2014/main" id="{653AC72A-5C0C-435A-AF22-CE0B8BF38C47}"/>
              </a:ext>
            </a:extLst>
          </p:cNvPr>
          <p:cNvSpPr/>
          <p:nvPr/>
        </p:nvSpPr>
        <p:spPr bwMode="auto">
          <a:xfrm>
            <a:off x="2616200" y="542131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 2</a:t>
            </a:r>
          </a:p>
        </p:txBody>
      </p:sp>
      <p:sp>
        <p:nvSpPr>
          <p:cNvPr id="21" name="Rectangle 54">
            <a:extLst>
              <a:ext uri="{FF2B5EF4-FFF2-40B4-BE49-F238E27FC236}">
                <a16:creationId xmlns:a16="http://schemas.microsoft.com/office/drawing/2014/main" id="{C88B699F-813D-4022-A398-E8ED790C009C}"/>
              </a:ext>
            </a:extLst>
          </p:cNvPr>
          <p:cNvSpPr/>
          <p:nvPr/>
        </p:nvSpPr>
        <p:spPr bwMode="auto">
          <a:xfrm>
            <a:off x="2616200" y="5930900"/>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2" name="Text Box 38">
            <a:extLst>
              <a:ext uri="{FF2B5EF4-FFF2-40B4-BE49-F238E27FC236}">
                <a16:creationId xmlns:a16="http://schemas.microsoft.com/office/drawing/2014/main" id="{D568D1A5-996B-41C2-939C-507BAA5BE7D0}"/>
              </a:ext>
            </a:extLst>
          </p:cNvPr>
          <p:cNvSpPr txBox="1">
            <a:spLocks noChangeArrowheads="1"/>
          </p:cNvSpPr>
          <p:nvPr/>
        </p:nvSpPr>
        <p:spPr bwMode="auto">
          <a:xfrm>
            <a:off x="2838450" y="5549900"/>
            <a:ext cx="428625" cy="414338"/>
          </a:xfrm>
          <a:prstGeom prst="rect">
            <a:avLst/>
          </a:prstGeom>
          <a:noFill/>
          <a:ln w="9525">
            <a:noFill/>
            <a:round/>
            <a:headEnd/>
            <a:tailEnd/>
          </a:ln>
          <a:effectLst/>
        </p:spPr>
        <p:txBody>
          <a:bodyPr wrap="none" lIns="90360" tIns="44280" rIns="90360" bIns="44280">
            <a:spAutoFit/>
          </a:bodyPr>
          <a:lstStyle/>
          <a:p>
            <a:pPr>
              <a:lnSpc>
                <a:spcPct val="88000"/>
              </a:lnSpc>
              <a:spcBef>
                <a:spcPts val="9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400" b="1" dirty="0">
                <a:solidFill>
                  <a:srgbClr val="003300"/>
                </a:solidFill>
                <a:latin typeface="Calibri" pitchFamily="34" charset="0"/>
                <a:ea typeface="+mn-ea"/>
              </a:rPr>
              <a:t>...</a:t>
            </a:r>
          </a:p>
        </p:txBody>
      </p:sp>
      <p:sp>
        <p:nvSpPr>
          <p:cNvPr id="23" name="Rectangle 56">
            <a:extLst>
              <a:ext uri="{FF2B5EF4-FFF2-40B4-BE49-F238E27FC236}">
                <a16:creationId xmlns:a16="http://schemas.microsoft.com/office/drawing/2014/main" id="{4975FC74-17BE-4496-A25D-FA9B60D3A081}"/>
              </a:ext>
            </a:extLst>
          </p:cNvPr>
          <p:cNvSpPr/>
          <p:nvPr/>
        </p:nvSpPr>
        <p:spPr bwMode="auto">
          <a:xfrm>
            <a:off x="5715000" y="2933700"/>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4" name="Rectangle 57">
            <a:extLst>
              <a:ext uri="{FF2B5EF4-FFF2-40B4-BE49-F238E27FC236}">
                <a16:creationId xmlns:a16="http://schemas.microsoft.com/office/drawing/2014/main" id="{19429EB8-4BB0-496B-8C60-3F99B2A0C95D}"/>
              </a:ext>
            </a:extLst>
          </p:cNvPr>
          <p:cNvSpPr/>
          <p:nvPr/>
        </p:nvSpPr>
        <p:spPr bwMode="auto">
          <a:xfrm>
            <a:off x="5715000" y="3189288"/>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5" name="Rectangle 58">
            <a:extLst>
              <a:ext uri="{FF2B5EF4-FFF2-40B4-BE49-F238E27FC236}">
                <a16:creationId xmlns:a16="http://schemas.microsoft.com/office/drawing/2014/main" id="{4BCF8E83-6891-4C9E-B52B-5B78A9C92F38}"/>
              </a:ext>
            </a:extLst>
          </p:cNvPr>
          <p:cNvSpPr/>
          <p:nvPr/>
        </p:nvSpPr>
        <p:spPr bwMode="auto">
          <a:xfrm>
            <a:off x="5715000" y="3448050"/>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PP 2</a:t>
            </a:r>
          </a:p>
        </p:txBody>
      </p:sp>
      <p:sp>
        <p:nvSpPr>
          <p:cNvPr id="26" name="Rectangle 59">
            <a:extLst>
              <a:ext uri="{FF2B5EF4-FFF2-40B4-BE49-F238E27FC236}">
                <a16:creationId xmlns:a16="http://schemas.microsoft.com/office/drawing/2014/main" id="{836B1F08-1FB2-455B-82E1-37D152303C60}"/>
              </a:ext>
            </a:extLst>
          </p:cNvPr>
          <p:cNvSpPr/>
          <p:nvPr/>
        </p:nvSpPr>
        <p:spPr bwMode="auto">
          <a:xfrm>
            <a:off x="5715000" y="370046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7" name="Rectangle 60">
            <a:extLst>
              <a:ext uri="{FF2B5EF4-FFF2-40B4-BE49-F238E27FC236}">
                <a16:creationId xmlns:a16="http://schemas.microsoft.com/office/drawing/2014/main" id="{137A865A-6896-4845-8607-DE2E976A5E54}"/>
              </a:ext>
            </a:extLst>
          </p:cNvPr>
          <p:cNvSpPr/>
          <p:nvPr/>
        </p:nvSpPr>
        <p:spPr bwMode="auto">
          <a:xfrm>
            <a:off x="5715000" y="3956050"/>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8" name="Rectangle 61">
            <a:extLst>
              <a:ext uri="{FF2B5EF4-FFF2-40B4-BE49-F238E27FC236}">
                <a16:creationId xmlns:a16="http://schemas.microsoft.com/office/drawing/2014/main" id="{A7F0610F-9559-4565-82D4-2C1C0DD3608D}"/>
              </a:ext>
            </a:extLst>
          </p:cNvPr>
          <p:cNvSpPr/>
          <p:nvPr/>
        </p:nvSpPr>
        <p:spPr bwMode="auto">
          <a:xfrm>
            <a:off x="5715000" y="421481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29" name="Rectangle 62">
            <a:extLst>
              <a:ext uri="{FF2B5EF4-FFF2-40B4-BE49-F238E27FC236}">
                <a16:creationId xmlns:a16="http://schemas.microsoft.com/office/drawing/2014/main" id="{71A26061-AD98-4F47-93A5-160D7C61D030}"/>
              </a:ext>
            </a:extLst>
          </p:cNvPr>
          <p:cNvSpPr/>
          <p:nvPr/>
        </p:nvSpPr>
        <p:spPr bwMode="auto">
          <a:xfrm>
            <a:off x="5715000" y="4470400"/>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PP 6</a:t>
            </a:r>
          </a:p>
        </p:txBody>
      </p:sp>
      <p:sp>
        <p:nvSpPr>
          <p:cNvPr id="30" name="Rectangle 63">
            <a:extLst>
              <a:ext uri="{FF2B5EF4-FFF2-40B4-BE49-F238E27FC236}">
                <a16:creationId xmlns:a16="http://schemas.microsoft.com/office/drawing/2014/main" id="{ED040ACB-9EFC-496D-9460-E58E6290C86D}"/>
              </a:ext>
            </a:extLst>
          </p:cNvPr>
          <p:cNvSpPr/>
          <p:nvPr/>
        </p:nvSpPr>
        <p:spPr bwMode="auto">
          <a:xfrm>
            <a:off x="5715000" y="472916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31" name="Rectangle 64">
            <a:extLst>
              <a:ext uri="{FF2B5EF4-FFF2-40B4-BE49-F238E27FC236}">
                <a16:creationId xmlns:a16="http://schemas.microsoft.com/office/drawing/2014/main" id="{22A74EC8-FA3A-405D-9825-06BBA9B014CF}"/>
              </a:ext>
            </a:extLst>
          </p:cNvPr>
          <p:cNvSpPr/>
          <p:nvPr/>
        </p:nvSpPr>
        <p:spPr bwMode="auto">
          <a:xfrm>
            <a:off x="5715000" y="4984750"/>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PP 8</a:t>
            </a:r>
          </a:p>
        </p:txBody>
      </p:sp>
      <p:sp>
        <p:nvSpPr>
          <p:cNvPr id="32" name="Rectangle 65">
            <a:extLst>
              <a:ext uri="{FF2B5EF4-FFF2-40B4-BE49-F238E27FC236}">
                <a16:creationId xmlns:a16="http://schemas.microsoft.com/office/drawing/2014/main" id="{1942ABDA-F73C-469C-9B82-75AD2C80651E}"/>
              </a:ext>
            </a:extLst>
          </p:cNvPr>
          <p:cNvSpPr/>
          <p:nvPr/>
        </p:nvSpPr>
        <p:spPr bwMode="auto">
          <a:xfrm>
            <a:off x="5715000" y="524351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33" name="Rectangle 66">
            <a:extLst>
              <a:ext uri="{FF2B5EF4-FFF2-40B4-BE49-F238E27FC236}">
                <a16:creationId xmlns:a16="http://schemas.microsoft.com/office/drawing/2014/main" id="{EF65FD17-4A63-4E65-8368-9398069085D3}"/>
              </a:ext>
            </a:extLst>
          </p:cNvPr>
          <p:cNvSpPr/>
          <p:nvPr/>
        </p:nvSpPr>
        <p:spPr bwMode="auto">
          <a:xfrm>
            <a:off x="5715000" y="5905500"/>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a typeface="+mn-ea"/>
            </a:endParaRPr>
          </a:p>
        </p:txBody>
      </p:sp>
      <p:sp>
        <p:nvSpPr>
          <p:cNvPr id="34" name="Text Box 38">
            <a:extLst>
              <a:ext uri="{FF2B5EF4-FFF2-40B4-BE49-F238E27FC236}">
                <a16:creationId xmlns:a16="http://schemas.microsoft.com/office/drawing/2014/main" id="{24CB4BCA-3BDC-4F6B-AEA9-F5F82DE7C2F9}"/>
              </a:ext>
            </a:extLst>
          </p:cNvPr>
          <p:cNvSpPr txBox="1">
            <a:spLocks noChangeArrowheads="1"/>
          </p:cNvSpPr>
          <p:nvPr/>
        </p:nvSpPr>
        <p:spPr bwMode="auto">
          <a:xfrm>
            <a:off x="5959475" y="5453063"/>
            <a:ext cx="428625" cy="414337"/>
          </a:xfrm>
          <a:prstGeom prst="rect">
            <a:avLst/>
          </a:prstGeom>
          <a:noFill/>
          <a:ln w="9525">
            <a:noFill/>
            <a:round/>
            <a:headEnd/>
            <a:tailEnd/>
          </a:ln>
          <a:effectLst/>
        </p:spPr>
        <p:txBody>
          <a:bodyPr wrap="none" lIns="90360" tIns="44280" rIns="90360" bIns="44280">
            <a:spAutoFit/>
          </a:bodyPr>
          <a:lstStyle/>
          <a:p>
            <a:pPr>
              <a:lnSpc>
                <a:spcPct val="88000"/>
              </a:lnSpc>
              <a:spcBef>
                <a:spcPts val="9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400" b="1" dirty="0">
                <a:solidFill>
                  <a:srgbClr val="003300"/>
                </a:solidFill>
                <a:latin typeface="Calibri" pitchFamily="34" charset="0"/>
                <a:ea typeface="+mn-ea"/>
              </a:rPr>
              <a:t>...</a:t>
            </a:r>
          </a:p>
        </p:txBody>
      </p:sp>
      <p:sp>
        <p:nvSpPr>
          <p:cNvPr id="35" name="Rectangle 24">
            <a:extLst>
              <a:ext uri="{FF2B5EF4-FFF2-40B4-BE49-F238E27FC236}">
                <a16:creationId xmlns:a16="http://schemas.microsoft.com/office/drawing/2014/main" id="{41380CA3-CD4F-4737-95AD-401B69B39EB6}"/>
              </a:ext>
            </a:extLst>
          </p:cNvPr>
          <p:cNvSpPr>
            <a:spLocks noChangeArrowheads="1"/>
          </p:cNvSpPr>
          <p:nvPr/>
        </p:nvSpPr>
        <p:spPr bwMode="auto">
          <a:xfrm>
            <a:off x="5473700" y="2781300"/>
            <a:ext cx="279400"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0</a:t>
            </a:r>
          </a:p>
        </p:txBody>
      </p:sp>
      <p:sp>
        <p:nvSpPr>
          <p:cNvPr id="36" name="Rectangle 26">
            <a:extLst>
              <a:ext uri="{FF2B5EF4-FFF2-40B4-BE49-F238E27FC236}">
                <a16:creationId xmlns:a16="http://schemas.microsoft.com/office/drawing/2014/main" id="{42D12803-E4A8-4429-B1D8-98A17AABA53B}"/>
              </a:ext>
            </a:extLst>
          </p:cNvPr>
          <p:cNvSpPr>
            <a:spLocks noChangeArrowheads="1"/>
          </p:cNvSpPr>
          <p:nvPr/>
        </p:nvSpPr>
        <p:spPr bwMode="auto">
          <a:xfrm>
            <a:off x="5260975" y="6054725"/>
            <a:ext cx="485775" cy="301625"/>
          </a:xfrm>
          <a:prstGeom prst="rect">
            <a:avLst/>
          </a:prstGeom>
          <a:noFill/>
          <a:ln w="9525">
            <a:noFill/>
            <a:round/>
            <a:headEnd/>
            <a:tailEnd/>
          </a:ln>
          <a:effectLst/>
        </p:spPr>
        <p:txBody>
          <a:bodyPr wrap="none" lIns="90360" tIns="44280" rIns="90360" bIns="4428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M-1</a:t>
            </a:r>
          </a:p>
        </p:txBody>
      </p:sp>
      <p:cxnSp>
        <p:nvCxnSpPr>
          <p:cNvPr id="106533" name="Straight Arrow Connector 73">
            <a:extLst>
              <a:ext uri="{FF2B5EF4-FFF2-40B4-BE49-F238E27FC236}">
                <a16:creationId xmlns:a16="http://schemas.microsoft.com/office/drawing/2014/main" id="{3337CA6F-20A5-4C9D-8C3E-0BB592564F78}"/>
              </a:ext>
            </a:extLst>
          </p:cNvPr>
          <p:cNvCxnSpPr>
            <a:cxnSpLocks noChangeShapeType="1"/>
            <a:stCxn id="12" idx="3"/>
            <a:endCxn id="25" idx="1"/>
          </p:cNvCxnSpPr>
          <p:nvPr/>
        </p:nvCxnSpPr>
        <p:spPr bwMode="auto">
          <a:xfrm>
            <a:off x="3530600" y="3319463"/>
            <a:ext cx="2184400" cy="255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06534" name="Straight Arrow Connector 75">
            <a:extLst>
              <a:ext uri="{FF2B5EF4-FFF2-40B4-BE49-F238E27FC236}">
                <a16:creationId xmlns:a16="http://schemas.microsoft.com/office/drawing/2014/main" id="{BA229323-D71F-4457-A177-6AB0E52F5EE9}"/>
              </a:ext>
            </a:extLst>
          </p:cNvPr>
          <p:cNvCxnSpPr>
            <a:cxnSpLocks noChangeShapeType="1"/>
            <a:stCxn id="13" idx="3"/>
            <a:endCxn id="29" idx="1"/>
          </p:cNvCxnSpPr>
          <p:nvPr/>
        </p:nvCxnSpPr>
        <p:spPr bwMode="auto">
          <a:xfrm>
            <a:off x="3530600" y="3571875"/>
            <a:ext cx="2184400" cy="1025525"/>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06535" name="Straight Arrow Connector 77">
            <a:extLst>
              <a:ext uri="{FF2B5EF4-FFF2-40B4-BE49-F238E27FC236}">
                <a16:creationId xmlns:a16="http://schemas.microsoft.com/office/drawing/2014/main" id="{F88C3791-9D05-4F30-AE7E-C888E328D40B}"/>
              </a:ext>
            </a:extLst>
          </p:cNvPr>
          <p:cNvCxnSpPr>
            <a:cxnSpLocks noChangeShapeType="1"/>
            <a:stCxn id="20" idx="3"/>
            <a:endCxn id="29" idx="1"/>
          </p:cNvCxnSpPr>
          <p:nvPr/>
        </p:nvCxnSpPr>
        <p:spPr bwMode="auto">
          <a:xfrm flipV="1">
            <a:off x="3530600" y="4597400"/>
            <a:ext cx="2184400" cy="950913"/>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06536" name="Straight Arrow Connector 79">
            <a:extLst>
              <a:ext uri="{FF2B5EF4-FFF2-40B4-BE49-F238E27FC236}">
                <a16:creationId xmlns:a16="http://schemas.microsoft.com/office/drawing/2014/main" id="{D64CF831-975F-41C5-A5DE-E7A05DD911A4}"/>
              </a:ext>
            </a:extLst>
          </p:cNvPr>
          <p:cNvCxnSpPr>
            <a:cxnSpLocks noChangeShapeType="1"/>
            <a:stCxn id="19" idx="3"/>
            <a:endCxn id="31" idx="1"/>
          </p:cNvCxnSpPr>
          <p:nvPr/>
        </p:nvCxnSpPr>
        <p:spPr bwMode="auto">
          <a:xfrm flipV="1">
            <a:off x="3530600" y="5113338"/>
            <a:ext cx="2184400" cy="184150"/>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41" name="Rectangle 80">
            <a:extLst>
              <a:ext uri="{FF2B5EF4-FFF2-40B4-BE49-F238E27FC236}">
                <a16:creationId xmlns:a16="http://schemas.microsoft.com/office/drawing/2014/main" id="{99A9ECFE-7930-4037-AF95-C37F75487C0F}"/>
              </a:ext>
            </a:extLst>
          </p:cNvPr>
          <p:cNvSpPr/>
          <p:nvPr/>
        </p:nvSpPr>
        <p:spPr>
          <a:xfrm>
            <a:off x="3911600" y="2917825"/>
            <a:ext cx="1349375" cy="708025"/>
          </a:xfrm>
          <a:prstGeom prst="rect">
            <a:avLst/>
          </a:prstGeom>
        </p:spPr>
        <p:txBody>
          <a:bodyPr wrap="none">
            <a:spAutoFit/>
          </a:bodyPr>
          <a:lstStyle/>
          <a:p>
            <a:pPr algn="ctr">
              <a:defRPr/>
            </a:pPr>
            <a:r>
              <a:rPr kumimoji="0" lang="en-GB" sz="2000" b="1" i="1" dirty="0">
                <a:solidFill>
                  <a:srgbClr val="000000">
                    <a:lumMod val="50000"/>
                    <a:lumOff val="50000"/>
                  </a:srgbClr>
                </a:solidFill>
                <a:latin typeface="Calibri" pitchFamily="34" charset="0"/>
                <a:ea typeface="+mn-ea"/>
              </a:rPr>
              <a:t>Address </a:t>
            </a:r>
          </a:p>
          <a:p>
            <a:pPr algn="ctr">
              <a:defRPr/>
            </a:pPr>
            <a:r>
              <a:rPr kumimoji="0" lang="en-GB" sz="2000" b="1" i="1" dirty="0">
                <a:solidFill>
                  <a:srgbClr val="000000">
                    <a:lumMod val="50000"/>
                    <a:lumOff val="50000"/>
                  </a:srgbClr>
                </a:solidFill>
                <a:latin typeface="Calibri" pitchFamily="34" charset="0"/>
                <a:ea typeface="+mn-ea"/>
              </a:rPr>
              <a:t>translation</a:t>
            </a:r>
            <a:endParaRPr kumimoji="0" lang="en-US" sz="2000" b="1" dirty="0">
              <a:solidFill>
                <a:srgbClr val="000000"/>
              </a:solidFill>
              <a:latin typeface="Arial Narrow" pitchFamily="34" charset="0"/>
              <a:ea typeface="+mn-ea"/>
            </a:endParaRPr>
          </a:p>
        </p:txBody>
      </p:sp>
      <p:cxnSp>
        <p:nvCxnSpPr>
          <p:cNvPr id="106538" name="直接箭头连接符 42">
            <a:extLst>
              <a:ext uri="{FF2B5EF4-FFF2-40B4-BE49-F238E27FC236}">
                <a16:creationId xmlns:a16="http://schemas.microsoft.com/office/drawing/2014/main" id="{409E9BD4-0610-4BF3-A16F-0462806FDDB3}"/>
              </a:ext>
            </a:extLst>
          </p:cNvPr>
          <p:cNvCxnSpPr>
            <a:cxnSpLocks noChangeShapeType="1"/>
          </p:cNvCxnSpPr>
          <p:nvPr/>
        </p:nvCxnSpPr>
        <p:spPr bwMode="auto">
          <a:xfrm>
            <a:off x="4284663" y="4381500"/>
            <a:ext cx="1189037" cy="215900"/>
          </a:xfrm>
          <a:prstGeom prst="straightConnector1">
            <a:avLst/>
          </a:prstGeom>
          <a:noFill/>
          <a:ln w="47625" algn="ctr">
            <a:solidFill>
              <a:srgbClr val="FF0000"/>
            </a:solidFill>
            <a:miter lim="800000"/>
            <a:headEnd/>
            <a:tailEnd type="triangle" w="med" len="lg"/>
          </a:ln>
          <a:extLst>
            <a:ext uri="{909E8E84-426E-40DD-AFC4-6F175D3DCCD1}">
              <a14:hiddenFill xmlns:a14="http://schemas.microsoft.com/office/drawing/2010/main">
                <a:noFill/>
              </a14:hiddenFill>
            </a:ext>
          </a:extLst>
        </p:spPr>
      </p:cxnSp>
      <p:sp>
        <p:nvSpPr>
          <p:cNvPr id="45" name="Rectangle 3">
            <a:extLst>
              <a:ext uri="{FF2B5EF4-FFF2-40B4-BE49-F238E27FC236}">
                <a16:creationId xmlns:a16="http://schemas.microsoft.com/office/drawing/2014/main" id="{5DF544F3-F30D-4576-A6A7-DAE32EE89B70}"/>
              </a:ext>
            </a:extLst>
          </p:cNvPr>
          <p:cNvSpPr>
            <a:spLocks noChangeArrowheads="1"/>
          </p:cNvSpPr>
          <p:nvPr/>
        </p:nvSpPr>
        <p:spPr bwMode="auto">
          <a:xfrm>
            <a:off x="7265988" y="4903788"/>
            <a:ext cx="1368425" cy="1176337"/>
          </a:xfrm>
          <a:prstGeom prst="rect">
            <a:avLst/>
          </a:prstGeom>
          <a:noFill/>
          <a:ln w="15875">
            <a:solidFill>
              <a:srgbClr val="00F7F7"/>
            </a:solidFill>
            <a:round/>
            <a:headEnd/>
            <a:tailEnd/>
          </a:ln>
          <a:effectLst/>
        </p:spPr>
        <p:txBody>
          <a:bodyPr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98000"/>
              </a:lnSpc>
              <a:defRPr/>
            </a:pPr>
            <a:r>
              <a:rPr kumimoji="0" lang="zh-CN" altLang="en-US" sz="1800" dirty="0">
                <a:solidFill>
                  <a:srgbClr val="C00000"/>
                </a:solidFill>
                <a:latin typeface="Calibri" panose="020F0502020204030204" pitchFamily="34" charset="0"/>
                <a:ea typeface="楷体_GB2312" pitchFamily="49" charset="-122"/>
              </a:rPr>
              <a:t>操作系统必须为每个进程提供一个独立的页表</a:t>
            </a:r>
            <a:endParaRPr kumimoji="0" lang="en-GB" altLang="zh-CN" sz="1800" dirty="0">
              <a:solidFill>
                <a:srgbClr val="C00000"/>
              </a:solidFill>
              <a:latin typeface="Calibri" panose="020F0502020204030204" pitchFamily="34" charset="0"/>
              <a:ea typeface="楷体_GB2312" pitchFamily="49" charset="-122"/>
            </a:endParaRPr>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a:extLst>
              <a:ext uri="{FF2B5EF4-FFF2-40B4-BE49-F238E27FC236}">
                <a16:creationId xmlns:a16="http://schemas.microsoft.com/office/drawing/2014/main" id="{26FE5069-BB30-4C1A-B21A-7209D4D7D58C}"/>
              </a:ext>
            </a:extLst>
          </p:cNvPr>
          <p:cNvSpPr>
            <a:spLocks noGrp="1" noChangeArrowheads="1"/>
          </p:cNvSpPr>
          <p:nvPr>
            <p:ph type="title"/>
          </p:nvPr>
        </p:nvSpPr>
        <p:spPr/>
        <p:txBody>
          <a:bodyPr/>
          <a:lstStyle/>
          <a:p>
            <a:pPr eaLnBrk="1" hangingPunct="1">
              <a:defRPr/>
            </a:pPr>
            <a:r>
              <a:rPr lang="zh-CN" altLang="en-US"/>
              <a:t>用</a:t>
            </a:r>
            <a:r>
              <a:rPr lang="en-US" altLang="zh-CN"/>
              <a:t>TLB</a:t>
            </a:r>
            <a:r>
              <a:rPr lang="zh-CN" altLang="en-US"/>
              <a:t>加速虚拟</a:t>
            </a:r>
            <a:r>
              <a:rPr lang="en-US" altLang="zh-CN"/>
              <a:t>/</a:t>
            </a:r>
            <a:r>
              <a:rPr lang="zh-CN" altLang="en-US"/>
              <a:t>物理地址翻译</a:t>
            </a:r>
          </a:p>
        </p:txBody>
      </p:sp>
      <p:sp>
        <p:nvSpPr>
          <p:cNvPr id="108547" name="Rectangle 3">
            <a:extLst>
              <a:ext uri="{FF2B5EF4-FFF2-40B4-BE49-F238E27FC236}">
                <a16:creationId xmlns:a16="http://schemas.microsoft.com/office/drawing/2014/main" id="{CEDB8619-7DE5-4AD7-8005-80F1FE461B54}"/>
              </a:ext>
            </a:extLst>
          </p:cNvPr>
          <p:cNvSpPr>
            <a:spLocks noGrp="1" noChangeArrowheads="1"/>
          </p:cNvSpPr>
          <p:nvPr>
            <p:ph idx="1"/>
          </p:nvPr>
        </p:nvSpPr>
        <p:spPr/>
        <p:txBody>
          <a:bodyPr/>
          <a:lstStyle/>
          <a:p>
            <a:pPr eaLnBrk="1" hangingPunct="1"/>
            <a:r>
              <a:rPr kumimoji="0" lang="zh-CN" altLang="en-US" sz="2000" dirty="0"/>
              <a:t>快表</a:t>
            </a:r>
            <a:r>
              <a:rPr kumimoji="0" lang="en-US" altLang="zh-CN" sz="2000" dirty="0"/>
              <a:t>TLB</a:t>
            </a:r>
            <a:r>
              <a:rPr kumimoji="0" lang="zh-CN" altLang="en-US" sz="2000" dirty="0"/>
              <a:t>是一个特殊的</a:t>
            </a:r>
            <a:r>
              <a:rPr kumimoji="0" lang="en-US" altLang="zh-CN" sz="2000" dirty="0"/>
              <a:t>cache</a:t>
            </a:r>
            <a:r>
              <a:rPr kumimoji="0" lang="zh-CN" altLang="en-US" sz="2000" dirty="0"/>
              <a:t>，它比页表小很多，是页表的一个更小的副本</a:t>
            </a:r>
          </a:p>
          <a:p>
            <a:pPr eaLnBrk="1" hangingPunct="1"/>
            <a:r>
              <a:rPr kumimoji="0" lang="zh-CN" altLang="en-US" sz="2000" dirty="0"/>
              <a:t>查表时，用虚拟页号同时去查快表和页表，当在快表中命中时，迅速将对应的物理页号送入实存地址寄存器</a:t>
            </a:r>
          </a:p>
          <a:p>
            <a:pPr eaLnBrk="1" hangingPunct="1"/>
            <a:r>
              <a:rPr kumimoji="0" lang="zh-CN" altLang="en-US" sz="2000" dirty="0"/>
              <a:t>如果在快表中查不到，那就要费一个访主存时间查页表，从中查到物理页号送入实存地址寄存器，并用替换</a:t>
            </a:r>
            <a:r>
              <a:rPr lang="zh-CN" altLang="en-US" sz="2000" kern="1200" dirty="0">
                <a:latin typeface="楷体" panose="02010609060101010101" pitchFamily="49" charset="-122"/>
                <a:ea typeface="楷体" panose="02010609060101010101" pitchFamily="49" charset="-122"/>
                <a:sym typeface="Gill Sans" charset="0"/>
              </a:rPr>
              <a:t>算法替换快表中内容</a:t>
            </a:r>
          </a:p>
        </p:txBody>
      </p:sp>
      <p:sp>
        <p:nvSpPr>
          <p:cNvPr id="108549" name="Line 30">
            <a:extLst>
              <a:ext uri="{FF2B5EF4-FFF2-40B4-BE49-F238E27FC236}">
                <a16:creationId xmlns:a16="http://schemas.microsoft.com/office/drawing/2014/main" id="{858039C4-7C24-4A24-84A6-1703AE8DDB3A}"/>
              </a:ext>
            </a:extLst>
          </p:cNvPr>
          <p:cNvSpPr>
            <a:spLocks noChangeShapeType="1"/>
          </p:cNvSpPr>
          <p:nvPr/>
        </p:nvSpPr>
        <p:spPr bwMode="auto">
          <a:xfrm>
            <a:off x="5965825" y="3392488"/>
            <a:ext cx="0" cy="363537"/>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8550" name="Line 4">
            <a:extLst>
              <a:ext uri="{FF2B5EF4-FFF2-40B4-BE49-F238E27FC236}">
                <a16:creationId xmlns:a16="http://schemas.microsoft.com/office/drawing/2014/main" id="{7FB09BF2-E32A-4BD4-817B-4888E769DA11}"/>
              </a:ext>
            </a:extLst>
          </p:cNvPr>
          <p:cNvSpPr>
            <a:spLocks noChangeShapeType="1"/>
          </p:cNvSpPr>
          <p:nvPr/>
        </p:nvSpPr>
        <p:spPr bwMode="auto">
          <a:xfrm>
            <a:off x="3875088" y="3424238"/>
            <a:ext cx="0" cy="728662"/>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8551" name="Rectangle 5">
            <a:extLst>
              <a:ext uri="{FF2B5EF4-FFF2-40B4-BE49-F238E27FC236}">
                <a16:creationId xmlns:a16="http://schemas.microsoft.com/office/drawing/2014/main" id="{C4DF56F3-3347-4DE8-8287-967FDF767752}"/>
              </a:ext>
            </a:extLst>
          </p:cNvPr>
          <p:cNvSpPr>
            <a:spLocks noChangeArrowheads="1"/>
          </p:cNvSpPr>
          <p:nvPr/>
        </p:nvSpPr>
        <p:spPr bwMode="auto">
          <a:xfrm>
            <a:off x="3095625" y="3140076"/>
            <a:ext cx="1349375" cy="403224"/>
          </a:xfrm>
          <a:prstGeom prst="rect">
            <a:avLst/>
          </a:prstGeom>
          <a:solidFill>
            <a:srgbClr val="0000CC"/>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latin typeface="楷体" panose="02010609060101010101" pitchFamily="49" charset="-122"/>
                <a:ea typeface="楷体" panose="02010609060101010101" pitchFamily="49" charset="-122"/>
              </a:rPr>
              <a:t>虚拟页号</a:t>
            </a:r>
          </a:p>
        </p:txBody>
      </p:sp>
      <p:sp>
        <p:nvSpPr>
          <p:cNvPr id="108552" name="Rectangle 6">
            <a:extLst>
              <a:ext uri="{FF2B5EF4-FFF2-40B4-BE49-F238E27FC236}">
                <a16:creationId xmlns:a16="http://schemas.microsoft.com/office/drawing/2014/main" id="{56E595CB-0D5D-4CBF-9482-34D55718A024}"/>
              </a:ext>
            </a:extLst>
          </p:cNvPr>
          <p:cNvSpPr>
            <a:spLocks noChangeArrowheads="1"/>
          </p:cNvSpPr>
          <p:nvPr/>
        </p:nvSpPr>
        <p:spPr bwMode="auto">
          <a:xfrm>
            <a:off x="4446588" y="3140076"/>
            <a:ext cx="1914525" cy="403224"/>
          </a:xfrm>
          <a:prstGeom prst="rect">
            <a:avLst/>
          </a:prstGeom>
          <a:solidFill>
            <a:srgbClr val="0000CC"/>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000" dirty="0">
                <a:solidFill>
                  <a:schemeClr val="bg1"/>
                </a:solidFill>
                <a:latin typeface="楷体" panose="02010609060101010101" pitchFamily="49" charset="-122"/>
                <a:ea typeface="楷体" panose="02010609060101010101" pitchFamily="49" charset="-122"/>
              </a:rPr>
              <a:t>页内地址</a:t>
            </a:r>
          </a:p>
        </p:txBody>
      </p:sp>
      <p:sp>
        <p:nvSpPr>
          <p:cNvPr id="108553" name="Text Box 7">
            <a:extLst>
              <a:ext uri="{FF2B5EF4-FFF2-40B4-BE49-F238E27FC236}">
                <a16:creationId xmlns:a16="http://schemas.microsoft.com/office/drawing/2014/main" id="{2FFCFEB0-67DE-43D0-84DA-800924CD39E0}"/>
              </a:ext>
            </a:extLst>
          </p:cNvPr>
          <p:cNvSpPr txBox="1">
            <a:spLocks noChangeArrowheads="1"/>
          </p:cNvSpPr>
          <p:nvPr/>
        </p:nvSpPr>
        <p:spPr bwMode="auto">
          <a:xfrm>
            <a:off x="6415090" y="3124468"/>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latin typeface="楷体" panose="02010609060101010101" pitchFamily="49" charset="-122"/>
                <a:ea typeface="楷体" panose="02010609060101010101" pitchFamily="49" charset="-122"/>
              </a:rPr>
              <a:t>虚存地址</a:t>
            </a:r>
          </a:p>
        </p:txBody>
      </p:sp>
      <p:graphicFrame>
        <p:nvGraphicFramePr>
          <p:cNvPr id="831496" name="Group 8">
            <a:extLst>
              <a:ext uri="{FF2B5EF4-FFF2-40B4-BE49-F238E27FC236}">
                <a16:creationId xmlns:a16="http://schemas.microsoft.com/office/drawing/2014/main" id="{E5EDDD32-4EB4-4A56-BC60-4C4E06A2427E}"/>
              </a:ext>
            </a:extLst>
          </p:cNvPr>
          <p:cNvGraphicFramePr>
            <a:graphicFrameLocks noGrp="1"/>
          </p:cNvGraphicFramePr>
          <p:nvPr>
            <p:extLst>
              <p:ext uri="{D42A27DB-BD31-4B8C-83A1-F6EECF244321}">
                <p14:modId xmlns:p14="http://schemas.microsoft.com/office/powerpoint/2010/main" val="3425851040"/>
              </p:ext>
            </p:extLst>
          </p:nvPr>
        </p:nvGraphicFramePr>
        <p:xfrm>
          <a:off x="946150" y="4870450"/>
          <a:ext cx="2686050" cy="1562101"/>
        </p:xfrm>
        <a:graphic>
          <a:graphicData uri="http://schemas.openxmlformats.org/drawingml/2006/table">
            <a:tbl>
              <a:tblPr/>
              <a:tblGrid>
                <a:gridCol w="1487488">
                  <a:extLst>
                    <a:ext uri="{9D8B030D-6E8A-4147-A177-3AD203B41FA5}">
                      <a16:colId xmlns:a16="http://schemas.microsoft.com/office/drawing/2014/main" val="2454530079"/>
                    </a:ext>
                  </a:extLst>
                </a:gridCol>
                <a:gridCol w="1198562">
                  <a:extLst>
                    <a:ext uri="{9D8B030D-6E8A-4147-A177-3AD203B41FA5}">
                      <a16:colId xmlns:a16="http://schemas.microsoft.com/office/drawing/2014/main" val="2691541186"/>
                    </a:ext>
                  </a:extLst>
                </a:gridCol>
              </a:tblGrid>
              <a:tr h="45561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1524000" algn="l"/>
                        </a:tabLst>
                      </a:pPr>
                      <a:r>
                        <a:rPr kumimoji="1" lang="zh-CN" altLang="en-US"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mn-cs"/>
                        </a:rPr>
                        <a:t>物理页号</a:t>
                      </a:r>
                    </a:p>
                  </a:txBody>
                  <a:tcPr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1524000" algn="l"/>
                        </a:tabLst>
                      </a:pPr>
                      <a:r>
                        <a:rPr kumimoji="1" lang="zh-CN" altLang="en-US"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mn-cs"/>
                        </a:rPr>
                        <a:t>控制位</a:t>
                      </a:r>
                    </a:p>
                  </a:txBody>
                  <a:tcP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861311664"/>
                  </a:ext>
                </a:extLst>
              </a:tr>
              <a:tr h="1106488">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2362005114"/>
                  </a:ext>
                </a:extLst>
              </a:tr>
            </a:tbl>
          </a:graphicData>
        </a:graphic>
      </p:graphicFrame>
      <p:sp>
        <p:nvSpPr>
          <p:cNvPr id="108565" name="Text Box 19">
            <a:extLst>
              <a:ext uri="{FF2B5EF4-FFF2-40B4-BE49-F238E27FC236}">
                <a16:creationId xmlns:a16="http://schemas.microsoft.com/office/drawing/2014/main" id="{CAD5AB08-5C59-443B-8C62-BC59A3562CE8}"/>
              </a:ext>
            </a:extLst>
          </p:cNvPr>
          <p:cNvSpPr txBox="1">
            <a:spLocks noChangeArrowheads="1"/>
          </p:cNvSpPr>
          <p:nvPr/>
        </p:nvSpPr>
        <p:spPr bwMode="auto">
          <a:xfrm>
            <a:off x="1127172" y="3718861"/>
            <a:ext cx="1719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en-US" altLang="zh-CN" sz="2000" dirty="0">
                <a:latin typeface="楷体" panose="02010609060101010101" pitchFamily="49" charset="-122"/>
                <a:ea typeface="楷体" panose="02010609060101010101" pitchFamily="49" charset="-122"/>
              </a:rPr>
              <a:t>(</a:t>
            </a:r>
            <a:r>
              <a:rPr kumimoji="0" lang="zh-CN" altLang="en-US" sz="2000" dirty="0">
                <a:latin typeface="楷体" panose="02010609060101010101" pitchFamily="49" charset="-122"/>
                <a:ea typeface="楷体" panose="02010609060101010101" pitchFamily="49" charset="-122"/>
              </a:rPr>
              <a:t>按地址访问</a:t>
            </a:r>
            <a:r>
              <a:rPr kumimoji="0" lang="en-US" altLang="zh-CN" sz="2000" dirty="0">
                <a:latin typeface="楷体" panose="02010609060101010101" pitchFamily="49" charset="-122"/>
                <a:ea typeface="楷体" panose="02010609060101010101" pitchFamily="49" charset="-122"/>
              </a:rPr>
              <a:t>)</a:t>
            </a:r>
          </a:p>
        </p:txBody>
      </p:sp>
      <p:sp>
        <p:nvSpPr>
          <p:cNvPr id="108566" name="Text Box 20">
            <a:extLst>
              <a:ext uri="{FF2B5EF4-FFF2-40B4-BE49-F238E27FC236}">
                <a16:creationId xmlns:a16="http://schemas.microsoft.com/office/drawing/2014/main" id="{E875D397-CC11-4370-AB03-C0CF027E30DE}"/>
              </a:ext>
            </a:extLst>
          </p:cNvPr>
          <p:cNvSpPr txBox="1">
            <a:spLocks noChangeArrowheads="1"/>
          </p:cNvSpPr>
          <p:nvPr/>
        </p:nvSpPr>
        <p:spPr bwMode="auto">
          <a:xfrm>
            <a:off x="1257300" y="6381750"/>
            <a:ext cx="2247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latin typeface="楷体" panose="02010609060101010101" pitchFamily="49" charset="-122"/>
                <a:ea typeface="楷体" panose="02010609060101010101" pitchFamily="49" charset="-122"/>
              </a:rPr>
              <a:t>页表（在主存中）</a:t>
            </a:r>
          </a:p>
        </p:txBody>
      </p:sp>
      <p:sp>
        <p:nvSpPr>
          <p:cNvPr id="108567" name="Line 21">
            <a:extLst>
              <a:ext uri="{FF2B5EF4-FFF2-40B4-BE49-F238E27FC236}">
                <a16:creationId xmlns:a16="http://schemas.microsoft.com/office/drawing/2014/main" id="{8092A589-4DF5-4CB1-B6C9-18165C80F55B}"/>
              </a:ext>
            </a:extLst>
          </p:cNvPr>
          <p:cNvSpPr>
            <a:spLocks noChangeShapeType="1"/>
          </p:cNvSpPr>
          <p:nvPr/>
        </p:nvSpPr>
        <p:spPr bwMode="auto">
          <a:xfrm>
            <a:off x="1692275" y="4600575"/>
            <a:ext cx="31496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8568" name="Line 22">
            <a:extLst>
              <a:ext uri="{FF2B5EF4-FFF2-40B4-BE49-F238E27FC236}">
                <a16:creationId xmlns:a16="http://schemas.microsoft.com/office/drawing/2014/main" id="{9BBCDE48-4A38-4A77-9F4D-91F28842D65E}"/>
              </a:ext>
            </a:extLst>
          </p:cNvPr>
          <p:cNvSpPr>
            <a:spLocks noChangeShapeType="1"/>
          </p:cNvSpPr>
          <p:nvPr/>
        </p:nvSpPr>
        <p:spPr bwMode="auto">
          <a:xfrm>
            <a:off x="1692275" y="4592638"/>
            <a:ext cx="0" cy="2603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8569" name="Line 23">
            <a:extLst>
              <a:ext uri="{FF2B5EF4-FFF2-40B4-BE49-F238E27FC236}">
                <a16:creationId xmlns:a16="http://schemas.microsoft.com/office/drawing/2014/main" id="{CE73D50A-7645-4134-A884-A49EB73C366E}"/>
              </a:ext>
            </a:extLst>
          </p:cNvPr>
          <p:cNvSpPr>
            <a:spLocks noChangeShapeType="1"/>
          </p:cNvSpPr>
          <p:nvPr/>
        </p:nvSpPr>
        <p:spPr bwMode="auto">
          <a:xfrm>
            <a:off x="539750" y="4143375"/>
            <a:ext cx="0" cy="169703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8570" name="Line 24">
            <a:extLst>
              <a:ext uri="{FF2B5EF4-FFF2-40B4-BE49-F238E27FC236}">
                <a16:creationId xmlns:a16="http://schemas.microsoft.com/office/drawing/2014/main" id="{1C41329F-743F-4720-9EA5-B7D5032CD7D9}"/>
              </a:ext>
            </a:extLst>
          </p:cNvPr>
          <p:cNvSpPr>
            <a:spLocks noChangeShapeType="1"/>
          </p:cNvSpPr>
          <p:nvPr/>
        </p:nvSpPr>
        <p:spPr bwMode="auto">
          <a:xfrm>
            <a:off x="539750" y="5827713"/>
            <a:ext cx="4064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8571" name="Line 25">
            <a:extLst>
              <a:ext uri="{FF2B5EF4-FFF2-40B4-BE49-F238E27FC236}">
                <a16:creationId xmlns:a16="http://schemas.microsoft.com/office/drawing/2014/main" id="{D91F770A-545D-4678-B251-F551D304E0A8}"/>
              </a:ext>
            </a:extLst>
          </p:cNvPr>
          <p:cNvSpPr>
            <a:spLocks noChangeShapeType="1"/>
          </p:cNvSpPr>
          <p:nvPr/>
        </p:nvSpPr>
        <p:spPr bwMode="auto">
          <a:xfrm flipH="1">
            <a:off x="544513" y="4146550"/>
            <a:ext cx="3328987"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8572" name="Rectangle 26">
            <a:extLst>
              <a:ext uri="{FF2B5EF4-FFF2-40B4-BE49-F238E27FC236}">
                <a16:creationId xmlns:a16="http://schemas.microsoft.com/office/drawing/2014/main" id="{16346CD2-E8C5-40DA-8AA0-C4F9FC887AFF}"/>
              </a:ext>
            </a:extLst>
          </p:cNvPr>
          <p:cNvSpPr>
            <a:spLocks noChangeArrowheads="1"/>
          </p:cNvSpPr>
          <p:nvPr/>
        </p:nvSpPr>
        <p:spPr bwMode="auto">
          <a:xfrm>
            <a:off x="4146550" y="3784600"/>
            <a:ext cx="1349375" cy="446088"/>
          </a:xfrm>
          <a:prstGeom prst="rect">
            <a:avLst/>
          </a:prstGeom>
          <a:solidFill>
            <a:srgbClr val="0000CC"/>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None/>
            </a:pPr>
            <a:r>
              <a:rPr kumimoji="0" lang="zh-CN" altLang="en-US" sz="2000" dirty="0">
                <a:solidFill>
                  <a:schemeClr val="bg1"/>
                </a:solidFill>
                <a:latin typeface="楷体" panose="02010609060101010101" pitchFamily="49" charset="-122"/>
                <a:ea typeface="楷体" panose="02010609060101010101" pitchFamily="49" charset="-122"/>
              </a:rPr>
              <a:t>物理页号</a:t>
            </a:r>
          </a:p>
        </p:txBody>
      </p:sp>
      <p:sp>
        <p:nvSpPr>
          <p:cNvPr id="108573" name="Rectangle 27">
            <a:extLst>
              <a:ext uri="{FF2B5EF4-FFF2-40B4-BE49-F238E27FC236}">
                <a16:creationId xmlns:a16="http://schemas.microsoft.com/office/drawing/2014/main" id="{5D1B9792-3275-4EA5-AB75-DEAFFBCA546B}"/>
              </a:ext>
            </a:extLst>
          </p:cNvPr>
          <p:cNvSpPr>
            <a:spLocks noChangeArrowheads="1"/>
          </p:cNvSpPr>
          <p:nvPr/>
        </p:nvSpPr>
        <p:spPr bwMode="auto">
          <a:xfrm>
            <a:off x="5497513" y="3795712"/>
            <a:ext cx="1914525" cy="434976"/>
          </a:xfrm>
          <a:prstGeom prst="rect">
            <a:avLst/>
          </a:prstGeom>
          <a:solidFill>
            <a:srgbClr val="0000CC"/>
          </a:solidFill>
          <a:ln w="19050">
            <a:solidFill>
              <a:schemeClr val="bg1"/>
            </a:solidFill>
            <a:miter lim="800000"/>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000" dirty="0">
                <a:solidFill>
                  <a:schemeClr val="bg1"/>
                </a:solidFill>
                <a:latin typeface="楷体" panose="02010609060101010101" pitchFamily="49" charset="-122"/>
                <a:ea typeface="楷体" panose="02010609060101010101" pitchFamily="49" charset="-122"/>
              </a:rPr>
              <a:t>页内地址</a:t>
            </a:r>
          </a:p>
        </p:txBody>
      </p:sp>
      <p:sp>
        <p:nvSpPr>
          <p:cNvPr id="108574" name="Text Box 28">
            <a:extLst>
              <a:ext uri="{FF2B5EF4-FFF2-40B4-BE49-F238E27FC236}">
                <a16:creationId xmlns:a16="http://schemas.microsoft.com/office/drawing/2014/main" id="{056F21E8-781C-4331-82F0-F5A454533EF0}"/>
              </a:ext>
            </a:extLst>
          </p:cNvPr>
          <p:cNvSpPr txBox="1">
            <a:spLocks noChangeArrowheads="1"/>
          </p:cNvSpPr>
          <p:nvPr/>
        </p:nvSpPr>
        <p:spPr bwMode="auto">
          <a:xfrm>
            <a:off x="7486163" y="3741738"/>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000" dirty="0">
                <a:latin typeface="楷体" panose="02010609060101010101" pitchFamily="49" charset="-122"/>
                <a:ea typeface="楷体" panose="02010609060101010101" pitchFamily="49" charset="-122"/>
              </a:rPr>
              <a:t>实存地址</a:t>
            </a:r>
          </a:p>
        </p:txBody>
      </p:sp>
      <p:sp>
        <p:nvSpPr>
          <p:cNvPr id="108575" name="Line 29">
            <a:extLst>
              <a:ext uri="{FF2B5EF4-FFF2-40B4-BE49-F238E27FC236}">
                <a16:creationId xmlns:a16="http://schemas.microsoft.com/office/drawing/2014/main" id="{0F60A685-B851-4ED0-9502-497D581A17DB}"/>
              </a:ext>
            </a:extLst>
          </p:cNvPr>
          <p:cNvSpPr>
            <a:spLocks noChangeShapeType="1"/>
          </p:cNvSpPr>
          <p:nvPr/>
        </p:nvSpPr>
        <p:spPr bwMode="auto">
          <a:xfrm>
            <a:off x="3881438" y="6616700"/>
            <a:ext cx="2070100"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31519" name="Text Box 31">
            <a:extLst>
              <a:ext uri="{FF2B5EF4-FFF2-40B4-BE49-F238E27FC236}">
                <a16:creationId xmlns:a16="http://schemas.microsoft.com/office/drawing/2014/main" id="{E0230ADD-214E-452C-A282-CEB7B2AC3C54}"/>
              </a:ext>
            </a:extLst>
          </p:cNvPr>
          <p:cNvSpPr txBox="1">
            <a:spLocks noChangeArrowheads="1"/>
          </p:cNvSpPr>
          <p:nvPr/>
        </p:nvSpPr>
        <p:spPr bwMode="auto">
          <a:xfrm rot="5400000">
            <a:off x="1346994" y="5590382"/>
            <a:ext cx="895350" cy="519112"/>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a:effectLst>
                  <a:outerShdw blurRad="38100" dist="38100" dir="2700000" algn="tl">
                    <a:srgbClr val="C0C0C0"/>
                  </a:outerShdw>
                </a:effectLst>
                <a:latin typeface="Arial"/>
                <a:ea typeface="宋体" pitchFamily="2" charset="-122"/>
              </a:rPr>
              <a:t>……</a:t>
            </a:r>
            <a:endParaRPr kumimoji="0" lang="en-US" altLang="zh-CN" sz="2800">
              <a:effectLst>
                <a:outerShdw blurRad="38100" dist="38100" dir="2700000" algn="tl">
                  <a:srgbClr val="C0C0C0"/>
                </a:outerShdw>
              </a:effectLst>
              <a:latin typeface="Tahoma" pitchFamily="34" charset="0"/>
              <a:ea typeface="宋体" pitchFamily="2" charset="-122"/>
            </a:endParaRPr>
          </a:p>
        </p:txBody>
      </p:sp>
      <p:graphicFrame>
        <p:nvGraphicFramePr>
          <p:cNvPr id="831520" name="Group 32">
            <a:extLst>
              <a:ext uri="{FF2B5EF4-FFF2-40B4-BE49-F238E27FC236}">
                <a16:creationId xmlns:a16="http://schemas.microsoft.com/office/drawing/2014/main" id="{AE305B63-CB2F-4899-9ADC-FE19188D6BCF}"/>
              </a:ext>
            </a:extLst>
          </p:cNvPr>
          <p:cNvGraphicFramePr>
            <a:graphicFrameLocks noGrp="1"/>
          </p:cNvGraphicFramePr>
          <p:nvPr>
            <p:extLst>
              <p:ext uri="{D42A27DB-BD31-4B8C-83A1-F6EECF244321}">
                <p14:modId xmlns:p14="http://schemas.microsoft.com/office/powerpoint/2010/main" val="357344039"/>
              </p:ext>
            </p:extLst>
          </p:nvPr>
        </p:nvGraphicFramePr>
        <p:xfrm>
          <a:off x="5213350" y="5237163"/>
          <a:ext cx="2911475" cy="985838"/>
        </p:xfrm>
        <a:graphic>
          <a:graphicData uri="http://schemas.openxmlformats.org/drawingml/2006/table">
            <a:tbl>
              <a:tblPr/>
              <a:tblGrid>
                <a:gridCol w="1487488">
                  <a:extLst>
                    <a:ext uri="{9D8B030D-6E8A-4147-A177-3AD203B41FA5}">
                      <a16:colId xmlns:a16="http://schemas.microsoft.com/office/drawing/2014/main" val="2201144330"/>
                    </a:ext>
                  </a:extLst>
                </a:gridCol>
                <a:gridCol w="1423987">
                  <a:extLst>
                    <a:ext uri="{9D8B030D-6E8A-4147-A177-3AD203B41FA5}">
                      <a16:colId xmlns:a16="http://schemas.microsoft.com/office/drawing/2014/main" val="1311723239"/>
                    </a:ext>
                  </a:extLst>
                </a:gridCol>
              </a:tblGrid>
              <a:tr h="45561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1524000" algn="l"/>
                        </a:tabLst>
                      </a:pPr>
                      <a:r>
                        <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虚拟页号</a:t>
                      </a:r>
                    </a:p>
                  </a:txBody>
                  <a:tcPr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1524000" algn="l"/>
                        </a:tabLst>
                      </a:pPr>
                      <a:r>
                        <a:rPr kumimoji="1" lang="zh-CN" altLang="en-US"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mn-cs"/>
                        </a:rPr>
                        <a:t>物理页号</a:t>
                      </a:r>
                    </a:p>
                  </a:txBody>
                  <a:tcP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905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895981934"/>
                  </a:ext>
                </a:extLst>
              </a:tr>
              <a:tr h="530225">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9050" cap="flat" cmpd="sng" algn="ctr">
                      <a:solidFill>
                        <a:schemeClr val="tx1"/>
                      </a:solidFill>
                      <a:prstDash val="dash"/>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endParaRPr kumimoji="1" lang="zh-CN"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19050" cap="flat" cmpd="sng" algn="ctr">
                      <a:solidFill>
                        <a:schemeClr val="tx1"/>
                      </a:solidFill>
                      <a:prstDash val="dash"/>
                      <a:round/>
                      <a:headEnd type="none" w="med" len="med"/>
                      <a:tailEnd type="none" w="lg" len="lg"/>
                    </a:lnL>
                    <a:lnR w="28575" cap="flat" cmpd="sng" algn="ctr">
                      <a:solidFill>
                        <a:schemeClr val="tx1"/>
                      </a:solidFill>
                      <a:prstDash val="solid"/>
                      <a:round/>
                      <a:headEnd type="none" w="med" len="med"/>
                      <a:tailEnd type="none" w="lg" len="lg"/>
                    </a:lnR>
                    <a:lnT w="1905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3900563009"/>
                  </a:ext>
                </a:extLst>
              </a:tr>
            </a:tbl>
          </a:graphicData>
        </a:graphic>
      </p:graphicFrame>
      <p:sp>
        <p:nvSpPr>
          <p:cNvPr id="831531" name="Text Box 43">
            <a:extLst>
              <a:ext uri="{FF2B5EF4-FFF2-40B4-BE49-F238E27FC236}">
                <a16:creationId xmlns:a16="http://schemas.microsoft.com/office/drawing/2014/main" id="{9CFFFA9B-585F-48F7-90CF-5E9609F25C61}"/>
              </a:ext>
            </a:extLst>
          </p:cNvPr>
          <p:cNvSpPr txBox="1">
            <a:spLocks noChangeArrowheads="1"/>
          </p:cNvSpPr>
          <p:nvPr/>
        </p:nvSpPr>
        <p:spPr bwMode="auto">
          <a:xfrm rot="5400000">
            <a:off x="5790407" y="5728493"/>
            <a:ext cx="539750" cy="519113"/>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a:effectLst>
                  <a:outerShdw blurRad="38100" dist="38100" dir="2700000" algn="tl">
                    <a:srgbClr val="C0C0C0"/>
                  </a:outerShdw>
                </a:effectLst>
                <a:latin typeface="Arial"/>
                <a:ea typeface="宋体" pitchFamily="2" charset="-122"/>
              </a:rPr>
              <a:t>…</a:t>
            </a:r>
            <a:endParaRPr kumimoji="0" lang="en-US" altLang="zh-CN" sz="2800">
              <a:effectLst>
                <a:outerShdw blurRad="38100" dist="38100" dir="2700000" algn="tl">
                  <a:srgbClr val="C0C0C0"/>
                </a:outerShdw>
              </a:effectLst>
              <a:latin typeface="Tahoma" pitchFamily="34" charset="0"/>
              <a:ea typeface="宋体" pitchFamily="2" charset="-122"/>
            </a:endParaRPr>
          </a:p>
        </p:txBody>
      </p:sp>
      <p:sp>
        <p:nvSpPr>
          <p:cNvPr id="831532" name="Text Box 44">
            <a:extLst>
              <a:ext uri="{FF2B5EF4-FFF2-40B4-BE49-F238E27FC236}">
                <a16:creationId xmlns:a16="http://schemas.microsoft.com/office/drawing/2014/main" id="{49A4A444-7EAB-4377-8534-244C07BEB86D}"/>
              </a:ext>
            </a:extLst>
          </p:cNvPr>
          <p:cNvSpPr txBox="1">
            <a:spLocks noChangeArrowheads="1"/>
          </p:cNvSpPr>
          <p:nvPr/>
        </p:nvSpPr>
        <p:spPr bwMode="auto">
          <a:xfrm rot="5400000">
            <a:off x="7242969" y="5712619"/>
            <a:ext cx="539750" cy="519112"/>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a:effectLst>
                  <a:outerShdw blurRad="38100" dist="38100" dir="2700000" algn="tl">
                    <a:srgbClr val="C0C0C0"/>
                  </a:outerShdw>
                </a:effectLst>
                <a:latin typeface="Arial"/>
                <a:ea typeface="宋体" pitchFamily="2" charset="-122"/>
              </a:rPr>
              <a:t>…</a:t>
            </a:r>
            <a:endParaRPr kumimoji="0" lang="en-US" altLang="zh-CN" sz="2800">
              <a:effectLst>
                <a:outerShdw blurRad="38100" dist="38100" dir="2700000" algn="tl">
                  <a:srgbClr val="C0C0C0"/>
                </a:outerShdw>
              </a:effectLst>
              <a:latin typeface="Tahoma" pitchFamily="34" charset="0"/>
              <a:ea typeface="宋体" pitchFamily="2" charset="-122"/>
            </a:endParaRPr>
          </a:p>
        </p:txBody>
      </p:sp>
      <p:sp>
        <p:nvSpPr>
          <p:cNvPr id="108590" name="Text Box 45">
            <a:extLst>
              <a:ext uri="{FF2B5EF4-FFF2-40B4-BE49-F238E27FC236}">
                <a16:creationId xmlns:a16="http://schemas.microsoft.com/office/drawing/2014/main" id="{ECB95C06-09B3-4E65-91BA-FD15F7816215}"/>
              </a:ext>
            </a:extLst>
          </p:cNvPr>
          <p:cNvSpPr txBox="1">
            <a:spLocks noChangeArrowheads="1"/>
          </p:cNvSpPr>
          <p:nvPr/>
        </p:nvSpPr>
        <p:spPr bwMode="auto">
          <a:xfrm>
            <a:off x="5913438" y="6318250"/>
            <a:ext cx="3146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90000"/>
              </a:lnSpc>
              <a:spcBef>
                <a:spcPct val="0"/>
              </a:spcBef>
              <a:buClrTx/>
              <a:buFontTx/>
              <a:buNone/>
            </a:pPr>
            <a:r>
              <a:rPr kumimoji="0" lang="en-US" altLang="zh-CN" sz="1400">
                <a:latin typeface="楷体_GB2312" pitchFamily="49" charset="-122"/>
              </a:rPr>
              <a:t>TLB(Translation Lookaside Buffer)</a:t>
            </a:r>
          </a:p>
        </p:txBody>
      </p:sp>
      <p:sp>
        <p:nvSpPr>
          <p:cNvPr id="108591" name="Line 46">
            <a:extLst>
              <a:ext uri="{FF2B5EF4-FFF2-40B4-BE49-F238E27FC236}">
                <a16:creationId xmlns:a16="http://schemas.microsoft.com/office/drawing/2014/main" id="{932E0A34-AB7D-4F72-B4B7-E6B07623E8BB}"/>
              </a:ext>
            </a:extLst>
          </p:cNvPr>
          <p:cNvSpPr>
            <a:spLocks noChangeShapeType="1"/>
          </p:cNvSpPr>
          <p:nvPr/>
        </p:nvSpPr>
        <p:spPr bwMode="auto">
          <a:xfrm>
            <a:off x="3875088" y="4130675"/>
            <a:ext cx="0" cy="2500313"/>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8592" name="Line 47">
            <a:extLst>
              <a:ext uri="{FF2B5EF4-FFF2-40B4-BE49-F238E27FC236}">
                <a16:creationId xmlns:a16="http://schemas.microsoft.com/office/drawing/2014/main" id="{64FEB48B-FD6D-411E-AE68-D5E49763A688}"/>
              </a:ext>
            </a:extLst>
          </p:cNvPr>
          <p:cNvSpPr>
            <a:spLocks noChangeShapeType="1"/>
          </p:cNvSpPr>
          <p:nvPr/>
        </p:nvSpPr>
        <p:spPr bwMode="auto">
          <a:xfrm flipV="1">
            <a:off x="5940425" y="6211888"/>
            <a:ext cx="0" cy="407987"/>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8593" name="Line 48">
            <a:extLst>
              <a:ext uri="{FF2B5EF4-FFF2-40B4-BE49-F238E27FC236}">
                <a16:creationId xmlns:a16="http://schemas.microsoft.com/office/drawing/2014/main" id="{E495330A-AD86-48FB-B584-32C191C6C515}"/>
              </a:ext>
            </a:extLst>
          </p:cNvPr>
          <p:cNvSpPr>
            <a:spLocks noChangeShapeType="1"/>
          </p:cNvSpPr>
          <p:nvPr/>
        </p:nvSpPr>
        <p:spPr bwMode="auto">
          <a:xfrm flipV="1">
            <a:off x="4827588" y="4235450"/>
            <a:ext cx="0" cy="604838"/>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8594" name="Line 49">
            <a:extLst>
              <a:ext uri="{FF2B5EF4-FFF2-40B4-BE49-F238E27FC236}">
                <a16:creationId xmlns:a16="http://schemas.microsoft.com/office/drawing/2014/main" id="{EF5703DC-E9A6-48F0-AA47-54EA6BB09637}"/>
              </a:ext>
            </a:extLst>
          </p:cNvPr>
          <p:cNvSpPr>
            <a:spLocks noChangeShapeType="1"/>
          </p:cNvSpPr>
          <p:nvPr/>
        </p:nvSpPr>
        <p:spPr bwMode="auto">
          <a:xfrm>
            <a:off x="4814888" y="4827588"/>
            <a:ext cx="2619375"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8595" name="Line 50">
            <a:extLst>
              <a:ext uri="{FF2B5EF4-FFF2-40B4-BE49-F238E27FC236}">
                <a16:creationId xmlns:a16="http://schemas.microsoft.com/office/drawing/2014/main" id="{712F1EE3-CF56-4FE9-884E-043A0A418835}"/>
              </a:ext>
            </a:extLst>
          </p:cNvPr>
          <p:cNvSpPr>
            <a:spLocks noChangeShapeType="1"/>
          </p:cNvSpPr>
          <p:nvPr/>
        </p:nvSpPr>
        <p:spPr bwMode="auto">
          <a:xfrm>
            <a:off x="7423150" y="4816475"/>
            <a:ext cx="0" cy="43180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8596" name="Text Box 51">
            <a:extLst>
              <a:ext uri="{FF2B5EF4-FFF2-40B4-BE49-F238E27FC236}">
                <a16:creationId xmlns:a16="http://schemas.microsoft.com/office/drawing/2014/main" id="{D00F34F3-B8DD-4DB3-B7AD-838A18525B00}"/>
              </a:ext>
            </a:extLst>
          </p:cNvPr>
          <p:cNvSpPr txBox="1">
            <a:spLocks noChangeArrowheads="1"/>
          </p:cNvSpPr>
          <p:nvPr/>
        </p:nvSpPr>
        <p:spPr bwMode="auto">
          <a:xfrm>
            <a:off x="3772084" y="5949950"/>
            <a:ext cx="17347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90000"/>
              </a:lnSpc>
              <a:spcBef>
                <a:spcPct val="0"/>
              </a:spcBef>
              <a:buClrTx/>
              <a:buNone/>
            </a:pPr>
            <a:r>
              <a:rPr kumimoji="0" lang="zh-CN" altLang="en-US" sz="2000" dirty="0">
                <a:latin typeface="楷体" panose="02010609060101010101" pitchFamily="49" charset="-122"/>
                <a:ea typeface="楷体" panose="02010609060101010101" pitchFamily="49" charset="-122"/>
              </a:rPr>
              <a:t>相联比较</a:t>
            </a:r>
          </a:p>
          <a:p>
            <a:pPr eaLnBrk="1" hangingPunct="1">
              <a:lnSpc>
                <a:spcPct val="90000"/>
              </a:lnSpc>
              <a:spcBef>
                <a:spcPct val="0"/>
              </a:spcBef>
              <a:buClrTx/>
              <a:buNone/>
            </a:pPr>
            <a:r>
              <a:rPr kumimoji="0" lang="en-US" altLang="zh-CN" sz="2000" dirty="0">
                <a:latin typeface="楷体" panose="02010609060101010101" pitchFamily="49" charset="-122"/>
                <a:ea typeface="楷体" panose="02010609060101010101" pitchFamily="49" charset="-122"/>
              </a:rPr>
              <a:t>(</a:t>
            </a:r>
            <a:r>
              <a:rPr kumimoji="0" lang="zh-CN" altLang="en-US" sz="2000" dirty="0">
                <a:latin typeface="楷体" panose="02010609060101010101" pitchFamily="49" charset="-122"/>
                <a:ea typeface="楷体" panose="02010609060101010101" pitchFamily="49" charset="-122"/>
              </a:rPr>
              <a:t>按内容访问</a:t>
            </a:r>
            <a:r>
              <a:rPr kumimoji="0" lang="en-US" altLang="zh-CN" sz="2000" dirty="0">
                <a:latin typeface="楷体" panose="02010609060101010101" pitchFamily="49" charset="-122"/>
                <a:ea typeface="楷体" panose="02010609060101010101" pitchFamily="49" charset="-122"/>
              </a:rPr>
              <a:t>)</a:t>
            </a:r>
          </a:p>
        </p:txBody>
      </p:sp>
      <p:sp>
        <p:nvSpPr>
          <p:cNvPr id="108597" name="Text Box 52">
            <a:extLst>
              <a:ext uri="{FF2B5EF4-FFF2-40B4-BE49-F238E27FC236}">
                <a16:creationId xmlns:a16="http://schemas.microsoft.com/office/drawing/2014/main" id="{E7F66FD6-65D7-40B2-83D7-357CF840EFAF}"/>
              </a:ext>
            </a:extLst>
          </p:cNvPr>
          <p:cNvSpPr txBox="1">
            <a:spLocks noChangeArrowheads="1"/>
          </p:cNvSpPr>
          <p:nvPr/>
        </p:nvSpPr>
        <p:spPr bwMode="auto">
          <a:xfrm>
            <a:off x="1872457" y="4230688"/>
            <a:ext cx="197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dirty="0">
                <a:latin typeface="楷体" panose="02010609060101010101" pitchFamily="49" charset="-122"/>
                <a:ea typeface="楷体" panose="02010609060101010101" pitchFamily="49" charset="-122"/>
              </a:rPr>
              <a:t>(</a:t>
            </a:r>
            <a:r>
              <a:rPr kumimoji="0" lang="zh-CN" altLang="en-US" sz="2000" dirty="0">
                <a:latin typeface="楷体" panose="02010609060101010101" pitchFamily="49" charset="-122"/>
                <a:ea typeface="楷体" panose="02010609060101010101" pitchFamily="49" charset="-122"/>
              </a:rPr>
              <a:t>快表中查不到</a:t>
            </a:r>
            <a:r>
              <a:rPr kumimoji="0" lang="en-US" altLang="zh-CN" sz="2000" dirty="0">
                <a:latin typeface="楷体" panose="02010609060101010101" pitchFamily="49" charset="-122"/>
                <a:ea typeface="楷体" panose="02010609060101010101" pitchFamily="49" charset="-122"/>
              </a:rPr>
              <a:t>)</a:t>
            </a:r>
          </a:p>
        </p:txBody>
      </p:sp>
      <p:sp>
        <p:nvSpPr>
          <p:cNvPr id="108598" name="Text Box 45">
            <a:extLst>
              <a:ext uri="{FF2B5EF4-FFF2-40B4-BE49-F238E27FC236}">
                <a16:creationId xmlns:a16="http://schemas.microsoft.com/office/drawing/2014/main" id="{AF5B4854-0C80-43F1-8084-956853581722}"/>
              </a:ext>
            </a:extLst>
          </p:cNvPr>
          <p:cNvSpPr txBox="1">
            <a:spLocks noChangeArrowheads="1"/>
          </p:cNvSpPr>
          <p:nvPr/>
        </p:nvSpPr>
        <p:spPr bwMode="auto">
          <a:xfrm>
            <a:off x="4972971" y="4883150"/>
            <a:ext cx="24032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nSpc>
                <a:spcPct val="90000"/>
              </a:lnSpc>
              <a:spcBef>
                <a:spcPct val="0"/>
              </a:spcBef>
              <a:buClrTx/>
              <a:buNone/>
            </a:pPr>
            <a:r>
              <a:rPr kumimoji="0" lang="zh-CN" altLang="en-US" sz="2000" dirty="0">
                <a:latin typeface="楷体" panose="02010609060101010101" pitchFamily="49" charset="-122"/>
                <a:ea typeface="楷体" panose="02010609060101010101" pitchFamily="49" charset="-122"/>
              </a:rPr>
              <a:t>快表（在</a:t>
            </a:r>
            <a:r>
              <a:rPr kumimoji="0" lang="en-US" altLang="zh-CN" sz="2000" dirty="0">
                <a:ea typeface="楷体" panose="02010609060101010101" pitchFamily="49" charset="-122"/>
                <a:cs typeface="Times New Roman" panose="02020603050405020304" pitchFamily="18" charset="0"/>
              </a:rPr>
              <a:t>MMU</a:t>
            </a:r>
            <a:r>
              <a:rPr kumimoji="0" lang="zh-CN" altLang="en-US" sz="2000" dirty="0">
                <a:latin typeface="楷体" panose="02010609060101010101" pitchFamily="49" charset="-122"/>
                <a:ea typeface="楷体" panose="02010609060101010101" pitchFamily="49" charset="-122"/>
              </a:rPr>
              <a:t>中）</a:t>
            </a:r>
            <a:endParaRPr kumimoji="0" lang="en-US" altLang="zh-CN" sz="2000" dirty="0">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12817B-3FFD-4964-A6D0-6C6A53A71845}"/>
              </a:ext>
            </a:extLst>
          </p:cNvPr>
          <p:cNvSpPr>
            <a:spLocks noGrp="1"/>
          </p:cNvSpPr>
          <p:nvPr>
            <p:ph type="title"/>
          </p:nvPr>
        </p:nvSpPr>
        <p:spPr/>
        <p:txBody>
          <a:bodyPr/>
          <a:lstStyle/>
          <a:p>
            <a:pPr algn="l">
              <a:defRPr/>
            </a:pPr>
            <a:r>
              <a:rPr lang="zh-CN" altLang="en-US" dirty="0"/>
              <a:t>例                     </a:t>
            </a:r>
            <a:r>
              <a:rPr lang="en-US" altLang="zh-CN" dirty="0"/>
              <a:t>TLB</a:t>
            </a:r>
            <a:r>
              <a:rPr lang="zh-CN" altLang="en-US" dirty="0"/>
              <a:t>命中</a:t>
            </a:r>
          </a:p>
        </p:txBody>
      </p:sp>
      <p:sp>
        <p:nvSpPr>
          <p:cNvPr id="110595" name="内容占位符 2">
            <a:extLst>
              <a:ext uri="{FF2B5EF4-FFF2-40B4-BE49-F238E27FC236}">
                <a16:creationId xmlns:a16="http://schemas.microsoft.com/office/drawing/2014/main" id="{E04ECB72-B2A6-411A-9F41-2AD62CB89DDB}"/>
              </a:ext>
            </a:extLst>
          </p:cNvPr>
          <p:cNvSpPr>
            <a:spLocks noGrp="1" noChangeArrowheads="1"/>
          </p:cNvSpPr>
          <p:nvPr>
            <p:ph idx="1"/>
          </p:nvPr>
        </p:nvSpPr>
        <p:spPr/>
        <p:txBody>
          <a:bodyPr/>
          <a:lstStyle/>
          <a:p>
            <a:endParaRPr lang="zh-CN" altLang="en-US"/>
          </a:p>
        </p:txBody>
      </p:sp>
      <p:sp>
        <p:nvSpPr>
          <p:cNvPr id="5" name="Rectangle 43">
            <a:extLst>
              <a:ext uri="{FF2B5EF4-FFF2-40B4-BE49-F238E27FC236}">
                <a16:creationId xmlns:a16="http://schemas.microsoft.com/office/drawing/2014/main" id="{887DF95A-8307-4649-AD83-31B09681856B}"/>
              </a:ext>
            </a:extLst>
          </p:cNvPr>
          <p:cNvSpPr/>
          <p:nvPr/>
        </p:nvSpPr>
        <p:spPr bwMode="auto">
          <a:xfrm>
            <a:off x="1476375" y="1844675"/>
            <a:ext cx="3749675" cy="2695575"/>
          </a:xfrm>
          <a:prstGeom prst="rect">
            <a:avLst/>
          </a:prstGeom>
          <a:solidFill>
            <a:srgbClr val="EBEBEB"/>
          </a:solidFill>
          <a:ln w="25400" cap="flat" cmpd="sng" algn="ctr">
            <a:noFill/>
            <a:prstDash val="solid"/>
            <a:round/>
            <a:headEnd type="none" w="med" len="med"/>
            <a:tailEnd type="arrow" w="med" len="med"/>
          </a:ln>
          <a:effectLst/>
        </p:spPr>
        <p:txBody>
          <a:bodyPr anchor="ctr"/>
          <a:lstStyle/>
          <a:p>
            <a:pPr algn="ctr">
              <a:defRPr/>
            </a:pPr>
            <a:endParaRPr kumimoji="0" lang="en-US" sz="2400" b="1">
              <a:solidFill>
                <a:srgbClr val="000000"/>
              </a:solidFill>
              <a:latin typeface="Arial Narrow" pitchFamily="34" charset="0"/>
              <a:ea typeface="+mn-ea"/>
            </a:endParaRPr>
          </a:p>
        </p:txBody>
      </p:sp>
      <p:sp>
        <p:nvSpPr>
          <p:cNvPr id="6" name="Rectangle 10">
            <a:extLst>
              <a:ext uri="{FF2B5EF4-FFF2-40B4-BE49-F238E27FC236}">
                <a16:creationId xmlns:a16="http://schemas.microsoft.com/office/drawing/2014/main" id="{291A4776-1E5A-412A-8374-5322A9E2F6B8}"/>
              </a:ext>
            </a:extLst>
          </p:cNvPr>
          <p:cNvSpPr>
            <a:spLocks noChangeArrowheads="1"/>
          </p:cNvSpPr>
          <p:nvPr/>
        </p:nvSpPr>
        <p:spPr bwMode="auto">
          <a:xfrm>
            <a:off x="4054475" y="3098800"/>
            <a:ext cx="1066800" cy="1238250"/>
          </a:xfrm>
          <a:prstGeom prst="rect">
            <a:avLst/>
          </a:prstGeom>
          <a:solidFill>
            <a:srgbClr val="DBF2DA"/>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MMU</a:t>
            </a:r>
          </a:p>
        </p:txBody>
      </p:sp>
      <p:sp>
        <p:nvSpPr>
          <p:cNvPr id="7" name="Rectangle 17">
            <a:extLst>
              <a:ext uri="{FF2B5EF4-FFF2-40B4-BE49-F238E27FC236}">
                <a16:creationId xmlns:a16="http://schemas.microsoft.com/office/drawing/2014/main" id="{35B25A2D-1538-4D79-A2E5-16890574E927}"/>
              </a:ext>
            </a:extLst>
          </p:cNvPr>
          <p:cNvSpPr>
            <a:spLocks noChangeArrowheads="1"/>
          </p:cNvSpPr>
          <p:nvPr/>
        </p:nvSpPr>
        <p:spPr bwMode="auto">
          <a:xfrm>
            <a:off x="6643688" y="2814638"/>
            <a:ext cx="914400" cy="2284412"/>
          </a:xfrm>
          <a:prstGeom prst="rect">
            <a:avLst/>
          </a:prstGeom>
          <a:solidFill>
            <a:srgbClr val="EBEBEB"/>
          </a:solidFill>
          <a:ln w="19080">
            <a:solidFill>
              <a:srgbClr val="000000"/>
            </a:solidFill>
            <a:miter lim="800000"/>
            <a:headEnd/>
            <a:tailEnd/>
          </a:ln>
          <a:effectLst/>
        </p:spPr>
        <p:txBody>
          <a:bodyPr wrap="none" anchor="ctr"/>
          <a:lstStyle/>
          <a:p>
            <a:pPr eaLnBrk="1" fontAlgn="auto" hangingPunct="1">
              <a:spcBef>
                <a:spcPts val="0"/>
              </a:spcBef>
              <a:spcAft>
                <a:spcPts val="0"/>
              </a:spcAft>
              <a:defRPr/>
            </a:pPr>
            <a:r>
              <a:rPr kumimoji="0" lang="en-US" sz="1600" b="1" kern="0" dirty="0">
                <a:solidFill>
                  <a:srgbClr val="000000"/>
                </a:solidFill>
                <a:latin typeface="Calibri" pitchFamily="34" charset="0"/>
                <a:ea typeface="+mn-ea"/>
              </a:rPr>
              <a:t>Cache/</a:t>
            </a:r>
          </a:p>
          <a:p>
            <a:pPr eaLnBrk="1" fontAlgn="auto" hangingPunct="1">
              <a:spcBef>
                <a:spcPts val="0"/>
              </a:spcBef>
              <a:spcAft>
                <a:spcPts val="0"/>
              </a:spcAft>
              <a:defRPr/>
            </a:pPr>
            <a:r>
              <a:rPr kumimoji="0" lang="en-US" sz="1600" b="1" kern="0" dirty="0">
                <a:solidFill>
                  <a:srgbClr val="000000"/>
                </a:solidFill>
                <a:latin typeface="Calibri" pitchFamily="34" charset="0"/>
                <a:ea typeface="+mn-ea"/>
              </a:rPr>
              <a:t>Memory</a:t>
            </a:r>
          </a:p>
        </p:txBody>
      </p:sp>
      <p:sp>
        <p:nvSpPr>
          <p:cNvPr id="8" name="Text Box 9">
            <a:extLst>
              <a:ext uri="{FF2B5EF4-FFF2-40B4-BE49-F238E27FC236}">
                <a16:creationId xmlns:a16="http://schemas.microsoft.com/office/drawing/2014/main" id="{9BB34A10-AE0F-4DEB-88B7-431A491CC3B6}"/>
              </a:ext>
            </a:extLst>
          </p:cNvPr>
          <p:cNvSpPr txBox="1">
            <a:spLocks noChangeArrowheads="1"/>
          </p:cNvSpPr>
          <p:nvPr/>
        </p:nvSpPr>
        <p:spPr bwMode="auto">
          <a:xfrm>
            <a:off x="5697538" y="3444875"/>
            <a:ext cx="374650" cy="306388"/>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PA</a:t>
            </a:r>
          </a:p>
        </p:txBody>
      </p:sp>
      <p:sp>
        <p:nvSpPr>
          <p:cNvPr id="9" name="Text Box 32">
            <a:extLst>
              <a:ext uri="{FF2B5EF4-FFF2-40B4-BE49-F238E27FC236}">
                <a16:creationId xmlns:a16="http://schemas.microsoft.com/office/drawing/2014/main" id="{94DCB7B9-5BA8-47C3-92D8-33BD644E592D}"/>
              </a:ext>
            </a:extLst>
          </p:cNvPr>
          <p:cNvSpPr txBox="1">
            <a:spLocks noChangeArrowheads="1"/>
          </p:cNvSpPr>
          <p:nvPr/>
        </p:nvSpPr>
        <p:spPr bwMode="auto">
          <a:xfrm>
            <a:off x="3978275" y="4870450"/>
            <a:ext cx="531813"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Data</a:t>
            </a:r>
          </a:p>
        </p:txBody>
      </p:sp>
      <p:cxnSp>
        <p:nvCxnSpPr>
          <p:cNvPr id="10" name="Straight Arrow Connector 39">
            <a:extLst>
              <a:ext uri="{FF2B5EF4-FFF2-40B4-BE49-F238E27FC236}">
                <a16:creationId xmlns:a16="http://schemas.microsoft.com/office/drawing/2014/main" id="{F248C21E-A2B5-4970-87E0-D148DDB0EE12}"/>
              </a:ext>
            </a:extLst>
          </p:cNvPr>
          <p:cNvCxnSpPr>
            <a:cxnSpLocks noChangeShapeType="1"/>
          </p:cNvCxnSpPr>
          <p:nvPr/>
        </p:nvCxnSpPr>
        <p:spPr bwMode="auto">
          <a:xfrm flipV="1">
            <a:off x="5121275" y="3697288"/>
            <a:ext cx="1522413" cy="1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1" name="Rectangle 10">
            <a:extLst>
              <a:ext uri="{FF2B5EF4-FFF2-40B4-BE49-F238E27FC236}">
                <a16:creationId xmlns:a16="http://schemas.microsoft.com/office/drawing/2014/main" id="{A0ABE866-B68F-4088-AAF4-40B8EABFFC00}"/>
              </a:ext>
            </a:extLst>
          </p:cNvPr>
          <p:cNvSpPr>
            <a:spLocks noChangeArrowheads="1"/>
          </p:cNvSpPr>
          <p:nvPr/>
        </p:nvSpPr>
        <p:spPr bwMode="auto">
          <a:xfrm>
            <a:off x="1616075" y="3451225"/>
            <a:ext cx="1066800" cy="533400"/>
          </a:xfrm>
          <a:prstGeom prst="rect">
            <a:avLst/>
          </a:prstGeom>
          <a:solidFill>
            <a:srgbClr val="F6D2D2"/>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CPU</a:t>
            </a:r>
          </a:p>
        </p:txBody>
      </p:sp>
      <p:cxnSp>
        <p:nvCxnSpPr>
          <p:cNvPr id="110604" name="Straight Arrow Connector 37">
            <a:extLst>
              <a:ext uri="{FF2B5EF4-FFF2-40B4-BE49-F238E27FC236}">
                <a16:creationId xmlns:a16="http://schemas.microsoft.com/office/drawing/2014/main" id="{33A032CB-D27C-40E8-92A7-75AD381ED394}"/>
              </a:ext>
            </a:extLst>
          </p:cNvPr>
          <p:cNvCxnSpPr>
            <a:cxnSpLocks noChangeShapeType="1"/>
            <a:stCxn id="11" idx="3"/>
          </p:cNvCxnSpPr>
          <p:nvPr/>
        </p:nvCxnSpPr>
        <p:spPr bwMode="auto">
          <a:xfrm flipV="1">
            <a:off x="2682875" y="3714750"/>
            <a:ext cx="1370013" cy="3175"/>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3" name="Text Box 9">
            <a:extLst>
              <a:ext uri="{FF2B5EF4-FFF2-40B4-BE49-F238E27FC236}">
                <a16:creationId xmlns:a16="http://schemas.microsoft.com/office/drawing/2014/main" id="{B8E0F54F-7D7E-45AD-8363-12597B152495}"/>
              </a:ext>
            </a:extLst>
          </p:cNvPr>
          <p:cNvSpPr txBox="1">
            <a:spLocks noChangeArrowheads="1"/>
          </p:cNvSpPr>
          <p:nvPr/>
        </p:nvSpPr>
        <p:spPr bwMode="auto">
          <a:xfrm>
            <a:off x="3140075" y="3446463"/>
            <a:ext cx="387350" cy="306387"/>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VA</a:t>
            </a:r>
          </a:p>
        </p:txBody>
      </p:sp>
      <p:sp>
        <p:nvSpPr>
          <p:cNvPr id="14" name="TextBox 44">
            <a:extLst>
              <a:ext uri="{FF2B5EF4-FFF2-40B4-BE49-F238E27FC236}">
                <a16:creationId xmlns:a16="http://schemas.microsoft.com/office/drawing/2014/main" id="{F711FA04-9BDE-4F94-8945-6184A921D435}"/>
              </a:ext>
            </a:extLst>
          </p:cNvPr>
          <p:cNvSpPr txBox="1"/>
          <p:nvPr/>
        </p:nvSpPr>
        <p:spPr>
          <a:xfrm>
            <a:off x="1481138" y="1844675"/>
            <a:ext cx="1057275" cy="369888"/>
          </a:xfrm>
          <a:prstGeom prst="rect">
            <a:avLst/>
          </a:prstGeom>
          <a:noFill/>
        </p:spPr>
        <p:txBody>
          <a:bodyPr wrap="none">
            <a:spAutoFit/>
          </a:bodyPr>
          <a:lstStyle/>
          <a:p>
            <a:pPr>
              <a:defRPr/>
            </a:pPr>
            <a:r>
              <a:rPr kumimoji="0" lang="en-US" sz="1800" b="1" i="1" dirty="0">
                <a:solidFill>
                  <a:srgbClr val="000000">
                    <a:lumMod val="50000"/>
                    <a:lumOff val="50000"/>
                  </a:srgbClr>
                </a:solidFill>
                <a:latin typeface="Calibri" pitchFamily="34" charset="0"/>
                <a:ea typeface="+mn-ea"/>
              </a:rPr>
              <a:t>CPU Chip</a:t>
            </a:r>
          </a:p>
        </p:txBody>
      </p:sp>
      <p:sp>
        <p:nvSpPr>
          <p:cNvPr id="15" name="Text Box 9">
            <a:extLst>
              <a:ext uri="{FF2B5EF4-FFF2-40B4-BE49-F238E27FC236}">
                <a16:creationId xmlns:a16="http://schemas.microsoft.com/office/drawing/2014/main" id="{A42E9963-4C19-4B6A-92ED-14F9C19DE8DE}"/>
              </a:ext>
            </a:extLst>
          </p:cNvPr>
          <p:cNvSpPr txBox="1">
            <a:spLocks noChangeArrowheads="1"/>
          </p:cNvSpPr>
          <p:nvPr/>
        </p:nvSpPr>
        <p:spPr bwMode="auto">
          <a:xfrm>
            <a:off x="4738688" y="2403475"/>
            <a:ext cx="454025" cy="306388"/>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a:t>
            </a:r>
          </a:p>
        </p:txBody>
      </p:sp>
      <p:cxnSp>
        <p:nvCxnSpPr>
          <p:cNvPr id="16" name="Shape 49">
            <a:extLst>
              <a:ext uri="{FF2B5EF4-FFF2-40B4-BE49-F238E27FC236}">
                <a16:creationId xmlns:a16="http://schemas.microsoft.com/office/drawing/2014/main" id="{64E02BB3-C08F-4D5D-B3CD-37B58052C89B}"/>
              </a:ext>
            </a:extLst>
          </p:cNvPr>
          <p:cNvCxnSpPr>
            <a:cxnSpLocks noChangeShapeType="1"/>
            <a:endCxn id="11" idx="2"/>
          </p:cNvCxnSpPr>
          <p:nvPr/>
        </p:nvCxnSpPr>
        <p:spPr bwMode="auto">
          <a:xfrm rot="10800000">
            <a:off x="2149475" y="3984625"/>
            <a:ext cx="4494213" cy="885825"/>
          </a:xfrm>
          <a:prstGeom prst="bentConnector2">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7" name="Oval 4">
            <a:extLst>
              <a:ext uri="{FF2B5EF4-FFF2-40B4-BE49-F238E27FC236}">
                <a16:creationId xmlns:a16="http://schemas.microsoft.com/office/drawing/2014/main" id="{1EFDAB83-7914-47FB-96C3-AF27FBB889A3}"/>
              </a:ext>
            </a:extLst>
          </p:cNvPr>
          <p:cNvSpPr>
            <a:spLocks noChangeArrowheads="1"/>
          </p:cNvSpPr>
          <p:nvPr/>
        </p:nvSpPr>
        <p:spPr bwMode="auto">
          <a:xfrm>
            <a:off x="3197225" y="3211513"/>
            <a:ext cx="274638"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1</a:t>
            </a:r>
          </a:p>
        </p:txBody>
      </p:sp>
      <p:sp>
        <p:nvSpPr>
          <p:cNvPr id="18" name="Oval 18">
            <a:extLst>
              <a:ext uri="{FF2B5EF4-FFF2-40B4-BE49-F238E27FC236}">
                <a16:creationId xmlns:a16="http://schemas.microsoft.com/office/drawing/2014/main" id="{BE116A24-A2E7-44A3-B852-F4B7D846AAD4}"/>
              </a:ext>
            </a:extLst>
          </p:cNvPr>
          <p:cNvSpPr>
            <a:spLocks noChangeArrowheads="1"/>
          </p:cNvSpPr>
          <p:nvPr/>
        </p:nvSpPr>
        <p:spPr bwMode="auto">
          <a:xfrm>
            <a:off x="4129088" y="2454275"/>
            <a:ext cx="274637"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2</a:t>
            </a:r>
          </a:p>
        </p:txBody>
      </p:sp>
      <p:sp>
        <p:nvSpPr>
          <p:cNvPr id="19" name="Oval 20">
            <a:extLst>
              <a:ext uri="{FF2B5EF4-FFF2-40B4-BE49-F238E27FC236}">
                <a16:creationId xmlns:a16="http://schemas.microsoft.com/office/drawing/2014/main" id="{848473ED-B8A3-4ACB-B4F3-263C9055D0FE}"/>
              </a:ext>
            </a:extLst>
          </p:cNvPr>
          <p:cNvSpPr>
            <a:spLocks noChangeArrowheads="1"/>
          </p:cNvSpPr>
          <p:nvPr/>
        </p:nvSpPr>
        <p:spPr bwMode="auto">
          <a:xfrm>
            <a:off x="5746750" y="3765550"/>
            <a:ext cx="274638"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4</a:t>
            </a:r>
          </a:p>
        </p:txBody>
      </p:sp>
      <p:sp>
        <p:nvSpPr>
          <p:cNvPr id="20" name="Oval 21">
            <a:extLst>
              <a:ext uri="{FF2B5EF4-FFF2-40B4-BE49-F238E27FC236}">
                <a16:creationId xmlns:a16="http://schemas.microsoft.com/office/drawing/2014/main" id="{0584994B-C650-4012-AB15-A0EA347CD655}"/>
              </a:ext>
            </a:extLst>
          </p:cNvPr>
          <p:cNvSpPr>
            <a:spLocks noChangeArrowheads="1"/>
          </p:cNvSpPr>
          <p:nvPr/>
        </p:nvSpPr>
        <p:spPr bwMode="auto">
          <a:xfrm>
            <a:off x="4111625" y="5154613"/>
            <a:ext cx="274638"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5</a:t>
            </a:r>
          </a:p>
        </p:txBody>
      </p:sp>
      <p:sp>
        <p:nvSpPr>
          <p:cNvPr id="21" name="Rectangle 10">
            <a:extLst>
              <a:ext uri="{FF2B5EF4-FFF2-40B4-BE49-F238E27FC236}">
                <a16:creationId xmlns:a16="http://schemas.microsoft.com/office/drawing/2014/main" id="{7EB24992-6522-4326-AA39-135E612563C4}"/>
              </a:ext>
            </a:extLst>
          </p:cNvPr>
          <p:cNvSpPr>
            <a:spLocks noChangeArrowheads="1"/>
          </p:cNvSpPr>
          <p:nvPr/>
        </p:nvSpPr>
        <p:spPr bwMode="auto">
          <a:xfrm>
            <a:off x="4052888" y="1997075"/>
            <a:ext cx="1066800" cy="381000"/>
          </a:xfrm>
          <a:prstGeom prst="rect">
            <a:avLst/>
          </a:prstGeom>
          <a:solidFill>
            <a:srgbClr val="3333CC">
              <a:lumMod val="20000"/>
              <a:lumOff val="80000"/>
            </a:srgbClr>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TLB</a:t>
            </a:r>
          </a:p>
        </p:txBody>
      </p:sp>
      <p:cxnSp>
        <p:nvCxnSpPr>
          <p:cNvPr id="110614" name="Straight Arrow Connector 27">
            <a:extLst>
              <a:ext uri="{FF2B5EF4-FFF2-40B4-BE49-F238E27FC236}">
                <a16:creationId xmlns:a16="http://schemas.microsoft.com/office/drawing/2014/main" id="{B7AC8E90-4EA5-48E9-9665-3ECB09D8BCDF}"/>
              </a:ext>
            </a:extLst>
          </p:cNvPr>
          <p:cNvCxnSpPr>
            <a:cxnSpLocks noChangeShapeType="1"/>
          </p:cNvCxnSpPr>
          <p:nvPr/>
        </p:nvCxnSpPr>
        <p:spPr bwMode="auto">
          <a:xfrm rot="16200000" flipV="1">
            <a:off x="4148931" y="2737644"/>
            <a:ext cx="720725" cy="1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23" name="Straight Arrow Connector 28">
            <a:extLst>
              <a:ext uri="{FF2B5EF4-FFF2-40B4-BE49-F238E27FC236}">
                <a16:creationId xmlns:a16="http://schemas.microsoft.com/office/drawing/2014/main" id="{AEE1F2FE-0AC3-4F1D-A86C-87E98947A15C}"/>
              </a:ext>
            </a:extLst>
          </p:cNvPr>
          <p:cNvCxnSpPr>
            <a:cxnSpLocks noChangeShapeType="1"/>
          </p:cNvCxnSpPr>
          <p:nvPr/>
        </p:nvCxnSpPr>
        <p:spPr bwMode="auto">
          <a:xfrm rot="5400000">
            <a:off x="4377531" y="2737644"/>
            <a:ext cx="720725" cy="1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24" name="Text Box 9">
            <a:extLst>
              <a:ext uri="{FF2B5EF4-FFF2-40B4-BE49-F238E27FC236}">
                <a16:creationId xmlns:a16="http://schemas.microsoft.com/office/drawing/2014/main" id="{0A1EB245-E876-44ED-996B-DA668E466BE2}"/>
              </a:ext>
            </a:extLst>
          </p:cNvPr>
          <p:cNvSpPr txBox="1">
            <a:spLocks noChangeArrowheads="1"/>
          </p:cNvSpPr>
          <p:nvPr/>
        </p:nvSpPr>
        <p:spPr bwMode="auto">
          <a:xfrm>
            <a:off x="4019550" y="2759075"/>
            <a:ext cx="501650" cy="306388"/>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VPN</a:t>
            </a:r>
          </a:p>
        </p:txBody>
      </p:sp>
      <p:sp>
        <p:nvSpPr>
          <p:cNvPr id="25" name="Oval 19">
            <a:extLst>
              <a:ext uri="{FF2B5EF4-FFF2-40B4-BE49-F238E27FC236}">
                <a16:creationId xmlns:a16="http://schemas.microsoft.com/office/drawing/2014/main" id="{9CC0F6AD-A03B-475C-985E-EE3C207CA74F}"/>
              </a:ext>
            </a:extLst>
          </p:cNvPr>
          <p:cNvSpPr>
            <a:spLocks noChangeArrowheads="1"/>
          </p:cNvSpPr>
          <p:nvPr/>
        </p:nvSpPr>
        <p:spPr bwMode="auto">
          <a:xfrm>
            <a:off x="4827588" y="2725738"/>
            <a:ext cx="274637"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3</a:t>
            </a:r>
          </a:p>
        </p:txBody>
      </p:sp>
      <p:sp>
        <p:nvSpPr>
          <p:cNvPr id="110618" name="Rectangle 72">
            <a:extLst>
              <a:ext uri="{FF2B5EF4-FFF2-40B4-BE49-F238E27FC236}">
                <a16:creationId xmlns:a16="http://schemas.microsoft.com/office/drawing/2014/main" id="{02B23E33-715B-496E-99A5-6C8AFB222A79}"/>
              </a:ext>
            </a:extLst>
          </p:cNvPr>
          <p:cNvSpPr>
            <a:spLocks noChangeArrowheads="1"/>
          </p:cNvSpPr>
          <p:nvPr/>
        </p:nvSpPr>
        <p:spPr bwMode="auto">
          <a:xfrm>
            <a:off x="1914525" y="5643563"/>
            <a:ext cx="55435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nSpc>
                <a:spcPct val="85000"/>
              </a:lnSpc>
            </a:pPr>
            <a:r>
              <a:rPr kumimoji="0" lang="en-US" altLang="zh-CN" sz="1600" b="1" i="1">
                <a:solidFill>
                  <a:srgbClr val="000000"/>
                </a:solidFill>
                <a:latin typeface="Calibri" panose="020F0502020204030204" pitchFamily="34" charset="0"/>
              </a:rPr>
              <a:t>VA: virtual address, PA: physical address, PTE: page table entry</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5" grpId="0"/>
      <p:bldP spid="19" grpId="0" animBg="1"/>
      <p:bldP spid="20" grpId="0" animBg="1"/>
      <p:bldP spid="2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B18DD9-B499-432E-B0D7-C7A989A33941}"/>
              </a:ext>
            </a:extLst>
          </p:cNvPr>
          <p:cNvSpPr>
            <a:spLocks noGrp="1"/>
          </p:cNvSpPr>
          <p:nvPr>
            <p:ph type="title"/>
          </p:nvPr>
        </p:nvSpPr>
        <p:spPr/>
        <p:txBody>
          <a:bodyPr/>
          <a:lstStyle/>
          <a:p>
            <a:pPr algn="l">
              <a:defRPr/>
            </a:pPr>
            <a:r>
              <a:rPr lang="zh-CN" altLang="en-US" dirty="0"/>
              <a:t>例                     </a:t>
            </a:r>
            <a:r>
              <a:rPr lang="en-US" altLang="zh-CN" dirty="0"/>
              <a:t>TLB</a:t>
            </a:r>
            <a:r>
              <a:rPr lang="zh-CN" altLang="en-US" dirty="0"/>
              <a:t>未命中</a:t>
            </a:r>
          </a:p>
        </p:txBody>
      </p:sp>
      <p:sp>
        <p:nvSpPr>
          <p:cNvPr id="112643" name="内容占位符 2">
            <a:extLst>
              <a:ext uri="{FF2B5EF4-FFF2-40B4-BE49-F238E27FC236}">
                <a16:creationId xmlns:a16="http://schemas.microsoft.com/office/drawing/2014/main" id="{56F9BB59-BA88-4681-B63A-1F4B50D01B1F}"/>
              </a:ext>
            </a:extLst>
          </p:cNvPr>
          <p:cNvSpPr>
            <a:spLocks noGrp="1" noChangeArrowheads="1"/>
          </p:cNvSpPr>
          <p:nvPr>
            <p:ph idx="1"/>
          </p:nvPr>
        </p:nvSpPr>
        <p:spPr/>
        <p:txBody>
          <a:bodyPr/>
          <a:lstStyle/>
          <a:p>
            <a:endParaRPr lang="zh-CN" altLang="en-US"/>
          </a:p>
        </p:txBody>
      </p:sp>
      <p:sp>
        <p:nvSpPr>
          <p:cNvPr id="26" name="Rectangle 43">
            <a:extLst>
              <a:ext uri="{FF2B5EF4-FFF2-40B4-BE49-F238E27FC236}">
                <a16:creationId xmlns:a16="http://schemas.microsoft.com/office/drawing/2014/main" id="{F41517EB-CBD0-45A3-9A49-9EB334F76DCA}"/>
              </a:ext>
            </a:extLst>
          </p:cNvPr>
          <p:cNvSpPr/>
          <p:nvPr/>
        </p:nvSpPr>
        <p:spPr bwMode="auto">
          <a:xfrm>
            <a:off x="1384300" y="1724025"/>
            <a:ext cx="3749675" cy="2695575"/>
          </a:xfrm>
          <a:prstGeom prst="rect">
            <a:avLst/>
          </a:prstGeom>
          <a:solidFill>
            <a:srgbClr val="EBEBEB"/>
          </a:solidFill>
          <a:ln w="25400" cap="flat" cmpd="sng" algn="ctr">
            <a:noFill/>
            <a:prstDash val="solid"/>
            <a:round/>
            <a:headEnd type="none" w="med" len="med"/>
            <a:tailEnd type="arrow" w="med" len="med"/>
          </a:ln>
          <a:effectLst/>
        </p:spPr>
        <p:txBody>
          <a:bodyPr anchor="ctr"/>
          <a:lstStyle/>
          <a:p>
            <a:pPr algn="ctr">
              <a:defRPr/>
            </a:pPr>
            <a:endParaRPr kumimoji="0" lang="en-US" sz="2400" b="1">
              <a:solidFill>
                <a:srgbClr val="000000"/>
              </a:solidFill>
              <a:latin typeface="Arial Narrow" pitchFamily="34" charset="0"/>
              <a:ea typeface="+mn-ea"/>
            </a:endParaRPr>
          </a:p>
        </p:txBody>
      </p:sp>
      <p:sp>
        <p:nvSpPr>
          <p:cNvPr id="27" name="Rectangle 10">
            <a:extLst>
              <a:ext uri="{FF2B5EF4-FFF2-40B4-BE49-F238E27FC236}">
                <a16:creationId xmlns:a16="http://schemas.microsoft.com/office/drawing/2014/main" id="{162AFEED-D823-45A1-BE1C-4C84107737F2}"/>
              </a:ext>
            </a:extLst>
          </p:cNvPr>
          <p:cNvSpPr>
            <a:spLocks noChangeArrowheads="1"/>
          </p:cNvSpPr>
          <p:nvPr/>
        </p:nvSpPr>
        <p:spPr bwMode="auto">
          <a:xfrm>
            <a:off x="3963988" y="3006725"/>
            <a:ext cx="1066800" cy="1238250"/>
          </a:xfrm>
          <a:prstGeom prst="rect">
            <a:avLst/>
          </a:prstGeom>
          <a:solidFill>
            <a:srgbClr val="D5F1CF"/>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MMU</a:t>
            </a:r>
          </a:p>
        </p:txBody>
      </p:sp>
      <p:sp>
        <p:nvSpPr>
          <p:cNvPr id="28" name="Rectangle 17">
            <a:extLst>
              <a:ext uri="{FF2B5EF4-FFF2-40B4-BE49-F238E27FC236}">
                <a16:creationId xmlns:a16="http://schemas.microsoft.com/office/drawing/2014/main" id="{218DD0E3-2673-4D42-8BCF-3CB434AAC582}"/>
              </a:ext>
            </a:extLst>
          </p:cNvPr>
          <p:cNvSpPr>
            <a:spLocks noChangeArrowheads="1"/>
          </p:cNvSpPr>
          <p:nvPr/>
        </p:nvSpPr>
        <p:spPr bwMode="auto">
          <a:xfrm>
            <a:off x="6553200" y="2722563"/>
            <a:ext cx="914400" cy="2284412"/>
          </a:xfrm>
          <a:prstGeom prst="rect">
            <a:avLst/>
          </a:prstGeom>
          <a:solidFill>
            <a:srgbClr val="EBEBEB"/>
          </a:solidFill>
          <a:ln w="19080">
            <a:solidFill>
              <a:srgbClr val="000000"/>
            </a:solidFill>
            <a:miter lim="800000"/>
            <a:headEnd/>
            <a:tailEnd/>
          </a:ln>
          <a:effectLst/>
        </p:spPr>
        <p:txBody>
          <a:bodyPr wrap="none" anchor="ctr"/>
          <a:lstStyle/>
          <a:p>
            <a:pPr eaLnBrk="1" fontAlgn="auto" hangingPunct="1">
              <a:spcBef>
                <a:spcPts val="0"/>
              </a:spcBef>
              <a:spcAft>
                <a:spcPts val="0"/>
              </a:spcAft>
              <a:defRPr/>
            </a:pPr>
            <a:r>
              <a:rPr kumimoji="0" lang="en-US" sz="1600" b="1" kern="0" dirty="0">
                <a:solidFill>
                  <a:srgbClr val="000000"/>
                </a:solidFill>
                <a:latin typeface="Calibri" pitchFamily="34" charset="0"/>
                <a:ea typeface="+mn-ea"/>
              </a:rPr>
              <a:t>Cache/</a:t>
            </a:r>
          </a:p>
          <a:p>
            <a:pPr eaLnBrk="1" fontAlgn="auto" hangingPunct="1">
              <a:spcBef>
                <a:spcPts val="0"/>
              </a:spcBef>
              <a:spcAft>
                <a:spcPts val="0"/>
              </a:spcAft>
              <a:defRPr/>
            </a:pPr>
            <a:r>
              <a:rPr kumimoji="0" lang="en-US" sz="1600" b="1" kern="0" dirty="0">
                <a:solidFill>
                  <a:srgbClr val="000000"/>
                </a:solidFill>
                <a:latin typeface="Calibri" pitchFamily="34" charset="0"/>
                <a:ea typeface="+mn-ea"/>
              </a:rPr>
              <a:t>Memory</a:t>
            </a:r>
          </a:p>
        </p:txBody>
      </p:sp>
      <p:sp>
        <p:nvSpPr>
          <p:cNvPr id="29" name="Text Box 9">
            <a:extLst>
              <a:ext uri="{FF2B5EF4-FFF2-40B4-BE49-F238E27FC236}">
                <a16:creationId xmlns:a16="http://schemas.microsoft.com/office/drawing/2014/main" id="{5D17ED86-9344-476D-BB27-6936E68D76F2}"/>
              </a:ext>
            </a:extLst>
          </p:cNvPr>
          <p:cNvSpPr txBox="1">
            <a:spLocks noChangeArrowheads="1"/>
          </p:cNvSpPr>
          <p:nvPr/>
        </p:nvSpPr>
        <p:spPr bwMode="auto">
          <a:xfrm>
            <a:off x="5576888" y="3810000"/>
            <a:ext cx="374650" cy="306388"/>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PA</a:t>
            </a:r>
          </a:p>
        </p:txBody>
      </p:sp>
      <p:sp>
        <p:nvSpPr>
          <p:cNvPr id="30" name="Text Box 32">
            <a:extLst>
              <a:ext uri="{FF2B5EF4-FFF2-40B4-BE49-F238E27FC236}">
                <a16:creationId xmlns:a16="http://schemas.microsoft.com/office/drawing/2014/main" id="{B1D69E8E-61F8-4D6F-8009-06FB23209555}"/>
              </a:ext>
            </a:extLst>
          </p:cNvPr>
          <p:cNvSpPr txBox="1">
            <a:spLocks noChangeArrowheads="1"/>
          </p:cNvSpPr>
          <p:nvPr/>
        </p:nvSpPr>
        <p:spPr bwMode="auto">
          <a:xfrm>
            <a:off x="3887788" y="4778375"/>
            <a:ext cx="531812"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Data</a:t>
            </a:r>
          </a:p>
        </p:txBody>
      </p:sp>
      <p:cxnSp>
        <p:nvCxnSpPr>
          <p:cNvPr id="31" name="Straight Arrow Connector 39">
            <a:extLst>
              <a:ext uri="{FF2B5EF4-FFF2-40B4-BE49-F238E27FC236}">
                <a16:creationId xmlns:a16="http://schemas.microsoft.com/office/drawing/2014/main" id="{1AACC3C3-7832-4856-9BA5-03C3599F8517}"/>
              </a:ext>
            </a:extLst>
          </p:cNvPr>
          <p:cNvCxnSpPr>
            <a:cxnSpLocks noChangeShapeType="1"/>
          </p:cNvCxnSpPr>
          <p:nvPr/>
        </p:nvCxnSpPr>
        <p:spPr bwMode="auto">
          <a:xfrm flipV="1">
            <a:off x="5030788" y="4062413"/>
            <a:ext cx="1522412" cy="1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32" name="Rectangle 10">
            <a:extLst>
              <a:ext uri="{FF2B5EF4-FFF2-40B4-BE49-F238E27FC236}">
                <a16:creationId xmlns:a16="http://schemas.microsoft.com/office/drawing/2014/main" id="{CF7A9C8D-A278-45E3-8C65-453D52DBF333}"/>
              </a:ext>
            </a:extLst>
          </p:cNvPr>
          <p:cNvSpPr>
            <a:spLocks noChangeArrowheads="1"/>
          </p:cNvSpPr>
          <p:nvPr/>
        </p:nvSpPr>
        <p:spPr bwMode="auto">
          <a:xfrm>
            <a:off x="1525588" y="3359150"/>
            <a:ext cx="1066800" cy="533400"/>
          </a:xfrm>
          <a:prstGeom prst="rect">
            <a:avLst/>
          </a:prstGeom>
          <a:solidFill>
            <a:srgbClr val="F1C7C7"/>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CPU</a:t>
            </a:r>
          </a:p>
        </p:txBody>
      </p:sp>
      <p:cxnSp>
        <p:nvCxnSpPr>
          <p:cNvPr id="112652" name="Straight Arrow Connector 37">
            <a:extLst>
              <a:ext uri="{FF2B5EF4-FFF2-40B4-BE49-F238E27FC236}">
                <a16:creationId xmlns:a16="http://schemas.microsoft.com/office/drawing/2014/main" id="{1FBE37EB-DA9B-4BAC-94BC-F6197822992B}"/>
              </a:ext>
            </a:extLst>
          </p:cNvPr>
          <p:cNvCxnSpPr>
            <a:cxnSpLocks noChangeShapeType="1"/>
            <a:stCxn id="32" idx="3"/>
          </p:cNvCxnSpPr>
          <p:nvPr/>
        </p:nvCxnSpPr>
        <p:spPr bwMode="auto">
          <a:xfrm flipV="1">
            <a:off x="2592388" y="3621088"/>
            <a:ext cx="1370012" cy="4762"/>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34" name="Text Box 9">
            <a:extLst>
              <a:ext uri="{FF2B5EF4-FFF2-40B4-BE49-F238E27FC236}">
                <a16:creationId xmlns:a16="http://schemas.microsoft.com/office/drawing/2014/main" id="{793262E9-896D-4AB8-8B9F-BD29F421B5E7}"/>
              </a:ext>
            </a:extLst>
          </p:cNvPr>
          <p:cNvSpPr txBox="1">
            <a:spLocks noChangeArrowheads="1"/>
          </p:cNvSpPr>
          <p:nvPr/>
        </p:nvSpPr>
        <p:spPr bwMode="auto">
          <a:xfrm>
            <a:off x="3049588" y="3354388"/>
            <a:ext cx="387350" cy="306387"/>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VA</a:t>
            </a:r>
          </a:p>
        </p:txBody>
      </p:sp>
      <p:sp>
        <p:nvSpPr>
          <p:cNvPr id="35" name="TextBox 44">
            <a:extLst>
              <a:ext uri="{FF2B5EF4-FFF2-40B4-BE49-F238E27FC236}">
                <a16:creationId xmlns:a16="http://schemas.microsoft.com/office/drawing/2014/main" id="{E2BCEFA7-3CE3-4C3C-BF8F-AA3FA2643C5E}"/>
              </a:ext>
            </a:extLst>
          </p:cNvPr>
          <p:cNvSpPr txBox="1"/>
          <p:nvPr/>
        </p:nvSpPr>
        <p:spPr>
          <a:xfrm>
            <a:off x="1390650" y="1752600"/>
            <a:ext cx="1057275" cy="369888"/>
          </a:xfrm>
          <a:prstGeom prst="rect">
            <a:avLst/>
          </a:prstGeom>
          <a:noFill/>
        </p:spPr>
        <p:txBody>
          <a:bodyPr wrap="none">
            <a:spAutoFit/>
          </a:bodyPr>
          <a:lstStyle/>
          <a:p>
            <a:pPr>
              <a:defRPr/>
            </a:pPr>
            <a:r>
              <a:rPr kumimoji="0" lang="en-US" sz="1800" b="1" i="1" dirty="0">
                <a:solidFill>
                  <a:srgbClr val="000000">
                    <a:lumMod val="50000"/>
                    <a:lumOff val="50000"/>
                  </a:srgbClr>
                </a:solidFill>
                <a:latin typeface="Calibri" pitchFamily="34" charset="0"/>
                <a:ea typeface="+mn-ea"/>
              </a:rPr>
              <a:t>CPU Chip</a:t>
            </a:r>
          </a:p>
        </p:txBody>
      </p:sp>
      <p:sp>
        <p:nvSpPr>
          <p:cNvPr id="36" name="Text Box 9">
            <a:extLst>
              <a:ext uri="{FF2B5EF4-FFF2-40B4-BE49-F238E27FC236}">
                <a16:creationId xmlns:a16="http://schemas.microsoft.com/office/drawing/2014/main" id="{374B0AC9-BE7B-4C7A-A037-FC09B4673DAF}"/>
              </a:ext>
            </a:extLst>
          </p:cNvPr>
          <p:cNvSpPr txBox="1">
            <a:spLocks noChangeArrowheads="1"/>
          </p:cNvSpPr>
          <p:nvPr/>
        </p:nvSpPr>
        <p:spPr bwMode="auto">
          <a:xfrm>
            <a:off x="5537200" y="2360613"/>
            <a:ext cx="454025" cy="306387"/>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a:t>
            </a:r>
          </a:p>
        </p:txBody>
      </p:sp>
      <p:cxnSp>
        <p:nvCxnSpPr>
          <p:cNvPr id="37" name="Shape 49">
            <a:extLst>
              <a:ext uri="{FF2B5EF4-FFF2-40B4-BE49-F238E27FC236}">
                <a16:creationId xmlns:a16="http://schemas.microsoft.com/office/drawing/2014/main" id="{0E35DF4A-4359-4550-BE0A-EE0BB8D9E196}"/>
              </a:ext>
            </a:extLst>
          </p:cNvPr>
          <p:cNvCxnSpPr>
            <a:cxnSpLocks noChangeShapeType="1"/>
            <a:endCxn id="32" idx="2"/>
          </p:cNvCxnSpPr>
          <p:nvPr/>
        </p:nvCxnSpPr>
        <p:spPr bwMode="auto">
          <a:xfrm rot="10800000">
            <a:off x="2058988" y="3892550"/>
            <a:ext cx="4494212" cy="885825"/>
          </a:xfrm>
          <a:prstGeom prst="bentConnector2">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38" name="Oval 4">
            <a:extLst>
              <a:ext uri="{FF2B5EF4-FFF2-40B4-BE49-F238E27FC236}">
                <a16:creationId xmlns:a16="http://schemas.microsoft.com/office/drawing/2014/main" id="{14222A4B-128A-4C13-A896-929C0BB217A2}"/>
              </a:ext>
            </a:extLst>
          </p:cNvPr>
          <p:cNvSpPr>
            <a:spLocks noChangeArrowheads="1"/>
          </p:cNvSpPr>
          <p:nvPr/>
        </p:nvSpPr>
        <p:spPr bwMode="auto">
          <a:xfrm>
            <a:off x="3106738" y="3119438"/>
            <a:ext cx="274637"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1</a:t>
            </a:r>
          </a:p>
        </p:txBody>
      </p:sp>
      <p:sp>
        <p:nvSpPr>
          <p:cNvPr id="39" name="Oval 18">
            <a:extLst>
              <a:ext uri="{FF2B5EF4-FFF2-40B4-BE49-F238E27FC236}">
                <a16:creationId xmlns:a16="http://schemas.microsoft.com/office/drawing/2014/main" id="{F848CFB5-A745-4366-A194-D2A0654AE128}"/>
              </a:ext>
            </a:extLst>
          </p:cNvPr>
          <p:cNvSpPr>
            <a:spLocks noChangeArrowheads="1"/>
          </p:cNvSpPr>
          <p:nvPr/>
        </p:nvSpPr>
        <p:spPr bwMode="auto">
          <a:xfrm>
            <a:off x="4038600" y="2362200"/>
            <a:ext cx="274638"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2</a:t>
            </a:r>
          </a:p>
        </p:txBody>
      </p:sp>
      <p:sp>
        <p:nvSpPr>
          <p:cNvPr id="40" name="Oval 20">
            <a:extLst>
              <a:ext uri="{FF2B5EF4-FFF2-40B4-BE49-F238E27FC236}">
                <a16:creationId xmlns:a16="http://schemas.microsoft.com/office/drawing/2014/main" id="{3D7975B1-0B83-4168-ACD0-773DA05AA579}"/>
              </a:ext>
            </a:extLst>
          </p:cNvPr>
          <p:cNvSpPr>
            <a:spLocks noChangeArrowheads="1"/>
          </p:cNvSpPr>
          <p:nvPr/>
        </p:nvSpPr>
        <p:spPr bwMode="auto">
          <a:xfrm>
            <a:off x="5626100" y="4129088"/>
            <a:ext cx="274638"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5</a:t>
            </a:r>
          </a:p>
        </p:txBody>
      </p:sp>
      <p:sp>
        <p:nvSpPr>
          <p:cNvPr id="41" name="Oval 21">
            <a:extLst>
              <a:ext uri="{FF2B5EF4-FFF2-40B4-BE49-F238E27FC236}">
                <a16:creationId xmlns:a16="http://schemas.microsoft.com/office/drawing/2014/main" id="{750177FA-77AF-44DC-B1BC-4014B5621038}"/>
              </a:ext>
            </a:extLst>
          </p:cNvPr>
          <p:cNvSpPr>
            <a:spLocks noChangeArrowheads="1"/>
          </p:cNvSpPr>
          <p:nvPr/>
        </p:nvSpPr>
        <p:spPr bwMode="auto">
          <a:xfrm>
            <a:off x="4021138" y="5062538"/>
            <a:ext cx="274637" cy="274637"/>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FFFF"/>
                </a:solidFill>
                <a:latin typeface="Calibri" pitchFamily="34" charset="0"/>
                <a:ea typeface="+mn-ea"/>
              </a:rPr>
              <a:t>6</a:t>
            </a:r>
          </a:p>
        </p:txBody>
      </p:sp>
      <p:sp>
        <p:nvSpPr>
          <p:cNvPr id="42" name="Rectangle 10">
            <a:extLst>
              <a:ext uri="{FF2B5EF4-FFF2-40B4-BE49-F238E27FC236}">
                <a16:creationId xmlns:a16="http://schemas.microsoft.com/office/drawing/2014/main" id="{6A477044-13F4-4310-A168-AB28BC74E296}"/>
              </a:ext>
            </a:extLst>
          </p:cNvPr>
          <p:cNvSpPr>
            <a:spLocks noChangeArrowheads="1"/>
          </p:cNvSpPr>
          <p:nvPr/>
        </p:nvSpPr>
        <p:spPr bwMode="auto">
          <a:xfrm>
            <a:off x="3962400" y="1905000"/>
            <a:ext cx="1066800" cy="381000"/>
          </a:xfrm>
          <a:prstGeom prst="rect">
            <a:avLst/>
          </a:prstGeom>
          <a:solidFill>
            <a:srgbClr val="3333CC">
              <a:lumMod val="20000"/>
              <a:lumOff val="80000"/>
            </a:srgbClr>
          </a:solidFill>
          <a:ln w="12600">
            <a:solidFill>
              <a:srgbClr val="000000"/>
            </a:solid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ea typeface="+mn-ea"/>
              </a:rPr>
              <a:t>TLB</a:t>
            </a:r>
          </a:p>
        </p:txBody>
      </p:sp>
      <p:cxnSp>
        <p:nvCxnSpPr>
          <p:cNvPr id="112662" name="Straight Arrow Connector 27">
            <a:extLst>
              <a:ext uri="{FF2B5EF4-FFF2-40B4-BE49-F238E27FC236}">
                <a16:creationId xmlns:a16="http://schemas.microsoft.com/office/drawing/2014/main" id="{65A66974-F1FA-4E20-9077-1C7042B4C8F6}"/>
              </a:ext>
            </a:extLst>
          </p:cNvPr>
          <p:cNvCxnSpPr>
            <a:cxnSpLocks noChangeShapeType="1"/>
          </p:cNvCxnSpPr>
          <p:nvPr/>
        </p:nvCxnSpPr>
        <p:spPr bwMode="auto">
          <a:xfrm rot="16200000" flipV="1">
            <a:off x="4058444" y="2645569"/>
            <a:ext cx="720725" cy="1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44" name="Straight Arrow Connector 28">
            <a:extLst>
              <a:ext uri="{FF2B5EF4-FFF2-40B4-BE49-F238E27FC236}">
                <a16:creationId xmlns:a16="http://schemas.microsoft.com/office/drawing/2014/main" id="{64646A76-B289-4915-8656-D0B3818FCAFF}"/>
              </a:ext>
            </a:extLst>
          </p:cNvPr>
          <p:cNvCxnSpPr>
            <a:cxnSpLocks noChangeShapeType="1"/>
          </p:cNvCxnSpPr>
          <p:nvPr/>
        </p:nvCxnSpPr>
        <p:spPr bwMode="auto">
          <a:xfrm rot="5400000">
            <a:off x="4287044" y="2645569"/>
            <a:ext cx="720725" cy="1587"/>
          </a:xfrm>
          <a:prstGeom prst="straightConnector1">
            <a:avLst/>
          </a:prstGeom>
          <a:noFill/>
          <a:ln w="25400" algn="ctr">
            <a:solidFill>
              <a:srgbClr val="000000"/>
            </a:solidFill>
            <a:round/>
            <a:headEnd type="arrow" w="med" len="med"/>
            <a:tailEnd type="arrow" w="med" len="med"/>
          </a:ln>
          <a:extLst>
            <a:ext uri="{909E8E84-426E-40DD-AFC4-6F175D3DCCD1}">
              <a14:hiddenFill xmlns:a14="http://schemas.microsoft.com/office/drawing/2010/main">
                <a:noFill/>
              </a14:hiddenFill>
            </a:ext>
          </a:extLst>
        </p:spPr>
      </p:cxnSp>
      <p:sp>
        <p:nvSpPr>
          <p:cNvPr id="45" name="Text Box 9">
            <a:extLst>
              <a:ext uri="{FF2B5EF4-FFF2-40B4-BE49-F238E27FC236}">
                <a16:creationId xmlns:a16="http://schemas.microsoft.com/office/drawing/2014/main" id="{92EDAC72-49A6-452F-8A49-EEB80716591F}"/>
              </a:ext>
            </a:extLst>
          </p:cNvPr>
          <p:cNvSpPr txBox="1">
            <a:spLocks noChangeArrowheads="1"/>
          </p:cNvSpPr>
          <p:nvPr/>
        </p:nvSpPr>
        <p:spPr bwMode="auto">
          <a:xfrm>
            <a:off x="3929063" y="2667000"/>
            <a:ext cx="501650" cy="306388"/>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VPN</a:t>
            </a:r>
          </a:p>
        </p:txBody>
      </p:sp>
      <p:sp>
        <p:nvSpPr>
          <p:cNvPr id="46" name="Oval 19">
            <a:extLst>
              <a:ext uri="{FF2B5EF4-FFF2-40B4-BE49-F238E27FC236}">
                <a16:creationId xmlns:a16="http://schemas.microsoft.com/office/drawing/2014/main" id="{E37743CA-BF43-46A1-817C-55830C1F88BF}"/>
              </a:ext>
            </a:extLst>
          </p:cNvPr>
          <p:cNvSpPr>
            <a:spLocks noChangeArrowheads="1"/>
          </p:cNvSpPr>
          <p:nvPr/>
        </p:nvSpPr>
        <p:spPr bwMode="auto">
          <a:xfrm>
            <a:off x="5626100" y="2120900"/>
            <a:ext cx="274638"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0000"/>
                </a:solidFill>
                <a:latin typeface="Calibri" pitchFamily="34" charset="0"/>
                <a:ea typeface="+mn-ea"/>
              </a:rPr>
              <a:t>4</a:t>
            </a:r>
          </a:p>
        </p:txBody>
      </p:sp>
      <p:sp>
        <p:nvSpPr>
          <p:cNvPr id="47" name="Text Box 9">
            <a:extLst>
              <a:ext uri="{FF2B5EF4-FFF2-40B4-BE49-F238E27FC236}">
                <a16:creationId xmlns:a16="http://schemas.microsoft.com/office/drawing/2014/main" id="{1BEB3DB9-AE63-416A-B565-43EE328B9FBF}"/>
              </a:ext>
            </a:extLst>
          </p:cNvPr>
          <p:cNvSpPr txBox="1">
            <a:spLocks noChangeArrowheads="1"/>
          </p:cNvSpPr>
          <p:nvPr/>
        </p:nvSpPr>
        <p:spPr bwMode="auto">
          <a:xfrm>
            <a:off x="5513388" y="3371850"/>
            <a:ext cx="560387" cy="304800"/>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PTEA</a:t>
            </a:r>
          </a:p>
        </p:txBody>
      </p:sp>
      <p:cxnSp>
        <p:nvCxnSpPr>
          <p:cNvPr id="48" name="Straight Arrow Connector 30">
            <a:extLst>
              <a:ext uri="{FF2B5EF4-FFF2-40B4-BE49-F238E27FC236}">
                <a16:creationId xmlns:a16="http://schemas.microsoft.com/office/drawing/2014/main" id="{2EB1EA14-44A7-47E4-ADD6-9D906513B177}"/>
              </a:ext>
            </a:extLst>
          </p:cNvPr>
          <p:cNvCxnSpPr>
            <a:cxnSpLocks noChangeShapeType="1"/>
          </p:cNvCxnSpPr>
          <p:nvPr/>
        </p:nvCxnSpPr>
        <p:spPr bwMode="auto">
          <a:xfrm flipV="1">
            <a:off x="5030788" y="3624263"/>
            <a:ext cx="1522412" cy="15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49" name="Oval 18">
            <a:extLst>
              <a:ext uri="{FF2B5EF4-FFF2-40B4-BE49-F238E27FC236}">
                <a16:creationId xmlns:a16="http://schemas.microsoft.com/office/drawing/2014/main" id="{6148E56F-C9D1-417C-BD46-A9DB18EC7E87}"/>
              </a:ext>
            </a:extLst>
          </p:cNvPr>
          <p:cNvSpPr>
            <a:spLocks noChangeArrowheads="1"/>
          </p:cNvSpPr>
          <p:nvPr/>
        </p:nvSpPr>
        <p:spPr bwMode="auto">
          <a:xfrm>
            <a:off x="5626100" y="3124200"/>
            <a:ext cx="274638" cy="274638"/>
          </a:xfrm>
          <a:prstGeom prst="ellipse">
            <a:avLst/>
          </a:prstGeom>
          <a:solidFill>
            <a:srgbClr val="000000">
              <a:lumMod val="50000"/>
              <a:lumOff val="50000"/>
            </a:srgbClr>
          </a:solidFill>
          <a:ln w="28440">
            <a:noFill/>
            <a:miter lim="800000"/>
            <a:headEnd/>
            <a:tailEnd/>
          </a:ln>
          <a:effectLst/>
        </p:spPr>
        <p:txBody>
          <a:bodyPr wrap="none" lIns="90000" tIns="46800" rIns="90000" bIns="4680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kern="0" dirty="0">
                <a:solidFill>
                  <a:srgbClr val="FF0000"/>
                </a:solidFill>
                <a:latin typeface="Calibri" pitchFamily="34" charset="0"/>
                <a:ea typeface="+mn-ea"/>
              </a:rPr>
              <a:t>3</a:t>
            </a:r>
          </a:p>
        </p:txBody>
      </p:sp>
      <p:cxnSp>
        <p:nvCxnSpPr>
          <p:cNvPr id="50" name="Elbow Connector 33">
            <a:extLst>
              <a:ext uri="{FF2B5EF4-FFF2-40B4-BE49-F238E27FC236}">
                <a16:creationId xmlns:a16="http://schemas.microsoft.com/office/drawing/2014/main" id="{1961876A-A8D4-4004-BA1F-12E1197DEF38}"/>
              </a:ext>
            </a:extLst>
          </p:cNvPr>
          <p:cNvCxnSpPr>
            <a:cxnSpLocks noChangeShapeType="1"/>
          </p:cNvCxnSpPr>
          <p:nvPr/>
        </p:nvCxnSpPr>
        <p:spPr bwMode="auto">
          <a:xfrm rot="10800000">
            <a:off x="4648200" y="2636838"/>
            <a:ext cx="1905000" cy="482600"/>
          </a:xfrm>
          <a:prstGeom prst="bentConnector3">
            <a:avLst>
              <a:gd name="adj1" fmla="val 21556"/>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12670" name="Rectangle 72">
            <a:extLst>
              <a:ext uri="{FF2B5EF4-FFF2-40B4-BE49-F238E27FC236}">
                <a16:creationId xmlns:a16="http://schemas.microsoft.com/office/drawing/2014/main" id="{95D196C9-51AE-4D4B-A278-0C03E5CF4AF4}"/>
              </a:ext>
            </a:extLst>
          </p:cNvPr>
          <p:cNvSpPr>
            <a:spLocks noChangeArrowheads="1"/>
          </p:cNvSpPr>
          <p:nvPr/>
        </p:nvSpPr>
        <p:spPr bwMode="auto">
          <a:xfrm>
            <a:off x="968375" y="5472113"/>
            <a:ext cx="724217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nSpc>
                <a:spcPct val="85000"/>
              </a:lnSpc>
            </a:pPr>
            <a:r>
              <a:rPr kumimoji="0" lang="en-US" altLang="zh-CN" sz="1600" b="1" i="1">
                <a:solidFill>
                  <a:srgbClr val="000000"/>
                </a:solidFill>
                <a:latin typeface="Calibri" panose="020F0502020204030204" pitchFamily="34" charset="0"/>
              </a:rPr>
              <a:t>VA: virtual address, PA: physical address, PTE: page table entry, PTEA = PTE address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6" grpId="0"/>
      <p:bldP spid="40" grpId="0" animBg="1"/>
      <p:bldP spid="41" grpId="0" animBg="1"/>
      <p:bldP spid="46" grpId="0" animBg="1"/>
      <p:bldP spid="47" grpId="0"/>
      <p:bldP spid="4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16BCCE-9923-4690-9637-DF779C5EEEF8}"/>
              </a:ext>
            </a:extLst>
          </p:cNvPr>
          <p:cNvSpPr>
            <a:spLocks noGrp="1"/>
          </p:cNvSpPr>
          <p:nvPr>
            <p:ph type="title"/>
          </p:nvPr>
        </p:nvSpPr>
        <p:spPr/>
        <p:txBody>
          <a:bodyPr/>
          <a:lstStyle/>
          <a:p>
            <a:pPr>
              <a:defRPr/>
            </a:pPr>
            <a:r>
              <a:rPr lang="zh-CN" altLang="en-US" dirty="0"/>
              <a:t>例</a:t>
            </a:r>
            <a:r>
              <a:rPr lang="en-US" altLang="zh-CN" dirty="0"/>
              <a:t>1</a:t>
            </a:r>
            <a:endParaRPr lang="zh-CN" altLang="en-US" dirty="0"/>
          </a:p>
        </p:txBody>
      </p:sp>
      <p:sp>
        <p:nvSpPr>
          <p:cNvPr id="114691" name="内容占位符 2">
            <a:extLst>
              <a:ext uri="{FF2B5EF4-FFF2-40B4-BE49-F238E27FC236}">
                <a16:creationId xmlns:a16="http://schemas.microsoft.com/office/drawing/2014/main" id="{0E80E380-337B-4CF7-AB21-91FD4CFAE019}"/>
              </a:ext>
            </a:extLst>
          </p:cNvPr>
          <p:cNvSpPr>
            <a:spLocks noGrp="1" noChangeArrowheads="1"/>
          </p:cNvSpPr>
          <p:nvPr>
            <p:ph idx="1"/>
          </p:nvPr>
        </p:nvSpPr>
        <p:spPr/>
        <p:txBody>
          <a:bodyPr/>
          <a:lstStyle/>
          <a:p>
            <a:r>
              <a:rPr lang="zh-CN" altLang="en-US" sz="2800"/>
              <a:t>虚拟地址                            快表</a:t>
            </a:r>
            <a:r>
              <a:rPr lang="en-US" altLang="zh-CN" sz="2800"/>
              <a:t>TLB</a:t>
            </a:r>
            <a:r>
              <a:rPr lang="zh-CN" altLang="en-US" sz="2800"/>
              <a:t>（全相联映射）</a:t>
            </a:r>
            <a:endParaRPr lang="en-US" altLang="zh-CN" sz="2800"/>
          </a:p>
          <a:p>
            <a:endParaRPr lang="en-US" altLang="zh-CN"/>
          </a:p>
          <a:p>
            <a:endParaRPr lang="en-US" altLang="zh-CN"/>
          </a:p>
          <a:p>
            <a:endParaRPr lang="en-US" altLang="zh-CN"/>
          </a:p>
          <a:p>
            <a:pPr>
              <a:buFont typeface="Wingdings 2" panose="05020102010507070707" pitchFamily="18" charset="2"/>
              <a:buNone/>
            </a:pPr>
            <a:r>
              <a:rPr lang="en-US" altLang="zh-CN" sz="1800"/>
              <a:t>1</a:t>
            </a:r>
            <a:r>
              <a:rPr lang="zh-CN" altLang="en-US" sz="1800"/>
              <a:t>）</a:t>
            </a:r>
            <a:r>
              <a:rPr lang="en-US" altLang="zh-CN" sz="1800"/>
              <a:t>CPU</a:t>
            </a:r>
            <a:r>
              <a:rPr lang="zh-CN" altLang="en-US" sz="1800"/>
              <a:t>按虚地址</a:t>
            </a:r>
            <a:r>
              <a:rPr lang="zh-CN" altLang="en-US" sz="1800">
                <a:latin typeface="楷体" panose="02010609060101010101" pitchFamily="49" charset="-122"/>
                <a:ea typeface="楷体" panose="02010609060101010101" pitchFamily="49" charset="-122"/>
              </a:rPr>
              <a:t>①访问主存时，主存的</a:t>
            </a:r>
            <a:endParaRPr lang="en-US" altLang="zh-CN" sz="1800">
              <a:latin typeface="楷体" panose="02010609060101010101" pitchFamily="49" charset="-122"/>
              <a:ea typeface="楷体" panose="02010609060101010101" pitchFamily="49" charset="-122"/>
            </a:endParaRPr>
          </a:p>
          <a:p>
            <a:pPr>
              <a:buFont typeface="Wingdings 2" panose="05020102010507070707" pitchFamily="18" charset="2"/>
              <a:buNone/>
            </a:pPr>
            <a:r>
              <a:rPr lang="zh-CN" altLang="en-US" sz="1800">
                <a:latin typeface="楷体" panose="02010609060101010101" pitchFamily="49" charset="-122"/>
                <a:ea typeface="楷体" panose="02010609060101010101" pitchFamily="49" charset="-122"/>
              </a:rPr>
              <a:t>  实地址是多少？</a:t>
            </a:r>
            <a:endParaRPr lang="en-US" altLang="zh-CN" sz="1800">
              <a:latin typeface="楷体" panose="02010609060101010101" pitchFamily="49" charset="-122"/>
              <a:ea typeface="楷体" panose="02010609060101010101" pitchFamily="49" charset="-122"/>
            </a:endParaRPr>
          </a:p>
          <a:p>
            <a:pPr>
              <a:buFont typeface="Wingdings 2" panose="05020102010507070707" pitchFamily="18" charset="2"/>
              <a:buNone/>
            </a:pPr>
            <a:r>
              <a:rPr lang="en-US" altLang="zh-CN" sz="1800">
                <a:latin typeface="楷体" panose="02010609060101010101" pitchFamily="49" charset="-122"/>
                <a:ea typeface="楷体" panose="02010609060101010101" pitchFamily="49" charset="-122"/>
              </a:rPr>
              <a:t>2</a:t>
            </a:r>
            <a:r>
              <a:rPr lang="zh-CN" altLang="en-US" sz="1800">
                <a:latin typeface="楷体" panose="02010609060101010101" pitchFamily="49" charset="-122"/>
                <a:ea typeface="楷体" panose="02010609060101010101" pitchFamily="49" charset="-122"/>
              </a:rPr>
              <a:t>）</a:t>
            </a:r>
            <a:r>
              <a:rPr lang="en-US" altLang="zh-CN" sz="1800">
                <a:latin typeface="楷体" panose="02010609060101010101" pitchFamily="49" charset="-122"/>
                <a:ea typeface="楷体" panose="02010609060101010101" pitchFamily="49" charset="-122"/>
              </a:rPr>
              <a:t>CPU</a:t>
            </a:r>
            <a:r>
              <a:rPr lang="zh-CN" altLang="en-US" sz="1800">
                <a:latin typeface="楷体" panose="02010609060101010101" pitchFamily="49" charset="-122"/>
                <a:ea typeface="楷体" panose="02010609060101010101" pitchFamily="49" charset="-122"/>
              </a:rPr>
              <a:t>按虚地址②访问主存时，主存的</a:t>
            </a:r>
          </a:p>
          <a:p>
            <a:pPr>
              <a:buFont typeface="Wingdings 2" panose="05020102010507070707" pitchFamily="18" charset="2"/>
              <a:buNone/>
            </a:pPr>
            <a:r>
              <a:rPr lang="zh-CN" altLang="en-US" sz="1800">
                <a:latin typeface="楷体" panose="02010609060101010101" pitchFamily="49" charset="-122"/>
                <a:ea typeface="楷体" panose="02010609060101010101" pitchFamily="49" charset="-122"/>
              </a:rPr>
              <a:t>  实地址是多少？</a:t>
            </a:r>
          </a:p>
          <a:p>
            <a:pPr>
              <a:buFont typeface="Wingdings 2" panose="05020102010507070707" pitchFamily="18" charset="2"/>
              <a:buNone/>
            </a:pPr>
            <a:r>
              <a:rPr lang="en-US" altLang="zh-CN" sz="1800"/>
              <a:t>3</a:t>
            </a:r>
            <a:r>
              <a:rPr lang="zh-CN" altLang="en-US" sz="1800"/>
              <a:t>）</a:t>
            </a:r>
            <a:r>
              <a:rPr lang="en-US" altLang="zh-CN" sz="1800"/>
              <a:t>CPU</a:t>
            </a:r>
            <a:r>
              <a:rPr lang="zh-CN" altLang="en-US" sz="1800"/>
              <a:t>按虚地址</a:t>
            </a:r>
            <a:r>
              <a:rPr lang="zh-CN" altLang="en-US" sz="1800">
                <a:latin typeface="楷体" panose="02010609060101010101" pitchFamily="49" charset="-122"/>
                <a:ea typeface="楷体" panose="02010609060101010101" pitchFamily="49" charset="-122"/>
              </a:rPr>
              <a:t>③</a:t>
            </a:r>
            <a:r>
              <a:rPr lang="zh-CN" altLang="en-US" sz="1800"/>
              <a:t>访问主存时，主存的</a:t>
            </a:r>
          </a:p>
          <a:p>
            <a:pPr>
              <a:buFont typeface="Wingdings 2" panose="05020102010507070707" pitchFamily="18" charset="2"/>
              <a:buNone/>
            </a:pPr>
            <a:r>
              <a:rPr lang="zh-CN" altLang="en-US" sz="1800"/>
              <a:t>  实地址是多少？</a:t>
            </a:r>
          </a:p>
          <a:p>
            <a:pPr>
              <a:buFont typeface="Wingdings 2" panose="05020102010507070707" pitchFamily="18" charset="2"/>
              <a:buNone/>
            </a:pPr>
            <a:endParaRPr lang="zh-CN" altLang="en-US" sz="1800"/>
          </a:p>
        </p:txBody>
      </p:sp>
      <p:graphicFrame>
        <p:nvGraphicFramePr>
          <p:cNvPr id="5" name="内容占位符 4">
            <a:extLst>
              <a:ext uri="{FF2B5EF4-FFF2-40B4-BE49-F238E27FC236}">
                <a16:creationId xmlns:a16="http://schemas.microsoft.com/office/drawing/2014/main" id="{DCAA5B70-3F96-499F-BD85-486581348231}"/>
              </a:ext>
            </a:extLst>
          </p:cNvPr>
          <p:cNvGraphicFramePr>
            <a:graphicFrameLocks noGrp="1"/>
          </p:cNvGraphicFramePr>
          <p:nvPr/>
        </p:nvGraphicFramePr>
        <p:xfrm>
          <a:off x="468313" y="1700213"/>
          <a:ext cx="3311525" cy="1481138"/>
        </p:xfrm>
        <a:graphic>
          <a:graphicData uri="http://schemas.openxmlformats.org/drawingml/2006/table">
            <a:tbl>
              <a:tblPr/>
              <a:tblGrid>
                <a:gridCol w="1103312">
                  <a:extLst>
                    <a:ext uri="{9D8B030D-6E8A-4147-A177-3AD203B41FA5}">
                      <a16:colId xmlns:a16="http://schemas.microsoft.com/office/drawing/2014/main" val="816009946"/>
                    </a:ext>
                  </a:extLst>
                </a:gridCol>
                <a:gridCol w="750888">
                  <a:extLst>
                    <a:ext uri="{9D8B030D-6E8A-4147-A177-3AD203B41FA5}">
                      <a16:colId xmlns:a16="http://schemas.microsoft.com/office/drawing/2014/main" val="2551773652"/>
                    </a:ext>
                  </a:extLst>
                </a:gridCol>
                <a:gridCol w="1457325">
                  <a:extLst>
                    <a:ext uri="{9D8B030D-6E8A-4147-A177-3AD203B41FA5}">
                      <a16:colId xmlns:a16="http://schemas.microsoft.com/office/drawing/2014/main" val="2987482584"/>
                    </a:ext>
                  </a:extLst>
                </a:gridCol>
              </a:tblGrid>
              <a:tr h="366713">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rgbClr val="FFFFFF"/>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楷体_GB2312" pitchFamily="49" charset="-122"/>
                        </a:rPr>
                        <a:t>页号</a:t>
                      </a: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楷体_GB2312" pitchFamily="49" charset="-122"/>
                        </a:rPr>
                        <a:t>页内地址</a:t>
                      </a: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994768907"/>
                  </a:ext>
                </a:extLst>
              </a:tr>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楷体" panose="02010609060101010101" pitchFamily="49" charset="-122"/>
                          <a:ea typeface="楷体" panose="02010609060101010101" pitchFamily="49" charset="-122"/>
                        </a:rPr>
                        <a:t>①</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15</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0324</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214146564"/>
                  </a:ext>
                </a:extLst>
              </a:tr>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楷体" panose="02010609060101010101" pitchFamily="49" charset="-122"/>
                          <a:ea typeface="楷体" panose="02010609060101010101" pitchFamily="49" charset="-122"/>
                        </a:rPr>
                        <a:t>②</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7</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0128</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3578433253"/>
                  </a:ext>
                </a:extLst>
              </a:tr>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楷体" panose="02010609060101010101" pitchFamily="49" charset="-122"/>
                          <a:ea typeface="楷体" panose="02010609060101010101" pitchFamily="49" charset="-122"/>
                        </a:rPr>
                        <a:t>③</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48</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Times New Roman" panose="02020603050405020304" pitchFamily="18" charset="0"/>
                          <a:ea typeface="楷体_GB2312" pitchFamily="49" charset="-122"/>
                        </a:rPr>
                        <a:t>0516</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楷体_GB2312" pitchFamily="49" charset="-122"/>
                      </a:endParaRPr>
                    </a:p>
                  </a:txBody>
                  <a:tcPr marL="91417" marR="91417" marT="45759" marB="4575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434482091"/>
                  </a:ext>
                </a:extLst>
              </a:tr>
            </a:tbl>
          </a:graphicData>
        </a:graphic>
      </p:graphicFrame>
      <p:graphicFrame>
        <p:nvGraphicFramePr>
          <p:cNvPr id="6" name="内容占位符 4">
            <a:extLst>
              <a:ext uri="{FF2B5EF4-FFF2-40B4-BE49-F238E27FC236}">
                <a16:creationId xmlns:a16="http://schemas.microsoft.com/office/drawing/2014/main" id="{8B23043F-1040-46FA-AE22-C9D23DB5E92C}"/>
              </a:ext>
            </a:extLst>
          </p:cNvPr>
          <p:cNvGraphicFramePr>
            <a:graphicFrameLocks noGrp="1"/>
          </p:cNvGraphicFramePr>
          <p:nvPr/>
        </p:nvGraphicFramePr>
        <p:xfrm>
          <a:off x="4572000" y="1628775"/>
          <a:ext cx="4032250" cy="3336932"/>
        </p:xfrm>
        <a:graphic>
          <a:graphicData uri="http://schemas.openxmlformats.org/drawingml/2006/table">
            <a:tbl>
              <a:tblPr/>
              <a:tblGrid>
                <a:gridCol w="1152525">
                  <a:extLst>
                    <a:ext uri="{9D8B030D-6E8A-4147-A177-3AD203B41FA5}">
                      <a16:colId xmlns:a16="http://schemas.microsoft.com/office/drawing/2014/main" val="105210451"/>
                    </a:ext>
                  </a:extLst>
                </a:gridCol>
                <a:gridCol w="2879725">
                  <a:extLst>
                    <a:ext uri="{9D8B030D-6E8A-4147-A177-3AD203B41FA5}">
                      <a16:colId xmlns:a16="http://schemas.microsoft.com/office/drawing/2014/main" val="2498963898"/>
                    </a:ext>
                  </a:extLst>
                </a:gridCol>
              </a:tblGrid>
              <a:tr h="365729">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楷体_GB2312" pitchFamily="49" charset="-122"/>
                        </a:rPr>
                        <a:t>页号</a:t>
                      </a: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楷体_GB2312" pitchFamily="49" charset="-122"/>
                        </a:rPr>
                        <a:t>该页在主存中的起始位置</a:t>
                      </a: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591268177"/>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32</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42000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2331270120"/>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25</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38000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2845237429"/>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7</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96000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137484866"/>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6</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60000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3187591739"/>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4</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40000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3098497541"/>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15</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80000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3233257178"/>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5</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50000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862185590"/>
                  </a:ext>
                </a:extLst>
              </a:tr>
              <a:tr h="371400">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34</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Times New Roman" panose="02020603050405020304" pitchFamily="18" charset="0"/>
                          <a:ea typeface="楷体_GB2312" pitchFamily="49" charset="-122"/>
                        </a:rPr>
                        <a:t>70000</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楷体_GB2312" pitchFamily="49" charset="-122"/>
                      </a:endParaRPr>
                    </a:p>
                  </a:txBody>
                  <a:tcPr marL="91436" marR="91436"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3410881881"/>
                  </a:ext>
                </a:extLst>
              </a:tr>
            </a:tbl>
          </a:graphicData>
        </a:graphic>
      </p:graphicFrame>
    </p:spTree>
  </p:cSld>
  <p:clrMapOvr>
    <a:masterClrMapping/>
  </p:clrMapOvr>
  <p:transition spd="med">
    <p:pull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5E623E-9E01-46CE-B53D-253F0993A40E}"/>
              </a:ext>
            </a:extLst>
          </p:cNvPr>
          <p:cNvSpPr>
            <a:spLocks noGrp="1"/>
          </p:cNvSpPr>
          <p:nvPr>
            <p:ph type="title"/>
          </p:nvPr>
        </p:nvSpPr>
        <p:spPr/>
        <p:txBody>
          <a:bodyPr/>
          <a:lstStyle/>
          <a:p>
            <a:pPr>
              <a:defRPr/>
            </a:pPr>
            <a:r>
              <a:rPr lang="zh-CN" altLang="en-US" dirty="0"/>
              <a:t>例</a:t>
            </a:r>
            <a:r>
              <a:rPr lang="en-US" altLang="zh-CN" dirty="0"/>
              <a:t>2</a:t>
            </a:r>
            <a:endParaRPr lang="zh-CN" altLang="en-US" dirty="0"/>
          </a:p>
        </p:txBody>
      </p:sp>
      <p:sp>
        <p:nvSpPr>
          <p:cNvPr id="3" name="内容占位符 2">
            <a:extLst>
              <a:ext uri="{FF2B5EF4-FFF2-40B4-BE49-F238E27FC236}">
                <a16:creationId xmlns:a16="http://schemas.microsoft.com/office/drawing/2014/main" id="{AE2849EC-5FAC-4FBD-83AA-509E1131A461}"/>
              </a:ext>
            </a:extLst>
          </p:cNvPr>
          <p:cNvSpPr>
            <a:spLocks noGrp="1" noChangeArrowheads="1"/>
          </p:cNvSpPr>
          <p:nvPr>
            <p:ph idx="1"/>
          </p:nvPr>
        </p:nvSpPr>
        <p:spPr/>
        <p:txBody>
          <a:bodyPr/>
          <a:lstStyle/>
          <a:p>
            <a:r>
              <a:rPr lang="zh-CN" altLang="en-US" sz="2400" dirty="0"/>
              <a:t>某计算机主存地址空间大小为</a:t>
            </a:r>
            <a:r>
              <a:rPr lang="en-US" altLang="zh-CN" sz="2400" dirty="0"/>
              <a:t>256MB</a:t>
            </a:r>
            <a:r>
              <a:rPr lang="zh-CN" altLang="en-US" sz="2400" dirty="0"/>
              <a:t>，按字节编址。虚拟地址空间大小为</a:t>
            </a:r>
            <a:r>
              <a:rPr lang="en-US" altLang="zh-CN" sz="2400" dirty="0"/>
              <a:t>4GB</a:t>
            </a:r>
            <a:r>
              <a:rPr lang="zh-CN" altLang="en-US" sz="2400" dirty="0"/>
              <a:t>，采用页式存储管理，页面大小为</a:t>
            </a:r>
            <a:r>
              <a:rPr lang="en-US" altLang="zh-CN" sz="2400" dirty="0"/>
              <a:t>4KB</a:t>
            </a:r>
            <a:r>
              <a:rPr lang="zh-CN" altLang="en-US" sz="2400" dirty="0"/>
              <a:t>，</a:t>
            </a:r>
            <a:r>
              <a:rPr lang="en-US" altLang="zh-CN" sz="2400" dirty="0"/>
              <a:t>TLB</a:t>
            </a:r>
            <a:r>
              <a:rPr lang="zh-CN" altLang="en-US" sz="2400" dirty="0"/>
              <a:t>（快表）采用全相联映射，有</a:t>
            </a:r>
            <a:r>
              <a:rPr lang="en-US" altLang="zh-CN" sz="2400" dirty="0"/>
              <a:t>4</a:t>
            </a:r>
            <a:r>
              <a:rPr lang="zh-CN" altLang="en-US" sz="2400" dirty="0"/>
              <a:t>个页表项，内容如下表所示。</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a:buFont typeface="Wingdings 2" panose="05020102010507070707" pitchFamily="18" charset="2"/>
              <a:buNone/>
            </a:pPr>
            <a:r>
              <a:rPr lang="zh-CN" altLang="en-US" sz="2400" dirty="0"/>
              <a:t>    问对虚拟地址</a:t>
            </a:r>
            <a:r>
              <a:rPr lang="en-US" altLang="zh-CN" sz="2400" dirty="0"/>
              <a:t>03FF F180H</a:t>
            </a:r>
            <a:r>
              <a:rPr lang="zh-CN" altLang="en-US" sz="2400" dirty="0"/>
              <a:t>进行虚实地址变换的结果是多少？</a:t>
            </a:r>
            <a:endParaRPr lang="en-US" altLang="zh-CN" sz="2400" dirty="0"/>
          </a:p>
          <a:p>
            <a:pPr>
              <a:buFont typeface="Wingdings 2" panose="05020102010507070707" pitchFamily="18" charset="2"/>
              <a:buNone/>
            </a:pPr>
            <a:r>
              <a:rPr lang="zh-CN" altLang="en-US" sz="2400" dirty="0"/>
              <a:t>解：</a:t>
            </a:r>
            <a:r>
              <a:rPr lang="en-US" altLang="zh-CN" sz="2400" dirty="0"/>
              <a:t>2</a:t>
            </a:r>
            <a:r>
              <a:rPr lang="en-US" altLang="zh-CN" sz="2400" baseline="30000" dirty="0"/>
              <a:t>12</a:t>
            </a:r>
            <a:r>
              <a:rPr lang="en-US" altLang="zh-CN" sz="2400" dirty="0"/>
              <a:t>=4KB</a:t>
            </a:r>
            <a:r>
              <a:rPr lang="zh-CN" altLang="en-US" sz="2400" dirty="0"/>
              <a:t>，</a:t>
            </a:r>
            <a:r>
              <a:rPr lang="en-US" altLang="zh-CN" sz="2400" dirty="0"/>
              <a:t>2</a:t>
            </a:r>
            <a:r>
              <a:rPr lang="en-US" altLang="zh-CN" sz="2400" baseline="30000" dirty="0"/>
              <a:t>32</a:t>
            </a:r>
            <a:r>
              <a:rPr lang="en-US" altLang="zh-CN" sz="2400" dirty="0"/>
              <a:t>=4GB</a:t>
            </a:r>
            <a:r>
              <a:rPr lang="zh-CN" altLang="en-US" sz="2400" dirty="0"/>
              <a:t>，</a:t>
            </a:r>
            <a:r>
              <a:rPr lang="en-US" altLang="zh-CN" sz="2400" dirty="0"/>
              <a:t>2</a:t>
            </a:r>
            <a:r>
              <a:rPr lang="en-US" altLang="zh-CN" sz="2400" baseline="30000" dirty="0"/>
              <a:t>28</a:t>
            </a:r>
            <a:r>
              <a:rPr lang="en-US" altLang="zh-CN" sz="2400" dirty="0"/>
              <a:t>=256MB</a:t>
            </a:r>
          </a:p>
          <a:p>
            <a:pPr>
              <a:buFont typeface="Wingdings 2" panose="05020102010507070707" pitchFamily="18" charset="2"/>
              <a:buNone/>
            </a:pPr>
            <a:r>
              <a:rPr lang="en-US" altLang="zh-CN" sz="2400" dirty="0"/>
              <a:t>        </a:t>
            </a:r>
            <a:r>
              <a:rPr lang="zh-CN" altLang="en-US" sz="2400" dirty="0"/>
              <a:t>所以，页内地址为</a:t>
            </a:r>
            <a:r>
              <a:rPr lang="en-US" altLang="zh-CN" sz="2400" dirty="0"/>
              <a:t>12</a:t>
            </a:r>
            <a:r>
              <a:rPr lang="zh-CN" altLang="en-US" sz="2400" dirty="0"/>
              <a:t>位；  虚拟地址：</a:t>
            </a:r>
            <a:endParaRPr lang="en-US" altLang="zh-CN" sz="2400" dirty="0"/>
          </a:p>
          <a:p>
            <a:pPr>
              <a:buFont typeface="Wingdings 2" panose="05020102010507070707" pitchFamily="18" charset="2"/>
              <a:buNone/>
            </a:pPr>
            <a:r>
              <a:rPr lang="en-US" altLang="zh-CN" sz="2400" dirty="0"/>
              <a:t>       </a:t>
            </a:r>
            <a:r>
              <a:rPr lang="zh-CN" altLang="en-US" sz="2400" dirty="0"/>
              <a:t>虚拟地址</a:t>
            </a:r>
            <a:r>
              <a:rPr lang="en-US" altLang="zh-CN" sz="2400" dirty="0">
                <a:solidFill>
                  <a:srgbClr val="FF0000"/>
                </a:solidFill>
              </a:rPr>
              <a:t>03FF F</a:t>
            </a:r>
            <a:r>
              <a:rPr lang="en-US" altLang="zh-CN" sz="2400" dirty="0"/>
              <a:t>180H </a:t>
            </a:r>
            <a:r>
              <a:rPr lang="en-US" altLang="zh-CN" sz="2400" dirty="0">
                <a:sym typeface="Symbol" panose="05050102010706020507" pitchFamily="18" charset="2"/>
              </a:rPr>
              <a:t> </a:t>
            </a:r>
            <a:r>
              <a:rPr lang="zh-CN" altLang="en-US" sz="2400" dirty="0">
                <a:sym typeface="Symbol" panose="05050102010706020507" pitchFamily="18" charset="2"/>
              </a:rPr>
              <a:t>物理地址</a:t>
            </a:r>
            <a:endParaRPr lang="zh-CN" altLang="en-US" sz="2400" dirty="0"/>
          </a:p>
        </p:txBody>
      </p:sp>
      <p:graphicFrame>
        <p:nvGraphicFramePr>
          <p:cNvPr id="5" name="表格 4">
            <a:extLst>
              <a:ext uri="{FF2B5EF4-FFF2-40B4-BE49-F238E27FC236}">
                <a16:creationId xmlns:a16="http://schemas.microsoft.com/office/drawing/2014/main" id="{1EF6C7FB-E633-485C-B00C-BEB753724A13}"/>
              </a:ext>
            </a:extLst>
          </p:cNvPr>
          <p:cNvGraphicFramePr>
            <a:graphicFrameLocks noGrp="1"/>
          </p:cNvGraphicFramePr>
          <p:nvPr>
            <p:extLst>
              <p:ext uri="{D42A27DB-BD31-4B8C-83A1-F6EECF244321}">
                <p14:modId xmlns:p14="http://schemas.microsoft.com/office/powerpoint/2010/main" val="2318787802"/>
              </p:ext>
            </p:extLst>
          </p:nvPr>
        </p:nvGraphicFramePr>
        <p:xfrm>
          <a:off x="1600200" y="2590800"/>
          <a:ext cx="6096000" cy="1851660"/>
        </p:xfrm>
        <a:graphic>
          <a:graphicData uri="http://schemas.openxmlformats.org/drawingml/2006/table">
            <a:tbl>
              <a:tblPr/>
              <a:tblGrid>
                <a:gridCol w="1524000">
                  <a:extLst>
                    <a:ext uri="{9D8B030D-6E8A-4147-A177-3AD203B41FA5}">
                      <a16:colId xmlns:a16="http://schemas.microsoft.com/office/drawing/2014/main" val="4134095434"/>
                    </a:ext>
                  </a:extLst>
                </a:gridCol>
                <a:gridCol w="1524000">
                  <a:extLst>
                    <a:ext uri="{9D8B030D-6E8A-4147-A177-3AD203B41FA5}">
                      <a16:colId xmlns:a16="http://schemas.microsoft.com/office/drawing/2014/main" val="1626233511"/>
                    </a:ext>
                  </a:extLst>
                </a:gridCol>
                <a:gridCol w="1524000">
                  <a:extLst>
                    <a:ext uri="{9D8B030D-6E8A-4147-A177-3AD203B41FA5}">
                      <a16:colId xmlns:a16="http://schemas.microsoft.com/office/drawing/2014/main" val="1076648418"/>
                    </a:ext>
                  </a:extLst>
                </a:gridCol>
                <a:gridCol w="1524000">
                  <a:extLst>
                    <a:ext uri="{9D8B030D-6E8A-4147-A177-3AD203B41FA5}">
                      <a16:colId xmlns:a16="http://schemas.microsoft.com/office/drawing/2014/main" val="2882865860"/>
                    </a:ext>
                  </a:extLst>
                </a:gridCol>
              </a:tblGrid>
              <a:tr h="138113">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Times New Roman" panose="02020603050405020304" pitchFamily="18" charset="0"/>
                          <a:ea typeface="楷体_GB2312" pitchFamily="49" charset="-122"/>
                        </a:rPr>
                        <a:t>有效位</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9933"/>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Times New Roman" panose="02020603050405020304" pitchFamily="18" charset="0"/>
                          <a:ea typeface="楷体_GB2312" pitchFamily="49" charset="-122"/>
                        </a:rPr>
                        <a:t>标记</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9933"/>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Times New Roman" panose="02020603050405020304" pitchFamily="18" charset="0"/>
                          <a:ea typeface="楷体_GB2312" pitchFamily="49" charset="-122"/>
                        </a:rPr>
                        <a:t>页框号</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9933"/>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Times New Roman" panose="02020603050405020304" pitchFamily="18" charset="0"/>
                          <a:ea typeface="楷体_GB2312" pitchFamily="49" charset="-122"/>
                        </a:rPr>
                        <a:t>…</a:t>
                      </a:r>
                      <a:endParaRPr kumimoji="0" lang="zh-CN" altLang="en-US" sz="1800" b="1" i="0" u="none" strike="noStrike" cap="none" normalizeH="0" baseline="0" dirty="0">
                        <a:ln>
                          <a:noFill/>
                        </a:ln>
                        <a:solidFill>
                          <a:srgbClr val="FFFFFF"/>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9933"/>
                    </a:solidFill>
                  </a:tcPr>
                </a:tc>
                <a:extLst>
                  <a:ext uri="{0D108BD9-81ED-4DB2-BD59-A6C34878D82A}">
                    <a16:rowId xmlns:a16="http://schemas.microsoft.com/office/drawing/2014/main" val="1195308893"/>
                  </a:ext>
                </a:extLst>
              </a:tr>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FF180H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0002H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3272633621"/>
                  </a:ext>
                </a:extLst>
              </a:tr>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1</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3FFF1H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0035H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4051243781"/>
                  </a:ext>
                </a:extLst>
              </a:tr>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02FF3H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0351H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4145927939"/>
                  </a:ext>
                </a:extLst>
              </a:tr>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1</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03FFFH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Times New Roman" panose="02020603050405020304" pitchFamily="18" charset="0"/>
                          <a:ea typeface="楷体_GB2312" pitchFamily="49" charset="-122"/>
                        </a:rPr>
                        <a:t>0153H</a:t>
                      </a:r>
                      <a:endParaRPr kumimoji="0" lang="zh-CN" altLang="en-US" sz="1800" b="0"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0000"/>
                          </a:solidFill>
                          <a:effectLst/>
                          <a:latin typeface="Times New Roman" panose="02020603050405020304" pitchFamily="18" charset="0"/>
                          <a:ea typeface="楷体_GB2312" pitchFamily="49" charset="-122"/>
                        </a:rPr>
                        <a:t>…</a:t>
                      </a:r>
                      <a:endParaRPr kumimoji="0" lang="zh-CN" altLang="en-US" sz="1800" b="0" i="0" u="none" strike="noStrike" cap="none" normalizeH="0" baseline="0" dirty="0">
                        <a:ln>
                          <a:noFill/>
                        </a:ln>
                        <a:solidFill>
                          <a:srgbClr val="000000"/>
                        </a:solidFill>
                        <a:effectLst/>
                        <a:latin typeface="Times New Roman" panose="02020603050405020304" pitchFamily="18" charset="0"/>
                        <a:ea typeface="楷体_GB2312" pitchFamily="49"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3813111508"/>
                  </a:ext>
                </a:extLst>
              </a:tr>
            </a:tbl>
          </a:graphicData>
        </a:graphic>
      </p:graphicFrame>
      <p:graphicFrame>
        <p:nvGraphicFramePr>
          <p:cNvPr id="6" name="表格 5">
            <a:extLst>
              <a:ext uri="{FF2B5EF4-FFF2-40B4-BE49-F238E27FC236}">
                <a16:creationId xmlns:a16="http://schemas.microsoft.com/office/drawing/2014/main" id="{EA5381F5-F4FD-4D4E-9DFC-9280B91AED8C}"/>
              </a:ext>
            </a:extLst>
          </p:cNvPr>
          <p:cNvGraphicFramePr>
            <a:graphicFrameLocks noGrp="1"/>
          </p:cNvGraphicFramePr>
          <p:nvPr>
            <p:extLst>
              <p:ext uri="{D42A27DB-BD31-4B8C-83A1-F6EECF244321}">
                <p14:modId xmlns:p14="http://schemas.microsoft.com/office/powerpoint/2010/main" val="934575537"/>
              </p:ext>
            </p:extLst>
          </p:nvPr>
        </p:nvGraphicFramePr>
        <p:xfrm>
          <a:off x="5761038" y="5300663"/>
          <a:ext cx="3240087" cy="371475"/>
        </p:xfrm>
        <a:graphic>
          <a:graphicData uri="http://schemas.openxmlformats.org/drawingml/2006/table">
            <a:tbl>
              <a:tblPr/>
              <a:tblGrid>
                <a:gridCol w="1620837">
                  <a:extLst>
                    <a:ext uri="{9D8B030D-6E8A-4147-A177-3AD203B41FA5}">
                      <a16:colId xmlns:a16="http://schemas.microsoft.com/office/drawing/2014/main" val="948705203"/>
                    </a:ext>
                  </a:extLst>
                </a:gridCol>
                <a:gridCol w="1619250">
                  <a:extLst>
                    <a:ext uri="{9D8B030D-6E8A-4147-A177-3AD203B41FA5}">
                      <a16:colId xmlns:a16="http://schemas.microsoft.com/office/drawing/2014/main" val="186982443"/>
                    </a:ext>
                  </a:extLst>
                </a:gridCol>
              </a:tblGrid>
              <a:tr h="371475">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Times New Roman" panose="02020603050405020304" pitchFamily="18" charset="0"/>
                          <a:ea typeface="楷体_GB2312" pitchFamily="49" charset="-122"/>
                        </a:rPr>
                        <a:t>逻辑页号</a:t>
                      </a:r>
                      <a:r>
                        <a:rPr kumimoji="0" lang="en-US" altLang="zh-CN" sz="1800" b="1" i="0" u="none" strike="noStrike" cap="none" normalizeH="0" baseline="0">
                          <a:ln>
                            <a:noFill/>
                          </a:ln>
                          <a:solidFill>
                            <a:srgbClr val="FFFFFF"/>
                          </a:solidFill>
                          <a:effectLst/>
                          <a:latin typeface="Times New Roman" panose="02020603050405020304" pitchFamily="18" charset="0"/>
                          <a:ea typeface="楷体_GB2312" pitchFamily="49" charset="-122"/>
                        </a:rPr>
                        <a:t>20</a:t>
                      </a:r>
                      <a:r>
                        <a:rPr kumimoji="0" lang="zh-CN" altLang="en-US" sz="1800" b="1" i="0" u="none" strike="noStrike" cap="none" normalizeH="0" baseline="0">
                          <a:ln>
                            <a:noFill/>
                          </a:ln>
                          <a:solidFill>
                            <a:srgbClr val="FFFFFF"/>
                          </a:solidFill>
                          <a:effectLst/>
                          <a:latin typeface="Times New Roman" panose="02020603050405020304" pitchFamily="18" charset="0"/>
                          <a:ea typeface="楷体_GB2312" pitchFamily="49" charset="-122"/>
                        </a:rPr>
                        <a:t>位</a:t>
                      </a:r>
                    </a:p>
                  </a:txBody>
                  <a:tcPr marL="91432" marR="91432" marT="45798" marB="4579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9933"/>
                    </a:solidFill>
                  </a:tcPr>
                </a:tc>
                <a:tc>
                  <a:txBody>
                    <a:bodyPr/>
                    <a:lstStyle>
                      <a:lvl1pPr>
                        <a:spcBef>
                          <a:spcPct val="20000"/>
                        </a:spcBef>
                        <a:buClr>
                          <a:srgbClr val="CC3300"/>
                        </a:buClr>
                        <a:buFont typeface="Wingdings 2" panose="05020102010507070707" pitchFamily="18" charset="2"/>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Times New Roman" panose="02020603050405020304" pitchFamily="18" charset="0"/>
                          <a:ea typeface="楷体_GB2312" pitchFamily="49" charset="-122"/>
                        </a:rPr>
                        <a:t>页内地址</a:t>
                      </a:r>
                      <a:r>
                        <a:rPr kumimoji="0" lang="en-US" altLang="zh-CN" sz="1800" b="1" i="0" u="none" strike="noStrike" cap="none" normalizeH="0" baseline="0" dirty="0">
                          <a:ln>
                            <a:noFill/>
                          </a:ln>
                          <a:solidFill>
                            <a:srgbClr val="FFFFFF"/>
                          </a:solidFill>
                          <a:effectLst/>
                          <a:latin typeface="Times New Roman" panose="02020603050405020304" pitchFamily="18" charset="0"/>
                          <a:ea typeface="楷体_GB2312" pitchFamily="49" charset="-122"/>
                        </a:rPr>
                        <a:t>12</a:t>
                      </a:r>
                      <a:r>
                        <a:rPr kumimoji="0" lang="zh-CN" altLang="en-US" sz="1800" b="1" i="0" u="none" strike="noStrike" cap="none" normalizeH="0" baseline="0" dirty="0">
                          <a:ln>
                            <a:noFill/>
                          </a:ln>
                          <a:solidFill>
                            <a:srgbClr val="FFFFFF"/>
                          </a:solidFill>
                          <a:effectLst/>
                          <a:latin typeface="Times New Roman" panose="02020603050405020304" pitchFamily="18" charset="0"/>
                          <a:ea typeface="楷体_GB2312" pitchFamily="49" charset="-122"/>
                        </a:rPr>
                        <a:t>位</a:t>
                      </a:r>
                    </a:p>
                  </a:txBody>
                  <a:tcPr marL="91432" marR="91432" marT="45798" marB="4579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339933"/>
                    </a:solidFill>
                  </a:tcPr>
                </a:tc>
                <a:extLst>
                  <a:ext uri="{0D108BD9-81ED-4DB2-BD59-A6C34878D82A}">
                    <a16:rowId xmlns:a16="http://schemas.microsoft.com/office/drawing/2014/main" val="38759510"/>
                  </a:ext>
                </a:extLst>
              </a:tr>
            </a:tbl>
          </a:graphicData>
        </a:graphic>
      </p:graphicFrame>
      <p:sp>
        <p:nvSpPr>
          <p:cNvPr id="8" name="文本框 7">
            <a:extLst>
              <a:ext uri="{FF2B5EF4-FFF2-40B4-BE49-F238E27FC236}">
                <a16:creationId xmlns:a16="http://schemas.microsoft.com/office/drawing/2014/main" id="{96A3D2ED-D78D-428C-9455-6E713084547D}"/>
              </a:ext>
            </a:extLst>
          </p:cNvPr>
          <p:cNvSpPr txBox="1">
            <a:spLocks noChangeArrowheads="1"/>
          </p:cNvSpPr>
          <p:nvPr/>
        </p:nvSpPr>
        <p:spPr bwMode="auto">
          <a:xfrm>
            <a:off x="5434013" y="5672138"/>
            <a:ext cx="1885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a:t>0153 180H</a:t>
            </a:r>
            <a:endParaRPr lang="zh-CN" altLang="en-US" sz="240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E8B3FA-3808-40FA-8B2D-1066625B622C}"/>
              </a:ext>
            </a:extLst>
          </p:cNvPr>
          <p:cNvSpPr>
            <a:spLocks noGrp="1"/>
          </p:cNvSpPr>
          <p:nvPr>
            <p:ph type="title"/>
          </p:nvPr>
        </p:nvSpPr>
        <p:spPr/>
        <p:txBody>
          <a:bodyPr/>
          <a:lstStyle/>
          <a:p>
            <a:pPr algn="l">
              <a:defRPr/>
            </a:pPr>
            <a:r>
              <a:rPr lang="zh-CN" altLang="en-US"/>
              <a:t>补充          组相联</a:t>
            </a:r>
            <a:r>
              <a:rPr lang="en-US" altLang="zh-CN"/>
              <a:t>TLB</a:t>
            </a:r>
            <a:r>
              <a:rPr lang="zh-CN" altLang="en-US"/>
              <a:t>的访问</a:t>
            </a:r>
          </a:p>
        </p:txBody>
      </p:sp>
      <p:sp>
        <p:nvSpPr>
          <p:cNvPr id="117763" name="内容占位符 2">
            <a:extLst>
              <a:ext uri="{FF2B5EF4-FFF2-40B4-BE49-F238E27FC236}">
                <a16:creationId xmlns:a16="http://schemas.microsoft.com/office/drawing/2014/main" id="{BDE229EA-EFF5-4760-9618-67A0748CB942}"/>
              </a:ext>
            </a:extLst>
          </p:cNvPr>
          <p:cNvSpPr>
            <a:spLocks noGrp="1" noChangeArrowheads="1"/>
          </p:cNvSpPr>
          <p:nvPr>
            <p:ph idx="1"/>
          </p:nvPr>
        </p:nvSpPr>
        <p:spPr/>
        <p:txBody>
          <a:bodyPr/>
          <a:lstStyle/>
          <a:p>
            <a:r>
              <a:rPr lang="en-US" altLang="zh-CN" sz="2800"/>
              <a:t>MMU</a:t>
            </a:r>
            <a:r>
              <a:rPr lang="zh-CN" altLang="en-US" sz="2800"/>
              <a:t>用虚拟地址的</a:t>
            </a:r>
            <a:r>
              <a:rPr lang="en-US" altLang="zh-CN" sz="2800"/>
              <a:t>VPN</a:t>
            </a:r>
            <a:r>
              <a:rPr lang="zh-CN" altLang="en-US" sz="2800"/>
              <a:t>部分访问</a:t>
            </a:r>
            <a:r>
              <a:rPr lang="en-US" altLang="zh-CN" sz="2800"/>
              <a:t>TLB</a:t>
            </a:r>
            <a:endParaRPr lang="zh-CN" altLang="en-US" sz="2800"/>
          </a:p>
        </p:txBody>
      </p:sp>
      <p:sp>
        <p:nvSpPr>
          <p:cNvPr id="5" name="Rectangle 379">
            <a:extLst>
              <a:ext uri="{FF2B5EF4-FFF2-40B4-BE49-F238E27FC236}">
                <a16:creationId xmlns:a16="http://schemas.microsoft.com/office/drawing/2014/main" id="{DFF11CE1-47A7-4E89-96A9-60E8BD6754A7}"/>
              </a:ext>
            </a:extLst>
          </p:cNvPr>
          <p:cNvSpPr>
            <a:spLocks noChangeArrowheads="1"/>
          </p:cNvSpPr>
          <p:nvPr/>
        </p:nvSpPr>
        <p:spPr bwMode="auto">
          <a:xfrm>
            <a:off x="4454525" y="2320925"/>
            <a:ext cx="1658938" cy="304800"/>
          </a:xfrm>
          <a:prstGeom prst="rect">
            <a:avLst/>
          </a:prstGeom>
          <a:solidFill>
            <a:srgbClr val="FFFFFF"/>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800" b="1" kern="0" dirty="0">
                <a:solidFill>
                  <a:srgbClr val="000000"/>
                </a:solidFill>
                <a:latin typeface="Calibri"/>
                <a:ea typeface="+mn-ea"/>
              </a:rPr>
              <a:t>TLB tag</a:t>
            </a:r>
          </a:p>
        </p:txBody>
      </p:sp>
      <p:sp>
        <p:nvSpPr>
          <p:cNvPr id="6" name="Rectangle 380">
            <a:extLst>
              <a:ext uri="{FF2B5EF4-FFF2-40B4-BE49-F238E27FC236}">
                <a16:creationId xmlns:a16="http://schemas.microsoft.com/office/drawing/2014/main" id="{0851D9D9-21DD-4974-8EDA-24EB950C97DB}"/>
              </a:ext>
            </a:extLst>
          </p:cNvPr>
          <p:cNvSpPr>
            <a:spLocks noChangeArrowheads="1"/>
          </p:cNvSpPr>
          <p:nvPr/>
        </p:nvSpPr>
        <p:spPr bwMode="auto">
          <a:xfrm>
            <a:off x="6108700" y="2320925"/>
            <a:ext cx="1770063" cy="304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r>
              <a:rPr kumimoji="0" lang="en-US" sz="1800" b="1" kern="0" dirty="0">
                <a:solidFill>
                  <a:srgbClr val="000000"/>
                </a:solidFill>
                <a:latin typeface="Calibri"/>
                <a:ea typeface="+mn-ea"/>
              </a:rPr>
              <a:t>TLB index</a:t>
            </a:r>
          </a:p>
        </p:txBody>
      </p:sp>
      <p:sp>
        <p:nvSpPr>
          <p:cNvPr id="7" name="Text Box 381">
            <a:extLst>
              <a:ext uri="{FF2B5EF4-FFF2-40B4-BE49-F238E27FC236}">
                <a16:creationId xmlns:a16="http://schemas.microsoft.com/office/drawing/2014/main" id="{4AB8AB3C-0D47-4AF6-A49D-FEB7D5AFAE18}"/>
              </a:ext>
            </a:extLst>
          </p:cNvPr>
          <p:cNvSpPr txBox="1">
            <a:spLocks noChangeArrowheads="1"/>
          </p:cNvSpPr>
          <p:nvPr/>
        </p:nvSpPr>
        <p:spPr bwMode="auto">
          <a:xfrm>
            <a:off x="8670925" y="2019300"/>
            <a:ext cx="288925"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600" b="1">
                <a:solidFill>
                  <a:srgbClr val="000000"/>
                </a:solidFill>
                <a:latin typeface="Calibri"/>
                <a:ea typeface="+mn-ea"/>
              </a:rPr>
              <a:t>0</a:t>
            </a:r>
          </a:p>
        </p:txBody>
      </p:sp>
      <p:sp>
        <p:nvSpPr>
          <p:cNvPr id="8" name="Text Box 382">
            <a:extLst>
              <a:ext uri="{FF2B5EF4-FFF2-40B4-BE49-F238E27FC236}">
                <a16:creationId xmlns:a16="http://schemas.microsoft.com/office/drawing/2014/main" id="{E59907B6-A94A-4B22-91C0-9280E75FFB43}"/>
              </a:ext>
            </a:extLst>
          </p:cNvPr>
          <p:cNvSpPr txBox="1">
            <a:spLocks noChangeArrowheads="1"/>
          </p:cNvSpPr>
          <p:nvPr/>
        </p:nvSpPr>
        <p:spPr bwMode="auto">
          <a:xfrm>
            <a:off x="7842250" y="2019300"/>
            <a:ext cx="461963"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600" b="1">
                <a:solidFill>
                  <a:srgbClr val="000000"/>
                </a:solidFill>
                <a:latin typeface="Calibri"/>
                <a:ea typeface="+mn-ea"/>
              </a:rPr>
              <a:t>p-1</a:t>
            </a:r>
          </a:p>
        </p:txBody>
      </p:sp>
      <p:sp>
        <p:nvSpPr>
          <p:cNvPr id="9" name="Text Box 383">
            <a:extLst>
              <a:ext uri="{FF2B5EF4-FFF2-40B4-BE49-F238E27FC236}">
                <a16:creationId xmlns:a16="http://schemas.microsoft.com/office/drawing/2014/main" id="{C89DEB77-52D4-4EF4-8D19-BD8D140A3F43}"/>
              </a:ext>
            </a:extLst>
          </p:cNvPr>
          <p:cNvSpPr txBox="1">
            <a:spLocks noChangeArrowheads="1"/>
          </p:cNvSpPr>
          <p:nvPr/>
        </p:nvSpPr>
        <p:spPr bwMode="auto">
          <a:xfrm>
            <a:off x="7637463" y="2019300"/>
            <a:ext cx="295275"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600" b="1">
                <a:solidFill>
                  <a:srgbClr val="000000"/>
                </a:solidFill>
                <a:latin typeface="Calibri"/>
                <a:ea typeface="+mn-ea"/>
              </a:rPr>
              <a:t>p</a:t>
            </a:r>
          </a:p>
        </p:txBody>
      </p:sp>
      <p:sp>
        <p:nvSpPr>
          <p:cNvPr id="10" name="Text Box 384">
            <a:extLst>
              <a:ext uri="{FF2B5EF4-FFF2-40B4-BE49-F238E27FC236}">
                <a16:creationId xmlns:a16="http://schemas.microsoft.com/office/drawing/2014/main" id="{5080493A-53B6-4DA0-9982-0269FC8C9DDF}"/>
              </a:ext>
            </a:extLst>
          </p:cNvPr>
          <p:cNvSpPr txBox="1">
            <a:spLocks noChangeArrowheads="1"/>
          </p:cNvSpPr>
          <p:nvPr/>
        </p:nvSpPr>
        <p:spPr bwMode="auto">
          <a:xfrm>
            <a:off x="4343400" y="2019300"/>
            <a:ext cx="461963"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600" b="1" dirty="0">
                <a:solidFill>
                  <a:srgbClr val="000000"/>
                </a:solidFill>
                <a:latin typeface="Calibri"/>
                <a:ea typeface="+mn-ea"/>
              </a:rPr>
              <a:t>n-1</a:t>
            </a:r>
          </a:p>
        </p:txBody>
      </p:sp>
      <p:sp>
        <p:nvSpPr>
          <p:cNvPr id="11" name="Rectangle 385">
            <a:extLst>
              <a:ext uri="{FF2B5EF4-FFF2-40B4-BE49-F238E27FC236}">
                <a16:creationId xmlns:a16="http://schemas.microsoft.com/office/drawing/2014/main" id="{8F161E9D-C94E-49BD-BD36-1D16BC7358AA}"/>
              </a:ext>
            </a:extLst>
          </p:cNvPr>
          <p:cNvSpPr>
            <a:spLocks noChangeArrowheads="1"/>
          </p:cNvSpPr>
          <p:nvPr/>
        </p:nvSpPr>
        <p:spPr bwMode="auto">
          <a:xfrm>
            <a:off x="7880350" y="2320925"/>
            <a:ext cx="919163" cy="304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r>
              <a:rPr kumimoji="0" lang="en-US" sz="1800" b="1" kern="0">
                <a:solidFill>
                  <a:srgbClr val="000000"/>
                </a:solidFill>
                <a:latin typeface="Calibri"/>
                <a:ea typeface="+mn-ea"/>
              </a:rPr>
              <a:t>VPO</a:t>
            </a:r>
          </a:p>
        </p:txBody>
      </p:sp>
      <p:sp>
        <p:nvSpPr>
          <p:cNvPr id="12" name="AutoShape 386">
            <a:extLst>
              <a:ext uri="{FF2B5EF4-FFF2-40B4-BE49-F238E27FC236}">
                <a16:creationId xmlns:a16="http://schemas.microsoft.com/office/drawing/2014/main" id="{44275958-5D47-4B9B-82F7-76E47264A3D0}"/>
              </a:ext>
            </a:extLst>
          </p:cNvPr>
          <p:cNvSpPr>
            <a:spLocks/>
          </p:cNvSpPr>
          <p:nvPr/>
        </p:nvSpPr>
        <p:spPr bwMode="auto">
          <a:xfrm rot="5400000" flipV="1">
            <a:off x="6056313" y="282575"/>
            <a:ext cx="177800" cy="3403600"/>
          </a:xfrm>
          <a:prstGeom prst="leftBrace">
            <a:avLst>
              <a:gd name="adj1" fmla="val 159524"/>
              <a:gd name="adj2" fmla="val 49949"/>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1" fontAlgn="auto" hangingPunct="1">
              <a:spcBef>
                <a:spcPts val="0"/>
              </a:spcBef>
              <a:spcAft>
                <a:spcPts val="0"/>
              </a:spcAft>
              <a:defRPr/>
            </a:pPr>
            <a:endParaRPr kumimoji="0" lang="en-US" sz="1800" b="1" kern="0">
              <a:solidFill>
                <a:srgbClr val="000000"/>
              </a:solidFill>
              <a:latin typeface="Calibri"/>
              <a:ea typeface="+mn-ea"/>
            </a:endParaRPr>
          </a:p>
        </p:txBody>
      </p:sp>
      <p:sp>
        <p:nvSpPr>
          <p:cNvPr id="13" name="Text Box 387">
            <a:extLst>
              <a:ext uri="{FF2B5EF4-FFF2-40B4-BE49-F238E27FC236}">
                <a16:creationId xmlns:a16="http://schemas.microsoft.com/office/drawing/2014/main" id="{890EE33F-E4AB-471D-9B49-1D8CCA2DD983}"/>
              </a:ext>
            </a:extLst>
          </p:cNvPr>
          <p:cNvSpPr txBox="1">
            <a:spLocks noChangeArrowheads="1"/>
          </p:cNvSpPr>
          <p:nvPr/>
        </p:nvSpPr>
        <p:spPr bwMode="auto">
          <a:xfrm>
            <a:off x="5840413" y="1525588"/>
            <a:ext cx="5969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800" b="1" dirty="0">
                <a:solidFill>
                  <a:srgbClr val="000000"/>
                </a:solidFill>
                <a:latin typeface="Calibri"/>
                <a:ea typeface="+mn-ea"/>
              </a:rPr>
              <a:t>VPN</a:t>
            </a:r>
          </a:p>
        </p:txBody>
      </p:sp>
      <p:sp>
        <p:nvSpPr>
          <p:cNvPr id="14" name="Text Box 388">
            <a:extLst>
              <a:ext uri="{FF2B5EF4-FFF2-40B4-BE49-F238E27FC236}">
                <a16:creationId xmlns:a16="http://schemas.microsoft.com/office/drawing/2014/main" id="{1F300A81-903C-42BE-B272-3781021F85A8}"/>
              </a:ext>
            </a:extLst>
          </p:cNvPr>
          <p:cNvSpPr txBox="1">
            <a:spLocks noChangeArrowheads="1"/>
          </p:cNvSpPr>
          <p:nvPr/>
        </p:nvSpPr>
        <p:spPr bwMode="auto">
          <a:xfrm>
            <a:off x="6107113" y="2019300"/>
            <a:ext cx="635000"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600" b="1">
                <a:solidFill>
                  <a:srgbClr val="000000"/>
                </a:solidFill>
                <a:latin typeface="Calibri"/>
                <a:ea typeface="+mn-ea"/>
              </a:rPr>
              <a:t>p+t-1</a:t>
            </a:r>
          </a:p>
        </p:txBody>
      </p:sp>
      <p:sp>
        <p:nvSpPr>
          <p:cNvPr id="15" name="Text Box 389">
            <a:extLst>
              <a:ext uri="{FF2B5EF4-FFF2-40B4-BE49-F238E27FC236}">
                <a16:creationId xmlns:a16="http://schemas.microsoft.com/office/drawing/2014/main" id="{2E2CBE26-EB1D-469C-A3FC-D8ECE8FDFC4C}"/>
              </a:ext>
            </a:extLst>
          </p:cNvPr>
          <p:cNvSpPr txBox="1">
            <a:spLocks noChangeArrowheads="1"/>
          </p:cNvSpPr>
          <p:nvPr/>
        </p:nvSpPr>
        <p:spPr bwMode="auto">
          <a:xfrm>
            <a:off x="5749925" y="2019300"/>
            <a:ext cx="468313"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600" b="1" dirty="0" err="1">
                <a:solidFill>
                  <a:srgbClr val="000000"/>
                </a:solidFill>
                <a:latin typeface="Calibri"/>
                <a:ea typeface="+mn-ea"/>
              </a:rPr>
              <a:t>p+t</a:t>
            </a:r>
            <a:endParaRPr kumimoji="0" lang="en-US" sz="1600" b="1" dirty="0">
              <a:solidFill>
                <a:srgbClr val="000000"/>
              </a:solidFill>
              <a:latin typeface="Calibri"/>
              <a:ea typeface="+mn-ea"/>
            </a:endParaRPr>
          </a:p>
        </p:txBody>
      </p:sp>
      <p:sp>
        <p:nvSpPr>
          <p:cNvPr id="16" name="Rectangle 15">
            <a:extLst>
              <a:ext uri="{FF2B5EF4-FFF2-40B4-BE49-F238E27FC236}">
                <a16:creationId xmlns:a16="http://schemas.microsoft.com/office/drawing/2014/main" id="{69BD9775-B9DF-43EF-B13E-338DF9171BC8}"/>
              </a:ext>
            </a:extLst>
          </p:cNvPr>
          <p:cNvSpPr/>
          <p:nvPr/>
        </p:nvSpPr>
        <p:spPr bwMode="auto">
          <a:xfrm>
            <a:off x="838200" y="3151188"/>
            <a:ext cx="5257800" cy="612775"/>
          </a:xfrm>
          <a:prstGeom prst="rect">
            <a:avLst/>
          </a:prstGeom>
          <a:solidFill>
            <a:srgbClr val="3333CC">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17" name="Rectangle 16">
            <a:extLst>
              <a:ext uri="{FF2B5EF4-FFF2-40B4-BE49-F238E27FC236}">
                <a16:creationId xmlns:a16="http://schemas.microsoft.com/office/drawing/2014/main" id="{27B4C4C1-DFE0-445D-8589-0358AAB0B33A}"/>
              </a:ext>
            </a:extLst>
          </p:cNvPr>
          <p:cNvSpPr/>
          <p:nvPr/>
        </p:nvSpPr>
        <p:spPr bwMode="auto">
          <a:xfrm>
            <a:off x="987425" y="3227388"/>
            <a:ext cx="2378075" cy="460375"/>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18" name="Rectangle 17">
            <a:extLst>
              <a:ext uri="{FF2B5EF4-FFF2-40B4-BE49-F238E27FC236}">
                <a16:creationId xmlns:a16="http://schemas.microsoft.com/office/drawing/2014/main" id="{C77DFD93-2403-442D-9420-235276BEE442}"/>
              </a:ext>
            </a:extLst>
          </p:cNvPr>
          <p:cNvSpPr/>
          <p:nvPr/>
        </p:nvSpPr>
        <p:spPr bwMode="auto">
          <a:xfrm>
            <a:off x="2281238" y="3325813"/>
            <a:ext cx="931862" cy="2667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PTE</a:t>
            </a:r>
          </a:p>
        </p:txBody>
      </p:sp>
      <p:sp>
        <p:nvSpPr>
          <p:cNvPr id="19" name="Rectangle 21">
            <a:extLst>
              <a:ext uri="{FF2B5EF4-FFF2-40B4-BE49-F238E27FC236}">
                <a16:creationId xmlns:a16="http://schemas.microsoft.com/office/drawing/2014/main" id="{90601D1A-A969-44D0-838C-7FC4479AF8CB}"/>
              </a:ext>
            </a:extLst>
          </p:cNvPr>
          <p:cNvSpPr/>
          <p:nvPr/>
        </p:nvSpPr>
        <p:spPr bwMode="auto">
          <a:xfrm>
            <a:off x="1501775" y="3325813"/>
            <a:ext cx="619125" cy="263525"/>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tag</a:t>
            </a:r>
          </a:p>
        </p:txBody>
      </p:sp>
      <p:sp>
        <p:nvSpPr>
          <p:cNvPr id="20" name="Rectangle 22">
            <a:extLst>
              <a:ext uri="{FF2B5EF4-FFF2-40B4-BE49-F238E27FC236}">
                <a16:creationId xmlns:a16="http://schemas.microsoft.com/office/drawing/2014/main" id="{78B19562-2FE2-41EB-8763-D2AD5C3AAB45}"/>
              </a:ext>
            </a:extLst>
          </p:cNvPr>
          <p:cNvSpPr/>
          <p:nvPr/>
        </p:nvSpPr>
        <p:spPr bwMode="auto">
          <a:xfrm>
            <a:off x="1096963" y="3325813"/>
            <a:ext cx="234950" cy="263525"/>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v</a:t>
            </a:r>
          </a:p>
        </p:txBody>
      </p:sp>
      <p:sp>
        <p:nvSpPr>
          <p:cNvPr id="21" name="TextBox 107">
            <a:extLst>
              <a:ext uri="{FF2B5EF4-FFF2-40B4-BE49-F238E27FC236}">
                <a16:creationId xmlns:a16="http://schemas.microsoft.com/office/drawing/2014/main" id="{11B31C99-EEF9-4DF8-BCD8-D4F267ADF779}"/>
              </a:ext>
            </a:extLst>
          </p:cNvPr>
          <p:cNvSpPr txBox="1"/>
          <p:nvPr/>
        </p:nvSpPr>
        <p:spPr>
          <a:xfrm rot="16200000">
            <a:off x="3050382" y="4406106"/>
            <a:ext cx="550862" cy="708025"/>
          </a:xfrm>
          <a:prstGeom prst="rect">
            <a:avLst/>
          </a:prstGeom>
          <a:noFill/>
        </p:spPr>
        <p:txBody>
          <a:bodyPr wrap="none">
            <a:spAutoFit/>
          </a:bodyPr>
          <a:lstStyle/>
          <a:p>
            <a:pPr>
              <a:defRPr/>
            </a:pPr>
            <a:r>
              <a:rPr kumimoji="0" lang="en-US" sz="4000" b="1" dirty="0">
                <a:solidFill>
                  <a:srgbClr val="000000"/>
                </a:solidFill>
                <a:latin typeface="Calibri" pitchFamily="34" charset="0"/>
                <a:ea typeface="+mn-ea"/>
              </a:rPr>
              <a:t>…</a:t>
            </a:r>
          </a:p>
        </p:txBody>
      </p:sp>
      <p:sp>
        <p:nvSpPr>
          <p:cNvPr id="22" name="Rectangle 108">
            <a:extLst>
              <a:ext uri="{FF2B5EF4-FFF2-40B4-BE49-F238E27FC236}">
                <a16:creationId xmlns:a16="http://schemas.microsoft.com/office/drawing/2014/main" id="{C4923869-A541-45CE-BBE3-ED46A2FF109B}"/>
              </a:ext>
            </a:extLst>
          </p:cNvPr>
          <p:cNvSpPr/>
          <p:nvPr/>
        </p:nvSpPr>
        <p:spPr bwMode="auto">
          <a:xfrm>
            <a:off x="3540125" y="3227388"/>
            <a:ext cx="2378075" cy="460375"/>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23" name="Rectangle 109">
            <a:extLst>
              <a:ext uri="{FF2B5EF4-FFF2-40B4-BE49-F238E27FC236}">
                <a16:creationId xmlns:a16="http://schemas.microsoft.com/office/drawing/2014/main" id="{4131CF2F-D6EB-4877-93EF-0B4C5EB7D22E}"/>
              </a:ext>
            </a:extLst>
          </p:cNvPr>
          <p:cNvSpPr/>
          <p:nvPr/>
        </p:nvSpPr>
        <p:spPr bwMode="auto">
          <a:xfrm>
            <a:off x="4833938" y="3325813"/>
            <a:ext cx="931862" cy="266700"/>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a:ea typeface="+mn-ea"/>
              </a:rPr>
              <a:t>PTE</a:t>
            </a:r>
          </a:p>
        </p:txBody>
      </p:sp>
      <p:sp>
        <p:nvSpPr>
          <p:cNvPr id="24" name="Rectangle 110">
            <a:extLst>
              <a:ext uri="{FF2B5EF4-FFF2-40B4-BE49-F238E27FC236}">
                <a16:creationId xmlns:a16="http://schemas.microsoft.com/office/drawing/2014/main" id="{0B9EBD91-1F08-4000-8ED5-F0762C2080E3}"/>
              </a:ext>
            </a:extLst>
          </p:cNvPr>
          <p:cNvSpPr/>
          <p:nvPr/>
        </p:nvSpPr>
        <p:spPr bwMode="auto">
          <a:xfrm>
            <a:off x="4054475" y="3325813"/>
            <a:ext cx="619125" cy="263525"/>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a:ea typeface="+mn-ea"/>
              </a:rPr>
              <a:t>tag</a:t>
            </a:r>
          </a:p>
        </p:txBody>
      </p:sp>
      <p:sp>
        <p:nvSpPr>
          <p:cNvPr id="25" name="Rectangle 111">
            <a:extLst>
              <a:ext uri="{FF2B5EF4-FFF2-40B4-BE49-F238E27FC236}">
                <a16:creationId xmlns:a16="http://schemas.microsoft.com/office/drawing/2014/main" id="{81E8FD7D-B783-4090-AEEF-62494A20991D}"/>
              </a:ext>
            </a:extLst>
          </p:cNvPr>
          <p:cNvSpPr/>
          <p:nvPr/>
        </p:nvSpPr>
        <p:spPr bwMode="auto">
          <a:xfrm>
            <a:off x="3649663" y="3325813"/>
            <a:ext cx="234950" cy="263525"/>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a:ea typeface="+mn-ea"/>
              </a:rPr>
              <a:t>v</a:t>
            </a:r>
          </a:p>
        </p:txBody>
      </p:sp>
      <p:sp>
        <p:nvSpPr>
          <p:cNvPr id="26" name="TextBox 112">
            <a:extLst>
              <a:ext uri="{FF2B5EF4-FFF2-40B4-BE49-F238E27FC236}">
                <a16:creationId xmlns:a16="http://schemas.microsoft.com/office/drawing/2014/main" id="{9EC24CEB-C465-4051-BA18-6FF5A78E507C}"/>
              </a:ext>
            </a:extLst>
          </p:cNvPr>
          <p:cNvSpPr txBox="1"/>
          <p:nvPr/>
        </p:nvSpPr>
        <p:spPr>
          <a:xfrm>
            <a:off x="203200" y="3259138"/>
            <a:ext cx="658813" cy="369887"/>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Set 0</a:t>
            </a:r>
          </a:p>
        </p:txBody>
      </p:sp>
      <p:sp>
        <p:nvSpPr>
          <p:cNvPr id="27" name="Rectangle 113">
            <a:extLst>
              <a:ext uri="{FF2B5EF4-FFF2-40B4-BE49-F238E27FC236}">
                <a16:creationId xmlns:a16="http://schemas.microsoft.com/office/drawing/2014/main" id="{B3AB4D90-FE53-475C-886B-992D0A6582A6}"/>
              </a:ext>
            </a:extLst>
          </p:cNvPr>
          <p:cNvSpPr/>
          <p:nvPr/>
        </p:nvSpPr>
        <p:spPr bwMode="auto">
          <a:xfrm>
            <a:off x="863600" y="3932238"/>
            <a:ext cx="5257800" cy="612775"/>
          </a:xfrm>
          <a:prstGeom prst="rect">
            <a:avLst/>
          </a:prstGeom>
          <a:solidFill>
            <a:srgbClr val="3333CC">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28" name="Rectangle 114">
            <a:extLst>
              <a:ext uri="{FF2B5EF4-FFF2-40B4-BE49-F238E27FC236}">
                <a16:creationId xmlns:a16="http://schemas.microsoft.com/office/drawing/2014/main" id="{2B283608-7160-4E2C-B56C-10F9837C25B0}"/>
              </a:ext>
            </a:extLst>
          </p:cNvPr>
          <p:cNvSpPr/>
          <p:nvPr/>
        </p:nvSpPr>
        <p:spPr bwMode="auto">
          <a:xfrm>
            <a:off x="1012825" y="4008438"/>
            <a:ext cx="2378075" cy="460375"/>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29" name="Rectangle 115">
            <a:extLst>
              <a:ext uri="{FF2B5EF4-FFF2-40B4-BE49-F238E27FC236}">
                <a16:creationId xmlns:a16="http://schemas.microsoft.com/office/drawing/2014/main" id="{EBD10F9B-6FDC-4B96-8E99-076026DED982}"/>
              </a:ext>
            </a:extLst>
          </p:cNvPr>
          <p:cNvSpPr/>
          <p:nvPr/>
        </p:nvSpPr>
        <p:spPr bwMode="auto">
          <a:xfrm>
            <a:off x="2306638" y="4108450"/>
            <a:ext cx="931862" cy="265113"/>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PTE</a:t>
            </a:r>
          </a:p>
        </p:txBody>
      </p:sp>
      <p:sp>
        <p:nvSpPr>
          <p:cNvPr id="30" name="Rectangle 116">
            <a:extLst>
              <a:ext uri="{FF2B5EF4-FFF2-40B4-BE49-F238E27FC236}">
                <a16:creationId xmlns:a16="http://schemas.microsoft.com/office/drawing/2014/main" id="{3EED340A-349D-44E6-AD45-9A3A8056812C}"/>
              </a:ext>
            </a:extLst>
          </p:cNvPr>
          <p:cNvSpPr/>
          <p:nvPr/>
        </p:nvSpPr>
        <p:spPr bwMode="auto">
          <a:xfrm>
            <a:off x="1527175" y="4108450"/>
            <a:ext cx="619125"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tag</a:t>
            </a:r>
          </a:p>
        </p:txBody>
      </p:sp>
      <p:sp>
        <p:nvSpPr>
          <p:cNvPr id="31" name="Rectangle 117">
            <a:extLst>
              <a:ext uri="{FF2B5EF4-FFF2-40B4-BE49-F238E27FC236}">
                <a16:creationId xmlns:a16="http://schemas.microsoft.com/office/drawing/2014/main" id="{AA892B84-56C6-4462-B5B8-2502E9FE19DB}"/>
              </a:ext>
            </a:extLst>
          </p:cNvPr>
          <p:cNvSpPr/>
          <p:nvPr/>
        </p:nvSpPr>
        <p:spPr bwMode="auto">
          <a:xfrm>
            <a:off x="1122363" y="4108450"/>
            <a:ext cx="234950"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v</a:t>
            </a:r>
          </a:p>
        </p:txBody>
      </p:sp>
      <p:sp>
        <p:nvSpPr>
          <p:cNvPr id="32" name="Rectangle 118">
            <a:extLst>
              <a:ext uri="{FF2B5EF4-FFF2-40B4-BE49-F238E27FC236}">
                <a16:creationId xmlns:a16="http://schemas.microsoft.com/office/drawing/2014/main" id="{3F575364-CFC3-492D-B67D-B7331CC9D8E6}"/>
              </a:ext>
            </a:extLst>
          </p:cNvPr>
          <p:cNvSpPr/>
          <p:nvPr/>
        </p:nvSpPr>
        <p:spPr bwMode="auto">
          <a:xfrm>
            <a:off x="3565525" y="4008438"/>
            <a:ext cx="2378075" cy="460375"/>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33" name="Rectangle 119">
            <a:extLst>
              <a:ext uri="{FF2B5EF4-FFF2-40B4-BE49-F238E27FC236}">
                <a16:creationId xmlns:a16="http://schemas.microsoft.com/office/drawing/2014/main" id="{E4716F6A-91C1-4AEF-98C8-37E508984978}"/>
              </a:ext>
            </a:extLst>
          </p:cNvPr>
          <p:cNvSpPr/>
          <p:nvPr/>
        </p:nvSpPr>
        <p:spPr bwMode="auto">
          <a:xfrm>
            <a:off x="4859338" y="4108450"/>
            <a:ext cx="931862" cy="265113"/>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a:ea typeface="+mn-ea"/>
              </a:rPr>
              <a:t>PTE</a:t>
            </a:r>
          </a:p>
        </p:txBody>
      </p:sp>
      <p:sp>
        <p:nvSpPr>
          <p:cNvPr id="34" name="Rectangle 120">
            <a:extLst>
              <a:ext uri="{FF2B5EF4-FFF2-40B4-BE49-F238E27FC236}">
                <a16:creationId xmlns:a16="http://schemas.microsoft.com/office/drawing/2014/main" id="{047BF7EB-130C-45AE-A7CF-D6C9EC02248B}"/>
              </a:ext>
            </a:extLst>
          </p:cNvPr>
          <p:cNvSpPr/>
          <p:nvPr/>
        </p:nvSpPr>
        <p:spPr bwMode="auto">
          <a:xfrm>
            <a:off x="4079875" y="4108450"/>
            <a:ext cx="619125"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a:ea typeface="+mn-ea"/>
              </a:rPr>
              <a:t>tag</a:t>
            </a:r>
          </a:p>
        </p:txBody>
      </p:sp>
      <p:sp>
        <p:nvSpPr>
          <p:cNvPr id="35" name="Rectangle 121">
            <a:extLst>
              <a:ext uri="{FF2B5EF4-FFF2-40B4-BE49-F238E27FC236}">
                <a16:creationId xmlns:a16="http://schemas.microsoft.com/office/drawing/2014/main" id="{FCE6D066-F752-4879-A230-7A75FF579E67}"/>
              </a:ext>
            </a:extLst>
          </p:cNvPr>
          <p:cNvSpPr/>
          <p:nvPr/>
        </p:nvSpPr>
        <p:spPr bwMode="auto">
          <a:xfrm>
            <a:off x="3675063" y="4108450"/>
            <a:ext cx="234950"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a:ea typeface="+mn-ea"/>
              </a:rPr>
              <a:t>v</a:t>
            </a:r>
          </a:p>
        </p:txBody>
      </p:sp>
      <p:sp>
        <p:nvSpPr>
          <p:cNvPr id="36" name="TextBox 122">
            <a:extLst>
              <a:ext uri="{FF2B5EF4-FFF2-40B4-BE49-F238E27FC236}">
                <a16:creationId xmlns:a16="http://schemas.microsoft.com/office/drawing/2014/main" id="{830C8AD9-61CB-40A1-B40F-E8ECC143547A}"/>
              </a:ext>
            </a:extLst>
          </p:cNvPr>
          <p:cNvSpPr txBox="1"/>
          <p:nvPr/>
        </p:nvSpPr>
        <p:spPr>
          <a:xfrm>
            <a:off x="228600" y="4040188"/>
            <a:ext cx="658813" cy="369887"/>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Set 1</a:t>
            </a:r>
          </a:p>
        </p:txBody>
      </p:sp>
      <p:sp>
        <p:nvSpPr>
          <p:cNvPr id="37" name="Rectangle 123">
            <a:extLst>
              <a:ext uri="{FF2B5EF4-FFF2-40B4-BE49-F238E27FC236}">
                <a16:creationId xmlns:a16="http://schemas.microsoft.com/office/drawing/2014/main" id="{EBCB6AF0-E06C-481A-B7DD-828719CEC46A}"/>
              </a:ext>
            </a:extLst>
          </p:cNvPr>
          <p:cNvSpPr/>
          <p:nvPr/>
        </p:nvSpPr>
        <p:spPr bwMode="auto">
          <a:xfrm>
            <a:off x="863600" y="4972050"/>
            <a:ext cx="5257800" cy="612775"/>
          </a:xfrm>
          <a:prstGeom prst="rect">
            <a:avLst/>
          </a:prstGeom>
          <a:solidFill>
            <a:srgbClr val="3333CC">
              <a:lumMod val="20000"/>
              <a:lumOff val="80000"/>
            </a:srgbClr>
          </a:solidFill>
          <a:ln w="28575" cap="flat" cmpd="sng" algn="ctr">
            <a:noFill/>
            <a:prstDash val="solid"/>
            <a:round/>
            <a:headEnd type="none" w="med" len="med"/>
            <a:tailEnd type="triangle" w="med" len="med"/>
          </a:ln>
          <a:effectLst/>
        </p:spPr>
        <p:txBody>
          <a:bodyPr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38" name="Rectangle 124">
            <a:extLst>
              <a:ext uri="{FF2B5EF4-FFF2-40B4-BE49-F238E27FC236}">
                <a16:creationId xmlns:a16="http://schemas.microsoft.com/office/drawing/2014/main" id="{D05C787B-22A5-45F3-908D-F392CC9CBF5B}"/>
              </a:ext>
            </a:extLst>
          </p:cNvPr>
          <p:cNvSpPr/>
          <p:nvPr/>
        </p:nvSpPr>
        <p:spPr bwMode="auto">
          <a:xfrm>
            <a:off x="1012825" y="5048250"/>
            <a:ext cx="2378075" cy="460375"/>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39" name="Rectangle 125">
            <a:extLst>
              <a:ext uri="{FF2B5EF4-FFF2-40B4-BE49-F238E27FC236}">
                <a16:creationId xmlns:a16="http://schemas.microsoft.com/office/drawing/2014/main" id="{9B0981A6-2C98-4BE9-B461-F5939BEAB273}"/>
              </a:ext>
            </a:extLst>
          </p:cNvPr>
          <p:cNvSpPr/>
          <p:nvPr/>
        </p:nvSpPr>
        <p:spPr bwMode="auto">
          <a:xfrm>
            <a:off x="2306638" y="5146675"/>
            <a:ext cx="931862" cy="265113"/>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PTE</a:t>
            </a:r>
          </a:p>
        </p:txBody>
      </p:sp>
      <p:sp>
        <p:nvSpPr>
          <p:cNvPr id="40" name="Rectangle 126">
            <a:extLst>
              <a:ext uri="{FF2B5EF4-FFF2-40B4-BE49-F238E27FC236}">
                <a16:creationId xmlns:a16="http://schemas.microsoft.com/office/drawing/2014/main" id="{90918C3C-327C-4957-A371-BB7F09AD1BD0}"/>
              </a:ext>
            </a:extLst>
          </p:cNvPr>
          <p:cNvSpPr/>
          <p:nvPr/>
        </p:nvSpPr>
        <p:spPr bwMode="auto">
          <a:xfrm>
            <a:off x="1527175" y="5146675"/>
            <a:ext cx="619125"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tag</a:t>
            </a:r>
          </a:p>
        </p:txBody>
      </p:sp>
      <p:sp>
        <p:nvSpPr>
          <p:cNvPr id="41" name="Rectangle 127">
            <a:extLst>
              <a:ext uri="{FF2B5EF4-FFF2-40B4-BE49-F238E27FC236}">
                <a16:creationId xmlns:a16="http://schemas.microsoft.com/office/drawing/2014/main" id="{B65E80FE-510A-457C-8B4C-D34960C07825}"/>
              </a:ext>
            </a:extLst>
          </p:cNvPr>
          <p:cNvSpPr/>
          <p:nvPr/>
        </p:nvSpPr>
        <p:spPr bwMode="auto">
          <a:xfrm>
            <a:off x="1122363" y="5146675"/>
            <a:ext cx="234950"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v</a:t>
            </a:r>
          </a:p>
        </p:txBody>
      </p:sp>
      <p:sp>
        <p:nvSpPr>
          <p:cNvPr id="42" name="Rectangle 128">
            <a:extLst>
              <a:ext uri="{FF2B5EF4-FFF2-40B4-BE49-F238E27FC236}">
                <a16:creationId xmlns:a16="http://schemas.microsoft.com/office/drawing/2014/main" id="{C5E84D31-6AC8-4BF6-B28C-27244BA5AC1B}"/>
              </a:ext>
            </a:extLst>
          </p:cNvPr>
          <p:cNvSpPr/>
          <p:nvPr/>
        </p:nvSpPr>
        <p:spPr bwMode="auto">
          <a:xfrm>
            <a:off x="3565525" y="5048250"/>
            <a:ext cx="2378075" cy="460375"/>
          </a:xfrm>
          <a:prstGeom prst="rect">
            <a:avLst/>
          </a:prstGeom>
          <a:solidFill>
            <a:srgbClr val="3333CC">
              <a:lumMod val="40000"/>
              <a:lumOff val="60000"/>
            </a:srgbClr>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endParaRPr kumimoji="0" lang="en-US" sz="1600" b="1" kern="0" dirty="0">
              <a:solidFill>
                <a:srgbClr val="000000"/>
              </a:solidFill>
              <a:latin typeface="Calibri" pitchFamily="34" charset="0"/>
              <a:ea typeface="+mn-ea"/>
            </a:endParaRPr>
          </a:p>
        </p:txBody>
      </p:sp>
      <p:sp>
        <p:nvSpPr>
          <p:cNvPr id="43" name="Rectangle 129">
            <a:extLst>
              <a:ext uri="{FF2B5EF4-FFF2-40B4-BE49-F238E27FC236}">
                <a16:creationId xmlns:a16="http://schemas.microsoft.com/office/drawing/2014/main" id="{4D396DDB-061F-44B1-96EA-F3A78A8045F7}"/>
              </a:ext>
            </a:extLst>
          </p:cNvPr>
          <p:cNvSpPr/>
          <p:nvPr/>
        </p:nvSpPr>
        <p:spPr bwMode="auto">
          <a:xfrm>
            <a:off x="4859338" y="5146675"/>
            <a:ext cx="931862" cy="265113"/>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PTE</a:t>
            </a:r>
          </a:p>
        </p:txBody>
      </p:sp>
      <p:sp>
        <p:nvSpPr>
          <p:cNvPr id="44" name="Rectangle 130">
            <a:extLst>
              <a:ext uri="{FF2B5EF4-FFF2-40B4-BE49-F238E27FC236}">
                <a16:creationId xmlns:a16="http://schemas.microsoft.com/office/drawing/2014/main" id="{7D417406-F425-4131-9FBB-B87D026D5674}"/>
              </a:ext>
            </a:extLst>
          </p:cNvPr>
          <p:cNvSpPr/>
          <p:nvPr/>
        </p:nvSpPr>
        <p:spPr bwMode="auto">
          <a:xfrm>
            <a:off x="4079875" y="5146675"/>
            <a:ext cx="619125"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tag</a:t>
            </a:r>
          </a:p>
        </p:txBody>
      </p:sp>
      <p:sp>
        <p:nvSpPr>
          <p:cNvPr id="45" name="Rectangle 131">
            <a:extLst>
              <a:ext uri="{FF2B5EF4-FFF2-40B4-BE49-F238E27FC236}">
                <a16:creationId xmlns:a16="http://schemas.microsoft.com/office/drawing/2014/main" id="{9F250AF4-33CC-4D3E-992E-30CC04B8D690}"/>
              </a:ext>
            </a:extLst>
          </p:cNvPr>
          <p:cNvSpPr/>
          <p:nvPr/>
        </p:nvSpPr>
        <p:spPr bwMode="auto">
          <a:xfrm>
            <a:off x="3675063" y="5146675"/>
            <a:ext cx="234950" cy="261938"/>
          </a:xfrm>
          <a:prstGeom prst="rect">
            <a:avLst/>
          </a:prstGeom>
          <a:solidFill>
            <a:srgbClr val="FFFFFF"/>
          </a:solidFill>
          <a:ln w="28575" cap="flat" cmpd="sng" algn="ctr">
            <a:solidFill>
              <a:srgbClr val="000000"/>
            </a:solidFill>
            <a:prstDash val="solid"/>
            <a:round/>
            <a:headEnd type="none" w="med" len="med"/>
            <a:tailEnd type="triangle" w="med" len="med"/>
          </a:ln>
          <a:effectLst/>
        </p:spPr>
        <p:txBody>
          <a:bodyPr wrap="none" anchor="ctr" anchorCtr="1"/>
          <a:lstStyle/>
          <a:p>
            <a:pPr algn="ctr" eaLnBrk="1" fontAlgn="auto" hangingPunct="1">
              <a:spcBef>
                <a:spcPts val="0"/>
              </a:spcBef>
              <a:spcAft>
                <a:spcPts val="0"/>
              </a:spcAft>
              <a:defRPr/>
            </a:pPr>
            <a:r>
              <a:rPr kumimoji="0" lang="en-US" sz="1600" b="1" kern="0" dirty="0">
                <a:solidFill>
                  <a:srgbClr val="000000"/>
                </a:solidFill>
                <a:latin typeface="Calibri" pitchFamily="34" charset="0"/>
                <a:ea typeface="+mn-ea"/>
              </a:rPr>
              <a:t>v</a:t>
            </a:r>
          </a:p>
        </p:txBody>
      </p:sp>
      <p:sp>
        <p:nvSpPr>
          <p:cNvPr id="46" name="TextBox 132">
            <a:extLst>
              <a:ext uri="{FF2B5EF4-FFF2-40B4-BE49-F238E27FC236}">
                <a16:creationId xmlns:a16="http://schemas.microsoft.com/office/drawing/2014/main" id="{6E9BF69B-2B41-42D8-A9E8-FDDF0318CA5C}"/>
              </a:ext>
            </a:extLst>
          </p:cNvPr>
          <p:cNvSpPr txBox="1"/>
          <p:nvPr/>
        </p:nvSpPr>
        <p:spPr>
          <a:xfrm>
            <a:off x="0" y="5078413"/>
            <a:ext cx="844550" cy="369887"/>
          </a:xfrm>
          <a:prstGeom prst="rect">
            <a:avLst/>
          </a:prstGeom>
          <a:noFill/>
        </p:spPr>
        <p:txBody>
          <a:bodyPr wrap="none">
            <a:spAutoFit/>
          </a:bodyPr>
          <a:lstStyle/>
          <a:p>
            <a:pPr>
              <a:defRPr/>
            </a:pPr>
            <a:r>
              <a:rPr kumimoji="0" lang="en-US" sz="1800" b="1" dirty="0">
                <a:solidFill>
                  <a:srgbClr val="000000"/>
                </a:solidFill>
                <a:latin typeface="Calibri" pitchFamily="34" charset="0"/>
                <a:ea typeface="+mn-ea"/>
              </a:rPr>
              <a:t>Set T-1</a:t>
            </a:r>
          </a:p>
        </p:txBody>
      </p:sp>
      <p:sp>
        <p:nvSpPr>
          <p:cNvPr id="47" name="TextBox 133">
            <a:extLst>
              <a:ext uri="{FF2B5EF4-FFF2-40B4-BE49-F238E27FC236}">
                <a16:creationId xmlns:a16="http://schemas.microsoft.com/office/drawing/2014/main" id="{2ADCD64E-19A0-4D9A-9AE8-406FDCFFCE6E}"/>
              </a:ext>
            </a:extLst>
          </p:cNvPr>
          <p:cNvSpPr txBox="1"/>
          <p:nvPr/>
        </p:nvSpPr>
        <p:spPr>
          <a:xfrm>
            <a:off x="7377113" y="1341438"/>
            <a:ext cx="1143000" cy="368300"/>
          </a:xfrm>
          <a:prstGeom prst="rect">
            <a:avLst/>
          </a:prstGeom>
          <a:noFill/>
        </p:spPr>
        <p:txBody>
          <a:bodyPr>
            <a:spAutoFit/>
          </a:bodyPr>
          <a:lstStyle/>
          <a:p>
            <a:pPr>
              <a:defRPr/>
            </a:pPr>
            <a:r>
              <a:rPr kumimoji="0" lang="en-US" sz="1800" b="1" dirty="0">
                <a:solidFill>
                  <a:srgbClr val="000000"/>
                </a:solidFill>
                <a:latin typeface="Calibri"/>
                <a:ea typeface="+mn-ea"/>
              </a:rPr>
              <a:t>T = 2</a:t>
            </a:r>
            <a:r>
              <a:rPr kumimoji="0" lang="en-US" sz="1800" b="1" baseline="30000" dirty="0">
                <a:solidFill>
                  <a:srgbClr val="000000"/>
                </a:solidFill>
                <a:latin typeface="Calibri"/>
                <a:ea typeface="+mn-ea"/>
              </a:rPr>
              <a:t>t</a:t>
            </a:r>
            <a:r>
              <a:rPr kumimoji="0" lang="en-US" sz="1800" b="1" dirty="0">
                <a:solidFill>
                  <a:srgbClr val="000000"/>
                </a:solidFill>
                <a:latin typeface="Calibri"/>
                <a:ea typeface="+mn-ea"/>
              </a:rPr>
              <a:t> sets</a:t>
            </a:r>
            <a:endParaRPr kumimoji="0" lang="en-US" sz="1800" b="1" baseline="30000" dirty="0">
              <a:solidFill>
                <a:srgbClr val="000000"/>
              </a:solidFill>
              <a:latin typeface="Calibri"/>
              <a:ea typeface="+mn-ea"/>
            </a:endParaRPr>
          </a:p>
        </p:txBody>
      </p:sp>
      <p:grpSp>
        <p:nvGrpSpPr>
          <p:cNvPr id="48" name="Group 149">
            <a:extLst>
              <a:ext uri="{FF2B5EF4-FFF2-40B4-BE49-F238E27FC236}">
                <a16:creationId xmlns:a16="http://schemas.microsoft.com/office/drawing/2014/main" id="{06396BEE-B67A-40C4-9445-88121156C6AB}"/>
              </a:ext>
            </a:extLst>
          </p:cNvPr>
          <p:cNvGrpSpPr>
            <a:grpSpLocks/>
          </p:cNvGrpSpPr>
          <p:nvPr/>
        </p:nvGrpSpPr>
        <p:grpSpPr bwMode="auto">
          <a:xfrm>
            <a:off x="6121400" y="2625725"/>
            <a:ext cx="2678113" cy="1663700"/>
            <a:chOff x="6121401" y="3213100"/>
            <a:chExt cx="2678112" cy="1663700"/>
          </a:xfrm>
        </p:grpSpPr>
        <p:cxnSp>
          <p:nvCxnSpPr>
            <p:cNvPr id="117817" name="Straight Connector 135">
              <a:extLst>
                <a:ext uri="{FF2B5EF4-FFF2-40B4-BE49-F238E27FC236}">
                  <a16:creationId xmlns:a16="http://schemas.microsoft.com/office/drawing/2014/main" id="{7DF7D0E2-AAEF-4829-B5E9-E8E9121B2D5F}"/>
                </a:ext>
              </a:extLst>
            </p:cNvPr>
            <p:cNvCxnSpPr>
              <a:cxnSpLocks noChangeShapeType="1"/>
            </p:cNvCxnSpPr>
            <p:nvPr/>
          </p:nvCxnSpPr>
          <p:spPr bwMode="auto">
            <a:xfrm>
              <a:off x="6993732" y="3213100"/>
              <a:ext cx="0" cy="1663700"/>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cxnSp>
          <p:nvCxnSpPr>
            <p:cNvPr id="117818" name="Straight Arrow Connector 139">
              <a:extLst>
                <a:ext uri="{FF2B5EF4-FFF2-40B4-BE49-F238E27FC236}">
                  <a16:creationId xmlns:a16="http://schemas.microsoft.com/office/drawing/2014/main" id="{CD392C0A-D670-4FAF-839B-47A315498740}"/>
                </a:ext>
              </a:extLst>
            </p:cNvPr>
            <p:cNvCxnSpPr>
              <a:cxnSpLocks noChangeShapeType="1"/>
            </p:cNvCxnSpPr>
            <p:nvPr/>
          </p:nvCxnSpPr>
          <p:spPr bwMode="auto">
            <a:xfrm flipH="1">
              <a:off x="6121401" y="4876800"/>
              <a:ext cx="872331" cy="0"/>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51" name="TextBox 142">
              <a:extLst>
                <a:ext uri="{FF2B5EF4-FFF2-40B4-BE49-F238E27FC236}">
                  <a16:creationId xmlns:a16="http://schemas.microsoft.com/office/drawing/2014/main" id="{BD4214D4-CBC0-41DA-AAA5-5EDF6DFF5AA8}"/>
                </a:ext>
              </a:extLst>
            </p:cNvPr>
            <p:cNvSpPr txBox="1"/>
            <p:nvPr/>
          </p:nvSpPr>
          <p:spPr>
            <a:xfrm>
              <a:off x="7086601" y="4178300"/>
              <a:ext cx="1712912" cy="646113"/>
            </a:xfrm>
            <a:prstGeom prst="rect">
              <a:avLst/>
            </a:prstGeom>
            <a:noFill/>
          </p:spPr>
          <p:txBody>
            <a:bodyPr>
              <a:spAutoFit/>
            </a:bodyPr>
            <a:lstStyle/>
            <a:p>
              <a:pPr eaLnBrk="1" fontAlgn="auto" hangingPunct="1">
                <a:spcBef>
                  <a:spcPts val="0"/>
                </a:spcBef>
                <a:spcAft>
                  <a:spcPts val="0"/>
                </a:spcAft>
                <a:defRPr/>
              </a:pPr>
              <a:r>
                <a:rPr kumimoji="0" lang="en-US" sz="1800" b="1" kern="0" dirty="0">
                  <a:solidFill>
                    <a:srgbClr val="000000"/>
                  </a:solidFill>
                  <a:latin typeface="Calibri"/>
                  <a:ea typeface="+mn-ea"/>
                </a:rPr>
                <a:t>TLB </a:t>
              </a:r>
              <a:r>
                <a:rPr kumimoji="0" lang="en-US" altLang="zh-CN" sz="1800" b="1" kern="0" dirty="0">
                  <a:solidFill>
                    <a:srgbClr val="000000"/>
                  </a:solidFill>
                  <a:latin typeface="Calibri"/>
                  <a:ea typeface="+mn-ea"/>
                </a:rPr>
                <a:t>index</a:t>
              </a:r>
              <a:r>
                <a:rPr kumimoji="0" lang="en-US" sz="1800" b="1" kern="0" dirty="0">
                  <a:solidFill>
                    <a:srgbClr val="000000"/>
                  </a:solidFill>
                  <a:latin typeface="Calibri"/>
                  <a:ea typeface="+mn-ea"/>
                </a:rPr>
                <a:t> selects the set</a:t>
              </a:r>
            </a:p>
          </p:txBody>
        </p:sp>
      </p:grpSp>
      <p:grpSp>
        <p:nvGrpSpPr>
          <p:cNvPr id="52" name="Group 150">
            <a:extLst>
              <a:ext uri="{FF2B5EF4-FFF2-40B4-BE49-F238E27FC236}">
                <a16:creationId xmlns:a16="http://schemas.microsoft.com/office/drawing/2014/main" id="{F2557DDD-944B-430F-BB24-6EC3B67C3BFE}"/>
              </a:ext>
            </a:extLst>
          </p:cNvPr>
          <p:cNvGrpSpPr>
            <a:grpSpLocks/>
          </p:cNvGrpSpPr>
          <p:nvPr/>
        </p:nvGrpSpPr>
        <p:grpSpPr bwMode="auto">
          <a:xfrm>
            <a:off x="1828800" y="1817688"/>
            <a:ext cx="2625725" cy="2290762"/>
            <a:chOff x="1828800" y="1847794"/>
            <a:chExt cx="2625726" cy="2259959"/>
          </a:xfrm>
        </p:grpSpPr>
        <p:cxnSp>
          <p:nvCxnSpPr>
            <p:cNvPr id="117814" name="Straight Connector 144">
              <a:extLst>
                <a:ext uri="{FF2B5EF4-FFF2-40B4-BE49-F238E27FC236}">
                  <a16:creationId xmlns:a16="http://schemas.microsoft.com/office/drawing/2014/main" id="{3967679D-0169-4C5A-B64B-8E49BD46597E}"/>
                </a:ext>
              </a:extLst>
            </p:cNvPr>
            <p:cNvCxnSpPr>
              <a:cxnSpLocks noChangeShapeType="1"/>
              <a:stCxn id="5" idx="1"/>
            </p:cNvCxnSpPr>
            <p:nvPr/>
          </p:nvCxnSpPr>
          <p:spPr bwMode="auto">
            <a:xfrm flipH="1" flipV="1">
              <a:off x="1828800" y="2459916"/>
              <a:ext cx="2625726" cy="12700"/>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cxnSp>
          <p:nvCxnSpPr>
            <p:cNvPr id="117815" name="Straight Arrow Connector 146">
              <a:extLst>
                <a:ext uri="{FF2B5EF4-FFF2-40B4-BE49-F238E27FC236}">
                  <a16:creationId xmlns:a16="http://schemas.microsoft.com/office/drawing/2014/main" id="{97F70EEA-009E-4644-B1AA-B35DD1A7CF98}"/>
                </a:ext>
              </a:extLst>
            </p:cNvPr>
            <p:cNvCxnSpPr>
              <a:cxnSpLocks noChangeShapeType="1"/>
              <a:endCxn id="30" idx="0"/>
            </p:cNvCxnSpPr>
            <p:nvPr/>
          </p:nvCxnSpPr>
          <p:spPr bwMode="auto">
            <a:xfrm>
              <a:off x="1828800" y="2459916"/>
              <a:ext cx="8283" cy="164783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55" name="TextBox 147">
              <a:extLst>
                <a:ext uri="{FF2B5EF4-FFF2-40B4-BE49-F238E27FC236}">
                  <a16:creationId xmlns:a16="http://schemas.microsoft.com/office/drawing/2014/main" id="{6F123CE0-CD4F-406F-B712-1C00A69F935E}"/>
                </a:ext>
              </a:extLst>
            </p:cNvPr>
            <p:cNvSpPr txBox="1"/>
            <p:nvPr/>
          </p:nvSpPr>
          <p:spPr>
            <a:xfrm>
              <a:off x="2216150" y="1847794"/>
              <a:ext cx="2062164" cy="646821"/>
            </a:xfrm>
            <a:prstGeom prst="rect">
              <a:avLst/>
            </a:prstGeom>
            <a:noFill/>
          </p:spPr>
          <p:txBody>
            <a:bodyPr>
              <a:spAutoFit/>
            </a:bodyPr>
            <a:lstStyle/>
            <a:p>
              <a:pPr eaLnBrk="1" fontAlgn="auto" hangingPunct="1">
                <a:spcBef>
                  <a:spcPts val="0"/>
                </a:spcBef>
                <a:spcAft>
                  <a:spcPts val="0"/>
                </a:spcAft>
                <a:defRPr/>
              </a:pPr>
              <a:r>
                <a:rPr kumimoji="0" lang="en-US" sz="1800" b="1" kern="0" dirty="0">
                  <a:solidFill>
                    <a:srgbClr val="000000"/>
                  </a:solidFill>
                  <a:latin typeface="Calibri" pitchFamily="34" charset="0"/>
                  <a:ea typeface="+mn-ea"/>
                </a:rPr>
                <a:t>TLBT matches tag of line within set</a:t>
              </a:r>
            </a:p>
          </p:txBody>
        </p:sp>
      </p:grpSp>
      <p:sp>
        <p:nvSpPr>
          <p:cNvPr id="117810" name="圆角矩形 55">
            <a:extLst>
              <a:ext uri="{FF2B5EF4-FFF2-40B4-BE49-F238E27FC236}">
                <a16:creationId xmlns:a16="http://schemas.microsoft.com/office/drawing/2014/main" id="{D84D6494-B4B4-4C42-875C-54602CBAA99B}"/>
              </a:ext>
            </a:extLst>
          </p:cNvPr>
          <p:cNvSpPr>
            <a:spLocks noChangeArrowheads="1"/>
          </p:cNvSpPr>
          <p:nvPr/>
        </p:nvSpPr>
        <p:spPr bwMode="auto">
          <a:xfrm>
            <a:off x="34925" y="2924175"/>
            <a:ext cx="6553200" cy="3097213"/>
          </a:xfrm>
          <a:prstGeom prst="roundRect">
            <a:avLst>
              <a:gd name="adj" fmla="val 16667"/>
            </a:avLst>
          </a:prstGeom>
          <a:noFill/>
          <a:ln w="19050" algn="ctr">
            <a:solidFill>
              <a:srgbClr val="C00000"/>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20000"/>
              </a:spcBef>
              <a:buFont typeface="Wingdings" panose="05000000000000000000" pitchFamily="2" charset="2"/>
              <a:buNone/>
            </a:pPr>
            <a:endParaRPr lang="zh-CN" altLang="en-US"/>
          </a:p>
        </p:txBody>
      </p:sp>
      <p:sp>
        <p:nvSpPr>
          <p:cNvPr id="117811" name="文本框 56">
            <a:extLst>
              <a:ext uri="{FF2B5EF4-FFF2-40B4-BE49-F238E27FC236}">
                <a16:creationId xmlns:a16="http://schemas.microsoft.com/office/drawing/2014/main" id="{2A146406-CF40-4B0F-9F29-AD6EAE07BAE1}"/>
              </a:ext>
            </a:extLst>
          </p:cNvPr>
          <p:cNvSpPr txBox="1">
            <a:spLocks noChangeArrowheads="1"/>
          </p:cNvSpPr>
          <p:nvPr/>
        </p:nvSpPr>
        <p:spPr bwMode="auto">
          <a:xfrm>
            <a:off x="3084513" y="5591175"/>
            <a:ext cx="765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2400">
                <a:solidFill>
                  <a:srgbClr val="C00000"/>
                </a:solidFill>
              </a:rPr>
              <a:t>TLB</a:t>
            </a:r>
            <a:endParaRPr lang="zh-CN" altLang="en-US" sz="2400">
              <a:solidFill>
                <a:srgbClr val="C00000"/>
              </a:solidFill>
            </a:endParaRPr>
          </a:p>
        </p:txBody>
      </p:sp>
      <p:sp>
        <p:nvSpPr>
          <p:cNvPr id="58" name="Text Box 384">
            <a:extLst>
              <a:ext uri="{FF2B5EF4-FFF2-40B4-BE49-F238E27FC236}">
                <a16:creationId xmlns:a16="http://schemas.microsoft.com/office/drawing/2014/main" id="{15340777-0061-4701-B25C-AD1907E1A332}"/>
              </a:ext>
            </a:extLst>
          </p:cNvPr>
          <p:cNvSpPr txBox="1">
            <a:spLocks noChangeArrowheads="1"/>
          </p:cNvSpPr>
          <p:nvPr/>
        </p:nvSpPr>
        <p:spPr bwMode="auto">
          <a:xfrm>
            <a:off x="2057400" y="2878138"/>
            <a:ext cx="288925"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sz="1600" b="1" dirty="0">
                <a:solidFill>
                  <a:srgbClr val="000000"/>
                </a:solidFill>
                <a:latin typeface="Calibri"/>
                <a:ea typeface="+mn-ea"/>
              </a:rPr>
              <a:t>0</a:t>
            </a:r>
          </a:p>
        </p:txBody>
      </p:sp>
      <p:sp>
        <p:nvSpPr>
          <p:cNvPr id="59" name="Text Box 384">
            <a:extLst>
              <a:ext uri="{FF2B5EF4-FFF2-40B4-BE49-F238E27FC236}">
                <a16:creationId xmlns:a16="http://schemas.microsoft.com/office/drawing/2014/main" id="{6F51BC48-8BF6-4AC4-B3F5-5BE762B3BAEA}"/>
              </a:ext>
            </a:extLst>
          </p:cNvPr>
          <p:cNvSpPr txBox="1">
            <a:spLocks noChangeArrowheads="1"/>
          </p:cNvSpPr>
          <p:nvPr/>
        </p:nvSpPr>
        <p:spPr bwMode="auto">
          <a:xfrm>
            <a:off x="4530725" y="2889250"/>
            <a:ext cx="447675"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r>
              <a:rPr kumimoji="0" lang="en-US" altLang="zh-CN" sz="1600" b="1" dirty="0">
                <a:solidFill>
                  <a:srgbClr val="000000"/>
                </a:solidFill>
                <a:latin typeface="Calibri"/>
                <a:ea typeface="+mn-ea"/>
              </a:rPr>
              <a:t>v</a:t>
            </a:r>
            <a:r>
              <a:rPr kumimoji="0" lang="en-US" sz="1600" b="1" dirty="0">
                <a:solidFill>
                  <a:srgbClr val="000000"/>
                </a:solidFill>
                <a:latin typeface="Calibri"/>
                <a:ea typeface="+mn-ea"/>
              </a:rPr>
              <a:t>-1</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B9DDFA-F3C5-43D8-BBD5-BAD74D178975}"/>
              </a:ext>
            </a:extLst>
          </p:cNvPr>
          <p:cNvSpPr>
            <a:spLocks noGrp="1"/>
          </p:cNvSpPr>
          <p:nvPr>
            <p:ph type="title"/>
          </p:nvPr>
        </p:nvSpPr>
        <p:spPr/>
        <p:txBody>
          <a:bodyPr/>
          <a:lstStyle/>
          <a:p>
            <a:pPr>
              <a:defRPr/>
            </a:pPr>
            <a:r>
              <a:rPr lang="zh-CN" altLang="en-US"/>
              <a:t>多级页表</a:t>
            </a:r>
          </a:p>
        </p:txBody>
      </p:sp>
      <p:sp>
        <p:nvSpPr>
          <p:cNvPr id="3" name="内容占位符 2">
            <a:extLst>
              <a:ext uri="{FF2B5EF4-FFF2-40B4-BE49-F238E27FC236}">
                <a16:creationId xmlns:a16="http://schemas.microsoft.com/office/drawing/2014/main" id="{43209660-BC03-4760-9215-2865B3A10240}"/>
              </a:ext>
            </a:extLst>
          </p:cNvPr>
          <p:cNvSpPr>
            <a:spLocks noGrp="1" noChangeArrowheads="1"/>
          </p:cNvSpPr>
          <p:nvPr>
            <p:ph idx="1"/>
          </p:nvPr>
        </p:nvSpPr>
        <p:spPr/>
        <p:txBody>
          <a:bodyPr/>
          <a:lstStyle/>
          <a:p>
            <a:pPr marL="0" indent="0">
              <a:buFont typeface="Wingdings 2" panose="05020102010507070707" pitchFamily="18" charset="2"/>
              <a:buNone/>
            </a:pPr>
            <a:r>
              <a:rPr lang="zh-CN" altLang="en-US" sz="2800"/>
              <a:t>考虑如下系统</a:t>
            </a:r>
            <a:endParaRPr lang="en-US" altLang="zh-CN" sz="2800"/>
          </a:p>
          <a:p>
            <a:pPr marL="0" indent="0"/>
            <a:r>
              <a:rPr lang="en-US" altLang="zh-CN" sz="2800"/>
              <a:t>4KB</a:t>
            </a:r>
            <a:r>
              <a:rPr lang="zh-CN" altLang="en-US" sz="2800"/>
              <a:t>页大小，</a:t>
            </a:r>
            <a:r>
              <a:rPr lang="en-US" altLang="zh-CN" sz="2800"/>
              <a:t>48</a:t>
            </a:r>
            <a:r>
              <a:rPr lang="zh-CN" altLang="en-US" sz="2800"/>
              <a:t>位虚拟地址空间，每个页表项</a:t>
            </a:r>
            <a:r>
              <a:rPr lang="en-US" altLang="zh-CN" sz="2800"/>
              <a:t>8</a:t>
            </a:r>
            <a:r>
              <a:rPr lang="zh-CN" altLang="en-US" sz="2800"/>
              <a:t>字节</a:t>
            </a:r>
            <a:endParaRPr lang="en-US" altLang="zh-CN" sz="2800"/>
          </a:p>
          <a:p>
            <a:pPr marL="0" indent="0"/>
            <a:r>
              <a:rPr lang="zh-CN" altLang="en-US" sz="2800"/>
              <a:t>页表大小？</a:t>
            </a:r>
            <a:endParaRPr lang="en-US" altLang="zh-CN" sz="2800"/>
          </a:p>
          <a:p>
            <a:pPr lvl="1"/>
            <a:r>
              <a:rPr lang="en-US" altLang="zh-CN" sz="2400"/>
              <a:t>2</a:t>
            </a:r>
            <a:r>
              <a:rPr lang="en-US" altLang="zh-CN" sz="2400" baseline="30000"/>
              <a:t>48  </a:t>
            </a:r>
            <a:r>
              <a:rPr lang="zh-CN" altLang="en-US" sz="2400">
                <a:sym typeface="Symbol" panose="05050102010706020507" pitchFamily="18" charset="2"/>
              </a:rPr>
              <a:t> </a:t>
            </a:r>
            <a:r>
              <a:rPr lang="en-US" altLang="zh-CN" sz="2400">
                <a:sym typeface="Symbol" panose="05050102010706020507" pitchFamily="18" charset="2"/>
              </a:rPr>
              <a:t>2</a:t>
            </a:r>
            <a:r>
              <a:rPr lang="en-US" altLang="zh-CN" sz="2400" baseline="30000">
                <a:sym typeface="Symbol" panose="05050102010706020507" pitchFamily="18" charset="2"/>
              </a:rPr>
              <a:t>-</a:t>
            </a:r>
            <a:r>
              <a:rPr lang="en-US" altLang="zh-CN" sz="2400" baseline="30000"/>
              <a:t>12</a:t>
            </a:r>
            <a:r>
              <a:rPr lang="zh-CN" altLang="en-US" sz="2400">
                <a:solidFill>
                  <a:srgbClr val="000000"/>
                </a:solidFill>
                <a:ea typeface="楷体_GB2312" pitchFamily="49" charset="-122"/>
                <a:sym typeface="Symbol" panose="05050102010706020507" pitchFamily="18" charset="2"/>
              </a:rPr>
              <a:t>  </a:t>
            </a:r>
            <a:r>
              <a:rPr lang="en-US" altLang="zh-CN" sz="2400"/>
              <a:t>2</a:t>
            </a:r>
            <a:r>
              <a:rPr lang="en-US" altLang="zh-CN" sz="2400" baseline="30000"/>
              <a:t>3 </a:t>
            </a:r>
            <a:r>
              <a:rPr lang="en-US" altLang="zh-CN" sz="2400"/>
              <a:t>= 2</a:t>
            </a:r>
            <a:r>
              <a:rPr lang="en-US" altLang="zh-CN" sz="2400" baseline="30000"/>
              <a:t>39 </a:t>
            </a:r>
            <a:r>
              <a:rPr lang="en-US" altLang="zh-CN" sz="2400"/>
              <a:t> = 512GB</a:t>
            </a:r>
          </a:p>
          <a:p>
            <a:pPr marL="0" indent="0"/>
            <a:r>
              <a:rPr lang="zh-CN" altLang="en-US" sz="2800"/>
              <a:t>页表必须放在主存中，如何解决？</a:t>
            </a:r>
            <a:endParaRPr lang="en-US" altLang="zh-CN" sz="2800"/>
          </a:p>
          <a:p>
            <a:pPr marL="0" indent="0"/>
            <a:r>
              <a:rPr lang="zh-CN" altLang="en-US" sz="2800"/>
              <a:t>多级层次结构页表</a:t>
            </a:r>
            <a:endParaRPr lang="en-US" altLang="zh-CN" sz="2800"/>
          </a:p>
          <a:p>
            <a:pPr marL="0" indent="0"/>
            <a:r>
              <a:rPr lang="zh-CN" altLang="en-US" sz="2800"/>
              <a:t>二级页表</a:t>
            </a:r>
            <a:endParaRPr lang="en-US" altLang="zh-CN" sz="2800"/>
          </a:p>
          <a:p>
            <a:pPr lvl="1"/>
            <a:r>
              <a:rPr lang="zh-CN" altLang="en-US" sz="2400"/>
              <a:t>一级页表（驻留主存）：每个表项</a:t>
            </a:r>
            <a:endParaRPr lang="en-US" altLang="zh-CN" sz="2400"/>
          </a:p>
          <a:p>
            <a:pPr lvl="1">
              <a:buFont typeface="Wingdings" panose="05000000000000000000" pitchFamily="2" charset="2"/>
              <a:buNone/>
            </a:pPr>
            <a:r>
              <a:rPr lang="zh-CN" altLang="en-US" sz="2400"/>
              <a:t>    指向一个二级页表</a:t>
            </a:r>
            <a:endParaRPr lang="en-US" altLang="zh-CN" sz="2400"/>
          </a:p>
          <a:p>
            <a:pPr lvl="1"/>
            <a:r>
              <a:rPr lang="zh-CN" altLang="en-US" sz="2400"/>
              <a:t>二级页表（可被调入调出）：每个表项指向一个页</a:t>
            </a:r>
          </a:p>
          <a:p>
            <a:pPr lvl="1"/>
            <a:endParaRPr lang="zh-CN" altLang="en-US" sz="2400"/>
          </a:p>
        </p:txBody>
      </p:sp>
      <p:grpSp>
        <p:nvGrpSpPr>
          <p:cNvPr id="5" name="Group 1">
            <a:extLst>
              <a:ext uri="{FF2B5EF4-FFF2-40B4-BE49-F238E27FC236}">
                <a16:creationId xmlns:a16="http://schemas.microsoft.com/office/drawing/2014/main" id="{F821D446-5BB6-46E8-9451-FC7D7BEFD867}"/>
              </a:ext>
            </a:extLst>
          </p:cNvPr>
          <p:cNvGrpSpPr>
            <a:grpSpLocks/>
          </p:cNvGrpSpPr>
          <p:nvPr/>
        </p:nvGrpSpPr>
        <p:grpSpPr bwMode="auto">
          <a:xfrm>
            <a:off x="6243638" y="1844675"/>
            <a:ext cx="2671762" cy="4697413"/>
            <a:chOff x="6243743" y="1333500"/>
            <a:chExt cx="2671657" cy="4696895"/>
          </a:xfrm>
        </p:grpSpPr>
        <p:sp>
          <p:nvSpPr>
            <p:cNvPr id="6" name="Text Box 3">
              <a:extLst>
                <a:ext uri="{FF2B5EF4-FFF2-40B4-BE49-F238E27FC236}">
                  <a16:creationId xmlns:a16="http://schemas.microsoft.com/office/drawing/2014/main" id="{5BACD021-A8CE-48D5-B330-93E25433FDB6}"/>
                </a:ext>
              </a:extLst>
            </p:cNvPr>
            <p:cNvSpPr txBox="1">
              <a:spLocks noChangeArrowheads="1"/>
            </p:cNvSpPr>
            <p:nvPr/>
          </p:nvSpPr>
          <p:spPr bwMode="auto">
            <a:xfrm>
              <a:off x="6243743" y="2719235"/>
              <a:ext cx="842929" cy="666676"/>
            </a:xfrm>
            <a:prstGeom prst="rect">
              <a:avLst/>
            </a:prstGeom>
            <a:noFill/>
            <a:ln w="9525">
              <a:noFill/>
              <a:round/>
              <a:headEnd/>
              <a:tailEnd/>
            </a:ln>
            <a:effectLst/>
          </p:spPr>
          <p:txBody>
            <a:bodyPr wrap="none" lIns="90360" tIns="44280" rIns="90360" bIns="44280">
              <a:spAutoFit/>
            </a:bodyPr>
            <a:lstStyle/>
            <a:p>
              <a:pPr algn="ctr">
                <a:lnSpc>
                  <a:spcPct val="88000"/>
                </a:lnSpc>
                <a:spcBef>
                  <a:spcPts val="6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dirty="0">
                  <a:solidFill>
                    <a:srgbClr val="000000"/>
                  </a:solidFill>
                  <a:latin typeface="Calibri" pitchFamily="34" charset="0"/>
                  <a:ea typeface="+mn-ea"/>
                </a:rPr>
                <a:t>Level 1</a:t>
              </a:r>
            </a:p>
            <a:p>
              <a:pPr algn="ctr">
                <a:lnSpc>
                  <a:spcPct val="88000"/>
                </a:lnSpc>
                <a:spcBef>
                  <a:spcPts val="6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dirty="0">
                  <a:solidFill>
                    <a:srgbClr val="000000"/>
                  </a:solidFill>
                  <a:latin typeface="Calibri" pitchFamily="34" charset="0"/>
                  <a:ea typeface="+mn-ea"/>
                </a:rPr>
                <a:t>Table</a:t>
              </a:r>
            </a:p>
          </p:txBody>
        </p:sp>
        <p:sp>
          <p:nvSpPr>
            <p:cNvPr id="7" name="Rectangle 4">
              <a:extLst>
                <a:ext uri="{FF2B5EF4-FFF2-40B4-BE49-F238E27FC236}">
                  <a16:creationId xmlns:a16="http://schemas.microsoft.com/office/drawing/2014/main" id="{3A3AF6BA-14F7-4292-85C4-E21911D4C42D}"/>
                </a:ext>
              </a:extLst>
            </p:cNvPr>
            <p:cNvSpPr>
              <a:spLocks noChangeArrowheads="1"/>
            </p:cNvSpPr>
            <p:nvPr/>
          </p:nvSpPr>
          <p:spPr bwMode="auto">
            <a:xfrm>
              <a:off x="6327877" y="3363689"/>
              <a:ext cx="758795" cy="1142874"/>
            </a:xfrm>
            <a:prstGeom prst="rect">
              <a:avLst/>
            </a:prstGeom>
            <a:solidFill>
              <a:srgbClr val="F6F5BD"/>
            </a:solidFill>
            <a:ln w="28575" cap="flat" cmpd="sng" algn="ctr">
              <a:solidFill>
                <a:srgbClr val="000000"/>
              </a:solidFill>
              <a:prstDash val="solid"/>
              <a:miter lim="800000"/>
              <a:headEnd type="none" w="med" len="med"/>
              <a:tailEnd type="none" w="med" len="me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8" name="Rectangle 5">
              <a:extLst>
                <a:ext uri="{FF2B5EF4-FFF2-40B4-BE49-F238E27FC236}">
                  <a16:creationId xmlns:a16="http://schemas.microsoft.com/office/drawing/2014/main" id="{73FABE8C-3931-4A19-A32A-EDF4551C3F44}"/>
                </a:ext>
              </a:extLst>
            </p:cNvPr>
            <p:cNvSpPr>
              <a:spLocks noChangeArrowheads="1"/>
            </p:cNvSpPr>
            <p:nvPr/>
          </p:nvSpPr>
          <p:spPr bwMode="auto">
            <a:xfrm>
              <a:off x="8170892" y="1992240"/>
              <a:ext cx="700059" cy="1142874"/>
            </a:xfrm>
            <a:prstGeom prst="rect">
              <a:avLst/>
            </a:prstGeom>
            <a:solidFill>
              <a:srgbClr val="DBF2DA"/>
            </a:solidFill>
            <a:ln w="28575" cap="flat" cmpd="sng" algn="ctr">
              <a:solidFill>
                <a:srgbClr val="000000"/>
              </a:solidFill>
              <a:prstDash val="solid"/>
              <a:miter lim="800000"/>
              <a:headEnd type="none" w="med" len="med"/>
              <a:tailEnd type="none" w="med" len="me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9" name="Rectangle 6">
              <a:extLst>
                <a:ext uri="{FF2B5EF4-FFF2-40B4-BE49-F238E27FC236}">
                  <a16:creationId xmlns:a16="http://schemas.microsoft.com/office/drawing/2014/main" id="{6BB8059B-2990-4E9F-AC48-EA1A6F5C673D}"/>
                </a:ext>
              </a:extLst>
            </p:cNvPr>
            <p:cNvSpPr>
              <a:spLocks noChangeArrowheads="1"/>
            </p:cNvSpPr>
            <p:nvPr/>
          </p:nvSpPr>
          <p:spPr bwMode="auto">
            <a:xfrm>
              <a:off x="8170892" y="3363689"/>
              <a:ext cx="700059" cy="1142874"/>
            </a:xfrm>
            <a:prstGeom prst="rect">
              <a:avLst/>
            </a:prstGeom>
            <a:solidFill>
              <a:srgbClr val="DBF2DA"/>
            </a:solidFill>
            <a:ln w="28575" cap="flat" cmpd="sng" algn="ctr">
              <a:solidFill>
                <a:srgbClr val="000000"/>
              </a:solidFill>
              <a:prstDash val="solid"/>
              <a:miter lim="800000"/>
              <a:headEnd type="none" w="med" len="med"/>
              <a:tailEnd type="none" w="med" len="me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10" name="Rectangle 7">
              <a:extLst>
                <a:ext uri="{FF2B5EF4-FFF2-40B4-BE49-F238E27FC236}">
                  <a16:creationId xmlns:a16="http://schemas.microsoft.com/office/drawing/2014/main" id="{761EEF2F-D830-4176-A7FE-1ED7C5467BEE}"/>
                </a:ext>
              </a:extLst>
            </p:cNvPr>
            <p:cNvSpPr>
              <a:spLocks noChangeArrowheads="1"/>
            </p:cNvSpPr>
            <p:nvPr/>
          </p:nvSpPr>
          <p:spPr bwMode="auto">
            <a:xfrm>
              <a:off x="8170892" y="4887521"/>
              <a:ext cx="700059" cy="1142874"/>
            </a:xfrm>
            <a:prstGeom prst="rect">
              <a:avLst/>
            </a:prstGeom>
            <a:solidFill>
              <a:srgbClr val="DBF2DA"/>
            </a:solidFill>
            <a:ln w="28575" cap="flat" cmpd="sng" algn="ctr">
              <a:solidFill>
                <a:srgbClr val="000000"/>
              </a:solidFill>
              <a:prstDash val="solid"/>
              <a:miter lim="800000"/>
              <a:headEnd type="none" w="med" len="med"/>
              <a:tailEnd type="none" w="med" len="me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11" name="Text Box 8">
              <a:extLst>
                <a:ext uri="{FF2B5EF4-FFF2-40B4-BE49-F238E27FC236}">
                  <a16:creationId xmlns:a16="http://schemas.microsoft.com/office/drawing/2014/main" id="{8DBAC340-9099-42BB-935B-D78311793975}"/>
                </a:ext>
              </a:extLst>
            </p:cNvPr>
            <p:cNvSpPr txBox="1">
              <a:spLocks noChangeArrowheads="1"/>
            </p:cNvSpPr>
            <p:nvPr/>
          </p:nvSpPr>
          <p:spPr bwMode="auto">
            <a:xfrm rot="16200000">
              <a:off x="8261389" y="4527186"/>
              <a:ext cx="365085" cy="333362"/>
            </a:xfrm>
            <a:prstGeom prst="rect">
              <a:avLst/>
            </a:prstGeom>
            <a:noFill/>
            <a:ln w="9525">
              <a:noFill/>
              <a:round/>
              <a:headEnd/>
              <a:tailEnd/>
            </a:ln>
            <a:effectLst/>
          </p:spPr>
          <p:txBody>
            <a:bodyPr wrap="none" lIns="90360" tIns="44280" rIns="90360" bIns="44280">
              <a:spAutoFit/>
            </a:bodyPr>
            <a:lstStyle/>
            <a:p>
              <a:pPr>
                <a:lnSpc>
                  <a:spcPct val="88000"/>
                </a:lnSpc>
                <a:spcBef>
                  <a:spcPts val="6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dirty="0">
                  <a:solidFill>
                    <a:srgbClr val="003300"/>
                  </a:solidFill>
                  <a:latin typeface="Calibri" pitchFamily="34" charset="0"/>
                  <a:ea typeface="+mn-ea"/>
                </a:rPr>
                <a:t>...</a:t>
              </a:r>
            </a:p>
          </p:txBody>
        </p:sp>
        <p:sp>
          <p:nvSpPr>
            <p:cNvPr id="12" name="Text Box 9">
              <a:extLst>
                <a:ext uri="{FF2B5EF4-FFF2-40B4-BE49-F238E27FC236}">
                  <a16:creationId xmlns:a16="http://schemas.microsoft.com/office/drawing/2014/main" id="{0002E8F6-87EB-44D7-9BAC-6E6C8C8FD935}"/>
                </a:ext>
              </a:extLst>
            </p:cNvPr>
            <p:cNvSpPr txBox="1">
              <a:spLocks noChangeArrowheads="1"/>
            </p:cNvSpPr>
            <p:nvPr/>
          </p:nvSpPr>
          <p:spPr bwMode="auto">
            <a:xfrm>
              <a:off x="8072471" y="1333500"/>
              <a:ext cx="842929" cy="666676"/>
            </a:xfrm>
            <a:prstGeom prst="rect">
              <a:avLst/>
            </a:prstGeom>
            <a:noFill/>
            <a:ln w="9525">
              <a:noFill/>
              <a:round/>
              <a:headEnd/>
              <a:tailEnd/>
            </a:ln>
            <a:effectLst/>
          </p:spPr>
          <p:txBody>
            <a:bodyPr wrap="none" lIns="90360" tIns="44280" rIns="90360" bIns="44280">
              <a:spAutoFit/>
            </a:bodyPr>
            <a:lstStyle/>
            <a:p>
              <a:pPr algn="ctr">
                <a:lnSpc>
                  <a:spcPct val="88000"/>
                </a:lnSpc>
                <a:spcBef>
                  <a:spcPts val="6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dirty="0">
                  <a:solidFill>
                    <a:srgbClr val="000000"/>
                  </a:solidFill>
                  <a:latin typeface="Calibri" pitchFamily="34" charset="0"/>
                  <a:ea typeface="+mn-ea"/>
                </a:rPr>
                <a:t>Level 2</a:t>
              </a:r>
            </a:p>
            <a:p>
              <a:pPr>
                <a:lnSpc>
                  <a:spcPct val="88000"/>
                </a:lnSpc>
                <a:spcBef>
                  <a:spcPts val="6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dirty="0">
                  <a:solidFill>
                    <a:srgbClr val="000000"/>
                  </a:solidFill>
                  <a:latin typeface="Calibri" pitchFamily="34" charset="0"/>
                  <a:ea typeface="+mn-ea"/>
                </a:rPr>
                <a:t>Tables</a:t>
              </a:r>
            </a:p>
          </p:txBody>
        </p:sp>
        <p:sp>
          <p:nvSpPr>
            <p:cNvPr id="13" name="Line 10">
              <a:extLst>
                <a:ext uri="{FF2B5EF4-FFF2-40B4-BE49-F238E27FC236}">
                  <a16:creationId xmlns:a16="http://schemas.microsoft.com/office/drawing/2014/main" id="{75784DFE-9630-496F-847A-2EB582F4A7A4}"/>
                </a:ext>
              </a:extLst>
            </p:cNvPr>
            <p:cNvSpPr>
              <a:spLocks noChangeShapeType="1"/>
            </p:cNvSpPr>
            <p:nvPr/>
          </p:nvSpPr>
          <p:spPr bwMode="auto">
            <a:xfrm flipV="1">
              <a:off x="6875543" y="1990653"/>
              <a:ext cx="1295349" cy="1450815"/>
            </a:xfrm>
            <a:prstGeom prst="line">
              <a:avLst/>
            </a:prstGeom>
            <a:noFill/>
            <a:ln w="25273">
              <a:solidFill>
                <a:srgbClr val="000000"/>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14" name="Line 11">
              <a:extLst>
                <a:ext uri="{FF2B5EF4-FFF2-40B4-BE49-F238E27FC236}">
                  <a16:creationId xmlns:a16="http://schemas.microsoft.com/office/drawing/2014/main" id="{A15E84E0-561C-47B0-B0D0-B370F94815E4}"/>
                </a:ext>
              </a:extLst>
            </p:cNvPr>
            <p:cNvSpPr>
              <a:spLocks noChangeShapeType="1"/>
            </p:cNvSpPr>
            <p:nvPr/>
          </p:nvSpPr>
          <p:spPr bwMode="auto">
            <a:xfrm flipV="1">
              <a:off x="6875543" y="3362101"/>
              <a:ext cx="1295349" cy="231749"/>
            </a:xfrm>
            <a:prstGeom prst="line">
              <a:avLst/>
            </a:prstGeom>
            <a:noFill/>
            <a:ln w="25273">
              <a:solidFill>
                <a:srgbClr val="000000"/>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15" name="Line 12">
              <a:extLst>
                <a:ext uri="{FF2B5EF4-FFF2-40B4-BE49-F238E27FC236}">
                  <a16:creationId xmlns:a16="http://schemas.microsoft.com/office/drawing/2014/main" id="{11498D43-AA72-4909-9933-74E6579FE79E}"/>
                </a:ext>
              </a:extLst>
            </p:cNvPr>
            <p:cNvSpPr>
              <a:spLocks noChangeShapeType="1"/>
            </p:cNvSpPr>
            <p:nvPr/>
          </p:nvSpPr>
          <p:spPr bwMode="auto">
            <a:xfrm>
              <a:off x="7027937" y="4424022"/>
              <a:ext cx="1142955" cy="463499"/>
            </a:xfrm>
            <a:prstGeom prst="line">
              <a:avLst/>
            </a:prstGeom>
            <a:noFill/>
            <a:ln w="25273">
              <a:solidFill>
                <a:srgbClr val="000000"/>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16" name="Line 13">
              <a:extLst>
                <a:ext uri="{FF2B5EF4-FFF2-40B4-BE49-F238E27FC236}">
                  <a16:creationId xmlns:a16="http://schemas.microsoft.com/office/drawing/2014/main" id="{2CBDB668-864C-496B-8F50-FBA8BB7E980C}"/>
                </a:ext>
              </a:extLst>
            </p:cNvPr>
            <p:cNvSpPr>
              <a:spLocks noChangeShapeType="1"/>
            </p:cNvSpPr>
            <p:nvPr/>
          </p:nvSpPr>
          <p:spPr bwMode="auto">
            <a:xfrm>
              <a:off x="6332640" y="3516072"/>
              <a:ext cx="761970" cy="1587"/>
            </a:xfrm>
            <a:prstGeom prst="line">
              <a:avLst/>
            </a:prstGeom>
            <a:noFill/>
            <a:ln w="19080">
              <a:solidFill>
                <a:srgbClr val="003300"/>
              </a:solidFill>
              <a:miter lim="800000"/>
              <a:headEnd/>
              <a:tailEnd/>
            </a:ln>
            <a:effectLst/>
          </p:spPr>
          <p:txBody>
            <a:bodyPr/>
            <a:lstStyle/>
            <a:p>
              <a:pPr>
                <a:defRPr/>
              </a:pPr>
              <a:endParaRPr kumimoji="0" lang="en-US" sz="2400" b="1">
                <a:solidFill>
                  <a:srgbClr val="000000"/>
                </a:solidFill>
                <a:latin typeface="Arial Narrow" pitchFamily="34" charset="0"/>
                <a:ea typeface="+mn-ea"/>
              </a:endParaRPr>
            </a:p>
          </p:txBody>
        </p:sp>
        <p:sp>
          <p:nvSpPr>
            <p:cNvPr id="17" name="Line 14">
              <a:extLst>
                <a:ext uri="{FF2B5EF4-FFF2-40B4-BE49-F238E27FC236}">
                  <a16:creationId xmlns:a16="http://schemas.microsoft.com/office/drawing/2014/main" id="{FAF936E1-8FE1-4F29-B8ED-D4DE0A064BB3}"/>
                </a:ext>
              </a:extLst>
            </p:cNvPr>
            <p:cNvSpPr>
              <a:spLocks noChangeShapeType="1"/>
            </p:cNvSpPr>
            <p:nvPr/>
          </p:nvSpPr>
          <p:spPr bwMode="auto">
            <a:xfrm>
              <a:off x="6332640" y="3668455"/>
              <a:ext cx="761970" cy="1587"/>
            </a:xfrm>
            <a:prstGeom prst="line">
              <a:avLst/>
            </a:prstGeom>
            <a:noFill/>
            <a:ln w="19080">
              <a:solidFill>
                <a:srgbClr val="003300"/>
              </a:solidFill>
              <a:miter lim="800000"/>
              <a:headEnd/>
              <a:tailEnd/>
            </a:ln>
            <a:effectLst/>
          </p:spPr>
          <p:txBody>
            <a:bodyPr/>
            <a:lstStyle/>
            <a:p>
              <a:pPr>
                <a:defRPr/>
              </a:pPr>
              <a:endParaRPr kumimoji="0" lang="en-US" sz="2400" b="1">
                <a:solidFill>
                  <a:srgbClr val="000000"/>
                </a:solidFill>
                <a:latin typeface="Arial Narrow" pitchFamily="34" charset="0"/>
                <a:ea typeface="+mn-ea"/>
              </a:endParaRPr>
            </a:p>
          </p:txBody>
        </p:sp>
        <p:sp>
          <p:nvSpPr>
            <p:cNvPr id="18" name="Line 15">
              <a:extLst>
                <a:ext uri="{FF2B5EF4-FFF2-40B4-BE49-F238E27FC236}">
                  <a16:creationId xmlns:a16="http://schemas.microsoft.com/office/drawing/2014/main" id="{A59B5D1D-E201-4D95-A86E-3C962018967D}"/>
                </a:ext>
              </a:extLst>
            </p:cNvPr>
            <p:cNvSpPr>
              <a:spLocks noChangeShapeType="1"/>
            </p:cNvSpPr>
            <p:nvPr/>
          </p:nvSpPr>
          <p:spPr bwMode="auto">
            <a:xfrm>
              <a:off x="6332640" y="4354180"/>
              <a:ext cx="761970" cy="1587"/>
            </a:xfrm>
            <a:prstGeom prst="line">
              <a:avLst/>
            </a:prstGeom>
            <a:noFill/>
            <a:ln w="19080">
              <a:solidFill>
                <a:srgbClr val="003300"/>
              </a:solidFill>
              <a:miter lim="800000"/>
              <a:headEnd/>
              <a:tailEnd/>
            </a:ln>
            <a:effectLst/>
          </p:spPr>
          <p:txBody>
            <a:bodyPr/>
            <a:lstStyle/>
            <a:p>
              <a:pPr>
                <a:defRPr/>
              </a:pPr>
              <a:endParaRPr kumimoji="0" lang="en-US" sz="2400" b="1">
                <a:solidFill>
                  <a:srgbClr val="000000"/>
                </a:solidFill>
                <a:latin typeface="Arial Narrow" pitchFamily="34" charset="0"/>
                <a:ea typeface="+mn-ea"/>
              </a:endParaRPr>
            </a:p>
          </p:txBody>
        </p:sp>
        <p:sp>
          <p:nvSpPr>
            <p:cNvPr id="19" name="Text Box 16">
              <a:extLst>
                <a:ext uri="{FF2B5EF4-FFF2-40B4-BE49-F238E27FC236}">
                  <a16:creationId xmlns:a16="http://schemas.microsoft.com/office/drawing/2014/main" id="{B2E4757F-5D8C-4C8B-A119-2507ECEC4EDB}"/>
                </a:ext>
              </a:extLst>
            </p:cNvPr>
            <p:cNvSpPr txBox="1">
              <a:spLocks noChangeArrowheads="1"/>
            </p:cNvSpPr>
            <p:nvPr/>
          </p:nvSpPr>
          <p:spPr bwMode="auto">
            <a:xfrm>
              <a:off x="6572342" y="3820839"/>
              <a:ext cx="427021" cy="271432"/>
            </a:xfrm>
            <a:prstGeom prst="rect">
              <a:avLst/>
            </a:prstGeom>
            <a:noFill/>
            <a:ln w="9525">
              <a:noFill/>
              <a:round/>
              <a:headEnd/>
              <a:tailEnd/>
            </a:ln>
            <a:effectLst/>
          </p:spPr>
          <p:txBody>
            <a:bodyPr vert="eaVert" wrap="none" lIns="90360" tIns="44280" rIns="90360" bIns="44280">
              <a:spAutoFit/>
            </a:bodyPr>
            <a:lstStyle/>
            <a:p>
              <a:pPr rtl="1">
                <a:lnSpc>
                  <a:spcPct val="88000"/>
                </a:lnSpc>
                <a:spcBef>
                  <a:spcPts val="6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dirty="0">
                  <a:solidFill>
                    <a:srgbClr val="003300"/>
                  </a:solidFill>
                  <a:latin typeface="Calibri" pitchFamily="34" charset="0"/>
                  <a:ea typeface="+mn-ea"/>
                </a:rPr>
                <a:t>...</a:t>
              </a: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993322-EAF5-4AF9-A321-56CF9A817DD3}"/>
              </a:ext>
            </a:extLst>
          </p:cNvPr>
          <p:cNvSpPr>
            <a:spLocks noGrp="1"/>
          </p:cNvSpPr>
          <p:nvPr>
            <p:ph type="title"/>
          </p:nvPr>
        </p:nvSpPr>
        <p:spPr/>
        <p:txBody>
          <a:bodyPr/>
          <a:lstStyle/>
          <a:p>
            <a:pPr>
              <a:defRPr/>
            </a:pPr>
            <a:r>
              <a:rPr lang="zh-CN" altLang="en-US" dirty="0"/>
              <a:t>二级页表层次结构（</a:t>
            </a:r>
            <a:r>
              <a:rPr lang="en-US" altLang="zh-CN" dirty="0"/>
              <a:t>32</a:t>
            </a:r>
            <a:r>
              <a:rPr lang="zh-CN" altLang="en-US" dirty="0"/>
              <a:t>位地址）</a:t>
            </a:r>
          </a:p>
        </p:txBody>
      </p:sp>
      <p:sp>
        <p:nvSpPr>
          <p:cNvPr id="5" name="Text Box 2">
            <a:extLst>
              <a:ext uri="{FF2B5EF4-FFF2-40B4-BE49-F238E27FC236}">
                <a16:creationId xmlns:a16="http://schemas.microsoft.com/office/drawing/2014/main" id="{C2A7A862-64B7-4ECE-B5F8-09681F086E87}"/>
              </a:ext>
            </a:extLst>
          </p:cNvPr>
          <p:cNvSpPr txBox="1">
            <a:spLocks noChangeArrowheads="1"/>
          </p:cNvSpPr>
          <p:nvPr/>
        </p:nvSpPr>
        <p:spPr bwMode="auto">
          <a:xfrm>
            <a:off x="742950" y="908050"/>
            <a:ext cx="1206500" cy="654050"/>
          </a:xfrm>
          <a:prstGeom prst="rect">
            <a:avLst/>
          </a:prstGeom>
          <a:noFill/>
          <a:ln w="9525">
            <a:noFill/>
            <a:round/>
            <a:headEnd/>
            <a:tailEnd/>
          </a:ln>
          <a:effectLst/>
        </p:spPr>
        <p:txBody>
          <a:bodyPr wrap="none" lIns="90360" tIns="44280" rIns="90360" bIns="44280">
            <a:spAutoFit/>
          </a:bodyPr>
          <a:lstStyle/>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Level 1</a:t>
            </a:r>
          </a:p>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page table</a:t>
            </a:r>
          </a:p>
        </p:txBody>
      </p:sp>
      <p:sp>
        <p:nvSpPr>
          <p:cNvPr id="6" name="Text Box 3">
            <a:extLst>
              <a:ext uri="{FF2B5EF4-FFF2-40B4-BE49-F238E27FC236}">
                <a16:creationId xmlns:a16="http://schemas.microsoft.com/office/drawing/2014/main" id="{B07DF24F-0192-46CD-B7BE-4E60A0D10C25}"/>
              </a:ext>
            </a:extLst>
          </p:cNvPr>
          <p:cNvSpPr txBox="1">
            <a:spLocks noChangeArrowheads="1"/>
          </p:cNvSpPr>
          <p:nvPr/>
        </p:nvSpPr>
        <p:spPr bwMode="auto">
          <a:xfrm>
            <a:off x="5800725" y="6227763"/>
            <a:ext cx="508000" cy="334962"/>
          </a:xfrm>
          <a:prstGeom prst="rect">
            <a:avLst/>
          </a:prstGeom>
          <a:noFill/>
          <a:ln w="9525">
            <a:noFill/>
            <a:round/>
            <a:headEnd/>
            <a:tailEnd/>
          </a:ln>
          <a:effectLst/>
        </p:spPr>
        <p:txBody>
          <a:bodyPr vert="eaVert" wrap="none" lIns="90360" tIns="44280" rIns="90360" bIns="44280">
            <a:spAutoFit/>
          </a:bodyPr>
          <a:lstStyle/>
          <a:p>
            <a:pPr rtl="1">
              <a:lnSpc>
                <a:spcPct val="88000"/>
              </a:lnSpc>
              <a:spcBef>
                <a:spcPts val="9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2400" b="1" dirty="0">
                <a:solidFill>
                  <a:srgbClr val="000000"/>
                </a:solidFill>
                <a:latin typeface="Calibri" pitchFamily="34" charset="0"/>
                <a:ea typeface="+mn-ea"/>
              </a:rPr>
              <a:t>...</a:t>
            </a:r>
          </a:p>
        </p:txBody>
      </p:sp>
      <p:sp>
        <p:nvSpPr>
          <p:cNvPr id="7" name="Text Box 4">
            <a:extLst>
              <a:ext uri="{FF2B5EF4-FFF2-40B4-BE49-F238E27FC236}">
                <a16:creationId xmlns:a16="http://schemas.microsoft.com/office/drawing/2014/main" id="{5C93EB06-2F34-409E-8778-8F96C47FD393}"/>
              </a:ext>
            </a:extLst>
          </p:cNvPr>
          <p:cNvSpPr txBox="1">
            <a:spLocks noChangeArrowheads="1"/>
          </p:cNvSpPr>
          <p:nvPr/>
        </p:nvSpPr>
        <p:spPr bwMode="auto">
          <a:xfrm>
            <a:off x="3063875" y="914400"/>
            <a:ext cx="1296988" cy="654050"/>
          </a:xfrm>
          <a:prstGeom prst="rect">
            <a:avLst/>
          </a:prstGeom>
          <a:noFill/>
          <a:ln w="9525">
            <a:noFill/>
            <a:round/>
            <a:headEnd/>
            <a:tailEnd/>
          </a:ln>
          <a:effectLst/>
        </p:spPr>
        <p:txBody>
          <a:bodyPr wrap="none" lIns="90360" tIns="44280" rIns="90360" bIns="44280">
            <a:spAutoFit/>
          </a:bodyPr>
          <a:lstStyle/>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Level 2</a:t>
            </a:r>
          </a:p>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page tables</a:t>
            </a:r>
          </a:p>
        </p:txBody>
      </p:sp>
      <p:sp>
        <p:nvSpPr>
          <p:cNvPr id="8" name="Rectangle 5">
            <a:extLst>
              <a:ext uri="{FF2B5EF4-FFF2-40B4-BE49-F238E27FC236}">
                <a16:creationId xmlns:a16="http://schemas.microsoft.com/office/drawing/2014/main" id="{AA73E02E-6E42-4F6E-BCCD-D63BF53500A1}"/>
              </a:ext>
            </a:extLst>
          </p:cNvPr>
          <p:cNvSpPr>
            <a:spLocks noChangeArrowheads="1"/>
          </p:cNvSpPr>
          <p:nvPr/>
        </p:nvSpPr>
        <p:spPr bwMode="auto">
          <a:xfrm>
            <a:off x="5481638" y="15811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VP 0</a:t>
            </a:r>
          </a:p>
        </p:txBody>
      </p:sp>
      <p:sp>
        <p:nvSpPr>
          <p:cNvPr id="9" name="Rectangle 6">
            <a:extLst>
              <a:ext uri="{FF2B5EF4-FFF2-40B4-BE49-F238E27FC236}">
                <a16:creationId xmlns:a16="http://schemas.microsoft.com/office/drawing/2014/main" id="{F6BA156D-23DB-488D-8A85-DCD5D34C344E}"/>
              </a:ext>
            </a:extLst>
          </p:cNvPr>
          <p:cNvSpPr>
            <a:spLocks noChangeArrowheads="1"/>
          </p:cNvSpPr>
          <p:nvPr/>
        </p:nvSpPr>
        <p:spPr bwMode="auto">
          <a:xfrm>
            <a:off x="5481638" y="1885950"/>
            <a:ext cx="990600" cy="304800"/>
          </a:xfrm>
          <a:prstGeom prst="rect">
            <a:avLst/>
          </a:prstGeom>
          <a:solidFill>
            <a:srgbClr val="D5F1CF"/>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a:t>
            </a:r>
          </a:p>
        </p:txBody>
      </p:sp>
      <p:sp>
        <p:nvSpPr>
          <p:cNvPr id="10" name="Rectangle 7">
            <a:extLst>
              <a:ext uri="{FF2B5EF4-FFF2-40B4-BE49-F238E27FC236}">
                <a16:creationId xmlns:a16="http://schemas.microsoft.com/office/drawing/2014/main" id="{0EBA0621-2772-442A-A4DD-8121E2374C58}"/>
              </a:ext>
            </a:extLst>
          </p:cNvPr>
          <p:cNvSpPr>
            <a:spLocks noChangeArrowheads="1"/>
          </p:cNvSpPr>
          <p:nvPr/>
        </p:nvSpPr>
        <p:spPr bwMode="auto">
          <a:xfrm>
            <a:off x="5481638" y="21907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VP 1023</a:t>
            </a:r>
          </a:p>
        </p:txBody>
      </p:sp>
      <p:sp>
        <p:nvSpPr>
          <p:cNvPr id="11" name="Rectangle 8">
            <a:extLst>
              <a:ext uri="{FF2B5EF4-FFF2-40B4-BE49-F238E27FC236}">
                <a16:creationId xmlns:a16="http://schemas.microsoft.com/office/drawing/2014/main" id="{3DE763DD-6F5F-48EC-B9AC-25F96024401E}"/>
              </a:ext>
            </a:extLst>
          </p:cNvPr>
          <p:cNvSpPr>
            <a:spLocks noChangeArrowheads="1"/>
          </p:cNvSpPr>
          <p:nvPr/>
        </p:nvSpPr>
        <p:spPr bwMode="auto">
          <a:xfrm>
            <a:off x="5481638" y="24955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VP 1024</a:t>
            </a:r>
          </a:p>
        </p:txBody>
      </p:sp>
      <p:sp>
        <p:nvSpPr>
          <p:cNvPr id="12" name="Rectangle 9">
            <a:extLst>
              <a:ext uri="{FF2B5EF4-FFF2-40B4-BE49-F238E27FC236}">
                <a16:creationId xmlns:a16="http://schemas.microsoft.com/office/drawing/2014/main" id="{61511151-92C9-4FA1-8BF6-3391F03AC6F6}"/>
              </a:ext>
            </a:extLst>
          </p:cNvPr>
          <p:cNvSpPr>
            <a:spLocks noChangeArrowheads="1"/>
          </p:cNvSpPr>
          <p:nvPr/>
        </p:nvSpPr>
        <p:spPr bwMode="auto">
          <a:xfrm>
            <a:off x="5481638" y="2800350"/>
            <a:ext cx="990600" cy="304800"/>
          </a:xfrm>
          <a:prstGeom prst="rect">
            <a:avLst/>
          </a:prstGeom>
          <a:solidFill>
            <a:srgbClr val="D5F1CF"/>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a:t>
            </a:r>
          </a:p>
        </p:txBody>
      </p:sp>
      <p:sp>
        <p:nvSpPr>
          <p:cNvPr id="13" name="Rectangle 10">
            <a:extLst>
              <a:ext uri="{FF2B5EF4-FFF2-40B4-BE49-F238E27FC236}">
                <a16:creationId xmlns:a16="http://schemas.microsoft.com/office/drawing/2014/main" id="{2B08BEF3-2587-4657-9834-D80AE47EA57F}"/>
              </a:ext>
            </a:extLst>
          </p:cNvPr>
          <p:cNvSpPr>
            <a:spLocks noChangeArrowheads="1"/>
          </p:cNvSpPr>
          <p:nvPr/>
        </p:nvSpPr>
        <p:spPr bwMode="auto">
          <a:xfrm>
            <a:off x="5481638" y="31051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VP 2047</a:t>
            </a:r>
          </a:p>
        </p:txBody>
      </p:sp>
      <p:sp>
        <p:nvSpPr>
          <p:cNvPr id="14" name="Rectangle 11">
            <a:extLst>
              <a:ext uri="{FF2B5EF4-FFF2-40B4-BE49-F238E27FC236}">
                <a16:creationId xmlns:a16="http://schemas.microsoft.com/office/drawing/2014/main" id="{5E1E202D-D626-4C8A-9C64-5BA5E7676FB0}"/>
              </a:ext>
            </a:extLst>
          </p:cNvPr>
          <p:cNvSpPr>
            <a:spLocks noChangeArrowheads="1"/>
          </p:cNvSpPr>
          <p:nvPr/>
        </p:nvSpPr>
        <p:spPr bwMode="auto">
          <a:xfrm>
            <a:off x="5481638" y="1581150"/>
            <a:ext cx="990600" cy="914400"/>
          </a:xfrm>
          <a:prstGeom prst="rect">
            <a:avLst/>
          </a:prstGeom>
          <a:noFill/>
          <a:ln w="28575">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15" name="Rectangle 12">
            <a:extLst>
              <a:ext uri="{FF2B5EF4-FFF2-40B4-BE49-F238E27FC236}">
                <a16:creationId xmlns:a16="http://schemas.microsoft.com/office/drawing/2014/main" id="{611989BB-8950-42D8-BB41-6419999E13D0}"/>
              </a:ext>
            </a:extLst>
          </p:cNvPr>
          <p:cNvSpPr>
            <a:spLocks noChangeArrowheads="1"/>
          </p:cNvSpPr>
          <p:nvPr/>
        </p:nvSpPr>
        <p:spPr bwMode="auto">
          <a:xfrm>
            <a:off x="5481638" y="2495550"/>
            <a:ext cx="990600" cy="914400"/>
          </a:xfrm>
          <a:prstGeom prst="rect">
            <a:avLst/>
          </a:prstGeom>
          <a:noFill/>
          <a:ln w="28575">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16" name="Rectangle 13">
            <a:extLst>
              <a:ext uri="{FF2B5EF4-FFF2-40B4-BE49-F238E27FC236}">
                <a16:creationId xmlns:a16="http://schemas.microsoft.com/office/drawing/2014/main" id="{C07E5ACE-506C-48EB-9E22-0760B4EE28F4}"/>
              </a:ext>
            </a:extLst>
          </p:cNvPr>
          <p:cNvSpPr>
            <a:spLocks noChangeArrowheads="1"/>
          </p:cNvSpPr>
          <p:nvPr/>
        </p:nvSpPr>
        <p:spPr bwMode="auto">
          <a:xfrm>
            <a:off x="5481638" y="3409950"/>
            <a:ext cx="990600" cy="1841500"/>
          </a:xfrm>
          <a:prstGeom prst="rect">
            <a:avLst/>
          </a:prstGeom>
          <a:solidFill>
            <a:srgbClr val="F6F5BD"/>
          </a:solidFill>
          <a:ln w="28575">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Gap</a:t>
            </a:r>
          </a:p>
        </p:txBody>
      </p:sp>
      <p:sp>
        <p:nvSpPr>
          <p:cNvPr id="17" name="Text Box 14">
            <a:extLst>
              <a:ext uri="{FF2B5EF4-FFF2-40B4-BE49-F238E27FC236}">
                <a16:creationId xmlns:a16="http://schemas.microsoft.com/office/drawing/2014/main" id="{1F04F647-02D8-42BA-B776-D8D254C9A061}"/>
              </a:ext>
            </a:extLst>
          </p:cNvPr>
          <p:cNvSpPr txBox="1">
            <a:spLocks noChangeArrowheads="1"/>
          </p:cNvSpPr>
          <p:nvPr/>
        </p:nvSpPr>
        <p:spPr bwMode="auto">
          <a:xfrm>
            <a:off x="6416675" y="1443038"/>
            <a:ext cx="266700" cy="276225"/>
          </a:xfrm>
          <a:prstGeom prst="rect">
            <a:avLst/>
          </a:prstGeom>
          <a:noFill/>
          <a:ln w="9525">
            <a:noFill/>
            <a:round/>
            <a:headEnd/>
            <a:tailEnd/>
          </a:ln>
          <a:effectLst/>
        </p:spPr>
        <p:txBody>
          <a:bodyPr wrap="none" lIns="90000" tIns="46800" rIns="90000" bIns="46800" anchor="ctr">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200" b="1" dirty="0">
                <a:solidFill>
                  <a:srgbClr val="000000"/>
                </a:solidFill>
                <a:latin typeface="Calibri" pitchFamily="34" charset="0"/>
                <a:ea typeface="+mn-ea"/>
              </a:rPr>
              <a:t>0</a:t>
            </a:r>
          </a:p>
        </p:txBody>
      </p:sp>
      <p:sp>
        <p:nvSpPr>
          <p:cNvPr id="18" name="Rectangle 15">
            <a:extLst>
              <a:ext uri="{FF2B5EF4-FFF2-40B4-BE49-F238E27FC236}">
                <a16:creationId xmlns:a16="http://schemas.microsoft.com/office/drawing/2014/main" id="{9908A022-9E77-496E-9740-2CC4AF2AB9A0}"/>
              </a:ext>
            </a:extLst>
          </p:cNvPr>
          <p:cNvSpPr>
            <a:spLocks noChangeArrowheads="1"/>
          </p:cNvSpPr>
          <p:nvPr/>
        </p:nvSpPr>
        <p:spPr bwMode="auto">
          <a:xfrm>
            <a:off x="3195638" y="19748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0</a:t>
            </a:r>
          </a:p>
        </p:txBody>
      </p:sp>
      <p:sp>
        <p:nvSpPr>
          <p:cNvPr id="19" name="Rectangle 16">
            <a:extLst>
              <a:ext uri="{FF2B5EF4-FFF2-40B4-BE49-F238E27FC236}">
                <a16:creationId xmlns:a16="http://schemas.microsoft.com/office/drawing/2014/main" id="{49C5F6E8-1F51-432E-8274-8D9F844529B6}"/>
              </a:ext>
            </a:extLst>
          </p:cNvPr>
          <p:cNvSpPr>
            <a:spLocks noChangeArrowheads="1"/>
          </p:cNvSpPr>
          <p:nvPr/>
        </p:nvSpPr>
        <p:spPr bwMode="auto">
          <a:xfrm>
            <a:off x="3195638" y="2279650"/>
            <a:ext cx="990600" cy="304800"/>
          </a:xfrm>
          <a:prstGeom prst="rect">
            <a:avLst/>
          </a:prstGeom>
          <a:solidFill>
            <a:srgbClr val="D5F1CF"/>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a:t>
            </a:r>
          </a:p>
        </p:txBody>
      </p:sp>
      <p:sp>
        <p:nvSpPr>
          <p:cNvPr id="20" name="Rectangle 17">
            <a:extLst>
              <a:ext uri="{FF2B5EF4-FFF2-40B4-BE49-F238E27FC236}">
                <a16:creationId xmlns:a16="http://schemas.microsoft.com/office/drawing/2014/main" id="{B193E01F-2848-4CE0-964F-870311B541E5}"/>
              </a:ext>
            </a:extLst>
          </p:cNvPr>
          <p:cNvSpPr>
            <a:spLocks noChangeArrowheads="1"/>
          </p:cNvSpPr>
          <p:nvPr/>
        </p:nvSpPr>
        <p:spPr bwMode="auto">
          <a:xfrm>
            <a:off x="3195638" y="25844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1023</a:t>
            </a:r>
          </a:p>
        </p:txBody>
      </p:sp>
      <p:sp>
        <p:nvSpPr>
          <p:cNvPr id="21" name="Rectangle 18">
            <a:extLst>
              <a:ext uri="{FF2B5EF4-FFF2-40B4-BE49-F238E27FC236}">
                <a16:creationId xmlns:a16="http://schemas.microsoft.com/office/drawing/2014/main" id="{31F43325-A7CE-46E8-8BAD-D76CC3778DD2}"/>
              </a:ext>
            </a:extLst>
          </p:cNvPr>
          <p:cNvSpPr>
            <a:spLocks noChangeArrowheads="1"/>
          </p:cNvSpPr>
          <p:nvPr/>
        </p:nvSpPr>
        <p:spPr bwMode="auto">
          <a:xfrm>
            <a:off x="3195638" y="1974850"/>
            <a:ext cx="990600" cy="914400"/>
          </a:xfrm>
          <a:prstGeom prst="rect">
            <a:avLst/>
          </a:prstGeom>
          <a:noFill/>
          <a:ln w="28575">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22" name="Rectangle 19">
            <a:extLst>
              <a:ext uri="{FF2B5EF4-FFF2-40B4-BE49-F238E27FC236}">
                <a16:creationId xmlns:a16="http://schemas.microsoft.com/office/drawing/2014/main" id="{539D18AE-BC5E-4B50-A500-F4C458A9CFDB}"/>
              </a:ext>
            </a:extLst>
          </p:cNvPr>
          <p:cNvSpPr>
            <a:spLocks noChangeArrowheads="1"/>
          </p:cNvSpPr>
          <p:nvPr/>
        </p:nvSpPr>
        <p:spPr bwMode="auto">
          <a:xfrm>
            <a:off x="3195638" y="33464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0</a:t>
            </a:r>
          </a:p>
        </p:txBody>
      </p:sp>
      <p:sp>
        <p:nvSpPr>
          <p:cNvPr id="23" name="Rectangle 20">
            <a:extLst>
              <a:ext uri="{FF2B5EF4-FFF2-40B4-BE49-F238E27FC236}">
                <a16:creationId xmlns:a16="http://schemas.microsoft.com/office/drawing/2014/main" id="{90F6DFFB-AC94-48A5-8A94-3ECB3904DA6D}"/>
              </a:ext>
            </a:extLst>
          </p:cNvPr>
          <p:cNvSpPr>
            <a:spLocks noChangeArrowheads="1"/>
          </p:cNvSpPr>
          <p:nvPr/>
        </p:nvSpPr>
        <p:spPr bwMode="auto">
          <a:xfrm>
            <a:off x="3195638" y="3651250"/>
            <a:ext cx="990600" cy="304800"/>
          </a:xfrm>
          <a:prstGeom prst="rect">
            <a:avLst/>
          </a:prstGeom>
          <a:solidFill>
            <a:srgbClr val="D5F1CF"/>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a:t>
            </a:r>
          </a:p>
        </p:txBody>
      </p:sp>
      <p:sp>
        <p:nvSpPr>
          <p:cNvPr id="24" name="Rectangle 21">
            <a:extLst>
              <a:ext uri="{FF2B5EF4-FFF2-40B4-BE49-F238E27FC236}">
                <a16:creationId xmlns:a16="http://schemas.microsoft.com/office/drawing/2014/main" id="{B78E0CF0-DD96-4AF2-9E26-2C245EF41C78}"/>
              </a:ext>
            </a:extLst>
          </p:cNvPr>
          <p:cNvSpPr>
            <a:spLocks noChangeArrowheads="1"/>
          </p:cNvSpPr>
          <p:nvPr/>
        </p:nvSpPr>
        <p:spPr bwMode="auto">
          <a:xfrm>
            <a:off x="3195638" y="39560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1023</a:t>
            </a:r>
          </a:p>
        </p:txBody>
      </p:sp>
      <p:sp>
        <p:nvSpPr>
          <p:cNvPr id="25" name="Rectangle 22">
            <a:extLst>
              <a:ext uri="{FF2B5EF4-FFF2-40B4-BE49-F238E27FC236}">
                <a16:creationId xmlns:a16="http://schemas.microsoft.com/office/drawing/2014/main" id="{D7981E6A-3B50-488A-8536-F20B90D0FFE9}"/>
              </a:ext>
            </a:extLst>
          </p:cNvPr>
          <p:cNvSpPr>
            <a:spLocks noChangeArrowheads="1"/>
          </p:cNvSpPr>
          <p:nvPr/>
        </p:nvSpPr>
        <p:spPr bwMode="auto">
          <a:xfrm>
            <a:off x="3195638" y="3346450"/>
            <a:ext cx="990600" cy="914400"/>
          </a:xfrm>
          <a:prstGeom prst="rect">
            <a:avLst/>
          </a:prstGeom>
          <a:noFill/>
          <a:ln w="28575">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26" name="Rectangle 23">
            <a:extLst>
              <a:ext uri="{FF2B5EF4-FFF2-40B4-BE49-F238E27FC236}">
                <a16:creationId xmlns:a16="http://schemas.microsoft.com/office/drawing/2014/main" id="{F55260C5-9EAD-45CC-8A8B-495BA5A199EE}"/>
              </a:ext>
            </a:extLst>
          </p:cNvPr>
          <p:cNvSpPr>
            <a:spLocks noChangeArrowheads="1"/>
          </p:cNvSpPr>
          <p:nvPr/>
        </p:nvSpPr>
        <p:spPr bwMode="auto">
          <a:xfrm>
            <a:off x="3195638" y="4641850"/>
            <a:ext cx="990600" cy="609600"/>
          </a:xfrm>
          <a:prstGeom prst="rect">
            <a:avLst/>
          </a:prstGeom>
          <a:solidFill>
            <a:srgbClr val="F1C7C7"/>
          </a:solidFill>
          <a:ln w="28575">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1023 null</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PTEs</a:t>
            </a:r>
          </a:p>
        </p:txBody>
      </p:sp>
      <p:sp>
        <p:nvSpPr>
          <p:cNvPr id="27" name="Rectangle 24">
            <a:extLst>
              <a:ext uri="{FF2B5EF4-FFF2-40B4-BE49-F238E27FC236}">
                <a16:creationId xmlns:a16="http://schemas.microsoft.com/office/drawing/2014/main" id="{72FBC8AA-52FD-4C79-A703-9839990A05C4}"/>
              </a:ext>
            </a:extLst>
          </p:cNvPr>
          <p:cNvSpPr>
            <a:spLocks noChangeArrowheads="1"/>
          </p:cNvSpPr>
          <p:nvPr/>
        </p:nvSpPr>
        <p:spPr bwMode="auto">
          <a:xfrm>
            <a:off x="3195638" y="52514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1023</a:t>
            </a:r>
          </a:p>
        </p:txBody>
      </p:sp>
      <p:sp>
        <p:nvSpPr>
          <p:cNvPr id="28" name="Rectangle 25">
            <a:extLst>
              <a:ext uri="{FF2B5EF4-FFF2-40B4-BE49-F238E27FC236}">
                <a16:creationId xmlns:a16="http://schemas.microsoft.com/office/drawing/2014/main" id="{588856D8-9CB6-47C2-930F-C3C5B100DB9B}"/>
              </a:ext>
            </a:extLst>
          </p:cNvPr>
          <p:cNvSpPr>
            <a:spLocks noChangeArrowheads="1"/>
          </p:cNvSpPr>
          <p:nvPr/>
        </p:nvSpPr>
        <p:spPr bwMode="auto">
          <a:xfrm>
            <a:off x="3195638" y="4641850"/>
            <a:ext cx="990600" cy="914400"/>
          </a:xfrm>
          <a:prstGeom prst="rect">
            <a:avLst/>
          </a:prstGeom>
          <a:noFill/>
          <a:ln w="28575">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29" name="Rectangle 26">
            <a:extLst>
              <a:ext uri="{FF2B5EF4-FFF2-40B4-BE49-F238E27FC236}">
                <a16:creationId xmlns:a16="http://schemas.microsoft.com/office/drawing/2014/main" id="{88094821-8F81-4420-9421-0DE3AC9B4B27}"/>
              </a:ext>
            </a:extLst>
          </p:cNvPr>
          <p:cNvSpPr>
            <a:spLocks noChangeArrowheads="1"/>
          </p:cNvSpPr>
          <p:nvPr/>
        </p:nvSpPr>
        <p:spPr bwMode="auto">
          <a:xfrm>
            <a:off x="5481638" y="5251450"/>
            <a:ext cx="990600" cy="609600"/>
          </a:xfrm>
          <a:prstGeom prst="rect">
            <a:avLst/>
          </a:prstGeom>
          <a:solidFill>
            <a:srgbClr val="DEDFF5"/>
          </a:solidFill>
          <a:ln w="12600">
            <a:solidFill>
              <a:srgbClr val="DEDFF5"/>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1023 </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unallocated</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pages</a:t>
            </a:r>
          </a:p>
        </p:txBody>
      </p:sp>
      <p:sp>
        <p:nvSpPr>
          <p:cNvPr id="30" name="Rectangle 27">
            <a:extLst>
              <a:ext uri="{FF2B5EF4-FFF2-40B4-BE49-F238E27FC236}">
                <a16:creationId xmlns:a16="http://schemas.microsoft.com/office/drawing/2014/main" id="{D31AB546-9B5C-4C92-8E70-C646E7DEEAC3}"/>
              </a:ext>
            </a:extLst>
          </p:cNvPr>
          <p:cNvSpPr>
            <a:spLocks noChangeArrowheads="1"/>
          </p:cNvSpPr>
          <p:nvPr/>
        </p:nvSpPr>
        <p:spPr bwMode="auto">
          <a:xfrm>
            <a:off x="5481638" y="5861050"/>
            <a:ext cx="990600"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VP 9215</a:t>
            </a:r>
          </a:p>
        </p:txBody>
      </p:sp>
      <p:sp>
        <p:nvSpPr>
          <p:cNvPr id="31" name="Rectangle 28">
            <a:extLst>
              <a:ext uri="{FF2B5EF4-FFF2-40B4-BE49-F238E27FC236}">
                <a16:creationId xmlns:a16="http://schemas.microsoft.com/office/drawing/2014/main" id="{365F6695-3191-4CAD-BE91-7D70DF6FA44C}"/>
              </a:ext>
            </a:extLst>
          </p:cNvPr>
          <p:cNvSpPr>
            <a:spLocks noChangeArrowheads="1"/>
          </p:cNvSpPr>
          <p:nvPr/>
        </p:nvSpPr>
        <p:spPr bwMode="auto">
          <a:xfrm>
            <a:off x="5481638" y="5251450"/>
            <a:ext cx="990600" cy="914400"/>
          </a:xfrm>
          <a:prstGeom prst="rect">
            <a:avLst/>
          </a:prstGeom>
          <a:noFill/>
          <a:ln w="28575">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32" name="Text Box 29">
            <a:extLst>
              <a:ext uri="{FF2B5EF4-FFF2-40B4-BE49-F238E27FC236}">
                <a16:creationId xmlns:a16="http://schemas.microsoft.com/office/drawing/2014/main" id="{B71215D9-C9A7-4340-8111-99F85A1CE881}"/>
              </a:ext>
            </a:extLst>
          </p:cNvPr>
          <p:cNvSpPr txBox="1">
            <a:spLocks noChangeArrowheads="1"/>
          </p:cNvSpPr>
          <p:nvPr/>
        </p:nvSpPr>
        <p:spPr bwMode="auto">
          <a:xfrm>
            <a:off x="5480050" y="908050"/>
            <a:ext cx="982663" cy="654050"/>
          </a:xfrm>
          <a:prstGeom prst="rect">
            <a:avLst/>
          </a:prstGeom>
          <a:noFill/>
          <a:ln w="9525">
            <a:noFill/>
            <a:round/>
            <a:headEnd/>
            <a:tailEnd/>
          </a:ln>
          <a:effectLst/>
        </p:spPr>
        <p:txBody>
          <a:bodyPr wrap="none" lIns="90360" tIns="44280" rIns="90360" bIns="44280">
            <a:spAutoFit/>
          </a:bodyPr>
          <a:lstStyle/>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Virtual</a:t>
            </a:r>
          </a:p>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800" b="1" i="1" dirty="0">
                <a:solidFill>
                  <a:srgbClr val="000000">
                    <a:lumMod val="50000"/>
                    <a:lumOff val="50000"/>
                  </a:srgbClr>
                </a:solidFill>
                <a:latin typeface="Calibri" pitchFamily="34" charset="0"/>
                <a:ea typeface="+mn-ea"/>
              </a:rPr>
              <a:t>memory</a:t>
            </a:r>
          </a:p>
        </p:txBody>
      </p:sp>
      <p:sp>
        <p:nvSpPr>
          <p:cNvPr id="33" name="Line 30">
            <a:extLst>
              <a:ext uri="{FF2B5EF4-FFF2-40B4-BE49-F238E27FC236}">
                <a16:creationId xmlns:a16="http://schemas.microsoft.com/office/drawing/2014/main" id="{E3B6D456-7050-46EC-8810-2F13DAE3DBCD}"/>
              </a:ext>
            </a:extLst>
          </p:cNvPr>
          <p:cNvSpPr>
            <a:spLocks noChangeShapeType="1"/>
          </p:cNvSpPr>
          <p:nvPr/>
        </p:nvSpPr>
        <p:spPr bwMode="auto">
          <a:xfrm flipV="1">
            <a:off x="4186238" y="1592263"/>
            <a:ext cx="1295400" cy="536575"/>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34" name="Line 31">
            <a:extLst>
              <a:ext uri="{FF2B5EF4-FFF2-40B4-BE49-F238E27FC236}">
                <a16:creationId xmlns:a16="http://schemas.microsoft.com/office/drawing/2014/main" id="{0C294585-6F68-4443-B1B6-33175B7BB268}"/>
              </a:ext>
            </a:extLst>
          </p:cNvPr>
          <p:cNvSpPr>
            <a:spLocks noChangeShapeType="1"/>
          </p:cNvSpPr>
          <p:nvPr/>
        </p:nvSpPr>
        <p:spPr bwMode="auto">
          <a:xfrm flipV="1">
            <a:off x="4186238" y="2201863"/>
            <a:ext cx="1295400" cy="536575"/>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35" name="Line 32">
            <a:extLst>
              <a:ext uri="{FF2B5EF4-FFF2-40B4-BE49-F238E27FC236}">
                <a16:creationId xmlns:a16="http://schemas.microsoft.com/office/drawing/2014/main" id="{448ACC7C-DBCF-40D2-B312-E6BC3CC8A776}"/>
              </a:ext>
            </a:extLst>
          </p:cNvPr>
          <p:cNvSpPr>
            <a:spLocks noChangeShapeType="1"/>
          </p:cNvSpPr>
          <p:nvPr/>
        </p:nvSpPr>
        <p:spPr bwMode="auto">
          <a:xfrm flipV="1">
            <a:off x="4186238" y="2506663"/>
            <a:ext cx="1295400" cy="993775"/>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36" name="Line 33">
            <a:extLst>
              <a:ext uri="{FF2B5EF4-FFF2-40B4-BE49-F238E27FC236}">
                <a16:creationId xmlns:a16="http://schemas.microsoft.com/office/drawing/2014/main" id="{E3346061-EA44-4F28-B8A1-8B417F7D6A66}"/>
              </a:ext>
            </a:extLst>
          </p:cNvPr>
          <p:cNvSpPr>
            <a:spLocks noChangeShapeType="1"/>
          </p:cNvSpPr>
          <p:nvPr/>
        </p:nvSpPr>
        <p:spPr bwMode="auto">
          <a:xfrm flipV="1">
            <a:off x="4186238" y="3116263"/>
            <a:ext cx="1295400" cy="993775"/>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37" name="Line 34">
            <a:extLst>
              <a:ext uri="{FF2B5EF4-FFF2-40B4-BE49-F238E27FC236}">
                <a16:creationId xmlns:a16="http://schemas.microsoft.com/office/drawing/2014/main" id="{13CB32F3-BD92-442E-B6DA-DDDF2DFCA0F2}"/>
              </a:ext>
            </a:extLst>
          </p:cNvPr>
          <p:cNvSpPr>
            <a:spLocks noChangeShapeType="1"/>
          </p:cNvSpPr>
          <p:nvPr/>
        </p:nvSpPr>
        <p:spPr bwMode="auto">
          <a:xfrm>
            <a:off x="4186238" y="5403850"/>
            <a:ext cx="1219200" cy="457200"/>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38" name="Line 35">
            <a:extLst>
              <a:ext uri="{FF2B5EF4-FFF2-40B4-BE49-F238E27FC236}">
                <a16:creationId xmlns:a16="http://schemas.microsoft.com/office/drawing/2014/main" id="{33336510-9285-4CA2-8D36-A740931AED51}"/>
              </a:ext>
            </a:extLst>
          </p:cNvPr>
          <p:cNvSpPr>
            <a:spLocks noChangeShapeType="1"/>
          </p:cNvSpPr>
          <p:nvPr/>
        </p:nvSpPr>
        <p:spPr bwMode="auto">
          <a:xfrm flipV="1">
            <a:off x="1900238" y="1973263"/>
            <a:ext cx="1243012" cy="231775"/>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39" name="Line 36">
            <a:extLst>
              <a:ext uri="{FF2B5EF4-FFF2-40B4-BE49-F238E27FC236}">
                <a16:creationId xmlns:a16="http://schemas.microsoft.com/office/drawing/2014/main" id="{21577E12-732C-4C41-94FD-970C34B62670}"/>
              </a:ext>
            </a:extLst>
          </p:cNvPr>
          <p:cNvSpPr>
            <a:spLocks noChangeShapeType="1"/>
          </p:cNvSpPr>
          <p:nvPr/>
        </p:nvSpPr>
        <p:spPr bwMode="auto">
          <a:xfrm>
            <a:off x="1900238" y="2508250"/>
            <a:ext cx="1295400" cy="838200"/>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40" name="Line 37">
            <a:extLst>
              <a:ext uri="{FF2B5EF4-FFF2-40B4-BE49-F238E27FC236}">
                <a16:creationId xmlns:a16="http://schemas.microsoft.com/office/drawing/2014/main" id="{8C19957E-BEAA-4D97-873B-995012BEA499}"/>
              </a:ext>
            </a:extLst>
          </p:cNvPr>
          <p:cNvSpPr>
            <a:spLocks noChangeShapeType="1"/>
          </p:cNvSpPr>
          <p:nvPr/>
        </p:nvSpPr>
        <p:spPr bwMode="auto">
          <a:xfrm>
            <a:off x="1900238" y="4641850"/>
            <a:ext cx="1295400" cy="1588"/>
          </a:xfrm>
          <a:prstGeom prst="line">
            <a:avLst/>
          </a:prstGeom>
          <a:noFill/>
          <a:ln w="12600">
            <a:solidFill>
              <a:srgbClr val="000066"/>
            </a:solidFill>
            <a:miter lim="800000"/>
            <a:headEnd/>
            <a:tailEnd type="triangle" w="med" len="med"/>
          </a:ln>
          <a:effectLst/>
        </p:spPr>
        <p:txBody>
          <a:bodyPr/>
          <a:lstStyle/>
          <a:p>
            <a:pPr>
              <a:defRPr/>
            </a:pPr>
            <a:endParaRPr kumimoji="0" lang="en-US" sz="2400" b="1">
              <a:solidFill>
                <a:srgbClr val="000000"/>
              </a:solidFill>
              <a:latin typeface="Arial Narrow" pitchFamily="34" charset="0"/>
              <a:ea typeface="+mn-ea"/>
            </a:endParaRPr>
          </a:p>
        </p:txBody>
      </p:sp>
      <p:sp>
        <p:nvSpPr>
          <p:cNvPr id="41" name="Rectangle 38">
            <a:extLst>
              <a:ext uri="{FF2B5EF4-FFF2-40B4-BE49-F238E27FC236}">
                <a16:creationId xmlns:a16="http://schemas.microsoft.com/office/drawing/2014/main" id="{6C63EAF9-BB58-4760-A21B-75A99D3F6670}"/>
              </a:ext>
            </a:extLst>
          </p:cNvPr>
          <p:cNvSpPr>
            <a:spLocks noChangeArrowheads="1"/>
          </p:cNvSpPr>
          <p:nvPr/>
        </p:nvSpPr>
        <p:spPr bwMode="auto">
          <a:xfrm>
            <a:off x="781050" y="4794250"/>
            <a:ext cx="1119188" cy="838200"/>
          </a:xfrm>
          <a:prstGeom prst="rect">
            <a:avLst/>
          </a:prstGeom>
          <a:solidFill>
            <a:srgbClr val="F1C7C7"/>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(1K - 9)</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null PTEs </a:t>
            </a:r>
          </a:p>
        </p:txBody>
      </p:sp>
      <p:sp>
        <p:nvSpPr>
          <p:cNvPr id="42" name="Rectangle 39">
            <a:extLst>
              <a:ext uri="{FF2B5EF4-FFF2-40B4-BE49-F238E27FC236}">
                <a16:creationId xmlns:a16="http://schemas.microsoft.com/office/drawing/2014/main" id="{21C09F23-CB5E-40B6-ADDF-150DDF998BD9}"/>
              </a:ext>
            </a:extLst>
          </p:cNvPr>
          <p:cNvSpPr>
            <a:spLocks noChangeArrowheads="1"/>
          </p:cNvSpPr>
          <p:nvPr/>
        </p:nvSpPr>
        <p:spPr bwMode="auto">
          <a:xfrm>
            <a:off x="781050" y="2051050"/>
            <a:ext cx="1119188"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0</a:t>
            </a:r>
          </a:p>
        </p:txBody>
      </p:sp>
      <p:sp>
        <p:nvSpPr>
          <p:cNvPr id="43" name="Rectangle 40">
            <a:extLst>
              <a:ext uri="{FF2B5EF4-FFF2-40B4-BE49-F238E27FC236}">
                <a16:creationId xmlns:a16="http://schemas.microsoft.com/office/drawing/2014/main" id="{3FF7E210-38A3-4139-BEAC-277DC44E0285}"/>
              </a:ext>
            </a:extLst>
          </p:cNvPr>
          <p:cNvSpPr>
            <a:spLocks noChangeArrowheads="1"/>
          </p:cNvSpPr>
          <p:nvPr/>
        </p:nvSpPr>
        <p:spPr bwMode="auto">
          <a:xfrm>
            <a:off x="781050" y="2355850"/>
            <a:ext cx="1119188"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1</a:t>
            </a:r>
          </a:p>
        </p:txBody>
      </p:sp>
      <p:sp>
        <p:nvSpPr>
          <p:cNvPr id="44" name="Rectangle 41">
            <a:extLst>
              <a:ext uri="{FF2B5EF4-FFF2-40B4-BE49-F238E27FC236}">
                <a16:creationId xmlns:a16="http://schemas.microsoft.com/office/drawing/2014/main" id="{5A7000A7-651D-411C-A61E-5DE17F6955CC}"/>
              </a:ext>
            </a:extLst>
          </p:cNvPr>
          <p:cNvSpPr>
            <a:spLocks noChangeArrowheads="1"/>
          </p:cNvSpPr>
          <p:nvPr/>
        </p:nvSpPr>
        <p:spPr bwMode="auto">
          <a:xfrm>
            <a:off x="781050" y="2660650"/>
            <a:ext cx="1119188" cy="304800"/>
          </a:xfrm>
          <a:prstGeom prst="rect">
            <a:avLst/>
          </a:prstGeom>
          <a:solidFill>
            <a:srgbClr val="F1C7C7"/>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2 (null)</a:t>
            </a:r>
          </a:p>
        </p:txBody>
      </p:sp>
      <p:sp>
        <p:nvSpPr>
          <p:cNvPr id="45" name="Rectangle 42">
            <a:extLst>
              <a:ext uri="{FF2B5EF4-FFF2-40B4-BE49-F238E27FC236}">
                <a16:creationId xmlns:a16="http://schemas.microsoft.com/office/drawing/2014/main" id="{F8F13494-A41D-4434-8D9A-DBE9817BBFB5}"/>
              </a:ext>
            </a:extLst>
          </p:cNvPr>
          <p:cNvSpPr>
            <a:spLocks noChangeArrowheads="1"/>
          </p:cNvSpPr>
          <p:nvPr/>
        </p:nvSpPr>
        <p:spPr bwMode="auto">
          <a:xfrm>
            <a:off x="781050" y="2965450"/>
            <a:ext cx="1119188" cy="304800"/>
          </a:xfrm>
          <a:prstGeom prst="rect">
            <a:avLst/>
          </a:prstGeom>
          <a:solidFill>
            <a:srgbClr val="F1C7C7"/>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3 (null)</a:t>
            </a:r>
          </a:p>
        </p:txBody>
      </p:sp>
      <p:sp>
        <p:nvSpPr>
          <p:cNvPr id="46" name="Rectangle 43">
            <a:extLst>
              <a:ext uri="{FF2B5EF4-FFF2-40B4-BE49-F238E27FC236}">
                <a16:creationId xmlns:a16="http://schemas.microsoft.com/office/drawing/2014/main" id="{2B1FE75C-6C90-4DB7-9817-28430AE84C4A}"/>
              </a:ext>
            </a:extLst>
          </p:cNvPr>
          <p:cNvSpPr>
            <a:spLocks noChangeArrowheads="1"/>
          </p:cNvSpPr>
          <p:nvPr/>
        </p:nvSpPr>
        <p:spPr bwMode="auto">
          <a:xfrm>
            <a:off x="781050" y="3270250"/>
            <a:ext cx="1119188" cy="304800"/>
          </a:xfrm>
          <a:prstGeom prst="rect">
            <a:avLst/>
          </a:prstGeom>
          <a:solidFill>
            <a:srgbClr val="F1C7C7"/>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4 (null)</a:t>
            </a:r>
          </a:p>
        </p:txBody>
      </p:sp>
      <p:sp>
        <p:nvSpPr>
          <p:cNvPr id="47" name="Rectangle 44">
            <a:extLst>
              <a:ext uri="{FF2B5EF4-FFF2-40B4-BE49-F238E27FC236}">
                <a16:creationId xmlns:a16="http://schemas.microsoft.com/office/drawing/2014/main" id="{907757B8-09ED-47D2-8D69-70BB5859304B}"/>
              </a:ext>
            </a:extLst>
          </p:cNvPr>
          <p:cNvSpPr>
            <a:spLocks noChangeArrowheads="1"/>
          </p:cNvSpPr>
          <p:nvPr/>
        </p:nvSpPr>
        <p:spPr bwMode="auto">
          <a:xfrm>
            <a:off x="781050" y="3575050"/>
            <a:ext cx="1119188" cy="304800"/>
          </a:xfrm>
          <a:prstGeom prst="rect">
            <a:avLst/>
          </a:prstGeom>
          <a:solidFill>
            <a:srgbClr val="F1C7C7"/>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5 (null)</a:t>
            </a:r>
          </a:p>
        </p:txBody>
      </p:sp>
      <p:sp>
        <p:nvSpPr>
          <p:cNvPr id="48" name="Rectangle 45">
            <a:extLst>
              <a:ext uri="{FF2B5EF4-FFF2-40B4-BE49-F238E27FC236}">
                <a16:creationId xmlns:a16="http://schemas.microsoft.com/office/drawing/2014/main" id="{136F5661-78B2-4614-82C2-E82660AEFB12}"/>
              </a:ext>
            </a:extLst>
          </p:cNvPr>
          <p:cNvSpPr>
            <a:spLocks noChangeArrowheads="1"/>
          </p:cNvSpPr>
          <p:nvPr/>
        </p:nvSpPr>
        <p:spPr bwMode="auto">
          <a:xfrm>
            <a:off x="781050" y="3879850"/>
            <a:ext cx="1119188" cy="304800"/>
          </a:xfrm>
          <a:prstGeom prst="rect">
            <a:avLst/>
          </a:prstGeom>
          <a:solidFill>
            <a:srgbClr val="F1C7C7"/>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6 (null)</a:t>
            </a:r>
          </a:p>
        </p:txBody>
      </p:sp>
      <p:sp>
        <p:nvSpPr>
          <p:cNvPr id="49" name="Rectangle 46">
            <a:extLst>
              <a:ext uri="{FF2B5EF4-FFF2-40B4-BE49-F238E27FC236}">
                <a16:creationId xmlns:a16="http://schemas.microsoft.com/office/drawing/2014/main" id="{BADFD826-DC78-4A18-914C-5B99389ACD6E}"/>
              </a:ext>
            </a:extLst>
          </p:cNvPr>
          <p:cNvSpPr>
            <a:spLocks noChangeArrowheads="1"/>
          </p:cNvSpPr>
          <p:nvPr/>
        </p:nvSpPr>
        <p:spPr bwMode="auto">
          <a:xfrm>
            <a:off x="781050" y="4184650"/>
            <a:ext cx="1119188" cy="304800"/>
          </a:xfrm>
          <a:prstGeom prst="rect">
            <a:avLst/>
          </a:prstGeom>
          <a:solidFill>
            <a:srgbClr val="F1C7C7"/>
          </a:solid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7 (null)</a:t>
            </a:r>
          </a:p>
        </p:txBody>
      </p:sp>
      <p:sp>
        <p:nvSpPr>
          <p:cNvPr id="50" name="Rectangle 47">
            <a:extLst>
              <a:ext uri="{FF2B5EF4-FFF2-40B4-BE49-F238E27FC236}">
                <a16:creationId xmlns:a16="http://schemas.microsoft.com/office/drawing/2014/main" id="{A1BD2B28-550B-474D-8896-B3FB4AA77434}"/>
              </a:ext>
            </a:extLst>
          </p:cNvPr>
          <p:cNvSpPr>
            <a:spLocks noChangeArrowheads="1"/>
          </p:cNvSpPr>
          <p:nvPr/>
        </p:nvSpPr>
        <p:spPr bwMode="auto">
          <a:xfrm>
            <a:off x="781050" y="4489450"/>
            <a:ext cx="1119188" cy="304800"/>
          </a:xfrm>
          <a:prstGeom prst="rect">
            <a:avLst/>
          </a:prstGeom>
          <a:noFill/>
          <a:ln w="12600">
            <a:solidFill>
              <a:srgbClr val="000066"/>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dirty="0">
                <a:solidFill>
                  <a:srgbClr val="000000"/>
                </a:solidFill>
                <a:latin typeface="Calibri" pitchFamily="34" charset="0"/>
                <a:ea typeface="+mn-ea"/>
              </a:rPr>
              <a:t>PTE 8</a:t>
            </a:r>
          </a:p>
        </p:txBody>
      </p:sp>
      <p:sp>
        <p:nvSpPr>
          <p:cNvPr id="51" name="Rectangle 48">
            <a:extLst>
              <a:ext uri="{FF2B5EF4-FFF2-40B4-BE49-F238E27FC236}">
                <a16:creationId xmlns:a16="http://schemas.microsoft.com/office/drawing/2014/main" id="{93360508-36F5-434E-8439-4AA7C7EA81BE}"/>
              </a:ext>
            </a:extLst>
          </p:cNvPr>
          <p:cNvSpPr>
            <a:spLocks noChangeArrowheads="1"/>
          </p:cNvSpPr>
          <p:nvPr/>
        </p:nvSpPr>
        <p:spPr bwMode="auto">
          <a:xfrm>
            <a:off x="781050" y="2051050"/>
            <a:ext cx="1119188" cy="3581400"/>
          </a:xfrm>
          <a:prstGeom prst="rect">
            <a:avLst/>
          </a:prstGeom>
          <a:noFill/>
          <a:ln w="28575">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52" name="AutoShape 49">
            <a:extLst>
              <a:ext uri="{FF2B5EF4-FFF2-40B4-BE49-F238E27FC236}">
                <a16:creationId xmlns:a16="http://schemas.microsoft.com/office/drawing/2014/main" id="{C3D253F1-D5EE-4704-AA9E-FA9AEEEA24E6}"/>
              </a:ext>
            </a:extLst>
          </p:cNvPr>
          <p:cNvSpPr>
            <a:spLocks/>
          </p:cNvSpPr>
          <p:nvPr/>
        </p:nvSpPr>
        <p:spPr bwMode="auto">
          <a:xfrm>
            <a:off x="6608763" y="1593850"/>
            <a:ext cx="228600" cy="1752600"/>
          </a:xfrm>
          <a:prstGeom prst="rightBrace">
            <a:avLst>
              <a:gd name="adj1" fmla="val 63889"/>
              <a:gd name="adj2" fmla="val 50000"/>
            </a:avLst>
          </a:prstGeom>
          <a:noFill/>
          <a:ln w="12600">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53" name="Text Box 50">
            <a:extLst>
              <a:ext uri="{FF2B5EF4-FFF2-40B4-BE49-F238E27FC236}">
                <a16:creationId xmlns:a16="http://schemas.microsoft.com/office/drawing/2014/main" id="{A70438B9-0CE2-4338-9B74-E675332FA511}"/>
              </a:ext>
            </a:extLst>
          </p:cNvPr>
          <p:cNvSpPr txBox="1">
            <a:spLocks noChangeArrowheads="1"/>
          </p:cNvSpPr>
          <p:nvPr/>
        </p:nvSpPr>
        <p:spPr bwMode="auto">
          <a:xfrm>
            <a:off x="6861175" y="2205038"/>
            <a:ext cx="1885950" cy="517525"/>
          </a:xfrm>
          <a:prstGeom prst="rect">
            <a:avLst/>
          </a:prstGeom>
          <a:noFill/>
          <a:ln w="9525">
            <a:noFill/>
            <a:round/>
            <a:headEnd/>
            <a:tailEnd/>
          </a:ln>
          <a:effectLst/>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i="1" dirty="0">
                <a:solidFill>
                  <a:srgbClr val="000000"/>
                </a:solidFill>
                <a:latin typeface="Calibri" pitchFamily="34" charset="0"/>
                <a:ea typeface="+mn-ea"/>
              </a:rPr>
              <a:t>2K allocated VM pages</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i="1" dirty="0">
                <a:solidFill>
                  <a:srgbClr val="000000"/>
                </a:solidFill>
                <a:latin typeface="Calibri" pitchFamily="34" charset="0"/>
                <a:ea typeface="+mn-ea"/>
              </a:rPr>
              <a:t>for code and data</a:t>
            </a:r>
          </a:p>
        </p:txBody>
      </p:sp>
      <p:sp>
        <p:nvSpPr>
          <p:cNvPr id="54" name="AutoShape 51">
            <a:extLst>
              <a:ext uri="{FF2B5EF4-FFF2-40B4-BE49-F238E27FC236}">
                <a16:creationId xmlns:a16="http://schemas.microsoft.com/office/drawing/2014/main" id="{3AEAEAE7-3006-4CE7-B237-77015D9E8863}"/>
              </a:ext>
            </a:extLst>
          </p:cNvPr>
          <p:cNvSpPr>
            <a:spLocks/>
          </p:cNvSpPr>
          <p:nvPr/>
        </p:nvSpPr>
        <p:spPr bwMode="auto">
          <a:xfrm>
            <a:off x="6608763" y="3422650"/>
            <a:ext cx="228600" cy="1752600"/>
          </a:xfrm>
          <a:prstGeom prst="rightBrace">
            <a:avLst>
              <a:gd name="adj1" fmla="val 63889"/>
              <a:gd name="adj2" fmla="val 50000"/>
            </a:avLst>
          </a:prstGeom>
          <a:noFill/>
          <a:ln w="12600">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55" name="Text Box 52">
            <a:extLst>
              <a:ext uri="{FF2B5EF4-FFF2-40B4-BE49-F238E27FC236}">
                <a16:creationId xmlns:a16="http://schemas.microsoft.com/office/drawing/2014/main" id="{DB680683-5430-417D-938B-8BFF1E8FE9A8}"/>
              </a:ext>
            </a:extLst>
          </p:cNvPr>
          <p:cNvSpPr txBox="1">
            <a:spLocks noChangeArrowheads="1"/>
          </p:cNvSpPr>
          <p:nvPr/>
        </p:nvSpPr>
        <p:spPr bwMode="auto">
          <a:xfrm>
            <a:off x="6859588" y="4108450"/>
            <a:ext cx="2074862" cy="306388"/>
          </a:xfrm>
          <a:prstGeom prst="rect">
            <a:avLst/>
          </a:prstGeom>
          <a:noFill/>
          <a:ln w="9525">
            <a:noFill/>
            <a:round/>
            <a:headEnd/>
            <a:tailEnd/>
          </a:ln>
          <a:effectLst/>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i="1" dirty="0">
                <a:solidFill>
                  <a:srgbClr val="000000"/>
                </a:solidFill>
                <a:latin typeface="Calibri" pitchFamily="34" charset="0"/>
                <a:ea typeface="+mn-ea"/>
              </a:rPr>
              <a:t>6K unallocated VM pages</a:t>
            </a:r>
          </a:p>
        </p:txBody>
      </p:sp>
      <p:sp>
        <p:nvSpPr>
          <p:cNvPr id="56" name="AutoShape 53">
            <a:extLst>
              <a:ext uri="{FF2B5EF4-FFF2-40B4-BE49-F238E27FC236}">
                <a16:creationId xmlns:a16="http://schemas.microsoft.com/office/drawing/2014/main" id="{66E5D00E-39E3-4059-9B69-C2FF2D6802B3}"/>
              </a:ext>
            </a:extLst>
          </p:cNvPr>
          <p:cNvSpPr>
            <a:spLocks/>
          </p:cNvSpPr>
          <p:nvPr/>
        </p:nvSpPr>
        <p:spPr bwMode="auto">
          <a:xfrm>
            <a:off x="6532563" y="5251450"/>
            <a:ext cx="304800" cy="609600"/>
          </a:xfrm>
          <a:prstGeom prst="rightBrace">
            <a:avLst>
              <a:gd name="adj1" fmla="val 16667"/>
              <a:gd name="adj2" fmla="val 50000"/>
            </a:avLst>
          </a:prstGeom>
          <a:noFill/>
          <a:ln w="12600">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57" name="Text Box 54">
            <a:extLst>
              <a:ext uri="{FF2B5EF4-FFF2-40B4-BE49-F238E27FC236}">
                <a16:creationId xmlns:a16="http://schemas.microsoft.com/office/drawing/2014/main" id="{3262C76F-DBB9-4A93-A48D-6DD98787CA2E}"/>
              </a:ext>
            </a:extLst>
          </p:cNvPr>
          <p:cNvSpPr txBox="1">
            <a:spLocks noChangeArrowheads="1"/>
          </p:cNvSpPr>
          <p:nvPr/>
        </p:nvSpPr>
        <p:spPr bwMode="auto">
          <a:xfrm>
            <a:off x="6859588" y="5389563"/>
            <a:ext cx="1987550" cy="306387"/>
          </a:xfrm>
          <a:prstGeom prst="rect">
            <a:avLst/>
          </a:prstGeom>
          <a:noFill/>
          <a:ln w="9525">
            <a:noFill/>
            <a:round/>
            <a:headEnd/>
            <a:tailEnd/>
          </a:ln>
          <a:effectLst/>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i="1" dirty="0">
                <a:solidFill>
                  <a:srgbClr val="000000"/>
                </a:solidFill>
                <a:latin typeface="Calibri" pitchFamily="34" charset="0"/>
                <a:ea typeface="+mn-ea"/>
              </a:rPr>
              <a:t>1023 unallocated  pages</a:t>
            </a:r>
          </a:p>
        </p:txBody>
      </p:sp>
      <p:sp>
        <p:nvSpPr>
          <p:cNvPr id="58" name="AutoShape 55">
            <a:extLst>
              <a:ext uri="{FF2B5EF4-FFF2-40B4-BE49-F238E27FC236}">
                <a16:creationId xmlns:a16="http://schemas.microsoft.com/office/drawing/2014/main" id="{7BDDC47A-77C0-4023-B052-3E667BBA2A19}"/>
              </a:ext>
            </a:extLst>
          </p:cNvPr>
          <p:cNvSpPr>
            <a:spLocks/>
          </p:cNvSpPr>
          <p:nvPr/>
        </p:nvSpPr>
        <p:spPr bwMode="auto">
          <a:xfrm>
            <a:off x="6532563" y="5861050"/>
            <a:ext cx="304800" cy="304800"/>
          </a:xfrm>
          <a:prstGeom prst="rightBrace">
            <a:avLst>
              <a:gd name="adj1" fmla="val 8333"/>
              <a:gd name="adj2" fmla="val 50000"/>
            </a:avLst>
          </a:prstGeom>
          <a:noFill/>
          <a:ln w="12600">
            <a:solidFill>
              <a:srgbClr val="000066"/>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59" name="Text Box 56">
            <a:extLst>
              <a:ext uri="{FF2B5EF4-FFF2-40B4-BE49-F238E27FC236}">
                <a16:creationId xmlns:a16="http://schemas.microsoft.com/office/drawing/2014/main" id="{97C8A12B-F69E-4A42-9F41-C79338B4F8F9}"/>
              </a:ext>
            </a:extLst>
          </p:cNvPr>
          <p:cNvSpPr txBox="1">
            <a:spLocks noChangeArrowheads="1"/>
          </p:cNvSpPr>
          <p:nvPr/>
        </p:nvSpPr>
        <p:spPr bwMode="auto">
          <a:xfrm>
            <a:off x="6861175" y="5802313"/>
            <a:ext cx="1717675" cy="517525"/>
          </a:xfrm>
          <a:prstGeom prst="rect">
            <a:avLst/>
          </a:prstGeom>
          <a:noFill/>
          <a:ln w="9525">
            <a:noFill/>
            <a:round/>
            <a:headEnd/>
            <a:tailEnd/>
          </a:ln>
          <a:effectLst/>
        </p:spPr>
        <p:txBody>
          <a:bodyPr wrap="none" lIns="90000" tIns="46800" rIns="90000" bIns="46800" anchor="ctr">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i="1" dirty="0">
                <a:solidFill>
                  <a:srgbClr val="000000"/>
                </a:solidFill>
                <a:latin typeface="Calibri" pitchFamily="34" charset="0"/>
                <a:ea typeface="+mn-ea"/>
              </a:rPr>
              <a:t>1 allocated VM page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1" i="1" dirty="0">
                <a:solidFill>
                  <a:srgbClr val="000000"/>
                </a:solidFill>
                <a:latin typeface="Calibri" pitchFamily="34" charset="0"/>
                <a:ea typeface="+mn-ea"/>
              </a:rPr>
              <a:t>for the stack</a:t>
            </a:r>
          </a:p>
        </p:txBody>
      </p:sp>
      <p:sp>
        <p:nvSpPr>
          <p:cNvPr id="121915" name="TextBox 57">
            <a:extLst>
              <a:ext uri="{FF2B5EF4-FFF2-40B4-BE49-F238E27FC236}">
                <a16:creationId xmlns:a16="http://schemas.microsoft.com/office/drawing/2014/main" id="{49398E7D-7F91-4459-A838-06D59B261358}"/>
              </a:ext>
            </a:extLst>
          </p:cNvPr>
          <p:cNvSpPr txBox="1">
            <a:spLocks noChangeArrowheads="1"/>
          </p:cNvSpPr>
          <p:nvPr/>
        </p:nvSpPr>
        <p:spPr bwMode="auto">
          <a:xfrm>
            <a:off x="293688" y="5807075"/>
            <a:ext cx="31305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kumimoji="0" lang="en-US" altLang="zh-CN" sz="1800" b="1">
                <a:solidFill>
                  <a:srgbClr val="000000"/>
                </a:solidFill>
                <a:latin typeface="Calibri" panose="020F0502020204030204" pitchFamily="34" charset="0"/>
                <a:ea typeface="楷体_GB2312" pitchFamily="49" charset="-122"/>
              </a:rPr>
              <a:t>32</a:t>
            </a:r>
            <a:r>
              <a:rPr kumimoji="0" lang="zh-CN" altLang="en-US" sz="1800" b="1">
                <a:solidFill>
                  <a:srgbClr val="000000"/>
                </a:solidFill>
                <a:latin typeface="Calibri" panose="020F0502020204030204" pitchFamily="34" charset="0"/>
                <a:ea typeface="楷体_GB2312" pitchFamily="49" charset="-122"/>
              </a:rPr>
              <a:t>位地址，</a:t>
            </a:r>
            <a:r>
              <a:rPr kumimoji="0" lang="en-US" altLang="zh-CN" sz="1800" b="1">
                <a:solidFill>
                  <a:srgbClr val="000000"/>
                </a:solidFill>
                <a:latin typeface="Calibri" panose="020F0502020204030204" pitchFamily="34" charset="0"/>
                <a:ea typeface="楷体_GB2312" pitchFamily="49" charset="-122"/>
              </a:rPr>
              <a:t>4KB</a:t>
            </a:r>
            <a:r>
              <a:rPr kumimoji="0" lang="zh-CN" altLang="en-US" sz="1800" b="1">
                <a:solidFill>
                  <a:srgbClr val="000000"/>
                </a:solidFill>
                <a:latin typeface="Calibri" panose="020F0502020204030204" pitchFamily="34" charset="0"/>
                <a:ea typeface="楷体_GB2312" pitchFamily="49" charset="-122"/>
              </a:rPr>
              <a:t>页，</a:t>
            </a:r>
            <a:r>
              <a:rPr kumimoji="0" lang="en-US" altLang="zh-CN" sz="1800" b="1">
                <a:solidFill>
                  <a:srgbClr val="000000"/>
                </a:solidFill>
                <a:latin typeface="Calibri" panose="020F0502020204030204" pitchFamily="34" charset="0"/>
                <a:ea typeface="楷体_GB2312" pitchFamily="49" charset="-122"/>
              </a:rPr>
              <a:t>4B</a:t>
            </a:r>
            <a:r>
              <a:rPr kumimoji="0" lang="zh-CN" altLang="en-US" sz="1800" b="1">
                <a:solidFill>
                  <a:srgbClr val="000000"/>
                </a:solidFill>
                <a:latin typeface="Calibri" panose="020F0502020204030204" pitchFamily="34" charset="0"/>
                <a:ea typeface="楷体_GB2312" pitchFamily="49" charset="-122"/>
              </a:rPr>
              <a:t>页表项</a:t>
            </a:r>
            <a:endParaRPr kumimoji="0" lang="en-US" altLang="zh-CN" sz="1800" b="1">
              <a:solidFill>
                <a:srgbClr val="000000"/>
              </a:solidFill>
              <a:latin typeface="Calibri" panose="020F0502020204030204" pitchFamily="34" charset="0"/>
              <a:ea typeface="楷体_GB2312" pitchFamily="49" charset="-122"/>
            </a:endParaRPr>
          </a:p>
          <a:p>
            <a:r>
              <a:rPr kumimoji="0" lang="zh-CN" altLang="en-US" sz="1800" b="1">
                <a:solidFill>
                  <a:srgbClr val="000000"/>
                </a:solidFill>
                <a:latin typeface="Calibri" panose="020F0502020204030204" pitchFamily="34" charset="0"/>
                <a:ea typeface="楷体_GB2312" pitchFamily="49" charset="-122"/>
              </a:rPr>
              <a:t>一级页表大小：</a:t>
            </a:r>
            <a:r>
              <a:rPr kumimoji="0" lang="en-US" altLang="zh-CN" sz="1800" b="1">
                <a:solidFill>
                  <a:srgbClr val="000000"/>
                </a:solidFill>
                <a:latin typeface="Calibri" panose="020F0502020204030204" pitchFamily="34" charset="0"/>
                <a:ea typeface="楷体_GB2312" pitchFamily="49" charset="-122"/>
              </a:rPr>
              <a:t>2</a:t>
            </a:r>
            <a:r>
              <a:rPr kumimoji="0" lang="en-US" altLang="zh-CN" sz="1800" b="1" baseline="30000">
                <a:solidFill>
                  <a:srgbClr val="000000"/>
                </a:solidFill>
                <a:latin typeface="Calibri" panose="020F0502020204030204" pitchFamily="34" charset="0"/>
                <a:ea typeface="楷体_GB2312" pitchFamily="49" charset="-122"/>
              </a:rPr>
              <a:t>10</a:t>
            </a:r>
            <a:r>
              <a:rPr kumimoji="0" lang="en-US" altLang="zh-CN" sz="1800" b="1">
                <a:solidFill>
                  <a:srgbClr val="000000"/>
                </a:solidFill>
                <a:latin typeface="Calibri" panose="020F0502020204030204" pitchFamily="34" charset="0"/>
                <a:ea typeface="楷体_GB2312" pitchFamily="49" charset="-122"/>
                <a:sym typeface="Symbol" panose="05050102010706020507" pitchFamily="18" charset="2"/>
              </a:rPr>
              <a:t></a:t>
            </a:r>
            <a:r>
              <a:rPr kumimoji="0" lang="en-US" altLang="zh-CN" sz="1800" b="1">
                <a:solidFill>
                  <a:srgbClr val="000000"/>
                </a:solidFill>
                <a:latin typeface="Calibri" panose="020F0502020204030204" pitchFamily="34" charset="0"/>
                <a:ea typeface="楷体_GB2312" pitchFamily="49" charset="-122"/>
              </a:rPr>
              <a:t>4=4KB</a:t>
            </a:r>
          </a:p>
        </p:txBody>
      </p:sp>
    </p:spTree>
  </p:cSld>
  <p:clrMapOvr>
    <a:masterClrMapping/>
  </p:clrMapOvr>
  <p:transition spd="med">
    <p:pull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0EBD49-050E-4F7B-AE0C-E7F5524863C2}"/>
              </a:ext>
            </a:extLst>
          </p:cNvPr>
          <p:cNvSpPr>
            <a:spLocks noGrp="1"/>
          </p:cNvSpPr>
          <p:nvPr>
            <p:ph type="title"/>
          </p:nvPr>
        </p:nvSpPr>
        <p:spPr/>
        <p:txBody>
          <a:bodyPr/>
          <a:lstStyle/>
          <a:p>
            <a:pPr>
              <a:defRPr/>
            </a:pPr>
            <a:r>
              <a:rPr lang="zh-CN" altLang="en-US"/>
              <a:t>使用</a:t>
            </a:r>
            <a:r>
              <a:rPr lang="en-US" altLang="zh-CN"/>
              <a:t>k</a:t>
            </a:r>
            <a:r>
              <a:rPr lang="zh-CN" altLang="en-US"/>
              <a:t>级页表的地址翻译</a:t>
            </a:r>
          </a:p>
        </p:txBody>
      </p:sp>
      <p:sp>
        <p:nvSpPr>
          <p:cNvPr id="123907" name="内容占位符 2">
            <a:extLst>
              <a:ext uri="{FF2B5EF4-FFF2-40B4-BE49-F238E27FC236}">
                <a16:creationId xmlns:a16="http://schemas.microsoft.com/office/drawing/2014/main" id="{5D4D50D2-358B-48EE-82DB-2E8DA244DC5D}"/>
              </a:ext>
            </a:extLst>
          </p:cNvPr>
          <p:cNvSpPr>
            <a:spLocks noGrp="1" noChangeArrowheads="1"/>
          </p:cNvSpPr>
          <p:nvPr>
            <p:ph idx="1"/>
          </p:nvPr>
        </p:nvSpPr>
        <p:spPr/>
        <p:txBody>
          <a:bodyPr/>
          <a:lstStyle/>
          <a:p>
            <a:endParaRPr lang="zh-CN" altLang="en-US"/>
          </a:p>
        </p:txBody>
      </p:sp>
      <p:sp>
        <p:nvSpPr>
          <p:cNvPr id="5" name="Rectangle 50">
            <a:extLst>
              <a:ext uri="{FF2B5EF4-FFF2-40B4-BE49-F238E27FC236}">
                <a16:creationId xmlns:a16="http://schemas.microsoft.com/office/drawing/2014/main" id="{7CABB4EE-9572-47BE-A003-151837EC7011}"/>
              </a:ext>
            </a:extLst>
          </p:cNvPr>
          <p:cNvSpPr/>
          <p:nvPr/>
        </p:nvSpPr>
        <p:spPr bwMode="auto">
          <a:xfrm>
            <a:off x="684213" y="1557338"/>
            <a:ext cx="1524000" cy="719137"/>
          </a:xfrm>
          <a:prstGeom prst="rect">
            <a:avLst/>
          </a:prstGeom>
          <a:solidFill>
            <a:srgbClr val="F1C7C7"/>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Page table </a:t>
            </a:r>
            <a:br>
              <a:rPr kumimoji="0" lang="en-US" sz="1600" b="1" kern="0" dirty="0">
                <a:solidFill>
                  <a:srgbClr val="000000"/>
                </a:solidFill>
                <a:latin typeface="Calibri"/>
                <a:ea typeface="+mn-ea"/>
              </a:rPr>
            </a:br>
            <a:r>
              <a:rPr kumimoji="0" lang="en-US" sz="1600" b="1" kern="0" dirty="0">
                <a:solidFill>
                  <a:srgbClr val="000000"/>
                </a:solidFill>
                <a:latin typeface="Calibri"/>
                <a:ea typeface="+mn-ea"/>
              </a:rPr>
              <a:t>base register</a:t>
            </a:r>
          </a:p>
          <a:p>
            <a:pPr algn="ctr" eaLnBrk="1" fontAlgn="auto" hangingPunct="1">
              <a:spcBef>
                <a:spcPts val="0"/>
              </a:spcBef>
              <a:spcAft>
                <a:spcPts val="0"/>
              </a:spcAft>
              <a:defRPr/>
            </a:pPr>
            <a:r>
              <a:rPr kumimoji="0" lang="en-US" sz="1600" b="1" kern="0" dirty="0">
                <a:solidFill>
                  <a:srgbClr val="000000"/>
                </a:solidFill>
                <a:latin typeface="Calibri"/>
                <a:ea typeface="+mn-ea"/>
              </a:rPr>
              <a:t>(PTBR)</a:t>
            </a:r>
          </a:p>
        </p:txBody>
      </p:sp>
      <p:cxnSp>
        <p:nvCxnSpPr>
          <p:cNvPr id="123910" name="Straight Connector 4">
            <a:extLst>
              <a:ext uri="{FF2B5EF4-FFF2-40B4-BE49-F238E27FC236}">
                <a16:creationId xmlns:a16="http://schemas.microsoft.com/office/drawing/2014/main" id="{DB5D33B0-9BAE-4499-9975-F4F57609383C}"/>
              </a:ext>
            </a:extLst>
          </p:cNvPr>
          <p:cNvCxnSpPr>
            <a:cxnSpLocks noChangeShapeType="1"/>
            <a:stCxn id="5" idx="2"/>
          </p:cNvCxnSpPr>
          <p:nvPr/>
        </p:nvCxnSpPr>
        <p:spPr bwMode="auto">
          <a:xfrm>
            <a:off x="1446213" y="2276475"/>
            <a:ext cx="0" cy="1485900"/>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cxnSp>
        <p:nvCxnSpPr>
          <p:cNvPr id="123911" name="Straight Arrow Connector 8">
            <a:extLst>
              <a:ext uri="{FF2B5EF4-FFF2-40B4-BE49-F238E27FC236}">
                <a16:creationId xmlns:a16="http://schemas.microsoft.com/office/drawing/2014/main" id="{2F70EFF4-4ED6-4A20-9248-E88DBE4001FC}"/>
              </a:ext>
            </a:extLst>
          </p:cNvPr>
          <p:cNvCxnSpPr>
            <a:cxnSpLocks noChangeShapeType="1"/>
          </p:cNvCxnSpPr>
          <p:nvPr/>
        </p:nvCxnSpPr>
        <p:spPr bwMode="auto">
          <a:xfrm>
            <a:off x="1446213" y="3762375"/>
            <a:ext cx="1193800" cy="9525"/>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8" name="Rectangle 379">
            <a:extLst>
              <a:ext uri="{FF2B5EF4-FFF2-40B4-BE49-F238E27FC236}">
                <a16:creationId xmlns:a16="http://schemas.microsoft.com/office/drawing/2014/main" id="{0154F112-0BAC-49A4-AAA4-8003B2352E56}"/>
              </a:ext>
            </a:extLst>
          </p:cNvPr>
          <p:cNvSpPr>
            <a:spLocks noChangeArrowheads="1"/>
          </p:cNvSpPr>
          <p:nvPr/>
        </p:nvSpPr>
        <p:spPr bwMode="auto">
          <a:xfrm>
            <a:off x="2136775" y="2705100"/>
            <a:ext cx="1239838" cy="304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VPN 1</a:t>
            </a:r>
          </a:p>
        </p:txBody>
      </p:sp>
      <p:sp>
        <p:nvSpPr>
          <p:cNvPr id="9" name="Text Box 381">
            <a:extLst>
              <a:ext uri="{FF2B5EF4-FFF2-40B4-BE49-F238E27FC236}">
                <a16:creationId xmlns:a16="http://schemas.microsoft.com/office/drawing/2014/main" id="{53A38E73-4859-4064-9B46-890560A068B9}"/>
              </a:ext>
            </a:extLst>
          </p:cNvPr>
          <p:cNvSpPr txBox="1">
            <a:spLocks noChangeArrowheads="1"/>
          </p:cNvSpPr>
          <p:nvPr/>
        </p:nvSpPr>
        <p:spPr bwMode="auto">
          <a:xfrm>
            <a:off x="7888288" y="2416175"/>
            <a:ext cx="288925"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0</a:t>
            </a:r>
          </a:p>
        </p:txBody>
      </p:sp>
      <p:sp>
        <p:nvSpPr>
          <p:cNvPr id="10" name="Text Box 382">
            <a:extLst>
              <a:ext uri="{FF2B5EF4-FFF2-40B4-BE49-F238E27FC236}">
                <a16:creationId xmlns:a16="http://schemas.microsoft.com/office/drawing/2014/main" id="{98C4DBF9-A985-4721-9A46-360EDD27CFD0}"/>
              </a:ext>
            </a:extLst>
          </p:cNvPr>
          <p:cNvSpPr txBox="1">
            <a:spLocks noChangeArrowheads="1"/>
          </p:cNvSpPr>
          <p:nvPr/>
        </p:nvSpPr>
        <p:spPr bwMode="auto">
          <a:xfrm>
            <a:off x="7053263" y="2416175"/>
            <a:ext cx="461962"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p-1</a:t>
            </a:r>
          </a:p>
        </p:txBody>
      </p:sp>
      <p:sp>
        <p:nvSpPr>
          <p:cNvPr id="11" name="Text Box 384">
            <a:extLst>
              <a:ext uri="{FF2B5EF4-FFF2-40B4-BE49-F238E27FC236}">
                <a16:creationId xmlns:a16="http://schemas.microsoft.com/office/drawing/2014/main" id="{6D1DDE71-3797-40AE-9F14-A106B07F796C}"/>
              </a:ext>
            </a:extLst>
          </p:cNvPr>
          <p:cNvSpPr txBox="1">
            <a:spLocks noChangeArrowheads="1"/>
          </p:cNvSpPr>
          <p:nvPr/>
        </p:nvSpPr>
        <p:spPr bwMode="auto">
          <a:xfrm>
            <a:off x="2017713" y="2378075"/>
            <a:ext cx="461962"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n-1</a:t>
            </a:r>
          </a:p>
        </p:txBody>
      </p:sp>
      <p:sp>
        <p:nvSpPr>
          <p:cNvPr id="12" name="Rectangle 385">
            <a:extLst>
              <a:ext uri="{FF2B5EF4-FFF2-40B4-BE49-F238E27FC236}">
                <a16:creationId xmlns:a16="http://schemas.microsoft.com/office/drawing/2014/main" id="{C238644C-3CA8-48B7-BB55-3EC3FBD503AE}"/>
              </a:ext>
            </a:extLst>
          </p:cNvPr>
          <p:cNvSpPr>
            <a:spLocks noChangeArrowheads="1"/>
          </p:cNvSpPr>
          <p:nvPr/>
        </p:nvSpPr>
        <p:spPr bwMode="auto">
          <a:xfrm>
            <a:off x="7116763" y="2705100"/>
            <a:ext cx="919162" cy="304800"/>
          </a:xfrm>
          <a:prstGeom prst="rect">
            <a:avLst/>
          </a:prstGeom>
          <a:solidFill>
            <a:srgbClr val="DBF2DA"/>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a:ea typeface="+mn-ea"/>
              </a:rPr>
              <a:t>VPO</a:t>
            </a:r>
          </a:p>
        </p:txBody>
      </p:sp>
      <p:sp>
        <p:nvSpPr>
          <p:cNvPr id="13" name="Rectangle 390">
            <a:extLst>
              <a:ext uri="{FF2B5EF4-FFF2-40B4-BE49-F238E27FC236}">
                <a16:creationId xmlns:a16="http://schemas.microsoft.com/office/drawing/2014/main" id="{23CDEE48-6CF7-4D9B-AF6C-42F3C8701B5D}"/>
              </a:ext>
            </a:extLst>
          </p:cNvPr>
          <p:cNvSpPr>
            <a:spLocks noChangeArrowheads="1"/>
          </p:cNvSpPr>
          <p:nvPr/>
        </p:nvSpPr>
        <p:spPr bwMode="auto">
          <a:xfrm>
            <a:off x="3386138" y="2705100"/>
            <a:ext cx="1239837" cy="304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a:ea typeface="+mn-ea"/>
              </a:rPr>
              <a:t>VPN 2</a:t>
            </a:r>
          </a:p>
        </p:txBody>
      </p:sp>
      <p:sp>
        <p:nvSpPr>
          <p:cNvPr id="14" name="Rectangle 391">
            <a:extLst>
              <a:ext uri="{FF2B5EF4-FFF2-40B4-BE49-F238E27FC236}">
                <a16:creationId xmlns:a16="http://schemas.microsoft.com/office/drawing/2014/main" id="{EB9A0564-762E-4336-A5BD-D32E7D979284}"/>
              </a:ext>
            </a:extLst>
          </p:cNvPr>
          <p:cNvSpPr>
            <a:spLocks noChangeArrowheads="1"/>
          </p:cNvSpPr>
          <p:nvPr/>
        </p:nvSpPr>
        <p:spPr bwMode="auto">
          <a:xfrm>
            <a:off x="4630738" y="2705100"/>
            <a:ext cx="1239837" cy="304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a:ea typeface="+mn-ea"/>
              </a:rPr>
              <a:t>...</a:t>
            </a:r>
          </a:p>
        </p:txBody>
      </p:sp>
      <p:sp>
        <p:nvSpPr>
          <p:cNvPr id="15" name="Rectangle 392">
            <a:extLst>
              <a:ext uri="{FF2B5EF4-FFF2-40B4-BE49-F238E27FC236}">
                <a16:creationId xmlns:a16="http://schemas.microsoft.com/office/drawing/2014/main" id="{6AF20C55-7DD1-4163-A04B-FBBB928BBDAE}"/>
              </a:ext>
            </a:extLst>
          </p:cNvPr>
          <p:cNvSpPr>
            <a:spLocks noChangeArrowheads="1"/>
          </p:cNvSpPr>
          <p:nvPr/>
        </p:nvSpPr>
        <p:spPr bwMode="auto">
          <a:xfrm>
            <a:off x="5870575" y="2705100"/>
            <a:ext cx="1239838" cy="304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a:ea typeface="+mn-ea"/>
              </a:rPr>
              <a:t>VPN k</a:t>
            </a:r>
          </a:p>
        </p:txBody>
      </p:sp>
      <p:sp>
        <p:nvSpPr>
          <p:cNvPr id="16" name="Line 393">
            <a:extLst>
              <a:ext uri="{FF2B5EF4-FFF2-40B4-BE49-F238E27FC236}">
                <a16:creationId xmlns:a16="http://schemas.microsoft.com/office/drawing/2014/main" id="{A748A916-C361-41AA-8059-B186C9A53ED5}"/>
              </a:ext>
            </a:extLst>
          </p:cNvPr>
          <p:cNvSpPr>
            <a:spLocks noChangeShapeType="1"/>
          </p:cNvSpPr>
          <p:nvPr/>
        </p:nvSpPr>
        <p:spPr bwMode="auto">
          <a:xfrm>
            <a:off x="2327275" y="2867025"/>
            <a:ext cx="0" cy="1344613"/>
          </a:xfrm>
          <a:prstGeom prst="line">
            <a:avLst/>
          </a:prstGeom>
          <a:noFill/>
          <a:ln w="25400">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7" name="Rectangle 395">
            <a:extLst>
              <a:ext uri="{FF2B5EF4-FFF2-40B4-BE49-F238E27FC236}">
                <a16:creationId xmlns:a16="http://schemas.microsoft.com/office/drawing/2014/main" id="{F5A363EC-2505-48DF-981F-B6D0D06E787A}"/>
              </a:ext>
            </a:extLst>
          </p:cNvPr>
          <p:cNvSpPr>
            <a:spLocks noChangeArrowheads="1"/>
          </p:cNvSpPr>
          <p:nvPr/>
        </p:nvSpPr>
        <p:spPr bwMode="auto">
          <a:xfrm>
            <a:off x="2670175" y="3754438"/>
            <a:ext cx="520700" cy="7747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8" name="Line 396">
            <a:extLst>
              <a:ext uri="{FF2B5EF4-FFF2-40B4-BE49-F238E27FC236}">
                <a16:creationId xmlns:a16="http://schemas.microsoft.com/office/drawing/2014/main" id="{66F4EBFD-488B-4AB3-B8FD-3F8F53B1F5F3}"/>
              </a:ext>
            </a:extLst>
          </p:cNvPr>
          <p:cNvSpPr>
            <a:spLocks noChangeShapeType="1"/>
          </p:cNvSpPr>
          <p:nvPr/>
        </p:nvSpPr>
        <p:spPr bwMode="auto">
          <a:xfrm>
            <a:off x="2327275" y="4211638"/>
            <a:ext cx="342900"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9" name="Rectangle 397">
            <a:extLst>
              <a:ext uri="{FF2B5EF4-FFF2-40B4-BE49-F238E27FC236}">
                <a16:creationId xmlns:a16="http://schemas.microsoft.com/office/drawing/2014/main" id="{5F54A7BF-8793-4560-8A2B-291ACEF07444}"/>
              </a:ext>
            </a:extLst>
          </p:cNvPr>
          <p:cNvSpPr>
            <a:spLocks noChangeArrowheads="1"/>
          </p:cNvSpPr>
          <p:nvPr/>
        </p:nvSpPr>
        <p:spPr bwMode="auto">
          <a:xfrm>
            <a:off x="2670175" y="4148138"/>
            <a:ext cx="520700" cy="114300"/>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0" name="Line 398">
            <a:extLst>
              <a:ext uri="{FF2B5EF4-FFF2-40B4-BE49-F238E27FC236}">
                <a16:creationId xmlns:a16="http://schemas.microsoft.com/office/drawing/2014/main" id="{33AF4371-89C5-48AD-9228-4CB18A159541}"/>
              </a:ext>
            </a:extLst>
          </p:cNvPr>
          <p:cNvSpPr>
            <a:spLocks noChangeShapeType="1"/>
          </p:cNvSpPr>
          <p:nvPr/>
        </p:nvSpPr>
        <p:spPr bwMode="auto">
          <a:xfrm>
            <a:off x="3533775" y="2867025"/>
            <a:ext cx="0" cy="1103313"/>
          </a:xfrm>
          <a:prstGeom prst="line">
            <a:avLst/>
          </a:prstGeom>
          <a:noFill/>
          <a:ln w="25400">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1" name="Rectangle 399">
            <a:extLst>
              <a:ext uri="{FF2B5EF4-FFF2-40B4-BE49-F238E27FC236}">
                <a16:creationId xmlns:a16="http://schemas.microsoft.com/office/drawing/2014/main" id="{07860D6A-3706-46B9-B4E7-074D23A0E037}"/>
              </a:ext>
            </a:extLst>
          </p:cNvPr>
          <p:cNvSpPr>
            <a:spLocks noChangeArrowheads="1"/>
          </p:cNvSpPr>
          <p:nvPr/>
        </p:nvSpPr>
        <p:spPr bwMode="auto">
          <a:xfrm>
            <a:off x="3876675" y="3754438"/>
            <a:ext cx="520700" cy="7747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2" name="Line 400">
            <a:extLst>
              <a:ext uri="{FF2B5EF4-FFF2-40B4-BE49-F238E27FC236}">
                <a16:creationId xmlns:a16="http://schemas.microsoft.com/office/drawing/2014/main" id="{989A2BB5-8E0F-4FD4-8C27-DBB8E4AD7D0F}"/>
              </a:ext>
            </a:extLst>
          </p:cNvPr>
          <p:cNvSpPr>
            <a:spLocks noChangeShapeType="1"/>
          </p:cNvSpPr>
          <p:nvPr/>
        </p:nvSpPr>
        <p:spPr bwMode="auto">
          <a:xfrm>
            <a:off x="3533775" y="3970338"/>
            <a:ext cx="342900"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3" name="Rectangle 401">
            <a:extLst>
              <a:ext uri="{FF2B5EF4-FFF2-40B4-BE49-F238E27FC236}">
                <a16:creationId xmlns:a16="http://schemas.microsoft.com/office/drawing/2014/main" id="{CEBE5F1F-E96A-4B08-840E-D996A0950786}"/>
              </a:ext>
            </a:extLst>
          </p:cNvPr>
          <p:cNvSpPr>
            <a:spLocks noChangeArrowheads="1"/>
          </p:cNvSpPr>
          <p:nvPr/>
        </p:nvSpPr>
        <p:spPr bwMode="auto">
          <a:xfrm>
            <a:off x="3876675" y="3919538"/>
            <a:ext cx="520700" cy="114300"/>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4" name="Line 402">
            <a:extLst>
              <a:ext uri="{FF2B5EF4-FFF2-40B4-BE49-F238E27FC236}">
                <a16:creationId xmlns:a16="http://schemas.microsoft.com/office/drawing/2014/main" id="{74DF4B80-1B89-458B-AA05-426272BDFFD8}"/>
              </a:ext>
            </a:extLst>
          </p:cNvPr>
          <p:cNvSpPr>
            <a:spLocks noChangeShapeType="1"/>
          </p:cNvSpPr>
          <p:nvPr/>
        </p:nvSpPr>
        <p:spPr bwMode="auto">
          <a:xfrm>
            <a:off x="6048375" y="2867025"/>
            <a:ext cx="0" cy="1484313"/>
          </a:xfrm>
          <a:prstGeom prst="line">
            <a:avLst/>
          </a:prstGeom>
          <a:noFill/>
          <a:ln w="25400">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5" name="Rectangle 403">
            <a:extLst>
              <a:ext uri="{FF2B5EF4-FFF2-40B4-BE49-F238E27FC236}">
                <a16:creationId xmlns:a16="http://schemas.microsoft.com/office/drawing/2014/main" id="{B652DFDA-ACC6-41A9-B053-B361EE3EF81C}"/>
              </a:ext>
            </a:extLst>
          </p:cNvPr>
          <p:cNvSpPr>
            <a:spLocks noChangeArrowheads="1"/>
          </p:cNvSpPr>
          <p:nvPr/>
        </p:nvSpPr>
        <p:spPr bwMode="auto">
          <a:xfrm>
            <a:off x="6391275" y="3754438"/>
            <a:ext cx="520700" cy="7747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6" name="Line 404">
            <a:extLst>
              <a:ext uri="{FF2B5EF4-FFF2-40B4-BE49-F238E27FC236}">
                <a16:creationId xmlns:a16="http://schemas.microsoft.com/office/drawing/2014/main" id="{55BC649D-F7C5-493D-8485-15D6558D70F3}"/>
              </a:ext>
            </a:extLst>
          </p:cNvPr>
          <p:cNvSpPr>
            <a:spLocks noChangeShapeType="1"/>
          </p:cNvSpPr>
          <p:nvPr/>
        </p:nvSpPr>
        <p:spPr bwMode="auto">
          <a:xfrm>
            <a:off x="6048375" y="4351338"/>
            <a:ext cx="342900"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27" name="Rectangle 405">
            <a:extLst>
              <a:ext uri="{FF2B5EF4-FFF2-40B4-BE49-F238E27FC236}">
                <a16:creationId xmlns:a16="http://schemas.microsoft.com/office/drawing/2014/main" id="{37F09639-0FDB-4FA0-937C-A479E57F7B92}"/>
              </a:ext>
            </a:extLst>
          </p:cNvPr>
          <p:cNvSpPr>
            <a:spLocks noChangeArrowheads="1"/>
          </p:cNvSpPr>
          <p:nvPr/>
        </p:nvSpPr>
        <p:spPr bwMode="auto">
          <a:xfrm>
            <a:off x="6391275" y="4262438"/>
            <a:ext cx="520700" cy="152400"/>
          </a:xfrm>
          <a:prstGeom prst="rect">
            <a:avLst/>
          </a:prstGeom>
          <a:solidFill>
            <a:srgbClr val="DEDFF5"/>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dirty="0">
                <a:solidFill>
                  <a:srgbClr val="000000"/>
                </a:solidFill>
                <a:latin typeface="Calibri"/>
                <a:ea typeface="+mn-ea"/>
              </a:rPr>
              <a:t>PPN</a:t>
            </a:r>
          </a:p>
        </p:txBody>
      </p:sp>
      <p:sp>
        <p:nvSpPr>
          <p:cNvPr id="28" name="Text Box 407">
            <a:extLst>
              <a:ext uri="{FF2B5EF4-FFF2-40B4-BE49-F238E27FC236}">
                <a16:creationId xmlns:a16="http://schemas.microsoft.com/office/drawing/2014/main" id="{0BBFCBF8-A846-41FD-9203-BBDECE1E1D71}"/>
              </a:ext>
            </a:extLst>
          </p:cNvPr>
          <p:cNvSpPr txBox="1">
            <a:spLocks noChangeArrowheads="1"/>
          </p:cNvSpPr>
          <p:nvPr/>
        </p:nvSpPr>
        <p:spPr bwMode="auto">
          <a:xfrm>
            <a:off x="7888288" y="4826000"/>
            <a:ext cx="288925"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0</a:t>
            </a:r>
          </a:p>
        </p:txBody>
      </p:sp>
      <p:sp>
        <p:nvSpPr>
          <p:cNvPr id="29" name="Text Box 408">
            <a:extLst>
              <a:ext uri="{FF2B5EF4-FFF2-40B4-BE49-F238E27FC236}">
                <a16:creationId xmlns:a16="http://schemas.microsoft.com/office/drawing/2014/main" id="{EB5ED3C8-F03A-445F-9AAC-194BE8CB1D55}"/>
              </a:ext>
            </a:extLst>
          </p:cNvPr>
          <p:cNvSpPr txBox="1">
            <a:spLocks noChangeArrowheads="1"/>
          </p:cNvSpPr>
          <p:nvPr/>
        </p:nvSpPr>
        <p:spPr bwMode="auto">
          <a:xfrm>
            <a:off x="7053263" y="4826000"/>
            <a:ext cx="461962"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p-1</a:t>
            </a:r>
          </a:p>
        </p:txBody>
      </p:sp>
      <p:sp>
        <p:nvSpPr>
          <p:cNvPr id="30" name="Text Box 409">
            <a:extLst>
              <a:ext uri="{FF2B5EF4-FFF2-40B4-BE49-F238E27FC236}">
                <a16:creationId xmlns:a16="http://schemas.microsoft.com/office/drawing/2014/main" id="{007EBE19-4079-43A6-ADB9-4591ACA6C83F}"/>
              </a:ext>
            </a:extLst>
          </p:cNvPr>
          <p:cNvSpPr txBox="1">
            <a:spLocks noChangeArrowheads="1"/>
          </p:cNvSpPr>
          <p:nvPr/>
        </p:nvSpPr>
        <p:spPr bwMode="auto">
          <a:xfrm>
            <a:off x="3240088" y="4822825"/>
            <a:ext cx="517525"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m-1</a:t>
            </a:r>
          </a:p>
        </p:txBody>
      </p:sp>
      <p:sp>
        <p:nvSpPr>
          <p:cNvPr id="31" name="Rectangle 410">
            <a:extLst>
              <a:ext uri="{FF2B5EF4-FFF2-40B4-BE49-F238E27FC236}">
                <a16:creationId xmlns:a16="http://schemas.microsoft.com/office/drawing/2014/main" id="{C6801F78-519F-4B22-97E3-D1F55A6BCA7E}"/>
              </a:ext>
            </a:extLst>
          </p:cNvPr>
          <p:cNvSpPr>
            <a:spLocks noChangeArrowheads="1"/>
          </p:cNvSpPr>
          <p:nvPr/>
        </p:nvSpPr>
        <p:spPr bwMode="auto">
          <a:xfrm>
            <a:off x="7116763" y="5113338"/>
            <a:ext cx="919162" cy="304800"/>
          </a:xfrm>
          <a:prstGeom prst="rect">
            <a:avLst/>
          </a:prstGeom>
          <a:solidFill>
            <a:srgbClr val="DBF2DA"/>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a:ea typeface="+mn-ea"/>
              </a:rPr>
              <a:t>PPO</a:t>
            </a:r>
          </a:p>
        </p:txBody>
      </p:sp>
      <p:sp>
        <p:nvSpPr>
          <p:cNvPr id="32" name="Rectangle 411">
            <a:extLst>
              <a:ext uri="{FF2B5EF4-FFF2-40B4-BE49-F238E27FC236}">
                <a16:creationId xmlns:a16="http://schemas.microsoft.com/office/drawing/2014/main" id="{83116F22-E804-49F3-BAA2-29688797B896}"/>
              </a:ext>
            </a:extLst>
          </p:cNvPr>
          <p:cNvSpPr>
            <a:spLocks noChangeArrowheads="1"/>
          </p:cNvSpPr>
          <p:nvPr/>
        </p:nvSpPr>
        <p:spPr bwMode="auto">
          <a:xfrm>
            <a:off x="3386138" y="5113338"/>
            <a:ext cx="3724275" cy="304800"/>
          </a:xfrm>
          <a:prstGeom prst="rect">
            <a:avLst/>
          </a:prstGeom>
          <a:solidFill>
            <a:srgbClr val="DEDFF5"/>
          </a:solid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r>
              <a:rPr kumimoji="0" lang="en-US" sz="1600" b="1" kern="0">
                <a:solidFill>
                  <a:srgbClr val="000000"/>
                </a:solidFill>
                <a:latin typeface="Calibri"/>
                <a:ea typeface="+mn-ea"/>
              </a:rPr>
              <a:t>PPN</a:t>
            </a:r>
          </a:p>
        </p:txBody>
      </p:sp>
      <p:sp>
        <p:nvSpPr>
          <p:cNvPr id="33" name="Line 414">
            <a:extLst>
              <a:ext uri="{FF2B5EF4-FFF2-40B4-BE49-F238E27FC236}">
                <a16:creationId xmlns:a16="http://schemas.microsoft.com/office/drawing/2014/main" id="{D501D47A-7206-4E19-AAC9-8F7915AC7CD8}"/>
              </a:ext>
            </a:extLst>
          </p:cNvPr>
          <p:cNvSpPr>
            <a:spLocks noChangeShapeType="1"/>
          </p:cNvSpPr>
          <p:nvPr/>
        </p:nvSpPr>
        <p:spPr bwMode="auto">
          <a:xfrm>
            <a:off x="3076575" y="4211638"/>
            <a:ext cx="309563" cy="0"/>
          </a:xfrm>
          <a:prstGeom prst="line">
            <a:avLst/>
          </a:prstGeom>
          <a:noFill/>
          <a:ln w="25400">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34" name="Line 415">
            <a:extLst>
              <a:ext uri="{FF2B5EF4-FFF2-40B4-BE49-F238E27FC236}">
                <a16:creationId xmlns:a16="http://schemas.microsoft.com/office/drawing/2014/main" id="{74474F34-2C60-49CF-812A-D192081493D3}"/>
              </a:ext>
            </a:extLst>
          </p:cNvPr>
          <p:cNvSpPr>
            <a:spLocks noChangeShapeType="1"/>
          </p:cNvSpPr>
          <p:nvPr/>
        </p:nvSpPr>
        <p:spPr bwMode="auto">
          <a:xfrm flipH="1" flipV="1">
            <a:off x="3381375" y="3757613"/>
            <a:ext cx="0" cy="4572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35" name="Line 416">
            <a:extLst>
              <a:ext uri="{FF2B5EF4-FFF2-40B4-BE49-F238E27FC236}">
                <a16:creationId xmlns:a16="http://schemas.microsoft.com/office/drawing/2014/main" id="{2D042A66-4DE9-404A-95B4-D56506F8E496}"/>
              </a:ext>
            </a:extLst>
          </p:cNvPr>
          <p:cNvSpPr>
            <a:spLocks noChangeShapeType="1"/>
          </p:cNvSpPr>
          <p:nvPr/>
        </p:nvSpPr>
        <p:spPr bwMode="auto">
          <a:xfrm>
            <a:off x="3386138" y="3754438"/>
            <a:ext cx="490537"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36" name="Line 417">
            <a:extLst>
              <a:ext uri="{FF2B5EF4-FFF2-40B4-BE49-F238E27FC236}">
                <a16:creationId xmlns:a16="http://schemas.microsoft.com/office/drawing/2014/main" id="{96E60B83-2B46-4CF6-9739-93423F3F939F}"/>
              </a:ext>
            </a:extLst>
          </p:cNvPr>
          <p:cNvSpPr>
            <a:spLocks noChangeShapeType="1"/>
          </p:cNvSpPr>
          <p:nvPr/>
        </p:nvSpPr>
        <p:spPr bwMode="auto">
          <a:xfrm>
            <a:off x="4295775" y="3970338"/>
            <a:ext cx="309563" cy="0"/>
          </a:xfrm>
          <a:prstGeom prst="line">
            <a:avLst/>
          </a:prstGeom>
          <a:noFill/>
          <a:ln w="25400">
            <a:solidFill>
              <a:srgbClr val="000000"/>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37" name="Line 418">
            <a:extLst>
              <a:ext uri="{FF2B5EF4-FFF2-40B4-BE49-F238E27FC236}">
                <a16:creationId xmlns:a16="http://schemas.microsoft.com/office/drawing/2014/main" id="{45FF2333-C0FF-40C7-AD81-15F3D4ED4946}"/>
              </a:ext>
            </a:extLst>
          </p:cNvPr>
          <p:cNvSpPr>
            <a:spLocks noChangeShapeType="1"/>
          </p:cNvSpPr>
          <p:nvPr/>
        </p:nvSpPr>
        <p:spPr bwMode="auto">
          <a:xfrm flipV="1">
            <a:off x="4597400" y="3754438"/>
            <a:ext cx="4763" cy="21590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38" name="Line 419">
            <a:extLst>
              <a:ext uri="{FF2B5EF4-FFF2-40B4-BE49-F238E27FC236}">
                <a16:creationId xmlns:a16="http://schemas.microsoft.com/office/drawing/2014/main" id="{ADC1CBBA-796D-416A-B8C6-BF59BEEBE033}"/>
              </a:ext>
            </a:extLst>
          </p:cNvPr>
          <p:cNvSpPr>
            <a:spLocks noChangeShapeType="1"/>
          </p:cNvSpPr>
          <p:nvPr/>
        </p:nvSpPr>
        <p:spPr bwMode="auto">
          <a:xfrm>
            <a:off x="4605338" y="3754438"/>
            <a:ext cx="490537"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39" name="Text Box 420">
            <a:extLst>
              <a:ext uri="{FF2B5EF4-FFF2-40B4-BE49-F238E27FC236}">
                <a16:creationId xmlns:a16="http://schemas.microsoft.com/office/drawing/2014/main" id="{591D328B-A775-4A18-B9F4-263C62016880}"/>
              </a:ext>
            </a:extLst>
          </p:cNvPr>
          <p:cNvSpPr txBox="1">
            <a:spLocks noChangeArrowheads="1"/>
          </p:cNvSpPr>
          <p:nvPr/>
        </p:nvSpPr>
        <p:spPr bwMode="auto">
          <a:xfrm>
            <a:off x="4202113" y="2271713"/>
            <a:ext cx="1774825"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VIRTUAL ADDRESS</a:t>
            </a:r>
          </a:p>
        </p:txBody>
      </p:sp>
      <p:sp>
        <p:nvSpPr>
          <p:cNvPr id="40" name="Text Box 421">
            <a:extLst>
              <a:ext uri="{FF2B5EF4-FFF2-40B4-BE49-F238E27FC236}">
                <a16:creationId xmlns:a16="http://schemas.microsoft.com/office/drawing/2014/main" id="{4082F3D3-FA37-4E47-9222-3C1A50A4C701}"/>
              </a:ext>
            </a:extLst>
          </p:cNvPr>
          <p:cNvSpPr txBox="1">
            <a:spLocks noChangeArrowheads="1"/>
          </p:cNvSpPr>
          <p:nvPr/>
        </p:nvSpPr>
        <p:spPr bwMode="auto">
          <a:xfrm>
            <a:off x="4706938" y="5481638"/>
            <a:ext cx="1901825"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PHYSICAL ADDRESS</a:t>
            </a:r>
          </a:p>
        </p:txBody>
      </p:sp>
      <p:sp>
        <p:nvSpPr>
          <p:cNvPr id="41" name="Line 422">
            <a:extLst>
              <a:ext uri="{FF2B5EF4-FFF2-40B4-BE49-F238E27FC236}">
                <a16:creationId xmlns:a16="http://schemas.microsoft.com/office/drawing/2014/main" id="{A210C05C-B6C1-457A-97EC-EBE37555E1AF}"/>
              </a:ext>
            </a:extLst>
          </p:cNvPr>
          <p:cNvSpPr>
            <a:spLocks noChangeShapeType="1"/>
          </p:cNvSpPr>
          <p:nvPr/>
        </p:nvSpPr>
        <p:spPr bwMode="auto">
          <a:xfrm flipH="1">
            <a:off x="7569200" y="3143250"/>
            <a:ext cx="0" cy="1970088"/>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42" name="Line 423">
            <a:extLst>
              <a:ext uri="{FF2B5EF4-FFF2-40B4-BE49-F238E27FC236}">
                <a16:creationId xmlns:a16="http://schemas.microsoft.com/office/drawing/2014/main" id="{D4695FA4-A341-4C6B-BE8B-3388C14238B0}"/>
              </a:ext>
            </a:extLst>
          </p:cNvPr>
          <p:cNvSpPr>
            <a:spLocks noChangeShapeType="1"/>
          </p:cNvSpPr>
          <p:nvPr/>
        </p:nvSpPr>
        <p:spPr bwMode="auto">
          <a:xfrm>
            <a:off x="7064375" y="4332288"/>
            <a:ext cx="220663"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43" name="Line 424">
            <a:extLst>
              <a:ext uri="{FF2B5EF4-FFF2-40B4-BE49-F238E27FC236}">
                <a16:creationId xmlns:a16="http://schemas.microsoft.com/office/drawing/2014/main" id="{20BE1477-D9EA-41BA-A278-DD489C06A3A5}"/>
              </a:ext>
            </a:extLst>
          </p:cNvPr>
          <p:cNvSpPr>
            <a:spLocks noChangeShapeType="1"/>
          </p:cNvSpPr>
          <p:nvPr/>
        </p:nvSpPr>
        <p:spPr bwMode="auto">
          <a:xfrm>
            <a:off x="7280275" y="4337050"/>
            <a:ext cx="0" cy="5349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44" name="Line 425">
            <a:extLst>
              <a:ext uri="{FF2B5EF4-FFF2-40B4-BE49-F238E27FC236}">
                <a16:creationId xmlns:a16="http://schemas.microsoft.com/office/drawing/2014/main" id="{B5B6521C-CAB6-461D-A6C7-0732546A7299}"/>
              </a:ext>
            </a:extLst>
          </p:cNvPr>
          <p:cNvSpPr>
            <a:spLocks noChangeShapeType="1"/>
          </p:cNvSpPr>
          <p:nvPr/>
        </p:nvSpPr>
        <p:spPr bwMode="auto">
          <a:xfrm flipH="1">
            <a:off x="5286375" y="4868863"/>
            <a:ext cx="1993900" cy="3175"/>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45" name="Line 426">
            <a:extLst>
              <a:ext uri="{FF2B5EF4-FFF2-40B4-BE49-F238E27FC236}">
                <a16:creationId xmlns:a16="http://schemas.microsoft.com/office/drawing/2014/main" id="{C0FA5AD4-633C-435D-89A5-E4DF9B66C636}"/>
              </a:ext>
            </a:extLst>
          </p:cNvPr>
          <p:cNvSpPr>
            <a:spLocks noChangeShapeType="1"/>
          </p:cNvSpPr>
          <p:nvPr/>
        </p:nvSpPr>
        <p:spPr bwMode="auto">
          <a:xfrm>
            <a:off x="5286375" y="4872038"/>
            <a:ext cx="0" cy="24130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46" name="Line 427">
            <a:extLst>
              <a:ext uri="{FF2B5EF4-FFF2-40B4-BE49-F238E27FC236}">
                <a16:creationId xmlns:a16="http://schemas.microsoft.com/office/drawing/2014/main" id="{92DDBE84-1794-4A40-B07C-A2C3B997599F}"/>
              </a:ext>
            </a:extLst>
          </p:cNvPr>
          <p:cNvSpPr>
            <a:spLocks noChangeShapeType="1"/>
          </p:cNvSpPr>
          <p:nvPr/>
        </p:nvSpPr>
        <p:spPr bwMode="auto">
          <a:xfrm>
            <a:off x="5692775" y="3754438"/>
            <a:ext cx="711200"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47" name="Text Box 428">
            <a:extLst>
              <a:ext uri="{FF2B5EF4-FFF2-40B4-BE49-F238E27FC236}">
                <a16:creationId xmlns:a16="http://schemas.microsoft.com/office/drawing/2014/main" id="{08E33800-AC15-4D3F-B5CE-6CA2DDC182B6}"/>
              </a:ext>
            </a:extLst>
          </p:cNvPr>
          <p:cNvSpPr txBox="1">
            <a:spLocks noChangeArrowheads="1"/>
          </p:cNvSpPr>
          <p:nvPr/>
        </p:nvSpPr>
        <p:spPr bwMode="auto">
          <a:xfrm>
            <a:off x="5019675" y="3525838"/>
            <a:ext cx="349250"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a:t>
            </a:r>
          </a:p>
        </p:txBody>
      </p:sp>
      <p:sp>
        <p:nvSpPr>
          <p:cNvPr id="48" name="Text Box 429">
            <a:extLst>
              <a:ext uri="{FF2B5EF4-FFF2-40B4-BE49-F238E27FC236}">
                <a16:creationId xmlns:a16="http://schemas.microsoft.com/office/drawing/2014/main" id="{DF35938F-DD9E-4402-9F68-DCD56D10716B}"/>
              </a:ext>
            </a:extLst>
          </p:cNvPr>
          <p:cNvSpPr txBox="1">
            <a:spLocks noChangeArrowheads="1"/>
          </p:cNvSpPr>
          <p:nvPr/>
        </p:nvSpPr>
        <p:spPr bwMode="auto">
          <a:xfrm>
            <a:off x="5387975" y="3525838"/>
            <a:ext cx="349250" cy="3381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a:solidFill>
                  <a:srgbClr val="000000"/>
                </a:solidFill>
                <a:latin typeface="Calibri"/>
                <a:ea typeface="+mn-ea"/>
              </a:rPr>
              <a:t>...</a:t>
            </a:r>
          </a:p>
        </p:txBody>
      </p:sp>
      <p:sp>
        <p:nvSpPr>
          <p:cNvPr id="49" name="Text Box 430">
            <a:extLst>
              <a:ext uri="{FF2B5EF4-FFF2-40B4-BE49-F238E27FC236}">
                <a16:creationId xmlns:a16="http://schemas.microsoft.com/office/drawing/2014/main" id="{C64B1F94-8B69-4CB7-9BC1-0CB7AF40DEE5}"/>
              </a:ext>
            </a:extLst>
          </p:cNvPr>
          <p:cNvSpPr txBox="1">
            <a:spLocks noChangeArrowheads="1"/>
          </p:cNvSpPr>
          <p:nvPr/>
        </p:nvSpPr>
        <p:spPr bwMode="auto">
          <a:xfrm>
            <a:off x="2420938" y="3095625"/>
            <a:ext cx="1101725" cy="584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dirty="0">
                <a:solidFill>
                  <a:srgbClr val="000000"/>
                </a:solidFill>
                <a:latin typeface="Calibri"/>
                <a:ea typeface="+mn-ea"/>
              </a:rPr>
              <a:t>the Level 1</a:t>
            </a:r>
          </a:p>
          <a:p>
            <a:pPr algn="ctr">
              <a:defRPr/>
            </a:pPr>
            <a:r>
              <a:rPr kumimoji="0" lang="en-US" sz="1600" b="1" dirty="0">
                <a:solidFill>
                  <a:srgbClr val="000000"/>
                </a:solidFill>
                <a:latin typeface="Calibri"/>
                <a:ea typeface="+mn-ea"/>
              </a:rPr>
              <a:t>page table</a:t>
            </a:r>
          </a:p>
        </p:txBody>
      </p:sp>
      <p:sp>
        <p:nvSpPr>
          <p:cNvPr id="50" name="Text Box 431">
            <a:extLst>
              <a:ext uri="{FF2B5EF4-FFF2-40B4-BE49-F238E27FC236}">
                <a16:creationId xmlns:a16="http://schemas.microsoft.com/office/drawing/2014/main" id="{240DE11F-4FB8-49D7-BB32-A00171745E88}"/>
              </a:ext>
            </a:extLst>
          </p:cNvPr>
          <p:cNvSpPr txBox="1">
            <a:spLocks noChangeArrowheads="1"/>
          </p:cNvSpPr>
          <p:nvPr/>
        </p:nvSpPr>
        <p:spPr bwMode="auto">
          <a:xfrm>
            <a:off x="3654425" y="3086100"/>
            <a:ext cx="1073150" cy="584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dirty="0">
                <a:solidFill>
                  <a:srgbClr val="000000"/>
                </a:solidFill>
                <a:latin typeface="Calibri"/>
                <a:ea typeface="+mn-ea"/>
              </a:rPr>
              <a:t>a Level 2</a:t>
            </a:r>
          </a:p>
          <a:p>
            <a:pPr algn="ctr">
              <a:defRPr/>
            </a:pPr>
            <a:r>
              <a:rPr kumimoji="0" lang="en-US" sz="1600" b="1" dirty="0">
                <a:solidFill>
                  <a:srgbClr val="000000"/>
                </a:solidFill>
                <a:latin typeface="Calibri"/>
                <a:ea typeface="+mn-ea"/>
              </a:rPr>
              <a:t>page table</a:t>
            </a:r>
          </a:p>
        </p:txBody>
      </p:sp>
      <p:sp>
        <p:nvSpPr>
          <p:cNvPr id="51" name="Text Box 432">
            <a:extLst>
              <a:ext uri="{FF2B5EF4-FFF2-40B4-BE49-F238E27FC236}">
                <a16:creationId xmlns:a16="http://schemas.microsoft.com/office/drawing/2014/main" id="{BC737622-0C95-4A03-9506-3F72B428E64F}"/>
              </a:ext>
            </a:extLst>
          </p:cNvPr>
          <p:cNvSpPr txBox="1">
            <a:spLocks noChangeArrowheads="1"/>
          </p:cNvSpPr>
          <p:nvPr/>
        </p:nvSpPr>
        <p:spPr bwMode="auto">
          <a:xfrm>
            <a:off x="6159500" y="3076575"/>
            <a:ext cx="1073150" cy="584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kumimoji="0" lang="en-US" sz="1600" b="1" dirty="0">
                <a:solidFill>
                  <a:srgbClr val="000000"/>
                </a:solidFill>
                <a:latin typeface="Calibri"/>
                <a:ea typeface="+mn-ea"/>
              </a:rPr>
              <a:t>a Level k</a:t>
            </a:r>
          </a:p>
          <a:p>
            <a:pPr algn="ctr">
              <a:defRPr/>
            </a:pPr>
            <a:r>
              <a:rPr kumimoji="0" lang="en-US" sz="1600" b="1" dirty="0">
                <a:solidFill>
                  <a:srgbClr val="000000"/>
                </a:solidFill>
                <a:latin typeface="Calibri"/>
                <a:ea typeface="+mn-ea"/>
              </a:rPr>
              <a:t>page table</a:t>
            </a:r>
          </a:p>
        </p:txBody>
      </p:sp>
      <p:sp>
        <p:nvSpPr>
          <p:cNvPr id="52" name="AutoShape 433">
            <a:extLst>
              <a:ext uri="{FF2B5EF4-FFF2-40B4-BE49-F238E27FC236}">
                <a16:creationId xmlns:a16="http://schemas.microsoft.com/office/drawing/2014/main" id="{4D1EF217-A0FD-4526-AB1A-1C6EC60D8526}"/>
              </a:ext>
            </a:extLst>
          </p:cNvPr>
          <p:cNvSpPr>
            <a:spLocks/>
          </p:cNvSpPr>
          <p:nvPr/>
        </p:nvSpPr>
        <p:spPr bwMode="auto">
          <a:xfrm rot="5400000">
            <a:off x="7520782" y="2629694"/>
            <a:ext cx="112712" cy="914400"/>
          </a:xfrm>
          <a:prstGeom prst="rightBrace">
            <a:avLst>
              <a:gd name="adj1" fmla="val 67606"/>
              <a:gd name="adj2" fmla="val 50000"/>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53" name="AutoShape 434">
            <a:extLst>
              <a:ext uri="{FF2B5EF4-FFF2-40B4-BE49-F238E27FC236}">
                <a16:creationId xmlns:a16="http://schemas.microsoft.com/office/drawing/2014/main" id="{7CA3F23B-7786-4AA1-B67C-4057184E6E5B}"/>
              </a:ext>
            </a:extLst>
          </p:cNvPr>
          <p:cNvSpPr>
            <a:spLocks/>
          </p:cNvSpPr>
          <p:nvPr/>
        </p:nvSpPr>
        <p:spPr bwMode="auto">
          <a:xfrm>
            <a:off x="6953250" y="4262438"/>
            <a:ext cx="74613" cy="142875"/>
          </a:xfrm>
          <a:prstGeom prst="rightBrace">
            <a:avLst>
              <a:gd name="adj1" fmla="val 15957"/>
              <a:gd name="adj2" fmla="val 50000"/>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fontAlgn="auto" hangingPunct="1">
              <a:spcBef>
                <a:spcPts val="0"/>
              </a:spcBef>
              <a:spcAft>
                <a:spcPts val="0"/>
              </a:spcAft>
              <a:defRPr/>
            </a:pPr>
            <a:endParaRPr kumimoji="0" lang="en-US" sz="1600" b="1" kern="0">
              <a:solidFill>
                <a:srgbClr val="000000"/>
              </a:solidFill>
              <a:latin typeface="Calibri"/>
              <a:ea typeface="+mn-ea"/>
            </a:endParaRPr>
          </a:p>
        </p:txBody>
      </p:sp>
    </p:spTree>
  </p:cSld>
  <p:clrMapOvr>
    <a:masterClrMapping/>
  </p:clrMapOvr>
  <p:transition spd="med">
    <p:pull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a:extLst>
              <a:ext uri="{FF2B5EF4-FFF2-40B4-BE49-F238E27FC236}">
                <a16:creationId xmlns:a16="http://schemas.microsoft.com/office/drawing/2014/main" id="{8FB546DB-D311-47B1-9A1D-4986C4F15AF7}"/>
              </a:ext>
            </a:extLst>
          </p:cNvPr>
          <p:cNvSpPr>
            <a:spLocks noGrp="1" noChangeArrowheads="1"/>
          </p:cNvSpPr>
          <p:nvPr>
            <p:ph type="title"/>
          </p:nvPr>
        </p:nvSpPr>
        <p:spPr/>
        <p:txBody>
          <a:bodyPr/>
          <a:lstStyle/>
          <a:p>
            <a:pPr eaLnBrk="1" hangingPunct="1">
              <a:defRPr/>
            </a:pPr>
            <a:r>
              <a:rPr lang="en-US" altLang="zh-CN"/>
              <a:t>3. </a:t>
            </a:r>
            <a:r>
              <a:rPr lang="zh-CN" altLang="en-US"/>
              <a:t>段页式虚拟存储器（</a:t>
            </a:r>
            <a:r>
              <a:rPr lang="en-US" altLang="zh-CN"/>
              <a:t>1</a:t>
            </a:r>
            <a:r>
              <a:rPr lang="zh-CN" altLang="en-US"/>
              <a:t>）</a:t>
            </a:r>
          </a:p>
        </p:txBody>
      </p:sp>
      <p:sp>
        <p:nvSpPr>
          <p:cNvPr id="124931" name="Rectangle 3">
            <a:extLst>
              <a:ext uri="{FF2B5EF4-FFF2-40B4-BE49-F238E27FC236}">
                <a16:creationId xmlns:a16="http://schemas.microsoft.com/office/drawing/2014/main" id="{0F41F8B8-DA55-41F8-9E9A-CB5A0DA2340D}"/>
              </a:ext>
            </a:extLst>
          </p:cNvPr>
          <p:cNvSpPr>
            <a:spLocks noGrp="1" noChangeArrowheads="1"/>
          </p:cNvSpPr>
          <p:nvPr>
            <p:ph idx="1"/>
          </p:nvPr>
        </p:nvSpPr>
        <p:spPr/>
        <p:txBody>
          <a:bodyPr/>
          <a:lstStyle/>
          <a:p>
            <a:pPr eaLnBrk="1" hangingPunct="1"/>
            <a:r>
              <a:rPr lang="zh-CN" altLang="en-US"/>
              <a:t>是段式虚拟寄存器和页式虚拟寄存器的结合</a:t>
            </a:r>
          </a:p>
          <a:p>
            <a:pPr eaLnBrk="1" hangingPunct="1"/>
            <a:r>
              <a:rPr lang="zh-CN" altLang="en-US"/>
              <a:t>程序先按逻辑单位分段，再把每段分成固定大小的页</a:t>
            </a:r>
          </a:p>
          <a:p>
            <a:pPr eaLnBrk="1" hangingPunct="1"/>
            <a:r>
              <a:rPr lang="zh-CN" altLang="en-US"/>
              <a:t>操作系统对主存的调入调出是</a:t>
            </a:r>
            <a:r>
              <a:rPr lang="zh-CN" altLang="en-US">
                <a:solidFill>
                  <a:srgbClr val="FF0000"/>
                </a:solidFill>
              </a:rPr>
              <a:t>按页面</a:t>
            </a:r>
            <a:r>
              <a:rPr lang="zh-CN" altLang="en-US"/>
              <a:t>进行的，但它又可以按段实现共享和保护</a:t>
            </a:r>
          </a:p>
          <a:p>
            <a:pPr eaLnBrk="1" hangingPunct="1"/>
            <a:r>
              <a:rPr lang="zh-CN" altLang="en-US"/>
              <a:t>兼有页式和段式系统的优点</a:t>
            </a:r>
          </a:p>
          <a:p>
            <a:pPr eaLnBrk="1" hangingPunct="1"/>
            <a:r>
              <a:rPr lang="zh-CN" altLang="en-US"/>
              <a:t>缺点是在地址映射过程中需要</a:t>
            </a:r>
            <a:r>
              <a:rPr lang="zh-CN" altLang="en-US">
                <a:solidFill>
                  <a:srgbClr val="CC3300"/>
                </a:solidFill>
              </a:rPr>
              <a:t>多次查表</a:t>
            </a:r>
            <a:r>
              <a:rPr lang="zh-CN" altLang="en-US"/>
              <a:t>。地址映射通过一个段表和一组页表来进行</a:t>
            </a:r>
          </a:p>
        </p:txBody>
      </p:sp>
    </p:spTree>
  </p:cSld>
  <p:clrMapOvr>
    <a:masterClrMapping/>
  </p:clrMapOvr>
  <p:transition spd="med">
    <p:pull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a:extLst>
              <a:ext uri="{FF2B5EF4-FFF2-40B4-BE49-F238E27FC236}">
                <a16:creationId xmlns:a16="http://schemas.microsoft.com/office/drawing/2014/main" id="{98AA4629-88EE-4C2F-8556-FE85F3F782CF}"/>
              </a:ext>
            </a:extLst>
          </p:cNvPr>
          <p:cNvSpPr>
            <a:spLocks noGrp="1" noChangeArrowheads="1"/>
          </p:cNvSpPr>
          <p:nvPr>
            <p:ph idx="1"/>
          </p:nvPr>
        </p:nvSpPr>
        <p:spPr/>
        <p:txBody>
          <a:bodyPr/>
          <a:lstStyle/>
          <a:p>
            <a:pPr eaLnBrk="1" hangingPunct="1"/>
            <a:endParaRPr lang="zh-CN" altLang="zh-CN" dirty="0"/>
          </a:p>
        </p:txBody>
      </p:sp>
      <p:sp>
        <p:nvSpPr>
          <p:cNvPr id="833538" name="Rectangle 2">
            <a:extLst>
              <a:ext uri="{FF2B5EF4-FFF2-40B4-BE49-F238E27FC236}">
                <a16:creationId xmlns:a16="http://schemas.microsoft.com/office/drawing/2014/main" id="{EF06B485-9708-4999-A31B-6DA494D7D1A1}"/>
              </a:ext>
            </a:extLst>
          </p:cNvPr>
          <p:cNvSpPr>
            <a:spLocks noGrp="1" noChangeArrowheads="1"/>
          </p:cNvSpPr>
          <p:nvPr>
            <p:ph type="title"/>
          </p:nvPr>
        </p:nvSpPr>
        <p:spPr/>
        <p:txBody>
          <a:bodyPr/>
          <a:lstStyle/>
          <a:p>
            <a:pPr eaLnBrk="1" hangingPunct="1">
              <a:defRPr/>
            </a:pPr>
            <a:r>
              <a:rPr lang="zh-CN" altLang="en-US" dirty="0"/>
              <a:t>例</a:t>
            </a:r>
            <a:r>
              <a:rPr lang="en-US" altLang="zh-CN" dirty="0"/>
              <a:t>12</a:t>
            </a:r>
          </a:p>
        </p:txBody>
      </p:sp>
      <p:sp>
        <p:nvSpPr>
          <p:cNvPr id="125957" name="Line 5">
            <a:extLst>
              <a:ext uri="{FF2B5EF4-FFF2-40B4-BE49-F238E27FC236}">
                <a16:creationId xmlns:a16="http://schemas.microsoft.com/office/drawing/2014/main" id="{2E611744-7A81-4F5F-A667-69C6ADB25F99}"/>
              </a:ext>
            </a:extLst>
          </p:cNvPr>
          <p:cNvSpPr>
            <a:spLocks noChangeShapeType="1"/>
          </p:cNvSpPr>
          <p:nvPr/>
        </p:nvSpPr>
        <p:spPr bwMode="auto">
          <a:xfrm>
            <a:off x="5491163" y="1797050"/>
            <a:ext cx="0" cy="173038"/>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5958" name="Text Box 6">
            <a:extLst>
              <a:ext uri="{FF2B5EF4-FFF2-40B4-BE49-F238E27FC236}">
                <a16:creationId xmlns:a16="http://schemas.microsoft.com/office/drawing/2014/main" id="{AA6B3590-B018-4622-BF33-EFE42B713E12}"/>
              </a:ext>
            </a:extLst>
          </p:cNvPr>
          <p:cNvSpPr txBox="1">
            <a:spLocks noChangeArrowheads="1"/>
          </p:cNvSpPr>
          <p:nvPr/>
        </p:nvSpPr>
        <p:spPr bwMode="auto">
          <a:xfrm>
            <a:off x="409575" y="2205038"/>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楷体" panose="02010609060101010101" pitchFamily="49" charset="-122"/>
                <a:ea typeface="楷体" panose="02010609060101010101" pitchFamily="49" charset="-122"/>
              </a:rPr>
              <a:t>基址寄存器</a:t>
            </a:r>
          </a:p>
        </p:txBody>
      </p:sp>
      <p:sp>
        <p:nvSpPr>
          <p:cNvPr id="125959" name="Text Box 7">
            <a:extLst>
              <a:ext uri="{FF2B5EF4-FFF2-40B4-BE49-F238E27FC236}">
                <a16:creationId xmlns:a16="http://schemas.microsoft.com/office/drawing/2014/main" id="{FF68C429-8082-4A9A-86C4-EA4ABF1BAB40}"/>
              </a:ext>
            </a:extLst>
          </p:cNvPr>
          <p:cNvSpPr txBox="1">
            <a:spLocks noChangeArrowheads="1"/>
          </p:cNvSpPr>
          <p:nvPr/>
        </p:nvSpPr>
        <p:spPr bwMode="auto">
          <a:xfrm>
            <a:off x="3624263" y="1355725"/>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虚拟地址</a:t>
            </a:r>
          </a:p>
        </p:txBody>
      </p:sp>
      <p:sp>
        <p:nvSpPr>
          <p:cNvPr id="125960" name="Text Box 8">
            <a:extLst>
              <a:ext uri="{FF2B5EF4-FFF2-40B4-BE49-F238E27FC236}">
                <a16:creationId xmlns:a16="http://schemas.microsoft.com/office/drawing/2014/main" id="{F9F2A823-AC78-4B5C-9F52-C253A38281A6}"/>
              </a:ext>
            </a:extLst>
          </p:cNvPr>
          <p:cNvSpPr txBox="1">
            <a:spLocks noChangeArrowheads="1"/>
          </p:cNvSpPr>
          <p:nvPr/>
        </p:nvSpPr>
        <p:spPr bwMode="auto">
          <a:xfrm>
            <a:off x="2641600" y="2171700"/>
            <a:ext cx="1563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400" dirty="0">
                <a:latin typeface="楷体" panose="02010609060101010101" pitchFamily="49" charset="-122"/>
                <a:ea typeface="楷体" panose="02010609060101010101" pitchFamily="49" charset="-122"/>
              </a:rPr>
              <a:t>程序</a:t>
            </a:r>
            <a:r>
              <a:rPr kumimoji="0" lang="en-US" altLang="zh-CN" sz="2400" dirty="0">
                <a:latin typeface="楷体" panose="02010609060101010101" pitchFamily="49" charset="-122"/>
                <a:ea typeface="楷体" panose="02010609060101010101" pitchFamily="49" charset="-122"/>
              </a:rPr>
              <a:t>A</a:t>
            </a:r>
            <a:r>
              <a:rPr kumimoji="0" lang="zh-CN" altLang="en-US" sz="2400" dirty="0">
                <a:latin typeface="楷体" panose="02010609060101010101" pitchFamily="49" charset="-122"/>
                <a:ea typeface="楷体" panose="02010609060101010101" pitchFamily="49" charset="-122"/>
              </a:rPr>
              <a:t>段表</a:t>
            </a:r>
          </a:p>
        </p:txBody>
      </p:sp>
      <p:sp>
        <p:nvSpPr>
          <p:cNvPr id="125961" name="Line 9">
            <a:extLst>
              <a:ext uri="{FF2B5EF4-FFF2-40B4-BE49-F238E27FC236}">
                <a16:creationId xmlns:a16="http://schemas.microsoft.com/office/drawing/2014/main" id="{7A7B3C35-771D-46A5-A4FF-125F1CBA7AFD}"/>
              </a:ext>
            </a:extLst>
          </p:cNvPr>
          <p:cNvSpPr>
            <a:spLocks noChangeShapeType="1"/>
          </p:cNvSpPr>
          <p:nvPr/>
        </p:nvSpPr>
        <p:spPr bwMode="auto">
          <a:xfrm>
            <a:off x="2138363" y="5453063"/>
            <a:ext cx="522287"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5962" name="Line 10">
            <a:extLst>
              <a:ext uri="{FF2B5EF4-FFF2-40B4-BE49-F238E27FC236}">
                <a16:creationId xmlns:a16="http://schemas.microsoft.com/office/drawing/2014/main" id="{39886A9B-FEF7-4AC8-A27D-A4246D84129F}"/>
              </a:ext>
            </a:extLst>
          </p:cNvPr>
          <p:cNvSpPr>
            <a:spLocks noChangeShapeType="1"/>
          </p:cNvSpPr>
          <p:nvPr/>
        </p:nvSpPr>
        <p:spPr bwMode="auto">
          <a:xfrm>
            <a:off x="2165350" y="2171700"/>
            <a:ext cx="0" cy="12922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5963" name="Oval 11">
            <a:extLst>
              <a:ext uri="{FF2B5EF4-FFF2-40B4-BE49-F238E27FC236}">
                <a16:creationId xmlns:a16="http://schemas.microsoft.com/office/drawing/2014/main" id="{34C67F74-9422-42AD-90C7-B1D28A4B69C9}"/>
              </a:ext>
            </a:extLst>
          </p:cNvPr>
          <p:cNvSpPr>
            <a:spLocks noChangeArrowheads="1"/>
          </p:cNvSpPr>
          <p:nvPr/>
        </p:nvSpPr>
        <p:spPr bwMode="auto">
          <a:xfrm>
            <a:off x="2005013" y="3451225"/>
            <a:ext cx="304800" cy="304800"/>
          </a:xfrm>
          <a:prstGeom prst="ellipse">
            <a:avLst/>
          </a:prstGeom>
          <a:solidFill>
            <a:schemeClr val="bg1"/>
          </a:solidFill>
          <a:ln w="19050">
            <a:solidFill>
              <a:schemeClr val="tx1"/>
            </a:solidFill>
            <a:round/>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25964" name="Text Box 12">
            <a:extLst>
              <a:ext uri="{FF2B5EF4-FFF2-40B4-BE49-F238E27FC236}">
                <a16:creationId xmlns:a16="http://schemas.microsoft.com/office/drawing/2014/main" id="{A072FD98-FCC5-4882-B3D1-43FA7C1BBC1C}"/>
              </a:ext>
            </a:extLst>
          </p:cNvPr>
          <p:cNvSpPr txBox="1">
            <a:spLocks noChangeArrowheads="1"/>
          </p:cNvSpPr>
          <p:nvPr/>
        </p:nvSpPr>
        <p:spPr bwMode="auto">
          <a:xfrm>
            <a:off x="1884363" y="3324225"/>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800">
                <a:latin typeface="Tahoma" panose="020B0604030504040204" pitchFamily="34" charset="0"/>
                <a:ea typeface="宋体" panose="02010600030101010101" pitchFamily="2" charset="-122"/>
              </a:rPr>
              <a:t>＋</a:t>
            </a:r>
          </a:p>
        </p:txBody>
      </p:sp>
      <p:sp>
        <p:nvSpPr>
          <p:cNvPr id="125965" name="Line 13">
            <a:extLst>
              <a:ext uri="{FF2B5EF4-FFF2-40B4-BE49-F238E27FC236}">
                <a16:creationId xmlns:a16="http://schemas.microsoft.com/office/drawing/2014/main" id="{C864F7C8-EB7F-4AAB-B24A-5972A2F5E602}"/>
              </a:ext>
            </a:extLst>
          </p:cNvPr>
          <p:cNvSpPr>
            <a:spLocks noChangeShapeType="1"/>
          </p:cNvSpPr>
          <p:nvPr/>
        </p:nvSpPr>
        <p:spPr bwMode="auto">
          <a:xfrm>
            <a:off x="338138" y="1982788"/>
            <a:ext cx="0" cy="1624012"/>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5966" name="Line 14">
            <a:extLst>
              <a:ext uri="{FF2B5EF4-FFF2-40B4-BE49-F238E27FC236}">
                <a16:creationId xmlns:a16="http://schemas.microsoft.com/office/drawing/2014/main" id="{A0C78ED3-A0BC-40F6-B315-4152537BD4DA}"/>
              </a:ext>
            </a:extLst>
          </p:cNvPr>
          <p:cNvSpPr>
            <a:spLocks noChangeShapeType="1"/>
          </p:cNvSpPr>
          <p:nvPr/>
        </p:nvSpPr>
        <p:spPr bwMode="auto">
          <a:xfrm>
            <a:off x="1663700" y="3605213"/>
            <a:ext cx="352425"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5967" name="Line 15">
            <a:extLst>
              <a:ext uri="{FF2B5EF4-FFF2-40B4-BE49-F238E27FC236}">
                <a16:creationId xmlns:a16="http://schemas.microsoft.com/office/drawing/2014/main" id="{516C2602-CC56-4805-B132-361C65D9C4B3}"/>
              </a:ext>
            </a:extLst>
          </p:cNvPr>
          <p:cNvSpPr>
            <a:spLocks noChangeShapeType="1"/>
          </p:cNvSpPr>
          <p:nvPr/>
        </p:nvSpPr>
        <p:spPr bwMode="auto">
          <a:xfrm flipH="1">
            <a:off x="323850" y="1970088"/>
            <a:ext cx="5167313"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5968" name="Line 16">
            <a:extLst>
              <a:ext uri="{FF2B5EF4-FFF2-40B4-BE49-F238E27FC236}">
                <a16:creationId xmlns:a16="http://schemas.microsoft.com/office/drawing/2014/main" id="{4DB1F9F9-78D4-4AD4-9FFC-47BC1B68125A}"/>
              </a:ext>
            </a:extLst>
          </p:cNvPr>
          <p:cNvSpPr>
            <a:spLocks noChangeShapeType="1"/>
          </p:cNvSpPr>
          <p:nvPr/>
        </p:nvSpPr>
        <p:spPr bwMode="auto">
          <a:xfrm>
            <a:off x="6938963" y="3086100"/>
            <a:ext cx="0" cy="1828800"/>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5969" name="Line 17">
            <a:extLst>
              <a:ext uri="{FF2B5EF4-FFF2-40B4-BE49-F238E27FC236}">
                <a16:creationId xmlns:a16="http://schemas.microsoft.com/office/drawing/2014/main" id="{A6F8CA2A-4357-40D8-BAF4-EBB9BD3C5606}"/>
              </a:ext>
            </a:extLst>
          </p:cNvPr>
          <p:cNvSpPr>
            <a:spLocks noChangeShapeType="1"/>
          </p:cNvSpPr>
          <p:nvPr/>
        </p:nvSpPr>
        <p:spPr bwMode="auto">
          <a:xfrm>
            <a:off x="4503738" y="2360613"/>
            <a:ext cx="2409825"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5970" name="Line 18">
            <a:extLst>
              <a:ext uri="{FF2B5EF4-FFF2-40B4-BE49-F238E27FC236}">
                <a16:creationId xmlns:a16="http://schemas.microsoft.com/office/drawing/2014/main" id="{19B1B965-AE4B-4876-9D7F-78C97BD9112C}"/>
              </a:ext>
            </a:extLst>
          </p:cNvPr>
          <p:cNvSpPr>
            <a:spLocks noChangeShapeType="1"/>
          </p:cNvSpPr>
          <p:nvPr/>
        </p:nvSpPr>
        <p:spPr bwMode="auto">
          <a:xfrm>
            <a:off x="333375" y="3606800"/>
            <a:ext cx="53975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5971" name="Oval 19">
            <a:extLst>
              <a:ext uri="{FF2B5EF4-FFF2-40B4-BE49-F238E27FC236}">
                <a16:creationId xmlns:a16="http://schemas.microsoft.com/office/drawing/2014/main" id="{E39F004B-4ED6-4D13-967D-1DB585FB8E09}"/>
              </a:ext>
            </a:extLst>
          </p:cNvPr>
          <p:cNvSpPr>
            <a:spLocks noChangeArrowheads="1"/>
          </p:cNvSpPr>
          <p:nvPr/>
        </p:nvSpPr>
        <p:spPr bwMode="auto">
          <a:xfrm>
            <a:off x="4341813" y="5267325"/>
            <a:ext cx="304800" cy="304800"/>
          </a:xfrm>
          <a:prstGeom prst="ellipse">
            <a:avLst/>
          </a:prstGeom>
          <a:solidFill>
            <a:schemeClr val="bg1"/>
          </a:solidFill>
          <a:ln w="19050">
            <a:solidFill>
              <a:schemeClr val="tx1"/>
            </a:solidFill>
            <a:round/>
            <a:headEnd/>
            <a:tailEnd type="none" w="lg" len="lg"/>
          </a:ln>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25972" name="Text Box 20">
            <a:extLst>
              <a:ext uri="{FF2B5EF4-FFF2-40B4-BE49-F238E27FC236}">
                <a16:creationId xmlns:a16="http://schemas.microsoft.com/office/drawing/2014/main" id="{1E2A408E-3BE5-48EF-B320-45F7202CB6D6}"/>
              </a:ext>
            </a:extLst>
          </p:cNvPr>
          <p:cNvSpPr txBox="1">
            <a:spLocks noChangeArrowheads="1"/>
          </p:cNvSpPr>
          <p:nvPr/>
        </p:nvSpPr>
        <p:spPr bwMode="auto">
          <a:xfrm>
            <a:off x="4221163" y="5140325"/>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800">
                <a:latin typeface="Tahoma" panose="020B0604030504040204" pitchFamily="34" charset="0"/>
                <a:ea typeface="宋体" panose="02010600030101010101" pitchFamily="2" charset="-122"/>
              </a:rPr>
              <a:t>＋</a:t>
            </a:r>
          </a:p>
        </p:txBody>
      </p:sp>
      <p:graphicFrame>
        <p:nvGraphicFramePr>
          <p:cNvPr id="833714" name="Group 178">
            <a:extLst>
              <a:ext uri="{FF2B5EF4-FFF2-40B4-BE49-F238E27FC236}">
                <a16:creationId xmlns:a16="http://schemas.microsoft.com/office/drawing/2014/main" id="{C6565990-2F2B-4488-BAEB-497F0EFD60B1}"/>
              </a:ext>
            </a:extLst>
          </p:cNvPr>
          <p:cNvGraphicFramePr>
            <a:graphicFrameLocks noGrp="1"/>
          </p:cNvGraphicFramePr>
          <p:nvPr/>
        </p:nvGraphicFramePr>
        <p:xfrm>
          <a:off x="874713" y="2684463"/>
          <a:ext cx="768350" cy="1097280"/>
        </p:xfrm>
        <a:graphic>
          <a:graphicData uri="http://schemas.openxmlformats.org/drawingml/2006/table">
            <a:tbl>
              <a:tblPr/>
              <a:tblGrid>
                <a:gridCol w="768350">
                  <a:extLst>
                    <a:ext uri="{9D8B030D-6E8A-4147-A177-3AD203B41FA5}">
                      <a16:colId xmlns:a16="http://schemas.microsoft.com/office/drawing/2014/main" val="20000"/>
                    </a:ext>
                  </a:extLst>
                </a:gridCol>
              </a:tblGrid>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A</a:t>
                      </a: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B</a:t>
                      </a: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bg1"/>
                          </a:solidFill>
                          <a:effectLst/>
                          <a:latin typeface="Times New Roman" pitchFamily="18" charset="0"/>
                          <a:ea typeface="楷体_GB2312" pitchFamily="49" charset="-122"/>
                        </a:rPr>
                        <a:t>S</a:t>
                      </a:r>
                      <a:r>
                        <a:rPr kumimoji="1" lang="en-US" altLang="zh-CN" sz="2400" b="1" i="0" u="none" strike="noStrike" cap="none" normalizeH="0" baseline="-25000" dirty="0">
                          <a:ln>
                            <a:noFill/>
                          </a:ln>
                          <a:solidFill>
                            <a:schemeClr val="bg1"/>
                          </a:solidFill>
                          <a:effectLst/>
                          <a:latin typeface="Times New Roman" pitchFamily="18" charset="0"/>
                          <a:ea typeface="楷体_GB2312" pitchFamily="49" charset="-122"/>
                        </a:rPr>
                        <a:t>C</a:t>
                      </a:r>
                    </a:p>
                  </a:txBody>
                  <a:tcPr marL="90000" marR="90000" marT="0" marB="0"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0000CC"/>
                    </a:solidFill>
                  </a:tcPr>
                </a:tc>
                <a:extLst>
                  <a:ext uri="{0D108BD9-81ED-4DB2-BD59-A6C34878D82A}">
                    <a16:rowId xmlns:a16="http://schemas.microsoft.com/office/drawing/2014/main" val="10002"/>
                  </a:ext>
                </a:extLst>
              </a:tr>
            </a:tbl>
          </a:graphicData>
        </a:graphic>
      </p:graphicFrame>
      <p:graphicFrame>
        <p:nvGraphicFramePr>
          <p:cNvPr id="833567" name="Group 31">
            <a:extLst>
              <a:ext uri="{FF2B5EF4-FFF2-40B4-BE49-F238E27FC236}">
                <a16:creationId xmlns:a16="http://schemas.microsoft.com/office/drawing/2014/main" id="{02C5DE1E-1F71-4FAC-BF02-8FA3CE1F393A}"/>
              </a:ext>
            </a:extLst>
          </p:cNvPr>
          <p:cNvGraphicFramePr>
            <a:graphicFrameLocks noGrp="1"/>
          </p:cNvGraphicFramePr>
          <p:nvPr/>
        </p:nvGraphicFramePr>
        <p:xfrm>
          <a:off x="2568575" y="2601913"/>
          <a:ext cx="1511300" cy="1463676"/>
        </p:xfrm>
        <a:graphic>
          <a:graphicData uri="http://schemas.openxmlformats.org/drawingml/2006/table">
            <a:tbl>
              <a:tblPr/>
              <a:tblGrid>
                <a:gridCol w="75565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tblGrid>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A+0</a:t>
                      </a:r>
                    </a:p>
                  </a:txBody>
                  <a:tcPr marL="90000" marR="90000" marT="0" marB="0" anchor="ctr" horzOverflow="overflow">
                    <a:lnL cap="flat">
                      <a:noFill/>
                    </a:lnL>
                    <a:lnR w="28575" cap="flat" cmpd="sng" algn="ctr">
                      <a:solidFill>
                        <a:schemeClr val="tx1"/>
                      </a:solidFill>
                      <a:prstDash val="solid"/>
                      <a:round/>
                      <a:headEnd type="none" w="med" len="med"/>
                      <a:tailEnd type="none" w="lg" len="lg"/>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400" b="1" i="0" u="none" strike="noStrike" cap="none" normalizeH="0" baseline="0">
                        <a:ln>
                          <a:noFill/>
                        </a:ln>
                        <a:solidFill>
                          <a:schemeClr val="tx1"/>
                        </a:solidFill>
                        <a:effectLst/>
                        <a:latin typeface="Times New Roman" pitchFamily="18" charset="0"/>
                        <a:ea typeface="楷体_GB2312" pitchFamily="49" charset="-122"/>
                      </a:endParaRP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A+1</a:t>
                      </a:r>
                    </a:p>
                  </a:txBody>
                  <a:tcPr marL="90000" marR="90000" marT="0" marB="0" anchor="ctr"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400" b="1" i="0" u="none" strike="noStrike" cap="none" normalizeH="0" baseline="-25000">
                        <a:ln>
                          <a:noFill/>
                        </a:ln>
                        <a:solidFill>
                          <a:schemeClr val="tx1"/>
                        </a:solidFill>
                        <a:effectLst/>
                        <a:latin typeface="Times New Roman" pitchFamily="18" charset="0"/>
                        <a:ea typeface="楷体_GB2312" pitchFamily="49" charset="-122"/>
                      </a:endParaRP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A+2</a:t>
                      </a:r>
                    </a:p>
                  </a:txBody>
                  <a:tcPr marL="90000" marR="90000" marT="0" marB="0" anchor="ctr" horzOverflow="overflow">
                    <a:lnL cap="flat">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400" b="1" i="0" u="none" strike="noStrike" cap="none" normalizeH="0" baseline="-25000">
                        <a:ln>
                          <a:noFill/>
                        </a:ln>
                        <a:solidFill>
                          <a:schemeClr val="tx1"/>
                        </a:solidFill>
                        <a:effectLst/>
                        <a:latin typeface="Times New Roman" pitchFamily="18" charset="0"/>
                        <a:ea typeface="楷体_GB2312" pitchFamily="49" charset="-122"/>
                      </a:endParaRP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A+3</a:t>
                      </a:r>
                    </a:p>
                  </a:txBody>
                  <a:tcPr marL="90000" marR="90000" marT="0" marB="0" anchor="ctr" horzOverflow="overflow">
                    <a:lnL cap="flat">
                      <a:noFill/>
                    </a:lnL>
                    <a:lnR w="28575" cap="flat" cmpd="sng" algn="ctr">
                      <a:solidFill>
                        <a:schemeClr val="tx1"/>
                      </a:solidFill>
                      <a:prstDash val="solid"/>
                      <a:round/>
                      <a:headEnd type="none" w="med" len="med"/>
                      <a:tailEnd type="none" w="lg" len="lg"/>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zh-CN" sz="2400" b="1" i="0" u="none" strike="noStrike" cap="none" normalizeH="0" baseline="-25000" dirty="0">
                        <a:ln>
                          <a:noFill/>
                        </a:ln>
                        <a:solidFill>
                          <a:schemeClr val="tx1"/>
                        </a:solidFill>
                        <a:effectLst/>
                        <a:latin typeface="Times New Roman" pitchFamily="18" charset="0"/>
                        <a:ea typeface="楷体_GB2312" pitchFamily="49" charset="-122"/>
                      </a:endParaRP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833589" name="Group 53">
            <a:extLst>
              <a:ext uri="{FF2B5EF4-FFF2-40B4-BE49-F238E27FC236}">
                <a16:creationId xmlns:a16="http://schemas.microsoft.com/office/drawing/2014/main" id="{08B89144-3624-47EF-92E6-71B89C37F8C2}"/>
              </a:ext>
            </a:extLst>
          </p:cNvPr>
          <p:cNvGraphicFramePr>
            <a:graphicFrameLocks noGrp="1"/>
          </p:cNvGraphicFramePr>
          <p:nvPr>
            <p:extLst>
              <p:ext uri="{D42A27DB-BD31-4B8C-83A1-F6EECF244321}">
                <p14:modId xmlns:p14="http://schemas.microsoft.com/office/powerpoint/2010/main" val="445763419"/>
              </p:ext>
            </p:extLst>
          </p:nvPr>
        </p:nvGraphicFramePr>
        <p:xfrm>
          <a:off x="5122863" y="1052513"/>
          <a:ext cx="3427412" cy="733426"/>
        </p:xfrm>
        <a:graphic>
          <a:graphicData uri="http://schemas.openxmlformats.org/drawingml/2006/table">
            <a:tbl>
              <a:tblPr/>
              <a:tblGrid>
                <a:gridCol w="733425">
                  <a:extLst>
                    <a:ext uri="{9D8B030D-6E8A-4147-A177-3AD203B41FA5}">
                      <a16:colId xmlns:a16="http://schemas.microsoft.com/office/drawing/2014/main" val="4174451217"/>
                    </a:ext>
                  </a:extLst>
                </a:gridCol>
                <a:gridCol w="717550">
                  <a:extLst>
                    <a:ext uri="{9D8B030D-6E8A-4147-A177-3AD203B41FA5}">
                      <a16:colId xmlns:a16="http://schemas.microsoft.com/office/drawing/2014/main" val="26537559"/>
                    </a:ext>
                  </a:extLst>
                </a:gridCol>
                <a:gridCol w="706437">
                  <a:extLst>
                    <a:ext uri="{9D8B030D-6E8A-4147-A177-3AD203B41FA5}">
                      <a16:colId xmlns:a16="http://schemas.microsoft.com/office/drawing/2014/main" val="1678039631"/>
                    </a:ext>
                  </a:extLst>
                </a:gridCol>
                <a:gridCol w="1270000">
                  <a:extLst>
                    <a:ext uri="{9D8B030D-6E8A-4147-A177-3AD203B41FA5}">
                      <a16:colId xmlns:a16="http://schemas.microsoft.com/office/drawing/2014/main" val="1208994234"/>
                    </a:ext>
                  </a:extLst>
                </a:gridCol>
              </a:tblGrid>
              <a:tr h="36671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基号</a:t>
                      </a:r>
                    </a:p>
                  </a:txBody>
                  <a:tcPr marL="0" marR="0" marT="0" marB="0" anchor="ctr"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a:ln>
                            <a:noFill/>
                          </a:ln>
                          <a:solidFill>
                            <a:schemeClr val="tx1"/>
                          </a:solidFill>
                          <a:effectLst/>
                          <a:latin typeface="楷体" panose="02010609060101010101" pitchFamily="49" charset="-122"/>
                          <a:ea typeface="楷体" panose="02010609060101010101" pitchFamily="49" charset="-122"/>
                        </a:rPr>
                        <a:t>段号</a:t>
                      </a:r>
                    </a:p>
                  </a:txBody>
                  <a:tcPr marL="0" marR="0" marT="0" marB="0" anchor="ctr"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a:ln>
                            <a:noFill/>
                          </a:ln>
                          <a:solidFill>
                            <a:schemeClr val="tx1"/>
                          </a:solidFill>
                          <a:effectLst/>
                          <a:latin typeface="楷体" panose="02010609060101010101" pitchFamily="49" charset="-122"/>
                          <a:ea typeface="楷体" panose="02010609060101010101" pitchFamily="49" charset="-122"/>
                        </a:rPr>
                        <a:t>页号</a:t>
                      </a:r>
                    </a:p>
                  </a:txBody>
                  <a:tcPr marL="0" marR="0" marT="0" marB="0" anchor="ctr"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zh-CN" altLang="en-US" sz="24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页内地址</a:t>
                      </a:r>
                    </a:p>
                  </a:txBody>
                  <a:tcPr marL="0" marR="0" marT="0" marB="0" anchor="ctr" horzOverflow="overflow">
                    <a:lnL>
                      <a:noFill/>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952466889"/>
                  </a:ext>
                </a:extLst>
              </a:tr>
              <a:tr h="366713">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C</a:t>
                      </a:r>
                    </a:p>
                  </a:txBody>
                  <a:tcPr marL="0" marR="0" marT="0" marB="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1</a:t>
                      </a:r>
                    </a:p>
                  </a:txBody>
                  <a:tcPr marL="0" marR="0" marT="0" marB="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2</a:t>
                      </a:r>
                    </a:p>
                  </a:txBody>
                  <a:tcPr marL="0" marR="0" marT="0" marB="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anose="05020102010507070707"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anose="05020102010507070707"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d</a:t>
                      </a:r>
                    </a:p>
                  </a:txBody>
                  <a:tcPr marL="0" marR="0" marT="0" marB="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2737977268"/>
                  </a:ext>
                </a:extLst>
              </a:tr>
            </a:tbl>
          </a:graphicData>
        </a:graphic>
      </p:graphicFrame>
      <p:sp>
        <p:nvSpPr>
          <p:cNvPr id="126015" name="Rectangle 76">
            <a:extLst>
              <a:ext uri="{FF2B5EF4-FFF2-40B4-BE49-F238E27FC236}">
                <a16:creationId xmlns:a16="http://schemas.microsoft.com/office/drawing/2014/main" id="{18BB5B3F-E68C-456B-98C2-00B20DF02201}"/>
              </a:ext>
            </a:extLst>
          </p:cNvPr>
          <p:cNvSpPr>
            <a:spLocks noChangeArrowheads="1"/>
          </p:cNvSpPr>
          <p:nvPr/>
        </p:nvSpPr>
        <p:spPr bwMode="auto">
          <a:xfrm>
            <a:off x="7270750" y="2730500"/>
            <a:ext cx="13795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rgbClr val="CC3300"/>
              </a:buClr>
              <a:buFont typeface="Wingdings 2" panose="05020102010507070707"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anose="05020102010507070707" pitchFamily="18" charset="2"/>
              <a:buNone/>
            </a:pPr>
            <a:r>
              <a:rPr lang="en-US" altLang="zh-CN" sz="2400"/>
              <a:t>d</a:t>
            </a:r>
          </a:p>
        </p:txBody>
      </p:sp>
      <p:sp>
        <p:nvSpPr>
          <p:cNvPr id="126016" name="Rectangle 77">
            <a:extLst>
              <a:ext uri="{FF2B5EF4-FFF2-40B4-BE49-F238E27FC236}">
                <a16:creationId xmlns:a16="http://schemas.microsoft.com/office/drawing/2014/main" id="{BF6CAB81-B437-4F7D-B357-48AC50971875}"/>
              </a:ext>
            </a:extLst>
          </p:cNvPr>
          <p:cNvSpPr>
            <a:spLocks noChangeArrowheads="1"/>
          </p:cNvSpPr>
          <p:nvPr/>
        </p:nvSpPr>
        <p:spPr bwMode="auto">
          <a:xfrm>
            <a:off x="5926138" y="2730500"/>
            <a:ext cx="13446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lr>
                <a:srgbClr val="CC3300"/>
              </a:buClr>
              <a:buFont typeface="Wingdings 2" panose="05020102010507070707"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anose="05020102010507070707" pitchFamily="18" charset="2"/>
              <a:buNone/>
            </a:pPr>
            <a:r>
              <a:rPr lang="en-US" altLang="zh-CN" sz="2400"/>
              <a:t>10</a:t>
            </a:r>
          </a:p>
        </p:txBody>
      </p:sp>
      <p:sp>
        <p:nvSpPr>
          <p:cNvPr id="126017" name="Rectangle 78">
            <a:extLst>
              <a:ext uri="{FF2B5EF4-FFF2-40B4-BE49-F238E27FC236}">
                <a16:creationId xmlns:a16="http://schemas.microsoft.com/office/drawing/2014/main" id="{352A54A3-1B57-4BAA-A1B6-2F080B64EC91}"/>
              </a:ext>
            </a:extLst>
          </p:cNvPr>
          <p:cNvSpPr>
            <a:spLocks noChangeArrowheads="1"/>
          </p:cNvSpPr>
          <p:nvPr/>
        </p:nvSpPr>
        <p:spPr bwMode="auto">
          <a:xfrm>
            <a:off x="7270750" y="2355850"/>
            <a:ext cx="137953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lIns="0" tIns="0" rIns="0" bIns="0" anchor="ctr"/>
          <a:lstStyle>
            <a:lvl1pPr>
              <a:spcBef>
                <a:spcPct val="20000"/>
              </a:spcBef>
              <a:buClr>
                <a:srgbClr val="CC3300"/>
              </a:buClr>
              <a:buFont typeface="Wingdings 2" panose="05020102010507070707"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anose="05020102010507070707" pitchFamily="18" charset="2"/>
              <a:buNone/>
            </a:pPr>
            <a:r>
              <a:rPr lang="zh-CN" altLang="en-US" sz="2400">
                <a:latin typeface="楷体" panose="02010609060101010101" pitchFamily="49" charset="-122"/>
                <a:ea typeface="楷体" panose="02010609060101010101" pitchFamily="49" charset="-122"/>
              </a:rPr>
              <a:t>页内地址</a:t>
            </a:r>
          </a:p>
        </p:txBody>
      </p:sp>
      <p:sp>
        <p:nvSpPr>
          <p:cNvPr id="126018" name="Rectangle 79">
            <a:extLst>
              <a:ext uri="{FF2B5EF4-FFF2-40B4-BE49-F238E27FC236}">
                <a16:creationId xmlns:a16="http://schemas.microsoft.com/office/drawing/2014/main" id="{8B1917F8-F218-4293-BA67-7892081D420C}"/>
              </a:ext>
            </a:extLst>
          </p:cNvPr>
          <p:cNvSpPr>
            <a:spLocks noChangeArrowheads="1"/>
          </p:cNvSpPr>
          <p:nvPr/>
        </p:nvSpPr>
        <p:spPr bwMode="auto">
          <a:xfrm>
            <a:off x="5926138" y="2355850"/>
            <a:ext cx="134461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lIns="0" tIns="0" rIns="0" bIns="0" anchor="ctr"/>
          <a:lstStyle>
            <a:lvl1pPr>
              <a:spcBef>
                <a:spcPct val="20000"/>
              </a:spcBef>
              <a:buClr>
                <a:srgbClr val="CC3300"/>
              </a:buClr>
              <a:buFont typeface="Wingdings 2" panose="05020102010507070707"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anose="05020102010507070707" pitchFamily="18" charset="2"/>
              <a:buNone/>
            </a:pPr>
            <a:r>
              <a:rPr lang="zh-CN" altLang="en-US" sz="2400">
                <a:latin typeface="楷体" panose="02010609060101010101" pitchFamily="49" charset="-122"/>
                <a:ea typeface="楷体" panose="02010609060101010101" pitchFamily="49" charset="-122"/>
              </a:rPr>
              <a:t>物理页号</a:t>
            </a:r>
          </a:p>
        </p:txBody>
      </p:sp>
      <p:sp>
        <p:nvSpPr>
          <p:cNvPr id="126019" name="Line 80">
            <a:extLst>
              <a:ext uri="{FF2B5EF4-FFF2-40B4-BE49-F238E27FC236}">
                <a16:creationId xmlns:a16="http://schemas.microsoft.com/office/drawing/2014/main" id="{AAE0C4AE-2D46-423A-8C30-C71A2297A89F}"/>
              </a:ext>
            </a:extLst>
          </p:cNvPr>
          <p:cNvSpPr>
            <a:spLocks noChangeShapeType="1"/>
          </p:cNvSpPr>
          <p:nvPr/>
        </p:nvSpPr>
        <p:spPr bwMode="auto">
          <a:xfrm>
            <a:off x="5926138" y="2730500"/>
            <a:ext cx="2724150" cy="0"/>
          </a:xfrm>
          <a:prstGeom prst="line">
            <a:avLst/>
          </a:prstGeom>
          <a:noFill/>
          <a:ln w="28575">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6020" name="Line 81">
            <a:extLst>
              <a:ext uri="{FF2B5EF4-FFF2-40B4-BE49-F238E27FC236}">
                <a16:creationId xmlns:a16="http://schemas.microsoft.com/office/drawing/2014/main" id="{4D8810A8-300E-4AD9-BBB5-8C5911803B09}"/>
              </a:ext>
            </a:extLst>
          </p:cNvPr>
          <p:cNvSpPr>
            <a:spLocks noChangeShapeType="1"/>
          </p:cNvSpPr>
          <p:nvPr/>
        </p:nvSpPr>
        <p:spPr bwMode="auto">
          <a:xfrm>
            <a:off x="5926138" y="3086100"/>
            <a:ext cx="272415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6021" name="Line 82">
            <a:extLst>
              <a:ext uri="{FF2B5EF4-FFF2-40B4-BE49-F238E27FC236}">
                <a16:creationId xmlns:a16="http://schemas.microsoft.com/office/drawing/2014/main" id="{B933B2C7-45B9-4C0D-8DC8-8D48A8AB9473}"/>
              </a:ext>
            </a:extLst>
          </p:cNvPr>
          <p:cNvSpPr>
            <a:spLocks noChangeShapeType="1"/>
          </p:cNvSpPr>
          <p:nvPr/>
        </p:nvSpPr>
        <p:spPr bwMode="auto">
          <a:xfrm>
            <a:off x="5926138" y="2355850"/>
            <a:ext cx="0" cy="3746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none" w="lg" len="lg"/>
              </a14:hiddenLine>
            </a:ext>
          </a:extLst>
        </p:spPr>
        <p:txBody>
          <a:bodyPr lIns="0" tIns="0" rIns="0" bIns="0" anchor="ctr"/>
          <a:lstStyle/>
          <a:p>
            <a:endParaRPr lang="zh-CN" altLang="en-US">
              <a:latin typeface="楷体" panose="02010609060101010101" pitchFamily="49" charset="-122"/>
              <a:ea typeface="楷体" panose="02010609060101010101" pitchFamily="49" charset="-122"/>
            </a:endParaRPr>
          </a:p>
        </p:txBody>
      </p:sp>
      <p:sp>
        <p:nvSpPr>
          <p:cNvPr id="126022" name="Line 83">
            <a:extLst>
              <a:ext uri="{FF2B5EF4-FFF2-40B4-BE49-F238E27FC236}">
                <a16:creationId xmlns:a16="http://schemas.microsoft.com/office/drawing/2014/main" id="{C18D1A47-DF1C-486F-AE62-9EE127AFF0CC}"/>
              </a:ext>
            </a:extLst>
          </p:cNvPr>
          <p:cNvSpPr>
            <a:spLocks noChangeShapeType="1"/>
          </p:cNvSpPr>
          <p:nvPr/>
        </p:nvSpPr>
        <p:spPr bwMode="auto">
          <a:xfrm>
            <a:off x="8650288" y="2355850"/>
            <a:ext cx="0" cy="3746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none" w="lg" len="lg"/>
              </a14:hiddenLine>
            </a:ext>
          </a:extLst>
        </p:spPr>
        <p:txBody>
          <a:bodyPr lIns="0" tIns="0" rIns="0" bIns="0" anchor="ctr"/>
          <a:lstStyle/>
          <a:p>
            <a:endParaRPr lang="zh-CN" altLang="en-US"/>
          </a:p>
        </p:txBody>
      </p:sp>
      <p:sp>
        <p:nvSpPr>
          <p:cNvPr id="126023" name="Line 84">
            <a:extLst>
              <a:ext uri="{FF2B5EF4-FFF2-40B4-BE49-F238E27FC236}">
                <a16:creationId xmlns:a16="http://schemas.microsoft.com/office/drawing/2014/main" id="{9A40DC6F-C8F7-49E9-A9A6-F13988D8E9B7}"/>
              </a:ext>
            </a:extLst>
          </p:cNvPr>
          <p:cNvSpPr>
            <a:spLocks noChangeShapeType="1"/>
          </p:cNvSpPr>
          <p:nvPr/>
        </p:nvSpPr>
        <p:spPr bwMode="auto">
          <a:xfrm>
            <a:off x="5926138" y="2730500"/>
            <a:ext cx="0" cy="35560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6024" name="Line 85">
            <a:extLst>
              <a:ext uri="{FF2B5EF4-FFF2-40B4-BE49-F238E27FC236}">
                <a16:creationId xmlns:a16="http://schemas.microsoft.com/office/drawing/2014/main" id="{DFE9E89B-685E-4D57-A68A-D8A1F497CB1B}"/>
              </a:ext>
            </a:extLst>
          </p:cNvPr>
          <p:cNvSpPr>
            <a:spLocks noChangeShapeType="1"/>
          </p:cNvSpPr>
          <p:nvPr/>
        </p:nvSpPr>
        <p:spPr bwMode="auto">
          <a:xfrm>
            <a:off x="5926138" y="2355850"/>
            <a:ext cx="1344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none" w="lg" len="lg"/>
              </a14:hiddenLine>
            </a:ext>
          </a:extLst>
        </p:spPr>
        <p:txBody>
          <a:bodyPr lIns="0" tIns="0" rIns="0" bIns="0" anchor="ctr"/>
          <a:lstStyle/>
          <a:p>
            <a:endParaRPr lang="zh-CN" altLang="en-US"/>
          </a:p>
        </p:txBody>
      </p:sp>
      <p:sp>
        <p:nvSpPr>
          <p:cNvPr id="126025" name="Line 86">
            <a:extLst>
              <a:ext uri="{FF2B5EF4-FFF2-40B4-BE49-F238E27FC236}">
                <a16:creationId xmlns:a16="http://schemas.microsoft.com/office/drawing/2014/main" id="{C48B58AA-C308-4D15-81E8-F673E763F884}"/>
              </a:ext>
            </a:extLst>
          </p:cNvPr>
          <p:cNvSpPr>
            <a:spLocks noChangeShapeType="1"/>
          </p:cNvSpPr>
          <p:nvPr/>
        </p:nvSpPr>
        <p:spPr bwMode="auto">
          <a:xfrm>
            <a:off x="7270750" y="2355850"/>
            <a:ext cx="13795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none" w="lg" len="lg"/>
              </a14:hiddenLine>
            </a:ext>
          </a:extLst>
        </p:spPr>
        <p:txBody>
          <a:bodyPr lIns="0" tIns="0" rIns="0" bIns="0" anchor="ctr"/>
          <a:lstStyle/>
          <a:p>
            <a:endParaRPr lang="zh-CN" altLang="en-US">
              <a:latin typeface="楷体" panose="02010609060101010101" pitchFamily="49" charset="-122"/>
              <a:ea typeface="楷体" panose="02010609060101010101" pitchFamily="49" charset="-122"/>
            </a:endParaRPr>
          </a:p>
        </p:txBody>
      </p:sp>
      <p:sp>
        <p:nvSpPr>
          <p:cNvPr id="126026" name="Line 87">
            <a:extLst>
              <a:ext uri="{FF2B5EF4-FFF2-40B4-BE49-F238E27FC236}">
                <a16:creationId xmlns:a16="http://schemas.microsoft.com/office/drawing/2014/main" id="{191B81B9-E2DB-441B-BDB1-D50F59696726}"/>
              </a:ext>
            </a:extLst>
          </p:cNvPr>
          <p:cNvSpPr>
            <a:spLocks noChangeShapeType="1"/>
          </p:cNvSpPr>
          <p:nvPr/>
        </p:nvSpPr>
        <p:spPr bwMode="auto">
          <a:xfrm>
            <a:off x="7270750" y="2730500"/>
            <a:ext cx="0" cy="35560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6027" name="Line 88">
            <a:extLst>
              <a:ext uri="{FF2B5EF4-FFF2-40B4-BE49-F238E27FC236}">
                <a16:creationId xmlns:a16="http://schemas.microsoft.com/office/drawing/2014/main" id="{F4E68632-A96F-475C-B761-F789C3D48777}"/>
              </a:ext>
            </a:extLst>
          </p:cNvPr>
          <p:cNvSpPr>
            <a:spLocks noChangeShapeType="1"/>
          </p:cNvSpPr>
          <p:nvPr/>
        </p:nvSpPr>
        <p:spPr bwMode="auto">
          <a:xfrm>
            <a:off x="8650288" y="2730500"/>
            <a:ext cx="0" cy="35560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126028" name="Text Box 89">
            <a:extLst>
              <a:ext uri="{FF2B5EF4-FFF2-40B4-BE49-F238E27FC236}">
                <a16:creationId xmlns:a16="http://schemas.microsoft.com/office/drawing/2014/main" id="{685BEB95-B0B0-4695-9A0A-657F0376E20C}"/>
              </a:ext>
            </a:extLst>
          </p:cNvPr>
          <p:cNvSpPr txBox="1">
            <a:spLocks noChangeArrowheads="1"/>
          </p:cNvSpPr>
          <p:nvPr/>
        </p:nvSpPr>
        <p:spPr bwMode="auto">
          <a:xfrm>
            <a:off x="7248525" y="313213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物理地址</a:t>
            </a:r>
          </a:p>
        </p:txBody>
      </p:sp>
      <p:graphicFrame>
        <p:nvGraphicFramePr>
          <p:cNvPr id="833716" name="Group 180">
            <a:extLst>
              <a:ext uri="{FF2B5EF4-FFF2-40B4-BE49-F238E27FC236}">
                <a16:creationId xmlns:a16="http://schemas.microsoft.com/office/drawing/2014/main" id="{61FB30D8-C827-47BF-8C56-7E906124C8BB}"/>
              </a:ext>
            </a:extLst>
          </p:cNvPr>
          <p:cNvGraphicFramePr>
            <a:graphicFrameLocks noGrp="1"/>
          </p:cNvGraphicFramePr>
          <p:nvPr/>
        </p:nvGraphicFramePr>
        <p:xfrm>
          <a:off x="4833938" y="4032250"/>
          <a:ext cx="1511300" cy="1097280"/>
        </p:xfrm>
        <a:graphic>
          <a:graphicData uri="http://schemas.openxmlformats.org/drawingml/2006/table">
            <a:tbl>
              <a:tblPr/>
              <a:tblGrid>
                <a:gridCol w="75565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tblGrid>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b+0</a:t>
                      </a:r>
                      <a:endParaRPr kumimoji="1" lang="en-US" altLang="zh-CN" sz="2400" b="1" i="0" u="none" strike="noStrike" cap="none" normalizeH="0" baseline="-25000">
                        <a:ln>
                          <a:noFill/>
                        </a:ln>
                        <a:solidFill>
                          <a:schemeClr val="tx1"/>
                        </a:solidFill>
                        <a:effectLst/>
                        <a:latin typeface="Times New Roman" pitchFamily="18" charset="0"/>
                        <a:ea typeface="楷体_GB2312" pitchFamily="49" charset="-122"/>
                      </a:endParaRP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8</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b+1</a:t>
                      </a: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7</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b+2</a:t>
                      </a: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bg1"/>
                          </a:solidFill>
                          <a:effectLst/>
                          <a:latin typeface="Times New Roman" pitchFamily="18" charset="0"/>
                          <a:ea typeface="楷体_GB2312" pitchFamily="49" charset="-122"/>
                        </a:rPr>
                        <a:t>10</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solidFill>
                      <a:srgbClr val="0000CC"/>
                    </a:solidFill>
                  </a:tcPr>
                </a:tc>
                <a:extLst>
                  <a:ext uri="{0D108BD9-81ED-4DB2-BD59-A6C34878D82A}">
                    <a16:rowId xmlns:a16="http://schemas.microsoft.com/office/drawing/2014/main" val="10002"/>
                  </a:ext>
                </a:extLst>
              </a:tr>
            </a:tbl>
          </a:graphicData>
        </a:graphic>
      </p:graphicFrame>
      <p:graphicFrame>
        <p:nvGraphicFramePr>
          <p:cNvPr id="833715" name="Group 179">
            <a:extLst>
              <a:ext uri="{FF2B5EF4-FFF2-40B4-BE49-F238E27FC236}">
                <a16:creationId xmlns:a16="http://schemas.microsoft.com/office/drawing/2014/main" id="{7D92B1B2-37B4-4A9A-8FB8-F7DF3BA68E0A}"/>
              </a:ext>
            </a:extLst>
          </p:cNvPr>
          <p:cNvGraphicFramePr>
            <a:graphicFrameLocks noGrp="1"/>
          </p:cNvGraphicFramePr>
          <p:nvPr/>
        </p:nvGraphicFramePr>
        <p:xfrm>
          <a:off x="2559050" y="4889500"/>
          <a:ext cx="1511300" cy="1097280"/>
        </p:xfrm>
        <a:graphic>
          <a:graphicData uri="http://schemas.openxmlformats.org/drawingml/2006/table">
            <a:tbl>
              <a:tblPr/>
              <a:tblGrid>
                <a:gridCol w="75565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tblGrid>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C+0</a:t>
                      </a: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C+1</a:t>
                      </a: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bg1"/>
                          </a:solidFill>
                          <a:effectLst/>
                          <a:latin typeface="Times New Roman" pitchFamily="18" charset="0"/>
                          <a:ea typeface="楷体_GB2312" pitchFamily="49" charset="-122"/>
                        </a:rPr>
                        <a:t>b</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0000CC"/>
                    </a:solid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C+2</a:t>
                      </a: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itchFamily="18" charset="0"/>
                          <a:ea typeface="楷体_GB2312" pitchFamily="49" charset="-122"/>
                        </a:rPr>
                        <a:t>c</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833662" name="Group 126">
            <a:extLst>
              <a:ext uri="{FF2B5EF4-FFF2-40B4-BE49-F238E27FC236}">
                <a16:creationId xmlns:a16="http://schemas.microsoft.com/office/drawing/2014/main" id="{ADB8F5DB-8DF7-4D71-BC35-CCF2944A8D6E}"/>
              </a:ext>
            </a:extLst>
          </p:cNvPr>
          <p:cNvGraphicFramePr>
            <a:graphicFrameLocks noGrp="1"/>
          </p:cNvGraphicFramePr>
          <p:nvPr/>
        </p:nvGraphicFramePr>
        <p:xfrm>
          <a:off x="4835525" y="3143250"/>
          <a:ext cx="1511300" cy="731838"/>
        </p:xfrm>
        <a:graphic>
          <a:graphicData uri="http://schemas.openxmlformats.org/drawingml/2006/table">
            <a:tbl>
              <a:tblPr/>
              <a:tblGrid>
                <a:gridCol w="741363">
                  <a:extLst>
                    <a:ext uri="{9D8B030D-6E8A-4147-A177-3AD203B41FA5}">
                      <a16:colId xmlns:a16="http://schemas.microsoft.com/office/drawing/2014/main" val="20000"/>
                    </a:ext>
                  </a:extLst>
                </a:gridCol>
                <a:gridCol w="769937">
                  <a:extLst>
                    <a:ext uri="{9D8B030D-6E8A-4147-A177-3AD203B41FA5}">
                      <a16:colId xmlns:a16="http://schemas.microsoft.com/office/drawing/2014/main" val="20001"/>
                    </a:ext>
                  </a:extLst>
                </a:gridCol>
              </a:tblGrid>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a+0</a:t>
                      </a:r>
                      <a:endParaRPr kumimoji="1" lang="en-US" altLang="zh-CN" sz="2400" b="1" i="0" u="none" strike="noStrike" cap="none" normalizeH="0" baseline="-25000">
                        <a:ln>
                          <a:noFill/>
                        </a:ln>
                        <a:solidFill>
                          <a:schemeClr val="tx1"/>
                        </a:solidFill>
                        <a:effectLst/>
                        <a:latin typeface="Times New Roman" pitchFamily="18" charset="0"/>
                        <a:ea typeface="楷体_GB2312" pitchFamily="49" charset="-122"/>
                      </a:endParaRP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a+1</a:t>
                      </a: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itchFamily="18" charset="0"/>
                          <a:ea typeface="楷体_GB2312" pitchFamily="49" charset="-122"/>
                        </a:rPr>
                        <a:t>2</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833676" name="Group 140">
            <a:extLst>
              <a:ext uri="{FF2B5EF4-FFF2-40B4-BE49-F238E27FC236}">
                <a16:creationId xmlns:a16="http://schemas.microsoft.com/office/drawing/2014/main" id="{0D20462C-2837-4D88-A06F-40FC8A40C1B1}"/>
              </a:ext>
            </a:extLst>
          </p:cNvPr>
          <p:cNvGraphicFramePr>
            <a:graphicFrameLocks noGrp="1"/>
          </p:cNvGraphicFramePr>
          <p:nvPr/>
        </p:nvGraphicFramePr>
        <p:xfrm>
          <a:off x="4841875" y="5297488"/>
          <a:ext cx="1511300" cy="731838"/>
        </p:xfrm>
        <a:graphic>
          <a:graphicData uri="http://schemas.openxmlformats.org/drawingml/2006/table">
            <a:tbl>
              <a:tblPr/>
              <a:tblGrid>
                <a:gridCol w="75565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tblGrid>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c+0</a:t>
                      </a:r>
                      <a:endParaRPr kumimoji="1" lang="en-US" altLang="zh-CN" sz="2400" b="1" i="0" u="none" strike="noStrike" cap="none" normalizeH="0" baseline="-25000">
                        <a:ln>
                          <a:noFill/>
                        </a:ln>
                        <a:solidFill>
                          <a:schemeClr val="tx1"/>
                        </a:solidFill>
                        <a:effectLst/>
                        <a:latin typeface="Times New Roman" pitchFamily="18" charset="0"/>
                        <a:ea typeface="楷体_GB2312" pitchFamily="49" charset="-122"/>
                      </a:endParaRP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12</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65919">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c+1</a:t>
                      </a:r>
                    </a:p>
                  </a:txBody>
                  <a:tcPr marL="90000" marR="90000" marT="0" marB="0" anchor="ctr"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itchFamily="18" charset="0"/>
                          <a:ea typeface="楷体_GB2312" pitchFamily="49" charset="-122"/>
                        </a:rPr>
                        <a:t>4</a:t>
                      </a:r>
                    </a:p>
                  </a:txBody>
                  <a:tcPr marL="90000" marR="90000" marT="0" marB="0" anchor="ctr" horzOverflow="overflow">
                    <a:lnL w="28575"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6075" name="Text Box 154">
            <a:extLst>
              <a:ext uri="{FF2B5EF4-FFF2-40B4-BE49-F238E27FC236}">
                <a16:creationId xmlns:a16="http://schemas.microsoft.com/office/drawing/2014/main" id="{4EFB469E-DC60-4F8B-9A94-6DA07170C912}"/>
              </a:ext>
            </a:extLst>
          </p:cNvPr>
          <p:cNvSpPr txBox="1">
            <a:spLocks noChangeArrowheads="1"/>
          </p:cNvSpPr>
          <p:nvPr/>
        </p:nvSpPr>
        <p:spPr bwMode="auto">
          <a:xfrm>
            <a:off x="2632075" y="4467225"/>
            <a:ext cx="1563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程序</a:t>
            </a:r>
            <a:r>
              <a:rPr kumimoji="0" lang="en-US" altLang="zh-CN" sz="2400">
                <a:latin typeface="楷体" panose="02010609060101010101" pitchFamily="49" charset="-122"/>
                <a:ea typeface="楷体" panose="02010609060101010101" pitchFamily="49" charset="-122"/>
              </a:rPr>
              <a:t>C</a:t>
            </a:r>
            <a:r>
              <a:rPr kumimoji="0" lang="zh-CN" altLang="en-US" sz="2400">
                <a:latin typeface="楷体" panose="02010609060101010101" pitchFamily="49" charset="-122"/>
                <a:ea typeface="楷体" panose="02010609060101010101" pitchFamily="49" charset="-122"/>
              </a:rPr>
              <a:t>段表</a:t>
            </a:r>
          </a:p>
        </p:txBody>
      </p:sp>
      <p:sp>
        <p:nvSpPr>
          <p:cNvPr id="126076" name="Line 155">
            <a:extLst>
              <a:ext uri="{FF2B5EF4-FFF2-40B4-BE49-F238E27FC236}">
                <a16:creationId xmlns:a16="http://schemas.microsoft.com/office/drawing/2014/main" id="{6994AB2E-7859-4602-A214-9FF90CADFFF6}"/>
              </a:ext>
            </a:extLst>
          </p:cNvPr>
          <p:cNvSpPr>
            <a:spLocks noChangeShapeType="1"/>
          </p:cNvSpPr>
          <p:nvPr/>
        </p:nvSpPr>
        <p:spPr bwMode="auto">
          <a:xfrm flipH="1">
            <a:off x="2152650" y="2159000"/>
            <a:ext cx="4078288"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6077" name="Line 156">
            <a:extLst>
              <a:ext uri="{FF2B5EF4-FFF2-40B4-BE49-F238E27FC236}">
                <a16:creationId xmlns:a16="http://schemas.microsoft.com/office/drawing/2014/main" id="{6E572334-95EB-443D-BC86-55FD3EB13506}"/>
              </a:ext>
            </a:extLst>
          </p:cNvPr>
          <p:cNvSpPr>
            <a:spLocks noChangeShapeType="1"/>
          </p:cNvSpPr>
          <p:nvPr/>
        </p:nvSpPr>
        <p:spPr bwMode="auto">
          <a:xfrm>
            <a:off x="6216650" y="1797050"/>
            <a:ext cx="0" cy="3619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6078" name="Line 157">
            <a:extLst>
              <a:ext uri="{FF2B5EF4-FFF2-40B4-BE49-F238E27FC236}">
                <a16:creationId xmlns:a16="http://schemas.microsoft.com/office/drawing/2014/main" id="{F38737D5-6910-4F05-8DCD-5CBDD0C5669D}"/>
              </a:ext>
            </a:extLst>
          </p:cNvPr>
          <p:cNvSpPr>
            <a:spLocks noChangeShapeType="1"/>
          </p:cNvSpPr>
          <p:nvPr/>
        </p:nvSpPr>
        <p:spPr bwMode="auto">
          <a:xfrm>
            <a:off x="2165350" y="3783013"/>
            <a:ext cx="0" cy="16700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33694" name="Text Box 158">
            <a:extLst>
              <a:ext uri="{FF2B5EF4-FFF2-40B4-BE49-F238E27FC236}">
                <a16:creationId xmlns:a16="http://schemas.microsoft.com/office/drawing/2014/main" id="{43905B79-A744-4A41-91C0-F920023643FC}"/>
              </a:ext>
            </a:extLst>
          </p:cNvPr>
          <p:cNvSpPr txBox="1">
            <a:spLocks noChangeArrowheads="1"/>
          </p:cNvSpPr>
          <p:nvPr/>
        </p:nvSpPr>
        <p:spPr bwMode="auto">
          <a:xfrm rot="5400000">
            <a:off x="3544094" y="4088607"/>
            <a:ext cx="539750" cy="519112"/>
          </a:xfrm>
          <a:prstGeom prst="rect">
            <a:avLst/>
          </a:prstGeom>
          <a:noFill/>
          <a:ln w="19050">
            <a:noFill/>
            <a:miter lim="800000"/>
            <a:headEnd/>
            <a:tailEnd type="none" w="lg" len="lg"/>
          </a:ln>
          <a:effectLst/>
        </p:spPr>
        <p:txBody>
          <a:bodyPr wrap="none">
            <a:spAutoFit/>
          </a:bodyPr>
          <a:lstStyle/>
          <a:p>
            <a:pPr algn="r" eaLnBrk="1" hangingPunct="1">
              <a:defRPr/>
            </a:pPr>
            <a:r>
              <a:rPr kumimoji="0" lang="en-US" altLang="zh-CN" sz="2800" b="1">
                <a:effectLst>
                  <a:outerShdw blurRad="38100" dist="38100" dir="2700000" algn="tl">
                    <a:srgbClr val="C0C0C0"/>
                  </a:outerShdw>
                </a:effectLst>
                <a:latin typeface="Arial"/>
                <a:ea typeface="宋体" pitchFamily="2" charset="-122"/>
              </a:rPr>
              <a:t>…</a:t>
            </a:r>
            <a:endParaRPr kumimoji="0" lang="en-US" altLang="zh-CN" sz="2800" b="1">
              <a:effectLst>
                <a:outerShdw blurRad="38100" dist="38100" dir="2700000" algn="tl">
                  <a:srgbClr val="C0C0C0"/>
                </a:outerShdw>
              </a:effectLst>
              <a:latin typeface="Tahoma" pitchFamily="34" charset="0"/>
              <a:ea typeface="宋体" pitchFamily="2" charset="-122"/>
            </a:endParaRPr>
          </a:p>
        </p:txBody>
      </p:sp>
      <p:sp>
        <p:nvSpPr>
          <p:cNvPr id="126080" name="Line 159">
            <a:extLst>
              <a:ext uri="{FF2B5EF4-FFF2-40B4-BE49-F238E27FC236}">
                <a16:creationId xmlns:a16="http://schemas.microsoft.com/office/drawing/2014/main" id="{F158F2B2-27E2-41E5-BA15-CBFAC274594C}"/>
              </a:ext>
            </a:extLst>
          </p:cNvPr>
          <p:cNvSpPr>
            <a:spLocks noChangeShapeType="1"/>
          </p:cNvSpPr>
          <p:nvPr/>
        </p:nvSpPr>
        <p:spPr bwMode="auto">
          <a:xfrm>
            <a:off x="4502150" y="2360613"/>
            <a:ext cx="0" cy="288925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6081" name="Line 160">
            <a:extLst>
              <a:ext uri="{FF2B5EF4-FFF2-40B4-BE49-F238E27FC236}">
                <a16:creationId xmlns:a16="http://schemas.microsoft.com/office/drawing/2014/main" id="{082178CF-8D71-4BD6-AD7B-C92EE9EF2B1D}"/>
              </a:ext>
            </a:extLst>
          </p:cNvPr>
          <p:cNvSpPr>
            <a:spLocks noChangeShapeType="1"/>
          </p:cNvSpPr>
          <p:nvPr/>
        </p:nvSpPr>
        <p:spPr bwMode="auto">
          <a:xfrm>
            <a:off x="6927850" y="1797050"/>
            <a:ext cx="0" cy="56515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6082" name="Line 161">
            <a:extLst>
              <a:ext uri="{FF2B5EF4-FFF2-40B4-BE49-F238E27FC236}">
                <a16:creationId xmlns:a16="http://schemas.microsoft.com/office/drawing/2014/main" id="{F327F943-FCA7-481F-B945-8E9C5A530494}"/>
              </a:ext>
            </a:extLst>
          </p:cNvPr>
          <p:cNvSpPr>
            <a:spLocks noChangeShapeType="1"/>
          </p:cNvSpPr>
          <p:nvPr/>
        </p:nvSpPr>
        <p:spPr bwMode="auto">
          <a:xfrm>
            <a:off x="4083050" y="5424488"/>
            <a:ext cx="246063"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6083" name="Line 162">
            <a:extLst>
              <a:ext uri="{FF2B5EF4-FFF2-40B4-BE49-F238E27FC236}">
                <a16:creationId xmlns:a16="http://schemas.microsoft.com/office/drawing/2014/main" id="{76AEB81C-C2E5-4F06-91A8-4B65492D0756}"/>
              </a:ext>
            </a:extLst>
          </p:cNvPr>
          <p:cNvSpPr>
            <a:spLocks noChangeShapeType="1"/>
          </p:cNvSpPr>
          <p:nvPr/>
        </p:nvSpPr>
        <p:spPr bwMode="auto">
          <a:xfrm>
            <a:off x="4664075" y="5424488"/>
            <a:ext cx="158750"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6084" name="Line 163">
            <a:extLst>
              <a:ext uri="{FF2B5EF4-FFF2-40B4-BE49-F238E27FC236}">
                <a16:creationId xmlns:a16="http://schemas.microsoft.com/office/drawing/2014/main" id="{CE5E67EF-7AC3-4637-9F98-B2E01FFFEEA2}"/>
              </a:ext>
            </a:extLst>
          </p:cNvPr>
          <p:cNvSpPr>
            <a:spLocks noChangeShapeType="1"/>
          </p:cNvSpPr>
          <p:nvPr/>
        </p:nvSpPr>
        <p:spPr bwMode="auto">
          <a:xfrm>
            <a:off x="4808538" y="5135563"/>
            <a:ext cx="0" cy="288925"/>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6085" name="Line 164">
            <a:extLst>
              <a:ext uri="{FF2B5EF4-FFF2-40B4-BE49-F238E27FC236}">
                <a16:creationId xmlns:a16="http://schemas.microsoft.com/office/drawing/2014/main" id="{796FB3EB-2C48-4320-AD47-F26EF602CE9A}"/>
              </a:ext>
            </a:extLst>
          </p:cNvPr>
          <p:cNvSpPr>
            <a:spLocks noChangeShapeType="1"/>
          </p:cNvSpPr>
          <p:nvPr/>
        </p:nvSpPr>
        <p:spPr bwMode="auto">
          <a:xfrm>
            <a:off x="4810125" y="5133975"/>
            <a:ext cx="522288"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6086" name="Line 165">
            <a:extLst>
              <a:ext uri="{FF2B5EF4-FFF2-40B4-BE49-F238E27FC236}">
                <a16:creationId xmlns:a16="http://schemas.microsoft.com/office/drawing/2014/main" id="{DB8BB743-2F44-4DFF-A78B-E1DD3EF4D3DB}"/>
              </a:ext>
            </a:extLst>
          </p:cNvPr>
          <p:cNvSpPr>
            <a:spLocks noChangeShapeType="1"/>
          </p:cNvSpPr>
          <p:nvPr/>
        </p:nvSpPr>
        <p:spPr bwMode="auto">
          <a:xfrm>
            <a:off x="6364288" y="4916488"/>
            <a:ext cx="581025" cy="0"/>
          </a:xfrm>
          <a:prstGeom prst="line">
            <a:avLst/>
          </a:prstGeom>
          <a:noFill/>
          <a:ln w="1905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26087" name="Line 166">
            <a:extLst>
              <a:ext uri="{FF2B5EF4-FFF2-40B4-BE49-F238E27FC236}">
                <a16:creationId xmlns:a16="http://schemas.microsoft.com/office/drawing/2014/main" id="{B2C245DD-AEA2-41B2-9DC3-204E4D33CA79}"/>
              </a:ext>
            </a:extLst>
          </p:cNvPr>
          <p:cNvSpPr>
            <a:spLocks noChangeShapeType="1"/>
          </p:cNvSpPr>
          <p:nvPr/>
        </p:nvSpPr>
        <p:spPr bwMode="auto">
          <a:xfrm>
            <a:off x="7927975" y="1809750"/>
            <a:ext cx="0" cy="581025"/>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26088" name="Text Box 167">
            <a:extLst>
              <a:ext uri="{FF2B5EF4-FFF2-40B4-BE49-F238E27FC236}">
                <a16:creationId xmlns:a16="http://schemas.microsoft.com/office/drawing/2014/main" id="{7F69FF7E-06EA-4528-BACC-08FBA7761B22}"/>
              </a:ext>
            </a:extLst>
          </p:cNvPr>
          <p:cNvSpPr txBox="1">
            <a:spLocks noChangeArrowheads="1"/>
          </p:cNvSpPr>
          <p:nvPr/>
        </p:nvSpPr>
        <p:spPr bwMode="auto">
          <a:xfrm>
            <a:off x="5072063" y="272256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页表</a:t>
            </a:r>
          </a:p>
        </p:txBody>
      </p:sp>
      <p:sp>
        <p:nvSpPr>
          <p:cNvPr id="126089" name="Text Box 168">
            <a:extLst>
              <a:ext uri="{FF2B5EF4-FFF2-40B4-BE49-F238E27FC236}">
                <a16:creationId xmlns:a16="http://schemas.microsoft.com/office/drawing/2014/main" id="{245B1B56-142A-4FDA-9A8B-7125544234EB}"/>
              </a:ext>
            </a:extLst>
          </p:cNvPr>
          <p:cNvSpPr txBox="1">
            <a:spLocks noChangeArrowheads="1"/>
          </p:cNvSpPr>
          <p:nvPr/>
        </p:nvSpPr>
        <p:spPr bwMode="auto">
          <a:xfrm>
            <a:off x="6257925" y="3189288"/>
            <a:ext cx="568325"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lnSpc>
                <a:spcPct val="80000"/>
              </a:lnSpc>
              <a:spcBef>
                <a:spcPct val="0"/>
              </a:spcBef>
              <a:buClrTx/>
              <a:buFontTx/>
              <a:buNone/>
            </a:pPr>
            <a:r>
              <a:rPr kumimoji="0" lang="en-US" altLang="zh-CN" sz="2400" dirty="0">
                <a:ea typeface="楷体" panose="02010609060101010101" pitchFamily="49" charset="-122"/>
                <a:cs typeface="Times New Roman" panose="02020603050405020304" pitchFamily="18" charset="0"/>
              </a:rPr>
              <a:t>C</a:t>
            </a:r>
            <a:r>
              <a:rPr kumimoji="0" lang="en-US" altLang="zh-CN" sz="2400" baseline="-25000" dirty="0">
                <a:ea typeface="楷体" panose="02010609060101010101" pitchFamily="49" charset="-122"/>
                <a:cs typeface="Times New Roman" panose="02020603050405020304" pitchFamily="18" charset="0"/>
              </a:rPr>
              <a:t>0</a:t>
            </a:r>
            <a:r>
              <a:rPr kumimoji="0" lang="zh-CN" altLang="en-US" sz="2400" dirty="0">
                <a:ea typeface="楷体" panose="02010609060101010101" pitchFamily="49" charset="-122"/>
                <a:cs typeface="Times New Roman" panose="02020603050405020304" pitchFamily="18" charset="0"/>
              </a:rPr>
              <a:t>段</a:t>
            </a:r>
          </a:p>
        </p:txBody>
      </p:sp>
      <p:sp>
        <p:nvSpPr>
          <p:cNvPr id="126090" name="Text Box 169">
            <a:extLst>
              <a:ext uri="{FF2B5EF4-FFF2-40B4-BE49-F238E27FC236}">
                <a16:creationId xmlns:a16="http://schemas.microsoft.com/office/drawing/2014/main" id="{B42CCCC7-0FE0-4FCC-AB23-687E6363BB99}"/>
              </a:ext>
            </a:extLst>
          </p:cNvPr>
          <p:cNvSpPr txBox="1">
            <a:spLocks noChangeArrowheads="1"/>
          </p:cNvSpPr>
          <p:nvPr/>
        </p:nvSpPr>
        <p:spPr bwMode="auto">
          <a:xfrm>
            <a:off x="6257925" y="4175125"/>
            <a:ext cx="568325"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lnSpc>
                <a:spcPct val="80000"/>
              </a:lnSpc>
              <a:spcBef>
                <a:spcPct val="0"/>
              </a:spcBef>
              <a:buClrTx/>
              <a:buFontTx/>
              <a:buNone/>
            </a:pPr>
            <a:r>
              <a:rPr kumimoji="0" lang="en-US" altLang="zh-CN" sz="2400">
                <a:ea typeface="楷体" panose="02010609060101010101" pitchFamily="49" charset="-122"/>
                <a:cs typeface="Times New Roman" panose="02020603050405020304" pitchFamily="18" charset="0"/>
              </a:rPr>
              <a:t>C</a:t>
            </a:r>
            <a:r>
              <a:rPr kumimoji="0" lang="en-US" altLang="zh-CN" sz="2400" baseline="-25000">
                <a:ea typeface="楷体" panose="02010609060101010101" pitchFamily="49" charset="-122"/>
                <a:cs typeface="Times New Roman" panose="02020603050405020304" pitchFamily="18" charset="0"/>
              </a:rPr>
              <a:t>1</a:t>
            </a:r>
            <a:r>
              <a:rPr kumimoji="0" lang="zh-CN" altLang="en-US" sz="2400">
                <a:ea typeface="楷体" panose="02010609060101010101" pitchFamily="49" charset="-122"/>
                <a:cs typeface="Times New Roman" panose="02020603050405020304" pitchFamily="18" charset="0"/>
              </a:rPr>
              <a:t>段</a:t>
            </a:r>
          </a:p>
        </p:txBody>
      </p:sp>
      <p:sp>
        <p:nvSpPr>
          <p:cNvPr id="126091" name="Text Box 170">
            <a:extLst>
              <a:ext uri="{FF2B5EF4-FFF2-40B4-BE49-F238E27FC236}">
                <a16:creationId xmlns:a16="http://schemas.microsoft.com/office/drawing/2014/main" id="{3ED08739-314D-49BB-9BFB-5BE2169A80B4}"/>
              </a:ext>
            </a:extLst>
          </p:cNvPr>
          <p:cNvSpPr txBox="1">
            <a:spLocks noChangeArrowheads="1"/>
          </p:cNvSpPr>
          <p:nvPr/>
        </p:nvSpPr>
        <p:spPr bwMode="auto">
          <a:xfrm>
            <a:off x="6273800" y="5278438"/>
            <a:ext cx="568325"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r" eaLnBrk="1" hangingPunct="1">
              <a:lnSpc>
                <a:spcPct val="90000"/>
              </a:lnSpc>
              <a:spcBef>
                <a:spcPct val="0"/>
              </a:spcBef>
              <a:buClrTx/>
              <a:buFontTx/>
              <a:buNone/>
            </a:pPr>
            <a:r>
              <a:rPr kumimoji="0" lang="en-US" altLang="zh-CN" sz="2400">
                <a:ea typeface="楷体" panose="02010609060101010101" pitchFamily="49" charset="-122"/>
                <a:cs typeface="Times New Roman" panose="02020603050405020304" pitchFamily="18" charset="0"/>
              </a:rPr>
              <a:t>C</a:t>
            </a:r>
            <a:r>
              <a:rPr kumimoji="0" lang="en-US" altLang="zh-CN" sz="2400" baseline="-25000">
                <a:ea typeface="楷体" panose="02010609060101010101" pitchFamily="49" charset="-122"/>
                <a:cs typeface="Times New Roman" panose="02020603050405020304" pitchFamily="18" charset="0"/>
              </a:rPr>
              <a:t>2</a:t>
            </a:r>
            <a:r>
              <a:rPr kumimoji="0" lang="zh-CN" altLang="en-US" sz="2400">
                <a:ea typeface="楷体" panose="02010609060101010101" pitchFamily="49" charset="-122"/>
                <a:cs typeface="Times New Roman" panose="02020603050405020304" pitchFamily="18" charset="0"/>
              </a:rPr>
              <a:t>段</a:t>
            </a:r>
          </a:p>
        </p:txBody>
      </p:sp>
      <p:sp>
        <p:nvSpPr>
          <p:cNvPr id="126092" name="Text Box 175">
            <a:extLst>
              <a:ext uri="{FF2B5EF4-FFF2-40B4-BE49-F238E27FC236}">
                <a16:creationId xmlns:a16="http://schemas.microsoft.com/office/drawing/2014/main" id="{58992EF7-07B7-43CC-AEE5-8D963F0B3C97}"/>
              </a:ext>
            </a:extLst>
          </p:cNvPr>
          <p:cNvSpPr txBox="1">
            <a:spLocks noChangeArrowheads="1"/>
          </p:cNvSpPr>
          <p:nvPr/>
        </p:nvSpPr>
        <p:spPr bwMode="auto">
          <a:xfrm>
            <a:off x="263525" y="4464050"/>
            <a:ext cx="1668463" cy="1754188"/>
          </a:xfrm>
          <a:prstGeom prst="rect">
            <a:avLst/>
          </a:prstGeom>
          <a:noFill/>
          <a:ln w="25400" algn="ctr">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ClrTx/>
              <a:buFont typeface="Wingdings" panose="05000000000000000000" pitchFamily="2" charset="2"/>
              <a:buNone/>
            </a:pPr>
            <a:r>
              <a:rPr lang="zh-CN" altLang="en-US" sz="1800" dirty="0">
                <a:solidFill>
                  <a:srgbClr val="C00000"/>
                </a:solidFill>
                <a:latin typeface="楷体" panose="02010609060101010101" pitchFamily="49" charset="-122"/>
                <a:ea typeface="楷体" panose="02010609060101010101" pitchFamily="49" charset="-122"/>
              </a:rPr>
              <a:t>原图不准确，</a:t>
            </a:r>
            <a:r>
              <a:rPr lang="en-US" altLang="zh-CN" sz="1800" dirty="0">
                <a:solidFill>
                  <a:srgbClr val="C00000"/>
                </a:solidFill>
                <a:latin typeface="楷体" panose="02010609060101010101" pitchFamily="49" charset="-122"/>
                <a:ea typeface="楷体" panose="02010609060101010101" pitchFamily="49" charset="-122"/>
              </a:rPr>
              <a:t>OS</a:t>
            </a:r>
            <a:r>
              <a:rPr lang="zh-CN" altLang="en-US" sz="1800" dirty="0">
                <a:solidFill>
                  <a:srgbClr val="C00000"/>
                </a:solidFill>
                <a:latin typeface="楷体" panose="02010609060101010101" pitchFamily="49" charset="-122"/>
                <a:ea typeface="楷体" panose="02010609060101010101" pitchFamily="49" charset="-122"/>
              </a:rPr>
              <a:t>调入某进程（如：</a:t>
            </a:r>
            <a:r>
              <a:rPr lang="en-US" altLang="zh-CN" sz="1800" dirty="0">
                <a:solidFill>
                  <a:srgbClr val="C00000"/>
                </a:solidFill>
                <a:latin typeface="楷体" panose="02010609060101010101" pitchFamily="49" charset="-122"/>
                <a:ea typeface="楷体" panose="02010609060101010101" pitchFamily="49" charset="-122"/>
              </a:rPr>
              <a:t>C</a:t>
            </a:r>
            <a:r>
              <a:rPr lang="zh-CN" altLang="en-US" sz="1800" dirty="0">
                <a:solidFill>
                  <a:srgbClr val="C00000"/>
                </a:solidFill>
                <a:latin typeface="楷体" panose="02010609060101010101" pitchFamily="49" charset="-122"/>
                <a:ea typeface="楷体" panose="02010609060101010101" pitchFamily="49" charset="-122"/>
              </a:rPr>
              <a:t>）</a:t>
            </a:r>
            <a:r>
              <a:rPr lang="en-US" altLang="zh-CN" sz="1800" dirty="0">
                <a:solidFill>
                  <a:srgbClr val="C00000"/>
                </a:solidFill>
                <a:latin typeface="楷体" panose="02010609060101010101" pitchFamily="49" charset="-122"/>
                <a:ea typeface="楷体" panose="02010609060101010101" pitchFamily="49" charset="-122"/>
              </a:rPr>
              <a:t> </a:t>
            </a:r>
            <a:r>
              <a:rPr lang="zh-CN" altLang="en-US" sz="1800" dirty="0">
                <a:solidFill>
                  <a:srgbClr val="C00000"/>
                </a:solidFill>
                <a:latin typeface="楷体" panose="02010609060101010101" pitchFamily="49" charset="-122"/>
                <a:ea typeface="楷体" panose="02010609060101010101" pitchFamily="49" charset="-122"/>
              </a:rPr>
              <a:t>时，会将其段表的基地址更新到基值寄存器中。</a:t>
            </a:r>
          </a:p>
        </p:txBody>
      </p:sp>
      <p:cxnSp>
        <p:nvCxnSpPr>
          <p:cNvPr id="126093" name="直接连接符 2">
            <a:extLst>
              <a:ext uri="{FF2B5EF4-FFF2-40B4-BE49-F238E27FC236}">
                <a16:creationId xmlns:a16="http://schemas.microsoft.com/office/drawing/2014/main" id="{89031C74-CEDF-4C9B-8EEF-D3543333E2BB}"/>
              </a:ext>
            </a:extLst>
          </p:cNvPr>
          <p:cNvCxnSpPr>
            <a:cxnSpLocks noChangeShapeType="1"/>
          </p:cNvCxnSpPr>
          <p:nvPr/>
        </p:nvCxnSpPr>
        <p:spPr bwMode="auto">
          <a:xfrm>
            <a:off x="5122863" y="1052513"/>
            <a:ext cx="746125" cy="917575"/>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a:extLst>
              <a:ext uri="{FF2B5EF4-FFF2-40B4-BE49-F238E27FC236}">
                <a16:creationId xmlns:a16="http://schemas.microsoft.com/office/drawing/2014/main" id="{5CDAA1DD-54B0-410F-AF41-AC4D6DF1400F}"/>
              </a:ext>
            </a:extLst>
          </p:cNvPr>
          <p:cNvSpPr>
            <a:spLocks noGrp="1" noChangeArrowheads="1"/>
          </p:cNvSpPr>
          <p:nvPr>
            <p:ph type="title"/>
          </p:nvPr>
        </p:nvSpPr>
        <p:spPr/>
        <p:txBody>
          <a:bodyPr/>
          <a:lstStyle/>
          <a:p>
            <a:pPr eaLnBrk="1" hangingPunct="1">
              <a:defRPr/>
            </a:pPr>
            <a:r>
              <a:rPr lang="zh-CN" altLang="en-US"/>
              <a:t>页面替换算法（</a:t>
            </a:r>
            <a:r>
              <a:rPr lang="en-US" altLang="zh-CN"/>
              <a:t>1</a:t>
            </a:r>
            <a:r>
              <a:rPr lang="zh-CN" altLang="en-US"/>
              <a:t>）</a:t>
            </a:r>
          </a:p>
        </p:txBody>
      </p:sp>
      <p:sp>
        <p:nvSpPr>
          <p:cNvPr id="126979" name="Rectangle 3">
            <a:extLst>
              <a:ext uri="{FF2B5EF4-FFF2-40B4-BE49-F238E27FC236}">
                <a16:creationId xmlns:a16="http://schemas.microsoft.com/office/drawing/2014/main" id="{A07B6189-9366-4D32-AA3E-50F2678BF59C}"/>
              </a:ext>
            </a:extLst>
          </p:cNvPr>
          <p:cNvSpPr>
            <a:spLocks noGrp="1" noChangeArrowheads="1"/>
          </p:cNvSpPr>
          <p:nvPr>
            <p:ph idx="1"/>
          </p:nvPr>
        </p:nvSpPr>
        <p:spPr/>
        <p:txBody>
          <a:bodyPr/>
          <a:lstStyle/>
          <a:p>
            <a:pPr eaLnBrk="1" hangingPunct="1"/>
            <a:r>
              <a:rPr lang="zh-CN" altLang="en-US" sz="2800"/>
              <a:t>当</a:t>
            </a:r>
            <a:r>
              <a:rPr lang="en-US" altLang="zh-CN" sz="2800"/>
              <a:t>CPU</a:t>
            </a:r>
            <a:r>
              <a:rPr lang="zh-CN" altLang="en-US" sz="2800"/>
              <a:t>要用到的数据或指令不在主存时，产生缺页中断，要求从外存调进包含有这条指令或数据的页面</a:t>
            </a:r>
          </a:p>
          <a:p>
            <a:pPr eaLnBrk="1" hangingPunct="1"/>
            <a:r>
              <a:rPr lang="zh-CN" altLang="en-US" sz="2800"/>
              <a:t>假如主存页面已全部被占满，那么要使用一定的替换算法来替换主存中的一页以接纳新调进的页面</a:t>
            </a:r>
          </a:p>
          <a:p>
            <a:pPr eaLnBrk="1" hangingPunct="1"/>
            <a:r>
              <a:rPr lang="zh-CN" altLang="en-US" sz="2800"/>
              <a:t>页面替换策略与</a:t>
            </a:r>
            <a:r>
              <a:rPr lang="en-US" altLang="zh-CN" sz="2800"/>
              <a:t>Cache</a:t>
            </a:r>
            <a:r>
              <a:rPr lang="zh-CN" altLang="en-US" sz="2800"/>
              <a:t>中的行替换策略的显著区别：</a:t>
            </a:r>
          </a:p>
          <a:p>
            <a:pPr lvl="1" eaLnBrk="1" hangingPunct="1"/>
            <a:r>
              <a:rPr lang="zh-CN" altLang="en-US"/>
              <a:t>缺页至少要涉及一次磁盘存取，读取所缺的页，缺页使系统蒙受的损失要比</a:t>
            </a:r>
            <a:r>
              <a:rPr lang="en-US" altLang="zh-CN"/>
              <a:t>cache</a:t>
            </a:r>
            <a:r>
              <a:rPr lang="zh-CN" altLang="en-US"/>
              <a:t>未命中大得多</a:t>
            </a:r>
          </a:p>
          <a:p>
            <a:pPr lvl="1" eaLnBrk="1" hangingPunct="1"/>
            <a:r>
              <a:rPr lang="zh-CN" altLang="en-US"/>
              <a:t>页面替换是由操作系统软件实现的</a:t>
            </a:r>
          </a:p>
        </p:txBody>
      </p:sp>
    </p:spTree>
  </p:cSld>
  <p:clrMapOvr>
    <a:masterClrMapping/>
  </p:clrMapOvr>
  <p:transition spd="med">
    <p:pull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a:extLst>
              <a:ext uri="{FF2B5EF4-FFF2-40B4-BE49-F238E27FC236}">
                <a16:creationId xmlns:a16="http://schemas.microsoft.com/office/drawing/2014/main" id="{BCC6ACF1-3D32-4B7F-AA76-B52FA2FB4B33}"/>
              </a:ext>
            </a:extLst>
          </p:cNvPr>
          <p:cNvSpPr>
            <a:spLocks noGrp="1" noChangeArrowheads="1"/>
          </p:cNvSpPr>
          <p:nvPr>
            <p:ph type="title"/>
          </p:nvPr>
        </p:nvSpPr>
        <p:spPr/>
        <p:txBody>
          <a:bodyPr/>
          <a:lstStyle/>
          <a:p>
            <a:pPr eaLnBrk="1" hangingPunct="1">
              <a:defRPr/>
            </a:pPr>
            <a:r>
              <a:rPr lang="zh-CN" altLang="en-US"/>
              <a:t>页面替换算法（</a:t>
            </a:r>
            <a:r>
              <a:rPr lang="en-US" altLang="zh-CN"/>
              <a:t>2</a:t>
            </a:r>
            <a:r>
              <a:rPr lang="zh-CN" altLang="en-US"/>
              <a:t>）</a:t>
            </a:r>
          </a:p>
        </p:txBody>
      </p:sp>
      <p:sp>
        <p:nvSpPr>
          <p:cNvPr id="128003" name="Rectangle 3">
            <a:extLst>
              <a:ext uri="{FF2B5EF4-FFF2-40B4-BE49-F238E27FC236}">
                <a16:creationId xmlns:a16="http://schemas.microsoft.com/office/drawing/2014/main" id="{BC337F4C-2AB4-4ECF-B42D-886E2F97074E}"/>
              </a:ext>
            </a:extLst>
          </p:cNvPr>
          <p:cNvSpPr>
            <a:spLocks noGrp="1" noChangeArrowheads="1"/>
          </p:cNvSpPr>
          <p:nvPr>
            <p:ph idx="1"/>
          </p:nvPr>
        </p:nvSpPr>
        <p:spPr/>
        <p:txBody>
          <a:bodyPr/>
          <a:lstStyle/>
          <a:p>
            <a:pPr eaLnBrk="1" hangingPunct="1"/>
            <a:r>
              <a:rPr lang="zh-CN" altLang="en-US"/>
              <a:t>常用的替换策略</a:t>
            </a:r>
          </a:p>
          <a:p>
            <a:pPr lvl="1" eaLnBrk="1" hangingPunct="1"/>
            <a:r>
              <a:rPr lang="en-US" altLang="zh-CN"/>
              <a:t>LRU</a:t>
            </a:r>
            <a:r>
              <a:rPr lang="zh-CN" altLang="en-US"/>
              <a:t>（最近最少使用）算法</a:t>
            </a:r>
          </a:p>
          <a:p>
            <a:pPr lvl="1" eaLnBrk="1" hangingPunct="1"/>
            <a:r>
              <a:rPr lang="en-US" altLang="zh-CN"/>
              <a:t>LFU</a:t>
            </a:r>
            <a:r>
              <a:rPr lang="zh-CN" altLang="en-US"/>
              <a:t>（最不经常使用）算法</a:t>
            </a:r>
          </a:p>
          <a:p>
            <a:pPr lvl="1" eaLnBrk="1" hangingPunct="1"/>
            <a:r>
              <a:rPr lang="en-US" altLang="zh-CN"/>
              <a:t>FIFO</a:t>
            </a:r>
            <a:r>
              <a:rPr lang="zh-CN" altLang="en-US"/>
              <a:t>（先进先出）算法</a:t>
            </a:r>
          </a:p>
          <a:p>
            <a:pPr lvl="1" eaLnBrk="1" hangingPunct="1"/>
            <a:r>
              <a:rPr lang="zh-CN" altLang="en-US"/>
              <a:t>或将两种算法结合起来使用</a:t>
            </a:r>
          </a:p>
          <a:p>
            <a:pPr eaLnBrk="1" hangingPunct="1"/>
            <a:r>
              <a:rPr lang="zh-CN" altLang="en-US"/>
              <a:t>写回处理</a:t>
            </a:r>
          </a:p>
          <a:p>
            <a:pPr lvl="1" eaLnBrk="1" hangingPunct="1"/>
            <a:r>
              <a:rPr lang="zh-CN" altLang="en-US"/>
              <a:t>对于将被替换出去的页面，假如该页调入主存后没有被修改，就不必进行写回，否则就把该页重新写入外存，以保证外存中数据的一致性</a:t>
            </a:r>
          </a:p>
          <a:p>
            <a:pPr lvl="1" eaLnBrk="1" hangingPunct="1"/>
            <a:r>
              <a:rPr lang="zh-CN" altLang="en-US"/>
              <a:t>为此，在页表的每一行应设置一修改位</a:t>
            </a:r>
          </a:p>
          <a:p>
            <a:pPr eaLnBrk="1" hangingPunct="1"/>
            <a:endParaRPr lang="en-US" altLang="zh-CN"/>
          </a:p>
        </p:txBody>
      </p:sp>
    </p:spTree>
  </p:cSld>
  <p:clrMapOvr>
    <a:masterClrMapping/>
  </p:clrMapOvr>
  <p:transition spd="med">
    <p:pull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a:extLst>
              <a:ext uri="{FF2B5EF4-FFF2-40B4-BE49-F238E27FC236}">
                <a16:creationId xmlns:a16="http://schemas.microsoft.com/office/drawing/2014/main" id="{D81D1D45-97E2-487E-B720-EA74D19003B1}"/>
              </a:ext>
            </a:extLst>
          </p:cNvPr>
          <p:cNvSpPr>
            <a:spLocks noGrp="1" noChangeArrowheads="1"/>
          </p:cNvSpPr>
          <p:nvPr>
            <p:ph type="title"/>
          </p:nvPr>
        </p:nvSpPr>
        <p:spPr/>
        <p:txBody>
          <a:bodyPr/>
          <a:lstStyle/>
          <a:p>
            <a:pPr eaLnBrk="1" hangingPunct="1">
              <a:defRPr/>
            </a:pPr>
            <a:r>
              <a:rPr lang="zh-CN" altLang="en-US" dirty="0"/>
              <a:t>例</a:t>
            </a:r>
            <a:r>
              <a:rPr lang="en-US" altLang="zh-CN" dirty="0"/>
              <a:t>13</a:t>
            </a:r>
          </a:p>
        </p:txBody>
      </p:sp>
      <p:sp>
        <p:nvSpPr>
          <p:cNvPr id="129027" name="Rectangle 3">
            <a:extLst>
              <a:ext uri="{FF2B5EF4-FFF2-40B4-BE49-F238E27FC236}">
                <a16:creationId xmlns:a16="http://schemas.microsoft.com/office/drawing/2014/main" id="{330B1913-3CE1-419B-B501-C8C8DDCE48A5}"/>
              </a:ext>
            </a:extLst>
          </p:cNvPr>
          <p:cNvSpPr>
            <a:spLocks noGrp="1" noChangeArrowheads="1"/>
          </p:cNvSpPr>
          <p:nvPr>
            <p:ph idx="1"/>
          </p:nvPr>
        </p:nvSpPr>
        <p:spPr>
          <a:xfrm>
            <a:off x="179388" y="973138"/>
            <a:ext cx="8785225" cy="5400675"/>
          </a:xfrm>
        </p:spPr>
        <p:txBody>
          <a:bodyPr/>
          <a:lstStyle/>
          <a:p>
            <a:pPr eaLnBrk="1" hangingPunct="1"/>
            <a:r>
              <a:rPr lang="zh-CN" altLang="en-US" sz="2400"/>
              <a:t>假设主存只允许存放</a:t>
            </a:r>
            <a:r>
              <a:rPr lang="en-US" altLang="zh-CN" sz="2400"/>
              <a:t>a</a:t>
            </a:r>
            <a:r>
              <a:rPr lang="zh-CN" altLang="en-US" sz="2400"/>
              <a:t>、</a:t>
            </a:r>
            <a:r>
              <a:rPr lang="en-US" altLang="zh-CN" sz="2400"/>
              <a:t>b</a:t>
            </a:r>
            <a:r>
              <a:rPr lang="zh-CN" altLang="en-US" sz="2400"/>
              <a:t>、</a:t>
            </a:r>
            <a:r>
              <a:rPr lang="en-US" altLang="zh-CN" sz="2400"/>
              <a:t>c</a:t>
            </a:r>
            <a:r>
              <a:rPr lang="zh-CN" altLang="en-US" sz="2400"/>
              <a:t>三个页面，逻辑上构成</a:t>
            </a:r>
            <a:r>
              <a:rPr lang="en-US" altLang="zh-CN" sz="2400"/>
              <a:t>a</a:t>
            </a:r>
            <a:r>
              <a:rPr lang="zh-CN" altLang="en-US" sz="2400"/>
              <a:t>进</a:t>
            </a:r>
            <a:r>
              <a:rPr lang="en-US" altLang="zh-CN" sz="2400"/>
              <a:t>c</a:t>
            </a:r>
            <a:r>
              <a:rPr lang="zh-CN" altLang="en-US" sz="2400"/>
              <a:t>出的</a:t>
            </a:r>
            <a:r>
              <a:rPr lang="en-US" altLang="zh-CN" sz="2400"/>
              <a:t>FIFO</a:t>
            </a:r>
            <a:r>
              <a:rPr lang="zh-CN" altLang="en-US" sz="2400"/>
              <a:t>队列。某次操作中进程访存的序列是</a:t>
            </a:r>
            <a:r>
              <a:rPr lang="en-US" altLang="zh-CN" sz="2400"/>
              <a:t>0</a:t>
            </a:r>
            <a:r>
              <a:rPr lang="zh-CN" altLang="en-US" sz="2400"/>
              <a:t>、</a:t>
            </a:r>
            <a:r>
              <a:rPr lang="en-US" altLang="zh-CN" sz="2400"/>
              <a:t>1</a:t>
            </a:r>
            <a:r>
              <a:rPr lang="zh-CN" altLang="en-US" sz="2400"/>
              <a:t>、</a:t>
            </a:r>
            <a:r>
              <a:rPr lang="en-US" altLang="zh-CN" sz="2400"/>
              <a:t>2</a:t>
            </a:r>
            <a:r>
              <a:rPr lang="zh-CN" altLang="en-US" sz="2400"/>
              <a:t>、</a:t>
            </a:r>
            <a:r>
              <a:rPr lang="en-US" altLang="zh-CN" sz="2400"/>
              <a:t>4</a:t>
            </a:r>
            <a:r>
              <a:rPr lang="zh-CN" altLang="en-US" sz="2400"/>
              <a:t>、</a:t>
            </a:r>
            <a:r>
              <a:rPr lang="en-US" altLang="zh-CN" sz="2400"/>
              <a:t>2</a:t>
            </a:r>
            <a:r>
              <a:rPr lang="zh-CN" altLang="en-US" sz="2400"/>
              <a:t>、</a:t>
            </a:r>
            <a:r>
              <a:rPr lang="en-US" altLang="zh-CN" sz="2400"/>
              <a:t>3</a:t>
            </a:r>
            <a:r>
              <a:rPr lang="zh-CN" altLang="en-US" sz="2400"/>
              <a:t>、</a:t>
            </a:r>
            <a:r>
              <a:rPr lang="en-US" altLang="zh-CN" sz="2400"/>
              <a:t>0</a:t>
            </a:r>
            <a:r>
              <a:rPr lang="zh-CN" altLang="en-US" sz="2400"/>
              <a:t>、</a:t>
            </a:r>
            <a:r>
              <a:rPr lang="en-US" altLang="zh-CN" sz="2400"/>
              <a:t>2</a:t>
            </a:r>
            <a:r>
              <a:rPr lang="zh-CN" altLang="en-US" sz="2400"/>
              <a:t>、</a:t>
            </a:r>
            <a:r>
              <a:rPr lang="en-US" altLang="zh-CN" sz="2400"/>
              <a:t>1</a:t>
            </a:r>
            <a:r>
              <a:rPr lang="zh-CN" altLang="en-US" sz="2400"/>
              <a:t>、</a:t>
            </a:r>
            <a:r>
              <a:rPr lang="en-US" altLang="zh-CN" sz="2400"/>
              <a:t>3</a:t>
            </a:r>
            <a:r>
              <a:rPr lang="zh-CN" altLang="en-US" sz="2400"/>
              <a:t>、</a:t>
            </a:r>
            <a:r>
              <a:rPr lang="en-US" altLang="zh-CN" sz="2400"/>
              <a:t>2</a:t>
            </a:r>
            <a:r>
              <a:rPr lang="zh-CN" altLang="en-US" sz="2400"/>
              <a:t>（虚页号）。若分别采用</a:t>
            </a:r>
            <a:r>
              <a:rPr lang="en-US" altLang="zh-CN" sz="2400"/>
              <a:t>FIFO</a:t>
            </a:r>
            <a:r>
              <a:rPr lang="zh-CN" altLang="en-US" sz="2400"/>
              <a:t>算法、</a:t>
            </a:r>
            <a:r>
              <a:rPr lang="en-US" altLang="zh-CN" sz="2400"/>
              <a:t>FIFO + LRU</a:t>
            </a:r>
            <a:r>
              <a:rPr lang="zh-CN" altLang="en-US" sz="2400"/>
              <a:t>算法，请用列表法分别求出两种替换策略情况下主存的命中率。</a:t>
            </a:r>
            <a:endParaRPr lang="en-US" altLang="zh-CN" sz="2400"/>
          </a:p>
        </p:txBody>
      </p:sp>
      <p:graphicFrame>
        <p:nvGraphicFramePr>
          <p:cNvPr id="2" name="表格 1">
            <a:extLst>
              <a:ext uri="{FF2B5EF4-FFF2-40B4-BE49-F238E27FC236}">
                <a16:creationId xmlns:a16="http://schemas.microsoft.com/office/drawing/2014/main" id="{02D53E74-6E84-432E-8D87-69051434D4E4}"/>
              </a:ext>
            </a:extLst>
          </p:cNvPr>
          <p:cNvGraphicFramePr>
            <a:graphicFrameLocks noGrp="1"/>
          </p:cNvGraphicFramePr>
          <p:nvPr/>
        </p:nvGraphicFramePr>
        <p:xfrm>
          <a:off x="684213" y="2852738"/>
          <a:ext cx="8135934" cy="3338514"/>
        </p:xfrm>
        <a:graphic>
          <a:graphicData uri="http://schemas.openxmlformats.org/drawingml/2006/table">
            <a:tbl>
              <a:tblPr firstRow="1" bandRow="1">
                <a:tableStyleId>{5C22544A-7EE6-4342-B048-85BDC9FD1C3A}</a:tableStyleId>
              </a:tblPr>
              <a:tblGrid>
                <a:gridCol w="581138">
                  <a:extLst>
                    <a:ext uri="{9D8B030D-6E8A-4147-A177-3AD203B41FA5}">
                      <a16:colId xmlns:a16="http://schemas.microsoft.com/office/drawing/2014/main" val="451460632"/>
                    </a:ext>
                  </a:extLst>
                </a:gridCol>
                <a:gridCol w="426855">
                  <a:extLst>
                    <a:ext uri="{9D8B030D-6E8A-4147-A177-3AD203B41FA5}">
                      <a16:colId xmlns:a16="http://schemas.microsoft.com/office/drawing/2014/main" val="3355463995"/>
                    </a:ext>
                  </a:extLst>
                </a:gridCol>
                <a:gridCol w="503996">
                  <a:extLst>
                    <a:ext uri="{9D8B030D-6E8A-4147-A177-3AD203B41FA5}">
                      <a16:colId xmlns:a16="http://schemas.microsoft.com/office/drawing/2014/main" val="3264387609"/>
                    </a:ext>
                  </a:extLst>
                </a:gridCol>
                <a:gridCol w="647995">
                  <a:extLst>
                    <a:ext uri="{9D8B030D-6E8A-4147-A177-3AD203B41FA5}">
                      <a16:colId xmlns:a16="http://schemas.microsoft.com/office/drawing/2014/main" val="3662350127"/>
                    </a:ext>
                  </a:extLst>
                </a:gridCol>
                <a:gridCol w="503996">
                  <a:extLst>
                    <a:ext uri="{9D8B030D-6E8A-4147-A177-3AD203B41FA5}">
                      <a16:colId xmlns:a16="http://schemas.microsoft.com/office/drawing/2014/main" val="3800554637"/>
                    </a:ext>
                  </a:extLst>
                </a:gridCol>
                <a:gridCol w="575996">
                  <a:extLst>
                    <a:ext uri="{9D8B030D-6E8A-4147-A177-3AD203B41FA5}">
                      <a16:colId xmlns:a16="http://schemas.microsoft.com/office/drawing/2014/main" val="1859927706"/>
                    </a:ext>
                  </a:extLst>
                </a:gridCol>
                <a:gridCol w="503996">
                  <a:extLst>
                    <a:ext uri="{9D8B030D-6E8A-4147-A177-3AD203B41FA5}">
                      <a16:colId xmlns:a16="http://schemas.microsoft.com/office/drawing/2014/main" val="1909485331"/>
                    </a:ext>
                  </a:extLst>
                </a:gridCol>
                <a:gridCol w="647995">
                  <a:extLst>
                    <a:ext uri="{9D8B030D-6E8A-4147-A177-3AD203B41FA5}">
                      <a16:colId xmlns:a16="http://schemas.microsoft.com/office/drawing/2014/main" val="1309909183"/>
                    </a:ext>
                  </a:extLst>
                </a:gridCol>
                <a:gridCol w="503996">
                  <a:extLst>
                    <a:ext uri="{9D8B030D-6E8A-4147-A177-3AD203B41FA5}">
                      <a16:colId xmlns:a16="http://schemas.microsoft.com/office/drawing/2014/main" val="3255585996"/>
                    </a:ext>
                  </a:extLst>
                </a:gridCol>
                <a:gridCol w="503996">
                  <a:extLst>
                    <a:ext uri="{9D8B030D-6E8A-4147-A177-3AD203B41FA5}">
                      <a16:colId xmlns:a16="http://schemas.microsoft.com/office/drawing/2014/main" val="801018862"/>
                    </a:ext>
                  </a:extLst>
                </a:gridCol>
                <a:gridCol w="503996">
                  <a:extLst>
                    <a:ext uri="{9D8B030D-6E8A-4147-A177-3AD203B41FA5}">
                      <a16:colId xmlns:a16="http://schemas.microsoft.com/office/drawing/2014/main" val="3955603130"/>
                    </a:ext>
                  </a:extLst>
                </a:gridCol>
                <a:gridCol w="503996">
                  <a:extLst>
                    <a:ext uri="{9D8B030D-6E8A-4147-A177-3AD203B41FA5}">
                      <a16:colId xmlns:a16="http://schemas.microsoft.com/office/drawing/2014/main" val="4009543574"/>
                    </a:ext>
                  </a:extLst>
                </a:gridCol>
                <a:gridCol w="503996">
                  <a:extLst>
                    <a:ext uri="{9D8B030D-6E8A-4147-A177-3AD203B41FA5}">
                      <a16:colId xmlns:a16="http://schemas.microsoft.com/office/drawing/2014/main" val="2811677069"/>
                    </a:ext>
                  </a:extLst>
                </a:gridCol>
                <a:gridCol w="1223987">
                  <a:extLst>
                    <a:ext uri="{9D8B030D-6E8A-4147-A177-3AD203B41FA5}">
                      <a16:colId xmlns:a16="http://schemas.microsoft.com/office/drawing/2014/main" val="3670315743"/>
                    </a:ext>
                  </a:extLst>
                </a:gridCol>
              </a:tblGrid>
              <a:tr h="370946">
                <a:tc>
                  <a:txBody>
                    <a:bodyPr/>
                    <a:lstStyle/>
                    <a:p>
                      <a:endParaRPr lang="zh-CN" altLang="en-US" sz="1800" dirty="0"/>
                    </a:p>
                  </a:txBody>
                  <a:tcPr marL="91429" marR="91429" marT="45733" marB="45733"/>
                </a:tc>
                <a:tc>
                  <a:txBody>
                    <a:bodyPr/>
                    <a:lstStyle/>
                    <a:p>
                      <a:endParaRPr lang="zh-CN" altLang="en-US" sz="180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dirty="0">
                          <a:solidFill>
                            <a:srgbClr val="FF0000"/>
                          </a:solidFill>
                        </a:rPr>
                        <a:t>2</a:t>
                      </a:r>
                      <a:endParaRPr lang="zh-CN" altLang="en-US" sz="1800" dirty="0">
                        <a:solidFill>
                          <a:srgbClr val="FF0000"/>
                        </a:solidFill>
                      </a:endParaRPr>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solidFill>
                            <a:srgbClr val="FF0000"/>
                          </a:solidFill>
                        </a:rPr>
                        <a:t>2</a:t>
                      </a:r>
                      <a:endParaRPr lang="zh-CN" altLang="en-US" sz="1800" dirty="0">
                        <a:solidFill>
                          <a:srgbClr val="FF0000"/>
                        </a:solidFill>
                      </a:endParaRPr>
                    </a:p>
                  </a:txBody>
                  <a:tcPr marL="91429" marR="91429" marT="45733" marB="45733"/>
                </a:tc>
                <a:tc>
                  <a:txBody>
                    <a:bodyPr/>
                    <a:lstStyle/>
                    <a:p>
                      <a:pPr algn="ctr">
                        <a:tabLst/>
                      </a:pPr>
                      <a:r>
                        <a:rPr lang="zh-CN" altLang="en-US" sz="1800" dirty="0"/>
                        <a:t>命中率</a:t>
                      </a:r>
                    </a:p>
                  </a:txBody>
                  <a:tcPr marL="91429" marR="91429" marT="45733" marB="45733"/>
                </a:tc>
                <a:extLst>
                  <a:ext uri="{0D108BD9-81ED-4DB2-BD59-A6C34878D82A}">
                    <a16:rowId xmlns:a16="http://schemas.microsoft.com/office/drawing/2014/main" val="716163411"/>
                  </a:ext>
                </a:extLst>
              </a:tr>
              <a:tr h="370946">
                <a:tc rowSpan="4">
                  <a:txBody>
                    <a:bodyPr/>
                    <a:lstStyle/>
                    <a:p>
                      <a:endParaRPr lang="zh-CN" altLang="en-US" sz="1800" dirty="0"/>
                    </a:p>
                  </a:txBody>
                  <a:tcPr marL="91429" marR="91429" marT="45733" marB="45733"/>
                </a:tc>
                <a:tc>
                  <a:txBody>
                    <a:bodyPr/>
                    <a:lstStyle/>
                    <a:p>
                      <a:pPr algn="ctr"/>
                      <a:r>
                        <a:rPr lang="en-US" altLang="zh-CN" sz="1800" dirty="0"/>
                        <a:t>a</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rowSpan="4">
                  <a:txBody>
                    <a:bodyPr/>
                    <a:lstStyle/>
                    <a:p>
                      <a:r>
                        <a:rPr lang="en-US" altLang="zh-CN" sz="1600" dirty="0"/>
                        <a:t>2/11=18.2%</a:t>
                      </a:r>
                      <a:endParaRPr lang="zh-CN" altLang="en-US" sz="1600" dirty="0"/>
                    </a:p>
                  </a:txBody>
                  <a:tcPr marL="91429" marR="91429" marT="45733" marB="45733" anchor="ctr"/>
                </a:tc>
                <a:extLst>
                  <a:ext uri="{0D108BD9-81ED-4DB2-BD59-A6C34878D82A}">
                    <a16:rowId xmlns:a16="http://schemas.microsoft.com/office/drawing/2014/main" val="3819965275"/>
                  </a:ext>
                </a:extLst>
              </a:tr>
              <a:tr h="370946">
                <a:tc vMerge="1">
                  <a:txBody>
                    <a:bodyPr/>
                    <a:lstStyle/>
                    <a:p>
                      <a:endParaRPr lang="zh-CN" altLang="en-US" dirty="0"/>
                    </a:p>
                  </a:txBody>
                  <a:tcPr/>
                </a:tc>
                <a:tc>
                  <a:txBody>
                    <a:bodyPr/>
                    <a:lstStyle/>
                    <a:p>
                      <a:pPr algn="ctr"/>
                      <a:r>
                        <a:rPr lang="en-US" altLang="zh-CN" sz="1800" dirty="0"/>
                        <a:t>b</a:t>
                      </a:r>
                      <a:endParaRPr lang="zh-CN" altLang="en-US" sz="1800" dirty="0"/>
                    </a:p>
                  </a:txBody>
                  <a:tcPr marL="91429" marR="91429" marT="45733" marB="45733"/>
                </a:tc>
                <a:tc>
                  <a:txBody>
                    <a:bodyPr/>
                    <a:lstStyle/>
                    <a:p>
                      <a:pPr algn="ctr"/>
                      <a:endParaRPr lang="zh-CN" altLang="en-US" sz="180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solidFill>
                            <a:srgbClr val="FF0000"/>
                          </a:solidFill>
                        </a:rPr>
                        <a:t>2</a:t>
                      </a:r>
                      <a:endParaRPr lang="zh-CN" altLang="en-US" sz="1800" dirty="0">
                        <a:solidFill>
                          <a:srgbClr val="FF0000"/>
                        </a:solidFill>
                      </a:endParaRPr>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vMerge="1">
                  <a:txBody>
                    <a:bodyPr/>
                    <a:lstStyle/>
                    <a:p>
                      <a:endParaRPr lang="zh-CN" altLang="en-US" dirty="0"/>
                    </a:p>
                  </a:txBody>
                  <a:tcPr/>
                </a:tc>
                <a:extLst>
                  <a:ext uri="{0D108BD9-81ED-4DB2-BD59-A6C34878D82A}">
                    <a16:rowId xmlns:a16="http://schemas.microsoft.com/office/drawing/2014/main" val="3627529511"/>
                  </a:ext>
                </a:extLst>
              </a:tr>
              <a:tr h="370946">
                <a:tc vMerge="1">
                  <a:txBody>
                    <a:bodyPr/>
                    <a:lstStyle/>
                    <a:p>
                      <a:endParaRPr lang="zh-CN" altLang="en-US" dirty="0"/>
                    </a:p>
                  </a:txBody>
                  <a:tcPr/>
                </a:tc>
                <a:tc>
                  <a:txBody>
                    <a:bodyPr/>
                    <a:lstStyle/>
                    <a:p>
                      <a:pPr algn="ctr"/>
                      <a:r>
                        <a:rPr lang="en-US" altLang="zh-CN" sz="1800" dirty="0"/>
                        <a:t>c</a:t>
                      </a:r>
                      <a:endParaRPr lang="zh-CN" altLang="en-US" sz="1800" dirty="0"/>
                    </a:p>
                  </a:txBody>
                  <a:tcPr marL="91429" marR="91429" marT="45733" marB="45733"/>
                </a:tc>
                <a:tc>
                  <a:txBody>
                    <a:bodyPr/>
                    <a:lstStyle/>
                    <a:p>
                      <a:pPr algn="ctr"/>
                      <a:endParaRPr lang="zh-CN" altLang="en-US" sz="1800"/>
                    </a:p>
                  </a:txBody>
                  <a:tcPr marL="91429" marR="91429" marT="45733" marB="45733"/>
                </a:tc>
                <a:tc>
                  <a:txBody>
                    <a:bodyPr/>
                    <a:lstStyle/>
                    <a:p>
                      <a:pPr algn="ctr"/>
                      <a:endParaRPr lang="zh-CN" altLang="en-US" sz="180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solidFill>
                            <a:srgbClr val="FF0000"/>
                          </a:solidFill>
                        </a:rPr>
                        <a:t>2</a:t>
                      </a:r>
                      <a:endParaRPr lang="zh-CN" altLang="en-US" sz="1800" dirty="0">
                        <a:solidFill>
                          <a:srgbClr val="FF0000"/>
                        </a:solidFill>
                      </a:endParaRPr>
                    </a:p>
                  </a:txBody>
                  <a:tcPr marL="91429" marR="91429" marT="45733" marB="45733"/>
                </a:tc>
                <a:tc vMerge="1">
                  <a:txBody>
                    <a:bodyPr/>
                    <a:lstStyle/>
                    <a:p>
                      <a:endParaRPr lang="zh-CN" altLang="en-US" dirty="0"/>
                    </a:p>
                  </a:txBody>
                  <a:tcPr/>
                </a:tc>
                <a:extLst>
                  <a:ext uri="{0D108BD9-81ED-4DB2-BD59-A6C34878D82A}">
                    <a16:rowId xmlns:a16="http://schemas.microsoft.com/office/drawing/2014/main" val="2699972285"/>
                  </a:ext>
                </a:extLst>
              </a:tr>
              <a:tr h="370946">
                <a:tc vMerge="1">
                  <a:txBody>
                    <a:bodyPr/>
                    <a:lstStyle/>
                    <a:p>
                      <a:endParaRPr lang="zh-CN" altLang="en-US" dirty="0"/>
                    </a:p>
                  </a:txBody>
                  <a:tcPr/>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r>
                        <a:rPr lang="zh-CN" altLang="en-US" sz="1100" b="1" dirty="0"/>
                        <a:t>命中</a:t>
                      </a:r>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mn-lt"/>
                          <a:ea typeface="+mn-ea"/>
                          <a:cs typeface="+mn-cs"/>
                        </a:rPr>
                        <a:t>命中</a:t>
                      </a:r>
                      <a:endParaRPr lang="zh-CN" altLang="en-US" sz="1800" dirty="0"/>
                    </a:p>
                  </a:txBody>
                  <a:tcPr marL="91429" marR="91429" marT="45733" marB="45733"/>
                </a:tc>
                <a:tc vMerge="1">
                  <a:txBody>
                    <a:bodyPr/>
                    <a:lstStyle/>
                    <a:p>
                      <a:endParaRPr lang="zh-CN" altLang="en-US" dirty="0"/>
                    </a:p>
                  </a:txBody>
                  <a:tcPr/>
                </a:tc>
                <a:extLst>
                  <a:ext uri="{0D108BD9-81ED-4DB2-BD59-A6C34878D82A}">
                    <a16:rowId xmlns:a16="http://schemas.microsoft.com/office/drawing/2014/main" val="4363853"/>
                  </a:ext>
                </a:extLst>
              </a:tr>
              <a:tr h="370946">
                <a:tc rowSpan="4">
                  <a:txBody>
                    <a:bodyPr/>
                    <a:lstStyle/>
                    <a:p>
                      <a:endParaRPr lang="zh-CN" altLang="en-US" sz="1800" dirty="0"/>
                    </a:p>
                  </a:txBody>
                  <a:tcPr marL="91429" marR="91429" marT="45733" marB="45733"/>
                </a:tc>
                <a:tc>
                  <a:txBody>
                    <a:bodyPr/>
                    <a:lstStyle/>
                    <a:p>
                      <a:pPr algn="ctr"/>
                      <a:r>
                        <a:rPr lang="en-US" altLang="zh-CN" sz="1800" dirty="0"/>
                        <a:t>a</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u="sng" dirty="0">
                          <a:solidFill>
                            <a:srgbClr val="FF0000"/>
                          </a:solidFill>
                        </a:rPr>
                        <a:t>2</a:t>
                      </a:r>
                      <a:endParaRPr lang="zh-CN" altLang="en-US" sz="1800" u="sng" dirty="0">
                        <a:solidFill>
                          <a:srgbClr val="FF0000"/>
                        </a:solidFill>
                      </a:endParaRPr>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u="sng" dirty="0">
                          <a:solidFill>
                            <a:srgbClr val="FF0000"/>
                          </a:solidFill>
                        </a:rPr>
                        <a:t>2</a:t>
                      </a:r>
                      <a:endParaRPr lang="zh-CN" altLang="en-US" sz="1800" u="sng" dirty="0">
                        <a:solidFill>
                          <a:srgbClr val="FF0000"/>
                        </a:solidFill>
                      </a:endParaRPr>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u="sng" dirty="0">
                          <a:solidFill>
                            <a:srgbClr val="FF0000"/>
                          </a:solidFill>
                        </a:rPr>
                        <a:t>2</a:t>
                      </a:r>
                      <a:endParaRPr lang="zh-CN" altLang="en-US" sz="1800" u="sng" dirty="0">
                        <a:solidFill>
                          <a:srgbClr val="FF0000"/>
                        </a:solidFill>
                      </a:endParaRPr>
                    </a:p>
                  </a:txBody>
                  <a:tcPr marL="91429" marR="91429" marT="45733" marB="45733"/>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000000"/>
                          </a:solidFill>
                          <a:effectLst/>
                          <a:uLnTx/>
                          <a:uFillTx/>
                          <a:latin typeface="+mn-lt"/>
                          <a:ea typeface="+mn-ea"/>
                          <a:cs typeface="+mn-cs"/>
                        </a:rPr>
                        <a:t>3/11=27.3%</a:t>
                      </a:r>
                      <a:endParaRPr kumimoji="0" lang="zh-CN" altLang="en-US" sz="1600" b="0" i="0" u="none" strike="noStrike" kern="1200" cap="none" spc="0" normalizeH="0" baseline="0" noProof="0" dirty="0">
                        <a:ln>
                          <a:noFill/>
                        </a:ln>
                        <a:solidFill>
                          <a:srgbClr val="000000"/>
                        </a:solidFill>
                        <a:effectLst/>
                        <a:uLnTx/>
                        <a:uFillTx/>
                        <a:latin typeface="+mn-lt"/>
                        <a:ea typeface="+mn-ea"/>
                        <a:cs typeface="+mn-cs"/>
                      </a:endParaRPr>
                    </a:p>
                    <a:p>
                      <a:endParaRPr lang="zh-CN" altLang="en-US" sz="1800" dirty="0"/>
                    </a:p>
                  </a:txBody>
                  <a:tcPr marL="91429" marR="91429" marT="45733" marB="45733" anchor="ctr"/>
                </a:tc>
                <a:extLst>
                  <a:ext uri="{0D108BD9-81ED-4DB2-BD59-A6C34878D82A}">
                    <a16:rowId xmlns:a16="http://schemas.microsoft.com/office/drawing/2014/main" val="34516715"/>
                  </a:ext>
                </a:extLst>
              </a:tr>
              <a:tr h="370946">
                <a:tc vMerge="1">
                  <a:txBody>
                    <a:bodyPr/>
                    <a:lstStyle/>
                    <a:p>
                      <a:endParaRPr lang="zh-CN" altLang="en-US" dirty="0"/>
                    </a:p>
                  </a:txBody>
                  <a:tcPr/>
                </a:tc>
                <a:tc>
                  <a:txBody>
                    <a:bodyPr/>
                    <a:lstStyle/>
                    <a:p>
                      <a:pPr algn="ctr"/>
                      <a:r>
                        <a:rPr lang="en-US" altLang="zh-CN" sz="1800" dirty="0"/>
                        <a:t>b</a:t>
                      </a:r>
                      <a:endParaRPr lang="zh-CN" altLang="en-US" sz="1800" dirty="0"/>
                    </a:p>
                  </a:txBody>
                  <a:tcPr marL="91429" marR="91429" marT="45733" marB="45733"/>
                </a:tc>
                <a:tc>
                  <a:txBody>
                    <a:bodyPr/>
                    <a:lstStyle/>
                    <a:p>
                      <a:pPr algn="ctr"/>
                      <a:endParaRPr lang="zh-CN" altLang="en-US" sz="180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u="sng" dirty="0"/>
                        <a:t>2</a:t>
                      </a:r>
                      <a:endParaRPr lang="zh-CN" altLang="en-US" sz="1800" u="sng" dirty="0"/>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2</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3</a:t>
                      </a:r>
                      <a:endParaRPr lang="zh-CN" altLang="en-US" sz="1800" dirty="0"/>
                    </a:p>
                  </a:txBody>
                  <a:tcPr marL="91429" marR="91429" marT="45733" marB="45733"/>
                </a:tc>
                <a:tc vMerge="1">
                  <a:txBody>
                    <a:bodyPr/>
                    <a:lstStyle/>
                    <a:p>
                      <a:endParaRPr lang="zh-CN" altLang="en-US" dirty="0"/>
                    </a:p>
                  </a:txBody>
                  <a:tcPr/>
                </a:tc>
                <a:extLst>
                  <a:ext uri="{0D108BD9-81ED-4DB2-BD59-A6C34878D82A}">
                    <a16:rowId xmlns:a16="http://schemas.microsoft.com/office/drawing/2014/main" val="2501000802"/>
                  </a:ext>
                </a:extLst>
              </a:tr>
              <a:tr h="370946">
                <a:tc vMerge="1">
                  <a:txBody>
                    <a:bodyPr/>
                    <a:lstStyle/>
                    <a:p>
                      <a:endParaRPr lang="zh-CN" altLang="en-US" dirty="0"/>
                    </a:p>
                  </a:txBody>
                  <a:tcPr/>
                </a:tc>
                <a:tc>
                  <a:txBody>
                    <a:bodyPr/>
                    <a:lstStyle/>
                    <a:p>
                      <a:pPr algn="ctr"/>
                      <a:r>
                        <a:rPr lang="en-US" altLang="zh-CN" sz="1800" dirty="0"/>
                        <a:t>c</a:t>
                      </a:r>
                      <a:endParaRPr lang="zh-CN" altLang="en-US" sz="1800" dirty="0"/>
                    </a:p>
                  </a:txBody>
                  <a:tcPr marL="91429" marR="91429" marT="45733" marB="45733"/>
                </a:tc>
                <a:tc>
                  <a:txBody>
                    <a:bodyPr/>
                    <a:lstStyle/>
                    <a:p>
                      <a:pPr algn="ctr"/>
                      <a:endParaRPr lang="zh-CN" altLang="en-US" sz="1800"/>
                    </a:p>
                  </a:txBody>
                  <a:tcPr marL="91429" marR="91429" marT="45733" marB="45733"/>
                </a:tc>
                <a:tc>
                  <a:txBody>
                    <a:bodyPr/>
                    <a:lstStyle/>
                    <a:p>
                      <a:pPr algn="ctr"/>
                      <a:endParaRPr lang="zh-CN" altLang="en-US" sz="180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1</a:t>
                      </a:r>
                      <a:endParaRPr lang="zh-CN" altLang="en-US" sz="1800" dirty="0"/>
                    </a:p>
                  </a:txBody>
                  <a:tcPr marL="91429" marR="91429" marT="45733" marB="45733"/>
                </a:tc>
                <a:tc>
                  <a:txBody>
                    <a:bodyPr/>
                    <a:lstStyle/>
                    <a:p>
                      <a:pPr algn="ctr"/>
                      <a:r>
                        <a:rPr lang="en-US" altLang="zh-CN" sz="1800" dirty="0"/>
                        <a:t>4</a:t>
                      </a:r>
                      <a:endParaRPr lang="zh-CN" altLang="en-US" sz="1800" dirty="0"/>
                    </a:p>
                  </a:txBody>
                  <a:tcPr marL="91429" marR="91429" marT="45733" marB="45733"/>
                </a:tc>
                <a:tc>
                  <a:txBody>
                    <a:bodyPr/>
                    <a:lstStyle/>
                    <a:p>
                      <a:pPr algn="ctr"/>
                      <a:r>
                        <a:rPr lang="en-US" altLang="zh-CN" sz="1800" u="sng" dirty="0"/>
                        <a:t>2</a:t>
                      </a:r>
                      <a:endParaRPr lang="zh-CN" altLang="en-US" sz="1800" u="sng" dirty="0"/>
                    </a:p>
                  </a:txBody>
                  <a:tcPr marL="91429" marR="91429" marT="45733" marB="45733"/>
                </a:tc>
                <a:tc>
                  <a:txBody>
                    <a:bodyPr/>
                    <a:lstStyle/>
                    <a:p>
                      <a:pPr algn="ctr"/>
                      <a:r>
                        <a:rPr lang="en-US" altLang="zh-CN" sz="1800" dirty="0"/>
                        <a:t>3</a:t>
                      </a:r>
                      <a:endParaRPr lang="zh-CN" altLang="en-US" sz="1800" dirty="0"/>
                    </a:p>
                  </a:txBody>
                  <a:tcPr marL="91429" marR="91429" marT="45733" marB="45733"/>
                </a:tc>
                <a:tc>
                  <a:txBody>
                    <a:bodyPr/>
                    <a:lstStyle/>
                    <a:p>
                      <a:pPr algn="ctr"/>
                      <a:r>
                        <a:rPr lang="en-US" altLang="zh-CN" sz="1800" dirty="0"/>
                        <a:t>0</a:t>
                      </a:r>
                      <a:endParaRPr lang="zh-CN" altLang="en-US" sz="1800" dirty="0"/>
                    </a:p>
                  </a:txBody>
                  <a:tcPr marL="91429" marR="91429" marT="45733" marB="45733"/>
                </a:tc>
                <a:tc>
                  <a:txBody>
                    <a:bodyPr/>
                    <a:lstStyle/>
                    <a:p>
                      <a:pPr algn="ctr"/>
                      <a:r>
                        <a:rPr lang="en-US" altLang="zh-CN" sz="1800" u="sng" dirty="0"/>
                        <a:t>2</a:t>
                      </a:r>
                      <a:endParaRPr lang="zh-CN" altLang="en-US" sz="1800" u="sng" dirty="0"/>
                    </a:p>
                  </a:txBody>
                  <a:tcPr marL="91429" marR="91429" marT="45733" marB="45733"/>
                </a:tc>
                <a:tc>
                  <a:txBody>
                    <a:bodyPr/>
                    <a:lstStyle/>
                    <a:p>
                      <a:pPr algn="ctr"/>
                      <a:r>
                        <a:rPr lang="en-US" altLang="zh-CN" sz="1800" dirty="0"/>
                        <a:t>1</a:t>
                      </a:r>
                      <a:endParaRPr lang="zh-CN" altLang="en-US" sz="1800" dirty="0"/>
                    </a:p>
                  </a:txBody>
                  <a:tcPr marL="91429" marR="91429" marT="45733" marB="45733"/>
                </a:tc>
                <a:tc vMerge="1">
                  <a:txBody>
                    <a:bodyPr/>
                    <a:lstStyle/>
                    <a:p>
                      <a:endParaRPr lang="zh-CN" altLang="en-US" dirty="0"/>
                    </a:p>
                  </a:txBody>
                  <a:tcPr/>
                </a:tc>
                <a:extLst>
                  <a:ext uri="{0D108BD9-81ED-4DB2-BD59-A6C34878D82A}">
                    <a16:rowId xmlns:a16="http://schemas.microsoft.com/office/drawing/2014/main" val="3892620194"/>
                  </a:ext>
                </a:extLst>
              </a:tr>
              <a:tr h="370946">
                <a:tc vMerge="1">
                  <a:txBody>
                    <a:bodyPr/>
                    <a:lstStyle/>
                    <a:p>
                      <a:endParaRPr lang="zh-CN" altLang="en-US" dirty="0"/>
                    </a:p>
                  </a:txBody>
                  <a:tcPr/>
                </a:tc>
                <a:tc>
                  <a:txBody>
                    <a:bodyPr/>
                    <a:lstStyle/>
                    <a:p>
                      <a:pPr algn="ctr"/>
                      <a:endParaRPr lang="zh-CN" altLang="en-US" sz="1800" dirty="0"/>
                    </a:p>
                  </a:txBody>
                  <a:tcPr marL="91429" marR="91429" marT="45733" marB="45733"/>
                </a:tc>
                <a:tc>
                  <a:txBody>
                    <a:bodyPr/>
                    <a:lstStyle/>
                    <a:p>
                      <a:pPr algn="ctr"/>
                      <a:endParaRPr lang="zh-CN" altLang="en-US" sz="1800"/>
                    </a:p>
                  </a:txBody>
                  <a:tcPr marL="91429" marR="91429" marT="45733" marB="45733"/>
                </a:tc>
                <a:tc>
                  <a:txBody>
                    <a:bodyPr/>
                    <a:lstStyle/>
                    <a:p>
                      <a:pPr algn="ctr"/>
                      <a:endParaRPr lang="zh-CN" altLang="en-US" sz="1800"/>
                    </a:p>
                  </a:txBody>
                  <a:tcPr marL="91429" marR="91429" marT="45733" marB="45733"/>
                </a:tc>
                <a:tc>
                  <a:txBody>
                    <a:bodyPr/>
                    <a:lstStyle/>
                    <a:p>
                      <a:pPr algn="ctr"/>
                      <a:endParaRPr lang="zh-CN" altLang="en-US" sz="1800"/>
                    </a:p>
                  </a:txBody>
                  <a:tcPr marL="91429" marR="91429" marT="45733" marB="45733"/>
                </a:tc>
                <a:tc>
                  <a:txBody>
                    <a:bodyPr/>
                    <a:lstStyle/>
                    <a:p>
                      <a:pPr algn="ctr"/>
                      <a:endParaRPr lang="zh-CN" altLang="en-US" sz="1800"/>
                    </a:p>
                  </a:txBody>
                  <a:tcPr marL="91429" marR="91429"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mn-lt"/>
                          <a:ea typeface="+mn-ea"/>
                          <a:cs typeface="+mn-cs"/>
                        </a:rPr>
                        <a:t>命中</a:t>
                      </a:r>
                      <a:endParaRPr lang="zh-CN" altLang="en-US" sz="1800" dirty="0"/>
                    </a:p>
                  </a:txBody>
                  <a:tcPr marL="91429" marR="91429" marT="45733" marB="45733"/>
                </a:tc>
                <a:tc>
                  <a:txBody>
                    <a:bodyPr/>
                    <a:lstStyle/>
                    <a:p>
                      <a:pPr algn="ctr"/>
                      <a:endParaRPr lang="zh-CN" altLang="en-US" sz="1800"/>
                    </a:p>
                  </a:txBody>
                  <a:tcPr marL="91429" marR="91429" marT="45733" marB="45733"/>
                </a:tc>
                <a:tc>
                  <a:txBody>
                    <a:bodyPr/>
                    <a:lstStyle/>
                    <a:p>
                      <a:pPr algn="ctr"/>
                      <a:endParaRPr lang="zh-CN" altLang="en-US" sz="1800"/>
                    </a:p>
                  </a:txBody>
                  <a:tcPr marL="91429" marR="91429"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mn-lt"/>
                          <a:ea typeface="+mn-ea"/>
                          <a:cs typeface="+mn-cs"/>
                        </a:rPr>
                        <a:t>命中</a:t>
                      </a: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algn="ctr"/>
                      <a:endParaRPr lang="zh-CN" altLang="en-US" sz="1800" dirty="0"/>
                    </a:p>
                  </a:txBody>
                  <a:tcPr marL="91429" marR="91429" marT="45733" marB="4573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latin typeface="+mn-lt"/>
                          <a:ea typeface="+mn-ea"/>
                          <a:cs typeface="+mn-cs"/>
                        </a:rPr>
                        <a:t>命中</a:t>
                      </a:r>
                      <a:endParaRPr lang="zh-CN" altLang="en-US" sz="1800" dirty="0"/>
                    </a:p>
                  </a:txBody>
                  <a:tcPr marL="91429" marR="91429" marT="45733" marB="45733"/>
                </a:tc>
                <a:tc vMerge="1">
                  <a:txBody>
                    <a:bodyPr/>
                    <a:lstStyle/>
                    <a:p>
                      <a:endParaRPr lang="zh-CN" altLang="en-US" dirty="0"/>
                    </a:p>
                  </a:txBody>
                  <a:tcPr/>
                </a:tc>
                <a:extLst>
                  <a:ext uri="{0D108BD9-81ED-4DB2-BD59-A6C34878D82A}">
                    <a16:rowId xmlns:a16="http://schemas.microsoft.com/office/drawing/2014/main" val="10368060"/>
                  </a:ext>
                </a:extLst>
              </a:tr>
            </a:tbl>
          </a:graphicData>
        </a:graphic>
      </p:graphicFrame>
      <p:cxnSp>
        <p:nvCxnSpPr>
          <p:cNvPr id="129169" name="直接连接符 2">
            <a:extLst>
              <a:ext uri="{FF2B5EF4-FFF2-40B4-BE49-F238E27FC236}">
                <a16:creationId xmlns:a16="http://schemas.microsoft.com/office/drawing/2014/main" id="{39323BC0-61B1-46C6-805C-91DA41616094}"/>
              </a:ext>
            </a:extLst>
          </p:cNvPr>
          <p:cNvCxnSpPr>
            <a:cxnSpLocks noChangeShapeType="1"/>
          </p:cNvCxnSpPr>
          <p:nvPr/>
        </p:nvCxnSpPr>
        <p:spPr bwMode="auto">
          <a:xfrm>
            <a:off x="7451725" y="1804988"/>
            <a:ext cx="936625" cy="255587"/>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2">
            <a:extLst>
              <a:ext uri="{FF2B5EF4-FFF2-40B4-BE49-F238E27FC236}">
                <a16:creationId xmlns:a16="http://schemas.microsoft.com/office/drawing/2014/main" id="{3E7AB04C-B2B3-4C9F-80DF-38147C0C9697}"/>
              </a:ext>
            </a:extLst>
          </p:cNvPr>
          <p:cNvSpPr>
            <a:spLocks noGrp="1" noChangeArrowheads="1"/>
          </p:cNvSpPr>
          <p:nvPr>
            <p:ph type="title"/>
          </p:nvPr>
        </p:nvSpPr>
        <p:spPr/>
        <p:txBody>
          <a:bodyPr/>
          <a:lstStyle/>
          <a:p>
            <a:pPr eaLnBrk="1" hangingPunct="1">
              <a:defRPr/>
            </a:pPr>
            <a:r>
              <a:rPr lang="zh-CN" altLang="en-US"/>
              <a:t>虚存与</a:t>
            </a:r>
            <a:r>
              <a:rPr lang="en-US" altLang="zh-CN"/>
              <a:t>Cache</a:t>
            </a:r>
            <a:r>
              <a:rPr lang="zh-CN" altLang="en-US"/>
              <a:t>的比较</a:t>
            </a:r>
          </a:p>
        </p:txBody>
      </p:sp>
      <p:sp>
        <p:nvSpPr>
          <p:cNvPr id="131075" name="Rectangle 3">
            <a:extLst>
              <a:ext uri="{FF2B5EF4-FFF2-40B4-BE49-F238E27FC236}">
                <a16:creationId xmlns:a16="http://schemas.microsoft.com/office/drawing/2014/main" id="{68499FDD-CE7D-454B-8F15-4FA6A8E05D92}"/>
              </a:ext>
            </a:extLst>
          </p:cNvPr>
          <p:cNvSpPr>
            <a:spLocks noGrp="1" noChangeArrowheads="1"/>
          </p:cNvSpPr>
          <p:nvPr>
            <p:ph idx="1"/>
          </p:nvPr>
        </p:nvSpPr>
        <p:spPr/>
        <p:txBody>
          <a:bodyPr/>
          <a:lstStyle/>
          <a:p>
            <a:pPr eaLnBrk="1" hangingPunct="1"/>
            <a:r>
              <a:rPr lang="zh-CN" altLang="en-US"/>
              <a:t>虚存</a:t>
            </a:r>
          </a:p>
          <a:p>
            <a:pPr lvl="1" eaLnBrk="1" hangingPunct="1"/>
            <a:r>
              <a:rPr lang="zh-CN" altLang="en-US"/>
              <a:t>“主存</a:t>
            </a:r>
            <a:r>
              <a:rPr lang="en-US" altLang="zh-CN">
                <a:latin typeface="宋体" panose="02010600030101010101" pitchFamily="2" charset="-122"/>
                <a:ea typeface="宋体" panose="02010600030101010101" pitchFamily="2" charset="-122"/>
              </a:rPr>
              <a:t>-</a:t>
            </a:r>
            <a:r>
              <a:rPr lang="zh-CN" altLang="en-US"/>
              <a:t>辅存层次”，主要目的是解决</a:t>
            </a:r>
            <a:r>
              <a:rPr lang="zh-CN" altLang="en-US">
                <a:solidFill>
                  <a:srgbClr val="FF0000"/>
                </a:solidFill>
              </a:rPr>
              <a:t>存储容量问题</a:t>
            </a:r>
          </a:p>
          <a:p>
            <a:pPr lvl="1" eaLnBrk="1" hangingPunct="1"/>
            <a:r>
              <a:rPr lang="zh-CN" altLang="en-US"/>
              <a:t>单位时间内数据交换次数较少，但每次交换的数据量大，达几十至几千字节。</a:t>
            </a:r>
          </a:p>
          <a:p>
            <a:pPr eaLnBrk="1" hangingPunct="1"/>
            <a:r>
              <a:rPr lang="en-US" altLang="zh-CN"/>
              <a:t>Cache</a:t>
            </a:r>
          </a:p>
          <a:p>
            <a:pPr lvl="1" eaLnBrk="1" hangingPunct="1"/>
            <a:r>
              <a:rPr lang="en-US" altLang="zh-CN"/>
              <a:t>Cache</a:t>
            </a:r>
            <a:r>
              <a:rPr lang="zh-CN" altLang="zh-CN"/>
              <a:t>主要目的是解决</a:t>
            </a:r>
            <a:r>
              <a:rPr lang="zh-CN" altLang="zh-CN">
                <a:solidFill>
                  <a:srgbClr val="FF0000"/>
                </a:solidFill>
              </a:rPr>
              <a:t>存储速度问题</a:t>
            </a:r>
            <a:r>
              <a:rPr lang="zh-CN" altLang="zh-CN"/>
              <a:t>，使存储器的访问速度不太影响</a:t>
            </a:r>
            <a:r>
              <a:rPr lang="en-US" altLang="zh-CN"/>
              <a:t>CPU</a:t>
            </a:r>
            <a:r>
              <a:rPr lang="zh-CN" altLang="en-US"/>
              <a:t>的运行速度。</a:t>
            </a:r>
          </a:p>
          <a:p>
            <a:pPr lvl="1" eaLnBrk="1" hangingPunct="1"/>
            <a:r>
              <a:rPr lang="zh-CN" altLang="en-US"/>
              <a:t>单位时间内数据交换的次数较多，每次交换的数据量较小，只有几个到几十个字节。</a:t>
            </a:r>
          </a:p>
        </p:txBody>
      </p:sp>
    </p:spTree>
  </p:cSld>
  <p:clrMapOvr>
    <a:masterClrMapping/>
  </p:clrMapOvr>
  <p:transition spd="med">
    <p:pull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1026">
            <a:extLst>
              <a:ext uri="{FF2B5EF4-FFF2-40B4-BE49-F238E27FC236}">
                <a16:creationId xmlns:a16="http://schemas.microsoft.com/office/drawing/2014/main" id="{8ED90F00-6670-4467-9C15-1947E7A6E9D8}"/>
              </a:ext>
            </a:extLst>
          </p:cNvPr>
          <p:cNvSpPr>
            <a:spLocks noGrp="1" noChangeArrowheads="1"/>
          </p:cNvSpPr>
          <p:nvPr>
            <p:ph type="title"/>
          </p:nvPr>
        </p:nvSpPr>
        <p:spPr/>
        <p:txBody>
          <a:bodyPr/>
          <a:lstStyle/>
          <a:p>
            <a:pPr eaLnBrk="1" hangingPunct="1">
              <a:defRPr/>
            </a:pPr>
            <a:r>
              <a:rPr lang="en-US" altLang="zh-CN" sz="3600">
                <a:ea typeface="Arial Unicode MS" pitchFamily="34" charset="-128"/>
              </a:rPr>
              <a:t>cache-</a:t>
            </a:r>
            <a:r>
              <a:rPr lang="zh-CN" altLang="en-US" sz="3600"/>
              <a:t>主存和主存</a:t>
            </a:r>
            <a:r>
              <a:rPr lang="en-US" altLang="zh-CN" sz="3600">
                <a:ea typeface="Arial Unicode MS" pitchFamily="34" charset="-128"/>
              </a:rPr>
              <a:t>-</a:t>
            </a:r>
            <a:r>
              <a:rPr lang="zh-CN" altLang="en-US" sz="3600"/>
              <a:t>辅存两个层次的相同点</a:t>
            </a:r>
          </a:p>
        </p:txBody>
      </p:sp>
      <p:sp>
        <p:nvSpPr>
          <p:cNvPr id="133123" name="Rectangle 1027">
            <a:extLst>
              <a:ext uri="{FF2B5EF4-FFF2-40B4-BE49-F238E27FC236}">
                <a16:creationId xmlns:a16="http://schemas.microsoft.com/office/drawing/2014/main" id="{32ED7538-FC6B-4EFE-9D3B-12F30DFBE671}"/>
              </a:ext>
            </a:extLst>
          </p:cNvPr>
          <p:cNvSpPr>
            <a:spLocks noGrp="1" noChangeArrowheads="1"/>
          </p:cNvSpPr>
          <p:nvPr>
            <p:ph idx="1"/>
          </p:nvPr>
        </p:nvSpPr>
        <p:spPr/>
        <p:txBody>
          <a:bodyPr/>
          <a:lstStyle/>
          <a:p>
            <a:pPr eaLnBrk="1" hangingPunct="1"/>
            <a:r>
              <a:rPr lang="zh-CN" altLang="en-US"/>
              <a:t>出发点相同：</a:t>
            </a:r>
          </a:p>
          <a:p>
            <a:pPr lvl="1" eaLnBrk="1" hangingPunct="1"/>
            <a:r>
              <a:rPr lang="zh-CN" altLang="en-US"/>
              <a:t>为了提高存储系统的性能</a:t>
            </a:r>
            <a:r>
              <a:rPr lang="en-US" altLang="zh-CN"/>
              <a:t>-</a:t>
            </a:r>
            <a:r>
              <a:rPr lang="zh-CN" altLang="en-US"/>
              <a:t>价格比而构造的层次型存储体系</a:t>
            </a:r>
          </a:p>
          <a:p>
            <a:pPr lvl="1" eaLnBrk="1" hangingPunct="1"/>
            <a:r>
              <a:rPr lang="zh-CN" altLang="en-US"/>
              <a:t>力图使存储系统的性能接近高速存储器，而价格和容量接近低速存储器。</a:t>
            </a:r>
          </a:p>
          <a:p>
            <a:pPr eaLnBrk="1" hangingPunct="1"/>
            <a:r>
              <a:rPr lang="zh-CN" altLang="en-US"/>
              <a:t>原理相同：</a:t>
            </a:r>
          </a:p>
          <a:p>
            <a:pPr lvl="1" eaLnBrk="1" hangingPunct="1"/>
            <a:r>
              <a:rPr lang="zh-CN" altLang="en-US"/>
              <a:t>利用了程序运行时的局部性原理，把最近常用的信息块从相对低速而大容量的存储器调入相对高速而小容量的存储器。</a:t>
            </a:r>
          </a:p>
        </p:txBody>
      </p:sp>
    </p:spTree>
  </p:cSld>
  <p:clrMapOvr>
    <a:masterClrMapping/>
  </p:clrMapOvr>
  <p:transition spd="med">
    <p:pull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1026">
            <a:extLst>
              <a:ext uri="{FF2B5EF4-FFF2-40B4-BE49-F238E27FC236}">
                <a16:creationId xmlns:a16="http://schemas.microsoft.com/office/drawing/2014/main" id="{A8574FA8-BACB-4B9F-B9A8-7335DE8C5CCC}"/>
              </a:ext>
            </a:extLst>
          </p:cNvPr>
          <p:cNvSpPr>
            <a:spLocks noGrp="1" noChangeArrowheads="1"/>
          </p:cNvSpPr>
          <p:nvPr>
            <p:ph type="title"/>
          </p:nvPr>
        </p:nvSpPr>
        <p:spPr/>
        <p:txBody>
          <a:bodyPr/>
          <a:lstStyle/>
          <a:p>
            <a:pPr eaLnBrk="1" hangingPunct="1">
              <a:defRPr/>
            </a:pPr>
            <a:r>
              <a:rPr lang="en-US" altLang="zh-CN" sz="3600">
                <a:ea typeface="Arial Unicode MS" pitchFamily="34" charset="-128"/>
              </a:rPr>
              <a:t>cache-</a:t>
            </a:r>
            <a:r>
              <a:rPr lang="zh-CN" altLang="en-US" sz="3600"/>
              <a:t>主存和主存</a:t>
            </a:r>
            <a:r>
              <a:rPr lang="en-US" altLang="zh-CN" sz="3600">
                <a:ea typeface="Arial Unicode MS" pitchFamily="34" charset="-128"/>
              </a:rPr>
              <a:t>-</a:t>
            </a:r>
            <a:r>
              <a:rPr lang="zh-CN" altLang="en-US" sz="3600"/>
              <a:t>辅存两个层次的不同点</a:t>
            </a:r>
          </a:p>
        </p:txBody>
      </p:sp>
      <p:sp>
        <p:nvSpPr>
          <p:cNvPr id="660483" name="Rectangle 1027">
            <a:extLst>
              <a:ext uri="{FF2B5EF4-FFF2-40B4-BE49-F238E27FC236}">
                <a16:creationId xmlns:a16="http://schemas.microsoft.com/office/drawing/2014/main" id="{C6A41CEE-A0F4-459C-B92A-F290225A2488}"/>
              </a:ext>
            </a:extLst>
          </p:cNvPr>
          <p:cNvSpPr>
            <a:spLocks noGrp="1" noChangeArrowheads="1"/>
          </p:cNvSpPr>
          <p:nvPr>
            <p:ph idx="1"/>
          </p:nvPr>
        </p:nvSpPr>
        <p:spPr/>
        <p:txBody>
          <a:bodyPr/>
          <a:lstStyle/>
          <a:p>
            <a:pPr eaLnBrk="1" hangingPunct="1">
              <a:lnSpc>
                <a:spcPct val="80000"/>
              </a:lnSpc>
              <a:defRPr/>
            </a:pPr>
            <a:r>
              <a:rPr lang="zh-CN" altLang="en-US" sz="2800"/>
              <a:t>侧重点不同：</a:t>
            </a:r>
          </a:p>
          <a:p>
            <a:pPr lvl="1" eaLnBrk="1" hangingPunct="1">
              <a:lnSpc>
                <a:spcPct val="80000"/>
              </a:lnSpc>
              <a:defRPr/>
            </a:pPr>
            <a:r>
              <a:rPr lang="en-US" altLang="zh-CN" sz="2400">
                <a:ea typeface="Arial Unicode MS" pitchFamily="34" charset="-128"/>
              </a:rPr>
              <a:t>cache</a:t>
            </a:r>
            <a:r>
              <a:rPr lang="zh-CN" altLang="en-US" sz="2400"/>
              <a:t>主要解决主存与</a:t>
            </a:r>
            <a:r>
              <a:rPr lang="en-US" altLang="zh-CN" sz="2400">
                <a:ea typeface="Arial Unicode MS" pitchFamily="34" charset="-128"/>
              </a:rPr>
              <a:t>CPU</a:t>
            </a:r>
            <a:r>
              <a:rPr lang="zh-CN" altLang="en-US" sz="2400"/>
              <a:t>的</a:t>
            </a:r>
            <a:r>
              <a:rPr lang="zh-CN" altLang="en-US" sz="2400">
                <a:effectLst>
                  <a:outerShdw blurRad="38100" dist="38100" dir="2700000" algn="tl">
                    <a:srgbClr val="C0C0C0"/>
                  </a:outerShdw>
                </a:effectLst>
              </a:rPr>
              <a:t>速度</a:t>
            </a:r>
            <a:r>
              <a:rPr lang="zh-CN" altLang="en-US" sz="2400"/>
              <a:t>差异问题</a:t>
            </a:r>
          </a:p>
          <a:p>
            <a:pPr lvl="1" eaLnBrk="1" hangingPunct="1">
              <a:lnSpc>
                <a:spcPct val="80000"/>
              </a:lnSpc>
              <a:defRPr/>
            </a:pPr>
            <a:r>
              <a:rPr lang="zh-CN" altLang="en-US" sz="2400"/>
              <a:t>虚存主要解决存储容量的问题</a:t>
            </a:r>
          </a:p>
          <a:p>
            <a:pPr eaLnBrk="1" hangingPunct="1">
              <a:lnSpc>
                <a:spcPct val="80000"/>
              </a:lnSpc>
              <a:defRPr/>
            </a:pPr>
            <a:r>
              <a:rPr lang="zh-CN" altLang="en-US" sz="2800"/>
              <a:t>数据通路不同：</a:t>
            </a:r>
          </a:p>
          <a:p>
            <a:pPr lvl="1" eaLnBrk="1" hangingPunct="1">
              <a:lnSpc>
                <a:spcPct val="80000"/>
              </a:lnSpc>
              <a:defRPr/>
            </a:pPr>
            <a:r>
              <a:rPr lang="en-US" altLang="zh-CN" sz="2400">
                <a:ea typeface="Arial Unicode MS" pitchFamily="34" charset="-128"/>
              </a:rPr>
              <a:t>CPU</a:t>
            </a:r>
            <a:r>
              <a:rPr lang="zh-CN" altLang="en-US" sz="2400"/>
              <a:t>与</a:t>
            </a:r>
            <a:r>
              <a:rPr lang="en-US" altLang="zh-CN" sz="2400">
                <a:ea typeface="Arial Unicode MS" pitchFamily="34" charset="-128"/>
              </a:rPr>
              <a:t>cache</a:t>
            </a:r>
            <a:r>
              <a:rPr lang="zh-CN" altLang="en-US" sz="2400"/>
              <a:t>和主存之间均有直接访问通路，</a:t>
            </a:r>
            <a:r>
              <a:rPr lang="en-US" altLang="zh-CN" sz="2400">
                <a:ea typeface="Arial Unicode MS" pitchFamily="34" charset="-128"/>
              </a:rPr>
              <a:t>cache</a:t>
            </a:r>
            <a:r>
              <a:rPr lang="zh-CN" altLang="en-US" sz="2400"/>
              <a:t>不命中时可直接访问主存</a:t>
            </a:r>
          </a:p>
          <a:p>
            <a:pPr lvl="1" eaLnBrk="1" hangingPunct="1">
              <a:lnSpc>
                <a:spcPct val="80000"/>
              </a:lnSpc>
              <a:defRPr/>
            </a:pPr>
            <a:r>
              <a:rPr lang="zh-CN" altLang="en-US" sz="2400"/>
              <a:t>辅存与</a:t>
            </a:r>
            <a:r>
              <a:rPr lang="en-US" altLang="zh-CN" sz="2400">
                <a:ea typeface="Arial Unicode MS" pitchFamily="34" charset="-128"/>
              </a:rPr>
              <a:t>CPU</a:t>
            </a:r>
            <a:r>
              <a:rPr lang="zh-CN" altLang="en-US" sz="2400"/>
              <a:t>之间不存在直接的数据通路，主存不命中时只能通过调页解决</a:t>
            </a:r>
          </a:p>
          <a:p>
            <a:pPr eaLnBrk="1" hangingPunct="1">
              <a:lnSpc>
                <a:spcPct val="80000"/>
              </a:lnSpc>
              <a:defRPr/>
            </a:pPr>
            <a:r>
              <a:rPr lang="zh-CN" altLang="en-US" sz="2800"/>
              <a:t>透明性不同：</a:t>
            </a:r>
          </a:p>
          <a:p>
            <a:pPr lvl="1" eaLnBrk="1" hangingPunct="1">
              <a:lnSpc>
                <a:spcPct val="80000"/>
              </a:lnSpc>
              <a:defRPr/>
            </a:pPr>
            <a:r>
              <a:rPr lang="en-US" altLang="zh-CN" sz="2400">
                <a:ea typeface="Arial Unicode MS" pitchFamily="34" charset="-128"/>
              </a:rPr>
              <a:t>cache</a:t>
            </a:r>
            <a:r>
              <a:rPr lang="zh-CN" altLang="en-US" sz="2400"/>
              <a:t>的管理完全由</a:t>
            </a:r>
            <a:r>
              <a:rPr lang="zh-CN" altLang="en-US" sz="2400">
                <a:solidFill>
                  <a:srgbClr val="CC3300"/>
                </a:solidFill>
                <a:effectLst>
                  <a:outerShdw blurRad="38100" dist="38100" dir="2700000" algn="tl">
                    <a:srgbClr val="C0C0C0"/>
                  </a:outerShdw>
                </a:effectLst>
              </a:rPr>
              <a:t>硬件</a:t>
            </a:r>
            <a:r>
              <a:rPr lang="zh-CN" altLang="en-US" sz="2400"/>
              <a:t>完成，对系统程序和应用程序均透明</a:t>
            </a:r>
          </a:p>
          <a:p>
            <a:pPr lvl="1" eaLnBrk="1" hangingPunct="1">
              <a:lnSpc>
                <a:spcPct val="80000"/>
              </a:lnSpc>
              <a:defRPr/>
            </a:pPr>
            <a:r>
              <a:rPr lang="zh-CN" altLang="en-US" sz="2400"/>
              <a:t>虚存管理由</a:t>
            </a:r>
            <a:r>
              <a:rPr lang="zh-CN" altLang="en-US" sz="2400">
                <a:solidFill>
                  <a:srgbClr val="CC3300"/>
                </a:solidFill>
                <a:effectLst>
                  <a:outerShdw blurRad="38100" dist="38100" dir="2700000" algn="tl">
                    <a:srgbClr val="C0C0C0"/>
                  </a:outerShdw>
                </a:effectLst>
              </a:rPr>
              <a:t>软件</a:t>
            </a:r>
            <a:r>
              <a:rPr lang="zh-CN" altLang="en-US" sz="2400"/>
              <a:t>（操作系统）和</a:t>
            </a:r>
            <a:r>
              <a:rPr lang="zh-CN" altLang="en-US" sz="2400" b="0">
                <a:effectLst>
                  <a:outerShdw blurRad="38100" dist="38100" dir="2700000" algn="tl">
                    <a:srgbClr val="C0C0C0"/>
                  </a:outerShdw>
                </a:effectLst>
              </a:rPr>
              <a:t>硬件</a:t>
            </a:r>
            <a:r>
              <a:rPr lang="zh-CN" altLang="en-US" sz="2400"/>
              <a:t>共同完成。虚存对系统程序不透明，而只对应用程序透明</a:t>
            </a:r>
          </a:p>
          <a:p>
            <a:pPr eaLnBrk="1" hangingPunct="1">
              <a:lnSpc>
                <a:spcPct val="80000"/>
              </a:lnSpc>
              <a:defRPr/>
            </a:pPr>
            <a:r>
              <a:rPr lang="zh-CN" altLang="en-US" sz="2800"/>
              <a:t>未命中时的损失不同：</a:t>
            </a:r>
          </a:p>
          <a:p>
            <a:pPr lvl="1" eaLnBrk="1" hangingPunct="1">
              <a:lnSpc>
                <a:spcPct val="80000"/>
              </a:lnSpc>
              <a:defRPr/>
            </a:pPr>
            <a:r>
              <a:rPr lang="zh-CN" altLang="en-US" sz="2400"/>
              <a:t>主存未命中时系统性能损失要远大于</a:t>
            </a:r>
            <a:r>
              <a:rPr lang="en-US" altLang="zh-CN" sz="2400"/>
              <a:t>cache</a:t>
            </a:r>
            <a:r>
              <a:rPr lang="zh-CN" altLang="en-US" sz="2400"/>
              <a:t>未命中时的损失</a:t>
            </a:r>
          </a:p>
        </p:txBody>
      </p:sp>
    </p:spTree>
  </p:cSld>
  <p:clrMapOvr>
    <a:masterClrMapping/>
  </p:clrMapOvr>
  <p:transition spd="med">
    <p:pull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1026">
            <a:extLst>
              <a:ext uri="{FF2B5EF4-FFF2-40B4-BE49-F238E27FC236}">
                <a16:creationId xmlns:a16="http://schemas.microsoft.com/office/drawing/2014/main" id="{E823CBAC-C673-4A45-AECA-25CB316210A8}"/>
              </a:ext>
            </a:extLst>
          </p:cNvPr>
          <p:cNvSpPr>
            <a:spLocks noGrp="1" noChangeArrowheads="1"/>
          </p:cNvSpPr>
          <p:nvPr>
            <p:ph type="title"/>
          </p:nvPr>
        </p:nvSpPr>
        <p:spPr/>
        <p:txBody>
          <a:bodyPr/>
          <a:lstStyle/>
          <a:p>
            <a:pPr eaLnBrk="1" hangingPunct="1">
              <a:defRPr/>
            </a:pPr>
            <a:r>
              <a:rPr lang="zh-CN" altLang="en-US">
                <a:latin typeface="Arial" panose="020B0604020202020204" pitchFamily="34" charset="0"/>
              </a:rPr>
              <a:t>小结：虚存的访问过程</a:t>
            </a:r>
          </a:p>
        </p:txBody>
      </p:sp>
      <p:sp>
        <p:nvSpPr>
          <p:cNvPr id="652291" name="Rectangle 1027">
            <a:extLst>
              <a:ext uri="{FF2B5EF4-FFF2-40B4-BE49-F238E27FC236}">
                <a16:creationId xmlns:a16="http://schemas.microsoft.com/office/drawing/2014/main" id="{DFBFC205-13F2-4C69-B3C7-FB917A029403}"/>
              </a:ext>
            </a:extLst>
          </p:cNvPr>
          <p:cNvSpPr>
            <a:spLocks noGrp="1" noChangeArrowheads="1"/>
          </p:cNvSpPr>
          <p:nvPr>
            <p:ph idx="1"/>
          </p:nvPr>
        </p:nvSpPr>
        <p:spPr>
          <a:xfrm>
            <a:off x="183963" y="1176431"/>
            <a:ext cx="8556625" cy="5400675"/>
          </a:xfrm>
        </p:spPr>
        <p:txBody>
          <a:bodyPr/>
          <a:lstStyle/>
          <a:p>
            <a:pPr marL="360363" indent="-360363" algn="just" eaLnBrk="1" hangingPunct="1">
              <a:lnSpc>
                <a:spcPct val="80000"/>
              </a:lnSpc>
              <a:defRPr/>
            </a:pPr>
            <a:r>
              <a:rPr lang="zh-CN" altLang="en-US" sz="2800" dirty="0"/>
              <a:t>虚存空间的用户程序按照虚地址编程并存放在辅存中</a:t>
            </a:r>
          </a:p>
          <a:p>
            <a:pPr marL="360363" indent="-360363" algn="just" eaLnBrk="1" hangingPunct="1">
              <a:lnSpc>
                <a:spcPct val="80000"/>
              </a:lnSpc>
              <a:defRPr/>
            </a:pPr>
            <a:r>
              <a:rPr lang="zh-CN" altLang="en-US" sz="2800" dirty="0"/>
              <a:t>程序运行时，由地址变换机构依据当时分配给该程序的实地址空间把程序的一部分调入实存</a:t>
            </a:r>
          </a:p>
          <a:p>
            <a:pPr marL="360363" indent="-360363" algn="just" eaLnBrk="1" hangingPunct="1">
              <a:lnSpc>
                <a:spcPct val="80000"/>
              </a:lnSpc>
              <a:defRPr/>
            </a:pPr>
            <a:r>
              <a:rPr lang="zh-CN" altLang="en-US" sz="2800" dirty="0"/>
              <a:t>每次访存时，首先判断该虚地址所对应的部分是否在实存中：</a:t>
            </a:r>
          </a:p>
          <a:p>
            <a:pPr marL="900113" lvl="1" indent="-360363" algn="just" eaLnBrk="1" hangingPunct="1">
              <a:lnSpc>
                <a:spcPct val="80000"/>
              </a:lnSpc>
              <a:defRPr/>
            </a:pPr>
            <a:r>
              <a:rPr lang="zh-CN" altLang="en-US" dirty="0"/>
              <a:t>是，则进行地址转换并用实地址访问主存</a:t>
            </a:r>
          </a:p>
          <a:p>
            <a:pPr marL="900113" lvl="1" indent="-360363" algn="just" eaLnBrk="1" hangingPunct="1">
              <a:lnSpc>
                <a:spcPct val="80000"/>
              </a:lnSpc>
              <a:defRPr/>
            </a:pPr>
            <a:r>
              <a:rPr lang="zh-CN" altLang="en-US" dirty="0"/>
              <a:t>否，则按照某种算法将辅存中的部分程序调度进内存，再按同样的方法访问</a:t>
            </a:r>
            <a:r>
              <a:rPr lang="zh-CN" altLang="en-US" dirty="0">
                <a:effectLst>
                  <a:outerShdw blurRad="38100" dist="38100" dir="2700000" algn="tl">
                    <a:srgbClr val="C0C0C0"/>
                  </a:outerShdw>
                </a:effectLst>
              </a:rPr>
              <a:t>主存</a:t>
            </a:r>
            <a:endParaRPr lang="zh-CN" altLang="en-US" dirty="0"/>
          </a:p>
          <a:p>
            <a:pPr marL="360363" indent="-360363" algn="just" eaLnBrk="1" hangingPunct="1">
              <a:lnSpc>
                <a:spcPct val="80000"/>
              </a:lnSpc>
              <a:defRPr/>
            </a:pPr>
            <a:r>
              <a:rPr lang="zh-CN" altLang="en-US" sz="2800" dirty="0"/>
              <a:t>每个程序的虚地址空间可以远大于实地址空间</a:t>
            </a:r>
          </a:p>
          <a:p>
            <a:pPr marL="360363" indent="-360363" algn="just" eaLnBrk="1" hangingPunct="1">
              <a:lnSpc>
                <a:spcPct val="80000"/>
              </a:lnSpc>
              <a:defRPr/>
            </a:pPr>
            <a:r>
              <a:rPr lang="zh-CN" altLang="en-US" sz="2800" dirty="0"/>
              <a:t>应用程序可以透明地使用整个虚存空间</a:t>
            </a:r>
          </a:p>
          <a:p>
            <a:pPr marL="900113" lvl="1" indent="-360363" algn="just" eaLnBrk="1" hangingPunct="1">
              <a:lnSpc>
                <a:spcPct val="80000"/>
              </a:lnSpc>
              <a:defRPr/>
            </a:pPr>
            <a:r>
              <a:rPr lang="zh-CN" altLang="en-US" dirty="0"/>
              <a:t>如果主存的命中率很高，虚存的访问时间就接近于主存访问时间</a:t>
            </a:r>
          </a:p>
        </p:txBody>
      </p:sp>
    </p:spTree>
  </p:cSld>
  <p:clrMapOvr>
    <a:masterClrMapping/>
  </p:clrMapOvr>
  <p:transition spd="med">
    <p:pull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a:extLst>
              <a:ext uri="{FF2B5EF4-FFF2-40B4-BE49-F238E27FC236}">
                <a16:creationId xmlns:a16="http://schemas.microsoft.com/office/drawing/2014/main" id="{7E02D07A-165D-4D1E-9F1D-811D68001578}"/>
              </a:ext>
            </a:extLst>
          </p:cNvPr>
          <p:cNvSpPr>
            <a:spLocks noGrp="1" noChangeArrowheads="1"/>
          </p:cNvSpPr>
          <p:nvPr>
            <p:ph type="title"/>
          </p:nvPr>
        </p:nvSpPr>
        <p:spPr/>
        <p:txBody>
          <a:bodyPr/>
          <a:lstStyle/>
          <a:p>
            <a:pPr eaLnBrk="1" hangingPunct="1">
              <a:defRPr/>
            </a:pPr>
            <a:r>
              <a:rPr lang="zh-CN" altLang="en-US"/>
              <a:t>实例：</a:t>
            </a:r>
            <a:r>
              <a:rPr lang="en-US" altLang="zh-CN"/>
              <a:t>Core i7</a:t>
            </a:r>
            <a:r>
              <a:rPr lang="zh-CN" altLang="en-US"/>
              <a:t>存储器系统</a:t>
            </a:r>
          </a:p>
        </p:txBody>
      </p:sp>
      <p:sp>
        <p:nvSpPr>
          <p:cNvPr id="5" name="Rectangle 406">
            <a:extLst>
              <a:ext uri="{FF2B5EF4-FFF2-40B4-BE49-F238E27FC236}">
                <a16:creationId xmlns:a16="http://schemas.microsoft.com/office/drawing/2014/main" id="{D6059B98-14A0-432E-8BC9-915B1E436CFF}"/>
              </a:ext>
            </a:extLst>
          </p:cNvPr>
          <p:cNvSpPr>
            <a:spLocks noChangeArrowheads="1"/>
          </p:cNvSpPr>
          <p:nvPr/>
        </p:nvSpPr>
        <p:spPr bwMode="auto">
          <a:xfrm>
            <a:off x="485775" y="2276475"/>
            <a:ext cx="1481138" cy="471488"/>
          </a:xfrm>
          <a:prstGeom prst="rect">
            <a:avLst/>
          </a:prstGeom>
          <a:solidFill>
            <a:srgbClr val="F7F5CD"/>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dirty="0">
                <a:solidFill>
                  <a:sysClr val="windowText" lastClr="000000"/>
                </a:solidFill>
                <a:latin typeface="Calibri"/>
                <a:ea typeface="+mn-ea"/>
              </a:rPr>
              <a:t>L1 </a:t>
            </a:r>
            <a:r>
              <a:rPr kumimoji="0" lang="en-US" sz="1600" b="1" kern="0" dirty="0" err="1">
                <a:solidFill>
                  <a:sysClr val="windowText" lastClr="000000"/>
                </a:solidFill>
                <a:latin typeface="Calibri"/>
                <a:ea typeface="+mn-ea"/>
              </a:rPr>
              <a:t>d</a:t>
            </a:r>
            <a:r>
              <a:rPr kumimoji="0" lang="en-US" sz="1600" b="1" kern="0" dirty="0">
                <a:solidFill>
                  <a:sysClr val="windowText" lastClr="000000"/>
                </a:solidFill>
                <a:latin typeface="Calibri"/>
                <a:ea typeface="+mn-ea"/>
              </a:rPr>
              <a:t>-cache</a:t>
            </a: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32 KB, 8-way</a:t>
            </a:r>
          </a:p>
        </p:txBody>
      </p:sp>
      <p:sp>
        <p:nvSpPr>
          <p:cNvPr id="6" name="Rectangle 408">
            <a:extLst>
              <a:ext uri="{FF2B5EF4-FFF2-40B4-BE49-F238E27FC236}">
                <a16:creationId xmlns:a16="http://schemas.microsoft.com/office/drawing/2014/main" id="{E0409C5F-5AEB-48EA-A0A1-26B4AB9C04FD}"/>
              </a:ext>
            </a:extLst>
          </p:cNvPr>
          <p:cNvSpPr>
            <a:spLocks noChangeArrowheads="1"/>
          </p:cNvSpPr>
          <p:nvPr/>
        </p:nvSpPr>
        <p:spPr bwMode="auto">
          <a:xfrm>
            <a:off x="811213" y="3030538"/>
            <a:ext cx="2578100" cy="469900"/>
          </a:xfrm>
          <a:prstGeom prst="rect">
            <a:avLst/>
          </a:prstGeom>
          <a:solidFill>
            <a:srgbClr val="F7F5CD"/>
          </a:solidFill>
          <a:ln w="12700">
            <a:solidFill>
              <a:srgbClr val="000000"/>
            </a:solidFill>
            <a:miter lim="800000"/>
            <a:headEnd/>
            <a:tailEnd/>
          </a:ln>
          <a:effectLst>
            <a:outerShdw blurRad="50800" dist="38100" dir="2700000">
              <a:srgbClr val="000000">
                <a:alpha val="43000"/>
              </a:srgbClr>
            </a:outerShdw>
          </a:effectLst>
        </p:spPr>
        <p:txBody>
          <a:bodyPr anchor="ctr"/>
          <a:lstStyle/>
          <a:p>
            <a:pPr algn="ctr" eaLnBrk="1" fontAlgn="auto" hangingPunct="1">
              <a:spcBef>
                <a:spcPts val="0"/>
              </a:spcBef>
              <a:spcAft>
                <a:spcPts val="0"/>
              </a:spcAft>
              <a:defRPr/>
            </a:pPr>
            <a:r>
              <a:rPr kumimoji="0" lang="en-US" sz="1600" b="1" kern="0" dirty="0">
                <a:solidFill>
                  <a:sysClr val="windowText" lastClr="000000"/>
                </a:solidFill>
                <a:latin typeface="Calibri"/>
                <a:ea typeface="+mn-ea"/>
              </a:rPr>
              <a:t>L2 unified cache</a:t>
            </a: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256 KB, 8-way</a:t>
            </a:r>
          </a:p>
        </p:txBody>
      </p:sp>
      <p:sp>
        <p:nvSpPr>
          <p:cNvPr id="7" name="Line 409">
            <a:extLst>
              <a:ext uri="{FF2B5EF4-FFF2-40B4-BE49-F238E27FC236}">
                <a16:creationId xmlns:a16="http://schemas.microsoft.com/office/drawing/2014/main" id="{7D62DF07-A323-4EF6-964E-EC09B0189637}"/>
              </a:ext>
            </a:extLst>
          </p:cNvPr>
          <p:cNvSpPr>
            <a:spLocks noChangeShapeType="1"/>
          </p:cNvSpPr>
          <p:nvPr/>
        </p:nvSpPr>
        <p:spPr bwMode="auto">
          <a:xfrm>
            <a:off x="1230313" y="1979613"/>
            <a:ext cx="0" cy="2825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8" name="Line 410">
            <a:extLst>
              <a:ext uri="{FF2B5EF4-FFF2-40B4-BE49-F238E27FC236}">
                <a16:creationId xmlns:a16="http://schemas.microsoft.com/office/drawing/2014/main" id="{AEE27A86-1902-405A-833F-0DB68C2D5CD1}"/>
              </a:ext>
            </a:extLst>
          </p:cNvPr>
          <p:cNvSpPr>
            <a:spLocks noChangeShapeType="1"/>
          </p:cNvSpPr>
          <p:nvPr/>
        </p:nvSpPr>
        <p:spPr bwMode="auto">
          <a:xfrm>
            <a:off x="1217613" y="2747963"/>
            <a:ext cx="0" cy="2825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9" name="Line 411">
            <a:extLst>
              <a:ext uri="{FF2B5EF4-FFF2-40B4-BE49-F238E27FC236}">
                <a16:creationId xmlns:a16="http://schemas.microsoft.com/office/drawing/2014/main" id="{08B7008C-F4BB-47CE-81FF-A496E7479D9E}"/>
              </a:ext>
            </a:extLst>
          </p:cNvPr>
          <p:cNvSpPr>
            <a:spLocks noChangeShapeType="1"/>
          </p:cNvSpPr>
          <p:nvPr/>
        </p:nvSpPr>
        <p:spPr bwMode="auto">
          <a:xfrm>
            <a:off x="2911475" y="2747963"/>
            <a:ext cx="0" cy="2825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10" name="Rectangle 426">
            <a:extLst>
              <a:ext uri="{FF2B5EF4-FFF2-40B4-BE49-F238E27FC236}">
                <a16:creationId xmlns:a16="http://schemas.microsoft.com/office/drawing/2014/main" id="{F37E8FFB-E0B4-4067-969B-5FE0FEF7ED06}"/>
              </a:ext>
            </a:extLst>
          </p:cNvPr>
          <p:cNvSpPr>
            <a:spLocks noChangeArrowheads="1"/>
          </p:cNvSpPr>
          <p:nvPr/>
        </p:nvSpPr>
        <p:spPr bwMode="auto">
          <a:xfrm>
            <a:off x="981075" y="4735513"/>
            <a:ext cx="2166938" cy="755650"/>
          </a:xfrm>
          <a:prstGeom prst="rect">
            <a:avLst/>
          </a:prstGeom>
          <a:solidFill>
            <a:srgbClr val="F7F5CD"/>
          </a:solidFill>
          <a:ln w="12700">
            <a:solidFill>
              <a:srgbClr val="000000"/>
            </a:solidFill>
            <a:miter lim="800000"/>
            <a:headEnd/>
            <a:tailEnd/>
          </a:ln>
          <a:effectLst>
            <a:outerShdw blurRad="50800" dist="38100" dir="2700000">
              <a:srgbClr val="000000">
                <a:alpha val="43000"/>
              </a:srgbClr>
            </a:outerShdw>
          </a:effectLst>
        </p:spPr>
        <p:txBody>
          <a:bodyPr anchor="ctr"/>
          <a:lstStyle/>
          <a:p>
            <a:pPr algn="ctr" eaLnBrk="1" fontAlgn="auto" hangingPunct="1">
              <a:spcBef>
                <a:spcPts val="0"/>
              </a:spcBef>
              <a:spcAft>
                <a:spcPts val="0"/>
              </a:spcAft>
              <a:defRPr/>
            </a:pPr>
            <a:r>
              <a:rPr kumimoji="0" lang="en-US" sz="1600" b="1" kern="0">
                <a:solidFill>
                  <a:sysClr val="windowText" lastClr="000000"/>
                </a:solidFill>
                <a:latin typeface="Calibri"/>
                <a:ea typeface="+mn-ea"/>
              </a:rPr>
              <a:t>L3 unified cache</a:t>
            </a:r>
          </a:p>
          <a:p>
            <a:pPr algn="ctr" eaLnBrk="1" fontAlgn="auto" hangingPunct="1">
              <a:spcBef>
                <a:spcPts val="0"/>
              </a:spcBef>
              <a:spcAft>
                <a:spcPts val="0"/>
              </a:spcAft>
              <a:defRPr/>
            </a:pPr>
            <a:r>
              <a:rPr kumimoji="0" lang="en-US" sz="1600" b="1" kern="0">
                <a:solidFill>
                  <a:sysClr val="windowText" lastClr="000000"/>
                </a:solidFill>
                <a:latin typeface="Calibri"/>
                <a:ea typeface="+mn-ea"/>
              </a:rPr>
              <a:t>8 MB, 16-way </a:t>
            </a:r>
          </a:p>
          <a:p>
            <a:pPr algn="ctr" eaLnBrk="1" fontAlgn="auto" hangingPunct="1">
              <a:spcBef>
                <a:spcPts val="0"/>
              </a:spcBef>
              <a:spcAft>
                <a:spcPts val="0"/>
              </a:spcAft>
              <a:defRPr/>
            </a:pPr>
            <a:r>
              <a:rPr kumimoji="0" lang="en-US" sz="1600" b="1" kern="0">
                <a:solidFill>
                  <a:sysClr val="windowText" lastClr="000000"/>
                </a:solidFill>
                <a:latin typeface="Calibri"/>
                <a:ea typeface="+mn-ea"/>
              </a:rPr>
              <a:t>(shared by all cores)</a:t>
            </a:r>
          </a:p>
        </p:txBody>
      </p:sp>
      <p:sp>
        <p:nvSpPr>
          <p:cNvPr id="11" name="Rectangle 427">
            <a:extLst>
              <a:ext uri="{FF2B5EF4-FFF2-40B4-BE49-F238E27FC236}">
                <a16:creationId xmlns:a16="http://schemas.microsoft.com/office/drawing/2014/main" id="{D4E0C44D-A74A-4F0C-9EA6-9588D5FEBC29}"/>
              </a:ext>
            </a:extLst>
          </p:cNvPr>
          <p:cNvSpPr>
            <a:spLocks noChangeArrowheads="1"/>
          </p:cNvSpPr>
          <p:nvPr/>
        </p:nvSpPr>
        <p:spPr bwMode="auto">
          <a:xfrm>
            <a:off x="4506913" y="5903913"/>
            <a:ext cx="2781300" cy="555625"/>
          </a:xfrm>
          <a:prstGeom prst="rect">
            <a:avLst/>
          </a:prstGeom>
          <a:solidFill>
            <a:srgbClr val="E5E6F6"/>
          </a:solidFill>
          <a:ln w="12700">
            <a:solidFill>
              <a:srgbClr val="000000"/>
            </a:solidFill>
            <a:miter lim="800000"/>
            <a:headEnd/>
            <a:tailEnd/>
          </a:ln>
          <a:effectLst>
            <a:outerShdw blurRad="50800" dist="38100" dir="2700000">
              <a:srgbClr val="000000">
                <a:alpha val="43000"/>
              </a:srgbClr>
            </a:outerShdw>
          </a:effectLst>
        </p:spPr>
        <p:txBody>
          <a:bodyPr anchor="ctr"/>
          <a:lstStyle/>
          <a:p>
            <a:pPr algn="ctr" eaLnBrk="1" fontAlgn="auto" hangingPunct="1">
              <a:spcBef>
                <a:spcPts val="0"/>
              </a:spcBef>
              <a:spcAft>
                <a:spcPts val="0"/>
              </a:spcAft>
              <a:defRPr/>
            </a:pPr>
            <a:r>
              <a:rPr kumimoji="0" lang="en-US" sz="1600" b="1" kern="0">
                <a:solidFill>
                  <a:sysClr val="windowText" lastClr="000000"/>
                </a:solidFill>
                <a:latin typeface="Calibri"/>
                <a:ea typeface="+mn-ea"/>
              </a:rPr>
              <a:t>Main memory</a:t>
            </a:r>
          </a:p>
        </p:txBody>
      </p:sp>
      <p:sp>
        <p:nvSpPr>
          <p:cNvPr id="12" name="Line 432">
            <a:extLst>
              <a:ext uri="{FF2B5EF4-FFF2-40B4-BE49-F238E27FC236}">
                <a16:creationId xmlns:a16="http://schemas.microsoft.com/office/drawing/2014/main" id="{EDF8A4D7-7AC7-4690-A503-6539D2196379}"/>
              </a:ext>
            </a:extLst>
          </p:cNvPr>
          <p:cNvSpPr>
            <a:spLocks noChangeShapeType="1"/>
          </p:cNvSpPr>
          <p:nvPr/>
        </p:nvSpPr>
        <p:spPr bwMode="auto">
          <a:xfrm>
            <a:off x="2911475" y="1995488"/>
            <a:ext cx="0" cy="280987"/>
          </a:xfrm>
          <a:prstGeom prst="line">
            <a:avLst/>
          </a:prstGeom>
          <a:noFill/>
          <a:ln w="12700">
            <a:solidFill>
              <a:srgbClr val="000000"/>
            </a:solidFill>
            <a:round/>
            <a:headEnd type="triangle" w="med" len="med"/>
            <a:tailEn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13" name="Rectangle 434">
            <a:extLst>
              <a:ext uri="{FF2B5EF4-FFF2-40B4-BE49-F238E27FC236}">
                <a16:creationId xmlns:a16="http://schemas.microsoft.com/office/drawing/2014/main" id="{10C50C5B-4ABD-4BA9-9DB2-8452F4808DFB}"/>
              </a:ext>
            </a:extLst>
          </p:cNvPr>
          <p:cNvSpPr>
            <a:spLocks noChangeArrowheads="1"/>
          </p:cNvSpPr>
          <p:nvPr/>
        </p:nvSpPr>
        <p:spPr bwMode="auto">
          <a:xfrm>
            <a:off x="727075" y="1514475"/>
            <a:ext cx="1054100" cy="469900"/>
          </a:xfrm>
          <a:prstGeom prst="rect">
            <a:avLst/>
          </a:prstGeom>
          <a:solidFill>
            <a:srgbClr val="DBF2DA"/>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dirty="0">
                <a:solidFill>
                  <a:sysClr val="windowText" lastClr="000000"/>
                </a:solidFill>
                <a:latin typeface="Calibri"/>
                <a:ea typeface="+mn-ea"/>
              </a:rPr>
              <a:t>Registers</a:t>
            </a:r>
          </a:p>
        </p:txBody>
      </p:sp>
      <p:sp>
        <p:nvSpPr>
          <p:cNvPr id="14" name="Rectangle 435">
            <a:extLst>
              <a:ext uri="{FF2B5EF4-FFF2-40B4-BE49-F238E27FC236}">
                <a16:creationId xmlns:a16="http://schemas.microsoft.com/office/drawing/2014/main" id="{18D38787-6A30-40F8-B11A-49513AC0E955}"/>
              </a:ext>
            </a:extLst>
          </p:cNvPr>
          <p:cNvSpPr>
            <a:spLocks noChangeArrowheads="1"/>
          </p:cNvSpPr>
          <p:nvPr/>
        </p:nvSpPr>
        <p:spPr bwMode="auto">
          <a:xfrm>
            <a:off x="4037013" y="2276475"/>
            <a:ext cx="1824037" cy="471488"/>
          </a:xfrm>
          <a:prstGeom prst="rect">
            <a:avLst/>
          </a:prstGeom>
          <a:solidFill>
            <a:srgbClr val="F6D2D2"/>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dirty="0">
                <a:solidFill>
                  <a:sysClr val="windowText" lastClr="000000"/>
                </a:solidFill>
                <a:latin typeface="Calibri"/>
                <a:ea typeface="+mn-ea"/>
              </a:rPr>
              <a:t>L1 </a:t>
            </a:r>
            <a:r>
              <a:rPr kumimoji="0" lang="en-US" sz="1600" b="1" kern="0" dirty="0" err="1">
                <a:solidFill>
                  <a:sysClr val="windowText" lastClr="000000"/>
                </a:solidFill>
                <a:latin typeface="Calibri"/>
                <a:ea typeface="+mn-ea"/>
              </a:rPr>
              <a:t>d</a:t>
            </a:r>
            <a:r>
              <a:rPr kumimoji="0" lang="en-US" sz="1600" b="1" kern="0" dirty="0">
                <a:solidFill>
                  <a:sysClr val="windowText" lastClr="000000"/>
                </a:solidFill>
                <a:latin typeface="Calibri"/>
                <a:ea typeface="+mn-ea"/>
              </a:rPr>
              <a:t>-TLB</a:t>
            </a: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64 entries, 4-way</a:t>
            </a:r>
          </a:p>
        </p:txBody>
      </p:sp>
      <p:sp>
        <p:nvSpPr>
          <p:cNvPr id="15" name="Rectangle 436">
            <a:extLst>
              <a:ext uri="{FF2B5EF4-FFF2-40B4-BE49-F238E27FC236}">
                <a16:creationId xmlns:a16="http://schemas.microsoft.com/office/drawing/2014/main" id="{9423997C-8945-487F-A8D1-9AF6AE548FAD}"/>
              </a:ext>
            </a:extLst>
          </p:cNvPr>
          <p:cNvSpPr>
            <a:spLocks noChangeArrowheads="1"/>
          </p:cNvSpPr>
          <p:nvPr/>
        </p:nvSpPr>
        <p:spPr bwMode="auto">
          <a:xfrm>
            <a:off x="6018213" y="2276475"/>
            <a:ext cx="1824037" cy="471488"/>
          </a:xfrm>
          <a:prstGeom prst="rect">
            <a:avLst/>
          </a:prstGeom>
          <a:solidFill>
            <a:srgbClr val="F6D2D2"/>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dirty="0">
                <a:solidFill>
                  <a:sysClr val="windowText" lastClr="000000"/>
                </a:solidFill>
                <a:latin typeface="Calibri"/>
                <a:ea typeface="+mn-ea"/>
              </a:rPr>
              <a:t>L1 </a:t>
            </a:r>
            <a:r>
              <a:rPr kumimoji="0" lang="en-US" sz="1600" b="1" kern="0" dirty="0" err="1">
                <a:solidFill>
                  <a:sysClr val="windowText" lastClr="000000"/>
                </a:solidFill>
                <a:latin typeface="Calibri"/>
                <a:ea typeface="+mn-ea"/>
              </a:rPr>
              <a:t>i</a:t>
            </a:r>
            <a:r>
              <a:rPr kumimoji="0" lang="en-US" sz="1600" b="1" kern="0" dirty="0">
                <a:solidFill>
                  <a:sysClr val="windowText" lastClr="000000"/>
                </a:solidFill>
                <a:latin typeface="Calibri"/>
                <a:ea typeface="+mn-ea"/>
              </a:rPr>
              <a:t>-TLB</a:t>
            </a: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128 entries, 4-way</a:t>
            </a:r>
          </a:p>
        </p:txBody>
      </p:sp>
      <p:sp>
        <p:nvSpPr>
          <p:cNvPr id="16" name="Rectangle 438">
            <a:extLst>
              <a:ext uri="{FF2B5EF4-FFF2-40B4-BE49-F238E27FC236}">
                <a16:creationId xmlns:a16="http://schemas.microsoft.com/office/drawing/2014/main" id="{ED9D7303-1274-4211-B3A4-3D7288A523B3}"/>
              </a:ext>
            </a:extLst>
          </p:cNvPr>
          <p:cNvSpPr>
            <a:spLocks noChangeArrowheads="1"/>
          </p:cNvSpPr>
          <p:nvPr/>
        </p:nvSpPr>
        <p:spPr bwMode="auto">
          <a:xfrm>
            <a:off x="4367213" y="3040063"/>
            <a:ext cx="3157537" cy="471487"/>
          </a:xfrm>
          <a:prstGeom prst="rect">
            <a:avLst/>
          </a:prstGeom>
          <a:solidFill>
            <a:srgbClr val="F6D2D2"/>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a:solidFill>
                  <a:sysClr val="windowText" lastClr="000000"/>
                </a:solidFill>
                <a:latin typeface="Calibri"/>
                <a:ea typeface="+mn-ea"/>
              </a:rPr>
              <a:t>L2  unified TLB</a:t>
            </a:r>
          </a:p>
          <a:p>
            <a:pPr algn="ctr" eaLnBrk="1" fontAlgn="auto" hangingPunct="1">
              <a:spcBef>
                <a:spcPts val="0"/>
              </a:spcBef>
              <a:spcAft>
                <a:spcPts val="0"/>
              </a:spcAft>
              <a:defRPr/>
            </a:pPr>
            <a:r>
              <a:rPr kumimoji="0" lang="en-US" sz="1600" b="1" kern="0">
                <a:solidFill>
                  <a:sysClr val="windowText" lastClr="000000"/>
                </a:solidFill>
                <a:latin typeface="Calibri"/>
                <a:ea typeface="+mn-ea"/>
              </a:rPr>
              <a:t>512 entries, 4-way</a:t>
            </a:r>
          </a:p>
        </p:txBody>
      </p:sp>
      <p:sp>
        <p:nvSpPr>
          <p:cNvPr id="17" name="Line 439">
            <a:extLst>
              <a:ext uri="{FF2B5EF4-FFF2-40B4-BE49-F238E27FC236}">
                <a16:creationId xmlns:a16="http://schemas.microsoft.com/office/drawing/2014/main" id="{E5B6BD0D-4BD4-4E1F-BE41-37AB2CEC213C}"/>
              </a:ext>
            </a:extLst>
          </p:cNvPr>
          <p:cNvSpPr>
            <a:spLocks noChangeShapeType="1"/>
          </p:cNvSpPr>
          <p:nvPr/>
        </p:nvSpPr>
        <p:spPr bwMode="auto">
          <a:xfrm>
            <a:off x="4956175" y="2752725"/>
            <a:ext cx="0" cy="2825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18" name="Line 440">
            <a:extLst>
              <a:ext uri="{FF2B5EF4-FFF2-40B4-BE49-F238E27FC236}">
                <a16:creationId xmlns:a16="http://schemas.microsoft.com/office/drawing/2014/main" id="{B21B98BC-9EC6-4FED-A844-4B09F001A9A4}"/>
              </a:ext>
            </a:extLst>
          </p:cNvPr>
          <p:cNvSpPr>
            <a:spLocks noChangeShapeType="1"/>
          </p:cNvSpPr>
          <p:nvPr/>
        </p:nvSpPr>
        <p:spPr bwMode="auto">
          <a:xfrm>
            <a:off x="6937375" y="2757488"/>
            <a:ext cx="0" cy="2825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19" name="Rectangle 441">
            <a:extLst>
              <a:ext uri="{FF2B5EF4-FFF2-40B4-BE49-F238E27FC236}">
                <a16:creationId xmlns:a16="http://schemas.microsoft.com/office/drawing/2014/main" id="{F457AFF0-33B0-46B1-AEF3-5B17BA561C61}"/>
              </a:ext>
            </a:extLst>
          </p:cNvPr>
          <p:cNvSpPr>
            <a:spLocks noChangeArrowheads="1"/>
          </p:cNvSpPr>
          <p:nvPr/>
        </p:nvSpPr>
        <p:spPr bwMode="auto">
          <a:xfrm>
            <a:off x="2174875" y="2287588"/>
            <a:ext cx="1481138" cy="469900"/>
          </a:xfrm>
          <a:prstGeom prst="rect">
            <a:avLst/>
          </a:prstGeom>
          <a:solidFill>
            <a:srgbClr val="F7F5CD"/>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a:solidFill>
                  <a:sysClr val="windowText" lastClr="000000"/>
                </a:solidFill>
                <a:latin typeface="Calibri"/>
                <a:ea typeface="+mn-ea"/>
              </a:rPr>
              <a:t>L1 i-cache</a:t>
            </a:r>
          </a:p>
          <a:p>
            <a:pPr algn="ctr" eaLnBrk="1" fontAlgn="auto" hangingPunct="1">
              <a:spcBef>
                <a:spcPts val="0"/>
              </a:spcBef>
              <a:spcAft>
                <a:spcPts val="0"/>
              </a:spcAft>
              <a:defRPr/>
            </a:pPr>
            <a:r>
              <a:rPr kumimoji="0" lang="en-US" sz="1600" b="1" kern="0">
                <a:solidFill>
                  <a:sysClr val="windowText" lastClr="000000"/>
                </a:solidFill>
                <a:latin typeface="Calibri"/>
                <a:ea typeface="+mn-ea"/>
              </a:rPr>
              <a:t>32 KB, 8-way</a:t>
            </a:r>
          </a:p>
        </p:txBody>
      </p:sp>
      <p:sp>
        <p:nvSpPr>
          <p:cNvPr id="20" name="Line 442">
            <a:extLst>
              <a:ext uri="{FF2B5EF4-FFF2-40B4-BE49-F238E27FC236}">
                <a16:creationId xmlns:a16="http://schemas.microsoft.com/office/drawing/2014/main" id="{42451A7E-1BD7-49A0-8305-6850879CD9D2}"/>
              </a:ext>
            </a:extLst>
          </p:cNvPr>
          <p:cNvSpPr>
            <a:spLocks noChangeShapeType="1"/>
          </p:cNvSpPr>
          <p:nvPr/>
        </p:nvSpPr>
        <p:spPr bwMode="auto">
          <a:xfrm>
            <a:off x="4968875" y="1979613"/>
            <a:ext cx="0" cy="2825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21" name="Line 444">
            <a:extLst>
              <a:ext uri="{FF2B5EF4-FFF2-40B4-BE49-F238E27FC236}">
                <a16:creationId xmlns:a16="http://schemas.microsoft.com/office/drawing/2014/main" id="{2B92AA85-0F35-4FC5-8C10-F3B8E2B62CFF}"/>
              </a:ext>
            </a:extLst>
          </p:cNvPr>
          <p:cNvSpPr>
            <a:spLocks noChangeShapeType="1"/>
          </p:cNvSpPr>
          <p:nvPr/>
        </p:nvSpPr>
        <p:spPr bwMode="auto">
          <a:xfrm>
            <a:off x="6937375" y="1995488"/>
            <a:ext cx="0" cy="280987"/>
          </a:xfrm>
          <a:prstGeom prst="line">
            <a:avLst/>
          </a:prstGeom>
          <a:noFill/>
          <a:ln w="12700">
            <a:solidFill>
              <a:srgbClr val="000000"/>
            </a:solidFill>
            <a:round/>
            <a:headEnd type="triangle" w="med" len="med"/>
            <a:tailEn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22" name="Rectangle 445">
            <a:extLst>
              <a:ext uri="{FF2B5EF4-FFF2-40B4-BE49-F238E27FC236}">
                <a16:creationId xmlns:a16="http://schemas.microsoft.com/office/drawing/2014/main" id="{7D40B2C2-412D-4CDF-A349-CFA84922BBCF}"/>
              </a:ext>
            </a:extLst>
          </p:cNvPr>
          <p:cNvSpPr>
            <a:spLocks noChangeArrowheads="1"/>
          </p:cNvSpPr>
          <p:nvPr/>
        </p:nvSpPr>
        <p:spPr bwMode="auto">
          <a:xfrm>
            <a:off x="4786313" y="1524000"/>
            <a:ext cx="2336800" cy="471488"/>
          </a:xfrm>
          <a:prstGeom prst="rect">
            <a:avLst/>
          </a:prstGeom>
          <a:solidFill>
            <a:srgbClr val="E0E0E0"/>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dirty="0">
                <a:solidFill>
                  <a:sysClr val="windowText" lastClr="000000"/>
                </a:solidFill>
                <a:latin typeface="Calibri"/>
                <a:ea typeface="+mn-ea"/>
              </a:rPr>
              <a:t>MMU </a:t>
            </a: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a:t>
            </a:r>
            <a:r>
              <a:rPr kumimoji="0" lang="en-US" sz="1600" b="1" kern="0" dirty="0" err="1">
                <a:solidFill>
                  <a:sysClr val="windowText" lastClr="000000"/>
                </a:solidFill>
                <a:latin typeface="Calibri"/>
                <a:ea typeface="+mn-ea"/>
              </a:rPr>
              <a:t>addr</a:t>
            </a:r>
            <a:r>
              <a:rPr kumimoji="0" lang="en-US" sz="1600" b="1" kern="0" dirty="0">
                <a:solidFill>
                  <a:sysClr val="windowText" lastClr="000000"/>
                </a:solidFill>
                <a:latin typeface="Calibri"/>
                <a:ea typeface="+mn-ea"/>
              </a:rPr>
              <a:t> translation)</a:t>
            </a:r>
          </a:p>
        </p:txBody>
      </p:sp>
      <p:sp>
        <p:nvSpPr>
          <p:cNvPr id="23" name="Rectangle 450">
            <a:extLst>
              <a:ext uri="{FF2B5EF4-FFF2-40B4-BE49-F238E27FC236}">
                <a16:creationId xmlns:a16="http://schemas.microsoft.com/office/drawing/2014/main" id="{EAFD9E80-15E5-4A17-BFA7-13CE17429C6B}"/>
              </a:ext>
            </a:extLst>
          </p:cNvPr>
          <p:cNvSpPr>
            <a:spLocks noChangeArrowheads="1"/>
          </p:cNvSpPr>
          <p:nvPr/>
        </p:nvSpPr>
        <p:spPr bwMode="auto">
          <a:xfrm>
            <a:off x="2378075" y="1514475"/>
            <a:ext cx="1054100" cy="469900"/>
          </a:xfrm>
          <a:prstGeom prst="rect">
            <a:avLst/>
          </a:prstGeom>
          <a:solidFill>
            <a:srgbClr val="E0E0E0"/>
          </a:solidFill>
          <a:ln w="12700">
            <a:solidFill>
              <a:srgbClr val="000000"/>
            </a:solidFill>
            <a:miter lim="800000"/>
            <a:headEnd/>
            <a:tailEnd/>
          </a:ln>
          <a:effectLst>
            <a:outerShdw blurRad="50800" dist="38100" dir="2700000">
              <a:srgbClr val="000000">
                <a:alpha val="43000"/>
              </a:srgbClr>
            </a:outerShdw>
          </a:effectLst>
        </p:spPr>
        <p:txBody>
          <a:bodyPr wrap="none" anchor="ctr"/>
          <a:lstStyle/>
          <a:p>
            <a:pPr algn="ctr" eaLnBrk="1" fontAlgn="auto" hangingPunct="1">
              <a:spcBef>
                <a:spcPts val="0"/>
              </a:spcBef>
              <a:spcAft>
                <a:spcPts val="0"/>
              </a:spcAft>
              <a:defRPr/>
            </a:pPr>
            <a:r>
              <a:rPr kumimoji="0" lang="en-US" sz="1600" b="1" kern="0">
                <a:solidFill>
                  <a:sysClr val="windowText" lastClr="000000"/>
                </a:solidFill>
                <a:latin typeface="Calibri"/>
                <a:ea typeface="+mn-ea"/>
              </a:rPr>
              <a:t>Instruction</a:t>
            </a:r>
          </a:p>
          <a:p>
            <a:pPr algn="ctr" eaLnBrk="1" fontAlgn="auto" hangingPunct="1">
              <a:spcBef>
                <a:spcPts val="0"/>
              </a:spcBef>
              <a:spcAft>
                <a:spcPts val="0"/>
              </a:spcAft>
              <a:defRPr/>
            </a:pPr>
            <a:r>
              <a:rPr kumimoji="0" lang="en-US" sz="1600" b="1" kern="0">
                <a:solidFill>
                  <a:sysClr val="windowText" lastClr="000000"/>
                </a:solidFill>
                <a:latin typeface="Calibri"/>
                <a:ea typeface="+mn-ea"/>
              </a:rPr>
              <a:t>fetch</a:t>
            </a:r>
          </a:p>
        </p:txBody>
      </p:sp>
      <p:sp>
        <p:nvSpPr>
          <p:cNvPr id="24" name="Rectangle 452">
            <a:extLst>
              <a:ext uri="{FF2B5EF4-FFF2-40B4-BE49-F238E27FC236}">
                <a16:creationId xmlns:a16="http://schemas.microsoft.com/office/drawing/2014/main" id="{2A4AECAF-9039-480E-B552-2D1759EC1C30}"/>
              </a:ext>
            </a:extLst>
          </p:cNvPr>
          <p:cNvSpPr>
            <a:spLocks noChangeArrowheads="1"/>
          </p:cNvSpPr>
          <p:nvPr/>
        </p:nvSpPr>
        <p:spPr bwMode="auto">
          <a:xfrm>
            <a:off x="341313" y="1439863"/>
            <a:ext cx="7607300" cy="3117850"/>
          </a:xfrm>
          <a:prstGeom prst="rect">
            <a:avLst/>
          </a:prstGeom>
          <a:noFill/>
          <a:ln w="12700">
            <a:solidFill>
              <a:srgbClr val="000000"/>
            </a:solidFill>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25" name="Text Box 458">
            <a:extLst>
              <a:ext uri="{FF2B5EF4-FFF2-40B4-BE49-F238E27FC236}">
                <a16:creationId xmlns:a16="http://schemas.microsoft.com/office/drawing/2014/main" id="{50AF06D5-DEB2-4A93-BFC7-5A3EF6AEE2F6}"/>
              </a:ext>
            </a:extLst>
          </p:cNvPr>
          <p:cNvSpPr txBox="1">
            <a:spLocks noChangeArrowheads="1"/>
          </p:cNvSpPr>
          <p:nvPr/>
        </p:nvSpPr>
        <p:spPr bwMode="auto">
          <a:xfrm>
            <a:off x="223838" y="1125538"/>
            <a:ext cx="1196975" cy="338137"/>
          </a:xfrm>
          <a:prstGeom prst="rect">
            <a:avLst/>
          </a:prstGeom>
          <a:noFill/>
          <a:ln w="12700">
            <a:noFill/>
            <a:miter lim="800000"/>
            <a:headEnd/>
            <a:tailEnd/>
          </a:ln>
          <a:effectLst/>
        </p:spPr>
        <p:txBody>
          <a:bodyPr>
            <a:spAutoFit/>
          </a:bodyPr>
          <a:lstStyle/>
          <a:p>
            <a:pPr eaLnBrk="1" fontAlgn="auto" hangingPunct="1">
              <a:spcBef>
                <a:spcPts val="0"/>
              </a:spcBef>
              <a:spcAft>
                <a:spcPts val="0"/>
              </a:spcAft>
              <a:defRPr/>
            </a:pPr>
            <a:r>
              <a:rPr kumimoji="0" lang="en-US" sz="1600" b="1" kern="0" dirty="0">
                <a:solidFill>
                  <a:sysClr val="windowText" lastClr="000000"/>
                </a:solidFill>
                <a:latin typeface="Calibri"/>
                <a:ea typeface="+mn-ea"/>
              </a:rPr>
              <a:t>Core x4</a:t>
            </a:r>
          </a:p>
        </p:txBody>
      </p:sp>
      <p:sp>
        <p:nvSpPr>
          <p:cNvPr id="26" name="Rectangle 459">
            <a:extLst>
              <a:ext uri="{FF2B5EF4-FFF2-40B4-BE49-F238E27FC236}">
                <a16:creationId xmlns:a16="http://schemas.microsoft.com/office/drawing/2014/main" id="{9754A63E-8196-462A-9D05-2BC83DD15E4D}"/>
              </a:ext>
            </a:extLst>
          </p:cNvPr>
          <p:cNvSpPr>
            <a:spLocks noChangeArrowheads="1"/>
          </p:cNvSpPr>
          <p:nvPr/>
        </p:nvSpPr>
        <p:spPr bwMode="auto">
          <a:xfrm>
            <a:off x="4189413" y="4735513"/>
            <a:ext cx="3441700" cy="755650"/>
          </a:xfrm>
          <a:prstGeom prst="rect">
            <a:avLst/>
          </a:prstGeom>
          <a:solidFill>
            <a:srgbClr val="E0E0E0"/>
          </a:solidFill>
          <a:ln w="12700">
            <a:solidFill>
              <a:srgbClr val="000000"/>
            </a:solidFill>
            <a:miter lim="800000"/>
            <a:headEnd/>
            <a:tailEnd/>
          </a:ln>
          <a:effectLst>
            <a:outerShdw blurRad="50800" dist="38100" dir="2700000">
              <a:srgbClr val="000000">
                <a:alpha val="43000"/>
              </a:srgbClr>
            </a:outerShdw>
          </a:effectLst>
        </p:spPr>
        <p:txBody>
          <a:bodyPr anchor="ctr"/>
          <a:lstStyle/>
          <a:p>
            <a:pPr algn="ctr" eaLnBrk="1" fontAlgn="auto" hangingPunct="1">
              <a:spcBef>
                <a:spcPts val="0"/>
              </a:spcBef>
              <a:spcAft>
                <a:spcPts val="0"/>
              </a:spcAft>
              <a:defRPr/>
            </a:pPr>
            <a:r>
              <a:rPr kumimoji="0" lang="en-US" sz="1600" b="1" kern="0" dirty="0">
                <a:solidFill>
                  <a:sysClr val="windowText" lastClr="000000"/>
                </a:solidFill>
                <a:latin typeface="Calibri"/>
                <a:ea typeface="+mn-ea"/>
              </a:rPr>
              <a:t>DDR3 Memory controller</a:t>
            </a: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3 </a:t>
            </a:r>
            <a:r>
              <a:rPr kumimoji="0" lang="en-US" sz="1600" b="1" kern="0" dirty="0" err="1">
                <a:solidFill>
                  <a:sysClr val="windowText" lastClr="000000"/>
                </a:solidFill>
                <a:latin typeface="Calibri"/>
                <a:ea typeface="+mn-ea"/>
              </a:rPr>
              <a:t>x</a:t>
            </a:r>
            <a:r>
              <a:rPr kumimoji="0" lang="en-US" sz="1600" b="1" kern="0" dirty="0">
                <a:solidFill>
                  <a:sysClr val="windowText" lastClr="000000"/>
                </a:solidFill>
                <a:latin typeface="Calibri"/>
                <a:ea typeface="+mn-ea"/>
              </a:rPr>
              <a:t> 64 bit @ 10.66 GB/</a:t>
            </a:r>
            <a:r>
              <a:rPr kumimoji="0" lang="en-US" sz="1600" b="1" kern="0" dirty="0" err="1">
                <a:solidFill>
                  <a:sysClr val="windowText" lastClr="000000"/>
                </a:solidFill>
                <a:latin typeface="Calibri"/>
                <a:ea typeface="+mn-ea"/>
              </a:rPr>
              <a:t>s</a:t>
            </a:r>
            <a:endParaRPr kumimoji="0" lang="en-US" sz="1600" b="1" kern="0" dirty="0">
              <a:solidFill>
                <a:sysClr val="windowText" lastClr="000000"/>
              </a:solidFill>
              <a:latin typeface="Calibri"/>
              <a:ea typeface="+mn-ea"/>
            </a:endParaRP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32 GB/</a:t>
            </a:r>
            <a:r>
              <a:rPr kumimoji="0" lang="en-US" sz="1600" b="1" kern="0" dirty="0" err="1">
                <a:solidFill>
                  <a:sysClr val="windowText" lastClr="000000"/>
                </a:solidFill>
                <a:latin typeface="Calibri"/>
                <a:ea typeface="+mn-ea"/>
              </a:rPr>
              <a:t>s</a:t>
            </a:r>
            <a:r>
              <a:rPr kumimoji="0" lang="en-US" sz="1600" b="1" kern="0" dirty="0">
                <a:solidFill>
                  <a:sysClr val="windowText" lastClr="000000"/>
                </a:solidFill>
                <a:latin typeface="Calibri"/>
                <a:ea typeface="+mn-ea"/>
              </a:rPr>
              <a:t> total (shared by all cores)</a:t>
            </a:r>
          </a:p>
        </p:txBody>
      </p:sp>
      <p:sp>
        <p:nvSpPr>
          <p:cNvPr id="27" name="Rectangle 460">
            <a:extLst>
              <a:ext uri="{FF2B5EF4-FFF2-40B4-BE49-F238E27FC236}">
                <a16:creationId xmlns:a16="http://schemas.microsoft.com/office/drawing/2014/main" id="{23EDFDBE-3CEC-42DB-9073-16BEF8C3F935}"/>
              </a:ext>
            </a:extLst>
          </p:cNvPr>
          <p:cNvSpPr>
            <a:spLocks noChangeArrowheads="1"/>
          </p:cNvSpPr>
          <p:nvPr/>
        </p:nvSpPr>
        <p:spPr bwMode="auto">
          <a:xfrm>
            <a:off x="112713" y="1147763"/>
            <a:ext cx="8064500" cy="4549775"/>
          </a:xfrm>
          <a:prstGeom prst="rect">
            <a:avLst/>
          </a:prstGeom>
          <a:noFill/>
          <a:ln w="12700">
            <a:solidFill>
              <a:srgbClr val="000000"/>
            </a:solidFill>
            <a:prstDash val="dash"/>
            <a:miter lim="800000"/>
            <a:headEnd/>
            <a:tailEn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28" name="Rectangle 462">
            <a:extLst>
              <a:ext uri="{FF2B5EF4-FFF2-40B4-BE49-F238E27FC236}">
                <a16:creationId xmlns:a16="http://schemas.microsoft.com/office/drawing/2014/main" id="{2F11483F-5FED-4A75-BC10-130AE068AEB6}"/>
              </a:ext>
            </a:extLst>
          </p:cNvPr>
          <p:cNvSpPr>
            <a:spLocks noChangeArrowheads="1"/>
          </p:cNvSpPr>
          <p:nvPr/>
        </p:nvSpPr>
        <p:spPr bwMode="auto">
          <a:xfrm>
            <a:off x="5395913" y="3730625"/>
            <a:ext cx="2328862" cy="649288"/>
          </a:xfrm>
          <a:prstGeom prst="rect">
            <a:avLst/>
          </a:prstGeom>
          <a:solidFill>
            <a:srgbClr val="E0E0E0"/>
          </a:solidFill>
          <a:ln w="12700">
            <a:solidFill>
              <a:srgbClr val="000000"/>
            </a:solidFill>
            <a:miter lim="800000"/>
            <a:headEnd/>
            <a:tailEnd/>
          </a:ln>
          <a:effectLst>
            <a:outerShdw blurRad="50800" dist="38100" dir="2700000">
              <a:srgbClr val="000000">
                <a:alpha val="43000"/>
              </a:srgbClr>
            </a:outerShdw>
          </a:effectLst>
        </p:spPr>
        <p:txBody>
          <a:bodyPr anchor="ctr"/>
          <a:lstStyle/>
          <a:p>
            <a:pPr algn="ctr" eaLnBrk="1" fontAlgn="auto" hangingPunct="1">
              <a:spcBef>
                <a:spcPts val="0"/>
              </a:spcBef>
              <a:spcAft>
                <a:spcPts val="0"/>
              </a:spcAft>
              <a:defRPr/>
            </a:pPr>
            <a:r>
              <a:rPr kumimoji="0" lang="en-US" sz="1600" b="1" kern="0" dirty="0" err="1">
                <a:solidFill>
                  <a:sysClr val="windowText" lastClr="000000"/>
                </a:solidFill>
                <a:latin typeface="Calibri"/>
                <a:ea typeface="+mn-ea"/>
              </a:rPr>
              <a:t>QuickPath</a:t>
            </a:r>
            <a:r>
              <a:rPr kumimoji="0" lang="en-US" sz="1600" b="1" kern="0" dirty="0">
                <a:solidFill>
                  <a:sysClr val="windowText" lastClr="000000"/>
                </a:solidFill>
                <a:latin typeface="Calibri"/>
                <a:ea typeface="+mn-ea"/>
              </a:rPr>
              <a:t> interconnect</a:t>
            </a:r>
          </a:p>
          <a:p>
            <a:pPr algn="ctr" eaLnBrk="1" fontAlgn="auto" hangingPunct="1">
              <a:spcBef>
                <a:spcPts val="0"/>
              </a:spcBef>
              <a:spcAft>
                <a:spcPts val="0"/>
              </a:spcAft>
              <a:defRPr/>
            </a:pPr>
            <a:r>
              <a:rPr kumimoji="0" lang="en-US" sz="1600" b="1" kern="0" dirty="0">
                <a:solidFill>
                  <a:sysClr val="windowText" lastClr="000000"/>
                </a:solidFill>
                <a:latin typeface="Calibri"/>
                <a:ea typeface="+mn-ea"/>
              </a:rPr>
              <a:t>4 links @ 25.6 GB/</a:t>
            </a:r>
            <a:r>
              <a:rPr kumimoji="0" lang="en-US" sz="1600" b="1" kern="0" dirty="0" err="1">
                <a:solidFill>
                  <a:sysClr val="windowText" lastClr="000000"/>
                </a:solidFill>
                <a:latin typeface="Calibri"/>
                <a:ea typeface="+mn-ea"/>
              </a:rPr>
              <a:t>s</a:t>
            </a:r>
            <a:r>
              <a:rPr kumimoji="0" lang="en-US" sz="1600" b="1" kern="0" dirty="0">
                <a:solidFill>
                  <a:sysClr val="windowText" lastClr="000000"/>
                </a:solidFill>
                <a:latin typeface="Calibri"/>
                <a:ea typeface="+mn-ea"/>
              </a:rPr>
              <a:t> each</a:t>
            </a:r>
          </a:p>
        </p:txBody>
      </p:sp>
      <p:sp>
        <p:nvSpPr>
          <p:cNvPr id="29" name="Line 464">
            <a:extLst>
              <a:ext uri="{FF2B5EF4-FFF2-40B4-BE49-F238E27FC236}">
                <a16:creationId xmlns:a16="http://schemas.microsoft.com/office/drawing/2014/main" id="{F058D0FE-20CA-44BD-97F4-01CA16DC5882}"/>
              </a:ext>
            </a:extLst>
          </p:cNvPr>
          <p:cNvSpPr>
            <a:spLocks noChangeShapeType="1"/>
          </p:cNvSpPr>
          <p:nvPr/>
        </p:nvSpPr>
        <p:spPr bwMode="auto">
          <a:xfrm>
            <a:off x="2047875" y="3490913"/>
            <a:ext cx="0" cy="1233487"/>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30" name="Line 474">
            <a:extLst>
              <a:ext uri="{FF2B5EF4-FFF2-40B4-BE49-F238E27FC236}">
                <a16:creationId xmlns:a16="http://schemas.microsoft.com/office/drawing/2014/main" id="{F18E6AB2-E17B-4454-AD78-9E5C8BEEC387}"/>
              </a:ext>
            </a:extLst>
          </p:cNvPr>
          <p:cNvSpPr>
            <a:spLocks noChangeShapeType="1"/>
          </p:cNvSpPr>
          <p:nvPr/>
        </p:nvSpPr>
        <p:spPr bwMode="auto">
          <a:xfrm flipH="1">
            <a:off x="5778500" y="5491163"/>
            <a:ext cx="7938" cy="4349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31" name="Line 475">
            <a:extLst>
              <a:ext uri="{FF2B5EF4-FFF2-40B4-BE49-F238E27FC236}">
                <a16:creationId xmlns:a16="http://schemas.microsoft.com/office/drawing/2014/main" id="{0A6F9D02-04AA-401D-9838-51E414C3EEEE}"/>
              </a:ext>
            </a:extLst>
          </p:cNvPr>
          <p:cNvSpPr>
            <a:spLocks noChangeShapeType="1"/>
          </p:cNvSpPr>
          <p:nvPr/>
        </p:nvSpPr>
        <p:spPr bwMode="auto">
          <a:xfrm>
            <a:off x="5938838" y="5491163"/>
            <a:ext cx="0" cy="43497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32" name="Line 476">
            <a:extLst>
              <a:ext uri="{FF2B5EF4-FFF2-40B4-BE49-F238E27FC236}">
                <a16:creationId xmlns:a16="http://schemas.microsoft.com/office/drawing/2014/main" id="{0B127DF9-6257-4429-A126-0AF9D3E4566D}"/>
              </a:ext>
            </a:extLst>
          </p:cNvPr>
          <p:cNvSpPr>
            <a:spLocks noChangeShapeType="1"/>
          </p:cNvSpPr>
          <p:nvPr/>
        </p:nvSpPr>
        <p:spPr bwMode="auto">
          <a:xfrm>
            <a:off x="6091238" y="5483225"/>
            <a:ext cx="0" cy="442913"/>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33" name="Line 479">
            <a:extLst>
              <a:ext uri="{FF2B5EF4-FFF2-40B4-BE49-F238E27FC236}">
                <a16:creationId xmlns:a16="http://schemas.microsoft.com/office/drawing/2014/main" id="{E691D19F-899B-423A-B015-A6094ABA3AEF}"/>
              </a:ext>
            </a:extLst>
          </p:cNvPr>
          <p:cNvSpPr>
            <a:spLocks noChangeShapeType="1"/>
          </p:cNvSpPr>
          <p:nvPr/>
        </p:nvSpPr>
        <p:spPr bwMode="auto">
          <a:xfrm>
            <a:off x="4930775" y="3511550"/>
            <a:ext cx="0" cy="1223963"/>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grpSp>
        <p:nvGrpSpPr>
          <p:cNvPr id="139297" name="Group 501">
            <a:extLst>
              <a:ext uri="{FF2B5EF4-FFF2-40B4-BE49-F238E27FC236}">
                <a16:creationId xmlns:a16="http://schemas.microsoft.com/office/drawing/2014/main" id="{4F9E3B37-90D7-4360-BB9D-25DF135A992E}"/>
              </a:ext>
            </a:extLst>
          </p:cNvPr>
          <p:cNvGrpSpPr>
            <a:grpSpLocks/>
          </p:cNvGrpSpPr>
          <p:nvPr/>
        </p:nvGrpSpPr>
        <p:grpSpPr bwMode="auto">
          <a:xfrm>
            <a:off x="7708900" y="3787775"/>
            <a:ext cx="595313" cy="503238"/>
            <a:chOff x="4785" y="2300"/>
            <a:chExt cx="343" cy="384"/>
          </a:xfrm>
        </p:grpSpPr>
        <p:sp>
          <p:nvSpPr>
            <p:cNvPr id="35" name="Line 480">
              <a:extLst>
                <a:ext uri="{FF2B5EF4-FFF2-40B4-BE49-F238E27FC236}">
                  <a16:creationId xmlns:a16="http://schemas.microsoft.com/office/drawing/2014/main" id="{6527504B-678C-4B40-A468-087701BBF5EF}"/>
                </a:ext>
              </a:extLst>
            </p:cNvPr>
            <p:cNvSpPr>
              <a:spLocks noChangeShapeType="1"/>
            </p:cNvSpPr>
            <p:nvPr/>
          </p:nvSpPr>
          <p:spPr bwMode="auto">
            <a:xfrm rot="5400000">
              <a:off x="4951" y="2135"/>
              <a:ext cx="0" cy="33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36" name="Line 495">
              <a:extLst>
                <a:ext uri="{FF2B5EF4-FFF2-40B4-BE49-F238E27FC236}">
                  <a16:creationId xmlns:a16="http://schemas.microsoft.com/office/drawing/2014/main" id="{D5C0CC1C-82F2-4327-9E97-696679342251}"/>
                </a:ext>
              </a:extLst>
            </p:cNvPr>
            <p:cNvSpPr>
              <a:spLocks noChangeShapeType="1"/>
            </p:cNvSpPr>
            <p:nvPr/>
          </p:nvSpPr>
          <p:spPr bwMode="auto">
            <a:xfrm rot="5400000">
              <a:off x="4951" y="2210"/>
              <a:ext cx="0" cy="33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37" name="Line 496">
              <a:extLst>
                <a:ext uri="{FF2B5EF4-FFF2-40B4-BE49-F238E27FC236}">
                  <a16:creationId xmlns:a16="http://schemas.microsoft.com/office/drawing/2014/main" id="{E7F1E5AF-E54F-4FD4-9CA9-5E06051035FA}"/>
                </a:ext>
              </a:extLst>
            </p:cNvPr>
            <p:cNvSpPr>
              <a:spLocks noChangeShapeType="1"/>
            </p:cNvSpPr>
            <p:nvPr/>
          </p:nvSpPr>
          <p:spPr bwMode="auto">
            <a:xfrm rot="5400000">
              <a:off x="4951" y="2284"/>
              <a:ext cx="0" cy="33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38" name="Line 498">
              <a:extLst>
                <a:ext uri="{FF2B5EF4-FFF2-40B4-BE49-F238E27FC236}">
                  <a16:creationId xmlns:a16="http://schemas.microsoft.com/office/drawing/2014/main" id="{5BA505DE-476E-4F32-911B-78A6F84923EF}"/>
                </a:ext>
              </a:extLst>
            </p:cNvPr>
            <p:cNvSpPr>
              <a:spLocks noChangeShapeType="1"/>
            </p:cNvSpPr>
            <p:nvPr/>
          </p:nvSpPr>
          <p:spPr bwMode="auto">
            <a:xfrm rot="5400000">
              <a:off x="4961" y="2519"/>
              <a:ext cx="0" cy="335"/>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grpSp>
      <p:sp>
        <p:nvSpPr>
          <p:cNvPr id="39" name="Line 500">
            <a:extLst>
              <a:ext uri="{FF2B5EF4-FFF2-40B4-BE49-F238E27FC236}">
                <a16:creationId xmlns:a16="http://schemas.microsoft.com/office/drawing/2014/main" id="{C12024F0-8A62-4A66-9E4D-62143428211B}"/>
              </a:ext>
            </a:extLst>
          </p:cNvPr>
          <p:cNvSpPr>
            <a:spLocks noChangeShapeType="1"/>
          </p:cNvSpPr>
          <p:nvPr/>
        </p:nvSpPr>
        <p:spPr bwMode="auto">
          <a:xfrm>
            <a:off x="6538913" y="4368800"/>
            <a:ext cx="0" cy="355600"/>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40" name="Line 502">
            <a:extLst>
              <a:ext uri="{FF2B5EF4-FFF2-40B4-BE49-F238E27FC236}">
                <a16:creationId xmlns:a16="http://schemas.microsoft.com/office/drawing/2014/main" id="{BE793F8E-E1E3-4470-9CD2-C71B25793D82}"/>
              </a:ext>
            </a:extLst>
          </p:cNvPr>
          <p:cNvSpPr>
            <a:spLocks noChangeShapeType="1"/>
          </p:cNvSpPr>
          <p:nvPr/>
        </p:nvSpPr>
        <p:spPr bwMode="auto">
          <a:xfrm flipV="1">
            <a:off x="3148013" y="5059363"/>
            <a:ext cx="1041400" cy="0"/>
          </a:xfrm>
          <a:prstGeom prst="line">
            <a:avLst/>
          </a:prstGeom>
          <a:noFill/>
          <a:ln w="12700">
            <a:solidFill>
              <a:srgbClr val="000000"/>
            </a:solidFill>
            <a:round/>
            <a:headEnd type="triangle" w="med" len="med"/>
            <a:tailEnd type="triangle" w="med" len="med"/>
          </a:ln>
          <a:effectLst/>
        </p:spPr>
        <p:txBody>
          <a:bodyPr wrap="none" anchor="ctr"/>
          <a:lstStyle/>
          <a:p>
            <a:pPr algn="ctr" eaLnBrk="1" fontAlgn="auto" hangingPunct="1">
              <a:spcBef>
                <a:spcPts val="0"/>
              </a:spcBef>
              <a:spcAft>
                <a:spcPts val="0"/>
              </a:spcAft>
              <a:defRPr/>
            </a:pPr>
            <a:endParaRPr kumimoji="0" lang="en-US" sz="1600" b="1" kern="0">
              <a:solidFill>
                <a:sysClr val="windowText" lastClr="000000"/>
              </a:solidFill>
              <a:latin typeface="Calibri"/>
              <a:ea typeface="+mn-ea"/>
            </a:endParaRPr>
          </a:p>
        </p:txBody>
      </p:sp>
      <p:sp>
        <p:nvSpPr>
          <p:cNvPr id="41" name="Text Box 461">
            <a:extLst>
              <a:ext uri="{FF2B5EF4-FFF2-40B4-BE49-F238E27FC236}">
                <a16:creationId xmlns:a16="http://schemas.microsoft.com/office/drawing/2014/main" id="{12B187BB-6BA8-44B9-A5D7-F86688BD19B6}"/>
              </a:ext>
            </a:extLst>
          </p:cNvPr>
          <p:cNvSpPr txBox="1">
            <a:spLocks noChangeArrowheads="1"/>
          </p:cNvSpPr>
          <p:nvPr/>
        </p:nvSpPr>
        <p:spPr bwMode="auto">
          <a:xfrm>
            <a:off x="34925" y="855663"/>
            <a:ext cx="2938463" cy="338137"/>
          </a:xfrm>
          <a:prstGeom prst="rect">
            <a:avLst/>
          </a:prstGeom>
          <a:noFill/>
          <a:ln w="12700">
            <a:noFill/>
            <a:miter lim="800000"/>
            <a:headEnd/>
            <a:tailEnd/>
          </a:ln>
          <a:effectLst/>
        </p:spPr>
        <p:txBody>
          <a:bodyPr>
            <a:spAutoFit/>
          </a:bodyPr>
          <a:lstStyle/>
          <a:p>
            <a:pPr eaLnBrk="1" fontAlgn="auto" hangingPunct="1">
              <a:spcBef>
                <a:spcPts val="0"/>
              </a:spcBef>
              <a:spcAft>
                <a:spcPts val="0"/>
              </a:spcAft>
              <a:defRPr/>
            </a:pPr>
            <a:r>
              <a:rPr kumimoji="0" lang="en-US" sz="1600" b="1" kern="0" dirty="0">
                <a:solidFill>
                  <a:sysClr val="windowText" lastClr="000000"/>
                </a:solidFill>
                <a:latin typeface="Calibri"/>
                <a:ea typeface="+mn-ea"/>
              </a:rPr>
              <a:t>Processor package</a:t>
            </a:r>
          </a:p>
        </p:txBody>
      </p:sp>
      <p:sp>
        <p:nvSpPr>
          <p:cNvPr id="42" name="Text Box 497">
            <a:extLst>
              <a:ext uri="{FF2B5EF4-FFF2-40B4-BE49-F238E27FC236}">
                <a16:creationId xmlns:a16="http://schemas.microsoft.com/office/drawing/2014/main" id="{5CB14931-1F50-4899-9DDB-492F2357CEB4}"/>
              </a:ext>
            </a:extLst>
          </p:cNvPr>
          <p:cNvSpPr txBox="1">
            <a:spLocks noChangeArrowheads="1"/>
          </p:cNvSpPr>
          <p:nvPr/>
        </p:nvSpPr>
        <p:spPr bwMode="auto">
          <a:xfrm>
            <a:off x="8316913" y="3573463"/>
            <a:ext cx="965200" cy="584200"/>
          </a:xfrm>
          <a:prstGeom prst="rect">
            <a:avLst/>
          </a:prstGeom>
          <a:noFill/>
          <a:ln w="12700">
            <a:noFill/>
            <a:miter lim="800000"/>
            <a:headEnd/>
            <a:tailEnd/>
          </a:ln>
          <a:effectLst/>
        </p:spPr>
        <p:txBody>
          <a:bodyPr>
            <a:spAutoFit/>
          </a:bodyPr>
          <a:lstStyle/>
          <a:p>
            <a:pPr eaLnBrk="1" fontAlgn="auto" hangingPunct="1">
              <a:spcBef>
                <a:spcPts val="0"/>
              </a:spcBef>
              <a:spcAft>
                <a:spcPts val="0"/>
              </a:spcAft>
              <a:defRPr/>
            </a:pPr>
            <a:r>
              <a:rPr kumimoji="0" lang="en-US" sz="1600" b="1" kern="0" dirty="0">
                <a:solidFill>
                  <a:sysClr val="windowText" lastClr="000000"/>
                </a:solidFill>
                <a:latin typeface="Calibri"/>
                <a:ea typeface="+mn-ea"/>
              </a:rPr>
              <a:t>To other </a:t>
            </a:r>
          </a:p>
          <a:p>
            <a:pPr eaLnBrk="1" fontAlgn="auto" hangingPunct="1">
              <a:spcBef>
                <a:spcPts val="0"/>
              </a:spcBef>
              <a:spcAft>
                <a:spcPts val="0"/>
              </a:spcAft>
              <a:defRPr/>
            </a:pPr>
            <a:r>
              <a:rPr kumimoji="0" lang="en-US" sz="1600" b="1" kern="0" dirty="0">
                <a:solidFill>
                  <a:sysClr val="windowText" lastClr="000000"/>
                </a:solidFill>
                <a:latin typeface="Calibri"/>
                <a:ea typeface="+mn-ea"/>
              </a:rPr>
              <a:t>cores</a:t>
            </a:r>
          </a:p>
        </p:txBody>
      </p:sp>
      <p:sp>
        <p:nvSpPr>
          <p:cNvPr id="43" name="Text Box 499">
            <a:extLst>
              <a:ext uri="{FF2B5EF4-FFF2-40B4-BE49-F238E27FC236}">
                <a16:creationId xmlns:a16="http://schemas.microsoft.com/office/drawing/2014/main" id="{66E98987-D77A-4FDC-A1C6-7F1AF1AA8DB3}"/>
              </a:ext>
            </a:extLst>
          </p:cNvPr>
          <p:cNvSpPr txBox="1">
            <a:spLocks noChangeArrowheads="1"/>
          </p:cNvSpPr>
          <p:nvPr/>
        </p:nvSpPr>
        <p:spPr bwMode="auto">
          <a:xfrm>
            <a:off x="8347075" y="4105275"/>
            <a:ext cx="935038" cy="584200"/>
          </a:xfrm>
          <a:prstGeom prst="rect">
            <a:avLst/>
          </a:prstGeom>
          <a:noFill/>
          <a:ln w="12700">
            <a:noFill/>
            <a:miter lim="800000"/>
            <a:headEnd/>
            <a:tailEnd/>
          </a:ln>
          <a:effectLst/>
        </p:spPr>
        <p:txBody>
          <a:bodyPr>
            <a:spAutoFit/>
          </a:bodyPr>
          <a:lstStyle/>
          <a:p>
            <a:pPr eaLnBrk="1" fontAlgn="auto" hangingPunct="1">
              <a:spcBef>
                <a:spcPts val="0"/>
              </a:spcBef>
              <a:spcAft>
                <a:spcPts val="0"/>
              </a:spcAft>
              <a:defRPr/>
            </a:pPr>
            <a:r>
              <a:rPr kumimoji="0" lang="en-US" sz="1600" b="1" kern="0" dirty="0">
                <a:solidFill>
                  <a:sysClr val="windowText" lastClr="000000"/>
                </a:solidFill>
                <a:latin typeface="Calibri"/>
                <a:ea typeface="+mn-ea"/>
              </a:rPr>
              <a:t>To I/O</a:t>
            </a:r>
          </a:p>
          <a:p>
            <a:pPr eaLnBrk="1" fontAlgn="auto" hangingPunct="1">
              <a:spcBef>
                <a:spcPts val="0"/>
              </a:spcBef>
              <a:spcAft>
                <a:spcPts val="0"/>
              </a:spcAft>
              <a:defRPr/>
            </a:pPr>
            <a:r>
              <a:rPr kumimoji="0" lang="en-US" sz="1600" b="1" kern="0" dirty="0">
                <a:solidFill>
                  <a:sysClr val="windowText" lastClr="000000"/>
                </a:solidFill>
                <a:latin typeface="Calibri"/>
                <a:ea typeface="+mn-ea"/>
              </a:rPr>
              <a:t>bridge</a:t>
            </a:r>
          </a:p>
        </p:txBody>
      </p:sp>
    </p:spTree>
  </p:cSld>
  <p:clrMapOvr>
    <a:masterClrMapping/>
  </p:clrMapOvr>
  <p:transition spd="med">
    <p:pull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BBFCC0-F1FB-4618-B9D1-DAF9D38811CF}"/>
              </a:ext>
            </a:extLst>
          </p:cNvPr>
          <p:cNvSpPr>
            <a:spLocks noGrp="1"/>
          </p:cNvSpPr>
          <p:nvPr>
            <p:ph type="title"/>
          </p:nvPr>
        </p:nvSpPr>
        <p:spPr/>
        <p:txBody>
          <a:bodyPr/>
          <a:lstStyle/>
          <a:p>
            <a:pPr>
              <a:defRPr/>
            </a:pPr>
            <a:r>
              <a:rPr lang="zh-CN" altLang="en-US"/>
              <a:t>端到端的地址翻译</a:t>
            </a:r>
          </a:p>
        </p:txBody>
      </p:sp>
      <p:sp>
        <p:nvSpPr>
          <p:cNvPr id="5" name="Rectangle 379">
            <a:extLst>
              <a:ext uri="{FF2B5EF4-FFF2-40B4-BE49-F238E27FC236}">
                <a16:creationId xmlns:a16="http://schemas.microsoft.com/office/drawing/2014/main" id="{79D6F1FD-E3D6-4452-85D7-EB468D400B32}"/>
              </a:ext>
            </a:extLst>
          </p:cNvPr>
          <p:cNvSpPr>
            <a:spLocks noChangeArrowheads="1"/>
          </p:cNvSpPr>
          <p:nvPr/>
        </p:nvSpPr>
        <p:spPr bwMode="auto">
          <a:xfrm>
            <a:off x="1177925" y="1044575"/>
            <a:ext cx="609600" cy="457200"/>
          </a:xfrm>
          <a:prstGeom prst="rect">
            <a:avLst/>
          </a:prstGeom>
          <a:solidFill>
            <a:srgbClr val="C0C0C0"/>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CPU</a:t>
            </a:r>
          </a:p>
        </p:txBody>
      </p:sp>
      <p:sp>
        <p:nvSpPr>
          <p:cNvPr id="6" name="Rectangle 380">
            <a:extLst>
              <a:ext uri="{FF2B5EF4-FFF2-40B4-BE49-F238E27FC236}">
                <a16:creationId xmlns:a16="http://schemas.microsoft.com/office/drawing/2014/main" id="{3BD1BFFF-77E8-4C14-87E3-5BD14999C06E}"/>
              </a:ext>
            </a:extLst>
          </p:cNvPr>
          <p:cNvSpPr>
            <a:spLocks noChangeArrowheads="1"/>
          </p:cNvSpPr>
          <p:nvPr/>
        </p:nvSpPr>
        <p:spPr bwMode="auto">
          <a:xfrm>
            <a:off x="568325" y="1958975"/>
            <a:ext cx="10668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VPN</a:t>
            </a:r>
          </a:p>
        </p:txBody>
      </p:sp>
      <p:sp>
        <p:nvSpPr>
          <p:cNvPr id="7" name="Rectangle 381">
            <a:extLst>
              <a:ext uri="{FF2B5EF4-FFF2-40B4-BE49-F238E27FC236}">
                <a16:creationId xmlns:a16="http://schemas.microsoft.com/office/drawing/2014/main" id="{E0F5E5AC-54CA-46E4-B757-568E836D141B}"/>
              </a:ext>
            </a:extLst>
          </p:cNvPr>
          <p:cNvSpPr>
            <a:spLocks noChangeArrowheads="1"/>
          </p:cNvSpPr>
          <p:nvPr/>
        </p:nvSpPr>
        <p:spPr bwMode="auto">
          <a:xfrm>
            <a:off x="1635125" y="1958975"/>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VPO</a:t>
            </a:r>
          </a:p>
        </p:txBody>
      </p:sp>
      <p:sp>
        <p:nvSpPr>
          <p:cNvPr id="8" name="Text Box 382">
            <a:extLst>
              <a:ext uri="{FF2B5EF4-FFF2-40B4-BE49-F238E27FC236}">
                <a16:creationId xmlns:a16="http://schemas.microsoft.com/office/drawing/2014/main" id="{0E22A9C1-C767-4418-84B9-B2196C01C940}"/>
              </a:ext>
            </a:extLst>
          </p:cNvPr>
          <p:cNvSpPr txBox="1">
            <a:spLocks noChangeArrowheads="1"/>
          </p:cNvSpPr>
          <p:nvPr/>
        </p:nvSpPr>
        <p:spPr bwMode="auto">
          <a:xfrm>
            <a:off x="876300" y="1730375"/>
            <a:ext cx="338138"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dirty="0">
                <a:solidFill>
                  <a:srgbClr val="000000"/>
                </a:solidFill>
                <a:latin typeface="Calibri"/>
                <a:ea typeface="+mn-ea"/>
              </a:rPr>
              <a:t>36</a:t>
            </a:r>
          </a:p>
        </p:txBody>
      </p:sp>
      <p:sp>
        <p:nvSpPr>
          <p:cNvPr id="9" name="Text Box 383">
            <a:extLst>
              <a:ext uri="{FF2B5EF4-FFF2-40B4-BE49-F238E27FC236}">
                <a16:creationId xmlns:a16="http://schemas.microsoft.com/office/drawing/2014/main" id="{D6C039E6-FCC0-4CC0-A463-7FA8D5644F1B}"/>
              </a:ext>
            </a:extLst>
          </p:cNvPr>
          <p:cNvSpPr txBox="1">
            <a:spLocks noChangeArrowheads="1"/>
          </p:cNvSpPr>
          <p:nvPr/>
        </p:nvSpPr>
        <p:spPr bwMode="auto">
          <a:xfrm>
            <a:off x="1714500" y="1730375"/>
            <a:ext cx="338138"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12</a:t>
            </a:r>
          </a:p>
        </p:txBody>
      </p:sp>
      <p:sp>
        <p:nvSpPr>
          <p:cNvPr id="10" name="Line 384">
            <a:extLst>
              <a:ext uri="{FF2B5EF4-FFF2-40B4-BE49-F238E27FC236}">
                <a16:creationId xmlns:a16="http://schemas.microsoft.com/office/drawing/2014/main" id="{A3AA8B15-9BA5-41EA-A346-7314241B11A9}"/>
              </a:ext>
            </a:extLst>
          </p:cNvPr>
          <p:cNvSpPr>
            <a:spLocks noChangeShapeType="1"/>
          </p:cNvSpPr>
          <p:nvPr/>
        </p:nvSpPr>
        <p:spPr bwMode="auto">
          <a:xfrm>
            <a:off x="1406525" y="2263775"/>
            <a:ext cx="0" cy="3810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1" name="Rectangle 385">
            <a:extLst>
              <a:ext uri="{FF2B5EF4-FFF2-40B4-BE49-F238E27FC236}">
                <a16:creationId xmlns:a16="http://schemas.microsoft.com/office/drawing/2014/main" id="{9916D67B-122B-441A-8130-CD225B430A01}"/>
              </a:ext>
            </a:extLst>
          </p:cNvPr>
          <p:cNvSpPr>
            <a:spLocks noChangeArrowheads="1"/>
          </p:cNvSpPr>
          <p:nvPr/>
        </p:nvSpPr>
        <p:spPr bwMode="auto">
          <a:xfrm>
            <a:off x="949325" y="2644775"/>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dirty="0">
                <a:solidFill>
                  <a:srgbClr val="000000"/>
                </a:solidFill>
                <a:latin typeface="Calibri"/>
                <a:ea typeface="+mn-ea"/>
              </a:rPr>
              <a:t>TLBT</a:t>
            </a:r>
          </a:p>
        </p:txBody>
      </p:sp>
      <p:sp>
        <p:nvSpPr>
          <p:cNvPr id="12" name="Rectangle 386">
            <a:extLst>
              <a:ext uri="{FF2B5EF4-FFF2-40B4-BE49-F238E27FC236}">
                <a16:creationId xmlns:a16="http://schemas.microsoft.com/office/drawing/2014/main" id="{EEA14451-3E09-4E50-8F95-713FB7FCA93F}"/>
              </a:ext>
            </a:extLst>
          </p:cNvPr>
          <p:cNvSpPr>
            <a:spLocks noChangeArrowheads="1"/>
          </p:cNvSpPr>
          <p:nvPr/>
        </p:nvSpPr>
        <p:spPr bwMode="auto">
          <a:xfrm>
            <a:off x="1482725" y="2644775"/>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TLBI</a:t>
            </a:r>
          </a:p>
        </p:txBody>
      </p:sp>
      <p:sp>
        <p:nvSpPr>
          <p:cNvPr id="13" name="Text Box 387">
            <a:extLst>
              <a:ext uri="{FF2B5EF4-FFF2-40B4-BE49-F238E27FC236}">
                <a16:creationId xmlns:a16="http://schemas.microsoft.com/office/drawing/2014/main" id="{C9280D40-4DAB-4E6D-AC3A-4DE00E4FF9D9}"/>
              </a:ext>
            </a:extLst>
          </p:cNvPr>
          <p:cNvSpPr txBox="1">
            <a:spLocks noChangeArrowheads="1"/>
          </p:cNvSpPr>
          <p:nvPr/>
        </p:nvSpPr>
        <p:spPr bwMode="auto">
          <a:xfrm>
            <a:off x="1635125" y="2416175"/>
            <a:ext cx="260350"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dirty="0">
                <a:solidFill>
                  <a:srgbClr val="000000"/>
                </a:solidFill>
                <a:latin typeface="Calibri"/>
                <a:ea typeface="+mn-ea"/>
              </a:rPr>
              <a:t>4</a:t>
            </a:r>
          </a:p>
        </p:txBody>
      </p:sp>
      <p:sp>
        <p:nvSpPr>
          <p:cNvPr id="14" name="Text Box 388">
            <a:extLst>
              <a:ext uri="{FF2B5EF4-FFF2-40B4-BE49-F238E27FC236}">
                <a16:creationId xmlns:a16="http://schemas.microsoft.com/office/drawing/2014/main" id="{BDE77DE1-466B-4288-BDB7-207709B43C62}"/>
              </a:ext>
            </a:extLst>
          </p:cNvPr>
          <p:cNvSpPr txBox="1">
            <a:spLocks noChangeArrowheads="1"/>
          </p:cNvSpPr>
          <p:nvPr/>
        </p:nvSpPr>
        <p:spPr bwMode="auto">
          <a:xfrm>
            <a:off x="1025525" y="2416175"/>
            <a:ext cx="338138"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32</a:t>
            </a:r>
          </a:p>
        </p:txBody>
      </p:sp>
      <p:sp>
        <p:nvSpPr>
          <p:cNvPr id="15" name="Rectangle 390">
            <a:extLst>
              <a:ext uri="{FF2B5EF4-FFF2-40B4-BE49-F238E27FC236}">
                <a16:creationId xmlns:a16="http://schemas.microsoft.com/office/drawing/2014/main" id="{F3D38AF3-28EB-4A54-BBC8-469E98B0A401}"/>
              </a:ext>
            </a:extLst>
          </p:cNvPr>
          <p:cNvSpPr>
            <a:spLocks noChangeArrowheads="1"/>
          </p:cNvSpPr>
          <p:nvPr/>
        </p:nvSpPr>
        <p:spPr bwMode="auto">
          <a:xfrm>
            <a:off x="2244725" y="34067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16" name="Rectangle 391">
            <a:extLst>
              <a:ext uri="{FF2B5EF4-FFF2-40B4-BE49-F238E27FC236}">
                <a16:creationId xmlns:a16="http://schemas.microsoft.com/office/drawing/2014/main" id="{615AA378-67F2-4BDC-BFBC-98D872763B68}"/>
              </a:ext>
            </a:extLst>
          </p:cNvPr>
          <p:cNvSpPr>
            <a:spLocks noChangeArrowheads="1"/>
          </p:cNvSpPr>
          <p:nvPr/>
        </p:nvSpPr>
        <p:spPr bwMode="auto">
          <a:xfrm>
            <a:off x="2778125" y="34067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17" name="Rectangle 392">
            <a:extLst>
              <a:ext uri="{FF2B5EF4-FFF2-40B4-BE49-F238E27FC236}">
                <a16:creationId xmlns:a16="http://schemas.microsoft.com/office/drawing/2014/main" id="{2E78BA01-CC9C-40BB-A44C-4E06369B3D3D}"/>
              </a:ext>
            </a:extLst>
          </p:cNvPr>
          <p:cNvSpPr>
            <a:spLocks noChangeArrowheads="1"/>
          </p:cNvSpPr>
          <p:nvPr/>
        </p:nvSpPr>
        <p:spPr bwMode="auto">
          <a:xfrm>
            <a:off x="3311525" y="34067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18" name="Rectangle 393">
            <a:extLst>
              <a:ext uri="{FF2B5EF4-FFF2-40B4-BE49-F238E27FC236}">
                <a16:creationId xmlns:a16="http://schemas.microsoft.com/office/drawing/2014/main" id="{14C2EFD3-A482-4028-B305-B0BEBBDC82EF}"/>
              </a:ext>
            </a:extLst>
          </p:cNvPr>
          <p:cNvSpPr>
            <a:spLocks noChangeArrowheads="1"/>
          </p:cNvSpPr>
          <p:nvPr/>
        </p:nvSpPr>
        <p:spPr bwMode="auto">
          <a:xfrm>
            <a:off x="3844925" y="34067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19" name="Rectangle 394">
            <a:extLst>
              <a:ext uri="{FF2B5EF4-FFF2-40B4-BE49-F238E27FC236}">
                <a16:creationId xmlns:a16="http://schemas.microsoft.com/office/drawing/2014/main" id="{7F692327-638E-44F4-8D0C-CA009C6A33FF}"/>
              </a:ext>
            </a:extLst>
          </p:cNvPr>
          <p:cNvSpPr>
            <a:spLocks noChangeArrowheads="1"/>
          </p:cNvSpPr>
          <p:nvPr/>
        </p:nvSpPr>
        <p:spPr bwMode="auto">
          <a:xfrm>
            <a:off x="2244725" y="35591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0" name="Rectangle 395">
            <a:extLst>
              <a:ext uri="{FF2B5EF4-FFF2-40B4-BE49-F238E27FC236}">
                <a16:creationId xmlns:a16="http://schemas.microsoft.com/office/drawing/2014/main" id="{A10155D3-87C7-4F5C-9324-9579F9938F0D}"/>
              </a:ext>
            </a:extLst>
          </p:cNvPr>
          <p:cNvSpPr>
            <a:spLocks noChangeArrowheads="1"/>
          </p:cNvSpPr>
          <p:nvPr/>
        </p:nvSpPr>
        <p:spPr bwMode="auto">
          <a:xfrm>
            <a:off x="2778125" y="35591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1" name="Rectangle 396">
            <a:extLst>
              <a:ext uri="{FF2B5EF4-FFF2-40B4-BE49-F238E27FC236}">
                <a16:creationId xmlns:a16="http://schemas.microsoft.com/office/drawing/2014/main" id="{B989991C-ED3B-48C5-98CB-2530519C729D}"/>
              </a:ext>
            </a:extLst>
          </p:cNvPr>
          <p:cNvSpPr>
            <a:spLocks noChangeArrowheads="1"/>
          </p:cNvSpPr>
          <p:nvPr/>
        </p:nvSpPr>
        <p:spPr bwMode="auto">
          <a:xfrm>
            <a:off x="3311525" y="35591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2" name="Rectangle 397">
            <a:extLst>
              <a:ext uri="{FF2B5EF4-FFF2-40B4-BE49-F238E27FC236}">
                <a16:creationId xmlns:a16="http://schemas.microsoft.com/office/drawing/2014/main" id="{3B46DFA3-719E-4AA0-A3B2-C496CDB2EC91}"/>
              </a:ext>
            </a:extLst>
          </p:cNvPr>
          <p:cNvSpPr>
            <a:spLocks noChangeArrowheads="1"/>
          </p:cNvSpPr>
          <p:nvPr/>
        </p:nvSpPr>
        <p:spPr bwMode="auto">
          <a:xfrm>
            <a:off x="3844925" y="35591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3" name="Rectangle 398">
            <a:extLst>
              <a:ext uri="{FF2B5EF4-FFF2-40B4-BE49-F238E27FC236}">
                <a16:creationId xmlns:a16="http://schemas.microsoft.com/office/drawing/2014/main" id="{D68D1649-AB30-47FC-96B2-68538FA99020}"/>
              </a:ext>
            </a:extLst>
          </p:cNvPr>
          <p:cNvSpPr>
            <a:spLocks noChangeArrowheads="1"/>
          </p:cNvSpPr>
          <p:nvPr/>
        </p:nvSpPr>
        <p:spPr bwMode="auto">
          <a:xfrm>
            <a:off x="2244725" y="3711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4" name="Rectangle 399">
            <a:extLst>
              <a:ext uri="{FF2B5EF4-FFF2-40B4-BE49-F238E27FC236}">
                <a16:creationId xmlns:a16="http://schemas.microsoft.com/office/drawing/2014/main" id="{DA8BA8BD-A75A-4474-B092-7D0A4DA1DC68}"/>
              </a:ext>
            </a:extLst>
          </p:cNvPr>
          <p:cNvSpPr>
            <a:spLocks noChangeArrowheads="1"/>
          </p:cNvSpPr>
          <p:nvPr/>
        </p:nvSpPr>
        <p:spPr bwMode="auto">
          <a:xfrm>
            <a:off x="2778125" y="3711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5" name="Rectangle 400">
            <a:extLst>
              <a:ext uri="{FF2B5EF4-FFF2-40B4-BE49-F238E27FC236}">
                <a16:creationId xmlns:a16="http://schemas.microsoft.com/office/drawing/2014/main" id="{44276846-E151-447B-908A-E5720249BCBA}"/>
              </a:ext>
            </a:extLst>
          </p:cNvPr>
          <p:cNvSpPr>
            <a:spLocks noChangeArrowheads="1"/>
          </p:cNvSpPr>
          <p:nvPr/>
        </p:nvSpPr>
        <p:spPr bwMode="auto">
          <a:xfrm>
            <a:off x="3311525" y="3711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6" name="Rectangle 401">
            <a:extLst>
              <a:ext uri="{FF2B5EF4-FFF2-40B4-BE49-F238E27FC236}">
                <a16:creationId xmlns:a16="http://schemas.microsoft.com/office/drawing/2014/main" id="{8F872CF9-11CD-4566-88EB-2C802F3427D4}"/>
              </a:ext>
            </a:extLst>
          </p:cNvPr>
          <p:cNvSpPr>
            <a:spLocks noChangeArrowheads="1"/>
          </p:cNvSpPr>
          <p:nvPr/>
        </p:nvSpPr>
        <p:spPr bwMode="auto">
          <a:xfrm>
            <a:off x="3844925" y="3711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7" name="Rectangle 402">
            <a:extLst>
              <a:ext uri="{FF2B5EF4-FFF2-40B4-BE49-F238E27FC236}">
                <a16:creationId xmlns:a16="http://schemas.microsoft.com/office/drawing/2014/main" id="{F9081EA0-8562-4E85-9B4E-A9780CB438C0}"/>
              </a:ext>
            </a:extLst>
          </p:cNvPr>
          <p:cNvSpPr>
            <a:spLocks noChangeArrowheads="1"/>
          </p:cNvSpPr>
          <p:nvPr/>
        </p:nvSpPr>
        <p:spPr bwMode="auto">
          <a:xfrm>
            <a:off x="2244725" y="4092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8" name="Rectangle 403">
            <a:extLst>
              <a:ext uri="{FF2B5EF4-FFF2-40B4-BE49-F238E27FC236}">
                <a16:creationId xmlns:a16="http://schemas.microsoft.com/office/drawing/2014/main" id="{79BF0F67-F6B1-41D1-BCE8-C045ECE1EAC8}"/>
              </a:ext>
            </a:extLst>
          </p:cNvPr>
          <p:cNvSpPr>
            <a:spLocks noChangeArrowheads="1"/>
          </p:cNvSpPr>
          <p:nvPr/>
        </p:nvSpPr>
        <p:spPr bwMode="auto">
          <a:xfrm>
            <a:off x="2778125" y="4092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29" name="Rectangle 404">
            <a:extLst>
              <a:ext uri="{FF2B5EF4-FFF2-40B4-BE49-F238E27FC236}">
                <a16:creationId xmlns:a16="http://schemas.microsoft.com/office/drawing/2014/main" id="{622FFBEF-D7B2-4D1A-BD83-9D4CEC90C106}"/>
              </a:ext>
            </a:extLst>
          </p:cNvPr>
          <p:cNvSpPr>
            <a:spLocks noChangeArrowheads="1"/>
          </p:cNvSpPr>
          <p:nvPr/>
        </p:nvSpPr>
        <p:spPr bwMode="auto">
          <a:xfrm>
            <a:off x="3311525" y="4092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30" name="Rectangle 405">
            <a:extLst>
              <a:ext uri="{FF2B5EF4-FFF2-40B4-BE49-F238E27FC236}">
                <a16:creationId xmlns:a16="http://schemas.microsoft.com/office/drawing/2014/main" id="{1905BDC2-7D7D-43CF-81A7-BDBB9A81033C}"/>
              </a:ext>
            </a:extLst>
          </p:cNvPr>
          <p:cNvSpPr>
            <a:spLocks noChangeArrowheads="1"/>
          </p:cNvSpPr>
          <p:nvPr/>
        </p:nvSpPr>
        <p:spPr bwMode="auto">
          <a:xfrm>
            <a:off x="3844925" y="4092575"/>
            <a:ext cx="533400" cy="1524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31" name="Text Box 406">
            <a:extLst>
              <a:ext uri="{FF2B5EF4-FFF2-40B4-BE49-F238E27FC236}">
                <a16:creationId xmlns:a16="http://schemas.microsoft.com/office/drawing/2014/main" id="{35586A84-FD56-4607-BBD7-6095730CE987}"/>
              </a:ext>
            </a:extLst>
          </p:cNvPr>
          <p:cNvSpPr txBox="1">
            <a:spLocks noChangeArrowheads="1"/>
          </p:cNvSpPr>
          <p:nvPr/>
        </p:nvSpPr>
        <p:spPr bwMode="auto">
          <a:xfrm>
            <a:off x="3214688" y="3841750"/>
            <a:ext cx="407987" cy="257175"/>
          </a:xfrm>
          <a:prstGeom prst="rect">
            <a:avLst/>
          </a:prstGeom>
          <a:noFill/>
          <a:ln w="9525">
            <a:noFill/>
            <a:miter lim="800000"/>
            <a:headEnd/>
            <a:tailEnd/>
          </a:ln>
          <a:effectLst/>
        </p:spPr>
        <p:txBody>
          <a:bodyPr vert="eaVert" wrap="none" lIns="90487" tIns="44450" rIns="90487" bIns="44450">
            <a:spAutoFit/>
          </a:bodyPr>
          <a:lstStyle/>
          <a:p>
            <a:pPr>
              <a:lnSpc>
                <a:spcPct val="90000"/>
              </a:lnSpc>
              <a:spcBef>
                <a:spcPct val="30000"/>
              </a:spcBef>
              <a:defRPr/>
            </a:pPr>
            <a:r>
              <a:rPr kumimoji="0" lang="en-US" sz="1600" b="1">
                <a:solidFill>
                  <a:srgbClr val="000000"/>
                </a:solidFill>
                <a:latin typeface="Calibri"/>
                <a:ea typeface="+mn-ea"/>
              </a:rPr>
              <a:t>...</a:t>
            </a:r>
          </a:p>
        </p:txBody>
      </p:sp>
      <p:sp>
        <p:nvSpPr>
          <p:cNvPr id="32" name="Line 407">
            <a:extLst>
              <a:ext uri="{FF2B5EF4-FFF2-40B4-BE49-F238E27FC236}">
                <a16:creationId xmlns:a16="http://schemas.microsoft.com/office/drawing/2014/main" id="{0382B64F-43AF-4661-851F-DC85D955E9EC}"/>
              </a:ext>
            </a:extLst>
          </p:cNvPr>
          <p:cNvSpPr>
            <a:spLocks noChangeShapeType="1"/>
          </p:cNvSpPr>
          <p:nvPr/>
        </p:nvSpPr>
        <p:spPr bwMode="auto">
          <a:xfrm>
            <a:off x="1787525" y="2949575"/>
            <a:ext cx="0" cy="121920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33" name="Line 408">
            <a:extLst>
              <a:ext uri="{FF2B5EF4-FFF2-40B4-BE49-F238E27FC236}">
                <a16:creationId xmlns:a16="http://schemas.microsoft.com/office/drawing/2014/main" id="{8457F1B8-C0A7-4C7A-8E21-CB782B39D458}"/>
              </a:ext>
            </a:extLst>
          </p:cNvPr>
          <p:cNvSpPr>
            <a:spLocks noChangeShapeType="1"/>
          </p:cNvSpPr>
          <p:nvPr/>
        </p:nvSpPr>
        <p:spPr bwMode="auto">
          <a:xfrm>
            <a:off x="1787525" y="3482975"/>
            <a:ext cx="4572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34" name="Line 409">
            <a:extLst>
              <a:ext uri="{FF2B5EF4-FFF2-40B4-BE49-F238E27FC236}">
                <a16:creationId xmlns:a16="http://schemas.microsoft.com/office/drawing/2014/main" id="{0CDF358B-80C2-4C53-A98E-D5A721896334}"/>
              </a:ext>
            </a:extLst>
          </p:cNvPr>
          <p:cNvSpPr>
            <a:spLocks noChangeShapeType="1"/>
          </p:cNvSpPr>
          <p:nvPr/>
        </p:nvSpPr>
        <p:spPr bwMode="auto">
          <a:xfrm>
            <a:off x="1787525" y="4168775"/>
            <a:ext cx="4572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35" name="Line 410">
            <a:extLst>
              <a:ext uri="{FF2B5EF4-FFF2-40B4-BE49-F238E27FC236}">
                <a16:creationId xmlns:a16="http://schemas.microsoft.com/office/drawing/2014/main" id="{C589277D-8559-41B7-BCA1-4CB298315348}"/>
              </a:ext>
            </a:extLst>
          </p:cNvPr>
          <p:cNvSpPr>
            <a:spLocks noChangeShapeType="1"/>
          </p:cNvSpPr>
          <p:nvPr/>
        </p:nvSpPr>
        <p:spPr bwMode="auto">
          <a:xfrm>
            <a:off x="1787525" y="3635375"/>
            <a:ext cx="4572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36" name="Line 411">
            <a:extLst>
              <a:ext uri="{FF2B5EF4-FFF2-40B4-BE49-F238E27FC236}">
                <a16:creationId xmlns:a16="http://schemas.microsoft.com/office/drawing/2014/main" id="{9CCDF357-6FCA-43EB-9590-FD131D2D45F3}"/>
              </a:ext>
            </a:extLst>
          </p:cNvPr>
          <p:cNvSpPr>
            <a:spLocks noChangeShapeType="1"/>
          </p:cNvSpPr>
          <p:nvPr/>
        </p:nvSpPr>
        <p:spPr bwMode="auto">
          <a:xfrm>
            <a:off x="1787525" y="3787775"/>
            <a:ext cx="4572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37" name="Line 412">
            <a:extLst>
              <a:ext uri="{FF2B5EF4-FFF2-40B4-BE49-F238E27FC236}">
                <a16:creationId xmlns:a16="http://schemas.microsoft.com/office/drawing/2014/main" id="{D629B952-64F9-4DD5-8B8A-7AB3266D067F}"/>
              </a:ext>
            </a:extLst>
          </p:cNvPr>
          <p:cNvSpPr>
            <a:spLocks noChangeShapeType="1"/>
          </p:cNvSpPr>
          <p:nvPr/>
        </p:nvSpPr>
        <p:spPr bwMode="auto">
          <a:xfrm>
            <a:off x="1254125" y="2949575"/>
            <a:ext cx="0" cy="15240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38" name="Line 413">
            <a:extLst>
              <a:ext uri="{FF2B5EF4-FFF2-40B4-BE49-F238E27FC236}">
                <a16:creationId xmlns:a16="http://schemas.microsoft.com/office/drawing/2014/main" id="{9CF96127-EF38-481B-BF37-C25EB562D629}"/>
              </a:ext>
            </a:extLst>
          </p:cNvPr>
          <p:cNvSpPr>
            <a:spLocks noChangeShapeType="1"/>
          </p:cNvSpPr>
          <p:nvPr/>
        </p:nvSpPr>
        <p:spPr bwMode="auto">
          <a:xfrm>
            <a:off x="1254125" y="3101975"/>
            <a:ext cx="2895600" cy="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39" name="Line 414">
            <a:extLst>
              <a:ext uri="{FF2B5EF4-FFF2-40B4-BE49-F238E27FC236}">
                <a16:creationId xmlns:a16="http://schemas.microsoft.com/office/drawing/2014/main" id="{2B45F4A1-6F40-4544-96F2-9B325B6FEBF9}"/>
              </a:ext>
            </a:extLst>
          </p:cNvPr>
          <p:cNvSpPr>
            <a:spLocks noChangeShapeType="1"/>
          </p:cNvSpPr>
          <p:nvPr/>
        </p:nvSpPr>
        <p:spPr bwMode="auto">
          <a:xfrm>
            <a:off x="2549525" y="3101975"/>
            <a:ext cx="0" cy="3048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40" name="Line 415">
            <a:extLst>
              <a:ext uri="{FF2B5EF4-FFF2-40B4-BE49-F238E27FC236}">
                <a16:creationId xmlns:a16="http://schemas.microsoft.com/office/drawing/2014/main" id="{76CA661E-B8E0-4BE5-80F4-AD1160A6CC62}"/>
              </a:ext>
            </a:extLst>
          </p:cNvPr>
          <p:cNvSpPr>
            <a:spLocks noChangeShapeType="1"/>
          </p:cNvSpPr>
          <p:nvPr/>
        </p:nvSpPr>
        <p:spPr bwMode="auto">
          <a:xfrm>
            <a:off x="3082925" y="3101975"/>
            <a:ext cx="0" cy="3048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41" name="Line 416">
            <a:extLst>
              <a:ext uri="{FF2B5EF4-FFF2-40B4-BE49-F238E27FC236}">
                <a16:creationId xmlns:a16="http://schemas.microsoft.com/office/drawing/2014/main" id="{BF2D2428-CF72-44B5-98CD-193B0EA77150}"/>
              </a:ext>
            </a:extLst>
          </p:cNvPr>
          <p:cNvSpPr>
            <a:spLocks noChangeShapeType="1"/>
          </p:cNvSpPr>
          <p:nvPr/>
        </p:nvSpPr>
        <p:spPr bwMode="auto">
          <a:xfrm>
            <a:off x="3616325" y="3101975"/>
            <a:ext cx="0" cy="3048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42" name="Line 417">
            <a:extLst>
              <a:ext uri="{FF2B5EF4-FFF2-40B4-BE49-F238E27FC236}">
                <a16:creationId xmlns:a16="http://schemas.microsoft.com/office/drawing/2014/main" id="{E98FE3E0-D177-49AE-9CEC-F0417FF25528}"/>
              </a:ext>
            </a:extLst>
          </p:cNvPr>
          <p:cNvSpPr>
            <a:spLocks noChangeShapeType="1"/>
          </p:cNvSpPr>
          <p:nvPr/>
        </p:nvSpPr>
        <p:spPr bwMode="auto">
          <a:xfrm>
            <a:off x="4149725" y="3101975"/>
            <a:ext cx="0" cy="3048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43" name="Line 418">
            <a:extLst>
              <a:ext uri="{FF2B5EF4-FFF2-40B4-BE49-F238E27FC236}">
                <a16:creationId xmlns:a16="http://schemas.microsoft.com/office/drawing/2014/main" id="{ED8DD533-530B-4E83-A9CC-985FDF5AB814}"/>
              </a:ext>
            </a:extLst>
          </p:cNvPr>
          <p:cNvSpPr>
            <a:spLocks noChangeShapeType="1"/>
          </p:cNvSpPr>
          <p:nvPr/>
        </p:nvSpPr>
        <p:spPr bwMode="auto">
          <a:xfrm>
            <a:off x="720725" y="2263775"/>
            <a:ext cx="0" cy="26543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44" name="Line 419">
            <a:extLst>
              <a:ext uri="{FF2B5EF4-FFF2-40B4-BE49-F238E27FC236}">
                <a16:creationId xmlns:a16="http://schemas.microsoft.com/office/drawing/2014/main" id="{2199F9D6-D18E-4B98-BA40-AEB4725989D6}"/>
              </a:ext>
            </a:extLst>
          </p:cNvPr>
          <p:cNvSpPr>
            <a:spLocks noChangeShapeType="1"/>
          </p:cNvSpPr>
          <p:nvPr/>
        </p:nvSpPr>
        <p:spPr bwMode="auto">
          <a:xfrm>
            <a:off x="1482725" y="1501775"/>
            <a:ext cx="0" cy="4572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45" name="Text Box 420">
            <a:extLst>
              <a:ext uri="{FF2B5EF4-FFF2-40B4-BE49-F238E27FC236}">
                <a16:creationId xmlns:a16="http://schemas.microsoft.com/office/drawing/2014/main" id="{112542A5-506D-4383-B26F-E5671E948D58}"/>
              </a:ext>
            </a:extLst>
          </p:cNvPr>
          <p:cNvSpPr txBox="1">
            <a:spLocks noChangeArrowheads="1"/>
          </p:cNvSpPr>
          <p:nvPr/>
        </p:nvSpPr>
        <p:spPr bwMode="auto">
          <a:xfrm>
            <a:off x="1712913" y="4289425"/>
            <a:ext cx="3078162" cy="315912"/>
          </a:xfrm>
          <a:prstGeom prst="rect">
            <a:avLst/>
          </a:prstGeom>
          <a:noFill/>
          <a:ln w="9525">
            <a:noFill/>
            <a:miter lim="800000"/>
            <a:headEnd/>
            <a:tailEnd/>
          </a:ln>
          <a:effectLst/>
        </p:spPr>
        <p:txBody>
          <a:bodyPr lIns="90487" tIns="44450" rIns="90487" bIns="44450">
            <a:spAutoFit/>
          </a:bodyPr>
          <a:lstStyle/>
          <a:p>
            <a:pPr algn="ctr">
              <a:lnSpc>
                <a:spcPct val="90000"/>
              </a:lnSpc>
              <a:spcBef>
                <a:spcPct val="30000"/>
              </a:spcBef>
              <a:defRPr/>
            </a:pPr>
            <a:r>
              <a:rPr kumimoji="0" lang="en-US" sz="1600" b="1" dirty="0">
                <a:solidFill>
                  <a:srgbClr val="000000"/>
                </a:solidFill>
                <a:latin typeface="Calibri"/>
                <a:ea typeface="+mn-ea"/>
              </a:rPr>
              <a:t>L1 TLB (16 sets, 4 entries/set)</a:t>
            </a:r>
          </a:p>
        </p:txBody>
      </p:sp>
      <p:sp>
        <p:nvSpPr>
          <p:cNvPr id="46" name="Rectangle 421">
            <a:extLst>
              <a:ext uri="{FF2B5EF4-FFF2-40B4-BE49-F238E27FC236}">
                <a16:creationId xmlns:a16="http://schemas.microsoft.com/office/drawing/2014/main" id="{C111046B-8A29-4BF3-BF3B-B4A0048B68F4}"/>
              </a:ext>
            </a:extLst>
          </p:cNvPr>
          <p:cNvSpPr>
            <a:spLocks noChangeArrowheads="1"/>
          </p:cNvSpPr>
          <p:nvPr/>
        </p:nvSpPr>
        <p:spPr bwMode="auto">
          <a:xfrm>
            <a:off x="568325" y="4918075"/>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dirty="0">
                <a:solidFill>
                  <a:srgbClr val="000000"/>
                </a:solidFill>
                <a:latin typeface="Calibri"/>
                <a:ea typeface="+mn-ea"/>
              </a:rPr>
              <a:t>VPN1</a:t>
            </a:r>
          </a:p>
        </p:txBody>
      </p:sp>
      <p:sp>
        <p:nvSpPr>
          <p:cNvPr id="47" name="Rectangle 422">
            <a:extLst>
              <a:ext uri="{FF2B5EF4-FFF2-40B4-BE49-F238E27FC236}">
                <a16:creationId xmlns:a16="http://schemas.microsoft.com/office/drawing/2014/main" id="{81FB4434-D6EB-41C8-A795-BC62BC75C0CF}"/>
              </a:ext>
            </a:extLst>
          </p:cNvPr>
          <p:cNvSpPr>
            <a:spLocks noChangeArrowheads="1"/>
          </p:cNvSpPr>
          <p:nvPr/>
        </p:nvSpPr>
        <p:spPr bwMode="auto">
          <a:xfrm>
            <a:off x="1101725" y="4918075"/>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VPN2</a:t>
            </a:r>
          </a:p>
        </p:txBody>
      </p:sp>
      <p:sp>
        <p:nvSpPr>
          <p:cNvPr id="48" name="Text Box 423">
            <a:extLst>
              <a:ext uri="{FF2B5EF4-FFF2-40B4-BE49-F238E27FC236}">
                <a16:creationId xmlns:a16="http://schemas.microsoft.com/office/drawing/2014/main" id="{CCC8EA28-166E-41F7-8C9B-376ED3290790}"/>
              </a:ext>
            </a:extLst>
          </p:cNvPr>
          <p:cNvSpPr txBox="1">
            <a:spLocks noChangeArrowheads="1"/>
          </p:cNvSpPr>
          <p:nvPr/>
        </p:nvSpPr>
        <p:spPr bwMode="auto">
          <a:xfrm>
            <a:off x="1181100" y="4702175"/>
            <a:ext cx="260350"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9</a:t>
            </a:r>
          </a:p>
        </p:txBody>
      </p:sp>
      <p:sp>
        <p:nvSpPr>
          <p:cNvPr id="49" name="Text Box 424">
            <a:extLst>
              <a:ext uri="{FF2B5EF4-FFF2-40B4-BE49-F238E27FC236}">
                <a16:creationId xmlns:a16="http://schemas.microsoft.com/office/drawing/2014/main" id="{E098CEB6-8578-4FC7-A81B-B498A8540CEF}"/>
              </a:ext>
            </a:extLst>
          </p:cNvPr>
          <p:cNvSpPr txBox="1">
            <a:spLocks noChangeArrowheads="1"/>
          </p:cNvSpPr>
          <p:nvPr/>
        </p:nvSpPr>
        <p:spPr bwMode="auto">
          <a:xfrm>
            <a:off x="720725" y="4702175"/>
            <a:ext cx="260350"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9</a:t>
            </a:r>
          </a:p>
        </p:txBody>
      </p:sp>
      <p:sp>
        <p:nvSpPr>
          <p:cNvPr id="50" name="Rectangle 425">
            <a:extLst>
              <a:ext uri="{FF2B5EF4-FFF2-40B4-BE49-F238E27FC236}">
                <a16:creationId xmlns:a16="http://schemas.microsoft.com/office/drawing/2014/main" id="{E62591AD-8B0E-4A7E-8CC5-B0E74017609B}"/>
              </a:ext>
            </a:extLst>
          </p:cNvPr>
          <p:cNvSpPr>
            <a:spLocks noChangeArrowheads="1"/>
          </p:cNvSpPr>
          <p:nvPr/>
        </p:nvSpPr>
        <p:spPr bwMode="auto">
          <a:xfrm>
            <a:off x="792163" y="5603875"/>
            <a:ext cx="315912" cy="914400"/>
          </a:xfrm>
          <a:prstGeom prst="rect">
            <a:avLst/>
          </a:prstGeom>
          <a:solidFill>
            <a:srgbClr val="DEDFF5"/>
          </a:solidFill>
          <a:ln w="9525">
            <a:solidFill>
              <a:srgbClr val="000000"/>
            </a:solidFill>
            <a:miter lim="800000"/>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51" name="Rectangle 426">
            <a:extLst>
              <a:ext uri="{FF2B5EF4-FFF2-40B4-BE49-F238E27FC236}">
                <a16:creationId xmlns:a16="http://schemas.microsoft.com/office/drawing/2014/main" id="{ACF74109-7F87-4745-B0D4-A96A3ABB8B81}"/>
              </a:ext>
            </a:extLst>
          </p:cNvPr>
          <p:cNvSpPr>
            <a:spLocks noChangeArrowheads="1"/>
          </p:cNvSpPr>
          <p:nvPr/>
        </p:nvSpPr>
        <p:spPr bwMode="auto">
          <a:xfrm>
            <a:off x="792163" y="5883275"/>
            <a:ext cx="315912" cy="2540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dirty="0">
                <a:solidFill>
                  <a:srgbClr val="000000"/>
                </a:solidFill>
                <a:latin typeface="Calibri"/>
                <a:ea typeface="+mn-ea"/>
              </a:rPr>
              <a:t>PTE</a:t>
            </a:r>
          </a:p>
        </p:txBody>
      </p:sp>
      <p:sp>
        <p:nvSpPr>
          <p:cNvPr id="52" name="Text Box 431">
            <a:extLst>
              <a:ext uri="{FF2B5EF4-FFF2-40B4-BE49-F238E27FC236}">
                <a16:creationId xmlns:a16="http://schemas.microsoft.com/office/drawing/2014/main" id="{626F316C-98A9-4386-9394-E0D816AED74F}"/>
              </a:ext>
            </a:extLst>
          </p:cNvPr>
          <p:cNvSpPr txBox="1">
            <a:spLocks noChangeArrowheads="1"/>
          </p:cNvSpPr>
          <p:nvPr/>
        </p:nvSpPr>
        <p:spPr bwMode="auto">
          <a:xfrm>
            <a:off x="0" y="5475287"/>
            <a:ext cx="536575" cy="315913"/>
          </a:xfrm>
          <a:prstGeom prst="rect">
            <a:avLst/>
          </a:prstGeom>
          <a:noFill/>
          <a:ln w="9525">
            <a:noFill/>
            <a:miter lim="800000"/>
            <a:headEnd/>
            <a:tailEnd/>
          </a:ln>
          <a:effectLst/>
        </p:spPr>
        <p:txBody>
          <a:bodyPr lIns="90487" tIns="44450" rIns="90487" bIns="44450">
            <a:spAutoFit/>
          </a:bodyPr>
          <a:lstStyle/>
          <a:p>
            <a:pPr>
              <a:lnSpc>
                <a:spcPct val="90000"/>
              </a:lnSpc>
              <a:spcBef>
                <a:spcPct val="30000"/>
              </a:spcBef>
              <a:defRPr/>
            </a:pPr>
            <a:r>
              <a:rPr kumimoji="0" lang="en-US" sz="1600" b="1" dirty="0">
                <a:solidFill>
                  <a:srgbClr val="000000"/>
                </a:solidFill>
                <a:latin typeface="Calibri"/>
                <a:ea typeface="+mn-ea"/>
              </a:rPr>
              <a:t>CR3</a:t>
            </a:r>
          </a:p>
        </p:txBody>
      </p:sp>
      <p:sp>
        <p:nvSpPr>
          <p:cNvPr id="53" name="Rectangle 436">
            <a:extLst>
              <a:ext uri="{FF2B5EF4-FFF2-40B4-BE49-F238E27FC236}">
                <a16:creationId xmlns:a16="http://schemas.microsoft.com/office/drawing/2014/main" id="{D923A908-9369-4E65-9233-EC974195A011}"/>
              </a:ext>
            </a:extLst>
          </p:cNvPr>
          <p:cNvSpPr>
            <a:spLocks noChangeArrowheads="1"/>
          </p:cNvSpPr>
          <p:nvPr/>
        </p:nvSpPr>
        <p:spPr bwMode="auto">
          <a:xfrm>
            <a:off x="4302125" y="5018087"/>
            <a:ext cx="10668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PPN</a:t>
            </a:r>
          </a:p>
        </p:txBody>
      </p:sp>
      <p:sp>
        <p:nvSpPr>
          <p:cNvPr id="54" name="Rectangle 437">
            <a:extLst>
              <a:ext uri="{FF2B5EF4-FFF2-40B4-BE49-F238E27FC236}">
                <a16:creationId xmlns:a16="http://schemas.microsoft.com/office/drawing/2014/main" id="{1422F2E2-F25D-41BB-824E-C8D9A10C9CA6}"/>
              </a:ext>
            </a:extLst>
          </p:cNvPr>
          <p:cNvSpPr>
            <a:spLocks noChangeArrowheads="1"/>
          </p:cNvSpPr>
          <p:nvPr/>
        </p:nvSpPr>
        <p:spPr bwMode="auto">
          <a:xfrm>
            <a:off x="5368925" y="5018087"/>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PPO</a:t>
            </a:r>
          </a:p>
        </p:txBody>
      </p:sp>
      <p:sp>
        <p:nvSpPr>
          <p:cNvPr id="55" name="Text Box 438">
            <a:extLst>
              <a:ext uri="{FF2B5EF4-FFF2-40B4-BE49-F238E27FC236}">
                <a16:creationId xmlns:a16="http://schemas.microsoft.com/office/drawing/2014/main" id="{C0FB5BF4-EC38-49E0-AC42-939A32232EC6}"/>
              </a:ext>
            </a:extLst>
          </p:cNvPr>
          <p:cNvSpPr txBox="1">
            <a:spLocks noChangeArrowheads="1"/>
          </p:cNvSpPr>
          <p:nvPr/>
        </p:nvSpPr>
        <p:spPr bwMode="auto">
          <a:xfrm>
            <a:off x="4610100" y="4778375"/>
            <a:ext cx="338138"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dirty="0">
                <a:solidFill>
                  <a:srgbClr val="000000"/>
                </a:solidFill>
                <a:latin typeface="Calibri"/>
                <a:ea typeface="+mn-ea"/>
              </a:rPr>
              <a:t>40</a:t>
            </a:r>
          </a:p>
        </p:txBody>
      </p:sp>
      <p:sp>
        <p:nvSpPr>
          <p:cNvPr id="56" name="Text Box 439">
            <a:extLst>
              <a:ext uri="{FF2B5EF4-FFF2-40B4-BE49-F238E27FC236}">
                <a16:creationId xmlns:a16="http://schemas.microsoft.com/office/drawing/2014/main" id="{F833A9AE-4C0A-4CA6-913A-55A2F039AC83}"/>
              </a:ext>
            </a:extLst>
          </p:cNvPr>
          <p:cNvSpPr txBox="1">
            <a:spLocks noChangeArrowheads="1"/>
          </p:cNvSpPr>
          <p:nvPr/>
        </p:nvSpPr>
        <p:spPr bwMode="auto">
          <a:xfrm>
            <a:off x="5486400" y="4778375"/>
            <a:ext cx="338138"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12</a:t>
            </a:r>
          </a:p>
        </p:txBody>
      </p:sp>
      <p:sp>
        <p:nvSpPr>
          <p:cNvPr id="57" name="Line 440">
            <a:extLst>
              <a:ext uri="{FF2B5EF4-FFF2-40B4-BE49-F238E27FC236}">
                <a16:creationId xmlns:a16="http://schemas.microsoft.com/office/drawing/2014/main" id="{B5FD2280-2A4D-4E67-905B-24F3B33CF53D}"/>
              </a:ext>
            </a:extLst>
          </p:cNvPr>
          <p:cNvSpPr>
            <a:spLocks noChangeShapeType="1"/>
          </p:cNvSpPr>
          <p:nvPr/>
        </p:nvSpPr>
        <p:spPr bwMode="auto">
          <a:xfrm>
            <a:off x="4378325" y="3740150"/>
            <a:ext cx="609600" cy="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58" name="Line 441">
            <a:extLst>
              <a:ext uri="{FF2B5EF4-FFF2-40B4-BE49-F238E27FC236}">
                <a16:creationId xmlns:a16="http://schemas.microsoft.com/office/drawing/2014/main" id="{000B709A-132C-49DE-A855-11D495B8D1A9}"/>
              </a:ext>
            </a:extLst>
          </p:cNvPr>
          <p:cNvSpPr>
            <a:spLocks noChangeShapeType="1"/>
          </p:cNvSpPr>
          <p:nvPr/>
        </p:nvSpPr>
        <p:spPr bwMode="auto">
          <a:xfrm>
            <a:off x="4987925" y="3736975"/>
            <a:ext cx="0" cy="12700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59" name="Line 442">
            <a:extLst>
              <a:ext uri="{FF2B5EF4-FFF2-40B4-BE49-F238E27FC236}">
                <a16:creationId xmlns:a16="http://schemas.microsoft.com/office/drawing/2014/main" id="{4AD3E63B-A055-4EF5-8FAB-564BB71F576A}"/>
              </a:ext>
            </a:extLst>
          </p:cNvPr>
          <p:cNvSpPr>
            <a:spLocks noChangeShapeType="1"/>
          </p:cNvSpPr>
          <p:nvPr/>
        </p:nvSpPr>
        <p:spPr bwMode="auto">
          <a:xfrm>
            <a:off x="3035300" y="6061075"/>
            <a:ext cx="1952625" cy="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60" name="Line 443">
            <a:extLst>
              <a:ext uri="{FF2B5EF4-FFF2-40B4-BE49-F238E27FC236}">
                <a16:creationId xmlns:a16="http://schemas.microsoft.com/office/drawing/2014/main" id="{5766659A-23CB-4463-BA14-0F5842258978}"/>
              </a:ext>
            </a:extLst>
          </p:cNvPr>
          <p:cNvSpPr>
            <a:spLocks noChangeShapeType="1"/>
          </p:cNvSpPr>
          <p:nvPr/>
        </p:nvSpPr>
        <p:spPr bwMode="auto">
          <a:xfrm flipH="1" flipV="1">
            <a:off x="4978400" y="5327650"/>
            <a:ext cx="9525" cy="733425"/>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61" name="Text Box 449">
            <a:extLst>
              <a:ext uri="{FF2B5EF4-FFF2-40B4-BE49-F238E27FC236}">
                <a16:creationId xmlns:a16="http://schemas.microsoft.com/office/drawing/2014/main" id="{72A8A2CA-696D-461E-9BFF-D77702F1A36D}"/>
              </a:ext>
            </a:extLst>
          </p:cNvPr>
          <p:cNvSpPr txBox="1">
            <a:spLocks noChangeArrowheads="1"/>
          </p:cNvSpPr>
          <p:nvPr/>
        </p:nvSpPr>
        <p:spPr bwMode="auto">
          <a:xfrm>
            <a:off x="685800" y="3590925"/>
            <a:ext cx="606425" cy="611187"/>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600" b="1" i="1" dirty="0">
                <a:solidFill>
                  <a:srgbClr val="000000"/>
                </a:solidFill>
                <a:latin typeface="Calibri"/>
                <a:ea typeface="+mn-ea"/>
              </a:rPr>
              <a:t>TLB</a:t>
            </a:r>
          </a:p>
          <a:p>
            <a:pPr>
              <a:lnSpc>
                <a:spcPct val="90000"/>
              </a:lnSpc>
              <a:spcBef>
                <a:spcPct val="30000"/>
              </a:spcBef>
              <a:defRPr/>
            </a:pPr>
            <a:r>
              <a:rPr kumimoji="0" lang="en-US" sz="1600" b="1" i="1" dirty="0">
                <a:solidFill>
                  <a:srgbClr val="000000"/>
                </a:solidFill>
                <a:latin typeface="Calibri"/>
                <a:ea typeface="+mn-ea"/>
              </a:rPr>
              <a:t>miss</a:t>
            </a:r>
          </a:p>
        </p:txBody>
      </p:sp>
      <p:sp>
        <p:nvSpPr>
          <p:cNvPr id="62" name="Text Box 450">
            <a:extLst>
              <a:ext uri="{FF2B5EF4-FFF2-40B4-BE49-F238E27FC236}">
                <a16:creationId xmlns:a16="http://schemas.microsoft.com/office/drawing/2014/main" id="{56FA5336-A5C1-4F36-ADC3-0FB9A2172C07}"/>
              </a:ext>
            </a:extLst>
          </p:cNvPr>
          <p:cNvSpPr txBox="1">
            <a:spLocks noChangeArrowheads="1"/>
          </p:cNvSpPr>
          <p:nvPr/>
        </p:nvSpPr>
        <p:spPr bwMode="auto">
          <a:xfrm>
            <a:off x="4514850" y="3152775"/>
            <a:ext cx="549275" cy="611187"/>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600" b="1" i="1" dirty="0">
                <a:solidFill>
                  <a:srgbClr val="000000"/>
                </a:solidFill>
                <a:latin typeface="Calibri"/>
                <a:ea typeface="+mn-ea"/>
              </a:rPr>
              <a:t>TLB</a:t>
            </a:r>
          </a:p>
          <a:p>
            <a:pPr>
              <a:lnSpc>
                <a:spcPct val="90000"/>
              </a:lnSpc>
              <a:spcBef>
                <a:spcPct val="30000"/>
              </a:spcBef>
              <a:defRPr/>
            </a:pPr>
            <a:r>
              <a:rPr kumimoji="0" lang="en-US" sz="1600" b="1" i="1" dirty="0">
                <a:solidFill>
                  <a:srgbClr val="000000"/>
                </a:solidFill>
                <a:latin typeface="Calibri"/>
                <a:ea typeface="+mn-ea"/>
              </a:rPr>
              <a:t>hit</a:t>
            </a:r>
          </a:p>
        </p:txBody>
      </p:sp>
      <p:sp>
        <p:nvSpPr>
          <p:cNvPr id="63" name="Line 451">
            <a:extLst>
              <a:ext uri="{FF2B5EF4-FFF2-40B4-BE49-F238E27FC236}">
                <a16:creationId xmlns:a16="http://schemas.microsoft.com/office/drawing/2014/main" id="{5B497BC4-FF0E-495D-A6E2-4E73297410FE}"/>
              </a:ext>
            </a:extLst>
          </p:cNvPr>
          <p:cNvSpPr>
            <a:spLocks noChangeShapeType="1"/>
          </p:cNvSpPr>
          <p:nvPr/>
        </p:nvSpPr>
        <p:spPr bwMode="auto">
          <a:xfrm>
            <a:off x="2168525" y="2187575"/>
            <a:ext cx="3276600" cy="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64" name="Line 452">
            <a:extLst>
              <a:ext uri="{FF2B5EF4-FFF2-40B4-BE49-F238E27FC236}">
                <a16:creationId xmlns:a16="http://schemas.microsoft.com/office/drawing/2014/main" id="{57503B2E-137A-4989-80C8-3365ACE1E176}"/>
              </a:ext>
            </a:extLst>
          </p:cNvPr>
          <p:cNvSpPr>
            <a:spLocks noChangeShapeType="1"/>
          </p:cNvSpPr>
          <p:nvPr/>
        </p:nvSpPr>
        <p:spPr bwMode="auto">
          <a:xfrm>
            <a:off x="5445125" y="2187575"/>
            <a:ext cx="0" cy="28194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65" name="Text Box 453">
            <a:extLst>
              <a:ext uri="{FF2B5EF4-FFF2-40B4-BE49-F238E27FC236}">
                <a16:creationId xmlns:a16="http://schemas.microsoft.com/office/drawing/2014/main" id="{268B51D9-033A-4BAA-9E5D-D2F12CE65B7E}"/>
              </a:ext>
            </a:extLst>
          </p:cNvPr>
          <p:cNvSpPr txBox="1">
            <a:spLocks noChangeArrowheads="1"/>
          </p:cNvSpPr>
          <p:nvPr/>
        </p:nvSpPr>
        <p:spPr bwMode="auto">
          <a:xfrm>
            <a:off x="5915025" y="5260975"/>
            <a:ext cx="865188" cy="906462"/>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600" b="1" dirty="0">
                <a:solidFill>
                  <a:srgbClr val="000000"/>
                </a:solidFill>
                <a:latin typeface="Calibri"/>
                <a:ea typeface="+mn-ea"/>
              </a:rPr>
              <a:t>Physical</a:t>
            </a:r>
          </a:p>
          <a:p>
            <a:pPr algn="ctr">
              <a:lnSpc>
                <a:spcPct val="90000"/>
              </a:lnSpc>
              <a:spcBef>
                <a:spcPct val="30000"/>
              </a:spcBef>
              <a:defRPr/>
            </a:pPr>
            <a:r>
              <a:rPr kumimoji="0" lang="en-US" sz="1600" b="1" dirty="0">
                <a:solidFill>
                  <a:srgbClr val="000000"/>
                </a:solidFill>
                <a:latin typeface="Calibri"/>
                <a:ea typeface="+mn-ea"/>
              </a:rPr>
              <a:t>address </a:t>
            </a:r>
          </a:p>
          <a:p>
            <a:pPr algn="ctr">
              <a:lnSpc>
                <a:spcPct val="90000"/>
              </a:lnSpc>
              <a:spcBef>
                <a:spcPct val="30000"/>
              </a:spcBef>
              <a:defRPr/>
            </a:pPr>
            <a:r>
              <a:rPr kumimoji="0" lang="en-US" sz="1600" b="1" dirty="0">
                <a:solidFill>
                  <a:srgbClr val="000000"/>
                </a:solidFill>
                <a:latin typeface="Calibri"/>
                <a:ea typeface="+mn-ea"/>
              </a:rPr>
              <a:t>(PA)</a:t>
            </a:r>
          </a:p>
        </p:txBody>
      </p:sp>
      <p:sp>
        <p:nvSpPr>
          <p:cNvPr id="66" name="Rectangle 454">
            <a:extLst>
              <a:ext uri="{FF2B5EF4-FFF2-40B4-BE49-F238E27FC236}">
                <a16:creationId xmlns:a16="http://schemas.microsoft.com/office/drawing/2014/main" id="{7223D4DE-C3A2-435C-95D0-B5ED05B0DE2E}"/>
              </a:ext>
            </a:extLst>
          </p:cNvPr>
          <p:cNvSpPr>
            <a:spLocks noChangeArrowheads="1"/>
          </p:cNvSpPr>
          <p:nvPr/>
        </p:nvSpPr>
        <p:spPr bwMode="auto">
          <a:xfrm>
            <a:off x="5445125" y="1273175"/>
            <a:ext cx="10668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Result</a:t>
            </a:r>
          </a:p>
        </p:txBody>
      </p:sp>
      <p:sp>
        <p:nvSpPr>
          <p:cNvPr id="67" name="Text Box 455">
            <a:extLst>
              <a:ext uri="{FF2B5EF4-FFF2-40B4-BE49-F238E27FC236}">
                <a16:creationId xmlns:a16="http://schemas.microsoft.com/office/drawing/2014/main" id="{2C5F577D-86C9-4F40-AE7C-362FF057DD12}"/>
              </a:ext>
            </a:extLst>
          </p:cNvPr>
          <p:cNvSpPr txBox="1">
            <a:spLocks noChangeArrowheads="1"/>
          </p:cNvSpPr>
          <p:nvPr/>
        </p:nvSpPr>
        <p:spPr bwMode="auto">
          <a:xfrm>
            <a:off x="5810250" y="1044575"/>
            <a:ext cx="560388"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dirty="0">
                <a:solidFill>
                  <a:srgbClr val="000000"/>
                </a:solidFill>
                <a:latin typeface="Calibri"/>
                <a:ea typeface="+mn-ea"/>
              </a:rPr>
              <a:t>32/64</a:t>
            </a:r>
          </a:p>
        </p:txBody>
      </p:sp>
      <p:sp>
        <p:nvSpPr>
          <p:cNvPr id="68" name="Rectangle 456">
            <a:extLst>
              <a:ext uri="{FF2B5EF4-FFF2-40B4-BE49-F238E27FC236}">
                <a16:creationId xmlns:a16="http://schemas.microsoft.com/office/drawing/2014/main" id="{0A59C25B-FB9F-4D52-9ED2-6D6C530C9E7F}"/>
              </a:ext>
            </a:extLst>
          </p:cNvPr>
          <p:cNvSpPr>
            <a:spLocks noChangeArrowheads="1"/>
          </p:cNvSpPr>
          <p:nvPr/>
        </p:nvSpPr>
        <p:spPr bwMode="auto">
          <a:xfrm>
            <a:off x="5749925" y="34067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69" name="Rectangle 457">
            <a:extLst>
              <a:ext uri="{FF2B5EF4-FFF2-40B4-BE49-F238E27FC236}">
                <a16:creationId xmlns:a16="http://schemas.microsoft.com/office/drawing/2014/main" id="{870BB9EE-BFC8-420F-AFF9-35D8EE676ACD}"/>
              </a:ext>
            </a:extLst>
          </p:cNvPr>
          <p:cNvSpPr>
            <a:spLocks noChangeArrowheads="1"/>
          </p:cNvSpPr>
          <p:nvPr/>
        </p:nvSpPr>
        <p:spPr bwMode="auto">
          <a:xfrm>
            <a:off x="6283325" y="34067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0" name="Rectangle 458">
            <a:extLst>
              <a:ext uri="{FF2B5EF4-FFF2-40B4-BE49-F238E27FC236}">
                <a16:creationId xmlns:a16="http://schemas.microsoft.com/office/drawing/2014/main" id="{B6F57A48-BEC7-4213-AA5F-0E5D1EA4259A}"/>
              </a:ext>
            </a:extLst>
          </p:cNvPr>
          <p:cNvSpPr>
            <a:spLocks noChangeArrowheads="1"/>
          </p:cNvSpPr>
          <p:nvPr/>
        </p:nvSpPr>
        <p:spPr bwMode="auto">
          <a:xfrm>
            <a:off x="6816725" y="34067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1" name="Rectangle 459">
            <a:extLst>
              <a:ext uri="{FF2B5EF4-FFF2-40B4-BE49-F238E27FC236}">
                <a16:creationId xmlns:a16="http://schemas.microsoft.com/office/drawing/2014/main" id="{0CAEEF4D-D1FD-4FDA-B0D0-EA03E1E0F5A5}"/>
              </a:ext>
            </a:extLst>
          </p:cNvPr>
          <p:cNvSpPr>
            <a:spLocks noChangeArrowheads="1"/>
          </p:cNvSpPr>
          <p:nvPr/>
        </p:nvSpPr>
        <p:spPr bwMode="auto">
          <a:xfrm>
            <a:off x="7350125" y="34067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2" name="Rectangle 460">
            <a:extLst>
              <a:ext uri="{FF2B5EF4-FFF2-40B4-BE49-F238E27FC236}">
                <a16:creationId xmlns:a16="http://schemas.microsoft.com/office/drawing/2014/main" id="{A56CBA6C-7AB9-43E1-845F-3997CCB8F5FA}"/>
              </a:ext>
            </a:extLst>
          </p:cNvPr>
          <p:cNvSpPr>
            <a:spLocks noChangeArrowheads="1"/>
          </p:cNvSpPr>
          <p:nvPr/>
        </p:nvSpPr>
        <p:spPr bwMode="auto">
          <a:xfrm>
            <a:off x="5749925" y="35591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3" name="Rectangle 461">
            <a:extLst>
              <a:ext uri="{FF2B5EF4-FFF2-40B4-BE49-F238E27FC236}">
                <a16:creationId xmlns:a16="http://schemas.microsoft.com/office/drawing/2014/main" id="{1EAAA38A-F239-4A40-BA53-DD18D2A42EE1}"/>
              </a:ext>
            </a:extLst>
          </p:cNvPr>
          <p:cNvSpPr>
            <a:spLocks noChangeArrowheads="1"/>
          </p:cNvSpPr>
          <p:nvPr/>
        </p:nvSpPr>
        <p:spPr bwMode="auto">
          <a:xfrm>
            <a:off x="6283325" y="35591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4" name="Rectangle 462">
            <a:extLst>
              <a:ext uri="{FF2B5EF4-FFF2-40B4-BE49-F238E27FC236}">
                <a16:creationId xmlns:a16="http://schemas.microsoft.com/office/drawing/2014/main" id="{BD6745C1-E341-48ED-A185-FF4FA2D9756D}"/>
              </a:ext>
            </a:extLst>
          </p:cNvPr>
          <p:cNvSpPr>
            <a:spLocks noChangeArrowheads="1"/>
          </p:cNvSpPr>
          <p:nvPr/>
        </p:nvSpPr>
        <p:spPr bwMode="auto">
          <a:xfrm>
            <a:off x="6816725" y="35591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5" name="Rectangle 463">
            <a:extLst>
              <a:ext uri="{FF2B5EF4-FFF2-40B4-BE49-F238E27FC236}">
                <a16:creationId xmlns:a16="http://schemas.microsoft.com/office/drawing/2014/main" id="{3DD9C917-26B5-4429-8395-9BA299733345}"/>
              </a:ext>
            </a:extLst>
          </p:cNvPr>
          <p:cNvSpPr>
            <a:spLocks noChangeArrowheads="1"/>
          </p:cNvSpPr>
          <p:nvPr/>
        </p:nvSpPr>
        <p:spPr bwMode="auto">
          <a:xfrm>
            <a:off x="7350125" y="35591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6" name="Rectangle 464">
            <a:extLst>
              <a:ext uri="{FF2B5EF4-FFF2-40B4-BE49-F238E27FC236}">
                <a16:creationId xmlns:a16="http://schemas.microsoft.com/office/drawing/2014/main" id="{058D185F-32BF-4555-A5F1-0E4F9578323F}"/>
              </a:ext>
            </a:extLst>
          </p:cNvPr>
          <p:cNvSpPr>
            <a:spLocks noChangeArrowheads="1"/>
          </p:cNvSpPr>
          <p:nvPr/>
        </p:nvSpPr>
        <p:spPr bwMode="auto">
          <a:xfrm>
            <a:off x="5749925" y="3711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7" name="Rectangle 465">
            <a:extLst>
              <a:ext uri="{FF2B5EF4-FFF2-40B4-BE49-F238E27FC236}">
                <a16:creationId xmlns:a16="http://schemas.microsoft.com/office/drawing/2014/main" id="{65E60208-F208-4148-95DF-3B5446F60A9E}"/>
              </a:ext>
            </a:extLst>
          </p:cNvPr>
          <p:cNvSpPr>
            <a:spLocks noChangeArrowheads="1"/>
          </p:cNvSpPr>
          <p:nvPr/>
        </p:nvSpPr>
        <p:spPr bwMode="auto">
          <a:xfrm>
            <a:off x="6283325" y="3711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8" name="Rectangle 466">
            <a:extLst>
              <a:ext uri="{FF2B5EF4-FFF2-40B4-BE49-F238E27FC236}">
                <a16:creationId xmlns:a16="http://schemas.microsoft.com/office/drawing/2014/main" id="{01D97E8F-320C-472E-8A5B-E625C4925D7D}"/>
              </a:ext>
            </a:extLst>
          </p:cNvPr>
          <p:cNvSpPr>
            <a:spLocks noChangeArrowheads="1"/>
          </p:cNvSpPr>
          <p:nvPr/>
        </p:nvSpPr>
        <p:spPr bwMode="auto">
          <a:xfrm>
            <a:off x="6816725" y="3711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79" name="Rectangle 467">
            <a:extLst>
              <a:ext uri="{FF2B5EF4-FFF2-40B4-BE49-F238E27FC236}">
                <a16:creationId xmlns:a16="http://schemas.microsoft.com/office/drawing/2014/main" id="{03A5D6B0-8D6A-4DE0-BF52-A1D19583DBA5}"/>
              </a:ext>
            </a:extLst>
          </p:cNvPr>
          <p:cNvSpPr>
            <a:spLocks noChangeArrowheads="1"/>
          </p:cNvSpPr>
          <p:nvPr/>
        </p:nvSpPr>
        <p:spPr bwMode="auto">
          <a:xfrm>
            <a:off x="7350125" y="3711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80" name="Rectangle 468">
            <a:extLst>
              <a:ext uri="{FF2B5EF4-FFF2-40B4-BE49-F238E27FC236}">
                <a16:creationId xmlns:a16="http://schemas.microsoft.com/office/drawing/2014/main" id="{891C4D29-BA22-48F4-8B71-CCD8A6E4F5A7}"/>
              </a:ext>
            </a:extLst>
          </p:cNvPr>
          <p:cNvSpPr>
            <a:spLocks noChangeArrowheads="1"/>
          </p:cNvSpPr>
          <p:nvPr/>
        </p:nvSpPr>
        <p:spPr bwMode="auto">
          <a:xfrm>
            <a:off x="5749925" y="4092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81" name="Rectangle 469">
            <a:extLst>
              <a:ext uri="{FF2B5EF4-FFF2-40B4-BE49-F238E27FC236}">
                <a16:creationId xmlns:a16="http://schemas.microsoft.com/office/drawing/2014/main" id="{F8A803C4-6BB7-47C2-BFE7-E8241F56756B}"/>
              </a:ext>
            </a:extLst>
          </p:cNvPr>
          <p:cNvSpPr>
            <a:spLocks noChangeArrowheads="1"/>
          </p:cNvSpPr>
          <p:nvPr/>
        </p:nvSpPr>
        <p:spPr bwMode="auto">
          <a:xfrm>
            <a:off x="6283325" y="4092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82" name="Rectangle 470">
            <a:extLst>
              <a:ext uri="{FF2B5EF4-FFF2-40B4-BE49-F238E27FC236}">
                <a16:creationId xmlns:a16="http://schemas.microsoft.com/office/drawing/2014/main" id="{BBBB39FE-B353-45CE-A649-51F5175498F8}"/>
              </a:ext>
            </a:extLst>
          </p:cNvPr>
          <p:cNvSpPr>
            <a:spLocks noChangeArrowheads="1"/>
          </p:cNvSpPr>
          <p:nvPr/>
        </p:nvSpPr>
        <p:spPr bwMode="auto">
          <a:xfrm>
            <a:off x="6816725" y="4092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83" name="Rectangle 471">
            <a:extLst>
              <a:ext uri="{FF2B5EF4-FFF2-40B4-BE49-F238E27FC236}">
                <a16:creationId xmlns:a16="http://schemas.microsoft.com/office/drawing/2014/main" id="{8780B69C-27C2-4EA0-8586-47D1FA7BE31F}"/>
              </a:ext>
            </a:extLst>
          </p:cNvPr>
          <p:cNvSpPr>
            <a:spLocks noChangeArrowheads="1"/>
          </p:cNvSpPr>
          <p:nvPr/>
        </p:nvSpPr>
        <p:spPr bwMode="auto">
          <a:xfrm>
            <a:off x="7350125" y="4092575"/>
            <a:ext cx="533400" cy="1524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nSpc>
                <a:spcPct val="90000"/>
              </a:lnSpc>
              <a:spcBef>
                <a:spcPct val="30000"/>
              </a:spcBef>
              <a:defRPr/>
            </a:pPr>
            <a:endParaRPr kumimoji="0" lang="en-US" sz="1600" b="1">
              <a:solidFill>
                <a:srgbClr val="000000"/>
              </a:solidFill>
              <a:latin typeface="Calibri"/>
              <a:ea typeface="+mn-ea"/>
            </a:endParaRPr>
          </a:p>
        </p:txBody>
      </p:sp>
      <p:sp>
        <p:nvSpPr>
          <p:cNvPr id="84" name="Text Box 472">
            <a:extLst>
              <a:ext uri="{FF2B5EF4-FFF2-40B4-BE49-F238E27FC236}">
                <a16:creationId xmlns:a16="http://schemas.microsoft.com/office/drawing/2014/main" id="{F80B38AB-1E6A-4826-AAC9-241340CB6AD7}"/>
              </a:ext>
            </a:extLst>
          </p:cNvPr>
          <p:cNvSpPr txBox="1">
            <a:spLocks noChangeArrowheads="1"/>
          </p:cNvSpPr>
          <p:nvPr/>
        </p:nvSpPr>
        <p:spPr bwMode="auto">
          <a:xfrm>
            <a:off x="6719888" y="3841750"/>
            <a:ext cx="407987" cy="257175"/>
          </a:xfrm>
          <a:prstGeom prst="rect">
            <a:avLst/>
          </a:prstGeom>
          <a:noFill/>
          <a:ln w="9525">
            <a:noFill/>
            <a:miter lim="800000"/>
            <a:headEnd/>
            <a:tailEnd/>
          </a:ln>
          <a:effectLst/>
        </p:spPr>
        <p:txBody>
          <a:bodyPr vert="eaVert" wrap="none" lIns="90487" tIns="44450" rIns="90487" bIns="44450">
            <a:spAutoFit/>
          </a:bodyPr>
          <a:lstStyle/>
          <a:p>
            <a:pPr>
              <a:lnSpc>
                <a:spcPct val="90000"/>
              </a:lnSpc>
              <a:spcBef>
                <a:spcPct val="30000"/>
              </a:spcBef>
              <a:defRPr/>
            </a:pPr>
            <a:r>
              <a:rPr kumimoji="0" lang="en-US" sz="1600" b="1">
                <a:solidFill>
                  <a:srgbClr val="000000"/>
                </a:solidFill>
                <a:latin typeface="Calibri"/>
                <a:ea typeface="+mn-ea"/>
              </a:rPr>
              <a:t>...</a:t>
            </a:r>
          </a:p>
        </p:txBody>
      </p:sp>
      <p:sp>
        <p:nvSpPr>
          <p:cNvPr id="85" name="Line 473">
            <a:extLst>
              <a:ext uri="{FF2B5EF4-FFF2-40B4-BE49-F238E27FC236}">
                <a16:creationId xmlns:a16="http://schemas.microsoft.com/office/drawing/2014/main" id="{5F6848FF-2EE9-488A-B42F-2C443B28A425}"/>
              </a:ext>
            </a:extLst>
          </p:cNvPr>
          <p:cNvSpPr>
            <a:spLocks noChangeShapeType="1"/>
          </p:cNvSpPr>
          <p:nvPr/>
        </p:nvSpPr>
        <p:spPr bwMode="auto">
          <a:xfrm>
            <a:off x="6130925" y="5159375"/>
            <a:ext cx="457200" cy="0"/>
          </a:xfrm>
          <a:prstGeom prst="line">
            <a:avLst/>
          </a:prstGeom>
          <a:noFill/>
          <a:ln w="57150">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86" name="Line 474">
            <a:extLst>
              <a:ext uri="{FF2B5EF4-FFF2-40B4-BE49-F238E27FC236}">
                <a16:creationId xmlns:a16="http://schemas.microsoft.com/office/drawing/2014/main" id="{BFE8E537-EC65-40FB-802E-506A75DF0AC8}"/>
              </a:ext>
            </a:extLst>
          </p:cNvPr>
          <p:cNvSpPr>
            <a:spLocks noChangeShapeType="1"/>
          </p:cNvSpPr>
          <p:nvPr/>
        </p:nvSpPr>
        <p:spPr bwMode="auto">
          <a:xfrm flipV="1">
            <a:off x="7121525" y="4625975"/>
            <a:ext cx="0" cy="38100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87" name="Line 475">
            <a:extLst>
              <a:ext uri="{FF2B5EF4-FFF2-40B4-BE49-F238E27FC236}">
                <a16:creationId xmlns:a16="http://schemas.microsoft.com/office/drawing/2014/main" id="{1B7D6A86-AA23-4F1E-A771-6D8B28EE00DE}"/>
              </a:ext>
            </a:extLst>
          </p:cNvPr>
          <p:cNvSpPr>
            <a:spLocks noChangeShapeType="1"/>
          </p:cNvSpPr>
          <p:nvPr/>
        </p:nvSpPr>
        <p:spPr bwMode="auto">
          <a:xfrm flipV="1">
            <a:off x="8493125" y="4625975"/>
            <a:ext cx="0" cy="38100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88" name="Line 476">
            <a:extLst>
              <a:ext uri="{FF2B5EF4-FFF2-40B4-BE49-F238E27FC236}">
                <a16:creationId xmlns:a16="http://schemas.microsoft.com/office/drawing/2014/main" id="{C3E0116B-F474-42FF-BD01-804ED1939ADB}"/>
              </a:ext>
            </a:extLst>
          </p:cNvPr>
          <p:cNvSpPr>
            <a:spLocks noChangeShapeType="1"/>
          </p:cNvSpPr>
          <p:nvPr/>
        </p:nvSpPr>
        <p:spPr bwMode="auto">
          <a:xfrm>
            <a:off x="5888038" y="4621212"/>
            <a:ext cx="2605087" cy="4763"/>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89" name="Line 477">
            <a:extLst>
              <a:ext uri="{FF2B5EF4-FFF2-40B4-BE49-F238E27FC236}">
                <a16:creationId xmlns:a16="http://schemas.microsoft.com/office/drawing/2014/main" id="{6910791A-C318-4B10-81B7-3618A7E64F60}"/>
              </a:ext>
            </a:extLst>
          </p:cNvPr>
          <p:cNvSpPr>
            <a:spLocks noChangeShapeType="1"/>
          </p:cNvSpPr>
          <p:nvPr/>
        </p:nvSpPr>
        <p:spPr bwMode="auto">
          <a:xfrm flipV="1">
            <a:off x="5889625" y="4244975"/>
            <a:ext cx="0" cy="3810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0" name="Line 478">
            <a:extLst>
              <a:ext uri="{FF2B5EF4-FFF2-40B4-BE49-F238E27FC236}">
                <a16:creationId xmlns:a16="http://schemas.microsoft.com/office/drawing/2014/main" id="{42D79DC4-69D0-4547-B297-2823EA24C31C}"/>
              </a:ext>
            </a:extLst>
          </p:cNvPr>
          <p:cNvSpPr>
            <a:spLocks noChangeShapeType="1"/>
          </p:cNvSpPr>
          <p:nvPr/>
        </p:nvSpPr>
        <p:spPr bwMode="auto">
          <a:xfrm flipV="1">
            <a:off x="6435725" y="4244975"/>
            <a:ext cx="0" cy="37465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1" name="Line 479">
            <a:extLst>
              <a:ext uri="{FF2B5EF4-FFF2-40B4-BE49-F238E27FC236}">
                <a16:creationId xmlns:a16="http://schemas.microsoft.com/office/drawing/2014/main" id="{8CCE574A-EB6F-4ACE-BBA9-D298768B1BD7}"/>
              </a:ext>
            </a:extLst>
          </p:cNvPr>
          <p:cNvSpPr>
            <a:spLocks noChangeShapeType="1"/>
          </p:cNvSpPr>
          <p:nvPr/>
        </p:nvSpPr>
        <p:spPr bwMode="auto">
          <a:xfrm flipV="1">
            <a:off x="6959600" y="4244975"/>
            <a:ext cx="0" cy="3810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2" name="Line 480">
            <a:extLst>
              <a:ext uri="{FF2B5EF4-FFF2-40B4-BE49-F238E27FC236}">
                <a16:creationId xmlns:a16="http://schemas.microsoft.com/office/drawing/2014/main" id="{45AB9B44-6E69-4383-AFA1-69EAABA958EF}"/>
              </a:ext>
            </a:extLst>
          </p:cNvPr>
          <p:cNvSpPr>
            <a:spLocks noChangeShapeType="1"/>
          </p:cNvSpPr>
          <p:nvPr/>
        </p:nvSpPr>
        <p:spPr bwMode="auto">
          <a:xfrm flipV="1">
            <a:off x="7493000" y="4244975"/>
            <a:ext cx="0" cy="3810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3" name="Line 481">
            <a:extLst>
              <a:ext uri="{FF2B5EF4-FFF2-40B4-BE49-F238E27FC236}">
                <a16:creationId xmlns:a16="http://schemas.microsoft.com/office/drawing/2014/main" id="{9FF1EDCA-A270-49A7-94C9-723F1F023AEB}"/>
              </a:ext>
            </a:extLst>
          </p:cNvPr>
          <p:cNvSpPr>
            <a:spLocks noChangeShapeType="1"/>
          </p:cNvSpPr>
          <p:nvPr/>
        </p:nvSpPr>
        <p:spPr bwMode="auto">
          <a:xfrm flipV="1">
            <a:off x="8188325" y="3482975"/>
            <a:ext cx="0" cy="152400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4" name="Line 482">
            <a:extLst>
              <a:ext uri="{FF2B5EF4-FFF2-40B4-BE49-F238E27FC236}">
                <a16:creationId xmlns:a16="http://schemas.microsoft.com/office/drawing/2014/main" id="{38D45620-CBCE-41FB-A53A-DF7C09FFF9BD}"/>
              </a:ext>
            </a:extLst>
          </p:cNvPr>
          <p:cNvSpPr>
            <a:spLocks noChangeShapeType="1"/>
          </p:cNvSpPr>
          <p:nvPr/>
        </p:nvSpPr>
        <p:spPr bwMode="auto">
          <a:xfrm flipH="1">
            <a:off x="7883525" y="3482975"/>
            <a:ext cx="3048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5" name="Line 483">
            <a:extLst>
              <a:ext uri="{FF2B5EF4-FFF2-40B4-BE49-F238E27FC236}">
                <a16:creationId xmlns:a16="http://schemas.microsoft.com/office/drawing/2014/main" id="{AD7E2426-6A9D-4170-A79E-849364ED3D61}"/>
              </a:ext>
            </a:extLst>
          </p:cNvPr>
          <p:cNvSpPr>
            <a:spLocks noChangeShapeType="1"/>
          </p:cNvSpPr>
          <p:nvPr/>
        </p:nvSpPr>
        <p:spPr bwMode="auto">
          <a:xfrm flipH="1">
            <a:off x="7883525" y="3635375"/>
            <a:ext cx="3048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6" name="Line 484">
            <a:extLst>
              <a:ext uri="{FF2B5EF4-FFF2-40B4-BE49-F238E27FC236}">
                <a16:creationId xmlns:a16="http://schemas.microsoft.com/office/drawing/2014/main" id="{FDBF7139-B4D4-4C3A-BFAB-B5863226A372}"/>
              </a:ext>
            </a:extLst>
          </p:cNvPr>
          <p:cNvSpPr>
            <a:spLocks noChangeShapeType="1"/>
          </p:cNvSpPr>
          <p:nvPr/>
        </p:nvSpPr>
        <p:spPr bwMode="auto">
          <a:xfrm flipH="1">
            <a:off x="7883525" y="3787775"/>
            <a:ext cx="3048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7" name="Line 485">
            <a:extLst>
              <a:ext uri="{FF2B5EF4-FFF2-40B4-BE49-F238E27FC236}">
                <a16:creationId xmlns:a16="http://schemas.microsoft.com/office/drawing/2014/main" id="{228AD5DA-839F-4C06-9380-0A2BACFDEF30}"/>
              </a:ext>
            </a:extLst>
          </p:cNvPr>
          <p:cNvSpPr>
            <a:spLocks noChangeShapeType="1"/>
          </p:cNvSpPr>
          <p:nvPr/>
        </p:nvSpPr>
        <p:spPr bwMode="auto">
          <a:xfrm flipH="1">
            <a:off x="7883525" y="4168775"/>
            <a:ext cx="3048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8" name="Line 429">
            <a:extLst>
              <a:ext uri="{FF2B5EF4-FFF2-40B4-BE49-F238E27FC236}">
                <a16:creationId xmlns:a16="http://schemas.microsoft.com/office/drawing/2014/main" id="{3C8BD320-13C1-4DA2-B190-1447614B12D0}"/>
              </a:ext>
            </a:extLst>
          </p:cNvPr>
          <p:cNvSpPr>
            <a:spLocks noChangeShapeType="1"/>
          </p:cNvSpPr>
          <p:nvPr/>
        </p:nvSpPr>
        <p:spPr bwMode="auto">
          <a:xfrm>
            <a:off x="658813" y="5222875"/>
            <a:ext cx="0" cy="776287"/>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99" name="Line 430">
            <a:extLst>
              <a:ext uri="{FF2B5EF4-FFF2-40B4-BE49-F238E27FC236}">
                <a16:creationId xmlns:a16="http://schemas.microsoft.com/office/drawing/2014/main" id="{267DA233-9AA7-4CF2-AE51-EC888BE98022}"/>
              </a:ext>
            </a:extLst>
          </p:cNvPr>
          <p:cNvSpPr>
            <a:spLocks noChangeShapeType="1"/>
          </p:cNvSpPr>
          <p:nvPr/>
        </p:nvSpPr>
        <p:spPr bwMode="auto">
          <a:xfrm flipV="1">
            <a:off x="658813" y="5999162"/>
            <a:ext cx="133350" cy="9525"/>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1400" b="1">
              <a:solidFill>
                <a:srgbClr val="000000"/>
              </a:solidFill>
              <a:latin typeface="Calibri"/>
              <a:ea typeface="+mn-ea"/>
            </a:endParaRPr>
          </a:p>
        </p:txBody>
      </p:sp>
      <p:sp>
        <p:nvSpPr>
          <p:cNvPr id="100" name="Oval 486">
            <a:extLst>
              <a:ext uri="{FF2B5EF4-FFF2-40B4-BE49-F238E27FC236}">
                <a16:creationId xmlns:a16="http://schemas.microsoft.com/office/drawing/2014/main" id="{084C1FB9-C970-4987-878D-F77A9BA1D7A8}"/>
              </a:ext>
            </a:extLst>
          </p:cNvPr>
          <p:cNvSpPr>
            <a:spLocks noChangeArrowheads="1"/>
          </p:cNvSpPr>
          <p:nvPr/>
        </p:nvSpPr>
        <p:spPr bwMode="auto">
          <a:xfrm>
            <a:off x="623888" y="5184775"/>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01" name="Oval 487">
            <a:extLst>
              <a:ext uri="{FF2B5EF4-FFF2-40B4-BE49-F238E27FC236}">
                <a16:creationId xmlns:a16="http://schemas.microsoft.com/office/drawing/2014/main" id="{06651F15-EA44-4EFB-9E59-8DC75CC1E525}"/>
              </a:ext>
            </a:extLst>
          </p:cNvPr>
          <p:cNvSpPr>
            <a:spLocks noChangeArrowheads="1"/>
          </p:cNvSpPr>
          <p:nvPr/>
        </p:nvSpPr>
        <p:spPr bwMode="auto">
          <a:xfrm>
            <a:off x="695325" y="2238375"/>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02" name="Oval 488">
            <a:extLst>
              <a:ext uri="{FF2B5EF4-FFF2-40B4-BE49-F238E27FC236}">
                <a16:creationId xmlns:a16="http://schemas.microsoft.com/office/drawing/2014/main" id="{9EF4A062-889D-4B9B-98FB-546B49094891}"/>
              </a:ext>
            </a:extLst>
          </p:cNvPr>
          <p:cNvSpPr>
            <a:spLocks noChangeArrowheads="1"/>
          </p:cNvSpPr>
          <p:nvPr/>
        </p:nvSpPr>
        <p:spPr bwMode="auto">
          <a:xfrm>
            <a:off x="2130425" y="2136775"/>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03" name="Oval 489">
            <a:extLst>
              <a:ext uri="{FF2B5EF4-FFF2-40B4-BE49-F238E27FC236}">
                <a16:creationId xmlns:a16="http://schemas.microsoft.com/office/drawing/2014/main" id="{37323A18-8B85-47BC-A283-28642710D09D}"/>
              </a:ext>
            </a:extLst>
          </p:cNvPr>
          <p:cNvSpPr>
            <a:spLocks noChangeArrowheads="1"/>
          </p:cNvSpPr>
          <p:nvPr/>
        </p:nvSpPr>
        <p:spPr bwMode="auto">
          <a:xfrm>
            <a:off x="1368425" y="2238375"/>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04" name="Line 491">
            <a:extLst>
              <a:ext uri="{FF2B5EF4-FFF2-40B4-BE49-F238E27FC236}">
                <a16:creationId xmlns:a16="http://schemas.microsoft.com/office/drawing/2014/main" id="{A5586323-C670-42B1-B6EE-4FC6864D1CFA}"/>
              </a:ext>
            </a:extLst>
          </p:cNvPr>
          <p:cNvSpPr>
            <a:spLocks noChangeShapeType="1"/>
          </p:cNvSpPr>
          <p:nvPr/>
        </p:nvSpPr>
        <p:spPr bwMode="auto">
          <a:xfrm flipH="1" flipV="1">
            <a:off x="6054725" y="1577975"/>
            <a:ext cx="0" cy="18288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05" name="Rectangle 492">
            <a:extLst>
              <a:ext uri="{FF2B5EF4-FFF2-40B4-BE49-F238E27FC236}">
                <a16:creationId xmlns:a16="http://schemas.microsoft.com/office/drawing/2014/main" id="{1859449B-8923-4AA6-B0D8-8333FED74455}"/>
              </a:ext>
            </a:extLst>
          </p:cNvPr>
          <p:cNvSpPr>
            <a:spLocks noChangeArrowheads="1"/>
          </p:cNvSpPr>
          <p:nvPr/>
        </p:nvSpPr>
        <p:spPr bwMode="auto">
          <a:xfrm>
            <a:off x="6892925" y="5006975"/>
            <a:ext cx="10668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altLang="zh-CN" sz="1600" b="1" dirty="0">
                <a:solidFill>
                  <a:srgbClr val="000000"/>
                </a:solidFill>
                <a:latin typeface="Calibri"/>
                <a:ea typeface="+mn-ea"/>
              </a:rPr>
              <a:t>Cache </a:t>
            </a:r>
            <a:r>
              <a:rPr kumimoji="0" lang="en-US" sz="1600" b="1" dirty="0">
                <a:solidFill>
                  <a:srgbClr val="000000"/>
                </a:solidFill>
                <a:latin typeface="Calibri"/>
                <a:ea typeface="+mn-ea"/>
              </a:rPr>
              <a:t>T</a:t>
            </a:r>
            <a:r>
              <a:rPr kumimoji="0" lang="en-US" altLang="zh-CN" sz="1600" b="1" dirty="0">
                <a:solidFill>
                  <a:srgbClr val="000000"/>
                </a:solidFill>
                <a:latin typeface="Calibri"/>
                <a:ea typeface="+mn-ea"/>
              </a:rPr>
              <a:t>ag</a:t>
            </a:r>
            <a:endParaRPr kumimoji="0" lang="en-US" sz="1600" b="1" dirty="0">
              <a:solidFill>
                <a:srgbClr val="000000"/>
              </a:solidFill>
              <a:latin typeface="Calibri"/>
              <a:ea typeface="+mn-ea"/>
            </a:endParaRPr>
          </a:p>
        </p:txBody>
      </p:sp>
      <p:sp>
        <p:nvSpPr>
          <p:cNvPr id="106" name="Rectangle 493">
            <a:extLst>
              <a:ext uri="{FF2B5EF4-FFF2-40B4-BE49-F238E27FC236}">
                <a16:creationId xmlns:a16="http://schemas.microsoft.com/office/drawing/2014/main" id="{CA937E04-A1D3-4895-B91E-75842E85AECC}"/>
              </a:ext>
            </a:extLst>
          </p:cNvPr>
          <p:cNvSpPr>
            <a:spLocks noChangeArrowheads="1"/>
          </p:cNvSpPr>
          <p:nvPr/>
        </p:nvSpPr>
        <p:spPr bwMode="auto">
          <a:xfrm>
            <a:off x="8264525" y="5006975"/>
            <a:ext cx="3048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CO</a:t>
            </a:r>
          </a:p>
        </p:txBody>
      </p:sp>
      <p:sp>
        <p:nvSpPr>
          <p:cNvPr id="107" name="Text Box 494">
            <a:extLst>
              <a:ext uri="{FF2B5EF4-FFF2-40B4-BE49-F238E27FC236}">
                <a16:creationId xmlns:a16="http://schemas.microsoft.com/office/drawing/2014/main" id="{F8F7266E-19DE-4240-865C-2EF3B4D0160D}"/>
              </a:ext>
            </a:extLst>
          </p:cNvPr>
          <p:cNvSpPr txBox="1">
            <a:spLocks noChangeArrowheads="1"/>
          </p:cNvSpPr>
          <p:nvPr/>
        </p:nvSpPr>
        <p:spPr bwMode="auto">
          <a:xfrm>
            <a:off x="7251700" y="4778375"/>
            <a:ext cx="338138"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40</a:t>
            </a:r>
          </a:p>
        </p:txBody>
      </p:sp>
      <p:sp>
        <p:nvSpPr>
          <p:cNvPr id="108" name="Text Box 495">
            <a:extLst>
              <a:ext uri="{FF2B5EF4-FFF2-40B4-BE49-F238E27FC236}">
                <a16:creationId xmlns:a16="http://schemas.microsoft.com/office/drawing/2014/main" id="{62E79738-F8D0-4E7D-BFFE-81EDBA860C48}"/>
              </a:ext>
            </a:extLst>
          </p:cNvPr>
          <p:cNvSpPr txBox="1">
            <a:spLocks noChangeArrowheads="1"/>
          </p:cNvSpPr>
          <p:nvPr/>
        </p:nvSpPr>
        <p:spPr bwMode="auto">
          <a:xfrm>
            <a:off x="8289925" y="4778375"/>
            <a:ext cx="260350"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6</a:t>
            </a:r>
          </a:p>
        </p:txBody>
      </p:sp>
      <p:sp>
        <p:nvSpPr>
          <p:cNvPr id="109" name="Rectangle 496">
            <a:extLst>
              <a:ext uri="{FF2B5EF4-FFF2-40B4-BE49-F238E27FC236}">
                <a16:creationId xmlns:a16="http://schemas.microsoft.com/office/drawing/2014/main" id="{E26FA959-CF27-4184-A1CB-59AFD3A07667}"/>
              </a:ext>
            </a:extLst>
          </p:cNvPr>
          <p:cNvSpPr>
            <a:spLocks noChangeArrowheads="1"/>
          </p:cNvSpPr>
          <p:nvPr/>
        </p:nvSpPr>
        <p:spPr bwMode="auto">
          <a:xfrm>
            <a:off x="7959725" y="5006975"/>
            <a:ext cx="3048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a:solidFill>
                  <a:srgbClr val="000000"/>
                </a:solidFill>
                <a:latin typeface="Calibri"/>
                <a:ea typeface="+mn-ea"/>
              </a:rPr>
              <a:t>CI</a:t>
            </a:r>
          </a:p>
        </p:txBody>
      </p:sp>
      <p:sp>
        <p:nvSpPr>
          <p:cNvPr id="110" name="Text Box 497">
            <a:extLst>
              <a:ext uri="{FF2B5EF4-FFF2-40B4-BE49-F238E27FC236}">
                <a16:creationId xmlns:a16="http://schemas.microsoft.com/office/drawing/2014/main" id="{65A8FD08-50FE-4F66-8D66-F7D22CE6E7A8}"/>
              </a:ext>
            </a:extLst>
          </p:cNvPr>
          <p:cNvSpPr txBox="1">
            <a:spLocks noChangeArrowheads="1"/>
          </p:cNvSpPr>
          <p:nvPr/>
        </p:nvSpPr>
        <p:spPr bwMode="auto">
          <a:xfrm>
            <a:off x="7959725" y="4778375"/>
            <a:ext cx="260350"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6</a:t>
            </a:r>
          </a:p>
        </p:txBody>
      </p:sp>
      <p:sp>
        <p:nvSpPr>
          <p:cNvPr id="111" name="Oval 498">
            <a:extLst>
              <a:ext uri="{FF2B5EF4-FFF2-40B4-BE49-F238E27FC236}">
                <a16:creationId xmlns:a16="http://schemas.microsoft.com/office/drawing/2014/main" id="{743E3D3A-6D15-4F0E-AA87-CCD4FDCBBAA9}"/>
              </a:ext>
            </a:extLst>
          </p:cNvPr>
          <p:cNvSpPr>
            <a:spLocks noChangeArrowheads="1"/>
          </p:cNvSpPr>
          <p:nvPr/>
        </p:nvSpPr>
        <p:spPr bwMode="auto">
          <a:xfrm>
            <a:off x="7083425" y="4968875"/>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12" name="Oval 499">
            <a:extLst>
              <a:ext uri="{FF2B5EF4-FFF2-40B4-BE49-F238E27FC236}">
                <a16:creationId xmlns:a16="http://schemas.microsoft.com/office/drawing/2014/main" id="{D5FFF3D7-9957-41C4-A373-7DFD48856B9B}"/>
              </a:ext>
            </a:extLst>
          </p:cNvPr>
          <p:cNvSpPr>
            <a:spLocks noChangeArrowheads="1"/>
          </p:cNvSpPr>
          <p:nvPr/>
        </p:nvSpPr>
        <p:spPr bwMode="auto">
          <a:xfrm>
            <a:off x="8137525" y="4968875"/>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13" name="Oval 500">
            <a:extLst>
              <a:ext uri="{FF2B5EF4-FFF2-40B4-BE49-F238E27FC236}">
                <a16:creationId xmlns:a16="http://schemas.microsoft.com/office/drawing/2014/main" id="{AB2DF955-C302-402F-BF89-746510704ECE}"/>
              </a:ext>
            </a:extLst>
          </p:cNvPr>
          <p:cNvSpPr>
            <a:spLocks noChangeArrowheads="1"/>
          </p:cNvSpPr>
          <p:nvPr/>
        </p:nvSpPr>
        <p:spPr bwMode="auto">
          <a:xfrm>
            <a:off x="8455025" y="4968875"/>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14" name="Line 501">
            <a:extLst>
              <a:ext uri="{FF2B5EF4-FFF2-40B4-BE49-F238E27FC236}">
                <a16:creationId xmlns:a16="http://schemas.microsoft.com/office/drawing/2014/main" id="{4F7A7396-DBE6-435B-B8D0-0D5D47008A0F}"/>
              </a:ext>
            </a:extLst>
          </p:cNvPr>
          <p:cNvSpPr>
            <a:spLocks noChangeShapeType="1"/>
          </p:cNvSpPr>
          <p:nvPr/>
        </p:nvSpPr>
        <p:spPr bwMode="auto">
          <a:xfrm>
            <a:off x="7883525" y="5692775"/>
            <a:ext cx="990600" cy="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15" name="Line 502">
            <a:extLst>
              <a:ext uri="{FF2B5EF4-FFF2-40B4-BE49-F238E27FC236}">
                <a16:creationId xmlns:a16="http://schemas.microsoft.com/office/drawing/2014/main" id="{54DCD41B-F9A2-4D91-8232-13E13A19E7CE}"/>
              </a:ext>
            </a:extLst>
          </p:cNvPr>
          <p:cNvSpPr>
            <a:spLocks noChangeShapeType="1"/>
          </p:cNvSpPr>
          <p:nvPr/>
        </p:nvSpPr>
        <p:spPr bwMode="auto">
          <a:xfrm flipV="1">
            <a:off x="8874125" y="2568575"/>
            <a:ext cx="0" cy="312420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16" name="Rectangle 503">
            <a:extLst>
              <a:ext uri="{FF2B5EF4-FFF2-40B4-BE49-F238E27FC236}">
                <a16:creationId xmlns:a16="http://schemas.microsoft.com/office/drawing/2014/main" id="{A88120ED-EEBE-4FEA-A9CE-8B7B973FE475}"/>
              </a:ext>
            </a:extLst>
          </p:cNvPr>
          <p:cNvSpPr>
            <a:spLocks noChangeArrowheads="1"/>
          </p:cNvSpPr>
          <p:nvPr/>
        </p:nvSpPr>
        <p:spPr bwMode="auto">
          <a:xfrm>
            <a:off x="7426325" y="1044575"/>
            <a:ext cx="1524000" cy="838200"/>
          </a:xfrm>
          <a:prstGeom prst="rect">
            <a:avLst/>
          </a:prstGeom>
          <a:solidFill>
            <a:srgbClr val="DEDFF5"/>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600" b="1" dirty="0">
                <a:solidFill>
                  <a:srgbClr val="000000"/>
                </a:solidFill>
                <a:latin typeface="Calibri"/>
                <a:ea typeface="+mn-ea"/>
              </a:rPr>
              <a:t>L2, L3, and </a:t>
            </a:r>
          </a:p>
          <a:p>
            <a:pPr algn="ctr">
              <a:lnSpc>
                <a:spcPct val="90000"/>
              </a:lnSpc>
              <a:spcBef>
                <a:spcPct val="30000"/>
              </a:spcBef>
              <a:defRPr/>
            </a:pPr>
            <a:r>
              <a:rPr kumimoji="0" lang="en-US" sz="1600" b="1" dirty="0">
                <a:solidFill>
                  <a:srgbClr val="000000"/>
                </a:solidFill>
                <a:latin typeface="Calibri"/>
                <a:ea typeface="+mn-ea"/>
              </a:rPr>
              <a:t>main memory</a:t>
            </a:r>
          </a:p>
        </p:txBody>
      </p:sp>
      <p:sp>
        <p:nvSpPr>
          <p:cNvPr id="117" name="Text Box 504">
            <a:extLst>
              <a:ext uri="{FF2B5EF4-FFF2-40B4-BE49-F238E27FC236}">
                <a16:creationId xmlns:a16="http://schemas.microsoft.com/office/drawing/2014/main" id="{F22513F0-5E11-4F83-B54B-B48E1311CC26}"/>
              </a:ext>
            </a:extLst>
          </p:cNvPr>
          <p:cNvSpPr txBox="1">
            <a:spLocks noChangeArrowheads="1"/>
          </p:cNvSpPr>
          <p:nvPr/>
        </p:nvSpPr>
        <p:spPr bwMode="auto">
          <a:xfrm>
            <a:off x="5724525" y="2784475"/>
            <a:ext cx="2773363" cy="611187"/>
          </a:xfrm>
          <a:prstGeom prst="rect">
            <a:avLst/>
          </a:prstGeom>
          <a:noFill/>
          <a:ln w="9525">
            <a:noFill/>
            <a:miter lim="800000"/>
            <a:headEnd/>
            <a:tailEnd/>
          </a:ln>
          <a:effectLst/>
        </p:spPr>
        <p:txBody>
          <a:bodyPr lIns="90487" tIns="44450" rIns="90487" bIns="44450">
            <a:spAutoFit/>
          </a:bodyPr>
          <a:lstStyle/>
          <a:p>
            <a:pPr algn="ctr">
              <a:lnSpc>
                <a:spcPct val="90000"/>
              </a:lnSpc>
              <a:spcBef>
                <a:spcPct val="30000"/>
              </a:spcBef>
              <a:defRPr/>
            </a:pPr>
            <a:r>
              <a:rPr kumimoji="0" lang="en-US" sz="1600" b="1" dirty="0">
                <a:solidFill>
                  <a:srgbClr val="000000"/>
                </a:solidFill>
                <a:latin typeface="Calibri"/>
                <a:ea typeface="+mn-ea"/>
              </a:rPr>
              <a:t>L1 </a:t>
            </a:r>
            <a:r>
              <a:rPr kumimoji="0" lang="en-US" sz="1600" b="1" dirty="0" err="1">
                <a:solidFill>
                  <a:srgbClr val="000000"/>
                </a:solidFill>
                <a:latin typeface="Calibri"/>
                <a:ea typeface="+mn-ea"/>
              </a:rPr>
              <a:t>d</a:t>
            </a:r>
            <a:r>
              <a:rPr kumimoji="0" lang="en-US" sz="1600" b="1" dirty="0">
                <a:solidFill>
                  <a:srgbClr val="000000"/>
                </a:solidFill>
                <a:latin typeface="Calibri"/>
                <a:ea typeface="+mn-ea"/>
              </a:rPr>
              <a:t>-cache </a:t>
            </a:r>
          </a:p>
          <a:p>
            <a:pPr algn="ctr">
              <a:lnSpc>
                <a:spcPct val="90000"/>
              </a:lnSpc>
              <a:spcBef>
                <a:spcPct val="30000"/>
              </a:spcBef>
              <a:defRPr/>
            </a:pPr>
            <a:r>
              <a:rPr kumimoji="0" lang="en-US" sz="1600" b="1" dirty="0">
                <a:solidFill>
                  <a:srgbClr val="000000"/>
                </a:solidFill>
                <a:latin typeface="Calibri"/>
                <a:ea typeface="+mn-ea"/>
              </a:rPr>
              <a:t>(64 sets, 8 lines/set)</a:t>
            </a:r>
          </a:p>
        </p:txBody>
      </p:sp>
      <p:sp>
        <p:nvSpPr>
          <p:cNvPr id="118" name="Line 505">
            <a:extLst>
              <a:ext uri="{FF2B5EF4-FFF2-40B4-BE49-F238E27FC236}">
                <a16:creationId xmlns:a16="http://schemas.microsoft.com/office/drawing/2014/main" id="{80763A3B-8342-41FA-B63D-8271A68DA45D}"/>
              </a:ext>
            </a:extLst>
          </p:cNvPr>
          <p:cNvSpPr>
            <a:spLocks noChangeShapeType="1"/>
          </p:cNvSpPr>
          <p:nvPr/>
        </p:nvSpPr>
        <p:spPr bwMode="auto">
          <a:xfrm flipH="1">
            <a:off x="8264525" y="2568575"/>
            <a:ext cx="609600" cy="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19" name="Line 506">
            <a:extLst>
              <a:ext uri="{FF2B5EF4-FFF2-40B4-BE49-F238E27FC236}">
                <a16:creationId xmlns:a16="http://schemas.microsoft.com/office/drawing/2014/main" id="{36B8AB44-460F-4043-A1C3-77212C787928}"/>
              </a:ext>
            </a:extLst>
          </p:cNvPr>
          <p:cNvSpPr>
            <a:spLocks noChangeShapeType="1"/>
          </p:cNvSpPr>
          <p:nvPr/>
        </p:nvSpPr>
        <p:spPr bwMode="auto">
          <a:xfrm flipV="1">
            <a:off x="8264525" y="1882775"/>
            <a:ext cx="0" cy="6858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20" name="Line 507">
            <a:extLst>
              <a:ext uri="{FF2B5EF4-FFF2-40B4-BE49-F238E27FC236}">
                <a16:creationId xmlns:a16="http://schemas.microsoft.com/office/drawing/2014/main" id="{4C18E969-4893-41B6-8E18-642098E118A6}"/>
              </a:ext>
            </a:extLst>
          </p:cNvPr>
          <p:cNvSpPr>
            <a:spLocks noChangeShapeType="1"/>
          </p:cNvSpPr>
          <p:nvPr/>
        </p:nvSpPr>
        <p:spPr bwMode="auto">
          <a:xfrm flipH="1">
            <a:off x="6511925" y="1425575"/>
            <a:ext cx="9144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21" name="Text Box 508">
            <a:extLst>
              <a:ext uri="{FF2B5EF4-FFF2-40B4-BE49-F238E27FC236}">
                <a16:creationId xmlns:a16="http://schemas.microsoft.com/office/drawing/2014/main" id="{FAF585AA-2B69-4667-B3A5-FAF86A7CE57D}"/>
              </a:ext>
            </a:extLst>
          </p:cNvPr>
          <p:cNvSpPr txBox="1">
            <a:spLocks noChangeArrowheads="1"/>
          </p:cNvSpPr>
          <p:nvPr/>
        </p:nvSpPr>
        <p:spPr bwMode="auto">
          <a:xfrm>
            <a:off x="6013450" y="2035175"/>
            <a:ext cx="461963" cy="611187"/>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600" b="1" i="1" dirty="0">
                <a:solidFill>
                  <a:srgbClr val="000000"/>
                </a:solidFill>
                <a:latin typeface="Calibri"/>
                <a:ea typeface="+mn-ea"/>
              </a:rPr>
              <a:t>L1</a:t>
            </a:r>
          </a:p>
          <a:p>
            <a:pPr algn="ctr">
              <a:lnSpc>
                <a:spcPct val="90000"/>
              </a:lnSpc>
              <a:spcBef>
                <a:spcPct val="30000"/>
              </a:spcBef>
              <a:defRPr/>
            </a:pPr>
            <a:r>
              <a:rPr kumimoji="0" lang="en-US" sz="1600" b="1" i="1" dirty="0">
                <a:solidFill>
                  <a:srgbClr val="000000"/>
                </a:solidFill>
                <a:latin typeface="Calibri"/>
                <a:ea typeface="+mn-ea"/>
              </a:rPr>
              <a:t>hit</a:t>
            </a:r>
          </a:p>
        </p:txBody>
      </p:sp>
      <p:sp>
        <p:nvSpPr>
          <p:cNvPr id="122" name="Text Box 509">
            <a:extLst>
              <a:ext uri="{FF2B5EF4-FFF2-40B4-BE49-F238E27FC236}">
                <a16:creationId xmlns:a16="http://schemas.microsoft.com/office/drawing/2014/main" id="{35698522-9C74-4F58-83F2-2C5369BEB22E}"/>
              </a:ext>
            </a:extLst>
          </p:cNvPr>
          <p:cNvSpPr txBox="1">
            <a:spLocks noChangeArrowheads="1"/>
          </p:cNvSpPr>
          <p:nvPr/>
        </p:nvSpPr>
        <p:spPr bwMode="auto">
          <a:xfrm>
            <a:off x="8229600" y="1958975"/>
            <a:ext cx="606425" cy="611187"/>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600" b="1" i="1" dirty="0">
                <a:solidFill>
                  <a:srgbClr val="000000"/>
                </a:solidFill>
                <a:latin typeface="Calibri"/>
                <a:ea typeface="+mn-ea"/>
              </a:rPr>
              <a:t>L1</a:t>
            </a:r>
          </a:p>
          <a:p>
            <a:pPr algn="ctr">
              <a:lnSpc>
                <a:spcPct val="90000"/>
              </a:lnSpc>
              <a:spcBef>
                <a:spcPct val="30000"/>
              </a:spcBef>
              <a:defRPr/>
            </a:pPr>
            <a:r>
              <a:rPr kumimoji="0" lang="en-US" sz="1600" b="1" i="1" dirty="0">
                <a:solidFill>
                  <a:srgbClr val="000000"/>
                </a:solidFill>
                <a:latin typeface="Calibri"/>
                <a:ea typeface="+mn-ea"/>
              </a:rPr>
              <a:t>miss</a:t>
            </a:r>
          </a:p>
        </p:txBody>
      </p:sp>
      <p:sp>
        <p:nvSpPr>
          <p:cNvPr id="123" name="Line 510">
            <a:extLst>
              <a:ext uri="{FF2B5EF4-FFF2-40B4-BE49-F238E27FC236}">
                <a16:creationId xmlns:a16="http://schemas.microsoft.com/office/drawing/2014/main" id="{CEBFB9A6-2A7C-47C8-ABEA-99771AB623AF}"/>
              </a:ext>
            </a:extLst>
          </p:cNvPr>
          <p:cNvSpPr>
            <a:spLocks noChangeShapeType="1"/>
          </p:cNvSpPr>
          <p:nvPr/>
        </p:nvSpPr>
        <p:spPr bwMode="auto">
          <a:xfrm flipH="1">
            <a:off x="1787525" y="1425575"/>
            <a:ext cx="3657600" cy="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24" name="Line 511">
            <a:extLst>
              <a:ext uri="{FF2B5EF4-FFF2-40B4-BE49-F238E27FC236}">
                <a16:creationId xmlns:a16="http://schemas.microsoft.com/office/drawing/2014/main" id="{55BE326B-7884-4205-A5D0-8A44612CD779}"/>
              </a:ext>
            </a:extLst>
          </p:cNvPr>
          <p:cNvSpPr>
            <a:spLocks noChangeShapeType="1"/>
          </p:cNvSpPr>
          <p:nvPr/>
        </p:nvSpPr>
        <p:spPr bwMode="auto">
          <a:xfrm flipV="1">
            <a:off x="7731125" y="5464175"/>
            <a:ext cx="381000" cy="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25" name="Line 512">
            <a:extLst>
              <a:ext uri="{FF2B5EF4-FFF2-40B4-BE49-F238E27FC236}">
                <a16:creationId xmlns:a16="http://schemas.microsoft.com/office/drawing/2014/main" id="{DF55FBCD-0181-47BC-B71D-79AAFB62D7C9}"/>
              </a:ext>
            </a:extLst>
          </p:cNvPr>
          <p:cNvSpPr>
            <a:spLocks noChangeShapeType="1"/>
          </p:cNvSpPr>
          <p:nvPr/>
        </p:nvSpPr>
        <p:spPr bwMode="auto">
          <a:xfrm>
            <a:off x="7883525" y="5464175"/>
            <a:ext cx="0" cy="228600"/>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26" name="Text Box 513">
            <a:extLst>
              <a:ext uri="{FF2B5EF4-FFF2-40B4-BE49-F238E27FC236}">
                <a16:creationId xmlns:a16="http://schemas.microsoft.com/office/drawing/2014/main" id="{AB893A7D-E9AC-47D3-BA43-C71FD0BA22F9}"/>
              </a:ext>
            </a:extLst>
          </p:cNvPr>
          <p:cNvSpPr txBox="1">
            <a:spLocks noChangeArrowheads="1"/>
          </p:cNvSpPr>
          <p:nvPr/>
        </p:nvSpPr>
        <p:spPr bwMode="auto">
          <a:xfrm>
            <a:off x="1411288" y="1506537"/>
            <a:ext cx="1889125" cy="339725"/>
          </a:xfrm>
          <a:prstGeom prst="rect">
            <a:avLst/>
          </a:prstGeom>
          <a:noFill/>
          <a:ln w="12700">
            <a:noFill/>
            <a:miter lim="800000"/>
            <a:headEnd/>
            <a:tailEnd/>
          </a:ln>
          <a:effectLst/>
        </p:spPr>
        <p:txBody>
          <a:bodyPr wrap="none" anchor="ctr">
            <a:spAutoFit/>
          </a:bodyPr>
          <a:lstStyle/>
          <a:p>
            <a:pPr>
              <a:defRPr/>
            </a:pPr>
            <a:r>
              <a:rPr kumimoji="0" lang="en-US" sz="1600" b="1">
                <a:solidFill>
                  <a:srgbClr val="000000"/>
                </a:solidFill>
                <a:latin typeface="Calibri"/>
                <a:ea typeface="+mn-ea"/>
              </a:rPr>
              <a:t>Virtual address (VA)</a:t>
            </a:r>
          </a:p>
        </p:txBody>
      </p:sp>
      <p:sp>
        <p:nvSpPr>
          <p:cNvPr id="127" name="Rectangle 514">
            <a:extLst>
              <a:ext uri="{FF2B5EF4-FFF2-40B4-BE49-F238E27FC236}">
                <a16:creationId xmlns:a16="http://schemas.microsoft.com/office/drawing/2014/main" id="{8273E7AA-69AC-445F-B6C1-AF3F51B3A718}"/>
              </a:ext>
            </a:extLst>
          </p:cNvPr>
          <p:cNvSpPr>
            <a:spLocks noChangeArrowheads="1"/>
          </p:cNvSpPr>
          <p:nvPr/>
        </p:nvSpPr>
        <p:spPr bwMode="auto">
          <a:xfrm>
            <a:off x="1635125" y="4918075"/>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VPN3</a:t>
            </a:r>
          </a:p>
        </p:txBody>
      </p:sp>
      <p:sp>
        <p:nvSpPr>
          <p:cNvPr id="128" name="Rectangle 515">
            <a:extLst>
              <a:ext uri="{FF2B5EF4-FFF2-40B4-BE49-F238E27FC236}">
                <a16:creationId xmlns:a16="http://schemas.microsoft.com/office/drawing/2014/main" id="{6FFF13CF-2EC3-4CC6-9994-0A31C224BFD7}"/>
              </a:ext>
            </a:extLst>
          </p:cNvPr>
          <p:cNvSpPr>
            <a:spLocks noChangeArrowheads="1"/>
          </p:cNvSpPr>
          <p:nvPr/>
        </p:nvSpPr>
        <p:spPr bwMode="auto">
          <a:xfrm>
            <a:off x="2168525" y="4918075"/>
            <a:ext cx="533400" cy="3048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VPN4</a:t>
            </a:r>
          </a:p>
        </p:txBody>
      </p:sp>
      <p:sp>
        <p:nvSpPr>
          <p:cNvPr id="129" name="Text Box 516">
            <a:extLst>
              <a:ext uri="{FF2B5EF4-FFF2-40B4-BE49-F238E27FC236}">
                <a16:creationId xmlns:a16="http://schemas.microsoft.com/office/drawing/2014/main" id="{91FE1235-8258-4749-BD31-A2C7AF1B9972}"/>
              </a:ext>
            </a:extLst>
          </p:cNvPr>
          <p:cNvSpPr txBox="1">
            <a:spLocks noChangeArrowheads="1"/>
          </p:cNvSpPr>
          <p:nvPr/>
        </p:nvSpPr>
        <p:spPr bwMode="auto">
          <a:xfrm>
            <a:off x="2247900" y="4702175"/>
            <a:ext cx="260350"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9</a:t>
            </a:r>
          </a:p>
        </p:txBody>
      </p:sp>
      <p:sp>
        <p:nvSpPr>
          <p:cNvPr id="130" name="Text Box 517">
            <a:extLst>
              <a:ext uri="{FF2B5EF4-FFF2-40B4-BE49-F238E27FC236}">
                <a16:creationId xmlns:a16="http://schemas.microsoft.com/office/drawing/2014/main" id="{20249909-4755-461C-860C-7D389BA6C92C}"/>
              </a:ext>
            </a:extLst>
          </p:cNvPr>
          <p:cNvSpPr txBox="1">
            <a:spLocks noChangeArrowheads="1"/>
          </p:cNvSpPr>
          <p:nvPr/>
        </p:nvSpPr>
        <p:spPr bwMode="auto">
          <a:xfrm>
            <a:off x="1787525" y="4702175"/>
            <a:ext cx="260350" cy="258762"/>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200" b="1">
                <a:solidFill>
                  <a:srgbClr val="000000"/>
                </a:solidFill>
                <a:latin typeface="Calibri"/>
                <a:ea typeface="+mn-ea"/>
              </a:rPr>
              <a:t>9</a:t>
            </a:r>
          </a:p>
        </p:txBody>
      </p:sp>
      <p:grpSp>
        <p:nvGrpSpPr>
          <p:cNvPr id="141442" name="Group 641">
            <a:extLst>
              <a:ext uri="{FF2B5EF4-FFF2-40B4-BE49-F238E27FC236}">
                <a16:creationId xmlns:a16="http://schemas.microsoft.com/office/drawing/2014/main" id="{33C273DC-0C78-4C56-AEDC-22D8CD0AE24A}"/>
              </a:ext>
            </a:extLst>
          </p:cNvPr>
          <p:cNvGrpSpPr>
            <a:grpSpLocks/>
          </p:cNvGrpSpPr>
          <p:nvPr/>
        </p:nvGrpSpPr>
        <p:grpSpPr bwMode="auto">
          <a:xfrm>
            <a:off x="1106488" y="5610225"/>
            <a:ext cx="276225" cy="450850"/>
            <a:chOff x="739" y="2900"/>
            <a:chExt cx="174" cy="284"/>
          </a:xfrm>
        </p:grpSpPr>
        <p:sp>
          <p:nvSpPr>
            <p:cNvPr id="132" name="Line 433">
              <a:extLst>
                <a:ext uri="{FF2B5EF4-FFF2-40B4-BE49-F238E27FC236}">
                  <a16:creationId xmlns:a16="http://schemas.microsoft.com/office/drawing/2014/main" id="{38A0746B-1143-4104-93B9-494B9E19820F}"/>
                </a:ext>
              </a:extLst>
            </p:cNvPr>
            <p:cNvSpPr>
              <a:spLocks noChangeShapeType="1"/>
            </p:cNvSpPr>
            <p:nvPr/>
          </p:nvSpPr>
          <p:spPr bwMode="auto">
            <a:xfrm flipV="1">
              <a:off x="739" y="3181"/>
              <a:ext cx="40" cy="3"/>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33" name="Line 434">
              <a:extLst>
                <a:ext uri="{FF2B5EF4-FFF2-40B4-BE49-F238E27FC236}">
                  <a16:creationId xmlns:a16="http://schemas.microsoft.com/office/drawing/2014/main" id="{F9D00E12-05DC-4756-8778-F20530D902D1}"/>
                </a:ext>
              </a:extLst>
            </p:cNvPr>
            <p:cNvSpPr>
              <a:spLocks noChangeShapeType="1"/>
            </p:cNvSpPr>
            <p:nvPr/>
          </p:nvSpPr>
          <p:spPr bwMode="auto">
            <a:xfrm flipV="1">
              <a:off x="779" y="2900"/>
              <a:ext cx="0" cy="281"/>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34" name="Line 523">
              <a:extLst>
                <a:ext uri="{FF2B5EF4-FFF2-40B4-BE49-F238E27FC236}">
                  <a16:creationId xmlns:a16="http://schemas.microsoft.com/office/drawing/2014/main" id="{F9062AD1-2CE0-44E2-9B97-6FAEC871E3B2}"/>
                </a:ext>
              </a:extLst>
            </p:cNvPr>
            <p:cNvSpPr>
              <a:spLocks noChangeShapeType="1"/>
            </p:cNvSpPr>
            <p:nvPr/>
          </p:nvSpPr>
          <p:spPr bwMode="auto">
            <a:xfrm>
              <a:off x="779" y="2900"/>
              <a:ext cx="134" cy="3"/>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grpSp>
      <p:sp>
        <p:nvSpPr>
          <p:cNvPr id="135" name="Rectangle 525">
            <a:extLst>
              <a:ext uri="{FF2B5EF4-FFF2-40B4-BE49-F238E27FC236}">
                <a16:creationId xmlns:a16="http://schemas.microsoft.com/office/drawing/2014/main" id="{95C35E31-CADB-4F86-BE02-90E7EF6FD736}"/>
              </a:ext>
            </a:extLst>
          </p:cNvPr>
          <p:cNvSpPr>
            <a:spLocks noChangeArrowheads="1"/>
          </p:cNvSpPr>
          <p:nvPr/>
        </p:nvSpPr>
        <p:spPr bwMode="auto">
          <a:xfrm>
            <a:off x="1387475" y="5603875"/>
            <a:ext cx="368300" cy="914400"/>
          </a:xfrm>
          <a:prstGeom prst="rect">
            <a:avLst/>
          </a:prstGeom>
          <a:solidFill>
            <a:srgbClr val="DEDFF5"/>
          </a:solidFill>
          <a:ln w="9525">
            <a:solidFill>
              <a:srgbClr val="000000"/>
            </a:solidFill>
            <a:miter lim="800000"/>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36" name="Rectangle 526">
            <a:extLst>
              <a:ext uri="{FF2B5EF4-FFF2-40B4-BE49-F238E27FC236}">
                <a16:creationId xmlns:a16="http://schemas.microsoft.com/office/drawing/2014/main" id="{C2058425-A5AD-41E0-9691-CAA84701C385}"/>
              </a:ext>
            </a:extLst>
          </p:cNvPr>
          <p:cNvSpPr>
            <a:spLocks noChangeArrowheads="1"/>
          </p:cNvSpPr>
          <p:nvPr/>
        </p:nvSpPr>
        <p:spPr bwMode="auto">
          <a:xfrm>
            <a:off x="1387475" y="5883275"/>
            <a:ext cx="368300" cy="2540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PTE</a:t>
            </a:r>
          </a:p>
        </p:txBody>
      </p:sp>
      <p:sp>
        <p:nvSpPr>
          <p:cNvPr id="137" name="Line 542">
            <a:extLst>
              <a:ext uri="{FF2B5EF4-FFF2-40B4-BE49-F238E27FC236}">
                <a16:creationId xmlns:a16="http://schemas.microsoft.com/office/drawing/2014/main" id="{672B6B0C-B9E4-4447-8460-75E83C632848}"/>
              </a:ext>
            </a:extLst>
          </p:cNvPr>
          <p:cNvSpPr>
            <a:spLocks noChangeShapeType="1"/>
          </p:cNvSpPr>
          <p:nvPr/>
        </p:nvSpPr>
        <p:spPr bwMode="auto">
          <a:xfrm>
            <a:off x="1249363" y="5232400"/>
            <a:ext cx="0" cy="784225"/>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38" name="Line 543">
            <a:extLst>
              <a:ext uri="{FF2B5EF4-FFF2-40B4-BE49-F238E27FC236}">
                <a16:creationId xmlns:a16="http://schemas.microsoft.com/office/drawing/2014/main" id="{D8F6DFB0-07FE-4C5D-96C3-8BE0D4BDE112}"/>
              </a:ext>
            </a:extLst>
          </p:cNvPr>
          <p:cNvSpPr>
            <a:spLocks noChangeShapeType="1"/>
          </p:cNvSpPr>
          <p:nvPr/>
        </p:nvSpPr>
        <p:spPr bwMode="auto">
          <a:xfrm flipV="1">
            <a:off x="1249363" y="6008687"/>
            <a:ext cx="133350" cy="9525"/>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1400" b="1">
              <a:solidFill>
                <a:srgbClr val="000000"/>
              </a:solidFill>
              <a:latin typeface="Calibri"/>
              <a:ea typeface="+mn-ea"/>
            </a:endParaRPr>
          </a:p>
        </p:txBody>
      </p:sp>
      <p:sp>
        <p:nvSpPr>
          <p:cNvPr id="139" name="Oval 544">
            <a:extLst>
              <a:ext uri="{FF2B5EF4-FFF2-40B4-BE49-F238E27FC236}">
                <a16:creationId xmlns:a16="http://schemas.microsoft.com/office/drawing/2014/main" id="{120EE30A-4588-4D56-96FC-35B3106D1F9B}"/>
              </a:ext>
            </a:extLst>
          </p:cNvPr>
          <p:cNvSpPr>
            <a:spLocks noChangeArrowheads="1"/>
          </p:cNvSpPr>
          <p:nvPr/>
        </p:nvSpPr>
        <p:spPr bwMode="auto">
          <a:xfrm>
            <a:off x="1214438" y="5194300"/>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40" name="Rectangle 610">
            <a:extLst>
              <a:ext uri="{FF2B5EF4-FFF2-40B4-BE49-F238E27FC236}">
                <a16:creationId xmlns:a16="http://schemas.microsoft.com/office/drawing/2014/main" id="{D903C645-CE48-436E-99D1-284092FD6007}"/>
              </a:ext>
            </a:extLst>
          </p:cNvPr>
          <p:cNvSpPr>
            <a:spLocks noChangeArrowheads="1"/>
          </p:cNvSpPr>
          <p:nvPr/>
        </p:nvSpPr>
        <p:spPr bwMode="auto">
          <a:xfrm>
            <a:off x="2025650" y="5603875"/>
            <a:ext cx="368300" cy="914400"/>
          </a:xfrm>
          <a:prstGeom prst="rect">
            <a:avLst/>
          </a:prstGeom>
          <a:solidFill>
            <a:srgbClr val="DEDFF5"/>
          </a:solidFill>
          <a:ln w="9525">
            <a:solidFill>
              <a:srgbClr val="000000"/>
            </a:solidFill>
            <a:miter lim="800000"/>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41" name="Rectangle 611">
            <a:extLst>
              <a:ext uri="{FF2B5EF4-FFF2-40B4-BE49-F238E27FC236}">
                <a16:creationId xmlns:a16="http://schemas.microsoft.com/office/drawing/2014/main" id="{D7C313AA-78B3-4C42-8F80-14E4852EB5F0}"/>
              </a:ext>
            </a:extLst>
          </p:cNvPr>
          <p:cNvSpPr>
            <a:spLocks noChangeArrowheads="1"/>
          </p:cNvSpPr>
          <p:nvPr/>
        </p:nvSpPr>
        <p:spPr bwMode="auto">
          <a:xfrm>
            <a:off x="2025650" y="5883275"/>
            <a:ext cx="368300" cy="2540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dirty="0">
                <a:solidFill>
                  <a:srgbClr val="000000"/>
                </a:solidFill>
                <a:latin typeface="Calibri"/>
                <a:ea typeface="+mn-ea"/>
              </a:rPr>
              <a:t>PTE</a:t>
            </a:r>
          </a:p>
        </p:txBody>
      </p:sp>
      <p:sp>
        <p:nvSpPr>
          <p:cNvPr id="142" name="Line 612">
            <a:extLst>
              <a:ext uri="{FF2B5EF4-FFF2-40B4-BE49-F238E27FC236}">
                <a16:creationId xmlns:a16="http://schemas.microsoft.com/office/drawing/2014/main" id="{5BBC2588-8C51-4D1E-94BF-735C9D8F7B94}"/>
              </a:ext>
            </a:extLst>
          </p:cNvPr>
          <p:cNvSpPr>
            <a:spLocks noChangeShapeType="1"/>
          </p:cNvSpPr>
          <p:nvPr/>
        </p:nvSpPr>
        <p:spPr bwMode="auto">
          <a:xfrm flipH="1">
            <a:off x="1885950" y="5232400"/>
            <a:ext cx="1588" cy="790575"/>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43" name="Line 613">
            <a:extLst>
              <a:ext uri="{FF2B5EF4-FFF2-40B4-BE49-F238E27FC236}">
                <a16:creationId xmlns:a16="http://schemas.microsoft.com/office/drawing/2014/main" id="{7E692FD5-E569-4C3B-AD6B-93090D90DABB}"/>
              </a:ext>
            </a:extLst>
          </p:cNvPr>
          <p:cNvSpPr>
            <a:spLocks noChangeShapeType="1"/>
          </p:cNvSpPr>
          <p:nvPr/>
        </p:nvSpPr>
        <p:spPr bwMode="auto">
          <a:xfrm flipV="1">
            <a:off x="1887538" y="6013450"/>
            <a:ext cx="133350" cy="9525"/>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1400" b="1">
              <a:solidFill>
                <a:srgbClr val="000000"/>
              </a:solidFill>
              <a:latin typeface="Calibri"/>
              <a:ea typeface="+mn-ea"/>
            </a:endParaRPr>
          </a:p>
        </p:txBody>
      </p:sp>
      <p:sp>
        <p:nvSpPr>
          <p:cNvPr id="144" name="Oval 614">
            <a:extLst>
              <a:ext uri="{FF2B5EF4-FFF2-40B4-BE49-F238E27FC236}">
                <a16:creationId xmlns:a16="http://schemas.microsoft.com/office/drawing/2014/main" id="{A7C15B62-A266-4313-9B84-7D0337C3E9F0}"/>
              </a:ext>
            </a:extLst>
          </p:cNvPr>
          <p:cNvSpPr>
            <a:spLocks noChangeArrowheads="1"/>
          </p:cNvSpPr>
          <p:nvPr/>
        </p:nvSpPr>
        <p:spPr bwMode="auto">
          <a:xfrm>
            <a:off x="1852613" y="5194300"/>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45" name="Rectangle 619">
            <a:extLst>
              <a:ext uri="{FF2B5EF4-FFF2-40B4-BE49-F238E27FC236}">
                <a16:creationId xmlns:a16="http://schemas.microsoft.com/office/drawing/2014/main" id="{DB7BDD4E-07DA-4EA0-AD68-E576664262FB}"/>
              </a:ext>
            </a:extLst>
          </p:cNvPr>
          <p:cNvSpPr>
            <a:spLocks noChangeArrowheads="1"/>
          </p:cNvSpPr>
          <p:nvPr/>
        </p:nvSpPr>
        <p:spPr bwMode="auto">
          <a:xfrm>
            <a:off x="2663825" y="5599112"/>
            <a:ext cx="368300" cy="914400"/>
          </a:xfrm>
          <a:prstGeom prst="rect">
            <a:avLst/>
          </a:prstGeom>
          <a:solidFill>
            <a:srgbClr val="DEDFF5"/>
          </a:solidFill>
          <a:ln w="9525">
            <a:solidFill>
              <a:srgbClr val="000000"/>
            </a:solidFill>
            <a:miter lim="800000"/>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46" name="Rectangle 620">
            <a:extLst>
              <a:ext uri="{FF2B5EF4-FFF2-40B4-BE49-F238E27FC236}">
                <a16:creationId xmlns:a16="http://schemas.microsoft.com/office/drawing/2014/main" id="{73C52136-7A8E-4A83-B571-2E2DC1C878F5}"/>
              </a:ext>
            </a:extLst>
          </p:cNvPr>
          <p:cNvSpPr>
            <a:spLocks noChangeArrowheads="1"/>
          </p:cNvSpPr>
          <p:nvPr/>
        </p:nvSpPr>
        <p:spPr bwMode="auto">
          <a:xfrm>
            <a:off x="2663825" y="5878512"/>
            <a:ext cx="368300" cy="2540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PTE</a:t>
            </a:r>
          </a:p>
        </p:txBody>
      </p:sp>
      <p:sp>
        <p:nvSpPr>
          <p:cNvPr id="147" name="Line 621">
            <a:extLst>
              <a:ext uri="{FF2B5EF4-FFF2-40B4-BE49-F238E27FC236}">
                <a16:creationId xmlns:a16="http://schemas.microsoft.com/office/drawing/2014/main" id="{BD4A20F8-1FAA-4FF2-9384-310341F0DE29}"/>
              </a:ext>
            </a:extLst>
          </p:cNvPr>
          <p:cNvSpPr>
            <a:spLocks noChangeShapeType="1"/>
          </p:cNvSpPr>
          <p:nvPr/>
        </p:nvSpPr>
        <p:spPr bwMode="auto">
          <a:xfrm>
            <a:off x="2525713" y="5227637"/>
            <a:ext cx="0" cy="788988"/>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48" name="Line 622">
            <a:extLst>
              <a:ext uri="{FF2B5EF4-FFF2-40B4-BE49-F238E27FC236}">
                <a16:creationId xmlns:a16="http://schemas.microsoft.com/office/drawing/2014/main" id="{4D824B58-AA87-4FEB-A696-89FF098DD4F7}"/>
              </a:ext>
            </a:extLst>
          </p:cNvPr>
          <p:cNvSpPr>
            <a:spLocks noChangeShapeType="1"/>
          </p:cNvSpPr>
          <p:nvPr/>
        </p:nvSpPr>
        <p:spPr bwMode="auto">
          <a:xfrm flipV="1">
            <a:off x="2525713" y="6013450"/>
            <a:ext cx="133350" cy="9525"/>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1400" b="1">
              <a:solidFill>
                <a:srgbClr val="000000"/>
              </a:solidFill>
              <a:latin typeface="Calibri"/>
              <a:ea typeface="+mn-ea"/>
            </a:endParaRPr>
          </a:p>
        </p:txBody>
      </p:sp>
      <p:sp>
        <p:nvSpPr>
          <p:cNvPr id="149" name="Oval 623">
            <a:extLst>
              <a:ext uri="{FF2B5EF4-FFF2-40B4-BE49-F238E27FC236}">
                <a16:creationId xmlns:a16="http://schemas.microsoft.com/office/drawing/2014/main" id="{140E9048-F292-420E-8BDC-933F4FD2FC2D}"/>
              </a:ext>
            </a:extLst>
          </p:cNvPr>
          <p:cNvSpPr>
            <a:spLocks noChangeArrowheads="1"/>
          </p:cNvSpPr>
          <p:nvPr/>
        </p:nvSpPr>
        <p:spPr bwMode="auto">
          <a:xfrm>
            <a:off x="2490788" y="5189537"/>
            <a:ext cx="76200" cy="76200"/>
          </a:xfrm>
          <a:prstGeom prst="ellipse">
            <a:avLst/>
          </a:prstGeom>
          <a:solidFill>
            <a:srgbClr val="000000"/>
          </a:solid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50" name="Line 626">
            <a:extLst>
              <a:ext uri="{FF2B5EF4-FFF2-40B4-BE49-F238E27FC236}">
                <a16:creationId xmlns:a16="http://schemas.microsoft.com/office/drawing/2014/main" id="{18007959-A934-4E4A-92AC-EEC0CD3F9F2B}"/>
              </a:ext>
            </a:extLst>
          </p:cNvPr>
          <p:cNvSpPr>
            <a:spLocks noChangeShapeType="1"/>
          </p:cNvSpPr>
          <p:nvPr/>
        </p:nvSpPr>
        <p:spPr bwMode="auto">
          <a:xfrm>
            <a:off x="6016625" y="3416300"/>
            <a:ext cx="0" cy="447675"/>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1" name="Line 627">
            <a:extLst>
              <a:ext uri="{FF2B5EF4-FFF2-40B4-BE49-F238E27FC236}">
                <a16:creationId xmlns:a16="http://schemas.microsoft.com/office/drawing/2014/main" id="{A58DCE9A-C917-4B8C-A2C3-4469116E694B}"/>
              </a:ext>
            </a:extLst>
          </p:cNvPr>
          <p:cNvSpPr>
            <a:spLocks noChangeShapeType="1"/>
          </p:cNvSpPr>
          <p:nvPr/>
        </p:nvSpPr>
        <p:spPr bwMode="auto">
          <a:xfrm>
            <a:off x="6540500" y="3416300"/>
            <a:ext cx="0" cy="447675"/>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2" name="Line 628">
            <a:extLst>
              <a:ext uri="{FF2B5EF4-FFF2-40B4-BE49-F238E27FC236}">
                <a16:creationId xmlns:a16="http://schemas.microsoft.com/office/drawing/2014/main" id="{2403CA82-7730-4D3F-A25E-2CC1A16BB99E}"/>
              </a:ext>
            </a:extLst>
          </p:cNvPr>
          <p:cNvSpPr>
            <a:spLocks noChangeShapeType="1"/>
          </p:cNvSpPr>
          <p:nvPr/>
        </p:nvSpPr>
        <p:spPr bwMode="auto">
          <a:xfrm>
            <a:off x="7064375" y="3406775"/>
            <a:ext cx="0" cy="447675"/>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3" name="Line 629">
            <a:extLst>
              <a:ext uri="{FF2B5EF4-FFF2-40B4-BE49-F238E27FC236}">
                <a16:creationId xmlns:a16="http://schemas.microsoft.com/office/drawing/2014/main" id="{EED2469E-1EB8-4372-8BF5-04D09F0CD26E}"/>
              </a:ext>
            </a:extLst>
          </p:cNvPr>
          <p:cNvSpPr>
            <a:spLocks noChangeShapeType="1"/>
          </p:cNvSpPr>
          <p:nvPr/>
        </p:nvSpPr>
        <p:spPr bwMode="auto">
          <a:xfrm>
            <a:off x="7616825" y="3416300"/>
            <a:ext cx="0" cy="447675"/>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4" name="Line 631">
            <a:extLst>
              <a:ext uri="{FF2B5EF4-FFF2-40B4-BE49-F238E27FC236}">
                <a16:creationId xmlns:a16="http://schemas.microsoft.com/office/drawing/2014/main" id="{44C03411-59D2-4D15-B5BE-F5276B478A42}"/>
              </a:ext>
            </a:extLst>
          </p:cNvPr>
          <p:cNvSpPr>
            <a:spLocks noChangeShapeType="1"/>
          </p:cNvSpPr>
          <p:nvPr/>
        </p:nvSpPr>
        <p:spPr bwMode="auto">
          <a:xfrm>
            <a:off x="6019800" y="4092575"/>
            <a:ext cx="0" cy="152400"/>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5" name="Line 632">
            <a:extLst>
              <a:ext uri="{FF2B5EF4-FFF2-40B4-BE49-F238E27FC236}">
                <a16:creationId xmlns:a16="http://schemas.microsoft.com/office/drawing/2014/main" id="{85C0202B-1C4D-4571-A720-BA04ACE50C10}"/>
              </a:ext>
            </a:extLst>
          </p:cNvPr>
          <p:cNvSpPr>
            <a:spLocks noChangeShapeType="1"/>
          </p:cNvSpPr>
          <p:nvPr/>
        </p:nvSpPr>
        <p:spPr bwMode="auto">
          <a:xfrm>
            <a:off x="6550025" y="4097337"/>
            <a:ext cx="0" cy="147638"/>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6" name="Line 633">
            <a:extLst>
              <a:ext uri="{FF2B5EF4-FFF2-40B4-BE49-F238E27FC236}">
                <a16:creationId xmlns:a16="http://schemas.microsoft.com/office/drawing/2014/main" id="{2C5E9FD6-8469-4665-8D96-A9B086C0311A}"/>
              </a:ext>
            </a:extLst>
          </p:cNvPr>
          <p:cNvSpPr>
            <a:spLocks noChangeShapeType="1"/>
          </p:cNvSpPr>
          <p:nvPr/>
        </p:nvSpPr>
        <p:spPr bwMode="auto">
          <a:xfrm>
            <a:off x="7086600" y="4095750"/>
            <a:ext cx="0" cy="152400"/>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7" name="Line 634">
            <a:extLst>
              <a:ext uri="{FF2B5EF4-FFF2-40B4-BE49-F238E27FC236}">
                <a16:creationId xmlns:a16="http://schemas.microsoft.com/office/drawing/2014/main" id="{228A1EE3-3431-454C-8488-001E907C0E9B}"/>
              </a:ext>
            </a:extLst>
          </p:cNvPr>
          <p:cNvSpPr>
            <a:spLocks noChangeShapeType="1"/>
          </p:cNvSpPr>
          <p:nvPr/>
        </p:nvSpPr>
        <p:spPr bwMode="auto">
          <a:xfrm>
            <a:off x="7616825" y="4095750"/>
            <a:ext cx="0" cy="152400"/>
          </a:xfrm>
          <a:prstGeom prst="line">
            <a:avLst/>
          </a:prstGeom>
          <a:noFill/>
          <a:ln w="9525">
            <a:solidFill>
              <a:srgbClr val="000000"/>
            </a:solidFill>
            <a:round/>
            <a:headEnd/>
            <a:tailEn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sp>
        <p:nvSpPr>
          <p:cNvPr id="158" name="Line 635">
            <a:extLst>
              <a:ext uri="{FF2B5EF4-FFF2-40B4-BE49-F238E27FC236}">
                <a16:creationId xmlns:a16="http://schemas.microsoft.com/office/drawing/2014/main" id="{58C42094-56E5-4CFB-BB45-82486216017C}"/>
              </a:ext>
            </a:extLst>
          </p:cNvPr>
          <p:cNvSpPr>
            <a:spLocks noChangeShapeType="1"/>
          </p:cNvSpPr>
          <p:nvPr/>
        </p:nvSpPr>
        <p:spPr bwMode="auto">
          <a:xfrm flipV="1">
            <a:off x="6162675" y="4244975"/>
            <a:ext cx="0" cy="3810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59" name="Line 636">
            <a:extLst>
              <a:ext uri="{FF2B5EF4-FFF2-40B4-BE49-F238E27FC236}">
                <a16:creationId xmlns:a16="http://schemas.microsoft.com/office/drawing/2014/main" id="{F7C0D277-574F-4593-B94D-14B74F816FDD}"/>
              </a:ext>
            </a:extLst>
          </p:cNvPr>
          <p:cNvSpPr>
            <a:spLocks noChangeShapeType="1"/>
          </p:cNvSpPr>
          <p:nvPr/>
        </p:nvSpPr>
        <p:spPr bwMode="auto">
          <a:xfrm flipV="1">
            <a:off x="6683375" y="4246562"/>
            <a:ext cx="0" cy="37465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60" name="Line 637">
            <a:extLst>
              <a:ext uri="{FF2B5EF4-FFF2-40B4-BE49-F238E27FC236}">
                <a16:creationId xmlns:a16="http://schemas.microsoft.com/office/drawing/2014/main" id="{5B395183-D2BB-4F88-969B-B630999E26B5}"/>
              </a:ext>
            </a:extLst>
          </p:cNvPr>
          <p:cNvSpPr>
            <a:spLocks noChangeShapeType="1"/>
          </p:cNvSpPr>
          <p:nvPr/>
        </p:nvSpPr>
        <p:spPr bwMode="auto">
          <a:xfrm flipV="1">
            <a:off x="7223125" y="4238625"/>
            <a:ext cx="0" cy="381000"/>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61" name="Line 638">
            <a:extLst>
              <a:ext uri="{FF2B5EF4-FFF2-40B4-BE49-F238E27FC236}">
                <a16:creationId xmlns:a16="http://schemas.microsoft.com/office/drawing/2014/main" id="{E4E876FD-94AE-494A-91E5-F85DF45F2412}"/>
              </a:ext>
            </a:extLst>
          </p:cNvPr>
          <p:cNvSpPr>
            <a:spLocks noChangeShapeType="1"/>
          </p:cNvSpPr>
          <p:nvPr/>
        </p:nvSpPr>
        <p:spPr bwMode="auto">
          <a:xfrm flipV="1">
            <a:off x="7759700" y="4248150"/>
            <a:ext cx="0" cy="373062"/>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62" name="Line 639">
            <a:extLst>
              <a:ext uri="{FF2B5EF4-FFF2-40B4-BE49-F238E27FC236}">
                <a16:creationId xmlns:a16="http://schemas.microsoft.com/office/drawing/2014/main" id="{805CDFD9-0E78-4961-9EB1-2466E3D22FEF}"/>
              </a:ext>
            </a:extLst>
          </p:cNvPr>
          <p:cNvSpPr>
            <a:spLocks noChangeShapeType="1"/>
          </p:cNvSpPr>
          <p:nvPr/>
        </p:nvSpPr>
        <p:spPr bwMode="auto">
          <a:xfrm>
            <a:off x="536575" y="5603875"/>
            <a:ext cx="234950" cy="0"/>
          </a:xfrm>
          <a:prstGeom prst="line">
            <a:avLst/>
          </a:prstGeom>
          <a:noFill/>
          <a:ln w="12700">
            <a:solidFill>
              <a:srgbClr val="000000"/>
            </a:solidFill>
            <a:round/>
            <a:headEnd/>
            <a:tailEnd type="triangle" w="med" len="med"/>
          </a:ln>
          <a:effectLst/>
        </p:spPr>
        <p:txBody>
          <a:bodyPr wrap="none" anchor="ctr"/>
          <a:lstStyle/>
          <a:p>
            <a:pPr eaLnBrk="1" fontAlgn="auto" hangingPunct="1">
              <a:spcBef>
                <a:spcPts val="0"/>
              </a:spcBef>
              <a:spcAft>
                <a:spcPts val="0"/>
              </a:spcAft>
              <a:defRPr/>
            </a:pPr>
            <a:endParaRPr kumimoji="0" lang="en-US" sz="1600" b="1" kern="0">
              <a:solidFill>
                <a:srgbClr val="000000"/>
              </a:solidFill>
              <a:latin typeface="Calibri"/>
              <a:ea typeface="+mn-ea"/>
            </a:endParaRPr>
          </a:p>
        </p:txBody>
      </p:sp>
      <p:grpSp>
        <p:nvGrpSpPr>
          <p:cNvPr id="141471" name="Group 642">
            <a:extLst>
              <a:ext uri="{FF2B5EF4-FFF2-40B4-BE49-F238E27FC236}">
                <a16:creationId xmlns:a16="http://schemas.microsoft.com/office/drawing/2014/main" id="{A27BB5F3-500F-4561-A6FE-409F57C2A29B}"/>
              </a:ext>
            </a:extLst>
          </p:cNvPr>
          <p:cNvGrpSpPr>
            <a:grpSpLocks/>
          </p:cNvGrpSpPr>
          <p:nvPr/>
        </p:nvGrpSpPr>
        <p:grpSpPr bwMode="auto">
          <a:xfrm>
            <a:off x="1754188" y="5605462"/>
            <a:ext cx="276225" cy="450850"/>
            <a:chOff x="739" y="2900"/>
            <a:chExt cx="174" cy="284"/>
          </a:xfrm>
        </p:grpSpPr>
        <p:sp>
          <p:nvSpPr>
            <p:cNvPr id="164" name="Line 643">
              <a:extLst>
                <a:ext uri="{FF2B5EF4-FFF2-40B4-BE49-F238E27FC236}">
                  <a16:creationId xmlns:a16="http://schemas.microsoft.com/office/drawing/2014/main" id="{32FD1892-A38B-4C4F-BED6-E19736A1A8B6}"/>
                </a:ext>
              </a:extLst>
            </p:cNvPr>
            <p:cNvSpPr>
              <a:spLocks noChangeShapeType="1"/>
            </p:cNvSpPr>
            <p:nvPr/>
          </p:nvSpPr>
          <p:spPr bwMode="auto">
            <a:xfrm flipV="1">
              <a:off x="739" y="3181"/>
              <a:ext cx="40" cy="3"/>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65" name="Line 644">
              <a:extLst>
                <a:ext uri="{FF2B5EF4-FFF2-40B4-BE49-F238E27FC236}">
                  <a16:creationId xmlns:a16="http://schemas.microsoft.com/office/drawing/2014/main" id="{7502DE9B-D2E2-4506-82F1-C73C59018E44}"/>
                </a:ext>
              </a:extLst>
            </p:cNvPr>
            <p:cNvSpPr>
              <a:spLocks noChangeShapeType="1"/>
            </p:cNvSpPr>
            <p:nvPr/>
          </p:nvSpPr>
          <p:spPr bwMode="auto">
            <a:xfrm flipV="1">
              <a:off x="779" y="2900"/>
              <a:ext cx="0" cy="281"/>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66" name="Line 645">
              <a:extLst>
                <a:ext uri="{FF2B5EF4-FFF2-40B4-BE49-F238E27FC236}">
                  <a16:creationId xmlns:a16="http://schemas.microsoft.com/office/drawing/2014/main" id="{D2B180B6-613C-4D11-BDAB-3366F3CBBCB4}"/>
                </a:ext>
              </a:extLst>
            </p:cNvPr>
            <p:cNvSpPr>
              <a:spLocks noChangeShapeType="1"/>
            </p:cNvSpPr>
            <p:nvPr/>
          </p:nvSpPr>
          <p:spPr bwMode="auto">
            <a:xfrm>
              <a:off x="779" y="2900"/>
              <a:ext cx="134" cy="3"/>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grpSp>
      <p:grpSp>
        <p:nvGrpSpPr>
          <p:cNvPr id="141472" name="Group 646">
            <a:extLst>
              <a:ext uri="{FF2B5EF4-FFF2-40B4-BE49-F238E27FC236}">
                <a16:creationId xmlns:a16="http://schemas.microsoft.com/office/drawing/2014/main" id="{6DD185E9-7782-4508-A21A-560B07DFA2F2}"/>
              </a:ext>
            </a:extLst>
          </p:cNvPr>
          <p:cNvGrpSpPr>
            <a:grpSpLocks/>
          </p:cNvGrpSpPr>
          <p:nvPr/>
        </p:nvGrpSpPr>
        <p:grpSpPr bwMode="auto">
          <a:xfrm>
            <a:off x="2392363" y="5605462"/>
            <a:ext cx="276225" cy="450850"/>
            <a:chOff x="739" y="2900"/>
            <a:chExt cx="174" cy="284"/>
          </a:xfrm>
        </p:grpSpPr>
        <p:sp>
          <p:nvSpPr>
            <p:cNvPr id="168" name="Line 647">
              <a:extLst>
                <a:ext uri="{FF2B5EF4-FFF2-40B4-BE49-F238E27FC236}">
                  <a16:creationId xmlns:a16="http://schemas.microsoft.com/office/drawing/2014/main" id="{D09B1144-1F22-45D7-9E0B-CE055A151064}"/>
                </a:ext>
              </a:extLst>
            </p:cNvPr>
            <p:cNvSpPr>
              <a:spLocks noChangeShapeType="1"/>
            </p:cNvSpPr>
            <p:nvPr/>
          </p:nvSpPr>
          <p:spPr bwMode="auto">
            <a:xfrm flipV="1">
              <a:off x="739" y="3181"/>
              <a:ext cx="40" cy="3"/>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69" name="Line 648">
              <a:extLst>
                <a:ext uri="{FF2B5EF4-FFF2-40B4-BE49-F238E27FC236}">
                  <a16:creationId xmlns:a16="http://schemas.microsoft.com/office/drawing/2014/main" id="{161A7E65-43BF-48DF-AF04-B86397BDB80C}"/>
                </a:ext>
              </a:extLst>
            </p:cNvPr>
            <p:cNvSpPr>
              <a:spLocks noChangeShapeType="1"/>
            </p:cNvSpPr>
            <p:nvPr/>
          </p:nvSpPr>
          <p:spPr bwMode="auto">
            <a:xfrm flipV="1">
              <a:off x="779" y="2900"/>
              <a:ext cx="0" cy="281"/>
            </a:xfrm>
            <a:prstGeom prst="line">
              <a:avLst/>
            </a:prstGeom>
            <a:noFill/>
            <a:ln w="9525">
              <a:solidFill>
                <a:srgbClr val="000000"/>
              </a:solidFill>
              <a:round/>
              <a:headEnd/>
              <a:tailEnd/>
            </a:ln>
            <a:effectLst/>
          </p:spPr>
          <p:txBody>
            <a:bodyPr wrap="none" lIns="90487" tIns="44450" rIns="90487" bIns="44450" anchor="ctr"/>
            <a:lstStyle/>
            <a:p>
              <a:pPr>
                <a:defRPr/>
              </a:pPr>
              <a:endParaRPr kumimoji="0" lang="en-US" sz="1600" b="1">
                <a:solidFill>
                  <a:srgbClr val="000000"/>
                </a:solidFill>
                <a:latin typeface="Calibri"/>
                <a:ea typeface="+mn-ea"/>
              </a:endParaRPr>
            </a:p>
          </p:txBody>
        </p:sp>
        <p:sp>
          <p:nvSpPr>
            <p:cNvPr id="170" name="Line 649">
              <a:extLst>
                <a:ext uri="{FF2B5EF4-FFF2-40B4-BE49-F238E27FC236}">
                  <a16:creationId xmlns:a16="http://schemas.microsoft.com/office/drawing/2014/main" id="{64F06284-C285-4F7F-8D3B-673B8E537E2D}"/>
                </a:ext>
              </a:extLst>
            </p:cNvPr>
            <p:cNvSpPr>
              <a:spLocks noChangeShapeType="1"/>
            </p:cNvSpPr>
            <p:nvPr/>
          </p:nvSpPr>
          <p:spPr bwMode="auto">
            <a:xfrm>
              <a:off x="779" y="2900"/>
              <a:ext cx="134" cy="3"/>
            </a:xfrm>
            <a:prstGeom prst="line">
              <a:avLst/>
            </a:prstGeom>
            <a:noFill/>
            <a:ln w="9525">
              <a:solidFill>
                <a:srgbClr val="000000"/>
              </a:solidFill>
              <a:round/>
              <a:headEnd/>
              <a:tailEnd type="triangle" w="med" len="med"/>
            </a:ln>
            <a:effectLst/>
          </p:spPr>
          <p:txBody>
            <a:bodyPr wrap="none" lIns="90487" tIns="44450" rIns="90487" bIns="44450" anchor="ctr"/>
            <a:lstStyle/>
            <a:p>
              <a:pPr>
                <a:defRPr/>
              </a:pPr>
              <a:endParaRPr kumimoji="0" lang="en-US" sz="1600" b="1">
                <a:solidFill>
                  <a:srgbClr val="000000"/>
                </a:solidFill>
                <a:latin typeface="Calibri"/>
                <a:ea typeface="+mn-ea"/>
              </a:endParaRPr>
            </a:p>
          </p:txBody>
        </p:sp>
      </p:grpSp>
      <p:sp>
        <p:nvSpPr>
          <p:cNvPr id="171" name="Text Box 448">
            <a:extLst>
              <a:ext uri="{FF2B5EF4-FFF2-40B4-BE49-F238E27FC236}">
                <a16:creationId xmlns:a16="http://schemas.microsoft.com/office/drawing/2014/main" id="{916DA9B5-4AFC-419E-AD09-73BFCB8B9865}"/>
              </a:ext>
            </a:extLst>
          </p:cNvPr>
          <p:cNvSpPr txBox="1">
            <a:spLocks noChangeArrowheads="1"/>
          </p:cNvSpPr>
          <p:nvPr/>
        </p:nvSpPr>
        <p:spPr bwMode="auto">
          <a:xfrm>
            <a:off x="1403350" y="6542087"/>
            <a:ext cx="1150938" cy="315913"/>
          </a:xfrm>
          <a:prstGeom prst="rect">
            <a:avLst/>
          </a:prstGeom>
          <a:noFill/>
          <a:ln w="9525">
            <a:noFill/>
            <a:miter lim="800000"/>
            <a:headEnd/>
            <a:tailEnd/>
          </a:ln>
          <a:effectLst/>
        </p:spPr>
        <p:txBody>
          <a:bodyPr wrap="none" lIns="90487" tIns="44450" rIns="90487" bIns="44450">
            <a:spAutoFit/>
          </a:bodyPr>
          <a:lstStyle/>
          <a:p>
            <a:pPr>
              <a:lnSpc>
                <a:spcPct val="90000"/>
              </a:lnSpc>
              <a:spcBef>
                <a:spcPct val="30000"/>
              </a:spcBef>
              <a:defRPr/>
            </a:pPr>
            <a:r>
              <a:rPr kumimoji="0" lang="en-US" sz="1600" b="1" dirty="0">
                <a:solidFill>
                  <a:srgbClr val="000000"/>
                </a:solidFill>
                <a:latin typeface="Calibri"/>
                <a:ea typeface="+mn-ea"/>
              </a:rPr>
              <a:t>Page tables</a:t>
            </a:r>
          </a:p>
        </p:txBody>
      </p:sp>
      <p:sp>
        <p:nvSpPr>
          <p:cNvPr id="141474" name="文本框 171">
            <a:extLst>
              <a:ext uri="{FF2B5EF4-FFF2-40B4-BE49-F238E27FC236}">
                <a16:creationId xmlns:a16="http://schemas.microsoft.com/office/drawing/2014/main" id="{5E8C6E32-D561-459D-94C8-D88709B96CA0}"/>
              </a:ext>
            </a:extLst>
          </p:cNvPr>
          <p:cNvSpPr txBox="1">
            <a:spLocks noChangeArrowheads="1"/>
          </p:cNvSpPr>
          <p:nvPr/>
        </p:nvSpPr>
        <p:spPr bwMode="auto">
          <a:xfrm>
            <a:off x="7318375" y="5924550"/>
            <a:ext cx="908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400" b="1"/>
              <a:t>Set Index</a:t>
            </a:r>
            <a:endParaRPr lang="zh-CN" altLang="en-US" sz="1400" b="1"/>
          </a:p>
        </p:txBody>
      </p:sp>
      <p:sp>
        <p:nvSpPr>
          <p:cNvPr id="141475" name="文本框 173">
            <a:extLst>
              <a:ext uri="{FF2B5EF4-FFF2-40B4-BE49-F238E27FC236}">
                <a16:creationId xmlns:a16="http://schemas.microsoft.com/office/drawing/2014/main" id="{FD57A851-85E3-4B43-AF65-4D39B9B315FA}"/>
              </a:ext>
            </a:extLst>
          </p:cNvPr>
          <p:cNvSpPr txBox="1">
            <a:spLocks noChangeArrowheads="1"/>
          </p:cNvSpPr>
          <p:nvPr/>
        </p:nvSpPr>
        <p:spPr bwMode="auto">
          <a:xfrm>
            <a:off x="8299450" y="5922962"/>
            <a:ext cx="6524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400" b="1"/>
              <a:t>Offset</a:t>
            </a:r>
            <a:endParaRPr lang="zh-CN" altLang="en-US" sz="1400" b="1"/>
          </a:p>
        </p:txBody>
      </p:sp>
      <p:cxnSp>
        <p:nvCxnSpPr>
          <p:cNvPr id="141476" name="直接箭头连接符 175">
            <a:extLst>
              <a:ext uri="{FF2B5EF4-FFF2-40B4-BE49-F238E27FC236}">
                <a16:creationId xmlns:a16="http://schemas.microsoft.com/office/drawing/2014/main" id="{F37B3C30-2412-4417-AF6D-A0F400D90B6A}"/>
              </a:ext>
            </a:extLst>
          </p:cNvPr>
          <p:cNvCxnSpPr>
            <a:cxnSpLocks noChangeShapeType="1"/>
            <a:stCxn id="141475" idx="0"/>
          </p:cNvCxnSpPr>
          <p:nvPr/>
        </p:nvCxnSpPr>
        <p:spPr bwMode="auto">
          <a:xfrm flipH="1" flipV="1">
            <a:off x="8416925" y="5327650"/>
            <a:ext cx="207963" cy="595312"/>
          </a:xfrm>
          <a:prstGeom prst="straightConnector1">
            <a:avLst/>
          </a:prstGeom>
          <a:noFill/>
          <a:ln w="22225" algn="ctr">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41477" name="直接箭头连接符 177">
            <a:extLst>
              <a:ext uri="{FF2B5EF4-FFF2-40B4-BE49-F238E27FC236}">
                <a16:creationId xmlns:a16="http://schemas.microsoft.com/office/drawing/2014/main" id="{F1E33704-1AF3-426F-8239-1B351AF181C9}"/>
              </a:ext>
            </a:extLst>
          </p:cNvPr>
          <p:cNvCxnSpPr>
            <a:cxnSpLocks noChangeShapeType="1"/>
            <a:stCxn id="141474" idx="0"/>
            <a:endCxn id="109" idx="2"/>
          </p:cNvCxnSpPr>
          <p:nvPr/>
        </p:nvCxnSpPr>
        <p:spPr bwMode="auto">
          <a:xfrm flipV="1">
            <a:off x="7772400" y="5311775"/>
            <a:ext cx="339725" cy="612775"/>
          </a:xfrm>
          <a:prstGeom prst="straightConnector1">
            <a:avLst/>
          </a:prstGeom>
          <a:noFill/>
          <a:ln w="22225" algn="ctr">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41478" name="文本框 179">
            <a:extLst>
              <a:ext uri="{FF2B5EF4-FFF2-40B4-BE49-F238E27FC236}">
                <a16:creationId xmlns:a16="http://schemas.microsoft.com/office/drawing/2014/main" id="{577F6A2F-3734-4B90-A1E1-24DD25309A6F}"/>
              </a:ext>
            </a:extLst>
          </p:cNvPr>
          <p:cNvSpPr txBox="1">
            <a:spLocks noChangeArrowheads="1"/>
          </p:cNvSpPr>
          <p:nvPr/>
        </p:nvSpPr>
        <p:spPr bwMode="auto">
          <a:xfrm>
            <a:off x="3536950" y="6210300"/>
            <a:ext cx="3276600" cy="307975"/>
          </a:xfrm>
          <a:prstGeom prst="rect">
            <a:avLst/>
          </a:prstGeom>
          <a:noFill/>
          <a:ln w="19050">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400" b="1">
                <a:solidFill>
                  <a:srgbClr val="C00000"/>
                </a:solidFill>
              </a:rPr>
              <a:t>VA48bit </a:t>
            </a:r>
            <a:r>
              <a:rPr lang="en-US" altLang="zh-CN" sz="1400" b="1">
                <a:solidFill>
                  <a:srgbClr val="C00000"/>
                </a:solidFill>
                <a:sym typeface="Symbol" panose="05050102010706020507" pitchFamily="18" charset="2"/>
              </a:rPr>
              <a:t></a:t>
            </a:r>
            <a:r>
              <a:rPr lang="en-US" altLang="zh-CN" sz="1400" b="1">
                <a:solidFill>
                  <a:srgbClr val="C00000"/>
                </a:solidFill>
              </a:rPr>
              <a:t> PA52bit Address Translation</a:t>
            </a:r>
            <a:endParaRPr lang="zh-CN" altLang="en-US" sz="1400" b="1">
              <a:solidFill>
                <a:srgbClr val="C00000"/>
              </a:solidFill>
            </a:endParaRPr>
          </a:p>
        </p:txBody>
      </p:sp>
    </p:spTree>
  </p:cSld>
  <p:clrMapOvr>
    <a:masterClrMapping/>
  </p:clrMapOvr>
  <p:transition spd="med">
    <p:pull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C1CB9D-0CBA-49DB-8621-95524896E744}"/>
              </a:ext>
            </a:extLst>
          </p:cNvPr>
          <p:cNvSpPr>
            <a:spLocks noGrp="1"/>
          </p:cNvSpPr>
          <p:nvPr>
            <p:ph type="title"/>
          </p:nvPr>
        </p:nvSpPr>
        <p:spPr/>
        <p:txBody>
          <a:bodyPr/>
          <a:lstStyle/>
          <a:p>
            <a:pPr>
              <a:defRPr/>
            </a:pPr>
            <a:r>
              <a:rPr lang="en-US" altLang="zh-CN"/>
              <a:t>Core i7 </a:t>
            </a:r>
            <a:r>
              <a:rPr lang="zh-CN" altLang="en-US"/>
              <a:t>页表翻译</a:t>
            </a:r>
          </a:p>
        </p:txBody>
      </p:sp>
      <p:sp>
        <p:nvSpPr>
          <p:cNvPr id="5" name="Text Box 381">
            <a:extLst>
              <a:ext uri="{FF2B5EF4-FFF2-40B4-BE49-F238E27FC236}">
                <a16:creationId xmlns:a16="http://schemas.microsoft.com/office/drawing/2014/main" id="{E95C5CD4-DF0A-4FDF-A257-782DE4508E03}"/>
              </a:ext>
            </a:extLst>
          </p:cNvPr>
          <p:cNvSpPr txBox="1">
            <a:spLocks noChangeArrowheads="1"/>
          </p:cNvSpPr>
          <p:nvPr/>
        </p:nvSpPr>
        <p:spPr bwMode="auto">
          <a:xfrm>
            <a:off x="158750" y="2728913"/>
            <a:ext cx="469900" cy="287337"/>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a:solidFill>
                  <a:srgbClr val="000000"/>
                </a:solidFill>
                <a:latin typeface="Calibri"/>
                <a:ea typeface="+mn-ea"/>
              </a:rPr>
              <a:t>CR3</a:t>
            </a:r>
          </a:p>
        </p:txBody>
      </p:sp>
      <p:sp>
        <p:nvSpPr>
          <p:cNvPr id="6" name="Text Box 387">
            <a:extLst>
              <a:ext uri="{FF2B5EF4-FFF2-40B4-BE49-F238E27FC236}">
                <a16:creationId xmlns:a16="http://schemas.microsoft.com/office/drawing/2014/main" id="{27341CBE-832B-4BAD-9609-FA3207ED2252}"/>
              </a:ext>
            </a:extLst>
          </p:cNvPr>
          <p:cNvSpPr txBox="1">
            <a:spLocks noChangeArrowheads="1"/>
          </p:cNvSpPr>
          <p:nvPr/>
        </p:nvSpPr>
        <p:spPr bwMode="auto">
          <a:xfrm>
            <a:off x="6407150" y="3986213"/>
            <a:ext cx="823913" cy="804862"/>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i="1">
                <a:solidFill>
                  <a:srgbClr val="000000"/>
                </a:solidFill>
                <a:latin typeface="Calibri"/>
                <a:ea typeface="+mn-ea"/>
              </a:rPr>
              <a:t>Physical  </a:t>
            </a:r>
          </a:p>
          <a:p>
            <a:pPr algn="ctr">
              <a:lnSpc>
                <a:spcPct val="90000"/>
              </a:lnSpc>
              <a:spcBef>
                <a:spcPct val="30000"/>
              </a:spcBef>
              <a:defRPr/>
            </a:pPr>
            <a:r>
              <a:rPr kumimoji="0" lang="en-US" sz="1400" b="1" i="1">
                <a:solidFill>
                  <a:srgbClr val="000000"/>
                </a:solidFill>
                <a:latin typeface="Calibri"/>
                <a:ea typeface="+mn-ea"/>
              </a:rPr>
              <a:t>address</a:t>
            </a:r>
          </a:p>
          <a:p>
            <a:pPr algn="ctr">
              <a:lnSpc>
                <a:spcPct val="90000"/>
              </a:lnSpc>
              <a:spcBef>
                <a:spcPct val="30000"/>
              </a:spcBef>
              <a:defRPr/>
            </a:pPr>
            <a:r>
              <a:rPr kumimoji="0" lang="en-US" sz="1400" b="1" i="1">
                <a:solidFill>
                  <a:srgbClr val="000000"/>
                </a:solidFill>
                <a:latin typeface="Calibri"/>
                <a:ea typeface="+mn-ea"/>
              </a:rPr>
              <a:t>of page</a:t>
            </a:r>
          </a:p>
        </p:txBody>
      </p:sp>
      <p:sp>
        <p:nvSpPr>
          <p:cNvPr id="7" name="Text Box 388">
            <a:extLst>
              <a:ext uri="{FF2B5EF4-FFF2-40B4-BE49-F238E27FC236}">
                <a16:creationId xmlns:a16="http://schemas.microsoft.com/office/drawing/2014/main" id="{F83084ED-50E4-4BF5-91CB-728E2C7AD172}"/>
              </a:ext>
            </a:extLst>
          </p:cNvPr>
          <p:cNvSpPr txBox="1">
            <a:spLocks noChangeArrowheads="1"/>
          </p:cNvSpPr>
          <p:nvPr/>
        </p:nvSpPr>
        <p:spPr bwMode="auto">
          <a:xfrm>
            <a:off x="53975" y="2943225"/>
            <a:ext cx="823913" cy="8048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i="1">
                <a:solidFill>
                  <a:srgbClr val="000000"/>
                </a:solidFill>
                <a:latin typeface="Calibri"/>
                <a:ea typeface="+mn-ea"/>
              </a:rPr>
              <a:t>Physical </a:t>
            </a:r>
          </a:p>
          <a:p>
            <a:pPr algn="ctr">
              <a:lnSpc>
                <a:spcPct val="90000"/>
              </a:lnSpc>
              <a:spcBef>
                <a:spcPct val="30000"/>
              </a:spcBef>
              <a:defRPr/>
            </a:pPr>
            <a:r>
              <a:rPr kumimoji="0" lang="en-US" sz="1400" b="1" i="1">
                <a:solidFill>
                  <a:srgbClr val="000000"/>
                </a:solidFill>
                <a:latin typeface="Calibri"/>
                <a:ea typeface="+mn-ea"/>
              </a:rPr>
              <a:t>address</a:t>
            </a:r>
          </a:p>
          <a:p>
            <a:pPr algn="ctr">
              <a:lnSpc>
                <a:spcPct val="90000"/>
              </a:lnSpc>
              <a:spcBef>
                <a:spcPct val="30000"/>
              </a:spcBef>
              <a:defRPr/>
            </a:pPr>
            <a:r>
              <a:rPr kumimoji="0" lang="en-US" sz="1400" b="1" i="1">
                <a:solidFill>
                  <a:srgbClr val="000000"/>
                </a:solidFill>
                <a:latin typeface="Calibri"/>
                <a:ea typeface="+mn-ea"/>
              </a:rPr>
              <a:t>of L1 PT</a:t>
            </a:r>
          </a:p>
        </p:txBody>
      </p:sp>
      <p:sp>
        <p:nvSpPr>
          <p:cNvPr id="8" name="Text Box 394">
            <a:extLst>
              <a:ext uri="{FF2B5EF4-FFF2-40B4-BE49-F238E27FC236}">
                <a16:creationId xmlns:a16="http://schemas.microsoft.com/office/drawing/2014/main" id="{B4481CA4-A430-4011-ACF7-B8259A4692DF}"/>
              </a:ext>
            </a:extLst>
          </p:cNvPr>
          <p:cNvSpPr txBox="1">
            <a:spLocks noChangeAspect="1" noChangeArrowheads="1"/>
          </p:cNvSpPr>
          <p:nvPr/>
        </p:nvSpPr>
        <p:spPr bwMode="auto">
          <a:xfrm>
            <a:off x="2901950" y="1057275"/>
            <a:ext cx="260350"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9</a:t>
            </a:r>
          </a:p>
        </p:txBody>
      </p:sp>
      <p:sp>
        <p:nvSpPr>
          <p:cNvPr id="9" name="Rectangle 395">
            <a:extLst>
              <a:ext uri="{FF2B5EF4-FFF2-40B4-BE49-F238E27FC236}">
                <a16:creationId xmlns:a16="http://schemas.microsoft.com/office/drawing/2014/main" id="{119896AD-5E9E-4F03-BB22-7A6815868647}"/>
              </a:ext>
            </a:extLst>
          </p:cNvPr>
          <p:cNvSpPr>
            <a:spLocks noChangeAspect="1" noChangeArrowheads="1"/>
          </p:cNvSpPr>
          <p:nvPr/>
        </p:nvSpPr>
        <p:spPr bwMode="auto">
          <a:xfrm>
            <a:off x="6142038" y="1287463"/>
            <a:ext cx="1843087" cy="273050"/>
          </a:xfrm>
          <a:prstGeom prst="rect">
            <a:avLst/>
          </a:prstGeom>
          <a:solidFill>
            <a:srgbClr val="DEDFF5"/>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dirty="0">
                <a:solidFill>
                  <a:srgbClr val="000000"/>
                </a:solidFill>
                <a:latin typeface="Calibri"/>
                <a:ea typeface="+mn-ea"/>
              </a:rPr>
              <a:t>VPO</a:t>
            </a:r>
          </a:p>
        </p:txBody>
      </p:sp>
      <p:sp>
        <p:nvSpPr>
          <p:cNvPr id="10" name="Text Box 396">
            <a:extLst>
              <a:ext uri="{FF2B5EF4-FFF2-40B4-BE49-F238E27FC236}">
                <a16:creationId xmlns:a16="http://schemas.microsoft.com/office/drawing/2014/main" id="{1FD6FB81-3989-4299-93D3-636DDC641DC5}"/>
              </a:ext>
            </a:extLst>
          </p:cNvPr>
          <p:cNvSpPr txBox="1">
            <a:spLocks noChangeAspect="1" noChangeArrowheads="1"/>
          </p:cNvSpPr>
          <p:nvPr/>
        </p:nvSpPr>
        <p:spPr bwMode="auto">
          <a:xfrm>
            <a:off x="5454650" y="1066800"/>
            <a:ext cx="260350"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9</a:t>
            </a:r>
          </a:p>
        </p:txBody>
      </p:sp>
      <p:sp>
        <p:nvSpPr>
          <p:cNvPr id="11" name="Text Box 397">
            <a:extLst>
              <a:ext uri="{FF2B5EF4-FFF2-40B4-BE49-F238E27FC236}">
                <a16:creationId xmlns:a16="http://schemas.microsoft.com/office/drawing/2014/main" id="{D11552F1-CEA1-4794-802F-911C31DD8A46}"/>
              </a:ext>
            </a:extLst>
          </p:cNvPr>
          <p:cNvSpPr txBox="1">
            <a:spLocks noChangeAspect="1" noChangeArrowheads="1"/>
          </p:cNvSpPr>
          <p:nvPr/>
        </p:nvSpPr>
        <p:spPr bwMode="auto">
          <a:xfrm>
            <a:off x="6878638" y="1066800"/>
            <a:ext cx="338137"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12</a:t>
            </a:r>
          </a:p>
        </p:txBody>
      </p:sp>
      <p:sp>
        <p:nvSpPr>
          <p:cNvPr id="12" name="Text Box 399">
            <a:extLst>
              <a:ext uri="{FF2B5EF4-FFF2-40B4-BE49-F238E27FC236}">
                <a16:creationId xmlns:a16="http://schemas.microsoft.com/office/drawing/2014/main" id="{26B019EE-608D-4685-B8BF-1FE4319E9886}"/>
              </a:ext>
            </a:extLst>
          </p:cNvPr>
          <p:cNvSpPr txBox="1">
            <a:spLocks noChangeAspect="1" noChangeArrowheads="1"/>
          </p:cNvSpPr>
          <p:nvPr/>
        </p:nvSpPr>
        <p:spPr bwMode="auto">
          <a:xfrm>
            <a:off x="8053388" y="1068388"/>
            <a:ext cx="927100" cy="676275"/>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800" b="1">
                <a:solidFill>
                  <a:srgbClr val="000000"/>
                </a:solidFill>
                <a:latin typeface="Calibri"/>
                <a:ea typeface="+mn-ea"/>
              </a:rPr>
              <a:t>Virtual </a:t>
            </a:r>
          </a:p>
          <a:p>
            <a:pPr algn="ctr">
              <a:lnSpc>
                <a:spcPct val="90000"/>
              </a:lnSpc>
              <a:spcBef>
                <a:spcPct val="30000"/>
              </a:spcBef>
              <a:defRPr/>
            </a:pPr>
            <a:r>
              <a:rPr kumimoji="0" lang="en-US" sz="1800" b="1">
                <a:solidFill>
                  <a:srgbClr val="000000"/>
                </a:solidFill>
                <a:latin typeface="Calibri"/>
                <a:ea typeface="+mn-ea"/>
              </a:rPr>
              <a:t>address</a:t>
            </a:r>
          </a:p>
        </p:txBody>
      </p:sp>
      <p:sp>
        <p:nvSpPr>
          <p:cNvPr id="13" name="Line 403">
            <a:extLst>
              <a:ext uri="{FF2B5EF4-FFF2-40B4-BE49-F238E27FC236}">
                <a16:creationId xmlns:a16="http://schemas.microsoft.com/office/drawing/2014/main" id="{FC129C8F-599B-471A-8E9C-88BC1AD6A4AD}"/>
              </a:ext>
            </a:extLst>
          </p:cNvPr>
          <p:cNvSpPr>
            <a:spLocks noChangeShapeType="1"/>
          </p:cNvSpPr>
          <p:nvPr/>
        </p:nvSpPr>
        <p:spPr bwMode="auto">
          <a:xfrm>
            <a:off x="6102350" y="3706813"/>
            <a:ext cx="304800" cy="0"/>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14" name="Line 404">
            <a:extLst>
              <a:ext uri="{FF2B5EF4-FFF2-40B4-BE49-F238E27FC236}">
                <a16:creationId xmlns:a16="http://schemas.microsoft.com/office/drawing/2014/main" id="{298B65F5-9B38-46A4-BED3-ED1C347A2655}"/>
              </a:ext>
            </a:extLst>
          </p:cNvPr>
          <p:cNvSpPr>
            <a:spLocks noChangeShapeType="1"/>
          </p:cNvSpPr>
          <p:nvPr/>
        </p:nvSpPr>
        <p:spPr bwMode="auto">
          <a:xfrm>
            <a:off x="6407150" y="3706813"/>
            <a:ext cx="0" cy="1839912"/>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15" name="Line 406">
            <a:extLst>
              <a:ext uri="{FF2B5EF4-FFF2-40B4-BE49-F238E27FC236}">
                <a16:creationId xmlns:a16="http://schemas.microsoft.com/office/drawing/2014/main" id="{2D8DAB96-90E1-4CE8-9A4F-6EDBFD07BD43}"/>
              </a:ext>
            </a:extLst>
          </p:cNvPr>
          <p:cNvSpPr>
            <a:spLocks noChangeShapeType="1"/>
          </p:cNvSpPr>
          <p:nvPr/>
        </p:nvSpPr>
        <p:spPr bwMode="auto">
          <a:xfrm>
            <a:off x="5113338" y="3732213"/>
            <a:ext cx="265112"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16" name="Rectangle 382">
            <a:extLst>
              <a:ext uri="{FF2B5EF4-FFF2-40B4-BE49-F238E27FC236}">
                <a16:creationId xmlns:a16="http://schemas.microsoft.com/office/drawing/2014/main" id="{32C1BC39-BAEB-4CB5-A4AD-D0F11B38A93C}"/>
              </a:ext>
            </a:extLst>
          </p:cNvPr>
          <p:cNvSpPr>
            <a:spLocks noChangeArrowheads="1"/>
          </p:cNvSpPr>
          <p:nvPr/>
        </p:nvSpPr>
        <p:spPr bwMode="auto">
          <a:xfrm>
            <a:off x="5378450" y="2843213"/>
            <a:ext cx="762000" cy="16002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17" name="Text Box 392">
            <a:extLst>
              <a:ext uri="{FF2B5EF4-FFF2-40B4-BE49-F238E27FC236}">
                <a16:creationId xmlns:a16="http://schemas.microsoft.com/office/drawing/2014/main" id="{C7896577-8954-4D88-8698-6F23370D3C78}"/>
              </a:ext>
            </a:extLst>
          </p:cNvPr>
          <p:cNvSpPr txBox="1">
            <a:spLocks noChangeArrowheads="1"/>
          </p:cNvSpPr>
          <p:nvPr/>
        </p:nvSpPr>
        <p:spPr bwMode="auto">
          <a:xfrm>
            <a:off x="5446713" y="2057400"/>
            <a:ext cx="608012" cy="8048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a:solidFill>
                  <a:srgbClr val="000000"/>
                </a:solidFill>
                <a:latin typeface="Calibri"/>
                <a:ea typeface="+mn-ea"/>
              </a:rPr>
              <a:t>L4 PT</a:t>
            </a:r>
          </a:p>
          <a:p>
            <a:pPr algn="ctr">
              <a:lnSpc>
                <a:spcPct val="90000"/>
              </a:lnSpc>
              <a:spcBef>
                <a:spcPct val="30000"/>
              </a:spcBef>
              <a:defRPr/>
            </a:pPr>
            <a:r>
              <a:rPr kumimoji="0" lang="en-US" sz="1400" b="1" i="1">
                <a:solidFill>
                  <a:srgbClr val="000000"/>
                </a:solidFill>
                <a:latin typeface="Calibri"/>
                <a:ea typeface="+mn-ea"/>
              </a:rPr>
              <a:t>Page </a:t>
            </a:r>
          </a:p>
          <a:p>
            <a:pPr algn="ctr">
              <a:lnSpc>
                <a:spcPct val="90000"/>
              </a:lnSpc>
              <a:spcBef>
                <a:spcPct val="30000"/>
              </a:spcBef>
              <a:defRPr/>
            </a:pPr>
            <a:r>
              <a:rPr kumimoji="0" lang="en-US" sz="1400" b="1" i="1">
                <a:solidFill>
                  <a:srgbClr val="000000"/>
                </a:solidFill>
                <a:latin typeface="Calibri"/>
                <a:ea typeface="+mn-ea"/>
              </a:rPr>
              <a:t>table</a:t>
            </a:r>
          </a:p>
        </p:txBody>
      </p:sp>
      <p:sp>
        <p:nvSpPr>
          <p:cNvPr id="18" name="Rectangle 405">
            <a:extLst>
              <a:ext uri="{FF2B5EF4-FFF2-40B4-BE49-F238E27FC236}">
                <a16:creationId xmlns:a16="http://schemas.microsoft.com/office/drawing/2014/main" id="{457C32A0-71D2-4D94-A4D2-1DAA965D4E12}"/>
              </a:ext>
            </a:extLst>
          </p:cNvPr>
          <p:cNvSpPr>
            <a:spLocks noChangeArrowheads="1"/>
          </p:cNvSpPr>
          <p:nvPr/>
        </p:nvSpPr>
        <p:spPr bwMode="auto">
          <a:xfrm>
            <a:off x="5381625" y="3605213"/>
            <a:ext cx="758825" cy="22860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L4 PTE</a:t>
            </a:r>
          </a:p>
        </p:txBody>
      </p:sp>
      <p:sp>
        <p:nvSpPr>
          <p:cNvPr id="19" name="Line 407">
            <a:extLst>
              <a:ext uri="{FF2B5EF4-FFF2-40B4-BE49-F238E27FC236}">
                <a16:creationId xmlns:a16="http://schemas.microsoft.com/office/drawing/2014/main" id="{6482C52C-5C50-4912-B5E3-48D85D5EF403}"/>
              </a:ext>
            </a:extLst>
          </p:cNvPr>
          <p:cNvSpPr>
            <a:spLocks noChangeShapeType="1"/>
          </p:cNvSpPr>
          <p:nvPr/>
        </p:nvSpPr>
        <p:spPr bwMode="auto">
          <a:xfrm>
            <a:off x="5113338" y="1560513"/>
            <a:ext cx="7937" cy="2168525"/>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20" name="Line 408">
            <a:extLst>
              <a:ext uri="{FF2B5EF4-FFF2-40B4-BE49-F238E27FC236}">
                <a16:creationId xmlns:a16="http://schemas.microsoft.com/office/drawing/2014/main" id="{C7F57552-C096-4B23-B512-662E5E8B3B99}"/>
              </a:ext>
            </a:extLst>
          </p:cNvPr>
          <p:cNvSpPr>
            <a:spLocks noChangeShapeType="1"/>
          </p:cNvSpPr>
          <p:nvPr/>
        </p:nvSpPr>
        <p:spPr bwMode="auto">
          <a:xfrm>
            <a:off x="7639050" y="1560513"/>
            <a:ext cx="0" cy="4437062"/>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21" name="Rectangle 409">
            <a:extLst>
              <a:ext uri="{FF2B5EF4-FFF2-40B4-BE49-F238E27FC236}">
                <a16:creationId xmlns:a16="http://schemas.microsoft.com/office/drawing/2014/main" id="{E2E40C56-7585-4676-81A2-7239228BDD25}"/>
              </a:ext>
            </a:extLst>
          </p:cNvPr>
          <p:cNvSpPr>
            <a:spLocks noChangeAspect="1" noChangeArrowheads="1"/>
          </p:cNvSpPr>
          <p:nvPr/>
        </p:nvSpPr>
        <p:spPr bwMode="auto">
          <a:xfrm>
            <a:off x="1589088" y="5997575"/>
            <a:ext cx="4495800" cy="287338"/>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PPN</a:t>
            </a:r>
          </a:p>
        </p:txBody>
      </p:sp>
      <p:sp>
        <p:nvSpPr>
          <p:cNvPr id="22" name="Rectangle 410">
            <a:extLst>
              <a:ext uri="{FF2B5EF4-FFF2-40B4-BE49-F238E27FC236}">
                <a16:creationId xmlns:a16="http://schemas.microsoft.com/office/drawing/2014/main" id="{36F84DAD-323C-42CE-89B1-A32FDB905B08}"/>
              </a:ext>
            </a:extLst>
          </p:cNvPr>
          <p:cNvSpPr>
            <a:spLocks noChangeAspect="1" noChangeArrowheads="1"/>
          </p:cNvSpPr>
          <p:nvPr/>
        </p:nvSpPr>
        <p:spPr bwMode="auto">
          <a:xfrm>
            <a:off x="6084888" y="5997575"/>
            <a:ext cx="1874837" cy="287338"/>
          </a:xfrm>
          <a:prstGeom prst="rect">
            <a:avLst/>
          </a:prstGeom>
          <a:solidFill>
            <a:srgbClr val="DEDFF5"/>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PPO</a:t>
            </a:r>
          </a:p>
        </p:txBody>
      </p:sp>
      <p:sp>
        <p:nvSpPr>
          <p:cNvPr id="23" name="Text Box 411">
            <a:extLst>
              <a:ext uri="{FF2B5EF4-FFF2-40B4-BE49-F238E27FC236}">
                <a16:creationId xmlns:a16="http://schemas.microsoft.com/office/drawing/2014/main" id="{8E43C412-B776-4AE0-8E4B-348C085D7778}"/>
              </a:ext>
            </a:extLst>
          </p:cNvPr>
          <p:cNvSpPr txBox="1">
            <a:spLocks noChangeAspect="1" noChangeArrowheads="1"/>
          </p:cNvSpPr>
          <p:nvPr/>
        </p:nvSpPr>
        <p:spPr bwMode="auto">
          <a:xfrm>
            <a:off x="3665538" y="5788025"/>
            <a:ext cx="338137"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40</a:t>
            </a:r>
          </a:p>
        </p:txBody>
      </p:sp>
      <p:sp>
        <p:nvSpPr>
          <p:cNvPr id="24" name="Text Box 412">
            <a:extLst>
              <a:ext uri="{FF2B5EF4-FFF2-40B4-BE49-F238E27FC236}">
                <a16:creationId xmlns:a16="http://schemas.microsoft.com/office/drawing/2014/main" id="{CF157AD3-0717-48FF-B2D7-742FB078107A}"/>
              </a:ext>
            </a:extLst>
          </p:cNvPr>
          <p:cNvSpPr txBox="1">
            <a:spLocks noChangeAspect="1" noChangeArrowheads="1"/>
          </p:cNvSpPr>
          <p:nvPr/>
        </p:nvSpPr>
        <p:spPr bwMode="auto">
          <a:xfrm>
            <a:off x="6853238" y="5788025"/>
            <a:ext cx="338137"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12</a:t>
            </a:r>
          </a:p>
        </p:txBody>
      </p:sp>
      <p:sp>
        <p:nvSpPr>
          <p:cNvPr id="25" name="Text Box 413">
            <a:extLst>
              <a:ext uri="{FF2B5EF4-FFF2-40B4-BE49-F238E27FC236}">
                <a16:creationId xmlns:a16="http://schemas.microsoft.com/office/drawing/2014/main" id="{CBAEA9A3-58AE-417B-82F7-9FC36040AC90}"/>
              </a:ext>
            </a:extLst>
          </p:cNvPr>
          <p:cNvSpPr txBox="1">
            <a:spLocks noChangeAspect="1" noChangeArrowheads="1"/>
          </p:cNvSpPr>
          <p:nvPr/>
        </p:nvSpPr>
        <p:spPr bwMode="auto">
          <a:xfrm>
            <a:off x="8053388" y="5800725"/>
            <a:ext cx="947737" cy="676275"/>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800" b="1">
                <a:solidFill>
                  <a:srgbClr val="000000"/>
                </a:solidFill>
                <a:latin typeface="Calibri"/>
                <a:ea typeface="+mn-ea"/>
              </a:rPr>
              <a:t>Physical </a:t>
            </a:r>
          </a:p>
          <a:p>
            <a:pPr algn="ctr">
              <a:lnSpc>
                <a:spcPct val="90000"/>
              </a:lnSpc>
              <a:spcBef>
                <a:spcPct val="30000"/>
              </a:spcBef>
              <a:defRPr/>
            </a:pPr>
            <a:r>
              <a:rPr kumimoji="0" lang="en-US" sz="1800" b="1">
                <a:solidFill>
                  <a:srgbClr val="000000"/>
                </a:solidFill>
                <a:latin typeface="Calibri"/>
                <a:ea typeface="+mn-ea"/>
              </a:rPr>
              <a:t>address</a:t>
            </a:r>
          </a:p>
        </p:txBody>
      </p:sp>
      <p:sp>
        <p:nvSpPr>
          <p:cNvPr id="26" name="Line 414">
            <a:extLst>
              <a:ext uri="{FF2B5EF4-FFF2-40B4-BE49-F238E27FC236}">
                <a16:creationId xmlns:a16="http://schemas.microsoft.com/office/drawing/2014/main" id="{ECA7FB78-B274-4414-BFA1-3AB555A5373B}"/>
              </a:ext>
            </a:extLst>
          </p:cNvPr>
          <p:cNvSpPr>
            <a:spLocks noChangeShapeType="1"/>
          </p:cNvSpPr>
          <p:nvPr/>
        </p:nvSpPr>
        <p:spPr bwMode="auto">
          <a:xfrm flipH="1">
            <a:off x="4578350" y="5548313"/>
            <a:ext cx="1828800" cy="0"/>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27" name="Line 415">
            <a:extLst>
              <a:ext uri="{FF2B5EF4-FFF2-40B4-BE49-F238E27FC236}">
                <a16:creationId xmlns:a16="http://schemas.microsoft.com/office/drawing/2014/main" id="{E2256569-D1C3-46F1-BF7B-38A311528D45}"/>
              </a:ext>
            </a:extLst>
          </p:cNvPr>
          <p:cNvSpPr>
            <a:spLocks noChangeShapeType="1"/>
          </p:cNvSpPr>
          <p:nvPr/>
        </p:nvSpPr>
        <p:spPr bwMode="auto">
          <a:xfrm>
            <a:off x="4578350" y="5546725"/>
            <a:ext cx="0" cy="433388"/>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28" name="Text Box 416">
            <a:extLst>
              <a:ext uri="{FF2B5EF4-FFF2-40B4-BE49-F238E27FC236}">
                <a16:creationId xmlns:a16="http://schemas.microsoft.com/office/drawing/2014/main" id="{3CAFAFE4-04CE-4569-8F59-631D6BD30E30}"/>
              </a:ext>
            </a:extLst>
          </p:cNvPr>
          <p:cNvSpPr txBox="1">
            <a:spLocks noChangeArrowheads="1"/>
          </p:cNvSpPr>
          <p:nvPr/>
        </p:nvSpPr>
        <p:spPr bwMode="auto">
          <a:xfrm>
            <a:off x="7842250" y="3135313"/>
            <a:ext cx="1147763" cy="804862"/>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i="1">
                <a:solidFill>
                  <a:srgbClr val="000000"/>
                </a:solidFill>
                <a:latin typeface="Calibri"/>
                <a:ea typeface="+mn-ea"/>
              </a:rPr>
              <a:t>Offset into </a:t>
            </a:r>
          </a:p>
          <a:p>
            <a:pPr algn="ctr">
              <a:lnSpc>
                <a:spcPct val="90000"/>
              </a:lnSpc>
              <a:spcBef>
                <a:spcPct val="30000"/>
              </a:spcBef>
              <a:defRPr/>
            </a:pPr>
            <a:r>
              <a:rPr kumimoji="0" lang="en-US" sz="1400" b="1" i="1">
                <a:solidFill>
                  <a:srgbClr val="000000"/>
                </a:solidFill>
                <a:latin typeface="Calibri"/>
                <a:ea typeface="+mn-ea"/>
              </a:rPr>
              <a:t>physical and </a:t>
            </a:r>
          </a:p>
          <a:p>
            <a:pPr algn="ctr">
              <a:lnSpc>
                <a:spcPct val="90000"/>
              </a:lnSpc>
              <a:spcBef>
                <a:spcPct val="30000"/>
              </a:spcBef>
              <a:defRPr/>
            </a:pPr>
            <a:r>
              <a:rPr kumimoji="0" lang="en-US" sz="1400" b="1" i="1">
                <a:solidFill>
                  <a:srgbClr val="000000"/>
                </a:solidFill>
                <a:latin typeface="Calibri"/>
                <a:ea typeface="+mn-ea"/>
              </a:rPr>
              <a:t>virtual page</a:t>
            </a:r>
          </a:p>
        </p:txBody>
      </p:sp>
      <p:sp>
        <p:nvSpPr>
          <p:cNvPr id="29" name="Rectangle 417">
            <a:extLst>
              <a:ext uri="{FF2B5EF4-FFF2-40B4-BE49-F238E27FC236}">
                <a16:creationId xmlns:a16="http://schemas.microsoft.com/office/drawing/2014/main" id="{909785BC-6FF1-4F4B-AE7E-08A506E5EC79}"/>
              </a:ext>
            </a:extLst>
          </p:cNvPr>
          <p:cNvSpPr>
            <a:spLocks noChangeAspect="1" noChangeArrowheads="1"/>
          </p:cNvSpPr>
          <p:nvPr/>
        </p:nvSpPr>
        <p:spPr bwMode="auto">
          <a:xfrm>
            <a:off x="3586163" y="1281113"/>
            <a:ext cx="1277937" cy="280987"/>
          </a:xfrm>
          <a:prstGeom prst="rect">
            <a:avLst/>
          </a:prstGeom>
          <a:solidFill>
            <a:srgbClr val="E6E6E6"/>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VPN 3</a:t>
            </a:r>
          </a:p>
        </p:txBody>
      </p:sp>
      <p:sp>
        <p:nvSpPr>
          <p:cNvPr id="30" name="Rectangle 418">
            <a:extLst>
              <a:ext uri="{FF2B5EF4-FFF2-40B4-BE49-F238E27FC236}">
                <a16:creationId xmlns:a16="http://schemas.microsoft.com/office/drawing/2014/main" id="{6439C01F-C969-458F-AB72-521E46345B3E}"/>
              </a:ext>
            </a:extLst>
          </p:cNvPr>
          <p:cNvSpPr>
            <a:spLocks noChangeAspect="1" noChangeArrowheads="1"/>
          </p:cNvSpPr>
          <p:nvPr/>
        </p:nvSpPr>
        <p:spPr bwMode="auto">
          <a:xfrm>
            <a:off x="4864100" y="1287463"/>
            <a:ext cx="1277938" cy="273050"/>
          </a:xfrm>
          <a:prstGeom prst="rect">
            <a:avLst/>
          </a:prstGeom>
          <a:solidFill>
            <a:srgbClr val="F6F5BD"/>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VPN 4</a:t>
            </a:r>
          </a:p>
        </p:txBody>
      </p:sp>
      <p:sp>
        <p:nvSpPr>
          <p:cNvPr id="31" name="Rectangle 419">
            <a:extLst>
              <a:ext uri="{FF2B5EF4-FFF2-40B4-BE49-F238E27FC236}">
                <a16:creationId xmlns:a16="http://schemas.microsoft.com/office/drawing/2014/main" id="{D7C38123-1033-4E90-8EAB-CD959E87568C}"/>
              </a:ext>
            </a:extLst>
          </p:cNvPr>
          <p:cNvSpPr>
            <a:spLocks noChangeAspect="1" noChangeArrowheads="1"/>
          </p:cNvSpPr>
          <p:nvPr/>
        </p:nvSpPr>
        <p:spPr bwMode="auto">
          <a:xfrm>
            <a:off x="2314575" y="1281113"/>
            <a:ext cx="1277938" cy="280987"/>
          </a:xfrm>
          <a:prstGeom prst="rect">
            <a:avLst/>
          </a:prstGeom>
          <a:solidFill>
            <a:srgbClr val="DBF2DA"/>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VPN 2</a:t>
            </a:r>
          </a:p>
        </p:txBody>
      </p:sp>
      <p:sp>
        <p:nvSpPr>
          <p:cNvPr id="32" name="Rectangle 420">
            <a:extLst>
              <a:ext uri="{FF2B5EF4-FFF2-40B4-BE49-F238E27FC236}">
                <a16:creationId xmlns:a16="http://schemas.microsoft.com/office/drawing/2014/main" id="{BE34E9D6-F69E-4D7E-B38F-FA16245BC459}"/>
              </a:ext>
            </a:extLst>
          </p:cNvPr>
          <p:cNvSpPr>
            <a:spLocks noChangeAspect="1" noChangeArrowheads="1"/>
          </p:cNvSpPr>
          <p:nvPr/>
        </p:nvSpPr>
        <p:spPr bwMode="auto">
          <a:xfrm>
            <a:off x="1036638" y="1279525"/>
            <a:ext cx="1277937" cy="280988"/>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VPN 1</a:t>
            </a:r>
          </a:p>
        </p:txBody>
      </p:sp>
      <p:sp>
        <p:nvSpPr>
          <p:cNvPr id="33" name="Line 430">
            <a:extLst>
              <a:ext uri="{FF2B5EF4-FFF2-40B4-BE49-F238E27FC236}">
                <a16:creationId xmlns:a16="http://schemas.microsoft.com/office/drawing/2014/main" id="{3F2A093E-1774-47BD-8676-E3D84932A5CB}"/>
              </a:ext>
            </a:extLst>
          </p:cNvPr>
          <p:cNvSpPr>
            <a:spLocks noChangeShapeType="1"/>
          </p:cNvSpPr>
          <p:nvPr/>
        </p:nvSpPr>
        <p:spPr bwMode="auto">
          <a:xfrm>
            <a:off x="4841875" y="3729038"/>
            <a:ext cx="179388" cy="0"/>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34" name="Line 431">
            <a:extLst>
              <a:ext uri="{FF2B5EF4-FFF2-40B4-BE49-F238E27FC236}">
                <a16:creationId xmlns:a16="http://schemas.microsoft.com/office/drawing/2014/main" id="{E41FA5E2-3474-432A-9A1E-DAFDFFE784FF}"/>
              </a:ext>
            </a:extLst>
          </p:cNvPr>
          <p:cNvSpPr>
            <a:spLocks noChangeShapeType="1"/>
          </p:cNvSpPr>
          <p:nvPr/>
        </p:nvSpPr>
        <p:spPr bwMode="auto">
          <a:xfrm>
            <a:off x="5021263" y="2847975"/>
            <a:ext cx="9525" cy="881063"/>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35" name="Line 432">
            <a:extLst>
              <a:ext uri="{FF2B5EF4-FFF2-40B4-BE49-F238E27FC236}">
                <a16:creationId xmlns:a16="http://schemas.microsoft.com/office/drawing/2014/main" id="{CC0D57DA-47A1-4D44-B870-6DF99F9D42C0}"/>
              </a:ext>
            </a:extLst>
          </p:cNvPr>
          <p:cNvSpPr>
            <a:spLocks noChangeShapeType="1"/>
          </p:cNvSpPr>
          <p:nvPr/>
        </p:nvSpPr>
        <p:spPr bwMode="auto">
          <a:xfrm>
            <a:off x="5030788" y="2847975"/>
            <a:ext cx="344487" cy="4763"/>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36" name="Rectangle 435">
            <a:extLst>
              <a:ext uri="{FF2B5EF4-FFF2-40B4-BE49-F238E27FC236}">
                <a16:creationId xmlns:a16="http://schemas.microsoft.com/office/drawing/2014/main" id="{0DCB98C5-B480-4B58-AFF8-C97CB10E427C}"/>
              </a:ext>
            </a:extLst>
          </p:cNvPr>
          <p:cNvSpPr>
            <a:spLocks noChangeArrowheads="1"/>
          </p:cNvSpPr>
          <p:nvPr/>
        </p:nvSpPr>
        <p:spPr bwMode="auto">
          <a:xfrm>
            <a:off x="4102100" y="2852738"/>
            <a:ext cx="762000" cy="16002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37" name="Text Box 437">
            <a:extLst>
              <a:ext uri="{FF2B5EF4-FFF2-40B4-BE49-F238E27FC236}">
                <a16:creationId xmlns:a16="http://schemas.microsoft.com/office/drawing/2014/main" id="{E0BD88DB-2E68-4F68-8496-2ECFEEA71551}"/>
              </a:ext>
            </a:extLst>
          </p:cNvPr>
          <p:cNvSpPr txBox="1">
            <a:spLocks noChangeArrowheads="1"/>
          </p:cNvSpPr>
          <p:nvPr/>
        </p:nvSpPr>
        <p:spPr bwMode="auto">
          <a:xfrm>
            <a:off x="3916363" y="2057400"/>
            <a:ext cx="1147762" cy="8048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a:solidFill>
                  <a:srgbClr val="000000"/>
                </a:solidFill>
                <a:latin typeface="Calibri"/>
                <a:ea typeface="+mn-ea"/>
              </a:rPr>
              <a:t>L3 PT</a:t>
            </a:r>
          </a:p>
          <a:p>
            <a:pPr algn="ctr">
              <a:lnSpc>
                <a:spcPct val="90000"/>
              </a:lnSpc>
              <a:spcBef>
                <a:spcPct val="30000"/>
              </a:spcBef>
              <a:defRPr/>
            </a:pPr>
            <a:r>
              <a:rPr kumimoji="0" lang="en-US" sz="1400" b="1" i="1">
                <a:solidFill>
                  <a:srgbClr val="000000"/>
                </a:solidFill>
                <a:latin typeface="Calibri"/>
                <a:ea typeface="+mn-ea"/>
              </a:rPr>
              <a:t>Page middle</a:t>
            </a:r>
          </a:p>
          <a:p>
            <a:pPr algn="ctr">
              <a:lnSpc>
                <a:spcPct val="90000"/>
              </a:lnSpc>
              <a:spcBef>
                <a:spcPct val="30000"/>
              </a:spcBef>
              <a:defRPr/>
            </a:pPr>
            <a:r>
              <a:rPr kumimoji="0" lang="en-US" sz="1400" b="1" i="1">
                <a:solidFill>
                  <a:srgbClr val="000000"/>
                </a:solidFill>
                <a:latin typeface="Calibri"/>
                <a:ea typeface="+mn-ea"/>
              </a:rPr>
              <a:t>directory</a:t>
            </a:r>
          </a:p>
        </p:txBody>
      </p:sp>
      <p:sp>
        <p:nvSpPr>
          <p:cNvPr id="38" name="Rectangle 438">
            <a:extLst>
              <a:ext uri="{FF2B5EF4-FFF2-40B4-BE49-F238E27FC236}">
                <a16:creationId xmlns:a16="http://schemas.microsoft.com/office/drawing/2014/main" id="{C39281FE-7219-4345-BE66-052087A5A5F2}"/>
              </a:ext>
            </a:extLst>
          </p:cNvPr>
          <p:cNvSpPr>
            <a:spLocks noChangeArrowheads="1"/>
          </p:cNvSpPr>
          <p:nvPr/>
        </p:nvSpPr>
        <p:spPr bwMode="auto">
          <a:xfrm>
            <a:off x="4105275" y="3614738"/>
            <a:ext cx="758825" cy="228600"/>
          </a:xfrm>
          <a:prstGeom prst="rect">
            <a:avLst/>
          </a:prstGeom>
          <a:solidFill>
            <a:srgbClr val="E6E6E6"/>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L3 PTE</a:t>
            </a:r>
          </a:p>
        </p:txBody>
      </p:sp>
      <p:sp>
        <p:nvSpPr>
          <p:cNvPr id="39" name="Line 439">
            <a:extLst>
              <a:ext uri="{FF2B5EF4-FFF2-40B4-BE49-F238E27FC236}">
                <a16:creationId xmlns:a16="http://schemas.microsoft.com/office/drawing/2014/main" id="{FC4D8012-290C-4A02-86E3-199B8A6CE0F0}"/>
              </a:ext>
            </a:extLst>
          </p:cNvPr>
          <p:cNvSpPr>
            <a:spLocks noChangeShapeType="1"/>
          </p:cNvSpPr>
          <p:nvPr/>
        </p:nvSpPr>
        <p:spPr bwMode="auto">
          <a:xfrm flipH="1">
            <a:off x="3833813" y="1570038"/>
            <a:ext cx="11112" cy="2159000"/>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0" name="Line 440">
            <a:extLst>
              <a:ext uri="{FF2B5EF4-FFF2-40B4-BE49-F238E27FC236}">
                <a16:creationId xmlns:a16="http://schemas.microsoft.com/office/drawing/2014/main" id="{F6791FCD-0293-4B98-B75E-E78357B8703E}"/>
              </a:ext>
            </a:extLst>
          </p:cNvPr>
          <p:cNvSpPr>
            <a:spLocks noChangeShapeType="1"/>
          </p:cNvSpPr>
          <p:nvPr/>
        </p:nvSpPr>
        <p:spPr bwMode="auto">
          <a:xfrm>
            <a:off x="3844925" y="3735388"/>
            <a:ext cx="25717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1" name="Line 444">
            <a:extLst>
              <a:ext uri="{FF2B5EF4-FFF2-40B4-BE49-F238E27FC236}">
                <a16:creationId xmlns:a16="http://schemas.microsoft.com/office/drawing/2014/main" id="{24C2C8B3-B33C-408B-83AF-4112F83D488F}"/>
              </a:ext>
            </a:extLst>
          </p:cNvPr>
          <p:cNvSpPr>
            <a:spLocks noChangeShapeType="1"/>
          </p:cNvSpPr>
          <p:nvPr/>
        </p:nvSpPr>
        <p:spPr bwMode="auto">
          <a:xfrm>
            <a:off x="3546475" y="3733800"/>
            <a:ext cx="179388" cy="0"/>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2" name="Line 445">
            <a:extLst>
              <a:ext uri="{FF2B5EF4-FFF2-40B4-BE49-F238E27FC236}">
                <a16:creationId xmlns:a16="http://schemas.microsoft.com/office/drawing/2014/main" id="{D07B69D9-AD4B-4692-881D-E0B7B2BBBC05}"/>
              </a:ext>
            </a:extLst>
          </p:cNvPr>
          <p:cNvSpPr>
            <a:spLocks noChangeShapeType="1"/>
          </p:cNvSpPr>
          <p:nvPr/>
        </p:nvSpPr>
        <p:spPr bwMode="auto">
          <a:xfrm>
            <a:off x="3727450" y="2851150"/>
            <a:ext cx="0" cy="881063"/>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3" name="Rectangle 447">
            <a:extLst>
              <a:ext uri="{FF2B5EF4-FFF2-40B4-BE49-F238E27FC236}">
                <a16:creationId xmlns:a16="http://schemas.microsoft.com/office/drawing/2014/main" id="{888F1A56-867A-4A20-ACC1-C421900CA15A}"/>
              </a:ext>
            </a:extLst>
          </p:cNvPr>
          <p:cNvSpPr>
            <a:spLocks noChangeArrowheads="1"/>
          </p:cNvSpPr>
          <p:nvPr/>
        </p:nvSpPr>
        <p:spPr bwMode="auto">
          <a:xfrm>
            <a:off x="2806700" y="2852738"/>
            <a:ext cx="762000" cy="16002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4" name="Text Box 449">
            <a:extLst>
              <a:ext uri="{FF2B5EF4-FFF2-40B4-BE49-F238E27FC236}">
                <a16:creationId xmlns:a16="http://schemas.microsoft.com/office/drawing/2014/main" id="{478366E7-5D9B-4F47-99CD-54C1565F0E14}"/>
              </a:ext>
            </a:extLst>
          </p:cNvPr>
          <p:cNvSpPr txBox="1">
            <a:spLocks noChangeArrowheads="1"/>
          </p:cNvSpPr>
          <p:nvPr/>
        </p:nvSpPr>
        <p:spPr bwMode="auto">
          <a:xfrm>
            <a:off x="2654300" y="2057400"/>
            <a:ext cx="1073150" cy="8048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a:solidFill>
                  <a:srgbClr val="000000"/>
                </a:solidFill>
                <a:latin typeface="Calibri"/>
                <a:ea typeface="+mn-ea"/>
              </a:rPr>
              <a:t>L2 PT</a:t>
            </a:r>
          </a:p>
          <a:p>
            <a:pPr algn="ctr">
              <a:lnSpc>
                <a:spcPct val="90000"/>
              </a:lnSpc>
              <a:spcBef>
                <a:spcPct val="30000"/>
              </a:spcBef>
              <a:defRPr/>
            </a:pPr>
            <a:r>
              <a:rPr kumimoji="0" lang="en-US" sz="1400" b="1" i="1">
                <a:solidFill>
                  <a:srgbClr val="000000"/>
                </a:solidFill>
                <a:latin typeface="Calibri"/>
                <a:ea typeface="+mn-ea"/>
              </a:rPr>
              <a:t>Page upper</a:t>
            </a:r>
          </a:p>
          <a:p>
            <a:pPr algn="ctr">
              <a:lnSpc>
                <a:spcPct val="90000"/>
              </a:lnSpc>
              <a:spcBef>
                <a:spcPct val="30000"/>
              </a:spcBef>
              <a:defRPr/>
            </a:pPr>
            <a:r>
              <a:rPr kumimoji="0" lang="en-US" sz="1400" b="1" i="1">
                <a:solidFill>
                  <a:srgbClr val="000000"/>
                </a:solidFill>
                <a:latin typeface="Calibri"/>
                <a:ea typeface="+mn-ea"/>
              </a:rPr>
              <a:t>directory</a:t>
            </a:r>
          </a:p>
        </p:txBody>
      </p:sp>
      <p:sp>
        <p:nvSpPr>
          <p:cNvPr id="45" name="Rectangle 450">
            <a:extLst>
              <a:ext uri="{FF2B5EF4-FFF2-40B4-BE49-F238E27FC236}">
                <a16:creationId xmlns:a16="http://schemas.microsoft.com/office/drawing/2014/main" id="{FCD556AE-5A2C-48BF-93DE-E17B9BD7E4CD}"/>
              </a:ext>
            </a:extLst>
          </p:cNvPr>
          <p:cNvSpPr>
            <a:spLocks noChangeArrowheads="1"/>
          </p:cNvSpPr>
          <p:nvPr/>
        </p:nvSpPr>
        <p:spPr bwMode="auto">
          <a:xfrm>
            <a:off x="2809875" y="3614738"/>
            <a:ext cx="758825" cy="228600"/>
          </a:xfrm>
          <a:prstGeom prst="rect">
            <a:avLst/>
          </a:prstGeom>
          <a:solidFill>
            <a:srgbClr val="DBF2DA"/>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L2 PTE</a:t>
            </a:r>
          </a:p>
        </p:txBody>
      </p:sp>
      <p:sp>
        <p:nvSpPr>
          <p:cNvPr id="46" name="Line 451">
            <a:extLst>
              <a:ext uri="{FF2B5EF4-FFF2-40B4-BE49-F238E27FC236}">
                <a16:creationId xmlns:a16="http://schemas.microsoft.com/office/drawing/2014/main" id="{A207E7F6-ABBE-464F-B54F-55E411342E37}"/>
              </a:ext>
            </a:extLst>
          </p:cNvPr>
          <p:cNvSpPr>
            <a:spLocks noChangeShapeType="1"/>
          </p:cNvSpPr>
          <p:nvPr/>
        </p:nvSpPr>
        <p:spPr bwMode="auto">
          <a:xfrm>
            <a:off x="2549525" y="1570038"/>
            <a:ext cx="0" cy="2147887"/>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7" name="Line 452">
            <a:extLst>
              <a:ext uri="{FF2B5EF4-FFF2-40B4-BE49-F238E27FC236}">
                <a16:creationId xmlns:a16="http://schemas.microsoft.com/office/drawing/2014/main" id="{69C90DA1-A7F3-49F8-99C0-358C121385EF}"/>
              </a:ext>
            </a:extLst>
          </p:cNvPr>
          <p:cNvSpPr>
            <a:spLocks noChangeShapeType="1"/>
          </p:cNvSpPr>
          <p:nvPr/>
        </p:nvSpPr>
        <p:spPr bwMode="auto">
          <a:xfrm>
            <a:off x="2549525" y="3729038"/>
            <a:ext cx="25717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8" name="Line 456">
            <a:extLst>
              <a:ext uri="{FF2B5EF4-FFF2-40B4-BE49-F238E27FC236}">
                <a16:creationId xmlns:a16="http://schemas.microsoft.com/office/drawing/2014/main" id="{A2565656-0D5A-4448-833B-18DE4861D1D6}"/>
              </a:ext>
            </a:extLst>
          </p:cNvPr>
          <p:cNvSpPr>
            <a:spLocks noChangeShapeType="1"/>
          </p:cNvSpPr>
          <p:nvPr/>
        </p:nvSpPr>
        <p:spPr bwMode="auto">
          <a:xfrm>
            <a:off x="2270125" y="3729038"/>
            <a:ext cx="179388" cy="0"/>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49" name="Rectangle 459">
            <a:extLst>
              <a:ext uri="{FF2B5EF4-FFF2-40B4-BE49-F238E27FC236}">
                <a16:creationId xmlns:a16="http://schemas.microsoft.com/office/drawing/2014/main" id="{601078B7-EB3A-42EB-A387-C40C6BF8D472}"/>
              </a:ext>
            </a:extLst>
          </p:cNvPr>
          <p:cNvSpPr>
            <a:spLocks noChangeArrowheads="1"/>
          </p:cNvSpPr>
          <p:nvPr/>
        </p:nvSpPr>
        <p:spPr bwMode="auto">
          <a:xfrm>
            <a:off x="1530350" y="2852738"/>
            <a:ext cx="762000" cy="1600200"/>
          </a:xfrm>
          <a:prstGeom prst="rect">
            <a:avLst/>
          </a:prstGeom>
          <a:solidFill>
            <a:srgbClr val="FFFFFF"/>
          </a:solidFill>
          <a:ln w="9525">
            <a:solidFill>
              <a:srgbClr val="000000"/>
            </a:solidFill>
            <a:miter lim="800000"/>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50" name="Text Box 461">
            <a:extLst>
              <a:ext uri="{FF2B5EF4-FFF2-40B4-BE49-F238E27FC236}">
                <a16:creationId xmlns:a16="http://schemas.microsoft.com/office/drawing/2014/main" id="{CDD1FDFD-0DE7-48F7-8520-3D9D83BF1866}"/>
              </a:ext>
            </a:extLst>
          </p:cNvPr>
          <p:cNvSpPr txBox="1">
            <a:spLocks noChangeArrowheads="1"/>
          </p:cNvSpPr>
          <p:nvPr/>
        </p:nvSpPr>
        <p:spPr bwMode="auto">
          <a:xfrm>
            <a:off x="1357313" y="2057400"/>
            <a:ext cx="1104900" cy="8048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400" b="1">
                <a:solidFill>
                  <a:srgbClr val="000000"/>
                </a:solidFill>
                <a:latin typeface="Calibri"/>
                <a:ea typeface="+mn-ea"/>
              </a:rPr>
              <a:t>L1 PT</a:t>
            </a:r>
          </a:p>
          <a:p>
            <a:pPr algn="ctr">
              <a:lnSpc>
                <a:spcPct val="90000"/>
              </a:lnSpc>
              <a:spcBef>
                <a:spcPct val="30000"/>
              </a:spcBef>
              <a:defRPr/>
            </a:pPr>
            <a:r>
              <a:rPr kumimoji="0" lang="en-US" sz="1400" b="1" i="1">
                <a:solidFill>
                  <a:srgbClr val="000000"/>
                </a:solidFill>
                <a:latin typeface="Calibri"/>
                <a:ea typeface="+mn-ea"/>
              </a:rPr>
              <a:t>Page global</a:t>
            </a:r>
          </a:p>
          <a:p>
            <a:pPr algn="ctr">
              <a:lnSpc>
                <a:spcPct val="90000"/>
              </a:lnSpc>
              <a:spcBef>
                <a:spcPct val="30000"/>
              </a:spcBef>
              <a:defRPr/>
            </a:pPr>
            <a:r>
              <a:rPr kumimoji="0" lang="en-US" sz="1400" b="1" i="1">
                <a:solidFill>
                  <a:srgbClr val="000000"/>
                </a:solidFill>
                <a:latin typeface="Calibri"/>
                <a:ea typeface="+mn-ea"/>
              </a:rPr>
              <a:t>directory</a:t>
            </a:r>
            <a:endParaRPr kumimoji="0" lang="en-US" sz="1400" b="1">
              <a:solidFill>
                <a:srgbClr val="000000"/>
              </a:solidFill>
              <a:latin typeface="Calibri"/>
              <a:ea typeface="+mn-ea"/>
            </a:endParaRPr>
          </a:p>
        </p:txBody>
      </p:sp>
      <p:sp>
        <p:nvSpPr>
          <p:cNvPr id="51" name="Rectangle 462">
            <a:extLst>
              <a:ext uri="{FF2B5EF4-FFF2-40B4-BE49-F238E27FC236}">
                <a16:creationId xmlns:a16="http://schemas.microsoft.com/office/drawing/2014/main" id="{A3B7F25A-61BF-4D44-9663-D94F97CF5B8F}"/>
              </a:ext>
            </a:extLst>
          </p:cNvPr>
          <p:cNvSpPr>
            <a:spLocks noChangeArrowheads="1"/>
          </p:cNvSpPr>
          <p:nvPr/>
        </p:nvSpPr>
        <p:spPr bwMode="auto">
          <a:xfrm>
            <a:off x="1533525" y="3614738"/>
            <a:ext cx="758825" cy="228600"/>
          </a:xfrm>
          <a:prstGeom prst="rect">
            <a:avLst/>
          </a:prstGeom>
          <a:solidFill>
            <a:srgbClr val="F6D2D2"/>
          </a:solidFill>
          <a:ln w="9525">
            <a:solidFill>
              <a:srgbClr val="000000"/>
            </a:solidFill>
            <a:miter lim="800000"/>
            <a:headEnd/>
            <a:tailEnd/>
          </a:ln>
          <a:effectLst/>
        </p:spPr>
        <p:txBody>
          <a:bodyPr wrap="none" lIns="90487" tIns="44450" rIns="90487" bIns="44450" anchor="ctr"/>
          <a:lstStyle/>
          <a:p>
            <a:pPr algn="ctr">
              <a:lnSpc>
                <a:spcPct val="90000"/>
              </a:lnSpc>
              <a:spcBef>
                <a:spcPct val="30000"/>
              </a:spcBef>
              <a:defRPr/>
            </a:pPr>
            <a:r>
              <a:rPr kumimoji="0" lang="en-US" sz="1400" b="1">
                <a:solidFill>
                  <a:srgbClr val="000000"/>
                </a:solidFill>
                <a:latin typeface="Calibri"/>
                <a:ea typeface="+mn-ea"/>
              </a:rPr>
              <a:t>L1 PTE</a:t>
            </a:r>
          </a:p>
        </p:txBody>
      </p:sp>
      <p:sp>
        <p:nvSpPr>
          <p:cNvPr id="52" name="Line 463">
            <a:extLst>
              <a:ext uri="{FF2B5EF4-FFF2-40B4-BE49-F238E27FC236}">
                <a16:creationId xmlns:a16="http://schemas.microsoft.com/office/drawing/2014/main" id="{A4100D8F-3667-475C-91CE-DFB2E3F8C9AF}"/>
              </a:ext>
            </a:extLst>
          </p:cNvPr>
          <p:cNvSpPr>
            <a:spLocks noChangeShapeType="1"/>
          </p:cNvSpPr>
          <p:nvPr/>
        </p:nvSpPr>
        <p:spPr bwMode="auto">
          <a:xfrm flipH="1">
            <a:off x="1260475" y="1570038"/>
            <a:ext cx="12700" cy="2147887"/>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53" name="Line 464">
            <a:extLst>
              <a:ext uri="{FF2B5EF4-FFF2-40B4-BE49-F238E27FC236}">
                <a16:creationId xmlns:a16="http://schemas.microsoft.com/office/drawing/2014/main" id="{94600335-D31D-4621-A121-0D4EB658B7E0}"/>
              </a:ext>
            </a:extLst>
          </p:cNvPr>
          <p:cNvSpPr>
            <a:spLocks noChangeShapeType="1"/>
          </p:cNvSpPr>
          <p:nvPr/>
        </p:nvSpPr>
        <p:spPr bwMode="auto">
          <a:xfrm>
            <a:off x="1273175" y="3722688"/>
            <a:ext cx="25717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54" name="Text Box 465">
            <a:extLst>
              <a:ext uri="{FF2B5EF4-FFF2-40B4-BE49-F238E27FC236}">
                <a16:creationId xmlns:a16="http://schemas.microsoft.com/office/drawing/2014/main" id="{ABBD29A4-7E81-413F-8AFB-46078E0700AD}"/>
              </a:ext>
            </a:extLst>
          </p:cNvPr>
          <p:cNvSpPr txBox="1">
            <a:spLocks noChangeAspect="1" noChangeArrowheads="1"/>
          </p:cNvSpPr>
          <p:nvPr/>
        </p:nvSpPr>
        <p:spPr bwMode="auto">
          <a:xfrm>
            <a:off x="4159250" y="1057275"/>
            <a:ext cx="260350"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9</a:t>
            </a:r>
          </a:p>
        </p:txBody>
      </p:sp>
      <p:sp>
        <p:nvSpPr>
          <p:cNvPr id="55" name="Text Box 466">
            <a:extLst>
              <a:ext uri="{FF2B5EF4-FFF2-40B4-BE49-F238E27FC236}">
                <a16:creationId xmlns:a16="http://schemas.microsoft.com/office/drawing/2014/main" id="{743EC13C-EA36-4EBF-89AE-3719DCBB2020}"/>
              </a:ext>
            </a:extLst>
          </p:cNvPr>
          <p:cNvSpPr txBox="1">
            <a:spLocks noChangeAspect="1" noChangeArrowheads="1"/>
          </p:cNvSpPr>
          <p:nvPr/>
        </p:nvSpPr>
        <p:spPr bwMode="auto">
          <a:xfrm>
            <a:off x="1568450" y="1057275"/>
            <a:ext cx="260350"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9</a:t>
            </a:r>
          </a:p>
        </p:txBody>
      </p:sp>
      <p:sp>
        <p:nvSpPr>
          <p:cNvPr id="56" name="Line 467">
            <a:extLst>
              <a:ext uri="{FF2B5EF4-FFF2-40B4-BE49-F238E27FC236}">
                <a16:creationId xmlns:a16="http://schemas.microsoft.com/office/drawing/2014/main" id="{FF584C3A-EA38-4ED4-AB10-CB4282975496}"/>
              </a:ext>
            </a:extLst>
          </p:cNvPr>
          <p:cNvSpPr>
            <a:spLocks noChangeShapeType="1"/>
          </p:cNvSpPr>
          <p:nvPr/>
        </p:nvSpPr>
        <p:spPr bwMode="auto">
          <a:xfrm flipV="1">
            <a:off x="695325" y="2868613"/>
            <a:ext cx="82232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57" name="Text Box 471">
            <a:extLst>
              <a:ext uri="{FF2B5EF4-FFF2-40B4-BE49-F238E27FC236}">
                <a16:creationId xmlns:a16="http://schemas.microsoft.com/office/drawing/2014/main" id="{BE823023-8D82-4268-8B97-EE20143AABE3}"/>
              </a:ext>
            </a:extLst>
          </p:cNvPr>
          <p:cNvSpPr txBox="1">
            <a:spLocks noChangeAspect="1" noChangeArrowheads="1"/>
          </p:cNvSpPr>
          <p:nvPr/>
        </p:nvSpPr>
        <p:spPr bwMode="auto">
          <a:xfrm>
            <a:off x="936625" y="2657475"/>
            <a:ext cx="338138"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dirty="0">
                <a:solidFill>
                  <a:srgbClr val="000000"/>
                </a:solidFill>
                <a:latin typeface="Calibri"/>
                <a:ea typeface="+mn-ea"/>
              </a:rPr>
              <a:t>40</a:t>
            </a:r>
          </a:p>
        </p:txBody>
      </p:sp>
      <p:sp>
        <p:nvSpPr>
          <p:cNvPr id="58" name="Text Box 473">
            <a:extLst>
              <a:ext uri="{FF2B5EF4-FFF2-40B4-BE49-F238E27FC236}">
                <a16:creationId xmlns:a16="http://schemas.microsoft.com/office/drawing/2014/main" id="{88CB3A29-DF1C-4C0B-A3E8-0F9E2394ABB3}"/>
              </a:ext>
            </a:extLst>
          </p:cNvPr>
          <p:cNvSpPr txBox="1">
            <a:spLocks noChangeArrowheads="1"/>
          </p:cNvSpPr>
          <p:nvPr/>
        </p:nvSpPr>
        <p:spPr bwMode="auto">
          <a:xfrm>
            <a:off x="987425" y="2759075"/>
            <a:ext cx="261938" cy="276225"/>
          </a:xfrm>
          <a:prstGeom prst="rect">
            <a:avLst/>
          </a:prstGeom>
          <a:noFill/>
          <a:ln w="12700">
            <a:noFill/>
            <a:miter lim="800000"/>
            <a:headEnd/>
            <a:tailEnd/>
          </a:ln>
          <a:effectLst/>
        </p:spPr>
        <p:txBody>
          <a:bodyPr wrap="none">
            <a:spAutoFit/>
          </a:bodyPr>
          <a:lstStyle/>
          <a:p>
            <a:pPr algn="ctr">
              <a:defRPr/>
            </a:pPr>
            <a:r>
              <a:rPr kumimoji="0" lang="en-US" sz="1200" b="1">
                <a:solidFill>
                  <a:srgbClr val="000000"/>
                </a:solidFill>
                <a:latin typeface="Calibri"/>
                <a:ea typeface="+mn-ea"/>
              </a:rPr>
              <a:t>/</a:t>
            </a:r>
          </a:p>
        </p:txBody>
      </p:sp>
      <p:sp>
        <p:nvSpPr>
          <p:cNvPr id="59" name="Line 457">
            <a:extLst>
              <a:ext uri="{FF2B5EF4-FFF2-40B4-BE49-F238E27FC236}">
                <a16:creationId xmlns:a16="http://schemas.microsoft.com/office/drawing/2014/main" id="{05171079-C849-4250-A55F-F8233CE1D95E}"/>
              </a:ext>
            </a:extLst>
          </p:cNvPr>
          <p:cNvSpPr>
            <a:spLocks noChangeShapeType="1"/>
          </p:cNvSpPr>
          <p:nvPr/>
        </p:nvSpPr>
        <p:spPr bwMode="auto">
          <a:xfrm>
            <a:off x="2449513" y="2851150"/>
            <a:ext cx="0" cy="877888"/>
          </a:xfrm>
          <a:prstGeom prst="line">
            <a:avLst/>
          </a:prstGeom>
          <a:noFill/>
          <a:ln w="9525">
            <a:solidFill>
              <a:srgbClr val="000000"/>
            </a:solidFill>
            <a:round/>
            <a:headEnd/>
            <a:tailEn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60" name="Line 458">
            <a:extLst>
              <a:ext uri="{FF2B5EF4-FFF2-40B4-BE49-F238E27FC236}">
                <a16:creationId xmlns:a16="http://schemas.microsoft.com/office/drawing/2014/main" id="{CD81E17F-BAC8-4B81-B87D-8AD558A145BD}"/>
              </a:ext>
            </a:extLst>
          </p:cNvPr>
          <p:cNvSpPr>
            <a:spLocks noChangeShapeType="1"/>
          </p:cNvSpPr>
          <p:nvPr/>
        </p:nvSpPr>
        <p:spPr bwMode="auto">
          <a:xfrm>
            <a:off x="2459038" y="2852738"/>
            <a:ext cx="344487" cy="4762"/>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61" name="Text Box 476">
            <a:extLst>
              <a:ext uri="{FF2B5EF4-FFF2-40B4-BE49-F238E27FC236}">
                <a16:creationId xmlns:a16="http://schemas.microsoft.com/office/drawing/2014/main" id="{6CB769A8-6C7B-4428-8576-50227286F516}"/>
              </a:ext>
            </a:extLst>
          </p:cNvPr>
          <p:cNvSpPr txBox="1">
            <a:spLocks noChangeAspect="1" noChangeArrowheads="1"/>
          </p:cNvSpPr>
          <p:nvPr/>
        </p:nvSpPr>
        <p:spPr bwMode="auto">
          <a:xfrm>
            <a:off x="2466975" y="2620963"/>
            <a:ext cx="338138" cy="258762"/>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40</a:t>
            </a:r>
          </a:p>
        </p:txBody>
      </p:sp>
      <p:sp>
        <p:nvSpPr>
          <p:cNvPr id="62" name="Text Box 477">
            <a:extLst>
              <a:ext uri="{FF2B5EF4-FFF2-40B4-BE49-F238E27FC236}">
                <a16:creationId xmlns:a16="http://schemas.microsoft.com/office/drawing/2014/main" id="{DB206D3B-AFD9-46B2-AD67-507D186870C3}"/>
              </a:ext>
            </a:extLst>
          </p:cNvPr>
          <p:cNvSpPr txBox="1">
            <a:spLocks noChangeArrowheads="1"/>
          </p:cNvSpPr>
          <p:nvPr/>
        </p:nvSpPr>
        <p:spPr bwMode="auto">
          <a:xfrm>
            <a:off x="2525713" y="2722563"/>
            <a:ext cx="261937" cy="276225"/>
          </a:xfrm>
          <a:prstGeom prst="rect">
            <a:avLst/>
          </a:prstGeom>
          <a:noFill/>
          <a:ln w="12700">
            <a:noFill/>
            <a:miter lim="800000"/>
            <a:headEnd/>
            <a:tailEnd/>
          </a:ln>
          <a:effectLst/>
        </p:spPr>
        <p:txBody>
          <a:bodyPr wrap="none">
            <a:spAutoFit/>
          </a:bodyPr>
          <a:lstStyle/>
          <a:p>
            <a:pPr algn="ctr">
              <a:defRPr/>
            </a:pPr>
            <a:r>
              <a:rPr kumimoji="0" lang="en-US" sz="1200" b="1">
                <a:solidFill>
                  <a:srgbClr val="000000"/>
                </a:solidFill>
                <a:latin typeface="Calibri"/>
                <a:ea typeface="+mn-ea"/>
              </a:rPr>
              <a:t>/</a:t>
            </a:r>
          </a:p>
        </p:txBody>
      </p:sp>
      <p:sp>
        <p:nvSpPr>
          <p:cNvPr id="63" name="Line 446">
            <a:extLst>
              <a:ext uri="{FF2B5EF4-FFF2-40B4-BE49-F238E27FC236}">
                <a16:creationId xmlns:a16="http://schemas.microsoft.com/office/drawing/2014/main" id="{519E07F2-35E6-44F0-971A-2565781CEBFC}"/>
              </a:ext>
            </a:extLst>
          </p:cNvPr>
          <p:cNvSpPr>
            <a:spLocks noChangeShapeType="1"/>
          </p:cNvSpPr>
          <p:nvPr/>
        </p:nvSpPr>
        <p:spPr bwMode="auto">
          <a:xfrm>
            <a:off x="3725863" y="2851150"/>
            <a:ext cx="392112" cy="1270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kumimoji="0" lang="en-US" sz="2400" b="1">
              <a:solidFill>
                <a:srgbClr val="000000"/>
              </a:solidFill>
              <a:latin typeface="Calibri"/>
              <a:ea typeface="+mn-ea"/>
            </a:endParaRPr>
          </a:p>
        </p:txBody>
      </p:sp>
      <p:sp>
        <p:nvSpPr>
          <p:cNvPr id="64" name="Text Box 479">
            <a:extLst>
              <a:ext uri="{FF2B5EF4-FFF2-40B4-BE49-F238E27FC236}">
                <a16:creationId xmlns:a16="http://schemas.microsoft.com/office/drawing/2014/main" id="{48DC589F-2873-4E07-96D7-D5130E8A7D07}"/>
              </a:ext>
            </a:extLst>
          </p:cNvPr>
          <p:cNvSpPr txBox="1">
            <a:spLocks noChangeAspect="1" noChangeArrowheads="1"/>
          </p:cNvSpPr>
          <p:nvPr/>
        </p:nvSpPr>
        <p:spPr bwMode="auto">
          <a:xfrm>
            <a:off x="3787775" y="2640013"/>
            <a:ext cx="338138" cy="258762"/>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40</a:t>
            </a:r>
          </a:p>
        </p:txBody>
      </p:sp>
      <p:sp>
        <p:nvSpPr>
          <p:cNvPr id="65" name="Text Box 480">
            <a:extLst>
              <a:ext uri="{FF2B5EF4-FFF2-40B4-BE49-F238E27FC236}">
                <a16:creationId xmlns:a16="http://schemas.microsoft.com/office/drawing/2014/main" id="{EA03EBA9-AABB-474B-9648-D425888A0F72}"/>
              </a:ext>
            </a:extLst>
          </p:cNvPr>
          <p:cNvSpPr txBox="1">
            <a:spLocks noChangeArrowheads="1"/>
          </p:cNvSpPr>
          <p:nvPr/>
        </p:nvSpPr>
        <p:spPr bwMode="auto">
          <a:xfrm>
            <a:off x="3833813" y="2741613"/>
            <a:ext cx="261937" cy="276225"/>
          </a:xfrm>
          <a:prstGeom prst="rect">
            <a:avLst/>
          </a:prstGeom>
          <a:noFill/>
          <a:ln w="12700">
            <a:noFill/>
            <a:miter lim="800000"/>
            <a:headEnd/>
            <a:tailEnd/>
          </a:ln>
          <a:effectLst/>
        </p:spPr>
        <p:txBody>
          <a:bodyPr wrap="none">
            <a:spAutoFit/>
          </a:bodyPr>
          <a:lstStyle/>
          <a:p>
            <a:pPr algn="ctr">
              <a:defRPr/>
            </a:pPr>
            <a:r>
              <a:rPr kumimoji="0" lang="en-US" sz="1200" b="1">
                <a:solidFill>
                  <a:srgbClr val="000000"/>
                </a:solidFill>
                <a:latin typeface="Calibri"/>
                <a:ea typeface="+mn-ea"/>
              </a:rPr>
              <a:t>/</a:t>
            </a:r>
          </a:p>
        </p:txBody>
      </p:sp>
      <p:sp>
        <p:nvSpPr>
          <p:cNvPr id="66" name="Text Box 482">
            <a:extLst>
              <a:ext uri="{FF2B5EF4-FFF2-40B4-BE49-F238E27FC236}">
                <a16:creationId xmlns:a16="http://schemas.microsoft.com/office/drawing/2014/main" id="{5CD41301-DF63-4A2D-9E2B-6FF3397B3351}"/>
              </a:ext>
            </a:extLst>
          </p:cNvPr>
          <p:cNvSpPr txBox="1">
            <a:spLocks noChangeAspect="1" noChangeArrowheads="1"/>
          </p:cNvSpPr>
          <p:nvPr/>
        </p:nvSpPr>
        <p:spPr bwMode="auto">
          <a:xfrm>
            <a:off x="5062538" y="2616200"/>
            <a:ext cx="338137"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40</a:t>
            </a:r>
          </a:p>
        </p:txBody>
      </p:sp>
      <p:sp>
        <p:nvSpPr>
          <p:cNvPr id="67" name="Text Box 483">
            <a:extLst>
              <a:ext uri="{FF2B5EF4-FFF2-40B4-BE49-F238E27FC236}">
                <a16:creationId xmlns:a16="http://schemas.microsoft.com/office/drawing/2014/main" id="{58EB8472-481D-4672-861E-CF6BB65C6BB4}"/>
              </a:ext>
            </a:extLst>
          </p:cNvPr>
          <p:cNvSpPr txBox="1">
            <a:spLocks noChangeArrowheads="1"/>
          </p:cNvSpPr>
          <p:nvPr/>
        </p:nvSpPr>
        <p:spPr bwMode="auto">
          <a:xfrm>
            <a:off x="5121275" y="2717800"/>
            <a:ext cx="261938" cy="276225"/>
          </a:xfrm>
          <a:prstGeom prst="rect">
            <a:avLst/>
          </a:prstGeom>
          <a:noFill/>
          <a:ln w="12700">
            <a:noFill/>
            <a:miter lim="800000"/>
            <a:headEnd/>
            <a:tailEnd/>
          </a:ln>
          <a:effectLst/>
        </p:spPr>
        <p:txBody>
          <a:bodyPr wrap="none">
            <a:spAutoFit/>
          </a:bodyPr>
          <a:lstStyle/>
          <a:p>
            <a:pPr algn="ctr">
              <a:defRPr/>
            </a:pPr>
            <a:r>
              <a:rPr kumimoji="0" lang="en-US" sz="1200" b="1">
                <a:solidFill>
                  <a:srgbClr val="000000"/>
                </a:solidFill>
                <a:latin typeface="Calibri"/>
                <a:ea typeface="+mn-ea"/>
              </a:rPr>
              <a:t>/</a:t>
            </a:r>
          </a:p>
        </p:txBody>
      </p:sp>
      <p:sp>
        <p:nvSpPr>
          <p:cNvPr id="68" name="Text Box 485">
            <a:extLst>
              <a:ext uri="{FF2B5EF4-FFF2-40B4-BE49-F238E27FC236}">
                <a16:creationId xmlns:a16="http://schemas.microsoft.com/office/drawing/2014/main" id="{A41EB3B3-E4CB-42F2-8C96-28C996591659}"/>
              </a:ext>
            </a:extLst>
          </p:cNvPr>
          <p:cNvSpPr txBox="1">
            <a:spLocks noChangeAspect="1" noChangeArrowheads="1"/>
          </p:cNvSpPr>
          <p:nvPr/>
        </p:nvSpPr>
        <p:spPr bwMode="auto">
          <a:xfrm>
            <a:off x="5208588" y="5321300"/>
            <a:ext cx="338137"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40</a:t>
            </a:r>
          </a:p>
        </p:txBody>
      </p:sp>
      <p:sp>
        <p:nvSpPr>
          <p:cNvPr id="69" name="Text Box 486">
            <a:extLst>
              <a:ext uri="{FF2B5EF4-FFF2-40B4-BE49-F238E27FC236}">
                <a16:creationId xmlns:a16="http://schemas.microsoft.com/office/drawing/2014/main" id="{8C586487-C163-4582-8955-E98B2DEA3386}"/>
              </a:ext>
            </a:extLst>
          </p:cNvPr>
          <p:cNvSpPr txBox="1">
            <a:spLocks noChangeArrowheads="1"/>
          </p:cNvSpPr>
          <p:nvPr/>
        </p:nvSpPr>
        <p:spPr bwMode="auto">
          <a:xfrm>
            <a:off x="5267325" y="5410200"/>
            <a:ext cx="261938" cy="276225"/>
          </a:xfrm>
          <a:prstGeom prst="rect">
            <a:avLst/>
          </a:prstGeom>
          <a:noFill/>
          <a:ln w="12700">
            <a:noFill/>
            <a:miter lim="800000"/>
            <a:headEnd/>
            <a:tailEnd/>
          </a:ln>
          <a:effectLst/>
        </p:spPr>
        <p:txBody>
          <a:bodyPr wrap="none">
            <a:spAutoFit/>
          </a:bodyPr>
          <a:lstStyle/>
          <a:p>
            <a:pPr algn="ctr">
              <a:defRPr/>
            </a:pPr>
            <a:r>
              <a:rPr kumimoji="0" lang="en-US" sz="1200" b="1">
                <a:solidFill>
                  <a:srgbClr val="000000"/>
                </a:solidFill>
                <a:latin typeface="Calibri"/>
                <a:ea typeface="+mn-ea"/>
              </a:rPr>
              <a:t>/</a:t>
            </a:r>
          </a:p>
        </p:txBody>
      </p:sp>
      <p:sp>
        <p:nvSpPr>
          <p:cNvPr id="70" name="Text Box 488">
            <a:extLst>
              <a:ext uri="{FF2B5EF4-FFF2-40B4-BE49-F238E27FC236}">
                <a16:creationId xmlns:a16="http://schemas.microsoft.com/office/drawing/2014/main" id="{27FE1A6A-BA6B-4738-A173-BDE551224DB5}"/>
              </a:ext>
            </a:extLst>
          </p:cNvPr>
          <p:cNvSpPr txBox="1">
            <a:spLocks noChangeAspect="1" noChangeArrowheads="1"/>
          </p:cNvSpPr>
          <p:nvPr/>
        </p:nvSpPr>
        <p:spPr bwMode="auto">
          <a:xfrm>
            <a:off x="7588250" y="3429000"/>
            <a:ext cx="338138" cy="258763"/>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kumimoji="0" lang="en-US" sz="1200" b="1">
                <a:solidFill>
                  <a:srgbClr val="000000"/>
                </a:solidFill>
                <a:latin typeface="Calibri"/>
                <a:ea typeface="+mn-ea"/>
              </a:rPr>
              <a:t>12</a:t>
            </a:r>
          </a:p>
        </p:txBody>
      </p:sp>
      <p:sp>
        <p:nvSpPr>
          <p:cNvPr id="71" name="Text Box 489">
            <a:extLst>
              <a:ext uri="{FF2B5EF4-FFF2-40B4-BE49-F238E27FC236}">
                <a16:creationId xmlns:a16="http://schemas.microsoft.com/office/drawing/2014/main" id="{5EE28CB8-0C02-4AB0-B4D0-CAB83A7B6E8C}"/>
              </a:ext>
            </a:extLst>
          </p:cNvPr>
          <p:cNvSpPr txBox="1">
            <a:spLocks noChangeArrowheads="1"/>
          </p:cNvSpPr>
          <p:nvPr/>
        </p:nvSpPr>
        <p:spPr bwMode="auto">
          <a:xfrm>
            <a:off x="7527925" y="3417888"/>
            <a:ext cx="261938" cy="276225"/>
          </a:xfrm>
          <a:prstGeom prst="rect">
            <a:avLst/>
          </a:prstGeom>
          <a:noFill/>
          <a:ln w="12700">
            <a:noFill/>
            <a:miter lim="800000"/>
            <a:headEnd/>
            <a:tailEnd/>
          </a:ln>
          <a:effectLst/>
        </p:spPr>
        <p:txBody>
          <a:bodyPr wrap="none">
            <a:spAutoFit/>
          </a:bodyPr>
          <a:lstStyle/>
          <a:p>
            <a:pPr algn="ctr">
              <a:defRPr/>
            </a:pPr>
            <a:r>
              <a:rPr kumimoji="0" lang="en-US" sz="1200" b="1">
                <a:solidFill>
                  <a:srgbClr val="000000"/>
                </a:solidFill>
                <a:latin typeface="Calibri"/>
                <a:ea typeface="+mn-ea"/>
              </a:rPr>
              <a:t>/</a:t>
            </a:r>
          </a:p>
        </p:txBody>
      </p:sp>
      <p:sp>
        <p:nvSpPr>
          <p:cNvPr id="72" name="Text Box 505">
            <a:extLst>
              <a:ext uri="{FF2B5EF4-FFF2-40B4-BE49-F238E27FC236}">
                <a16:creationId xmlns:a16="http://schemas.microsoft.com/office/drawing/2014/main" id="{FF306F0E-8BF1-422A-A31E-46667EE471EB}"/>
              </a:ext>
            </a:extLst>
          </p:cNvPr>
          <p:cNvSpPr txBox="1">
            <a:spLocks noChangeArrowheads="1"/>
          </p:cNvSpPr>
          <p:nvPr/>
        </p:nvSpPr>
        <p:spPr bwMode="auto">
          <a:xfrm>
            <a:off x="1419225" y="4451350"/>
            <a:ext cx="1019175" cy="738188"/>
          </a:xfrm>
          <a:prstGeom prst="rect">
            <a:avLst/>
          </a:prstGeom>
          <a:noFill/>
          <a:ln w="12700">
            <a:noFill/>
            <a:miter lim="800000"/>
            <a:headEnd/>
            <a:tailEnd/>
          </a:ln>
          <a:effectLst/>
        </p:spPr>
        <p:txBody>
          <a:bodyPr>
            <a:spAutoFit/>
          </a:bodyPr>
          <a:lstStyle/>
          <a:p>
            <a:pPr marL="457200" indent="-457200" algn="ctr">
              <a:defRPr/>
            </a:pPr>
            <a:r>
              <a:rPr kumimoji="0" lang="en-US" sz="1400" b="1" i="1">
                <a:solidFill>
                  <a:srgbClr val="000000"/>
                </a:solidFill>
                <a:latin typeface="Calibri"/>
                <a:ea typeface="+mn-ea"/>
              </a:rPr>
              <a:t>512 GB </a:t>
            </a:r>
          </a:p>
          <a:p>
            <a:pPr marL="457200" indent="-457200" algn="ctr">
              <a:defRPr/>
            </a:pPr>
            <a:r>
              <a:rPr kumimoji="0" lang="en-US" sz="1400" b="1" i="1">
                <a:solidFill>
                  <a:srgbClr val="000000"/>
                </a:solidFill>
                <a:latin typeface="Calibri"/>
                <a:ea typeface="+mn-ea"/>
              </a:rPr>
              <a:t>region </a:t>
            </a:r>
          </a:p>
          <a:p>
            <a:pPr marL="457200" indent="-457200" algn="ctr">
              <a:defRPr/>
            </a:pPr>
            <a:r>
              <a:rPr kumimoji="0" lang="en-US" sz="1400" b="1" i="1">
                <a:solidFill>
                  <a:srgbClr val="000000"/>
                </a:solidFill>
                <a:latin typeface="Calibri"/>
                <a:ea typeface="+mn-ea"/>
              </a:rPr>
              <a:t>per entry</a:t>
            </a:r>
          </a:p>
        </p:txBody>
      </p:sp>
      <p:sp>
        <p:nvSpPr>
          <p:cNvPr id="73" name="Text Box 507">
            <a:extLst>
              <a:ext uri="{FF2B5EF4-FFF2-40B4-BE49-F238E27FC236}">
                <a16:creationId xmlns:a16="http://schemas.microsoft.com/office/drawing/2014/main" id="{9B58DB0C-6464-426F-894E-C6630B366247}"/>
              </a:ext>
            </a:extLst>
          </p:cNvPr>
          <p:cNvSpPr txBox="1">
            <a:spLocks noChangeArrowheads="1"/>
          </p:cNvSpPr>
          <p:nvPr/>
        </p:nvSpPr>
        <p:spPr bwMode="auto">
          <a:xfrm>
            <a:off x="2649538" y="4451350"/>
            <a:ext cx="1019175" cy="738188"/>
          </a:xfrm>
          <a:prstGeom prst="rect">
            <a:avLst/>
          </a:prstGeom>
          <a:noFill/>
          <a:ln w="12700">
            <a:noFill/>
            <a:miter lim="800000"/>
            <a:headEnd/>
            <a:tailEnd/>
          </a:ln>
          <a:effectLst/>
        </p:spPr>
        <p:txBody>
          <a:bodyPr>
            <a:spAutoFit/>
          </a:bodyPr>
          <a:lstStyle/>
          <a:p>
            <a:pPr marL="457200" indent="-457200" algn="ctr">
              <a:defRPr/>
            </a:pPr>
            <a:r>
              <a:rPr kumimoji="0" lang="en-US" sz="1400" b="1" i="1">
                <a:solidFill>
                  <a:srgbClr val="000000"/>
                </a:solidFill>
                <a:latin typeface="Calibri"/>
                <a:ea typeface="+mn-ea"/>
              </a:rPr>
              <a:t>1 GB </a:t>
            </a:r>
          </a:p>
          <a:p>
            <a:pPr marL="457200" indent="-457200" algn="ctr">
              <a:defRPr/>
            </a:pPr>
            <a:r>
              <a:rPr kumimoji="0" lang="en-US" sz="1400" b="1" i="1">
                <a:solidFill>
                  <a:srgbClr val="000000"/>
                </a:solidFill>
                <a:latin typeface="Calibri"/>
                <a:ea typeface="+mn-ea"/>
              </a:rPr>
              <a:t>region </a:t>
            </a:r>
          </a:p>
          <a:p>
            <a:pPr marL="457200" indent="-457200" algn="ctr">
              <a:defRPr/>
            </a:pPr>
            <a:r>
              <a:rPr kumimoji="0" lang="en-US" sz="1400" b="1" i="1">
                <a:solidFill>
                  <a:srgbClr val="000000"/>
                </a:solidFill>
                <a:latin typeface="Calibri"/>
                <a:ea typeface="+mn-ea"/>
              </a:rPr>
              <a:t>per entry</a:t>
            </a:r>
          </a:p>
        </p:txBody>
      </p:sp>
      <p:sp>
        <p:nvSpPr>
          <p:cNvPr id="74" name="Text Box 508">
            <a:extLst>
              <a:ext uri="{FF2B5EF4-FFF2-40B4-BE49-F238E27FC236}">
                <a16:creationId xmlns:a16="http://schemas.microsoft.com/office/drawing/2014/main" id="{FC091018-A33B-42D4-9D1F-17773EAD2A00}"/>
              </a:ext>
            </a:extLst>
          </p:cNvPr>
          <p:cNvSpPr txBox="1">
            <a:spLocks noChangeArrowheads="1"/>
          </p:cNvSpPr>
          <p:nvPr/>
        </p:nvSpPr>
        <p:spPr bwMode="auto">
          <a:xfrm>
            <a:off x="3998913" y="4451350"/>
            <a:ext cx="1019175" cy="738188"/>
          </a:xfrm>
          <a:prstGeom prst="rect">
            <a:avLst/>
          </a:prstGeom>
          <a:noFill/>
          <a:ln w="12700">
            <a:noFill/>
            <a:miter lim="800000"/>
            <a:headEnd/>
            <a:tailEnd/>
          </a:ln>
          <a:effectLst/>
        </p:spPr>
        <p:txBody>
          <a:bodyPr>
            <a:spAutoFit/>
          </a:bodyPr>
          <a:lstStyle/>
          <a:p>
            <a:pPr marL="457200" indent="-457200" algn="ctr">
              <a:defRPr/>
            </a:pPr>
            <a:r>
              <a:rPr kumimoji="0" lang="en-US" sz="1400" b="1" i="1">
                <a:solidFill>
                  <a:srgbClr val="000000"/>
                </a:solidFill>
                <a:latin typeface="Calibri"/>
                <a:ea typeface="+mn-ea"/>
              </a:rPr>
              <a:t>2 MB </a:t>
            </a:r>
          </a:p>
          <a:p>
            <a:pPr marL="457200" indent="-457200" algn="ctr">
              <a:defRPr/>
            </a:pPr>
            <a:r>
              <a:rPr kumimoji="0" lang="en-US" sz="1400" b="1" i="1">
                <a:solidFill>
                  <a:srgbClr val="000000"/>
                </a:solidFill>
                <a:latin typeface="Calibri"/>
                <a:ea typeface="+mn-ea"/>
              </a:rPr>
              <a:t>region </a:t>
            </a:r>
          </a:p>
          <a:p>
            <a:pPr marL="457200" indent="-457200" algn="ctr">
              <a:defRPr/>
            </a:pPr>
            <a:r>
              <a:rPr kumimoji="0" lang="en-US" sz="1400" b="1" i="1">
                <a:solidFill>
                  <a:srgbClr val="000000"/>
                </a:solidFill>
                <a:latin typeface="Calibri"/>
                <a:ea typeface="+mn-ea"/>
              </a:rPr>
              <a:t>per entry</a:t>
            </a:r>
          </a:p>
        </p:txBody>
      </p:sp>
      <p:sp>
        <p:nvSpPr>
          <p:cNvPr id="75" name="Text Box 509">
            <a:extLst>
              <a:ext uri="{FF2B5EF4-FFF2-40B4-BE49-F238E27FC236}">
                <a16:creationId xmlns:a16="http://schemas.microsoft.com/office/drawing/2014/main" id="{D7244A20-99CE-45C1-A858-5FC1F478B379}"/>
              </a:ext>
            </a:extLst>
          </p:cNvPr>
          <p:cNvSpPr txBox="1">
            <a:spLocks noChangeArrowheads="1"/>
          </p:cNvSpPr>
          <p:nvPr/>
        </p:nvSpPr>
        <p:spPr bwMode="auto">
          <a:xfrm>
            <a:off x="5221288" y="4451350"/>
            <a:ext cx="1019175" cy="738188"/>
          </a:xfrm>
          <a:prstGeom prst="rect">
            <a:avLst/>
          </a:prstGeom>
          <a:noFill/>
          <a:ln w="12700">
            <a:noFill/>
            <a:miter lim="800000"/>
            <a:headEnd/>
            <a:tailEnd/>
          </a:ln>
          <a:effectLst/>
        </p:spPr>
        <p:txBody>
          <a:bodyPr>
            <a:spAutoFit/>
          </a:bodyPr>
          <a:lstStyle/>
          <a:p>
            <a:pPr marL="457200" indent="-457200" algn="ctr">
              <a:defRPr/>
            </a:pPr>
            <a:r>
              <a:rPr kumimoji="0" lang="en-US" sz="1400" b="1" i="1">
                <a:solidFill>
                  <a:srgbClr val="000000"/>
                </a:solidFill>
                <a:latin typeface="Calibri"/>
                <a:ea typeface="+mn-ea"/>
              </a:rPr>
              <a:t>4 KB</a:t>
            </a:r>
          </a:p>
          <a:p>
            <a:pPr marL="457200" indent="-457200" algn="ctr">
              <a:defRPr/>
            </a:pPr>
            <a:r>
              <a:rPr kumimoji="0" lang="en-US" sz="1400" b="1" i="1">
                <a:solidFill>
                  <a:srgbClr val="000000"/>
                </a:solidFill>
                <a:latin typeface="Calibri"/>
                <a:ea typeface="+mn-ea"/>
              </a:rPr>
              <a:t>region </a:t>
            </a:r>
          </a:p>
          <a:p>
            <a:pPr marL="457200" indent="-457200" algn="ctr">
              <a:defRPr/>
            </a:pPr>
            <a:r>
              <a:rPr kumimoji="0" lang="en-US" sz="1400" b="1" i="1">
                <a:solidFill>
                  <a:srgbClr val="000000"/>
                </a:solidFill>
                <a:latin typeface="Calibri"/>
                <a:ea typeface="+mn-ea"/>
              </a:rPr>
              <a:t>per entry</a:t>
            </a:r>
          </a:p>
        </p:txBody>
      </p:sp>
    </p:spTree>
  </p:cSld>
  <p:clrMapOvr>
    <a:masterClrMapping/>
  </p:clrMapOvr>
  <p:transition spd="med">
    <p:pull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E90591-F50C-4519-B9F3-3CEA1EB93E93}"/>
              </a:ext>
            </a:extLst>
          </p:cNvPr>
          <p:cNvSpPr>
            <a:spLocks noGrp="1"/>
          </p:cNvSpPr>
          <p:nvPr>
            <p:ph type="title"/>
          </p:nvPr>
        </p:nvSpPr>
        <p:spPr/>
        <p:txBody>
          <a:bodyPr/>
          <a:lstStyle/>
          <a:p>
            <a:pPr>
              <a:defRPr/>
            </a:pPr>
            <a:r>
              <a:rPr lang="en-US" altLang="zh-CN"/>
              <a:t>Core i7 1-3</a:t>
            </a:r>
            <a:r>
              <a:rPr lang="zh-CN" altLang="en-US"/>
              <a:t>级页表项</a:t>
            </a:r>
          </a:p>
        </p:txBody>
      </p:sp>
      <p:sp>
        <p:nvSpPr>
          <p:cNvPr id="144388" name="Rectangle 2">
            <a:extLst>
              <a:ext uri="{FF2B5EF4-FFF2-40B4-BE49-F238E27FC236}">
                <a16:creationId xmlns:a16="http://schemas.microsoft.com/office/drawing/2014/main" id="{6D6A651A-AC58-4D24-BB61-18F33162BEB1}"/>
              </a:ext>
            </a:extLst>
          </p:cNvPr>
          <p:cNvSpPr>
            <a:spLocks noChangeArrowheads="1"/>
          </p:cNvSpPr>
          <p:nvPr/>
        </p:nvSpPr>
        <p:spPr bwMode="auto">
          <a:xfrm>
            <a:off x="1828800" y="1281113"/>
            <a:ext cx="2667000" cy="381000"/>
          </a:xfrm>
          <a:prstGeom prst="rect">
            <a:avLst/>
          </a:prstGeom>
          <a:solidFill>
            <a:srgbClr val="D5F1C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Page table physical base address</a:t>
            </a:r>
          </a:p>
        </p:txBody>
      </p:sp>
      <p:sp>
        <p:nvSpPr>
          <p:cNvPr id="144389" name="Rectangle 3">
            <a:extLst>
              <a:ext uri="{FF2B5EF4-FFF2-40B4-BE49-F238E27FC236}">
                <a16:creationId xmlns:a16="http://schemas.microsoft.com/office/drawing/2014/main" id="{B5AA12A5-35CC-4D96-A8CC-B483DA5C9E92}"/>
              </a:ext>
            </a:extLst>
          </p:cNvPr>
          <p:cNvSpPr>
            <a:spLocks noChangeArrowheads="1"/>
          </p:cNvSpPr>
          <p:nvPr/>
        </p:nvSpPr>
        <p:spPr bwMode="auto">
          <a:xfrm>
            <a:off x="4495800" y="1281113"/>
            <a:ext cx="990600" cy="381000"/>
          </a:xfrm>
          <a:prstGeom prst="rect">
            <a:avLst/>
          </a:prstGeom>
          <a:solidFill>
            <a:srgbClr val="FFFFF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Unused</a:t>
            </a:r>
          </a:p>
        </p:txBody>
      </p:sp>
      <p:sp>
        <p:nvSpPr>
          <p:cNvPr id="144390" name="Rectangle 4">
            <a:extLst>
              <a:ext uri="{FF2B5EF4-FFF2-40B4-BE49-F238E27FC236}">
                <a16:creationId xmlns:a16="http://schemas.microsoft.com/office/drawing/2014/main" id="{88265433-5B62-4EF6-856A-E186E7C8BC9A}"/>
              </a:ext>
            </a:extLst>
          </p:cNvPr>
          <p:cNvSpPr>
            <a:spLocks noChangeArrowheads="1"/>
          </p:cNvSpPr>
          <p:nvPr/>
        </p:nvSpPr>
        <p:spPr bwMode="auto">
          <a:xfrm>
            <a:off x="5486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G</a:t>
            </a:r>
          </a:p>
        </p:txBody>
      </p:sp>
      <p:sp>
        <p:nvSpPr>
          <p:cNvPr id="144391" name="Rectangle 5">
            <a:extLst>
              <a:ext uri="{FF2B5EF4-FFF2-40B4-BE49-F238E27FC236}">
                <a16:creationId xmlns:a16="http://schemas.microsoft.com/office/drawing/2014/main" id="{8C3BFAB7-85AD-43DF-85A5-8C70FB9BC7A6}"/>
              </a:ext>
            </a:extLst>
          </p:cNvPr>
          <p:cNvSpPr>
            <a:spLocks noChangeArrowheads="1"/>
          </p:cNvSpPr>
          <p:nvPr/>
        </p:nvSpPr>
        <p:spPr bwMode="auto">
          <a:xfrm>
            <a:off x="5867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PS</a:t>
            </a:r>
          </a:p>
        </p:txBody>
      </p:sp>
      <p:sp>
        <p:nvSpPr>
          <p:cNvPr id="9" name="Rectangle 6">
            <a:extLst>
              <a:ext uri="{FF2B5EF4-FFF2-40B4-BE49-F238E27FC236}">
                <a16:creationId xmlns:a16="http://schemas.microsoft.com/office/drawing/2014/main" id="{155B3CA3-21F0-4643-90C6-6993F2CE273A}"/>
              </a:ext>
            </a:extLst>
          </p:cNvPr>
          <p:cNvSpPr>
            <a:spLocks noChangeArrowheads="1"/>
          </p:cNvSpPr>
          <p:nvPr/>
        </p:nvSpPr>
        <p:spPr bwMode="auto">
          <a:xfrm>
            <a:off x="6248400" y="1281113"/>
            <a:ext cx="381000" cy="381000"/>
          </a:xfrm>
          <a:prstGeom prst="rect">
            <a:avLst/>
          </a:prstGeom>
          <a:solidFill>
            <a:srgbClr val="FFFFFF"/>
          </a:solidFill>
          <a:ln w="9360">
            <a:solidFill>
              <a:srgbClr val="000000"/>
            </a:solidFill>
            <a:miter lim="800000"/>
            <a:headEnd/>
            <a:tailEnd/>
          </a:ln>
          <a:effectLst/>
        </p:spPr>
        <p:txBody>
          <a:bodyPr wrap="none" anchor="ctr"/>
          <a:lstStyle/>
          <a:p>
            <a:pPr>
              <a:defRPr/>
            </a:pPr>
            <a:endParaRPr kumimoji="0" lang="en-US" sz="2400" b="1">
              <a:solidFill>
                <a:srgbClr val="000000"/>
              </a:solidFill>
              <a:latin typeface="Arial Narrow" pitchFamily="34" charset="0"/>
              <a:ea typeface="+mn-ea"/>
            </a:endParaRPr>
          </a:p>
        </p:txBody>
      </p:sp>
      <p:sp>
        <p:nvSpPr>
          <p:cNvPr id="144393" name="Rectangle 7">
            <a:extLst>
              <a:ext uri="{FF2B5EF4-FFF2-40B4-BE49-F238E27FC236}">
                <a16:creationId xmlns:a16="http://schemas.microsoft.com/office/drawing/2014/main" id="{1E5F0B6F-0A4D-4A00-8721-847021F7DAAC}"/>
              </a:ext>
            </a:extLst>
          </p:cNvPr>
          <p:cNvSpPr>
            <a:spLocks noChangeArrowheads="1"/>
          </p:cNvSpPr>
          <p:nvPr/>
        </p:nvSpPr>
        <p:spPr bwMode="auto">
          <a:xfrm>
            <a:off x="6629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A</a:t>
            </a:r>
          </a:p>
        </p:txBody>
      </p:sp>
      <p:sp>
        <p:nvSpPr>
          <p:cNvPr id="144394" name="Rectangle 8">
            <a:extLst>
              <a:ext uri="{FF2B5EF4-FFF2-40B4-BE49-F238E27FC236}">
                <a16:creationId xmlns:a16="http://schemas.microsoft.com/office/drawing/2014/main" id="{34F2B9B4-B6B5-4559-8BB7-61B99F6A74F3}"/>
              </a:ext>
            </a:extLst>
          </p:cNvPr>
          <p:cNvSpPr>
            <a:spLocks noChangeArrowheads="1"/>
          </p:cNvSpPr>
          <p:nvPr/>
        </p:nvSpPr>
        <p:spPr bwMode="auto">
          <a:xfrm>
            <a:off x="7010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CD</a:t>
            </a:r>
          </a:p>
        </p:txBody>
      </p:sp>
      <p:sp>
        <p:nvSpPr>
          <p:cNvPr id="144395" name="Rectangle 9">
            <a:extLst>
              <a:ext uri="{FF2B5EF4-FFF2-40B4-BE49-F238E27FC236}">
                <a16:creationId xmlns:a16="http://schemas.microsoft.com/office/drawing/2014/main" id="{CCBE51AA-CAC3-4314-A1BB-34880D5EF8C2}"/>
              </a:ext>
            </a:extLst>
          </p:cNvPr>
          <p:cNvSpPr>
            <a:spLocks noChangeArrowheads="1"/>
          </p:cNvSpPr>
          <p:nvPr/>
        </p:nvSpPr>
        <p:spPr bwMode="auto">
          <a:xfrm>
            <a:off x="7391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WT</a:t>
            </a:r>
          </a:p>
        </p:txBody>
      </p:sp>
      <p:sp>
        <p:nvSpPr>
          <p:cNvPr id="144396" name="Rectangle 10">
            <a:extLst>
              <a:ext uri="{FF2B5EF4-FFF2-40B4-BE49-F238E27FC236}">
                <a16:creationId xmlns:a16="http://schemas.microsoft.com/office/drawing/2014/main" id="{F24C9AEC-5A9E-4004-8F63-5F73980E9CA2}"/>
              </a:ext>
            </a:extLst>
          </p:cNvPr>
          <p:cNvSpPr>
            <a:spLocks noChangeArrowheads="1"/>
          </p:cNvSpPr>
          <p:nvPr/>
        </p:nvSpPr>
        <p:spPr bwMode="auto">
          <a:xfrm>
            <a:off x="7772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U/S</a:t>
            </a:r>
          </a:p>
        </p:txBody>
      </p:sp>
      <p:sp>
        <p:nvSpPr>
          <p:cNvPr id="144397" name="Rectangle 11">
            <a:extLst>
              <a:ext uri="{FF2B5EF4-FFF2-40B4-BE49-F238E27FC236}">
                <a16:creationId xmlns:a16="http://schemas.microsoft.com/office/drawing/2014/main" id="{625D2084-EBEF-4D04-8E79-4968E4E956B8}"/>
              </a:ext>
            </a:extLst>
          </p:cNvPr>
          <p:cNvSpPr>
            <a:spLocks noChangeArrowheads="1"/>
          </p:cNvSpPr>
          <p:nvPr/>
        </p:nvSpPr>
        <p:spPr bwMode="auto">
          <a:xfrm>
            <a:off x="8153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R/W</a:t>
            </a:r>
          </a:p>
        </p:txBody>
      </p:sp>
      <p:sp>
        <p:nvSpPr>
          <p:cNvPr id="144398" name="Rectangle 12">
            <a:extLst>
              <a:ext uri="{FF2B5EF4-FFF2-40B4-BE49-F238E27FC236}">
                <a16:creationId xmlns:a16="http://schemas.microsoft.com/office/drawing/2014/main" id="{3E889A1D-EE0B-4537-901B-14F43EB52052}"/>
              </a:ext>
            </a:extLst>
          </p:cNvPr>
          <p:cNvSpPr>
            <a:spLocks noChangeArrowheads="1"/>
          </p:cNvSpPr>
          <p:nvPr/>
        </p:nvSpPr>
        <p:spPr bwMode="auto">
          <a:xfrm>
            <a:off x="85344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P=1</a:t>
            </a:r>
          </a:p>
        </p:txBody>
      </p:sp>
      <p:sp>
        <p:nvSpPr>
          <p:cNvPr id="144399" name="Text Box 13">
            <a:extLst>
              <a:ext uri="{FF2B5EF4-FFF2-40B4-BE49-F238E27FC236}">
                <a16:creationId xmlns:a16="http://schemas.microsoft.com/office/drawing/2014/main" id="{6D27398B-5F6E-4E52-9763-7706F4D18BDC}"/>
              </a:ext>
            </a:extLst>
          </p:cNvPr>
          <p:cNvSpPr txBox="1">
            <a:spLocks noChangeArrowheads="1"/>
          </p:cNvSpPr>
          <p:nvPr/>
        </p:nvSpPr>
        <p:spPr bwMode="auto">
          <a:xfrm>
            <a:off x="457200" y="2470150"/>
            <a:ext cx="6934200" cy="354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spAutoFit/>
          </a:bodyPr>
          <a:lstStyle>
            <a:lvl1pPr marL="341313" indent="-341313">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1200"/>
              </a:spcBef>
            </a:pPr>
            <a:r>
              <a:rPr kumimoji="0" lang="en-GB" altLang="zh-CN" sz="2000" b="1">
                <a:solidFill>
                  <a:srgbClr val="000000"/>
                </a:solidFill>
                <a:latin typeface="Calibri" panose="020F0502020204030204" pitchFamily="34" charset="0"/>
                <a:ea typeface="msgothic"/>
                <a:cs typeface="msgothic"/>
              </a:rPr>
              <a:t>Each entry references a 4K child page table. Significant fields:</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P: </a:t>
            </a:r>
            <a:r>
              <a:rPr kumimoji="0" lang="en-GB" altLang="zh-CN" sz="1600">
                <a:solidFill>
                  <a:srgbClr val="000000"/>
                </a:solidFill>
                <a:latin typeface="Calibri" panose="020F0502020204030204" pitchFamily="34" charset="0"/>
                <a:ea typeface="msgothic"/>
                <a:cs typeface="msgothic"/>
              </a:rPr>
              <a:t>Child page table present in physical memory (1) or not (0).</a:t>
            </a:r>
          </a:p>
          <a:p>
            <a:pPr>
              <a:lnSpc>
                <a:spcPct val="88000"/>
              </a:lnSpc>
              <a:spcBef>
                <a:spcPts val="1200"/>
              </a:spcBef>
            </a:pPr>
            <a:r>
              <a:rPr kumimoji="0" lang="en-GB" altLang="zh-CN" sz="1600" b="1" u="sng">
                <a:solidFill>
                  <a:srgbClr val="000000"/>
                </a:solidFill>
                <a:latin typeface="Calibri" panose="020F0502020204030204" pitchFamily="34" charset="0"/>
                <a:ea typeface="msgothic"/>
                <a:cs typeface="msgothic"/>
              </a:rPr>
              <a:t>R/W</a:t>
            </a:r>
            <a:r>
              <a:rPr kumimoji="0" lang="en-GB" altLang="zh-CN" sz="1600" b="1">
                <a:solidFill>
                  <a:srgbClr val="000000"/>
                </a:solidFill>
                <a:latin typeface="Calibri" panose="020F0502020204030204" pitchFamily="34" charset="0"/>
                <a:ea typeface="msgothic"/>
                <a:cs typeface="msgothic"/>
              </a:rPr>
              <a:t>: </a:t>
            </a:r>
            <a:r>
              <a:rPr kumimoji="0" lang="en-GB" altLang="zh-CN" sz="1600">
                <a:solidFill>
                  <a:srgbClr val="000000"/>
                </a:solidFill>
                <a:latin typeface="Calibri" panose="020F0502020204030204" pitchFamily="34" charset="0"/>
                <a:ea typeface="msgothic"/>
                <a:cs typeface="msgothic"/>
              </a:rPr>
              <a:t>Read-only or read-write access access permission for all reachable pages.</a:t>
            </a:r>
          </a:p>
          <a:p>
            <a:pPr>
              <a:lnSpc>
                <a:spcPct val="88000"/>
              </a:lnSpc>
              <a:spcBef>
                <a:spcPts val="1200"/>
              </a:spcBef>
            </a:pPr>
            <a:r>
              <a:rPr kumimoji="0" lang="en-GB" altLang="zh-CN" sz="1600" b="1" u="sng">
                <a:solidFill>
                  <a:srgbClr val="000000"/>
                </a:solidFill>
                <a:latin typeface="Calibri" panose="020F0502020204030204" pitchFamily="34" charset="0"/>
                <a:ea typeface="msgothic"/>
                <a:cs typeface="msgothic"/>
              </a:rPr>
              <a:t>U/S</a:t>
            </a:r>
            <a:r>
              <a:rPr kumimoji="0" lang="en-GB" altLang="zh-CN" sz="1600" b="1">
                <a:solidFill>
                  <a:srgbClr val="000000"/>
                </a:solidFill>
                <a:latin typeface="Calibri" panose="020F0502020204030204" pitchFamily="34" charset="0"/>
                <a:ea typeface="msgothic"/>
                <a:cs typeface="msgothic"/>
              </a:rPr>
              <a:t>: </a:t>
            </a:r>
            <a:r>
              <a:rPr kumimoji="0" lang="en-GB" altLang="zh-CN" sz="1600">
                <a:solidFill>
                  <a:srgbClr val="000000"/>
                </a:solidFill>
                <a:latin typeface="Calibri" panose="020F0502020204030204" pitchFamily="34" charset="0"/>
                <a:ea typeface="msgothic"/>
                <a:cs typeface="msgothic"/>
              </a:rPr>
              <a:t>user or supervisor (kernel) mode access permission for all reachable pages.</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WT: </a:t>
            </a:r>
            <a:r>
              <a:rPr kumimoji="0" lang="en-GB" altLang="zh-CN" sz="1600">
                <a:solidFill>
                  <a:srgbClr val="000000"/>
                </a:solidFill>
                <a:latin typeface="Calibri" panose="020F0502020204030204" pitchFamily="34" charset="0"/>
                <a:ea typeface="msgothic"/>
                <a:cs typeface="msgothic"/>
              </a:rPr>
              <a:t>Write-through or write-back cache policy for the child page table. </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A:  </a:t>
            </a:r>
            <a:r>
              <a:rPr kumimoji="0" lang="en-GB" altLang="zh-CN" sz="1600">
                <a:solidFill>
                  <a:srgbClr val="000000"/>
                </a:solidFill>
                <a:latin typeface="Calibri" panose="020F0502020204030204" pitchFamily="34" charset="0"/>
                <a:ea typeface="msgothic"/>
                <a:cs typeface="msgothic"/>
              </a:rPr>
              <a:t>Reference bit (set by MMU on reads and writes, cleared by software).</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PS:  </a:t>
            </a:r>
            <a:r>
              <a:rPr kumimoji="0" lang="en-GB" altLang="zh-CN" sz="1600">
                <a:solidFill>
                  <a:srgbClr val="000000"/>
                </a:solidFill>
                <a:latin typeface="Calibri" panose="020F0502020204030204" pitchFamily="34" charset="0"/>
                <a:ea typeface="msgothic"/>
                <a:cs typeface="msgothic"/>
              </a:rPr>
              <a:t>Page size either 4 KB or 4 MB (defined for Level 1 PTEs only).</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Page table physical base address: </a:t>
            </a:r>
            <a:r>
              <a:rPr kumimoji="0" lang="en-GB" altLang="zh-CN" sz="1600">
                <a:solidFill>
                  <a:srgbClr val="000000"/>
                </a:solidFill>
                <a:latin typeface="Calibri" panose="020F0502020204030204" pitchFamily="34" charset="0"/>
                <a:ea typeface="msgothic"/>
                <a:cs typeface="msgothic"/>
              </a:rPr>
              <a:t>40 most significant bits of physical page table address (forces page tables to be 4KB aligned)</a:t>
            </a:r>
          </a:p>
          <a:p>
            <a:pPr>
              <a:lnSpc>
                <a:spcPct val="88000"/>
              </a:lnSpc>
              <a:spcBef>
                <a:spcPts val="1200"/>
              </a:spcBef>
            </a:pPr>
            <a:r>
              <a:rPr kumimoji="0" lang="en-GB" altLang="zh-CN" sz="1600" b="1" u="sng">
                <a:solidFill>
                  <a:srgbClr val="000000"/>
                </a:solidFill>
                <a:latin typeface="Calibri" panose="020F0502020204030204" pitchFamily="34" charset="0"/>
                <a:ea typeface="msgothic"/>
                <a:cs typeface="msgothic"/>
              </a:rPr>
              <a:t>XD</a:t>
            </a:r>
            <a:r>
              <a:rPr kumimoji="0" lang="en-GB" altLang="zh-CN" sz="1600" b="1">
                <a:solidFill>
                  <a:srgbClr val="000000"/>
                </a:solidFill>
                <a:latin typeface="Calibri" panose="020F0502020204030204" pitchFamily="34" charset="0"/>
                <a:ea typeface="msgothic"/>
                <a:cs typeface="msgothic"/>
              </a:rPr>
              <a:t>:</a:t>
            </a:r>
            <a:r>
              <a:rPr kumimoji="0" lang="en-GB" altLang="zh-CN" sz="1600">
                <a:solidFill>
                  <a:srgbClr val="000000"/>
                </a:solidFill>
                <a:latin typeface="Calibri" panose="020F0502020204030204" pitchFamily="34" charset="0"/>
                <a:ea typeface="msgothic"/>
                <a:cs typeface="msgothic"/>
              </a:rPr>
              <a:t> Disable or enable instruction fetches from all pages reachable from this PTE.</a:t>
            </a:r>
          </a:p>
        </p:txBody>
      </p:sp>
      <p:sp>
        <p:nvSpPr>
          <p:cNvPr id="144400" name="Text Box 14">
            <a:extLst>
              <a:ext uri="{FF2B5EF4-FFF2-40B4-BE49-F238E27FC236}">
                <a16:creationId xmlns:a16="http://schemas.microsoft.com/office/drawing/2014/main" id="{E1A995B7-3DDB-4240-9DEE-02A7456C3F3D}"/>
              </a:ext>
            </a:extLst>
          </p:cNvPr>
          <p:cNvSpPr txBox="1">
            <a:spLocks noChangeArrowheads="1"/>
          </p:cNvSpPr>
          <p:nvPr/>
        </p:nvSpPr>
        <p:spPr bwMode="auto">
          <a:xfrm>
            <a:off x="1768475" y="1052513"/>
            <a:ext cx="36512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51</a:t>
            </a:r>
          </a:p>
        </p:txBody>
      </p:sp>
      <p:sp>
        <p:nvSpPr>
          <p:cNvPr id="144401" name="Text Box 15">
            <a:extLst>
              <a:ext uri="{FF2B5EF4-FFF2-40B4-BE49-F238E27FC236}">
                <a16:creationId xmlns:a16="http://schemas.microsoft.com/office/drawing/2014/main" id="{1AF9D50B-8BA2-42C0-BFF3-086C7437C1D4}"/>
              </a:ext>
            </a:extLst>
          </p:cNvPr>
          <p:cNvSpPr txBox="1">
            <a:spLocks noChangeArrowheads="1"/>
          </p:cNvSpPr>
          <p:nvPr/>
        </p:nvSpPr>
        <p:spPr bwMode="auto">
          <a:xfrm>
            <a:off x="4189413" y="1057275"/>
            <a:ext cx="3651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12</a:t>
            </a:r>
          </a:p>
        </p:txBody>
      </p:sp>
      <p:sp>
        <p:nvSpPr>
          <p:cNvPr id="144402" name="Text Box 16">
            <a:extLst>
              <a:ext uri="{FF2B5EF4-FFF2-40B4-BE49-F238E27FC236}">
                <a16:creationId xmlns:a16="http://schemas.microsoft.com/office/drawing/2014/main" id="{22E193DF-F033-4F13-8F3A-678775212047}"/>
              </a:ext>
            </a:extLst>
          </p:cNvPr>
          <p:cNvSpPr txBox="1">
            <a:spLocks noChangeArrowheads="1"/>
          </p:cNvSpPr>
          <p:nvPr/>
        </p:nvSpPr>
        <p:spPr bwMode="auto">
          <a:xfrm>
            <a:off x="4422775" y="1057275"/>
            <a:ext cx="3651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11</a:t>
            </a:r>
          </a:p>
        </p:txBody>
      </p:sp>
      <p:sp>
        <p:nvSpPr>
          <p:cNvPr id="144403" name="Text Box 17">
            <a:extLst>
              <a:ext uri="{FF2B5EF4-FFF2-40B4-BE49-F238E27FC236}">
                <a16:creationId xmlns:a16="http://schemas.microsoft.com/office/drawing/2014/main" id="{4D8F44A0-60E3-4651-9D92-7300FD433161}"/>
              </a:ext>
            </a:extLst>
          </p:cNvPr>
          <p:cNvSpPr txBox="1">
            <a:spLocks noChangeArrowheads="1"/>
          </p:cNvSpPr>
          <p:nvPr/>
        </p:nvSpPr>
        <p:spPr bwMode="auto">
          <a:xfrm>
            <a:off x="5256213" y="1057275"/>
            <a:ext cx="27463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9</a:t>
            </a:r>
          </a:p>
        </p:txBody>
      </p:sp>
      <p:sp>
        <p:nvSpPr>
          <p:cNvPr id="144404" name="Text Box 18">
            <a:extLst>
              <a:ext uri="{FF2B5EF4-FFF2-40B4-BE49-F238E27FC236}">
                <a16:creationId xmlns:a16="http://schemas.microsoft.com/office/drawing/2014/main" id="{0F9540C9-6ADE-4FEA-B22C-9DAB7B81C822}"/>
              </a:ext>
            </a:extLst>
          </p:cNvPr>
          <p:cNvSpPr txBox="1">
            <a:spLocks noChangeArrowheads="1"/>
          </p:cNvSpPr>
          <p:nvPr/>
        </p:nvSpPr>
        <p:spPr bwMode="auto">
          <a:xfrm>
            <a:off x="55626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8</a:t>
            </a:r>
          </a:p>
        </p:txBody>
      </p:sp>
      <p:sp>
        <p:nvSpPr>
          <p:cNvPr id="144405" name="Text Box 19">
            <a:extLst>
              <a:ext uri="{FF2B5EF4-FFF2-40B4-BE49-F238E27FC236}">
                <a16:creationId xmlns:a16="http://schemas.microsoft.com/office/drawing/2014/main" id="{23C1EB90-ED50-4A79-800B-70AC785D7DC2}"/>
              </a:ext>
            </a:extLst>
          </p:cNvPr>
          <p:cNvSpPr txBox="1">
            <a:spLocks noChangeArrowheads="1"/>
          </p:cNvSpPr>
          <p:nvPr/>
        </p:nvSpPr>
        <p:spPr bwMode="auto">
          <a:xfrm>
            <a:off x="59436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7</a:t>
            </a:r>
          </a:p>
        </p:txBody>
      </p:sp>
      <p:sp>
        <p:nvSpPr>
          <p:cNvPr id="144406" name="Text Box 20">
            <a:extLst>
              <a:ext uri="{FF2B5EF4-FFF2-40B4-BE49-F238E27FC236}">
                <a16:creationId xmlns:a16="http://schemas.microsoft.com/office/drawing/2014/main" id="{F0298227-5992-4933-A301-03760D985D03}"/>
              </a:ext>
            </a:extLst>
          </p:cNvPr>
          <p:cNvSpPr txBox="1">
            <a:spLocks noChangeArrowheads="1"/>
          </p:cNvSpPr>
          <p:nvPr/>
        </p:nvSpPr>
        <p:spPr bwMode="auto">
          <a:xfrm>
            <a:off x="62738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6</a:t>
            </a:r>
          </a:p>
        </p:txBody>
      </p:sp>
      <p:sp>
        <p:nvSpPr>
          <p:cNvPr id="144407" name="Text Box 21">
            <a:extLst>
              <a:ext uri="{FF2B5EF4-FFF2-40B4-BE49-F238E27FC236}">
                <a16:creationId xmlns:a16="http://schemas.microsoft.com/office/drawing/2014/main" id="{206BDBF1-EF6F-47A3-9DF9-B86F61941D03}"/>
              </a:ext>
            </a:extLst>
          </p:cNvPr>
          <p:cNvSpPr txBox="1">
            <a:spLocks noChangeArrowheads="1"/>
          </p:cNvSpPr>
          <p:nvPr/>
        </p:nvSpPr>
        <p:spPr bwMode="auto">
          <a:xfrm>
            <a:off x="66929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5</a:t>
            </a:r>
          </a:p>
        </p:txBody>
      </p:sp>
      <p:sp>
        <p:nvSpPr>
          <p:cNvPr id="144408" name="Text Box 22">
            <a:extLst>
              <a:ext uri="{FF2B5EF4-FFF2-40B4-BE49-F238E27FC236}">
                <a16:creationId xmlns:a16="http://schemas.microsoft.com/office/drawing/2014/main" id="{6DD8D705-1ADB-4FC3-ACDD-B64B52D525D4}"/>
              </a:ext>
            </a:extLst>
          </p:cNvPr>
          <p:cNvSpPr txBox="1">
            <a:spLocks noChangeArrowheads="1"/>
          </p:cNvSpPr>
          <p:nvPr/>
        </p:nvSpPr>
        <p:spPr bwMode="auto">
          <a:xfrm>
            <a:off x="70866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4</a:t>
            </a:r>
          </a:p>
        </p:txBody>
      </p:sp>
      <p:sp>
        <p:nvSpPr>
          <p:cNvPr id="144409" name="Text Box 23">
            <a:extLst>
              <a:ext uri="{FF2B5EF4-FFF2-40B4-BE49-F238E27FC236}">
                <a16:creationId xmlns:a16="http://schemas.microsoft.com/office/drawing/2014/main" id="{BB167F35-0F7E-458F-BEEF-210828E24810}"/>
              </a:ext>
            </a:extLst>
          </p:cNvPr>
          <p:cNvSpPr txBox="1">
            <a:spLocks noChangeArrowheads="1"/>
          </p:cNvSpPr>
          <p:nvPr/>
        </p:nvSpPr>
        <p:spPr bwMode="auto">
          <a:xfrm>
            <a:off x="74676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3</a:t>
            </a:r>
          </a:p>
        </p:txBody>
      </p:sp>
      <p:sp>
        <p:nvSpPr>
          <p:cNvPr id="144410" name="Text Box 24">
            <a:extLst>
              <a:ext uri="{FF2B5EF4-FFF2-40B4-BE49-F238E27FC236}">
                <a16:creationId xmlns:a16="http://schemas.microsoft.com/office/drawing/2014/main" id="{82013A4C-5D9A-4692-8E12-FE39AEC36408}"/>
              </a:ext>
            </a:extLst>
          </p:cNvPr>
          <p:cNvSpPr txBox="1">
            <a:spLocks noChangeArrowheads="1"/>
          </p:cNvSpPr>
          <p:nvPr/>
        </p:nvSpPr>
        <p:spPr bwMode="auto">
          <a:xfrm>
            <a:off x="7847013" y="1057275"/>
            <a:ext cx="27463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2</a:t>
            </a:r>
          </a:p>
        </p:txBody>
      </p:sp>
      <p:sp>
        <p:nvSpPr>
          <p:cNvPr id="144411" name="Text Box 25">
            <a:extLst>
              <a:ext uri="{FF2B5EF4-FFF2-40B4-BE49-F238E27FC236}">
                <a16:creationId xmlns:a16="http://schemas.microsoft.com/office/drawing/2014/main" id="{3C651C5F-D185-4709-931F-594F0F1C1C60}"/>
              </a:ext>
            </a:extLst>
          </p:cNvPr>
          <p:cNvSpPr txBox="1">
            <a:spLocks noChangeArrowheads="1"/>
          </p:cNvSpPr>
          <p:nvPr/>
        </p:nvSpPr>
        <p:spPr bwMode="auto">
          <a:xfrm>
            <a:off x="82296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1</a:t>
            </a:r>
          </a:p>
        </p:txBody>
      </p:sp>
      <p:sp>
        <p:nvSpPr>
          <p:cNvPr id="144412" name="Text Box 26">
            <a:extLst>
              <a:ext uri="{FF2B5EF4-FFF2-40B4-BE49-F238E27FC236}">
                <a16:creationId xmlns:a16="http://schemas.microsoft.com/office/drawing/2014/main" id="{7E721AB7-9AC3-4F8D-A607-5DF3CB944D53}"/>
              </a:ext>
            </a:extLst>
          </p:cNvPr>
          <p:cNvSpPr txBox="1">
            <a:spLocks noChangeArrowheads="1"/>
          </p:cNvSpPr>
          <p:nvPr/>
        </p:nvSpPr>
        <p:spPr bwMode="auto">
          <a:xfrm>
            <a:off x="8610600" y="1057275"/>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0</a:t>
            </a:r>
          </a:p>
        </p:txBody>
      </p:sp>
      <p:sp>
        <p:nvSpPr>
          <p:cNvPr id="144413" name="Rectangle 3">
            <a:extLst>
              <a:ext uri="{FF2B5EF4-FFF2-40B4-BE49-F238E27FC236}">
                <a16:creationId xmlns:a16="http://schemas.microsoft.com/office/drawing/2014/main" id="{E0233796-9068-402A-BDFA-64499170BCCC}"/>
              </a:ext>
            </a:extLst>
          </p:cNvPr>
          <p:cNvSpPr>
            <a:spLocks noChangeArrowheads="1"/>
          </p:cNvSpPr>
          <p:nvPr/>
        </p:nvSpPr>
        <p:spPr bwMode="auto">
          <a:xfrm>
            <a:off x="838200" y="1281113"/>
            <a:ext cx="990600" cy="381000"/>
          </a:xfrm>
          <a:prstGeom prst="rect">
            <a:avLst/>
          </a:prstGeom>
          <a:solidFill>
            <a:srgbClr val="FFFFF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Unused</a:t>
            </a:r>
          </a:p>
        </p:txBody>
      </p:sp>
      <p:sp>
        <p:nvSpPr>
          <p:cNvPr id="144414" name="Rectangle 4">
            <a:extLst>
              <a:ext uri="{FF2B5EF4-FFF2-40B4-BE49-F238E27FC236}">
                <a16:creationId xmlns:a16="http://schemas.microsoft.com/office/drawing/2014/main" id="{9E662055-8DB0-4EE6-AF16-64B9804CAF2D}"/>
              </a:ext>
            </a:extLst>
          </p:cNvPr>
          <p:cNvSpPr>
            <a:spLocks noChangeArrowheads="1"/>
          </p:cNvSpPr>
          <p:nvPr/>
        </p:nvSpPr>
        <p:spPr bwMode="auto">
          <a:xfrm>
            <a:off x="457200" y="12811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XD</a:t>
            </a:r>
          </a:p>
        </p:txBody>
      </p:sp>
      <p:sp>
        <p:nvSpPr>
          <p:cNvPr id="144415" name="Rectangle 27">
            <a:extLst>
              <a:ext uri="{FF2B5EF4-FFF2-40B4-BE49-F238E27FC236}">
                <a16:creationId xmlns:a16="http://schemas.microsoft.com/office/drawing/2014/main" id="{CE61000A-220F-494F-B7FC-5B40F3EBE02C}"/>
              </a:ext>
            </a:extLst>
          </p:cNvPr>
          <p:cNvSpPr>
            <a:spLocks noChangeArrowheads="1"/>
          </p:cNvSpPr>
          <p:nvPr/>
        </p:nvSpPr>
        <p:spPr bwMode="auto">
          <a:xfrm>
            <a:off x="457200" y="1890713"/>
            <a:ext cx="8093075" cy="381000"/>
          </a:xfrm>
          <a:prstGeom prst="rect">
            <a:avLst/>
          </a:prstGeom>
          <a:solidFill>
            <a:srgbClr val="FFFFF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Available for OS (page table location on disk)</a:t>
            </a:r>
          </a:p>
        </p:txBody>
      </p:sp>
      <p:sp>
        <p:nvSpPr>
          <p:cNvPr id="144416" name="Rectangle 28">
            <a:extLst>
              <a:ext uri="{FF2B5EF4-FFF2-40B4-BE49-F238E27FC236}">
                <a16:creationId xmlns:a16="http://schemas.microsoft.com/office/drawing/2014/main" id="{44079EDD-0761-4ABD-864B-6CCCBA560EC9}"/>
              </a:ext>
            </a:extLst>
          </p:cNvPr>
          <p:cNvSpPr>
            <a:spLocks noChangeArrowheads="1"/>
          </p:cNvSpPr>
          <p:nvPr/>
        </p:nvSpPr>
        <p:spPr bwMode="auto">
          <a:xfrm>
            <a:off x="8550275" y="1890713"/>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P=0</a:t>
            </a:r>
          </a:p>
        </p:txBody>
      </p:sp>
      <p:sp>
        <p:nvSpPr>
          <p:cNvPr id="144417" name="Text Box 29">
            <a:extLst>
              <a:ext uri="{FF2B5EF4-FFF2-40B4-BE49-F238E27FC236}">
                <a16:creationId xmlns:a16="http://schemas.microsoft.com/office/drawing/2014/main" id="{156050C6-808A-45B0-B6E6-F54E3C943D7C}"/>
              </a:ext>
            </a:extLst>
          </p:cNvPr>
          <p:cNvSpPr txBox="1">
            <a:spLocks noChangeArrowheads="1"/>
          </p:cNvSpPr>
          <p:nvPr/>
        </p:nvSpPr>
        <p:spPr bwMode="auto">
          <a:xfrm>
            <a:off x="1524000" y="1052513"/>
            <a:ext cx="36512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52</a:t>
            </a:r>
          </a:p>
        </p:txBody>
      </p:sp>
      <p:sp>
        <p:nvSpPr>
          <p:cNvPr id="144418" name="Text Box 29">
            <a:extLst>
              <a:ext uri="{FF2B5EF4-FFF2-40B4-BE49-F238E27FC236}">
                <a16:creationId xmlns:a16="http://schemas.microsoft.com/office/drawing/2014/main" id="{DCBC41E0-8348-4463-A7FC-D49616299A66}"/>
              </a:ext>
            </a:extLst>
          </p:cNvPr>
          <p:cNvSpPr txBox="1">
            <a:spLocks noChangeArrowheads="1"/>
          </p:cNvSpPr>
          <p:nvPr/>
        </p:nvSpPr>
        <p:spPr bwMode="auto">
          <a:xfrm>
            <a:off x="762000" y="1052513"/>
            <a:ext cx="36512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62</a:t>
            </a:r>
          </a:p>
        </p:txBody>
      </p:sp>
      <p:sp>
        <p:nvSpPr>
          <p:cNvPr id="144419" name="Text Box 29">
            <a:extLst>
              <a:ext uri="{FF2B5EF4-FFF2-40B4-BE49-F238E27FC236}">
                <a16:creationId xmlns:a16="http://schemas.microsoft.com/office/drawing/2014/main" id="{2B1CC6F6-50FD-4983-ADD2-003DEA967AC6}"/>
              </a:ext>
            </a:extLst>
          </p:cNvPr>
          <p:cNvSpPr txBox="1">
            <a:spLocks noChangeArrowheads="1"/>
          </p:cNvSpPr>
          <p:nvPr/>
        </p:nvSpPr>
        <p:spPr bwMode="auto">
          <a:xfrm>
            <a:off x="457200" y="1052513"/>
            <a:ext cx="36512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63</a:t>
            </a:r>
          </a:p>
        </p:txBody>
      </p:sp>
    </p:spTree>
  </p:cSld>
  <p:clrMapOvr>
    <a:masterClrMapping/>
  </p:clrMapOvr>
  <p:transition spd="med">
    <p:pull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34F0E-A31A-45E1-BFEF-322AE142B302}"/>
              </a:ext>
            </a:extLst>
          </p:cNvPr>
          <p:cNvSpPr>
            <a:spLocks noGrp="1"/>
          </p:cNvSpPr>
          <p:nvPr>
            <p:ph type="title"/>
          </p:nvPr>
        </p:nvSpPr>
        <p:spPr/>
        <p:txBody>
          <a:bodyPr/>
          <a:lstStyle/>
          <a:p>
            <a:pPr>
              <a:defRPr/>
            </a:pPr>
            <a:r>
              <a:rPr lang="en-US" altLang="zh-CN"/>
              <a:t>Core i7 4</a:t>
            </a:r>
            <a:r>
              <a:rPr lang="zh-CN" altLang="en-US"/>
              <a:t>级页表项</a:t>
            </a:r>
          </a:p>
        </p:txBody>
      </p:sp>
      <p:sp>
        <p:nvSpPr>
          <p:cNvPr id="146436" name="Rectangle 2">
            <a:extLst>
              <a:ext uri="{FF2B5EF4-FFF2-40B4-BE49-F238E27FC236}">
                <a16:creationId xmlns:a16="http://schemas.microsoft.com/office/drawing/2014/main" id="{22BEA3E1-5AC5-43E7-A66A-605ED573C62C}"/>
              </a:ext>
            </a:extLst>
          </p:cNvPr>
          <p:cNvSpPr>
            <a:spLocks noChangeArrowheads="1"/>
          </p:cNvSpPr>
          <p:nvPr/>
        </p:nvSpPr>
        <p:spPr bwMode="auto">
          <a:xfrm>
            <a:off x="1828800" y="1362075"/>
            <a:ext cx="2667000" cy="381000"/>
          </a:xfrm>
          <a:prstGeom prst="rect">
            <a:avLst/>
          </a:prstGeom>
          <a:solidFill>
            <a:srgbClr val="D5F1C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Page physical base address</a:t>
            </a:r>
          </a:p>
        </p:txBody>
      </p:sp>
      <p:sp>
        <p:nvSpPr>
          <p:cNvPr id="146437" name="Rectangle 3">
            <a:extLst>
              <a:ext uri="{FF2B5EF4-FFF2-40B4-BE49-F238E27FC236}">
                <a16:creationId xmlns:a16="http://schemas.microsoft.com/office/drawing/2014/main" id="{DB220F55-F6DC-4AA1-B455-98EA263A6414}"/>
              </a:ext>
            </a:extLst>
          </p:cNvPr>
          <p:cNvSpPr>
            <a:spLocks noChangeArrowheads="1"/>
          </p:cNvSpPr>
          <p:nvPr/>
        </p:nvSpPr>
        <p:spPr bwMode="auto">
          <a:xfrm>
            <a:off x="4495800" y="1362075"/>
            <a:ext cx="990600" cy="381000"/>
          </a:xfrm>
          <a:prstGeom prst="rect">
            <a:avLst/>
          </a:prstGeom>
          <a:solidFill>
            <a:srgbClr val="FFFFF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Unused</a:t>
            </a:r>
          </a:p>
        </p:txBody>
      </p:sp>
      <p:sp>
        <p:nvSpPr>
          <p:cNvPr id="146438" name="Rectangle 4">
            <a:extLst>
              <a:ext uri="{FF2B5EF4-FFF2-40B4-BE49-F238E27FC236}">
                <a16:creationId xmlns:a16="http://schemas.microsoft.com/office/drawing/2014/main" id="{C7173D64-03A3-4956-85D6-B85864A33F38}"/>
              </a:ext>
            </a:extLst>
          </p:cNvPr>
          <p:cNvSpPr>
            <a:spLocks noChangeArrowheads="1"/>
          </p:cNvSpPr>
          <p:nvPr/>
        </p:nvSpPr>
        <p:spPr bwMode="auto">
          <a:xfrm>
            <a:off x="5486400" y="13620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G</a:t>
            </a:r>
          </a:p>
        </p:txBody>
      </p:sp>
      <p:sp>
        <p:nvSpPr>
          <p:cNvPr id="146439" name="Rectangle 5">
            <a:extLst>
              <a:ext uri="{FF2B5EF4-FFF2-40B4-BE49-F238E27FC236}">
                <a16:creationId xmlns:a16="http://schemas.microsoft.com/office/drawing/2014/main" id="{9FDE765D-D2F8-4A78-9120-DCE475B72BF8}"/>
              </a:ext>
            </a:extLst>
          </p:cNvPr>
          <p:cNvSpPr>
            <a:spLocks noChangeArrowheads="1"/>
          </p:cNvSpPr>
          <p:nvPr/>
        </p:nvSpPr>
        <p:spPr bwMode="auto">
          <a:xfrm>
            <a:off x="5867400" y="1362075"/>
            <a:ext cx="381000" cy="381000"/>
          </a:xfrm>
          <a:prstGeom prst="rect">
            <a:avLst/>
          </a:prstGeom>
          <a:solidFill>
            <a:srgbClr val="FFFFF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endParaRPr kumimoji="0" lang="en-GB" altLang="zh-CN" sz="1400" b="1">
              <a:solidFill>
                <a:srgbClr val="000000"/>
              </a:solidFill>
              <a:latin typeface="Calibri" panose="020F0502020204030204" pitchFamily="34" charset="0"/>
              <a:ea typeface="msgothic"/>
              <a:cs typeface="msgothic"/>
            </a:endParaRPr>
          </a:p>
        </p:txBody>
      </p:sp>
      <p:sp>
        <p:nvSpPr>
          <p:cNvPr id="9" name="Rectangle 6">
            <a:extLst>
              <a:ext uri="{FF2B5EF4-FFF2-40B4-BE49-F238E27FC236}">
                <a16:creationId xmlns:a16="http://schemas.microsoft.com/office/drawing/2014/main" id="{F7E6A956-23BE-4BFA-86E2-DF5E9DBFFE31}"/>
              </a:ext>
            </a:extLst>
          </p:cNvPr>
          <p:cNvSpPr>
            <a:spLocks noChangeArrowheads="1"/>
          </p:cNvSpPr>
          <p:nvPr/>
        </p:nvSpPr>
        <p:spPr bwMode="auto">
          <a:xfrm>
            <a:off x="6248400" y="1362075"/>
            <a:ext cx="381000" cy="381000"/>
          </a:xfrm>
          <a:prstGeom prst="rect">
            <a:avLst/>
          </a:prstGeom>
          <a:solidFill>
            <a:srgbClr val="F6D2D2"/>
          </a:solidFill>
          <a:ln w="9360">
            <a:solidFill>
              <a:srgbClr val="000000"/>
            </a:solidFill>
            <a:miter lim="800000"/>
            <a:headEnd/>
            <a:tailEnd/>
          </a:ln>
          <a:effectLst/>
        </p:spPr>
        <p:txBody>
          <a:bodyPr wrap="none" anchor="ctr"/>
          <a:lstStyle/>
          <a:p>
            <a:pPr algn="ctr">
              <a:defRPr/>
            </a:pPr>
            <a:r>
              <a:rPr kumimoji="0" lang="en-US" sz="1400" b="1" dirty="0">
                <a:solidFill>
                  <a:srgbClr val="000000"/>
                </a:solidFill>
                <a:latin typeface="Arial Narrow" pitchFamily="34" charset="0"/>
                <a:ea typeface="+mn-ea"/>
              </a:rPr>
              <a:t>D</a:t>
            </a:r>
          </a:p>
        </p:txBody>
      </p:sp>
      <p:sp>
        <p:nvSpPr>
          <p:cNvPr id="146441" name="Rectangle 7">
            <a:extLst>
              <a:ext uri="{FF2B5EF4-FFF2-40B4-BE49-F238E27FC236}">
                <a16:creationId xmlns:a16="http://schemas.microsoft.com/office/drawing/2014/main" id="{2269CF1C-7D63-4691-8DE2-EFB67CD1B803}"/>
              </a:ext>
            </a:extLst>
          </p:cNvPr>
          <p:cNvSpPr>
            <a:spLocks noChangeArrowheads="1"/>
          </p:cNvSpPr>
          <p:nvPr/>
        </p:nvSpPr>
        <p:spPr bwMode="auto">
          <a:xfrm>
            <a:off x="6629400" y="1362075"/>
            <a:ext cx="381000" cy="381000"/>
          </a:xfrm>
          <a:prstGeom prst="rect">
            <a:avLst/>
          </a:prstGeom>
          <a:solidFill>
            <a:srgbClr val="F6D2D2"/>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A</a:t>
            </a:r>
          </a:p>
        </p:txBody>
      </p:sp>
      <p:sp>
        <p:nvSpPr>
          <p:cNvPr id="146442" name="Rectangle 8">
            <a:extLst>
              <a:ext uri="{FF2B5EF4-FFF2-40B4-BE49-F238E27FC236}">
                <a16:creationId xmlns:a16="http://schemas.microsoft.com/office/drawing/2014/main" id="{FC6B58AA-3A6C-4CD6-A7B5-518A6A1E5EFD}"/>
              </a:ext>
            </a:extLst>
          </p:cNvPr>
          <p:cNvSpPr>
            <a:spLocks noChangeArrowheads="1"/>
          </p:cNvSpPr>
          <p:nvPr/>
        </p:nvSpPr>
        <p:spPr bwMode="auto">
          <a:xfrm>
            <a:off x="7010400" y="13620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CD</a:t>
            </a:r>
          </a:p>
        </p:txBody>
      </p:sp>
      <p:sp>
        <p:nvSpPr>
          <p:cNvPr id="146443" name="Rectangle 9">
            <a:extLst>
              <a:ext uri="{FF2B5EF4-FFF2-40B4-BE49-F238E27FC236}">
                <a16:creationId xmlns:a16="http://schemas.microsoft.com/office/drawing/2014/main" id="{BEC8C216-FFAE-40D2-911A-5C271C4A7CF6}"/>
              </a:ext>
            </a:extLst>
          </p:cNvPr>
          <p:cNvSpPr>
            <a:spLocks noChangeArrowheads="1"/>
          </p:cNvSpPr>
          <p:nvPr/>
        </p:nvSpPr>
        <p:spPr bwMode="auto">
          <a:xfrm>
            <a:off x="7391400" y="13620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WT</a:t>
            </a:r>
          </a:p>
        </p:txBody>
      </p:sp>
      <p:sp>
        <p:nvSpPr>
          <p:cNvPr id="146444" name="Rectangle 10">
            <a:extLst>
              <a:ext uri="{FF2B5EF4-FFF2-40B4-BE49-F238E27FC236}">
                <a16:creationId xmlns:a16="http://schemas.microsoft.com/office/drawing/2014/main" id="{C2B146D0-6DD3-45C7-B57A-635C61A0A01A}"/>
              </a:ext>
            </a:extLst>
          </p:cNvPr>
          <p:cNvSpPr>
            <a:spLocks noChangeArrowheads="1"/>
          </p:cNvSpPr>
          <p:nvPr/>
        </p:nvSpPr>
        <p:spPr bwMode="auto">
          <a:xfrm>
            <a:off x="7772400" y="13620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U/S</a:t>
            </a:r>
          </a:p>
        </p:txBody>
      </p:sp>
      <p:sp>
        <p:nvSpPr>
          <p:cNvPr id="146445" name="Rectangle 11">
            <a:extLst>
              <a:ext uri="{FF2B5EF4-FFF2-40B4-BE49-F238E27FC236}">
                <a16:creationId xmlns:a16="http://schemas.microsoft.com/office/drawing/2014/main" id="{DAD71B3D-2888-4700-9DE6-D20406E6FCD0}"/>
              </a:ext>
            </a:extLst>
          </p:cNvPr>
          <p:cNvSpPr>
            <a:spLocks noChangeArrowheads="1"/>
          </p:cNvSpPr>
          <p:nvPr/>
        </p:nvSpPr>
        <p:spPr bwMode="auto">
          <a:xfrm>
            <a:off x="8153400" y="13620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R/W</a:t>
            </a:r>
          </a:p>
        </p:txBody>
      </p:sp>
      <p:sp>
        <p:nvSpPr>
          <p:cNvPr id="146446" name="Rectangle 12">
            <a:extLst>
              <a:ext uri="{FF2B5EF4-FFF2-40B4-BE49-F238E27FC236}">
                <a16:creationId xmlns:a16="http://schemas.microsoft.com/office/drawing/2014/main" id="{5AE98712-5874-41E6-A441-61851D65BEFE}"/>
              </a:ext>
            </a:extLst>
          </p:cNvPr>
          <p:cNvSpPr>
            <a:spLocks noChangeArrowheads="1"/>
          </p:cNvSpPr>
          <p:nvPr/>
        </p:nvSpPr>
        <p:spPr bwMode="auto">
          <a:xfrm>
            <a:off x="8534400" y="13620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P=1</a:t>
            </a:r>
          </a:p>
        </p:txBody>
      </p:sp>
      <p:sp>
        <p:nvSpPr>
          <p:cNvPr id="146447" name="Text Box 13">
            <a:extLst>
              <a:ext uri="{FF2B5EF4-FFF2-40B4-BE49-F238E27FC236}">
                <a16:creationId xmlns:a16="http://schemas.microsoft.com/office/drawing/2014/main" id="{6A326388-8F14-47DB-9F4B-78E188B1F01E}"/>
              </a:ext>
            </a:extLst>
          </p:cNvPr>
          <p:cNvSpPr txBox="1">
            <a:spLocks noChangeArrowheads="1"/>
          </p:cNvSpPr>
          <p:nvPr/>
        </p:nvSpPr>
        <p:spPr bwMode="auto">
          <a:xfrm>
            <a:off x="457200" y="2549525"/>
            <a:ext cx="6934200" cy="354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spAutoFit/>
          </a:bodyPr>
          <a:lstStyle>
            <a:lvl1pPr marL="341313" indent="-341313">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1200"/>
              </a:spcBef>
            </a:pPr>
            <a:r>
              <a:rPr kumimoji="0" lang="en-GB" altLang="zh-CN" sz="2000" b="1">
                <a:solidFill>
                  <a:srgbClr val="000000"/>
                </a:solidFill>
                <a:latin typeface="Calibri" panose="020F0502020204030204" pitchFamily="34" charset="0"/>
                <a:ea typeface="msgothic"/>
                <a:cs typeface="msgothic"/>
              </a:rPr>
              <a:t>Each entry references a 4K child page. Significant fields:</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P: </a:t>
            </a:r>
            <a:r>
              <a:rPr kumimoji="0" lang="en-GB" altLang="zh-CN" sz="1600">
                <a:solidFill>
                  <a:srgbClr val="000000"/>
                </a:solidFill>
                <a:latin typeface="Calibri" panose="020F0502020204030204" pitchFamily="34" charset="0"/>
                <a:ea typeface="msgothic"/>
                <a:cs typeface="msgothic"/>
              </a:rPr>
              <a:t>Child page is present in memory (1) or not (0)</a:t>
            </a:r>
          </a:p>
          <a:p>
            <a:pPr>
              <a:lnSpc>
                <a:spcPct val="88000"/>
              </a:lnSpc>
              <a:spcBef>
                <a:spcPts val="1200"/>
              </a:spcBef>
            </a:pPr>
            <a:r>
              <a:rPr kumimoji="0" lang="en-GB" altLang="zh-CN" sz="1600" b="1" u="sng">
                <a:solidFill>
                  <a:srgbClr val="000000"/>
                </a:solidFill>
                <a:latin typeface="Calibri" panose="020F0502020204030204" pitchFamily="34" charset="0"/>
                <a:ea typeface="msgothic"/>
                <a:cs typeface="msgothic"/>
              </a:rPr>
              <a:t>R/W</a:t>
            </a:r>
            <a:r>
              <a:rPr kumimoji="0" lang="en-GB" altLang="zh-CN" sz="1600" b="1">
                <a:solidFill>
                  <a:srgbClr val="000000"/>
                </a:solidFill>
                <a:latin typeface="Calibri" panose="020F0502020204030204" pitchFamily="34" charset="0"/>
                <a:ea typeface="msgothic"/>
                <a:cs typeface="msgothic"/>
              </a:rPr>
              <a:t>: </a:t>
            </a:r>
            <a:r>
              <a:rPr kumimoji="0" lang="en-GB" altLang="zh-CN" sz="1600">
                <a:solidFill>
                  <a:srgbClr val="000000"/>
                </a:solidFill>
                <a:latin typeface="Calibri" panose="020F0502020204030204" pitchFamily="34" charset="0"/>
                <a:ea typeface="msgothic"/>
                <a:cs typeface="msgothic"/>
              </a:rPr>
              <a:t>Read-only or read-write access permission for child page</a:t>
            </a:r>
          </a:p>
          <a:p>
            <a:pPr>
              <a:lnSpc>
                <a:spcPct val="88000"/>
              </a:lnSpc>
              <a:spcBef>
                <a:spcPts val="1200"/>
              </a:spcBef>
            </a:pPr>
            <a:r>
              <a:rPr kumimoji="0" lang="en-GB" altLang="zh-CN" sz="1600" b="1" u="sng">
                <a:solidFill>
                  <a:srgbClr val="000000"/>
                </a:solidFill>
                <a:latin typeface="Calibri" panose="020F0502020204030204" pitchFamily="34" charset="0"/>
                <a:ea typeface="msgothic"/>
                <a:cs typeface="msgothic"/>
              </a:rPr>
              <a:t>U/S</a:t>
            </a:r>
            <a:r>
              <a:rPr kumimoji="0" lang="en-GB" altLang="zh-CN" sz="1600" b="1">
                <a:solidFill>
                  <a:srgbClr val="000000"/>
                </a:solidFill>
                <a:latin typeface="Calibri" panose="020F0502020204030204" pitchFamily="34" charset="0"/>
                <a:ea typeface="msgothic"/>
                <a:cs typeface="msgothic"/>
              </a:rPr>
              <a:t>: </a:t>
            </a:r>
            <a:r>
              <a:rPr kumimoji="0" lang="en-GB" altLang="zh-CN" sz="1600">
                <a:solidFill>
                  <a:srgbClr val="000000"/>
                </a:solidFill>
                <a:latin typeface="Calibri" panose="020F0502020204030204" pitchFamily="34" charset="0"/>
                <a:ea typeface="msgothic"/>
                <a:cs typeface="msgothic"/>
              </a:rPr>
              <a:t>User or supervisor mode access</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WT: </a:t>
            </a:r>
            <a:r>
              <a:rPr kumimoji="0" lang="en-GB" altLang="zh-CN" sz="1600">
                <a:solidFill>
                  <a:srgbClr val="000000"/>
                </a:solidFill>
                <a:latin typeface="Calibri" panose="020F0502020204030204" pitchFamily="34" charset="0"/>
                <a:ea typeface="msgothic"/>
                <a:cs typeface="msgothic"/>
              </a:rPr>
              <a:t>Write-through or write-back cache policy for this page</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A: </a:t>
            </a:r>
            <a:r>
              <a:rPr kumimoji="0" lang="en-GB" altLang="zh-CN" sz="1600">
                <a:solidFill>
                  <a:srgbClr val="000000"/>
                </a:solidFill>
                <a:latin typeface="Calibri" panose="020F0502020204030204" pitchFamily="34" charset="0"/>
                <a:ea typeface="msgothic"/>
                <a:cs typeface="msgothic"/>
              </a:rPr>
              <a:t>Reference bit (set by MMU on reads and writes, cleared by software) </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D: </a:t>
            </a:r>
            <a:r>
              <a:rPr kumimoji="0" lang="en-GB" altLang="zh-CN" sz="1600">
                <a:solidFill>
                  <a:srgbClr val="000000"/>
                </a:solidFill>
                <a:latin typeface="Calibri" panose="020F0502020204030204" pitchFamily="34" charset="0"/>
                <a:ea typeface="msgothic"/>
                <a:cs typeface="msgothic"/>
              </a:rPr>
              <a:t>Dirty bit (set by MMU on writes, cleared by software)</a:t>
            </a:r>
          </a:p>
          <a:p>
            <a:pPr>
              <a:lnSpc>
                <a:spcPct val="88000"/>
              </a:lnSpc>
              <a:spcBef>
                <a:spcPts val="1200"/>
              </a:spcBef>
            </a:pPr>
            <a:r>
              <a:rPr kumimoji="0" lang="en-GB" altLang="zh-CN" sz="1600" b="1">
                <a:solidFill>
                  <a:srgbClr val="000000"/>
                </a:solidFill>
                <a:latin typeface="Calibri" panose="020F0502020204030204" pitchFamily="34" charset="0"/>
                <a:ea typeface="msgothic"/>
                <a:cs typeface="msgothic"/>
              </a:rPr>
              <a:t>Page physical base address: </a:t>
            </a:r>
            <a:r>
              <a:rPr kumimoji="0" lang="en-GB" altLang="zh-CN" sz="1600">
                <a:solidFill>
                  <a:srgbClr val="000000"/>
                </a:solidFill>
                <a:latin typeface="Calibri" panose="020F0502020204030204" pitchFamily="34" charset="0"/>
                <a:ea typeface="msgothic"/>
                <a:cs typeface="msgothic"/>
              </a:rPr>
              <a:t>40 most significant bits of physical page address (forces pages to be 4KB aligned)</a:t>
            </a:r>
          </a:p>
          <a:p>
            <a:pPr>
              <a:lnSpc>
                <a:spcPct val="88000"/>
              </a:lnSpc>
              <a:spcBef>
                <a:spcPts val="1200"/>
              </a:spcBef>
            </a:pPr>
            <a:r>
              <a:rPr kumimoji="0" lang="en-GB" altLang="zh-CN" sz="1600" b="1" u="sng">
                <a:solidFill>
                  <a:srgbClr val="000000"/>
                </a:solidFill>
                <a:latin typeface="Calibri" panose="020F0502020204030204" pitchFamily="34" charset="0"/>
                <a:ea typeface="msgothic"/>
                <a:cs typeface="msgothic"/>
              </a:rPr>
              <a:t>XD</a:t>
            </a:r>
            <a:r>
              <a:rPr kumimoji="0" lang="en-GB" altLang="zh-CN" sz="1600" b="1">
                <a:solidFill>
                  <a:srgbClr val="000000"/>
                </a:solidFill>
                <a:latin typeface="Calibri" panose="020F0502020204030204" pitchFamily="34" charset="0"/>
                <a:ea typeface="msgothic"/>
                <a:cs typeface="msgothic"/>
              </a:rPr>
              <a:t>:</a:t>
            </a:r>
            <a:r>
              <a:rPr kumimoji="0" lang="en-GB" altLang="zh-CN" sz="1600">
                <a:solidFill>
                  <a:srgbClr val="000000"/>
                </a:solidFill>
                <a:latin typeface="Calibri" panose="020F0502020204030204" pitchFamily="34" charset="0"/>
                <a:ea typeface="msgothic"/>
                <a:cs typeface="msgothic"/>
              </a:rPr>
              <a:t> Disable or enable instruction fetches from this page.</a:t>
            </a:r>
          </a:p>
        </p:txBody>
      </p:sp>
      <p:sp>
        <p:nvSpPr>
          <p:cNvPr id="146448" name="Text Box 14">
            <a:extLst>
              <a:ext uri="{FF2B5EF4-FFF2-40B4-BE49-F238E27FC236}">
                <a16:creationId xmlns:a16="http://schemas.microsoft.com/office/drawing/2014/main" id="{5B4BE397-4DE7-4625-8E72-E5E9C1668564}"/>
              </a:ext>
            </a:extLst>
          </p:cNvPr>
          <p:cNvSpPr txBox="1">
            <a:spLocks noChangeArrowheads="1"/>
          </p:cNvSpPr>
          <p:nvPr/>
        </p:nvSpPr>
        <p:spPr bwMode="auto">
          <a:xfrm>
            <a:off x="1768475" y="1133475"/>
            <a:ext cx="3651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51</a:t>
            </a:r>
          </a:p>
        </p:txBody>
      </p:sp>
      <p:sp>
        <p:nvSpPr>
          <p:cNvPr id="146449" name="Text Box 15">
            <a:extLst>
              <a:ext uri="{FF2B5EF4-FFF2-40B4-BE49-F238E27FC236}">
                <a16:creationId xmlns:a16="http://schemas.microsoft.com/office/drawing/2014/main" id="{8ABCB1D0-6CD9-47B4-936B-74D739FE4887}"/>
              </a:ext>
            </a:extLst>
          </p:cNvPr>
          <p:cNvSpPr txBox="1">
            <a:spLocks noChangeArrowheads="1"/>
          </p:cNvSpPr>
          <p:nvPr/>
        </p:nvSpPr>
        <p:spPr bwMode="auto">
          <a:xfrm>
            <a:off x="4189413" y="1136650"/>
            <a:ext cx="3651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12</a:t>
            </a:r>
          </a:p>
        </p:txBody>
      </p:sp>
      <p:sp>
        <p:nvSpPr>
          <p:cNvPr id="146450" name="Text Box 16">
            <a:extLst>
              <a:ext uri="{FF2B5EF4-FFF2-40B4-BE49-F238E27FC236}">
                <a16:creationId xmlns:a16="http://schemas.microsoft.com/office/drawing/2014/main" id="{409BD094-1957-4059-9E19-D54A48920034}"/>
              </a:ext>
            </a:extLst>
          </p:cNvPr>
          <p:cNvSpPr txBox="1">
            <a:spLocks noChangeArrowheads="1"/>
          </p:cNvSpPr>
          <p:nvPr/>
        </p:nvSpPr>
        <p:spPr bwMode="auto">
          <a:xfrm>
            <a:off x="4422775" y="1136650"/>
            <a:ext cx="3651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11</a:t>
            </a:r>
          </a:p>
        </p:txBody>
      </p:sp>
      <p:sp>
        <p:nvSpPr>
          <p:cNvPr id="146451" name="Text Box 17">
            <a:extLst>
              <a:ext uri="{FF2B5EF4-FFF2-40B4-BE49-F238E27FC236}">
                <a16:creationId xmlns:a16="http://schemas.microsoft.com/office/drawing/2014/main" id="{0CE2EE18-E2DE-4751-94B0-09106B628F33}"/>
              </a:ext>
            </a:extLst>
          </p:cNvPr>
          <p:cNvSpPr txBox="1">
            <a:spLocks noChangeArrowheads="1"/>
          </p:cNvSpPr>
          <p:nvPr/>
        </p:nvSpPr>
        <p:spPr bwMode="auto">
          <a:xfrm>
            <a:off x="5256213" y="1136650"/>
            <a:ext cx="27463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9</a:t>
            </a:r>
          </a:p>
        </p:txBody>
      </p:sp>
      <p:sp>
        <p:nvSpPr>
          <p:cNvPr id="146452" name="Text Box 18">
            <a:extLst>
              <a:ext uri="{FF2B5EF4-FFF2-40B4-BE49-F238E27FC236}">
                <a16:creationId xmlns:a16="http://schemas.microsoft.com/office/drawing/2014/main" id="{8AA21FCF-F295-4821-AF88-DF4C67D89F90}"/>
              </a:ext>
            </a:extLst>
          </p:cNvPr>
          <p:cNvSpPr txBox="1">
            <a:spLocks noChangeArrowheads="1"/>
          </p:cNvSpPr>
          <p:nvPr/>
        </p:nvSpPr>
        <p:spPr bwMode="auto">
          <a:xfrm>
            <a:off x="55626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8</a:t>
            </a:r>
          </a:p>
        </p:txBody>
      </p:sp>
      <p:sp>
        <p:nvSpPr>
          <p:cNvPr id="146453" name="Text Box 19">
            <a:extLst>
              <a:ext uri="{FF2B5EF4-FFF2-40B4-BE49-F238E27FC236}">
                <a16:creationId xmlns:a16="http://schemas.microsoft.com/office/drawing/2014/main" id="{EBCA7056-A00E-4DD0-8176-AE8EF7D22396}"/>
              </a:ext>
            </a:extLst>
          </p:cNvPr>
          <p:cNvSpPr txBox="1">
            <a:spLocks noChangeArrowheads="1"/>
          </p:cNvSpPr>
          <p:nvPr/>
        </p:nvSpPr>
        <p:spPr bwMode="auto">
          <a:xfrm>
            <a:off x="59436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7</a:t>
            </a:r>
          </a:p>
        </p:txBody>
      </p:sp>
      <p:sp>
        <p:nvSpPr>
          <p:cNvPr id="146454" name="Text Box 20">
            <a:extLst>
              <a:ext uri="{FF2B5EF4-FFF2-40B4-BE49-F238E27FC236}">
                <a16:creationId xmlns:a16="http://schemas.microsoft.com/office/drawing/2014/main" id="{51607866-6A6F-49C0-B4DC-714DEA904F62}"/>
              </a:ext>
            </a:extLst>
          </p:cNvPr>
          <p:cNvSpPr txBox="1">
            <a:spLocks noChangeArrowheads="1"/>
          </p:cNvSpPr>
          <p:nvPr/>
        </p:nvSpPr>
        <p:spPr bwMode="auto">
          <a:xfrm>
            <a:off x="62738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6</a:t>
            </a:r>
          </a:p>
        </p:txBody>
      </p:sp>
      <p:sp>
        <p:nvSpPr>
          <p:cNvPr id="146455" name="Text Box 21">
            <a:extLst>
              <a:ext uri="{FF2B5EF4-FFF2-40B4-BE49-F238E27FC236}">
                <a16:creationId xmlns:a16="http://schemas.microsoft.com/office/drawing/2014/main" id="{AFCAD70C-5B1D-4691-9C3E-DD1E007638F4}"/>
              </a:ext>
            </a:extLst>
          </p:cNvPr>
          <p:cNvSpPr txBox="1">
            <a:spLocks noChangeArrowheads="1"/>
          </p:cNvSpPr>
          <p:nvPr/>
        </p:nvSpPr>
        <p:spPr bwMode="auto">
          <a:xfrm>
            <a:off x="66929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5</a:t>
            </a:r>
          </a:p>
        </p:txBody>
      </p:sp>
      <p:sp>
        <p:nvSpPr>
          <p:cNvPr id="146456" name="Text Box 22">
            <a:extLst>
              <a:ext uri="{FF2B5EF4-FFF2-40B4-BE49-F238E27FC236}">
                <a16:creationId xmlns:a16="http://schemas.microsoft.com/office/drawing/2014/main" id="{5C0AB221-0F55-4CFB-A68C-28D7BD9849EC}"/>
              </a:ext>
            </a:extLst>
          </p:cNvPr>
          <p:cNvSpPr txBox="1">
            <a:spLocks noChangeArrowheads="1"/>
          </p:cNvSpPr>
          <p:nvPr/>
        </p:nvSpPr>
        <p:spPr bwMode="auto">
          <a:xfrm>
            <a:off x="70866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4</a:t>
            </a:r>
          </a:p>
        </p:txBody>
      </p:sp>
      <p:sp>
        <p:nvSpPr>
          <p:cNvPr id="146457" name="Text Box 23">
            <a:extLst>
              <a:ext uri="{FF2B5EF4-FFF2-40B4-BE49-F238E27FC236}">
                <a16:creationId xmlns:a16="http://schemas.microsoft.com/office/drawing/2014/main" id="{EB974892-BB0A-4C03-86A6-33E005AAFD8A}"/>
              </a:ext>
            </a:extLst>
          </p:cNvPr>
          <p:cNvSpPr txBox="1">
            <a:spLocks noChangeArrowheads="1"/>
          </p:cNvSpPr>
          <p:nvPr/>
        </p:nvSpPr>
        <p:spPr bwMode="auto">
          <a:xfrm>
            <a:off x="74676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3</a:t>
            </a:r>
          </a:p>
        </p:txBody>
      </p:sp>
      <p:sp>
        <p:nvSpPr>
          <p:cNvPr id="146458" name="Text Box 24">
            <a:extLst>
              <a:ext uri="{FF2B5EF4-FFF2-40B4-BE49-F238E27FC236}">
                <a16:creationId xmlns:a16="http://schemas.microsoft.com/office/drawing/2014/main" id="{C6E9649C-F3A5-4BC9-AFDA-F96CA15319E3}"/>
              </a:ext>
            </a:extLst>
          </p:cNvPr>
          <p:cNvSpPr txBox="1">
            <a:spLocks noChangeArrowheads="1"/>
          </p:cNvSpPr>
          <p:nvPr/>
        </p:nvSpPr>
        <p:spPr bwMode="auto">
          <a:xfrm>
            <a:off x="7847013" y="1136650"/>
            <a:ext cx="274637"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2</a:t>
            </a:r>
          </a:p>
        </p:txBody>
      </p:sp>
      <p:sp>
        <p:nvSpPr>
          <p:cNvPr id="146459" name="Text Box 25">
            <a:extLst>
              <a:ext uri="{FF2B5EF4-FFF2-40B4-BE49-F238E27FC236}">
                <a16:creationId xmlns:a16="http://schemas.microsoft.com/office/drawing/2014/main" id="{2DDD087E-0B50-4E92-80EB-362760E25922}"/>
              </a:ext>
            </a:extLst>
          </p:cNvPr>
          <p:cNvSpPr txBox="1">
            <a:spLocks noChangeArrowheads="1"/>
          </p:cNvSpPr>
          <p:nvPr/>
        </p:nvSpPr>
        <p:spPr bwMode="auto">
          <a:xfrm>
            <a:off x="82296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1</a:t>
            </a:r>
          </a:p>
        </p:txBody>
      </p:sp>
      <p:sp>
        <p:nvSpPr>
          <p:cNvPr id="146460" name="Text Box 26">
            <a:extLst>
              <a:ext uri="{FF2B5EF4-FFF2-40B4-BE49-F238E27FC236}">
                <a16:creationId xmlns:a16="http://schemas.microsoft.com/office/drawing/2014/main" id="{92C09749-3B3B-441F-B30E-6D735F93F7FA}"/>
              </a:ext>
            </a:extLst>
          </p:cNvPr>
          <p:cNvSpPr txBox="1">
            <a:spLocks noChangeArrowheads="1"/>
          </p:cNvSpPr>
          <p:nvPr/>
        </p:nvSpPr>
        <p:spPr bwMode="auto">
          <a:xfrm>
            <a:off x="8610600" y="1136650"/>
            <a:ext cx="2746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0</a:t>
            </a:r>
          </a:p>
        </p:txBody>
      </p:sp>
      <p:sp>
        <p:nvSpPr>
          <p:cNvPr id="146461" name="Rectangle 3">
            <a:extLst>
              <a:ext uri="{FF2B5EF4-FFF2-40B4-BE49-F238E27FC236}">
                <a16:creationId xmlns:a16="http://schemas.microsoft.com/office/drawing/2014/main" id="{C1DDB195-82E4-4A8D-A5BF-21CEAD04BD07}"/>
              </a:ext>
            </a:extLst>
          </p:cNvPr>
          <p:cNvSpPr>
            <a:spLocks noChangeArrowheads="1"/>
          </p:cNvSpPr>
          <p:nvPr/>
        </p:nvSpPr>
        <p:spPr bwMode="auto">
          <a:xfrm>
            <a:off x="838200" y="1362075"/>
            <a:ext cx="990600" cy="381000"/>
          </a:xfrm>
          <a:prstGeom prst="rect">
            <a:avLst/>
          </a:prstGeom>
          <a:solidFill>
            <a:srgbClr val="FFFFF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Unused</a:t>
            </a:r>
          </a:p>
        </p:txBody>
      </p:sp>
      <p:sp>
        <p:nvSpPr>
          <p:cNvPr id="146462" name="Rectangle 4">
            <a:extLst>
              <a:ext uri="{FF2B5EF4-FFF2-40B4-BE49-F238E27FC236}">
                <a16:creationId xmlns:a16="http://schemas.microsoft.com/office/drawing/2014/main" id="{0DCF8D3D-377B-4523-80AB-D0B4ACB0A5E8}"/>
              </a:ext>
            </a:extLst>
          </p:cNvPr>
          <p:cNvSpPr>
            <a:spLocks noChangeArrowheads="1"/>
          </p:cNvSpPr>
          <p:nvPr/>
        </p:nvSpPr>
        <p:spPr bwMode="auto">
          <a:xfrm>
            <a:off x="457200" y="13620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XD</a:t>
            </a:r>
          </a:p>
        </p:txBody>
      </p:sp>
      <p:sp>
        <p:nvSpPr>
          <p:cNvPr id="146463" name="Rectangle 27">
            <a:extLst>
              <a:ext uri="{FF2B5EF4-FFF2-40B4-BE49-F238E27FC236}">
                <a16:creationId xmlns:a16="http://schemas.microsoft.com/office/drawing/2014/main" id="{83463A69-6A0F-4728-9D98-5AF2A609294D}"/>
              </a:ext>
            </a:extLst>
          </p:cNvPr>
          <p:cNvSpPr>
            <a:spLocks noChangeArrowheads="1"/>
          </p:cNvSpPr>
          <p:nvPr/>
        </p:nvSpPr>
        <p:spPr bwMode="auto">
          <a:xfrm>
            <a:off x="457200" y="1971675"/>
            <a:ext cx="8093075" cy="381000"/>
          </a:xfrm>
          <a:prstGeom prst="rect">
            <a:avLst/>
          </a:prstGeom>
          <a:solidFill>
            <a:srgbClr val="FFFFFF"/>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Available for OS (page location on disk)</a:t>
            </a:r>
          </a:p>
        </p:txBody>
      </p:sp>
      <p:sp>
        <p:nvSpPr>
          <p:cNvPr id="146464" name="Rectangle 28">
            <a:extLst>
              <a:ext uri="{FF2B5EF4-FFF2-40B4-BE49-F238E27FC236}">
                <a16:creationId xmlns:a16="http://schemas.microsoft.com/office/drawing/2014/main" id="{FBA3DE1B-C746-4E16-8AE5-06A28585BFB5}"/>
              </a:ext>
            </a:extLst>
          </p:cNvPr>
          <p:cNvSpPr>
            <a:spLocks noChangeArrowheads="1"/>
          </p:cNvSpPr>
          <p:nvPr/>
        </p:nvSpPr>
        <p:spPr bwMode="auto">
          <a:xfrm>
            <a:off x="8550275" y="1971675"/>
            <a:ext cx="381000" cy="381000"/>
          </a:xfrm>
          <a:prstGeom prst="rect">
            <a:avLst/>
          </a:prstGeom>
          <a:solidFill>
            <a:srgbClr val="F1C7C7"/>
          </a:solidFill>
          <a:ln w="936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P=0</a:t>
            </a:r>
          </a:p>
        </p:txBody>
      </p:sp>
      <p:sp>
        <p:nvSpPr>
          <p:cNvPr id="146465" name="Text Box 29">
            <a:extLst>
              <a:ext uri="{FF2B5EF4-FFF2-40B4-BE49-F238E27FC236}">
                <a16:creationId xmlns:a16="http://schemas.microsoft.com/office/drawing/2014/main" id="{D22CD110-BC49-4CBE-9270-6C22B796AF71}"/>
              </a:ext>
            </a:extLst>
          </p:cNvPr>
          <p:cNvSpPr txBox="1">
            <a:spLocks noChangeArrowheads="1"/>
          </p:cNvSpPr>
          <p:nvPr/>
        </p:nvSpPr>
        <p:spPr bwMode="auto">
          <a:xfrm>
            <a:off x="1524000" y="1133475"/>
            <a:ext cx="3651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52</a:t>
            </a:r>
          </a:p>
        </p:txBody>
      </p:sp>
      <p:sp>
        <p:nvSpPr>
          <p:cNvPr id="146466" name="Text Box 29">
            <a:extLst>
              <a:ext uri="{FF2B5EF4-FFF2-40B4-BE49-F238E27FC236}">
                <a16:creationId xmlns:a16="http://schemas.microsoft.com/office/drawing/2014/main" id="{6D61A2AE-FD38-4349-9202-66FDA353BC98}"/>
              </a:ext>
            </a:extLst>
          </p:cNvPr>
          <p:cNvSpPr txBox="1">
            <a:spLocks noChangeArrowheads="1"/>
          </p:cNvSpPr>
          <p:nvPr/>
        </p:nvSpPr>
        <p:spPr bwMode="auto">
          <a:xfrm>
            <a:off x="762000" y="1133475"/>
            <a:ext cx="3651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62</a:t>
            </a:r>
          </a:p>
        </p:txBody>
      </p:sp>
      <p:sp>
        <p:nvSpPr>
          <p:cNvPr id="146467" name="Text Box 29">
            <a:extLst>
              <a:ext uri="{FF2B5EF4-FFF2-40B4-BE49-F238E27FC236}">
                <a16:creationId xmlns:a16="http://schemas.microsoft.com/office/drawing/2014/main" id="{B8ADC38F-EF31-41D0-ACCA-B5A98DD3DFD3}"/>
              </a:ext>
            </a:extLst>
          </p:cNvPr>
          <p:cNvSpPr txBox="1">
            <a:spLocks noChangeArrowheads="1"/>
          </p:cNvSpPr>
          <p:nvPr/>
        </p:nvSpPr>
        <p:spPr bwMode="auto">
          <a:xfrm>
            <a:off x="457200" y="1133475"/>
            <a:ext cx="3651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525"/>
              </a:spcBef>
            </a:pPr>
            <a:r>
              <a:rPr kumimoji="0" lang="en-GB" altLang="zh-CN" sz="1400" b="1">
                <a:solidFill>
                  <a:srgbClr val="000000"/>
                </a:solidFill>
                <a:latin typeface="Calibri" panose="020F0502020204030204" pitchFamily="34" charset="0"/>
                <a:ea typeface="msgothic"/>
                <a:cs typeface="msgothic"/>
              </a:rPr>
              <a:t>63</a:t>
            </a:r>
          </a:p>
        </p:txBody>
      </p:sp>
    </p:spTree>
  </p:cSld>
  <p:clrMapOvr>
    <a:masterClrMapping/>
  </p:clrMapOvr>
  <p:transition spd="med">
    <p:pull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B09EC7-3299-47B3-8D14-DA7A484F79D2}"/>
              </a:ext>
            </a:extLst>
          </p:cNvPr>
          <p:cNvSpPr>
            <a:spLocks noGrp="1"/>
          </p:cNvSpPr>
          <p:nvPr>
            <p:ph type="title"/>
          </p:nvPr>
        </p:nvSpPr>
        <p:spPr/>
        <p:txBody>
          <a:bodyPr/>
          <a:lstStyle/>
          <a:p>
            <a:pPr>
              <a:defRPr/>
            </a:pPr>
            <a:r>
              <a:rPr lang="zh-CN" altLang="en-US" dirty="0"/>
              <a:t>虚拟内存用作内存保护的工具</a:t>
            </a:r>
          </a:p>
        </p:txBody>
      </p:sp>
      <p:sp>
        <p:nvSpPr>
          <p:cNvPr id="148483" name="内容占位符 2">
            <a:extLst>
              <a:ext uri="{FF2B5EF4-FFF2-40B4-BE49-F238E27FC236}">
                <a16:creationId xmlns:a16="http://schemas.microsoft.com/office/drawing/2014/main" id="{DF34D997-7FDD-4442-9E31-6440D49E9CA5}"/>
              </a:ext>
            </a:extLst>
          </p:cNvPr>
          <p:cNvSpPr>
            <a:spLocks noGrp="1" noChangeArrowheads="1"/>
          </p:cNvSpPr>
          <p:nvPr>
            <p:ph idx="1"/>
          </p:nvPr>
        </p:nvSpPr>
        <p:spPr/>
        <p:txBody>
          <a:bodyPr/>
          <a:lstStyle/>
          <a:p>
            <a:r>
              <a:rPr lang="zh-CN" altLang="en-US" sz="2400"/>
              <a:t>在页表中增加允许位</a:t>
            </a:r>
            <a:endParaRPr lang="en-US" altLang="zh-CN" sz="2400"/>
          </a:p>
          <a:p>
            <a:pPr lvl="1"/>
            <a:r>
              <a:rPr lang="en-US" altLang="zh-CN" sz="2400"/>
              <a:t>SUP</a:t>
            </a:r>
            <a:r>
              <a:rPr lang="zh-CN" altLang="en-US" sz="2400"/>
              <a:t>：</a:t>
            </a:r>
            <a:r>
              <a:rPr lang="en-US" altLang="zh-CN" sz="2400"/>
              <a:t>Yes</a:t>
            </a:r>
            <a:r>
              <a:rPr lang="zh-CN" altLang="en-US" sz="2400"/>
              <a:t>表示进程必须运行在内核模式下才能访问该页</a:t>
            </a:r>
          </a:p>
        </p:txBody>
      </p:sp>
      <p:sp>
        <p:nvSpPr>
          <p:cNvPr id="148485" name="Text Box 4">
            <a:extLst>
              <a:ext uri="{FF2B5EF4-FFF2-40B4-BE49-F238E27FC236}">
                <a16:creationId xmlns:a16="http://schemas.microsoft.com/office/drawing/2014/main" id="{2412BF7F-FAF6-42B0-8826-779040A554C5}"/>
              </a:ext>
            </a:extLst>
          </p:cNvPr>
          <p:cNvSpPr txBox="1">
            <a:spLocks noChangeArrowheads="1"/>
          </p:cNvSpPr>
          <p:nvPr/>
        </p:nvSpPr>
        <p:spPr bwMode="auto">
          <a:xfrm>
            <a:off x="282575" y="2125663"/>
            <a:ext cx="1106488"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800" b="1" i="1">
                <a:solidFill>
                  <a:srgbClr val="C00000"/>
                </a:solidFill>
                <a:latin typeface="Calibri" panose="020F0502020204030204" pitchFamily="34" charset="0"/>
              </a:rPr>
              <a:t>Process i:</a:t>
            </a:r>
          </a:p>
          <a:p>
            <a:pPr>
              <a:lnSpc>
                <a:spcPct val="88000"/>
              </a:lnSpc>
              <a:spcBef>
                <a:spcPts val="600"/>
              </a:spcBef>
            </a:pPr>
            <a:r>
              <a:rPr kumimoji="0" lang="zh-CN" altLang="en-US" sz="1600" b="1">
                <a:solidFill>
                  <a:srgbClr val="C00000"/>
                </a:solidFill>
                <a:latin typeface="Calibri" panose="020F0502020204030204" pitchFamily="34" charset="0"/>
              </a:rPr>
              <a:t>（进程 </a:t>
            </a:r>
            <a:r>
              <a:rPr kumimoji="0" lang="en-US" altLang="zh-CN" sz="1600" b="1">
                <a:solidFill>
                  <a:srgbClr val="C00000"/>
                </a:solidFill>
                <a:latin typeface="Calibri" panose="020F0502020204030204" pitchFamily="34" charset="0"/>
              </a:rPr>
              <a:t>i</a:t>
            </a:r>
            <a:r>
              <a:rPr kumimoji="0" lang="zh-CN" altLang="en-US" sz="1600" b="1">
                <a:solidFill>
                  <a:srgbClr val="C00000"/>
                </a:solidFill>
                <a:latin typeface="Calibri" panose="020F0502020204030204" pitchFamily="34" charset="0"/>
              </a:rPr>
              <a:t>）</a:t>
            </a:r>
            <a:endParaRPr kumimoji="0" lang="en-US" altLang="zh-CN" sz="1600" b="1">
              <a:solidFill>
                <a:srgbClr val="C00000"/>
              </a:solidFill>
              <a:latin typeface="Calibri" panose="020F0502020204030204" pitchFamily="34" charset="0"/>
            </a:endParaRPr>
          </a:p>
        </p:txBody>
      </p:sp>
      <p:sp>
        <p:nvSpPr>
          <p:cNvPr id="148486" name="Text Box 5">
            <a:extLst>
              <a:ext uri="{FF2B5EF4-FFF2-40B4-BE49-F238E27FC236}">
                <a16:creationId xmlns:a16="http://schemas.microsoft.com/office/drawing/2014/main" id="{1F9A49E5-995F-4FF5-ABE3-86371EB0A3F2}"/>
              </a:ext>
            </a:extLst>
          </p:cNvPr>
          <p:cNvSpPr txBox="1">
            <a:spLocks noChangeArrowheads="1"/>
          </p:cNvSpPr>
          <p:nvPr/>
        </p:nvSpPr>
        <p:spPr bwMode="auto">
          <a:xfrm>
            <a:off x="4427538" y="2095500"/>
            <a:ext cx="8651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Address</a:t>
            </a:r>
          </a:p>
        </p:txBody>
      </p:sp>
      <p:sp>
        <p:nvSpPr>
          <p:cNvPr id="148487" name="Text Box 6">
            <a:extLst>
              <a:ext uri="{FF2B5EF4-FFF2-40B4-BE49-F238E27FC236}">
                <a16:creationId xmlns:a16="http://schemas.microsoft.com/office/drawing/2014/main" id="{0A7BAEBF-4E73-47AA-99E6-AA1E54DBA5E5}"/>
              </a:ext>
            </a:extLst>
          </p:cNvPr>
          <p:cNvSpPr txBox="1">
            <a:spLocks noChangeArrowheads="1"/>
          </p:cNvSpPr>
          <p:nvPr/>
        </p:nvSpPr>
        <p:spPr bwMode="auto">
          <a:xfrm>
            <a:off x="2787650" y="2095500"/>
            <a:ext cx="6492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READ</a:t>
            </a:r>
          </a:p>
        </p:txBody>
      </p:sp>
      <p:sp>
        <p:nvSpPr>
          <p:cNvPr id="148488" name="Text Box 7">
            <a:extLst>
              <a:ext uri="{FF2B5EF4-FFF2-40B4-BE49-F238E27FC236}">
                <a16:creationId xmlns:a16="http://schemas.microsoft.com/office/drawing/2014/main" id="{C8629179-EA79-44B4-8AA3-B4F46767E2A4}"/>
              </a:ext>
            </a:extLst>
          </p:cNvPr>
          <p:cNvSpPr txBox="1">
            <a:spLocks noChangeArrowheads="1"/>
          </p:cNvSpPr>
          <p:nvPr/>
        </p:nvSpPr>
        <p:spPr bwMode="auto">
          <a:xfrm>
            <a:off x="3427413" y="2095500"/>
            <a:ext cx="7381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WRITE</a:t>
            </a:r>
          </a:p>
        </p:txBody>
      </p:sp>
      <p:sp>
        <p:nvSpPr>
          <p:cNvPr id="9" name="Rectangle 8">
            <a:extLst>
              <a:ext uri="{FF2B5EF4-FFF2-40B4-BE49-F238E27FC236}">
                <a16:creationId xmlns:a16="http://schemas.microsoft.com/office/drawing/2014/main" id="{3A5C2A2C-14F6-4362-BD26-03B1112AE670}"/>
              </a:ext>
            </a:extLst>
          </p:cNvPr>
          <p:cNvSpPr>
            <a:spLocks noChangeArrowheads="1"/>
          </p:cNvSpPr>
          <p:nvPr/>
        </p:nvSpPr>
        <p:spPr bwMode="auto">
          <a:xfrm>
            <a:off x="4133850" y="2400300"/>
            <a:ext cx="1524000" cy="304800"/>
          </a:xfrm>
          <a:prstGeom prst="rect">
            <a:avLst/>
          </a:prstGeom>
          <a:solidFill>
            <a:srgbClr val="3333CC">
              <a:lumMod val="40000"/>
              <a:lumOff val="60000"/>
            </a:srgbClr>
          </a:solidFill>
          <a:ln w="1260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rPr>
              <a:t>PP 6</a:t>
            </a:r>
          </a:p>
        </p:txBody>
      </p:sp>
      <p:sp>
        <p:nvSpPr>
          <p:cNvPr id="148490" name="Rectangle 9">
            <a:extLst>
              <a:ext uri="{FF2B5EF4-FFF2-40B4-BE49-F238E27FC236}">
                <a16:creationId xmlns:a16="http://schemas.microsoft.com/office/drawing/2014/main" id="{38380A77-BF1E-4D2E-957C-3EEE373076D4}"/>
              </a:ext>
            </a:extLst>
          </p:cNvPr>
          <p:cNvSpPr>
            <a:spLocks noChangeArrowheads="1"/>
          </p:cNvSpPr>
          <p:nvPr/>
        </p:nvSpPr>
        <p:spPr bwMode="auto">
          <a:xfrm>
            <a:off x="2762250" y="2400300"/>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491" name="Rectangle 10">
            <a:extLst>
              <a:ext uri="{FF2B5EF4-FFF2-40B4-BE49-F238E27FC236}">
                <a16:creationId xmlns:a16="http://schemas.microsoft.com/office/drawing/2014/main" id="{5F900826-2D0C-43A2-955A-67B06E49589B}"/>
              </a:ext>
            </a:extLst>
          </p:cNvPr>
          <p:cNvSpPr>
            <a:spLocks noChangeArrowheads="1"/>
          </p:cNvSpPr>
          <p:nvPr/>
        </p:nvSpPr>
        <p:spPr bwMode="auto">
          <a:xfrm>
            <a:off x="3448050" y="2400300"/>
            <a:ext cx="685800" cy="304800"/>
          </a:xfrm>
          <a:prstGeom prst="rect">
            <a:avLst/>
          </a:prstGeom>
          <a:solidFill>
            <a:srgbClr val="F1C7C7"/>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No</a:t>
            </a:r>
          </a:p>
        </p:txBody>
      </p:sp>
      <p:sp>
        <p:nvSpPr>
          <p:cNvPr id="12" name="Rectangle 11">
            <a:extLst>
              <a:ext uri="{FF2B5EF4-FFF2-40B4-BE49-F238E27FC236}">
                <a16:creationId xmlns:a16="http://schemas.microsoft.com/office/drawing/2014/main" id="{510D9828-FEF9-4836-8633-33762509AA44}"/>
              </a:ext>
            </a:extLst>
          </p:cNvPr>
          <p:cNvSpPr>
            <a:spLocks noChangeArrowheads="1"/>
          </p:cNvSpPr>
          <p:nvPr/>
        </p:nvSpPr>
        <p:spPr bwMode="auto">
          <a:xfrm>
            <a:off x="4133850" y="2705100"/>
            <a:ext cx="1524000" cy="304800"/>
          </a:xfrm>
          <a:prstGeom prst="rect">
            <a:avLst/>
          </a:prstGeom>
          <a:solidFill>
            <a:srgbClr val="3333CC">
              <a:lumMod val="40000"/>
              <a:lumOff val="60000"/>
            </a:srgbClr>
          </a:solidFill>
          <a:ln w="1260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rPr>
              <a:t>PP 4</a:t>
            </a:r>
          </a:p>
        </p:txBody>
      </p:sp>
      <p:sp>
        <p:nvSpPr>
          <p:cNvPr id="148493" name="Rectangle 12">
            <a:extLst>
              <a:ext uri="{FF2B5EF4-FFF2-40B4-BE49-F238E27FC236}">
                <a16:creationId xmlns:a16="http://schemas.microsoft.com/office/drawing/2014/main" id="{A8CB8F87-6DC2-4E5D-85A0-D06E8815583C}"/>
              </a:ext>
            </a:extLst>
          </p:cNvPr>
          <p:cNvSpPr>
            <a:spLocks noChangeArrowheads="1"/>
          </p:cNvSpPr>
          <p:nvPr/>
        </p:nvSpPr>
        <p:spPr bwMode="auto">
          <a:xfrm>
            <a:off x="2762250" y="2705100"/>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494" name="Rectangle 13">
            <a:extLst>
              <a:ext uri="{FF2B5EF4-FFF2-40B4-BE49-F238E27FC236}">
                <a16:creationId xmlns:a16="http://schemas.microsoft.com/office/drawing/2014/main" id="{DE0C9156-F3DA-46BD-A21E-961BE673AC1B}"/>
              </a:ext>
            </a:extLst>
          </p:cNvPr>
          <p:cNvSpPr>
            <a:spLocks noChangeArrowheads="1"/>
          </p:cNvSpPr>
          <p:nvPr/>
        </p:nvSpPr>
        <p:spPr bwMode="auto">
          <a:xfrm>
            <a:off x="3448050" y="2705100"/>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5" name="Rectangle 14">
            <a:extLst>
              <a:ext uri="{FF2B5EF4-FFF2-40B4-BE49-F238E27FC236}">
                <a16:creationId xmlns:a16="http://schemas.microsoft.com/office/drawing/2014/main" id="{7A885784-2537-4F84-A8B8-D0D7A9AB83BA}"/>
              </a:ext>
            </a:extLst>
          </p:cNvPr>
          <p:cNvSpPr>
            <a:spLocks noChangeArrowheads="1"/>
          </p:cNvSpPr>
          <p:nvPr/>
        </p:nvSpPr>
        <p:spPr bwMode="auto">
          <a:xfrm>
            <a:off x="4133850" y="3009900"/>
            <a:ext cx="1524000" cy="304800"/>
          </a:xfrm>
          <a:prstGeom prst="rect">
            <a:avLst/>
          </a:prstGeom>
          <a:solidFill>
            <a:srgbClr val="3333CC">
              <a:lumMod val="40000"/>
              <a:lumOff val="60000"/>
            </a:srgbClr>
          </a:solidFill>
          <a:ln w="1260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rPr>
              <a:t>PP 2</a:t>
            </a:r>
          </a:p>
        </p:txBody>
      </p:sp>
      <p:sp>
        <p:nvSpPr>
          <p:cNvPr id="148496" name="Rectangle 15">
            <a:extLst>
              <a:ext uri="{FF2B5EF4-FFF2-40B4-BE49-F238E27FC236}">
                <a16:creationId xmlns:a16="http://schemas.microsoft.com/office/drawing/2014/main" id="{8A2BF20B-56BA-4F22-B0D8-5B2175FEDA26}"/>
              </a:ext>
            </a:extLst>
          </p:cNvPr>
          <p:cNvSpPr>
            <a:spLocks noChangeArrowheads="1"/>
          </p:cNvSpPr>
          <p:nvPr/>
        </p:nvSpPr>
        <p:spPr bwMode="auto">
          <a:xfrm>
            <a:off x="2762250" y="3009900"/>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497" name="Text Box 16">
            <a:extLst>
              <a:ext uri="{FF2B5EF4-FFF2-40B4-BE49-F238E27FC236}">
                <a16:creationId xmlns:a16="http://schemas.microsoft.com/office/drawing/2014/main" id="{39D9D539-2C60-4E5D-AC63-42BF6CAABC3D}"/>
              </a:ext>
            </a:extLst>
          </p:cNvPr>
          <p:cNvSpPr txBox="1">
            <a:spLocks noChangeArrowheads="1"/>
          </p:cNvSpPr>
          <p:nvPr/>
        </p:nvSpPr>
        <p:spPr bwMode="auto">
          <a:xfrm>
            <a:off x="1465263" y="2395538"/>
            <a:ext cx="61912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VP 0:</a:t>
            </a:r>
          </a:p>
        </p:txBody>
      </p:sp>
      <p:sp>
        <p:nvSpPr>
          <p:cNvPr id="148498" name="Text Box 17">
            <a:extLst>
              <a:ext uri="{FF2B5EF4-FFF2-40B4-BE49-F238E27FC236}">
                <a16:creationId xmlns:a16="http://schemas.microsoft.com/office/drawing/2014/main" id="{E8E0D92B-53D8-4DB4-974C-C9A22EB8EB57}"/>
              </a:ext>
            </a:extLst>
          </p:cNvPr>
          <p:cNvSpPr txBox="1">
            <a:spLocks noChangeArrowheads="1"/>
          </p:cNvSpPr>
          <p:nvPr/>
        </p:nvSpPr>
        <p:spPr bwMode="auto">
          <a:xfrm>
            <a:off x="1465263" y="2700338"/>
            <a:ext cx="61912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VP 1:</a:t>
            </a:r>
          </a:p>
        </p:txBody>
      </p:sp>
      <p:sp>
        <p:nvSpPr>
          <p:cNvPr id="148499" name="Text Box 18">
            <a:extLst>
              <a:ext uri="{FF2B5EF4-FFF2-40B4-BE49-F238E27FC236}">
                <a16:creationId xmlns:a16="http://schemas.microsoft.com/office/drawing/2014/main" id="{938A8DF0-4294-43FC-BC05-072E73445897}"/>
              </a:ext>
            </a:extLst>
          </p:cNvPr>
          <p:cNvSpPr txBox="1">
            <a:spLocks noChangeArrowheads="1"/>
          </p:cNvSpPr>
          <p:nvPr/>
        </p:nvSpPr>
        <p:spPr bwMode="auto">
          <a:xfrm>
            <a:off x="1466850" y="3005138"/>
            <a:ext cx="61912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VP 2:</a:t>
            </a:r>
          </a:p>
        </p:txBody>
      </p:sp>
      <p:sp>
        <p:nvSpPr>
          <p:cNvPr id="148500" name="Rectangle 19">
            <a:extLst>
              <a:ext uri="{FF2B5EF4-FFF2-40B4-BE49-F238E27FC236}">
                <a16:creationId xmlns:a16="http://schemas.microsoft.com/office/drawing/2014/main" id="{EB3D48D2-184A-486C-912B-DDA284E3315C}"/>
              </a:ext>
            </a:extLst>
          </p:cNvPr>
          <p:cNvSpPr>
            <a:spLocks noChangeArrowheads="1"/>
          </p:cNvSpPr>
          <p:nvPr/>
        </p:nvSpPr>
        <p:spPr bwMode="auto">
          <a:xfrm>
            <a:off x="3735388" y="3390900"/>
            <a:ext cx="246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49000"/>
              </a:lnSpc>
            </a:pPr>
            <a:r>
              <a:rPr kumimoji="0" lang="en-GB" altLang="zh-CN" sz="1600" b="1">
                <a:solidFill>
                  <a:srgbClr val="000000"/>
                </a:solidFill>
                <a:latin typeface="Calibri" panose="020F0502020204030204" pitchFamily="34" charset="0"/>
              </a:rPr>
              <a:t>•</a:t>
            </a:r>
          </a:p>
          <a:p>
            <a:pPr algn="ctr">
              <a:lnSpc>
                <a:spcPct val="49000"/>
              </a:lnSpc>
            </a:pPr>
            <a:r>
              <a:rPr kumimoji="0" lang="en-GB" altLang="zh-CN" sz="1600" b="1">
                <a:solidFill>
                  <a:srgbClr val="000000"/>
                </a:solidFill>
                <a:latin typeface="Calibri" panose="020F0502020204030204" pitchFamily="34" charset="0"/>
              </a:rPr>
              <a:t>•</a:t>
            </a:r>
          </a:p>
          <a:p>
            <a:pPr algn="ctr">
              <a:lnSpc>
                <a:spcPct val="49000"/>
              </a:lnSpc>
            </a:pPr>
            <a:r>
              <a:rPr kumimoji="0" lang="en-GB" altLang="zh-CN" sz="1600" b="1">
                <a:solidFill>
                  <a:srgbClr val="000000"/>
                </a:solidFill>
                <a:latin typeface="Calibri" panose="020F0502020204030204" pitchFamily="34" charset="0"/>
              </a:rPr>
              <a:t>•</a:t>
            </a:r>
          </a:p>
        </p:txBody>
      </p:sp>
      <p:sp>
        <p:nvSpPr>
          <p:cNvPr id="148501" name="Text Box 20">
            <a:extLst>
              <a:ext uri="{FF2B5EF4-FFF2-40B4-BE49-F238E27FC236}">
                <a16:creationId xmlns:a16="http://schemas.microsoft.com/office/drawing/2014/main" id="{046CC249-E497-4B64-8849-46BD35835FEE}"/>
              </a:ext>
            </a:extLst>
          </p:cNvPr>
          <p:cNvSpPr txBox="1">
            <a:spLocks noChangeArrowheads="1"/>
          </p:cNvSpPr>
          <p:nvPr/>
        </p:nvSpPr>
        <p:spPr bwMode="auto">
          <a:xfrm>
            <a:off x="282575" y="4335463"/>
            <a:ext cx="1109663"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800" b="1" i="1">
                <a:solidFill>
                  <a:srgbClr val="C00000"/>
                </a:solidFill>
                <a:latin typeface="Calibri" panose="020F0502020204030204" pitchFamily="34" charset="0"/>
              </a:rPr>
              <a:t>Process j:</a:t>
            </a:r>
          </a:p>
          <a:p>
            <a:pPr>
              <a:lnSpc>
                <a:spcPct val="88000"/>
              </a:lnSpc>
              <a:spcBef>
                <a:spcPts val="600"/>
              </a:spcBef>
            </a:pPr>
            <a:r>
              <a:rPr kumimoji="0" lang="zh-CN" altLang="en-US" sz="1600" b="1">
                <a:solidFill>
                  <a:srgbClr val="C00000"/>
                </a:solidFill>
                <a:latin typeface="Calibri" panose="020F0502020204030204" pitchFamily="34" charset="0"/>
              </a:rPr>
              <a:t>（进程 </a:t>
            </a:r>
            <a:r>
              <a:rPr kumimoji="0" lang="en-US" altLang="zh-CN" sz="1600" b="1">
                <a:solidFill>
                  <a:srgbClr val="C00000"/>
                </a:solidFill>
                <a:latin typeface="Calibri" panose="020F0502020204030204" pitchFamily="34" charset="0"/>
              </a:rPr>
              <a:t>j</a:t>
            </a:r>
            <a:r>
              <a:rPr kumimoji="0" lang="zh-CN" altLang="en-US" sz="1600" b="1">
                <a:solidFill>
                  <a:srgbClr val="C00000"/>
                </a:solidFill>
                <a:latin typeface="Calibri" panose="020F0502020204030204" pitchFamily="34" charset="0"/>
              </a:rPr>
              <a:t>）</a:t>
            </a:r>
            <a:endParaRPr kumimoji="0" lang="en-GB" altLang="zh-CN" sz="1600" b="1">
              <a:solidFill>
                <a:srgbClr val="C00000"/>
              </a:solidFill>
              <a:latin typeface="Calibri" panose="020F0502020204030204" pitchFamily="34" charset="0"/>
            </a:endParaRPr>
          </a:p>
        </p:txBody>
      </p:sp>
      <p:sp>
        <p:nvSpPr>
          <p:cNvPr id="148502" name="Rectangle 35">
            <a:extLst>
              <a:ext uri="{FF2B5EF4-FFF2-40B4-BE49-F238E27FC236}">
                <a16:creationId xmlns:a16="http://schemas.microsoft.com/office/drawing/2014/main" id="{463FAFAA-6903-40CA-B355-D0260EB2289E}"/>
              </a:ext>
            </a:extLst>
          </p:cNvPr>
          <p:cNvSpPr>
            <a:spLocks noChangeArrowheads="1"/>
          </p:cNvSpPr>
          <p:nvPr/>
        </p:nvSpPr>
        <p:spPr bwMode="auto">
          <a:xfrm>
            <a:off x="3448050" y="3009900"/>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503" name="Text Box 42">
            <a:extLst>
              <a:ext uri="{FF2B5EF4-FFF2-40B4-BE49-F238E27FC236}">
                <a16:creationId xmlns:a16="http://schemas.microsoft.com/office/drawing/2014/main" id="{FB494429-044C-4285-9319-3DD5E443F54D}"/>
              </a:ext>
            </a:extLst>
          </p:cNvPr>
          <p:cNvSpPr txBox="1">
            <a:spLocks noChangeArrowheads="1"/>
          </p:cNvSpPr>
          <p:nvPr/>
        </p:nvSpPr>
        <p:spPr bwMode="auto">
          <a:xfrm>
            <a:off x="2166938" y="2095500"/>
            <a:ext cx="52387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SUP</a:t>
            </a:r>
          </a:p>
        </p:txBody>
      </p:sp>
      <p:sp>
        <p:nvSpPr>
          <p:cNvPr id="148504" name="Rectangle 43">
            <a:extLst>
              <a:ext uri="{FF2B5EF4-FFF2-40B4-BE49-F238E27FC236}">
                <a16:creationId xmlns:a16="http://schemas.microsoft.com/office/drawing/2014/main" id="{9E67D24D-39A5-4068-BD2D-0E1AD3E00561}"/>
              </a:ext>
            </a:extLst>
          </p:cNvPr>
          <p:cNvSpPr>
            <a:spLocks noChangeArrowheads="1"/>
          </p:cNvSpPr>
          <p:nvPr/>
        </p:nvSpPr>
        <p:spPr bwMode="auto">
          <a:xfrm>
            <a:off x="2073275" y="2400300"/>
            <a:ext cx="685800" cy="304800"/>
          </a:xfrm>
          <a:prstGeom prst="rect">
            <a:avLst/>
          </a:prstGeom>
          <a:solidFill>
            <a:srgbClr val="F1C7C7"/>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No</a:t>
            </a:r>
          </a:p>
        </p:txBody>
      </p:sp>
      <p:sp>
        <p:nvSpPr>
          <p:cNvPr id="148505" name="Rectangle 44">
            <a:extLst>
              <a:ext uri="{FF2B5EF4-FFF2-40B4-BE49-F238E27FC236}">
                <a16:creationId xmlns:a16="http://schemas.microsoft.com/office/drawing/2014/main" id="{C98C520D-72D9-42E0-8BE1-7454739102F0}"/>
              </a:ext>
            </a:extLst>
          </p:cNvPr>
          <p:cNvSpPr>
            <a:spLocks noChangeArrowheads="1"/>
          </p:cNvSpPr>
          <p:nvPr/>
        </p:nvSpPr>
        <p:spPr bwMode="auto">
          <a:xfrm>
            <a:off x="2073275" y="2705100"/>
            <a:ext cx="685800" cy="304800"/>
          </a:xfrm>
          <a:prstGeom prst="rect">
            <a:avLst/>
          </a:prstGeom>
          <a:solidFill>
            <a:srgbClr val="F1C7C7"/>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No</a:t>
            </a:r>
          </a:p>
        </p:txBody>
      </p:sp>
      <p:sp>
        <p:nvSpPr>
          <p:cNvPr id="148506" name="Rectangle 45">
            <a:extLst>
              <a:ext uri="{FF2B5EF4-FFF2-40B4-BE49-F238E27FC236}">
                <a16:creationId xmlns:a16="http://schemas.microsoft.com/office/drawing/2014/main" id="{EF4E3C55-CC1E-465C-88EC-D71EB618076F}"/>
              </a:ext>
            </a:extLst>
          </p:cNvPr>
          <p:cNvSpPr>
            <a:spLocks noChangeArrowheads="1"/>
          </p:cNvSpPr>
          <p:nvPr/>
        </p:nvSpPr>
        <p:spPr bwMode="auto">
          <a:xfrm>
            <a:off x="2073275" y="3009900"/>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507" name="Text Box 46">
            <a:extLst>
              <a:ext uri="{FF2B5EF4-FFF2-40B4-BE49-F238E27FC236}">
                <a16:creationId xmlns:a16="http://schemas.microsoft.com/office/drawing/2014/main" id="{C8F4D0D1-E380-45A6-8AE9-9836EF53376E}"/>
              </a:ext>
            </a:extLst>
          </p:cNvPr>
          <p:cNvSpPr txBox="1">
            <a:spLocks noChangeArrowheads="1"/>
          </p:cNvSpPr>
          <p:nvPr/>
        </p:nvSpPr>
        <p:spPr bwMode="auto">
          <a:xfrm>
            <a:off x="4430713" y="4303713"/>
            <a:ext cx="8651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Address</a:t>
            </a:r>
          </a:p>
        </p:txBody>
      </p:sp>
      <p:sp>
        <p:nvSpPr>
          <p:cNvPr id="148508" name="Text Box 47">
            <a:extLst>
              <a:ext uri="{FF2B5EF4-FFF2-40B4-BE49-F238E27FC236}">
                <a16:creationId xmlns:a16="http://schemas.microsoft.com/office/drawing/2014/main" id="{38ED5AD6-613E-4BA8-88D6-DF6FB5CA2FD0}"/>
              </a:ext>
            </a:extLst>
          </p:cNvPr>
          <p:cNvSpPr txBox="1">
            <a:spLocks noChangeArrowheads="1"/>
          </p:cNvSpPr>
          <p:nvPr/>
        </p:nvSpPr>
        <p:spPr bwMode="auto">
          <a:xfrm>
            <a:off x="2787650" y="4303713"/>
            <a:ext cx="6492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READ</a:t>
            </a:r>
          </a:p>
        </p:txBody>
      </p:sp>
      <p:sp>
        <p:nvSpPr>
          <p:cNvPr id="148509" name="Text Box 48">
            <a:extLst>
              <a:ext uri="{FF2B5EF4-FFF2-40B4-BE49-F238E27FC236}">
                <a16:creationId xmlns:a16="http://schemas.microsoft.com/office/drawing/2014/main" id="{30734428-34E7-4841-A49A-BB3CF0331F9F}"/>
              </a:ext>
            </a:extLst>
          </p:cNvPr>
          <p:cNvSpPr txBox="1">
            <a:spLocks noChangeArrowheads="1"/>
          </p:cNvSpPr>
          <p:nvPr/>
        </p:nvSpPr>
        <p:spPr bwMode="auto">
          <a:xfrm>
            <a:off x="3427413" y="4303713"/>
            <a:ext cx="7381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WRITE</a:t>
            </a:r>
          </a:p>
        </p:txBody>
      </p:sp>
      <p:sp>
        <p:nvSpPr>
          <p:cNvPr id="30" name="Rectangle 49">
            <a:extLst>
              <a:ext uri="{FF2B5EF4-FFF2-40B4-BE49-F238E27FC236}">
                <a16:creationId xmlns:a16="http://schemas.microsoft.com/office/drawing/2014/main" id="{CEDD6B8E-AAD0-4934-843E-937D1599597D}"/>
              </a:ext>
            </a:extLst>
          </p:cNvPr>
          <p:cNvSpPr>
            <a:spLocks noChangeArrowheads="1"/>
          </p:cNvSpPr>
          <p:nvPr/>
        </p:nvSpPr>
        <p:spPr bwMode="auto">
          <a:xfrm>
            <a:off x="4137025" y="4608513"/>
            <a:ext cx="1524000" cy="304800"/>
          </a:xfrm>
          <a:prstGeom prst="rect">
            <a:avLst/>
          </a:prstGeom>
          <a:solidFill>
            <a:srgbClr val="3333CC">
              <a:lumMod val="40000"/>
              <a:lumOff val="60000"/>
            </a:srgbClr>
          </a:solidFill>
          <a:ln w="1260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rPr>
              <a:t>PP 9</a:t>
            </a:r>
          </a:p>
        </p:txBody>
      </p:sp>
      <p:sp>
        <p:nvSpPr>
          <p:cNvPr id="148511" name="Rectangle 50">
            <a:extLst>
              <a:ext uri="{FF2B5EF4-FFF2-40B4-BE49-F238E27FC236}">
                <a16:creationId xmlns:a16="http://schemas.microsoft.com/office/drawing/2014/main" id="{790AAC42-C191-4D8E-B3BE-F8B90178A251}"/>
              </a:ext>
            </a:extLst>
          </p:cNvPr>
          <p:cNvSpPr>
            <a:spLocks noChangeArrowheads="1"/>
          </p:cNvSpPr>
          <p:nvPr/>
        </p:nvSpPr>
        <p:spPr bwMode="auto">
          <a:xfrm>
            <a:off x="2765425" y="4608513"/>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512" name="Rectangle 51">
            <a:extLst>
              <a:ext uri="{FF2B5EF4-FFF2-40B4-BE49-F238E27FC236}">
                <a16:creationId xmlns:a16="http://schemas.microsoft.com/office/drawing/2014/main" id="{4D26E598-F774-48A3-A107-F0752167D2C2}"/>
              </a:ext>
            </a:extLst>
          </p:cNvPr>
          <p:cNvSpPr>
            <a:spLocks noChangeArrowheads="1"/>
          </p:cNvSpPr>
          <p:nvPr/>
        </p:nvSpPr>
        <p:spPr bwMode="auto">
          <a:xfrm>
            <a:off x="3451225" y="4608513"/>
            <a:ext cx="685800" cy="304800"/>
          </a:xfrm>
          <a:prstGeom prst="rect">
            <a:avLst/>
          </a:prstGeom>
          <a:solidFill>
            <a:srgbClr val="F1C7C7"/>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No</a:t>
            </a:r>
          </a:p>
        </p:txBody>
      </p:sp>
      <p:sp>
        <p:nvSpPr>
          <p:cNvPr id="33" name="Rectangle 52">
            <a:extLst>
              <a:ext uri="{FF2B5EF4-FFF2-40B4-BE49-F238E27FC236}">
                <a16:creationId xmlns:a16="http://schemas.microsoft.com/office/drawing/2014/main" id="{788C0A2B-C882-4683-94A8-F30D416C7668}"/>
              </a:ext>
            </a:extLst>
          </p:cNvPr>
          <p:cNvSpPr>
            <a:spLocks noChangeArrowheads="1"/>
          </p:cNvSpPr>
          <p:nvPr/>
        </p:nvSpPr>
        <p:spPr bwMode="auto">
          <a:xfrm>
            <a:off x="4137025" y="4913313"/>
            <a:ext cx="1524000" cy="304800"/>
          </a:xfrm>
          <a:prstGeom prst="rect">
            <a:avLst/>
          </a:prstGeom>
          <a:solidFill>
            <a:srgbClr val="3333CC">
              <a:lumMod val="40000"/>
              <a:lumOff val="60000"/>
            </a:srgbClr>
          </a:solidFill>
          <a:ln w="1260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rPr>
              <a:t>PP 6</a:t>
            </a:r>
          </a:p>
        </p:txBody>
      </p:sp>
      <p:sp>
        <p:nvSpPr>
          <p:cNvPr id="148514" name="Rectangle 53">
            <a:extLst>
              <a:ext uri="{FF2B5EF4-FFF2-40B4-BE49-F238E27FC236}">
                <a16:creationId xmlns:a16="http://schemas.microsoft.com/office/drawing/2014/main" id="{C38ACD79-2BBA-42E2-9AF6-95678FA95032}"/>
              </a:ext>
            </a:extLst>
          </p:cNvPr>
          <p:cNvSpPr>
            <a:spLocks noChangeArrowheads="1"/>
          </p:cNvSpPr>
          <p:nvPr/>
        </p:nvSpPr>
        <p:spPr bwMode="auto">
          <a:xfrm>
            <a:off x="2765425" y="4913313"/>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515" name="Rectangle 54">
            <a:extLst>
              <a:ext uri="{FF2B5EF4-FFF2-40B4-BE49-F238E27FC236}">
                <a16:creationId xmlns:a16="http://schemas.microsoft.com/office/drawing/2014/main" id="{5CE2B99C-1C68-4896-B242-A069E1453DD9}"/>
              </a:ext>
            </a:extLst>
          </p:cNvPr>
          <p:cNvSpPr>
            <a:spLocks noChangeArrowheads="1"/>
          </p:cNvSpPr>
          <p:nvPr/>
        </p:nvSpPr>
        <p:spPr bwMode="auto">
          <a:xfrm>
            <a:off x="3451225" y="4913313"/>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36" name="Rectangle 55">
            <a:extLst>
              <a:ext uri="{FF2B5EF4-FFF2-40B4-BE49-F238E27FC236}">
                <a16:creationId xmlns:a16="http://schemas.microsoft.com/office/drawing/2014/main" id="{D474B1A4-FB87-4D12-9E2C-2F11A2E1EA21}"/>
              </a:ext>
            </a:extLst>
          </p:cNvPr>
          <p:cNvSpPr>
            <a:spLocks noChangeArrowheads="1"/>
          </p:cNvSpPr>
          <p:nvPr/>
        </p:nvSpPr>
        <p:spPr bwMode="auto">
          <a:xfrm>
            <a:off x="4137025" y="5218113"/>
            <a:ext cx="1524000" cy="304800"/>
          </a:xfrm>
          <a:prstGeom prst="rect">
            <a:avLst/>
          </a:prstGeom>
          <a:solidFill>
            <a:srgbClr val="3333CC">
              <a:lumMod val="40000"/>
              <a:lumOff val="60000"/>
            </a:srgbClr>
          </a:solidFill>
          <a:ln w="12600">
            <a:solidFill>
              <a:srgbClr val="000000"/>
            </a:solidFill>
            <a:miter lim="800000"/>
            <a:headEnd/>
            <a:tailEnd/>
          </a:ln>
          <a:effectLst/>
        </p:spPr>
        <p:txBody>
          <a:bodyPr wrap="none" lIns="90360" tIns="44280" rIns="90360" bIns="44280" anchor="ctr"/>
          <a:lstStyle/>
          <a:p>
            <a:pPr algn="ctr" eaLnBrk="1" fontAlgn="auto" hangingPunct="1">
              <a:lnSpc>
                <a:spcPct val="98000"/>
              </a:lnSpc>
              <a:spcBef>
                <a:spcPts val="0"/>
              </a:spcBef>
              <a:spcAft>
                <a:spcPts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600" b="1" kern="0" dirty="0">
                <a:solidFill>
                  <a:srgbClr val="000000"/>
                </a:solidFill>
                <a:latin typeface="Calibri" pitchFamily="34" charset="0"/>
              </a:rPr>
              <a:t>PP 11</a:t>
            </a:r>
          </a:p>
        </p:txBody>
      </p:sp>
      <p:sp>
        <p:nvSpPr>
          <p:cNvPr id="148517" name="Rectangle 56">
            <a:extLst>
              <a:ext uri="{FF2B5EF4-FFF2-40B4-BE49-F238E27FC236}">
                <a16:creationId xmlns:a16="http://schemas.microsoft.com/office/drawing/2014/main" id="{E128BAD8-57C6-44B3-A6A1-C6BA5B34FC43}"/>
              </a:ext>
            </a:extLst>
          </p:cNvPr>
          <p:cNvSpPr>
            <a:spLocks noChangeArrowheads="1"/>
          </p:cNvSpPr>
          <p:nvPr/>
        </p:nvSpPr>
        <p:spPr bwMode="auto">
          <a:xfrm>
            <a:off x="2765425" y="5218113"/>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518" name="Rectangle 57">
            <a:extLst>
              <a:ext uri="{FF2B5EF4-FFF2-40B4-BE49-F238E27FC236}">
                <a16:creationId xmlns:a16="http://schemas.microsoft.com/office/drawing/2014/main" id="{AC269FF5-DAF7-4629-8CB0-89503CDC6A55}"/>
              </a:ext>
            </a:extLst>
          </p:cNvPr>
          <p:cNvSpPr>
            <a:spLocks noChangeArrowheads="1"/>
          </p:cNvSpPr>
          <p:nvPr/>
        </p:nvSpPr>
        <p:spPr bwMode="auto">
          <a:xfrm>
            <a:off x="3451225" y="5218113"/>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519" name="Text Box 58">
            <a:extLst>
              <a:ext uri="{FF2B5EF4-FFF2-40B4-BE49-F238E27FC236}">
                <a16:creationId xmlns:a16="http://schemas.microsoft.com/office/drawing/2014/main" id="{1274F6F1-32F4-4A2C-B66B-510D8AC29647}"/>
              </a:ext>
            </a:extLst>
          </p:cNvPr>
          <p:cNvSpPr txBox="1">
            <a:spLocks noChangeArrowheads="1"/>
          </p:cNvSpPr>
          <p:nvPr/>
        </p:nvSpPr>
        <p:spPr bwMode="auto">
          <a:xfrm>
            <a:off x="2166938" y="4303713"/>
            <a:ext cx="52387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88000"/>
              </a:lnSpc>
              <a:spcBef>
                <a:spcPts val="600"/>
              </a:spcBef>
            </a:pPr>
            <a:r>
              <a:rPr kumimoji="0" lang="en-GB" altLang="zh-CN" sz="1600" b="1">
                <a:solidFill>
                  <a:srgbClr val="000000"/>
                </a:solidFill>
                <a:latin typeface="Calibri" panose="020F0502020204030204" pitchFamily="34" charset="0"/>
              </a:rPr>
              <a:t>SUP</a:t>
            </a:r>
          </a:p>
        </p:txBody>
      </p:sp>
      <p:sp>
        <p:nvSpPr>
          <p:cNvPr id="148520" name="Rectangle 59">
            <a:extLst>
              <a:ext uri="{FF2B5EF4-FFF2-40B4-BE49-F238E27FC236}">
                <a16:creationId xmlns:a16="http://schemas.microsoft.com/office/drawing/2014/main" id="{7FB7C12C-891B-4528-BCF9-1CDFEE45AF8F}"/>
              </a:ext>
            </a:extLst>
          </p:cNvPr>
          <p:cNvSpPr>
            <a:spLocks noChangeArrowheads="1"/>
          </p:cNvSpPr>
          <p:nvPr/>
        </p:nvSpPr>
        <p:spPr bwMode="auto">
          <a:xfrm>
            <a:off x="2076450" y="4608513"/>
            <a:ext cx="685800" cy="304800"/>
          </a:xfrm>
          <a:prstGeom prst="rect">
            <a:avLst/>
          </a:prstGeom>
          <a:solidFill>
            <a:srgbClr val="F1C7C7"/>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No</a:t>
            </a:r>
          </a:p>
        </p:txBody>
      </p:sp>
      <p:sp>
        <p:nvSpPr>
          <p:cNvPr id="148521" name="Rectangle 60">
            <a:extLst>
              <a:ext uri="{FF2B5EF4-FFF2-40B4-BE49-F238E27FC236}">
                <a16:creationId xmlns:a16="http://schemas.microsoft.com/office/drawing/2014/main" id="{FD79F6A4-7F69-4B02-9D6B-D16777AC2E5B}"/>
              </a:ext>
            </a:extLst>
          </p:cNvPr>
          <p:cNvSpPr>
            <a:spLocks noChangeArrowheads="1"/>
          </p:cNvSpPr>
          <p:nvPr/>
        </p:nvSpPr>
        <p:spPr bwMode="auto">
          <a:xfrm>
            <a:off x="2076450" y="4913313"/>
            <a:ext cx="685800" cy="304800"/>
          </a:xfrm>
          <a:prstGeom prst="rect">
            <a:avLst/>
          </a:prstGeom>
          <a:solidFill>
            <a:srgbClr val="D5F1CF"/>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Yes</a:t>
            </a:r>
          </a:p>
        </p:txBody>
      </p:sp>
      <p:sp>
        <p:nvSpPr>
          <p:cNvPr id="148522" name="Rectangle 61">
            <a:extLst>
              <a:ext uri="{FF2B5EF4-FFF2-40B4-BE49-F238E27FC236}">
                <a16:creationId xmlns:a16="http://schemas.microsoft.com/office/drawing/2014/main" id="{084DEE59-8983-4747-A6E5-563F8EF6215D}"/>
              </a:ext>
            </a:extLst>
          </p:cNvPr>
          <p:cNvSpPr>
            <a:spLocks noChangeArrowheads="1"/>
          </p:cNvSpPr>
          <p:nvPr/>
        </p:nvSpPr>
        <p:spPr bwMode="auto">
          <a:xfrm>
            <a:off x="2076450" y="5218113"/>
            <a:ext cx="685800" cy="304800"/>
          </a:xfrm>
          <a:prstGeom prst="rect">
            <a:avLst/>
          </a:prstGeom>
          <a:solidFill>
            <a:srgbClr val="F1C7C7"/>
          </a:solidFill>
          <a:ln w="12600">
            <a:solidFill>
              <a:srgbClr val="000000"/>
            </a:solidFill>
            <a:miter lim="800000"/>
            <a:headEnd/>
            <a:tailEnd/>
          </a:ln>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8000"/>
              </a:lnSpc>
            </a:pPr>
            <a:r>
              <a:rPr kumimoji="0" lang="en-GB" altLang="zh-CN" sz="1600" b="1">
                <a:solidFill>
                  <a:srgbClr val="000000"/>
                </a:solidFill>
                <a:latin typeface="Calibri" panose="020F0502020204030204" pitchFamily="34" charset="0"/>
              </a:rPr>
              <a:t>No</a:t>
            </a:r>
          </a:p>
        </p:txBody>
      </p:sp>
      <p:sp>
        <p:nvSpPr>
          <p:cNvPr id="148523" name="Text Box 62">
            <a:extLst>
              <a:ext uri="{FF2B5EF4-FFF2-40B4-BE49-F238E27FC236}">
                <a16:creationId xmlns:a16="http://schemas.microsoft.com/office/drawing/2014/main" id="{02AB390A-9181-4033-A724-EFF09544D13C}"/>
              </a:ext>
            </a:extLst>
          </p:cNvPr>
          <p:cNvSpPr txBox="1">
            <a:spLocks noChangeArrowheads="1"/>
          </p:cNvSpPr>
          <p:nvPr/>
        </p:nvSpPr>
        <p:spPr bwMode="auto">
          <a:xfrm>
            <a:off x="1465263" y="4610100"/>
            <a:ext cx="6191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VP 0:</a:t>
            </a:r>
          </a:p>
        </p:txBody>
      </p:sp>
      <p:sp>
        <p:nvSpPr>
          <p:cNvPr id="148524" name="Text Box 63">
            <a:extLst>
              <a:ext uri="{FF2B5EF4-FFF2-40B4-BE49-F238E27FC236}">
                <a16:creationId xmlns:a16="http://schemas.microsoft.com/office/drawing/2014/main" id="{9D73B659-5FA1-4E8C-8A44-76722340B157}"/>
              </a:ext>
            </a:extLst>
          </p:cNvPr>
          <p:cNvSpPr txBox="1">
            <a:spLocks noChangeArrowheads="1"/>
          </p:cNvSpPr>
          <p:nvPr/>
        </p:nvSpPr>
        <p:spPr bwMode="auto">
          <a:xfrm>
            <a:off x="1465263" y="4914900"/>
            <a:ext cx="6191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VP 1:</a:t>
            </a:r>
          </a:p>
        </p:txBody>
      </p:sp>
      <p:sp>
        <p:nvSpPr>
          <p:cNvPr id="148525" name="Text Box 64">
            <a:extLst>
              <a:ext uri="{FF2B5EF4-FFF2-40B4-BE49-F238E27FC236}">
                <a16:creationId xmlns:a16="http://schemas.microsoft.com/office/drawing/2014/main" id="{3015A57F-F8AF-4B07-865B-B168D907AAEF}"/>
              </a:ext>
            </a:extLst>
          </p:cNvPr>
          <p:cNvSpPr txBox="1">
            <a:spLocks noChangeArrowheads="1"/>
          </p:cNvSpPr>
          <p:nvPr/>
        </p:nvSpPr>
        <p:spPr bwMode="auto">
          <a:xfrm>
            <a:off x="1466850" y="5219700"/>
            <a:ext cx="61912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nSpc>
                <a:spcPct val="88000"/>
              </a:lnSpc>
              <a:spcBef>
                <a:spcPts val="600"/>
              </a:spcBef>
            </a:pPr>
            <a:r>
              <a:rPr kumimoji="0" lang="en-GB" altLang="zh-CN" sz="1600" b="1">
                <a:solidFill>
                  <a:srgbClr val="000000"/>
                </a:solidFill>
                <a:latin typeface="Calibri" panose="020F0502020204030204" pitchFamily="34" charset="0"/>
              </a:rPr>
              <a:t>VP 2:</a:t>
            </a:r>
          </a:p>
        </p:txBody>
      </p:sp>
      <p:sp>
        <p:nvSpPr>
          <p:cNvPr id="148526" name="Rectangle 4">
            <a:extLst>
              <a:ext uri="{FF2B5EF4-FFF2-40B4-BE49-F238E27FC236}">
                <a16:creationId xmlns:a16="http://schemas.microsoft.com/office/drawing/2014/main" id="{1AC778D5-5254-4720-9F5D-96E7E2DB8D8B}"/>
              </a:ext>
            </a:extLst>
          </p:cNvPr>
          <p:cNvSpPr>
            <a:spLocks noChangeArrowheads="1"/>
          </p:cNvSpPr>
          <p:nvPr/>
        </p:nvSpPr>
        <p:spPr bwMode="auto">
          <a:xfrm>
            <a:off x="7079690" y="1845189"/>
            <a:ext cx="16764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3200">
                <a:solidFill>
                  <a:schemeClr val="tx1"/>
                </a:solidFill>
                <a:latin typeface="Times New Roman" panose="02020603050405020304" pitchFamily="18" charset="0"/>
                <a:ea typeface="黑体" panose="02010609060101010101" pitchFamily="49" charset="-122"/>
              </a:defRPr>
            </a:lvl9pPr>
          </a:lstStyle>
          <a:p>
            <a:pPr algn="l">
              <a:lnSpc>
                <a:spcPct val="98000"/>
              </a:lnSpc>
            </a:pPr>
            <a:r>
              <a:rPr kumimoji="0" lang="en-GB" altLang="zh-CN" sz="1800" b="1" i="1" dirty="0">
                <a:solidFill>
                  <a:srgbClr val="C00000"/>
                </a:solidFill>
                <a:latin typeface="Calibri" panose="020F0502020204030204" pitchFamily="34" charset="0"/>
              </a:rPr>
              <a:t>Physical </a:t>
            </a:r>
          </a:p>
          <a:p>
            <a:pPr algn="l">
              <a:lnSpc>
                <a:spcPct val="98000"/>
              </a:lnSpc>
            </a:pPr>
            <a:r>
              <a:rPr kumimoji="0" lang="en-GB" altLang="zh-CN" sz="1800" b="1" i="1" dirty="0">
                <a:solidFill>
                  <a:srgbClr val="C00000"/>
                </a:solidFill>
                <a:latin typeface="Calibri" panose="020F0502020204030204" pitchFamily="34" charset="0"/>
              </a:rPr>
              <a:t>Address Space</a:t>
            </a:r>
          </a:p>
        </p:txBody>
      </p:sp>
      <p:sp>
        <p:nvSpPr>
          <p:cNvPr id="47" name="Rectangle 94">
            <a:extLst>
              <a:ext uri="{FF2B5EF4-FFF2-40B4-BE49-F238E27FC236}">
                <a16:creationId xmlns:a16="http://schemas.microsoft.com/office/drawing/2014/main" id="{1A2CCC4D-982B-4304-B5BC-4F4F1375E8BA}"/>
              </a:ext>
            </a:extLst>
          </p:cNvPr>
          <p:cNvSpPr/>
          <p:nvPr/>
        </p:nvSpPr>
        <p:spPr bwMode="auto">
          <a:xfrm>
            <a:off x="7291388" y="2405063"/>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ndParaRPr>
          </a:p>
        </p:txBody>
      </p:sp>
      <p:sp>
        <p:nvSpPr>
          <p:cNvPr id="48" name="Rectangle 95">
            <a:extLst>
              <a:ext uri="{FF2B5EF4-FFF2-40B4-BE49-F238E27FC236}">
                <a16:creationId xmlns:a16="http://schemas.microsoft.com/office/drawing/2014/main" id="{766E8189-C7F2-4023-9EC1-12AB6D931D80}"/>
              </a:ext>
            </a:extLst>
          </p:cNvPr>
          <p:cNvSpPr/>
          <p:nvPr/>
        </p:nvSpPr>
        <p:spPr bwMode="auto">
          <a:xfrm>
            <a:off x="7291388" y="2660650"/>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ndParaRPr>
          </a:p>
        </p:txBody>
      </p:sp>
      <p:sp>
        <p:nvSpPr>
          <p:cNvPr id="49" name="Rectangle 96">
            <a:extLst>
              <a:ext uri="{FF2B5EF4-FFF2-40B4-BE49-F238E27FC236}">
                <a16:creationId xmlns:a16="http://schemas.microsoft.com/office/drawing/2014/main" id="{842DD7FC-A320-4ED2-89EB-13CF61F02DF1}"/>
              </a:ext>
            </a:extLst>
          </p:cNvPr>
          <p:cNvSpPr/>
          <p:nvPr/>
        </p:nvSpPr>
        <p:spPr bwMode="auto">
          <a:xfrm>
            <a:off x="7291388" y="291941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rPr>
              <a:t>PP 2</a:t>
            </a:r>
          </a:p>
        </p:txBody>
      </p:sp>
      <p:sp>
        <p:nvSpPr>
          <p:cNvPr id="50" name="Rectangle 97">
            <a:extLst>
              <a:ext uri="{FF2B5EF4-FFF2-40B4-BE49-F238E27FC236}">
                <a16:creationId xmlns:a16="http://schemas.microsoft.com/office/drawing/2014/main" id="{9432C6AD-28E4-401B-A0DD-4D6339A2B6FD}"/>
              </a:ext>
            </a:extLst>
          </p:cNvPr>
          <p:cNvSpPr/>
          <p:nvPr/>
        </p:nvSpPr>
        <p:spPr bwMode="auto">
          <a:xfrm>
            <a:off x="7291388" y="3181350"/>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ndParaRPr>
          </a:p>
        </p:txBody>
      </p:sp>
      <p:sp>
        <p:nvSpPr>
          <p:cNvPr id="51" name="Rectangle 98">
            <a:extLst>
              <a:ext uri="{FF2B5EF4-FFF2-40B4-BE49-F238E27FC236}">
                <a16:creationId xmlns:a16="http://schemas.microsoft.com/office/drawing/2014/main" id="{26203F7E-613E-4741-B4AD-7958B4F11BD1}"/>
              </a:ext>
            </a:extLst>
          </p:cNvPr>
          <p:cNvSpPr/>
          <p:nvPr/>
        </p:nvSpPr>
        <p:spPr bwMode="auto">
          <a:xfrm>
            <a:off x="7291388" y="3436938"/>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rPr>
              <a:t>PP 4</a:t>
            </a:r>
          </a:p>
        </p:txBody>
      </p:sp>
      <p:sp>
        <p:nvSpPr>
          <p:cNvPr id="52" name="Rectangle 99">
            <a:extLst>
              <a:ext uri="{FF2B5EF4-FFF2-40B4-BE49-F238E27FC236}">
                <a16:creationId xmlns:a16="http://schemas.microsoft.com/office/drawing/2014/main" id="{CDDAC8EA-205C-4491-A076-4FEEEB69C583}"/>
              </a:ext>
            </a:extLst>
          </p:cNvPr>
          <p:cNvSpPr/>
          <p:nvPr/>
        </p:nvSpPr>
        <p:spPr bwMode="auto">
          <a:xfrm>
            <a:off x="7291388" y="3690938"/>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ndParaRPr>
          </a:p>
        </p:txBody>
      </p:sp>
      <p:sp>
        <p:nvSpPr>
          <p:cNvPr id="53" name="Rectangle 100">
            <a:extLst>
              <a:ext uri="{FF2B5EF4-FFF2-40B4-BE49-F238E27FC236}">
                <a16:creationId xmlns:a16="http://schemas.microsoft.com/office/drawing/2014/main" id="{A3FB7C0D-67EA-4D34-93E7-C8F9CA4E6963}"/>
              </a:ext>
            </a:extLst>
          </p:cNvPr>
          <p:cNvSpPr/>
          <p:nvPr/>
        </p:nvSpPr>
        <p:spPr bwMode="auto">
          <a:xfrm>
            <a:off x="7291388" y="3951288"/>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rPr>
              <a:t>PP 6</a:t>
            </a:r>
          </a:p>
        </p:txBody>
      </p:sp>
      <p:sp>
        <p:nvSpPr>
          <p:cNvPr id="54" name="Rectangle 101">
            <a:extLst>
              <a:ext uri="{FF2B5EF4-FFF2-40B4-BE49-F238E27FC236}">
                <a16:creationId xmlns:a16="http://schemas.microsoft.com/office/drawing/2014/main" id="{14C3B4DD-C11E-4EF6-85B5-625ADBB8A93F}"/>
              </a:ext>
            </a:extLst>
          </p:cNvPr>
          <p:cNvSpPr/>
          <p:nvPr/>
        </p:nvSpPr>
        <p:spPr bwMode="auto">
          <a:xfrm>
            <a:off x="7291388" y="4200525"/>
            <a:ext cx="914400" cy="255588"/>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ndParaRPr>
          </a:p>
        </p:txBody>
      </p:sp>
      <p:sp>
        <p:nvSpPr>
          <p:cNvPr id="55" name="Rectangle 102">
            <a:extLst>
              <a:ext uri="{FF2B5EF4-FFF2-40B4-BE49-F238E27FC236}">
                <a16:creationId xmlns:a16="http://schemas.microsoft.com/office/drawing/2014/main" id="{B3DEDC14-AC6B-4EFE-B110-D796B4674A5F}"/>
              </a:ext>
            </a:extLst>
          </p:cNvPr>
          <p:cNvSpPr/>
          <p:nvPr/>
        </p:nvSpPr>
        <p:spPr bwMode="auto">
          <a:xfrm>
            <a:off x="7291388" y="4457700"/>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rPr>
              <a:t>PP 8</a:t>
            </a:r>
          </a:p>
        </p:txBody>
      </p:sp>
      <p:sp>
        <p:nvSpPr>
          <p:cNvPr id="56" name="Rectangle 103">
            <a:extLst>
              <a:ext uri="{FF2B5EF4-FFF2-40B4-BE49-F238E27FC236}">
                <a16:creationId xmlns:a16="http://schemas.microsoft.com/office/drawing/2014/main" id="{F5693C5E-77EE-4293-AEA1-05AF5B00580E}"/>
              </a:ext>
            </a:extLst>
          </p:cNvPr>
          <p:cNvSpPr/>
          <p:nvPr/>
        </p:nvSpPr>
        <p:spPr bwMode="auto">
          <a:xfrm>
            <a:off x="7291388" y="4710113"/>
            <a:ext cx="914400" cy="255587"/>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rPr>
              <a:t>PP 9</a:t>
            </a:r>
          </a:p>
        </p:txBody>
      </p:sp>
      <p:sp>
        <p:nvSpPr>
          <p:cNvPr id="57" name="Rectangle 110">
            <a:extLst>
              <a:ext uri="{FF2B5EF4-FFF2-40B4-BE49-F238E27FC236}">
                <a16:creationId xmlns:a16="http://schemas.microsoft.com/office/drawing/2014/main" id="{C72D7AC7-9550-426A-9ABF-396C8FC04A58}"/>
              </a:ext>
            </a:extLst>
          </p:cNvPr>
          <p:cNvSpPr/>
          <p:nvPr/>
        </p:nvSpPr>
        <p:spPr bwMode="auto">
          <a:xfrm>
            <a:off x="7292975" y="4960938"/>
            <a:ext cx="914400" cy="255587"/>
          </a:xfrm>
          <a:prstGeom prst="rect">
            <a:avLst/>
          </a:prstGeom>
          <a:no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endParaRPr kumimoji="0" lang="en-US" sz="1600" b="1" kern="0" dirty="0">
              <a:solidFill>
                <a:srgbClr val="000000"/>
              </a:solidFill>
              <a:latin typeface="Calibri"/>
            </a:endParaRPr>
          </a:p>
        </p:txBody>
      </p:sp>
      <p:sp>
        <p:nvSpPr>
          <p:cNvPr id="58" name="Rectangle 111">
            <a:extLst>
              <a:ext uri="{FF2B5EF4-FFF2-40B4-BE49-F238E27FC236}">
                <a16:creationId xmlns:a16="http://schemas.microsoft.com/office/drawing/2014/main" id="{C0A452FA-34CE-4F8B-8950-ACFAB88A1931}"/>
              </a:ext>
            </a:extLst>
          </p:cNvPr>
          <p:cNvSpPr/>
          <p:nvPr/>
        </p:nvSpPr>
        <p:spPr bwMode="auto">
          <a:xfrm>
            <a:off x="7292975" y="5216525"/>
            <a:ext cx="914400" cy="255588"/>
          </a:xfrm>
          <a:prstGeom prst="rect">
            <a:avLst/>
          </a:prstGeom>
          <a:solidFill>
            <a:srgbClr val="3333CC">
              <a:lumMod val="40000"/>
              <a:lumOff val="60000"/>
            </a:srgbClr>
          </a:solidFill>
          <a:ln w="12700" cap="flat" cmpd="sng" algn="ctr">
            <a:solidFill>
              <a:srgbClr val="000000"/>
            </a:solidFill>
            <a:prstDash val="solid"/>
            <a:round/>
            <a:headEnd type="none" w="med" len="med"/>
            <a:tailEnd type="arrow" w="med" len="med"/>
          </a:ln>
          <a:effectLst/>
        </p:spPr>
        <p:txBody>
          <a:bodyPr anchor="ctr"/>
          <a:lstStyle/>
          <a:p>
            <a:pPr algn="ctr" eaLnBrk="1" fontAlgn="auto" hangingPunct="1">
              <a:spcBef>
                <a:spcPts val="0"/>
              </a:spcBef>
              <a:spcAft>
                <a:spcPts val="0"/>
              </a:spcAft>
              <a:defRPr/>
            </a:pPr>
            <a:r>
              <a:rPr kumimoji="0" lang="en-US" sz="1600" b="1" kern="0" dirty="0">
                <a:solidFill>
                  <a:srgbClr val="000000"/>
                </a:solidFill>
                <a:latin typeface="Calibri"/>
              </a:rPr>
              <a:t>PP 11</a:t>
            </a:r>
          </a:p>
        </p:txBody>
      </p:sp>
      <p:cxnSp>
        <p:nvCxnSpPr>
          <p:cNvPr id="148539" name="Straight Arrow Connector 113">
            <a:extLst>
              <a:ext uri="{FF2B5EF4-FFF2-40B4-BE49-F238E27FC236}">
                <a16:creationId xmlns:a16="http://schemas.microsoft.com/office/drawing/2014/main" id="{D4E62F29-4089-4C53-8811-A7FEB086910C}"/>
              </a:ext>
            </a:extLst>
          </p:cNvPr>
          <p:cNvCxnSpPr>
            <a:cxnSpLocks noChangeShapeType="1"/>
            <a:stCxn id="9" idx="3"/>
            <a:endCxn id="53" idx="1"/>
          </p:cNvCxnSpPr>
          <p:nvPr/>
        </p:nvCxnSpPr>
        <p:spPr bwMode="auto">
          <a:xfrm>
            <a:off x="5657850" y="2552700"/>
            <a:ext cx="1633538" cy="152558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48540" name="Straight Arrow Connector 115">
            <a:extLst>
              <a:ext uri="{FF2B5EF4-FFF2-40B4-BE49-F238E27FC236}">
                <a16:creationId xmlns:a16="http://schemas.microsoft.com/office/drawing/2014/main" id="{3B85B28C-1286-4780-9E2F-CA421AC8F4B8}"/>
              </a:ext>
            </a:extLst>
          </p:cNvPr>
          <p:cNvCxnSpPr>
            <a:cxnSpLocks noChangeShapeType="1"/>
            <a:stCxn id="12" idx="3"/>
            <a:endCxn id="51" idx="1"/>
          </p:cNvCxnSpPr>
          <p:nvPr/>
        </p:nvCxnSpPr>
        <p:spPr bwMode="auto">
          <a:xfrm>
            <a:off x="5657850" y="2857500"/>
            <a:ext cx="1633538" cy="706438"/>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48541" name="Straight Arrow Connector 117">
            <a:extLst>
              <a:ext uri="{FF2B5EF4-FFF2-40B4-BE49-F238E27FC236}">
                <a16:creationId xmlns:a16="http://schemas.microsoft.com/office/drawing/2014/main" id="{D8E2E294-1484-4F13-8595-EA2F3566AE1A}"/>
              </a:ext>
            </a:extLst>
          </p:cNvPr>
          <p:cNvCxnSpPr>
            <a:cxnSpLocks noChangeShapeType="1"/>
            <a:stCxn id="15" idx="3"/>
            <a:endCxn id="49" idx="1"/>
          </p:cNvCxnSpPr>
          <p:nvPr/>
        </p:nvCxnSpPr>
        <p:spPr bwMode="auto">
          <a:xfrm flipV="1">
            <a:off x="5657850" y="3048000"/>
            <a:ext cx="1633538" cy="114300"/>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48542" name="Straight Arrow Connector 119">
            <a:extLst>
              <a:ext uri="{FF2B5EF4-FFF2-40B4-BE49-F238E27FC236}">
                <a16:creationId xmlns:a16="http://schemas.microsoft.com/office/drawing/2014/main" id="{6DB83DB9-CAE3-42BA-8A7E-C946518064E3}"/>
              </a:ext>
            </a:extLst>
          </p:cNvPr>
          <p:cNvCxnSpPr>
            <a:cxnSpLocks noChangeShapeType="1"/>
            <a:stCxn id="30" idx="3"/>
            <a:endCxn id="56" idx="1"/>
          </p:cNvCxnSpPr>
          <p:nvPr/>
        </p:nvCxnSpPr>
        <p:spPr bwMode="auto">
          <a:xfrm>
            <a:off x="5661025" y="4760913"/>
            <a:ext cx="1630363" cy="77787"/>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48543" name="Straight Arrow Connector 121">
            <a:extLst>
              <a:ext uri="{FF2B5EF4-FFF2-40B4-BE49-F238E27FC236}">
                <a16:creationId xmlns:a16="http://schemas.microsoft.com/office/drawing/2014/main" id="{EA79D68D-13D9-4FB3-A60A-04B2CB11B32C}"/>
              </a:ext>
            </a:extLst>
          </p:cNvPr>
          <p:cNvCxnSpPr>
            <a:cxnSpLocks noChangeShapeType="1"/>
            <a:stCxn id="33" idx="3"/>
            <a:endCxn id="53" idx="1"/>
          </p:cNvCxnSpPr>
          <p:nvPr/>
        </p:nvCxnSpPr>
        <p:spPr bwMode="auto">
          <a:xfrm flipV="1">
            <a:off x="5661025" y="4078288"/>
            <a:ext cx="1630363" cy="987425"/>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148544" name="Straight Arrow Connector 123">
            <a:extLst>
              <a:ext uri="{FF2B5EF4-FFF2-40B4-BE49-F238E27FC236}">
                <a16:creationId xmlns:a16="http://schemas.microsoft.com/office/drawing/2014/main" id="{B14EFFCB-39BB-4FCD-8CF1-9372B61E3C02}"/>
              </a:ext>
            </a:extLst>
          </p:cNvPr>
          <p:cNvCxnSpPr>
            <a:cxnSpLocks noChangeShapeType="1"/>
            <a:stCxn id="36" idx="3"/>
            <a:endCxn id="58" idx="1"/>
          </p:cNvCxnSpPr>
          <p:nvPr/>
        </p:nvCxnSpPr>
        <p:spPr bwMode="auto">
          <a:xfrm flipV="1">
            <a:off x="5661025" y="5345113"/>
            <a:ext cx="1631950" cy="25400"/>
          </a:xfrm>
          <a:prstGeom prst="straightConnector1">
            <a:avLst/>
          </a:prstGeom>
          <a:noFill/>
          <a:ln w="25400" algn="ctr">
            <a:solidFill>
              <a:srgbClr val="000000"/>
            </a:solidFill>
            <a:round/>
            <a:headEnd/>
            <a:tailEnd type="arrow" w="med" len="med"/>
          </a:ln>
          <a:extLst>
            <a:ext uri="{909E8E84-426E-40DD-AFC4-6F175D3DCCD1}">
              <a14:hiddenFill xmlns:a14="http://schemas.microsoft.com/office/drawing/2010/main">
                <a:noFill/>
              </a14:hiddenFill>
            </a:ext>
          </a:extLst>
        </p:spPr>
      </p:cxnSp>
      <p:sp>
        <p:nvSpPr>
          <p:cNvPr id="148545" name="文本框 2">
            <a:extLst>
              <a:ext uri="{FF2B5EF4-FFF2-40B4-BE49-F238E27FC236}">
                <a16:creationId xmlns:a16="http://schemas.microsoft.com/office/drawing/2014/main" id="{33A4573C-C186-49B9-BAAC-0CF72EAA4128}"/>
              </a:ext>
            </a:extLst>
          </p:cNvPr>
          <p:cNvSpPr txBox="1">
            <a:spLocks noChangeArrowheads="1"/>
          </p:cNvSpPr>
          <p:nvPr/>
        </p:nvSpPr>
        <p:spPr bwMode="auto">
          <a:xfrm>
            <a:off x="858231" y="5626100"/>
            <a:ext cx="7272337" cy="1016000"/>
          </a:xfrm>
          <a:prstGeom prst="rect">
            <a:avLst/>
          </a:prstGeom>
          <a:noFill/>
          <a:ln w="25400">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l"/>
            <a:r>
              <a:rPr lang="en-US" altLang="zh-CN" sz="2000" b="1" dirty="0">
                <a:solidFill>
                  <a:srgbClr val="C00000"/>
                </a:solidFill>
                <a:latin typeface="楷体" panose="02010609060101010101" pitchFamily="49" charset="-122"/>
                <a:ea typeface="楷体" panose="02010609060101010101" pitchFamily="49" charset="-122"/>
              </a:rPr>
              <a:t>MMU</a:t>
            </a:r>
            <a:r>
              <a:rPr lang="zh-CN" altLang="en-US" sz="2000" b="1" dirty="0">
                <a:solidFill>
                  <a:srgbClr val="C00000"/>
                </a:solidFill>
                <a:latin typeface="楷体" panose="02010609060101010101" pitchFamily="49" charset="-122"/>
                <a:ea typeface="楷体" panose="02010609060101010101" pitchFamily="49" charset="-122"/>
              </a:rPr>
              <a:t>每次访问时检查这些允许位，确定是否可以进行访问内存。</a:t>
            </a:r>
            <a:endParaRPr lang="en-US" altLang="zh-CN" sz="2000" b="1" dirty="0">
              <a:solidFill>
                <a:srgbClr val="C00000"/>
              </a:solidFill>
              <a:latin typeface="楷体" panose="02010609060101010101" pitchFamily="49" charset="-122"/>
              <a:ea typeface="楷体" panose="02010609060101010101" pitchFamily="49" charset="-122"/>
            </a:endParaRPr>
          </a:p>
          <a:p>
            <a:pPr algn="l"/>
            <a:r>
              <a:rPr lang="zh-CN" altLang="en-US" sz="2000" b="1" dirty="0">
                <a:solidFill>
                  <a:srgbClr val="C00000"/>
                </a:solidFill>
                <a:latin typeface="楷体" panose="02010609060101010101" pitchFamily="49" charset="-122"/>
                <a:ea typeface="楷体" panose="02010609060101010101" pitchFamily="49" charset="-122"/>
              </a:rPr>
              <a:t>若运行在用户模式下进程</a:t>
            </a:r>
            <a:r>
              <a:rPr lang="en-US" altLang="zh-CN" sz="2000" b="1" dirty="0">
                <a:solidFill>
                  <a:srgbClr val="C00000"/>
                </a:solidFill>
                <a:latin typeface="楷体" panose="02010609060101010101" pitchFamily="49" charset="-122"/>
                <a:ea typeface="楷体" panose="02010609060101010101" pitchFamily="49" charset="-122"/>
              </a:rPr>
              <a:t>j</a:t>
            </a:r>
            <a:r>
              <a:rPr lang="zh-CN" altLang="en-US" sz="2000" b="1" dirty="0">
                <a:solidFill>
                  <a:srgbClr val="C00000"/>
                </a:solidFill>
                <a:latin typeface="楷体" panose="02010609060101010101" pitchFamily="49" charset="-122"/>
                <a:ea typeface="楷体" panose="02010609060101010101" pitchFamily="49" charset="-122"/>
              </a:rPr>
              <a:t>试图访问</a:t>
            </a:r>
            <a:r>
              <a:rPr lang="en-US" altLang="zh-CN" sz="2000" b="1" dirty="0">
                <a:solidFill>
                  <a:srgbClr val="C00000"/>
                </a:solidFill>
                <a:latin typeface="楷体" panose="02010609060101010101" pitchFamily="49" charset="-122"/>
                <a:ea typeface="楷体" panose="02010609060101010101" pitchFamily="49" charset="-122"/>
              </a:rPr>
              <a:t>VP1</a:t>
            </a:r>
            <a:r>
              <a:rPr lang="zh-CN" altLang="en-US" sz="2000" b="1" dirty="0">
                <a:solidFill>
                  <a:srgbClr val="C00000"/>
                </a:solidFill>
                <a:latin typeface="楷体" panose="02010609060101010101" pitchFamily="49" charset="-122"/>
                <a:ea typeface="楷体" panose="02010609060101010101" pitchFamily="49" charset="-122"/>
              </a:rPr>
              <a:t>，就会触发一个异常，</a:t>
            </a:r>
            <a:r>
              <a:rPr lang="en-US" altLang="zh-CN" sz="2000" b="1" dirty="0">
                <a:solidFill>
                  <a:srgbClr val="C00000"/>
                </a:solidFill>
                <a:latin typeface="楷体" panose="02010609060101010101" pitchFamily="49" charset="-122"/>
                <a:ea typeface="楷体" panose="02010609060101010101" pitchFamily="49" charset="-122"/>
              </a:rPr>
              <a:t>Linux shell</a:t>
            </a:r>
            <a:r>
              <a:rPr lang="zh-CN" altLang="en-US" sz="2000" b="1" dirty="0">
                <a:solidFill>
                  <a:srgbClr val="C00000"/>
                </a:solidFill>
                <a:latin typeface="楷体" panose="02010609060101010101" pitchFamily="49" charset="-122"/>
                <a:ea typeface="楷体" panose="02010609060101010101" pitchFamily="49" charset="-122"/>
              </a:rPr>
              <a:t>下报告为“</a:t>
            </a:r>
            <a:r>
              <a:rPr lang="en-US" altLang="zh-CN" sz="2000" b="1" dirty="0">
                <a:solidFill>
                  <a:srgbClr val="C00000"/>
                </a:solidFill>
                <a:latin typeface="楷体" panose="02010609060101010101" pitchFamily="49" charset="-122"/>
                <a:ea typeface="楷体" panose="02010609060101010101" pitchFamily="49" charset="-122"/>
              </a:rPr>
              <a:t>segmentation fault</a:t>
            </a:r>
            <a:r>
              <a:rPr lang="zh-CN" altLang="en-US" sz="2000" b="1" dirty="0">
                <a:solidFill>
                  <a:srgbClr val="C00000"/>
                </a:solidFill>
                <a:latin typeface="楷体" panose="02010609060101010101" pitchFamily="49" charset="-122"/>
                <a:ea typeface="楷体" panose="02010609060101010101" pitchFamily="49" charset="-122"/>
              </a:rPr>
              <a:t>”</a:t>
            </a:r>
          </a:p>
        </p:txBody>
      </p:sp>
    </p:spTree>
  </p:cSld>
  <p:clrMapOvr>
    <a:masterClrMapping/>
  </p:clrMapOvr>
  <p:transition spd="med">
    <p:pull dir="r"/>
  </p:transition>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4623</TotalTime>
  <Pages>0</Pages>
  <Words>8635</Words>
  <Characters>0</Characters>
  <Application>Microsoft Office PowerPoint</Application>
  <PresentationFormat>全屏显示(4:3)</PresentationFormat>
  <Lines>0</Lines>
  <Paragraphs>2436</Paragraphs>
  <Slides>95</Slides>
  <Notes>42</Notes>
  <HiddenSlides>0</HiddenSlides>
  <MMClips>0</MMClips>
  <ScaleCrop>false</ScaleCrop>
  <HeadingPairs>
    <vt:vector size="8" baseType="variant">
      <vt:variant>
        <vt:lpstr>已用的字体</vt:lpstr>
      </vt:variant>
      <vt:variant>
        <vt:i4>24</vt:i4>
      </vt:variant>
      <vt:variant>
        <vt:lpstr>主题</vt:lpstr>
      </vt:variant>
      <vt:variant>
        <vt:i4>3</vt:i4>
      </vt:variant>
      <vt:variant>
        <vt:lpstr>嵌入 OLE 服务器</vt:lpstr>
      </vt:variant>
      <vt:variant>
        <vt:i4>1</vt:i4>
      </vt:variant>
      <vt:variant>
        <vt:lpstr>幻灯片标题</vt:lpstr>
      </vt:variant>
      <vt:variant>
        <vt:i4>95</vt:i4>
      </vt:variant>
    </vt:vector>
  </HeadingPairs>
  <TitlesOfParts>
    <vt:vector size="123" baseType="lpstr">
      <vt:lpstr>Arial Unicode MS</vt:lpstr>
      <vt:lpstr>Gill Sans</vt:lpstr>
      <vt:lpstr>ＭＳ Ｐゴシック</vt:lpstr>
      <vt:lpstr>msgothic</vt:lpstr>
      <vt:lpstr>ヒラギノ角ゴ ProN W3</vt:lpstr>
      <vt:lpstr>ヒラギノ角ゴ ProN W6</vt:lpstr>
      <vt:lpstr>方正准圆简体</vt:lpstr>
      <vt:lpstr>黑体</vt:lpstr>
      <vt:lpstr>华文新魏</vt:lpstr>
      <vt:lpstr>楷体</vt:lpstr>
      <vt:lpstr>楷体_GB2312</vt:lpstr>
      <vt:lpstr>隶书</vt:lpstr>
      <vt:lpstr>宋体</vt:lpstr>
      <vt:lpstr>Arial</vt:lpstr>
      <vt:lpstr>Arial Narrow</vt:lpstr>
      <vt:lpstr>Calibri</vt:lpstr>
      <vt:lpstr>Calibri Bold</vt:lpstr>
      <vt:lpstr>Courier New</vt:lpstr>
      <vt:lpstr>Helvetica</vt:lpstr>
      <vt:lpstr>Symbol</vt:lpstr>
      <vt:lpstr>Tahoma</vt:lpstr>
      <vt:lpstr>Times New Roman</vt:lpstr>
      <vt:lpstr>Wingdings</vt:lpstr>
      <vt:lpstr>Wingdings 2</vt:lpstr>
      <vt:lpstr>Title and Content</vt:lpstr>
      <vt:lpstr>Title Only</vt:lpstr>
      <vt:lpstr>微机接口-单色</vt:lpstr>
      <vt:lpstr>公式</vt:lpstr>
      <vt:lpstr>第3章 存储系统3</vt:lpstr>
      <vt:lpstr>3.6 Cache存储器</vt:lpstr>
      <vt:lpstr>处理器参数</vt:lpstr>
      <vt:lpstr>局部性原理</vt:lpstr>
      <vt:lpstr>存储系统的层次结构</vt:lpstr>
      <vt:lpstr>层次结构实例</vt:lpstr>
      <vt:lpstr>高速缓存Cache</vt:lpstr>
      <vt:lpstr>Intel Sandy Bridge Processor Die</vt:lpstr>
      <vt:lpstr>Cache基本原理（1）</vt:lpstr>
      <vt:lpstr>Cache基本原理（2）</vt:lpstr>
      <vt:lpstr>Cache的命中与缺失</vt:lpstr>
      <vt:lpstr>Cache缺失类型</vt:lpstr>
      <vt:lpstr>Cache的基本工作原理</vt:lpstr>
      <vt:lpstr>cache控制部件的功能</vt:lpstr>
      <vt:lpstr>内容可寻址储存器CAM</vt:lpstr>
      <vt:lpstr>简化的CAM功能框图</vt:lpstr>
      <vt:lpstr>二进制CAM单元</vt:lpstr>
      <vt:lpstr>主存和cache的分块</vt:lpstr>
      <vt:lpstr>Cache的结构 </vt:lpstr>
      <vt:lpstr>主存与Cache的地址映射</vt:lpstr>
      <vt:lpstr>1、全相联映射（1）</vt:lpstr>
      <vt:lpstr>全相联映射（2） </vt:lpstr>
      <vt:lpstr>全相联映射Cache示例</vt:lpstr>
      <vt:lpstr>Cache组织结构</vt:lpstr>
      <vt:lpstr>全相联映射Cache中的行匹配和字选择过程</vt:lpstr>
      <vt:lpstr>2、直接映射</vt:lpstr>
      <vt:lpstr>直接映射的Cache标签和行号</vt:lpstr>
      <vt:lpstr>直接映射Cache的检索过程</vt:lpstr>
      <vt:lpstr>直接映射Cache示例（1）</vt:lpstr>
      <vt:lpstr>直接映射Cache示例（2）</vt:lpstr>
      <vt:lpstr>3、v路（v-way）组相联映射</vt:lpstr>
      <vt:lpstr>组相联映射的检索过程</vt:lpstr>
      <vt:lpstr>2路组相联映射Cache示例（1）</vt:lpstr>
      <vt:lpstr>2路组相联映射Cache示例（2）</vt:lpstr>
      <vt:lpstr>4路组相联映射的一个实现</vt:lpstr>
      <vt:lpstr>3种映射方式比较</vt:lpstr>
      <vt:lpstr>Cache冲突缺失和容量缺失的处理</vt:lpstr>
      <vt:lpstr>例</vt:lpstr>
      <vt:lpstr>例</vt:lpstr>
      <vt:lpstr>Cache写操作处理（1）</vt:lpstr>
      <vt:lpstr>Cache写操作处理（2）</vt:lpstr>
      <vt:lpstr>Intel Core i7 Cache Hierarchy</vt:lpstr>
      <vt:lpstr>例: Core i7 L1 Data Cache</vt:lpstr>
      <vt:lpstr>例: Core i7 L1 Data Cache</vt:lpstr>
      <vt:lpstr>Cache性能指标（1）</vt:lpstr>
      <vt:lpstr>Cache性能指标（2）</vt:lpstr>
      <vt:lpstr>“缺失率” 指标更真实</vt:lpstr>
      <vt:lpstr>例</vt:lpstr>
      <vt:lpstr>选择题</vt:lpstr>
      <vt:lpstr>教材 例 10</vt:lpstr>
      <vt:lpstr>教材 例 10</vt:lpstr>
      <vt:lpstr>3.7 虚拟存储器</vt:lpstr>
      <vt:lpstr>实例   事务处理的高性能需求</vt:lpstr>
      <vt:lpstr>Google数据中心</vt:lpstr>
      <vt:lpstr>虚存的引入 </vt:lpstr>
      <vt:lpstr>虚存能为每个进程提供统一的地址空间</vt:lpstr>
      <vt:lpstr>基本概念（1）</vt:lpstr>
      <vt:lpstr>基本概念（2）</vt:lpstr>
      <vt:lpstr>主存－外存层次结构特点</vt:lpstr>
      <vt:lpstr>只有物理存储器的系统</vt:lpstr>
      <vt:lpstr>具有虚拟存储器的系统</vt:lpstr>
      <vt:lpstr>1. 段式存储管理</vt:lpstr>
      <vt:lpstr>段式虚拟存储器（1）</vt:lpstr>
      <vt:lpstr>段式虚拟存储器（2）</vt:lpstr>
      <vt:lpstr>2. 页式虚拟存储器（1）</vt:lpstr>
      <vt:lpstr>页式存储管理示意图</vt:lpstr>
      <vt:lpstr>虚拟/物理地址翻译</vt:lpstr>
      <vt:lpstr>页面命中</vt:lpstr>
      <vt:lpstr>缺页</vt:lpstr>
      <vt:lpstr>内存管理（1）</vt:lpstr>
      <vt:lpstr>内存管理（2）</vt:lpstr>
      <vt:lpstr>用TLB加速虚拟/物理地址翻译</vt:lpstr>
      <vt:lpstr>例                     TLB命中</vt:lpstr>
      <vt:lpstr>例                     TLB未命中</vt:lpstr>
      <vt:lpstr>例1</vt:lpstr>
      <vt:lpstr>例2</vt:lpstr>
      <vt:lpstr>补充          组相联TLB的访问</vt:lpstr>
      <vt:lpstr>多级页表</vt:lpstr>
      <vt:lpstr>二级页表层次结构（32位地址）</vt:lpstr>
      <vt:lpstr>使用k级页表的地址翻译</vt:lpstr>
      <vt:lpstr>3. 段页式虚拟存储器（1）</vt:lpstr>
      <vt:lpstr>例12</vt:lpstr>
      <vt:lpstr>页面替换算法（1）</vt:lpstr>
      <vt:lpstr>页面替换算法（2）</vt:lpstr>
      <vt:lpstr>例13</vt:lpstr>
      <vt:lpstr>虚存与Cache的比较</vt:lpstr>
      <vt:lpstr>cache-主存和主存-辅存两个层次的相同点</vt:lpstr>
      <vt:lpstr>cache-主存和主存-辅存两个层次的不同点</vt:lpstr>
      <vt:lpstr>小结：虚存的访问过程</vt:lpstr>
      <vt:lpstr>实例：Core i7存储器系统</vt:lpstr>
      <vt:lpstr>端到端的地址翻译</vt:lpstr>
      <vt:lpstr>Core i7 页表翻译</vt:lpstr>
      <vt:lpstr>Core i7 1-3级页表项</vt:lpstr>
      <vt:lpstr>Core i7 4级页表项</vt:lpstr>
      <vt:lpstr>虚拟内存用作内存保护的工具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frank zh</cp:lastModifiedBy>
  <cp:revision>187</cp:revision>
  <cp:lastPrinted>2019-09-24T06:12:13Z</cp:lastPrinted>
  <dcterms:created xsi:type="dcterms:W3CDTF">2012-09-06T15:16:51Z</dcterms:created>
  <dcterms:modified xsi:type="dcterms:W3CDTF">2021-02-19T10:45:02Z</dcterms:modified>
</cp:coreProperties>
</file>