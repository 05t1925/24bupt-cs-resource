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32"/>
  </p:handoutMasterIdLst>
  <p:sldIdLst>
    <p:sldId id="256" r:id="rId3"/>
    <p:sldId id="648" r:id="rId5"/>
    <p:sldId id="649" r:id="rId6"/>
    <p:sldId id="650" r:id="rId7"/>
    <p:sldId id="651" r:id="rId8"/>
    <p:sldId id="652" r:id="rId9"/>
    <p:sldId id="653" r:id="rId10"/>
    <p:sldId id="654" r:id="rId11"/>
    <p:sldId id="655" r:id="rId12"/>
    <p:sldId id="656" r:id="rId13"/>
    <p:sldId id="813" r:id="rId14"/>
    <p:sldId id="814" r:id="rId15"/>
    <p:sldId id="815" r:id="rId16"/>
    <p:sldId id="832" r:id="rId17"/>
    <p:sldId id="833" r:id="rId18"/>
    <p:sldId id="834" r:id="rId19"/>
    <p:sldId id="835" r:id="rId20"/>
    <p:sldId id="808" r:id="rId21"/>
    <p:sldId id="809" r:id="rId22"/>
    <p:sldId id="659" r:id="rId23"/>
    <p:sldId id="660" r:id="rId24"/>
    <p:sldId id="661" r:id="rId25"/>
    <p:sldId id="662" r:id="rId26"/>
    <p:sldId id="663" r:id="rId27"/>
    <p:sldId id="664" r:id="rId28"/>
    <p:sldId id="665" r:id="rId29"/>
    <p:sldId id="666" r:id="rId30"/>
    <p:sldId id="667" r:id="rId31"/>
    <p:sldId id="668" r:id="rId32"/>
    <p:sldId id="826" r:id="rId33"/>
    <p:sldId id="669" r:id="rId34"/>
    <p:sldId id="670" r:id="rId35"/>
    <p:sldId id="671" r:id="rId36"/>
    <p:sldId id="672" r:id="rId37"/>
    <p:sldId id="673" r:id="rId38"/>
    <p:sldId id="674" r:id="rId39"/>
    <p:sldId id="675" r:id="rId40"/>
    <p:sldId id="811" r:id="rId41"/>
    <p:sldId id="829" r:id="rId42"/>
    <p:sldId id="676" r:id="rId43"/>
    <p:sldId id="812" r:id="rId44"/>
    <p:sldId id="830" r:id="rId45"/>
    <p:sldId id="677" r:id="rId46"/>
    <p:sldId id="831" r:id="rId47"/>
    <p:sldId id="818" r:id="rId48"/>
    <p:sldId id="819" r:id="rId49"/>
    <p:sldId id="678" r:id="rId50"/>
    <p:sldId id="820" r:id="rId51"/>
    <p:sldId id="821" r:id="rId52"/>
    <p:sldId id="680" r:id="rId53"/>
    <p:sldId id="681" r:id="rId54"/>
    <p:sldId id="827" r:id="rId55"/>
    <p:sldId id="682" r:id="rId56"/>
    <p:sldId id="683" r:id="rId57"/>
    <p:sldId id="684" r:id="rId58"/>
    <p:sldId id="687" r:id="rId59"/>
    <p:sldId id="688" r:id="rId60"/>
    <p:sldId id="689" r:id="rId61"/>
    <p:sldId id="690" r:id="rId62"/>
    <p:sldId id="691" r:id="rId63"/>
    <p:sldId id="692" r:id="rId64"/>
    <p:sldId id="693" r:id="rId65"/>
    <p:sldId id="694" r:id="rId66"/>
    <p:sldId id="695" r:id="rId67"/>
    <p:sldId id="696" r:id="rId68"/>
    <p:sldId id="697" r:id="rId69"/>
    <p:sldId id="698" r:id="rId70"/>
    <p:sldId id="699" r:id="rId71"/>
    <p:sldId id="700" r:id="rId72"/>
    <p:sldId id="701" r:id="rId73"/>
    <p:sldId id="702" r:id="rId74"/>
    <p:sldId id="703" r:id="rId75"/>
    <p:sldId id="704" r:id="rId76"/>
    <p:sldId id="816" r:id="rId77"/>
    <p:sldId id="817" r:id="rId78"/>
    <p:sldId id="705" r:id="rId79"/>
    <p:sldId id="706" r:id="rId80"/>
    <p:sldId id="707" r:id="rId81"/>
    <p:sldId id="708" r:id="rId82"/>
    <p:sldId id="709" r:id="rId83"/>
    <p:sldId id="710" r:id="rId84"/>
    <p:sldId id="711" r:id="rId85"/>
    <p:sldId id="712" r:id="rId86"/>
    <p:sldId id="713" r:id="rId87"/>
    <p:sldId id="714" r:id="rId88"/>
    <p:sldId id="715" r:id="rId89"/>
    <p:sldId id="716" r:id="rId90"/>
    <p:sldId id="718" r:id="rId91"/>
    <p:sldId id="719" r:id="rId92"/>
    <p:sldId id="721" r:id="rId93"/>
    <p:sldId id="722" r:id="rId94"/>
    <p:sldId id="723" r:id="rId95"/>
    <p:sldId id="724" r:id="rId96"/>
    <p:sldId id="725" r:id="rId97"/>
    <p:sldId id="726" r:id="rId98"/>
    <p:sldId id="828" r:id="rId99"/>
    <p:sldId id="733" r:id="rId100"/>
    <p:sldId id="734" r:id="rId101"/>
    <p:sldId id="735" r:id="rId102"/>
    <p:sldId id="736" r:id="rId103"/>
    <p:sldId id="738" r:id="rId104"/>
    <p:sldId id="739" r:id="rId105"/>
    <p:sldId id="741" r:id="rId106"/>
    <p:sldId id="742" r:id="rId107"/>
    <p:sldId id="743" r:id="rId108"/>
    <p:sldId id="744" r:id="rId109"/>
    <p:sldId id="745" r:id="rId110"/>
    <p:sldId id="746" r:id="rId111"/>
    <p:sldId id="747" r:id="rId112"/>
    <p:sldId id="748" r:id="rId113"/>
    <p:sldId id="749" r:id="rId114"/>
    <p:sldId id="822" r:id="rId115"/>
    <p:sldId id="823" r:id="rId116"/>
    <p:sldId id="824" r:id="rId117"/>
    <p:sldId id="825" r:id="rId118"/>
    <p:sldId id="750" r:id="rId119"/>
    <p:sldId id="751" r:id="rId120"/>
    <p:sldId id="752" r:id="rId121"/>
    <p:sldId id="753" r:id="rId122"/>
    <p:sldId id="754" r:id="rId123"/>
    <p:sldId id="755" r:id="rId124"/>
    <p:sldId id="757" r:id="rId125"/>
    <p:sldId id="758" r:id="rId126"/>
    <p:sldId id="761" r:id="rId127"/>
    <p:sldId id="762" r:id="rId128"/>
    <p:sldId id="763" r:id="rId129"/>
    <p:sldId id="764" r:id="rId130"/>
    <p:sldId id="765" r:id="rId131"/>
  </p:sldIdLst>
  <p:sldSz cx="9144000" cy="6858000" type="screen4x3"/>
  <p:notesSz cx="7104380" cy="1023493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a:srgbClr val="0078CD"/>
    <a:srgbClr val="0073C4"/>
    <a:srgbClr val="0072C1"/>
    <a:srgbClr val="30859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1930"/>
  </p:normalViewPr>
  <p:slideViewPr>
    <p:cSldViewPr showGuides="1">
      <p:cViewPr varScale="1">
        <p:scale>
          <a:sx n="78" d="100"/>
          <a:sy n="78" d="100"/>
        </p:scale>
        <p:origin x="117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5" Type="http://schemas.openxmlformats.org/officeDocument/2006/relationships/tableStyles" Target="tableStyles.xml"/><Relationship Id="rId134" Type="http://schemas.openxmlformats.org/officeDocument/2006/relationships/viewProps" Target="viewProps.xml"/><Relationship Id="rId133" Type="http://schemas.openxmlformats.org/officeDocument/2006/relationships/presProps" Target="presProps.xml"/><Relationship Id="rId132" Type="http://schemas.openxmlformats.org/officeDocument/2006/relationships/handoutMaster" Target="handoutMasters/handoutMaster1.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image" Target="../media/image54.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image" Target="../media/image6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7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3078163" cy="511175"/>
          </a:xfrm>
          <a:prstGeom prst="rect">
            <a:avLst/>
          </a:prstGeom>
        </p:spPr>
        <p:txBody>
          <a:bodyPr vert="horz" lIns="99075" tIns="49538" rIns="99075" bIns="49538" rtlCol="0"/>
          <a:lstStyle>
            <a:lvl1pPr algn="l" eaLnBrk="1" hangingPunct="1">
              <a:defRPr sz="13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sz="quarter" idx="1"/>
          </p:nvPr>
        </p:nvSpPr>
        <p:spPr>
          <a:xfrm>
            <a:off x="4024313" y="0"/>
            <a:ext cx="3078163" cy="511175"/>
          </a:xfrm>
          <a:prstGeom prst="rect">
            <a:avLst/>
          </a:prstGeom>
        </p:spPr>
        <p:txBody>
          <a:bodyPr vert="horz" wrap="square" lIns="99075" tIns="49538" rIns="99075" bIns="49538" numCol="1" anchor="t" anchorCtr="0" compatLnSpc="1"/>
          <a:lstStyle>
            <a:lvl1pPr algn="r" eaLnBrk="1" hangingPunct="1">
              <a:defRPr sz="13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2634F1D-8AE4-4776-A62B-D2AC512BE83F}" type="datetimeFigureOut">
              <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2"/>
          </p:nvPr>
        </p:nvSpPr>
        <p:spPr>
          <a:xfrm>
            <a:off x="0" y="9721850"/>
            <a:ext cx="3078163" cy="511175"/>
          </a:xfrm>
          <a:prstGeom prst="rect">
            <a:avLst/>
          </a:prstGeom>
        </p:spPr>
        <p:txBody>
          <a:bodyPr vert="horz" lIns="99075" tIns="49538" rIns="99075" bIns="49538" rtlCol="0" anchor="b"/>
          <a:lstStyle>
            <a:lvl1pPr algn="l" eaLnBrk="1" hangingPunct="1">
              <a:defRPr sz="13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3"/>
          </p:nvPr>
        </p:nvSpPr>
        <p:spPr>
          <a:xfrm>
            <a:off x="4024313" y="9721850"/>
            <a:ext cx="3078163" cy="511175"/>
          </a:xfrm>
          <a:prstGeom prst="rect">
            <a:avLst/>
          </a:prstGeom>
        </p:spPr>
        <p:txBody>
          <a:bodyPr vert="horz" wrap="square" lIns="99075" tIns="49538" rIns="99075" bIns="49538" numCol="1" anchor="b"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25FBA736-20F9-4349-BB2E-5A1EAD7B9BBF}" type="slidenum">
              <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3078163" cy="511175"/>
          </a:xfrm>
          <a:prstGeom prst="rect">
            <a:avLst/>
          </a:prstGeom>
        </p:spPr>
        <p:txBody>
          <a:bodyPr vert="horz" lIns="99075" tIns="49538" rIns="99075" bIns="49538" rtlCol="0"/>
          <a:lstStyle>
            <a:lvl1pPr algn="l" eaLnBrk="1" hangingPunct="1">
              <a:defRPr sz="13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4024313" y="0"/>
            <a:ext cx="3078163" cy="511175"/>
          </a:xfrm>
          <a:prstGeom prst="rect">
            <a:avLst/>
          </a:prstGeom>
        </p:spPr>
        <p:txBody>
          <a:bodyPr vert="horz" wrap="square" lIns="99075" tIns="49538" rIns="99075" bIns="49538" numCol="1" anchor="t" anchorCtr="0" compatLnSpc="1"/>
          <a:lstStyle>
            <a:lvl1pPr algn="r" eaLnBrk="1" hangingPunct="1">
              <a:defRPr sz="13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7FE38AB-2431-44FA-A964-3895E266C958}" type="datetimeFigureOut">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幻灯片图像占位符 3"/>
          <p:cNvSpPr>
            <a:spLocks noGrp="1" noRot="1" noChangeAspect="1"/>
          </p:cNvSpPr>
          <p:nvPr>
            <p:ph type="sldImg" idx="2"/>
          </p:nvPr>
        </p:nvSpPr>
        <p:spPr>
          <a:xfrm>
            <a:off x="995363" y="768350"/>
            <a:ext cx="5113338" cy="3836988"/>
          </a:xfrm>
          <a:prstGeom prst="rect">
            <a:avLst/>
          </a:prstGeom>
          <a:noFill/>
          <a:ln w="12700">
            <a:solidFill>
              <a:prstClr val="black"/>
            </a:solidFill>
          </a:ln>
        </p:spPr>
        <p:txBody>
          <a:bodyPr vert="horz" lIns="99075" tIns="49538" rIns="99075" bIns="49538"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1" lang="en-US" sz="1200" b="0" i="0" u="none" strike="noStrike" kern="1200" cap="none" spc="0" normalizeH="0" baseline="0" noProof="0" smtClean="0">
              <a:ln>
                <a:noFill/>
              </a:ln>
              <a:solidFill>
                <a:schemeClr val="tx1"/>
              </a:solidFill>
              <a:effectLst/>
              <a:uLnTx/>
              <a:uFillTx/>
              <a:latin typeface="+mn-lt"/>
              <a:ea typeface="+mn-ea"/>
              <a:cs typeface="宋体" panose="02010600030101010101" pitchFamily="2" charset="-122"/>
            </a:endParaRPr>
          </a:p>
        </p:txBody>
      </p:sp>
      <p:sp>
        <p:nvSpPr>
          <p:cNvPr id="5" name="备注占位符 4"/>
          <p:cNvSpPr>
            <a:spLocks noGrp="1"/>
          </p:cNvSpPr>
          <p:nvPr>
            <p:ph type="body" sz="quarter" idx="3"/>
          </p:nvPr>
        </p:nvSpPr>
        <p:spPr>
          <a:xfrm>
            <a:off x="711200" y="4860925"/>
            <a:ext cx="5683250" cy="4605338"/>
          </a:xfrm>
          <a:prstGeom prst="rect">
            <a:avLst/>
          </a:prstGeom>
        </p:spPr>
        <p:txBody>
          <a:bodyPr vert="horz" wrap="square" lIns="99075" tIns="49538" rIns="99075" bIns="49538" numCol="1" anchor="t" anchorCtr="0" compatLnSpc="1">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宋体" panose="02010600030101010101" pitchFamily="2" charset="-122"/>
              </a:rPr>
              <a:t>单击此处编辑母版文本样式</a:t>
            </a:r>
            <a:endParaRPr kumimoji="1" lang="zh-CN" altLang="en-US" sz="1200" b="0" i="0" u="none" strike="noStrike" kern="1200" cap="none" spc="0" normalizeH="0" baseline="0" noProof="0" smtClean="0">
              <a:ln>
                <a:noFill/>
              </a:ln>
              <a:solidFill>
                <a:schemeClr val="tx1"/>
              </a:solidFill>
              <a:effectLst/>
              <a:uLnTx/>
              <a:uFillTx/>
              <a:latin typeface="+mn-lt"/>
              <a:ea typeface="+mn-ea"/>
              <a:cs typeface="宋体" panose="02010600030101010101" pitchFamily="2" charset="-122"/>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1"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1" lang="en-US"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9721850"/>
            <a:ext cx="3078163" cy="511175"/>
          </a:xfrm>
          <a:prstGeom prst="rect">
            <a:avLst/>
          </a:prstGeom>
        </p:spPr>
        <p:txBody>
          <a:bodyPr vert="horz" lIns="99075" tIns="49538" rIns="99075" bIns="49538" rtlCol="0" anchor="b"/>
          <a:lstStyle>
            <a:lvl1pPr algn="l" eaLnBrk="1" hangingPunct="1">
              <a:defRPr sz="1300">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4024313" y="9721850"/>
            <a:ext cx="3078163" cy="511175"/>
          </a:xfrm>
          <a:prstGeom prst="rect">
            <a:avLst/>
          </a:prstGeom>
        </p:spPr>
        <p:txBody>
          <a:bodyPr vert="horz" wrap="square" lIns="99075" tIns="49538" rIns="99075" bIns="49538" numCol="1" anchor="b" anchorCtr="0" compatLnSpc="1"/>
          <a:lstStyle>
            <a:lvl1pPr algn="r" eaLnBrk="1" hangingPunct="1">
              <a:defRPr sz="1300"/>
            </a:lvl1pPr>
          </a:lstStyle>
          <a:p>
            <a:pPr marL="0" marR="0" lvl="0" indent="0" algn="r" defTabSz="914400" rtl="0" eaLnBrk="1" fontAlgn="base" latinLnBrk="0" hangingPunct="1">
              <a:lnSpc>
                <a:spcPct val="100000"/>
              </a:lnSpc>
              <a:spcBef>
                <a:spcPct val="0"/>
              </a:spcBef>
              <a:spcAft>
                <a:spcPct val="0"/>
              </a:spcAft>
              <a:buClrTx/>
              <a:buSzTx/>
              <a:buFontTx/>
              <a:buNone/>
              <a:defRPr/>
            </a:pPr>
            <a:fld id="{1CF6B612-8DC4-4466-A585-2C515A5E10E9}"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mn-lt"/>
        <a:ea typeface="+mn-ea"/>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12.xml.rels><?xml version="1.0" encoding="UTF-8" standalone="yes"?>
<Relationships xmlns="http://schemas.openxmlformats.org/package/2006/relationships"><Relationship Id="rId5" Type="http://schemas.openxmlformats.org/officeDocument/2006/relationships/hyperlink" Target="https://zhidao.baidu.com/search?word=%E3%80%8A%E5%8D%8A%E5%AF%BC%E4%BD%93%E7%89%A9%E7%90%86%E5%9F%BA%E7%A1%80%E3%80%8B&amp;fr=iknow_pc_qb_highlight" TargetMode="External"/><Relationship Id="rId4" Type="http://schemas.openxmlformats.org/officeDocument/2006/relationships/hyperlink" Target="https://zhidao.baidu.com/search?word=%E9%87%8F%E5%AD%90%E5%8A%9B%E5%AD%A6&amp;fr=iknow_pc_qb_highlight" TargetMode="External"/><Relationship Id="rId3" Type="http://schemas.openxmlformats.org/officeDocument/2006/relationships/hyperlink" Target="https://zhidao.baidu.com/search?word=%E4%BB%B7%E7%94%B5%E5%AD%90&amp;fr=iknow_pc_qb_highlight" TargetMode="External"/><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13.xml.rels><?xml version="1.0" encoding="UTF-8" standalone="yes"?>
<Relationships xmlns="http://schemas.openxmlformats.org/package/2006/relationships"><Relationship Id="rId5" Type="http://schemas.openxmlformats.org/officeDocument/2006/relationships/hyperlink" Target="https://zhidao.baidu.com/search?word=%E3%80%8A%E5%8D%8A%E5%AF%BC%E4%BD%93%E7%89%A9%E7%90%86%E5%9F%BA%E7%A1%80%E3%80%8B&amp;fr=iknow_pc_qb_highlight" TargetMode="External"/><Relationship Id="rId4" Type="http://schemas.openxmlformats.org/officeDocument/2006/relationships/hyperlink" Target="https://zhidao.baidu.com/search?word=%E9%87%8F%E5%AD%90%E5%8A%9B%E5%AD%A6&amp;fr=iknow_pc_qb_highlight" TargetMode="External"/><Relationship Id="rId3" Type="http://schemas.openxmlformats.org/officeDocument/2006/relationships/hyperlink" Target="https://zhidao.baidu.com/search?word=%E4%BB%B7%E7%94%B5%E5%AD%90&amp;fr=iknow_pc_qb_highlight" TargetMode="External"/><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幻灯片图像占位符 1"/>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8195" name="备注占位符 2"/>
          <p:cNvSpPr>
            <a:spLocks noGrp="1"/>
          </p:cNvSpPr>
          <p:nvPr>
            <p:ph type="body" idx="1"/>
          </p:nvPr>
        </p:nvSpPr>
        <p:spPr>
          <a:noFill/>
          <a:ln>
            <a:noFill/>
          </a:ln>
        </p:spPr>
        <p:txBody>
          <a:bodyPr wrap="square" lIns="99075" tIns="49538" rIns="99075" bIns="49538" anchor="t" anchorCtr="0"/>
          <a:p>
            <a:pPr lvl="0" eaLnBrk="1" hangingPunct="1">
              <a:spcBef>
                <a:spcPct val="0"/>
              </a:spcBef>
            </a:pPr>
            <a:r>
              <a:rPr lang="en-US" altLang="zh-CN" dirty="0"/>
              <a:t>10</a:t>
            </a:r>
            <a:r>
              <a:rPr lang="zh-CN" altLang="en-US" dirty="0"/>
              <a:t>月</a:t>
            </a:r>
            <a:r>
              <a:rPr lang="en-US" altLang="zh-CN" dirty="0"/>
              <a:t>15</a:t>
            </a:r>
            <a:r>
              <a:rPr lang="zh-CN" altLang="en-US" dirty="0"/>
              <a:t>号</a:t>
            </a:r>
            <a:endParaRPr lang="en-US" altLang="zh-CN" dirty="0"/>
          </a:p>
        </p:txBody>
      </p:sp>
      <p:sp>
        <p:nvSpPr>
          <p:cNvPr id="8196" name="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5363" name="Rectangle 2"/>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15364" name="Rectangle 3"/>
          <p:cNvSpPr>
            <a:spLocks noGrp="1"/>
          </p:cNvSpPr>
          <p:nvPr>
            <p:ph type="body" idx="1"/>
          </p:nvPr>
        </p:nvSpPr>
        <p:spPr>
          <a:noFill/>
          <a:ln>
            <a:noFill/>
          </a:ln>
        </p:spPr>
        <p:txBody>
          <a:bodyPr wrap="square" lIns="99075" tIns="49538" rIns="99075" bIns="49538" anchor="t" anchorCtr="0"/>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7"/>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7411" name="Rectangle 2"/>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17412" name="Rectangle 3"/>
          <p:cNvSpPr>
            <a:spLocks noGrp="1"/>
          </p:cNvSpPr>
          <p:nvPr>
            <p:ph type="body" idx="1"/>
          </p:nvPr>
        </p:nvSpPr>
        <p:spPr>
          <a:noFill/>
          <a:ln>
            <a:noFill/>
          </a:ln>
        </p:spPr>
        <p:txBody>
          <a:bodyPr wrap="square" lIns="99075" tIns="49538" rIns="99075" bIns="49538" anchor="t" anchorCtr="0"/>
          <a:p>
            <a:pPr lvl="0"/>
            <a:r>
              <a:rPr lang="zh-CN" altLang="en-US" dirty="0">
                <a:latin typeface="Times New Roman" panose="02020603050405020304" pitchFamily="18" charset="0"/>
              </a:rPr>
              <a:t>注意：</a:t>
            </a:r>
            <a:endParaRPr lang="en-US" altLang="zh-CN" dirty="0">
              <a:latin typeface="Times New Roman" panose="02020603050405020304" pitchFamily="18" charset="0"/>
            </a:endParaRPr>
          </a:p>
          <a:p>
            <a:pPr lvl="0"/>
            <a:r>
              <a:rPr lang="en-US" altLang="zh-CN" dirty="0">
                <a:latin typeface="Times New Roman" panose="02020603050405020304" pitchFamily="18" charset="0"/>
              </a:rPr>
              <a:t>1</a:t>
            </a:r>
            <a:r>
              <a:rPr lang="zh-CN" altLang="en-US" dirty="0">
                <a:latin typeface="Times New Roman" panose="02020603050405020304" pitchFamily="18" charset="0"/>
              </a:rPr>
              <a:t>、如果计算机中可编址的最小单位是字存储单元，则该计算机称为按字寻址的计算机。如是计算机中可编址的最小单位是字节，则该计算机称为按字节寻址的计算机。一个机器字可以包含数个字节，所以一个存储单元也可包含数个能够单独编址的字节地址。</a:t>
            </a:r>
            <a:endParaRPr lang="en-US" altLang="zh-CN" dirty="0">
              <a:latin typeface="Times New Roman" panose="02020603050405020304" pitchFamily="18" charset="0"/>
            </a:endParaRPr>
          </a:p>
          <a:p>
            <a:pPr lvl="0"/>
            <a:r>
              <a:rPr lang="en-US" altLang="zh-CN" dirty="0">
                <a:latin typeface="Times New Roman" panose="02020603050405020304" pitchFamily="18" charset="0"/>
              </a:rPr>
              <a:t>2</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ChangeArrowheads="1" noTextEdit="1"/>
          </p:cNvSpPr>
          <p:nvPr>
            <p:ph type="sldImg"/>
          </p:nvPr>
        </p:nvSpPr>
        <p:spPr/>
      </p:sp>
      <p:sp>
        <p:nvSpPr>
          <p:cNvPr id="593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93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kumimoji="1" sz="3200">
                <a:solidFill>
                  <a:schemeClr val="tx1"/>
                </a:solidFill>
                <a:latin typeface="Times New Roman" panose="02020603050405020304" pitchFamily="18" charset="0"/>
                <a:ea typeface="黑体" panose="02010609060101010101" pitchFamily="49" charset="-122"/>
              </a:defRPr>
            </a:lvl1pPr>
            <a:lvl2pPr marL="742950" indent="-285750" defTabSz="965200">
              <a:defRPr kumimoji="1" sz="3200">
                <a:solidFill>
                  <a:schemeClr val="tx1"/>
                </a:solidFill>
                <a:latin typeface="Times New Roman" panose="02020603050405020304" pitchFamily="18" charset="0"/>
                <a:ea typeface="黑体" panose="02010609060101010101" pitchFamily="49" charset="-122"/>
              </a:defRPr>
            </a:lvl2pPr>
            <a:lvl3pPr marL="1143000" indent="-228600" defTabSz="965200">
              <a:defRPr kumimoji="1" sz="3200">
                <a:solidFill>
                  <a:schemeClr val="tx1"/>
                </a:solidFill>
                <a:latin typeface="Times New Roman" panose="02020603050405020304" pitchFamily="18" charset="0"/>
                <a:ea typeface="黑体" panose="02010609060101010101" pitchFamily="49" charset="-122"/>
              </a:defRPr>
            </a:lvl3pPr>
            <a:lvl4pPr marL="1600200" indent="-228600" defTabSz="965200">
              <a:defRPr kumimoji="1" sz="3200">
                <a:solidFill>
                  <a:schemeClr val="tx1"/>
                </a:solidFill>
                <a:latin typeface="Times New Roman" panose="02020603050405020304" pitchFamily="18" charset="0"/>
                <a:ea typeface="黑体" panose="02010609060101010101" pitchFamily="49" charset="-122"/>
              </a:defRPr>
            </a:lvl4pPr>
            <a:lvl5pPr marL="2057400" indent="-228600" defTabSz="965200">
              <a:defRPr kumimoji="1" sz="3200">
                <a:solidFill>
                  <a:schemeClr val="tx1"/>
                </a:solidFill>
                <a:latin typeface="Times New Roman" panose="02020603050405020304" pitchFamily="18" charset="0"/>
                <a:ea typeface="黑体" panose="02010609060101010101" pitchFamily="49" charset="-122"/>
              </a:defRPr>
            </a:lvl5pPr>
            <a:lvl6pPr marL="25146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defTabSz="9652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fld id="{CCC05669-AC8D-43B1-8BAE-03007A52822C}" type="slidenum">
              <a:rPr lang="en-US" altLang="zh-CN" sz="1300" smtClean="0">
                <a:ea typeface="宋体" panose="02010600030101010101" pitchFamily="2" charset="-122"/>
              </a:rPr>
            </a:fld>
            <a:endParaRPr lang="en-US" altLang="zh-CN" sz="130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幻灯片图像占位符 1"/>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32771" name="备注占位符 2"/>
          <p:cNvSpPr>
            <a:spLocks noGrp="1"/>
          </p:cNvSpPr>
          <p:nvPr>
            <p:ph type="body" idx="1"/>
          </p:nvPr>
        </p:nvSpPr>
        <p:spPr>
          <a:noFill/>
          <a:ln>
            <a:noFill/>
          </a:ln>
        </p:spPr>
        <p:txBody>
          <a:bodyPr wrap="square" lIns="99075" tIns="49538" rIns="99075" bIns="49538" anchor="t" anchorCtr="0"/>
          <a:p>
            <a:pPr lvl="0"/>
            <a:r>
              <a:rPr lang="zh-CN" altLang="en-US" dirty="0"/>
              <a:t>第</a:t>
            </a:r>
            <a:r>
              <a:rPr lang="en-US" altLang="zh-CN" dirty="0"/>
              <a:t>4</a:t>
            </a:r>
            <a:r>
              <a:rPr lang="zh-CN" altLang="en-US" dirty="0"/>
              <a:t>周</a:t>
            </a:r>
            <a:r>
              <a:rPr lang="en-US" altLang="zh-CN" dirty="0"/>
              <a:t>12</a:t>
            </a:r>
            <a:r>
              <a:rPr lang="zh-CN" altLang="en-US" dirty="0"/>
              <a:t>节下课</a:t>
            </a:r>
            <a:endParaRPr lang="zh-CN" altLang="en-US" dirty="0"/>
          </a:p>
        </p:txBody>
      </p:sp>
      <p:sp>
        <p:nvSpPr>
          <p:cNvPr id="32772" name="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幻灯片图像占位符 1"/>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37891" name="备注占位符 2"/>
          <p:cNvSpPr>
            <a:spLocks noGrp="1"/>
          </p:cNvSpPr>
          <p:nvPr>
            <p:ph type="body" idx="1"/>
          </p:nvPr>
        </p:nvSpPr>
        <p:spPr>
          <a:noFill/>
          <a:ln>
            <a:noFill/>
          </a:ln>
        </p:spPr>
        <p:txBody>
          <a:bodyPr wrap="square" lIns="99075" tIns="49538" rIns="99075" bIns="49538" anchor="t" anchorCtr="0"/>
          <a:p>
            <a:pPr lvl="0"/>
            <a:r>
              <a:rPr lang="zh-CN" altLang="en-US" dirty="0"/>
              <a:t>答案为</a:t>
            </a:r>
            <a:r>
              <a:rPr lang="en-US" altLang="zh-CN" dirty="0"/>
              <a:t>C</a:t>
            </a:r>
            <a:endParaRPr lang="zh-CN" altLang="en-US" dirty="0"/>
          </a:p>
        </p:txBody>
      </p:sp>
      <p:sp>
        <p:nvSpPr>
          <p:cNvPr id="37892" name="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defTabSz="96520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defTabSz="9652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defTabSz="965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3D793CD-2D50-481B-A13D-40C8862C2153}" type="slidenum">
              <a:rPr lang="en-US" altLang="zh-CN" sz="1300" smtClean="0"/>
            </a:fld>
            <a:endParaRPr lang="en-US" altLang="zh-CN" sz="1300"/>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幻灯片图像占位符 1"/>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51203" name="备注占位符 2"/>
          <p:cNvSpPr>
            <a:spLocks noGrp="1"/>
          </p:cNvSpPr>
          <p:nvPr>
            <p:ph type="body" idx="1"/>
          </p:nvPr>
        </p:nvSpPr>
        <p:spPr>
          <a:noFill/>
          <a:ln>
            <a:noFill/>
          </a:ln>
        </p:spPr>
        <p:txBody>
          <a:bodyPr wrap="square" lIns="99075" tIns="49538" rIns="99075" bIns="49538" anchor="t" anchorCtr="0"/>
          <a:p>
            <a:pPr lvl="0"/>
            <a:r>
              <a:rPr lang="en-US" altLang="zh-CN" dirty="0"/>
              <a:t>3.D  4.D</a:t>
            </a:r>
            <a:endParaRPr lang="zh-CN" altLang="en-US" dirty="0"/>
          </a:p>
        </p:txBody>
      </p:sp>
      <p:sp>
        <p:nvSpPr>
          <p:cNvPr id="51204" name="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幻灯片图像占位符 1"/>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53251" name="备注占位符 2"/>
          <p:cNvSpPr>
            <a:spLocks noGrp="1"/>
          </p:cNvSpPr>
          <p:nvPr>
            <p:ph type="body" idx="1"/>
          </p:nvPr>
        </p:nvSpPr>
        <p:spPr>
          <a:noFill/>
          <a:ln>
            <a:noFill/>
          </a:ln>
        </p:spPr>
        <p:txBody>
          <a:bodyPr wrap="square" lIns="99075" tIns="49538" rIns="99075" bIns="49538" anchor="t" anchorCtr="0"/>
          <a:p>
            <a:pPr lvl="0"/>
            <a:r>
              <a:rPr lang="en-US" altLang="zh-CN" dirty="0"/>
              <a:t>D</a:t>
            </a:r>
            <a:endParaRPr lang="zh-CN" altLang="en-US" dirty="0"/>
          </a:p>
        </p:txBody>
      </p:sp>
      <p:sp>
        <p:nvSpPr>
          <p:cNvPr id="53252" name="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幻灯片图像占位符 1"/>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60419" name="备注占位符 2"/>
          <p:cNvSpPr>
            <a:spLocks noGrp="1"/>
          </p:cNvSpPr>
          <p:nvPr>
            <p:ph type="body" idx="1"/>
          </p:nvPr>
        </p:nvSpPr>
        <p:spPr>
          <a:noFill/>
          <a:ln>
            <a:noFill/>
          </a:ln>
        </p:spPr>
        <p:txBody>
          <a:bodyPr wrap="square" lIns="99075" tIns="49538" rIns="99075" bIns="49538" anchor="t" anchorCtr="0"/>
          <a:p>
            <a:pPr lvl="0"/>
            <a:r>
              <a:rPr lang="zh-CN" altLang="en-US" dirty="0"/>
              <a:t>答案为</a:t>
            </a:r>
            <a:r>
              <a:rPr lang="en-US" altLang="zh-CN" dirty="0"/>
              <a:t>C</a:t>
            </a:r>
            <a:endParaRPr lang="zh-CN" altLang="en-US" dirty="0"/>
          </a:p>
        </p:txBody>
      </p:sp>
      <p:sp>
        <p:nvSpPr>
          <p:cNvPr id="60420" name="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幻灯片图像占位符 1"/>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64515" name="备注占位符 2"/>
          <p:cNvSpPr>
            <a:spLocks noGrp="1"/>
          </p:cNvSpPr>
          <p:nvPr>
            <p:ph type="body" idx="1"/>
          </p:nvPr>
        </p:nvSpPr>
        <p:spPr>
          <a:noFill/>
          <a:ln>
            <a:noFill/>
          </a:ln>
        </p:spPr>
        <p:txBody>
          <a:bodyPr wrap="square" lIns="99075" tIns="49538" rIns="99075" bIns="49538" anchor="t" anchorCtr="0"/>
          <a:p>
            <a:pPr lvl="0"/>
            <a:r>
              <a:rPr lang="zh-CN" altLang="en-US" dirty="0"/>
              <a:t>第四周</a:t>
            </a:r>
            <a:r>
              <a:rPr lang="en-US" altLang="zh-CN" dirty="0"/>
              <a:t>34</a:t>
            </a:r>
            <a:r>
              <a:rPr lang="zh-CN" altLang="en-US" dirty="0"/>
              <a:t>节下课</a:t>
            </a:r>
            <a:endParaRPr lang="zh-CN" altLang="en-US" dirty="0"/>
          </a:p>
        </p:txBody>
      </p:sp>
      <p:sp>
        <p:nvSpPr>
          <p:cNvPr id="64516" name="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幻灯片图像占位符 1"/>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71683" name="备注占位符 2"/>
          <p:cNvSpPr>
            <a:spLocks noGrp="1"/>
          </p:cNvSpPr>
          <p:nvPr>
            <p:ph type="body" idx="1"/>
          </p:nvPr>
        </p:nvSpPr>
        <p:spPr>
          <a:noFill/>
          <a:ln>
            <a:noFill/>
          </a:ln>
        </p:spPr>
        <p:txBody>
          <a:bodyPr wrap="square" lIns="99075" tIns="49538" rIns="99075" bIns="49538" anchor="t" anchorCtr="0"/>
          <a:p>
            <a:pPr lvl="0"/>
            <a:r>
              <a:rPr lang="zh-CN" altLang="en-US" dirty="0"/>
              <a:t>隧道击穿和雪崩击穿是</a:t>
            </a:r>
            <a:r>
              <a:rPr lang="en-US" altLang="zh-CN" dirty="0"/>
              <a:t>pn</a:t>
            </a:r>
            <a:r>
              <a:rPr lang="zh-CN" altLang="en-US" dirty="0"/>
              <a:t>结两种不同的击穿机制。</a:t>
            </a:r>
            <a:r>
              <a:rPr lang="en-US" altLang="zh-CN" dirty="0"/>
              <a:t>pn</a:t>
            </a:r>
            <a:r>
              <a:rPr lang="zh-CN" altLang="en-US" dirty="0"/>
              <a:t>结在反向高压下会发生击穿。其中雪崩击穿指势垒边缘扩散进势垒区的电子和空穴在高场下加速，获得极大动能。它们与势垒区的晶格原子碰撞，使其</a:t>
            </a:r>
            <a:r>
              <a:rPr lang="zh-CN" altLang="en-US" dirty="0">
                <a:hlinkClick r:id="rId3"/>
              </a:rPr>
              <a:t>价电子</a:t>
            </a:r>
            <a:r>
              <a:rPr lang="zh-CN" altLang="en-US" dirty="0"/>
              <a:t>电离，获得新的自由电子和空穴，由此</a:t>
            </a:r>
            <a:r>
              <a:rPr lang="en-US" altLang="zh-CN" dirty="0"/>
              <a:t>1</a:t>
            </a:r>
            <a:r>
              <a:rPr lang="zh-CN" altLang="en-US" dirty="0"/>
              <a:t>生</a:t>
            </a:r>
            <a:r>
              <a:rPr lang="en-US" altLang="zh-CN" dirty="0"/>
              <a:t>2,2</a:t>
            </a:r>
            <a:r>
              <a:rPr lang="zh-CN" altLang="en-US" dirty="0"/>
              <a:t>生</a:t>
            </a:r>
            <a:r>
              <a:rPr lang="en-US" altLang="zh-CN" dirty="0"/>
              <a:t>4</a:t>
            </a:r>
            <a:r>
              <a:rPr lang="zh-CN" altLang="en-US" dirty="0"/>
              <a:t>，载流子不断倍增，最终导致</a:t>
            </a:r>
            <a:r>
              <a:rPr lang="en-US" altLang="zh-CN" dirty="0"/>
              <a:t>pn</a:t>
            </a:r>
            <a:r>
              <a:rPr lang="zh-CN" altLang="en-US" dirty="0"/>
              <a:t>结击穿。隧道击穿也叫齐纳击穿，可以用</a:t>
            </a:r>
            <a:r>
              <a:rPr lang="zh-CN" altLang="en-US" dirty="0">
                <a:hlinkClick r:id="rId4"/>
              </a:rPr>
              <a:t>量子力学</a:t>
            </a:r>
            <a:r>
              <a:rPr lang="zh-CN" altLang="en-US" dirty="0"/>
              <a:t>中的隧道效应来解释，随着反向偏压的不断增大，势垒区的价电子势能增大，而势垒区宽度降低，此时</a:t>
            </a:r>
            <a:r>
              <a:rPr lang="en-US" altLang="zh-CN" dirty="0"/>
              <a:t>pn</a:t>
            </a:r>
            <a:r>
              <a:rPr lang="zh-CN" altLang="en-US" dirty="0"/>
              <a:t>结穿两端电子与空穴穿过势垒的几率增大，由此大量载流子隧穿而引起反向电流增大，击穿</a:t>
            </a:r>
            <a:r>
              <a:rPr lang="en-US" altLang="zh-CN" dirty="0"/>
              <a:t>pn</a:t>
            </a:r>
            <a:r>
              <a:rPr lang="zh-CN" altLang="en-US" dirty="0"/>
              <a:t>结。随着反向电压的不同，隧道击穿与雪崩击穿可单独或同时存在，具体可以参见教科书</a:t>
            </a:r>
            <a:r>
              <a:rPr lang="en-US" altLang="zh-CN" dirty="0">
                <a:hlinkClick r:id="rId5"/>
              </a:rPr>
              <a:t>《</a:t>
            </a:r>
            <a:r>
              <a:rPr lang="zh-CN" altLang="en-US" dirty="0">
                <a:hlinkClick r:id="rId5"/>
              </a:rPr>
              <a:t>半导体物理基础</a:t>
            </a:r>
            <a:r>
              <a:rPr lang="en-US" altLang="zh-CN" dirty="0">
                <a:hlinkClick r:id="rId5"/>
              </a:rPr>
              <a:t>》</a:t>
            </a:r>
            <a:r>
              <a:rPr lang="zh-CN" altLang="en-US" dirty="0"/>
              <a:t>。</a:t>
            </a:r>
            <a:endParaRPr lang="zh-CN" altLang="en-US" dirty="0"/>
          </a:p>
        </p:txBody>
      </p:sp>
      <p:sp>
        <p:nvSpPr>
          <p:cNvPr id="71684" name="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幻灯片图像占位符 1"/>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76803" name="备注占位符 2"/>
          <p:cNvSpPr>
            <a:spLocks noGrp="1"/>
          </p:cNvSpPr>
          <p:nvPr>
            <p:ph type="body" idx="1"/>
          </p:nvPr>
        </p:nvSpPr>
        <p:spPr>
          <a:noFill/>
          <a:ln>
            <a:noFill/>
          </a:ln>
        </p:spPr>
        <p:txBody>
          <a:bodyPr wrap="square" lIns="99075" tIns="49538" rIns="99075" bIns="49538" anchor="t" anchorCtr="0"/>
          <a:p>
            <a:pPr lvl="0"/>
            <a:r>
              <a:rPr lang="zh-CN" altLang="en-US" dirty="0"/>
              <a:t>隧道击穿和雪崩击穿是</a:t>
            </a:r>
            <a:r>
              <a:rPr lang="en-US" altLang="zh-CN" dirty="0"/>
              <a:t>pn</a:t>
            </a:r>
            <a:r>
              <a:rPr lang="zh-CN" altLang="en-US" dirty="0"/>
              <a:t>结两种不同的击穿机制。</a:t>
            </a:r>
            <a:r>
              <a:rPr lang="en-US" altLang="zh-CN" dirty="0"/>
              <a:t>pn</a:t>
            </a:r>
            <a:r>
              <a:rPr lang="zh-CN" altLang="en-US" dirty="0"/>
              <a:t>结在反向高压下会发生击穿。其中雪崩击穿指势垒边缘扩散进势垒区的电子和空穴在高场下加速，获得极大动能。它们与势垒区的晶格原子碰撞，使其</a:t>
            </a:r>
            <a:r>
              <a:rPr lang="zh-CN" altLang="en-US" dirty="0">
                <a:hlinkClick r:id="rId3"/>
              </a:rPr>
              <a:t>价电子</a:t>
            </a:r>
            <a:r>
              <a:rPr lang="zh-CN" altLang="en-US" dirty="0"/>
              <a:t>电离，获得新的自由电子和空穴，由此</a:t>
            </a:r>
            <a:r>
              <a:rPr lang="en-US" altLang="zh-CN" dirty="0"/>
              <a:t>1</a:t>
            </a:r>
            <a:r>
              <a:rPr lang="zh-CN" altLang="en-US" dirty="0"/>
              <a:t>生</a:t>
            </a:r>
            <a:r>
              <a:rPr lang="en-US" altLang="zh-CN" dirty="0"/>
              <a:t>2,2</a:t>
            </a:r>
            <a:r>
              <a:rPr lang="zh-CN" altLang="en-US" dirty="0"/>
              <a:t>生</a:t>
            </a:r>
            <a:r>
              <a:rPr lang="en-US" altLang="zh-CN" dirty="0"/>
              <a:t>4</a:t>
            </a:r>
            <a:r>
              <a:rPr lang="zh-CN" altLang="en-US" dirty="0"/>
              <a:t>，载流子不断倍增，最终导致</a:t>
            </a:r>
            <a:r>
              <a:rPr lang="en-US" altLang="zh-CN" dirty="0"/>
              <a:t>pn</a:t>
            </a:r>
            <a:r>
              <a:rPr lang="zh-CN" altLang="en-US" dirty="0"/>
              <a:t>结击穿。隧道击穿也叫齐纳击穿，可以用</a:t>
            </a:r>
            <a:r>
              <a:rPr lang="zh-CN" altLang="en-US" dirty="0">
                <a:hlinkClick r:id="rId4"/>
              </a:rPr>
              <a:t>量子力学</a:t>
            </a:r>
            <a:r>
              <a:rPr lang="zh-CN" altLang="en-US" dirty="0"/>
              <a:t>中的隧道效应来解释，随着反向偏压的不断增大，势垒区的价电子势能增大，而势垒区宽度降低，此时</a:t>
            </a:r>
            <a:r>
              <a:rPr lang="en-US" altLang="zh-CN" dirty="0"/>
              <a:t>pn</a:t>
            </a:r>
            <a:r>
              <a:rPr lang="zh-CN" altLang="en-US" dirty="0"/>
              <a:t>结穿两端电子与空穴穿过势垒的几率增大，由此大量载流子隧穿而引起反向电流增大，击穿</a:t>
            </a:r>
            <a:r>
              <a:rPr lang="en-US" altLang="zh-CN" dirty="0"/>
              <a:t>pn</a:t>
            </a:r>
            <a:r>
              <a:rPr lang="zh-CN" altLang="en-US" dirty="0"/>
              <a:t>结。随着反向电压的不同，隧道击穿与雪崩击穿可单独或同时存在，具体可以参见教科书</a:t>
            </a:r>
            <a:r>
              <a:rPr lang="en-US" altLang="zh-CN" dirty="0">
                <a:hlinkClick r:id="rId5"/>
              </a:rPr>
              <a:t>《</a:t>
            </a:r>
            <a:r>
              <a:rPr lang="zh-CN" altLang="en-US" dirty="0">
                <a:hlinkClick r:id="rId5"/>
              </a:rPr>
              <a:t>半导体物理基础</a:t>
            </a:r>
            <a:r>
              <a:rPr lang="en-US" altLang="zh-CN" dirty="0">
                <a:hlinkClick r:id="rId5"/>
              </a:rPr>
              <a:t>》</a:t>
            </a:r>
            <a:r>
              <a:rPr lang="zh-CN" altLang="en-US" dirty="0"/>
              <a:t>。</a:t>
            </a:r>
            <a:endParaRPr lang="zh-CN" altLang="en-US" dirty="0"/>
          </a:p>
        </p:txBody>
      </p:sp>
      <p:sp>
        <p:nvSpPr>
          <p:cNvPr id="76804" name="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幻灯片图像占位符 1"/>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93187" name="备注占位符 2"/>
          <p:cNvSpPr>
            <a:spLocks noGrp="1"/>
          </p:cNvSpPr>
          <p:nvPr>
            <p:ph type="body" idx="1"/>
          </p:nvPr>
        </p:nvSpPr>
        <p:spPr>
          <a:noFill/>
          <a:ln>
            <a:noFill/>
          </a:ln>
        </p:spPr>
        <p:txBody>
          <a:bodyPr wrap="square" lIns="99075" tIns="49538" rIns="99075" bIns="49538" anchor="t" anchorCtr="0"/>
          <a:p>
            <a:pPr lvl="0"/>
            <a:r>
              <a:rPr lang="zh-CN" altLang="en-US" dirty="0"/>
              <a:t>第五周</a:t>
            </a:r>
            <a:r>
              <a:rPr lang="en-US" altLang="zh-CN" dirty="0"/>
              <a:t>12</a:t>
            </a:r>
            <a:r>
              <a:rPr lang="zh-CN" altLang="en-US" dirty="0"/>
              <a:t>节下课</a:t>
            </a:r>
            <a:endParaRPr lang="zh-CN" altLang="en-US" dirty="0"/>
          </a:p>
        </p:txBody>
      </p:sp>
      <p:sp>
        <p:nvSpPr>
          <p:cNvPr id="93188" name="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fld id="{9A0DB2DC-4C9A-4742-B13C-FB6460FD3503}" type="slidenum">
              <a:rPr lang="en-US" altLang="zh-CN" sz="1300" dirty="0"/>
            </a:fld>
            <a:endParaRPr lang="en-US" altLang="zh-CN" sz="1300"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幻灯片图像占位符 1"/>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98307" name="备注占位符 2"/>
          <p:cNvSpPr>
            <a:spLocks noGrp="1"/>
          </p:cNvSpPr>
          <p:nvPr>
            <p:ph type="body" idx="1"/>
          </p:nvPr>
        </p:nvSpPr>
        <p:spPr>
          <a:noFill/>
          <a:ln>
            <a:noFill/>
          </a:ln>
        </p:spPr>
        <p:txBody>
          <a:bodyPr wrap="square" lIns="99075" tIns="49538" rIns="99075" bIns="49538" anchor="t" anchorCtr="0"/>
          <a:p>
            <a:pPr lvl="0"/>
            <a:r>
              <a:rPr lang="en-US" altLang="zh-CN" dirty="0"/>
              <a:t>10</a:t>
            </a:r>
            <a:r>
              <a:rPr lang="zh-CN" altLang="en-US" dirty="0"/>
              <a:t>月</a:t>
            </a:r>
            <a:r>
              <a:rPr lang="en-US" altLang="zh-CN" dirty="0"/>
              <a:t>18</a:t>
            </a:r>
            <a:r>
              <a:rPr lang="zh-CN" altLang="en-US" dirty="0"/>
              <a:t>号下课</a:t>
            </a:r>
            <a:endParaRPr lang="zh-CN" altLang="en-US" dirty="0"/>
          </a:p>
        </p:txBody>
      </p:sp>
      <p:sp>
        <p:nvSpPr>
          <p:cNvPr id="98308" name="幻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幻灯片图像占位符 1"/>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100355" name="备注占位符 2"/>
          <p:cNvSpPr>
            <a:spLocks noGrp="1"/>
          </p:cNvSpPr>
          <p:nvPr>
            <p:ph type="body" idx="1"/>
          </p:nvPr>
        </p:nvSpPr>
        <p:spPr>
          <a:noFill/>
          <a:ln>
            <a:noFill/>
          </a:ln>
        </p:spPr>
        <p:txBody>
          <a:bodyPr wrap="square" lIns="99075" tIns="49538" rIns="99075" bIns="49538" anchor="t" anchorCtr="0"/>
          <a:p>
            <a:pPr lvl="0"/>
            <a:endParaRPr lang="zh-CN" altLang="en-US" dirty="0"/>
          </a:p>
        </p:txBody>
      </p:sp>
      <p:sp>
        <p:nvSpPr>
          <p:cNvPr id="100356" name="幻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2" name="幻灯片图像占位符 1"/>
          <p:cNvSpPr>
            <a:spLocks noGrp="1" noRot="1" noChangeAspect="1" noTextEdit="1"/>
          </p:cNvSpPr>
          <p:nvPr>
            <p:ph type="sldImg"/>
          </p:nvPr>
        </p:nvSpPr>
        <p:spPr>
          <a:xfrm>
            <a:off x="995363" y="768350"/>
            <a:ext cx="5113337" cy="3836988"/>
          </a:xfrm>
          <a:ln>
            <a:solidFill>
              <a:srgbClr val="000000"/>
            </a:solidFill>
            <a:miter/>
          </a:ln>
        </p:spPr>
      </p:sp>
      <p:sp>
        <p:nvSpPr>
          <p:cNvPr id="112643" name="备注占位符 2"/>
          <p:cNvSpPr>
            <a:spLocks noGrp="1"/>
          </p:cNvSpPr>
          <p:nvPr>
            <p:ph type="body" idx="1"/>
          </p:nvPr>
        </p:nvSpPr>
        <p:spPr>
          <a:noFill/>
          <a:ln>
            <a:noFill/>
          </a:ln>
        </p:spPr>
        <p:txBody>
          <a:bodyPr wrap="square" lIns="99075" tIns="49538" rIns="99075" bIns="49538" anchor="t" anchorCtr="0"/>
          <a:p>
            <a:pPr lvl="0"/>
            <a:r>
              <a:rPr lang="zh-CN" altLang="en-US" dirty="0"/>
              <a:t>答案</a:t>
            </a:r>
            <a:r>
              <a:rPr lang="en-US" altLang="zh-CN" dirty="0"/>
              <a:t>D</a:t>
            </a:r>
            <a:endParaRPr lang="zh-CN" altLang="en-US" dirty="0"/>
          </a:p>
        </p:txBody>
      </p:sp>
      <p:sp>
        <p:nvSpPr>
          <p:cNvPr id="112644" name="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buNone/>
            </a:pPr>
            <a:fld id="{9A0DB2DC-4C9A-4742-B13C-FB6460FD3503}" type="slidenum">
              <a:rPr lang="en-US" altLang="zh-CN" sz="1300" dirty="0"/>
            </a:fld>
            <a:endParaRPr lang="en-US" altLang="zh-CN" sz="13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Rectangle 7"/>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14691" name="Rectangle 2"/>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114692" name="Rectangle 3"/>
          <p:cNvSpPr>
            <a:spLocks noGrp="1"/>
          </p:cNvSpPr>
          <p:nvPr>
            <p:ph type="body" idx="1"/>
          </p:nvPr>
        </p:nvSpPr>
        <p:spPr>
          <a:xfrm>
            <a:off x="949325" y="4860925"/>
            <a:ext cx="5205413" cy="4605338"/>
          </a:xfrm>
          <a:noFill/>
          <a:ln>
            <a:noFill/>
          </a:ln>
        </p:spPr>
        <p:txBody>
          <a:bodyPr wrap="square" lIns="99075" tIns="49538" rIns="99075" bIns="49538" anchor="t" anchorCtr="0"/>
          <a:p>
            <a:pPr lvl="0"/>
            <a:r>
              <a:rPr lang="zh-CN" altLang="en-US" dirty="0">
                <a:solidFill>
                  <a:srgbClr val="800000"/>
                </a:solidFill>
                <a:latin typeface="隶书" pitchFamily="49" charset="-122"/>
                <a:ea typeface="隶书" pitchFamily="49" charset="-122"/>
              </a:rPr>
              <a:t>前面我们已经介绍了</a:t>
            </a:r>
            <a:r>
              <a:rPr lang="en-US" altLang="zh-CN" dirty="0">
                <a:solidFill>
                  <a:srgbClr val="800000"/>
                </a:solidFill>
                <a:latin typeface="隶书" pitchFamily="49" charset="-122"/>
                <a:ea typeface="隶书" pitchFamily="49" charset="-122"/>
              </a:rPr>
              <a:t>Register,SRAM,DRAM, Hard Disk , Magnetic Tape and Optical Disk. </a:t>
            </a:r>
            <a:r>
              <a:rPr lang="zh-CN" altLang="en-US" dirty="0">
                <a:solidFill>
                  <a:srgbClr val="800000"/>
                </a:solidFill>
                <a:latin typeface="隶书" pitchFamily="49" charset="-122"/>
                <a:ea typeface="隶书" pitchFamily="49" charset="-122"/>
              </a:rPr>
              <a:t>从使用和维护角度来说，计算机最好使用一个容量极大而速度极快的存储器。但往往做不到。因而采用一种分级体系结构，使各种不同功能</a:t>
            </a:r>
            <a:r>
              <a:rPr lang="en-US" altLang="zh-CN" dirty="0">
                <a:solidFill>
                  <a:srgbClr val="800000"/>
                </a:solidFill>
                <a:latin typeface="隶书" pitchFamily="49" charset="-122"/>
                <a:ea typeface="隶书" pitchFamily="49" charset="-122"/>
              </a:rPr>
              <a:t>/</a:t>
            </a:r>
            <a:r>
              <a:rPr lang="zh-CN" altLang="en-US" dirty="0">
                <a:solidFill>
                  <a:srgbClr val="800000"/>
                </a:solidFill>
                <a:latin typeface="隶书" pitchFamily="49" charset="-122"/>
                <a:ea typeface="隶书" pitchFamily="49" charset="-122"/>
              </a:rPr>
              <a:t>容量</a:t>
            </a:r>
            <a:r>
              <a:rPr lang="en-US" altLang="zh-CN" dirty="0">
                <a:solidFill>
                  <a:srgbClr val="800000"/>
                </a:solidFill>
                <a:latin typeface="隶书" pitchFamily="49" charset="-122"/>
                <a:ea typeface="隶书" pitchFamily="49" charset="-122"/>
              </a:rPr>
              <a:t>/</a:t>
            </a:r>
            <a:r>
              <a:rPr lang="zh-CN" altLang="en-US" dirty="0">
                <a:solidFill>
                  <a:srgbClr val="800000"/>
                </a:solidFill>
                <a:latin typeface="隶书" pitchFamily="49" charset="-122"/>
                <a:ea typeface="隶书" pitchFamily="49" charset="-122"/>
              </a:rPr>
              <a:t>速度</a:t>
            </a:r>
            <a:r>
              <a:rPr lang="en-US" altLang="zh-CN" dirty="0">
                <a:solidFill>
                  <a:srgbClr val="800000"/>
                </a:solidFill>
                <a:latin typeface="隶书" pitchFamily="49" charset="-122"/>
                <a:ea typeface="隶书" pitchFamily="49" charset="-122"/>
              </a:rPr>
              <a:t>/</a:t>
            </a:r>
            <a:r>
              <a:rPr lang="zh-CN" altLang="en-US" dirty="0">
                <a:solidFill>
                  <a:srgbClr val="800000"/>
                </a:solidFill>
                <a:latin typeface="隶书" pitchFamily="49" charset="-122"/>
                <a:ea typeface="隶书" pitchFamily="49" charset="-122"/>
              </a:rPr>
              <a:t>价格的存储器相互协调以构成最佳性能的存储系统。</a:t>
            </a:r>
            <a:endParaRPr lang="en-US" altLang="zh-CN" dirty="0">
              <a:solidFill>
                <a:srgbClr val="800000"/>
              </a:solidFill>
              <a:latin typeface="隶书" pitchFamily="49" charset="-122"/>
              <a:ea typeface="隶书" pitchFamily="49" charset="-122"/>
            </a:endParaRPr>
          </a:p>
          <a:p>
            <a:pPr lvl="0"/>
            <a:r>
              <a:rPr lang="zh-CN" altLang="en-US" dirty="0">
                <a:solidFill>
                  <a:srgbClr val="800000"/>
                </a:solidFill>
                <a:latin typeface="隶书" pitchFamily="49" charset="-122"/>
                <a:ea typeface="隶书" pitchFamily="49" charset="-122"/>
              </a:rPr>
              <a:t>调查</a:t>
            </a:r>
            <a:r>
              <a:rPr lang="en-US" altLang="zh-CN" dirty="0">
                <a:solidFill>
                  <a:srgbClr val="800000"/>
                </a:solidFill>
                <a:latin typeface="隶书" pitchFamily="49" charset="-122"/>
                <a:ea typeface="隶书" pitchFamily="49" charset="-122"/>
              </a:rPr>
              <a:t>???</a:t>
            </a:r>
            <a:endParaRPr lang="en-US" altLang="zh-CN" dirty="0">
              <a:solidFill>
                <a:srgbClr val="800000"/>
              </a:solidFill>
              <a:latin typeface="隶书" pitchFamily="49" charset="-122"/>
              <a:ea typeface="隶书" pitchFamily="49"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Rectangle 7"/>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18787" name="Rectangle 2"/>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118788" name="Rectangle 3"/>
          <p:cNvSpPr>
            <a:spLocks noGrp="1"/>
          </p:cNvSpPr>
          <p:nvPr>
            <p:ph type="body" idx="1"/>
          </p:nvPr>
        </p:nvSpPr>
        <p:spPr>
          <a:xfrm>
            <a:off x="949325" y="4860925"/>
            <a:ext cx="5205413" cy="4605338"/>
          </a:xfrm>
          <a:noFill/>
          <a:ln>
            <a:noFill/>
          </a:ln>
        </p:spPr>
        <p:txBody>
          <a:bodyPr wrap="square" lIns="99075" tIns="49538" rIns="99075" bIns="49538" anchor="t" anchorCtr="0"/>
          <a:p>
            <a:pPr lvl="0"/>
            <a:r>
              <a:rPr lang="zh-CN" altLang="en-US" dirty="0">
                <a:latin typeface="Times New Roman" panose="02020603050405020304" pitchFamily="18" charset="0"/>
              </a:rPr>
              <a:t>总结前面的说明，可以看出计算机内部的存储器体系结构是一种金字塔形的结构。</a:t>
            </a:r>
            <a:endParaRPr lang="zh-CN" altLang="en-US" dirty="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Rectangle 7"/>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20835" name="Rectangle 2"/>
          <p:cNvSpPr>
            <a:spLocks noGrp="1"/>
          </p:cNvSpPr>
          <p:nvPr>
            <p:ph type="body" idx="1"/>
          </p:nvPr>
        </p:nvSpPr>
        <p:spPr>
          <a:xfrm>
            <a:off x="534988" y="4654550"/>
            <a:ext cx="6121400" cy="4811713"/>
          </a:xfrm>
          <a:noFill/>
          <a:ln>
            <a:noFill/>
          </a:ln>
        </p:spPr>
        <p:txBody>
          <a:bodyPr wrap="square" lIns="95133" tIns="46732" rIns="95133" bIns="46732" anchor="t" anchorCtr="0"/>
          <a:p>
            <a:pPr lvl="0"/>
            <a:r>
              <a:rPr lang="en-US" altLang="zh-CN" dirty="0">
                <a:latin typeface="Times New Roman" panose="02020603050405020304" pitchFamily="18" charset="0"/>
              </a:rPr>
              <a:t>How does the memory hierarchy work?  Well it is rather simple, at least in principle.</a:t>
            </a:r>
            <a:endParaRPr lang="en-US" altLang="zh-CN" dirty="0">
              <a:latin typeface="Times New Roman" panose="02020603050405020304" pitchFamily="18" charset="0"/>
            </a:endParaRPr>
          </a:p>
          <a:p>
            <a:pPr lvl="0"/>
            <a:r>
              <a:rPr lang="en-US" altLang="zh-CN" dirty="0">
                <a:latin typeface="Times New Roman" panose="02020603050405020304" pitchFamily="18" charset="0"/>
              </a:rPr>
              <a:t>In order to take advantage of the temporal locality, that is the locality in time, the memory hierarchy will keep those more recently accessed data items closer to the processor because chances are (points to the principle), the processor will access them again soon.</a:t>
            </a:r>
            <a:endParaRPr lang="en-US" altLang="zh-CN" dirty="0">
              <a:latin typeface="Times New Roman" panose="02020603050405020304" pitchFamily="18" charset="0"/>
            </a:endParaRPr>
          </a:p>
          <a:p>
            <a:pPr lvl="0"/>
            <a:r>
              <a:rPr lang="en-US" altLang="zh-CN" dirty="0">
                <a:latin typeface="Times New Roman" panose="02020603050405020304" pitchFamily="18" charset="0"/>
              </a:rPr>
              <a:t>In order to take advantage of the spatial locality, not ONLY do we move the item that has just been accessed to the upper level, but we ALSO move the data items that are adjacent to it.</a:t>
            </a:r>
            <a:endParaRPr lang="en-US" altLang="zh-CN" dirty="0">
              <a:latin typeface="Times New Roman" panose="02020603050405020304" pitchFamily="18" charset="0"/>
            </a:endParaRPr>
          </a:p>
          <a:p>
            <a:pPr lvl="0"/>
            <a:endParaRPr lang="en-US" altLang="zh-CN" dirty="0">
              <a:latin typeface="Times New Roman" panose="02020603050405020304" pitchFamily="18" charset="0"/>
            </a:endParaRPr>
          </a:p>
          <a:p>
            <a:pPr lvl="0"/>
            <a:r>
              <a:rPr lang="en-US" altLang="zh-CN" dirty="0">
                <a:latin typeface="Times New Roman" panose="02020603050405020304" pitchFamily="18" charset="0"/>
              </a:rPr>
              <a:t>+1 = 15 min. (X:55)</a:t>
            </a:r>
            <a:endParaRPr lang="en-US" altLang="zh-CN" dirty="0">
              <a:latin typeface="Times New Roman" panose="02020603050405020304" pitchFamily="18" charset="0"/>
            </a:endParaRPr>
          </a:p>
        </p:txBody>
      </p:sp>
      <p:sp>
        <p:nvSpPr>
          <p:cNvPr id="120836" name="Rectangle 3"/>
          <p:cNvSpPr>
            <a:spLocks noGrp="1" noRot="1" noChangeAspect="1" noTextEdit="1"/>
          </p:cNvSpPr>
          <p:nvPr>
            <p:ph type="sldImg"/>
          </p:nvPr>
        </p:nvSpPr>
        <p:spPr>
          <a:xfrm>
            <a:off x="993775" y="642938"/>
            <a:ext cx="5137150" cy="3852862"/>
          </a:xfrm>
          <a:ln w="9525">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幻灯片图像占位符 1"/>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122883" name="备注占位符 2"/>
          <p:cNvSpPr>
            <a:spLocks noGrp="1"/>
          </p:cNvSpPr>
          <p:nvPr>
            <p:ph type="body" idx="1"/>
          </p:nvPr>
        </p:nvSpPr>
        <p:spPr>
          <a:noFill/>
          <a:ln>
            <a:noFill/>
          </a:ln>
        </p:spPr>
        <p:txBody>
          <a:bodyPr wrap="square" lIns="99075" tIns="49538" rIns="99075" bIns="49538" anchor="t" anchorCtr="0"/>
          <a:p>
            <a:pPr lvl="0"/>
            <a:r>
              <a:rPr lang="en-US" altLang="zh-CN" dirty="0"/>
              <a:t>Cache </a:t>
            </a:r>
            <a:r>
              <a:rPr lang="zh-CN" altLang="en-US" dirty="0"/>
              <a:t>对用户程序来讲是透明的，即用户看不到它。为什么呢？因为</a:t>
            </a:r>
            <a:r>
              <a:rPr lang="en-US" altLang="zh-CN" dirty="0"/>
              <a:t>cache</a:t>
            </a:r>
            <a:r>
              <a:rPr lang="zh-CN" altLang="en-US" dirty="0"/>
              <a:t>是一个隐蔽的场所，让用户看到它就谈不上隐蔽了。实际的意义是：对</a:t>
            </a:r>
            <a:r>
              <a:rPr lang="en-US" altLang="zh-CN" dirty="0"/>
              <a:t>cache</a:t>
            </a:r>
            <a:r>
              <a:rPr lang="zh-CN" altLang="en-US" dirty="0"/>
              <a:t>的管理是我们硬件的内政，不容你们软件干涉。</a:t>
            </a:r>
            <a:endParaRPr lang="zh-CN" altLang="en-US" dirty="0"/>
          </a:p>
        </p:txBody>
      </p:sp>
      <p:sp>
        <p:nvSpPr>
          <p:cNvPr id="122884" name="幻灯片编号占位符 3"/>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8" name="Rectangle 7"/>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42339" name="Rectangle 2"/>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142340" name="Rectangle 3"/>
          <p:cNvSpPr>
            <a:spLocks noGrp="1"/>
          </p:cNvSpPr>
          <p:nvPr>
            <p:ph type="body" idx="1"/>
          </p:nvPr>
        </p:nvSpPr>
        <p:spPr>
          <a:xfrm>
            <a:off x="949325" y="4860925"/>
            <a:ext cx="5205413" cy="4605338"/>
          </a:xfrm>
          <a:noFill/>
          <a:ln>
            <a:noFill/>
          </a:ln>
        </p:spPr>
        <p:txBody>
          <a:bodyPr wrap="square" lIns="99075" tIns="49538" rIns="99075" bIns="49538" anchor="t" anchorCtr="0"/>
          <a:p>
            <a:pPr lvl="0"/>
            <a:r>
              <a:rPr lang="zh-CN" altLang="en-US" dirty="0">
                <a:latin typeface="Times New Roman" panose="02020603050405020304" pitchFamily="18" charset="0"/>
              </a:rPr>
              <a:t>访存过程：</a:t>
            </a:r>
            <a:endParaRPr lang="en-US" altLang="zh-CN" dirty="0">
              <a:latin typeface="Times New Roman" panose="02020603050405020304" pitchFamily="18" charset="0"/>
            </a:endParaRPr>
          </a:p>
          <a:p>
            <a:pPr lvl="1"/>
            <a:r>
              <a:rPr lang="en-US" altLang="zh-CN" dirty="0">
                <a:latin typeface="Times New Roman" panose="02020603050405020304" pitchFamily="18" charset="0"/>
              </a:rPr>
              <a:t>        </a:t>
            </a:r>
            <a:r>
              <a:rPr lang="en-US" altLang="zh-CN" dirty="0">
                <a:latin typeface="华文新魏" pitchFamily="2" charset="-122"/>
                <a:ea typeface="华文新魏" pitchFamily="2" charset="-122"/>
              </a:rPr>
              <a:t>   </a:t>
            </a:r>
            <a:r>
              <a:rPr lang="en-US" altLang="zh-CN" dirty="0">
                <a:latin typeface="宋体" panose="02010600030101010101" pitchFamily="2" charset="-122"/>
              </a:rPr>
              <a:t>CPU</a:t>
            </a:r>
            <a:r>
              <a:rPr lang="zh-CN" altLang="en-US" dirty="0">
                <a:latin typeface="宋体" panose="02010600030101010101" pitchFamily="2" charset="-122"/>
              </a:rPr>
              <a:t>给出一个</a:t>
            </a:r>
            <a:r>
              <a:rPr lang="en-US" altLang="zh-CN" dirty="0">
                <a:latin typeface="宋体" panose="02010600030101010101" pitchFamily="2" charset="-122"/>
              </a:rPr>
              <a:t>20</a:t>
            </a:r>
            <a:r>
              <a:rPr lang="zh-CN" altLang="en-US" dirty="0">
                <a:latin typeface="宋体" panose="02010600030101010101" pitchFamily="2" charset="-122"/>
              </a:rPr>
              <a:t>位主存地址，根据高</a:t>
            </a:r>
            <a:r>
              <a:rPr lang="en-US" altLang="zh-CN" dirty="0">
                <a:latin typeface="宋体" panose="02010600030101010101" pitchFamily="2" charset="-122"/>
              </a:rPr>
              <a:t>11</a:t>
            </a:r>
            <a:r>
              <a:rPr lang="zh-CN" altLang="en-US" dirty="0">
                <a:latin typeface="宋体" panose="02010600030101010101" pitchFamily="2" charset="-122"/>
              </a:rPr>
              <a:t>位的内容同时与</a:t>
            </a:r>
            <a:r>
              <a:rPr lang="en-US" altLang="zh-CN" dirty="0">
                <a:latin typeface="宋体" panose="02010600030101010101" pitchFamily="2" charset="-122"/>
              </a:rPr>
              <a:t>Cache</a:t>
            </a:r>
            <a:r>
              <a:rPr lang="zh-CN" altLang="en-US" dirty="0">
                <a:latin typeface="宋体" panose="02010600030101010101" pitchFamily="2" charset="-122"/>
              </a:rPr>
              <a:t>中各槽的标志位进行比较。</a:t>
            </a:r>
            <a:endParaRPr lang="en-US" altLang="zh-CN" dirty="0">
              <a:latin typeface="宋体" panose="02010600030101010101" pitchFamily="2" charset="-122"/>
            </a:endParaRPr>
          </a:p>
          <a:p>
            <a:pPr lvl="1"/>
            <a:r>
              <a:rPr lang="en-US" altLang="zh-CN" dirty="0">
                <a:latin typeface="宋体" panose="02010600030101010101" pitchFamily="2" charset="-122"/>
              </a:rPr>
              <a:t>      </a:t>
            </a:r>
            <a:r>
              <a:rPr lang="zh-CN" altLang="en-US" dirty="0">
                <a:latin typeface="宋体" panose="02010600030101010101" pitchFamily="2" charset="-122"/>
              </a:rPr>
              <a:t>若能找到相等的槽，则说明要访问的单元在该槽中。再根据后</a:t>
            </a:r>
            <a:r>
              <a:rPr lang="en-US" altLang="zh-CN" dirty="0">
                <a:latin typeface="宋体" panose="02010600030101010101" pitchFamily="2" charset="-122"/>
              </a:rPr>
              <a:t>9</a:t>
            </a:r>
            <a:r>
              <a:rPr lang="zh-CN" altLang="en-US" dirty="0">
                <a:latin typeface="宋体" panose="02010600030101010101" pitchFamily="2" charset="-122"/>
              </a:rPr>
              <a:t>位字号找到相应的字取到</a:t>
            </a:r>
            <a:r>
              <a:rPr lang="en-US" altLang="zh-CN" dirty="0">
                <a:latin typeface="宋体" panose="02010600030101010101" pitchFamily="2" charset="-122"/>
              </a:rPr>
              <a:t>CPU</a:t>
            </a:r>
            <a:r>
              <a:rPr lang="zh-CN" altLang="en-US" dirty="0">
                <a:latin typeface="宋体" panose="02010600030101010101" pitchFamily="2" charset="-122"/>
              </a:rPr>
              <a:t>中。</a:t>
            </a:r>
            <a:endParaRPr lang="en-US" altLang="zh-CN" dirty="0">
              <a:latin typeface="宋体" panose="02010600030101010101" pitchFamily="2" charset="-122"/>
            </a:endParaRPr>
          </a:p>
          <a:p>
            <a:pPr lvl="1"/>
            <a:r>
              <a:rPr lang="en-US" altLang="zh-CN" dirty="0">
                <a:latin typeface="宋体" panose="02010600030101010101" pitchFamily="2" charset="-122"/>
              </a:rPr>
              <a:t>      </a:t>
            </a:r>
            <a:r>
              <a:rPr lang="zh-CN" altLang="en-US" dirty="0">
                <a:latin typeface="宋体" panose="02010600030101010101" pitchFamily="2" charset="-122"/>
              </a:rPr>
              <a:t>若全都不相等，则说明要访问的单元不在</a:t>
            </a:r>
            <a:r>
              <a:rPr lang="en-US" altLang="zh-CN" dirty="0">
                <a:latin typeface="宋体" panose="02010600030101010101" pitchFamily="2" charset="-122"/>
              </a:rPr>
              <a:t>Cache</a:t>
            </a:r>
            <a:r>
              <a:rPr lang="zh-CN" altLang="en-US" dirty="0">
                <a:latin typeface="宋体" panose="02010600030101010101" pitchFamily="2" charset="-122"/>
              </a:rPr>
              <a:t>中。</a:t>
            </a:r>
            <a:endParaRPr lang="zh-CN" altLang="en-US" dirty="0">
              <a:latin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Rectangle 7"/>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46435" name="Rectangle 2"/>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146436" name="Rectangle 3"/>
          <p:cNvSpPr>
            <a:spLocks noGrp="1"/>
          </p:cNvSpPr>
          <p:nvPr>
            <p:ph type="body" idx="1"/>
          </p:nvPr>
        </p:nvSpPr>
        <p:spPr>
          <a:xfrm>
            <a:off x="949325" y="4860925"/>
            <a:ext cx="5205413" cy="4605338"/>
          </a:xfrm>
          <a:noFill/>
          <a:ln>
            <a:noFill/>
          </a:ln>
        </p:spPr>
        <p:txBody>
          <a:bodyPr wrap="square" lIns="99075" tIns="49538" rIns="99075" bIns="49538" anchor="t" anchorCtr="0"/>
          <a:p>
            <a:pPr lvl="0"/>
            <a:r>
              <a:rPr lang="zh-CN" altLang="en-US" dirty="0">
                <a:latin typeface="Times New Roman" panose="02020603050405020304" pitchFamily="18" charset="0"/>
              </a:rPr>
              <a:t>每个槽有个标志字段，用于指出该槽取自主存的哪个块群。主存共有</a:t>
            </a:r>
            <a:r>
              <a:rPr lang="en-US" altLang="zh-CN" dirty="0">
                <a:latin typeface="Times New Roman" panose="02020603050405020304" pitchFamily="18" charset="0"/>
              </a:rPr>
              <a:t>128</a:t>
            </a:r>
            <a:r>
              <a:rPr lang="zh-CN" altLang="en-US" dirty="0">
                <a:latin typeface="Times New Roman" panose="02020603050405020304" pitchFamily="18" charset="0"/>
              </a:rPr>
              <a:t>个块群。故标志位有</a:t>
            </a:r>
            <a:r>
              <a:rPr lang="en-US" altLang="zh-CN" dirty="0">
                <a:latin typeface="Times New Roman" panose="02020603050405020304" pitchFamily="18" charset="0"/>
              </a:rPr>
              <a:t>7</a:t>
            </a:r>
            <a:r>
              <a:rPr lang="zh-CN" altLang="en-US" dirty="0">
                <a:latin typeface="Times New Roman" panose="02020603050405020304" pitchFamily="18" charset="0"/>
              </a:rPr>
              <a:t>位。</a:t>
            </a:r>
            <a:endParaRPr lang="en-US" altLang="zh-CN" dirty="0">
              <a:latin typeface="Times New Roman" panose="02020603050405020304" pitchFamily="18" charset="0"/>
            </a:endParaRPr>
          </a:p>
          <a:p>
            <a:pPr lvl="0"/>
            <a:r>
              <a:rPr lang="zh-CN" altLang="en-US" dirty="0">
                <a:latin typeface="Times New Roman" panose="02020603050405020304" pitchFamily="18" charset="0"/>
              </a:rPr>
              <a:t>每个块群中的</a:t>
            </a:r>
            <a:r>
              <a:rPr lang="en-US" altLang="zh-CN" dirty="0">
                <a:latin typeface="Times New Roman" panose="02020603050405020304" pitchFamily="18" charset="0"/>
              </a:rPr>
              <a:t>16</a:t>
            </a:r>
            <a:r>
              <a:rPr lang="zh-CN" altLang="en-US" dirty="0">
                <a:latin typeface="Times New Roman" panose="02020603050405020304" pitchFamily="18" charset="0"/>
              </a:rPr>
              <a:t>块与</a:t>
            </a:r>
            <a:r>
              <a:rPr lang="en-US" altLang="zh-CN" dirty="0">
                <a:latin typeface="Times New Roman" panose="02020603050405020304" pitchFamily="18" charset="0"/>
              </a:rPr>
              <a:t>Cache</a:t>
            </a:r>
            <a:r>
              <a:rPr lang="zh-CN" altLang="en-US" dirty="0">
                <a:latin typeface="Times New Roman" panose="02020603050405020304" pitchFamily="18" charset="0"/>
              </a:rPr>
              <a:t>的</a:t>
            </a:r>
            <a:r>
              <a:rPr lang="en-US" altLang="zh-CN" dirty="0">
                <a:latin typeface="Times New Roman" panose="02020603050405020304" pitchFamily="18" charset="0"/>
              </a:rPr>
              <a:t>16</a:t>
            </a:r>
            <a:r>
              <a:rPr lang="zh-CN" altLang="en-US" dirty="0">
                <a:latin typeface="Times New Roman" panose="02020603050405020304" pitchFamily="18" charset="0"/>
              </a:rPr>
              <a:t>个槽一一对应。</a:t>
            </a:r>
            <a:endParaRPr lang="en-US" altLang="zh-CN" dirty="0">
              <a:latin typeface="Times New Roman" panose="02020603050405020304" pitchFamily="18" charset="0"/>
            </a:endParaRPr>
          </a:p>
          <a:p>
            <a:pPr lvl="0"/>
            <a:r>
              <a:rPr lang="zh-CN" altLang="en-US" dirty="0">
                <a:latin typeface="Times New Roman" panose="02020603050405020304" pitchFamily="18" charset="0"/>
              </a:rPr>
              <a:t>主存地址共</a:t>
            </a:r>
            <a:r>
              <a:rPr lang="en-US" altLang="zh-CN" dirty="0">
                <a:latin typeface="Times New Roman" panose="02020603050405020304" pitchFamily="18" charset="0"/>
              </a:rPr>
              <a:t>20</a:t>
            </a:r>
            <a:r>
              <a:rPr lang="zh-CN" altLang="en-US" dirty="0">
                <a:latin typeface="Times New Roman" panose="02020603050405020304" pitchFamily="18" charset="0"/>
              </a:rPr>
              <a:t>位：</a:t>
            </a:r>
            <a:r>
              <a:rPr lang="en-US" altLang="zh-CN" dirty="0">
                <a:latin typeface="Times New Roman" panose="02020603050405020304" pitchFamily="18" charset="0"/>
              </a:rPr>
              <a:t>7</a:t>
            </a:r>
            <a:r>
              <a:rPr lang="zh-CN" altLang="en-US" dirty="0">
                <a:latin typeface="Times New Roman" panose="02020603050405020304" pitchFamily="18" charset="0"/>
              </a:rPr>
              <a:t>位标志、</a:t>
            </a:r>
            <a:r>
              <a:rPr lang="en-US" altLang="zh-CN" dirty="0">
                <a:latin typeface="Times New Roman" panose="02020603050405020304" pitchFamily="18" charset="0"/>
              </a:rPr>
              <a:t>4</a:t>
            </a:r>
            <a:r>
              <a:rPr lang="zh-CN" altLang="en-US" dirty="0">
                <a:latin typeface="Times New Roman" panose="02020603050405020304" pitchFamily="18" charset="0"/>
              </a:rPr>
              <a:t>位槽号、</a:t>
            </a:r>
            <a:r>
              <a:rPr lang="en-US" altLang="zh-CN" dirty="0">
                <a:latin typeface="Times New Roman" panose="02020603050405020304" pitchFamily="18" charset="0"/>
              </a:rPr>
              <a:t>9</a:t>
            </a:r>
            <a:r>
              <a:rPr lang="zh-CN" altLang="en-US" dirty="0">
                <a:latin typeface="Times New Roman" panose="02020603050405020304" pitchFamily="18" charset="0"/>
              </a:rPr>
              <a:t>位字号。高</a:t>
            </a:r>
            <a:r>
              <a:rPr lang="en-US" altLang="zh-CN" dirty="0">
                <a:latin typeface="Times New Roman" panose="02020603050405020304" pitchFamily="18" charset="0"/>
              </a:rPr>
              <a:t>7</a:t>
            </a:r>
            <a:r>
              <a:rPr lang="zh-CN" altLang="en-US" dirty="0">
                <a:latin typeface="Times New Roman" panose="02020603050405020304" pitchFamily="18" charset="0"/>
              </a:rPr>
              <a:t>位标志表示该地址位于主存哪一个块群。</a:t>
            </a:r>
            <a:endParaRPr lang="en-US" altLang="zh-CN" dirty="0">
              <a:solidFill>
                <a:srgbClr val="006600"/>
              </a:solidFill>
              <a:latin typeface="Times New Roman" panose="02020603050405020304" pitchFamily="18" charset="0"/>
            </a:endParaRPr>
          </a:p>
          <a:p>
            <a:pPr lvl="0"/>
            <a:endParaRPr lang="en-US" altLang="zh-CN" dirty="0">
              <a:latin typeface="Times New Roman" panose="02020603050405020304" pitchFamily="18" charset="0"/>
            </a:endParaRPr>
          </a:p>
          <a:p>
            <a:pPr lvl="0"/>
            <a:r>
              <a:rPr lang="zh-CN" altLang="en-US" dirty="0">
                <a:latin typeface="Times New Roman" panose="02020603050405020304" pitchFamily="18" charset="0"/>
              </a:rPr>
              <a:t>访存过程：</a:t>
            </a:r>
            <a:endParaRPr lang="en-US" altLang="zh-CN" dirty="0">
              <a:latin typeface="Times New Roman" panose="02020603050405020304" pitchFamily="18" charset="0"/>
            </a:endParaRPr>
          </a:p>
          <a:p>
            <a:pPr lvl="0"/>
            <a:r>
              <a:rPr lang="en-US" altLang="zh-CN" dirty="0">
                <a:latin typeface="宋体" panose="02010600030101010101" pitchFamily="2" charset="-122"/>
              </a:rPr>
              <a:t>CPU</a:t>
            </a:r>
            <a:r>
              <a:rPr lang="zh-CN" altLang="en-US" dirty="0">
                <a:latin typeface="宋体" panose="02010600030101010101" pitchFamily="2" charset="-122"/>
              </a:rPr>
              <a:t>给出</a:t>
            </a:r>
            <a:r>
              <a:rPr lang="en-US" altLang="zh-CN" dirty="0">
                <a:latin typeface="宋体" panose="02010600030101010101" pitchFamily="2" charset="-122"/>
              </a:rPr>
              <a:t>20</a:t>
            </a:r>
            <a:r>
              <a:rPr lang="zh-CN" altLang="en-US" dirty="0">
                <a:latin typeface="宋体" panose="02010600030101010101" pitchFamily="2" charset="-122"/>
              </a:rPr>
              <a:t>位主存地址，根据地址中间</a:t>
            </a:r>
            <a:r>
              <a:rPr lang="en-US" altLang="zh-CN" dirty="0">
                <a:latin typeface="宋体" panose="02010600030101010101" pitchFamily="2" charset="-122"/>
              </a:rPr>
              <a:t>4</a:t>
            </a:r>
            <a:r>
              <a:rPr lang="zh-CN" altLang="en-US" dirty="0">
                <a:latin typeface="宋体" panose="02010600030101010101" pitchFamily="2" charset="-122"/>
              </a:rPr>
              <a:t>位找到</a:t>
            </a:r>
            <a:r>
              <a:rPr lang="en-US" altLang="zh-CN" dirty="0">
                <a:latin typeface="宋体" panose="02010600030101010101" pitchFamily="2" charset="-122"/>
              </a:rPr>
              <a:t>Cache</a:t>
            </a:r>
            <a:r>
              <a:rPr lang="zh-CN" altLang="en-US" dirty="0">
                <a:latin typeface="宋体" panose="02010600030101010101" pitchFamily="2" charset="-122"/>
              </a:rPr>
              <a:t>相应的槽，然后取出该槽的标志，与地址中高</a:t>
            </a:r>
            <a:r>
              <a:rPr lang="en-US" altLang="zh-CN" dirty="0">
                <a:latin typeface="宋体" panose="02010600030101010101" pitchFamily="2" charset="-122"/>
              </a:rPr>
              <a:t>7</a:t>
            </a:r>
            <a:r>
              <a:rPr lang="zh-CN" altLang="en-US" dirty="0">
                <a:latin typeface="宋体" panose="02010600030101010101" pitchFamily="2" charset="-122"/>
              </a:rPr>
              <a:t>位进行比较。</a:t>
            </a:r>
            <a:r>
              <a:rPr lang="en-US" altLang="zh-CN" dirty="0">
                <a:latin typeface="宋体" panose="02010600030101010101" pitchFamily="2" charset="-122"/>
              </a:rPr>
              <a:t>  </a:t>
            </a:r>
            <a:r>
              <a:rPr lang="zh-CN" altLang="en-US" dirty="0">
                <a:latin typeface="宋体" panose="02010600030101010101" pitchFamily="2" charset="-122"/>
              </a:rPr>
              <a:t>若相等，则说明该主存单元所在的块在</a:t>
            </a:r>
            <a:r>
              <a:rPr lang="en-US" altLang="zh-CN" dirty="0">
                <a:latin typeface="宋体" panose="02010600030101010101" pitchFamily="2" charset="-122"/>
              </a:rPr>
              <a:t>Cache</a:t>
            </a:r>
            <a:r>
              <a:rPr lang="zh-CN" altLang="en-US" dirty="0">
                <a:latin typeface="宋体" panose="02010600030101010101" pitchFamily="2" charset="-122"/>
              </a:rPr>
              <a:t>中，再根据低</a:t>
            </a:r>
            <a:r>
              <a:rPr lang="en-US" altLang="zh-CN" dirty="0">
                <a:latin typeface="宋体" panose="02010600030101010101" pitchFamily="2" charset="-122"/>
              </a:rPr>
              <a:t>9</a:t>
            </a:r>
            <a:r>
              <a:rPr lang="zh-CN" altLang="en-US" dirty="0">
                <a:latin typeface="宋体" panose="02010600030101010101" pitchFamily="2" charset="-122"/>
              </a:rPr>
              <a:t>位字地址，从</a:t>
            </a:r>
            <a:r>
              <a:rPr lang="en-US" altLang="zh-CN" dirty="0">
                <a:latin typeface="宋体" panose="02010600030101010101" pitchFamily="2" charset="-122"/>
              </a:rPr>
              <a:t>Cache</a:t>
            </a:r>
            <a:r>
              <a:rPr lang="zh-CN" altLang="en-US" dirty="0">
                <a:latin typeface="宋体" panose="02010600030101010101" pitchFamily="2" charset="-122"/>
              </a:rPr>
              <a:t>的这一槽中取出字地址指出的那个单元送</a:t>
            </a:r>
            <a:r>
              <a:rPr lang="en-US" altLang="zh-CN" dirty="0">
                <a:latin typeface="宋体" panose="02010600030101010101" pitchFamily="2" charset="-122"/>
              </a:rPr>
              <a:t>CPU</a:t>
            </a:r>
            <a:r>
              <a:rPr lang="zh-CN" altLang="en-US" dirty="0">
                <a:latin typeface="宋体" panose="02010600030101010101" pitchFamily="2" charset="-122"/>
              </a:rPr>
              <a:t>；若不相等，则说明要访问的主存单元所在的那一块不在主存。此时将主存中该块调入</a:t>
            </a:r>
            <a:r>
              <a:rPr lang="en-US" altLang="zh-CN" dirty="0">
                <a:latin typeface="宋体" panose="02010600030101010101" pitchFamily="2" charset="-122"/>
              </a:rPr>
              <a:t>Cache</a:t>
            </a:r>
            <a:r>
              <a:rPr lang="zh-CN" altLang="en-US" dirty="0">
                <a:latin typeface="宋体" panose="02010600030101010101" pitchFamily="2" charset="-122"/>
              </a:rPr>
              <a:t>对应的槽中</a:t>
            </a:r>
            <a:r>
              <a:rPr lang="en-US" altLang="zh-CN" dirty="0">
                <a:latin typeface="宋体" panose="02010600030101010101" pitchFamily="2" charset="-122"/>
              </a:rPr>
              <a:t>,</a:t>
            </a:r>
            <a:r>
              <a:rPr lang="zh-CN" altLang="en-US" dirty="0">
                <a:latin typeface="宋体" panose="02010600030101010101" pitchFamily="2" charset="-122"/>
              </a:rPr>
              <a:t>并将该单元送</a:t>
            </a:r>
            <a:r>
              <a:rPr lang="en-US" altLang="zh-CN" dirty="0">
                <a:latin typeface="宋体" panose="02010600030101010101" pitchFamily="2" charset="-122"/>
              </a:rPr>
              <a:t>CPU</a:t>
            </a:r>
            <a:r>
              <a:rPr lang="zh-CN" altLang="en-US" dirty="0">
                <a:latin typeface="宋体" panose="02010600030101010101" pitchFamily="2" charset="-122"/>
              </a:rPr>
              <a:t>。</a:t>
            </a:r>
            <a:endParaRPr lang="en-US" altLang="zh-CN" dirty="0">
              <a:latin typeface="宋体" panose="02010600030101010101" pitchFamily="2" charset="-122"/>
            </a:endParaRPr>
          </a:p>
          <a:p>
            <a:pPr lvl="0"/>
            <a:endParaRPr lang="zh-CN" altLang="en-US" dirty="0">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7"/>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48483" name="Rectangle 2"/>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148484" name="Rectangle 3"/>
          <p:cNvSpPr>
            <a:spLocks noGrp="1"/>
          </p:cNvSpPr>
          <p:nvPr>
            <p:ph type="body" idx="1"/>
          </p:nvPr>
        </p:nvSpPr>
        <p:spPr>
          <a:xfrm>
            <a:off x="949325" y="4860925"/>
            <a:ext cx="5205413" cy="4605338"/>
          </a:xfrm>
          <a:noFill/>
          <a:ln>
            <a:noFill/>
          </a:ln>
        </p:spPr>
        <p:txBody>
          <a:bodyPr wrap="square" lIns="99075" tIns="49538" rIns="99075" bIns="49538" anchor="t" anchorCtr="0"/>
          <a:p>
            <a:pPr lvl="0"/>
            <a:r>
              <a:rPr lang="zh-CN" altLang="en-US" dirty="0">
                <a:latin typeface="Times New Roman" panose="02020603050405020304" pitchFamily="18" charset="0"/>
              </a:rPr>
              <a:t>假定</a:t>
            </a:r>
            <a:r>
              <a:rPr lang="en-US" altLang="zh-CN" dirty="0">
                <a:latin typeface="Times New Roman" panose="02020603050405020304" pitchFamily="18" charset="0"/>
              </a:rPr>
              <a:t>Cache</a:t>
            </a:r>
            <a:r>
              <a:rPr lang="zh-CN" altLang="en-US" dirty="0">
                <a:latin typeface="Times New Roman" panose="02020603050405020304" pitchFamily="18" charset="0"/>
              </a:rPr>
              <a:t>的容量为</a:t>
            </a:r>
            <a:r>
              <a:rPr lang="en-US" altLang="zh-CN" dirty="0">
                <a:latin typeface="Times New Roman" panose="02020603050405020304" pitchFamily="18" charset="0"/>
              </a:rPr>
              <a:t>2</a:t>
            </a:r>
            <a:r>
              <a:rPr lang="en-US" altLang="zh-CN" baseline="30000" dirty="0">
                <a:latin typeface="Times New Roman" panose="02020603050405020304" pitchFamily="18" charset="0"/>
              </a:rPr>
              <a:t>N</a:t>
            </a:r>
            <a:r>
              <a:rPr lang="zh-CN" altLang="en-US" dirty="0">
                <a:latin typeface="Times New Roman" panose="02020603050405020304" pitchFamily="18" charset="0"/>
              </a:rPr>
              <a:t>为字节（例中</a:t>
            </a:r>
            <a:r>
              <a:rPr lang="en-US" altLang="zh-CN" dirty="0">
                <a:latin typeface="Times New Roman" panose="02020603050405020304" pitchFamily="18" charset="0"/>
              </a:rPr>
              <a:t>N=10</a:t>
            </a:r>
            <a:r>
              <a:rPr lang="zh-CN" altLang="en-US" dirty="0">
                <a:latin typeface="Times New Roman" panose="02020603050405020304" pitchFamily="18" charset="0"/>
              </a:rPr>
              <a:t>），主存块大小为</a:t>
            </a:r>
            <a:r>
              <a:rPr lang="en-US" altLang="zh-CN" dirty="0">
                <a:latin typeface="Times New Roman" panose="02020603050405020304" pitchFamily="18" charset="0"/>
              </a:rPr>
              <a:t>32</a:t>
            </a:r>
            <a:r>
              <a:rPr lang="zh-CN" altLang="en-US" dirty="0">
                <a:latin typeface="Times New Roman" panose="02020603050405020304" pitchFamily="18" charset="0"/>
              </a:rPr>
              <a:t>字节，主存的容量为</a:t>
            </a:r>
            <a:r>
              <a:rPr lang="en-US" altLang="zh-CN" dirty="0">
                <a:latin typeface="Times New Roman" panose="02020603050405020304" pitchFamily="18" charset="0"/>
              </a:rPr>
              <a:t>2</a:t>
            </a:r>
            <a:r>
              <a:rPr lang="en-US" altLang="zh-CN" baseline="30000" dirty="0">
                <a:latin typeface="Times New Roman" panose="02020603050405020304" pitchFamily="18" charset="0"/>
              </a:rPr>
              <a:t>32</a:t>
            </a:r>
            <a:r>
              <a:rPr lang="zh-CN" altLang="en-US" dirty="0">
                <a:latin typeface="Times New Roman" panose="02020603050405020304" pitchFamily="18" charset="0"/>
              </a:rPr>
              <a:t>字节。那么，</a:t>
            </a:r>
            <a:r>
              <a:rPr lang="en-US" altLang="zh-CN" dirty="0">
                <a:latin typeface="Times New Roman" panose="02020603050405020304" pitchFamily="18" charset="0"/>
              </a:rPr>
              <a:t>32</a:t>
            </a:r>
            <a:r>
              <a:rPr lang="zh-CN" altLang="en-US" dirty="0">
                <a:latin typeface="Times New Roman" panose="02020603050405020304" pitchFamily="18" charset="0"/>
              </a:rPr>
              <a:t>位主存地址的划分应该如下：低</a:t>
            </a:r>
            <a:r>
              <a:rPr lang="en-US" altLang="zh-CN" dirty="0">
                <a:latin typeface="Times New Roman" panose="02020603050405020304" pitchFamily="18" charset="0"/>
              </a:rPr>
              <a:t>5</a:t>
            </a:r>
            <a:r>
              <a:rPr lang="zh-CN" altLang="en-US" dirty="0">
                <a:latin typeface="Times New Roman" panose="02020603050405020304" pitchFamily="18" charset="0"/>
              </a:rPr>
              <a:t>位表示块内字节号，中间</a:t>
            </a:r>
            <a:r>
              <a:rPr lang="en-US" altLang="zh-CN" dirty="0">
                <a:latin typeface="Times New Roman" panose="02020603050405020304" pitchFamily="18" charset="0"/>
              </a:rPr>
              <a:t>5</a:t>
            </a:r>
            <a:r>
              <a:rPr lang="zh-CN" altLang="en-US" dirty="0">
                <a:latin typeface="Times New Roman" panose="02020603050405020304" pitchFamily="18" charset="0"/>
              </a:rPr>
              <a:t>位表示</a:t>
            </a:r>
            <a:r>
              <a:rPr lang="en-US" altLang="zh-CN" dirty="0">
                <a:latin typeface="Times New Roman" panose="02020603050405020304" pitchFamily="18" charset="0"/>
              </a:rPr>
              <a:t>Cache</a:t>
            </a:r>
            <a:r>
              <a:rPr lang="zh-CN" altLang="en-US" dirty="0">
                <a:latin typeface="Times New Roman" panose="02020603050405020304" pitchFamily="18" charset="0"/>
              </a:rPr>
              <a:t>的行（槽）号，高</a:t>
            </a:r>
            <a:r>
              <a:rPr lang="en-US" altLang="zh-CN" dirty="0">
                <a:latin typeface="Times New Roman" panose="02020603050405020304" pitchFamily="18" charset="0"/>
              </a:rPr>
              <a:t>12</a:t>
            </a:r>
            <a:r>
              <a:rPr lang="zh-CN" altLang="en-US" dirty="0">
                <a:latin typeface="Times New Roman" panose="02020603050405020304" pitchFamily="18" charset="0"/>
              </a:rPr>
              <a:t>位表示主存标志。</a:t>
            </a:r>
            <a:endParaRPr lang="zh-CN" altLang="en-US" dirty="0">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Rectangle 7"/>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50531" name="Rectangle 2"/>
          <p:cNvSpPr>
            <a:spLocks noGrp="1" noRot="1" noChangeAspect="1" noTextEdit="1"/>
          </p:cNvSpPr>
          <p:nvPr>
            <p:ph type="sldImg"/>
          </p:nvPr>
        </p:nvSpPr>
        <p:spPr>
          <a:xfrm>
            <a:off x="993775" y="642938"/>
            <a:ext cx="5137150" cy="3852862"/>
          </a:xfrm>
          <a:ln>
            <a:solidFill>
              <a:srgbClr val="000000">
                <a:alpha val="100000"/>
              </a:srgbClr>
            </a:solidFill>
            <a:miter lim="800000"/>
          </a:ln>
        </p:spPr>
      </p:sp>
      <p:sp>
        <p:nvSpPr>
          <p:cNvPr id="150532" name="Rectangle 3"/>
          <p:cNvSpPr>
            <a:spLocks noGrp="1"/>
          </p:cNvSpPr>
          <p:nvPr>
            <p:ph type="body" idx="1"/>
          </p:nvPr>
        </p:nvSpPr>
        <p:spPr>
          <a:xfrm>
            <a:off x="534988" y="4665663"/>
            <a:ext cx="6121400" cy="4800600"/>
          </a:xfrm>
          <a:noFill/>
          <a:ln>
            <a:noFill/>
          </a:ln>
        </p:spPr>
        <p:txBody>
          <a:bodyPr wrap="square" lIns="91509" tIns="45754" rIns="91509" bIns="45754" anchor="t" anchorCtr="0"/>
          <a:p>
            <a:pPr lvl="0"/>
            <a:r>
              <a:rPr lang="en-US" altLang="zh-CN" dirty="0">
                <a:latin typeface="Times New Roman" panose="02020603050405020304" pitchFamily="18" charset="0"/>
              </a:rPr>
              <a:t>Data cache uses 1 byte as the smallest unit but instruction cache uses 1 word as the smallest units</a:t>
            </a:r>
            <a:endParaRPr lang="en-US" altLang="zh-CN" dirty="0">
              <a:latin typeface="Times New Roman" panose="02020603050405020304" pitchFamily="18" charset="0"/>
            </a:endParaRPr>
          </a:p>
          <a:p>
            <a:pPr lvl="0"/>
            <a:endParaRPr lang="en-US" altLang="zh-CN" dirty="0">
              <a:latin typeface="Times New Roman" panose="02020603050405020304" pitchFamily="18" charset="0"/>
            </a:endParaRPr>
          </a:p>
          <a:p>
            <a:pPr lvl="0"/>
            <a:r>
              <a:rPr lang="en-US" altLang="zh-CN" dirty="0">
                <a:latin typeface="Times New Roman" panose="02020603050405020304" pitchFamily="18" charset="0"/>
              </a:rPr>
              <a:t>This is yet another example showing that the byte select is divided into block offset and byte offset. Different computer systems have different designing choice. Designing shown in this example is good for both Instruction cache and data cache.</a:t>
            </a:r>
            <a:endParaRPr lang="en-US" altLang="zh-CN" dirty="0">
              <a:latin typeface="Times New Roman" panose="02020603050405020304" pitchFamily="18" charset="0"/>
            </a:endParaRPr>
          </a:p>
          <a:p>
            <a:pPr lvl="0"/>
            <a:endParaRPr lang="en-US" altLang="zh-CN" dirty="0">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Rectangle 7"/>
          <p:cNvSpPr txBox="1">
            <a:spLocks noGrp="1"/>
          </p:cNvSpPr>
          <p:nvPr>
            <p:ph type="sldNum" sz="quarter"/>
          </p:nvPr>
        </p:nvSpPr>
        <p:spPr>
          <a:xfrm>
            <a:off x="4024313" y="9721850"/>
            <a:ext cx="3078162" cy="511175"/>
          </a:xfrm>
          <a:prstGeom prst="rect">
            <a:avLst/>
          </a:prstGeom>
          <a:noFill/>
          <a:ln w="9525">
            <a:noFill/>
          </a:ln>
        </p:spPr>
        <p:txBody>
          <a:bodyPr lIns="99075" tIns="49538" rIns="99075" bIns="49538" anchor="b" anchorCtr="0"/>
          <a:p>
            <a:pPr lvl="0" algn="r" eaLnBrk="1" hangingPunct="1">
              <a:spcBef>
                <a:spcPct val="0"/>
              </a:spcBef>
            </a:pPr>
            <a:fld id="{9A0DB2DC-4C9A-4742-B13C-FB6460FD3503}" type="slidenum">
              <a:rPr lang="en-US" altLang="zh-CN" sz="1300" dirty="0">
                <a:latin typeface="Arial" panose="020B0604020202020204" pitchFamily="34" charset="0"/>
              </a:rPr>
            </a:fld>
            <a:endParaRPr lang="en-US" altLang="zh-CN" sz="1300" dirty="0">
              <a:latin typeface="Arial" panose="020B0604020202020204" pitchFamily="34" charset="0"/>
            </a:endParaRPr>
          </a:p>
        </p:txBody>
      </p:sp>
      <p:sp>
        <p:nvSpPr>
          <p:cNvPr id="154627" name="Rectangle 2"/>
          <p:cNvSpPr>
            <a:spLocks noGrp="1" noRot="1" noChangeAspect="1" noTextEdit="1"/>
          </p:cNvSpPr>
          <p:nvPr>
            <p:ph type="sldImg"/>
          </p:nvPr>
        </p:nvSpPr>
        <p:spPr>
          <a:xfrm>
            <a:off x="995363" y="768350"/>
            <a:ext cx="5113337" cy="3836988"/>
          </a:xfrm>
          <a:ln>
            <a:solidFill>
              <a:srgbClr val="000000">
                <a:alpha val="100000"/>
              </a:srgbClr>
            </a:solidFill>
            <a:miter lim="800000"/>
          </a:ln>
        </p:spPr>
      </p:sp>
      <p:sp>
        <p:nvSpPr>
          <p:cNvPr id="154628" name="Rectangle 3"/>
          <p:cNvSpPr>
            <a:spLocks noGrp="1"/>
          </p:cNvSpPr>
          <p:nvPr>
            <p:ph type="body" idx="1"/>
          </p:nvPr>
        </p:nvSpPr>
        <p:spPr>
          <a:xfrm>
            <a:off x="949325" y="4860925"/>
            <a:ext cx="5205413" cy="4605338"/>
          </a:xfrm>
          <a:noFill/>
          <a:ln>
            <a:noFill/>
          </a:ln>
        </p:spPr>
        <p:txBody>
          <a:bodyPr wrap="square" lIns="99075" tIns="49538" rIns="99075" bIns="49538" anchor="t" anchorCtr="0"/>
          <a:p>
            <a:pPr lvl="0"/>
            <a:r>
              <a:rPr lang="zh-CN" altLang="en-US" dirty="0">
                <a:latin typeface="Times New Roman" panose="02020603050405020304" pitchFamily="18" charset="0"/>
              </a:rPr>
              <a:t>访存过程：</a:t>
            </a:r>
            <a:endParaRPr lang="en-US" altLang="zh-CN" dirty="0">
              <a:latin typeface="Times New Roman" panose="02020603050405020304" pitchFamily="18" charset="0"/>
            </a:endParaRPr>
          </a:p>
          <a:p>
            <a:pPr lvl="1"/>
            <a:r>
              <a:rPr lang="en-US" altLang="zh-CN" dirty="0">
                <a:latin typeface="华文新魏" pitchFamily="2" charset="-122"/>
                <a:ea typeface="华文新魏" pitchFamily="2" charset="-122"/>
              </a:rPr>
              <a:t>           </a:t>
            </a:r>
            <a:r>
              <a:rPr lang="en-US" altLang="zh-CN" dirty="0">
                <a:latin typeface="宋体" panose="02010600030101010101" pitchFamily="2" charset="-122"/>
              </a:rPr>
              <a:t>CPU</a:t>
            </a:r>
            <a:r>
              <a:rPr lang="zh-CN" altLang="en-US" dirty="0">
                <a:latin typeface="宋体" panose="02010600030101010101" pitchFamily="2" charset="-122"/>
              </a:rPr>
              <a:t>给出一个</a:t>
            </a:r>
            <a:r>
              <a:rPr lang="en-US" altLang="zh-CN" dirty="0">
                <a:latin typeface="宋体" panose="02010600030101010101" pitchFamily="2" charset="-122"/>
              </a:rPr>
              <a:t>20</a:t>
            </a:r>
            <a:r>
              <a:rPr lang="zh-CN" altLang="en-US" dirty="0">
                <a:latin typeface="宋体" panose="02010600030101010101" pitchFamily="2" charset="-122"/>
              </a:rPr>
              <a:t>位主存地址，根据中间</a:t>
            </a:r>
            <a:r>
              <a:rPr lang="en-US" altLang="zh-CN" dirty="0">
                <a:latin typeface="宋体" panose="02010600030101010101" pitchFamily="2" charset="-122"/>
              </a:rPr>
              <a:t>3</a:t>
            </a:r>
            <a:r>
              <a:rPr lang="zh-CN" altLang="en-US" dirty="0">
                <a:latin typeface="宋体" panose="02010600030101010101" pitchFamily="2" charset="-122"/>
              </a:rPr>
              <a:t>位的内容找到对应的</a:t>
            </a:r>
            <a:r>
              <a:rPr lang="en-US" altLang="zh-CN" dirty="0">
                <a:latin typeface="宋体" panose="02010600030101010101" pitchFamily="2" charset="-122"/>
              </a:rPr>
              <a:t>Cache</a:t>
            </a:r>
            <a:r>
              <a:rPr lang="zh-CN" altLang="en-US" dirty="0">
                <a:latin typeface="宋体" panose="02010600030101010101" pitchFamily="2" charset="-122"/>
              </a:rPr>
              <a:t>组，再将前</a:t>
            </a:r>
            <a:r>
              <a:rPr lang="en-US" altLang="zh-CN" dirty="0">
                <a:latin typeface="宋体" panose="02010600030101010101" pitchFamily="2" charset="-122"/>
              </a:rPr>
              <a:t>8</a:t>
            </a:r>
            <a:r>
              <a:rPr lang="zh-CN" altLang="en-US" dirty="0">
                <a:latin typeface="宋体" panose="02010600030101010101" pitchFamily="2" charset="-122"/>
              </a:rPr>
              <a:t>位同时与该组中各槽的标志位进行比较。</a:t>
            </a:r>
            <a:endParaRPr lang="en-US" altLang="zh-CN" dirty="0">
              <a:latin typeface="宋体" panose="02010600030101010101" pitchFamily="2" charset="-122"/>
            </a:endParaRPr>
          </a:p>
          <a:p>
            <a:pPr lvl="1"/>
            <a:r>
              <a:rPr lang="en-US" altLang="zh-CN" dirty="0">
                <a:latin typeface="宋体" panose="02010600030101010101" pitchFamily="2" charset="-122"/>
              </a:rPr>
              <a:t>     </a:t>
            </a:r>
            <a:r>
              <a:rPr lang="zh-CN" altLang="en-US" dirty="0">
                <a:latin typeface="宋体" panose="02010600030101010101" pitchFamily="2" charset="-122"/>
              </a:rPr>
              <a:t>若能找到相等的槽，则说明要访问的单元在该槽中。再根据后</a:t>
            </a:r>
            <a:r>
              <a:rPr lang="en-US" altLang="zh-CN" dirty="0">
                <a:latin typeface="宋体" panose="02010600030101010101" pitchFamily="2" charset="-122"/>
              </a:rPr>
              <a:t>9</a:t>
            </a:r>
            <a:r>
              <a:rPr lang="zh-CN" altLang="en-US" dirty="0">
                <a:latin typeface="宋体" panose="02010600030101010101" pitchFamily="2" charset="-122"/>
              </a:rPr>
              <a:t>位字号找到相应的字取到</a:t>
            </a:r>
            <a:r>
              <a:rPr lang="en-US" altLang="zh-CN" dirty="0">
                <a:latin typeface="宋体" panose="02010600030101010101" pitchFamily="2" charset="-122"/>
              </a:rPr>
              <a:t>CPU</a:t>
            </a:r>
            <a:r>
              <a:rPr lang="zh-CN" altLang="en-US" dirty="0">
                <a:latin typeface="宋体" panose="02010600030101010101" pitchFamily="2" charset="-122"/>
              </a:rPr>
              <a:t>中。</a:t>
            </a:r>
            <a:endParaRPr lang="en-US" altLang="zh-CN" dirty="0">
              <a:latin typeface="宋体" panose="02010600030101010101" pitchFamily="2" charset="-122"/>
            </a:endParaRPr>
          </a:p>
          <a:p>
            <a:pPr lvl="1"/>
            <a:r>
              <a:rPr lang="en-US" altLang="zh-CN" dirty="0">
                <a:latin typeface="宋体" panose="02010600030101010101" pitchFamily="2" charset="-122"/>
              </a:rPr>
              <a:t>     </a:t>
            </a:r>
            <a:r>
              <a:rPr lang="zh-CN" altLang="en-US" dirty="0">
                <a:latin typeface="宋体" panose="02010600030101010101" pitchFamily="2" charset="-122"/>
              </a:rPr>
              <a:t>若全都不相等，则说明要访问的单元不在该组中。</a:t>
            </a:r>
            <a:endParaRPr lang="en-US" altLang="zh-CN" dirty="0">
              <a:latin typeface="宋体" panose="02010600030101010101" pitchFamily="2" charset="-122"/>
            </a:endParaRPr>
          </a:p>
          <a:p>
            <a:pPr lvl="0"/>
            <a:endParaRPr lang="zh-CN" altLang="en-US" dirty="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2"/>
          <p:cNvGrpSpPr/>
          <p:nvPr/>
        </p:nvGrpSpPr>
        <p:grpSpPr>
          <a:xfrm>
            <a:off x="0" y="0"/>
            <a:ext cx="9144000" cy="6858000"/>
            <a:chOff x="0" y="0"/>
            <a:chExt cx="5760" cy="4320"/>
          </a:xfrm>
        </p:grpSpPr>
        <p:sp>
          <p:nvSpPr>
            <p:cNvPr id="19"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2057" name="Group 5"/>
            <p:cNvGrpSpPr/>
            <p:nvPr/>
          </p:nvGrpSpPr>
          <p:grpSpPr>
            <a:xfrm>
              <a:off x="0" y="672"/>
              <a:ext cx="1806" cy="1989"/>
              <a:chOff x="0" y="672"/>
              <a:chExt cx="1806" cy="1989"/>
            </a:xfrm>
          </p:grpSpPr>
          <p:sp>
            <p:nvSpPr>
              <p:cNvPr id="22" name="Rectangle 6"/>
              <p:cNvSpPr>
                <a:spLocks noChangeArrowheads="1"/>
              </p:cNvSpPr>
              <p:nvPr/>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7"/>
              <p:cNvSpPr>
                <a:spLocks noChangeArrowheads="1"/>
              </p:cNvSpPr>
              <p:nvPr/>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4" name="Rectangle 8"/>
              <p:cNvSpPr>
                <a:spLocks noChangeArrowheads="1"/>
              </p:cNvSpPr>
              <p:nvPr/>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5" name="Rectangle 9"/>
              <p:cNvSpPr>
                <a:spLocks noChangeArrowheads="1"/>
              </p:cNvSpPr>
              <p:nvPr/>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 name="Rectangle 10"/>
              <p:cNvSpPr>
                <a:spLocks noChangeArrowheads="1"/>
              </p:cNvSpPr>
              <p:nvPr/>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1"/>
              <p:cNvSpPr>
                <a:spLocks noChangeArrowheads="1"/>
              </p:cNvSpPr>
              <p:nvPr/>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8" name="Rectangle 12"/>
              <p:cNvSpPr>
                <a:spLocks noChangeArrowheads="1"/>
              </p:cNvSpPr>
              <p:nvPr/>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 name="Rectangle 13"/>
              <p:cNvSpPr>
                <a:spLocks noChangeArrowheads="1"/>
              </p:cNvSpPr>
              <p:nvPr/>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 name="Rectangle 14"/>
              <p:cNvSpPr>
                <a:spLocks noChangeArrowheads="1"/>
              </p:cNvSpPr>
              <p:nvPr/>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1" name="Rectangle 15"/>
              <p:cNvSpPr>
                <a:spLocks noChangeArrowheads="1"/>
              </p:cNvSpPr>
              <p:nvPr/>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sp>
        <p:nvSpPr>
          <p:cNvPr id="1537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r>
              <a:rPr lang="zh-CN" altLang="en-US"/>
              <a:t>单击此处编辑母版标题样式</a:t>
            </a:r>
            <a:endParaRPr lang="zh-CN" altLang="en-US"/>
          </a:p>
        </p:txBody>
      </p:sp>
      <p:sp>
        <p:nvSpPr>
          <p:cNvPr id="32" name="Rectangle 16"/>
          <p:cNvSpPr>
            <a:spLocks noGrp="1" noChangeArrowheads="1"/>
          </p:cNvSpPr>
          <p:nvPr>
            <p:ph type="dt" sz="half" idx="2"/>
          </p:nvPr>
        </p:nvSpPr>
        <p:spPr>
          <a:xfrm>
            <a:off x="3635375" y="6237288"/>
            <a:ext cx="2133600" cy="457200"/>
          </a:xfrm>
          <a:prstGeom prst="rect">
            <a:avLst/>
          </a:prstGeom>
        </p:spPr>
        <p:txBody>
          <a:bodyPr/>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3" name="Rectangle 17"/>
          <p:cNvSpPr>
            <a:spLocks noGrp="1" noChangeArrowheads="1"/>
          </p:cNvSpPr>
          <p:nvPr>
            <p:ph type="ftr" sz="quarter" idx="3"/>
          </p:nvPr>
        </p:nvSpPr>
        <p:spPr>
          <a:xfrm>
            <a:off x="5940425" y="6237288"/>
            <a:ext cx="2895600" cy="457200"/>
          </a:xfrm>
          <a:prstGeom prst="rect">
            <a:avLst/>
          </a:prstGeom>
        </p:spPr>
        <p:txBody>
          <a:bodyPr/>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40386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1" lang="zh-CN" altLang="en-US" sz="3200" b="0" i="0" u="none" strike="noStrike" kern="0" cap="none" spc="0" normalizeH="0" baseline="0" noProof="0" smtClean="0">
              <a:ln>
                <a:noFill/>
              </a:ln>
              <a:solidFill>
                <a:schemeClr val="tx1"/>
              </a:solidFill>
              <a:effectLst/>
              <a:uLnTx/>
              <a:uFillTx/>
              <a:latin typeface="+mn-lt"/>
              <a:ea typeface="+mn-ea"/>
              <a:cs typeface="宋体" panose="02010600030101010101" pitchFamily="2" charset="-122"/>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bg>
      <p:bgPr>
        <a:solidFill>
          <a:schemeClr val="bg1"/>
        </a:solidFill>
        <a:effectLst/>
      </p:bgPr>
    </p:bg>
    <p:spTree>
      <p:nvGrpSpPr>
        <p:cNvPr id="1" name=""/>
        <p:cNvGrpSpPr/>
        <p:nvPr/>
      </p:nvGrpSpPr>
      <p:grpSpPr>
        <a:xfrm>
          <a:off x="0" y="0"/>
          <a:ext cx="0" cy="0"/>
          <a:chOff x="0" y="0"/>
          <a:chExt cx="0" cy="0"/>
        </a:xfrm>
      </p:grpSpPr>
      <p:graphicFrame>
        <p:nvGraphicFramePr>
          <p:cNvPr id="3074"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78" name="" r:id="rId2" imgW="8534400" imgH="6794500" progId="Photoshop.Image.7">
                  <p:embed/>
                </p:oleObj>
              </mc:Choice>
              <mc:Fallback>
                <p:oleObj name="" r:id="rId2" imgW="8534400" imgH="6794500" progId="Photoshop.Image.7">
                  <p:embed/>
                  <p:pic>
                    <p:nvPicPr>
                      <p:cNvPr id="0" name="图片 3077"/>
                      <p:cNvPicPr/>
                      <p:nvPr/>
                    </p:nvPicPr>
                    <p:blipFill>
                      <a:blip r:embed="rId3"/>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3075" name="Group 4"/>
          <p:cNvGrpSpPr/>
          <p:nvPr/>
        </p:nvGrpSpPr>
        <p:grpSpPr>
          <a:xfrm>
            <a:off x="0" y="0"/>
            <a:ext cx="9144000" cy="546100"/>
            <a:chOff x="0" y="0"/>
            <a:chExt cx="5760" cy="344"/>
          </a:xfrm>
        </p:grpSpPr>
        <p:sp>
          <p:nvSpPr>
            <p:cNvPr id="20"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3"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4"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5"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6"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8"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29" name="Line 5"/>
          <p:cNvSpPr>
            <a:spLocks noChangeShapeType="1"/>
          </p:cNvSpPr>
          <p:nvPr/>
        </p:nvSpPr>
        <p:spPr bwMode="ltGray">
          <a:xfrm>
            <a:off x="468313" y="6429375"/>
            <a:ext cx="8351838" cy="1588"/>
          </a:xfrm>
          <a:prstGeom prst="line">
            <a:avLst/>
          </a:prstGeom>
          <a:noFill/>
          <a:ln w="9525">
            <a:solidFill>
              <a:schemeClr val="bg2">
                <a:lumMod val="40000"/>
                <a:lumOff val="60000"/>
              </a:schemeClr>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 name="Rectangle 10"/>
          <p:cNvSpPr>
            <a:spLocks noChangeArrowheads="1"/>
          </p:cNvSpPr>
          <p:nvPr/>
        </p:nvSpPr>
        <p:spPr bwMode="auto">
          <a:xfrm>
            <a:off x="642938" y="6521450"/>
            <a:ext cx="64563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smtClean="0">
                <a:ln>
                  <a:noFill/>
                </a:ln>
                <a:solidFill>
                  <a:srgbClr val="6565FF"/>
                </a:solidFill>
                <a:effectLst/>
                <a:uLnTx/>
                <a:uFillTx/>
                <a:latin typeface="Arial" panose="020B0604020202020204" pitchFamily="34" charset="0"/>
                <a:ea typeface="宋体" panose="02010600030101010101" pitchFamily="2" charset="-122"/>
                <a:cs typeface="+mn-cs"/>
              </a:rPr>
              <a:t>裴颂伟</a:t>
            </a:r>
            <a:r>
              <a:rPr kumimoji="0" lang="en-US" altLang="zh-CN" sz="1400" b="0" i="0" u="none" strike="noStrike" kern="1200" cap="none" spc="0" normalizeH="0" baseline="0" noProof="0" smtClean="0">
                <a:ln>
                  <a:noFill/>
                </a:ln>
                <a:solidFill>
                  <a:srgbClr val="6565FF"/>
                </a:solidFill>
                <a:effectLst/>
                <a:uLnTx/>
                <a:uFillTx/>
                <a:latin typeface="Arial" panose="020B0604020202020204" pitchFamily="34" charset="0"/>
                <a:ea typeface="宋体" panose="02010600030101010101" pitchFamily="2" charset="-122"/>
                <a:cs typeface="+mn-cs"/>
              </a:rPr>
              <a:t>-</a:t>
            </a:r>
            <a:fld id="{74EFFA0E-3DB4-459F-9763-D4763CF84751}" type="datetime3">
              <a:rPr kumimoji="0" lang="zh-CN" altLang="en-US" sz="1400" b="0" i="0" u="none" strike="noStrike" kern="1200" cap="none" spc="0" normalizeH="0" baseline="0" noProof="0" smtClean="0">
                <a:ln>
                  <a:noFill/>
                </a:ln>
                <a:solidFill>
                  <a:srgbClr val="6565FF"/>
                </a:solidFill>
                <a:effectLst/>
                <a:uLnTx/>
                <a:uFillTx/>
                <a:latin typeface="Arial" panose="020B0604020202020204" pitchFamily="34" charset="0"/>
                <a:ea typeface="宋体" panose="02010600030101010101" pitchFamily="2" charset="-122"/>
                <a:cs typeface="+mn-cs"/>
              </a:rPr>
            </a:fld>
            <a:r>
              <a:rPr kumimoji="0" lang="en-US" altLang="zh-CN" sz="1400" b="0" i="0" u="none" strike="noStrike" kern="1200" cap="none" spc="0" normalizeH="0" baseline="0" noProof="0" smtClean="0">
                <a:ln>
                  <a:noFill/>
                </a:ln>
                <a:solidFill>
                  <a:srgbClr val="6565FF"/>
                </a:solidFill>
                <a:effectLst/>
                <a:uLnTx/>
                <a:uFillTx/>
                <a:latin typeface="Arial" panose="020B0604020202020204" pitchFamily="34" charset="0"/>
                <a:ea typeface="宋体" panose="02010600030101010101" pitchFamily="2" charset="-122"/>
                <a:cs typeface="+mn-cs"/>
              </a:rPr>
              <a:t>                                 </a:t>
            </a:r>
            <a:r>
              <a:rPr kumimoji="0" lang="zh-CN" altLang="en-US" sz="1400" b="0" i="0" u="none" strike="noStrike" kern="1200" cap="none" spc="0" normalizeH="0" baseline="0" noProof="0" smtClean="0">
                <a:ln>
                  <a:noFill/>
                </a:ln>
                <a:solidFill>
                  <a:srgbClr val="6565FF"/>
                </a:solidFill>
                <a:effectLst/>
                <a:uLnTx/>
                <a:uFillTx/>
                <a:latin typeface="Gulim" pitchFamily="34" charset="-127"/>
                <a:ea typeface="宋体" panose="02010600030101010101" pitchFamily="2" charset="-122"/>
                <a:cs typeface="+mn-cs"/>
              </a:rPr>
              <a:t>计算机组成原理</a:t>
            </a:r>
            <a:endParaRPr kumimoji="0" lang="zh-CN" altLang="en-US" sz="1400" b="0" i="0" u="none" strike="noStrike" kern="1200" cap="none" spc="0" normalizeH="0" baseline="0" noProof="0" smtClean="0">
              <a:ln>
                <a:noFill/>
              </a:ln>
              <a:solidFill>
                <a:srgbClr val="6565FF"/>
              </a:solidFill>
              <a:effectLst/>
              <a:uLnTx/>
              <a:uFillTx/>
              <a:latin typeface="Gulim" pitchFamily="34" charset="-127"/>
              <a:ea typeface="宋体" panose="02010600030101010101" pitchFamily="2" charset="-122"/>
              <a:cs typeface="+mn-cs"/>
            </a:endParaRPr>
          </a:p>
        </p:txBody>
      </p:sp>
      <p:sp>
        <p:nvSpPr>
          <p:cNvPr id="31" name="Text Box 11"/>
          <p:cNvSpPr txBox="1">
            <a:spLocks noChangeArrowheads="1"/>
          </p:cNvSpPr>
          <p:nvPr/>
        </p:nvSpPr>
        <p:spPr bwMode="auto">
          <a:xfrm>
            <a:off x="6500813" y="6450013"/>
            <a:ext cx="2374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F830ADF6-B921-487D-8B73-81A7BDE3FC7C}" type="slidenum">
              <a:rPr kumimoji="0" lang="en-US" altLang="zh-CN" sz="1600" b="0" i="0" u="none" strike="noStrike" kern="1200" cap="none" spc="0" normalizeH="0" baseline="0" noProof="0" smtClean="0">
                <a:ln>
                  <a:noFill/>
                </a:ln>
                <a:solidFill>
                  <a:srgbClr val="6565FF"/>
                </a:solidFill>
                <a:effectLst/>
                <a:uLnTx/>
                <a:uFillTx/>
                <a:latin typeface="Arial" panose="020B0604020202020204" pitchFamily="34" charset="0"/>
                <a:ea typeface="宋体" panose="02010600030101010101" pitchFamily="2" charset="-122"/>
                <a:cs typeface="+mn-cs"/>
              </a:rPr>
            </a:fld>
            <a:r>
              <a:rPr kumimoji="0" lang="en-US" altLang="zh-CN" sz="1600" b="0" i="0" u="none" strike="noStrike" kern="1200" cap="none" spc="0" normalizeH="0" baseline="0" noProof="0" smtClean="0">
                <a:ln>
                  <a:noFill/>
                </a:ln>
                <a:solidFill>
                  <a:srgbClr val="6565FF"/>
                </a:solidFill>
                <a:effectLst/>
                <a:uLnTx/>
                <a:uFillTx/>
                <a:latin typeface="Arial" panose="020B0604020202020204" pitchFamily="34" charset="0"/>
                <a:ea typeface="宋体" panose="02010600030101010101" pitchFamily="2" charset="-122"/>
                <a:cs typeface="+mn-cs"/>
              </a:rPr>
              <a:t>/205</a:t>
            </a:r>
            <a:endParaRPr kumimoji="0" lang="en-US" altLang="zh-CN" sz="1600" b="0" i="0" u="none" strike="noStrike" kern="1200" cap="none" spc="0" normalizeH="0" baseline="0" noProof="0" smtClean="0">
              <a:ln>
                <a:noFill/>
              </a:ln>
              <a:solidFill>
                <a:srgbClr val="6565FF"/>
              </a:solidFill>
              <a:effectLst/>
              <a:uLnTx/>
              <a:uFillTx/>
              <a:latin typeface="Arial" panose="020B0604020202020204" pitchFamily="34" charset="0"/>
              <a:ea typeface="宋体" panose="02010600030101010101" pitchFamily="2" charset="-122"/>
              <a:cs typeface="+mn-cs"/>
            </a:endParaRPr>
          </a:p>
        </p:txBody>
      </p:sp>
      <p:sp>
        <p:nvSpPr>
          <p:cNvPr id="32" name="Line 5"/>
          <p:cNvSpPr>
            <a:spLocks noChangeShapeType="1"/>
          </p:cNvSpPr>
          <p:nvPr/>
        </p:nvSpPr>
        <p:spPr bwMode="ltGray">
          <a:xfrm>
            <a:off x="-746125" y="3162300"/>
            <a:ext cx="8351838" cy="1588"/>
          </a:xfrm>
          <a:prstGeom prst="line">
            <a:avLst/>
          </a:prstGeom>
          <a:noFill/>
          <a:ln w="9525">
            <a:solidFill>
              <a:schemeClr val="bg2">
                <a:lumMod val="40000"/>
                <a:lumOff val="60000"/>
              </a:schemeClr>
            </a:solidFill>
            <a:roun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竖排标题 1"/>
          <p:cNvSpPr>
            <a:spLocks noGrp="1"/>
          </p:cNvSpPr>
          <p:nvPr>
            <p:ph type="title" orient="vert"/>
          </p:nvPr>
        </p:nvSpPr>
        <p:spPr>
          <a:xfrm>
            <a:off x="6629400" y="457200"/>
            <a:ext cx="2057400" cy="5410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showMasterSp="0">
  <p:cSld name="标题，文本与内容">
    <p:bg>
      <p:bgPr>
        <a:solidFill>
          <a:schemeClr val="bg1"/>
        </a:solidFill>
        <a:effectLst/>
      </p:bgPr>
    </p:bg>
    <p:spTree>
      <p:nvGrpSpPr>
        <p:cNvPr id="1" name=""/>
        <p:cNvGrpSpPr/>
        <p:nvPr/>
      </p:nvGrpSpPr>
      <p:grpSpPr>
        <a:xfrm>
          <a:off x="0" y="0"/>
          <a:ext cx="0" cy="0"/>
          <a:chOff x="0" y="0"/>
          <a:chExt cx="0" cy="0"/>
        </a:xfrm>
      </p:grpSpPr>
      <p:graphicFrame>
        <p:nvGraphicFramePr>
          <p:cNvPr id="4098"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77" name="" r:id="rId2" imgW="8534400" imgH="6794500" progId="Photoshop.Image.7">
                  <p:embed/>
                </p:oleObj>
              </mc:Choice>
              <mc:Fallback>
                <p:oleObj name="" r:id="rId2" imgW="8534400" imgH="6794500" progId="Photoshop.Image.7">
                  <p:embed/>
                  <p:pic>
                    <p:nvPicPr>
                      <p:cNvPr id="0" name="图片 3076"/>
                      <p:cNvPicPr/>
                      <p:nvPr/>
                    </p:nvPicPr>
                    <p:blipFill>
                      <a:blip r:embed="rId3"/>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4099" name="Group 4"/>
          <p:cNvGrpSpPr/>
          <p:nvPr/>
        </p:nvGrpSpPr>
        <p:grpSpPr>
          <a:xfrm>
            <a:off x="0" y="0"/>
            <a:ext cx="9144000" cy="546100"/>
            <a:chOff x="0" y="0"/>
            <a:chExt cx="5760" cy="344"/>
          </a:xfrm>
        </p:grpSpPr>
        <p:sp>
          <p:nvSpPr>
            <p:cNvPr id="20"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3"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4"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5"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26"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7"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28"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4100" name="Line 5"/>
          <p:cNvSpPr/>
          <p:nvPr userDrawn="1"/>
        </p:nvSpPr>
        <p:spPr>
          <a:xfrm>
            <a:off x="468313" y="6429375"/>
            <a:ext cx="8351837" cy="1588"/>
          </a:xfrm>
          <a:prstGeom prst="line">
            <a:avLst/>
          </a:prstGeom>
          <a:ln w="9525" cap="flat" cmpd="sng">
            <a:solidFill>
              <a:srgbClr val="0078CD"/>
            </a:solidFill>
            <a:prstDash val="solid"/>
            <a:headEnd type="none" w="med" len="med"/>
            <a:tailEnd type="none" w="med" len="med"/>
          </a:ln>
        </p:spPr>
      </p:sp>
      <p:sp>
        <p:nvSpPr>
          <p:cNvPr id="30" name="Rectangle 10"/>
          <p:cNvSpPr>
            <a:spLocks noChangeArrowheads="1"/>
          </p:cNvSpPr>
          <p:nvPr/>
        </p:nvSpPr>
        <p:spPr bwMode="auto">
          <a:xfrm>
            <a:off x="642938" y="6521450"/>
            <a:ext cx="64563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t>裴颂伟</a:t>
            </a:r>
            <a:r>
              <a:rPr kumimoji="0" lang="en-US" altLang="zh-CN" sz="14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t>-</a:t>
            </a:r>
            <a:fld id="{2F48A137-746E-4DF7-B6AD-99B7D57206EE}" type="datetime3">
              <a:rPr kumimoji="0" lang="zh-CN" altLang="en-US" sz="14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fld>
            <a:r>
              <a:rPr kumimoji="0" lang="en-US" altLang="zh-CN" sz="14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t>                                </a:t>
            </a:r>
            <a:r>
              <a:rPr kumimoji="0" lang="zh-CN" altLang="en-US" sz="1400" b="0" i="0" u="none" strike="noStrike" kern="1200" cap="none" spc="0" normalizeH="0" baseline="0" noProof="0" smtClean="0">
                <a:ln>
                  <a:noFill/>
                </a:ln>
                <a:solidFill>
                  <a:srgbClr val="0072C1"/>
                </a:solidFill>
                <a:effectLst/>
                <a:uLnTx/>
                <a:uFillTx/>
                <a:latin typeface="Gulim" pitchFamily="34" charset="-127"/>
                <a:ea typeface="宋体" panose="02010600030101010101" pitchFamily="2" charset="-122"/>
                <a:cs typeface="+mn-cs"/>
              </a:rPr>
              <a:t>计算机组成原理</a:t>
            </a:r>
            <a:endParaRPr kumimoji="0" lang="zh-CN" altLang="en-US" sz="1400" b="0" i="0" u="none" strike="noStrike" kern="1200" cap="none" spc="0" normalizeH="0" baseline="0" noProof="0" smtClean="0">
              <a:ln>
                <a:noFill/>
              </a:ln>
              <a:solidFill>
                <a:srgbClr val="0072C1"/>
              </a:solidFill>
              <a:effectLst/>
              <a:uLnTx/>
              <a:uFillTx/>
              <a:latin typeface="Gulim" pitchFamily="34" charset="-127"/>
              <a:ea typeface="宋体" panose="02010600030101010101" pitchFamily="2" charset="-122"/>
              <a:cs typeface="+mn-cs"/>
            </a:endParaRPr>
          </a:p>
        </p:txBody>
      </p:sp>
      <p:sp>
        <p:nvSpPr>
          <p:cNvPr id="2" name="标题 1"/>
          <p:cNvSpPr>
            <a:spLocks noGrp="1"/>
          </p:cNvSpPr>
          <p:nvPr>
            <p:ph type="title"/>
          </p:nvPr>
        </p:nvSpPr>
        <p:spPr>
          <a:xfrm>
            <a:off x="468313" y="122238"/>
            <a:ext cx="7532687" cy="785812"/>
          </a:xfrm>
        </p:spPr>
        <p:txBody>
          <a:bodyPr/>
          <a:lstStyle/>
          <a:p>
            <a:r>
              <a:rPr lang="zh-CN" altLang="en-US" dirty="0" smtClean="0"/>
              <a:t>单击此处编辑母版标题样式</a:t>
            </a:r>
            <a:endParaRPr lang="zh-CN" altLang="en-US" dirty="0"/>
          </a:p>
        </p:txBody>
      </p:sp>
      <p:sp>
        <p:nvSpPr>
          <p:cNvPr id="3" name="文本占位符 2"/>
          <p:cNvSpPr>
            <a:spLocks noGrp="1"/>
          </p:cNvSpPr>
          <p:nvPr>
            <p:ph type="body" sz="half" idx="1"/>
          </p:nvPr>
        </p:nvSpPr>
        <p:spPr>
          <a:xfrm>
            <a:off x="457200" y="1268413"/>
            <a:ext cx="4038600" cy="49688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268413"/>
            <a:ext cx="4038600" cy="49688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1" name="页脚占位符 5"/>
          <p:cNvSpPr>
            <a:spLocks noGrp="1"/>
          </p:cNvSpPr>
          <p:nvPr>
            <p:ph type="ftr" sz="quarter" idx="3"/>
          </p:nvPr>
        </p:nvSpPr>
        <p:spPr>
          <a:xfrm>
            <a:off x="3124200" y="6248400"/>
            <a:ext cx="2895600" cy="457200"/>
          </a:xfrm>
          <a:prstGeom prst="rect">
            <a:avLst/>
          </a:prstGeom>
        </p:spPr>
        <p:txBody>
          <a:bodyPr/>
          <a:lstStyle>
            <a:lvl1pPr eaLnBrk="1" hangingPunct="1">
              <a:defRPr>
                <a:latin typeface="Arial" panose="020B0604020202020204" pitchFamily="34" charset="0"/>
                <a:ea typeface="宋体" panose="02010600030101010101" pitchFamily="2" charset="-122"/>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a:t>单击此处编辑母版标题样式</a:t>
            </a:r>
            <a:endParaRPr lang="zh-CN" altLang="en-US"/>
          </a:p>
        </p:txBody>
      </p:sp>
      <p:sp>
        <p:nvSpPr>
          <p:cNvPr id="3" name="图表占位符 2"/>
          <p:cNvSpPr>
            <a:spLocks noGrp="1"/>
          </p:cNvSpPr>
          <p:nvPr>
            <p:ph type="chart" idx="1" hasCustomPrompt="1"/>
          </p:nvPr>
        </p:nvSpPr>
        <p:spPr>
          <a:xfrm>
            <a:off x="179388" y="981075"/>
            <a:ext cx="8785225" cy="5400675"/>
          </a:xfrm>
        </p:spPr>
        <p:txBody>
          <a:bodyPr/>
          <a:lstStyle/>
          <a:p>
            <a:pPr lvl="0"/>
            <a:r>
              <a:rPr lang="zh-CN" altLang="en-US" noProof="0"/>
              <a:t>单击图标添加图表</a:t>
            </a:r>
            <a:endParaRPr lang="zh-CN" altLang="en-US" noProof="0"/>
          </a:p>
        </p:txBody>
      </p:sp>
      <p:sp>
        <p:nvSpPr>
          <p:cNvPr id="4" name="页脚占位符 9"/>
          <p:cNvSpPr>
            <a:spLocks noGrp="1"/>
          </p:cNvSpPr>
          <p:nvPr>
            <p:ph type="ftr" sz="quarter" idx="10"/>
          </p:nvPr>
        </p:nvSpPr>
        <p:spPr/>
        <p:txBody>
          <a:bodyPr/>
          <a:lstStyle>
            <a:lvl1pPr>
              <a:defRPr/>
            </a:lvl1pPr>
          </a:lstStyle>
          <a:p>
            <a:pPr>
              <a:defRPr/>
            </a:pPr>
            <a:r>
              <a:rPr lang="zh-CN" altLang="en-US"/>
              <a:t>计算机学院体系结构中心</a:t>
            </a:r>
            <a:endParaRPr lang="zh-CN" altLang="en-US"/>
          </a:p>
        </p:txBody>
      </p:sp>
    </p:spTree>
  </p:cSld>
  <p:clrMapOvr>
    <a:masterClrMapping/>
  </p:clrMapOvr>
  <p:transition spd="med">
    <p:pull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vmlDrawing" Target="../drawings/vmlDrawing3.vml"/><Relationship Id="rId15" Type="http://schemas.openxmlformats.org/officeDocument/2006/relationships/image" Target="../media/image1.png"/><Relationship Id="rId14" Type="http://schemas.openxmlformats.org/officeDocument/2006/relationships/oleObject" Target="../embeddings/oleObject3.bin"/><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graphicFrame>
        <p:nvGraphicFramePr>
          <p:cNvPr id="1026" name="Object 19"/>
          <p:cNvGraphicFramePr>
            <a:graphicFrameLocks noChangeAspect="1"/>
          </p:cNvGraphicFramePr>
          <p:nvPr userDrawn="1"/>
        </p:nvGraphicFramePr>
        <p:xfrm>
          <a:off x="1928813" y="1012825"/>
          <a:ext cx="6804025" cy="5416550"/>
        </p:xfrm>
        <a:graphic>
          <a:graphicData uri="http://schemas.openxmlformats.org/presentationml/2006/ole">
            <mc:AlternateContent xmlns:mc="http://schemas.openxmlformats.org/markup-compatibility/2006">
              <mc:Choice xmlns:v="urn:schemas-microsoft-com:vml" Requires="v">
                <p:oleObj spid="_x0000_s3076" name="" r:id="rId14" imgW="8534400" imgH="6794500" progId="Photoshop.Image.7">
                  <p:embed/>
                </p:oleObj>
              </mc:Choice>
              <mc:Fallback>
                <p:oleObj name="" r:id="rId14" imgW="8534400" imgH="6794500" progId="Photoshop.Image.7">
                  <p:embed/>
                  <p:pic>
                    <p:nvPicPr>
                      <p:cNvPr id="0" name="图片 3075"/>
                      <p:cNvPicPr/>
                      <p:nvPr/>
                    </p:nvPicPr>
                    <p:blipFill>
                      <a:blip r:embed="rId15"/>
                      <a:stretch>
                        <a:fillRect/>
                      </a:stretch>
                    </p:blipFill>
                    <p:spPr>
                      <a:xfrm>
                        <a:off x="1928813" y="1012825"/>
                        <a:ext cx="6804025" cy="5416550"/>
                      </a:xfrm>
                      <a:prstGeom prst="rect">
                        <a:avLst/>
                      </a:prstGeom>
                      <a:noFill/>
                      <a:ln w="38100">
                        <a:noFill/>
                        <a:miter/>
                      </a:ln>
                    </p:spPr>
                  </p:pic>
                </p:oleObj>
              </mc:Fallback>
            </mc:AlternateContent>
          </a:graphicData>
        </a:graphic>
      </p:graphicFrame>
      <p:grpSp>
        <p:nvGrpSpPr>
          <p:cNvPr id="1027" name="Group 4"/>
          <p:cNvGrpSpPr/>
          <p:nvPr/>
        </p:nvGrpSpPr>
        <p:grpSpPr>
          <a:xfrm>
            <a:off x="0" y="0"/>
            <a:ext cx="9144000" cy="546100"/>
            <a:chOff x="0" y="0"/>
            <a:chExt cx="5760" cy="344"/>
          </a:xfrm>
        </p:grpSpPr>
        <p:sp>
          <p:nvSpPr>
            <p:cNvPr id="1035" name="Rectangle 5"/>
            <p:cNvSpPr>
              <a:spLocks noChangeArrowheads="1"/>
            </p:cNvSpPr>
            <p:nvPr/>
          </p:nvSpPr>
          <p:spPr bwMode="auto">
            <a:xfrm>
              <a:off x="0" y="0"/>
              <a:ext cx="180" cy="336"/>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6" name="Rectangle 6"/>
            <p:cNvSpPr>
              <a:spLocks noChangeArrowheads="1"/>
            </p:cNvSpPr>
            <p:nvPr/>
          </p:nvSpPr>
          <p:spPr bwMode="auto">
            <a:xfrm>
              <a:off x="260" y="85"/>
              <a:ext cx="5500" cy="173"/>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7" name="Rectangle 7"/>
            <p:cNvSpPr>
              <a:spLocks noChangeArrowheads="1"/>
            </p:cNvSpPr>
            <p:nvPr/>
          </p:nvSpPr>
          <p:spPr bwMode="auto">
            <a:xfrm>
              <a:off x="258" y="85"/>
              <a:ext cx="87" cy="8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8" name="Rectangle 8"/>
            <p:cNvSpPr>
              <a:spLocks noChangeArrowheads="1"/>
            </p:cNvSpPr>
            <p:nvPr/>
          </p:nvSpPr>
          <p:spPr bwMode="auto">
            <a:xfrm>
              <a:off x="345" y="0"/>
              <a:ext cx="88"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39" name="Rectangle 9"/>
            <p:cNvSpPr>
              <a:spLocks noChangeArrowheads="1"/>
            </p:cNvSpPr>
            <p:nvPr/>
          </p:nvSpPr>
          <p:spPr bwMode="auto">
            <a:xfrm>
              <a:off x="345" y="85"/>
              <a:ext cx="88" cy="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0" name="Rectangle 10"/>
            <p:cNvSpPr>
              <a:spLocks noChangeArrowheads="1"/>
            </p:cNvSpPr>
            <p:nvPr/>
          </p:nvSpPr>
          <p:spPr bwMode="auto">
            <a:xfrm>
              <a:off x="173" y="173"/>
              <a:ext cx="86" cy="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hlink"/>
                </a:solidFill>
                <a:effectLst/>
                <a:uLnTx/>
                <a:uFillTx/>
                <a:latin typeface="Arial" panose="020B0604020202020204" pitchFamily="34" charset="0"/>
                <a:ea typeface="宋体" panose="02010600030101010101" pitchFamily="2" charset="-122"/>
                <a:cs typeface="+mn-cs"/>
              </a:endParaRPr>
            </a:p>
          </p:txBody>
        </p:sp>
        <p:sp>
          <p:nvSpPr>
            <p:cNvPr id="1041" name="Rectangle 11"/>
            <p:cNvSpPr>
              <a:spLocks noChangeArrowheads="1"/>
            </p:cNvSpPr>
            <p:nvPr/>
          </p:nvSpPr>
          <p:spPr bwMode="auto">
            <a:xfrm>
              <a:off x="83" y="86"/>
              <a:ext cx="89" cy="87"/>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42" name="Rectangle 12"/>
            <p:cNvSpPr>
              <a:spLocks noChangeArrowheads="1"/>
            </p:cNvSpPr>
            <p:nvPr/>
          </p:nvSpPr>
          <p:spPr bwMode="auto">
            <a:xfrm>
              <a:off x="258" y="171"/>
              <a:ext cx="87" cy="87"/>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sp>
          <p:nvSpPr>
            <p:cNvPr id="1043" name="Rectangle 13"/>
            <p:cNvSpPr>
              <a:spLocks noChangeArrowheads="1"/>
            </p:cNvSpPr>
            <p:nvPr/>
          </p:nvSpPr>
          <p:spPr bwMode="auto">
            <a:xfrm>
              <a:off x="173" y="258"/>
              <a:ext cx="86" cy="8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smtClean="0">
                <a:ln>
                  <a:noFill/>
                </a:ln>
                <a:solidFill>
                  <a:schemeClr val="accent2"/>
                </a:solidFill>
                <a:effectLst/>
                <a:uLnTx/>
                <a:uFillTx/>
                <a:latin typeface="Arial" panose="020B0604020202020204" pitchFamily="34" charset="0"/>
                <a:ea typeface="宋体" panose="02010600030101010101" pitchFamily="2" charset="-122"/>
                <a:cs typeface="+mn-cs"/>
              </a:endParaRPr>
            </a:p>
          </p:txBody>
        </p:sp>
      </p:grpSp>
      <p:sp>
        <p:nvSpPr>
          <p:cNvPr id="1028" name="Rectangle 14"/>
          <p:cNvSpPr>
            <a:spLocks noGrp="1"/>
          </p:cNvSpPr>
          <p:nvPr>
            <p:ph type="title"/>
          </p:nvPr>
        </p:nvSpPr>
        <p:spPr>
          <a:xfrm>
            <a:off x="457200" y="457200"/>
            <a:ext cx="8229600" cy="13716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9" name="Rectangle 15"/>
          <p:cNvSpPr>
            <a:spLocks noGrp="1"/>
          </p:cNvSpPr>
          <p:nvPr>
            <p:ph type="body" idx="1"/>
          </p:nvPr>
        </p:nvSpPr>
        <p:spPr>
          <a:xfrm>
            <a:off x="457200" y="2000250"/>
            <a:ext cx="8229600" cy="38862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0" name="Line 5"/>
          <p:cNvSpPr/>
          <p:nvPr userDrawn="1"/>
        </p:nvSpPr>
        <p:spPr>
          <a:xfrm>
            <a:off x="468313" y="6429375"/>
            <a:ext cx="8351837" cy="1588"/>
          </a:xfrm>
          <a:prstGeom prst="line">
            <a:avLst/>
          </a:prstGeom>
          <a:ln w="9525" cap="flat" cmpd="sng">
            <a:solidFill>
              <a:srgbClr val="0078CD"/>
            </a:solidFill>
            <a:prstDash val="solid"/>
            <a:headEnd type="none" w="med" len="med"/>
            <a:tailEnd type="none" w="med" len="med"/>
          </a:ln>
        </p:spPr>
      </p:sp>
      <p:sp>
        <p:nvSpPr>
          <p:cNvPr id="1033" name="Rectangle 10"/>
          <p:cNvSpPr>
            <a:spLocks noChangeArrowheads="1"/>
          </p:cNvSpPr>
          <p:nvPr/>
        </p:nvSpPr>
        <p:spPr bwMode="auto">
          <a:xfrm>
            <a:off x="642938" y="6521450"/>
            <a:ext cx="64563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t>罗娟娟</a:t>
            </a:r>
            <a:r>
              <a:rPr kumimoji="0" lang="en-US" altLang="zh-CN" sz="14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t>-</a:t>
            </a:r>
            <a:fld id="{E6B70559-CAC4-4743-B27C-1E06D1514A0C}" type="datetime3">
              <a:rPr kumimoji="0" lang="zh-CN" altLang="en-US" sz="14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fld>
            <a:r>
              <a:rPr kumimoji="0" lang="en-US" altLang="zh-CN" sz="14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t>                                </a:t>
            </a:r>
            <a:r>
              <a:rPr kumimoji="0" lang="zh-CN" altLang="en-US" sz="1400" b="0" i="0" u="none" strike="noStrike" kern="1200" cap="none" spc="0" normalizeH="0" baseline="0" noProof="0" smtClean="0">
                <a:ln>
                  <a:noFill/>
                </a:ln>
                <a:solidFill>
                  <a:srgbClr val="0072C1"/>
                </a:solidFill>
                <a:effectLst/>
                <a:uLnTx/>
                <a:uFillTx/>
                <a:latin typeface="Gulim" pitchFamily="34" charset="-127"/>
                <a:ea typeface="宋体" panose="02010600030101010101" pitchFamily="2" charset="-122"/>
                <a:cs typeface="+mn-cs"/>
              </a:rPr>
              <a:t>计算机组成原理</a:t>
            </a:r>
            <a:endParaRPr kumimoji="0" lang="zh-CN" altLang="en-US" sz="1400" b="0" i="0" u="none" strike="noStrike" kern="1200" cap="none" spc="0" normalizeH="0" baseline="0" noProof="0" smtClean="0">
              <a:ln>
                <a:noFill/>
              </a:ln>
              <a:solidFill>
                <a:srgbClr val="0072C1"/>
              </a:solidFill>
              <a:effectLst/>
              <a:uLnTx/>
              <a:uFillTx/>
              <a:latin typeface="Gulim" pitchFamily="34" charset="-127"/>
              <a:ea typeface="宋体" panose="02010600030101010101" pitchFamily="2" charset="-122"/>
              <a:cs typeface="+mn-cs"/>
            </a:endParaRPr>
          </a:p>
        </p:txBody>
      </p:sp>
      <p:sp>
        <p:nvSpPr>
          <p:cNvPr id="1034" name="Text Box 11"/>
          <p:cNvSpPr txBox="1">
            <a:spLocks noChangeArrowheads="1"/>
          </p:cNvSpPr>
          <p:nvPr/>
        </p:nvSpPr>
        <p:spPr bwMode="auto">
          <a:xfrm>
            <a:off x="6500813" y="6450013"/>
            <a:ext cx="23749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FF20FDC-6E60-427D-83D3-6241F7A921A5}" type="slidenum">
              <a:rPr kumimoji="0" lang="en-US" altLang="zh-CN" sz="16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fld>
            <a:r>
              <a:rPr kumimoji="0" lang="en-US" altLang="zh-CN" sz="16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rPr>
              <a:t>/205</a:t>
            </a:r>
            <a:endParaRPr kumimoji="0" lang="en-US" altLang="zh-CN" sz="1600" b="0" i="0" u="none" strike="noStrike" kern="1200" cap="none" spc="0" normalizeH="0" baseline="0" noProof="0" smtClean="0">
              <a:ln>
                <a:noFill/>
              </a:ln>
              <a:solidFill>
                <a:srgbClr val="0072C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iming>
    <p:tnLst>
      <p:par>
        <p:cTn id="1" dur="indefinite" restart="never" nodeType="tmRoot"/>
      </p:par>
    </p:tnLst>
  </p:timing>
  <p:hf sldNum="0" hdr="0" ftr="0" dt="0"/>
  <p:txStyles>
    <p:titleStyle>
      <a:lvl1pPr algn="l" rtl="0" eaLnBrk="0" fontAlgn="base" hangingPunct="0">
        <a:spcBef>
          <a:spcPct val="0"/>
        </a:spcBef>
        <a:spcAft>
          <a:spcPct val="0"/>
        </a:spcAft>
        <a:defRPr kumimoji="1" sz="4400">
          <a:solidFill>
            <a:schemeClr val="tx1"/>
          </a:solidFill>
          <a:latin typeface="+mj-lt"/>
          <a:ea typeface="+mj-ea"/>
          <a:cs typeface="宋体" panose="02010600030101010101" pitchFamily="2" charset="-122"/>
        </a:defRPr>
      </a:lvl1pPr>
      <a:lvl2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l" rtl="0" eaLnBrk="0" fontAlgn="base" hangingPunct="0">
        <a:spcBef>
          <a:spcPct val="0"/>
        </a:spcBef>
        <a:spcAft>
          <a:spcPct val="0"/>
        </a:spcAft>
        <a:defRPr kumimoji="1" sz="44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vl6pPr marL="25146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hp3-3.pp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hyperlink" Target="3-1.sw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5.wmf"/><Relationship Id="rId1" Type="http://schemas.openxmlformats.org/officeDocument/2006/relationships/oleObject" Target="../embeddings/oleObject4.bin"/></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hyperlink" Target="3-6.swf" TargetMode="Externa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23.emf"/><Relationship Id="rId1" Type="http://schemas.openxmlformats.org/officeDocument/2006/relationships/oleObject" Target="../embeddings/oleObject5.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0.png"/><Relationship Id="rId1" Type="http://schemas.openxmlformats.org/officeDocument/2006/relationships/image" Target="../media/image29.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jpe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image" Target="../media/image42.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image" Target="../media/image44.pn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46.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0.png"/><Relationship Id="rId1" Type="http://schemas.openxmlformats.org/officeDocument/2006/relationships/image" Target="../media/image49.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2.png"/><Relationship Id="rId1" Type="http://schemas.openxmlformats.org/officeDocument/2006/relationships/hyperlink" Target="3-22.swf" TargetMode="Externa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2.png"/><Relationship Id="rId1" Type="http://schemas.openxmlformats.org/officeDocument/2006/relationships/hyperlink" Target="3-22.swf" TargetMode="Externa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2.png"/><Relationship Id="rId1" Type="http://schemas.openxmlformats.org/officeDocument/2006/relationships/hyperlink" Target="3-22.swf" TargetMode="Externa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55.emf"/><Relationship Id="rId3" Type="http://schemas.openxmlformats.org/officeDocument/2006/relationships/oleObject" Target="../embeddings/oleObject7.bin"/><Relationship Id="rId2" Type="http://schemas.openxmlformats.org/officeDocument/2006/relationships/image" Target="../media/image54.emf"/><Relationship Id="rId1" Type="http://schemas.openxmlformats.org/officeDocument/2006/relationships/oleObject" Target="../embeddings/oleObject6.bin"/></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jpeg"/></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58.png"/><Relationship Id="rId1" Type="http://schemas.openxmlformats.org/officeDocument/2006/relationships/image" Target="../media/image5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84.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61.png"/><Relationship Id="rId2" Type="http://schemas.openxmlformats.org/officeDocument/2006/relationships/image" Target="../media/image63.png"/><Relationship Id="rId1" Type="http://schemas.openxmlformats.org/officeDocument/2006/relationships/image" Target="../media/image62.png"/></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64.png"/><Relationship Id="rId1" Type="http://schemas.openxmlformats.org/officeDocument/2006/relationships/hyperlink" Target="3-26.swf" TargetMode="External"/></Relationships>
</file>

<file path=ppt/slides/_rels/slide86.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66.wmf"/><Relationship Id="rId3" Type="http://schemas.openxmlformats.org/officeDocument/2006/relationships/oleObject" Target="../embeddings/oleObject9.bin"/><Relationship Id="rId2" Type="http://schemas.openxmlformats.org/officeDocument/2006/relationships/image" Target="../media/image65.wmf"/><Relationship Id="rId1" Type="http://schemas.openxmlformats.org/officeDocument/2006/relationships/oleObject" Target="../embeddings/oleObject8.bin"/></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66.wmf"/><Relationship Id="rId3" Type="http://schemas.openxmlformats.org/officeDocument/2006/relationships/oleObject" Target="../embeddings/oleObject11.bin"/><Relationship Id="rId2" Type="http://schemas.openxmlformats.org/officeDocument/2006/relationships/image" Target="../media/image65.wmf"/><Relationship Id="rId1" Type="http://schemas.openxmlformats.org/officeDocument/2006/relationships/oleObject" Target="../embeddings/oleObject10.bin"/></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7.png"/><Relationship Id="rId1" Type="http://schemas.openxmlformats.org/officeDocument/2006/relationships/hyperlink" Target="3-27.swf" TargetMode="External"/></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9.png"/><Relationship Id="rId1" Type="http://schemas.openxmlformats.org/officeDocument/2006/relationships/image" Target="../media/image68.png"/></Relationships>
</file>

<file path=ppt/slides/_rels/slide92.xml.rels><?xml version="1.0" encoding="UTF-8" standalone="yes"?>
<Relationships xmlns="http://schemas.openxmlformats.org/package/2006/relationships"><Relationship Id="rId8" Type="http://schemas.openxmlformats.org/officeDocument/2006/relationships/vmlDrawing" Target="../drawings/vmlDrawing9.vml"/><Relationship Id="rId7" Type="http://schemas.openxmlformats.org/officeDocument/2006/relationships/slideLayout" Target="../slideLayouts/slideLayout12.xml"/><Relationship Id="rId6" Type="http://schemas.openxmlformats.org/officeDocument/2006/relationships/image" Target="../media/image72.wmf"/><Relationship Id="rId5" Type="http://schemas.openxmlformats.org/officeDocument/2006/relationships/oleObject" Target="../embeddings/oleObject14.bin"/><Relationship Id="rId4" Type="http://schemas.openxmlformats.org/officeDocument/2006/relationships/image" Target="../media/image71.wmf"/><Relationship Id="rId3" Type="http://schemas.openxmlformats.org/officeDocument/2006/relationships/oleObject" Target="../embeddings/oleObject13.bin"/><Relationship Id="rId2" Type="http://schemas.openxmlformats.org/officeDocument/2006/relationships/image" Target="../media/image70.wmf"/><Relationship Id="rId1" Type="http://schemas.openxmlformats.org/officeDocument/2006/relationships/oleObject" Target="../embeddings/oleObject12.bin"/></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3.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4.png"/><Relationship Id="rId1" Type="http://schemas.openxmlformats.org/officeDocument/2006/relationships/hyperlink" Target="3-29.swf" TargetMode="External"/></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5.png"/><Relationship Id="rId1" Type="http://schemas.openxmlformats.org/officeDocument/2006/relationships/hyperlink" Target="3-30.swf" TargetMode="Externa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76.png"/><Relationship Id="rId1" Type="http://schemas.openxmlformats.org/officeDocument/2006/relationships/oleObject" Target="../embeddings/oleObject15.bin"/></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77.jpe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0.png"/><Relationship Id="rId1" Type="http://schemas.openxmlformats.org/officeDocument/2006/relationships/image" Target="../media/image79.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8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85.jpe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86.jpe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8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ctrTitle"/>
          </p:nvPr>
        </p:nvSpPr>
        <p:spPr>
          <a:xfrm>
            <a:off x="-107950" y="1989138"/>
            <a:ext cx="9144000" cy="2209800"/>
          </a:xfrm>
        </p:spPr>
        <p:txBody>
          <a:bodyPr vert="horz" wrap="square" lIns="91440" tIns="45720" rIns="91440" bIns="45720" anchor="ctr" anchorCtr="0"/>
          <a:p>
            <a:pPr algn="r" eaLnBrk="1" hangingPunct="1">
              <a:buClrTx/>
              <a:buSzTx/>
              <a:buFontTx/>
            </a:pPr>
            <a:r>
              <a:rPr kumimoji="1" lang="zh-CN" altLang="en-US" sz="5400" b="1" dirty="0">
                <a:solidFill>
                  <a:srgbClr val="F2F2F2"/>
                </a:solidFill>
                <a:latin typeface="+mj-lt"/>
                <a:ea typeface="+mj-ea"/>
                <a:cs typeface="宋体" panose="02010600030101010101" pitchFamily="2" charset="-122"/>
              </a:rPr>
              <a:t>第三章 多层次的存储器</a:t>
            </a:r>
            <a:r>
              <a:rPr kumimoji="1" lang="en-US" altLang="zh-CN" sz="5400" b="1" dirty="0">
                <a:solidFill>
                  <a:srgbClr val="F2F2F2"/>
                </a:solidFill>
                <a:latin typeface="+mj-lt"/>
                <a:ea typeface="+mj-ea"/>
                <a:cs typeface="宋体" panose="02010600030101010101" pitchFamily="2" charset="-122"/>
              </a:rPr>
              <a:t>   </a:t>
            </a:r>
            <a:endParaRPr kumimoji="1" lang="zh-CN" altLang="en-US" sz="5400" dirty="0">
              <a:solidFill>
                <a:srgbClr val="F2F2F2"/>
              </a:solidFill>
              <a:latin typeface="黑体" panose="02010609060101010101" pitchFamily="49" charset="-122"/>
              <a:ea typeface="黑体" panose="02010609060101010101" pitchFamily="49" charset="-122"/>
              <a:cs typeface="宋体" panose="02010600030101010101" pitchFamily="2" charset="-122"/>
            </a:endParaRPr>
          </a:p>
        </p:txBody>
      </p:sp>
      <p:sp>
        <p:nvSpPr>
          <p:cNvPr id="7171" name="Rectangle 3"/>
          <p:cNvSpPr txBox="1"/>
          <p:nvPr/>
        </p:nvSpPr>
        <p:spPr>
          <a:xfrm>
            <a:off x="1714500" y="4748213"/>
            <a:ext cx="6400800" cy="175260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ctr" eaLnBrk="1" hangingPunct="1">
              <a:buFontTx/>
              <a:buNone/>
            </a:pPr>
            <a:r>
              <a:rPr lang="zh-CN" altLang="en-US" sz="2800" b="1" dirty="0">
                <a:solidFill>
                  <a:srgbClr val="0070C0"/>
                </a:solidFill>
                <a:latin typeface="黑体" panose="02010609060101010101" pitchFamily="49" charset="-122"/>
                <a:ea typeface="黑体" panose="02010609060101010101" pitchFamily="49" charset="-122"/>
              </a:rPr>
              <a:t>罗娟娟 </a:t>
            </a:r>
            <a:endParaRPr lang="en-US" altLang="zh-CN" sz="2800" b="1" dirty="0">
              <a:solidFill>
                <a:srgbClr val="0070C0"/>
              </a:solidFill>
              <a:latin typeface="黑体" panose="02010609060101010101" pitchFamily="49" charset="-122"/>
              <a:ea typeface="黑体" panose="02010609060101010101" pitchFamily="49" charset="-122"/>
            </a:endParaRPr>
          </a:p>
          <a:p>
            <a:pPr marL="342900" lvl="0" indent="-342900" algn="ctr" eaLnBrk="1" hangingPunct="1">
              <a:buFontTx/>
              <a:buNone/>
            </a:pPr>
            <a:r>
              <a:rPr lang="zh-CN" altLang="en-US" sz="2800" b="1" dirty="0">
                <a:solidFill>
                  <a:srgbClr val="0070C0"/>
                </a:solidFill>
                <a:latin typeface="黑体" panose="02010609060101010101" pitchFamily="49" charset="-122"/>
                <a:ea typeface="黑体" panose="02010609060101010101" pitchFamily="49" charset="-122"/>
              </a:rPr>
              <a:t>北</a:t>
            </a:r>
            <a:r>
              <a:rPr lang="zh-CN" altLang="en-US" sz="2800" b="1" dirty="0">
                <a:solidFill>
                  <a:srgbClr val="0072C1"/>
                </a:solidFill>
                <a:latin typeface="黑体" panose="02010609060101010101" pitchFamily="49" charset="-122"/>
                <a:ea typeface="黑体" panose="02010609060101010101" pitchFamily="49" charset="-122"/>
              </a:rPr>
              <a:t>京邮电大学计算机</a:t>
            </a:r>
            <a:r>
              <a:rPr lang="zh-CN" altLang="en-US" sz="2800" b="1" dirty="0">
                <a:solidFill>
                  <a:srgbClr val="0070C0"/>
                </a:solidFill>
                <a:latin typeface="黑体" panose="02010609060101010101" pitchFamily="49" charset="-122"/>
                <a:ea typeface="黑体" panose="02010609060101010101" pitchFamily="49" charset="-122"/>
              </a:rPr>
              <a:t>学院</a:t>
            </a:r>
            <a:endParaRPr lang="en-US" altLang="zh-CN" sz="2800" b="1" dirty="0">
              <a:solidFill>
                <a:srgbClr val="0070C0"/>
              </a:solidFill>
              <a:latin typeface="黑体" panose="02010609060101010101" pitchFamily="49" charset="-122"/>
              <a:ea typeface="黑体" panose="02010609060101010101" pitchFamily="49" charset="-122"/>
            </a:endParaRPr>
          </a:p>
          <a:p>
            <a:pPr marL="342900" lvl="0" indent="-342900" algn="ctr" eaLnBrk="1" hangingPunct="1">
              <a:buFontTx/>
              <a:buNone/>
            </a:pPr>
            <a:r>
              <a:rPr lang="en-US" altLang="zh-CN" sz="2800" b="1" dirty="0">
                <a:solidFill>
                  <a:srgbClr val="0070C0"/>
                </a:solidFill>
                <a:latin typeface="黑体" panose="02010609060101010101" pitchFamily="49" charset="-122"/>
                <a:ea typeface="黑体" panose="02010609060101010101" pitchFamily="49" charset="-122"/>
              </a:rPr>
              <a:t>jjluo@bupt.edu.cn; </a:t>
            </a:r>
            <a:endParaRPr lang="en-US" altLang="zh-CN" sz="2800" b="1" dirty="0">
              <a:solidFill>
                <a:srgbClr val="0072C1"/>
              </a:solidFill>
              <a:latin typeface="黑体" panose="02010609060101010101" pitchFamily="49" charset="-122"/>
              <a:ea typeface="黑体" panose="02010609060101010101" pitchFamily="49" charset="-122"/>
            </a:endParaRPr>
          </a:p>
          <a:p>
            <a:pPr marL="342900" lvl="0" indent="-342900" algn="ctr" eaLnBrk="1" hangingPunct="1">
              <a:buFontTx/>
              <a:buNone/>
            </a:pPr>
            <a:endParaRPr lang="en-US" altLang="zh-CN" sz="2800" b="1" dirty="0">
              <a:solidFill>
                <a:srgbClr val="0070C0"/>
              </a:solidFill>
              <a:latin typeface="黑体" panose="02010609060101010101" pitchFamily="49" charset="-122"/>
              <a:ea typeface="黑体" panose="02010609060101010101" pitchFamily="49" charset="-122"/>
            </a:endParaRPr>
          </a:p>
        </p:txBody>
      </p:sp>
      <p:sp>
        <p:nvSpPr>
          <p:cNvPr id="7172" name="Rectangle 2"/>
          <p:cNvSpPr txBox="1"/>
          <p:nvPr/>
        </p:nvSpPr>
        <p:spPr>
          <a:xfrm>
            <a:off x="0" y="260350"/>
            <a:ext cx="4427538" cy="1654175"/>
          </a:xfrm>
          <a:prstGeom prst="rect">
            <a:avLst/>
          </a:prstGeom>
          <a:noFill/>
          <a:ln w="9525">
            <a:noFill/>
          </a:ln>
        </p:spPr>
        <p:txBody>
          <a:bodyPr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r" eaLnBrk="1" hangingPunct="1">
              <a:spcBef>
                <a:spcPct val="0"/>
              </a:spcBef>
              <a:buClrTx/>
              <a:buSzTx/>
              <a:buFontTx/>
              <a:buNone/>
            </a:pPr>
            <a:r>
              <a:rPr lang="zh-CN" altLang="en-US" sz="3600" dirty="0">
                <a:solidFill>
                  <a:srgbClr val="0078CD"/>
                </a:solidFill>
                <a:latin typeface="黑体" panose="02010609060101010101" pitchFamily="49" charset="-122"/>
                <a:ea typeface="黑体" panose="02010609060101010101" pitchFamily="49" charset="-122"/>
              </a:rPr>
              <a:t>计算机组成原理课程</a:t>
            </a:r>
            <a:endParaRPr lang="zh-CN" altLang="en-US" sz="3600" dirty="0">
              <a:solidFill>
                <a:srgbClr val="0078CD"/>
              </a:solidFill>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a:xfrm>
            <a:off x="457200" y="188913"/>
            <a:ext cx="8229600" cy="1371600"/>
          </a:xfrm>
        </p:spPr>
        <p:txBody>
          <a:bodyPr vert="horz" wrap="square" lIns="91440" tIns="45720" rIns="91440" bIns="45720" anchor="ctr" anchorCtr="0"/>
          <a:p>
            <a:r>
              <a:rPr lang="zh-CN" altLang="en-US" dirty="0">
                <a:latin typeface="宋体" panose="02010600030101010101" pitchFamily="2" charset="-122"/>
              </a:rPr>
              <a:t>第三章</a:t>
            </a:r>
            <a:r>
              <a:rPr lang="en-US" altLang="zh-CN" dirty="0">
                <a:latin typeface="宋体" panose="02010600030101010101" pitchFamily="2" charset="-122"/>
              </a:rPr>
              <a:t>   </a:t>
            </a:r>
            <a:r>
              <a:rPr lang="zh-CN" altLang="en-US" dirty="0">
                <a:latin typeface="宋体" panose="02010600030101010101" pitchFamily="2" charset="-122"/>
              </a:rPr>
              <a:t>内部存储器</a:t>
            </a:r>
            <a:endParaRPr lang="zh-CN" altLang="en-US" dirty="0">
              <a:latin typeface="宋体" panose="02010600030101010101" pitchFamily="2" charset="-122"/>
            </a:endParaRPr>
          </a:p>
        </p:txBody>
      </p:sp>
      <p:sp>
        <p:nvSpPr>
          <p:cNvPr id="9219" name="Rectangle 3"/>
          <p:cNvSpPr>
            <a:spLocks noGrp="1"/>
          </p:cNvSpPr>
          <p:nvPr>
            <p:ph idx="1"/>
          </p:nvPr>
        </p:nvSpPr>
        <p:spPr>
          <a:xfrm>
            <a:off x="1187450" y="1268413"/>
            <a:ext cx="6491288" cy="5040312"/>
          </a:xfrm>
        </p:spPr>
        <p:txBody>
          <a:bodyPr vert="horz" wrap="square" lIns="91440" tIns="45720" rIns="91440" bIns="45720" anchor="t" anchorCtr="0"/>
          <a:p>
            <a:pPr>
              <a:buNone/>
            </a:pPr>
            <a:r>
              <a:rPr lang="en-US" altLang="zh-CN" dirty="0"/>
              <a:t>3.1 </a:t>
            </a:r>
            <a:r>
              <a:rPr lang="zh-CN" altLang="en-US" dirty="0"/>
              <a:t>存储器概述</a:t>
            </a:r>
            <a:endParaRPr lang="en-US" altLang="zh-CN" dirty="0"/>
          </a:p>
          <a:p>
            <a:pPr>
              <a:buNone/>
            </a:pPr>
            <a:r>
              <a:rPr lang="en-US" altLang="zh-CN" dirty="0"/>
              <a:t>3.2 SRAM</a:t>
            </a:r>
            <a:r>
              <a:rPr lang="zh-CN" altLang="en-US" dirty="0"/>
              <a:t>存储器</a:t>
            </a:r>
            <a:endParaRPr lang="en-US" altLang="zh-CN" dirty="0"/>
          </a:p>
          <a:p>
            <a:pPr>
              <a:buNone/>
            </a:pPr>
            <a:r>
              <a:rPr lang="en-US" altLang="zh-CN" dirty="0"/>
              <a:t>3.3 DRAM</a:t>
            </a:r>
            <a:r>
              <a:rPr lang="zh-CN" altLang="en-US" dirty="0"/>
              <a:t>存储器</a:t>
            </a:r>
            <a:endParaRPr lang="en-US" altLang="zh-CN" dirty="0"/>
          </a:p>
          <a:p>
            <a:pPr>
              <a:buNone/>
            </a:pPr>
            <a:r>
              <a:rPr lang="en-US" altLang="zh-CN" dirty="0"/>
              <a:t>3.4 </a:t>
            </a:r>
            <a:r>
              <a:rPr lang="zh-CN" altLang="en-US" dirty="0"/>
              <a:t>只读存储器和闪速存储器</a:t>
            </a:r>
            <a:endParaRPr lang="en-US" altLang="zh-CN" dirty="0"/>
          </a:p>
          <a:p>
            <a:pPr>
              <a:buNone/>
            </a:pPr>
            <a:r>
              <a:rPr lang="en-US" altLang="zh-CN" dirty="0">
                <a:cs typeface="Times New Roman" panose="02020603050405020304" pitchFamily="18" charset="0"/>
              </a:rPr>
              <a:t>3</a:t>
            </a:r>
            <a:r>
              <a:rPr lang="en-US" altLang="zh-CN" dirty="0"/>
              <a:t>.5 </a:t>
            </a:r>
            <a:r>
              <a:rPr lang="zh-CN" altLang="en-US" dirty="0"/>
              <a:t>并行存储器</a:t>
            </a:r>
            <a:endParaRPr lang="en-US" altLang="zh-CN" dirty="0"/>
          </a:p>
          <a:p>
            <a:pPr>
              <a:buNone/>
            </a:pPr>
            <a:r>
              <a:rPr lang="en-US" altLang="zh-CN" dirty="0">
                <a:cs typeface="Times New Roman" panose="02020603050405020304" pitchFamily="18" charset="0"/>
              </a:rPr>
              <a:t>3</a:t>
            </a:r>
            <a:r>
              <a:rPr lang="en-US" altLang="zh-CN" dirty="0"/>
              <a:t>.6 Cache</a:t>
            </a:r>
            <a:r>
              <a:rPr lang="zh-CN" altLang="en-US" dirty="0"/>
              <a:t>存储器</a:t>
            </a:r>
            <a:endParaRPr lang="en-US" altLang="zh-CN" dirty="0"/>
          </a:p>
          <a:p>
            <a:pPr>
              <a:buNone/>
            </a:pPr>
            <a:r>
              <a:rPr lang="en-US" altLang="zh-CN" dirty="0"/>
              <a:t>3.7 </a:t>
            </a:r>
            <a:r>
              <a:rPr lang="zh-CN" altLang="en-US" dirty="0"/>
              <a:t>虚拟存储器</a:t>
            </a:r>
            <a:endParaRPr lang="en-US" altLang="zh-CN" dirty="0"/>
          </a:p>
          <a:p>
            <a:pPr>
              <a:buNone/>
            </a:pPr>
            <a:r>
              <a:rPr lang="en-US" altLang="zh-CN" dirty="0"/>
              <a:t>3.8 </a:t>
            </a:r>
            <a:r>
              <a:rPr lang="zh-CN" altLang="en-US" dirty="0"/>
              <a:t>奔腾系列机的虚拟组织</a:t>
            </a:r>
            <a:endParaRPr lang="en-US" altLang="zh-CN" dirty="0"/>
          </a:p>
          <a:p>
            <a:pPr>
              <a:buNone/>
            </a:pPr>
            <a:endParaRPr lang="en-US" altLang="zh-CN" dirty="0">
              <a:cs typeface="Times New Roman" panose="02020603050405020304" pitchFamily="18" charset="0"/>
              <a:hlinkClick r:id="rId1" action="ppaction://hlinkpres?slideindex=1&amp;slidetitle="/>
            </a:endParaRPr>
          </a:p>
          <a:p>
            <a:pPr>
              <a:buNone/>
            </a:pPr>
            <a:endParaRPr lang="zh-CN" altLang="en-US" dirty="0"/>
          </a:p>
        </p:txBody>
      </p:sp>
      <p:sp>
        <p:nvSpPr>
          <p:cNvPr id="6" name="文本框 5"/>
          <p:cNvSpPr txBox="1"/>
          <p:nvPr/>
        </p:nvSpPr>
        <p:spPr>
          <a:xfrm>
            <a:off x="1104265" y="6612890"/>
            <a:ext cx="3048000" cy="368300"/>
          </a:xfrm>
          <a:prstGeom prst="rect">
            <a:avLst/>
          </a:prstGeom>
          <a:noFill/>
        </p:spPr>
        <p:txBody>
          <a:bodyPr wrap="square" rtlCol="0">
            <a:spAutoFit/>
          </a:bodyPr>
          <a:p>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t>3.1</a:t>
            </a:r>
            <a:r>
              <a:rPr lang="zh-CN" altLang="en-US" dirty="0"/>
              <a:t>存储器概述</a:t>
            </a:r>
            <a:endParaRPr lang="zh-CN" altLang="en-US" dirty="0"/>
          </a:p>
        </p:txBody>
      </p:sp>
      <p:sp>
        <p:nvSpPr>
          <p:cNvPr id="10243" name="Rectangle 3"/>
          <p:cNvSpPr>
            <a:spLocks noGrp="1"/>
          </p:cNvSpPr>
          <p:nvPr>
            <p:ph idx="1"/>
          </p:nvPr>
        </p:nvSpPr>
        <p:spPr>
          <a:xfrm>
            <a:off x="457200" y="1055688"/>
            <a:ext cx="8229600" cy="3886200"/>
          </a:xfrm>
        </p:spPr>
        <p:txBody>
          <a:bodyPr vert="horz" wrap="square" lIns="91440" tIns="45720" rIns="91440" bIns="45720" anchor="t" anchorCtr="0"/>
          <a:p>
            <a:pPr>
              <a:buNone/>
            </a:pPr>
            <a:r>
              <a:rPr lang="zh-CN" altLang="en-US" dirty="0"/>
              <a:t>一、分类</a:t>
            </a:r>
            <a:endParaRPr lang="en-US" altLang="zh-CN" dirty="0"/>
          </a:p>
          <a:p>
            <a:r>
              <a:rPr lang="zh-CN" altLang="en-US" dirty="0"/>
              <a:t>按</a:t>
            </a:r>
            <a:r>
              <a:rPr lang="zh-CN" altLang="en-US" dirty="0">
                <a:solidFill>
                  <a:srgbClr val="0000FF"/>
                </a:solidFill>
              </a:rPr>
              <a:t>存储</a:t>
            </a:r>
            <a:r>
              <a:rPr lang="zh-CN" altLang="en-US" dirty="0"/>
              <a:t>介质分类：磁表面</a:t>
            </a:r>
            <a:r>
              <a:rPr lang="en-US" altLang="zh-CN" dirty="0"/>
              <a:t>/</a:t>
            </a:r>
            <a:r>
              <a:rPr lang="zh-CN" altLang="en-US" dirty="0"/>
              <a:t>半导体存储器</a:t>
            </a:r>
            <a:endParaRPr lang="en-US" altLang="zh-CN" dirty="0"/>
          </a:p>
          <a:p>
            <a:r>
              <a:rPr lang="zh-CN" altLang="en-US" dirty="0"/>
              <a:t>按</a:t>
            </a:r>
            <a:r>
              <a:rPr lang="zh-CN" altLang="en-US" dirty="0">
                <a:solidFill>
                  <a:srgbClr val="0000FF"/>
                </a:solidFill>
              </a:rPr>
              <a:t>存取</a:t>
            </a:r>
            <a:r>
              <a:rPr lang="zh-CN" altLang="en-US" dirty="0"/>
              <a:t>方式分类：随机</a:t>
            </a:r>
            <a:r>
              <a:rPr lang="en-US" altLang="zh-CN" dirty="0"/>
              <a:t>/</a:t>
            </a:r>
            <a:r>
              <a:rPr lang="zh-CN" altLang="en-US" dirty="0"/>
              <a:t>顺序存取（磁带）</a:t>
            </a:r>
            <a:endParaRPr lang="en-US" altLang="zh-CN" dirty="0"/>
          </a:p>
          <a:p>
            <a:r>
              <a:rPr lang="zh-CN" altLang="en-US" dirty="0"/>
              <a:t>按</a:t>
            </a:r>
            <a:r>
              <a:rPr lang="zh-CN" altLang="en-US" dirty="0">
                <a:solidFill>
                  <a:srgbClr val="0000FF"/>
                </a:solidFill>
              </a:rPr>
              <a:t>读写</a:t>
            </a:r>
            <a:r>
              <a:rPr lang="zh-CN" altLang="en-US" dirty="0"/>
              <a:t>功能分类：</a:t>
            </a:r>
            <a:r>
              <a:rPr lang="en-US" altLang="zh-CN" dirty="0"/>
              <a:t>ROM</a:t>
            </a:r>
            <a:r>
              <a:rPr lang="zh-CN" altLang="en-US" dirty="0"/>
              <a:t>，</a:t>
            </a:r>
            <a:r>
              <a:rPr lang="en-US" altLang="zh-CN" dirty="0"/>
              <a:t>RAM</a:t>
            </a:r>
            <a:endParaRPr lang="en-US" altLang="zh-CN" dirty="0"/>
          </a:p>
          <a:p>
            <a:pPr lvl="1"/>
            <a:r>
              <a:rPr lang="en-US" altLang="zh-CN" dirty="0"/>
              <a:t>RAM</a:t>
            </a:r>
            <a:r>
              <a:rPr lang="zh-CN" altLang="en-US" dirty="0"/>
              <a:t>：双极型</a:t>
            </a:r>
            <a:r>
              <a:rPr lang="en-US" altLang="zh-CN" dirty="0"/>
              <a:t>/MOS</a:t>
            </a:r>
            <a:endParaRPr lang="en-US" altLang="zh-CN" dirty="0"/>
          </a:p>
          <a:p>
            <a:pPr lvl="1"/>
            <a:r>
              <a:rPr lang="en-US" altLang="zh-CN" dirty="0"/>
              <a:t>ROM</a:t>
            </a:r>
            <a:r>
              <a:rPr lang="zh-CN" altLang="en-US" dirty="0"/>
              <a:t>：</a:t>
            </a:r>
            <a:r>
              <a:rPr lang="en-US" altLang="zh-CN" dirty="0"/>
              <a:t>MROM/PROM/EPROM/EEPROM</a:t>
            </a:r>
            <a:endParaRPr lang="en-US" altLang="zh-CN" dirty="0"/>
          </a:p>
          <a:p>
            <a:r>
              <a:rPr lang="zh-CN" altLang="en-US" dirty="0"/>
              <a:t>按信息的可保存性分类：永久性和非永久性的</a:t>
            </a:r>
            <a:endParaRPr lang="en-US" altLang="zh-CN" dirty="0"/>
          </a:p>
          <a:p>
            <a:r>
              <a:rPr lang="zh-CN" altLang="en-US" dirty="0"/>
              <a:t>按存储器系统中的作用分类：主</a:t>
            </a:r>
            <a:r>
              <a:rPr lang="en-US" altLang="zh-CN" dirty="0"/>
              <a:t>/</a:t>
            </a:r>
            <a:r>
              <a:rPr lang="zh-CN" altLang="en-US" dirty="0"/>
              <a:t>辅</a:t>
            </a:r>
            <a:r>
              <a:rPr lang="en-US" altLang="zh-CN" dirty="0"/>
              <a:t>/</a:t>
            </a:r>
            <a:r>
              <a:rPr lang="zh-CN" altLang="en-US" dirty="0"/>
              <a:t>缓</a:t>
            </a:r>
            <a:r>
              <a:rPr lang="en-US" altLang="zh-CN" dirty="0"/>
              <a:t>/</a:t>
            </a:r>
            <a:r>
              <a:rPr lang="zh-CN" altLang="en-US" dirty="0"/>
              <a:t>控</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p:cNvSpPr>
          <p:nvPr>
            <p:ph type="title"/>
          </p:nvPr>
        </p:nvSpPr>
        <p:spPr>
          <a:xfrm>
            <a:off x="457200" y="44450"/>
            <a:ext cx="8229600" cy="1371600"/>
          </a:xfrm>
        </p:spPr>
        <p:txBody>
          <a:bodyPr vert="horz" wrap="square" lIns="91440" tIns="45720" rIns="91440" bIns="45720" anchor="ctr" anchorCtr="0"/>
          <a:p>
            <a:r>
              <a:rPr lang="en-US" altLang="zh-CN" dirty="0"/>
              <a:t>3.1</a:t>
            </a:r>
            <a:r>
              <a:rPr lang="zh-CN" altLang="en-US" dirty="0"/>
              <a:t>存储器概述</a:t>
            </a:r>
            <a:endParaRPr lang="zh-CN" altLang="en-US" dirty="0"/>
          </a:p>
        </p:txBody>
      </p:sp>
      <p:sp>
        <p:nvSpPr>
          <p:cNvPr id="11267" name="Rectangle 3"/>
          <p:cNvSpPr>
            <a:spLocks noGrp="1"/>
          </p:cNvSpPr>
          <p:nvPr>
            <p:ph idx="1"/>
          </p:nvPr>
        </p:nvSpPr>
        <p:spPr>
          <a:xfrm>
            <a:off x="457200" y="1127125"/>
            <a:ext cx="8229600" cy="3886200"/>
          </a:xfrm>
        </p:spPr>
        <p:txBody>
          <a:bodyPr vert="horz" wrap="square" lIns="91440" tIns="45720" rIns="91440" bIns="45720" anchor="t" anchorCtr="0"/>
          <a:p>
            <a:pPr>
              <a:buNone/>
            </a:pPr>
            <a:r>
              <a:rPr lang="zh-CN" altLang="en-US" dirty="0"/>
              <a:t>二、存储器分级结构</a:t>
            </a:r>
            <a:endParaRPr lang="en-US" altLang="zh-CN" dirty="0"/>
          </a:p>
          <a:p>
            <a:pPr>
              <a:spcBef>
                <a:spcPct val="0"/>
              </a:spcBef>
              <a:buClrTx/>
              <a:buSzTx/>
              <a:buFontTx/>
              <a:buNone/>
            </a:pPr>
            <a:r>
              <a:rPr lang="en-US" altLang="zh-CN" dirty="0"/>
              <a:t>	1</a:t>
            </a:r>
            <a:r>
              <a:rPr lang="zh-CN" altLang="en-US" dirty="0"/>
              <a:t>、目前存储器的特点是：</a:t>
            </a:r>
            <a:endParaRPr lang="en-US" altLang="zh-CN" dirty="0"/>
          </a:p>
          <a:p>
            <a:pPr lvl="2">
              <a:spcBef>
                <a:spcPct val="0"/>
              </a:spcBef>
              <a:buClrTx/>
              <a:buSzTx/>
              <a:buFontTx/>
              <a:buChar char="•"/>
            </a:pPr>
            <a:r>
              <a:rPr lang="zh-CN" altLang="en-US" sz="2800" dirty="0"/>
              <a:t>速度快的存储器价格贵，容量小；</a:t>
            </a:r>
            <a:endParaRPr lang="en-US" altLang="zh-CN" sz="2800" dirty="0"/>
          </a:p>
          <a:p>
            <a:pPr lvl="2">
              <a:spcBef>
                <a:spcPct val="0"/>
              </a:spcBef>
              <a:buClrTx/>
              <a:buSzTx/>
              <a:buFontTx/>
              <a:buChar char="•"/>
            </a:pPr>
            <a:r>
              <a:rPr lang="zh-CN" altLang="en-US" sz="2800" dirty="0"/>
              <a:t>价格低的存储器速度慢，容量大。</a:t>
            </a:r>
            <a:endParaRPr lang="en-US" altLang="zh-CN" sz="2800" dirty="0"/>
          </a:p>
          <a:p>
            <a:pPr>
              <a:spcBef>
                <a:spcPct val="0"/>
              </a:spcBef>
              <a:buClrTx/>
              <a:buSzTx/>
              <a:buFontTx/>
              <a:buNone/>
            </a:pPr>
            <a:r>
              <a:rPr lang="en-US" altLang="zh-CN" dirty="0"/>
              <a:t>         </a:t>
            </a:r>
            <a:endParaRPr lang="en-US" altLang="zh-CN" dirty="0"/>
          </a:p>
          <a:p>
            <a:pPr>
              <a:spcBef>
                <a:spcPct val="0"/>
              </a:spcBef>
              <a:buClrTx/>
              <a:buSzTx/>
              <a:buFontTx/>
              <a:buNone/>
            </a:pPr>
            <a:r>
              <a:rPr lang="en-US" altLang="zh-CN" dirty="0"/>
              <a:t>    </a:t>
            </a:r>
            <a:r>
              <a:rPr lang="zh-CN" altLang="en-US" dirty="0"/>
              <a:t>在计算机存储器体系结构设计时，我们希望存储器系统的性能高、价格低，那么在存储器系统设计时，应当在存储器容量，速度和价格方面的因素作折中考虑，建立了分层次的存储器体系结构如下图所示。</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457200" y="188913"/>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.1.2  </a:t>
            </a:r>
            <a:r>
              <a:rPr lang="zh-CN" altLang="en-US" dirty="0"/>
              <a:t>存储器分级结构</a:t>
            </a:r>
            <a:endParaRPr lang="zh-CN" altLang="en-US" dirty="0"/>
          </a:p>
        </p:txBody>
      </p:sp>
      <p:pic>
        <p:nvPicPr>
          <p:cNvPr id="12291" name="Picture 3" descr="3a1">
            <a:hlinkClick r:id="rId1" action="ppaction://hlinkfile"/>
          </p:cNvPr>
          <p:cNvPicPr>
            <a:picLocks noChangeAspect="1"/>
          </p:cNvPicPr>
          <p:nvPr/>
        </p:nvPicPr>
        <p:blipFill>
          <a:blip r:embed="rId2"/>
          <a:stretch>
            <a:fillRect/>
          </a:stretch>
        </p:blipFill>
        <p:spPr>
          <a:xfrm>
            <a:off x="5340350" y="2349500"/>
            <a:ext cx="3768725" cy="3889375"/>
          </a:xfrm>
          <a:prstGeom prst="rect">
            <a:avLst/>
          </a:prstGeom>
          <a:noFill/>
          <a:ln w="9525">
            <a:noFill/>
          </a:ln>
        </p:spPr>
      </p:pic>
      <p:sp>
        <p:nvSpPr>
          <p:cNvPr id="7172" name="Rectangle 4"/>
          <p:cNvSpPr>
            <a:spLocks noGrp="1"/>
          </p:cNvSpPr>
          <p:nvPr>
            <p:ph idx="1"/>
          </p:nvPr>
        </p:nvSpPr>
        <p:spPr>
          <a:xfrm>
            <a:off x="457200" y="1268413"/>
            <a:ext cx="5051425" cy="5040312"/>
          </a:xfrm>
        </p:spPr>
        <p:txBody>
          <a:bodyPr vert="horz" wrap="square" lIns="91440" tIns="45720" rIns="91440" bIns="45720" anchor="t" anchorCtr="0"/>
          <a:p>
            <a:pPr>
              <a:buNone/>
            </a:pPr>
            <a:r>
              <a:rPr lang="en-US" altLang="zh-CN" sz="2600" dirty="0"/>
              <a:t>2</a:t>
            </a:r>
            <a:r>
              <a:rPr lang="zh-CN" altLang="en-US" sz="2600" dirty="0"/>
              <a:t>、分级结构</a:t>
            </a:r>
            <a:r>
              <a:rPr lang="zh-CN" altLang="en-US" sz="2600" b="1" dirty="0">
                <a:solidFill>
                  <a:srgbClr val="0000FF"/>
                </a:solidFill>
              </a:rPr>
              <a:t>（存储层次结构）</a:t>
            </a:r>
            <a:endParaRPr lang="en-US" altLang="zh-CN" sz="2600" b="1" dirty="0">
              <a:solidFill>
                <a:srgbClr val="0000FF"/>
              </a:solidFill>
            </a:endParaRPr>
          </a:p>
          <a:p>
            <a:r>
              <a:rPr lang="zh-CN" altLang="en-US" sz="2600" dirty="0"/>
              <a:t>高速缓冲存储器简称</a:t>
            </a:r>
            <a:r>
              <a:rPr lang="en-US" altLang="zh-CN" sz="2600" dirty="0"/>
              <a:t>cache</a:t>
            </a:r>
            <a:r>
              <a:rPr lang="zh-CN" altLang="en-US" sz="2600" dirty="0"/>
              <a:t>，它是计算机系统中的一个高速小容量半导体存储器。</a:t>
            </a:r>
            <a:endParaRPr lang="en-US" altLang="zh-CN" sz="2600" dirty="0"/>
          </a:p>
          <a:p>
            <a:r>
              <a:rPr lang="zh-CN" altLang="en-US" sz="2600" dirty="0"/>
              <a:t>主存储器简称主存，是计算机系统的主要存储器，用来存放计算机运行期间的大量程序和数据。</a:t>
            </a:r>
            <a:endParaRPr lang="en-US" altLang="zh-CN" sz="2600" dirty="0"/>
          </a:p>
          <a:p>
            <a:r>
              <a:rPr lang="zh-CN" altLang="en-US" sz="2600" dirty="0"/>
              <a:t>外存储器简称外存，它是大容量辅助存储器。</a:t>
            </a:r>
            <a:endParaRPr lang="zh-CN" altLang="en-US"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2">
                                            <p:txEl>
                                              <p:charRg st="15" end="5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2">
                                            <p:txEl>
                                              <p:charRg st="54" end="9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2">
                                            <p:txEl>
                                              <p:charRg st="97" end="1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3</a:t>
            </a:r>
            <a:r>
              <a:rPr lang="en-US" altLang="zh-CN" dirty="0"/>
              <a:t>.1.2  </a:t>
            </a:r>
            <a:r>
              <a:rPr lang="zh-CN" altLang="en-US" dirty="0"/>
              <a:t>存储器分级结构</a:t>
            </a:r>
            <a:endParaRPr lang="zh-CN" altLang="en-US" dirty="0"/>
          </a:p>
        </p:txBody>
      </p:sp>
      <p:sp>
        <p:nvSpPr>
          <p:cNvPr id="13315" name="Rectangle 3"/>
          <p:cNvSpPr>
            <a:spLocks noGrp="1"/>
          </p:cNvSpPr>
          <p:nvPr>
            <p:ph idx="1"/>
          </p:nvPr>
        </p:nvSpPr>
        <p:spPr>
          <a:xfrm>
            <a:off x="457200" y="1700213"/>
            <a:ext cx="8229600" cy="3886200"/>
          </a:xfrm>
        </p:spPr>
        <p:txBody>
          <a:bodyPr vert="horz" wrap="square" lIns="91440" tIns="45720" rIns="91440" bIns="45720" anchor="t" anchorCtr="0"/>
          <a:p>
            <a:r>
              <a:rPr lang="zh-CN" altLang="en-US" dirty="0"/>
              <a:t>分层存储器系统之间的连接关系</a:t>
            </a:r>
            <a:endParaRPr lang="zh-CN" altLang="en-US" dirty="0"/>
          </a:p>
        </p:txBody>
      </p:sp>
      <p:grpSp>
        <p:nvGrpSpPr>
          <p:cNvPr id="35845" name="Group 5"/>
          <p:cNvGrpSpPr/>
          <p:nvPr/>
        </p:nvGrpSpPr>
        <p:grpSpPr bwMode="auto">
          <a:xfrm>
            <a:off x="1691640" y="2348865"/>
            <a:ext cx="4732655" cy="4072890"/>
            <a:chOff x="2112" y="576"/>
            <a:chExt cx="3408" cy="3408"/>
          </a:xfrm>
        </p:grpSpPr>
        <p:sp>
          <p:nvSpPr>
            <p:cNvPr id="35846" name="Rectangle 1"/>
            <p:cNvSpPr>
              <a:spLocks noChangeArrowheads="1"/>
            </p:cNvSpPr>
            <p:nvPr/>
          </p:nvSpPr>
          <p:spPr bwMode="auto">
            <a:xfrm>
              <a:off x="3504" y="576"/>
              <a:ext cx="2016" cy="998"/>
            </a:xfrm>
            <a:prstGeom prst="rect">
              <a:avLst/>
            </a:prstGeom>
            <a:solidFill>
              <a:srgbClr val="339966"/>
            </a:solidFill>
            <a:ln w="9525">
              <a:noFill/>
              <a:miter lim="800000"/>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spcBef>
                  <a:spcPct val="0"/>
                </a:spcBef>
                <a:buClrTx/>
                <a:buFontTx/>
                <a:buNone/>
              </a:pPr>
              <a:r>
                <a:rPr lang="en-US" altLang="zh-CN" sz="2400">
                  <a:solidFill>
                    <a:schemeClr val="bg1"/>
                  </a:solidFill>
                  <a:ea typeface="宋体" panose="02010600030101010101" pitchFamily="2" charset="-122"/>
                </a:rPr>
                <a:t>CPU</a:t>
              </a:r>
              <a:endParaRPr lang="en-US" altLang="zh-CN" sz="2400">
                <a:solidFill>
                  <a:schemeClr val="bg1"/>
                </a:solidFill>
                <a:ea typeface="宋体" panose="02010600030101010101" pitchFamily="2" charset="-122"/>
              </a:endParaRPr>
            </a:p>
          </p:txBody>
        </p:sp>
        <p:grpSp>
          <p:nvGrpSpPr>
            <p:cNvPr id="35847" name="Group 4"/>
            <p:cNvGrpSpPr/>
            <p:nvPr/>
          </p:nvGrpSpPr>
          <p:grpSpPr bwMode="auto">
            <a:xfrm>
              <a:off x="2112" y="1200"/>
              <a:ext cx="3408" cy="2784"/>
              <a:chOff x="2112" y="1200"/>
              <a:chExt cx="3408" cy="2784"/>
            </a:xfrm>
          </p:grpSpPr>
          <p:sp>
            <p:nvSpPr>
              <p:cNvPr id="35849" name="Rectangle 23"/>
              <p:cNvSpPr>
                <a:spLocks noChangeArrowheads="1"/>
              </p:cNvSpPr>
              <p:nvPr/>
            </p:nvSpPr>
            <p:spPr bwMode="auto">
              <a:xfrm>
                <a:off x="3504" y="1865"/>
                <a:ext cx="2016" cy="1413"/>
              </a:xfrm>
              <a:prstGeom prst="rect">
                <a:avLst/>
              </a:prstGeom>
              <a:solidFill>
                <a:srgbClr val="339966"/>
              </a:solidFill>
              <a:ln w="9525">
                <a:noFill/>
                <a:miter lim="800000"/>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spcBef>
                    <a:spcPct val="0"/>
                  </a:spcBef>
                  <a:buClrTx/>
                  <a:buFontTx/>
                  <a:buNone/>
                </a:pPr>
                <a:r>
                  <a:rPr lang="zh-CN" altLang="en-US" sz="2400" dirty="0">
                    <a:solidFill>
                      <a:schemeClr val="bg1"/>
                    </a:solidFill>
                    <a:latin typeface="楷体" panose="02010609060101010101" pitchFamily="49" charset="-122"/>
                    <a:ea typeface="楷体" panose="02010609060101010101" pitchFamily="49" charset="-122"/>
                  </a:rPr>
                  <a:t>内存</a:t>
                </a:r>
                <a:endParaRPr lang="zh-CN" altLang="en-US" sz="2400" dirty="0">
                  <a:solidFill>
                    <a:schemeClr val="bg1"/>
                  </a:solidFill>
                  <a:latin typeface="楷体" panose="02010609060101010101" pitchFamily="49" charset="-122"/>
                  <a:ea typeface="楷体" panose="02010609060101010101" pitchFamily="49" charset="-122"/>
                </a:endParaRPr>
              </a:p>
            </p:txBody>
          </p:sp>
          <p:sp>
            <p:nvSpPr>
              <p:cNvPr id="35850" name="Line 12"/>
              <p:cNvSpPr>
                <a:spLocks noChangeShapeType="1"/>
              </p:cNvSpPr>
              <p:nvPr/>
            </p:nvSpPr>
            <p:spPr bwMode="auto">
              <a:xfrm>
                <a:off x="4272" y="3111"/>
                <a:ext cx="0" cy="333"/>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1" name="Line 13"/>
              <p:cNvSpPr>
                <a:spLocks noChangeShapeType="1"/>
              </p:cNvSpPr>
              <p:nvPr/>
            </p:nvSpPr>
            <p:spPr bwMode="auto">
              <a:xfrm>
                <a:off x="4848" y="1574"/>
                <a:ext cx="0" cy="1163"/>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2" name="Rectangle 16"/>
              <p:cNvSpPr>
                <a:spLocks noChangeArrowheads="1"/>
              </p:cNvSpPr>
              <p:nvPr/>
            </p:nvSpPr>
            <p:spPr bwMode="auto">
              <a:xfrm>
                <a:off x="3720" y="2031"/>
                <a:ext cx="912" cy="332"/>
              </a:xfrm>
              <a:prstGeom prst="rect">
                <a:avLst/>
              </a:prstGeom>
              <a:solidFill>
                <a:srgbClr val="800080"/>
              </a:solidFill>
              <a:ln w="9525">
                <a:noFill/>
                <a:miter lim="800000"/>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spcBef>
                    <a:spcPct val="0"/>
                  </a:spcBef>
                  <a:buClrTx/>
                  <a:buFontTx/>
                  <a:buNone/>
                </a:pPr>
                <a:r>
                  <a:rPr lang="en-US" altLang="zh-CN" sz="2400" dirty="0">
                    <a:solidFill>
                      <a:schemeClr val="bg1"/>
                    </a:solidFill>
                    <a:cs typeface="Times New Roman" panose="02020603050405020304" pitchFamily="18" charset="0"/>
                  </a:rPr>
                  <a:t>CACHE</a:t>
                </a:r>
                <a:endParaRPr lang="en-US" altLang="zh-CN" sz="2400" dirty="0">
                  <a:solidFill>
                    <a:schemeClr val="bg1"/>
                  </a:solidFill>
                  <a:cs typeface="Times New Roman" panose="02020603050405020304" pitchFamily="18" charset="0"/>
                </a:endParaRPr>
              </a:p>
            </p:txBody>
          </p:sp>
          <p:sp>
            <p:nvSpPr>
              <p:cNvPr id="35853" name="Rectangle 17"/>
              <p:cNvSpPr>
                <a:spLocks noChangeArrowheads="1"/>
              </p:cNvSpPr>
              <p:nvPr/>
            </p:nvSpPr>
            <p:spPr bwMode="auto">
              <a:xfrm>
                <a:off x="3720" y="2737"/>
                <a:ext cx="1608" cy="374"/>
              </a:xfrm>
              <a:prstGeom prst="rect">
                <a:avLst/>
              </a:prstGeom>
              <a:solidFill>
                <a:srgbClr val="800080"/>
              </a:solidFill>
              <a:ln w="9525">
                <a:noFill/>
                <a:miter lim="800000"/>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spcBef>
                    <a:spcPct val="0"/>
                  </a:spcBef>
                  <a:buClrTx/>
                  <a:buFontTx/>
                  <a:buNone/>
                </a:pPr>
                <a:r>
                  <a:rPr lang="zh-CN" altLang="en-US" sz="2400" dirty="0">
                    <a:solidFill>
                      <a:schemeClr val="bg1"/>
                    </a:solidFill>
                    <a:latin typeface="楷体" panose="02010609060101010101" pitchFamily="49" charset="-122"/>
                    <a:ea typeface="楷体" panose="02010609060101010101" pitchFamily="49" charset="-122"/>
                  </a:rPr>
                  <a:t>主存</a:t>
                </a:r>
                <a:endParaRPr lang="zh-CN" altLang="en-US" sz="2400" dirty="0">
                  <a:solidFill>
                    <a:schemeClr val="bg1"/>
                  </a:solidFill>
                  <a:latin typeface="楷体" panose="02010609060101010101" pitchFamily="49" charset="-122"/>
                  <a:ea typeface="楷体" panose="02010609060101010101" pitchFamily="49" charset="-122"/>
                </a:endParaRPr>
              </a:p>
            </p:txBody>
          </p:sp>
          <p:sp>
            <p:nvSpPr>
              <p:cNvPr id="35854" name="Rectangle 18"/>
              <p:cNvSpPr>
                <a:spLocks noChangeArrowheads="1"/>
              </p:cNvSpPr>
              <p:nvPr/>
            </p:nvSpPr>
            <p:spPr bwMode="auto">
              <a:xfrm>
                <a:off x="3720" y="3444"/>
                <a:ext cx="1608" cy="540"/>
              </a:xfrm>
              <a:prstGeom prst="rect">
                <a:avLst/>
              </a:prstGeom>
              <a:solidFill>
                <a:srgbClr val="0066CC"/>
              </a:solidFill>
              <a:ln w="9525">
                <a:noFill/>
                <a:miter lim="800000"/>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spcBef>
                    <a:spcPct val="0"/>
                  </a:spcBef>
                  <a:buClrTx/>
                  <a:buFontTx/>
                  <a:buNone/>
                </a:pPr>
                <a:r>
                  <a:rPr lang="zh-CN" altLang="en-US" sz="2400" dirty="0">
                    <a:solidFill>
                      <a:schemeClr val="bg1"/>
                    </a:solidFill>
                    <a:latin typeface="楷体" panose="02010609060101010101" pitchFamily="49" charset="-122"/>
                    <a:ea typeface="楷体" panose="02010609060101010101" pitchFamily="49" charset="-122"/>
                  </a:rPr>
                  <a:t>辅存（外存）</a:t>
                </a:r>
                <a:endParaRPr lang="zh-CN" altLang="en-US" sz="2400" dirty="0">
                  <a:solidFill>
                    <a:schemeClr val="bg1"/>
                  </a:solidFill>
                  <a:latin typeface="楷体" panose="02010609060101010101" pitchFamily="49" charset="-122"/>
                  <a:ea typeface="楷体" panose="02010609060101010101" pitchFamily="49" charset="-122"/>
                </a:endParaRPr>
              </a:p>
            </p:txBody>
          </p:sp>
          <p:sp>
            <p:nvSpPr>
              <p:cNvPr id="35855" name="Line 19"/>
              <p:cNvSpPr>
                <a:spLocks noChangeShapeType="1"/>
              </p:cNvSpPr>
              <p:nvPr/>
            </p:nvSpPr>
            <p:spPr bwMode="auto">
              <a:xfrm>
                <a:off x="4176" y="1574"/>
                <a:ext cx="0" cy="457"/>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6" name="Line 20"/>
              <p:cNvSpPr>
                <a:spLocks noChangeShapeType="1"/>
              </p:cNvSpPr>
              <p:nvPr/>
            </p:nvSpPr>
            <p:spPr bwMode="auto">
              <a:xfrm>
                <a:off x="4176" y="2363"/>
                <a:ext cx="0" cy="374"/>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7" name="Line 21"/>
              <p:cNvSpPr>
                <a:spLocks noChangeShapeType="1"/>
              </p:cNvSpPr>
              <p:nvPr/>
            </p:nvSpPr>
            <p:spPr bwMode="auto">
              <a:xfrm>
                <a:off x="4272" y="3111"/>
                <a:ext cx="0" cy="333"/>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8" name="Line 22"/>
              <p:cNvSpPr>
                <a:spLocks noChangeShapeType="1"/>
              </p:cNvSpPr>
              <p:nvPr/>
            </p:nvSpPr>
            <p:spPr bwMode="auto">
              <a:xfrm>
                <a:off x="4848" y="1574"/>
                <a:ext cx="0" cy="1163"/>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59" name="Rectangle 25"/>
              <p:cNvSpPr>
                <a:spLocks noChangeArrowheads="1"/>
              </p:cNvSpPr>
              <p:nvPr/>
            </p:nvSpPr>
            <p:spPr bwMode="auto">
              <a:xfrm>
                <a:off x="2112" y="3111"/>
                <a:ext cx="912" cy="561"/>
              </a:xfrm>
              <a:prstGeom prst="rect">
                <a:avLst/>
              </a:prstGeom>
              <a:solidFill>
                <a:srgbClr val="0066CC"/>
              </a:solidFill>
              <a:ln w="9525">
                <a:noFill/>
                <a:miter lim="800000"/>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spcBef>
                    <a:spcPct val="0"/>
                  </a:spcBef>
                  <a:buClrTx/>
                  <a:buFontTx/>
                  <a:buNone/>
                </a:pPr>
                <a:r>
                  <a:rPr lang="zh-CN" altLang="en-US" sz="2400" dirty="0">
                    <a:solidFill>
                      <a:schemeClr val="bg1"/>
                    </a:solidFill>
                    <a:latin typeface="楷体" panose="02010609060101010101" pitchFamily="49" charset="-122"/>
                    <a:ea typeface="楷体" panose="02010609060101010101" pitchFamily="49" charset="-122"/>
                  </a:rPr>
                  <a:t>辅助</a:t>
                </a:r>
                <a:endParaRPr lang="zh-CN" altLang="en-US" sz="2400" dirty="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lang="zh-CN" altLang="en-US" sz="2400" dirty="0">
                    <a:solidFill>
                      <a:schemeClr val="bg1"/>
                    </a:solidFill>
                    <a:latin typeface="楷体" panose="02010609060101010101" pitchFamily="49" charset="-122"/>
                    <a:ea typeface="楷体" panose="02010609060101010101" pitchFamily="49" charset="-122"/>
                  </a:rPr>
                  <a:t>软硬件</a:t>
                </a:r>
                <a:endParaRPr lang="zh-CN" altLang="en-US" sz="2400" dirty="0">
                  <a:solidFill>
                    <a:schemeClr val="bg1"/>
                  </a:solidFill>
                  <a:latin typeface="楷体" panose="02010609060101010101" pitchFamily="49" charset="-122"/>
                  <a:ea typeface="楷体" panose="02010609060101010101" pitchFamily="49" charset="-122"/>
                </a:endParaRPr>
              </a:p>
            </p:txBody>
          </p:sp>
          <p:sp>
            <p:nvSpPr>
              <p:cNvPr id="35860" name="Line 26"/>
              <p:cNvSpPr>
                <a:spLocks noChangeShapeType="1"/>
              </p:cNvSpPr>
              <p:nvPr/>
            </p:nvSpPr>
            <p:spPr bwMode="auto">
              <a:xfrm flipH="1">
                <a:off x="3024" y="2883"/>
                <a:ext cx="696" cy="395"/>
              </a:xfrm>
              <a:prstGeom prst="line">
                <a:avLst/>
              </a:prstGeom>
              <a:noFill/>
              <a:ln w="9525">
                <a:solidFill>
                  <a:schemeClr val="tx1"/>
                </a:solidFill>
                <a:prstDash val="dash"/>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61" name="Line 27"/>
              <p:cNvSpPr>
                <a:spLocks noChangeShapeType="1"/>
              </p:cNvSpPr>
              <p:nvPr/>
            </p:nvSpPr>
            <p:spPr bwMode="auto">
              <a:xfrm>
                <a:off x="3024" y="3444"/>
                <a:ext cx="696" cy="322"/>
              </a:xfrm>
              <a:prstGeom prst="line">
                <a:avLst/>
              </a:prstGeom>
              <a:noFill/>
              <a:ln w="9525">
                <a:solidFill>
                  <a:schemeClr val="tx1"/>
                </a:solidFill>
                <a:prstDash val="dash"/>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62" name="Rectangle 28"/>
              <p:cNvSpPr>
                <a:spLocks noChangeArrowheads="1"/>
              </p:cNvSpPr>
              <p:nvPr/>
            </p:nvSpPr>
            <p:spPr bwMode="auto">
              <a:xfrm>
                <a:off x="2112" y="2176"/>
                <a:ext cx="912" cy="561"/>
              </a:xfrm>
              <a:prstGeom prst="rect">
                <a:avLst/>
              </a:prstGeom>
              <a:solidFill>
                <a:srgbClr val="0066CC"/>
              </a:solidFill>
              <a:ln w="9525">
                <a:noFill/>
                <a:miter lim="800000"/>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spcBef>
                    <a:spcPct val="0"/>
                  </a:spcBef>
                  <a:buClrTx/>
                  <a:buFontTx/>
                  <a:buNone/>
                </a:pPr>
                <a:r>
                  <a:rPr lang="zh-CN" altLang="en-US" sz="2400" dirty="0">
                    <a:solidFill>
                      <a:schemeClr val="bg1"/>
                    </a:solidFill>
                    <a:latin typeface="楷体" panose="02010609060101010101" pitchFamily="49" charset="-122"/>
                    <a:ea typeface="楷体" panose="02010609060101010101" pitchFamily="49" charset="-122"/>
                  </a:rPr>
                  <a:t>辅助</a:t>
                </a:r>
                <a:endParaRPr lang="zh-CN" altLang="en-US" sz="2400" dirty="0">
                  <a:solidFill>
                    <a:schemeClr val="bg1"/>
                  </a:solidFill>
                  <a:latin typeface="楷体" panose="02010609060101010101" pitchFamily="49" charset="-122"/>
                  <a:ea typeface="楷体" panose="02010609060101010101" pitchFamily="49" charset="-122"/>
                </a:endParaRPr>
              </a:p>
              <a:p>
                <a:pPr algn="ctr" eaLnBrk="1" hangingPunct="1">
                  <a:spcBef>
                    <a:spcPct val="0"/>
                  </a:spcBef>
                  <a:buClrTx/>
                  <a:buFontTx/>
                  <a:buNone/>
                </a:pPr>
                <a:r>
                  <a:rPr lang="zh-CN" altLang="en-US" sz="2400" dirty="0">
                    <a:solidFill>
                      <a:schemeClr val="bg1"/>
                    </a:solidFill>
                    <a:latin typeface="楷体" panose="02010609060101010101" pitchFamily="49" charset="-122"/>
                    <a:ea typeface="楷体" panose="02010609060101010101" pitchFamily="49" charset="-122"/>
                  </a:rPr>
                  <a:t>硬件</a:t>
                </a:r>
                <a:endParaRPr lang="zh-CN" altLang="en-US" sz="2400" dirty="0">
                  <a:solidFill>
                    <a:schemeClr val="bg1"/>
                  </a:solidFill>
                  <a:latin typeface="楷体" panose="02010609060101010101" pitchFamily="49" charset="-122"/>
                  <a:ea typeface="楷体" panose="02010609060101010101" pitchFamily="49" charset="-122"/>
                </a:endParaRPr>
              </a:p>
            </p:txBody>
          </p:sp>
          <p:sp>
            <p:nvSpPr>
              <p:cNvPr id="35863" name="Line 29"/>
              <p:cNvSpPr>
                <a:spLocks noChangeShapeType="1"/>
              </p:cNvSpPr>
              <p:nvPr/>
            </p:nvSpPr>
            <p:spPr bwMode="auto">
              <a:xfrm flipH="1">
                <a:off x="3024" y="2166"/>
                <a:ext cx="696" cy="197"/>
              </a:xfrm>
              <a:prstGeom prst="line">
                <a:avLst/>
              </a:prstGeom>
              <a:noFill/>
              <a:ln w="9525">
                <a:solidFill>
                  <a:schemeClr val="tx1"/>
                </a:solidFill>
                <a:prstDash val="dash"/>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64" name="Line 30"/>
              <p:cNvSpPr>
                <a:spLocks noChangeShapeType="1"/>
              </p:cNvSpPr>
              <p:nvPr/>
            </p:nvSpPr>
            <p:spPr bwMode="auto">
              <a:xfrm>
                <a:off x="3024" y="2576"/>
                <a:ext cx="696" cy="322"/>
              </a:xfrm>
              <a:prstGeom prst="line">
                <a:avLst/>
              </a:prstGeom>
              <a:noFill/>
              <a:ln w="9525">
                <a:solidFill>
                  <a:schemeClr val="tx1"/>
                </a:solidFill>
                <a:prstDash val="dash"/>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865" name="Rectangle 15"/>
              <p:cNvSpPr>
                <a:spLocks noChangeArrowheads="1"/>
              </p:cNvSpPr>
              <p:nvPr/>
            </p:nvSpPr>
            <p:spPr bwMode="auto">
              <a:xfrm>
                <a:off x="3552" y="1200"/>
                <a:ext cx="1004" cy="315"/>
              </a:xfrm>
              <a:prstGeom prst="rect">
                <a:avLst/>
              </a:prstGeom>
              <a:solidFill>
                <a:srgbClr val="800080"/>
              </a:solidFill>
              <a:ln w="9525">
                <a:noFill/>
                <a:miter lim="800000"/>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spcBef>
                    <a:spcPct val="0"/>
                  </a:spcBef>
                  <a:buClrTx/>
                  <a:buFontTx/>
                  <a:buNone/>
                </a:pPr>
                <a:r>
                  <a:rPr lang="zh-CN" altLang="en-US" sz="2400" dirty="0">
                    <a:solidFill>
                      <a:schemeClr val="bg1"/>
                    </a:solidFill>
                    <a:latin typeface="楷体" panose="02010609060101010101" pitchFamily="49" charset="-122"/>
                    <a:ea typeface="楷体" panose="02010609060101010101" pitchFamily="49" charset="-122"/>
                  </a:rPr>
                  <a:t>数据寄存器</a:t>
                </a:r>
                <a:endParaRPr lang="zh-CN" altLang="en-US" sz="2400" dirty="0">
                  <a:solidFill>
                    <a:schemeClr val="bg1"/>
                  </a:solidFill>
                  <a:latin typeface="楷体" panose="02010609060101010101" pitchFamily="49" charset="-122"/>
                  <a:ea typeface="楷体" panose="02010609060101010101" pitchFamily="49" charset="-122"/>
                </a:endParaRPr>
              </a:p>
            </p:txBody>
          </p:sp>
        </p:grpSp>
        <p:sp>
          <p:nvSpPr>
            <p:cNvPr id="35848" name="Rectangle 2"/>
            <p:cNvSpPr>
              <a:spLocks noChangeArrowheads="1"/>
            </p:cNvSpPr>
            <p:nvPr/>
          </p:nvSpPr>
          <p:spPr bwMode="auto">
            <a:xfrm>
              <a:off x="4468" y="635"/>
              <a:ext cx="1004" cy="315"/>
            </a:xfrm>
            <a:prstGeom prst="rect">
              <a:avLst/>
            </a:prstGeom>
            <a:solidFill>
              <a:srgbClr val="800080"/>
            </a:solidFill>
            <a:ln w="9525">
              <a:noFill/>
              <a:miter lim="800000"/>
            </a:ln>
            <a:effectLst>
              <a:outerShdw blurRad="50800" dist="38100" dir="2700000" algn="tl" rotWithShape="0">
                <a:prstClr val="black">
                  <a:alpha val="40000"/>
                </a:prstClr>
              </a:outerShdw>
            </a:effec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spcBef>
                  <a:spcPct val="0"/>
                </a:spcBef>
                <a:buClrTx/>
                <a:buFontTx/>
                <a:buNone/>
              </a:pPr>
              <a:r>
                <a:rPr lang="zh-CN" altLang="en-US" sz="2400" dirty="0">
                  <a:solidFill>
                    <a:schemeClr val="bg1"/>
                  </a:solidFill>
                  <a:latin typeface="楷体" panose="02010609060101010101" pitchFamily="49" charset="-122"/>
                  <a:ea typeface="楷体" panose="02010609060101010101" pitchFamily="49" charset="-122"/>
                </a:rPr>
                <a:t>指令寄存器</a:t>
              </a:r>
              <a:endParaRPr lang="zh-CN" altLang="en-US" sz="2400" dirty="0">
                <a:solidFill>
                  <a:schemeClr val="bg1"/>
                </a:solidFill>
                <a:latin typeface="楷体" panose="02010609060101010101" pitchFamily="49" charset="-122"/>
                <a:ea typeface="楷体" panose="02010609060101010101" pitchFamily="49" charset="-122"/>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xfrm>
            <a:off x="469900" y="266700"/>
            <a:ext cx="7531100" cy="785813"/>
          </a:xfrm>
        </p:spPr>
        <p:txBody>
          <a:bodyPr vert="horz" wrap="square" lIns="91440" tIns="45720" rIns="91440" bIns="45720" anchor="ctr" anchorCtr="0"/>
          <a:p>
            <a:pPr defTabSz="717550"/>
            <a:r>
              <a:rPr lang="zh-CN" altLang="en-US" dirty="0"/>
              <a:t>内存与外存的关系及比较</a:t>
            </a:r>
            <a:endParaRPr lang="zh-CN" altLang="en-US" dirty="0"/>
          </a:p>
        </p:txBody>
      </p:sp>
      <p:sp>
        <p:nvSpPr>
          <p:cNvPr id="125955" name="Rectangle 3"/>
          <p:cNvSpPr>
            <a:spLocks noGrp="1"/>
          </p:cNvSpPr>
          <p:nvPr>
            <p:ph idx="1"/>
          </p:nvPr>
        </p:nvSpPr>
        <p:spPr>
          <a:xfrm>
            <a:off x="4706938" y="3654425"/>
            <a:ext cx="4265612" cy="2789238"/>
          </a:xfrm>
          <a:ln>
            <a:solidFill>
              <a:srgbClr val="0033CC">
                <a:alpha val="100000"/>
              </a:srgbClr>
            </a:solidFill>
            <a:miter lim="800000"/>
          </a:ln>
        </p:spPr>
        <p:txBody>
          <a:bodyPr vert="horz" wrap="square" lIns="91440" tIns="45720" rIns="91440" bIns="45720" anchor="t" anchorCtr="0"/>
          <a:p>
            <a:pPr marL="268605" indent="-268605" defTabSz="717550"/>
            <a:r>
              <a:rPr lang="zh-CN" altLang="en-US" sz="2100" dirty="0">
                <a:solidFill>
                  <a:srgbClr val="0033CC"/>
                </a:solidFill>
                <a:ea typeface="黑体" panose="02010609060101010101" pitchFamily="49" charset="-122"/>
              </a:rPr>
              <a:t>内存储器（简称内存或主存）</a:t>
            </a:r>
            <a:endParaRPr lang="en-US" altLang="zh-CN" sz="2100" dirty="0">
              <a:solidFill>
                <a:srgbClr val="0033CC"/>
              </a:solidFill>
              <a:ea typeface="黑体" panose="02010609060101010101" pitchFamily="49" charset="-122"/>
            </a:endParaRPr>
          </a:p>
          <a:p>
            <a:pPr marL="582930" lvl="1" indent="-224155" defTabSz="717550"/>
            <a:r>
              <a:rPr lang="zh-CN" altLang="en-US" sz="1800" dirty="0">
                <a:solidFill>
                  <a:srgbClr val="0033CC"/>
                </a:solidFill>
                <a:ea typeface="黑体" panose="02010609060101010101" pitchFamily="49" charset="-122"/>
              </a:rPr>
              <a:t>存取速度快</a:t>
            </a:r>
            <a:endParaRPr lang="en-US" altLang="zh-CN" sz="1800" dirty="0">
              <a:solidFill>
                <a:srgbClr val="0033CC"/>
              </a:solidFill>
              <a:ea typeface="黑体" panose="02010609060101010101" pitchFamily="49" charset="-122"/>
            </a:endParaRPr>
          </a:p>
          <a:p>
            <a:pPr marL="582930" lvl="1" indent="-224155" defTabSz="717550"/>
            <a:r>
              <a:rPr lang="zh-CN" altLang="en-US" sz="1800" dirty="0">
                <a:solidFill>
                  <a:srgbClr val="0033CC"/>
                </a:solidFill>
                <a:ea typeface="黑体" panose="02010609060101010101" pitchFamily="49" charset="-122"/>
              </a:rPr>
              <a:t>成本高、容量相对较小</a:t>
            </a:r>
            <a:endParaRPr lang="en-US" altLang="zh-CN" sz="1800" dirty="0">
              <a:solidFill>
                <a:srgbClr val="0033CC"/>
              </a:solidFill>
              <a:ea typeface="黑体" panose="02010609060101010101" pitchFamily="49" charset="-122"/>
            </a:endParaRPr>
          </a:p>
          <a:p>
            <a:pPr marL="582930" lvl="1" indent="-224155" defTabSz="717550">
              <a:lnSpc>
                <a:spcPct val="130000"/>
              </a:lnSpc>
            </a:pPr>
            <a:r>
              <a:rPr lang="zh-CN" altLang="en-US" sz="1800" dirty="0">
                <a:solidFill>
                  <a:srgbClr val="0033CC"/>
                </a:solidFill>
                <a:ea typeface="黑体" panose="02010609060101010101" pitchFamily="49" charset="-122"/>
              </a:rPr>
              <a:t>直接与</a:t>
            </a:r>
            <a:r>
              <a:rPr lang="en-US" altLang="zh-CN" sz="1800" dirty="0">
                <a:solidFill>
                  <a:srgbClr val="0033CC"/>
                </a:solidFill>
                <a:ea typeface="黑体" panose="02010609060101010101" pitchFamily="49" charset="-122"/>
              </a:rPr>
              <a:t>CPU</a:t>
            </a:r>
            <a:r>
              <a:rPr lang="zh-CN" altLang="en-US" sz="1800" dirty="0">
                <a:solidFill>
                  <a:srgbClr val="0033CC"/>
                </a:solidFill>
                <a:ea typeface="黑体" panose="02010609060101010101" pitchFamily="49" charset="-122"/>
              </a:rPr>
              <a:t>连接，</a:t>
            </a:r>
            <a:r>
              <a:rPr lang="en-US" altLang="zh-CN" sz="1800" dirty="0">
                <a:solidFill>
                  <a:srgbClr val="0033CC"/>
                </a:solidFill>
                <a:ea typeface="黑体" panose="02010609060101010101" pitchFamily="49" charset="-122"/>
              </a:rPr>
              <a:t>CPU</a:t>
            </a:r>
            <a:r>
              <a:rPr lang="zh-CN" altLang="en-US" sz="1800" dirty="0">
                <a:solidFill>
                  <a:srgbClr val="0033CC"/>
                </a:solidFill>
                <a:ea typeface="黑体" panose="02010609060101010101" pitchFamily="49" charset="-122"/>
              </a:rPr>
              <a:t>对内存中的指令及数据进行读、写操作</a:t>
            </a:r>
            <a:endParaRPr lang="en-US" altLang="zh-CN" sz="1800" dirty="0">
              <a:solidFill>
                <a:srgbClr val="0033CC"/>
              </a:solidFill>
              <a:ea typeface="黑体" panose="02010609060101010101" pitchFamily="49" charset="-122"/>
            </a:endParaRPr>
          </a:p>
          <a:p>
            <a:pPr marL="582930" lvl="1" indent="-224155" defTabSz="717550"/>
            <a:r>
              <a:rPr lang="zh-CN" altLang="en-US" sz="1800" dirty="0">
                <a:solidFill>
                  <a:srgbClr val="0033CC"/>
                </a:solidFill>
                <a:ea typeface="黑体" panose="02010609060101010101" pitchFamily="49" charset="-122"/>
              </a:rPr>
              <a:t>属于</a:t>
            </a:r>
            <a:r>
              <a:rPr lang="zh-CN" altLang="en-US" sz="1800" dirty="0">
                <a:solidFill>
                  <a:srgbClr val="0000FF"/>
                </a:solidFill>
                <a:ea typeface="黑体" panose="02010609060101010101" pitchFamily="49" charset="-122"/>
              </a:rPr>
              <a:t>易失</a:t>
            </a:r>
            <a:r>
              <a:rPr lang="zh-CN" altLang="en-US" sz="1800" dirty="0">
                <a:solidFill>
                  <a:srgbClr val="0033CC"/>
                </a:solidFill>
                <a:ea typeface="黑体" panose="02010609060101010101" pitchFamily="49" charset="-122"/>
              </a:rPr>
              <a:t>性存储器</a:t>
            </a:r>
            <a:r>
              <a:rPr lang="en-US" altLang="zh-CN" sz="1800" dirty="0">
                <a:solidFill>
                  <a:srgbClr val="0033CC"/>
                </a:solidFill>
                <a:ea typeface="黑体" panose="02010609060101010101" pitchFamily="49" charset="-122"/>
              </a:rPr>
              <a:t>(volatile)</a:t>
            </a:r>
            <a:r>
              <a:rPr lang="zh-CN" altLang="en-US" sz="1800" dirty="0">
                <a:solidFill>
                  <a:srgbClr val="0033CC"/>
                </a:solidFill>
                <a:ea typeface="黑体" panose="02010609060101010101" pitchFamily="49" charset="-122"/>
              </a:rPr>
              <a:t>，用于临时存放正在运行的程序和数据</a:t>
            </a:r>
            <a:endParaRPr lang="zh-CN" altLang="en-US" sz="1800" dirty="0">
              <a:solidFill>
                <a:srgbClr val="0033CC"/>
              </a:solidFill>
              <a:ea typeface="黑体" panose="02010609060101010101" pitchFamily="49" charset="-122"/>
            </a:endParaRPr>
          </a:p>
        </p:txBody>
      </p:sp>
      <p:grpSp>
        <p:nvGrpSpPr>
          <p:cNvPr id="14340" name="Group 4"/>
          <p:cNvGrpSpPr/>
          <p:nvPr/>
        </p:nvGrpSpPr>
        <p:grpSpPr>
          <a:xfrm>
            <a:off x="3546475" y="1201738"/>
            <a:ext cx="1660525" cy="2157412"/>
            <a:chOff x="2419" y="1680"/>
            <a:chExt cx="1045" cy="1360"/>
          </a:xfrm>
        </p:grpSpPr>
        <p:sp>
          <p:nvSpPr>
            <p:cNvPr id="14374" name="Rectangle 5"/>
            <p:cNvSpPr/>
            <p:nvPr/>
          </p:nvSpPr>
          <p:spPr>
            <a:xfrm>
              <a:off x="2419" y="1680"/>
              <a:ext cx="1014" cy="1360"/>
            </a:xfrm>
            <a:prstGeom prst="rect">
              <a:avLst/>
            </a:prstGeom>
            <a:solidFill>
              <a:srgbClr val="FFFFFF"/>
            </a:solidFill>
            <a:ln w="285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75" name="Text Box 6"/>
            <p:cNvSpPr txBox="1"/>
            <p:nvPr/>
          </p:nvSpPr>
          <p:spPr>
            <a:xfrm>
              <a:off x="3068" y="2015"/>
              <a:ext cx="396" cy="686"/>
            </a:xfrm>
            <a:prstGeom prst="rect">
              <a:avLst/>
            </a:prstGeom>
            <a:noFill/>
            <a:ln w="9525">
              <a:noFill/>
            </a:ln>
          </p:spPr>
          <p:txBody>
            <a:bodyPr vert="eaVert" lIns="88950" tIns="44480" rIns="88950" bIns="4448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spcBef>
                  <a:spcPct val="0"/>
                </a:spcBef>
                <a:buClrTx/>
                <a:buSzTx/>
                <a:buFontTx/>
                <a:buNone/>
              </a:pPr>
              <a:r>
                <a:rPr lang="zh-CN" altLang="en-US" sz="1700" b="1" dirty="0">
                  <a:solidFill>
                    <a:srgbClr val="0000FF"/>
                  </a:solidFill>
                  <a:latin typeface="Times New Roman" panose="02020603050405020304" pitchFamily="18" charset="0"/>
                  <a:ea typeface="黑体" panose="02010609060101010101" pitchFamily="49" charset="-122"/>
                </a:rPr>
                <a:t>内存储器</a:t>
              </a:r>
              <a:endParaRPr lang="zh-CN" altLang="en-US" sz="1700" b="1" dirty="0">
                <a:solidFill>
                  <a:srgbClr val="0000FF"/>
                </a:solidFill>
                <a:latin typeface="Times New Roman" panose="02020603050405020304" pitchFamily="18" charset="0"/>
                <a:ea typeface="黑体" panose="02010609060101010101" pitchFamily="49" charset="-122"/>
              </a:endParaRPr>
            </a:p>
          </p:txBody>
        </p:sp>
      </p:grpSp>
      <p:grpSp>
        <p:nvGrpSpPr>
          <p:cNvPr id="14341" name="Group 7"/>
          <p:cNvGrpSpPr/>
          <p:nvPr/>
        </p:nvGrpSpPr>
        <p:grpSpPr>
          <a:xfrm>
            <a:off x="468313" y="1887538"/>
            <a:ext cx="1196975" cy="746125"/>
            <a:chOff x="480" y="2112"/>
            <a:chExt cx="754" cy="470"/>
          </a:xfrm>
        </p:grpSpPr>
        <p:sp>
          <p:nvSpPr>
            <p:cNvPr id="14372" name="AutoShape 8"/>
            <p:cNvSpPr/>
            <p:nvPr/>
          </p:nvSpPr>
          <p:spPr>
            <a:xfrm>
              <a:off x="512" y="2112"/>
              <a:ext cx="693" cy="470"/>
            </a:xfrm>
            <a:prstGeom prst="can">
              <a:avLst>
                <a:gd name="adj" fmla="val 25000"/>
              </a:avLst>
            </a:prstGeom>
            <a:solidFill>
              <a:srgbClr val="FFFFFF"/>
            </a:solidFill>
            <a:ln w="2857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73" name="Text Box 9"/>
            <p:cNvSpPr txBox="1"/>
            <p:nvPr/>
          </p:nvSpPr>
          <p:spPr>
            <a:xfrm>
              <a:off x="480" y="2243"/>
              <a:ext cx="754" cy="309"/>
            </a:xfrm>
            <a:prstGeom prst="rect">
              <a:avLst/>
            </a:prstGeom>
            <a:noFill/>
            <a:ln w="9525">
              <a:noFill/>
            </a:ln>
          </p:spPr>
          <p:txBody>
            <a:bodyPr lIns="88950" tIns="44480" rIns="88950" bIns="4448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zh-CN" altLang="en-US" sz="1800" b="1" dirty="0">
                  <a:solidFill>
                    <a:srgbClr val="0000FF"/>
                  </a:solidFill>
                  <a:latin typeface="Times New Roman" panose="02020603050405020304" pitchFamily="18" charset="0"/>
                  <a:ea typeface="黑体" panose="02010609060101010101" pitchFamily="49" charset="-122"/>
                </a:rPr>
                <a:t>外存储器</a:t>
              </a:r>
              <a:endParaRPr lang="zh-CN" altLang="en-US" sz="1800" b="1" dirty="0">
                <a:solidFill>
                  <a:srgbClr val="0000FF"/>
                </a:solidFill>
                <a:latin typeface="Times New Roman" panose="02020603050405020304" pitchFamily="18" charset="0"/>
                <a:ea typeface="黑体" panose="02010609060101010101" pitchFamily="49" charset="-122"/>
              </a:endParaRPr>
            </a:p>
          </p:txBody>
        </p:sp>
      </p:grpSp>
      <p:sp>
        <p:nvSpPr>
          <p:cNvPr id="14342" name="Rectangle 10"/>
          <p:cNvSpPr/>
          <p:nvPr/>
        </p:nvSpPr>
        <p:spPr>
          <a:xfrm>
            <a:off x="7091363" y="1201738"/>
            <a:ext cx="1257300" cy="2157412"/>
          </a:xfrm>
          <a:prstGeom prst="rect">
            <a:avLst/>
          </a:prstGeom>
          <a:solidFill>
            <a:srgbClr val="FFFFFF"/>
          </a:solidFill>
          <a:ln w="2857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43" name="Text Box 11"/>
          <p:cNvSpPr txBox="1"/>
          <p:nvPr/>
        </p:nvSpPr>
        <p:spPr>
          <a:xfrm>
            <a:off x="7092950" y="1284288"/>
            <a:ext cx="1196975" cy="492125"/>
          </a:xfrm>
          <a:prstGeom prst="rect">
            <a:avLst/>
          </a:prstGeom>
          <a:noFill/>
          <a:ln w="9525">
            <a:noFill/>
          </a:ln>
        </p:spPr>
        <p:txBody>
          <a:bodyPr lIns="88950" tIns="44480" rIns="88950" bIns="4448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CN" sz="2000" b="1" dirty="0">
                <a:solidFill>
                  <a:srgbClr val="0033CC"/>
                </a:solidFill>
                <a:latin typeface="Times New Roman" panose="02020603050405020304" pitchFamily="18" charset="0"/>
              </a:rPr>
              <a:t>CPU</a:t>
            </a:r>
            <a:endParaRPr lang="en-US" altLang="zh-CN" sz="2000" b="1" dirty="0">
              <a:solidFill>
                <a:srgbClr val="0033CC"/>
              </a:solidFill>
              <a:latin typeface="Times New Roman" panose="02020603050405020304" pitchFamily="18" charset="0"/>
            </a:endParaRPr>
          </a:p>
        </p:txBody>
      </p:sp>
      <p:grpSp>
        <p:nvGrpSpPr>
          <p:cNvPr id="4" name="Group 12"/>
          <p:cNvGrpSpPr/>
          <p:nvPr/>
        </p:nvGrpSpPr>
        <p:grpSpPr>
          <a:xfrm>
            <a:off x="1612900" y="1300163"/>
            <a:ext cx="3200400" cy="2128837"/>
            <a:chOff x="1201" y="1742"/>
            <a:chExt cx="2016" cy="1341"/>
          </a:xfrm>
        </p:grpSpPr>
        <p:grpSp>
          <p:nvGrpSpPr>
            <p:cNvPr id="14355" name="Group 13"/>
            <p:cNvGrpSpPr/>
            <p:nvPr/>
          </p:nvGrpSpPr>
          <p:grpSpPr>
            <a:xfrm>
              <a:off x="2474" y="1742"/>
              <a:ext cx="743" cy="1341"/>
              <a:chOff x="2474" y="1742"/>
              <a:chExt cx="743" cy="1341"/>
            </a:xfrm>
          </p:grpSpPr>
          <p:sp>
            <p:nvSpPr>
              <p:cNvPr id="14358" name="Text Box 14"/>
              <p:cNvSpPr txBox="1"/>
              <p:nvPr/>
            </p:nvSpPr>
            <p:spPr>
              <a:xfrm>
                <a:off x="2474" y="1782"/>
                <a:ext cx="550" cy="209"/>
              </a:xfrm>
              <a:prstGeom prst="rect">
                <a:avLst/>
              </a:prstGeom>
              <a:noFill/>
              <a:ln w="9525">
                <a:noFill/>
              </a:ln>
            </p:spPr>
            <p:txBody>
              <a:bodyPr lIns="88950" tIns="0" rIns="8895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spcBef>
                    <a:spcPct val="0"/>
                  </a:spcBef>
                  <a:buClrTx/>
                  <a:buSzTx/>
                  <a:buFontTx/>
                  <a:buNone/>
                </a:pPr>
                <a:r>
                  <a:rPr lang="zh-CN" altLang="en-US" sz="1200" b="1" dirty="0">
                    <a:latin typeface="Times New Roman" panose="02020603050405020304" pitchFamily="18" charset="0"/>
                  </a:rPr>
                  <a:t>指令</a:t>
                </a:r>
                <a:r>
                  <a:rPr lang="en-US" altLang="zh-CN" sz="1200" b="1" dirty="0">
                    <a:latin typeface="Times New Roman" panose="02020603050405020304" pitchFamily="18" charset="0"/>
                  </a:rPr>
                  <a:t>1</a:t>
                </a:r>
                <a:endParaRPr lang="en-US" altLang="zh-CN" sz="1200" b="1" dirty="0">
                  <a:latin typeface="Times New Roman" panose="02020603050405020304" pitchFamily="18" charset="0"/>
                </a:endParaRPr>
              </a:p>
            </p:txBody>
          </p:sp>
          <p:sp>
            <p:nvSpPr>
              <p:cNvPr id="14359" name="Text Box 15"/>
              <p:cNvSpPr txBox="1"/>
              <p:nvPr/>
            </p:nvSpPr>
            <p:spPr>
              <a:xfrm>
                <a:off x="2474" y="1911"/>
                <a:ext cx="550" cy="208"/>
              </a:xfrm>
              <a:prstGeom prst="rect">
                <a:avLst/>
              </a:prstGeom>
              <a:noFill/>
              <a:ln w="9525">
                <a:noFill/>
              </a:ln>
            </p:spPr>
            <p:txBody>
              <a:bodyPr lIns="88950" tIns="0" rIns="8895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spcBef>
                    <a:spcPct val="0"/>
                  </a:spcBef>
                  <a:buClrTx/>
                  <a:buSzTx/>
                  <a:buFontTx/>
                  <a:buNone/>
                </a:pPr>
                <a:r>
                  <a:rPr lang="zh-CN" altLang="en-US" sz="1200" b="1" dirty="0">
                    <a:latin typeface="Times New Roman" panose="02020603050405020304" pitchFamily="18" charset="0"/>
                  </a:rPr>
                  <a:t>指令</a:t>
                </a:r>
                <a:r>
                  <a:rPr lang="en-US" altLang="zh-CN" sz="1200" b="1" dirty="0">
                    <a:latin typeface="Times New Roman" panose="02020603050405020304" pitchFamily="18" charset="0"/>
                  </a:rPr>
                  <a:t>2</a:t>
                </a:r>
                <a:endParaRPr lang="en-US" altLang="zh-CN" sz="1200" b="1" dirty="0">
                  <a:latin typeface="Times New Roman" panose="02020603050405020304" pitchFamily="18" charset="0"/>
                </a:endParaRPr>
              </a:p>
            </p:txBody>
          </p:sp>
          <p:sp>
            <p:nvSpPr>
              <p:cNvPr id="14360" name="Text Box 16"/>
              <p:cNvSpPr txBox="1"/>
              <p:nvPr/>
            </p:nvSpPr>
            <p:spPr>
              <a:xfrm>
                <a:off x="2474" y="2117"/>
                <a:ext cx="550" cy="209"/>
              </a:xfrm>
              <a:prstGeom prst="rect">
                <a:avLst/>
              </a:prstGeom>
              <a:noFill/>
              <a:ln w="9525">
                <a:noFill/>
              </a:ln>
            </p:spPr>
            <p:txBody>
              <a:bodyPr lIns="88950" tIns="0" rIns="8895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spcBef>
                    <a:spcPct val="0"/>
                  </a:spcBef>
                  <a:buClrTx/>
                  <a:buSzTx/>
                  <a:buFontTx/>
                  <a:buNone/>
                </a:pPr>
                <a:r>
                  <a:rPr lang="zh-CN" altLang="en-US" sz="1200" b="1" dirty="0">
                    <a:latin typeface="Times New Roman" panose="02020603050405020304" pitchFamily="18" charset="0"/>
                  </a:rPr>
                  <a:t>指令</a:t>
                </a:r>
                <a:r>
                  <a:rPr lang="en-US" altLang="zh-CN" sz="1200" b="1" dirty="0">
                    <a:latin typeface="Times New Roman" panose="02020603050405020304" pitchFamily="18" charset="0"/>
                  </a:rPr>
                  <a:t>k</a:t>
                </a:r>
                <a:endParaRPr lang="en-US" altLang="zh-CN" sz="1200" b="1" dirty="0">
                  <a:latin typeface="Times New Roman" panose="02020603050405020304" pitchFamily="18" charset="0"/>
                </a:endParaRPr>
              </a:p>
              <a:p>
                <a:pPr marL="0" lvl="0" indent="0" algn="just">
                  <a:spcBef>
                    <a:spcPct val="0"/>
                  </a:spcBef>
                  <a:buClrTx/>
                  <a:buSzTx/>
                  <a:buFontTx/>
                  <a:buNone/>
                </a:pPr>
                <a:endParaRPr lang="zh-CN" altLang="en-US" sz="1200" b="1" dirty="0">
                  <a:latin typeface="Times New Roman" panose="02020603050405020304" pitchFamily="18" charset="0"/>
                </a:endParaRPr>
              </a:p>
            </p:txBody>
          </p:sp>
          <p:sp>
            <p:nvSpPr>
              <p:cNvPr id="14361" name="Text Box 17"/>
              <p:cNvSpPr txBox="1"/>
              <p:nvPr/>
            </p:nvSpPr>
            <p:spPr>
              <a:xfrm>
                <a:off x="2474" y="2298"/>
                <a:ext cx="550" cy="209"/>
              </a:xfrm>
              <a:prstGeom prst="rect">
                <a:avLst/>
              </a:prstGeom>
              <a:noFill/>
              <a:ln w="9525">
                <a:noFill/>
              </a:ln>
            </p:spPr>
            <p:txBody>
              <a:bodyPr lIns="88950" tIns="0" rIns="8895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spcBef>
                    <a:spcPct val="0"/>
                  </a:spcBef>
                  <a:buClrTx/>
                  <a:buSzTx/>
                  <a:buFontTx/>
                  <a:buNone/>
                </a:pPr>
                <a:r>
                  <a:rPr lang="zh-CN" altLang="en-US" sz="1200" b="1" dirty="0">
                    <a:latin typeface="Times New Roman" panose="02020603050405020304" pitchFamily="18" charset="0"/>
                  </a:rPr>
                  <a:t>指令</a:t>
                </a:r>
                <a:r>
                  <a:rPr lang="en-US" altLang="zh-CN" sz="1200" b="1" dirty="0">
                    <a:latin typeface="Times New Roman" panose="02020603050405020304" pitchFamily="18" charset="0"/>
                  </a:rPr>
                  <a:t>n</a:t>
                </a:r>
                <a:endParaRPr lang="en-US" altLang="zh-CN" sz="1200" b="1" dirty="0">
                  <a:latin typeface="Times New Roman" panose="02020603050405020304" pitchFamily="18" charset="0"/>
                </a:endParaRPr>
              </a:p>
              <a:p>
                <a:pPr marL="0" lvl="0" indent="0" algn="just">
                  <a:spcBef>
                    <a:spcPct val="0"/>
                  </a:spcBef>
                  <a:buClrTx/>
                  <a:buSzTx/>
                  <a:buFontTx/>
                  <a:buNone/>
                </a:pPr>
                <a:endParaRPr lang="zh-CN" altLang="en-US" sz="1200" b="1" dirty="0">
                  <a:latin typeface="Times New Roman" panose="02020603050405020304" pitchFamily="18" charset="0"/>
                </a:endParaRPr>
              </a:p>
            </p:txBody>
          </p:sp>
          <p:sp>
            <p:nvSpPr>
              <p:cNvPr id="14362" name="Line 18"/>
              <p:cNvSpPr/>
              <p:nvPr/>
            </p:nvSpPr>
            <p:spPr>
              <a:xfrm>
                <a:off x="2660" y="2075"/>
                <a:ext cx="136" cy="0"/>
              </a:xfrm>
              <a:prstGeom prst="line">
                <a:avLst/>
              </a:prstGeom>
              <a:ln w="12700" cap="flat" cmpd="sng">
                <a:solidFill>
                  <a:srgbClr val="000000"/>
                </a:solidFill>
                <a:prstDash val="sysDot"/>
                <a:headEnd type="none" w="med" len="med"/>
                <a:tailEnd type="none" w="med" len="med"/>
              </a:ln>
            </p:spPr>
          </p:sp>
          <p:sp>
            <p:nvSpPr>
              <p:cNvPr id="14363" name="Line 19"/>
              <p:cNvSpPr/>
              <p:nvPr/>
            </p:nvSpPr>
            <p:spPr>
              <a:xfrm>
                <a:off x="2654" y="2266"/>
                <a:ext cx="135" cy="0"/>
              </a:xfrm>
              <a:prstGeom prst="line">
                <a:avLst/>
              </a:prstGeom>
              <a:ln w="12700" cap="flat" cmpd="sng">
                <a:solidFill>
                  <a:srgbClr val="000000"/>
                </a:solidFill>
                <a:prstDash val="sysDot"/>
                <a:headEnd type="none" w="med" len="med"/>
                <a:tailEnd type="none" w="med" len="med"/>
              </a:ln>
            </p:spPr>
          </p:sp>
          <p:sp>
            <p:nvSpPr>
              <p:cNvPr id="14364" name="Rectangle 20"/>
              <p:cNvSpPr/>
              <p:nvPr/>
            </p:nvSpPr>
            <p:spPr>
              <a:xfrm>
                <a:off x="2524" y="1742"/>
                <a:ext cx="470" cy="693"/>
              </a:xfrm>
              <a:prstGeom prst="rect">
                <a:avLst/>
              </a:prstGeom>
              <a:no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65" name="Text Box 21"/>
              <p:cNvSpPr txBox="1"/>
              <p:nvPr/>
            </p:nvSpPr>
            <p:spPr>
              <a:xfrm>
                <a:off x="2809" y="1742"/>
                <a:ext cx="408" cy="358"/>
              </a:xfrm>
              <a:prstGeom prst="rect">
                <a:avLst/>
              </a:prstGeom>
              <a:noFill/>
              <a:ln w="9525">
                <a:noFill/>
              </a:ln>
            </p:spPr>
            <p:txBody>
              <a:bodyPr vert="eaVert" lIns="88950" tIns="44480" rIns="88950" bIns="4448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FF0000"/>
                    </a:solidFill>
                    <a:latin typeface="Times New Roman" panose="02020603050405020304" pitchFamily="18" charset="0"/>
                    <a:ea typeface="黑体" panose="02010609060101010101" pitchFamily="49" charset="-122"/>
                  </a:rPr>
                  <a:t>程序</a:t>
                </a:r>
                <a:endParaRPr lang="zh-CN" altLang="en-US" sz="1800" b="1" dirty="0">
                  <a:solidFill>
                    <a:srgbClr val="FF0000"/>
                  </a:solidFill>
                  <a:latin typeface="Times New Roman" panose="02020603050405020304" pitchFamily="18" charset="0"/>
                  <a:ea typeface="黑体" panose="02010609060101010101" pitchFamily="49" charset="-122"/>
                </a:endParaRPr>
              </a:p>
            </p:txBody>
          </p:sp>
          <p:sp>
            <p:nvSpPr>
              <p:cNvPr id="14366" name="Text Box 22"/>
              <p:cNvSpPr txBox="1"/>
              <p:nvPr/>
            </p:nvSpPr>
            <p:spPr>
              <a:xfrm>
                <a:off x="2474" y="2504"/>
                <a:ext cx="521" cy="291"/>
              </a:xfrm>
              <a:prstGeom prst="rect">
                <a:avLst/>
              </a:prstGeom>
              <a:noFill/>
              <a:ln w="9525">
                <a:noFill/>
              </a:ln>
            </p:spPr>
            <p:txBody>
              <a:bodyPr lIns="88950" tIns="44480" rIns="88950" bIns="4448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spcBef>
                    <a:spcPct val="0"/>
                  </a:spcBef>
                  <a:buClrTx/>
                  <a:buSzTx/>
                  <a:buFontTx/>
                  <a:buNone/>
                </a:pPr>
                <a:r>
                  <a:rPr lang="zh-CN" altLang="en-US" sz="1200" b="1" dirty="0">
                    <a:latin typeface="Times New Roman" panose="02020603050405020304" pitchFamily="18" charset="0"/>
                  </a:rPr>
                  <a:t>数据</a:t>
                </a:r>
                <a:r>
                  <a:rPr lang="en-US" altLang="zh-CN" sz="1200" b="1" dirty="0">
                    <a:latin typeface="Times New Roman" panose="02020603050405020304" pitchFamily="18" charset="0"/>
                  </a:rPr>
                  <a:t>1</a:t>
                </a:r>
                <a:endParaRPr lang="en-US" altLang="zh-CN" sz="1200" b="1" dirty="0">
                  <a:latin typeface="Times New Roman" panose="02020603050405020304" pitchFamily="18" charset="0"/>
                </a:endParaRPr>
              </a:p>
            </p:txBody>
          </p:sp>
          <p:sp>
            <p:nvSpPr>
              <p:cNvPr id="14367" name="Text Box 23"/>
              <p:cNvSpPr txBox="1"/>
              <p:nvPr/>
            </p:nvSpPr>
            <p:spPr>
              <a:xfrm>
                <a:off x="2474" y="2648"/>
                <a:ext cx="521" cy="291"/>
              </a:xfrm>
              <a:prstGeom prst="rect">
                <a:avLst/>
              </a:prstGeom>
              <a:noFill/>
              <a:ln w="9525">
                <a:noFill/>
              </a:ln>
            </p:spPr>
            <p:txBody>
              <a:bodyPr lIns="88950" tIns="44480" rIns="88950" bIns="4448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spcBef>
                    <a:spcPct val="0"/>
                  </a:spcBef>
                  <a:buClrTx/>
                  <a:buSzTx/>
                  <a:buFontTx/>
                  <a:buNone/>
                </a:pPr>
                <a:r>
                  <a:rPr lang="zh-CN" altLang="en-US" sz="1200" b="1" dirty="0">
                    <a:latin typeface="Times New Roman" panose="02020603050405020304" pitchFamily="18" charset="0"/>
                  </a:rPr>
                  <a:t>数据</a:t>
                </a:r>
                <a:r>
                  <a:rPr lang="en-US" altLang="zh-CN" sz="1200" b="1" dirty="0">
                    <a:latin typeface="Times New Roman" panose="02020603050405020304" pitchFamily="18" charset="0"/>
                  </a:rPr>
                  <a:t>2</a:t>
                </a:r>
                <a:endParaRPr lang="en-US" altLang="zh-CN" sz="1200" b="1" dirty="0">
                  <a:latin typeface="Times New Roman" panose="02020603050405020304" pitchFamily="18" charset="0"/>
                </a:endParaRPr>
              </a:p>
            </p:txBody>
          </p:sp>
          <p:sp>
            <p:nvSpPr>
              <p:cNvPr id="14368" name="Text Box 24"/>
              <p:cNvSpPr txBox="1"/>
              <p:nvPr/>
            </p:nvSpPr>
            <p:spPr>
              <a:xfrm>
                <a:off x="2478" y="2792"/>
                <a:ext cx="607" cy="291"/>
              </a:xfrm>
              <a:prstGeom prst="rect">
                <a:avLst/>
              </a:prstGeom>
              <a:noFill/>
              <a:ln w="9525">
                <a:noFill/>
              </a:ln>
            </p:spPr>
            <p:txBody>
              <a:bodyPr lIns="88950" tIns="44480" rIns="88950" bIns="4448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spcBef>
                    <a:spcPct val="0"/>
                  </a:spcBef>
                  <a:buClrTx/>
                  <a:buSzTx/>
                  <a:buFontTx/>
                  <a:buNone/>
                </a:pPr>
                <a:r>
                  <a:rPr lang="zh-CN" altLang="en-US" sz="1200" b="1" dirty="0">
                    <a:latin typeface="Times New Roman" panose="02020603050405020304" pitchFamily="18" charset="0"/>
                  </a:rPr>
                  <a:t>数据</a:t>
                </a:r>
                <a:r>
                  <a:rPr lang="en-US" altLang="zh-CN" sz="1200" b="1" dirty="0">
                    <a:latin typeface="Times New Roman" panose="02020603050405020304" pitchFamily="18" charset="0"/>
                  </a:rPr>
                  <a:t>m</a:t>
                </a:r>
                <a:endParaRPr lang="en-US" altLang="zh-CN" sz="1200" b="1" dirty="0">
                  <a:latin typeface="Times New Roman" panose="02020603050405020304" pitchFamily="18" charset="0"/>
                </a:endParaRPr>
              </a:p>
            </p:txBody>
          </p:sp>
          <p:sp>
            <p:nvSpPr>
              <p:cNvPr id="14369" name="Line 25"/>
              <p:cNvSpPr/>
              <p:nvPr/>
            </p:nvSpPr>
            <p:spPr>
              <a:xfrm>
                <a:off x="2636" y="2799"/>
                <a:ext cx="135" cy="0"/>
              </a:xfrm>
              <a:prstGeom prst="line">
                <a:avLst/>
              </a:prstGeom>
              <a:ln w="12700" cap="flat" cmpd="sng">
                <a:solidFill>
                  <a:srgbClr val="000000"/>
                </a:solidFill>
                <a:prstDash val="sysDot"/>
                <a:headEnd type="none" w="med" len="med"/>
                <a:tailEnd type="none" w="med" len="med"/>
              </a:ln>
            </p:spPr>
          </p:sp>
          <p:sp>
            <p:nvSpPr>
              <p:cNvPr id="14370" name="Rectangle 26"/>
              <p:cNvSpPr/>
              <p:nvPr/>
            </p:nvSpPr>
            <p:spPr>
              <a:xfrm>
                <a:off x="2524" y="2514"/>
                <a:ext cx="470" cy="446"/>
              </a:xfrm>
              <a:prstGeom prst="rect">
                <a:avLst/>
              </a:prstGeom>
              <a:noFill/>
              <a:ln w="6350"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71" name="Text Box 27"/>
              <p:cNvSpPr txBox="1"/>
              <p:nvPr/>
            </p:nvSpPr>
            <p:spPr>
              <a:xfrm>
                <a:off x="2809" y="2488"/>
                <a:ext cx="408" cy="358"/>
              </a:xfrm>
              <a:prstGeom prst="rect">
                <a:avLst/>
              </a:prstGeom>
              <a:noFill/>
              <a:ln w="9525">
                <a:noFill/>
              </a:ln>
            </p:spPr>
            <p:txBody>
              <a:bodyPr vert="eaVert" lIns="88950" tIns="44480" rIns="88950" bIns="4448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spcBef>
                    <a:spcPct val="0"/>
                  </a:spcBef>
                  <a:buClrTx/>
                  <a:buSzTx/>
                  <a:buFontTx/>
                  <a:buNone/>
                </a:pPr>
                <a:r>
                  <a:rPr lang="zh-CN" altLang="en-US" sz="1800" b="1" dirty="0">
                    <a:solidFill>
                      <a:srgbClr val="FF0000"/>
                    </a:solidFill>
                    <a:latin typeface="Times New Roman" panose="02020603050405020304" pitchFamily="18" charset="0"/>
                    <a:ea typeface="黑体" panose="02010609060101010101" pitchFamily="49" charset="-122"/>
                  </a:rPr>
                  <a:t>数据</a:t>
                </a:r>
                <a:endParaRPr lang="zh-CN" altLang="en-US" sz="1800" b="1" dirty="0">
                  <a:solidFill>
                    <a:srgbClr val="FF0000"/>
                  </a:solidFill>
                  <a:latin typeface="Times New Roman" panose="02020603050405020304" pitchFamily="18" charset="0"/>
                  <a:ea typeface="黑体" panose="02010609060101010101" pitchFamily="49" charset="-122"/>
                </a:endParaRPr>
              </a:p>
            </p:txBody>
          </p:sp>
        </p:grpSp>
        <p:sp>
          <p:nvSpPr>
            <p:cNvPr id="14356" name="Line 28"/>
            <p:cNvSpPr/>
            <p:nvPr/>
          </p:nvSpPr>
          <p:spPr>
            <a:xfrm>
              <a:off x="1205" y="2273"/>
              <a:ext cx="1199" cy="0"/>
            </a:xfrm>
            <a:prstGeom prst="line">
              <a:avLst/>
            </a:prstGeom>
            <a:ln w="9525" cap="flat" cmpd="sng">
              <a:solidFill>
                <a:srgbClr val="000000"/>
              </a:solidFill>
              <a:prstDash val="solid"/>
              <a:headEnd type="none" w="med" len="med"/>
              <a:tailEnd type="triangle" w="sm" len="med"/>
            </a:ln>
          </p:spPr>
        </p:sp>
        <p:sp>
          <p:nvSpPr>
            <p:cNvPr id="14357" name="Text Box 29"/>
            <p:cNvSpPr txBox="1"/>
            <p:nvPr/>
          </p:nvSpPr>
          <p:spPr>
            <a:xfrm>
              <a:off x="1201" y="1823"/>
              <a:ext cx="1226" cy="538"/>
            </a:xfrm>
            <a:prstGeom prst="rect">
              <a:avLst/>
            </a:prstGeom>
            <a:noFill/>
            <a:ln w="9525">
              <a:noFill/>
            </a:ln>
          </p:spPr>
          <p:txBody>
            <a:bodyPr lIns="88950" tIns="0" rIns="8895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lnSpc>
                  <a:spcPct val="80000"/>
                </a:lnSpc>
                <a:spcBef>
                  <a:spcPct val="0"/>
                </a:spcBef>
                <a:buClrTx/>
                <a:buSzTx/>
                <a:buFontTx/>
                <a:buNone/>
              </a:pPr>
              <a:r>
                <a:rPr lang="en-US" altLang="zh-CN" sz="1800" b="1" dirty="0">
                  <a:solidFill>
                    <a:srgbClr val="CC0000"/>
                  </a:solidFill>
                  <a:latin typeface="Times New Roman" panose="02020603050405020304" pitchFamily="18" charset="0"/>
                  <a:ea typeface="黑体" panose="02010609060101010101" pitchFamily="49" charset="-122"/>
                </a:rPr>
                <a:t>①</a:t>
              </a:r>
              <a:r>
                <a:rPr lang="zh-CN" altLang="en-US" sz="1800" b="1" dirty="0">
                  <a:solidFill>
                    <a:srgbClr val="CC0000"/>
                  </a:solidFill>
                  <a:latin typeface="Times New Roman" panose="02020603050405020304" pitchFamily="18" charset="0"/>
                  <a:ea typeface="黑体" panose="02010609060101010101" pitchFamily="49" charset="-122"/>
                </a:rPr>
                <a:t>程序和数据从外存成批传送到内存</a:t>
              </a:r>
              <a:endParaRPr lang="zh-CN" altLang="en-US" sz="1800" b="1" dirty="0">
                <a:solidFill>
                  <a:srgbClr val="CC0000"/>
                </a:solidFill>
                <a:latin typeface="Times New Roman" panose="02020603050405020304" pitchFamily="18" charset="0"/>
                <a:ea typeface="黑体" panose="02010609060101010101" pitchFamily="49" charset="-122"/>
              </a:endParaRPr>
            </a:p>
          </p:txBody>
        </p:sp>
      </p:grpSp>
      <p:sp>
        <p:nvSpPr>
          <p:cNvPr id="14345" name="Line 30"/>
          <p:cNvSpPr/>
          <p:nvPr/>
        </p:nvSpPr>
        <p:spPr>
          <a:xfrm>
            <a:off x="5165725" y="2100263"/>
            <a:ext cx="1903413" cy="0"/>
          </a:xfrm>
          <a:prstGeom prst="line">
            <a:avLst/>
          </a:prstGeom>
          <a:ln w="9525" cap="flat" cmpd="sng">
            <a:solidFill>
              <a:srgbClr val="000000"/>
            </a:solidFill>
            <a:prstDash val="solid"/>
            <a:headEnd type="none" w="med" len="med"/>
            <a:tailEnd type="triangle" w="sm" len="med"/>
          </a:ln>
        </p:spPr>
      </p:sp>
      <p:sp>
        <p:nvSpPr>
          <p:cNvPr id="125983" name="Text Box 31"/>
          <p:cNvSpPr txBox="1"/>
          <p:nvPr/>
        </p:nvSpPr>
        <p:spPr>
          <a:xfrm>
            <a:off x="5202238" y="1314450"/>
            <a:ext cx="1931987" cy="855663"/>
          </a:xfrm>
          <a:prstGeom prst="rect">
            <a:avLst/>
          </a:prstGeom>
          <a:noFill/>
          <a:ln w="9525">
            <a:noFill/>
          </a:ln>
        </p:spPr>
        <p:txBody>
          <a:bodyPr lIns="88950" tIns="44480" rIns="88950" bIns="4448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lnSpc>
                <a:spcPct val="80000"/>
              </a:lnSpc>
              <a:spcBef>
                <a:spcPct val="0"/>
              </a:spcBef>
              <a:buClrTx/>
              <a:buSzTx/>
              <a:buFontTx/>
              <a:buNone/>
            </a:pPr>
            <a:r>
              <a:rPr lang="en-US" altLang="zh-CN" sz="1800" b="1" dirty="0">
                <a:solidFill>
                  <a:srgbClr val="CC0000"/>
                </a:solidFill>
                <a:latin typeface="黑体" panose="02010609060101010101" pitchFamily="49" charset="-122"/>
                <a:ea typeface="黑体" panose="02010609060101010101" pitchFamily="49" charset="-122"/>
              </a:rPr>
              <a:t>②CPU</a:t>
            </a:r>
            <a:r>
              <a:rPr lang="zh-CN" altLang="en-US" sz="1800" b="1" dirty="0">
                <a:solidFill>
                  <a:srgbClr val="CC0000"/>
                </a:solidFill>
                <a:latin typeface="黑体" panose="02010609060101010101" pitchFamily="49" charset="-122"/>
                <a:ea typeface="黑体" panose="02010609060101010101" pitchFamily="49" charset="-122"/>
              </a:rPr>
              <a:t>从内存中逐条读取指令及相关数据</a:t>
            </a:r>
            <a:endParaRPr lang="zh-CN" altLang="en-US" sz="1800" b="1" dirty="0">
              <a:solidFill>
                <a:srgbClr val="CC0000"/>
              </a:solidFill>
              <a:latin typeface="黑体" panose="02010609060101010101" pitchFamily="49" charset="-122"/>
              <a:ea typeface="黑体" panose="02010609060101010101" pitchFamily="49" charset="-122"/>
            </a:endParaRPr>
          </a:p>
        </p:txBody>
      </p:sp>
      <p:grpSp>
        <p:nvGrpSpPr>
          <p:cNvPr id="6" name="Group 32"/>
          <p:cNvGrpSpPr/>
          <p:nvPr/>
        </p:nvGrpSpPr>
        <p:grpSpPr>
          <a:xfrm>
            <a:off x="5165725" y="2384425"/>
            <a:ext cx="1920875" cy="892175"/>
            <a:chOff x="3439" y="2425"/>
            <a:chExt cx="1211" cy="562"/>
          </a:xfrm>
        </p:grpSpPr>
        <p:sp>
          <p:nvSpPr>
            <p:cNvPr id="14353" name="Line 33"/>
            <p:cNvSpPr/>
            <p:nvPr/>
          </p:nvSpPr>
          <p:spPr>
            <a:xfrm flipH="1">
              <a:off x="3439" y="2425"/>
              <a:ext cx="1199" cy="0"/>
            </a:xfrm>
            <a:prstGeom prst="line">
              <a:avLst/>
            </a:prstGeom>
            <a:ln w="9525" cap="flat" cmpd="sng">
              <a:solidFill>
                <a:srgbClr val="000000"/>
              </a:solidFill>
              <a:prstDash val="solid"/>
              <a:headEnd type="none" w="med" len="med"/>
              <a:tailEnd type="triangle" w="sm" len="med"/>
            </a:ln>
          </p:spPr>
        </p:sp>
        <p:sp>
          <p:nvSpPr>
            <p:cNvPr id="14354" name="Text Box 34"/>
            <p:cNvSpPr txBox="1"/>
            <p:nvPr/>
          </p:nvSpPr>
          <p:spPr>
            <a:xfrm>
              <a:off x="3457" y="2448"/>
              <a:ext cx="1193" cy="539"/>
            </a:xfrm>
            <a:prstGeom prst="rect">
              <a:avLst/>
            </a:prstGeom>
            <a:noFill/>
            <a:ln w="9525">
              <a:noFill/>
            </a:ln>
          </p:spPr>
          <p:txBody>
            <a:bodyPr lIns="88950" tIns="44480" rIns="88950" bIns="4448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lnSpc>
                  <a:spcPct val="80000"/>
                </a:lnSpc>
                <a:spcBef>
                  <a:spcPct val="0"/>
                </a:spcBef>
                <a:buClrTx/>
                <a:buSzTx/>
                <a:buFontTx/>
                <a:buNone/>
              </a:pPr>
              <a:r>
                <a:rPr lang="en-US" altLang="zh-CN" sz="1800" b="1" dirty="0">
                  <a:solidFill>
                    <a:srgbClr val="CC0000"/>
                  </a:solidFill>
                  <a:latin typeface="黑体" panose="02010609060101010101" pitchFamily="49" charset="-122"/>
                  <a:ea typeface="黑体" panose="02010609060101010101" pitchFamily="49" charset="-122"/>
                </a:rPr>
                <a:t>④</a:t>
              </a:r>
              <a:r>
                <a:rPr lang="zh-CN" altLang="en-US" sz="1800" b="1" dirty="0">
                  <a:solidFill>
                    <a:srgbClr val="CC0000"/>
                  </a:solidFill>
                  <a:latin typeface="黑体" panose="02010609060101010101" pitchFamily="49" charset="-122"/>
                  <a:ea typeface="黑体" panose="02010609060101010101" pitchFamily="49" charset="-122"/>
                </a:rPr>
                <a:t>将指令处理结果送回内存保存</a:t>
              </a:r>
              <a:endParaRPr lang="zh-CN" altLang="en-US" sz="1800" b="1" dirty="0">
                <a:solidFill>
                  <a:srgbClr val="CC0000"/>
                </a:solidFill>
                <a:latin typeface="黑体" panose="02010609060101010101" pitchFamily="49" charset="-122"/>
                <a:ea typeface="黑体" panose="02010609060101010101" pitchFamily="49" charset="-122"/>
              </a:endParaRPr>
            </a:p>
          </p:txBody>
        </p:sp>
      </p:grpSp>
      <p:grpSp>
        <p:nvGrpSpPr>
          <p:cNvPr id="7" name="Group 35"/>
          <p:cNvGrpSpPr/>
          <p:nvPr/>
        </p:nvGrpSpPr>
        <p:grpSpPr>
          <a:xfrm>
            <a:off x="1612900" y="2420938"/>
            <a:ext cx="1955800" cy="842962"/>
            <a:chOff x="1201" y="2447"/>
            <a:chExt cx="1232" cy="533"/>
          </a:xfrm>
        </p:grpSpPr>
        <p:sp>
          <p:nvSpPr>
            <p:cNvPr id="14351" name="Line 36"/>
            <p:cNvSpPr/>
            <p:nvPr/>
          </p:nvSpPr>
          <p:spPr>
            <a:xfrm flipH="1">
              <a:off x="1205" y="2451"/>
              <a:ext cx="1199" cy="0"/>
            </a:xfrm>
            <a:prstGeom prst="line">
              <a:avLst/>
            </a:prstGeom>
            <a:ln w="9525" cap="flat" cmpd="sng">
              <a:solidFill>
                <a:srgbClr val="000000"/>
              </a:solidFill>
              <a:prstDash val="solid"/>
              <a:headEnd type="none" w="med" len="med"/>
              <a:tailEnd type="triangle" w="sm" len="med"/>
            </a:ln>
          </p:spPr>
        </p:sp>
        <p:sp>
          <p:nvSpPr>
            <p:cNvPr id="14352" name="Text Box 37"/>
            <p:cNvSpPr txBox="1"/>
            <p:nvPr/>
          </p:nvSpPr>
          <p:spPr>
            <a:xfrm>
              <a:off x="1201" y="2447"/>
              <a:ext cx="1232" cy="533"/>
            </a:xfrm>
            <a:prstGeom prst="rect">
              <a:avLst/>
            </a:prstGeom>
            <a:noFill/>
            <a:ln w="9525">
              <a:noFill/>
            </a:ln>
          </p:spPr>
          <p:txBody>
            <a:bodyPr lIns="88950" tIns="44480" rIns="88950" bIns="4448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lnSpc>
                  <a:spcPct val="80000"/>
                </a:lnSpc>
                <a:spcBef>
                  <a:spcPct val="0"/>
                </a:spcBef>
                <a:buClrTx/>
                <a:buSzTx/>
                <a:buFontTx/>
                <a:buNone/>
              </a:pPr>
              <a:r>
                <a:rPr lang="en-US" altLang="zh-CN" sz="1800" b="1" dirty="0">
                  <a:solidFill>
                    <a:srgbClr val="CC0000"/>
                  </a:solidFill>
                  <a:latin typeface="黑体" panose="02010609060101010101" pitchFamily="49" charset="-122"/>
                  <a:ea typeface="黑体" panose="02010609060101010101" pitchFamily="49" charset="-122"/>
                </a:rPr>
                <a:t>⑤</a:t>
              </a:r>
              <a:r>
                <a:rPr lang="zh-CN" altLang="en-US" sz="1800" b="1" dirty="0">
                  <a:solidFill>
                    <a:srgbClr val="CC0000"/>
                  </a:solidFill>
                  <a:latin typeface="黑体" panose="02010609060101010101" pitchFamily="49" charset="-122"/>
                  <a:ea typeface="黑体" panose="02010609060101010101" pitchFamily="49" charset="-122"/>
                </a:rPr>
                <a:t>将处理结果成批传送到外存以长久保存</a:t>
              </a:r>
              <a:endParaRPr lang="zh-CN" altLang="en-US" sz="1800" b="1" dirty="0">
                <a:solidFill>
                  <a:srgbClr val="CC0000"/>
                </a:solidFill>
                <a:latin typeface="黑体" panose="02010609060101010101" pitchFamily="49" charset="-122"/>
                <a:ea typeface="黑体" panose="02010609060101010101" pitchFamily="49" charset="-122"/>
              </a:endParaRPr>
            </a:p>
          </p:txBody>
        </p:sp>
      </p:grpSp>
      <p:sp>
        <p:nvSpPr>
          <p:cNvPr id="125990" name="Text Box 38"/>
          <p:cNvSpPr txBox="1"/>
          <p:nvPr/>
        </p:nvSpPr>
        <p:spPr>
          <a:xfrm>
            <a:off x="7177088" y="1724025"/>
            <a:ext cx="1217612" cy="1539875"/>
          </a:xfrm>
          <a:prstGeom prst="rect">
            <a:avLst/>
          </a:prstGeom>
          <a:noFill/>
          <a:ln w="9525">
            <a:noFill/>
          </a:ln>
        </p:spPr>
        <p:txBody>
          <a:bodyPr lIns="88950" tIns="44480" rIns="88950" bIns="4448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lnSpc>
                <a:spcPct val="80000"/>
              </a:lnSpc>
              <a:spcBef>
                <a:spcPct val="0"/>
              </a:spcBef>
              <a:buClrTx/>
              <a:buSzTx/>
              <a:buFontTx/>
              <a:buNone/>
            </a:pPr>
            <a:r>
              <a:rPr lang="en-US" altLang="zh-CN" sz="1800" b="1" dirty="0">
                <a:solidFill>
                  <a:srgbClr val="CC0000"/>
                </a:solidFill>
                <a:latin typeface="黑体" panose="02010609060101010101" pitchFamily="49" charset="-122"/>
                <a:ea typeface="黑体" panose="02010609060101010101" pitchFamily="49" charset="-122"/>
              </a:rPr>
              <a:t>③</a:t>
            </a:r>
            <a:r>
              <a:rPr lang="zh-CN" altLang="en-US" sz="1800" b="1" dirty="0">
                <a:solidFill>
                  <a:srgbClr val="CC0000"/>
                </a:solidFill>
                <a:latin typeface="黑体" panose="02010609060101010101" pitchFamily="49" charset="-122"/>
                <a:ea typeface="黑体" panose="02010609060101010101" pitchFamily="49" charset="-122"/>
              </a:rPr>
              <a:t>逐条执行指令，按指令要求完成对数据的运算和处理</a:t>
            </a:r>
            <a:endParaRPr lang="zh-CN" altLang="en-US" sz="1800" b="1" dirty="0">
              <a:solidFill>
                <a:srgbClr val="CC0000"/>
              </a:solidFill>
              <a:latin typeface="黑体" panose="02010609060101010101" pitchFamily="49" charset="-122"/>
              <a:ea typeface="黑体" panose="02010609060101010101" pitchFamily="49" charset="-122"/>
            </a:endParaRPr>
          </a:p>
        </p:txBody>
      </p:sp>
      <p:sp>
        <p:nvSpPr>
          <p:cNvPr id="125991" name="Rectangle 39"/>
          <p:cNvSpPr/>
          <p:nvPr/>
        </p:nvSpPr>
        <p:spPr>
          <a:xfrm>
            <a:off x="431800" y="3654425"/>
            <a:ext cx="4267200" cy="2789238"/>
          </a:xfrm>
          <a:prstGeom prst="rect">
            <a:avLst/>
          </a:prstGeom>
          <a:noFill/>
          <a:ln w="9525" cap="flat" cmpd="sng">
            <a:solidFill>
              <a:schemeClr val="hlink"/>
            </a:solidFill>
            <a:prstDash val="solid"/>
            <a:miter/>
            <a:headEnd type="none" w="med" len="med"/>
            <a:tailEnd type="none" w="med" len="med"/>
          </a:ln>
        </p:spPr>
        <p:txBody>
          <a:bodyPr lIns="88950" tIns="44480" rIns="88950" bIns="4448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90805" lvl="0" indent="-90805" defTabSz="717550" eaLnBrk="1" hangingPunct="1">
              <a:buClr>
                <a:schemeClr val="tx2"/>
              </a:buClr>
              <a:buSzPct val="70000"/>
              <a:buFont typeface="Wingdings" panose="05000000000000000000" pitchFamily="2" charset="2"/>
              <a:buChar char="l"/>
            </a:pPr>
            <a:r>
              <a:rPr lang="en-US" altLang="zh-CN" sz="1900" dirty="0">
                <a:solidFill>
                  <a:schemeClr val="hlink"/>
                </a:solidFill>
              </a:rPr>
              <a:t> </a:t>
            </a:r>
            <a:r>
              <a:rPr lang="zh-CN" altLang="en-US" sz="2100" dirty="0">
                <a:solidFill>
                  <a:srgbClr val="FF3300"/>
                </a:solidFill>
                <a:ea typeface="黑体" panose="02010609060101010101" pitchFamily="49" charset="-122"/>
              </a:rPr>
              <a:t>外存储器（简称</a:t>
            </a:r>
            <a:r>
              <a:rPr lang="zh-CN" altLang="pt-BR" sz="2100" dirty="0">
                <a:solidFill>
                  <a:srgbClr val="FF3300"/>
                </a:solidFill>
                <a:ea typeface="黑体" panose="02010609060101010101" pitchFamily="49" charset="-122"/>
              </a:rPr>
              <a:t>外存</a:t>
            </a:r>
            <a:r>
              <a:rPr lang="zh-CN" altLang="en-US" sz="2100" dirty="0">
                <a:solidFill>
                  <a:srgbClr val="FF3300"/>
                </a:solidFill>
                <a:ea typeface="黑体" panose="02010609060101010101" pitchFamily="49" charset="-122"/>
              </a:rPr>
              <a:t>或辅存）</a:t>
            </a:r>
            <a:endParaRPr lang="en-US" altLang="zh-CN" sz="2100" dirty="0">
              <a:solidFill>
                <a:srgbClr val="FF3300"/>
              </a:solidFill>
              <a:ea typeface="黑体" panose="02010609060101010101" pitchFamily="49" charset="-122"/>
            </a:endParaRPr>
          </a:p>
          <a:p>
            <a:pPr marL="355600" lvl="1" indent="-83820" defTabSz="717550" eaLnBrk="1" hangingPunct="1">
              <a:lnSpc>
                <a:spcPct val="110000"/>
              </a:lnSpc>
              <a:buSzPct val="70000"/>
              <a:buFont typeface="Wingdings" panose="05000000000000000000" pitchFamily="2" charset="2"/>
              <a:buChar char="l"/>
            </a:pPr>
            <a:r>
              <a:rPr lang="en-US" altLang="zh-CN" sz="2200" dirty="0">
                <a:solidFill>
                  <a:srgbClr val="FF3300"/>
                </a:solidFill>
                <a:ea typeface="黑体" panose="02010609060101010101" pitchFamily="49" charset="-122"/>
              </a:rPr>
              <a:t> </a:t>
            </a:r>
            <a:r>
              <a:rPr lang="zh-CN" altLang="en-US" sz="1800" dirty="0">
                <a:solidFill>
                  <a:srgbClr val="FF3300"/>
                </a:solidFill>
                <a:ea typeface="黑体" panose="02010609060101010101" pitchFamily="49" charset="-122"/>
              </a:rPr>
              <a:t>存取速度慢</a:t>
            </a:r>
            <a:endParaRPr lang="en-US" altLang="zh-CN" sz="1800" dirty="0">
              <a:solidFill>
                <a:srgbClr val="FF3300"/>
              </a:solidFill>
              <a:ea typeface="黑体" panose="02010609060101010101" pitchFamily="49" charset="-122"/>
            </a:endParaRPr>
          </a:p>
          <a:p>
            <a:pPr marL="355600" lvl="1" indent="-83820" defTabSz="717550" eaLnBrk="1" hangingPunct="1">
              <a:lnSpc>
                <a:spcPct val="110000"/>
              </a:lnSpc>
              <a:buSzPct val="70000"/>
              <a:buFont typeface="Wingdings" panose="05000000000000000000" pitchFamily="2" charset="2"/>
              <a:buChar char="l"/>
            </a:pPr>
            <a:r>
              <a:rPr lang="en-US" altLang="zh-CN" sz="1800" dirty="0">
                <a:solidFill>
                  <a:srgbClr val="FF3300"/>
                </a:solidFill>
                <a:ea typeface="黑体" panose="02010609060101010101" pitchFamily="49" charset="-122"/>
              </a:rPr>
              <a:t> </a:t>
            </a:r>
            <a:r>
              <a:rPr lang="zh-CN" altLang="en-US" sz="1800" dirty="0">
                <a:solidFill>
                  <a:srgbClr val="FF3300"/>
                </a:solidFill>
                <a:ea typeface="黑体" panose="02010609060101010101" pitchFamily="49" charset="-122"/>
              </a:rPr>
              <a:t>成本低、容量很大</a:t>
            </a:r>
            <a:endParaRPr lang="en-US" altLang="zh-CN" sz="1800" dirty="0">
              <a:solidFill>
                <a:srgbClr val="FF3300"/>
              </a:solidFill>
              <a:ea typeface="黑体" panose="02010609060101010101" pitchFamily="49" charset="-122"/>
            </a:endParaRPr>
          </a:p>
          <a:p>
            <a:pPr marL="355600" lvl="1" indent="-83820" defTabSz="717550" eaLnBrk="1" hangingPunct="1">
              <a:lnSpc>
                <a:spcPct val="110000"/>
              </a:lnSpc>
              <a:buSzPct val="70000"/>
              <a:buFont typeface="Wingdings" panose="05000000000000000000" pitchFamily="2" charset="2"/>
              <a:buChar char="l"/>
            </a:pPr>
            <a:r>
              <a:rPr lang="en-US" altLang="zh-CN" sz="1800" dirty="0">
                <a:solidFill>
                  <a:srgbClr val="FF3300"/>
                </a:solidFill>
                <a:ea typeface="黑体" panose="02010609060101010101" pitchFamily="49" charset="-122"/>
              </a:rPr>
              <a:t> </a:t>
            </a:r>
            <a:r>
              <a:rPr lang="zh-CN" altLang="en-US" sz="1800" dirty="0">
                <a:solidFill>
                  <a:srgbClr val="FF3300"/>
                </a:solidFill>
                <a:ea typeface="黑体" panose="02010609060101010101" pitchFamily="49" charset="-122"/>
              </a:rPr>
              <a:t>不与</a:t>
            </a:r>
            <a:r>
              <a:rPr lang="en-US" altLang="zh-CN" sz="1800" dirty="0">
                <a:solidFill>
                  <a:srgbClr val="FF3300"/>
                </a:solidFill>
                <a:ea typeface="黑体" panose="02010609060101010101" pitchFamily="49" charset="-122"/>
              </a:rPr>
              <a:t>CPU</a:t>
            </a:r>
            <a:r>
              <a:rPr lang="zh-CN" altLang="en-US" sz="1800" dirty="0">
                <a:solidFill>
                  <a:srgbClr val="FF3300"/>
                </a:solidFill>
                <a:ea typeface="黑体" panose="02010609060101010101" pitchFamily="49" charset="-122"/>
              </a:rPr>
              <a:t>直接连接，先传送到内存，然后才能被</a:t>
            </a:r>
            <a:r>
              <a:rPr lang="en-US" altLang="zh-CN" sz="1800" dirty="0">
                <a:solidFill>
                  <a:srgbClr val="FF3300"/>
                </a:solidFill>
                <a:ea typeface="黑体" panose="02010609060101010101" pitchFamily="49" charset="-122"/>
              </a:rPr>
              <a:t>CPU</a:t>
            </a:r>
            <a:r>
              <a:rPr lang="zh-CN" altLang="en-US" sz="1800" dirty="0">
                <a:solidFill>
                  <a:srgbClr val="FF3300"/>
                </a:solidFill>
                <a:ea typeface="黑体" panose="02010609060101010101" pitchFamily="49" charset="-122"/>
              </a:rPr>
              <a:t>使用。</a:t>
            </a:r>
            <a:endParaRPr lang="en-US" altLang="zh-CN" sz="1800" dirty="0">
              <a:solidFill>
                <a:srgbClr val="FF3300"/>
              </a:solidFill>
              <a:ea typeface="黑体" panose="02010609060101010101" pitchFamily="49" charset="-122"/>
            </a:endParaRPr>
          </a:p>
          <a:p>
            <a:pPr marL="355600" lvl="1" indent="-83820" defTabSz="717550" eaLnBrk="1" hangingPunct="1">
              <a:lnSpc>
                <a:spcPct val="110000"/>
              </a:lnSpc>
              <a:buSzPct val="70000"/>
              <a:buFont typeface="Wingdings" panose="05000000000000000000" pitchFamily="2" charset="2"/>
              <a:buChar char="l"/>
            </a:pPr>
            <a:r>
              <a:rPr lang="en-US" altLang="zh-CN" sz="1800" dirty="0">
                <a:solidFill>
                  <a:srgbClr val="FF3300"/>
                </a:solidFill>
                <a:ea typeface="黑体" panose="02010609060101010101" pitchFamily="49" charset="-122"/>
              </a:rPr>
              <a:t> </a:t>
            </a:r>
            <a:r>
              <a:rPr lang="zh-CN" altLang="en-US" sz="1800" dirty="0">
                <a:solidFill>
                  <a:srgbClr val="FF3300"/>
                </a:solidFill>
                <a:ea typeface="黑体" panose="02010609060101010101" pitchFamily="49" charset="-122"/>
              </a:rPr>
              <a:t>属于非易失性存储器</a:t>
            </a:r>
            <a:r>
              <a:rPr lang="en-US" altLang="zh-CN" sz="1800" dirty="0">
                <a:solidFill>
                  <a:srgbClr val="FF3300"/>
                </a:solidFill>
                <a:ea typeface="黑体" panose="02010609060101010101" pitchFamily="49" charset="-122"/>
              </a:rPr>
              <a:t>(Nonvolatile)</a:t>
            </a:r>
            <a:r>
              <a:rPr lang="zh-CN" altLang="en-US" sz="1800" dirty="0">
                <a:solidFill>
                  <a:srgbClr val="FF3300"/>
                </a:solidFill>
                <a:ea typeface="黑体" panose="02010609060101010101" pitchFamily="49" charset="-122"/>
              </a:rPr>
              <a:t>，用于长久存放系统中几乎所有的信息</a:t>
            </a:r>
            <a:endParaRPr lang="zh-CN" altLang="en-US" sz="1800" dirty="0">
              <a:solidFill>
                <a:srgbClr val="FF33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5983"/>
                                        </p:tgtEl>
                                        <p:attrNameLst>
                                          <p:attrName>style.visibility</p:attrName>
                                        </p:attrNameLst>
                                      </p:cBhvr>
                                      <p:to>
                                        <p:strVal val="visible"/>
                                      </p:to>
                                    </p:set>
                                    <p:animEffect transition="in" filter="blinds(horizontal)">
                                      <p:cBhvr>
                                        <p:cTn id="12" dur="500"/>
                                        <p:tgtEl>
                                          <p:spTgt spid="12598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5990"/>
                                        </p:tgtEl>
                                        <p:attrNameLst>
                                          <p:attrName>style.visibility</p:attrName>
                                        </p:attrNameLst>
                                      </p:cBhvr>
                                      <p:to>
                                        <p:strVal val="visible"/>
                                      </p:to>
                                    </p:set>
                                    <p:animEffect transition="in" filter="blinds(horizontal)">
                                      <p:cBhvr>
                                        <p:cTn id="17" dur="500"/>
                                        <p:tgtEl>
                                          <p:spTgt spid="12599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5991"/>
                                        </p:tgtEl>
                                        <p:attrNameLst>
                                          <p:attrName>style.visibility</p:attrName>
                                        </p:attrNameLst>
                                      </p:cBhvr>
                                      <p:to>
                                        <p:strVal val="visible"/>
                                      </p:to>
                                    </p:set>
                                    <p:animEffect transition="in" filter="blinds(horizontal)">
                                      <p:cBhvr>
                                        <p:cTn id="32" dur="500"/>
                                        <p:tgtEl>
                                          <p:spTgt spid="12599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25991">
                                            <p:txEl>
                                              <p:charRg st="0" end="15"/>
                                            </p:txEl>
                                          </p:spTgt>
                                        </p:tgtEl>
                                        <p:attrNameLst>
                                          <p:attrName>style.visibility</p:attrName>
                                        </p:attrNameLst>
                                      </p:cBhvr>
                                      <p:to>
                                        <p:strVal val="visible"/>
                                      </p:to>
                                    </p:set>
                                    <p:animEffect transition="in" filter="blinds(horizontal)">
                                      <p:cBhvr>
                                        <p:cTn id="37" dur="500"/>
                                        <p:tgtEl>
                                          <p:spTgt spid="125991">
                                            <p:txEl>
                                              <p:charRg st="0" end="1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5991">
                                            <p:txEl>
                                              <p:charRg st="15" end="22"/>
                                            </p:txEl>
                                          </p:spTgt>
                                        </p:tgtEl>
                                        <p:attrNameLst>
                                          <p:attrName>style.visibility</p:attrName>
                                        </p:attrNameLst>
                                      </p:cBhvr>
                                      <p:to>
                                        <p:strVal val="visible"/>
                                      </p:to>
                                    </p:set>
                                    <p:animEffect transition="in" filter="blinds(horizontal)">
                                      <p:cBhvr>
                                        <p:cTn id="42" dur="500"/>
                                        <p:tgtEl>
                                          <p:spTgt spid="125991">
                                            <p:txEl>
                                              <p:charRg st="15" end="22"/>
                                            </p:txEl>
                                          </p:spTgt>
                                        </p:tgtEl>
                                      </p:cBhvr>
                                    </p:animEffect>
                                  </p:childTnLst>
                                  <p:subTnLst>
                                    <p:animClr clrSpc="rgb" dir="cw">
                                      <p:cBhvr override="childStyle">
                                        <p:cTn dur="1" fill="hold" display="0" masterRel="nextClick" afterEffect="1"/>
                                        <p:tgtEl>
                                          <p:spTgt spid="125991">
                                            <p:txEl>
                                              <p:charRg st="15" end="22"/>
                                            </p:txEl>
                                          </p:spTgt>
                                        </p:tgtEl>
                                        <p:attrNameLst>
                                          <p:attrName>ppt_c</p:attrName>
                                        </p:attrNameLst>
                                      </p:cBhvr>
                                      <p:to>
                                        <a:schemeClr val="accent1"/>
                                      </p:to>
                                    </p:animClr>
                                  </p:sub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25991">
                                            <p:txEl>
                                              <p:charRg st="22" end="32"/>
                                            </p:txEl>
                                          </p:spTgt>
                                        </p:tgtEl>
                                        <p:attrNameLst>
                                          <p:attrName>style.visibility</p:attrName>
                                        </p:attrNameLst>
                                      </p:cBhvr>
                                      <p:to>
                                        <p:strVal val="visible"/>
                                      </p:to>
                                    </p:set>
                                    <p:animEffect transition="in" filter="blinds(horizontal)">
                                      <p:cBhvr>
                                        <p:cTn id="47" dur="500"/>
                                        <p:tgtEl>
                                          <p:spTgt spid="125991">
                                            <p:txEl>
                                              <p:charRg st="22" end="32"/>
                                            </p:txEl>
                                          </p:spTgt>
                                        </p:tgtEl>
                                      </p:cBhvr>
                                    </p:animEffect>
                                  </p:childTnLst>
                                  <p:subTnLst>
                                    <p:animClr clrSpc="rgb" dir="cw">
                                      <p:cBhvr override="childStyle">
                                        <p:cTn dur="1" fill="hold" display="0" masterRel="nextClick" afterEffect="1"/>
                                        <p:tgtEl>
                                          <p:spTgt spid="125991">
                                            <p:txEl>
                                              <p:charRg st="22" end="32"/>
                                            </p:txEl>
                                          </p:spTgt>
                                        </p:tgtEl>
                                        <p:attrNameLst>
                                          <p:attrName>ppt_c</p:attrName>
                                        </p:attrNameLst>
                                      </p:cBhvr>
                                      <p:to>
                                        <a:schemeClr val="accent1"/>
                                      </p:to>
                                    </p:animClr>
                                  </p:sub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25991">
                                            <p:txEl>
                                              <p:charRg st="32" end="62"/>
                                            </p:txEl>
                                          </p:spTgt>
                                        </p:tgtEl>
                                        <p:attrNameLst>
                                          <p:attrName>style.visibility</p:attrName>
                                        </p:attrNameLst>
                                      </p:cBhvr>
                                      <p:to>
                                        <p:strVal val="visible"/>
                                      </p:to>
                                    </p:set>
                                    <p:animEffect transition="in" filter="blinds(horizontal)">
                                      <p:cBhvr>
                                        <p:cTn id="52" dur="500"/>
                                        <p:tgtEl>
                                          <p:spTgt spid="125991">
                                            <p:txEl>
                                              <p:charRg st="32" end="62"/>
                                            </p:txEl>
                                          </p:spTgt>
                                        </p:tgtEl>
                                      </p:cBhvr>
                                    </p:animEffect>
                                  </p:childTnLst>
                                  <p:subTnLst>
                                    <p:animClr clrSpc="rgb" dir="cw">
                                      <p:cBhvr override="childStyle">
                                        <p:cTn dur="1" fill="hold" display="0" masterRel="nextClick" afterEffect="1"/>
                                        <p:tgtEl>
                                          <p:spTgt spid="125991">
                                            <p:txEl>
                                              <p:charRg st="32" end="62"/>
                                            </p:txEl>
                                          </p:spTgt>
                                        </p:tgtEl>
                                        <p:attrNameLst>
                                          <p:attrName>ppt_c</p:attrName>
                                        </p:attrNameLst>
                                      </p:cBhvr>
                                      <p:to>
                                        <a:schemeClr val="accent1"/>
                                      </p:to>
                                    </p:animClr>
                                  </p:sub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25991">
                                            <p:txEl>
                                              <p:charRg st="62" end="103"/>
                                            </p:txEl>
                                          </p:spTgt>
                                        </p:tgtEl>
                                        <p:attrNameLst>
                                          <p:attrName>style.visibility</p:attrName>
                                        </p:attrNameLst>
                                      </p:cBhvr>
                                      <p:to>
                                        <p:strVal val="visible"/>
                                      </p:to>
                                    </p:set>
                                    <p:animEffect transition="in" filter="blinds(horizontal)">
                                      <p:cBhvr>
                                        <p:cTn id="57" dur="500"/>
                                        <p:tgtEl>
                                          <p:spTgt spid="125991">
                                            <p:txEl>
                                              <p:charRg st="62" end="103"/>
                                            </p:txEl>
                                          </p:spTgt>
                                        </p:tgtEl>
                                      </p:cBhvr>
                                    </p:animEffect>
                                  </p:childTnLst>
                                  <p:subTnLst>
                                    <p:animClr clrSpc="rgb" dir="cw">
                                      <p:cBhvr override="childStyle">
                                        <p:cTn dur="1" fill="hold" display="0" masterRel="nextClick" afterEffect="1"/>
                                        <p:tgtEl>
                                          <p:spTgt spid="125991">
                                            <p:txEl>
                                              <p:charRg st="62" end="103"/>
                                            </p:txEl>
                                          </p:spTgt>
                                        </p:tgtEl>
                                        <p:attrNameLst>
                                          <p:attrName>ppt_c</p:attrName>
                                        </p:attrNameLst>
                                      </p:cBhvr>
                                      <p:to>
                                        <a:schemeClr val="accent1"/>
                                      </p:to>
                                    </p:animClr>
                                  </p:sub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25955"/>
                                        </p:tgtEl>
                                        <p:attrNameLst>
                                          <p:attrName>style.visibility</p:attrName>
                                        </p:attrNameLst>
                                      </p:cBhvr>
                                      <p:to>
                                        <p:strVal val="visible"/>
                                      </p:to>
                                    </p:set>
                                    <p:animEffect transition="in" filter="blinds(horizontal)">
                                      <p:cBhvr>
                                        <p:cTn id="62" dur="500"/>
                                        <p:tgtEl>
                                          <p:spTgt spid="125955"/>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125955">
                                            <p:txEl>
                                              <p:charRg st="0" end="14"/>
                                            </p:txEl>
                                          </p:spTgt>
                                        </p:tgtEl>
                                        <p:attrNameLst>
                                          <p:attrName>style.visibility</p:attrName>
                                        </p:attrNameLst>
                                      </p:cBhvr>
                                      <p:to>
                                        <p:strVal val="visible"/>
                                      </p:to>
                                    </p:set>
                                    <p:animEffect transition="in" filter="blinds(horizontal)">
                                      <p:cBhvr>
                                        <p:cTn id="67" dur="500"/>
                                        <p:tgtEl>
                                          <p:spTgt spid="125955">
                                            <p:txEl>
                                              <p:charRg st="0" end="1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125955">
                                            <p:txEl>
                                              <p:charRg st="14" end="20"/>
                                            </p:txEl>
                                          </p:spTgt>
                                        </p:tgtEl>
                                        <p:attrNameLst>
                                          <p:attrName>style.visibility</p:attrName>
                                        </p:attrNameLst>
                                      </p:cBhvr>
                                      <p:to>
                                        <p:strVal val="visible"/>
                                      </p:to>
                                    </p:set>
                                    <p:animEffect transition="in" filter="blinds(horizontal)">
                                      <p:cBhvr>
                                        <p:cTn id="72" dur="500"/>
                                        <p:tgtEl>
                                          <p:spTgt spid="125955">
                                            <p:txEl>
                                              <p:charRg st="14" end="20"/>
                                            </p:txEl>
                                          </p:spTgt>
                                        </p:tgtEl>
                                      </p:cBhvr>
                                    </p:animEffect>
                                  </p:childTnLst>
                                  <p:subTnLst>
                                    <p:animClr clrSpc="rgb" dir="cw">
                                      <p:cBhvr override="childStyle">
                                        <p:cTn dur="1" fill="hold" display="0" masterRel="nextClick" afterEffect="1"/>
                                        <p:tgtEl>
                                          <p:spTgt spid="125955">
                                            <p:txEl>
                                              <p:charRg st="14" end="20"/>
                                            </p:txEl>
                                          </p:spTgt>
                                        </p:tgtEl>
                                        <p:attrNameLst>
                                          <p:attrName>ppt_c</p:attrName>
                                        </p:attrNameLst>
                                      </p:cBhvr>
                                      <p:to>
                                        <a:schemeClr val="hlink"/>
                                      </p:to>
                                    </p:animClr>
                                  </p:sub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25955">
                                            <p:txEl>
                                              <p:charRg st="20" end="31"/>
                                            </p:txEl>
                                          </p:spTgt>
                                        </p:tgtEl>
                                        <p:attrNameLst>
                                          <p:attrName>style.visibility</p:attrName>
                                        </p:attrNameLst>
                                      </p:cBhvr>
                                      <p:to>
                                        <p:strVal val="visible"/>
                                      </p:to>
                                    </p:set>
                                    <p:animEffect transition="in" filter="blinds(horizontal)">
                                      <p:cBhvr>
                                        <p:cTn id="77" dur="500"/>
                                        <p:tgtEl>
                                          <p:spTgt spid="125955">
                                            <p:txEl>
                                              <p:charRg st="20" end="31"/>
                                            </p:txEl>
                                          </p:spTgt>
                                        </p:tgtEl>
                                      </p:cBhvr>
                                    </p:animEffect>
                                  </p:childTnLst>
                                  <p:subTnLst>
                                    <p:animClr clrSpc="rgb" dir="cw">
                                      <p:cBhvr override="childStyle">
                                        <p:cTn dur="1" fill="hold" display="0" masterRel="nextClick" afterEffect="1"/>
                                        <p:tgtEl>
                                          <p:spTgt spid="125955">
                                            <p:txEl>
                                              <p:charRg st="20" end="31"/>
                                            </p:txEl>
                                          </p:spTgt>
                                        </p:tgtEl>
                                        <p:attrNameLst>
                                          <p:attrName>ppt_c</p:attrName>
                                        </p:attrNameLst>
                                      </p:cBhvr>
                                      <p:to>
                                        <a:schemeClr val="hlink"/>
                                      </p:to>
                                    </p:animClr>
                                  </p:sub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125955">
                                            <p:txEl>
                                              <p:charRg st="31" end="61"/>
                                            </p:txEl>
                                          </p:spTgt>
                                        </p:tgtEl>
                                        <p:attrNameLst>
                                          <p:attrName>style.visibility</p:attrName>
                                        </p:attrNameLst>
                                      </p:cBhvr>
                                      <p:to>
                                        <p:strVal val="visible"/>
                                      </p:to>
                                    </p:set>
                                    <p:animEffect transition="in" filter="blinds(horizontal)">
                                      <p:cBhvr>
                                        <p:cTn id="82" dur="500"/>
                                        <p:tgtEl>
                                          <p:spTgt spid="125955">
                                            <p:txEl>
                                              <p:charRg st="31" end="61"/>
                                            </p:txEl>
                                          </p:spTgt>
                                        </p:tgtEl>
                                      </p:cBhvr>
                                    </p:animEffect>
                                  </p:childTnLst>
                                  <p:subTnLst>
                                    <p:animClr clrSpc="rgb" dir="cw">
                                      <p:cBhvr override="childStyle">
                                        <p:cTn dur="1" fill="hold" display="0" masterRel="nextClick" afterEffect="1"/>
                                        <p:tgtEl>
                                          <p:spTgt spid="125955">
                                            <p:txEl>
                                              <p:charRg st="31" end="61"/>
                                            </p:txEl>
                                          </p:spTgt>
                                        </p:tgtEl>
                                        <p:attrNameLst>
                                          <p:attrName>ppt_c</p:attrName>
                                        </p:attrNameLst>
                                      </p:cBhvr>
                                      <p:to>
                                        <a:schemeClr val="hlink"/>
                                      </p:to>
                                    </p:animClr>
                                  </p:subTnLst>
                                </p:cTn>
                              </p:par>
                            </p:childTnLst>
                          </p:cTn>
                        </p:par>
                      </p:childTnLst>
                    </p:cTn>
                  </p:par>
                  <p:par>
                    <p:cTn id="83" fill="hold">
                      <p:stCondLst>
                        <p:cond delay="indefinite"/>
                      </p:stCondLst>
                      <p:childTnLst>
                        <p:par>
                          <p:cTn id="84" fill="hold">
                            <p:stCondLst>
                              <p:cond delay="0"/>
                            </p:stCondLst>
                            <p:childTnLst>
                              <p:par>
                                <p:cTn id="85" presetID="3" presetClass="entr" presetSubtype="10" fill="hold" grpId="0" nodeType="clickEffect">
                                  <p:stCondLst>
                                    <p:cond delay="0"/>
                                  </p:stCondLst>
                                  <p:childTnLst>
                                    <p:set>
                                      <p:cBhvr>
                                        <p:cTn id="86" dur="1" fill="hold">
                                          <p:stCondLst>
                                            <p:cond delay="0"/>
                                          </p:stCondLst>
                                        </p:cTn>
                                        <p:tgtEl>
                                          <p:spTgt spid="125955">
                                            <p:txEl>
                                              <p:charRg st="61" end="97"/>
                                            </p:txEl>
                                          </p:spTgt>
                                        </p:tgtEl>
                                        <p:attrNameLst>
                                          <p:attrName>style.visibility</p:attrName>
                                        </p:attrNameLst>
                                      </p:cBhvr>
                                      <p:to>
                                        <p:strVal val="visible"/>
                                      </p:to>
                                    </p:set>
                                    <p:animEffect transition="in" filter="blinds(horizontal)">
                                      <p:cBhvr>
                                        <p:cTn id="87" dur="500"/>
                                        <p:tgtEl>
                                          <p:spTgt spid="125955">
                                            <p:txEl>
                                              <p:charRg st="61" end="97"/>
                                            </p:txEl>
                                          </p:spTgt>
                                        </p:tgtEl>
                                      </p:cBhvr>
                                    </p:animEffect>
                                  </p:childTnLst>
                                  <p:subTnLst>
                                    <p:animClr clrSpc="rgb" dir="cw">
                                      <p:cBhvr override="childStyle">
                                        <p:cTn dur="1" fill="hold" display="0" masterRel="nextClick" afterEffect="1"/>
                                        <p:tgtEl>
                                          <p:spTgt spid="125955">
                                            <p:txEl>
                                              <p:charRg st="61" end="97"/>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ldLvl="2" animBg="1" build="p"/>
      <p:bldP spid="125983" grpId="0"/>
      <p:bldP spid="125990" grpId="0"/>
      <p:bldP spid="125991" grpId="0" bldLvl="2" animBg="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xfrm>
            <a:off x="468313" y="352425"/>
            <a:ext cx="7532687" cy="62865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.1.3</a:t>
            </a:r>
            <a:r>
              <a:rPr lang="zh-CN" altLang="en-US" dirty="0"/>
              <a:t>主存储器的技术指标</a:t>
            </a:r>
            <a:endParaRPr lang="zh-CN" altLang="en-US" dirty="0"/>
          </a:p>
        </p:txBody>
      </p:sp>
      <p:sp>
        <p:nvSpPr>
          <p:cNvPr id="16387" name="Rectangle 3"/>
          <p:cNvSpPr>
            <a:spLocks noGrp="1"/>
          </p:cNvSpPr>
          <p:nvPr>
            <p:ph idx="1"/>
          </p:nvPr>
        </p:nvSpPr>
        <p:spPr>
          <a:xfrm>
            <a:off x="539750" y="908050"/>
            <a:ext cx="7715250" cy="5616575"/>
          </a:xfrm>
        </p:spPr>
        <p:txBody>
          <a:bodyPr vert="horz" wrap="square" lIns="91440" tIns="45720" rIns="91440" bIns="45720" anchor="t" anchorCtr="0"/>
          <a:p>
            <a:pPr>
              <a:lnSpc>
                <a:spcPct val="90000"/>
              </a:lnSpc>
            </a:pPr>
            <a:r>
              <a:rPr lang="zh-CN" altLang="en-US" sz="2500" b="1" dirty="0">
                <a:solidFill>
                  <a:srgbClr val="0000FF"/>
                </a:solidFill>
              </a:rPr>
              <a:t>字存储单元</a:t>
            </a:r>
            <a:r>
              <a:rPr lang="zh-CN" altLang="en-US" sz="2500" dirty="0"/>
              <a:t>：存放一个机器字的存储单元，相应的单元地址叫字地址。</a:t>
            </a:r>
            <a:endParaRPr lang="en-US" altLang="zh-CN" sz="2500" dirty="0"/>
          </a:p>
          <a:p>
            <a:pPr>
              <a:lnSpc>
                <a:spcPct val="90000"/>
              </a:lnSpc>
            </a:pPr>
            <a:r>
              <a:rPr lang="zh-CN" altLang="en-US" sz="2500" b="1" dirty="0">
                <a:solidFill>
                  <a:srgbClr val="0000FF"/>
                </a:solidFill>
              </a:rPr>
              <a:t>字节存储单元</a:t>
            </a:r>
            <a:r>
              <a:rPr lang="zh-CN" altLang="en-US" sz="2500" dirty="0"/>
              <a:t>：存放一个字节的单元，相应的地址称为字节地址。</a:t>
            </a:r>
            <a:endParaRPr lang="en-US" altLang="zh-CN" sz="2500" dirty="0"/>
          </a:p>
          <a:p>
            <a:pPr>
              <a:lnSpc>
                <a:spcPct val="90000"/>
              </a:lnSpc>
            </a:pPr>
            <a:r>
              <a:rPr lang="zh-CN" altLang="en-US" sz="2500" b="1" dirty="0">
                <a:solidFill>
                  <a:srgbClr val="0000FF"/>
                </a:solidFill>
              </a:rPr>
              <a:t>存储容量：</a:t>
            </a:r>
            <a:r>
              <a:rPr lang="zh-CN" altLang="en-US" sz="2500" dirty="0"/>
              <a:t>指一个存储器中可以容纳的存储单元总数。存储容量越大，能存储的信息就越多。</a:t>
            </a:r>
            <a:r>
              <a:rPr lang="en-US" altLang="zh-CN" sz="2500" dirty="0"/>
              <a:t></a:t>
            </a:r>
            <a:endParaRPr lang="en-US" altLang="zh-CN" sz="2500" dirty="0"/>
          </a:p>
          <a:p>
            <a:pPr>
              <a:lnSpc>
                <a:spcPct val="90000"/>
              </a:lnSpc>
            </a:pPr>
            <a:r>
              <a:rPr lang="zh-CN" altLang="en-US" sz="2500" b="1" dirty="0">
                <a:solidFill>
                  <a:srgbClr val="0000FF"/>
                </a:solidFill>
              </a:rPr>
              <a:t>存取时间又称存储器访问时间</a:t>
            </a:r>
            <a:r>
              <a:rPr lang="zh-CN" altLang="en-US" sz="2500" dirty="0"/>
              <a:t>：指一次</a:t>
            </a:r>
            <a:r>
              <a:rPr lang="zh-CN" altLang="en-US" sz="2500" dirty="0">
                <a:solidFill>
                  <a:srgbClr val="FF3300"/>
                </a:solidFill>
              </a:rPr>
              <a:t>读操作</a:t>
            </a:r>
            <a:r>
              <a:rPr lang="zh-CN" altLang="en-US" sz="2500" dirty="0"/>
              <a:t>命令发出到该操作完成，将数据读出到</a:t>
            </a:r>
            <a:r>
              <a:rPr lang="zh-CN" altLang="en-US" sz="2500" dirty="0">
                <a:solidFill>
                  <a:srgbClr val="FF3300"/>
                </a:solidFill>
              </a:rPr>
              <a:t>数据总线</a:t>
            </a:r>
            <a:r>
              <a:rPr lang="zh-CN" altLang="en-US" sz="2500" dirty="0"/>
              <a:t>上所经历的时间。通常取写操作时间等于读操作时间，故称为存储器存取时间。</a:t>
            </a:r>
            <a:endParaRPr lang="en-US" altLang="zh-CN" sz="2500" dirty="0"/>
          </a:p>
          <a:p>
            <a:pPr>
              <a:lnSpc>
                <a:spcPct val="90000"/>
              </a:lnSpc>
            </a:pPr>
            <a:r>
              <a:rPr lang="zh-CN" altLang="en-US" sz="2500" b="1" dirty="0">
                <a:solidFill>
                  <a:srgbClr val="0000FF"/>
                </a:solidFill>
              </a:rPr>
              <a:t>存储周期</a:t>
            </a:r>
            <a:r>
              <a:rPr lang="zh-CN" altLang="en-US" sz="2500" dirty="0"/>
              <a:t>：指连续启动两次读操作所需</a:t>
            </a:r>
            <a:r>
              <a:rPr lang="zh-CN" altLang="en-US" sz="2500" dirty="0">
                <a:solidFill>
                  <a:srgbClr val="FF3300"/>
                </a:solidFill>
              </a:rPr>
              <a:t>间隔的最小时间</a:t>
            </a:r>
            <a:r>
              <a:rPr lang="zh-CN" altLang="en-US" sz="2500" dirty="0"/>
              <a:t>。通常，</a:t>
            </a:r>
            <a:r>
              <a:rPr lang="zh-CN" altLang="en-US" sz="2500" dirty="0">
                <a:solidFill>
                  <a:srgbClr val="FF3300"/>
                </a:solidFill>
              </a:rPr>
              <a:t>存储周期略大于存取时间</a:t>
            </a:r>
            <a:r>
              <a:rPr lang="zh-CN" altLang="en-US" sz="2500" dirty="0"/>
              <a:t>，其时间单位为</a:t>
            </a:r>
            <a:r>
              <a:rPr lang="en-US" altLang="zh-CN" sz="2500" dirty="0"/>
              <a:t>ns</a:t>
            </a:r>
            <a:r>
              <a:rPr lang="zh-CN" altLang="en-US" sz="2500" dirty="0"/>
              <a:t>。</a:t>
            </a:r>
            <a:endParaRPr lang="en-US" altLang="zh-CN" sz="2500" dirty="0"/>
          </a:p>
          <a:p>
            <a:pPr>
              <a:lnSpc>
                <a:spcPct val="90000"/>
              </a:lnSpc>
            </a:pPr>
            <a:r>
              <a:rPr lang="zh-CN" altLang="en-US" sz="2500" b="1" dirty="0">
                <a:solidFill>
                  <a:srgbClr val="0000FF"/>
                </a:solidFill>
              </a:rPr>
              <a:t>存储器带宽</a:t>
            </a:r>
            <a:r>
              <a:rPr lang="zh-CN" altLang="en-US" sz="2500" dirty="0"/>
              <a:t>：单位时间里存储器所存取的信息量，通常以位</a:t>
            </a:r>
            <a:r>
              <a:rPr lang="en-US" altLang="zh-CN" sz="2500" dirty="0"/>
              <a:t>/</a:t>
            </a:r>
            <a:r>
              <a:rPr lang="zh-CN" altLang="en-US" sz="2500" dirty="0"/>
              <a:t>秒或字节</a:t>
            </a:r>
            <a:r>
              <a:rPr lang="en-US" altLang="zh-CN" sz="2500" dirty="0"/>
              <a:t>/</a:t>
            </a:r>
            <a:r>
              <a:rPr lang="zh-CN" altLang="en-US" sz="2500" dirty="0"/>
              <a:t>秒做度量单位。</a:t>
            </a:r>
            <a:endParaRPr lang="zh-CN" altLang="en-US" sz="2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xfrm>
            <a:off x="469900" y="339725"/>
            <a:ext cx="7531100" cy="785813"/>
          </a:xfrm>
        </p:spPr>
        <p:txBody>
          <a:bodyPr vert="horz" wrap="square" lIns="91440" tIns="45720" rIns="91440" bIns="45720" anchor="ctr" anchorCtr="0"/>
          <a:p>
            <a:pPr defTabSz="717550"/>
            <a:r>
              <a:rPr lang="zh-CN" altLang="en-US" dirty="0"/>
              <a:t>内存储器的分类及应用</a:t>
            </a:r>
            <a:endParaRPr lang="zh-CN" altLang="en-US" dirty="0"/>
          </a:p>
        </p:txBody>
      </p:sp>
      <p:sp>
        <p:nvSpPr>
          <p:cNvPr id="18435" name="Rectangle 3"/>
          <p:cNvSpPr>
            <a:spLocks noGrp="1"/>
          </p:cNvSpPr>
          <p:nvPr>
            <p:ph idx="1"/>
          </p:nvPr>
        </p:nvSpPr>
        <p:spPr>
          <a:xfrm>
            <a:off x="796925" y="1268413"/>
            <a:ext cx="7785100" cy="536575"/>
          </a:xfrm>
        </p:spPr>
        <p:txBody>
          <a:bodyPr vert="horz" wrap="square" lIns="91440" tIns="45720" rIns="91440" bIns="45720" anchor="t" anchorCtr="0"/>
          <a:p>
            <a:pPr marL="268605" indent="-268605" defTabSz="717550">
              <a:lnSpc>
                <a:spcPct val="90000"/>
              </a:lnSpc>
            </a:pPr>
            <a:r>
              <a:rPr lang="zh-CN" altLang="en-US" sz="2800" dirty="0">
                <a:ea typeface="黑体" panose="02010609060101010101" pitchFamily="49" charset="-122"/>
              </a:rPr>
              <a:t>内存由半导体存储器芯片组成，芯片有多种类型：</a:t>
            </a:r>
            <a:endParaRPr lang="zh-CN" altLang="en-US" sz="2800" dirty="0">
              <a:ea typeface="黑体" panose="02010609060101010101" pitchFamily="49" charset="-122"/>
            </a:endParaRPr>
          </a:p>
        </p:txBody>
      </p:sp>
      <p:grpSp>
        <p:nvGrpSpPr>
          <p:cNvPr id="18436" name="Group 36"/>
          <p:cNvGrpSpPr/>
          <p:nvPr/>
        </p:nvGrpSpPr>
        <p:grpSpPr>
          <a:xfrm>
            <a:off x="755650" y="2170113"/>
            <a:ext cx="8081963" cy="4138612"/>
            <a:chOff x="476" y="1367"/>
            <a:chExt cx="5091" cy="2607"/>
          </a:xfrm>
        </p:grpSpPr>
        <p:sp>
          <p:nvSpPr>
            <p:cNvPr id="18437" name="Text Box 4"/>
            <p:cNvSpPr txBox="1"/>
            <p:nvPr/>
          </p:nvSpPr>
          <p:spPr>
            <a:xfrm>
              <a:off x="476" y="2521"/>
              <a:ext cx="609" cy="604"/>
            </a:xfrm>
            <a:prstGeom prst="rect">
              <a:avLst/>
            </a:prstGeom>
            <a:solidFill>
              <a:srgbClr val="FFFFFF"/>
            </a:solidFill>
            <a:ln w="9525" cap="flat" cmpd="sng">
              <a:solidFill>
                <a:srgbClr val="000000"/>
              </a:solidFill>
              <a:prstDash val="solid"/>
              <a:miter/>
              <a:headEnd type="none" w="med" len="med"/>
              <a:tailEnd type="none" w="med" len="med"/>
            </a:ln>
          </p:spPr>
          <p:txBody>
            <a:bodyPr lIns="30911" tIns="61788" rIns="30911" bIns="30911"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lnSpc>
                  <a:spcPct val="108000"/>
                </a:lnSpc>
                <a:spcBef>
                  <a:spcPct val="0"/>
                </a:spcBef>
                <a:buClrTx/>
                <a:buSzTx/>
                <a:buFontTx/>
                <a:buNone/>
              </a:pPr>
              <a:r>
                <a:rPr lang="zh-CN" altLang="en-US" sz="1800" b="1" dirty="0">
                  <a:solidFill>
                    <a:srgbClr val="FF3300"/>
                  </a:solidFill>
                  <a:ea typeface="黑体" panose="02010609060101010101" pitchFamily="49" charset="-122"/>
                </a:rPr>
                <a:t>半导体存储器</a:t>
              </a:r>
              <a:endParaRPr lang="zh-CN" altLang="en-US" sz="1800" b="1" dirty="0">
                <a:solidFill>
                  <a:srgbClr val="FF3300"/>
                </a:solidFill>
                <a:ea typeface="黑体" panose="02010609060101010101" pitchFamily="49" charset="-122"/>
              </a:endParaRPr>
            </a:p>
          </p:txBody>
        </p:sp>
        <p:grpSp>
          <p:nvGrpSpPr>
            <p:cNvPr id="18438" name="Group 5"/>
            <p:cNvGrpSpPr/>
            <p:nvPr/>
          </p:nvGrpSpPr>
          <p:grpSpPr>
            <a:xfrm>
              <a:off x="1085" y="2008"/>
              <a:ext cx="437" cy="1497"/>
              <a:chOff x="1164" y="1854"/>
              <a:chExt cx="437" cy="997"/>
            </a:xfrm>
          </p:grpSpPr>
          <p:sp>
            <p:nvSpPr>
              <p:cNvPr id="18465" name="Line 6"/>
              <p:cNvSpPr/>
              <p:nvPr/>
            </p:nvSpPr>
            <p:spPr>
              <a:xfrm>
                <a:off x="1164" y="2390"/>
                <a:ext cx="215" cy="0"/>
              </a:xfrm>
              <a:prstGeom prst="line">
                <a:avLst/>
              </a:prstGeom>
              <a:ln w="9525" cap="flat" cmpd="sng">
                <a:solidFill>
                  <a:srgbClr val="000000"/>
                </a:solidFill>
                <a:prstDash val="solid"/>
                <a:headEnd type="none" w="med" len="med"/>
                <a:tailEnd type="none" w="sm" len="sm"/>
              </a:ln>
            </p:spPr>
          </p:sp>
          <p:sp>
            <p:nvSpPr>
              <p:cNvPr id="18466" name="Line 7"/>
              <p:cNvSpPr/>
              <p:nvPr/>
            </p:nvSpPr>
            <p:spPr>
              <a:xfrm flipH="1">
                <a:off x="1379" y="1854"/>
                <a:ext cx="0" cy="997"/>
              </a:xfrm>
              <a:prstGeom prst="line">
                <a:avLst/>
              </a:prstGeom>
              <a:ln w="9525" cap="flat" cmpd="sng">
                <a:solidFill>
                  <a:srgbClr val="000000"/>
                </a:solidFill>
                <a:prstDash val="solid"/>
                <a:headEnd type="none" w="med" len="med"/>
                <a:tailEnd type="none" w="med" len="med"/>
              </a:ln>
            </p:spPr>
          </p:sp>
          <p:sp>
            <p:nvSpPr>
              <p:cNvPr id="18467" name="Line 8"/>
              <p:cNvSpPr/>
              <p:nvPr/>
            </p:nvSpPr>
            <p:spPr>
              <a:xfrm>
                <a:off x="1379" y="1854"/>
                <a:ext cx="214" cy="0"/>
              </a:xfrm>
              <a:prstGeom prst="line">
                <a:avLst/>
              </a:prstGeom>
              <a:ln w="9525" cap="flat" cmpd="sng">
                <a:solidFill>
                  <a:srgbClr val="000000"/>
                </a:solidFill>
                <a:prstDash val="solid"/>
                <a:headEnd type="none" w="med" len="med"/>
                <a:tailEnd type="triangle" w="sm" len="sm"/>
              </a:ln>
            </p:spPr>
          </p:sp>
          <p:sp>
            <p:nvSpPr>
              <p:cNvPr id="18468" name="Line 9"/>
              <p:cNvSpPr/>
              <p:nvPr/>
            </p:nvSpPr>
            <p:spPr>
              <a:xfrm>
                <a:off x="1386" y="2851"/>
                <a:ext cx="215" cy="0"/>
              </a:xfrm>
              <a:prstGeom prst="line">
                <a:avLst/>
              </a:prstGeom>
              <a:ln w="9525" cap="flat" cmpd="sng">
                <a:solidFill>
                  <a:srgbClr val="000000"/>
                </a:solidFill>
                <a:prstDash val="solid"/>
                <a:headEnd type="none" w="med" len="med"/>
                <a:tailEnd type="triangle" w="sm" len="sm"/>
              </a:ln>
            </p:spPr>
          </p:sp>
        </p:grpSp>
        <p:sp>
          <p:nvSpPr>
            <p:cNvPr id="18439" name="Text Box 10"/>
            <p:cNvSpPr txBox="1"/>
            <p:nvPr/>
          </p:nvSpPr>
          <p:spPr>
            <a:xfrm>
              <a:off x="1525" y="3238"/>
              <a:ext cx="547" cy="652"/>
            </a:xfrm>
            <a:prstGeom prst="rect">
              <a:avLst/>
            </a:prstGeom>
            <a:solidFill>
              <a:srgbClr val="FFFFFF"/>
            </a:solidFill>
            <a:ln w="9525" cap="flat" cmpd="sng">
              <a:solidFill>
                <a:srgbClr val="000000"/>
              </a:solidFill>
              <a:prstDash val="solid"/>
              <a:miter/>
              <a:headEnd type="none" w="med" len="med"/>
              <a:tailEnd type="none" w="med" len="med"/>
            </a:ln>
          </p:spPr>
          <p:txBody>
            <a:bodyPr lIns="61788" tIns="36970" rIns="61788" bIns="36970"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lnSpc>
                  <a:spcPct val="108000"/>
                </a:lnSpc>
                <a:spcBef>
                  <a:spcPct val="0"/>
                </a:spcBef>
                <a:buClrTx/>
                <a:buSzTx/>
                <a:buFontTx/>
                <a:buNone/>
              </a:pPr>
              <a:r>
                <a:rPr lang="zh-CN" altLang="en-US" sz="1800" b="1" dirty="0">
                  <a:solidFill>
                    <a:srgbClr val="FF3300"/>
                  </a:solidFill>
                  <a:ea typeface="黑体" panose="02010609060101010101" pitchFamily="49" charset="-122"/>
                </a:rPr>
                <a:t>只读</a:t>
              </a:r>
              <a:endParaRPr lang="en-US" altLang="zh-CN" sz="1800" b="1" dirty="0">
                <a:solidFill>
                  <a:srgbClr val="FF3300"/>
                </a:solidFill>
                <a:ea typeface="黑体" panose="02010609060101010101" pitchFamily="49" charset="-122"/>
              </a:endParaRPr>
            </a:p>
            <a:p>
              <a:pPr marL="0" lvl="0" indent="0" algn="ctr">
                <a:lnSpc>
                  <a:spcPct val="108000"/>
                </a:lnSpc>
                <a:spcBef>
                  <a:spcPct val="0"/>
                </a:spcBef>
                <a:buClrTx/>
                <a:buSzTx/>
                <a:buFontTx/>
                <a:buNone/>
              </a:pPr>
              <a:r>
                <a:rPr lang="zh-CN" altLang="en-US" sz="1800" b="1" dirty="0">
                  <a:solidFill>
                    <a:srgbClr val="FF3300"/>
                  </a:solidFill>
                  <a:ea typeface="黑体" panose="02010609060101010101" pitchFamily="49" charset="-122"/>
                </a:rPr>
                <a:t>存储器</a:t>
              </a:r>
              <a:r>
                <a:rPr lang="en-US" altLang="zh-CN" sz="1800" b="1" dirty="0">
                  <a:solidFill>
                    <a:srgbClr val="FF3300"/>
                  </a:solidFill>
                  <a:ea typeface="黑体" panose="02010609060101010101" pitchFamily="49" charset="-122"/>
                </a:rPr>
                <a:t>(ROM)</a:t>
              </a:r>
              <a:endParaRPr lang="en-US" altLang="zh-CN" sz="1800" b="1" dirty="0">
                <a:solidFill>
                  <a:srgbClr val="FF3300"/>
                </a:solidFill>
                <a:ea typeface="黑体" panose="02010609060101010101" pitchFamily="49" charset="-122"/>
              </a:endParaRPr>
            </a:p>
          </p:txBody>
        </p:sp>
        <p:sp>
          <p:nvSpPr>
            <p:cNvPr id="18440" name="Text Box 11"/>
            <p:cNvSpPr txBox="1"/>
            <p:nvPr/>
          </p:nvSpPr>
          <p:spPr>
            <a:xfrm>
              <a:off x="1412" y="1668"/>
              <a:ext cx="709" cy="663"/>
            </a:xfrm>
            <a:prstGeom prst="rect">
              <a:avLst/>
            </a:prstGeom>
            <a:solidFill>
              <a:srgbClr val="FFFFFF"/>
            </a:solidFill>
            <a:ln w="9525" cap="flat" cmpd="sng">
              <a:solidFill>
                <a:srgbClr val="000000"/>
              </a:solidFill>
              <a:prstDash val="solid"/>
              <a:miter/>
              <a:headEnd type="none" w="med" len="med"/>
              <a:tailEnd type="none" w="med" len="med"/>
            </a:ln>
          </p:spPr>
          <p:txBody>
            <a:bodyPr lIns="61788" tIns="36970" rIns="61788" bIns="36970"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lnSpc>
                  <a:spcPct val="108000"/>
                </a:lnSpc>
                <a:spcBef>
                  <a:spcPct val="0"/>
                </a:spcBef>
                <a:buClrTx/>
                <a:buSzTx/>
                <a:buFontTx/>
                <a:buNone/>
              </a:pPr>
              <a:r>
                <a:rPr lang="zh-CN" altLang="en-US" sz="1800" b="1" dirty="0">
                  <a:solidFill>
                    <a:srgbClr val="FF3300"/>
                  </a:solidFill>
                  <a:ea typeface="黑体" panose="02010609060101010101" pitchFamily="49" charset="-122"/>
                </a:rPr>
                <a:t>随机存取存储器</a:t>
              </a:r>
              <a:r>
                <a:rPr lang="en-US" altLang="zh-CN" sz="1800" b="1" dirty="0">
                  <a:solidFill>
                    <a:srgbClr val="FF3300"/>
                  </a:solidFill>
                  <a:ea typeface="黑体" panose="02010609060101010101" pitchFamily="49" charset="-122"/>
                </a:rPr>
                <a:t>(RAM)</a:t>
              </a:r>
              <a:endParaRPr lang="en-US" altLang="zh-CN" sz="1800" b="1" dirty="0">
                <a:solidFill>
                  <a:srgbClr val="FF3300"/>
                </a:solidFill>
                <a:ea typeface="黑体" panose="02010609060101010101" pitchFamily="49" charset="-122"/>
              </a:endParaRPr>
            </a:p>
          </p:txBody>
        </p:sp>
        <p:sp>
          <p:nvSpPr>
            <p:cNvPr id="18441" name="Line 12"/>
            <p:cNvSpPr/>
            <p:nvPr/>
          </p:nvSpPr>
          <p:spPr>
            <a:xfrm>
              <a:off x="2075" y="3497"/>
              <a:ext cx="184" cy="0"/>
            </a:xfrm>
            <a:prstGeom prst="line">
              <a:avLst/>
            </a:prstGeom>
            <a:ln w="9525" cap="flat" cmpd="sng">
              <a:solidFill>
                <a:srgbClr val="000000"/>
              </a:solidFill>
              <a:prstDash val="solid"/>
              <a:headEnd type="none" w="med" len="med"/>
              <a:tailEnd type="none" w="sm" len="sm"/>
            </a:ln>
          </p:spPr>
        </p:sp>
        <p:grpSp>
          <p:nvGrpSpPr>
            <p:cNvPr id="18442" name="Group 13"/>
            <p:cNvGrpSpPr/>
            <p:nvPr/>
          </p:nvGrpSpPr>
          <p:grpSpPr>
            <a:xfrm>
              <a:off x="2121" y="1600"/>
              <a:ext cx="350" cy="840"/>
              <a:chOff x="3681" y="8878"/>
              <a:chExt cx="632" cy="512"/>
            </a:xfrm>
          </p:grpSpPr>
          <p:sp>
            <p:nvSpPr>
              <p:cNvPr id="18461" name="Line 14"/>
              <p:cNvSpPr/>
              <p:nvPr/>
            </p:nvSpPr>
            <p:spPr>
              <a:xfrm>
                <a:off x="3681" y="9118"/>
                <a:ext cx="283" cy="0"/>
              </a:xfrm>
              <a:prstGeom prst="line">
                <a:avLst/>
              </a:prstGeom>
              <a:ln w="9525" cap="flat" cmpd="sng">
                <a:solidFill>
                  <a:srgbClr val="000000"/>
                </a:solidFill>
                <a:prstDash val="solid"/>
                <a:headEnd type="none" w="med" len="med"/>
                <a:tailEnd type="none" w="sm" len="sm"/>
              </a:ln>
            </p:spPr>
          </p:sp>
          <p:sp>
            <p:nvSpPr>
              <p:cNvPr id="18462" name="Line 15"/>
              <p:cNvSpPr/>
              <p:nvPr/>
            </p:nvSpPr>
            <p:spPr>
              <a:xfrm>
                <a:off x="3983" y="8878"/>
                <a:ext cx="330" cy="0"/>
              </a:xfrm>
              <a:prstGeom prst="line">
                <a:avLst/>
              </a:prstGeom>
              <a:ln w="9525" cap="flat" cmpd="sng">
                <a:solidFill>
                  <a:srgbClr val="000000"/>
                </a:solidFill>
                <a:prstDash val="solid"/>
                <a:headEnd type="none" w="med" len="med"/>
                <a:tailEnd type="triangle" w="sm" len="sm"/>
              </a:ln>
            </p:spPr>
          </p:sp>
          <p:sp>
            <p:nvSpPr>
              <p:cNvPr id="18463" name="Line 16"/>
              <p:cNvSpPr/>
              <p:nvPr/>
            </p:nvSpPr>
            <p:spPr>
              <a:xfrm>
                <a:off x="3983" y="9390"/>
                <a:ext cx="330" cy="0"/>
              </a:xfrm>
              <a:prstGeom prst="line">
                <a:avLst/>
              </a:prstGeom>
              <a:ln w="9525" cap="flat" cmpd="sng">
                <a:solidFill>
                  <a:srgbClr val="000000"/>
                </a:solidFill>
                <a:prstDash val="solid"/>
                <a:headEnd type="none" w="med" len="med"/>
                <a:tailEnd type="triangle" w="sm" len="sm"/>
              </a:ln>
            </p:spPr>
          </p:sp>
          <p:sp>
            <p:nvSpPr>
              <p:cNvPr id="18464" name="Line 17"/>
              <p:cNvSpPr/>
              <p:nvPr/>
            </p:nvSpPr>
            <p:spPr>
              <a:xfrm>
                <a:off x="3974" y="8884"/>
                <a:ext cx="0" cy="500"/>
              </a:xfrm>
              <a:prstGeom prst="line">
                <a:avLst/>
              </a:prstGeom>
              <a:ln w="9525" cap="flat" cmpd="sng">
                <a:solidFill>
                  <a:srgbClr val="000000"/>
                </a:solidFill>
                <a:prstDash val="solid"/>
                <a:headEnd type="none" w="med" len="med"/>
                <a:tailEnd type="none" w="med" len="med"/>
              </a:ln>
            </p:spPr>
          </p:sp>
        </p:grpSp>
        <p:sp>
          <p:nvSpPr>
            <p:cNvPr id="18443" name="Text Box 18"/>
            <p:cNvSpPr txBox="1"/>
            <p:nvPr/>
          </p:nvSpPr>
          <p:spPr>
            <a:xfrm>
              <a:off x="2471" y="1367"/>
              <a:ext cx="1379" cy="344"/>
            </a:xfrm>
            <a:prstGeom prst="rect">
              <a:avLst/>
            </a:prstGeom>
            <a:solidFill>
              <a:srgbClr val="FFFFFF"/>
            </a:solidFill>
            <a:ln w="9525" cap="flat" cmpd="sng">
              <a:solidFill>
                <a:srgbClr val="000000"/>
              </a:solidFill>
              <a:prstDash val="solid"/>
              <a:miter/>
              <a:headEnd type="none" w="med" len="med"/>
              <a:tailEnd type="none" w="med" len="med"/>
            </a:ln>
          </p:spPr>
          <p:txBody>
            <a:bodyPr lIns="61788" tIns="7200" rIns="61788" bIns="7200"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zh-CN" altLang="en-US" sz="1800" b="1" dirty="0">
                  <a:solidFill>
                    <a:srgbClr val="FF3300"/>
                  </a:solidFill>
                  <a:ea typeface="黑体" panose="02010609060101010101" pitchFamily="49" charset="-122"/>
                </a:rPr>
                <a:t>静态存储器</a:t>
              </a:r>
              <a:r>
                <a:rPr lang="en-US" altLang="zh-CN" sz="1800" b="1" dirty="0">
                  <a:solidFill>
                    <a:srgbClr val="FF3300"/>
                  </a:solidFill>
                  <a:ea typeface="黑体" panose="02010609060101010101" pitchFamily="49" charset="-122"/>
                </a:rPr>
                <a:t>SRAM</a:t>
              </a:r>
              <a:endParaRPr lang="en-US" altLang="zh-CN" sz="1800" b="1" dirty="0">
                <a:solidFill>
                  <a:srgbClr val="FF3300"/>
                </a:solidFill>
                <a:ea typeface="黑体" panose="02010609060101010101" pitchFamily="49" charset="-122"/>
              </a:endParaRPr>
            </a:p>
          </p:txBody>
        </p:sp>
        <p:sp>
          <p:nvSpPr>
            <p:cNvPr id="18444" name="Text Box 19"/>
            <p:cNvSpPr txBox="1"/>
            <p:nvPr/>
          </p:nvSpPr>
          <p:spPr>
            <a:xfrm>
              <a:off x="2471" y="2274"/>
              <a:ext cx="1351" cy="271"/>
            </a:xfrm>
            <a:prstGeom prst="rect">
              <a:avLst/>
            </a:prstGeom>
            <a:solidFill>
              <a:srgbClr val="FFFFFF"/>
            </a:solidFill>
            <a:ln w="9525" cap="flat" cmpd="sng">
              <a:solidFill>
                <a:srgbClr val="000000"/>
              </a:solidFill>
              <a:prstDash val="solid"/>
              <a:miter/>
              <a:headEnd type="none" w="med" len="med"/>
              <a:tailEnd type="none" w="med" len="med"/>
            </a:ln>
          </p:spPr>
          <p:txBody>
            <a:bodyPr lIns="61788" tIns="7200" rIns="61788" bIns="7200"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zh-CN" altLang="en-US" sz="1800" b="1" dirty="0">
                  <a:solidFill>
                    <a:srgbClr val="FF3300"/>
                  </a:solidFill>
                  <a:ea typeface="黑体" panose="02010609060101010101" pitchFamily="49" charset="-122"/>
                </a:rPr>
                <a:t>动态存储器</a:t>
              </a:r>
              <a:r>
                <a:rPr lang="en-US" altLang="zh-CN" sz="1800" b="1" dirty="0">
                  <a:solidFill>
                    <a:srgbClr val="FF3300"/>
                  </a:solidFill>
                  <a:ea typeface="黑体" panose="02010609060101010101" pitchFamily="49" charset="-122"/>
                </a:rPr>
                <a:t>DRAM</a:t>
              </a:r>
              <a:endParaRPr lang="en-US" altLang="zh-CN" sz="1800" b="1" dirty="0">
                <a:solidFill>
                  <a:srgbClr val="FF3300"/>
                </a:solidFill>
                <a:ea typeface="黑体" panose="02010609060101010101" pitchFamily="49" charset="-122"/>
              </a:endParaRPr>
            </a:p>
          </p:txBody>
        </p:sp>
        <p:sp>
          <p:nvSpPr>
            <p:cNvPr id="18445" name="Text Box 20"/>
            <p:cNvSpPr txBox="1"/>
            <p:nvPr/>
          </p:nvSpPr>
          <p:spPr>
            <a:xfrm>
              <a:off x="2478" y="3210"/>
              <a:ext cx="1967" cy="312"/>
            </a:xfrm>
            <a:prstGeom prst="rect">
              <a:avLst/>
            </a:prstGeom>
            <a:solidFill>
              <a:srgbClr val="FFFFFF"/>
            </a:solidFill>
            <a:ln w="9525" cap="flat" cmpd="sng">
              <a:solidFill>
                <a:srgbClr val="000000"/>
              </a:solidFill>
              <a:prstDash val="solid"/>
              <a:miter/>
              <a:headEnd type="none" w="med" len="med"/>
              <a:tailEnd type="none" w="med" len="med"/>
            </a:ln>
          </p:spPr>
          <p:txBody>
            <a:bodyPr lIns="61788" tIns="7200" rIns="61788" bIns="7200"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FF3300"/>
                  </a:solidFill>
                  <a:ea typeface="黑体" panose="02010609060101010101" pitchFamily="49" charset="-122"/>
                </a:rPr>
                <a:t> </a:t>
              </a:r>
              <a:r>
                <a:rPr lang="zh-CN" altLang="en-US" sz="1800" b="1" dirty="0">
                  <a:solidFill>
                    <a:srgbClr val="FF3300"/>
                  </a:solidFill>
                  <a:ea typeface="黑体" panose="02010609060101010101" pitchFamily="49" charset="-122"/>
                </a:rPr>
                <a:t>不可在线改写内容的</a:t>
              </a:r>
              <a:r>
                <a:rPr lang="en-US" altLang="zh-CN" sz="1800" b="1" dirty="0">
                  <a:solidFill>
                    <a:srgbClr val="FF3300"/>
                  </a:solidFill>
                  <a:ea typeface="黑体" panose="02010609060101010101" pitchFamily="49" charset="-122"/>
                </a:rPr>
                <a:t>ROM</a:t>
              </a:r>
              <a:endParaRPr lang="en-US" altLang="zh-CN" sz="1800" b="1" dirty="0">
                <a:solidFill>
                  <a:srgbClr val="FF3300"/>
                </a:solidFill>
                <a:ea typeface="黑体" panose="02010609060101010101" pitchFamily="49" charset="-122"/>
              </a:endParaRPr>
            </a:p>
          </p:txBody>
        </p:sp>
        <p:sp>
          <p:nvSpPr>
            <p:cNvPr id="18446" name="Line 21"/>
            <p:cNvSpPr/>
            <p:nvPr/>
          </p:nvSpPr>
          <p:spPr>
            <a:xfrm>
              <a:off x="2255" y="3318"/>
              <a:ext cx="214" cy="0"/>
            </a:xfrm>
            <a:prstGeom prst="line">
              <a:avLst/>
            </a:prstGeom>
            <a:ln w="9525" cap="flat" cmpd="sng">
              <a:solidFill>
                <a:srgbClr val="000000"/>
              </a:solidFill>
              <a:prstDash val="solid"/>
              <a:headEnd type="none" w="med" len="med"/>
              <a:tailEnd type="triangle" w="sm" len="sm"/>
            </a:ln>
          </p:spPr>
        </p:sp>
        <p:sp>
          <p:nvSpPr>
            <p:cNvPr id="18447" name="Line 22"/>
            <p:cNvSpPr/>
            <p:nvPr/>
          </p:nvSpPr>
          <p:spPr>
            <a:xfrm flipH="1">
              <a:off x="2256" y="3322"/>
              <a:ext cx="0" cy="408"/>
            </a:xfrm>
            <a:prstGeom prst="line">
              <a:avLst/>
            </a:prstGeom>
            <a:ln w="9525" cap="flat" cmpd="sng">
              <a:solidFill>
                <a:srgbClr val="000000"/>
              </a:solidFill>
              <a:prstDash val="solid"/>
              <a:headEnd type="none" w="med" len="med"/>
              <a:tailEnd type="none" w="med" len="med"/>
            </a:ln>
          </p:spPr>
        </p:sp>
        <p:sp>
          <p:nvSpPr>
            <p:cNvPr id="18448" name="Line 23"/>
            <p:cNvSpPr/>
            <p:nvPr/>
          </p:nvSpPr>
          <p:spPr>
            <a:xfrm>
              <a:off x="2255" y="3732"/>
              <a:ext cx="214" cy="0"/>
            </a:xfrm>
            <a:prstGeom prst="line">
              <a:avLst/>
            </a:prstGeom>
            <a:ln w="9525" cap="flat" cmpd="sng">
              <a:solidFill>
                <a:srgbClr val="000000"/>
              </a:solidFill>
              <a:prstDash val="solid"/>
              <a:headEnd type="none" w="med" len="med"/>
              <a:tailEnd type="triangle" w="sm" len="sm"/>
            </a:ln>
          </p:spPr>
        </p:sp>
        <p:sp>
          <p:nvSpPr>
            <p:cNvPr id="18449" name="Text Box 24"/>
            <p:cNvSpPr txBox="1"/>
            <p:nvPr/>
          </p:nvSpPr>
          <p:spPr>
            <a:xfrm>
              <a:off x="2478" y="3616"/>
              <a:ext cx="1457" cy="213"/>
            </a:xfrm>
            <a:prstGeom prst="rect">
              <a:avLst/>
            </a:prstGeom>
            <a:solidFill>
              <a:srgbClr val="FFFFFF"/>
            </a:solidFill>
            <a:ln w="9525" cap="flat" cmpd="sng">
              <a:solidFill>
                <a:srgbClr val="000000"/>
              </a:solidFill>
              <a:prstDash val="solid"/>
              <a:miter/>
              <a:headEnd type="none" w="med" len="med"/>
              <a:tailEnd type="none" w="med" len="med"/>
            </a:ln>
          </p:spPr>
          <p:txBody>
            <a:bodyPr lIns="61788" tIns="7200" rIns="61788" bIns="7200"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zh-CN" altLang="en-US" sz="1800" b="1" dirty="0">
                  <a:solidFill>
                    <a:srgbClr val="FF3300"/>
                  </a:solidFill>
                  <a:ea typeface="黑体" panose="02010609060101010101" pitchFamily="49" charset="-122"/>
                </a:rPr>
                <a:t>闪存（</a:t>
              </a:r>
              <a:r>
                <a:rPr lang="en-US" altLang="zh-CN" sz="1800" b="1" dirty="0">
                  <a:solidFill>
                    <a:srgbClr val="FF3300"/>
                  </a:solidFill>
                  <a:ea typeface="黑体" panose="02010609060101010101" pitchFamily="49" charset="-122"/>
                </a:rPr>
                <a:t>Flash ROM</a:t>
              </a:r>
              <a:r>
                <a:rPr lang="zh-CN" altLang="en-US" sz="1800" b="1" dirty="0">
                  <a:solidFill>
                    <a:srgbClr val="FF3300"/>
                  </a:solidFill>
                  <a:ea typeface="黑体" panose="02010609060101010101" pitchFamily="49" charset="-122"/>
                </a:rPr>
                <a:t>）</a:t>
              </a:r>
              <a:endParaRPr lang="zh-CN" altLang="en-US" sz="1800" b="1" dirty="0">
                <a:solidFill>
                  <a:srgbClr val="FF3300"/>
                </a:solidFill>
                <a:ea typeface="黑体" panose="02010609060101010101" pitchFamily="49" charset="-122"/>
              </a:endParaRPr>
            </a:p>
          </p:txBody>
        </p:sp>
        <p:sp>
          <p:nvSpPr>
            <p:cNvPr id="18450" name="Text Box 25"/>
            <p:cNvSpPr txBox="1"/>
            <p:nvPr/>
          </p:nvSpPr>
          <p:spPr>
            <a:xfrm>
              <a:off x="4020" y="1367"/>
              <a:ext cx="1282" cy="275"/>
            </a:xfrm>
            <a:prstGeom prst="rect">
              <a:avLst/>
            </a:prstGeom>
            <a:noFill/>
            <a:ln w="9525">
              <a:noFill/>
            </a:ln>
          </p:spPr>
          <p:txBody>
            <a:bodyPr lIns="88950" tIns="44480" rIns="88950" bIns="44480"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zh-CN" altLang="en-US" sz="2000" b="1" dirty="0">
                  <a:solidFill>
                    <a:srgbClr val="0033CC"/>
                  </a:solidFill>
                  <a:ea typeface="黑体" panose="02010609060101010101" pitchFamily="49" charset="-122"/>
                </a:rPr>
                <a:t>（用作</a:t>
              </a:r>
              <a:r>
                <a:rPr lang="en-US" altLang="zh-CN" sz="2000" b="1" dirty="0">
                  <a:solidFill>
                    <a:srgbClr val="0033CC"/>
                  </a:solidFill>
                  <a:ea typeface="黑体" panose="02010609060101010101" pitchFamily="49" charset="-122"/>
                </a:rPr>
                <a:t>Cache</a:t>
              </a:r>
              <a:r>
                <a:rPr lang="zh-CN" altLang="en-US" sz="2000" b="1" dirty="0">
                  <a:solidFill>
                    <a:srgbClr val="0033CC"/>
                  </a:solidFill>
                  <a:ea typeface="黑体" panose="02010609060101010101" pitchFamily="49" charset="-122"/>
                </a:rPr>
                <a:t>）</a:t>
              </a:r>
              <a:endParaRPr lang="zh-CN" altLang="en-US" sz="2000" b="1" dirty="0">
                <a:solidFill>
                  <a:srgbClr val="0033CC"/>
                </a:solidFill>
                <a:ea typeface="黑体" panose="02010609060101010101" pitchFamily="49" charset="-122"/>
              </a:endParaRPr>
            </a:p>
          </p:txBody>
        </p:sp>
        <p:sp>
          <p:nvSpPr>
            <p:cNvPr id="18451" name="Text Box 26"/>
            <p:cNvSpPr txBox="1"/>
            <p:nvPr/>
          </p:nvSpPr>
          <p:spPr>
            <a:xfrm>
              <a:off x="3907" y="2246"/>
              <a:ext cx="1537" cy="276"/>
            </a:xfrm>
            <a:prstGeom prst="rect">
              <a:avLst/>
            </a:prstGeom>
            <a:noFill/>
            <a:ln w="9525">
              <a:noFill/>
            </a:ln>
          </p:spPr>
          <p:txBody>
            <a:bodyPr lIns="88950" tIns="44480" rIns="88950" bIns="44480"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0033CC"/>
                  </a:solidFill>
                  <a:latin typeface="黑体" panose="02010609060101010101" pitchFamily="49" charset="-122"/>
                  <a:ea typeface="黑体" panose="02010609060101010101" pitchFamily="49" charset="-122"/>
                </a:rPr>
                <a:t> </a:t>
              </a:r>
              <a:r>
                <a:rPr lang="zh-CN" altLang="en-US" sz="2000" b="1" dirty="0">
                  <a:solidFill>
                    <a:srgbClr val="0033CC"/>
                  </a:solidFill>
                  <a:latin typeface="黑体" panose="02010609060101010101" pitchFamily="49" charset="-122"/>
                  <a:ea typeface="黑体" panose="02010609060101010101" pitchFamily="49" charset="-122"/>
                </a:rPr>
                <a:t>（用作主存储器）</a:t>
              </a:r>
              <a:endParaRPr lang="zh-CN" altLang="en-US" sz="2000" b="1" dirty="0">
                <a:solidFill>
                  <a:srgbClr val="0033CC"/>
                </a:solidFill>
                <a:latin typeface="黑体" panose="02010609060101010101" pitchFamily="49" charset="-122"/>
                <a:ea typeface="黑体" panose="02010609060101010101" pitchFamily="49" charset="-122"/>
              </a:endParaRPr>
            </a:p>
          </p:txBody>
        </p:sp>
        <p:grpSp>
          <p:nvGrpSpPr>
            <p:cNvPr id="18452" name="Group 27"/>
            <p:cNvGrpSpPr/>
            <p:nvPr/>
          </p:nvGrpSpPr>
          <p:grpSpPr>
            <a:xfrm>
              <a:off x="2778" y="1690"/>
              <a:ext cx="2291" cy="592"/>
              <a:chOff x="2857" y="1457"/>
              <a:chExt cx="2291" cy="592"/>
            </a:xfrm>
          </p:grpSpPr>
          <p:sp>
            <p:nvSpPr>
              <p:cNvPr id="18459" name="Rectangle 28"/>
              <p:cNvSpPr/>
              <p:nvPr/>
            </p:nvSpPr>
            <p:spPr>
              <a:xfrm>
                <a:off x="2858" y="1457"/>
                <a:ext cx="2290" cy="592"/>
              </a:xfrm>
              <a:prstGeom prst="rect">
                <a:avLst/>
              </a:prstGeom>
              <a:noFill/>
              <a:ln w="9525">
                <a:noFill/>
              </a:ln>
            </p:spPr>
            <p:txBody>
              <a:bodyPr lIns="88950" tIns="44480" rIns="88950" bIns="4448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180975" lvl="1" indent="0" eaLnBrk="1" hangingPunct="1">
                  <a:spcBef>
                    <a:spcPct val="0"/>
                  </a:spcBef>
                  <a:buClrTx/>
                  <a:buSzTx/>
                  <a:buFontTx/>
                  <a:buChar char="•"/>
                </a:pPr>
                <a:r>
                  <a:rPr lang="en-US" altLang="zh-CN" sz="1400" b="1" dirty="0"/>
                  <a:t> </a:t>
                </a:r>
                <a:r>
                  <a:rPr lang="zh-CN" altLang="en-US" sz="1400" b="1" dirty="0"/>
                  <a:t>每个存储单元</a:t>
                </a:r>
                <a:r>
                  <a:rPr lang="en-US" altLang="zh-CN" sz="1400" b="1" dirty="0"/>
                  <a:t>(cell)</a:t>
                </a:r>
                <a:r>
                  <a:rPr lang="zh-CN" altLang="en-US" sz="1400" b="1" dirty="0"/>
                  <a:t>由</a:t>
                </a:r>
                <a:r>
                  <a:rPr lang="en-US" altLang="zh-CN" sz="1400" b="1" dirty="0"/>
                  <a:t>6</a:t>
                </a:r>
                <a:r>
                  <a:rPr lang="zh-CN" altLang="en-US" sz="1400" b="1" dirty="0"/>
                  <a:t>个晶体管组成</a:t>
                </a:r>
                <a:endParaRPr lang="en-US" altLang="zh-CN" sz="1400" b="1" dirty="0"/>
              </a:p>
              <a:p>
                <a:pPr marL="180975" lvl="1" indent="0" eaLnBrk="1" hangingPunct="1">
                  <a:spcBef>
                    <a:spcPct val="0"/>
                  </a:spcBef>
                  <a:buClrTx/>
                  <a:buSzTx/>
                  <a:buFontTx/>
                  <a:buChar char="•"/>
                </a:pPr>
                <a:r>
                  <a:rPr lang="en-US" altLang="zh-CN" sz="1400" b="1" dirty="0"/>
                  <a:t> </a:t>
                </a:r>
                <a:r>
                  <a:rPr lang="zh-CN" altLang="en-US" sz="1400" b="1" dirty="0"/>
                  <a:t>只要加上电源，信息就能一直保持</a:t>
                </a:r>
                <a:endParaRPr lang="en-US" altLang="zh-CN" sz="1400" b="1" dirty="0"/>
              </a:p>
              <a:p>
                <a:pPr marL="180975" lvl="1" indent="0" eaLnBrk="1" hangingPunct="1">
                  <a:spcBef>
                    <a:spcPct val="0"/>
                  </a:spcBef>
                  <a:buClrTx/>
                  <a:buSzTx/>
                  <a:buFontTx/>
                  <a:buChar char="•"/>
                </a:pPr>
                <a:r>
                  <a:rPr lang="en-US" altLang="zh-CN" sz="1400" b="1" dirty="0"/>
                  <a:t> </a:t>
                </a:r>
                <a:r>
                  <a:rPr lang="zh-CN" altLang="en-US" sz="1400" b="1" dirty="0"/>
                  <a:t>对电器干扰相对不很敏感</a:t>
                </a:r>
                <a:endParaRPr lang="en-US" altLang="zh-CN" sz="1400" b="1" dirty="0"/>
              </a:p>
              <a:p>
                <a:pPr marL="180975" lvl="1" indent="0" eaLnBrk="1" hangingPunct="1">
                  <a:spcBef>
                    <a:spcPct val="0"/>
                  </a:spcBef>
                  <a:buClrTx/>
                  <a:buSzTx/>
                  <a:buFontTx/>
                  <a:buChar char="•"/>
                </a:pPr>
                <a:r>
                  <a:rPr lang="en-US" altLang="zh-CN" sz="1400" b="1" dirty="0"/>
                  <a:t> </a:t>
                </a:r>
                <a:r>
                  <a:rPr lang="zh-CN" altLang="en-US" sz="1400" b="1" dirty="0"/>
                  <a:t>比</a:t>
                </a:r>
                <a:r>
                  <a:rPr lang="en-US" altLang="zh-CN" sz="1400" b="1" dirty="0"/>
                  <a:t>DRAM</a:t>
                </a:r>
                <a:r>
                  <a:rPr lang="zh-CN" altLang="en-US" sz="1400" b="1" dirty="0"/>
                  <a:t>更快，也更贵</a:t>
                </a:r>
                <a:endParaRPr lang="zh-CN" altLang="en-US" sz="1400" b="1" dirty="0"/>
              </a:p>
            </p:txBody>
          </p:sp>
          <p:sp>
            <p:nvSpPr>
              <p:cNvPr id="18460" name="AutoShape 29"/>
              <p:cNvSpPr/>
              <p:nvPr/>
            </p:nvSpPr>
            <p:spPr>
              <a:xfrm flipH="1">
                <a:off x="2857" y="1525"/>
                <a:ext cx="46" cy="431"/>
              </a:xfrm>
              <a:prstGeom prst="rightBracket">
                <a:avLst>
                  <a:gd name="adj" fmla="val 78079"/>
                </a:avLst>
              </a:prstGeom>
              <a:noFill/>
              <a:ln w="9525" cap="flat" cmpd="sng">
                <a:solidFill>
                  <a:srgbClr val="0033CC"/>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18453" name="Group 30"/>
            <p:cNvGrpSpPr/>
            <p:nvPr/>
          </p:nvGrpSpPr>
          <p:grpSpPr>
            <a:xfrm>
              <a:off x="2778" y="2551"/>
              <a:ext cx="2789" cy="592"/>
              <a:chOff x="2857" y="2273"/>
              <a:chExt cx="2269" cy="594"/>
            </a:xfrm>
          </p:grpSpPr>
          <p:sp>
            <p:nvSpPr>
              <p:cNvPr id="18457" name="Rectangle 31"/>
              <p:cNvSpPr/>
              <p:nvPr/>
            </p:nvSpPr>
            <p:spPr>
              <a:xfrm>
                <a:off x="2858" y="2273"/>
                <a:ext cx="2268" cy="594"/>
              </a:xfrm>
              <a:prstGeom prst="rect">
                <a:avLst/>
              </a:prstGeom>
              <a:noFill/>
              <a:ln w="9525">
                <a:noFill/>
              </a:ln>
            </p:spPr>
            <p:txBody>
              <a:bodyPr lIns="88950" tIns="44480" rIns="88950" bIns="4448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180975" lvl="1" indent="85725" eaLnBrk="1" hangingPunct="1">
                  <a:spcBef>
                    <a:spcPct val="0"/>
                  </a:spcBef>
                  <a:buClrTx/>
                  <a:buSzTx/>
                  <a:buFontTx/>
                  <a:buChar char="•"/>
                </a:pPr>
                <a:r>
                  <a:rPr lang="en-US" altLang="zh-CN" sz="1400" b="1" dirty="0"/>
                  <a:t> </a:t>
                </a:r>
                <a:r>
                  <a:rPr lang="zh-CN" altLang="en-US" sz="1400" b="1" dirty="0"/>
                  <a:t>每个存储单元由</a:t>
                </a:r>
                <a:r>
                  <a:rPr lang="en-US" altLang="zh-CN" sz="1400" b="1" dirty="0"/>
                  <a:t>1</a:t>
                </a:r>
                <a:r>
                  <a:rPr lang="zh-CN" altLang="en-US" sz="1400" b="1" dirty="0"/>
                  <a:t>个电容和</a:t>
                </a:r>
                <a:r>
                  <a:rPr lang="en-US" altLang="zh-CN" sz="1400" b="1" dirty="0"/>
                  <a:t>1</a:t>
                </a:r>
                <a:r>
                  <a:rPr lang="zh-CN" altLang="en-US" sz="1400" b="1" dirty="0"/>
                  <a:t>个晶体管组成</a:t>
                </a:r>
                <a:r>
                  <a:rPr lang="en-US" altLang="zh-CN" sz="1400" b="1" dirty="0"/>
                  <a:t>.</a:t>
                </a:r>
                <a:endParaRPr lang="en-US" altLang="zh-CN" sz="1400" b="1" dirty="0"/>
              </a:p>
              <a:p>
                <a:pPr marL="180975" lvl="1" indent="85725" eaLnBrk="1" hangingPunct="1">
                  <a:spcBef>
                    <a:spcPct val="0"/>
                  </a:spcBef>
                  <a:buClrTx/>
                  <a:buSzTx/>
                  <a:buFontTx/>
                  <a:buChar char="•"/>
                </a:pPr>
                <a:r>
                  <a:rPr lang="en-US" altLang="zh-CN" sz="1400" b="1" dirty="0"/>
                  <a:t> </a:t>
                </a:r>
                <a:r>
                  <a:rPr lang="zh-CN" altLang="en-US" sz="1400" b="1" dirty="0"/>
                  <a:t>每隔一段时间必须刷新一次</a:t>
                </a:r>
                <a:endParaRPr lang="en-US" altLang="zh-CN" sz="1400" b="1" dirty="0"/>
              </a:p>
              <a:p>
                <a:pPr marL="180975" lvl="1" indent="85725" eaLnBrk="1" hangingPunct="1">
                  <a:spcBef>
                    <a:spcPct val="0"/>
                  </a:spcBef>
                  <a:buClrTx/>
                  <a:buSzTx/>
                  <a:buFontTx/>
                  <a:buChar char="•"/>
                </a:pPr>
                <a:r>
                  <a:rPr lang="en-US" altLang="zh-CN" sz="1400" b="1" dirty="0"/>
                  <a:t> </a:t>
                </a:r>
                <a:r>
                  <a:rPr lang="zh-CN" altLang="en-US" sz="1400" b="1" dirty="0"/>
                  <a:t>对电器干扰比较敏感</a:t>
                </a:r>
                <a:endParaRPr lang="en-US" altLang="zh-CN" sz="1400" b="1" dirty="0"/>
              </a:p>
              <a:p>
                <a:pPr marL="180975" lvl="1" indent="85725" eaLnBrk="1" hangingPunct="1">
                  <a:spcBef>
                    <a:spcPct val="0"/>
                  </a:spcBef>
                  <a:buClrTx/>
                  <a:buSzTx/>
                  <a:buFontTx/>
                  <a:buChar char="•"/>
                </a:pPr>
                <a:r>
                  <a:rPr lang="en-US" altLang="zh-CN" sz="1400" b="1" dirty="0"/>
                  <a:t> </a:t>
                </a:r>
                <a:r>
                  <a:rPr lang="zh-CN" altLang="en-US" sz="1400" b="1" dirty="0"/>
                  <a:t>比</a:t>
                </a:r>
                <a:r>
                  <a:rPr lang="en-US" altLang="zh-CN" sz="1400" b="1" dirty="0"/>
                  <a:t>SRAM</a:t>
                </a:r>
                <a:r>
                  <a:rPr lang="zh-CN" altLang="en-US" sz="1400" b="1" dirty="0"/>
                  <a:t>慢，但便宜</a:t>
                </a:r>
                <a:endParaRPr lang="zh-CN" altLang="en-US" sz="1400" b="1" dirty="0"/>
              </a:p>
            </p:txBody>
          </p:sp>
          <p:sp>
            <p:nvSpPr>
              <p:cNvPr id="18458" name="AutoShape 32"/>
              <p:cNvSpPr/>
              <p:nvPr/>
            </p:nvSpPr>
            <p:spPr>
              <a:xfrm flipH="1">
                <a:off x="2857" y="2364"/>
                <a:ext cx="46" cy="430"/>
              </a:xfrm>
              <a:prstGeom prst="rightBracket">
                <a:avLst>
                  <a:gd name="adj" fmla="val 78071"/>
                </a:avLst>
              </a:prstGeom>
              <a:noFill/>
              <a:ln w="9525" cap="flat" cmpd="sng">
                <a:solidFill>
                  <a:srgbClr val="0033CC"/>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grpSp>
          <p:nvGrpSpPr>
            <p:cNvPr id="18454" name="Group 33"/>
            <p:cNvGrpSpPr/>
            <p:nvPr/>
          </p:nvGrpSpPr>
          <p:grpSpPr>
            <a:xfrm>
              <a:off x="3850" y="3578"/>
              <a:ext cx="1519" cy="396"/>
              <a:chOff x="4037" y="3158"/>
              <a:chExt cx="1519" cy="395"/>
            </a:xfrm>
          </p:grpSpPr>
          <p:sp>
            <p:nvSpPr>
              <p:cNvPr id="18455" name="Text Box 34"/>
              <p:cNvSpPr txBox="1"/>
              <p:nvPr/>
            </p:nvSpPr>
            <p:spPr>
              <a:xfrm>
                <a:off x="4037" y="3158"/>
                <a:ext cx="1519" cy="275"/>
              </a:xfrm>
              <a:prstGeom prst="rect">
                <a:avLst/>
              </a:prstGeom>
              <a:noFill/>
              <a:ln w="9525">
                <a:noFill/>
              </a:ln>
            </p:spPr>
            <p:txBody>
              <a:bodyPr lIns="88950" tIns="44480" rIns="88950" bIns="44480"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zh-CN" altLang="en-US" sz="2000" b="1" dirty="0">
                    <a:solidFill>
                      <a:srgbClr val="0033CC"/>
                    </a:solidFill>
                    <a:ea typeface="黑体" panose="02010609060101010101" pitchFamily="49" charset="-122"/>
                  </a:rPr>
                  <a:t>（用作</a:t>
                </a:r>
                <a:r>
                  <a:rPr lang="en-US" altLang="zh-CN" sz="2000" b="1" dirty="0">
                    <a:solidFill>
                      <a:srgbClr val="0033CC"/>
                    </a:solidFill>
                    <a:ea typeface="黑体" panose="02010609060101010101" pitchFamily="49" charset="-122"/>
                  </a:rPr>
                  <a:t>BIOS</a:t>
                </a:r>
                <a:r>
                  <a:rPr lang="zh-CN" altLang="en-US" sz="2000" b="1" dirty="0">
                    <a:solidFill>
                      <a:srgbClr val="0033CC"/>
                    </a:solidFill>
                    <a:ea typeface="黑体" panose="02010609060101010101" pitchFamily="49" charset="-122"/>
                  </a:rPr>
                  <a:t>）</a:t>
                </a:r>
                <a:endParaRPr lang="zh-CN" altLang="en-US" sz="2000" b="1" dirty="0">
                  <a:solidFill>
                    <a:srgbClr val="0033CC"/>
                  </a:solidFill>
                  <a:ea typeface="黑体" panose="02010609060101010101" pitchFamily="49" charset="-122"/>
                </a:endParaRPr>
              </a:p>
            </p:txBody>
          </p:sp>
          <p:sp>
            <p:nvSpPr>
              <p:cNvPr id="18456" name="Rectangle 35"/>
              <p:cNvSpPr/>
              <p:nvPr/>
            </p:nvSpPr>
            <p:spPr>
              <a:xfrm>
                <a:off x="4130" y="3325"/>
                <a:ext cx="112" cy="228"/>
              </a:xfrm>
              <a:prstGeom prst="rect">
                <a:avLst/>
              </a:prstGeom>
              <a:noFill/>
              <a:ln w="9525">
                <a:noFill/>
              </a:ln>
            </p:spPr>
            <p:txBody>
              <a:bodyPr wrap="none" lIns="88950" tIns="44480" rIns="88950" bIns="4448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b="1" dirty="0">
                  <a:solidFill>
                    <a:srgbClr val="0033CC"/>
                  </a:solidFill>
                  <a:latin typeface="Times New Roman" panose="02020603050405020304" pitchFamily="18" charset="0"/>
                  <a:ea typeface="楷体_GB2312" pitchFamily="49" charset="-122"/>
                </a:endParaRPr>
              </a:p>
            </p:txBody>
          </p:sp>
        </p:gr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457200" y="-26987"/>
            <a:ext cx="8229600" cy="1371600"/>
          </a:xfrm>
        </p:spPr>
        <p:txBody>
          <a:bodyPr vert="horz" wrap="square" lIns="91440" tIns="45720" rIns="91440" bIns="45720" anchor="ctr" anchorCtr="0"/>
          <a:p>
            <a:r>
              <a:rPr lang="en-US" altLang="zh-CN" dirty="0"/>
              <a:t>3.2 SRAM</a:t>
            </a:r>
            <a:r>
              <a:rPr lang="zh-CN" altLang="en-US" dirty="0"/>
              <a:t>存储器</a:t>
            </a:r>
            <a:endParaRPr lang="zh-CN" altLang="en-US" dirty="0"/>
          </a:p>
        </p:txBody>
      </p:sp>
      <p:sp>
        <p:nvSpPr>
          <p:cNvPr id="19459" name="Rectangle 3"/>
          <p:cNvSpPr>
            <a:spLocks noGrp="1"/>
          </p:cNvSpPr>
          <p:nvPr>
            <p:ph idx="1"/>
          </p:nvPr>
        </p:nvSpPr>
        <p:spPr>
          <a:xfrm>
            <a:off x="323850" y="1144588"/>
            <a:ext cx="8229600" cy="4411662"/>
          </a:xfrm>
        </p:spPr>
        <p:txBody>
          <a:bodyPr vert="horz" wrap="square" lIns="91440" tIns="45720" rIns="91440" bIns="45720" anchor="t" anchorCtr="0"/>
          <a:p>
            <a:r>
              <a:rPr lang="zh-CN" altLang="en-US" dirty="0"/>
              <a:t>主存（内部存储器）是半导体存储器。根据信息存储的机理不同可以分为两类：</a:t>
            </a:r>
            <a:endParaRPr lang="en-US" altLang="zh-CN" dirty="0"/>
          </a:p>
          <a:p>
            <a:pPr lvl="1"/>
            <a:r>
              <a:rPr lang="zh-CN" altLang="en-US" dirty="0"/>
              <a:t>静态读写存储器</a:t>
            </a:r>
            <a:r>
              <a:rPr lang="en-US" altLang="zh-CN" dirty="0"/>
              <a:t>(SRAM)</a:t>
            </a:r>
            <a:r>
              <a:rPr lang="zh-CN" altLang="en-US" dirty="0"/>
              <a:t>：存取速度快</a:t>
            </a:r>
            <a:endParaRPr lang="en-US" altLang="zh-CN" dirty="0"/>
          </a:p>
          <a:p>
            <a:pPr lvl="1"/>
            <a:r>
              <a:rPr lang="zh-CN" altLang="en-US" dirty="0"/>
              <a:t>动态读写存储器</a:t>
            </a:r>
            <a:r>
              <a:rPr lang="en-US" altLang="zh-CN" dirty="0"/>
              <a:t>(DRAM)</a:t>
            </a:r>
            <a:r>
              <a:rPr lang="zh-CN" altLang="en-US" dirty="0"/>
              <a:t>：存储容量不如</a:t>
            </a:r>
            <a:r>
              <a:rPr lang="en-US" altLang="zh-CN" dirty="0"/>
              <a:t>DRAM</a:t>
            </a:r>
            <a:r>
              <a:rPr lang="zh-CN" altLang="en-US" dirty="0"/>
              <a:t>大。</a:t>
            </a:r>
            <a:endParaRPr lang="en-US" altLang="zh-CN" dirty="0"/>
          </a:p>
          <a:p>
            <a:pPr lvl="1"/>
            <a:endParaRPr lang="en-US" altLang="zh-CN" dirty="0"/>
          </a:p>
          <a:p>
            <a:pPr lvl="1"/>
            <a:r>
              <a:rPr lang="zh-CN" altLang="en-US" dirty="0"/>
              <a:t>所有的</a:t>
            </a:r>
            <a:r>
              <a:rPr lang="en-US" altLang="zh-CN" dirty="0"/>
              <a:t>SRAM</a:t>
            </a:r>
            <a:r>
              <a:rPr lang="zh-CN" altLang="en-US" dirty="0"/>
              <a:t>的特征是用一个</a:t>
            </a:r>
            <a:r>
              <a:rPr lang="zh-CN" altLang="en-US" dirty="0">
                <a:solidFill>
                  <a:srgbClr val="FF3300"/>
                </a:solidFill>
              </a:rPr>
              <a:t>锁存器（触发器）</a:t>
            </a:r>
            <a:r>
              <a:rPr lang="zh-CN" altLang="en-US" dirty="0"/>
              <a:t>作为</a:t>
            </a:r>
            <a:r>
              <a:rPr lang="zh-CN" altLang="en-US" dirty="0">
                <a:solidFill>
                  <a:srgbClr val="FF3300"/>
                </a:solidFill>
              </a:rPr>
              <a:t>存储元</a:t>
            </a:r>
            <a:r>
              <a:rPr lang="zh-CN" altLang="en-US" dirty="0"/>
              <a:t>。只要</a:t>
            </a:r>
            <a:r>
              <a:rPr lang="zh-CN" altLang="en-US" dirty="0">
                <a:solidFill>
                  <a:srgbClr val="FF3300"/>
                </a:solidFill>
              </a:rPr>
              <a:t>直流供电</a:t>
            </a:r>
            <a:r>
              <a:rPr lang="zh-CN" altLang="en-US" dirty="0"/>
              <a:t>电源一直加在这个记忆电路上，它就无限期地</a:t>
            </a:r>
            <a:r>
              <a:rPr lang="zh-CN" altLang="en-US" dirty="0">
                <a:solidFill>
                  <a:srgbClr val="FF3300"/>
                </a:solidFill>
              </a:rPr>
              <a:t>保持</a:t>
            </a:r>
            <a:r>
              <a:rPr lang="zh-CN" altLang="en-US" dirty="0"/>
              <a:t>记忆的</a:t>
            </a:r>
            <a:r>
              <a:rPr lang="en-US" altLang="zh-CN" dirty="0"/>
              <a:t>1</a:t>
            </a:r>
            <a:r>
              <a:rPr lang="zh-CN" altLang="en-US" dirty="0"/>
              <a:t>状态或</a:t>
            </a:r>
            <a:r>
              <a:rPr lang="en-US" altLang="zh-CN" dirty="0"/>
              <a:t>0</a:t>
            </a:r>
            <a:r>
              <a:rPr lang="zh-CN" altLang="en-US" dirty="0"/>
              <a:t>状态。</a:t>
            </a:r>
            <a:endParaRPr lang="en-US" altLang="zh-CN" dirty="0"/>
          </a:p>
          <a:p>
            <a:pPr lvl="1"/>
            <a:r>
              <a:rPr lang="zh-CN" altLang="en-US" dirty="0"/>
              <a:t>如果</a:t>
            </a:r>
            <a:r>
              <a:rPr lang="zh-CN" altLang="en-US" dirty="0">
                <a:solidFill>
                  <a:srgbClr val="FF3300"/>
                </a:solidFill>
              </a:rPr>
              <a:t>电源断电</a:t>
            </a:r>
            <a:r>
              <a:rPr lang="zh-CN" altLang="en-US" dirty="0"/>
              <a:t>，</a:t>
            </a:r>
            <a:r>
              <a:rPr lang="en-US" altLang="zh-CN" dirty="0"/>
              <a:t>SRAM</a:t>
            </a:r>
            <a:r>
              <a:rPr lang="zh-CN" altLang="en-US" dirty="0"/>
              <a:t>存储的数据就会</a:t>
            </a:r>
            <a:r>
              <a:rPr lang="zh-CN" altLang="en-US" dirty="0">
                <a:solidFill>
                  <a:srgbClr val="FF3300"/>
                </a:solidFill>
              </a:rPr>
              <a:t>丢失</a:t>
            </a:r>
            <a:r>
              <a:rPr lang="zh-CN" altLang="en-US" dirty="0"/>
              <a:t>。</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482" name="图片 12" descr="未命名.bmp"/>
          <p:cNvPicPr>
            <a:picLocks noChangeAspect="1"/>
          </p:cNvPicPr>
          <p:nvPr/>
        </p:nvPicPr>
        <p:blipFill>
          <a:blip r:embed="rId1"/>
          <a:stretch>
            <a:fillRect/>
          </a:stretch>
        </p:blipFill>
        <p:spPr>
          <a:xfrm>
            <a:off x="3384550" y="1484313"/>
            <a:ext cx="5724525" cy="4286250"/>
          </a:xfrm>
          <a:prstGeom prst="rect">
            <a:avLst/>
          </a:prstGeom>
          <a:noFill/>
          <a:ln w="9525">
            <a:noFill/>
          </a:ln>
        </p:spPr>
      </p:pic>
      <p:sp>
        <p:nvSpPr>
          <p:cNvPr id="20483" name="Rectangle 2"/>
          <p:cNvSpPr>
            <a:spLocks noGrp="1"/>
          </p:cNvSpPr>
          <p:nvPr>
            <p:ph type="title"/>
          </p:nvPr>
        </p:nvSpPr>
        <p:spPr>
          <a:xfrm>
            <a:off x="457200" y="44450"/>
            <a:ext cx="8229600" cy="1371600"/>
          </a:xfrm>
        </p:spPr>
        <p:txBody>
          <a:bodyPr vert="horz" wrap="square" lIns="91440" tIns="45720" rIns="91440" bIns="45720" anchor="ctr" anchorCtr="0"/>
          <a:p>
            <a:r>
              <a:rPr lang="en-US" altLang="zh-CN" dirty="0"/>
              <a:t>3.2 SRAM</a:t>
            </a:r>
            <a:r>
              <a:rPr lang="zh-CN" altLang="en-US" dirty="0"/>
              <a:t>存储器</a:t>
            </a:r>
            <a:endParaRPr lang="zh-CN" altLang="en-US" dirty="0"/>
          </a:p>
        </p:txBody>
      </p:sp>
      <p:sp>
        <p:nvSpPr>
          <p:cNvPr id="20484" name="Text Box 5"/>
          <p:cNvSpPr txBox="1"/>
          <p:nvPr/>
        </p:nvSpPr>
        <p:spPr>
          <a:xfrm>
            <a:off x="4805363" y="6040438"/>
            <a:ext cx="30797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图</a:t>
            </a:r>
            <a:r>
              <a:rPr lang="en-US" altLang="zh-CN" sz="1800" dirty="0"/>
              <a:t>3.2 </a:t>
            </a:r>
            <a:r>
              <a:rPr lang="zh-CN" altLang="en-US" sz="1800" dirty="0"/>
              <a:t>基本的静态存储元阵列</a:t>
            </a:r>
            <a:endParaRPr lang="zh-CN" altLang="en-US" sz="1800" dirty="0"/>
          </a:p>
        </p:txBody>
      </p:sp>
      <p:sp>
        <p:nvSpPr>
          <p:cNvPr id="20485" name="Rectangle 3"/>
          <p:cNvSpPr>
            <a:spLocks noGrp="1"/>
          </p:cNvSpPr>
          <p:nvPr>
            <p:ph idx="1"/>
          </p:nvPr>
        </p:nvSpPr>
        <p:spPr>
          <a:xfrm>
            <a:off x="457200" y="1000125"/>
            <a:ext cx="8229600" cy="5400675"/>
          </a:xfrm>
        </p:spPr>
        <p:txBody>
          <a:bodyPr vert="horz" wrap="square" lIns="91440" tIns="45720" rIns="91440" bIns="45720" anchor="t" anchorCtr="0"/>
          <a:p>
            <a:pPr>
              <a:buNone/>
            </a:pPr>
            <a:r>
              <a:rPr lang="zh-CN" altLang="en-US" dirty="0"/>
              <a:t>一、基本的静态存储元阵列</a:t>
            </a:r>
            <a:endParaRPr lang="en-US" altLang="zh-CN" dirty="0"/>
          </a:p>
          <a:p>
            <a:pPr>
              <a:buNone/>
            </a:pPr>
            <a:r>
              <a:rPr lang="en-US" altLang="zh-CN" dirty="0"/>
              <a:t>1</a:t>
            </a:r>
            <a:r>
              <a:rPr lang="zh-CN" altLang="en-US" dirty="0"/>
              <a:t>、存储位元</a:t>
            </a:r>
            <a:endParaRPr lang="en-US" altLang="zh-CN" dirty="0"/>
          </a:p>
          <a:p>
            <a:pPr>
              <a:buNone/>
            </a:pPr>
            <a:r>
              <a:rPr lang="en-US" altLang="zh-CN" dirty="0"/>
              <a:t>2</a:t>
            </a:r>
            <a:r>
              <a:rPr lang="zh-CN" altLang="en-US" dirty="0"/>
              <a:t>、三组信号线</a:t>
            </a:r>
            <a:endParaRPr lang="en-US" altLang="zh-CN" dirty="0"/>
          </a:p>
          <a:p>
            <a:pPr lvl="1"/>
            <a:r>
              <a:rPr lang="zh-CN" altLang="en-US" dirty="0"/>
              <a:t>地址线</a:t>
            </a:r>
            <a:endParaRPr lang="en-US" altLang="zh-CN" dirty="0"/>
          </a:p>
          <a:p>
            <a:pPr lvl="1"/>
            <a:r>
              <a:rPr lang="zh-CN" altLang="en-US" dirty="0"/>
              <a:t>数据线</a:t>
            </a:r>
            <a:endParaRPr lang="en-US" altLang="zh-CN" dirty="0"/>
          </a:p>
          <a:p>
            <a:pPr lvl="1"/>
            <a:r>
              <a:rPr lang="zh-CN" altLang="en-US" dirty="0"/>
              <a:t>控制线</a:t>
            </a:r>
            <a:endParaRPr lang="en-US" altLang="zh-CN" dirty="0"/>
          </a:p>
          <a:p>
            <a:pPr lvl="1"/>
            <a:endParaRPr lang="en-US" altLang="zh-CN" dirty="0"/>
          </a:p>
          <a:p>
            <a:pPr lvl="1"/>
            <a:r>
              <a:rPr lang="zh-CN" altLang="en-US" dirty="0"/>
              <a:t>地址译码器：</a:t>
            </a:r>
            <a:endParaRPr lang="en-US" altLang="zh-CN" dirty="0"/>
          </a:p>
          <a:p>
            <a:pPr lvl="1"/>
            <a:r>
              <a:rPr lang="zh-CN" altLang="en-US" dirty="0"/>
              <a:t>行线</a:t>
            </a:r>
            <a:endParaRPr lang="zh-CN" altLang="en-US" dirty="0"/>
          </a:p>
        </p:txBody>
      </p:sp>
      <p:sp>
        <p:nvSpPr>
          <p:cNvPr id="12295" name="Text Box 7"/>
          <p:cNvSpPr txBox="1"/>
          <p:nvPr/>
        </p:nvSpPr>
        <p:spPr>
          <a:xfrm>
            <a:off x="3132138" y="3881438"/>
            <a:ext cx="782637"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0000FF"/>
                </a:solidFill>
              </a:rPr>
              <a:t>2</a:t>
            </a:r>
            <a:r>
              <a:rPr lang="en-US" altLang="zh-CN" sz="1800" b="1" baseline="30000" dirty="0">
                <a:solidFill>
                  <a:srgbClr val="0000FF"/>
                </a:solidFill>
              </a:rPr>
              <a:t>6</a:t>
            </a:r>
            <a:r>
              <a:rPr lang="en-US" altLang="zh-CN" sz="1800" b="1" dirty="0">
                <a:solidFill>
                  <a:srgbClr val="0000FF"/>
                </a:solidFill>
              </a:rPr>
              <a:t>=64</a:t>
            </a:r>
            <a:endParaRPr lang="en-US" altLang="zh-CN" sz="1800" b="1" dirty="0">
              <a:solidFill>
                <a:srgbClr val="0000FF"/>
              </a:solidFill>
            </a:endParaRPr>
          </a:p>
        </p:txBody>
      </p:sp>
      <p:sp>
        <p:nvSpPr>
          <p:cNvPr id="12296" name="Text Box 8"/>
          <p:cNvSpPr txBox="1"/>
          <p:nvPr/>
        </p:nvSpPr>
        <p:spPr>
          <a:xfrm>
            <a:off x="7605713" y="5386388"/>
            <a:ext cx="123190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0000FF"/>
                </a:solidFill>
              </a:rPr>
              <a:t>4</a:t>
            </a:r>
            <a:r>
              <a:rPr lang="zh-CN" altLang="en-US" sz="1800" b="1" dirty="0">
                <a:solidFill>
                  <a:srgbClr val="0000FF"/>
                </a:solidFill>
              </a:rPr>
              <a:t>位数据线</a:t>
            </a:r>
            <a:endParaRPr lang="zh-CN" altLang="en-US" sz="1800" b="1" dirty="0">
              <a:solidFill>
                <a:srgbClr val="0000FF"/>
              </a:solidFill>
            </a:endParaRPr>
          </a:p>
        </p:txBody>
      </p:sp>
      <p:sp>
        <p:nvSpPr>
          <p:cNvPr id="12298" name="Text Box 10"/>
          <p:cNvSpPr txBox="1"/>
          <p:nvPr/>
        </p:nvSpPr>
        <p:spPr>
          <a:xfrm>
            <a:off x="7583488" y="2944813"/>
            <a:ext cx="1309687" cy="6413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FF3300"/>
                </a:solidFill>
              </a:rPr>
              <a:t>64×4=256</a:t>
            </a:r>
            <a:endParaRPr lang="en-US" altLang="zh-CN" sz="1800" b="1" dirty="0">
              <a:solidFill>
                <a:srgbClr val="FF3300"/>
              </a:solidFill>
            </a:endParaRPr>
          </a:p>
          <a:p>
            <a:pPr marL="0" lvl="0" indent="0" eaLnBrk="1" hangingPunct="1">
              <a:spcBef>
                <a:spcPct val="0"/>
              </a:spcBef>
              <a:buClrTx/>
              <a:buSzTx/>
              <a:buFontTx/>
              <a:buNone/>
            </a:pPr>
            <a:r>
              <a:rPr lang="zh-CN" altLang="en-US" sz="1800" b="1" dirty="0">
                <a:solidFill>
                  <a:srgbClr val="FF3300"/>
                </a:solidFill>
              </a:rPr>
              <a:t>存储位元</a:t>
            </a:r>
            <a:endParaRPr lang="zh-CN" altLang="en-US" sz="1800" b="1" dirty="0">
              <a:solidFill>
                <a:srgbClr val="FF3300"/>
              </a:solidFill>
            </a:endParaRPr>
          </a:p>
        </p:txBody>
      </p:sp>
      <p:sp>
        <p:nvSpPr>
          <p:cNvPr id="20489" name="Text Box 11"/>
          <p:cNvSpPr txBox="1"/>
          <p:nvPr/>
        </p:nvSpPr>
        <p:spPr>
          <a:xfrm>
            <a:off x="3492500" y="4752975"/>
            <a:ext cx="13779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控制线</a:t>
            </a:r>
            <a:r>
              <a:rPr lang="en-US" altLang="zh-CN" sz="1800" dirty="0"/>
              <a:t> R/W</a:t>
            </a:r>
            <a:endParaRPr lang="en-US" altLang="zh-CN" sz="1800" dirty="0"/>
          </a:p>
        </p:txBody>
      </p:sp>
      <p:sp>
        <p:nvSpPr>
          <p:cNvPr id="20490" name="Line 12"/>
          <p:cNvSpPr/>
          <p:nvPr/>
        </p:nvSpPr>
        <p:spPr>
          <a:xfrm>
            <a:off x="4546600" y="4841875"/>
            <a:ext cx="215900" cy="0"/>
          </a:xfrm>
          <a:prstGeom prst="line">
            <a:avLst/>
          </a:prstGeom>
          <a:ln w="12700" cap="sq" cmpd="sng">
            <a:solidFill>
              <a:schemeClr val="tx1"/>
            </a:solidFill>
            <a:prstDash val="solid"/>
            <a:headEnd type="none" w="sm" len="sm"/>
            <a:tailEnd type="none" w="sm" len="sm"/>
          </a:ln>
        </p:spPr>
      </p:sp>
      <p:sp>
        <p:nvSpPr>
          <p:cNvPr id="20491" name="Text Box 13"/>
          <p:cNvSpPr txBox="1"/>
          <p:nvPr/>
        </p:nvSpPr>
        <p:spPr>
          <a:xfrm>
            <a:off x="3270250" y="2001838"/>
            <a:ext cx="8699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地址线</a:t>
            </a:r>
            <a:endParaRPr lang="zh-CN" altLang="en-US" sz="1800" dirty="0"/>
          </a:p>
        </p:txBody>
      </p:sp>
      <p:sp>
        <p:nvSpPr>
          <p:cNvPr id="12304" name="Rectangle 16"/>
          <p:cNvSpPr/>
          <p:nvPr/>
        </p:nvSpPr>
        <p:spPr>
          <a:xfrm>
            <a:off x="7626350" y="1576388"/>
            <a:ext cx="1439863" cy="1368425"/>
          </a:xfrm>
          <a:prstGeom prst="rect">
            <a:avLst/>
          </a:prstGeom>
          <a:noFill/>
          <a:ln w="28575" cap="flat" cmpd="sng">
            <a:solidFill>
              <a:srgbClr val="FF3300"/>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2298"/>
                                        </p:tgtEl>
                                        <p:attrNameLst>
                                          <p:attrName>style.visibility</p:attrName>
                                        </p:attrNameLst>
                                      </p:cBhvr>
                                      <p:to>
                                        <p:strVal val="visible"/>
                                      </p:to>
                                    </p:set>
                                    <p:animEffect transition="in" filter="blinds(horizontal)">
                                      <p:cBhvr>
                                        <p:cTn id="15" dur="500"/>
                                        <p:tgtEl>
                                          <p:spTgt spid="12298"/>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grpId="0" nodeType="clickEffect">
                                  <p:stCondLst>
                                    <p:cond delay="0"/>
                                  </p:stCondLst>
                                  <p:childTnLst>
                                    <p:set>
                                      <p:cBhvr>
                                        <p:cTn id="19" dur="1" fill="hold">
                                          <p:stCondLst>
                                            <p:cond delay="0"/>
                                          </p:stCondLst>
                                        </p:cTn>
                                        <p:tgtEl>
                                          <p:spTgt spid="12304"/>
                                        </p:tgtEl>
                                        <p:attrNameLst>
                                          <p:attrName>style.visibility</p:attrName>
                                        </p:attrNameLst>
                                      </p:cBhvr>
                                      <p:to>
                                        <p:strVal val="visible"/>
                                      </p:to>
                                    </p:set>
                                    <p:anim calcmode="lin" valueType="num">
                                      <p:cBhvr additive="base">
                                        <p:cTn id="20" dur="500" fill="hold"/>
                                        <p:tgtEl>
                                          <p:spTgt spid="12304"/>
                                        </p:tgtEl>
                                        <p:attrNameLst>
                                          <p:attrName>ppt_x</p:attrName>
                                        </p:attrNameLst>
                                      </p:cBhvr>
                                      <p:tavLst>
                                        <p:tav tm="0">
                                          <p:val>
                                            <p:strVal val="1+#ppt_w/2"/>
                                          </p:val>
                                        </p:tav>
                                        <p:tav tm="100000">
                                          <p:val>
                                            <p:strVal val="#ppt_x"/>
                                          </p:val>
                                        </p:tav>
                                      </p:tavLst>
                                    </p:anim>
                                    <p:anim calcmode="lin" valueType="num">
                                      <p:cBhvr additive="base">
                                        <p:cTn id="21" dur="500" fill="hold"/>
                                        <p:tgtEl>
                                          <p:spTgt spid="123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5" grpId="0"/>
      <p:bldP spid="12296" grpId="0"/>
      <p:bldP spid="12298" grpId="0"/>
      <p:bldP spid="1230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2"/>
          <p:cNvSpPr>
            <a:spLocks noGrp="1"/>
          </p:cNvSpPr>
          <p:nvPr>
            <p:ph type="title"/>
          </p:nvPr>
        </p:nvSpPr>
        <p:spPr>
          <a:xfrm>
            <a:off x="457200" y="44450"/>
            <a:ext cx="8229600" cy="1371600"/>
          </a:xfrm>
        </p:spPr>
        <p:txBody>
          <a:bodyPr vert="horz" wrap="square" lIns="91440" tIns="45720" rIns="91440" bIns="45720" anchor="ctr" anchorCtr="0"/>
          <a:p>
            <a:r>
              <a:rPr lang="en-US" altLang="zh-CN" dirty="0"/>
              <a:t>3.2 SRAM</a:t>
            </a:r>
            <a:r>
              <a:rPr lang="zh-CN" altLang="en-US" dirty="0"/>
              <a:t>存储器</a:t>
            </a:r>
            <a:endParaRPr lang="zh-CN" altLang="en-US" dirty="0"/>
          </a:p>
        </p:txBody>
      </p:sp>
      <p:pic>
        <p:nvPicPr>
          <p:cNvPr id="21507" name="图片 12" descr="P1050792.JPG"/>
          <p:cNvPicPr>
            <a:picLocks noChangeAspect="1"/>
          </p:cNvPicPr>
          <p:nvPr/>
        </p:nvPicPr>
        <p:blipFill>
          <a:blip r:embed="rId1"/>
          <a:stretch>
            <a:fillRect/>
          </a:stretch>
        </p:blipFill>
        <p:spPr>
          <a:xfrm>
            <a:off x="900113" y="1044575"/>
            <a:ext cx="7212012" cy="5408613"/>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AutoShape 2"/>
          <p:cNvSpPr/>
          <p:nvPr/>
        </p:nvSpPr>
        <p:spPr>
          <a:xfrm>
            <a:off x="269875" y="1803400"/>
            <a:ext cx="6134100" cy="4217988"/>
          </a:xfrm>
          <a:prstGeom prst="roundRect">
            <a:avLst>
              <a:gd name="adj" fmla="val 16667"/>
            </a:avLst>
          </a:prstGeom>
          <a:solidFill>
            <a:schemeClr val="bg1"/>
          </a:solidFill>
          <a:ln w="9525">
            <a:noFill/>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aphicFrame>
        <p:nvGraphicFramePr>
          <p:cNvPr id="22531" name="Object 2"/>
          <p:cNvGraphicFramePr>
            <a:graphicFrameLocks noChangeAspect="1"/>
          </p:cNvGraphicFramePr>
          <p:nvPr/>
        </p:nvGraphicFramePr>
        <p:xfrm>
          <a:off x="339725" y="1847850"/>
          <a:ext cx="5872163" cy="4068763"/>
        </p:xfrm>
        <a:graphic>
          <a:graphicData uri="http://schemas.openxmlformats.org/presentationml/2006/ole">
            <mc:AlternateContent xmlns:mc="http://schemas.openxmlformats.org/markup-compatibility/2006">
              <mc:Choice xmlns:v="urn:schemas-microsoft-com:vml" Requires="v">
                <p:oleObj spid="_x0000_s3076" name="" r:id="rId1" imgW="3779520" imgH="2618105" progId="Word.Picture.8">
                  <p:embed/>
                </p:oleObj>
              </mc:Choice>
              <mc:Fallback>
                <p:oleObj name="" r:id="rId1" imgW="3779520" imgH="2618105" progId="Word.Picture.8">
                  <p:embed/>
                  <p:pic>
                    <p:nvPicPr>
                      <p:cNvPr id="0" name="图片 3075"/>
                      <p:cNvPicPr/>
                      <p:nvPr/>
                    </p:nvPicPr>
                    <p:blipFill>
                      <a:blip r:embed="rId2"/>
                      <a:stretch>
                        <a:fillRect/>
                      </a:stretch>
                    </p:blipFill>
                    <p:spPr>
                      <a:xfrm>
                        <a:off x="339725" y="1847850"/>
                        <a:ext cx="5872163" cy="4068763"/>
                      </a:xfrm>
                      <a:prstGeom prst="rect">
                        <a:avLst/>
                      </a:prstGeom>
                      <a:noFill/>
                      <a:ln w="38100">
                        <a:noFill/>
                        <a:miter/>
                      </a:ln>
                    </p:spPr>
                  </p:pic>
                </p:oleObj>
              </mc:Fallback>
            </mc:AlternateContent>
          </a:graphicData>
        </a:graphic>
      </p:graphicFrame>
      <p:sp>
        <p:nvSpPr>
          <p:cNvPr id="22532" name="Rectangle 8"/>
          <p:cNvSpPr/>
          <p:nvPr>
            <p:ph type="title" idx="4294967295"/>
          </p:nvPr>
        </p:nvSpPr>
        <p:spPr>
          <a:xfrm>
            <a:off x="238125" y="708025"/>
            <a:ext cx="4124325" cy="706438"/>
          </a:xfrm>
        </p:spPr>
        <p:txBody>
          <a:bodyPr vert="horz" wrap="square" lIns="91440" tIns="45720" rIns="91440" bIns="45720" anchor="ctr" anchorCtr="0"/>
          <a:p>
            <a:pPr eaLnBrk="1" hangingPunct="1"/>
            <a:r>
              <a:rPr lang="zh-CN" altLang="en-US" sz="3200" b="1" dirty="0">
                <a:solidFill>
                  <a:srgbClr val="993300"/>
                </a:solidFill>
                <a:latin typeface="Times New Roman" panose="02020603050405020304" pitchFamily="18" charset="0"/>
                <a:ea typeface="楷体_GB2312" pitchFamily="49" charset="-122"/>
              </a:rPr>
              <a:t>（</a:t>
            </a:r>
            <a:r>
              <a:rPr lang="en-US" altLang="zh-CN" sz="3200" b="1" dirty="0">
                <a:solidFill>
                  <a:srgbClr val="993300"/>
                </a:solidFill>
                <a:latin typeface="Times New Roman" panose="02020603050405020304" pitchFamily="18" charset="0"/>
                <a:ea typeface="楷体_GB2312" pitchFamily="49" charset="-122"/>
              </a:rPr>
              <a:t>2</a:t>
            </a:r>
            <a:r>
              <a:rPr lang="zh-CN" altLang="en-US" sz="3200" b="1" dirty="0">
                <a:solidFill>
                  <a:srgbClr val="993300"/>
                </a:solidFill>
                <a:latin typeface="Times New Roman" panose="02020603050405020304" pitchFamily="18" charset="0"/>
                <a:ea typeface="楷体_GB2312" pitchFamily="49" charset="-122"/>
              </a:rPr>
              <a:t>）存储矩阵</a:t>
            </a:r>
            <a:endParaRPr lang="zh-CN" altLang="en-US" sz="3200" b="1" dirty="0">
              <a:solidFill>
                <a:srgbClr val="993300"/>
              </a:solidFill>
              <a:latin typeface="Times New Roman" panose="02020603050405020304" pitchFamily="18" charset="0"/>
              <a:ea typeface="楷体_GB2312" pitchFamily="49" charset="-122"/>
            </a:endParaRPr>
          </a:p>
        </p:txBody>
      </p:sp>
      <p:sp>
        <p:nvSpPr>
          <p:cNvPr id="22533" name="Rectangle 9"/>
          <p:cNvSpPr/>
          <p:nvPr/>
        </p:nvSpPr>
        <p:spPr>
          <a:xfrm>
            <a:off x="6567488" y="995363"/>
            <a:ext cx="2576512" cy="1006475"/>
          </a:xfrm>
          <a:prstGeom prst="rect">
            <a:avLst/>
          </a:prstGeom>
          <a:noFill/>
          <a:ln w="254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Char char="•"/>
            </a:pPr>
            <a:r>
              <a:rPr lang="en-US" altLang="zh-CN" sz="2000" b="1" dirty="0">
                <a:latin typeface="Times New Roman" panose="02020603050405020304" pitchFamily="18" charset="0"/>
                <a:ea typeface="楷体_GB2312" pitchFamily="49" charset="-122"/>
              </a:rPr>
              <a:t> </a:t>
            </a:r>
            <a:r>
              <a:rPr lang="zh-CN" altLang="en-US" sz="2000" b="1" dirty="0">
                <a:latin typeface="Times New Roman" panose="02020603050405020304" pitchFamily="18" charset="0"/>
                <a:ea typeface="楷体_GB2312" pitchFamily="49" charset="-122"/>
              </a:rPr>
              <a:t>静态</a:t>
            </a:r>
            <a:r>
              <a:rPr lang="en-US" altLang="zh-CN" sz="2000" b="1" dirty="0">
                <a:latin typeface="Times New Roman" panose="02020603050405020304" pitchFamily="18" charset="0"/>
                <a:ea typeface="楷体_GB2312" pitchFamily="49" charset="-122"/>
              </a:rPr>
              <a:t>RAM</a:t>
            </a:r>
            <a:r>
              <a:rPr lang="zh-CN" altLang="en-US" sz="2000" b="1" dirty="0">
                <a:latin typeface="Times New Roman" panose="02020603050405020304" pitchFamily="18" charset="0"/>
                <a:ea typeface="楷体_GB2312" pitchFamily="49" charset="-122"/>
              </a:rPr>
              <a:t>存储单元（</a:t>
            </a:r>
            <a:r>
              <a:rPr lang="en-US" altLang="zh-CN" sz="2000" b="1" dirty="0">
                <a:latin typeface="Times New Roman" panose="02020603050405020304" pitchFamily="18" charset="0"/>
                <a:ea typeface="楷体_GB2312" pitchFamily="49" charset="-122"/>
              </a:rPr>
              <a:t>SRAM</a:t>
            </a:r>
            <a:r>
              <a:rPr lang="zh-CN" altLang="en-US" sz="2000" b="1" dirty="0">
                <a:latin typeface="Times New Roman" panose="02020603050405020304" pitchFamily="18" charset="0"/>
                <a:ea typeface="楷体_GB2312" pitchFamily="49" charset="-122"/>
              </a:rPr>
              <a:t>）</a:t>
            </a:r>
            <a:r>
              <a:rPr lang="en-US" altLang="zh-CN" sz="2000" b="1" dirty="0">
                <a:latin typeface="Times New Roman" panose="02020603050405020304" pitchFamily="18" charset="0"/>
                <a:ea typeface="楷体_GB2312" pitchFamily="49" charset="-122"/>
              </a:rPr>
              <a:t>--</a:t>
            </a:r>
            <a:r>
              <a:rPr lang="zh-CN" altLang="en-US" sz="2000" b="1" dirty="0">
                <a:latin typeface="Times New Roman" panose="02020603050405020304" pitchFamily="18" charset="0"/>
                <a:ea typeface="楷体_GB2312" pitchFamily="49" charset="-122"/>
              </a:rPr>
              <a:t>以六管静态存储单元为例</a:t>
            </a:r>
            <a:endParaRPr lang="zh-CN" altLang="en-US" sz="2000" b="1" dirty="0">
              <a:latin typeface="Times New Roman" panose="02020603050405020304" pitchFamily="18" charset="0"/>
              <a:ea typeface="楷体_GB2312" pitchFamily="49" charset="-122"/>
            </a:endParaRPr>
          </a:p>
        </p:txBody>
      </p:sp>
      <p:sp>
        <p:nvSpPr>
          <p:cNvPr id="145418" name="AutoShape 10"/>
          <p:cNvSpPr/>
          <p:nvPr/>
        </p:nvSpPr>
        <p:spPr>
          <a:xfrm>
            <a:off x="2257425" y="4400550"/>
            <a:ext cx="2768600" cy="565150"/>
          </a:xfrm>
          <a:prstGeom prst="wedgeEllipseCallout">
            <a:avLst>
              <a:gd name="adj1" fmla="val -1662"/>
              <a:gd name="adj2" fmla="val -134833"/>
            </a:avLst>
          </a:prstGeom>
          <a:solidFill>
            <a:srgbClr val="CCFFCC"/>
          </a:solidFill>
          <a:ln w="6350" cap="flat" cmpd="sng">
            <a:solidFill>
              <a:schemeClr val="tx1"/>
            </a:solidFill>
            <a:prstDash val="solid"/>
            <a:miter/>
            <a:headEnd type="none" w="med" len="med"/>
            <a:tailEnd type="none" w="med" len="med"/>
          </a:ln>
        </p:spPr>
        <p:txBody>
          <a:bodyPr lIns="0" tIns="72000" rIns="0" bIns="7200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80000"/>
              </a:lnSpc>
              <a:spcBef>
                <a:spcPct val="50000"/>
              </a:spcBef>
              <a:buClrTx/>
              <a:buSzTx/>
              <a:buFontTx/>
              <a:buNone/>
            </a:pPr>
            <a:r>
              <a:rPr lang="zh-CN" altLang="en-US" sz="2400" b="1" dirty="0">
                <a:solidFill>
                  <a:srgbClr val="000099"/>
                </a:solidFill>
                <a:latin typeface="Times New Roman" panose="02020603050405020304" pitchFamily="18" charset="0"/>
              </a:rPr>
              <a:t>基本</a:t>
            </a:r>
            <a:r>
              <a:rPr lang="en-US" altLang="zh-CN" sz="2400" b="1" dirty="0">
                <a:solidFill>
                  <a:srgbClr val="000099"/>
                </a:solidFill>
                <a:latin typeface="Times New Roman" panose="02020603050405020304" pitchFamily="18" charset="0"/>
              </a:rPr>
              <a:t>RS</a:t>
            </a:r>
            <a:r>
              <a:rPr lang="zh-CN" altLang="en-US" sz="2400" b="1" dirty="0">
                <a:solidFill>
                  <a:srgbClr val="000099"/>
                </a:solidFill>
                <a:latin typeface="Times New Roman" panose="02020603050405020304" pitchFamily="18" charset="0"/>
              </a:rPr>
              <a:t>触发器</a:t>
            </a:r>
            <a:endParaRPr lang="zh-CN" altLang="en-US" sz="2400" b="1" dirty="0">
              <a:solidFill>
                <a:srgbClr val="000099"/>
              </a:solidFill>
              <a:latin typeface="Times New Roman" panose="02020603050405020304" pitchFamily="18" charset="0"/>
            </a:endParaRPr>
          </a:p>
        </p:txBody>
      </p:sp>
      <p:grpSp>
        <p:nvGrpSpPr>
          <p:cNvPr id="2" name="Group 11"/>
          <p:cNvGrpSpPr/>
          <p:nvPr/>
        </p:nvGrpSpPr>
        <p:grpSpPr>
          <a:xfrm>
            <a:off x="2017713" y="1173163"/>
            <a:ext cx="3206750" cy="841375"/>
            <a:chOff x="2009" y="610"/>
            <a:chExt cx="1745" cy="1089"/>
          </a:xfrm>
        </p:grpSpPr>
        <p:sp>
          <p:nvSpPr>
            <p:cNvPr id="22558" name="AutoShape 12"/>
            <p:cNvSpPr/>
            <p:nvPr/>
          </p:nvSpPr>
          <p:spPr>
            <a:xfrm>
              <a:off x="2010" y="791"/>
              <a:ext cx="1744" cy="727"/>
            </a:xfrm>
            <a:prstGeom prst="wedgeEllipseCallout">
              <a:avLst>
                <a:gd name="adj1" fmla="val 52750"/>
                <a:gd name="adj2" fmla="val 258708"/>
              </a:avLst>
            </a:prstGeom>
            <a:solidFill>
              <a:srgbClr val="CCFFCC"/>
            </a:solidFill>
            <a:ln w="6350" cap="flat" cmpd="sng">
              <a:solidFill>
                <a:schemeClr val="tx1"/>
              </a:solidFill>
              <a:prstDash val="solid"/>
              <a:miter/>
              <a:headEnd type="none" w="med" len="med"/>
              <a:tailEnd type="none" w="med" len="med"/>
            </a:ln>
          </p:spPr>
          <p:txBody>
            <a:bodyPr lIns="0" tIns="72000" rIns="0" bIns="7200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80000"/>
                </a:lnSpc>
                <a:spcBef>
                  <a:spcPct val="50000"/>
                </a:spcBef>
                <a:buClrTx/>
                <a:buSzTx/>
                <a:buFontTx/>
                <a:buNone/>
              </a:pPr>
              <a:endParaRPr lang="zh-CN" altLang="en-US" sz="2400" b="1" dirty="0">
                <a:solidFill>
                  <a:srgbClr val="000099"/>
                </a:solidFill>
                <a:latin typeface="Times New Roman" panose="02020603050405020304" pitchFamily="18" charset="0"/>
              </a:endParaRPr>
            </a:p>
          </p:txBody>
        </p:sp>
        <p:sp>
          <p:nvSpPr>
            <p:cNvPr id="22559" name="AutoShape 13"/>
            <p:cNvSpPr/>
            <p:nvPr/>
          </p:nvSpPr>
          <p:spPr>
            <a:xfrm>
              <a:off x="2009" y="610"/>
              <a:ext cx="1744" cy="1089"/>
            </a:xfrm>
            <a:prstGeom prst="wedgeEllipseCallout">
              <a:avLst>
                <a:gd name="adj1" fmla="val -48912"/>
                <a:gd name="adj2" fmla="val 253653"/>
              </a:avLst>
            </a:prstGeom>
            <a:solidFill>
              <a:srgbClr val="CCFFCC"/>
            </a:solidFill>
            <a:ln w="6350" cap="flat" cmpd="sng">
              <a:solidFill>
                <a:schemeClr val="tx1"/>
              </a:solidFill>
              <a:prstDash val="solid"/>
              <a:miter/>
              <a:headEnd type="none" w="med" len="med"/>
              <a:tailEnd type="none" w="med" len="med"/>
            </a:ln>
          </p:spPr>
          <p:txBody>
            <a:bodyPr lIns="0" tIns="72000" rIns="0" bIns="7200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80000"/>
                </a:lnSpc>
                <a:spcBef>
                  <a:spcPct val="50000"/>
                </a:spcBef>
                <a:buClrTx/>
                <a:buSzTx/>
                <a:buFontTx/>
                <a:buNone/>
              </a:pPr>
              <a:r>
                <a:rPr lang="zh-CN" altLang="en-US" sz="2000" b="1" dirty="0">
                  <a:solidFill>
                    <a:srgbClr val="000099"/>
                  </a:solidFill>
                  <a:latin typeface="Times New Roman" panose="02020603050405020304" pitchFamily="18" charset="0"/>
                </a:rPr>
                <a:t>控制该单元与位线的通断</a:t>
              </a:r>
              <a:endParaRPr lang="zh-CN" altLang="en-US" sz="2000" b="1" dirty="0">
                <a:solidFill>
                  <a:srgbClr val="000099"/>
                </a:solidFill>
                <a:latin typeface="Times New Roman" panose="02020603050405020304" pitchFamily="18" charset="0"/>
              </a:endParaRPr>
            </a:p>
          </p:txBody>
        </p:sp>
      </p:grpSp>
      <p:grpSp>
        <p:nvGrpSpPr>
          <p:cNvPr id="3" name="Group 14"/>
          <p:cNvGrpSpPr/>
          <p:nvPr/>
        </p:nvGrpSpPr>
        <p:grpSpPr>
          <a:xfrm>
            <a:off x="995363" y="5878513"/>
            <a:ext cx="4889500" cy="565150"/>
            <a:chOff x="1175" y="3802"/>
            <a:chExt cx="3355" cy="356"/>
          </a:xfrm>
        </p:grpSpPr>
        <p:sp>
          <p:nvSpPr>
            <p:cNvPr id="22556" name="AutoShape 15"/>
            <p:cNvSpPr/>
            <p:nvPr/>
          </p:nvSpPr>
          <p:spPr>
            <a:xfrm>
              <a:off x="1175" y="3802"/>
              <a:ext cx="3348" cy="356"/>
            </a:xfrm>
            <a:prstGeom prst="wedgeEllipseCallout">
              <a:avLst>
                <a:gd name="adj1" fmla="val -32764"/>
                <a:gd name="adj2" fmla="val -174440"/>
              </a:avLst>
            </a:prstGeom>
            <a:solidFill>
              <a:srgbClr val="CCFFCC"/>
            </a:solidFill>
            <a:ln w="6350" cap="flat" cmpd="sng">
              <a:solidFill>
                <a:schemeClr val="tx1"/>
              </a:solidFill>
              <a:prstDash val="solid"/>
              <a:miter/>
              <a:headEnd type="none" w="med" len="med"/>
              <a:tailEnd type="none" w="med" len="med"/>
            </a:ln>
          </p:spPr>
          <p:txBody>
            <a:bodyPr lIns="0" tIns="72000" rIns="0" bIns="7200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80000"/>
                </a:lnSpc>
                <a:spcBef>
                  <a:spcPct val="50000"/>
                </a:spcBef>
                <a:buClrTx/>
                <a:buSzTx/>
                <a:buFontTx/>
                <a:buNone/>
              </a:pPr>
              <a:endParaRPr lang="zh-CN" altLang="en-US" sz="2400" b="1" dirty="0">
                <a:solidFill>
                  <a:srgbClr val="FF0000"/>
                </a:solidFill>
                <a:latin typeface="Times New Roman" panose="02020603050405020304" pitchFamily="18" charset="0"/>
              </a:endParaRPr>
            </a:p>
          </p:txBody>
        </p:sp>
        <p:sp>
          <p:nvSpPr>
            <p:cNvPr id="22557" name="AutoShape 16"/>
            <p:cNvSpPr/>
            <p:nvPr/>
          </p:nvSpPr>
          <p:spPr>
            <a:xfrm>
              <a:off x="1182" y="3802"/>
              <a:ext cx="3348" cy="356"/>
            </a:xfrm>
            <a:prstGeom prst="wedgeEllipseCallout">
              <a:avLst>
                <a:gd name="adj1" fmla="val 30495"/>
                <a:gd name="adj2" fmla="val -164606"/>
              </a:avLst>
            </a:prstGeom>
            <a:solidFill>
              <a:srgbClr val="CCFFCC"/>
            </a:solidFill>
            <a:ln w="6350" cap="flat" cmpd="sng">
              <a:solidFill>
                <a:schemeClr val="tx1"/>
              </a:solidFill>
              <a:prstDash val="solid"/>
              <a:miter/>
              <a:headEnd type="none" w="med" len="med"/>
              <a:tailEnd type="none" w="med" len="med"/>
            </a:ln>
          </p:spPr>
          <p:txBody>
            <a:bodyPr lIns="0" tIns="72000" rIns="0" bIns="7200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80000"/>
                </a:lnSpc>
                <a:spcBef>
                  <a:spcPct val="50000"/>
                </a:spcBef>
                <a:buClrTx/>
                <a:buSzTx/>
                <a:buFontTx/>
                <a:buNone/>
              </a:pPr>
              <a:r>
                <a:rPr lang="zh-CN" altLang="en-US" sz="2400" b="1" dirty="0">
                  <a:solidFill>
                    <a:srgbClr val="000099"/>
                  </a:solidFill>
                  <a:latin typeface="Times New Roman" panose="02020603050405020304" pitchFamily="18" charset="0"/>
                </a:rPr>
                <a:t>控制位线与数据线的通断</a:t>
              </a:r>
              <a:endParaRPr lang="zh-CN" altLang="en-US" sz="2400" b="1" dirty="0">
                <a:solidFill>
                  <a:srgbClr val="000099"/>
                </a:solidFill>
                <a:latin typeface="Times New Roman" panose="02020603050405020304" pitchFamily="18" charset="0"/>
              </a:endParaRPr>
            </a:p>
          </p:txBody>
        </p:sp>
      </p:grpSp>
      <p:sp>
        <p:nvSpPr>
          <p:cNvPr id="145425" name="Rectangle 17"/>
          <p:cNvSpPr/>
          <p:nvPr/>
        </p:nvSpPr>
        <p:spPr>
          <a:xfrm>
            <a:off x="6630988" y="4178300"/>
            <a:ext cx="2513012" cy="1187450"/>
          </a:xfrm>
          <a:prstGeom prst="rect">
            <a:avLst/>
          </a:prstGeom>
          <a:noFill/>
          <a:ln w="254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Char char="•"/>
            </a:pPr>
            <a:r>
              <a:rPr lang="en-US" altLang="zh-CN" sz="2400" b="1" i="1" dirty="0">
                <a:latin typeface="Times New Roman" panose="02020603050405020304" pitchFamily="18" charset="0"/>
                <a:ea typeface="楷体_GB2312" pitchFamily="49" charset="-122"/>
              </a:rPr>
              <a:t>X</a:t>
            </a:r>
            <a:r>
              <a:rPr lang="en-US" altLang="zh-CN" sz="2400" b="1" baseline="-25000" dirty="0">
                <a:latin typeface="Times New Roman" panose="02020603050405020304" pitchFamily="18" charset="0"/>
                <a:ea typeface="楷体_GB2312" pitchFamily="49" charset="-122"/>
              </a:rPr>
              <a:t>i </a:t>
            </a:r>
            <a:r>
              <a:rPr lang="en-US" altLang="zh-CN" sz="2400" b="1" dirty="0">
                <a:latin typeface="Times New Roman" panose="02020603050405020304" pitchFamily="18" charset="0"/>
                <a:ea typeface="楷体_GB2312" pitchFamily="49" charset="-122"/>
              </a:rPr>
              <a:t>=0</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T</a:t>
            </a:r>
            <a:r>
              <a:rPr lang="en-US" altLang="zh-CN" sz="2400" b="1" baseline="-25000" dirty="0">
                <a:latin typeface="Times New Roman" panose="02020603050405020304" pitchFamily="18" charset="0"/>
                <a:ea typeface="楷体_GB2312" pitchFamily="49" charset="-122"/>
              </a:rPr>
              <a:t>5</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T</a:t>
            </a:r>
            <a:r>
              <a:rPr lang="en-US" altLang="zh-CN" sz="2400" b="1" baseline="-25000" dirty="0">
                <a:latin typeface="Times New Roman" panose="02020603050405020304" pitchFamily="18" charset="0"/>
                <a:ea typeface="楷体_GB2312" pitchFamily="49" charset="-122"/>
              </a:rPr>
              <a:t>6</a:t>
            </a:r>
            <a:r>
              <a:rPr lang="zh-CN" altLang="en-US" sz="2400" b="1" dirty="0">
                <a:latin typeface="Times New Roman" panose="02020603050405020304" pitchFamily="18" charset="0"/>
                <a:ea typeface="楷体_GB2312" pitchFamily="49" charset="-122"/>
              </a:rPr>
              <a:t>截止，触发器与位线隔离。</a:t>
            </a:r>
            <a:endParaRPr lang="zh-CN" altLang="en-US" sz="2400" b="1" dirty="0">
              <a:latin typeface="Times New Roman" panose="02020603050405020304" pitchFamily="18" charset="0"/>
              <a:ea typeface="楷体_GB2312" pitchFamily="49" charset="-122"/>
            </a:endParaRPr>
          </a:p>
        </p:txBody>
      </p:sp>
      <p:grpSp>
        <p:nvGrpSpPr>
          <p:cNvPr id="4" name="Group 18"/>
          <p:cNvGrpSpPr/>
          <p:nvPr/>
        </p:nvGrpSpPr>
        <p:grpSpPr>
          <a:xfrm>
            <a:off x="4683125" y="3246438"/>
            <a:ext cx="593725" cy="411162"/>
            <a:chOff x="4477" y="3366"/>
            <a:chExt cx="374" cy="259"/>
          </a:xfrm>
        </p:grpSpPr>
        <p:sp>
          <p:nvSpPr>
            <p:cNvPr id="22549" name="Rectangle 19"/>
            <p:cNvSpPr/>
            <p:nvPr/>
          </p:nvSpPr>
          <p:spPr>
            <a:xfrm>
              <a:off x="4564" y="3373"/>
              <a:ext cx="237" cy="252"/>
            </a:xfrm>
            <a:prstGeom prst="rect">
              <a:avLst/>
            </a:prstGeom>
            <a:solidFill>
              <a:schemeClr val="bg1"/>
            </a:solidFill>
            <a:ln w="9525">
              <a:noFill/>
            </a:ln>
          </p:spPr>
          <p:txBody>
            <a:bodyPr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22550" name="Line 20"/>
            <p:cNvSpPr/>
            <p:nvPr/>
          </p:nvSpPr>
          <p:spPr>
            <a:xfrm>
              <a:off x="4477" y="3594"/>
              <a:ext cx="115" cy="0"/>
            </a:xfrm>
            <a:prstGeom prst="line">
              <a:avLst/>
            </a:prstGeom>
            <a:ln w="28575" cap="flat" cmpd="sng">
              <a:solidFill>
                <a:srgbClr val="0000FF"/>
              </a:solidFill>
              <a:prstDash val="solid"/>
              <a:headEnd type="none" w="med" len="med"/>
              <a:tailEnd type="none" w="med" len="med"/>
            </a:ln>
          </p:spPr>
        </p:sp>
        <p:sp>
          <p:nvSpPr>
            <p:cNvPr id="22551" name="Line 21"/>
            <p:cNvSpPr/>
            <p:nvPr/>
          </p:nvSpPr>
          <p:spPr>
            <a:xfrm>
              <a:off x="4748" y="3594"/>
              <a:ext cx="103" cy="0"/>
            </a:xfrm>
            <a:prstGeom prst="line">
              <a:avLst/>
            </a:prstGeom>
            <a:ln w="28575" cap="flat" cmpd="sng">
              <a:solidFill>
                <a:srgbClr val="0000FF"/>
              </a:solidFill>
              <a:prstDash val="solid"/>
              <a:headEnd type="none" w="med" len="med"/>
              <a:tailEnd type="none" w="med" len="med"/>
            </a:ln>
          </p:spPr>
        </p:sp>
        <p:sp>
          <p:nvSpPr>
            <p:cNvPr id="22552" name="Oval 22"/>
            <p:cNvSpPr/>
            <p:nvPr/>
          </p:nvSpPr>
          <p:spPr>
            <a:xfrm>
              <a:off x="4568" y="3571"/>
              <a:ext cx="46" cy="46"/>
            </a:xfrm>
            <a:prstGeom prst="ellipse">
              <a:avLst/>
            </a:prstGeom>
            <a:solidFill>
              <a:srgbClr val="FFFFFF"/>
            </a:solidFill>
            <a:ln w="19050" cap="flat" cmpd="sng">
              <a:solidFill>
                <a:srgbClr val="0000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22553" name="Oval 23"/>
            <p:cNvSpPr/>
            <p:nvPr/>
          </p:nvSpPr>
          <p:spPr>
            <a:xfrm>
              <a:off x="4724" y="3568"/>
              <a:ext cx="46" cy="46"/>
            </a:xfrm>
            <a:prstGeom prst="ellipse">
              <a:avLst/>
            </a:prstGeom>
            <a:solidFill>
              <a:srgbClr val="FFFFFF"/>
            </a:solidFill>
            <a:ln w="19050" cap="flat" cmpd="sng">
              <a:solidFill>
                <a:srgbClr val="0000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22554" name="Line 24"/>
            <p:cNvSpPr/>
            <p:nvPr/>
          </p:nvSpPr>
          <p:spPr>
            <a:xfrm rot="616819" flipV="1">
              <a:off x="4591" y="3499"/>
              <a:ext cx="150" cy="87"/>
            </a:xfrm>
            <a:prstGeom prst="line">
              <a:avLst/>
            </a:prstGeom>
            <a:ln w="19050" cap="flat" cmpd="sng">
              <a:solidFill>
                <a:srgbClr val="0000FF"/>
              </a:solidFill>
              <a:prstDash val="solid"/>
              <a:headEnd type="none" w="med" len="med"/>
              <a:tailEnd type="none" w="med" len="med"/>
            </a:ln>
          </p:spPr>
        </p:sp>
        <p:sp>
          <p:nvSpPr>
            <p:cNvPr id="22555" name="Line 25"/>
            <p:cNvSpPr/>
            <p:nvPr/>
          </p:nvSpPr>
          <p:spPr>
            <a:xfrm>
              <a:off x="4686" y="3366"/>
              <a:ext cx="0" cy="168"/>
            </a:xfrm>
            <a:prstGeom prst="line">
              <a:avLst/>
            </a:prstGeom>
            <a:ln w="12700" cap="flat" cmpd="sng">
              <a:solidFill>
                <a:schemeClr val="tx1"/>
              </a:solidFill>
              <a:prstDash val="solid"/>
              <a:headEnd type="none" w="med" len="med"/>
              <a:tailEnd type="none" w="med" len="med"/>
            </a:ln>
          </p:spPr>
        </p:sp>
      </p:grpSp>
      <p:grpSp>
        <p:nvGrpSpPr>
          <p:cNvPr id="5" name="Group 26"/>
          <p:cNvGrpSpPr/>
          <p:nvPr/>
        </p:nvGrpSpPr>
        <p:grpSpPr>
          <a:xfrm>
            <a:off x="1689100" y="3252788"/>
            <a:ext cx="593725" cy="411162"/>
            <a:chOff x="4477" y="3366"/>
            <a:chExt cx="374" cy="259"/>
          </a:xfrm>
        </p:grpSpPr>
        <p:sp>
          <p:nvSpPr>
            <p:cNvPr id="22542" name="Rectangle 27"/>
            <p:cNvSpPr/>
            <p:nvPr/>
          </p:nvSpPr>
          <p:spPr>
            <a:xfrm>
              <a:off x="4564" y="3373"/>
              <a:ext cx="237" cy="252"/>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22543" name="Line 28"/>
            <p:cNvSpPr/>
            <p:nvPr/>
          </p:nvSpPr>
          <p:spPr>
            <a:xfrm>
              <a:off x="4477" y="3594"/>
              <a:ext cx="115" cy="0"/>
            </a:xfrm>
            <a:prstGeom prst="line">
              <a:avLst/>
            </a:prstGeom>
            <a:ln w="28575" cap="flat" cmpd="sng">
              <a:solidFill>
                <a:srgbClr val="0000FF"/>
              </a:solidFill>
              <a:prstDash val="solid"/>
              <a:headEnd type="none" w="med" len="med"/>
              <a:tailEnd type="none" w="med" len="med"/>
            </a:ln>
          </p:spPr>
        </p:sp>
        <p:sp>
          <p:nvSpPr>
            <p:cNvPr id="22544" name="Line 29"/>
            <p:cNvSpPr/>
            <p:nvPr/>
          </p:nvSpPr>
          <p:spPr>
            <a:xfrm>
              <a:off x="4748" y="3594"/>
              <a:ext cx="103" cy="0"/>
            </a:xfrm>
            <a:prstGeom prst="line">
              <a:avLst/>
            </a:prstGeom>
            <a:ln w="28575" cap="flat" cmpd="sng">
              <a:solidFill>
                <a:srgbClr val="0000FF"/>
              </a:solidFill>
              <a:prstDash val="solid"/>
              <a:headEnd type="none" w="med" len="med"/>
              <a:tailEnd type="none" w="med" len="med"/>
            </a:ln>
          </p:spPr>
        </p:sp>
        <p:sp>
          <p:nvSpPr>
            <p:cNvPr id="22545" name="Oval 30"/>
            <p:cNvSpPr/>
            <p:nvPr/>
          </p:nvSpPr>
          <p:spPr>
            <a:xfrm>
              <a:off x="4568" y="3571"/>
              <a:ext cx="46" cy="46"/>
            </a:xfrm>
            <a:prstGeom prst="ellipse">
              <a:avLst/>
            </a:prstGeom>
            <a:solidFill>
              <a:srgbClr val="FFFFFF"/>
            </a:solidFill>
            <a:ln w="19050" cap="flat" cmpd="sng">
              <a:solidFill>
                <a:srgbClr val="0000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22546" name="Oval 31"/>
            <p:cNvSpPr/>
            <p:nvPr/>
          </p:nvSpPr>
          <p:spPr>
            <a:xfrm>
              <a:off x="4724" y="3568"/>
              <a:ext cx="46" cy="46"/>
            </a:xfrm>
            <a:prstGeom prst="ellipse">
              <a:avLst/>
            </a:prstGeom>
            <a:solidFill>
              <a:srgbClr val="FFFFFF"/>
            </a:solidFill>
            <a:ln w="19050" cap="flat" cmpd="sng">
              <a:solidFill>
                <a:srgbClr val="0000FF"/>
              </a:solidFill>
              <a:prstDash val="solid"/>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22547" name="Line 32"/>
            <p:cNvSpPr/>
            <p:nvPr/>
          </p:nvSpPr>
          <p:spPr>
            <a:xfrm rot="616819" flipV="1">
              <a:off x="4591" y="3499"/>
              <a:ext cx="150" cy="87"/>
            </a:xfrm>
            <a:prstGeom prst="line">
              <a:avLst/>
            </a:prstGeom>
            <a:ln w="19050" cap="flat" cmpd="sng">
              <a:solidFill>
                <a:srgbClr val="0000FF"/>
              </a:solidFill>
              <a:prstDash val="solid"/>
              <a:headEnd type="none" w="med" len="med"/>
              <a:tailEnd type="none" w="med" len="med"/>
            </a:ln>
          </p:spPr>
        </p:sp>
        <p:sp>
          <p:nvSpPr>
            <p:cNvPr id="22548" name="Line 33"/>
            <p:cNvSpPr/>
            <p:nvPr/>
          </p:nvSpPr>
          <p:spPr>
            <a:xfrm>
              <a:off x="4686" y="3366"/>
              <a:ext cx="0" cy="168"/>
            </a:xfrm>
            <a:prstGeom prst="line">
              <a:avLst/>
            </a:prstGeom>
            <a:ln w="12700" cap="flat" cmpd="sng">
              <a:solidFill>
                <a:schemeClr val="tx1"/>
              </a:solidFill>
              <a:prstDash val="solid"/>
              <a:headEnd type="none" w="med" len="med"/>
              <a:tailEnd type="none" w="med" len="med"/>
            </a:ln>
          </p:spPr>
        </p:sp>
      </p:grpSp>
      <p:sp>
        <p:nvSpPr>
          <p:cNvPr id="145442" name="Rectangle 34"/>
          <p:cNvSpPr/>
          <p:nvPr/>
        </p:nvSpPr>
        <p:spPr>
          <a:xfrm>
            <a:off x="6630988" y="2143125"/>
            <a:ext cx="2513012" cy="1917700"/>
          </a:xfrm>
          <a:prstGeom prst="rect">
            <a:avLst/>
          </a:prstGeom>
          <a:noFill/>
          <a:ln w="25400">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latin typeface="Times New Roman" panose="02020603050405020304" pitchFamily="18" charset="0"/>
                <a:ea typeface="楷体_GB2312" pitchFamily="49" charset="-122"/>
              </a:rPr>
              <a:t>        </a:t>
            </a:r>
            <a:r>
              <a:rPr lang="en-US" altLang="zh-CN" sz="2400" b="1" dirty="0">
                <a:latin typeface="Times New Roman" panose="02020603050405020304" pitchFamily="18" charset="0"/>
                <a:ea typeface="楷体_GB2312" pitchFamily="49" charset="-122"/>
              </a:rPr>
              <a:t>T</a:t>
            </a:r>
            <a:r>
              <a:rPr lang="en-US" altLang="zh-CN" sz="2400" b="1" baseline="-25000" dirty="0">
                <a:latin typeface="Times New Roman" panose="02020603050405020304" pitchFamily="18" charset="0"/>
                <a:ea typeface="楷体_GB2312" pitchFamily="49" charset="-122"/>
              </a:rPr>
              <a:t>1</a:t>
            </a:r>
            <a:r>
              <a:rPr lang="en-US" altLang="zh-CN" sz="2400" b="1" dirty="0">
                <a:latin typeface="Times New Roman" panose="02020603050405020304" pitchFamily="18" charset="0"/>
                <a:ea typeface="楷体_GB2312" pitchFamily="49" charset="-122"/>
              </a:rPr>
              <a:t>-T</a:t>
            </a:r>
            <a:r>
              <a:rPr lang="en-US" altLang="zh-CN" sz="2400" b="1" baseline="-25000" dirty="0">
                <a:latin typeface="Times New Roman" panose="02020603050405020304" pitchFamily="18" charset="0"/>
                <a:ea typeface="楷体_GB2312" pitchFamily="49" charset="-122"/>
              </a:rPr>
              <a:t>6</a:t>
            </a:r>
            <a:r>
              <a:rPr lang="zh-CN" altLang="en-US" sz="2400" b="1" dirty="0">
                <a:latin typeface="Times New Roman" panose="02020603050405020304" pitchFamily="18" charset="0"/>
                <a:ea typeface="楷体_GB2312" pitchFamily="49" charset="-122"/>
              </a:rPr>
              <a:t>构成一个存储单元。</a:t>
            </a:r>
            <a:r>
              <a:rPr lang="en-US" altLang="zh-CN" sz="2400" b="1" dirty="0">
                <a:latin typeface="Times New Roman" panose="02020603050405020304" pitchFamily="18" charset="0"/>
                <a:ea typeface="楷体_GB2312" pitchFamily="49" charset="-122"/>
              </a:rPr>
              <a:t>T3</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T4</a:t>
            </a:r>
            <a:r>
              <a:rPr lang="zh-CN" altLang="en-US" sz="2400" b="1" dirty="0">
                <a:latin typeface="Times New Roman" panose="02020603050405020304" pitchFamily="18" charset="0"/>
                <a:ea typeface="楷体_GB2312" pitchFamily="49" charset="-122"/>
              </a:rPr>
              <a:t>为负载，</a:t>
            </a:r>
            <a:r>
              <a:rPr lang="en-US" altLang="zh-CN" sz="2400" b="1" dirty="0">
                <a:latin typeface="Times New Roman" panose="02020603050405020304" pitchFamily="18" charset="0"/>
                <a:ea typeface="楷体_GB2312" pitchFamily="49" charset="-122"/>
              </a:rPr>
              <a:t>T1</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T2</a:t>
            </a:r>
            <a:r>
              <a:rPr lang="zh-CN" altLang="en-US" sz="2400" b="1" dirty="0">
                <a:latin typeface="Times New Roman" panose="02020603050405020304" pitchFamily="18" charset="0"/>
                <a:ea typeface="楷体_GB2312" pitchFamily="49" charset="-122"/>
              </a:rPr>
              <a:t>为基本</a:t>
            </a:r>
            <a:r>
              <a:rPr lang="en-US" altLang="zh-CN" sz="2400" b="1" dirty="0">
                <a:latin typeface="Times New Roman" panose="02020603050405020304" pitchFamily="18" charset="0"/>
                <a:ea typeface="楷体_GB2312" pitchFamily="49" charset="-122"/>
              </a:rPr>
              <a:t>RS</a:t>
            </a:r>
            <a:r>
              <a:rPr lang="zh-CN" altLang="en-US" sz="2400" b="1" dirty="0">
                <a:latin typeface="Times New Roman" panose="02020603050405020304" pitchFamily="18" charset="0"/>
                <a:ea typeface="楷体_GB2312" pitchFamily="49" charset="-122"/>
              </a:rPr>
              <a:t>触发器</a:t>
            </a:r>
            <a:r>
              <a:rPr lang="zh-CN" altLang="en-US" sz="2000" b="1" dirty="0">
                <a:latin typeface="Times New Roman" panose="02020603050405020304" pitchFamily="18" charset="0"/>
                <a:ea typeface="楷体_GB2312" pitchFamily="49" charset="-122"/>
              </a:rPr>
              <a:t>。</a:t>
            </a:r>
            <a:endParaRPr lang="zh-CN" altLang="en-US" sz="2000" b="1" dirty="0">
              <a:latin typeface="Times New Roman" panose="02020603050405020304" pitchFamily="18" charset="0"/>
              <a:ea typeface="楷体_GB2312" pitchFamily="49" charset="-122"/>
            </a:endParaRPr>
          </a:p>
        </p:txBody>
      </p:sp>
      <p:sp>
        <p:nvSpPr>
          <p:cNvPr id="145443" name="AutoShape 35"/>
          <p:cNvSpPr/>
          <p:nvPr/>
        </p:nvSpPr>
        <p:spPr>
          <a:xfrm>
            <a:off x="260350" y="1225550"/>
            <a:ext cx="2006600" cy="771525"/>
          </a:xfrm>
          <a:prstGeom prst="wedgeEllipseCallout">
            <a:avLst>
              <a:gd name="adj1" fmla="val -236"/>
              <a:gd name="adj2" fmla="val 85185"/>
            </a:avLst>
          </a:prstGeom>
          <a:solidFill>
            <a:srgbClr val="CCFFCC"/>
          </a:solidFill>
          <a:ln w="6350" cap="flat" cmpd="sng">
            <a:solidFill>
              <a:schemeClr val="tx1"/>
            </a:solidFill>
            <a:prstDash val="solid"/>
            <a:miter/>
            <a:headEnd type="none" w="med" len="med"/>
            <a:tailEnd type="none" w="med" len="med"/>
          </a:ln>
        </p:spPr>
        <p:txBody>
          <a:bodyPr lIns="0" tIns="72000" rIns="0" bIns="7200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80000"/>
              </a:lnSpc>
              <a:spcBef>
                <a:spcPct val="50000"/>
              </a:spcBef>
              <a:buClrTx/>
              <a:buSzTx/>
              <a:buFontTx/>
              <a:buNone/>
            </a:pPr>
            <a:r>
              <a:rPr lang="zh-CN" altLang="en-US" sz="1800" b="1" dirty="0">
                <a:solidFill>
                  <a:srgbClr val="000099"/>
                </a:solidFill>
                <a:latin typeface="Times New Roman" panose="02020603050405020304" pitchFamily="18" charset="0"/>
              </a:rPr>
              <a:t>来自行地址译码器的输出</a:t>
            </a:r>
            <a:endParaRPr lang="zh-CN" altLang="en-US" sz="1800" b="1" dirty="0">
              <a:solidFill>
                <a:srgbClr val="000099"/>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5442"/>
                                        </p:tgtEl>
                                        <p:attrNameLst>
                                          <p:attrName>style.visibility</p:attrName>
                                        </p:attrNameLst>
                                      </p:cBhvr>
                                      <p:to>
                                        <p:strVal val="visible"/>
                                      </p:to>
                                    </p:set>
                                    <p:animEffect transition="in" filter="box(in)">
                                      <p:cBhvr>
                                        <p:cTn id="7" dur="500"/>
                                        <p:tgtEl>
                                          <p:spTgt spid="14544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5418"/>
                                        </p:tgtEl>
                                        <p:attrNameLst>
                                          <p:attrName>style.visibility</p:attrName>
                                        </p:attrNameLst>
                                      </p:cBhvr>
                                      <p:to>
                                        <p:strVal val="visible"/>
                                      </p:to>
                                    </p:set>
                                    <p:animEffect transition="in" filter="dissolve">
                                      <p:cBhvr>
                                        <p:cTn id="12" dur="500"/>
                                        <p:tgtEl>
                                          <p:spTgt spid="145418"/>
                                        </p:tgtEl>
                                      </p:cBhvr>
                                    </p:animEffect>
                                  </p:childTnLst>
                                  <p:subTnLst>
                                    <p:set>
                                      <p:cBhvr override="childStyle">
                                        <p:cTn dur="1" fill="hold" display="0" masterRel="nextClick" afterEffect="1"/>
                                        <p:tgtEl>
                                          <p:spTgt spid="145418"/>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in)">
                                      <p:cBhvr>
                                        <p:cTn id="1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in)">
                                      <p:cBhvr>
                                        <p:cTn id="2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145443"/>
                                        </p:tgtEl>
                                        <p:attrNameLst>
                                          <p:attrName>style.visibility</p:attrName>
                                        </p:attrNameLst>
                                      </p:cBhvr>
                                      <p:to>
                                        <p:strVal val="visible"/>
                                      </p:to>
                                    </p:set>
                                    <p:animEffect transition="in" filter="box(in)">
                                      <p:cBhvr>
                                        <p:cTn id="27" dur="500"/>
                                        <p:tgtEl>
                                          <p:spTgt spid="145443"/>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45425"/>
                                        </p:tgtEl>
                                        <p:attrNameLst>
                                          <p:attrName>style.visibility</p:attrName>
                                        </p:attrNameLst>
                                      </p:cBhvr>
                                      <p:to>
                                        <p:strVal val="visible"/>
                                      </p:to>
                                    </p:set>
                                    <p:animEffect transition="in" filter="box(in)">
                                      <p:cBhvr>
                                        <p:cTn id="32" dur="500"/>
                                        <p:tgtEl>
                                          <p:spTgt spid="145425"/>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ox(in)">
                                      <p:cBhvr>
                                        <p:cTn id="37" dur="500"/>
                                        <p:tgtEl>
                                          <p:spTgt spid="5"/>
                                        </p:tgtEl>
                                      </p:cBhvr>
                                    </p:animEffect>
                                  </p:childTnLst>
                                </p:cTn>
                              </p:par>
                            </p:childTnLst>
                          </p:cTn>
                        </p:par>
                        <p:par>
                          <p:cTn id="38" fill="hold">
                            <p:stCondLst>
                              <p:cond delay="500"/>
                            </p:stCondLst>
                            <p:childTnLst>
                              <p:par>
                                <p:cTn id="39" presetID="4" presetClass="entr" presetSubtype="16" fill="hold" nodeType="after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box(in)">
                                      <p:cBhvr>
                                        <p:cTn id="4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8" grpId="0" animBg="1"/>
      <p:bldP spid="145425" grpId="0"/>
      <p:bldP spid="145442" grpId="0"/>
      <p:bldP spid="14544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0" name="Rectangle 2"/>
          <p:cNvSpPr>
            <a:spLocks noGrp="1" noChangeArrowheads="1"/>
          </p:cNvSpPr>
          <p:nvPr>
            <p:ph type="title"/>
          </p:nvPr>
        </p:nvSpPr>
        <p:spPr>
          <a:xfrm>
            <a:off x="399415" y="116840"/>
            <a:ext cx="8229600" cy="1371600"/>
          </a:xfrm>
        </p:spPr>
        <p:txBody>
          <a:bodyPr/>
          <a:lstStyle/>
          <a:p>
            <a:pPr eaLnBrk="1" hangingPunct="1">
              <a:defRPr/>
            </a:pPr>
            <a:r>
              <a:rPr lang="zh-CN" altLang="en-US"/>
              <a:t>复习：</a:t>
            </a:r>
            <a:r>
              <a:rPr lang="en-US" altLang="zh-CN"/>
              <a:t>MOS</a:t>
            </a:r>
            <a:r>
              <a:rPr lang="zh-CN" altLang="en-US"/>
              <a:t>场效应管</a:t>
            </a:r>
            <a:endParaRPr lang="zh-CN" altLang="en-US"/>
          </a:p>
        </p:txBody>
      </p:sp>
      <p:sp>
        <p:nvSpPr>
          <p:cNvPr id="58371" name="Rectangle 3"/>
          <p:cNvSpPr>
            <a:spLocks noGrp="1" noChangeArrowheads="1"/>
          </p:cNvSpPr>
          <p:nvPr>
            <p:ph idx="1"/>
          </p:nvPr>
        </p:nvSpPr>
        <p:spPr>
          <a:xfrm>
            <a:off x="0" y="1171575"/>
            <a:ext cx="9144000" cy="5253037"/>
          </a:xfrm>
        </p:spPr>
        <p:txBody>
          <a:bodyPr/>
          <a:lstStyle/>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buFont typeface="Wingdings 2" pitchFamily="18" charset="2"/>
              <a:buNone/>
            </a:pPr>
            <a:r>
              <a:rPr lang="en-US" altLang="zh-CN">
                <a:solidFill>
                  <a:schemeClr val="bg2"/>
                </a:solidFill>
              </a:rPr>
              <a:t>                            </a:t>
            </a:r>
            <a:r>
              <a:rPr lang="en-US" altLang="zh-CN" sz="2000"/>
              <a:t>G-</a:t>
            </a:r>
            <a:r>
              <a:rPr lang="zh-CN" altLang="en-US" sz="2000"/>
              <a:t>栅极；</a:t>
            </a:r>
            <a:r>
              <a:rPr lang="en-US" altLang="zh-CN" sz="2000"/>
              <a:t>D-</a:t>
            </a:r>
            <a:r>
              <a:rPr lang="zh-CN" altLang="en-US" sz="2000"/>
              <a:t>漏极；</a:t>
            </a:r>
            <a:r>
              <a:rPr lang="en-US" altLang="zh-CN" sz="2000"/>
              <a:t>S-</a:t>
            </a:r>
            <a:r>
              <a:rPr lang="zh-CN" altLang="en-US" sz="2000"/>
              <a:t>源极</a:t>
            </a:r>
            <a:endParaRPr lang="zh-CN" altLang="en-US" sz="2000"/>
          </a:p>
          <a:p>
            <a:pPr eaLnBrk="1" hangingPunct="1">
              <a:buFont typeface="Wingdings 2" pitchFamily="18" charset="2"/>
              <a:buNone/>
            </a:pPr>
            <a:r>
              <a:rPr lang="zh-CN" altLang="en-US" sz="2000"/>
              <a:t>                                              </a:t>
            </a:r>
            <a:r>
              <a:rPr lang="en-US" altLang="zh-CN" sz="2000"/>
              <a:t>V</a:t>
            </a:r>
            <a:r>
              <a:rPr lang="en-US" altLang="zh-CN" sz="2000" baseline="-25000"/>
              <a:t>T</a:t>
            </a:r>
            <a:r>
              <a:rPr lang="en-US" altLang="zh-CN" sz="2000"/>
              <a:t>-</a:t>
            </a:r>
            <a:r>
              <a:rPr lang="zh-CN" altLang="en-US" sz="2000"/>
              <a:t>开启电压</a:t>
            </a:r>
            <a:endParaRPr lang="zh-CN" altLang="en-US" sz="2000"/>
          </a:p>
        </p:txBody>
      </p:sp>
      <p:pic>
        <p:nvPicPr>
          <p:cNvPr id="58373" name="Picture 9" descr="Image1"/>
          <p:cNvPicPr>
            <a:picLocks noGrp="1" noChangeAspect="1" noChangeArrowheads="1"/>
          </p:cNvPicPr>
          <p:nvPr>
            <p:ph type="body" idx="4294967295"/>
          </p:nvPr>
        </p:nvPicPr>
        <p:blipFill>
          <a:blip r:embed="rId1" cstate="print">
            <a:extLst>
              <a:ext uri="{28A0092B-C50C-407E-A947-70E740481C1C}">
                <a14:useLocalDpi xmlns:a14="http://schemas.microsoft.com/office/drawing/2010/main" val="0"/>
              </a:ext>
            </a:extLst>
          </a:blip>
          <a:srcRect l="1056"/>
          <a:stretch>
            <a:fillRect/>
          </a:stretch>
        </p:blipFill>
        <p:spPr>
          <a:xfrm>
            <a:off x="6194425" y="1171575"/>
            <a:ext cx="2803525" cy="2649537"/>
          </a:xfrm>
          <a:noFill/>
        </p:spPr>
      </p:pic>
      <p:pic>
        <p:nvPicPr>
          <p:cNvPr id="58374" name="Picture 5" descr="Image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171575"/>
            <a:ext cx="2857500" cy="264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5" name="Rectangle 6"/>
          <p:cNvSpPr>
            <a:spLocks noChangeArrowheads="1"/>
          </p:cNvSpPr>
          <p:nvPr/>
        </p:nvSpPr>
        <p:spPr bwMode="auto">
          <a:xfrm>
            <a:off x="866775" y="2813050"/>
            <a:ext cx="16049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kumimoji="0" lang="en-US" altLang="zh-CN" sz="1800">
                <a:solidFill>
                  <a:srgbClr val="990000"/>
                </a:solidFill>
                <a:latin typeface="楷体_GB2312" pitchFamily="49" charset="-122"/>
              </a:rPr>
              <a:t>U</a:t>
            </a:r>
            <a:r>
              <a:rPr kumimoji="0" lang="en-US" altLang="zh-CN" sz="1800" baseline="-25000">
                <a:solidFill>
                  <a:srgbClr val="990000"/>
                </a:solidFill>
                <a:latin typeface="楷体_GB2312" pitchFamily="49" charset="-122"/>
              </a:rPr>
              <a:t>GS</a:t>
            </a:r>
            <a:r>
              <a:rPr kumimoji="0" lang="en-US" altLang="zh-CN" sz="1800">
                <a:solidFill>
                  <a:srgbClr val="990000"/>
                </a:solidFill>
                <a:latin typeface="楷体_GB2312" pitchFamily="49" charset="-122"/>
              </a:rPr>
              <a:t>=0</a:t>
            </a:r>
            <a:r>
              <a:rPr kumimoji="0" lang="zh-CN" altLang="en-US" sz="1800">
                <a:solidFill>
                  <a:srgbClr val="990000"/>
                </a:solidFill>
                <a:latin typeface="楷体_GB2312" pitchFamily="49" charset="-122"/>
              </a:rPr>
              <a:t>时无沟道</a:t>
            </a:r>
            <a:endParaRPr kumimoji="0" lang="zh-CN" altLang="en-US" sz="1800">
              <a:solidFill>
                <a:srgbClr val="990000"/>
              </a:solidFill>
              <a:latin typeface="楷体_GB2312" pitchFamily="49" charset="-122"/>
            </a:endParaRPr>
          </a:p>
        </p:txBody>
      </p:sp>
      <p:pic>
        <p:nvPicPr>
          <p:cNvPr id="58376" name="Picture 7" descr="Image1"/>
          <p:cNvPicPr>
            <a:picLocks noChangeAspect="1" noChangeArrowheads="1"/>
          </p:cNvPicPr>
          <p:nvPr/>
        </p:nvPicPr>
        <p:blipFill>
          <a:blip r:embed="rId3">
            <a:extLst>
              <a:ext uri="{28A0092B-C50C-407E-A947-70E740481C1C}">
                <a14:useLocalDpi xmlns:a14="http://schemas.microsoft.com/office/drawing/2010/main" val="0"/>
              </a:ext>
            </a:extLst>
          </a:blip>
          <a:srcRect l="2292"/>
          <a:stretch>
            <a:fillRect/>
          </a:stretch>
        </p:blipFill>
        <p:spPr bwMode="auto">
          <a:xfrm>
            <a:off x="3225800" y="1171575"/>
            <a:ext cx="2894013" cy="264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7" name="Rectangle 8"/>
          <p:cNvSpPr>
            <a:spLocks noChangeArrowheads="1"/>
          </p:cNvSpPr>
          <p:nvPr/>
        </p:nvSpPr>
        <p:spPr bwMode="auto">
          <a:xfrm>
            <a:off x="3422650" y="2813050"/>
            <a:ext cx="26019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kumimoji="0" lang="en-US" altLang="zh-CN" sz="1800">
                <a:solidFill>
                  <a:srgbClr val="990000"/>
                </a:solidFill>
                <a:latin typeface="楷体_GB2312" pitchFamily="49" charset="-122"/>
              </a:rPr>
              <a:t>0</a:t>
            </a:r>
            <a:r>
              <a:rPr kumimoji="0" lang="zh-CN" altLang="en-US" sz="1800">
                <a:solidFill>
                  <a:srgbClr val="990000"/>
                </a:solidFill>
                <a:latin typeface="楷体_GB2312" pitchFamily="49" charset="-122"/>
              </a:rPr>
              <a:t>＜</a:t>
            </a:r>
            <a:r>
              <a:rPr kumimoji="0" lang="en-US" altLang="zh-CN" sz="1800">
                <a:solidFill>
                  <a:srgbClr val="990000"/>
                </a:solidFill>
                <a:latin typeface="楷体_GB2312" pitchFamily="49" charset="-122"/>
              </a:rPr>
              <a:t>U</a:t>
            </a:r>
            <a:r>
              <a:rPr kumimoji="0" lang="en-US" altLang="zh-CN" sz="1800" baseline="-25000">
                <a:solidFill>
                  <a:srgbClr val="990000"/>
                </a:solidFill>
                <a:latin typeface="楷体_GB2312" pitchFamily="49" charset="-122"/>
              </a:rPr>
              <a:t>GS</a:t>
            </a:r>
            <a:r>
              <a:rPr kumimoji="0" lang="zh-CN" altLang="en-US" sz="1800">
                <a:solidFill>
                  <a:srgbClr val="990000"/>
                </a:solidFill>
                <a:latin typeface="楷体_GB2312" pitchFamily="49" charset="-122"/>
              </a:rPr>
              <a:t>＜</a:t>
            </a:r>
            <a:r>
              <a:rPr kumimoji="0" lang="en-US" altLang="zh-CN" sz="1800">
                <a:solidFill>
                  <a:srgbClr val="990000"/>
                </a:solidFill>
                <a:latin typeface="楷体_GB2312" pitchFamily="49" charset="-122"/>
              </a:rPr>
              <a:t>V</a:t>
            </a:r>
            <a:r>
              <a:rPr kumimoji="0" lang="en-US" altLang="zh-CN" sz="1800" baseline="-25000">
                <a:solidFill>
                  <a:srgbClr val="990000"/>
                </a:solidFill>
                <a:latin typeface="楷体_GB2312" pitchFamily="49" charset="-122"/>
              </a:rPr>
              <a:t>T</a:t>
            </a:r>
            <a:r>
              <a:rPr kumimoji="0" lang="zh-CN" altLang="en-US" sz="1800">
                <a:solidFill>
                  <a:srgbClr val="990000"/>
                </a:solidFill>
                <a:latin typeface="楷体_GB2312" pitchFamily="49" charset="-122"/>
              </a:rPr>
              <a:t>时出现耗尽层</a:t>
            </a:r>
            <a:endParaRPr kumimoji="0" lang="zh-CN" altLang="en-US" sz="1800">
              <a:solidFill>
                <a:srgbClr val="990000"/>
              </a:solidFill>
              <a:latin typeface="楷体_GB2312" pitchFamily="49" charset="-122"/>
            </a:endParaRPr>
          </a:p>
        </p:txBody>
      </p:sp>
      <p:sp>
        <p:nvSpPr>
          <p:cNvPr id="58378" name="Rectangle 10"/>
          <p:cNvSpPr>
            <a:spLocks noChangeArrowheads="1"/>
          </p:cNvSpPr>
          <p:nvPr/>
        </p:nvSpPr>
        <p:spPr bwMode="auto">
          <a:xfrm>
            <a:off x="6732588" y="3100387"/>
            <a:ext cx="21415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kumimoji="0" lang="en-US" altLang="zh-CN" sz="1800">
                <a:solidFill>
                  <a:srgbClr val="990000"/>
                </a:solidFill>
                <a:latin typeface="楷体_GB2312" pitchFamily="49" charset="-122"/>
              </a:rPr>
              <a:t>U</a:t>
            </a:r>
            <a:r>
              <a:rPr kumimoji="0" lang="en-US" altLang="zh-CN" sz="1800" baseline="-25000">
                <a:solidFill>
                  <a:srgbClr val="990000"/>
                </a:solidFill>
                <a:latin typeface="楷体_GB2312" pitchFamily="49" charset="-122"/>
              </a:rPr>
              <a:t>GS</a:t>
            </a:r>
            <a:r>
              <a:rPr kumimoji="0" lang="en-US" altLang="zh-CN" sz="1800">
                <a:solidFill>
                  <a:srgbClr val="990000"/>
                </a:solidFill>
                <a:latin typeface="楷体_GB2312" pitchFamily="49" charset="-122"/>
              </a:rPr>
              <a:t>≥V</a:t>
            </a:r>
            <a:r>
              <a:rPr kumimoji="0" lang="en-US" altLang="zh-CN" sz="1800" baseline="-25000">
                <a:solidFill>
                  <a:srgbClr val="990000"/>
                </a:solidFill>
                <a:latin typeface="楷体_GB2312" pitchFamily="49" charset="-122"/>
              </a:rPr>
              <a:t>T</a:t>
            </a:r>
            <a:r>
              <a:rPr kumimoji="0" lang="zh-CN" altLang="en-US" sz="1800">
                <a:solidFill>
                  <a:srgbClr val="990000"/>
                </a:solidFill>
                <a:latin typeface="楷体_GB2312" pitchFamily="49" charset="-122"/>
              </a:rPr>
              <a:t>时出现</a:t>
            </a:r>
            <a:r>
              <a:rPr kumimoji="0" lang="en-US" altLang="zh-CN" sz="1800">
                <a:solidFill>
                  <a:srgbClr val="990000"/>
                </a:solidFill>
                <a:latin typeface="楷体_GB2312" pitchFamily="49" charset="-122"/>
              </a:rPr>
              <a:t>N</a:t>
            </a:r>
            <a:r>
              <a:rPr kumimoji="0" lang="zh-CN" altLang="en-US" sz="1800">
                <a:solidFill>
                  <a:srgbClr val="990000"/>
                </a:solidFill>
                <a:latin typeface="楷体_GB2312" pitchFamily="49" charset="-122"/>
              </a:rPr>
              <a:t>沟道</a:t>
            </a:r>
            <a:endParaRPr kumimoji="0" lang="zh-CN" altLang="en-US" sz="1800">
              <a:solidFill>
                <a:srgbClr val="990000"/>
              </a:solidFill>
              <a:latin typeface="楷体_GB2312" pitchFamily="49" charset="-122"/>
            </a:endParaRPr>
          </a:p>
        </p:txBody>
      </p:sp>
      <p:pic>
        <p:nvPicPr>
          <p:cNvPr id="58379" name="Picture 4" descr="场效应管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7563" y="4044950"/>
            <a:ext cx="3097212"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8380" name="组合 1"/>
          <p:cNvGrpSpPr/>
          <p:nvPr/>
        </p:nvGrpSpPr>
        <p:grpSpPr bwMode="auto">
          <a:xfrm>
            <a:off x="179388" y="4090987"/>
            <a:ext cx="1949450" cy="1798638"/>
            <a:chOff x="3919468" y="4556065"/>
            <a:chExt cx="1948676" cy="1798400"/>
          </a:xfrm>
        </p:grpSpPr>
        <p:grpSp>
          <p:nvGrpSpPr>
            <p:cNvPr id="58381" name="Group 5"/>
            <p:cNvGrpSpPr/>
            <p:nvPr/>
          </p:nvGrpSpPr>
          <p:grpSpPr bwMode="auto">
            <a:xfrm>
              <a:off x="4139356" y="4956175"/>
              <a:ext cx="1223963" cy="1223963"/>
              <a:chOff x="1202" y="1933"/>
              <a:chExt cx="499" cy="635"/>
            </a:xfrm>
          </p:grpSpPr>
          <p:sp>
            <p:nvSpPr>
              <p:cNvPr id="58386" name="Line 6"/>
              <p:cNvSpPr>
                <a:spLocks noChangeShapeType="1"/>
              </p:cNvSpPr>
              <p:nvPr/>
            </p:nvSpPr>
            <p:spPr bwMode="auto">
              <a:xfrm>
                <a:off x="1565" y="2160"/>
                <a:ext cx="0" cy="18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87" name="Line 7"/>
              <p:cNvSpPr>
                <a:spLocks noChangeShapeType="1"/>
              </p:cNvSpPr>
              <p:nvPr/>
            </p:nvSpPr>
            <p:spPr bwMode="auto">
              <a:xfrm>
                <a:off x="1565" y="2160"/>
                <a:ext cx="13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88" name="Line 8"/>
              <p:cNvSpPr>
                <a:spLocks noChangeShapeType="1"/>
              </p:cNvSpPr>
              <p:nvPr/>
            </p:nvSpPr>
            <p:spPr bwMode="auto">
              <a:xfrm>
                <a:off x="1565" y="2341"/>
                <a:ext cx="136"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89" name="Line 9"/>
              <p:cNvSpPr>
                <a:spLocks noChangeShapeType="1"/>
              </p:cNvSpPr>
              <p:nvPr/>
            </p:nvSpPr>
            <p:spPr bwMode="auto">
              <a:xfrm flipV="1">
                <a:off x="1701" y="1933"/>
                <a:ext cx="0" cy="22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90" name="Line 10"/>
              <p:cNvSpPr>
                <a:spLocks noChangeShapeType="1"/>
              </p:cNvSpPr>
              <p:nvPr/>
            </p:nvSpPr>
            <p:spPr bwMode="auto">
              <a:xfrm flipV="1">
                <a:off x="1701" y="2341"/>
                <a:ext cx="0" cy="227"/>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91" name="Line 11"/>
              <p:cNvSpPr>
                <a:spLocks noChangeShapeType="1"/>
              </p:cNvSpPr>
              <p:nvPr/>
            </p:nvSpPr>
            <p:spPr bwMode="auto">
              <a:xfrm>
                <a:off x="1474" y="2115"/>
                <a:ext cx="0" cy="27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58392" name="Line 12"/>
              <p:cNvSpPr>
                <a:spLocks noChangeShapeType="1"/>
              </p:cNvSpPr>
              <p:nvPr/>
            </p:nvSpPr>
            <p:spPr bwMode="auto">
              <a:xfrm flipH="1">
                <a:off x="1202" y="2251"/>
                <a:ext cx="272"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8382" name="Text Box 13"/>
            <p:cNvSpPr txBox="1">
              <a:spLocks noChangeArrowheads="1"/>
            </p:cNvSpPr>
            <p:nvPr/>
          </p:nvSpPr>
          <p:spPr bwMode="auto">
            <a:xfrm>
              <a:off x="3919468" y="4556065"/>
              <a:ext cx="136842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2000">
                  <a:solidFill>
                    <a:srgbClr val="000000"/>
                  </a:solidFill>
                </a:rPr>
                <a:t>电路符号</a:t>
              </a:r>
              <a:endParaRPr lang="zh-CN" altLang="en-US" sz="2000">
                <a:solidFill>
                  <a:srgbClr val="000000"/>
                </a:solidFill>
              </a:endParaRPr>
            </a:p>
          </p:txBody>
        </p:sp>
        <p:sp>
          <p:nvSpPr>
            <p:cNvPr id="58383" name="Text Box 14"/>
            <p:cNvSpPr txBox="1">
              <a:spLocks noChangeArrowheads="1"/>
            </p:cNvSpPr>
            <p:nvPr/>
          </p:nvSpPr>
          <p:spPr bwMode="auto">
            <a:xfrm>
              <a:off x="3994894" y="5603875"/>
              <a:ext cx="3603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400" b="0">
                  <a:solidFill>
                    <a:srgbClr val="000000"/>
                  </a:solidFill>
                  <a:ea typeface="华文仿宋" panose="02010600040101010101" pitchFamily="2" charset="-122"/>
                </a:rPr>
                <a:t>G</a:t>
              </a:r>
              <a:endParaRPr lang="en-US" altLang="zh-CN" sz="2400" b="0">
                <a:solidFill>
                  <a:srgbClr val="000000"/>
                </a:solidFill>
                <a:ea typeface="华文仿宋" panose="02010600040101010101" pitchFamily="2" charset="-122"/>
              </a:endParaRPr>
            </a:p>
          </p:txBody>
        </p:sp>
        <p:sp>
          <p:nvSpPr>
            <p:cNvPr id="58384" name="Text Box 15"/>
            <p:cNvSpPr txBox="1">
              <a:spLocks noChangeArrowheads="1"/>
            </p:cNvSpPr>
            <p:nvPr/>
          </p:nvSpPr>
          <p:spPr bwMode="auto">
            <a:xfrm>
              <a:off x="5436344" y="4592638"/>
              <a:ext cx="431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400" b="0">
                  <a:solidFill>
                    <a:srgbClr val="000000"/>
                  </a:solidFill>
                  <a:ea typeface="华文仿宋" panose="02010600040101010101" pitchFamily="2" charset="-122"/>
                </a:rPr>
                <a:t>D</a:t>
              </a:r>
              <a:endParaRPr lang="en-US" altLang="zh-CN" sz="2400" b="0">
                <a:solidFill>
                  <a:srgbClr val="000000"/>
                </a:solidFill>
                <a:ea typeface="华文仿宋" panose="02010600040101010101" pitchFamily="2" charset="-122"/>
              </a:endParaRPr>
            </a:p>
          </p:txBody>
        </p:sp>
        <p:sp>
          <p:nvSpPr>
            <p:cNvPr id="58385" name="Text Box 16"/>
            <p:cNvSpPr txBox="1">
              <a:spLocks noChangeArrowheads="1"/>
            </p:cNvSpPr>
            <p:nvPr/>
          </p:nvSpPr>
          <p:spPr bwMode="auto">
            <a:xfrm>
              <a:off x="5507781" y="5892800"/>
              <a:ext cx="3603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400" b="0">
                  <a:solidFill>
                    <a:srgbClr val="000000"/>
                  </a:solidFill>
                  <a:ea typeface="华文仿宋" panose="02010600040101010101" pitchFamily="2" charset="-122"/>
                </a:rPr>
                <a:t>S</a:t>
              </a:r>
              <a:endParaRPr lang="en-US" altLang="zh-CN" sz="2400" b="0">
                <a:solidFill>
                  <a:srgbClr val="000000"/>
                </a:solidFill>
                <a:ea typeface="华文仿宋" panose="02010600040101010101" pitchFamily="2" charset="-122"/>
              </a:endParaRPr>
            </a:p>
          </p:txBody>
        </p:sp>
      </p:grpSp>
    </p:spTree>
  </p:cSld>
  <p:clrMapOvr>
    <a:masterClrMapping/>
  </p:clrMapOvr>
  <p:transition spd="med">
    <p:pull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p:cNvSpPr>
            <a:spLocks noGrp="1" noChangeArrowheads="1"/>
          </p:cNvSpPr>
          <p:nvPr>
            <p:ph type="title"/>
          </p:nvPr>
        </p:nvSpPr>
        <p:spPr>
          <a:xfrm>
            <a:off x="323850" y="28575"/>
            <a:ext cx="8229600" cy="1371600"/>
          </a:xfrm>
        </p:spPr>
        <p:txBody>
          <a:bodyPr/>
          <a:lstStyle/>
          <a:p>
            <a:pPr eaLnBrk="1" hangingPunct="1">
              <a:defRPr/>
            </a:pPr>
            <a:r>
              <a:rPr lang="en-US" altLang="zh-CN"/>
              <a:t>1. SRAM</a:t>
            </a:r>
            <a:r>
              <a:rPr lang="zh-CN" altLang="en-US"/>
              <a:t>基本电路</a:t>
            </a:r>
            <a:endParaRPr lang="zh-CN" altLang="en-US"/>
          </a:p>
        </p:txBody>
      </p:sp>
      <p:sp>
        <p:nvSpPr>
          <p:cNvPr id="60419" name="Rectangle 3"/>
          <p:cNvSpPr>
            <a:spLocks noGrp="1" noChangeArrowheads="1"/>
          </p:cNvSpPr>
          <p:nvPr>
            <p:ph idx="1"/>
          </p:nvPr>
        </p:nvSpPr>
        <p:spPr>
          <a:xfrm>
            <a:off x="-36512" y="1066800"/>
            <a:ext cx="3132140" cy="5334000"/>
          </a:xfrm>
        </p:spPr>
        <p:txBody>
          <a:bodyPr/>
          <a:lstStyle/>
          <a:p>
            <a:pPr marL="360680" indent="-360680" eaLnBrk="1" hangingPunct="1">
              <a:lnSpc>
                <a:spcPct val="90000"/>
              </a:lnSpc>
            </a:pPr>
            <a:r>
              <a:rPr lang="zh-CN" altLang="en-US" sz="2800" dirty="0">
                <a:solidFill>
                  <a:schemeClr val="tx2"/>
                </a:solidFill>
              </a:rPr>
              <a:t>原理</a:t>
            </a:r>
            <a:endParaRPr lang="zh-CN" altLang="en-US" sz="2800" dirty="0">
              <a:solidFill>
                <a:schemeClr val="tx2"/>
              </a:solidFill>
            </a:endParaRPr>
          </a:p>
          <a:p>
            <a:pPr marL="358775" lvl="1" indent="-1905" eaLnBrk="1" hangingPunct="1">
              <a:lnSpc>
                <a:spcPct val="90000"/>
              </a:lnSpc>
            </a:pPr>
            <a:r>
              <a:rPr lang="en-US" altLang="zh-CN" sz="2400" dirty="0">
                <a:solidFill>
                  <a:schemeClr val="tx2"/>
                </a:solidFill>
                <a:latin typeface="楷体_GB2312" pitchFamily="49" charset="-122"/>
                <a:ea typeface="楷体_GB2312" pitchFamily="49" charset="-122"/>
              </a:rPr>
              <a:t>T1</a:t>
            </a:r>
            <a:r>
              <a:rPr lang="zh-CN" altLang="en-US" sz="2400" dirty="0">
                <a:solidFill>
                  <a:schemeClr val="tx2"/>
                </a:solidFill>
                <a:latin typeface="楷体_GB2312" pitchFamily="49" charset="-122"/>
                <a:ea typeface="楷体_GB2312" pitchFamily="49" charset="-122"/>
              </a:rPr>
              <a:t>、</a:t>
            </a:r>
            <a:r>
              <a:rPr lang="en-US" altLang="zh-CN" sz="2400" dirty="0">
                <a:solidFill>
                  <a:schemeClr val="tx2"/>
                </a:solidFill>
                <a:latin typeface="楷体_GB2312" pitchFamily="49" charset="-122"/>
                <a:ea typeface="楷体_GB2312" pitchFamily="49" charset="-122"/>
              </a:rPr>
              <a:t>T2</a:t>
            </a:r>
            <a:r>
              <a:rPr lang="zh-CN" altLang="en-US" sz="2400" dirty="0">
                <a:solidFill>
                  <a:schemeClr val="tx2"/>
                </a:solidFill>
                <a:latin typeface="楷体_GB2312" pitchFamily="49" charset="-122"/>
                <a:ea typeface="楷体_GB2312" pitchFamily="49" charset="-122"/>
              </a:rPr>
              <a:t>为工作管</a:t>
            </a:r>
            <a:endParaRPr lang="zh-CN" altLang="en-US" sz="2400" dirty="0">
              <a:solidFill>
                <a:schemeClr val="tx2"/>
              </a:solidFill>
              <a:latin typeface="楷体_GB2312" pitchFamily="49" charset="-122"/>
              <a:ea typeface="楷体_GB2312" pitchFamily="49" charset="-122"/>
            </a:endParaRPr>
          </a:p>
          <a:p>
            <a:pPr marL="358775" lvl="1" indent="-1905" eaLnBrk="1" hangingPunct="1">
              <a:lnSpc>
                <a:spcPct val="90000"/>
              </a:lnSpc>
            </a:pPr>
            <a:r>
              <a:rPr lang="en-US" altLang="zh-CN" sz="2400" dirty="0">
                <a:solidFill>
                  <a:schemeClr val="tx2"/>
                </a:solidFill>
                <a:latin typeface="楷体_GB2312" pitchFamily="49" charset="-122"/>
                <a:ea typeface="楷体_GB2312" pitchFamily="49" charset="-122"/>
              </a:rPr>
              <a:t>T3</a:t>
            </a:r>
            <a:r>
              <a:rPr lang="zh-CN" altLang="en-US" sz="2400" dirty="0">
                <a:solidFill>
                  <a:schemeClr val="tx2"/>
                </a:solidFill>
                <a:latin typeface="楷体_GB2312" pitchFamily="49" charset="-122"/>
                <a:ea typeface="楷体_GB2312" pitchFamily="49" charset="-122"/>
              </a:rPr>
              <a:t>、</a:t>
            </a:r>
            <a:r>
              <a:rPr lang="en-US" altLang="zh-CN" sz="2400" dirty="0">
                <a:solidFill>
                  <a:schemeClr val="tx2"/>
                </a:solidFill>
                <a:latin typeface="楷体_GB2312" pitchFamily="49" charset="-122"/>
                <a:ea typeface="楷体_GB2312" pitchFamily="49" charset="-122"/>
              </a:rPr>
              <a:t>T4</a:t>
            </a:r>
            <a:r>
              <a:rPr lang="zh-CN" altLang="en-US" sz="2400" dirty="0">
                <a:solidFill>
                  <a:schemeClr val="tx2"/>
                </a:solidFill>
                <a:latin typeface="楷体_GB2312" pitchFamily="49" charset="-122"/>
                <a:ea typeface="楷体_GB2312" pitchFamily="49" charset="-122"/>
              </a:rPr>
              <a:t>为负载管</a:t>
            </a:r>
            <a:endParaRPr lang="zh-CN" altLang="en-US" sz="2400" dirty="0">
              <a:solidFill>
                <a:schemeClr val="tx2"/>
              </a:solidFill>
              <a:latin typeface="楷体_GB2312" pitchFamily="49" charset="-122"/>
              <a:ea typeface="楷体_GB2312" pitchFamily="49" charset="-122"/>
            </a:endParaRPr>
          </a:p>
          <a:p>
            <a:pPr marL="358775" lvl="1" indent="-1905" eaLnBrk="1" hangingPunct="1">
              <a:lnSpc>
                <a:spcPct val="90000"/>
              </a:lnSpc>
            </a:pPr>
            <a:r>
              <a:rPr lang="en-US" altLang="zh-CN" sz="2400" dirty="0">
                <a:solidFill>
                  <a:schemeClr val="tx2"/>
                </a:solidFill>
                <a:latin typeface="楷体_GB2312" pitchFamily="49" charset="-122"/>
                <a:ea typeface="楷体_GB2312" pitchFamily="49" charset="-122"/>
              </a:rPr>
              <a:t>T5</a:t>
            </a:r>
            <a:r>
              <a:rPr lang="zh-CN" altLang="en-US" sz="2400" dirty="0">
                <a:solidFill>
                  <a:schemeClr val="tx2"/>
                </a:solidFill>
                <a:latin typeface="楷体_GB2312" pitchFamily="49" charset="-122"/>
                <a:ea typeface="楷体_GB2312" pitchFamily="49" charset="-122"/>
              </a:rPr>
              <a:t>～</a:t>
            </a:r>
            <a:r>
              <a:rPr lang="en-US" altLang="zh-CN" sz="2400" dirty="0">
                <a:solidFill>
                  <a:schemeClr val="tx2"/>
                </a:solidFill>
                <a:latin typeface="楷体_GB2312" pitchFamily="49" charset="-122"/>
                <a:ea typeface="楷体_GB2312" pitchFamily="49" charset="-122"/>
              </a:rPr>
              <a:t>T8</a:t>
            </a:r>
            <a:r>
              <a:rPr lang="zh-CN" altLang="en-US" sz="2400" dirty="0">
                <a:solidFill>
                  <a:schemeClr val="tx2"/>
                </a:solidFill>
                <a:latin typeface="楷体_GB2312" pitchFamily="49" charset="-122"/>
                <a:ea typeface="楷体_GB2312" pitchFamily="49" charset="-122"/>
              </a:rPr>
              <a:t>为控制管或开门管</a:t>
            </a:r>
            <a:endParaRPr lang="zh-CN" altLang="en-US" sz="2400" dirty="0">
              <a:solidFill>
                <a:schemeClr val="tx2"/>
              </a:solidFill>
              <a:latin typeface="楷体_GB2312" pitchFamily="49" charset="-122"/>
              <a:ea typeface="楷体_GB2312" pitchFamily="49" charset="-122"/>
            </a:endParaRPr>
          </a:p>
          <a:p>
            <a:pPr marL="541655" lvl="1" indent="-1905" eaLnBrk="1" hangingPunct="1">
              <a:lnSpc>
                <a:spcPct val="90000"/>
              </a:lnSpc>
              <a:buFont typeface="Wingdings" panose="05000000000000000000" pitchFamily="2" charset="2"/>
              <a:buNone/>
            </a:pPr>
            <a:r>
              <a:rPr lang="zh-CN" altLang="en-US" sz="2400" dirty="0">
                <a:solidFill>
                  <a:schemeClr val="tx2"/>
                </a:solidFill>
                <a:latin typeface="楷体_GB2312" pitchFamily="49" charset="-122"/>
                <a:ea typeface="楷体_GB2312" pitchFamily="49" charset="-122"/>
              </a:rPr>
              <a:t>存储信息的方法：两个稳定的状态</a:t>
            </a:r>
            <a:endParaRPr lang="zh-CN" altLang="en-US" sz="2400" dirty="0">
              <a:solidFill>
                <a:schemeClr val="tx2"/>
              </a:solidFill>
              <a:latin typeface="楷体_GB2312" pitchFamily="49" charset="-122"/>
              <a:ea typeface="楷体_GB2312" pitchFamily="49" charset="-122"/>
            </a:endParaRPr>
          </a:p>
          <a:p>
            <a:pPr marL="717550" lvl="2" indent="-271780" eaLnBrk="1" hangingPunct="1">
              <a:lnSpc>
                <a:spcPct val="90000"/>
              </a:lnSpc>
            </a:pPr>
            <a:r>
              <a:rPr lang="en-US" altLang="zh-CN" dirty="0">
                <a:solidFill>
                  <a:schemeClr val="tx2"/>
                </a:solidFill>
                <a:latin typeface="楷体_GB2312" pitchFamily="49" charset="-122"/>
                <a:ea typeface="楷体_GB2312" pitchFamily="49" charset="-122"/>
              </a:rPr>
              <a:t>T</a:t>
            </a:r>
            <a:r>
              <a:rPr lang="en-US" altLang="zh-CN" baseline="-25000" dirty="0">
                <a:solidFill>
                  <a:schemeClr val="tx2"/>
                </a:solidFill>
                <a:latin typeface="楷体_GB2312" pitchFamily="49" charset="-122"/>
                <a:ea typeface="楷体_GB2312" pitchFamily="49" charset="-122"/>
              </a:rPr>
              <a:t>1</a:t>
            </a:r>
            <a:r>
              <a:rPr lang="zh-CN" altLang="en-US" dirty="0">
                <a:solidFill>
                  <a:schemeClr val="tx2"/>
                </a:solidFill>
                <a:latin typeface="楷体_GB2312" pitchFamily="49" charset="-122"/>
                <a:ea typeface="楷体_GB2312" pitchFamily="49" charset="-122"/>
              </a:rPr>
              <a:t>截止，</a:t>
            </a:r>
            <a:r>
              <a:rPr lang="en-US" altLang="zh-CN" dirty="0">
                <a:solidFill>
                  <a:schemeClr val="tx2"/>
                </a:solidFill>
                <a:latin typeface="楷体_GB2312" pitchFamily="49" charset="-122"/>
                <a:ea typeface="楷体_GB2312" pitchFamily="49" charset="-122"/>
              </a:rPr>
              <a:t>T</a:t>
            </a:r>
            <a:r>
              <a:rPr lang="en-US" altLang="zh-CN" baseline="-25000" dirty="0">
                <a:solidFill>
                  <a:schemeClr val="tx2"/>
                </a:solidFill>
                <a:latin typeface="楷体_GB2312" pitchFamily="49" charset="-122"/>
                <a:ea typeface="楷体_GB2312" pitchFamily="49" charset="-122"/>
              </a:rPr>
              <a:t>2</a:t>
            </a:r>
            <a:r>
              <a:rPr lang="zh-CN" altLang="en-US" dirty="0">
                <a:solidFill>
                  <a:schemeClr val="tx2"/>
                </a:solidFill>
                <a:latin typeface="楷体_GB2312" pitchFamily="49" charset="-122"/>
                <a:ea typeface="楷体_GB2312" pitchFamily="49" charset="-122"/>
              </a:rPr>
              <a:t>导通，</a:t>
            </a:r>
            <a:r>
              <a:rPr lang="en-US" altLang="zh-CN" dirty="0">
                <a:solidFill>
                  <a:schemeClr val="tx2"/>
                </a:solidFill>
                <a:latin typeface="楷体_GB2312" pitchFamily="49" charset="-122"/>
                <a:ea typeface="楷体_GB2312" pitchFamily="49" charset="-122"/>
              </a:rPr>
              <a:t>A</a:t>
            </a:r>
            <a:r>
              <a:rPr lang="zh-CN" altLang="en-US" dirty="0">
                <a:solidFill>
                  <a:schemeClr val="tx2"/>
                </a:solidFill>
                <a:latin typeface="楷体_GB2312" pitchFamily="49" charset="-122"/>
                <a:ea typeface="楷体_GB2312" pitchFamily="49" charset="-122"/>
              </a:rPr>
              <a:t>点高电位，</a:t>
            </a:r>
            <a:r>
              <a:rPr lang="en-US" altLang="zh-CN" dirty="0">
                <a:solidFill>
                  <a:schemeClr val="tx2"/>
                </a:solidFill>
                <a:latin typeface="楷体_GB2312" pitchFamily="49" charset="-122"/>
                <a:ea typeface="楷体_GB2312" pitchFamily="49" charset="-122"/>
              </a:rPr>
              <a:t>B</a:t>
            </a:r>
            <a:r>
              <a:rPr lang="zh-CN" altLang="en-US" dirty="0">
                <a:solidFill>
                  <a:schemeClr val="tx2"/>
                </a:solidFill>
                <a:latin typeface="楷体_GB2312" pitchFamily="49" charset="-122"/>
                <a:ea typeface="楷体_GB2312" pitchFamily="49" charset="-122"/>
              </a:rPr>
              <a:t>点低电位</a:t>
            </a:r>
            <a:endParaRPr lang="zh-CN" altLang="en-US" dirty="0">
              <a:solidFill>
                <a:schemeClr val="tx2"/>
              </a:solidFill>
              <a:latin typeface="楷体_GB2312" pitchFamily="49" charset="-122"/>
              <a:ea typeface="楷体_GB2312" pitchFamily="49" charset="-122"/>
            </a:endParaRPr>
          </a:p>
          <a:p>
            <a:pPr marL="717550" lvl="2" indent="-271780" eaLnBrk="1" hangingPunct="1">
              <a:lnSpc>
                <a:spcPct val="90000"/>
              </a:lnSpc>
            </a:pPr>
            <a:r>
              <a:rPr lang="en-US" altLang="zh-CN" dirty="0">
                <a:solidFill>
                  <a:schemeClr val="tx2"/>
                </a:solidFill>
                <a:latin typeface="楷体_GB2312" pitchFamily="49" charset="-122"/>
                <a:ea typeface="楷体_GB2312" pitchFamily="49" charset="-122"/>
              </a:rPr>
              <a:t>T</a:t>
            </a:r>
            <a:r>
              <a:rPr lang="en-US" altLang="zh-CN" baseline="-25000" dirty="0">
                <a:solidFill>
                  <a:schemeClr val="tx2"/>
                </a:solidFill>
                <a:latin typeface="楷体_GB2312" pitchFamily="49" charset="-122"/>
                <a:ea typeface="楷体_GB2312" pitchFamily="49" charset="-122"/>
              </a:rPr>
              <a:t>2</a:t>
            </a:r>
            <a:r>
              <a:rPr lang="zh-CN" altLang="en-US" dirty="0">
                <a:solidFill>
                  <a:schemeClr val="tx2"/>
                </a:solidFill>
                <a:latin typeface="楷体_GB2312" pitchFamily="49" charset="-122"/>
                <a:ea typeface="楷体_GB2312" pitchFamily="49" charset="-122"/>
              </a:rPr>
              <a:t>截止，</a:t>
            </a:r>
            <a:r>
              <a:rPr lang="en-US" altLang="zh-CN" dirty="0">
                <a:solidFill>
                  <a:schemeClr val="tx2"/>
                </a:solidFill>
                <a:latin typeface="楷体_GB2312" pitchFamily="49" charset="-122"/>
                <a:ea typeface="楷体_GB2312" pitchFamily="49" charset="-122"/>
              </a:rPr>
              <a:t>T</a:t>
            </a:r>
            <a:r>
              <a:rPr lang="en-US" altLang="zh-CN" baseline="-25000" dirty="0">
                <a:solidFill>
                  <a:schemeClr val="tx2"/>
                </a:solidFill>
                <a:latin typeface="楷体_GB2312" pitchFamily="49" charset="-122"/>
                <a:ea typeface="楷体_GB2312" pitchFamily="49" charset="-122"/>
              </a:rPr>
              <a:t>1</a:t>
            </a:r>
            <a:r>
              <a:rPr lang="zh-CN" altLang="en-US" dirty="0">
                <a:solidFill>
                  <a:schemeClr val="tx2"/>
                </a:solidFill>
                <a:latin typeface="楷体_GB2312" pitchFamily="49" charset="-122"/>
                <a:ea typeface="楷体_GB2312" pitchFamily="49" charset="-122"/>
              </a:rPr>
              <a:t>导通，</a:t>
            </a:r>
            <a:r>
              <a:rPr lang="en-US" altLang="zh-CN" dirty="0">
                <a:solidFill>
                  <a:schemeClr val="tx2"/>
                </a:solidFill>
                <a:latin typeface="楷体_GB2312" pitchFamily="49" charset="-122"/>
                <a:ea typeface="楷体_GB2312" pitchFamily="49" charset="-122"/>
              </a:rPr>
              <a:t>B</a:t>
            </a:r>
            <a:r>
              <a:rPr lang="zh-CN" altLang="en-US" dirty="0">
                <a:solidFill>
                  <a:schemeClr val="tx2"/>
                </a:solidFill>
                <a:latin typeface="楷体_GB2312" pitchFamily="49" charset="-122"/>
                <a:ea typeface="楷体_GB2312" pitchFamily="49" charset="-122"/>
              </a:rPr>
              <a:t>点高电位，</a:t>
            </a:r>
            <a:r>
              <a:rPr lang="en-US" altLang="zh-CN" dirty="0">
                <a:solidFill>
                  <a:schemeClr val="tx2"/>
                </a:solidFill>
                <a:latin typeface="楷体_GB2312" pitchFamily="49" charset="-122"/>
                <a:ea typeface="楷体_GB2312" pitchFamily="49" charset="-122"/>
              </a:rPr>
              <a:t>A</a:t>
            </a:r>
            <a:r>
              <a:rPr lang="zh-CN" altLang="en-US" dirty="0">
                <a:solidFill>
                  <a:schemeClr val="tx2"/>
                </a:solidFill>
                <a:latin typeface="楷体_GB2312" pitchFamily="49" charset="-122"/>
                <a:ea typeface="楷体_GB2312" pitchFamily="49" charset="-122"/>
              </a:rPr>
              <a:t>点低电位</a:t>
            </a:r>
            <a:endParaRPr lang="zh-CN" altLang="en-US" dirty="0">
              <a:solidFill>
                <a:schemeClr val="tx2"/>
              </a:solidFill>
              <a:latin typeface="楷体_GB2312" pitchFamily="49" charset="-122"/>
              <a:ea typeface="楷体_GB2312" pitchFamily="49" charset="-122"/>
            </a:endParaRPr>
          </a:p>
        </p:txBody>
      </p:sp>
      <p:sp>
        <p:nvSpPr>
          <p:cNvPr id="668748" name="AutoShape 76"/>
          <p:cNvSpPr>
            <a:spLocks noChangeArrowheads="1"/>
          </p:cNvSpPr>
          <p:nvPr/>
        </p:nvSpPr>
        <p:spPr bwMode="auto">
          <a:xfrm>
            <a:off x="7519988" y="787400"/>
            <a:ext cx="1382712" cy="612775"/>
          </a:xfrm>
          <a:prstGeom prst="wedgeRoundRectCallout">
            <a:avLst>
              <a:gd name="adj1" fmla="val -46097"/>
              <a:gd name="adj2" fmla="val 82384"/>
              <a:gd name="adj3" fmla="val 16667"/>
            </a:avLst>
          </a:prstGeom>
          <a:solidFill>
            <a:srgbClr val="008000"/>
          </a:solidFill>
          <a:ln w="22225" algn="ctr">
            <a:noFill/>
            <a:miter lim="800000"/>
          </a:ln>
          <a:effectLst>
            <a:outerShdw dist="35921" dir="2700000" algn="ctr" rotWithShape="0">
              <a:schemeClr val="bg2"/>
            </a:outerShdw>
          </a:effectLst>
        </p:spPr>
        <p:txBody>
          <a:bodyPr lIns="90000" tIns="46800" rIns="90000" bIns="46800"/>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zh-CN" altLang="en-US" sz="1600" b="1">
                <a:solidFill>
                  <a:schemeClr val="bg1"/>
                </a:solidFill>
                <a:effectLst>
                  <a:outerShdw blurRad="38100" dist="38100" dir="2700000" algn="tl">
                    <a:srgbClr val="000000"/>
                  </a:outerShdw>
                </a:effectLst>
                <a:ea typeface="楷体_GB2312" pitchFamily="49" charset="-122"/>
              </a:rPr>
              <a:t>六管静态存储单元</a:t>
            </a:r>
            <a:endParaRPr lang="zh-CN" altLang="en-US" sz="1600" b="1">
              <a:solidFill>
                <a:schemeClr val="bg1"/>
              </a:solidFill>
              <a:effectLst>
                <a:outerShdw blurRad="38100" dist="38100" dir="2700000" algn="tl">
                  <a:srgbClr val="000000"/>
                </a:outerShdw>
              </a:effectLst>
              <a:ea typeface="楷体_GB2312" pitchFamily="49" charset="-122"/>
            </a:endParaRPr>
          </a:p>
        </p:txBody>
      </p:sp>
      <p:sp>
        <p:nvSpPr>
          <p:cNvPr id="60422" name="Rectangle 5"/>
          <p:cNvSpPr>
            <a:spLocks noChangeArrowheads="1"/>
          </p:cNvSpPr>
          <p:nvPr/>
        </p:nvSpPr>
        <p:spPr bwMode="auto">
          <a:xfrm>
            <a:off x="5240338" y="2155825"/>
            <a:ext cx="1524000" cy="1298575"/>
          </a:xfrm>
          <a:prstGeom prst="rect">
            <a:avLst/>
          </a:prstGeom>
          <a:solidFill>
            <a:srgbClr val="FF9900"/>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60423" name="Group 81"/>
          <p:cNvGrpSpPr/>
          <p:nvPr/>
        </p:nvGrpSpPr>
        <p:grpSpPr bwMode="auto">
          <a:xfrm>
            <a:off x="2982913" y="1652587"/>
            <a:ext cx="6197600" cy="4824413"/>
            <a:chOff x="1879" y="754"/>
            <a:chExt cx="3904" cy="3039"/>
          </a:xfrm>
        </p:grpSpPr>
        <p:sp>
          <p:nvSpPr>
            <p:cNvPr id="60425" name="Text Box 6"/>
            <p:cNvSpPr txBox="1">
              <a:spLocks noChangeArrowheads="1"/>
            </p:cNvSpPr>
            <p:nvPr/>
          </p:nvSpPr>
          <p:spPr bwMode="auto">
            <a:xfrm>
              <a:off x="3414" y="1282"/>
              <a:ext cx="7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r>
                <a:rPr lang="en-US" altLang="zh-CN" sz="2000" baseline="-25000">
                  <a:ea typeface="宋体" panose="02010600030101010101" pitchFamily="2" charset="-122"/>
                </a:rPr>
                <a:t>1</a:t>
              </a:r>
              <a:r>
                <a:rPr lang="en-US" altLang="zh-CN" sz="2400" b="0">
                  <a:ea typeface="宋体" panose="02010600030101010101" pitchFamily="2" charset="-122"/>
                </a:rPr>
                <a:t>   ~  </a:t>
              </a:r>
              <a:r>
                <a:rPr lang="en-US" altLang="zh-CN" sz="2000">
                  <a:ea typeface="宋体" panose="02010600030101010101" pitchFamily="2" charset="-122"/>
                </a:rPr>
                <a:t>T</a:t>
              </a:r>
              <a:r>
                <a:rPr lang="en-US" altLang="zh-CN" sz="2000" baseline="-25000">
                  <a:ea typeface="宋体" panose="02010600030101010101" pitchFamily="2" charset="-122"/>
                </a:rPr>
                <a:t>4</a:t>
              </a:r>
              <a:endParaRPr lang="en-US" altLang="zh-CN" sz="2000" baseline="-25000">
                <a:ea typeface="宋体" panose="02010600030101010101" pitchFamily="2" charset="-122"/>
              </a:endParaRPr>
            </a:p>
          </p:txBody>
        </p:sp>
        <p:sp>
          <p:nvSpPr>
            <p:cNvPr id="60426" name="Freeform 7"/>
            <p:cNvSpPr/>
            <p:nvPr/>
          </p:nvSpPr>
          <p:spPr bwMode="auto">
            <a:xfrm>
              <a:off x="4261" y="1470"/>
              <a:ext cx="318" cy="141"/>
            </a:xfrm>
            <a:custGeom>
              <a:avLst/>
              <a:gdLst>
                <a:gd name="T0" fmla="*/ 0 w 318"/>
                <a:gd name="T1" fmla="*/ 0 h 141"/>
                <a:gd name="T2" fmla="*/ 315 w 318"/>
                <a:gd name="T3" fmla="*/ 0 h 141"/>
                <a:gd name="T4" fmla="*/ 318 w 318"/>
                <a:gd name="T5" fmla="*/ 141 h 141"/>
                <a:gd name="T6" fmla="*/ 0 60000 65536"/>
                <a:gd name="T7" fmla="*/ 0 60000 65536"/>
                <a:gd name="T8" fmla="*/ 0 60000 65536"/>
                <a:gd name="T9" fmla="*/ 0 w 318"/>
                <a:gd name="T10" fmla="*/ 0 h 141"/>
                <a:gd name="T11" fmla="*/ 318 w 318"/>
                <a:gd name="T12" fmla="*/ 141 h 141"/>
              </a:gdLst>
              <a:ahLst/>
              <a:cxnLst>
                <a:cxn ang="T6">
                  <a:pos x="T0" y="T1"/>
                </a:cxn>
                <a:cxn ang="T7">
                  <a:pos x="T2" y="T3"/>
                </a:cxn>
                <a:cxn ang="T8">
                  <a:pos x="T4" y="T5"/>
                </a:cxn>
              </a:cxnLst>
              <a:rect l="T9" t="T10" r="T11" b="T12"/>
              <a:pathLst>
                <a:path w="318" h="141">
                  <a:moveTo>
                    <a:pt x="0" y="0"/>
                  </a:moveTo>
                  <a:lnTo>
                    <a:pt x="315" y="0"/>
                  </a:lnTo>
                  <a:lnTo>
                    <a:pt x="318" y="141"/>
                  </a:lnTo>
                </a:path>
              </a:pathLst>
            </a:custGeom>
            <a:noFill/>
            <a:ln w="38100">
              <a:solidFill>
                <a:schemeClr val="tx1"/>
              </a:solidFill>
              <a:round/>
              <a:head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0427" name="Freeform 8"/>
            <p:cNvSpPr/>
            <p:nvPr/>
          </p:nvSpPr>
          <p:spPr bwMode="auto">
            <a:xfrm>
              <a:off x="2974" y="1470"/>
              <a:ext cx="327" cy="144"/>
            </a:xfrm>
            <a:custGeom>
              <a:avLst/>
              <a:gdLst>
                <a:gd name="T0" fmla="*/ 327 w 327"/>
                <a:gd name="T1" fmla="*/ 0 h 144"/>
                <a:gd name="T2" fmla="*/ 0 w 327"/>
                <a:gd name="T3" fmla="*/ 0 h 144"/>
                <a:gd name="T4" fmla="*/ 0 w 327"/>
                <a:gd name="T5" fmla="*/ 144 h 144"/>
                <a:gd name="T6" fmla="*/ 0 60000 65536"/>
                <a:gd name="T7" fmla="*/ 0 60000 65536"/>
                <a:gd name="T8" fmla="*/ 0 60000 65536"/>
                <a:gd name="T9" fmla="*/ 0 w 327"/>
                <a:gd name="T10" fmla="*/ 0 h 144"/>
                <a:gd name="T11" fmla="*/ 327 w 327"/>
                <a:gd name="T12" fmla="*/ 144 h 144"/>
              </a:gdLst>
              <a:ahLst/>
              <a:cxnLst>
                <a:cxn ang="T6">
                  <a:pos x="T0" y="T1"/>
                </a:cxn>
                <a:cxn ang="T7">
                  <a:pos x="T2" y="T3"/>
                </a:cxn>
                <a:cxn ang="T8">
                  <a:pos x="T4" y="T5"/>
                </a:cxn>
              </a:cxnLst>
              <a:rect l="T9" t="T10" r="T11" b="T12"/>
              <a:pathLst>
                <a:path w="327" h="144">
                  <a:moveTo>
                    <a:pt x="327" y="0"/>
                  </a:moveTo>
                  <a:lnTo>
                    <a:pt x="0" y="0"/>
                  </a:lnTo>
                  <a:lnTo>
                    <a:pt x="0" y="144"/>
                  </a:lnTo>
                </a:path>
              </a:pathLst>
            </a:custGeom>
            <a:noFill/>
            <a:ln w="38100">
              <a:solidFill>
                <a:schemeClr val="tx1"/>
              </a:solidFill>
              <a:round/>
              <a:head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nvGrpSpPr>
            <p:cNvPr id="60428" name="Group 9"/>
            <p:cNvGrpSpPr/>
            <p:nvPr/>
          </p:nvGrpSpPr>
          <p:grpSpPr bwMode="auto">
            <a:xfrm>
              <a:off x="4504" y="1614"/>
              <a:ext cx="243" cy="48"/>
              <a:chOff x="3459" y="1296"/>
              <a:chExt cx="243" cy="48"/>
            </a:xfrm>
          </p:grpSpPr>
          <p:sp>
            <p:nvSpPr>
              <p:cNvPr id="60483" name="Line 10"/>
              <p:cNvSpPr>
                <a:spLocks noChangeShapeType="1"/>
              </p:cNvSpPr>
              <p:nvPr/>
            </p:nvSpPr>
            <p:spPr bwMode="auto">
              <a:xfrm>
                <a:off x="3459" y="1296"/>
                <a:ext cx="24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0484" name="Line 11"/>
              <p:cNvSpPr>
                <a:spLocks noChangeShapeType="1"/>
              </p:cNvSpPr>
              <p:nvPr/>
            </p:nvSpPr>
            <p:spPr bwMode="auto">
              <a:xfrm>
                <a:off x="3504" y="1344"/>
                <a:ext cx="14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0429" name="Group 12"/>
            <p:cNvGrpSpPr/>
            <p:nvPr/>
          </p:nvGrpSpPr>
          <p:grpSpPr bwMode="auto">
            <a:xfrm>
              <a:off x="2818" y="1614"/>
              <a:ext cx="243" cy="48"/>
              <a:chOff x="3459" y="1296"/>
              <a:chExt cx="243" cy="48"/>
            </a:xfrm>
          </p:grpSpPr>
          <p:sp>
            <p:nvSpPr>
              <p:cNvPr id="60481" name="Line 13"/>
              <p:cNvSpPr>
                <a:spLocks noChangeShapeType="1"/>
              </p:cNvSpPr>
              <p:nvPr/>
            </p:nvSpPr>
            <p:spPr bwMode="auto">
              <a:xfrm>
                <a:off x="3459" y="1296"/>
                <a:ext cx="24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0482" name="Line 14"/>
              <p:cNvSpPr>
                <a:spLocks noChangeShapeType="1"/>
              </p:cNvSpPr>
              <p:nvPr/>
            </p:nvSpPr>
            <p:spPr bwMode="auto">
              <a:xfrm>
                <a:off x="3504" y="1344"/>
                <a:ext cx="14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0430" name="Group 15"/>
            <p:cNvGrpSpPr/>
            <p:nvPr/>
          </p:nvGrpSpPr>
          <p:grpSpPr bwMode="auto">
            <a:xfrm rot="5400000">
              <a:off x="4787" y="2322"/>
              <a:ext cx="243" cy="48"/>
              <a:chOff x="3459" y="1296"/>
              <a:chExt cx="243" cy="48"/>
            </a:xfrm>
          </p:grpSpPr>
          <p:sp>
            <p:nvSpPr>
              <p:cNvPr id="60479" name="Line 16"/>
              <p:cNvSpPr>
                <a:spLocks noChangeShapeType="1"/>
              </p:cNvSpPr>
              <p:nvPr/>
            </p:nvSpPr>
            <p:spPr bwMode="auto">
              <a:xfrm>
                <a:off x="3459" y="1296"/>
                <a:ext cx="24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0480" name="Line 17"/>
              <p:cNvSpPr>
                <a:spLocks noChangeShapeType="1"/>
              </p:cNvSpPr>
              <p:nvPr/>
            </p:nvSpPr>
            <p:spPr bwMode="auto">
              <a:xfrm>
                <a:off x="3504" y="1344"/>
                <a:ext cx="14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0431" name="Group 18"/>
            <p:cNvGrpSpPr/>
            <p:nvPr/>
          </p:nvGrpSpPr>
          <p:grpSpPr bwMode="auto">
            <a:xfrm rot="-5400000">
              <a:off x="2579" y="2322"/>
              <a:ext cx="243" cy="48"/>
              <a:chOff x="3459" y="1296"/>
              <a:chExt cx="243" cy="48"/>
            </a:xfrm>
          </p:grpSpPr>
          <p:sp>
            <p:nvSpPr>
              <p:cNvPr id="60477" name="Line 19"/>
              <p:cNvSpPr>
                <a:spLocks noChangeShapeType="1"/>
              </p:cNvSpPr>
              <p:nvPr/>
            </p:nvSpPr>
            <p:spPr bwMode="auto">
              <a:xfrm>
                <a:off x="3459" y="1296"/>
                <a:ext cx="24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0478" name="Line 20"/>
              <p:cNvSpPr>
                <a:spLocks noChangeShapeType="1"/>
              </p:cNvSpPr>
              <p:nvPr/>
            </p:nvSpPr>
            <p:spPr bwMode="auto">
              <a:xfrm>
                <a:off x="3504" y="1344"/>
                <a:ext cx="14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60432" name="Line 21"/>
            <p:cNvSpPr>
              <a:spLocks noChangeShapeType="1"/>
            </p:cNvSpPr>
            <p:nvPr/>
          </p:nvSpPr>
          <p:spPr bwMode="auto">
            <a:xfrm>
              <a:off x="2725" y="2334"/>
              <a:ext cx="216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0433" name="Freeform 22"/>
            <p:cNvSpPr/>
            <p:nvPr/>
          </p:nvSpPr>
          <p:spPr bwMode="auto">
            <a:xfrm>
              <a:off x="4933" y="2382"/>
              <a:ext cx="192" cy="672"/>
            </a:xfrm>
            <a:custGeom>
              <a:avLst/>
              <a:gdLst>
                <a:gd name="T0" fmla="*/ 0 w 192"/>
                <a:gd name="T1" fmla="*/ 0 h 672"/>
                <a:gd name="T2" fmla="*/ 192 w 192"/>
                <a:gd name="T3" fmla="*/ 0 h 672"/>
                <a:gd name="T4" fmla="*/ 192 w 192"/>
                <a:gd name="T5" fmla="*/ 672 h 672"/>
                <a:gd name="T6" fmla="*/ 0 60000 65536"/>
                <a:gd name="T7" fmla="*/ 0 60000 65536"/>
                <a:gd name="T8" fmla="*/ 0 60000 65536"/>
                <a:gd name="T9" fmla="*/ 0 w 192"/>
                <a:gd name="T10" fmla="*/ 0 h 672"/>
                <a:gd name="T11" fmla="*/ 192 w 192"/>
                <a:gd name="T12" fmla="*/ 672 h 672"/>
              </a:gdLst>
              <a:ahLst/>
              <a:cxnLst>
                <a:cxn ang="T6">
                  <a:pos x="T0" y="T1"/>
                </a:cxn>
                <a:cxn ang="T7">
                  <a:pos x="T2" y="T3"/>
                </a:cxn>
                <a:cxn ang="T8">
                  <a:pos x="T4" y="T5"/>
                </a:cxn>
              </a:cxnLst>
              <a:rect l="T9" t="T10" r="T11" b="T12"/>
              <a:pathLst>
                <a:path w="192" h="672">
                  <a:moveTo>
                    <a:pt x="0" y="0"/>
                  </a:moveTo>
                  <a:lnTo>
                    <a:pt x="192" y="0"/>
                  </a:lnTo>
                  <a:lnTo>
                    <a:pt x="192" y="672"/>
                  </a:lnTo>
                </a:path>
              </a:pathLst>
            </a:custGeom>
            <a:noFill/>
            <a:ln w="38100">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0434" name="AutoShape 23"/>
            <p:cNvSpPr>
              <a:spLocks noChangeArrowheads="1"/>
            </p:cNvSpPr>
            <p:nvPr/>
          </p:nvSpPr>
          <p:spPr bwMode="auto">
            <a:xfrm rot="-5400000">
              <a:off x="3301" y="2910"/>
              <a:ext cx="288" cy="288"/>
            </a:xfrm>
            <a:prstGeom prst="triangle">
              <a:avLst>
                <a:gd name="adj" fmla="val 50000"/>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60435" name="Group 24"/>
            <p:cNvGrpSpPr/>
            <p:nvPr/>
          </p:nvGrpSpPr>
          <p:grpSpPr bwMode="auto">
            <a:xfrm>
              <a:off x="3899" y="2910"/>
              <a:ext cx="384" cy="288"/>
              <a:chOff x="1248" y="3648"/>
              <a:chExt cx="384" cy="288"/>
            </a:xfrm>
          </p:grpSpPr>
          <p:sp>
            <p:nvSpPr>
              <p:cNvPr id="60475" name="AutoShape 25"/>
              <p:cNvSpPr>
                <a:spLocks noChangeArrowheads="1"/>
              </p:cNvSpPr>
              <p:nvPr/>
            </p:nvSpPr>
            <p:spPr bwMode="auto">
              <a:xfrm rot="5400000">
                <a:off x="1248" y="3648"/>
                <a:ext cx="288" cy="288"/>
              </a:xfrm>
              <a:prstGeom prst="triangle">
                <a:avLst>
                  <a:gd name="adj" fmla="val 50000"/>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0476" name="Oval 26"/>
              <p:cNvSpPr>
                <a:spLocks noChangeArrowheads="1"/>
              </p:cNvSpPr>
              <p:nvPr/>
            </p:nvSpPr>
            <p:spPr bwMode="auto">
              <a:xfrm>
                <a:off x="1536" y="3744"/>
                <a:ext cx="96" cy="96"/>
              </a:xfrm>
              <a:prstGeom prst="ellipse">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
          <p:nvSpPr>
            <p:cNvPr id="60436" name="Line 27"/>
            <p:cNvSpPr>
              <a:spLocks noChangeShapeType="1"/>
            </p:cNvSpPr>
            <p:nvPr/>
          </p:nvSpPr>
          <p:spPr bwMode="auto">
            <a:xfrm>
              <a:off x="4309" y="3054"/>
              <a:ext cx="91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0437" name="Line 29"/>
            <p:cNvSpPr>
              <a:spLocks noChangeShapeType="1"/>
            </p:cNvSpPr>
            <p:nvPr/>
          </p:nvSpPr>
          <p:spPr bwMode="auto">
            <a:xfrm>
              <a:off x="5605" y="3054"/>
              <a:ext cx="126"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0438" name="Line 30"/>
            <p:cNvSpPr>
              <a:spLocks noChangeShapeType="1"/>
            </p:cNvSpPr>
            <p:nvPr/>
          </p:nvSpPr>
          <p:spPr bwMode="auto">
            <a:xfrm>
              <a:off x="3589" y="3054"/>
              <a:ext cx="33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0439" name="Line 31"/>
            <p:cNvSpPr>
              <a:spLocks noChangeShapeType="1"/>
            </p:cNvSpPr>
            <p:nvPr/>
          </p:nvSpPr>
          <p:spPr bwMode="auto">
            <a:xfrm>
              <a:off x="3758" y="3067"/>
              <a:ext cx="0" cy="528"/>
            </a:xfrm>
            <a:prstGeom prst="line">
              <a:avLst/>
            </a:prstGeom>
            <a:noFill/>
            <a:ln w="38100">
              <a:solidFill>
                <a:schemeClr val="tx1"/>
              </a:solidFill>
              <a:round/>
              <a:head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0440" name="Line 32"/>
            <p:cNvSpPr>
              <a:spLocks noChangeShapeType="1"/>
            </p:cNvSpPr>
            <p:nvPr/>
          </p:nvSpPr>
          <p:spPr bwMode="auto">
            <a:xfrm flipV="1">
              <a:off x="4069" y="3131"/>
              <a:ext cx="0" cy="480"/>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0441" name="Freeform 33"/>
            <p:cNvSpPr/>
            <p:nvPr/>
          </p:nvSpPr>
          <p:spPr bwMode="auto">
            <a:xfrm>
              <a:off x="3445" y="3161"/>
              <a:ext cx="624" cy="314"/>
            </a:xfrm>
            <a:custGeom>
              <a:avLst/>
              <a:gdLst>
                <a:gd name="T0" fmla="*/ 2 w 576"/>
                <a:gd name="T1" fmla="*/ 0 h 314"/>
                <a:gd name="T2" fmla="*/ 0 w 576"/>
                <a:gd name="T3" fmla="*/ 314 h 314"/>
                <a:gd name="T4" fmla="*/ 6892 w 576"/>
                <a:gd name="T5" fmla="*/ 314 h 314"/>
                <a:gd name="T6" fmla="*/ 0 60000 65536"/>
                <a:gd name="T7" fmla="*/ 0 60000 65536"/>
                <a:gd name="T8" fmla="*/ 0 60000 65536"/>
                <a:gd name="T9" fmla="*/ 0 w 576"/>
                <a:gd name="T10" fmla="*/ 0 h 314"/>
                <a:gd name="T11" fmla="*/ 576 w 576"/>
                <a:gd name="T12" fmla="*/ 314 h 314"/>
              </a:gdLst>
              <a:ahLst/>
              <a:cxnLst>
                <a:cxn ang="T6">
                  <a:pos x="T0" y="T1"/>
                </a:cxn>
                <a:cxn ang="T7">
                  <a:pos x="T2" y="T3"/>
                </a:cxn>
                <a:cxn ang="T8">
                  <a:pos x="T4" y="T5"/>
                </a:cxn>
              </a:cxnLst>
              <a:rect l="T9" t="T10" r="T11" b="T12"/>
              <a:pathLst>
                <a:path w="576" h="314">
                  <a:moveTo>
                    <a:pt x="2" y="0"/>
                  </a:moveTo>
                  <a:lnTo>
                    <a:pt x="0" y="314"/>
                  </a:lnTo>
                  <a:lnTo>
                    <a:pt x="576" y="314"/>
                  </a:lnTo>
                </a:path>
              </a:pathLst>
            </a:custGeom>
            <a:noFill/>
            <a:ln w="38100">
              <a:solidFill>
                <a:schemeClr val="tx1"/>
              </a:solidFill>
              <a:round/>
              <a:headEnd type="stealth" w="med" len="med"/>
              <a:tail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0442" name="Freeform 34"/>
            <p:cNvSpPr/>
            <p:nvPr/>
          </p:nvSpPr>
          <p:spPr bwMode="auto">
            <a:xfrm>
              <a:off x="2437" y="2382"/>
              <a:ext cx="864" cy="672"/>
            </a:xfrm>
            <a:custGeom>
              <a:avLst/>
              <a:gdLst>
                <a:gd name="T0" fmla="*/ 9275 w 768"/>
                <a:gd name="T1" fmla="*/ 0 h 720"/>
                <a:gd name="T2" fmla="*/ 0 w 768"/>
                <a:gd name="T3" fmla="*/ 0 h 720"/>
                <a:gd name="T4" fmla="*/ 0 w 768"/>
                <a:gd name="T5" fmla="*/ 85 h 720"/>
                <a:gd name="T6" fmla="*/ 29597 w 768"/>
                <a:gd name="T7" fmla="*/ 85 h 720"/>
                <a:gd name="T8" fmla="*/ 0 60000 65536"/>
                <a:gd name="T9" fmla="*/ 0 60000 65536"/>
                <a:gd name="T10" fmla="*/ 0 60000 65536"/>
                <a:gd name="T11" fmla="*/ 0 60000 65536"/>
                <a:gd name="T12" fmla="*/ 0 w 768"/>
                <a:gd name="T13" fmla="*/ 0 h 720"/>
                <a:gd name="T14" fmla="*/ 768 w 768"/>
                <a:gd name="T15" fmla="*/ 720 h 720"/>
              </a:gdLst>
              <a:ahLst/>
              <a:cxnLst>
                <a:cxn ang="T8">
                  <a:pos x="T0" y="T1"/>
                </a:cxn>
                <a:cxn ang="T9">
                  <a:pos x="T2" y="T3"/>
                </a:cxn>
                <a:cxn ang="T10">
                  <a:pos x="T4" y="T5"/>
                </a:cxn>
                <a:cxn ang="T11">
                  <a:pos x="T6" y="T7"/>
                </a:cxn>
              </a:cxnLst>
              <a:rect l="T12" t="T13" r="T14" b="T15"/>
              <a:pathLst>
                <a:path w="768" h="720">
                  <a:moveTo>
                    <a:pt x="240" y="0"/>
                  </a:moveTo>
                  <a:lnTo>
                    <a:pt x="0" y="0"/>
                  </a:lnTo>
                  <a:lnTo>
                    <a:pt x="0" y="720"/>
                  </a:lnTo>
                  <a:lnTo>
                    <a:pt x="768" y="720"/>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0443" name="Freeform 35"/>
            <p:cNvSpPr/>
            <p:nvPr/>
          </p:nvSpPr>
          <p:spPr bwMode="auto">
            <a:xfrm>
              <a:off x="2015" y="1662"/>
              <a:ext cx="2607" cy="375"/>
            </a:xfrm>
            <a:custGeom>
              <a:avLst/>
              <a:gdLst>
                <a:gd name="T0" fmla="*/ 611 w 2736"/>
                <a:gd name="T1" fmla="*/ 0 h 240"/>
                <a:gd name="T2" fmla="*/ 611 w 2736"/>
                <a:gd name="T3" fmla="*/ 244796761 h 240"/>
                <a:gd name="T4" fmla="*/ 0 w 2736"/>
                <a:gd name="T5" fmla="*/ 244796761 h 240"/>
                <a:gd name="T6" fmla="*/ 0 60000 65536"/>
                <a:gd name="T7" fmla="*/ 0 60000 65536"/>
                <a:gd name="T8" fmla="*/ 0 60000 65536"/>
                <a:gd name="T9" fmla="*/ 0 w 2736"/>
                <a:gd name="T10" fmla="*/ 0 h 240"/>
                <a:gd name="T11" fmla="*/ 2736 w 2736"/>
                <a:gd name="T12" fmla="*/ 240 h 240"/>
              </a:gdLst>
              <a:ahLst/>
              <a:cxnLst>
                <a:cxn ang="T6">
                  <a:pos x="T0" y="T1"/>
                </a:cxn>
                <a:cxn ang="T7">
                  <a:pos x="T2" y="T3"/>
                </a:cxn>
                <a:cxn ang="T8">
                  <a:pos x="T4" y="T5"/>
                </a:cxn>
              </a:cxnLst>
              <a:rect l="T9" t="T10" r="T11" b="T12"/>
              <a:pathLst>
                <a:path w="2736" h="240">
                  <a:moveTo>
                    <a:pt x="2736" y="0"/>
                  </a:moveTo>
                  <a:lnTo>
                    <a:pt x="2736" y="240"/>
                  </a:lnTo>
                  <a:lnTo>
                    <a:pt x="0" y="240"/>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0444" name="Freeform 36"/>
            <p:cNvSpPr/>
            <p:nvPr/>
          </p:nvSpPr>
          <p:spPr bwMode="auto">
            <a:xfrm>
              <a:off x="2929" y="1662"/>
              <a:ext cx="2" cy="383"/>
            </a:xfrm>
            <a:custGeom>
              <a:avLst/>
              <a:gdLst>
                <a:gd name="T0" fmla="*/ 0 w 2"/>
                <a:gd name="T1" fmla="*/ 0 h 383"/>
                <a:gd name="T2" fmla="*/ 2 w 2"/>
                <a:gd name="T3" fmla="*/ 383 h 383"/>
                <a:gd name="T4" fmla="*/ 0 60000 65536"/>
                <a:gd name="T5" fmla="*/ 0 60000 65536"/>
                <a:gd name="T6" fmla="*/ 0 w 2"/>
                <a:gd name="T7" fmla="*/ 0 h 383"/>
                <a:gd name="T8" fmla="*/ 2 w 2"/>
                <a:gd name="T9" fmla="*/ 383 h 383"/>
              </a:gdLst>
              <a:ahLst/>
              <a:cxnLst>
                <a:cxn ang="T4">
                  <a:pos x="T0" y="T1"/>
                </a:cxn>
                <a:cxn ang="T5">
                  <a:pos x="T2" y="T3"/>
                </a:cxn>
              </a:cxnLst>
              <a:rect l="T6" t="T7" r="T8" b="T9"/>
              <a:pathLst>
                <a:path w="2" h="383">
                  <a:moveTo>
                    <a:pt x="0" y="0"/>
                  </a:moveTo>
                  <a:lnTo>
                    <a:pt x="2" y="383"/>
                  </a:lnTo>
                </a:path>
              </a:pathLst>
            </a:custGeom>
            <a:noFill/>
            <a:ln w="38100">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0445" name="Freeform 37"/>
            <p:cNvSpPr/>
            <p:nvPr/>
          </p:nvSpPr>
          <p:spPr bwMode="auto">
            <a:xfrm>
              <a:off x="2015" y="2334"/>
              <a:ext cx="1766" cy="384"/>
            </a:xfrm>
            <a:custGeom>
              <a:avLst/>
              <a:gdLst>
                <a:gd name="T0" fmla="*/ 307 w 1872"/>
                <a:gd name="T1" fmla="*/ 0 h 384"/>
                <a:gd name="T2" fmla="*/ 307 w 1872"/>
                <a:gd name="T3" fmla="*/ 384 h 384"/>
                <a:gd name="T4" fmla="*/ 0 w 1872"/>
                <a:gd name="T5" fmla="*/ 384 h 384"/>
                <a:gd name="T6" fmla="*/ 0 60000 65536"/>
                <a:gd name="T7" fmla="*/ 0 60000 65536"/>
                <a:gd name="T8" fmla="*/ 0 60000 65536"/>
                <a:gd name="T9" fmla="*/ 0 w 1872"/>
                <a:gd name="T10" fmla="*/ 0 h 384"/>
                <a:gd name="T11" fmla="*/ 1872 w 1872"/>
                <a:gd name="T12" fmla="*/ 384 h 384"/>
              </a:gdLst>
              <a:ahLst/>
              <a:cxnLst>
                <a:cxn ang="T6">
                  <a:pos x="T0" y="T1"/>
                </a:cxn>
                <a:cxn ang="T7">
                  <a:pos x="T2" y="T3"/>
                </a:cxn>
                <a:cxn ang="T8">
                  <a:pos x="T4" y="T5"/>
                </a:cxn>
              </a:cxnLst>
              <a:rect l="T9" t="T10" r="T11" b="T12"/>
              <a:pathLst>
                <a:path w="1872" h="384">
                  <a:moveTo>
                    <a:pt x="1872" y="0"/>
                  </a:moveTo>
                  <a:lnTo>
                    <a:pt x="1872" y="384"/>
                  </a:lnTo>
                  <a:lnTo>
                    <a:pt x="0" y="384"/>
                  </a:lnTo>
                </a:path>
              </a:pathLst>
            </a:custGeom>
            <a:noFill/>
            <a:ln w="38100">
              <a:solidFill>
                <a:schemeClr val="tx1"/>
              </a:solidFill>
              <a:round/>
              <a:head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0446" name="Line 38"/>
            <p:cNvSpPr>
              <a:spLocks noChangeShapeType="1"/>
            </p:cNvSpPr>
            <p:nvPr/>
          </p:nvSpPr>
          <p:spPr bwMode="auto">
            <a:xfrm flipV="1">
              <a:off x="5372" y="3131"/>
              <a:ext cx="0" cy="364"/>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0447" name="Freeform 39"/>
            <p:cNvSpPr/>
            <p:nvPr/>
          </p:nvSpPr>
          <p:spPr bwMode="auto">
            <a:xfrm>
              <a:off x="2437" y="1470"/>
              <a:ext cx="459" cy="816"/>
            </a:xfrm>
            <a:custGeom>
              <a:avLst/>
              <a:gdLst>
                <a:gd name="T0" fmla="*/ 459 w 459"/>
                <a:gd name="T1" fmla="*/ 144 h 816"/>
                <a:gd name="T2" fmla="*/ 459 w 459"/>
                <a:gd name="T3" fmla="*/ 0 h 816"/>
                <a:gd name="T4" fmla="*/ 0 w 459"/>
                <a:gd name="T5" fmla="*/ 0 h 816"/>
                <a:gd name="T6" fmla="*/ 0 w 459"/>
                <a:gd name="T7" fmla="*/ 816 h 816"/>
                <a:gd name="T8" fmla="*/ 240 w 459"/>
                <a:gd name="T9" fmla="*/ 816 h 816"/>
                <a:gd name="T10" fmla="*/ 0 60000 65536"/>
                <a:gd name="T11" fmla="*/ 0 60000 65536"/>
                <a:gd name="T12" fmla="*/ 0 60000 65536"/>
                <a:gd name="T13" fmla="*/ 0 60000 65536"/>
                <a:gd name="T14" fmla="*/ 0 60000 65536"/>
                <a:gd name="T15" fmla="*/ 0 w 459"/>
                <a:gd name="T16" fmla="*/ 0 h 816"/>
                <a:gd name="T17" fmla="*/ 459 w 459"/>
                <a:gd name="T18" fmla="*/ 816 h 816"/>
              </a:gdLst>
              <a:ahLst/>
              <a:cxnLst>
                <a:cxn ang="T10">
                  <a:pos x="T0" y="T1"/>
                </a:cxn>
                <a:cxn ang="T11">
                  <a:pos x="T2" y="T3"/>
                </a:cxn>
                <a:cxn ang="T12">
                  <a:pos x="T4" y="T5"/>
                </a:cxn>
                <a:cxn ang="T13">
                  <a:pos x="T6" y="T7"/>
                </a:cxn>
                <a:cxn ang="T14">
                  <a:pos x="T8" y="T9"/>
                </a:cxn>
              </a:cxnLst>
              <a:rect l="T15" t="T16" r="T17" b="T18"/>
              <a:pathLst>
                <a:path w="459" h="816">
                  <a:moveTo>
                    <a:pt x="459" y="144"/>
                  </a:moveTo>
                  <a:lnTo>
                    <a:pt x="459" y="0"/>
                  </a:lnTo>
                  <a:lnTo>
                    <a:pt x="0" y="0"/>
                  </a:lnTo>
                  <a:lnTo>
                    <a:pt x="0" y="816"/>
                  </a:lnTo>
                  <a:lnTo>
                    <a:pt x="240" y="816"/>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0448" name="Freeform 40"/>
            <p:cNvSpPr/>
            <p:nvPr/>
          </p:nvSpPr>
          <p:spPr bwMode="auto">
            <a:xfrm>
              <a:off x="4663" y="1470"/>
              <a:ext cx="462" cy="818"/>
            </a:xfrm>
            <a:custGeom>
              <a:avLst/>
              <a:gdLst>
                <a:gd name="T0" fmla="*/ 3 w 462"/>
                <a:gd name="T1" fmla="*/ 144 h 818"/>
                <a:gd name="T2" fmla="*/ 0 w 462"/>
                <a:gd name="T3" fmla="*/ 0 h 818"/>
                <a:gd name="T4" fmla="*/ 462 w 462"/>
                <a:gd name="T5" fmla="*/ 0 h 818"/>
                <a:gd name="T6" fmla="*/ 462 w 462"/>
                <a:gd name="T7" fmla="*/ 816 h 818"/>
                <a:gd name="T8" fmla="*/ 272 w 462"/>
                <a:gd name="T9" fmla="*/ 818 h 818"/>
                <a:gd name="T10" fmla="*/ 0 60000 65536"/>
                <a:gd name="T11" fmla="*/ 0 60000 65536"/>
                <a:gd name="T12" fmla="*/ 0 60000 65536"/>
                <a:gd name="T13" fmla="*/ 0 60000 65536"/>
                <a:gd name="T14" fmla="*/ 0 60000 65536"/>
                <a:gd name="T15" fmla="*/ 0 w 462"/>
                <a:gd name="T16" fmla="*/ 0 h 818"/>
                <a:gd name="T17" fmla="*/ 462 w 462"/>
                <a:gd name="T18" fmla="*/ 818 h 818"/>
              </a:gdLst>
              <a:ahLst/>
              <a:cxnLst>
                <a:cxn ang="T10">
                  <a:pos x="T0" y="T1"/>
                </a:cxn>
                <a:cxn ang="T11">
                  <a:pos x="T2" y="T3"/>
                </a:cxn>
                <a:cxn ang="T12">
                  <a:pos x="T4" y="T5"/>
                </a:cxn>
                <a:cxn ang="T13">
                  <a:pos x="T6" y="T7"/>
                </a:cxn>
                <a:cxn ang="T14">
                  <a:pos x="T8" y="T9"/>
                </a:cxn>
              </a:cxnLst>
              <a:rect l="T15" t="T16" r="T17" b="T18"/>
              <a:pathLst>
                <a:path w="462" h="818">
                  <a:moveTo>
                    <a:pt x="3" y="144"/>
                  </a:moveTo>
                  <a:lnTo>
                    <a:pt x="0" y="0"/>
                  </a:lnTo>
                  <a:lnTo>
                    <a:pt x="462" y="0"/>
                  </a:lnTo>
                  <a:lnTo>
                    <a:pt x="462" y="816"/>
                  </a:lnTo>
                  <a:lnTo>
                    <a:pt x="272" y="818"/>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0449" name="Text Box 41"/>
            <p:cNvSpPr txBox="1">
              <a:spLocks noChangeArrowheads="1"/>
            </p:cNvSpPr>
            <p:nvPr/>
          </p:nvSpPr>
          <p:spPr bwMode="auto">
            <a:xfrm>
              <a:off x="2603" y="1460"/>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r>
                <a:rPr lang="en-US" altLang="zh-CN" sz="2000" baseline="-15000">
                  <a:ea typeface="宋体" panose="02010600030101010101" pitchFamily="2" charset="-122"/>
                </a:rPr>
                <a:t>5</a:t>
              </a:r>
              <a:endParaRPr lang="en-US" altLang="zh-CN" sz="2000" baseline="-15000">
                <a:ea typeface="宋体" panose="02010600030101010101" pitchFamily="2" charset="-122"/>
              </a:endParaRPr>
            </a:p>
          </p:txBody>
        </p:sp>
        <p:sp>
          <p:nvSpPr>
            <p:cNvPr id="60450" name="Text Box 42"/>
            <p:cNvSpPr txBox="1">
              <a:spLocks noChangeArrowheads="1"/>
            </p:cNvSpPr>
            <p:nvPr/>
          </p:nvSpPr>
          <p:spPr bwMode="auto">
            <a:xfrm>
              <a:off x="4695" y="1460"/>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r>
                <a:rPr lang="en-US" altLang="zh-CN" sz="2000" baseline="-15000">
                  <a:ea typeface="宋体" panose="02010600030101010101" pitchFamily="2" charset="-122"/>
                </a:rPr>
                <a:t>6</a:t>
              </a:r>
              <a:endParaRPr lang="en-US" altLang="zh-CN" sz="2000" baseline="-15000">
                <a:ea typeface="宋体" panose="02010600030101010101" pitchFamily="2" charset="-122"/>
              </a:endParaRPr>
            </a:p>
          </p:txBody>
        </p:sp>
        <p:sp>
          <p:nvSpPr>
            <p:cNvPr id="60451" name="Text Box 43"/>
            <p:cNvSpPr txBox="1">
              <a:spLocks noChangeArrowheads="1"/>
            </p:cNvSpPr>
            <p:nvPr/>
          </p:nvSpPr>
          <p:spPr bwMode="auto">
            <a:xfrm>
              <a:off x="2686" y="2094"/>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60452" name="Text Box 44"/>
            <p:cNvSpPr txBox="1">
              <a:spLocks noChangeArrowheads="1"/>
            </p:cNvSpPr>
            <p:nvPr/>
          </p:nvSpPr>
          <p:spPr bwMode="auto">
            <a:xfrm>
              <a:off x="2782" y="217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1400">
                  <a:ea typeface="宋体" panose="02010600030101010101" pitchFamily="2" charset="-122"/>
                </a:rPr>
                <a:t>7</a:t>
              </a:r>
              <a:endParaRPr lang="en-US" altLang="zh-CN" sz="1400">
                <a:ea typeface="宋体" panose="02010600030101010101" pitchFamily="2" charset="-122"/>
              </a:endParaRPr>
            </a:p>
          </p:txBody>
        </p:sp>
        <p:sp>
          <p:nvSpPr>
            <p:cNvPr id="60453" name="Text Box 45"/>
            <p:cNvSpPr txBox="1">
              <a:spLocks noChangeArrowheads="1"/>
            </p:cNvSpPr>
            <p:nvPr/>
          </p:nvSpPr>
          <p:spPr bwMode="auto">
            <a:xfrm>
              <a:off x="4623" y="2094"/>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60454" name="Text Box 46"/>
            <p:cNvSpPr txBox="1">
              <a:spLocks noChangeArrowheads="1"/>
            </p:cNvSpPr>
            <p:nvPr/>
          </p:nvSpPr>
          <p:spPr bwMode="auto">
            <a:xfrm>
              <a:off x="4745" y="217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1400">
                  <a:ea typeface="宋体" panose="02010600030101010101" pitchFamily="2" charset="-122"/>
                </a:rPr>
                <a:t>8</a:t>
              </a:r>
              <a:endParaRPr lang="en-US" altLang="zh-CN" sz="1400">
                <a:ea typeface="宋体" panose="02010600030101010101" pitchFamily="2" charset="-122"/>
              </a:endParaRPr>
            </a:p>
          </p:txBody>
        </p:sp>
        <p:sp>
          <p:nvSpPr>
            <p:cNvPr id="60455" name="Text Box 47"/>
            <p:cNvSpPr txBox="1">
              <a:spLocks noChangeArrowheads="1"/>
            </p:cNvSpPr>
            <p:nvPr/>
          </p:nvSpPr>
          <p:spPr bwMode="auto">
            <a:xfrm>
              <a:off x="3070" y="1230"/>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A</a:t>
              </a:r>
              <a:endParaRPr lang="en-US" altLang="zh-CN" sz="2000">
                <a:ea typeface="宋体" panose="02010600030101010101" pitchFamily="2" charset="-122"/>
                <a:cs typeface="Times New Roman" panose="02020603050405020304" pitchFamily="18" charset="0"/>
              </a:endParaRPr>
            </a:p>
          </p:txBody>
        </p:sp>
        <p:sp>
          <p:nvSpPr>
            <p:cNvPr id="60456" name="Text Box 48"/>
            <p:cNvSpPr txBox="1">
              <a:spLocks noChangeArrowheads="1"/>
            </p:cNvSpPr>
            <p:nvPr/>
          </p:nvSpPr>
          <p:spPr bwMode="auto">
            <a:xfrm>
              <a:off x="4230" y="1230"/>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B</a:t>
              </a:r>
              <a:endParaRPr lang="en-US" altLang="zh-CN" sz="2000">
                <a:ea typeface="宋体" panose="02010600030101010101" pitchFamily="2" charset="-122"/>
              </a:endParaRPr>
            </a:p>
          </p:txBody>
        </p:sp>
        <p:sp>
          <p:nvSpPr>
            <p:cNvPr id="60457" name="Text Box 49"/>
            <p:cNvSpPr txBox="1">
              <a:spLocks noChangeArrowheads="1"/>
            </p:cNvSpPr>
            <p:nvPr/>
          </p:nvSpPr>
          <p:spPr bwMode="auto">
            <a:xfrm>
              <a:off x="2797" y="2775"/>
              <a:ext cx="6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写放大器</a:t>
              </a:r>
              <a:endParaRPr lang="zh-CN" altLang="en-US" sz="1800"/>
            </a:p>
          </p:txBody>
        </p:sp>
        <p:sp>
          <p:nvSpPr>
            <p:cNvPr id="60458" name="Text Box 50"/>
            <p:cNvSpPr txBox="1">
              <a:spLocks noChangeArrowheads="1"/>
            </p:cNvSpPr>
            <p:nvPr/>
          </p:nvSpPr>
          <p:spPr bwMode="auto">
            <a:xfrm>
              <a:off x="4021" y="2775"/>
              <a:ext cx="6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写放大器</a:t>
              </a:r>
              <a:endParaRPr lang="zh-CN" altLang="en-US" sz="1800"/>
            </a:p>
          </p:txBody>
        </p:sp>
        <p:sp>
          <p:nvSpPr>
            <p:cNvPr id="60459" name="Text Box 51"/>
            <p:cNvSpPr txBox="1">
              <a:spLocks noChangeArrowheads="1"/>
            </p:cNvSpPr>
            <p:nvPr/>
          </p:nvSpPr>
          <p:spPr bwMode="auto">
            <a:xfrm>
              <a:off x="3596" y="3543"/>
              <a:ext cx="3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D</a:t>
              </a:r>
              <a:r>
                <a:rPr lang="en-US" altLang="zh-CN" sz="2000" baseline="-25000">
                  <a:ea typeface="宋体" panose="02010600030101010101" pitchFamily="2" charset="-122"/>
                </a:rPr>
                <a:t>IN</a:t>
              </a:r>
              <a:endParaRPr lang="en-US" altLang="zh-CN" sz="2000" baseline="-25000">
                <a:ea typeface="宋体" panose="02010600030101010101" pitchFamily="2" charset="-122"/>
              </a:endParaRPr>
            </a:p>
          </p:txBody>
        </p:sp>
        <p:sp>
          <p:nvSpPr>
            <p:cNvPr id="60460" name="Text Box 52"/>
            <p:cNvSpPr txBox="1">
              <a:spLocks noChangeArrowheads="1"/>
            </p:cNvSpPr>
            <p:nvPr/>
          </p:nvSpPr>
          <p:spPr bwMode="auto">
            <a:xfrm>
              <a:off x="4046" y="3486"/>
              <a:ext cx="55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写选择</a:t>
              </a:r>
              <a:endParaRPr lang="zh-CN" altLang="en-US" sz="1800"/>
            </a:p>
          </p:txBody>
        </p:sp>
        <p:sp>
          <p:nvSpPr>
            <p:cNvPr id="60461" name="Text Box 53"/>
            <p:cNvSpPr txBox="1">
              <a:spLocks noChangeArrowheads="1"/>
            </p:cNvSpPr>
            <p:nvPr/>
          </p:nvSpPr>
          <p:spPr bwMode="auto">
            <a:xfrm>
              <a:off x="5093" y="3475"/>
              <a:ext cx="55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读选择</a:t>
              </a:r>
              <a:endParaRPr lang="zh-CN" altLang="en-US" sz="1800"/>
            </a:p>
          </p:txBody>
        </p:sp>
        <p:sp>
          <p:nvSpPr>
            <p:cNvPr id="60462" name="Text Box 54"/>
            <p:cNvSpPr txBox="1">
              <a:spLocks noChangeArrowheads="1"/>
            </p:cNvSpPr>
            <p:nvPr/>
          </p:nvSpPr>
          <p:spPr bwMode="auto">
            <a:xfrm>
              <a:off x="5326" y="2772"/>
              <a:ext cx="4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D</a:t>
              </a:r>
              <a:r>
                <a:rPr lang="en-US" altLang="zh-CN" sz="2000" baseline="-25000">
                  <a:ea typeface="宋体" panose="02010600030101010101" pitchFamily="2" charset="-122"/>
                </a:rPr>
                <a:t>OUT</a:t>
              </a:r>
              <a:endParaRPr lang="en-US" altLang="zh-CN" sz="2000" baseline="-25000">
                <a:ea typeface="宋体" panose="02010600030101010101" pitchFamily="2" charset="-122"/>
              </a:endParaRPr>
            </a:p>
          </p:txBody>
        </p:sp>
        <p:sp>
          <p:nvSpPr>
            <p:cNvPr id="60463" name="Text Box 55"/>
            <p:cNvSpPr txBox="1">
              <a:spLocks noChangeArrowheads="1"/>
            </p:cNvSpPr>
            <p:nvPr/>
          </p:nvSpPr>
          <p:spPr bwMode="auto">
            <a:xfrm>
              <a:off x="4936" y="2614"/>
              <a:ext cx="75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读放大器</a:t>
              </a:r>
              <a:endParaRPr lang="zh-CN" altLang="en-US" sz="1800"/>
            </a:p>
          </p:txBody>
        </p:sp>
        <p:sp>
          <p:nvSpPr>
            <p:cNvPr id="60464" name="Text Box 56"/>
            <p:cNvSpPr txBox="1">
              <a:spLocks noChangeArrowheads="1"/>
            </p:cNvSpPr>
            <p:nvPr/>
          </p:nvSpPr>
          <p:spPr bwMode="auto">
            <a:xfrm>
              <a:off x="5221" y="1230"/>
              <a:ext cx="5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位线</a:t>
              </a:r>
              <a:r>
                <a:rPr lang="en-US" altLang="zh-CN" sz="1800"/>
                <a:t>D</a:t>
              </a:r>
              <a:endParaRPr lang="en-US" altLang="zh-CN" sz="1800">
                <a:ea typeface="宋体" panose="02010600030101010101" pitchFamily="2" charset="-122"/>
              </a:endParaRPr>
            </a:p>
          </p:txBody>
        </p:sp>
        <p:sp>
          <p:nvSpPr>
            <p:cNvPr id="60465" name="Freeform 57"/>
            <p:cNvSpPr/>
            <p:nvPr/>
          </p:nvSpPr>
          <p:spPr bwMode="auto">
            <a:xfrm>
              <a:off x="5154" y="1450"/>
              <a:ext cx="259" cy="260"/>
            </a:xfrm>
            <a:custGeom>
              <a:avLst/>
              <a:gdLst>
                <a:gd name="T0" fmla="*/ 259 w 259"/>
                <a:gd name="T1" fmla="*/ 0 h 260"/>
                <a:gd name="T2" fmla="*/ 0 w 259"/>
                <a:gd name="T3" fmla="*/ 260 h 260"/>
                <a:gd name="T4" fmla="*/ 0 60000 65536"/>
                <a:gd name="T5" fmla="*/ 0 60000 65536"/>
                <a:gd name="T6" fmla="*/ 0 w 259"/>
                <a:gd name="T7" fmla="*/ 0 h 260"/>
                <a:gd name="T8" fmla="*/ 259 w 259"/>
                <a:gd name="T9" fmla="*/ 260 h 260"/>
              </a:gdLst>
              <a:ahLst/>
              <a:cxnLst>
                <a:cxn ang="T4">
                  <a:pos x="T0" y="T1"/>
                </a:cxn>
                <a:cxn ang="T5">
                  <a:pos x="T2" y="T3"/>
                </a:cxn>
              </a:cxnLst>
              <a:rect l="T6" t="T7" r="T8" b="T9"/>
              <a:pathLst>
                <a:path w="259" h="260">
                  <a:moveTo>
                    <a:pt x="259" y="0"/>
                  </a:moveTo>
                  <a:lnTo>
                    <a:pt x="0" y="260"/>
                  </a:lnTo>
                </a:path>
              </a:pathLst>
            </a:custGeom>
            <a:noFill/>
            <a:ln w="38100">
              <a:solidFill>
                <a:schemeClr val="tx1"/>
              </a:solidFill>
              <a:round/>
              <a:tailEnd type="stealth"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60466" name="Text Box 58"/>
            <p:cNvSpPr txBox="1">
              <a:spLocks noChangeArrowheads="1"/>
            </p:cNvSpPr>
            <p:nvPr/>
          </p:nvSpPr>
          <p:spPr bwMode="auto">
            <a:xfrm>
              <a:off x="1899" y="1230"/>
              <a:ext cx="5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位线</a:t>
              </a:r>
              <a:r>
                <a:rPr lang="en-US" altLang="zh-CN" sz="1800"/>
                <a:t>D</a:t>
              </a:r>
              <a:endParaRPr lang="en-US" altLang="zh-CN" sz="1800">
                <a:ea typeface="宋体" panose="02010600030101010101" pitchFamily="2" charset="-122"/>
              </a:endParaRPr>
            </a:p>
          </p:txBody>
        </p:sp>
        <p:sp>
          <p:nvSpPr>
            <p:cNvPr id="60467" name="Line 60"/>
            <p:cNvSpPr>
              <a:spLocks noChangeShapeType="1"/>
            </p:cNvSpPr>
            <p:nvPr/>
          </p:nvSpPr>
          <p:spPr bwMode="auto">
            <a:xfrm>
              <a:off x="2149" y="1470"/>
              <a:ext cx="240" cy="240"/>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0468" name="Text Box 61"/>
            <p:cNvSpPr txBox="1">
              <a:spLocks noChangeArrowheads="1"/>
            </p:cNvSpPr>
            <p:nvPr/>
          </p:nvSpPr>
          <p:spPr bwMode="auto">
            <a:xfrm>
              <a:off x="1879" y="2282"/>
              <a:ext cx="551"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zh-CN" altLang="en-US" sz="1800"/>
                <a:t>列地址</a:t>
              </a:r>
              <a:endParaRPr lang="zh-CN" altLang="en-US" sz="1800"/>
            </a:p>
            <a:p>
              <a:pPr eaLnBrk="1" hangingPunct="1">
                <a:spcBef>
                  <a:spcPct val="0"/>
                </a:spcBef>
                <a:buClrTx/>
                <a:buFontTx/>
                <a:buNone/>
              </a:pPr>
              <a:r>
                <a:rPr lang="zh-CN" altLang="en-US" sz="1800"/>
                <a:t>选择</a:t>
              </a:r>
              <a:endParaRPr lang="zh-CN" altLang="en-US" sz="1800"/>
            </a:p>
          </p:txBody>
        </p:sp>
        <p:sp>
          <p:nvSpPr>
            <p:cNvPr id="60469" name="Text Box 62"/>
            <p:cNvSpPr txBox="1">
              <a:spLocks noChangeArrowheads="1"/>
            </p:cNvSpPr>
            <p:nvPr/>
          </p:nvSpPr>
          <p:spPr bwMode="auto">
            <a:xfrm>
              <a:off x="1879" y="1642"/>
              <a:ext cx="551"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zh-CN" altLang="en-US" sz="1800"/>
                <a:t>行地址</a:t>
              </a:r>
              <a:endParaRPr lang="zh-CN" altLang="en-US" sz="1800"/>
            </a:p>
            <a:p>
              <a:pPr eaLnBrk="1" hangingPunct="1">
                <a:spcBef>
                  <a:spcPct val="0"/>
                </a:spcBef>
                <a:buClrTx/>
                <a:buFontTx/>
                <a:buNone/>
              </a:pPr>
              <a:r>
                <a:rPr lang="zh-CN" altLang="en-US" sz="1800"/>
                <a:t>选择</a:t>
              </a:r>
              <a:endParaRPr lang="zh-CN" altLang="en-US" sz="1800"/>
            </a:p>
          </p:txBody>
        </p:sp>
        <p:sp>
          <p:nvSpPr>
            <p:cNvPr id="60470" name="Rectangle 63"/>
            <p:cNvSpPr>
              <a:spLocks noChangeArrowheads="1"/>
            </p:cNvSpPr>
            <p:nvPr/>
          </p:nvSpPr>
          <p:spPr bwMode="auto">
            <a:xfrm>
              <a:off x="2578" y="754"/>
              <a:ext cx="2400" cy="1224"/>
            </a:xfrm>
            <a:prstGeom prst="rect">
              <a:avLst/>
            </a:prstGeom>
            <a:noFill/>
            <a:ln w="19050">
              <a:solidFill>
                <a:srgbClr val="CC3300"/>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0471" name="Line 69"/>
            <p:cNvSpPr>
              <a:spLocks noChangeShapeType="1"/>
            </p:cNvSpPr>
            <p:nvPr/>
          </p:nvSpPr>
          <p:spPr bwMode="auto">
            <a:xfrm>
              <a:off x="5553" y="1278"/>
              <a:ext cx="136"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60472" name="Group 77"/>
            <p:cNvGrpSpPr/>
            <p:nvPr/>
          </p:nvGrpSpPr>
          <p:grpSpPr bwMode="auto">
            <a:xfrm>
              <a:off x="5221" y="2910"/>
              <a:ext cx="384" cy="288"/>
              <a:chOff x="1248" y="3648"/>
              <a:chExt cx="384" cy="288"/>
            </a:xfrm>
          </p:grpSpPr>
          <p:sp>
            <p:nvSpPr>
              <p:cNvPr id="60473" name="AutoShape 78"/>
              <p:cNvSpPr>
                <a:spLocks noChangeArrowheads="1"/>
              </p:cNvSpPr>
              <p:nvPr/>
            </p:nvSpPr>
            <p:spPr bwMode="auto">
              <a:xfrm rot="5400000">
                <a:off x="1248" y="3648"/>
                <a:ext cx="288" cy="288"/>
              </a:xfrm>
              <a:prstGeom prst="triangle">
                <a:avLst>
                  <a:gd name="adj" fmla="val 50000"/>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0474" name="Oval 79"/>
              <p:cNvSpPr>
                <a:spLocks noChangeArrowheads="1"/>
              </p:cNvSpPr>
              <p:nvPr/>
            </p:nvSpPr>
            <p:spPr bwMode="auto">
              <a:xfrm>
                <a:off x="1536" y="3744"/>
                <a:ext cx="96" cy="96"/>
              </a:xfrm>
              <a:prstGeom prst="ellipse">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pic>
        <p:nvPicPr>
          <p:cNvPr id="668743" name="Picture 71" descr="3"/>
          <p:cNvPicPr>
            <a:picLocks noChangeAspect="1" noChangeArrowheads="1"/>
          </p:cNvPicPr>
          <p:nvPr/>
        </p:nvPicPr>
        <p:blipFill>
          <a:blip r:embed="rId1">
            <a:extLst>
              <a:ext uri="{28A0092B-C50C-407E-A947-70E740481C1C}">
                <a14:useLocalDpi xmlns:a14="http://schemas.microsoft.com/office/drawing/2010/main" val="0"/>
              </a:ext>
            </a:extLst>
          </a:blip>
          <a:srcRect l="55582" t="13596" r="22737" b="50983"/>
          <a:stretch>
            <a:fillRect/>
          </a:stretch>
        </p:blipFill>
        <p:spPr bwMode="auto">
          <a:xfrm>
            <a:off x="5245100" y="2155825"/>
            <a:ext cx="1584325" cy="142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668743"/>
                                        </p:tgtEl>
                                        <p:attrNameLst>
                                          <p:attrName>style.visibility</p:attrName>
                                        </p:attrNameLst>
                                      </p:cBhvr>
                                      <p:to>
                                        <p:strVal val="visible"/>
                                      </p:to>
                                    </p:set>
                                    <p:anim calcmode="lin" valueType="num">
                                      <p:cBhvr additive="base">
                                        <p:cTn id="7" dur="500" fill="hold"/>
                                        <p:tgtEl>
                                          <p:spTgt spid="668743"/>
                                        </p:tgtEl>
                                        <p:attrNameLst>
                                          <p:attrName>ppt_x</p:attrName>
                                        </p:attrNameLst>
                                      </p:cBhvr>
                                      <p:tavLst>
                                        <p:tav tm="0">
                                          <p:val>
                                            <p:strVal val="1+#ppt_w/2"/>
                                          </p:val>
                                        </p:tav>
                                        <p:tav tm="100000">
                                          <p:val>
                                            <p:strVal val="#ppt_x"/>
                                          </p:val>
                                        </p:tav>
                                      </p:tavLst>
                                    </p:anim>
                                    <p:anim calcmode="lin" valueType="num">
                                      <p:cBhvr additive="base">
                                        <p:cTn id="8" dur="500" fill="hold"/>
                                        <p:tgtEl>
                                          <p:spTgt spid="6687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a:xfrm>
            <a:off x="467995" y="0"/>
            <a:ext cx="8229600" cy="1371600"/>
          </a:xfrm>
        </p:spPr>
        <p:txBody>
          <a:bodyPr/>
          <a:lstStyle/>
          <a:p>
            <a:pPr eaLnBrk="1" hangingPunct="1">
              <a:defRPr/>
            </a:pPr>
            <a:r>
              <a:rPr lang="zh-CN" altLang="en-US"/>
              <a:t>读操作</a:t>
            </a:r>
            <a:endParaRPr lang="zh-CN" altLang="en-US"/>
          </a:p>
        </p:txBody>
      </p:sp>
      <p:sp>
        <p:nvSpPr>
          <p:cNvPr id="61443" name="Rectangle 3"/>
          <p:cNvSpPr>
            <a:spLocks noGrp="1" noChangeArrowheads="1"/>
          </p:cNvSpPr>
          <p:nvPr>
            <p:ph idx="1"/>
          </p:nvPr>
        </p:nvSpPr>
        <p:spPr>
          <a:xfrm>
            <a:off x="72090" y="1114425"/>
            <a:ext cx="3095625" cy="5334000"/>
          </a:xfrm>
        </p:spPr>
        <p:txBody>
          <a:bodyPr/>
          <a:lstStyle/>
          <a:p>
            <a:pPr eaLnBrk="1" hangingPunct="1"/>
            <a:r>
              <a:rPr lang="zh-CN" altLang="en-US" dirty="0">
                <a:solidFill>
                  <a:schemeClr val="tx2"/>
                </a:solidFill>
              </a:rPr>
              <a:t>行选高电平</a:t>
            </a:r>
            <a:endParaRPr lang="zh-CN" altLang="en-US" dirty="0">
              <a:solidFill>
                <a:schemeClr val="tx2"/>
              </a:solidFill>
            </a:endParaRPr>
          </a:p>
          <a:p>
            <a:pPr lvl="1" eaLnBrk="1" hangingPunct="1">
              <a:buFont typeface="Wingdings" panose="05000000000000000000" pitchFamily="2" charset="2"/>
              <a:buNone/>
            </a:pPr>
            <a:r>
              <a:rPr lang="en-US" altLang="zh-CN" dirty="0">
                <a:solidFill>
                  <a:schemeClr val="tx2"/>
                </a:solidFill>
                <a:latin typeface="楷体_GB2312" pitchFamily="49" charset="-122"/>
                <a:ea typeface="楷体_GB2312" pitchFamily="49" charset="-122"/>
              </a:rPr>
              <a:t>T5</a:t>
            </a:r>
            <a:r>
              <a:rPr lang="zh-CN" altLang="en-US" dirty="0">
                <a:solidFill>
                  <a:schemeClr val="tx2"/>
                </a:solidFill>
                <a:latin typeface="楷体_GB2312" pitchFamily="49" charset="-122"/>
                <a:ea typeface="楷体_GB2312" pitchFamily="49" charset="-122"/>
              </a:rPr>
              <a:t>、</a:t>
            </a:r>
            <a:r>
              <a:rPr lang="en-US" altLang="zh-CN" dirty="0">
                <a:solidFill>
                  <a:schemeClr val="tx2"/>
                </a:solidFill>
                <a:latin typeface="楷体_GB2312" pitchFamily="49" charset="-122"/>
                <a:ea typeface="楷体_GB2312" pitchFamily="49" charset="-122"/>
              </a:rPr>
              <a:t>T6</a:t>
            </a:r>
            <a:r>
              <a:rPr lang="zh-CN" altLang="en-US" dirty="0">
                <a:solidFill>
                  <a:schemeClr val="tx2"/>
                </a:solidFill>
                <a:latin typeface="楷体_GB2312" pitchFamily="49" charset="-122"/>
                <a:ea typeface="楷体_GB2312" pitchFamily="49" charset="-122"/>
              </a:rPr>
              <a:t>导通</a:t>
            </a:r>
            <a:endParaRPr lang="zh-CN" altLang="en-US" dirty="0">
              <a:solidFill>
                <a:schemeClr val="tx2"/>
              </a:solidFill>
              <a:latin typeface="楷体_GB2312" pitchFamily="49" charset="-122"/>
              <a:ea typeface="楷体_GB2312" pitchFamily="49" charset="-122"/>
            </a:endParaRPr>
          </a:p>
          <a:p>
            <a:pPr eaLnBrk="1" hangingPunct="1"/>
            <a:r>
              <a:rPr lang="zh-CN" altLang="en-US" dirty="0">
                <a:solidFill>
                  <a:schemeClr val="tx2"/>
                </a:solidFill>
                <a:latin typeface="楷体_GB2312" pitchFamily="49" charset="-122"/>
              </a:rPr>
              <a:t>列选高电平</a:t>
            </a:r>
            <a:endParaRPr lang="zh-CN" altLang="en-US" dirty="0">
              <a:solidFill>
                <a:schemeClr val="tx2"/>
              </a:solidFill>
              <a:latin typeface="楷体_GB2312" pitchFamily="49" charset="-122"/>
            </a:endParaRPr>
          </a:p>
          <a:p>
            <a:pPr lvl="1" eaLnBrk="1" hangingPunct="1">
              <a:buFont typeface="Wingdings" panose="05000000000000000000" pitchFamily="2" charset="2"/>
              <a:buNone/>
            </a:pPr>
            <a:r>
              <a:rPr lang="en-US" altLang="zh-CN" dirty="0">
                <a:solidFill>
                  <a:schemeClr val="tx2"/>
                </a:solidFill>
                <a:latin typeface="楷体_GB2312" pitchFamily="49" charset="-122"/>
                <a:ea typeface="楷体_GB2312" pitchFamily="49" charset="-122"/>
              </a:rPr>
              <a:t>T7</a:t>
            </a:r>
            <a:r>
              <a:rPr lang="zh-CN" altLang="en-US" dirty="0">
                <a:solidFill>
                  <a:schemeClr val="tx2"/>
                </a:solidFill>
                <a:latin typeface="楷体_GB2312" pitchFamily="49" charset="-122"/>
                <a:ea typeface="楷体_GB2312" pitchFamily="49" charset="-122"/>
              </a:rPr>
              <a:t>、</a:t>
            </a:r>
            <a:r>
              <a:rPr lang="en-US" altLang="zh-CN" dirty="0">
                <a:solidFill>
                  <a:schemeClr val="tx2"/>
                </a:solidFill>
                <a:latin typeface="楷体_GB2312" pitchFamily="49" charset="-122"/>
                <a:ea typeface="楷体_GB2312" pitchFamily="49" charset="-122"/>
              </a:rPr>
              <a:t>T8</a:t>
            </a:r>
            <a:r>
              <a:rPr lang="zh-CN" altLang="en-US" dirty="0">
                <a:solidFill>
                  <a:schemeClr val="tx2"/>
                </a:solidFill>
                <a:latin typeface="楷体_GB2312" pitchFamily="49" charset="-122"/>
                <a:ea typeface="楷体_GB2312" pitchFamily="49" charset="-122"/>
              </a:rPr>
              <a:t>导通</a:t>
            </a:r>
            <a:endParaRPr lang="zh-CN" altLang="en-US" dirty="0">
              <a:solidFill>
                <a:schemeClr val="tx2"/>
              </a:solidFill>
              <a:latin typeface="楷体_GB2312" pitchFamily="49" charset="-122"/>
              <a:ea typeface="楷体_GB2312" pitchFamily="49" charset="-122"/>
            </a:endParaRPr>
          </a:p>
          <a:p>
            <a:pPr eaLnBrk="1" hangingPunct="1"/>
            <a:r>
              <a:rPr lang="zh-CN" altLang="en-US" dirty="0">
                <a:solidFill>
                  <a:schemeClr val="tx2"/>
                </a:solidFill>
                <a:latin typeface="楷体_GB2312" pitchFamily="49" charset="-122"/>
              </a:rPr>
              <a:t>读选择高电平</a:t>
            </a:r>
            <a:endParaRPr lang="zh-CN" altLang="en-US" dirty="0">
              <a:solidFill>
                <a:schemeClr val="tx2"/>
              </a:solidFill>
              <a:latin typeface="楷体_GB2312" pitchFamily="49" charset="-122"/>
            </a:endParaRPr>
          </a:p>
          <a:p>
            <a:pPr eaLnBrk="1" hangingPunct="1">
              <a:buFont typeface="Wingdings 2" pitchFamily="18" charset="2"/>
              <a:buNone/>
            </a:pPr>
            <a:r>
              <a:rPr lang="zh-CN" altLang="en-US" dirty="0">
                <a:solidFill>
                  <a:schemeClr val="tx2"/>
                </a:solidFill>
                <a:latin typeface="楷体_GB2312" pitchFamily="49" charset="-122"/>
              </a:rPr>
              <a:t>  </a:t>
            </a:r>
            <a:r>
              <a:rPr lang="en-US" altLang="zh-CN" dirty="0">
                <a:solidFill>
                  <a:schemeClr val="tx2"/>
                </a:solidFill>
                <a:latin typeface="楷体_GB2312" pitchFamily="49" charset="-122"/>
              </a:rPr>
              <a:t>V</a:t>
            </a:r>
            <a:r>
              <a:rPr lang="en-US" altLang="zh-CN" baseline="-25000" dirty="0">
                <a:solidFill>
                  <a:schemeClr val="tx2"/>
                </a:solidFill>
                <a:latin typeface="楷体_GB2312" pitchFamily="49" charset="-122"/>
              </a:rPr>
              <a:t>B</a:t>
            </a:r>
            <a:r>
              <a:rPr lang="en-US" altLang="zh-CN" dirty="0">
                <a:solidFill>
                  <a:schemeClr val="tx2"/>
                </a:solidFill>
                <a:latin typeface="楷体_GB2312" pitchFamily="49" charset="-122"/>
                <a:sym typeface="Wingdings 3" panose="05040102010807070707" pitchFamily="18" charset="2"/>
              </a:rPr>
              <a:t> T6 T8</a:t>
            </a:r>
            <a:endParaRPr lang="en-US" altLang="zh-CN" dirty="0">
              <a:solidFill>
                <a:schemeClr val="tx2"/>
              </a:solidFill>
              <a:latin typeface="楷体_GB2312" pitchFamily="49" charset="-122"/>
              <a:sym typeface="Wingdings 3" panose="05040102010807070707" pitchFamily="18" charset="2"/>
            </a:endParaRPr>
          </a:p>
          <a:p>
            <a:pPr eaLnBrk="1" hangingPunct="1">
              <a:buFont typeface="Wingdings 2" pitchFamily="18" charset="2"/>
              <a:buNone/>
            </a:pPr>
            <a:r>
              <a:rPr lang="en-US" altLang="zh-CN" dirty="0">
                <a:solidFill>
                  <a:schemeClr val="tx2"/>
                </a:solidFill>
                <a:latin typeface="楷体_GB2312" pitchFamily="49" charset="-122"/>
                <a:sym typeface="Wingdings 3" panose="05040102010807070707" pitchFamily="18" charset="2"/>
              </a:rPr>
              <a:t>   </a:t>
            </a:r>
            <a:r>
              <a:rPr lang="zh-CN" altLang="en-US" dirty="0">
                <a:solidFill>
                  <a:schemeClr val="tx2"/>
                </a:solidFill>
                <a:latin typeface="楷体_GB2312" pitchFamily="49" charset="-122"/>
                <a:sym typeface="Wingdings 3" panose="05040102010807070707" pitchFamily="18" charset="2"/>
              </a:rPr>
              <a:t>读放 </a:t>
            </a:r>
            <a:r>
              <a:rPr lang="en-US" altLang="zh-CN" dirty="0">
                <a:solidFill>
                  <a:schemeClr val="tx2"/>
                </a:solidFill>
                <a:latin typeface="楷体_GB2312" pitchFamily="49" charset="-122"/>
                <a:sym typeface="Wingdings 3" panose="05040102010807070707" pitchFamily="18" charset="2"/>
              </a:rPr>
              <a:t>D</a:t>
            </a:r>
            <a:r>
              <a:rPr lang="en-US" altLang="zh-CN" baseline="-25000" dirty="0">
                <a:solidFill>
                  <a:schemeClr val="tx2"/>
                </a:solidFill>
                <a:latin typeface="楷体_GB2312" pitchFamily="49" charset="-122"/>
                <a:sym typeface="Wingdings 3" panose="05040102010807070707" pitchFamily="18" charset="2"/>
              </a:rPr>
              <a:t>OUT</a:t>
            </a:r>
            <a:endParaRPr lang="en-US" altLang="zh-CN" baseline="-25000" dirty="0">
              <a:solidFill>
                <a:schemeClr val="tx2"/>
              </a:solidFill>
              <a:latin typeface="楷体_GB2312" pitchFamily="49" charset="-122"/>
              <a:sym typeface="Wingdings 3" panose="05040102010807070707" pitchFamily="18" charset="2"/>
            </a:endParaRPr>
          </a:p>
        </p:txBody>
      </p:sp>
      <p:grpSp>
        <p:nvGrpSpPr>
          <p:cNvPr id="61445" name="Group 5"/>
          <p:cNvGrpSpPr/>
          <p:nvPr/>
        </p:nvGrpSpPr>
        <p:grpSpPr bwMode="auto">
          <a:xfrm>
            <a:off x="2987675" y="1196975"/>
            <a:ext cx="6197600" cy="4824413"/>
            <a:chOff x="1882" y="754"/>
            <a:chExt cx="3904" cy="3039"/>
          </a:xfrm>
        </p:grpSpPr>
        <p:sp>
          <p:nvSpPr>
            <p:cNvPr id="61450" name="Rectangle 6"/>
            <p:cNvSpPr>
              <a:spLocks noChangeArrowheads="1"/>
            </p:cNvSpPr>
            <p:nvPr/>
          </p:nvSpPr>
          <p:spPr bwMode="auto">
            <a:xfrm>
              <a:off x="3304" y="1071"/>
              <a:ext cx="960" cy="818"/>
            </a:xfrm>
            <a:prstGeom prst="rect">
              <a:avLst/>
            </a:prstGeom>
            <a:solidFill>
              <a:srgbClr val="FF9900"/>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1451" name="Text Box 7"/>
            <p:cNvSpPr txBox="1">
              <a:spLocks noChangeArrowheads="1"/>
            </p:cNvSpPr>
            <p:nvPr/>
          </p:nvSpPr>
          <p:spPr bwMode="auto">
            <a:xfrm>
              <a:off x="3417" y="1282"/>
              <a:ext cx="7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r>
                <a:rPr lang="en-US" altLang="zh-CN" sz="2000" baseline="-25000">
                  <a:ea typeface="宋体" panose="02010600030101010101" pitchFamily="2" charset="-122"/>
                </a:rPr>
                <a:t>1</a:t>
              </a:r>
              <a:r>
                <a:rPr lang="en-US" altLang="zh-CN" sz="2400" b="0">
                  <a:ea typeface="宋体" panose="02010600030101010101" pitchFamily="2" charset="-122"/>
                </a:rPr>
                <a:t>   ~  </a:t>
              </a:r>
              <a:r>
                <a:rPr lang="en-US" altLang="zh-CN" sz="2000">
                  <a:ea typeface="宋体" panose="02010600030101010101" pitchFamily="2" charset="-122"/>
                </a:rPr>
                <a:t>T</a:t>
              </a:r>
              <a:r>
                <a:rPr lang="en-US" altLang="zh-CN" sz="2000" baseline="-25000">
                  <a:ea typeface="宋体" panose="02010600030101010101" pitchFamily="2" charset="-122"/>
                </a:rPr>
                <a:t>4</a:t>
              </a:r>
              <a:endParaRPr lang="en-US" altLang="zh-CN" sz="2000" baseline="-25000">
                <a:ea typeface="宋体" panose="02010600030101010101" pitchFamily="2" charset="-122"/>
              </a:endParaRPr>
            </a:p>
          </p:txBody>
        </p:sp>
        <p:sp>
          <p:nvSpPr>
            <p:cNvPr id="61452" name="Freeform 8"/>
            <p:cNvSpPr/>
            <p:nvPr/>
          </p:nvSpPr>
          <p:spPr bwMode="auto">
            <a:xfrm>
              <a:off x="4264" y="1470"/>
              <a:ext cx="318" cy="141"/>
            </a:xfrm>
            <a:custGeom>
              <a:avLst/>
              <a:gdLst>
                <a:gd name="T0" fmla="*/ 0 w 318"/>
                <a:gd name="T1" fmla="*/ 0 h 141"/>
                <a:gd name="T2" fmla="*/ 315 w 318"/>
                <a:gd name="T3" fmla="*/ 0 h 141"/>
                <a:gd name="T4" fmla="*/ 318 w 318"/>
                <a:gd name="T5" fmla="*/ 141 h 141"/>
                <a:gd name="T6" fmla="*/ 0 60000 65536"/>
                <a:gd name="T7" fmla="*/ 0 60000 65536"/>
                <a:gd name="T8" fmla="*/ 0 60000 65536"/>
                <a:gd name="T9" fmla="*/ 0 w 318"/>
                <a:gd name="T10" fmla="*/ 0 h 141"/>
                <a:gd name="T11" fmla="*/ 318 w 318"/>
                <a:gd name="T12" fmla="*/ 141 h 141"/>
              </a:gdLst>
              <a:ahLst/>
              <a:cxnLst>
                <a:cxn ang="T6">
                  <a:pos x="T0" y="T1"/>
                </a:cxn>
                <a:cxn ang="T7">
                  <a:pos x="T2" y="T3"/>
                </a:cxn>
                <a:cxn ang="T8">
                  <a:pos x="T4" y="T5"/>
                </a:cxn>
              </a:cxnLst>
              <a:rect l="T9" t="T10" r="T11" b="T12"/>
              <a:pathLst>
                <a:path w="318" h="141">
                  <a:moveTo>
                    <a:pt x="0" y="0"/>
                  </a:moveTo>
                  <a:lnTo>
                    <a:pt x="315" y="0"/>
                  </a:lnTo>
                  <a:lnTo>
                    <a:pt x="318" y="141"/>
                  </a:lnTo>
                </a:path>
              </a:pathLst>
            </a:custGeom>
            <a:noFill/>
            <a:ln w="38100">
              <a:solidFill>
                <a:schemeClr val="tx1"/>
              </a:solidFill>
              <a:round/>
              <a:head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1453" name="Freeform 9"/>
            <p:cNvSpPr/>
            <p:nvPr/>
          </p:nvSpPr>
          <p:spPr bwMode="auto">
            <a:xfrm>
              <a:off x="2977" y="1470"/>
              <a:ext cx="327" cy="144"/>
            </a:xfrm>
            <a:custGeom>
              <a:avLst/>
              <a:gdLst>
                <a:gd name="T0" fmla="*/ 327 w 327"/>
                <a:gd name="T1" fmla="*/ 0 h 144"/>
                <a:gd name="T2" fmla="*/ 0 w 327"/>
                <a:gd name="T3" fmla="*/ 0 h 144"/>
                <a:gd name="T4" fmla="*/ 0 w 327"/>
                <a:gd name="T5" fmla="*/ 144 h 144"/>
                <a:gd name="T6" fmla="*/ 0 60000 65536"/>
                <a:gd name="T7" fmla="*/ 0 60000 65536"/>
                <a:gd name="T8" fmla="*/ 0 60000 65536"/>
                <a:gd name="T9" fmla="*/ 0 w 327"/>
                <a:gd name="T10" fmla="*/ 0 h 144"/>
                <a:gd name="T11" fmla="*/ 327 w 327"/>
                <a:gd name="T12" fmla="*/ 144 h 144"/>
              </a:gdLst>
              <a:ahLst/>
              <a:cxnLst>
                <a:cxn ang="T6">
                  <a:pos x="T0" y="T1"/>
                </a:cxn>
                <a:cxn ang="T7">
                  <a:pos x="T2" y="T3"/>
                </a:cxn>
                <a:cxn ang="T8">
                  <a:pos x="T4" y="T5"/>
                </a:cxn>
              </a:cxnLst>
              <a:rect l="T9" t="T10" r="T11" b="T12"/>
              <a:pathLst>
                <a:path w="327" h="144">
                  <a:moveTo>
                    <a:pt x="327" y="0"/>
                  </a:moveTo>
                  <a:lnTo>
                    <a:pt x="0" y="0"/>
                  </a:lnTo>
                  <a:lnTo>
                    <a:pt x="0" y="144"/>
                  </a:lnTo>
                </a:path>
              </a:pathLst>
            </a:custGeom>
            <a:noFill/>
            <a:ln w="38100">
              <a:solidFill>
                <a:schemeClr val="tx1"/>
              </a:solidFill>
              <a:round/>
              <a:head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nvGrpSpPr>
            <p:cNvPr id="61454" name="Group 10"/>
            <p:cNvGrpSpPr/>
            <p:nvPr/>
          </p:nvGrpSpPr>
          <p:grpSpPr bwMode="auto">
            <a:xfrm>
              <a:off x="4507" y="1614"/>
              <a:ext cx="243" cy="48"/>
              <a:chOff x="3459" y="1296"/>
              <a:chExt cx="243" cy="48"/>
            </a:xfrm>
          </p:grpSpPr>
          <p:sp>
            <p:nvSpPr>
              <p:cNvPr id="61509" name="Line 11"/>
              <p:cNvSpPr>
                <a:spLocks noChangeShapeType="1"/>
              </p:cNvSpPr>
              <p:nvPr/>
            </p:nvSpPr>
            <p:spPr bwMode="auto">
              <a:xfrm>
                <a:off x="3459" y="1296"/>
                <a:ext cx="24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1510" name="Line 12"/>
              <p:cNvSpPr>
                <a:spLocks noChangeShapeType="1"/>
              </p:cNvSpPr>
              <p:nvPr/>
            </p:nvSpPr>
            <p:spPr bwMode="auto">
              <a:xfrm>
                <a:off x="3504" y="1344"/>
                <a:ext cx="14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1455" name="Group 13"/>
            <p:cNvGrpSpPr/>
            <p:nvPr/>
          </p:nvGrpSpPr>
          <p:grpSpPr bwMode="auto">
            <a:xfrm>
              <a:off x="2821" y="1614"/>
              <a:ext cx="243" cy="48"/>
              <a:chOff x="3459" y="1296"/>
              <a:chExt cx="243" cy="48"/>
            </a:xfrm>
          </p:grpSpPr>
          <p:sp>
            <p:nvSpPr>
              <p:cNvPr id="61507" name="Line 14"/>
              <p:cNvSpPr>
                <a:spLocks noChangeShapeType="1"/>
              </p:cNvSpPr>
              <p:nvPr/>
            </p:nvSpPr>
            <p:spPr bwMode="auto">
              <a:xfrm>
                <a:off x="3459" y="1296"/>
                <a:ext cx="24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1508" name="Line 15"/>
              <p:cNvSpPr>
                <a:spLocks noChangeShapeType="1"/>
              </p:cNvSpPr>
              <p:nvPr/>
            </p:nvSpPr>
            <p:spPr bwMode="auto">
              <a:xfrm>
                <a:off x="3504" y="1344"/>
                <a:ext cx="14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1456" name="Group 16"/>
            <p:cNvGrpSpPr/>
            <p:nvPr/>
          </p:nvGrpSpPr>
          <p:grpSpPr bwMode="auto">
            <a:xfrm rot="5400000">
              <a:off x="4790" y="2322"/>
              <a:ext cx="243" cy="48"/>
              <a:chOff x="3459" y="1296"/>
              <a:chExt cx="243" cy="48"/>
            </a:xfrm>
          </p:grpSpPr>
          <p:sp>
            <p:nvSpPr>
              <p:cNvPr id="61505" name="Line 17"/>
              <p:cNvSpPr>
                <a:spLocks noChangeShapeType="1"/>
              </p:cNvSpPr>
              <p:nvPr/>
            </p:nvSpPr>
            <p:spPr bwMode="auto">
              <a:xfrm>
                <a:off x="3459" y="1296"/>
                <a:ext cx="24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1506" name="Line 18"/>
              <p:cNvSpPr>
                <a:spLocks noChangeShapeType="1"/>
              </p:cNvSpPr>
              <p:nvPr/>
            </p:nvSpPr>
            <p:spPr bwMode="auto">
              <a:xfrm>
                <a:off x="3504" y="1344"/>
                <a:ext cx="14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1457" name="Group 19"/>
            <p:cNvGrpSpPr/>
            <p:nvPr/>
          </p:nvGrpSpPr>
          <p:grpSpPr bwMode="auto">
            <a:xfrm rot="-5400000">
              <a:off x="2582" y="2322"/>
              <a:ext cx="243" cy="48"/>
              <a:chOff x="3459" y="1296"/>
              <a:chExt cx="243" cy="48"/>
            </a:xfrm>
          </p:grpSpPr>
          <p:sp>
            <p:nvSpPr>
              <p:cNvPr id="61503" name="Line 20"/>
              <p:cNvSpPr>
                <a:spLocks noChangeShapeType="1"/>
              </p:cNvSpPr>
              <p:nvPr/>
            </p:nvSpPr>
            <p:spPr bwMode="auto">
              <a:xfrm>
                <a:off x="3459" y="1296"/>
                <a:ext cx="24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1504" name="Line 21"/>
              <p:cNvSpPr>
                <a:spLocks noChangeShapeType="1"/>
              </p:cNvSpPr>
              <p:nvPr/>
            </p:nvSpPr>
            <p:spPr bwMode="auto">
              <a:xfrm>
                <a:off x="3504" y="1344"/>
                <a:ext cx="14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61458" name="Line 22"/>
            <p:cNvSpPr>
              <a:spLocks noChangeShapeType="1"/>
            </p:cNvSpPr>
            <p:nvPr/>
          </p:nvSpPr>
          <p:spPr bwMode="auto">
            <a:xfrm>
              <a:off x="2728" y="2334"/>
              <a:ext cx="216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1459" name="Freeform 23"/>
            <p:cNvSpPr/>
            <p:nvPr/>
          </p:nvSpPr>
          <p:spPr bwMode="auto">
            <a:xfrm>
              <a:off x="4936" y="2382"/>
              <a:ext cx="192" cy="672"/>
            </a:xfrm>
            <a:custGeom>
              <a:avLst/>
              <a:gdLst>
                <a:gd name="T0" fmla="*/ 0 w 192"/>
                <a:gd name="T1" fmla="*/ 0 h 672"/>
                <a:gd name="T2" fmla="*/ 192 w 192"/>
                <a:gd name="T3" fmla="*/ 0 h 672"/>
                <a:gd name="T4" fmla="*/ 192 w 192"/>
                <a:gd name="T5" fmla="*/ 672 h 672"/>
                <a:gd name="T6" fmla="*/ 0 60000 65536"/>
                <a:gd name="T7" fmla="*/ 0 60000 65536"/>
                <a:gd name="T8" fmla="*/ 0 60000 65536"/>
                <a:gd name="T9" fmla="*/ 0 w 192"/>
                <a:gd name="T10" fmla="*/ 0 h 672"/>
                <a:gd name="T11" fmla="*/ 192 w 192"/>
                <a:gd name="T12" fmla="*/ 672 h 672"/>
              </a:gdLst>
              <a:ahLst/>
              <a:cxnLst>
                <a:cxn ang="T6">
                  <a:pos x="T0" y="T1"/>
                </a:cxn>
                <a:cxn ang="T7">
                  <a:pos x="T2" y="T3"/>
                </a:cxn>
                <a:cxn ang="T8">
                  <a:pos x="T4" y="T5"/>
                </a:cxn>
              </a:cxnLst>
              <a:rect l="T9" t="T10" r="T11" b="T12"/>
              <a:pathLst>
                <a:path w="192" h="672">
                  <a:moveTo>
                    <a:pt x="0" y="0"/>
                  </a:moveTo>
                  <a:lnTo>
                    <a:pt x="192" y="0"/>
                  </a:lnTo>
                  <a:lnTo>
                    <a:pt x="192" y="672"/>
                  </a:lnTo>
                </a:path>
              </a:pathLst>
            </a:custGeom>
            <a:noFill/>
            <a:ln w="38100">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1460" name="AutoShape 24"/>
            <p:cNvSpPr>
              <a:spLocks noChangeArrowheads="1"/>
            </p:cNvSpPr>
            <p:nvPr/>
          </p:nvSpPr>
          <p:spPr bwMode="auto">
            <a:xfrm rot="-5400000">
              <a:off x="3304" y="2910"/>
              <a:ext cx="288" cy="288"/>
            </a:xfrm>
            <a:prstGeom prst="triangle">
              <a:avLst>
                <a:gd name="adj" fmla="val 50000"/>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61461" name="Group 25"/>
            <p:cNvGrpSpPr/>
            <p:nvPr/>
          </p:nvGrpSpPr>
          <p:grpSpPr bwMode="auto">
            <a:xfrm>
              <a:off x="3902" y="2910"/>
              <a:ext cx="384" cy="288"/>
              <a:chOff x="1248" y="3648"/>
              <a:chExt cx="384" cy="288"/>
            </a:xfrm>
          </p:grpSpPr>
          <p:sp>
            <p:nvSpPr>
              <p:cNvPr id="61501" name="AutoShape 26"/>
              <p:cNvSpPr>
                <a:spLocks noChangeArrowheads="1"/>
              </p:cNvSpPr>
              <p:nvPr/>
            </p:nvSpPr>
            <p:spPr bwMode="auto">
              <a:xfrm rot="5400000">
                <a:off x="1248" y="3648"/>
                <a:ext cx="288" cy="288"/>
              </a:xfrm>
              <a:prstGeom prst="triangle">
                <a:avLst>
                  <a:gd name="adj" fmla="val 50000"/>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1502" name="Oval 27"/>
              <p:cNvSpPr>
                <a:spLocks noChangeArrowheads="1"/>
              </p:cNvSpPr>
              <p:nvPr/>
            </p:nvSpPr>
            <p:spPr bwMode="auto">
              <a:xfrm>
                <a:off x="1536" y="3744"/>
                <a:ext cx="96" cy="96"/>
              </a:xfrm>
              <a:prstGeom prst="ellipse">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
          <p:nvSpPr>
            <p:cNvPr id="61462" name="Line 28"/>
            <p:cNvSpPr>
              <a:spLocks noChangeShapeType="1"/>
            </p:cNvSpPr>
            <p:nvPr/>
          </p:nvSpPr>
          <p:spPr bwMode="auto">
            <a:xfrm>
              <a:off x="4312" y="3054"/>
              <a:ext cx="91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1463" name="Line 29"/>
            <p:cNvSpPr>
              <a:spLocks noChangeShapeType="1"/>
            </p:cNvSpPr>
            <p:nvPr/>
          </p:nvSpPr>
          <p:spPr bwMode="auto">
            <a:xfrm>
              <a:off x="5608" y="3054"/>
              <a:ext cx="126"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464" name="Line 30"/>
            <p:cNvSpPr>
              <a:spLocks noChangeShapeType="1"/>
            </p:cNvSpPr>
            <p:nvPr/>
          </p:nvSpPr>
          <p:spPr bwMode="auto">
            <a:xfrm>
              <a:off x="3592" y="3054"/>
              <a:ext cx="33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1465" name="Line 31"/>
            <p:cNvSpPr>
              <a:spLocks noChangeShapeType="1"/>
            </p:cNvSpPr>
            <p:nvPr/>
          </p:nvSpPr>
          <p:spPr bwMode="auto">
            <a:xfrm>
              <a:off x="3761" y="3067"/>
              <a:ext cx="0" cy="528"/>
            </a:xfrm>
            <a:prstGeom prst="line">
              <a:avLst/>
            </a:prstGeom>
            <a:noFill/>
            <a:ln w="38100">
              <a:solidFill>
                <a:schemeClr val="tx1"/>
              </a:solidFill>
              <a:round/>
              <a:head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466" name="Line 32"/>
            <p:cNvSpPr>
              <a:spLocks noChangeShapeType="1"/>
            </p:cNvSpPr>
            <p:nvPr/>
          </p:nvSpPr>
          <p:spPr bwMode="auto">
            <a:xfrm flipV="1">
              <a:off x="4072" y="3131"/>
              <a:ext cx="0" cy="480"/>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467" name="Freeform 33"/>
            <p:cNvSpPr/>
            <p:nvPr/>
          </p:nvSpPr>
          <p:spPr bwMode="auto">
            <a:xfrm>
              <a:off x="3448" y="3161"/>
              <a:ext cx="624" cy="314"/>
            </a:xfrm>
            <a:custGeom>
              <a:avLst/>
              <a:gdLst>
                <a:gd name="T0" fmla="*/ 2 w 576"/>
                <a:gd name="T1" fmla="*/ 0 h 314"/>
                <a:gd name="T2" fmla="*/ 0 w 576"/>
                <a:gd name="T3" fmla="*/ 314 h 314"/>
                <a:gd name="T4" fmla="*/ 6892 w 576"/>
                <a:gd name="T5" fmla="*/ 314 h 314"/>
                <a:gd name="T6" fmla="*/ 0 60000 65536"/>
                <a:gd name="T7" fmla="*/ 0 60000 65536"/>
                <a:gd name="T8" fmla="*/ 0 60000 65536"/>
                <a:gd name="T9" fmla="*/ 0 w 576"/>
                <a:gd name="T10" fmla="*/ 0 h 314"/>
                <a:gd name="T11" fmla="*/ 576 w 576"/>
                <a:gd name="T12" fmla="*/ 314 h 314"/>
              </a:gdLst>
              <a:ahLst/>
              <a:cxnLst>
                <a:cxn ang="T6">
                  <a:pos x="T0" y="T1"/>
                </a:cxn>
                <a:cxn ang="T7">
                  <a:pos x="T2" y="T3"/>
                </a:cxn>
                <a:cxn ang="T8">
                  <a:pos x="T4" y="T5"/>
                </a:cxn>
              </a:cxnLst>
              <a:rect l="T9" t="T10" r="T11" b="T12"/>
              <a:pathLst>
                <a:path w="576" h="314">
                  <a:moveTo>
                    <a:pt x="2" y="0"/>
                  </a:moveTo>
                  <a:lnTo>
                    <a:pt x="0" y="314"/>
                  </a:lnTo>
                  <a:lnTo>
                    <a:pt x="576" y="314"/>
                  </a:lnTo>
                </a:path>
              </a:pathLst>
            </a:custGeom>
            <a:noFill/>
            <a:ln w="38100">
              <a:solidFill>
                <a:schemeClr val="tx1"/>
              </a:solidFill>
              <a:round/>
              <a:headEnd type="stealth" w="med" len="med"/>
              <a:tail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1468" name="Freeform 34"/>
            <p:cNvSpPr/>
            <p:nvPr/>
          </p:nvSpPr>
          <p:spPr bwMode="auto">
            <a:xfrm>
              <a:off x="2440" y="2382"/>
              <a:ext cx="864" cy="672"/>
            </a:xfrm>
            <a:custGeom>
              <a:avLst/>
              <a:gdLst>
                <a:gd name="T0" fmla="*/ 9275 w 768"/>
                <a:gd name="T1" fmla="*/ 0 h 720"/>
                <a:gd name="T2" fmla="*/ 0 w 768"/>
                <a:gd name="T3" fmla="*/ 0 h 720"/>
                <a:gd name="T4" fmla="*/ 0 w 768"/>
                <a:gd name="T5" fmla="*/ 85 h 720"/>
                <a:gd name="T6" fmla="*/ 29597 w 768"/>
                <a:gd name="T7" fmla="*/ 85 h 720"/>
                <a:gd name="T8" fmla="*/ 0 60000 65536"/>
                <a:gd name="T9" fmla="*/ 0 60000 65536"/>
                <a:gd name="T10" fmla="*/ 0 60000 65536"/>
                <a:gd name="T11" fmla="*/ 0 60000 65536"/>
                <a:gd name="T12" fmla="*/ 0 w 768"/>
                <a:gd name="T13" fmla="*/ 0 h 720"/>
                <a:gd name="T14" fmla="*/ 768 w 768"/>
                <a:gd name="T15" fmla="*/ 720 h 720"/>
              </a:gdLst>
              <a:ahLst/>
              <a:cxnLst>
                <a:cxn ang="T8">
                  <a:pos x="T0" y="T1"/>
                </a:cxn>
                <a:cxn ang="T9">
                  <a:pos x="T2" y="T3"/>
                </a:cxn>
                <a:cxn ang="T10">
                  <a:pos x="T4" y="T5"/>
                </a:cxn>
                <a:cxn ang="T11">
                  <a:pos x="T6" y="T7"/>
                </a:cxn>
              </a:cxnLst>
              <a:rect l="T12" t="T13" r="T14" b="T15"/>
              <a:pathLst>
                <a:path w="768" h="720">
                  <a:moveTo>
                    <a:pt x="240" y="0"/>
                  </a:moveTo>
                  <a:lnTo>
                    <a:pt x="0" y="0"/>
                  </a:lnTo>
                  <a:lnTo>
                    <a:pt x="0" y="720"/>
                  </a:lnTo>
                  <a:lnTo>
                    <a:pt x="768" y="720"/>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1469" name="Freeform 35"/>
            <p:cNvSpPr/>
            <p:nvPr/>
          </p:nvSpPr>
          <p:spPr bwMode="auto">
            <a:xfrm>
              <a:off x="2018" y="1662"/>
              <a:ext cx="2607" cy="375"/>
            </a:xfrm>
            <a:custGeom>
              <a:avLst/>
              <a:gdLst>
                <a:gd name="T0" fmla="*/ 611 w 2736"/>
                <a:gd name="T1" fmla="*/ 0 h 240"/>
                <a:gd name="T2" fmla="*/ 611 w 2736"/>
                <a:gd name="T3" fmla="*/ 244796761 h 240"/>
                <a:gd name="T4" fmla="*/ 0 w 2736"/>
                <a:gd name="T5" fmla="*/ 244796761 h 240"/>
                <a:gd name="T6" fmla="*/ 0 60000 65536"/>
                <a:gd name="T7" fmla="*/ 0 60000 65536"/>
                <a:gd name="T8" fmla="*/ 0 60000 65536"/>
                <a:gd name="T9" fmla="*/ 0 w 2736"/>
                <a:gd name="T10" fmla="*/ 0 h 240"/>
                <a:gd name="T11" fmla="*/ 2736 w 2736"/>
                <a:gd name="T12" fmla="*/ 240 h 240"/>
              </a:gdLst>
              <a:ahLst/>
              <a:cxnLst>
                <a:cxn ang="T6">
                  <a:pos x="T0" y="T1"/>
                </a:cxn>
                <a:cxn ang="T7">
                  <a:pos x="T2" y="T3"/>
                </a:cxn>
                <a:cxn ang="T8">
                  <a:pos x="T4" y="T5"/>
                </a:cxn>
              </a:cxnLst>
              <a:rect l="T9" t="T10" r="T11" b="T12"/>
              <a:pathLst>
                <a:path w="2736" h="240">
                  <a:moveTo>
                    <a:pt x="2736" y="0"/>
                  </a:moveTo>
                  <a:lnTo>
                    <a:pt x="2736" y="240"/>
                  </a:lnTo>
                  <a:lnTo>
                    <a:pt x="0" y="240"/>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1470" name="Freeform 36"/>
            <p:cNvSpPr/>
            <p:nvPr/>
          </p:nvSpPr>
          <p:spPr bwMode="auto">
            <a:xfrm>
              <a:off x="2932" y="1662"/>
              <a:ext cx="2" cy="383"/>
            </a:xfrm>
            <a:custGeom>
              <a:avLst/>
              <a:gdLst>
                <a:gd name="T0" fmla="*/ 0 w 2"/>
                <a:gd name="T1" fmla="*/ 0 h 383"/>
                <a:gd name="T2" fmla="*/ 2 w 2"/>
                <a:gd name="T3" fmla="*/ 383 h 383"/>
                <a:gd name="T4" fmla="*/ 0 60000 65536"/>
                <a:gd name="T5" fmla="*/ 0 60000 65536"/>
                <a:gd name="T6" fmla="*/ 0 w 2"/>
                <a:gd name="T7" fmla="*/ 0 h 383"/>
                <a:gd name="T8" fmla="*/ 2 w 2"/>
                <a:gd name="T9" fmla="*/ 383 h 383"/>
              </a:gdLst>
              <a:ahLst/>
              <a:cxnLst>
                <a:cxn ang="T4">
                  <a:pos x="T0" y="T1"/>
                </a:cxn>
                <a:cxn ang="T5">
                  <a:pos x="T2" y="T3"/>
                </a:cxn>
              </a:cxnLst>
              <a:rect l="T6" t="T7" r="T8" b="T9"/>
              <a:pathLst>
                <a:path w="2" h="383">
                  <a:moveTo>
                    <a:pt x="0" y="0"/>
                  </a:moveTo>
                  <a:lnTo>
                    <a:pt x="2" y="383"/>
                  </a:lnTo>
                </a:path>
              </a:pathLst>
            </a:custGeom>
            <a:noFill/>
            <a:ln w="38100">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1471" name="Freeform 37"/>
            <p:cNvSpPr/>
            <p:nvPr/>
          </p:nvSpPr>
          <p:spPr bwMode="auto">
            <a:xfrm>
              <a:off x="2018" y="2334"/>
              <a:ext cx="1766" cy="384"/>
            </a:xfrm>
            <a:custGeom>
              <a:avLst/>
              <a:gdLst>
                <a:gd name="T0" fmla="*/ 307 w 1872"/>
                <a:gd name="T1" fmla="*/ 0 h 384"/>
                <a:gd name="T2" fmla="*/ 307 w 1872"/>
                <a:gd name="T3" fmla="*/ 384 h 384"/>
                <a:gd name="T4" fmla="*/ 0 w 1872"/>
                <a:gd name="T5" fmla="*/ 384 h 384"/>
                <a:gd name="T6" fmla="*/ 0 60000 65536"/>
                <a:gd name="T7" fmla="*/ 0 60000 65536"/>
                <a:gd name="T8" fmla="*/ 0 60000 65536"/>
                <a:gd name="T9" fmla="*/ 0 w 1872"/>
                <a:gd name="T10" fmla="*/ 0 h 384"/>
                <a:gd name="T11" fmla="*/ 1872 w 1872"/>
                <a:gd name="T12" fmla="*/ 384 h 384"/>
              </a:gdLst>
              <a:ahLst/>
              <a:cxnLst>
                <a:cxn ang="T6">
                  <a:pos x="T0" y="T1"/>
                </a:cxn>
                <a:cxn ang="T7">
                  <a:pos x="T2" y="T3"/>
                </a:cxn>
                <a:cxn ang="T8">
                  <a:pos x="T4" y="T5"/>
                </a:cxn>
              </a:cxnLst>
              <a:rect l="T9" t="T10" r="T11" b="T12"/>
              <a:pathLst>
                <a:path w="1872" h="384">
                  <a:moveTo>
                    <a:pt x="1872" y="0"/>
                  </a:moveTo>
                  <a:lnTo>
                    <a:pt x="1872" y="384"/>
                  </a:lnTo>
                  <a:lnTo>
                    <a:pt x="0" y="384"/>
                  </a:lnTo>
                </a:path>
              </a:pathLst>
            </a:custGeom>
            <a:noFill/>
            <a:ln w="38100">
              <a:solidFill>
                <a:schemeClr val="tx1"/>
              </a:solidFill>
              <a:round/>
              <a:head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1472" name="Line 38"/>
            <p:cNvSpPr>
              <a:spLocks noChangeShapeType="1"/>
            </p:cNvSpPr>
            <p:nvPr/>
          </p:nvSpPr>
          <p:spPr bwMode="auto">
            <a:xfrm flipV="1">
              <a:off x="5375" y="3131"/>
              <a:ext cx="0" cy="364"/>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1473" name="Freeform 39"/>
            <p:cNvSpPr/>
            <p:nvPr/>
          </p:nvSpPr>
          <p:spPr bwMode="auto">
            <a:xfrm>
              <a:off x="2440" y="1470"/>
              <a:ext cx="459" cy="816"/>
            </a:xfrm>
            <a:custGeom>
              <a:avLst/>
              <a:gdLst>
                <a:gd name="T0" fmla="*/ 459 w 459"/>
                <a:gd name="T1" fmla="*/ 144 h 816"/>
                <a:gd name="T2" fmla="*/ 459 w 459"/>
                <a:gd name="T3" fmla="*/ 0 h 816"/>
                <a:gd name="T4" fmla="*/ 0 w 459"/>
                <a:gd name="T5" fmla="*/ 0 h 816"/>
                <a:gd name="T6" fmla="*/ 0 w 459"/>
                <a:gd name="T7" fmla="*/ 816 h 816"/>
                <a:gd name="T8" fmla="*/ 240 w 459"/>
                <a:gd name="T9" fmla="*/ 816 h 816"/>
                <a:gd name="T10" fmla="*/ 0 60000 65536"/>
                <a:gd name="T11" fmla="*/ 0 60000 65536"/>
                <a:gd name="T12" fmla="*/ 0 60000 65536"/>
                <a:gd name="T13" fmla="*/ 0 60000 65536"/>
                <a:gd name="T14" fmla="*/ 0 60000 65536"/>
                <a:gd name="T15" fmla="*/ 0 w 459"/>
                <a:gd name="T16" fmla="*/ 0 h 816"/>
                <a:gd name="T17" fmla="*/ 459 w 459"/>
                <a:gd name="T18" fmla="*/ 816 h 816"/>
              </a:gdLst>
              <a:ahLst/>
              <a:cxnLst>
                <a:cxn ang="T10">
                  <a:pos x="T0" y="T1"/>
                </a:cxn>
                <a:cxn ang="T11">
                  <a:pos x="T2" y="T3"/>
                </a:cxn>
                <a:cxn ang="T12">
                  <a:pos x="T4" y="T5"/>
                </a:cxn>
                <a:cxn ang="T13">
                  <a:pos x="T6" y="T7"/>
                </a:cxn>
                <a:cxn ang="T14">
                  <a:pos x="T8" y="T9"/>
                </a:cxn>
              </a:cxnLst>
              <a:rect l="T15" t="T16" r="T17" b="T18"/>
              <a:pathLst>
                <a:path w="459" h="816">
                  <a:moveTo>
                    <a:pt x="459" y="144"/>
                  </a:moveTo>
                  <a:lnTo>
                    <a:pt x="459" y="0"/>
                  </a:lnTo>
                  <a:lnTo>
                    <a:pt x="0" y="0"/>
                  </a:lnTo>
                  <a:lnTo>
                    <a:pt x="0" y="816"/>
                  </a:lnTo>
                  <a:lnTo>
                    <a:pt x="240" y="816"/>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1474" name="Freeform 40"/>
            <p:cNvSpPr/>
            <p:nvPr/>
          </p:nvSpPr>
          <p:spPr bwMode="auto">
            <a:xfrm>
              <a:off x="4666" y="1470"/>
              <a:ext cx="462" cy="818"/>
            </a:xfrm>
            <a:custGeom>
              <a:avLst/>
              <a:gdLst>
                <a:gd name="T0" fmla="*/ 3 w 462"/>
                <a:gd name="T1" fmla="*/ 144 h 818"/>
                <a:gd name="T2" fmla="*/ 0 w 462"/>
                <a:gd name="T3" fmla="*/ 0 h 818"/>
                <a:gd name="T4" fmla="*/ 462 w 462"/>
                <a:gd name="T5" fmla="*/ 0 h 818"/>
                <a:gd name="T6" fmla="*/ 462 w 462"/>
                <a:gd name="T7" fmla="*/ 816 h 818"/>
                <a:gd name="T8" fmla="*/ 272 w 462"/>
                <a:gd name="T9" fmla="*/ 818 h 818"/>
                <a:gd name="T10" fmla="*/ 0 60000 65536"/>
                <a:gd name="T11" fmla="*/ 0 60000 65536"/>
                <a:gd name="T12" fmla="*/ 0 60000 65536"/>
                <a:gd name="T13" fmla="*/ 0 60000 65536"/>
                <a:gd name="T14" fmla="*/ 0 60000 65536"/>
                <a:gd name="T15" fmla="*/ 0 w 462"/>
                <a:gd name="T16" fmla="*/ 0 h 818"/>
                <a:gd name="T17" fmla="*/ 462 w 462"/>
                <a:gd name="T18" fmla="*/ 818 h 818"/>
              </a:gdLst>
              <a:ahLst/>
              <a:cxnLst>
                <a:cxn ang="T10">
                  <a:pos x="T0" y="T1"/>
                </a:cxn>
                <a:cxn ang="T11">
                  <a:pos x="T2" y="T3"/>
                </a:cxn>
                <a:cxn ang="T12">
                  <a:pos x="T4" y="T5"/>
                </a:cxn>
                <a:cxn ang="T13">
                  <a:pos x="T6" y="T7"/>
                </a:cxn>
                <a:cxn ang="T14">
                  <a:pos x="T8" y="T9"/>
                </a:cxn>
              </a:cxnLst>
              <a:rect l="T15" t="T16" r="T17" b="T18"/>
              <a:pathLst>
                <a:path w="462" h="818">
                  <a:moveTo>
                    <a:pt x="3" y="144"/>
                  </a:moveTo>
                  <a:lnTo>
                    <a:pt x="0" y="0"/>
                  </a:lnTo>
                  <a:lnTo>
                    <a:pt x="462" y="0"/>
                  </a:lnTo>
                  <a:lnTo>
                    <a:pt x="462" y="816"/>
                  </a:lnTo>
                  <a:lnTo>
                    <a:pt x="272" y="818"/>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1475" name="Text Box 41"/>
            <p:cNvSpPr txBox="1">
              <a:spLocks noChangeArrowheads="1"/>
            </p:cNvSpPr>
            <p:nvPr/>
          </p:nvSpPr>
          <p:spPr bwMode="auto">
            <a:xfrm>
              <a:off x="2606" y="1460"/>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r>
                <a:rPr lang="en-US" altLang="zh-CN" sz="2000" baseline="-15000">
                  <a:ea typeface="宋体" panose="02010600030101010101" pitchFamily="2" charset="-122"/>
                </a:rPr>
                <a:t>5</a:t>
              </a:r>
              <a:endParaRPr lang="en-US" altLang="zh-CN" sz="2000" baseline="-15000">
                <a:ea typeface="宋体" panose="02010600030101010101" pitchFamily="2" charset="-122"/>
              </a:endParaRPr>
            </a:p>
          </p:txBody>
        </p:sp>
        <p:sp>
          <p:nvSpPr>
            <p:cNvPr id="61476" name="Text Box 42"/>
            <p:cNvSpPr txBox="1">
              <a:spLocks noChangeArrowheads="1"/>
            </p:cNvSpPr>
            <p:nvPr/>
          </p:nvSpPr>
          <p:spPr bwMode="auto">
            <a:xfrm>
              <a:off x="4698" y="1460"/>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r>
                <a:rPr lang="en-US" altLang="zh-CN" sz="2000" baseline="-15000">
                  <a:ea typeface="宋体" panose="02010600030101010101" pitchFamily="2" charset="-122"/>
                </a:rPr>
                <a:t>6</a:t>
              </a:r>
              <a:endParaRPr lang="en-US" altLang="zh-CN" sz="2000" baseline="-15000">
                <a:ea typeface="宋体" panose="02010600030101010101" pitchFamily="2" charset="-122"/>
              </a:endParaRPr>
            </a:p>
          </p:txBody>
        </p:sp>
        <p:sp>
          <p:nvSpPr>
            <p:cNvPr id="61477" name="Text Box 43"/>
            <p:cNvSpPr txBox="1">
              <a:spLocks noChangeArrowheads="1"/>
            </p:cNvSpPr>
            <p:nvPr/>
          </p:nvSpPr>
          <p:spPr bwMode="auto">
            <a:xfrm>
              <a:off x="2689" y="2094"/>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61478" name="Text Box 44"/>
            <p:cNvSpPr txBox="1">
              <a:spLocks noChangeArrowheads="1"/>
            </p:cNvSpPr>
            <p:nvPr/>
          </p:nvSpPr>
          <p:spPr bwMode="auto">
            <a:xfrm>
              <a:off x="2785" y="217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1400">
                  <a:ea typeface="宋体" panose="02010600030101010101" pitchFamily="2" charset="-122"/>
                </a:rPr>
                <a:t>7</a:t>
              </a:r>
              <a:endParaRPr lang="en-US" altLang="zh-CN" sz="1400">
                <a:ea typeface="宋体" panose="02010600030101010101" pitchFamily="2" charset="-122"/>
              </a:endParaRPr>
            </a:p>
          </p:txBody>
        </p:sp>
        <p:sp>
          <p:nvSpPr>
            <p:cNvPr id="61479" name="Text Box 45"/>
            <p:cNvSpPr txBox="1">
              <a:spLocks noChangeArrowheads="1"/>
            </p:cNvSpPr>
            <p:nvPr/>
          </p:nvSpPr>
          <p:spPr bwMode="auto">
            <a:xfrm>
              <a:off x="4626" y="2094"/>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61480" name="Text Box 46"/>
            <p:cNvSpPr txBox="1">
              <a:spLocks noChangeArrowheads="1"/>
            </p:cNvSpPr>
            <p:nvPr/>
          </p:nvSpPr>
          <p:spPr bwMode="auto">
            <a:xfrm>
              <a:off x="4748" y="217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1400">
                  <a:ea typeface="宋体" panose="02010600030101010101" pitchFamily="2" charset="-122"/>
                </a:rPr>
                <a:t>8</a:t>
              </a:r>
              <a:endParaRPr lang="en-US" altLang="zh-CN" sz="1400">
                <a:ea typeface="宋体" panose="02010600030101010101" pitchFamily="2" charset="-122"/>
              </a:endParaRPr>
            </a:p>
          </p:txBody>
        </p:sp>
        <p:sp>
          <p:nvSpPr>
            <p:cNvPr id="61481" name="Text Box 47"/>
            <p:cNvSpPr txBox="1">
              <a:spLocks noChangeArrowheads="1"/>
            </p:cNvSpPr>
            <p:nvPr/>
          </p:nvSpPr>
          <p:spPr bwMode="auto">
            <a:xfrm>
              <a:off x="3073" y="1230"/>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A</a:t>
              </a:r>
              <a:endParaRPr lang="en-US" altLang="zh-CN" sz="2000">
                <a:ea typeface="宋体" panose="02010600030101010101" pitchFamily="2" charset="-122"/>
                <a:cs typeface="Times New Roman" panose="02020603050405020304" pitchFamily="18" charset="0"/>
              </a:endParaRPr>
            </a:p>
          </p:txBody>
        </p:sp>
        <p:sp>
          <p:nvSpPr>
            <p:cNvPr id="61482" name="Text Box 48"/>
            <p:cNvSpPr txBox="1">
              <a:spLocks noChangeArrowheads="1"/>
            </p:cNvSpPr>
            <p:nvPr/>
          </p:nvSpPr>
          <p:spPr bwMode="auto">
            <a:xfrm>
              <a:off x="4233" y="1230"/>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B</a:t>
              </a:r>
              <a:endParaRPr lang="en-US" altLang="zh-CN" sz="2000">
                <a:ea typeface="宋体" panose="02010600030101010101" pitchFamily="2" charset="-122"/>
              </a:endParaRPr>
            </a:p>
          </p:txBody>
        </p:sp>
        <p:sp>
          <p:nvSpPr>
            <p:cNvPr id="61483" name="Text Box 49"/>
            <p:cNvSpPr txBox="1">
              <a:spLocks noChangeArrowheads="1"/>
            </p:cNvSpPr>
            <p:nvPr/>
          </p:nvSpPr>
          <p:spPr bwMode="auto">
            <a:xfrm>
              <a:off x="2800" y="2775"/>
              <a:ext cx="6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写放大器</a:t>
              </a:r>
              <a:endParaRPr lang="zh-CN" altLang="en-US" sz="1800"/>
            </a:p>
          </p:txBody>
        </p:sp>
        <p:sp>
          <p:nvSpPr>
            <p:cNvPr id="61484" name="Text Box 50"/>
            <p:cNvSpPr txBox="1">
              <a:spLocks noChangeArrowheads="1"/>
            </p:cNvSpPr>
            <p:nvPr/>
          </p:nvSpPr>
          <p:spPr bwMode="auto">
            <a:xfrm>
              <a:off x="4024" y="2775"/>
              <a:ext cx="6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写放大器</a:t>
              </a:r>
              <a:endParaRPr lang="zh-CN" altLang="en-US" sz="1800"/>
            </a:p>
          </p:txBody>
        </p:sp>
        <p:sp>
          <p:nvSpPr>
            <p:cNvPr id="61485" name="Text Box 51"/>
            <p:cNvSpPr txBox="1">
              <a:spLocks noChangeArrowheads="1"/>
            </p:cNvSpPr>
            <p:nvPr/>
          </p:nvSpPr>
          <p:spPr bwMode="auto">
            <a:xfrm>
              <a:off x="3599" y="3543"/>
              <a:ext cx="3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D</a:t>
              </a:r>
              <a:r>
                <a:rPr lang="en-US" altLang="zh-CN" sz="2000" baseline="-25000">
                  <a:ea typeface="宋体" panose="02010600030101010101" pitchFamily="2" charset="-122"/>
                </a:rPr>
                <a:t>IN</a:t>
              </a:r>
              <a:endParaRPr lang="en-US" altLang="zh-CN" sz="2000" baseline="-25000">
                <a:ea typeface="宋体" panose="02010600030101010101" pitchFamily="2" charset="-122"/>
              </a:endParaRPr>
            </a:p>
          </p:txBody>
        </p:sp>
        <p:sp>
          <p:nvSpPr>
            <p:cNvPr id="61486" name="Text Box 52"/>
            <p:cNvSpPr txBox="1">
              <a:spLocks noChangeArrowheads="1"/>
            </p:cNvSpPr>
            <p:nvPr/>
          </p:nvSpPr>
          <p:spPr bwMode="auto">
            <a:xfrm>
              <a:off x="4049" y="3486"/>
              <a:ext cx="55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写选择</a:t>
              </a:r>
              <a:endParaRPr lang="zh-CN" altLang="en-US" sz="1800"/>
            </a:p>
          </p:txBody>
        </p:sp>
        <p:sp>
          <p:nvSpPr>
            <p:cNvPr id="61487" name="Text Box 53"/>
            <p:cNvSpPr txBox="1">
              <a:spLocks noChangeArrowheads="1"/>
            </p:cNvSpPr>
            <p:nvPr/>
          </p:nvSpPr>
          <p:spPr bwMode="auto">
            <a:xfrm>
              <a:off x="5096" y="3475"/>
              <a:ext cx="55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读选择</a:t>
              </a:r>
              <a:endParaRPr lang="zh-CN" altLang="en-US" sz="1800"/>
            </a:p>
          </p:txBody>
        </p:sp>
        <p:sp>
          <p:nvSpPr>
            <p:cNvPr id="61488" name="Text Box 54"/>
            <p:cNvSpPr txBox="1">
              <a:spLocks noChangeArrowheads="1"/>
            </p:cNvSpPr>
            <p:nvPr/>
          </p:nvSpPr>
          <p:spPr bwMode="auto">
            <a:xfrm>
              <a:off x="5329" y="2772"/>
              <a:ext cx="4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D</a:t>
              </a:r>
              <a:r>
                <a:rPr lang="en-US" altLang="zh-CN" sz="2000" baseline="-25000">
                  <a:ea typeface="宋体" panose="02010600030101010101" pitchFamily="2" charset="-122"/>
                </a:rPr>
                <a:t>OUT</a:t>
              </a:r>
              <a:endParaRPr lang="en-US" altLang="zh-CN" sz="2000" baseline="-25000">
                <a:ea typeface="宋体" panose="02010600030101010101" pitchFamily="2" charset="-122"/>
              </a:endParaRPr>
            </a:p>
          </p:txBody>
        </p:sp>
        <p:sp>
          <p:nvSpPr>
            <p:cNvPr id="61489" name="Text Box 55"/>
            <p:cNvSpPr txBox="1">
              <a:spLocks noChangeArrowheads="1"/>
            </p:cNvSpPr>
            <p:nvPr/>
          </p:nvSpPr>
          <p:spPr bwMode="auto">
            <a:xfrm>
              <a:off x="4939" y="2614"/>
              <a:ext cx="75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读放大器</a:t>
              </a:r>
              <a:endParaRPr lang="zh-CN" altLang="en-US" sz="1800"/>
            </a:p>
          </p:txBody>
        </p:sp>
        <p:sp>
          <p:nvSpPr>
            <p:cNvPr id="61490" name="Text Box 56"/>
            <p:cNvSpPr txBox="1">
              <a:spLocks noChangeArrowheads="1"/>
            </p:cNvSpPr>
            <p:nvPr/>
          </p:nvSpPr>
          <p:spPr bwMode="auto">
            <a:xfrm>
              <a:off x="5224" y="1230"/>
              <a:ext cx="5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位线</a:t>
              </a:r>
              <a:r>
                <a:rPr lang="en-US" altLang="zh-CN" sz="1800"/>
                <a:t>D</a:t>
              </a:r>
              <a:endParaRPr lang="en-US" altLang="zh-CN" sz="1800">
                <a:ea typeface="宋体" panose="02010600030101010101" pitchFamily="2" charset="-122"/>
              </a:endParaRPr>
            </a:p>
          </p:txBody>
        </p:sp>
        <p:sp>
          <p:nvSpPr>
            <p:cNvPr id="61491" name="Freeform 57"/>
            <p:cNvSpPr/>
            <p:nvPr/>
          </p:nvSpPr>
          <p:spPr bwMode="auto">
            <a:xfrm>
              <a:off x="5157" y="1450"/>
              <a:ext cx="259" cy="260"/>
            </a:xfrm>
            <a:custGeom>
              <a:avLst/>
              <a:gdLst>
                <a:gd name="T0" fmla="*/ 259 w 259"/>
                <a:gd name="T1" fmla="*/ 0 h 260"/>
                <a:gd name="T2" fmla="*/ 0 w 259"/>
                <a:gd name="T3" fmla="*/ 260 h 260"/>
                <a:gd name="T4" fmla="*/ 0 60000 65536"/>
                <a:gd name="T5" fmla="*/ 0 60000 65536"/>
                <a:gd name="T6" fmla="*/ 0 w 259"/>
                <a:gd name="T7" fmla="*/ 0 h 260"/>
                <a:gd name="T8" fmla="*/ 259 w 259"/>
                <a:gd name="T9" fmla="*/ 260 h 260"/>
              </a:gdLst>
              <a:ahLst/>
              <a:cxnLst>
                <a:cxn ang="T4">
                  <a:pos x="T0" y="T1"/>
                </a:cxn>
                <a:cxn ang="T5">
                  <a:pos x="T2" y="T3"/>
                </a:cxn>
              </a:cxnLst>
              <a:rect l="T6" t="T7" r="T8" b="T9"/>
              <a:pathLst>
                <a:path w="259" h="260">
                  <a:moveTo>
                    <a:pt x="259" y="0"/>
                  </a:moveTo>
                  <a:lnTo>
                    <a:pt x="0" y="260"/>
                  </a:lnTo>
                </a:path>
              </a:pathLst>
            </a:custGeom>
            <a:noFill/>
            <a:ln w="38100">
              <a:solidFill>
                <a:schemeClr val="tx1"/>
              </a:solidFill>
              <a:round/>
              <a:tailEnd type="stealth"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61492" name="Text Box 58"/>
            <p:cNvSpPr txBox="1">
              <a:spLocks noChangeArrowheads="1"/>
            </p:cNvSpPr>
            <p:nvPr/>
          </p:nvSpPr>
          <p:spPr bwMode="auto">
            <a:xfrm>
              <a:off x="1902" y="1230"/>
              <a:ext cx="5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位线</a:t>
              </a:r>
              <a:r>
                <a:rPr lang="en-US" altLang="zh-CN" sz="1800"/>
                <a:t>D</a:t>
              </a:r>
              <a:endParaRPr lang="en-US" altLang="zh-CN" sz="1800">
                <a:ea typeface="宋体" panose="02010600030101010101" pitchFamily="2" charset="-122"/>
              </a:endParaRPr>
            </a:p>
          </p:txBody>
        </p:sp>
        <p:sp>
          <p:nvSpPr>
            <p:cNvPr id="61493" name="Line 59"/>
            <p:cNvSpPr>
              <a:spLocks noChangeShapeType="1"/>
            </p:cNvSpPr>
            <p:nvPr/>
          </p:nvSpPr>
          <p:spPr bwMode="auto">
            <a:xfrm>
              <a:off x="2152" y="1470"/>
              <a:ext cx="240" cy="240"/>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1494" name="Text Box 60"/>
            <p:cNvSpPr txBox="1">
              <a:spLocks noChangeArrowheads="1"/>
            </p:cNvSpPr>
            <p:nvPr/>
          </p:nvSpPr>
          <p:spPr bwMode="auto">
            <a:xfrm>
              <a:off x="1882" y="2282"/>
              <a:ext cx="551"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zh-CN" altLang="en-US" sz="1800"/>
                <a:t>列地址</a:t>
              </a:r>
              <a:endParaRPr lang="zh-CN" altLang="en-US" sz="1800"/>
            </a:p>
            <a:p>
              <a:pPr eaLnBrk="1" hangingPunct="1">
                <a:spcBef>
                  <a:spcPct val="0"/>
                </a:spcBef>
                <a:buClrTx/>
                <a:buFontTx/>
                <a:buNone/>
              </a:pPr>
              <a:r>
                <a:rPr lang="zh-CN" altLang="en-US" sz="1800"/>
                <a:t>选择</a:t>
              </a:r>
              <a:endParaRPr lang="zh-CN" altLang="en-US" sz="1800"/>
            </a:p>
          </p:txBody>
        </p:sp>
        <p:sp>
          <p:nvSpPr>
            <p:cNvPr id="61495" name="Text Box 61"/>
            <p:cNvSpPr txBox="1">
              <a:spLocks noChangeArrowheads="1"/>
            </p:cNvSpPr>
            <p:nvPr/>
          </p:nvSpPr>
          <p:spPr bwMode="auto">
            <a:xfrm>
              <a:off x="1882" y="1642"/>
              <a:ext cx="551"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zh-CN" altLang="en-US" sz="1800"/>
                <a:t>行地址</a:t>
              </a:r>
              <a:endParaRPr lang="zh-CN" altLang="en-US" sz="1800"/>
            </a:p>
            <a:p>
              <a:pPr eaLnBrk="1" hangingPunct="1">
                <a:spcBef>
                  <a:spcPct val="0"/>
                </a:spcBef>
                <a:buClrTx/>
                <a:buFontTx/>
                <a:buNone/>
              </a:pPr>
              <a:r>
                <a:rPr lang="zh-CN" altLang="en-US" sz="1800"/>
                <a:t>选择</a:t>
              </a:r>
              <a:endParaRPr lang="zh-CN" altLang="en-US" sz="1800"/>
            </a:p>
          </p:txBody>
        </p:sp>
        <p:sp>
          <p:nvSpPr>
            <p:cNvPr id="61496" name="Rectangle 62"/>
            <p:cNvSpPr>
              <a:spLocks noChangeArrowheads="1"/>
            </p:cNvSpPr>
            <p:nvPr/>
          </p:nvSpPr>
          <p:spPr bwMode="auto">
            <a:xfrm>
              <a:off x="2581" y="754"/>
              <a:ext cx="2400" cy="1224"/>
            </a:xfrm>
            <a:prstGeom prst="rect">
              <a:avLst/>
            </a:prstGeom>
            <a:noFill/>
            <a:ln w="19050">
              <a:solidFill>
                <a:srgbClr val="CC3300"/>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1497" name="Line 63"/>
            <p:cNvSpPr>
              <a:spLocks noChangeShapeType="1"/>
            </p:cNvSpPr>
            <p:nvPr/>
          </p:nvSpPr>
          <p:spPr bwMode="auto">
            <a:xfrm>
              <a:off x="5556" y="1278"/>
              <a:ext cx="136"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61498" name="Group 64"/>
            <p:cNvGrpSpPr/>
            <p:nvPr/>
          </p:nvGrpSpPr>
          <p:grpSpPr bwMode="auto">
            <a:xfrm>
              <a:off x="5224" y="2910"/>
              <a:ext cx="384" cy="288"/>
              <a:chOff x="1248" y="3648"/>
              <a:chExt cx="384" cy="288"/>
            </a:xfrm>
          </p:grpSpPr>
          <p:sp>
            <p:nvSpPr>
              <p:cNvPr id="61499" name="AutoShape 65"/>
              <p:cNvSpPr>
                <a:spLocks noChangeArrowheads="1"/>
              </p:cNvSpPr>
              <p:nvPr/>
            </p:nvSpPr>
            <p:spPr bwMode="auto">
              <a:xfrm rot="5400000">
                <a:off x="1248" y="3648"/>
                <a:ext cx="288" cy="288"/>
              </a:xfrm>
              <a:prstGeom prst="triangle">
                <a:avLst>
                  <a:gd name="adj" fmla="val 50000"/>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1500" name="Oval 66"/>
              <p:cNvSpPr>
                <a:spLocks noChangeArrowheads="1"/>
              </p:cNvSpPr>
              <p:nvPr/>
            </p:nvSpPr>
            <p:spPr bwMode="auto">
              <a:xfrm>
                <a:off x="1536" y="3744"/>
                <a:ext cx="96" cy="96"/>
              </a:xfrm>
              <a:prstGeom prst="ellipse">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pic>
        <p:nvPicPr>
          <p:cNvPr id="61446" name="Picture 67" descr="3"/>
          <p:cNvPicPr>
            <a:picLocks noChangeAspect="1" noChangeArrowheads="1"/>
          </p:cNvPicPr>
          <p:nvPr/>
        </p:nvPicPr>
        <p:blipFill>
          <a:blip r:embed="rId1">
            <a:extLst>
              <a:ext uri="{28A0092B-C50C-407E-A947-70E740481C1C}">
                <a14:useLocalDpi xmlns:a14="http://schemas.microsoft.com/office/drawing/2010/main" val="0"/>
              </a:ext>
            </a:extLst>
          </a:blip>
          <a:srcRect l="55582" t="13596" r="22737" b="50983"/>
          <a:stretch>
            <a:fillRect/>
          </a:stretch>
        </p:blipFill>
        <p:spPr bwMode="auto">
          <a:xfrm>
            <a:off x="5245100" y="1700213"/>
            <a:ext cx="1584325" cy="142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7" name="Freeform 74"/>
          <p:cNvSpPr/>
          <p:nvPr/>
        </p:nvSpPr>
        <p:spPr bwMode="auto">
          <a:xfrm>
            <a:off x="7164388" y="1846263"/>
            <a:ext cx="1800225" cy="2698750"/>
          </a:xfrm>
          <a:custGeom>
            <a:avLst/>
            <a:gdLst>
              <a:gd name="T0" fmla="*/ 0 w 1134"/>
              <a:gd name="T1" fmla="*/ 2147483646 h 1700"/>
              <a:gd name="T2" fmla="*/ 2147483646 w 1134"/>
              <a:gd name="T3" fmla="*/ 2147483646 h 1700"/>
              <a:gd name="T4" fmla="*/ 2147483646 w 1134"/>
              <a:gd name="T5" fmla="*/ 2147483646 h 1700"/>
              <a:gd name="T6" fmla="*/ 2147483646 w 1134"/>
              <a:gd name="T7" fmla="*/ 2147483646 h 1700"/>
              <a:gd name="T8" fmla="*/ 2147483646 w 1134"/>
              <a:gd name="T9" fmla="*/ 2147483646 h 1700"/>
              <a:gd name="T10" fmla="*/ 2147483646 w 1134"/>
              <a:gd name="T11" fmla="*/ 2147483646 h 1700"/>
              <a:gd name="T12" fmla="*/ 2147483646 w 1134"/>
              <a:gd name="T13" fmla="*/ 2147483646 h 1700"/>
              <a:gd name="T14" fmla="*/ 0 60000 65536"/>
              <a:gd name="T15" fmla="*/ 0 60000 65536"/>
              <a:gd name="T16" fmla="*/ 0 60000 65536"/>
              <a:gd name="T17" fmla="*/ 0 60000 65536"/>
              <a:gd name="T18" fmla="*/ 0 60000 65536"/>
              <a:gd name="T19" fmla="*/ 0 60000 65536"/>
              <a:gd name="T20" fmla="*/ 0 60000 65536"/>
              <a:gd name="T21" fmla="*/ 0 w 1134"/>
              <a:gd name="T22" fmla="*/ 0 h 1700"/>
              <a:gd name="T23" fmla="*/ 1134 w 1134"/>
              <a:gd name="T24" fmla="*/ 1700 h 17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34" h="1700">
                <a:moveTo>
                  <a:pt x="0" y="181"/>
                </a:moveTo>
                <a:cubicBezTo>
                  <a:pt x="75" y="181"/>
                  <a:pt x="151" y="181"/>
                  <a:pt x="227" y="181"/>
                </a:cubicBezTo>
                <a:cubicBezTo>
                  <a:pt x="303" y="181"/>
                  <a:pt x="371" y="181"/>
                  <a:pt x="454" y="181"/>
                </a:cubicBezTo>
                <a:cubicBezTo>
                  <a:pt x="537" y="181"/>
                  <a:pt x="681" y="0"/>
                  <a:pt x="726" y="181"/>
                </a:cubicBezTo>
                <a:cubicBezTo>
                  <a:pt x="771" y="362"/>
                  <a:pt x="726" y="1027"/>
                  <a:pt x="726" y="1269"/>
                </a:cubicBezTo>
                <a:cubicBezTo>
                  <a:pt x="726" y="1511"/>
                  <a:pt x="658" y="1564"/>
                  <a:pt x="726" y="1632"/>
                </a:cubicBezTo>
                <a:cubicBezTo>
                  <a:pt x="794" y="1700"/>
                  <a:pt x="964" y="1688"/>
                  <a:pt x="1134" y="1677"/>
                </a:cubicBezTo>
              </a:path>
            </a:pathLst>
          </a:custGeom>
          <a:noFill/>
          <a:ln w="28575">
            <a:solidFill>
              <a:srgbClr val="FF0000"/>
            </a:solidFill>
            <a:round/>
            <a:headEnd type="none" w="lg" len="lg"/>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lstStyle/>
          <a:p>
            <a:endParaRPr lang="zh-CN" altLang="en-US"/>
          </a:p>
        </p:txBody>
      </p:sp>
      <p:sp>
        <p:nvSpPr>
          <p:cNvPr id="69" name="Text Box 7"/>
          <p:cNvSpPr txBox="1">
            <a:spLocks noChangeArrowheads="1"/>
          </p:cNvSpPr>
          <p:nvPr/>
        </p:nvSpPr>
        <p:spPr bwMode="auto">
          <a:xfrm>
            <a:off x="5103813" y="1901825"/>
            <a:ext cx="333375" cy="457200"/>
          </a:xfrm>
          <a:prstGeom prst="rect">
            <a:avLst/>
          </a:prstGeom>
          <a:noFill/>
          <a:ln w="22225" algn="ctr">
            <a:noFill/>
            <a:miter lim="800000"/>
          </a:ln>
          <a:effectLst/>
        </p:spPr>
        <p:txBody>
          <a:bodyPr wrap="none" lIns="90000" tIns="46800" rIns="90000" bIns="46800">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6pPr>
            <a:lvl7pPr marL="29718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7pPr>
            <a:lvl8pPr marL="34290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8pPr>
            <a:lvl9pPr marL="38862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en-US" altLang="zh-CN" sz="2400" b="1" dirty="0">
                <a:solidFill>
                  <a:srgbClr val="CC3300"/>
                </a:solidFill>
                <a:effectLst>
                  <a:outerShdw blurRad="38100" dist="38100" dir="2700000" algn="tl">
                    <a:srgbClr val="C0C0C0"/>
                  </a:outerShdw>
                </a:effectLst>
                <a:ea typeface="方正准圆简体" pitchFamily="2" charset="-122"/>
              </a:rPr>
              <a:t>1</a:t>
            </a:r>
            <a:endParaRPr lang="en-US" altLang="zh-CN" sz="2400" b="1" dirty="0">
              <a:solidFill>
                <a:srgbClr val="CC3300"/>
              </a:solidFill>
              <a:effectLst>
                <a:outerShdw blurRad="38100" dist="38100" dir="2700000" algn="tl">
                  <a:srgbClr val="C0C0C0"/>
                </a:outerShdw>
              </a:effectLst>
              <a:ea typeface="方正准圆简体" pitchFamily="2" charset="-122"/>
            </a:endParaRPr>
          </a:p>
        </p:txBody>
      </p:sp>
      <p:sp>
        <p:nvSpPr>
          <p:cNvPr id="70" name="Text Box 7"/>
          <p:cNvSpPr txBox="1">
            <a:spLocks noChangeArrowheads="1"/>
          </p:cNvSpPr>
          <p:nvPr/>
        </p:nvSpPr>
        <p:spPr bwMode="auto">
          <a:xfrm>
            <a:off x="6554788" y="1908175"/>
            <a:ext cx="336550" cy="463550"/>
          </a:xfrm>
          <a:prstGeom prst="rect">
            <a:avLst/>
          </a:prstGeom>
          <a:noFill/>
          <a:ln w="22225" algn="ctr">
            <a:noFill/>
            <a:miter lim="800000"/>
          </a:ln>
          <a:effectLst/>
        </p:spPr>
        <p:txBody>
          <a:bodyPr wrap="none" lIns="90000" tIns="46800" rIns="90000" bIns="46800">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6pPr>
            <a:lvl7pPr marL="29718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7pPr>
            <a:lvl8pPr marL="34290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8pPr>
            <a:lvl9pPr marL="38862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en-US" altLang="zh-CN" sz="2400" b="1" dirty="0">
                <a:solidFill>
                  <a:srgbClr val="CC3300"/>
                </a:solidFill>
                <a:effectLst>
                  <a:outerShdw blurRad="38100" dist="38100" dir="2700000" algn="tl">
                    <a:srgbClr val="C0C0C0"/>
                  </a:outerShdw>
                </a:effectLst>
                <a:ea typeface="方正准圆简体" pitchFamily="2" charset="-122"/>
              </a:rPr>
              <a:t>0</a:t>
            </a:r>
            <a:endParaRPr lang="en-US" altLang="zh-CN" sz="2400" b="1" dirty="0">
              <a:solidFill>
                <a:srgbClr val="CC3300"/>
              </a:solidFill>
              <a:effectLst>
                <a:outerShdw blurRad="38100" dist="38100" dir="2700000" algn="tl">
                  <a:srgbClr val="C0C0C0"/>
                </a:outerShdw>
              </a:effectLst>
              <a:ea typeface="方正准圆简体" pitchFamily="2" charset="-122"/>
            </a:endParaRPr>
          </a:p>
        </p:txBody>
      </p:sp>
    </p:spTree>
  </p:cSld>
  <p:clrMapOvr>
    <a:masterClrMapping/>
  </p:clrMapOvr>
  <p:transition spd="med">
    <p:pull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a:xfrm>
            <a:off x="467995" y="44450"/>
            <a:ext cx="8229600" cy="1371600"/>
          </a:xfrm>
        </p:spPr>
        <p:txBody>
          <a:bodyPr/>
          <a:lstStyle/>
          <a:p>
            <a:pPr eaLnBrk="1" hangingPunct="1">
              <a:defRPr/>
            </a:pPr>
            <a:r>
              <a:rPr lang="zh-CN" altLang="en-US"/>
              <a:t>写操作</a:t>
            </a:r>
            <a:endParaRPr lang="zh-CN" altLang="en-US"/>
          </a:p>
        </p:txBody>
      </p:sp>
      <p:sp>
        <p:nvSpPr>
          <p:cNvPr id="62467" name="Rectangle 3"/>
          <p:cNvSpPr>
            <a:spLocks noGrp="1" noChangeArrowheads="1"/>
          </p:cNvSpPr>
          <p:nvPr>
            <p:ph idx="1"/>
          </p:nvPr>
        </p:nvSpPr>
        <p:spPr>
          <a:xfrm>
            <a:off x="98425" y="1114425"/>
            <a:ext cx="3308350" cy="5334000"/>
          </a:xfrm>
        </p:spPr>
        <p:txBody>
          <a:bodyPr/>
          <a:lstStyle/>
          <a:p>
            <a:pPr eaLnBrk="1" hangingPunct="1"/>
            <a:r>
              <a:rPr lang="zh-CN" altLang="en-US" dirty="0">
                <a:solidFill>
                  <a:schemeClr val="tx2"/>
                </a:solidFill>
              </a:rPr>
              <a:t>行选高电平</a:t>
            </a:r>
            <a:endParaRPr lang="zh-CN" altLang="en-US" dirty="0">
              <a:solidFill>
                <a:schemeClr val="tx2"/>
              </a:solidFill>
            </a:endParaRPr>
          </a:p>
          <a:p>
            <a:pPr lvl="1" eaLnBrk="1" hangingPunct="1">
              <a:buFont typeface="Wingdings" panose="05000000000000000000" pitchFamily="2" charset="2"/>
              <a:buNone/>
            </a:pPr>
            <a:r>
              <a:rPr lang="en-US" altLang="zh-CN" dirty="0">
                <a:solidFill>
                  <a:schemeClr val="tx2"/>
                </a:solidFill>
                <a:latin typeface="楷体_GB2312" pitchFamily="49" charset="-122"/>
                <a:ea typeface="楷体_GB2312" pitchFamily="49" charset="-122"/>
              </a:rPr>
              <a:t>T5</a:t>
            </a:r>
            <a:r>
              <a:rPr lang="zh-CN" altLang="en-US" dirty="0">
                <a:solidFill>
                  <a:schemeClr val="tx2"/>
                </a:solidFill>
                <a:latin typeface="楷体_GB2312" pitchFamily="49" charset="-122"/>
                <a:ea typeface="楷体_GB2312" pitchFamily="49" charset="-122"/>
              </a:rPr>
              <a:t>、</a:t>
            </a:r>
            <a:r>
              <a:rPr lang="en-US" altLang="zh-CN" dirty="0">
                <a:solidFill>
                  <a:schemeClr val="tx2"/>
                </a:solidFill>
                <a:latin typeface="楷体_GB2312" pitchFamily="49" charset="-122"/>
                <a:ea typeface="楷体_GB2312" pitchFamily="49" charset="-122"/>
              </a:rPr>
              <a:t>T6</a:t>
            </a:r>
            <a:r>
              <a:rPr lang="zh-CN" altLang="en-US" dirty="0">
                <a:solidFill>
                  <a:schemeClr val="tx2"/>
                </a:solidFill>
                <a:latin typeface="楷体_GB2312" pitchFamily="49" charset="-122"/>
                <a:ea typeface="楷体_GB2312" pitchFamily="49" charset="-122"/>
              </a:rPr>
              <a:t>导通</a:t>
            </a:r>
            <a:endParaRPr lang="zh-CN" altLang="en-US" dirty="0">
              <a:solidFill>
                <a:schemeClr val="tx2"/>
              </a:solidFill>
              <a:latin typeface="楷体_GB2312" pitchFamily="49" charset="-122"/>
              <a:ea typeface="楷体_GB2312" pitchFamily="49" charset="-122"/>
            </a:endParaRPr>
          </a:p>
          <a:p>
            <a:pPr eaLnBrk="1" hangingPunct="1"/>
            <a:r>
              <a:rPr lang="zh-CN" altLang="en-US" dirty="0">
                <a:solidFill>
                  <a:schemeClr val="tx2"/>
                </a:solidFill>
                <a:latin typeface="楷体_GB2312" pitchFamily="49" charset="-122"/>
              </a:rPr>
              <a:t>列选高电平</a:t>
            </a:r>
            <a:endParaRPr lang="zh-CN" altLang="en-US" dirty="0">
              <a:solidFill>
                <a:schemeClr val="tx2"/>
              </a:solidFill>
              <a:latin typeface="楷体_GB2312" pitchFamily="49" charset="-122"/>
            </a:endParaRPr>
          </a:p>
          <a:p>
            <a:pPr lvl="1" eaLnBrk="1" hangingPunct="1">
              <a:buFont typeface="Wingdings" panose="05000000000000000000" pitchFamily="2" charset="2"/>
              <a:buNone/>
            </a:pPr>
            <a:r>
              <a:rPr lang="en-US" altLang="zh-CN" dirty="0">
                <a:solidFill>
                  <a:schemeClr val="tx2"/>
                </a:solidFill>
                <a:latin typeface="楷体_GB2312" pitchFamily="49" charset="-122"/>
                <a:ea typeface="楷体_GB2312" pitchFamily="49" charset="-122"/>
              </a:rPr>
              <a:t>T7</a:t>
            </a:r>
            <a:r>
              <a:rPr lang="zh-CN" altLang="en-US" dirty="0">
                <a:solidFill>
                  <a:schemeClr val="tx2"/>
                </a:solidFill>
                <a:latin typeface="楷体_GB2312" pitchFamily="49" charset="-122"/>
                <a:ea typeface="楷体_GB2312" pitchFamily="49" charset="-122"/>
              </a:rPr>
              <a:t>、</a:t>
            </a:r>
            <a:r>
              <a:rPr lang="en-US" altLang="zh-CN" dirty="0">
                <a:solidFill>
                  <a:schemeClr val="tx2"/>
                </a:solidFill>
                <a:latin typeface="楷体_GB2312" pitchFamily="49" charset="-122"/>
                <a:ea typeface="楷体_GB2312" pitchFamily="49" charset="-122"/>
              </a:rPr>
              <a:t>T8</a:t>
            </a:r>
            <a:r>
              <a:rPr lang="zh-CN" altLang="en-US" dirty="0">
                <a:solidFill>
                  <a:schemeClr val="tx2"/>
                </a:solidFill>
                <a:latin typeface="楷体_GB2312" pitchFamily="49" charset="-122"/>
                <a:ea typeface="楷体_GB2312" pitchFamily="49" charset="-122"/>
              </a:rPr>
              <a:t>导通</a:t>
            </a:r>
            <a:endParaRPr lang="zh-CN" altLang="en-US" dirty="0">
              <a:solidFill>
                <a:schemeClr val="tx2"/>
              </a:solidFill>
              <a:latin typeface="楷体_GB2312" pitchFamily="49" charset="-122"/>
              <a:ea typeface="楷体_GB2312" pitchFamily="49" charset="-122"/>
            </a:endParaRPr>
          </a:p>
          <a:p>
            <a:pPr eaLnBrk="1" hangingPunct="1"/>
            <a:r>
              <a:rPr lang="zh-CN" altLang="en-US" dirty="0">
                <a:solidFill>
                  <a:schemeClr val="tx2"/>
                </a:solidFill>
                <a:latin typeface="楷体_GB2312" pitchFamily="49" charset="-122"/>
              </a:rPr>
              <a:t>写选择高电平</a:t>
            </a:r>
            <a:endParaRPr lang="zh-CN" altLang="en-US" dirty="0">
              <a:solidFill>
                <a:schemeClr val="tx2"/>
              </a:solidFill>
              <a:latin typeface="楷体_GB2312" pitchFamily="49" charset="-122"/>
            </a:endParaRPr>
          </a:p>
          <a:p>
            <a:pPr eaLnBrk="1" hangingPunct="1">
              <a:buFont typeface="Wingdings 2" pitchFamily="18" charset="2"/>
              <a:buNone/>
            </a:pPr>
            <a:r>
              <a:rPr lang="zh-CN" altLang="en-US" dirty="0">
                <a:solidFill>
                  <a:schemeClr val="tx2"/>
                </a:solidFill>
                <a:latin typeface="楷体_GB2312" pitchFamily="49" charset="-122"/>
              </a:rPr>
              <a:t>  </a:t>
            </a:r>
            <a:r>
              <a:rPr lang="en-US" altLang="zh-CN" sz="2800" dirty="0">
                <a:solidFill>
                  <a:schemeClr val="tx2"/>
                </a:solidFill>
                <a:latin typeface="楷体_GB2312" pitchFamily="49" charset="-122"/>
              </a:rPr>
              <a:t>D</a:t>
            </a:r>
            <a:r>
              <a:rPr lang="en-US" altLang="zh-CN" sz="2800" baseline="-25000" dirty="0">
                <a:solidFill>
                  <a:schemeClr val="tx2"/>
                </a:solidFill>
                <a:latin typeface="楷体_GB2312" pitchFamily="49" charset="-122"/>
              </a:rPr>
              <a:t>IN</a:t>
            </a:r>
            <a:r>
              <a:rPr lang="en-US" altLang="zh-CN" sz="2800" dirty="0">
                <a:solidFill>
                  <a:schemeClr val="tx2"/>
                </a:solidFill>
                <a:latin typeface="楷体_GB2312" pitchFamily="49" charset="-122"/>
                <a:sym typeface="Wingdings 3" panose="05040102010807070707" pitchFamily="18" charset="2"/>
              </a:rPr>
              <a:t> </a:t>
            </a:r>
            <a:r>
              <a:rPr lang="zh-CN" altLang="en-US" sz="2800" dirty="0">
                <a:solidFill>
                  <a:schemeClr val="tx2"/>
                </a:solidFill>
                <a:latin typeface="楷体_GB2312" pitchFamily="49" charset="-122"/>
                <a:sym typeface="Wingdings 3" panose="05040102010807070707" pitchFamily="18" charset="2"/>
              </a:rPr>
              <a:t>写放</a:t>
            </a:r>
            <a:r>
              <a:rPr lang="en-US" altLang="zh-CN" sz="2800" dirty="0">
                <a:solidFill>
                  <a:schemeClr val="tx2"/>
                </a:solidFill>
                <a:latin typeface="楷体_GB2312" pitchFamily="49" charset="-122"/>
                <a:sym typeface="Wingdings 3" panose="05040102010807070707" pitchFamily="18" charset="2"/>
              </a:rPr>
              <a:t>T7</a:t>
            </a:r>
            <a:endParaRPr lang="en-US" altLang="zh-CN" sz="2800" dirty="0">
              <a:solidFill>
                <a:schemeClr val="tx2"/>
              </a:solidFill>
              <a:latin typeface="楷体_GB2312" pitchFamily="49" charset="-122"/>
              <a:sym typeface="Wingdings 3" panose="05040102010807070707" pitchFamily="18" charset="2"/>
            </a:endParaRPr>
          </a:p>
          <a:p>
            <a:pPr eaLnBrk="1" hangingPunct="1">
              <a:buFont typeface="Wingdings 2" pitchFamily="18" charset="2"/>
              <a:buNone/>
            </a:pPr>
            <a:r>
              <a:rPr lang="en-US" altLang="zh-CN" sz="2800" dirty="0">
                <a:solidFill>
                  <a:schemeClr val="tx2"/>
                </a:solidFill>
                <a:latin typeface="楷体_GB2312" pitchFamily="49" charset="-122"/>
                <a:sym typeface="Wingdings 3" panose="05040102010807070707" pitchFamily="18" charset="2"/>
              </a:rPr>
              <a:t>   T5  A</a:t>
            </a:r>
            <a:endParaRPr lang="en-US" altLang="zh-CN" sz="2800" dirty="0">
              <a:solidFill>
                <a:schemeClr val="tx2"/>
              </a:solidFill>
              <a:latin typeface="楷体_GB2312" pitchFamily="49" charset="-122"/>
              <a:sym typeface="Wingdings 3" panose="05040102010807070707" pitchFamily="18" charset="2"/>
            </a:endParaRPr>
          </a:p>
          <a:p>
            <a:pPr eaLnBrk="1" hangingPunct="1">
              <a:buFont typeface="Wingdings 2" pitchFamily="18" charset="2"/>
              <a:buNone/>
            </a:pPr>
            <a:r>
              <a:rPr lang="en-US" altLang="zh-CN" sz="2800" dirty="0">
                <a:solidFill>
                  <a:schemeClr val="tx2"/>
                </a:solidFill>
                <a:latin typeface="楷体_GB2312" pitchFamily="49" charset="-122"/>
              </a:rPr>
              <a:t>  D</a:t>
            </a:r>
            <a:r>
              <a:rPr lang="en-US" altLang="zh-CN" sz="2800" baseline="-25000" dirty="0">
                <a:solidFill>
                  <a:schemeClr val="tx2"/>
                </a:solidFill>
                <a:latin typeface="楷体_GB2312" pitchFamily="49" charset="-122"/>
              </a:rPr>
              <a:t>IN</a:t>
            </a:r>
            <a:r>
              <a:rPr lang="en-US" altLang="zh-CN" sz="2800" dirty="0">
                <a:solidFill>
                  <a:schemeClr val="tx2"/>
                </a:solidFill>
                <a:latin typeface="楷体_GB2312" pitchFamily="49" charset="-122"/>
                <a:sym typeface="Wingdings 3" panose="05040102010807070707" pitchFamily="18" charset="2"/>
              </a:rPr>
              <a:t> </a:t>
            </a:r>
            <a:r>
              <a:rPr lang="zh-CN" altLang="en-US" sz="2800" dirty="0">
                <a:solidFill>
                  <a:schemeClr val="tx2"/>
                </a:solidFill>
                <a:latin typeface="楷体_GB2312" pitchFamily="49" charset="-122"/>
                <a:sym typeface="Wingdings 3" panose="05040102010807070707" pitchFamily="18" charset="2"/>
              </a:rPr>
              <a:t>写放</a:t>
            </a:r>
            <a:r>
              <a:rPr lang="en-US" altLang="zh-CN" sz="2800" dirty="0">
                <a:solidFill>
                  <a:schemeClr val="tx2"/>
                </a:solidFill>
                <a:latin typeface="楷体_GB2312" pitchFamily="49" charset="-122"/>
                <a:sym typeface="Wingdings 3" panose="05040102010807070707" pitchFamily="18" charset="2"/>
              </a:rPr>
              <a:t>(</a:t>
            </a:r>
            <a:r>
              <a:rPr lang="zh-CN" altLang="en-US" sz="2800" dirty="0">
                <a:solidFill>
                  <a:schemeClr val="tx2"/>
                </a:solidFill>
                <a:latin typeface="楷体_GB2312" pitchFamily="49" charset="-122"/>
                <a:sym typeface="Wingdings 3" panose="05040102010807070707" pitchFamily="18" charset="2"/>
              </a:rPr>
              <a:t>非</a:t>
            </a:r>
            <a:r>
              <a:rPr lang="en-US" altLang="zh-CN" sz="2800" dirty="0">
                <a:solidFill>
                  <a:schemeClr val="tx2"/>
                </a:solidFill>
                <a:latin typeface="楷体_GB2312" pitchFamily="49" charset="-122"/>
                <a:sym typeface="Wingdings 3" panose="05040102010807070707" pitchFamily="18" charset="2"/>
              </a:rPr>
              <a:t>) T8  T6  B</a:t>
            </a:r>
            <a:endParaRPr lang="en-US" altLang="zh-CN" sz="2800" dirty="0">
              <a:solidFill>
                <a:schemeClr val="tx2"/>
              </a:solidFill>
              <a:latin typeface="楷体_GB2312" pitchFamily="49" charset="-122"/>
              <a:sym typeface="Wingdings 3" panose="05040102010807070707" pitchFamily="18" charset="2"/>
            </a:endParaRPr>
          </a:p>
        </p:txBody>
      </p:sp>
      <p:grpSp>
        <p:nvGrpSpPr>
          <p:cNvPr id="62469" name="Group 4"/>
          <p:cNvGrpSpPr/>
          <p:nvPr/>
        </p:nvGrpSpPr>
        <p:grpSpPr bwMode="auto">
          <a:xfrm>
            <a:off x="2987675" y="1196975"/>
            <a:ext cx="6197600" cy="4824413"/>
            <a:chOff x="1882" y="754"/>
            <a:chExt cx="3904" cy="3039"/>
          </a:xfrm>
        </p:grpSpPr>
        <p:sp>
          <p:nvSpPr>
            <p:cNvPr id="62476" name="Rectangle 5"/>
            <p:cNvSpPr>
              <a:spLocks noChangeArrowheads="1"/>
            </p:cNvSpPr>
            <p:nvPr/>
          </p:nvSpPr>
          <p:spPr bwMode="auto">
            <a:xfrm>
              <a:off x="3304" y="1071"/>
              <a:ext cx="960" cy="818"/>
            </a:xfrm>
            <a:prstGeom prst="rect">
              <a:avLst/>
            </a:prstGeom>
            <a:solidFill>
              <a:srgbClr val="FF9900"/>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2477" name="Text Box 6"/>
            <p:cNvSpPr txBox="1">
              <a:spLocks noChangeArrowheads="1"/>
            </p:cNvSpPr>
            <p:nvPr/>
          </p:nvSpPr>
          <p:spPr bwMode="auto">
            <a:xfrm>
              <a:off x="3417" y="1282"/>
              <a:ext cx="7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r>
                <a:rPr lang="en-US" altLang="zh-CN" sz="2000" baseline="-25000">
                  <a:ea typeface="宋体" panose="02010600030101010101" pitchFamily="2" charset="-122"/>
                </a:rPr>
                <a:t>1</a:t>
              </a:r>
              <a:r>
                <a:rPr lang="en-US" altLang="zh-CN" sz="2400" b="0">
                  <a:ea typeface="宋体" panose="02010600030101010101" pitchFamily="2" charset="-122"/>
                </a:rPr>
                <a:t>   ~  </a:t>
              </a:r>
              <a:r>
                <a:rPr lang="en-US" altLang="zh-CN" sz="2000">
                  <a:ea typeface="宋体" panose="02010600030101010101" pitchFamily="2" charset="-122"/>
                </a:rPr>
                <a:t>T</a:t>
              </a:r>
              <a:r>
                <a:rPr lang="en-US" altLang="zh-CN" sz="2000" baseline="-25000">
                  <a:ea typeface="宋体" panose="02010600030101010101" pitchFamily="2" charset="-122"/>
                </a:rPr>
                <a:t>4</a:t>
              </a:r>
              <a:endParaRPr lang="en-US" altLang="zh-CN" sz="2000" baseline="-25000">
                <a:ea typeface="宋体" panose="02010600030101010101" pitchFamily="2" charset="-122"/>
              </a:endParaRPr>
            </a:p>
          </p:txBody>
        </p:sp>
        <p:sp>
          <p:nvSpPr>
            <p:cNvPr id="62478" name="Freeform 7"/>
            <p:cNvSpPr/>
            <p:nvPr/>
          </p:nvSpPr>
          <p:spPr bwMode="auto">
            <a:xfrm>
              <a:off x="4264" y="1470"/>
              <a:ext cx="318" cy="141"/>
            </a:xfrm>
            <a:custGeom>
              <a:avLst/>
              <a:gdLst>
                <a:gd name="T0" fmla="*/ 0 w 318"/>
                <a:gd name="T1" fmla="*/ 0 h 141"/>
                <a:gd name="T2" fmla="*/ 315 w 318"/>
                <a:gd name="T3" fmla="*/ 0 h 141"/>
                <a:gd name="T4" fmla="*/ 318 w 318"/>
                <a:gd name="T5" fmla="*/ 141 h 141"/>
                <a:gd name="T6" fmla="*/ 0 60000 65536"/>
                <a:gd name="T7" fmla="*/ 0 60000 65536"/>
                <a:gd name="T8" fmla="*/ 0 60000 65536"/>
                <a:gd name="T9" fmla="*/ 0 w 318"/>
                <a:gd name="T10" fmla="*/ 0 h 141"/>
                <a:gd name="T11" fmla="*/ 318 w 318"/>
                <a:gd name="T12" fmla="*/ 141 h 141"/>
              </a:gdLst>
              <a:ahLst/>
              <a:cxnLst>
                <a:cxn ang="T6">
                  <a:pos x="T0" y="T1"/>
                </a:cxn>
                <a:cxn ang="T7">
                  <a:pos x="T2" y="T3"/>
                </a:cxn>
                <a:cxn ang="T8">
                  <a:pos x="T4" y="T5"/>
                </a:cxn>
              </a:cxnLst>
              <a:rect l="T9" t="T10" r="T11" b="T12"/>
              <a:pathLst>
                <a:path w="318" h="141">
                  <a:moveTo>
                    <a:pt x="0" y="0"/>
                  </a:moveTo>
                  <a:lnTo>
                    <a:pt x="315" y="0"/>
                  </a:lnTo>
                  <a:lnTo>
                    <a:pt x="318" y="141"/>
                  </a:lnTo>
                </a:path>
              </a:pathLst>
            </a:custGeom>
            <a:noFill/>
            <a:ln w="38100">
              <a:solidFill>
                <a:schemeClr val="tx1"/>
              </a:solidFill>
              <a:round/>
              <a:head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2479" name="Freeform 8"/>
            <p:cNvSpPr/>
            <p:nvPr/>
          </p:nvSpPr>
          <p:spPr bwMode="auto">
            <a:xfrm>
              <a:off x="2977" y="1470"/>
              <a:ext cx="327" cy="144"/>
            </a:xfrm>
            <a:custGeom>
              <a:avLst/>
              <a:gdLst>
                <a:gd name="T0" fmla="*/ 327 w 327"/>
                <a:gd name="T1" fmla="*/ 0 h 144"/>
                <a:gd name="T2" fmla="*/ 0 w 327"/>
                <a:gd name="T3" fmla="*/ 0 h 144"/>
                <a:gd name="T4" fmla="*/ 0 w 327"/>
                <a:gd name="T5" fmla="*/ 144 h 144"/>
                <a:gd name="T6" fmla="*/ 0 60000 65536"/>
                <a:gd name="T7" fmla="*/ 0 60000 65536"/>
                <a:gd name="T8" fmla="*/ 0 60000 65536"/>
                <a:gd name="T9" fmla="*/ 0 w 327"/>
                <a:gd name="T10" fmla="*/ 0 h 144"/>
                <a:gd name="T11" fmla="*/ 327 w 327"/>
                <a:gd name="T12" fmla="*/ 144 h 144"/>
              </a:gdLst>
              <a:ahLst/>
              <a:cxnLst>
                <a:cxn ang="T6">
                  <a:pos x="T0" y="T1"/>
                </a:cxn>
                <a:cxn ang="T7">
                  <a:pos x="T2" y="T3"/>
                </a:cxn>
                <a:cxn ang="T8">
                  <a:pos x="T4" y="T5"/>
                </a:cxn>
              </a:cxnLst>
              <a:rect l="T9" t="T10" r="T11" b="T12"/>
              <a:pathLst>
                <a:path w="327" h="144">
                  <a:moveTo>
                    <a:pt x="327" y="0"/>
                  </a:moveTo>
                  <a:lnTo>
                    <a:pt x="0" y="0"/>
                  </a:lnTo>
                  <a:lnTo>
                    <a:pt x="0" y="144"/>
                  </a:lnTo>
                </a:path>
              </a:pathLst>
            </a:custGeom>
            <a:noFill/>
            <a:ln w="38100">
              <a:solidFill>
                <a:schemeClr val="tx1"/>
              </a:solidFill>
              <a:round/>
              <a:head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nvGrpSpPr>
            <p:cNvPr id="62480" name="Group 9"/>
            <p:cNvGrpSpPr/>
            <p:nvPr/>
          </p:nvGrpSpPr>
          <p:grpSpPr bwMode="auto">
            <a:xfrm>
              <a:off x="4507" y="1614"/>
              <a:ext cx="243" cy="48"/>
              <a:chOff x="3459" y="1296"/>
              <a:chExt cx="243" cy="48"/>
            </a:xfrm>
          </p:grpSpPr>
          <p:sp>
            <p:nvSpPr>
              <p:cNvPr id="62535" name="Line 10"/>
              <p:cNvSpPr>
                <a:spLocks noChangeShapeType="1"/>
              </p:cNvSpPr>
              <p:nvPr/>
            </p:nvSpPr>
            <p:spPr bwMode="auto">
              <a:xfrm>
                <a:off x="3459" y="1296"/>
                <a:ext cx="24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2536" name="Line 11"/>
              <p:cNvSpPr>
                <a:spLocks noChangeShapeType="1"/>
              </p:cNvSpPr>
              <p:nvPr/>
            </p:nvSpPr>
            <p:spPr bwMode="auto">
              <a:xfrm>
                <a:off x="3504" y="1344"/>
                <a:ext cx="14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2481" name="Group 12"/>
            <p:cNvGrpSpPr/>
            <p:nvPr/>
          </p:nvGrpSpPr>
          <p:grpSpPr bwMode="auto">
            <a:xfrm>
              <a:off x="2821" y="1614"/>
              <a:ext cx="243" cy="48"/>
              <a:chOff x="3459" y="1296"/>
              <a:chExt cx="243" cy="48"/>
            </a:xfrm>
          </p:grpSpPr>
          <p:sp>
            <p:nvSpPr>
              <p:cNvPr id="62533" name="Line 13"/>
              <p:cNvSpPr>
                <a:spLocks noChangeShapeType="1"/>
              </p:cNvSpPr>
              <p:nvPr/>
            </p:nvSpPr>
            <p:spPr bwMode="auto">
              <a:xfrm>
                <a:off x="3459" y="1296"/>
                <a:ext cx="24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2534" name="Line 14"/>
              <p:cNvSpPr>
                <a:spLocks noChangeShapeType="1"/>
              </p:cNvSpPr>
              <p:nvPr/>
            </p:nvSpPr>
            <p:spPr bwMode="auto">
              <a:xfrm>
                <a:off x="3504" y="1344"/>
                <a:ext cx="14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2482" name="Group 15"/>
            <p:cNvGrpSpPr/>
            <p:nvPr/>
          </p:nvGrpSpPr>
          <p:grpSpPr bwMode="auto">
            <a:xfrm rot="5400000">
              <a:off x="4790" y="2322"/>
              <a:ext cx="243" cy="48"/>
              <a:chOff x="3459" y="1296"/>
              <a:chExt cx="243" cy="48"/>
            </a:xfrm>
          </p:grpSpPr>
          <p:sp>
            <p:nvSpPr>
              <p:cNvPr id="62531" name="Line 16"/>
              <p:cNvSpPr>
                <a:spLocks noChangeShapeType="1"/>
              </p:cNvSpPr>
              <p:nvPr/>
            </p:nvSpPr>
            <p:spPr bwMode="auto">
              <a:xfrm>
                <a:off x="3459" y="1296"/>
                <a:ext cx="24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2532" name="Line 17"/>
              <p:cNvSpPr>
                <a:spLocks noChangeShapeType="1"/>
              </p:cNvSpPr>
              <p:nvPr/>
            </p:nvSpPr>
            <p:spPr bwMode="auto">
              <a:xfrm>
                <a:off x="3504" y="1344"/>
                <a:ext cx="14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62483" name="Group 18"/>
            <p:cNvGrpSpPr/>
            <p:nvPr/>
          </p:nvGrpSpPr>
          <p:grpSpPr bwMode="auto">
            <a:xfrm rot="-5400000">
              <a:off x="2582" y="2322"/>
              <a:ext cx="243" cy="48"/>
              <a:chOff x="3459" y="1296"/>
              <a:chExt cx="243" cy="48"/>
            </a:xfrm>
          </p:grpSpPr>
          <p:sp>
            <p:nvSpPr>
              <p:cNvPr id="62529" name="Line 19"/>
              <p:cNvSpPr>
                <a:spLocks noChangeShapeType="1"/>
              </p:cNvSpPr>
              <p:nvPr/>
            </p:nvSpPr>
            <p:spPr bwMode="auto">
              <a:xfrm>
                <a:off x="3459" y="1296"/>
                <a:ext cx="243"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2530" name="Line 20"/>
              <p:cNvSpPr>
                <a:spLocks noChangeShapeType="1"/>
              </p:cNvSpPr>
              <p:nvPr/>
            </p:nvSpPr>
            <p:spPr bwMode="auto">
              <a:xfrm>
                <a:off x="3504" y="1344"/>
                <a:ext cx="147"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grpSp>
        <p:sp>
          <p:nvSpPr>
            <p:cNvPr id="62484" name="Line 21"/>
            <p:cNvSpPr>
              <a:spLocks noChangeShapeType="1"/>
            </p:cNvSpPr>
            <p:nvPr/>
          </p:nvSpPr>
          <p:spPr bwMode="auto">
            <a:xfrm>
              <a:off x="2728" y="2334"/>
              <a:ext cx="216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2485" name="Freeform 22"/>
            <p:cNvSpPr/>
            <p:nvPr/>
          </p:nvSpPr>
          <p:spPr bwMode="auto">
            <a:xfrm>
              <a:off x="4936" y="2382"/>
              <a:ext cx="192" cy="672"/>
            </a:xfrm>
            <a:custGeom>
              <a:avLst/>
              <a:gdLst>
                <a:gd name="T0" fmla="*/ 0 w 192"/>
                <a:gd name="T1" fmla="*/ 0 h 672"/>
                <a:gd name="T2" fmla="*/ 192 w 192"/>
                <a:gd name="T3" fmla="*/ 0 h 672"/>
                <a:gd name="T4" fmla="*/ 192 w 192"/>
                <a:gd name="T5" fmla="*/ 672 h 672"/>
                <a:gd name="T6" fmla="*/ 0 60000 65536"/>
                <a:gd name="T7" fmla="*/ 0 60000 65536"/>
                <a:gd name="T8" fmla="*/ 0 60000 65536"/>
                <a:gd name="T9" fmla="*/ 0 w 192"/>
                <a:gd name="T10" fmla="*/ 0 h 672"/>
                <a:gd name="T11" fmla="*/ 192 w 192"/>
                <a:gd name="T12" fmla="*/ 672 h 672"/>
              </a:gdLst>
              <a:ahLst/>
              <a:cxnLst>
                <a:cxn ang="T6">
                  <a:pos x="T0" y="T1"/>
                </a:cxn>
                <a:cxn ang="T7">
                  <a:pos x="T2" y="T3"/>
                </a:cxn>
                <a:cxn ang="T8">
                  <a:pos x="T4" y="T5"/>
                </a:cxn>
              </a:cxnLst>
              <a:rect l="T9" t="T10" r="T11" b="T12"/>
              <a:pathLst>
                <a:path w="192" h="672">
                  <a:moveTo>
                    <a:pt x="0" y="0"/>
                  </a:moveTo>
                  <a:lnTo>
                    <a:pt x="192" y="0"/>
                  </a:lnTo>
                  <a:lnTo>
                    <a:pt x="192" y="672"/>
                  </a:lnTo>
                </a:path>
              </a:pathLst>
            </a:custGeom>
            <a:noFill/>
            <a:ln w="38100">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2486" name="AutoShape 23"/>
            <p:cNvSpPr>
              <a:spLocks noChangeArrowheads="1"/>
            </p:cNvSpPr>
            <p:nvPr/>
          </p:nvSpPr>
          <p:spPr bwMode="auto">
            <a:xfrm rot="-5400000">
              <a:off x="3304" y="2910"/>
              <a:ext cx="288" cy="288"/>
            </a:xfrm>
            <a:prstGeom prst="triangle">
              <a:avLst>
                <a:gd name="adj" fmla="val 50000"/>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nvGrpSpPr>
            <p:cNvPr id="62487" name="Group 24"/>
            <p:cNvGrpSpPr/>
            <p:nvPr/>
          </p:nvGrpSpPr>
          <p:grpSpPr bwMode="auto">
            <a:xfrm>
              <a:off x="3902" y="2910"/>
              <a:ext cx="384" cy="288"/>
              <a:chOff x="1248" y="3648"/>
              <a:chExt cx="384" cy="288"/>
            </a:xfrm>
          </p:grpSpPr>
          <p:sp>
            <p:nvSpPr>
              <p:cNvPr id="62527" name="AutoShape 25"/>
              <p:cNvSpPr>
                <a:spLocks noChangeArrowheads="1"/>
              </p:cNvSpPr>
              <p:nvPr/>
            </p:nvSpPr>
            <p:spPr bwMode="auto">
              <a:xfrm rot="5400000">
                <a:off x="1248" y="3648"/>
                <a:ext cx="288" cy="288"/>
              </a:xfrm>
              <a:prstGeom prst="triangle">
                <a:avLst>
                  <a:gd name="adj" fmla="val 50000"/>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2528" name="Oval 26"/>
              <p:cNvSpPr>
                <a:spLocks noChangeArrowheads="1"/>
              </p:cNvSpPr>
              <p:nvPr/>
            </p:nvSpPr>
            <p:spPr bwMode="auto">
              <a:xfrm>
                <a:off x="1536" y="3744"/>
                <a:ext cx="96" cy="96"/>
              </a:xfrm>
              <a:prstGeom prst="ellipse">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sp>
          <p:nvSpPr>
            <p:cNvPr id="62488" name="Line 27"/>
            <p:cNvSpPr>
              <a:spLocks noChangeShapeType="1"/>
            </p:cNvSpPr>
            <p:nvPr/>
          </p:nvSpPr>
          <p:spPr bwMode="auto">
            <a:xfrm>
              <a:off x="4312" y="3054"/>
              <a:ext cx="912"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2489" name="Line 28"/>
            <p:cNvSpPr>
              <a:spLocks noChangeShapeType="1"/>
            </p:cNvSpPr>
            <p:nvPr/>
          </p:nvSpPr>
          <p:spPr bwMode="auto">
            <a:xfrm>
              <a:off x="5608" y="3054"/>
              <a:ext cx="126"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490" name="Line 29"/>
            <p:cNvSpPr>
              <a:spLocks noChangeShapeType="1"/>
            </p:cNvSpPr>
            <p:nvPr/>
          </p:nvSpPr>
          <p:spPr bwMode="auto">
            <a:xfrm>
              <a:off x="3592" y="3054"/>
              <a:ext cx="336"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a:p>
          </p:txBody>
        </p:sp>
        <p:sp>
          <p:nvSpPr>
            <p:cNvPr id="62491" name="Line 30"/>
            <p:cNvSpPr>
              <a:spLocks noChangeShapeType="1"/>
            </p:cNvSpPr>
            <p:nvPr/>
          </p:nvSpPr>
          <p:spPr bwMode="auto">
            <a:xfrm>
              <a:off x="3761" y="3067"/>
              <a:ext cx="0" cy="528"/>
            </a:xfrm>
            <a:prstGeom prst="line">
              <a:avLst/>
            </a:prstGeom>
            <a:noFill/>
            <a:ln w="38100">
              <a:solidFill>
                <a:schemeClr val="tx1"/>
              </a:solidFill>
              <a:round/>
              <a:head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492" name="Line 31"/>
            <p:cNvSpPr>
              <a:spLocks noChangeShapeType="1"/>
            </p:cNvSpPr>
            <p:nvPr/>
          </p:nvSpPr>
          <p:spPr bwMode="auto">
            <a:xfrm flipV="1">
              <a:off x="4072" y="3131"/>
              <a:ext cx="0" cy="480"/>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493" name="Freeform 32"/>
            <p:cNvSpPr/>
            <p:nvPr/>
          </p:nvSpPr>
          <p:spPr bwMode="auto">
            <a:xfrm>
              <a:off x="3448" y="3161"/>
              <a:ext cx="624" cy="314"/>
            </a:xfrm>
            <a:custGeom>
              <a:avLst/>
              <a:gdLst>
                <a:gd name="T0" fmla="*/ 2 w 576"/>
                <a:gd name="T1" fmla="*/ 0 h 314"/>
                <a:gd name="T2" fmla="*/ 0 w 576"/>
                <a:gd name="T3" fmla="*/ 314 h 314"/>
                <a:gd name="T4" fmla="*/ 6892 w 576"/>
                <a:gd name="T5" fmla="*/ 314 h 314"/>
                <a:gd name="T6" fmla="*/ 0 60000 65536"/>
                <a:gd name="T7" fmla="*/ 0 60000 65536"/>
                <a:gd name="T8" fmla="*/ 0 60000 65536"/>
                <a:gd name="T9" fmla="*/ 0 w 576"/>
                <a:gd name="T10" fmla="*/ 0 h 314"/>
                <a:gd name="T11" fmla="*/ 576 w 576"/>
                <a:gd name="T12" fmla="*/ 314 h 314"/>
              </a:gdLst>
              <a:ahLst/>
              <a:cxnLst>
                <a:cxn ang="T6">
                  <a:pos x="T0" y="T1"/>
                </a:cxn>
                <a:cxn ang="T7">
                  <a:pos x="T2" y="T3"/>
                </a:cxn>
                <a:cxn ang="T8">
                  <a:pos x="T4" y="T5"/>
                </a:cxn>
              </a:cxnLst>
              <a:rect l="T9" t="T10" r="T11" b="T12"/>
              <a:pathLst>
                <a:path w="576" h="314">
                  <a:moveTo>
                    <a:pt x="2" y="0"/>
                  </a:moveTo>
                  <a:lnTo>
                    <a:pt x="0" y="314"/>
                  </a:lnTo>
                  <a:lnTo>
                    <a:pt x="576" y="314"/>
                  </a:lnTo>
                </a:path>
              </a:pathLst>
            </a:custGeom>
            <a:noFill/>
            <a:ln w="38100">
              <a:solidFill>
                <a:schemeClr val="tx1"/>
              </a:solidFill>
              <a:round/>
              <a:headEnd type="stealth" w="med" len="med"/>
              <a:tail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2494" name="Freeform 33"/>
            <p:cNvSpPr/>
            <p:nvPr/>
          </p:nvSpPr>
          <p:spPr bwMode="auto">
            <a:xfrm>
              <a:off x="2440" y="2382"/>
              <a:ext cx="864" cy="672"/>
            </a:xfrm>
            <a:custGeom>
              <a:avLst/>
              <a:gdLst>
                <a:gd name="T0" fmla="*/ 9275 w 768"/>
                <a:gd name="T1" fmla="*/ 0 h 720"/>
                <a:gd name="T2" fmla="*/ 0 w 768"/>
                <a:gd name="T3" fmla="*/ 0 h 720"/>
                <a:gd name="T4" fmla="*/ 0 w 768"/>
                <a:gd name="T5" fmla="*/ 85 h 720"/>
                <a:gd name="T6" fmla="*/ 29597 w 768"/>
                <a:gd name="T7" fmla="*/ 85 h 720"/>
                <a:gd name="T8" fmla="*/ 0 60000 65536"/>
                <a:gd name="T9" fmla="*/ 0 60000 65536"/>
                <a:gd name="T10" fmla="*/ 0 60000 65536"/>
                <a:gd name="T11" fmla="*/ 0 60000 65536"/>
                <a:gd name="T12" fmla="*/ 0 w 768"/>
                <a:gd name="T13" fmla="*/ 0 h 720"/>
                <a:gd name="T14" fmla="*/ 768 w 768"/>
                <a:gd name="T15" fmla="*/ 720 h 720"/>
              </a:gdLst>
              <a:ahLst/>
              <a:cxnLst>
                <a:cxn ang="T8">
                  <a:pos x="T0" y="T1"/>
                </a:cxn>
                <a:cxn ang="T9">
                  <a:pos x="T2" y="T3"/>
                </a:cxn>
                <a:cxn ang="T10">
                  <a:pos x="T4" y="T5"/>
                </a:cxn>
                <a:cxn ang="T11">
                  <a:pos x="T6" y="T7"/>
                </a:cxn>
              </a:cxnLst>
              <a:rect l="T12" t="T13" r="T14" b="T15"/>
              <a:pathLst>
                <a:path w="768" h="720">
                  <a:moveTo>
                    <a:pt x="240" y="0"/>
                  </a:moveTo>
                  <a:lnTo>
                    <a:pt x="0" y="0"/>
                  </a:lnTo>
                  <a:lnTo>
                    <a:pt x="0" y="720"/>
                  </a:lnTo>
                  <a:lnTo>
                    <a:pt x="768" y="720"/>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2495" name="Freeform 34"/>
            <p:cNvSpPr/>
            <p:nvPr/>
          </p:nvSpPr>
          <p:spPr bwMode="auto">
            <a:xfrm>
              <a:off x="2018" y="1662"/>
              <a:ext cx="2607" cy="375"/>
            </a:xfrm>
            <a:custGeom>
              <a:avLst/>
              <a:gdLst>
                <a:gd name="T0" fmla="*/ 611 w 2736"/>
                <a:gd name="T1" fmla="*/ 0 h 240"/>
                <a:gd name="T2" fmla="*/ 611 w 2736"/>
                <a:gd name="T3" fmla="*/ 244796761 h 240"/>
                <a:gd name="T4" fmla="*/ 0 w 2736"/>
                <a:gd name="T5" fmla="*/ 244796761 h 240"/>
                <a:gd name="T6" fmla="*/ 0 60000 65536"/>
                <a:gd name="T7" fmla="*/ 0 60000 65536"/>
                <a:gd name="T8" fmla="*/ 0 60000 65536"/>
                <a:gd name="T9" fmla="*/ 0 w 2736"/>
                <a:gd name="T10" fmla="*/ 0 h 240"/>
                <a:gd name="T11" fmla="*/ 2736 w 2736"/>
                <a:gd name="T12" fmla="*/ 240 h 240"/>
              </a:gdLst>
              <a:ahLst/>
              <a:cxnLst>
                <a:cxn ang="T6">
                  <a:pos x="T0" y="T1"/>
                </a:cxn>
                <a:cxn ang="T7">
                  <a:pos x="T2" y="T3"/>
                </a:cxn>
                <a:cxn ang="T8">
                  <a:pos x="T4" y="T5"/>
                </a:cxn>
              </a:cxnLst>
              <a:rect l="T9" t="T10" r="T11" b="T12"/>
              <a:pathLst>
                <a:path w="2736" h="240">
                  <a:moveTo>
                    <a:pt x="2736" y="0"/>
                  </a:moveTo>
                  <a:lnTo>
                    <a:pt x="2736" y="240"/>
                  </a:lnTo>
                  <a:lnTo>
                    <a:pt x="0" y="240"/>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2496" name="Freeform 35"/>
            <p:cNvSpPr/>
            <p:nvPr/>
          </p:nvSpPr>
          <p:spPr bwMode="auto">
            <a:xfrm>
              <a:off x="2932" y="1662"/>
              <a:ext cx="2" cy="383"/>
            </a:xfrm>
            <a:custGeom>
              <a:avLst/>
              <a:gdLst>
                <a:gd name="T0" fmla="*/ 0 w 2"/>
                <a:gd name="T1" fmla="*/ 0 h 383"/>
                <a:gd name="T2" fmla="*/ 2 w 2"/>
                <a:gd name="T3" fmla="*/ 383 h 383"/>
                <a:gd name="T4" fmla="*/ 0 60000 65536"/>
                <a:gd name="T5" fmla="*/ 0 60000 65536"/>
                <a:gd name="T6" fmla="*/ 0 w 2"/>
                <a:gd name="T7" fmla="*/ 0 h 383"/>
                <a:gd name="T8" fmla="*/ 2 w 2"/>
                <a:gd name="T9" fmla="*/ 383 h 383"/>
              </a:gdLst>
              <a:ahLst/>
              <a:cxnLst>
                <a:cxn ang="T4">
                  <a:pos x="T0" y="T1"/>
                </a:cxn>
                <a:cxn ang="T5">
                  <a:pos x="T2" y="T3"/>
                </a:cxn>
              </a:cxnLst>
              <a:rect l="T6" t="T7" r="T8" b="T9"/>
              <a:pathLst>
                <a:path w="2" h="383">
                  <a:moveTo>
                    <a:pt x="0" y="0"/>
                  </a:moveTo>
                  <a:lnTo>
                    <a:pt x="2" y="383"/>
                  </a:lnTo>
                </a:path>
              </a:pathLst>
            </a:custGeom>
            <a:noFill/>
            <a:ln w="38100">
              <a:solidFill>
                <a:schemeClr val="tx1"/>
              </a:solidFill>
              <a:round/>
              <a:tail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2497" name="Freeform 36"/>
            <p:cNvSpPr/>
            <p:nvPr/>
          </p:nvSpPr>
          <p:spPr bwMode="auto">
            <a:xfrm>
              <a:off x="2018" y="2334"/>
              <a:ext cx="1766" cy="384"/>
            </a:xfrm>
            <a:custGeom>
              <a:avLst/>
              <a:gdLst>
                <a:gd name="T0" fmla="*/ 307 w 1872"/>
                <a:gd name="T1" fmla="*/ 0 h 384"/>
                <a:gd name="T2" fmla="*/ 307 w 1872"/>
                <a:gd name="T3" fmla="*/ 384 h 384"/>
                <a:gd name="T4" fmla="*/ 0 w 1872"/>
                <a:gd name="T5" fmla="*/ 384 h 384"/>
                <a:gd name="T6" fmla="*/ 0 60000 65536"/>
                <a:gd name="T7" fmla="*/ 0 60000 65536"/>
                <a:gd name="T8" fmla="*/ 0 60000 65536"/>
                <a:gd name="T9" fmla="*/ 0 w 1872"/>
                <a:gd name="T10" fmla="*/ 0 h 384"/>
                <a:gd name="T11" fmla="*/ 1872 w 1872"/>
                <a:gd name="T12" fmla="*/ 384 h 384"/>
              </a:gdLst>
              <a:ahLst/>
              <a:cxnLst>
                <a:cxn ang="T6">
                  <a:pos x="T0" y="T1"/>
                </a:cxn>
                <a:cxn ang="T7">
                  <a:pos x="T2" y="T3"/>
                </a:cxn>
                <a:cxn ang="T8">
                  <a:pos x="T4" y="T5"/>
                </a:cxn>
              </a:cxnLst>
              <a:rect l="T9" t="T10" r="T11" b="T12"/>
              <a:pathLst>
                <a:path w="1872" h="384">
                  <a:moveTo>
                    <a:pt x="1872" y="0"/>
                  </a:moveTo>
                  <a:lnTo>
                    <a:pt x="1872" y="384"/>
                  </a:lnTo>
                  <a:lnTo>
                    <a:pt x="0" y="384"/>
                  </a:lnTo>
                </a:path>
              </a:pathLst>
            </a:custGeom>
            <a:noFill/>
            <a:ln w="38100">
              <a:solidFill>
                <a:schemeClr val="tx1"/>
              </a:solidFill>
              <a:round/>
              <a:headEnd type="oval"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2498" name="Line 37"/>
            <p:cNvSpPr>
              <a:spLocks noChangeShapeType="1"/>
            </p:cNvSpPr>
            <p:nvPr/>
          </p:nvSpPr>
          <p:spPr bwMode="auto">
            <a:xfrm flipV="1">
              <a:off x="5375" y="3131"/>
              <a:ext cx="0" cy="364"/>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62499" name="Freeform 38"/>
            <p:cNvSpPr/>
            <p:nvPr/>
          </p:nvSpPr>
          <p:spPr bwMode="auto">
            <a:xfrm>
              <a:off x="2440" y="1470"/>
              <a:ext cx="459" cy="816"/>
            </a:xfrm>
            <a:custGeom>
              <a:avLst/>
              <a:gdLst>
                <a:gd name="T0" fmla="*/ 459 w 459"/>
                <a:gd name="T1" fmla="*/ 144 h 816"/>
                <a:gd name="T2" fmla="*/ 459 w 459"/>
                <a:gd name="T3" fmla="*/ 0 h 816"/>
                <a:gd name="T4" fmla="*/ 0 w 459"/>
                <a:gd name="T5" fmla="*/ 0 h 816"/>
                <a:gd name="T6" fmla="*/ 0 w 459"/>
                <a:gd name="T7" fmla="*/ 816 h 816"/>
                <a:gd name="T8" fmla="*/ 240 w 459"/>
                <a:gd name="T9" fmla="*/ 816 h 816"/>
                <a:gd name="T10" fmla="*/ 0 60000 65536"/>
                <a:gd name="T11" fmla="*/ 0 60000 65536"/>
                <a:gd name="T12" fmla="*/ 0 60000 65536"/>
                <a:gd name="T13" fmla="*/ 0 60000 65536"/>
                <a:gd name="T14" fmla="*/ 0 60000 65536"/>
                <a:gd name="T15" fmla="*/ 0 w 459"/>
                <a:gd name="T16" fmla="*/ 0 h 816"/>
                <a:gd name="T17" fmla="*/ 459 w 459"/>
                <a:gd name="T18" fmla="*/ 816 h 816"/>
              </a:gdLst>
              <a:ahLst/>
              <a:cxnLst>
                <a:cxn ang="T10">
                  <a:pos x="T0" y="T1"/>
                </a:cxn>
                <a:cxn ang="T11">
                  <a:pos x="T2" y="T3"/>
                </a:cxn>
                <a:cxn ang="T12">
                  <a:pos x="T4" y="T5"/>
                </a:cxn>
                <a:cxn ang="T13">
                  <a:pos x="T6" y="T7"/>
                </a:cxn>
                <a:cxn ang="T14">
                  <a:pos x="T8" y="T9"/>
                </a:cxn>
              </a:cxnLst>
              <a:rect l="T15" t="T16" r="T17" b="T18"/>
              <a:pathLst>
                <a:path w="459" h="816">
                  <a:moveTo>
                    <a:pt x="459" y="144"/>
                  </a:moveTo>
                  <a:lnTo>
                    <a:pt x="459" y="0"/>
                  </a:lnTo>
                  <a:lnTo>
                    <a:pt x="0" y="0"/>
                  </a:lnTo>
                  <a:lnTo>
                    <a:pt x="0" y="816"/>
                  </a:lnTo>
                  <a:lnTo>
                    <a:pt x="240" y="816"/>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2500" name="Freeform 39"/>
            <p:cNvSpPr/>
            <p:nvPr/>
          </p:nvSpPr>
          <p:spPr bwMode="auto">
            <a:xfrm>
              <a:off x="4666" y="1470"/>
              <a:ext cx="462" cy="818"/>
            </a:xfrm>
            <a:custGeom>
              <a:avLst/>
              <a:gdLst>
                <a:gd name="T0" fmla="*/ 3 w 462"/>
                <a:gd name="T1" fmla="*/ 144 h 818"/>
                <a:gd name="T2" fmla="*/ 0 w 462"/>
                <a:gd name="T3" fmla="*/ 0 h 818"/>
                <a:gd name="T4" fmla="*/ 462 w 462"/>
                <a:gd name="T5" fmla="*/ 0 h 818"/>
                <a:gd name="T6" fmla="*/ 462 w 462"/>
                <a:gd name="T7" fmla="*/ 816 h 818"/>
                <a:gd name="T8" fmla="*/ 272 w 462"/>
                <a:gd name="T9" fmla="*/ 818 h 818"/>
                <a:gd name="T10" fmla="*/ 0 60000 65536"/>
                <a:gd name="T11" fmla="*/ 0 60000 65536"/>
                <a:gd name="T12" fmla="*/ 0 60000 65536"/>
                <a:gd name="T13" fmla="*/ 0 60000 65536"/>
                <a:gd name="T14" fmla="*/ 0 60000 65536"/>
                <a:gd name="T15" fmla="*/ 0 w 462"/>
                <a:gd name="T16" fmla="*/ 0 h 818"/>
                <a:gd name="T17" fmla="*/ 462 w 462"/>
                <a:gd name="T18" fmla="*/ 818 h 818"/>
              </a:gdLst>
              <a:ahLst/>
              <a:cxnLst>
                <a:cxn ang="T10">
                  <a:pos x="T0" y="T1"/>
                </a:cxn>
                <a:cxn ang="T11">
                  <a:pos x="T2" y="T3"/>
                </a:cxn>
                <a:cxn ang="T12">
                  <a:pos x="T4" y="T5"/>
                </a:cxn>
                <a:cxn ang="T13">
                  <a:pos x="T6" y="T7"/>
                </a:cxn>
                <a:cxn ang="T14">
                  <a:pos x="T8" y="T9"/>
                </a:cxn>
              </a:cxnLst>
              <a:rect l="T15" t="T16" r="T17" b="T18"/>
              <a:pathLst>
                <a:path w="462" h="818">
                  <a:moveTo>
                    <a:pt x="3" y="144"/>
                  </a:moveTo>
                  <a:lnTo>
                    <a:pt x="0" y="0"/>
                  </a:lnTo>
                  <a:lnTo>
                    <a:pt x="462" y="0"/>
                  </a:lnTo>
                  <a:lnTo>
                    <a:pt x="462" y="816"/>
                  </a:lnTo>
                  <a:lnTo>
                    <a:pt x="272" y="818"/>
                  </a:lnTo>
                </a:path>
              </a:pathLst>
            </a:cu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2501" name="Text Box 40"/>
            <p:cNvSpPr txBox="1">
              <a:spLocks noChangeArrowheads="1"/>
            </p:cNvSpPr>
            <p:nvPr/>
          </p:nvSpPr>
          <p:spPr bwMode="auto">
            <a:xfrm>
              <a:off x="2606" y="1460"/>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r>
                <a:rPr lang="en-US" altLang="zh-CN" sz="2000" baseline="-15000">
                  <a:ea typeface="宋体" panose="02010600030101010101" pitchFamily="2" charset="-122"/>
                </a:rPr>
                <a:t>5</a:t>
              </a:r>
              <a:endParaRPr lang="en-US" altLang="zh-CN" sz="2000" baseline="-15000">
                <a:ea typeface="宋体" panose="02010600030101010101" pitchFamily="2" charset="-122"/>
              </a:endParaRPr>
            </a:p>
          </p:txBody>
        </p:sp>
        <p:sp>
          <p:nvSpPr>
            <p:cNvPr id="62502" name="Text Box 41"/>
            <p:cNvSpPr txBox="1">
              <a:spLocks noChangeArrowheads="1"/>
            </p:cNvSpPr>
            <p:nvPr/>
          </p:nvSpPr>
          <p:spPr bwMode="auto">
            <a:xfrm>
              <a:off x="4698" y="1460"/>
              <a:ext cx="27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r>
                <a:rPr lang="en-US" altLang="zh-CN" sz="2000" baseline="-15000">
                  <a:ea typeface="宋体" panose="02010600030101010101" pitchFamily="2" charset="-122"/>
                </a:rPr>
                <a:t>6</a:t>
              </a:r>
              <a:endParaRPr lang="en-US" altLang="zh-CN" sz="2000" baseline="-15000">
                <a:ea typeface="宋体" panose="02010600030101010101" pitchFamily="2" charset="-122"/>
              </a:endParaRPr>
            </a:p>
          </p:txBody>
        </p:sp>
        <p:sp>
          <p:nvSpPr>
            <p:cNvPr id="62503" name="Text Box 42"/>
            <p:cNvSpPr txBox="1">
              <a:spLocks noChangeArrowheads="1"/>
            </p:cNvSpPr>
            <p:nvPr/>
          </p:nvSpPr>
          <p:spPr bwMode="auto">
            <a:xfrm>
              <a:off x="2689" y="2094"/>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62504" name="Text Box 43"/>
            <p:cNvSpPr txBox="1">
              <a:spLocks noChangeArrowheads="1"/>
            </p:cNvSpPr>
            <p:nvPr/>
          </p:nvSpPr>
          <p:spPr bwMode="auto">
            <a:xfrm>
              <a:off x="2785" y="217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1400">
                  <a:ea typeface="宋体" panose="02010600030101010101" pitchFamily="2" charset="-122"/>
                </a:rPr>
                <a:t>7</a:t>
              </a:r>
              <a:endParaRPr lang="en-US" altLang="zh-CN" sz="1400">
                <a:ea typeface="宋体" panose="02010600030101010101" pitchFamily="2" charset="-122"/>
              </a:endParaRPr>
            </a:p>
          </p:txBody>
        </p:sp>
        <p:sp>
          <p:nvSpPr>
            <p:cNvPr id="62505" name="Text Box 44"/>
            <p:cNvSpPr txBox="1">
              <a:spLocks noChangeArrowheads="1"/>
            </p:cNvSpPr>
            <p:nvPr/>
          </p:nvSpPr>
          <p:spPr bwMode="auto">
            <a:xfrm>
              <a:off x="4626" y="2094"/>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T</a:t>
              </a:r>
              <a:endParaRPr lang="en-US" altLang="zh-CN" sz="2000">
                <a:ea typeface="宋体" panose="02010600030101010101" pitchFamily="2" charset="-122"/>
              </a:endParaRPr>
            </a:p>
          </p:txBody>
        </p:sp>
        <p:sp>
          <p:nvSpPr>
            <p:cNvPr id="62506" name="Text Box 45"/>
            <p:cNvSpPr txBox="1">
              <a:spLocks noChangeArrowheads="1"/>
            </p:cNvSpPr>
            <p:nvPr/>
          </p:nvSpPr>
          <p:spPr bwMode="auto">
            <a:xfrm>
              <a:off x="4748" y="2174"/>
              <a:ext cx="1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1400">
                  <a:ea typeface="宋体" panose="02010600030101010101" pitchFamily="2" charset="-122"/>
                </a:rPr>
                <a:t>8</a:t>
              </a:r>
              <a:endParaRPr lang="en-US" altLang="zh-CN" sz="1400">
                <a:ea typeface="宋体" panose="02010600030101010101" pitchFamily="2" charset="-122"/>
              </a:endParaRPr>
            </a:p>
          </p:txBody>
        </p:sp>
        <p:sp>
          <p:nvSpPr>
            <p:cNvPr id="62507" name="Text Box 46"/>
            <p:cNvSpPr txBox="1">
              <a:spLocks noChangeArrowheads="1"/>
            </p:cNvSpPr>
            <p:nvPr/>
          </p:nvSpPr>
          <p:spPr bwMode="auto">
            <a:xfrm>
              <a:off x="3073" y="1230"/>
              <a:ext cx="2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A</a:t>
              </a:r>
              <a:endParaRPr lang="en-US" altLang="zh-CN" sz="2000">
                <a:ea typeface="宋体" panose="02010600030101010101" pitchFamily="2" charset="-122"/>
                <a:cs typeface="Times New Roman" panose="02020603050405020304" pitchFamily="18" charset="0"/>
              </a:endParaRPr>
            </a:p>
          </p:txBody>
        </p:sp>
        <p:sp>
          <p:nvSpPr>
            <p:cNvPr id="62508" name="Text Box 47"/>
            <p:cNvSpPr txBox="1">
              <a:spLocks noChangeArrowheads="1"/>
            </p:cNvSpPr>
            <p:nvPr/>
          </p:nvSpPr>
          <p:spPr bwMode="auto">
            <a:xfrm>
              <a:off x="4233" y="1230"/>
              <a:ext cx="22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en-US" altLang="zh-CN" sz="2000">
                  <a:ea typeface="宋体" panose="02010600030101010101" pitchFamily="2" charset="-122"/>
                </a:rPr>
                <a:t>B</a:t>
              </a:r>
              <a:endParaRPr lang="en-US" altLang="zh-CN" sz="2000">
                <a:ea typeface="宋体" panose="02010600030101010101" pitchFamily="2" charset="-122"/>
              </a:endParaRPr>
            </a:p>
          </p:txBody>
        </p:sp>
        <p:sp>
          <p:nvSpPr>
            <p:cNvPr id="62509" name="Text Box 48"/>
            <p:cNvSpPr txBox="1">
              <a:spLocks noChangeArrowheads="1"/>
            </p:cNvSpPr>
            <p:nvPr/>
          </p:nvSpPr>
          <p:spPr bwMode="auto">
            <a:xfrm>
              <a:off x="2800" y="2775"/>
              <a:ext cx="6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写放大器</a:t>
              </a:r>
              <a:endParaRPr lang="zh-CN" altLang="en-US" sz="1800"/>
            </a:p>
          </p:txBody>
        </p:sp>
        <p:sp>
          <p:nvSpPr>
            <p:cNvPr id="62510" name="Text Box 49"/>
            <p:cNvSpPr txBox="1">
              <a:spLocks noChangeArrowheads="1"/>
            </p:cNvSpPr>
            <p:nvPr/>
          </p:nvSpPr>
          <p:spPr bwMode="auto">
            <a:xfrm>
              <a:off x="4024" y="2775"/>
              <a:ext cx="6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写放大器</a:t>
              </a:r>
              <a:endParaRPr lang="zh-CN" altLang="en-US" sz="1800"/>
            </a:p>
          </p:txBody>
        </p:sp>
        <p:sp>
          <p:nvSpPr>
            <p:cNvPr id="62511" name="Text Box 50"/>
            <p:cNvSpPr txBox="1">
              <a:spLocks noChangeArrowheads="1"/>
            </p:cNvSpPr>
            <p:nvPr/>
          </p:nvSpPr>
          <p:spPr bwMode="auto">
            <a:xfrm>
              <a:off x="3599" y="3543"/>
              <a:ext cx="34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D</a:t>
              </a:r>
              <a:r>
                <a:rPr lang="en-US" altLang="zh-CN" sz="2000" baseline="-25000">
                  <a:ea typeface="宋体" panose="02010600030101010101" pitchFamily="2" charset="-122"/>
                </a:rPr>
                <a:t>IN</a:t>
              </a:r>
              <a:endParaRPr lang="en-US" altLang="zh-CN" sz="2000" baseline="-25000">
                <a:ea typeface="宋体" panose="02010600030101010101" pitchFamily="2" charset="-122"/>
              </a:endParaRPr>
            </a:p>
          </p:txBody>
        </p:sp>
        <p:sp>
          <p:nvSpPr>
            <p:cNvPr id="62512" name="Text Box 51"/>
            <p:cNvSpPr txBox="1">
              <a:spLocks noChangeArrowheads="1"/>
            </p:cNvSpPr>
            <p:nvPr/>
          </p:nvSpPr>
          <p:spPr bwMode="auto">
            <a:xfrm>
              <a:off x="4049" y="3486"/>
              <a:ext cx="55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写选择</a:t>
              </a:r>
              <a:endParaRPr lang="zh-CN" altLang="en-US" sz="1800"/>
            </a:p>
          </p:txBody>
        </p:sp>
        <p:sp>
          <p:nvSpPr>
            <p:cNvPr id="62513" name="Text Box 52"/>
            <p:cNvSpPr txBox="1">
              <a:spLocks noChangeArrowheads="1"/>
            </p:cNvSpPr>
            <p:nvPr/>
          </p:nvSpPr>
          <p:spPr bwMode="auto">
            <a:xfrm>
              <a:off x="5096" y="3475"/>
              <a:ext cx="55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读选择</a:t>
              </a:r>
              <a:endParaRPr lang="zh-CN" altLang="en-US" sz="1800"/>
            </a:p>
          </p:txBody>
        </p:sp>
        <p:sp>
          <p:nvSpPr>
            <p:cNvPr id="62514" name="Text Box 53"/>
            <p:cNvSpPr txBox="1">
              <a:spLocks noChangeArrowheads="1"/>
            </p:cNvSpPr>
            <p:nvPr/>
          </p:nvSpPr>
          <p:spPr bwMode="auto">
            <a:xfrm>
              <a:off x="5329" y="2772"/>
              <a:ext cx="45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D</a:t>
              </a:r>
              <a:r>
                <a:rPr lang="en-US" altLang="zh-CN" sz="2000" baseline="-25000">
                  <a:ea typeface="宋体" panose="02010600030101010101" pitchFamily="2" charset="-122"/>
                </a:rPr>
                <a:t>OUT</a:t>
              </a:r>
              <a:endParaRPr lang="en-US" altLang="zh-CN" sz="2000" baseline="-25000">
                <a:ea typeface="宋体" panose="02010600030101010101" pitchFamily="2" charset="-122"/>
              </a:endParaRPr>
            </a:p>
          </p:txBody>
        </p:sp>
        <p:sp>
          <p:nvSpPr>
            <p:cNvPr id="62515" name="Text Box 54"/>
            <p:cNvSpPr txBox="1">
              <a:spLocks noChangeArrowheads="1"/>
            </p:cNvSpPr>
            <p:nvPr/>
          </p:nvSpPr>
          <p:spPr bwMode="auto">
            <a:xfrm>
              <a:off x="4939" y="2614"/>
              <a:ext cx="75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读放大器</a:t>
              </a:r>
              <a:endParaRPr lang="zh-CN" altLang="en-US" sz="1800"/>
            </a:p>
          </p:txBody>
        </p:sp>
        <p:sp>
          <p:nvSpPr>
            <p:cNvPr id="62516" name="Text Box 55"/>
            <p:cNvSpPr txBox="1">
              <a:spLocks noChangeArrowheads="1"/>
            </p:cNvSpPr>
            <p:nvPr/>
          </p:nvSpPr>
          <p:spPr bwMode="auto">
            <a:xfrm>
              <a:off x="5224" y="1230"/>
              <a:ext cx="5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位线</a:t>
              </a:r>
              <a:r>
                <a:rPr lang="en-US" altLang="zh-CN" sz="1800"/>
                <a:t>D</a:t>
              </a:r>
              <a:endParaRPr lang="en-US" altLang="zh-CN" sz="1800">
                <a:ea typeface="宋体" panose="02010600030101010101" pitchFamily="2" charset="-122"/>
              </a:endParaRPr>
            </a:p>
          </p:txBody>
        </p:sp>
        <p:sp>
          <p:nvSpPr>
            <p:cNvPr id="62517" name="Freeform 56"/>
            <p:cNvSpPr/>
            <p:nvPr/>
          </p:nvSpPr>
          <p:spPr bwMode="auto">
            <a:xfrm>
              <a:off x="5157" y="1450"/>
              <a:ext cx="259" cy="260"/>
            </a:xfrm>
            <a:custGeom>
              <a:avLst/>
              <a:gdLst>
                <a:gd name="T0" fmla="*/ 259 w 259"/>
                <a:gd name="T1" fmla="*/ 0 h 260"/>
                <a:gd name="T2" fmla="*/ 0 w 259"/>
                <a:gd name="T3" fmla="*/ 260 h 260"/>
                <a:gd name="T4" fmla="*/ 0 60000 65536"/>
                <a:gd name="T5" fmla="*/ 0 60000 65536"/>
                <a:gd name="T6" fmla="*/ 0 w 259"/>
                <a:gd name="T7" fmla="*/ 0 h 260"/>
                <a:gd name="T8" fmla="*/ 259 w 259"/>
                <a:gd name="T9" fmla="*/ 260 h 260"/>
              </a:gdLst>
              <a:ahLst/>
              <a:cxnLst>
                <a:cxn ang="T4">
                  <a:pos x="T0" y="T1"/>
                </a:cxn>
                <a:cxn ang="T5">
                  <a:pos x="T2" y="T3"/>
                </a:cxn>
              </a:cxnLst>
              <a:rect l="T6" t="T7" r="T8" b="T9"/>
              <a:pathLst>
                <a:path w="259" h="260">
                  <a:moveTo>
                    <a:pt x="259" y="0"/>
                  </a:moveTo>
                  <a:lnTo>
                    <a:pt x="0" y="260"/>
                  </a:lnTo>
                </a:path>
              </a:pathLst>
            </a:custGeom>
            <a:noFill/>
            <a:ln w="38100">
              <a:solidFill>
                <a:schemeClr val="tx1"/>
              </a:solidFill>
              <a:round/>
              <a:tailEnd type="stealth" w="med" len="med"/>
            </a:ln>
            <a:extLst>
              <a:ext uri="{909E8E84-426E-40DD-AFC4-6F175D3DCCD1}">
                <a14:hiddenFill xmlns:a14="http://schemas.microsoft.com/office/drawing/2010/main">
                  <a:solidFill>
                    <a:srgbClr val="FFFFFF"/>
                  </a:solidFill>
                </a14:hiddenFill>
              </a:ext>
            </a:extLst>
          </p:spPr>
          <p:txBody>
            <a:bodyPr>
              <a:spAutoFit/>
            </a:bodyPr>
            <a:lstStyle/>
            <a:p>
              <a:endParaRPr lang="zh-CN" altLang="en-US"/>
            </a:p>
          </p:txBody>
        </p:sp>
        <p:sp>
          <p:nvSpPr>
            <p:cNvPr id="62518" name="Text Box 57"/>
            <p:cNvSpPr txBox="1">
              <a:spLocks noChangeArrowheads="1"/>
            </p:cNvSpPr>
            <p:nvPr/>
          </p:nvSpPr>
          <p:spPr bwMode="auto">
            <a:xfrm>
              <a:off x="1902" y="1230"/>
              <a:ext cx="51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zh-CN" altLang="en-US" sz="1800"/>
                <a:t>位线</a:t>
              </a:r>
              <a:r>
                <a:rPr lang="en-US" altLang="zh-CN" sz="1800"/>
                <a:t>D</a:t>
              </a:r>
              <a:endParaRPr lang="en-US" altLang="zh-CN" sz="1800">
                <a:ea typeface="宋体" panose="02010600030101010101" pitchFamily="2" charset="-122"/>
              </a:endParaRPr>
            </a:p>
          </p:txBody>
        </p:sp>
        <p:sp>
          <p:nvSpPr>
            <p:cNvPr id="62519" name="Line 58"/>
            <p:cNvSpPr>
              <a:spLocks noChangeShapeType="1"/>
            </p:cNvSpPr>
            <p:nvPr/>
          </p:nvSpPr>
          <p:spPr bwMode="auto">
            <a:xfrm>
              <a:off x="2152" y="1470"/>
              <a:ext cx="240" cy="240"/>
            </a:xfrm>
            <a:prstGeom prst="line">
              <a:avLst/>
            </a:prstGeom>
            <a:noFill/>
            <a:ln w="38100">
              <a:solidFill>
                <a:schemeClr val="tx1"/>
              </a:solidFill>
              <a:round/>
              <a:tailEnd type="stealth"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62520" name="Text Box 59"/>
            <p:cNvSpPr txBox="1">
              <a:spLocks noChangeArrowheads="1"/>
            </p:cNvSpPr>
            <p:nvPr/>
          </p:nvSpPr>
          <p:spPr bwMode="auto">
            <a:xfrm>
              <a:off x="1882" y="2282"/>
              <a:ext cx="551"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zh-CN" altLang="en-US" sz="1800"/>
                <a:t>列地址</a:t>
              </a:r>
              <a:endParaRPr lang="zh-CN" altLang="en-US" sz="1800"/>
            </a:p>
            <a:p>
              <a:pPr eaLnBrk="1" hangingPunct="1">
                <a:spcBef>
                  <a:spcPct val="0"/>
                </a:spcBef>
                <a:buClrTx/>
                <a:buFontTx/>
                <a:buNone/>
              </a:pPr>
              <a:r>
                <a:rPr lang="zh-CN" altLang="en-US" sz="1800"/>
                <a:t>选择</a:t>
              </a:r>
              <a:endParaRPr lang="zh-CN" altLang="en-US" sz="1800"/>
            </a:p>
          </p:txBody>
        </p:sp>
        <p:sp>
          <p:nvSpPr>
            <p:cNvPr id="62521" name="Text Box 60"/>
            <p:cNvSpPr txBox="1">
              <a:spLocks noChangeArrowheads="1"/>
            </p:cNvSpPr>
            <p:nvPr/>
          </p:nvSpPr>
          <p:spPr bwMode="auto">
            <a:xfrm>
              <a:off x="1882" y="1642"/>
              <a:ext cx="551"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0"/>
                </a:spcBef>
                <a:buClrTx/>
                <a:buFontTx/>
                <a:buNone/>
              </a:pPr>
              <a:r>
                <a:rPr lang="zh-CN" altLang="en-US" sz="1800"/>
                <a:t>行地址</a:t>
              </a:r>
              <a:endParaRPr lang="zh-CN" altLang="en-US" sz="1800"/>
            </a:p>
            <a:p>
              <a:pPr eaLnBrk="1" hangingPunct="1">
                <a:spcBef>
                  <a:spcPct val="0"/>
                </a:spcBef>
                <a:buClrTx/>
                <a:buFontTx/>
                <a:buNone/>
              </a:pPr>
              <a:r>
                <a:rPr lang="zh-CN" altLang="en-US" sz="1800"/>
                <a:t>选择</a:t>
              </a:r>
              <a:endParaRPr lang="zh-CN" altLang="en-US" sz="1800"/>
            </a:p>
          </p:txBody>
        </p:sp>
        <p:sp>
          <p:nvSpPr>
            <p:cNvPr id="62522" name="Rectangle 61"/>
            <p:cNvSpPr>
              <a:spLocks noChangeArrowheads="1"/>
            </p:cNvSpPr>
            <p:nvPr/>
          </p:nvSpPr>
          <p:spPr bwMode="auto">
            <a:xfrm>
              <a:off x="2581" y="754"/>
              <a:ext cx="2400" cy="1224"/>
            </a:xfrm>
            <a:prstGeom prst="rect">
              <a:avLst/>
            </a:prstGeom>
            <a:noFill/>
            <a:ln w="19050">
              <a:solidFill>
                <a:srgbClr val="CC3300"/>
              </a:solidFill>
              <a:prstDash val="dash"/>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2523" name="Line 62"/>
            <p:cNvSpPr>
              <a:spLocks noChangeShapeType="1"/>
            </p:cNvSpPr>
            <p:nvPr/>
          </p:nvSpPr>
          <p:spPr bwMode="auto">
            <a:xfrm>
              <a:off x="5556" y="1278"/>
              <a:ext cx="136" cy="0"/>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62524" name="Group 63"/>
            <p:cNvGrpSpPr/>
            <p:nvPr/>
          </p:nvGrpSpPr>
          <p:grpSpPr bwMode="auto">
            <a:xfrm>
              <a:off x="5224" y="2910"/>
              <a:ext cx="384" cy="288"/>
              <a:chOff x="1248" y="3648"/>
              <a:chExt cx="384" cy="288"/>
            </a:xfrm>
          </p:grpSpPr>
          <p:sp>
            <p:nvSpPr>
              <p:cNvPr id="62525" name="AutoShape 64"/>
              <p:cNvSpPr>
                <a:spLocks noChangeArrowheads="1"/>
              </p:cNvSpPr>
              <p:nvPr/>
            </p:nvSpPr>
            <p:spPr bwMode="auto">
              <a:xfrm rot="5400000">
                <a:off x="1248" y="3648"/>
                <a:ext cx="288" cy="288"/>
              </a:xfrm>
              <a:prstGeom prst="triangle">
                <a:avLst>
                  <a:gd name="adj" fmla="val 50000"/>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62526" name="Oval 65"/>
              <p:cNvSpPr>
                <a:spLocks noChangeArrowheads="1"/>
              </p:cNvSpPr>
              <p:nvPr/>
            </p:nvSpPr>
            <p:spPr bwMode="auto">
              <a:xfrm>
                <a:off x="1536" y="3744"/>
                <a:ext cx="96" cy="96"/>
              </a:xfrm>
              <a:prstGeom prst="ellipse">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grpSp>
      </p:grpSp>
      <p:pic>
        <p:nvPicPr>
          <p:cNvPr id="62470" name="Picture 66" descr="3"/>
          <p:cNvPicPr>
            <a:picLocks noChangeAspect="1" noChangeArrowheads="1"/>
          </p:cNvPicPr>
          <p:nvPr/>
        </p:nvPicPr>
        <p:blipFill>
          <a:blip r:embed="rId1">
            <a:extLst>
              <a:ext uri="{28A0092B-C50C-407E-A947-70E740481C1C}">
                <a14:useLocalDpi xmlns:a14="http://schemas.microsoft.com/office/drawing/2010/main" val="0"/>
              </a:ext>
            </a:extLst>
          </a:blip>
          <a:srcRect l="55582" t="13596" r="22737" b="50983"/>
          <a:stretch>
            <a:fillRect/>
          </a:stretch>
        </p:blipFill>
        <p:spPr bwMode="auto">
          <a:xfrm>
            <a:off x="5245100" y="1700213"/>
            <a:ext cx="1584325" cy="142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1" name="Freeform 70"/>
          <p:cNvSpPr/>
          <p:nvPr/>
        </p:nvSpPr>
        <p:spPr bwMode="auto">
          <a:xfrm>
            <a:off x="3984625" y="2409825"/>
            <a:ext cx="1763713" cy="3251200"/>
          </a:xfrm>
          <a:custGeom>
            <a:avLst/>
            <a:gdLst>
              <a:gd name="T0" fmla="*/ 2147483646 w 1111"/>
              <a:gd name="T1" fmla="*/ 2147483646 h 2048"/>
              <a:gd name="T2" fmla="*/ 2147483646 w 1111"/>
              <a:gd name="T3" fmla="*/ 2147483646 h 2048"/>
              <a:gd name="T4" fmla="*/ 2147483646 w 1111"/>
              <a:gd name="T5" fmla="*/ 2147483646 h 2048"/>
              <a:gd name="T6" fmla="*/ 2147483646 w 1111"/>
              <a:gd name="T7" fmla="*/ 2147483646 h 2048"/>
              <a:gd name="T8" fmla="*/ 2147483646 w 1111"/>
              <a:gd name="T9" fmla="*/ 2147483646 h 2048"/>
              <a:gd name="T10" fmla="*/ 2147483646 w 1111"/>
              <a:gd name="T11" fmla="*/ 2147483646 h 2048"/>
              <a:gd name="T12" fmla="*/ 2147483646 w 1111"/>
              <a:gd name="T13" fmla="*/ 2147483646 h 2048"/>
              <a:gd name="T14" fmla="*/ 2147483646 w 1111"/>
              <a:gd name="T15" fmla="*/ 2147483646 h 2048"/>
              <a:gd name="T16" fmla="*/ 2147483646 w 1111"/>
              <a:gd name="T17" fmla="*/ 2147483646 h 2048"/>
              <a:gd name="T18" fmla="*/ 2147483646 w 1111"/>
              <a:gd name="T19" fmla="*/ 2147483646 h 2048"/>
              <a:gd name="T20" fmla="*/ 2147483646 w 1111"/>
              <a:gd name="T21" fmla="*/ 2147483646 h 2048"/>
              <a:gd name="T22" fmla="*/ 2147483646 w 1111"/>
              <a:gd name="T23" fmla="*/ 2147483646 h 2048"/>
              <a:gd name="T24" fmla="*/ 2147483646 w 1111"/>
              <a:gd name="T25" fmla="*/ 2147483646 h 2048"/>
              <a:gd name="T26" fmla="*/ 2147483646 w 1111"/>
              <a:gd name="T27" fmla="*/ 2147483646 h 2048"/>
              <a:gd name="T28" fmla="*/ 2147483646 w 1111"/>
              <a:gd name="T29" fmla="*/ 2147483646 h 2048"/>
              <a:gd name="T30" fmla="*/ 2147483646 w 1111"/>
              <a:gd name="T31" fmla="*/ 2147483646 h 2048"/>
              <a:gd name="T32" fmla="*/ 2147483646 w 1111"/>
              <a:gd name="T33" fmla="*/ 2147483646 h 2048"/>
              <a:gd name="T34" fmla="*/ 2147483646 w 1111"/>
              <a:gd name="T35" fmla="*/ 2147483646 h 2048"/>
              <a:gd name="T36" fmla="*/ 2147483646 w 1111"/>
              <a:gd name="T37" fmla="*/ 2147483646 h 2048"/>
              <a:gd name="T38" fmla="*/ 2147483646 w 1111"/>
              <a:gd name="T39" fmla="*/ 2147483646 h 2048"/>
              <a:gd name="T40" fmla="*/ 2147483646 w 1111"/>
              <a:gd name="T41" fmla="*/ 2147483646 h 2048"/>
              <a:gd name="T42" fmla="*/ 2147483646 w 1111"/>
              <a:gd name="T43" fmla="*/ 2147483646 h 204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11"/>
              <a:gd name="T67" fmla="*/ 0 h 2048"/>
              <a:gd name="T68" fmla="*/ 1111 w 1111"/>
              <a:gd name="T69" fmla="*/ 2048 h 204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11" h="2048">
                <a:moveTo>
                  <a:pt x="1096" y="2048"/>
                </a:moveTo>
                <a:cubicBezTo>
                  <a:pt x="1103" y="1957"/>
                  <a:pt x="1111" y="1866"/>
                  <a:pt x="1096" y="1821"/>
                </a:cubicBezTo>
                <a:cubicBezTo>
                  <a:pt x="1081" y="1776"/>
                  <a:pt x="1050" y="1791"/>
                  <a:pt x="1005" y="1776"/>
                </a:cubicBezTo>
                <a:cubicBezTo>
                  <a:pt x="960" y="1761"/>
                  <a:pt x="884" y="1738"/>
                  <a:pt x="824" y="1731"/>
                </a:cubicBezTo>
                <a:cubicBezTo>
                  <a:pt x="764" y="1724"/>
                  <a:pt x="710" y="1731"/>
                  <a:pt x="642" y="1731"/>
                </a:cubicBezTo>
                <a:cubicBezTo>
                  <a:pt x="574" y="1731"/>
                  <a:pt x="483" y="1731"/>
                  <a:pt x="415" y="1731"/>
                </a:cubicBezTo>
                <a:cubicBezTo>
                  <a:pt x="347" y="1731"/>
                  <a:pt x="294" y="1731"/>
                  <a:pt x="234" y="1731"/>
                </a:cubicBezTo>
                <a:cubicBezTo>
                  <a:pt x="174" y="1731"/>
                  <a:pt x="82" y="1746"/>
                  <a:pt x="52" y="1731"/>
                </a:cubicBezTo>
                <a:cubicBezTo>
                  <a:pt x="22" y="1716"/>
                  <a:pt x="59" y="1685"/>
                  <a:pt x="52" y="1640"/>
                </a:cubicBezTo>
                <a:cubicBezTo>
                  <a:pt x="45" y="1595"/>
                  <a:pt x="14" y="1534"/>
                  <a:pt x="7" y="1458"/>
                </a:cubicBezTo>
                <a:cubicBezTo>
                  <a:pt x="0" y="1382"/>
                  <a:pt x="7" y="1269"/>
                  <a:pt x="7" y="1186"/>
                </a:cubicBezTo>
                <a:cubicBezTo>
                  <a:pt x="7" y="1103"/>
                  <a:pt x="7" y="1051"/>
                  <a:pt x="7" y="960"/>
                </a:cubicBezTo>
                <a:cubicBezTo>
                  <a:pt x="7" y="869"/>
                  <a:pt x="7" y="733"/>
                  <a:pt x="7" y="642"/>
                </a:cubicBezTo>
                <a:cubicBezTo>
                  <a:pt x="7" y="551"/>
                  <a:pt x="7" y="483"/>
                  <a:pt x="7" y="415"/>
                </a:cubicBezTo>
                <a:cubicBezTo>
                  <a:pt x="7" y="347"/>
                  <a:pt x="7" y="287"/>
                  <a:pt x="7" y="234"/>
                </a:cubicBezTo>
                <a:cubicBezTo>
                  <a:pt x="7" y="181"/>
                  <a:pt x="0" y="128"/>
                  <a:pt x="7" y="98"/>
                </a:cubicBezTo>
                <a:cubicBezTo>
                  <a:pt x="14" y="68"/>
                  <a:pt x="29" y="67"/>
                  <a:pt x="52" y="52"/>
                </a:cubicBezTo>
                <a:cubicBezTo>
                  <a:pt x="75" y="37"/>
                  <a:pt x="105" y="14"/>
                  <a:pt x="143" y="7"/>
                </a:cubicBezTo>
                <a:cubicBezTo>
                  <a:pt x="181" y="0"/>
                  <a:pt x="234" y="7"/>
                  <a:pt x="279" y="7"/>
                </a:cubicBezTo>
                <a:cubicBezTo>
                  <a:pt x="324" y="7"/>
                  <a:pt x="370" y="7"/>
                  <a:pt x="415" y="7"/>
                </a:cubicBezTo>
                <a:cubicBezTo>
                  <a:pt x="460" y="7"/>
                  <a:pt x="498" y="7"/>
                  <a:pt x="551" y="7"/>
                </a:cubicBezTo>
                <a:cubicBezTo>
                  <a:pt x="604" y="7"/>
                  <a:pt x="703" y="7"/>
                  <a:pt x="733" y="7"/>
                </a:cubicBezTo>
              </a:path>
            </a:pathLst>
          </a:custGeom>
          <a:noFill/>
          <a:ln w="22225">
            <a:solidFill>
              <a:srgbClr val="FF0000"/>
            </a:solidFill>
            <a:roun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lstStyle/>
          <a:p>
            <a:endParaRPr lang="zh-CN" altLang="en-US"/>
          </a:p>
        </p:txBody>
      </p:sp>
      <p:sp>
        <p:nvSpPr>
          <p:cNvPr id="62472" name="Freeform 71"/>
          <p:cNvSpPr/>
          <p:nvPr/>
        </p:nvSpPr>
        <p:spPr bwMode="auto">
          <a:xfrm>
            <a:off x="5724525" y="2409825"/>
            <a:ext cx="2400300" cy="2890838"/>
          </a:xfrm>
          <a:custGeom>
            <a:avLst/>
            <a:gdLst>
              <a:gd name="T0" fmla="*/ 0 w 1512"/>
              <a:gd name="T1" fmla="*/ 2147483646 h 1821"/>
              <a:gd name="T2" fmla="*/ 2147483646 w 1512"/>
              <a:gd name="T3" fmla="*/ 2147483646 h 1821"/>
              <a:gd name="T4" fmla="*/ 2147483646 w 1512"/>
              <a:gd name="T5" fmla="*/ 2147483646 h 1821"/>
              <a:gd name="T6" fmla="*/ 2147483646 w 1512"/>
              <a:gd name="T7" fmla="*/ 2147483646 h 1821"/>
              <a:gd name="T8" fmla="*/ 2147483646 w 1512"/>
              <a:gd name="T9" fmla="*/ 2147483646 h 1821"/>
              <a:gd name="T10" fmla="*/ 2147483646 w 1512"/>
              <a:gd name="T11" fmla="*/ 2147483646 h 1821"/>
              <a:gd name="T12" fmla="*/ 2147483646 w 1512"/>
              <a:gd name="T13" fmla="*/ 2147483646 h 1821"/>
              <a:gd name="T14" fmla="*/ 2147483646 w 1512"/>
              <a:gd name="T15" fmla="*/ 2147483646 h 1821"/>
              <a:gd name="T16" fmla="*/ 2147483646 w 1512"/>
              <a:gd name="T17" fmla="*/ 2147483646 h 1821"/>
              <a:gd name="T18" fmla="*/ 2147483646 w 1512"/>
              <a:gd name="T19" fmla="*/ 2147483646 h 1821"/>
              <a:gd name="T20" fmla="*/ 2147483646 w 1512"/>
              <a:gd name="T21" fmla="*/ 2147483646 h 1821"/>
              <a:gd name="T22" fmla="*/ 2147483646 w 1512"/>
              <a:gd name="T23" fmla="*/ 2147483646 h 1821"/>
              <a:gd name="T24" fmla="*/ 2147483646 w 1512"/>
              <a:gd name="T25" fmla="*/ 2147483646 h 1821"/>
              <a:gd name="T26" fmla="*/ 2147483646 w 1512"/>
              <a:gd name="T27" fmla="*/ 2147483646 h 1821"/>
              <a:gd name="T28" fmla="*/ 2147483646 w 1512"/>
              <a:gd name="T29" fmla="*/ 2147483646 h 1821"/>
              <a:gd name="T30" fmla="*/ 2147483646 w 1512"/>
              <a:gd name="T31" fmla="*/ 2147483646 h 18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12"/>
              <a:gd name="T49" fmla="*/ 0 h 1821"/>
              <a:gd name="T50" fmla="*/ 1512 w 1512"/>
              <a:gd name="T51" fmla="*/ 1821 h 18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12" h="1821">
                <a:moveTo>
                  <a:pt x="0" y="1821"/>
                </a:moveTo>
                <a:cubicBezTo>
                  <a:pt x="79" y="1802"/>
                  <a:pt x="159" y="1784"/>
                  <a:pt x="227" y="1776"/>
                </a:cubicBezTo>
                <a:cubicBezTo>
                  <a:pt x="295" y="1768"/>
                  <a:pt x="333" y="1776"/>
                  <a:pt x="408" y="1776"/>
                </a:cubicBezTo>
                <a:cubicBezTo>
                  <a:pt x="483" y="1776"/>
                  <a:pt x="597" y="1776"/>
                  <a:pt x="680" y="1776"/>
                </a:cubicBezTo>
                <a:cubicBezTo>
                  <a:pt x="763" y="1776"/>
                  <a:pt x="831" y="1776"/>
                  <a:pt x="907" y="1776"/>
                </a:cubicBezTo>
                <a:cubicBezTo>
                  <a:pt x="983" y="1776"/>
                  <a:pt x="1051" y="1776"/>
                  <a:pt x="1134" y="1776"/>
                </a:cubicBezTo>
                <a:cubicBezTo>
                  <a:pt x="1217" y="1776"/>
                  <a:pt x="1353" y="1783"/>
                  <a:pt x="1406" y="1776"/>
                </a:cubicBezTo>
                <a:cubicBezTo>
                  <a:pt x="1459" y="1769"/>
                  <a:pt x="1444" y="1754"/>
                  <a:pt x="1451" y="1731"/>
                </a:cubicBezTo>
                <a:cubicBezTo>
                  <a:pt x="1458" y="1708"/>
                  <a:pt x="1451" y="1784"/>
                  <a:pt x="1451" y="1640"/>
                </a:cubicBezTo>
                <a:cubicBezTo>
                  <a:pt x="1451" y="1496"/>
                  <a:pt x="1451" y="1081"/>
                  <a:pt x="1451" y="869"/>
                </a:cubicBezTo>
                <a:cubicBezTo>
                  <a:pt x="1451" y="657"/>
                  <a:pt x="1451" y="491"/>
                  <a:pt x="1451" y="370"/>
                </a:cubicBezTo>
                <a:cubicBezTo>
                  <a:pt x="1451" y="249"/>
                  <a:pt x="1451" y="188"/>
                  <a:pt x="1451" y="143"/>
                </a:cubicBezTo>
                <a:cubicBezTo>
                  <a:pt x="1451" y="98"/>
                  <a:pt x="1458" y="113"/>
                  <a:pt x="1451" y="98"/>
                </a:cubicBezTo>
                <a:cubicBezTo>
                  <a:pt x="1444" y="83"/>
                  <a:pt x="1413" y="67"/>
                  <a:pt x="1406" y="52"/>
                </a:cubicBezTo>
                <a:cubicBezTo>
                  <a:pt x="1399" y="37"/>
                  <a:pt x="1512" y="14"/>
                  <a:pt x="1406" y="7"/>
                </a:cubicBezTo>
                <a:cubicBezTo>
                  <a:pt x="1300" y="0"/>
                  <a:pt x="877" y="7"/>
                  <a:pt x="771" y="7"/>
                </a:cubicBezTo>
              </a:path>
            </a:pathLst>
          </a:custGeom>
          <a:noFill/>
          <a:ln w="22225">
            <a:solidFill>
              <a:srgbClr val="FF0000"/>
            </a:solidFill>
            <a:round/>
            <a:tailEnd type="stealth" w="lg" len="lg"/>
          </a:ln>
          <a:extLst>
            <a:ext uri="{909E8E84-426E-40DD-AFC4-6F175D3DCCD1}">
              <a14:hiddenFill xmlns:a14="http://schemas.microsoft.com/office/drawing/2010/main">
                <a:solidFill>
                  <a:srgbClr val="FFFFFF"/>
                </a:solidFill>
              </a14:hiddenFill>
            </a:ext>
          </a:extLst>
        </p:spPr>
        <p:txBody>
          <a:bodyPr lIns="90000" tIns="46800" rIns="90000" bIns="46800"/>
          <a:lstStyle/>
          <a:p>
            <a:endParaRPr lang="zh-CN" altLang="en-US"/>
          </a:p>
        </p:txBody>
      </p:sp>
      <p:sp>
        <p:nvSpPr>
          <p:cNvPr id="70" name="Text Box 7"/>
          <p:cNvSpPr txBox="1">
            <a:spLocks noChangeArrowheads="1"/>
          </p:cNvSpPr>
          <p:nvPr/>
        </p:nvSpPr>
        <p:spPr bwMode="auto">
          <a:xfrm>
            <a:off x="5473700" y="5548313"/>
            <a:ext cx="333375" cy="457200"/>
          </a:xfrm>
          <a:prstGeom prst="rect">
            <a:avLst/>
          </a:prstGeom>
          <a:noFill/>
          <a:ln w="22225" algn="ctr">
            <a:noFill/>
            <a:miter lim="800000"/>
          </a:ln>
          <a:effectLst/>
        </p:spPr>
        <p:txBody>
          <a:bodyPr wrap="none" lIns="90000" tIns="46800" rIns="90000" bIns="46800">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6pPr>
            <a:lvl7pPr marL="29718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7pPr>
            <a:lvl8pPr marL="34290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8pPr>
            <a:lvl9pPr marL="38862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en-US" altLang="zh-CN" sz="2400" b="1" dirty="0">
                <a:solidFill>
                  <a:srgbClr val="CC3300"/>
                </a:solidFill>
                <a:effectLst>
                  <a:outerShdw blurRad="38100" dist="38100" dir="2700000" algn="tl">
                    <a:srgbClr val="C0C0C0"/>
                  </a:outerShdw>
                </a:effectLst>
                <a:ea typeface="方正准圆简体" pitchFamily="2" charset="-122"/>
              </a:rPr>
              <a:t>1</a:t>
            </a:r>
            <a:endParaRPr lang="en-US" altLang="zh-CN" sz="2400" b="1" dirty="0">
              <a:solidFill>
                <a:srgbClr val="CC3300"/>
              </a:solidFill>
              <a:effectLst>
                <a:outerShdw blurRad="38100" dist="38100" dir="2700000" algn="tl">
                  <a:srgbClr val="C0C0C0"/>
                </a:outerShdw>
              </a:effectLst>
              <a:ea typeface="方正准圆简体" pitchFamily="2" charset="-122"/>
            </a:endParaRPr>
          </a:p>
        </p:txBody>
      </p:sp>
      <p:sp>
        <p:nvSpPr>
          <p:cNvPr id="71" name="Text Box 7"/>
          <p:cNvSpPr txBox="1">
            <a:spLocks noChangeArrowheads="1"/>
          </p:cNvSpPr>
          <p:nvPr/>
        </p:nvSpPr>
        <p:spPr bwMode="auto">
          <a:xfrm>
            <a:off x="5086350" y="1890713"/>
            <a:ext cx="333375" cy="457200"/>
          </a:xfrm>
          <a:prstGeom prst="rect">
            <a:avLst/>
          </a:prstGeom>
          <a:noFill/>
          <a:ln w="22225" algn="ctr">
            <a:noFill/>
            <a:miter lim="800000"/>
          </a:ln>
          <a:effectLst/>
        </p:spPr>
        <p:txBody>
          <a:bodyPr wrap="none" lIns="90000" tIns="46800" rIns="90000" bIns="46800">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6pPr>
            <a:lvl7pPr marL="29718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7pPr>
            <a:lvl8pPr marL="34290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8pPr>
            <a:lvl9pPr marL="38862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en-US" altLang="zh-CN" sz="2400" b="1" dirty="0">
                <a:solidFill>
                  <a:srgbClr val="CC3300"/>
                </a:solidFill>
                <a:effectLst>
                  <a:outerShdw blurRad="38100" dist="38100" dir="2700000" algn="tl">
                    <a:srgbClr val="C0C0C0"/>
                  </a:outerShdw>
                </a:effectLst>
                <a:ea typeface="方正准圆简体" pitchFamily="2" charset="-122"/>
              </a:rPr>
              <a:t>1</a:t>
            </a:r>
            <a:endParaRPr lang="en-US" altLang="zh-CN" sz="2400" b="1" dirty="0">
              <a:solidFill>
                <a:srgbClr val="CC3300"/>
              </a:solidFill>
              <a:effectLst>
                <a:outerShdw blurRad="38100" dist="38100" dir="2700000" algn="tl">
                  <a:srgbClr val="C0C0C0"/>
                </a:outerShdw>
              </a:effectLst>
              <a:ea typeface="方正准圆简体" pitchFamily="2" charset="-122"/>
            </a:endParaRPr>
          </a:p>
        </p:txBody>
      </p:sp>
      <p:sp>
        <p:nvSpPr>
          <p:cNvPr id="72" name="Text Box 7"/>
          <p:cNvSpPr txBox="1">
            <a:spLocks noChangeArrowheads="1"/>
          </p:cNvSpPr>
          <p:nvPr/>
        </p:nvSpPr>
        <p:spPr bwMode="auto">
          <a:xfrm>
            <a:off x="6554788" y="1908175"/>
            <a:ext cx="336550" cy="463550"/>
          </a:xfrm>
          <a:prstGeom prst="rect">
            <a:avLst/>
          </a:prstGeom>
          <a:noFill/>
          <a:ln w="22225" algn="ctr">
            <a:noFill/>
            <a:miter lim="800000"/>
          </a:ln>
          <a:effectLst/>
        </p:spPr>
        <p:txBody>
          <a:bodyPr wrap="none" lIns="90000" tIns="46800" rIns="90000" bIns="46800">
            <a:spAutoFit/>
          </a:bodyPr>
          <a:lstStyle>
            <a:lvl1pPr eaLnBrk="0" hangingPunct="0">
              <a:defRPr kumimoji="1" sz="3200">
                <a:solidFill>
                  <a:schemeClr val="tx1"/>
                </a:solidFill>
                <a:latin typeface="Times New Roman" panose="02020603050405020304" pitchFamily="18" charset="0"/>
                <a:ea typeface="黑体" panose="02010609060101010101" pitchFamily="49" charset="-122"/>
              </a:defRPr>
            </a:lvl1pPr>
            <a:lvl2pPr marL="742950" indent="-285750" eaLnBrk="0" hangingPunct="0">
              <a:defRPr kumimoji="1" sz="3200">
                <a:solidFill>
                  <a:schemeClr val="tx1"/>
                </a:solidFill>
                <a:latin typeface="Times New Roman" panose="02020603050405020304" pitchFamily="18" charset="0"/>
                <a:ea typeface="黑体" panose="02010609060101010101" pitchFamily="49" charset="-122"/>
              </a:defRPr>
            </a:lvl2pPr>
            <a:lvl3pPr marL="1143000" indent="-228600" eaLnBrk="0" hangingPunct="0">
              <a:defRPr kumimoji="1" sz="3200">
                <a:solidFill>
                  <a:schemeClr val="tx1"/>
                </a:solidFill>
                <a:latin typeface="Times New Roman" panose="02020603050405020304" pitchFamily="18" charset="0"/>
                <a:ea typeface="黑体" panose="02010609060101010101" pitchFamily="49" charset="-122"/>
              </a:defRPr>
            </a:lvl3pPr>
            <a:lvl4pPr marL="1600200" indent="-228600" eaLnBrk="0" hangingPunct="0">
              <a:defRPr kumimoji="1" sz="3200">
                <a:solidFill>
                  <a:schemeClr val="tx1"/>
                </a:solidFill>
                <a:latin typeface="Times New Roman" panose="02020603050405020304" pitchFamily="18" charset="0"/>
                <a:ea typeface="黑体" panose="02010609060101010101" pitchFamily="49" charset="-122"/>
              </a:defRPr>
            </a:lvl4pPr>
            <a:lvl5pPr marL="2057400" indent="-228600" eaLnBrk="0" hangingPunct="0">
              <a:defRPr kumimoji="1" sz="3200">
                <a:solidFill>
                  <a:schemeClr val="tx1"/>
                </a:solidFill>
                <a:latin typeface="Times New Roman" panose="02020603050405020304" pitchFamily="18" charset="0"/>
                <a:ea typeface="黑体" panose="02010609060101010101" pitchFamily="49" charset="-122"/>
              </a:defRPr>
            </a:lvl5pPr>
            <a:lvl6pPr marL="25146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6pPr>
            <a:lvl7pPr marL="29718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7pPr>
            <a:lvl8pPr marL="34290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8pPr>
            <a:lvl9pPr marL="3886200" indent="-228600" algn="ctr" eaLnBrk="0" fontAlgn="base" hangingPunct="0">
              <a:spcBef>
                <a:spcPct val="20000"/>
              </a:spcBef>
              <a:spcAft>
                <a:spcPct val="0"/>
              </a:spcAft>
              <a:buFont typeface="Wingdings" panose="05000000000000000000" pitchFamily="2" charset="2"/>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en-US" altLang="zh-CN" sz="2400" b="1" dirty="0">
                <a:solidFill>
                  <a:srgbClr val="CC3300"/>
                </a:solidFill>
                <a:effectLst>
                  <a:outerShdw blurRad="38100" dist="38100" dir="2700000" algn="tl">
                    <a:srgbClr val="C0C0C0"/>
                  </a:outerShdw>
                </a:effectLst>
                <a:ea typeface="方正准圆简体" pitchFamily="2" charset="-122"/>
              </a:rPr>
              <a:t>0</a:t>
            </a:r>
            <a:endParaRPr lang="en-US" altLang="zh-CN" sz="2400" b="1" dirty="0">
              <a:solidFill>
                <a:srgbClr val="CC3300"/>
              </a:solidFill>
              <a:effectLst>
                <a:outerShdw blurRad="38100" dist="38100" dir="2700000" algn="tl">
                  <a:srgbClr val="C0C0C0"/>
                </a:outerShdw>
              </a:effectLst>
              <a:ea typeface="方正准圆简体" pitchFamily="2" charset="-122"/>
            </a:endParaRPr>
          </a:p>
        </p:txBody>
      </p:sp>
    </p:spTree>
  </p:cSld>
  <p:clrMapOvr>
    <a:masterClrMapping/>
  </p:clrMapOvr>
  <p:transition spd="med">
    <p:pull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457200" y="96838"/>
            <a:ext cx="8229600" cy="1371600"/>
          </a:xfrm>
        </p:spPr>
        <p:txBody>
          <a:bodyPr vert="horz" wrap="square" lIns="91440" tIns="45720" rIns="91440" bIns="45720" anchor="ctr" anchorCtr="0"/>
          <a:p>
            <a:r>
              <a:rPr lang="en-US" altLang="zh-CN" dirty="0"/>
              <a:t>3.2 SRAM</a:t>
            </a:r>
            <a:r>
              <a:rPr lang="zh-CN" altLang="en-US" dirty="0"/>
              <a:t>存储器</a:t>
            </a:r>
            <a:endParaRPr lang="zh-CN" altLang="en-US" dirty="0"/>
          </a:p>
        </p:txBody>
      </p:sp>
      <p:sp>
        <p:nvSpPr>
          <p:cNvPr id="23555" name="Rectangle 3"/>
          <p:cNvSpPr>
            <a:spLocks noGrp="1"/>
          </p:cNvSpPr>
          <p:nvPr>
            <p:ph idx="1"/>
          </p:nvPr>
        </p:nvSpPr>
        <p:spPr>
          <a:xfrm>
            <a:off x="457200" y="908050"/>
            <a:ext cx="5483225" cy="596900"/>
          </a:xfrm>
        </p:spPr>
        <p:txBody>
          <a:bodyPr vert="horz" wrap="square" lIns="91440" tIns="45720" rIns="91440" bIns="45720" anchor="t" anchorCtr="0"/>
          <a:p>
            <a:pPr>
              <a:buNone/>
            </a:pPr>
            <a:r>
              <a:rPr lang="zh-CN" altLang="en-US" dirty="0"/>
              <a:t>二、基本的</a:t>
            </a:r>
            <a:r>
              <a:rPr lang="en-US" altLang="zh-CN" dirty="0"/>
              <a:t>SRAM</a:t>
            </a:r>
            <a:r>
              <a:rPr lang="zh-CN" altLang="en-US" dirty="0"/>
              <a:t>逻辑结构</a:t>
            </a:r>
            <a:endParaRPr lang="zh-CN" altLang="en-US" dirty="0"/>
          </a:p>
        </p:txBody>
      </p:sp>
      <p:sp>
        <p:nvSpPr>
          <p:cNvPr id="23556" name="Rectangle 5"/>
          <p:cNvSpPr/>
          <p:nvPr/>
        </p:nvSpPr>
        <p:spPr>
          <a:xfrm>
            <a:off x="457200" y="871538"/>
            <a:ext cx="3970338" cy="514985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buClr>
                <a:schemeClr val="tx2"/>
              </a:buClr>
              <a:buSzPct val="70000"/>
              <a:buNone/>
            </a:pPr>
            <a:endParaRPr lang="en-US" altLang="zh-CN" sz="3000" dirty="0"/>
          </a:p>
          <a:p>
            <a:pPr marL="342900" lvl="0" indent="-342900" eaLnBrk="1" hangingPunct="1">
              <a:buClr>
                <a:schemeClr val="tx2"/>
              </a:buClr>
              <a:buSzPct val="70000"/>
              <a:buFont typeface="Wingdings" panose="05000000000000000000" pitchFamily="2" charset="2"/>
              <a:buChar char="l"/>
            </a:pPr>
            <a:r>
              <a:rPr lang="en-US" altLang="zh-CN" sz="3000" dirty="0"/>
              <a:t>SRAM</a:t>
            </a:r>
            <a:r>
              <a:rPr lang="zh-CN" altLang="en-US" sz="3000" dirty="0"/>
              <a:t>芯大多采用双译码方式，以便组织更大的存储容量。</a:t>
            </a:r>
            <a:endParaRPr lang="en-US" altLang="zh-CN" sz="3000" dirty="0"/>
          </a:p>
          <a:p>
            <a:pPr marL="342900" lvl="0" indent="-342900" eaLnBrk="1" hangingPunct="1">
              <a:buClr>
                <a:schemeClr val="tx2"/>
              </a:buClr>
              <a:buSzPct val="70000"/>
              <a:buFont typeface="Wingdings" panose="05000000000000000000" pitchFamily="2" charset="2"/>
              <a:buChar char="l"/>
            </a:pPr>
            <a:r>
              <a:rPr lang="zh-CN" altLang="en-US" sz="3000" dirty="0"/>
              <a:t>采用了二级译码：将地址分成</a:t>
            </a:r>
            <a:r>
              <a:rPr lang="en-US" altLang="zh-CN" sz="3000" dirty="0"/>
              <a:t>x</a:t>
            </a:r>
            <a:r>
              <a:rPr lang="zh-CN" altLang="en-US" sz="3000" dirty="0"/>
              <a:t>向、</a:t>
            </a:r>
            <a:r>
              <a:rPr lang="en-US" altLang="zh-CN" sz="3000" dirty="0"/>
              <a:t>y</a:t>
            </a:r>
            <a:r>
              <a:rPr lang="zh-CN" altLang="en-US" sz="3000" dirty="0"/>
              <a:t>向两部分如图所示。</a:t>
            </a:r>
            <a:endParaRPr lang="en-US" altLang="zh-CN" sz="3000" dirty="0"/>
          </a:p>
          <a:p>
            <a:pPr marL="342900" lvl="0" indent="-342900" eaLnBrk="1" hangingPunct="1">
              <a:buClr>
                <a:schemeClr val="tx2"/>
              </a:buClr>
              <a:buSzPct val="70000"/>
              <a:buFont typeface="Wingdings" panose="05000000000000000000" pitchFamily="2" charset="2"/>
              <a:buChar char="l"/>
            </a:pPr>
            <a:r>
              <a:rPr lang="zh-CN" altLang="en-US" sz="2600" dirty="0">
                <a:solidFill>
                  <a:srgbClr val="0000FF"/>
                </a:solidFill>
              </a:rPr>
              <a:t>第一级：进行</a:t>
            </a:r>
            <a:r>
              <a:rPr lang="en-US" altLang="zh-CN" sz="2600" dirty="0">
                <a:solidFill>
                  <a:srgbClr val="0000FF"/>
                </a:solidFill>
              </a:rPr>
              <a:t>X</a:t>
            </a:r>
            <a:r>
              <a:rPr lang="zh-CN" altLang="en-US" sz="2600" dirty="0">
                <a:solidFill>
                  <a:srgbClr val="0000FF"/>
                </a:solidFill>
              </a:rPr>
              <a:t>、</a:t>
            </a:r>
            <a:r>
              <a:rPr lang="en-US" altLang="zh-CN" sz="2600" dirty="0">
                <a:solidFill>
                  <a:srgbClr val="0000FF"/>
                </a:solidFill>
              </a:rPr>
              <a:t>Y</a:t>
            </a:r>
            <a:r>
              <a:rPr lang="zh-CN" altLang="en-US" sz="2600" dirty="0">
                <a:solidFill>
                  <a:srgbClr val="0000FF"/>
                </a:solidFill>
              </a:rPr>
              <a:t>向独立译码；</a:t>
            </a:r>
            <a:endParaRPr lang="en-US" altLang="zh-CN" sz="2600" dirty="0">
              <a:solidFill>
                <a:srgbClr val="0000FF"/>
              </a:solidFill>
            </a:endParaRPr>
          </a:p>
          <a:p>
            <a:pPr marL="342900" lvl="0" indent="-342900" eaLnBrk="1" hangingPunct="1">
              <a:buClr>
                <a:schemeClr val="tx2"/>
              </a:buClr>
              <a:buSzPct val="70000"/>
              <a:buFont typeface="Wingdings" panose="05000000000000000000" pitchFamily="2" charset="2"/>
              <a:buChar char="l"/>
            </a:pPr>
            <a:r>
              <a:rPr lang="zh-CN" altLang="en-US" sz="2600" dirty="0">
                <a:solidFill>
                  <a:srgbClr val="0000FF"/>
                </a:solidFill>
              </a:rPr>
              <a:t>第二级：在存储阵列中完成交叉译码</a:t>
            </a:r>
            <a:endParaRPr lang="zh-CN" altLang="en-US" sz="2600" dirty="0">
              <a:solidFill>
                <a:srgbClr val="0000FF"/>
              </a:solidFill>
            </a:endParaRPr>
          </a:p>
        </p:txBody>
      </p:sp>
      <p:pic>
        <p:nvPicPr>
          <p:cNvPr id="23557" name="Picture 6"/>
          <p:cNvPicPr>
            <a:picLocks noChangeAspect="1"/>
          </p:cNvPicPr>
          <p:nvPr/>
        </p:nvPicPr>
        <p:blipFill>
          <a:blip r:embed="rId1"/>
          <a:stretch>
            <a:fillRect/>
          </a:stretch>
        </p:blipFill>
        <p:spPr>
          <a:xfrm>
            <a:off x="4427538" y="1484313"/>
            <a:ext cx="4643437" cy="4392612"/>
          </a:xfrm>
          <a:prstGeom prst="rect">
            <a:avLst/>
          </a:prstGeom>
          <a:noFill/>
          <a:ln w="9525">
            <a:noFill/>
          </a:ln>
        </p:spPr>
      </p:pic>
      <p:pic>
        <p:nvPicPr>
          <p:cNvPr id="23558" name="Picture 7"/>
          <p:cNvPicPr>
            <a:picLocks noChangeAspect="1"/>
          </p:cNvPicPr>
          <p:nvPr/>
        </p:nvPicPr>
        <p:blipFill>
          <a:blip r:embed="rId2"/>
          <a:stretch>
            <a:fillRect/>
          </a:stretch>
        </p:blipFill>
        <p:spPr>
          <a:xfrm>
            <a:off x="5148263" y="5949950"/>
            <a:ext cx="2752725" cy="266700"/>
          </a:xfrm>
          <a:prstGeom prst="rect">
            <a:avLst/>
          </a:prstGeom>
          <a:noFill/>
          <a:ln w="9525">
            <a:noFill/>
          </a:ln>
        </p:spPr>
      </p:pic>
      <p:sp>
        <p:nvSpPr>
          <p:cNvPr id="23559" name="Text Box 8"/>
          <p:cNvSpPr txBox="1"/>
          <p:nvPr/>
        </p:nvSpPr>
        <p:spPr>
          <a:xfrm>
            <a:off x="4500563" y="1549400"/>
            <a:ext cx="1031875"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0000FF"/>
                </a:solidFill>
              </a:rPr>
              <a:t>2</a:t>
            </a:r>
            <a:r>
              <a:rPr lang="en-US" altLang="zh-CN" sz="1800" b="1" baseline="30000" dirty="0">
                <a:solidFill>
                  <a:srgbClr val="0000FF"/>
                </a:solidFill>
              </a:rPr>
              <a:t>15</a:t>
            </a:r>
            <a:r>
              <a:rPr lang="en-US" altLang="zh-CN" sz="1800" b="1" dirty="0">
                <a:solidFill>
                  <a:srgbClr val="0000FF"/>
                </a:solidFill>
              </a:rPr>
              <a:t>=32K</a:t>
            </a:r>
            <a:endParaRPr lang="en-US" altLang="zh-CN" sz="1800" b="1" dirty="0">
              <a:solidFill>
                <a:srgbClr val="0000FF"/>
              </a:solidFill>
            </a:endParaRPr>
          </a:p>
        </p:txBody>
      </p:sp>
      <p:sp>
        <p:nvSpPr>
          <p:cNvPr id="23560" name="Text Box 9"/>
          <p:cNvSpPr txBox="1"/>
          <p:nvPr/>
        </p:nvSpPr>
        <p:spPr>
          <a:xfrm>
            <a:off x="6907213" y="3213100"/>
            <a:ext cx="119380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0000FF"/>
                </a:solidFill>
              </a:rPr>
              <a:t>2</a:t>
            </a:r>
            <a:r>
              <a:rPr lang="en-US" altLang="zh-CN" sz="1800" b="1" baseline="30000" dirty="0">
                <a:solidFill>
                  <a:srgbClr val="0000FF"/>
                </a:solidFill>
              </a:rPr>
              <a:t>8</a:t>
            </a:r>
            <a:r>
              <a:rPr lang="en-US" altLang="zh-CN" sz="1800" b="1" dirty="0">
                <a:solidFill>
                  <a:srgbClr val="0000FF"/>
                </a:solidFill>
              </a:rPr>
              <a:t>×2</a:t>
            </a:r>
            <a:r>
              <a:rPr lang="en-US" altLang="zh-CN" sz="1800" b="1" baseline="30000" dirty="0">
                <a:solidFill>
                  <a:srgbClr val="0000FF"/>
                </a:solidFill>
              </a:rPr>
              <a:t>7</a:t>
            </a:r>
            <a:r>
              <a:rPr lang="en-US" altLang="zh-CN" sz="1800" b="1" dirty="0">
                <a:solidFill>
                  <a:srgbClr val="0000FF"/>
                </a:solidFill>
              </a:rPr>
              <a:t>×8</a:t>
            </a:r>
            <a:endParaRPr lang="en-US" altLang="zh-CN" sz="1800" b="1" dirty="0">
              <a:solidFill>
                <a:srgbClr val="0000FF"/>
              </a:solidFill>
            </a:endParaRPr>
          </a:p>
        </p:txBody>
      </p:sp>
      <p:sp>
        <p:nvSpPr>
          <p:cNvPr id="23561" name="Text Box 10"/>
          <p:cNvSpPr txBox="1"/>
          <p:nvPr/>
        </p:nvSpPr>
        <p:spPr>
          <a:xfrm>
            <a:off x="4175125" y="3997325"/>
            <a:ext cx="541338"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0000FF"/>
                </a:solidFill>
              </a:rPr>
              <a:t>8</a:t>
            </a:r>
            <a:r>
              <a:rPr lang="zh-CN" altLang="en-US" sz="1800" b="1" dirty="0">
                <a:solidFill>
                  <a:srgbClr val="0000FF"/>
                </a:solidFill>
              </a:rPr>
              <a:t>位</a:t>
            </a:r>
            <a:endParaRPr lang="zh-CN" altLang="en-US" sz="1800" b="1" dirty="0">
              <a:solidFill>
                <a:srgbClr val="0000FF"/>
              </a:solidFill>
            </a:endParaRPr>
          </a:p>
        </p:txBody>
      </p:sp>
      <p:sp>
        <p:nvSpPr>
          <p:cNvPr id="23562" name="Text Box 11"/>
          <p:cNvSpPr txBox="1"/>
          <p:nvPr/>
        </p:nvSpPr>
        <p:spPr>
          <a:xfrm>
            <a:off x="8064500" y="4652963"/>
            <a:ext cx="395288"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0000FF"/>
                </a:solidFill>
              </a:rPr>
              <a:t>2</a:t>
            </a:r>
            <a:r>
              <a:rPr lang="en-US" altLang="zh-CN" sz="1800" b="1" baseline="30000" dirty="0">
                <a:solidFill>
                  <a:srgbClr val="0000FF"/>
                </a:solidFill>
              </a:rPr>
              <a:t>7</a:t>
            </a:r>
            <a:endParaRPr lang="en-US" altLang="zh-CN" sz="1800" b="1" dirty="0">
              <a:solidFill>
                <a:srgbClr val="0000FF"/>
              </a:solidFill>
            </a:endParaRPr>
          </a:p>
        </p:txBody>
      </p:sp>
      <p:sp>
        <p:nvSpPr>
          <p:cNvPr id="23563" name="Text Box 12"/>
          <p:cNvSpPr txBox="1"/>
          <p:nvPr/>
        </p:nvSpPr>
        <p:spPr>
          <a:xfrm>
            <a:off x="5040313" y="3429000"/>
            <a:ext cx="395287"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b="1" dirty="0">
                <a:solidFill>
                  <a:srgbClr val="0000FF"/>
                </a:solidFill>
              </a:rPr>
              <a:t>2</a:t>
            </a:r>
            <a:r>
              <a:rPr lang="en-US" altLang="zh-CN" sz="1800" b="1" baseline="30000" dirty="0">
                <a:solidFill>
                  <a:srgbClr val="0000FF"/>
                </a:solidFill>
              </a:rPr>
              <a:t>8</a:t>
            </a:r>
            <a:endParaRPr lang="en-US" altLang="zh-CN" sz="1800" b="1" dirty="0">
              <a:solidFill>
                <a:srgbClr val="0000FF"/>
              </a:solidFill>
            </a:endParaRPr>
          </a:p>
        </p:txBody>
      </p:sp>
      <p:sp>
        <p:nvSpPr>
          <p:cNvPr id="13325" name="Rectangle 13"/>
          <p:cNvSpPr/>
          <p:nvPr/>
        </p:nvSpPr>
        <p:spPr>
          <a:xfrm>
            <a:off x="4284663" y="4772025"/>
            <a:ext cx="1511300" cy="936625"/>
          </a:xfrm>
          <a:prstGeom prst="rect">
            <a:avLst/>
          </a:prstGeom>
          <a:noFill/>
          <a:ln w="38100" cap="flat" cmpd="sng">
            <a:solidFill>
              <a:srgbClr val="FF3300"/>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Rectangle 3"/>
          <p:cNvSpPr txBox="1"/>
          <p:nvPr/>
        </p:nvSpPr>
        <p:spPr>
          <a:xfrm>
            <a:off x="323850" y="765175"/>
            <a:ext cx="8283575" cy="516255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nSpc>
                <a:spcPct val="90000"/>
              </a:lnSpc>
              <a:buFontTx/>
              <a:buNone/>
            </a:pPr>
            <a:r>
              <a:rPr lang="zh-CN" altLang="en-US" b="1" dirty="0">
                <a:latin typeface="Times New Roman" panose="02020603050405020304" pitchFamily="18" charset="0"/>
              </a:rPr>
              <a:t>双译码方式与单译码方式相比，减少了选择线数目和驱动器数目。存储容量越大，这两种方式的差异越明显。</a:t>
            </a:r>
            <a:endParaRPr lang="zh-CN" altLang="en-US" b="1" dirty="0">
              <a:latin typeface="Times New Roman" panose="02020603050405020304" pitchFamily="18" charset="0"/>
            </a:endParaRPr>
          </a:p>
        </p:txBody>
      </p:sp>
      <p:grpSp>
        <p:nvGrpSpPr>
          <p:cNvPr id="2" name="Group 4"/>
          <p:cNvGrpSpPr/>
          <p:nvPr/>
        </p:nvGrpSpPr>
        <p:grpSpPr>
          <a:xfrm>
            <a:off x="900113" y="3500438"/>
            <a:ext cx="6648450" cy="1450975"/>
            <a:chOff x="612" y="2494"/>
            <a:chExt cx="4188" cy="914"/>
          </a:xfrm>
        </p:grpSpPr>
        <p:sp>
          <p:nvSpPr>
            <p:cNvPr id="24580" name="Rectangle 5"/>
            <p:cNvSpPr/>
            <p:nvPr/>
          </p:nvSpPr>
          <p:spPr>
            <a:xfrm>
              <a:off x="3870" y="3068"/>
              <a:ext cx="930" cy="340"/>
            </a:xfrm>
            <a:prstGeom prst="rect">
              <a:avLst/>
            </a:prstGeom>
            <a:noFill/>
            <a:ln w="57150">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Pct val="90000"/>
                <a:buFontTx/>
                <a:buNone/>
              </a:pPr>
              <a:r>
                <a:rPr lang="en-US" altLang="zh-CN" sz="2400" b="1" dirty="0"/>
                <a:t>256 256</a:t>
              </a:r>
              <a:endParaRPr lang="en-US" altLang="zh-CN" sz="2400" b="1" dirty="0"/>
            </a:p>
          </p:txBody>
        </p:sp>
        <p:sp>
          <p:nvSpPr>
            <p:cNvPr id="24581" name="Rectangle 6"/>
            <p:cNvSpPr/>
            <p:nvPr/>
          </p:nvSpPr>
          <p:spPr>
            <a:xfrm>
              <a:off x="2736" y="3068"/>
              <a:ext cx="1134" cy="340"/>
            </a:xfrm>
            <a:prstGeom prst="rect">
              <a:avLst/>
            </a:prstGeom>
            <a:noFill/>
            <a:ln w="57150">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Pct val="90000"/>
                <a:buFontTx/>
                <a:buNone/>
              </a:pPr>
              <a:r>
                <a:rPr lang="en-US" altLang="zh-CN" sz="2400" b="1" dirty="0"/>
                <a:t>256    256</a:t>
              </a:r>
              <a:endParaRPr lang="en-US" altLang="zh-CN" sz="2400" b="1" dirty="0"/>
            </a:p>
          </p:txBody>
        </p:sp>
        <p:sp>
          <p:nvSpPr>
            <p:cNvPr id="24582" name="Rectangle 7"/>
            <p:cNvSpPr/>
            <p:nvPr/>
          </p:nvSpPr>
          <p:spPr>
            <a:xfrm>
              <a:off x="1548" y="3068"/>
              <a:ext cx="1188" cy="340"/>
            </a:xfrm>
            <a:prstGeom prst="rect">
              <a:avLst/>
            </a:prstGeom>
            <a:noFill/>
            <a:ln w="57150">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Pct val="90000"/>
                <a:buFontTx/>
                <a:buNone/>
              </a:pPr>
              <a:r>
                <a:rPr lang="en-US" altLang="zh-CN" sz="2400" b="1" dirty="0"/>
                <a:t>8         8</a:t>
              </a:r>
              <a:endParaRPr lang="en-US" altLang="zh-CN" sz="2400" b="1" dirty="0"/>
            </a:p>
          </p:txBody>
        </p:sp>
        <p:sp>
          <p:nvSpPr>
            <p:cNvPr id="24583" name="Rectangle 8"/>
            <p:cNvSpPr/>
            <p:nvPr/>
          </p:nvSpPr>
          <p:spPr>
            <a:xfrm>
              <a:off x="612" y="3068"/>
              <a:ext cx="936" cy="340"/>
            </a:xfrm>
            <a:prstGeom prst="rect">
              <a:avLst/>
            </a:prstGeom>
            <a:noFill/>
            <a:ln w="57150">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Pct val="90000"/>
                <a:buFontTx/>
                <a:buNone/>
              </a:pPr>
              <a:r>
                <a:rPr lang="zh-CN" altLang="en-US" sz="2400" b="1" dirty="0"/>
                <a:t>双译码</a:t>
              </a:r>
              <a:endParaRPr lang="zh-CN" altLang="en-US" sz="2400" b="1" dirty="0"/>
            </a:p>
          </p:txBody>
        </p:sp>
        <p:sp>
          <p:nvSpPr>
            <p:cNvPr id="24584" name="Rectangle 9"/>
            <p:cNvSpPr/>
            <p:nvPr/>
          </p:nvSpPr>
          <p:spPr>
            <a:xfrm>
              <a:off x="3870" y="2781"/>
              <a:ext cx="930" cy="287"/>
            </a:xfrm>
            <a:prstGeom prst="rect">
              <a:avLst/>
            </a:prstGeom>
            <a:noFill/>
            <a:ln w="57150">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Pct val="90000"/>
                <a:buFontTx/>
                <a:buNone/>
              </a:pPr>
              <a:r>
                <a:rPr lang="en-US" altLang="zh-CN" sz="2400" b="1" dirty="0"/>
                <a:t>65536</a:t>
              </a:r>
              <a:endParaRPr lang="en-US" altLang="zh-CN" sz="2400" b="1" dirty="0"/>
            </a:p>
          </p:txBody>
        </p:sp>
        <p:sp>
          <p:nvSpPr>
            <p:cNvPr id="24585" name="Rectangle 10"/>
            <p:cNvSpPr/>
            <p:nvPr/>
          </p:nvSpPr>
          <p:spPr>
            <a:xfrm>
              <a:off x="2736" y="2781"/>
              <a:ext cx="1134" cy="287"/>
            </a:xfrm>
            <a:prstGeom prst="rect">
              <a:avLst/>
            </a:prstGeom>
            <a:noFill/>
            <a:ln w="57150">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Pct val="90000"/>
                <a:buFontTx/>
                <a:buNone/>
              </a:pPr>
              <a:r>
                <a:rPr lang="en-US" altLang="zh-CN" sz="2400" b="1" dirty="0"/>
                <a:t>65536</a:t>
              </a:r>
              <a:endParaRPr lang="en-US" altLang="zh-CN" sz="2400" b="1" dirty="0"/>
            </a:p>
          </p:txBody>
        </p:sp>
        <p:sp>
          <p:nvSpPr>
            <p:cNvPr id="24586" name="Rectangle 11"/>
            <p:cNvSpPr/>
            <p:nvPr/>
          </p:nvSpPr>
          <p:spPr>
            <a:xfrm>
              <a:off x="1548" y="2781"/>
              <a:ext cx="1188" cy="287"/>
            </a:xfrm>
            <a:prstGeom prst="rect">
              <a:avLst/>
            </a:prstGeom>
            <a:noFill/>
            <a:ln w="57150">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Pct val="90000"/>
                <a:buFontTx/>
                <a:buNone/>
              </a:pPr>
              <a:r>
                <a:rPr lang="en-US" altLang="zh-CN" sz="2400" b="1" dirty="0"/>
                <a:t>16</a:t>
              </a:r>
              <a:endParaRPr lang="en-US" altLang="zh-CN" sz="2400" b="1" dirty="0"/>
            </a:p>
          </p:txBody>
        </p:sp>
        <p:sp>
          <p:nvSpPr>
            <p:cNvPr id="24587" name="Rectangle 12"/>
            <p:cNvSpPr/>
            <p:nvPr/>
          </p:nvSpPr>
          <p:spPr>
            <a:xfrm>
              <a:off x="612" y="2781"/>
              <a:ext cx="936" cy="287"/>
            </a:xfrm>
            <a:prstGeom prst="rect">
              <a:avLst/>
            </a:prstGeom>
            <a:noFill/>
            <a:ln w="57150">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Pct val="90000"/>
                <a:buFontTx/>
                <a:buNone/>
              </a:pPr>
              <a:r>
                <a:rPr lang="zh-CN" altLang="en-US" sz="2400" b="1" dirty="0"/>
                <a:t>单译码</a:t>
              </a:r>
              <a:endParaRPr lang="zh-CN" altLang="en-US" sz="2400" b="1" dirty="0"/>
            </a:p>
          </p:txBody>
        </p:sp>
        <p:sp>
          <p:nvSpPr>
            <p:cNvPr id="24588" name="Rectangle 13"/>
            <p:cNvSpPr/>
            <p:nvPr/>
          </p:nvSpPr>
          <p:spPr>
            <a:xfrm>
              <a:off x="3870" y="2494"/>
              <a:ext cx="930" cy="287"/>
            </a:xfrm>
            <a:prstGeom prst="rect">
              <a:avLst/>
            </a:prstGeom>
            <a:noFill/>
            <a:ln w="57150">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Pct val="90000"/>
                <a:buFontTx/>
                <a:buNone/>
              </a:pPr>
              <a:r>
                <a:rPr lang="zh-CN" altLang="en-US" sz="2400" b="1" dirty="0"/>
                <a:t>驱动器数</a:t>
              </a:r>
              <a:endParaRPr lang="zh-CN" altLang="en-US" sz="2400" b="1" dirty="0"/>
            </a:p>
          </p:txBody>
        </p:sp>
        <p:sp>
          <p:nvSpPr>
            <p:cNvPr id="24589" name="Rectangle 14"/>
            <p:cNvSpPr/>
            <p:nvPr/>
          </p:nvSpPr>
          <p:spPr>
            <a:xfrm>
              <a:off x="2736" y="2494"/>
              <a:ext cx="1134" cy="287"/>
            </a:xfrm>
            <a:prstGeom prst="rect">
              <a:avLst/>
            </a:prstGeom>
            <a:noFill/>
            <a:ln w="57150">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Pct val="90000"/>
                <a:buFontTx/>
                <a:buNone/>
              </a:pPr>
              <a:r>
                <a:rPr lang="zh-CN" altLang="en-US" sz="2400" b="1" dirty="0"/>
                <a:t>选择线数</a:t>
              </a:r>
              <a:endParaRPr lang="zh-CN" altLang="en-US" sz="2400" b="1" dirty="0"/>
            </a:p>
          </p:txBody>
        </p:sp>
        <p:sp>
          <p:nvSpPr>
            <p:cNvPr id="24590" name="Rectangle 15"/>
            <p:cNvSpPr/>
            <p:nvPr/>
          </p:nvSpPr>
          <p:spPr>
            <a:xfrm>
              <a:off x="1548" y="2494"/>
              <a:ext cx="1188" cy="287"/>
            </a:xfrm>
            <a:prstGeom prst="rect">
              <a:avLst/>
            </a:prstGeom>
            <a:noFill/>
            <a:ln w="57150">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Pct val="90000"/>
                <a:buFontTx/>
                <a:buNone/>
              </a:pPr>
              <a:r>
                <a:rPr lang="zh-CN" altLang="en-US" sz="2400" b="1" dirty="0"/>
                <a:t>占用地址位</a:t>
              </a:r>
              <a:endParaRPr lang="zh-CN" altLang="en-US" sz="2400" b="1" dirty="0"/>
            </a:p>
          </p:txBody>
        </p:sp>
        <p:sp>
          <p:nvSpPr>
            <p:cNvPr id="24591" name="Rectangle 16"/>
            <p:cNvSpPr/>
            <p:nvPr/>
          </p:nvSpPr>
          <p:spPr>
            <a:xfrm>
              <a:off x="612" y="2494"/>
              <a:ext cx="936" cy="287"/>
            </a:xfrm>
            <a:prstGeom prst="rect">
              <a:avLst/>
            </a:prstGeom>
            <a:noFill/>
            <a:ln w="57150">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buClrTx/>
                <a:buSzPct val="90000"/>
                <a:buFontTx/>
                <a:buNone/>
              </a:pPr>
              <a:r>
                <a:rPr lang="zh-CN" altLang="en-US" sz="2400" b="1" dirty="0"/>
                <a:t>译码方式</a:t>
              </a:r>
              <a:endParaRPr lang="zh-CN" altLang="en-US" sz="2400" b="1" dirty="0"/>
            </a:p>
          </p:txBody>
        </p:sp>
        <p:sp>
          <p:nvSpPr>
            <p:cNvPr id="24592" name="Line 17"/>
            <p:cNvSpPr/>
            <p:nvPr/>
          </p:nvSpPr>
          <p:spPr>
            <a:xfrm>
              <a:off x="612" y="2781"/>
              <a:ext cx="4188" cy="0"/>
            </a:xfrm>
            <a:prstGeom prst="line">
              <a:avLst/>
            </a:prstGeom>
            <a:ln w="12700" cap="flat" cmpd="sng">
              <a:solidFill>
                <a:schemeClr val="tx1"/>
              </a:solidFill>
              <a:prstDash val="solid"/>
              <a:headEnd type="none" w="sm" len="sm"/>
              <a:tailEnd type="none" w="sm" len="sm"/>
            </a:ln>
          </p:spPr>
        </p:sp>
        <p:sp>
          <p:nvSpPr>
            <p:cNvPr id="24593" name="Line 18"/>
            <p:cNvSpPr/>
            <p:nvPr/>
          </p:nvSpPr>
          <p:spPr>
            <a:xfrm>
              <a:off x="612" y="3068"/>
              <a:ext cx="4188" cy="0"/>
            </a:xfrm>
            <a:prstGeom prst="line">
              <a:avLst/>
            </a:prstGeom>
            <a:ln w="12700" cap="flat" cmpd="sng">
              <a:solidFill>
                <a:schemeClr val="tx1"/>
              </a:solidFill>
              <a:prstDash val="solid"/>
              <a:headEnd type="none" w="sm" len="sm"/>
              <a:tailEnd type="none" w="sm" len="sm"/>
            </a:ln>
          </p:spPr>
        </p:sp>
        <p:sp>
          <p:nvSpPr>
            <p:cNvPr id="24594" name="Line 19"/>
            <p:cNvSpPr/>
            <p:nvPr/>
          </p:nvSpPr>
          <p:spPr>
            <a:xfrm>
              <a:off x="612" y="3408"/>
              <a:ext cx="4188" cy="0"/>
            </a:xfrm>
            <a:prstGeom prst="line">
              <a:avLst/>
            </a:prstGeom>
            <a:ln w="28575" cap="sq" cmpd="sng">
              <a:solidFill>
                <a:schemeClr val="tx1"/>
              </a:solidFill>
              <a:prstDash val="solid"/>
              <a:headEnd type="none" w="sm" len="sm"/>
              <a:tailEnd type="none" w="sm" len="sm"/>
            </a:ln>
          </p:spPr>
        </p:sp>
        <p:sp>
          <p:nvSpPr>
            <p:cNvPr id="24595" name="Line 20"/>
            <p:cNvSpPr/>
            <p:nvPr/>
          </p:nvSpPr>
          <p:spPr>
            <a:xfrm>
              <a:off x="612" y="2494"/>
              <a:ext cx="0" cy="914"/>
            </a:xfrm>
            <a:prstGeom prst="line">
              <a:avLst/>
            </a:prstGeom>
            <a:ln w="28575" cap="sq" cmpd="sng">
              <a:solidFill>
                <a:schemeClr val="tx1"/>
              </a:solidFill>
              <a:prstDash val="solid"/>
              <a:headEnd type="none" w="sm" len="sm"/>
              <a:tailEnd type="none" w="sm" len="sm"/>
            </a:ln>
          </p:spPr>
        </p:sp>
        <p:sp>
          <p:nvSpPr>
            <p:cNvPr id="24596" name="Line 21"/>
            <p:cNvSpPr/>
            <p:nvPr/>
          </p:nvSpPr>
          <p:spPr>
            <a:xfrm>
              <a:off x="1548" y="2494"/>
              <a:ext cx="0" cy="914"/>
            </a:xfrm>
            <a:prstGeom prst="line">
              <a:avLst/>
            </a:prstGeom>
            <a:ln w="12700" cap="flat" cmpd="sng">
              <a:solidFill>
                <a:schemeClr val="tx1"/>
              </a:solidFill>
              <a:prstDash val="solid"/>
              <a:headEnd type="none" w="sm" len="sm"/>
              <a:tailEnd type="none" w="sm" len="sm"/>
            </a:ln>
          </p:spPr>
        </p:sp>
        <p:sp>
          <p:nvSpPr>
            <p:cNvPr id="24597" name="Line 22"/>
            <p:cNvSpPr/>
            <p:nvPr/>
          </p:nvSpPr>
          <p:spPr>
            <a:xfrm>
              <a:off x="2736" y="2494"/>
              <a:ext cx="0" cy="914"/>
            </a:xfrm>
            <a:prstGeom prst="line">
              <a:avLst/>
            </a:prstGeom>
            <a:ln w="12700" cap="flat" cmpd="sng">
              <a:solidFill>
                <a:schemeClr val="tx1"/>
              </a:solidFill>
              <a:prstDash val="solid"/>
              <a:headEnd type="none" w="sm" len="sm"/>
              <a:tailEnd type="none" w="sm" len="sm"/>
            </a:ln>
          </p:spPr>
        </p:sp>
        <p:sp>
          <p:nvSpPr>
            <p:cNvPr id="24598" name="Line 23"/>
            <p:cNvSpPr/>
            <p:nvPr/>
          </p:nvSpPr>
          <p:spPr>
            <a:xfrm>
              <a:off x="3870" y="2494"/>
              <a:ext cx="0" cy="914"/>
            </a:xfrm>
            <a:prstGeom prst="line">
              <a:avLst/>
            </a:prstGeom>
            <a:ln w="12700" cap="flat" cmpd="sng">
              <a:solidFill>
                <a:schemeClr val="tx1"/>
              </a:solidFill>
              <a:prstDash val="solid"/>
              <a:headEnd type="none" w="sm" len="sm"/>
              <a:tailEnd type="none" w="sm" len="sm"/>
            </a:ln>
          </p:spPr>
        </p:sp>
        <p:sp>
          <p:nvSpPr>
            <p:cNvPr id="24599" name="Line 24"/>
            <p:cNvSpPr/>
            <p:nvPr/>
          </p:nvSpPr>
          <p:spPr>
            <a:xfrm>
              <a:off x="4800" y="2494"/>
              <a:ext cx="0" cy="914"/>
            </a:xfrm>
            <a:prstGeom prst="line">
              <a:avLst/>
            </a:prstGeom>
            <a:ln w="28575" cap="sq" cmpd="sng">
              <a:solidFill>
                <a:schemeClr val="tx1"/>
              </a:solidFill>
              <a:prstDash val="solid"/>
              <a:headEnd type="none" w="sm" len="sm"/>
              <a:tailEnd type="none" w="sm" len="sm"/>
            </a:ln>
          </p:spPr>
        </p:sp>
        <p:sp>
          <p:nvSpPr>
            <p:cNvPr id="24600" name="Line 25"/>
            <p:cNvSpPr/>
            <p:nvPr/>
          </p:nvSpPr>
          <p:spPr>
            <a:xfrm>
              <a:off x="1548" y="2494"/>
              <a:ext cx="1188" cy="0"/>
            </a:xfrm>
            <a:prstGeom prst="line">
              <a:avLst/>
            </a:prstGeom>
            <a:ln w="12700" cap="flat" cmpd="sng">
              <a:solidFill>
                <a:schemeClr val="tx1"/>
              </a:solidFill>
              <a:prstDash val="solid"/>
              <a:headEnd type="none" w="sm" len="sm"/>
              <a:tailEnd type="none" w="sm" len="sm"/>
            </a:ln>
          </p:spPr>
        </p:sp>
        <p:sp>
          <p:nvSpPr>
            <p:cNvPr id="24601" name="Line 26"/>
            <p:cNvSpPr/>
            <p:nvPr/>
          </p:nvSpPr>
          <p:spPr>
            <a:xfrm>
              <a:off x="612" y="2494"/>
              <a:ext cx="936" cy="0"/>
            </a:xfrm>
            <a:prstGeom prst="line">
              <a:avLst/>
            </a:prstGeom>
            <a:ln w="28575" cap="sq" cmpd="sng">
              <a:solidFill>
                <a:schemeClr val="tx1"/>
              </a:solidFill>
              <a:prstDash val="solid"/>
              <a:headEnd type="none" w="sm" len="sm"/>
              <a:tailEnd type="none" w="sm" len="sm"/>
            </a:ln>
          </p:spPr>
        </p:sp>
        <p:sp>
          <p:nvSpPr>
            <p:cNvPr id="24602" name="Line 27"/>
            <p:cNvSpPr/>
            <p:nvPr/>
          </p:nvSpPr>
          <p:spPr>
            <a:xfrm>
              <a:off x="2736" y="2494"/>
              <a:ext cx="2064" cy="0"/>
            </a:xfrm>
            <a:prstGeom prst="line">
              <a:avLst/>
            </a:prstGeom>
            <a:ln w="28575" cap="sq" cmpd="sng">
              <a:solidFill>
                <a:schemeClr val="tx1"/>
              </a:solidFill>
              <a:prstDash val="solid"/>
              <a:headEnd type="none" w="sm" len="sm"/>
              <a:tailEnd type="none" w="sm" len="sm"/>
            </a:ln>
          </p:spPr>
        </p:sp>
        <p:sp>
          <p:nvSpPr>
            <p:cNvPr id="24603" name="Line 28"/>
            <p:cNvSpPr/>
            <p:nvPr/>
          </p:nvSpPr>
          <p:spPr>
            <a:xfrm>
              <a:off x="3300" y="3072"/>
              <a:ext cx="0" cy="336"/>
            </a:xfrm>
            <a:prstGeom prst="line">
              <a:avLst/>
            </a:prstGeom>
            <a:ln w="12700" cap="sq" cmpd="sng">
              <a:solidFill>
                <a:schemeClr val="tx1"/>
              </a:solidFill>
              <a:prstDash val="solid"/>
              <a:headEnd type="none" w="sm" len="sm"/>
              <a:tailEnd type="none" w="sm" len="sm"/>
            </a:ln>
          </p:spPr>
        </p:sp>
        <p:sp>
          <p:nvSpPr>
            <p:cNvPr id="24604" name="Line 29"/>
            <p:cNvSpPr/>
            <p:nvPr/>
          </p:nvSpPr>
          <p:spPr>
            <a:xfrm>
              <a:off x="4344" y="3072"/>
              <a:ext cx="0" cy="336"/>
            </a:xfrm>
            <a:prstGeom prst="line">
              <a:avLst/>
            </a:prstGeom>
            <a:ln w="19050" cap="sq" cmpd="sng">
              <a:solidFill>
                <a:schemeClr val="tx1"/>
              </a:solidFill>
              <a:prstDash val="solid"/>
              <a:headEnd type="none" w="sm" len="sm"/>
              <a:tailEnd type="none" w="sm" len="sm"/>
            </a:ln>
          </p:spPr>
        </p:sp>
        <p:sp>
          <p:nvSpPr>
            <p:cNvPr id="24605" name="Line 30"/>
            <p:cNvSpPr/>
            <p:nvPr/>
          </p:nvSpPr>
          <p:spPr>
            <a:xfrm>
              <a:off x="2160" y="3072"/>
              <a:ext cx="0" cy="336"/>
            </a:xfrm>
            <a:prstGeom prst="line">
              <a:avLst/>
            </a:prstGeom>
            <a:ln w="19050" cap="sq" cmpd="sng">
              <a:solidFill>
                <a:schemeClr val="tx1"/>
              </a:solidFill>
              <a:prstDash val="solid"/>
              <a:headEnd type="none" w="sm" len="sm"/>
              <a:tailEnd type="none" w="sm" len="sm"/>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6">
                                            <p:txEl>
                                              <p:charRg st="0" end="4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p:cNvSpPr>
          <p:nvPr>
            <p:ph type="title"/>
          </p:nvPr>
        </p:nvSpPr>
        <p:spPr>
          <a:xfrm>
            <a:off x="457200" y="-26987"/>
            <a:ext cx="8229600" cy="1371600"/>
          </a:xfrm>
        </p:spPr>
        <p:txBody>
          <a:bodyPr vert="horz" wrap="square" lIns="91440" tIns="45720" rIns="91440" bIns="45720" anchor="ctr" anchorCtr="0"/>
          <a:p>
            <a:r>
              <a:rPr lang="en-US" altLang="zh-CN" dirty="0"/>
              <a:t>3.2 SRAM</a:t>
            </a:r>
            <a:r>
              <a:rPr lang="zh-CN" altLang="en-US" dirty="0"/>
              <a:t>存储器</a:t>
            </a:r>
            <a:endParaRPr lang="zh-CN" altLang="en-US" dirty="0"/>
          </a:p>
        </p:txBody>
      </p:sp>
      <p:sp>
        <p:nvSpPr>
          <p:cNvPr id="25603" name="Rectangle 3"/>
          <p:cNvSpPr>
            <a:spLocks noGrp="1"/>
          </p:cNvSpPr>
          <p:nvPr>
            <p:ph idx="1"/>
          </p:nvPr>
        </p:nvSpPr>
        <p:spPr>
          <a:xfrm>
            <a:off x="457200" y="1516063"/>
            <a:ext cx="8229600" cy="3886200"/>
          </a:xfrm>
        </p:spPr>
        <p:txBody>
          <a:bodyPr vert="horz" wrap="square" lIns="91440" tIns="45720" rIns="91440" bIns="45720" anchor="t" anchorCtr="0"/>
          <a:p>
            <a:pPr marL="457200" indent="-457200">
              <a:lnSpc>
                <a:spcPct val="90000"/>
              </a:lnSpc>
            </a:pPr>
            <a:r>
              <a:rPr lang="zh-CN" altLang="en-US" dirty="0"/>
              <a:t>存储体（</a:t>
            </a:r>
            <a:r>
              <a:rPr lang="en-US" altLang="zh-CN" dirty="0"/>
              <a:t>256×128×8</a:t>
            </a:r>
            <a:r>
              <a:rPr lang="zh-CN" altLang="en-US" dirty="0"/>
              <a:t>）</a:t>
            </a:r>
            <a:endParaRPr lang="en-US" altLang="zh-CN" dirty="0"/>
          </a:p>
          <a:p>
            <a:pPr marL="457200" indent="-457200">
              <a:lnSpc>
                <a:spcPct val="90000"/>
              </a:lnSpc>
            </a:pPr>
            <a:r>
              <a:rPr lang="zh-CN" altLang="en-US" dirty="0"/>
              <a:t>存储阵列为三维结构，即</a:t>
            </a:r>
            <a:r>
              <a:rPr lang="en-US" altLang="zh-CN" dirty="0"/>
              <a:t>256</a:t>
            </a:r>
            <a:r>
              <a:rPr lang="zh-CN" altLang="en-US" dirty="0"/>
              <a:t>行</a:t>
            </a:r>
            <a:r>
              <a:rPr lang="en-US" altLang="zh-CN" dirty="0"/>
              <a:t>×128</a:t>
            </a:r>
            <a:r>
              <a:rPr lang="zh-CN" altLang="en-US" dirty="0"/>
              <a:t>列</a:t>
            </a:r>
            <a:r>
              <a:rPr lang="en-US" altLang="zh-CN" dirty="0"/>
              <a:t>×8</a:t>
            </a:r>
            <a:r>
              <a:rPr lang="zh-CN" altLang="en-US" dirty="0"/>
              <a:t>位</a:t>
            </a:r>
            <a:r>
              <a:rPr lang="en-US" altLang="zh-CN" dirty="0"/>
              <a:t> </a:t>
            </a:r>
            <a:endParaRPr lang="en-US" altLang="zh-CN" dirty="0"/>
          </a:p>
          <a:p>
            <a:pPr marL="1027430" lvl="1" indent="-455930">
              <a:lnSpc>
                <a:spcPct val="90000"/>
              </a:lnSpc>
            </a:pPr>
            <a:r>
              <a:rPr lang="zh-CN" altLang="en-US" dirty="0"/>
              <a:t>通常把各个字的同一个字的同一位集成在一个芯片（</a:t>
            </a:r>
            <a:r>
              <a:rPr lang="en-US" altLang="zh-CN" dirty="0"/>
              <a:t>32K×1</a:t>
            </a:r>
            <a:r>
              <a:rPr lang="zh-CN" altLang="en-US" dirty="0"/>
              <a:t>）中，</a:t>
            </a:r>
            <a:r>
              <a:rPr lang="en-US" altLang="zh-CN" dirty="0"/>
              <a:t>32K</a:t>
            </a:r>
            <a:r>
              <a:rPr lang="zh-CN" altLang="en-US" dirty="0"/>
              <a:t>位排成</a:t>
            </a:r>
            <a:r>
              <a:rPr lang="en-US" altLang="zh-CN" dirty="0"/>
              <a:t>256×128</a:t>
            </a:r>
            <a:r>
              <a:rPr lang="zh-CN" altLang="en-US" dirty="0"/>
              <a:t>的矩阵。</a:t>
            </a:r>
            <a:r>
              <a:rPr lang="en-US" altLang="zh-CN" dirty="0"/>
              <a:t>8</a:t>
            </a:r>
            <a:r>
              <a:rPr lang="zh-CN" altLang="en-US" dirty="0"/>
              <a:t>个片子就可以构成</a:t>
            </a:r>
            <a:r>
              <a:rPr lang="en-US" altLang="zh-CN" dirty="0"/>
              <a:t>32KB</a:t>
            </a:r>
            <a:r>
              <a:rPr lang="zh-CN" altLang="en-US" dirty="0"/>
              <a:t>。</a:t>
            </a:r>
            <a:endParaRPr lang="en-US" altLang="zh-CN" dirty="0"/>
          </a:p>
          <a:p>
            <a:pPr marL="457200" indent="-457200">
              <a:lnSpc>
                <a:spcPct val="90000"/>
              </a:lnSpc>
            </a:pPr>
            <a:r>
              <a:rPr lang="zh-CN" altLang="en-US" dirty="0"/>
              <a:t>地址译码器</a:t>
            </a:r>
            <a:endParaRPr lang="en-US" altLang="zh-CN" dirty="0"/>
          </a:p>
          <a:p>
            <a:pPr marL="1027430" lvl="1" indent="-455930">
              <a:lnSpc>
                <a:spcPct val="90000"/>
              </a:lnSpc>
            </a:pPr>
            <a:r>
              <a:rPr lang="zh-CN" altLang="en-US" dirty="0"/>
              <a:t>采用双译码的方式（减少选择线的数目）。</a:t>
            </a:r>
            <a:endParaRPr lang="en-US" altLang="zh-CN" dirty="0"/>
          </a:p>
          <a:p>
            <a:pPr marL="1027430" lvl="1" indent="-455930">
              <a:lnSpc>
                <a:spcPct val="90000"/>
              </a:lnSpc>
            </a:pPr>
            <a:r>
              <a:rPr lang="en-US" altLang="zh-CN" dirty="0"/>
              <a:t>A0~A7</a:t>
            </a:r>
            <a:r>
              <a:rPr lang="zh-CN" altLang="en-US" dirty="0"/>
              <a:t>为</a:t>
            </a:r>
            <a:r>
              <a:rPr lang="zh-CN" altLang="en-US" dirty="0">
                <a:solidFill>
                  <a:srgbClr val="0000FF"/>
                </a:solidFill>
              </a:rPr>
              <a:t>行地址译码线</a:t>
            </a:r>
            <a:endParaRPr lang="en-US" altLang="zh-CN" dirty="0">
              <a:solidFill>
                <a:srgbClr val="0000FF"/>
              </a:solidFill>
            </a:endParaRPr>
          </a:p>
          <a:p>
            <a:pPr marL="1027430" lvl="1" indent="-455930">
              <a:lnSpc>
                <a:spcPct val="90000"/>
              </a:lnSpc>
            </a:pPr>
            <a:r>
              <a:rPr lang="en-US" altLang="zh-CN" dirty="0"/>
              <a:t>A8~A14</a:t>
            </a:r>
            <a:r>
              <a:rPr lang="zh-CN" altLang="en-US" dirty="0"/>
              <a:t>为</a:t>
            </a:r>
            <a:r>
              <a:rPr lang="zh-CN" altLang="en-US" dirty="0">
                <a:solidFill>
                  <a:srgbClr val="0000FF"/>
                </a:solidFill>
              </a:rPr>
              <a:t>列地址译码线</a:t>
            </a:r>
            <a:endParaRPr lang="zh-CN" altLang="en-US" dirty="0">
              <a:solidFill>
                <a:srgbClr val="0000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p:cNvSpPr>
          <p:nvPr>
            <p:ph type="title"/>
          </p:nvPr>
        </p:nvSpPr>
        <p:spPr/>
        <p:txBody>
          <a:bodyPr vert="horz" wrap="square" lIns="91440" tIns="45720" rIns="91440" bIns="45720" anchor="ctr" anchorCtr="0"/>
          <a:p>
            <a:r>
              <a:rPr lang="en-US" altLang="zh-CN" dirty="0"/>
              <a:t>3.2 SRAM</a:t>
            </a:r>
            <a:r>
              <a:rPr lang="zh-CN" altLang="en-US" dirty="0"/>
              <a:t>存储器</a:t>
            </a:r>
            <a:endParaRPr lang="zh-CN" altLang="en-US" dirty="0"/>
          </a:p>
        </p:txBody>
      </p:sp>
      <p:sp>
        <p:nvSpPr>
          <p:cNvPr id="15363" name="Rectangle 3"/>
          <p:cNvSpPr>
            <a:spLocks noGrp="1"/>
          </p:cNvSpPr>
          <p:nvPr>
            <p:ph idx="1"/>
          </p:nvPr>
        </p:nvSpPr>
        <p:spPr>
          <a:xfrm>
            <a:off x="395288" y="1484313"/>
            <a:ext cx="4824412" cy="5113337"/>
          </a:xfrm>
        </p:spPr>
        <p:txBody>
          <a:bodyPr vert="horz" wrap="square" lIns="91440" tIns="45720" rIns="91440" bIns="45720" anchor="t" anchorCtr="0"/>
          <a:p>
            <a:pPr>
              <a:lnSpc>
                <a:spcPct val="90000"/>
              </a:lnSpc>
            </a:pPr>
            <a:r>
              <a:rPr lang="zh-CN" altLang="en-US" sz="2700" b="1" dirty="0"/>
              <a:t>读与写的互锁逻辑</a:t>
            </a:r>
            <a:endParaRPr lang="en-US" altLang="zh-CN" sz="2700" b="1" dirty="0"/>
          </a:p>
          <a:p>
            <a:pPr>
              <a:lnSpc>
                <a:spcPct val="90000"/>
              </a:lnSpc>
              <a:buNone/>
            </a:pPr>
            <a:r>
              <a:rPr lang="en-US" altLang="zh-CN" sz="2200" dirty="0"/>
              <a:t>	</a:t>
            </a:r>
            <a:r>
              <a:rPr lang="zh-CN" altLang="en-US" sz="2600" dirty="0"/>
              <a:t>控制信号中</a:t>
            </a:r>
            <a:r>
              <a:rPr lang="en-US" altLang="zh-CN" sz="2600" dirty="0">
                <a:solidFill>
                  <a:srgbClr val="0000FF"/>
                </a:solidFill>
              </a:rPr>
              <a:t>CS</a:t>
            </a:r>
            <a:r>
              <a:rPr lang="zh-CN" altLang="en-US" sz="2600" dirty="0">
                <a:solidFill>
                  <a:srgbClr val="0000FF"/>
                </a:solidFill>
              </a:rPr>
              <a:t>是片选信号</a:t>
            </a:r>
            <a:r>
              <a:rPr lang="zh-CN" altLang="en-US" sz="2600" dirty="0"/>
              <a:t>，</a:t>
            </a:r>
            <a:r>
              <a:rPr lang="en-US" altLang="zh-CN" sz="2600" dirty="0"/>
              <a:t>CS</a:t>
            </a:r>
            <a:r>
              <a:rPr lang="zh-CN" altLang="en-US" sz="2600" dirty="0"/>
              <a:t>有效时（</a:t>
            </a:r>
            <a:r>
              <a:rPr lang="zh-CN" altLang="en-US" sz="2600" dirty="0">
                <a:solidFill>
                  <a:srgbClr val="FF3300"/>
                </a:solidFill>
              </a:rPr>
              <a:t>低电平</a:t>
            </a:r>
            <a:r>
              <a:rPr lang="zh-CN" altLang="en-US" sz="2600" dirty="0"/>
              <a:t>），门</a:t>
            </a:r>
            <a:r>
              <a:rPr lang="en-US" altLang="zh-CN" sz="2600" dirty="0"/>
              <a:t>G1</a:t>
            </a:r>
            <a:r>
              <a:rPr lang="zh-CN" altLang="en-US" sz="2600" dirty="0"/>
              <a:t>、</a:t>
            </a:r>
            <a:r>
              <a:rPr lang="en-US" altLang="zh-CN" sz="2600" dirty="0"/>
              <a:t>G2</a:t>
            </a:r>
            <a:r>
              <a:rPr lang="zh-CN" altLang="en-US" sz="2600" dirty="0"/>
              <a:t>均被打开。</a:t>
            </a:r>
            <a:endParaRPr lang="en-US" altLang="zh-CN" sz="2600" dirty="0"/>
          </a:p>
          <a:p>
            <a:pPr>
              <a:lnSpc>
                <a:spcPct val="90000"/>
              </a:lnSpc>
              <a:buNone/>
            </a:pPr>
            <a:r>
              <a:rPr lang="en-US" altLang="zh-CN" sz="2600" dirty="0"/>
              <a:t>    </a:t>
            </a:r>
            <a:r>
              <a:rPr lang="en-US" altLang="zh-CN" sz="2600" dirty="0">
                <a:solidFill>
                  <a:srgbClr val="0000FF"/>
                </a:solidFill>
              </a:rPr>
              <a:t>OE</a:t>
            </a:r>
            <a:r>
              <a:rPr lang="zh-CN" altLang="en-US" sz="2600" dirty="0">
                <a:solidFill>
                  <a:srgbClr val="0000FF"/>
                </a:solidFill>
              </a:rPr>
              <a:t>为读出使能信号</a:t>
            </a:r>
            <a:r>
              <a:rPr lang="zh-CN" altLang="en-US" sz="2600" dirty="0"/>
              <a:t>，</a:t>
            </a:r>
            <a:r>
              <a:rPr lang="en-US" altLang="zh-CN" sz="2600" dirty="0"/>
              <a:t>OE</a:t>
            </a:r>
            <a:r>
              <a:rPr lang="zh-CN" altLang="en-US" sz="2600" dirty="0"/>
              <a:t>有效时（</a:t>
            </a:r>
            <a:r>
              <a:rPr lang="zh-CN" altLang="en-US" sz="2600" dirty="0">
                <a:solidFill>
                  <a:srgbClr val="FF3300"/>
                </a:solidFill>
              </a:rPr>
              <a:t>低电平</a:t>
            </a:r>
            <a:r>
              <a:rPr lang="zh-CN" altLang="en-US" sz="2600" dirty="0"/>
              <a:t>），门</a:t>
            </a:r>
            <a:r>
              <a:rPr lang="en-US" altLang="zh-CN" sz="2600" dirty="0"/>
              <a:t>G2</a:t>
            </a:r>
            <a:r>
              <a:rPr lang="zh-CN" altLang="en-US" sz="2600" dirty="0"/>
              <a:t>开启，当写命令</a:t>
            </a:r>
            <a:r>
              <a:rPr lang="en-US" altLang="zh-CN" sz="2600" dirty="0"/>
              <a:t>WE=1</a:t>
            </a:r>
            <a:r>
              <a:rPr lang="zh-CN" altLang="en-US" sz="2600" dirty="0"/>
              <a:t>时（</a:t>
            </a:r>
            <a:r>
              <a:rPr lang="zh-CN" altLang="en-US" sz="2600" dirty="0">
                <a:solidFill>
                  <a:srgbClr val="FF3300"/>
                </a:solidFill>
              </a:rPr>
              <a:t>高电平</a:t>
            </a:r>
            <a:r>
              <a:rPr lang="zh-CN" altLang="en-US" sz="2600" dirty="0"/>
              <a:t>），门</a:t>
            </a:r>
            <a:r>
              <a:rPr lang="en-US" altLang="zh-CN" sz="2600" dirty="0"/>
              <a:t>G1</a:t>
            </a:r>
            <a:r>
              <a:rPr lang="zh-CN" altLang="en-US" sz="2600" dirty="0"/>
              <a:t>关闭，存储器进行</a:t>
            </a:r>
            <a:r>
              <a:rPr lang="zh-CN" altLang="en-US" sz="2600" b="1" dirty="0">
                <a:solidFill>
                  <a:srgbClr val="FF3300"/>
                </a:solidFill>
              </a:rPr>
              <a:t>读操作</a:t>
            </a:r>
            <a:r>
              <a:rPr lang="zh-CN" altLang="en-US" sz="2600" dirty="0"/>
              <a:t>。</a:t>
            </a:r>
            <a:endParaRPr lang="en-US" altLang="zh-CN" sz="2600" dirty="0"/>
          </a:p>
          <a:p>
            <a:pPr>
              <a:lnSpc>
                <a:spcPct val="90000"/>
              </a:lnSpc>
              <a:buNone/>
            </a:pPr>
            <a:r>
              <a:rPr lang="en-US" altLang="zh-CN" sz="2600" dirty="0"/>
              <a:t>    </a:t>
            </a:r>
            <a:r>
              <a:rPr lang="zh-CN" altLang="en-US" sz="2600" b="1" dirty="0">
                <a:solidFill>
                  <a:srgbClr val="FF3300"/>
                </a:solidFill>
              </a:rPr>
              <a:t>写操作</a:t>
            </a:r>
            <a:r>
              <a:rPr lang="zh-CN" altLang="en-US" sz="2600" dirty="0"/>
              <a:t>时，</a:t>
            </a:r>
            <a:r>
              <a:rPr lang="en-US" altLang="zh-CN" sz="2600" dirty="0"/>
              <a:t>WE=0</a:t>
            </a:r>
            <a:r>
              <a:rPr lang="zh-CN" altLang="en-US" sz="2600" dirty="0"/>
              <a:t>，门</a:t>
            </a:r>
            <a:r>
              <a:rPr lang="en-US" altLang="zh-CN" sz="2600" dirty="0"/>
              <a:t>G1</a:t>
            </a:r>
            <a:r>
              <a:rPr lang="zh-CN" altLang="en-US" sz="2600" dirty="0"/>
              <a:t>开启，门</a:t>
            </a:r>
            <a:r>
              <a:rPr lang="en-US" altLang="zh-CN" sz="2600" dirty="0"/>
              <a:t>G2</a:t>
            </a:r>
            <a:r>
              <a:rPr lang="zh-CN" altLang="en-US" sz="2600" dirty="0"/>
              <a:t>关闭。</a:t>
            </a:r>
            <a:r>
              <a:rPr lang="en-US" altLang="zh-CN" sz="2600" dirty="0"/>
              <a:t></a:t>
            </a:r>
            <a:endParaRPr lang="en-US" altLang="zh-CN" sz="2600" dirty="0"/>
          </a:p>
        </p:txBody>
      </p:sp>
      <p:sp>
        <p:nvSpPr>
          <p:cNvPr id="26628" name="Rectangle 4"/>
          <p:cNvSpPr/>
          <p:nvPr/>
        </p:nvSpPr>
        <p:spPr>
          <a:xfrm>
            <a:off x="3238500" y="3019425"/>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pic>
        <p:nvPicPr>
          <p:cNvPr id="26629" name="Picture 5"/>
          <p:cNvPicPr>
            <a:picLocks noChangeAspect="1"/>
          </p:cNvPicPr>
          <p:nvPr/>
        </p:nvPicPr>
        <p:blipFill>
          <a:blip r:embed="rId1"/>
          <a:stretch>
            <a:fillRect/>
          </a:stretch>
        </p:blipFill>
        <p:spPr>
          <a:xfrm>
            <a:off x="5508625" y="1557338"/>
            <a:ext cx="2736850" cy="2097087"/>
          </a:xfrm>
          <a:prstGeom prst="rect">
            <a:avLst/>
          </a:prstGeom>
          <a:noFill/>
          <a:ln w="9525">
            <a:noFill/>
          </a:ln>
        </p:spPr>
      </p:pic>
      <p:sp>
        <p:nvSpPr>
          <p:cNvPr id="15366" name="Rectangle 6"/>
          <p:cNvSpPr/>
          <p:nvPr/>
        </p:nvSpPr>
        <p:spPr>
          <a:xfrm>
            <a:off x="5005388" y="3644900"/>
            <a:ext cx="3887787" cy="1223963"/>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lnSpc>
                <a:spcPct val="80000"/>
              </a:lnSpc>
              <a:buClr>
                <a:schemeClr val="tx2"/>
              </a:buClr>
              <a:buSzPct val="70000"/>
              <a:buNone/>
            </a:pPr>
            <a:r>
              <a:rPr lang="en-US" altLang="zh-CN" sz="2200" dirty="0">
                <a:solidFill>
                  <a:srgbClr val="FF3300"/>
                </a:solidFill>
              </a:rPr>
              <a:t>    </a:t>
            </a:r>
            <a:r>
              <a:rPr lang="zh-CN" altLang="en-US" sz="2200" dirty="0">
                <a:solidFill>
                  <a:srgbClr val="FF3300"/>
                </a:solidFill>
              </a:rPr>
              <a:t>注意，门</a:t>
            </a:r>
            <a:r>
              <a:rPr lang="en-US" altLang="zh-CN" sz="2200" dirty="0">
                <a:solidFill>
                  <a:srgbClr val="FF3300"/>
                </a:solidFill>
              </a:rPr>
              <a:t>G1</a:t>
            </a:r>
            <a:r>
              <a:rPr lang="zh-CN" altLang="en-US" sz="2200" dirty="0">
                <a:solidFill>
                  <a:srgbClr val="FF3300"/>
                </a:solidFill>
              </a:rPr>
              <a:t>和</a:t>
            </a:r>
            <a:r>
              <a:rPr lang="en-US" altLang="zh-CN" sz="2200" dirty="0">
                <a:solidFill>
                  <a:srgbClr val="FF3300"/>
                </a:solidFill>
              </a:rPr>
              <a:t>G2</a:t>
            </a:r>
            <a:r>
              <a:rPr lang="zh-CN" altLang="en-US" sz="2200" dirty="0">
                <a:solidFill>
                  <a:srgbClr val="FF3300"/>
                </a:solidFill>
              </a:rPr>
              <a:t>是互锁的，一个开启时另一个必定关闭，这样保证了读时不写，写时不读。</a:t>
            </a:r>
            <a:r>
              <a:rPr lang="en-US" altLang="zh-CN" sz="2200" dirty="0"/>
              <a:t></a:t>
            </a:r>
            <a:endParaRPr lang="en-US" altLang="zh-CN"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charRg st="46" end="10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charRg st="108" end="13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457200" y="44450"/>
            <a:ext cx="8229600" cy="1371600"/>
          </a:xfrm>
        </p:spPr>
        <p:txBody>
          <a:bodyPr vert="horz" wrap="square" lIns="91440" tIns="45720" rIns="91440" bIns="45720" anchor="ctr" anchorCtr="0"/>
          <a:p>
            <a:r>
              <a:rPr lang="en-US" altLang="zh-CN" dirty="0"/>
              <a:t>3.2 SRAM</a:t>
            </a:r>
            <a:r>
              <a:rPr lang="zh-CN" altLang="en-US" dirty="0"/>
              <a:t>存储器</a:t>
            </a:r>
            <a:endParaRPr lang="zh-CN" altLang="en-US" dirty="0"/>
          </a:p>
        </p:txBody>
      </p:sp>
      <p:sp>
        <p:nvSpPr>
          <p:cNvPr id="27651" name="Rectangle 3"/>
          <p:cNvSpPr>
            <a:spLocks noGrp="1"/>
          </p:cNvSpPr>
          <p:nvPr>
            <p:ph idx="1"/>
          </p:nvPr>
        </p:nvSpPr>
        <p:spPr>
          <a:xfrm>
            <a:off x="541338" y="1125538"/>
            <a:ext cx="7559675" cy="2160587"/>
          </a:xfrm>
        </p:spPr>
        <p:txBody>
          <a:bodyPr vert="horz" wrap="square" lIns="91440" tIns="45720" rIns="91440" bIns="45720" anchor="t" anchorCtr="0"/>
          <a:p>
            <a:pPr>
              <a:buNone/>
            </a:pPr>
            <a:r>
              <a:rPr lang="zh-CN" altLang="en-US" dirty="0"/>
              <a:t>三、存储器的读写周期</a:t>
            </a:r>
            <a:endParaRPr lang="en-US" altLang="zh-CN" dirty="0"/>
          </a:p>
          <a:p>
            <a:r>
              <a:rPr lang="zh-CN" altLang="en-US" dirty="0"/>
              <a:t>读周期</a:t>
            </a:r>
            <a:endParaRPr lang="en-US" altLang="zh-CN" dirty="0"/>
          </a:p>
          <a:p>
            <a:pPr lvl="1"/>
            <a:r>
              <a:rPr lang="zh-CN" altLang="en-US" dirty="0"/>
              <a:t>读出时间</a:t>
            </a:r>
            <a:r>
              <a:rPr lang="en-US" altLang="zh-CN" dirty="0"/>
              <a:t>Taq</a:t>
            </a:r>
            <a:r>
              <a:rPr lang="en-US" altLang="zh-CN" baseline="-25000" dirty="0"/>
              <a:t>                   </a:t>
            </a:r>
            <a:r>
              <a:rPr lang="zh-CN" altLang="en-US" dirty="0"/>
              <a:t>读周期时间</a:t>
            </a:r>
            <a:r>
              <a:rPr lang="en-US" altLang="zh-CN" dirty="0"/>
              <a:t>Trc</a:t>
            </a:r>
            <a:endParaRPr lang="en-US" altLang="zh-CN" dirty="0"/>
          </a:p>
        </p:txBody>
      </p:sp>
      <p:pic>
        <p:nvPicPr>
          <p:cNvPr id="27652" name="Picture 6"/>
          <p:cNvPicPr>
            <a:picLocks noChangeAspect="1"/>
          </p:cNvPicPr>
          <p:nvPr/>
        </p:nvPicPr>
        <p:blipFill>
          <a:blip r:embed="rId1"/>
          <a:stretch>
            <a:fillRect/>
          </a:stretch>
        </p:blipFill>
        <p:spPr>
          <a:xfrm>
            <a:off x="1042988" y="2781300"/>
            <a:ext cx="6769100" cy="3784600"/>
          </a:xfrm>
          <a:prstGeom prst="rect">
            <a:avLst/>
          </a:prstGeom>
          <a:noFill/>
          <a:ln w="9525">
            <a:noFill/>
          </a:ln>
        </p:spPr>
      </p:pic>
      <p:grpSp>
        <p:nvGrpSpPr>
          <p:cNvPr id="2" name="Group 11"/>
          <p:cNvGrpSpPr/>
          <p:nvPr/>
        </p:nvGrpSpPr>
        <p:grpSpPr>
          <a:xfrm>
            <a:off x="1816100" y="2641600"/>
            <a:ext cx="1098550" cy="427038"/>
            <a:chOff x="1144" y="1664"/>
            <a:chExt cx="692" cy="269"/>
          </a:xfrm>
        </p:grpSpPr>
        <p:sp>
          <p:nvSpPr>
            <p:cNvPr id="27677" name="Line 9"/>
            <p:cNvSpPr/>
            <p:nvPr/>
          </p:nvSpPr>
          <p:spPr>
            <a:xfrm>
              <a:off x="1610" y="1842"/>
              <a:ext cx="181" cy="91"/>
            </a:xfrm>
            <a:prstGeom prst="line">
              <a:avLst/>
            </a:prstGeom>
            <a:ln w="28575" cap="flat" cmpd="sng">
              <a:solidFill>
                <a:srgbClr val="FF3300"/>
              </a:solidFill>
              <a:prstDash val="solid"/>
              <a:headEnd type="none" w="sm" len="sm"/>
              <a:tailEnd type="triangle" w="sm" len="sm"/>
            </a:ln>
          </p:spPr>
        </p:sp>
        <p:sp>
          <p:nvSpPr>
            <p:cNvPr id="27678" name="Text Box 10"/>
            <p:cNvSpPr txBox="1"/>
            <p:nvPr/>
          </p:nvSpPr>
          <p:spPr>
            <a:xfrm>
              <a:off x="1144" y="1664"/>
              <a:ext cx="69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地址有效</a:t>
              </a:r>
              <a:endParaRPr lang="zh-CN" altLang="en-US" sz="1800" dirty="0"/>
            </a:p>
          </p:txBody>
        </p:sp>
      </p:grpSp>
      <p:grpSp>
        <p:nvGrpSpPr>
          <p:cNvPr id="3" name="Group 14"/>
          <p:cNvGrpSpPr/>
          <p:nvPr/>
        </p:nvGrpSpPr>
        <p:grpSpPr>
          <a:xfrm>
            <a:off x="2249488" y="4010025"/>
            <a:ext cx="1385887" cy="366713"/>
            <a:chOff x="1417" y="2526"/>
            <a:chExt cx="873" cy="231"/>
          </a:xfrm>
        </p:grpSpPr>
        <p:sp>
          <p:nvSpPr>
            <p:cNvPr id="27675" name="Line 12"/>
            <p:cNvSpPr/>
            <p:nvPr/>
          </p:nvSpPr>
          <p:spPr>
            <a:xfrm flipV="1">
              <a:off x="2064" y="2614"/>
              <a:ext cx="226" cy="45"/>
            </a:xfrm>
            <a:prstGeom prst="line">
              <a:avLst/>
            </a:prstGeom>
            <a:ln w="28575" cap="flat" cmpd="sng">
              <a:solidFill>
                <a:srgbClr val="0000FF"/>
              </a:solidFill>
              <a:prstDash val="solid"/>
              <a:headEnd type="none" w="sm" len="sm"/>
              <a:tailEnd type="triangle" w="sm" len="sm"/>
            </a:ln>
          </p:spPr>
        </p:sp>
        <p:sp>
          <p:nvSpPr>
            <p:cNvPr id="27676" name="Text Box 13"/>
            <p:cNvSpPr txBox="1"/>
            <p:nvPr/>
          </p:nvSpPr>
          <p:spPr>
            <a:xfrm>
              <a:off x="1417" y="2526"/>
              <a:ext cx="69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片选有效</a:t>
              </a:r>
              <a:endParaRPr lang="zh-CN" altLang="en-US" sz="1800" dirty="0"/>
            </a:p>
          </p:txBody>
        </p:sp>
      </p:grpSp>
      <p:grpSp>
        <p:nvGrpSpPr>
          <p:cNvPr id="4" name="Group 15"/>
          <p:cNvGrpSpPr/>
          <p:nvPr/>
        </p:nvGrpSpPr>
        <p:grpSpPr>
          <a:xfrm>
            <a:off x="2268538" y="4724400"/>
            <a:ext cx="1385887" cy="366713"/>
            <a:chOff x="1417" y="2526"/>
            <a:chExt cx="873" cy="231"/>
          </a:xfrm>
        </p:grpSpPr>
        <p:sp>
          <p:nvSpPr>
            <p:cNvPr id="27673" name="Line 16"/>
            <p:cNvSpPr/>
            <p:nvPr/>
          </p:nvSpPr>
          <p:spPr>
            <a:xfrm flipV="1">
              <a:off x="2064" y="2614"/>
              <a:ext cx="226" cy="45"/>
            </a:xfrm>
            <a:prstGeom prst="line">
              <a:avLst/>
            </a:prstGeom>
            <a:ln w="28575" cap="flat" cmpd="sng">
              <a:solidFill>
                <a:srgbClr val="0000FF"/>
              </a:solidFill>
              <a:prstDash val="solid"/>
              <a:headEnd type="none" w="sm" len="sm"/>
              <a:tailEnd type="triangle" w="sm" len="sm"/>
            </a:ln>
          </p:spPr>
        </p:sp>
        <p:sp>
          <p:nvSpPr>
            <p:cNvPr id="27674" name="Text Box 17"/>
            <p:cNvSpPr txBox="1"/>
            <p:nvPr/>
          </p:nvSpPr>
          <p:spPr>
            <a:xfrm>
              <a:off x="1417" y="2526"/>
              <a:ext cx="548"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读使能</a:t>
              </a:r>
              <a:endParaRPr lang="zh-CN" altLang="en-US" sz="1800" dirty="0"/>
            </a:p>
          </p:txBody>
        </p:sp>
      </p:grpSp>
      <p:grpSp>
        <p:nvGrpSpPr>
          <p:cNvPr id="5" name="Group 20"/>
          <p:cNvGrpSpPr/>
          <p:nvPr/>
        </p:nvGrpSpPr>
        <p:grpSpPr>
          <a:xfrm>
            <a:off x="4048125" y="5883275"/>
            <a:ext cx="1316038" cy="366713"/>
            <a:chOff x="2550" y="3706"/>
            <a:chExt cx="829" cy="231"/>
          </a:xfrm>
        </p:grpSpPr>
        <p:sp>
          <p:nvSpPr>
            <p:cNvPr id="27671" name="Line 18"/>
            <p:cNvSpPr/>
            <p:nvPr/>
          </p:nvSpPr>
          <p:spPr>
            <a:xfrm flipV="1">
              <a:off x="3198" y="3748"/>
              <a:ext cx="181" cy="90"/>
            </a:xfrm>
            <a:prstGeom prst="line">
              <a:avLst/>
            </a:prstGeom>
            <a:ln w="38100" cap="sq" cmpd="sng">
              <a:solidFill>
                <a:srgbClr val="66FF66"/>
              </a:solidFill>
              <a:prstDash val="solid"/>
              <a:headEnd type="none" w="sm" len="sm"/>
              <a:tailEnd type="triangle" w="sm" len="sm"/>
            </a:ln>
          </p:spPr>
        </p:sp>
        <p:sp>
          <p:nvSpPr>
            <p:cNvPr id="27672" name="Text Box 19"/>
            <p:cNvSpPr txBox="1"/>
            <p:nvPr/>
          </p:nvSpPr>
          <p:spPr>
            <a:xfrm>
              <a:off x="2550" y="3706"/>
              <a:ext cx="69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数据有效</a:t>
              </a:r>
              <a:endParaRPr lang="zh-CN" altLang="en-US" sz="1800" dirty="0"/>
            </a:p>
          </p:txBody>
        </p:sp>
      </p:grpSp>
      <p:sp>
        <p:nvSpPr>
          <p:cNvPr id="27657" name="Line 21"/>
          <p:cNvSpPr/>
          <p:nvPr/>
        </p:nvSpPr>
        <p:spPr>
          <a:xfrm flipV="1">
            <a:off x="5508625" y="5300663"/>
            <a:ext cx="0" cy="792162"/>
          </a:xfrm>
          <a:prstGeom prst="line">
            <a:avLst/>
          </a:prstGeom>
          <a:ln w="19050" cap="flat" cmpd="sng">
            <a:solidFill>
              <a:srgbClr val="FF3300"/>
            </a:solidFill>
            <a:prstDash val="dash"/>
            <a:headEnd type="none" w="sm" len="sm"/>
            <a:tailEnd type="none" w="sm" len="sm"/>
          </a:ln>
        </p:spPr>
      </p:sp>
      <p:grpSp>
        <p:nvGrpSpPr>
          <p:cNvPr id="6" name="Group 24"/>
          <p:cNvGrpSpPr/>
          <p:nvPr/>
        </p:nvGrpSpPr>
        <p:grpSpPr>
          <a:xfrm>
            <a:off x="5508625" y="5883275"/>
            <a:ext cx="1438275" cy="366713"/>
            <a:chOff x="3470" y="3706"/>
            <a:chExt cx="906" cy="231"/>
          </a:xfrm>
        </p:grpSpPr>
        <p:sp>
          <p:nvSpPr>
            <p:cNvPr id="27669" name="Line 22"/>
            <p:cNvSpPr/>
            <p:nvPr/>
          </p:nvSpPr>
          <p:spPr>
            <a:xfrm flipH="1" flipV="1">
              <a:off x="3470" y="3748"/>
              <a:ext cx="272" cy="90"/>
            </a:xfrm>
            <a:prstGeom prst="line">
              <a:avLst/>
            </a:prstGeom>
            <a:ln w="38100" cap="sq" cmpd="sng">
              <a:solidFill>
                <a:srgbClr val="FF3399"/>
              </a:solidFill>
              <a:prstDash val="solid"/>
              <a:headEnd type="none" w="sm" len="sm"/>
              <a:tailEnd type="triangle" w="sm" len="sm"/>
            </a:ln>
          </p:spPr>
        </p:sp>
        <p:sp>
          <p:nvSpPr>
            <p:cNvPr id="27670" name="Text Box 23"/>
            <p:cNvSpPr txBox="1"/>
            <p:nvPr/>
          </p:nvSpPr>
          <p:spPr>
            <a:xfrm>
              <a:off x="3684" y="3706"/>
              <a:ext cx="69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数据稳定</a:t>
              </a:r>
              <a:endParaRPr lang="zh-CN" altLang="en-US" sz="1800" dirty="0"/>
            </a:p>
          </p:txBody>
        </p:sp>
      </p:grpSp>
      <p:sp>
        <p:nvSpPr>
          <p:cNvPr id="27659" name="Line 25"/>
          <p:cNvSpPr/>
          <p:nvPr/>
        </p:nvSpPr>
        <p:spPr>
          <a:xfrm flipV="1">
            <a:off x="7451725" y="2924175"/>
            <a:ext cx="0" cy="3313113"/>
          </a:xfrm>
          <a:prstGeom prst="line">
            <a:avLst/>
          </a:prstGeom>
          <a:ln w="19050" cap="flat" cmpd="sng">
            <a:solidFill>
              <a:srgbClr val="FF3300"/>
            </a:solidFill>
            <a:prstDash val="dash"/>
            <a:headEnd type="none" w="sm" len="sm"/>
            <a:tailEnd type="none" w="sm" len="sm"/>
          </a:ln>
        </p:spPr>
      </p:sp>
      <p:grpSp>
        <p:nvGrpSpPr>
          <p:cNvPr id="7" name="Group 28"/>
          <p:cNvGrpSpPr/>
          <p:nvPr/>
        </p:nvGrpSpPr>
        <p:grpSpPr>
          <a:xfrm>
            <a:off x="7235825" y="2498725"/>
            <a:ext cx="1366838" cy="498475"/>
            <a:chOff x="4558" y="1574"/>
            <a:chExt cx="861" cy="314"/>
          </a:xfrm>
        </p:grpSpPr>
        <p:sp>
          <p:nvSpPr>
            <p:cNvPr id="27667" name="Line 26"/>
            <p:cNvSpPr/>
            <p:nvPr/>
          </p:nvSpPr>
          <p:spPr>
            <a:xfrm flipH="1">
              <a:off x="4558" y="1706"/>
              <a:ext cx="136" cy="182"/>
            </a:xfrm>
            <a:prstGeom prst="line">
              <a:avLst/>
            </a:prstGeom>
            <a:ln w="28575" cap="sq" cmpd="sng">
              <a:solidFill>
                <a:srgbClr val="FF3300"/>
              </a:solidFill>
              <a:prstDash val="solid"/>
              <a:headEnd type="none" w="sm" len="sm"/>
              <a:tailEnd type="triangle" w="sm" len="sm"/>
            </a:ln>
          </p:spPr>
        </p:sp>
        <p:sp>
          <p:nvSpPr>
            <p:cNvPr id="27668" name="Text Box 27"/>
            <p:cNvSpPr txBox="1"/>
            <p:nvPr/>
          </p:nvSpPr>
          <p:spPr>
            <a:xfrm>
              <a:off x="4727" y="1574"/>
              <a:ext cx="69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地址失效</a:t>
              </a:r>
              <a:endParaRPr lang="zh-CN" altLang="en-US" sz="1800" dirty="0"/>
            </a:p>
          </p:txBody>
        </p:sp>
      </p:grpSp>
      <p:sp>
        <p:nvSpPr>
          <p:cNvPr id="27661" name="Line 29"/>
          <p:cNvSpPr/>
          <p:nvPr/>
        </p:nvSpPr>
        <p:spPr>
          <a:xfrm flipV="1">
            <a:off x="6613525" y="3717925"/>
            <a:ext cx="0" cy="2087563"/>
          </a:xfrm>
          <a:prstGeom prst="line">
            <a:avLst/>
          </a:prstGeom>
          <a:ln w="19050" cap="flat" cmpd="sng">
            <a:solidFill>
              <a:srgbClr val="FF3300"/>
            </a:solidFill>
            <a:prstDash val="dash"/>
            <a:headEnd type="none" w="sm" len="sm"/>
            <a:tailEnd type="none" w="sm" len="sm"/>
          </a:ln>
        </p:spPr>
      </p:sp>
      <p:grpSp>
        <p:nvGrpSpPr>
          <p:cNvPr id="8" name="Group 32"/>
          <p:cNvGrpSpPr/>
          <p:nvPr/>
        </p:nvGrpSpPr>
        <p:grpSpPr>
          <a:xfrm>
            <a:off x="5559425" y="3606800"/>
            <a:ext cx="1098550" cy="431800"/>
            <a:chOff x="3424" y="2341"/>
            <a:chExt cx="791" cy="318"/>
          </a:xfrm>
        </p:grpSpPr>
        <p:sp>
          <p:nvSpPr>
            <p:cNvPr id="27665" name="Line 30"/>
            <p:cNvSpPr/>
            <p:nvPr/>
          </p:nvSpPr>
          <p:spPr>
            <a:xfrm>
              <a:off x="3969" y="2568"/>
              <a:ext cx="181" cy="91"/>
            </a:xfrm>
            <a:prstGeom prst="line">
              <a:avLst/>
            </a:prstGeom>
            <a:ln w="38100" cap="sq" cmpd="sng">
              <a:solidFill>
                <a:srgbClr val="0000FF"/>
              </a:solidFill>
              <a:prstDash val="solid"/>
              <a:headEnd type="none" w="sm" len="sm"/>
              <a:tailEnd type="triangle" w="sm" len="sm"/>
            </a:ln>
          </p:spPr>
        </p:sp>
        <p:sp>
          <p:nvSpPr>
            <p:cNvPr id="27666" name="Text Box 31"/>
            <p:cNvSpPr txBox="1"/>
            <p:nvPr/>
          </p:nvSpPr>
          <p:spPr>
            <a:xfrm>
              <a:off x="3424" y="2341"/>
              <a:ext cx="791" cy="27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片选失效</a:t>
              </a:r>
              <a:endParaRPr lang="zh-CN" altLang="en-US" sz="1800" dirty="0"/>
            </a:p>
          </p:txBody>
        </p:sp>
      </p:grpSp>
      <p:sp>
        <p:nvSpPr>
          <p:cNvPr id="27663" name="Text Box 33"/>
          <p:cNvSpPr txBox="1"/>
          <p:nvPr/>
        </p:nvSpPr>
        <p:spPr>
          <a:xfrm>
            <a:off x="6773863" y="5013325"/>
            <a:ext cx="646112"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T</a:t>
            </a:r>
            <a:r>
              <a:rPr lang="en-US" altLang="zh-CN" sz="1800" baseline="-25000" dirty="0"/>
              <a:t>OTD</a:t>
            </a:r>
            <a:endParaRPr lang="en-US" altLang="zh-CN" sz="1800" baseline="-25000" dirty="0"/>
          </a:p>
        </p:txBody>
      </p:sp>
      <p:sp>
        <p:nvSpPr>
          <p:cNvPr id="27664" name="Text Box 34"/>
          <p:cNvSpPr txBox="1"/>
          <p:nvPr/>
        </p:nvSpPr>
        <p:spPr>
          <a:xfrm>
            <a:off x="6948488" y="3573463"/>
            <a:ext cx="6540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T</a:t>
            </a:r>
            <a:r>
              <a:rPr lang="en-US" altLang="zh-CN" sz="1800" baseline="-25000" dirty="0"/>
              <a:t>OHA</a:t>
            </a:r>
            <a:endParaRPr lang="en-US" altLang="zh-CN" sz="1800" baseline="-25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p:cNvSpPr>
          <p:nvPr>
            <p:ph type="title"/>
          </p:nvPr>
        </p:nvSpPr>
        <p:spPr>
          <a:xfrm>
            <a:off x="457200" y="-100012"/>
            <a:ext cx="8229600" cy="1371600"/>
          </a:xfrm>
        </p:spPr>
        <p:txBody>
          <a:bodyPr vert="horz" wrap="square" lIns="91440" tIns="45720" rIns="91440" bIns="45720" anchor="ctr" anchorCtr="0"/>
          <a:p>
            <a:r>
              <a:rPr lang="en-US" altLang="zh-CN" dirty="0"/>
              <a:t>3.2 SRAM</a:t>
            </a:r>
            <a:r>
              <a:rPr lang="zh-CN" altLang="en-US" dirty="0"/>
              <a:t>存储器</a:t>
            </a:r>
            <a:endParaRPr lang="zh-CN" altLang="en-US" dirty="0"/>
          </a:p>
        </p:txBody>
      </p:sp>
      <p:sp>
        <p:nvSpPr>
          <p:cNvPr id="28675" name="Rectangle 3"/>
          <p:cNvSpPr>
            <a:spLocks noGrp="1"/>
          </p:cNvSpPr>
          <p:nvPr>
            <p:ph idx="1"/>
          </p:nvPr>
        </p:nvSpPr>
        <p:spPr>
          <a:xfrm>
            <a:off x="828675" y="836613"/>
            <a:ext cx="6838950" cy="2159000"/>
          </a:xfrm>
        </p:spPr>
        <p:txBody>
          <a:bodyPr vert="horz" wrap="square" lIns="91440" tIns="45720" rIns="91440" bIns="45720" anchor="t" anchorCtr="0"/>
          <a:p>
            <a:pPr>
              <a:buNone/>
            </a:pPr>
            <a:r>
              <a:rPr lang="zh-CN" altLang="en-US" dirty="0"/>
              <a:t>三、存储器的读写周期</a:t>
            </a:r>
            <a:endParaRPr lang="en-US" altLang="zh-CN" dirty="0"/>
          </a:p>
          <a:p>
            <a:r>
              <a:rPr lang="zh-CN" altLang="en-US" dirty="0"/>
              <a:t>写周期</a:t>
            </a:r>
            <a:endParaRPr lang="en-US" altLang="zh-CN" dirty="0"/>
          </a:p>
          <a:p>
            <a:pPr lvl="1"/>
            <a:r>
              <a:rPr lang="zh-CN" altLang="en-US" dirty="0"/>
              <a:t>写周期时间</a:t>
            </a:r>
            <a:r>
              <a:rPr lang="en-US" altLang="zh-CN" dirty="0"/>
              <a:t>Twc              </a:t>
            </a:r>
            <a:r>
              <a:rPr lang="zh-CN" altLang="en-US" dirty="0"/>
              <a:t>写时间</a:t>
            </a:r>
            <a:r>
              <a:rPr lang="en-US" altLang="zh-CN" dirty="0"/>
              <a:t>twd</a:t>
            </a:r>
            <a:endParaRPr lang="en-US" altLang="zh-CN" dirty="0"/>
          </a:p>
        </p:txBody>
      </p:sp>
      <p:pic>
        <p:nvPicPr>
          <p:cNvPr id="28676" name="Picture 5"/>
          <p:cNvPicPr>
            <a:picLocks noChangeAspect="1"/>
          </p:cNvPicPr>
          <p:nvPr/>
        </p:nvPicPr>
        <p:blipFill>
          <a:blip r:embed="rId1"/>
          <a:stretch>
            <a:fillRect/>
          </a:stretch>
        </p:blipFill>
        <p:spPr>
          <a:xfrm>
            <a:off x="684213" y="2520950"/>
            <a:ext cx="7416800" cy="3859213"/>
          </a:xfrm>
          <a:prstGeom prst="rect">
            <a:avLst/>
          </a:prstGeom>
          <a:noFill/>
          <a:ln w="9525">
            <a:noFill/>
          </a:ln>
        </p:spPr>
      </p:pic>
      <p:grpSp>
        <p:nvGrpSpPr>
          <p:cNvPr id="2" name="Group 9"/>
          <p:cNvGrpSpPr/>
          <p:nvPr/>
        </p:nvGrpSpPr>
        <p:grpSpPr>
          <a:xfrm>
            <a:off x="1547813" y="2352675"/>
            <a:ext cx="1098550" cy="427038"/>
            <a:chOff x="1144" y="1664"/>
            <a:chExt cx="692" cy="269"/>
          </a:xfrm>
        </p:grpSpPr>
        <p:sp>
          <p:nvSpPr>
            <p:cNvPr id="28703" name="Line 10"/>
            <p:cNvSpPr/>
            <p:nvPr/>
          </p:nvSpPr>
          <p:spPr>
            <a:xfrm>
              <a:off x="1610" y="1842"/>
              <a:ext cx="181" cy="91"/>
            </a:xfrm>
            <a:prstGeom prst="line">
              <a:avLst/>
            </a:prstGeom>
            <a:ln w="28575" cap="flat" cmpd="sng">
              <a:solidFill>
                <a:srgbClr val="FF3300"/>
              </a:solidFill>
              <a:prstDash val="solid"/>
              <a:headEnd type="none" w="sm" len="sm"/>
              <a:tailEnd type="triangle" w="sm" len="sm"/>
            </a:ln>
          </p:spPr>
        </p:sp>
        <p:sp>
          <p:nvSpPr>
            <p:cNvPr id="28704" name="Text Box 11"/>
            <p:cNvSpPr txBox="1"/>
            <p:nvPr/>
          </p:nvSpPr>
          <p:spPr>
            <a:xfrm>
              <a:off x="1144" y="1664"/>
              <a:ext cx="69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地址有效</a:t>
              </a:r>
              <a:endParaRPr lang="zh-CN" altLang="en-US" sz="1800" dirty="0"/>
            </a:p>
          </p:txBody>
        </p:sp>
      </p:grpSp>
      <p:sp>
        <p:nvSpPr>
          <p:cNvPr id="28678" name="Line 12"/>
          <p:cNvSpPr/>
          <p:nvPr/>
        </p:nvSpPr>
        <p:spPr>
          <a:xfrm flipH="1" flipV="1">
            <a:off x="3467100" y="3262313"/>
            <a:ext cx="25400" cy="1081087"/>
          </a:xfrm>
          <a:prstGeom prst="line">
            <a:avLst/>
          </a:prstGeom>
          <a:ln w="19050" cap="flat" cmpd="sng">
            <a:solidFill>
              <a:srgbClr val="FF3300"/>
            </a:solidFill>
            <a:prstDash val="dash"/>
            <a:headEnd type="none" w="sm" len="sm"/>
            <a:tailEnd type="none" w="sm" len="sm"/>
          </a:ln>
        </p:spPr>
      </p:sp>
      <p:grpSp>
        <p:nvGrpSpPr>
          <p:cNvPr id="3" name="Group 13"/>
          <p:cNvGrpSpPr/>
          <p:nvPr/>
        </p:nvGrpSpPr>
        <p:grpSpPr>
          <a:xfrm>
            <a:off x="2033588" y="3781425"/>
            <a:ext cx="1385887" cy="366713"/>
            <a:chOff x="1417" y="2526"/>
            <a:chExt cx="873" cy="231"/>
          </a:xfrm>
        </p:grpSpPr>
        <p:sp>
          <p:nvSpPr>
            <p:cNvPr id="28701" name="Line 14"/>
            <p:cNvSpPr/>
            <p:nvPr/>
          </p:nvSpPr>
          <p:spPr>
            <a:xfrm flipV="1">
              <a:off x="2064" y="2614"/>
              <a:ext cx="226" cy="45"/>
            </a:xfrm>
            <a:prstGeom prst="line">
              <a:avLst/>
            </a:prstGeom>
            <a:ln w="28575" cap="flat" cmpd="sng">
              <a:solidFill>
                <a:srgbClr val="0000FF"/>
              </a:solidFill>
              <a:prstDash val="solid"/>
              <a:headEnd type="none" w="sm" len="sm"/>
              <a:tailEnd type="triangle" w="sm" len="sm"/>
            </a:ln>
          </p:spPr>
        </p:sp>
        <p:sp>
          <p:nvSpPr>
            <p:cNvPr id="28702" name="Text Box 15"/>
            <p:cNvSpPr txBox="1"/>
            <p:nvPr/>
          </p:nvSpPr>
          <p:spPr>
            <a:xfrm>
              <a:off x="1417" y="2526"/>
              <a:ext cx="69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片选有效</a:t>
              </a:r>
              <a:endParaRPr lang="zh-CN" altLang="en-US" sz="1800" dirty="0"/>
            </a:p>
          </p:txBody>
        </p:sp>
      </p:grpSp>
      <p:grpSp>
        <p:nvGrpSpPr>
          <p:cNvPr id="4" name="Group 19"/>
          <p:cNvGrpSpPr/>
          <p:nvPr/>
        </p:nvGrpSpPr>
        <p:grpSpPr>
          <a:xfrm>
            <a:off x="3059113" y="4435475"/>
            <a:ext cx="1169987" cy="366713"/>
            <a:chOff x="1927" y="2976"/>
            <a:chExt cx="737" cy="231"/>
          </a:xfrm>
        </p:grpSpPr>
        <p:sp>
          <p:nvSpPr>
            <p:cNvPr id="28699" name="Line 17"/>
            <p:cNvSpPr/>
            <p:nvPr/>
          </p:nvSpPr>
          <p:spPr>
            <a:xfrm flipV="1">
              <a:off x="2438" y="3064"/>
              <a:ext cx="226" cy="45"/>
            </a:xfrm>
            <a:prstGeom prst="line">
              <a:avLst/>
            </a:prstGeom>
            <a:ln w="28575" cap="flat" cmpd="sng">
              <a:solidFill>
                <a:srgbClr val="0000FF"/>
              </a:solidFill>
              <a:prstDash val="solid"/>
              <a:headEnd type="none" w="sm" len="sm"/>
              <a:tailEnd type="triangle" w="sm" len="sm"/>
            </a:ln>
          </p:spPr>
        </p:sp>
        <p:sp>
          <p:nvSpPr>
            <p:cNvPr id="28700" name="Text Box 18"/>
            <p:cNvSpPr txBox="1"/>
            <p:nvPr/>
          </p:nvSpPr>
          <p:spPr>
            <a:xfrm>
              <a:off x="1927" y="2976"/>
              <a:ext cx="548"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写使能</a:t>
              </a:r>
              <a:endParaRPr lang="zh-CN" altLang="en-US" sz="1800" dirty="0"/>
            </a:p>
          </p:txBody>
        </p:sp>
      </p:grpSp>
      <p:grpSp>
        <p:nvGrpSpPr>
          <p:cNvPr id="5" name="Group 22"/>
          <p:cNvGrpSpPr/>
          <p:nvPr/>
        </p:nvGrpSpPr>
        <p:grpSpPr>
          <a:xfrm>
            <a:off x="5343525" y="5703888"/>
            <a:ext cx="1085850" cy="366712"/>
            <a:chOff x="3366" y="3775"/>
            <a:chExt cx="684" cy="231"/>
          </a:xfrm>
        </p:grpSpPr>
        <p:sp>
          <p:nvSpPr>
            <p:cNvPr id="28697" name="Line 20"/>
            <p:cNvSpPr/>
            <p:nvPr/>
          </p:nvSpPr>
          <p:spPr>
            <a:xfrm flipH="1" flipV="1">
              <a:off x="3366" y="3838"/>
              <a:ext cx="149" cy="46"/>
            </a:xfrm>
            <a:prstGeom prst="line">
              <a:avLst/>
            </a:prstGeom>
            <a:ln w="28575" cap="sq" cmpd="sng">
              <a:solidFill>
                <a:srgbClr val="66FF66"/>
              </a:solidFill>
              <a:prstDash val="solid"/>
              <a:headEnd type="none" w="sm" len="sm"/>
              <a:tailEnd type="triangle" w="sm" len="sm"/>
            </a:ln>
          </p:spPr>
        </p:sp>
        <p:sp>
          <p:nvSpPr>
            <p:cNvPr id="28698" name="Text Box 21"/>
            <p:cNvSpPr txBox="1"/>
            <p:nvPr/>
          </p:nvSpPr>
          <p:spPr>
            <a:xfrm>
              <a:off x="3502" y="3775"/>
              <a:ext cx="548"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开始写</a:t>
              </a:r>
              <a:endParaRPr lang="zh-CN" altLang="en-US" sz="1800" dirty="0"/>
            </a:p>
          </p:txBody>
        </p:sp>
      </p:grpSp>
      <p:sp>
        <p:nvSpPr>
          <p:cNvPr id="114711" name="Line 23"/>
          <p:cNvSpPr/>
          <p:nvPr/>
        </p:nvSpPr>
        <p:spPr>
          <a:xfrm>
            <a:off x="4356100" y="5084763"/>
            <a:ext cx="863600" cy="0"/>
          </a:xfrm>
          <a:prstGeom prst="line">
            <a:avLst/>
          </a:prstGeom>
          <a:ln w="76200" cap="flat" cmpd="sng">
            <a:solidFill>
              <a:srgbClr val="FF3300"/>
            </a:solidFill>
            <a:prstDash val="sysDot"/>
            <a:headEnd type="none" w="sm" len="sm"/>
            <a:tailEnd type="none" w="sm" len="sm"/>
          </a:ln>
        </p:spPr>
      </p:sp>
      <p:grpSp>
        <p:nvGrpSpPr>
          <p:cNvPr id="6" name="Group 24"/>
          <p:cNvGrpSpPr/>
          <p:nvPr/>
        </p:nvGrpSpPr>
        <p:grpSpPr>
          <a:xfrm>
            <a:off x="5489575" y="4148138"/>
            <a:ext cx="1008063" cy="431800"/>
            <a:chOff x="3424" y="2341"/>
            <a:chExt cx="726" cy="318"/>
          </a:xfrm>
        </p:grpSpPr>
        <p:sp>
          <p:nvSpPr>
            <p:cNvPr id="28695" name="Line 25"/>
            <p:cNvSpPr/>
            <p:nvPr/>
          </p:nvSpPr>
          <p:spPr>
            <a:xfrm>
              <a:off x="3969" y="2568"/>
              <a:ext cx="181" cy="91"/>
            </a:xfrm>
            <a:prstGeom prst="line">
              <a:avLst/>
            </a:prstGeom>
            <a:ln w="38100" cap="sq" cmpd="sng">
              <a:solidFill>
                <a:srgbClr val="0000FF"/>
              </a:solidFill>
              <a:prstDash val="solid"/>
              <a:headEnd type="none" w="sm" len="sm"/>
              <a:tailEnd type="triangle" w="sm" len="sm"/>
            </a:ln>
          </p:spPr>
        </p:sp>
        <p:sp>
          <p:nvSpPr>
            <p:cNvPr id="28696" name="Text Box 26"/>
            <p:cNvSpPr txBox="1"/>
            <p:nvPr/>
          </p:nvSpPr>
          <p:spPr>
            <a:xfrm>
              <a:off x="3424" y="2341"/>
              <a:ext cx="627" cy="27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写失效</a:t>
              </a:r>
              <a:endParaRPr lang="zh-CN" altLang="en-US" sz="1800" dirty="0"/>
            </a:p>
          </p:txBody>
        </p:sp>
      </p:grpSp>
      <p:sp>
        <p:nvSpPr>
          <p:cNvPr id="28684" name="Line 27"/>
          <p:cNvSpPr/>
          <p:nvPr/>
        </p:nvSpPr>
        <p:spPr>
          <a:xfrm>
            <a:off x="7164388" y="3427413"/>
            <a:ext cx="0" cy="2303462"/>
          </a:xfrm>
          <a:prstGeom prst="line">
            <a:avLst/>
          </a:prstGeom>
          <a:ln w="28575" cap="flat" cmpd="sng">
            <a:solidFill>
              <a:srgbClr val="FF3300"/>
            </a:solidFill>
            <a:prstDash val="dash"/>
            <a:headEnd type="none" w="sm" len="sm"/>
            <a:tailEnd type="none" w="sm" len="sm"/>
          </a:ln>
        </p:spPr>
      </p:sp>
      <p:grpSp>
        <p:nvGrpSpPr>
          <p:cNvPr id="7" name="Group 28"/>
          <p:cNvGrpSpPr/>
          <p:nvPr/>
        </p:nvGrpSpPr>
        <p:grpSpPr>
          <a:xfrm>
            <a:off x="7237413" y="2203450"/>
            <a:ext cx="1366837" cy="498475"/>
            <a:chOff x="4558" y="1574"/>
            <a:chExt cx="861" cy="314"/>
          </a:xfrm>
        </p:grpSpPr>
        <p:sp>
          <p:nvSpPr>
            <p:cNvPr id="28693" name="Line 29"/>
            <p:cNvSpPr/>
            <p:nvPr/>
          </p:nvSpPr>
          <p:spPr>
            <a:xfrm flipH="1">
              <a:off x="4558" y="1706"/>
              <a:ext cx="136" cy="182"/>
            </a:xfrm>
            <a:prstGeom prst="line">
              <a:avLst/>
            </a:prstGeom>
            <a:ln w="28575" cap="sq" cmpd="sng">
              <a:solidFill>
                <a:srgbClr val="FF3300"/>
              </a:solidFill>
              <a:prstDash val="solid"/>
              <a:headEnd type="none" w="sm" len="sm"/>
              <a:tailEnd type="triangle" w="sm" len="sm"/>
            </a:ln>
          </p:spPr>
        </p:sp>
        <p:sp>
          <p:nvSpPr>
            <p:cNvPr id="28694" name="Text Box 30"/>
            <p:cNvSpPr txBox="1"/>
            <p:nvPr/>
          </p:nvSpPr>
          <p:spPr>
            <a:xfrm>
              <a:off x="4727" y="1574"/>
              <a:ext cx="69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地址失效</a:t>
              </a:r>
              <a:endParaRPr lang="zh-CN" altLang="en-US" sz="1800" dirty="0"/>
            </a:p>
          </p:txBody>
        </p:sp>
      </p:grpSp>
      <p:sp>
        <p:nvSpPr>
          <p:cNvPr id="28686" name="Line 31"/>
          <p:cNvSpPr/>
          <p:nvPr/>
        </p:nvSpPr>
        <p:spPr>
          <a:xfrm flipH="1" flipV="1">
            <a:off x="7553325" y="3490913"/>
            <a:ext cx="0" cy="647700"/>
          </a:xfrm>
          <a:prstGeom prst="line">
            <a:avLst/>
          </a:prstGeom>
          <a:ln w="19050" cap="flat" cmpd="sng">
            <a:solidFill>
              <a:srgbClr val="FF3300"/>
            </a:solidFill>
            <a:prstDash val="dash"/>
            <a:headEnd type="none" w="sm" len="sm"/>
            <a:tailEnd type="none" w="sm" len="sm"/>
          </a:ln>
        </p:spPr>
      </p:sp>
      <p:grpSp>
        <p:nvGrpSpPr>
          <p:cNvPr id="8" name="Group 32"/>
          <p:cNvGrpSpPr/>
          <p:nvPr/>
        </p:nvGrpSpPr>
        <p:grpSpPr>
          <a:xfrm>
            <a:off x="7597775" y="3140075"/>
            <a:ext cx="1366838" cy="498475"/>
            <a:chOff x="4558" y="1574"/>
            <a:chExt cx="861" cy="314"/>
          </a:xfrm>
        </p:grpSpPr>
        <p:sp>
          <p:nvSpPr>
            <p:cNvPr id="28691" name="Line 33"/>
            <p:cNvSpPr/>
            <p:nvPr/>
          </p:nvSpPr>
          <p:spPr>
            <a:xfrm flipH="1">
              <a:off x="4558" y="1706"/>
              <a:ext cx="136" cy="182"/>
            </a:xfrm>
            <a:prstGeom prst="line">
              <a:avLst/>
            </a:prstGeom>
            <a:ln w="28575" cap="sq" cmpd="sng">
              <a:solidFill>
                <a:srgbClr val="FF3300"/>
              </a:solidFill>
              <a:prstDash val="solid"/>
              <a:headEnd type="none" w="sm" len="sm"/>
              <a:tailEnd type="triangle" w="sm" len="sm"/>
            </a:ln>
          </p:spPr>
        </p:sp>
        <p:sp>
          <p:nvSpPr>
            <p:cNvPr id="28692" name="Text Box 34"/>
            <p:cNvSpPr txBox="1"/>
            <p:nvPr/>
          </p:nvSpPr>
          <p:spPr>
            <a:xfrm>
              <a:off x="4727" y="1574"/>
              <a:ext cx="692"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t>片选失效</a:t>
              </a:r>
              <a:endParaRPr lang="zh-CN" altLang="en-US" sz="1800" dirty="0"/>
            </a:p>
          </p:txBody>
        </p:sp>
      </p:grpSp>
      <p:grpSp>
        <p:nvGrpSpPr>
          <p:cNvPr id="9" name="Group 38"/>
          <p:cNvGrpSpPr/>
          <p:nvPr/>
        </p:nvGrpSpPr>
        <p:grpSpPr>
          <a:xfrm>
            <a:off x="1476375" y="4940300"/>
            <a:ext cx="3167063" cy="1465263"/>
            <a:chOff x="930" y="3294"/>
            <a:chExt cx="1995" cy="923"/>
          </a:xfrm>
        </p:grpSpPr>
        <p:sp>
          <p:nvSpPr>
            <p:cNvPr id="28689" name="Line 36"/>
            <p:cNvSpPr/>
            <p:nvPr/>
          </p:nvSpPr>
          <p:spPr>
            <a:xfrm flipV="1">
              <a:off x="2064" y="3430"/>
              <a:ext cx="861" cy="499"/>
            </a:xfrm>
            <a:prstGeom prst="line">
              <a:avLst/>
            </a:prstGeom>
            <a:ln w="28575" cap="sq" cmpd="sng">
              <a:solidFill>
                <a:srgbClr val="66FF66"/>
              </a:solidFill>
              <a:prstDash val="solid"/>
              <a:headEnd type="none" w="sm" len="sm"/>
              <a:tailEnd type="triangle" w="sm" len="sm"/>
            </a:ln>
          </p:spPr>
        </p:sp>
        <p:sp>
          <p:nvSpPr>
            <p:cNvPr id="28690" name="Text Box 37"/>
            <p:cNvSpPr txBox="1"/>
            <p:nvPr/>
          </p:nvSpPr>
          <p:spPr>
            <a:xfrm>
              <a:off x="930" y="3294"/>
              <a:ext cx="1224" cy="923"/>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b="1" dirty="0">
                  <a:solidFill>
                    <a:schemeClr val="bg1"/>
                  </a:solidFill>
                </a:rPr>
                <a:t>在有效数据出现前，数据总线上有可能存在着前一个时刻的输出数据（读数据）</a:t>
              </a:r>
              <a:endParaRPr lang="zh-CN" altLang="en-US" sz="1800" b="1" dirty="0">
                <a:solidFill>
                  <a:schemeClr val="bg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4711"/>
                                        </p:tgtEl>
                                        <p:attrNameLst>
                                          <p:attrName>style.visibility</p:attrName>
                                        </p:attrNameLst>
                                      </p:cBhvr>
                                      <p:to>
                                        <p:strVal val="visible"/>
                                      </p:to>
                                    </p:set>
                                    <p:anim calcmode="lin" valueType="num">
                                      <p:cBhvr additive="base">
                                        <p:cTn id="37" dur="500" fill="hold"/>
                                        <p:tgtEl>
                                          <p:spTgt spid="114711"/>
                                        </p:tgtEl>
                                        <p:attrNameLst>
                                          <p:attrName>ppt_x</p:attrName>
                                        </p:attrNameLst>
                                      </p:cBhvr>
                                      <p:tavLst>
                                        <p:tav tm="0">
                                          <p:val>
                                            <p:strVal val="#ppt_x"/>
                                          </p:val>
                                        </p:tav>
                                        <p:tav tm="100000">
                                          <p:val>
                                            <p:strVal val="#ppt_x"/>
                                          </p:val>
                                        </p:tav>
                                      </p:tavLst>
                                    </p:anim>
                                    <p:anim calcmode="lin" valueType="num">
                                      <p:cBhvr additive="base">
                                        <p:cTn id="38" dur="500" fill="hold"/>
                                        <p:tgtEl>
                                          <p:spTgt spid="11471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p:cNvSpPr>
          <p:nvPr>
            <p:ph type="title"/>
          </p:nvPr>
        </p:nvSpPr>
        <p:spPr>
          <a:xfrm>
            <a:off x="484188" y="908050"/>
            <a:ext cx="7543800" cy="1944688"/>
          </a:xfrm>
        </p:spPr>
        <p:txBody>
          <a:bodyPr vert="horz" wrap="square" lIns="91440" tIns="45720" rIns="91440" bIns="45720" anchor="ctr" anchorCtr="0"/>
          <a:p>
            <a:r>
              <a:rPr lang="zh-CN" altLang="en-US" sz="2500" dirty="0"/>
              <a:t>例</a:t>
            </a:r>
            <a:r>
              <a:rPr lang="en-US" altLang="zh-CN" sz="2500" dirty="0"/>
              <a:t>1 P69</a:t>
            </a:r>
            <a:r>
              <a:rPr lang="zh-CN" altLang="en-US" sz="2500" dirty="0"/>
              <a:t>：图</a:t>
            </a:r>
            <a:r>
              <a:rPr lang="en-US" altLang="zh-CN" sz="2500" dirty="0"/>
              <a:t>3.5(a)</a:t>
            </a:r>
            <a:r>
              <a:rPr lang="zh-CN" altLang="en-US" sz="2500" dirty="0"/>
              <a:t>是</a:t>
            </a:r>
            <a:r>
              <a:rPr lang="en-US" altLang="zh-CN" sz="2500" dirty="0"/>
              <a:t>SRAM</a:t>
            </a:r>
            <a:r>
              <a:rPr lang="zh-CN" altLang="en-US" sz="2500" dirty="0"/>
              <a:t>的写入时序图。其中</a:t>
            </a:r>
            <a:r>
              <a:rPr lang="en-US" altLang="zh-CN" sz="2500" dirty="0"/>
              <a:t>R/W</a:t>
            </a:r>
            <a:r>
              <a:rPr lang="zh-CN" altLang="en-US" sz="2500" dirty="0"/>
              <a:t>是读</a:t>
            </a:r>
            <a:r>
              <a:rPr lang="en-US" altLang="zh-CN" sz="2500" dirty="0"/>
              <a:t>/</a:t>
            </a:r>
            <a:r>
              <a:rPr lang="zh-CN" altLang="en-US" sz="2500" dirty="0"/>
              <a:t>写命令控制线，当</a:t>
            </a:r>
            <a:r>
              <a:rPr lang="en-US" altLang="zh-CN" sz="2500" dirty="0"/>
              <a:t>R/W</a:t>
            </a:r>
            <a:r>
              <a:rPr lang="zh-CN" altLang="en-US" sz="2500" dirty="0"/>
              <a:t>线为低电平时，存储器按给定地址把数据线上的数据写入存储器。</a:t>
            </a:r>
            <a:br>
              <a:rPr lang="en-US" altLang="zh-CN" sz="2500" dirty="0"/>
            </a:br>
            <a:r>
              <a:rPr lang="zh-CN" altLang="en-US" sz="2500" dirty="0">
                <a:solidFill>
                  <a:srgbClr val="FF3300"/>
                </a:solidFill>
              </a:rPr>
              <a:t>请指出图</a:t>
            </a:r>
            <a:r>
              <a:rPr lang="en-US" altLang="zh-CN" sz="2500" dirty="0">
                <a:solidFill>
                  <a:srgbClr val="FF3300"/>
                </a:solidFill>
              </a:rPr>
              <a:t>3.5(a)</a:t>
            </a:r>
            <a:r>
              <a:rPr lang="zh-CN" altLang="en-US" sz="2500" dirty="0">
                <a:solidFill>
                  <a:srgbClr val="FF3300"/>
                </a:solidFill>
              </a:rPr>
              <a:t>写入时序中的错误，并画出正确的写入时序图。</a:t>
            </a:r>
            <a:endParaRPr lang="zh-CN" altLang="en-US" sz="2500" dirty="0">
              <a:solidFill>
                <a:srgbClr val="FF3300"/>
              </a:solidFill>
            </a:endParaRPr>
          </a:p>
        </p:txBody>
      </p:sp>
      <p:sp>
        <p:nvSpPr>
          <p:cNvPr id="29699" name="Line 5"/>
          <p:cNvSpPr/>
          <p:nvPr/>
        </p:nvSpPr>
        <p:spPr>
          <a:xfrm>
            <a:off x="7597775" y="942975"/>
            <a:ext cx="287338" cy="0"/>
          </a:xfrm>
          <a:prstGeom prst="line">
            <a:avLst/>
          </a:prstGeom>
          <a:ln w="28575" cap="sq" cmpd="sng">
            <a:solidFill>
              <a:schemeClr val="tx1"/>
            </a:solidFill>
            <a:prstDash val="solid"/>
            <a:headEnd type="none" w="sm" len="sm"/>
            <a:tailEnd type="none" w="sm" len="sm"/>
          </a:ln>
        </p:spPr>
      </p:sp>
      <p:sp>
        <p:nvSpPr>
          <p:cNvPr id="29700" name="Line 6"/>
          <p:cNvSpPr/>
          <p:nvPr/>
        </p:nvSpPr>
        <p:spPr>
          <a:xfrm>
            <a:off x="4187825" y="1316038"/>
            <a:ext cx="287338" cy="0"/>
          </a:xfrm>
          <a:prstGeom prst="line">
            <a:avLst/>
          </a:prstGeom>
          <a:ln w="28575" cap="sq" cmpd="sng">
            <a:solidFill>
              <a:schemeClr val="tx1"/>
            </a:solidFill>
            <a:prstDash val="solid"/>
            <a:headEnd type="none" w="sm" len="sm"/>
            <a:tailEnd type="none" w="sm" len="sm"/>
          </a:ln>
        </p:spPr>
      </p:sp>
      <p:pic>
        <p:nvPicPr>
          <p:cNvPr id="29701" name="Picture 7"/>
          <p:cNvPicPr>
            <a:picLocks noChangeAspect="1"/>
          </p:cNvPicPr>
          <p:nvPr/>
        </p:nvPicPr>
        <p:blipFill>
          <a:blip r:embed="rId1"/>
          <a:stretch>
            <a:fillRect/>
          </a:stretch>
        </p:blipFill>
        <p:spPr>
          <a:xfrm>
            <a:off x="323850" y="2997200"/>
            <a:ext cx="4319588" cy="3275013"/>
          </a:xfrm>
          <a:prstGeom prst="rect">
            <a:avLst/>
          </a:prstGeom>
          <a:noFill/>
          <a:ln w="9525">
            <a:noFill/>
          </a:ln>
        </p:spPr>
      </p:pic>
      <p:pic>
        <p:nvPicPr>
          <p:cNvPr id="17416" name="Picture 8"/>
          <p:cNvPicPr>
            <a:picLocks noChangeAspect="1"/>
          </p:cNvPicPr>
          <p:nvPr/>
        </p:nvPicPr>
        <p:blipFill>
          <a:blip r:embed="rId2"/>
          <a:stretch>
            <a:fillRect/>
          </a:stretch>
        </p:blipFill>
        <p:spPr>
          <a:xfrm>
            <a:off x="4643438" y="2905125"/>
            <a:ext cx="4105275" cy="32607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16"/>
                                        </p:tgtEl>
                                        <p:attrNameLst>
                                          <p:attrName>style.visibility</p:attrName>
                                        </p:attrNameLst>
                                      </p:cBhvr>
                                      <p:to>
                                        <p:strVal val="visible"/>
                                      </p:to>
                                    </p:set>
                                    <p:anim calcmode="lin" valueType="num">
                                      <p:cBhvr additive="base">
                                        <p:cTn id="7" dur="500" fill="hold"/>
                                        <p:tgtEl>
                                          <p:spTgt spid="17416"/>
                                        </p:tgtEl>
                                        <p:attrNameLst>
                                          <p:attrName>ppt_x</p:attrName>
                                        </p:attrNameLst>
                                      </p:cBhvr>
                                      <p:tavLst>
                                        <p:tav tm="0">
                                          <p:val>
                                            <p:strVal val="#ppt_x"/>
                                          </p:val>
                                        </p:tav>
                                        <p:tav tm="100000">
                                          <p:val>
                                            <p:strVal val="#ppt_x"/>
                                          </p:val>
                                        </p:tav>
                                      </p:tavLst>
                                    </p:anim>
                                    <p:anim calcmode="lin" valueType="num">
                                      <p:cBhvr additive="base">
                                        <p:cTn id="8" dur="500" fill="hold"/>
                                        <p:tgtEl>
                                          <p:spTgt spid="174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30723" name="Rectangle 3"/>
          <p:cNvSpPr>
            <a:spLocks noGrp="1"/>
          </p:cNvSpPr>
          <p:nvPr>
            <p:ph idx="1"/>
          </p:nvPr>
        </p:nvSpPr>
        <p:spPr>
          <a:xfrm>
            <a:off x="457200" y="1052513"/>
            <a:ext cx="8229600" cy="5400675"/>
          </a:xfrm>
        </p:spPr>
        <p:txBody>
          <a:bodyPr vert="horz" wrap="square" lIns="91440" tIns="45720" rIns="91440" bIns="45720" anchor="t" anchorCtr="0"/>
          <a:p>
            <a:pPr>
              <a:lnSpc>
                <a:spcPct val="90000"/>
              </a:lnSpc>
              <a:buNone/>
            </a:pPr>
            <a:r>
              <a:rPr lang="zh-CN" altLang="en-US" dirty="0"/>
              <a:t>一、</a:t>
            </a:r>
            <a:r>
              <a:rPr lang="en-US" altLang="zh-CN" dirty="0"/>
              <a:t>DRAM</a:t>
            </a:r>
            <a:r>
              <a:rPr lang="zh-CN" altLang="en-US" dirty="0"/>
              <a:t>存储位元的记忆原理</a:t>
            </a:r>
            <a:endParaRPr lang="en-US" altLang="zh-CN" dirty="0"/>
          </a:p>
          <a:p>
            <a:pPr>
              <a:lnSpc>
                <a:spcPct val="90000"/>
              </a:lnSpc>
              <a:buNone/>
            </a:pPr>
            <a:r>
              <a:rPr lang="en-US" altLang="zh-CN" dirty="0"/>
              <a:t> 		SRAM</a:t>
            </a:r>
            <a:r>
              <a:rPr lang="zh-CN" altLang="en-US" dirty="0"/>
              <a:t>存储器的存储位元是一个</a:t>
            </a:r>
            <a:r>
              <a:rPr lang="zh-CN" altLang="en-US" dirty="0">
                <a:solidFill>
                  <a:srgbClr val="FF3300"/>
                </a:solidFill>
              </a:rPr>
              <a:t>触发器</a:t>
            </a:r>
            <a:r>
              <a:rPr lang="zh-CN" altLang="en-US" dirty="0"/>
              <a:t>，它具有两个稳定的状态。</a:t>
            </a:r>
            <a:endParaRPr lang="en-US" altLang="zh-CN" dirty="0"/>
          </a:p>
          <a:p>
            <a:pPr>
              <a:lnSpc>
                <a:spcPct val="90000"/>
              </a:lnSpc>
              <a:buNone/>
            </a:pPr>
            <a:r>
              <a:rPr lang="en-US" altLang="zh-CN" dirty="0"/>
              <a:t>        </a:t>
            </a:r>
            <a:r>
              <a:rPr lang="zh-CN" altLang="en-US" dirty="0"/>
              <a:t>如果电源掉电，保存在</a:t>
            </a:r>
            <a:r>
              <a:rPr lang="en-US" altLang="zh-CN" dirty="0"/>
              <a:t>SRAM</a:t>
            </a:r>
            <a:r>
              <a:rPr lang="zh-CN" altLang="en-US" dirty="0"/>
              <a:t>中的数据会丢失。</a:t>
            </a:r>
            <a:endParaRPr lang="en-US" altLang="zh-CN" dirty="0"/>
          </a:p>
          <a:p>
            <a:pPr>
              <a:lnSpc>
                <a:spcPct val="90000"/>
              </a:lnSpc>
              <a:buNone/>
            </a:pPr>
            <a:endParaRPr lang="en-US" altLang="zh-CN" dirty="0"/>
          </a:p>
          <a:p>
            <a:pPr>
              <a:lnSpc>
                <a:spcPct val="90000"/>
              </a:lnSpc>
              <a:buNone/>
            </a:pPr>
            <a:r>
              <a:rPr lang="en-US" altLang="zh-CN" dirty="0"/>
              <a:t>        </a:t>
            </a:r>
            <a:r>
              <a:rPr lang="zh-CN" altLang="en-US" dirty="0"/>
              <a:t>而</a:t>
            </a:r>
            <a:r>
              <a:rPr lang="en-US" altLang="zh-CN" dirty="0"/>
              <a:t>DRAM</a:t>
            </a:r>
            <a:r>
              <a:rPr lang="zh-CN" altLang="en-US" dirty="0"/>
              <a:t>存储器的存储位元是由</a:t>
            </a:r>
            <a:r>
              <a:rPr lang="zh-CN" altLang="en-US" dirty="0">
                <a:solidFill>
                  <a:srgbClr val="0000FF"/>
                </a:solidFill>
              </a:rPr>
              <a:t>一个</a:t>
            </a:r>
            <a:r>
              <a:rPr lang="en-US" altLang="zh-CN" dirty="0">
                <a:solidFill>
                  <a:srgbClr val="0000FF"/>
                </a:solidFill>
              </a:rPr>
              <a:t>MOS</a:t>
            </a:r>
            <a:r>
              <a:rPr lang="zh-CN" altLang="en-US" dirty="0">
                <a:solidFill>
                  <a:srgbClr val="0000FF"/>
                </a:solidFill>
              </a:rPr>
              <a:t>晶体管</a:t>
            </a:r>
            <a:r>
              <a:rPr lang="zh-CN" altLang="en-US" dirty="0"/>
              <a:t>和</a:t>
            </a:r>
            <a:r>
              <a:rPr lang="zh-CN" altLang="en-US" dirty="0">
                <a:solidFill>
                  <a:srgbClr val="0000FF"/>
                </a:solidFill>
              </a:rPr>
              <a:t>电容器</a:t>
            </a:r>
            <a:r>
              <a:rPr lang="zh-CN" altLang="en-US" dirty="0"/>
              <a:t>组成的记忆电路，如图</a:t>
            </a:r>
            <a:r>
              <a:rPr lang="en-US" altLang="zh-CN" dirty="0"/>
              <a:t>3.6</a:t>
            </a:r>
            <a:r>
              <a:rPr lang="zh-CN" altLang="en-US" dirty="0"/>
              <a:t>所示。</a:t>
            </a:r>
            <a:r>
              <a:rPr lang="en-US" altLang="zh-CN" dirty="0"/>
              <a:t> </a:t>
            </a:r>
            <a:endParaRPr lang="en-US" altLang="zh-CN" dirty="0"/>
          </a:p>
          <a:p>
            <a:pPr>
              <a:lnSpc>
                <a:spcPct val="90000"/>
              </a:lnSpc>
              <a:buNone/>
            </a:pPr>
            <a:r>
              <a:rPr lang="en-US" altLang="zh-CN" dirty="0"/>
              <a:t>        DRAM</a:t>
            </a:r>
            <a:r>
              <a:rPr lang="zh-CN" altLang="en-US" dirty="0"/>
              <a:t>通过刷新电路保持数据在存储器中的持续保存。</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p:cNvSpPr>
          <p:nvPr>
            <p:ph type="title"/>
          </p:nvPr>
        </p:nvSpPr>
        <p:spPr>
          <a:xfrm>
            <a:off x="457200" y="-26987"/>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pic>
        <p:nvPicPr>
          <p:cNvPr id="31747" name="Picture 3" descr="3a6">
            <a:hlinkClick r:id="rId1" action="ppaction://hlinkfile"/>
          </p:cNvPr>
          <p:cNvPicPr>
            <a:picLocks noChangeAspect="1"/>
          </p:cNvPicPr>
          <p:nvPr/>
        </p:nvPicPr>
        <p:blipFill>
          <a:blip r:embed="rId2"/>
          <a:stretch>
            <a:fillRect/>
          </a:stretch>
        </p:blipFill>
        <p:spPr>
          <a:xfrm>
            <a:off x="2484438" y="1049338"/>
            <a:ext cx="6710362" cy="5332412"/>
          </a:xfrm>
          <a:prstGeom prst="rect">
            <a:avLst/>
          </a:prstGeom>
          <a:noFill/>
          <a:ln w="9525">
            <a:noFill/>
          </a:ln>
        </p:spPr>
      </p:pic>
      <p:sp>
        <p:nvSpPr>
          <p:cNvPr id="19460" name="Text Box 4"/>
          <p:cNvSpPr txBox="1"/>
          <p:nvPr/>
        </p:nvSpPr>
        <p:spPr>
          <a:xfrm>
            <a:off x="179388" y="1381125"/>
            <a:ext cx="2324100" cy="4108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dirty="0">
                <a:solidFill>
                  <a:srgbClr val="0000FF"/>
                </a:solidFill>
              </a:rPr>
              <a:t>1</a:t>
            </a:r>
            <a:r>
              <a:rPr lang="zh-CN" altLang="en-US" sz="2400" dirty="0">
                <a:solidFill>
                  <a:srgbClr val="0000FF"/>
                </a:solidFill>
              </a:rPr>
              <a:t>、</a:t>
            </a:r>
            <a:r>
              <a:rPr lang="en-US" altLang="zh-CN" sz="2400" dirty="0">
                <a:solidFill>
                  <a:srgbClr val="0000FF"/>
                </a:solidFill>
              </a:rPr>
              <a:t>MOS</a:t>
            </a:r>
            <a:r>
              <a:rPr lang="zh-CN" altLang="en-US" sz="2400" dirty="0">
                <a:solidFill>
                  <a:srgbClr val="0000FF"/>
                </a:solidFill>
              </a:rPr>
              <a:t>管做为开关使用，而所存储的信息</a:t>
            </a:r>
            <a:r>
              <a:rPr lang="en-US" altLang="zh-CN" sz="2400" dirty="0">
                <a:solidFill>
                  <a:srgbClr val="0000FF"/>
                </a:solidFill>
              </a:rPr>
              <a:t>1</a:t>
            </a:r>
            <a:r>
              <a:rPr lang="zh-CN" altLang="en-US" sz="2400" dirty="0">
                <a:solidFill>
                  <a:srgbClr val="0000FF"/>
                </a:solidFill>
              </a:rPr>
              <a:t>或</a:t>
            </a:r>
            <a:r>
              <a:rPr lang="en-US" altLang="zh-CN" sz="2400" dirty="0">
                <a:solidFill>
                  <a:srgbClr val="0000FF"/>
                </a:solidFill>
              </a:rPr>
              <a:t>0</a:t>
            </a:r>
            <a:r>
              <a:rPr lang="zh-CN" altLang="en-US" sz="2400" dirty="0">
                <a:solidFill>
                  <a:srgbClr val="0000FF"/>
                </a:solidFill>
              </a:rPr>
              <a:t>则是由电容器上的电荷量来体现</a:t>
            </a:r>
            <a:r>
              <a:rPr lang="en-US" altLang="zh-CN" sz="2400" dirty="0">
                <a:solidFill>
                  <a:srgbClr val="0000FF"/>
                </a:solidFill>
              </a:rPr>
              <a:t>——</a:t>
            </a:r>
            <a:r>
              <a:rPr lang="zh-CN" altLang="en-US" sz="2400" dirty="0">
                <a:solidFill>
                  <a:srgbClr val="0000FF"/>
                </a:solidFill>
              </a:rPr>
              <a:t>当电容器充满电荷时，代表存储了</a:t>
            </a:r>
            <a:r>
              <a:rPr lang="en-US" altLang="zh-CN" sz="2400" dirty="0">
                <a:solidFill>
                  <a:srgbClr val="0000FF"/>
                </a:solidFill>
              </a:rPr>
              <a:t>1</a:t>
            </a:r>
            <a:r>
              <a:rPr lang="zh-CN" altLang="en-US" sz="2400" dirty="0">
                <a:solidFill>
                  <a:srgbClr val="0000FF"/>
                </a:solidFill>
              </a:rPr>
              <a:t>，当电容器放电没有电荷时，代表存储了</a:t>
            </a:r>
            <a:r>
              <a:rPr lang="en-US" altLang="zh-CN" sz="2400" dirty="0">
                <a:solidFill>
                  <a:srgbClr val="0000FF"/>
                </a:solidFill>
              </a:rPr>
              <a:t>0</a:t>
            </a:r>
            <a:r>
              <a:rPr lang="zh-CN" altLang="en-US" sz="2400" dirty="0">
                <a:solidFill>
                  <a:srgbClr val="0000FF"/>
                </a:solidFill>
              </a:rPr>
              <a:t>。</a:t>
            </a:r>
            <a:endParaRPr lang="zh-CN" altLang="en-US" sz="2400" dirty="0">
              <a:solidFill>
                <a:srgbClr val="0000FF"/>
              </a:solidFill>
            </a:endParaRPr>
          </a:p>
        </p:txBody>
      </p:sp>
      <p:sp>
        <p:nvSpPr>
          <p:cNvPr id="19461" name="Text Box 5"/>
          <p:cNvSpPr txBox="1"/>
          <p:nvPr/>
        </p:nvSpPr>
        <p:spPr>
          <a:xfrm>
            <a:off x="179388" y="1431925"/>
            <a:ext cx="2305050" cy="40544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FF3300"/>
                </a:solidFill>
              </a:rPr>
              <a:t>2</a:t>
            </a:r>
            <a:r>
              <a:rPr lang="zh-CN" altLang="en-US" sz="2000" dirty="0">
                <a:solidFill>
                  <a:srgbClr val="FF3300"/>
                </a:solidFill>
              </a:rPr>
              <a:t>、图</a:t>
            </a:r>
            <a:r>
              <a:rPr lang="en-US" altLang="zh-CN" sz="2000" dirty="0">
                <a:solidFill>
                  <a:srgbClr val="FF3300"/>
                </a:solidFill>
              </a:rPr>
              <a:t>(a)</a:t>
            </a:r>
            <a:r>
              <a:rPr lang="zh-CN" altLang="en-US" sz="2000" dirty="0">
                <a:solidFill>
                  <a:srgbClr val="FF3300"/>
                </a:solidFill>
              </a:rPr>
              <a:t>表示写</a:t>
            </a:r>
            <a:r>
              <a:rPr lang="en-US" altLang="zh-CN" sz="2000" dirty="0">
                <a:solidFill>
                  <a:srgbClr val="FF3300"/>
                </a:solidFill>
              </a:rPr>
              <a:t>1</a:t>
            </a:r>
            <a:r>
              <a:rPr lang="zh-CN" altLang="en-US" sz="2000" dirty="0">
                <a:solidFill>
                  <a:srgbClr val="FF3300"/>
                </a:solidFill>
              </a:rPr>
              <a:t>到存储位元。此时输出缓冲器关闭、刷新缓冲器关闭，输入缓冲器打开（</a:t>
            </a:r>
            <a:r>
              <a:rPr lang="en-US" altLang="zh-CN" sz="2000" dirty="0">
                <a:solidFill>
                  <a:srgbClr val="FF3300"/>
                </a:solidFill>
              </a:rPr>
              <a:t>R/W</a:t>
            </a:r>
            <a:r>
              <a:rPr lang="zh-CN" altLang="en-US" sz="2000" dirty="0">
                <a:solidFill>
                  <a:srgbClr val="FF3300"/>
                </a:solidFill>
              </a:rPr>
              <a:t>为低），输入数据</a:t>
            </a:r>
            <a:r>
              <a:rPr lang="en-US" altLang="zh-CN" sz="2000" dirty="0">
                <a:solidFill>
                  <a:srgbClr val="FF3300"/>
                </a:solidFill>
              </a:rPr>
              <a:t>DIN=1</a:t>
            </a:r>
            <a:r>
              <a:rPr lang="zh-CN" altLang="en-US" sz="2000" dirty="0">
                <a:solidFill>
                  <a:srgbClr val="FF3300"/>
                </a:solidFill>
              </a:rPr>
              <a:t>送到存储元位线上，而行选线为高，打开</a:t>
            </a:r>
            <a:r>
              <a:rPr lang="en-US" altLang="zh-CN" sz="2000" dirty="0">
                <a:solidFill>
                  <a:srgbClr val="FF3300"/>
                </a:solidFill>
              </a:rPr>
              <a:t>MOS</a:t>
            </a:r>
            <a:r>
              <a:rPr lang="zh-CN" altLang="en-US" sz="2000" dirty="0">
                <a:solidFill>
                  <a:srgbClr val="FF3300"/>
                </a:solidFill>
              </a:rPr>
              <a:t>管，于是位线上的高电平给电容器充电，表示存储了</a:t>
            </a:r>
            <a:r>
              <a:rPr lang="en-US" altLang="zh-CN" sz="2000" dirty="0">
                <a:solidFill>
                  <a:srgbClr val="FF3300"/>
                </a:solidFill>
              </a:rPr>
              <a:t>1</a:t>
            </a:r>
            <a:r>
              <a:rPr lang="zh-CN" altLang="en-US" sz="2000" dirty="0">
                <a:solidFill>
                  <a:srgbClr val="FF3300"/>
                </a:solidFill>
              </a:rPr>
              <a:t>。</a:t>
            </a:r>
            <a:r>
              <a:rPr lang="en-US" altLang="zh-CN" sz="1800" dirty="0">
                <a:solidFill>
                  <a:srgbClr val="FF3300"/>
                </a:solidFill>
              </a:rPr>
              <a:t></a:t>
            </a:r>
            <a:r>
              <a:rPr lang="en-US" altLang="zh-CN" sz="1800" dirty="0"/>
              <a:t> </a:t>
            </a:r>
            <a:endParaRPr lang="en-US" altLang="zh-CN" sz="1800" dirty="0"/>
          </a:p>
        </p:txBody>
      </p:sp>
      <p:sp>
        <p:nvSpPr>
          <p:cNvPr id="19462" name="Rectangle 6"/>
          <p:cNvSpPr/>
          <p:nvPr/>
        </p:nvSpPr>
        <p:spPr>
          <a:xfrm>
            <a:off x="180975" y="1382713"/>
            <a:ext cx="2303463" cy="37496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FF"/>
                </a:solidFill>
              </a:rPr>
              <a:t>3</a:t>
            </a:r>
            <a:r>
              <a:rPr lang="zh-CN" altLang="en-US" sz="2000" dirty="0">
                <a:solidFill>
                  <a:srgbClr val="0000FF"/>
                </a:solidFill>
              </a:rPr>
              <a:t>、图</a:t>
            </a:r>
            <a:r>
              <a:rPr lang="en-US" altLang="zh-CN" sz="2000" dirty="0">
                <a:solidFill>
                  <a:srgbClr val="0000FF"/>
                </a:solidFill>
              </a:rPr>
              <a:t>(b)</a:t>
            </a:r>
            <a:r>
              <a:rPr lang="zh-CN" altLang="en-US" sz="2000" dirty="0">
                <a:solidFill>
                  <a:srgbClr val="0000FF"/>
                </a:solidFill>
              </a:rPr>
              <a:t>表示写</a:t>
            </a:r>
            <a:r>
              <a:rPr lang="en-US" altLang="zh-CN" sz="2000" dirty="0">
                <a:solidFill>
                  <a:srgbClr val="0000FF"/>
                </a:solidFill>
              </a:rPr>
              <a:t>0</a:t>
            </a:r>
            <a:r>
              <a:rPr lang="zh-CN" altLang="en-US" sz="2000" dirty="0">
                <a:solidFill>
                  <a:srgbClr val="0000FF"/>
                </a:solidFill>
              </a:rPr>
              <a:t>到存储位元。此时输出缓冲器和刷新缓冲器关闭，输入缓冲器打开，输入数据</a:t>
            </a:r>
            <a:r>
              <a:rPr lang="en-US" altLang="zh-CN" sz="2000" dirty="0">
                <a:solidFill>
                  <a:srgbClr val="0000FF"/>
                </a:solidFill>
              </a:rPr>
              <a:t>DIN=0</a:t>
            </a:r>
            <a:r>
              <a:rPr lang="zh-CN" altLang="en-US" sz="2000" dirty="0">
                <a:solidFill>
                  <a:srgbClr val="0000FF"/>
                </a:solidFill>
              </a:rPr>
              <a:t>送到存储元位线上；行选线为高，打开</a:t>
            </a:r>
            <a:r>
              <a:rPr lang="en-US" altLang="zh-CN" sz="2000" dirty="0">
                <a:solidFill>
                  <a:srgbClr val="0000FF"/>
                </a:solidFill>
              </a:rPr>
              <a:t>MOS</a:t>
            </a:r>
            <a:r>
              <a:rPr lang="zh-CN" altLang="en-US" sz="2000" dirty="0">
                <a:solidFill>
                  <a:srgbClr val="0000FF"/>
                </a:solidFill>
              </a:rPr>
              <a:t>管，于是电容上的电荷通过</a:t>
            </a:r>
            <a:r>
              <a:rPr lang="en-US" altLang="zh-CN" sz="2000" dirty="0">
                <a:solidFill>
                  <a:srgbClr val="0000FF"/>
                </a:solidFill>
              </a:rPr>
              <a:t>MOS</a:t>
            </a:r>
            <a:r>
              <a:rPr lang="zh-CN" altLang="en-US" sz="2000" dirty="0">
                <a:solidFill>
                  <a:srgbClr val="0000FF"/>
                </a:solidFill>
              </a:rPr>
              <a:t>管和位线放电，表示存储了</a:t>
            </a:r>
            <a:r>
              <a:rPr lang="en-US" altLang="zh-CN" sz="2000" dirty="0">
                <a:solidFill>
                  <a:srgbClr val="0000FF"/>
                </a:solidFill>
              </a:rPr>
              <a:t>0</a:t>
            </a:r>
            <a:r>
              <a:rPr lang="zh-CN" altLang="en-US" sz="2000" dirty="0">
                <a:solidFill>
                  <a:srgbClr val="0000FF"/>
                </a:solidFill>
              </a:rPr>
              <a:t>。</a:t>
            </a:r>
            <a:r>
              <a:rPr lang="en-US" altLang="zh-CN" sz="1800" dirty="0">
                <a:solidFill>
                  <a:srgbClr val="0000FF"/>
                </a:solidFill>
              </a:rPr>
              <a:t></a:t>
            </a:r>
            <a:endParaRPr lang="en-US" altLang="zh-CN" sz="1800" dirty="0">
              <a:solidFill>
                <a:srgbClr val="0000FF"/>
              </a:solidFill>
            </a:endParaRPr>
          </a:p>
        </p:txBody>
      </p:sp>
      <p:sp>
        <p:nvSpPr>
          <p:cNvPr id="19463" name="Rectangle 7"/>
          <p:cNvSpPr/>
          <p:nvPr/>
        </p:nvSpPr>
        <p:spPr>
          <a:xfrm>
            <a:off x="179388" y="1379538"/>
            <a:ext cx="2232025" cy="40544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dirty="0"/>
              <a:t>4</a:t>
            </a:r>
            <a:r>
              <a:rPr lang="zh-CN" altLang="en-US" sz="2000" dirty="0"/>
              <a:t>、</a:t>
            </a:r>
            <a:r>
              <a:rPr lang="zh-CN" altLang="en-US" sz="2000" dirty="0">
                <a:solidFill>
                  <a:srgbClr val="FF3300"/>
                </a:solidFill>
              </a:rPr>
              <a:t>图</a:t>
            </a:r>
            <a:r>
              <a:rPr lang="en-US" altLang="zh-CN" sz="2000" dirty="0">
                <a:solidFill>
                  <a:srgbClr val="FF3300"/>
                </a:solidFill>
              </a:rPr>
              <a:t>(c)</a:t>
            </a:r>
            <a:r>
              <a:rPr lang="zh-CN" altLang="en-US" sz="2000" dirty="0">
                <a:solidFill>
                  <a:srgbClr val="FF3300"/>
                </a:solidFill>
              </a:rPr>
              <a:t>表示从存储位元读出</a:t>
            </a:r>
            <a:r>
              <a:rPr lang="en-US" altLang="zh-CN" sz="2000" dirty="0">
                <a:solidFill>
                  <a:srgbClr val="FF3300"/>
                </a:solidFill>
              </a:rPr>
              <a:t>1</a:t>
            </a:r>
            <a:r>
              <a:rPr lang="zh-CN" altLang="en-US" sz="2000" dirty="0">
                <a:solidFill>
                  <a:srgbClr val="FF3300"/>
                </a:solidFill>
              </a:rPr>
              <a:t>。输入缓冲器和刷新缓冲器关闭，输出缓冲器</a:t>
            </a:r>
            <a:r>
              <a:rPr lang="en-US" altLang="zh-CN" sz="2000" dirty="0">
                <a:solidFill>
                  <a:srgbClr val="FF3300"/>
                </a:solidFill>
              </a:rPr>
              <a:t>/</a:t>
            </a:r>
            <a:r>
              <a:rPr lang="zh-CN" altLang="en-US" sz="2000" dirty="0">
                <a:solidFill>
                  <a:srgbClr val="FF3300"/>
                </a:solidFill>
              </a:rPr>
              <a:t>读放打开（</a:t>
            </a:r>
            <a:r>
              <a:rPr lang="en-US" altLang="zh-CN" sz="2000" dirty="0">
                <a:solidFill>
                  <a:srgbClr val="FF3300"/>
                </a:solidFill>
              </a:rPr>
              <a:t>R/W</a:t>
            </a:r>
            <a:r>
              <a:rPr lang="zh-CN" altLang="en-US" sz="2000" dirty="0">
                <a:solidFill>
                  <a:srgbClr val="FF3300"/>
                </a:solidFill>
              </a:rPr>
              <a:t>为高）。行选线为高，打开</a:t>
            </a:r>
            <a:r>
              <a:rPr lang="en-US" altLang="zh-CN" sz="2000" dirty="0">
                <a:solidFill>
                  <a:srgbClr val="FF3300"/>
                </a:solidFill>
              </a:rPr>
              <a:t>MOS</a:t>
            </a:r>
            <a:r>
              <a:rPr lang="zh-CN" altLang="en-US" sz="2000" dirty="0">
                <a:solidFill>
                  <a:srgbClr val="FF3300"/>
                </a:solidFill>
              </a:rPr>
              <a:t>管，电容上所存储的</a:t>
            </a:r>
            <a:r>
              <a:rPr lang="en-US" altLang="zh-CN" sz="2000" dirty="0">
                <a:solidFill>
                  <a:srgbClr val="FF3300"/>
                </a:solidFill>
              </a:rPr>
              <a:t>1</a:t>
            </a:r>
            <a:r>
              <a:rPr lang="zh-CN" altLang="en-US" sz="2000" dirty="0">
                <a:solidFill>
                  <a:srgbClr val="FF3300"/>
                </a:solidFill>
              </a:rPr>
              <a:t>送到位线上，通过输出缓冲器</a:t>
            </a:r>
            <a:r>
              <a:rPr lang="en-US" altLang="zh-CN" sz="2000" dirty="0">
                <a:solidFill>
                  <a:srgbClr val="FF3300"/>
                </a:solidFill>
              </a:rPr>
              <a:t>/</a:t>
            </a:r>
            <a:r>
              <a:rPr lang="zh-CN" altLang="en-US" sz="2000" dirty="0">
                <a:solidFill>
                  <a:srgbClr val="FF3300"/>
                </a:solidFill>
              </a:rPr>
              <a:t>读出放大器发送到</a:t>
            </a:r>
            <a:r>
              <a:rPr lang="en-US" altLang="zh-CN" sz="2000" dirty="0">
                <a:solidFill>
                  <a:srgbClr val="FF3300"/>
                </a:solidFill>
              </a:rPr>
              <a:t>DOUT,</a:t>
            </a:r>
            <a:r>
              <a:rPr lang="zh-CN" altLang="en-US" sz="2000" dirty="0">
                <a:solidFill>
                  <a:srgbClr val="FF3300"/>
                </a:solidFill>
              </a:rPr>
              <a:t>即</a:t>
            </a:r>
            <a:r>
              <a:rPr lang="en-US" altLang="zh-CN" sz="2000" dirty="0">
                <a:solidFill>
                  <a:srgbClr val="FF3300"/>
                </a:solidFill>
              </a:rPr>
              <a:t>DOUT=1</a:t>
            </a:r>
            <a:r>
              <a:rPr lang="zh-CN" altLang="en-US" sz="2000" dirty="0">
                <a:solidFill>
                  <a:srgbClr val="FF3300"/>
                </a:solidFill>
              </a:rPr>
              <a:t>。</a:t>
            </a:r>
            <a:r>
              <a:rPr lang="en-US" altLang="zh-CN" sz="1800" dirty="0">
                <a:solidFill>
                  <a:srgbClr val="FF3300"/>
                </a:solidFill>
              </a:rPr>
              <a:t></a:t>
            </a:r>
            <a:endParaRPr lang="en-US" altLang="zh-CN" sz="1800" dirty="0">
              <a:solidFill>
                <a:srgbClr val="FF3300"/>
              </a:solidFill>
            </a:endParaRPr>
          </a:p>
        </p:txBody>
      </p:sp>
      <p:sp>
        <p:nvSpPr>
          <p:cNvPr id="19464" name="Rectangle 8"/>
          <p:cNvSpPr/>
          <p:nvPr/>
        </p:nvSpPr>
        <p:spPr>
          <a:xfrm>
            <a:off x="34925" y="911225"/>
            <a:ext cx="2665413" cy="4968875"/>
          </a:xfrm>
          <a:prstGeom prst="rect">
            <a:avLst/>
          </a:prstGeom>
          <a:noFill/>
          <a:ln w="9525">
            <a:noFill/>
          </a:ln>
        </p:spPr>
        <p:txBody>
          <a:bodyPr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dirty="0">
                <a:solidFill>
                  <a:srgbClr val="0000FF"/>
                </a:solidFill>
              </a:rPr>
              <a:t>5</a:t>
            </a:r>
            <a:r>
              <a:rPr lang="zh-CN" altLang="en-US" sz="2000" dirty="0">
                <a:solidFill>
                  <a:srgbClr val="0000FF"/>
                </a:solidFill>
              </a:rPr>
              <a:t>、图</a:t>
            </a:r>
            <a:r>
              <a:rPr lang="en-US" altLang="zh-CN" sz="2000" dirty="0">
                <a:solidFill>
                  <a:srgbClr val="0000FF"/>
                </a:solidFill>
              </a:rPr>
              <a:t>(d)</a:t>
            </a:r>
            <a:r>
              <a:rPr lang="zh-CN" altLang="en-US" sz="2000" dirty="0">
                <a:solidFill>
                  <a:srgbClr val="0000FF"/>
                </a:solidFill>
              </a:rPr>
              <a:t>表示</a:t>
            </a:r>
            <a:r>
              <a:rPr lang="en-US" altLang="zh-CN" sz="2000" dirty="0">
                <a:solidFill>
                  <a:srgbClr val="0000FF"/>
                </a:solidFill>
              </a:rPr>
              <a:t>(c)</a:t>
            </a:r>
            <a:r>
              <a:rPr lang="zh-CN" altLang="en-US" sz="2000" dirty="0">
                <a:solidFill>
                  <a:srgbClr val="0000FF"/>
                </a:solidFill>
              </a:rPr>
              <a:t>读出</a:t>
            </a:r>
            <a:r>
              <a:rPr lang="en-US" altLang="zh-CN" sz="2000" dirty="0">
                <a:solidFill>
                  <a:srgbClr val="0000FF"/>
                </a:solidFill>
              </a:rPr>
              <a:t>1</a:t>
            </a:r>
            <a:r>
              <a:rPr lang="zh-CN" altLang="en-US" sz="2000" dirty="0">
                <a:solidFill>
                  <a:srgbClr val="0000FF"/>
                </a:solidFill>
              </a:rPr>
              <a:t>后存储位元重写</a:t>
            </a:r>
            <a:r>
              <a:rPr lang="en-US" altLang="zh-CN" sz="2000" dirty="0">
                <a:solidFill>
                  <a:srgbClr val="0000FF"/>
                </a:solidFill>
              </a:rPr>
              <a:t>1</a:t>
            </a:r>
            <a:r>
              <a:rPr lang="zh-CN" altLang="en-US" sz="2000" dirty="0">
                <a:solidFill>
                  <a:srgbClr val="0000FF"/>
                </a:solidFill>
              </a:rPr>
              <a:t>。由于</a:t>
            </a:r>
            <a:r>
              <a:rPr lang="en-US" altLang="zh-CN" sz="2000" dirty="0">
                <a:solidFill>
                  <a:srgbClr val="0000FF"/>
                </a:solidFill>
              </a:rPr>
              <a:t>(c)</a:t>
            </a:r>
            <a:r>
              <a:rPr lang="zh-CN" altLang="en-US" sz="2000" dirty="0">
                <a:solidFill>
                  <a:srgbClr val="0000FF"/>
                </a:solidFill>
              </a:rPr>
              <a:t>中读出</a:t>
            </a:r>
            <a:r>
              <a:rPr lang="en-US" altLang="zh-CN" sz="2000" dirty="0">
                <a:solidFill>
                  <a:srgbClr val="0000FF"/>
                </a:solidFill>
              </a:rPr>
              <a:t>1</a:t>
            </a:r>
            <a:r>
              <a:rPr lang="zh-CN" altLang="en-US" sz="2000" dirty="0">
                <a:solidFill>
                  <a:srgbClr val="0000FF"/>
                </a:solidFill>
              </a:rPr>
              <a:t>是破坏性读出，必须恢复存储位元中原存的</a:t>
            </a:r>
            <a:r>
              <a:rPr lang="en-US" altLang="zh-CN" sz="2000" dirty="0">
                <a:solidFill>
                  <a:srgbClr val="0000FF"/>
                </a:solidFill>
              </a:rPr>
              <a:t>1</a:t>
            </a:r>
            <a:r>
              <a:rPr lang="zh-CN" altLang="en-US" sz="2000" dirty="0">
                <a:solidFill>
                  <a:srgbClr val="0000FF"/>
                </a:solidFill>
              </a:rPr>
              <a:t>。此时输入缓冲器关闭，刷新缓冲器打开，输出缓冲器</a:t>
            </a:r>
            <a:r>
              <a:rPr lang="en-US" altLang="zh-CN" sz="2000" dirty="0">
                <a:solidFill>
                  <a:srgbClr val="0000FF"/>
                </a:solidFill>
              </a:rPr>
              <a:t>/</a:t>
            </a:r>
            <a:r>
              <a:rPr lang="zh-CN" altLang="en-US" sz="2000" dirty="0">
                <a:solidFill>
                  <a:srgbClr val="0000FF"/>
                </a:solidFill>
              </a:rPr>
              <a:t>读放打开，</a:t>
            </a:r>
            <a:r>
              <a:rPr lang="en-US" altLang="zh-CN" sz="2000" dirty="0">
                <a:solidFill>
                  <a:srgbClr val="0000FF"/>
                </a:solidFill>
              </a:rPr>
              <a:t>DOUT=1</a:t>
            </a:r>
            <a:r>
              <a:rPr lang="zh-CN" altLang="en-US" sz="2000" dirty="0">
                <a:solidFill>
                  <a:srgbClr val="0000FF"/>
                </a:solidFill>
              </a:rPr>
              <a:t>经刷新缓冲器送到位线上，再经</a:t>
            </a:r>
            <a:r>
              <a:rPr lang="en-US" altLang="zh-CN" sz="2000" dirty="0">
                <a:solidFill>
                  <a:srgbClr val="0000FF"/>
                </a:solidFill>
              </a:rPr>
              <a:t>MOS</a:t>
            </a:r>
            <a:r>
              <a:rPr lang="zh-CN" altLang="en-US" sz="2000" dirty="0">
                <a:solidFill>
                  <a:srgbClr val="0000FF"/>
                </a:solidFill>
              </a:rPr>
              <a:t>管写到电容上。注意，输入缓冲器与输出缓冲器总是互锁的。这是因为读操作和写操作是互斥的，不会同时发生。</a:t>
            </a:r>
            <a:r>
              <a:rPr lang="en-US" altLang="zh-CN" sz="1800" dirty="0">
                <a:solidFill>
                  <a:srgbClr val="0000FF"/>
                </a:solidFill>
              </a:rPr>
              <a:t> </a:t>
            </a:r>
            <a:endParaRPr lang="en-US" altLang="zh-CN" sz="1800"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anim calcmode="lin" valueType="num">
                                      <p:cBhvr additive="base">
                                        <p:cTn id="7" dur="500" fill="hold"/>
                                        <p:tgtEl>
                                          <p:spTgt spid="19460"/>
                                        </p:tgtEl>
                                        <p:attrNameLst>
                                          <p:attrName>ppt_x</p:attrName>
                                        </p:attrNameLst>
                                      </p:cBhvr>
                                      <p:tavLst>
                                        <p:tav tm="0">
                                          <p:val>
                                            <p:strVal val="#ppt_x"/>
                                          </p:val>
                                        </p:tav>
                                        <p:tav tm="100000">
                                          <p:val>
                                            <p:strVal val="#ppt_x"/>
                                          </p:val>
                                        </p:tav>
                                      </p:tavLst>
                                    </p:anim>
                                    <p:anim calcmode="lin" valueType="num">
                                      <p:cBhvr additive="base">
                                        <p:cTn id="8" dur="500" fill="hold"/>
                                        <p:tgtEl>
                                          <p:spTgt spid="1946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19460"/>
                                        </p:tgtEl>
                                        <p:attrNameLst>
                                          <p:attrName>ppt_x</p:attrName>
                                        </p:attrNameLst>
                                      </p:cBhvr>
                                      <p:tavLst>
                                        <p:tav tm="0">
                                          <p:val>
                                            <p:strVal val="ppt_x"/>
                                          </p:val>
                                        </p:tav>
                                        <p:tav tm="100000">
                                          <p:val>
                                            <p:strVal val="ppt_x"/>
                                          </p:val>
                                        </p:tav>
                                      </p:tavLst>
                                    </p:anim>
                                    <p:anim calcmode="lin" valueType="num">
                                      <p:cBhvr additive="base">
                                        <p:cTn id="13" dur="500"/>
                                        <p:tgtEl>
                                          <p:spTgt spid="19460"/>
                                        </p:tgtEl>
                                        <p:attrNameLst>
                                          <p:attrName>ppt_y</p:attrName>
                                        </p:attrNameLst>
                                      </p:cBhvr>
                                      <p:tavLst>
                                        <p:tav tm="0">
                                          <p:val>
                                            <p:strVal val="ppt_y"/>
                                          </p:val>
                                        </p:tav>
                                        <p:tav tm="100000">
                                          <p:val>
                                            <p:strVal val="1+ppt_h/2"/>
                                          </p:val>
                                        </p:tav>
                                      </p:tavLst>
                                    </p:anim>
                                    <p:set>
                                      <p:cBhvr>
                                        <p:cTn id="14" dur="1" fill="hold">
                                          <p:stCondLst>
                                            <p:cond delay="499"/>
                                          </p:stCondLst>
                                        </p:cTn>
                                        <p:tgtEl>
                                          <p:spTgt spid="1946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61"/>
                                        </p:tgtEl>
                                        <p:attrNameLst>
                                          <p:attrName>style.visibility</p:attrName>
                                        </p:attrNameLst>
                                      </p:cBhvr>
                                      <p:to>
                                        <p:strVal val="visible"/>
                                      </p:to>
                                    </p:set>
                                    <p:anim calcmode="lin" valueType="num">
                                      <p:cBhvr additive="base">
                                        <p:cTn id="19" dur="500" fill="hold"/>
                                        <p:tgtEl>
                                          <p:spTgt spid="19461"/>
                                        </p:tgtEl>
                                        <p:attrNameLst>
                                          <p:attrName>ppt_x</p:attrName>
                                        </p:attrNameLst>
                                      </p:cBhvr>
                                      <p:tavLst>
                                        <p:tav tm="0">
                                          <p:val>
                                            <p:strVal val="#ppt_x"/>
                                          </p:val>
                                        </p:tav>
                                        <p:tav tm="100000">
                                          <p:val>
                                            <p:strVal val="#ppt_x"/>
                                          </p:val>
                                        </p:tav>
                                      </p:tavLst>
                                    </p:anim>
                                    <p:anim calcmode="lin" valueType="num">
                                      <p:cBhvr additive="base">
                                        <p:cTn id="20" dur="500" fill="hold"/>
                                        <p:tgtEl>
                                          <p:spTgt spid="1946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1" nodeType="clickEffect">
                                  <p:stCondLst>
                                    <p:cond delay="0"/>
                                  </p:stCondLst>
                                  <p:childTnLst>
                                    <p:anim calcmode="lin" valueType="num">
                                      <p:cBhvr additive="base">
                                        <p:cTn id="24" dur="500"/>
                                        <p:tgtEl>
                                          <p:spTgt spid="19461"/>
                                        </p:tgtEl>
                                        <p:attrNameLst>
                                          <p:attrName>ppt_x</p:attrName>
                                        </p:attrNameLst>
                                      </p:cBhvr>
                                      <p:tavLst>
                                        <p:tav tm="0">
                                          <p:val>
                                            <p:strVal val="ppt_x"/>
                                          </p:val>
                                        </p:tav>
                                        <p:tav tm="100000">
                                          <p:val>
                                            <p:strVal val="ppt_x"/>
                                          </p:val>
                                        </p:tav>
                                      </p:tavLst>
                                    </p:anim>
                                    <p:anim calcmode="lin" valueType="num">
                                      <p:cBhvr additive="base">
                                        <p:cTn id="25" dur="500"/>
                                        <p:tgtEl>
                                          <p:spTgt spid="19461"/>
                                        </p:tgtEl>
                                        <p:attrNameLst>
                                          <p:attrName>ppt_y</p:attrName>
                                        </p:attrNameLst>
                                      </p:cBhvr>
                                      <p:tavLst>
                                        <p:tav tm="0">
                                          <p:val>
                                            <p:strVal val="ppt_y"/>
                                          </p:val>
                                        </p:tav>
                                        <p:tav tm="100000">
                                          <p:val>
                                            <p:strVal val="1+ppt_h/2"/>
                                          </p:val>
                                        </p:tav>
                                      </p:tavLst>
                                    </p:anim>
                                    <p:set>
                                      <p:cBhvr>
                                        <p:cTn id="26" dur="1" fill="hold">
                                          <p:stCondLst>
                                            <p:cond delay="499"/>
                                          </p:stCondLst>
                                        </p:cTn>
                                        <p:tgtEl>
                                          <p:spTgt spid="1946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62"/>
                                        </p:tgtEl>
                                        <p:attrNameLst>
                                          <p:attrName>style.visibility</p:attrName>
                                        </p:attrNameLst>
                                      </p:cBhvr>
                                      <p:to>
                                        <p:strVal val="visible"/>
                                      </p:to>
                                    </p:set>
                                    <p:anim calcmode="lin" valueType="num">
                                      <p:cBhvr additive="base">
                                        <p:cTn id="31" dur="500" fill="hold"/>
                                        <p:tgtEl>
                                          <p:spTgt spid="19462"/>
                                        </p:tgtEl>
                                        <p:attrNameLst>
                                          <p:attrName>ppt_x</p:attrName>
                                        </p:attrNameLst>
                                      </p:cBhvr>
                                      <p:tavLst>
                                        <p:tav tm="0">
                                          <p:val>
                                            <p:strVal val="#ppt_x"/>
                                          </p:val>
                                        </p:tav>
                                        <p:tav tm="100000">
                                          <p:val>
                                            <p:strVal val="#ppt_x"/>
                                          </p:val>
                                        </p:tav>
                                      </p:tavLst>
                                    </p:anim>
                                    <p:anim calcmode="lin" valueType="num">
                                      <p:cBhvr additive="base">
                                        <p:cTn id="32" dur="500" fill="hold"/>
                                        <p:tgtEl>
                                          <p:spTgt spid="1946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1" nodeType="clickEffect">
                                  <p:stCondLst>
                                    <p:cond delay="0"/>
                                  </p:stCondLst>
                                  <p:childTnLst>
                                    <p:anim calcmode="lin" valueType="num">
                                      <p:cBhvr additive="base">
                                        <p:cTn id="36" dur="500"/>
                                        <p:tgtEl>
                                          <p:spTgt spid="19462"/>
                                        </p:tgtEl>
                                        <p:attrNameLst>
                                          <p:attrName>ppt_x</p:attrName>
                                        </p:attrNameLst>
                                      </p:cBhvr>
                                      <p:tavLst>
                                        <p:tav tm="0">
                                          <p:val>
                                            <p:strVal val="ppt_x"/>
                                          </p:val>
                                        </p:tav>
                                        <p:tav tm="100000">
                                          <p:val>
                                            <p:strVal val="ppt_x"/>
                                          </p:val>
                                        </p:tav>
                                      </p:tavLst>
                                    </p:anim>
                                    <p:anim calcmode="lin" valueType="num">
                                      <p:cBhvr additive="base">
                                        <p:cTn id="37" dur="500"/>
                                        <p:tgtEl>
                                          <p:spTgt spid="19462"/>
                                        </p:tgtEl>
                                        <p:attrNameLst>
                                          <p:attrName>ppt_y</p:attrName>
                                        </p:attrNameLst>
                                      </p:cBhvr>
                                      <p:tavLst>
                                        <p:tav tm="0">
                                          <p:val>
                                            <p:strVal val="ppt_y"/>
                                          </p:val>
                                        </p:tav>
                                        <p:tav tm="100000">
                                          <p:val>
                                            <p:strVal val="1+ppt_h/2"/>
                                          </p:val>
                                        </p:tav>
                                      </p:tavLst>
                                    </p:anim>
                                    <p:set>
                                      <p:cBhvr>
                                        <p:cTn id="38" dur="1" fill="hold">
                                          <p:stCondLst>
                                            <p:cond delay="499"/>
                                          </p:stCondLst>
                                        </p:cTn>
                                        <p:tgtEl>
                                          <p:spTgt spid="1946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463"/>
                                        </p:tgtEl>
                                        <p:attrNameLst>
                                          <p:attrName>style.visibility</p:attrName>
                                        </p:attrNameLst>
                                      </p:cBhvr>
                                      <p:to>
                                        <p:strVal val="visible"/>
                                      </p:to>
                                    </p:set>
                                    <p:anim calcmode="lin" valueType="num">
                                      <p:cBhvr additive="base">
                                        <p:cTn id="43" dur="500" fill="hold"/>
                                        <p:tgtEl>
                                          <p:spTgt spid="19463"/>
                                        </p:tgtEl>
                                        <p:attrNameLst>
                                          <p:attrName>ppt_x</p:attrName>
                                        </p:attrNameLst>
                                      </p:cBhvr>
                                      <p:tavLst>
                                        <p:tav tm="0">
                                          <p:val>
                                            <p:strVal val="#ppt_x"/>
                                          </p:val>
                                        </p:tav>
                                        <p:tav tm="100000">
                                          <p:val>
                                            <p:strVal val="#ppt_x"/>
                                          </p:val>
                                        </p:tav>
                                      </p:tavLst>
                                    </p:anim>
                                    <p:anim calcmode="lin" valueType="num">
                                      <p:cBhvr additive="base">
                                        <p:cTn id="44" dur="500" fill="hold"/>
                                        <p:tgtEl>
                                          <p:spTgt spid="1946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1" nodeType="clickEffect">
                                  <p:stCondLst>
                                    <p:cond delay="0"/>
                                  </p:stCondLst>
                                  <p:childTnLst>
                                    <p:anim calcmode="lin" valueType="num">
                                      <p:cBhvr additive="base">
                                        <p:cTn id="48" dur="500"/>
                                        <p:tgtEl>
                                          <p:spTgt spid="19463"/>
                                        </p:tgtEl>
                                        <p:attrNameLst>
                                          <p:attrName>ppt_x</p:attrName>
                                        </p:attrNameLst>
                                      </p:cBhvr>
                                      <p:tavLst>
                                        <p:tav tm="0">
                                          <p:val>
                                            <p:strVal val="ppt_x"/>
                                          </p:val>
                                        </p:tav>
                                        <p:tav tm="100000">
                                          <p:val>
                                            <p:strVal val="ppt_x"/>
                                          </p:val>
                                        </p:tav>
                                      </p:tavLst>
                                    </p:anim>
                                    <p:anim calcmode="lin" valueType="num">
                                      <p:cBhvr additive="base">
                                        <p:cTn id="49" dur="500"/>
                                        <p:tgtEl>
                                          <p:spTgt spid="19463"/>
                                        </p:tgtEl>
                                        <p:attrNameLst>
                                          <p:attrName>ppt_y</p:attrName>
                                        </p:attrNameLst>
                                      </p:cBhvr>
                                      <p:tavLst>
                                        <p:tav tm="0">
                                          <p:val>
                                            <p:strVal val="ppt_y"/>
                                          </p:val>
                                        </p:tav>
                                        <p:tav tm="100000">
                                          <p:val>
                                            <p:strVal val="1+ppt_h/2"/>
                                          </p:val>
                                        </p:tav>
                                      </p:tavLst>
                                    </p:anim>
                                    <p:set>
                                      <p:cBhvr>
                                        <p:cTn id="50" dur="1" fill="hold">
                                          <p:stCondLst>
                                            <p:cond delay="499"/>
                                          </p:stCondLst>
                                        </p:cTn>
                                        <p:tgtEl>
                                          <p:spTgt spid="19463"/>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9464"/>
                                        </p:tgtEl>
                                        <p:attrNameLst>
                                          <p:attrName>style.visibility</p:attrName>
                                        </p:attrNameLst>
                                      </p:cBhvr>
                                      <p:to>
                                        <p:strVal val="visible"/>
                                      </p:to>
                                    </p:set>
                                    <p:anim calcmode="lin" valueType="num">
                                      <p:cBhvr additive="base">
                                        <p:cTn id="55" dur="500" fill="hold"/>
                                        <p:tgtEl>
                                          <p:spTgt spid="19464"/>
                                        </p:tgtEl>
                                        <p:attrNameLst>
                                          <p:attrName>ppt_x</p:attrName>
                                        </p:attrNameLst>
                                      </p:cBhvr>
                                      <p:tavLst>
                                        <p:tav tm="0">
                                          <p:val>
                                            <p:strVal val="#ppt_x"/>
                                          </p:val>
                                        </p:tav>
                                        <p:tav tm="100000">
                                          <p:val>
                                            <p:strVal val="#ppt_x"/>
                                          </p:val>
                                        </p:tav>
                                      </p:tavLst>
                                    </p:anim>
                                    <p:anim calcmode="lin" valueType="num">
                                      <p:cBhvr additive="base">
                                        <p:cTn id="56" dur="500" fill="hold"/>
                                        <p:tgtEl>
                                          <p:spTgt spid="1946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1" nodeType="clickEffect">
                                  <p:stCondLst>
                                    <p:cond delay="0"/>
                                  </p:stCondLst>
                                  <p:childTnLst>
                                    <p:anim calcmode="lin" valueType="num">
                                      <p:cBhvr additive="base">
                                        <p:cTn id="60" dur="500"/>
                                        <p:tgtEl>
                                          <p:spTgt spid="19464"/>
                                        </p:tgtEl>
                                        <p:attrNameLst>
                                          <p:attrName>ppt_x</p:attrName>
                                        </p:attrNameLst>
                                      </p:cBhvr>
                                      <p:tavLst>
                                        <p:tav tm="0">
                                          <p:val>
                                            <p:strVal val="ppt_x"/>
                                          </p:val>
                                        </p:tav>
                                        <p:tav tm="100000">
                                          <p:val>
                                            <p:strVal val="ppt_x"/>
                                          </p:val>
                                        </p:tav>
                                      </p:tavLst>
                                    </p:anim>
                                    <p:anim calcmode="lin" valueType="num">
                                      <p:cBhvr additive="base">
                                        <p:cTn id="61" dur="500"/>
                                        <p:tgtEl>
                                          <p:spTgt spid="19464"/>
                                        </p:tgtEl>
                                        <p:attrNameLst>
                                          <p:attrName>ppt_y</p:attrName>
                                        </p:attrNameLst>
                                      </p:cBhvr>
                                      <p:tavLst>
                                        <p:tav tm="0">
                                          <p:val>
                                            <p:strVal val="ppt_y"/>
                                          </p:val>
                                        </p:tav>
                                        <p:tav tm="100000">
                                          <p:val>
                                            <p:strVal val="1+ppt_h/2"/>
                                          </p:val>
                                        </p:tav>
                                      </p:tavLst>
                                    </p:anim>
                                    <p:set>
                                      <p:cBhvr>
                                        <p:cTn id="62" dur="1" fill="hold">
                                          <p:stCondLst>
                                            <p:cond delay="499"/>
                                          </p:stCondLst>
                                        </p:cTn>
                                        <p:tgtEl>
                                          <p:spTgt spid="1946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P spid="19460" grpId="1"/>
      <p:bldP spid="19461" grpId="0"/>
      <p:bldP spid="19461" grpId="1"/>
      <p:bldP spid="19462" grpId="0"/>
      <p:bldP spid="19462" grpId="1"/>
      <p:bldP spid="19463" grpId="0"/>
      <p:bldP spid="19463" grpId="1"/>
      <p:bldP spid="19464" grpId="0"/>
      <p:bldP spid="19464"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3794" name="Picture 15"/>
          <p:cNvPicPr>
            <a:picLocks noChangeAspect="1"/>
          </p:cNvPicPr>
          <p:nvPr/>
        </p:nvPicPr>
        <p:blipFill>
          <a:blip r:embed="rId1"/>
          <a:stretch>
            <a:fillRect/>
          </a:stretch>
        </p:blipFill>
        <p:spPr>
          <a:xfrm>
            <a:off x="2471738" y="2382838"/>
            <a:ext cx="3436937" cy="4437062"/>
          </a:xfrm>
          <a:prstGeom prst="rect">
            <a:avLst/>
          </a:prstGeom>
          <a:noFill/>
          <a:ln w="9525">
            <a:noFill/>
          </a:ln>
        </p:spPr>
      </p:pic>
      <p:sp>
        <p:nvSpPr>
          <p:cNvPr id="33795" name="Rectangle 2"/>
          <p:cNvSpPr>
            <a:spLocks noGrp="1"/>
          </p:cNvSpPr>
          <p:nvPr>
            <p:ph type="title"/>
          </p:nvPr>
        </p:nvSpPr>
        <p:spPr>
          <a:xfrm>
            <a:off x="457200" y="-26987"/>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33796" name="Rectangle 3"/>
          <p:cNvSpPr>
            <a:spLocks noGrp="1"/>
          </p:cNvSpPr>
          <p:nvPr>
            <p:ph idx="1"/>
          </p:nvPr>
        </p:nvSpPr>
        <p:spPr>
          <a:xfrm>
            <a:off x="323850" y="1052513"/>
            <a:ext cx="8496300" cy="5689600"/>
          </a:xfrm>
        </p:spPr>
        <p:txBody>
          <a:bodyPr vert="horz" wrap="square" lIns="91440" tIns="45720" rIns="91440" bIns="45720" anchor="t" anchorCtr="0"/>
          <a:p>
            <a:pPr>
              <a:lnSpc>
                <a:spcPct val="80000"/>
              </a:lnSpc>
              <a:buNone/>
            </a:pPr>
            <a:r>
              <a:rPr lang="zh-CN" altLang="en-US" sz="2400" dirty="0"/>
              <a:t>二、</a:t>
            </a:r>
            <a:r>
              <a:rPr lang="en-US" altLang="zh-CN" sz="2400" dirty="0"/>
              <a:t>DRAM</a:t>
            </a:r>
            <a:r>
              <a:rPr lang="zh-CN" altLang="en-US" sz="2400" dirty="0"/>
              <a:t>芯片的逻辑结构</a:t>
            </a:r>
            <a:endParaRPr lang="en-US" altLang="zh-CN" sz="2400" dirty="0"/>
          </a:p>
          <a:p>
            <a:pPr>
              <a:lnSpc>
                <a:spcPct val="80000"/>
              </a:lnSpc>
              <a:buNone/>
            </a:pPr>
            <a:r>
              <a:rPr lang="zh-CN" altLang="en-US" sz="2400" dirty="0"/>
              <a:t>下面我们通过一个例子来看一下动态存储器的逻辑结构如图。</a:t>
            </a:r>
            <a:endParaRPr lang="en-US" altLang="zh-CN" sz="2400" dirty="0"/>
          </a:p>
          <a:p>
            <a:pPr>
              <a:lnSpc>
                <a:spcPct val="80000"/>
              </a:lnSpc>
            </a:pPr>
            <a:r>
              <a:rPr lang="zh-CN" altLang="en-US" sz="2400" dirty="0">
                <a:solidFill>
                  <a:srgbClr val="0000FF"/>
                </a:solidFill>
              </a:rPr>
              <a:t>图</a:t>
            </a:r>
            <a:r>
              <a:rPr lang="en-US" altLang="zh-CN" sz="2400" dirty="0">
                <a:solidFill>
                  <a:srgbClr val="0000FF"/>
                </a:solidFill>
              </a:rPr>
              <a:t>3.7(a)</a:t>
            </a:r>
            <a:r>
              <a:rPr lang="zh-CN" altLang="en-US" sz="2400" dirty="0">
                <a:solidFill>
                  <a:srgbClr val="0000FF"/>
                </a:solidFill>
              </a:rPr>
              <a:t>示出</a:t>
            </a:r>
            <a:r>
              <a:rPr lang="en-US" altLang="zh-CN" sz="2400" dirty="0">
                <a:solidFill>
                  <a:srgbClr val="0000FF"/>
                </a:solidFill>
              </a:rPr>
              <a:t>1M×4</a:t>
            </a:r>
            <a:r>
              <a:rPr lang="zh-CN" altLang="en-US" sz="2400" dirty="0">
                <a:solidFill>
                  <a:srgbClr val="0000FF"/>
                </a:solidFill>
              </a:rPr>
              <a:t>位</a:t>
            </a:r>
            <a:r>
              <a:rPr lang="en-US" altLang="zh-CN" sz="2400" dirty="0">
                <a:solidFill>
                  <a:srgbClr val="0000FF"/>
                </a:solidFill>
              </a:rPr>
              <a:t>DRAM</a:t>
            </a:r>
            <a:r>
              <a:rPr lang="zh-CN" altLang="en-US" sz="2400" dirty="0">
                <a:solidFill>
                  <a:srgbClr val="0000FF"/>
                </a:solidFill>
              </a:rPr>
              <a:t>芯片的管脚图，其中有两个电源脚、两个地线脚，为了对称，还有一个空脚（</a:t>
            </a:r>
            <a:r>
              <a:rPr lang="en-US" altLang="zh-CN" sz="2400" dirty="0">
                <a:solidFill>
                  <a:srgbClr val="0000FF"/>
                </a:solidFill>
              </a:rPr>
              <a:t>NC</a:t>
            </a:r>
            <a:r>
              <a:rPr lang="zh-CN" altLang="en-US" sz="2400" dirty="0">
                <a:solidFill>
                  <a:srgbClr val="0000FF"/>
                </a:solidFill>
              </a:rPr>
              <a:t>）。</a:t>
            </a:r>
            <a:endParaRPr lang="en-US" altLang="zh-CN" sz="2400" dirty="0">
              <a:solidFill>
                <a:srgbClr val="0000FF"/>
              </a:solidFill>
            </a:endParaRPr>
          </a:p>
          <a:p>
            <a:pPr>
              <a:lnSpc>
                <a:spcPct val="80000"/>
              </a:lnSpc>
            </a:pPr>
            <a:endParaRPr lang="zh-CN" altLang="en-US" sz="2400" dirty="0">
              <a:solidFill>
                <a:srgbClr val="0000FF"/>
              </a:solidFill>
            </a:endParaRPr>
          </a:p>
        </p:txBody>
      </p:sp>
      <p:sp>
        <p:nvSpPr>
          <p:cNvPr id="20485" name="Rectangle 5"/>
          <p:cNvSpPr/>
          <p:nvPr/>
        </p:nvSpPr>
        <p:spPr>
          <a:xfrm>
            <a:off x="2573338" y="2636838"/>
            <a:ext cx="360362" cy="360362"/>
          </a:xfrm>
          <a:prstGeom prst="rect">
            <a:avLst/>
          </a:prstGeom>
          <a:noFill/>
          <a:ln w="12700" cap="flat" cmpd="sng">
            <a:solidFill>
              <a:srgbClr val="FF3300"/>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33798" name="Rectangle 7"/>
          <p:cNvSpPr/>
          <p:nvPr/>
        </p:nvSpPr>
        <p:spPr>
          <a:xfrm>
            <a:off x="5381625" y="2636838"/>
            <a:ext cx="360363" cy="360362"/>
          </a:xfrm>
          <a:prstGeom prst="rect">
            <a:avLst/>
          </a:prstGeom>
          <a:noFill/>
          <a:ln w="28575" cap="flat" cmpd="sng">
            <a:solidFill>
              <a:srgbClr val="0000FF"/>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20489" name="Rectangle 9"/>
          <p:cNvSpPr/>
          <p:nvPr/>
        </p:nvSpPr>
        <p:spPr>
          <a:xfrm>
            <a:off x="2573338" y="2997200"/>
            <a:ext cx="360362" cy="503238"/>
          </a:xfrm>
          <a:prstGeom prst="rect">
            <a:avLst/>
          </a:prstGeom>
          <a:noFill/>
          <a:ln w="38100" cap="flat" cmpd="sng">
            <a:solidFill>
              <a:schemeClr val="accent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20490" name="Rectangle 10"/>
          <p:cNvSpPr/>
          <p:nvPr/>
        </p:nvSpPr>
        <p:spPr>
          <a:xfrm>
            <a:off x="5381625" y="2997200"/>
            <a:ext cx="360363" cy="503238"/>
          </a:xfrm>
          <a:prstGeom prst="rect">
            <a:avLst/>
          </a:prstGeom>
          <a:noFill/>
          <a:ln w="38100" cap="flat" cmpd="sng">
            <a:solidFill>
              <a:schemeClr val="accent1"/>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20491" name="Rectangle 11"/>
          <p:cNvSpPr/>
          <p:nvPr/>
        </p:nvSpPr>
        <p:spPr>
          <a:xfrm>
            <a:off x="2573338" y="4437063"/>
            <a:ext cx="360362" cy="1368425"/>
          </a:xfrm>
          <a:prstGeom prst="rect">
            <a:avLst/>
          </a:prstGeom>
          <a:noFill/>
          <a:ln w="38100" cap="flat" cmpd="sng">
            <a:solidFill>
              <a:srgbClr val="66FF66"/>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20492" name="Rectangle 12"/>
          <p:cNvSpPr/>
          <p:nvPr/>
        </p:nvSpPr>
        <p:spPr>
          <a:xfrm>
            <a:off x="5381625" y="4148138"/>
            <a:ext cx="360363" cy="1657350"/>
          </a:xfrm>
          <a:prstGeom prst="rect">
            <a:avLst/>
          </a:prstGeom>
          <a:noFill/>
          <a:ln w="38100" cap="flat" cmpd="sng">
            <a:solidFill>
              <a:srgbClr val="66FF66"/>
            </a:solidFill>
            <a:prstDash val="solid"/>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33803" name="Line 13"/>
          <p:cNvSpPr/>
          <p:nvPr/>
        </p:nvSpPr>
        <p:spPr>
          <a:xfrm>
            <a:off x="2573338" y="4076700"/>
            <a:ext cx="360362" cy="0"/>
          </a:xfrm>
          <a:prstGeom prst="line">
            <a:avLst/>
          </a:prstGeom>
          <a:ln w="57150" cap="sq" cmpd="sng">
            <a:solidFill>
              <a:srgbClr val="0000FF"/>
            </a:solidFill>
            <a:prstDash val="solid"/>
            <a:headEnd type="none" w="sm" len="sm"/>
            <a:tailEnd type="none" w="sm" len="sm"/>
          </a:ln>
        </p:spPr>
      </p:sp>
      <p:sp>
        <p:nvSpPr>
          <p:cNvPr id="33804" name="Line 14"/>
          <p:cNvSpPr/>
          <p:nvPr/>
        </p:nvSpPr>
        <p:spPr>
          <a:xfrm>
            <a:off x="5440363" y="3848100"/>
            <a:ext cx="360362" cy="0"/>
          </a:xfrm>
          <a:prstGeom prst="line">
            <a:avLst/>
          </a:prstGeom>
          <a:ln w="57150" cap="sq" cmpd="sng">
            <a:solidFill>
              <a:srgbClr val="FF3300"/>
            </a:solidFill>
            <a:prstDash val="solid"/>
            <a:headEnd type="none" w="sm" len="sm"/>
            <a:tailEnd type="none"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4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49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049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4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animBg="1"/>
      <p:bldP spid="20489" grpId="0" animBg="1"/>
      <p:bldP spid="20490" grpId="0" animBg="1"/>
      <p:bldP spid="20491" grpId="0" animBg="1"/>
      <p:bldP spid="2049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2"/>
          <p:cNvSpPr>
            <a:spLocks noGrp="1"/>
          </p:cNvSpPr>
          <p:nvPr>
            <p:ph type="title"/>
          </p:nvPr>
        </p:nvSpPr>
        <p:spPr>
          <a:xfrm>
            <a:off x="457200" y="-30162"/>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34819" name="Rectangle 3"/>
          <p:cNvSpPr>
            <a:spLocks noGrp="1"/>
          </p:cNvSpPr>
          <p:nvPr>
            <p:ph idx="1"/>
          </p:nvPr>
        </p:nvSpPr>
        <p:spPr>
          <a:xfrm>
            <a:off x="250825" y="908050"/>
            <a:ext cx="8353425" cy="1728788"/>
          </a:xfrm>
        </p:spPr>
        <p:txBody>
          <a:bodyPr vert="horz" wrap="square" lIns="91440" tIns="45720" rIns="91440" bIns="45720" anchor="t" anchorCtr="0"/>
          <a:p>
            <a:pPr>
              <a:lnSpc>
                <a:spcPct val="80000"/>
              </a:lnSpc>
            </a:pPr>
            <a:r>
              <a:rPr lang="zh-CN" altLang="en-US" sz="2400" dirty="0">
                <a:solidFill>
                  <a:srgbClr val="FF3300"/>
                </a:solidFill>
              </a:rPr>
              <a:t>图</a:t>
            </a:r>
            <a:r>
              <a:rPr lang="en-US" altLang="zh-CN" sz="2400" dirty="0">
                <a:solidFill>
                  <a:srgbClr val="FF3300"/>
                </a:solidFill>
              </a:rPr>
              <a:t>3.7(b)</a:t>
            </a:r>
            <a:r>
              <a:rPr lang="zh-CN" altLang="en-US" sz="2400" dirty="0">
                <a:solidFill>
                  <a:srgbClr val="FF3300"/>
                </a:solidFill>
              </a:rPr>
              <a:t>是该芯片的逻辑结构图。</a:t>
            </a:r>
            <a:endParaRPr lang="en-US" altLang="zh-CN" sz="2400" dirty="0">
              <a:solidFill>
                <a:srgbClr val="FF3300"/>
              </a:solidFill>
            </a:endParaRPr>
          </a:p>
          <a:p>
            <a:pPr lvl="1">
              <a:lnSpc>
                <a:spcPct val="80000"/>
              </a:lnSpc>
              <a:buNone/>
            </a:pPr>
            <a:r>
              <a:rPr lang="zh-CN" altLang="en-US" sz="2400" dirty="0"/>
              <a:t>（</a:t>
            </a:r>
            <a:r>
              <a:rPr lang="en-US" altLang="zh-CN" sz="2400" dirty="0"/>
              <a:t>1</a:t>
            </a:r>
            <a:r>
              <a:rPr lang="zh-CN" altLang="en-US" sz="2400" dirty="0"/>
              <a:t>）增加了</a:t>
            </a:r>
            <a:r>
              <a:rPr lang="zh-CN" altLang="en-US" sz="2400" dirty="0">
                <a:solidFill>
                  <a:srgbClr val="FF3300"/>
                </a:solidFill>
              </a:rPr>
              <a:t>行地址锁存器</a:t>
            </a:r>
            <a:r>
              <a:rPr lang="zh-CN" altLang="en-US" sz="2400" dirty="0"/>
              <a:t>和</a:t>
            </a:r>
            <a:r>
              <a:rPr lang="zh-CN" altLang="en-US" sz="2400" dirty="0">
                <a:solidFill>
                  <a:srgbClr val="0000FF"/>
                </a:solidFill>
              </a:rPr>
              <a:t>列地址锁存器</a:t>
            </a:r>
            <a:r>
              <a:rPr lang="zh-CN" altLang="en-US" sz="2400" dirty="0"/>
              <a:t>。由于</a:t>
            </a:r>
            <a:r>
              <a:rPr lang="en-US" altLang="zh-CN" sz="2400" dirty="0"/>
              <a:t>DRAM</a:t>
            </a:r>
            <a:r>
              <a:rPr lang="zh-CN" altLang="en-US" sz="2400" dirty="0"/>
              <a:t>存储器容量很大，地址线宽度相应要增加，这势必增加芯片地址线的管脚数目。为避免这种情况，采取的办法是</a:t>
            </a:r>
            <a:r>
              <a:rPr lang="zh-CN" altLang="en-US" sz="2400" b="1" dirty="0">
                <a:solidFill>
                  <a:srgbClr val="0000FF"/>
                </a:solidFill>
              </a:rPr>
              <a:t>分时传送地址码</a:t>
            </a:r>
            <a:r>
              <a:rPr lang="zh-CN" altLang="en-US" sz="2400" dirty="0"/>
              <a:t>。</a:t>
            </a:r>
            <a:endParaRPr lang="en-US" altLang="zh-CN" sz="2400" dirty="0">
              <a:solidFill>
                <a:srgbClr val="FF3300"/>
              </a:solidFill>
            </a:endParaRPr>
          </a:p>
          <a:p>
            <a:pPr lvl="1">
              <a:lnSpc>
                <a:spcPct val="80000"/>
              </a:lnSpc>
              <a:buNone/>
            </a:pPr>
            <a:endParaRPr lang="zh-CN" altLang="en-US" sz="2000" dirty="0"/>
          </a:p>
        </p:txBody>
      </p:sp>
      <p:pic>
        <p:nvPicPr>
          <p:cNvPr id="34820" name="Picture 4"/>
          <p:cNvPicPr>
            <a:picLocks noChangeAspect="1"/>
          </p:cNvPicPr>
          <p:nvPr/>
        </p:nvPicPr>
        <p:blipFill>
          <a:blip r:embed="rId1"/>
          <a:stretch>
            <a:fillRect/>
          </a:stretch>
        </p:blipFill>
        <p:spPr>
          <a:xfrm>
            <a:off x="4356100" y="2722563"/>
            <a:ext cx="4752975" cy="3514725"/>
          </a:xfrm>
          <a:prstGeom prst="rect">
            <a:avLst/>
          </a:prstGeom>
          <a:noFill/>
          <a:ln w="9525">
            <a:noFill/>
          </a:ln>
        </p:spPr>
      </p:pic>
      <p:sp>
        <p:nvSpPr>
          <p:cNvPr id="111621" name="Text Box 5"/>
          <p:cNvSpPr txBox="1"/>
          <p:nvPr/>
        </p:nvSpPr>
        <p:spPr>
          <a:xfrm>
            <a:off x="250825" y="5338763"/>
            <a:ext cx="3692525" cy="11874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dirty="0">
                <a:solidFill>
                  <a:srgbClr val="FF3300"/>
                </a:solidFill>
              </a:rPr>
              <a:t>芯片内部两部分合起来，地址线宽度达</a:t>
            </a:r>
            <a:r>
              <a:rPr lang="en-US" altLang="zh-CN" sz="2400" dirty="0">
                <a:solidFill>
                  <a:srgbClr val="FF3300"/>
                </a:solidFill>
              </a:rPr>
              <a:t>20</a:t>
            </a:r>
            <a:r>
              <a:rPr lang="zh-CN" altLang="en-US" sz="2400" dirty="0">
                <a:solidFill>
                  <a:srgbClr val="FF3300"/>
                </a:solidFill>
              </a:rPr>
              <a:t>位，存储容量为</a:t>
            </a:r>
            <a:r>
              <a:rPr lang="en-US" altLang="zh-CN" sz="2400" dirty="0">
                <a:solidFill>
                  <a:srgbClr val="FF3300"/>
                </a:solidFill>
              </a:rPr>
              <a:t>1M×4</a:t>
            </a:r>
            <a:r>
              <a:rPr lang="zh-CN" altLang="en-US" sz="2400" dirty="0">
                <a:solidFill>
                  <a:srgbClr val="FF3300"/>
                </a:solidFill>
              </a:rPr>
              <a:t>位。</a:t>
            </a:r>
            <a:endParaRPr lang="zh-CN" altLang="en-US" sz="2400" dirty="0">
              <a:solidFill>
                <a:srgbClr val="FF3300"/>
              </a:solidFill>
            </a:endParaRPr>
          </a:p>
        </p:txBody>
      </p:sp>
      <p:sp>
        <p:nvSpPr>
          <p:cNvPr id="111623" name="Text Box 7"/>
          <p:cNvSpPr txBox="1"/>
          <p:nvPr/>
        </p:nvSpPr>
        <p:spPr>
          <a:xfrm>
            <a:off x="231775" y="2636838"/>
            <a:ext cx="4124325" cy="26479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dirty="0"/>
              <a:t>若地址总线宽度为</a:t>
            </a:r>
            <a:r>
              <a:rPr lang="en-US" altLang="zh-CN" sz="2400" dirty="0"/>
              <a:t>10</a:t>
            </a:r>
            <a:r>
              <a:rPr lang="zh-CN" altLang="en-US" sz="2400" dirty="0"/>
              <a:t>位，先传送地址码</a:t>
            </a:r>
            <a:r>
              <a:rPr lang="en-US" altLang="zh-CN" sz="2400" dirty="0"/>
              <a:t>A0</a:t>
            </a:r>
            <a:r>
              <a:rPr lang="zh-CN" altLang="en-US" sz="2400" dirty="0"/>
              <a:t>～</a:t>
            </a:r>
            <a:r>
              <a:rPr lang="en-US" altLang="zh-CN" sz="2400" dirty="0"/>
              <a:t>A9</a:t>
            </a:r>
            <a:r>
              <a:rPr lang="zh-CN" altLang="en-US" sz="2400" dirty="0"/>
              <a:t>，由行选通信号</a:t>
            </a:r>
            <a:r>
              <a:rPr lang="en-US" altLang="zh-CN" sz="2400" dirty="0"/>
              <a:t>RAS</a:t>
            </a:r>
            <a:r>
              <a:rPr lang="zh-CN" altLang="en-US" sz="2400" dirty="0"/>
              <a:t>打入到行地址锁存器；</a:t>
            </a:r>
            <a:endParaRPr lang="en-US" altLang="zh-CN" sz="2400" dirty="0"/>
          </a:p>
          <a:p>
            <a:pPr marL="0" lvl="0" indent="0" eaLnBrk="1" hangingPunct="1">
              <a:spcBef>
                <a:spcPct val="0"/>
              </a:spcBef>
              <a:buClrTx/>
              <a:buSzTx/>
              <a:buFontTx/>
              <a:buNone/>
            </a:pPr>
            <a:r>
              <a:rPr lang="zh-CN" altLang="en-US" sz="2400" dirty="0"/>
              <a:t>然后传送地址码</a:t>
            </a:r>
            <a:r>
              <a:rPr lang="en-US" altLang="zh-CN" sz="2400" dirty="0"/>
              <a:t>A10</a:t>
            </a:r>
            <a:r>
              <a:rPr lang="zh-CN" altLang="en-US" sz="2400" dirty="0"/>
              <a:t>～</a:t>
            </a:r>
            <a:r>
              <a:rPr lang="en-US" altLang="zh-CN" sz="2400" dirty="0"/>
              <a:t>A19</a:t>
            </a:r>
            <a:r>
              <a:rPr lang="zh-CN" altLang="en-US" sz="2400" dirty="0"/>
              <a:t>，由列选通信号</a:t>
            </a:r>
            <a:r>
              <a:rPr lang="en-US" altLang="zh-CN" sz="2400" dirty="0"/>
              <a:t>CRS</a:t>
            </a:r>
            <a:r>
              <a:rPr lang="zh-CN" altLang="en-US" sz="2400" dirty="0"/>
              <a:t>打入到列地址锁存器。</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6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16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1" grpId="0"/>
      <p:bldP spid="11162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2"/>
          <p:cNvSpPr>
            <a:spLocks noGrp="1"/>
          </p:cNvSpPr>
          <p:nvPr>
            <p:ph type="title"/>
          </p:nvPr>
        </p:nvSpPr>
        <p:spPr>
          <a:xfrm>
            <a:off x="457200" y="-100012"/>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35843" name="Rectangle 3"/>
          <p:cNvSpPr>
            <a:spLocks noGrp="1"/>
          </p:cNvSpPr>
          <p:nvPr>
            <p:ph idx="1"/>
          </p:nvPr>
        </p:nvSpPr>
        <p:spPr>
          <a:xfrm>
            <a:off x="395288" y="981075"/>
            <a:ext cx="8497887" cy="1944688"/>
          </a:xfrm>
        </p:spPr>
        <p:txBody>
          <a:bodyPr vert="horz" wrap="square" lIns="91440" tIns="45720" rIns="91440" bIns="45720" anchor="t" anchorCtr="0"/>
          <a:p>
            <a:pPr>
              <a:lnSpc>
                <a:spcPct val="80000"/>
              </a:lnSpc>
              <a:buNone/>
            </a:pPr>
            <a:r>
              <a:rPr lang="zh-CN" altLang="en-US" sz="2400" dirty="0"/>
              <a:t>二、</a:t>
            </a:r>
            <a:r>
              <a:rPr lang="en-US" altLang="zh-CN" sz="2400" dirty="0"/>
              <a:t>DRAM</a:t>
            </a:r>
            <a:r>
              <a:rPr lang="zh-CN" altLang="en-US" sz="2400" dirty="0"/>
              <a:t>芯片的逻辑结构</a:t>
            </a:r>
            <a:endParaRPr lang="en-US" altLang="zh-CN" sz="2400" dirty="0"/>
          </a:p>
          <a:p>
            <a:pPr>
              <a:lnSpc>
                <a:spcPct val="80000"/>
              </a:lnSpc>
            </a:pPr>
            <a:r>
              <a:rPr lang="zh-CN" altLang="en-US" sz="2400" dirty="0"/>
              <a:t>（</a:t>
            </a:r>
            <a:r>
              <a:rPr lang="en-US" altLang="zh-CN" sz="2400" dirty="0"/>
              <a:t>2</a:t>
            </a:r>
            <a:r>
              <a:rPr lang="zh-CN" altLang="en-US" sz="2400" dirty="0"/>
              <a:t>）增加了</a:t>
            </a:r>
            <a:r>
              <a:rPr lang="zh-CN" altLang="en-US" sz="2400" dirty="0">
                <a:solidFill>
                  <a:srgbClr val="0000FF"/>
                </a:solidFill>
              </a:rPr>
              <a:t>刷新计数器</a:t>
            </a:r>
            <a:r>
              <a:rPr lang="zh-CN" altLang="en-US" sz="2400" dirty="0"/>
              <a:t>和相应的控制电路。</a:t>
            </a:r>
            <a:r>
              <a:rPr lang="en-US" altLang="zh-CN" sz="2400" dirty="0"/>
              <a:t>DRAM</a:t>
            </a:r>
            <a:r>
              <a:rPr lang="zh-CN" altLang="en-US" sz="2400" dirty="0"/>
              <a:t>读出后必须刷新，而未读写的存储元也要定期刷新，而且要按行刷新，所以</a:t>
            </a:r>
            <a:r>
              <a:rPr lang="zh-CN" altLang="en-US" sz="2400" dirty="0">
                <a:solidFill>
                  <a:srgbClr val="0000FF"/>
                </a:solidFill>
              </a:rPr>
              <a:t>刷新计数器的长度等于行地址锁存器</a:t>
            </a:r>
            <a:r>
              <a:rPr lang="zh-CN" altLang="en-US" sz="2400" dirty="0"/>
              <a:t>。刷新操作与读</a:t>
            </a:r>
            <a:r>
              <a:rPr lang="en-US" altLang="zh-CN" sz="2400" dirty="0"/>
              <a:t>/</a:t>
            </a:r>
            <a:r>
              <a:rPr lang="zh-CN" altLang="en-US" sz="2400" dirty="0"/>
              <a:t>写操作是</a:t>
            </a:r>
            <a:r>
              <a:rPr lang="zh-CN" altLang="en-US" sz="2400" b="1" dirty="0">
                <a:solidFill>
                  <a:srgbClr val="FF3300"/>
                </a:solidFill>
              </a:rPr>
              <a:t>交替</a:t>
            </a:r>
            <a:r>
              <a:rPr lang="zh-CN" altLang="en-US" sz="2400" dirty="0"/>
              <a:t>进行的，所以通过</a:t>
            </a:r>
            <a:r>
              <a:rPr lang="en-US" altLang="zh-CN" sz="2400" dirty="0">
                <a:solidFill>
                  <a:srgbClr val="FF3300"/>
                </a:solidFill>
              </a:rPr>
              <a:t>2</a:t>
            </a:r>
            <a:r>
              <a:rPr lang="zh-CN" altLang="en-US" sz="2400" dirty="0">
                <a:solidFill>
                  <a:srgbClr val="FF3300"/>
                </a:solidFill>
              </a:rPr>
              <a:t>选</a:t>
            </a:r>
            <a:r>
              <a:rPr lang="en-US" altLang="zh-CN" sz="2400" dirty="0">
                <a:solidFill>
                  <a:srgbClr val="FF3300"/>
                </a:solidFill>
              </a:rPr>
              <a:t>1</a:t>
            </a:r>
            <a:r>
              <a:rPr lang="zh-CN" altLang="en-US" sz="2400" dirty="0">
                <a:solidFill>
                  <a:srgbClr val="FF3300"/>
                </a:solidFill>
              </a:rPr>
              <a:t>多路开关</a:t>
            </a:r>
            <a:r>
              <a:rPr lang="zh-CN" altLang="en-US" sz="2400" dirty="0"/>
              <a:t>来提供刷新行地址或正常读</a:t>
            </a:r>
            <a:r>
              <a:rPr lang="en-US" altLang="zh-CN" sz="2400" dirty="0"/>
              <a:t>/</a:t>
            </a:r>
            <a:r>
              <a:rPr lang="zh-CN" altLang="en-US" sz="2400" dirty="0"/>
              <a:t>写的行地址。</a:t>
            </a:r>
            <a:endParaRPr lang="zh-CN" altLang="en-US" sz="2400" dirty="0"/>
          </a:p>
        </p:txBody>
      </p:sp>
      <p:pic>
        <p:nvPicPr>
          <p:cNvPr id="35844" name="Picture 4"/>
          <p:cNvPicPr>
            <a:picLocks noChangeAspect="1"/>
          </p:cNvPicPr>
          <p:nvPr/>
        </p:nvPicPr>
        <p:blipFill>
          <a:blip r:embed="rId1"/>
          <a:stretch>
            <a:fillRect/>
          </a:stretch>
        </p:blipFill>
        <p:spPr>
          <a:xfrm>
            <a:off x="1835150" y="2960688"/>
            <a:ext cx="5113338" cy="3781425"/>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xfrm>
            <a:off x="457200" y="-100012"/>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36867" name="矩形 2"/>
          <p:cNvSpPr/>
          <p:nvPr/>
        </p:nvSpPr>
        <p:spPr>
          <a:xfrm>
            <a:off x="323850" y="1484313"/>
            <a:ext cx="7632700" cy="30480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400" b="1" dirty="0">
                <a:solidFill>
                  <a:srgbClr val="222222"/>
                </a:solidFill>
                <a:latin typeface="Helvetica Neue"/>
              </a:rPr>
              <a:t>[2018</a:t>
            </a:r>
            <a:r>
              <a:rPr lang="zh-CN" altLang="en-US" sz="2400" b="1" dirty="0">
                <a:solidFill>
                  <a:srgbClr val="222222"/>
                </a:solidFill>
                <a:latin typeface="Helvetica Neue"/>
              </a:rPr>
              <a:t>统考真题</a:t>
            </a:r>
            <a:r>
              <a:rPr lang="en-US" altLang="zh-CN" sz="2400" b="1" dirty="0">
                <a:solidFill>
                  <a:srgbClr val="222222"/>
                </a:solidFill>
                <a:latin typeface="Helvetica Neue"/>
              </a:rPr>
              <a:t>]</a:t>
            </a:r>
            <a:r>
              <a:rPr lang="zh-CN" altLang="en-US" sz="2400" b="1" dirty="0">
                <a:solidFill>
                  <a:srgbClr val="222222"/>
                </a:solidFill>
                <a:latin typeface="Helvetica Neue"/>
              </a:rPr>
              <a:t>假定</a:t>
            </a:r>
            <a:r>
              <a:rPr lang="en-US" altLang="zh-CN" sz="2400" b="1" dirty="0">
                <a:solidFill>
                  <a:srgbClr val="222222"/>
                </a:solidFill>
                <a:latin typeface="Helvetica Neue"/>
              </a:rPr>
              <a:t>DRAM</a:t>
            </a:r>
            <a:r>
              <a:rPr lang="zh-CN" altLang="en-US" sz="2400" b="1" dirty="0">
                <a:solidFill>
                  <a:srgbClr val="222222"/>
                </a:solidFill>
                <a:latin typeface="Helvetica Neue"/>
              </a:rPr>
              <a:t>芯片中存储阵列的行数为</a:t>
            </a:r>
            <a:r>
              <a:rPr lang="en-US" altLang="zh-CN" sz="2400" b="1" dirty="0">
                <a:solidFill>
                  <a:srgbClr val="222222"/>
                </a:solidFill>
                <a:latin typeface="Helvetica Neue"/>
              </a:rPr>
              <a:t>r</a:t>
            </a:r>
            <a:r>
              <a:rPr lang="zh-CN" altLang="en-US" sz="2400" b="1" dirty="0">
                <a:solidFill>
                  <a:srgbClr val="222222"/>
                </a:solidFill>
                <a:latin typeface="Helvetica Neue"/>
              </a:rPr>
              <a:t>、列数为</a:t>
            </a:r>
            <a:r>
              <a:rPr lang="en-US" altLang="zh-CN" sz="2400" b="1" dirty="0">
                <a:solidFill>
                  <a:srgbClr val="222222"/>
                </a:solidFill>
                <a:latin typeface="Helvetica Neue"/>
              </a:rPr>
              <a:t>c,</a:t>
            </a:r>
            <a:r>
              <a:rPr lang="zh-CN" altLang="en-US" sz="2400" b="1" dirty="0">
                <a:solidFill>
                  <a:srgbClr val="222222"/>
                </a:solidFill>
                <a:latin typeface="Helvetica Neue"/>
              </a:rPr>
              <a:t>对于一个</a:t>
            </a:r>
            <a:r>
              <a:rPr lang="en-US" altLang="zh-CN" sz="2400" b="1" dirty="0">
                <a:solidFill>
                  <a:srgbClr val="222222"/>
                </a:solidFill>
                <a:latin typeface="Helvetica Neue"/>
              </a:rPr>
              <a:t>2K*1</a:t>
            </a:r>
            <a:r>
              <a:rPr lang="zh-CN" altLang="en-US" sz="2400" b="1" dirty="0">
                <a:solidFill>
                  <a:srgbClr val="222222"/>
                </a:solidFill>
                <a:latin typeface="Helvetica Neue"/>
              </a:rPr>
              <a:t>位的</a:t>
            </a:r>
            <a:r>
              <a:rPr lang="en-US" altLang="zh-CN" sz="2400" b="1" dirty="0">
                <a:solidFill>
                  <a:srgbClr val="222222"/>
                </a:solidFill>
                <a:latin typeface="Helvetica Neue"/>
              </a:rPr>
              <a:t>DRAM</a:t>
            </a:r>
            <a:r>
              <a:rPr lang="zh-CN" altLang="en-US" sz="2400" b="1" dirty="0">
                <a:solidFill>
                  <a:srgbClr val="222222"/>
                </a:solidFill>
                <a:latin typeface="Helvetica Neue"/>
              </a:rPr>
              <a:t>芯片</a:t>
            </a:r>
            <a:r>
              <a:rPr lang="en-US" altLang="zh-CN" sz="2400" b="1" dirty="0">
                <a:solidFill>
                  <a:srgbClr val="222222"/>
                </a:solidFill>
                <a:latin typeface="Helvetica Neue"/>
              </a:rPr>
              <a:t>,</a:t>
            </a:r>
            <a:r>
              <a:rPr lang="zh-CN" altLang="en-US" sz="2400" b="1" dirty="0">
                <a:solidFill>
                  <a:srgbClr val="222222"/>
                </a:solidFill>
                <a:latin typeface="Helvetica Neue"/>
              </a:rPr>
              <a:t>为保证其地址引脚数最少</a:t>
            </a:r>
            <a:r>
              <a:rPr lang="en-US" altLang="zh-CN" sz="2400" b="1" dirty="0">
                <a:solidFill>
                  <a:srgbClr val="222222"/>
                </a:solidFill>
                <a:latin typeface="Helvetica Neue"/>
              </a:rPr>
              <a:t>,</a:t>
            </a:r>
            <a:r>
              <a:rPr lang="zh-CN" altLang="en-US" sz="2400" b="1" dirty="0">
                <a:solidFill>
                  <a:srgbClr val="222222"/>
                </a:solidFill>
                <a:latin typeface="Helvetica Neue"/>
              </a:rPr>
              <a:t>并尽量减少刷新开销</a:t>
            </a:r>
            <a:r>
              <a:rPr lang="en-US" altLang="zh-CN" sz="2400" b="1" dirty="0">
                <a:solidFill>
                  <a:srgbClr val="222222"/>
                </a:solidFill>
                <a:latin typeface="Helvetica Neue"/>
              </a:rPr>
              <a:t>,</a:t>
            </a:r>
            <a:r>
              <a:rPr lang="zh-CN" altLang="en-US" sz="2400" b="1" dirty="0">
                <a:solidFill>
                  <a:srgbClr val="222222"/>
                </a:solidFill>
                <a:latin typeface="Helvetica Neue"/>
              </a:rPr>
              <a:t>则</a:t>
            </a:r>
            <a:r>
              <a:rPr lang="en-US" altLang="zh-CN" sz="2400" b="1" dirty="0">
                <a:solidFill>
                  <a:srgbClr val="222222"/>
                </a:solidFill>
                <a:latin typeface="Helvetica Neue"/>
              </a:rPr>
              <a:t>r</a:t>
            </a:r>
            <a:r>
              <a:rPr lang="zh-CN" altLang="en-US" sz="2400" b="1" dirty="0">
                <a:solidFill>
                  <a:srgbClr val="222222"/>
                </a:solidFill>
                <a:latin typeface="Helvetica Neue"/>
              </a:rPr>
              <a:t>、</a:t>
            </a:r>
            <a:r>
              <a:rPr lang="en-US" altLang="zh-CN" sz="2400" b="1" dirty="0">
                <a:solidFill>
                  <a:srgbClr val="222222"/>
                </a:solidFill>
                <a:latin typeface="Helvetica Neue"/>
              </a:rPr>
              <a:t>c</a:t>
            </a:r>
            <a:r>
              <a:rPr lang="zh-CN" altLang="en-US" sz="2400" b="1" dirty="0">
                <a:solidFill>
                  <a:srgbClr val="222222"/>
                </a:solidFill>
                <a:latin typeface="Helvetica Neue"/>
              </a:rPr>
              <a:t>的取值为</a:t>
            </a:r>
            <a:r>
              <a:rPr lang="en-US" altLang="zh-CN" sz="2400" b="1" dirty="0">
                <a:solidFill>
                  <a:srgbClr val="222222"/>
                </a:solidFill>
                <a:latin typeface="Helvetica Neue"/>
              </a:rPr>
              <a:t>()</a:t>
            </a:r>
            <a:r>
              <a:rPr lang="zh-CN" altLang="en-US" sz="2400" b="1" dirty="0">
                <a:solidFill>
                  <a:srgbClr val="222222"/>
                </a:solidFill>
                <a:latin typeface="Helvetica Neue"/>
              </a:rPr>
              <a:t>。</a:t>
            </a:r>
            <a:endParaRPr lang="en-US" altLang="zh-CN" sz="2400" b="1" dirty="0">
              <a:solidFill>
                <a:srgbClr val="222222"/>
              </a:solidFill>
              <a:latin typeface="Helvetica Neue"/>
            </a:endParaRPr>
          </a:p>
          <a:p>
            <a:pPr marL="0" lvl="0" indent="0">
              <a:spcBef>
                <a:spcPct val="0"/>
              </a:spcBef>
              <a:buClrTx/>
              <a:buSzTx/>
              <a:buFontTx/>
              <a:buNone/>
            </a:pPr>
            <a:endParaRPr lang="zh-CN" altLang="en-US" sz="2400" b="1" dirty="0">
              <a:solidFill>
                <a:srgbClr val="222222"/>
              </a:solidFill>
              <a:latin typeface="Helvetica Neue"/>
            </a:endParaRPr>
          </a:p>
          <a:p>
            <a:pPr marL="0" lvl="0" indent="0">
              <a:spcBef>
                <a:spcPct val="0"/>
              </a:spcBef>
              <a:buClrTx/>
              <a:buSzTx/>
              <a:buFontTx/>
              <a:buNone/>
            </a:pPr>
            <a:r>
              <a:rPr lang="en-US" altLang="zh-CN" sz="2400" b="1" dirty="0">
                <a:solidFill>
                  <a:srgbClr val="222222"/>
                </a:solidFill>
                <a:latin typeface="Helvetica Neue"/>
              </a:rPr>
              <a:t>A.2048</a:t>
            </a:r>
            <a:r>
              <a:rPr lang="zh-CN" altLang="en-US" sz="2400" b="1" dirty="0">
                <a:solidFill>
                  <a:srgbClr val="222222"/>
                </a:solidFill>
                <a:latin typeface="Helvetica Neue"/>
              </a:rPr>
              <a:t>、</a:t>
            </a:r>
            <a:r>
              <a:rPr lang="en-US" altLang="zh-CN" sz="2400" b="1" dirty="0">
                <a:solidFill>
                  <a:srgbClr val="222222"/>
                </a:solidFill>
                <a:latin typeface="Helvetica Neue"/>
              </a:rPr>
              <a:t>1</a:t>
            </a:r>
            <a:endParaRPr lang="en-US" altLang="zh-CN" sz="2400" b="1" dirty="0">
              <a:solidFill>
                <a:srgbClr val="222222"/>
              </a:solidFill>
              <a:latin typeface="Helvetica Neue"/>
            </a:endParaRPr>
          </a:p>
          <a:p>
            <a:pPr marL="0" lvl="0" indent="0">
              <a:spcBef>
                <a:spcPct val="0"/>
              </a:spcBef>
              <a:buClrTx/>
              <a:buSzTx/>
              <a:buFontTx/>
              <a:buNone/>
            </a:pPr>
            <a:r>
              <a:rPr lang="en-US" altLang="zh-CN" sz="2400" b="1" dirty="0">
                <a:solidFill>
                  <a:srgbClr val="222222"/>
                </a:solidFill>
                <a:latin typeface="Helvetica Neue"/>
              </a:rPr>
              <a:t>B.64</a:t>
            </a:r>
            <a:r>
              <a:rPr lang="zh-CN" altLang="en-US" sz="2400" b="1" dirty="0">
                <a:solidFill>
                  <a:srgbClr val="222222"/>
                </a:solidFill>
                <a:latin typeface="Helvetica Neue"/>
              </a:rPr>
              <a:t>、</a:t>
            </a:r>
            <a:r>
              <a:rPr lang="en-US" altLang="zh-CN" sz="2400" b="1" dirty="0">
                <a:solidFill>
                  <a:srgbClr val="222222"/>
                </a:solidFill>
                <a:latin typeface="Helvetica Neue"/>
              </a:rPr>
              <a:t>32</a:t>
            </a:r>
            <a:endParaRPr lang="en-US" altLang="zh-CN" sz="2400" b="1" dirty="0">
              <a:solidFill>
                <a:srgbClr val="222222"/>
              </a:solidFill>
              <a:latin typeface="Helvetica Neue"/>
            </a:endParaRPr>
          </a:p>
          <a:p>
            <a:pPr marL="0" lvl="0" indent="0">
              <a:spcBef>
                <a:spcPct val="0"/>
              </a:spcBef>
              <a:buClrTx/>
              <a:buSzTx/>
              <a:buFontTx/>
              <a:buNone/>
            </a:pPr>
            <a:r>
              <a:rPr lang="en-US" altLang="zh-CN" sz="2400" b="1" dirty="0">
                <a:solidFill>
                  <a:srgbClr val="222222"/>
                </a:solidFill>
                <a:latin typeface="Helvetica Neue"/>
              </a:rPr>
              <a:t>C.32</a:t>
            </a:r>
            <a:r>
              <a:rPr lang="zh-CN" altLang="en-US" sz="2400" b="1" dirty="0">
                <a:solidFill>
                  <a:srgbClr val="222222"/>
                </a:solidFill>
                <a:latin typeface="Helvetica Neue"/>
              </a:rPr>
              <a:t>、</a:t>
            </a:r>
            <a:r>
              <a:rPr lang="en-US" altLang="zh-CN" sz="2400" b="1" dirty="0">
                <a:solidFill>
                  <a:srgbClr val="222222"/>
                </a:solidFill>
                <a:latin typeface="Helvetica Neue"/>
              </a:rPr>
              <a:t>64</a:t>
            </a:r>
            <a:endParaRPr lang="en-US" altLang="zh-CN" sz="2400" b="1" dirty="0">
              <a:solidFill>
                <a:srgbClr val="222222"/>
              </a:solidFill>
              <a:latin typeface="Helvetica Neue"/>
            </a:endParaRPr>
          </a:p>
          <a:p>
            <a:pPr marL="0" lvl="0" indent="0">
              <a:spcBef>
                <a:spcPct val="0"/>
              </a:spcBef>
              <a:buClrTx/>
              <a:buSzTx/>
              <a:buFontTx/>
              <a:buNone/>
            </a:pPr>
            <a:r>
              <a:rPr lang="en-US" altLang="zh-CN" sz="2400" b="1" dirty="0">
                <a:solidFill>
                  <a:srgbClr val="222222"/>
                </a:solidFill>
                <a:latin typeface="Helvetica Neue"/>
              </a:rPr>
              <a:t>D.1</a:t>
            </a:r>
            <a:r>
              <a:rPr lang="zh-CN" altLang="en-US" sz="2400" b="1" dirty="0">
                <a:solidFill>
                  <a:srgbClr val="222222"/>
                </a:solidFill>
                <a:latin typeface="Helvetica Neue"/>
              </a:rPr>
              <a:t>、</a:t>
            </a:r>
            <a:r>
              <a:rPr lang="en-US" altLang="zh-CN" sz="2400" b="1" dirty="0">
                <a:solidFill>
                  <a:srgbClr val="222222"/>
                </a:solidFill>
                <a:latin typeface="Helvetica Neue"/>
              </a:rPr>
              <a:t>2048</a:t>
            </a:r>
            <a:endParaRPr lang="en-US" altLang="zh-CN" sz="2400" b="1" dirty="0">
              <a:solidFill>
                <a:srgbClr val="222222"/>
              </a:solidFill>
              <a:latin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38915" name="Rectangle 3"/>
          <p:cNvSpPr>
            <a:spLocks noGrp="1"/>
          </p:cNvSpPr>
          <p:nvPr>
            <p:ph idx="1"/>
          </p:nvPr>
        </p:nvSpPr>
        <p:spPr/>
        <p:txBody>
          <a:bodyPr vert="horz" wrap="square" lIns="91440" tIns="45720" rIns="91440" bIns="45720" anchor="t" anchorCtr="0"/>
          <a:p>
            <a:pPr>
              <a:buNone/>
            </a:pPr>
            <a:r>
              <a:rPr lang="zh-CN" altLang="en-US" dirty="0"/>
              <a:t>三、读</a:t>
            </a:r>
            <a:r>
              <a:rPr lang="en-US" altLang="zh-CN" dirty="0"/>
              <a:t>/</a:t>
            </a:r>
            <a:r>
              <a:rPr lang="zh-CN" altLang="en-US" dirty="0"/>
              <a:t>写周期</a:t>
            </a:r>
            <a:endParaRPr lang="en-US" altLang="zh-CN" dirty="0"/>
          </a:p>
          <a:p>
            <a:r>
              <a:rPr lang="zh-CN" altLang="en-US" dirty="0"/>
              <a:t>读周期、写周期的定义是从</a:t>
            </a:r>
            <a:r>
              <a:rPr lang="zh-CN" altLang="en-US" dirty="0">
                <a:solidFill>
                  <a:srgbClr val="FF3300"/>
                </a:solidFill>
              </a:rPr>
              <a:t>行选通信号</a:t>
            </a:r>
            <a:r>
              <a:rPr lang="en-US" altLang="zh-CN" dirty="0">
                <a:solidFill>
                  <a:srgbClr val="FF3300"/>
                </a:solidFill>
              </a:rPr>
              <a:t>RAS</a:t>
            </a:r>
            <a:r>
              <a:rPr lang="zh-CN" altLang="en-US" b="1" dirty="0">
                <a:solidFill>
                  <a:srgbClr val="0000FF"/>
                </a:solidFill>
              </a:rPr>
              <a:t>下降沿</a:t>
            </a:r>
            <a:r>
              <a:rPr lang="zh-CN" altLang="en-US" dirty="0"/>
              <a:t>开始，到下一个</a:t>
            </a:r>
            <a:r>
              <a:rPr lang="en-US" altLang="zh-CN" dirty="0"/>
              <a:t>RAS</a:t>
            </a:r>
            <a:r>
              <a:rPr lang="zh-CN" altLang="en-US" dirty="0"/>
              <a:t>信号的</a:t>
            </a:r>
            <a:r>
              <a:rPr lang="zh-CN" altLang="en-US" b="1" dirty="0">
                <a:solidFill>
                  <a:srgbClr val="0000FF"/>
                </a:solidFill>
              </a:rPr>
              <a:t>下降沿</a:t>
            </a:r>
            <a:r>
              <a:rPr lang="zh-CN" altLang="en-US" dirty="0"/>
              <a:t>为止的时间，也就是</a:t>
            </a:r>
            <a:r>
              <a:rPr lang="zh-CN" altLang="en-US" dirty="0">
                <a:solidFill>
                  <a:srgbClr val="0000FF"/>
                </a:solidFill>
              </a:rPr>
              <a:t>连续两个读周期的时间间隔</a:t>
            </a:r>
            <a:r>
              <a:rPr lang="zh-CN" altLang="en-US" dirty="0"/>
              <a:t>。</a:t>
            </a:r>
            <a:endParaRPr lang="en-US" altLang="zh-CN" dirty="0"/>
          </a:p>
          <a:p>
            <a:r>
              <a:rPr lang="zh-CN" altLang="en-US" dirty="0"/>
              <a:t>通常为控制方便，读周期和写周期时间相等。</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pic>
        <p:nvPicPr>
          <p:cNvPr id="23562" name="Picture 10"/>
          <p:cNvPicPr>
            <a:picLocks noChangeAspect="1"/>
          </p:cNvPicPr>
          <p:nvPr/>
        </p:nvPicPr>
        <p:blipFill>
          <a:blip r:embed="rId1"/>
          <a:stretch>
            <a:fillRect/>
          </a:stretch>
        </p:blipFill>
        <p:spPr>
          <a:xfrm>
            <a:off x="539750" y="1352550"/>
            <a:ext cx="7920038" cy="4697413"/>
          </a:xfrm>
          <a:prstGeom prst="rect">
            <a:avLst/>
          </a:prstGeom>
          <a:noFill/>
          <a:ln w="9525">
            <a:noFill/>
          </a:ln>
        </p:spPr>
      </p:pic>
      <p:pic>
        <p:nvPicPr>
          <p:cNvPr id="23563" name="Picture 11"/>
          <p:cNvPicPr>
            <a:picLocks noChangeAspect="1"/>
          </p:cNvPicPr>
          <p:nvPr/>
        </p:nvPicPr>
        <p:blipFill>
          <a:blip r:embed="rId2"/>
          <a:stretch>
            <a:fillRect/>
          </a:stretch>
        </p:blipFill>
        <p:spPr>
          <a:xfrm>
            <a:off x="539750" y="1341438"/>
            <a:ext cx="7848600" cy="4691062"/>
          </a:xfrm>
          <a:prstGeom prst="rect">
            <a:avLst/>
          </a:prstGeom>
          <a:noFill/>
          <a:ln w="9525">
            <a:noFill/>
          </a:ln>
        </p:spPr>
      </p:pic>
      <p:sp>
        <p:nvSpPr>
          <p:cNvPr id="39941" name="Line 12"/>
          <p:cNvSpPr/>
          <p:nvPr/>
        </p:nvSpPr>
        <p:spPr>
          <a:xfrm flipV="1">
            <a:off x="6588125" y="1628775"/>
            <a:ext cx="0" cy="4321175"/>
          </a:xfrm>
          <a:prstGeom prst="line">
            <a:avLst/>
          </a:prstGeom>
          <a:ln w="28575" cap="flat" cmpd="sng">
            <a:solidFill>
              <a:srgbClr val="FF3300"/>
            </a:solidFill>
            <a:prstDash val="dash"/>
            <a:headEnd type="none" w="sm" len="sm"/>
            <a:tailEnd type="none"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62"/>
                                        </p:tgtEl>
                                        <p:attrNameLst>
                                          <p:attrName>style.visibility</p:attrName>
                                        </p:attrNameLst>
                                      </p:cBhvr>
                                      <p:to>
                                        <p:strVal val="visible"/>
                                      </p:to>
                                    </p:set>
                                    <p:anim calcmode="lin" valueType="num">
                                      <p:cBhvr additive="base">
                                        <p:cTn id="7" dur="500" fill="hold"/>
                                        <p:tgtEl>
                                          <p:spTgt spid="23562"/>
                                        </p:tgtEl>
                                        <p:attrNameLst>
                                          <p:attrName>ppt_x</p:attrName>
                                        </p:attrNameLst>
                                      </p:cBhvr>
                                      <p:tavLst>
                                        <p:tav tm="0">
                                          <p:val>
                                            <p:strVal val="#ppt_x"/>
                                          </p:val>
                                        </p:tav>
                                        <p:tav tm="100000">
                                          <p:val>
                                            <p:strVal val="#ppt_x"/>
                                          </p:val>
                                        </p:tav>
                                      </p:tavLst>
                                    </p:anim>
                                    <p:anim calcmode="lin" valueType="num">
                                      <p:cBhvr additive="base">
                                        <p:cTn id="8" dur="500" fill="hold"/>
                                        <p:tgtEl>
                                          <p:spTgt spid="235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2356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5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a:xfrm>
            <a:off x="468313" y="260350"/>
            <a:ext cx="7532687" cy="719138"/>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24579" name="Rectangle 3"/>
          <p:cNvSpPr>
            <a:spLocks noGrp="1"/>
          </p:cNvSpPr>
          <p:nvPr>
            <p:ph idx="1"/>
          </p:nvPr>
        </p:nvSpPr>
        <p:spPr>
          <a:xfrm>
            <a:off x="457200" y="1052513"/>
            <a:ext cx="8229600" cy="5327650"/>
          </a:xfrm>
        </p:spPr>
        <p:txBody>
          <a:bodyPr vert="horz" wrap="square" lIns="91440" tIns="45720" rIns="91440" bIns="45720" anchor="t" anchorCtr="0"/>
          <a:p>
            <a:pPr>
              <a:lnSpc>
                <a:spcPct val="80000"/>
              </a:lnSpc>
              <a:buNone/>
            </a:pPr>
            <a:r>
              <a:rPr lang="zh-CN" altLang="en-US" dirty="0"/>
              <a:t>四、</a:t>
            </a:r>
            <a:r>
              <a:rPr lang="en-US" altLang="zh-CN" dirty="0"/>
              <a:t> </a:t>
            </a:r>
            <a:r>
              <a:rPr lang="zh-CN" altLang="en-US" dirty="0"/>
              <a:t>刷新周期</a:t>
            </a:r>
            <a:r>
              <a:rPr lang="en-US" altLang="zh-CN" dirty="0"/>
              <a:t> </a:t>
            </a:r>
            <a:endParaRPr lang="en-US" altLang="zh-CN" dirty="0"/>
          </a:p>
          <a:p>
            <a:pPr>
              <a:lnSpc>
                <a:spcPct val="80000"/>
              </a:lnSpc>
            </a:pPr>
            <a:r>
              <a:rPr lang="zh-CN" altLang="en-US" sz="2400" b="1" dirty="0">
                <a:solidFill>
                  <a:srgbClr val="0000FF"/>
                </a:solidFill>
              </a:rPr>
              <a:t>刷新周期：</a:t>
            </a:r>
            <a:r>
              <a:rPr lang="en-US" altLang="zh-CN" sz="2400" dirty="0"/>
              <a:t>DRAM</a:t>
            </a:r>
            <a:r>
              <a:rPr lang="zh-CN" altLang="en-US" sz="2400" dirty="0"/>
              <a:t>存储位元是基于电容器上的电荷量存储，这个电荷量随着时间和温度而减少，因此必须定期地刷新，以保持它们原来记忆的正确信息。</a:t>
            </a:r>
            <a:endParaRPr lang="en-US" altLang="zh-CN" sz="2400" dirty="0"/>
          </a:p>
          <a:p>
            <a:pPr>
              <a:lnSpc>
                <a:spcPct val="80000"/>
              </a:lnSpc>
            </a:pPr>
            <a:r>
              <a:rPr lang="zh-CN" altLang="en-US" sz="2400" b="1" dirty="0">
                <a:solidFill>
                  <a:srgbClr val="0000FF"/>
                </a:solidFill>
              </a:rPr>
              <a:t>刷新过程的实质</a:t>
            </a:r>
            <a:r>
              <a:rPr lang="zh-CN" altLang="en-US" sz="2400" dirty="0"/>
              <a:t>：先将原来存储的信息读出，再由刷新放大器形成原信息并重新写入的再生过程。</a:t>
            </a:r>
            <a:r>
              <a:rPr lang="en-US" altLang="zh-CN" dirty="0"/>
              <a:t></a:t>
            </a:r>
            <a:endParaRPr lang="en-US" altLang="zh-CN" dirty="0"/>
          </a:p>
          <a:p>
            <a:pPr>
              <a:lnSpc>
                <a:spcPct val="80000"/>
              </a:lnSpc>
            </a:pPr>
            <a:r>
              <a:rPr lang="zh-CN" altLang="en-US" sz="2800" dirty="0"/>
              <a:t>刷新操作有两种刷新方式：</a:t>
            </a:r>
            <a:endParaRPr lang="en-US" altLang="zh-CN" sz="2800" dirty="0"/>
          </a:p>
          <a:p>
            <a:pPr lvl="1">
              <a:lnSpc>
                <a:spcPct val="80000"/>
              </a:lnSpc>
            </a:pPr>
            <a:r>
              <a:rPr lang="zh-CN" altLang="en-US" sz="2400" b="1" dirty="0">
                <a:solidFill>
                  <a:srgbClr val="0000FF"/>
                </a:solidFill>
              </a:rPr>
              <a:t>集中式刷新</a:t>
            </a:r>
            <a:r>
              <a:rPr lang="en-US" altLang="zh-CN" sz="2400" b="1" dirty="0">
                <a:solidFill>
                  <a:srgbClr val="0000FF"/>
                </a:solidFill>
              </a:rPr>
              <a:t>:</a:t>
            </a:r>
            <a:r>
              <a:rPr lang="en-US" altLang="zh-CN" sz="2400" dirty="0"/>
              <a:t>DRAM</a:t>
            </a:r>
            <a:r>
              <a:rPr lang="zh-CN" altLang="en-US" sz="2400" dirty="0"/>
              <a:t>的所有行在每一个刷新周期中都被刷新。</a:t>
            </a:r>
            <a:endParaRPr lang="en-US" altLang="zh-CN" sz="2400" dirty="0"/>
          </a:p>
          <a:p>
            <a:pPr lvl="2">
              <a:lnSpc>
                <a:spcPct val="80000"/>
              </a:lnSpc>
            </a:pPr>
            <a:r>
              <a:rPr lang="zh-CN" altLang="en-US" sz="2000" dirty="0"/>
              <a:t>例如刷新周期为</a:t>
            </a:r>
            <a:r>
              <a:rPr lang="en-US" altLang="zh-CN" sz="2000" dirty="0"/>
              <a:t>8ms</a:t>
            </a:r>
            <a:r>
              <a:rPr lang="zh-CN" altLang="en-US" sz="2000" dirty="0"/>
              <a:t>的内存来说，所有行的集中式刷新必须每隔</a:t>
            </a:r>
            <a:r>
              <a:rPr lang="en-US" altLang="zh-CN" sz="2000" dirty="0"/>
              <a:t>8ms</a:t>
            </a:r>
            <a:r>
              <a:rPr lang="zh-CN" altLang="en-US" sz="2000" dirty="0"/>
              <a:t>进行一次。为此将</a:t>
            </a:r>
            <a:r>
              <a:rPr lang="en-US" altLang="zh-CN" sz="2000" dirty="0"/>
              <a:t>8ms</a:t>
            </a:r>
            <a:r>
              <a:rPr lang="zh-CN" altLang="en-US" sz="2000" dirty="0"/>
              <a:t>时间分为两部分：前一段时间进行正常的读</a:t>
            </a:r>
            <a:r>
              <a:rPr lang="en-US" altLang="zh-CN" sz="2000" dirty="0"/>
              <a:t>/</a:t>
            </a:r>
            <a:r>
              <a:rPr lang="zh-CN" altLang="en-US" sz="2000" dirty="0"/>
              <a:t>写操作，后一段时间（</a:t>
            </a:r>
            <a:r>
              <a:rPr lang="en-US" altLang="zh-CN" sz="2000" dirty="0"/>
              <a:t>8ms</a:t>
            </a:r>
            <a:r>
              <a:rPr lang="zh-CN" altLang="en-US" sz="2000" dirty="0"/>
              <a:t>至正常读</a:t>
            </a:r>
            <a:r>
              <a:rPr lang="en-US" altLang="zh-CN" sz="2000" dirty="0"/>
              <a:t>/</a:t>
            </a:r>
            <a:r>
              <a:rPr lang="zh-CN" altLang="en-US" sz="2000" dirty="0"/>
              <a:t>写周期时间）做为集中刷新操作时间。</a:t>
            </a:r>
            <a:endParaRPr lang="en-US" altLang="zh-CN" sz="2000" dirty="0"/>
          </a:p>
          <a:p>
            <a:pPr lvl="1">
              <a:lnSpc>
                <a:spcPct val="80000"/>
              </a:lnSpc>
            </a:pPr>
            <a:r>
              <a:rPr lang="zh-CN" altLang="en-US" sz="2400" dirty="0">
                <a:solidFill>
                  <a:srgbClr val="FF3300"/>
                </a:solidFill>
              </a:rPr>
              <a:t>分散式刷新</a:t>
            </a:r>
            <a:r>
              <a:rPr lang="en-US" altLang="zh-CN" sz="2400" dirty="0">
                <a:solidFill>
                  <a:srgbClr val="FF3300"/>
                </a:solidFill>
              </a:rPr>
              <a:t>:</a:t>
            </a:r>
            <a:r>
              <a:rPr lang="zh-CN" altLang="en-US" sz="2400" dirty="0"/>
              <a:t>每一行的刷新插入到正常的读</a:t>
            </a:r>
            <a:r>
              <a:rPr lang="en-US" altLang="zh-CN" sz="2400" dirty="0"/>
              <a:t>/</a:t>
            </a:r>
            <a:r>
              <a:rPr lang="zh-CN" altLang="en-US" sz="2400" dirty="0"/>
              <a:t>写周期之中。</a:t>
            </a:r>
            <a:endParaRPr lang="en-US" altLang="zh-CN" sz="2400" dirty="0"/>
          </a:p>
          <a:p>
            <a:pPr lvl="2">
              <a:lnSpc>
                <a:spcPct val="80000"/>
              </a:lnSpc>
            </a:pPr>
            <a:r>
              <a:rPr lang="zh-CN" altLang="en-US" sz="2000" dirty="0"/>
              <a:t>例如</a:t>
            </a:r>
            <a:r>
              <a:rPr lang="en-US" altLang="zh-CN" sz="2000" dirty="0"/>
              <a:t>p70</a:t>
            </a:r>
            <a:r>
              <a:rPr lang="zh-CN" altLang="en-US" sz="2000" dirty="0"/>
              <a:t>图</a:t>
            </a:r>
            <a:r>
              <a:rPr lang="en-US" altLang="zh-CN" sz="2000" dirty="0"/>
              <a:t>3.7</a:t>
            </a:r>
            <a:r>
              <a:rPr lang="zh-CN" altLang="en-US" sz="2000" dirty="0"/>
              <a:t>所示的</a:t>
            </a:r>
            <a:r>
              <a:rPr lang="en-US" altLang="zh-CN" sz="2000" dirty="0"/>
              <a:t>DRAM</a:t>
            </a:r>
            <a:r>
              <a:rPr lang="zh-CN" altLang="en-US" sz="2000" dirty="0"/>
              <a:t>有</a:t>
            </a:r>
            <a:r>
              <a:rPr lang="en-US" altLang="zh-CN" sz="2000" dirty="0"/>
              <a:t>1024</a:t>
            </a:r>
            <a:r>
              <a:rPr lang="zh-CN" altLang="en-US" sz="2000" dirty="0"/>
              <a:t>行，如果刷新周期为</a:t>
            </a:r>
            <a:r>
              <a:rPr lang="en-US" altLang="zh-CN" sz="2000" dirty="0"/>
              <a:t>8ms</a:t>
            </a:r>
            <a:r>
              <a:rPr lang="zh-CN" altLang="en-US" sz="2000" dirty="0"/>
              <a:t>，则每一行必须每隔</a:t>
            </a:r>
            <a:r>
              <a:rPr lang="en-US" altLang="zh-CN" sz="2000" dirty="0"/>
              <a:t>8ms÷1024=7.8us</a:t>
            </a:r>
            <a:r>
              <a:rPr lang="zh-CN" altLang="en-US" sz="2000" dirty="0"/>
              <a:t>进行一次。</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charRg st="165" end="26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charRg st="291" end="35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Text Box 2"/>
          <p:cNvSpPr txBox="1"/>
          <p:nvPr/>
        </p:nvSpPr>
        <p:spPr>
          <a:xfrm>
            <a:off x="900113" y="152400"/>
            <a:ext cx="541020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3600" b="1" dirty="0">
                <a:latin typeface="Times New Roman" panose="02020603050405020304" pitchFamily="18" charset="0"/>
              </a:rPr>
              <a:t> (4)  DRAM </a:t>
            </a:r>
            <a:r>
              <a:rPr lang="zh-CN" altLang="en-US" sz="3600" b="1" dirty="0">
                <a:latin typeface="Times New Roman" panose="02020603050405020304" pitchFamily="18" charset="0"/>
              </a:rPr>
              <a:t>刷新实例</a:t>
            </a:r>
            <a:endParaRPr lang="zh-CN" altLang="en-US" sz="3600" b="1" dirty="0">
              <a:latin typeface="Times New Roman" panose="02020603050405020304" pitchFamily="18" charset="0"/>
            </a:endParaRPr>
          </a:p>
        </p:txBody>
      </p:sp>
      <p:sp>
        <p:nvSpPr>
          <p:cNvPr id="41987" name="Text Box 3"/>
          <p:cNvSpPr txBox="1"/>
          <p:nvPr/>
        </p:nvSpPr>
        <p:spPr>
          <a:xfrm>
            <a:off x="1371600" y="715963"/>
            <a:ext cx="5410200" cy="5794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b="1" dirty="0">
                <a:solidFill>
                  <a:srgbClr val="FF3300"/>
                </a:solidFill>
                <a:latin typeface="Times New Roman" panose="02020603050405020304" pitchFamily="18" charset="0"/>
              </a:rPr>
              <a:t> </a:t>
            </a:r>
            <a:r>
              <a:rPr lang="zh-CN" altLang="en-US" b="1" dirty="0">
                <a:solidFill>
                  <a:srgbClr val="FF3300"/>
                </a:solidFill>
                <a:latin typeface="Times New Roman" panose="02020603050405020304" pitchFamily="18" charset="0"/>
              </a:rPr>
              <a:t>刷新与行地址有关</a:t>
            </a:r>
            <a:endParaRPr lang="zh-CN" altLang="en-US" b="1" dirty="0">
              <a:solidFill>
                <a:srgbClr val="FF3300"/>
              </a:solidFill>
              <a:latin typeface="Times New Roman" panose="02020603050405020304" pitchFamily="18" charset="0"/>
            </a:endParaRPr>
          </a:p>
        </p:txBody>
      </p:sp>
      <p:grpSp>
        <p:nvGrpSpPr>
          <p:cNvPr id="41988" name="Group 4"/>
          <p:cNvGrpSpPr/>
          <p:nvPr/>
        </p:nvGrpSpPr>
        <p:grpSpPr>
          <a:xfrm>
            <a:off x="914400" y="1309688"/>
            <a:ext cx="6172200" cy="457200"/>
            <a:chOff x="624" y="825"/>
            <a:chExt cx="3888" cy="288"/>
          </a:xfrm>
        </p:grpSpPr>
        <p:sp>
          <p:nvSpPr>
            <p:cNvPr id="42107" name="Text Box 5"/>
            <p:cNvSpPr txBox="1"/>
            <p:nvPr/>
          </p:nvSpPr>
          <p:spPr>
            <a:xfrm>
              <a:off x="624" y="825"/>
              <a:ext cx="1776"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solidFill>
                    <a:srgbClr val="0000FF"/>
                  </a:solidFill>
                  <a:latin typeface="Times New Roman" panose="02020603050405020304" pitchFamily="18" charset="0"/>
                  <a:ea typeface="楷体_GB2312" pitchFamily="49" charset="-122"/>
                </a:rPr>
                <a:t>① </a:t>
              </a:r>
              <a:r>
                <a:rPr lang="zh-CN" altLang="en-US" sz="2400" b="1" dirty="0">
                  <a:solidFill>
                    <a:srgbClr val="0000FF"/>
                  </a:solidFill>
                  <a:latin typeface="Times New Roman" panose="02020603050405020304" pitchFamily="18" charset="0"/>
                  <a:ea typeface="楷体_GB2312" pitchFamily="49" charset="-122"/>
                </a:rPr>
                <a:t>集中刷新</a:t>
              </a:r>
              <a:endParaRPr lang="zh-CN" altLang="en-US" sz="2400" b="1" dirty="0">
                <a:solidFill>
                  <a:srgbClr val="0000FF"/>
                </a:solidFill>
                <a:latin typeface="Times New Roman" panose="02020603050405020304" pitchFamily="18" charset="0"/>
                <a:ea typeface="楷体_GB2312" pitchFamily="49" charset="-122"/>
              </a:endParaRPr>
            </a:p>
          </p:txBody>
        </p:sp>
        <p:sp>
          <p:nvSpPr>
            <p:cNvPr id="42108" name="Text Box 6"/>
            <p:cNvSpPr txBox="1"/>
            <p:nvPr/>
          </p:nvSpPr>
          <p:spPr>
            <a:xfrm>
              <a:off x="1728" y="825"/>
              <a:ext cx="2784"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ea typeface="楷体_GB2312" pitchFamily="49" charset="-122"/>
                </a:rPr>
                <a:t>（存取周期为</a:t>
              </a:r>
              <a:r>
                <a:rPr lang="en-US" altLang="zh-CN" sz="2400" b="1" dirty="0">
                  <a:latin typeface="Times New Roman" panose="02020603050405020304" pitchFamily="18" charset="0"/>
                  <a:ea typeface="楷体_GB2312" pitchFamily="49" charset="-122"/>
                </a:rPr>
                <a:t>0.5 </a:t>
              </a:r>
              <a:r>
                <a:rPr lang="en-US" altLang="zh-CN" sz="2400" b="1" dirty="0">
                  <a:latin typeface="宋体" panose="02010600030101010101" pitchFamily="2" charset="-122"/>
                  <a:ea typeface="楷体_GB2312" pitchFamily="49" charset="-122"/>
                  <a:sym typeface="Symbol" panose="05050102010706020507" pitchFamily="18" charset="2"/>
                </a:rPr>
                <a:t></a:t>
              </a:r>
              <a:r>
                <a:rPr lang="en-US" altLang="zh-CN" sz="2400" b="1" dirty="0">
                  <a:latin typeface="宋体" panose="02010600030101010101" pitchFamily="2" charset="-122"/>
                  <a:ea typeface="楷体_GB2312" pitchFamily="49" charset="-122"/>
                </a:rPr>
                <a:t>s</a:t>
              </a:r>
              <a:r>
                <a:rPr lang="en-US" altLang="zh-CN" sz="800" b="1" dirty="0">
                  <a:latin typeface="宋体" panose="02010600030101010101" pitchFamily="2" charset="-122"/>
                  <a:ea typeface="楷体_GB2312" pitchFamily="49" charset="-122"/>
                </a:rPr>
                <a:t> </a:t>
              </a:r>
              <a:r>
                <a:rPr lang="zh-CN" altLang="en-US" sz="2400" b="1" dirty="0">
                  <a:latin typeface="Times New Roman" panose="02020603050405020304" pitchFamily="18" charset="0"/>
                  <a:ea typeface="楷体_GB2312" pitchFamily="49" charset="-122"/>
                </a:rPr>
                <a:t>）</a:t>
              </a:r>
              <a:endParaRPr lang="zh-CN" altLang="en-US" sz="2400" b="1" dirty="0">
                <a:latin typeface="Times New Roman" panose="02020603050405020304" pitchFamily="18" charset="0"/>
                <a:ea typeface="楷体_GB2312" pitchFamily="49" charset="-122"/>
              </a:endParaRPr>
            </a:p>
          </p:txBody>
        </p:sp>
      </p:grpSp>
      <p:sp>
        <p:nvSpPr>
          <p:cNvPr id="41989" name="Text Box 7"/>
          <p:cNvSpPr txBox="1"/>
          <p:nvPr/>
        </p:nvSpPr>
        <p:spPr>
          <a:xfrm>
            <a:off x="914400" y="6172200"/>
            <a:ext cx="7696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3300"/>
                </a:solidFill>
                <a:latin typeface="Times New Roman" panose="02020603050405020304" pitchFamily="18" charset="0"/>
              </a:rPr>
              <a:t>“死时间率”</a:t>
            </a:r>
            <a:r>
              <a:rPr lang="en-US" altLang="zh-CN" sz="2800" b="1" dirty="0">
                <a:solidFill>
                  <a:srgbClr val="FF3300"/>
                </a:solidFill>
                <a:latin typeface="Times New Roman" panose="02020603050405020304" pitchFamily="18" charset="0"/>
              </a:rPr>
              <a:t> </a:t>
            </a:r>
            <a:r>
              <a:rPr lang="zh-CN" altLang="en-US" sz="2800" b="1" dirty="0">
                <a:solidFill>
                  <a:srgbClr val="FF3300"/>
                </a:solidFill>
                <a:latin typeface="Times New Roman" panose="02020603050405020304" pitchFamily="18" charset="0"/>
              </a:rPr>
              <a:t>为</a:t>
            </a:r>
            <a:r>
              <a:rPr lang="en-US" altLang="zh-CN" sz="2800" b="1" dirty="0">
                <a:solidFill>
                  <a:srgbClr val="FF3300"/>
                </a:solidFill>
                <a:latin typeface="Times New Roman" panose="02020603050405020304" pitchFamily="18" charset="0"/>
              </a:rPr>
              <a:t>     128/4 000</a:t>
            </a:r>
            <a:r>
              <a:rPr lang="en-US" altLang="zh-CN" sz="2800" b="1" dirty="0">
                <a:solidFill>
                  <a:srgbClr val="FF3300"/>
                </a:solidFill>
                <a:latin typeface="Times New Roman" panose="02020603050405020304" pitchFamily="18" charset="0"/>
                <a:cs typeface="Times New Roman" panose="02020603050405020304" pitchFamily="18" charset="0"/>
              </a:rPr>
              <a:t> ×100% = 3.2%</a:t>
            </a:r>
            <a:endParaRPr lang="en-US" altLang="zh-CN" sz="2800" b="1" dirty="0">
              <a:solidFill>
                <a:srgbClr val="FF3300"/>
              </a:solidFill>
              <a:latin typeface="Times New Roman" panose="02020603050405020304" pitchFamily="18" charset="0"/>
              <a:ea typeface="Times New Roman" panose="02020603050405020304" pitchFamily="18" charset="0"/>
            </a:endParaRPr>
          </a:p>
        </p:txBody>
      </p:sp>
      <p:sp>
        <p:nvSpPr>
          <p:cNvPr id="41990" name="Text Box 8"/>
          <p:cNvSpPr txBox="1"/>
          <p:nvPr/>
        </p:nvSpPr>
        <p:spPr>
          <a:xfrm>
            <a:off x="1633538" y="5653088"/>
            <a:ext cx="7239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3300"/>
                </a:solidFill>
                <a:latin typeface="Times New Roman" panose="02020603050405020304" pitchFamily="18" charset="0"/>
              </a:rPr>
              <a:t>“死区”</a:t>
            </a:r>
            <a:r>
              <a:rPr lang="en-US" altLang="zh-CN" sz="2800" b="1" dirty="0">
                <a:solidFill>
                  <a:srgbClr val="FF3300"/>
                </a:solidFill>
                <a:latin typeface="Times New Roman" panose="02020603050405020304" pitchFamily="18" charset="0"/>
              </a:rPr>
              <a:t> </a:t>
            </a:r>
            <a:r>
              <a:rPr lang="zh-CN" altLang="en-US" sz="2800" b="1" dirty="0">
                <a:solidFill>
                  <a:srgbClr val="FF3300"/>
                </a:solidFill>
                <a:latin typeface="Times New Roman" panose="02020603050405020304" pitchFamily="18" charset="0"/>
              </a:rPr>
              <a:t>为</a:t>
            </a:r>
            <a:r>
              <a:rPr lang="en-US" altLang="zh-CN" sz="2800" b="1" dirty="0">
                <a:solidFill>
                  <a:srgbClr val="FF3300"/>
                </a:solidFill>
                <a:latin typeface="Times New Roman" panose="02020603050405020304" pitchFamily="18" charset="0"/>
              </a:rPr>
              <a:t>     0.5 </a:t>
            </a:r>
            <a:r>
              <a:rPr lang="en-US" altLang="zh-CN" sz="2800" b="1" dirty="0">
                <a:solidFill>
                  <a:srgbClr val="FF3300"/>
                </a:solidFill>
                <a:latin typeface="宋体" panose="02010600030101010101" pitchFamily="2" charset="-122"/>
                <a:sym typeface="Symbol" panose="05050102010706020507" pitchFamily="18" charset="2"/>
              </a:rPr>
              <a:t></a:t>
            </a:r>
            <a:r>
              <a:rPr lang="en-US" altLang="zh-CN" sz="2800" b="1" dirty="0">
                <a:solidFill>
                  <a:srgbClr val="FF3300"/>
                </a:solidFill>
                <a:latin typeface="宋体" panose="02010600030101010101" pitchFamily="2" charset="-122"/>
              </a:rPr>
              <a:t>s</a:t>
            </a:r>
            <a:r>
              <a:rPr lang="en-US" altLang="zh-CN" sz="800" b="1" dirty="0">
                <a:solidFill>
                  <a:srgbClr val="FF3300"/>
                </a:solidFill>
                <a:latin typeface="宋体" panose="02010600030101010101" pitchFamily="2" charset="-122"/>
              </a:rPr>
              <a:t> </a:t>
            </a:r>
            <a:r>
              <a:rPr lang="en-US" altLang="zh-CN" sz="2800" b="1" dirty="0">
                <a:solidFill>
                  <a:srgbClr val="FF3300"/>
                </a:solidFill>
                <a:latin typeface="Times New Roman" panose="02020603050405020304" pitchFamily="18" charset="0"/>
                <a:cs typeface="Times New Roman" panose="02020603050405020304" pitchFamily="18" charset="0"/>
              </a:rPr>
              <a:t>×128 = 64 </a:t>
            </a:r>
            <a:r>
              <a:rPr lang="en-US" altLang="zh-CN" sz="2800" b="1" dirty="0">
                <a:solidFill>
                  <a:srgbClr val="FF3300"/>
                </a:solidFill>
                <a:latin typeface="宋体" panose="02010600030101010101" pitchFamily="2" charset="-122"/>
                <a:cs typeface="Times New Roman" panose="02020603050405020304" pitchFamily="18" charset="0"/>
                <a:sym typeface="Symbol" panose="05050102010706020507" pitchFamily="18" charset="2"/>
              </a:rPr>
              <a:t></a:t>
            </a:r>
            <a:r>
              <a:rPr lang="en-US" altLang="zh-CN" sz="2800" b="1" dirty="0">
                <a:solidFill>
                  <a:srgbClr val="FF3300"/>
                </a:solidFill>
                <a:latin typeface="宋体" panose="02010600030101010101" pitchFamily="2" charset="-122"/>
                <a:cs typeface="Times New Roman" panose="02020603050405020304" pitchFamily="18" charset="0"/>
              </a:rPr>
              <a:t>s</a:t>
            </a:r>
            <a:r>
              <a:rPr lang="en-US" altLang="zh-CN" sz="800" b="1" dirty="0">
                <a:solidFill>
                  <a:srgbClr val="FF3300"/>
                </a:solidFill>
                <a:latin typeface="宋体" panose="02010600030101010101" pitchFamily="2" charset="-122"/>
                <a:cs typeface="Times New Roman" panose="02020603050405020304" pitchFamily="18" charset="0"/>
              </a:rPr>
              <a:t> </a:t>
            </a:r>
            <a:endParaRPr lang="en-US" altLang="zh-CN" sz="800" b="1" dirty="0">
              <a:solidFill>
                <a:srgbClr val="FF3300"/>
              </a:solidFill>
              <a:latin typeface="宋体" panose="02010600030101010101" pitchFamily="2" charset="-122"/>
              <a:ea typeface="Times New Roman" panose="02020603050405020304" pitchFamily="18" charset="0"/>
            </a:endParaRPr>
          </a:p>
        </p:txBody>
      </p:sp>
      <p:grpSp>
        <p:nvGrpSpPr>
          <p:cNvPr id="41991" name="Group 127"/>
          <p:cNvGrpSpPr/>
          <p:nvPr/>
        </p:nvGrpSpPr>
        <p:grpSpPr>
          <a:xfrm>
            <a:off x="615950" y="1981200"/>
            <a:ext cx="7934325" cy="3619500"/>
            <a:chOff x="388" y="1248"/>
            <a:chExt cx="4998" cy="2280"/>
          </a:xfrm>
        </p:grpSpPr>
        <p:sp>
          <p:nvSpPr>
            <p:cNvPr id="41993" name="Line 10"/>
            <p:cNvSpPr/>
            <p:nvPr/>
          </p:nvSpPr>
          <p:spPr>
            <a:xfrm flipV="1">
              <a:off x="3216" y="1271"/>
              <a:ext cx="1" cy="1811"/>
            </a:xfrm>
            <a:prstGeom prst="line">
              <a:avLst/>
            </a:prstGeom>
            <a:ln w="38100" cap="flat" cmpd="sng">
              <a:solidFill>
                <a:schemeClr val="tx1"/>
              </a:solidFill>
              <a:prstDash val="solid"/>
              <a:headEnd type="none" w="med" len="med"/>
              <a:tailEnd type="none" w="med" len="med"/>
            </a:ln>
          </p:spPr>
        </p:sp>
        <p:sp>
          <p:nvSpPr>
            <p:cNvPr id="41994" name="Rectangle 11"/>
            <p:cNvSpPr/>
            <p:nvPr/>
          </p:nvSpPr>
          <p:spPr>
            <a:xfrm>
              <a:off x="581" y="1662"/>
              <a:ext cx="532" cy="271"/>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1995" name="Rectangle 12"/>
            <p:cNvSpPr/>
            <p:nvPr/>
          </p:nvSpPr>
          <p:spPr>
            <a:xfrm>
              <a:off x="388" y="1661"/>
              <a:ext cx="612"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900" b="1" dirty="0">
                  <a:latin typeface="宋体" panose="02010600030101010101" pitchFamily="2" charset="-122"/>
                </a:rPr>
                <a:t>周期序号</a:t>
              </a:r>
              <a:endParaRPr lang="zh-CN" altLang="en-US" sz="2400" b="1" dirty="0">
                <a:latin typeface="Times New Roman" panose="02020603050405020304" pitchFamily="18" charset="0"/>
              </a:endParaRPr>
            </a:p>
          </p:txBody>
        </p:sp>
        <p:sp>
          <p:nvSpPr>
            <p:cNvPr id="41996" name="Rectangle 13"/>
            <p:cNvSpPr/>
            <p:nvPr/>
          </p:nvSpPr>
          <p:spPr>
            <a:xfrm>
              <a:off x="527" y="2647"/>
              <a:ext cx="546" cy="27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1997" name="Rectangle 14"/>
            <p:cNvSpPr/>
            <p:nvPr/>
          </p:nvSpPr>
          <p:spPr>
            <a:xfrm>
              <a:off x="388" y="2478"/>
              <a:ext cx="612"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900" b="1" dirty="0">
                  <a:latin typeface="宋体" panose="02010600030101010101" pitchFamily="2" charset="-122"/>
                </a:rPr>
                <a:t>地址序号</a:t>
              </a:r>
              <a:endParaRPr lang="zh-CN" altLang="en-US" sz="2400" b="1" dirty="0">
                <a:latin typeface="Times New Roman" panose="02020603050405020304" pitchFamily="18" charset="0"/>
              </a:endParaRPr>
            </a:p>
          </p:txBody>
        </p:sp>
        <p:sp>
          <p:nvSpPr>
            <p:cNvPr id="41998" name="Line 15"/>
            <p:cNvSpPr/>
            <p:nvPr/>
          </p:nvSpPr>
          <p:spPr>
            <a:xfrm>
              <a:off x="1164" y="1248"/>
              <a:ext cx="1" cy="2274"/>
            </a:xfrm>
            <a:prstGeom prst="line">
              <a:avLst/>
            </a:prstGeom>
            <a:ln w="38100" cap="flat" cmpd="sng">
              <a:solidFill>
                <a:schemeClr val="tx1"/>
              </a:solidFill>
              <a:prstDash val="solid"/>
              <a:headEnd type="none" w="med" len="med"/>
              <a:tailEnd type="none" w="med" len="med"/>
            </a:ln>
          </p:spPr>
        </p:sp>
        <p:sp>
          <p:nvSpPr>
            <p:cNvPr id="41999" name="Freeform 16"/>
            <p:cNvSpPr/>
            <p:nvPr/>
          </p:nvSpPr>
          <p:spPr>
            <a:xfrm>
              <a:off x="1170" y="1821"/>
              <a:ext cx="1188" cy="1"/>
            </a:xfrm>
            <a:custGeom>
              <a:avLst/>
              <a:gdLst>
                <a:gd name="txL" fmla="*/ 0 w 1188"/>
                <a:gd name="txT" fmla="*/ 0 h 1"/>
                <a:gd name="txR" fmla="*/ 1188 w 1188"/>
                <a:gd name="txB" fmla="*/ 1 h 1"/>
              </a:gdLst>
              <a:ahLst/>
              <a:cxnLst>
                <a:cxn ang="0">
                  <a:pos x="0" y="1"/>
                </a:cxn>
                <a:cxn ang="0">
                  <a:pos x="1188" y="0"/>
                </a:cxn>
              </a:cxnLst>
              <a:rect l="txL" t="txT" r="txR" b="txB"/>
              <a:pathLst>
                <a:path w="1188" h="1">
                  <a:moveTo>
                    <a:pt x="0" y="1"/>
                  </a:moveTo>
                  <a:lnTo>
                    <a:pt x="1188" y="0"/>
                  </a:lnTo>
                </a:path>
              </a:pathLst>
            </a:custGeom>
            <a:solidFill>
              <a:srgbClr val="FFFFFF">
                <a:alpha val="100000"/>
              </a:srgbClr>
            </a:solid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2000" name="Rectangle 17"/>
            <p:cNvSpPr/>
            <p:nvPr/>
          </p:nvSpPr>
          <p:spPr>
            <a:xfrm>
              <a:off x="4087" y="2096"/>
              <a:ext cx="226" cy="324"/>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01" name="Rectangle 18"/>
            <p:cNvSpPr/>
            <p:nvPr/>
          </p:nvSpPr>
          <p:spPr>
            <a:xfrm>
              <a:off x="4167" y="2148"/>
              <a:ext cx="42"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900" b="1" i="1" dirty="0">
                  <a:latin typeface="Times New Roman" panose="02020603050405020304" pitchFamily="18" charset="0"/>
                </a:rPr>
                <a:t>t</a:t>
              </a:r>
              <a:endParaRPr lang="en-US" altLang="zh-CN" sz="2400" b="1" i="1" dirty="0">
                <a:latin typeface="Times New Roman" panose="02020603050405020304" pitchFamily="18" charset="0"/>
              </a:endParaRPr>
            </a:p>
          </p:txBody>
        </p:sp>
        <p:sp>
          <p:nvSpPr>
            <p:cNvPr id="42002" name="Rectangle 19"/>
            <p:cNvSpPr/>
            <p:nvPr/>
          </p:nvSpPr>
          <p:spPr>
            <a:xfrm>
              <a:off x="4213" y="2238"/>
              <a:ext cx="43"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200" b="1" dirty="0">
                  <a:latin typeface="Times New Roman" panose="02020603050405020304" pitchFamily="18" charset="0"/>
                </a:rPr>
                <a:t>c</a:t>
              </a:r>
              <a:endParaRPr lang="en-US" altLang="zh-CN" sz="2400" b="1" dirty="0">
                <a:latin typeface="Times New Roman" panose="02020603050405020304" pitchFamily="18" charset="0"/>
              </a:endParaRPr>
            </a:p>
          </p:txBody>
        </p:sp>
        <p:sp>
          <p:nvSpPr>
            <p:cNvPr id="42003" name="Rectangle 20"/>
            <p:cNvSpPr/>
            <p:nvPr/>
          </p:nvSpPr>
          <p:spPr>
            <a:xfrm>
              <a:off x="1301" y="1629"/>
              <a:ext cx="146" cy="269"/>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04" name="Rectangle 21"/>
            <p:cNvSpPr/>
            <p:nvPr/>
          </p:nvSpPr>
          <p:spPr>
            <a:xfrm>
              <a:off x="1219" y="1649"/>
              <a:ext cx="64"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42005" name="Rectangle 22"/>
            <p:cNvSpPr/>
            <p:nvPr/>
          </p:nvSpPr>
          <p:spPr>
            <a:xfrm>
              <a:off x="1473" y="1619"/>
              <a:ext cx="148" cy="269"/>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06" name="Rectangle 23"/>
            <p:cNvSpPr/>
            <p:nvPr/>
          </p:nvSpPr>
          <p:spPr>
            <a:xfrm>
              <a:off x="1390" y="1649"/>
              <a:ext cx="64"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1</a:t>
              </a:r>
              <a:endParaRPr lang="en-US" altLang="zh-CN" sz="2400" b="1" dirty="0">
                <a:latin typeface="Times New Roman" panose="02020603050405020304" pitchFamily="18" charset="0"/>
              </a:endParaRPr>
            </a:p>
          </p:txBody>
        </p:sp>
        <p:sp>
          <p:nvSpPr>
            <p:cNvPr id="42007" name="Rectangle 24"/>
            <p:cNvSpPr/>
            <p:nvPr/>
          </p:nvSpPr>
          <p:spPr>
            <a:xfrm>
              <a:off x="1659" y="1629"/>
              <a:ext cx="146" cy="269"/>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08" name="Rectangle 25"/>
            <p:cNvSpPr/>
            <p:nvPr/>
          </p:nvSpPr>
          <p:spPr>
            <a:xfrm>
              <a:off x="1577" y="1649"/>
              <a:ext cx="64"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2</a:t>
              </a:r>
              <a:endParaRPr lang="en-US" altLang="zh-CN" sz="2400" b="1" dirty="0">
                <a:latin typeface="Times New Roman" panose="02020603050405020304" pitchFamily="18" charset="0"/>
              </a:endParaRPr>
            </a:p>
          </p:txBody>
        </p:sp>
        <p:sp>
          <p:nvSpPr>
            <p:cNvPr id="42009" name="Rectangle 26"/>
            <p:cNvSpPr/>
            <p:nvPr/>
          </p:nvSpPr>
          <p:spPr>
            <a:xfrm>
              <a:off x="2429" y="1593"/>
              <a:ext cx="213" cy="305"/>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10" name="Rectangle 27"/>
            <p:cNvSpPr/>
            <p:nvPr/>
          </p:nvSpPr>
          <p:spPr>
            <a:xfrm>
              <a:off x="2951" y="1644"/>
              <a:ext cx="256"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3871</a:t>
              </a:r>
              <a:endParaRPr lang="en-US" altLang="zh-CN" sz="2400" b="1" dirty="0">
                <a:latin typeface="Times New Roman" panose="02020603050405020304" pitchFamily="18" charset="0"/>
              </a:endParaRPr>
            </a:p>
          </p:txBody>
        </p:sp>
        <p:sp>
          <p:nvSpPr>
            <p:cNvPr id="42011" name="Rectangle 28"/>
            <p:cNvSpPr/>
            <p:nvPr/>
          </p:nvSpPr>
          <p:spPr>
            <a:xfrm>
              <a:off x="3216" y="1593"/>
              <a:ext cx="227" cy="295"/>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12" name="Rectangle 29"/>
            <p:cNvSpPr/>
            <p:nvPr/>
          </p:nvSpPr>
          <p:spPr>
            <a:xfrm>
              <a:off x="3259" y="1644"/>
              <a:ext cx="256"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3872</a:t>
              </a:r>
              <a:endParaRPr lang="en-US" altLang="zh-CN" sz="2400" b="1" dirty="0">
                <a:latin typeface="Times New Roman" panose="02020603050405020304" pitchFamily="18" charset="0"/>
              </a:endParaRPr>
            </a:p>
          </p:txBody>
        </p:sp>
        <p:sp>
          <p:nvSpPr>
            <p:cNvPr id="42013" name="Rectangle 30"/>
            <p:cNvSpPr/>
            <p:nvPr/>
          </p:nvSpPr>
          <p:spPr>
            <a:xfrm>
              <a:off x="4308" y="1556"/>
              <a:ext cx="148" cy="27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14" name="Rectangle 31"/>
            <p:cNvSpPr/>
            <p:nvPr/>
          </p:nvSpPr>
          <p:spPr>
            <a:xfrm>
              <a:off x="4356" y="1651"/>
              <a:ext cx="64"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42015" name="Rectangle 32"/>
            <p:cNvSpPr/>
            <p:nvPr/>
          </p:nvSpPr>
          <p:spPr>
            <a:xfrm>
              <a:off x="4525" y="1556"/>
              <a:ext cx="146" cy="27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16" name="Rectangle 33"/>
            <p:cNvSpPr/>
            <p:nvPr/>
          </p:nvSpPr>
          <p:spPr>
            <a:xfrm>
              <a:off x="4572" y="1651"/>
              <a:ext cx="64"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1</a:t>
              </a:r>
              <a:endParaRPr lang="en-US" altLang="zh-CN" sz="2400" b="1" dirty="0">
                <a:latin typeface="Times New Roman" panose="02020603050405020304" pitchFamily="18" charset="0"/>
              </a:endParaRPr>
            </a:p>
          </p:txBody>
        </p:sp>
        <p:sp>
          <p:nvSpPr>
            <p:cNvPr id="42017" name="Freeform 34"/>
            <p:cNvSpPr/>
            <p:nvPr/>
          </p:nvSpPr>
          <p:spPr>
            <a:xfrm>
              <a:off x="2796" y="1991"/>
              <a:ext cx="1" cy="703"/>
            </a:xfrm>
            <a:custGeom>
              <a:avLst/>
              <a:gdLst>
                <a:gd name="txL" fmla="*/ 0 w 1"/>
                <a:gd name="txT" fmla="*/ 0 h 703"/>
                <a:gd name="txR" fmla="*/ 1 w 1"/>
                <a:gd name="txB" fmla="*/ 703 h 703"/>
              </a:gdLst>
              <a:ahLst/>
              <a:cxnLst>
                <a:cxn ang="0">
                  <a:pos x="0" y="0"/>
                </a:cxn>
                <a:cxn ang="0">
                  <a:pos x="0" y="703"/>
                </a:cxn>
              </a:cxnLst>
              <a:rect l="txL" t="txT" r="txR" b="txB"/>
              <a:pathLst>
                <a:path w="1" h="703">
                  <a:moveTo>
                    <a:pt x="0" y="0"/>
                  </a:moveTo>
                  <a:lnTo>
                    <a:pt x="0" y="703"/>
                  </a:lnTo>
                </a:path>
              </a:pathLst>
            </a:custGeom>
            <a:solidFill>
              <a:srgbClr val="FFFFFF">
                <a:alpha val="100000"/>
              </a:srgbClr>
            </a:solidFill>
            <a:ln w="19050" cap="flat" cmpd="sng">
              <a:solidFill>
                <a:schemeClr val="tx1">
                  <a:alpha val="100000"/>
                </a:schemeClr>
              </a:solidFill>
              <a:prstDash val="solid"/>
              <a:round/>
              <a:headEnd type="none" w="med" len="med"/>
              <a:tailEnd type="none" w="med" len="med"/>
            </a:ln>
          </p:spPr>
          <p:txBody>
            <a:bodyPr/>
            <a:p>
              <a:endParaRPr lang="zh-CN" altLang="en-US"/>
            </a:p>
          </p:txBody>
        </p:sp>
        <p:sp>
          <p:nvSpPr>
            <p:cNvPr id="42018" name="Rectangle 35"/>
            <p:cNvSpPr/>
            <p:nvPr/>
          </p:nvSpPr>
          <p:spPr>
            <a:xfrm>
              <a:off x="2855" y="2148"/>
              <a:ext cx="42"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900" b="1" i="1" dirty="0">
                  <a:latin typeface="Times New Roman" panose="02020603050405020304" pitchFamily="18" charset="0"/>
                </a:rPr>
                <a:t>t</a:t>
              </a:r>
              <a:endParaRPr lang="en-US" altLang="zh-CN" sz="2400" b="1" i="1" dirty="0">
                <a:latin typeface="Times New Roman" panose="02020603050405020304" pitchFamily="18" charset="0"/>
              </a:endParaRPr>
            </a:p>
          </p:txBody>
        </p:sp>
        <p:sp>
          <p:nvSpPr>
            <p:cNvPr id="42019" name="Rectangle 36"/>
            <p:cNvSpPr/>
            <p:nvPr/>
          </p:nvSpPr>
          <p:spPr>
            <a:xfrm>
              <a:off x="2914" y="2238"/>
              <a:ext cx="43"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200" b="1" dirty="0">
                  <a:latin typeface="Times New Roman" panose="02020603050405020304" pitchFamily="18" charset="0"/>
                </a:rPr>
                <a:t>c</a:t>
              </a:r>
              <a:endParaRPr lang="en-US" altLang="zh-CN" sz="2400" b="1" dirty="0">
                <a:latin typeface="Times New Roman" panose="02020603050405020304" pitchFamily="18" charset="0"/>
              </a:endParaRPr>
            </a:p>
          </p:txBody>
        </p:sp>
        <p:sp>
          <p:nvSpPr>
            <p:cNvPr id="42020" name="Rectangle 37"/>
            <p:cNvSpPr/>
            <p:nvPr/>
          </p:nvSpPr>
          <p:spPr>
            <a:xfrm>
              <a:off x="3070" y="2148"/>
              <a:ext cx="42"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900" b="1" i="1" dirty="0">
                  <a:latin typeface="Times New Roman" panose="02020603050405020304" pitchFamily="18" charset="0"/>
                </a:rPr>
                <a:t>t</a:t>
              </a:r>
              <a:endParaRPr lang="en-US" altLang="zh-CN" sz="2400" b="1" i="1" dirty="0">
                <a:latin typeface="Times New Roman" panose="02020603050405020304" pitchFamily="18" charset="0"/>
              </a:endParaRPr>
            </a:p>
          </p:txBody>
        </p:sp>
        <p:sp>
          <p:nvSpPr>
            <p:cNvPr id="42021" name="Rectangle 38"/>
            <p:cNvSpPr/>
            <p:nvPr/>
          </p:nvSpPr>
          <p:spPr>
            <a:xfrm>
              <a:off x="3129" y="2238"/>
              <a:ext cx="43"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200" b="1" dirty="0">
                  <a:latin typeface="Times New Roman" panose="02020603050405020304" pitchFamily="18" charset="0"/>
                </a:rPr>
                <a:t>c</a:t>
              </a:r>
              <a:endParaRPr lang="en-US" altLang="zh-CN" sz="2400" b="1" dirty="0">
                <a:latin typeface="Times New Roman" panose="02020603050405020304" pitchFamily="18" charset="0"/>
              </a:endParaRPr>
            </a:p>
          </p:txBody>
        </p:sp>
        <p:sp>
          <p:nvSpPr>
            <p:cNvPr id="42022" name="Rectangle 39"/>
            <p:cNvSpPr/>
            <p:nvPr/>
          </p:nvSpPr>
          <p:spPr>
            <a:xfrm>
              <a:off x="3213" y="2096"/>
              <a:ext cx="227" cy="324"/>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23" name="Rectangle 40"/>
            <p:cNvSpPr/>
            <p:nvPr/>
          </p:nvSpPr>
          <p:spPr>
            <a:xfrm>
              <a:off x="3282" y="2148"/>
              <a:ext cx="42"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900" b="1" i="1" dirty="0">
                  <a:latin typeface="Times New Roman" panose="02020603050405020304" pitchFamily="18" charset="0"/>
                </a:rPr>
                <a:t>t</a:t>
              </a:r>
              <a:endParaRPr lang="en-US" altLang="zh-CN" sz="2400" b="1" i="1" dirty="0">
                <a:latin typeface="Times New Roman" panose="02020603050405020304" pitchFamily="18" charset="0"/>
              </a:endParaRPr>
            </a:p>
          </p:txBody>
        </p:sp>
        <p:sp>
          <p:nvSpPr>
            <p:cNvPr id="42024" name="Rectangle 41"/>
            <p:cNvSpPr/>
            <p:nvPr/>
          </p:nvSpPr>
          <p:spPr>
            <a:xfrm>
              <a:off x="3335" y="2238"/>
              <a:ext cx="43"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200" b="1" dirty="0">
                  <a:latin typeface="Times New Roman" panose="02020603050405020304" pitchFamily="18" charset="0"/>
                </a:rPr>
                <a:t>c</a:t>
              </a:r>
              <a:endParaRPr lang="en-US" altLang="zh-CN" sz="2400" b="1" dirty="0">
                <a:latin typeface="Times New Roman" panose="02020603050405020304" pitchFamily="18" charset="0"/>
              </a:endParaRPr>
            </a:p>
          </p:txBody>
        </p:sp>
        <p:sp>
          <p:nvSpPr>
            <p:cNvPr id="42025" name="Rectangle 42"/>
            <p:cNvSpPr/>
            <p:nvPr/>
          </p:nvSpPr>
          <p:spPr>
            <a:xfrm>
              <a:off x="3418" y="2096"/>
              <a:ext cx="226" cy="324"/>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26" name="Rectangle 43"/>
            <p:cNvSpPr/>
            <p:nvPr/>
          </p:nvSpPr>
          <p:spPr>
            <a:xfrm>
              <a:off x="3484" y="2148"/>
              <a:ext cx="42"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900" b="1" i="1" dirty="0">
                  <a:latin typeface="Times New Roman" panose="02020603050405020304" pitchFamily="18" charset="0"/>
                </a:rPr>
                <a:t>t</a:t>
              </a:r>
              <a:endParaRPr lang="en-US" altLang="zh-CN" sz="2400" b="1" i="1" dirty="0">
                <a:latin typeface="Times New Roman" panose="02020603050405020304" pitchFamily="18" charset="0"/>
              </a:endParaRPr>
            </a:p>
          </p:txBody>
        </p:sp>
        <p:sp>
          <p:nvSpPr>
            <p:cNvPr id="42027" name="Rectangle 44"/>
            <p:cNvSpPr/>
            <p:nvPr/>
          </p:nvSpPr>
          <p:spPr>
            <a:xfrm>
              <a:off x="3544" y="2238"/>
              <a:ext cx="43"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200" b="1" dirty="0">
                  <a:latin typeface="Times New Roman" panose="02020603050405020304" pitchFamily="18" charset="0"/>
                </a:rPr>
                <a:t>c</a:t>
              </a:r>
              <a:endParaRPr lang="en-US" altLang="zh-CN" sz="2400" b="1" dirty="0">
                <a:latin typeface="Times New Roman" panose="02020603050405020304" pitchFamily="18" charset="0"/>
              </a:endParaRPr>
            </a:p>
          </p:txBody>
        </p:sp>
        <p:sp>
          <p:nvSpPr>
            <p:cNvPr id="42028" name="Line 45"/>
            <p:cNvSpPr/>
            <p:nvPr/>
          </p:nvSpPr>
          <p:spPr>
            <a:xfrm flipH="1">
              <a:off x="4098" y="1988"/>
              <a:ext cx="0" cy="706"/>
            </a:xfrm>
            <a:prstGeom prst="line">
              <a:avLst/>
            </a:prstGeom>
            <a:ln w="19050" cap="flat" cmpd="sng">
              <a:solidFill>
                <a:schemeClr val="tx1"/>
              </a:solidFill>
              <a:prstDash val="solid"/>
              <a:headEnd type="none" w="med" len="med"/>
              <a:tailEnd type="none" w="med" len="med"/>
            </a:ln>
          </p:spPr>
        </p:sp>
        <p:sp>
          <p:nvSpPr>
            <p:cNvPr id="42029" name="Line 46"/>
            <p:cNvSpPr/>
            <p:nvPr/>
          </p:nvSpPr>
          <p:spPr>
            <a:xfrm>
              <a:off x="2716" y="1822"/>
              <a:ext cx="999" cy="2"/>
            </a:xfrm>
            <a:prstGeom prst="line">
              <a:avLst/>
            </a:prstGeom>
            <a:ln w="38100" cap="flat" cmpd="sng">
              <a:solidFill>
                <a:schemeClr val="tx1"/>
              </a:solidFill>
              <a:prstDash val="solid"/>
              <a:headEnd type="none" w="med" len="med"/>
              <a:tailEnd type="none" w="med" len="med"/>
            </a:ln>
          </p:spPr>
        </p:sp>
        <p:sp>
          <p:nvSpPr>
            <p:cNvPr id="42030" name="Freeform 47"/>
            <p:cNvSpPr/>
            <p:nvPr/>
          </p:nvSpPr>
          <p:spPr>
            <a:xfrm>
              <a:off x="3966" y="1821"/>
              <a:ext cx="816" cy="1"/>
            </a:xfrm>
            <a:custGeom>
              <a:avLst/>
              <a:gdLst>
                <a:gd name="txL" fmla="*/ 0 w 816"/>
                <a:gd name="txT" fmla="*/ 0 h 1"/>
                <a:gd name="txR" fmla="*/ 816 w 816"/>
                <a:gd name="txB" fmla="*/ 1 h 1"/>
              </a:gdLst>
              <a:ahLst/>
              <a:cxnLst>
                <a:cxn ang="0">
                  <a:pos x="0" y="1"/>
                </a:cxn>
                <a:cxn ang="0">
                  <a:pos x="816" y="0"/>
                </a:cxn>
              </a:cxnLst>
              <a:rect l="txL" t="txT" r="txR" b="txB"/>
              <a:pathLst>
                <a:path w="816" h="1">
                  <a:moveTo>
                    <a:pt x="0" y="1"/>
                  </a:moveTo>
                  <a:lnTo>
                    <a:pt x="816" y="0"/>
                  </a:lnTo>
                </a:path>
              </a:pathLst>
            </a:custGeom>
            <a:solidFill>
              <a:srgbClr val="FFFFFF">
                <a:alpha val="100000"/>
              </a:srgbClr>
            </a:solid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2031" name="Rectangle 48"/>
            <p:cNvSpPr/>
            <p:nvPr/>
          </p:nvSpPr>
          <p:spPr>
            <a:xfrm>
              <a:off x="4097" y="1556"/>
              <a:ext cx="227" cy="298"/>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32" name="Rectangle 49"/>
            <p:cNvSpPr/>
            <p:nvPr/>
          </p:nvSpPr>
          <p:spPr>
            <a:xfrm>
              <a:off x="4009" y="1649"/>
              <a:ext cx="256"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3999</a:t>
              </a:r>
              <a:endParaRPr lang="en-US" altLang="zh-CN" sz="1600" b="1" dirty="0">
                <a:latin typeface="Times New Roman" panose="02020603050405020304" pitchFamily="18" charset="0"/>
              </a:endParaRPr>
            </a:p>
          </p:txBody>
        </p:sp>
        <p:sp>
          <p:nvSpPr>
            <p:cNvPr id="42033" name="Rectangle 50"/>
            <p:cNvSpPr/>
            <p:nvPr/>
          </p:nvSpPr>
          <p:spPr>
            <a:xfrm>
              <a:off x="1212" y="2467"/>
              <a:ext cx="188" cy="234"/>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34" name="Rectangle 51"/>
            <p:cNvSpPr/>
            <p:nvPr/>
          </p:nvSpPr>
          <p:spPr>
            <a:xfrm>
              <a:off x="2429" y="2454"/>
              <a:ext cx="186" cy="234"/>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35" name="Rectangle 52"/>
            <p:cNvSpPr/>
            <p:nvPr/>
          </p:nvSpPr>
          <p:spPr>
            <a:xfrm>
              <a:off x="2867" y="2516"/>
              <a:ext cx="92"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V</a:t>
              </a:r>
              <a:endParaRPr lang="en-US" altLang="zh-CN" sz="2400" b="1" dirty="0">
                <a:latin typeface="Times New Roman" panose="02020603050405020304" pitchFamily="18" charset="0"/>
              </a:endParaRPr>
            </a:p>
          </p:txBody>
        </p:sp>
        <p:sp>
          <p:nvSpPr>
            <p:cNvPr id="42036" name="Rectangle 53"/>
            <p:cNvSpPr/>
            <p:nvPr/>
          </p:nvSpPr>
          <p:spPr>
            <a:xfrm>
              <a:off x="2945" y="2454"/>
              <a:ext cx="188" cy="234"/>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37" name="Rectangle 54"/>
            <p:cNvSpPr/>
            <p:nvPr/>
          </p:nvSpPr>
          <p:spPr>
            <a:xfrm>
              <a:off x="3051" y="2516"/>
              <a:ext cx="128"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W</a:t>
              </a:r>
              <a:endParaRPr lang="en-US" altLang="zh-CN" sz="2400" b="1" dirty="0">
                <a:latin typeface="Times New Roman" panose="02020603050405020304" pitchFamily="18" charset="0"/>
              </a:endParaRPr>
            </a:p>
          </p:txBody>
        </p:sp>
        <p:sp>
          <p:nvSpPr>
            <p:cNvPr id="42038" name="Rectangle 55"/>
            <p:cNvSpPr/>
            <p:nvPr/>
          </p:nvSpPr>
          <p:spPr>
            <a:xfrm>
              <a:off x="3245" y="2454"/>
              <a:ext cx="186" cy="234"/>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39" name="Rectangle 56"/>
            <p:cNvSpPr/>
            <p:nvPr/>
          </p:nvSpPr>
          <p:spPr>
            <a:xfrm>
              <a:off x="3292" y="2516"/>
              <a:ext cx="64"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42040" name="Rectangle 57"/>
            <p:cNvSpPr/>
            <p:nvPr/>
          </p:nvSpPr>
          <p:spPr>
            <a:xfrm>
              <a:off x="3427" y="2454"/>
              <a:ext cx="188" cy="234"/>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41" name="Rectangle 58"/>
            <p:cNvSpPr/>
            <p:nvPr/>
          </p:nvSpPr>
          <p:spPr>
            <a:xfrm>
              <a:off x="3494" y="2516"/>
              <a:ext cx="64"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1</a:t>
              </a:r>
              <a:endParaRPr lang="en-US" altLang="zh-CN" sz="2400" b="1" dirty="0">
                <a:latin typeface="Times New Roman" panose="02020603050405020304" pitchFamily="18" charset="0"/>
              </a:endParaRPr>
            </a:p>
          </p:txBody>
        </p:sp>
        <p:sp>
          <p:nvSpPr>
            <p:cNvPr id="42042" name="Rectangle 59"/>
            <p:cNvSpPr/>
            <p:nvPr/>
          </p:nvSpPr>
          <p:spPr>
            <a:xfrm>
              <a:off x="4116" y="2454"/>
              <a:ext cx="188" cy="234"/>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43" name="Rectangle 60"/>
            <p:cNvSpPr/>
            <p:nvPr/>
          </p:nvSpPr>
          <p:spPr>
            <a:xfrm>
              <a:off x="4105" y="2516"/>
              <a:ext cx="192"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127</a:t>
              </a:r>
              <a:endParaRPr lang="en-US" altLang="zh-CN" sz="2400" b="1" dirty="0">
                <a:latin typeface="Times New Roman" panose="02020603050405020304" pitchFamily="18" charset="0"/>
              </a:endParaRPr>
            </a:p>
          </p:txBody>
        </p:sp>
        <p:sp>
          <p:nvSpPr>
            <p:cNvPr id="42044" name="Rectangle 61"/>
            <p:cNvSpPr/>
            <p:nvPr/>
          </p:nvSpPr>
          <p:spPr>
            <a:xfrm>
              <a:off x="1791" y="1265"/>
              <a:ext cx="710" cy="25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45" name="Rectangle 62"/>
            <p:cNvSpPr/>
            <p:nvPr/>
          </p:nvSpPr>
          <p:spPr>
            <a:xfrm>
              <a:off x="1781" y="1299"/>
              <a:ext cx="153"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900" b="1" dirty="0">
                  <a:latin typeface="宋体" panose="02010600030101010101" pitchFamily="2" charset="-122"/>
                </a:rPr>
                <a:t>读</a:t>
              </a:r>
              <a:endParaRPr lang="zh-CN" altLang="en-US" sz="2400" b="1" dirty="0">
                <a:latin typeface="Times New Roman" panose="02020603050405020304" pitchFamily="18" charset="0"/>
              </a:endParaRPr>
            </a:p>
          </p:txBody>
        </p:sp>
        <p:sp>
          <p:nvSpPr>
            <p:cNvPr id="42046" name="Rectangle 63"/>
            <p:cNvSpPr/>
            <p:nvPr/>
          </p:nvSpPr>
          <p:spPr>
            <a:xfrm>
              <a:off x="1940" y="1299"/>
              <a:ext cx="42"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9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42047" name="Rectangle 64"/>
            <p:cNvSpPr/>
            <p:nvPr/>
          </p:nvSpPr>
          <p:spPr>
            <a:xfrm>
              <a:off x="1984" y="1299"/>
              <a:ext cx="612"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900" b="1" dirty="0">
                  <a:latin typeface="宋体" panose="02010600030101010101" pitchFamily="2" charset="-122"/>
                </a:rPr>
                <a:t>写或维持</a:t>
              </a:r>
              <a:endParaRPr lang="zh-CN" altLang="en-US" sz="2400" b="1" dirty="0">
                <a:latin typeface="Times New Roman" panose="02020603050405020304" pitchFamily="18" charset="0"/>
              </a:endParaRPr>
            </a:p>
          </p:txBody>
        </p:sp>
        <p:sp>
          <p:nvSpPr>
            <p:cNvPr id="42048" name="Rectangle 65"/>
            <p:cNvSpPr/>
            <p:nvPr/>
          </p:nvSpPr>
          <p:spPr>
            <a:xfrm>
              <a:off x="3357" y="1288"/>
              <a:ext cx="438" cy="250"/>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49" name="Rectangle 66"/>
            <p:cNvSpPr/>
            <p:nvPr/>
          </p:nvSpPr>
          <p:spPr>
            <a:xfrm>
              <a:off x="3606" y="1299"/>
              <a:ext cx="306"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900" b="1" dirty="0">
                  <a:latin typeface="宋体" panose="02010600030101010101" pitchFamily="2" charset="-122"/>
                </a:rPr>
                <a:t>刷新</a:t>
              </a:r>
              <a:endParaRPr lang="zh-CN" altLang="en-US" sz="2400" b="1" dirty="0">
                <a:latin typeface="Times New Roman" panose="02020603050405020304" pitchFamily="18" charset="0"/>
              </a:endParaRPr>
            </a:p>
          </p:txBody>
        </p:sp>
        <p:sp>
          <p:nvSpPr>
            <p:cNvPr id="42050" name="Rectangle 67"/>
            <p:cNvSpPr/>
            <p:nvPr/>
          </p:nvSpPr>
          <p:spPr>
            <a:xfrm>
              <a:off x="4528" y="1266"/>
              <a:ext cx="709" cy="249"/>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51" name="Rectangle 68"/>
            <p:cNvSpPr/>
            <p:nvPr/>
          </p:nvSpPr>
          <p:spPr>
            <a:xfrm>
              <a:off x="4581" y="1299"/>
              <a:ext cx="153"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900" b="1" dirty="0">
                  <a:latin typeface="宋体" panose="02010600030101010101" pitchFamily="2" charset="-122"/>
                </a:rPr>
                <a:t>读</a:t>
              </a:r>
              <a:endParaRPr lang="zh-CN" altLang="en-US" sz="2400" b="1" dirty="0">
                <a:latin typeface="Times New Roman" panose="02020603050405020304" pitchFamily="18" charset="0"/>
              </a:endParaRPr>
            </a:p>
          </p:txBody>
        </p:sp>
        <p:sp>
          <p:nvSpPr>
            <p:cNvPr id="42052" name="Rectangle 69"/>
            <p:cNvSpPr/>
            <p:nvPr/>
          </p:nvSpPr>
          <p:spPr>
            <a:xfrm>
              <a:off x="4732" y="1299"/>
              <a:ext cx="42"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9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42053" name="Rectangle 70"/>
            <p:cNvSpPr/>
            <p:nvPr/>
          </p:nvSpPr>
          <p:spPr>
            <a:xfrm>
              <a:off x="4774" y="1299"/>
              <a:ext cx="612"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900" b="1" dirty="0">
                  <a:latin typeface="宋体" panose="02010600030101010101" pitchFamily="2" charset="-122"/>
                </a:rPr>
                <a:t>写或维持</a:t>
              </a:r>
              <a:endParaRPr lang="zh-CN" altLang="en-US" sz="2400" b="1" dirty="0">
                <a:latin typeface="Times New Roman" panose="02020603050405020304" pitchFamily="18" charset="0"/>
              </a:endParaRPr>
            </a:p>
          </p:txBody>
        </p:sp>
        <p:sp>
          <p:nvSpPr>
            <p:cNvPr id="42054" name="Rectangle 71"/>
            <p:cNvSpPr/>
            <p:nvPr/>
          </p:nvSpPr>
          <p:spPr>
            <a:xfrm>
              <a:off x="1341" y="3003"/>
              <a:ext cx="1196" cy="234"/>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55" name="Rectangle 72"/>
            <p:cNvSpPr/>
            <p:nvPr/>
          </p:nvSpPr>
          <p:spPr>
            <a:xfrm>
              <a:off x="1505" y="2987"/>
              <a:ext cx="256"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solidFill>
                    <a:srgbClr val="FF3300"/>
                  </a:solidFill>
                  <a:latin typeface="Times New Roman" panose="02020603050405020304" pitchFamily="18" charset="0"/>
                </a:rPr>
                <a:t>3872</a:t>
              </a:r>
              <a:endParaRPr lang="en-US" altLang="zh-CN" sz="1600" b="1" dirty="0">
                <a:solidFill>
                  <a:srgbClr val="FF3300"/>
                </a:solidFill>
                <a:latin typeface="Times New Roman" panose="02020603050405020304" pitchFamily="18" charset="0"/>
              </a:endParaRPr>
            </a:p>
          </p:txBody>
        </p:sp>
        <p:sp>
          <p:nvSpPr>
            <p:cNvPr id="42056" name="Rectangle 73"/>
            <p:cNvSpPr/>
            <p:nvPr/>
          </p:nvSpPr>
          <p:spPr>
            <a:xfrm>
              <a:off x="1795" y="2987"/>
              <a:ext cx="387"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FF3300"/>
                  </a:solidFill>
                  <a:latin typeface="宋体" panose="02010600030101010101" pitchFamily="2" charset="-122"/>
                </a:rPr>
                <a:t>个周期</a:t>
              </a:r>
              <a:endParaRPr lang="zh-CN" altLang="en-US" sz="1600" b="1" dirty="0">
                <a:solidFill>
                  <a:srgbClr val="FF3300"/>
                </a:solidFill>
                <a:latin typeface="Times New Roman" panose="02020603050405020304" pitchFamily="18" charset="0"/>
              </a:endParaRPr>
            </a:p>
          </p:txBody>
        </p:sp>
        <p:sp>
          <p:nvSpPr>
            <p:cNvPr id="42057" name="Rectangle 74"/>
            <p:cNvSpPr/>
            <p:nvPr/>
          </p:nvSpPr>
          <p:spPr>
            <a:xfrm>
              <a:off x="2154" y="2987"/>
              <a:ext cx="717"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FF3300"/>
                  </a:solidFill>
                  <a:latin typeface="Times New Roman" panose="02020603050405020304" pitchFamily="18" charset="0"/>
                </a:rPr>
                <a:t>（</a:t>
              </a:r>
              <a:r>
                <a:rPr lang="en-US" altLang="zh-CN" sz="1600" b="1" dirty="0">
                  <a:solidFill>
                    <a:srgbClr val="FF3300"/>
                  </a:solidFill>
                  <a:latin typeface="Times New Roman" panose="02020603050405020304" pitchFamily="18" charset="0"/>
                </a:rPr>
                <a:t>1936 </a:t>
              </a:r>
              <a:r>
                <a:rPr lang="en-US" altLang="zh-CN" sz="1600" b="1" dirty="0">
                  <a:solidFill>
                    <a:srgbClr val="FF3300"/>
                  </a:solidFill>
                  <a:latin typeface="宋体" panose="02010600030101010101" pitchFamily="2" charset="-122"/>
                  <a:sym typeface="Symbol" panose="05050102010706020507" pitchFamily="18" charset="2"/>
                </a:rPr>
                <a:t></a:t>
              </a:r>
              <a:r>
                <a:rPr lang="en-US" altLang="zh-CN" sz="1600" b="1" dirty="0">
                  <a:solidFill>
                    <a:srgbClr val="FF3300"/>
                  </a:solidFill>
                  <a:latin typeface="宋体" panose="02010600030101010101" pitchFamily="2" charset="-122"/>
                </a:rPr>
                <a:t>s</a:t>
              </a:r>
              <a:r>
                <a:rPr lang="zh-CN" altLang="en-US" sz="1600" b="1" dirty="0">
                  <a:solidFill>
                    <a:srgbClr val="FF3300"/>
                  </a:solidFill>
                  <a:latin typeface="宋体" panose="02010600030101010101" pitchFamily="2" charset="-122"/>
                </a:rPr>
                <a:t>）</a:t>
              </a:r>
              <a:r>
                <a:rPr lang="en-US" altLang="zh-CN" sz="800" b="1" dirty="0">
                  <a:solidFill>
                    <a:srgbClr val="FF3300"/>
                  </a:solidFill>
                  <a:latin typeface="宋体" panose="02010600030101010101" pitchFamily="2" charset="-122"/>
                </a:rPr>
                <a:t> </a:t>
              </a:r>
              <a:endParaRPr lang="en-US" altLang="zh-CN" sz="800" b="1" dirty="0">
                <a:solidFill>
                  <a:srgbClr val="FF3300"/>
                </a:solidFill>
                <a:latin typeface="宋体" panose="02010600030101010101" pitchFamily="2" charset="-122"/>
              </a:endParaRPr>
            </a:p>
          </p:txBody>
        </p:sp>
        <p:sp>
          <p:nvSpPr>
            <p:cNvPr id="42058" name="Rectangle 75"/>
            <p:cNvSpPr/>
            <p:nvPr/>
          </p:nvSpPr>
          <p:spPr>
            <a:xfrm>
              <a:off x="3250" y="2987"/>
              <a:ext cx="192"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solidFill>
                    <a:srgbClr val="FF3300"/>
                  </a:solidFill>
                  <a:latin typeface="Times New Roman" panose="02020603050405020304" pitchFamily="18" charset="0"/>
                </a:rPr>
                <a:t>128</a:t>
              </a:r>
              <a:endParaRPr lang="en-US" altLang="zh-CN" sz="1600" b="1" dirty="0">
                <a:solidFill>
                  <a:srgbClr val="FF3300"/>
                </a:solidFill>
                <a:latin typeface="Times New Roman" panose="02020603050405020304" pitchFamily="18" charset="0"/>
              </a:endParaRPr>
            </a:p>
          </p:txBody>
        </p:sp>
        <p:sp>
          <p:nvSpPr>
            <p:cNvPr id="42059" name="Rectangle 76"/>
            <p:cNvSpPr/>
            <p:nvPr/>
          </p:nvSpPr>
          <p:spPr>
            <a:xfrm>
              <a:off x="3467" y="2987"/>
              <a:ext cx="429" cy="1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FF3300"/>
                  </a:solidFill>
                  <a:latin typeface="宋体" panose="02010600030101010101" pitchFamily="2" charset="-122"/>
                </a:rPr>
                <a:t>个周期</a:t>
              </a:r>
              <a:endParaRPr lang="zh-CN" altLang="en-US" sz="1600" b="1" dirty="0">
                <a:solidFill>
                  <a:srgbClr val="FF3300"/>
                </a:solidFill>
                <a:latin typeface="Times New Roman" panose="02020603050405020304" pitchFamily="18" charset="0"/>
              </a:endParaRPr>
            </a:p>
          </p:txBody>
        </p:sp>
        <p:sp>
          <p:nvSpPr>
            <p:cNvPr id="42060" name="Rectangle 77"/>
            <p:cNvSpPr/>
            <p:nvPr/>
          </p:nvSpPr>
          <p:spPr>
            <a:xfrm>
              <a:off x="3815" y="2987"/>
              <a:ext cx="589"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FF3300"/>
                  </a:solidFill>
                  <a:latin typeface="Times New Roman" panose="02020603050405020304" pitchFamily="18" charset="0"/>
                </a:rPr>
                <a:t>（</a:t>
              </a:r>
              <a:r>
                <a:rPr lang="en-US" altLang="zh-CN" sz="1600" b="1" dirty="0">
                  <a:solidFill>
                    <a:srgbClr val="FF3300"/>
                  </a:solidFill>
                  <a:latin typeface="Times New Roman" panose="02020603050405020304" pitchFamily="18" charset="0"/>
                </a:rPr>
                <a:t>64 </a:t>
              </a:r>
              <a:r>
                <a:rPr lang="en-US" altLang="zh-CN" sz="1600" b="1" dirty="0">
                  <a:solidFill>
                    <a:srgbClr val="FF3300"/>
                  </a:solidFill>
                  <a:latin typeface="宋体" panose="02010600030101010101" pitchFamily="2" charset="-122"/>
                  <a:sym typeface="Symbol" panose="05050102010706020507" pitchFamily="18" charset="2"/>
                </a:rPr>
                <a:t></a:t>
              </a:r>
              <a:r>
                <a:rPr lang="en-US" altLang="zh-CN" sz="1600" b="1" dirty="0">
                  <a:solidFill>
                    <a:srgbClr val="FF3300"/>
                  </a:solidFill>
                  <a:latin typeface="宋体" panose="02010600030101010101" pitchFamily="2" charset="-122"/>
                </a:rPr>
                <a:t>s</a:t>
              </a:r>
              <a:r>
                <a:rPr lang="zh-CN" altLang="en-US" sz="1600" b="1" dirty="0">
                  <a:solidFill>
                    <a:srgbClr val="FF3300"/>
                  </a:solidFill>
                  <a:latin typeface="宋体" panose="02010600030101010101" pitchFamily="2" charset="-122"/>
                </a:rPr>
                <a:t>）</a:t>
              </a:r>
              <a:r>
                <a:rPr lang="en-US" altLang="zh-CN" sz="800" b="1" dirty="0">
                  <a:solidFill>
                    <a:srgbClr val="FF3300"/>
                  </a:solidFill>
                  <a:latin typeface="宋体" panose="02010600030101010101" pitchFamily="2" charset="-122"/>
                </a:rPr>
                <a:t> </a:t>
              </a:r>
              <a:endParaRPr lang="en-US" altLang="zh-CN" sz="800" b="1" dirty="0">
                <a:solidFill>
                  <a:srgbClr val="FF3300"/>
                </a:solidFill>
                <a:latin typeface="宋体" panose="02010600030101010101" pitchFamily="2" charset="-122"/>
              </a:endParaRPr>
            </a:p>
          </p:txBody>
        </p:sp>
        <p:sp>
          <p:nvSpPr>
            <p:cNvPr id="42061" name="Rectangle 78"/>
            <p:cNvSpPr/>
            <p:nvPr/>
          </p:nvSpPr>
          <p:spPr>
            <a:xfrm>
              <a:off x="2403" y="3237"/>
              <a:ext cx="1247" cy="285"/>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62" name="Rectangle 79"/>
            <p:cNvSpPr/>
            <p:nvPr/>
          </p:nvSpPr>
          <p:spPr>
            <a:xfrm>
              <a:off x="2016" y="3290"/>
              <a:ext cx="918"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900" b="1" dirty="0">
                  <a:solidFill>
                    <a:srgbClr val="FF3300"/>
                  </a:solidFill>
                  <a:latin typeface="宋体" panose="02010600030101010101" pitchFamily="2" charset="-122"/>
                </a:rPr>
                <a:t>刷新时间间隔</a:t>
              </a:r>
              <a:endParaRPr lang="zh-CN" altLang="en-US" sz="2400" b="1" dirty="0">
                <a:solidFill>
                  <a:srgbClr val="FF3300"/>
                </a:solidFill>
                <a:latin typeface="Times New Roman" panose="02020603050405020304" pitchFamily="18" charset="0"/>
              </a:endParaRPr>
            </a:p>
          </p:txBody>
        </p:sp>
        <p:sp>
          <p:nvSpPr>
            <p:cNvPr id="42063" name="Rectangle 80"/>
            <p:cNvSpPr/>
            <p:nvPr/>
          </p:nvSpPr>
          <p:spPr>
            <a:xfrm>
              <a:off x="2880" y="3290"/>
              <a:ext cx="153"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900" b="1" dirty="0">
                  <a:solidFill>
                    <a:srgbClr val="FF3300"/>
                  </a:solidFill>
                  <a:latin typeface="宋体" panose="02010600030101010101" pitchFamily="2" charset="-122"/>
                </a:rPr>
                <a:t>（</a:t>
              </a:r>
              <a:endParaRPr lang="zh-CN" altLang="en-US" sz="2400" b="1" dirty="0">
                <a:solidFill>
                  <a:srgbClr val="FF3300"/>
                </a:solidFill>
                <a:latin typeface="Times New Roman" panose="02020603050405020304" pitchFamily="18" charset="0"/>
              </a:endParaRPr>
            </a:p>
          </p:txBody>
        </p:sp>
        <p:sp>
          <p:nvSpPr>
            <p:cNvPr id="42064" name="Rectangle 81"/>
            <p:cNvSpPr/>
            <p:nvPr/>
          </p:nvSpPr>
          <p:spPr>
            <a:xfrm>
              <a:off x="3042" y="3293"/>
              <a:ext cx="455" cy="18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900" b="1" dirty="0">
                  <a:solidFill>
                    <a:srgbClr val="FF3300"/>
                  </a:solidFill>
                  <a:latin typeface="Times New Roman" panose="02020603050405020304" pitchFamily="18" charset="0"/>
                </a:rPr>
                <a:t>2 m</a:t>
              </a:r>
              <a:endParaRPr lang="en-US" altLang="zh-CN" sz="2400" b="1" dirty="0">
                <a:solidFill>
                  <a:srgbClr val="FF3300"/>
                </a:solidFill>
                <a:latin typeface="Times New Roman" panose="02020603050405020304" pitchFamily="18" charset="0"/>
              </a:endParaRPr>
            </a:p>
          </p:txBody>
        </p:sp>
        <p:sp>
          <p:nvSpPr>
            <p:cNvPr id="42065" name="Rectangle 82"/>
            <p:cNvSpPr/>
            <p:nvPr/>
          </p:nvSpPr>
          <p:spPr>
            <a:xfrm>
              <a:off x="3303" y="3293"/>
              <a:ext cx="203" cy="18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900" b="1" dirty="0">
                  <a:solidFill>
                    <a:srgbClr val="FF3300"/>
                  </a:solidFill>
                  <a:latin typeface="Times New Roman" panose="02020603050405020304" pitchFamily="18" charset="0"/>
                </a:rPr>
                <a:t>s</a:t>
              </a:r>
              <a:endParaRPr lang="en-US" altLang="zh-CN" sz="2400" b="1" dirty="0">
                <a:solidFill>
                  <a:srgbClr val="FF3300"/>
                </a:solidFill>
                <a:latin typeface="Times New Roman" panose="02020603050405020304" pitchFamily="18" charset="0"/>
              </a:endParaRPr>
            </a:p>
          </p:txBody>
        </p:sp>
        <p:sp>
          <p:nvSpPr>
            <p:cNvPr id="42066" name="Rectangle 83"/>
            <p:cNvSpPr/>
            <p:nvPr/>
          </p:nvSpPr>
          <p:spPr>
            <a:xfrm>
              <a:off x="3351" y="3290"/>
              <a:ext cx="153"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900" b="1" dirty="0">
                  <a:solidFill>
                    <a:srgbClr val="FF3300"/>
                  </a:solidFill>
                  <a:latin typeface="宋体" panose="02010600030101010101" pitchFamily="2" charset="-122"/>
                </a:rPr>
                <a:t>）</a:t>
              </a:r>
              <a:endParaRPr lang="zh-CN" altLang="en-US" sz="2400" b="1" dirty="0">
                <a:solidFill>
                  <a:srgbClr val="FF3300"/>
                </a:solidFill>
                <a:latin typeface="Times New Roman" panose="02020603050405020304" pitchFamily="18" charset="0"/>
              </a:endParaRPr>
            </a:p>
          </p:txBody>
        </p:sp>
        <p:sp>
          <p:nvSpPr>
            <p:cNvPr id="42067" name="Rectangle 84"/>
            <p:cNvSpPr/>
            <p:nvPr/>
          </p:nvSpPr>
          <p:spPr>
            <a:xfrm>
              <a:off x="4697" y="2915"/>
              <a:ext cx="399" cy="234"/>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68" name="Rectangle 85"/>
            <p:cNvSpPr/>
            <p:nvPr/>
          </p:nvSpPr>
          <p:spPr>
            <a:xfrm>
              <a:off x="4572" y="3076"/>
              <a:ext cx="580" cy="17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b="1" dirty="0">
                  <a:solidFill>
                    <a:srgbClr val="FF3300"/>
                  </a:solidFill>
                  <a:latin typeface="宋体" panose="02010600030101010101" pitchFamily="2" charset="-122"/>
                </a:rPr>
                <a:t>刷新序号</a:t>
              </a:r>
              <a:endParaRPr lang="zh-CN" altLang="en-US" sz="1800" b="1" dirty="0">
                <a:solidFill>
                  <a:srgbClr val="FF3300"/>
                </a:solidFill>
                <a:latin typeface="Times New Roman" panose="02020603050405020304" pitchFamily="18" charset="0"/>
              </a:endParaRPr>
            </a:p>
          </p:txBody>
        </p:sp>
        <p:sp>
          <p:nvSpPr>
            <p:cNvPr id="42069" name="Freeform 86"/>
            <p:cNvSpPr/>
            <p:nvPr/>
          </p:nvSpPr>
          <p:spPr>
            <a:xfrm>
              <a:off x="4332" y="2621"/>
              <a:ext cx="421" cy="421"/>
            </a:xfrm>
            <a:custGeom>
              <a:avLst/>
              <a:gdLst>
                <a:gd name="txL" fmla="*/ 0 w 421"/>
                <a:gd name="txT" fmla="*/ 0 h 421"/>
                <a:gd name="txR" fmla="*/ 421 w 421"/>
                <a:gd name="txB" fmla="*/ 421 h 421"/>
              </a:gdLst>
              <a:ahLst/>
              <a:cxnLst>
                <a:cxn ang="0">
                  <a:pos x="421" y="421"/>
                </a:cxn>
                <a:cxn ang="0">
                  <a:pos x="0" y="0"/>
                </a:cxn>
              </a:cxnLst>
              <a:rect l="txL" t="txT" r="txR" b="txB"/>
              <a:pathLst>
                <a:path w="421" h="421">
                  <a:moveTo>
                    <a:pt x="421" y="421"/>
                  </a:moveTo>
                  <a:lnTo>
                    <a:pt x="0" y="0"/>
                  </a:lnTo>
                </a:path>
              </a:pathLst>
            </a:custGeom>
            <a:solidFill>
              <a:srgbClr val="FFFFFF">
                <a:alpha val="100000"/>
              </a:srgbClr>
            </a:solidFill>
            <a:ln w="38100" cap="flat" cmpd="sng">
              <a:solidFill>
                <a:schemeClr val="tx1">
                  <a:alpha val="100000"/>
                </a:schemeClr>
              </a:solidFill>
              <a:prstDash val="solid"/>
              <a:round/>
              <a:headEnd type="none" w="med" len="med"/>
              <a:tailEnd type="stealth" w="med" len="med"/>
            </a:ln>
          </p:spPr>
          <p:txBody>
            <a:bodyPr/>
            <a:p>
              <a:endParaRPr lang="zh-CN" altLang="en-US"/>
            </a:p>
          </p:txBody>
        </p:sp>
        <p:sp>
          <p:nvSpPr>
            <p:cNvPr id="42070" name="Freeform 87"/>
            <p:cNvSpPr/>
            <p:nvPr/>
          </p:nvSpPr>
          <p:spPr>
            <a:xfrm>
              <a:off x="1161" y="3402"/>
              <a:ext cx="750" cy="1"/>
            </a:xfrm>
            <a:custGeom>
              <a:avLst/>
              <a:gdLst>
                <a:gd name="txL" fmla="*/ 0 w 750"/>
                <a:gd name="txT" fmla="*/ 0 h 1"/>
                <a:gd name="txR" fmla="*/ 750 w 750"/>
                <a:gd name="txB" fmla="*/ 1 h 1"/>
              </a:gdLst>
              <a:ahLst/>
              <a:cxnLst>
                <a:cxn ang="0">
                  <a:pos x="750" y="0"/>
                </a:cxn>
                <a:cxn ang="0">
                  <a:pos x="0" y="0"/>
                </a:cxn>
              </a:cxnLst>
              <a:rect l="txL" t="txT" r="txR" b="txB"/>
              <a:pathLst>
                <a:path w="750" h="1">
                  <a:moveTo>
                    <a:pt x="750" y="0"/>
                  </a:moveTo>
                  <a:lnTo>
                    <a:pt x="0" y="0"/>
                  </a:lnTo>
                </a:path>
              </a:pathLst>
            </a:custGeom>
            <a:noFill/>
            <a:ln w="38100" cap="flat" cmpd="sng">
              <a:solidFill>
                <a:srgbClr val="FF3300">
                  <a:alpha val="100000"/>
                </a:srgbClr>
              </a:solidFill>
              <a:prstDash val="solid"/>
              <a:round/>
              <a:headEnd type="none" w="med" len="med"/>
              <a:tailEnd type="stealth" w="med" len="med"/>
            </a:ln>
          </p:spPr>
          <p:txBody>
            <a:bodyPr/>
            <a:p>
              <a:endParaRPr lang="zh-CN" altLang="en-US"/>
            </a:p>
          </p:txBody>
        </p:sp>
        <p:sp>
          <p:nvSpPr>
            <p:cNvPr id="42071" name="Line 88"/>
            <p:cNvSpPr/>
            <p:nvPr/>
          </p:nvSpPr>
          <p:spPr>
            <a:xfrm>
              <a:off x="3575" y="3391"/>
              <a:ext cx="757" cy="0"/>
            </a:xfrm>
            <a:prstGeom prst="line">
              <a:avLst/>
            </a:prstGeom>
            <a:ln w="38100" cap="flat" cmpd="sng">
              <a:solidFill>
                <a:srgbClr val="FF3300"/>
              </a:solidFill>
              <a:prstDash val="solid"/>
              <a:headEnd type="none" w="med" len="med"/>
              <a:tailEnd type="stealth" w="med" len="med"/>
            </a:ln>
          </p:spPr>
        </p:sp>
        <p:sp>
          <p:nvSpPr>
            <p:cNvPr id="42072" name="Line 89"/>
            <p:cNvSpPr/>
            <p:nvPr/>
          </p:nvSpPr>
          <p:spPr>
            <a:xfrm>
              <a:off x="1012" y="1759"/>
              <a:ext cx="144" cy="0"/>
            </a:xfrm>
            <a:prstGeom prst="line">
              <a:avLst/>
            </a:prstGeom>
            <a:ln w="38100" cap="flat" cmpd="sng">
              <a:solidFill>
                <a:schemeClr val="tx1"/>
              </a:solidFill>
              <a:prstDash val="solid"/>
              <a:headEnd type="none" w="med" len="med"/>
              <a:tailEnd type="stealth" w="med" len="med"/>
            </a:ln>
          </p:spPr>
        </p:sp>
        <p:sp>
          <p:nvSpPr>
            <p:cNvPr id="42073" name="Line 90"/>
            <p:cNvSpPr/>
            <p:nvPr/>
          </p:nvSpPr>
          <p:spPr>
            <a:xfrm>
              <a:off x="1012" y="2568"/>
              <a:ext cx="144" cy="0"/>
            </a:xfrm>
            <a:prstGeom prst="line">
              <a:avLst/>
            </a:prstGeom>
            <a:ln w="38100" cap="flat" cmpd="sng">
              <a:solidFill>
                <a:schemeClr val="tx1"/>
              </a:solidFill>
              <a:prstDash val="solid"/>
              <a:headEnd type="none" w="med" len="med"/>
              <a:tailEnd type="stealth" w="med" len="med"/>
            </a:ln>
          </p:spPr>
        </p:sp>
        <p:sp>
          <p:nvSpPr>
            <p:cNvPr id="42074" name="Line 91"/>
            <p:cNvSpPr/>
            <p:nvPr/>
          </p:nvSpPr>
          <p:spPr>
            <a:xfrm flipH="1">
              <a:off x="1156" y="1397"/>
              <a:ext cx="499" cy="0"/>
            </a:xfrm>
            <a:prstGeom prst="line">
              <a:avLst/>
            </a:prstGeom>
            <a:ln w="38100" cap="flat" cmpd="sng">
              <a:solidFill>
                <a:schemeClr val="tx1"/>
              </a:solidFill>
              <a:prstDash val="solid"/>
              <a:headEnd type="none" w="med" len="med"/>
              <a:tailEnd type="stealth" w="med" len="med"/>
            </a:ln>
          </p:spPr>
        </p:sp>
        <p:sp>
          <p:nvSpPr>
            <p:cNvPr id="42075" name="Line 92"/>
            <p:cNvSpPr/>
            <p:nvPr/>
          </p:nvSpPr>
          <p:spPr>
            <a:xfrm>
              <a:off x="2712" y="1397"/>
              <a:ext cx="499" cy="0"/>
            </a:xfrm>
            <a:prstGeom prst="line">
              <a:avLst/>
            </a:prstGeom>
            <a:ln w="38100" cap="flat" cmpd="sng">
              <a:solidFill>
                <a:schemeClr val="tx1"/>
              </a:solidFill>
              <a:prstDash val="solid"/>
              <a:headEnd type="none" w="med" len="med"/>
              <a:tailEnd type="stealth" w="med" len="med"/>
            </a:ln>
          </p:spPr>
        </p:sp>
        <p:sp>
          <p:nvSpPr>
            <p:cNvPr id="42076" name="Line 93"/>
            <p:cNvSpPr/>
            <p:nvPr/>
          </p:nvSpPr>
          <p:spPr>
            <a:xfrm flipH="1">
              <a:off x="3219" y="1395"/>
              <a:ext cx="317" cy="0"/>
            </a:xfrm>
            <a:prstGeom prst="line">
              <a:avLst/>
            </a:prstGeom>
            <a:ln w="38100" cap="flat" cmpd="sng">
              <a:solidFill>
                <a:schemeClr val="tx1"/>
              </a:solidFill>
              <a:prstDash val="solid"/>
              <a:headEnd type="none" w="med" len="med"/>
              <a:tailEnd type="stealth" w="med" len="med"/>
            </a:ln>
          </p:spPr>
        </p:sp>
        <p:sp>
          <p:nvSpPr>
            <p:cNvPr id="42077" name="Line 94"/>
            <p:cNvSpPr/>
            <p:nvPr/>
          </p:nvSpPr>
          <p:spPr>
            <a:xfrm>
              <a:off x="3996" y="1407"/>
              <a:ext cx="336" cy="0"/>
            </a:xfrm>
            <a:prstGeom prst="line">
              <a:avLst/>
            </a:prstGeom>
            <a:ln w="38100" cap="flat" cmpd="sng">
              <a:solidFill>
                <a:schemeClr val="tx1"/>
              </a:solidFill>
              <a:prstDash val="solid"/>
              <a:headEnd type="none" w="med" len="med"/>
              <a:tailEnd type="stealth" w="med" len="med"/>
            </a:ln>
          </p:spPr>
        </p:sp>
        <p:sp>
          <p:nvSpPr>
            <p:cNvPr id="42078" name="Line 95"/>
            <p:cNvSpPr/>
            <p:nvPr/>
          </p:nvSpPr>
          <p:spPr>
            <a:xfrm flipH="1">
              <a:off x="4339" y="1408"/>
              <a:ext cx="210" cy="0"/>
            </a:xfrm>
            <a:prstGeom prst="line">
              <a:avLst/>
            </a:prstGeom>
            <a:ln w="38100" cap="flat" cmpd="sng">
              <a:solidFill>
                <a:schemeClr val="tx1"/>
              </a:solidFill>
              <a:prstDash val="solid"/>
              <a:headEnd type="none" w="med" len="med"/>
              <a:tailEnd type="stealth" w="med" len="med"/>
            </a:ln>
          </p:spPr>
        </p:sp>
        <p:sp>
          <p:nvSpPr>
            <p:cNvPr id="42079" name="Text Box 96"/>
            <p:cNvSpPr txBox="1"/>
            <p:nvPr/>
          </p:nvSpPr>
          <p:spPr>
            <a:xfrm>
              <a:off x="2422" y="1669"/>
              <a:ext cx="387" cy="288"/>
            </a:xfrm>
            <a:prstGeom prst="rect">
              <a:avLst/>
            </a:prstGeom>
            <a:noFill/>
            <a:ln w="9525">
              <a:noFill/>
            </a:ln>
          </p:spPr>
          <p:txBody>
            <a:bodyPr lIns="18000" rIns="180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Times New Roman" panose="02020603050405020304" pitchFamily="18" charset="0"/>
                </a:rPr>
                <a:t>•</a:t>
              </a:r>
              <a:r>
                <a:rPr lang="en-US" altLang="zh-CN" sz="2400" b="1" dirty="0">
                  <a:latin typeface="Times New Roman" panose="02020603050405020304" pitchFamily="18" charset="0"/>
                  <a:ea typeface="Times New Roman" panose="02020603050405020304" pitchFamily="18" charset="0"/>
                </a:rPr>
                <a:t>•</a:t>
              </a:r>
              <a:r>
                <a:rPr lang="en-US" altLang="zh-CN" sz="2400" b="1" dirty="0">
                  <a:latin typeface="Times New Roman" panose="02020603050405020304" pitchFamily="18" charset="0"/>
                  <a:ea typeface="Times New Roman" panose="02020603050405020304" pitchFamily="18" charset="0"/>
                </a:rPr>
                <a:t>•</a:t>
              </a:r>
              <a:endParaRPr lang="en-US" altLang="zh-CN" sz="2400" b="1" dirty="0">
                <a:latin typeface="Times New Roman" panose="02020603050405020304" pitchFamily="18" charset="0"/>
                <a:ea typeface="Times New Roman" panose="02020603050405020304" pitchFamily="18" charset="0"/>
              </a:endParaRPr>
            </a:p>
          </p:txBody>
        </p:sp>
        <p:sp>
          <p:nvSpPr>
            <p:cNvPr id="42080" name="Text Box 97"/>
            <p:cNvSpPr txBox="1"/>
            <p:nvPr/>
          </p:nvSpPr>
          <p:spPr>
            <a:xfrm>
              <a:off x="3729" y="1665"/>
              <a:ext cx="293" cy="288"/>
            </a:xfrm>
            <a:prstGeom prst="rect">
              <a:avLst/>
            </a:prstGeom>
            <a:noFill/>
            <a:ln w="9525">
              <a:noFill/>
            </a:ln>
          </p:spPr>
          <p:txBody>
            <a:bodyPr lIns="18000" rIns="180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400" b="1" dirty="0">
                  <a:latin typeface="Times New Roman" panose="02020603050405020304" pitchFamily="18" charset="0"/>
                  <a:ea typeface="Times New Roman" panose="02020603050405020304" pitchFamily="18" charset="0"/>
                </a:rPr>
                <a:t>•</a:t>
              </a:r>
              <a:r>
                <a:rPr lang="en-US" altLang="zh-CN" sz="2400" b="1" dirty="0">
                  <a:latin typeface="Times New Roman" panose="02020603050405020304" pitchFamily="18" charset="0"/>
                  <a:ea typeface="Times New Roman" panose="02020603050405020304" pitchFamily="18" charset="0"/>
                </a:rPr>
                <a:t>•</a:t>
              </a:r>
              <a:r>
                <a:rPr lang="en-US" altLang="zh-CN" sz="2400" b="1" dirty="0">
                  <a:latin typeface="Times New Roman" panose="02020603050405020304" pitchFamily="18" charset="0"/>
                  <a:ea typeface="Times New Roman" panose="02020603050405020304" pitchFamily="18" charset="0"/>
                </a:rPr>
                <a:t>•</a:t>
              </a:r>
              <a:endParaRPr lang="en-US" altLang="zh-CN" sz="2400" b="1" dirty="0">
                <a:latin typeface="Times New Roman" panose="02020603050405020304" pitchFamily="18" charset="0"/>
                <a:ea typeface="Times New Roman" panose="02020603050405020304" pitchFamily="18" charset="0"/>
              </a:endParaRPr>
            </a:p>
          </p:txBody>
        </p:sp>
        <p:sp>
          <p:nvSpPr>
            <p:cNvPr id="42081" name="Freeform 98"/>
            <p:cNvSpPr/>
            <p:nvPr/>
          </p:nvSpPr>
          <p:spPr>
            <a:xfrm>
              <a:off x="1158" y="2958"/>
              <a:ext cx="2055" cy="2"/>
            </a:xfrm>
            <a:custGeom>
              <a:avLst/>
              <a:gdLst>
                <a:gd name="txL" fmla="*/ 0 w 2055"/>
                <a:gd name="txT" fmla="*/ 0 h 2"/>
                <a:gd name="txR" fmla="*/ 2055 w 2055"/>
                <a:gd name="txB" fmla="*/ 2 h 2"/>
              </a:gdLst>
              <a:ahLst/>
              <a:cxnLst>
                <a:cxn ang="0">
                  <a:pos x="0" y="0"/>
                </a:cxn>
                <a:cxn ang="0">
                  <a:pos x="2055" y="2"/>
                </a:cxn>
              </a:cxnLst>
              <a:rect l="txL" t="txT" r="txR" b="txB"/>
              <a:pathLst>
                <a:path w="2055" h="2">
                  <a:moveTo>
                    <a:pt x="0" y="0"/>
                  </a:moveTo>
                  <a:lnTo>
                    <a:pt x="2055" y="2"/>
                  </a:lnTo>
                </a:path>
              </a:pathLst>
            </a:custGeom>
            <a:noFill/>
            <a:ln w="38100" cap="flat" cmpd="sng">
              <a:solidFill>
                <a:schemeClr val="tx1">
                  <a:alpha val="100000"/>
                </a:schemeClr>
              </a:solidFill>
              <a:prstDash val="solid"/>
              <a:round/>
              <a:headEnd type="stealth" w="med" len="med"/>
              <a:tailEnd type="stealth" w="med" len="med"/>
            </a:ln>
          </p:spPr>
          <p:txBody>
            <a:bodyPr/>
            <a:p>
              <a:endParaRPr lang="zh-CN" altLang="en-US"/>
            </a:p>
          </p:txBody>
        </p:sp>
        <p:sp>
          <p:nvSpPr>
            <p:cNvPr id="42082" name="Line 99"/>
            <p:cNvSpPr/>
            <p:nvPr/>
          </p:nvSpPr>
          <p:spPr>
            <a:xfrm>
              <a:off x="3211" y="2959"/>
              <a:ext cx="1111" cy="0"/>
            </a:xfrm>
            <a:prstGeom prst="line">
              <a:avLst/>
            </a:prstGeom>
            <a:ln w="38100" cap="flat" cmpd="sng">
              <a:solidFill>
                <a:srgbClr val="FF3300"/>
              </a:solidFill>
              <a:prstDash val="solid"/>
              <a:headEnd type="stealth" w="med" len="med"/>
              <a:tailEnd type="stealth" w="med" len="med"/>
            </a:ln>
          </p:spPr>
        </p:sp>
        <p:sp>
          <p:nvSpPr>
            <p:cNvPr id="42083" name="Line 100"/>
            <p:cNvSpPr/>
            <p:nvPr/>
          </p:nvSpPr>
          <p:spPr>
            <a:xfrm>
              <a:off x="3011" y="1991"/>
              <a:ext cx="1" cy="706"/>
            </a:xfrm>
            <a:prstGeom prst="line">
              <a:avLst/>
            </a:prstGeom>
            <a:ln w="19050" cap="flat" cmpd="sng">
              <a:solidFill>
                <a:schemeClr val="tx1"/>
              </a:solidFill>
              <a:prstDash val="solid"/>
              <a:headEnd type="none" w="med" len="med"/>
              <a:tailEnd type="none" w="med" len="med"/>
            </a:ln>
          </p:spPr>
        </p:sp>
        <p:sp>
          <p:nvSpPr>
            <p:cNvPr id="42084" name="Line 101"/>
            <p:cNvSpPr/>
            <p:nvPr/>
          </p:nvSpPr>
          <p:spPr>
            <a:xfrm>
              <a:off x="3012" y="2434"/>
              <a:ext cx="204" cy="2"/>
            </a:xfrm>
            <a:prstGeom prst="line">
              <a:avLst/>
            </a:prstGeom>
            <a:ln w="19050" cap="flat" cmpd="sng">
              <a:solidFill>
                <a:schemeClr val="tx1"/>
              </a:solidFill>
              <a:prstDash val="solid"/>
              <a:headEnd type="stealth" w="med" len="med"/>
              <a:tailEnd type="stealth" w="med" len="med"/>
            </a:ln>
          </p:spPr>
        </p:sp>
        <p:sp>
          <p:nvSpPr>
            <p:cNvPr id="42085" name="Line 102"/>
            <p:cNvSpPr/>
            <p:nvPr/>
          </p:nvSpPr>
          <p:spPr>
            <a:xfrm>
              <a:off x="3214" y="2435"/>
              <a:ext cx="204" cy="1"/>
            </a:xfrm>
            <a:prstGeom prst="line">
              <a:avLst/>
            </a:prstGeom>
            <a:ln w="19050" cap="flat" cmpd="sng">
              <a:solidFill>
                <a:schemeClr val="tx1"/>
              </a:solidFill>
              <a:prstDash val="solid"/>
              <a:headEnd type="stealth" w="med" len="med"/>
              <a:tailEnd type="stealth" w="med" len="med"/>
            </a:ln>
          </p:spPr>
        </p:sp>
        <p:sp>
          <p:nvSpPr>
            <p:cNvPr id="42086" name="Line 103"/>
            <p:cNvSpPr/>
            <p:nvPr/>
          </p:nvSpPr>
          <p:spPr>
            <a:xfrm>
              <a:off x="3411" y="2435"/>
              <a:ext cx="204" cy="1"/>
            </a:xfrm>
            <a:prstGeom prst="line">
              <a:avLst/>
            </a:prstGeom>
            <a:ln w="19050" cap="flat" cmpd="sng">
              <a:solidFill>
                <a:schemeClr val="tx1"/>
              </a:solidFill>
              <a:prstDash val="solid"/>
              <a:headEnd type="stealth" w="med" len="med"/>
              <a:tailEnd type="stealth" w="med" len="med"/>
            </a:ln>
          </p:spPr>
        </p:sp>
        <p:sp>
          <p:nvSpPr>
            <p:cNvPr id="42087" name="Line 104"/>
            <p:cNvSpPr/>
            <p:nvPr/>
          </p:nvSpPr>
          <p:spPr>
            <a:xfrm>
              <a:off x="4105" y="2435"/>
              <a:ext cx="204" cy="1"/>
            </a:xfrm>
            <a:prstGeom prst="line">
              <a:avLst/>
            </a:prstGeom>
            <a:ln w="19050" cap="flat" cmpd="sng">
              <a:solidFill>
                <a:schemeClr val="tx1"/>
              </a:solidFill>
              <a:prstDash val="solid"/>
              <a:headEnd type="stealth" w="med" len="med"/>
              <a:tailEnd type="stealth" w="med" len="med"/>
            </a:ln>
          </p:spPr>
        </p:sp>
        <p:sp>
          <p:nvSpPr>
            <p:cNvPr id="42088" name="Line 105"/>
            <p:cNvSpPr/>
            <p:nvPr/>
          </p:nvSpPr>
          <p:spPr>
            <a:xfrm>
              <a:off x="3617" y="1991"/>
              <a:ext cx="1" cy="706"/>
            </a:xfrm>
            <a:prstGeom prst="line">
              <a:avLst/>
            </a:prstGeom>
            <a:ln w="19050" cap="flat" cmpd="sng">
              <a:solidFill>
                <a:schemeClr val="tx1"/>
              </a:solidFill>
              <a:prstDash val="solid"/>
              <a:headEnd type="none" w="med" len="med"/>
              <a:tailEnd type="none" w="med" len="med"/>
            </a:ln>
          </p:spPr>
        </p:sp>
        <p:sp>
          <p:nvSpPr>
            <p:cNvPr id="42089" name="Rectangle 106"/>
            <p:cNvSpPr/>
            <p:nvPr/>
          </p:nvSpPr>
          <p:spPr>
            <a:xfrm>
              <a:off x="1222" y="2127"/>
              <a:ext cx="42"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900" b="1" i="1" dirty="0">
                  <a:latin typeface="Times New Roman" panose="02020603050405020304" pitchFamily="18" charset="0"/>
                </a:rPr>
                <a:t>t</a:t>
              </a:r>
              <a:endParaRPr lang="en-US" altLang="zh-CN" sz="2400" b="1" i="1" dirty="0">
                <a:latin typeface="Times New Roman" panose="02020603050405020304" pitchFamily="18" charset="0"/>
              </a:endParaRPr>
            </a:p>
          </p:txBody>
        </p:sp>
        <p:sp>
          <p:nvSpPr>
            <p:cNvPr id="42090" name="Rectangle 107"/>
            <p:cNvSpPr/>
            <p:nvPr/>
          </p:nvSpPr>
          <p:spPr>
            <a:xfrm>
              <a:off x="1281" y="2216"/>
              <a:ext cx="43"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200" b="1" dirty="0">
                  <a:latin typeface="Times New Roman" panose="02020603050405020304" pitchFamily="18" charset="0"/>
                </a:rPr>
                <a:t>c</a:t>
              </a:r>
              <a:endParaRPr lang="en-US" altLang="zh-CN" sz="2400" b="1" dirty="0">
                <a:latin typeface="Times New Roman" panose="02020603050405020304" pitchFamily="18" charset="0"/>
              </a:endParaRPr>
            </a:p>
          </p:txBody>
        </p:sp>
        <p:sp>
          <p:nvSpPr>
            <p:cNvPr id="42091" name="Rectangle 108"/>
            <p:cNvSpPr/>
            <p:nvPr/>
          </p:nvSpPr>
          <p:spPr>
            <a:xfrm>
              <a:off x="1234" y="2495"/>
              <a:ext cx="92"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X</a:t>
              </a:r>
              <a:endParaRPr lang="en-US" altLang="zh-CN" sz="2400" b="1" dirty="0">
                <a:latin typeface="Times New Roman" panose="02020603050405020304" pitchFamily="18" charset="0"/>
              </a:endParaRPr>
            </a:p>
          </p:txBody>
        </p:sp>
        <p:sp>
          <p:nvSpPr>
            <p:cNvPr id="42092" name="Freeform 109"/>
            <p:cNvSpPr/>
            <p:nvPr/>
          </p:nvSpPr>
          <p:spPr>
            <a:xfrm>
              <a:off x="1377" y="1991"/>
              <a:ext cx="1" cy="703"/>
            </a:xfrm>
            <a:custGeom>
              <a:avLst/>
              <a:gdLst>
                <a:gd name="txL" fmla="*/ 0 w 1"/>
                <a:gd name="txT" fmla="*/ 0 h 703"/>
                <a:gd name="txR" fmla="*/ 1 w 1"/>
                <a:gd name="txB" fmla="*/ 703 h 703"/>
              </a:gdLst>
              <a:ahLst/>
              <a:cxnLst>
                <a:cxn ang="0">
                  <a:pos x="1" y="0"/>
                </a:cxn>
                <a:cxn ang="0">
                  <a:pos x="0" y="703"/>
                </a:cxn>
              </a:cxnLst>
              <a:rect l="txL" t="txT" r="txR" b="txB"/>
              <a:pathLst>
                <a:path w="1" h="703">
                  <a:moveTo>
                    <a:pt x="1" y="0"/>
                  </a:moveTo>
                  <a:lnTo>
                    <a:pt x="0" y="703"/>
                  </a:lnTo>
                </a:path>
              </a:pathLst>
            </a:custGeom>
            <a:solidFill>
              <a:srgbClr val="FFFFFF">
                <a:alpha val="100000"/>
              </a:srgbClr>
            </a:solidFill>
            <a:ln w="19050" cap="flat" cmpd="sng">
              <a:solidFill>
                <a:schemeClr val="tx1">
                  <a:alpha val="100000"/>
                </a:schemeClr>
              </a:solidFill>
              <a:prstDash val="solid"/>
              <a:round/>
              <a:headEnd type="none" w="med" len="med"/>
              <a:tailEnd type="none" w="med" len="med"/>
            </a:ln>
          </p:spPr>
          <p:txBody>
            <a:bodyPr/>
            <a:p>
              <a:endParaRPr lang="zh-CN" altLang="en-US"/>
            </a:p>
          </p:txBody>
        </p:sp>
        <p:sp>
          <p:nvSpPr>
            <p:cNvPr id="42093" name="Rectangle 110"/>
            <p:cNvSpPr/>
            <p:nvPr/>
          </p:nvSpPr>
          <p:spPr>
            <a:xfrm>
              <a:off x="1425" y="2473"/>
              <a:ext cx="188" cy="233"/>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42094" name="Rectangle 111"/>
            <p:cNvSpPr/>
            <p:nvPr/>
          </p:nvSpPr>
          <p:spPr>
            <a:xfrm>
              <a:off x="1435" y="2131"/>
              <a:ext cx="42" cy="18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900" b="1" i="1" dirty="0">
                  <a:latin typeface="Times New Roman" panose="02020603050405020304" pitchFamily="18" charset="0"/>
                </a:rPr>
                <a:t>t</a:t>
              </a:r>
              <a:endParaRPr lang="en-US" altLang="zh-CN" sz="2400" b="1" i="1" dirty="0">
                <a:latin typeface="Times New Roman" panose="02020603050405020304" pitchFamily="18" charset="0"/>
              </a:endParaRPr>
            </a:p>
          </p:txBody>
        </p:sp>
        <p:sp>
          <p:nvSpPr>
            <p:cNvPr id="42095" name="Rectangle 112"/>
            <p:cNvSpPr/>
            <p:nvPr/>
          </p:nvSpPr>
          <p:spPr>
            <a:xfrm>
              <a:off x="1494" y="2222"/>
              <a:ext cx="43" cy="11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200" b="1" dirty="0">
                  <a:latin typeface="Times New Roman" panose="02020603050405020304" pitchFamily="18" charset="0"/>
                </a:rPr>
                <a:t>c</a:t>
              </a:r>
              <a:endParaRPr lang="en-US" altLang="zh-CN" sz="2400" b="1" dirty="0">
                <a:latin typeface="Times New Roman" panose="02020603050405020304" pitchFamily="18" charset="0"/>
              </a:endParaRPr>
            </a:p>
          </p:txBody>
        </p:sp>
        <p:sp>
          <p:nvSpPr>
            <p:cNvPr id="42096" name="Rectangle 113"/>
            <p:cNvSpPr/>
            <p:nvPr/>
          </p:nvSpPr>
          <p:spPr>
            <a:xfrm>
              <a:off x="1447" y="2495"/>
              <a:ext cx="92" cy="15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600" b="1" dirty="0">
                  <a:latin typeface="Times New Roman" panose="02020603050405020304" pitchFamily="18" charset="0"/>
                </a:rPr>
                <a:t>Y</a:t>
              </a:r>
              <a:endParaRPr lang="en-US" altLang="zh-CN" sz="2400" b="1" dirty="0">
                <a:latin typeface="Times New Roman" panose="02020603050405020304" pitchFamily="18" charset="0"/>
              </a:endParaRPr>
            </a:p>
          </p:txBody>
        </p:sp>
        <p:sp>
          <p:nvSpPr>
            <p:cNvPr id="42097" name="Line 114"/>
            <p:cNvSpPr/>
            <p:nvPr/>
          </p:nvSpPr>
          <p:spPr>
            <a:xfrm>
              <a:off x="1591" y="1991"/>
              <a:ext cx="1" cy="706"/>
            </a:xfrm>
            <a:prstGeom prst="line">
              <a:avLst/>
            </a:prstGeom>
            <a:ln w="19050" cap="flat" cmpd="sng">
              <a:solidFill>
                <a:schemeClr val="tx1"/>
              </a:solidFill>
              <a:prstDash val="solid"/>
              <a:headEnd type="none" w="med" len="med"/>
              <a:tailEnd type="none" w="med" len="med"/>
            </a:ln>
          </p:spPr>
        </p:sp>
        <p:sp>
          <p:nvSpPr>
            <p:cNvPr id="42098" name="Line 115"/>
            <p:cNvSpPr/>
            <p:nvPr/>
          </p:nvSpPr>
          <p:spPr>
            <a:xfrm>
              <a:off x="1385" y="2435"/>
              <a:ext cx="204" cy="1"/>
            </a:xfrm>
            <a:prstGeom prst="line">
              <a:avLst/>
            </a:prstGeom>
            <a:ln w="19050" cap="flat" cmpd="sng">
              <a:solidFill>
                <a:schemeClr val="tx1"/>
              </a:solidFill>
              <a:prstDash val="solid"/>
              <a:headEnd type="stealth" w="med" len="med"/>
              <a:tailEnd type="stealth" w="med" len="med"/>
            </a:ln>
          </p:spPr>
        </p:sp>
        <p:sp>
          <p:nvSpPr>
            <p:cNvPr id="42099" name="Line 116"/>
            <p:cNvSpPr/>
            <p:nvPr/>
          </p:nvSpPr>
          <p:spPr>
            <a:xfrm>
              <a:off x="3427" y="1991"/>
              <a:ext cx="1" cy="706"/>
            </a:xfrm>
            <a:prstGeom prst="line">
              <a:avLst/>
            </a:prstGeom>
            <a:ln w="19050" cap="flat" cmpd="sng">
              <a:solidFill>
                <a:schemeClr val="tx1"/>
              </a:solidFill>
              <a:prstDash val="solid"/>
              <a:headEnd type="none" w="med" len="med"/>
              <a:tailEnd type="none" w="med" len="med"/>
            </a:ln>
          </p:spPr>
        </p:sp>
        <p:sp>
          <p:nvSpPr>
            <p:cNvPr id="42100" name="Text Box 117"/>
            <p:cNvSpPr txBox="1"/>
            <p:nvPr/>
          </p:nvSpPr>
          <p:spPr>
            <a:xfrm>
              <a:off x="1980" y="2311"/>
              <a:ext cx="387" cy="231"/>
            </a:xfrm>
            <a:prstGeom prst="rect">
              <a:avLst/>
            </a:prstGeom>
            <a:noFill/>
            <a:ln w="9525">
              <a:noFill/>
            </a:ln>
          </p:spPr>
          <p:txBody>
            <a:bodyPr lIns="18000" rIns="180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latin typeface="Times New Roman" panose="02020603050405020304" pitchFamily="18" charset="0"/>
                  <a:ea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ea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ea typeface="Times New Roman" panose="02020603050405020304" pitchFamily="18" charset="0"/>
                </a:rPr>
                <a:t>•</a:t>
              </a:r>
              <a:endParaRPr lang="en-US" altLang="zh-CN" sz="1800" b="1" dirty="0">
                <a:latin typeface="Times New Roman" panose="02020603050405020304" pitchFamily="18" charset="0"/>
                <a:ea typeface="Times New Roman" panose="02020603050405020304" pitchFamily="18" charset="0"/>
              </a:endParaRPr>
            </a:p>
          </p:txBody>
        </p:sp>
        <p:sp>
          <p:nvSpPr>
            <p:cNvPr id="42101" name="Text Box 118"/>
            <p:cNvSpPr txBox="1"/>
            <p:nvPr/>
          </p:nvSpPr>
          <p:spPr>
            <a:xfrm>
              <a:off x="3747" y="2321"/>
              <a:ext cx="387" cy="231"/>
            </a:xfrm>
            <a:prstGeom prst="rect">
              <a:avLst/>
            </a:prstGeom>
            <a:noFill/>
            <a:ln w="9525">
              <a:noFill/>
            </a:ln>
          </p:spPr>
          <p:txBody>
            <a:bodyPr lIns="18000" rIns="1800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latin typeface="Times New Roman" panose="02020603050405020304" pitchFamily="18" charset="0"/>
                  <a:ea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ea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rPr>
                <a:t> </a:t>
              </a:r>
              <a:r>
                <a:rPr lang="en-US" altLang="zh-CN" sz="1800" b="1" dirty="0">
                  <a:latin typeface="Times New Roman" panose="02020603050405020304" pitchFamily="18" charset="0"/>
                  <a:ea typeface="Times New Roman" panose="02020603050405020304" pitchFamily="18" charset="0"/>
                </a:rPr>
                <a:t>•</a:t>
              </a:r>
              <a:endParaRPr lang="en-US" altLang="zh-CN" sz="1800" b="1" dirty="0">
                <a:latin typeface="Times New Roman" panose="02020603050405020304" pitchFamily="18" charset="0"/>
                <a:ea typeface="Times New Roman" panose="02020603050405020304" pitchFamily="18" charset="0"/>
              </a:endParaRPr>
            </a:p>
          </p:txBody>
        </p:sp>
        <p:sp>
          <p:nvSpPr>
            <p:cNvPr id="42102" name="Freeform 119"/>
            <p:cNvSpPr/>
            <p:nvPr/>
          </p:nvSpPr>
          <p:spPr>
            <a:xfrm>
              <a:off x="4332" y="1253"/>
              <a:ext cx="3" cy="2275"/>
            </a:xfrm>
            <a:custGeom>
              <a:avLst/>
              <a:gdLst>
                <a:gd name="txL" fmla="*/ 0 w 3"/>
                <a:gd name="txT" fmla="*/ 0 h 2275"/>
                <a:gd name="txR" fmla="*/ 3 w 3"/>
                <a:gd name="txB" fmla="*/ 2275 h 2275"/>
              </a:gdLst>
              <a:ahLst/>
              <a:cxnLst>
                <a:cxn ang="0">
                  <a:pos x="3" y="0"/>
                </a:cxn>
                <a:cxn ang="0">
                  <a:pos x="0" y="2275"/>
                </a:cxn>
              </a:cxnLst>
              <a:rect l="txL" t="txT" r="txR" b="txB"/>
              <a:pathLst>
                <a:path w="3" h="2275">
                  <a:moveTo>
                    <a:pt x="3" y="0"/>
                  </a:moveTo>
                  <a:lnTo>
                    <a:pt x="0" y="2275"/>
                  </a:lnTo>
                </a:path>
              </a:pathLst>
            </a:custGeom>
            <a:solidFill>
              <a:srgbClr val="FFFFFF">
                <a:alpha val="100000"/>
              </a:srgbClr>
            </a:solidFill>
            <a:ln w="38100" cap="flat" cmpd="sng">
              <a:solidFill>
                <a:schemeClr val="tx1">
                  <a:alpha val="100000"/>
                </a:schemeClr>
              </a:solidFill>
              <a:prstDash val="solid"/>
              <a:round/>
              <a:headEnd type="none" w="med" len="med"/>
              <a:tailEnd type="none" w="med" len="med"/>
            </a:ln>
          </p:spPr>
          <p:txBody>
            <a:bodyPr/>
            <a:p>
              <a:endParaRPr lang="zh-CN" altLang="en-US"/>
            </a:p>
          </p:txBody>
        </p:sp>
        <p:sp>
          <p:nvSpPr>
            <p:cNvPr id="42103" name="Line 120"/>
            <p:cNvSpPr/>
            <p:nvPr/>
          </p:nvSpPr>
          <p:spPr>
            <a:xfrm flipH="1">
              <a:off x="4549" y="1988"/>
              <a:ext cx="0" cy="706"/>
            </a:xfrm>
            <a:prstGeom prst="line">
              <a:avLst/>
            </a:prstGeom>
            <a:ln w="19050" cap="flat" cmpd="sng">
              <a:solidFill>
                <a:schemeClr val="tx1"/>
              </a:solidFill>
              <a:prstDash val="solid"/>
              <a:headEnd type="none" w="med" len="med"/>
              <a:tailEnd type="none" w="med" len="med"/>
            </a:ln>
          </p:spPr>
        </p:sp>
        <p:sp>
          <p:nvSpPr>
            <p:cNvPr id="42104" name="Line 121"/>
            <p:cNvSpPr/>
            <p:nvPr/>
          </p:nvSpPr>
          <p:spPr>
            <a:xfrm flipH="1">
              <a:off x="4756" y="1988"/>
              <a:ext cx="0" cy="706"/>
            </a:xfrm>
            <a:prstGeom prst="line">
              <a:avLst/>
            </a:prstGeom>
            <a:ln w="19050" cap="flat" cmpd="sng">
              <a:solidFill>
                <a:schemeClr val="tx1"/>
              </a:solidFill>
              <a:prstDash val="solid"/>
              <a:headEnd type="none" w="med" len="med"/>
              <a:tailEnd type="none" w="med" len="med"/>
            </a:ln>
          </p:spPr>
        </p:sp>
        <p:sp>
          <p:nvSpPr>
            <p:cNvPr id="42105" name="Freeform 122"/>
            <p:cNvSpPr/>
            <p:nvPr/>
          </p:nvSpPr>
          <p:spPr>
            <a:xfrm>
              <a:off x="1156" y="2435"/>
              <a:ext cx="203" cy="1"/>
            </a:xfrm>
            <a:custGeom>
              <a:avLst/>
              <a:gdLst>
                <a:gd name="txL" fmla="*/ 0 w 203"/>
                <a:gd name="txT" fmla="*/ 0 h 1"/>
                <a:gd name="txR" fmla="*/ 203 w 203"/>
                <a:gd name="txB" fmla="*/ 1 h 1"/>
              </a:gdLst>
              <a:ahLst/>
              <a:cxnLst>
                <a:cxn ang="0">
                  <a:pos x="0" y="1"/>
                </a:cxn>
                <a:cxn ang="0">
                  <a:pos x="203" y="0"/>
                </a:cxn>
              </a:cxnLst>
              <a:rect l="txL" t="txT" r="txR" b="txB"/>
              <a:pathLst>
                <a:path w="203" h="1">
                  <a:moveTo>
                    <a:pt x="0" y="1"/>
                  </a:moveTo>
                  <a:lnTo>
                    <a:pt x="203" y="0"/>
                  </a:lnTo>
                </a:path>
              </a:pathLst>
            </a:custGeom>
            <a:noFill/>
            <a:ln w="19050" cap="flat" cmpd="sng">
              <a:solidFill>
                <a:schemeClr val="tx1">
                  <a:alpha val="100000"/>
                </a:schemeClr>
              </a:solidFill>
              <a:prstDash val="solid"/>
              <a:round/>
              <a:headEnd type="stealth" w="med" len="med"/>
              <a:tailEnd type="stealth" w="med" len="med"/>
            </a:ln>
          </p:spPr>
          <p:txBody>
            <a:bodyPr/>
            <a:p>
              <a:endParaRPr lang="zh-CN" altLang="en-US"/>
            </a:p>
          </p:txBody>
        </p:sp>
        <p:sp>
          <p:nvSpPr>
            <p:cNvPr id="42106" name="Freeform 123"/>
            <p:cNvSpPr/>
            <p:nvPr/>
          </p:nvSpPr>
          <p:spPr>
            <a:xfrm>
              <a:off x="2787" y="2432"/>
              <a:ext cx="211" cy="4"/>
            </a:xfrm>
            <a:custGeom>
              <a:avLst/>
              <a:gdLst>
                <a:gd name="txL" fmla="*/ 0 w 211"/>
                <a:gd name="txT" fmla="*/ 0 h 4"/>
                <a:gd name="txR" fmla="*/ 211 w 211"/>
                <a:gd name="txB" fmla="*/ 4 h 4"/>
              </a:gdLst>
              <a:ahLst/>
              <a:cxnLst>
                <a:cxn ang="0">
                  <a:pos x="0" y="4"/>
                </a:cxn>
                <a:cxn ang="0">
                  <a:pos x="211" y="0"/>
                </a:cxn>
              </a:cxnLst>
              <a:rect l="txL" t="txT" r="txR" b="txB"/>
              <a:pathLst>
                <a:path w="211" h="4">
                  <a:moveTo>
                    <a:pt x="0" y="4"/>
                  </a:moveTo>
                  <a:lnTo>
                    <a:pt x="211" y="0"/>
                  </a:lnTo>
                </a:path>
              </a:pathLst>
            </a:custGeom>
            <a:noFill/>
            <a:ln w="19050" cap="flat" cmpd="sng">
              <a:solidFill>
                <a:schemeClr val="tx1">
                  <a:alpha val="100000"/>
                </a:schemeClr>
              </a:solidFill>
              <a:prstDash val="solid"/>
              <a:round/>
              <a:headEnd type="stealth" w="med" len="med"/>
              <a:tailEnd type="stealth" w="med" len="med"/>
            </a:ln>
          </p:spPr>
          <p:txBody>
            <a:bodyPr/>
            <a:p>
              <a:endParaRPr lang="zh-CN" altLang="en-US"/>
            </a:p>
          </p:txBody>
        </p:sp>
      </p:grpSp>
      <p:sp>
        <p:nvSpPr>
          <p:cNvPr id="41992" name="Text Box 125"/>
          <p:cNvSpPr txBox="1"/>
          <p:nvPr/>
        </p:nvSpPr>
        <p:spPr>
          <a:xfrm>
            <a:off x="5508625" y="1309688"/>
            <a:ext cx="382111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latin typeface="Times New Roman" panose="02020603050405020304" pitchFamily="18" charset="0"/>
              </a:rPr>
              <a:t>以</a:t>
            </a:r>
            <a:r>
              <a:rPr lang="en-US" altLang="zh-CN" sz="2400" b="1" dirty="0">
                <a:latin typeface="Times New Roman" panose="02020603050405020304" pitchFamily="18" charset="0"/>
              </a:rPr>
              <a:t>128 </a:t>
            </a:r>
            <a:r>
              <a:rPr lang="en-US" altLang="zh-CN" sz="2400" b="1" dirty="0">
                <a:latin typeface="Times New Roman" panose="02020603050405020304" pitchFamily="18" charset="0"/>
                <a:cs typeface="Times New Roman" panose="02020603050405020304" pitchFamily="18" charset="0"/>
              </a:rPr>
              <a:t>× 128 </a:t>
            </a:r>
            <a:r>
              <a:rPr lang="zh-CN" altLang="en-US" sz="2400" b="1" dirty="0">
                <a:latin typeface="Times New Roman" panose="02020603050405020304" pitchFamily="18" charset="0"/>
                <a:cs typeface="Times New Roman" panose="02020603050405020304" pitchFamily="18" charset="0"/>
              </a:rPr>
              <a:t>矩阵为例</a:t>
            </a:r>
            <a:endParaRPr lang="zh-CN" altLang="en-US" sz="2400" b="1"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8" name="Text Box 2"/>
          <p:cNvSpPr txBox="1"/>
          <p:nvPr/>
        </p:nvSpPr>
        <p:spPr>
          <a:xfrm>
            <a:off x="1371600" y="4830763"/>
            <a:ext cx="2895600" cy="5794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b="1" i="1" dirty="0">
                <a:latin typeface="Times New Roman" panose="02020603050405020304" pitchFamily="18" charset="0"/>
              </a:rPr>
              <a:t>t</a:t>
            </a:r>
            <a:r>
              <a:rPr lang="en-US" altLang="zh-CN" sz="2800" b="1" baseline="-25000" dirty="0">
                <a:latin typeface="Times New Roman" panose="02020603050405020304" pitchFamily="18" charset="0"/>
              </a:rPr>
              <a:t>C</a:t>
            </a:r>
            <a:r>
              <a:rPr lang="en-US" altLang="zh-CN" sz="2800" b="1" dirty="0">
                <a:latin typeface="宋体" panose="02010600030101010101" pitchFamily="2" charset="-122"/>
              </a:rPr>
              <a:t> = </a:t>
            </a:r>
            <a:r>
              <a:rPr lang="en-US" altLang="zh-CN" b="1" i="1" dirty="0">
                <a:latin typeface="Times New Roman" panose="02020603050405020304" pitchFamily="18" charset="0"/>
              </a:rPr>
              <a:t>t</a:t>
            </a:r>
            <a:r>
              <a:rPr lang="en-US" altLang="zh-CN" sz="2800" b="1" baseline="-25000" dirty="0">
                <a:latin typeface="Times New Roman" panose="02020603050405020304" pitchFamily="18" charset="0"/>
              </a:rPr>
              <a:t>M</a:t>
            </a:r>
            <a:r>
              <a:rPr lang="en-US" altLang="zh-CN" sz="2800" b="1" baseline="-25000" dirty="0">
                <a:latin typeface="宋体" panose="02010600030101010101" pitchFamily="2" charset="-122"/>
              </a:rPr>
              <a:t> </a:t>
            </a:r>
            <a:r>
              <a:rPr lang="en-US" altLang="zh-CN" sz="2800" b="1" dirty="0">
                <a:latin typeface="宋体" panose="02010600030101010101" pitchFamily="2" charset="-122"/>
              </a:rPr>
              <a:t>+ </a:t>
            </a:r>
            <a:r>
              <a:rPr lang="en-US" altLang="zh-CN" b="1" i="1" dirty="0">
                <a:latin typeface="Times New Roman" panose="02020603050405020304" pitchFamily="18" charset="0"/>
              </a:rPr>
              <a:t>t</a:t>
            </a:r>
            <a:r>
              <a:rPr lang="en-US" altLang="zh-CN" sz="2800" b="1" baseline="-25000" dirty="0">
                <a:latin typeface="Times New Roman" panose="02020603050405020304" pitchFamily="18" charset="0"/>
              </a:rPr>
              <a:t>R</a:t>
            </a:r>
            <a:endParaRPr lang="en-US" altLang="zh-CN" sz="2800" b="1" baseline="-25000" dirty="0">
              <a:latin typeface="Times New Roman" panose="02020603050405020304" pitchFamily="18" charset="0"/>
            </a:endParaRPr>
          </a:p>
        </p:txBody>
      </p:sp>
      <p:grpSp>
        <p:nvGrpSpPr>
          <p:cNvPr id="2" name="Group 3"/>
          <p:cNvGrpSpPr/>
          <p:nvPr/>
        </p:nvGrpSpPr>
        <p:grpSpPr>
          <a:xfrm>
            <a:off x="1833563" y="5470525"/>
            <a:ext cx="2057400" cy="1082675"/>
            <a:chOff x="1200" y="3350"/>
            <a:chExt cx="1296" cy="682"/>
          </a:xfrm>
        </p:grpSpPr>
        <p:sp>
          <p:nvSpPr>
            <p:cNvPr id="43061" name="Line 4"/>
            <p:cNvSpPr/>
            <p:nvPr/>
          </p:nvSpPr>
          <p:spPr>
            <a:xfrm>
              <a:off x="1536" y="3350"/>
              <a:ext cx="0" cy="336"/>
            </a:xfrm>
            <a:prstGeom prst="line">
              <a:avLst/>
            </a:prstGeom>
            <a:ln w="63500" cap="flat" cmpd="sng">
              <a:solidFill>
                <a:schemeClr val="tx1"/>
              </a:solidFill>
              <a:prstDash val="solid"/>
              <a:headEnd type="none" w="med" len="med"/>
              <a:tailEnd type="stealth" w="med" len="med"/>
            </a:ln>
          </p:spPr>
        </p:sp>
        <p:sp>
          <p:nvSpPr>
            <p:cNvPr id="43062" name="Line 5"/>
            <p:cNvSpPr/>
            <p:nvPr/>
          </p:nvSpPr>
          <p:spPr>
            <a:xfrm>
              <a:off x="2064" y="3350"/>
              <a:ext cx="0" cy="336"/>
            </a:xfrm>
            <a:prstGeom prst="line">
              <a:avLst/>
            </a:prstGeom>
            <a:ln w="63500" cap="flat" cmpd="sng">
              <a:solidFill>
                <a:schemeClr val="tx1"/>
              </a:solidFill>
              <a:prstDash val="solid"/>
              <a:headEnd type="none" w="med" len="med"/>
              <a:tailEnd type="stealth" w="med" len="med"/>
            </a:ln>
          </p:spPr>
        </p:sp>
        <p:sp>
          <p:nvSpPr>
            <p:cNvPr id="43063" name="Text Box 6"/>
            <p:cNvSpPr txBox="1"/>
            <p:nvPr/>
          </p:nvSpPr>
          <p:spPr>
            <a:xfrm>
              <a:off x="1200" y="3705"/>
              <a:ext cx="72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rPr>
                <a:t>读写</a:t>
              </a:r>
              <a:endParaRPr lang="zh-CN" altLang="en-US" sz="2800" b="1" dirty="0">
                <a:latin typeface="Times New Roman" panose="02020603050405020304" pitchFamily="18" charset="0"/>
              </a:endParaRPr>
            </a:p>
          </p:txBody>
        </p:sp>
        <p:sp>
          <p:nvSpPr>
            <p:cNvPr id="43064" name="Text Box 7"/>
            <p:cNvSpPr txBox="1"/>
            <p:nvPr/>
          </p:nvSpPr>
          <p:spPr>
            <a:xfrm>
              <a:off x="1776" y="3705"/>
              <a:ext cx="720" cy="32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rPr>
                <a:t>刷新</a:t>
              </a:r>
              <a:endParaRPr lang="zh-CN" altLang="en-US" sz="2800" b="1" dirty="0">
                <a:latin typeface="Times New Roman" panose="02020603050405020304" pitchFamily="18" charset="0"/>
              </a:endParaRPr>
            </a:p>
          </p:txBody>
        </p:sp>
      </p:grpSp>
      <p:sp>
        <p:nvSpPr>
          <p:cNvPr id="43012" name="Text Box 9"/>
          <p:cNvSpPr txBox="1"/>
          <p:nvPr/>
        </p:nvSpPr>
        <p:spPr>
          <a:xfrm>
            <a:off x="962025" y="242888"/>
            <a:ext cx="6705600" cy="579437"/>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b="1" dirty="0">
                <a:solidFill>
                  <a:srgbClr val="0000FF"/>
                </a:solidFill>
                <a:latin typeface="Times New Roman" panose="02020603050405020304" pitchFamily="18" charset="0"/>
                <a:ea typeface="仿宋_GB2312" pitchFamily="49" charset="-122"/>
              </a:rPr>
              <a:t>②</a:t>
            </a:r>
            <a:r>
              <a:rPr lang="en-US" altLang="zh-CN" b="1" dirty="0">
                <a:solidFill>
                  <a:srgbClr val="0000FF"/>
                </a:solidFill>
                <a:latin typeface="Times New Roman" panose="02020603050405020304" pitchFamily="18" charset="0"/>
                <a:ea typeface="楷体_GB2312" pitchFamily="49" charset="-122"/>
              </a:rPr>
              <a:t> </a:t>
            </a:r>
            <a:r>
              <a:rPr lang="zh-CN" altLang="en-US" b="1" dirty="0">
                <a:solidFill>
                  <a:srgbClr val="0000FF"/>
                </a:solidFill>
                <a:latin typeface="Times New Roman" panose="02020603050405020304" pitchFamily="18" charset="0"/>
                <a:ea typeface="楷体_GB2312" pitchFamily="49" charset="-122"/>
              </a:rPr>
              <a:t>分散刷新</a:t>
            </a:r>
            <a:r>
              <a:rPr lang="zh-CN" altLang="en-US" b="1" dirty="0">
                <a:latin typeface="Times New Roman" panose="02020603050405020304" pitchFamily="18" charset="0"/>
                <a:ea typeface="楷体_GB2312" pitchFamily="49" charset="-122"/>
              </a:rPr>
              <a:t>（存取周期为</a:t>
            </a:r>
            <a:r>
              <a:rPr lang="en-US" altLang="zh-CN" b="1" dirty="0">
                <a:latin typeface="Times New Roman" panose="02020603050405020304" pitchFamily="18" charset="0"/>
                <a:ea typeface="楷体_GB2312" pitchFamily="49" charset="-122"/>
              </a:rPr>
              <a:t>1</a:t>
            </a:r>
            <a:r>
              <a:rPr lang="en-US" altLang="zh-CN" sz="800" b="1" dirty="0">
                <a:latin typeface="Times New Roman" panose="02020603050405020304" pitchFamily="18" charset="0"/>
                <a:ea typeface="楷体_GB2312" pitchFamily="49" charset="-122"/>
              </a:rPr>
              <a:t> </a:t>
            </a:r>
            <a:r>
              <a:rPr lang="en-US" altLang="zh-CN" b="1" dirty="0">
                <a:latin typeface="Times New Roman" panose="02020603050405020304" pitchFamily="18" charset="0"/>
                <a:ea typeface="楷体_GB2312" pitchFamily="49" charset="-122"/>
                <a:sym typeface="Symbol" panose="05050102010706020507" pitchFamily="18" charset="2"/>
              </a:rPr>
              <a:t></a:t>
            </a:r>
            <a:r>
              <a:rPr lang="en-US" altLang="zh-CN" b="1" dirty="0">
                <a:latin typeface="Times New Roman" panose="02020603050405020304" pitchFamily="18" charset="0"/>
                <a:ea typeface="楷体_GB2312" pitchFamily="49" charset="-122"/>
              </a:rPr>
              <a:t>s</a:t>
            </a:r>
            <a:r>
              <a:rPr lang="en-US" altLang="zh-CN" sz="800" b="1" dirty="0">
                <a:latin typeface="宋体" panose="02010600030101010101" pitchFamily="2" charset="-122"/>
                <a:ea typeface="楷体_GB2312" pitchFamily="49" charset="-122"/>
              </a:rPr>
              <a:t> </a:t>
            </a:r>
            <a:r>
              <a:rPr lang="zh-CN" altLang="en-US" b="1" dirty="0">
                <a:latin typeface="Times New Roman" panose="02020603050405020304" pitchFamily="18" charset="0"/>
                <a:ea typeface="楷体_GB2312" pitchFamily="49" charset="-122"/>
              </a:rPr>
              <a:t>）</a:t>
            </a:r>
            <a:endParaRPr lang="zh-CN" altLang="en-US" b="1" dirty="0">
              <a:latin typeface="Times New Roman" panose="02020603050405020304" pitchFamily="18" charset="0"/>
              <a:ea typeface="楷体_GB2312" pitchFamily="49" charset="-122"/>
            </a:endParaRPr>
          </a:p>
        </p:txBody>
      </p:sp>
      <p:sp>
        <p:nvSpPr>
          <p:cNvPr id="239626" name="Text Box 10"/>
          <p:cNvSpPr txBox="1"/>
          <p:nvPr/>
        </p:nvSpPr>
        <p:spPr>
          <a:xfrm>
            <a:off x="4191000" y="6034088"/>
            <a:ext cx="49530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800" b="1" dirty="0">
                <a:latin typeface="Times New Roman" panose="02020603050405020304" pitchFamily="18" charset="0"/>
              </a:rPr>
              <a:t>(</a:t>
            </a:r>
            <a:r>
              <a:rPr lang="zh-CN" altLang="en-US" sz="2800" b="1" dirty="0">
                <a:latin typeface="Times New Roman" panose="02020603050405020304" pitchFamily="18" charset="0"/>
              </a:rPr>
              <a:t>存取周期为</a:t>
            </a:r>
            <a:r>
              <a:rPr lang="en-US" altLang="zh-CN" sz="2800" b="1" dirty="0">
                <a:latin typeface="Times New Roman" panose="02020603050405020304" pitchFamily="18" charset="0"/>
              </a:rPr>
              <a:t> 0.5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s + 0.5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s</a:t>
            </a:r>
            <a:r>
              <a:rPr lang="en-US" altLang="zh-CN" sz="800" b="1" dirty="0">
                <a:latin typeface="宋体" panose="02010600030101010101" pitchFamily="2" charset="-122"/>
              </a:rPr>
              <a:t> </a:t>
            </a:r>
            <a:r>
              <a:rPr lang="en-US" altLang="zh-CN" sz="2800" b="1" dirty="0">
                <a:latin typeface="Times New Roman" panose="02020603050405020304" pitchFamily="18" charset="0"/>
              </a:rPr>
              <a:t>)</a:t>
            </a:r>
            <a:endParaRPr lang="en-US" altLang="zh-CN" sz="2800" b="1" dirty="0">
              <a:latin typeface="Times New Roman" panose="02020603050405020304" pitchFamily="18" charset="0"/>
            </a:endParaRPr>
          </a:p>
        </p:txBody>
      </p:sp>
      <p:sp>
        <p:nvSpPr>
          <p:cNvPr id="239628" name="Text Box 12"/>
          <p:cNvSpPr txBox="1"/>
          <p:nvPr/>
        </p:nvSpPr>
        <p:spPr>
          <a:xfrm>
            <a:off x="762000" y="928688"/>
            <a:ext cx="48006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latin typeface="Times New Roman" panose="02020603050405020304" pitchFamily="18" charset="0"/>
              </a:rPr>
              <a:t>以</a:t>
            </a:r>
            <a:r>
              <a:rPr lang="en-US" altLang="zh-CN" sz="2800" b="1" dirty="0">
                <a:latin typeface="Times New Roman" panose="02020603050405020304" pitchFamily="18" charset="0"/>
              </a:rPr>
              <a:t> 128</a:t>
            </a:r>
            <a:r>
              <a:rPr lang="en-US" altLang="zh-CN" sz="2400" b="1" dirty="0">
                <a:latin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×128 </a:t>
            </a:r>
            <a:r>
              <a:rPr lang="zh-CN" altLang="en-US" sz="2800" b="1" dirty="0">
                <a:latin typeface="Times New Roman" panose="02020603050405020304" pitchFamily="18" charset="0"/>
                <a:cs typeface="Times New Roman" panose="02020603050405020304" pitchFamily="18" charset="0"/>
              </a:rPr>
              <a:t>矩阵为例</a:t>
            </a:r>
            <a:endParaRPr lang="zh-CN" altLang="en-US" sz="2800" b="1" dirty="0">
              <a:latin typeface="Times New Roman" panose="02020603050405020304" pitchFamily="18" charset="0"/>
              <a:ea typeface="Times New Roman" panose="02020603050405020304" pitchFamily="18" charset="0"/>
            </a:endParaRPr>
          </a:p>
        </p:txBody>
      </p:sp>
      <p:grpSp>
        <p:nvGrpSpPr>
          <p:cNvPr id="3" name="Group 14"/>
          <p:cNvGrpSpPr/>
          <p:nvPr/>
        </p:nvGrpSpPr>
        <p:grpSpPr>
          <a:xfrm>
            <a:off x="152400" y="1801813"/>
            <a:ext cx="8458200" cy="2922587"/>
            <a:chOff x="96" y="1135"/>
            <a:chExt cx="5328" cy="1841"/>
          </a:xfrm>
        </p:grpSpPr>
        <p:grpSp>
          <p:nvGrpSpPr>
            <p:cNvPr id="43016" name="Group 15"/>
            <p:cNvGrpSpPr/>
            <p:nvPr/>
          </p:nvGrpSpPr>
          <p:grpSpPr>
            <a:xfrm>
              <a:off x="96" y="1135"/>
              <a:ext cx="5328" cy="1841"/>
              <a:chOff x="96" y="1135"/>
              <a:chExt cx="5328" cy="1841"/>
            </a:xfrm>
          </p:grpSpPr>
          <p:sp>
            <p:nvSpPr>
              <p:cNvPr id="43018" name="Line 16"/>
              <p:cNvSpPr/>
              <p:nvPr/>
            </p:nvSpPr>
            <p:spPr>
              <a:xfrm>
                <a:off x="96" y="1716"/>
                <a:ext cx="1594" cy="1"/>
              </a:xfrm>
              <a:prstGeom prst="line">
                <a:avLst/>
              </a:prstGeom>
              <a:ln w="38100" cap="flat" cmpd="sng">
                <a:solidFill>
                  <a:schemeClr val="tx1"/>
                </a:solidFill>
                <a:prstDash val="solid"/>
                <a:headEnd type="none" w="med" len="med"/>
                <a:tailEnd type="none" w="med" len="med"/>
              </a:ln>
            </p:spPr>
          </p:sp>
          <p:sp>
            <p:nvSpPr>
              <p:cNvPr id="43019" name="Line 17"/>
              <p:cNvSpPr/>
              <p:nvPr/>
            </p:nvSpPr>
            <p:spPr>
              <a:xfrm>
                <a:off x="416" y="1163"/>
                <a:ext cx="1" cy="1813"/>
              </a:xfrm>
              <a:prstGeom prst="line">
                <a:avLst/>
              </a:prstGeom>
              <a:ln w="28575" cap="flat" cmpd="sng">
                <a:solidFill>
                  <a:schemeClr val="tx1"/>
                </a:solidFill>
                <a:prstDash val="solid"/>
                <a:headEnd type="none" w="med" len="med"/>
                <a:tailEnd type="none" w="med" len="med"/>
              </a:ln>
            </p:spPr>
          </p:sp>
          <p:sp>
            <p:nvSpPr>
              <p:cNvPr id="43020" name="Line 18"/>
              <p:cNvSpPr/>
              <p:nvPr/>
            </p:nvSpPr>
            <p:spPr>
              <a:xfrm>
                <a:off x="794" y="1163"/>
                <a:ext cx="1" cy="1046"/>
              </a:xfrm>
              <a:prstGeom prst="line">
                <a:avLst/>
              </a:prstGeom>
              <a:ln w="28575" cap="flat" cmpd="sng">
                <a:solidFill>
                  <a:schemeClr val="tx1"/>
                </a:solidFill>
                <a:prstDash val="solid"/>
                <a:headEnd type="none" w="med" len="med"/>
                <a:tailEnd type="none" w="med" len="med"/>
              </a:ln>
            </p:spPr>
          </p:sp>
          <p:sp>
            <p:nvSpPr>
              <p:cNvPr id="43021" name="Line 19"/>
              <p:cNvSpPr/>
              <p:nvPr/>
            </p:nvSpPr>
            <p:spPr>
              <a:xfrm>
                <a:off x="1172" y="1163"/>
                <a:ext cx="1" cy="1462"/>
              </a:xfrm>
              <a:prstGeom prst="line">
                <a:avLst/>
              </a:prstGeom>
              <a:ln w="28575" cap="flat" cmpd="sng">
                <a:solidFill>
                  <a:schemeClr val="tx1"/>
                </a:solidFill>
                <a:prstDash val="solid"/>
                <a:headEnd type="none" w="med" len="med"/>
                <a:tailEnd type="none" w="med" len="med"/>
              </a:ln>
            </p:spPr>
          </p:sp>
          <p:sp>
            <p:nvSpPr>
              <p:cNvPr id="43022" name="Rectangle 20"/>
              <p:cNvSpPr/>
              <p:nvPr/>
            </p:nvSpPr>
            <p:spPr>
              <a:xfrm>
                <a:off x="467" y="1135"/>
                <a:ext cx="272"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700" b="1" dirty="0">
                    <a:latin typeface="Times New Roman" panose="02020603050405020304" pitchFamily="18" charset="0"/>
                  </a:rPr>
                  <a:t>W/R</a:t>
                </a:r>
                <a:endParaRPr lang="en-US" altLang="zh-CN" sz="1700" b="1" dirty="0">
                  <a:latin typeface="Times New Roman" panose="02020603050405020304" pitchFamily="18" charset="0"/>
                </a:endParaRPr>
              </a:p>
            </p:txBody>
          </p:sp>
          <p:sp>
            <p:nvSpPr>
              <p:cNvPr id="43023" name="Line 21"/>
              <p:cNvSpPr/>
              <p:nvPr/>
            </p:nvSpPr>
            <p:spPr>
              <a:xfrm>
                <a:off x="1550" y="1163"/>
                <a:ext cx="1" cy="1115"/>
              </a:xfrm>
              <a:prstGeom prst="line">
                <a:avLst/>
              </a:prstGeom>
              <a:ln w="28575" cap="flat" cmpd="sng">
                <a:solidFill>
                  <a:schemeClr val="tx1"/>
                </a:solidFill>
                <a:prstDash val="solid"/>
                <a:headEnd type="none" w="med" len="med"/>
                <a:tailEnd type="none" w="med" len="med"/>
              </a:ln>
            </p:spPr>
          </p:sp>
          <p:sp>
            <p:nvSpPr>
              <p:cNvPr id="43024" name="Rectangle 22"/>
              <p:cNvSpPr/>
              <p:nvPr/>
            </p:nvSpPr>
            <p:spPr>
              <a:xfrm>
                <a:off x="825" y="1227"/>
                <a:ext cx="272"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700" b="1" dirty="0">
                    <a:latin typeface="Times New Roman" panose="02020603050405020304" pitchFamily="18" charset="0"/>
                  </a:rPr>
                  <a:t>REF</a:t>
                </a:r>
                <a:endParaRPr lang="en-US" altLang="zh-CN" sz="1700" b="1" dirty="0">
                  <a:latin typeface="Times New Roman" panose="02020603050405020304" pitchFamily="18" charset="0"/>
                </a:endParaRPr>
              </a:p>
            </p:txBody>
          </p:sp>
          <p:sp>
            <p:nvSpPr>
              <p:cNvPr id="43025" name="Rectangle 23"/>
              <p:cNvSpPr/>
              <p:nvPr/>
            </p:nvSpPr>
            <p:spPr>
              <a:xfrm>
                <a:off x="920" y="1502"/>
                <a:ext cx="68"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700" b="1" dirty="0">
                    <a:latin typeface="Times New Roman" panose="02020603050405020304" pitchFamily="18" charset="0"/>
                  </a:rPr>
                  <a:t>0</a:t>
                </a:r>
                <a:endParaRPr lang="en-US" altLang="zh-CN" sz="2400" b="1" dirty="0">
                  <a:latin typeface="Times New Roman" panose="02020603050405020304" pitchFamily="18" charset="0"/>
                </a:endParaRPr>
              </a:p>
            </p:txBody>
          </p:sp>
          <p:sp>
            <p:nvSpPr>
              <p:cNvPr id="43026" name="Rectangle 24"/>
              <p:cNvSpPr/>
              <p:nvPr/>
            </p:nvSpPr>
            <p:spPr>
              <a:xfrm>
                <a:off x="1221" y="1135"/>
                <a:ext cx="272"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700" b="1" dirty="0">
                    <a:latin typeface="Times New Roman" panose="02020603050405020304" pitchFamily="18" charset="0"/>
                  </a:rPr>
                  <a:t>W/R</a:t>
                </a:r>
                <a:endParaRPr lang="en-US" altLang="zh-CN" sz="2400" b="1" dirty="0">
                  <a:latin typeface="Times New Roman" panose="02020603050405020304" pitchFamily="18" charset="0"/>
                </a:endParaRPr>
              </a:p>
            </p:txBody>
          </p:sp>
          <p:sp>
            <p:nvSpPr>
              <p:cNvPr id="43027" name="Rectangle 25"/>
              <p:cNvSpPr/>
              <p:nvPr/>
            </p:nvSpPr>
            <p:spPr>
              <a:xfrm>
                <a:off x="874" y="1750"/>
                <a:ext cx="53"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rPr>
                  <a:t>t</a:t>
                </a:r>
                <a:endParaRPr lang="en-US" altLang="zh-CN" sz="2400" b="1" i="1" dirty="0">
                  <a:latin typeface="Times New Roman" panose="02020603050405020304" pitchFamily="18" charset="0"/>
                </a:endParaRPr>
              </a:p>
            </p:txBody>
          </p:sp>
          <p:sp>
            <p:nvSpPr>
              <p:cNvPr id="43028" name="Rectangle 26"/>
              <p:cNvSpPr/>
              <p:nvPr/>
            </p:nvSpPr>
            <p:spPr>
              <a:xfrm>
                <a:off x="944" y="1853"/>
                <a:ext cx="87" cy="14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500" b="1" dirty="0">
                    <a:latin typeface="Times New Roman" panose="02020603050405020304" pitchFamily="18" charset="0"/>
                  </a:rPr>
                  <a:t>R</a:t>
                </a:r>
                <a:endParaRPr lang="en-US" altLang="zh-CN" sz="2400" b="1" dirty="0">
                  <a:latin typeface="Times New Roman" panose="02020603050405020304" pitchFamily="18" charset="0"/>
                </a:endParaRPr>
              </a:p>
            </p:txBody>
          </p:sp>
          <p:sp>
            <p:nvSpPr>
              <p:cNvPr id="43029" name="Rectangle 27"/>
              <p:cNvSpPr/>
              <p:nvPr/>
            </p:nvSpPr>
            <p:spPr>
              <a:xfrm>
                <a:off x="520" y="1750"/>
                <a:ext cx="53"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rPr>
                  <a:t>t</a:t>
                </a:r>
                <a:endParaRPr lang="en-US" altLang="zh-CN" sz="2400" b="1" i="1" dirty="0">
                  <a:latin typeface="Times New Roman" panose="02020603050405020304" pitchFamily="18" charset="0"/>
                </a:endParaRPr>
              </a:p>
            </p:txBody>
          </p:sp>
          <p:sp>
            <p:nvSpPr>
              <p:cNvPr id="43030" name="Rectangle 28"/>
              <p:cNvSpPr/>
              <p:nvPr/>
            </p:nvSpPr>
            <p:spPr>
              <a:xfrm>
                <a:off x="604" y="1853"/>
                <a:ext cx="113" cy="14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500" b="1" dirty="0">
                    <a:latin typeface="Times New Roman" panose="02020603050405020304" pitchFamily="18" charset="0"/>
                  </a:rPr>
                  <a:t>M</a:t>
                </a:r>
                <a:endParaRPr lang="en-US" altLang="zh-CN" sz="2400" b="1" dirty="0">
                  <a:latin typeface="Times New Roman" panose="02020603050405020304" pitchFamily="18" charset="0"/>
                </a:endParaRPr>
              </a:p>
            </p:txBody>
          </p:sp>
          <p:sp>
            <p:nvSpPr>
              <p:cNvPr id="43031" name="Rectangle 29"/>
              <p:cNvSpPr/>
              <p:nvPr/>
            </p:nvSpPr>
            <p:spPr>
              <a:xfrm>
                <a:off x="761" y="2239"/>
                <a:ext cx="53" cy="23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400" b="1" i="1" dirty="0">
                    <a:latin typeface="Times New Roman" panose="02020603050405020304" pitchFamily="18" charset="0"/>
                  </a:rPr>
                  <a:t>t</a:t>
                </a:r>
                <a:endParaRPr lang="en-US" altLang="zh-CN" sz="2400" b="1" i="1" dirty="0">
                  <a:latin typeface="Times New Roman" panose="02020603050405020304" pitchFamily="18" charset="0"/>
                </a:endParaRPr>
              </a:p>
            </p:txBody>
          </p:sp>
          <p:sp>
            <p:nvSpPr>
              <p:cNvPr id="43032" name="Rectangle 30"/>
              <p:cNvSpPr/>
              <p:nvPr/>
            </p:nvSpPr>
            <p:spPr>
              <a:xfrm>
                <a:off x="830" y="2342"/>
                <a:ext cx="87" cy="144"/>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500" b="1" dirty="0">
                    <a:latin typeface="Times New Roman" panose="02020603050405020304" pitchFamily="18" charset="0"/>
                  </a:rPr>
                  <a:t>C</a:t>
                </a:r>
                <a:endParaRPr lang="en-US" altLang="zh-CN" sz="2400" b="1" dirty="0">
                  <a:latin typeface="Times New Roman" panose="02020603050405020304" pitchFamily="18" charset="0"/>
                </a:endParaRPr>
              </a:p>
            </p:txBody>
          </p:sp>
          <p:sp>
            <p:nvSpPr>
              <p:cNvPr id="43033" name="Line 31"/>
              <p:cNvSpPr/>
              <p:nvPr/>
            </p:nvSpPr>
            <p:spPr>
              <a:xfrm>
                <a:off x="2180" y="1716"/>
                <a:ext cx="3244" cy="1"/>
              </a:xfrm>
              <a:prstGeom prst="line">
                <a:avLst/>
              </a:prstGeom>
              <a:ln w="38100" cap="flat" cmpd="sng">
                <a:solidFill>
                  <a:schemeClr val="tx1"/>
                </a:solidFill>
                <a:prstDash val="solid"/>
                <a:headEnd type="none" w="med" len="med"/>
                <a:tailEnd type="none" w="med" len="med"/>
              </a:ln>
            </p:spPr>
          </p:sp>
          <p:sp>
            <p:nvSpPr>
              <p:cNvPr id="43034" name="Line 32"/>
              <p:cNvSpPr/>
              <p:nvPr/>
            </p:nvSpPr>
            <p:spPr>
              <a:xfrm>
                <a:off x="2273" y="1163"/>
                <a:ext cx="1" cy="1115"/>
              </a:xfrm>
              <a:prstGeom prst="line">
                <a:avLst/>
              </a:prstGeom>
              <a:ln w="28575" cap="flat" cmpd="sng">
                <a:solidFill>
                  <a:schemeClr val="tx1"/>
                </a:solidFill>
                <a:prstDash val="solid"/>
                <a:headEnd type="none" w="med" len="med"/>
                <a:tailEnd type="none" w="med" len="med"/>
              </a:ln>
            </p:spPr>
          </p:sp>
          <p:sp>
            <p:nvSpPr>
              <p:cNvPr id="43035" name="Line 33"/>
              <p:cNvSpPr/>
              <p:nvPr/>
            </p:nvSpPr>
            <p:spPr>
              <a:xfrm>
                <a:off x="2651" y="1163"/>
                <a:ext cx="1" cy="1115"/>
              </a:xfrm>
              <a:prstGeom prst="line">
                <a:avLst/>
              </a:prstGeom>
              <a:ln w="28575" cap="flat" cmpd="sng">
                <a:solidFill>
                  <a:schemeClr val="tx1"/>
                </a:solidFill>
                <a:prstDash val="solid"/>
                <a:headEnd type="none" w="med" len="med"/>
                <a:tailEnd type="none" w="med" len="med"/>
              </a:ln>
            </p:spPr>
          </p:sp>
          <p:sp>
            <p:nvSpPr>
              <p:cNvPr id="43036" name="Line 34"/>
              <p:cNvSpPr/>
              <p:nvPr/>
            </p:nvSpPr>
            <p:spPr>
              <a:xfrm>
                <a:off x="3025" y="1163"/>
                <a:ext cx="1" cy="1115"/>
              </a:xfrm>
              <a:prstGeom prst="line">
                <a:avLst/>
              </a:prstGeom>
              <a:ln w="28575" cap="flat" cmpd="sng">
                <a:solidFill>
                  <a:schemeClr val="tx1"/>
                </a:solidFill>
                <a:prstDash val="solid"/>
                <a:headEnd type="none" w="med" len="med"/>
                <a:tailEnd type="none" w="med" len="med"/>
              </a:ln>
            </p:spPr>
          </p:sp>
          <p:sp>
            <p:nvSpPr>
              <p:cNvPr id="43037" name="Line 35"/>
              <p:cNvSpPr/>
              <p:nvPr/>
            </p:nvSpPr>
            <p:spPr>
              <a:xfrm>
                <a:off x="3403" y="1163"/>
                <a:ext cx="1" cy="1115"/>
              </a:xfrm>
              <a:prstGeom prst="line">
                <a:avLst/>
              </a:prstGeom>
              <a:ln w="28575" cap="flat" cmpd="sng">
                <a:solidFill>
                  <a:schemeClr val="tx1"/>
                </a:solidFill>
                <a:prstDash val="solid"/>
                <a:headEnd type="none" w="med" len="med"/>
                <a:tailEnd type="none" w="med" len="med"/>
              </a:ln>
            </p:spPr>
          </p:sp>
          <p:sp>
            <p:nvSpPr>
              <p:cNvPr id="43038" name="Freeform 36"/>
              <p:cNvSpPr/>
              <p:nvPr/>
            </p:nvSpPr>
            <p:spPr>
              <a:xfrm>
                <a:off x="3778" y="1161"/>
                <a:ext cx="5" cy="1812"/>
              </a:xfrm>
              <a:custGeom>
                <a:avLst/>
                <a:gdLst>
                  <a:gd name="txL" fmla="*/ 0 w 5"/>
                  <a:gd name="txT" fmla="*/ 0 h 1812"/>
                  <a:gd name="txR" fmla="*/ 5 w 5"/>
                  <a:gd name="txB" fmla="*/ 1812 h 1812"/>
                </a:gdLst>
                <a:ahLst/>
                <a:cxnLst>
                  <a:cxn ang="0">
                    <a:pos x="0" y="0"/>
                  </a:cxn>
                  <a:cxn ang="0">
                    <a:pos x="5" y="1812"/>
                  </a:cxn>
                </a:cxnLst>
                <a:rect l="txL" t="txT" r="txR" b="txB"/>
                <a:pathLst>
                  <a:path w="5" h="1812">
                    <a:moveTo>
                      <a:pt x="0" y="0"/>
                    </a:moveTo>
                    <a:lnTo>
                      <a:pt x="5" y="1812"/>
                    </a:lnTo>
                  </a:path>
                </a:pathLst>
              </a:custGeom>
              <a:solidFill>
                <a:srgbClr val="FFFFFF">
                  <a:alpha val="100000"/>
                </a:srgbClr>
              </a:solid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43039" name="Freeform 37"/>
              <p:cNvSpPr/>
              <p:nvPr/>
            </p:nvSpPr>
            <p:spPr>
              <a:xfrm>
                <a:off x="4153" y="1163"/>
                <a:ext cx="6" cy="1111"/>
              </a:xfrm>
              <a:custGeom>
                <a:avLst/>
                <a:gdLst>
                  <a:gd name="txL" fmla="*/ 0 w 5"/>
                  <a:gd name="txT" fmla="*/ 0 h 1111"/>
                  <a:gd name="txR" fmla="*/ 5 w 5"/>
                  <a:gd name="txB" fmla="*/ 1111 h 1111"/>
                </a:gdLst>
                <a:ahLst/>
                <a:cxnLst>
                  <a:cxn ang="0">
                    <a:pos x="0" y="0"/>
                  </a:cxn>
                  <a:cxn ang="0">
                    <a:pos x="310" y="1111"/>
                  </a:cxn>
                </a:cxnLst>
                <a:rect l="txL" t="txT" r="txR" b="txB"/>
                <a:pathLst>
                  <a:path w="5" h="1111">
                    <a:moveTo>
                      <a:pt x="0" y="0"/>
                    </a:moveTo>
                    <a:lnTo>
                      <a:pt x="5" y="1111"/>
                    </a:lnTo>
                  </a:path>
                </a:pathLst>
              </a:custGeom>
              <a:solidFill>
                <a:srgbClr val="FFFFFF">
                  <a:alpha val="100000"/>
                </a:srgbClr>
              </a:solidFill>
              <a:ln w="28575" cap="flat" cmpd="sng">
                <a:solidFill>
                  <a:schemeClr val="tx1">
                    <a:alpha val="100000"/>
                  </a:schemeClr>
                </a:solidFill>
                <a:prstDash val="solid"/>
                <a:round/>
                <a:headEnd type="none" w="med" len="med"/>
                <a:tailEnd type="none" w="med" len="med"/>
              </a:ln>
            </p:spPr>
            <p:txBody>
              <a:bodyPr/>
              <a:p>
                <a:endParaRPr lang="zh-CN" altLang="en-US"/>
              </a:p>
            </p:txBody>
          </p:sp>
          <p:sp>
            <p:nvSpPr>
              <p:cNvPr id="43040" name="Rectangle 38"/>
              <p:cNvSpPr/>
              <p:nvPr/>
            </p:nvSpPr>
            <p:spPr>
              <a:xfrm>
                <a:off x="2705" y="1227"/>
                <a:ext cx="271"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700" b="1" dirty="0">
                    <a:latin typeface="Times New Roman" panose="02020603050405020304" pitchFamily="18" charset="0"/>
                  </a:rPr>
                  <a:t>REF</a:t>
                </a:r>
                <a:endParaRPr lang="en-US" altLang="zh-CN" sz="2400" b="1" dirty="0">
                  <a:latin typeface="Times New Roman" panose="02020603050405020304" pitchFamily="18" charset="0"/>
                </a:endParaRPr>
              </a:p>
            </p:txBody>
          </p:sp>
          <p:sp>
            <p:nvSpPr>
              <p:cNvPr id="43041" name="Rectangle 39"/>
              <p:cNvSpPr/>
              <p:nvPr/>
            </p:nvSpPr>
            <p:spPr>
              <a:xfrm>
                <a:off x="2729" y="1502"/>
                <a:ext cx="204"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700" b="1" dirty="0">
                    <a:latin typeface="Times New Roman" panose="02020603050405020304" pitchFamily="18" charset="0"/>
                  </a:rPr>
                  <a:t>126</a:t>
                </a:r>
                <a:endParaRPr lang="en-US" altLang="zh-CN" sz="2400" b="1" dirty="0">
                  <a:latin typeface="Times New Roman" panose="02020603050405020304" pitchFamily="18" charset="0"/>
                </a:endParaRPr>
              </a:p>
            </p:txBody>
          </p:sp>
          <p:sp>
            <p:nvSpPr>
              <p:cNvPr id="43042" name="Rectangle 40"/>
              <p:cNvSpPr/>
              <p:nvPr/>
            </p:nvSpPr>
            <p:spPr>
              <a:xfrm>
                <a:off x="3443" y="1227"/>
                <a:ext cx="272"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700" b="1" dirty="0">
                    <a:latin typeface="Times New Roman" panose="02020603050405020304" pitchFamily="18" charset="0"/>
                  </a:rPr>
                  <a:t>REF</a:t>
                </a:r>
                <a:endParaRPr lang="en-US" altLang="zh-CN" sz="2400" b="1" dirty="0">
                  <a:latin typeface="Times New Roman" panose="02020603050405020304" pitchFamily="18" charset="0"/>
                </a:endParaRPr>
              </a:p>
            </p:txBody>
          </p:sp>
          <p:sp>
            <p:nvSpPr>
              <p:cNvPr id="43043" name="Rectangle 41"/>
              <p:cNvSpPr/>
              <p:nvPr/>
            </p:nvSpPr>
            <p:spPr>
              <a:xfrm>
                <a:off x="3466" y="1502"/>
                <a:ext cx="204"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700" b="1" dirty="0">
                    <a:latin typeface="Times New Roman" panose="02020603050405020304" pitchFamily="18" charset="0"/>
                  </a:rPr>
                  <a:t>127</a:t>
                </a:r>
                <a:endParaRPr lang="en-US" altLang="zh-CN" sz="2400" b="1" dirty="0">
                  <a:latin typeface="Times New Roman" panose="02020603050405020304" pitchFamily="18" charset="0"/>
                </a:endParaRPr>
              </a:p>
            </p:txBody>
          </p:sp>
          <p:sp>
            <p:nvSpPr>
              <p:cNvPr id="43044" name="Line 42"/>
              <p:cNvSpPr/>
              <p:nvPr/>
            </p:nvSpPr>
            <p:spPr>
              <a:xfrm>
                <a:off x="4531" y="1163"/>
                <a:ext cx="1" cy="1115"/>
              </a:xfrm>
              <a:prstGeom prst="line">
                <a:avLst/>
              </a:prstGeom>
              <a:ln w="28575" cap="flat" cmpd="sng">
                <a:solidFill>
                  <a:schemeClr val="tx1"/>
                </a:solidFill>
                <a:prstDash val="solid"/>
                <a:headEnd type="none" w="med" len="med"/>
                <a:tailEnd type="none" w="med" len="med"/>
              </a:ln>
            </p:spPr>
          </p:sp>
          <p:sp>
            <p:nvSpPr>
              <p:cNvPr id="43045" name="Line 43"/>
              <p:cNvSpPr/>
              <p:nvPr/>
            </p:nvSpPr>
            <p:spPr>
              <a:xfrm>
                <a:off x="4909" y="1163"/>
                <a:ext cx="1" cy="1115"/>
              </a:xfrm>
              <a:prstGeom prst="line">
                <a:avLst/>
              </a:prstGeom>
              <a:ln w="28575" cap="flat" cmpd="sng">
                <a:solidFill>
                  <a:schemeClr val="tx1"/>
                </a:solidFill>
                <a:prstDash val="solid"/>
                <a:headEnd type="none" w="med" len="med"/>
                <a:tailEnd type="none" w="med" len="med"/>
              </a:ln>
            </p:spPr>
          </p:sp>
          <p:sp>
            <p:nvSpPr>
              <p:cNvPr id="43046" name="Line 44"/>
              <p:cNvSpPr/>
              <p:nvPr/>
            </p:nvSpPr>
            <p:spPr>
              <a:xfrm>
                <a:off x="5283" y="1163"/>
                <a:ext cx="1" cy="1115"/>
              </a:xfrm>
              <a:prstGeom prst="line">
                <a:avLst/>
              </a:prstGeom>
              <a:ln w="28575" cap="flat" cmpd="sng">
                <a:solidFill>
                  <a:schemeClr val="tx1"/>
                </a:solidFill>
                <a:prstDash val="solid"/>
                <a:headEnd type="none" w="med" len="med"/>
                <a:tailEnd type="none" w="med" len="med"/>
              </a:ln>
            </p:spPr>
          </p:sp>
          <p:sp>
            <p:nvSpPr>
              <p:cNvPr id="43047" name="Rectangle 45"/>
              <p:cNvSpPr/>
              <p:nvPr/>
            </p:nvSpPr>
            <p:spPr>
              <a:xfrm>
                <a:off x="4953" y="1227"/>
                <a:ext cx="272"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700" b="1" dirty="0">
                    <a:latin typeface="Times New Roman" panose="02020603050405020304" pitchFamily="18" charset="0"/>
                  </a:rPr>
                  <a:t>REF</a:t>
                </a:r>
                <a:endParaRPr lang="en-US" altLang="zh-CN" sz="2400" b="1" dirty="0">
                  <a:latin typeface="Times New Roman" panose="02020603050405020304" pitchFamily="18" charset="0"/>
                </a:endParaRPr>
              </a:p>
            </p:txBody>
          </p:sp>
          <p:sp>
            <p:nvSpPr>
              <p:cNvPr id="43048" name="Rectangle 46"/>
              <p:cNvSpPr/>
              <p:nvPr/>
            </p:nvSpPr>
            <p:spPr>
              <a:xfrm>
                <a:off x="2327" y="1135"/>
                <a:ext cx="272"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700" b="1" dirty="0">
                    <a:latin typeface="Times New Roman" panose="02020603050405020304" pitchFamily="18" charset="0"/>
                  </a:rPr>
                  <a:t>W/R</a:t>
                </a:r>
                <a:endParaRPr lang="en-US" altLang="zh-CN" sz="2400" b="1" dirty="0">
                  <a:latin typeface="Times New Roman" panose="02020603050405020304" pitchFamily="18" charset="0"/>
                </a:endParaRPr>
              </a:p>
            </p:txBody>
          </p:sp>
          <p:sp>
            <p:nvSpPr>
              <p:cNvPr id="43049" name="Rectangle 47"/>
              <p:cNvSpPr/>
              <p:nvPr/>
            </p:nvSpPr>
            <p:spPr>
              <a:xfrm>
                <a:off x="3082" y="1135"/>
                <a:ext cx="273"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700" b="1" dirty="0">
                    <a:latin typeface="Times New Roman" panose="02020603050405020304" pitchFamily="18" charset="0"/>
                  </a:rPr>
                  <a:t>W/R</a:t>
                </a:r>
                <a:endParaRPr lang="en-US" altLang="zh-CN" sz="2400" b="1" dirty="0">
                  <a:latin typeface="Times New Roman" panose="02020603050405020304" pitchFamily="18" charset="0"/>
                </a:endParaRPr>
              </a:p>
            </p:txBody>
          </p:sp>
          <p:sp>
            <p:nvSpPr>
              <p:cNvPr id="43050" name="Rectangle 48"/>
              <p:cNvSpPr/>
              <p:nvPr/>
            </p:nvSpPr>
            <p:spPr>
              <a:xfrm>
                <a:off x="3825" y="1135"/>
                <a:ext cx="272"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700" b="1" dirty="0">
                    <a:latin typeface="Times New Roman" panose="02020603050405020304" pitchFamily="18" charset="0"/>
                  </a:rPr>
                  <a:t>W/R</a:t>
                </a:r>
                <a:endParaRPr lang="en-US" altLang="zh-CN" sz="2400" b="1" dirty="0">
                  <a:latin typeface="Times New Roman" panose="02020603050405020304" pitchFamily="18" charset="0"/>
                </a:endParaRPr>
              </a:p>
            </p:txBody>
          </p:sp>
          <p:sp>
            <p:nvSpPr>
              <p:cNvPr id="43051" name="Rectangle 49"/>
              <p:cNvSpPr/>
              <p:nvPr/>
            </p:nvSpPr>
            <p:spPr>
              <a:xfrm>
                <a:off x="4582" y="1135"/>
                <a:ext cx="272" cy="16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700" b="1" dirty="0">
                    <a:latin typeface="Times New Roman" panose="02020603050405020304" pitchFamily="18" charset="0"/>
                  </a:rPr>
                  <a:t>W/R</a:t>
                </a:r>
                <a:endParaRPr lang="en-US" altLang="zh-CN" sz="2400" b="1" dirty="0">
                  <a:latin typeface="Times New Roman" panose="02020603050405020304" pitchFamily="18" charset="0"/>
                </a:endParaRPr>
              </a:p>
            </p:txBody>
          </p:sp>
          <p:sp>
            <p:nvSpPr>
              <p:cNvPr id="43052" name="Rectangle 50"/>
              <p:cNvSpPr/>
              <p:nvPr/>
            </p:nvSpPr>
            <p:spPr>
              <a:xfrm>
                <a:off x="1154" y="2753"/>
                <a:ext cx="644"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latin typeface="宋体" panose="02010600030101010101" pitchFamily="2" charset="-122"/>
                  </a:rPr>
                  <a:t>刷新间隔</a:t>
                </a:r>
                <a:endParaRPr lang="zh-CN" altLang="en-US" sz="2400" b="1" dirty="0">
                  <a:latin typeface="Times New Roman" panose="02020603050405020304" pitchFamily="18" charset="0"/>
                </a:endParaRPr>
              </a:p>
            </p:txBody>
          </p:sp>
          <p:sp>
            <p:nvSpPr>
              <p:cNvPr id="43053" name="Rectangle 51"/>
              <p:cNvSpPr/>
              <p:nvPr/>
            </p:nvSpPr>
            <p:spPr>
              <a:xfrm>
                <a:off x="1882" y="2749"/>
                <a:ext cx="240"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2000" b="1" dirty="0">
                    <a:latin typeface="Times New Roman" panose="02020603050405020304" pitchFamily="18" charset="0"/>
                  </a:rPr>
                  <a:t>128</a:t>
                </a:r>
                <a:endParaRPr lang="en-US" altLang="zh-CN" sz="2400" b="1" dirty="0">
                  <a:latin typeface="Times New Roman" panose="02020603050405020304" pitchFamily="18" charset="0"/>
                </a:endParaRPr>
              </a:p>
            </p:txBody>
          </p:sp>
          <p:sp>
            <p:nvSpPr>
              <p:cNvPr id="43054" name="Rectangle 52"/>
              <p:cNvSpPr/>
              <p:nvPr/>
            </p:nvSpPr>
            <p:spPr>
              <a:xfrm>
                <a:off x="2178" y="2753"/>
                <a:ext cx="805"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latin typeface="宋体" panose="02010600030101010101" pitchFamily="2" charset="-122"/>
                  </a:rPr>
                  <a:t>个存取周期</a:t>
                </a:r>
                <a:endParaRPr lang="zh-CN" altLang="en-US" sz="2400" b="1" dirty="0">
                  <a:latin typeface="Times New Roman" panose="02020603050405020304" pitchFamily="18" charset="0"/>
                </a:endParaRPr>
              </a:p>
            </p:txBody>
          </p:sp>
          <p:sp>
            <p:nvSpPr>
              <p:cNvPr id="43055" name="Line 53"/>
              <p:cNvSpPr/>
              <p:nvPr/>
            </p:nvSpPr>
            <p:spPr>
              <a:xfrm flipH="1">
                <a:off x="416" y="2845"/>
                <a:ext cx="524" cy="1"/>
              </a:xfrm>
              <a:prstGeom prst="line">
                <a:avLst/>
              </a:prstGeom>
              <a:ln w="38100" cap="flat" cmpd="sng">
                <a:solidFill>
                  <a:schemeClr val="tx1"/>
                </a:solidFill>
                <a:prstDash val="solid"/>
                <a:headEnd type="none" w="med" len="med"/>
                <a:tailEnd type="stealth" w="med" len="med"/>
              </a:ln>
            </p:spPr>
          </p:sp>
          <p:sp>
            <p:nvSpPr>
              <p:cNvPr id="43056" name="Line 54"/>
              <p:cNvSpPr/>
              <p:nvPr/>
            </p:nvSpPr>
            <p:spPr>
              <a:xfrm>
                <a:off x="3268" y="2845"/>
                <a:ext cx="525" cy="0"/>
              </a:xfrm>
              <a:prstGeom prst="line">
                <a:avLst/>
              </a:prstGeom>
              <a:ln w="38100" cap="flat" cmpd="sng">
                <a:solidFill>
                  <a:schemeClr val="tx1"/>
                </a:solidFill>
                <a:prstDash val="solid"/>
                <a:headEnd type="none" w="med" len="med"/>
                <a:tailEnd type="stealth" w="med" len="med"/>
              </a:ln>
            </p:spPr>
          </p:sp>
          <p:sp>
            <p:nvSpPr>
              <p:cNvPr id="43057" name="Text Box 55"/>
              <p:cNvSpPr txBox="1"/>
              <p:nvPr/>
            </p:nvSpPr>
            <p:spPr>
              <a:xfrm>
                <a:off x="1708" y="1530"/>
                <a:ext cx="610" cy="2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sz="2400" b="1" dirty="0">
                  <a:latin typeface="Times New Roman" panose="02020603050405020304" pitchFamily="18" charset="0"/>
                </a:endParaRPr>
              </a:p>
            </p:txBody>
          </p:sp>
          <p:sp>
            <p:nvSpPr>
              <p:cNvPr id="43058" name="Line 56"/>
              <p:cNvSpPr/>
              <p:nvPr/>
            </p:nvSpPr>
            <p:spPr>
              <a:xfrm>
                <a:off x="416" y="2464"/>
                <a:ext cx="756" cy="0"/>
              </a:xfrm>
              <a:prstGeom prst="line">
                <a:avLst/>
              </a:prstGeom>
              <a:ln w="38100" cap="flat" cmpd="sng">
                <a:solidFill>
                  <a:schemeClr val="tx1"/>
                </a:solidFill>
                <a:prstDash val="solid"/>
                <a:headEnd type="stealth" w="med" len="med"/>
                <a:tailEnd type="stealth" w="med" len="med"/>
              </a:ln>
            </p:spPr>
          </p:sp>
          <p:sp>
            <p:nvSpPr>
              <p:cNvPr id="43059" name="Line 57"/>
              <p:cNvSpPr/>
              <p:nvPr/>
            </p:nvSpPr>
            <p:spPr>
              <a:xfrm>
                <a:off x="403" y="2030"/>
                <a:ext cx="382" cy="0"/>
              </a:xfrm>
              <a:prstGeom prst="line">
                <a:avLst/>
              </a:prstGeom>
              <a:ln w="38100" cap="flat" cmpd="sng">
                <a:solidFill>
                  <a:schemeClr val="tx1"/>
                </a:solidFill>
                <a:prstDash val="solid"/>
                <a:headEnd type="stealth" w="med" len="med"/>
                <a:tailEnd type="stealth" w="med" len="med"/>
              </a:ln>
            </p:spPr>
          </p:sp>
          <p:sp>
            <p:nvSpPr>
              <p:cNvPr id="43060" name="Line 58"/>
              <p:cNvSpPr/>
              <p:nvPr/>
            </p:nvSpPr>
            <p:spPr>
              <a:xfrm>
                <a:off x="790" y="2029"/>
                <a:ext cx="382" cy="0"/>
              </a:xfrm>
              <a:prstGeom prst="line">
                <a:avLst/>
              </a:prstGeom>
              <a:ln w="38100" cap="flat" cmpd="sng">
                <a:solidFill>
                  <a:schemeClr val="tx1"/>
                </a:solidFill>
                <a:prstDash val="solid"/>
                <a:headEnd type="stealth" w="med" len="med"/>
                <a:tailEnd type="stealth" w="med" len="med"/>
              </a:ln>
            </p:spPr>
          </p:sp>
        </p:grpSp>
        <p:sp>
          <p:nvSpPr>
            <p:cNvPr id="43017" name="Text Box 59"/>
            <p:cNvSpPr txBox="1"/>
            <p:nvPr/>
          </p:nvSpPr>
          <p:spPr>
            <a:xfrm>
              <a:off x="1754" y="1471"/>
              <a:ext cx="499" cy="346"/>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3000" b="1" dirty="0">
                  <a:latin typeface="Times New Roman" panose="02020603050405020304" pitchFamily="18" charset="0"/>
                </a:rPr>
                <a:t>…</a:t>
              </a:r>
              <a:endParaRPr lang="en-US" altLang="zh-CN" sz="3000" b="1" dirty="0">
                <a:latin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9628"/>
                                        </p:tgtEl>
                                        <p:attrNameLst>
                                          <p:attrName>style.visibility</p:attrName>
                                        </p:attrNameLst>
                                      </p:cBhvr>
                                      <p:to>
                                        <p:strVal val="visible"/>
                                      </p:to>
                                    </p:set>
                                    <p:animEffect transition="in" filter="blinds(horizontal)">
                                      <p:cBhvr>
                                        <p:cTn id="7" dur="500"/>
                                        <p:tgtEl>
                                          <p:spTgt spid="23962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arn(outVertic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39618"/>
                                        </p:tgtEl>
                                        <p:attrNameLst>
                                          <p:attrName>style.visibility</p:attrName>
                                        </p:attrNameLst>
                                      </p:cBhvr>
                                      <p:to>
                                        <p:strVal val="visible"/>
                                      </p:to>
                                    </p:set>
                                    <p:animEffect transition="in" filter="blinds(horizontal)">
                                      <p:cBhvr>
                                        <p:cTn id="17" dur="500"/>
                                        <p:tgtEl>
                                          <p:spTgt spid="23961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9626"/>
                                        </p:tgtEl>
                                        <p:attrNameLst>
                                          <p:attrName>style.visibility</p:attrName>
                                        </p:attrNameLst>
                                      </p:cBhvr>
                                      <p:to>
                                        <p:strVal val="visible"/>
                                      </p:to>
                                    </p:set>
                                    <p:animEffect transition="in" filter="blinds(horizontal)">
                                      <p:cBhvr>
                                        <p:cTn id="27" dur="500"/>
                                        <p:tgtEl>
                                          <p:spTgt spid="239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18" grpId="0"/>
      <p:bldP spid="239626" grpId="0"/>
      <p:bldP spid="23962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ext Box 2"/>
          <p:cNvSpPr txBox="1"/>
          <p:nvPr/>
        </p:nvSpPr>
        <p:spPr>
          <a:xfrm>
            <a:off x="898525" y="503238"/>
            <a:ext cx="7777163" cy="5492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3000" b="1" dirty="0">
                <a:solidFill>
                  <a:srgbClr val="0000FF"/>
                </a:solidFill>
                <a:latin typeface="Times New Roman" panose="02020603050405020304" pitchFamily="18" charset="0"/>
                <a:ea typeface="楷体_GB2312" pitchFamily="49" charset="-122"/>
              </a:rPr>
              <a:t>③ </a:t>
            </a:r>
            <a:r>
              <a:rPr lang="zh-CN" altLang="en-US" sz="3000" b="1" dirty="0">
                <a:solidFill>
                  <a:srgbClr val="0000FF"/>
                </a:solidFill>
                <a:latin typeface="Times New Roman" panose="02020603050405020304" pitchFamily="18" charset="0"/>
                <a:ea typeface="楷体_GB2312" pitchFamily="49" charset="-122"/>
              </a:rPr>
              <a:t>分散刷新与集中刷新相结合（异步刷新）</a:t>
            </a:r>
            <a:endParaRPr lang="zh-CN" altLang="en-US" sz="3000" b="1" dirty="0">
              <a:solidFill>
                <a:srgbClr val="0000FF"/>
              </a:solidFill>
              <a:latin typeface="Times New Roman" panose="02020603050405020304" pitchFamily="18" charset="0"/>
              <a:ea typeface="楷体_GB2312" pitchFamily="49" charset="-122"/>
            </a:endParaRPr>
          </a:p>
        </p:txBody>
      </p:sp>
      <p:sp>
        <p:nvSpPr>
          <p:cNvPr id="44035" name="Text Box 3"/>
          <p:cNvSpPr txBox="1"/>
          <p:nvPr/>
        </p:nvSpPr>
        <p:spPr>
          <a:xfrm>
            <a:off x="609600" y="1341438"/>
            <a:ext cx="85344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3300"/>
                </a:solidFill>
                <a:latin typeface="Times New Roman" panose="02020603050405020304" pitchFamily="18" charset="0"/>
              </a:rPr>
              <a:t>对于</a:t>
            </a:r>
            <a:r>
              <a:rPr lang="en-US" altLang="zh-CN" sz="2800" b="1" dirty="0">
                <a:solidFill>
                  <a:srgbClr val="FF3300"/>
                </a:solidFill>
                <a:latin typeface="Times New Roman" panose="02020603050405020304" pitchFamily="18" charset="0"/>
              </a:rPr>
              <a:t> 128 </a:t>
            </a:r>
            <a:r>
              <a:rPr lang="en-US" altLang="zh-CN" sz="2800" b="1" dirty="0">
                <a:solidFill>
                  <a:srgbClr val="FF3300"/>
                </a:solidFill>
                <a:latin typeface="Times New Roman" panose="02020603050405020304" pitchFamily="18" charset="0"/>
                <a:cs typeface="Times New Roman" panose="02020603050405020304" pitchFamily="18" charset="0"/>
              </a:rPr>
              <a:t>×128 </a:t>
            </a:r>
            <a:r>
              <a:rPr lang="zh-CN" altLang="en-US" sz="2800" b="1" dirty="0">
                <a:solidFill>
                  <a:srgbClr val="FF3300"/>
                </a:solidFill>
                <a:latin typeface="Times New Roman" panose="02020603050405020304" pitchFamily="18" charset="0"/>
                <a:cs typeface="Times New Roman" panose="02020603050405020304" pitchFamily="18" charset="0"/>
              </a:rPr>
              <a:t>的存储芯片</a:t>
            </a:r>
            <a:r>
              <a:rPr lang="zh-CN" altLang="en-US" sz="2800" b="1" dirty="0">
                <a:solidFill>
                  <a:srgbClr val="FF3300"/>
                </a:solidFill>
                <a:latin typeface="Times New Roman" panose="02020603050405020304" pitchFamily="18" charset="0"/>
                <a:ea typeface="楷体_GB2312" pitchFamily="49" charset="-122"/>
              </a:rPr>
              <a:t>（存取周期为</a:t>
            </a:r>
            <a:r>
              <a:rPr lang="en-US" altLang="zh-CN" sz="2800" b="1" dirty="0">
                <a:solidFill>
                  <a:srgbClr val="FF3300"/>
                </a:solidFill>
                <a:latin typeface="Times New Roman" panose="02020603050405020304" pitchFamily="18" charset="0"/>
                <a:ea typeface="楷体_GB2312" pitchFamily="49" charset="-122"/>
              </a:rPr>
              <a:t> 0.5 </a:t>
            </a:r>
            <a:r>
              <a:rPr lang="en-US" altLang="zh-CN" sz="2800" b="1" dirty="0">
                <a:solidFill>
                  <a:srgbClr val="FF3300"/>
                </a:solidFill>
                <a:latin typeface="宋体" panose="02010600030101010101" pitchFamily="2" charset="-122"/>
                <a:ea typeface="楷体_GB2312" pitchFamily="49" charset="-122"/>
                <a:sym typeface="Symbol" panose="05050102010706020507" pitchFamily="18" charset="2"/>
              </a:rPr>
              <a:t></a:t>
            </a:r>
            <a:r>
              <a:rPr lang="en-US" altLang="zh-CN" sz="2800" b="1" dirty="0">
                <a:solidFill>
                  <a:srgbClr val="FF3300"/>
                </a:solidFill>
                <a:latin typeface="宋体" panose="02010600030101010101" pitchFamily="2" charset="-122"/>
                <a:ea typeface="楷体_GB2312" pitchFamily="49" charset="-122"/>
              </a:rPr>
              <a:t>s</a:t>
            </a:r>
            <a:r>
              <a:rPr lang="en-US" altLang="zh-CN" sz="800" b="1" dirty="0">
                <a:solidFill>
                  <a:srgbClr val="FF3300"/>
                </a:solidFill>
                <a:latin typeface="宋体" panose="02010600030101010101" pitchFamily="2" charset="-122"/>
                <a:ea typeface="楷体_GB2312" pitchFamily="49" charset="-122"/>
              </a:rPr>
              <a:t> </a:t>
            </a:r>
            <a:r>
              <a:rPr lang="zh-CN" altLang="en-US" sz="2800" b="1" dirty="0">
                <a:solidFill>
                  <a:srgbClr val="FF3300"/>
                </a:solidFill>
                <a:latin typeface="Times New Roman" panose="02020603050405020304" pitchFamily="18" charset="0"/>
                <a:ea typeface="楷体_GB2312" pitchFamily="49" charset="-122"/>
              </a:rPr>
              <a:t>）</a:t>
            </a:r>
            <a:endParaRPr lang="zh-CN" altLang="en-US" sz="2800" b="1" dirty="0">
              <a:solidFill>
                <a:srgbClr val="FF3300"/>
              </a:solidFill>
              <a:latin typeface="Times New Roman" panose="02020603050405020304" pitchFamily="18" charset="0"/>
              <a:ea typeface="楷体_GB2312" pitchFamily="49" charset="-122"/>
            </a:endParaRPr>
          </a:p>
        </p:txBody>
      </p:sp>
      <p:sp>
        <p:nvSpPr>
          <p:cNvPr id="44036" name="Text Box 4"/>
          <p:cNvSpPr txBox="1"/>
          <p:nvPr/>
        </p:nvSpPr>
        <p:spPr>
          <a:xfrm>
            <a:off x="609600" y="5876925"/>
            <a:ext cx="86868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3300"/>
                </a:solidFill>
                <a:latin typeface="Times New Roman" panose="02020603050405020304" pitchFamily="18" charset="0"/>
              </a:rPr>
              <a:t>将刷新安排在指令译码阶段，不会出现</a:t>
            </a:r>
            <a:r>
              <a:rPr lang="en-US" altLang="zh-CN" sz="2800" b="1" dirty="0">
                <a:solidFill>
                  <a:srgbClr val="FF3300"/>
                </a:solidFill>
                <a:latin typeface="Times New Roman" panose="02020603050405020304" pitchFamily="18" charset="0"/>
              </a:rPr>
              <a:t> </a:t>
            </a:r>
            <a:r>
              <a:rPr lang="zh-CN" altLang="en-US" sz="2800" b="1" dirty="0">
                <a:solidFill>
                  <a:srgbClr val="FF3300"/>
                </a:solidFill>
                <a:latin typeface="Times New Roman" panose="02020603050405020304" pitchFamily="18" charset="0"/>
              </a:rPr>
              <a:t>“死区”</a:t>
            </a:r>
            <a:endParaRPr lang="zh-CN" altLang="en-US" sz="2800" b="1" dirty="0">
              <a:solidFill>
                <a:srgbClr val="FF3300"/>
              </a:solidFill>
              <a:latin typeface="Times New Roman" panose="02020603050405020304" pitchFamily="18" charset="0"/>
            </a:endParaRPr>
          </a:p>
        </p:txBody>
      </p:sp>
      <p:sp>
        <p:nvSpPr>
          <p:cNvPr id="44037" name="Text Box 5"/>
          <p:cNvSpPr txBox="1"/>
          <p:nvPr/>
        </p:nvSpPr>
        <p:spPr>
          <a:xfrm>
            <a:off x="5222875" y="5286375"/>
            <a:ext cx="38862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3300"/>
                </a:solidFill>
                <a:latin typeface="Times New Roman" panose="02020603050405020304" pitchFamily="18" charset="0"/>
              </a:rPr>
              <a:t>“死区”</a:t>
            </a:r>
            <a:r>
              <a:rPr lang="en-US" altLang="zh-CN" sz="2800" b="1" dirty="0">
                <a:solidFill>
                  <a:srgbClr val="FF3300"/>
                </a:solidFill>
                <a:latin typeface="Times New Roman" panose="02020603050405020304" pitchFamily="18" charset="0"/>
              </a:rPr>
              <a:t> </a:t>
            </a:r>
            <a:r>
              <a:rPr lang="zh-CN" altLang="en-US" sz="2800" b="1" dirty="0">
                <a:solidFill>
                  <a:srgbClr val="FF3300"/>
                </a:solidFill>
                <a:latin typeface="Times New Roman" panose="02020603050405020304" pitchFamily="18" charset="0"/>
              </a:rPr>
              <a:t>为</a:t>
            </a:r>
            <a:r>
              <a:rPr lang="en-US" altLang="zh-CN" sz="2800" b="1" dirty="0">
                <a:solidFill>
                  <a:srgbClr val="FF3300"/>
                </a:solidFill>
                <a:latin typeface="Times New Roman" panose="02020603050405020304" pitchFamily="18" charset="0"/>
              </a:rPr>
              <a:t> 0.5 </a:t>
            </a:r>
            <a:r>
              <a:rPr lang="en-US" altLang="zh-CN" sz="2800" b="1" dirty="0">
                <a:solidFill>
                  <a:srgbClr val="FF3300"/>
                </a:solidFill>
                <a:latin typeface="宋体" panose="02010600030101010101" pitchFamily="2" charset="-122"/>
                <a:sym typeface="Symbol" panose="05050102010706020507" pitchFamily="18" charset="2"/>
              </a:rPr>
              <a:t></a:t>
            </a:r>
            <a:r>
              <a:rPr lang="en-US" altLang="zh-CN" sz="2800" b="1" dirty="0">
                <a:solidFill>
                  <a:srgbClr val="FF3300"/>
                </a:solidFill>
                <a:latin typeface="宋体" panose="02010600030101010101" pitchFamily="2" charset="-122"/>
              </a:rPr>
              <a:t>s</a:t>
            </a:r>
            <a:r>
              <a:rPr lang="en-US" altLang="zh-CN" sz="800" b="1" dirty="0">
                <a:solidFill>
                  <a:srgbClr val="FF3300"/>
                </a:solidFill>
                <a:latin typeface="宋体" panose="02010600030101010101" pitchFamily="2" charset="-122"/>
              </a:rPr>
              <a:t> </a:t>
            </a:r>
            <a:endParaRPr lang="en-US" altLang="zh-CN" sz="800" b="1" dirty="0">
              <a:solidFill>
                <a:srgbClr val="FF3300"/>
              </a:solidFill>
              <a:latin typeface="宋体" panose="02010600030101010101" pitchFamily="2" charset="-122"/>
            </a:endParaRPr>
          </a:p>
        </p:txBody>
      </p:sp>
      <p:sp>
        <p:nvSpPr>
          <p:cNvPr id="44038" name="Text Box 6"/>
          <p:cNvSpPr txBox="1"/>
          <p:nvPr/>
        </p:nvSpPr>
        <p:spPr>
          <a:xfrm>
            <a:off x="609600" y="1989138"/>
            <a:ext cx="51816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3300"/>
                </a:solidFill>
                <a:latin typeface="Times New Roman" panose="02020603050405020304" pitchFamily="18" charset="0"/>
              </a:rPr>
              <a:t>若每隔</a:t>
            </a:r>
            <a:r>
              <a:rPr lang="en-US" altLang="zh-CN" sz="2800" b="1" dirty="0">
                <a:solidFill>
                  <a:srgbClr val="FF3300"/>
                </a:solidFill>
                <a:latin typeface="Times New Roman" panose="02020603050405020304" pitchFamily="18" charset="0"/>
              </a:rPr>
              <a:t> </a:t>
            </a:r>
            <a:r>
              <a:rPr lang="en-US" altLang="zh-CN" sz="2800" b="1" dirty="0">
                <a:solidFill>
                  <a:srgbClr val="FF3300"/>
                </a:solidFill>
                <a:latin typeface="Times New Roman" panose="02020603050405020304" pitchFamily="18" charset="0"/>
                <a:cs typeface="Times New Roman" panose="02020603050405020304" pitchFamily="18" charset="0"/>
              </a:rPr>
              <a:t>15.6 </a:t>
            </a:r>
            <a:r>
              <a:rPr lang="en-US" altLang="zh-CN" sz="2800" b="1" dirty="0">
                <a:solidFill>
                  <a:srgbClr val="FF3300"/>
                </a:solidFill>
                <a:latin typeface="宋体" panose="02010600030101010101" pitchFamily="2" charset="-122"/>
                <a:cs typeface="Times New Roman" panose="02020603050405020304" pitchFamily="18" charset="0"/>
                <a:sym typeface="Symbol" panose="05050102010706020507" pitchFamily="18" charset="2"/>
              </a:rPr>
              <a:t></a:t>
            </a:r>
            <a:r>
              <a:rPr lang="en-US" altLang="zh-CN" sz="2800" b="1" dirty="0">
                <a:solidFill>
                  <a:srgbClr val="FF3300"/>
                </a:solidFill>
                <a:latin typeface="宋体" panose="02010600030101010101" pitchFamily="2" charset="-122"/>
                <a:cs typeface="Times New Roman" panose="02020603050405020304" pitchFamily="18" charset="0"/>
              </a:rPr>
              <a:t>s</a:t>
            </a:r>
            <a:r>
              <a:rPr lang="en-US" altLang="zh-CN" sz="2800" b="1" dirty="0">
                <a:solidFill>
                  <a:srgbClr val="FF3300"/>
                </a:solidFill>
                <a:latin typeface="Times New Roman" panose="02020603050405020304" pitchFamily="18" charset="0"/>
                <a:cs typeface="Times New Roman" panose="02020603050405020304" pitchFamily="18" charset="0"/>
              </a:rPr>
              <a:t> </a:t>
            </a:r>
            <a:r>
              <a:rPr lang="zh-CN" altLang="en-US" sz="2800" b="1" dirty="0">
                <a:solidFill>
                  <a:srgbClr val="FF3300"/>
                </a:solidFill>
                <a:latin typeface="Times New Roman" panose="02020603050405020304" pitchFamily="18" charset="0"/>
                <a:cs typeface="Times New Roman" panose="02020603050405020304" pitchFamily="18" charset="0"/>
              </a:rPr>
              <a:t>刷新一行</a:t>
            </a:r>
            <a:endParaRPr lang="zh-CN" altLang="en-US" sz="2800" b="1" dirty="0">
              <a:solidFill>
                <a:srgbClr val="FF3300"/>
              </a:solidFill>
              <a:latin typeface="Times New Roman" panose="02020603050405020304" pitchFamily="18" charset="0"/>
              <a:ea typeface="Times New Roman" panose="02020603050405020304" pitchFamily="18" charset="0"/>
            </a:endParaRPr>
          </a:p>
        </p:txBody>
      </p:sp>
      <p:sp>
        <p:nvSpPr>
          <p:cNvPr id="44039" name="Text Box 7"/>
          <p:cNvSpPr txBox="1"/>
          <p:nvPr/>
        </p:nvSpPr>
        <p:spPr>
          <a:xfrm>
            <a:off x="609600" y="5286375"/>
            <a:ext cx="70104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800" b="1" dirty="0">
                <a:solidFill>
                  <a:srgbClr val="FF3300"/>
                </a:solidFill>
                <a:latin typeface="Times New Roman" panose="02020603050405020304" pitchFamily="18" charset="0"/>
              </a:rPr>
              <a:t>每行每隔</a:t>
            </a:r>
            <a:r>
              <a:rPr lang="en-US" altLang="zh-CN" sz="2800" b="1" dirty="0">
                <a:solidFill>
                  <a:srgbClr val="FF3300"/>
                </a:solidFill>
                <a:latin typeface="Times New Roman" panose="02020603050405020304" pitchFamily="18" charset="0"/>
              </a:rPr>
              <a:t> 2 ms </a:t>
            </a:r>
            <a:r>
              <a:rPr lang="zh-CN" altLang="en-US" sz="2800" b="1" dirty="0">
                <a:solidFill>
                  <a:srgbClr val="FF3300"/>
                </a:solidFill>
                <a:latin typeface="Times New Roman" panose="02020603050405020304" pitchFamily="18" charset="0"/>
              </a:rPr>
              <a:t>刷新一次</a:t>
            </a:r>
            <a:endParaRPr lang="zh-CN" altLang="en-US" sz="2800" b="1" dirty="0">
              <a:solidFill>
                <a:srgbClr val="FF3300"/>
              </a:solidFill>
              <a:latin typeface="Times New Roman" panose="02020603050405020304" pitchFamily="18" charset="0"/>
            </a:endParaRPr>
          </a:p>
        </p:txBody>
      </p:sp>
      <p:sp>
        <p:nvSpPr>
          <p:cNvPr id="44040" name="Rectangle 9"/>
          <p:cNvSpPr/>
          <p:nvPr/>
        </p:nvSpPr>
        <p:spPr>
          <a:xfrm>
            <a:off x="0" y="2938463"/>
            <a:ext cx="9144000" cy="0"/>
          </a:xfrm>
          <a:prstGeom prst="rect">
            <a:avLst/>
          </a:prstGeom>
          <a:noFill/>
          <a:ln w="9525">
            <a:noFill/>
          </a:ln>
        </p:spPr>
        <p:txBody>
          <a:bodyPr wrap="none"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aphicFrame>
        <p:nvGraphicFramePr>
          <p:cNvPr id="44041" name="Object 10"/>
          <p:cNvGraphicFramePr>
            <a:graphicFrameLocks noChangeAspect="1"/>
          </p:cNvGraphicFramePr>
          <p:nvPr/>
        </p:nvGraphicFramePr>
        <p:xfrm>
          <a:off x="755650" y="2997200"/>
          <a:ext cx="7561263" cy="2016125"/>
        </p:xfrm>
        <a:graphic>
          <a:graphicData uri="http://schemas.openxmlformats.org/presentationml/2006/ole">
            <mc:AlternateContent xmlns:mc="http://schemas.openxmlformats.org/markup-compatibility/2006">
              <mc:Choice xmlns:v="urn:schemas-microsoft-com:vml" Requires="v">
                <p:oleObj spid="_x0000_s3077" name="" r:id="rId1" imgW="3943350" imgH="990600" progId="Visio.Drawing.11">
                  <p:embed/>
                </p:oleObj>
              </mc:Choice>
              <mc:Fallback>
                <p:oleObj name="" r:id="rId1" imgW="3943350" imgH="990600" progId="Visio.Drawing.11">
                  <p:embed/>
                  <p:pic>
                    <p:nvPicPr>
                      <p:cNvPr id="0" name="图片 3076"/>
                      <p:cNvPicPr/>
                      <p:nvPr/>
                    </p:nvPicPr>
                    <p:blipFill>
                      <a:blip r:embed="rId2"/>
                      <a:stretch>
                        <a:fillRect/>
                      </a:stretch>
                    </p:blipFill>
                    <p:spPr>
                      <a:xfrm>
                        <a:off x="755650" y="2997200"/>
                        <a:ext cx="7561263" cy="2016125"/>
                      </a:xfrm>
                      <a:prstGeom prst="rect">
                        <a:avLst/>
                      </a:prstGeom>
                      <a:solidFill>
                        <a:srgbClr val="0000FF"/>
                      </a:solidFill>
                      <a:ln w="38100">
                        <a:noFill/>
                        <a:miter/>
                      </a:ln>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xfrm>
            <a:off x="457200" y="112713"/>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25603" name="Rectangle 3"/>
          <p:cNvSpPr>
            <a:spLocks noGrp="1"/>
          </p:cNvSpPr>
          <p:nvPr>
            <p:ph idx="1"/>
          </p:nvPr>
        </p:nvSpPr>
        <p:spPr>
          <a:xfrm>
            <a:off x="457200" y="1443038"/>
            <a:ext cx="8229600" cy="3886200"/>
          </a:xfrm>
        </p:spPr>
        <p:txBody>
          <a:bodyPr vert="horz" wrap="square" lIns="91440" tIns="45720" rIns="91440" bIns="45720" anchor="t" anchorCtr="0"/>
          <a:p>
            <a:pPr>
              <a:lnSpc>
                <a:spcPct val="90000"/>
              </a:lnSpc>
              <a:buNone/>
            </a:pPr>
            <a:r>
              <a:rPr lang="zh-CN" altLang="en-US" sz="2600" dirty="0"/>
              <a:t>五、存储器容量的扩充</a:t>
            </a:r>
            <a:r>
              <a:rPr lang="en-US" altLang="zh-CN" sz="2600" dirty="0"/>
              <a:t> </a:t>
            </a:r>
            <a:endParaRPr lang="en-US" altLang="zh-CN" sz="2600" dirty="0"/>
          </a:p>
          <a:p>
            <a:pPr>
              <a:lnSpc>
                <a:spcPct val="90000"/>
              </a:lnSpc>
              <a:buNone/>
            </a:pPr>
            <a:r>
              <a:rPr lang="en-US" altLang="zh-CN" sz="2600" b="1" dirty="0"/>
              <a:t>1</a:t>
            </a:r>
            <a:r>
              <a:rPr lang="zh-CN" altLang="en-US" sz="2600" b="1" dirty="0"/>
              <a:t>、字长位数扩展</a:t>
            </a:r>
            <a:endParaRPr lang="en-US" altLang="zh-CN" sz="2600" b="1" dirty="0"/>
          </a:p>
          <a:p>
            <a:pPr>
              <a:lnSpc>
                <a:spcPct val="90000"/>
              </a:lnSpc>
              <a:buNone/>
            </a:pPr>
            <a:r>
              <a:rPr lang="en-US" altLang="zh-CN" sz="2600" dirty="0"/>
              <a:t>		</a:t>
            </a:r>
            <a:r>
              <a:rPr lang="zh-CN" altLang="en-US" sz="2600" dirty="0"/>
              <a:t>给定的芯片字长位数较短，不满足设计要求的存储器字长，此时需要用多片给定芯片扩展字长位数。三组信号线中，</a:t>
            </a:r>
            <a:r>
              <a:rPr lang="zh-CN" altLang="en-US" sz="2600" dirty="0">
                <a:solidFill>
                  <a:srgbClr val="FF3300"/>
                </a:solidFill>
              </a:rPr>
              <a:t>地址线和控制线公用</a:t>
            </a:r>
            <a:r>
              <a:rPr lang="zh-CN" altLang="en-US" sz="2600" dirty="0"/>
              <a:t>而</a:t>
            </a:r>
            <a:r>
              <a:rPr lang="zh-CN" altLang="en-US" sz="2600" dirty="0">
                <a:solidFill>
                  <a:srgbClr val="0000FF"/>
                </a:solidFill>
              </a:rPr>
              <a:t>数据线单独</a:t>
            </a:r>
            <a:r>
              <a:rPr lang="zh-CN" altLang="en-US" sz="2600" dirty="0"/>
              <a:t>分开连接。</a:t>
            </a:r>
            <a:endParaRPr lang="en-US" altLang="zh-CN" sz="2600" dirty="0"/>
          </a:p>
          <a:p>
            <a:pPr>
              <a:lnSpc>
                <a:spcPct val="90000"/>
              </a:lnSpc>
              <a:buNone/>
            </a:pPr>
            <a:r>
              <a:rPr lang="en-US" altLang="zh-CN" sz="2600" dirty="0"/>
              <a:t>          d= </a:t>
            </a:r>
            <a:r>
              <a:rPr lang="zh-CN" altLang="en-US" sz="2600" b="1" dirty="0">
                <a:solidFill>
                  <a:schemeClr val="accent1"/>
                </a:solidFill>
              </a:rPr>
              <a:t>设计要求的存储器容量</a:t>
            </a:r>
            <a:r>
              <a:rPr lang="en-US" altLang="zh-CN" sz="2600" dirty="0"/>
              <a:t> / </a:t>
            </a:r>
            <a:r>
              <a:rPr lang="zh-CN" altLang="en-US" sz="2600" b="1" dirty="0">
                <a:solidFill>
                  <a:schemeClr val="accent1"/>
                </a:solidFill>
              </a:rPr>
              <a:t>选择芯片存储器容量</a:t>
            </a:r>
            <a:endParaRPr lang="en-US" altLang="zh-CN" sz="2600" b="1" dirty="0">
              <a:solidFill>
                <a:schemeClr val="accent1"/>
              </a:solidFill>
            </a:endParaRPr>
          </a:p>
          <a:p>
            <a:pPr>
              <a:lnSpc>
                <a:spcPct val="90000"/>
              </a:lnSpc>
              <a:buNone/>
            </a:pPr>
            <a:endParaRPr lang="en-US" altLang="zh-CN" sz="2600" dirty="0"/>
          </a:p>
          <a:p>
            <a:pPr>
              <a:lnSpc>
                <a:spcPct val="90000"/>
              </a:lnSpc>
              <a:buNone/>
            </a:pPr>
            <a:r>
              <a:rPr lang="en-US" altLang="zh-CN" sz="2600" b="1" dirty="0">
                <a:solidFill>
                  <a:srgbClr val="0000FF"/>
                </a:solidFill>
                <a:latin typeface="黑体" panose="02010609060101010101" pitchFamily="49" charset="-122"/>
                <a:ea typeface="黑体" panose="02010609060101010101" pitchFamily="49" charset="-122"/>
              </a:rPr>
              <a:t>  [</a:t>
            </a:r>
            <a:r>
              <a:rPr lang="zh-CN" altLang="en-US" sz="2600" b="1" dirty="0">
                <a:solidFill>
                  <a:srgbClr val="0000FF"/>
                </a:solidFill>
                <a:latin typeface="黑体" panose="02010609060101010101" pitchFamily="49" charset="-122"/>
                <a:ea typeface="黑体" panose="02010609060101010101" pitchFamily="49" charset="-122"/>
              </a:rPr>
              <a:t>例</a:t>
            </a:r>
            <a:r>
              <a:rPr lang="en-US" altLang="zh-CN" sz="2600" b="1" dirty="0">
                <a:solidFill>
                  <a:srgbClr val="0000FF"/>
                </a:solidFill>
                <a:latin typeface="黑体" panose="02010609060101010101" pitchFamily="49" charset="-122"/>
                <a:ea typeface="黑体" panose="02010609060101010101" pitchFamily="49" charset="-122"/>
              </a:rPr>
              <a:t>2] </a:t>
            </a:r>
            <a:r>
              <a:rPr lang="zh-CN" altLang="en-US" sz="2600" b="1" dirty="0">
                <a:solidFill>
                  <a:srgbClr val="0000FF"/>
                </a:solidFill>
                <a:latin typeface="黑体" panose="02010609060101010101" pitchFamily="49" charset="-122"/>
                <a:ea typeface="黑体" panose="02010609060101010101" pitchFamily="49" charset="-122"/>
              </a:rPr>
              <a:t>利用</a:t>
            </a:r>
            <a:r>
              <a:rPr lang="en-US" altLang="zh-CN" sz="2600" b="1" dirty="0">
                <a:solidFill>
                  <a:srgbClr val="0000FF"/>
                </a:solidFill>
                <a:latin typeface="黑体" panose="02010609060101010101" pitchFamily="49" charset="-122"/>
                <a:ea typeface="黑体" panose="02010609060101010101" pitchFamily="49" charset="-122"/>
              </a:rPr>
              <a:t>1M×4</a:t>
            </a:r>
            <a:r>
              <a:rPr lang="zh-CN" altLang="en-US" sz="2600" b="1" dirty="0">
                <a:solidFill>
                  <a:srgbClr val="0000FF"/>
                </a:solidFill>
                <a:latin typeface="黑体" panose="02010609060101010101" pitchFamily="49" charset="-122"/>
                <a:ea typeface="黑体" panose="02010609060101010101" pitchFamily="49" charset="-122"/>
              </a:rPr>
              <a:t>位的</a:t>
            </a:r>
            <a:r>
              <a:rPr lang="en-US" altLang="zh-CN" sz="2600" b="1" dirty="0">
                <a:solidFill>
                  <a:srgbClr val="0000FF"/>
                </a:solidFill>
                <a:latin typeface="黑体" panose="02010609060101010101" pitchFamily="49" charset="-122"/>
                <a:ea typeface="黑体" panose="02010609060101010101" pitchFamily="49" charset="-122"/>
              </a:rPr>
              <a:t>SRAM</a:t>
            </a:r>
            <a:r>
              <a:rPr lang="zh-CN" altLang="en-US" sz="2600" b="1" dirty="0">
                <a:solidFill>
                  <a:srgbClr val="0000FF"/>
                </a:solidFill>
                <a:latin typeface="黑体" panose="02010609060101010101" pitchFamily="49" charset="-122"/>
                <a:ea typeface="黑体" panose="02010609060101010101" pitchFamily="49" charset="-122"/>
              </a:rPr>
              <a:t>芯片，设计一个存储容量为</a:t>
            </a:r>
            <a:r>
              <a:rPr lang="en-US" altLang="zh-CN" sz="2600" b="1" dirty="0">
                <a:solidFill>
                  <a:srgbClr val="0000FF"/>
                </a:solidFill>
                <a:latin typeface="黑体" panose="02010609060101010101" pitchFamily="49" charset="-122"/>
                <a:ea typeface="黑体" panose="02010609060101010101" pitchFamily="49" charset="-122"/>
              </a:rPr>
              <a:t>1M×8</a:t>
            </a:r>
            <a:r>
              <a:rPr lang="zh-CN" altLang="en-US" sz="2600" b="1" dirty="0">
                <a:solidFill>
                  <a:srgbClr val="0000FF"/>
                </a:solidFill>
                <a:latin typeface="黑体" panose="02010609060101010101" pitchFamily="49" charset="-122"/>
                <a:ea typeface="黑体" panose="02010609060101010101" pitchFamily="49" charset="-122"/>
              </a:rPr>
              <a:t>位的</a:t>
            </a:r>
            <a:r>
              <a:rPr lang="en-US" altLang="zh-CN" sz="2600" b="1" dirty="0">
                <a:solidFill>
                  <a:srgbClr val="0000FF"/>
                </a:solidFill>
                <a:latin typeface="黑体" panose="02010609060101010101" pitchFamily="49" charset="-122"/>
                <a:ea typeface="黑体" panose="02010609060101010101" pitchFamily="49" charset="-122"/>
              </a:rPr>
              <a:t>SRAM</a:t>
            </a:r>
            <a:r>
              <a:rPr lang="zh-CN" altLang="en-US" sz="2600" b="1" dirty="0">
                <a:solidFill>
                  <a:srgbClr val="0000FF"/>
                </a:solidFill>
                <a:latin typeface="黑体" panose="02010609060101010101" pitchFamily="49" charset="-122"/>
                <a:ea typeface="黑体" panose="02010609060101010101" pitchFamily="49" charset="-122"/>
              </a:rPr>
              <a:t>存储器。</a:t>
            </a:r>
            <a:endParaRPr lang="en-US" altLang="zh-CN" sz="2600" b="1" dirty="0">
              <a:solidFill>
                <a:srgbClr val="0000FF"/>
              </a:solidFill>
              <a:latin typeface="黑体" panose="02010609060101010101" pitchFamily="49" charset="-122"/>
              <a:ea typeface="黑体" panose="02010609060101010101" pitchFamily="49" charset="-122"/>
            </a:endParaRPr>
          </a:p>
          <a:p>
            <a:pPr>
              <a:lnSpc>
                <a:spcPct val="90000"/>
              </a:lnSpc>
              <a:buNone/>
            </a:pPr>
            <a:r>
              <a:rPr lang="en-US" altLang="zh-CN" sz="2600" dirty="0">
                <a:solidFill>
                  <a:srgbClr val="FF3300"/>
                </a:solidFill>
              </a:rPr>
              <a:t>     </a:t>
            </a:r>
            <a:r>
              <a:rPr lang="zh-CN" altLang="en-US" sz="2600" dirty="0">
                <a:solidFill>
                  <a:srgbClr val="FF3300"/>
                </a:solidFill>
              </a:rPr>
              <a:t>解：所需芯片数量</a:t>
            </a:r>
            <a:r>
              <a:rPr lang="en-US" altLang="zh-CN" sz="2600" dirty="0">
                <a:solidFill>
                  <a:srgbClr val="FF3300"/>
                </a:solidFill>
              </a:rPr>
              <a:t>=(1M×8)/(1M×4)=2</a:t>
            </a:r>
            <a:r>
              <a:rPr lang="zh-CN" altLang="en-US" sz="2600" dirty="0">
                <a:solidFill>
                  <a:srgbClr val="FF3300"/>
                </a:solidFill>
              </a:rPr>
              <a:t>片</a:t>
            </a:r>
            <a:endParaRPr lang="en-US" altLang="zh-CN" sz="2600" dirty="0">
              <a:solidFill>
                <a:srgbClr val="FF3300"/>
              </a:solidFill>
            </a:endParaRPr>
          </a:p>
          <a:p>
            <a:pPr>
              <a:lnSpc>
                <a:spcPct val="90000"/>
              </a:lnSpc>
              <a:buNone/>
            </a:pPr>
            <a:r>
              <a:rPr lang="en-US" altLang="zh-CN" sz="2600" dirty="0">
                <a:solidFill>
                  <a:srgbClr val="FF3300"/>
                </a:solidFill>
              </a:rPr>
              <a:t>    </a:t>
            </a:r>
            <a:r>
              <a:rPr lang="zh-CN" altLang="en-US" sz="2600" dirty="0">
                <a:solidFill>
                  <a:srgbClr val="FF3300"/>
                </a:solidFill>
              </a:rPr>
              <a:t>（</a:t>
            </a:r>
            <a:r>
              <a:rPr lang="en-US" altLang="zh-CN" sz="2600" dirty="0">
                <a:solidFill>
                  <a:srgbClr val="0000FF"/>
                </a:solidFill>
              </a:rPr>
              <a:t>P72</a:t>
            </a:r>
            <a:r>
              <a:rPr lang="zh-CN" altLang="en-US" sz="2600" dirty="0">
                <a:solidFill>
                  <a:srgbClr val="FF3300"/>
                </a:solidFill>
              </a:rPr>
              <a:t>）如图</a:t>
            </a:r>
            <a:r>
              <a:rPr lang="en-US" altLang="zh-CN" sz="2600" dirty="0">
                <a:solidFill>
                  <a:srgbClr val="FF3300"/>
                </a:solidFill>
              </a:rPr>
              <a:t>3.9</a:t>
            </a:r>
            <a:r>
              <a:rPr lang="zh-CN" altLang="en-US" sz="2600" dirty="0">
                <a:solidFill>
                  <a:srgbClr val="FF3300"/>
                </a:solidFill>
              </a:rPr>
              <a:t>所示。</a:t>
            </a:r>
            <a:r>
              <a:rPr lang="en-US" altLang="zh-CN" sz="2600" dirty="0">
                <a:solidFill>
                  <a:srgbClr val="FF3300"/>
                </a:solidFill>
              </a:rPr>
              <a:t>    </a:t>
            </a:r>
            <a:r>
              <a:rPr lang="zh-CN" altLang="en-US" sz="2600" dirty="0">
                <a:solidFill>
                  <a:srgbClr val="FF3300"/>
                </a:solidFill>
              </a:rPr>
              <a:t>要求会画该图。</a:t>
            </a:r>
            <a:endParaRPr lang="zh-CN" altLang="en-US" sz="2600"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charRg st="95" end="13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3">
                                            <p:txEl>
                                              <p:charRg st="132" end="17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603">
                                            <p:txEl>
                                              <p:charRg st="178" end="20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603">
                                            <p:txEl>
                                              <p:charRg st="209" end="23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3"/>
          <p:cNvSpPr>
            <a:spLocks noGrp="1"/>
          </p:cNvSpPr>
          <p:nvPr>
            <p:ph idx="1"/>
          </p:nvPr>
        </p:nvSpPr>
        <p:spPr>
          <a:xfrm>
            <a:off x="1981200" y="5805488"/>
            <a:ext cx="5686425" cy="533400"/>
          </a:xfrm>
        </p:spPr>
        <p:txBody>
          <a:bodyPr vert="horz" wrap="square" lIns="91440" tIns="45720" rIns="91440" bIns="45720" anchor="t" anchorCtr="0"/>
          <a:p>
            <a:pPr>
              <a:buNone/>
            </a:pPr>
            <a:r>
              <a:rPr lang="zh-CN" altLang="en-US" dirty="0"/>
              <a:t>图</a:t>
            </a:r>
            <a:r>
              <a:rPr lang="en-US" altLang="zh-CN" dirty="0"/>
              <a:t>3.9  SRAM</a:t>
            </a:r>
            <a:r>
              <a:rPr lang="zh-CN" altLang="en-US" dirty="0"/>
              <a:t>字长位数扩展</a:t>
            </a:r>
            <a:endParaRPr lang="zh-CN" altLang="en-US" dirty="0"/>
          </a:p>
        </p:txBody>
      </p:sp>
      <p:pic>
        <p:nvPicPr>
          <p:cNvPr id="46083" name="Picture 99"/>
          <p:cNvPicPr>
            <a:picLocks noChangeAspect="1"/>
          </p:cNvPicPr>
          <p:nvPr/>
        </p:nvPicPr>
        <p:blipFill>
          <a:blip r:embed="rId1"/>
          <a:stretch>
            <a:fillRect/>
          </a:stretch>
        </p:blipFill>
        <p:spPr>
          <a:xfrm>
            <a:off x="685800" y="609600"/>
            <a:ext cx="7315200" cy="5165725"/>
          </a:xfrm>
          <a:prstGeom prst="rect">
            <a:avLst/>
          </a:prstGeom>
          <a:noFill/>
          <a:ln w="9525">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a:xfrm>
            <a:off x="323850" y="188595"/>
            <a:ext cx="8229600" cy="1371600"/>
          </a:xfrm>
        </p:spPr>
        <p:txBody>
          <a:bodyPr/>
          <a:lstStyle/>
          <a:p>
            <a:pPr eaLnBrk="1" hangingPunct="1">
              <a:defRPr/>
            </a:pPr>
            <a:r>
              <a:rPr lang="zh-CN" altLang="en-US"/>
              <a:t>位扩展法组成</a:t>
            </a:r>
            <a:r>
              <a:rPr lang="en-US" altLang="zh-CN"/>
              <a:t>8K</a:t>
            </a:r>
            <a:r>
              <a:rPr lang="zh-CN" altLang="en-US"/>
              <a:t>字节</a:t>
            </a:r>
            <a:r>
              <a:rPr lang="en-US" altLang="zh-CN"/>
              <a:t>RAM</a:t>
            </a:r>
            <a:endParaRPr lang="en-US" altLang="zh-CN"/>
          </a:p>
        </p:txBody>
      </p:sp>
      <p:sp>
        <p:nvSpPr>
          <p:cNvPr id="71683" name="Rectangle 3"/>
          <p:cNvSpPr>
            <a:spLocks noGrp="1" noChangeArrowheads="1"/>
          </p:cNvSpPr>
          <p:nvPr>
            <p:ph idx="1"/>
          </p:nvPr>
        </p:nvSpPr>
        <p:spPr/>
        <p:txBody>
          <a:bodyPr/>
          <a:lstStyle/>
          <a:p>
            <a:pPr eaLnBrk="1" hangingPunct="1"/>
            <a:endParaRPr lang="zh-CN" altLang="zh-CN"/>
          </a:p>
        </p:txBody>
      </p:sp>
      <p:pic>
        <p:nvPicPr>
          <p:cNvPr id="71685" name="Picture 5"/>
          <p:cNvPicPr>
            <a:picLocks noChangeAspect="1" noChangeArrowheads="1"/>
          </p:cNvPicPr>
          <p:nvPr/>
        </p:nvPicPr>
        <p:blipFill>
          <a:blip r:embed="rId1">
            <a:extLst>
              <a:ext uri="{28A0092B-C50C-407E-A947-70E740481C1C}">
                <a14:useLocalDpi xmlns:a14="http://schemas.microsoft.com/office/drawing/2010/main" val="0"/>
              </a:ext>
            </a:extLst>
          </a:blip>
          <a:srcRect l="15874" t="14766" r="13658" b="27071"/>
          <a:stretch>
            <a:fillRect/>
          </a:stretch>
        </p:blipFill>
        <p:spPr bwMode="auto">
          <a:xfrm>
            <a:off x="179388" y="1096963"/>
            <a:ext cx="8569325" cy="530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pic>
      <p:sp>
        <p:nvSpPr>
          <p:cNvPr id="71686" name="TextBox 1"/>
          <p:cNvSpPr txBox="1">
            <a:spLocks noChangeArrowheads="1"/>
          </p:cNvSpPr>
          <p:nvPr/>
        </p:nvSpPr>
        <p:spPr bwMode="auto">
          <a:xfrm>
            <a:off x="2339975" y="3284538"/>
            <a:ext cx="595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r>
              <a:rPr lang="en-US" altLang="zh-CN" sz="1600" b="0">
                <a:solidFill>
                  <a:srgbClr val="FF0000"/>
                </a:solidFill>
                <a:ea typeface="黑体" panose="02010609060101010101" pitchFamily="49" charset="-122"/>
              </a:rPr>
              <a:t>13</a:t>
            </a:r>
            <a:r>
              <a:rPr lang="zh-CN" altLang="en-US" sz="1600" b="0">
                <a:solidFill>
                  <a:srgbClr val="FF0000"/>
                </a:solidFill>
                <a:ea typeface="黑体" panose="02010609060101010101" pitchFamily="49" charset="-122"/>
              </a:rPr>
              <a:t>条</a:t>
            </a:r>
            <a:endParaRPr lang="zh-CN" altLang="en-US" sz="1600" b="0">
              <a:solidFill>
                <a:srgbClr val="FF0000"/>
              </a:solidFill>
              <a:ea typeface="黑体" panose="02010609060101010101" pitchFamily="49" charset="-122"/>
            </a:endParaRPr>
          </a:p>
        </p:txBody>
      </p:sp>
      <p:cxnSp>
        <p:nvCxnSpPr>
          <p:cNvPr id="71687" name="直接箭头连接符 3"/>
          <p:cNvCxnSpPr>
            <a:cxnSpLocks noChangeShapeType="1"/>
          </p:cNvCxnSpPr>
          <p:nvPr/>
        </p:nvCxnSpPr>
        <p:spPr bwMode="auto">
          <a:xfrm>
            <a:off x="3276600" y="3860800"/>
            <a:ext cx="431800" cy="0"/>
          </a:xfrm>
          <a:prstGeom prst="straightConnector1">
            <a:avLst/>
          </a:prstGeom>
          <a:noFill/>
          <a:ln w="22225" algn="ctr">
            <a:solidFill>
              <a:srgbClr val="FF0000"/>
            </a:solidFill>
            <a:miter lim="800000"/>
            <a:tailEnd type="arrow" w="med" len="med"/>
          </a:ln>
          <a:extLst>
            <a:ext uri="{909E8E84-426E-40DD-AFC4-6F175D3DCCD1}">
              <a14:hiddenFill xmlns:a14="http://schemas.microsoft.com/office/drawing/2010/main">
                <a:noFill/>
              </a14:hiddenFill>
            </a:ext>
          </a:extLst>
        </p:spPr>
      </p:cxnSp>
      <p:sp>
        <p:nvSpPr>
          <p:cNvPr id="71688" name="TextBox 8"/>
          <p:cNvSpPr txBox="1">
            <a:spLocks noChangeArrowheads="1"/>
          </p:cNvSpPr>
          <p:nvPr/>
        </p:nvSpPr>
        <p:spPr bwMode="auto">
          <a:xfrm>
            <a:off x="2636838" y="3692525"/>
            <a:ext cx="5953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r>
              <a:rPr lang="zh-CN" altLang="en-US" sz="1600" b="0">
                <a:solidFill>
                  <a:srgbClr val="FF0000"/>
                </a:solidFill>
                <a:ea typeface="黑体" panose="02010609060101010101" pitchFamily="49" charset="-122"/>
              </a:rPr>
              <a:t>片选</a:t>
            </a:r>
            <a:endParaRPr lang="zh-CN" altLang="en-US" sz="1600" b="0">
              <a:solidFill>
                <a:srgbClr val="FF0000"/>
              </a:solidFill>
              <a:ea typeface="黑体" panose="02010609060101010101" pitchFamily="49" charset="-122"/>
            </a:endParaRPr>
          </a:p>
        </p:txBody>
      </p:sp>
      <p:sp>
        <p:nvSpPr>
          <p:cNvPr id="71689" name="TextBox 9"/>
          <p:cNvSpPr txBox="1">
            <a:spLocks noChangeArrowheads="1"/>
          </p:cNvSpPr>
          <p:nvPr/>
        </p:nvSpPr>
        <p:spPr bwMode="auto">
          <a:xfrm>
            <a:off x="3708400" y="3049588"/>
            <a:ext cx="403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r>
              <a:rPr lang="en-US" altLang="zh-CN" sz="1400" b="0">
                <a:solidFill>
                  <a:srgbClr val="FF0000"/>
                </a:solidFill>
                <a:ea typeface="黑体" panose="02010609060101010101" pitchFamily="49" charset="-122"/>
              </a:rPr>
              <a:t>A0</a:t>
            </a:r>
            <a:endParaRPr lang="zh-CN" altLang="en-US" sz="1400" b="0">
              <a:solidFill>
                <a:srgbClr val="FF0000"/>
              </a:solidFill>
              <a:ea typeface="黑体" panose="02010609060101010101" pitchFamily="49" charset="-122"/>
            </a:endParaRPr>
          </a:p>
        </p:txBody>
      </p:sp>
      <p:sp>
        <p:nvSpPr>
          <p:cNvPr id="71690" name="TextBox 10"/>
          <p:cNvSpPr txBox="1">
            <a:spLocks noChangeArrowheads="1"/>
          </p:cNvSpPr>
          <p:nvPr/>
        </p:nvSpPr>
        <p:spPr bwMode="auto">
          <a:xfrm>
            <a:off x="3708400" y="3552825"/>
            <a:ext cx="4937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r>
              <a:rPr lang="en-US" altLang="zh-CN" sz="1400" b="0">
                <a:solidFill>
                  <a:srgbClr val="FF0000"/>
                </a:solidFill>
                <a:ea typeface="黑体" panose="02010609060101010101" pitchFamily="49" charset="-122"/>
              </a:rPr>
              <a:t>A12</a:t>
            </a:r>
            <a:endParaRPr lang="zh-CN" altLang="en-US" sz="1400" b="0">
              <a:solidFill>
                <a:srgbClr val="FF0000"/>
              </a:solidFill>
              <a:ea typeface="黑体" panose="02010609060101010101" pitchFamily="49" charset="-122"/>
            </a:endParaRPr>
          </a:p>
        </p:txBody>
      </p:sp>
    </p:spTree>
  </p:cSld>
  <p:clrMapOvr>
    <a:masterClrMapping/>
  </p:clrMapOvr>
  <p:transition spd="med">
    <p:pull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26627" name="Rectangle 3"/>
          <p:cNvSpPr>
            <a:spLocks noGrp="1"/>
          </p:cNvSpPr>
          <p:nvPr>
            <p:ph idx="1"/>
          </p:nvPr>
        </p:nvSpPr>
        <p:spPr>
          <a:xfrm>
            <a:off x="457200" y="1268413"/>
            <a:ext cx="8229600" cy="5256212"/>
          </a:xfrm>
        </p:spPr>
        <p:txBody>
          <a:bodyPr vert="horz" wrap="square" lIns="91440" tIns="45720" rIns="91440" bIns="45720" anchor="t" anchorCtr="0"/>
          <a:p>
            <a:pPr>
              <a:lnSpc>
                <a:spcPct val="80000"/>
              </a:lnSpc>
              <a:buNone/>
            </a:pPr>
            <a:r>
              <a:rPr lang="en-US" altLang="zh-CN" sz="2600" b="1" dirty="0"/>
              <a:t>2</a:t>
            </a:r>
            <a:r>
              <a:rPr lang="zh-CN" altLang="en-US" sz="2600" b="1" dirty="0"/>
              <a:t>、字存储容量扩展</a:t>
            </a:r>
            <a:r>
              <a:rPr lang="en-US" altLang="zh-CN" sz="2600" dirty="0"/>
              <a:t> </a:t>
            </a:r>
            <a:endParaRPr lang="en-US" altLang="zh-CN" sz="2600" dirty="0"/>
          </a:p>
          <a:p>
            <a:pPr>
              <a:lnSpc>
                <a:spcPct val="80000"/>
              </a:lnSpc>
            </a:pPr>
            <a:r>
              <a:rPr lang="zh-CN" altLang="en-US" sz="2600" dirty="0"/>
              <a:t>给定的芯片存储容量较小（字数少），不满足设计要求的总存储容量，此时需要用多片给定芯片来扩展字数。</a:t>
            </a:r>
            <a:endParaRPr lang="en-US" altLang="zh-CN" sz="2600" dirty="0"/>
          </a:p>
          <a:p>
            <a:pPr>
              <a:lnSpc>
                <a:spcPct val="80000"/>
              </a:lnSpc>
            </a:pPr>
            <a:r>
              <a:rPr lang="zh-CN" altLang="en-US" sz="2600" dirty="0"/>
              <a:t>三组信号组中给定芯片的</a:t>
            </a:r>
            <a:r>
              <a:rPr lang="zh-CN" altLang="en-US" sz="2600" dirty="0">
                <a:solidFill>
                  <a:srgbClr val="0000FF"/>
                </a:solidFill>
              </a:rPr>
              <a:t>地址总线和数据总线公用</a:t>
            </a:r>
            <a:r>
              <a:rPr lang="zh-CN" altLang="en-US" sz="2600" dirty="0"/>
              <a:t>，</a:t>
            </a:r>
            <a:r>
              <a:rPr lang="zh-CN" altLang="en-US" sz="2600" dirty="0">
                <a:solidFill>
                  <a:srgbClr val="0000FF"/>
                </a:solidFill>
              </a:rPr>
              <a:t>控制总线中</a:t>
            </a:r>
            <a:r>
              <a:rPr lang="en-US" altLang="zh-CN" sz="2600" dirty="0">
                <a:solidFill>
                  <a:srgbClr val="0000FF"/>
                </a:solidFill>
              </a:rPr>
              <a:t>R/W</a:t>
            </a:r>
            <a:r>
              <a:rPr lang="zh-CN" altLang="en-US" sz="2600" dirty="0">
                <a:solidFill>
                  <a:srgbClr val="0000FF"/>
                </a:solidFill>
              </a:rPr>
              <a:t>公用</a:t>
            </a:r>
            <a:r>
              <a:rPr lang="zh-CN" altLang="en-US" sz="2600" dirty="0"/>
              <a:t>，</a:t>
            </a:r>
            <a:r>
              <a:rPr lang="zh-CN" altLang="en-US" sz="2600" dirty="0">
                <a:solidFill>
                  <a:srgbClr val="FF3300"/>
                </a:solidFill>
              </a:rPr>
              <a:t>使能端</a:t>
            </a:r>
            <a:r>
              <a:rPr lang="en-US" altLang="zh-CN" sz="2600" dirty="0">
                <a:solidFill>
                  <a:srgbClr val="FF3300"/>
                </a:solidFill>
              </a:rPr>
              <a:t>EN</a:t>
            </a:r>
            <a:r>
              <a:rPr lang="zh-CN" altLang="en-US" sz="2600" dirty="0">
                <a:solidFill>
                  <a:srgbClr val="FF3300"/>
                </a:solidFill>
              </a:rPr>
              <a:t>不能公用，它由地址总线的高位段译码来决定片选信号</a:t>
            </a:r>
            <a:r>
              <a:rPr lang="zh-CN" altLang="en-US" sz="2600" dirty="0"/>
              <a:t>。所需芯片数仍由（</a:t>
            </a:r>
            <a:r>
              <a:rPr lang="en-US" altLang="zh-CN" sz="2600" dirty="0"/>
              <a:t>d=</a:t>
            </a:r>
            <a:r>
              <a:rPr lang="zh-CN" altLang="en-US" sz="2600" dirty="0"/>
              <a:t>设计要求的存储器容量</a:t>
            </a:r>
            <a:r>
              <a:rPr lang="en-US" altLang="zh-CN" sz="2600" dirty="0"/>
              <a:t>/</a:t>
            </a:r>
            <a:r>
              <a:rPr lang="zh-CN" altLang="en-US" sz="2600" dirty="0"/>
              <a:t>选择芯片存储器容量）决定。</a:t>
            </a:r>
            <a:endParaRPr lang="en-US" altLang="zh-CN" sz="2600" dirty="0"/>
          </a:p>
          <a:p>
            <a:pPr>
              <a:lnSpc>
                <a:spcPct val="80000"/>
              </a:lnSpc>
              <a:buNone/>
            </a:pPr>
            <a:r>
              <a:rPr lang="en-US" altLang="zh-CN" sz="2600" b="1" dirty="0">
                <a:solidFill>
                  <a:srgbClr val="0000FF"/>
                </a:solidFill>
                <a:latin typeface="黑体" panose="02010609060101010101" pitchFamily="49" charset="-122"/>
                <a:ea typeface="黑体" panose="02010609060101010101" pitchFamily="49" charset="-122"/>
              </a:rPr>
              <a:t>[</a:t>
            </a:r>
            <a:r>
              <a:rPr lang="zh-CN" altLang="en-US" sz="2600" b="1" dirty="0">
                <a:solidFill>
                  <a:srgbClr val="0000FF"/>
                </a:solidFill>
                <a:latin typeface="黑体" panose="02010609060101010101" pitchFamily="49" charset="-122"/>
                <a:ea typeface="黑体" panose="02010609060101010101" pitchFamily="49" charset="-122"/>
              </a:rPr>
              <a:t>例</a:t>
            </a:r>
            <a:r>
              <a:rPr lang="en-US" altLang="zh-CN" sz="2600" b="1" dirty="0">
                <a:solidFill>
                  <a:srgbClr val="0000FF"/>
                </a:solidFill>
                <a:latin typeface="黑体" panose="02010609060101010101" pitchFamily="49" charset="-122"/>
                <a:ea typeface="黑体" panose="02010609060101010101" pitchFamily="49" charset="-122"/>
              </a:rPr>
              <a:t>3]</a:t>
            </a:r>
            <a:r>
              <a:rPr lang="zh-CN" altLang="en-US" sz="2600" b="1" dirty="0">
                <a:solidFill>
                  <a:srgbClr val="0000FF"/>
                </a:solidFill>
                <a:latin typeface="黑体" panose="02010609060101010101" pitchFamily="49" charset="-122"/>
                <a:ea typeface="黑体" panose="02010609060101010101" pitchFamily="49" charset="-122"/>
              </a:rPr>
              <a:t>利用</a:t>
            </a:r>
            <a:r>
              <a:rPr lang="en-US" altLang="zh-CN" sz="2600" b="1" dirty="0">
                <a:solidFill>
                  <a:srgbClr val="0000FF"/>
                </a:solidFill>
                <a:latin typeface="黑体" panose="02010609060101010101" pitchFamily="49" charset="-122"/>
                <a:ea typeface="黑体" panose="02010609060101010101" pitchFamily="49" charset="-122"/>
              </a:rPr>
              <a:t>1M×8</a:t>
            </a:r>
            <a:r>
              <a:rPr lang="zh-CN" altLang="en-US" sz="2600" b="1" dirty="0">
                <a:solidFill>
                  <a:srgbClr val="0000FF"/>
                </a:solidFill>
                <a:latin typeface="黑体" panose="02010609060101010101" pitchFamily="49" charset="-122"/>
                <a:ea typeface="黑体" panose="02010609060101010101" pitchFamily="49" charset="-122"/>
              </a:rPr>
              <a:t>位的</a:t>
            </a:r>
            <a:r>
              <a:rPr lang="en-US" altLang="zh-CN" sz="2600" b="1" dirty="0">
                <a:solidFill>
                  <a:srgbClr val="0000FF"/>
                </a:solidFill>
                <a:latin typeface="黑体" panose="02010609060101010101" pitchFamily="49" charset="-122"/>
                <a:ea typeface="黑体" panose="02010609060101010101" pitchFamily="49" charset="-122"/>
              </a:rPr>
              <a:t>DRAM</a:t>
            </a:r>
            <a:r>
              <a:rPr lang="zh-CN" altLang="en-US" sz="2600" b="1" dirty="0">
                <a:solidFill>
                  <a:srgbClr val="0000FF"/>
                </a:solidFill>
                <a:latin typeface="黑体" panose="02010609060101010101" pitchFamily="49" charset="-122"/>
                <a:ea typeface="黑体" panose="02010609060101010101" pitchFamily="49" charset="-122"/>
              </a:rPr>
              <a:t>芯片设计</a:t>
            </a:r>
            <a:r>
              <a:rPr lang="en-US" altLang="zh-CN" sz="2600" b="1" dirty="0">
                <a:solidFill>
                  <a:srgbClr val="0000FF"/>
                </a:solidFill>
                <a:latin typeface="黑体" panose="02010609060101010101" pitchFamily="49" charset="-122"/>
                <a:ea typeface="黑体" panose="02010609060101010101" pitchFamily="49" charset="-122"/>
              </a:rPr>
              <a:t>2M×8</a:t>
            </a:r>
            <a:r>
              <a:rPr lang="zh-CN" altLang="en-US" sz="2600" b="1" dirty="0">
                <a:solidFill>
                  <a:srgbClr val="0000FF"/>
                </a:solidFill>
                <a:latin typeface="黑体" panose="02010609060101010101" pitchFamily="49" charset="-122"/>
                <a:ea typeface="黑体" panose="02010609060101010101" pitchFamily="49" charset="-122"/>
              </a:rPr>
              <a:t>位的</a:t>
            </a:r>
            <a:r>
              <a:rPr lang="en-US" altLang="zh-CN" sz="2600" b="1" dirty="0">
                <a:solidFill>
                  <a:srgbClr val="0000FF"/>
                </a:solidFill>
                <a:latin typeface="黑体" panose="02010609060101010101" pitchFamily="49" charset="-122"/>
                <a:ea typeface="黑体" panose="02010609060101010101" pitchFamily="49" charset="-122"/>
              </a:rPr>
              <a:t>DRAM</a:t>
            </a:r>
            <a:r>
              <a:rPr lang="zh-CN" altLang="en-US" sz="2600" b="1" dirty="0">
                <a:solidFill>
                  <a:srgbClr val="0000FF"/>
                </a:solidFill>
                <a:latin typeface="黑体" panose="02010609060101010101" pitchFamily="49" charset="-122"/>
                <a:ea typeface="黑体" panose="02010609060101010101" pitchFamily="49" charset="-122"/>
              </a:rPr>
              <a:t>存储器</a:t>
            </a:r>
            <a:endParaRPr lang="en-US" altLang="zh-CN" sz="2600" b="1" dirty="0">
              <a:solidFill>
                <a:srgbClr val="0000FF"/>
              </a:solidFill>
              <a:latin typeface="黑体" panose="02010609060101010101" pitchFamily="49" charset="-122"/>
              <a:ea typeface="黑体" panose="02010609060101010101" pitchFamily="49" charset="-122"/>
            </a:endParaRPr>
          </a:p>
          <a:p>
            <a:pPr>
              <a:lnSpc>
                <a:spcPct val="80000"/>
              </a:lnSpc>
              <a:buNone/>
            </a:pPr>
            <a:r>
              <a:rPr lang="zh-CN" altLang="en-US" sz="2600" dirty="0">
                <a:solidFill>
                  <a:srgbClr val="FF3300"/>
                </a:solidFill>
              </a:rPr>
              <a:t>解：所需芯片数</a:t>
            </a:r>
            <a:r>
              <a:rPr lang="en-US" altLang="zh-CN" sz="2600" dirty="0">
                <a:solidFill>
                  <a:srgbClr val="FF3300"/>
                </a:solidFill>
              </a:rPr>
              <a:t>d=</a:t>
            </a:r>
            <a:r>
              <a:rPr lang="zh-CN" altLang="en-US" sz="2600" dirty="0">
                <a:solidFill>
                  <a:srgbClr val="FF3300"/>
                </a:solidFill>
              </a:rPr>
              <a:t>（</a:t>
            </a:r>
            <a:r>
              <a:rPr lang="en-US" altLang="zh-CN" sz="2600" dirty="0">
                <a:solidFill>
                  <a:srgbClr val="FF3300"/>
                </a:solidFill>
              </a:rPr>
              <a:t>2M×8</a:t>
            </a:r>
            <a:r>
              <a:rPr lang="zh-CN" altLang="en-US" sz="2600" dirty="0">
                <a:solidFill>
                  <a:srgbClr val="FF3300"/>
                </a:solidFill>
              </a:rPr>
              <a:t>）</a:t>
            </a:r>
            <a:r>
              <a:rPr lang="en-US" altLang="zh-CN" sz="2600" dirty="0">
                <a:solidFill>
                  <a:srgbClr val="FF3300"/>
                </a:solidFill>
              </a:rPr>
              <a:t>/</a:t>
            </a:r>
            <a:r>
              <a:rPr lang="zh-CN" altLang="en-US" sz="2600" dirty="0">
                <a:solidFill>
                  <a:srgbClr val="FF3300"/>
                </a:solidFill>
              </a:rPr>
              <a:t>（</a:t>
            </a:r>
            <a:r>
              <a:rPr lang="en-US" altLang="zh-CN" sz="2600" dirty="0">
                <a:solidFill>
                  <a:srgbClr val="FF3300"/>
                </a:solidFill>
              </a:rPr>
              <a:t>1M×8</a:t>
            </a:r>
            <a:r>
              <a:rPr lang="zh-CN" altLang="en-US" sz="2600" dirty="0">
                <a:solidFill>
                  <a:srgbClr val="FF3300"/>
                </a:solidFill>
              </a:rPr>
              <a:t>）</a:t>
            </a:r>
            <a:r>
              <a:rPr lang="en-US" altLang="zh-CN" sz="2600" dirty="0">
                <a:solidFill>
                  <a:srgbClr val="FF3300"/>
                </a:solidFill>
              </a:rPr>
              <a:t>=2(</a:t>
            </a:r>
            <a:r>
              <a:rPr lang="zh-CN" altLang="en-US" sz="2600" dirty="0">
                <a:solidFill>
                  <a:srgbClr val="FF3300"/>
                </a:solidFill>
              </a:rPr>
              <a:t>片</a:t>
            </a:r>
            <a:r>
              <a:rPr lang="en-US" altLang="zh-CN" sz="2600" dirty="0">
                <a:solidFill>
                  <a:srgbClr val="FF3300"/>
                </a:solidFill>
              </a:rPr>
              <a:t>)</a:t>
            </a:r>
            <a:endParaRPr lang="en-US" altLang="zh-CN" sz="2600" dirty="0">
              <a:solidFill>
                <a:srgbClr val="FF3300"/>
              </a:solidFill>
            </a:endParaRPr>
          </a:p>
          <a:p>
            <a:pPr>
              <a:lnSpc>
                <a:spcPct val="80000"/>
              </a:lnSpc>
              <a:buNone/>
            </a:pPr>
            <a:r>
              <a:rPr lang="zh-CN" altLang="en-US" sz="2600" dirty="0">
                <a:solidFill>
                  <a:srgbClr val="FF3300"/>
                </a:solidFill>
              </a:rPr>
              <a:t>（</a:t>
            </a:r>
            <a:r>
              <a:rPr lang="en-US" altLang="zh-CN" sz="2600" dirty="0">
                <a:solidFill>
                  <a:srgbClr val="0000FF"/>
                </a:solidFill>
              </a:rPr>
              <a:t>P73</a:t>
            </a:r>
            <a:r>
              <a:rPr lang="zh-CN" altLang="en-US" sz="2600" dirty="0">
                <a:solidFill>
                  <a:srgbClr val="FF3300"/>
                </a:solidFill>
              </a:rPr>
              <a:t>）如图</a:t>
            </a:r>
            <a:r>
              <a:rPr lang="en-US" altLang="zh-CN" sz="2600" dirty="0">
                <a:solidFill>
                  <a:srgbClr val="FF3300"/>
                </a:solidFill>
              </a:rPr>
              <a:t>3.10</a:t>
            </a:r>
            <a:r>
              <a:rPr lang="zh-CN" altLang="en-US" sz="2600" dirty="0">
                <a:solidFill>
                  <a:srgbClr val="FF3300"/>
                </a:solidFill>
              </a:rPr>
              <a:t>所示。要求会画该图。</a:t>
            </a:r>
            <a:endParaRPr lang="en-US" altLang="zh-CN" sz="2600"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charRg st="60" end="15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7">
                                            <p:txEl>
                                              <p:charRg st="159" end="19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6627">
                                            <p:txEl>
                                              <p:charRg st="193" end="221"/>
                                            </p:txEl>
                                          </p:spTgt>
                                        </p:tgtEl>
                                        <p:attrNameLst>
                                          <p:attrName>style.visibility</p:attrName>
                                        </p:attrNameLst>
                                      </p:cBhvr>
                                      <p:to>
                                        <p:strVal val="visible"/>
                                      </p:to>
                                    </p:set>
                                    <p:anim calcmode="lin" valueType="num">
                                      <p:cBhvr additive="base">
                                        <p:cTn id="15" dur="500" fill="hold"/>
                                        <p:tgtEl>
                                          <p:spTgt spid="26627">
                                            <p:txEl>
                                              <p:charRg st="193" end="22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6627">
                                            <p:txEl>
                                              <p:charRg st="193" end="22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6627">
                                            <p:txEl>
                                              <p:charRg st="221" end="243"/>
                                            </p:txEl>
                                          </p:spTgt>
                                        </p:tgtEl>
                                        <p:attrNameLst>
                                          <p:attrName>style.visibility</p:attrName>
                                        </p:attrNameLst>
                                      </p:cBhvr>
                                      <p:to>
                                        <p:strVal val="visible"/>
                                      </p:to>
                                    </p:set>
                                    <p:anim calcmode="lin" valueType="num">
                                      <p:cBhvr additive="base">
                                        <p:cTn id="19" dur="500" fill="hold"/>
                                        <p:tgtEl>
                                          <p:spTgt spid="26627">
                                            <p:txEl>
                                              <p:charRg st="221" end="24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7">
                                            <p:txEl>
                                              <p:charRg st="221" end="24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8130" name="Picture 222"/>
          <p:cNvPicPr>
            <a:picLocks noChangeAspect="1"/>
          </p:cNvPicPr>
          <p:nvPr/>
        </p:nvPicPr>
        <p:blipFill>
          <a:blip r:embed="rId1"/>
          <a:stretch>
            <a:fillRect/>
          </a:stretch>
        </p:blipFill>
        <p:spPr>
          <a:xfrm>
            <a:off x="1219200" y="457200"/>
            <a:ext cx="7500938" cy="6105525"/>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2"/>
          <p:cNvSpPr>
            <a:spLocks noGrp="1" noChangeArrowheads="1"/>
          </p:cNvSpPr>
          <p:nvPr>
            <p:ph type="title"/>
          </p:nvPr>
        </p:nvSpPr>
        <p:spPr>
          <a:xfrm>
            <a:off x="430530" y="260350"/>
            <a:ext cx="8229600" cy="1371600"/>
          </a:xfrm>
        </p:spPr>
        <p:txBody>
          <a:bodyPr/>
          <a:lstStyle/>
          <a:p>
            <a:pPr eaLnBrk="1" hangingPunct="1">
              <a:defRPr/>
            </a:pPr>
            <a:r>
              <a:rPr lang="zh-CN" altLang="en-US"/>
              <a:t>字扩展法组成</a:t>
            </a:r>
            <a:r>
              <a:rPr lang="en-US" altLang="zh-CN"/>
              <a:t>64K</a:t>
            </a:r>
            <a:r>
              <a:rPr lang="zh-CN" altLang="en-US"/>
              <a:t>字节</a:t>
            </a:r>
            <a:r>
              <a:rPr lang="en-US" altLang="zh-CN"/>
              <a:t>RAM</a:t>
            </a:r>
            <a:endParaRPr lang="en-US" altLang="zh-CN"/>
          </a:p>
        </p:txBody>
      </p:sp>
      <p:pic>
        <p:nvPicPr>
          <p:cNvPr id="72708" name="Picture 4"/>
          <p:cNvPicPr>
            <a:picLocks noChangeAspect="1" noChangeArrowheads="1"/>
          </p:cNvPicPr>
          <p:nvPr/>
        </p:nvPicPr>
        <p:blipFill>
          <a:blip r:embed="rId1">
            <a:extLst>
              <a:ext uri="{28A0092B-C50C-407E-A947-70E740481C1C}">
                <a14:useLocalDpi xmlns:a14="http://schemas.microsoft.com/office/drawing/2010/main" val="0"/>
              </a:ext>
            </a:extLst>
          </a:blip>
          <a:srcRect l="16611" t="15750" r="15874" b="31992"/>
          <a:stretch>
            <a:fillRect/>
          </a:stretch>
        </p:blipFill>
        <p:spPr bwMode="auto">
          <a:xfrm>
            <a:off x="250825" y="1201738"/>
            <a:ext cx="8569325" cy="497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pic>
      <p:sp>
        <p:nvSpPr>
          <p:cNvPr id="688133" name="Text Box 5"/>
          <p:cNvSpPr txBox="1">
            <a:spLocks noChangeArrowheads="1"/>
          </p:cNvSpPr>
          <p:nvPr/>
        </p:nvSpPr>
        <p:spPr bwMode="auto">
          <a:xfrm>
            <a:off x="2627313" y="4221163"/>
            <a:ext cx="847725" cy="336550"/>
          </a:xfrm>
          <a:prstGeom prst="rect">
            <a:avLst/>
          </a:prstGeom>
          <a:noFill/>
          <a:ln w="15875" algn="ctr">
            <a:noFill/>
            <a:miter lim="800000"/>
          </a:ln>
          <a:effectLst/>
        </p:spPr>
        <p:txBody>
          <a:bodyPr wrap="none" lIns="90000" tIns="46800" rIns="90000" bIns="46800">
            <a:spAutoFit/>
          </a:bodyPr>
          <a:lstStyle/>
          <a:p>
            <a:pPr algn="ctr" eaLnBrk="1" hangingPunct="1">
              <a:defRPr/>
            </a:pPr>
            <a:r>
              <a:rPr lang="en-US" altLang="zh-CN" sz="1600" b="1">
                <a:solidFill>
                  <a:schemeClr val="bg2"/>
                </a:solidFill>
                <a:effectLst>
                  <a:outerShdw blurRad="38100" dist="38100" dir="2700000" algn="tl">
                    <a:srgbClr val="C0C0C0"/>
                  </a:outerShdw>
                </a:effectLst>
                <a:ea typeface="方正准圆简体" pitchFamily="2" charset="-122"/>
              </a:rPr>
              <a:t>16K</a:t>
            </a:r>
            <a:r>
              <a:rPr lang="en-US" altLang="zh-CN" sz="1600" b="1">
                <a:solidFill>
                  <a:schemeClr val="bg2"/>
                </a:solidFill>
                <a:effectLst>
                  <a:outerShdw blurRad="38100" dist="38100" dir="2700000" algn="tl">
                    <a:srgbClr val="C0C0C0"/>
                  </a:outerShdw>
                </a:effectLst>
                <a:ea typeface="方正准圆简体" pitchFamily="2" charset="-122"/>
                <a:cs typeface="Times New Roman" panose="02020603050405020304" pitchFamily="18" charset="0"/>
              </a:rPr>
              <a:t>×8</a:t>
            </a:r>
            <a:endParaRPr lang="en-US" altLang="zh-CN" sz="1600" b="1">
              <a:solidFill>
                <a:schemeClr val="bg2"/>
              </a:solidFill>
              <a:effectLst>
                <a:outerShdw blurRad="38100" dist="38100" dir="2700000" algn="tl">
                  <a:srgbClr val="C0C0C0"/>
                </a:outerShdw>
              </a:effectLst>
              <a:ea typeface="方正准圆简体" pitchFamily="2" charset="-122"/>
              <a:cs typeface="Times New Roman" panose="02020603050405020304" pitchFamily="18" charset="0"/>
            </a:endParaRPr>
          </a:p>
        </p:txBody>
      </p:sp>
      <p:sp>
        <p:nvSpPr>
          <p:cNvPr id="688134" name="Text Box 6"/>
          <p:cNvSpPr txBox="1">
            <a:spLocks noChangeArrowheads="1"/>
          </p:cNvSpPr>
          <p:nvPr/>
        </p:nvSpPr>
        <p:spPr bwMode="auto">
          <a:xfrm>
            <a:off x="4356100" y="4268788"/>
            <a:ext cx="847725" cy="336550"/>
          </a:xfrm>
          <a:prstGeom prst="rect">
            <a:avLst/>
          </a:prstGeom>
          <a:noFill/>
          <a:ln w="15875" algn="ctr">
            <a:noFill/>
            <a:miter lim="800000"/>
          </a:ln>
          <a:effectLst/>
        </p:spPr>
        <p:txBody>
          <a:bodyPr wrap="none" lIns="90000" tIns="46800" rIns="90000" bIns="46800">
            <a:spAutoFit/>
          </a:bodyPr>
          <a:lstStyle/>
          <a:p>
            <a:pPr algn="ctr" eaLnBrk="1" hangingPunct="1">
              <a:defRPr/>
            </a:pPr>
            <a:r>
              <a:rPr lang="en-US" altLang="zh-CN" sz="1600" b="1">
                <a:solidFill>
                  <a:schemeClr val="bg2"/>
                </a:solidFill>
                <a:effectLst>
                  <a:outerShdw blurRad="38100" dist="38100" dir="2700000" algn="tl">
                    <a:srgbClr val="C0C0C0"/>
                  </a:outerShdw>
                </a:effectLst>
                <a:ea typeface="方正准圆简体" pitchFamily="2" charset="-122"/>
              </a:rPr>
              <a:t>16K</a:t>
            </a:r>
            <a:r>
              <a:rPr lang="en-US" altLang="zh-CN" sz="1600" b="1">
                <a:solidFill>
                  <a:schemeClr val="bg2"/>
                </a:solidFill>
                <a:effectLst>
                  <a:outerShdw blurRad="38100" dist="38100" dir="2700000" algn="tl">
                    <a:srgbClr val="C0C0C0"/>
                  </a:outerShdw>
                </a:effectLst>
                <a:ea typeface="方正准圆简体" pitchFamily="2" charset="-122"/>
                <a:cs typeface="Times New Roman" panose="02020603050405020304" pitchFamily="18" charset="0"/>
              </a:rPr>
              <a:t>×8</a:t>
            </a:r>
            <a:endParaRPr lang="en-US" altLang="zh-CN" sz="1600" b="1">
              <a:solidFill>
                <a:schemeClr val="bg2"/>
              </a:solidFill>
              <a:effectLst>
                <a:outerShdw blurRad="38100" dist="38100" dir="2700000" algn="tl">
                  <a:srgbClr val="C0C0C0"/>
                </a:outerShdw>
              </a:effectLst>
              <a:ea typeface="方正准圆简体" pitchFamily="2" charset="-122"/>
              <a:cs typeface="Times New Roman" panose="02020603050405020304" pitchFamily="18" charset="0"/>
            </a:endParaRPr>
          </a:p>
        </p:txBody>
      </p:sp>
      <p:sp>
        <p:nvSpPr>
          <p:cNvPr id="688135" name="Text Box 7"/>
          <p:cNvSpPr txBox="1">
            <a:spLocks noChangeArrowheads="1"/>
          </p:cNvSpPr>
          <p:nvPr/>
        </p:nvSpPr>
        <p:spPr bwMode="auto">
          <a:xfrm>
            <a:off x="6156325" y="4268788"/>
            <a:ext cx="847725" cy="336550"/>
          </a:xfrm>
          <a:prstGeom prst="rect">
            <a:avLst/>
          </a:prstGeom>
          <a:noFill/>
          <a:ln w="15875" algn="ctr">
            <a:noFill/>
            <a:miter lim="800000"/>
          </a:ln>
          <a:effectLst/>
        </p:spPr>
        <p:txBody>
          <a:bodyPr wrap="none" lIns="90000" tIns="46800" rIns="90000" bIns="46800">
            <a:spAutoFit/>
          </a:bodyPr>
          <a:lstStyle/>
          <a:p>
            <a:pPr algn="ctr" eaLnBrk="1" hangingPunct="1">
              <a:defRPr/>
            </a:pPr>
            <a:r>
              <a:rPr lang="en-US" altLang="zh-CN" sz="1600" b="1">
                <a:solidFill>
                  <a:schemeClr val="bg2"/>
                </a:solidFill>
                <a:effectLst>
                  <a:outerShdw blurRad="38100" dist="38100" dir="2700000" algn="tl">
                    <a:srgbClr val="C0C0C0"/>
                  </a:outerShdw>
                </a:effectLst>
                <a:ea typeface="方正准圆简体" pitchFamily="2" charset="-122"/>
              </a:rPr>
              <a:t>16K</a:t>
            </a:r>
            <a:r>
              <a:rPr lang="en-US" altLang="zh-CN" sz="1600" b="1">
                <a:solidFill>
                  <a:schemeClr val="bg2"/>
                </a:solidFill>
                <a:effectLst>
                  <a:outerShdw blurRad="38100" dist="38100" dir="2700000" algn="tl">
                    <a:srgbClr val="C0C0C0"/>
                  </a:outerShdw>
                </a:effectLst>
                <a:ea typeface="方正准圆简体" pitchFamily="2" charset="-122"/>
                <a:cs typeface="Times New Roman" panose="02020603050405020304" pitchFamily="18" charset="0"/>
              </a:rPr>
              <a:t>×8</a:t>
            </a:r>
            <a:endParaRPr lang="en-US" altLang="zh-CN" sz="1600" b="1">
              <a:solidFill>
                <a:schemeClr val="bg2"/>
              </a:solidFill>
              <a:effectLst>
                <a:outerShdw blurRad="38100" dist="38100" dir="2700000" algn="tl">
                  <a:srgbClr val="C0C0C0"/>
                </a:outerShdw>
              </a:effectLst>
              <a:ea typeface="方正准圆简体" pitchFamily="2" charset="-122"/>
              <a:cs typeface="Times New Roman" panose="02020603050405020304" pitchFamily="18" charset="0"/>
            </a:endParaRPr>
          </a:p>
        </p:txBody>
      </p:sp>
      <p:sp>
        <p:nvSpPr>
          <p:cNvPr id="688136" name="Text Box 8"/>
          <p:cNvSpPr txBox="1">
            <a:spLocks noChangeArrowheads="1"/>
          </p:cNvSpPr>
          <p:nvPr/>
        </p:nvSpPr>
        <p:spPr bwMode="auto">
          <a:xfrm>
            <a:off x="7812088" y="4268788"/>
            <a:ext cx="847725" cy="336550"/>
          </a:xfrm>
          <a:prstGeom prst="rect">
            <a:avLst/>
          </a:prstGeom>
          <a:noFill/>
          <a:ln w="15875" algn="ctr">
            <a:noFill/>
            <a:miter lim="800000"/>
          </a:ln>
          <a:effectLst/>
        </p:spPr>
        <p:txBody>
          <a:bodyPr wrap="none" lIns="90000" tIns="46800" rIns="90000" bIns="46800">
            <a:spAutoFit/>
          </a:bodyPr>
          <a:lstStyle/>
          <a:p>
            <a:pPr algn="ctr" eaLnBrk="1" hangingPunct="1">
              <a:defRPr/>
            </a:pPr>
            <a:r>
              <a:rPr lang="en-US" altLang="zh-CN" sz="1600" b="1">
                <a:solidFill>
                  <a:schemeClr val="bg2"/>
                </a:solidFill>
                <a:effectLst>
                  <a:outerShdw blurRad="38100" dist="38100" dir="2700000" algn="tl">
                    <a:srgbClr val="C0C0C0"/>
                  </a:outerShdw>
                </a:effectLst>
                <a:ea typeface="方正准圆简体" pitchFamily="2" charset="-122"/>
              </a:rPr>
              <a:t>16K</a:t>
            </a:r>
            <a:r>
              <a:rPr lang="en-US" altLang="zh-CN" sz="1600" b="1">
                <a:solidFill>
                  <a:schemeClr val="bg2"/>
                </a:solidFill>
                <a:effectLst>
                  <a:outerShdw blurRad="38100" dist="38100" dir="2700000" algn="tl">
                    <a:srgbClr val="C0C0C0"/>
                  </a:outerShdw>
                </a:effectLst>
                <a:ea typeface="方正准圆简体" pitchFamily="2" charset="-122"/>
                <a:cs typeface="Times New Roman" panose="02020603050405020304" pitchFamily="18" charset="0"/>
              </a:rPr>
              <a:t>×8</a:t>
            </a:r>
            <a:endParaRPr lang="en-US" altLang="zh-CN" sz="1600" b="1">
              <a:solidFill>
                <a:schemeClr val="bg2"/>
              </a:solidFill>
              <a:effectLst>
                <a:outerShdw blurRad="38100" dist="38100" dir="2700000" algn="tl">
                  <a:srgbClr val="C0C0C0"/>
                </a:outerShdw>
              </a:effectLst>
              <a:ea typeface="方正准圆简体" pitchFamily="2" charset="-122"/>
              <a:cs typeface="Times New Roman" panose="02020603050405020304" pitchFamily="18" charset="0"/>
            </a:endParaRPr>
          </a:p>
        </p:txBody>
      </p:sp>
      <p:sp>
        <p:nvSpPr>
          <p:cNvPr id="688137" name="Text Box 9"/>
          <p:cNvSpPr txBox="1">
            <a:spLocks noChangeArrowheads="1"/>
          </p:cNvSpPr>
          <p:nvPr/>
        </p:nvSpPr>
        <p:spPr bwMode="auto">
          <a:xfrm>
            <a:off x="4481513" y="1268413"/>
            <a:ext cx="180975" cy="457200"/>
          </a:xfrm>
          <a:prstGeom prst="rect">
            <a:avLst/>
          </a:prstGeom>
          <a:noFill/>
          <a:ln w="15875" algn="ctr">
            <a:noFill/>
            <a:miter lim="800000"/>
          </a:ln>
          <a:effectLst/>
        </p:spPr>
        <p:txBody>
          <a:bodyPr wrap="none" lIns="90000" tIns="46800" rIns="90000" bIns="46800">
            <a:spAutoFit/>
          </a:bodyPr>
          <a:lstStyle/>
          <a:p>
            <a:pPr algn="ctr" eaLnBrk="1" hangingPunct="1">
              <a:defRPr/>
            </a:pPr>
            <a:endParaRPr lang="zh-CN" altLang="zh-CN" sz="2400" b="1">
              <a:effectLst>
                <a:outerShdw blurRad="38100" dist="38100" dir="2700000" algn="tl">
                  <a:srgbClr val="C0C0C0"/>
                </a:outerShdw>
              </a:effectLst>
              <a:ea typeface="方正准圆简体" pitchFamily="2" charset="-122"/>
            </a:endParaRPr>
          </a:p>
        </p:txBody>
      </p:sp>
      <p:sp>
        <p:nvSpPr>
          <p:cNvPr id="688138" name="Text Box 10"/>
          <p:cNvSpPr txBox="1">
            <a:spLocks noChangeArrowheads="1"/>
          </p:cNvSpPr>
          <p:nvPr/>
        </p:nvSpPr>
        <p:spPr bwMode="auto">
          <a:xfrm>
            <a:off x="4244002" y="1365250"/>
            <a:ext cx="3584934" cy="463846"/>
          </a:xfrm>
          <a:prstGeom prst="rect">
            <a:avLst/>
          </a:prstGeom>
          <a:noFill/>
          <a:ln w="15875" algn="ctr">
            <a:noFill/>
            <a:miter lim="800000"/>
          </a:ln>
          <a:effectLst/>
        </p:spPr>
        <p:txBody>
          <a:bodyPr wrap="none" lIns="90000" tIns="46800" rIns="90000" bIns="46800">
            <a:spAutoFit/>
          </a:bodyPr>
          <a:lstStyle>
            <a:lvl1pPr>
              <a:defRPr kumimoji="1" sz="3200">
                <a:solidFill>
                  <a:schemeClr val="tx1"/>
                </a:solidFill>
                <a:latin typeface="Times New Roman" panose="02020603050405020304" pitchFamily="18" charset="0"/>
                <a:ea typeface="黑体" panose="02010609060101010101" pitchFamily="49" charset="-122"/>
              </a:defRPr>
            </a:lvl1pPr>
            <a:lvl2pPr marL="742950" indent="-285750">
              <a:defRPr kumimoji="1" sz="3200">
                <a:solidFill>
                  <a:schemeClr val="tx1"/>
                </a:solidFill>
                <a:latin typeface="Times New Roman" panose="02020603050405020304" pitchFamily="18" charset="0"/>
                <a:ea typeface="黑体" panose="02010609060101010101" pitchFamily="49" charset="-122"/>
              </a:defRPr>
            </a:lvl2pPr>
            <a:lvl3pPr marL="1143000" indent="-228600">
              <a:defRPr kumimoji="1" sz="3200">
                <a:solidFill>
                  <a:schemeClr val="tx1"/>
                </a:solidFill>
                <a:latin typeface="Times New Roman" panose="02020603050405020304" pitchFamily="18" charset="0"/>
                <a:ea typeface="黑体" panose="02010609060101010101" pitchFamily="49" charset="-122"/>
              </a:defRPr>
            </a:lvl3pPr>
            <a:lvl4pPr marL="1600200" indent="-228600">
              <a:defRPr kumimoji="1" sz="3200">
                <a:solidFill>
                  <a:schemeClr val="tx1"/>
                </a:solidFill>
                <a:latin typeface="Times New Roman" panose="02020603050405020304" pitchFamily="18" charset="0"/>
                <a:ea typeface="黑体" panose="02010609060101010101" pitchFamily="49" charset="-122"/>
              </a:defRPr>
            </a:lvl4pPr>
            <a:lvl5pPr marL="2057400" indent="-228600">
              <a:defRPr kumimoji="1" sz="32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kumimoji="1" sz="3200">
                <a:solidFill>
                  <a:schemeClr val="tx1"/>
                </a:solidFill>
                <a:latin typeface="Times New Roman" panose="02020603050405020304" pitchFamily="18" charset="0"/>
                <a:ea typeface="黑体" panose="02010609060101010101" pitchFamily="49" charset="-122"/>
              </a:defRPr>
            </a:lvl9pPr>
          </a:lstStyle>
          <a:p>
            <a:pPr algn="ctr" eaLnBrk="1" hangingPunct="1">
              <a:defRPr/>
            </a:pPr>
            <a:r>
              <a:rPr lang="zh-CN" altLang="en-US" sz="2400" b="1" dirty="0">
                <a:solidFill>
                  <a:srgbClr val="CC3300"/>
                </a:solidFill>
                <a:effectLst>
                  <a:outerShdw blurRad="38100" dist="38100" dir="2700000" algn="tl">
                    <a:srgbClr val="C0C0C0"/>
                  </a:outerShdw>
                </a:effectLst>
                <a:latin typeface="楷体" panose="02010609060101010101" pitchFamily="49" charset="-122"/>
                <a:ea typeface="楷体" panose="02010609060101010101" pitchFamily="49" charset="-122"/>
              </a:rPr>
              <a:t>用片选信号区分地址空间</a:t>
            </a:r>
            <a:endParaRPr lang="zh-CN" altLang="en-US" sz="2400" b="1" dirty="0">
              <a:solidFill>
                <a:srgbClr val="CC3300"/>
              </a:solidFill>
              <a:effectLst>
                <a:outerShdw blurRad="38100" dist="38100" dir="2700000" algn="tl">
                  <a:srgbClr val="C0C0C0"/>
                </a:outerShdw>
              </a:effectLst>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a:xfrm>
            <a:off x="457200" y="44450"/>
            <a:ext cx="8229600" cy="1371600"/>
          </a:xfrm>
        </p:spPr>
        <p:txBody>
          <a:bodyPr vert="horz" wrap="square" lIns="91440" tIns="45720" rIns="91440" bIns="45720" anchor="ctr" anchorCtr="0"/>
          <a:p>
            <a:r>
              <a:rPr lang="zh-CN" altLang="en-US" sz="3500" dirty="0"/>
              <a:t>存储器芯片的扩展</a:t>
            </a:r>
            <a:endParaRPr lang="zh-CN" altLang="en-US" sz="3500" dirty="0"/>
          </a:p>
        </p:txBody>
      </p:sp>
      <p:sp>
        <p:nvSpPr>
          <p:cNvPr id="132099" name="Rectangle 3"/>
          <p:cNvSpPr>
            <a:spLocks noGrp="1"/>
          </p:cNvSpPr>
          <p:nvPr>
            <p:ph idx="1"/>
          </p:nvPr>
        </p:nvSpPr>
        <p:spPr>
          <a:xfrm>
            <a:off x="304800" y="896938"/>
            <a:ext cx="8677275" cy="5287962"/>
          </a:xfrm>
        </p:spPr>
        <p:txBody>
          <a:bodyPr vert="horz" wrap="square" lIns="91440" tIns="45720" rIns="91440" bIns="45720" anchor="t" anchorCtr="0"/>
          <a:p>
            <a:pPr>
              <a:spcBef>
                <a:spcPct val="10000"/>
              </a:spcBef>
            </a:pPr>
            <a:r>
              <a:rPr lang="zh-CN" altLang="en-US" sz="2100" dirty="0">
                <a:ea typeface="黑体" panose="02010609060101010101" pitchFamily="49" charset="-122"/>
              </a:rPr>
              <a:t>字扩展（</a:t>
            </a:r>
            <a:r>
              <a:rPr lang="zh-CN" altLang="en-US" sz="2600" dirty="0">
                <a:ea typeface="黑体" panose="02010609060101010101" pitchFamily="49" charset="-122"/>
              </a:rPr>
              <a:t>位数不变、扩充容量）</a:t>
            </a:r>
            <a:endParaRPr lang="en-US" altLang="zh-CN" sz="2600" dirty="0">
              <a:ea typeface="黑体" panose="02010609060101010101" pitchFamily="49" charset="-122"/>
            </a:endParaRPr>
          </a:p>
          <a:p>
            <a:pPr lvl="1">
              <a:spcBef>
                <a:spcPct val="10000"/>
              </a:spcBef>
              <a:buNone/>
            </a:pPr>
            <a:r>
              <a:rPr lang="en-US" altLang="zh-CN" sz="2200" dirty="0">
                <a:solidFill>
                  <a:srgbClr val="CC0000"/>
                </a:solidFill>
                <a:ea typeface="黑体" panose="02010609060101010101" pitchFamily="49" charset="-122"/>
              </a:rPr>
              <a:t>     </a:t>
            </a:r>
            <a:r>
              <a:rPr lang="zh-CN" altLang="en-US" sz="1800" dirty="0">
                <a:solidFill>
                  <a:srgbClr val="CC0000"/>
                </a:solidFill>
                <a:ea typeface="黑体" panose="02010609060101010101" pitchFamily="49" charset="-122"/>
              </a:rPr>
              <a:t>用</a:t>
            </a:r>
            <a:r>
              <a:rPr lang="en-US" altLang="zh-CN" sz="1800" dirty="0">
                <a:solidFill>
                  <a:srgbClr val="CC0000"/>
                </a:solidFill>
                <a:ea typeface="黑体" panose="02010609060101010101" pitchFamily="49" charset="-122"/>
              </a:rPr>
              <a:t>16K×8</a:t>
            </a:r>
            <a:r>
              <a:rPr lang="zh-CN" altLang="en-US" sz="1800" dirty="0">
                <a:solidFill>
                  <a:srgbClr val="CC0000"/>
                </a:solidFill>
                <a:ea typeface="黑体" panose="02010609060101010101" pitchFamily="49" charset="-122"/>
              </a:rPr>
              <a:t>位芯片扩成</a:t>
            </a:r>
            <a:r>
              <a:rPr lang="en-US" altLang="zh-CN" sz="1800" dirty="0">
                <a:solidFill>
                  <a:srgbClr val="CC0000"/>
                </a:solidFill>
                <a:ea typeface="黑体" panose="02010609060101010101" pitchFamily="49" charset="-122"/>
              </a:rPr>
              <a:t>64K×8</a:t>
            </a:r>
            <a:r>
              <a:rPr lang="zh-CN" altLang="en-US" sz="1800" dirty="0">
                <a:solidFill>
                  <a:srgbClr val="CC0000"/>
                </a:solidFill>
                <a:ea typeface="黑体" panose="02010609060101010101" pitchFamily="49" charset="-122"/>
              </a:rPr>
              <a:t>位存储器需几个芯片？地址范围？</a:t>
            </a:r>
            <a:endParaRPr lang="en-US" altLang="zh-CN" sz="1800" dirty="0">
              <a:solidFill>
                <a:srgbClr val="CC0000"/>
              </a:solidFill>
              <a:ea typeface="黑体" panose="02010609060101010101" pitchFamily="49" charset="-122"/>
            </a:endParaRPr>
          </a:p>
          <a:p>
            <a:pPr lvl="1">
              <a:spcBef>
                <a:spcPct val="10000"/>
              </a:spcBef>
              <a:buNone/>
            </a:pPr>
            <a:r>
              <a:rPr lang="en-US" altLang="zh-CN" sz="1800" dirty="0">
                <a:ea typeface="黑体" panose="02010609060101010101" pitchFamily="49" charset="-122"/>
              </a:rPr>
              <a:t>     </a:t>
            </a:r>
            <a:r>
              <a:rPr lang="zh-CN" altLang="en-US" sz="1800" dirty="0">
                <a:solidFill>
                  <a:srgbClr val="663300"/>
                </a:solidFill>
                <a:ea typeface="黑体" panose="02010609060101010101" pitchFamily="49" charset="-122"/>
              </a:rPr>
              <a:t>字方向扩展</a:t>
            </a:r>
            <a:r>
              <a:rPr lang="en-US" altLang="zh-CN" sz="1800" dirty="0">
                <a:solidFill>
                  <a:srgbClr val="663300"/>
                </a:solidFill>
                <a:ea typeface="黑体" panose="02010609060101010101" pitchFamily="49" charset="-122"/>
              </a:rPr>
              <a:t>4</a:t>
            </a:r>
            <a:r>
              <a:rPr lang="zh-CN" altLang="en-US" sz="1800" dirty="0">
                <a:solidFill>
                  <a:srgbClr val="663300"/>
                </a:solidFill>
                <a:ea typeface="黑体" panose="02010609060101010101" pitchFamily="49" charset="-122"/>
              </a:rPr>
              <a:t>倍，即</a:t>
            </a:r>
            <a:r>
              <a:rPr lang="en-US" altLang="zh-CN" sz="1800" dirty="0">
                <a:solidFill>
                  <a:srgbClr val="663300"/>
                </a:solidFill>
                <a:ea typeface="黑体" panose="02010609060101010101" pitchFamily="49" charset="-122"/>
              </a:rPr>
              <a:t>4</a:t>
            </a:r>
            <a:r>
              <a:rPr lang="zh-CN" altLang="en-US" sz="1800" dirty="0">
                <a:solidFill>
                  <a:srgbClr val="663300"/>
                </a:solidFill>
                <a:ea typeface="黑体" panose="02010609060101010101" pitchFamily="49" charset="-122"/>
              </a:rPr>
              <a:t>个芯片。</a:t>
            </a:r>
            <a:r>
              <a:rPr lang="en-US" altLang="zh-CN" sz="1800" dirty="0">
                <a:solidFill>
                  <a:srgbClr val="663300"/>
                </a:solidFill>
                <a:ea typeface="黑体" panose="02010609060101010101" pitchFamily="49" charset="-122"/>
              </a:rPr>
              <a:t>0000-3FFFH</a:t>
            </a:r>
            <a:r>
              <a:rPr lang="zh-CN" altLang="en-US" sz="1800" dirty="0">
                <a:solidFill>
                  <a:srgbClr val="663300"/>
                </a:solidFill>
                <a:ea typeface="黑体" panose="02010609060101010101" pitchFamily="49" charset="-122"/>
              </a:rPr>
              <a:t>，</a:t>
            </a:r>
            <a:r>
              <a:rPr lang="en-US" altLang="zh-CN" sz="1800" dirty="0">
                <a:solidFill>
                  <a:srgbClr val="663300"/>
                </a:solidFill>
                <a:ea typeface="黑体" panose="02010609060101010101" pitchFamily="49" charset="-122"/>
              </a:rPr>
              <a:t> 4000-7FFFH</a:t>
            </a:r>
            <a:r>
              <a:rPr lang="zh-CN" altLang="en-US" sz="1800" dirty="0">
                <a:solidFill>
                  <a:srgbClr val="663300"/>
                </a:solidFill>
                <a:ea typeface="黑体" panose="02010609060101010101" pitchFamily="49" charset="-122"/>
              </a:rPr>
              <a:t>，</a:t>
            </a:r>
            <a:r>
              <a:rPr lang="en-US" altLang="zh-CN" sz="1800" dirty="0">
                <a:solidFill>
                  <a:srgbClr val="663300"/>
                </a:solidFill>
                <a:ea typeface="黑体" panose="02010609060101010101" pitchFamily="49" charset="-122"/>
              </a:rPr>
              <a:t> 8000-BFFFH</a:t>
            </a:r>
            <a:r>
              <a:rPr lang="zh-CN" altLang="en-US" sz="1800" dirty="0">
                <a:solidFill>
                  <a:srgbClr val="663300"/>
                </a:solidFill>
                <a:ea typeface="黑体" panose="02010609060101010101" pitchFamily="49" charset="-122"/>
              </a:rPr>
              <a:t>，</a:t>
            </a:r>
            <a:r>
              <a:rPr lang="en-US" altLang="zh-CN" sz="1800" dirty="0">
                <a:solidFill>
                  <a:srgbClr val="663300"/>
                </a:solidFill>
                <a:ea typeface="黑体" panose="02010609060101010101" pitchFamily="49" charset="-122"/>
              </a:rPr>
              <a:t> C000- FFFFH</a:t>
            </a:r>
            <a:r>
              <a:rPr lang="zh-CN" altLang="en-US" sz="1800" dirty="0">
                <a:solidFill>
                  <a:srgbClr val="663300"/>
                </a:solidFill>
                <a:ea typeface="黑体" panose="02010609060101010101" pitchFamily="49" charset="-122"/>
              </a:rPr>
              <a:t>，</a:t>
            </a:r>
            <a:r>
              <a:rPr lang="en-US" altLang="zh-CN" sz="1800" dirty="0">
                <a:solidFill>
                  <a:srgbClr val="663300"/>
                </a:solidFill>
                <a:ea typeface="黑体" panose="02010609060101010101" pitchFamily="49" charset="-122"/>
              </a:rPr>
              <a:t> </a:t>
            </a:r>
            <a:r>
              <a:rPr lang="zh-CN" altLang="en-US" sz="1800" dirty="0">
                <a:solidFill>
                  <a:srgbClr val="663300"/>
                </a:solidFill>
                <a:ea typeface="黑体" panose="02010609060101010101" pitchFamily="49" charset="-122"/>
              </a:rPr>
              <a:t>地址共</a:t>
            </a:r>
            <a:r>
              <a:rPr lang="en-US" altLang="zh-CN" sz="1800" dirty="0">
                <a:solidFill>
                  <a:srgbClr val="663300"/>
                </a:solidFill>
                <a:ea typeface="黑体" panose="02010609060101010101" pitchFamily="49" charset="-122"/>
              </a:rPr>
              <a:t>16</a:t>
            </a:r>
            <a:r>
              <a:rPr lang="zh-CN" altLang="en-US" sz="1800" dirty="0">
                <a:solidFill>
                  <a:srgbClr val="663300"/>
                </a:solidFill>
                <a:ea typeface="黑体" panose="02010609060101010101" pitchFamily="49" charset="-122"/>
              </a:rPr>
              <a:t>位，高两位由外部译码器译码生成</a:t>
            </a:r>
            <a:r>
              <a:rPr lang="en-US" altLang="zh-CN" sz="1800" dirty="0">
                <a:solidFill>
                  <a:srgbClr val="663300"/>
                </a:solidFill>
                <a:ea typeface="黑体" panose="02010609060101010101" pitchFamily="49" charset="-122"/>
              </a:rPr>
              <a:t>4</a:t>
            </a:r>
            <a:r>
              <a:rPr lang="zh-CN" altLang="en-US" sz="1800" dirty="0">
                <a:solidFill>
                  <a:srgbClr val="663300"/>
                </a:solidFill>
                <a:ea typeface="黑体" panose="02010609060101010101" pitchFamily="49" charset="-122"/>
              </a:rPr>
              <a:t>个输出，分别连到</a:t>
            </a:r>
            <a:r>
              <a:rPr lang="en-US" altLang="zh-CN" sz="1800" dirty="0">
                <a:solidFill>
                  <a:srgbClr val="663300"/>
                </a:solidFill>
                <a:ea typeface="黑体" panose="02010609060101010101" pitchFamily="49" charset="-122"/>
              </a:rPr>
              <a:t>4</a:t>
            </a:r>
            <a:r>
              <a:rPr lang="zh-CN" altLang="en-US" sz="1800" dirty="0">
                <a:solidFill>
                  <a:srgbClr val="663300"/>
                </a:solidFill>
                <a:ea typeface="黑体" panose="02010609060101010101" pitchFamily="49" charset="-122"/>
              </a:rPr>
              <a:t>个片选信号，片内地址有</a:t>
            </a:r>
            <a:r>
              <a:rPr lang="en-US" altLang="zh-CN" sz="1800" dirty="0">
                <a:solidFill>
                  <a:srgbClr val="663300"/>
                </a:solidFill>
                <a:ea typeface="黑体" panose="02010609060101010101" pitchFamily="49" charset="-122"/>
              </a:rPr>
              <a:t>14</a:t>
            </a:r>
            <a:r>
              <a:rPr lang="zh-CN" altLang="en-US" sz="1800" dirty="0">
                <a:solidFill>
                  <a:srgbClr val="663300"/>
                </a:solidFill>
                <a:ea typeface="黑体" panose="02010609060101010101" pitchFamily="49" charset="-122"/>
              </a:rPr>
              <a:t>位</a:t>
            </a:r>
            <a:r>
              <a:rPr lang="en-US" altLang="zh-CN" sz="1800" dirty="0">
                <a:solidFill>
                  <a:srgbClr val="FF3300"/>
                </a:solidFill>
                <a:ea typeface="黑体" panose="02010609060101010101" pitchFamily="49" charset="-122"/>
              </a:rPr>
              <a:t>(2</a:t>
            </a:r>
            <a:r>
              <a:rPr lang="en-US" altLang="zh-CN" sz="1800" baseline="30000" dirty="0">
                <a:solidFill>
                  <a:srgbClr val="FF3300"/>
                </a:solidFill>
                <a:ea typeface="黑体" panose="02010609060101010101" pitchFamily="49" charset="-122"/>
              </a:rPr>
              <a:t>14</a:t>
            </a:r>
            <a:r>
              <a:rPr lang="en-US" altLang="zh-CN" sz="1800" dirty="0">
                <a:solidFill>
                  <a:srgbClr val="FF3300"/>
                </a:solidFill>
                <a:ea typeface="黑体" panose="02010609060101010101" pitchFamily="49" charset="-122"/>
              </a:rPr>
              <a:t>=16K)</a:t>
            </a:r>
            <a:endParaRPr lang="en-US" altLang="zh-CN" sz="1800" dirty="0">
              <a:solidFill>
                <a:srgbClr val="FF3300"/>
              </a:solidFill>
              <a:ea typeface="黑体" panose="02010609060101010101" pitchFamily="49" charset="-122"/>
            </a:endParaRPr>
          </a:p>
          <a:p>
            <a:pPr lvl="1">
              <a:spcBef>
                <a:spcPct val="10000"/>
              </a:spcBef>
            </a:pPr>
            <a:r>
              <a:rPr lang="zh-CN" altLang="en-US" sz="1800" dirty="0">
                <a:ea typeface="黑体" panose="02010609060101010101" pitchFamily="49" charset="-122"/>
              </a:rPr>
              <a:t>地址线、读</a:t>
            </a:r>
            <a:r>
              <a:rPr lang="en-US" altLang="zh-CN" sz="1800" dirty="0">
                <a:ea typeface="黑体" panose="02010609060101010101" pitchFamily="49" charset="-122"/>
              </a:rPr>
              <a:t>/</a:t>
            </a:r>
            <a:r>
              <a:rPr lang="zh-CN" altLang="en-US" sz="1800" dirty="0">
                <a:ea typeface="黑体" panose="02010609060101010101" pitchFamily="49" charset="-122"/>
              </a:rPr>
              <a:t>写控制线等对应相接，片选信号连译码输出</a:t>
            </a:r>
            <a:endParaRPr lang="en-US" altLang="zh-CN" sz="1800" dirty="0">
              <a:ea typeface="黑体" panose="02010609060101010101" pitchFamily="49" charset="-122"/>
            </a:endParaRPr>
          </a:p>
          <a:p>
            <a:pPr>
              <a:spcBef>
                <a:spcPct val="10000"/>
              </a:spcBef>
            </a:pPr>
            <a:r>
              <a:rPr lang="zh-CN" altLang="en-US" sz="2100" dirty="0">
                <a:ea typeface="黑体" panose="02010609060101010101" pitchFamily="49" charset="-122"/>
              </a:rPr>
              <a:t>位扩展（</a:t>
            </a:r>
            <a:r>
              <a:rPr lang="zh-CN" altLang="en-US" sz="2600" dirty="0">
                <a:ea typeface="黑体" panose="02010609060101010101" pitchFamily="49" charset="-122"/>
              </a:rPr>
              <a:t>字数不变，位数扩展）</a:t>
            </a:r>
            <a:endParaRPr lang="en-US" altLang="zh-CN" sz="2600" dirty="0">
              <a:ea typeface="黑体" panose="02010609060101010101" pitchFamily="49" charset="-122"/>
            </a:endParaRPr>
          </a:p>
          <a:p>
            <a:pPr lvl="1">
              <a:spcBef>
                <a:spcPct val="10000"/>
              </a:spcBef>
              <a:buNone/>
            </a:pPr>
            <a:r>
              <a:rPr lang="en-US" altLang="zh-CN" sz="1800" dirty="0">
                <a:solidFill>
                  <a:srgbClr val="CC0000"/>
                </a:solidFill>
                <a:ea typeface="黑体" panose="02010609060101010101" pitchFamily="49" charset="-122"/>
              </a:rPr>
              <a:t>      </a:t>
            </a:r>
            <a:r>
              <a:rPr lang="zh-CN" altLang="en-US" sz="1800" dirty="0">
                <a:solidFill>
                  <a:srgbClr val="CC0000"/>
                </a:solidFill>
                <a:ea typeface="黑体" panose="02010609060101010101" pitchFamily="49" charset="-122"/>
              </a:rPr>
              <a:t>用</a:t>
            </a:r>
            <a:r>
              <a:rPr lang="en-US" altLang="zh-CN" sz="1800" dirty="0">
                <a:solidFill>
                  <a:srgbClr val="CC0000"/>
                </a:solidFill>
                <a:ea typeface="黑体" panose="02010609060101010101" pitchFamily="49" charset="-122"/>
              </a:rPr>
              <a:t>4096×1</a:t>
            </a:r>
            <a:r>
              <a:rPr lang="zh-CN" altLang="en-US" sz="1800" dirty="0">
                <a:solidFill>
                  <a:srgbClr val="CC0000"/>
                </a:solidFill>
                <a:ea typeface="黑体" panose="02010609060101010101" pitchFamily="49" charset="-122"/>
              </a:rPr>
              <a:t>位芯片构成</a:t>
            </a:r>
            <a:r>
              <a:rPr lang="en-US" altLang="zh-CN" sz="1800" dirty="0">
                <a:solidFill>
                  <a:srgbClr val="CC0000"/>
                </a:solidFill>
                <a:ea typeface="黑体" panose="02010609060101010101" pitchFamily="49" charset="-122"/>
              </a:rPr>
              <a:t>4K×8</a:t>
            </a:r>
            <a:r>
              <a:rPr lang="zh-CN" altLang="en-US" sz="1800" dirty="0">
                <a:solidFill>
                  <a:srgbClr val="CC0000"/>
                </a:solidFill>
                <a:ea typeface="黑体" panose="02010609060101010101" pitchFamily="49" charset="-122"/>
              </a:rPr>
              <a:t>位存储器需几个芯片？地址范围各是多少？</a:t>
            </a:r>
            <a:endParaRPr lang="en-US" altLang="zh-CN" sz="1800" dirty="0">
              <a:solidFill>
                <a:srgbClr val="CC0000"/>
              </a:solidFill>
              <a:ea typeface="黑体" panose="02010609060101010101" pitchFamily="49" charset="-122"/>
            </a:endParaRPr>
          </a:p>
          <a:p>
            <a:pPr lvl="1">
              <a:spcBef>
                <a:spcPct val="10000"/>
              </a:spcBef>
              <a:buNone/>
            </a:pPr>
            <a:r>
              <a:rPr lang="en-US" altLang="zh-CN" sz="1800" dirty="0">
                <a:ea typeface="黑体" panose="02010609060101010101" pitchFamily="49" charset="-122"/>
              </a:rPr>
              <a:t>      </a:t>
            </a:r>
            <a:r>
              <a:rPr lang="zh-CN" altLang="en-US" sz="1800" dirty="0">
                <a:solidFill>
                  <a:srgbClr val="663300"/>
                </a:solidFill>
                <a:ea typeface="黑体" panose="02010609060101010101" pitchFamily="49" charset="-122"/>
              </a:rPr>
              <a:t>位方向扩展</a:t>
            </a:r>
            <a:r>
              <a:rPr lang="en-US" altLang="zh-CN" sz="1800" dirty="0">
                <a:solidFill>
                  <a:srgbClr val="663300"/>
                </a:solidFill>
                <a:ea typeface="黑体" panose="02010609060101010101" pitchFamily="49" charset="-122"/>
              </a:rPr>
              <a:t>8</a:t>
            </a:r>
            <a:r>
              <a:rPr lang="zh-CN" altLang="en-US" sz="1800" dirty="0">
                <a:solidFill>
                  <a:srgbClr val="663300"/>
                </a:solidFill>
                <a:ea typeface="黑体" panose="02010609060101010101" pitchFamily="49" charset="-122"/>
              </a:rPr>
              <a:t>倍，字方向无需扩展。即</a:t>
            </a:r>
            <a:r>
              <a:rPr lang="en-US" altLang="zh-CN" sz="1800" dirty="0">
                <a:solidFill>
                  <a:srgbClr val="663300"/>
                </a:solidFill>
                <a:ea typeface="黑体" panose="02010609060101010101" pitchFamily="49" charset="-122"/>
              </a:rPr>
              <a:t>8</a:t>
            </a:r>
            <a:r>
              <a:rPr lang="zh-CN" altLang="en-US" sz="1800" dirty="0">
                <a:solidFill>
                  <a:srgbClr val="663300"/>
                </a:solidFill>
                <a:ea typeface="黑体" panose="02010609060101010101" pitchFamily="49" charset="-122"/>
              </a:rPr>
              <a:t>个芯片，地址范围都一样：</a:t>
            </a:r>
            <a:r>
              <a:rPr lang="en-US" altLang="zh-CN" sz="1800" dirty="0">
                <a:solidFill>
                  <a:srgbClr val="663300"/>
                </a:solidFill>
                <a:ea typeface="黑体" panose="02010609060101010101" pitchFamily="49" charset="-122"/>
              </a:rPr>
              <a:t>000-  FFFH</a:t>
            </a:r>
            <a:r>
              <a:rPr lang="zh-CN" altLang="en-US" sz="1800" dirty="0">
                <a:solidFill>
                  <a:srgbClr val="663300"/>
                </a:solidFill>
                <a:ea typeface="黑体" panose="02010609060101010101" pitchFamily="49" charset="-122"/>
              </a:rPr>
              <a:t>，</a:t>
            </a:r>
            <a:r>
              <a:rPr lang="en-US" altLang="zh-CN" sz="1800" dirty="0">
                <a:solidFill>
                  <a:srgbClr val="663300"/>
                </a:solidFill>
                <a:ea typeface="黑体" panose="02010609060101010101" pitchFamily="49" charset="-122"/>
              </a:rPr>
              <a:t> </a:t>
            </a:r>
            <a:r>
              <a:rPr lang="zh-CN" altLang="en-US" sz="1800" dirty="0">
                <a:solidFill>
                  <a:srgbClr val="663300"/>
                </a:solidFill>
                <a:ea typeface="黑体" panose="02010609060101010101" pitchFamily="49" charset="-122"/>
              </a:rPr>
              <a:t>地址共</a:t>
            </a:r>
            <a:r>
              <a:rPr lang="en-US" altLang="zh-CN" sz="1800" dirty="0">
                <a:solidFill>
                  <a:srgbClr val="663300"/>
                </a:solidFill>
                <a:ea typeface="黑体" panose="02010609060101010101" pitchFamily="49" charset="-122"/>
              </a:rPr>
              <a:t>12</a:t>
            </a:r>
            <a:r>
              <a:rPr lang="zh-CN" altLang="en-US" sz="1800" dirty="0">
                <a:solidFill>
                  <a:srgbClr val="663300"/>
                </a:solidFill>
                <a:ea typeface="黑体" panose="02010609060101010101" pitchFamily="49" charset="-122"/>
              </a:rPr>
              <a:t>位，全部作为片内地址</a:t>
            </a:r>
            <a:r>
              <a:rPr lang="en-US" altLang="zh-CN" sz="1800" dirty="0">
                <a:solidFill>
                  <a:srgbClr val="FF3300"/>
                </a:solidFill>
                <a:ea typeface="黑体" panose="02010609060101010101" pitchFamily="49" charset="-122"/>
              </a:rPr>
              <a:t>(2</a:t>
            </a:r>
            <a:r>
              <a:rPr lang="en-US" altLang="zh-CN" sz="1800" baseline="30000" dirty="0">
                <a:solidFill>
                  <a:srgbClr val="FF3300"/>
                </a:solidFill>
                <a:ea typeface="黑体" panose="02010609060101010101" pitchFamily="49" charset="-122"/>
              </a:rPr>
              <a:t>12</a:t>
            </a:r>
            <a:r>
              <a:rPr lang="en-US" altLang="zh-CN" sz="1800" dirty="0">
                <a:solidFill>
                  <a:srgbClr val="FF3300"/>
                </a:solidFill>
                <a:ea typeface="黑体" panose="02010609060101010101" pitchFamily="49" charset="-122"/>
              </a:rPr>
              <a:t>=4K)</a:t>
            </a:r>
            <a:r>
              <a:rPr lang="en-US" altLang="zh-CN" sz="1800" dirty="0">
                <a:solidFill>
                  <a:srgbClr val="663300"/>
                </a:solidFill>
                <a:ea typeface="黑体" panose="02010609060101010101" pitchFamily="49" charset="-122"/>
              </a:rPr>
              <a:t> </a:t>
            </a:r>
            <a:endParaRPr lang="en-US" altLang="zh-CN" sz="1800" dirty="0">
              <a:solidFill>
                <a:srgbClr val="663300"/>
              </a:solidFill>
              <a:ea typeface="黑体" panose="02010609060101010101" pitchFamily="49" charset="-122"/>
            </a:endParaRPr>
          </a:p>
          <a:p>
            <a:pPr lvl="1">
              <a:spcBef>
                <a:spcPct val="10000"/>
              </a:spcBef>
            </a:pPr>
            <a:r>
              <a:rPr lang="zh-CN" altLang="en-US" sz="1800" dirty="0">
                <a:ea typeface="黑体" panose="02010609060101010101" pitchFamily="49" charset="-122"/>
              </a:rPr>
              <a:t>芯片的地址线及读</a:t>
            </a:r>
            <a:r>
              <a:rPr lang="en-US" altLang="zh-CN" sz="1800" dirty="0">
                <a:ea typeface="黑体" panose="02010609060101010101" pitchFamily="49" charset="-122"/>
              </a:rPr>
              <a:t>/</a:t>
            </a:r>
            <a:r>
              <a:rPr lang="zh-CN" altLang="en-US" sz="1800" dirty="0">
                <a:ea typeface="黑体" panose="02010609060101010101" pitchFamily="49" charset="-122"/>
              </a:rPr>
              <a:t>写控制线对应相接，而数据线单独引出</a:t>
            </a:r>
            <a:r>
              <a:rPr lang="en-US" altLang="zh-CN" sz="2200" dirty="0">
                <a:ea typeface="黑体" panose="02010609060101010101" pitchFamily="49" charset="-122"/>
              </a:rPr>
              <a:t> </a:t>
            </a:r>
            <a:endParaRPr lang="en-US" altLang="zh-CN" sz="2200" dirty="0">
              <a:ea typeface="黑体" panose="02010609060101010101" pitchFamily="49" charset="-122"/>
            </a:endParaRPr>
          </a:p>
          <a:p>
            <a:pPr>
              <a:spcBef>
                <a:spcPct val="10000"/>
              </a:spcBef>
            </a:pPr>
            <a:r>
              <a:rPr lang="zh-CN" altLang="en-US" sz="2100" dirty="0">
                <a:ea typeface="黑体" panose="02010609060101010101" pitchFamily="49" charset="-122"/>
              </a:rPr>
              <a:t>字位同时扩展（</a:t>
            </a:r>
            <a:r>
              <a:rPr lang="zh-CN" altLang="en-US" sz="2600" dirty="0">
                <a:ea typeface="黑体" panose="02010609060101010101" pitchFamily="49" charset="-122"/>
              </a:rPr>
              <a:t>字和位同时扩展）</a:t>
            </a:r>
            <a:endParaRPr lang="en-US" altLang="zh-CN" sz="2600" dirty="0">
              <a:ea typeface="黑体" panose="02010609060101010101" pitchFamily="49" charset="-122"/>
            </a:endParaRPr>
          </a:p>
          <a:p>
            <a:pPr lvl="1">
              <a:spcBef>
                <a:spcPct val="10000"/>
              </a:spcBef>
              <a:buNone/>
            </a:pPr>
            <a:r>
              <a:rPr lang="en-US" altLang="zh-CN" sz="1800" dirty="0">
                <a:ea typeface="黑体" panose="02010609060101010101" pitchFamily="49" charset="-122"/>
              </a:rPr>
              <a:t>     </a:t>
            </a:r>
            <a:r>
              <a:rPr lang="zh-CN" altLang="en-US" sz="1800" dirty="0">
                <a:solidFill>
                  <a:srgbClr val="CC0000"/>
                </a:solidFill>
                <a:ea typeface="黑体" panose="02010609060101010101" pitchFamily="49" charset="-122"/>
              </a:rPr>
              <a:t>用</a:t>
            </a:r>
            <a:r>
              <a:rPr lang="en-US" altLang="zh-CN" sz="1800" dirty="0">
                <a:solidFill>
                  <a:srgbClr val="CC0000"/>
                </a:solidFill>
                <a:ea typeface="黑体" panose="02010609060101010101" pitchFamily="49" charset="-122"/>
              </a:rPr>
              <a:t>16K×4</a:t>
            </a:r>
            <a:r>
              <a:rPr lang="zh-CN" altLang="en-US" sz="1800" dirty="0">
                <a:solidFill>
                  <a:srgbClr val="CC0000"/>
                </a:solidFill>
                <a:ea typeface="黑体" panose="02010609060101010101" pitchFamily="49" charset="-122"/>
              </a:rPr>
              <a:t>位芯片构成</a:t>
            </a:r>
            <a:r>
              <a:rPr lang="en-US" altLang="zh-CN" sz="1800" dirty="0">
                <a:solidFill>
                  <a:srgbClr val="CC0000"/>
                </a:solidFill>
                <a:ea typeface="黑体" panose="02010609060101010101" pitchFamily="49" charset="-122"/>
              </a:rPr>
              <a:t>64K×8</a:t>
            </a:r>
            <a:r>
              <a:rPr lang="zh-CN" altLang="en-US" sz="1800" dirty="0">
                <a:solidFill>
                  <a:srgbClr val="CC0000"/>
                </a:solidFill>
                <a:ea typeface="黑体" panose="02010609060101010101" pitchFamily="49" charset="-122"/>
              </a:rPr>
              <a:t>位存储器需几个芯片，地址范围各是多少？</a:t>
            </a:r>
            <a:endParaRPr lang="en-US" altLang="zh-CN" sz="1800" dirty="0">
              <a:solidFill>
                <a:srgbClr val="CC0000"/>
              </a:solidFill>
              <a:ea typeface="黑体" panose="02010609060101010101" pitchFamily="49" charset="-122"/>
            </a:endParaRPr>
          </a:p>
          <a:p>
            <a:pPr lvl="1">
              <a:spcBef>
                <a:spcPct val="10000"/>
              </a:spcBef>
              <a:buNone/>
            </a:pPr>
            <a:r>
              <a:rPr lang="en-US" altLang="zh-CN" sz="1800" dirty="0">
                <a:solidFill>
                  <a:srgbClr val="CC0000"/>
                </a:solidFill>
                <a:ea typeface="黑体" panose="02010609060101010101" pitchFamily="49" charset="-122"/>
              </a:rPr>
              <a:t>     </a:t>
            </a:r>
            <a:r>
              <a:rPr lang="zh-CN" altLang="en-US" sz="1800" dirty="0">
                <a:solidFill>
                  <a:srgbClr val="663300"/>
                </a:solidFill>
                <a:ea typeface="黑体" panose="02010609060101010101" pitchFamily="49" charset="-122"/>
              </a:rPr>
              <a:t>字向</a:t>
            </a:r>
            <a:r>
              <a:rPr lang="en-US" altLang="zh-CN" sz="1800" dirty="0">
                <a:solidFill>
                  <a:srgbClr val="663300"/>
                </a:solidFill>
                <a:ea typeface="黑体" panose="02010609060101010101" pitchFamily="49" charset="-122"/>
              </a:rPr>
              <a:t>4</a:t>
            </a:r>
            <a:r>
              <a:rPr lang="zh-CN" altLang="en-US" sz="1800" dirty="0">
                <a:solidFill>
                  <a:srgbClr val="663300"/>
                </a:solidFill>
                <a:ea typeface="黑体" panose="02010609060101010101" pitchFamily="49" charset="-122"/>
              </a:rPr>
              <a:t>倍、位向</a:t>
            </a:r>
            <a:r>
              <a:rPr lang="en-US" altLang="zh-CN" sz="1800" dirty="0">
                <a:solidFill>
                  <a:srgbClr val="663300"/>
                </a:solidFill>
                <a:ea typeface="黑体" panose="02010609060101010101" pitchFamily="49" charset="-122"/>
              </a:rPr>
              <a:t>2</a:t>
            </a:r>
            <a:r>
              <a:rPr lang="zh-CN" altLang="en-US" sz="1800" dirty="0">
                <a:solidFill>
                  <a:srgbClr val="663300"/>
                </a:solidFill>
                <a:ea typeface="黑体" panose="02010609060101010101" pitchFamily="49" charset="-122"/>
              </a:rPr>
              <a:t>倍，</a:t>
            </a:r>
            <a:r>
              <a:rPr lang="en-US" altLang="zh-CN" sz="1800" dirty="0">
                <a:solidFill>
                  <a:srgbClr val="663300"/>
                </a:solidFill>
                <a:ea typeface="黑体" panose="02010609060101010101" pitchFamily="49" charset="-122"/>
              </a:rPr>
              <a:t>8</a:t>
            </a:r>
            <a:r>
              <a:rPr lang="zh-CN" altLang="en-US" sz="1800" dirty="0">
                <a:solidFill>
                  <a:srgbClr val="663300"/>
                </a:solidFill>
                <a:ea typeface="黑体" panose="02010609060101010101" pitchFamily="49" charset="-122"/>
              </a:rPr>
              <a:t>个芯片。</a:t>
            </a:r>
            <a:r>
              <a:rPr lang="en-US" altLang="zh-CN" sz="1800" dirty="0">
                <a:solidFill>
                  <a:srgbClr val="663300"/>
                </a:solidFill>
                <a:ea typeface="黑体" panose="02010609060101010101" pitchFamily="49" charset="-122"/>
              </a:rPr>
              <a:t>0000-3FFFH</a:t>
            </a:r>
            <a:r>
              <a:rPr lang="zh-CN" altLang="en-US" sz="1800" dirty="0">
                <a:solidFill>
                  <a:srgbClr val="663300"/>
                </a:solidFill>
                <a:ea typeface="黑体" panose="02010609060101010101" pitchFamily="49" charset="-122"/>
              </a:rPr>
              <a:t>，</a:t>
            </a:r>
            <a:r>
              <a:rPr lang="en-US" altLang="zh-CN" sz="1800" dirty="0">
                <a:solidFill>
                  <a:srgbClr val="663300"/>
                </a:solidFill>
                <a:ea typeface="黑体" panose="02010609060101010101" pitchFamily="49" charset="-122"/>
              </a:rPr>
              <a:t> 4000-7FFFH</a:t>
            </a:r>
            <a:r>
              <a:rPr lang="zh-CN" altLang="en-US" sz="1800" dirty="0">
                <a:solidFill>
                  <a:srgbClr val="663300"/>
                </a:solidFill>
                <a:ea typeface="黑体" panose="02010609060101010101" pitchFamily="49" charset="-122"/>
              </a:rPr>
              <a:t>，</a:t>
            </a:r>
            <a:r>
              <a:rPr lang="en-US" altLang="zh-CN" sz="1800" dirty="0">
                <a:solidFill>
                  <a:srgbClr val="663300"/>
                </a:solidFill>
                <a:ea typeface="黑体" panose="02010609060101010101" pitchFamily="49" charset="-122"/>
              </a:rPr>
              <a:t> 8000-BFFFH</a:t>
            </a:r>
            <a:r>
              <a:rPr lang="zh-CN" altLang="en-US" sz="1800" dirty="0">
                <a:solidFill>
                  <a:srgbClr val="663300"/>
                </a:solidFill>
                <a:ea typeface="黑体" panose="02010609060101010101" pitchFamily="49" charset="-122"/>
              </a:rPr>
              <a:t>，</a:t>
            </a:r>
            <a:r>
              <a:rPr lang="en-US" altLang="zh-CN" sz="1800" dirty="0">
                <a:solidFill>
                  <a:srgbClr val="663300"/>
                </a:solidFill>
                <a:ea typeface="黑体" panose="02010609060101010101" pitchFamily="49" charset="-122"/>
              </a:rPr>
              <a:t> C000- FFFFH</a:t>
            </a:r>
            <a:r>
              <a:rPr lang="zh-CN" altLang="en-US" sz="1800" dirty="0">
                <a:solidFill>
                  <a:srgbClr val="663300"/>
                </a:solidFill>
                <a:ea typeface="黑体" panose="02010609060101010101" pitchFamily="49" charset="-122"/>
              </a:rPr>
              <a:t>，高两位作为片选，片内地址</a:t>
            </a:r>
            <a:r>
              <a:rPr lang="en-US" altLang="zh-CN" sz="1800" dirty="0">
                <a:solidFill>
                  <a:srgbClr val="663300"/>
                </a:solidFill>
                <a:ea typeface="黑体" panose="02010609060101010101" pitchFamily="49" charset="-122"/>
              </a:rPr>
              <a:t>14</a:t>
            </a:r>
            <a:r>
              <a:rPr lang="zh-CN" altLang="en-US" sz="1800" dirty="0">
                <a:solidFill>
                  <a:srgbClr val="663300"/>
                </a:solidFill>
                <a:ea typeface="黑体" panose="02010609060101010101" pitchFamily="49" charset="-122"/>
              </a:rPr>
              <a:t>位。</a:t>
            </a:r>
            <a:endParaRPr lang="en-US" altLang="zh-CN" sz="1800" dirty="0">
              <a:solidFill>
                <a:srgbClr val="663300"/>
              </a:solidFill>
              <a:ea typeface="黑体" panose="02010609060101010101" pitchFamily="49" charset="-122"/>
            </a:endParaRPr>
          </a:p>
          <a:p>
            <a:pPr lvl="1">
              <a:spcBef>
                <a:spcPct val="10000"/>
              </a:spcBef>
            </a:pPr>
            <a:r>
              <a:rPr lang="zh-CN" altLang="en-US" sz="1800" dirty="0">
                <a:ea typeface="黑体" panose="02010609060101010101" pitchFamily="49" charset="-122"/>
              </a:rPr>
              <a:t>地址线、读</a:t>
            </a:r>
            <a:r>
              <a:rPr lang="en-US" altLang="zh-CN" sz="1800" dirty="0">
                <a:ea typeface="黑体" panose="02010609060101010101" pitchFamily="49" charset="-122"/>
              </a:rPr>
              <a:t>/</a:t>
            </a:r>
            <a:r>
              <a:rPr lang="zh-CN" altLang="en-US" sz="1800" dirty="0">
                <a:ea typeface="黑体" panose="02010609060101010101" pitchFamily="49" charset="-122"/>
              </a:rPr>
              <a:t>写控制线等对应相接，片选信号则分别与外部译码器各个译码输出端相连</a:t>
            </a:r>
            <a:endParaRPr lang="zh-CN" altLang="en-US" sz="1800" dirty="0">
              <a:solidFill>
                <a:srgbClr val="0066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2099">
                                            <p:txEl>
                                              <p:charRg st="15" end="52"/>
                                            </p:txEl>
                                          </p:spTgt>
                                        </p:tgtEl>
                                        <p:attrNameLst>
                                          <p:attrName>style.visibility</p:attrName>
                                        </p:attrNameLst>
                                      </p:cBhvr>
                                      <p:to>
                                        <p:strVal val="visible"/>
                                      </p:to>
                                    </p:set>
                                    <p:animEffect transition="in" filter="blinds(horizontal)">
                                      <p:cBhvr>
                                        <p:cTn id="7" dur="500"/>
                                        <p:tgtEl>
                                          <p:spTgt spid="132099">
                                            <p:txEl>
                                              <p:charRg st="15" end="5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2099">
                                            <p:txEl>
                                              <p:charRg st="52" end="174"/>
                                            </p:txEl>
                                          </p:spTgt>
                                        </p:tgtEl>
                                        <p:attrNameLst>
                                          <p:attrName>style.visibility</p:attrName>
                                        </p:attrNameLst>
                                      </p:cBhvr>
                                      <p:to>
                                        <p:strVal val="visible"/>
                                      </p:to>
                                    </p:set>
                                    <p:animEffect transition="in" filter="blinds(horizontal)">
                                      <p:cBhvr>
                                        <p:cTn id="12" dur="500"/>
                                        <p:tgtEl>
                                          <p:spTgt spid="132099">
                                            <p:txEl>
                                              <p:charRg st="52" end="17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2099">
                                            <p:txEl>
                                              <p:charRg st="174" end="200"/>
                                            </p:txEl>
                                          </p:spTgt>
                                        </p:tgtEl>
                                        <p:attrNameLst>
                                          <p:attrName>style.visibility</p:attrName>
                                        </p:attrNameLst>
                                      </p:cBhvr>
                                      <p:to>
                                        <p:strVal val="visible"/>
                                      </p:to>
                                    </p:set>
                                    <p:animEffect transition="in" filter="blinds(horizontal)">
                                      <p:cBhvr>
                                        <p:cTn id="17" dur="500"/>
                                        <p:tgtEl>
                                          <p:spTgt spid="132099">
                                            <p:txEl>
                                              <p:charRg st="174" end="20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2099">
                                            <p:txEl>
                                              <p:charRg st="215" end="257"/>
                                            </p:txEl>
                                          </p:spTgt>
                                        </p:tgtEl>
                                        <p:attrNameLst>
                                          <p:attrName>style.visibility</p:attrName>
                                        </p:attrNameLst>
                                      </p:cBhvr>
                                      <p:to>
                                        <p:strVal val="visible"/>
                                      </p:to>
                                    </p:set>
                                    <p:animEffect transition="in" filter="blinds(horizontal)">
                                      <p:cBhvr>
                                        <p:cTn id="22" dur="500"/>
                                        <p:tgtEl>
                                          <p:spTgt spid="132099">
                                            <p:txEl>
                                              <p:charRg st="215" end="25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2099">
                                            <p:txEl>
                                              <p:charRg st="257" end="330"/>
                                            </p:txEl>
                                          </p:spTgt>
                                        </p:tgtEl>
                                        <p:attrNameLst>
                                          <p:attrName>style.visibility</p:attrName>
                                        </p:attrNameLst>
                                      </p:cBhvr>
                                      <p:to>
                                        <p:strVal val="visible"/>
                                      </p:to>
                                    </p:set>
                                    <p:animEffect transition="in" filter="blinds(horizontal)">
                                      <p:cBhvr>
                                        <p:cTn id="27" dur="500"/>
                                        <p:tgtEl>
                                          <p:spTgt spid="132099">
                                            <p:txEl>
                                              <p:charRg st="257" end="33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32099">
                                            <p:txEl>
                                              <p:charRg st="330" end="358"/>
                                            </p:txEl>
                                          </p:spTgt>
                                        </p:tgtEl>
                                        <p:attrNameLst>
                                          <p:attrName>style.visibility</p:attrName>
                                        </p:attrNameLst>
                                      </p:cBhvr>
                                      <p:to>
                                        <p:strVal val="visible"/>
                                      </p:to>
                                    </p:set>
                                    <p:animEffect transition="in" filter="blinds(horizontal)">
                                      <p:cBhvr>
                                        <p:cTn id="32" dur="500"/>
                                        <p:tgtEl>
                                          <p:spTgt spid="132099">
                                            <p:txEl>
                                              <p:charRg st="330" end="35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32099">
                                            <p:txEl>
                                              <p:charRg st="374" end="415"/>
                                            </p:txEl>
                                          </p:spTgt>
                                        </p:tgtEl>
                                        <p:attrNameLst>
                                          <p:attrName>style.visibility</p:attrName>
                                        </p:attrNameLst>
                                      </p:cBhvr>
                                      <p:to>
                                        <p:strVal val="visible"/>
                                      </p:to>
                                    </p:set>
                                    <p:animEffect transition="in" filter="blinds(horizontal)">
                                      <p:cBhvr>
                                        <p:cTn id="37" dur="500"/>
                                        <p:tgtEl>
                                          <p:spTgt spid="132099">
                                            <p:txEl>
                                              <p:charRg st="374" end="41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32099">
                                            <p:txEl>
                                              <p:charRg st="415" end="500"/>
                                            </p:txEl>
                                          </p:spTgt>
                                        </p:tgtEl>
                                        <p:attrNameLst>
                                          <p:attrName>style.visibility</p:attrName>
                                        </p:attrNameLst>
                                      </p:cBhvr>
                                      <p:to>
                                        <p:strVal val="visible"/>
                                      </p:to>
                                    </p:set>
                                    <p:animEffect transition="in" filter="blinds(horizontal)">
                                      <p:cBhvr>
                                        <p:cTn id="42" dur="500"/>
                                        <p:tgtEl>
                                          <p:spTgt spid="132099">
                                            <p:txEl>
                                              <p:charRg st="415" end="50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32099">
                                            <p:txEl>
                                              <p:charRg st="500" end="539"/>
                                            </p:txEl>
                                          </p:spTgt>
                                        </p:tgtEl>
                                        <p:attrNameLst>
                                          <p:attrName>style.visibility</p:attrName>
                                        </p:attrNameLst>
                                      </p:cBhvr>
                                      <p:to>
                                        <p:strVal val="visible"/>
                                      </p:to>
                                    </p:set>
                                    <p:animEffect transition="in" filter="blinds(horizontal)">
                                      <p:cBhvr>
                                        <p:cTn id="47" dur="500"/>
                                        <p:tgtEl>
                                          <p:spTgt spid="132099">
                                            <p:txEl>
                                              <p:charRg st="500" end="53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a:xfrm>
            <a:off x="44824" y="227013"/>
            <a:ext cx="9109075" cy="762000"/>
          </a:xfrm>
        </p:spPr>
        <p:txBody>
          <a:bodyPr/>
          <a:lstStyle/>
          <a:p>
            <a:pPr eaLnBrk="1" hangingPunct="1">
              <a:defRPr/>
            </a:pPr>
            <a:r>
              <a:rPr lang="zh-CN" altLang="en-US" dirty="0"/>
              <a:t>字位扩展组成</a:t>
            </a:r>
            <a:r>
              <a:rPr lang="en-US" altLang="zh-CN" dirty="0"/>
              <a:t>4K</a:t>
            </a:r>
            <a:r>
              <a:rPr lang="zh-CN" altLang="en-US" dirty="0"/>
              <a:t>字节</a:t>
            </a:r>
            <a:r>
              <a:rPr lang="en-US" altLang="zh-CN" dirty="0"/>
              <a:t>RAM</a:t>
            </a:r>
            <a:endParaRPr lang="en-US" altLang="zh-CN" dirty="0"/>
          </a:p>
        </p:txBody>
      </p:sp>
      <p:sp>
        <p:nvSpPr>
          <p:cNvPr id="73732" name="Text Box 4"/>
          <p:cNvSpPr txBox="1">
            <a:spLocks noChangeArrowheads="1"/>
          </p:cNvSpPr>
          <p:nvPr/>
        </p:nvSpPr>
        <p:spPr bwMode="auto">
          <a:xfrm>
            <a:off x="2400297" y="2749549"/>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4</a:t>
            </a:r>
            <a:endParaRPr lang="en-US" altLang="zh-CN" sz="2000" dirty="0">
              <a:ea typeface="宋体" panose="02010600030101010101" pitchFamily="2" charset="-122"/>
            </a:endParaRPr>
          </a:p>
        </p:txBody>
      </p:sp>
      <p:sp>
        <p:nvSpPr>
          <p:cNvPr id="73733" name="Line 5"/>
          <p:cNvSpPr>
            <a:spLocks noChangeShapeType="1"/>
          </p:cNvSpPr>
          <p:nvPr/>
        </p:nvSpPr>
        <p:spPr bwMode="auto">
          <a:xfrm>
            <a:off x="1066800" y="2254250"/>
            <a:ext cx="0" cy="27432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4" name="Line 6"/>
          <p:cNvSpPr>
            <a:spLocks noChangeShapeType="1"/>
          </p:cNvSpPr>
          <p:nvPr/>
        </p:nvSpPr>
        <p:spPr bwMode="auto">
          <a:xfrm>
            <a:off x="838200" y="2863850"/>
            <a:ext cx="0" cy="24384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5" name="Line 7"/>
          <p:cNvSpPr>
            <a:spLocks noChangeShapeType="1"/>
          </p:cNvSpPr>
          <p:nvPr/>
        </p:nvSpPr>
        <p:spPr bwMode="auto">
          <a:xfrm>
            <a:off x="2667000" y="1644650"/>
            <a:ext cx="0" cy="243840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6" name="Line 8"/>
          <p:cNvSpPr>
            <a:spLocks noChangeShapeType="1"/>
          </p:cNvSpPr>
          <p:nvPr/>
        </p:nvSpPr>
        <p:spPr bwMode="auto">
          <a:xfrm flipH="1">
            <a:off x="2209800" y="4083050"/>
            <a:ext cx="45720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7" name="Line 9"/>
          <p:cNvSpPr>
            <a:spLocks noChangeShapeType="1"/>
          </p:cNvSpPr>
          <p:nvPr/>
        </p:nvSpPr>
        <p:spPr bwMode="auto">
          <a:xfrm flipH="1">
            <a:off x="838200" y="4387850"/>
            <a:ext cx="60960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38" name="Line 10"/>
          <p:cNvSpPr>
            <a:spLocks noChangeShapeType="1"/>
          </p:cNvSpPr>
          <p:nvPr/>
        </p:nvSpPr>
        <p:spPr bwMode="auto">
          <a:xfrm flipH="1">
            <a:off x="1066800" y="3778250"/>
            <a:ext cx="38100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3739" name="Group 11"/>
          <p:cNvGrpSpPr/>
          <p:nvPr/>
        </p:nvGrpSpPr>
        <p:grpSpPr bwMode="auto">
          <a:xfrm>
            <a:off x="1295400" y="3625850"/>
            <a:ext cx="1143000" cy="990600"/>
            <a:chOff x="720" y="2928"/>
            <a:chExt cx="720" cy="624"/>
          </a:xfrm>
        </p:grpSpPr>
        <p:sp>
          <p:nvSpPr>
            <p:cNvPr id="73880" name="Rectangle 12"/>
            <p:cNvSpPr>
              <a:spLocks noChangeArrowheads="1"/>
            </p:cNvSpPr>
            <p:nvPr/>
          </p:nvSpPr>
          <p:spPr bwMode="auto">
            <a:xfrm>
              <a:off x="816" y="2928"/>
              <a:ext cx="480" cy="624"/>
            </a:xfrm>
            <a:prstGeom prst="rect">
              <a:avLst/>
            </a:pr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81" name="Text Box 13"/>
            <p:cNvSpPr txBox="1">
              <a:spLocks noChangeArrowheads="1"/>
            </p:cNvSpPr>
            <p:nvPr/>
          </p:nvSpPr>
          <p:spPr bwMode="auto">
            <a:xfrm>
              <a:off x="720" y="3120"/>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l">
                <a:spcBef>
                  <a:spcPct val="50000"/>
                </a:spcBef>
                <a:buClrTx/>
                <a:buFontTx/>
                <a:buNone/>
              </a:pPr>
              <a:r>
                <a:rPr lang="en-US" altLang="zh-CN" sz="2000" dirty="0">
                  <a:ea typeface="宋体" panose="02010600030101010101" pitchFamily="2" charset="-122"/>
                </a:rPr>
                <a:t> 1K×4</a:t>
              </a:r>
              <a:endParaRPr lang="en-US" altLang="zh-CN" sz="2000" dirty="0">
                <a:ea typeface="宋体" panose="02010600030101010101" pitchFamily="2" charset="-122"/>
              </a:endParaRPr>
            </a:p>
          </p:txBody>
        </p:sp>
      </p:grpSp>
      <p:sp>
        <p:nvSpPr>
          <p:cNvPr id="73740" name="Line 14"/>
          <p:cNvSpPr>
            <a:spLocks noChangeShapeType="1"/>
          </p:cNvSpPr>
          <p:nvPr/>
        </p:nvSpPr>
        <p:spPr bwMode="auto">
          <a:xfrm flipV="1">
            <a:off x="2438400" y="1416050"/>
            <a:ext cx="0" cy="11430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1" name="Line 15"/>
          <p:cNvSpPr>
            <a:spLocks noChangeShapeType="1"/>
          </p:cNvSpPr>
          <p:nvPr/>
        </p:nvSpPr>
        <p:spPr bwMode="auto">
          <a:xfrm rot="5400000" flipH="1">
            <a:off x="1562100" y="3359150"/>
            <a:ext cx="533400" cy="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2" name="Line 16"/>
          <p:cNvSpPr>
            <a:spLocks noChangeShapeType="1"/>
          </p:cNvSpPr>
          <p:nvPr/>
        </p:nvSpPr>
        <p:spPr bwMode="auto">
          <a:xfrm>
            <a:off x="2209800" y="2559050"/>
            <a:ext cx="22860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3" name="Line 17"/>
          <p:cNvSpPr>
            <a:spLocks noChangeShapeType="1"/>
          </p:cNvSpPr>
          <p:nvPr/>
        </p:nvSpPr>
        <p:spPr bwMode="auto">
          <a:xfrm flipH="1">
            <a:off x="838200" y="2863850"/>
            <a:ext cx="60960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4" name="Line 18"/>
          <p:cNvSpPr>
            <a:spLocks noChangeShapeType="1"/>
          </p:cNvSpPr>
          <p:nvPr/>
        </p:nvSpPr>
        <p:spPr bwMode="auto">
          <a:xfrm flipH="1">
            <a:off x="1066800" y="2254250"/>
            <a:ext cx="38100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3745" name="Group 19"/>
          <p:cNvGrpSpPr/>
          <p:nvPr/>
        </p:nvGrpSpPr>
        <p:grpSpPr bwMode="auto">
          <a:xfrm>
            <a:off x="1295400" y="2101850"/>
            <a:ext cx="1143000" cy="990600"/>
            <a:chOff x="720" y="2928"/>
            <a:chExt cx="720" cy="624"/>
          </a:xfrm>
        </p:grpSpPr>
        <p:sp>
          <p:nvSpPr>
            <p:cNvPr id="73878" name="Rectangle 20"/>
            <p:cNvSpPr>
              <a:spLocks noChangeArrowheads="1"/>
            </p:cNvSpPr>
            <p:nvPr/>
          </p:nvSpPr>
          <p:spPr bwMode="auto">
            <a:xfrm>
              <a:off x="816" y="2928"/>
              <a:ext cx="480" cy="624"/>
            </a:xfrm>
            <a:prstGeom prst="rect">
              <a:avLst/>
            </a:pr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79" name="Text Box 21"/>
            <p:cNvSpPr txBox="1">
              <a:spLocks noChangeArrowheads="1"/>
            </p:cNvSpPr>
            <p:nvPr/>
          </p:nvSpPr>
          <p:spPr bwMode="auto">
            <a:xfrm>
              <a:off x="720" y="3120"/>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l">
                <a:spcBef>
                  <a:spcPct val="50000"/>
                </a:spcBef>
                <a:buClrTx/>
                <a:buFontTx/>
                <a:buNone/>
              </a:pPr>
              <a:r>
                <a:rPr lang="en-US" altLang="zh-CN" sz="2000" dirty="0">
                  <a:ea typeface="宋体" panose="02010600030101010101" pitchFamily="2" charset="-122"/>
                </a:rPr>
                <a:t> 1K×4</a:t>
              </a:r>
              <a:endParaRPr lang="en-US" altLang="zh-CN" sz="2000" dirty="0">
                <a:ea typeface="宋体" panose="02010600030101010101" pitchFamily="2" charset="-122"/>
              </a:endParaRPr>
            </a:p>
          </p:txBody>
        </p:sp>
      </p:grpSp>
      <p:sp>
        <p:nvSpPr>
          <p:cNvPr id="73746" name="Text Box 22"/>
          <p:cNvSpPr txBox="1">
            <a:spLocks noChangeArrowheads="1"/>
          </p:cNvSpPr>
          <p:nvPr/>
        </p:nvSpPr>
        <p:spPr bwMode="auto">
          <a:xfrm>
            <a:off x="2200833" y="1765300"/>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4</a:t>
            </a:r>
            <a:endParaRPr lang="en-US" altLang="zh-CN" sz="2000" dirty="0">
              <a:ea typeface="宋体" panose="02010600030101010101" pitchFamily="2" charset="-122"/>
            </a:endParaRPr>
          </a:p>
        </p:txBody>
      </p:sp>
      <p:sp>
        <p:nvSpPr>
          <p:cNvPr id="73747" name="Line 23"/>
          <p:cNvSpPr>
            <a:spLocks noChangeShapeType="1"/>
          </p:cNvSpPr>
          <p:nvPr/>
        </p:nvSpPr>
        <p:spPr bwMode="auto">
          <a:xfrm flipH="1">
            <a:off x="2362200" y="1873250"/>
            <a:ext cx="152400" cy="15240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8" name="Line 24"/>
          <p:cNvSpPr>
            <a:spLocks noChangeShapeType="1"/>
          </p:cNvSpPr>
          <p:nvPr/>
        </p:nvSpPr>
        <p:spPr bwMode="auto">
          <a:xfrm flipH="1">
            <a:off x="2590800" y="2863850"/>
            <a:ext cx="152400" cy="15240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49" name="Line 25"/>
          <p:cNvSpPr>
            <a:spLocks noChangeShapeType="1"/>
          </p:cNvSpPr>
          <p:nvPr/>
        </p:nvSpPr>
        <p:spPr bwMode="auto">
          <a:xfrm flipH="1">
            <a:off x="990600" y="4692650"/>
            <a:ext cx="152400" cy="15240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0" name="Text Box 26"/>
          <p:cNvSpPr txBox="1">
            <a:spLocks noChangeArrowheads="1"/>
          </p:cNvSpPr>
          <p:nvPr/>
        </p:nvSpPr>
        <p:spPr bwMode="auto">
          <a:xfrm>
            <a:off x="1143000" y="4616450"/>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10</a:t>
            </a:r>
            <a:endParaRPr lang="en-US" altLang="zh-CN" sz="2000">
              <a:ea typeface="宋体" panose="02010600030101010101" pitchFamily="2" charset="-122"/>
            </a:endParaRPr>
          </a:p>
        </p:txBody>
      </p:sp>
      <p:sp>
        <p:nvSpPr>
          <p:cNvPr id="73751" name="Line 27"/>
          <p:cNvSpPr>
            <a:spLocks noChangeShapeType="1"/>
          </p:cNvSpPr>
          <p:nvPr/>
        </p:nvSpPr>
        <p:spPr bwMode="auto">
          <a:xfrm>
            <a:off x="2895600" y="2863850"/>
            <a:ext cx="0" cy="243840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2" name="Line 28"/>
          <p:cNvSpPr>
            <a:spLocks noChangeShapeType="1"/>
          </p:cNvSpPr>
          <p:nvPr/>
        </p:nvSpPr>
        <p:spPr bwMode="auto">
          <a:xfrm rot="5400000" flipH="1">
            <a:off x="3619500" y="3375025"/>
            <a:ext cx="533400" cy="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3" name="Line 29"/>
          <p:cNvSpPr>
            <a:spLocks noChangeShapeType="1"/>
          </p:cNvSpPr>
          <p:nvPr/>
        </p:nvSpPr>
        <p:spPr bwMode="auto">
          <a:xfrm rot="5400000" flipH="1">
            <a:off x="5676900" y="3375025"/>
            <a:ext cx="533400" cy="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54" name="Line 30"/>
          <p:cNvSpPr>
            <a:spLocks noChangeShapeType="1"/>
          </p:cNvSpPr>
          <p:nvPr/>
        </p:nvSpPr>
        <p:spPr bwMode="auto">
          <a:xfrm rot="5400000" flipH="1">
            <a:off x="7734300" y="3375025"/>
            <a:ext cx="533400" cy="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3755" name="Group 31"/>
          <p:cNvGrpSpPr/>
          <p:nvPr/>
        </p:nvGrpSpPr>
        <p:grpSpPr bwMode="auto">
          <a:xfrm>
            <a:off x="7010402" y="1416050"/>
            <a:ext cx="2084388" cy="3886200"/>
            <a:chOff x="4416" y="806"/>
            <a:chExt cx="1313" cy="2448"/>
          </a:xfrm>
        </p:grpSpPr>
        <p:sp>
          <p:nvSpPr>
            <p:cNvPr id="73857" name="Line 32"/>
            <p:cNvSpPr>
              <a:spLocks noChangeShapeType="1"/>
            </p:cNvSpPr>
            <p:nvPr/>
          </p:nvSpPr>
          <p:spPr bwMode="auto">
            <a:xfrm>
              <a:off x="4560" y="1334"/>
              <a:ext cx="0" cy="172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58" name="Line 33"/>
            <p:cNvSpPr>
              <a:spLocks noChangeShapeType="1"/>
            </p:cNvSpPr>
            <p:nvPr/>
          </p:nvSpPr>
          <p:spPr bwMode="auto">
            <a:xfrm>
              <a:off x="4416" y="1718"/>
              <a:ext cx="0" cy="15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59" name="Line 34"/>
            <p:cNvSpPr>
              <a:spLocks noChangeShapeType="1"/>
            </p:cNvSpPr>
            <p:nvPr/>
          </p:nvSpPr>
          <p:spPr bwMode="auto">
            <a:xfrm>
              <a:off x="5568" y="950"/>
              <a:ext cx="0" cy="1536"/>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60" name="Line 35"/>
            <p:cNvSpPr>
              <a:spLocks noChangeShapeType="1"/>
            </p:cNvSpPr>
            <p:nvPr/>
          </p:nvSpPr>
          <p:spPr bwMode="auto">
            <a:xfrm flipH="1">
              <a:off x="5280" y="2486"/>
              <a:ext cx="288"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61" name="Line 36"/>
            <p:cNvSpPr>
              <a:spLocks noChangeShapeType="1"/>
            </p:cNvSpPr>
            <p:nvPr/>
          </p:nvSpPr>
          <p:spPr bwMode="auto">
            <a:xfrm flipH="1">
              <a:off x="4416" y="2688"/>
              <a:ext cx="384"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62" name="Line 37"/>
            <p:cNvSpPr>
              <a:spLocks noChangeShapeType="1"/>
            </p:cNvSpPr>
            <p:nvPr/>
          </p:nvSpPr>
          <p:spPr bwMode="auto">
            <a:xfrm flipH="1">
              <a:off x="4560" y="2304"/>
              <a:ext cx="24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3863" name="Group 38"/>
            <p:cNvGrpSpPr/>
            <p:nvPr/>
          </p:nvGrpSpPr>
          <p:grpSpPr bwMode="auto">
            <a:xfrm>
              <a:off x="4704" y="2208"/>
              <a:ext cx="720" cy="624"/>
              <a:chOff x="720" y="2928"/>
              <a:chExt cx="720" cy="624"/>
            </a:xfrm>
          </p:grpSpPr>
          <p:sp>
            <p:nvSpPr>
              <p:cNvPr id="73876" name="Rectangle 39"/>
              <p:cNvSpPr>
                <a:spLocks noChangeArrowheads="1"/>
              </p:cNvSpPr>
              <p:nvPr/>
            </p:nvSpPr>
            <p:spPr bwMode="auto">
              <a:xfrm>
                <a:off x="816" y="2928"/>
                <a:ext cx="480" cy="624"/>
              </a:xfrm>
              <a:prstGeom prst="rect">
                <a:avLst/>
              </a:pr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77" name="Text Box 40"/>
              <p:cNvSpPr txBox="1">
                <a:spLocks noChangeArrowheads="1"/>
              </p:cNvSpPr>
              <p:nvPr/>
            </p:nvSpPr>
            <p:spPr bwMode="auto">
              <a:xfrm>
                <a:off x="720" y="3120"/>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l">
                  <a:spcBef>
                    <a:spcPct val="50000"/>
                  </a:spcBef>
                  <a:buClrTx/>
                  <a:buFontTx/>
                  <a:buNone/>
                </a:pPr>
                <a:r>
                  <a:rPr lang="en-US" altLang="zh-CN" sz="2000" dirty="0">
                    <a:ea typeface="宋体" panose="02010600030101010101" pitchFamily="2" charset="-122"/>
                  </a:rPr>
                  <a:t> 1K×4</a:t>
                </a:r>
                <a:endParaRPr lang="en-US" altLang="zh-CN" sz="2000" dirty="0">
                  <a:ea typeface="宋体" panose="02010600030101010101" pitchFamily="2" charset="-122"/>
                </a:endParaRPr>
              </a:p>
            </p:txBody>
          </p:sp>
        </p:grpSp>
        <p:sp>
          <p:nvSpPr>
            <p:cNvPr id="73864" name="Line 41"/>
            <p:cNvSpPr>
              <a:spLocks noChangeShapeType="1"/>
            </p:cNvSpPr>
            <p:nvPr/>
          </p:nvSpPr>
          <p:spPr bwMode="auto">
            <a:xfrm flipV="1">
              <a:off x="5424" y="806"/>
              <a:ext cx="0" cy="72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65" name="Line 42"/>
            <p:cNvSpPr>
              <a:spLocks noChangeShapeType="1"/>
            </p:cNvSpPr>
            <p:nvPr/>
          </p:nvSpPr>
          <p:spPr bwMode="auto">
            <a:xfrm>
              <a:off x="5280" y="1526"/>
              <a:ext cx="144"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66" name="Line 43"/>
            <p:cNvSpPr>
              <a:spLocks noChangeShapeType="1"/>
            </p:cNvSpPr>
            <p:nvPr/>
          </p:nvSpPr>
          <p:spPr bwMode="auto">
            <a:xfrm flipH="1">
              <a:off x="4416" y="1718"/>
              <a:ext cx="384"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67" name="Line 44"/>
            <p:cNvSpPr>
              <a:spLocks noChangeShapeType="1"/>
            </p:cNvSpPr>
            <p:nvPr/>
          </p:nvSpPr>
          <p:spPr bwMode="auto">
            <a:xfrm flipH="1">
              <a:off x="4560" y="1334"/>
              <a:ext cx="24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3868" name="Group 45"/>
            <p:cNvGrpSpPr/>
            <p:nvPr/>
          </p:nvGrpSpPr>
          <p:grpSpPr bwMode="auto">
            <a:xfrm>
              <a:off x="4704" y="1238"/>
              <a:ext cx="720" cy="624"/>
              <a:chOff x="720" y="2928"/>
              <a:chExt cx="720" cy="624"/>
            </a:xfrm>
          </p:grpSpPr>
          <p:sp>
            <p:nvSpPr>
              <p:cNvPr id="73874" name="Rectangle 46"/>
              <p:cNvSpPr>
                <a:spLocks noChangeArrowheads="1"/>
              </p:cNvSpPr>
              <p:nvPr/>
            </p:nvSpPr>
            <p:spPr bwMode="auto">
              <a:xfrm>
                <a:off x="816" y="2928"/>
                <a:ext cx="480" cy="624"/>
              </a:xfrm>
              <a:prstGeom prst="rect">
                <a:avLst/>
              </a:pr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75" name="Text Box 47"/>
              <p:cNvSpPr txBox="1">
                <a:spLocks noChangeArrowheads="1"/>
              </p:cNvSpPr>
              <p:nvPr/>
            </p:nvSpPr>
            <p:spPr bwMode="auto">
              <a:xfrm>
                <a:off x="720" y="3120"/>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l">
                  <a:spcBef>
                    <a:spcPct val="50000"/>
                  </a:spcBef>
                  <a:buClrTx/>
                  <a:buFontTx/>
                  <a:buNone/>
                </a:pPr>
                <a:r>
                  <a:rPr lang="en-US" altLang="zh-CN" sz="2000" dirty="0">
                    <a:ea typeface="宋体" panose="02010600030101010101" pitchFamily="2" charset="-122"/>
                  </a:rPr>
                  <a:t> 1K×4</a:t>
                </a:r>
                <a:endParaRPr lang="en-US" altLang="zh-CN" sz="2000" dirty="0">
                  <a:ea typeface="宋体" panose="02010600030101010101" pitchFamily="2" charset="-122"/>
                </a:endParaRPr>
              </a:p>
            </p:txBody>
          </p:sp>
        </p:grpSp>
        <p:sp>
          <p:nvSpPr>
            <p:cNvPr id="73869" name="Text Box 48"/>
            <p:cNvSpPr txBox="1">
              <a:spLocks noChangeArrowheads="1"/>
            </p:cNvSpPr>
            <p:nvPr/>
          </p:nvSpPr>
          <p:spPr bwMode="auto">
            <a:xfrm>
              <a:off x="5249" y="1026"/>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4</a:t>
              </a:r>
              <a:endParaRPr lang="en-US" altLang="zh-CN" sz="2000" dirty="0">
                <a:ea typeface="宋体" panose="02010600030101010101" pitchFamily="2" charset="-122"/>
              </a:endParaRPr>
            </a:p>
          </p:txBody>
        </p:sp>
        <p:sp>
          <p:nvSpPr>
            <p:cNvPr id="73870" name="Line 49"/>
            <p:cNvSpPr>
              <a:spLocks noChangeShapeType="1"/>
            </p:cNvSpPr>
            <p:nvPr/>
          </p:nvSpPr>
          <p:spPr bwMode="auto">
            <a:xfrm flipH="1">
              <a:off x="5376" y="1094"/>
              <a:ext cx="96" cy="9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71" name="Line 50"/>
            <p:cNvSpPr>
              <a:spLocks noChangeShapeType="1"/>
            </p:cNvSpPr>
            <p:nvPr/>
          </p:nvSpPr>
          <p:spPr bwMode="auto">
            <a:xfrm flipH="1">
              <a:off x="5520" y="1718"/>
              <a:ext cx="96" cy="9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72" name="Line 51"/>
            <p:cNvSpPr>
              <a:spLocks noChangeShapeType="1"/>
            </p:cNvSpPr>
            <p:nvPr/>
          </p:nvSpPr>
          <p:spPr bwMode="auto">
            <a:xfrm flipH="1">
              <a:off x="4512" y="2870"/>
              <a:ext cx="96" cy="9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73" name="Text Box 52"/>
            <p:cNvSpPr txBox="1">
              <a:spLocks noChangeArrowheads="1"/>
            </p:cNvSpPr>
            <p:nvPr/>
          </p:nvSpPr>
          <p:spPr bwMode="auto">
            <a:xfrm>
              <a:off x="4608" y="2822"/>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10</a:t>
              </a:r>
              <a:endParaRPr lang="en-US" altLang="zh-CN" sz="2000">
                <a:ea typeface="宋体" panose="02010600030101010101" pitchFamily="2" charset="-122"/>
              </a:endParaRPr>
            </a:p>
          </p:txBody>
        </p:sp>
      </p:grpSp>
      <p:grpSp>
        <p:nvGrpSpPr>
          <p:cNvPr id="73756" name="Group 53"/>
          <p:cNvGrpSpPr/>
          <p:nvPr/>
        </p:nvGrpSpPr>
        <p:grpSpPr bwMode="auto">
          <a:xfrm>
            <a:off x="2895600" y="1416050"/>
            <a:ext cx="2305050" cy="3597275"/>
            <a:chOff x="1824" y="806"/>
            <a:chExt cx="1452" cy="2266"/>
          </a:xfrm>
        </p:grpSpPr>
        <p:sp>
          <p:nvSpPr>
            <p:cNvPr id="73836" name="Line 54"/>
            <p:cNvSpPr>
              <a:spLocks noChangeShapeType="1"/>
            </p:cNvSpPr>
            <p:nvPr/>
          </p:nvSpPr>
          <p:spPr bwMode="auto">
            <a:xfrm>
              <a:off x="1968" y="1334"/>
              <a:ext cx="0" cy="172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37" name="Line 55"/>
            <p:cNvSpPr>
              <a:spLocks noChangeShapeType="1"/>
            </p:cNvSpPr>
            <p:nvPr/>
          </p:nvSpPr>
          <p:spPr bwMode="auto">
            <a:xfrm>
              <a:off x="2976" y="950"/>
              <a:ext cx="0" cy="1536"/>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38" name="Line 56"/>
            <p:cNvSpPr>
              <a:spLocks noChangeShapeType="1"/>
            </p:cNvSpPr>
            <p:nvPr/>
          </p:nvSpPr>
          <p:spPr bwMode="auto">
            <a:xfrm flipH="1">
              <a:off x="2688" y="2486"/>
              <a:ext cx="288"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39" name="Line 57"/>
            <p:cNvSpPr>
              <a:spLocks noChangeShapeType="1"/>
            </p:cNvSpPr>
            <p:nvPr/>
          </p:nvSpPr>
          <p:spPr bwMode="auto">
            <a:xfrm flipH="1">
              <a:off x="1824" y="2678"/>
              <a:ext cx="384"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40" name="Line 58"/>
            <p:cNvSpPr>
              <a:spLocks noChangeShapeType="1"/>
            </p:cNvSpPr>
            <p:nvPr/>
          </p:nvSpPr>
          <p:spPr bwMode="auto">
            <a:xfrm flipH="1">
              <a:off x="1968" y="2294"/>
              <a:ext cx="24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3841" name="Group 59"/>
            <p:cNvGrpSpPr/>
            <p:nvPr/>
          </p:nvGrpSpPr>
          <p:grpSpPr bwMode="auto">
            <a:xfrm>
              <a:off x="2112" y="2198"/>
              <a:ext cx="720" cy="624"/>
              <a:chOff x="720" y="2928"/>
              <a:chExt cx="720" cy="624"/>
            </a:xfrm>
          </p:grpSpPr>
          <p:sp>
            <p:nvSpPr>
              <p:cNvPr id="73855" name="Rectangle 60"/>
              <p:cNvSpPr>
                <a:spLocks noChangeArrowheads="1"/>
              </p:cNvSpPr>
              <p:nvPr/>
            </p:nvSpPr>
            <p:spPr bwMode="auto">
              <a:xfrm>
                <a:off x="816" y="2928"/>
                <a:ext cx="480" cy="624"/>
              </a:xfrm>
              <a:prstGeom prst="rect">
                <a:avLst/>
              </a:pr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56" name="Text Box 61"/>
              <p:cNvSpPr txBox="1">
                <a:spLocks noChangeArrowheads="1"/>
              </p:cNvSpPr>
              <p:nvPr/>
            </p:nvSpPr>
            <p:spPr bwMode="auto">
              <a:xfrm>
                <a:off x="720" y="3120"/>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l">
                  <a:spcBef>
                    <a:spcPct val="50000"/>
                  </a:spcBef>
                  <a:buClrTx/>
                  <a:buFontTx/>
                  <a:buNone/>
                </a:pPr>
                <a:r>
                  <a:rPr lang="en-US" altLang="zh-CN" sz="2000" dirty="0">
                    <a:ea typeface="宋体" panose="02010600030101010101" pitchFamily="2" charset="-122"/>
                  </a:rPr>
                  <a:t> 1K×4</a:t>
                </a:r>
                <a:endParaRPr lang="en-US" altLang="zh-CN" sz="2000" dirty="0">
                  <a:ea typeface="宋体" panose="02010600030101010101" pitchFamily="2" charset="-122"/>
                </a:endParaRPr>
              </a:p>
            </p:txBody>
          </p:sp>
        </p:grpSp>
        <p:sp>
          <p:nvSpPr>
            <p:cNvPr id="73842" name="Line 62"/>
            <p:cNvSpPr>
              <a:spLocks noChangeShapeType="1"/>
            </p:cNvSpPr>
            <p:nvPr/>
          </p:nvSpPr>
          <p:spPr bwMode="auto">
            <a:xfrm flipV="1">
              <a:off x="2832" y="806"/>
              <a:ext cx="0" cy="72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43" name="Line 63"/>
            <p:cNvSpPr>
              <a:spLocks noChangeShapeType="1"/>
            </p:cNvSpPr>
            <p:nvPr/>
          </p:nvSpPr>
          <p:spPr bwMode="auto">
            <a:xfrm>
              <a:off x="2688" y="1526"/>
              <a:ext cx="144"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44" name="Line 64"/>
            <p:cNvSpPr>
              <a:spLocks noChangeShapeType="1"/>
            </p:cNvSpPr>
            <p:nvPr/>
          </p:nvSpPr>
          <p:spPr bwMode="auto">
            <a:xfrm flipH="1">
              <a:off x="1824" y="1718"/>
              <a:ext cx="384"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45" name="Line 65"/>
            <p:cNvSpPr>
              <a:spLocks noChangeShapeType="1"/>
            </p:cNvSpPr>
            <p:nvPr/>
          </p:nvSpPr>
          <p:spPr bwMode="auto">
            <a:xfrm flipH="1">
              <a:off x="1968" y="1334"/>
              <a:ext cx="24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3846" name="Group 66"/>
            <p:cNvGrpSpPr/>
            <p:nvPr/>
          </p:nvGrpSpPr>
          <p:grpSpPr bwMode="auto">
            <a:xfrm>
              <a:off x="2112" y="1238"/>
              <a:ext cx="720" cy="624"/>
              <a:chOff x="720" y="2928"/>
              <a:chExt cx="720" cy="624"/>
            </a:xfrm>
          </p:grpSpPr>
          <p:sp>
            <p:nvSpPr>
              <p:cNvPr id="73853" name="Rectangle 67"/>
              <p:cNvSpPr>
                <a:spLocks noChangeArrowheads="1"/>
              </p:cNvSpPr>
              <p:nvPr/>
            </p:nvSpPr>
            <p:spPr bwMode="auto">
              <a:xfrm>
                <a:off x="816" y="2928"/>
                <a:ext cx="480" cy="624"/>
              </a:xfrm>
              <a:prstGeom prst="rect">
                <a:avLst/>
              </a:pr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54" name="Text Box 68"/>
              <p:cNvSpPr txBox="1">
                <a:spLocks noChangeArrowheads="1"/>
              </p:cNvSpPr>
              <p:nvPr/>
            </p:nvSpPr>
            <p:spPr bwMode="auto">
              <a:xfrm>
                <a:off x="720" y="3120"/>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l">
                  <a:spcBef>
                    <a:spcPct val="50000"/>
                  </a:spcBef>
                  <a:buClrTx/>
                  <a:buFontTx/>
                  <a:buNone/>
                </a:pPr>
                <a:r>
                  <a:rPr lang="en-US" altLang="zh-CN" sz="2000" dirty="0">
                    <a:ea typeface="宋体" panose="02010600030101010101" pitchFamily="2" charset="-122"/>
                  </a:rPr>
                  <a:t> 1K×4</a:t>
                </a:r>
                <a:endParaRPr lang="en-US" altLang="zh-CN" sz="2000" dirty="0">
                  <a:ea typeface="宋体" panose="02010600030101010101" pitchFamily="2" charset="-122"/>
                </a:endParaRPr>
              </a:p>
            </p:txBody>
          </p:sp>
        </p:grpSp>
        <p:sp>
          <p:nvSpPr>
            <p:cNvPr id="73847" name="Text Box 69"/>
            <p:cNvSpPr txBox="1">
              <a:spLocks noChangeArrowheads="1"/>
            </p:cNvSpPr>
            <p:nvPr/>
          </p:nvSpPr>
          <p:spPr bwMode="auto">
            <a:xfrm>
              <a:off x="2664" y="1028"/>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4</a:t>
              </a:r>
              <a:endParaRPr lang="en-US" altLang="zh-CN" sz="2000" dirty="0">
                <a:ea typeface="宋体" panose="02010600030101010101" pitchFamily="2" charset="-122"/>
              </a:endParaRPr>
            </a:p>
          </p:txBody>
        </p:sp>
        <p:sp>
          <p:nvSpPr>
            <p:cNvPr id="73848" name="Line 70"/>
            <p:cNvSpPr>
              <a:spLocks noChangeShapeType="1"/>
            </p:cNvSpPr>
            <p:nvPr/>
          </p:nvSpPr>
          <p:spPr bwMode="auto">
            <a:xfrm flipH="1">
              <a:off x="2784" y="1094"/>
              <a:ext cx="96" cy="9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49" name="Line 71"/>
            <p:cNvSpPr>
              <a:spLocks noChangeShapeType="1"/>
            </p:cNvSpPr>
            <p:nvPr/>
          </p:nvSpPr>
          <p:spPr bwMode="auto">
            <a:xfrm flipH="1">
              <a:off x="2928" y="1718"/>
              <a:ext cx="96" cy="9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50" name="Line 72"/>
            <p:cNvSpPr>
              <a:spLocks noChangeShapeType="1"/>
            </p:cNvSpPr>
            <p:nvPr/>
          </p:nvSpPr>
          <p:spPr bwMode="auto">
            <a:xfrm flipH="1">
              <a:off x="1920" y="2870"/>
              <a:ext cx="96" cy="9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51" name="Text Box 73"/>
            <p:cNvSpPr txBox="1">
              <a:spLocks noChangeArrowheads="1"/>
            </p:cNvSpPr>
            <p:nvPr/>
          </p:nvSpPr>
          <p:spPr bwMode="auto">
            <a:xfrm>
              <a:off x="2016" y="2822"/>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10</a:t>
              </a:r>
              <a:endParaRPr lang="en-US" altLang="zh-CN" sz="2000">
                <a:ea typeface="宋体" panose="02010600030101010101" pitchFamily="2" charset="-122"/>
              </a:endParaRPr>
            </a:p>
          </p:txBody>
        </p:sp>
        <p:sp>
          <p:nvSpPr>
            <p:cNvPr id="73852" name="Text Box 74"/>
            <p:cNvSpPr txBox="1">
              <a:spLocks noChangeArrowheads="1"/>
            </p:cNvSpPr>
            <p:nvPr/>
          </p:nvSpPr>
          <p:spPr bwMode="auto">
            <a:xfrm>
              <a:off x="2796" y="1652"/>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4</a:t>
              </a:r>
              <a:endParaRPr lang="en-US" altLang="zh-CN" sz="2000" dirty="0">
                <a:ea typeface="宋体" panose="02010600030101010101" pitchFamily="2" charset="-122"/>
              </a:endParaRPr>
            </a:p>
          </p:txBody>
        </p:sp>
      </p:grpSp>
      <p:grpSp>
        <p:nvGrpSpPr>
          <p:cNvPr id="73757" name="Group 75"/>
          <p:cNvGrpSpPr/>
          <p:nvPr/>
        </p:nvGrpSpPr>
        <p:grpSpPr bwMode="auto">
          <a:xfrm>
            <a:off x="4953000" y="1416050"/>
            <a:ext cx="2324100" cy="3886200"/>
            <a:chOff x="3120" y="806"/>
            <a:chExt cx="1464" cy="2448"/>
          </a:xfrm>
        </p:grpSpPr>
        <p:sp>
          <p:nvSpPr>
            <p:cNvPr id="73814" name="Line 76"/>
            <p:cNvSpPr>
              <a:spLocks noChangeShapeType="1"/>
            </p:cNvSpPr>
            <p:nvPr/>
          </p:nvSpPr>
          <p:spPr bwMode="auto">
            <a:xfrm>
              <a:off x="3264" y="1334"/>
              <a:ext cx="0" cy="172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15" name="Line 77"/>
            <p:cNvSpPr>
              <a:spLocks noChangeShapeType="1"/>
            </p:cNvSpPr>
            <p:nvPr/>
          </p:nvSpPr>
          <p:spPr bwMode="auto">
            <a:xfrm>
              <a:off x="3120" y="1718"/>
              <a:ext cx="0" cy="15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16" name="Line 78"/>
            <p:cNvSpPr>
              <a:spLocks noChangeShapeType="1"/>
            </p:cNvSpPr>
            <p:nvPr/>
          </p:nvSpPr>
          <p:spPr bwMode="auto">
            <a:xfrm>
              <a:off x="4272" y="950"/>
              <a:ext cx="0" cy="1536"/>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17" name="Line 79"/>
            <p:cNvSpPr>
              <a:spLocks noChangeShapeType="1"/>
            </p:cNvSpPr>
            <p:nvPr/>
          </p:nvSpPr>
          <p:spPr bwMode="auto">
            <a:xfrm flipH="1">
              <a:off x="3984" y="2486"/>
              <a:ext cx="288"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18" name="Line 80"/>
            <p:cNvSpPr>
              <a:spLocks noChangeShapeType="1"/>
            </p:cNvSpPr>
            <p:nvPr/>
          </p:nvSpPr>
          <p:spPr bwMode="auto">
            <a:xfrm flipH="1">
              <a:off x="3120" y="2678"/>
              <a:ext cx="384"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19" name="Line 81"/>
            <p:cNvSpPr>
              <a:spLocks noChangeShapeType="1"/>
            </p:cNvSpPr>
            <p:nvPr/>
          </p:nvSpPr>
          <p:spPr bwMode="auto">
            <a:xfrm flipH="1">
              <a:off x="3264" y="2294"/>
              <a:ext cx="24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3820" name="Group 82"/>
            <p:cNvGrpSpPr/>
            <p:nvPr/>
          </p:nvGrpSpPr>
          <p:grpSpPr bwMode="auto">
            <a:xfrm>
              <a:off x="3408" y="2198"/>
              <a:ext cx="720" cy="624"/>
              <a:chOff x="720" y="2928"/>
              <a:chExt cx="720" cy="624"/>
            </a:xfrm>
          </p:grpSpPr>
          <p:sp>
            <p:nvSpPr>
              <p:cNvPr id="73834" name="Rectangle 83"/>
              <p:cNvSpPr>
                <a:spLocks noChangeArrowheads="1"/>
              </p:cNvSpPr>
              <p:nvPr/>
            </p:nvSpPr>
            <p:spPr bwMode="auto">
              <a:xfrm>
                <a:off x="816" y="2928"/>
                <a:ext cx="480" cy="624"/>
              </a:xfrm>
              <a:prstGeom prst="rect">
                <a:avLst/>
              </a:pr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35" name="Text Box 84"/>
              <p:cNvSpPr txBox="1">
                <a:spLocks noChangeArrowheads="1"/>
              </p:cNvSpPr>
              <p:nvPr/>
            </p:nvSpPr>
            <p:spPr bwMode="auto">
              <a:xfrm>
                <a:off x="720" y="3120"/>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l">
                  <a:spcBef>
                    <a:spcPct val="50000"/>
                  </a:spcBef>
                  <a:buClrTx/>
                  <a:buFontTx/>
                  <a:buNone/>
                </a:pPr>
                <a:r>
                  <a:rPr lang="en-US" altLang="zh-CN" sz="2000" dirty="0">
                    <a:ea typeface="宋体" panose="02010600030101010101" pitchFamily="2" charset="-122"/>
                  </a:rPr>
                  <a:t> 1K×4</a:t>
                </a:r>
                <a:endParaRPr lang="en-US" altLang="zh-CN" sz="2000" dirty="0">
                  <a:ea typeface="宋体" panose="02010600030101010101" pitchFamily="2" charset="-122"/>
                </a:endParaRPr>
              </a:p>
            </p:txBody>
          </p:sp>
        </p:grpSp>
        <p:sp>
          <p:nvSpPr>
            <p:cNvPr id="73821" name="Line 85"/>
            <p:cNvSpPr>
              <a:spLocks noChangeShapeType="1"/>
            </p:cNvSpPr>
            <p:nvPr/>
          </p:nvSpPr>
          <p:spPr bwMode="auto">
            <a:xfrm flipV="1">
              <a:off x="4128" y="806"/>
              <a:ext cx="0" cy="72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22" name="Line 86"/>
            <p:cNvSpPr>
              <a:spLocks noChangeShapeType="1"/>
            </p:cNvSpPr>
            <p:nvPr/>
          </p:nvSpPr>
          <p:spPr bwMode="auto">
            <a:xfrm>
              <a:off x="3984" y="1526"/>
              <a:ext cx="144"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23" name="Line 87"/>
            <p:cNvSpPr>
              <a:spLocks noChangeShapeType="1"/>
            </p:cNvSpPr>
            <p:nvPr/>
          </p:nvSpPr>
          <p:spPr bwMode="auto">
            <a:xfrm flipH="1">
              <a:off x="3120" y="1718"/>
              <a:ext cx="384"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24" name="Line 88"/>
            <p:cNvSpPr>
              <a:spLocks noChangeShapeType="1"/>
            </p:cNvSpPr>
            <p:nvPr/>
          </p:nvSpPr>
          <p:spPr bwMode="auto">
            <a:xfrm flipH="1">
              <a:off x="3264" y="1334"/>
              <a:ext cx="240" cy="0"/>
            </a:xfrm>
            <a:prstGeom prst="line">
              <a:avLst/>
            </a:prstGeom>
            <a:noFill/>
            <a:ln w="38100">
              <a:solidFill>
                <a:schemeClr val="tx1"/>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3825" name="Group 89"/>
            <p:cNvGrpSpPr/>
            <p:nvPr/>
          </p:nvGrpSpPr>
          <p:grpSpPr bwMode="auto">
            <a:xfrm>
              <a:off x="3408" y="1238"/>
              <a:ext cx="720" cy="624"/>
              <a:chOff x="720" y="2928"/>
              <a:chExt cx="720" cy="624"/>
            </a:xfrm>
          </p:grpSpPr>
          <p:sp>
            <p:nvSpPr>
              <p:cNvPr id="73832" name="Rectangle 90"/>
              <p:cNvSpPr>
                <a:spLocks noChangeArrowheads="1"/>
              </p:cNvSpPr>
              <p:nvPr/>
            </p:nvSpPr>
            <p:spPr bwMode="auto">
              <a:xfrm>
                <a:off x="816" y="2928"/>
                <a:ext cx="480" cy="624"/>
              </a:xfrm>
              <a:prstGeom prst="rect">
                <a:avLst/>
              </a:pr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833" name="Text Box 91"/>
              <p:cNvSpPr txBox="1">
                <a:spLocks noChangeArrowheads="1"/>
              </p:cNvSpPr>
              <p:nvPr/>
            </p:nvSpPr>
            <p:spPr bwMode="auto">
              <a:xfrm>
                <a:off x="720" y="3120"/>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l">
                  <a:spcBef>
                    <a:spcPct val="50000"/>
                  </a:spcBef>
                  <a:buClrTx/>
                  <a:buFontTx/>
                  <a:buNone/>
                </a:pPr>
                <a:r>
                  <a:rPr lang="en-US" altLang="zh-CN" sz="2000" dirty="0">
                    <a:ea typeface="宋体" panose="02010600030101010101" pitchFamily="2" charset="-122"/>
                  </a:rPr>
                  <a:t> 1K×4</a:t>
                </a:r>
                <a:endParaRPr lang="en-US" altLang="zh-CN" sz="2000" dirty="0">
                  <a:ea typeface="宋体" panose="02010600030101010101" pitchFamily="2" charset="-122"/>
                </a:endParaRPr>
              </a:p>
            </p:txBody>
          </p:sp>
        </p:grpSp>
        <p:sp>
          <p:nvSpPr>
            <p:cNvPr id="73826" name="Text Box 92"/>
            <p:cNvSpPr txBox="1">
              <a:spLocks noChangeArrowheads="1"/>
            </p:cNvSpPr>
            <p:nvPr/>
          </p:nvSpPr>
          <p:spPr bwMode="auto">
            <a:xfrm>
              <a:off x="3960" y="1031"/>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4</a:t>
              </a:r>
              <a:endParaRPr lang="en-US" altLang="zh-CN" sz="2000" dirty="0">
                <a:ea typeface="宋体" panose="02010600030101010101" pitchFamily="2" charset="-122"/>
              </a:endParaRPr>
            </a:p>
          </p:txBody>
        </p:sp>
        <p:sp>
          <p:nvSpPr>
            <p:cNvPr id="73827" name="Line 93"/>
            <p:cNvSpPr>
              <a:spLocks noChangeShapeType="1"/>
            </p:cNvSpPr>
            <p:nvPr/>
          </p:nvSpPr>
          <p:spPr bwMode="auto">
            <a:xfrm flipH="1">
              <a:off x="4080" y="1094"/>
              <a:ext cx="96" cy="9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28" name="Line 94"/>
            <p:cNvSpPr>
              <a:spLocks noChangeShapeType="1"/>
            </p:cNvSpPr>
            <p:nvPr/>
          </p:nvSpPr>
          <p:spPr bwMode="auto">
            <a:xfrm flipH="1">
              <a:off x="4224" y="1718"/>
              <a:ext cx="96" cy="9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29" name="Line 95"/>
            <p:cNvSpPr>
              <a:spLocks noChangeShapeType="1"/>
            </p:cNvSpPr>
            <p:nvPr/>
          </p:nvSpPr>
          <p:spPr bwMode="auto">
            <a:xfrm flipH="1">
              <a:off x="3216" y="2870"/>
              <a:ext cx="96" cy="9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30" name="Text Box 96"/>
            <p:cNvSpPr txBox="1">
              <a:spLocks noChangeArrowheads="1"/>
            </p:cNvSpPr>
            <p:nvPr/>
          </p:nvSpPr>
          <p:spPr bwMode="auto">
            <a:xfrm>
              <a:off x="3312" y="2822"/>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10</a:t>
              </a:r>
              <a:endParaRPr lang="en-US" altLang="zh-CN" sz="2000">
                <a:ea typeface="宋体" panose="02010600030101010101" pitchFamily="2" charset="-122"/>
              </a:endParaRPr>
            </a:p>
          </p:txBody>
        </p:sp>
        <p:sp>
          <p:nvSpPr>
            <p:cNvPr id="73831" name="Text Box 97"/>
            <p:cNvSpPr txBox="1">
              <a:spLocks noChangeArrowheads="1"/>
            </p:cNvSpPr>
            <p:nvPr/>
          </p:nvSpPr>
          <p:spPr bwMode="auto">
            <a:xfrm>
              <a:off x="4104" y="1635"/>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4</a:t>
              </a:r>
              <a:endParaRPr lang="en-US" altLang="zh-CN" sz="2000" dirty="0">
                <a:ea typeface="宋体" panose="02010600030101010101" pitchFamily="2" charset="-122"/>
              </a:endParaRPr>
            </a:p>
          </p:txBody>
        </p:sp>
      </p:grpSp>
      <p:sp>
        <p:nvSpPr>
          <p:cNvPr id="73758" name="Text Box 98"/>
          <p:cNvSpPr txBox="1">
            <a:spLocks noChangeArrowheads="1"/>
          </p:cNvSpPr>
          <p:nvPr/>
        </p:nvSpPr>
        <p:spPr bwMode="auto">
          <a:xfrm>
            <a:off x="8572504" y="2775882"/>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4</a:t>
            </a:r>
            <a:endParaRPr lang="en-US" altLang="zh-CN" sz="2000" dirty="0">
              <a:ea typeface="宋体" panose="02010600030101010101" pitchFamily="2" charset="-122"/>
            </a:endParaRPr>
          </a:p>
        </p:txBody>
      </p:sp>
      <p:sp>
        <p:nvSpPr>
          <p:cNvPr id="73759" name="Text Box 99"/>
          <p:cNvSpPr txBox="1">
            <a:spLocks noChangeArrowheads="1"/>
          </p:cNvSpPr>
          <p:nvPr/>
        </p:nvSpPr>
        <p:spPr bwMode="auto">
          <a:xfrm>
            <a:off x="-206375" y="4600575"/>
            <a:ext cx="1295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A9~A0</a:t>
            </a:r>
            <a:endParaRPr lang="en-US" altLang="zh-CN" sz="2000" dirty="0">
              <a:ea typeface="宋体" panose="02010600030101010101" pitchFamily="2" charset="-122"/>
            </a:endParaRPr>
          </a:p>
        </p:txBody>
      </p:sp>
      <p:grpSp>
        <p:nvGrpSpPr>
          <p:cNvPr id="73760" name="Group 100"/>
          <p:cNvGrpSpPr/>
          <p:nvPr/>
        </p:nvGrpSpPr>
        <p:grpSpPr bwMode="auto">
          <a:xfrm>
            <a:off x="-47626" y="1095375"/>
            <a:ext cx="9191626" cy="746125"/>
            <a:chOff x="-30" y="604"/>
            <a:chExt cx="5790" cy="470"/>
          </a:xfrm>
        </p:grpSpPr>
        <p:sp>
          <p:nvSpPr>
            <p:cNvPr id="73806" name="Line 101"/>
            <p:cNvSpPr>
              <a:spLocks noChangeShapeType="1"/>
            </p:cNvSpPr>
            <p:nvPr/>
          </p:nvSpPr>
          <p:spPr bwMode="auto">
            <a:xfrm>
              <a:off x="624" y="806"/>
              <a:ext cx="5136"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07" name="Line 102"/>
            <p:cNvSpPr>
              <a:spLocks noChangeShapeType="1"/>
            </p:cNvSpPr>
            <p:nvPr/>
          </p:nvSpPr>
          <p:spPr bwMode="auto">
            <a:xfrm flipV="1">
              <a:off x="624" y="950"/>
              <a:ext cx="5136" cy="0"/>
            </a:xfrm>
            <a:prstGeom prst="line">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08" name="Text Box 103"/>
            <p:cNvSpPr txBox="1">
              <a:spLocks noChangeArrowheads="1"/>
            </p:cNvSpPr>
            <p:nvPr/>
          </p:nvSpPr>
          <p:spPr bwMode="auto">
            <a:xfrm>
              <a:off x="-19" y="647"/>
              <a:ext cx="8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D7~D4</a:t>
              </a:r>
              <a:endParaRPr lang="en-US" altLang="zh-CN" sz="2000" dirty="0">
                <a:ea typeface="宋体" panose="02010600030101010101" pitchFamily="2" charset="-122"/>
              </a:endParaRPr>
            </a:p>
          </p:txBody>
        </p:sp>
        <p:sp>
          <p:nvSpPr>
            <p:cNvPr id="73809" name="Text Box 104"/>
            <p:cNvSpPr txBox="1">
              <a:spLocks noChangeArrowheads="1"/>
            </p:cNvSpPr>
            <p:nvPr/>
          </p:nvSpPr>
          <p:spPr bwMode="auto">
            <a:xfrm>
              <a:off x="-30" y="824"/>
              <a:ext cx="8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D3~D0</a:t>
              </a:r>
              <a:endParaRPr lang="en-US" altLang="zh-CN" sz="2000" dirty="0">
                <a:ea typeface="宋体" panose="02010600030101010101" pitchFamily="2" charset="-122"/>
              </a:endParaRPr>
            </a:p>
          </p:txBody>
        </p:sp>
        <p:sp>
          <p:nvSpPr>
            <p:cNvPr id="73810" name="Text Box 105"/>
            <p:cNvSpPr txBox="1">
              <a:spLocks noChangeArrowheads="1"/>
            </p:cNvSpPr>
            <p:nvPr/>
          </p:nvSpPr>
          <p:spPr bwMode="auto">
            <a:xfrm>
              <a:off x="845" y="60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4</a:t>
              </a:r>
              <a:endParaRPr lang="en-US" altLang="zh-CN" sz="2000" dirty="0">
                <a:ea typeface="宋体" panose="02010600030101010101" pitchFamily="2" charset="-122"/>
              </a:endParaRPr>
            </a:p>
          </p:txBody>
        </p:sp>
        <p:sp>
          <p:nvSpPr>
            <p:cNvPr id="73811" name="Text Box 106"/>
            <p:cNvSpPr txBox="1">
              <a:spLocks noChangeArrowheads="1"/>
            </p:cNvSpPr>
            <p:nvPr/>
          </p:nvSpPr>
          <p:spPr bwMode="auto">
            <a:xfrm>
              <a:off x="792" y="748"/>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4</a:t>
              </a:r>
              <a:endParaRPr lang="en-US" altLang="zh-CN" sz="2000">
                <a:ea typeface="宋体" panose="02010600030101010101" pitchFamily="2" charset="-122"/>
              </a:endParaRPr>
            </a:p>
          </p:txBody>
        </p:sp>
        <p:sp>
          <p:nvSpPr>
            <p:cNvPr id="73812" name="Line 107"/>
            <p:cNvSpPr>
              <a:spLocks noChangeShapeType="1"/>
            </p:cNvSpPr>
            <p:nvPr/>
          </p:nvSpPr>
          <p:spPr bwMode="auto">
            <a:xfrm flipH="1">
              <a:off x="912" y="758"/>
              <a:ext cx="96" cy="9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13" name="Line 108"/>
            <p:cNvSpPr>
              <a:spLocks noChangeShapeType="1"/>
            </p:cNvSpPr>
            <p:nvPr/>
          </p:nvSpPr>
          <p:spPr bwMode="auto">
            <a:xfrm flipH="1">
              <a:off x="864" y="902"/>
              <a:ext cx="96" cy="9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3761" name="Group 109"/>
          <p:cNvGrpSpPr/>
          <p:nvPr/>
        </p:nvGrpSpPr>
        <p:grpSpPr bwMode="auto">
          <a:xfrm>
            <a:off x="0" y="4937125"/>
            <a:ext cx="9144000" cy="152400"/>
            <a:chOff x="0" y="3014"/>
            <a:chExt cx="5760" cy="96"/>
          </a:xfrm>
        </p:grpSpPr>
        <p:sp>
          <p:nvSpPr>
            <p:cNvPr id="73804" name="Line 110"/>
            <p:cNvSpPr>
              <a:spLocks noChangeShapeType="1"/>
            </p:cNvSpPr>
            <p:nvPr/>
          </p:nvSpPr>
          <p:spPr bwMode="auto">
            <a:xfrm>
              <a:off x="0" y="3062"/>
              <a:ext cx="5760" cy="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805" name="Line 111"/>
            <p:cNvSpPr>
              <a:spLocks noChangeShapeType="1"/>
            </p:cNvSpPr>
            <p:nvPr/>
          </p:nvSpPr>
          <p:spPr bwMode="auto">
            <a:xfrm flipH="1">
              <a:off x="192" y="3014"/>
              <a:ext cx="96" cy="96"/>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3762" name="Line 112"/>
          <p:cNvSpPr>
            <a:spLocks noChangeShapeType="1"/>
          </p:cNvSpPr>
          <p:nvPr/>
        </p:nvSpPr>
        <p:spPr bwMode="auto">
          <a:xfrm>
            <a:off x="533400" y="3321050"/>
            <a:ext cx="74676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73763" name="Group 113"/>
          <p:cNvGrpSpPr/>
          <p:nvPr/>
        </p:nvGrpSpPr>
        <p:grpSpPr bwMode="auto">
          <a:xfrm>
            <a:off x="0" y="3016250"/>
            <a:ext cx="990600" cy="396875"/>
            <a:chOff x="0" y="1814"/>
            <a:chExt cx="624" cy="250"/>
          </a:xfrm>
        </p:grpSpPr>
        <p:sp>
          <p:nvSpPr>
            <p:cNvPr id="73802" name="Text Box 114"/>
            <p:cNvSpPr txBox="1">
              <a:spLocks noChangeArrowheads="1"/>
            </p:cNvSpPr>
            <p:nvPr/>
          </p:nvSpPr>
          <p:spPr bwMode="auto">
            <a:xfrm>
              <a:off x="0" y="1814"/>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solidFill>
                    <a:srgbClr val="FF0000"/>
                  </a:solidFill>
                  <a:ea typeface="宋体" panose="02010600030101010101" pitchFamily="2" charset="-122"/>
                </a:rPr>
                <a:t>R/W</a:t>
              </a:r>
              <a:endParaRPr lang="en-US" altLang="zh-CN" sz="2000">
                <a:solidFill>
                  <a:srgbClr val="FF0000"/>
                </a:solidFill>
                <a:ea typeface="宋体" panose="02010600030101010101" pitchFamily="2" charset="-122"/>
              </a:endParaRPr>
            </a:p>
          </p:txBody>
        </p:sp>
        <p:sp>
          <p:nvSpPr>
            <p:cNvPr id="73803" name="Line 115"/>
            <p:cNvSpPr>
              <a:spLocks noChangeShapeType="1"/>
            </p:cNvSpPr>
            <p:nvPr/>
          </p:nvSpPr>
          <p:spPr bwMode="auto">
            <a:xfrm>
              <a:off x="192" y="1814"/>
              <a:ext cx="192" cy="0"/>
            </a:xfrm>
            <a:prstGeom prst="line">
              <a:avLst/>
            </a:prstGeom>
            <a:noFill/>
            <a:ln w="38100" cap="sq">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3764" name="Group 116"/>
          <p:cNvGrpSpPr/>
          <p:nvPr/>
        </p:nvGrpSpPr>
        <p:grpSpPr bwMode="auto">
          <a:xfrm>
            <a:off x="6248400" y="5089525"/>
            <a:ext cx="1828800" cy="1387475"/>
            <a:chOff x="3936" y="3120"/>
            <a:chExt cx="1152" cy="874"/>
          </a:xfrm>
        </p:grpSpPr>
        <p:sp>
          <p:nvSpPr>
            <p:cNvPr id="73794" name="Rectangle 117"/>
            <p:cNvSpPr>
              <a:spLocks noChangeArrowheads="1"/>
            </p:cNvSpPr>
            <p:nvPr/>
          </p:nvSpPr>
          <p:spPr bwMode="auto">
            <a:xfrm>
              <a:off x="4176" y="3350"/>
              <a:ext cx="528" cy="192"/>
            </a:xfrm>
            <a:prstGeom prst="rect">
              <a:avLst/>
            </a:pr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95" name="Oval 118"/>
            <p:cNvSpPr>
              <a:spLocks noChangeArrowheads="1"/>
            </p:cNvSpPr>
            <p:nvPr/>
          </p:nvSpPr>
          <p:spPr bwMode="auto">
            <a:xfrm flipH="1" flipV="1">
              <a:off x="4368" y="3254"/>
              <a:ext cx="96" cy="96"/>
            </a:xfrm>
            <a:prstGeom prst="ellipse">
              <a:avLst/>
            </a:pr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96" name="Line 119"/>
            <p:cNvSpPr>
              <a:spLocks noChangeShapeType="1"/>
            </p:cNvSpPr>
            <p:nvPr/>
          </p:nvSpPr>
          <p:spPr bwMode="auto">
            <a:xfrm>
              <a:off x="4320" y="3552"/>
              <a:ext cx="0" cy="192"/>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97" name="Line 120"/>
            <p:cNvSpPr>
              <a:spLocks noChangeShapeType="1"/>
            </p:cNvSpPr>
            <p:nvPr/>
          </p:nvSpPr>
          <p:spPr bwMode="auto">
            <a:xfrm>
              <a:off x="4560" y="3542"/>
              <a:ext cx="0" cy="192"/>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98" name="Text Box 121"/>
            <p:cNvSpPr txBox="1">
              <a:spLocks noChangeArrowheads="1"/>
            </p:cNvSpPr>
            <p:nvPr/>
          </p:nvSpPr>
          <p:spPr bwMode="auto">
            <a:xfrm>
              <a:off x="3984" y="3744"/>
              <a:ext cx="1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A11       A10</a:t>
              </a:r>
              <a:endParaRPr lang="en-US" altLang="zh-CN" sz="2000">
                <a:ea typeface="宋体" panose="02010600030101010101" pitchFamily="2" charset="-122"/>
              </a:endParaRPr>
            </a:p>
          </p:txBody>
        </p:sp>
        <p:grpSp>
          <p:nvGrpSpPr>
            <p:cNvPr id="73799" name="Group 122"/>
            <p:cNvGrpSpPr/>
            <p:nvPr/>
          </p:nvGrpSpPr>
          <p:grpSpPr bwMode="auto">
            <a:xfrm>
              <a:off x="3936" y="3120"/>
              <a:ext cx="480" cy="250"/>
              <a:chOff x="3696" y="3408"/>
              <a:chExt cx="480" cy="250"/>
            </a:xfrm>
          </p:grpSpPr>
          <p:sp>
            <p:nvSpPr>
              <p:cNvPr id="73800" name="Text Box 123"/>
              <p:cNvSpPr txBox="1">
                <a:spLocks noChangeArrowheads="1"/>
              </p:cNvSpPr>
              <p:nvPr/>
            </p:nvSpPr>
            <p:spPr bwMode="auto">
              <a:xfrm>
                <a:off x="3696" y="3408"/>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CS3</a:t>
                </a:r>
                <a:endParaRPr lang="en-US" altLang="zh-CN" sz="2000">
                  <a:ea typeface="宋体" panose="02010600030101010101" pitchFamily="2" charset="-122"/>
                </a:endParaRPr>
              </a:p>
            </p:txBody>
          </p:sp>
          <p:sp>
            <p:nvSpPr>
              <p:cNvPr id="73801" name="Line 124"/>
              <p:cNvSpPr>
                <a:spLocks noChangeShapeType="1"/>
              </p:cNvSpPr>
              <p:nvPr/>
            </p:nvSpPr>
            <p:spPr bwMode="auto">
              <a:xfrm>
                <a:off x="3792" y="3418"/>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73765" name="Group 125"/>
          <p:cNvGrpSpPr/>
          <p:nvPr/>
        </p:nvGrpSpPr>
        <p:grpSpPr bwMode="auto">
          <a:xfrm>
            <a:off x="38100" y="5089525"/>
            <a:ext cx="1790700" cy="1355725"/>
            <a:chOff x="24" y="3120"/>
            <a:chExt cx="1128" cy="854"/>
          </a:xfrm>
        </p:grpSpPr>
        <p:sp>
          <p:nvSpPr>
            <p:cNvPr id="73785" name="Rectangle 126"/>
            <p:cNvSpPr>
              <a:spLocks noChangeArrowheads="1"/>
            </p:cNvSpPr>
            <p:nvPr/>
          </p:nvSpPr>
          <p:spPr bwMode="auto">
            <a:xfrm>
              <a:off x="288" y="3350"/>
              <a:ext cx="528" cy="192"/>
            </a:xfrm>
            <a:prstGeom prst="rect">
              <a:avLst/>
            </a:pr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86" name="Oval 127"/>
            <p:cNvSpPr>
              <a:spLocks noChangeArrowheads="1"/>
            </p:cNvSpPr>
            <p:nvPr/>
          </p:nvSpPr>
          <p:spPr bwMode="auto">
            <a:xfrm flipH="1" flipV="1">
              <a:off x="480" y="3254"/>
              <a:ext cx="96" cy="96"/>
            </a:xfrm>
            <a:prstGeom prst="ellipse">
              <a:avLst/>
            </a:pr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87" name="Line 128"/>
            <p:cNvSpPr>
              <a:spLocks noChangeShapeType="1"/>
            </p:cNvSpPr>
            <p:nvPr/>
          </p:nvSpPr>
          <p:spPr bwMode="auto">
            <a:xfrm>
              <a:off x="384" y="3542"/>
              <a:ext cx="0" cy="192"/>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8" name="Line 129"/>
            <p:cNvSpPr>
              <a:spLocks noChangeShapeType="1"/>
            </p:cNvSpPr>
            <p:nvPr/>
          </p:nvSpPr>
          <p:spPr bwMode="auto">
            <a:xfrm>
              <a:off x="672" y="3542"/>
              <a:ext cx="0" cy="192"/>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9" name="Text Box 130"/>
            <p:cNvSpPr txBox="1">
              <a:spLocks noChangeArrowheads="1"/>
            </p:cNvSpPr>
            <p:nvPr/>
          </p:nvSpPr>
          <p:spPr bwMode="auto">
            <a:xfrm>
              <a:off x="48" y="3724"/>
              <a:ext cx="1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A11      A10</a:t>
              </a:r>
              <a:endParaRPr lang="en-US" altLang="zh-CN" sz="2000" dirty="0">
                <a:ea typeface="宋体" panose="02010600030101010101" pitchFamily="2" charset="-122"/>
              </a:endParaRPr>
            </a:p>
          </p:txBody>
        </p:sp>
        <p:sp>
          <p:nvSpPr>
            <p:cNvPr id="73790" name="Text Box 131"/>
            <p:cNvSpPr txBox="1">
              <a:spLocks noChangeArrowheads="1"/>
            </p:cNvSpPr>
            <p:nvPr/>
          </p:nvSpPr>
          <p:spPr bwMode="auto">
            <a:xfrm>
              <a:off x="24" y="3120"/>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dirty="0">
                  <a:ea typeface="宋体" panose="02010600030101010101" pitchFamily="2" charset="-122"/>
                </a:rPr>
                <a:t>CS0</a:t>
              </a:r>
              <a:endParaRPr lang="en-US" altLang="zh-CN" sz="2000" dirty="0">
                <a:ea typeface="宋体" panose="02010600030101010101" pitchFamily="2" charset="-122"/>
              </a:endParaRPr>
            </a:p>
          </p:txBody>
        </p:sp>
        <p:sp>
          <p:nvSpPr>
            <p:cNvPr id="73791" name="Line 132"/>
            <p:cNvSpPr>
              <a:spLocks noChangeShapeType="1"/>
            </p:cNvSpPr>
            <p:nvPr/>
          </p:nvSpPr>
          <p:spPr bwMode="auto">
            <a:xfrm>
              <a:off x="240" y="3130"/>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92" name="Line 133"/>
            <p:cNvSpPr>
              <a:spLocks noChangeShapeType="1"/>
            </p:cNvSpPr>
            <p:nvPr/>
          </p:nvSpPr>
          <p:spPr bwMode="auto">
            <a:xfrm>
              <a:off x="206" y="374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93" name="Line 134"/>
            <p:cNvSpPr>
              <a:spLocks noChangeShapeType="1"/>
            </p:cNvSpPr>
            <p:nvPr/>
          </p:nvSpPr>
          <p:spPr bwMode="auto">
            <a:xfrm>
              <a:off x="720" y="374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3766" name="Group 135"/>
          <p:cNvGrpSpPr/>
          <p:nvPr/>
        </p:nvGrpSpPr>
        <p:grpSpPr bwMode="auto">
          <a:xfrm>
            <a:off x="2133600" y="5089525"/>
            <a:ext cx="1752600" cy="1355725"/>
            <a:chOff x="1344" y="3120"/>
            <a:chExt cx="1104" cy="854"/>
          </a:xfrm>
        </p:grpSpPr>
        <p:sp>
          <p:nvSpPr>
            <p:cNvPr id="73777" name="Rectangle 136"/>
            <p:cNvSpPr>
              <a:spLocks noChangeArrowheads="1"/>
            </p:cNvSpPr>
            <p:nvPr/>
          </p:nvSpPr>
          <p:spPr bwMode="auto">
            <a:xfrm>
              <a:off x="1584" y="3350"/>
              <a:ext cx="528" cy="192"/>
            </a:xfrm>
            <a:prstGeom prst="rect">
              <a:avLst/>
            </a:pr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78" name="Oval 137"/>
            <p:cNvSpPr>
              <a:spLocks noChangeArrowheads="1"/>
            </p:cNvSpPr>
            <p:nvPr/>
          </p:nvSpPr>
          <p:spPr bwMode="auto">
            <a:xfrm flipH="1" flipV="1">
              <a:off x="1776" y="3254"/>
              <a:ext cx="96" cy="96"/>
            </a:xfrm>
            <a:prstGeom prst="ellipse">
              <a:avLst/>
            </a:pr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79" name="Line 138"/>
            <p:cNvSpPr>
              <a:spLocks noChangeShapeType="1"/>
            </p:cNvSpPr>
            <p:nvPr/>
          </p:nvSpPr>
          <p:spPr bwMode="auto">
            <a:xfrm>
              <a:off x="1680" y="3542"/>
              <a:ext cx="0" cy="192"/>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0" name="Line 139"/>
            <p:cNvSpPr>
              <a:spLocks noChangeShapeType="1"/>
            </p:cNvSpPr>
            <p:nvPr/>
          </p:nvSpPr>
          <p:spPr bwMode="auto">
            <a:xfrm>
              <a:off x="1968" y="3542"/>
              <a:ext cx="0" cy="192"/>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1" name="Text Box 140"/>
            <p:cNvSpPr txBox="1">
              <a:spLocks noChangeArrowheads="1"/>
            </p:cNvSpPr>
            <p:nvPr/>
          </p:nvSpPr>
          <p:spPr bwMode="auto">
            <a:xfrm>
              <a:off x="1344" y="3724"/>
              <a:ext cx="1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l" eaLnBrk="1" hangingPunct="1">
                <a:spcBef>
                  <a:spcPct val="50000"/>
                </a:spcBef>
                <a:buClrTx/>
                <a:buFontTx/>
                <a:buNone/>
              </a:pPr>
              <a:r>
                <a:rPr lang="en-US" altLang="zh-CN" sz="2000" dirty="0">
                  <a:ea typeface="宋体" panose="02010600030101010101" pitchFamily="2" charset="-122"/>
                </a:rPr>
                <a:t> A11      A10</a:t>
              </a:r>
              <a:endParaRPr lang="en-US" altLang="zh-CN" sz="2000" dirty="0">
                <a:ea typeface="宋体" panose="02010600030101010101" pitchFamily="2" charset="-122"/>
              </a:endParaRPr>
            </a:p>
          </p:txBody>
        </p:sp>
        <p:sp>
          <p:nvSpPr>
            <p:cNvPr id="73782" name="Text Box 141"/>
            <p:cNvSpPr txBox="1">
              <a:spLocks noChangeArrowheads="1"/>
            </p:cNvSpPr>
            <p:nvPr/>
          </p:nvSpPr>
          <p:spPr bwMode="auto">
            <a:xfrm>
              <a:off x="1344" y="3120"/>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CS1</a:t>
              </a:r>
              <a:endParaRPr lang="en-US" altLang="zh-CN" sz="2000">
                <a:ea typeface="宋体" panose="02010600030101010101" pitchFamily="2" charset="-122"/>
              </a:endParaRPr>
            </a:p>
          </p:txBody>
        </p:sp>
        <p:sp>
          <p:nvSpPr>
            <p:cNvPr id="73783" name="Line 142"/>
            <p:cNvSpPr>
              <a:spLocks noChangeShapeType="1"/>
            </p:cNvSpPr>
            <p:nvPr/>
          </p:nvSpPr>
          <p:spPr bwMode="auto">
            <a:xfrm>
              <a:off x="1536" y="3130"/>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84" name="Line 143"/>
            <p:cNvSpPr>
              <a:spLocks noChangeShapeType="1"/>
            </p:cNvSpPr>
            <p:nvPr/>
          </p:nvSpPr>
          <p:spPr bwMode="auto">
            <a:xfrm>
              <a:off x="1464" y="374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3767" name="Group 144"/>
          <p:cNvGrpSpPr/>
          <p:nvPr/>
        </p:nvGrpSpPr>
        <p:grpSpPr bwMode="auto">
          <a:xfrm>
            <a:off x="4191000" y="5089525"/>
            <a:ext cx="1752600" cy="1355725"/>
            <a:chOff x="2640" y="3120"/>
            <a:chExt cx="1104" cy="854"/>
          </a:xfrm>
        </p:grpSpPr>
        <p:sp>
          <p:nvSpPr>
            <p:cNvPr id="73769" name="Rectangle 145"/>
            <p:cNvSpPr>
              <a:spLocks noChangeArrowheads="1"/>
            </p:cNvSpPr>
            <p:nvPr/>
          </p:nvSpPr>
          <p:spPr bwMode="auto">
            <a:xfrm>
              <a:off x="2880" y="3350"/>
              <a:ext cx="528" cy="192"/>
            </a:xfrm>
            <a:prstGeom prst="rect">
              <a:avLst/>
            </a:prstGeom>
            <a:noFill/>
            <a:ln w="381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70" name="Oval 146"/>
            <p:cNvSpPr>
              <a:spLocks noChangeArrowheads="1"/>
            </p:cNvSpPr>
            <p:nvPr/>
          </p:nvSpPr>
          <p:spPr bwMode="auto">
            <a:xfrm flipH="1" flipV="1">
              <a:off x="3072" y="3254"/>
              <a:ext cx="96" cy="96"/>
            </a:xfrm>
            <a:prstGeom prst="ellipse">
              <a:avLst/>
            </a:prstGeom>
            <a:noFill/>
            <a:ln w="381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73771" name="Line 147"/>
            <p:cNvSpPr>
              <a:spLocks noChangeShapeType="1"/>
            </p:cNvSpPr>
            <p:nvPr/>
          </p:nvSpPr>
          <p:spPr bwMode="auto">
            <a:xfrm>
              <a:off x="2976" y="3542"/>
              <a:ext cx="0" cy="192"/>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2" name="Line 148"/>
            <p:cNvSpPr>
              <a:spLocks noChangeShapeType="1"/>
            </p:cNvSpPr>
            <p:nvPr/>
          </p:nvSpPr>
          <p:spPr bwMode="auto">
            <a:xfrm>
              <a:off x="3264" y="3542"/>
              <a:ext cx="0" cy="192"/>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3" name="Text Box 149"/>
            <p:cNvSpPr txBox="1">
              <a:spLocks noChangeArrowheads="1"/>
            </p:cNvSpPr>
            <p:nvPr/>
          </p:nvSpPr>
          <p:spPr bwMode="auto">
            <a:xfrm>
              <a:off x="2640" y="3724"/>
              <a:ext cx="1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algn="l" eaLnBrk="1" hangingPunct="1">
                <a:spcBef>
                  <a:spcPct val="50000"/>
                </a:spcBef>
                <a:buClrTx/>
                <a:buFontTx/>
                <a:buNone/>
              </a:pPr>
              <a:r>
                <a:rPr lang="en-US" altLang="zh-CN" sz="2000" dirty="0">
                  <a:ea typeface="宋体" panose="02010600030101010101" pitchFamily="2" charset="-122"/>
                </a:rPr>
                <a:t>  A11     A10</a:t>
              </a:r>
              <a:endParaRPr lang="en-US" altLang="zh-CN" sz="2000" dirty="0">
                <a:ea typeface="宋体" panose="02010600030101010101" pitchFamily="2" charset="-122"/>
              </a:endParaRPr>
            </a:p>
          </p:txBody>
        </p:sp>
        <p:sp>
          <p:nvSpPr>
            <p:cNvPr id="73774" name="Text Box 150"/>
            <p:cNvSpPr txBox="1">
              <a:spLocks noChangeArrowheads="1"/>
            </p:cNvSpPr>
            <p:nvPr/>
          </p:nvSpPr>
          <p:spPr bwMode="auto">
            <a:xfrm>
              <a:off x="2640" y="3120"/>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CC3300"/>
                </a:buClr>
                <a:buFont typeface="Wingdings 2" pitchFamily="18" charset="2"/>
                <a:buChar char="¡"/>
                <a:defRPr kumimoji="1" sz="3200" b="1">
                  <a:solidFill>
                    <a:schemeClr val="tx1"/>
                  </a:solidFill>
                  <a:latin typeface="Times New Roman" panose="02020603050405020304" pitchFamily="18" charset="0"/>
                  <a:ea typeface="楷体_GB2312" pitchFamily="49" charset="-122"/>
                </a:defRPr>
              </a:lvl1pPr>
              <a:lvl2pPr marL="742950" indent="-285750">
                <a:spcBef>
                  <a:spcPct val="20000"/>
                </a:spcBef>
                <a:buClr>
                  <a:srgbClr val="339933"/>
                </a:buClr>
                <a:buSzPct val="80000"/>
                <a:buFont typeface="Wingdings" panose="05000000000000000000" pitchFamily="2" charset="2"/>
                <a:buChar char="u"/>
                <a:defRPr kumimoji="1" sz="2800" b="1">
                  <a:solidFill>
                    <a:schemeClr val="tx1"/>
                  </a:solidFill>
                  <a:latin typeface="Times New Roman" panose="02020603050405020304" pitchFamily="18" charset="0"/>
                  <a:ea typeface="华文新魏" pitchFamily="2" charset="-122"/>
                </a:defRPr>
              </a:lvl2pPr>
              <a:lvl3pPr marL="1143000" indent="-228600">
                <a:spcBef>
                  <a:spcPct val="20000"/>
                </a:spcBef>
                <a:buClr>
                  <a:srgbClr val="800080"/>
                </a:buClr>
                <a:buSzPct val="90000"/>
                <a:buFont typeface="Wingdings" panose="05000000000000000000" pitchFamily="2" charset="2"/>
                <a:buChar char="v"/>
                <a:defRPr kumimoji="1" sz="2400" b="1">
                  <a:solidFill>
                    <a:schemeClr val="tx1"/>
                  </a:solidFill>
                  <a:latin typeface="Times New Roman" panose="02020603050405020304" pitchFamily="18" charset="0"/>
                  <a:ea typeface="华文中宋" panose="02010600040101010101" pitchFamily="2" charset="-122"/>
                </a:defRPr>
              </a:lvl3pPr>
              <a:lvl4pPr marL="1600200" indent="-228600">
                <a:spcBef>
                  <a:spcPct val="20000"/>
                </a:spcBef>
                <a:buSzPct val="90000"/>
                <a:buFont typeface="Wingdings 2" pitchFamily="18" charset="2"/>
                <a:buChar char="°"/>
                <a:defRPr kumimoji="1" sz="2000" b="1">
                  <a:solidFill>
                    <a:schemeClr val="tx1"/>
                  </a:solidFill>
                  <a:latin typeface="Times New Roman" panose="02020603050405020304" pitchFamily="18" charset="0"/>
                  <a:ea typeface="隶书" pitchFamily="49" charset="-122"/>
                </a:defRPr>
              </a:lvl4pPr>
              <a:lvl5pPr marL="2057400" indent="-228600">
                <a:spcBef>
                  <a:spcPct val="20000"/>
                </a:spcBef>
                <a:buChar char="»"/>
                <a:defRPr kumimoji="1" sz="2000" b="1">
                  <a:solidFill>
                    <a:schemeClr val="tx1"/>
                  </a:solidFill>
                  <a:latin typeface="Times New Roman" panose="02020603050405020304" pitchFamily="18" charset="0"/>
                  <a:ea typeface="隶书" pitchFamily="49" charset="-122"/>
                </a:defRPr>
              </a:lvl5pPr>
              <a:lvl6pPr marL="25146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6pPr>
              <a:lvl7pPr marL="29718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7pPr>
              <a:lvl8pPr marL="34290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8pPr>
              <a:lvl9pPr marL="3886200" indent="-228600" eaLnBrk="0" fontAlgn="base" hangingPunct="0">
                <a:spcBef>
                  <a:spcPct val="20000"/>
                </a:spcBef>
                <a:spcAft>
                  <a:spcPct val="0"/>
                </a:spcAft>
                <a:buChar char="»"/>
                <a:defRPr kumimoji="1" sz="2000" b="1">
                  <a:solidFill>
                    <a:schemeClr val="tx1"/>
                  </a:solidFill>
                  <a:latin typeface="Times New Roman" panose="02020603050405020304" pitchFamily="18" charset="0"/>
                  <a:ea typeface="隶书" pitchFamily="49" charset="-122"/>
                </a:defRPr>
              </a:lvl9pPr>
            </a:lstStyle>
            <a:p>
              <a:pPr eaLnBrk="1" hangingPunct="1">
                <a:spcBef>
                  <a:spcPct val="50000"/>
                </a:spcBef>
                <a:buClrTx/>
                <a:buFontTx/>
                <a:buNone/>
              </a:pPr>
              <a:r>
                <a:rPr lang="en-US" altLang="zh-CN" sz="2000">
                  <a:ea typeface="宋体" panose="02010600030101010101" pitchFamily="2" charset="-122"/>
                </a:rPr>
                <a:t>CS2</a:t>
              </a:r>
              <a:endParaRPr lang="en-US" altLang="zh-CN" sz="2000">
                <a:ea typeface="宋体" panose="02010600030101010101" pitchFamily="2" charset="-122"/>
              </a:endParaRPr>
            </a:p>
          </p:txBody>
        </p:sp>
        <p:sp>
          <p:nvSpPr>
            <p:cNvPr id="73775" name="Line 151"/>
            <p:cNvSpPr>
              <a:spLocks noChangeShapeType="1"/>
            </p:cNvSpPr>
            <p:nvPr/>
          </p:nvSpPr>
          <p:spPr bwMode="auto">
            <a:xfrm>
              <a:off x="2832" y="3130"/>
              <a:ext cx="192"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776" name="Line 152"/>
            <p:cNvSpPr>
              <a:spLocks noChangeShapeType="1"/>
            </p:cNvSpPr>
            <p:nvPr/>
          </p:nvSpPr>
          <p:spPr bwMode="auto">
            <a:xfrm>
              <a:off x="3312" y="3744"/>
              <a:ext cx="144" cy="0"/>
            </a:xfrm>
            <a:prstGeom prst="line">
              <a:avLst/>
            </a:prstGeom>
            <a:noFill/>
            <a:ln w="28575"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3801" name="Rectangle 153"/>
          <p:cNvSpPr>
            <a:spLocks noChangeArrowheads="1"/>
          </p:cNvSpPr>
          <p:nvPr/>
        </p:nvSpPr>
        <p:spPr bwMode="auto">
          <a:xfrm>
            <a:off x="4495800" y="1050925"/>
            <a:ext cx="4329113" cy="365125"/>
          </a:xfrm>
          <a:prstGeom prst="rect">
            <a:avLst/>
          </a:prstGeom>
          <a:noFill/>
          <a:ln w="9525">
            <a:noFill/>
            <a:miter lim="800000"/>
          </a:ln>
        </p:spPr>
        <p:txBody>
          <a:bodyPr lIns="0" tIns="0" rIns="0" bIns="0">
            <a:spAutoFit/>
          </a:bodyPr>
          <a:lstStyle/>
          <a:p>
            <a:pPr algn="ctr" eaLnBrk="1" hangingPunct="1">
              <a:defRPr/>
            </a:pPr>
            <a:r>
              <a:rPr lang="en-US" altLang="zh-CN" sz="2400">
                <a:solidFill>
                  <a:schemeClr val="tx2"/>
                </a:solidFill>
                <a:ea typeface="方正准圆简体" pitchFamily="2" charset="-122"/>
              </a:rPr>
              <a:t>1K×4bit </a:t>
            </a:r>
            <a:r>
              <a:rPr lang="en-US" altLang="zh-CN" sz="2400">
                <a:solidFill>
                  <a:schemeClr val="tx2"/>
                </a:solidFill>
                <a:ea typeface="方正准圆简体" pitchFamily="2" charset="-122"/>
                <a:sym typeface="Wingdings 3" panose="05040102010807070707" pitchFamily="18" charset="2"/>
              </a:rPr>
              <a:t></a:t>
            </a:r>
            <a:r>
              <a:rPr lang="en-US" altLang="zh-CN" sz="2400">
                <a:solidFill>
                  <a:schemeClr val="tx2"/>
                </a:solidFill>
                <a:ea typeface="方正准圆简体" pitchFamily="2" charset="-122"/>
              </a:rPr>
              <a:t>4K×8bit</a:t>
            </a:r>
            <a:endParaRPr lang="en-US" altLang="zh-CN" sz="2800" u="sng" baseline="-250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ea typeface="方正准圆简体" pitchFamily="2" charset="-122"/>
            </a:endParaRPr>
          </a:p>
        </p:txBody>
      </p:sp>
    </p:spTree>
  </p:cSld>
  <p:clrMapOvr>
    <a:masterClrMapping/>
  </p:clrMapOvr>
  <p:transition spd="med">
    <p:pull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3"/>
          <p:cNvSpPr>
            <a:spLocks noGrp="1"/>
          </p:cNvSpPr>
          <p:nvPr>
            <p:ph idx="1"/>
          </p:nvPr>
        </p:nvSpPr>
        <p:spPr>
          <a:xfrm>
            <a:off x="250825" y="1052513"/>
            <a:ext cx="8713788" cy="2376487"/>
          </a:xfrm>
        </p:spPr>
        <p:txBody>
          <a:bodyPr vert="horz" wrap="square" lIns="91440" tIns="45720" rIns="91440" bIns="45720" anchor="t" anchorCtr="0"/>
          <a:p>
            <a:pPr>
              <a:lnSpc>
                <a:spcPct val="90000"/>
              </a:lnSpc>
            </a:pPr>
            <a:r>
              <a:rPr lang="en-US" altLang="zh-CN" sz="2400" dirty="0"/>
              <a:t>3.</a:t>
            </a:r>
            <a:r>
              <a:rPr lang="en-US" altLang="zh-CN" sz="2400" dirty="0">
                <a:solidFill>
                  <a:srgbClr val="FF0000"/>
                </a:solidFill>
              </a:rPr>
              <a:t> </a:t>
            </a:r>
            <a:endParaRPr lang="en-US" altLang="zh-CN" sz="2400" dirty="0">
              <a:solidFill>
                <a:srgbClr val="FF0000"/>
              </a:solidFill>
            </a:endParaRPr>
          </a:p>
          <a:p>
            <a:pPr>
              <a:lnSpc>
                <a:spcPct val="90000"/>
              </a:lnSpc>
            </a:pPr>
            <a:r>
              <a:rPr lang="zh-CN" altLang="en-US" sz="2400" dirty="0"/>
              <a:t>某计算机主存容量为</a:t>
            </a:r>
            <a:r>
              <a:rPr lang="en-US" altLang="zh-CN" sz="2400" dirty="0"/>
              <a:t>64KB,</a:t>
            </a:r>
            <a:r>
              <a:rPr lang="zh-CN" altLang="en-US" sz="2400" dirty="0"/>
              <a:t>其中</a:t>
            </a:r>
            <a:r>
              <a:rPr lang="en-US" altLang="zh-CN" sz="2400" dirty="0"/>
              <a:t>ROM</a:t>
            </a:r>
            <a:r>
              <a:rPr lang="zh-CN" altLang="en-US" sz="2400" dirty="0"/>
              <a:t>区为</a:t>
            </a:r>
            <a:r>
              <a:rPr lang="en-US" altLang="zh-CN" sz="2400" dirty="0"/>
              <a:t>4KB,</a:t>
            </a:r>
            <a:r>
              <a:rPr lang="zh-CN" altLang="en-US" sz="2400" dirty="0"/>
              <a:t>其余为</a:t>
            </a:r>
            <a:r>
              <a:rPr lang="en-US" altLang="zh-CN" sz="2400" dirty="0"/>
              <a:t>RAM</a:t>
            </a:r>
            <a:r>
              <a:rPr lang="zh-CN" altLang="en-US" sz="2400" dirty="0"/>
              <a:t>区</a:t>
            </a:r>
            <a:r>
              <a:rPr lang="en-US" altLang="zh-CN" sz="2400" dirty="0"/>
              <a:t>,</a:t>
            </a:r>
            <a:r>
              <a:rPr lang="zh-CN" altLang="en-US" sz="2400" dirty="0"/>
              <a:t>按字节编址</a:t>
            </a:r>
            <a:r>
              <a:rPr lang="en-US" altLang="zh-CN" sz="2400" dirty="0"/>
              <a:t>.</a:t>
            </a:r>
            <a:r>
              <a:rPr lang="zh-CN" altLang="en-US" sz="2400" dirty="0"/>
              <a:t>现要用</a:t>
            </a:r>
            <a:r>
              <a:rPr lang="en-US" altLang="zh-CN" sz="2400" dirty="0"/>
              <a:t>2KX8</a:t>
            </a:r>
            <a:r>
              <a:rPr lang="zh-CN" altLang="en-US" sz="2400" dirty="0"/>
              <a:t>位的</a:t>
            </a:r>
            <a:r>
              <a:rPr lang="en-US" altLang="zh-CN" sz="2400" dirty="0"/>
              <a:t>ROM</a:t>
            </a:r>
            <a:r>
              <a:rPr lang="zh-CN" altLang="en-US" sz="2400" dirty="0"/>
              <a:t>和</a:t>
            </a:r>
            <a:r>
              <a:rPr lang="en-US" altLang="zh-CN" sz="2400" dirty="0"/>
              <a:t>4KX4</a:t>
            </a:r>
            <a:r>
              <a:rPr lang="zh-CN" altLang="en-US" sz="2400" dirty="0"/>
              <a:t>位的</a:t>
            </a:r>
            <a:r>
              <a:rPr lang="en-US" altLang="zh-CN" sz="2400" dirty="0"/>
              <a:t>RAM</a:t>
            </a:r>
            <a:r>
              <a:rPr lang="zh-CN" altLang="en-US" sz="2400" dirty="0"/>
              <a:t>芯片来设计该存储器</a:t>
            </a:r>
            <a:r>
              <a:rPr lang="en-US" altLang="zh-CN" sz="2400" dirty="0"/>
              <a:t>,</a:t>
            </a:r>
            <a:r>
              <a:rPr lang="zh-CN" altLang="en-US" sz="2400" dirty="0"/>
              <a:t>则需要上述规格的</a:t>
            </a:r>
            <a:r>
              <a:rPr lang="en-US" altLang="zh-CN" sz="2400" dirty="0"/>
              <a:t>ROM</a:t>
            </a:r>
            <a:r>
              <a:rPr lang="zh-CN" altLang="en-US" sz="2400" dirty="0"/>
              <a:t>芯片数和</a:t>
            </a:r>
            <a:r>
              <a:rPr lang="en-US" altLang="zh-CN" sz="2400" dirty="0"/>
              <a:t>RAM</a:t>
            </a:r>
            <a:r>
              <a:rPr lang="zh-CN" altLang="en-US" sz="2400" dirty="0"/>
              <a:t>芯片数分别是</a:t>
            </a:r>
            <a:r>
              <a:rPr lang="en-US" altLang="zh-CN" sz="2400" dirty="0"/>
              <a:t>().</a:t>
            </a:r>
            <a:endParaRPr lang="en-US" altLang="zh-CN" sz="2400" dirty="0"/>
          </a:p>
          <a:p>
            <a:pPr>
              <a:lnSpc>
                <a:spcPct val="90000"/>
              </a:lnSpc>
            </a:pPr>
            <a:r>
              <a:rPr lang="en-US" altLang="zh-CN" sz="2400" dirty="0"/>
              <a:t>A. 1,15           B. 2,15          C.1,30           D.2,30</a:t>
            </a:r>
            <a:endParaRPr lang="en-US" altLang="zh-CN" sz="2400" dirty="0"/>
          </a:p>
          <a:p>
            <a:pPr>
              <a:lnSpc>
                <a:spcPct val="90000"/>
              </a:lnSpc>
            </a:pPr>
            <a:endParaRPr lang="en-US" altLang="zh-CN" sz="2400" dirty="0"/>
          </a:p>
          <a:p>
            <a:pPr>
              <a:lnSpc>
                <a:spcPct val="90000"/>
              </a:lnSpc>
            </a:pPr>
            <a:r>
              <a:rPr lang="en-US" altLang="zh-CN" sz="2400" dirty="0"/>
              <a:t>4. </a:t>
            </a:r>
            <a:endParaRPr lang="en-US" altLang="zh-CN" sz="2400" dirty="0"/>
          </a:p>
          <a:p>
            <a:pPr>
              <a:lnSpc>
                <a:spcPct val="90000"/>
              </a:lnSpc>
            </a:pPr>
            <a:r>
              <a:rPr lang="zh-CN" altLang="en-US" sz="2400" dirty="0"/>
              <a:t>假定用若干个</a:t>
            </a:r>
            <a:r>
              <a:rPr lang="en-US" altLang="zh-CN" sz="2400" dirty="0"/>
              <a:t>2KX4</a:t>
            </a:r>
            <a:r>
              <a:rPr lang="zh-CN" altLang="en-US" sz="2400" dirty="0"/>
              <a:t>位的芯片组成一个</a:t>
            </a:r>
            <a:r>
              <a:rPr lang="en-US" altLang="zh-CN" sz="2400" dirty="0"/>
              <a:t>8K X8</a:t>
            </a:r>
            <a:r>
              <a:rPr lang="zh-CN" altLang="en-US" sz="2400" dirty="0"/>
              <a:t>位的存储器</a:t>
            </a:r>
            <a:r>
              <a:rPr lang="en-US" altLang="zh-CN" sz="2400" dirty="0"/>
              <a:t>,</a:t>
            </a:r>
            <a:r>
              <a:rPr lang="zh-CN" altLang="en-US" sz="2400" dirty="0"/>
              <a:t>则地址</a:t>
            </a:r>
            <a:r>
              <a:rPr lang="en-US" altLang="zh-CN" sz="2400" dirty="0"/>
              <a:t>0B1FH</a:t>
            </a:r>
            <a:r>
              <a:rPr lang="zh-CN" altLang="en-US" sz="2400" dirty="0"/>
              <a:t>所在芯片的最小地址是</a:t>
            </a:r>
            <a:r>
              <a:rPr lang="en-US" altLang="zh-CN" sz="2400" dirty="0"/>
              <a:t>().</a:t>
            </a:r>
            <a:endParaRPr lang="en-US" altLang="zh-CN" sz="2400" dirty="0"/>
          </a:p>
          <a:p>
            <a:pPr>
              <a:lnSpc>
                <a:spcPct val="90000"/>
              </a:lnSpc>
            </a:pPr>
            <a:r>
              <a:rPr lang="en-US" altLang="zh-CN" sz="2400" dirty="0"/>
              <a:t>A. 0000H      B.0600H      C. 0700H    D.0800H</a:t>
            </a:r>
            <a:endParaRPr lang="en-US" altLang="zh-CN" sz="2400" dirty="0"/>
          </a:p>
          <a:p>
            <a:pPr>
              <a:lnSpc>
                <a:spcPct val="90000"/>
              </a:lnSpc>
            </a:pPr>
            <a:endParaRPr lang="en-US" altLang="zh-CN" sz="2400" dirty="0"/>
          </a:p>
          <a:p>
            <a:pPr>
              <a:lnSpc>
                <a:spcPct val="90000"/>
              </a:lnSpc>
            </a:pPr>
            <a:endParaRPr lang="en-US" altLang="zh-CN" sz="2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3"/>
          <p:cNvSpPr>
            <a:spLocks noGrp="1"/>
          </p:cNvSpPr>
          <p:nvPr>
            <p:ph idx="1"/>
          </p:nvPr>
        </p:nvSpPr>
        <p:spPr>
          <a:xfrm>
            <a:off x="250825" y="1052513"/>
            <a:ext cx="8713788" cy="2376487"/>
          </a:xfrm>
        </p:spPr>
        <p:txBody>
          <a:bodyPr vert="horz" wrap="square" lIns="91440" tIns="45720" rIns="91440" bIns="45720" anchor="t" anchorCtr="0"/>
          <a:p>
            <a:pPr>
              <a:lnSpc>
                <a:spcPct val="90000"/>
              </a:lnSpc>
            </a:pPr>
            <a:r>
              <a:rPr lang="en-US" altLang="zh-CN" sz="2400" dirty="0"/>
              <a:t>3.</a:t>
            </a:r>
            <a:r>
              <a:rPr lang="en-US" altLang="zh-CN" sz="2400" dirty="0">
                <a:solidFill>
                  <a:srgbClr val="FF0000"/>
                </a:solidFill>
              </a:rPr>
              <a:t> </a:t>
            </a:r>
            <a:r>
              <a:rPr lang="zh-CN" altLang="en-US" sz="2400" dirty="0"/>
              <a:t>某计算机按字节编址</a:t>
            </a:r>
            <a:r>
              <a:rPr lang="en-US" altLang="zh-CN" sz="2400" dirty="0"/>
              <a:t>,</a:t>
            </a:r>
            <a:r>
              <a:rPr lang="zh-CN" altLang="en-US" sz="2400" dirty="0"/>
              <a:t>主存地址空间大小为</a:t>
            </a:r>
            <a:r>
              <a:rPr lang="en-US" altLang="zh-CN" sz="2400" dirty="0"/>
              <a:t>64MB,</a:t>
            </a:r>
            <a:r>
              <a:rPr lang="zh-CN" altLang="en-US" sz="2400" dirty="0"/>
              <a:t>现用</a:t>
            </a:r>
            <a:r>
              <a:rPr lang="en-US" altLang="zh-CN" sz="2400" dirty="0"/>
              <a:t>4MX8</a:t>
            </a:r>
            <a:r>
              <a:rPr lang="zh-CN" altLang="en-US" sz="2400" dirty="0"/>
              <a:t>位的</a:t>
            </a:r>
            <a:r>
              <a:rPr lang="en-US" altLang="zh-CN" sz="2400" dirty="0"/>
              <a:t>RAM</a:t>
            </a:r>
            <a:r>
              <a:rPr lang="zh-CN" altLang="en-US" sz="2400" dirty="0"/>
              <a:t>芯片组成</a:t>
            </a:r>
            <a:r>
              <a:rPr lang="en-US" altLang="zh-CN" sz="2400" dirty="0"/>
              <a:t>32MB</a:t>
            </a:r>
            <a:r>
              <a:rPr lang="zh-CN" altLang="en-US" sz="2400" dirty="0"/>
              <a:t>的主存储器</a:t>
            </a:r>
            <a:r>
              <a:rPr lang="en-US" altLang="zh-CN" sz="2400" dirty="0"/>
              <a:t>,</a:t>
            </a:r>
            <a:r>
              <a:rPr lang="zh-CN" altLang="en-US" sz="2400" dirty="0"/>
              <a:t>则存储器地址寄存器</a:t>
            </a:r>
            <a:r>
              <a:rPr lang="en-US" altLang="zh-CN" sz="2400" dirty="0"/>
              <a:t>MAR</a:t>
            </a:r>
            <a:r>
              <a:rPr lang="zh-CN" altLang="en-US" sz="2400" dirty="0"/>
              <a:t>的位数至少是</a:t>
            </a:r>
            <a:r>
              <a:rPr lang="en-US" altLang="zh-CN" sz="2400" dirty="0"/>
              <a:t>().</a:t>
            </a:r>
            <a:endParaRPr lang="en-US" altLang="zh-CN" sz="2400" dirty="0"/>
          </a:p>
          <a:p>
            <a:pPr>
              <a:lnSpc>
                <a:spcPct val="90000"/>
              </a:lnSpc>
            </a:pPr>
            <a:r>
              <a:rPr lang="en-US" altLang="zh-CN" sz="2400" dirty="0"/>
              <a:t>A. 22           B. 23          C.25         D.26</a:t>
            </a:r>
            <a:endParaRPr lang="en-US" altLang="zh-CN" sz="2400" dirty="0"/>
          </a:p>
          <a:p>
            <a:pPr>
              <a:lnSpc>
                <a:spcPct val="90000"/>
              </a:lnSpc>
            </a:pPr>
            <a:endParaRPr lang="en-US" altLang="zh-CN" sz="2400" dirty="0"/>
          </a:p>
          <a:p>
            <a:pPr>
              <a:lnSpc>
                <a:spcPct val="90000"/>
              </a:lnSpc>
            </a:pPr>
            <a:endParaRPr lang="en-US" altLang="zh-CN" sz="2400" dirty="0"/>
          </a:p>
          <a:p>
            <a:pPr>
              <a:lnSpc>
                <a:spcPct val="90000"/>
              </a:lnSpc>
            </a:pPr>
            <a:endParaRPr lang="en-US" altLang="zh-CN" sz="2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幻灯片编号占位符 4"/>
          <p:cNvSpPr txBox="1">
            <a:spLocks noGrp="1"/>
          </p:cNvSpPr>
          <p:nvPr>
            <p:ph type="sldNum" sz="quarter"/>
          </p:nvPr>
        </p:nvSpPr>
        <p:spPr>
          <a:xfrm>
            <a:off x="6553200" y="6183313"/>
            <a:ext cx="2133600" cy="288925"/>
          </a:xfrm>
          <a:prstGeom prst="rect">
            <a:avLst/>
          </a:prstGeom>
          <a:noFill/>
          <a:ln w="9525">
            <a:noFill/>
          </a:ln>
        </p:spPr>
        <p:txBody>
          <a:bodyPr/>
          <a:p>
            <a:pPr marL="0" indent="0" eaLnBrk="1" hangingPunct="1">
              <a:spcBef>
                <a:spcPct val="0"/>
              </a:spcBef>
              <a:buClrTx/>
              <a:buSzTx/>
              <a:buFontTx/>
              <a:buNone/>
            </a:pPr>
            <a:fld id="{9A0DB2DC-4C9A-4742-B13C-FB6460FD3503}" type="slidenum">
              <a:rPr lang="en-US" altLang="zh-CN" sz="1800" dirty="0"/>
            </a:fld>
            <a:endParaRPr lang="en-US" altLang="zh-CN" sz="1800" dirty="0"/>
          </a:p>
        </p:txBody>
      </p:sp>
      <p:sp>
        <p:nvSpPr>
          <p:cNvPr id="54275" name="Rectangle 2"/>
          <p:cNvSpPr>
            <a:spLocks noGrp="1"/>
          </p:cNvSpPr>
          <p:nvPr>
            <p:ph type="title"/>
          </p:nvPr>
        </p:nvSpPr>
        <p:spPr>
          <a:xfrm>
            <a:off x="457200" y="-100012"/>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54276" name="Rectangle 3"/>
          <p:cNvSpPr>
            <a:spLocks noGrp="1"/>
          </p:cNvSpPr>
          <p:nvPr>
            <p:ph idx="1"/>
          </p:nvPr>
        </p:nvSpPr>
        <p:spPr>
          <a:xfrm>
            <a:off x="468313" y="855663"/>
            <a:ext cx="8229600" cy="4176712"/>
          </a:xfrm>
        </p:spPr>
        <p:txBody>
          <a:bodyPr vert="horz" wrap="square" lIns="91440" tIns="45720" rIns="91440" bIns="45720" anchor="t" anchorCtr="0"/>
          <a:p>
            <a:pPr>
              <a:lnSpc>
                <a:spcPct val="90000"/>
              </a:lnSpc>
              <a:buNone/>
            </a:pPr>
            <a:r>
              <a:rPr lang="en-US" altLang="zh-CN" sz="2600" dirty="0"/>
              <a:t>3</a:t>
            </a:r>
            <a:r>
              <a:rPr lang="zh-CN" altLang="en-US" sz="2600" dirty="0"/>
              <a:t>、存储器模块条</a:t>
            </a:r>
            <a:r>
              <a:rPr lang="en-US" altLang="zh-CN" sz="2600" dirty="0"/>
              <a:t> </a:t>
            </a:r>
            <a:endParaRPr lang="en-US" altLang="zh-CN" sz="2600" dirty="0"/>
          </a:p>
          <a:p>
            <a:pPr>
              <a:lnSpc>
                <a:spcPct val="90000"/>
              </a:lnSpc>
            </a:pPr>
            <a:r>
              <a:rPr lang="zh-CN" altLang="en-US" sz="2600" dirty="0"/>
              <a:t>存储器通常以插槽用模块条形式供应市场。这种模块条常称为内存条，它们是在一个条状形的小印制电路板上，用一定数量的存储器芯片，组成一个存储容量固定的存储模块。如图所示。</a:t>
            </a:r>
            <a:endParaRPr lang="en-US" altLang="zh-CN" sz="2600" dirty="0"/>
          </a:p>
          <a:p>
            <a:pPr>
              <a:lnSpc>
                <a:spcPct val="90000"/>
              </a:lnSpc>
            </a:pPr>
            <a:r>
              <a:rPr lang="zh-CN" altLang="en-US" sz="2600" dirty="0"/>
              <a:t>内存条有</a:t>
            </a:r>
            <a:r>
              <a:rPr lang="en-US" altLang="zh-CN" sz="2600" dirty="0"/>
              <a:t>30</a:t>
            </a:r>
            <a:r>
              <a:rPr lang="zh-CN" altLang="en-US" sz="2600" dirty="0"/>
              <a:t>脚、</a:t>
            </a:r>
            <a:r>
              <a:rPr lang="en-US" altLang="zh-CN" sz="2600" dirty="0"/>
              <a:t>72</a:t>
            </a:r>
            <a:r>
              <a:rPr lang="zh-CN" altLang="en-US" sz="2600" dirty="0"/>
              <a:t>脚、</a:t>
            </a:r>
            <a:r>
              <a:rPr lang="en-US" altLang="zh-CN" sz="2600" dirty="0"/>
              <a:t>100</a:t>
            </a:r>
            <a:r>
              <a:rPr lang="zh-CN" altLang="en-US" sz="2600" dirty="0"/>
              <a:t>脚、</a:t>
            </a:r>
            <a:r>
              <a:rPr lang="en-US" altLang="zh-CN" sz="2600" dirty="0"/>
              <a:t>144</a:t>
            </a:r>
            <a:r>
              <a:rPr lang="zh-CN" altLang="en-US" sz="2600" dirty="0"/>
              <a:t>脚、</a:t>
            </a:r>
            <a:r>
              <a:rPr lang="en-US" altLang="zh-CN" sz="2600" dirty="0"/>
              <a:t>168</a:t>
            </a:r>
            <a:r>
              <a:rPr lang="zh-CN" altLang="en-US" sz="2600" dirty="0"/>
              <a:t>脚等多种形式。</a:t>
            </a:r>
            <a:endParaRPr lang="en-US" altLang="zh-CN" sz="2600" dirty="0"/>
          </a:p>
          <a:p>
            <a:pPr lvl="1">
              <a:lnSpc>
                <a:spcPct val="90000"/>
              </a:lnSpc>
            </a:pPr>
            <a:r>
              <a:rPr lang="en-US" altLang="zh-CN" sz="2000" dirty="0">
                <a:solidFill>
                  <a:srgbClr val="0000FF"/>
                </a:solidFill>
              </a:rPr>
              <a:t>30</a:t>
            </a:r>
            <a:r>
              <a:rPr lang="zh-CN" altLang="en-US" sz="2000" dirty="0">
                <a:solidFill>
                  <a:srgbClr val="0000FF"/>
                </a:solidFill>
              </a:rPr>
              <a:t>脚内存条设计成</a:t>
            </a:r>
            <a:r>
              <a:rPr lang="en-US" altLang="zh-CN" sz="2000" dirty="0">
                <a:solidFill>
                  <a:srgbClr val="0000FF"/>
                </a:solidFill>
              </a:rPr>
              <a:t>8</a:t>
            </a:r>
            <a:r>
              <a:rPr lang="zh-CN" altLang="en-US" sz="2000" dirty="0">
                <a:solidFill>
                  <a:srgbClr val="0000FF"/>
                </a:solidFill>
              </a:rPr>
              <a:t>位数据线，存储容量从</a:t>
            </a:r>
            <a:r>
              <a:rPr lang="en-US" altLang="zh-CN" sz="2000" dirty="0">
                <a:solidFill>
                  <a:srgbClr val="0000FF"/>
                </a:solidFill>
              </a:rPr>
              <a:t>256KB</a:t>
            </a:r>
            <a:r>
              <a:rPr lang="zh-CN" altLang="en-US" sz="2000" dirty="0">
                <a:solidFill>
                  <a:srgbClr val="0000FF"/>
                </a:solidFill>
              </a:rPr>
              <a:t>～</a:t>
            </a:r>
            <a:r>
              <a:rPr lang="en-US" altLang="zh-CN" sz="2000" dirty="0">
                <a:solidFill>
                  <a:srgbClr val="0000FF"/>
                </a:solidFill>
              </a:rPr>
              <a:t>32MB</a:t>
            </a:r>
            <a:r>
              <a:rPr lang="zh-CN" altLang="en-US" sz="2000" dirty="0">
                <a:solidFill>
                  <a:srgbClr val="0000FF"/>
                </a:solidFill>
              </a:rPr>
              <a:t>。</a:t>
            </a:r>
            <a:endParaRPr lang="en-US" altLang="zh-CN" sz="2000" dirty="0">
              <a:solidFill>
                <a:srgbClr val="0000FF"/>
              </a:solidFill>
            </a:endParaRPr>
          </a:p>
          <a:p>
            <a:pPr lvl="1">
              <a:lnSpc>
                <a:spcPct val="90000"/>
              </a:lnSpc>
            </a:pPr>
            <a:r>
              <a:rPr lang="en-US" altLang="zh-CN" sz="2000" dirty="0">
                <a:solidFill>
                  <a:srgbClr val="FF3300"/>
                </a:solidFill>
              </a:rPr>
              <a:t>72</a:t>
            </a:r>
            <a:r>
              <a:rPr lang="zh-CN" altLang="en-US" sz="2000" dirty="0">
                <a:solidFill>
                  <a:srgbClr val="FF3300"/>
                </a:solidFill>
              </a:rPr>
              <a:t>脚内存条设计成</a:t>
            </a:r>
            <a:r>
              <a:rPr lang="en-US" altLang="zh-CN" sz="2000" dirty="0">
                <a:solidFill>
                  <a:srgbClr val="FF3300"/>
                </a:solidFill>
              </a:rPr>
              <a:t>32</a:t>
            </a:r>
            <a:r>
              <a:rPr lang="zh-CN" altLang="en-US" sz="2000" dirty="0">
                <a:solidFill>
                  <a:srgbClr val="FF3300"/>
                </a:solidFill>
              </a:rPr>
              <a:t>位数据总线</a:t>
            </a:r>
            <a:endParaRPr lang="en-US" altLang="zh-CN" sz="2000" dirty="0">
              <a:solidFill>
                <a:srgbClr val="FF3300"/>
              </a:solidFill>
            </a:endParaRPr>
          </a:p>
          <a:p>
            <a:pPr lvl="1">
              <a:lnSpc>
                <a:spcPct val="90000"/>
              </a:lnSpc>
            </a:pPr>
            <a:r>
              <a:rPr lang="en-US" altLang="zh-CN" sz="2000" dirty="0">
                <a:solidFill>
                  <a:srgbClr val="0000FF"/>
                </a:solidFill>
              </a:rPr>
              <a:t>100</a:t>
            </a:r>
            <a:r>
              <a:rPr lang="zh-CN" altLang="en-US" sz="2000" dirty="0">
                <a:solidFill>
                  <a:srgbClr val="0000FF"/>
                </a:solidFill>
              </a:rPr>
              <a:t>脚以上内存条既用于</a:t>
            </a:r>
            <a:r>
              <a:rPr lang="en-US" altLang="zh-CN" sz="2000" dirty="0">
                <a:solidFill>
                  <a:srgbClr val="0000FF"/>
                </a:solidFill>
              </a:rPr>
              <a:t>32</a:t>
            </a:r>
            <a:r>
              <a:rPr lang="zh-CN" altLang="en-US" sz="2000" dirty="0">
                <a:solidFill>
                  <a:srgbClr val="0000FF"/>
                </a:solidFill>
              </a:rPr>
              <a:t>位数据总线又用于</a:t>
            </a:r>
            <a:r>
              <a:rPr lang="en-US" altLang="zh-CN" sz="2000" dirty="0">
                <a:solidFill>
                  <a:srgbClr val="0000FF"/>
                </a:solidFill>
              </a:rPr>
              <a:t>64</a:t>
            </a:r>
            <a:r>
              <a:rPr lang="zh-CN" altLang="en-US" sz="2000" dirty="0">
                <a:solidFill>
                  <a:srgbClr val="0000FF"/>
                </a:solidFill>
              </a:rPr>
              <a:t>位数据总线，存储容量从</a:t>
            </a:r>
            <a:r>
              <a:rPr lang="en-US" altLang="zh-CN" sz="2000" dirty="0">
                <a:solidFill>
                  <a:srgbClr val="0000FF"/>
                </a:solidFill>
              </a:rPr>
              <a:t>4MB</a:t>
            </a:r>
            <a:r>
              <a:rPr lang="zh-CN" altLang="en-US" sz="2000" dirty="0">
                <a:solidFill>
                  <a:srgbClr val="0000FF"/>
                </a:solidFill>
              </a:rPr>
              <a:t>～</a:t>
            </a:r>
            <a:r>
              <a:rPr lang="en-US" altLang="zh-CN" sz="2000" dirty="0">
                <a:solidFill>
                  <a:srgbClr val="0000FF"/>
                </a:solidFill>
              </a:rPr>
              <a:t>512MB</a:t>
            </a:r>
            <a:r>
              <a:rPr lang="zh-CN" altLang="en-US" sz="2000" dirty="0">
                <a:solidFill>
                  <a:srgbClr val="0000FF"/>
                </a:solidFill>
              </a:rPr>
              <a:t>。</a:t>
            </a:r>
            <a:r>
              <a:rPr lang="en-US" altLang="zh-CN" sz="2200" dirty="0"/>
              <a:t> </a:t>
            </a:r>
            <a:endParaRPr lang="en-US" altLang="zh-CN" sz="2200" dirty="0"/>
          </a:p>
        </p:txBody>
      </p:sp>
      <p:pic>
        <p:nvPicPr>
          <p:cNvPr id="54277" name="Picture 6" descr="3a11"/>
          <p:cNvPicPr>
            <a:picLocks noChangeAspect="1"/>
          </p:cNvPicPr>
          <p:nvPr/>
        </p:nvPicPr>
        <p:blipFill>
          <a:blip r:embed="rId1"/>
          <a:stretch>
            <a:fillRect/>
          </a:stretch>
        </p:blipFill>
        <p:spPr>
          <a:xfrm>
            <a:off x="2266950" y="4887913"/>
            <a:ext cx="6121400" cy="1574800"/>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p:cNvSpPr>
          <p:nvPr>
            <p:ph type="title"/>
          </p:nvPr>
        </p:nvSpPr>
        <p:spPr>
          <a:xfrm>
            <a:off x="457200" y="-26987"/>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55299" name="Rectangle 3"/>
          <p:cNvSpPr>
            <a:spLocks noGrp="1"/>
          </p:cNvSpPr>
          <p:nvPr>
            <p:ph idx="1"/>
          </p:nvPr>
        </p:nvSpPr>
        <p:spPr>
          <a:xfrm>
            <a:off x="457200" y="981075"/>
            <a:ext cx="8229600" cy="5545138"/>
          </a:xfrm>
        </p:spPr>
        <p:txBody>
          <a:bodyPr vert="horz" wrap="square" lIns="91440" tIns="45720" rIns="91440" bIns="45720" anchor="t" anchorCtr="0"/>
          <a:p>
            <a:pPr>
              <a:buNone/>
            </a:pPr>
            <a:r>
              <a:rPr lang="en-US" altLang="zh-CN" sz="2600" dirty="0"/>
              <a:t>3.3.5 </a:t>
            </a:r>
            <a:r>
              <a:rPr lang="zh-CN" altLang="en-US" sz="2600" dirty="0"/>
              <a:t>高级的</a:t>
            </a:r>
            <a:r>
              <a:rPr lang="en-US" altLang="zh-CN" sz="2600" dirty="0"/>
              <a:t>DRAM</a:t>
            </a:r>
            <a:r>
              <a:rPr lang="zh-CN" altLang="en-US" sz="2600" dirty="0"/>
              <a:t>结构</a:t>
            </a:r>
            <a:r>
              <a:rPr lang="en-US" altLang="zh-CN" sz="2600" dirty="0"/>
              <a:t> </a:t>
            </a:r>
            <a:endParaRPr lang="en-US" altLang="zh-CN" sz="2600" dirty="0"/>
          </a:p>
          <a:p>
            <a:r>
              <a:rPr lang="en-US" altLang="zh-CN" sz="2800" b="1" dirty="0">
                <a:solidFill>
                  <a:srgbClr val="FF3300"/>
                </a:solidFill>
              </a:rPr>
              <a:t>FPM DRAM</a:t>
            </a:r>
            <a:r>
              <a:rPr lang="zh-CN" altLang="en-US" sz="2800" dirty="0"/>
              <a:t>：</a:t>
            </a:r>
            <a:r>
              <a:rPr lang="zh-CN" altLang="en-US" sz="2800" dirty="0">
                <a:solidFill>
                  <a:srgbClr val="0000FF"/>
                </a:solidFill>
              </a:rPr>
              <a:t>快速页模式动态存储器</a:t>
            </a:r>
            <a:r>
              <a:rPr lang="zh-CN" altLang="en-US" sz="2800" dirty="0"/>
              <a:t>，它是根据程序的局部性原理来实现的。</a:t>
            </a:r>
            <a:endParaRPr lang="en-US" altLang="zh-CN" sz="2800" dirty="0"/>
          </a:p>
          <a:p>
            <a:r>
              <a:rPr lang="zh-CN" altLang="en-US" sz="2800" dirty="0"/>
              <a:t>程序的局部性原理：</a:t>
            </a:r>
            <a:r>
              <a:rPr lang="zh-CN" altLang="en-US" sz="2400" dirty="0">
                <a:solidFill>
                  <a:srgbClr val="FF0000"/>
                </a:solidFill>
              </a:rPr>
              <a:t>是指程序在执行时呈现出局部性规律，即在一段时间内，整个程序的执行仅限于程序中的某一部分。相应地，执行所访问的存储空间也局限于某个内存区域。</a:t>
            </a:r>
            <a:endParaRPr lang="en-US" altLang="zh-CN" sz="2400" dirty="0">
              <a:solidFill>
                <a:srgbClr val="FF0000"/>
              </a:solidFill>
            </a:endParaRPr>
          </a:p>
          <a:p>
            <a:r>
              <a:rPr lang="zh-CN" altLang="en-US" sz="2400" dirty="0">
                <a:solidFill>
                  <a:srgbClr val="FF0000"/>
                </a:solidFill>
              </a:rPr>
              <a:t>局部性原理又表现为：时间局部性和空间局部性。</a:t>
            </a:r>
            <a:endParaRPr lang="en-US" altLang="zh-CN" sz="2400" dirty="0">
              <a:solidFill>
                <a:srgbClr val="FF0000"/>
              </a:solidFill>
            </a:endParaRPr>
          </a:p>
          <a:p>
            <a:r>
              <a:rPr lang="zh-CN" altLang="en-US" sz="2400" dirty="0">
                <a:solidFill>
                  <a:srgbClr val="FF0000"/>
                </a:solidFill>
              </a:rPr>
              <a:t>时间局部性</a:t>
            </a:r>
            <a:r>
              <a:rPr lang="en-US" altLang="zh-CN" sz="2400" dirty="0">
                <a:solidFill>
                  <a:srgbClr val="FF0000"/>
                </a:solidFill>
              </a:rPr>
              <a:t>:</a:t>
            </a:r>
            <a:r>
              <a:rPr lang="zh-CN" altLang="en-US" sz="2400" dirty="0">
                <a:solidFill>
                  <a:srgbClr val="0D0D0D"/>
                </a:solidFill>
              </a:rPr>
              <a:t>是指如果程序中的某条指令一旦执行，则不久之后该指令可能再次被执行；如果某数据被访问，则不久之后该数据可能再次被访问。</a:t>
            </a:r>
            <a:endParaRPr lang="en-US" altLang="zh-CN" sz="2400" dirty="0">
              <a:solidFill>
                <a:srgbClr val="0D0D0D"/>
              </a:solidFill>
            </a:endParaRPr>
          </a:p>
          <a:p>
            <a:r>
              <a:rPr lang="zh-CN" altLang="en-US" sz="2400" dirty="0">
                <a:solidFill>
                  <a:srgbClr val="FF0000"/>
                </a:solidFill>
              </a:rPr>
              <a:t>空间局部性</a:t>
            </a:r>
            <a:r>
              <a:rPr lang="en-US" altLang="zh-CN" sz="2400" dirty="0">
                <a:solidFill>
                  <a:srgbClr val="FF0000"/>
                </a:solidFill>
              </a:rPr>
              <a:t>:</a:t>
            </a:r>
            <a:r>
              <a:rPr lang="zh-CN" altLang="en-US" sz="2400" dirty="0">
                <a:solidFill>
                  <a:srgbClr val="0D0D0D"/>
                </a:solidFill>
              </a:rPr>
              <a:t>是指一旦程序访问了某个存储单元，则不久之后。其附近的存储单元也将被访问</a:t>
            </a:r>
            <a:r>
              <a:rPr lang="zh-CN" altLang="en-US" sz="2400" dirty="0">
                <a:solidFill>
                  <a:srgbClr val="FF0000"/>
                </a:solidFill>
              </a:rPr>
              <a:t>。</a:t>
            </a:r>
            <a:endParaRPr lang="zh-CN" altLang="en-US" sz="2400" dirty="0">
              <a:solidFill>
                <a:srgbClr val="FF0000"/>
              </a:solidFill>
            </a:endParaRPr>
          </a:p>
          <a:p>
            <a:endParaRPr lang="en-US" altLang="zh-CN"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type="title"/>
          </p:nvPr>
        </p:nvSpPr>
        <p:spPr>
          <a:xfrm>
            <a:off x="457200" y="-26987"/>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28675" name="Rectangle 3"/>
          <p:cNvSpPr>
            <a:spLocks noGrp="1"/>
          </p:cNvSpPr>
          <p:nvPr>
            <p:ph idx="1"/>
          </p:nvPr>
        </p:nvSpPr>
        <p:spPr>
          <a:xfrm>
            <a:off x="457200" y="981075"/>
            <a:ext cx="8229600" cy="5545138"/>
          </a:xfrm>
        </p:spPr>
        <p:txBody>
          <a:bodyPr vert="horz" wrap="square" lIns="91440" tIns="45720" rIns="91440" bIns="45720" anchor="t" anchorCtr="0"/>
          <a:p>
            <a:pPr>
              <a:buNone/>
            </a:pPr>
            <a:r>
              <a:rPr lang="en-US" altLang="zh-CN" sz="2600" dirty="0"/>
              <a:t>3.3.5 </a:t>
            </a:r>
            <a:r>
              <a:rPr lang="zh-CN" altLang="en-US" sz="2600" dirty="0"/>
              <a:t>高级的</a:t>
            </a:r>
            <a:r>
              <a:rPr lang="en-US" altLang="zh-CN" sz="2600" dirty="0"/>
              <a:t>DRAM</a:t>
            </a:r>
            <a:r>
              <a:rPr lang="zh-CN" altLang="en-US" sz="2600" dirty="0"/>
              <a:t>结构</a:t>
            </a:r>
            <a:r>
              <a:rPr lang="en-US" altLang="zh-CN" sz="2600" dirty="0"/>
              <a:t> </a:t>
            </a:r>
            <a:endParaRPr lang="en-US" altLang="zh-CN" sz="2800" dirty="0"/>
          </a:p>
          <a:p>
            <a:r>
              <a:rPr lang="zh-CN" altLang="en-US" sz="2800" b="1" dirty="0">
                <a:solidFill>
                  <a:srgbClr val="FF3300"/>
                </a:solidFill>
              </a:rPr>
              <a:t>页：</a:t>
            </a:r>
            <a:r>
              <a:rPr lang="zh-CN" altLang="en-US" sz="2800" dirty="0"/>
              <a:t>指一个唯一的行地址和该行中所有的列地址确定的若干存储单元的组合。</a:t>
            </a:r>
            <a:endParaRPr lang="en-US" altLang="zh-CN" sz="2800" dirty="0"/>
          </a:p>
          <a:p>
            <a:r>
              <a:rPr lang="en-US" altLang="zh-CN" sz="2800" dirty="0"/>
              <a:t>DRAM</a:t>
            </a:r>
            <a:r>
              <a:rPr lang="zh-CN" altLang="en-US" sz="2800" dirty="0"/>
              <a:t>的读周期和写周期中，为了寻找一个确定的存储单元地址，首先由低电平的行选通信号</a:t>
            </a:r>
            <a:r>
              <a:rPr lang="en-US" altLang="zh-CN" sz="2800" dirty="0">
                <a:solidFill>
                  <a:srgbClr val="0000FF"/>
                </a:solidFill>
              </a:rPr>
              <a:t>RAS</a:t>
            </a:r>
            <a:r>
              <a:rPr lang="zh-CN" altLang="en-US" sz="2800" dirty="0"/>
              <a:t>确定行地址，然后由低电平的列选信号</a:t>
            </a:r>
            <a:r>
              <a:rPr lang="en-US" altLang="zh-CN" sz="2800" dirty="0">
                <a:solidFill>
                  <a:srgbClr val="FF3300"/>
                </a:solidFill>
              </a:rPr>
              <a:t>CAS</a:t>
            </a:r>
            <a:r>
              <a:rPr lang="zh-CN" altLang="en-US" sz="2800" dirty="0"/>
              <a:t>确定列地址。下一次寻找操作，也是由</a:t>
            </a:r>
            <a:r>
              <a:rPr lang="en-US" altLang="zh-CN" sz="2800" dirty="0"/>
              <a:t>RAS</a:t>
            </a:r>
            <a:r>
              <a:rPr lang="zh-CN" altLang="en-US" sz="2800" dirty="0"/>
              <a:t>选定行地址，</a:t>
            </a:r>
            <a:r>
              <a:rPr lang="en-US" altLang="zh-CN" sz="2800" dirty="0"/>
              <a:t>CAS</a:t>
            </a:r>
            <a:r>
              <a:rPr lang="zh-CN" altLang="en-US" sz="2800" dirty="0"/>
              <a:t>选定列地址，依此类推。</a:t>
            </a:r>
            <a:endParaRPr lang="en-US" altLang="zh-CN" sz="2800" dirty="0"/>
          </a:p>
          <a:p>
            <a:r>
              <a:rPr lang="en-US" altLang="zh-CN" sz="2800" dirty="0">
                <a:solidFill>
                  <a:srgbClr val="FF3300"/>
                </a:solidFill>
              </a:rPr>
              <a:t> FPM DRAM</a:t>
            </a:r>
            <a:r>
              <a:rPr lang="zh-CN" altLang="en-US" sz="2800" dirty="0">
                <a:solidFill>
                  <a:srgbClr val="FF3300"/>
                </a:solidFill>
              </a:rPr>
              <a:t>则改变了这种寻址方式。允许在选定的行中对每一个列地址进行连续快速的读</a:t>
            </a:r>
            <a:r>
              <a:rPr lang="en-US" altLang="zh-CN" sz="2800" dirty="0">
                <a:solidFill>
                  <a:srgbClr val="FF3300"/>
                </a:solidFill>
              </a:rPr>
              <a:t>/</a:t>
            </a:r>
            <a:r>
              <a:rPr lang="zh-CN" altLang="en-US" sz="2800" dirty="0">
                <a:solidFill>
                  <a:srgbClr val="FF3300"/>
                </a:solidFill>
              </a:rPr>
              <a:t>写。</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charRg st="17" end="5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675">
                                            <p:txEl>
                                              <p:charRg st="52" end="15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28675">
                                            <p:txEl>
                                              <p:charRg st="158" end="205"/>
                                            </p:txEl>
                                          </p:spTgt>
                                        </p:tgtEl>
                                        <p:attrNameLst>
                                          <p:attrName>style.visibility</p:attrName>
                                        </p:attrNameLst>
                                      </p:cBhvr>
                                      <p:to>
                                        <p:strVal val="visible"/>
                                      </p:to>
                                    </p:set>
                                    <p:anim calcmode="lin" valueType="num">
                                      <p:cBhvr additive="base">
                                        <p:cTn id="15" dur="500" fill="hold"/>
                                        <p:tgtEl>
                                          <p:spTgt spid="28675">
                                            <p:txEl>
                                              <p:charRg st="158" end="20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8675">
                                            <p:txEl>
                                              <p:charRg st="158" end="20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p:cNvSpPr>
          <p:nvPr>
            <p:ph type="title"/>
          </p:nvPr>
        </p:nvSpPr>
        <p:spPr>
          <a:xfrm>
            <a:off x="457200" y="-171450"/>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57347" name="Rectangle 3"/>
          <p:cNvSpPr>
            <a:spLocks noGrp="1"/>
          </p:cNvSpPr>
          <p:nvPr>
            <p:ph idx="1"/>
          </p:nvPr>
        </p:nvSpPr>
        <p:spPr>
          <a:xfrm>
            <a:off x="457200" y="692150"/>
            <a:ext cx="8229600" cy="2232025"/>
          </a:xfrm>
        </p:spPr>
        <p:txBody>
          <a:bodyPr vert="horz" wrap="square" lIns="91440" tIns="45720" rIns="91440" bIns="45720" anchor="t" anchorCtr="0"/>
          <a:p>
            <a:pPr>
              <a:buNone/>
            </a:pPr>
            <a:r>
              <a:rPr lang="en-US" altLang="zh-CN" sz="2600" dirty="0"/>
              <a:t>3.3.5 </a:t>
            </a:r>
            <a:r>
              <a:rPr lang="zh-CN" altLang="en-US" sz="2600" dirty="0"/>
              <a:t>高级的</a:t>
            </a:r>
            <a:r>
              <a:rPr lang="en-US" altLang="zh-CN" sz="2600" dirty="0"/>
              <a:t>DRAM</a:t>
            </a:r>
            <a:r>
              <a:rPr lang="zh-CN" altLang="en-US" sz="2600" dirty="0"/>
              <a:t>结构</a:t>
            </a:r>
            <a:r>
              <a:rPr lang="en-US" altLang="zh-CN" sz="2600" dirty="0"/>
              <a:t> </a:t>
            </a:r>
            <a:endParaRPr lang="en-US" altLang="zh-CN" sz="2600" dirty="0"/>
          </a:p>
          <a:p>
            <a:r>
              <a:rPr lang="zh-CN" altLang="en-US" sz="2200" dirty="0"/>
              <a:t>如图所示：当</a:t>
            </a:r>
            <a:r>
              <a:rPr lang="en-US" altLang="zh-CN" sz="2200" dirty="0"/>
              <a:t>RAS</a:t>
            </a:r>
            <a:r>
              <a:rPr lang="zh-CN" altLang="en-US" sz="2200" dirty="0"/>
              <a:t>信号有效时，行地址被选定并一直保持着。</a:t>
            </a:r>
            <a:endParaRPr lang="en-US" altLang="zh-CN" sz="2200" dirty="0"/>
          </a:p>
          <a:p>
            <a:r>
              <a:rPr lang="zh-CN" altLang="en-US" sz="2200" dirty="0"/>
              <a:t>而</a:t>
            </a:r>
            <a:r>
              <a:rPr lang="en-US" altLang="zh-CN" sz="2200" dirty="0"/>
              <a:t>CAS</a:t>
            </a:r>
            <a:r>
              <a:rPr lang="zh-CN" altLang="en-US" sz="2200" dirty="0"/>
              <a:t>信号则在高低电平之间变换。只有每一个连续的</a:t>
            </a:r>
            <a:r>
              <a:rPr lang="en-US" altLang="zh-CN" sz="2200" dirty="0"/>
              <a:t>CAS</a:t>
            </a:r>
            <a:r>
              <a:rPr lang="zh-CN" altLang="en-US" sz="2200" dirty="0"/>
              <a:t>信号有效时，才选择该行中的另外一个列地址。</a:t>
            </a:r>
            <a:endParaRPr lang="en-US" altLang="zh-CN" sz="2200" dirty="0"/>
          </a:p>
          <a:p>
            <a:r>
              <a:rPr lang="zh-CN" altLang="en-US" sz="2200" dirty="0"/>
              <a:t>因此，经过一个快速页周期后，该页中所有存储单元都随着</a:t>
            </a:r>
            <a:r>
              <a:rPr lang="en-US" altLang="zh-CN" sz="2200" dirty="0"/>
              <a:t>R/W</a:t>
            </a:r>
            <a:r>
              <a:rPr lang="zh-CN" altLang="en-US" sz="2200" dirty="0"/>
              <a:t>的控制信号的变化进行了读或者写操作。</a:t>
            </a:r>
            <a:endParaRPr lang="zh-CN" altLang="en-US" sz="2600" dirty="0"/>
          </a:p>
        </p:txBody>
      </p:sp>
      <p:grpSp>
        <p:nvGrpSpPr>
          <p:cNvPr id="57348" name="Group 10"/>
          <p:cNvGrpSpPr/>
          <p:nvPr/>
        </p:nvGrpSpPr>
        <p:grpSpPr>
          <a:xfrm>
            <a:off x="973138" y="2997200"/>
            <a:ext cx="5689600" cy="3500438"/>
            <a:chOff x="613" y="2115"/>
            <a:chExt cx="3584" cy="2205"/>
          </a:xfrm>
        </p:grpSpPr>
        <p:pic>
          <p:nvPicPr>
            <p:cNvPr id="57354" name="Picture 4"/>
            <p:cNvPicPr>
              <a:picLocks noChangeAspect="1"/>
            </p:cNvPicPr>
            <p:nvPr/>
          </p:nvPicPr>
          <p:blipFill>
            <a:blip r:embed="rId1"/>
            <a:stretch>
              <a:fillRect/>
            </a:stretch>
          </p:blipFill>
          <p:spPr>
            <a:xfrm>
              <a:off x="613" y="2115"/>
              <a:ext cx="3584" cy="2011"/>
            </a:xfrm>
            <a:prstGeom prst="rect">
              <a:avLst/>
            </a:prstGeom>
            <a:noFill/>
            <a:ln w="9525">
              <a:noFill/>
            </a:ln>
          </p:spPr>
        </p:pic>
        <p:pic>
          <p:nvPicPr>
            <p:cNvPr id="57355" name="Picture 5"/>
            <p:cNvPicPr>
              <a:picLocks noChangeAspect="1"/>
            </p:cNvPicPr>
            <p:nvPr/>
          </p:nvPicPr>
          <p:blipFill>
            <a:blip r:embed="rId2"/>
            <a:stretch>
              <a:fillRect/>
            </a:stretch>
          </p:blipFill>
          <p:spPr>
            <a:xfrm>
              <a:off x="1248" y="4146"/>
              <a:ext cx="2550" cy="174"/>
            </a:xfrm>
            <a:prstGeom prst="rect">
              <a:avLst/>
            </a:prstGeom>
            <a:noFill/>
            <a:ln w="9525">
              <a:noFill/>
            </a:ln>
          </p:spPr>
        </p:pic>
      </p:grpSp>
      <p:grpSp>
        <p:nvGrpSpPr>
          <p:cNvPr id="3" name="Group 11"/>
          <p:cNvGrpSpPr/>
          <p:nvPr/>
        </p:nvGrpSpPr>
        <p:grpSpPr>
          <a:xfrm>
            <a:off x="900113" y="3644900"/>
            <a:ext cx="8191500" cy="1800225"/>
            <a:chOff x="567" y="2523"/>
            <a:chExt cx="5160" cy="1134"/>
          </a:xfrm>
        </p:grpSpPr>
        <p:sp>
          <p:nvSpPr>
            <p:cNvPr id="57350" name="Rectangle 6"/>
            <p:cNvSpPr/>
            <p:nvPr/>
          </p:nvSpPr>
          <p:spPr>
            <a:xfrm>
              <a:off x="567" y="2523"/>
              <a:ext cx="3674" cy="771"/>
            </a:xfrm>
            <a:prstGeom prst="rect">
              <a:avLst/>
            </a:prstGeom>
            <a:noFill/>
            <a:ln w="28575" cap="flat" cmpd="sng">
              <a:solidFill>
                <a:srgbClr val="0000FF"/>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grpSp>
          <p:nvGrpSpPr>
            <p:cNvPr id="57351" name="Group 9"/>
            <p:cNvGrpSpPr/>
            <p:nvPr/>
          </p:nvGrpSpPr>
          <p:grpSpPr>
            <a:xfrm>
              <a:off x="4254" y="2675"/>
              <a:ext cx="1473" cy="982"/>
              <a:chOff x="4254" y="2675"/>
              <a:chExt cx="1473" cy="982"/>
            </a:xfrm>
          </p:grpSpPr>
          <p:sp>
            <p:nvSpPr>
              <p:cNvPr id="57352" name="Line 7"/>
              <p:cNvSpPr/>
              <p:nvPr/>
            </p:nvSpPr>
            <p:spPr>
              <a:xfrm flipH="1" flipV="1">
                <a:off x="4254" y="3123"/>
                <a:ext cx="137" cy="1"/>
              </a:xfrm>
              <a:prstGeom prst="line">
                <a:avLst/>
              </a:prstGeom>
              <a:ln w="28575" cap="rnd" cmpd="sng">
                <a:solidFill>
                  <a:srgbClr val="0000FF"/>
                </a:solidFill>
                <a:prstDash val="sysDot"/>
                <a:headEnd type="none" w="sm" len="sm"/>
                <a:tailEnd type="triangle" w="sm" len="sm"/>
              </a:ln>
            </p:spPr>
          </p:sp>
          <p:sp>
            <p:nvSpPr>
              <p:cNvPr id="57353" name="Text Box 8"/>
              <p:cNvSpPr txBox="1"/>
              <p:nvPr/>
            </p:nvSpPr>
            <p:spPr>
              <a:xfrm>
                <a:off x="4377" y="2675"/>
                <a:ext cx="1350" cy="98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600" b="1" dirty="0">
                    <a:solidFill>
                      <a:srgbClr val="FF3300"/>
                    </a:solidFill>
                  </a:rPr>
                  <a:t>当</a:t>
                </a:r>
                <a:r>
                  <a:rPr lang="en-US" altLang="zh-CN" sz="1600" b="1" dirty="0">
                    <a:solidFill>
                      <a:srgbClr val="FF3300"/>
                    </a:solidFill>
                  </a:rPr>
                  <a:t>CAS</a:t>
                </a:r>
                <a:r>
                  <a:rPr lang="zh-CN" altLang="en-US" sz="1600" b="1" dirty="0">
                    <a:solidFill>
                      <a:srgbClr val="FF3300"/>
                    </a:solidFill>
                  </a:rPr>
                  <a:t>信号变为高电平时，数据不能输出</a:t>
                </a:r>
                <a:r>
                  <a:rPr lang="zh-CN" altLang="en-US" sz="1600" b="1" dirty="0"/>
                  <a:t>。</a:t>
                </a:r>
                <a:endParaRPr lang="en-US" altLang="zh-CN" sz="1600" b="1" dirty="0"/>
              </a:p>
              <a:p>
                <a:pPr marL="0" lvl="0" indent="0" eaLnBrk="1" hangingPunct="1">
                  <a:spcBef>
                    <a:spcPct val="0"/>
                  </a:spcBef>
                  <a:buClrTx/>
                  <a:buSzTx/>
                  <a:buFontTx/>
                  <a:buNone/>
                </a:pPr>
                <a:r>
                  <a:rPr lang="zh-CN" altLang="en-US" sz="1600" b="1" dirty="0"/>
                  <a:t>因此，</a:t>
                </a:r>
                <a:r>
                  <a:rPr lang="en-US" altLang="zh-CN" sz="1600" b="1" dirty="0"/>
                  <a:t>CAS</a:t>
                </a:r>
                <a:r>
                  <a:rPr lang="zh-CN" altLang="en-US" sz="1600" b="1" dirty="0"/>
                  <a:t>信号由低到高的转化必须发生在读出数据被</a:t>
                </a:r>
                <a:r>
                  <a:rPr lang="en-US" altLang="zh-CN" sz="1600" b="1" dirty="0"/>
                  <a:t>CPU</a:t>
                </a:r>
                <a:r>
                  <a:rPr lang="zh-CN" altLang="en-US" sz="1600" b="1" dirty="0"/>
                  <a:t>取走之后。</a:t>
                </a:r>
                <a:endParaRPr lang="zh-CN" altLang="en-US" sz="1600" b="1" dirty="0"/>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p:cNvSpPr>
          <p:nvPr>
            <p:ph type="title"/>
          </p:nvPr>
        </p:nvSpPr>
        <p:spPr>
          <a:xfrm>
            <a:off x="468313" y="273050"/>
            <a:ext cx="7532687" cy="563563"/>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58371" name="Rectangle 3"/>
          <p:cNvSpPr>
            <a:spLocks noGrp="1"/>
          </p:cNvSpPr>
          <p:nvPr>
            <p:ph idx="1"/>
          </p:nvPr>
        </p:nvSpPr>
        <p:spPr>
          <a:xfrm>
            <a:off x="395288" y="1268413"/>
            <a:ext cx="8424862" cy="1728787"/>
          </a:xfrm>
        </p:spPr>
        <p:txBody>
          <a:bodyPr vert="horz" wrap="square" lIns="91440" tIns="45720" rIns="91440" bIns="45720" anchor="t" anchorCtr="0"/>
          <a:p>
            <a:r>
              <a:rPr lang="en-US" altLang="zh-CN" sz="2400" b="1" dirty="0">
                <a:solidFill>
                  <a:srgbClr val="FF3300"/>
                </a:solidFill>
              </a:rPr>
              <a:t>CDRAM</a:t>
            </a:r>
            <a:r>
              <a:rPr lang="zh-CN" altLang="en-US" sz="2400" dirty="0"/>
              <a:t>带高速缓冲存储器（</a:t>
            </a:r>
            <a:r>
              <a:rPr lang="en-US" altLang="zh-CN" sz="2400" dirty="0"/>
              <a:t>cache</a:t>
            </a:r>
            <a:r>
              <a:rPr lang="zh-CN" altLang="en-US" sz="2400" dirty="0"/>
              <a:t>）的动态存储器，它是在通常的</a:t>
            </a:r>
            <a:r>
              <a:rPr lang="en-US" altLang="zh-CN" sz="2400" dirty="0"/>
              <a:t>DRAM</a:t>
            </a:r>
            <a:r>
              <a:rPr lang="zh-CN" altLang="en-US" sz="2400" dirty="0"/>
              <a:t>芯片内又集成了一个小容量的</a:t>
            </a:r>
            <a:r>
              <a:rPr lang="en-US" altLang="zh-CN" sz="2400" dirty="0"/>
              <a:t>SRAM</a:t>
            </a:r>
            <a:r>
              <a:rPr lang="zh-CN" altLang="en-US" sz="2400" dirty="0"/>
              <a:t>，从而使</a:t>
            </a:r>
            <a:r>
              <a:rPr lang="en-US" altLang="zh-CN" sz="2400" dirty="0"/>
              <a:t>DRAM</a:t>
            </a:r>
            <a:r>
              <a:rPr lang="zh-CN" altLang="en-US" sz="2400" dirty="0"/>
              <a:t>芯片的性能得到显著改进。如图所示出</a:t>
            </a:r>
            <a:r>
              <a:rPr lang="en-US" altLang="zh-CN" sz="2400" dirty="0"/>
              <a:t>1M×4</a:t>
            </a:r>
            <a:r>
              <a:rPr lang="zh-CN" altLang="en-US" sz="2400" dirty="0"/>
              <a:t>位</a:t>
            </a:r>
            <a:r>
              <a:rPr lang="en-US" altLang="zh-CN" sz="2400" dirty="0"/>
              <a:t>CDRAM</a:t>
            </a:r>
            <a:r>
              <a:rPr lang="zh-CN" altLang="en-US" sz="2400" dirty="0"/>
              <a:t>芯片的结构框图，其中</a:t>
            </a:r>
            <a:r>
              <a:rPr lang="en-US" altLang="zh-CN" sz="2400" dirty="0"/>
              <a:t>SRAM</a:t>
            </a:r>
            <a:r>
              <a:rPr lang="zh-CN" altLang="en-US" sz="2400" dirty="0"/>
              <a:t>为</a:t>
            </a:r>
            <a:r>
              <a:rPr lang="en-US" altLang="zh-CN" sz="2400" dirty="0"/>
              <a:t>512×4</a:t>
            </a:r>
            <a:r>
              <a:rPr lang="zh-CN" altLang="en-US" sz="2400" dirty="0"/>
              <a:t>位。</a:t>
            </a:r>
            <a:r>
              <a:rPr lang="en-US" altLang="zh-CN" sz="2600" dirty="0"/>
              <a:t> </a:t>
            </a:r>
            <a:endParaRPr lang="en-US" altLang="zh-CN" sz="2600" dirty="0"/>
          </a:p>
        </p:txBody>
      </p:sp>
      <p:pic>
        <p:nvPicPr>
          <p:cNvPr id="58372" name="Picture 5"/>
          <p:cNvPicPr>
            <a:picLocks noChangeAspect="1"/>
          </p:cNvPicPr>
          <p:nvPr/>
        </p:nvPicPr>
        <p:blipFill>
          <a:blip r:embed="rId1"/>
          <a:stretch>
            <a:fillRect/>
          </a:stretch>
        </p:blipFill>
        <p:spPr>
          <a:xfrm>
            <a:off x="1403350" y="3068638"/>
            <a:ext cx="6553200" cy="3279775"/>
          </a:xfrm>
          <a:prstGeom prst="rect">
            <a:avLst/>
          </a:prstGeom>
          <a:noFill/>
          <a:ln w="9525">
            <a:noFill/>
          </a:ln>
        </p:spPr>
      </p:pic>
      <p:sp>
        <p:nvSpPr>
          <p:cNvPr id="58373" name="Text Box 7"/>
          <p:cNvSpPr txBox="1"/>
          <p:nvPr/>
        </p:nvSpPr>
        <p:spPr>
          <a:xfrm>
            <a:off x="496888" y="836613"/>
            <a:ext cx="3432175"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buClr>
                <a:schemeClr val="tx2"/>
              </a:buClr>
              <a:buSzPct val="70000"/>
              <a:buNone/>
            </a:pPr>
            <a:r>
              <a:rPr lang="en-US" altLang="zh-CN" sz="2400" dirty="0"/>
              <a:t>3.3.5 </a:t>
            </a:r>
            <a:r>
              <a:rPr lang="zh-CN" altLang="en-US" sz="2400" dirty="0"/>
              <a:t>高级的</a:t>
            </a:r>
            <a:r>
              <a:rPr lang="en-US" altLang="zh-CN" sz="2400" dirty="0"/>
              <a:t>DRAM</a:t>
            </a:r>
            <a:r>
              <a:rPr lang="zh-CN" altLang="en-US" sz="2400" dirty="0"/>
              <a:t>结构</a:t>
            </a:r>
            <a:r>
              <a:rPr lang="en-US" altLang="zh-CN" sz="1800" dirty="0"/>
              <a:t> </a:t>
            </a:r>
            <a:endParaRPr lang="en-US" altLang="zh-CN" sz="1800" dirty="0"/>
          </a:p>
        </p:txBody>
      </p:sp>
      <p:sp>
        <p:nvSpPr>
          <p:cNvPr id="58374" name="Text Box 8"/>
          <p:cNvSpPr txBox="1"/>
          <p:nvPr/>
        </p:nvSpPr>
        <p:spPr>
          <a:xfrm>
            <a:off x="7812088" y="5084763"/>
            <a:ext cx="1135062" cy="646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b="1" dirty="0">
                <a:solidFill>
                  <a:srgbClr val="FF3300"/>
                </a:solidFill>
              </a:rPr>
              <a:t>读写过程见</a:t>
            </a:r>
            <a:r>
              <a:rPr lang="en-US" altLang="zh-CN" sz="1800" b="1" dirty="0">
                <a:solidFill>
                  <a:srgbClr val="FF3300"/>
                </a:solidFill>
              </a:rPr>
              <a:t>P75</a:t>
            </a:r>
            <a:endParaRPr lang="zh-CN" altLang="en-US" sz="1800" dirty="0">
              <a:solidFill>
                <a:srgbClr val="FF33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3"/>
          <p:cNvSpPr>
            <a:spLocks noGrp="1"/>
          </p:cNvSpPr>
          <p:nvPr>
            <p:ph idx="1"/>
          </p:nvPr>
        </p:nvSpPr>
        <p:spPr>
          <a:xfrm>
            <a:off x="250825" y="1052513"/>
            <a:ext cx="8713788" cy="2376487"/>
          </a:xfrm>
        </p:spPr>
        <p:txBody>
          <a:bodyPr vert="horz" wrap="square" lIns="91440" tIns="45720" rIns="91440" bIns="45720" anchor="t" anchorCtr="0"/>
          <a:p>
            <a:r>
              <a:rPr lang="zh-CN" altLang="en-US" dirty="0"/>
              <a:t>某内存条包含</a:t>
            </a:r>
            <a:r>
              <a:rPr lang="en-US" altLang="zh-CN" dirty="0"/>
              <a:t>8</a:t>
            </a:r>
            <a:r>
              <a:rPr lang="zh-CN" altLang="en-US" dirty="0"/>
              <a:t>个</a:t>
            </a:r>
            <a:r>
              <a:rPr lang="en-US" altLang="zh-CN" dirty="0"/>
              <a:t>8192×8192×8</a:t>
            </a:r>
            <a:r>
              <a:rPr lang="zh-CN" altLang="en-US" dirty="0"/>
              <a:t>位的</a:t>
            </a:r>
            <a:r>
              <a:rPr lang="en-US" altLang="zh-CN" dirty="0"/>
              <a:t>DRAM</a:t>
            </a:r>
            <a:r>
              <a:rPr lang="zh-CN" altLang="en-US" dirty="0"/>
              <a:t>芯片，按字节编址，支持突发传送方式，对应存储器总线宽度为</a:t>
            </a:r>
            <a:r>
              <a:rPr lang="en-US" altLang="zh-CN" dirty="0"/>
              <a:t>64</a:t>
            </a:r>
            <a:r>
              <a:rPr lang="zh-CN" altLang="en-US" dirty="0"/>
              <a:t>位，每个</a:t>
            </a:r>
            <a:r>
              <a:rPr lang="en-US" altLang="zh-CN" dirty="0"/>
              <a:t>DRAM</a:t>
            </a:r>
            <a:r>
              <a:rPr lang="zh-CN" altLang="en-US" dirty="0"/>
              <a:t>芯片内有一个行缓冲区。下列关于该内存条的叙述中，不正确的是（ ）。</a:t>
            </a:r>
            <a:endParaRPr lang="zh-CN" altLang="en-US" dirty="0"/>
          </a:p>
          <a:p>
            <a:br>
              <a:rPr lang="zh-CN" altLang="en-US" dirty="0"/>
            </a:br>
            <a:r>
              <a:rPr lang="en-US" altLang="zh-CN" dirty="0"/>
              <a:t>A.</a:t>
            </a:r>
            <a:r>
              <a:rPr lang="zh-CN" altLang="en-US" dirty="0"/>
              <a:t>内存条的容量为</a:t>
            </a:r>
            <a:r>
              <a:rPr lang="en-US" altLang="zh-CN" dirty="0"/>
              <a:t>512MB</a:t>
            </a:r>
            <a:br>
              <a:rPr lang="en-US" altLang="zh-CN" dirty="0"/>
            </a:br>
            <a:r>
              <a:rPr lang="en-US" altLang="zh-CN" dirty="0"/>
              <a:t>B.</a:t>
            </a:r>
            <a:r>
              <a:rPr lang="zh-CN" altLang="en-US" dirty="0"/>
              <a:t>采用多模块交叉编址方式</a:t>
            </a:r>
            <a:br>
              <a:rPr lang="zh-CN" altLang="en-US" dirty="0"/>
            </a:br>
            <a:r>
              <a:rPr lang="en-US" altLang="zh-CN" dirty="0"/>
              <a:t>C.</a:t>
            </a:r>
            <a:r>
              <a:rPr lang="zh-CN" altLang="en-US" dirty="0"/>
              <a:t>芯片的地址引脚为</a:t>
            </a:r>
            <a:r>
              <a:rPr lang="en-US" altLang="zh-CN" dirty="0"/>
              <a:t>26</a:t>
            </a:r>
            <a:r>
              <a:rPr lang="zh-CN" altLang="en-US" dirty="0"/>
              <a:t>位</a:t>
            </a:r>
            <a:br>
              <a:rPr lang="zh-CN" altLang="en-US" dirty="0"/>
            </a:br>
            <a:r>
              <a:rPr lang="en-US" altLang="zh-CN" dirty="0"/>
              <a:t>D.</a:t>
            </a:r>
            <a:r>
              <a:rPr lang="zh-CN" altLang="en-US" dirty="0"/>
              <a:t>芯片内行缓冲有</a:t>
            </a:r>
            <a:r>
              <a:rPr lang="en-US" altLang="zh-CN" dirty="0"/>
              <a:t>8192×8</a:t>
            </a:r>
            <a:r>
              <a:rPr lang="zh-CN" altLang="en-US" dirty="0"/>
              <a:t>位</a:t>
            </a:r>
            <a:endParaRPr lang="zh-CN" altLang="en-US" dirty="0"/>
          </a:p>
          <a:p>
            <a:pPr>
              <a:lnSpc>
                <a:spcPct val="90000"/>
              </a:lnSpc>
            </a:pPr>
            <a:endParaRPr lang="en-US" altLang="zh-CN" sz="2400" dirty="0"/>
          </a:p>
          <a:p>
            <a:pPr>
              <a:lnSpc>
                <a:spcPct val="90000"/>
              </a:lnSpc>
            </a:pPr>
            <a:endParaRPr lang="en-US" altLang="zh-CN" sz="2400" dirty="0"/>
          </a:p>
          <a:p>
            <a:pPr>
              <a:lnSpc>
                <a:spcPct val="90000"/>
              </a:lnSpc>
            </a:pPr>
            <a:endParaRPr lang="en-US" altLang="zh-CN"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a:xfrm>
            <a:off x="457200" y="-26987"/>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30723" name="Rectangle 3"/>
          <p:cNvSpPr>
            <a:spLocks noGrp="1"/>
          </p:cNvSpPr>
          <p:nvPr>
            <p:ph idx="1"/>
          </p:nvPr>
        </p:nvSpPr>
        <p:spPr>
          <a:xfrm>
            <a:off x="457200" y="908050"/>
            <a:ext cx="8229600" cy="3960813"/>
          </a:xfrm>
        </p:spPr>
        <p:txBody>
          <a:bodyPr vert="horz" wrap="square" lIns="91440" tIns="45720" rIns="91440" bIns="45720" anchor="t" anchorCtr="0"/>
          <a:p>
            <a:r>
              <a:rPr lang="en-US" altLang="zh-CN" sz="2600" dirty="0"/>
              <a:t>SDRAM</a:t>
            </a:r>
            <a:r>
              <a:rPr lang="zh-CN" altLang="en-US" sz="2600" dirty="0">
                <a:solidFill>
                  <a:srgbClr val="0000FF"/>
                </a:solidFill>
              </a:rPr>
              <a:t>同步型</a:t>
            </a:r>
            <a:r>
              <a:rPr lang="zh-CN" altLang="en-US" sz="2600" dirty="0"/>
              <a:t>动态存储器。</a:t>
            </a:r>
            <a:endParaRPr lang="en-US" altLang="zh-CN" sz="2600" dirty="0"/>
          </a:p>
          <a:p>
            <a:r>
              <a:rPr lang="zh-CN" altLang="en-US" sz="2600" dirty="0"/>
              <a:t>计算机系统中的</a:t>
            </a:r>
            <a:r>
              <a:rPr lang="en-US" altLang="zh-CN" sz="2600" dirty="0"/>
              <a:t>CPU</a:t>
            </a:r>
            <a:r>
              <a:rPr lang="zh-CN" altLang="en-US" sz="2600" dirty="0"/>
              <a:t>使用的是系统时钟，</a:t>
            </a:r>
            <a:r>
              <a:rPr lang="en-US" altLang="zh-CN" sz="2600" dirty="0"/>
              <a:t>SDRAM</a:t>
            </a:r>
            <a:r>
              <a:rPr lang="zh-CN" altLang="en-US" sz="2600" dirty="0"/>
              <a:t>的操作要求与</a:t>
            </a:r>
            <a:r>
              <a:rPr lang="zh-CN" altLang="en-US" sz="2600" dirty="0">
                <a:solidFill>
                  <a:srgbClr val="FF3300"/>
                </a:solidFill>
              </a:rPr>
              <a:t>系统时钟</a:t>
            </a:r>
            <a:r>
              <a:rPr lang="zh-CN" altLang="en-US" sz="2600" dirty="0"/>
              <a:t>相同步，在系统时钟的控制下从</a:t>
            </a:r>
            <a:r>
              <a:rPr lang="en-US" altLang="zh-CN" sz="2600" dirty="0"/>
              <a:t>CPU</a:t>
            </a:r>
            <a:r>
              <a:rPr lang="zh-CN" altLang="en-US" sz="2600" dirty="0"/>
              <a:t>获得地址、数据和控制信息。</a:t>
            </a:r>
            <a:endParaRPr lang="en-US" altLang="zh-CN" sz="2600" dirty="0"/>
          </a:p>
          <a:p>
            <a:r>
              <a:rPr lang="zh-CN" altLang="en-US" sz="2600" dirty="0"/>
              <a:t>换句话说，它与</a:t>
            </a:r>
            <a:r>
              <a:rPr lang="en-US" altLang="zh-CN" sz="2600" dirty="0"/>
              <a:t>CPU</a:t>
            </a:r>
            <a:r>
              <a:rPr lang="zh-CN" altLang="en-US" sz="2600" dirty="0"/>
              <a:t>的数据交换</a:t>
            </a:r>
            <a:r>
              <a:rPr lang="zh-CN" altLang="en-US" sz="2600" dirty="0">
                <a:solidFill>
                  <a:srgbClr val="FF3300"/>
                </a:solidFill>
              </a:rPr>
              <a:t>同步于外部的系统时钟信号</a:t>
            </a:r>
            <a:r>
              <a:rPr lang="zh-CN" altLang="en-US" sz="2600" dirty="0"/>
              <a:t>，并且以</a:t>
            </a:r>
            <a:r>
              <a:rPr lang="en-US" altLang="zh-CN" sz="2600" dirty="0"/>
              <a:t>CPU/</a:t>
            </a:r>
            <a:r>
              <a:rPr lang="zh-CN" altLang="en-US" sz="2600" dirty="0"/>
              <a:t>存储器总线的最高速度运行，而</a:t>
            </a:r>
            <a:r>
              <a:rPr lang="zh-CN" altLang="en-US" sz="2600" b="1" dirty="0">
                <a:solidFill>
                  <a:srgbClr val="FF3300"/>
                </a:solidFill>
              </a:rPr>
              <a:t>不需要</a:t>
            </a:r>
            <a:r>
              <a:rPr lang="zh-CN" altLang="en-US" sz="2600" dirty="0">
                <a:solidFill>
                  <a:srgbClr val="FF3300"/>
                </a:solidFill>
              </a:rPr>
              <a:t>插入等待状态</a:t>
            </a:r>
            <a:r>
              <a:rPr lang="zh-CN" altLang="en-US" sz="2600" dirty="0"/>
              <a:t>。</a:t>
            </a:r>
            <a:endParaRPr lang="en-US" altLang="zh-CN" sz="2600" dirty="0"/>
          </a:p>
          <a:p>
            <a:r>
              <a:rPr lang="zh-CN" altLang="en-US" sz="2600" dirty="0"/>
              <a:t>其原理见下一页图。</a:t>
            </a:r>
            <a:endParaRPr lang="zh-CN" altLang="en-US" sz="2600" dirty="0"/>
          </a:p>
        </p:txBody>
      </p:sp>
      <p:pic>
        <p:nvPicPr>
          <p:cNvPr id="61444" name="Picture 4"/>
          <p:cNvPicPr>
            <a:picLocks noChangeAspect="1"/>
          </p:cNvPicPr>
          <p:nvPr/>
        </p:nvPicPr>
        <p:blipFill>
          <a:blip r:embed="rId1"/>
          <a:stretch>
            <a:fillRect/>
          </a:stretch>
        </p:blipFill>
        <p:spPr>
          <a:xfrm>
            <a:off x="1042988" y="4365625"/>
            <a:ext cx="6911975" cy="231616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23">
                                            <p:txEl>
                                              <p:charRg st="80" end="140"/>
                                            </p:txEl>
                                          </p:spTgt>
                                        </p:tgtEl>
                                        <p:attrNameLst>
                                          <p:attrName>style.visibility</p:attrName>
                                        </p:attrNameLst>
                                      </p:cBhvr>
                                      <p:to>
                                        <p:strVal val="visible"/>
                                      </p:to>
                                    </p:set>
                                    <p:animEffect transition="in" filter="blinds(horizontal)">
                                      <p:cBhvr>
                                        <p:cTn id="7" dur="500"/>
                                        <p:tgtEl>
                                          <p:spTgt spid="30723">
                                            <p:txEl>
                                              <p:charRg st="80" end="14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2466" name="Picture 5"/>
          <p:cNvPicPr>
            <a:picLocks noChangeAspect="1"/>
          </p:cNvPicPr>
          <p:nvPr/>
        </p:nvPicPr>
        <p:blipFill>
          <a:blip r:embed="rId1"/>
          <a:stretch>
            <a:fillRect/>
          </a:stretch>
        </p:blipFill>
        <p:spPr>
          <a:xfrm>
            <a:off x="900113" y="549275"/>
            <a:ext cx="7058025" cy="6138863"/>
          </a:xfrm>
          <a:prstGeom prst="rect">
            <a:avLst/>
          </a:prstGeom>
          <a:noFill/>
          <a:ln w="9525">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p:cNvSpPr>
          <p:nvPr>
            <p:ph type="title"/>
          </p:nvPr>
        </p:nvSpPr>
        <p:spPr>
          <a:xfrm>
            <a:off x="457200" y="41275"/>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63491" name="Rectangle 3"/>
          <p:cNvSpPr>
            <a:spLocks noGrp="1"/>
          </p:cNvSpPr>
          <p:nvPr>
            <p:ph idx="1"/>
          </p:nvPr>
        </p:nvSpPr>
        <p:spPr>
          <a:xfrm>
            <a:off x="457200" y="981075"/>
            <a:ext cx="8362950" cy="4862513"/>
          </a:xfrm>
        </p:spPr>
        <p:txBody>
          <a:bodyPr vert="horz" wrap="square" lIns="91440" tIns="45720" rIns="91440" bIns="45720" anchor="t" anchorCtr="0"/>
          <a:p>
            <a:pPr>
              <a:buNone/>
            </a:pPr>
            <a:r>
              <a:rPr lang="en-US" altLang="zh-CN" sz="2600" dirty="0"/>
              <a:t>[</a:t>
            </a:r>
            <a:r>
              <a:rPr lang="zh-CN" altLang="en-US" sz="2600" dirty="0"/>
              <a:t>例</a:t>
            </a:r>
            <a:r>
              <a:rPr lang="en-US" altLang="zh-CN" sz="2600" dirty="0"/>
              <a:t>4] CDRAM</a:t>
            </a:r>
            <a:r>
              <a:rPr lang="zh-CN" altLang="en-US" sz="2600" dirty="0"/>
              <a:t>内存条组成实例。</a:t>
            </a:r>
            <a:r>
              <a:rPr lang="en-US" altLang="zh-CN" sz="2600" dirty="0"/>
              <a:t></a:t>
            </a:r>
            <a:endParaRPr lang="en-US" altLang="zh-CN" sz="2600" dirty="0"/>
          </a:p>
          <a:p>
            <a:pPr>
              <a:buNone/>
            </a:pPr>
            <a:r>
              <a:rPr lang="en-US" altLang="zh-CN" sz="2600" dirty="0"/>
              <a:t>		</a:t>
            </a:r>
            <a:r>
              <a:rPr lang="zh-CN" altLang="en-US" sz="2600" dirty="0"/>
              <a:t>一片</a:t>
            </a:r>
            <a:r>
              <a:rPr lang="en-US" altLang="zh-CN" sz="2600" dirty="0"/>
              <a:t>CDRAM</a:t>
            </a:r>
            <a:r>
              <a:rPr lang="zh-CN" altLang="en-US" sz="2600" dirty="0"/>
              <a:t>的容量为</a:t>
            </a:r>
            <a:r>
              <a:rPr lang="en-US" altLang="zh-CN" sz="2600" dirty="0"/>
              <a:t>1M×4</a:t>
            </a:r>
            <a:r>
              <a:rPr lang="zh-CN" altLang="en-US" sz="2600" dirty="0"/>
              <a:t>位，</a:t>
            </a:r>
            <a:r>
              <a:rPr lang="en-US" altLang="zh-CN" sz="2600" dirty="0"/>
              <a:t>8</a:t>
            </a:r>
            <a:r>
              <a:rPr lang="zh-CN" altLang="en-US" sz="2600" dirty="0"/>
              <a:t>片这样的芯片可组成</a:t>
            </a:r>
            <a:r>
              <a:rPr lang="en-US" altLang="zh-CN" sz="2600" dirty="0"/>
              <a:t>1M×32</a:t>
            </a:r>
            <a:r>
              <a:rPr lang="zh-CN" altLang="en-US" sz="2600" dirty="0"/>
              <a:t>位</a:t>
            </a:r>
            <a:r>
              <a:rPr lang="en-US" altLang="zh-CN" sz="2600" dirty="0"/>
              <a:t>4MB</a:t>
            </a:r>
            <a:r>
              <a:rPr lang="zh-CN" altLang="en-US" sz="2600" dirty="0"/>
              <a:t>的存储模块，其组成如下图所示。</a:t>
            </a:r>
            <a:r>
              <a:rPr lang="en-US" altLang="zh-CN" dirty="0"/>
              <a:t></a:t>
            </a:r>
            <a:endParaRPr lang="en-US" altLang="zh-CN" dirty="0"/>
          </a:p>
        </p:txBody>
      </p:sp>
      <p:grpSp>
        <p:nvGrpSpPr>
          <p:cNvPr id="63492" name="Group 7"/>
          <p:cNvGrpSpPr/>
          <p:nvPr/>
        </p:nvGrpSpPr>
        <p:grpSpPr>
          <a:xfrm>
            <a:off x="1258888" y="2438400"/>
            <a:ext cx="6551612" cy="4127500"/>
            <a:chOff x="748" y="1536"/>
            <a:chExt cx="4127" cy="2600"/>
          </a:xfrm>
        </p:grpSpPr>
        <p:pic>
          <p:nvPicPr>
            <p:cNvPr id="63498" name="Picture 5"/>
            <p:cNvPicPr>
              <a:picLocks noChangeAspect="1"/>
            </p:cNvPicPr>
            <p:nvPr/>
          </p:nvPicPr>
          <p:blipFill>
            <a:blip r:embed="rId1"/>
            <a:stretch>
              <a:fillRect/>
            </a:stretch>
          </p:blipFill>
          <p:spPr>
            <a:xfrm>
              <a:off x="748" y="1536"/>
              <a:ext cx="4127" cy="2438"/>
            </a:xfrm>
            <a:prstGeom prst="rect">
              <a:avLst/>
            </a:prstGeom>
            <a:noFill/>
            <a:ln w="9525">
              <a:noFill/>
            </a:ln>
          </p:spPr>
        </p:pic>
        <p:pic>
          <p:nvPicPr>
            <p:cNvPr id="63499" name="Picture 6"/>
            <p:cNvPicPr>
              <a:picLocks noChangeAspect="1"/>
            </p:cNvPicPr>
            <p:nvPr/>
          </p:nvPicPr>
          <p:blipFill>
            <a:blip r:embed="rId2"/>
            <a:stretch>
              <a:fillRect/>
            </a:stretch>
          </p:blipFill>
          <p:spPr>
            <a:xfrm>
              <a:off x="1885" y="3974"/>
              <a:ext cx="2220" cy="162"/>
            </a:xfrm>
            <a:prstGeom prst="rect">
              <a:avLst/>
            </a:prstGeom>
            <a:noFill/>
            <a:ln w="9525">
              <a:noFill/>
            </a:ln>
          </p:spPr>
        </p:pic>
      </p:grpSp>
      <p:sp>
        <p:nvSpPr>
          <p:cNvPr id="63493" name="Rectangle 8"/>
          <p:cNvSpPr/>
          <p:nvPr/>
        </p:nvSpPr>
        <p:spPr>
          <a:xfrm>
            <a:off x="2771775" y="2827338"/>
            <a:ext cx="720725" cy="431800"/>
          </a:xfrm>
          <a:prstGeom prst="rect">
            <a:avLst/>
          </a:prstGeom>
          <a:noFill/>
          <a:ln w="76200" cap="flat" cmpd="sng">
            <a:solidFill>
              <a:srgbClr val="FF3300"/>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en-US" sz="1800" dirty="0">
              <a:solidFill>
                <a:srgbClr val="FF3300"/>
              </a:solidFill>
            </a:endParaRPr>
          </a:p>
        </p:txBody>
      </p:sp>
      <p:sp>
        <p:nvSpPr>
          <p:cNvPr id="63494" name="Rectangle 9"/>
          <p:cNvSpPr/>
          <p:nvPr/>
        </p:nvSpPr>
        <p:spPr>
          <a:xfrm>
            <a:off x="3851275" y="2420938"/>
            <a:ext cx="865188" cy="360362"/>
          </a:xfrm>
          <a:prstGeom prst="rect">
            <a:avLst/>
          </a:prstGeom>
          <a:noFill/>
          <a:ln w="76200" cap="flat" cmpd="sng">
            <a:solidFill>
              <a:srgbClr val="0000FF"/>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en-US" sz="1800" dirty="0">
              <a:solidFill>
                <a:srgbClr val="FF3300"/>
              </a:solidFill>
            </a:endParaRPr>
          </a:p>
        </p:txBody>
      </p:sp>
      <p:sp>
        <p:nvSpPr>
          <p:cNvPr id="63495" name="Rectangle 10"/>
          <p:cNvSpPr/>
          <p:nvPr/>
        </p:nvSpPr>
        <p:spPr>
          <a:xfrm>
            <a:off x="5146675" y="2420938"/>
            <a:ext cx="865188" cy="360362"/>
          </a:xfrm>
          <a:prstGeom prst="rect">
            <a:avLst/>
          </a:prstGeom>
          <a:noFill/>
          <a:ln w="76200" cap="flat" cmpd="sng">
            <a:solidFill>
              <a:srgbClr val="336600"/>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en-US" sz="1800" dirty="0">
              <a:solidFill>
                <a:srgbClr val="FF3300"/>
              </a:solidFill>
            </a:endParaRPr>
          </a:p>
        </p:txBody>
      </p:sp>
      <p:sp>
        <p:nvSpPr>
          <p:cNvPr id="63496" name="Rectangle 11"/>
          <p:cNvSpPr/>
          <p:nvPr/>
        </p:nvSpPr>
        <p:spPr>
          <a:xfrm>
            <a:off x="6156325" y="2420938"/>
            <a:ext cx="720725" cy="431800"/>
          </a:xfrm>
          <a:prstGeom prst="rect">
            <a:avLst/>
          </a:prstGeom>
          <a:noFill/>
          <a:ln w="76200" cap="flat" cmpd="sng">
            <a:solidFill>
              <a:srgbClr val="FF3300"/>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en-US" sz="1800" dirty="0">
              <a:solidFill>
                <a:srgbClr val="FF3300"/>
              </a:solidFill>
            </a:endParaRPr>
          </a:p>
        </p:txBody>
      </p:sp>
      <p:sp>
        <p:nvSpPr>
          <p:cNvPr id="63497" name="Text Box 12"/>
          <p:cNvSpPr txBox="1"/>
          <p:nvPr/>
        </p:nvSpPr>
        <p:spPr>
          <a:xfrm>
            <a:off x="7793038" y="5564188"/>
            <a:ext cx="1042987" cy="461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solidFill>
                  <a:srgbClr val="FF3300"/>
                </a:solidFill>
              </a:rPr>
              <a:t>见</a:t>
            </a:r>
            <a:r>
              <a:rPr lang="en-US" altLang="zh-CN" sz="2400" b="1" dirty="0">
                <a:solidFill>
                  <a:srgbClr val="FF3300"/>
                </a:solidFill>
              </a:rPr>
              <a:t>P77</a:t>
            </a:r>
            <a:endParaRPr lang="en-US" altLang="zh-CN" sz="2400" b="1" dirty="0">
              <a:solidFill>
                <a:srgbClr val="FF3300"/>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.3 DRAM</a:t>
            </a:r>
            <a:r>
              <a:rPr lang="zh-CN" altLang="en-US" dirty="0"/>
              <a:t>存储器</a:t>
            </a:r>
            <a:endParaRPr lang="zh-CN" altLang="en-US" dirty="0"/>
          </a:p>
        </p:txBody>
      </p:sp>
      <p:sp>
        <p:nvSpPr>
          <p:cNvPr id="65539" name="Rectangle 3"/>
          <p:cNvSpPr>
            <a:spLocks noGrp="1"/>
          </p:cNvSpPr>
          <p:nvPr>
            <p:ph idx="1"/>
          </p:nvPr>
        </p:nvSpPr>
        <p:spPr>
          <a:xfrm>
            <a:off x="457200" y="1087438"/>
            <a:ext cx="8229600" cy="4862512"/>
          </a:xfrm>
        </p:spPr>
        <p:txBody>
          <a:bodyPr vert="horz" wrap="square" lIns="91440" tIns="45720" rIns="91440" bIns="45720" anchor="t" anchorCtr="0"/>
          <a:p>
            <a:pPr>
              <a:buNone/>
            </a:pPr>
            <a:r>
              <a:rPr lang="zh-CN" altLang="en-US" dirty="0"/>
              <a:t>七、</a:t>
            </a:r>
            <a:r>
              <a:rPr lang="en-US" altLang="zh-CN" dirty="0"/>
              <a:t>DRAM</a:t>
            </a:r>
            <a:r>
              <a:rPr lang="zh-CN" altLang="en-US" dirty="0"/>
              <a:t>主存读</a:t>
            </a:r>
            <a:r>
              <a:rPr lang="en-US" altLang="zh-CN" dirty="0"/>
              <a:t>/</a:t>
            </a:r>
            <a:r>
              <a:rPr lang="zh-CN" altLang="en-US" dirty="0"/>
              <a:t>写的正确性校验</a:t>
            </a:r>
            <a:endParaRPr lang="en-US" altLang="zh-CN" dirty="0"/>
          </a:p>
          <a:p>
            <a:pPr>
              <a:buNone/>
            </a:pPr>
            <a:r>
              <a:rPr lang="en-US" altLang="zh-CN" sz="2600" dirty="0"/>
              <a:t>         DRAM</a:t>
            </a:r>
            <a:r>
              <a:rPr lang="zh-CN" altLang="en-US" sz="2600" dirty="0"/>
              <a:t>通常用做</a:t>
            </a:r>
            <a:r>
              <a:rPr lang="zh-CN" altLang="en-US" sz="2600" dirty="0">
                <a:solidFill>
                  <a:srgbClr val="FF3300"/>
                </a:solidFill>
              </a:rPr>
              <a:t>主存储器</a:t>
            </a:r>
            <a:r>
              <a:rPr lang="zh-CN" altLang="en-US" sz="2600" dirty="0"/>
              <a:t>，其读写操作的正确性与可靠性至关重要。为此除了正常的数据位宽度，还增加了附加位，用于读</a:t>
            </a:r>
            <a:r>
              <a:rPr lang="en-US" altLang="zh-CN" sz="2600" dirty="0"/>
              <a:t>/</a:t>
            </a:r>
            <a:r>
              <a:rPr lang="zh-CN" altLang="en-US" sz="2600" dirty="0"/>
              <a:t>写操作</a:t>
            </a:r>
            <a:r>
              <a:rPr lang="zh-CN" altLang="en-US" sz="2600" dirty="0">
                <a:solidFill>
                  <a:srgbClr val="FF3300"/>
                </a:solidFill>
              </a:rPr>
              <a:t>正确性校验</a:t>
            </a:r>
            <a:r>
              <a:rPr lang="zh-CN" altLang="en-US" sz="2600" dirty="0"/>
              <a:t>。增加的附加位也要同数据位一起写入</a:t>
            </a:r>
            <a:r>
              <a:rPr lang="en-US" altLang="zh-CN" sz="2600" dirty="0"/>
              <a:t>DRAM</a:t>
            </a:r>
            <a:r>
              <a:rPr lang="zh-CN" altLang="en-US" sz="2600" dirty="0"/>
              <a:t>中保存。</a:t>
            </a:r>
            <a:endParaRPr lang="zh-CN" altLang="en-US" sz="2600" dirty="0"/>
          </a:p>
        </p:txBody>
      </p:sp>
      <p:pic>
        <p:nvPicPr>
          <p:cNvPr id="65540" name="Picture 5"/>
          <p:cNvPicPr>
            <a:picLocks noChangeAspect="1"/>
          </p:cNvPicPr>
          <p:nvPr/>
        </p:nvPicPr>
        <p:blipFill>
          <a:blip r:embed="rId1"/>
          <a:stretch>
            <a:fillRect/>
          </a:stretch>
        </p:blipFill>
        <p:spPr>
          <a:xfrm>
            <a:off x="2051050" y="3429000"/>
            <a:ext cx="5329238" cy="2674938"/>
          </a:xfrm>
          <a:prstGeom prst="rect">
            <a:avLst/>
          </a:prstGeom>
          <a:noFill/>
          <a:ln w="9525">
            <a:noFill/>
          </a:ln>
        </p:spPr>
      </p:pic>
      <p:pic>
        <p:nvPicPr>
          <p:cNvPr id="65541" name="Picture 6"/>
          <p:cNvPicPr>
            <a:picLocks noChangeAspect="1"/>
          </p:cNvPicPr>
          <p:nvPr/>
        </p:nvPicPr>
        <p:blipFill>
          <a:blip r:embed="rId2"/>
          <a:stretch>
            <a:fillRect/>
          </a:stretch>
        </p:blipFill>
        <p:spPr>
          <a:xfrm>
            <a:off x="2228850" y="6165850"/>
            <a:ext cx="5006975" cy="303213"/>
          </a:xfrm>
          <a:prstGeom prst="rect">
            <a:avLst/>
          </a:prstGeom>
          <a:noFill/>
          <a:ln w="9525">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p:cNvSpPr>
          <p:nvPr>
            <p:ph type="title"/>
          </p:nvPr>
        </p:nvSpPr>
        <p:spPr>
          <a:xfrm>
            <a:off x="639763" y="339725"/>
            <a:ext cx="7532687" cy="785813"/>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34819" name="Rectangle 3"/>
          <p:cNvSpPr>
            <a:spLocks noGrp="1"/>
          </p:cNvSpPr>
          <p:nvPr>
            <p:ph idx="1"/>
          </p:nvPr>
        </p:nvSpPr>
        <p:spPr>
          <a:xfrm>
            <a:off x="250825" y="1268413"/>
            <a:ext cx="8686800" cy="5184775"/>
          </a:xfrm>
        </p:spPr>
        <p:txBody>
          <a:bodyPr vert="horz" wrap="square" lIns="91440" tIns="45720" rIns="91440" bIns="45720" anchor="t" anchorCtr="0"/>
          <a:p>
            <a:pPr>
              <a:lnSpc>
                <a:spcPct val="80000"/>
              </a:lnSpc>
              <a:buNone/>
            </a:pPr>
            <a:r>
              <a:rPr lang="zh-CN" altLang="en-US" sz="2600" dirty="0"/>
              <a:t>一、只读存储器</a:t>
            </a:r>
            <a:endParaRPr lang="en-US" altLang="zh-CN" sz="2600" dirty="0"/>
          </a:p>
          <a:p>
            <a:pPr>
              <a:lnSpc>
                <a:spcPct val="80000"/>
              </a:lnSpc>
              <a:buNone/>
            </a:pPr>
            <a:r>
              <a:rPr lang="en-US" altLang="zh-CN" sz="2600" dirty="0"/>
              <a:t>           ROM</a:t>
            </a:r>
            <a:r>
              <a:rPr lang="zh-CN" altLang="en-US" sz="2600" dirty="0"/>
              <a:t>叫做只读存储器。顾名思义，只读的意思是在它工作时</a:t>
            </a:r>
            <a:r>
              <a:rPr lang="zh-CN" altLang="en-US" sz="2600" b="1" dirty="0">
                <a:solidFill>
                  <a:srgbClr val="FF3300"/>
                </a:solidFill>
              </a:rPr>
              <a:t>只能读出</a:t>
            </a:r>
            <a:r>
              <a:rPr lang="zh-CN" altLang="en-US" sz="2600" dirty="0"/>
              <a:t>，</a:t>
            </a:r>
            <a:r>
              <a:rPr lang="zh-CN" altLang="en-US" sz="2600" b="1" dirty="0">
                <a:solidFill>
                  <a:srgbClr val="0000FF"/>
                </a:solidFill>
              </a:rPr>
              <a:t>不能写入</a:t>
            </a:r>
            <a:r>
              <a:rPr lang="zh-CN" altLang="en-US" sz="2600" dirty="0"/>
              <a:t>。</a:t>
            </a:r>
            <a:endParaRPr lang="en-US" altLang="zh-CN" sz="2600" dirty="0"/>
          </a:p>
          <a:p>
            <a:pPr>
              <a:lnSpc>
                <a:spcPct val="80000"/>
              </a:lnSpc>
              <a:buNone/>
            </a:pPr>
            <a:r>
              <a:rPr lang="en-US" altLang="zh-CN" sz="2600" dirty="0"/>
              <a:t>            </a:t>
            </a:r>
            <a:r>
              <a:rPr lang="zh-CN" altLang="en-US" sz="2600" dirty="0"/>
              <a:t>然而其中存储的原始数据，必须在它工作以前写入。只读存储器由于工作可靠，保密性强，在计算机系统中得到广泛的应用。主要有两类：</a:t>
            </a:r>
            <a:endParaRPr lang="en-US" altLang="zh-CN" sz="2600" dirty="0"/>
          </a:p>
          <a:p>
            <a:pPr lvl="1">
              <a:lnSpc>
                <a:spcPct val="80000"/>
              </a:lnSpc>
            </a:pPr>
            <a:r>
              <a:rPr lang="zh-CN" altLang="en-US" dirty="0">
                <a:solidFill>
                  <a:srgbClr val="FF3300"/>
                </a:solidFill>
              </a:rPr>
              <a:t>掩模</a:t>
            </a:r>
            <a:r>
              <a:rPr lang="en-US" altLang="zh-CN" dirty="0">
                <a:solidFill>
                  <a:srgbClr val="FF3300"/>
                </a:solidFill>
              </a:rPr>
              <a:t>ROM(MROM:Mask ROM)</a:t>
            </a:r>
            <a:r>
              <a:rPr lang="zh-CN" altLang="en-US" dirty="0">
                <a:solidFill>
                  <a:srgbClr val="FF3300"/>
                </a:solidFill>
              </a:rPr>
              <a:t>：</a:t>
            </a:r>
            <a:r>
              <a:rPr lang="zh-CN" altLang="en-US" dirty="0">
                <a:solidFill>
                  <a:srgbClr val="0000FF"/>
                </a:solidFill>
              </a:rPr>
              <a:t>掩模</a:t>
            </a:r>
            <a:r>
              <a:rPr lang="en-US" altLang="zh-CN" dirty="0">
                <a:solidFill>
                  <a:srgbClr val="0000FF"/>
                </a:solidFill>
              </a:rPr>
              <a:t>ROM</a:t>
            </a:r>
            <a:r>
              <a:rPr lang="zh-CN" altLang="en-US" dirty="0">
                <a:solidFill>
                  <a:srgbClr val="0000FF"/>
                </a:solidFill>
              </a:rPr>
              <a:t>实际上是一个存储内容固定的</a:t>
            </a:r>
            <a:r>
              <a:rPr lang="en-US" altLang="zh-CN" dirty="0">
                <a:solidFill>
                  <a:srgbClr val="0000FF"/>
                </a:solidFill>
              </a:rPr>
              <a:t>ROM</a:t>
            </a:r>
            <a:r>
              <a:rPr lang="zh-CN" altLang="en-US" dirty="0">
                <a:solidFill>
                  <a:srgbClr val="0000FF"/>
                </a:solidFill>
              </a:rPr>
              <a:t>，由生产厂家提供产品。</a:t>
            </a:r>
            <a:r>
              <a:rPr lang="en-US" altLang="zh-CN" dirty="0">
                <a:solidFill>
                  <a:srgbClr val="0000FF"/>
                </a:solidFill>
              </a:rPr>
              <a:t> </a:t>
            </a:r>
            <a:endParaRPr lang="en-US" altLang="zh-CN" dirty="0">
              <a:solidFill>
                <a:srgbClr val="0000FF"/>
              </a:solidFill>
            </a:endParaRPr>
          </a:p>
          <a:p>
            <a:pPr lvl="1">
              <a:lnSpc>
                <a:spcPct val="80000"/>
              </a:lnSpc>
            </a:pPr>
            <a:r>
              <a:rPr lang="zh-CN" altLang="en-US" dirty="0">
                <a:solidFill>
                  <a:srgbClr val="FF3300"/>
                </a:solidFill>
              </a:rPr>
              <a:t>可编程</a:t>
            </a:r>
            <a:r>
              <a:rPr lang="en-US" altLang="zh-CN" dirty="0">
                <a:solidFill>
                  <a:srgbClr val="FF3300"/>
                </a:solidFill>
              </a:rPr>
              <a:t>ROM(Programmable ROM)</a:t>
            </a:r>
            <a:r>
              <a:rPr lang="zh-CN" altLang="en-US" dirty="0">
                <a:solidFill>
                  <a:srgbClr val="FF3300"/>
                </a:solidFill>
              </a:rPr>
              <a:t>：</a:t>
            </a:r>
            <a:r>
              <a:rPr lang="zh-CN" altLang="en-US" dirty="0">
                <a:solidFill>
                  <a:srgbClr val="0000FF"/>
                </a:solidFill>
              </a:rPr>
              <a:t>用户后写入内容，有些可以多次写入。</a:t>
            </a:r>
            <a:endParaRPr lang="en-US" altLang="zh-CN" dirty="0">
              <a:solidFill>
                <a:srgbClr val="0000FF"/>
              </a:solidFill>
            </a:endParaRPr>
          </a:p>
          <a:p>
            <a:pPr lvl="2">
              <a:lnSpc>
                <a:spcPct val="80000"/>
              </a:lnSpc>
            </a:pPr>
            <a:r>
              <a:rPr lang="zh-CN" altLang="en-US" sz="2700" dirty="0">
                <a:solidFill>
                  <a:srgbClr val="0000FF"/>
                </a:solidFill>
              </a:rPr>
              <a:t>一次性编程的</a:t>
            </a:r>
            <a:r>
              <a:rPr lang="en-US" altLang="zh-CN" sz="2700" dirty="0">
                <a:solidFill>
                  <a:srgbClr val="0000FF"/>
                </a:solidFill>
              </a:rPr>
              <a:t>PROM</a:t>
            </a:r>
            <a:endParaRPr lang="en-US" altLang="zh-CN" sz="2700" dirty="0">
              <a:solidFill>
                <a:srgbClr val="0000FF"/>
              </a:solidFill>
            </a:endParaRPr>
          </a:p>
          <a:p>
            <a:pPr lvl="2">
              <a:lnSpc>
                <a:spcPct val="80000"/>
              </a:lnSpc>
            </a:pPr>
            <a:r>
              <a:rPr lang="zh-CN" altLang="en-US" sz="2700" dirty="0">
                <a:solidFill>
                  <a:srgbClr val="0000FF"/>
                </a:solidFill>
              </a:rPr>
              <a:t>多次编程的</a:t>
            </a:r>
            <a:r>
              <a:rPr lang="en-US" altLang="zh-CN" sz="2700" dirty="0">
                <a:solidFill>
                  <a:srgbClr val="0000FF"/>
                </a:solidFill>
              </a:rPr>
              <a:t>EPROM(Erasable PROM)</a:t>
            </a:r>
            <a:r>
              <a:rPr lang="zh-CN" altLang="en-US" sz="2700" dirty="0">
                <a:solidFill>
                  <a:srgbClr val="0000FF"/>
                </a:solidFill>
              </a:rPr>
              <a:t>和</a:t>
            </a:r>
            <a:r>
              <a:rPr lang="en-US" altLang="zh-CN" sz="2700" dirty="0">
                <a:solidFill>
                  <a:srgbClr val="0000FF"/>
                </a:solidFill>
              </a:rPr>
              <a:t>E</a:t>
            </a:r>
            <a:r>
              <a:rPr lang="en-US" altLang="zh-CN" sz="2700" baseline="30000" dirty="0">
                <a:solidFill>
                  <a:srgbClr val="0000FF"/>
                </a:solidFill>
              </a:rPr>
              <a:t>2</a:t>
            </a:r>
            <a:r>
              <a:rPr lang="en-US" altLang="zh-CN" sz="2700" dirty="0">
                <a:solidFill>
                  <a:srgbClr val="0000FF"/>
                </a:solidFill>
              </a:rPr>
              <a:t>PROM(Electrically EPROM)</a:t>
            </a:r>
            <a:r>
              <a:rPr lang="zh-CN" altLang="en-US" sz="2700" dirty="0">
                <a:solidFill>
                  <a:srgbClr val="0000FF"/>
                </a:solidFill>
              </a:rPr>
              <a:t>。</a:t>
            </a:r>
            <a:endParaRPr lang="zh-CN" altLang="en-US" sz="2700"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4819">
                                            <p:txEl>
                                              <p:charRg st="131" end="186"/>
                                            </p:txEl>
                                          </p:spTgt>
                                        </p:tgtEl>
                                        <p:attrNameLst>
                                          <p:attrName>style.visibility</p:attrName>
                                        </p:attrNameLst>
                                      </p:cBhvr>
                                      <p:to>
                                        <p:strVal val="visible"/>
                                      </p:to>
                                    </p:set>
                                    <p:animEffect transition="in" filter="blinds(horizontal)">
                                      <p:cBhvr>
                                        <p:cTn id="7" dur="500"/>
                                        <p:tgtEl>
                                          <p:spTgt spid="34819">
                                            <p:txEl>
                                              <p:charRg st="131" end="18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4819">
                                            <p:txEl>
                                              <p:charRg st="186" end="229"/>
                                            </p:txEl>
                                          </p:spTgt>
                                        </p:tgtEl>
                                        <p:attrNameLst>
                                          <p:attrName>style.visibility</p:attrName>
                                        </p:attrNameLst>
                                      </p:cBhvr>
                                      <p:to>
                                        <p:strVal val="visible"/>
                                      </p:to>
                                    </p:set>
                                    <p:animEffect transition="in" filter="blinds(horizontal)">
                                      <p:cBhvr>
                                        <p:cTn id="12" dur="500"/>
                                        <p:tgtEl>
                                          <p:spTgt spid="34819">
                                            <p:txEl>
                                              <p:charRg st="186" end="229"/>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4819">
                                            <p:txEl>
                                              <p:charRg st="229" end="240"/>
                                            </p:txEl>
                                          </p:spTgt>
                                        </p:tgtEl>
                                        <p:attrNameLst>
                                          <p:attrName>style.visibility</p:attrName>
                                        </p:attrNameLst>
                                      </p:cBhvr>
                                      <p:to>
                                        <p:strVal val="visible"/>
                                      </p:to>
                                    </p:set>
                                    <p:animEffect transition="in" filter="blinds(horizontal)">
                                      <p:cBhvr>
                                        <p:cTn id="15" dur="500"/>
                                        <p:tgtEl>
                                          <p:spTgt spid="34819">
                                            <p:txEl>
                                              <p:charRg st="229" end="240"/>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4819">
                                            <p:txEl>
                                              <p:charRg st="240" end="294"/>
                                            </p:txEl>
                                          </p:spTgt>
                                        </p:tgtEl>
                                        <p:attrNameLst>
                                          <p:attrName>style.visibility</p:attrName>
                                        </p:attrNameLst>
                                      </p:cBhvr>
                                      <p:to>
                                        <p:strVal val="visible"/>
                                      </p:to>
                                    </p:set>
                                    <p:animEffect transition="in" filter="blinds(horizontal)">
                                      <p:cBhvr>
                                        <p:cTn id="18" dur="500"/>
                                        <p:tgtEl>
                                          <p:spTgt spid="34819">
                                            <p:txEl>
                                              <p:charRg st="240" end="29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67587" name="Rectangle 3"/>
          <p:cNvSpPr>
            <a:spLocks noGrp="1"/>
          </p:cNvSpPr>
          <p:nvPr>
            <p:ph idx="1"/>
          </p:nvPr>
        </p:nvSpPr>
        <p:spPr>
          <a:xfrm>
            <a:off x="457200" y="1125538"/>
            <a:ext cx="8229600" cy="4862512"/>
          </a:xfrm>
        </p:spPr>
        <p:txBody>
          <a:bodyPr vert="horz" wrap="square" lIns="91440" tIns="45720" rIns="91440" bIns="45720" anchor="t" anchorCtr="0"/>
          <a:p>
            <a:pPr>
              <a:buNone/>
            </a:pPr>
            <a:r>
              <a:rPr lang="en-US" altLang="zh-CN" dirty="0"/>
              <a:t>1</a:t>
            </a:r>
            <a:r>
              <a:rPr lang="zh-CN" altLang="en-US" dirty="0"/>
              <a:t>、掩模</a:t>
            </a:r>
            <a:r>
              <a:rPr lang="en-US" altLang="zh-CN" dirty="0"/>
              <a:t>ROM</a:t>
            </a:r>
            <a:r>
              <a:rPr lang="zh-CN" altLang="en-US" dirty="0"/>
              <a:t>的阵列结构和存储元</a:t>
            </a:r>
            <a:r>
              <a:rPr lang="en-US" altLang="zh-CN" dirty="0"/>
              <a:t> </a:t>
            </a:r>
            <a:endParaRPr lang="en-US" altLang="zh-CN" dirty="0"/>
          </a:p>
        </p:txBody>
      </p:sp>
      <p:pic>
        <p:nvPicPr>
          <p:cNvPr id="67588" name="图片 10" descr="P1050799.JPG"/>
          <p:cNvPicPr>
            <a:picLocks noChangeAspect="1"/>
          </p:cNvPicPr>
          <p:nvPr/>
        </p:nvPicPr>
        <p:blipFill>
          <a:blip r:embed="rId1"/>
          <a:stretch>
            <a:fillRect/>
          </a:stretch>
        </p:blipFill>
        <p:spPr>
          <a:xfrm>
            <a:off x="1331913" y="1700213"/>
            <a:ext cx="6119812" cy="4591050"/>
          </a:xfrm>
          <a:prstGeom prst="rect">
            <a:avLst/>
          </a:prstGeom>
          <a:noFill/>
          <a:ln w="9525">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p:cNvSpPr>
          <p:nvPr>
            <p:ph type="title"/>
          </p:nvPr>
        </p:nvSpPr>
        <p:spPr>
          <a:xfrm>
            <a:off x="457200" y="142875"/>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68611" name="Rectangle 3"/>
          <p:cNvSpPr>
            <a:spLocks noGrp="1"/>
          </p:cNvSpPr>
          <p:nvPr>
            <p:ph idx="1"/>
          </p:nvPr>
        </p:nvSpPr>
        <p:spPr>
          <a:xfrm>
            <a:off x="642938" y="1328738"/>
            <a:ext cx="8229600" cy="3886200"/>
          </a:xfrm>
        </p:spPr>
        <p:txBody>
          <a:bodyPr vert="horz" wrap="square" lIns="91440" tIns="45720" rIns="91440" bIns="45720" anchor="t" anchorCtr="0"/>
          <a:p>
            <a:pPr>
              <a:buNone/>
            </a:pPr>
            <a:r>
              <a:rPr lang="en-US" altLang="zh-CN" dirty="0"/>
              <a:t>2</a:t>
            </a:r>
            <a:r>
              <a:rPr lang="zh-CN" altLang="en-US" dirty="0"/>
              <a:t>、掩模</a:t>
            </a:r>
            <a:r>
              <a:rPr lang="en-US" altLang="zh-CN" dirty="0"/>
              <a:t>ROM</a:t>
            </a:r>
            <a:r>
              <a:rPr lang="zh-CN" altLang="en-US" dirty="0"/>
              <a:t>的逻辑符号和内部逻辑框图</a:t>
            </a:r>
            <a:r>
              <a:rPr lang="en-US" altLang="zh-CN" dirty="0"/>
              <a:t> </a:t>
            </a:r>
            <a:endParaRPr lang="en-US" altLang="zh-CN" dirty="0"/>
          </a:p>
          <a:p>
            <a:pPr>
              <a:buNone/>
            </a:pPr>
            <a:endParaRPr lang="zh-CN" altLang="en-US" dirty="0"/>
          </a:p>
        </p:txBody>
      </p:sp>
      <p:pic>
        <p:nvPicPr>
          <p:cNvPr id="68612" name="Picture 5"/>
          <p:cNvPicPr>
            <a:picLocks noChangeAspect="1"/>
          </p:cNvPicPr>
          <p:nvPr/>
        </p:nvPicPr>
        <p:blipFill>
          <a:blip r:embed="rId1"/>
          <a:stretch>
            <a:fillRect/>
          </a:stretch>
        </p:blipFill>
        <p:spPr>
          <a:xfrm>
            <a:off x="642938" y="2071688"/>
            <a:ext cx="7993062" cy="4414837"/>
          </a:xfrm>
          <a:prstGeom prst="rect">
            <a:avLst/>
          </a:prstGeom>
          <a:noFill/>
          <a:ln w="9525">
            <a:noFill/>
          </a:ln>
        </p:spPr>
      </p:pic>
      <p:sp>
        <p:nvSpPr>
          <p:cNvPr id="68613" name="Rectangle 6"/>
          <p:cNvSpPr/>
          <p:nvPr/>
        </p:nvSpPr>
        <p:spPr>
          <a:xfrm>
            <a:off x="798513" y="2278063"/>
            <a:ext cx="719137" cy="2087562"/>
          </a:xfrm>
          <a:prstGeom prst="rect">
            <a:avLst/>
          </a:prstGeom>
          <a:noFill/>
          <a:ln w="28575" cap="flat" cmpd="sng">
            <a:solidFill>
              <a:srgbClr val="FF3300"/>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en-US" sz="1800" dirty="0">
              <a:solidFill>
                <a:srgbClr val="0000FF"/>
              </a:solidFill>
            </a:endParaRPr>
          </a:p>
        </p:txBody>
      </p:sp>
      <p:sp>
        <p:nvSpPr>
          <p:cNvPr id="68614" name="Rectangle 7"/>
          <p:cNvSpPr/>
          <p:nvPr/>
        </p:nvSpPr>
        <p:spPr>
          <a:xfrm>
            <a:off x="3462338" y="2782888"/>
            <a:ext cx="719137" cy="1295400"/>
          </a:xfrm>
          <a:prstGeom prst="rect">
            <a:avLst/>
          </a:prstGeom>
          <a:noFill/>
          <a:ln w="28575" cap="flat" cmpd="sng">
            <a:solidFill>
              <a:srgbClr val="336600"/>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en-US" sz="1800" dirty="0">
              <a:solidFill>
                <a:srgbClr val="0000FF"/>
              </a:solidFill>
            </a:endParaRPr>
          </a:p>
        </p:txBody>
      </p:sp>
      <p:sp>
        <p:nvSpPr>
          <p:cNvPr id="68615" name="Rectangle 8"/>
          <p:cNvSpPr/>
          <p:nvPr/>
        </p:nvSpPr>
        <p:spPr>
          <a:xfrm>
            <a:off x="869950" y="4438650"/>
            <a:ext cx="719138" cy="503238"/>
          </a:xfrm>
          <a:prstGeom prst="rect">
            <a:avLst/>
          </a:prstGeom>
          <a:noFill/>
          <a:ln w="28575" cap="flat" cmpd="sng">
            <a:solidFill>
              <a:srgbClr val="336600"/>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endParaRPr lang="zh-CN" altLang="en-US" sz="1800" dirty="0">
              <a:solidFill>
                <a:srgbClr val="0000FF"/>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xfrm>
            <a:off x="457200" y="44450"/>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69635" name="Rectangle 3"/>
          <p:cNvSpPr>
            <a:spLocks noGrp="1"/>
          </p:cNvSpPr>
          <p:nvPr>
            <p:ph idx="1"/>
          </p:nvPr>
        </p:nvSpPr>
        <p:spPr>
          <a:xfrm>
            <a:off x="457200" y="1125538"/>
            <a:ext cx="8362950" cy="5399087"/>
          </a:xfrm>
        </p:spPr>
        <p:txBody>
          <a:bodyPr vert="horz" wrap="square" lIns="91440" tIns="45720" rIns="91440" bIns="45720" anchor="t" anchorCtr="0"/>
          <a:p>
            <a:pPr>
              <a:buNone/>
            </a:pPr>
            <a:r>
              <a:rPr lang="en-US" altLang="zh-CN" sz="3400" dirty="0"/>
              <a:t>3</a:t>
            </a:r>
            <a:r>
              <a:rPr lang="zh-CN" altLang="en-US" sz="3400" dirty="0"/>
              <a:t>、可编程</a:t>
            </a:r>
            <a:r>
              <a:rPr lang="en-US" altLang="zh-CN" sz="3400" dirty="0"/>
              <a:t>ROM </a:t>
            </a:r>
            <a:endParaRPr lang="en-US" altLang="zh-CN" sz="3400" dirty="0"/>
          </a:p>
          <a:p>
            <a:r>
              <a:rPr lang="en-US" altLang="zh-CN" sz="2800" dirty="0"/>
              <a:t>EPROM</a:t>
            </a:r>
            <a:r>
              <a:rPr lang="zh-CN" altLang="en-US" sz="2800" dirty="0"/>
              <a:t>叫做</a:t>
            </a:r>
            <a:r>
              <a:rPr lang="zh-CN" altLang="en-US" sz="2800" dirty="0">
                <a:solidFill>
                  <a:srgbClr val="0000FF"/>
                </a:solidFill>
              </a:rPr>
              <a:t>光擦除可编程可读存储器</a:t>
            </a:r>
            <a:r>
              <a:rPr lang="zh-CN" altLang="en-US" sz="2800" dirty="0"/>
              <a:t>。它的存储内容可以根据需要写入，当需要更新时将原存储内容抹去，再写入新的内容。</a:t>
            </a:r>
            <a:r>
              <a:rPr lang="en-US" altLang="zh-CN" sz="2800" dirty="0"/>
              <a:t></a:t>
            </a:r>
            <a:endParaRPr lang="en-US" altLang="zh-CN" sz="2800" dirty="0"/>
          </a:p>
          <a:p>
            <a:r>
              <a:rPr lang="zh-CN" altLang="en-US" sz="2800" dirty="0"/>
              <a:t>现以</a:t>
            </a:r>
            <a:r>
              <a:rPr lang="zh-CN" altLang="en-US" sz="2800" dirty="0">
                <a:solidFill>
                  <a:srgbClr val="0000FF"/>
                </a:solidFill>
              </a:rPr>
              <a:t>浮栅雪崩注入型</a:t>
            </a:r>
            <a:r>
              <a:rPr lang="en-US" altLang="zh-CN" sz="2800" dirty="0">
                <a:solidFill>
                  <a:srgbClr val="0000FF"/>
                </a:solidFill>
              </a:rPr>
              <a:t>MOS</a:t>
            </a:r>
            <a:r>
              <a:rPr lang="zh-CN" altLang="en-US" sz="2800" dirty="0"/>
              <a:t>管为存储元的</a:t>
            </a:r>
            <a:r>
              <a:rPr lang="en-US" altLang="zh-CN" sz="2800" dirty="0"/>
              <a:t>EPROM</a:t>
            </a:r>
            <a:r>
              <a:rPr lang="zh-CN" altLang="en-US" sz="2800" dirty="0"/>
              <a:t>为例进行说明，结构如下图所示。</a:t>
            </a:r>
            <a:r>
              <a:rPr lang="en-US" altLang="zh-CN" sz="3400" dirty="0"/>
              <a:t>  </a:t>
            </a:r>
            <a:endParaRPr lang="en-US" altLang="zh-CN" sz="3400" dirty="0"/>
          </a:p>
        </p:txBody>
      </p:sp>
      <p:pic>
        <p:nvPicPr>
          <p:cNvPr id="69636" name="Picture 5"/>
          <p:cNvPicPr>
            <a:picLocks noChangeAspect="1"/>
          </p:cNvPicPr>
          <p:nvPr/>
        </p:nvPicPr>
        <p:blipFill>
          <a:blip r:embed="rId1"/>
          <a:stretch>
            <a:fillRect/>
          </a:stretch>
        </p:blipFill>
        <p:spPr>
          <a:xfrm>
            <a:off x="1404938" y="4221163"/>
            <a:ext cx="6335712" cy="2195512"/>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p:cNvSpPr>
          <p:nvPr>
            <p:ph type="title"/>
          </p:nvPr>
        </p:nvSpPr>
        <p:spPr>
          <a:xfrm>
            <a:off x="639763" y="344488"/>
            <a:ext cx="7532687" cy="563562"/>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38915" name="Rectangle 3"/>
          <p:cNvSpPr>
            <a:spLocks noGrp="1"/>
          </p:cNvSpPr>
          <p:nvPr>
            <p:ph idx="1"/>
          </p:nvPr>
        </p:nvSpPr>
        <p:spPr>
          <a:xfrm>
            <a:off x="684213" y="1125538"/>
            <a:ext cx="7488237" cy="2663825"/>
          </a:xfrm>
        </p:spPr>
        <p:txBody>
          <a:bodyPr vert="horz" wrap="square" lIns="91440" tIns="45720" rIns="91440" bIns="45720" anchor="t" anchorCtr="0"/>
          <a:p>
            <a:pPr>
              <a:lnSpc>
                <a:spcPct val="80000"/>
              </a:lnSpc>
            </a:pPr>
            <a:r>
              <a:rPr lang="zh-CN" altLang="en-US" sz="2100" dirty="0"/>
              <a:t>现以浮栅雪崩注入型</a:t>
            </a:r>
            <a:r>
              <a:rPr lang="en-US" altLang="zh-CN" sz="2100" dirty="0"/>
              <a:t>MOS</a:t>
            </a:r>
            <a:r>
              <a:rPr lang="zh-CN" altLang="en-US" sz="2100" dirty="0"/>
              <a:t>管为存储元的</a:t>
            </a:r>
            <a:r>
              <a:rPr lang="en-US" altLang="zh-CN" sz="2100" dirty="0"/>
              <a:t>EPROM</a:t>
            </a:r>
            <a:r>
              <a:rPr lang="zh-CN" altLang="en-US" sz="2100" dirty="0"/>
              <a:t>为例进行说明，结构如图</a:t>
            </a:r>
            <a:r>
              <a:rPr lang="en-US" altLang="zh-CN" sz="2100" dirty="0"/>
              <a:t>(a)</a:t>
            </a:r>
            <a:r>
              <a:rPr lang="zh-CN" altLang="en-US" sz="2100" dirty="0"/>
              <a:t>所示，图</a:t>
            </a:r>
            <a:r>
              <a:rPr lang="en-US" altLang="zh-CN" sz="2100" dirty="0"/>
              <a:t>(b)</a:t>
            </a:r>
            <a:r>
              <a:rPr lang="zh-CN" altLang="en-US" sz="2100" dirty="0"/>
              <a:t>是</a:t>
            </a:r>
            <a:r>
              <a:rPr lang="zh-CN" altLang="en-US" sz="2100" dirty="0">
                <a:solidFill>
                  <a:srgbClr val="0000FF"/>
                </a:solidFill>
              </a:rPr>
              <a:t>电路符号</a:t>
            </a:r>
            <a:r>
              <a:rPr lang="zh-CN" altLang="en-US" sz="2100" dirty="0"/>
              <a:t>。</a:t>
            </a:r>
            <a:endParaRPr lang="en-US" altLang="zh-CN" sz="2100" dirty="0"/>
          </a:p>
          <a:p>
            <a:pPr>
              <a:lnSpc>
                <a:spcPct val="80000"/>
              </a:lnSpc>
            </a:pPr>
            <a:r>
              <a:rPr lang="zh-CN" altLang="en-US" sz="2100" dirty="0"/>
              <a:t>若在漏极</a:t>
            </a:r>
            <a:r>
              <a:rPr lang="en-US" altLang="zh-CN" sz="2100" dirty="0"/>
              <a:t>D</a:t>
            </a:r>
            <a:r>
              <a:rPr lang="zh-CN" altLang="en-US" sz="2100" dirty="0"/>
              <a:t>端加上约几十伏的脉冲电压，使得沟道中的电场足够强，则会造成雪崩，产生很多高能量电子。此时，若在</a:t>
            </a:r>
            <a:r>
              <a:rPr lang="en-US" altLang="zh-CN" sz="2100" dirty="0"/>
              <a:t>G2</a:t>
            </a:r>
            <a:r>
              <a:rPr lang="zh-CN" altLang="en-US" sz="2100" dirty="0"/>
              <a:t>栅上加上正电压，形成方向与沟道垂直的电场，便可使沟道中的电子穿过氧化层而注入到</a:t>
            </a:r>
            <a:r>
              <a:rPr lang="en-US" altLang="zh-CN" sz="2100" dirty="0"/>
              <a:t>G1</a:t>
            </a:r>
            <a:r>
              <a:rPr lang="zh-CN" altLang="en-US" sz="2100" dirty="0"/>
              <a:t>栅，从而使</a:t>
            </a:r>
            <a:r>
              <a:rPr lang="en-US" altLang="zh-CN" sz="2100" dirty="0"/>
              <a:t>G1</a:t>
            </a:r>
            <a:r>
              <a:rPr lang="zh-CN" altLang="en-US" sz="2100" dirty="0"/>
              <a:t>栅积累负电荷。</a:t>
            </a:r>
            <a:endParaRPr lang="en-US" altLang="zh-CN" sz="2100" dirty="0"/>
          </a:p>
          <a:p>
            <a:pPr>
              <a:lnSpc>
                <a:spcPct val="80000"/>
              </a:lnSpc>
            </a:pPr>
            <a:r>
              <a:rPr lang="zh-CN" altLang="en-US" sz="2100" dirty="0"/>
              <a:t>由于</a:t>
            </a:r>
            <a:r>
              <a:rPr lang="en-US" altLang="zh-CN" sz="2100" dirty="0"/>
              <a:t>G1</a:t>
            </a:r>
            <a:r>
              <a:rPr lang="zh-CN" altLang="en-US" sz="2100" dirty="0"/>
              <a:t>栅周围都是绝缘的二氧化硅层，泄漏电流极小，所以一旦电子注入到</a:t>
            </a:r>
            <a:r>
              <a:rPr lang="en-US" altLang="zh-CN" sz="2100" dirty="0"/>
              <a:t>G1</a:t>
            </a:r>
            <a:r>
              <a:rPr lang="zh-CN" altLang="en-US" sz="2100" dirty="0"/>
              <a:t>栅后，就能长期保存。</a:t>
            </a:r>
            <a:r>
              <a:rPr lang="en-US" altLang="zh-CN" sz="1900" dirty="0"/>
              <a:t> </a:t>
            </a:r>
            <a:endParaRPr lang="en-US" altLang="zh-CN" sz="1900" dirty="0"/>
          </a:p>
        </p:txBody>
      </p:sp>
      <p:pic>
        <p:nvPicPr>
          <p:cNvPr id="70660" name="Picture 6"/>
          <p:cNvPicPr>
            <a:picLocks noChangeAspect="1"/>
          </p:cNvPicPr>
          <p:nvPr/>
        </p:nvPicPr>
        <p:blipFill>
          <a:blip r:embed="rId1"/>
          <a:stretch>
            <a:fillRect/>
          </a:stretch>
        </p:blipFill>
        <p:spPr>
          <a:xfrm>
            <a:off x="1258888" y="3933825"/>
            <a:ext cx="6337300" cy="21955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915">
                                            <p:txEl>
                                              <p:charRg st="51" end="161"/>
                                            </p:txEl>
                                          </p:spTgt>
                                        </p:tgtEl>
                                        <p:attrNameLst>
                                          <p:attrName>style.visibility</p:attrName>
                                        </p:attrNameLst>
                                      </p:cBhvr>
                                      <p:to>
                                        <p:strVal val="visible"/>
                                      </p:to>
                                    </p:set>
                                    <p:animEffect transition="in" filter="blinds(horizontal)">
                                      <p:cBhvr>
                                        <p:cTn id="7" dur="500"/>
                                        <p:tgtEl>
                                          <p:spTgt spid="38915">
                                            <p:txEl>
                                              <p:charRg st="51" end="16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8915">
                                            <p:txEl>
                                              <p:charRg st="161" end="209"/>
                                            </p:txEl>
                                          </p:spTgt>
                                        </p:tgtEl>
                                        <p:attrNameLst>
                                          <p:attrName>style.visibility</p:attrName>
                                        </p:attrNameLst>
                                      </p:cBhvr>
                                      <p:to>
                                        <p:strVal val="visible"/>
                                      </p:to>
                                    </p:set>
                                    <p:animEffect transition="in" filter="blinds(horizontal)">
                                      <p:cBhvr>
                                        <p:cTn id="12" dur="500"/>
                                        <p:tgtEl>
                                          <p:spTgt spid="38915">
                                            <p:txEl>
                                              <p:charRg st="161" end="20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p:cNvSpPr>
          <p:nvPr>
            <p:ph type="title"/>
          </p:nvPr>
        </p:nvSpPr>
        <p:spPr>
          <a:xfrm>
            <a:off x="457200" y="188913"/>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39939" name="Rectangle 3"/>
          <p:cNvSpPr>
            <a:spLocks noGrp="1"/>
          </p:cNvSpPr>
          <p:nvPr>
            <p:ph idx="1"/>
          </p:nvPr>
        </p:nvSpPr>
        <p:spPr>
          <a:xfrm>
            <a:off x="538163" y="1268413"/>
            <a:ext cx="7921625" cy="2911475"/>
          </a:xfrm>
        </p:spPr>
        <p:txBody>
          <a:bodyPr vert="horz" wrap="square" lIns="91440" tIns="45720" rIns="91440" bIns="45720" anchor="t" anchorCtr="0"/>
          <a:p>
            <a:pPr>
              <a:lnSpc>
                <a:spcPct val="90000"/>
              </a:lnSpc>
            </a:pPr>
            <a:r>
              <a:rPr lang="zh-CN" altLang="en-US" sz="2200" dirty="0"/>
              <a:t>当</a:t>
            </a:r>
            <a:r>
              <a:rPr lang="en-US" altLang="zh-CN" sz="2200" dirty="0"/>
              <a:t>G1</a:t>
            </a:r>
            <a:r>
              <a:rPr lang="zh-CN" altLang="en-US" sz="2200" dirty="0"/>
              <a:t>栅有电子积累时，该</a:t>
            </a:r>
            <a:r>
              <a:rPr lang="en-US" altLang="zh-CN" sz="2200" dirty="0"/>
              <a:t>MOS</a:t>
            </a:r>
            <a:r>
              <a:rPr lang="zh-CN" altLang="en-US" sz="2200" dirty="0"/>
              <a:t>管的开启电压变得很高，即使</a:t>
            </a:r>
            <a:r>
              <a:rPr lang="en-US" altLang="zh-CN" sz="2200" dirty="0"/>
              <a:t>G2</a:t>
            </a:r>
            <a:r>
              <a:rPr lang="zh-CN" altLang="en-US" sz="2200" dirty="0"/>
              <a:t>栅为高电平，该管仍不能导通，相当于存储了“</a:t>
            </a:r>
            <a:r>
              <a:rPr lang="en-US" altLang="zh-CN" sz="2200" dirty="0"/>
              <a:t>0</a:t>
            </a:r>
            <a:r>
              <a:rPr lang="zh-CN" altLang="en-US" sz="2200" dirty="0"/>
              <a:t>”。反之，</a:t>
            </a:r>
            <a:r>
              <a:rPr lang="en-US" altLang="zh-CN" sz="2200" dirty="0"/>
              <a:t>G1</a:t>
            </a:r>
            <a:r>
              <a:rPr lang="zh-CN" altLang="en-US" sz="2200" dirty="0"/>
              <a:t>栅无电子积累时，</a:t>
            </a:r>
            <a:r>
              <a:rPr lang="en-US" altLang="zh-CN" sz="2200" dirty="0"/>
              <a:t>MOS</a:t>
            </a:r>
            <a:r>
              <a:rPr lang="zh-CN" altLang="en-US" sz="2200" dirty="0"/>
              <a:t>管的开启电压较低，当</a:t>
            </a:r>
            <a:r>
              <a:rPr lang="en-US" altLang="zh-CN" sz="2200" dirty="0"/>
              <a:t>G2</a:t>
            </a:r>
            <a:r>
              <a:rPr lang="zh-CN" altLang="en-US" sz="2200" dirty="0"/>
              <a:t>栅为高电平时，该管可以导通，相当于存储了“</a:t>
            </a:r>
            <a:r>
              <a:rPr lang="en-US" altLang="zh-CN" sz="2200" dirty="0"/>
              <a:t>1</a:t>
            </a:r>
            <a:r>
              <a:rPr lang="zh-CN" altLang="en-US" sz="2200" dirty="0"/>
              <a:t>”。</a:t>
            </a:r>
            <a:endParaRPr lang="en-US" altLang="zh-CN" sz="2200" dirty="0"/>
          </a:p>
          <a:p>
            <a:pPr>
              <a:lnSpc>
                <a:spcPct val="90000"/>
              </a:lnSpc>
            </a:pPr>
            <a:r>
              <a:rPr lang="zh-CN" altLang="en-US" sz="2200" dirty="0"/>
              <a:t>图</a:t>
            </a:r>
            <a:r>
              <a:rPr lang="en-US" altLang="zh-CN" sz="2200" dirty="0"/>
              <a:t>(d)</a:t>
            </a:r>
            <a:r>
              <a:rPr lang="zh-CN" altLang="en-US" sz="2200" dirty="0"/>
              <a:t>示出了读出时的电路，它采用二维译码方式：</a:t>
            </a:r>
            <a:r>
              <a:rPr lang="en-US" altLang="zh-CN" sz="2200" dirty="0"/>
              <a:t>x</a:t>
            </a:r>
            <a:r>
              <a:rPr lang="zh-CN" altLang="en-US" sz="2200" dirty="0"/>
              <a:t>地址译码器的输出</a:t>
            </a:r>
            <a:r>
              <a:rPr lang="en-US" altLang="zh-CN" sz="2200" dirty="0"/>
              <a:t>xi</a:t>
            </a:r>
            <a:r>
              <a:rPr lang="zh-CN" altLang="en-US" sz="2200" dirty="0"/>
              <a:t>与</a:t>
            </a:r>
            <a:r>
              <a:rPr lang="en-US" altLang="zh-CN" sz="2200" dirty="0"/>
              <a:t>G2</a:t>
            </a:r>
            <a:r>
              <a:rPr lang="zh-CN" altLang="en-US" sz="2200" dirty="0"/>
              <a:t>栅极相连，以决定</a:t>
            </a:r>
            <a:r>
              <a:rPr lang="en-US" altLang="zh-CN" sz="2200" dirty="0"/>
              <a:t>T2</a:t>
            </a:r>
            <a:r>
              <a:rPr lang="zh-CN" altLang="en-US" sz="2200" dirty="0"/>
              <a:t>管是否选中；</a:t>
            </a:r>
            <a:r>
              <a:rPr lang="en-US" altLang="zh-CN" sz="2200" dirty="0"/>
              <a:t>y</a:t>
            </a:r>
            <a:r>
              <a:rPr lang="zh-CN" altLang="en-US" sz="2200" dirty="0"/>
              <a:t>地址译码器的输出</a:t>
            </a:r>
            <a:r>
              <a:rPr lang="en-US" altLang="zh-CN" sz="2200" dirty="0"/>
              <a:t>yi</a:t>
            </a:r>
            <a:r>
              <a:rPr lang="zh-CN" altLang="en-US" sz="2200" dirty="0"/>
              <a:t>与</a:t>
            </a:r>
            <a:r>
              <a:rPr lang="en-US" altLang="zh-CN" sz="2200" dirty="0"/>
              <a:t>T1</a:t>
            </a:r>
            <a:r>
              <a:rPr lang="zh-CN" altLang="en-US" sz="2200" dirty="0"/>
              <a:t>管栅极相连，控制其数据是否读出。</a:t>
            </a:r>
            <a:endParaRPr lang="en-US" altLang="zh-CN" sz="2200" dirty="0"/>
          </a:p>
          <a:p>
            <a:pPr>
              <a:lnSpc>
                <a:spcPct val="90000"/>
              </a:lnSpc>
            </a:pPr>
            <a:r>
              <a:rPr lang="zh-CN" altLang="en-US" sz="2200" dirty="0"/>
              <a:t>当片选信号</a:t>
            </a:r>
            <a:r>
              <a:rPr lang="en-US" altLang="zh-CN" sz="2200" dirty="0"/>
              <a:t>CS</a:t>
            </a:r>
            <a:r>
              <a:rPr lang="zh-CN" altLang="en-US" sz="2200" dirty="0"/>
              <a:t>为高电平即该片选中时，方能读出数据。</a:t>
            </a:r>
            <a:endParaRPr lang="zh-CN" altLang="en-US" sz="2200" dirty="0"/>
          </a:p>
        </p:txBody>
      </p:sp>
      <p:pic>
        <p:nvPicPr>
          <p:cNvPr id="72708" name="Picture 6"/>
          <p:cNvPicPr>
            <a:picLocks noChangeAspect="1"/>
          </p:cNvPicPr>
          <p:nvPr/>
        </p:nvPicPr>
        <p:blipFill>
          <a:blip r:embed="rId1"/>
          <a:stretch>
            <a:fillRect/>
          </a:stretch>
        </p:blipFill>
        <p:spPr>
          <a:xfrm>
            <a:off x="1042988" y="3852863"/>
            <a:ext cx="7129462" cy="26812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39">
                                            <p:txEl>
                                              <p:charRg st="0" end="10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9939">
                                            <p:txEl>
                                              <p:charRg st="107" end="192"/>
                                            </p:txEl>
                                          </p:spTgt>
                                        </p:tgtEl>
                                        <p:attrNameLst>
                                          <p:attrName>style.visibility</p:attrName>
                                        </p:attrNameLst>
                                      </p:cBhvr>
                                      <p:to>
                                        <p:strVal val="visible"/>
                                      </p:to>
                                    </p:set>
                                    <p:animEffect transition="in" filter="blinds(horizontal)">
                                      <p:cBhvr>
                                        <p:cTn id="11" dur="500"/>
                                        <p:tgtEl>
                                          <p:spTgt spid="39939">
                                            <p:txEl>
                                              <p:charRg st="107" end="19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39939">
                                            <p:txEl>
                                              <p:charRg st="192" end="218"/>
                                            </p:txEl>
                                          </p:spTgt>
                                        </p:tgtEl>
                                        <p:attrNameLst>
                                          <p:attrName>style.visibility</p:attrName>
                                        </p:attrNameLst>
                                      </p:cBhvr>
                                      <p:to>
                                        <p:strVal val="visible"/>
                                      </p:to>
                                    </p:set>
                                    <p:animEffect transition="in" filter="blinds(horizontal)">
                                      <p:cBhvr>
                                        <p:cTn id="16" dur="500"/>
                                        <p:tgtEl>
                                          <p:spTgt spid="39939">
                                            <p:txEl>
                                              <p:charRg st="192" end="2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p:cNvSpPr>
          <p:nvPr>
            <p:ph type="title"/>
          </p:nvPr>
        </p:nvSpPr>
        <p:spPr>
          <a:xfrm>
            <a:off x="457200" y="188913"/>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40963" name="Rectangle 3"/>
          <p:cNvSpPr>
            <a:spLocks noGrp="1"/>
          </p:cNvSpPr>
          <p:nvPr>
            <p:ph idx="1"/>
          </p:nvPr>
        </p:nvSpPr>
        <p:spPr>
          <a:xfrm>
            <a:off x="395288" y="1268413"/>
            <a:ext cx="8353425" cy="3168650"/>
          </a:xfrm>
        </p:spPr>
        <p:txBody>
          <a:bodyPr vert="horz" wrap="square" lIns="91440" tIns="45720" rIns="91440" bIns="45720" anchor="t" anchorCtr="0"/>
          <a:p>
            <a:r>
              <a:rPr lang="zh-CN" altLang="en-US" dirty="0"/>
              <a:t>这种器件的上方有一个石英窗口，如图</a:t>
            </a:r>
            <a:r>
              <a:rPr lang="en-US" altLang="zh-CN" dirty="0"/>
              <a:t>(c)</a:t>
            </a:r>
            <a:r>
              <a:rPr lang="zh-CN" altLang="en-US" dirty="0"/>
              <a:t>所示。当用光子能量较高的紫外光照射</a:t>
            </a:r>
            <a:r>
              <a:rPr lang="en-US" altLang="zh-CN" dirty="0"/>
              <a:t>G1</a:t>
            </a:r>
            <a:r>
              <a:rPr lang="zh-CN" altLang="en-US" dirty="0"/>
              <a:t>浮栅时，</a:t>
            </a:r>
            <a:r>
              <a:rPr lang="en-US" altLang="zh-CN" dirty="0"/>
              <a:t>G1</a:t>
            </a:r>
            <a:r>
              <a:rPr lang="zh-CN" altLang="en-US" dirty="0"/>
              <a:t>中电子获得足够能量，从而穿过氧化层回到衬底中，如图</a:t>
            </a:r>
            <a:r>
              <a:rPr lang="en-US" altLang="zh-CN" dirty="0"/>
              <a:t>(e)</a:t>
            </a:r>
            <a:r>
              <a:rPr lang="zh-CN" altLang="en-US" dirty="0"/>
              <a:t>所示。</a:t>
            </a:r>
            <a:endParaRPr lang="en-US" altLang="zh-CN" dirty="0"/>
          </a:p>
          <a:p>
            <a:r>
              <a:rPr lang="zh-CN" altLang="en-US" dirty="0"/>
              <a:t>这样可使浮栅上的电子消失，达到抹去存储信息的目的，相当于存储器又存了全“</a:t>
            </a:r>
            <a:r>
              <a:rPr lang="en-US" altLang="zh-CN" dirty="0"/>
              <a:t>1</a:t>
            </a:r>
            <a:r>
              <a:rPr lang="zh-CN" altLang="en-US" dirty="0"/>
              <a:t>”。</a:t>
            </a:r>
            <a:r>
              <a:rPr lang="en-US" altLang="zh-CN" dirty="0"/>
              <a:t></a:t>
            </a:r>
            <a:endParaRPr lang="en-US" altLang="zh-CN" dirty="0"/>
          </a:p>
        </p:txBody>
      </p:sp>
      <p:pic>
        <p:nvPicPr>
          <p:cNvPr id="73732" name="Picture 6"/>
          <p:cNvPicPr>
            <a:picLocks noChangeAspect="1"/>
          </p:cNvPicPr>
          <p:nvPr/>
        </p:nvPicPr>
        <p:blipFill>
          <a:blip r:embed="rId1"/>
          <a:stretch>
            <a:fillRect/>
          </a:stretch>
        </p:blipFill>
        <p:spPr>
          <a:xfrm>
            <a:off x="1258888" y="4365625"/>
            <a:ext cx="2305050" cy="2051050"/>
          </a:xfrm>
          <a:prstGeom prst="rect">
            <a:avLst/>
          </a:prstGeom>
          <a:noFill/>
          <a:ln w="9525">
            <a:noFill/>
          </a:ln>
        </p:spPr>
      </p:pic>
      <p:pic>
        <p:nvPicPr>
          <p:cNvPr id="73733" name="Picture 7"/>
          <p:cNvPicPr>
            <a:picLocks noChangeAspect="1"/>
          </p:cNvPicPr>
          <p:nvPr/>
        </p:nvPicPr>
        <p:blipFill>
          <a:blip r:embed="rId2"/>
          <a:stretch>
            <a:fillRect/>
          </a:stretch>
        </p:blipFill>
        <p:spPr>
          <a:xfrm>
            <a:off x="4645025" y="4292600"/>
            <a:ext cx="2374900" cy="23749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63">
                                            <p:txEl>
                                              <p:charRg st="0" end="77"/>
                                            </p:txEl>
                                          </p:spTgt>
                                        </p:tgtEl>
                                        <p:attrNameLst>
                                          <p:attrName>style.visibility</p:attrName>
                                        </p:attrNameLst>
                                      </p:cBhvr>
                                      <p:to>
                                        <p:strVal val="visible"/>
                                      </p:to>
                                    </p:set>
                                    <p:animEffect transition="in" filter="blinds(horizontal)">
                                      <p:cBhvr>
                                        <p:cTn id="7" dur="500"/>
                                        <p:tgtEl>
                                          <p:spTgt spid="40963">
                                            <p:txEl>
                                              <p:charRg st="0" end="77"/>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0963">
                                            <p:txEl>
                                              <p:charRg st="77" end="118"/>
                                            </p:txEl>
                                          </p:spTgt>
                                        </p:tgtEl>
                                        <p:attrNameLst>
                                          <p:attrName>style.visibility</p:attrName>
                                        </p:attrNameLst>
                                      </p:cBhvr>
                                      <p:to>
                                        <p:strVal val="visible"/>
                                      </p:to>
                                    </p:set>
                                    <p:animEffect transition="in" filter="blinds(horizontal)">
                                      <p:cBhvr>
                                        <p:cTn id="12" dur="500"/>
                                        <p:tgtEl>
                                          <p:spTgt spid="40963">
                                            <p:txEl>
                                              <p:charRg st="77" end="1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41987" name="Rectangle 3"/>
          <p:cNvSpPr>
            <a:spLocks noGrp="1"/>
          </p:cNvSpPr>
          <p:nvPr>
            <p:ph idx="1"/>
          </p:nvPr>
        </p:nvSpPr>
        <p:spPr>
          <a:xfrm>
            <a:off x="395288" y="1268413"/>
            <a:ext cx="7921625" cy="2520950"/>
          </a:xfrm>
        </p:spPr>
        <p:txBody>
          <a:bodyPr vert="horz" wrap="square" lIns="91440" tIns="45720" rIns="91440" bIns="45720" anchor="t" anchorCtr="0"/>
          <a:p>
            <a:pPr>
              <a:lnSpc>
                <a:spcPct val="90000"/>
              </a:lnSpc>
            </a:pPr>
            <a:r>
              <a:rPr lang="zh-CN" altLang="en-US" sz="2600" dirty="0"/>
              <a:t>这种</a:t>
            </a:r>
            <a:r>
              <a:rPr lang="en-US" altLang="zh-CN" sz="2600" dirty="0"/>
              <a:t>EPROM</a:t>
            </a:r>
            <a:r>
              <a:rPr lang="zh-CN" altLang="en-US" sz="2600" dirty="0"/>
              <a:t>出厂时为全“</a:t>
            </a:r>
            <a:r>
              <a:rPr lang="en-US" altLang="zh-CN" sz="2600" dirty="0"/>
              <a:t>1</a:t>
            </a:r>
            <a:r>
              <a:rPr lang="zh-CN" altLang="en-US" sz="2600" dirty="0"/>
              <a:t>”状态，使用者可根据需要写“</a:t>
            </a:r>
            <a:r>
              <a:rPr lang="en-US" altLang="zh-CN" sz="2600" dirty="0"/>
              <a:t>0</a:t>
            </a:r>
            <a:r>
              <a:rPr lang="zh-CN" altLang="en-US" sz="2600" dirty="0"/>
              <a:t>”。</a:t>
            </a:r>
            <a:endParaRPr lang="en-US" altLang="zh-CN" sz="2600" dirty="0"/>
          </a:p>
          <a:p>
            <a:pPr>
              <a:lnSpc>
                <a:spcPct val="90000"/>
              </a:lnSpc>
            </a:pPr>
            <a:r>
              <a:rPr lang="zh-CN" altLang="en-US" sz="2600" dirty="0"/>
              <a:t>写“</a:t>
            </a:r>
            <a:r>
              <a:rPr lang="en-US" altLang="zh-CN" sz="2600" dirty="0"/>
              <a:t>0</a:t>
            </a:r>
            <a:r>
              <a:rPr lang="zh-CN" altLang="en-US" sz="2600" dirty="0"/>
              <a:t>”电路如图</a:t>
            </a:r>
            <a:r>
              <a:rPr lang="en-US" altLang="zh-CN" sz="2600" dirty="0"/>
              <a:t>(f)</a:t>
            </a:r>
            <a:r>
              <a:rPr lang="zh-CN" altLang="en-US" sz="2600" dirty="0"/>
              <a:t>所示，</a:t>
            </a:r>
            <a:r>
              <a:rPr lang="en-US" altLang="zh-CN" sz="2600" dirty="0"/>
              <a:t>xi</a:t>
            </a:r>
            <a:r>
              <a:rPr lang="zh-CN" altLang="en-US" sz="2600" dirty="0"/>
              <a:t>和</a:t>
            </a:r>
            <a:r>
              <a:rPr lang="en-US" altLang="zh-CN" sz="2600" dirty="0"/>
              <a:t>yi</a:t>
            </a:r>
            <a:r>
              <a:rPr lang="zh-CN" altLang="en-US" sz="2600" dirty="0"/>
              <a:t>选择线为高电位，</a:t>
            </a:r>
            <a:r>
              <a:rPr lang="en-US" altLang="zh-CN" sz="2600" dirty="0"/>
              <a:t>P</a:t>
            </a:r>
            <a:r>
              <a:rPr lang="zh-CN" altLang="en-US" sz="2600" dirty="0"/>
              <a:t>端加</a:t>
            </a:r>
            <a:r>
              <a:rPr lang="en-US" altLang="zh-CN" sz="2600" dirty="0"/>
              <a:t>20</a:t>
            </a:r>
            <a:r>
              <a:rPr lang="zh-CN" altLang="en-US" sz="2600" dirty="0"/>
              <a:t>多伏的正脉冲，脉冲宽度为</a:t>
            </a:r>
            <a:r>
              <a:rPr lang="en-US" altLang="zh-CN" sz="2600" dirty="0"/>
              <a:t>0.1</a:t>
            </a:r>
            <a:r>
              <a:rPr lang="zh-CN" altLang="en-US" sz="2600" dirty="0"/>
              <a:t>～</a:t>
            </a:r>
            <a:r>
              <a:rPr lang="en-US" altLang="zh-CN" sz="2600" dirty="0"/>
              <a:t>1ms</a:t>
            </a:r>
            <a:r>
              <a:rPr lang="zh-CN" altLang="en-US" sz="2600" dirty="0"/>
              <a:t>。</a:t>
            </a:r>
            <a:endParaRPr lang="en-US" altLang="zh-CN" sz="2600" dirty="0"/>
          </a:p>
          <a:p>
            <a:pPr>
              <a:lnSpc>
                <a:spcPct val="90000"/>
              </a:lnSpc>
            </a:pPr>
            <a:r>
              <a:rPr lang="en-US" altLang="zh-CN" sz="2600" dirty="0"/>
              <a:t>EPROM</a:t>
            </a:r>
            <a:r>
              <a:rPr lang="zh-CN" altLang="en-US" sz="2600" dirty="0"/>
              <a:t>允许多次重写。抹去时，用</a:t>
            </a:r>
            <a:r>
              <a:rPr lang="en-US" altLang="zh-CN" sz="2600" dirty="0"/>
              <a:t>40W</a:t>
            </a:r>
            <a:r>
              <a:rPr lang="zh-CN" altLang="en-US" sz="2600" dirty="0"/>
              <a:t>紫外灯，相距</a:t>
            </a:r>
            <a:r>
              <a:rPr lang="en-US" altLang="zh-CN" sz="2600" dirty="0"/>
              <a:t>2cm</a:t>
            </a:r>
            <a:r>
              <a:rPr lang="zh-CN" altLang="en-US" sz="2600" dirty="0"/>
              <a:t>，照射几分钟即可。</a:t>
            </a:r>
            <a:r>
              <a:rPr lang="en-US" altLang="zh-CN" sz="2600" dirty="0"/>
              <a:t> </a:t>
            </a:r>
            <a:endParaRPr lang="en-US" altLang="zh-CN" sz="2600" dirty="0"/>
          </a:p>
        </p:txBody>
      </p:sp>
      <p:pic>
        <p:nvPicPr>
          <p:cNvPr id="74756" name="Picture 6"/>
          <p:cNvPicPr>
            <a:picLocks noChangeAspect="1"/>
          </p:cNvPicPr>
          <p:nvPr/>
        </p:nvPicPr>
        <p:blipFill>
          <a:blip r:embed="rId1"/>
          <a:stretch>
            <a:fillRect/>
          </a:stretch>
        </p:blipFill>
        <p:spPr>
          <a:xfrm>
            <a:off x="4772025" y="3933825"/>
            <a:ext cx="2241550" cy="2519363"/>
          </a:xfrm>
          <a:prstGeom prst="rect">
            <a:avLst/>
          </a:prstGeom>
          <a:noFill/>
          <a:ln w="9525">
            <a:noFill/>
          </a:ln>
        </p:spPr>
      </p:pic>
      <p:pic>
        <p:nvPicPr>
          <p:cNvPr id="74757" name="Picture 7"/>
          <p:cNvPicPr>
            <a:picLocks noChangeAspect="1"/>
          </p:cNvPicPr>
          <p:nvPr/>
        </p:nvPicPr>
        <p:blipFill>
          <a:blip r:embed="rId2"/>
          <a:stretch>
            <a:fillRect/>
          </a:stretch>
        </p:blipFill>
        <p:spPr>
          <a:xfrm>
            <a:off x="1355725" y="3789363"/>
            <a:ext cx="2495550" cy="25923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87">
                                            <p:txEl>
                                              <p:charRg st="0" end="32"/>
                                            </p:txEl>
                                          </p:spTgt>
                                        </p:tgtEl>
                                        <p:attrNameLst>
                                          <p:attrName>style.visibility</p:attrName>
                                        </p:attrNameLst>
                                      </p:cBhvr>
                                      <p:to>
                                        <p:strVal val="visible"/>
                                      </p:to>
                                    </p:set>
                                    <p:animEffect transition="in" filter="blinds(horizontal)">
                                      <p:cBhvr>
                                        <p:cTn id="7" dur="500"/>
                                        <p:tgtEl>
                                          <p:spTgt spid="41987">
                                            <p:txEl>
                                              <p:charRg st="0" end="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987">
                                            <p:txEl>
                                              <p:charRg st="32" end="85"/>
                                            </p:txEl>
                                          </p:spTgt>
                                        </p:tgtEl>
                                        <p:attrNameLst>
                                          <p:attrName>style.visibility</p:attrName>
                                        </p:attrNameLst>
                                      </p:cBhvr>
                                      <p:to>
                                        <p:strVal val="visible"/>
                                      </p:to>
                                    </p:set>
                                    <p:animEffect transition="in" filter="blinds(horizontal)">
                                      <p:cBhvr>
                                        <p:cTn id="12" dur="500"/>
                                        <p:tgtEl>
                                          <p:spTgt spid="41987">
                                            <p:txEl>
                                              <p:charRg st="32" end="8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987">
                                            <p:txEl>
                                              <p:charRg st="85" end="125"/>
                                            </p:txEl>
                                          </p:spTgt>
                                        </p:tgtEl>
                                        <p:attrNameLst>
                                          <p:attrName>style.visibility</p:attrName>
                                        </p:attrNameLst>
                                      </p:cBhvr>
                                      <p:to>
                                        <p:strVal val="visible"/>
                                      </p:to>
                                    </p:set>
                                    <p:animEffect transition="in" filter="blinds(horizontal)">
                                      <p:cBhvr>
                                        <p:cTn id="17" dur="500"/>
                                        <p:tgtEl>
                                          <p:spTgt spid="41987">
                                            <p:txEl>
                                              <p:charRg st="85" end="1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43011" name="Rectangle 3"/>
          <p:cNvSpPr>
            <a:spLocks noGrp="1"/>
          </p:cNvSpPr>
          <p:nvPr>
            <p:ph idx="1"/>
          </p:nvPr>
        </p:nvSpPr>
        <p:spPr>
          <a:xfrm>
            <a:off x="250825" y="1196975"/>
            <a:ext cx="8137525" cy="3024188"/>
          </a:xfrm>
        </p:spPr>
        <p:txBody>
          <a:bodyPr vert="horz" wrap="square" lIns="91440" tIns="45720" rIns="91440" bIns="45720" anchor="t" anchorCtr="0"/>
          <a:p>
            <a:pPr>
              <a:lnSpc>
                <a:spcPct val="80000"/>
              </a:lnSpc>
            </a:pPr>
            <a:r>
              <a:rPr lang="en-US" altLang="zh-CN" sz="2400" dirty="0"/>
              <a:t>E</a:t>
            </a:r>
            <a:r>
              <a:rPr lang="en-US" altLang="zh-CN" sz="2400" baseline="30000" dirty="0"/>
              <a:t>2</a:t>
            </a:r>
            <a:r>
              <a:rPr lang="en-US" altLang="zh-CN" sz="2400" dirty="0"/>
              <a:t>PROM</a:t>
            </a:r>
            <a:r>
              <a:rPr lang="zh-CN" altLang="en-US" sz="2400" dirty="0"/>
              <a:t>存储元</a:t>
            </a:r>
            <a:r>
              <a:rPr lang="en-US" altLang="zh-CN" sz="2400" dirty="0"/>
              <a:t> </a:t>
            </a:r>
            <a:endParaRPr lang="en-US" altLang="zh-CN" sz="2400" dirty="0"/>
          </a:p>
          <a:p>
            <a:pPr>
              <a:lnSpc>
                <a:spcPct val="80000"/>
              </a:lnSpc>
              <a:buNone/>
            </a:pPr>
            <a:r>
              <a:rPr lang="en-US" altLang="zh-CN" sz="2200" dirty="0"/>
              <a:t>	     EEPROM</a:t>
            </a:r>
            <a:r>
              <a:rPr lang="zh-CN" altLang="en-US" sz="2200" dirty="0"/>
              <a:t>，叫做</a:t>
            </a:r>
            <a:r>
              <a:rPr lang="zh-CN" altLang="en-US" sz="2200" dirty="0">
                <a:solidFill>
                  <a:srgbClr val="0000FF"/>
                </a:solidFill>
              </a:rPr>
              <a:t>电擦除可编程只读存储器</a:t>
            </a:r>
            <a:r>
              <a:rPr lang="zh-CN" altLang="en-US" sz="2200" dirty="0"/>
              <a:t>。其存储元是一个具有两个栅极的</a:t>
            </a:r>
            <a:r>
              <a:rPr lang="en-US" altLang="zh-CN" sz="2200" dirty="0"/>
              <a:t>NMOS</a:t>
            </a:r>
            <a:r>
              <a:rPr lang="zh-CN" altLang="en-US" sz="2200" dirty="0"/>
              <a:t>管，如图</a:t>
            </a:r>
            <a:r>
              <a:rPr lang="en-US" altLang="zh-CN" sz="2200" dirty="0"/>
              <a:t>(a)</a:t>
            </a:r>
            <a:r>
              <a:rPr lang="zh-CN" altLang="en-US" sz="2200" dirty="0"/>
              <a:t>和</a:t>
            </a:r>
            <a:r>
              <a:rPr lang="en-US" altLang="zh-CN" sz="2200" dirty="0"/>
              <a:t>(b)</a:t>
            </a:r>
            <a:r>
              <a:rPr lang="zh-CN" altLang="en-US" sz="2200" dirty="0"/>
              <a:t>所示。</a:t>
            </a:r>
            <a:endParaRPr lang="en-US" altLang="zh-CN" sz="2200" dirty="0"/>
          </a:p>
          <a:p>
            <a:pPr>
              <a:lnSpc>
                <a:spcPct val="80000"/>
              </a:lnSpc>
              <a:buNone/>
            </a:pPr>
            <a:r>
              <a:rPr lang="en-US" altLang="zh-CN" sz="2200" dirty="0"/>
              <a:t>          G1</a:t>
            </a:r>
            <a:r>
              <a:rPr lang="zh-CN" altLang="en-US" sz="2200" dirty="0"/>
              <a:t>是控制栅，它是一个浮栅，无引出线；</a:t>
            </a:r>
            <a:r>
              <a:rPr lang="en-US" altLang="zh-CN" sz="2200" dirty="0"/>
              <a:t>G2</a:t>
            </a:r>
            <a:r>
              <a:rPr lang="zh-CN" altLang="en-US" sz="2200" dirty="0"/>
              <a:t>是抹去栅，它有引出线。</a:t>
            </a:r>
            <a:endParaRPr lang="en-US" altLang="zh-CN" sz="2200" dirty="0"/>
          </a:p>
          <a:p>
            <a:pPr>
              <a:lnSpc>
                <a:spcPct val="80000"/>
              </a:lnSpc>
              <a:buNone/>
            </a:pPr>
            <a:r>
              <a:rPr lang="en-US" altLang="zh-CN" sz="2200" dirty="0"/>
              <a:t>           </a:t>
            </a:r>
            <a:r>
              <a:rPr lang="zh-CN" altLang="en-US" sz="2200" dirty="0"/>
              <a:t>在</a:t>
            </a:r>
            <a:r>
              <a:rPr lang="en-US" altLang="zh-CN" sz="2200" dirty="0"/>
              <a:t>G1</a:t>
            </a:r>
            <a:r>
              <a:rPr lang="zh-CN" altLang="en-US" sz="2200" dirty="0"/>
              <a:t>栅和漏极</a:t>
            </a:r>
            <a:r>
              <a:rPr lang="en-US" altLang="zh-CN" sz="2200" dirty="0"/>
              <a:t>D</a:t>
            </a:r>
            <a:r>
              <a:rPr lang="zh-CN" altLang="en-US" sz="2200" dirty="0"/>
              <a:t>之间有一小面积的氧化层，其厚度极薄，可产生隧道效应。如图</a:t>
            </a:r>
            <a:r>
              <a:rPr lang="en-US" altLang="zh-CN" sz="2200" dirty="0"/>
              <a:t>(c)</a:t>
            </a:r>
            <a:r>
              <a:rPr lang="zh-CN" altLang="en-US" sz="2200" dirty="0"/>
              <a:t>所示，当</a:t>
            </a:r>
            <a:r>
              <a:rPr lang="en-US" altLang="zh-CN" sz="2200" dirty="0"/>
              <a:t>G2</a:t>
            </a:r>
            <a:r>
              <a:rPr lang="zh-CN" altLang="en-US" sz="2200" dirty="0"/>
              <a:t>栅加</a:t>
            </a:r>
            <a:r>
              <a:rPr lang="en-US" altLang="zh-CN" sz="2200" dirty="0"/>
              <a:t>20V</a:t>
            </a:r>
            <a:r>
              <a:rPr lang="zh-CN" altLang="en-US" sz="2200" dirty="0"/>
              <a:t>正脉冲</a:t>
            </a:r>
            <a:r>
              <a:rPr lang="en-US" altLang="zh-CN" sz="2200" dirty="0"/>
              <a:t>P1</a:t>
            </a:r>
            <a:r>
              <a:rPr lang="zh-CN" altLang="en-US" sz="2200" dirty="0"/>
              <a:t>时，通过隧道效应，电子由衬底注入到</a:t>
            </a:r>
            <a:r>
              <a:rPr lang="en-US" altLang="zh-CN" sz="2200" dirty="0"/>
              <a:t>G1</a:t>
            </a:r>
            <a:r>
              <a:rPr lang="zh-CN" altLang="en-US" sz="2200" dirty="0"/>
              <a:t>浮栅，相当于存储了“</a:t>
            </a:r>
            <a:r>
              <a:rPr lang="en-US" altLang="zh-CN" sz="2200" dirty="0"/>
              <a:t>1</a:t>
            </a:r>
            <a:r>
              <a:rPr lang="zh-CN" altLang="en-US" sz="2200" dirty="0"/>
              <a:t>”。利用此方法可将存储器抹成全“</a:t>
            </a:r>
            <a:r>
              <a:rPr lang="en-US" altLang="zh-CN" sz="2200" dirty="0"/>
              <a:t>1</a:t>
            </a:r>
            <a:r>
              <a:rPr lang="zh-CN" altLang="en-US" sz="2200" dirty="0"/>
              <a:t>”状态。</a:t>
            </a:r>
            <a:endParaRPr lang="zh-CN" altLang="en-US" sz="2200" dirty="0"/>
          </a:p>
        </p:txBody>
      </p:sp>
      <p:pic>
        <p:nvPicPr>
          <p:cNvPr id="75780" name="Picture 6"/>
          <p:cNvPicPr>
            <a:picLocks noChangeAspect="1"/>
          </p:cNvPicPr>
          <p:nvPr/>
        </p:nvPicPr>
        <p:blipFill>
          <a:blip r:embed="rId1"/>
          <a:stretch>
            <a:fillRect/>
          </a:stretch>
        </p:blipFill>
        <p:spPr>
          <a:xfrm>
            <a:off x="971550" y="4365625"/>
            <a:ext cx="4032250" cy="2093913"/>
          </a:xfrm>
          <a:prstGeom prst="rect">
            <a:avLst/>
          </a:prstGeom>
          <a:noFill/>
          <a:ln w="9525">
            <a:noFill/>
          </a:ln>
        </p:spPr>
      </p:pic>
      <p:pic>
        <p:nvPicPr>
          <p:cNvPr id="75781" name="Picture 7"/>
          <p:cNvPicPr>
            <a:picLocks noChangeAspect="1"/>
          </p:cNvPicPr>
          <p:nvPr/>
        </p:nvPicPr>
        <p:blipFill>
          <a:blip r:embed="rId2"/>
          <a:stretch>
            <a:fillRect/>
          </a:stretch>
        </p:blipFill>
        <p:spPr>
          <a:xfrm>
            <a:off x="6156325" y="3789363"/>
            <a:ext cx="1541463" cy="28527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3011">
                                            <p:txEl>
                                              <p:charRg st="114" end="232"/>
                                            </p:txEl>
                                          </p:spTgt>
                                        </p:tgtEl>
                                        <p:attrNameLst>
                                          <p:attrName>style.visibility</p:attrName>
                                        </p:attrNameLst>
                                      </p:cBhvr>
                                      <p:to>
                                        <p:strVal val="visible"/>
                                      </p:to>
                                    </p:set>
                                    <p:animEffect transition="in" filter="blinds(horizontal)">
                                      <p:cBhvr>
                                        <p:cTn id="7" dur="500"/>
                                        <p:tgtEl>
                                          <p:spTgt spid="43011">
                                            <p:txEl>
                                              <p:charRg st="114" end="23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2"/>
          <p:cNvSpPr>
            <a:spLocks noGrp="1"/>
          </p:cNvSpPr>
          <p:nvPr>
            <p:ph type="title"/>
          </p:nvPr>
        </p:nvSpPr>
        <p:spPr>
          <a:xfrm>
            <a:off x="457200" y="188913"/>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44035" name="Rectangle 3"/>
          <p:cNvSpPr>
            <a:spLocks noGrp="1"/>
          </p:cNvSpPr>
          <p:nvPr>
            <p:ph idx="1"/>
          </p:nvPr>
        </p:nvSpPr>
        <p:spPr>
          <a:xfrm>
            <a:off x="395288" y="1196975"/>
            <a:ext cx="8064500" cy="2592388"/>
          </a:xfrm>
        </p:spPr>
        <p:txBody>
          <a:bodyPr vert="horz" wrap="square" lIns="91440" tIns="45720" rIns="91440" bIns="45720" anchor="t" anchorCtr="0"/>
          <a:p>
            <a:pPr>
              <a:lnSpc>
                <a:spcPct val="80000"/>
              </a:lnSpc>
            </a:pPr>
            <a:r>
              <a:rPr lang="zh-CN" altLang="en-US" sz="2000" dirty="0"/>
              <a:t>这种存储器在出厂时，存储内容为全“</a:t>
            </a:r>
            <a:r>
              <a:rPr lang="en-US" altLang="zh-CN" sz="2000" dirty="0"/>
              <a:t>1</a:t>
            </a:r>
            <a:r>
              <a:rPr lang="zh-CN" altLang="en-US" sz="2000" dirty="0"/>
              <a:t>”状态。使用时，可根据要求把某些存储元写“</a:t>
            </a:r>
            <a:r>
              <a:rPr lang="en-US" altLang="zh-CN" sz="2000" dirty="0"/>
              <a:t>0</a:t>
            </a:r>
            <a:r>
              <a:rPr lang="zh-CN" altLang="en-US" sz="2000" dirty="0"/>
              <a:t>”。</a:t>
            </a:r>
            <a:endParaRPr lang="en-US" altLang="zh-CN" sz="2000" dirty="0"/>
          </a:p>
          <a:p>
            <a:pPr>
              <a:lnSpc>
                <a:spcPct val="80000"/>
              </a:lnSpc>
            </a:pPr>
            <a:r>
              <a:rPr lang="zh-CN" altLang="en-US" sz="2000" dirty="0"/>
              <a:t>写“</a:t>
            </a:r>
            <a:r>
              <a:rPr lang="en-US" altLang="zh-CN" sz="2000" dirty="0"/>
              <a:t>0</a:t>
            </a:r>
            <a:r>
              <a:rPr lang="zh-CN" altLang="en-US" sz="2000" dirty="0"/>
              <a:t>”电路如图</a:t>
            </a:r>
            <a:r>
              <a:rPr lang="en-US" altLang="zh-CN" sz="2000" dirty="0"/>
              <a:t>(d)</a:t>
            </a:r>
            <a:r>
              <a:rPr lang="zh-CN" altLang="en-US" sz="2000" dirty="0"/>
              <a:t>所示。漏极</a:t>
            </a:r>
            <a:r>
              <a:rPr lang="en-US" altLang="zh-CN" sz="2000" dirty="0"/>
              <a:t>D</a:t>
            </a:r>
            <a:r>
              <a:rPr lang="zh-CN" altLang="en-US" sz="2000" dirty="0"/>
              <a:t>加</a:t>
            </a:r>
            <a:r>
              <a:rPr lang="en-US" altLang="zh-CN" sz="2000" dirty="0"/>
              <a:t>20V</a:t>
            </a:r>
            <a:r>
              <a:rPr lang="zh-CN" altLang="en-US" sz="2000" dirty="0"/>
              <a:t>正脉冲</a:t>
            </a:r>
            <a:r>
              <a:rPr lang="en-US" altLang="zh-CN" sz="2000" dirty="0"/>
              <a:t>P2,G2</a:t>
            </a:r>
            <a:r>
              <a:rPr lang="zh-CN" altLang="en-US" sz="2000" dirty="0"/>
              <a:t>栅接地，浮栅上电子通过隧道返回衬底，相当于写“</a:t>
            </a:r>
            <a:r>
              <a:rPr lang="en-US" altLang="zh-CN" sz="2000" dirty="0"/>
              <a:t>0</a:t>
            </a:r>
            <a:r>
              <a:rPr lang="zh-CN" altLang="en-US" sz="2000" dirty="0"/>
              <a:t>”。</a:t>
            </a:r>
            <a:endParaRPr lang="en-US" altLang="zh-CN" sz="2000" dirty="0"/>
          </a:p>
          <a:p>
            <a:pPr>
              <a:lnSpc>
                <a:spcPct val="80000"/>
              </a:lnSpc>
            </a:pPr>
            <a:r>
              <a:rPr lang="en-US" altLang="zh-CN" sz="2000" dirty="0"/>
              <a:t>E2PROM</a:t>
            </a:r>
            <a:r>
              <a:rPr lang="zh-CN" altLang="en-US" sz="2000" dirty="0"/>
              <a:t>允许改写上千次，改写（先抹后写）大约需</a:t>
            </a:r>
            <a:r>
              <a:rPr lang="en-US" altLang="zh-CN" sz="2000" dirty="0"/>
              <a:t>20ms</a:t>
            </a:r>
            <a:r>
              <a:rPr lang="zh-CN" altLang="en-US" sz="2000" dirty="0"/>
              <a:t>，数据可存储</a:t>
            </a:r>
            <a:r>
              <a:rPr lang="en-US" altLang="zh-CN" sz="2000" dirty="0"/>
              <a:t>20</a:t>
            </a:r>
            <a:r>
              <a:rPr lang="zh-CN" altLang="en-US" sz="2000" dirty="0"/>
              <a:t>年以上。</a:t>
            </a:r>
            <a:r>
              <a:rPr lang="en-US" altLang="zh-CN" sz="2000" dirty="0"/>
              <a:t></a:t>
            </a:r>
            <a:endParaRPr lang="en-US" altLang="zh-CN" sz="2000" dirty="0"/>
          </a:p>
          <a:p>
            <a:pPr>
              <a:lnSpc>
                <a:spcPct val="80000"/>
              </a:lnSpc>
            </a:pPr>
            <a:r>
              <a:rPr lang="en-US" altLang="zh-CN" sz="2000" dirty="0"/>
              <a:t>E2PROM</a:t>
            </a:r>
            <a:r>
              <a:rPr lang="zh-CN" altLang="en-US" sz="2000" dirty="0"/>
              <a:t>读出时的电路如图</a:t>
            </a:r>
            <a:r>
              <a:rPr lang="en-US" altLang="zh-CN" sz="2000" dirty="0"/>
              <a:t>(e)</a:t>
            </a:r>
            <a:r>
              <a:rPr lang="zh-CN" altLang="en-US" sz="2000" dirty="0"/>
              <a:t>所示，这时</a:t>
            </a:r>
            <a:r>
              <a:rPr lang="en-US" altLang="zh-CN" sz="2000" dirty="0"/>
              <a:t>G2</a:t>
            </a:r>
            <a:r>
              <a:rPr lang="zh-CN" altLang="en-US" sz="2000" dirty="0"/>
              <a:t>栅加</a:t>
            </a:r>
            <a:r>
              <a:rPr lang="en-US" altLang="zh-CN" sz="2000" dirty="0"/>
              <a:t>3V</a:t>
            </a:r>
            <a:r>
              <a:rPr lang="zh-CN" altLang="en-US" sz="2000" dirty="0"/>
              <a:t>电压，若</a:t>
            </a:r>
            <a:r>
              <a:rPr lang="en-US" altLang="zh-CN" sz="2000" dirty="0"/>
              <a:t>G1</a:t>
            </a:r>
            <a:r>
              <a:rPr lang="zh-CN" altLang="en-US" sz="2000" dirty="0"/>
              <a:t>栅有电子积累，</a:t>
            </a:r>
            <a:r>
              <a:rPr lang="en-US" altLang="zh-CN" sz="2000" dirty="0"/>
              <a:t>T2</a:t>
            </a:r>
            <a:r>
              <a:rPr lang="zh-CN" altLang="en-US" sz="2000" dirty="0"/>
              <a:t>管不能导通，相当于存“</a:t>
            </a:r>
            <a:r>
              <a:rPr lang="en-US" altLang="zh-CN" sz="2000" dirty="0"/>
              <a:t>1</a:t>
            </a:r>
            <a:r>
              <a:rPr lang="zh-CN" altLang="en-US" sz="2000" dirty="0"/>
              <a:t>”；若</a:t>
            </a:r>
            <a:r>
              <a:rPr lang="en-US" altLang="zh-CN" sz="2000" dirty="0"/>
              <a:t>G1</a:t>
            </a:r>
            <a:r>
              <a:rPr lang="zh-CN" altLang="en-US" sz="2000" dirty="0"/>
              <a:t>栅无电子积累，</a:t>
            </a:r>
            <a:r>
              <a:rPr lang="en-US" altLang="zh-CN" sz="2000" dirty="0"/>
              <a:t>T2</a:t>
            </a:r>
            <a:r>
              <a:rPr lang="zh-CN" altLang="en-US" sz="2000" dirty="0"/>
              <a:t>管导通，相当于存“</a:t>
            </a:r>
            <a:r>
              <a:rPr lang="en-US" altLang="zh-CN" sz="2000" dirty="0"/>
              <a:t>0</a:t>
            </a:r>
            <a:r>
              <a:rPr lang="zh-CN" altLang="en-US" sz="2000" dirty="0"/>
              <a:t>”。</a:t>
            </a:r>
            <a:r>
              <a:rPr lang="en-US" altLang="zh-CN" sz="2000" dirty="0"/>
              <a:t> </a:t>
            </a:r>
            <a:endParaRPr lang="en-US" altLang="zh-CN" sz="2000" dirty="0"/>
          </a:p>
        </p:txBody>
      </p:sp>
      <p:pic>
        <p:nvPicPr>
          <p:cNvPr id="77828" name="Picture 6"/>
          <p:cNvPicPr>
            <a:picLocks noChangeAspect="1"/>
          </p:cNvPicPr>
          <p:nvPr/>
        </p:nvPicPr>
        <p:blipFill>
          <a:blip r:embed="rId1"/>
          <a:stretch>
            <a:fillRect/>
          </a:stretch>
        </p:blipFill>
        <p:spPr>
          <a:xfrm>
            <a:off x="2484438" y="3644900"/>
            <a:ext cx="4103687" cy="31242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035">
                                            <p:txEl>
                                              <p:charRg st="43" end="99"/>
                                            </p:txEl>
                                          </p:spTgt>
                                        </p:tgtEl>
                                        <p:attrNameLst>
                                          <p:attrName>style.visibility</p:attrName>
                                        </p:attrNameLst>
                                      </p:cBhvr>
                                      <p:to>
                                        <p:strVal val="visible"/>
                                      </p:to>
                                    </p:set>
                                    <p:animEffect transition="in" filter="blinds(horizontal)">
                                      <p:cBhvr>
                                        <p:cTn id="7" dur="500"/>
                                        <p:tgtEl>
                                          <p:spTgt spid="44035">
                                            <p:txEl>
                                              <p:charRg st="43" end="9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4035">
                                            <p:txEl>
                                              <p:charRg st="99" end="142"/>
                                            </p:txEl>
                                          </p:spTgt>
                                        </p:tgtEl>
                                        <p:attrNameLst>
                                          <p:attrName>style.visibility</p:attrName>
                                        </p:attrNameLst>
                                      </p:cBhvr>
                                      <p:to>
                                        <p:strVal val="visible"/>
                                      </p:to>
                                    </p:set>
                                    <p:animEffect transition="in" filter="blinds(horizontal)">
                                      <p:cBhvr>
                                        <p:cTn id="12" dur="500"/>
                                        <p:tgtEl>
                                          <p:spTgt spid="44035">
                                            <p:txEl>
                                              <p:charRg st="99" end="14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4035">
                                            <p:txEl>
                                              <p:charRg st="142" end="225"/>
                                            </p:txEl>
                                          </p:spTgt>
                                        </p:tgtEl>
                                        <p:attrNameLst>
                                          <p:attrName>style.visibility</p:attrName>
                                        </p:attrNameLst>
                                      </p:cBhvr>
                                      <p:to>
                                        <p:strVal val="visible"/>
                                      </p:to>
                                    </p:set>
                                    <p:animEffect transition="in" filter="blinds(horizontal)">
                                      <p:cBhvr>
                                        <p:cTn id="17" dur="500"/>
                                        <p:tgtEl>
                                          <p:spTgt spid="44035">
                                            <p:txEl>
                                              <p:charRg st="142" end="2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78851" name="Rectangle 3"/>
          <p:cNvSpPr>
            <a:spLocks noGrp="1"/>
          </p:cNvSpPr>
          <p:nvPr>
            <p:ph idx="1"/>
          </p:nvPr>
        </p:nvSpPr>
        <p:spPr>
          <a:xfrm>
            <a:off x="457200" y="1052513"/>
            <a:ext cx="8229600" cy="3886200"/>
          </a:xfrm>
        </p:spPr>
        <p:txBody>
          <a:bodyPr vert="horz" wrap="square" lIns="91440" tIns="45720" rIns="91440" bIns="45720" anchor="t" anchorCtr="0"/>
          <a:p>
            <a:pPr>
              <a:buNone/>
            </a:pPr>
            <a:r>
              <a:rPr lang="en-US" altLang="zh-CN" dirty="0">
                <a:solidFill>
                  <a:srgbClr val="0000FF"/>
                </a:solidFill>
              </a:rPr>
              <a:t>4</a:t>
            </a:r>
            <a:r>
              <a:rPr lang="zh-CN" altLang="en-US" dirty="0">
                <a:solidFill>
                  <a:srgbClr val="0000FF"/>
                </a:solidFill>
              </a:rPr>
              <a:t>、</a:t>
            </a:r>
            <a:r>
              <a:rPr lang="en-US" altLang="zh-CN" dirty="0">
                <a:solidFill>
                  <a:srgbClr val="0000FF"/>
                </a:solidFill>
              </a:rPr>
              <a:t>FLASH</a:t>
            </a:r>
            <a:r>
              <a:rPr lang="zh-CN" altLang="en-US" dirty="0">
                <a:solidFill>
                  <a:srgbClr val="0000FF"/>
                </a:solidFill>
              </a:rPr>
              <a:t>闪速存储器</a:t>
            </a:r>
            <a:endParaRPr lang="en-US" altLang="zh-CN" dirty="0">
              <a:solidFill>
                <a:srgbClr val="0000FF"/>
              </a:solidFill>
            </a:endParaRPr>
          </a:p>
          <a:p>
            <a:pPr>
              <a:buNone/>
            </a:pPr>
            <a:r>
              <a:rPr lang="en-US" altLang="zh-CN" dirty="0"/>
              <a:t>		FLASH</a:t>
            </a:r>
            <a:r>
              <a:rPr lang="zh-CN" altLang="en-US" dirty="0"/>
              <a:t>存储器也翻译成</a:t>
            </a:r>
            <a:r>
              <a:rPr lang="zh-CN" altLang="en-US" dirty="0">
                <a:solidFill>
                  <a:srgbClr val="0000FF"/>
                </a:solidFill>
              </a:rPr>
              <a:t>闪速存储器</a:t>
            </a:r>
            <a:r>
              <a:rPr lang="zh-CN" altLang="en-US" dirty="0"/>
              <a:t>，它是高密度非失易失性的读</a:t>
            </a:r>
            <a:r>
              <a:rPr lang="en-US" altLang="zh-CN" dirty="0"/>
              <a:t>/</a:t>
            </a:r>
            <a:r>
              <a:rPr lang="zh-CN" altLang="en-US" dirty="0"/>
              <a:t>写存储器。</a:t>
            </a:r>
            <a:endParaRPr lang="en-US" altLang="zh-CN" dirty="0"/>
          </a:p>
          <a:p>
            <a:pPr>
              <a:buNone/>
            </a:pPr>
            <a:r>
              <a:rPr lang="en-US" altLang="zh-CN" dirty="0"/>
              <a:t>   </a:t>
            </a:r>
            <a:r>
              <a:rPr lang="zh-CN" altLang="en-US" dirty="0">
                <a:solidFill>
                  <a:srgbClr val="0000FF"/>
                </a:solidFill>
              </a:rPr>
              <a:t>高密度</a:t>
            </a:r>
            <a:r>
              <a:rPr lang="zh-CN" altLang="en-US" dirty="0"/>
              <a:t>意味着它具有巨大比特数目的存储容量。</a:t>
            </a:r>
            <a:endParaRPr lang="en-US" altLang="zh-CN" dirty="0"/>
          </a:p>
          <a:p>
            <a:pPr>
              <a:buNone/>
            </a:pPr>
            <a:r>
              <a:rPr lang="en-US" altLang="zh-CN" dirty="0"/>
              <a:t>   </a:t>
            </a:r>
            <a:r>
              <a:rPr lang="zh-CN" altLang="en-US" dirty="0">
                <a:solidFill>
                  <a:srgbClr val="0000FF"/>
                </a:solidFill>
              </a:rPr>
              <a:t>非易失性</a:t>
            </a:r>
            <a:r>
              <a:rPr lang="zh-CN" altLang="en-US" dirty="0"/>
              <a:t>意味着存放的数据在没有电源的情况下可以长期保存。</a:t>
            </a:r>
            <a:endParaRPr lang="en-US" altLang="zh-CN" dirty="0"/>
          </a:p>
          <a:p>
            <a:pPr>
              <a:buNone/>
            </a:pPr>
            <a:r>
              <a:rPr lang="en-US" altLang="zh-CN" dirty="0"/>
              <a:t>    </a:t>
            </a:r>
            <a:r>
              <a:rPr lang="zh-CN" altLang="en-US" dirty="0"/>
              <a:t>总之，它既有</a:t>
            </a:r>
            <a:r>
              <a:rPr lang="en-US" altLang="zh-CN" dirty="0"/>
              <a:t>RAM</a:t>
            </a:r>
            <a:r>
              <a:rPr lang="zh-CN" altLang="en-US" dirty="0"/>
              <a:t>的优点，又有</a:t>
            </a:r>
            <a:r>
              <a:rPr lang="en-US" altLang="zh-CN" dirty="0"/>
              <a:t>ROM</a:t>
            </a:r>
            <a:r>
              <a:rPr lang="zh-CN" altLang="en-US" dirty="0"/>
              <a:t>的优点，称得上是存储技术划时代的进展。</a:t>
            </a:r>
            <a:endParaRPr lang="en-US" altLang="zh-CN" dirty="0"/>
          </a:p>
          <a:p>
            <a:pPr>
              <a:buNone/>
            </a:pPr>
            <a:r>
              <a:rPr lang="en-US" altLang="zh-CN" dirty="0"/>
              <a:t> </a:t>
            </a:r>
            <a:endParaRPr lang="en-US" altLang="zh-CN" dirty="0"/>
          </a:p>
        </p:txBody>
      </p:sp>
      <p:sp>
        <p:nvSpPr>
          <p:cNvPr id="45060" name="Rectangle 4"/>
          <p:cNvSpPr/>
          <p:nvPr/>
        </p:nvSpPr>
        <p:spPr>
          <a:xfrm>
            <a:off x="900113" y="5683250"/>
            <a:ext cx="7740650" cy="914400"/>
          </a:xfrm>
          <a:prstGeom prst="rect">
            <a:avLst/>
          </a:prstGeom>
          <a:noFill/>
          <a:ln w="9525">
            <a:noFill/>
          </a:ln>
        </p:spPr>
        <p:txBody>
          <a:bodyPr lIns="0" tIns="0" rIns="0" bIns="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nSpc>
                <a:spcPct val="125000"/>
              </a:lnSpc>
              <a:spcBef>
                <a:spcPct val="0"/>
              </a:spcBef>
              <a:buClrTx/>
              <a:buSzTx/>
              <a:buFontTx/>
              <a:buNone/>
            </a:pPr>
            <a:r>
              <a:rPr lang="zh-CN" altLang="en-US" sz="2400" b="1" dirty="0">
                <a:solidFill>
                  <a:srgbClr val="CC0000"/>
                </a:solidFill>
                <a:ea typeface="黑体" panose="02010609060101010101" pitchFamily="49" charset="-122"/>
              </a:rPr>
              <a:t>闪存的读取速度与</a:t>
            </a:r>
            <a:r>
              <a:rPr lang="en-US" altLang="zh-CN" sz="2400" b="1" dirty="0">
                <a:solidFill>
                  <a:srgbClr val="CC0000"/>
                </a:solidFill>
                <a:ea typeface="黑体" panose="02010609060101010101" pitchFamily="49" charset="-122"/>
              </a:rPr>
              <a:t>DRAM</a:t>
            </a:r>
            <a:r>
              <a:rPr lang="zh-CN" altLang="en-US" sz="2400" b="1" dirty="0">
                <a:solidFill>
                  <a:srgbClr val="CC0000"/>
                </a:solidFill>
                <a:ea typeface="黑体" panose="02010609060101010101" pitchFamily="49" charset="-122"/>
              </a:rPr>
              <a:t>相近，是磁盘的</a:t>
            </a:r>
            <a:r>
              <a:rPr lang="en-US" altLang="zh-CN" sz="2400" b="1" dirty="0">
                <a:solidFill>
                  <a:srgbClr val="CC0000"/>
                </a:solidFill>
                <a:ea typeface="黑体" panose="02010609060101010101" pitchFamily="49" charset="-122"/>
              </a:rPr>
              <a:t>100</a:t>
            </a:r>
            <a:r>
              <a:rPr lang="zh-CN" altLang="en-US" sz="2400" b="1" dirty="0">
                <a:solidFill>
                  <a:srgbClr val="CC0000"/>
                </a:solidFill>
                <a:ea typeface="黑体" panose="02010609060101010101" pitchFamily="49" charset="-122"/>
              </a:rPr>
              <a:t>倍左右；写数据（快擦－编程）则与硬盘相近</a:t>
            </a:r>
            <a:r>
              <a:rPr lang="en-US" altLang="zh-CN" sz="2400" b="1" i="1" dirty="0">
                <a:solidFill>
                  <a:srgbClr val="666699"/>
                </a:solidFill>
                <a:ea typeface="黑体" panose="02010609060101010101" pitchFamily="49" charset="-122"/>
              </a:rPr>
              <a:t> </a:t>
            </a:r>
            <a:endParaRPr lang="en-US" altLang="zh-CN" sz="2400" b="1" i="1" dirty="0">
              <a:solidFill>
                <a:srgbClr val="666699"/>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blinds(horizontal)">
                                      <p:cBhvr>
                                        <p:cTn id="7" dur="500"/>
                                        <p:tgtEl>
                                          <p:spTgt spid="45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2"/>
          <p:cNvSpPr>
            <a:spLocks noGrp="1"/>
          </p:cNvSpPr>
          <p:nvPr>
            <p:ph type="title"/>
          </p:nvPr>
        </p:nvSpPr>
        <p:spPr>
          <a:xfrm>
            <a:off x="457200" y="188913"/>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79875" name="Rectangle 3"/>
          <p:cNvSpPr>
            <a:spLocks noGrp="1"/>
          </p:cNvSpPr>
          <p:nvPr>
            <p:ph idx="1"/>
          </p:nvPr>
        </p:nvSpPr>
        <p:spPr>
          <a:xfrm>
            <a:off x="250825" y="1268413"/>
            <a:ext cx="4465638" cy="4862512"/>
          </a:xfrm>
        </p:spPr>
        <p:txBody>
          <a:bodyPr vert="horz" wrap="square" lIns="91440" tIns="45720" rIns="91440" bIns="45720" anchor="t" anchorCtr="0"/>
          <a:p>
            <a:pPr>
              <a:lnSpc>
                <a:spcPct val="90000"/>
              </a:lnSpc>
            </a:pPr>
            <a:r>
              <a:rPr lang="en-US" altLang="zh-CN" sz="2600" dirty="0"/>
              <a:t>FLASH</a:t>
            </a:r>
            <a:r>
              <a:rPr lang="zh-CN" altLang="en-US" sz="2600" dirty="0"/>
              <a:t>存储元在</a:t>
            </a:r>
            <a:r>
              <a:rPr lang="en-US" altLang="zh-CN" sz="2600" dirty="0"/>
              <a:t>EPROM</a:t>
            </a:r>
            <a:r>
              <a:rPr lang="zh-CN" altLang="en-US" sz="2600" dirty="0"/>
              <a:t>存储元基础上发展起来的，由此可以看出创新与继承的关系。</a:t>
            </a:r>
            <a:r>
              <a:rPr lang="en-US" altLang="zh-CN" sz="2600" dirty="0"/>
              <a:t></a:t>
            </a:r>
            <a:endParaRPr lang="en-US" altLang="zh-CN" sz="2600" dirty="0"/>
          </a:p>
          <a:p>
            <a:pPr>
              <a:lnSpc>
                <a:spcPct val="90000"/>
              </a:lnSpc>
            </a:pPr>
            <a:endParaRPr lang="en-US" altLang="zh-CN" sz="2600" dirty="0"/>
          </a:p>
          <a:p>
            <a:r>
              <a:rPr lang="zh-CN" altLang="en-US" sz="2600" dirty="0"/>
              <a:t>如右图所示为</a:t>
            </a:r>
            <a:r>
              <a:rPr lang="zh-CN" altLang="en-US" sz="2600" dirty="0">
                <a:solidFill>
                  <a:srgbClr val="0000FF"/>
                </a:solidFill>
              </a:rPr>
              <a:t>闪速存储器中的存储元</a:t>
            </a:r>
            <a:r>
              <a:rPr lang="zh-CN" altLang="en-US" sz="2600" dirty="0"/>
              <a:t>，由单个</a:t>
            </a:r>
            <a:r>
              <a:rPr lang="en-US" altLang="zh-CN" sz="2600" dirty="0"/>
              <a:t>MOS</a:t>
            </a:r>
            <a:r>
              <a:rPr lang="zh-CN" altLang="en-US" sz="2600" dirty="0"/>
              <a:t>晶体管组成，除漏极</a:t>
            </a:r>
            <a:r>
              <a:rPr lang="en-US" altLang="zh-CN" sz="2600" dirty="0"/>
              <a:t>D</a:t>
            </a:r>
            <a:r>
              <a:rPr lang="zh-CN" altLang="en-US" sz="2600" dirty="0"/>
              <a:t>和源极</a:t>
            </a:r>
            <a:r>
              <a:rPr lang="en-US" altLang="zh-CN" sz="2600" dirty="0"/>
              <a:t>S</a:t>
            </a:r>
            <a:r>
              <a:rPr lang="zh-CN" altLang="en-US" sz="2600" dirty="0"/>
              <a:t>外，还有一个</a:t>
            </a:r>
            <a:r>
              <a:rPr lang="zh-CN" altLang="en-US" sz="2600" dirty="0">
                <a:solidFill>
                  <a:srgbClr val="0000FF"/>
                </a:solidFill>
              </a:rPr>
              <a:t>控制栅</a:t>
            </a:r>
            <a:r>
              <a:rPr lang="zh-CN" altLang="en-US" sz="2600" dirty="0"/>
              <a:t>和</a:t>
            </a:r>
            <a:r>
              <a:rPr lang="zh-CN" altLang="en-US" sz="2600" dirty="0">
                <a:solidFill>
                  <a:srgbClr val="0000FF"/>
                </a:solidFill>
              </a:rPr>
              <a:t>浮空栅</a:t>
            </a:r>
            <a:r>
              <a:rPr lang="zh-CN" altLang="en-US" sz="2600" dirty="0"/>
              <a:t>。</a:t>
            </a:r>
            <a:endParaRPr lang="zh-CN" altLang="en-US" sz="2600" dirty="0"/>
          </a:p>
        </p:txBody>
      </p:sp>
      <p:pic>
        <p:nvPicPr>
          <p:cNvPr id="79876" name="Picture 6"/>
          <p:cNvPicPr>
            <a:picLocks noChangeAspect="1"/>
          </p:cNvPicPr>
          <p:nvPr/>
        </p:nvPicPr>
        <p:blipFill>
          <a:blip r:embed="rId1"/>
          <a:stretch>
            <a:fillRect/>
          </a:stretch>
        </p:blipFill>
        <p:spPr>
          <a:xfrm>
            <a:off x="5580063" y="5876925"/>
            <a:ext cx="2159000" cy="265113"/>
          </a:xfrm>
          <a:prstGeom prst="rect">
            <a:avLst/>
          </a:prstGeom>
          <a:noFill/>
          <a:ln w="9525">
            <a:noFill/>
          </a:ln>
        </p:spPr>
      </p:pic>
      <p:pic>
        <p:nvPicPr>
          <p:cNvPr id="79877" name="Picture 7"/>
          <p:cNvPicPr>
            <a:picLocks noChangeAspect="1"/>
          </p:cNvPicPr>
          <p:nvPr/>
        </p:nvPicPr>
        <p:blipFill>
          <a:blip r:embed="rId2"/>
          <a:stretch>
            <a:fillRect/>
          </a:stretch>
        </p:blipFill>
        <p:spPr>
          <a:xfrm>
            <a:off x="5221288" y="2276475"/>
            <a:ext cx="2590800" cy="3457575"/>
          </a:xfrm>
          <a:prstGeom prst="rect">
            <a:avLst/>
          </a:prstGeom>
          <a:noFill/>
          <a:ln w="9525">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2"/>
          <p:cNvSpPr>
            <a:spLocks noGrp="1"/>
          </p:cNvSpPr>
          <p:nvPr>
            <p:ph type="title"/>
          </p:nvPr>
        </p:nvSpPr>
        <p:spPr>
          <a:xfrm>
            <a:off x="457200" y="44450"/>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47107" name="Rectangle 3"/>
          <p:cNvSpPr>
            <a:spLocks noGrp="1"/>
          </p:cNvSpPr>
          <p:nvPr>
            <p:ph idx="1"/>
          </p:nvPr>
        </p:nvSpPr>
        <p:spPr>
          <a:xfrm>
            <a:off x="468313" y="981075"/>
            <a:ext cx="7632700" cy="3278188"/>
          </a:xfrm>
        </p:spPr>
        <p:txBody>
          <a:bodyPr vert="horz" wrap="square" lIns="91440" tIns="45720" rIns="91440" bIns="45720" anchor="t" anchorCtr="0"/>
          <a:p>
            <a:pPr>
              <a:lnSpc>
                <a:spcPct val="90000"/>
              </a:lnSpc>
            </a:pPr>
            <a:r>
              <a:rPr lang="zh-CN" altLang="en-US" sz="2200" b="1" dirty="0">
                <a:solidFill>
                  <a:srgbClr val="0000FF"/>
                </a:solidFill>
              </a:rPr>
              <a:t>“</a:t>
            </a:r>
            <a:r>
              <a:rPr lang="en-US" altLang="zh-CN" sz="2200" b="1" dirty="0">
                <a:solidFill>
                  <a:srgbClr val="0000FF"/>
                </a:solidFill>
              </a:rPr>
              <a:t>0</a:t>
            </a:r>
            <a:r>
              <a:rPr lang="zh-CN" altLang="en-US" sz="2200" b="1" dirty="0">
                <a:solidFill>
                  <a:srgbClr val="0000FF"/>
                </a:solidFill>
              </a:rPr>
              <a:t>”状态</a:t>
            </a:r>
            <a:r>
              <a:rPr lang="zh-CN" altLang="en-US" sz="2200" dirty="0">
                <a:solidFill>
                  <a:srgbClr val="0000FF"/>
                </a:solidFill>
              </a:rPr>
              <a:t>：</a:t>
            </a:r>
            <a:r>
              <a:rPr lang="zh-CN" altLang="en-US" sz="2200" dirty="0"/>
              <a:t>当控制栅加上足够的正电压时，浮空栅将储存许多电子带负电，这意味着浮空栅上有很多负电荷，这种情况我们定义存储元处于</a:t>
            </a:r>
            <a:r>
              <a:rPr lang="en-US" altLang="zh-CN" sz="2200" dirty="0"/>
              <a:t>0</a:t>
            </a:r>
            <a:r>
              <a:rPr lang="zh-CN" altLang="en-US" sz="2200" dirty="0"/>
              <a:t>状态。</a:t>
            </a:r>
            <a:endParaRPr lang="en-US" altLang="zh-CN" sz="2200" dirty="0"/>
          </a:p>
          <a:p>
            <a:pPr>
              <a:lnSpc>
                <a:spcPct val="90000"/>
              </a:lnSpc>
            </a:pPr>
            <a:r>
              <a:rPr lang="zh-CN" altLang="en-US" sz="2200" b="1" dirty="0">
                <a:solidFill>
                  <a:srgbClr val="0000FF"/>
                </a:solidFill>
              </a:rPr>
              <a:t>“</a:t>
            </a:r>
            <a:r>
              <a:rPr lang="en-US" altLang="zh-CN" sz="2200" b="1" dirty="0">
                <a:solidFill>
                  <a:srgbClr val="0000FF"/>
                </a:solidFill>
              </a:rPr>
              <a:t>1</a:t>
            </a:r>
            <a:r>
              <a:rPr lang="zh-CN" altLang="en-US" sz="2200" b="1" dirty="0">
                <a:solidFill>
                  <a:srgbClr val="0000FF"/>
                </a:solidFill>
              </a:rPr>
              <a:t>”状态</a:t>
            </a:r>
            <a:r>
              <a:rPr lang="zh-CN" altLang="en-US" sz="2200" dirty="0">
                <a:solidFill>
                  <a:srgbClr val="0000FF"/>
                </a:solidFill>
              </a:rPr>
              <a:t>：</a:t>
            </a:r>
            <a:r>
              <a:rPr lang="zh-CN" altLang="en-US" sz="2200" dirty="0"/>
              <a:t>如果控制栅不加正电压，浮空栅则只有少许电子或不带电荷，这种情况我们定义为存储元处于</a:t>
            </a:r>
            <a:r>
              <a:rPr lang="en-US" altLang="zh-CN" sz="2200" dirty="0"/>
              <a:t>1</a:t>
            </a:r>
            <a:r>
              <a:rPr lang="zh-CN" altLang="en-US" sz="2200" dirty="0"/>
              <a:t>状态。</a:t>
            </a:r>
            <a:endParaRPr lang="en-US" altLang="zh-CN" sz="2200" dirty="0"/>
          </a:p>
          <a:p>
            <a:pPr>
              <a:lnSpc>
                <a:spcPct val="90000"/>
              </a:lnSpc>
            </a:pPr>
            <a:r>
              <a:rPr lang="zh-CN" altLang="en-US" sz="2200" dirty="0"/>
              <a:t>浮空栅上的电荷量决定了读取操作时，加在栅极上的控制电压能否开启</a:t>
            </a:r>
            <a:r>
              <a:rPr lang="en-US" altLang="zh-CN" sz="2200" dirty="0"/>
              <a:t>MOS</a:t>
            </a:r>
            <a:r>
              <a:rPr lang="zh-CN" altLang="en-US" sz="2200" dirty="0"/>
              <a:t>管，并产生从漏极</a:t>
            </a:r>
            <a:r>
              <a:rPr lang="en-US" altLang="zh-CN" sz="2200" dirty="0"/>
              <a:t>D</a:t>
            </a:r>
            <a:r>
              <a:rPr lang="zh-CN" altLang="en-US" sz="2200" dirty="0"/>
              <a:t>到源极</a:t>
            </a:r>
            <a:r>
              <a:rPr lang="en-US" altLang="zh-CN" sz="2200" dirty="0"/>
              <a:t>S</a:t>
            </a:r>
            <a:r>
              <a:rPr lang="zh-CN" altLang="en-US" sz="2200" dirty="0"/>
              <a:t>的电流。</a:t>
            </a:r>
            <a:r>
              <a:rPr lang="en-US" altLang="zh-CN" sz="2200" dirty="0"/>
              <a:t> </a:t>
            </a:r>
            <a:endParaRPr lang="en-US" altLang="zh-CN" sz="2200" dirty="0"/>
          </a:p>
          <a:p>
            <a:pPr>
              <a:lnSpc>
                <a:spcPct val="90000"/>
              </a:lnSpc>
            </a:pPr>
            <a:endParaRPr lang="zh-CN" altLang="en-US" sz="2600" dirty="0"/>
          </a:p>
        </p:txBody>
      </p:sp>
      <p:pic>
        <p:nvPicPr>
          <p:cNvPr id="80900" name="Picture 5"/>
          <p:cNvPicPr>
            <a:picLocks noChangeAspect="1"/>
          </p:cNvPicPr>
          <p:nvPr/>
        </p:nvPicPr>
        <p:blipFill>
          <a:blip r:embed="rId1"/>
          <a:stretch>
            <a:fillRect/>
          </a:stretch>
        </p:blipFill>
        <p:spPr>
          <a:xfrm>
            <a:off x="2124075" y="3584575"/>
            <a:ext cx="4537075" cy="3287713"/>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charRg st="0" end="6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charRg st="67" end="11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charRg st="119" end="17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2"/>
          <p:cNvSpPr>
            <a:spLocks noGrp="1"/>
          </p:cNvSpPr>
          <p:nvPr>
            <p:ph type="title"/>
          </p:nvPr>
        </p:nvSpPr>
        <p:spPr>
          <a:xfrm>
            <a:off x="468313" y="387350"/>
            <a:ext cx="7532687" cy="5207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48131" name="Rectangle 3"/>
          <p:cNvSpPr>
            <a:spLocks noGrp="1"/>
          </p:cNvSpPr>
          <p:nvPr>
            <p:ph idx="1"/>
          </p:nvPr>
        </p:nvSpPr>
        <p:spPr>
          <a:xfrm>
            <a:off x="457200" y="798513"/>
            <a:ext cx="8229600" cy="4933950"/>
          </a:xfrm>
        </p:spPr>
        <p:txBody>
          <a:bodyPr vert="horz" wrap="square" lIns="91440" tIns="45720" rIns="91440" bIns="45720" anchor="t" anchorCtr="0"/>
          <a:p>
            <a:pPr>
              <a:lnSpc>
                <a:spcPct val="90000"/>
              </a:lnSpc>
            </a:pPr>
            <a:r>
              <a:rPr lang="zh-CN" altLang="en-US" sz="2200" b="1" dirty="0">
                <a:solidFill>
                  <a:srgbClr val="0000FF"/>
                </a:solidFill>
              </a:rPr>
              <a:t>编程操作</a:t>
            </a:r>
            <a:r>
              <a:rPr lang="zh-CN" altLang="en-US" sz="2200" dirty="0">
                <a:solidFill>
                  <a:srgbClr val="0000FF"/>
                </a:solidFill>
              </a:rPr>
              <a:t>：</a:t>
            </a:r>
            <a:r>
              <a:rPr lang="zh-CN" altLang="en-US" sz="2200" dirty="0"/>
              <a:t>实际上是</a:t>
            </a:r>
            <a:r>
              <a:rPr lang="zh-CN" altLang="en-US" sz="2200" dirty="0">
                <a:solidFill>
                  <a:srgbClr val="0000FF"/>
                </a:solidFill>
              </a:rPr>
              <a:t>写</a:t>
            </a:r>
            <a:r>
              <a:rPr lang="zh-CN" altLang="en-US" sz="2200" dirty="0"/>
              <a:t>操作。所有存储元的原始状态均处“</a:t>
            </a:r>
            <a:r>
              <a:rPr lang="en-US" altLang="zh-CN" sz="2200" dirty="0"/>
              <a:t>1</a:t>
            </a:r>
            <a:r>
              <a:rPr lang="zh-CN" altLang="en-US" sz="2200" dirty="0"/>
              <a:t>”状态，这是因为擦除操作时控制栅不加正电压。编程操作的目的是为存储元的浮空栅补充电子，从而使存储元改写成“</a:t>
            </a:r>
            <a:r>
              <a:rPr lang="en-US" altLang="zh-CN" sz="2200" dirty="0"/>
              <a:t>0</a:t>
            </a:r>
            <a:r>
              <a:rPr lang="zh-CN" altLang="en-US" sz="2200" dirty="0"/>
              <a:t>”状态。如果某存储元仍保持“</a:t>
            </a:r>
            <a:r>
              <a:rPr lang="en-US" altLang="zh-CN" sz="2200" dirty="0"/>
              <a:t>1</a:t>
            </a:r>
            <a:r>
              <a:rPr lang="zh-CN" altLang="en-US" sz="2200" dirty="0"/>
              <a:t>”状态，则控制栅就不加正电压。</a:t>
            </a:r>
            <a:endParaRPr lang="en-US" altLang="zh-CN" sz="2200" dirty="0"/>
          </a:p>
          <a:p>
            <a:pPr>
              <a:lnSpc>
                <a:spcPct val="90000"/>
              </a:lnSpc>
            </a:pPr>
            <a:r>
              <a:rPr lang="zh-CN" altLang="en-US" sz="2200" dirty="0"/>
              <a:t>如图</a:t>
            </a:r>
            <a:r>
              <a:rPr lang="en-US" altLang="zh-CN" sz="2200" dirty="0"/>
              <a:t>(a)</a:t>
            </a:r>
            <a:r>
              <a:rPr lang="zh-CN" altLang="en-US" sz="2200" dirty="0"/>
              <a:t>表示编程操作时存储元写</a:t>
            </a:r>
            <a:r>
              <a:rPr lang="en-US" altLang="zh-CN" sz="2200" dirty="0"/>
              <a:t>0</a:t>
            </a:r>
            <a:r>
              <a:rPr lang="zh-CN" altLang="en-US" sz="2200" dirty="0"/>
              <a:t>、写</a:t>
            </a:r>
            <a:r>
              <a:rPr lang="en-US" altLang="zh-CN" sz="2200" dirty="0"/>
              <a:t>1</a:t>
            </a:r>
            <a:r>
              <a:rPr lang="zh-CN" altLang="en-US" sz="2200" dirty="0"/>
              <a:t>的情况。实际上编程时只写</a:t>
            </a:r>
            <a:r>
              <a:rPr lang="en-US" altLang="zh-CN" sz="2200" dirty="0"/>
              <a:t>0</a:t>
            </a:r>
            <a:r>
              <a:rPr lang="zh-CN" altLang="en-US" sz="2200" dirty="0"/>
              <a:t>，不写</a:t>
            </a:r>
            <a:r>
              <a:rPr lang="en-US" altLang="zh-CN" sz="2200" dirty="0"/>
              <a:t>1</a:t>
            </a:r>
            <a:r>
              <a:rPr lang="zh-CN" altLang="en-US" sz="2200" dirty="0"/>
              <a:t>，因为存储元擦除后原始状态全为</a:t>
            </a:r>
            <a:r>
              <a:rPr lang="en-US" altLang="zh-CN" sz="2200" dirty="0"/>
              <a:t>1</a:t>
            </a:r>
            <a:r>
              <a:rPr lang="zh-CN" altLang="en-US" sz="2200" dirty="0"/>
              <a:t>。要写</a:t>
            </a:r>
            <a:r>
              <a:rPr lang="en-US" altLang="zh-CN" sz="2200" dirty="0"/>
              <a:t>0</a:t>
            </a:r>
            <a:r>
              <a:rPr lang="zh-CN" altLang="en-US" sz="2200" dirty="0"/>
              <a:t>，就是要在控制栅</a:t>
            </a:r>
            <a:r>
              <a:rPr lang="en-US" altLang="zh-CN" sz="2200" dirty="0"/>
              <a:t>C</a:t>
            </a:r>
            <a:r>
              <a:rPr lang="zh-CN" altLang="en-US" sz="2200" dirty="0"/>
              <a:t>上加正电压。一旦存储元被编程，存储的数据可保持</a:t>
            </a:r>
            <a:r>
              <a:rPr lang="en-US" altLang="zh-CN" sz="2200" dirty="0"/>
              <a:t>100</a:t>
            </a:r>
            <a:r>
              <a:rPr lang="zh-CN" altLang="en-US" sz="2200" dirty="0"/>
              <a:t>年之久而无需外电源。</a:t>
            </a:r>
            <a:r>
              <a:rPr lang="en-US" altLang="zh-CN" sz="2200" dirty="0"/>
              <a:t> </a:t>
            </a:r>
            <a:endParaRPr lang="en-US" altLang="zh-CN" sz="2200" dirty="0"/>
          </a:p>
        </p:txBody>
      </p:sp>
      <p:pic>
        <p:nvPicPr>
          <p:cNvPr id="81924" name="Picture 4" descr="3A22">
            <a:hlinkClick r:id="rId1" action="ppaction://hlinkfile"/>
          </p:cNvPr>
          <p:cNvPicPr>
            <a:picLocks noChangeAspect="1"/>
          </p:cNvPicPr>
          <p:nvPr/>
        </p:nvPicPr>
        <p:blipFill>
          <a:blip r:embed="rId2"/>
          <a:stretch>
            <a:fillRect/>
          </a:stretch>
        </p:blipFill>
        <p:spPr>
          <a:xfrm>
            <a:off x="611188" y="3789363"/>
            <a:ext cx="8064500" cy="253523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8131">
                                            <p:txEl>
                                              <p:charRg st="112" end="217"/>
                                            </p:txEl>
                                          </p:spTgt>
                                        </p:tgtEl>
                                        <p:attrNameLst>
                                          <p:attrName>style.visibility</p:attrName>
                                        </p:attrNameLst>
                                      </p:cBhvr>
                                      <p:to>
                                        <p:strVal val="visible"/>
                                      </p:to>
                                    </p:set>
                                    <p:animEffect transition="in" filter="blinds(horizontal)">
                                      <p:cBhvr>
                                        <p:cTn id="7" dur="500"/>
                                        <p:tgtEl>
                                          <p:spTgt spid="48131">
                                            <p:txEl>
                                              <p:charRg st="112" end="2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2"/>
          <p:cNvSpPr>
            <a:spLocks noGrp="1"/>
          </p:cNvSpPr>
          <p:nvPr>
            <p:ph type="title"/>
          </p:nvPr>
        </p:nvSpPr>
        <p:spPr>
          <a:xfrm>
            <a:off x="457200" y="188913"/>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49155" name="Rectangle 3"/>
          <p:cNvSpPr>
            <a:spLocks noGrp="1"/>
          </p:cNvSpPr>
          <p:nvPr>
            <p:ph idx="1"/>
          </p:nvPr>
        </p:nvSpPr>
        <p:spPr>
          <a:xfrm>
            <a:off x="457200" y="1268413"/>
            <a:ext cx="8229600" cy="3598862"/>
          </a:xfrm>
        </p:spPr>
        <p:txBody>
          <a:bodyPr vert="horz" wrap="square" lIns="91440" tIns="45720" rIns="91440" bIns="45720" anchor="t" anchorCtr="0"/>
          <a:p>
            <a:pPr>
              <a:lnSpc>
                <a:spcPct val="90000"/>
              </a:lnSpc>
            </a:pPr>
            <a:r>
              <a:rPr lang="zh-CN" altLang="en-US" sz="2100" b="1" dirty="0">
                <a:solidFill>
                  <a:srgbClr val="0000FF"/>
                </a:solidFill>
              </a:rPr>
              <a:t>读取操作：</a:t>
            </a:r>
            <a:r>
              <a:rPr lang="zh-CN" altLang="en-US" sz="2100" dirty="0"/>
              <a:t>控制栅加上正电压。浮空栅上的负电荷量将决定是否可以开启</a:t>
            </a:r>
            <a:r>
              <a:rPr lang="en-US" altLang="zh-CN" sz="2100" dirty="0"/>
              <a:t>MOS</a:t>
            </a:r>
            <a:r>
              <a:rPr lang="zh-CN" altLang="en-US" sz="2100" dirty="0"/>
              <a:t>晶体管。如果存储元原存</a:t>
            </a:r>
            <a:r>
              <a:rPr lang="en-US" altLang="zh-CN" sz="2100" dirty="0"/>
              <a:t>1</a:t>
            </a:r>
            <a:r>
              <a:rPr lang="zh-CN" altLang="en-US" sz="2100" dirty="0"/>
              <a:t>，可认为浮空栅不带负电，控制栅上的正电压足以开启晶体管。如果存储元原存</a:t>
            </a:r>
            <a:r>
              <a:rPr lang="en-US" altLang="zh-CN" sz="2100" dirty="0"/>
              <a:t>0</a:t>
            </a:r>
            <a:r>
              <a:rPr lang="zh-CN" altLang="en-US" sz="2100" dirty="0"/>
              <a:t>，可认为浮空栅带负电，控制栅上的正电压不足以克服浮动栅上的负电量，晶体管不能开启导通。</a:t>
            </a:r>
            <a:r>
              <a:rPr lang="en-US" altLang="zh-CN" sz="2100" dirty="0"/>
              <a:t></a:t>
            </a:r>
            <a:endParaRPr lang="en-US" altLang="zh-CN" sz="2100" dirty="0"/>
          </a:p>
          <a:p>
            <a:pPr>
              <a:lnSpc>
                <a:spcPct val="90000"/>
              </a:lnSpc>
            </a:pPr>
            <a:r>
              <a:rPr lang="zh-CN" altLang="en-US" sz="2100" dirty="0"/>
              <a:t>当</a:t>
            </a:r>
            <a:r>
              <a:rPr lang="en-US" altLang="zh-CN" sz="2100" dirty="0"/>
              <a:t>MOS</a:t>
            </a:r>
            <a:r>
              <a:rPr lang="zh-CN" altLang="en-US" sz="2100" dirty="0"/>
              <a:t>晶体管开启导通时，电源</a:t>
            </a:r>
            <a:r>
              <a:rPr lang="en-US" altLang="zh-CN" sz="2100" dirty="0"/>
              <a:t>VD</a:t>
            </a:r>
            <a:r>
              <a:rPr lang="zh-CN" altLang="en-US" sz="2100" dirty="0"/>
              <a:t>提供从漏极</a:t>
            </a:r>
            <a:r>
              <a:rPr lang="en-US" altLang="zh-CN" sz="2100" dirty="0"/>
              <a:t>D</a:t>
            </a:r>
            <a:r>
              <a:rPr lang="zh-CN" altLang="en-US" sz="2100" dirty="0"/>
              <a:t>到源极</a:t>
            </a:r>
            <a:r>
              <a:rPr lang="en-US" altLang="zh-CN" sz="2100" dirty="0"/>
              <a:t>S</a:t>
            </a:r>
            <a:r>
              <a:rPr lang="zh-CN" altLang="en-US" sz="2100" dirty="0"/>
              <a:t>的电流。读出电路检测到有电流，表示存储元中存</a:t>
            </a:r>
            <a:r>
              <a:rPr lang="en-US" altLang="zh-CN" sz="2100" dirty="0"/>
              <a:t>1</a:t>
            </a:r>
            <a:r>
              <a:rPr lang="zh-CN" altLang="en-US" sz="2100" dirty="0"/>
              <a:t>，若读出电路检测到无电流，表示存储元中存</a:t>
            </a:r>
            <a:r>
              <a:rPr lang="en-US" altLang="zh-CN" sz="2100" dirty="0"/>
              <a:t>0</a:t>
            </a:r>
            <a:r>
              <a:rPr lang="zh-CN" altLang="en-US" sz="2100" dirty="0"/>
              <a:t>，如图</a:t>
            </a:r>
            <a:r>
              <a:rPr lang="en-US" altLang="zh-CN" sz="2100" dirty="0"/>
              <a:t>(b)</a:t>
            </a:r>
            <a:r>
              <a:rPr lang="zh-CN" altLang="en-US" sz="2100" dirty="0"/>
              <a:t>所示。</a:t>
            </a:r>
            <a:endParaRPr lang="zh-CN" altLang="en-US" sz="2100" dirty="0"/>
          </a:p>
        </p:txBody>
      </p:sp>
      <p:pic>
        <p:nvPicPr>
          <p:cNvPr id="82948" name="Picture 4" descr="3A22">
            <a:hlinkClick r:id="rId1" action="ppaction://hlinkfile"/>
          </p:cNvPr>
          <p:cNvPicPr>
            <a:picLocks noChangeAspect="1"/>
          </p:cNvPicPr>
          <p:nvPr/>
        </p:nvPicPr>
        <p:blipFill>
          <a:blip r:embed="rId2"/>
          <a:stretch>
            <a:fillRect/>
          </a:stretch>
        </p:blipFill>
        <p:spPr>
          <a:xfrm>
            <a:off x="827088" y="3789363"/>
            <a:ext cx="7777162" cy="24447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xEl>
                                              <p:charRg st="128" end="20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50179" name="Rectangle 3"/>
          <p:cNvSpPr>
            <a:spLocks noGrp="1"/>
          </p:cNvSpPr>
          <p:nvPr>
            <p:ph idx="1"/>
          </p:nvPr>
        </p:nvSpPr>
        <p:spPr>
          <a:xfrm>
            <a:off x="468313" y="1196975"/>
            <a:ext cx="8229600" cy="2447925"/>
          </a:xfrm>
        </p:spPr>
        <p:txBody>
          <a:bodyPr vert="horz" wrap="square" lIns="91440" tIns="45720" rIns="91440" bIns="45720" anchor="t" anchorCtr="0"/>
          <a:p>
            <a:pPr>
              <a:lnSpc>
                <a:spcPct val="90000"/>
              </a:lnSpc>
            </a:pPr>
            <a:r>
              <a:rPr lang="zh-CN" altLang="en-US" sz="2800" b="1" dirty="0">
                <a:solidFill>
                  <a:srgbClr val="0000FF"/>
                </a:solidFill>
              </a:rPr>
              <a:t>擦除操作</a:t>
            </a:r>
            <a:r>
              <a:rPr lang="zh-CN" altLang="en-US" sz="2800" dirty="0">
                <a:solidFill>
                  <a:srgbClr val="0000FF"/>
                </a:solidFill>
              </a:rPr>
              <a:t>：</a:t>
            </a:r>
            <a:r>
              <a:rPr lang="zh-CN" altLang="en-US" sz="2800" dirty="0"/>
              <a:t>所有的存储元中浮空栅上的负电荷要全部洩放出去。为此晶体管源极</a:t>
            </a:r>
            <a:r>
              <a:rPr lang="en-US" altLang="zh-CN" sz="2800" dirty="0"/>
              <a:t>S</a:t>
            </a:r>
            <a:r>
              <a:rPr lang="zh-CN" altLang="en-US" sz="2800" dirty="0"/>
              <a:t>加上正电压，这与编程操作正好相反，见图</a:t>
            </a:r>
            <a:r>
              <a:rPr lang="en-US" altLang="zh-CN" sz="2800" dirty="0"/>
              <a:t>(c)</a:t>
            </a:r>
            <a:r>
              <a:rPr lang="zh-CN" altLang="en-US" sz="2800" dirty="0"/>
              <a:t>所示。</a:t>
            </a:r>
            <a:endParaRPr lang="en-US" altLang="zh-CN" sz="2800" dirty="0"/>
          </a:p>
          <a:p>
            <a:pPr>
              <a:lnSpc>
                <a:spcPct val="90000"/>
              </a:lnSpc>
            </a:pPr>
            <a:r>
              <a:rPr lang="zh-CN" altLang="en-US" sz="2800" dirty="0"/>
              <a:t>源极</a:t>
            </a:r>
            <a:r>
              <a:rPr lang="en-US" altLang="zh-CN" sz="2800" dirty="0"/>
              <a:t>S</a:t>
            </a:r>
            <a:r>
              <a:rPr lang="zh-CN" altLang="en-US" sz="2800" dirty="0"/>
              <a:t>上的正电压吸收浮空栅中的电子，从而使全部存储元变成</a:t>
            </a:r>
            <a:r>
              <a:rPr lang="en-US" altLang="zh-CN" sz="2800" dirty="0"/>
              <a:t>1</a:t>
            </a:r>
            <a:r>
              <a:rPr lang="zh-CN" altLang="en-US" sz="2800" dirty="0"/>
              <a:t>状态。</a:t>
            </a:r>
            <a:r>
              <a:rPr lang="en-US" altLang="zh-CN" sz="2800" dirty="0"/>
              <a:t></a:t>
            </a:r>
            <a:endParaRPr lang="en-US" altLang="zh-CN" sz="2800" dirty="0"/>
          </a:p>
        </p:txBody>
      </p:sp>
      <p:pic>
        <p:nvPicPr>
          <p:cNvPr id="83972" name="Picture 4" descr="3A22">
            <a:hlinkClick r:id="rId1" action="ppaction://hlinkfile"/>
          </p:cNvPr>
          <p:cNvPicPr>
            <a:picLocks noChangeAspect="1"/>
          </p:cNvPicPr>
          <p:nvPr/>
        </p:nvPicPr>
        <p:blipFill>
          <a:blip r:embed="rId2"/>
          <a:stretch>
            <a:fillRect/>
          </a:stretch>
        </p:blipFill>
        <p:spPr>
          <a:xfrm>
            <a:off x="755650" y="3675063"/>
            <a:ext cx="7920038" cy="2490787"/>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9">
                                            <p:txEl>
                                              <p:charRg st="62" end="9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.4  </a:t>
            </a:r>
            <a:r>
              <a:rPr lang="zh-CN" altLang="en-US" dirty="0"/>
              <a:t>只读存储器和闪速存储器</a:t>
            </a:r>
            <a:endParaRPr lang="zh-CN" altLang="en-US" dirty="0"/>
          </a:p>
        </p:txBody>
      </p:sp>
      <p:sp>
        <p:nvSpPr>
          <p:cNvPr id="51203" name="Rectangle 3"/>
          <p:cNvSpPr>
            <a:spLocks noGrp="1"/>
          </p:cNvSpPr>
          <p:nvPr>
            <p:ph idx="1"/>
          </p:nvPr>
        </p:nvSpPr>
        <p:spPr>
          <a:xfrm>
            <a:off x="250825" y="1052513"/>
            <a:ext cx="8713788" cy="2376487"/>
          </a:xfrm>
        </p:spPr>
        <p:txBody>
          <a:bodyPr vert="horz" wrap="square" lIns="91440" tIns="45720" rIns="91440" bIns="45720" anchor="t" anchorCtr="0"/>
          <a:p>
            <a:pPr>
              <a:lnSpc>
                <a:spcPct val="90000"/>
              </a:lnSpc>
            </a:pPr>
            <a:r>
              <a:rPr lang="en-US" altLang="zh-CN" sz="2700" dirty="0"/>
              <a:t>FLASH</a:t>
            </a:r>
            <a:r>
              <a:rPr lang="zh-CN" altLang="en-US" sz="2700" dirty="0"/>
              <a:t>存储器的阵列结构</a:t>
            </a:r>
            <a:endParaRPr lang="en-US" altLang="zh-CN" sz="2700" dirty="0"/>
          </a:p>
          <a:p>
            <a:pPr>
              <a:lnSpc>
                <a:spcPct val="90000"/>
              </a:lnSpc>
            </a:pPr>
            <a:r>
              <a:rPr lang="zh-CN" altLang="en-US" sz="2400" dirty="0"/>
              <a:t>在某一时间只有一条行选择线被激活。</a:t>
            </a:r>
            <a:endParaRPr lang="en-US" altLang="zh-CN" sz="2400" dirty="0"/>
          </a:p>
          <a:p>
            <a:pPr>
              <a:lnSpc>
                <a:spcPct val="90000"/>
              </a:lnSpc>
            </a:pPr>
            <a:r>
              <a:rPr lang="zh-CN" altLang="en-US" sz="2400" dirty="0"/>
              <a:t>读操作时，假定某个存储元原存</a:t>
            </a:r>
            <a:r>
              <a:rPr lang="en-US" altLang="zh-CN" sz="2400" dirty="0"/>
              <a:t>1</a:t>
            </a:r>
            <a:r>
              <a:rPr lang="zh-CN" altLang="en-US" sz="2400" dirty="0"/>
              <a:t>，那么晶体管导通，与它所在位线接通，有电流通过位线，所经过的负载上产生一个电压降。这个电压降送到比较器的一个输入端，与另一端输入的参照电压做比较，比较器输出一个标志为逻辑</a:t>
            </a:r>
            <a:r>
              <a:rPr lang="en-US" altLang="zh-CN" sz="2400" dirty="0"/>
              <a:t>1</a:t>
            </a:r>
            <a:r>
              <a:rPr lang="zh-CN" altLang="en-US" sz="2400" dirty="0"/>
              <a:t>的电平。</a:t>
            </a:r>
            <a:endParaRPr lang="zh-CN" altLang="en-US" sz="2400" dirty="0"/>
          </a:p>
        </p:txBody>
      </p:sp>
      <p:pic>
        <p:nvPicPr>
          <p:cNvPr id="84996" name="Picture 5"/>
          <p:cNvPicPr>
            <a:picLocks noChangeAspect="1"/>
          </p:cNvPicPr>
          <p:nvPr/>
        </p:nvPicPr>
        <p:blipFill>
          <a:blip r:embed="rId1"/>
          <a:stretch>
            <a:fillRect/>
          </a:stretch>
        </p:blipFill>
        <p:spPr>
          <a:xfrm>
            <a:off x="4284663" y="3429000"/>
            <a:ext cx="4679950" cy="3327400"/>
          </a:xfrm>
          <a:prstGeom prst="rect">
            <a:avLst/>
          </a:prstGeom>
          <a:noFill/>
          <a:ln w="9525">
            <a:noFill/>
          </a:ln>
        </p:spPr>
      </p:pic>
      <p:sp>
        <p:nvSpPr>
          <p:cNvPr id="51206" name="Text Box 6"/>
          <p:cNvSpPr txBox="1"/>
          <p:nvPr/>
        </p:nvSpPr>
        <p:spPr>
          <a:xfrm>
            <a:off x="519113" y="3448050"/>
            <a:ext cx="3692525" cy="2654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800" dirty="0"/>
              <a:t>如果某个存储元原先存</a:t>
            </a:r>
            <a:r>
              <a:rPr lang="en-US" altLang="zh-CN" sz="2800" dirty="0"/>
              <a:t>0</a:t>
            </a:r>
            <a:r>
              <a:rPr lang="zh-CN" altLang="en-US" sz="2800" dirty="0"/>
              <a:t>，那么晶体管不导通，位线上没有电流，比较器输出端则产生一个标志为逻辑</a:t>
            </a:r>
            <a:r>
              <a:rPr lang="en-US" altLang="zh-CN" sz="2800" dirty="0"/>
              <a:t>0</a:t>
            </a:r>
            <a:r>
              <a:rPr lang="zh-CN" altLang="en-US" sz="2800" dirty="0"/>
              <a:t>的电平。</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charRg st="32" end="13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1206"/>
                                        </p:tgtEl>
                                        <p:attrNameLst>
                                          <p:attrName>style.visibility</p:attrName>
                                        </p:attrNameLst>
                                      </p:cBhvr>
                                      <p:to>
                                        <p:strVal val="visible"/>
                                      </p:to>
                                    </p:set>
                                    <p:anim calcmode="lin" valueType="num">
                                      <p:cBhvr additive="base">
                                        <p:cTn id="11" dur="500" fill="hold"/>
                                        <p:tgtEl>
                                          <p:spTgt spid="51206"/>
                                        </p:tgtEl>
                                        <p:attrNameLst>
                                          <p:attrName>ppt_x</p:attrName>
                                        </p:attrNameLst>
                                      </p:cBhvr>
                                      <p:tavLst>
                                        <p:tav tm="0">
                                          <p:val>
                                            <p:strVal val="#ppt_x"/>
                                          </p:val>
                                        </p:tav>
                                        <p:tav tm="100000">
                                          <p:val>
                                            <p:strVal val="#ppt_x"/>
                                          </p:val>
                                        </p:tav>
                                      </p:tavLst>
                                    </p:anim>
                                    <p:anim calcmode="lin" valueType="num">
                                      <p:cBhvr additive="base">
                                        <p:cTn id="12" dur="500" fill="hold"/>
                                        <p:tgtEl>
                                          <p:spTgt spid="512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3"/>
          <p:cNvSpPr>
            <a:spLocks noGrp="1"/>
          </p:cNvSpPr>
          <p:nvPr>
            <p:ph idx="1"/>
          </p:nvPr>
        </p:nvSpPr>
        <p:spPr>
          <a:xfrm>
            <a:off x="250825" y="1052513"/>
            <a:ext cx="8713788" cy="2376487"/>
          </a:xfrm>
        </p:spPr>
        <p:txBody>
          <a:bodyPr vert="horz" wrap="square" lIns="91440" tIns="45720" rIns="91440" bIns="45720" anchor="t" anchorCtr="0"/>
          <a:p>
            <a:pPr>
              <a:lnSpc>
                <a:spcPct val="90000"/>
              </a:lnSpc>
            </a:pPr>
            <a:r>
              <a:rPr lang="en-US" altLang="zh-CN" sz="2400" dirty="0"/>
              <a:t>1.</a:t>
            </a:r>
            <a:r>
              <a:rPr lang="en-US" altLang="zh-CN" sz="2400" dirty="0">
                <a:solidFill>
                  <a:srgbClr val="FF0000"/>
                </a:solidFill>
              </a:rPr>
              <a:t> </a:t>
            </a:r>
            <a:r>
              <a:rPr lang="zh-CN" altLang="en-US" sz="2400" dirty="0"/>
              <a:t>下列种类存储器中</a:t>
            </a:r>
            <a:r>
              <a:rPr lang="en-US" altLang="zh-CN" sz="2400" dirty="0"/>
              <a:t>,</a:t>
            </a:r>
            <a:r>
              <a:rPr lang="zh-CN" altLang="en-US" sz="2400" dirty="0"/>
              <a:t>不采用随机存取方式的是</a:t>
            </a:r>
            <a:r>
              <a:rPr lang="en-US" altLang="zh-CN" sz="2400" dirty="0"/>
              <a:t>().</a:t>
            </a:r>
            <a:endParaRPr lang="en-US" altLang="zh-CN" sz="2400" dirty="0"/>
          </a:p>
          <a:p>
            <a:pPr>
              <a:lnSpc>
                <a:spcPct val="90000"/>
              </a:lnSpc>
            </a:pPr>
            <a:r>
              <a:rPr lang="en-US" altLang="zh-CN" sz="2400" dirty="0"/>
              <a:t>A. EPROM    B. CD-ROM    C.DRAM   D. SRAM</a:t>
            </a:r>
            <a:endParaRPr lang="en-US" altLang="zh-CN" sz="2400" dirty="0"/>
          </a:p>
          <a:p>
            <a:pPr>
              <a:lnSpc>
                <a:spcPct val="90000"/>
              </a:lnSpc>
            </a:pPr>
            <a:endParaRPr lang="en-US" altLang="zh-CN" sz="2400" dirty="0"/>
          </a:p>
          <a:p>
            <a:pPr>
              <a:lnSpc>
                <a:spcPct val="90000"/>
              </a:lnSpc>
            </a:pPr>
            <a:r>
              <a:rPr lang="en-US" altLang="zh-CN" sz="2400" dirty="0"/>
              <a:t>2. </a:t>
            </a:r>
            <a:r>
              <a:rPr lang="zh-CN" altLang="en-US" sz="2400" dirty="0">
                <a:solidFill>
                  <a:srgbClr val="002060"/>
                </a:solidFill>
              </a:rPr>
              <a:t>下列有关</a:t>
            </a:r>
            <a:r>
              <a:rPr lang="en-US" altLang="zh-CN" sz="2400" dirty="0">
                <a:solidFill>
                  <a:srgbClr val="002060"/>
                </a:solidFill>
              </a:rPr>
              <a:t>RAM </a:t>
            </a:r>
            <a:r>
              <a:rPr lang="zh-CN" altLang="en-US" sz="2400" dirty="0">
                <a:solidFill>
                  <a:srgbClr val="002060"/>
                </a:solidFill>
              </a:rPr>
              <a:t>和</a:t>
            </a:r>
            <a:r>
              <a:rPr lang="en-US" altLang="zh-CN" sz="2400" dirty="0">
                <a:solidFill>
                  <a:srgbClr val="002060"/>
                </a:solidFill>
              </a:rPr>
              <a:t>ROM</a:t>
            </a:r>
            <a:r>
              <a:rPr lang="zh-CN" altLang="en-US" sz="2400" dirty="0">
                <a:solidFill>
                  <a:srgbClr val="002060"/>
                </a:solidFill>
              </a:rPr>
              <a:t>的叙述中</a:t>
            </a:r>
            <a:r>
              <a:rPr lang="en-US" altLang="zh-CN" sz="2400" dirty="0">
                <a:solidFill>
                  <a:srgbClr val="002060"/>
                </a:solidFill>
              </a:rPr>
              <a:t>,</a:t>
            </a:r>
            <a:r>
              <a:rPr lang="zh-CN" altLang="en-US" sz="2400" dirty="0">
                <a:solidFill>
                  <a:srgbClr val="002060"/>
                </a:solidFill>
              </a:rPr>
              <a:t>正确的是</a:t>
            </a:r>
            <a:r>
              <a:rPr lang="en-US" altLang="zh-CN" sz="2400" dirty="0">
                <a:solidFill>
                  <a:srgbClr val="002060"/>
                </a:solidFill>
              </a:rPr>
              <a:t>().   </a:t>
            </a:r>
            <a:endParaRPr lang="en-US" altLang="zh-CN" sz="2400" dirty="0">
              <a:solidFill>
                <a:srgbClr val="002060"/>
              </a:solidFill>
            </a:endParaRPr>
          </a:p>
          <a:p>
            <a:pPr>
              <a:lnSpc>
                <a:spcPct val="90000"/>
              </a:lnSpc>
              <a:buNone/>
            </a:pPr>
            <a:r>
              <a:rPr lang="en-US" altLang="zh-CN" sz="2400" dirty="0">
                <a:solidFill>
                  <a:srgbClr val="002060"/>
                </a:solidFill>
              </a:rPr>
              <a:t>      1. RAM</a:t>
            </a:r>
            <a:r>
              <a:rPr lang="zh-CN" altLang="en-US" sz="2400" dirty="0">
                <a:solidFill>
                  <a:srgbClr val="002060"/>
                </a:solidFill>
              </a:rPr>
              <a:t>是易失型存储器</a:t>
            </a:r>
            <a:r>
              <a:rPr lang="en-US" altLang="zh-CN" sz="2400" dirty="0">
                <a:solidFill>
                  <a:srgbClr val="002060"/>
                </a:solidFill>
              </a:rPr>
              <a:t>,ROM</a:t>
            </a:r>
            <a:r>
              <a:rPr lang="zh-CN" altLang="en-US" sz="2400" dirty="0">
                <a:solidFill>
                  <a:srgbClr val="002060"/>
                </a:solidFill>
              </a:rPr>
              <a:t>是非易失性存储器</a:t>
            </a:r>
            <a:r>
              <a:rPr lang="en-US" altLang="zh-CN" sz="2400" dirty="0">
                <a:solidFill>
                  <a:srgbClr val="002060"/>
                </a:solidFill>
              </a:rPr>
              <a:t>.</a:t>
            </a:r>
            <a:endParaRPr lang="en-US" altLang="zh-CN" sz="2400" dirty="0">
              <a:solidFill>
                <a:srgbClr val="002060"/>
              </a:solidFill>
            </a:endParaRPr>
          </a:p>
          <a:p>
            <a:pPr>
              <a:lnSpc>
                <a:spcPct val="90000"/>
              </a:lnSpc>
              <a:buNone/>
            </a:pPr>
            <a:r>
              <a:rPr lang="en-US" altLang="zh-CN" sz="2400" dirty="0">
                <a:solidFill>
                  <a:srgbClr val="002060"/>
                </a:solidFill>
              </a:rPr>
              <a:t>       2. RAM</a:t>
            </a:r>
            <a:r>
              <a:rPr lang="zh-CN" altLang="en-US" sz="2400" dirty="0">
                <a:solidFill>
                  <a:srgbClr val="002060"/>
                </a:solidFill>
              </a:rPr>
              <a:t>和</a:t>
            </a:r>
            <a:r>
              <a:rPr lang="en-US" altLang="zh-CN" sz="2400" dirty="0">
                <a:solidFill>
                  <a:srgbClr val="002060"/>
                </a:solidFill>
              </a:rPr>
              <a:t>ROM</a:t>
            </a:r>
            <a:r>
              <a:rPr lang="zh-CN" altLang="en-US" sz="2400" dirty="0">
                <a:solidFill>
                  <a:srgbClr val="002060"/>
                </a:solidFill>
              </a:rPr>
              <a:t>都是采用随机存储  的方式进行信息访问</a:t>
            </a:r>
            <a:r>
              <a:rPr lang="en-US" altLang="zh-CN" sz="2400" dirty="0">
                <a:solidFill>
                  <a:srgbClr val="002060"/>
                </a:solidFill>
              </a:rPr>
              <a:t>.</a:t>
            </a:r>
            <a:endParaRPr lang="en-US" altLang="zh-CN" sz="2400" dirty="0">
              <a:solidFill>
                <a:srgbClr val="002060"/>
              </a:solidFill>
            </a:endParaRPr>
          </a:p>
          <a:p>
            <a:pPr>
              <a:lnSpc>
                <a:spcPct val="90000"/>
              </a:lnSpc>
              <a:buNone/>
            </a:pPr>
            <a:r>
              <a:rPr lang="en-US" altLang="zh-CN" sz="2400" dirty="0">
                <a:solidFill>
                  <a:srgbClr val="002060"/>
                </a:solidFill>
              </a:rPr>
              <a:t>       3. RAM</a:t>
            </a:r>
            <a:r>
              <a:rPr lang="zh-CN" altLang="en-US" sz="2400" dirty="0">
                <a:solidFill>
                  <a:srgbClr val="002060"/>
                </a:solidFill>
              </a:rPr>
              <a:t>和</a:t>
            </a:r>
            <a:r>
              <a:rPr lang="en-US" altLang="zh-CN" sz="2400" dirty="0">
                <a:solidFill>
                  <a:srgbClr val="002060"/>
                </a:solidFill>
              </a:rPr>
              <a:t>ROM</a:t>
            </a:r>
            <a:r>
              <a:rPr lang="zh-CN" altLang="en-US" sz="2400" dirty="0">
                <a:solidFill>
                  <a:srgbClr val="002060"/>
                </a:solidFill>
              </a:rPr>
              <a:t>都可以用做</a:t>
            </a:r>
            <a:r>
              <a:rPr lang="en-US" altLang="zh-CN" sz="2400" dirty="0">
                <a:solidFill>
                  <a:srgbClr val="002060"/>
                </a:solidFill>
              </a:rPr>
              <a:t>cache.</a:t>
            </a:r>
            <a:endParaRPr lang="en-US" altLang="zh-CN" sz="2400" dirty="0">
              <a:solidFill>
                <a:srgbClr val="002060"/>
              </a:solidFill>
            </a:endParaRPr>
          </a:p>
          <a:p>
            <a:pPr>
              <a:lnSpc>
                <a:spcPct val="90000"/>
              </a:lnSpc>
              <a:buNone/>
            </a:pPr>
            <a:r>
              <a:rPr lang="en-US" altLang="zh-CN" sz="2400" dirty="0">
                <a:solidFill>
                  <a:srgbClr val="002060"/>
                </a:solidFill>
              </a:rPr>
              <a:t>       4. RAM</a:t>
            </a:r>
            <a:r>
              <a:rPr lang="zh-CN" altLang="en-US" sz="2400" dirty="0">
                <a:solidFill>
                  <a:srgbClr val="002060"/>
                </a:solidFill>
              </a:rPr>
              <a:t>和</a:t>
            </a:r>
            <a:r>
              <a:rPr lang="en-US" altLang="zh-CN" sz="2400" dirty="0">
                <a:solidFill>
                  <a:srgbClr val="002060"/>
                </a:solidFill>
              </a:rPr>
              <a:t>ROM</a:t>
            </a:r>
            <a:r>
              <a:rPr lang="zh-CN" altLang="en-US" sz="2400" dirty="0">
                <a:solidFill>
                  <a:srgbClr val="002060"/>
                </a:solidFill>
              </a:rPr>
              <a:t>都需要进行刷新</a:t>
            </a:r>
            <a:r>
              <a:rPr lang="en-US" altLang="zh-CN" sz="2400" dirty="0">
                <a:solidFill>
                  <a:srgbClr val="002060"/>
                </a:solidFill>
              </a:rPr>
              <a:t>.</a:t>
            </a:r>
            <a:endParaRPr lang="en-US" altLang="zh-CN" sz="2400" dirty="0">
              <a:solidFill>
                <a:srgbClr val="002060"/>
              </a:solidFill>
            </a:endParaRPr>
          </a:p>
          <a:p>
            <a:pPr>
              <a:lnSpc>
                <a:spcPct val="90000"/>
              </a:lnSpc>
            </a:pPr>
            <a:r>
              <a:rPr lang="en-US" altLang="zh-CN" sz="2400" dirty="0"/>
              <a:t>          A. </a:t>
            </a:r>
            <a:r>
              <a:rPr lang="zh-CN" altLang="en-US" sz="2400" dirty="0"/>
              <a:t>仅</a:t>
            </a:r>
            <a:r>
              <a:rPr lang="en-US" altLang="zh-CN" sz="2400" dirty="0"/>
              <a:t>1</a:t>
            </a:r>
            <a:r>
              <a:rPr lang="zh-CN" altLang="en-US" sz="2400" dirty="0"/>
              <a:t>和</a:t>
            </a:r>
            <a:r>
              <a:rPr lang="en-US" altLang="zh-CN" sz="2400" dirty="0"/>
              <a:t>2                                 B. </a:t>
            </a:r>
            <a:r>
              <a:rPr lang="zh-CN" altLang="en-US" sz="2400" dirty="0"/>
              <a:t>仅</a:t>
            </a:r>
            <a:r>
              <a:rPr lang="en-US" altLang="zh-CN" sz="2400" dirty="0"/>
              <a:t>2</a:t>
            </a:r>
            <a:r>
              <a:rPr lang="zh-CN" altLang="en-US" sz="2400" dirty="0"/>
              <a:t>和</a:t>
            </a:r>
            <a:r>
              <a:rPr lang="en-US" altLang="zh-CN" sz="2400" dirty="0"/>
              <a:t>3</a:t>
            </a:r>
            <a:endParaRPr lang="en-US" altLang="zh-CN" sz="2400" dirty="0"/>
          </a:p>
          <a:p>
            <a:pPr>
              <a:lnSpc>
                <a:spcPct val="90000"/>
              </a:lnSpc>
              <a:buNone/>
            </a:pPr>
            <a:r>
              <a:rPr lang="en-US" altLang="zh-CN" sz="2400" dirty="0"/>
              <a:t>          C. </a:t>
            </a:r>
            <a:r>
              <a:rPr lang="zh-CN" altLang="en-US" sz="2400" dirty="0"/>
              <a:t>仅</a:t>
            </a:r>
            <a:r>
              <a:rPr lang="en-US" altLang="zh-CN" sz="2400" dirty="0"/>
              <a:t>1</a:t>
            </a:r>
            <a:r>
              <a:rPr lang="zh-CN" altLang="en-US" sz="2400" dirty="0"/>
              <a:t>和</a:t>
            </a:r>
            <a:r>
              <a:rPr lang="en-US" altLang="zh-CN" sz="2400" dirty="0"/>
              <a:t>2,3                                  D. </a:t>
            </a:r>
            <a:r>
              <a:rPr lang="zh-CN" altLang="en-US" sz="2400" dirty="0"/>
              <a:t>仅</a:t>
            </a:r>
            <a:r>
              <a:rPr lang="en-US" altLang="zh-CN" sz="2400" dirty="0"/>
              <a:t>2</a:t>
            </a:r>
            <a:r>
              <a:rPr lang="zh-CN" altLang="en-US" sz="2400" dirty="0"/>
              <a:t>和</a:t>
            </a:r>
            <a:r>
              <a:rPr lang="en-US" altLang="zh-CN" sz="2400" dirty="0"/>
              <a:t>3,4</a:t>
            </a:r>
            <a:endParaRPr lang="en-US" altLang="zh-CN" sz="2400" dirty="0"/>
          </a:p>
          <a:p>
            <a:pPr>
              <a:lnSpc>
                <a:spcPct val="90000"/>
              </a:lnSpc>
            </a:pPr>
            <a:endParaRPr lang="en-US" altLang="zh-CN" sz="2400" dirty="0"/>
          </a:p>
          <a:p>
            <a:pPr>
              <a:lnSpc>
                <a:spcPct val="90000"/>
              </a:lnSpc>
            </a:pPr>
            <a:endParaRPr lang="en-US" altLang="zh-CN" sz="2400" dirty="0"/>
          </a:p>
          <a:p>
            <a:pPr>
              <a:lnSpc>
                <a:spcPct val="90000"/>
              </a:lnSpc>
            </a:pPr>
            <a:endParaRPr lang="en-US" altLang="zh-CN" sz="24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3"/>
          <p:cNvSpPr>
            <a:spLocks noGrp="1"/>
          </p:cNvSpPr>
          <p:nvPr>
            <p:ph idx="1"/>
          </p:nvPr>
        </p:nvSpPr>
        <p:spPr>
          <a:xfrm>
            <a:off x="250825" y="1052513"/>
            <a:ext cx="8713788" cy="2376487"/>
          </a:xfrm>
        </p:spPr>
        <p:txBody>
          <a:bodyPr vert="horz" wrap="square" lIns="91440" tIns="45720" rIns="91440" bIns="45720" anchor="t" anchorCtr="0"/>
          <a:p>
            <a:pPr>
              <a:lnSpc>
                <a:spcPct val="90000"/>
              </a:lnSpc>
            </a:pPr>
            <a:r>
              <a:rPr lang="en-US" altLang="zh-CN" sz="2400" dirty="0"/>
              <a:t>3.</a:t>
            </a:r>
            <a:r>
              <a:rPr lang="en-US" altLang="zh-CN" sz="2400" dirty="0">
                <a:solidFill>
                  <a:srgbClr val="FF0000"/>
                </a:solidFill>
              </a:rPr>
              <a:t> </a:t>
            </a:r>
            <a:r>
              <a:rPr lang="zh-CN" altLang="en-US" sz="2400" dirty="0"/>
              <a:t>下列关于闪存的说法中</a:t>
            </a:r>
            <a:r>
              <a:rPr lang="en-US" altLang="zh-CN" sz="2400" dirty="0"/>
              <a:t>,</a:t>
            </a:r>
            <a:r>
              <a:rPr lang="zh-CN" altLang="en-US" sz="2400" dirty="0"/>
              <a:t>错误的是</a:t>
            </a:r>
            <a:r>
              <a:rPr lang="en-US" altLang="zh-CN" sz="2400" dirty="0"/>
              <a:t>().</a:t>
            </a:r>
            <a:endParaRPr lang="en-US" altLang="zh-CN" sz="2400" dirty="0"/>
          </a:p>
          <a:p>
            <a:pPr>
              <a:lnSpc>
                <a:spcPct val="90000"/>
              </a:lnSpc>
            </a:pPr>
            <a:r>
              <a:rPr lang="en-US" altLang="zh-CN" sz="2400" dirty="0"/>
              <a:t>A. </a:t>
            </a:r>
            <a:r>
              <a:rPr lang="zh-CN" altLang="en-US" sz="2400" dirty="0"/>
              <a:t>信息可读可写</a:t>
            </a:r>
            <a:r>
              <a:rPr lang="en-US" altLang="zh-CN" sz="2400" dirty="0"/>
              <a:t>,</a:t>
            </a:r>
            <a:r>
              <a:rPr lang="zh-CN" altLang="en-US" sz="2400" dirty="0"/>
              <a:t>并且读和写的速度一样快</a:t>
            </a:r>
            <a:r>
              <a:rPr lang="en-US" altLang="zh-CN" sz="2400" dirty="0"/>
              <a:t>.</a:t>
            </a:r>
            <a:endParaRPr lang="en-US" altLang="zh-CN" sz="2400" dirty="0"/>
          </a:p>
          <a:p>
            <a:pPr>
              <a:lnSpc>
                <a:spcPct val="90000"/>
              </a:lnSpc>
            </a:pPr>
            <a:r>
              <a:rPr lang="en-US" altLang="zh-CN" sz="2400" dirty="0"/>
              <a:t>B. </a:t>
            </a:r>
            <a:r>
              <a:rPr lang="zh-CN" altLang="en-US" sz="2400" dirty="0"/>
              <a:t>存储元由</a:t>
            </a:r>
            <a:r>
              <a:rPr lang="en-US" altLang="zh-CN" sz="2400" dirty="0"/>
              <a:t>MOS</a:t>
            </a:r>
            <a:r>
              <a:rPr lang="zh-CN" altLang="en-US" sz="2400" dirty="0"/>
              <a:t>管组成</a:t>
            </a:r>
            <a:r>
              <a:rPr lang="en-US" altLang="zh-CN" sz="2400" dirty="0"/>
              <a:t>,</a:t>
            </a:r>
            <a:r>
              <a:rPr lang="zh-CN" altLang="en-US" sz="2400" dirty="0"/>
              <a:t>是一种半导体存储器</a:t>
            </a:r>
            <a:r>
              <a:rPr lang="en-US" altLang="zh-CN" sz="2400" dirty="0"/>
              <a:t>.</a:t>
            </a:r>
            <a:endParaRPr lang="en-US" altLang="zh-CN" sz="2400" dirty="0"/>
          </a:p>
          <a:p>
            <a:pPr>
              <a:lnSpc>
                <a:spcPct val="90000"/>
              </a:lnSpc>
              <a:buNone/>
            </a:pPr>
            <a:r>
              <a:rPr lang="en-US" altLang="zh-CN" sz="2400" dirty="0"/>
              <a:t>    C. </a:t>
            </a:r>
            <a:r>
              <a:rPr lang="zh-CN" altLang="en-US" sz="2400" dirty="0"/>
              <a:t>掉电后信息不丢失</a:t>
            </a:r>
            <a:r>
              <a:rPr lang="en-US" altLang="zh-CN" sz="2400" dirty="0"/>
              <a:t>,</a:t>
            </a:r>
            <a:r>
              <a:rPr lang="zh-CN" altLang="en-US" sz="2400" dirty="0"/>
              <a:t>是一种非</a:t>
            </a:r>
            <a:r>
              <a:rPr lang="en-US" altLang="zh-CN" sz="2400" dirty="0"/>
              <a:t> </a:t>
            </a:r>
            <a:r>
              <a:rPr lang="zh-CN" altLang="en-US" sz="2400" dirty="0"/>
              <a:t>易失性存储器</a:t>
            </a:r>
            <a:r>
              <a:rPr lang="en-US" altLang="zh-CN" sz="2400" dirty="0"/>
              <a:t>.</a:t>
            </a:r>
            <a:endParaRPr lang="en-US" altLang="zh-CN" sz="2400" dirty="0"/>
          </a:p>
          <a:p>
            <a:pPr>
              <a:lnSpc>
                <a:spcPct val="90000"/>
              </a:lnSpc>
              <a:buNone/>
            </a:pPr>
            <a:r>
              <a:rPr lang="en-US" altLang="zh-CN" sz="2400" dirty="0"/>
              <a:t>    D. </a:t>
            </a:r>
            <a:r>
              <a:rPr lang="zh-CN" altLang="en-US" sz="2400" dirty="0"/>
              <a:t>采用随机访问方式</a:t>
            </a:r>
            <a:r>
              <a:rPr lang="en-US" altLang="zh-CN" sz="2400" dirty="0"/>
              <a:t>,</a:t>
            </a:r>
            <a:r>
              <a:rPr lang="zh-CN" altLang="en-US" sz="2400" dirty="0"/>
              <a:t>可替代计算机外部存储器</a:t>
            </a:r>
            <a:r>
              <a:rPr lang="en-US" altLang="zh-CN" sz="2400" dirty="0"/>
              <a:t>.</a:t>
            </a:r>
            <a:endParaRPr lang="en-US" altLang="zh-CN" sz="2400" dirty="0"/>
          </a:p>
          <a:p>
            <a:pPr>
              <a:lnSpc>
                <a:spcPct val="90000"/>
              </a:lnSpc>
            </a:pPr>
            <a:endParaRPr lang="en-US" altLang="zh-CN" sz="2400" dirty="0"/>
          </a:p>
          <a:p>
            <a:pPr>
              <a:lnSpc>
                <a:spcPct val="90000"/>
              </a:lnSpc>
            </a:pPr>
            <a:endParaRPr lang="en-US" altLang="zh-CN" sz="24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2"/>
          <p:cNvSpPr>
            <a:spLocks noGrp="1"/>
          </p:cNvSpPr>
          <p:nvPr>
            <p:ph type="title"/>
          </p:nvPr>
        </p:nvSpPr>
        <p:spPr>
          <a:xfrm>
            <a:off x="712788" y="266700"/>
            <a:ext cx="8612187" cy="785813"/>
          </a:xfrm>
        </p:spPr>
        <p:txBody>
          <a:bodyPr vert="horz" wrap="square" lIns="91440" tIns="45720" rIns="91440" bIns="45720" anchor="ctr" anchorCtr="0"/>
          <a:p>
            <a:pPr defTabSz="717550"/>
            <a:r>
              <a:rPr lang="zh-CN" altLang="en-US" dirty="0"/>
              <a:t>存储器与</a:t>
            </a:r>
            <a:r>
              <a:rPr lang="en-US" altLang="zh-CN" dirty="0"/>
              <a:t>CPU</a:t>
            </a:r>
            <a:r>
              <a:rPr lang="zh-CN" altLang="en-US" dirty="0"/>
              <a:t>速度差距愈来愈大</a:t>
            </a:r>
            <a:endParaRPr lang="zh-CN" altLang="en-US" dirty="0"/>
          </a:p>
        </p:txBody>
      </p:sp>
      <p:sp>
        <p:nvSpPr>
          <p:cNvPr id="137219" name="Rectangle 3"/>
          <p:cNvSpPr>
            <a:spLocks noGrp="1"/>
          </p:cNvSpPr>
          <p:nvPr>
            <p:ph idx="1"/>
          </p:nvPr>
        </p:nvSpPr>
        <p:spPr>
          <a:xfrm>
            <a:off x="206375" y="5273675"/>
            <a:ext cx="3286125" cy="1079500"/>
          </a:xfrm>
        </p:spPr>
        <p:txBody>
          <a:bodyPr vert="horz" wrap="square" lIns="91440" tIns="45720" rIns="91440" bIns="45720" anchor="t" anchorCtr="0"/>
          <a:p>
            <a:pPr marL="268605" indent="-268605" defTabSz="717550">
              <a:lnSpc>
                <a:spcPct val="80000"/>
              </a:lnSpc>
              <a:buNone/>
            </a:pPr>
            <a:r>
              <a:rPr lang="zh-CN" altLang="en-US" sz="2000" dirty="0">
                <a:ea typeface="黑体" panose="02010609060101010101" pitchFamily="49" charset="-122"/>
              </a:rPr>
              <a:t>从上图可以看出什么？</a:t>
            </a:r>
            <a:endParaRPr lang="en-US" altLang="zh-CN" sz="2000" dirty="0">
              <a:ea typeface="黑体" panose="02010609060101010101" pitchFamily="49" charset="-122"/>
            </a:endParaRPr>
          </a:p>
          <a:p>
            <a:pPr marL="268605" indent="-268605" defTabSz="717550">
              <a:lnSpc>
                <a:spcPct val="115000"/>
              </a:lnSpc>
              <a:spcBef>
                <a:spcPct val="30000"/>
              </a:spcBef>
              <a:buNone/>
            </a:pPr>
            <a:r>
              <a:rPr lang="en-US" altLang="zh-CN" sz="2000" dirty="0">
                <a:solidFill>
                  <a:srgbClr val="CC0000"/>
                </a:solidFill>
                <a:ea typeface="黑体" panose="02010609060101010101" pitchFamily="49" charset="-122"/>
              </a:rPr>
              <a:t>DRAM</a:t>
            </a:r>
            <a:r>
              <a:rPr lang="zh-CN" altLang="en-US" sz="2000" dirty="0">
                <a:solidFill>
                  <a:srgbClr val="CC0000"/>
                </a:solidFill>
                <a:ea typeface="黑体" panose="02010609060101010101" pitchFamily="49" charset="-122"/>
              </a:rPr>
              <a:t>、</a:t>
            </a:r>
            <a:r>
              <a:rPr lang="en-US" altLang="zh-CN" sz="2000" dirty="0">
                <a:solidFill>
                  <a:srgbClr val="CC0000"/>
                </a:solidFill>
                <a:ea typeface="黑体" panose="02010609060101010101" pitchFamily="49" charset="-122"/>
              </a:rPr>
              <a:t> </a:t>
            </a:r>
            <a:r>
              <a:rPr lang="zh-CN" altLang="en-US" sz="2000" dirty="0">
                <a:solidFill>
                  <a:srgbClr val="CC0000"/>
                </a:solidFill>
                <a:ea typeface="黑体" panose="02010609060101010101" pitchFamily="49" charset="-122"/>
              </a:rPr>
              <a:t>硬盘与</a:t>
            </a:r>
            <a:r>
              <a:rPr lang="en-US" altLang="zh-CN" sz="2000" dirty="0">
                <a:solidFill>
                  <a:srgbClr val="CC0000"/>
                </a:solidFill>
                <a:ea typeface="黑体" panose="02010609060101010101" pitchFamily="49" charset="-122"/>
              </a:rPr>
              <a:t>CPU </a:t>
            </a:r>
            <a:r>
              <a:rPr lang="zh-CN" altLang="en-US" sz="2000" dirty="0">
                <a:solidFill>
                  <a:srgbClr val="CC0000"/>
                </a:solidFill>
                <a:ea typeface="黑体" panose="02010609060101010101" pitchFamily="49" charset="-122"/>
              </a:rPr>
              <a:t>之间</a:t>
            </a:r>
            <a:endParaRPr lang="en-US" altLang="zh-CN" sz="2000" dirty="0">
              <a:solidFill>
                <a:srgbClr val="CC0000"/>
              </a:solidFill>
              <a:ea typeface="黑体" panose="02010609060101010101" pitchFamily="49" charset="-122"/>
            </a:endParaRPr>
          </a:p>
          <a:p>
            <a:pPr marL="268605" indent="-268605" defTabSz="717550">
              <a:lnSpc>
                <a:spcPct val="80000"/>
              </a:lnSpc>
              <a:buNone/>
            </a:pPr>
            <a:r>
              <a:rPr lang="zh-CN" altLang="en-US" sz="2000" dirty="0">
                <a:solidFill>
                  <a:srgbClr val="CC0000"/>
                </a:solidFill>
                <a:ea typeface="黑体" panose="02010609060101010101" pitchFamily="49" charset="-122"/>
              </a:rPr>
              <a:t>的速度差距愈来愈大！</a:t>
            </a:r>
            <a:endParaRPr lang="zh-CN" altLang="en-US" sz="2000" dirty="0">
              <a:solidFill>
                <a:srgbClr val="CC0000"/>
              </a:solidFill>
              <a:ea typeface="黑体" panose="02010609060101010101" pitchFamily="49" charset="-122"/>
            </a:endParaRPr>
          </a:p>
        </p:txBody>
      </p:sp>
      <p:graphicFrame>
        <p:nvGraphicFramePr>
          <p:cNvPr id="88068" name="Object 4"/>
          <p:cNvGraphicFramePr>
            <a:graphicFrameLocks noChangeAspect="1"/>
          </p:cNvGraphicFramePr>
          <p:nvPr/>
        </p:nvGraphicFramePr>
        <p:xfrm>
          <a:off x="407988" y="995363"/>
          <a:ext cx="6154737" cy="4106862"/>
        </p:xfrm>
        <a:graphic>
          <a:graphicData uri="http://schemas.openxmlformats.org/presentationml/2006/ole">
            <mc:AlternateContent xmlns:mc="http://schemas.openxmlformats.org/markup-compatibility/2006">
              <mc:Choice xmlns:v="urn:schemas-microsoft-com:vml" Requires="v">
                <p:oleObj spid="_x0000_s3084" name="" r:id="rId1" imgW="7553325" imgH="4000500" progId="Excel.Chart.8">
                  <p:embed/>
                </p:oleObj>
              </mc:Choice>
              <mc:Fallback>
                <p:oleObj name="" r:id="rId1" imgW="7553325" imgH="4000500" progId="Excel.Chart.8">
                  <p:embed/>
                  <p:pic>
                    <p:nvPicPr>
                      <p:cNvPr id="0" name="图片 3083"/>
                      <p:cNvPicPr/>
                      <p:nvPr/>
                    </p:nvPicPr>
                    <p:blipFill>
                      <a:blip r:embed="rId2"/>
                      <a:srcRect t="2536" r="43370" b="39417"/>
                      <a:stretch>
                        <a:fillRect/>
                      </a:stretch>
                    </p:blipFill>
                    <p:spPr>
                      <a:xfrm>
                        <a:off x="407988" y="995363"/>
                        <a:ext cx="6154737" cy="4106862"/>
                      </a:xfrm>
                      <a:prstGeom prst="rect">
                        <a:avLst/>
                      </a:prstGeom>
                      <a:noFill/>
                      <a:ln w="38100">
                        <a:noFill/>
                        <a:miter/>
                      </a:ln>
                    </p:spPr>
                  </p:pic>
                </p:oleObj>
              </mc:Fallback>
            </mc:AlternateContent>
          </a:graphicData>
        </a:graphic>
      </p:graphicFrame>
      <p:graphicFrame>
        <p:nvGraphicFramePr>
          <p:cNvPr id="88069" name="Object 5"/>
          <p:cNvGraphicFramePr>
            <a:graphicFrameLocks noChangeAspect="1"/>
          </p:cNvGraphicFramePr>
          <p:nvPr/>
        </p:nvGraphicFramePr>
        <p:xfrm>
          <a:off x="6769100" y="1196975"/>
          <a:ext cx="2303463" cy="1489075"/>
        </p:xfrm>
        <a:graphic>
          <a:graphicData uri="http://schemas.openxmlformats.org/presentationml/2006/ole">
            <mc:AlternateContent xmlns:mc="http://schemas.openxmlformats.org/markup-compatibility/2006">
              <mc:Choice xmlns:v="urn:schemas-microsoft-com:vml" Requires="v">
                <p:oleObj spid="_x0000_s3085" name="" r:id="rId3" imgW="7108825" imgH="3764915" progId="Excel.Chart.8">
                  <p:embed/>
                </p:oleObj>
              </mc:Choice>
              <mc:Fallback>
                <p:oleObj name="" r:id="rId3" imgW="7108825" imgH="3764915" progId="Excel.Chart.8">
                  <p:embed/>
                  <p:pic>
                    <p:nvPicPr>
                      <p:cNvPr id="0" name="图片 3084"/>
                      <p:cNvPicPr/>
                      <p:nvPr/>
                    </p:nvPicPr>
                    <p:blipFill>
                      <a:blip r:embed="rId4"/>
                      <a:srcRect l="59288" t="23434" r="19524" b="54164"/>
                      <a:stretch>
                        <a:fillRect/>
                      </a:stretch>
                    </p:blipFill>
                    <p:spPr>
                      <a:xfrm>
                        <a:off x="6769100" y="1196975"/>
                        <a:ext cx="2303463" cy="1489075"/>
                      </a:xfrm>
                      <a:prstGeom prst="rect">
                        <a:avLst/>
                      </a:prstGeom>
                      <a:noFill/>
                      <a:ln w="38100">
                        <a:noFill/>
                        <a:miter/>
                      </a:ln>
                    </p:spPr>
                  </p:pic>
                </p:oleObj>
              </mc:Fallback>
            </mc:AlternateContent>
          </a:graphicData>
        </a:graphic>
      </p:graphicFrame>
      <p:sp>
        <p:nvSpPr>
          <p:cNvPr id="137222" name="Rectangle 6"/>
          <p:cNvSpPr/>
          <p:nvPr/>
        </p:nvSpPr>
        <p:spPr>
          <a:xfrm flipH="1">
            <a:off x="6818313" y="2924175"/>
            <a:ext cx="2127250" cy="1736725"/>
          </a:xfrm>
          <a:prstGeom prst="rect">
            <a:avLst/>
          </a:prstGeom>
          <a:noFill/>
          <a:ln w="9525">
            <a:noFill/>
          </a:ln>
        </p:spPr>
        <p:txBody>
          <a:bodyPr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b="1" dirty="0">
                <a:solidFill>
                  <a:srgbClr val="0000FF"/>
                </a:solidFill>
                <a:ea typeface="黑体" panose="02010609060101010101" pitchFamily="49" charset="-122"/>
              </a:rPr>
              <a:t>由于</a:t>
            </a:r>
            <a:r>
              <a:rPr lang="en-US" altLang="zh-CN" sz="1800" b="1" dirty="0">
                <a:solidFill>
                  <a:srgbClr val="0000FF"/>
                </a:solidFill>
                <a:ea typeface="黑体" panose="02010609060101010101" pitchFamily="49" charset="-122"/>
              </a:rPr>
              <a:t>CPU</a:t>
            </a:r>
            <a:r>
              <a:rPr lang="zh-CN" altLang="en-US" sz="1800" b="1" dirty="0">
                <a:solidFill>
                  <a:srgbClr val="0000FF"/>
                </a:solidFill>
                <a:ea typeface="黑体" panose="02010609060101010101" pitchFamily="49" charset="-122"/>
              </a:rPr>
              <a:t>很快，内存较慢（差</a:t>
            </a:r>
            <a:r>
              <a:rPr lang="en-US" altLang="zh-CN" sz="1800" b="1" dirty="0">
                <a:solidFill>
                  <a:srgbClr val="0000FF"/>
                </a:solidFill>
                <a:ea typeface="黑体" panose="02010609060101010101" pitchFamily="49" charset="-122"/>
              </a:rPr>
              <a:t>1</a:t>
            </a:r>
            <a:r>
              <a:rPr lang="zh-CN" altLang="en-US" sz="1800" b="1" dirty="0">
                <a:solidFill>
                  <a:srgbClr val="0000FF"/>
                </a:solidFill>
                <a:ea typeface="黑体" panose="02010609060101010101" pitchFamily="49" charset="-122"/>
              </a:rPr>
              <a:t>～</a:t>
            </a:r>
            <a:r>
              <a:rPr lang="en-US" altLang="zh-CN" sz="1800" b="1" dirty="0">
                <a:solidFill>
                  <a:srgbClr val="0000FF"/>
                </a:solidFill>
                <a:ea typeface="黑体" panose="02010609060101010101" pitchFamily="49" charset="-122"/>
              </a:rPr>
              <a:t>2</a:t>
            </a:r>
            <a:r>
              <a:rPr lang="zh-CN" altLang="en-US" sz="1800" b="1" dirty="0">
                <a:solidFill>
                  <a:srgbClr val="0000FF"/>
                </a:solidFill>
                <a:ea typeface="黑体" panose="02010609060101010101" pitchFamily="49" charset="-122"/>
              </a:rPr>
              <a:t>个数量级），从内存取数或向内存写数时，</a:t>
            </a:r>
            <a:r>
              <a:rPr lang="en-US" altLang="zh-CN" sz="1800" b="1" dirty="0">
                <a:solidFill>
                  <a:srgbClr val="0000FF"/>
                </a:solidFill>
                <a:ea typeface="黑体" panose="02010609060101010101" pitchFamily="49" charset="-122"/>
              </a:rPr>
              <a:t>CPU</a:t>
            </a:r>
            <a:r>
              <a:rPr lang="zh-CN" altLang="en-US" sz="1800" b="1" dirty="0">
                <a:solidFill>
                  <a:srgbClr val="0000FF"/>
                </a:solidFill>
                <a:ea typeface="黑体" panose="02010609060101010101" pitchFamily="49" charset="-122"/>
              </a:rPr>
              <a:t>往往需要等待。</a:t>
            </a:r>
            <a:endParaRPr lang="zh-CN" altLang="en-US" sz="1800" b="1" dirty="0">
              <a:solidFill>
                <a:srgbClr val="0000FF"/>
              </a:solidFill>
              <a:ea typeface="黑体" panose="02010609060101010101" pitchFamily="49" charset="-122"/>
            </a:endParaRPr>
          </a:p>
        </p:txBody>
      </p:sp>
      <p:sp>
        <p:nvSpPr>
          <p:cNvPr id="137223" name="Text Box 7"/>
          <p:cNvSpPr txBox="1"/>
          <p:nvPr/>
        </p:nvSpPr>
        <p:spPr>
          <a:xfrm>
            <a:off x="5075238" y="5029200"/>
            <a:ext cx="4105275" cy="14954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30000"/>
              </a:spcBef>
              <a:buClrTx/>
              <a:buSzTx/>
              <a:buFontTx/>
              <a:buNone/>
            </a:pPr>
            <a:r>
              <a:rPr lang="zh-CN" altLang="en-US" sz="2000" b="1" dirty="0">
                <a:solidFill>
                  <a:schemeClr val="hlink"/>
                </a:solidFill>
                <a:ea typeface="黑体" panose="02010609060101010101" pitchFamily="49" charset="-122"/>
              </a:rPr>
              <a:t>解决内存访问速度慢的措施有三个：</a:t>
            </a:r>
            <a:endParaRPr lang="en-US" altLang="zh-CN" sz="2000" b="1" dirty="0">
              <a:solidFill>
                <a:schemeClr val="hlink"/>
              </a:solidFill>
              <a:cs typeface="Arial" panose="020B0604020202020204" pitchFamily="34" charset="0"/>
            </a:endParaRPr>
          </a:p>
          <a:p>
            <a:pPr marL="457200" lvl="1" indent="0" eaLnBrk="1" hangingPunct="1">
              <a:spcBef>
                <a:spcPct val="30000"/>
              </a:spcBef>
              <a:buClrTx/>
              <a:buSzTx/>
              <a:buFontTx/>
              <a:buChar char="•"/>
            </a:pPr>
            <a:r>
              <a:rPr lang="en-US" altLang="zh-CN" sz="2000" b="1" dirty="0">
                <a:solidFill>
                  <a:srgbClr val="000099"/>
                </a:solidFill>
                <a:cs typeface="Arial" panose="020B0604020202020204" pitchFamily="34" charset="0"/>
              </a:rPr>
              <a:t> </a:t>
            </a:r>
            <a:r>
              <a:rPr lang="zh-CN" altLang="en-US" sz="2000" b="1" dirty="0">
                <a:solidFill>
                  <a:srgbClr val="000099"/>
                </a:solidFill>
                <a:ea typeface="黑体" panose="02010609060101010101" pitchFamily="49" charset="-122"/>
              </a:rPr>
              <a:t>提高主存芯片本身的速度</a:t>
            </a:r>
            <a:endParaRPr lang="en-US" altLang="zh-CN" sz="2000" b="1" dirty="0">
              <a:solidFill>
                <a:srgbClr val="000099"/>
              </a:solidFill>
              <a:ea typeface="黑体" panose="02010609060101010101" pitchFamily="49" charset="-122"/>
            </a:endParaRPr>
          </a:p>
          <a:p>
            <a:pPr marL="457200" lvl="1" indent="0" eaLnBrk="1" hangingPunct="1">
              <a:spcBef>
                <a:spcPct val="30000"/>
              </a:spcBef>
              <a:buClrTx/>
              <a:buSzTx/>
              <a:buFontTx/>
              <a:buChar char="•"/>
            </a:pPr>
            <a:r>
              <a:rPr lang="en-US" altLang="zh-CN" sz="2000" b="1" dirty="0">
                <a:solidFill>
                  <a:srgbClr val="000099"/>
                </a:solidFill>
                <a:ea typeface="黑体" panose="02010609060101010101" pitchFamily="49" charset="-122"/>
              </a:rPr>
              <a:t> </a:t>
            </a:r>
            <a:r>
              <a:rPr lang="zh-CN" altLang="en-US" sz="2000" b="1" dirty="0">
                <a:solidFill>
                  <a:srgbClr val="000099"/>
                </a:solidFill>
                <a:ea typeface="黑体" panose="02010609060101010101" pitchFamily="49" charset="-122"/>
              </a:rPr>
              <a:t>采用多模块存储器技术</a:t>
            </a:r>
            <a:endParaRPr lang="en-US" altLang="zh-CN" sz="2000" b="1" dirty="0">
              <a:solidFill>
                <a:srgbClr val="000099"/>
              </a:solidFill>
              <a:ea typeface="黑体" panose="02010609060101010101" pitchFamily="49" charset="-122"/>
            </a:endParaRPr>
          </a:p>
          <a:p>
            <a:pPr marL="457200" lvl="1" indent="0" eaLnBrk="1" hangingPunct="1">
              <a:spcBef>
                <a:spcPct val="30000"/>
              </a:spcBef>
              <a:buClrTx/>
              <a:buSzTx/>
              <a:buFontTx/>
              <a:buChar char="•"/>
            </a:pPr>
            <a:r>
              <a:rPr lang="en-US" altLang="zh-CN" sz="2000" b="1" dirty="0">
                <a:solidFill>
                  <a:srgbClr val="000099"/>
                </a:solidFill>
                <a:ea typeface="黑体" panose="02010609060101010101" pitchFamily="49" charset="-122"/>
              </a:rPr>
              <a:t> </a:t>
            </a:r>
            <a:r>
              <a:rPr lang="zh-CN" altLang="en-US" sz="2000" b="1" dirty="0">
                <a:solidFill>
                  <a:srgbClr val="000099"/>
                </a:solidFill>
                <a:ea typeface="黑体" panose="02010609060101010101" pitchFamily="49" charset="-122"/>
              </a:rPr>
              <a:t>在主存和</a:t>
            </a:r>
            <a:r>
              <a:rPr lang="en-US" altLang="zh-CN" sz="2000" b="1" dirty="0">
                <a:solidFill>
                  <a:srgbClr val="000099"/>
                </a:solidFill>
                <a:ea typeface="黑体" panose="02010609060101010101" pitchFamily="49" charset="-122"/>
              </a:rPr>
              <a:t>CPU</a:t>
            </a:r>
            <a:r>
              <a:rPr lang="zh-CN" altLang="en-US" sz="2000" b="1" dirty="0">
                <a:solidFill>
                  <a:srgbClr val="000099"/>
                </a:solidFill>
                <a:ea typeface="黑体" panose="02010609060101010101" pitchFamily="49" charset="-122"/>
              </a:rPr>
              <a:t>之间加入</a:t>
            </a:r>
            <a:r>
              <a:rPr lang="en-US" altLang="zh-CN" sz="2000" b="1" dirty="0">
                <a:solidFill>
                  <a:srgbClr val="000099"/>
                </a:solidFill>
                <a:ea typeface="黑体" panose="02010609060101010101" pitchFamily="49" charset="-122"/>
              </a:rPr>
              <a:t>Cache</a:t>
            </a:r>
            <a:endParaRPr lang="en-US" altLang="zh-CN" sz="2000" b="1" dirty="0">
              <a:solidFill>
                <a:srgbClr val="000099"/>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7219">
                                            <p:txEl>
                                              <p:charRg st="0" end="11"/>
                                            </p:txEl>
                                          </p:spTgt>
                                        </p:tgtEl>
                                        <p:attrNameLst>
                                          <p:attrName>style.visibility</p:attrName>
                                        </p:attrNameLst>
                                      </p:cBhvr>
                                      <p:to>
                                        <p:strVal val="visible"/>
                                      </p:to>
                                    </p:set>
                                    <p:animEffect transition="in" filter="blinds(horizontal)">
                                      <p:cBhvr>
                                        <p:cTn id="7" dur="500"/>
                                        <p:tgtEl>
                                          <p:spTgt spid="137219">
                                            <p:txEl>
                                              <p:charRg st="0" end="1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7219">
                                            <p:txEl>
                                              <p:charRg st="11" end="27"/>
                                            </p:txEl>
                                          </p:spTgt>
                                        </p:tgtEl>
                                        <p:attrNameLst>
                                          <p:attrName>style.visibility</p:attrName>
                                        </p:attrNameLst>
                                      </p:cBhvr>
                                      <p:to>
                                        <p:strVal val="visible"/>
                                      </p:to>
                                    </p:set>
                                    <p:animEffect transition="in" filter="blinds(horizontal)">
                                      <p:cBhvr>
                                        <p:cTn id="12" dur="500"/>
                                        <p:tgtEl>
                                          <p:spTgt spid="137219">
                                            <p:txEl>
                                              <p:charRg st="11" end="27"/>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37219">
                                            <p:txEl>
                                              <p:charRg st="27" end="38"/>
                                            </p:txEl>
                                          </p:spTgt>
                                        </p:tgtEl>
                                        <p:attrNameLst>
                                          <p:attrName>style.visibility</p:attrName>
                                        </p:attrNameLst>
                                      </p:cBhvr>
                                      <p:to>
                                        <p:strVal val="visible"/>
                                      </p:to>
                                    </p:set>
                                    <p:animEffect transition="in" filter="blinds(horizontal)">
                                      <p:cBhvr>
                                        <p:cTn id="15" dur="500"/>
                                        <p:tgtEl>
                                          <p:spTgt spid="137219">
                                            <p:txEl>
                                              <p:charRg st="27" end="38"/>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37222"/>
                                        </p:tgtEl>
                                        <p:attrNameLst>
                                          <p:attrName>style.visibility</p:attrName>
                                        </p:attrNameLst>
                                      </p:cBhvr>
                                      <p:to>
                                        <p:strVal val="visible"/>
                                      </p:to>
                                    </p:set>
                                    <p:animEffect transition="in" filter="blinds(horizontal)">
                                      <p:cBhvr>
                                        <p:cTn id="20" dur="500"/>
                                        <p:tgtEl>
                                          <p:spTgt spid="137222"/>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137223">
                                            <p:txEl>
                                              <p:charRg st="0" end="17"/>
                                            </p:txEl>
                                          </p:spTgt>
                                        </p:tgtEl>
                                        <p:attrNameLst>
                                          <p:attrName>style.visibility</p:attrName>
                                        </p:attrNameLst>
                                      </p:cBhvr>
                                      <p:to>
                                        <p:strVal val="visible"/>
                                      </p:to>
                                    </p:set>
                                    <p:animEffect transition="in" filter="blinds(horizontal)">
                                      <p:cBhvr>
                                        <p:cTn id="25" dur="500"/>
                                        <p:tgtEl>
                                          <p:spTgt spid="137223">
                                            <p:txEl>
                                              <p:charRg st="0" end="1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37223">
                                            <p:txEl>
                                              <p:charRg st="17" end="30"/>
                                            </p:txEl>
                                          </p:spTgt>
                                        </p:tgtEl>
                                        <p:attrNameLst>
                                          <p:attrName>style.visibility</p:attrName>
                                        </p:attrNameLst>
                                      </p:cBhvr>
                                      <p:to>
                                        <p:strVal val="visible"/>
                                      </p:to>
                                    </p:set>
                                    <p:animEffect transition="in" filter="blinds(horizontal)">
                                      <p:cBhvr>
                                        <p:cTn id="30" dur="500"/>
                                        <p:tgtEl>
                                          <p:spTgt spid="137223">
                                            <p:txEl>
                                              <p:charRg st="17" end="3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37223">
                                            <p:txEl>
                                              <p:charRg st="30" end="42"/>
                                            </p:txEl>
                                          </p:spTgt>
                                        </p:tgtEl>
                                        <p:attrNameLst>
                                          <p:attrName>style.visibility</p:attrName>
                                        </p:attrNameLst>
                                      </p:cBhvr>
                                      <p:to>
                                        <p:strVal val="visible"/>
                                      </p:to>
                                    </p:set>
                                    <p:animEffect transition="in" filter="blinds(horizontal)">
                                      <p:cBhvr>
                                        <p:cTn id="35" dur="500"/>
                                        <p:tgtEl>
                                          <p:spTgt spid="137223">
                                            <p:txEl>
                                              <p:charRg st="30" end="4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137223">
                                            <p:txEl>
                                              <p:charRg st="42" end="60"/>
                                            </p:txEl>
                                          </p:spTgt>
                                        </p:tgtEl>
                                        <p:attrNameLst>
                                          <p:attrName>style.visibility</p:attrName>
                                        </p:attrNameLst>
                                      </p:cBhvr>
                                      <p:to>
                                        <p:strVal val="visible"/>
                                      </p:to>
                                    </p:set>
                                    <p:animEffect transition="in" filter="blinds(horizontal)">
                                      <p:cBhvr>
                                        <p:cTn id="40" dur="500"/>
                                        <p:tgtEl>
                                          <p:spTgt spid="137223">
                                            <p:txEl>
                                              <p:charRg st="42" end="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uild="p"/>
      <p:bldP spid="13722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.5  </a:t>
            </a:r>
            <a:r>
              <a:rPr lang="zh-CN" altLang="en-US" dirty="0"/>
              <a:t>并行存储器</a:t>
            </a:r>
            <a:endParaRPr lang="zh-CN" altLang="en-US" dirty="0"/>
          </a:p>
        </p:txBody>
      </p:sp>
      <p:sp>
        <p:nvSpPr>
          <p:cNvPr id="52227" name="Rectangle 3"/>
          <p:cNvSpPr>
            <a:spLocks noGrp="1"/>
          </p:cNvSpPr>
          <p:nvPr>
            <p:ph idx="1"/>
          </p:nvPr>
        </p:nvSpPr>
        <p:spPr>
          <a:xfrm>
            <a:off x="457200" y="1268413"/>
            <a:ext cx="8229600" cy="3886200"/>
          </a:xfrm>
        </p:spPr>
        <p:txBody>
          <a:bodyPr vert="horz" wrap="square" lIns="91440" tIns="45720" rIns="91440" bIns="45720" anchor="t" anchorCtr="0"/>
          <a:p>
            <a:pPr>
              <a:buNone/>
            </a:pPr>
            <a:r>
              <a:rPr lang="en-US" altLang="zh-CN" dirty="0"/>
              <a:t>		</a:t>
            </a:r>
            <a:r>
              <a:rPr lang="zh-CN" altLang="en-US" dirty="0"/>
              <a:t>由于</a:t>
            </a:r>
            <a:r>
              <a:rPr lang="en-US" altLang="zh-CN" dirty="0"/>
              <a:t>CPU</a:t>
            </a:r>
            <a:r>
              <a:rPr lang="zh-CN" altLang="en-US" dirty="0"/>
              <a:t>和主存储器之间在</a:t>
            </a:r>
            <a:r>
              <a:rPr lang="zh-CN" altLang="en-US" dirty="0">
                <a:solidFill>
                  <a:srgbClr val="FF3300"/>
                </a:solidFill>
              </a:rPr>
              <a:t>速度</a:t>
            </a:r>
            <a:r>
              <a:rPr lang="zh-CN" altLang="en-US" dirty="0"/>
              <a:t>上是不匹配的，这种情况便成为限制高速计算机设计的主要问题。</a:t>
            </a:r>
            <a:endParaRPr lang="en-US" altLang="zh-CN" dirty="0"/>
          </a:p>
          <a:p>
            <a:pPr>
              <a:buNone/>
            </a:pPr>
            <a:r>
              <a:rPr lang="en-US" altLang="zh-CN" dirty="0"/>
              <a:t>         </a:t>
            </a:r>
            <a:r>
              <a:rPr lang="zh-CN" altLang="en-US" dirty="0"/>
              <a:t>为了提高</a:t>
            </a:r>
            <a:r>
              <a:rPr lang="en-US" altLang="zh-CN" dirty="0"/>
              <a:t>CPU</a:t>
            </a:r>
            <a:r>
              <a:rPr lang="zh-CN" altLang="en-US" dirty="0"/>
              <a:t>和主存之间的数据传输率，除了</a:t>
            </a:r>
            <a:r>
              <a:rPr lang="zh-CN" altLang="en-US" dirty="0">
                <a:solidFill>
                  <a:srgbClr val="FF3300"/>
                </a:solidFill>
              </a:rPr>
              <a:t>主存</a:t>
            </a:r>
            <a:r>
              <a:rPr lang="zh-CN" altLang="en-US" dirty="0"/>
              <a:t>采用更高速的技术来缩短读出时间外，还可以采用</a:t>
            </a:r>
            <a:r>
              <a:rPr lang="zh-CN" altLang="en-US" dirty="0">
                <a:solidFill>
                  <a:srgbClr val="FF3300"/>
                </a:solidFill>
              </a:rPr>
              <a:t>并行技术</a:t>
            </a:r>
            <a:r>
              <a:rPr lang="zh-CN" altLang="en-US" dirty="0"/>
              <a:t>的存储器。</a:t>
            </a:r>
            <a:endParaRPr lang="en-US" altLang="zh-CN" dirty="0"/>
          </a:p>
          <a:p>
            <a:pPr>
              <a:buNone/>
            </a:pPr>
            <a:r>
              <a:rPr lang="en-US" altLang="zh-CN" dirty="0"/>
              <a:t>         </a:t>
            </a:r>
            <a:r>
              <a:rPr lang="zh-CN" altLang="en-US" dirty="0"/>
              <a:t>主要有</a:t>
            </a:r>
            <a:r>
              <a:rPr lang="zh-CN" altLang="en-US" dirty="0">
                <a:solidFill>
                  <a:srgbClr val="FF3300"/>
                </a:solidFill>
              </a:rPr>
              <a:t>双端口存储器</a:t>
            </a:r>
            <a:r>
              <a:rPr lang="zh-CN" altLang="en-US" dirty="0"/>
              <a:t>和</a:t>
            </a:r>
            <a:r>
              <a:rPr lang="zh-CN" altLang="en-US" dirty="0">
                <a:solidFill>
                  <a:srgbClr val="FF3300"/>
                </a:solidFill>
              </a:rPr>
              <a:t>多体交叉</a:t>
            </a:r>
            <a:r>
              <a:rPr lang="zh-CN" altLang="en-US" dirty="0"/>
              <a:t>存储器，前者采用</a:t>
            </a:r>
            <a:r>
              <a:rPr lang="zh-CN" altLang="en-US" dirty="0">
                <a:solidFill>
                  <a:srgbClr val="FF3300"/>
                </a:solidFill>
              </a:rPr>
              <a:t>空间</a:t>
            </a:r>
            <a:r>
              <a:rPr lang="zh-CN" altLang="en-US" dirty="0"/>
              <a:t>并行技术，后者采用</a:t>
            </a:r>
            <a:r>
              <a:rPr lang="zh-CN" altLang="en-US" dirty="0">
                <a:solidFill>
                  <a:srgbClr val="FF3300"/>
                </a:solidFill>
              </a:rPr>
              <a:t>时间</a:t>
            </a:r>
            <a:r>
              <a:rPr lang="zh-CN" altLang="en-US" dirty="0"/>
              <a:t>并行技术。</a:t>
            </a:r>
            <a:r>
              <a:rPr lang="en-US" altLang="zh-CN" dirty="0"/>
              <a:t> </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227">
                                            <p:txEl>
                                              <p:charRg st="111" end="162"/>
                                            </p:txEl>
                                          </p:spTgt>
                                        </p:tgtEl>
                                        <p:attrNameLst>
                                          <p:attrName>style.visibility</p:attrName>
                                        </p:attrNameLst>
                                      </p:cBhvr>
                                      <p:to>
                                        <p:strVal val="visible"/>
                                      </p:to>
                                    </p:set>
                                    <p:anim calcmode="lin" valueType="num">
                                      <p:cBhvr additive="base">
                                        <p:cTn id="7" dur="500" fill="hold"/>
                                        <p:tgtEl>
                                          <p:spTgt spid="52227">
                                            <p:txEl>
                                              <p:charRg st="111" end="16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7">
                                            <p:txEl>
                                              <p:charRg st="111" end="16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2"/>
          <p:cNvSpPr>
            <a:spLocks noGrp="1"/>
          </p:cNvSpPr>
          <p:nvPr>
            <p:ph type="title"/>
          </p:nvPr>
        </p:nvSpPr>
        <p:spPr>
          <a:xfrm>
            <a:off x="457200" y="188913"/>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.5  </a:t>
            </a:r>
            <a:r>
              <a:rPr lang="zh-CN" altLang="en-US" dirty="0"/>
              <a:t>并行存储器</a:t>
            </a:r>
            <a:endParaRPr lang="zh-CN" altLang="en-US" dirty="0"/>
          </a:p>
        </p:txBody>
      </p:sp>
      <p:sp>
        <p:nvSpPr>
          <p:cNvPr id="53251" name="Rectangle 3"/>
          <p:cNvSpPr>
            <a:spLocks noGrp="1"/>
          </p:cNvSpPr>
          <p:nvPr>
            <p:ph idx="1"/>
          </p:nvPr>
        </p:nvSpPr>
        <p:spPr>
          <a:xfrm>
            <a:off x="744538" y="1268413"/>
            <a:ext cx="6923087" cy="5040312"/>
          </a:xfrm>
        </p:spPr>
        <p:txBody>
          <a:bodyPr vert="horz" wrap="square" lIns="91440" tIns="45720" rIns="91440" bIns="45720" anchor="t" anchorCtr="0"/>
          <a:p>
            <a:r>
              <a:rPr lang="zh-CN" altLang="en-US" sz="3600" dirty="0"/>
              <a:t>解决途径</a:t>
            </a:r>
            <a:endParaRPr lang="en-US" altLang="zh-CN" sz="3600" dirty="0"/>
          </a:p>
          <a:p>
            <a:pPr lvl="1"/>
            <a:r>
              <a:rPr lang="zh-CN" altLang="en-US" dirty="0"/>
              <a:t>多个存储器并行工作</a:t>
            </a:r>
            <a:endParaRPr lang="en-US" altLang="zh-CN" dirty="0"/>
          </a:p>
          <a:p>
            <a:pPr lvl="2"/>
            <a:r>
              <a:rPr lang="zh-CN" altLang="en-US" dirty="0"/>
              <a:t>并行访问和交叉访问</a:t>
            </a:r>
            <a:endParaRPr lang="en-US" altLang="zh-CN" dirty="0"/>
          </a:p>
          <a:p>
            <a:pPr lvl="1"/>
            <a:r>
              <a:rPr lang="zh-CN" altLang="en-US" dirty="0"/>
              <a:t>采用分层的存储系统</a:t>
            </a:r>
            <a:endParaRPr lang="en-US" altLang="zh-CN" dirty="0"/>
          </a:p>
          <a:p>
            <a:pPr lvl="2"/>
            <a:r>
              <a:rPr lang="en-US" altLang="zh-CN" dirty="0"/>
              <a:t>Cache</a:t>
            </a:r>
            <a:r>
              <a:rPr lang="zh-CN" altLang="en-US" dirty="0"/>
              <a:t>（第</a:t>
            </a:r>
            <a:r>
              <a:rPr lang="en-US" altLang="zh-CN" dirty="0"/>
              <a:t>6</a:t>
            </a:r>
            <a:r>
              <a:rPr lang="zh-CN" altLang="en-US" dirty="0"/>
              <a:t>节）</a:t>
            </a:r>
            <a:endParaRPr lang="en-US" altLang="zh-CN" dirty="0"/>
          </a:p>
          <a:p>
            <a:pPr lvl="2"/>
            <a:r>
              <a:rPr lang="zh-CN" altLang="en-US" dirty="0"/>
              <a:t>虚拟存储系统</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1">
                                            <p:txEl>
                                              <p:charRg st="25" end="3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251">
                                            <p:txEl>
                                              <p:charRg st="35" end="4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3251">
                                            <p:txEl>
                                              <p:charRg st="46" end="5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2"/>
          <p:cNvSpPr>
            <a:spLocks noGrp="1"/>
          </p:cNvSpPr>
          <p:nvPr>
            <p:ph type="title"/>
          </p:nvPr>
        </p:nvSpPr>
        <p:spPr>
          <a:xfrm>
            <a:off x="457200" y="-100012"/>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.5  </a:t>
            </a:r>
            <a:r>
              <a:rPr lang="zh-CN" altLang="en-US" dirty="0"/>
              <a:t>并行存储器</a:t>
            </a:r>
            <a:endParaRPr lang="zh-CN" altLang="en-US" dirty="0"/>
          </a:p>
        </p:txBody>
      </p:sp>
      <p:sp>
        <p:nvSpPr>
          <p:cNvPr id="91139" name="Rectangle 3"/>
          <p:cNvSpPr>
            <a:spLocks noGrp="1"/>
          </p:cNvSpPr>
          <p:nvPr>
            <p:ph idx="1"/>
          </p:nvPr>
        </p:nvSpPr>
        <p:spPr>
          <a:xfrm>
            <a:off x="395288" y="836613"/>
            <a:ext cx="8497887" cy="4862512"/>
          </a:xfrm>
        </p:spPr>
        <p:txBody>
          <a:bodyPr vert="horz" wrap="square" lIns="91440" tIns="45720" rIns="91440" bIns="45720" anchor="t" anchorCtr="0"/>
          <a:p>
            <a:pPr>
              <a:buNone/>
            </a:pPr>
            <a:r>
              <a:rPr lang="zh-CN" altLang="en-US" sz="2400" dirty="0"/>
              <a:t>一、双端口存储器</a:t>
            </a:r>
            <a:r>
              <a:rPr lang="en-US" altLang="zh-CN" sz="2400" dirty="0"/>
              <a:t> </a:t>
            </a:r>
            <a:endParaRPr lang="en-US" altLang="zh-CN" sz="2400" dirty="0"/>
          </a:p>
          <a:p>
            <a:pPr>
              <a:buNone/>
            </a:pPr>
            <a:r>
              <a:rPr lang="en-US" altLang="zh-CN" sz="2400" dirty="0">
                <a:solidFill>
                  <a:srgbClr val="0000FF"/>
                </a:solidFill>
              </a:rPr>
              <a:t>1</a:t>
            </a:r>
            <a:r>
              <a:rPr lang="zh-CN" altLang="en-US" sz="2400" dirty="0">
                <a:solidFill>
                  <a:srgbClr val="0000FF"/>
                </a:solidFill>
              </a:rPr>
              <a:t>、双端口存储器的逻辑结构</a:t>
            </a:r>
            <a:r>
              <a:rPr lang="en-US" altLang="zh-CN" sz="2400" dirty="0"/>
              <a:t> </a:t>
            </a:r>
            <a:endParaRPr lang="en-US" altLang="zh-CN" sz="2400" dirty="0"/>
          </a:p>
          <a:p>
            <a:pPr lvl="1">
              <a:buNone/>
            </a:pPr>
            <a:r>
              <a:rPr lang="en-US" altLang="zh-CN" sz="2400" dirty="0"/>
              <a:t>    </a:t>
            </a:r>
            <a:r>
              <a:rPr lang="zh-CN" altLang="en-US" sz="2400" dirty="0">
                <a:solidFill>
                  <a:srgbClr val="FF3300"/>
                </a:solidFill>
              </a:rPr>
              <a:t>双端口</a:t>
            </a:r>
            <a:r>
              <a:rPr lang="zh-CN" altLang="en-US" sz="2400" dirty="0"/>
              <a:t>存储器由于同一个存储器具有</a:t>
            </a:r>
            <a:r>
              <a:rPr lang="zh-CN" altLang="en-US" sz="2400" dirty="0">
                <a:solidFill>
                  <a:srgbClr val="FF3300"/>
                </a:solidFill>
              </a:rPr>
              <a:t>两组相互独立的读写控制电路</a:t>
            </a:r>
            <a:r>
              <a:rPr lang="zh-CN" altLang="en-US" sz="2400" dirty="0"/>
              <a:t>而得名。</a:t>
            </a:r>
            <a:endParaRPr lang="en-US" altLang="zh-CN" sz="2400" dirty="0"/>
          </a:p>
          <a:p>
            <a:pPr lvl="1">
              <a:buNone/>
            </a:pPr>
            <a:r>
              <a:rPr lang="en-US" altLang="zh-CN" sz="2400" dirty="0"/>
              <a:t>    </a:t>
            </a:r>
            <a:r>
              <a:rPr lang="zh-CN" altLang="en-US" sz="2400" dirty="0"/>
              <a:t>由于进行并行的独立操作，因而是一种高速工作的存储器，在科研和工程中非常有用。</a:t>
            </a:r>
            <a:r>
              <a:rPr lang="en-US" altLang="zh-CN" sz="2400" dirty="0"/>
              <a:t> </a:t>
            </a:r>
            <a:endParaRPr lang="en-US" altLang="zh-CN" sz="2400" dirty="0"/>
          </a:p>
          <a:p>
            <a:pPr lvl="1">
              <a:buNone/>
            </a:pPr>
            <a:r>
              <a:rPr lang="en-US" altLang="zh-CN" sz="2400" dirty="0"/>
              <a:t>        </a:t>
            </a:r>
            <a:endParaRPr lang="en-US" altLang="zh-CN" sz="2400" dirty="0"/>
          </a:p>
          <a:p>
            <a:pPr lvl="1">
              <a:buNone/>
            </a:pPr>
            <a:endParaRPr lang="en-US" altLang="zh-CN" sz="2400" dirty="0"/>
          </a:p>
          <a:p>
            <a:pPr lvl="1">
              <a:buNone/>
            </a:pPr>
            <a:endParaRPr lang="en-US" altLang="zh-CN" sz="2400" dirty="0"/>
          </a:p>
          <a:p>
            <a:pPr lvl="1">
              <a:buNone/>
            </a:pPr>
            <a:endParaRPr lang="en-US" altLang="zh-CN" sz="2400" dirty="0"/>
          </a:p>
          <a:p>
            <a:pPr lvl="1">
              <a:buNone/>
            </a:pPr>
            <a:endParaRPr lang="en-US" altLang="zh-CN" sz="2400" dirty="0"/>
          </a:p>
          <a:p>
            <a:pPr lvl="1">
              <a:buNone/>
            </a:pPr>
            <a:endParaRPr lang="en-US" altLang="zh-CN" sz="2400" dirty="0"/>
          </a:p>
          <a:p>
            <a:pPr lvl="1">
              <a:buNone/>
            </a:pPr>
            <a:r>
              <a:rPr lang="zh-CN" altLang="en-US" sz="2400" dirty="0"/>
              <a:t>举例说明，双端口存储器</a:t>
            </a:r>
            <a:r>
              <a:rPr lang="en-US" altLang="zh-CN" sz="2400" dirty="0"/>
              <a:t>IDT7133</a:t>
            </a:r>
            <a:r>
              <a:rPr lang="zh-CN" altLang="en-US" sz="2400" dirty="0"/>
              <a:t>的逻辑框图</a:t>
            </a:r>
            <a:r>
              <a:rPr lang="en-US" altLang="zh-CN" sz="2400" dirty="0"/>
              <a:t> </a:t>
            </a:r>
            <a:r>
              <a:rPr lang="zh-CN" altLang="en-US" sz="2400" dirty="0"/>
              <a:t>。如下页图。</a:t>
            </a:r>
            <a:endParaRPr lang="zh-CN" altLang="en-US" sz="2400" dirty="0"/>
          </a:p>
        </p:txBody>
      </p:sp>
      <p:pic>
        <p:nvPicPr>
          <p:cNvPr id="91140" name="Picture 3"/>
          <p:cNvPicPr>
            <a:picLocks noChangeAspect="1"/>
          </p:cNvPicPr>
          <p:nvPr/>
        </p:nvPicPr>
        <p:blipFill>
          <a:blip r:embed="rId1"/>
          <a:stretch>
            <a:fillRect/>
          </a:stretch>
        </p:blipFill>
        <p:spPr>
          <a:xfrm>
            <a:off x="2484438" y="3284538"/>
            <a:ext cx="4391025" cy="2717800"/>
          </a:xfrm>
          <a:prstGeom prst="rect">
            <a:avLst/>
          </a:prstGeom>
          <a:noFill/>
          <a:ln w="9525">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62" name="Picture 14"/>
          <p:cNvPicPr>
            <a:picLocks noChangeAspect="1"/>
          </p:cNvPicPr>
          <p:nvPr/>
        </p:nvPicPr>
        <p:blipFill>
          <a:blip r:embed="rId1"/>
          <a:stretch>
            <a:fillRect/>
          </a:stretch>
        </p:blipFill>
        <p:spPr>
          <a:xfrm>
            <a:off x="469900" y="933450"/>
            <a:ext cx="8062913" cy="5376863"/>
          </a:xfrm>
          <a:prstGeom prst="rect">
            <a:avLst/>
          </a:prstGeom>
          <a:noFill/>
          <a:ln w="9525">
            <a:noFill/>
          </a:ln>
        </p:spPr>
      </p:pic>
      <p:sp>
        <p:nvSpPr>
          <p:cNvPr id="92163" name="Rectangle 2"/>
          <p:cNvSpPr>
            <a:spLocks noGrp="1"/>
          </p:cNvSpPr>
          <p:nvPr>
            <p:ph type="title"/>
          </p:nvPr>
        </p:nvSpPr>
        <p:spPr>
          <a:xfrm>
            <a:off x="457200" y="-100012"/>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.5  </a:t>
            </a:r>
            <a:r>
              <a:rPr lang="zh-CN" altLang="en-US" dirty="0"/>
              <a:t>并行存储器</a:t>
            </a:r>
            <a:endParaRPr lang="zh-CN" altLang="en-US" dirty="0"/>
          </a:p>
        </p:txBody>
      </p:sp>
      <p:pic>
        <p:nvPicPr>
          <p:cNvPr id="92164" name="Picture 5"/>
          <p:cNvPicPr>
            <a:picLocks noChangeAspect="1"/>
          </p:cNvPicPr>
          <p:nvPr/>
        </p:nvPicPr>
        <p:blipFill>
          <a:blip r:embed="rId2"/>
          <a:stretch>
            <a:fillRect/>
          </a:stretch>
        </p:blipFill>
        <p:spPr>
          <a:xfrm>
            <a:off x="2771775" y="6308725"/>
            <a:ext cx="3743325" cy="295275"/>
          </a:xfrm>
          <a:prstGeom prst="rect">
            <a:avLst/>
          </a:prstGeom>
          <a:noFill/>
          <a:ln w="9525">
            <a:noFill/>
          </a:ln>
        </p:spPr>
      </p:pic>
      <p:sp>
        <p:nvSpPr>
          <p:cNvPr id="55303" name="Rectangle 7"/>
          <p:cNvSpPr/>
          <p:nvPr/>
        </p:nvSpPr>
        <p:spPr>
          <a:xfrm>
            <a:off x="7019925" y="2492375"/>
            <a:ext cx="792163" cy="576263"/>
          </a:xfrm>
          <a:prstGeom prst="rect">
            <a:avLst/>
          </a:prstGeom>
          <a:noFill/>
          <a:ln w="38100" cap="flat" cmpd="sng">
            <a:solidFill>
              <a:srgbClr val="66FF66"/>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55304" name="Rectangle 8"/>
          <p:cNvSpPr/>
          <p:nvPr/>
        </p:nvSpPr>
        <p:spPr>
          <a:xfrm>
            <a:off x="1187450" y="2492375"/>
            <a:ext cx="792163" cy="576263"/>
          </a:xfrm>
          <a:prstGeom prst="rect">
            <a:avLst/>
          </a:prstGeom>
          <a:noFill/>
          <a:ln w="38100" cap="flat" cmpd="sng">
            <a:solidFill>
              <a:srgbClr val="66FF66"/>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55305" name="Rectangle 9"/>
          <p:cNvSpPr/>
          <p:nvPr/>
        </p:nvSpPr>
        <p:spPr>
          <a:xfrm>
            <a:off x="7378700" y="3140075"/>
            <a:ext cx="1081088" cy="504825"/>
          </a:xfrm>
          <a:prstGeom prst="rect">
            <a:avLst/>
          </a:prstGeom>
          <a:noFill/>
          <a:ln w="38100" cap="flat" cmpd="sng">
            <a:solidFill>
              <a:srgbClr val="FF3300"/>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55306" name="Rectangle 10"/>
          <p:cNvSpPr/>
          <p:nvPr/>
        </p:nvSpPr>
        <p:spPr>
          <a:xfrm>
            <a:off x="538163" y="3068638"/>
            <a:ext cx="1081087" cy="504825"/>
          </a:xfrm>
          <a:prstGeom prst="rect">
            <a:avLst/>
          </a:prstGeom>
          <a:noFill/>
          <a:ln w="38100" cap="flat" cmpd="sng">
            <a:solidFill>
              <a:srgbClr val="FF3300"/>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55307" name="Rectangle 11"/>
          <p:cNvSpPr/>
          <p:nvPr/>
        </p:nvSpPr>
        <p:spPr>
          <a:xfrm>
            <a:off x="7380288" y="908050"/>
            <a:ext cx="1295400" cy="1441450"/>
          </a:xfrm>
          <a:prstGeom prst="rect">
            <a:avLst/>
          </a:prstGeom>
          <a:noFill/>
          <a:ln w="38100" cap="flat" cmpd="sng">
            <a:solidFill>
              <a:srgbClr val="0000FF"/>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55308" name="Rectangle 12"/>
          <p:cNvSpPr/>
          <p:nvPr/>
        </p:nvSpPr>
        <p:spPr>
          <a:xfrm>
            <a:off x="395288" y="908050"/>
            <a:ext cx="1295400" cy="1441450"/>
          </a:xfrm>
          <a:prstGeom prst="rect">
            <a:avLst/>
          </a:prstGeom>
          <a:noFill/>
          <a:ln w="38100" cap="flat" cmpd="sng">
            <a:solidFill>
              <a:srgbClr val="0000FF"/>
            </a:solidFill>
            <a:prstDash val="sysDot"/>
            <a:miter/>
            <a:headEnd type="none" w="sm" len="sm"/>
            <a:tailEnd type="none" w="sm" len="sm"/>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92171" name="Text Box 15"/>
          <p:cNvSpPr txBox="1"/>
          <p:nvPr/>
        </p:nvSpPr>
        <p:spPr>
          <a:xfrm>
            <a:off x="6640513" y="6256338"/>
            <a:ext cx="825500" cy="369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en-US" altLang="zh-CN" sz="1800" dirty="0"/>
              <a:t>P85</a:t>
            </a:r>
            <a:r>
              <a:rPr lang="zh-CN" altLang="en-US" sz="1800" dirty="0">
                <a:solidFill>
                  <a:srgbClr val="FF3300"/>
                </a:solidFill>
              </a:rPr>
              <a:t>）</a:t>
            </a:r>
            <a:endParaRPr lang="zh-CN" altLang="en-US" sz="1800"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308"/>
                                        </p:tgtEl>
                                        <p:attrNameLst>
                                          <p:attrName>style.visibility</p:attrName>
                                        </p:attrNameLst>
                                      </p:cBhvr>
                                      <p:to>
                                        <p:strVal val="visible"/>
                                      </p:to>
                                    </p:set>
                                    <p:anim calcmode="lin" valueType="num">
                                      <p:cBhvr additive="base">
                                        <p:cTn id="7" dur="500" fill="hold"/>
                                        <p:tgtEl>
                                          <p:spTgt spid="55308"/>
                                        </p:tgtEl>
                                        <p:attrNameLst>
                                          <p:attrName>ppt_x</p:attrName>
                                        </p:attrNameLst>
                                      </p:cBhvr>
                                      <p:tavLst>
                                        <p:tav tm="0">
                                          <p:val>
                                            <p:strVal val="#ppt_x"/>
                                          </p:val>
                                        </p:tav>
                                        <p:tav tm="100000">
                                          <p:val>
                                            <p:strVal val="#ppt_x"/>
                                          </p:val>
                                        </p:tav>
                                      </p:tavLst>
                                    </p:anim>
                                    <p:anim calcmode="lin" valueType="num">
                                      <p:cBhvr additive="base">
                                        <p:cTn id="8" dur="500" fill="hold"/>
                                        <p:tgtEl>
                                          <p:spTgt spid="5530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5304"/>
                                        </p:tgtEl>
                                        <p:attrNameLst>
                                          <p:attrName>style.visibility</p:attrName>
                                        </p:attrNameLst>
                                      </p:cBhvr>
                                      <p:to>
                                        <p:strVal val="visible"/>
                                      </p:to>
                                    </p:set>
                                    <p:anim calcmode="lin" valueType="num">
                                      <p:cBhvr additive="base">
                                        <p:cTn id="11" dur="500" fill="hold"/>
                                        <p:tgtEl>
                                          <p:spTgt spid="55304"/>
                                        </p:tgtEl>
                                        <p:attrNameLst>
                                          <p:attrName>ppt_x</p:attrName>
                                        </p:attrNameLst>
                                      </p:cBhvr>
                                      <p:tavLst>
                                        <p:tav tm="0">
                                          <p:val>
                                            <p:strVal val="#ppt_x"/>
                                          </p:val>
                                        </p:tav>
                                        <p:tav tm="100000">
                                          <p:val>
                                            <p:strVal val="#ppt_x"/>
                                          </p:val>
                                        </p:tav>
                                      </p:tavLst>
                                    </p:anim>
                                    <p:anim calcmode="lin" valueType="num">
                                      <p:cBhvr additive="base">
                                        <p:cTn id="12" dur="500" fill="hold"/>
                                        <p:tgtEl>
                                          <p:spTgt spid="5530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5306"/>
                                        </p:tgtEl>
                                        <p:attrNameLst>
                                          <p:attrName>style.visibility</p:attrName>
                                        </p:attrNameLst>
                                      </p:cBhvr>
                                      <p:to>
                                        <p:strVal val="visible"/>
                                      </p:to>
                                    </p:set>
                                    <p:anim calcmode="lin" valueType="num">
                                      <p:cBhvr additive="base">
                                        <p:cTn id="15" dur="500" fill="hold"/>
                                        <p:tgtEl>
                                          <p:spTgt spid="55306"/>
                                        </p:tgtEl>
                                        <p:attrNameLst>
                                          <p:attrName>ppt_x</p:attrName>
                                        </p:attrNameLst>
                                      </p:cBhvr>
                                      <p:tavLst>
                                        <p:tav tm="0">
                                          <p:val>
                                            <p:strVal val="#ppt_x"/>
                                          </p:val>
                                        </p:tav>
                                        <p:tav tm="100000">
                                          <p:val>
                                            <p:strVal val="#ppt_x"/>
                                          </p:val>
                                        </p:tav>
                                      </p:tavLst>
                                    </p:anim>
                                    <p:anim calcmode="lin" valueType="num">
                                      <p:cBhvr additive="base">
                                        <p:cTn id="16" dur="500" fill="hold"/>
                                        <p:tgtEl>
                                          <p:spTgt spid="5530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5305"/>
                                        </p:tgtEl>
                                        <p:attrNameLst>
                                          <p:attrName>style.visibility</p:attrName>
                                        </p:attrNameLst>
                                      </p:cBhvr>
                                      <p:to>
                                        <p:strVal val="visible"/>
                                      </p:to>
                                    </p:set>
                                    <p:anim calcmode="lin" valueType="num">
                                      <p:cBhvr additive="base">
                                        <p:cTn id="19" dur="500" fill="hold"/>
                                        <p:tgtEl>
                                          <p:spTgt spid="55305"/>
                                        </p:tgtEl>
                                        <p:attrNameLst>
                                          <p:attrName>ppt_x</p:attrName>
                                        </p:attrNameLst>
                                      </p:cBhvr>
                                      <p:tavLst>
                                        <p:tav tm="0">
                                          <p:val>
                                            <p:strVal val="#ppt_x"/>
                                          </p:val>
                                        </p:tav>
                                        <p:tav tm="100000">
                                          <p:val>
                                            <p:strVal val="#ppt_x"/>
                                          </p:val>
                                        </p:tav>
                                      </p:tavLst>
                                    </p:anim>
                                    <p:anim calcmode="lin" valueType="num">
                                      <p:cBhvr additive="base">
                                        <p:cTn id="20" dur="500" fill="hold"/>
                                        <p:tgtEl>
                                          <p:spTgt spid="5530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5303"/>
                                        </p:tgtEl>
                                        <p:attrNameLst>
                                          <p:attrName>style.visibility</p:attrName>
                                        </p:attrNameLst>
                                      </p:cBhvr>
                                      <p:to>
                                        <p:strVal val="visible"/>
                                      </p:to>
                                    </p:set>
                                    <p:anim calcmode="lin" valueType="num">
                                      <p:cBhvr additive="base">
                                        <p:cTn id="23" dur="500" fill="hold"/>
                                        <p:tgtEl>
                                          <p:spTgt spid="55303"/>
                                        </p:tgtEl>
                                        <p:attrNameLst>
                                          <p:attrName>ppt_x</p:attrName>
                                        </p:attrNameLst>
                                      </p:cBhvr>
                                      <p:tavLst>
                                        <p:tav tm="0">
                                          <p:val>
                                            <p:strVal val="#ppt_x"/>
                                          </p:val>
                                        </p:tav>
                                        <p:tav tm="100000">
                                          <p:val>
                                            <p:strVal val="#ppt_x"/>
                                          </p:val>
                                        </p:tav>
                                      </p:tavLst>
                                    </p:anim>
                                    <p:anim calcmode="lin" valueType="num">
                                      <p:cBhvr additive="base">
                                        <p:cTn id="24" dur="500" fill="hold"/>
                                        <p:tgtEl>
                                          <p:spTgt spid="5530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5307"/>
                                        </p:tgtEl>
                                        <p:attrNameLst>
                                          <p:attrName>style.visibility</p:attrName>
                                        </p:attrNameLst>
                                      </p:cBhvr>
                                      <p:to>
                                        <p:strVal val="visible"/>
                                      </p:to>
                                    </p:set>
                                    <p:anim calcmode="lin" valueType="num">
                                      <p:cBhvr additive="base">
                                        <p:cTn id="27" dur="500" fill="hold"/>
                                        <p:tgtEl>
                                          <p:spTgt spid="55307"/>
                                        </p:tgtEl>
                                        <p:attrNameLst>
                                          <p:attrName>ppt_x</p:attrName>
                                        </p:attrNameLst>
                                      </p:cBhvr>
                                      <p:tavLst>
                                        <p:tav tm="0">
                                          <p:val>
                                            <p:strVal val="#ppt_x"/>
                                          </p:val>
                                        </p:tav>
                                        <p:tav tm="100000">
                                          <p:val>
                                            <p:strVal val="#ppt_x"/>
                                          </p:val>
                                        </p:tav>
                                      </p:tavLst>
                                    </p:anim>
                                    <p:anim calcmode="lin" valueType="num">
                                      <p:cBhvr additive="base">
                                        <p:cTn id="28" dur="500" fill="hold"/>
                                        <p:tgtEl>
                                          <p:spTgt spid="553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3" grpId="0" animBg="1"/>
      <p:bldP spid="55304" grpId="0" animBg="1"/>
      <p:bldP spid="55305" grpId="0" animBg="1"/>
      <p:bldP spid="55306" grpId="0" animBg="1"/>
      <p:bldP spid="55307" grpId="0" animBg="1"/>
      <p:bldP spid="5530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2"/>
          <p:cNvSpPr>
            <a:spLocks noGrp="1"/>
          </p:cNvSpPr>
          <p:nvPr>
            <p:ph type="title"/>
          </p:nvPr>
        </p:nvSpPr>
        <p:spPr>
          <a:xfrm>
            <a:off x="457200" y="-100012"/>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.5  </a:t>
            </a:r>
            <a:r>
              <a:rPr lang="zh-CN" altLang="en-US" dirty="0"/>
              <a:t>并行存储器</a:t>
            </a:r>
            <a:endParaRPr lang="zh-CN" altLang="en-US" dirty="0"/>
          </a:p>
        </p:txBody>
      </p:sp>
      <p:sp>
        <p:nvSpPr>
          <p:cNvPr id="56323" name="Rectangle 3"/>
          <p:cNvSpPr>
            <a:spLocks noGrp="1"/>
          </p:cNvSpPr>
          <p:nvPr>
            <p:ph idx="1"/>
          </p:nvPr>
        </p:nvSpPr>
        <p:spPr>
          <a:xfrm>
            <a:off x="323850" y="836613"/>
            <a:ext cx="8497888" cy="5616575"/>
          </a:xfrm>
        </p:spPr>
        <p:txBody>
          <a:bodyPr vert="horz" wrap="square" lIns="91440" tIns="45720" rIns="91440" bIns="45720" anchor="t" anchorCtr="0"/>
          <a:p>
            <a:pPr>
              <a:lnSpc>
                <a:spcPct val="90000"/>
              </a:lnSpc>
              <a:buNone/>
            </a:pPr>
            <a:r>
              <a:rPr lang="en-US" altLang="zh-CN" dirty="0">
                <a:solidFill>
                  <a:srgbClr val="0000FF"/>
                </a:solidFill>
              </a:rPr>
              <a:t>2</a:t>
            </a:r>
            <a:r>
              <a:rPr lang="zh-CN" altLang="en-US" dirty="0">
                <a:solidFill>
                  <a:srgbClr val="0000FF"/>
                </a:solidFill>
              </a:rPr>
              <a:t>、无冲突读写控制</a:t>
            </a:r>
            <a:endParaRPr lang="en-US" altLang="zh-CN" dirty="0">
              <a:solidFill>
                <a:srgbClr val="0000FF"/>
              </a:solidFill>
            </a:endParaRPr>
          </a:p>
          <a:p>
            <a:pPr>
              <a:lnSpc>
                <a:spcPct val="90000"/>
              </a:lnSpc>
              <a:buNone/>
            </a:pPr>
            <a:r>
              <a:rPr lang="en-US" altLang="zh-CN" dirty="0">
                <a:solidFill>
                  <a:srgbClr val="0000FF"/>
                </a:solidFill>
              </a:rPr>
              <a:t>   </a:t>
            </a:r>
            <a:r>
              <a:rPr lang="zh-CN" altLang="en-US" sz="2600" dirty="0"/>
              <a:t>当两个端口的</a:t>
            </a:r>
            <a:r>
              <a:rPr lang="zh-CN" altLang="en-US" sz="2600" dirty="0">
                <a:solidFill>
                  <a:srgbClr val="FF3300"/>
                </a:solidFill>
              </a:rPr>
              <a:t>地址不相同</a:t>
            </a:r>
            <a:r>
              <a:rPr lang="zh-CN" altLang="en-US" sz="2600" dirty="0"/>
              <a:t>时，在两个端口上进行读写操作，一定不会发生冲突。当任一端口被选中驱动时，就可对整个存储器进行存取，每一个端口都有自己的</a:t>
            </a:r>
            <a:r>
              <a:rPr lang="zh-CN" altLang="en-US" sz="2600" dirty="0">
                <a:solidFill>
                  <a:srgbClr val="FF3300"/>
                </a:solidFill>
              </a:rPr>
              <a:t>片选控制</a:t>
            </a:r>
            <a:r>
              <a:rPr lang="en-US" altLang="zh-CN" sz="2600" dirty="0">
                <a:solidFill>
                  <a:srgbClr val="FF3300"/>
                </a:solidFill>
              </a:rPr>
              <a:t>(CE)</a:t>
            </a:r>
            <a:r>
              <a:rPr lang="zh-CN" altLang="en-US" sz="2600" dirty="0"/>
              <a:t>和</a:t>
            </a:r>
            <a:r>
              <a:rPr lang="zh-CN" altLang="en-US" sz="2600" dirty="0">
                <a:solidFill>
                  <a:srgbClr val="FF3300"/>
                </a:solidFill>
              </a:rPr>
              <a:t>输出驱动控制</a:t>
            </a:r>
            <a:r>
              <a:rPr lang="en-US" altLang="zh-CN" sz="2600" dirty="0">
                <a:solidFill>
                  <a:srgbClr val="FF3300"/>
                </a:solidFill>
              </a:rPr>
              <a:t>(OE)</a:t>
            </a:r>
            <a:r>
              <a:rPr lang="zh-CN" altLang="en-US" sz="2600" dirty="0"/>
              <a:t>。读操作时，端口的</a:t>
            </a:r>
            <a:r>
              <a:rPr lang="en-US" altLang="zh-CN" sz="2600" dirty="0">
                <a:solidFill>
                  <a:srgbClr val="FF3300"/>
                </a:solidFill>
              </a:rPr>
              <a:t>OE(</a:t>
            </a:r>
            <a:r>
              <a:rPr lang="zh-CN" altLang="en-US" sz="2600" dirty="0">
                <a:solidFill>
                  <a:srgbClr val="FF3300"/>
                </a:solidFill>
              </a:rPr>
              <a:t>低电平有效</a:t>
            </a:r>
            <a:r>
              <a:rPr lang="en-US" altLang="zh-CN" sz="2600" dirty="0">
                <a:solidFill>
                  <a:srgbClr val="FF3300"/>
                </a:solidFill>
              </a:rPr>
              <a:t>)</a:t>
            </a:r>
            <a:r>
              <a:rPr lang="zh-CN" altLang="en-US" sz="2600" dirty="0"/>
              <a:t>打开输出驱动器，由存储矩阵读出的数据就出现在</a:t>
            </a:r>
            <a:r>
              <a:rPr lang="en-US" altLang="zh-CN" sz="2600" dirty="0"/>
              <a:t>I/O</a:t>
            </a:r>
            <a:r>
              <a:rPr lang="zh-CN" altLang="en-US" sz="2600" dirty="0"/>
              <a:t>线上。（</a:t>
            </a:r>
            <a:r>
              <a:rPr lang="zh-CN" altLang="en-US" sz="2600" dirty="0">
                <a:solidFill>
                  <a:srgbClr val="FF3300"/>
                </a:solidFill>
              </a:rPr>
              <a:t>具体见</a:t>
            </a:r>
            <a:r>
              <a:rPr lang="en-US" altLang="zh-CN" sz="2600" dirty="0">
                <a:solidFill>
                  <a:srgbClr val="FF3300"/>
                </a:solidFill>
              </a:rPr>
              <a:t>p85 </a:t>
            </a:r>
            <a:r>
              <a:rPr lang="zh-CN" altLang="en-US" sz="2600" dirty="0">
                <a:solidFill>
                  <a:srgbClr val="FF3300"/>
                </a:solidFill>
              </a:rPr>
              <a:t>表</a:t>
            </a:r>
            <a:r>
              <a:rPr lang="en-US" altLang="zh-CN" sz="2600" dirty="0">
                <a:solidFill>
                  <a:srgbClr val="FF3300"/>
                </a:solidFill>
              </a:rPr>
              <a:t>3.4</a:t>
            </a:r>
            <a:r>
              <a:rPr lang="zh-CN" altLang="en-US" sz="2600" dirty="0"/>
              <a:t>）</a:t>
            </a:r>
            <a:endParaRPr lang="en-US" altLang="zh-CN" sz="2600" dirty="0"/>
          </a:p>
          <a:p>
            <a:pPr>
              <a:lnSpc>
                <a:spcPct val="90000"/>
              </a:lnSpc>
              <a:buNone/>
            </a:pPr>
            <a:r>
              <a:rPr lang="en-US" altLang="zh-CN" dirty="0">
                <a:solidFill>
                  <a:srgbClr val="0000FF"/>
                </a:solidFill>
              </a:rPr>
              <a:t>3</a:t>
            </a:r>
            <a:r>
              <a:rPr lang="zh-CN" altLang="en-US" dirty="0">
                <a:solidFill>
                  <a:srgbClr val="0000FF"/>
                </a:solidFill>
              </a:rPr>
              <a:t>、有冲突读写控制</a:t>
            </a:r>
            <a:endParaRPr lang="en-US" altLang="zh-CN" dirty="0">
              <a:solidFill>
                <a:srgbClr val="0000FF"/>
              </a:solidFill>
            </a:endParaRPr>
          </a:p>
          <a:p>
            <a:pPr>
              <a:lnSpc>
                <a:spcPct val="90000"/>
              </a:lnSpc>
              <a:buNone/>
            </a:pPr>
            <a:r>
              <a:rPr lang="en-US" altLang="zh-CN" dirty="0">
                <a:solidFill>
                  <a:srgbClr val="0000FF"/>
                </a:solidFill>
              </a:rPr>
              <a:t>   </a:t>
            </a:r>
            <a:r>
              <a:rPr lang="zh-CN" altLang="en-US" sz="2600" dirty="0"/>
              <a:t>当两个端口同时</a:t>
            </a:r>
            <a:r>
              <a:rPr lang="zh-CN" altLang="en-US" sz="2600" dirty="0">
                <a:solidFill>
                  <a:srgbClr val="FF3300"/>
                </a:solidFill>
              </a:rPr>
              <a:t>存取存储器同一存储单元</a:t>
            </a:r>
            <a:r>
              <a:rPr lang="zh-CN" altLang="en-US" sz="2600" dirty="0"/>
              <a:t>时，便发生</a:t>
            </a:r>
            <a:r>
              <a:rPr lang="zh-CN" altLang="en-US" sz="2600" dirty="0">
                <a:solidFill>
                  <a:srgbClr val="FF3300"/>
                </a:solidFill>
              </a:rPr>
              <a:t>读写冲突</a:t>
            </a:r>
            <a:r>
              <a:rPr lang="zh-CN" altLang="en-US" sz="2600" dirty="0"/>
              <a:t>。为解决此问题，特设置了</a:t>
            </a:r>
            <a:r>
              <a:rPr lang="en-US" altLang="zh-CN" sz="2600" dirty="0">
                <a:solidFill>
                  <a:srgbClr val="FF3300"/>
                </a:solidFill>
              </a:rPr>
              <a:t>BUSY</a:t>
            </a:r>
            <a:r>
              <a:rPr lang="zh-CN" altLang="en-US" sz="2600" dirty="0">
                <a:solidFill>
                  <a:srgbClr val="FF3300"/>
                </a:solidFill>
              </a:rPr>
              <a:t>标志</a:t>
            </a:r>
            <a:r>
              <a:rPr lang="zh-CN" altLang="en-US" sz="2600" dirty="0"/>
              <a:t>。在这种情况下，片上的判断逻辑可以决定对哪个端口优先进行读写操作，而对另一个被延迟的端口置</a:t>
            </a:r>
            <a:r>
              <a:rPr lang="en-US" altLang="zh-CN" sz="2600" dirty="0"/>
              <a:t>BUSY</a:t>
            </a:r>
            <a:r>
              <a:rPr lang="zh-CN" altLang="en-US" sz="2600" dirty="0"/>
              <a:t>标志</a:t>
            </a:r>
            <a:r>
              <a:rPr lang="en-US" altLang="zh-CN" sz="2600" dirty="0"/>
              <a:t>(BUSY</a:t>
            </a:r>
            <a:r>
              <a:rPr lang="zh-CN" altLang="en-US" sz="2600" dirty="0"/>
              <a:t>变为低电平</a:t>
            </a:r>
            <a:r>
              <a:rPr lang="en-US" altLang="zh-CN" sz="2600" dirty="0"/>
              <a:t>)</a:t>
            </a:r>
            <a:r>
              <a:rPr lang="zh-CN" altLang="en-US" sz="2600" dirty="0"/>
              <a:t>，即暂时关闭此端口。</a:t>
            </a:r>
            <a:r>
              <a:rPr lang="en-US" altLang="zh-CN" sz="2600" dirty="0"/>
              <a:t> </a:t>
            </a:r>
            <a:endParaRPr lang="en-US" altLang="zh-CN"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323">
                                            <p:txEl>
                                              <p:charRg st="10" end="162"/>
                                            </p:txEl>
                                          </p:spTgt>
                                        </p:tgtEl>
                                        <p:attrNameLst>
                                          <p:attrName>style.visibility</p:attrName>
                                        </p:attrNameLst>
                                      </p:cBhvr>
                                      <p:to>
                                        <p:strVal val="visible"/>
                                      </p:to>
                                    </p:set>
                                    <p:anim calcmode="lin" valueType="num">
                                      <p:cBhvr additive="base">
                                        <p:cTn id="7" dur="500" fill="hold"/>
                                        <p:tgtEl>
                                          <p:spTgt spid="56323">
                                            <p:txEl>
                                              <p:charRg st="10" end="16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3">
                                            <p:txEl>
                                              <p:charRg st="10" end="16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6323">
                                            <p:txEl>
                                              <p:charRg st="172" end="294"/>
                                            </p:txEl>
                                          </p:spTgt>
                                        </p:tgtEl>
                                        <p:attrNameLst>
                                          <p:attrName>style.visibility</p:attrName>
                                        </p:attrNameLst>
                                      </p:cBhvr>
                                      <p:to>
                                        <p:strVal val="visible"/>
                                      </p:to>
                                    </p:set>
                                    <p:anim calcmode="lin" valueType="num">
                                      <p:cBhvr additive="base">
                                        <p:cTn id="13" dur="500" fill="hold"/>
                                        <p:tgtEl>
                                          <p:spTgt spid="56323">
                                            <p:txEl>
                                              <p:charRg st="172" end="29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6323">
                                            <p:txEl>
                                              <p:charRg st="172" end="29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2"/>
          <p:cNvSpPr>
            <a:spLocks noGrp="1"/>
          </p:cNvSpPr>
          <p:nvPr>
            <p:ph type="title"/>
          </p:nvPr>
        </p:nvSpPr>
        <p:spPr>
          <a:xfrm>
            <a:off x="457200" y="188913"/>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.5  </a:t>
            </a:r>
            <a:r>
              <a:rPr lang="zh-CN" altLang="en-US" dirty="0"/>
              <a:t>并行存储器</a:t>
            </a:r>
            <a:endParaRPr lang="zh-CN" altLang="en-US" dirty="0"/>
          </a:p>
        </p:txBody>
      </p:sp>
      <p:sp>
        <p:nvSpPr>
          <p:cNvPr id="57347" name="Rectangle 3"/>
          <p:cNvSpPr>
            <a:spLocks noGrp="1"/>
          </p:cNvSpPr>
          <p:nvPr>
            <p:ph idx="1"/>
          </p:nvPr>
        </p:nvSpPr>
        <p:spPr>
          <a:xfrm>
            <a:off x="457200" y="1268413"/>
            <a:ext cx="8002588" cy="5184775"/>
          </a:xfrm>
        </p:spPr>
        <p:txBody>
          <a:bodyPr vert="horz" wrap="square" lIns="91440" tIns="45720" rIns="91440" bIns="45720" anchor="t" anchorCtr="0"/>
          <a:p>
            <a:pPr>
              <a:buNone/>
            </a:pPr>
            <a:r>
              <a:rPr lang="en-US" altLang="zh-CN" sz="3400" dirty="0">
                <a:solidFill>
                  <a:srgbClr val="0000FF"/>
                </a:solidFill>
              </a:rPr>
              <a:t>4</a:t>
            </a:r>
            <a:r>
              <a:rPr lang="zh-CN" altLang="en-US" sz="3400" dirty="0">
                <a:solidFill>
                  <a:srgbClr val="0000FF"/>
                </a:solidFill>
              </a:rPr>
              <a:t>、有冲突读写控制的判断方法</a:t>
            </a:r>
            <a:endParaRPr lang="en-US" altLang="zh-CN" sz="3400" dirty="0">
              <a:solidFill>
                <a:srgbClr val="0000FF"/>
              </a:solidFill>
            </a:endParaRPr>
          </a:p>
          <a:p>
            <a:pPr lvl="1">
              <a:buNone/>
            </a:pPr>
            <a:r>
              <a:rPr lang="en-US" altLang="zh-CN" dirty="0"/>
              <a:t>(1)</a:t>
            </a:r>
            <a:r>
              <a:rPr lang="zh-CN" altLang="en-US" dirty="0"/>
              <a:t>如果</a:t>
            </a:r>
            <a:r>
              <a:rPr lang="zh-CN" altLang="en-US" dirty="0">
                <a:solidFill>
                  <a:srgbClr val="0000FF"/>
                </a:solidFill>
              </a:rPr>
              <a:t>地址匹配且在</a:t>
            </a:r>
            <a:r>
              <a:rPr lang="en-US" altLang="zh-CN" dirty="0">
                <a:solidFill>
                  <a:srgbClr val="0000FF"/>
                </a:solidFill>
              </a:rPr>
              <a:t>CE</a:t>
            </a:r>
            <a:r>
              <a:rPr lang="zh-CN" altLang="en-US" dirty="0">
                <a:solidFill>
                  <a:srgbClr val="0000FF"/>
                </a:solidFill>
              </a:rPr>
              <a:t>之前有效</a:t>
            </a:r>
            <a:r>
              <a:rPr lang="zh-CN" altLang="en-US" dirty="0"/>
              <a:t>，片上的控制逻辑在</a:t>
            </a:r>
            <a:r>
              <a:rPr lang="en-US" altLang="zh-CN" dirty="0"/>
              <a:t>CE</a:t>
            </a:r>
            <a:r>
              <a:rPr lang="en-US" altLang="zh-CN" baseline="-25000" dirty="0"/>
              <a:t>L</a:t>
            </a:r>
            <a:r>
              <a:rPr lang="zh-CN" altLang="en-US" dirty="0"/>
              <a:t>和</a:t>
            </a:r>
            <a:r>
              <a:rPr lang="en-US" altLang="zh-CN" dirty="0"/>
              <a:t>CE</a:t>
            </a:r>
            <a:r>
              <a:rPr lang="en-US" altLang="zh-CN" baseline="-25000" dirty="0"/>
              <a:t>R</a:t>
            </a:r>
            <a:r>
              <a:rPr lang="zh-CN" altLang="en-US" dirty="0"/>
              <a:t>之间进行判断来选择端口</a:t>
            </a:r>
            <a:r>
              <a:rPr lang="en-US" altLang="zh-CN" dirty="0"/>
              <a:t>(</a:t>
            </a:r>
            <a:r>
              <a:rPr lang="en-US" altLang="zh-CN" b="1" dirty="0">
                <a:solidFill>
                  <a:srgbClr val="FF3300"/>
                </a:solidFill>
              </a:rPr>
              <a:t>CE</a:t>
            </a:r>
            <a:r>
              <a:rPr lang="zh-CN" altLang="en-US" b="1" dirty="0">
                <a:solidFill>
                  <a:srgbClr val="FF3300"/>
                </a:solidFill>
              </a:rPr>
              <a:t>判断</a:t>
            </a:r>
            <a:r>
              <a:rPr lang="en-US" altLang="zh-CN" dirty="0"/>
              <a:t>)</a:t>
            </a:r>
            <a:r>
              <a:rPr lang="zh-CN" altLang="en-US" dirty="0"/>
              <a:t>。</a:t>
            </a:r>
            <a:endParaRPr lang="en-US" altLang="zh-CN" dirty="0"/>
          </a:p>
          <a:p>
            <a:pPr lvl="1">
              <a:buNone/>
            </a:pPr>
            <a:r>
              <a:rPr lang="en-US" altLang="zh-CN" dirty="0"/>
              <a:t>(2)</a:t>
            </a:r>
            <a:r>
              <a:rPr lang="zh-CN" altLang="en-US" dirty="0"/>
              <a:t>如果</a:t>
            </a:r>
            <a:r>
              <a:rPr lang="en-US" altLang="zh-CN" dirty="0">
                <a:solidFill>
                  <a:srgbClr val="0000FF"/>
                </a:solidFill>
              </a:rPr>
              <a:t>CE</a:t>
            </a:r>
            <a:r>
              <a:rPr lang="zh-CN" altLang="en-US" dirty="0">
                <a:solidFill>
                  <a:srgbClr val="0000FF"/>
                </a:solidFill>
              </a:rPr>
              <a:t>在地址匹配之前有效</a:t>
            </a:r>
            <a:r>
              <a:rPr lang="zh-CN" altLang="en-US" dirty="0"/>
              <a:t>，片上的控制逻辑在左、右地址间进行判断来选择端口</a:t>
            </a:r>
            <a:r>
              <a:rPr lang="en-US" altLang="zh-CN" dirty="0"/>
              <a:t>(</a:t>
            </a:r>
            <a:r>
              <a:rPr lang="zh-CN" altLang="en-US" b="1" dirty="0">
                <a:solidFill>
                  <a:srgbClr val="FF3300"/>
                </a:solidFill>
              </a:rPr>
              <a:t>地址有效判断</a:t>
            </a:r>
            <a:r>
              <a:rPr lang="en-US" altLang="zh-CN" dirty="0"/>
              <a:t>)</a:t>
            </a:r>
            <a:r>
              <a:rPr lang="zh-CN" altLang="en-US" dirty="0"/>
              <a:t>。</a:t>
            </a:r>
            <a:endParaRPr lang="en-US" altLang="zh-CN" dirty="0"/>
          </a:p>
          <a:p>
            <a:pPr lvl="1">
              <a:buNone/>
            </a:pPr>
            <a:r>
              <a:rPr lang="en-US" altLang="zh-CN" dirty="0"/>
              <a:t>          </a:t>
            </a:r>
            <a:r>
              <a:rPr lang="zh-CN" altLang="en-US" dirty="0">
                <a:solidFill>
                  <a:srgbClr val="FF3300"/>
                </a:solidFill>
              </a:rPr>
              <a:t>无论采用哪种判断方式，延迟端口的</a:t>
            </a:r>
            <a:r>
              <a:rPr lang="en-US" altLang="zh-CN" dirty="0">
                <a:solidFill>
                  <a:srgbClr val="FF3300"/>
                </a:solidFill>
              </a:rPr>
              <a:t>BUSY</a:t>
            </a:r>
            <a:r>
              <a:rPr lang="zh-CN" altLang="en-US" dirty="0">
                <a:solidFill>
                  <a:srgbClr val="FF3300"/>
                </a:solidFill>
              </a:rPr>
              <a:t>标志都将置位而关闭此端口，而当允许存取的端口完成操作时，延迟端口</a:t>
            </a:r>
            <a:r>
              <a:rPr lang="en-US" altLang="zh-CN" dirty="0">
                <a:solidFill>
                  <a:srgbClr val="FF3300"/>
                </a:solidFill>
              </a:rPr>
              <a:t>BUSY</a:t>
            </a:r>
            <a:r>
              <a:rPr lang="zh-CN" altLang="en-US" dirty="0">
                <a:solidFill>
                  <a:srgbClr val="FF3300"/>
                </a:solidFill>
              </a:rPr>
              <a:t>标志才进行复位而打开此端口。</a:t>
            </a:r>
            <a:endParaRPr lang="zh-CN" altLang="en-US" dirty="0">
              <a:solidFill>
                <a:srgbClr val="FF33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347">
                                            <p:txEl>
                                              <p:charRg st="15" end="67"/>
                                            </p:txEl>
                                          </p:spTgt>
                                        </p:tgtEl>
                                        <p:attrNameLst>
                                          <p:attrName>style.visibility</p:attrName>
                                        </p:attrNameLst>
                                      </p:cBhvr>
                                      <p:to>
                                        <p:strVal val="visible"/>
                                      </p:to>
                                    </p:set>
                                    <p:anim calcmode="lin" valueType="num">
                                      <p:cBhvr additive="base">
                                        <p:cTn id="7" dur="500" fill="hold"/>
                                        <p:tgtEl>
                                          <p:spTgt spid="57347">
                                            <p:txEl>
                                              <p:charRg st="15" end="6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347">
                                            <p:txEl>
                                              <p:charRg st="15" end="6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7347">
                                            <p:txEl>
                                              <p:charRg st="67" end="11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7347">
                                            <p:txEl>
                                              <p:charRg st="117" end="198"/>
                                            </p:txEl>
                                          </p:spTgt>
                                        </p:tgtEl>
                                        <p:attrNameLst>
                                          <p:attrName>style.visibility</p:attrName>
                                        </p:attrNameLst>
                                      </p:cBhvr>
                                      <p:to>
                                        <p:strVal val="visible"/>
                                      </p:to>
                                    </p:set>
                                    <p:anim calcmode="lin" valueType="num">
                                      <p:cBhvr additive="base">
                                        <p:cTn id="17" dur="500" fill="hold"/>
                                        <p:tgtEl>
                                          <p:spTgt spid="57347">
                                            <p:txEl>
                                              <p:charRg st="117" end="19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7347">
                                            <p:txEl>
                                              <p:charRg st="117" end="19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3</a:t>
            </a:r>
            <a:r>
              <a:rPr lang="en-US" altLang="zh-CN" dirty="0"/>
              <a:t>.5.1</a:t>
            </a:r>
            <a:r>
              <a:rPr lang="zh-CN" altLang="en-US" dirty="0"/>
              <a:t>双端口存储器</a:t>
            </a:r>
            <a:endParaRPr lang="zh-CN" altLang="en-US" dirty="0"/>
          </a:p>
        </p:txBody>
      </p:sp>
      <p:grpSp>
        <p:nvGrpSpPr>
          <p:cNvPr id="96259" name="Group 10"/>
          <p:cNvGrpSpPr/>
          <p:nvPr/>
        </p:nvGrpSpPr>
        <p:grpSpPr>
          <a:xfrm>
            <a:off x="250825" y="1412875"/>
            <a:ext cx="8569325" cy="4572000"/>
            <a:chOff x="158" y="1071"/>
            <a:chExt cx="5398" cy="2880"/>
          </a:xfrm>
        </p:grpSpPr>
        <p:pic>
          <p:nvPicPr>
            <p:cNvPr id="96260" name="Picture 5"/>
            <p:cNvPicPr>
              <a:picLocks noChangeAspect="1"/>
            </p:cNvPicPr>
            <p:nvPr/>
          </p:nvPicPr>
          <p:blipFill>
            <a:blip r:embed="rId1"/>
            <a:stretch>
              <a:fillRect/>
            </a:stretch>
          </p:blipFill>
          <p:spPr>
            <a:xfrm>
              <a:off x="476" y="3475"/>
              <a:ext cx="4945" cy="281"/>
            </a:xfrm>
            <a:prstGeom prst="rect">
              <a:avLst/>
            </a:prstGeom>
            <a:noFill/>
            <a:ln w="9525">
              <a:noFill/>
            </a:ln>
          </p:spPr>
        </p:pic>
        <p:grpSp>
          <p:nvGrpSpPr>
            <p:cNvPr id="96261" name="Group 9"/>
            <p:cNvGrpSpPr/>
            <p:nvPr/>
          </p:nvGrpSpPr>
          <p:grpSpPr>
            <a:xfrm>
              <a:off x="158" y="1071"/>
              <a:ext cx="5398" cy="2880"/>
              <a:chOff x="158" y="1117"/>
              <a:chExt cx="5398" cy="2880"/>
            </a:xfrm>
          </p:grpSpPr>
          <p:pic>
            <p:nvPicPr>
              <p:cNvPr id="96262" name="Picture 4"/>
              <p:cNvPicPr>
                <a:picLocks noChangeAspect="1"/>
              </p:cNvPicPr>
              <p:nvPr/>
            </p:nvPicPr>
            <p:blipFill>
              <a:blip r:embed="rId2"/>
              <a:stretch>
                <a:fillRect/>
              </a:stretch>
            </p:blipFill>
            <p:spPr>
              <a:xfrm>
                <a:off x="158" y="1117"/>
                <a:ext cx="5398" cy="2360"/>
              </a:xfrm>
              <a:prstGeom prst="rect">
                <a:avLst/>
              </a:prstGeom>
              <a:noFill/>
              <a:ln w="9525">
                <a:noFill/>
              </a:ln>
            </p:spPr>
          </p:pic>
          <p:pic>
            <p:nvPicPr>
              <p:cNvPr id="96263" name="Picture 8"/>
              <p:cNvPicPr>
                <a:picLocks noChangeAspect="1"/>
              </p:cNvPicPr>
              <p:nvPr/>
            </p:nvPicPr>
            <p:blipFill>
              <a:blip r:embed="rId3"/>
              <a:stretch>
                <a:fillRect/>
              </a:stretch>
            </p:blipFill>
            <p:spPr>
              <a:xfrm>
                <a:off x="1383" y="3793"/>
                <a:ext cx="2364" cy="204"/>
              </a:xfrm>
              <a:prstGeom prst="rect">
                <a:avLst/>
              </a:prstGeom>
              <a:noFill/>
              <a:ln w="9525">
                <a:noFill/>
              </a:ln>
            </p:spPr>
          </p:pic>
        </p:grpSp>
      </p:gr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3</a:t>
            </a:r>
            <a:r>
              <a:rPr lang="en-US" altLang="zh-CN" dirty="0"/>
              <a:t>.5.1</a:t>
            </a:r>
            <a:r>
              <a:rPr lang="zh-CN" altLang="en-US" dirty="0"/>
              <a:t>双端口存储器</a:t>
            </a:r>
            <a:endParaRPr lang="zh-CN" altLang="en-US" dirty="0"/>
          </a:p>
        </p:txBody>
      </p:sp>
      <p:grpSp>
        <p:nvGrpSpPr>
          <p:cNvPr id="97283" name="Group 8"/>
          <p:cNvGrpSpPr/>
          <p:nvPr/>
        </p:nvGrpSpPr>
        <p:grpSpPr>
          <a:xfrm>
            <a:off x="34925" y="2205038"/>
            <a:ext cx="8964613" cy="3500437"/>
            <a:chOff x="22" y="1525"/>
            <a:chExt cx="5647" cy="2205"/>
          </a:xfrm>
        </p:grpSpPr>
        <p:pic>
          <p:nvPicPr>
            <p:cNvPr id="97284" name="Picture 5"/>
            <p:cNvPicPr>
              <a:picLocks noChangeAspect="1"/>
            </p:cNvPicPr>
            <p:nvPr/>
          </p:nvPicPr>
          <p:blipFill>
            <a:blip r:embed="rId1"/>
            <a:stretch>
              <a:fillRect/>
            </a:stretch>
          </p:blipFill>
          <p:spPr>
            <a:xfrm>
              <a:off x="22" y="1525"/>
              <a:ext cx="5647" cy="1432"/>
            </a:xfrm>
            <a:prstGeom prst="rect">
              <a:avLst/>
            </a:prstGeom>
            <a:noFill/>
            <a:ln w="9525">
              <a:noFill/>
            </a:ln>
          </p:spPr>
        </p:pic>
        <p:pic>
          <p:nvPicPr>
            <p:cNvPr id="97285" name="Picture 6"/>
            <p:cNvPicPr>
              <a:picLocks noChangeAspect="1"/>
            </p:cNvPicPr>
            <p:nvPr/>
          </p:nvPicPr>
          <p:blipFill>
            <a:blip r:embed="rId2"/>
            <a:stretch>
              <a:fillRect/>
            </a:stretch>
          </p:blipFill>
          <p:spPr>
            <a:xfrm>
              <a:off x="1156" y="3026"/>
              <a:ext cx="3084" cy="313"/>
            </a:xfrm>
            <a:prstGeom prst="rect">
              <a:avLst/>
            </a:prstGeom>
            <a:noFill/>
            <a:ln w="9525">
              <a:noFill/>
            </a:ln>
          </p:spPr>
        </p:pic>
        <p:pic>
          <p:nvPicPr>
            <p:cNvPr id="97286" name="Picture 7"/>
            <p:cNvPicPr>
              <a:picLocks noChangeAspect="1"/>
            </p:cNvPicPr>
            <p:nvPr/>
          </p:nvPicPr>
          <p:blipFill>
            <a:blip r:embed="rId3"/>
            <a:stretch>
              <a:fillRect/>
            </a:stretch>
          </p:blipFill>
          <p:spPr>
            <a:xfrm>
              <a:off x="1246" y="3475"/>
              <a:ext cx="2949" cy="255"/>
            </a:xfrm>
            <a:prstGeom prst="rect">
              <a:avLst/>
            </a:prstGeom>
            <a:noFill/>
            <a:ln w="9525">
              <a:noFill/>
            </a:ln>
          </p:spPr>
        </p:pic>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2"/>
          <p:cNvSpPr>
            <a:spLocks noGrp="1"/>
          </p:cNvSpPr>
          <p:nvPr>
            <p:ph type="title"/>
          </p:nvPr>
        </p:nvSpPr>
        <p:spPr>
          <a:xfrm>
            <a:off x="468313" y="404813"/>
            <a:ext cx="7532687" cy="6477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.5.2  </a:t>
            </a:r>
            <a:r>
              <a:rPr lang="zh-CN" altLang="en-US" dirty="0"/>
              <a:t>并行存储器</a:t>
            </a:r>
            <a:endParaRPr lang="zh-CN" altLang="en-US" dirty="0"/>
          </a:p>
        </p:txBody>
      </p:sp>
      <p:pic>
        <p:nvPicPr>
          <p:cNvPr id="99331" name="Picture 3" descr="3a26">
            <a:hlinkClick r:id="rId1" action="ppaction://hlinkfile"/>
          </p:cNvPr>
          <p:cNvPicPr>
            <a:picLocks noChangeAspect="1"/>
          </p:cNvPicPr>
          <p:nvPr/>
        </p:nvPicPr>
        <p:blipFill>
          <a:blip r:embed="rId2"/>
          <a:stretch>
            <a:fillRect/>
          </a:stretch>
        </p:blipFill>
        <p:spPr>
          <a:xfrm>
            <a:off x="973138" y="2565400"/>
            <a:ext cx="6911975" cy="4265613"/>
          </a:xfrm>
          <a:prstGeom prst="rect">
            <a:avLst/>
          </a:prstGeom>
          <a:noFill/>
          <a:ln w="9525">
            <a:noFill/>
          </a:ln>
        </p:spPr>
      </p:pic>
      <p:sp>
        <p:nvSpPr>
          <p:cNvPr id="99332" name="Rectangle 4"/>
          <p:cNvSpPr>
            <a:spLocks noGrp="1"/>
          </p:cNvSpPr>
          <p:nvPr>
            <p:ph idx="1"/>
          </p:nvPr>
        </p:nvSpPr>
        <p:spPr>
          <a:xfrm>
            <a:off x="323850" y="1052513"/>
            <a:ext cx="8351838" cy="4411662"/>
          </a:xfrm>
        </p:spPr>
        <p:txBody>
          <a:bodyPr vert="horz" wrap="square" lIns="91440" tIns="45720" rIns="91440" bIns="45720" anchor="t" anchorCtr="0"/>
          <a:p>
            <a:pPr>
              <a:buNone/>
            </a:pPr>
            <a:r>
              <a:rPr lang="zh-CN" altLang="en-US" dirty="0"/>
              <a:t>二、</a:t>
            </a:r>
            <a:r>
              <a:rPr lang="zh-CN" altLang="en-US" b="1" dirty="0">
                <a:solidFill>
                  <a:srgbClr val="0000FF"/>
                </a:solidFill>
              </a:rPr>
              <a:t>多模块交叉存储器</a:t>
            </a:r>
            <a:r>
              <a:rPr lang="zh-CN" altLang="en-US" dirty="0"/>
              <a:t>：</a:t>
            </a:r>
            <a:r>
              <a:rPr lang="zh-CN" altLang="en-US" sz="2800" dirty="0"/>
              <a:t>一个由若干个</a:t>
            </a:r>
            <a:r>
              <a:rPr lang="zh-CN" altLang="en-US" sz="2800" dirty="0">
                <a:solidFill>
                  <a:srgbClr val="0000FF"/>
                </a:solidFill>
              </a:rPr>
              <a:t>模块</a:t>
            </a:r>
            <a:r>
              <a:rPr lang="zh-CN" altLang="en-US" sz="2800" dirty="0"/>
              <a:t>组成的主存储器是</a:t>
            </a:r>
            <a:r>
              <a:rPr lang="zh-CN" altLang="en-US" sz="2800" dirty="0">
                <a:solidFill>
                  <a:srgbClr val="0000FF"/>
                </a:solidFill>
              </a:rPr>
              <a:t>线性编址</a:t>
            </a:r>
            <a:r>
              <a:rPr lang="zh-CN" altLang="en-US" sz="2800" dirty="0"/>
              <a:t>的。这些地址在各模块中如何安排，有两种方式：一种是</a:t>
            </a:r>
            <a:r>
              <a:rPr lang="zh-CN" altLang="en-US" sz="2800" dirty="0">
                <a:solidFill>
                  <a:srgbClr val="FF3300"/>
                </a:solidFill>
              </a:rPr>
              <a:t>顺序方式</a:t>
            </a:r>
            <a:r>
              <a:rPr lang="en-US" altLang="zh-CN" sz="2800" dirty="0">
                <a:solidFill>
                  <a:srgbClr val="FF3300"/>
                </a:solidFill>
              </a:rPr>
              <a:t>(</a:t>
            </a:r>
            <a:r>
              <a:rPr lang="zh-CN" altLang="en-US" sz="2800" dirty="0">
                <a:solidFill>
                  <a:srgbClr val="FF3300"/>
                </a:solidFill>
              </a:rPr>
              <a:t>高位交叉编址</a:t>
            </a:r>
            <a:r>
              <a:rPr lang="en-US" altLang="zh-CN" sz="2800" dirty="0">
                <a:solidFill>
                  <a:srgbClr val="FF3300"/>
                </a:solidFill>
              </a:rPr>
              <a:t>)</a:t>
            </a:r>
            <a:r>
              <a:rPr lang="zh-CN" altLang="en-US" sz="2800" dirty="0"/>
              <a:t>，一种是</a:t>
            </a:r>
            <a:r>
              <a:rPr lang="zh-CN" altLang="en-US" sz="2800" dirty="0">
                <a:solidFill>
                  <a:srgbClr val="0000FF"/>
                </a:solidFill>
              </a:rPr>
              <a:t>交叉方式</a:t>
            </a:r>
            <a:r>
              <a:rPr lang="en-US" altLang="zh-CN" sz="2800" dirty="0">
                <a:solidFill>
                  <a:srgbClr val="0000FF"/>
                </a:solidFill>
              </a:rPr>
              <a:t>(</a:t>
            </a:r>
            <a:r>
              <a:rPr lang="zh-CN" altLang="en-US" sz="2800" dirty="0">
                <a:solidFill>
                  <a:srgbClr val="0000FF"/>
                </a:solidFill>
              </a:rPr>
              <a:t>低位交叉编址</a:t>
            </a:r>
            <a:r>
              <a:rPr lang="en-US" altLang="zh-CN" sz="2800" dirty="0">
                <a:solidFill>
                  <a:srgbClr val="0000FF"/>
                </a:solidFill>
              </a:rPr>
              <a:t>)</a:t>
            </a:r>
            <a:r>
              <a:rPr lang="en-US" altLang="zh-CN" sz="2800" dirty="0"/>
              <a:t> </a:t>
            </a:r>
            <a:r>
              <a:rPr lang="zh-CN" altLang="en-US" sz="2800" dirty="0"/>
              <a:t>。</a:t>
            </a:r>
            <a:endParaRPr lang="zh-CN" altLang="en-US" sz="28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3</a:t>
            </a:r>
            <a:r>
              <a:rPr lang="en-US" altLang="zh-CN" dirty="0"/>
              <a:t>.5.2  </a:t>
            </a:r>
            <a:r>
              <a:rPr lang="zh-CN" altLang="en-US" dirty="0"/>
              <a:t>并行存储器</a:t>
            </a:r>
            <a:endParaRPr lang="zh-CN" altLang="en-US" dirty="0"/>
          </a:p>
        </p:txBody>
      </p:sp>
      <p:sp>
        <p:nvSpPr>
          <p:cNvPr id="101379" name="Rectangle 3"/>
          <p:cNvSpPr>
            <a:spLocks noGrp="1"/>
          </p:cNvSpPr>
          <p:nvPr>
            <p:ph idx="1"/>
          </p:nvPr>
        </p:nvSpPr>
        <p:spPr/>
        <p:txBody>
          <a:bodyPr vert="horz" wrap="square" lIns="91440" tIns="45720" rIns="91440" bIns="45720" anchor="t" anchorCtr="0"/>
          <a:p>
            <a:pPr lvl="1"/>
            <a:r>
              <a:rPr lang="zh-CN" altLang="en-US" dirty="0"/>
              <a:t>假设有</a:t>
            </a:r>
            <a:r>
              <a:rPr lang="en-US" altLang="zh-CN" dirty="0">
                <a:solidFill>
                  <a:srgbClr val="0000FF"/>
                </a:solidFill>
              </a:rPr>
              <a:t>n</a:t>
            </a:r>
            <a:r>
              <a:rPr lang="zh-CN" altLang="en-US" dirty="0"/>
              <a:t>个存储体（</a:t>
            </a:r>
            <a:r>
              <a:rPr lang="en-US" altLang="zh-CN" dirty="0">
                <a:solidFill>
                  <a:srgbClr val="0000FF"/>
                </a:solidFill>
              </a:rPr>
              <a:t>Bank</a:t>
            </a:r>
            <a:r>
              <a:rPr lang="zh-CN" altLang="en-US" dirty="0"/>
              <a:t>），每个存储体的容量为</a:t>
            </a:r>
            <a:r>
              <a:rPr lang="en-US" altLang="zh-CN" dirty="0">
                <a:solidFill>
                  <a:srgbClr val="FF3300"/>
                </a:solidFill>
              </a:rPr>
              <a:t>m</a:t>
            </a:r>
            <a:r>
              <a:rPr lang="zh-CN" altLang="en-US" dirty="0"/>
              <a:t>个存储单元</a:t>
            </a:r>
            <a:endParaRPr lang="en-US" altLang="zh-CN" dirty="0"/>
          </a:p>
          <a:p>
            <a:pPr lvl="1"/>
            <a:r>
              <a:rPr lang="zh-CN" altLang="en-US" dirty="0"/>
              <a:t>顺序方式：</a:t>
            </a:r>
            <a:endParaRPr lang="en-US" altLang="zh-CN" dirty="0"/>
          </a:p>
          <a:p>
            <a:pPr lvl="2"/>
            <a:endParaRPr lang="en-US" altLang="zh-CN" sz="2800" dirty="0"/>
          </a:p>
          <a:p>
            <a:pPr lvl="2"/>
            <a:endParaRPr lang="en-US" altLang="zh-CN" dirty="0"/>
          </a:p>
          <a:p>
            <a:pPr lvl="2"/>
            <a:endParaRPr lang="en-US" altLang="zh-CN" dirty="0"/>
          </a:p>
          <a:p>
            <a:pPr lvl="2"/>
            <a:endParaRPr lang="en-US" altLang="zh-CN" dirty="0"/>
          </a:p>
          <a:p>
            <a:pPr lvl="2"/>
            <a:endParaRPr lang="en-US" altLang="zh-CN" dirty="0"/>
          </a:p>
          <a:p>
            <a:pPr lvl="2"/>
            <a:endParaRPr lang="zh-CN" altLang="en-US" dirty="0"/>
          </a:p>
        </p:txBody>
      </p:sp>
      <p:grpSp>
        <p:nvGrpSpPr>
          <p:cNvPr id="101380" name="Group 4"/>
          <p:cNvGrpSpPr/>
          <p:nvPr/>
        </p:nvGrpSpPr>
        <p:grpSpPr>
          <a:xfrm>
            <a:off x="1692275" y="3352800"/>
            <a:ext cx="5661025" cy="2381250"/>
            <a:chOff x="1536" y="1728"/>
            <a:chExt cx="3360" cy="1536"/>
          </a:xfrm>
        </p:grpSpPr>
        <p:sp>
          <p:nvSpPr>
            <p:cNvPr id="101381" name="Rectangle 5"/>
            <p:cNvSpPr/>
            <p:nvPr/>
          </p:nvSpPr>
          <p:spPr>
            <a:xfrm>
              <a:off x="1728" y="1728"/>
              <a:ext cx="3168" cy="48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01382" name="Line 6"/>
            <p:cNvSpPr/>
            <p:nvPr/>
          </p:nvSpPr>
          <p:spPr>
            <a:xfrm>
              <a:off x="2688" y="1728"/>
              <a:ext cx="0" cy="480"/>
            </a:xfrm>
            <a:prstGeom prst="line">
              <a:avLst/>
            </a:prstGeom>
            <a:ln w="9525" cap="flat" cmpd="sng">
              <a:solidFill>
                <a:schemeClr val="tx1"/>
              </a:solidFill>
              <a:prstDash val="solid"/>
              <a:miter/>
              <a:headEnd type="none" w="med" len="med"/>
              <a:tailEnd type="none" w="med" len="med"/>
            </a:ln>
          </p:spPr>
        </p:sp>
        <p:graphicFrame>
          <p:nvGraphicFramePr>
            <p:cNvPr id="101383" name="Object 7"/>
            <p:cNvGraphicFramePr>
              <a:graphicFrameLocks noChangeAspect="1"/>
            </p:cNvGraphicFramePr>
            <p:nvPr/>
          </p:nvGraphicFramePr>
          <p:xfrm>
            <a:off x="1872" y="1728"/>
            <a:ext cx="624" cy="414"/>
          </p:xfrm>
          <a:graphic>
            <a:graphicData uri="http://schemas.openxmlformats.org/presentationml/2006/ole">
              <mc:AlternateContent xmlns:mc="http://schemas.openxmlformats.org/markup-compatibility/2006">
                <mc:Choice xmlns:v="urn:schemas-microsoft-com:vml" Requires="v">
                  <p:oleObj spid="_x0000_s3086" name="" r:id="rId1" imgW="355600" imgH="241300" progId="Equation.3">
                    <p:embed/>
                  </p:oleObj>
                </mc:Choice>
                <mc:Fallback>
                  <p:oleObj name="" r:id="rId1" imgW="355600" imgH="241300" progId="Equation.3">
                    <p:embed/>
                    <p:pic>
                      <p:nvPicPr>
                        <p:cNvPr id="0" name="图片 3085"/>
                        <p:cNvPicPr/>
                        <p:nvPr/>
                      </p:nvPicPr>
                      <p:blipFill>
                        <a:blip r:embed="rId2"/>
                        <a:stretch>
                          <a:fillRect/>
                        </a:stretch>
                      </p:blipFill>
                      <p:spPr>
                        <a:xfrm>
                          <a:off x="1872" y="1728"/>
                          <a:ext cx="624" cy="414"/>
                        </a:xfrm>
                        <a:prstGeom prst="rect">
                          <a:avLst/>
                        </a:prstGeom>
                        <a:noFill/>
                        <a:ln w="38100">
                          <a:noFill/>
                          <a:miter/>
                        </a:ln>
                      </p:spPr>
                    </p:pic>
                  </p:oleObj>
                </mc:Fallback>
              </mc:AlternateContent>
            </a:graphicData>
          </a:graphic>
        </p:graphicFrame>
        <p:graphicFrame>
          <p:nvGraphicFramePr>
            <p:cNvPr id="101384" name="Object 8"/>
            <p:cNvGraphicFramePr>
              <a:graphicFrameLocks noChangeAspect="1"/>
            </p:cNvGraphicFramePr>
            <p:nvPr/>
          </p:nvGraphicFramePr>
          <p:xfrm>
            <a:off x="3400" y="1728"/>
            <a:ext cx="584" cy="414"/>
          </p:xfrm>
          <a:graphic>
            <a:graphicData uri="http://schemas.openxmlformats.org/presentationml/2006/ole">
              <mc:AlternateContent xmlns:mc="http://schemas.openxmlformats.org/markup-compatibility/2006">
                <mc:Choice xmlns:v="urn:schemas-microsoft-com:vml" Requires="v">
                  <p:oleObj spid="_x0000_s3087" name="" r:id="rId3" imgW="368300" imgH="241300" progId="Equation.3">
                    <p:embed/>
                  </p:oleObj>
                </mc:Choice>
                <mc:Fallback>
                  <p:oleObj name="" r:id="rId3" imgW="368300" imgH="241300" progId="Equation.3">
                    <p:embed/>
                    <p:pic>
                      <p:nvPicPr>
                        <p:cNvPr id="0" name="图片 3086"/>
                        <p:cNvPicPr/>
                        <p:nvPr/>
                      </p:nvPicPr>
                      <p:blipFill>
                        <a:blip r:embed="rId4"/>
                        <a:stretch>
                          <a:fillRect/>
                        </a:stretch>
                      </p:blipFill>
                      <p:spPr>
                        <a:xfrm>
                          <a:off x="3400" y="1728"/>
                          <a:ext cx="584" cy="414"/>
                        </a:xfrm>
                        <a:prstGeom prst="rect">
                          <a:avLst/>
                        </a:prstGeom>
                        <a:noFill/>
                        <a:ln w="38100">
                          <a:noFill/>
                          <a:miter/>
                        </a:ln>
                      </p:spPr>
                    </p:pic>
                  </p:oleObj>
                </mc:Fallback>
              </mc:AlternateContent>
            </a:graphicData>
          </a:graphic>
        </p:graphicFrame>
        <p:sp>
          <p:nvSpPr>
            <p:cNvPr id="101385" name="AutoShape 9"/>
            <p:cNvSpPr/>
            <p:nvPr/>
          </p:nvSpPr>
          <p:spPr>
            <a:xfrm>
              <a:off x="3120" y="2689"/>
              <a:ext cx="1392" cy="575"/>
            </a:xfrm>
            <a:prstGeom prst="wedgeRoundRectCallout">
              <a:avLst>
                <a:gd name="adj1" fmla="val -15588"/>
                <a:gd name="adj2" fmla="val -136981"/>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000" dirty="0">
                  <a:latin typeface="Times New Roman" panose="02020603050405020304" pitchFamily="18" charset="0"/>
                </a:rPr>
                <a:t>每个存储体内的地址</a:t>
              </a:r>
              <a:endParaRPr lang="zh-CN" altLang="en-US" sz="2000" dirty="0">
                <a:latin typeface="Times New Roman" panose="02020603050405020304" pitchFamily="18" charset="0"/>
              </a:endParaRPr>
            </a:p>
          </p:txBody>
        </p:sp>
        <p:sp>
          <p:nvSpPr>
            <p:cNvPr id="101386" name="AutoShape 10"/>
            <p:cNvSpPr/>
            <p:nvPr/>
          </p:nvSpPr>
          <p:spPr>
            <a:xfrm>
              <a:off x="1536" y="2689"/>
              <a:ext cx="1392" cy="575"/>
            </a:xfrm>
            <a:prstGeom prst="wedgeRoundRectCallout">
              <a:avLst>
                <a:gd name="adj1" fmla="val -15588"/>
                <a:gd name="adj2" fmla="val -136981"/>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000" dirty="0">
                  <a:latin typeface="Times New Roman" panose="02020603050405020304" pitchFamily="18" charset="0"/>
                </a:rPr>
                <a:t>片选，存储体选择</a:t>
              </a:r>
              <a:endParaRPr lang="zh-CN" altLang="en-US" sz="2000" dirty="0">
                <a:latin typeface="Times New Roman" panose="02020603050405020304" pitchFamily="18" charset="0"/>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2"/>
          <p:cNvSpPr>
            <a:spLocks noGrp="1"/>
          </p:cNvSpPr>
          <p:nvPr>
            <p:ph type="title"/>
          </p:nvPr>
        </p:nvSpPr>
        <p:spPr>
          <a:xfrm>
            <a:off x="395288" y="-171450"/>
            <a:ext cx="8229600" cy="1371600"/>
          </a:xfrm>
        </p:spPr>
        <p:txBody>
          <a:bodyPr vert="horz" wrap="square" lIns="91440" tIns="45720" rIns="91440" bIns="45720" anchor="ctr" anchorCtr="0"/>
          <a:p>
            <a:r>
              <a:rPr lang="en-US" altLang="zh-CN" dirty="0">
                <a:solidFill>
                  <a:srgbClr val="FF0000"/>
                </a:solidFill>
                <a:cs typeface="Times New Roman" panose="02020603050405020304" pitchFamily="18" charset="0"/>
              </a:rPr>
              <a:t>3</a:t>
            </a:r>
            <a:r>
              <a:rPr lang="en-US" altLang="zh-CN" dirty="0">
                <a:solidFill>
                  <a:srgbClr val="FF0000"/>
                </a:solidFill>
              </a:rPr>
              <a:t>.5.2   </a:t>
            </a:r>
            <a:r>
              <a:rPr lang="zh-CN" altLang="en-US" dirty="0">
                <a:solidFill>
                  <a:srgbClr val="FF0000"/>
                </a:solidFill>
              </a:rPr>
              <a:t>并行存储器</a:t>
            </a:r>
            <a:endParaRPr lang="zh-CN" altLang="en-US" dirty="0">
              <a:solidFill>
                <a:srgbClr val="FF0000"/>
              </a:solidFill>
            </a:endParaRPr>
          </a:p>
        </p:txBody>
      </p:sp>
      <p:sp>
        <p:nvSpPr>
          <p:cNvPr id="102403" name="Rectangle 3"/>
          <p:cNvSpPr>
            <a:spLocks noGrp="1"/>
          </p:cNvSpPr>
          <p:nvPr>
            <p:ph idx="1"/>
          </p:nvPr>
        </p:nvSpPr>
        <p:spPr>
          <a:xfrm>
            <a:off x="395288" y="765175"/>
            <a:ext cx="8362950" cy="5543550"/>
          </a:xfrm>
        </p:spPr>
        <p:txBody>
          <a:bodyPr vert="horz" wrap="square" lIns="91440" tIns="45720" rIns="91440" bIns="45720" anchor="t" anchorCtr="0"/>
          <a:p>
            <a:pPr algn="just">
              <a:lnSpc>
                <a:spcPct val="90000"/>
              </a:lnSpc>
              <a:buNone/>
            </a:pPr>
            <a:r>
              <a:rPr lang="en-US" altLang="zh-CN" dirty="0">
                <a:solidFill>
                  <a:srgbClr val="0000FF"/>
                </a:solidFill>
                <a:latin typeface="宋体" panose="02010600030101010101" pitchFamily="2" charset="-122"/>
              </a:rPr>
              <a:t>1</a:t>
            </a:r>
            <a:r>
              <a:rPr lang="zh-CN" altLang="en-US" dirty="0">
                <a:solidFill>
                  <a:srgbClr val="0000FF"/>
                </a:solidFill>
                <a:latin typeface="宋体" panose="02010600030101010101" pitchFamily="2" charset="-122"/>
              </a:rPr>
              <a:t>、顺序方式</a:t>
            </a:r>
            <a:endParaRPr lang="en-US" altLang="zh-CN" dirty="0">
              <a:solidFill>
                <a:srgbClr val="0000FF"/>
              </a:solidFill>
              <a:latin typeface="宋体" panose="02010600030101010101" pitchFamily="2" charset="-122"/>
            </a:endParaRPr>
          </a:p>
          <a:p>
            <a:pPr algn="just">
              <a:lnSpc>
                <a:spcPct val="90000"/>
              </a:lnSpc>
              <a:buNone/>
            </a:pPr>
            <a:r>
              <a:rPr lang="en-US" altLang="zh-CN" sz="2800" dirty="0">
                <a:solidFill>
                  <a:srgbClr val="FF3300"/>
                </a:solidFill>
                <a:latin typeface="宋体" panose="02010600030101010101" pitchFamily="2" charset="-122"/>
              </a:rPr>
              <a:t>[</a:t>
            </a:r>
            <a:r>
              <a:rPr lang="zh-CN" altLang="en-US" sz="2800" dirty="0">
                <a:solidFill>
                  <a:srgbClr val="FF3300"/>
                </a:solidFill>
                <a:latin typeface="宋体" panose="02010600030101010101" pitchFamily="2" charset="-122"/>
              </a:rPr>
              <a:t>例</a:t>
            </a:r>
            <a:r>
              <a:rPr lang="en-US" altLang="zh-CN"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M0</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M3</a:t>
            </a:r>
            <a:r>
              <a:rPr lang="zh-CN" altLang="en-US" sz="2800" dirty="0">
                <a:solidFill>
                  <a:srgbClr val="FF3300"/>
                </a:solidFill>
                <a:latin typeface="宋体" panose="02010600030101010101" pitchFamily="2" charset="-122"/>
              </a:rPr>
              <a:t>共四个模块，则每个模块</a:t>
            </a:r>
            <a:r>
              <a:rPr lang="en-US" altLang="zh-CN" sz="2800" dirty="0">
                <a:solidFill>
                  <a:srgbClr val="FF3300"/>
                </a:solidFill>
                <a:latin typeface="宋体" panose="02010600030101010101" pitchFamily="2" charset="-122"/>
                <a:cs typeface="Times New Roman" panose="02020603050405020304" pitchFamily="18" charset="0"/>
              </a:rPr>
              <a:t>8</a:t>
            </a:r>
            <a:r>
              <a:rPr lang="zh-CN" altLang="en-US" sz="2800" dirty="0">
                <a:solidFill>
                  <a:srgbClr val="FF3300"/>
                </a:solidFill>
                <a:latin typeface="宋体" panose="02010600030101010101" pitchFamily="2" charset="-122"/>
              </a:rPr>
              <a:t>个字</a:t>
            </a:r>
            <a:endParaRPr lang="en-US" altLang="zh-CN" sz="2800" dirty="0">
              <a:solidFill>
                <a:srgbClr val="FF3300"/>
              </a:solidFill>
              <a:latin typeface="宋体" panose="02010600030101010101" pitchFamily="2" charset="-122"/>
              <a:cs typeface="Times New Roman" panose="02020603050405020304" pitchFamily="18" charset="0"/>
            </a:endParaRPr>
          </a:p>
          <a:p>
            <a:pPr algn="just">
              <a:lnSpc>
                <a:spcPct val="90000"/>
              </a:lnSpc>
              <a:buNone/>
            </a:pPr>
            <a:r>
              <a:rPr lang="zh-CN" altLang="en-US" sz="2800" dirty="0">
                <a:solidFill>
                  <a:srgbClr val="FF3300"/>
                </a:solidFill>
                <a:latin typeface="宋体" panose="02010600030101010101" pitchFamily="2" charset="-122"/>
              </a:rPr>
              <a:t>顺序方式：</a:t>
            </a:r>
            <a:r>
              <a:rPr lang="en-US" altLang="zh-CN" sz="2800" dirty="0">
                <a:solidFill>
                  <a:srgbClr val="FF3300"/>
                </a:solidFill>
                <a:cs typeface="Times New Roman" panose="02020603050405020304" pitchFamily="18" charset="0"/>
              </a:rPr>
              <a:t> </a:t>
            </a:r>
            <a:r>
              <a:rPr lang="en-US" altLang="zh-CN" sz="2800" dirty="0">
                <a:solidFill>
                  <a:srgbClr val="FF3300"/>
                </a:solidFill>
                <a:latin typeface="宋体" panose="02010600030101010101" pitchFamily="2" charset="-122"/>
                <a:cs typeface="Times New Roman" panose="02020603050405020304" pitchFamily="18" charset="0"/>
              </a:rPr>
              <a:t>M0</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0</a:t>
            </a:r>
            <a:r>
              <a:rPr lang="en-US" altLang="zh-CN" sz="2800" dirty="0">
                <a:solidFill>
                  <a:srgbClr val="FF3300"/>
                </a:solidFill>
                <a:cs typeface="Times New Roman" panose="02020603050405020304" pitchFamily="18" charset="0"/>
              </a:rPr>
              <a:t>—</a:t>
            </a:r>
            <a:r>
              <a:rPr lang="en-US" altLang="zh-CN" sz="2800" dirty="0">
                <a:solidFill>
                  <a:srgbClr val="FF3300"/>
                </a:solidFill>
                <a:latin typeface="宋体" panose="02010600030101010101" pitchFamily="2" charset="-122"/>
                <a:cs typeface="Times New Roman" panose="02020603050405020304" pitchFamily="18" charset="0"/>
              </a:rPr>
              <a:t>7</a:t>
            </a:r>
            <a:endParaRPr lang="en-US" altLang="zh-CN" sz="2800" dirty="0">
              <a:solidFill>
                <a:srgbClr val="FF3300"/>
              </a:solidFill>
              <a:latin typeface="宋体" panose="02010600030101010101" pitchFamily="2" charset="-122"/>
              <a:cs typeface="Times New Roman" panose="02020603050405020304" pitchFamily="18" charset="0"/>
            </a:endParaRPr>
          </a:p>
          <a:p>
            <a:pPr algn="just">
              <a:lnSpc>
                <a:spcPct val="90000"/>
              </a:lnSpc>
              <a:buNone/>
            </a:pPr>
            <a:r>
              <a:rPr lang="en-US" altLang="zh-CN" sz="2800" dirty="0">
                <a:solidFill>
                  <a:srgbClr val="FF3300"/>
                </a:solidFill>
                <a:cs typeface="Times New Roman" panose="02020603050405020304" pitchFamily="18" charset="0"/>
              </a:rPr>
              <a:t>             </a:t>
            </a:r>
            <a:r>
              <a:rPr lang="en-US" altLang="zh-CN" sz="2800" dirty="0">
                <a:solidFill>
                  <a:srgbClr val="FF3300"/>
                </a:solidFill>
                <a:latin typeface="宋体" panose="02010600030101010101" pitchFamily="2" charset="-122"/>
                <a:cs typeface="Times New Roman" panose="02020603050405020304" pitchFamily="18" charset="0"/>
              </a:rPr>
              <a:t>   M1</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8</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15</a:t>
            </a:r>
            <a:endParaRPr lang="en-US" altLang="zh-CN" sz="2800" dirty="0">
              <a:solidFill>
                <a:srgbClr val="FF3300"/>
              </a:solidFill>
              <a:latin typeface="宋体" panose="02010600030101010101" pitchFamily="2" charset="-122"/>
              <a:cs typeface="Times New Roman" panose="02020603050405020304" pitchFamily="18" charset="0"/>
            </a:endParaRPr>
          </a:p>
          <a:p>
            <a:pPr algn="just">
              <a:lnSpc>
                <a:spcPct val="90000"/>
              </a:lnSpc>
              <a:buNone/>
            </a:pPr>
            <a:r>
              <a:rPr lang="en-US" altLang="zh-CN" sz="2800" dirty="0">
                <a:solidFill>
                  <a:srgbClr val="FF3300"/>
                </a:solidFill>
                <a:cs typeface="Times New Roman" panose="02020603050405020304" pitchFamily="18" charset="0"/>
              </a:rPr>
              <a:t>               </a:t>
            </a:r>
            <a:r>
              <a:rPr lang="en-US" altLang="zh-CN" sz="2800" dirty="0">
                <a:solidFill>
                  <a:srgbClr val="FF3300"/>
                </a:solidFill>
                <a:latin typeface="宋体" panose="02010600030101010101" pitchFamily="2" charset="-122"/>
                <a:cs typeface="Times New Roman" panose="02020603050405020304" pitchFamily="18" charset="0"/>
              </a:rPr>
              <a:t> 	M2</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16</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23</a:t>
            </a:r>
            <a:endParaRPr lang="en-US" altLang="zh-CN" sz="2800" dirty="0">
              <a:solidFill>
                <a:srgbClr val="FF3300"/>
              </a:solidFill>
              <a:latin typeface="宋体" panose="02010600030101010101" pitchFamily="2" charset="-122"/>
              <a:cs typeface="Times New Roman" panose="02020603050405020304" pitchFamily="18" charset="0"/>
            </a:endParaRPr>
          </a:p>
          <a:p>
            <a:pPr algn="just">
              <a:lnSpc>
                <a:spcPct val="90000"/>
              </a:lnSpc>
              <a:buNone/>
            </a:pPr>
            <a:r>
              <a:rPr lang="en-US" altLang="zh-CN" sz="2800" dirty="0">
                <a:solidFill>
                  <a:srgbClr val="FF3300"/>
                </a:solidFill>
                <a:cs typeface="Times New Roman" panose="02020603050405020304" pitchFamily="18" charset="0"/>
              </a:rPr>
              <a:t>               </a:t>
            </a:r>
            <a:r>
              <a:rPr lang="en-US" altLang="zh-CN" sz="2800" dirty="0">
                <a:solidFill>
                  <a:srgbClr val="FF3300"/>
                </a:solidFill>
                <a:latin typeface="宋体" panose="02010600030101010101" pitchFamily="2" charset="-122"/>
                <a:cs typeface="Times New Roman" panose="02020603050405020304" pitchFamily="18" charset="0"/>
              </a:rPr>
              <a:t> 	M3</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24</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31</a:t>
            </a:r>
            <a:endParaRPr lang="en-US" altLang="zh-CN" sz="2800" dirty="0">
              <a:solidFill>
                <a:srgbClr val="FF3300"/>
              </a:solidFill>
              <a:latin typeface="宋体" panose="02010600030101010101" pitchFamily="2" charset="-122"/>
              <a:cs typeface="Times New Roman" panose="02020603050405020304" pitchFamily="18" charset="0"/>
            </a:endParaRPr>
          </a:p>
          <a:p>
            <a:pPr algn="just">
              <a:lnSpc>
                <a:spcPct val="90000"/>
              </a:lnSpc>
            </a:pPr>
            <a:r>
              <a:rPr lang="en-US" altLang="zh-CN" sz="2800" dirty="0">
                <a:solidFill>
                  <a:srgbClr val="FF3300"/>
                </a:solidFill>
                <a:latin typeface="宋体" panose="02010600030101010101" pitchFamily="2" charset="-122"/>
                <a:cs typeface="Times New Roman" panose="02020603050405020304" pitchFamily="18" charset="0"/>
              </a:rPr>
              <a:t>5</a:t>
            </a:r>
            <a:r>
              <a:rPr lang="zh-CN" altLang="en-US" sz="2800" dirty="0">
                <a:solidFill>
                  <a:srgbClr val="FF3300"/>
                </a:solidFill>
                <a:latin typeface="宋体" panose="02010600030101010101" pitchFamily="2" charset="-122"/>
              </a:rPr>
              <a:t>位地址组织如下：</a:t>
            </a:r>
            <a:r>
              <a:rPr lang="en-US" altLang="zh-CN" sz="2800" dirty="0">
                <a:solidFill>
                  <a:srgbClr val="FF3300"/>
                </a:solidFill>
                <a:latin typeface="宋体" panose="02010600030101010101" pitchFamily="2" charset="-122"/>
                <a:cs typeface="Times New Roman" panose="02020603050405020304" pitchFamily="18" charset="0"/>
              </a:rPr>
              <a:t> X X</a:t>
            </a:r>
            <a:r>
              <a:rPr lang="en-US" altLang="zh-CN" sz="2800" dirty="0">
                <a:solidFill>
                  <a:srgbClr val="FF3300"/>
                </a:solidFill>
                <a:cs typeface="Times New Roman" panose="02020603050405020304" pitchFamily="18" charset="0"/>
              </a:rPr>
              <a:t>   </a:t>
            </a:r>
            <a:r>
              <a:rPr lang="en-US" altLang="zh-CN" sz="2800" dirty="0">
                <a:solidFill>
                  <a:srgbClr val="FF3300"/>
                </a:solidFill>
                <a:latin typeface="宋体" panose="02010600030101010101" pitchFamily="2" charset="-122"/>
                <a:cs typeface="Times New Roman" panose="02020603050405020304" pitchFamily="18" charset="0"/>
              </a:rPr>
              <a:t> </a:t>
            </a:r>
            <a:r>
              <a:rPr lang="en-US" altLang="zh-CN" sz="2800" dirty="0">
                <a:solidFill>
                  <a:srgbClr val="0000FF"/>
                </a:solidFill>
                <a:latin typeface="宋体" panose="02010600030101010101" pitchFamily="2" charset="-122"/>
                <a:cs typeface="Times New Roman" panose="02020603050405020304" pitchFamily="18" charset="0"/>
              </a:rPr>
              <a:t>X X X</a:t>
            </a:r>
            <a:endParaRPr lang="en-US" altLang="zh-CN" sz="2800" dirty="0">
              <a:solidFill>
                <a:srgbClr val="0000FF"/>
              </a:solidFill>
              <a:latin typeface="宋体" panose="02010600030101010101" pitchFamily="2" charset="-122"/>
              <a:cs typeface="Times New Roman" panose="02020603050405020304" pitchFamily="18" charset="0"/>
            </a:endParaRPr>
          </a:p>
          <a:p>
            <a:pPr algn="just">
              <a:lnSpc>
                <a:spcPct val="90000"/>
              </a:lnSpc>
            </a:pPr>
            <a:r>
              <a:rPr lang="zh-CN" altLang="en-US" sz="2800" dirty="0">
                <a:solidFill>
                  <a:srgbClr val="FF3300"/>
                </a:solidFill>
                <a:latin typeface="宋体" panose="02010600030101010101" pitchFamily="2" charset="-122"/>
              </a:rPr>
              <a:t>高位选模块，低位选</a:t>
            </a:r>
            <a:r>
              <a:rPr lang="zh-CN" altLang="en-US" sz="2800" dirty="0">
                <a:solidFill>
                  <a:srgbClr val="0000FF"/>
                </a:solidFill>
                <a:latin typeface="宋体" panose="02010600030101010101" pitchFamily="2" charset="-122"/>
              </a:rPr>
              <a:t>块内地址</a:t>
            </a:r>
            <a:endParaRPr lang="en-US" altLang="zh-CN" sz="2800" dirty="0">
              <a:solidFill>
                <a:srgbClr val="0000FF"/>
              </a:solidFill>
              <a:latin typeface="宋体" panose="02010600030101010101" pitchFamily="2" charset="-122"/>
            </a:endParaRPr>
          </a:p>
          <a:p>
            <a:pPr algn="just">
              <a:lnSpc>
                <a:spcPct val="90000"/>
              </a:lnSpc>
            </a:pPr>
            <a:r>
              <a:rPr lang="zh-CN" altLang="en-US" sz="2800" dirty="0"/>
              <a:t>特点：某个模块进行存取时，其他模块不工作，优点是某一模块出现故障时，其他模块可以照常工作，通过增添模块来扩充存储器容量比较方便。</a:t>
            </a:r>
            <a:endParaRPr lang="en-US" altLang="zh-CN" sz="2800" dirty="0"/>
          </a:p>
          <a:p>
            <a:pPr algn="just">
              <a:lnSpc>
                <a:spcPct val="90000"/>
              </a:lnSpc>
            </a:pPr>
            <a:r>
              <a:rPr lang="zh-CN" altLang="en-US" sz="2800" dirty="0"/>
              <a:t>缺点是各模块串行工作，存储器的带宽受到了限制。</a:t>
            </a:r>
            <a:endParaRPr lang="zh-CN" altLang="en-US" sz="2800" dirty="0">
              <a:latin typeface="宋体" panose="0201060003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3</a:t>
            </a:r>
            <a:r>
              <a:rPr lang="en-US" altLang="zh-CN" dirty="0"/>
              <a:t>.5.2   </a:t>
            </a:r>
            <a:r>
              <a:rPr lang="zh-CN" altLang="en-US" dirty="0"/>
              <a:t>并行存储器</a:t>
            </a:r>
            <a:endParaRPr lang="zh-CN" altLang="en-US" dirty="0"/>
          </a:p>
        </p:txBody>
      </p:sp>
      <p:sp>
        <p:nvSpPr>
          <p:cNvPr id="103427" name="Rectangle 3"/>
          <p:cNvSpPr>
            <a:spLocks noGrp="1"/>
          </p:cNvSpPr>
          <p:nvPr>
            <p:ph idx="1"/>
          </p:nvPr>
        </p:nvSpPr>
        <p:spPr>
          <a:xfrm>
            <a:off x="457200" y="1773238"/>
            <a:ext cx="8229600" cy="3886200"/>
          </a:xfrm>
        </p:spPr>
        <p:txBody>
          <a:bodyPr vert="horz" wrap="square" lIns="91440" tIns="45720" rIns="91440" bIns="45720" anchor="t" anchorCtr="0"/>
          <a:p>
            <a:pPr>
              <a:buNone/>
            </a:pPr>
            <a:r>
              <a:rPr lang="en-US" altLang="zh-CN" b="1" dirty="0">
                <a:solidFill>
                  <a:srgbClr val="0000FF"/>
                </a:solidFill>
              </a:rPr>
              <a:t>2</a:t>
            </a:r>
            <a:r>
              <a:rPr lang="zh-CN" altLang="en-US" b="1" dirty="0">
                <a:solidFill>
                  <a:srgbClr val="0000FF"/>
                </a:solidFill>
              </a:rPr>
              <a:t>、交叉方式</a:t>
            </a:r>
            <a:r>
              <a:rPr lang="en-US" altLang="zh-CN" b="1" dirty="0">
                <a:solidFill>
                  <a:srgbClr val="0000FF"/>
                </a:solidFill>
              </a:rPr>
              <a:t>(</a:t>
            </a:r>
            <a:r>
              <a:rPr lang="zh-CN" altLang="en-US" b="1" dirty="0">
                <a:solidFill>
                  <a:srgbClr val="0000FF"/>
                </a:solidFill>
              </a:rPr>
              <a:t>低位交叉编址</a:t>
            </a:r>
            <a:r>
              <a:rPr lang="en-US" altLang="zh-CN" b="1" dirty="0">
                <a:solidFill>
                  <a:srgbClr val="0000FF"/>
                </a:solidFill>
              </a:rPr>
              <a:t>)</a:t>
            </a:r>
            <a:endParaRPr lang="en-US" altLang="zh-CN" b="1" dirty="0">
              <a:solidFill>
                <a:srgbClr val="0000FF"/>
              </a:solidFill>
            </a:endParaRPr>
          </a:p>
          <a:p>
            <a:r>
              <a:rPr lang="zh-CN" altLang="en-US" dirty="0"/>
              <a:t>（可以实现多模块流水式并行存取）</a:t>
            </a:r>
            <a:endParaRPr lang="zh-CN" altLang="en-US" dirty="0"/>
          </a:p>
        </p:txBody>
      </p:sp>
      <p:grpSp>
        <p:nvGrpSpPr>
          <p:cNvPr id="103428" name="Group 4"/>
          <p:cNvGrpSpPr/>
          <p:nvPr/>
        </p:nvGrpSpPr>
        <p:grpSpPr>
          <a:xfrm>
            <a:off x="1547813" y="2997200"/>
            <a:ext cx="5735637" cy="2481263"/>
            <a:chOff x="1728" y="2544"/>
            <a:chExt cx="3408" cy="1536"/>
          </a:xfrm>
        </p:grpSpPr>
        <p:sp>
          <p:nvSpPr>
            <p:cNvPr id="103429" name="Rectangle 5"/>
            <p:cNvSpPr/>
            <p:nvPr/>
          </p:nvSpPr>
          <p:spPr>
            <a:xfrm>
              <a:off x="1728" y="2544"/>
              <a:ext cx="3168" cy="48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03430" name="Line 6"/>
            <p:cNvSpPr/>
            <p:nvPr/>
          </p:nvSpPr>
          <p:spPr>
            <a:xfrm>
              <a:off x="3984" y="2544"/>
              <a:ext cx="0" cy="480"/>
            </a:xfrm>
            <a:prstGeom prst="line">
              <a:avLst/>
            </a:prstGeom>
            <a:ln w="9525" cap="flat" cmpd="sng">
              <a:solidFill>
                <a:schemeClr val="tx1"/>
              </a:solidFill>
              <a:prstDash val="solid"/>
              <a:miter/>
              <a:headEnd type="none" w="med" len="med"/>
              <a:tailEnd type="none" w="med" len="med"/>
            </a:ln>
          </p:spPr>
        </p:sp>
        <p:graphicFrame>
          <p:nvGraphicFramePr>
            <p:cNvPr id="103431" name="Object 7"/>
            <p:cNvGraphicFramePr>
              <a:graphicFrameLocks noChangeAspect="1"/>
            </p:cNvGraphicFramePr>
            <p:nvPr/>
          </p:nvGraphicFramePr>
          <p:xfrm>
            <a:off x="4080" y="2592"/>
            <a:ext cx="624" cy="414"/>
          </p:xfrm>
          <a:graphic>
            <a:graphicData uri="http://schemas.openxmlformats.org/presentationml/2006/ole">
              <mc:AlternateContent xmlns:mc="http://schemas.openxmlformats.org/markup-compatibility/2006">
                <mc:Choice xmlns:v="urn:schemas-microsoft-com:vml" Requires="v">
                  <p:oleObj spid="_x0000_s3078" name="" r:id="rId1" imgW="355600" imgH="241300" progId="Equation.3">
                    <p:embed/>
                  </p:oleObj>
                </mc:Choice>
                <mc:Fallback>
                  <p:oleObj name="" r:id="rId1" imgW="355600" imgH="241300" progId="Equation.3">
                    <p:embed/>
                    <p:pic>
                      <p:nvPicPr>
                        <p:cNvPr id="0" name="图片 3077"/>
                        <p:cNvPicPr/>
                        <p:nvPr/>
                      </p:nvPicPr>
                      <p:blipFill>
                        <a:blip r:embed="rId2"/>
                        <a:stretch>
                          <a:fillRect/>
                        </a:stretch>
                      </p:blipFill>
                      <p:spPr>
                        <a:xfrm>
                          <a:off x="4080" y="2592"/>
                          <a:ext cx="624" cy="414"/>
                        </a:xfrm>
                        <a:prstGeom prst="rect">
                          <a:avLst/>
                        </a:prstGeom>
                        <a:noFill/>
                        <a:ln w="38100">
                          <a:noFill/>
                          <a:miter/>
                        </a:ln>
                      </p:spPr>
                    </p:pic>
                  </p:oleObj>
                </mc:Fallback>
              </mc:AlternateContent>
            </a:graphicData>
          </a:graphic>
        </p:graphicFrame>
        <p:graphicFrame>
          <p:nvGraphicFramePr>
            <p:cNvPr id="103432" name="Object 8"/>
            <p:cNvGraphicFramePr>
              <a:graphicFrameLocks noChangeAspect="1"/>
            </p:cNvGraphicFramePr>
            <p:nvPr/>
          </p:nvGraphicFramePr>
          <p:xfrm>
            <a:off x="2400" y="2592"/>
            <a:ext cx="584" cy="414"/>
          </p:xfrm>
          <a:graphic>
            <a:graphicData uri="http://schemas.openxmlformats.org/presentationml/2006/ole">
              <mc:AlternateContent xmlns:mc="http://schemas.openxmlformats.org/markup-compatibility/2006">
                <mc:Choice xmlns:v="urn:schemas-microsoft-com:vml" Requires="v">
                  <p:oleObj spid="_x0000_s3079" name="" r:id="rId3" imgW="368300" imgH="241300" progId="Equation.3">
                    <p:embed/>
                  </p:oleObj>
                </mc:Choice>
                <mc:Fallback>
                  <p:oleObj name="" r:id="rId3" imgW="368300" imgH="241300" progId="Equation.3">
                    <p:embed/>
                    <p:pic>
                      <p:nvPicPr>
                        <p:cNvPr id="0" name="图片 3078"/>
                        <p:cNvPicPr/>
                        <p:nvPr/>
                      </p:nvPicPr>
                      <p:blipFill>
                        <a:blip r:embed="rId4"/>
                        <a:stretch>
                          <a:fillRect/>
                        </a:stretch>
                      </p:blipFill>
                      <p:spPr>
                        <a:xfrm>
                          <a:off x="2400" y="2592"/>
                          <a:ext cx="584" cy="414"/>
                        </a:xfrm>
                        <a:prstGeom prst="rect">
                          <a:avLst/>
                        </a:prstGeom>
                        <a:noFill/>
                        <a:ln w="38100">
                          <a:noFill/>
                          <a:miter/>
                        </a:ln>
                      </p:spPr>
                    </p:pic>
                  </p:oleObj>
                </mc:Fallback>
              </mc:AlternateContent>
            </a:graphicData>
          </a:graphic>
        </p:graphicFrame>
        <p:sp>
          <p:nvSpPr>
            <p:cNvPr id="103433" name="AutoShape 9"/>
            <p:cNvSpPr/>
            <p:nvPr/>
          </p:nvSpPr>
          <p:spPr>
            <a:xfrm>
              <a:off x="2064" y="3504"/>
              <a:ext cx="1392" cy="576"/>
            </a:xfrm>
            <a:prstGeom prst="wedgeRoundRectCallout">
              <a:avLst>
                <a:gd name="adj1" fmla="val -15588"/>
                <a:gd name="adj2" fmla="val -136981"/>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000" dirty="0">
                  <a:latin typeface="Times New Roman" panose="02020603050405020304" pitchFamily="18" charset="0"/>
                </a:rPr>
                <a:t>每个存储体内的地址</a:t>
              </a:r>
              <a:endParaRPr lang="zh-CN" altLang="en-US" sz="2000" dirty="0">
                <a:latin typeface="Times New Roman" panose="02020603050405020304" pitchFamily="18" charset="0"/>
              </a:endParaRPr>
            </a:p>
          </p:txBody>
        </p:sp>
        <p:sp>
          <p:nvSpPr>
            <p:cNvPr id="103434" name="AutoShape 10"/>
            <p:cNvSpPr/>
            <p:nvPr/>
          </p:nvSpPr>
          <p:spPr>
            <a:xfrm>
              <a:off x="3744" y="3504"/>
              <a:ext cx="1392" cy="576"/>
            </a:xfrm>
            <a:prstGeom prst="wedgeRoundRectCallout">
              <a:avLst>
                <a:gd name="adj1" fmla="val -15588"/>
                <a:gd name="adj2" fmla="val -136981"/>
                <a:gd name="adj3" fmla="val 16667"/>
              </a:avLst>
            </a:prstGeom>
            <a:solidFill>
              <a:schemeClr val="accent1"/>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0"/>
                </a:spcBef>
                <a:buClrTx/>
                <a:buSzTx/>
                <a:buFontTx/>
                <a:buNone/>
              </a:pPr>
              <a:r>
                <a:rPr lang="zh-CN" altLang="en-US" sz="2000" dirty="0">
                  <a:latin typeface="Times New Roman" panose="02020603050405020304" pitchFamily="18" charset="0"/>
                </a:rPr>
                <a:t>片选，存储体选择</a:t>
              </a:r>
              <a:endParaRPr lang="zh-CN" altLang="en-US" sz="2000" dirty="0">
                <a:latin typeface="Times New Roman" panose="02020603050405020304" pitchFamily="18" charset="0"/>
              </a:endParaRPr>
            </a:p>
          </p:txBody>
        </p:sp>
      </p:gr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2"/>
          <p:cNvSpPr>
            <a:spLocks noGrp="1"/>
          </p:cNvSpPr>
          <p:nvPr>
            <p:ph type="title"/>
          </p:nvPr>
        </p:nvSpPr>
        <p:spPr>
          <a:xfrm>
            <a:off x="457200" y="-26987"/>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.5.2   </a:t>
            </a:r>
            <a:r>
              <a:rPr lang="zh-CN" altLang="en-US" dirty="0"/>
              <a:t>并行存储器</a:t>
            </a:r>
            <a:endParaRPr lang="zh-CN" altLang="en-US" dirty="0"/>
          </a:p>
        </p:txBody>
      </p:sp>
      <p:sp>
        <p:nvSpPr>
          <p:cNvPr id="104451" name="Rectangle 3"/>
          <p:cNvSpPr>
            <a:spLocks noGrp="1"/>
          </p:cNvSpPr>
          <p:nvPr>
            <p:ph idx="1"/>
          </p:nvPr>
        </p:nvSpPr>
        <p:spPr>
          <a:xfrm>
            <a:off x="468313" y="981075"/>
            <a:ext cx="8218487" cy="5400675"/>
          </a:xfrm>
        </p:spPr>
        <p:txBody>
          <a:bodyPr vert="horz" wrap="square" lIns="91440" tIns="45720" rIns="91440" bIns="45720" anchor="t" anchorCtr="0"/>
          <a:p>
            <a:pPr algn="just">
              <a:lnSpc>
                <a:spcPct val="80000"/>
              </a:lnSpc>
              <a:buNone/>
            </a:pPr>
            <a:r>
              <a:rPr lang="en-US" altLang="zh-CN" sz="2800" dirty="0">
                <a:solidFill>
                  <a:srgbClr val="FF3300"/>
                </a:solidFill>
                <a:latin typeface="宋体" panose="02010600030101010101" pitchFamily="2" charset="-122"/>
              </a:rPr>
              <a:t>[</a:t>
            </a:r>
            <a:r>
              <a:rPr lang="zh-CN" altLang="en-US" sz="2800" dirty="0">
                <a:solidFill>
                  <a:srgbClr val="FF3300"/>
                </a:solidFill>
                <a:latin typeface="宋体" panose="02010600030101010101" pitchFamily="2" charset="-122"/>
              </a:rPr>
              <a:t>例</a:t>
            </a:r>
            <a:r>
              <a:rPr lang="en-US" altLang="zh-CN"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M0</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M3</a:t>
            </a:r>
            <a:r>
              <a:rPr lang="zh-CN" altLang="en-US" sz="2800" dirty="0">
                <a:solidFill>
                  <a:srgbClr val="FF3300"/>
                </a:solidFill>
                <a:latin typeface="宋体" panose="02010600030101010101" pitchFamily="2" charset="-122"/>
              </a:rPr>
              <a:t>共四个模块，则每个模块</a:t>
            </a:r>
            <a:r>
              <a:rPr lang="en-US" altLang="zh-CN" sz="2800" dirty="0">
                <a:solidFill>
                  <a:srgbClr val="FF3300"/>
                </a:solidFill>
                <a:latin typeface="宋体" panose="02010600030101010101" pitchFamily="2" charset="-122"/>
                <a:cs typeface="Times New Roman" panose="02020603050405020304" pitchFamily="18" charset="0"/>
              </a:rPr>
              <a:t>8</a:t>
            </a:r>
            <a:r>
              <a:rPr lang="zh-CN" altLang="en-US" sz="2800" dirty="0">
                <a:solidFill>
                  <a:srgbClr val="FF3300"/>
                </a:solidFill>
                <a:latin typeface="宋体" panose="02010600030101010101" pitchFamily="2" charset="-122"/>
              </a:rPr>
              <a:t>个字</a:t>
            </a:r>
            <a:endParaRPr lang="en-US" altLang="zh-CN" sz="2800" dirty="0">
              <a:solidFill>
                <a:srgbClr val="FF3300"/>
              </a:solidFill>
              <a:latin typeface="宋体" panose="02010600030101010101" pitchFamily="2" charset="-122"/>
            </a:endParaRPr>
          </a:p>
          <a:p>
            <a:pPr algn="just">
              <a:lnSpc>
                <a:spcPct val="80000"/>
              </a:lnSpc>
            </a:pPr>
            <a:r>
              <a:rPr lang="zh-CN" altLang="en-US" sz="2800" dirty="0">
                <a:solidFill>
                  <a:srgbClr val="FF3300"/>
                </a:solidFill>
                <a:latin typeface="宋体" panose="02010600030101010101" pitchFamily="2" charset="-122"/>
              </a:rPr>
              <a:t>交叉方式：</a:t>
            </a:r>
            <a:endParaRPr lang="en-US" altLang="zh-CN" sz="2800" dirty="0">
              <a:solidFill>
                <a:srgbClr val="FF3300"/>
              </a:solidFill>
              <a:latin typeface="宋体" panose="02010600030101010101" pitchFamily="2" charset="-122"/>
              <a:cs typeface="Times New Roman" panose="02020603050405020304" pitchFamily="18" charset="0"/>
            </a:endParaRPr>
          </a:p>
          <a:p>
            <a:pPr algn="just">
              <a:lnSpc>
                <a:spcPct val="80000"/>
              </a:lnSpc>
            </a:pPr>
            <a:r>
              <a:rPr lang="en-US" altLang="zh-CN" sz="2800" dirty="0">
                <a:solidFill>
                  <a:srgbClr val="FF3300"/>
                </a:solidFill>
                <a:cs typeface="Times New Roman" panose="02020603050405020304" pitchFamily="18" charset="0"/>
              </a:rPr>
              <a:t>               </a:t>
            </a:r>
            <a:r>
              <a:rPr lang="en-US" altLang="zh-CN" sz="2800" dirty="0">
                <a:solidFill>
                  <a:srgbClr val="FF3300"/>
                </a:solidFill>
                <a:latin typeface="宋体" panose="02010600030101010101" pitchFamily="2" charset="-122"/>
                <a:cs typeface="Times New Roman" panose="02020603050405020304" pitchFamily="18" charset="0"/>
              </a:rPr>
              <a:t> M0</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0</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4,...</a:t>
            </a:r>
            <a:r>
              <a:rPr lang="zh-CN" altLang="en-US" sz="2800" dirty="0">
                <a:solidFill>
                  <a:srgbClr val="FF3300"/>
                </a:solidFill>
                <a:latin typeface="宋体" panose="02010600030101010101" pitchFamily="2" charset="-122"/>
              </a:rPr>
              <a:t>除以</a:t>
            </a:r>
            <a:r>
              <a:rPr lang="en-US" altLang="zh-CN" sz="2800" dirty="0">
                <a:solidFill>
                  <a:srgbClr val="FF3300"/>
                </a:solidFill>
                <a:latin typeface="宋体" panose="02010600030101010101" pitchFamily="2" charset="-122"/>
                <a:cs typeface="Times New Roman" panose="02020603050405020304" pitchFamily="18" charset="0"/>
              </a:rPr>
              <a:t>4</a:t>
            </a:r>
            <a:r>
              <a:rPr lang="zh-CN" altLang="en-US" sz="2800" dirty="0">
                <a:solidFill>
                  <a:srgbClr val="FF3300"/>
                </a:solidFill>
                <a:latin typeface="宋体" panose="02010600030101010101" pitchFamily="2" charset="-122"/>
              </a:rPr>
              <a:t>余数为</a:t>
            </a:r>
            <a:r>
              <a:rPr lang="en-US" altLang="zh-CN" sz="2800" dirty="0">
                <a:solidFill>
                  <a:srgbClr val="FF3300"/>
                </a:solidFill>
                <a:latin typeface="宋体" panose="02010600030101010101" pitchFamily="2" charset="-122"/>
                <a:cs typeface="Times New Roman" panose="02020603050405020304" pitchFamily="18" charset="0"/>
              </a:rPr>
              <a:t>0</a:t>
            </a:r>
            <a:endParaRPr lang="en-US" altLang="zh-CN" sz="2800" dirty="0">
              <a:solidFill>
                <a:srgbClr val="FF3300"/>
              </a:solidFill>
              <a:latin typeface="宋体" panose="02010600030101010101" pitchFamily="2" charset="-122"/>
              <a:cs typeface="Times New Roman" panose="02020603050405020304" pitchFamily="18" charset="0"/>
            </a:endParaRPr>
          </a:p>
          <a:p>
            <a:pPr algn="just">
              <a:lnSpc>
                <a:spcPct val="80000"/>
              </a:lnSpc>
            </a:pPr>
            <a:r>
              <a:rPr lang="en-US" altLang="zh-CN" sz="2800" dirty="0">
                <a:solidFill>
                  <a:srgbClr val="FF3300"/>
                </a:solidFill>
                <a:cs typeface="Times New Roman" panose="02020603050405020304" pitchFamily="18" charset="0"/>
              </a:rPr>
              <a:t>               </a:t>
            </a:r>
            <a:r>
              <a:rPr lang="en-US" altLang="zh-CN" sz="2800" dirty="0">
                <a:solidFill>
                  <a:srgbClr val="FF3300"/>
                </a:solidFill>
                <a:latin typeface="宋体" panose="02010600030101010101" pitchFamily="2" charset="-122"/>
                <a:cs typeface="Times New Roman" panose="02020603050405020304" pitchFamily="18" charset="0"/>
              </a:rPr>
              <a:t> M1</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1</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5,...</a:t>
            </a:r>
            <a:r>
              <a:rPr lang="zh-CN" altLang="en-US" sz="2800" dirty="0">
                <a:solidFill>
                  <a:srgbClr val="FF3300"/>
                </a:solidFill>
                <a:latin typeface="宋体" panose="02010600030101010101" pitchFamily="2" charset="-122"/>
              </a:rPr>
              <a:t>除以</a:t>
            </a:r>
            <a:r>
              <a:rPr lang="en-US" altLang="zh-CN" sz="2800" dirty="0">
                <a:solidFill>
                  <a:srgbClr val="FF3300"/>
                </a:solidFill>
                <a:latin typeface="宋体" panose="02010600030101010101" pitchFamily="2" charset="-122"/>
                <a:cs typeface="Times New Roman" panose="02020603050405020304" pitchFamily="18" charset="0"/>
              </a:rPr>
              <a:t>4</a:t>
            </a:r>
            <a:r>
              <a:rPr lang="zh-CN" altLang="en-US" sz="2800" dirty="0">
                <a:solidFill>
                  <a:srgbClr val="FF3300"/>
                </a:solidFill>
                <a:latin typeface="宋体" panose="02010600030101010101" pitchFamily="2" charset="-122"/>
              </a:rPr>
              <a:t>余数为</a:t>
            </a:r>
            <a:r>
              <a:rPr lang="en-US" altLang="zh-CN" sz="2800" dirty="0">
                <a:solidFill>
                  <a:srgbClr val="FF3300"/>
                </a:solidFill>
                <a:latin typeface="宋体" panose="02010600030101010101" pitchFamily="2" charset="-122"/>
                <a:cs typeface="Times New Roman" panose="02020603050405020304" pitchFamily="18" charset="0"/>
              </a:rPr>
              <a:t>1</a:t>
            </a:r>
            <a:endParaRPr lang="en-US" altLang="zh-CN" sz="2800" dirty="0">
              <a:solidFill>
                <a:srgbClr val="FF3300"/>
              </a:solidFill>
              <a:latin typeface="宋体" panose="02010600030101010101" pitchFamily="2" charset="-122"/>
              <a:cs typeface="Times New Roman" panose="02020603050405020304" pitchFamily="18" charset="0"/>
            </a:endParaRPr>
          </a:p>
          <a:p>
            <a:pPr algn="just">
              <a:lnSpc>
                <a:spcPct val="80000"/>
              </a:lnSpc>
            </a:pPr>
            <a:r>
              <a:rPr lang="en-US" altLang="zh-CN" sz="2800" dirty="0">
                <a:solidFill>
                  <a:srgbClr val="FF3300"/>
                </a:solidFill>
                <a:cs typeface="Times New Roman" panose="02020603050405020304" pitchFamily="18" charset="0"/>
              </a:rPr>
              <a:t>               </a:t>
            </a:r>
            <a:r>
              <a:rPr lang="en-US" altLang="zh-CN" sz="2800" dirty="0">
                <a:solidFill>
                  <a:srgbClr val="FF3300"/>
                </a:solidFill>
                <a:latin typeface="宋体" panose="02010600030101010101" pitchFamily="2" charset="-122"/>
                <a:cs typeface="Times New Roman" panose="02020603050405020304" pitchFamily="18" charset="0"/>
              </a:rPr>
              <a:t> M2</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2</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6,...</a:t>
            </a:r>
            <a:r>
              <a:rPr lang="zh-CN" altLang="en-US" sz="2800" dirty="0">
                <a:solidFill>
                  <a:srgbClr val="FF3300"/>
                </a:solidFill>
                <a:latin typeface="宋体" panose="02010600030101010101" pitchFamily="2" charset="-122"/>
              </a:rPr>
              <a:t>除以</a:t>
            </a:r>
            <a:r>
              <a:rPr lang="en-US" altLang="zh-CN" sz="2800" dirty="0">
                <a:solidFill>
                  <a:srgbClr val="FF3300"/>
                </a:solidFill>
                <a:latin typeface="宋体" panose="02010600030101010101" pitchFamily="2" charset="-122"/>
                <a:cs typeface="Times New Roman" panose="02020603050405020304" pitchFamily="18" charset="0"/>
              </a:rPr>
              <a:t>4</a:t>
            </a:r>
            <a:r>
              <a:rPr lang="zh-CN" altLang="en-US" sz="2800" dirty="0">
                <a:solidFill>
                  <a:srgbClr val="FF3300"/>
                </a:solidFill>
                <a:latin typeface="宋体" panose="02010600030101010101" pitchFamily="2" charset="-122"/>
              </a:rPr>
              <a:t>余数为</a:t>
            </a:r>
            <a:r>
              <a:rPr lang="en-US" altLang="zh-CN" sz="2800" dirty="0">
                <a:solidFill>
                  <a:srgbClr val="FF3300"/>
                </a:solidFill>
                <a:latin typeface="宋体" panose="02010600030101010101" pitchFamily="2" charset="-122"/>
                <a:cs typeface="Times New Roman" panose="02020603050405020304" pitchFamily="18" charset="0"/>
              </a:rPr>
              <a:t>2</a:t>
            </a:r>
            <a:endParaRPr lang="en-US" altLang="zh-CN" sz="2800" dirty="0">
              <a:solidFill>
                <a:srgbClr val="FF3300"/>
              </a:solidFill>
              <a:latin typeface="宋体" panose="02010600030101010101" pitchFamily="2" charset="-122"/>
              <a:cs typeface="Times New Roman" panose="02020603050405020304" pitchFamily="18" charset="0"/>
            </a:endParaRPr>
          </a:p>
          <a:p>
            <a:pPr algn="just">
              <a:lnSpc>
                <a:spcPct val="80000"/>
              </a:lnSpc>
            </a:pPr>
            <a:r>
              <a:rPr lang="en-US" altLang="zh-CN" sz="2800" dirty="0">
                <a:solidFill>
                  <a:srgbClr val="FF3300"/>
                </a:solidFill>
                <a:cs typeface="Times New Roman" panose="02020603050405020304" pitchFamily="18" charset="0"/>
              </a:rPr>
              <a:t>               </a:t>
            </a:r>
            <a:r>
              <a:rPr lang="en-US" altLang="zh-CN" sz="2800" dirty="0">
                <a:solidFill>
                  <a:srgbClr val="FF3300"/>
                </a:solidFill>
                <a:latin typeface="宋体" panose="02010600030101010101" pitchFamily="2" charset="-122"/>
                <a:cs typeface="Times New Roman" panose="02020603050405020304" pitchFamily="18" charset="0"/>
              </a:rPr>
              <a:t> M3</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3</a:t>
            </a:r>
            <a:r>
              <a:rPr lang="zh-CN" altLang="en-US" sz="2800" dirty="0">
                <a:solidFill>
                  <a:srgbClr val="FF3300"/>
                </a:solidFill>
                <a:latin typeface="宋体" panose="02010600030101010101" pitchFamily="2" charset="-122"/>
              </a:rPr>
              <a:t>，</a:t>
            </a:r>
            <a:r>
              <a:rPr lang="en-US" altLang="zh-CN" sz="2800" dirty="0">
                <a:solidFill>
                  <a:srgbClr val="FF3300"/>
                </a:solidFill>
                <a:latin typeface="宋体" panose="02010600030101010101" pitchFamily="2" charset="-122"/>
                <a:cs typeface="Times New Roman" panose="02020603050405020304" pitchFamily="18" charset="0"/>
              </a:rPr>
              <a:t>7,...</a:t>
            </a:r>
            <a:r>
              <a:rPr lang="zh-CN" altLang="en-US" sz="2800" dirty="0">
                <a:solidFill>
                  <a:srgbClr val="FF3300"/>
                </a:solidFill>
                <a:latin typeface="宋体" panose="02010600030101010101" pitchFamily="2" charset="-122"/>
              </a:rPr>
              <a:t>除以</a:t>
            </a:r>
            <a:r>
              <a:rPr lang="en-US" altLang="zh-CN" sz="2800" dirty="0">
                <a:solidFill>
                  <a:srgbClr val="FF3300"/>
                </a:solidFill>
                <a:latin typeface="宋体" panose="02010600030101010101" pitchFamily="2" charset="-122"/>
                <a:cs typeface="Times New Roman" panose="02020603050405020304" pitchFamily="18" charset="0"/>
              </a:rPr>
              <a:t>4</a:t>
            </a:r>
            <a:r>
              <a:rPr lang="zh-CN" altLang="en-US" sz="2800" dirty="0">
                <a:solidFill>
                  <a:srgbClr val="FF3300"/>
                </a:solidFill>
                <a:latin typeface="宋体" panose="02010600030101010101" pitchFamily="2" charset="-122"/>
              </a:rPr>
              <a:t>余数为</a:t>
            </a:r>
            <a:r>
              <a:rPr lang="en-US" altLang="zh-CN" sz="2800" dirty="0">
                <a:solidFill>
                  <a:srgbClr val="FF3300"/>
                </a:solidFill>
                <a:latin typeface="宋体" panose="02010600030101010101" pitchFamily="2" charset="-122"/>
                <a:cs typeface="Times New Roman" panose="02020603050405020304" pitchFamily="18" charset="0"/>
              </a:rPr>
              <a:t>3</a:t>
            </a:r>
            <a:endParaRPr lang="en-US" altLang="zh-CN" sz="2800" dirty="0">
              <a:solidFill>
                <a:srgbClr val="FF3300"/>
              </a:solidFill>
              <a:latin typeface="宋体" panose="02010600030101010101" pitchFamily="2" charset="-122"/>
              <a:cs typeface="Times New Roman" panose="02020603050405020304" pitchFamily="18" charset="0"/>
            </a:endParaRPr>
          </a:p>
          <a:p>
            <a:pPr algn="just">
              <a:lnSpc>
                <a:spcPct val="80000"/>
              </a:lnSpc>
            </a:pPr>
            <a:r>
              <a:rPr lang="en-US" altLang="zh-CN" sz="2800" dirty="0">
                <a:solidFill>
                  <a:srgbClr val="FF3300"/>
                </a:solidFill>
                <a:latin typeface="宋体" panose="02010600030101010101" pitchFamily="2" charset="-122"/>
                <a:cs typeface="Times New Roman" panose="02020603050405020304" pitchFamily="18" charset="0"/>
              </a:rPr>
              <a:t>5</a:t>
            </a:r>
            <a:r>
              <a:rPr lang="zh-CN" altLang="en-US" sz="2800" dirty="0">
                <a:solidFill>
                  <a:srgbClr val="FF3300"/>
                </a:solidFill>
                <a:latin typeface="宋体" panose="02010600030101010101" pitchFamily="2" charset="-122"/>
              </a:rPr>
              <a:t>位地址组织如下：</a:t>
            </a:r>
            <a:r>
              <a:rPr lang="en-US" altLang="zh-CN" sz="2800" dirty="0">
                <a:solidFill>
                  <a:srgbClr val="FF3300"/>
                </a:solidFill>
                <a:latin typeface="宋体" panose="02010600030101010101" pitchFamily="2" charset="-122"/>
                <a:cs typeface="Times New Roman" panose="02020603050405020304" pitchFamily="18" charset="0"/>
              </a:rPr>
              <a:t> X X X</a:t>
            </a:r>
            <a:r>
              <a:rPr lang="en-US" altLang="zh-CN" sz="2800" dirty="0">
                <a:solidFill>
                  <a:srgbClr val="FF3300"/>
                </a:solidFill>
                <a:cs typeface="Times New Roman" panose="02020603050405020304" pitchFamily="18" charset="0"/>
              </a:rPr>
              <a:t>   </a:t>
            </a:r>
            <a:r>
              <a:rPr lang="en-US" altLang="zh-CN" sz="2800" dirty="0">
                <a:solidFill>
                  <a:srgbClr val="FF3300"/>
                </a:solidFill>
                <a:latin typeface="宋体" panose="02010600030101010101" pitchFamily="2" charset="-122"/>
                <a:cs typeface="Times New Roman" panose="02020603050405020304" pitchFamily="18" charset="0"/>
              </a:rPr>
              <a:t> </a:t>
            </a:r>
            <a:r>
              <a:rPr lang="en-US" altLang="zh-CN" sz="2800" dirty="0">
                <a:solidFill>
                  <a:srgbClr val="0000FF"/>
                </a:solidFill>
                <a:latin typeface="宋体" panose="02010600030101010101" pitchFamily="2" charset="-122"/>
                <a:cs typeface="Times New Roman" panose="02020603050405020304" pitchFamily="18" charset="0"/>
              </a:rPr>
              <a:t>X X</a:t>
            </a:r>
            <a:endParaRPr lang="en-US" altLang="zh-CN" sz="2800" dirty="0">
              <a:solidFill>
                <a:srgbClr val="0000FF"/>
              </a:solidFill>
              <a:latin typeface="宋体" panose="02010600030101010101" pitchFamily="2" charset="-122"/>
              <a:cs typeface="Times New Roman" panose="02020603050405020304" pitchFamily="18" charset="0"/>
            </a:endParaRPr>
          </a:p>
          <a:p>
            <a:pPr algn="just">
              <a:lnSpc>
                <a:spcPct val="80000"/>
              </a:lnSpc>
            </a:pPr>
            <a:r>
              <a:rPr lang="zh-CN" altLang="en-US" sz="2800" dirty="0">
                <a:solidFill>
                  <a:srgbClr val="FF3300"/>
                </a:solidFill>
                <a:latin typeface="宋体" panose="02010600030101010101" pitchFamily="2" charset="-122"/>
              </a:rPr>
              <a:t>高位选块内地址，低位</a:t>
            </a:r>
            <a:r>
              <a:rPr lang="zh-CN" altLang="en-US" sz="2800" dirty="0">
                <a:solidFill>
                  <a:srgbClr val="0000FF"/>
                </a:solidFill>
                <a:latin typeface="宋体" panose="02010600030101010101" pitchFamily="2" charset="-122"/>
              </a:rPr>
              <a:t>选模块</a:t>
            </a:r>
            <a:endParaRPr lang="en-US" altLang="zh-CN" sz="2800" dirty="0">
              <a:solidFill>
                <a:srgbClr val="0000FF"/>
              </a:solidFill>
              <a:latin typeface="宋体" panose="02010600030101010101" pitchFamily="2" charset="-122"/>
            </a:endParaRPr>
          </a:p>
          <a:p>
            <a:pPr algn="just">
              <a:lnSpc>
                <a:spcPct val="80000"/>
              </a:lnSpc>
            </a:pPr>
            <a:r>
              <a:rPr lang="zh-CN" altLang="en-US" sz="2500" dirty="0"/>
              <a:t>特点：</a:t>
            </a:r>
            <a:r>
              <a:rPr lang="zh-CN" altLang="en-US" sz="2500" dirty="0">
                <a:solidFill>
                  <a:srgbClr val="0000FF"/>
                </a:solidFill>
              </a:rPr>
              <a:t>连续地址</a:t>
            </a:r>
            <a:r>
              <a:rPr lang="zh-CN" altLang="en-US" sz="2500" dirty="0"/>
              <a:t>分布在</a:t>
            </a:r>
            <a:r>
              <a:rPr lang="zh-CN" altLang="en-US" sz="2500" dirty="0">
                <a:solidFill>
                  <a:srgbClr val="0000FF"/>
                </a:solidFill>
              </a:rPr>
              <a:t>相邻的不同模块</a:t>
            </a:r>
            <a:r>
              <a:rPr lang="zh-CN" altLang="en-US" sz="2500" dirty="0"/>
              <a:t>内，同一个模块内的地址都是不连续的。</a:t>
            </a:r>
            <a:endParaRPr lang="en-US" altLang="zh-CN" sz="2500" dirty="0"/>
          </a:p>
          <a:p>
            <a:pPr algn="just">
              <a:lnSpc>
                <a:spcPct val="80000"/>
              </a:lnSpc>
            </a:pPr>
            <a:r>
              <a:rPr lang="zh-CN" altLang="en-US" sz="2500" dirty="0"/>
              <a:t>优点是对连续字的成块传送可实现多模块流水式并行存取，大大提高存储器的带宽。</a:t>
            </a:r>
            <a:endParaRPr lang="en-US" altLang="zh-CN" sz="2500" dirty="0"/>
          </a:p>
          <a:p>
            <a:pPr algn="just">
              <a:lnSpc>
                <a:spcPct val="80000"/>
              </a:lnSpc>
            </a:pPr>
            <a:r>
              <a:rPr lang="zh-CN" altLang="en-US" sz="2500" dirty="0"/>
              <a:t>使用场合为成批数据读取。</a:t>
            </a:r>
            <a:endParaRPr lang="zh-CN" altLang="en-US" sz="25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2"/>
          <p:cNvSpPr>
            <a:spLocks noGrp="1"/>
          </p:cNvSpPr>
          <p:nvPr>
            <p:ph type="title"/>
          </p:nvPr>
        </p:nvSpPr>
        <p:spPr>
          <a:xfrm>
            <a:off x="457200" y="-26987"/>
            <a:ext cx="8229600" cy="1371600"/>
          </a:xfrm>
        </p:spPr>
        <p:txBody>
          <a:bodyPr vert="horz" wrap="square" lIns="91440" tIns="45720" rIns="91440" bIns="45720" anchor="ctr" anchorCtr="0"/>
          <a:p>
            <a:r>
              <a:rPr lang="en-US" altLang="zh-CN" sz="3500" dirty="0">
                <a:cs typeface="Times New Roman" panose="02020603050405020304" pitchFamily="18" charset="0"/>
              </a:rPr>
              <a:t>3</a:t>
            </a:r>
            <a:r>
              <a:rPr lang="en-US" altLang="zh-CN" sz="3500" dirty="0"/>
              <a:t>.5.2   </a:t>
            </a:r>
            <a:r>
              <a:rPr lang="zh-CN" altLang="en-US" sz="3500" dirty="0"/>
              <a:t>并行存储器</a:t>
            </a:r>
            <a:endParaRPr lang="zh-CN" altLang="en-US" sz="3500" dirty="0"/>
          </a:p>
        </p:txBody>
      </p:sp>
      <p:pic>
        <p:nvPicPr>
          <p:cNvPr id="105475" name="Picture 4" descr="3a27">
            <a:hlinkClick r:id="rId1" action="ppaction://hlinkfile"/>
          </p:cNvPr>
          <p:cNvPicPr>
            <a:picLocks noChangeAspect="1"/>
          </p:cNvPicPr>
          <p:nvPr/>
        </p:nvPicPr>
        <p:blipFill>
          <a:blip r:embed="rId2"/>
          <a:stretch>
            <a:fillRect/>
          </a:stretch>
        </p:blipFill>
        <p:spPr>
          <a:xfrm>
            <a:off x="4752975" y="2565400"/>
            <a:ext cx="4211638" cy="3503613"/>
          </a:xfrm>
          <a:prstGeom prst="rect">
            <a:avLst/>
          </a:prstGeom>
          <a:noFill/>
          <a:ln w="9525">
            <a:noFill/>
          </a:ln>
        </p:spPr>
      </p:pic>
      <p:sp>
        <p:nvSpPr>
          <p:cNvPr id="105476" name="Rectangle 5"/>
          <p:cNvSpPr/>
          <p:nvPr/>
        </p:nvSpPr>
        <p:spPr>
          <a:xfrm>
            <a:off x="466725" y="1123950"/>
            <a:ext cx="7777163" cy="504825"/>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algn="just" eaLnBrk="1" hangingPunct="1">
              <a:lnSpc>
                <a:spcPct val="90000"/>
              </a:lnSpc>
              <a:buClr>
                <a:schemeClr val="tx2"/>
              </a:buClr>
              <a:buSzPct val="70000"/>
              <a:buNone/>
            </a:pPr>
            <a:r>
              <a:rPr lang="en-US" altLang="zh-CN" dirty="0">
                <a:solidFill>
                  <a:srgbClr val="0000FF"/>
                </a:solidFill>
                <a:cs typeface="Times New Roman" panose="02020603050405020304" pitchFamily="18" charset="0"/>
              </a:rPr>
              <a:t>3</a:t>
            </a:r>
            <a:r>
              <a:rPr lang="zh-CN" altLang="en-US" dirty="0">
                <a:solidFill>
                  <a:srgbClr val="0000FF"/>
                </a:solidFill>
                <a:cs typeface="Times New Roman" panose="02020603050405020304" pitchFamily="18" charset="0"/>
              </a:rPr>
              <a:t>、多模块交叉存储器的基本结构</a:t>
            </a:r>
            <a:endParaRPr lang="zh-CN" altLang="en-US" sz="2500" dirty="0">
              <a:ea typeface="Times New Roman" panose="02020603050405020304" pitchFamily="18" charset="0"/>
            </a:endParaRPr>
          </a:p>
        </p:txBody>
      </p:sp>
      <p:sp>
        <p:nvSpPr>
          <p:cNvPr id="105477" name="Rectangle 3"/>
          <p:cNvSpPr>
            <a:spLocks noGrp="1"/>
          </p:cNvSpPr>
          <p:nvPr>
            <p:ph idx="1"/>
          </p:nvPr>
        </p:nvSpPr>
        <p:spPr>
          <a:xfrm>
            <a:off x="144463" y="1773238"/>
            <a:ext cx="4643437" cy="4968875"/>
          </a:xfrm>
        </p:spPr>
        <p:txBody>
          <a:bodyPr vert="horz" wrap="square" lIns="91440" tIns="45720" rIns="91440" bIns="45720" anchor="t" anchorCtr="0"/>
          <a:p>
            <a:pPr algn="just">
              <a:lnSpc>
                <a:spcPct val="90000"/>
              </a:lnSpc>
              <a:buNone/>
            </a:pPr>
            <a:r>
              <a:rPr lang="en-US" altLang="zh-CN" sz="2500" dirty="0"/>
              <a:t>        </a:t>
            </a:r>
            <a:r>
              <a:rPr lang="zh-CN" altLang="en-US" sz="2500" dirty="0"/>
              <a:t>右图为四模块交叉存储器结构框图。</a:t>
            </a:r>
            <a:endParaRPr lang="en-US" altLang="zh-CN" sz="2500" dirty="0"/>
          </a:p>
          <a:p>
            <a:pPr algn="just">
              <a:lnSpc>
                <a:spcPct val="90000"/>
              </a:lnSpc>
              <a:buNone/>
            </a:pPr>
            <a:r>
              <a:rPr lang="en-US" altLang="zh-CN" sz="2500" dirty="0"/>
              <a:t>        </a:t>
            </a:r>
            <a:r>
              <a:rPr lang="zh-CN" altLang="en-US" sz="2500" dirty="0"/>
              <a:t>主存被分成</a:t>
            </a:r>
            <a:r>
              <a:rPr lang="en-US" altLang="zh-CN" sz="2500" dirty="0"/>
              <a:t>4</a:t>
            </a:r>
            <a:r>
              <a:rPr lang="zh-CN" altLang="en-US" sz="2500" dirty="0"/>
              <a:t>个相互独立、容量相同的模块</a:t>
            </a:r>
            <a:r>
              <a:rPr lang="en-US" altLang="zh-CN" sz="2500" dirty="0"/>
              <a:t>M0</a:t>
            </a:r>
            <a:r>
              <a:rPr lang="zh-CN" altLang="en-US" sz="2500" dirty="0"/>
              <a:t>，</a:t>
            </a:r>
            <a:r>
              <a:rPr lang="en-US" altLang="zh-CN" sz="2500" dirty="0"/>
              <a:t>M1</a:t>
            </a:r>
            <a:r>
              <a:rPr lang="zh-CN" altLang="en-US" sz="2500" dirty="0"/>
              <a:t>，</a:t>
            </a:r>
            <a:r>
              <a:rPr lang="en-US" altLang="zh-CN" sz="2500" dirty="0"/>
              <a:t>M2</a:t>
            </a:r>
            <a:r>
              <a:rPr lang="zh-CN" altLang="en-US" sz="2500" dirty="0"/>
              <a:t>，</a:t>
            </a:r>
            <a:r>
              <a:rPr lang="en-US" altLang="zh-CN" sz="2500" dirty="0"/>
              <a:t>M3</a:t>
            </a:r>
            <a:r>
              <a:rPr lang="zh-CN" altLang="en-US" sz="2500" dirty="0"/>
              <a:t>。</a:t>
            </a:r>
            <a:endParaRPr lang="en-US" altLang="zh-CN" sz="2500" dirty="0"/>
          </a:p>
          <a:p>
            <a:pPr algn="just">
              <a:lnSpc>
                <a:spcPct val="90000"/>
              </a:lnSpc>
              <a:buNone/>
            </a:pPr>
            <a:r>
              <a:rPr lang="en-US" altLang="zh-CN" sz="2500" dirty="0"/>
              <a:t>        </a:t>
            </a:r>
            <a:r>
              <a:rPr lang="zh-CN" altLang="en-US" sz="2500" dirty="0"/>
              <a:t>每个模块都有自己的读写控制电路、地址寄存器和数据寄存器，</a:t>
            </a:r>
            <a:r>
              <a:rPr lang="zh-CN" altLang="en-US" sz="2500" dirty="0">
                <a:solidFill>
                  <a:srgbClr val="0000FF"/>
                </a:solidFill>
              </a:rPr>
              <a:t>各自以等同的方式与</a:t>
            </a:r>
            <a:r>
              <a:rPr lang="en-US" altLang="zh-CN" sz="2500" dirty="0">
                <a:solidFill>
                  <a:srgbClr val="0000FF"/>
                </a:solidFill>
              </a:rPr>
              <a:t>CPU</a:t>
            </a:r>
            <a:r>
              <a:rPr lang="zh-CN" altLang="en-US" sz="2500" dirty="0">
                <a:solidFill>
                  <a:srgbClr val="0000FF"/>
                </a:solidFill>
              </a:rPr>
              <a:t>传送信息</a:t>
            </a:r>
            <a:r>
              <a:rPr lang="zh-CN" altLang="en-US" sz="2500" dirty="0"/>
              <a:t>。在理想情况下，如果程序段或数据块都是连续地在主存中存取，那么将大大提高主存的访问速度。</a:t>
            </a:r>
            <a:r>
              <a:rPr lang="en-US" altLang="zh-CN" sz="2500" dirty="0"/>
              <a:t> </a:t>
            </a:r>
            <a:endParaRPr lang="en-US" altLang="zh-CN" sz="25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3"/>
          <p:cNvSpPr>
            <a:spLocks noGrp="1"/>
          </p:cNvSpPr>
          <p:nvPr>
            <p:ph idx="1"/>
          </p:nvPr>
        </p:nvSpPr>
        <p:spPr>
          <a:xfrm>
            <a:off x="457200" y="765175"/>
            <a:ext cx="8229600" cy="3886200"/>
          </a:xfrm>
        </p:spPr>
        <p:txBody>
          <a:bodyPr vert="horz" wrap="square" lIns="91440" tIns="45720" rIns="91440" bIns="45720" anchor="t" anchorCtr="0"/>
          <a:p>
            <a:r>
              <a:rPr lang="en-US" altLang="zh-CN" sz="2400" dirty="0"/>
              <a:t>CPU</a:t>
            </a:r>
            <a:r>
              <a:rPr lang="zh-CN" altLang="en-US" sz="2400" dirty="0"/>
              <a:t>同时访问</a:t>
            </a:r>
            <a:r>
              <a:rPr lang="en-US" altLang="zh-CN" sz="2400" dirty="0"/>
              <a:t>4</a:t>
            </a:r>
            <a:r>
              <a:rPr lang="zh-CN" altLang="en-US" sz="2400" dirty="0"/>
              <a:t>个模块，由存储控制部件控制它们分时使用数据总线，进行信息传递。</a:t>
            </a:r>
            <a:endParaRPr lang="en-US" altLang="zh-CN" sz="2400" dirty="0"/>
          </a:p>
          <a:p>
            <a:r>
              <a:rPr lang="zh-CN" altLang="en-US" sz="2400" dirty="0"/>
              <a:t>对每个存储模块而言，从</a:t>
            </a:r>
            <a:r>
              <a:rPr lang="en-US" altLang="zh-CN" sz="2400" dirty="0"/>
              <a:t>CPU</a:t>
            </a:r>
            <a:r>
              <a:rPr lang="zh-CN" altLang="en-US" sz="2400" dirty="0"/>
              <a:t>给出访存指令到读出信息仍然使用了一个存取周期时间；</a:t>
            </a:r>
            <a:endParaRPr lang="en-US" altLang="zh-CN" sz="2400" dirty="0"/>
          </a:p>
          <a:p>
            <a:r>
              <a:rPr lang="zh-CN" altLang="en-US" sz="2400" dirty="0"/>
              <a:t>对</a:t>
            </a:r>
            <a:r>
              <a:rPr lang="en-US" altLang="zh-CN" sz="2400" dirty="0"/>
              <a:t>CPU</a:t>
            </a:r>
            <a:r>
              <a:rPr lang="zh-CN" altLang="en-US" sz="2400" dirty="0"/>
              <a:t>而言，它可以在一个存取周期内连续访问</a:t>
            </a:r>
            <a:r>
              <a:rPr lang="en-US" altLang="zh-CN" sz="2400" dirty="0"/>
              <a:t>4</a:t>
            </a:r>
            <a:r>
              <a:rPr lang="zh-CN" altLang="en-US" sz="2400" dirty="0"/>
              <a:t>个模块。各模块的读写过程将重叠进行。</a:t>
            </a:r>
            <a:endParaRPr lang="en-US" altLang="zh-CN" sz="2400" dirty="0"/>
          </a:p>
          <a:p>
            <a:r>
              <a:rPr lang="zh-CN" altLang="en-US" sz="2400" dirty="0"/>
              <a:t>因此，多模块交叉存储器是一种并行存储器结构。</a:t>
            </a:r>
            <a:endParaRPr lang="zh-CN" altLang="en-US" sz="2400" dirty="0"/>
          </a:p>
        </p:txBody>
      </p:sp>
      <p:sp>
        <p:nvSpPr>
          <p:cNvPr id="106499" name="Rectangle 4"/>
          <p:cNvSpPr>
            <a:spLocks noGrp="1"/>
          </p:cNvSpPr>
          <p:nvPr>
            <p:ph type="title"/>
          </p:nvPr>
        </p:nvSpPr>
        <p:spPr>
          <a:xfrm>
            <a:off x="457200" y="-100012"/>
            <a:ext cx="8229600" cy="1371600"/>
          </a:xfrm>
        </p:spPr>
        <p:txBody>
          <a:bodyPr vert="horz" wrap="square" lIns="91440" tIns="45720" rIns="91440" bIns="45720" anchor="ctr" anchorCtr="0"/>
          <a:p>
            <a:r>
              <a:rPr lang="en-US" altLang="zh-CN" dirty="0"/>
              <a:t>3.5.2   </a:t>
            </a:r>
            <a:r>
              <a:rPr lang="zh-CN" altLang="en-US" dirty="0"/>
              <a:t>并行存储器</a:t>
            </a:r>
            <a:endParaRPr lang="zh-CN" altLang="en-US" dirty="0"/>
          </a:p>
        </p:txBody>
      </p:sp>
      <p:pic>
        <p:nvPicPr>
          <p:cNvPr id="106500" name="Picture 28"/>
          <p:cNvPicPr>
            <a:picLocks noChangeAspect="1"/>
          </p:cNvPicPr>
          <p:nvPr/>
        </p:nvPicPr>
        <p:blipFill>
          <a:blip r:embed="rId1"/>
          <a:stretch>
            <a:fillRect/>
          </a:stretch>
        </p:blipFill>
        <p:spPr>
          <a:xfrm>
            <a:off x="2268538" y="3573463"/>
            <a:ext cx="4032250" cy="2659062"/>
          </a:xfrm>
          <a:prstGeom prst="rect">
            <a:avLst/>
          </a:prstGeom>
          <a:noFill/>
          <a:ln w="9525">
            <a:noFill/>
          </a:ln>
        </p:spPr>
      </p:pic>
      <p:pic>
        <p:nvPicPr>
          <p:cNvPr id="106501" name="Picture 11"/>
          <p:cNvPicPr>
            <a:picLocks noChangeAspect="1"/>
          </p:cNvPicPr>
          <p:nvPr/>
        </p:nvPicPr>
        <p:blipFill>
          <a:blip r:embed="rId2"/>
          <a:stretch>
            <a:fillRect/>
          </a:stretch>
        </p:blipFill>
        <p:spPr>
          <a:xfrm>
            <a:off x="2555875" y="6237288"/>
            <a:ext cx="3168650" cy="282575"/>
          </a:xfrm>
          <a:prstGeom prst="rect">
            <a:avLst/>
          </a:prstGeom>
          <a:noFill/>
          <a:ln w="9525">
            <a:noFill/>
          </a:ln>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2"/>
          <p:cNvSpPr>
            <a:spLocks noGrp="1"/>
          </p:cNvSpPr>
          <p:nvPr>
            <p:ph type="title"/>
          </p:nvPr>
        </p:nvSpPr>
        <p:spPr>
          <a:xfrm>
            <a:off x="468313" y="266700"/>
            <a:ext cx="7532687" cy="785813"/>
          </a:xfrm>
        </p:spPr>
        <p:txBody>
          <a:bodyPr vert="horz" wrap="square" lIns="91440" tIns="45720" rIns="91440" bIns="45720" anchor="ctr" anchorCtr="0"/>
          <a:p>
            <a:r>
              <a:rPr lang="en-US" altLang="zh-CN" sz="3500" dirty="0">
                <a:cs typeface="Times New Roman" panose="02020603050405020304" pitchFamily="18" charset="0"/>
              </a:rPr>
              <a:t>3</a:t>
            </a:r>
            <a:r>
              <a:rPr lang="en-US" altLang="zh-CN" sz="3500" dirty="0"/>
              <a:t>.5.2   </a:t>
            </a:r>
            <a:r>
              <a:rPr lang="zh-CN" altLang="en-US" sz="3500" dirty="0"/>
              <a:t>并行存储器</a:t>
            </a:r>
            <a:endParaRPr lang="zh-CN" altLang="en-US" sz="3500" dirty="0"/>
          </a:p>
        </p:txBody>
      </p:sp>
      <p:sp>
        <p:nvSpPr>
          <p:cNvPr id="107523" name="Rectangle 3"/>
          <p:cNvSpPr>
            <a:spLocks noGrp="1"/>
          </p:cNvSpPr>
          <p:nvPr>
            <p:ph type="body" sz="half" idx="1"/>
          </p:nvPr>
        </p:nvSpPr>
        <p:spPr>
          <a:xfrm>
            <a:off x="457200" y="1268413"/>
            <a:ext cx="8435975" cy="4862512"/>
          </a:xfrm>
        </p:spPr>
        <p:txBody>
          <a:bodyPr vert="horz" wrap="square" lIns="91440" tIns="45720" rIns="91440" bIns="45720" anchor="t" anchorCtr="0"/>
          <a:p>
            <a:pPr>
              <a:buClr>
                <a:schemeClr val="bg2"/>
              </a:buClr>
              <a:buSzPct val="75000"/>
              <a:buFont typeface="Wingdings" panose="05000000000000000000" pitchFamily="2" charset="2"/>
            </a:pPr>
            <a:r>
              <a:rPr lang="zh-CN" altLang="en-US" sz="2400" dirty="0"/>
              <a:t>通常在一个存储器周期内，</a:t>
            </a:r>
            <a:r>
              <a:rPr lang="en-US" altLang="zh-CN" sz="2400" dirty="0"/>
              <a:t>n</a:t>
            </a:r>
            <a:r>
              <a:rPr lang="zh-CN" altLang="en-US" sz="2400" dirty="0"/>
              <a:t>个存储体必须分时启动，则各个存储体的启动间隔为</a:t>
            </a:r>
            <a:r>
              <a:rPr lang="en-US" altLang="zh-CN" sz="2400" dirty="0"/>
              <a:t>             </a:t>
            </a:r>
            <a:r>
              <a:rPr lang="zh-CN" altLang="en-US" sz="2400" dirty="0"/>
              <a:t>（</a:t>
            </a:r>
            <a:r>
              <a:rPr lang="en-US" altLang="zh-CN" sz="2400" dirty="0"/>
              <a:t>n</a:t>
            </a:r>
            <a:r>
              <a:rPr lang="zh-CN" altLang="en-US" sz="2400" dirty="0"/>
              <a:t>为交叉存储模块数或交叉存取度）</a:t>
            </a:r>
            <a:endParaRPr lang="en-US" altLang="zh-CN" sz="2400" dirty="0"/>
          </a:p>
          <a:p>
            <a:pPr>
              <a:buClr>
                <a:schemeClr val="bg2"/>
              </a:buClr>
              <a:buSzPct val="75000"/>
              <a:buFont typeface="Wingdings" panose="05000000000000000000" pitchFamily="2" charset="2"/>
            </a:pPr>
            <a:r>
              <a:rPr lang="zh-CN" altLang="en-US" sz="2400" dirty="0"/>
              <a:t>整个存储器的存取速度有望提高</a:t>
            </a:r>
            <a:r>
              <a:rPr lang="en-US" altLang="zh-CN" sz="2400" dirty="0"/>
              <a:t>n</a:t>
            </a:r>
            <a:r>
              <a:rPr lang="zh-CN" altLang="en-US" sz="2400" dirty="0"/>
              <a:t>倍</a:t>
            </a:r>
            <a:endParaRPr lang="en-US" altLang="zh-CN" sz="2400" dirty="0"/>
          </a:p>
          <a:p>
            <a:pPr>
              <a:buClr>
                <a:schemeClr val="bg2"/>
              </a:buClr>
              <a:buSzPct val="75000"/>
              <a:buFont typeface="Wingdings" panose="05000000000000000000" pitchFamily="2" charset="2"/>
            </a:pPr>
            <a:r>
              <a:rPr lang="zh-CN" altLang="en-US" sz="2400" dirty="0"/>
              <a:t>总线传送周期为</a:t>
            </a:r>
            <a:endParaRPr lang="en-US" altLang="zh-CN" sz="2000" dirty="0"/>
          </a:p>
          <a:p>
            <a:pPr>
              <a:buClr>
                <a:schemeClr val="bg2"/>
              </a:buClr>
              <a:buSzPct val="75000"/>
              <a:buFont typeface="Wingdings" panose="05000000000000000000" pitchFamily="2" charset="2"/>
            </a:pPr>
            <a:endParaRPr lang="en-US" altLang="zh-CN" sz="2000" dirty="0"/>
          </a:p>
          <a:p>
            <a:pPr>
              <a:buClr>
                <a:schemeClr val="bg2"/>
              </a:buClr>
              <a:buSzPct val="75000"/>
              <a:buFont typeface="Wingdings" panose="05000000000000000000" pitchFamily="2" charset="2"/>
            </a:pPr>
            <a:endParaRPr lang="en-US" altLang="zh-CN" sz="2000" dirty="0"/>
          </a:p>
          <a:p>
            <a:pPr>
              <a:buClr>
                <a:schemeClr val="bg2"/>
              </a:buClr>
              <a:buSzPct val="75000"/>
              <a:buFont typeface="Wingdings" panose="05000000000000000000" pitchFamily="2" charset="2"/>
            </a:pPr>
            <a:r>
              <a:rPr lang="zh-CN" altLang="en-US" sz="2000" dirty="0"/>
              <a:t>连续读取</a:t>
            </a:r>
            <a:r>
              <a:rPr lang="en-US" altLang="zh-CN" sz="2000" dirty="0"/>
              <a:t>m</a:t>
            </a:r>
            <a:r>
              <a:rPr lang="zh-CN" altLang="en-US" sz="2000" dirty="0"/>
              <a:t>个字所需的时间为</a:t>
            </a:r>
            <a:r>
              <a:rPr lang="en-US" altLang="zh-CN" sz="2000" dirty="0"/>
              <a:t>t</a:t>
            </a:r>
            <a:r>
              <a:rPr lang="zh-CN" altLang="en-US" sz="2000" baseline="-25000" dirty="0"/>
              <a:t>交叉</a:t>
            </a:r>
            <a:endParaRPr lang="en-US" altLang="zh-CN" sz="2000" baseline="-25000" dirty="0"/>
          </a:p>
          <a:p>
            <a:pPr>
              <a:buClr>
                <a:schemeClr val="bg2"/>
              </a:buClr>
              <a:buSzPct val="75000"/>
              <a:buFont typeface="Wingdings" panose="05000000000000000000" pitchFamily="2" charset="2"/>
            </a:pPr>
            <a:r>
              <a:rPr lang="zh-CN" altLang="en-US" sz="2000" dirty="0"/>
              <a:t>而顺序存储器连续读取</a:t>
            </a:r>
            <a:r>
              <a:rPr lang="en-US" altLang="zh-CN" sz="2000" dirty="0"/>
              <a:t>m</a:t>
            </a:r>
            <a:r>
              <a:rPr lang="zh-CN" altLang="en-US" sz="2000" dirty="0"/>
              <a:t>个字</a:t>
            </a:r>
            <a:endParaRPr lang="en-US" altLang="zh-CN" sz="2000" dirty="0"/>
          </a:p>
          <a:p>
            <a:pPr>
              <a:buClr>
                <a:schemeClr val="bg2"/>
              </a:buClr>
              <a:buSzPct val="75000"/>
              <a:buFont typeface="Wingdings" panose="05000000000000000000" pitchFamily="2" charset="2"/>
              <a:buNone/>
            </a:pPr>
            <a:r>
              <a:rPr lang="en-US" altLang="zh-CN" sz="2000" dirty="0"/>
              <a:t>    </a:t>
            </a:r>
            <a:r>
              <a:rPr lang="zh-CN" altLang="en-US" sz="2000" dirty="0"/>
              <a:t>所需的时间为</a:t>
            </a:r>
            <a:r>
              <a:rPr lang="en-US" altLang="zh-CN" sz="2000" dirty="0"/>
              <a:t>t</a:t>
            </a:r>
            <a:r>
              <a:rPr lang="zh-CN" altLang="en-US" sz="2000" baseline="-25000" dirty="0"/>
              <a:t>顺序</a:t>
            </a:r>
            <a:endParaRPr lang="zh-CN" altLang="en-US" sz="2000" baseline="-25000" dirty="0"/>
          </a:p>
        </p:txBody>
      </p:sp>
      <p:graphicFrame>
        <p:nvGraphicFramePr>
          <p:cNvPr id="107524" name="Object 4"/>
          <p:cNvGraphicFramePr>
            <a:graphicFrameLocks noChangeAspect="1"/>
          </p:cNvGraphicFramePr>
          <p:nvPr/>
        </p:nvGraphicFramePr>
        <p:xfrm>
          <a:off x="3059113" y="2997200"/>
          <a:ext cx="304800" cy="334963"/>
        </p:xfrm>
        <a:graphic>
          <a:graphicData uri="http://schemas.openxmlformats.org/presentationml/2006/ole">
            <mc:AlternateContent xmlns:mc="http://schemas.openxmlformats.org/markup-compatibility/2006">
              <mc:Choice xmlns:v="urn:schemas-microsoft-com:vml" Requires="v">
                <p:oleObj spid="_x0000_s3081" name="" r:id="rId1" imgW="127000" imgH="139700" progId="Equation.3">
                  <p:embed/>
                </p:oleObj>
              </mc:Choice>
              <mc:Fallback>
                <p:oleObj name="" r:id="rId1" imgW="127000" imgH="139700" progId="Equation.3">
                  <p:embed/>
                  <p:pic>
                    <p:nvPicPr>
                      <p:cNvPr id="0" name="图片 3080"/>
                      <p:cNvPicPr/>
                      <p:nvPr/>
                    </p:nvPicPr>
                    <p:blipFill>
                      <a:blip r:embed="rId2"/>
                      <a:stretch>
                        <a:fillRect/>
                      </a:stretch>
                    </p:blipFill>
                    <p:spPr>
                      <a:xfrm>
                        <a:off x="3059113" y="2997200"/>
                        <a:ext cx="304800" cy="334963"/>
                      </a:xfrm>
                      <a:prstGeom prst="rect">
                        <a:avLst/>
                      </a:prstGeom>
                      <a:noFill/>
                      <a:ln w="38100">
                        <a:noFill/>
                        <a:miter/>
                      </a:ln>
                    </p:spPr>
                  </p:pic>
                </p:oleObj>
              </mc:Fallback>
            </mc:AlternateContent>
          </a:graphicData>
        </a:graphic>
      </p:graphicFrame>
      <p:graphicFrame>
        <p:nvGraphicFramePr>
          <p:cNvPr id="107525" name="Object 5"/>
          <p:cNvGraphicFramePr>
            <a:graphicFrameLocks noChangeAspect="1"/>
          </p:cNvGraphicFramePr>
          <p:nvPr/>
        </p:nvGraphicFramePr>
        <p:xfrm>
          <a:off x="585788" y="5149850"/>
          <a:ext cx="4225925" cy="1155700"/>
        </p:xfrm>
        <a:graphic>
          <a:graphicData uri="http://schemas.openxmlformats.org/presentationml/2006/ole">
            <mc:AlternateContent xmlns:mc="http://schemas.openxmlformats.org/markup-compatibility/2006">
              <mc:Choice xmlns:v="urn:schemas-microsoft-com:vml" Requires="v">
                <p:oleObj spid="_x0000_s3082" name="" r:id="rId3" imgW="2019300" imgH="635000" progId="Equation.3">
                  <p:embed/>
                </p:oleObj>
              </mc:Choice>
              <mc:Fallback>
                <p:oleObj name="" r:id="rId3" imgW="2019300" imgH="635000" progId="Equation.3">
                  <p:embed/>
                  <p:pic>
                    <p:nvPicPr>
                      <p:cNvPr id="0" name="图片 3081"/>
                      <p:cNvPicPr/>
                      <p:nvPr/>
                    </p:nvPicPr>
                    <p:blipFill>
                      <a:blip r:embed="rId4"/>
                      <a:stretch>
                        <a:fillRect/>
                      </a:stretch>
                    </p:blipFill>
                    <p:spPr>
                      <a:xfrm>
                        <a:off x="585788" y="5149850"/>
                        <a:ext cx="4225925" cy="1155700"/>
                      </a:xfrm>
                      <a:prstGeom prst="rect">
                        <a:avLst/>
                      </a:prstGeom>
                      <a:noFill/>
                      <a:ln w="38100">
                        <a:noFill/>
                        <a:miter/>
                      </a:ln>
                    </p:spPr>
                  </p:pic>
                </p:oleObj>
              </mc:Fallback>
            </mc:AlternateContent>
          </a:graphicData>
        </a:graphic>
      </p:graphicFrame>
      <p:graphicFrame>
        <p:nvGraphicFramePr>
          <p:cNvPr id="107526" name="Object 23"/>
          <p:cNvGraphicFramePr>
            <a:graphicFrameLocks noChangeAspect="1"/>
          </p:cNvGraphicFramePr>
          <p:nvPr>
            <p:ph sz="half" idx="2"/>
          </p:nvPr>
        </p:nvGraphicFramePr>
        <p:xfrm>
          <a:off x="3995738" y="1692275"/>
          <a:ext cx="1079500" cy="373063"/>
        </p:xfrm>
        <a:graphic>
          <a:graphicData uri="http://schemas.openxmlformats.org/presentationml/2006/ole">
            <mc:AlternateContent xmlns:mc="http://schemas.openxmlformats.org/markup-compatibility/2006">
              <mc:Choice xmlns:v="urn:schemas-microsoft-com:vml" Requires="v">
                <p:oleObj spid="_x0000_s3080" name="" r:id="rId5" imgW="532765" imgH="177800" progId="Equation.3">
                  <p:embed/>
                </p:oleObj>
              </mc:Choice>
              <mc:Fallback>
                <p:oleObj name="" r:id="rId5" imgW="532765" imgH="177800" progId="Equation.3">
                  <p:embed/>
                  <p:pic>
                    <p:nvPicPr>
                      <p:cNvPr id="0" name="图片 3079"/>
                      <p:cNvPicPr/>
                      <p:nvPr/>
                    </p:nvPicPr>
                    <p:blipFill>
                      <a:blip r:embed="rId6"/>
                      <a:srcRect/>
                      <a:stretch>
                        <a:fillRect/>
                      </a:stretch>
                    </p:blipFill>
                    <p:spPr>
                      <a:xfrm>
                        <a:off x="3995738" y="1692275"/>
                        <a:ext cx="1079500" cy="373063"/>
                      </a:xfrm>
                      <a:prstGeom prst="rect">
                        <a:avLst/>
                      </a:prstGeom>
                      <a:noFill/>
                      <a:ln w="38100">
                        <a:miter/>
                      </a:ln>
                    </p:spPr>
                  </p:pic>
                </p:oleObj>
              </mc:Fallback>
            </mc:AlternateContent>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2"/>
          <p:cNvSpPr>
            <a:spLocks noGrp="1"/>
          </p:cNvSpPr>
          <p:nvPr>
            <p:ph type="title"/>
          </p:nvPr>
        </p:nvSpPr>
        <p:spPr>
          <a:xfrm>
            <a:off x="973138" y="476250"/>
            <a:ext cx="7127875" cy="1943100"/>
          </a:xfrm>
        </p:spPr>
        <p:txBody>
          <a:bodyPr vert="horz" wrap="square" lIns="91440" tIns="45720" rIns="91440" bIns="45720" anchor="ctr" anchorCtr="0"/>
          <a:p>
            <a:r>
              <a:rPr lang="zh-CN" altLang="en-US" sz="2400" dirty="0">
                <a:solidFill>
                  <a:srgbClr val="0000FF"/>
                </a:solidFill>
              </a:rPr>
              <a:t>例</a:t>
            </a:r>
            <a:r>
              <a:rPr lang="en-US" altLang="zh-CN" sz="2400" dirty="0">
                <a:solidFill>
                  <a:srgbClr val="0000FF"/>
                </a:solidFill>
              </a:rPr>
              <a:t>5 </a:t>
            </a:r>
            <a:r>
              <a:rPr lang="zh-CN" altLang="en-US" sz="2400" dirty="0">
                <a:solidFill>
                  <a:srgbClr val="0000FF"/>
                </a:solidFill>
              </a:rPr>
              <a:t>设存储器容量为</a:t>
            </a:r>
            <a:r>
              <a:rPr lang="en-US" altLang="zh-CN" sz="2400" dirty="0">
                <a:solidFill>
                  <a:srgbClr val="0000FF"/>
                </a:solidFill>
              </a:rPr>
              <a:t>32</a:t>
            </a:r>
            <a:r>
              <a:rPr lang="zh-CN" altLang="en-US" sz="2400" dirty="0">
                <a:solidFill>
                  <a:srgbClr val="0000FF"/>
                </a:solidFill>
              </a:rPr>
              <a:t>字，字长</a:t>
            </a:r>
            <a:r>
              <a:rPr lang="en-US" altLang="zh-CN" sz="2400" dirty="0">
                <a:solidFill>
                  <a:srgbClr val="0000FF"/>
                </a:solidFill>
              </a:rPr>
              <a:t>64</a:t>
            </a:r>
            <a:r>
              <a:rPr lang="zh-CN" altLang="en-US" sz="2400" dirty="0">
                <a:solidFill>
                  <a:srgbClr val="0000FF"/>
                </a:solidFill>
              </a:rPr>
              <a:t>位，模块数</a:t>
            </a:r>
            <a:r>
              <a:rPr lang="en-US" altLang="zh-CN" sz="2400" dirty="0">
                <a:solidFill>
                  <a:srgbClr val="0000FF"/>
                </a:solidFill>
              </a:rPr>
              <a:t>m=4</a:t>
            </a:r>
            <a:r>
              <a:rPr lang="zh-CN" altLang="en-US" sz="2400" dirty="0">
                <a:solidFill>
                  <a:srgbClr val="0000FF"/>
                </a:solidFill>
              </a:rPr>
              <a:t>，分别用顺序方式和交叉方式进行组织。存储周期</a:t>
            </a:r>
            <a:r>
              <a:rPr lang="en-US" altLang="zh-CN" sz="2400" dirty="0">
                <a:solidFill>
                  <a:srgbClr val="0000FF"/>
                </a:solidFill>
              </a:rPr>
              <a:t>T=200ns</a:t>
            </a:r>
            <a:r>
              <a:rPr lang="zh-CN" altLang="en-US" sz="2400" dirty="0">
                <a:solidFill>
                  <a:srgbClr val="0000FF"/>
                </a:solidFill>
              </a:rPr>
              <a:t>，数据总线宽度为</a:t>
            </a:r>
            <a:r>
              <a:rPr lang="en-US" altLang="zh-CN" sz="2400" dirty="0">
                <a:solidFill>
                  <a:srgbClr val="0000FF"/>
                </a:solidFill>
              </a:rPr>
              <a:t>64</a:t>
            </a:r>
            <a:r>
              <a:rPr lang="zh-CN" altLang="en-US" sz="2400" dirty="0">
                <a:solidFill>
                  <a:srgbClr val="0000FF"/>
                </a:solidFill>
              </a:rPr>
              <a:t>位，总线传送周期</a:t>
            </a:r>
            <a:r>
              <a:rPr lang="en-US" altLang="zh-CN" sz="2400" dirty="0">
                <a:solidFill>
                  <a:srgbClr val="0000FF"/>
                </a:solidFill>
              </a:rPr>
              <a:t>=50ns</a:t>
            </a:r>
            <a:r>
              <a:rPr lang="zh-CN" altLang="en-US" sz="2400" dirty="0">
                <a:solidFill>
                  <a:srgbClr val="0000FF"/>
                </a:solidFill>
              </a:rPr>
              <a:t>。若连续读出</a:t>
            </a:r>
            <a:r>
              <a:rPr lang="en-US" altLang="zh-CN" sz="2400" dirty="0">
                <a:solidFill>
                  <a:srgbClr val="0000FF"/>
                </a:solidFill>
              </a:rPr>
              <a:t>4</a:t>
            </a:r>
            <a:r>
              <a:rPr lang="zh-CN" altLang="en-US" sz="2400" dirty="0">
                <a:solidFill>
                  <a:srgbClr val="0000FF"/>
                </a:solidFill>
              </a:rPr>
              <a:t>个字，问顺序存储器和交叉存储器的带宽各是多少</a:t>
            </a:r>
            <a:r>
              <a:rPr lang="en-US" altLang="zh-CN" sz="2400" dirty="0">
                <a:solidFill>
                  <a:srgbClr val="0000FF"/>
                </a:solidFill>
              </a:rPr>
              <a:t>?</a:t>
            </a:r>
            <a:endParaRPr lang="en-US" altLang="zh-CN" sz="2400" dirty="0">
              <a:solidFill>
                <a:srgbClr val="0000FF"/>
              </a:solidFill>
            </a:endParaRPr>
          </a:p>
        </p:txBody>
      </p:sp>
      <p:sp>
        <p:nvSpPr>
          <p:cNvPr id="108547" name="Rectangle 3"/>
          <p:cNvSpPr>
            <a:spLocks noGrp="1"/>
          </p:cNvSpPr>
          <p:nvPr>
            <p:ph idx="1"/>
          </p:nvPr>
        </p:nvSpPr>
        <p:spPr>
          <a:xfrm>
            <a:off x="590550" y="2420938"/>
            <a:ext cx="8229600" cy="4248150"/>
          </a:xfrm>
        </p:spPr>
        <p:txBody>
          <a:bodyPr vert="horz" wrap="square" lIns="91440" tIns="45720" rIns="91440" bIns="45720" anchor="t" anchorCtr="0"/>
          <a:p>
            <a:pPr>
              <a:lnSpc>
                <a:spcPct val="90000"/>
              </a:lnSpc>
              <a:buNone/>
            </a:pPr>
            <a:r>
              <a:rPr lang="zh-CN" altLang="en-US" sz="2600" dirty="0"/>
              <a:t>解：顺序存储器和交叉存储器连续读出</a:t>
            </a:r>
            <a:r>
              <a:rPr lang="en-US" altLang="zh-CN" sz="2600" dirty="0"/>
              <a:t>m=4</a:t>
            </a:r>
            <a:r>
              <a:rPr lang="zh-CN" altLang="en-US" sz="2600" dirty="0"/>
              <a:t>个字的信息总量都是：</a:t>
            </a:r>
            <a:r>
              <a:rPr lang="en-US" altLang="zh-CN" sz="2600" dirty="0"/>
              <a:t></a:t>
            </a:r>
            <a:endParaRPr lang="en-US" altLang="zh-CN" sz="2600" dirty="0"/>
          </a:p>
          <a:p>
            <a:pPr>
              <a:lnSpc>
                <a:spcPct val="90000"/>
              </a:lnSpc>
              <a:buNone/>
            </a:pPr>
            <a:r>
              <a:rPr lang="en-US" altLang="zh-CN" sz="2600" dirty="0"/>
              <a:t>			q=64b×4=256b</a:t>
            </a:r>
            <a:endParaRPr lang="en-US" altLang="zh-CN" sz="2600" dirty="0"/>
          </a:p>
          <a:p>
            <a:pPr>
              <a:lnSpc>
                <a:spcPct val="90000"/>
              </a:lnSpc>
              <a:buNone/>
            </a:pPr>
            <a:r>
              <a:rPr lang="zh-CN" altLang="en-US" sz="2600" dirty="0"/>
              <a:t>顺序存储器</a:t>
            </a:r>
            <a:r>
              <a:rPr lang="en-US" altLang="zh-CN" sz="2600" dirty="0"/>
              <a:t>t</a:t>
            </a:r>
            <a:r>
              <a:rPr lang="en-US" altLang="zh-CN" sz="2600" baseline="-25000" dirty="0"/>
              <a:t>2</a:t>
            </a:r>
            <a:r>
              <a:rPr lang="zh-CN" altLang="en-US" sz="2600" dirty="0"/>
              <a:t>和交叉存储器</a:t>
            </a:r>
            <a:r>
              <a:rPr lang="en-US" altLang="zh-CN" sz="2600" dirty="0"/>
              <a:t>t</a:t>
            </a:r>
            <a:r>
              <a:rPr lang="en-US" altLang="zh-CN" sz="2600" baseline="-25000" dirty="0"/>
              <a:t>1</a:t>
            </a:r>
            <a:r>
              <a:rPr lang="zh-CN" altLang="en-US" sz="2600" dirty="0"/>
              <a:t>连续读出</a:t>
            </a:r>
            <a:r>
              <a:rPr lang="en-US" altLang="zh-CN" sz="2600" dirty="0"/>
              <a:t>4</a:t>
            </a:r>
            <a:r>
              <a:rPr lang="zh-CN" altLang="en-US" sz="2600" dirty="0"/>
              <a:t>个字所需的时间分别是：</a:t>
            </a:r>
            <a:r>
              <a:rPr lang="en-US" altLang="zh-CN" sz="2600" dirty="0"/>
              <a:t></a:t>
            </a:r>
            <a:endParaRPr lang="en-US" altLang="zh-CN" sz="2600" dirty="0"/>
          </a:p>
          <a:p>
            <a:pPr>
              <a:lnSpc>
                <a:spcPct val="90000"/>
              </a:lnSpc>
              <a:buNone/>
            </a:pPr>
            <a:r>
              <a:rPr lang="en-US" altLang="zh-CN" sz="2600" dirty="0"/>
              <a:t>t</a:t>
            </a:r>
            <a:r>
              <a:rPr lang="en-US" altLang="zh-CN" sz="2600" baseline="-25000" dirty="0"/>
              <a:t>2</a:t>
            </a:r>
            <a:r>
              <a:rPr lang="en-US" altLang="zh-CN" sz="2600" dirty="0"/>
              <a:t>=m*T=4×200ns=800ns=8×10</a:t>
            </a:r>
            <a:r>
              <a:rPr lang="en-US" altLang="zh-CN" sz="2600" baseline="30000" dirty="0"/>
              <a:t>-7</a:t>
            </a:r>
            <a:r>
              <a:rPr lang="en-US" altLang="zh-CN" sz="2600" dirty="0"/>
              <a:t>s</a:t>
            </a:r>
            <a:endParaRPr lang="en-US" altLang="zh-CN" sz="2600" dirty="0"/>
          </a:p>
          <a:p>
            <a:pPr>
              <a:lnSpc>
                <a:spcPct val="90000"/>
              </a:lnSpc>
              <a:buNone/>
            </a:pPr>
            <a:r>
              <a:rPr lang="en-US" altLang="zh-CN" sz="2600" dirty="0"/>
              <a:t>t</a:t>
            </a:r>
            <a:r>
              <a:rPr lang="en-US" altLang="zh-CN" sz="2600" baseline="-25000" dirty="0"/>
              <a:t>1</a:t>
            </a:r>
            <a:r>
              <a:rPr lang="en-US" altLang="zh-CN" sz="2600" dirty="0"/>
              <a:t>=T+(m-1)   =200ns+150ns=350ns=3.5×10</a:t>
            </a:r>
            <a:r>
              <a:rPr lang="en-US" altLang="zh-CN" sz="2600" baseline="30000" dirty="0"/>
              <a:t>-7</a:t>
            </a:r>
            <a:r>
              <a:rPr lang="en-US" altLang="zh-CN" sz="2600" dirty="0"/>
              <a:t>s</a:t>
            </a:r>
            <a:endParaRPr lang="en-US" altLang="zh-CN" sz="2600" dirty="0"/>
          </a:p>
          <a:p>
            <a:pPr>
              <a:lnSpc>
                <a:spcPct val="90000"/>
              </a:lnSpc>
              <a:buNone/>
            </a:pPr>
            <a:r>
              <a:rPr lang="zh-CN" altLang="en-US" sz="2600" dirty="0"/>
              <a:t>顺序存储器和交叉存储器的带宽分别是：</a:t>
            </a:r>
            <a:endParaRPr lang="en-US" altLang="zh-CN" sz="2600" dirty="0"/>
          </a:p>
          <a:p>
            <a:pPr>
              <a:lnSpc>
                <a:spcPct val="90000"/>
              </a:lnSpc>
              <a:buNone/>
            </a:pPr>
            <a:r>
              <a:rPr lang="en-US" altLang="zh-CN" sz="2600" dirty="0"/>
              <a:t>W</a:t>
            </a:r>
            <a:r>
              <a:rPr lang="en-US" altLang="zh-CN" sz="2600" baseline="-25000" dirty="0"/>
              <a:t>2</a:t>
            </a:r>
            <a:r>
              <a:rPr lang="en-US" altLang="zh-CN" sz="2600" dirty="0"/>
              <a:t>=q/t</a:t>
            </a:r>
            <a:r>
              <a:rPr lang="en-US" altLang="zh-CN" sz="2600" baseline="-25000" dirty="0"/>
              <a:t>2</a:t>
            </a:r>
            <a:r>
              <a:rPr lang="en-US" altLang="zh-CN" sz="2600" dirty="0"/>
              <a:t>=256b÷(8×10</a:t>
            </a:r>
            <a:r>
              <a:rPr lang="en-US" altLang="zh-CN" sz="2600" baseline="30000" dirty="0"/>
              <a:t>-7</a:t>
            </a:r>
            <a:r>
              <a:rPr lang="en-US" altLang="zh-CN" sz="2600" dirty="0"/>
              <a:t>)s=320Mb/s</a:t>
            </a:r>
            <a:endParaRPr lang="en-US" altLang="zh-CN" sz="2600" dirty="0"/>
          </a:p>
          <a:p>
            <a:pPr>
              <a:lnSpc>
                <a:spcPct val="90000"/>
              </a:lnSpc>
              <a:buNone/>
            </a:pPr>
            <a:r>
              <a:rPr lang="en-US" altLang="zh-CN" sz="2600" dirty="0"/>
              <a:t>W</a:t>
            </a:r>
            <a:r>
              <a:rPr lang="en-US" altLang="zh-CN" sz="2600" baseline="-25000" dirty="0"/>
              <a:t>1</a:t>
            </a:r>
            <a:r>
              <a:rPr lang="en-US" altLang="zh-CN" sz="2600" dirty="0"/>
              <a:t>=q/t</a:t>
            </a:r>
            <a:r>
              <a:rPr lang="en-US" altLang="zh-CN" sz="2600" baseline="-25000" dirty="0"/>
              <a:t>1</a:t>
            </a:r>
            <a:r>
              <a:rPr lang="en-US" altLang="zh-CN" sz="2600" dirty="0"/>
              <a:t>=256b÷(3.5×10</a:t>
            </a:r>
            <a:r>
              <a:rPr lang="en-US" altLang="zh-CN" sz="2600" baseline="30000" dirty="0"/>
              <a:t>-7</a:t>
            </a:r>
            <a:r>
              <a:rPr lang="en-US" altLang="zh-CN" sz="2600" dirty="0"/>
              <a:t>)s=730Mb/s</a:t>
            </a:r>
            <a:endParaRPr lang="en-US" altLang="zh-CN" sz="2600" dirty="0"/>
          </a:p>
        </p:txBody>
      </p:sp>
      <p:pic>
        <p:nvPicPr>
          <p:cNvPr id="108548" name="Picture 6"/>
          <p:cNvPicPr>
            <a:picLocks noChangeAspect="1"/>
          </p:cNvPicPr>
          <p:nvPr/>
        </p:nvPicPr>
        <p:blipFill>
          <a:blip r:embed="rId1"/>
          <a:stretch>
            <a:fillRect/>
          </a:stretch>
        </p:blipFill>
        <p:spPr>
          <a:xfrm>
            <a:off x="2268538" y="4954588"/>
            <a:ext cx="304800" cy="333375"/>
          </a:xfrm>
          <a:prstGeom prst="rect">
            <a:avLst/>
          </a:prstGeom>
          <a:noFill/>
          <a:ln w="9525">
            <a:noFill/>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9570" name="Picture 2" descr="3a29">
            <a:hlinkClick r:id="rId1" action="ppaction://hlinkfile"/>
          </p:cNvPr>
          <p:cNvPicPr>
            <a:picLocks noChangeAspect="1"/>
          </p:cNvPicPr>
          <p:nvPr/>
        </p:nvPicPr>
        <p:blipFill>
          <a:blip r:embed="rId2"/>
          <a:stretch>
            <a:fillRect/>
          </a:stretch>
        </p:blipFill>
        <p:spPr>
          <a:xfrm>
            <a:off x="107950" y="1052513"/>
            <a:ext cx="8064500" cy="5141912"/>
          </a:xfrm>
          <a:prstGeom prst="rect">
            <a:avLst/>
          </a:prstGeom>
          <a:noFill/>
          <a:ln w="9525">
            <a:noFill/>
          </a:ln>
        </p:spPr>
      </p:pic>
      <p:sp>
        <p:nvSpPr>
          <p:cNvPr id="109571" name="Rectangle 3"/>
          <p:cNvSpPr>
            <a:spLocks noGrp="1"/>
          </p:cNvSpPr>
          <p:nvPr>
            <p:ph type="title"/>
          </p:nvPr>
        </p:nvSpPr>
        <p:spPr>
          <a:xfrm>
            <a:off x="457200" y="188913"/>
            <a:ext cx="8229600" cy="1371600"/>
          </a:xfrm>
        </p:spPr>
        <p:txBody>
          <a:bodyPr vert="horz" wrap="square" lIns="91440" tIns="45720" rIns="91440" bIns="45720" anchor="ctr" anchorCtr="0"/>
          <a:p>
            <a:r>
              <a:rPr lang="zh-CN" altLang="en-US" dirty="0"/>
              <a:t>二模块交叉存储器举例</a:t>
            </a:r>
            <a:endParaRPr lang="zh-CN" altLang="en-US" dirty="0"/>
          </a:p>
        </p:txBody>
      </p:sp>
      <p:sp>
        <p:nvSpPr>
          <p:cNvPr id="109572" name="Text Box 5"/>
          <p:cNvSpPr txBox="1"/>
          <p:nvPr/>
        </p:nvSpPr>
        <p:spPr>
          <a:xfrm>
            <a:off x="1331913" y="6092825"/>
            <a:ext cx="1055687" cy="369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1800" dirty="0">
                <a:solidFill>
                  <a:srgbClr val="FF3300"/>
                </a:solidFill>
              </a:rPr>
              <a:t>（</a:t>
            </a:r>
            <a:r>
              <a:rPr lang="en-US" altLang="zh-CN" sz="1800" dirty="0">
                <a:solidFill>
                  <a:srgbClr val="0000FF"/>
                </a:solidFill>
              </a:rPr>
              <a:t>P89</a:t>
            </a:r>
            <a:r>
              <a:rPr lang="zh-CN" altLang="en-US" sz="1800" dirty="0">
                <a:solidFill>
                  <a:srgbClr val="FF3300"/>
                </a:solidFill>
              </a:rPr>
              <a:t>）</a:t>
            </a:r>
            <a:endParaRPr lang="zh-CN" altLang="en-US" sz="1800" dirty="0">
              <a:solidFill>
                <a:srgbClr val="FF3300"/>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0594" name="Picture 2" descr="3a30">
            <a:hlinkClick r:id="rId1" action="ppaction://hlinkfile"/>
          </p:cNvPr>
          <p:cNvPicPr>
            <a:picLocks noChangeAspect="1"/>
          </p:cNvPicPr>
          <p:nvPr/>
        </p:nvPicPr>
        <p:blipFill>
          <a:blip r:embed="rId2"/>
          <a:stretch>
            <a:fillRect/>
          </a:stretch>
        </p:blipFill>
        <p:spPr>
          <a:xfrm>
            <a:off x="0" y="2795588"/>
            <a:ext cx="8785225" cy="2720975"/>
          </a:xfrm>
          <a:prstGeom prst="rect">
            <a:avLst/>
          </a:prstGeom>
          <a:noFill/>
          <a:ln w="9525">
            <a:noFill/>
          </a:ln>
        </p:spPr>
      </p:pic>
      <p:sp>
        <p:nvSpPr>
          <p:cNvPr id="110595" name="Rectangle 3"/>
          <p:cNvSpPr>
            <a:spLocks noGrp="1"/>
          </p:cNvSpPr>
          <p:nvPr>
            <p:ph type="title"/>
          </p:nvPr>
        </p:nvSpPr>
        <p:spPr/>
        <p:txBody>
          <a:bodyPr vert="horz" wrap="square" lIns="91440" tIns="45720" rIns="91440" bIns="45720" anchor="ctr" anchorCtr="0"/>
          <a:p>
            <a:r>
              <a:rPr lang="zh-CN" altLang="en-US" dirty="0"/>
              <a:t>二模块交叉存储器举例</a:t>
            </a:r>
            <a:endParaRPr lang="zh-CN" altLang="en-US" dirty="0"/>
          </a:p>
        </p:txBody>
      </p:sp>
      <p:sp>
        <p:nvSpPr>
          <p:cNvPr id="110596" name="Text Box 6"/>
          <p:cNvSpPr txBox="1"/>
          <p:nvPr/>
        </p:nvSpPr>
        <p:spPr>
          <a:xfrm>
            <a:off x="2051050" y="5564188"/>
            <a:ext cx="5132388"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b="1" dirty="0"/>
              <a:t>图</a:t>
            </a:r>
            <a:r>
              <a:rPr lang="en-US" altLang="zh-CN" sz="2400" b="1" dirty="0"/>
              <a:t>3.30 </a:t>
            </a:r>
            <a:r>
              <a:rPr lang="zh-CN" altLang="en-US" sz="2400" b="1" dirty="0"/>
              <a:t>无等待状态成块存取示意图</a:t>
            </a:r>
            <a:endParaRPr lang="zh-CN" altLang="en-US" sz="2400" b="1" dirty="0"/>
          </a:p>
        </p:txBody>
      </p:sp>
      <p:sp>
        <p:nvSpPr>
          <p:cNvPr id="110597" name="Text Box 7"/>
          <p:cNvSpPr txBox="1"/>
          <p:nvPr/>
        </p:nvSpPr>
        <p:spPr>
          <a:xfrm>
            <a:off x="684213" y="1268413"/>
            <a:ext cx="7921625" cy="15541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dirty="0">
                <a:solidFill>
                  <a:srgbClr val="0000FF"/>
                </a:solidFill>
              </a:rPr>
              <a:t>采用</a:t>
            </a:r>
            <a:r>
              <a:rPr lang="en-US" altLang="zh-CN" dirty="0">
                <a:solidFill>
                  <a:srgbClr val="0000FF"/>
                </a:solidFill>
              </a:rPr>
              <a:t>m=2</a:t>
            </a:r>
            <a:r>
              <a:rPr lang="zh-CN" altLang="en-US" dirty="0">
                <a:solidFill>
                  <a:srgbClr val="0000FF"/>
                </a:solidFill>
              </a:rPr>
              <a:t>的交叉存取度的成块传送，两个连续地址字的读取之间不必插入等待状态，即零等待存取。</a:t>
            </a:r>
            <a:endParaRPr lang="zh-CN" altLang="en-US" dirty="0">
              <a:solidFill>
                <a:srgbClr val="0000FF"/>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3"/>
          <p:cNvSpPr>
            <a:spLocks noGrp="1"/>
          </p:cNvSpPr>
          <p:nvPr>
            <p:ph type="title"/>
          </p:nvPr>
        </p:nvSpPr>
        <p:spPr/>
        <p:txBody>
          <a:bodyPr vert="horz" wrap="square" lIns="91440" tIns="45720" rIns="91440" bIns="45720" anchor="ctr" anchorCtr="0"/>
          <a:p>
            <a:r>
              <a:rPr lang="en-US" altLang="zh-CN" sz="3200" dirty="0"/>
              <a:t>408</a:t>
            </a:r>
            <a:endParaRPr lang="zh-CN" altLang="en-US" sz="3200" dirty="0"/>
          </a:p>
        </p:txBody>
      </p:sp>
      <p:sp>
        <p:nvSpPr>
          <p:cNvPr id="111619" name="矩形 1"/>
          <p:cNvSpPr/>
          <p:nvPr/>
        </p:nvSpPr>
        <p:spPr>
          <a:xfrm>
            <a:off x="534988" y="1700213"/>
            <a:ext cx="8074025" cy="3048000"/>
          </a:xfrm>
          <a:prstGeom prst="rect">
            <a:avLst/>
          </a:prstGeom>
          <a:noFill/>
          <a:ln w="9525">
            <a:noFill/>
          </a:ln>
        </p:spPr>
        <p:txBody>
          <a:bodyPr>
            <a:spAutoFit/>
          </a:bodyPr>
          <a:p>
            <a:r>
              <a:rPr lang="zh-CN" altLang="en-US" sz="2400" b="1" dirty="0">
                <a:solidFill>
                  <a:srgbClr val="222222"/>
                </a:solidFill>
                <a:latin typeface="Helvetica Neue"/>
              </a:rPr>
              <a:t>某计算机使用 </a:t>
            </a:r>
            <a:r>
              <a:rPr lang="en-US" altLang="zh-CN" sz="2400" b="1" dirty="0">
                <a:solidFill>
                  <a:srgbClr val="222222"/>
                </a:solidFill>
                <a:latin typeface="Helvetica Neue"/>
              </a:rPr>
              <a:t>4 </a:t>
            </a:r>
            <a:r>
              <a:rPr lang="zh-CN" altLang="en-US" sz="2400" b="1" dirty="0">
                <a:solidFill>
                  <a:srgbClr val="222222"/>
                </a:solidFill>
                <a:latin typeface="Helvetica Neue"/>
              </a:rPr>
              <a:t>体交叉编址存储器</a:t>
            </a:r>
            <a:r>
              <a:rPr lang="en-US" altLang="zh-CN" sz="2400" b="1" dirty="0">
                <a:solidFill>
                  <a:srgbClr val="222222"/>
                </a:solidFill>
                <a:latin typeface="Helvetica Neue"/>
              </a:rPr>
              <a:t>,</a:t>
            </a:r>
            <a:r>
              <a:rPr lang="zh-CN" altLang="en-US" sz="2400" b="1" dirty="0">
                <a:solidFill>
                  <a:srgbClr val="222222"/>
                </a:solidFill>
                <a:latin typeface="Helvetica Neue"/>
              </a:rPr>
              <a:t>假定在存储器总线上出现的主存地址 </a:t>
            </a:r>
            <a:r>
              <a:rPr lang="en-US" altLang="zh-CN" sz="2400" b="1" dirty="0">
                <a:solidFill>
                  <a:srgbClr val="222222"/>
                </a:solidFill>
                <a:latin typeface="Helvetica Neue"/>
              </a:rPr>
              <a:t>( </a:t>
            </a:r>
            <a:r>
              <a:rPr lang="zh-CN" altLang="en-US" sz="2400" b="1" dirty="0">
                <a:solidFill>
                  <a:srgbClr val="222222"/>
                </a:solidFill>
                <a:latin typeface="Helvetica Neue"/>
              </a:rPr>
              <a:t>十进制 </a:t>
            </a:r>
            <a:r>
              <a:rPr lang="en-US" altLang="zh-CN" sz="2400" b="1" dirty="0">
                <a:solidFill>
                  <a:srgbClr val="222222"/>
                </a:solidFill>
                <a:latin typeface="Helvetica Neue"/>
              </a:rPr>
              <a:t>) </a:t>
            </a:r>
            <a:r>
              <a:rPr lang="zh-CN" altLang="en-US" sz="2400" b="1" dirty="0">
                <a:solidFill>
                  <a:srgbClr val="222222"/>
                </a:solidFill>
                <a:latin typeface="Helvetica Neue"/>
              </a:rPr>
              <a:t>序列为 </a:t>
            </a:r>
            <a:r>
              <a:rPr lang="en-US" altLang="zh-CN" sz="2400" b="1" dirty="0">
                <a:solidFill>
                  <a:srgbClr val="222222"/>
                </a:solidFill>
                <a:latin typeface="Helvetica Neue"/>
              </a:rPr>
              <a:t>8005 , 8006 , 8007 , 8008 , 8001 , 8002 , 8003 , 8004 , 8000 </a:t>
            </a:r>
            <a:r>
              <a:rPr lang="zh-CN" altLang="en-US" sz="2400" b="1" dirty="0">
                <a:solidFill>
                  <a:srgbClr val="222222"/>
                </a:solidFill>
                <a:latin typeface="Helvetica Neue"/>
              </a:rPr>
              <a:t>则可能发生访存冲突的地址是</a:t>
            </a:r>
            <a:r>
              <a:rPr lang="en-US" altLang="zh-CN" sz="2400" b="1" dirty="0">
                <a:solidFill>
                  <a:srgbClr val="222222"/>
                </a:solidFill>
                <a:latin typeface="Helvetica Neue"/>
              </a:rPr>
              <a:t>( )</a:t>
            </a:r>
            <a:r>
              <a:rPr lang="zh-CN" altLang="en-US" sz="2400" b="1" dirty="0">
                <a:solidFill>
                  <a:srgbClr val="222222"/>
                </a:solidFill>
                <a:latin typeface="Helvetica Neue"/>
              </a:rPr>
              <a:t>。</a:t>
            </a:r>
            <a:endParaRPr lang="zh-CN" altLang="en-US" sz="2400" b="1" dirty="0">
              <a:solidFill>
                <a:srgbClr val="222222"/>
              </a:solidFill>
              <a:latin typeface="Helvetica Neue"/>
            </a:endParaRPr>
          </a:p>
          <a:p>
            <a:r>
              <a:rPr lang="en-US" altLang="zh-CN" sz="2400" b="1" dirty="0">
                <a:solidFill>
                  <a:srgbClr val="222222"/>
                </a:solidFill>
                <a:latin typeface="Helvetica Neue"/>
              </a:rPr>
              <a:t>A.8004</a:t>
            </a:r>
            <a:r>
              <a:rPr lang="zh-CN" altLang="en-US" sz="2400" b="1" dirty="0">
                <a:solidFill>
                  <a:srgbClr val="222222"/>
                </a:solidFill>
                <a:latin typeface="Helvetica Neue"/>
              </a:rPr>
              <a:t>和</a:t>
            </a:r>
            <a:r>
              <a:rPr lang="en-US" altLang="zh-CN" sz="2400" b="1" dirty="0">
                <a:solidFill>
                  <a:srgbClr val="222222"/>
                </a:solidFill>
                <a:latin typeface="Helvetica Neue"/>
              </a:rPr>
              <a:t>8008</a:t>
            </a:r>
            <a:endParaRPr lang="en-US" altLang="zh-CN" sz="2400" b="1" dirty="0">
              <a:solidFill>
                <a:srgbClr val="222222"/>
              </a:solidFill>
              <a:latin typeface="Helvetica Neue"/>
            </a:endParaRPr>
          </a:p>
          <a:p>
            <a:r>
              <a:rPr lang="en-US" altLang="zh-CN" sz="2400" b="1" dirty="0">
                <a:solidFill>
                  <a:srgbClr val="222222"/>
                </a:solidFill>
                <a:latin typeface="Helvetica Neue"/>
              </a:rPr>
              <a:t>B.8002</a:t>
            </a:r>
            <a:r>
              <a:rPr lang="zh-CN" altLang="en-US" sz="2400" b="1" dirty="0">
                <a:solidFill>
                  <a:srgbClr val="222222"/>
                </a:solidFill>
                <a:latin typeface="Helvetica Neue"/>
              </a:rPr>
              <a:t>和</a:t>
            </a:r>
            <a:r>
              <a:rPr lang="en-US" altLang="zh-CN" sz="2400" b="1" dirty="0">
                <a:solidFill>
                  <a:srgbClr val="222222"/>
                </a:solidFill>
                <a:latin typeface="Helvetica Neue"/>
              </a:rPr>
              <a:t>8007</a:t>
            </a:r>
            <a:endParaRPr lang="en-US" altLang="zh-CN" sz="2400" b="1" dirty="0">
              <a:solidFill>
                <a:srgbClr val="222222"/>
              </a:solidFill>
              <a:latin typeface="Helvetica Neue"/>
            </a:endParaRPr>
          </a:p>
          <a:p>
            <a:r>
              <a:rPr lang="en-US" altLang="zh-CN" sz="2400" b="1" dirty="0">
                <a:solidFill>
                  <a:srgbClr val="222222"/>
                </a:solidFill>
                <a:latin typeface="Helvetica Neue"/>
              </a:rPr>
              <a:t>C.8001</a:t>
            </a:r>
            <a:r>
              <a:rPr lang="zh-CN" altLang="en-US" sz="2400" b="1" dirty="0">
                <a:solidFill>
                  <a:srgbClr val="222222"/>
                </a:solidFill>
                <a:latin typeface="Helvetica Neue"/>
              </a:rPr>
              <a:t>和</a:t>
            </a:r>
            <a:r>
              <a:rPr lang="en-US" altLang="zh-CN" sz="2400" b="1" dirty="0">
                <a:solidFill>
                  <a:srgbClr val="222222"/>
                </a:solidFill>
                <a:latin typeface="Helvetica Neue"/>
              </a:rPr>
              <a:t>8008</a:t>
            </a:r>
            <a:endParaRPr lang="en-US" altLang="zh-CN" sz="2400" b="1" dirty="0">
              <a:solidFill>
                <a:srgbClr val="222222"/>
              </a:solidFill>
              <a:latin typeface="Helvetica Neue"/>
            </a:endParaRPr>
          </a:p>
          <a:p>
            <a:r>
              <a:rPr lang="en-US" altLang="zh-CN" sz="2400" b="1" dirty="0">
                <a:solidFill>
                  <a:srgbClr val="222222"/>
                </a:solidFill>
                <a:latin typeface="Helvetica Neue"/>
              </a:rPr>
              <a:t>D.8000 </a:t>
            </a:r>
            <a:r>
              <a:rPr lang="zh-CN" altLang="en-US" sz="2400" b="1" dirty="0">
                <a:solidFill>
                  <a:srgbClr val="222222"/>
                </a:solidFill>
                <a:latin typeface="Helvetica Neue"/>
              </a:rPr>
              <a:t>和</a:t>
            </a:r>
            <a:r>
              <a:rPr lang="en-US" altLang="zh-CN" sz="2400" b="1" dirty="0">
                <a:solidFill>
                  <a:srgbClr val="222222"/>
                </a:solidFill>
                <a:latin typeface="Helvetica Neue"/>
              </a:rPr>
              <a:t>8004</a:t>
            </a:r>
            <a:endParaRPr lang="en-US" altLang="zh-CN" sz="2400" b="1" dirty="0">
              <a:solidFill>
                <a:srgbClr val="222222"/>
              </a:solidFill>
              <a:latin typeface="Helvetica Neue"/>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3"/>
          <p:cNvSpPr/>
          <p:nvPr/>
        </p:nvSpPr>
        <p:spPr>
          <a:xfrm>
            <a:off x="827088" y="862013"/>
            <a:ext cx="8008937" cy="8223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lnSpc>
                <a:spcPct val="115000"/>
              </a:lnSpc>
              <a:spcBef>
                <a:spcPct val="15000"/>
              </a:spcBef>
              <a:buClrTx/>
              <a:buSzTx/>
              <a:buFontTx/>
              <a:buNone/>
            </a:pPr>
            <a:r>
              <a:rPr lang="zh-CN" altLang="en-US" sz="2200" b="1" dirty="0">
                <a:solidFill>
                  <a:srgbClr val="800000"/>
                </a:solidFill>
                <a:ea typeface="黑体" panose="02010609060101010101" pitchFamily="49" charset="-122"/>
              </a:rPr>
              <a:t>到目前为止，已经了解到有以下几种存储器：</a:t>
            </a:r>
            <a:endParaRPr lang="en-US" altLang="zh-CN" sz="2200" b="1" dirty="0">
              <a:solidFill>
                <a:srgbClr val="800000"/>
              </a:solidFill>
              <a:cs typeface="Arial" panose="020B0604020202020204" pitchFamily="34" charset="0"/>
            </a:endParaRPr>
          </a:p>
          <a:p>
            <a:pPr marL="0" lvl="0" indent="0" eaLnBrk="1" hangingPunct="1">
              <a:lnSpc>
                <a:spcPct val="115000"/>
              </a:lnSpc>
              <a:spcBef>
                <a:spcPct val="15000"/>
              </a:spcBef>
              <a:buClrTx/>
              <a:buSzTx/>
              <a:buFontTx/>
              <a:buNone/>
            </a:pPr>
            <a:r>
              <a:rPr lang="en-US" altLang="zh-CN" sz="2200" b="1" dirty="0">
                <a:solidFill>
                  <a:srgbClr val="800000"/>
                </a:solidFill>
                <a:cs typeface="Arial" panose="020B0604020202020204" pitchFamily="34" charset="0"/>
              </a:rPr>
              <a:t>Reg</a:t>
            </a:r>
            <a:r>
              <a:rPr lang="zh-CN" altLang="en-US" sz="2200" b="1" dirty="0">
                <a:solidFill>
                  <a:srgbClr val="800000"/>
                </a:solidFill>
                <a:ea typeface="黑体" panose="02010609060101010101" pitchFamily="49" charset="-122"/>
              </a:rPr>
              <a:t>，</a:t>
            </a:r>
            <a:r>
              <a:rPr lang="en-US" altLang="zh-CN" sz="2200" b="1" dirty="0">
                <a:solidFill>
                  <a:srgbClr val="800000"/>
                </a:solidFill>
                <a:ea typeface="黑体" panose="02010609060101010101" pitchFamily="49" charset="-122"/>
              </a:rPr>
              <a:t>SRAM</a:t>
            </a:r>
            <a:r>
              <a:rPr lang="zh-CN" altLang="en-US" sz="2200" b="1" dirty="0">
                <a:solidFill>
                  <a:srgbClr val="800000"/>
                </a:solidFill>
                <a:ea typeface="黑体" panose="02010609060101010101" pitchFamily="49" charset="-122"/>
              </a:rPr>
              <a:t>，</a:t>
            </a:r>
            <a:r>
              <a:rPr lang="en-US" altLang="zh-CN" sz="2200" b="1" dirty="0">
                <a:solidFill>
                  <a:srgbClr val="800000"/>
                </a:solidFill>
                <a:ea typeface="黑体" panose="02010609060101010101" pitchFamily="49" charset="-122"/>
              </a:rPr>
              <a:t>DRAM</a:t>
            </a:r>
            <a:r>
              <a:rPr lang="zh-CN" altLang="en-US" sz="2200" b="1" dirty="0">
                <a:solidFill>
                  <a:srgbClr val="800000"/>
                </a:solidFill>
                <a:ea typeface="黑体" panose="02010609060101010101" pitchFamily="49" charset="-122"/>
              </a:rPr>
              <a:t>，</a:t>
            </a:r>
            <a:r>
              <a:rPr lang="en-US" altLang="zh-CN" sz="2200" b="1" dirty="0">
                <a:solidFill>
                  <a:srgbClr val="800000"/>
                </a:solidFill>
                <a:ea typeface="黑体" panose="02010609060101010101" pitchFamily="49" charset="-122"/>
              </a:rPr>
              <a:t> FLASH,</a:t>
            </a:r>
            <a:r>
              <a:rPr lang="en-US" altLang="zh-CN" sz="2200" b="1" dirty="0">
                <a:solidFill>
                  <a:schemeClr val="bg2"/>
                </a:solidFill>
                <a:ea typeface="黑体" panose="02010609060101010101" pitchFamily="49" charset="-122"/>
              </a:rPr>
              <a:t> Hard Disk</a:t>
            </a:r>
            <a:r>
              <a:rPr lang="zh-CN" altLang="en-US" sz="2200" b="1" dirty="0">
                <a:solidFill>
                  <a:schemeClr val="bg2"/>
                </a:solidFill>
                <a:ea typeface="黑体" panose="02010609060101010101" pitchFamily="49" charset="-122"/>
              </a:rPr>
              <a:t>，</a:t>
            </a:r>
            <a:r>
              <a:rPr lang="en-US" altLang="zh-CN" sz="2200" b="1" dirty="0">
                <a:solidFill>
                  <a:schemeClr val="bg2"/>
                </a:solidFill>
                <a:ea typeface="黑体" panose="02010609060101010101" pitchFamily="49" charset="-122"/>
              </a:rPr>
              <a:t>Tape and </a:t>
            </a:r>
            <a:r>
              <a:rPr lang="zh-CN" altLang="en-US" sz="2200" b="1" dirty="0">
                <a:solidFill>
                  <a:schemeClr val="bg2"/>
                </a:solidFill>
                <a:ea typeface="黑体" panose="02010609060101010101" pitchFamily="49" charset="-122"/>
              </a:rPr>
              <a:t>光盘</a:t>
            </a:r>
            <a:r>
              <a:rPr lang="zh-CN" altLang="en-US" sz="2200" b="1" dirty="0">
                <a:solidFill>
                  <a:srgbClr val="006600"/>
                </a:solidFill>
                <a:ea typeface="黑体" panose="02010609060101010101" pitchFamily="49" charset="-122"/>
              </a:rPr>
              <a:t>等</a:t>
            </a:r>
            <a:endParaRPr lang="zh-CN" altLang="en-US" sz="1800" b="1" dirty="0">
              <a:solidFill>
                <a:srgbClr val="0000FF"/>
              </a:solidFill>
              <a:ea typeface="黑体" panose="02010609060101010101" pitchFamily="49" charset="-122"/>
            </a:endParaRPr>
          </a:p>
        </p:txBody>
      </p:sp>
      <p:sp>
        <p:nvSpPr>
          <p:cNvPr id="113667" name="Rectangle 4"/>
          <p:cNvSpPr/>
          <p:nvPr/>
        </p:nvSpPr>
        <p:spPr>
          <a:xfrm>
            <a:off x="927100" y="5499100"/>
            <a:ext cx="5900738" cy="838200"/>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200" b="1" dirty="0">
                <a:solidFill>
                  <a:srgbClr val="0000FF"/>
                </a:solidFill>
                <a:ea typeface="黑体" panose="02010609060101010101" pitchFamily="49" charset="-122"/>
              </a:rPr>
              <a:t>单独用某一种存储器，都不能满足我们的需要！</a:t>
            </a:r>
            <a:endParaRPr lang="en-US" altLang="zh-CN" sz="2200" b="1" dirty="0">
              <a:solidFill>
                <a:srgbClr val="0000FF"/>
              </a:solidFill>
              <a:ea typeface="黑体" panose="02010609060101010101" pitchFamily="49" charset="-122"/>
            </a:endParaRPr>
          </a:p>
          <a:p>
            <a:pPr marL="0" lvl="0" indent="0" eaLnBrk="1" hangingPunct="1">
              <a:spcBef>
                <a:spcPct val="50000"/>
              </a:spcBef>
              <a:buClrTx/>
              <a:buSzTx/>
              <a:buFontTx/>
              <a:buNone/>
            </a:pPr>
            <a:r>
              <a:rPr lang="zh-CN" altLang="en-US" sz="2200" b="1" dirty="0">
                <a:solidFill>
                  <a:srgbClr val="CC0000"/>
                </a:solidFill>
                <a:ea typeface="黑体" panose="02010609060101010101" pitchFamily="49" charset="-122"/>
              </a:rPr>
              <a:t>采用分层存储结构来构建计算机的存储体系！</a:t>
            </a:r>
            <a:endParaRPr lang="zh-CN" altLang="en-US" sz="2200" b="1" dirty="0">
              <a:solidFill>
                <a:srgbClr val="CC0000"/>
              </a:solidFill>
              <a:ea typeface="黑体" panose="02010609060101010101" pitchFamily="49" charset="-122"/>
            </a:endParaRPr>
          </a:p>
        </p:txBody>
      </p:sp>
      <p:grpSp>
        <p:nvGrpSpPr>
          <p:cNvPr id="113668" name="Group 5"/>
          <p:cNvGrpSpPr/>
          <p:nvPr/>
        </p:nvGrpSpPr>
        <p:grpSpPr>
          <a:xfrm>
            <a:off x="523875" y="1646238"/>
            <a:ext cx="8305800" cy="3303587"/>
            <a:chOff x="336" y="1253"/>
            <a:chExt cx="5232" cy="2081"/>
          </a:xfrm>
        </p:grpSpPr>
        <p:graphicFrame>
          <p:nvGraphicFramePr>
            <p:cNvPr id="113670" name="Object 6"/>
            <p:cNvGraphicFramePr>
              <a:graphicFrameLocks noChangeAspect="1"/>
            </p:cNvGraphicFramePr>
            <p:nvPr/>
          </p:nvGraphicFramePr>
          <p:xfrm>
            <a:off x="336" y="1253"/>
            <a:ext cx="5232" cy="2081"/>
          </p:xfrm>
          <a:graphic>
            <a:graphicData uri="http://schemas.openxmlformats.org/presentationml/2006/ole">
              <mc:AlternateContent xmlns:mc="http://schemas.openxmlformats.org/markup-compatibility/2006">
                <mc:Choice xmlns:v="urn:schemas-microsoft-com:vml" Requires="v">
                  <p:oleObj spid="_x0000_s3083" name="" r:id="rId1" imgW="5648325" imgH="2362200" progId="Paint.Picture">
                    <p:embed/>
                  </p:oleObj>
                </mc:Choice>
                <mc:Fallback>
                  <p:oleObj name="" r:id="rId1" imgW="5648325" imgH="2362200" progId="Paint.Picture">
                    <p:embed/>
                    <p:pic>
                      <p:nvPicPr>
                        <p:cNvPr id="0" name="图片 3082"/>
                        <p:cNvPicPr/>
                        <p:nvPr/>
                      </p:nvPicPr>
                      <p:blipFill>
                        <a:blip r:embed="rId2"/>
                        <a:stretch>
                          <a:fillRect/>
                        </a:stretch>
                      </p:blipFill>
                      <p:spPr>
                        <a:xfrm>
                          <a:off x="336" y="1253"/>
                          <a:ext cx="5232" cy="2081"/>
                        </a:xfrm>
                        <a:prstGeom prst="rect">
                          <a:avLst/>
                        </a:prstGeom>
                        <a:noFill/>
                        <a:ln w="38100">
                          <a:noFill/>
                          <a:miter/>
                        </a:ln>
                      </p:spPr>
                    </p:pic>
                  </p:oleObj>
                </mc:Fallback>
              </mc:AlternateContent>
            </a:graphicData>
          </a:graphic>
        </p:graphicFrame>
        <p:sp>
          <p:nvSpPr>
            <p:cNvPr id="113671" name="Text Box 7"/>
            <p:cNvSpPr txBox="1"/>
            <p:nvPr/>
          </p:nvSpPr>
          <p:spPr>
            <a:xfrm>
              <a:off x="3016" y="1741"/>
              <a:ext cx="1089" cy="173"/>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50000"/>
                </a:spcBef>
                <a:buClrTx/>
                <a:buSzTx/>
                <a:buFontTx/>
                <a:buNone/>
              </a:pPr>
              <a:r>
                <a:rPr lang="en-US" altLang="zh-CN" sz="1800" dirty="0">
                  <a:latin typeface="Comic Sans MS" panose="030F0702030302020204" pitchFamily="66" charset="0"/>
                  <a:ea typeface="华文新魏" pitchFamily="2" charset="-122"/>
                </a:rPr>
                <a:t>1ns</a:t>
              </a:r>
              <a:endParaRPr lang="en-US" altLang="zh-CN" sz="1800" dirty="0">
                <a:latin typeface="Comic Sans MS" panose="030F0702030302020204" pitchFamily="66" charset="0"/>
                <a:ea typeface="华文新魏" pitchFamily="2" charset="-122"/>
              </a:endParaRPr>
            </a:p>
          </p:txBody>
        </p:sp>
        <p:sp>
          <p:nvSpPr>
            <p:cNvPr id="113672" name="Text Box 8"/>
            <p:cNvSpPr txBox="1"/>
            <p:nvPr/>
          </p:nvSpPr>
          <p:spPr>
            <a:xfrm>
              <a:off x="3016" y="2005"/>
              <a:ext cx="1089" cy="173"/>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50000"/>
                </a:spcBef>
                <a:buClrTx/>
                <a:buSzTx/>
                <a:buFontTx/>
                <a:buNone/>
              </a:pPr>
              <a:r>
                <a:rPr lang="en-US" altLang="zh-CN" sz="1800" dirty="0">
                  <a:latin typeface="Comic Sans MS" panose="030F0702030302020204" pitchFamily="66" charset="0"/>
                  <a:ea typeface="华文新魏" pitchFamily="2" charset="-122"/>
                </a:rPr>
                <a:t>2ns</a:t>
              </a:r>
              <a:endParaRPr lang="en-US" altLang="zh-CN" sz="1800" dirty="0">
                <a:latin typeface="Comic Sans MS" panose="030F0702030302020204" pitchFamily="66" charset="0"/>
                <a:ea typeface="华文新魏" pitchFamily="2" charset="-122"/>
              </a:endParaRPr>
            </a:p>
          </p:txBody>
        </p:sp>
        <p:sp>
          <p:nvSpPr>
            <p:cNvPr id="113673" name="Text Box 9"/>
            <p:cNvSpPr txBox="1"/>
            <p:nvPr/>
          </p:nvSpPr>
          <p:spPr>
            <a:xfrm>
              <a:off x="2971" y="2286"/>
              <a:ext cx="1089" cy="173"/>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50000"/>
                </a:spcBef>
                <a:buClrTx/>
                <a:buSzTx/>
                <a:buFontTx/>
                <a:buNone/>
              </a:pPr>
              <a:r>
                <a:rPr lang="en-US" altLang="zh-CN" sz="1800" dirty="0">
                  <a:latin typeface="Comic Sans MS" panose="030F0702030302020204" pitchFamily="66" charset="0"/>
                  <a:ea typeface="华文新魏" pitchFamily="2" charset="-122"/>
                </a:rPr>
                <a:t>10ns</a:t>
              </a:r>
              <a:endParaRPr lang="en-US" altLang="zh-CN" sz="1800" dirty="0">
                <a:latin typeface="Comic Sans MS" panose="030F0702030302020204" pitchFamily="66" charset="0"/>
                <a:ea typeface="华文新魏" pitchFamily="2" charset="-122"/>
              </a:endParaRPr>
            </a:p>
          </p:txBody>
        </p:sp>
        <p:sp>
          <p:nvSpPr>
            <p:cNvPr id="113674" name="Text Box 10"/>
            <p:cNvSpPr txBox="1"/>
            <p:nvPr/>
          </p:nvSpPr>
          <p:spPr>
            <a:xfrm>
              <a:off x="2971" y="2558"/>
              <a:ext cx="1089" cy="173"/>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50000"/>
                </a:spcBef>
                <a:buClrTx/>
                <a:buSzTx/>
                <a:buFontTx/>
                <a:buNone/>
              </a:pPr>
              <a:r>
                <a:rPr lang="en-US" altLang="zh-CN" sz="1800" dirty="0">
                  <a:latin typeface="Comic Sans MS" panose="030F0702030302020204" pitchFamily="66" charset="0"/>
                  <a:ea typeface="华文新魏" pitchFamily="2" charset="-122"/>
                </a:rPr>
                <a:t>10ms</a:t>
              </a:r>
              <a:endParaRPr lang="en-US" altLang="zh-CN" sz="1800" dirty="0">
                <a:latin typeface="Comic Sans MS" panose="030F0702030302020204" pitchFamily="66" charset="0"/>
                <a:ea typeface="华文新魏" pitchFamily="2" charset="-122"/>
              </a:endParaRPr>
            </a:p>
          </p:txBody>
        </p:sp>
        <p:sp>
          <p:nvSpPr>
            <p:cNvPr id="113675" name="Text Box 11"/>
            <p:cNvSpPr txBox="1"/>
            <p:nvPr/>
          </p:nvSpPr>
          <p:spPr>
            <a:xfrm>
              <a:off x="1791" y="1706"/>
              <a:ext cx="1089" cy="173"/>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50000"/>
                </a:spcBef>
                <a:buClrTx/>
                <a:buSzTx/>
                <a:buFontTx/>
                <a:buNone/>
              </a:pPr>
              <a:r>
                <a:rPr lang="en-US" altLang="zh-CN" sz="1800" dirty="0">
                  <a:latin typeface="Comic Sans MS" panose="030F0702030302020204" pitchFamily="66" charset="0"/>
                  <a:ea typeface="华文新魏" pitchFamily="2" charset="-122"/>
                </a:rPr>
                <a:t>〈1KB</a:t>
              </a:r>
              <a:endParaRPr lang="en-US" altLang="zh-CN" sz="1800" dirty="0">
                <a:latin typeface="Comic Sans MS" panose="030F0702030302020204" pitchFamily="66" charset="0"/>
                <a:ea typeface="华文新魏" pitchFamily="2" charset="-122"/>
              </a:endParaRPr>
            </a:p>
          </p:txBody>
        </p:sp>
        <p:sp>
          <p:nvSpPr>
            <p:cNvPr id="113676" name="Text Box 12"/>
            <p:cNvSpPr txBox="1"/>
            <p:nvPr/>
          </p:nvSpPr>
          <p:spPr>
            <a:xfrm>
              <a:off x="1837" y="2013"/>
              <a:ext cx="1089" cy="173"/>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50000"/>
                </a:spcBef>
                <a:buClrTx/>
                <a:buSzTx/>
                <a:buFontTx/>
                <a:buNone/>
              </a:pPr>
              <a:r>
                <a:rPr lang="en-US" altLang="zh-CN" sz="1800" dirty="0">
                  <a:latin typeface="Comic Sans MS" panose="030F0702030302020204" pitchFamily="66" charset="0"/>
                  <a:ea typeface="华文新魏" pitchFamily="2" charset="-122"/>
                </a:rPr>
                <a:t>1MB</a:t>
              </a:r>
              <a:endParaRPr lang="en-US" altLang="zh-CN" sz="1800" dirty="0">
                <a:latin typeface="Comic Sans MS" panose="030F0702030302020204" pitchFamily="66" charset="0"/>
                <a:ea typeface="华文新魏" pitchFamily="2" charset="-122"/>
              </a:endParaRPr>
            </a:p>
          </p:txBody>
        </p:sp>
        <p:sp>
          <p:nvSpPr>
            <p:cNvPr id="113677" name="Text Box 13"/>
            <p:cNvSpPr txBox="1"/>
            <p:nvPr/>
          </p:nvSpPr>
          <p:spPr>
            <a:xfrm>
              <a:off x="1791" y="2286"/>
              <a:ext cx="1089" cy="173"/>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50000"/>
                </a:spcBef>
                <a:buClrTx/>
                <a:buSzTx/>
                <a:buFontTx/>
                <a:buNone/>
              </a:pPr>
              <a:r>
                <a:rPr lang="en-US" altLang="zh-CN" sz="1800" dirty="0">
                  <a:latin typeface="Comic Sans MS" panose="030F0702030302020204" pitchFamily="66" charset="0"/>
                  <a:ea typeface="华文新魏" pitchFamily="2" charset="-122"/>
                </a:rPr>
                <a:t>1GB</a:t>
              </a:r>
              <a:endParaRPr lang="en-US" altLang="zh-CN" sz="1800" dirty="0">
                <a:latin typeface="Comic Sans MS" panose="030F0702030302020204" pitchFamily="66" charset="0"/>
                <a:ea typeface="华文新魏" pitchFamily="2" charset="-122"/>
              </a:endParaRPr>
            </a:p>
          </p:txBody>
        </p:sp>
        <p:sp>
          <p:nvSpPr>
            <p:cNvPr id="113678" name="Text Box 14"/>
            <p:cNvSpPr txBox="1"/>
            <p:nvPr/>
          </p:nvSpPr>
          <p:spPr>
            <a:xfrm>
              <a:off x="1746" y="2568"/>
              <a:ext cx="1089" cy="173"/>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50000"/>
                </a:spcBef>
                <a:buClrTx/>
                <a:buSzTx/>
                <a:buFontTx/>
                <a:buNone/>
              </a:pPr>
              <a:r>
                <a:rPr lang="en-US" altLang="zh-CN" sz="1800" dirty="0">
                  <a:latin typeface="Comic Sans MS" panose="030F0702030302020204" pitchFamily="66" charset="0"/>
                  <a:ea typeface="华文新魏" pitchFamily="2" charset="-122"/>
                </a:rPr>
                <a:t>100GB</a:t>
              </a:r>
              <a:endParaRPr lang="en-US" altLang="zh-CN" sz="1800" dirty="0">
                <a:latin typeface="Comic Sans MS" panose="030F0702030302020204" pitchFamily="66" charset="0"/>
                <a:ea typeface="华文新魏" pitchFamily="2" charset="-122"/>
              </a:endParaRPr>
            </a:p>
          </p:txBody>
        </p:sp>
        <p:sp>
          <p:nvSpPr>
            <p:cNvPr id="113679" name="Text Box 15"/>
            <p:cNvSpPr txBox="1"/>
            <p:nvPr/>
          </p:nvSpPr>
          <p:spPr>
            <a:xfrm>
              <a:off x="1746" y="2840"/>
              <a:ext cx="1089" cy="173"/>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50000"/>
                </a:spcBef>
                <a:buClrTx/>
                <a:buSzTx/>
                <a:buFontTx/>
                <a:buNone/>
              </a:pPr>
              <a:r>
                <a:rPr lang="en-US" altLang="zh-CN" sz="1800" dirty="0">
                  <a:solidFill>
                    <a:srgbClr val="CC0000"/>
                  </a:solidFill>
                  <a:latin typeface="Comic Sans MS" panose="030F0702030302020204" pitchFamily="66" charset="0"/>
                  <a:ea typeface="华文新魏" pitchFamily="2" charset="-122"/>
                </a:rPr>
                <a:t>100GB</a:t>
              </a:r>
              <a:endParaRPr lang="en-US" altLang="zh-CN" sz="1800" dirty="0">
                <a:solidFill>
                  <a:srgbClr val="CC0000"/>
                </a:solidFill>
                <a:latin typeface="Comic Sans MS" panose="030F0702030302020204" pitchFamily="66" charset="0"/>
                <a:ea typeface="华文新魏" pitchFamily="2" charset="-122"/>
              </a:endParaRPr>
            </a:p>
          </p:txBody>
        </p:sp>
        <p:sp>
          <p:nvSpPr>
            <p:cNvPr id="113680" name="Text Box 16"/>
            <p:cNvSpPr txBox="1"/>
            <p:nvPr/>
          </p:nvSpPr>
          <p:spPr>
            <a:xfrm>
              <a:off x="3016" y="2840"/>
              <a:ext cx="1089" cy="192"/>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50000"/>
                </a:spcBef>
                <a:buClrTx/>
                <a:buSzTx/>
                <a:buFontTx/>
                <a:buNone/>
              </a:pPr>
              <a:r>
                <a:rPr lang="en-US" altLang="zh-CN" sz="2000" dirty="0">
                  <a:solidFill>
                    <a:srgbClr val="CC0000"/>
                  </a:solidFill>
                  <a:latin typeface="Comic Sans MS" panose="030F0702030302020204" pitchFamily="66" charset="0"/>
                  <a:ea typeface="华文新魏" pitchFamily="2" charset="-122"/>
                </a:rPr>
                <a:t>1ns</a:t>
              </a:r>
              <a:endParaRPr lang="en-US" altLang="zh-CN" sz="2000" dirty="0">
                <a:solidFill>
                  <a:srgbClr val="CC0000"/>
                </a:solidFill>
                <a:latin typeface="Comic Sans MS" panose="030F0702030302020204" pitchFamily="66" charset="0"/>
                <a:ea typeface="华文新魏" pitchFamily="2" charset="-122"/>
              </a:endParaRPr>
            </a:p>
          </p:txBody>
        </p:sp>
      </p:grpSp>
      <p:sp>
        <p:nvSpPr>
          <p:cNvPr id="113669" name="Rectangle 17"/>
          <p:cNvSpPr/>
          <p:nvPr/>
        </p:nvSpPr>
        <p:spPr>
          <a:xfrm>
            <a:off x="611188" y="4999038"/>
            <a:ext cx="6181725" cy="33496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200" b="1" dirty="0">
                <a:solidFill>
                  <a:srgbClr val="CC0000"/>
                </a:solidFill>
                <a:ea typeface="黑体" panose="02010609060101010101" pitchFamily="49" charset="-122"/>
              </a:rPr>
              <a:t>问题：你认为哪一种最适合做计算机的存储器呢？</a:t>
            </a:r>
            <a:endParaRPr lang="zh-CN" altLang="en-US" sz="2200" b="1" dirty="0">
              <a:solidFill>
                <a:srgbClr val="CC0000"/>
              </a:solidFill>
              <a:ea typeface="黑体" panose="02010609060101010101" pitchFamily="49"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Rectangle 2"/>
          <p:cNvSpPr>
            <a:spLocks noGrp="1"/>
          </p:cNvSpPr>
          <p:nvPr>
            <p:ph type="title"/>
          </p:nvPr>
        </p:nvSpPr>
        <p:spPr>
          <a:xfrm>
            <a:off x="469900" y="339725"/>
            <a:ext cx="7531100" cy="785813"/>
          </a:xfrm>
        </p:spPr>
        <p:txBody>
          <a:bodyPr vert="horz" wrap="square" lIns="91440" tIns="45720" rIns="91440" bIns="45720" anchor="ctr" anchorCtr="0"/>
          <a:p>
            <a:pPr defTabSz="717550"/>
            <a:r>
              <a:rPr lang="zh-CN" altLang="en-US" dirty="0"/>
              <a:t>计算机中存储器的层次结构</a:t>
            </a:r>
            <a:endParaRPr lang="zh-CN" altLang="en-US" dirty="0"/>
          </a:p>
        </p:txBody>
      </p:sp>
      <p:sp>
        <p:nvSpPr>
          <p:cNvPr id="115715" name="Text Box 3"/>
          <p:cNvSpPr txBox="1"/>
          <p:nvPr/>
        </p:nvSpPr>
        <p:spPr>
          <a:xfrm>
            <a:off x="3667125" y="2627313"/>
            <a:ext cx="1617663" cy="695325"/>
          </a:xfrm>
          <a:prstGeom prst="rect">
            <a:avLst/>
          </a:prstGeom>
          <a:solidFill>
            <a:srgbClr val="FFFFFF"/>
          </a:solidFill>
          <a:ln w="9525" cap="flat" cmpd="sng">
            <a:solidFill>
              <a:srgbClr val="000000"/>
            </a:solidFill>
            <a:prstDash val="solid"/>
            <a:miter/>
            <a:headEnd type="none" w="med" len="med"/>
            <a:tailEnd type="none" w="med" len="med"/>
          </a:ln>
        </p:spPr>
        <p:txBody>
          <a:bodyPr lIns="116623" tIns="58311" rIns="116623" bIns="5831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110000"/>
              </a:lnSpc>
              <a:spcBef>
                <a:spcPct val="0"/>
              </a:spcBef>
              <a:buClrTx/>
              <a:buSzTx/>
              <a:buFontTx/>
              <a:buNone/>
            </a:pPr>
            <a:r>
              <a:rPr lang="en-US" altLang="zh-CN" sz="2200" b="1" dirty="0">
                <a:ea typeface="黑体" panose="02010609060101010101" pitchFamily="49" charset="-122"/>
              </a:rPr>
              <a:t>cache</a:t>
            </a:r>
            <a:endParaRPr lang="en-US" altLang="zh-CN" sz="2200" b="1" dirty="0">
              <a:ea typeface="黑体" panose="02010609060101010101" pitchFamily="49" charset="-122"/>
            </a:endParaRPr>
          </a:p>
        </p:txBody>
      </p:sp>
      <p:sp>
        <p:nvSpPr>
          <p:cNvPr id="115716" name="Text Box 4"/>
          <p:cNvSpPr txBox="1"/>
          <p:nvPr/>
        </p:nvSpPr>
        <p:spPr>
          <a:xfrm>
            <a:off x="3100388" y="3330575"/>
            <a:ext cx="2751137" cy="692150"/>
          </a:xfrm>
          <a:prstGeom prst="rect">
            <a:avLst/>
          </a:prstGeom>
          <a:solidFill>
            <a:srgbClr val="FFFFFF"/>
          </a:solidFill>
          <a:ln w="9525" cap="flat" cmpd="sng">
            <a:solidFill>
              <a:srgbClr val="000000"/>
            </a:solidFill>
            <a:prstDash val="solid"/>
            <a:miter/>
            <a:headEnd type="none" w="med" len="med"/>
            <a:tailEnd type="none" w="med" len="med"/>
          </a:ln>
        </p:spPr>
        <p:txBody>
          <a:bodyPr lIns="116623" tIns="58311" rIns="116623" bIns="5831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110000"/>
              </a:lnSpc>
              <a:spcBef>
                <a:spcPct val="0"/>
              </a:spcBef>
              <a:buClrTx/>
              <a:buSzTx/>
              <a:buFontTx/>
              <a:buNone/>
            </a:pPr>
            <a:r>
              <a:rPr lang="zh-CN" altLang="en-US" sz="2200" b="1" dirty="0">
                <a:ea typeface="黑体" panose="02010609060101010101" pitchFamily="49" charset="-122"/>
              </a:rPr>
              <a:t>主存</a:t>
            </a:r>
            <a:r>
              <a:rPr lang="en-US" altLang="zh-CN" sz="2200" b="1" dirty="0">
                <a:ea typeface="黑体" panose="02010609060101010101" pitchFamily="49" charset="-122"/>
              </a:rPr>
              <a:t>(RAM</a:t>
            </a:r>
            <a:r>
              <a:rPr lang="zh-CN" altLang="en-US" sz="2200" b="1" dirty="0">
                <a:ea typeface="黑体" panose="02010609060101010101" pitchFamily="49" charset="-122"/>
              </a:rPr>
              <a:t>和</a:t>
            </a:r>
            <a:r>
              <a:rPr lang="en-US" altLang="zh-CN" sz="2200" b="1" dirty="0">
                <a:ea typeface="黑体" panose="02010609060101010101" pitchFamily="49" charset="-122"/>
              </a:rPr>
              <a:t>ROM)</a:t>
            </a:r>
            <a:endParaRPr lang="en-US" altLang="zh-CN" sz="2200" b="1" dirty="0">
              <a:ea typeface="黑体" panose="02010609060101010101" pitchFamily="49" charset="-122"/>
            </a:endParaRPr>
          </a:p>
        </p:txBody>
      </p:sp>
      <p:sp>
        <p:nvSpPr>
          <p:cNvPr id="115717" name="Text Box 5"/>
          <p:cNvSpPr txBox="1"/>
          <p:nvPr/>
        </p:nvSpPr>
        <p:spPr>
          <a:xfrm>
            <a:off x="2636838" y="4022725"/>
            <a:ext cx="3914775" cy="695325"/>
          </a:xfrm>
          <a:prstGeom prst="rect">
            <a:avLst/>
          </a:prstGeom>
          <a:solidFill>
            <a:srgbClr val="FFFFFF"/>
          </a:solidFill>
          <a:ln w="9525" cap="flat" cmpd="sng">
            <a:solidFill>
              <a:srgbClr val="000000"/>
            </a:solidFill>
            <a:prstDash val="solid"/>
            <a:miter/>
            <a:headEnd type="none" w="med" len="med"/>
            <a:tailEnd type="none" w="med" len="med"/>
          </a:ln>
        </p:spPr>
        <p:txBody>
          <a:bodyPr lIns="116623" tIns="58311" rIns="116623" bIns="5831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110000"/>
              </a:lnSpc>
              <a:spcBef>
                <a:spcPct val="0"/>
              </a:spcBef>
              <a:buClrTx/>
              <a:buSzTx/>
              <a:buFontTx/>
              <a:buNone/>
            </a:pPr>
            <a:r>
              <a:rPr lang="zh-CN" altLang="en-US" sz="2200" b="1" dirty="0">
                <a:ea typeface="黑体" panose="02010609060101010101" pitchFamily="49" charset="-122"/>
              </a:rPr>
              <a:t>外存储器（软盘、硬盘、光盘）</a:t>
            </a:r>
            <a:endParaRPr lang="zh-CN" altLang="en-US" sz="2200" b="1" dirty="0">
              <a:ea typeface="黑体" panose="02010609060101010101" pitchFamily="49" charset="-122"/>
            </a:endParaRPr>
          </a:p>
        </p:txBody>
      </p:sp>
      <p:sp>
        <p:nvSpPr>
          <p:cNvPr id="115718" name="Text Box 6"/>
          <p:cNvSpPr txBox="1"/>
          <p:nvPr/>
        </p:nvSpPr>
        <p:spPr>
          <a:xfrm>
            <a:off x="1763713" y="4724400"/>
            <a:ext cx="5426075" cy="693738"/>
          </a:xfrm>
          <a:prstGeom prst="rect">
            <a:avLst/>
          </a:prstGeom>
          <a:solidFill>
            <a:srgbClr val="FFFFFF"/>
          </a:solidFill>
          <a:ln w="9525" cap="flat" cmpd="sng">
            <a:solidFill>
              <a:srgbClr val="000000"/>
            </a:solidFill>
            <a:prstDash val="solid"/>
            <a:miter/>
            <a:headEnd type="none" w="med" len="med"/>
            <a:tailEnd type="none" w="med" len="med"/>
          </a:ln>
        </p:spPr>
        <p:txBody>
          <a:bodyPr lIns="116623" tIns="58311" rIns="116623" bIns="5831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110000"/>
              </a:lnSpc>
              <a:spcBef>
                <a:spcPct val="0"/>
              </a:spcBef>
              <a:buClrTx/>
              <a:buSzTx/>
              <a:buFontTx/>
              <a:buNone/>
            </a:pPr>
            <a:r>
              <a:rPr lang="zh-CN" altLang="en-US" sz="2200" b="1" dirty="0">
                <a:ea typeface="黑体" panose="02010609060101010101" pitchFamily="49" charset="-122"/>
              </a:rPr>
              <a:t>后备存储器（磁带库、光盘库）</a:t>
            </a:r>
            <a:endParaRPr lang="zh-CN" altLang="en-US" sz="2200" b="1" dirty="0">
              <a:ea typeface="黑体" panose="02010609060101010101" pitchFamily="49" charset="-122"/>
            </a:endParaRPr>
          </a:p>
        </p:txBody>
      </p:sp>
      <p:sp>
        <p:nvSpPr>
          <p:cNvPr id="115719" name="Line 7"/>
          <p:cNvSpPr/>
          <p:nvPr/>
        </p:nvSpPr>
        <p:spPr>
          <a:xfrm flipV="1">
            <a:off x="795338" y="4010025"/>
            <a:ext cx="8093075" cy="15875"/>
          </a:xfrm>
          <a:prstGeom prst="line">
            <a:avLst/>
          </a:prstGeom>
          <a:ln w="19050" cap="flat" cmpd="sng">
            <a:solidFill>
              <a:srgbClr val="000000"/>
            </a:solidFill>
            <a:prstDash val="dash"/>
            <a:headEnd type="none" w="med" len="med"/>
            <a:tailEnd type="none" w="med" len="med"/>
          </a:ln>
        </p:spPr>
      </p:sp>
      <p:sp>
        <p:nvSpPr>
          <p:cNvPr id="115720" name="Text Box 8"/>
          <p:cNvSpPr txBox="1"/>
          <p:nvPr/>
        </p:nvSpPr>
        <p:spPr>
          <a:xfrm>
            <a:off x="5246688" y="1808163"/>
            <a:ext cx="1612900" cy="974725"/>
          </a:xfrm>
          <a:prstGeom prst="rect">
            <a:avLst/>
          </a:prstGeom>
          <a:noFill/>
          <a:ln w="9525">
            <a:noFill/>
          </a:ln>
        </p:spPr>
        <p:txBody>
          <a:bodyPr lIns="116623" tIns="58311" rIns="116623" bIns="5831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110000"/>
              </a:lnSpc>
              <a:spcBef>
                <a:spcPct val="0"/>
              </a:spcBef>
              <a:buClrTx/>
              <a:buSzTx/>
              <a:buFontTx/>
              <a:buNone/>
            </a:pPr>
            <a:r>
              <a:rPr lang="zh-CN" altLang="en-US" sz="2400" b="1" dirty="0">
                <a:solidFill>
                  <a:srgbClr val="0000CC"/>
                </a:solidFill>
                <a:latin typeface="Times New Roman" panose="02020603050405020304" pitchFamily="18" charset="0"/>
                <a:ea typeface="黑体" panose="02010609060101010101" pitchFamily="49" charset="-122"/>
              </a:rPr>
              <a:t>内存储器</a:t>
            </a:r>
            <a:endParaRPr lang="zh-CN" altLang="en-US" sz="2400" b="1" dirty="0">
              <a:solidFill>
                <a:srgbClr val="0000CC"/>
              </a:solidFill>
              <a:ea typeface="黑体" panose="02010609060101010101" pitchFamily="49" charset="-122"/>
            </a:endParaRPr>
          </a:p>
        </p:txBody>
      </p:sp>
      <p:sp>
        <p:nvSpPr>
          <p:cNvPr id="115721" name="Text Box 9"/>
          <p:cNvSpPr txBox="1"/>
          <p:nvPr/>
        </p:nvSpPr>
        <p:spPr>
          <a:xfrm>
            <a:off x="3851275" y="5454650"/>
            <a:ext cx="1612900" cy="976313"/>
          </a:xfrm>
          <a:prstGeom prst="rect">
            <a:avLst/>
          </a:prstGeom>
          <a:noFill/>
          <a:ln w="9525">
            <a:noFill/>
          </a:ln>
        </p:spPr>
        <p:txBody>
          <a:bodyPr lIns="116623" tIns="58311" rIns="116623" bIns="58311"/>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110000"/>
              </a:lnSpc>
              <a:spcBef>
                <a:spcPct val="0"/>
              </a:spcBef>
              <a:buClrTx/>
              <a:buSzTx/>
              <a:buFontTx/>
              <a:buNone/>
            </a:pPr>
            <a:r>
              <a:rPr lang="zh-CN" altLang="en-US" sz="2400" b="1" dirty="0">
                <a:solidFill>
                  <a:srgbClr val="0000CC"/>
                </a:solidFill>
                <a:latin typeface="Times New Roman" panose="02020603050405020304" pitchFamily="18" charset="0"/>
                <a:ea typeface="黑体" panose="02010609060101010101" pitchFamily="49" charset="-122"/>
              </a:rPr>
              <a:t>外存储器</a:t>
            </a:r>
            <a:endParaRPr lang="zh-CN" altLang="en-US" sz="2400" b="1" dirty="0">
              <a:solidFill>
                <a:srgbClr val="0000CC"/>
              </a:solidFill>
              <a:ea typeface="黑体" panose="02010609060101010101" pitchFamily="49" charset="-122"/>
            </a:endParaRPr>
          </a:p>
        </p:txBody>
      </p:sp>
      <p:sp>
        <p:nvSpPr>
          <p:cNvPr id="115722" name="Text Box 10"/>
          <p:cNvSpPr txBox="1"/>
          <p:nvPr/>
        </p:nvSpPr>
        <p:spPr>
          <a:xfrm>
            <a:off x="4086225" y="1981200"/>
            <a:ext cx="901700" cy="636588"/>
          </a:xfrm>
          <a:prstGeom prst="rect">
            <a:avLst/>
          </a:prstGeom>
          <a:solidFill>
            <a:schemeClr val="bg1"/>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110000"/>
              </a:lnSpc>
              <a:spcBef>
                <a:spcPct val="0"/>
              </a:spcBef>
              <a:buClrTx/>
              <a:buSzTx/>
              <a:buFontTx/>
              <a:buNone/>
            </a:pPr>
            <a:r>
              <a:rPr lang="zh-CN" altLang="en-US" sz="2200" b="1" dirty="0">
                <a:ea typeface="黑体" panose="02010609060101010101" pitchFamily="49" charset="-122"/>
              </a:rPr>
              <a:t>寄存器</a:t>
            </a:r>
            <a:endParaRPr lang="zh-CN" altLang="en-US" sz="2200" b="1" dirty="0">
              <a:ea typeface="黑体" panose="02010609060101010101" pitchFamily="49" charset="-122"/>
            </a:endParaRPr>
          </a:p>
        </p:txBody>
      </p:sp>
      <p:sp>
        <p:nvSpPr>
          <p:cNvPr id="115723" name="Text Box 11"/>
          <p:cNvSpPr txBox="1"/>
          <p:nvPr/>
        </p:nvSpPr>
        <p:spPr>
          <a:xfrm>
            <a:off x="7129463" y="1628775"/>
            <a:ext cx="1614487" cy="652463"/>
          </a:xfrm>
          <a:prstGeom prst="rect">
            <a:avLst/>
          </a:prstGeom>
          <a:noFill/>
          <a:ln w="9525">
            <a:noFill/>
          </a:ln>
        </p:spPr>
        <p:txBody>
          <a:bodyPr lIns="116623" tIns="0" rIns="116623"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110000"/>
              </a:lnSpc>
              <a:spcBef>
                <a:spcPct val="0"/>
              </a:spcBef>
              <a:buClrTx/>
              <a:buSzTx/>
              <a:buFontTx/>
              <a:buNone/>
            </a:pPr>
            <a:r>
              <a:rPr lang="zh-CN" altLang="en-US" sz="2200" b="1" dirty="0">
                <a:ea typeface="黑体" panose="02010609060101010101" pitchFamily="49" charset="-122"/>
              </a:rPr>
              <a:t>典型容量</a:t>
            </a:r>
            <a:endParaRPr lang="zh-CN" altLang="en-US" sz="2200" b="1" dirty="0">
              <a:ea typeface="黑体" panose="02010609060101010101" pitchFamily="49" charset="-122"/>
            </a:endParaRPr>
          </a:p>
        </p:txBody>
      </p:sp>
      <p:sp>
        <p:nvSpPr>
          <p:cNvPr id="115724" name="Text Box 12"/>
          <p:cNvSpPr txBox="1"/>
          <p:nvPr/>
        </p:nvSpPr>
        <p:spPr>
          <a:xfrm>
            <a:off x="7227888" y="2162175"/>
            <a:ext cx="1916112" cy="652463"/>
          </a:xfrm>
          <a:prstGeom prst="rect">
            <a:avLst/>
          </a:prstGeom>
          <a:noFill/>
          <a:ln w="9525">
            <a:noFill/>
          </a:ln>
        </p:spPr>
        <p:txBody>
          <a:bodyPr lIns="116623" tIns="0" rIns="116623"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lnSpc>
                <a:spcPct val="110000"/>
              </a:lnSpc>
              <a:spcBef>
                <a:spcPct val="0"/>
              </a:spcBef>
              <a:buClrTx/>
              <a:buSzTx/>
              <a:buFontTx/>
              <a:buNone/>
            </a:pPr>
            <a:r>
              <a:rPr lang="en-US" altLang="zh-CN" sz="2200" b="1" dirty="0">
                <a:ea typeface="黑体" panose="02010609060101010101" pitchFamily="49" charset="-122"/>
              </a:rPr>
              <a:t>&lt;1KB</a:t>
            </a:r>
            <a:endParaRPr lang="en-US" altLang="zh-CN" sz="2200" b="1" dirty="0">
              <a:ea typeface="黑体" panose="02010609060101010101" pitchFamily="49" charset="-122"/>
            </a:endParaRPr>
          </a:p>
        </p:txBody>
      </p:sp>
      <p:sp>
        <p:nvSpPr>
          <p:cNvPr id="115725" name="Text Box 13"/>
          <p:cNvSpPr txBox="1"/>
          <p:nvPr/>
        </p:nvSpPr>
        <p:spPr>
          <a:xfrm>
            <a:off x="7272338" y="2722563"/>
            <a:ext cx="1871662" cy="652462"/>
          </a:xfrm>
          <a:prstGeom prst="rect">
            <a:avLst/>
          </a:prstGeom>
          <a:noFill/>
          <a:ln w="9525">
            <a:noFill/>
          </a:ln>
        </p:spPr>
        <p:txBody>
          <a:bodyPr lIns="116623" tIns="0" rIns="116623"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lnSpc>
                <a:spcPct val="110000"/>
              </a:lnSpc>
              <a:spcBef>
                <a:spcPct val="0"/>
              </a:spcBef>
              <a:buClrTx/>
              <a:buSzTx/>
              <a:buFontTx/>
              <a:buNone/>
            </a:pPr>
            <a:r>
              <a:rPr lang="en-US" altLang="zh-CN" sz="2200" b="1" dirty="0">
                <a:ea typeface="黑体" panose="02010609060101010101" pitchFamily="49" charset="-122"/>
              </a:rPr>
              <a:t>1MB</a:t>
            </a:r>
            <a:endParaRPr lang="en-US" altLang="zh-CN" sz="2200" b="1" dirty="0">
              <a:ea typeface="黑体" panose="02010609060101010101" pitchFamily="49" charset="-122"/>
            </a:endParaRPr>
          </a:p>
        </p:txBody>
      </p:sp>
      <p:sp>
        <p:nvSpPr>
          <p:cNvPr id="115726" name="Text Box 14"/>
          <p:cNvSpPr txBox="1"/>
          <p:nvPr/>
        </p:nvSpPr>
        <p:spPr>
          <a:xfrm>
            <a:off x="7181850" y="3375025"/>
            <a:ext cx="1962150" cy="654050"/>
          </a:xfrm>
          <a:prstGeom prst="rect">
            <a:avLst/>
          </a:prstGeom>
          <a:noFill/>
          <a:ln w="9525">
            <a:noFill/>
          </a:ln>
        </p:spPr>
        <p:txBody>
          <a:bodyPr lIns="116623" tIns="0" rIns="116623"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lnSpc>
                <a:spcPct val="110000"/>
              </a:lnSpc>
              <a:spcBef>
                <a:spcPct val="0"/>
              </a:spcBef>
              <a:buClrTx/>
              <a:buSzTx/>
              <a:buFontTx/>
              <a:buNone/>
            </a:pPr>
            <a:r>
              <a:rPr lang="en-US" altLang="zh-CN" sz="2200" b="1" dirty="0">
                <a:ea typeface="黑体" panose="02010609060101010101" pitchFamily="49" charset="-122"/>
              </a:rPr>
              <a:t>256MB</a:t>
            </a:r>
            <a:r>
              <a:rPr lang="en-US" altLang="zh-CN" sz="1800" b="1" dirty="0">
                <a:ea typeface="华文新魏" pitchFamily="2" charset="-122"/>
              </a:rPr>
              <a:t>~</a:t>
            </a:r>
            <a:r>
              <a:rPr lang="en-US" altLang="zh-CN" sz="2200" b="1" dirty="0">
                <a:ea typeface="黑体" panose="02010609060101010101" pitchFamily="49" charset="-122"/>
              </a:rPr>
              <a:t>1GB</a:t>
            </a:r>
            <a:endParaRPr lang="en-US" altLang="zh-CN" sz="2200" b="1" dirty="0">
              <a:ea typeface="黑体" panose="02010609060101010101" pitchFamily="49" charset="-122"/>
            </a:endParaRPr>
          </a:p>
        </p:txBody>
      </p:sp>
      <p:sp>
        <p:nvSpPr>
          <p:cNvPr id="115727" name="Text Box 15"/>
          <p:cNvSpPr txBox="1"/>
          <p:nvPr/>
        </p:nvSpPr>
        <p:spPr>
          <a:xfrm>
            <a:off x="7002463" y="4165600"/>
            <a:ext cx="2141537" cy="654050"/>
          </a:xfrm>
          <a:prstGeom prst="rect">
            <a:avLst/>
          </a:prstGeom>
          <a:noFill/>
          <a:ln w="9525">
            <a:noFill/>
          </a:ln>
        </p:spPr>
        <p:txBody>
          <a:bodyPr lIns="116623" tIns="0" rIns="116623"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lnSpc>
                <a:spcPct val="110000"/>
              </a:lnSpc>
              <a:spcBef>
                <a:spcPct val="0"/>
              </a:spcBef>
              <a:buClrTx/>
              <a:buSzTx/>
              <a:buFontTx/>
              <a:buNone/>
            </a:pPr>
            <a:r>
              <a:rPr lang="en-US" altLang="zh-CN" sz="2200" b="1" dirty="0">
                <a:ea typeface="黑体" panose="02010609060101010101" pitchFamily="49" charset="-122"/>
              </a:rPr>
              <a:t>40GB</a:t>
            </a:r>
            <a:r>
              <a:rPr lang="en-US" altLang="zh-CN" sz="1800" b="1" dirty="0">
                <a:ea typeface="华文新魏" pitchFamily="2" charset="-122"/>
              </a:rPr>
              <a:t>~</a:t>
            </a:r>
            <a:r>
              <a:rPr lang="en-US" altLang="zh-CN" sz="2200" b="1" dirty="0">
                <a:ea typeface="黑体" panose="02010609060101010101" pitchFamily="49" charset="-122"/>
              </a:rPr>
              <a:t>200GB</a:t>
            </a:r>
            <a:endParaRPr lang="en-US" altLang="zh-CN" sz="2200" b="1" dirty="0">
              <a:ea typeface="黑体" panose="02010609060101010101" pitchFamily="49" charset="-122"/>
            </a:endParaRPr>
          </a:p>
        </p:txBody>
      </p:sp>
      <p:sp>
        <p:nvSpPr>
          <p:cNvPr id="115728" name="Text Box 16"/>
          <p:cNvSpPr txBox="1"/>
          <p:nvPr/>
        </p:nvSpPr>
        <p:spPr>
          <a:xfrm>
            <a:off x="7137400" y="4802188"/>
            <a:ext cx="2006600" cy="652462"/>
          </a:xfrm>
          <a:prstGeom prst="rect">
            <a:avLst/>
          </a:prstGeom>
          <a:noFill/>
          <a:ln w="9525">
            <a:noFill/>
          </a:ln>
        </p:spPr>
        <p:txBody>
          <a:bodyPr lIns="116623" tIns="0" rIns="116623"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lnSpc>
                <a:spcPct val="110000"/>
              </a:lnSpc>
              <a:spcBef>
                <a:spcPct val="0"/>
              </a:spcBef>
              <a:buClrTx/>
              <a:buSzTx/>
              <a:buFontTx/>
              <a:buNone/>
            </a:pPr>
            <a:r>
              <a:rPr lang="en-US" altLang="zh-CN" sz="2200" b="1" dirty="0">
                <a:ea typeface="黑体" panose="02010609060101010101" pitchFamily="49" charset="-122"/>
              </a:rPr>
              <a:t>10TB</a:t>
            </a:r>
            <a:r>
              <a:rPr lang="en-US" altLang="zh-CN" sz="1800" b="1" dirty="0">
                <a:ea typeface="华文新魏" pitchFamily="2" charset="-122"/>
              </a:rPr>
              <a:t>~</a:t>
            </a:r>
            <a:r>
              <a:rPr lang="en-US" altLang="zh-CN" sz="2200" b="1" dirty="0">
                <a:ea typeface="黑体" panose="02010609060101010101" pitchFamily="49" charset="-122"/>
              </a:rPr>
              <a:t>100TB</a:t>
            </a:r>
            <a:endParaRPr lang="en-US" altLang="zh-CN" sz="2200" b="1" dirty="0">
              <a:ea typeface="黑体" panose="02010609060101010101" pitchFamily="49" charset="-122"/>
            </a:endParaRPr>
          </a:p>
        </p:txBody>
      </p:sp>
      <p:sp>
        <p:nvSpPr>
          <p:cNvPr id="115729" name="Text Box 17"/>
          <p:cNvSpPr txBox="1"/>
          <p:nvPr/>
        </p:nvSpPr>
        <p:spPr>
          <a:xfrm>
            <a:off x="373063" y="1651000"/>
            <a:ext cx="2263775" cy="652463"/>
          </a:xfrm>
          <a:prstGeom prst="rect">
            <a:avLst/>
          </a:prstGeom>
          <a:noFill/>
          <a:ln w="9525">
            <a:noFill/>
          </a:ln>
        </p:spPr>
        <p:txBody>
          <a:bodyPr lIns="116623" tIns="0" rIns="116623"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lnSpc>
                <a:spcPct val="110000"/>
              </a:lnSpc>
              <a:spcBef>
                <a:spcPct val="0"/>
              </a:spcBef>
              <a:buClrTx/>
              <a:buSzTx/>
              <a:buFontTx/>
              <a:buNone/>
            </a:pPr>
            <a:r>
              <a:rPr lang="zh-CN" altLang="en-US" sz="2200" b="1" dirty="0">
                <a:ea typeface="黑体" panose="02010609060101010101" pitchFamily="49" charset="-122"/>
              </a:rPr>
              <a:t>典型存取时间</a:t>
            </a:r>
            <a:endParaRPr lang="zh-CN" altLang="en-US" sz="2200" b="1" dirty="0">
              <a:ea typeface="黑体" panose="02010609060101010101" pitchFamily="49" charset="-122"/>
            </a:endParaRPr>
          </a:p>
        </p:txBody>
      </p:sp>
      <p:sp>
        <p:nvSpPr>
          <p:cNvPr id="115730" name="Text Box 18"/>
          <p:cNvSpPr txBox="1"/>
          <p:nvPr/>
        </p:nvSpPr>
        <p:spPr>
          <a:xfrm>
            <a:off x="296863" y="2160588"/>
            <a:ext cx="2609850" cy="654050"/>
          </a:xfrm>
          <a:prstGeom prst="rect">
            <a:avLst/>
          </a:prstGeom>
          <a:noFill/>
          <a:ln w="9525">
            <a:noFill/>
          </a:ln>
        </p:spPr>
        <p:txBody>
          <a:bodyPr lIns="116623" tIns="0" rIns="116623"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lnSpc>
                <a:spcPct val="110000"/>
              </a:lnSpc>
              <a:spcBef>
                <a:spcPct val="0"/>
              </a:spcBef>
              <a:buClrTx/>
              <a:buSzTx/>
              <a:buFontTx/>
              <a:buNone/>
            </a:pPr>
            <a:r>
              <a:rPr lang="en-US" altLang="zh-CN" sz="2200" b="1" dirty="0">
                <a:ea typeface="黑体" panose="02010609060101010101" pitchFamily="49" charset="-122"/>
              </a:rPr>
              <a:t>1ns(0.5</a:t>
            </a:r>
            <a:r>
              <a:rPr lang="en-US" altLang="zh-CN" sz="2200" b="1" dirty="0">
                <a:cs typeface="Times New Roman" panose="02020603050405020304" pitchFamily="18" charset="0"/>
              </a:rPr>
              <a:t>~</a:t>
            </a:r>
            <a:r>
              <a:rPr lang="en-US" altLang="zh-CN" sz="2200" b="1" dirty="0">
                <a:ea typeface="黑体" panose="02010609060101010101" pitchFamily="49" charset="-122"/>
              </a:rPr>
              <a:t>1cycle</a:t>
            </a:r>
            <a:r>
              <a:rPr lang="en-US" altLang="zh-CN" sz="1500" b="1" dirty="0">
                <a:solidFill>
                  <a:schemeClr val="hlink"/>
                </a:solidFill>
                <a:latin typeface="Times New Roman" panose="02020603050405020304" pitchFamily="18" charset="0"/>
                <a:ea typeface="黑体" panose="02010609060101010101" pitchFamily="49" charset="-122"/>
              </a:rPr>
              <a:t>)</a:t>
            </a:r>
            <a:endParaRPr lang="en-US" altLang="zh-CN" sz="2300" b="1" dirty="0">
              <a:solidFill>
                <a:schemeClr val="hlink"/>
              </a:solidFill>
              <a:ea typeface="黑体" panose="02010609060101010101" pitchFamily="49" charset="-122"/>
            </a:endParaRPr>
          </a:p>
        </p:txBody>
      </p:sp>
      <p:sp>
        <p:nvSpPr>
          <p:cNvPr id="115731" name="Text Box 19"/>
          <p:cNvSpPr txBox="1"/>
          <p:nvPr/>
        </p:nvSpPr>
        <p:spPr>
          <a:xfrm>
            <a:off x="296863" y="2708275"/>
            <a:ext cx="3105150" cy="654050"/>
          </a:xfrm>
          <a:prstGeom prst="rect">
            <a:avLst/>
          </a:prstGeom>
          <a:noFill/>
          <a:ln w="9525">
            <a:noFill/>
          </a:ln>
        </p:spPr>
        <p:txBody>
          <a:bodyPr lIns="116623" tIns="0" rIns="116623"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lnSpc>
                <a:spcPct val="110000"/>
              </a:lnSpc>
              <a:spcBef>
                <a:spcPct val="0"/>
              </a:spcBef>
              <a:buClrTx/>
              <a:buSzTx/>
              <a:buFontTx/>
              <a:buNone/>
            </a:pPr>
            <a:r>
              <a:rPr lang="en-US" altLang="zh-CN" sz="2200" b="1" dirty="0">
                <a:ea typeface="黑体" panose="02010609060101010101" pitchFamily="49" charset="-122"/>
              </a:rPr>
              <a:t>2ns(1~3cycle)</a:t>
            </a:r>
            <a:endParaRPr lang="en-US" altLang="zh-CN" sz="2200" b="1" dirty="0">
              <a:ea typeface="黑体" panose="02010609060101010101" pitchFamily="49" charset="-122"/>
            </a:endParaRPr>
          </a:p>
        </p:txBody>
      </p:sp>
      <p:sp>
        <p:nvSpPr>
          <p:cNvPr id="115732" name="Text Box 20"/>
          <p:cNvSpPr txBox="1"/>
          <p:nvPr/>
        </p:nvSpPr>
        <p:spPr>
          <a:xfrm>
            <a:off x="206375" y="3384550"/>
            <a:ext cx="2925763" cy="652463"/>
          </a:xfrm>
          <a:prstGeom prst="rect">
            <a:avLst/>
          </a:prstGeom>
          <a:noFill/>
          <a:ln w="9525">
            <a:noFill/>
          </a:ln>
        </p:spPr>
        <p:txBody>
          <a:bodyPr lIns="116623" tIns="0" rIns="116623"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lnSpc>
                <a:spcPct val="110000"/>
              </a:lnSpc>
              <a:spcBef>
                <a:spcPct val="0"/>
              </a:spcBef>
              <a:buClrTx/>
              <a:buSzTx/>
              <a:buFontTx/>
              <a:buNone/>
            </a:pPr>
            <a:r>
              <a:rPr lang="en-US" altLang="zh-CN" sz="2200" b="1" dirty="0">
                <a:ea typeface="黑体" panose="02010609060101010101" pitchFamily="49" charset="-122"/>
              </a:rPr>
              <a:t>10ns(10~100cycle)</a:t>
            </a:r>
            <a:endParaRPr lang="en-US" altLang="zh-CN" sz="1500" b="1" dirty="0">
              <a:solidFill>
                <a:schemeClr val="hlink"/>
              </a:solidFill>
              <a:latin typeface="Times New Roman" panose="02020603050405020304" pitchFamily="18" charset="0"/>
              <a:ea typeface="黑体" panose="02010609060101010101" pitchFamily="49" charset="-122"/>
            </a:endParaRPr>
          </a:p>
        </p:txBody>
      </p:sp>
      <p:sp>
        <p:nvSpPr>
          <p:cNvPr id="115733" name="Text Box 21"/>
          <p:cNvSpPr txBox="1"/>
          <p:nvPr/>
        </p:nvSpPr>
        <p:spPr>
          <a:xfrm>
            <a:off x="206375" y="4149725"/>
            <a:ext cx="3086100" cy="650875"/>
          </a:xfrm>
          <a:prstGeom prst="rect">
            <a:avLst/>
          </a:prstGeom>
          <a:noFill/>
          <a:ln w="9525">
            <a:noFill/>
          </a:ln>
        </p:spPr>
        <p:txBody>
          <a:bodyPr lIns="116623" tIns="0" rIns="116623"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lnSpc>
                <a:spcPct val="110000"/>
              </a:lnSpc>
              <a:spcBef>
                <a:spcPct val="0"/>
              </a:spcBef>
              <a:buClrTx/>
              <a:buSzTx/>
              <a:buFontTx/>
              <a:buNone/>
            </a:pPr>
            <a:r>
              <a:rPr lang="en-US" altLang="zh-CN" sz="2200" b="1" dirty="0">
                <a:ea typeface="黑体" panose="02010609060101010101" pitchFamily="49" charset="-122"/>
              </a:rPr>
              <a:t>10ms (10~100c)</a:t>
            </a:r>
            <a:endParaRPr lang="en-US" altLang="zh-CN" sz="2200" b="1" dirty="0">
              <a:ea typeface="黑体" panose="02010609060101010101" pitchFamily="49" charset="-122"/>
            </a:endParaRPr>
          </a:p>
        </p:txBody>
      </p:sp>
      <p:sp>
        <p:nvSpPr>
          <p:cNvPr id="115734" name="Text Box 22"/>
          <p:cNvSpPr txBox="1"/>
          <p:nvPr/>
        </p:nvSpPr>
        <p:spPr>
          <a:xfrm>
            <a:off x="206375" y="4778375"/>
            <a:ext cx="1889125" cy="652463"/>
          </a:xfrm>
          <a:prstGeom prst="rect">
            <a:avLst/>
          </a:prstGeom>
          <a:noFill/>
          <a:ln w="9525">
            <a:noFill/>
          </a:ln>
        </p:spPr>
        <p:txBody>
          <a:bodyPr lIns="116623" tIns="0" rIns="116623"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eaLnBrk="1" hangingPunct="1">
              <a:lnSpc>
                <a:spcPct val="110000"/>
              </a:lnSpc>
              <a:spcBef>
                <a:spcPct val="0"/>
              </a:spcBef>
              <a:buClrTx/>
              <a:buSzTx/>
              <a:buFontTx/>
              <a:buNone/>
            </a:pPr>
            <a:r>
              <a:rPr lang="en-US" altLang="zh-CN" sz="2200" b="1" dirty="0">
                <a:ea typeface="黑体" panose="02010609060101010101" pitchFamily="49" charset="-122"/>
              </a:rPr>
              <a:t>10 s</a:t>
            </a:r>
            <a:endParaRPr lang="en-US" altLang="zh-CN" sz="2200" b="1" dirty="0">
              <a:ea typeface="黑体" panose="02010609060101010101" pitchFamily="49" charset="-122"/>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Rectangle 2"/>
          <p:cNvSpPr>
            <a:spLocks noGrp="1"/>
          </p:cNvSpPr>
          <p:nvPr>
            <p:ph type="title"/>
          </p:nvPr>
        </p:nvSpPr>
        <p:spPr>
          <a:xfrm>
            <a:off x="469900" y="266700"/>
            <a:ext cx="7531100" cy="785813"/>
          </a:xfrm>
        </p:spPr>
        <p:txBody>
          <a:bodyPr vert="horz" wrap="square" lIns="91440" tIns="45720" rIns="91440" bIns="45720" anchor="ctr" anchorCtr="0"/>
          <a:p>
            <a:pPr defTabSz="717550"/>
            <a:r>
              <a:rPr lang="zh-CN" altLang="en-US" dirty="0"/>
              <a:t>计算机中存储器的层次结构</a:t>
            </a:r>
            <a:endParaRPr lang="zh-CN" altLang="en-US" dirty="0"/>
          </a:p>
        </p:txBody>
      </p:sp>
      <p:sp>
        <p:nvSpPr>
          <p:cNvPr id="116739" name="Text Box 3"/>
          <p:cNvSpPr txBox="1"/>
          <p:nvPr/>
        </p:nvSpPr>
        <p:spPr>
          <a:xfrm>
            <a:off x="341313" y="1089025"/>
            <a:ext cx="8551862" cy="4200525"/>
          </a:xfrm>
          <a:prstGeom prst="rect">
            <a:avLst/>
          </a:prstGeom>
          <a:noFill/>
          <a:ln w="9525">
            <a:noFill/>
          </a:ln>
        </p:spPr>
        <p:txBody>
          <a:bodyPr lIns="116623" tIns="58311" rIns="116623" bIns="58311">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227330" lvl="0" indent="-227330" eaLnBrk="1" hangingPunct="1">
              <a:lnSpc>
                <a:spcPct val="120000"/>
              </a:lnSpc>
              <a:spcBef>
                <a:spcPct val="10000"/>
              </a:spcBef>
              <a:buClrTx/>
              <a:buSzTx/>
              <a:buFontTx/>
              <a:buChar char="•"/>
            </a:pPr>
            <a:r>
              <a:rPr lang="zh-CN" altLang="en-US" sz="2200" b="1" dirty="0">
                <a:ea typeface="黑体" panose="02010609060101010101" pitchFamily="49" charset="-122"/>
              </a:rPr>
              <a:t>分析：速度越快，成本越高</a:t>
            </a:r>
            <a:endParaRPr lang="en-US" altLang="zh-CN" sz="2200" b="1" dirty="0">
              <a:ea typeface="黑体" panose="02010609060101010101" pitchFamily="49" charset="-122"/>
            </a:endParaRPr>
          </a:p>
          <a:p>
            <a:pPr marL="227330" lvl="0" indent="-227330" eaLnBrk="1" hangingPunct="1">
              <a:lnSpc>
                <a:spcPct val="120000"/>
              </a:lnSpc>
              <a:spcBef>
                <a:spcPct val="10000"/>
              </a:spcBef>
              <a:buClrTx/>
              <a:buSzTx/>
              <a:buFontTx/>
              <a:buChar char="•"/>
            </a:pPr>
            <a:r>
              <a:rPr lang="zh-CN" altLang="en-US" sz="2200" b="1" dirty="0">
                <a:ea typeface="黑体" panose="02010609060101010101" pitchFamily="49" charset="-122"/>
              </a:rPr>
              <a:t>为提高</a:t>
            </a:r>
            <a:r>
              <a:rPr lang="zh-CN" altLang="en-US" sz="2200" b="1" dirty="0">
                <a:solidFill>
                  <a:schemeClr val="hlink"/>
                </a:solidFill>
                <a:ea typeface="黑体" panose="02010609060101010101" pitchFamily="49" charset="-122"/>
              </a:rPr>
              <a:t>性能</a:t>
            </a:r>
            <a:r>
              <a:rPr lang="en-US" altLang="zh-CN" sz="2200" b="1" dirty="0">
                <a:solidFill>
                  <a:schemeClr val="hlink"/>
                </a:solidFill>
                <a:ea typeface="黑体" panose="02010609060101010101" pitchFamily="49" charset="-122"/>
              </a:rPr>
              <a:t>/</a:t>
            </a:r>
            <a:r>
              <a:rPr lang="zh-CN" altLang="en-US" sz="2200" b="1" dirty="0">
                <a:solidFill>
                  <a:schemeClr val="hlink"/>
                </a:solidFill>
                <a:ea typeface="黑体" panose="02010609060101010101" pitchFamily="49" charset="-122"/>
              </a:rPr>
              <a:t>价格，</a:t>
            </a:r>
            <a:r>
              <a:rPr lang="zh-CN" altLang="en-US" sz="2200" b="1" dirty="0">
                <a:ea typeface="黑体" panose="02010609060101010101" pitchFamily="49" charset="-122"/>
              </a:rPr>
              <a:t>组成一个层状塔式结构，取长补短，协调工作</a:t>
            </a:r>
            <a:endParaRPr lang="en-US" altLang="zh-CN" sz="2200" b="1" dirty="0">
              <a:ea typeface="黑体" panose="02010609060101010101" pitchFamily="49" charset="-122"/>
            </a:endParaRPr>
          </a:p>
          <a:p>
            <a:pPr marL="227330" lvl="0" indent="-227330" eaLnBrk="1" hangingPunct="1">
              <a:lnSpc>
                <a:spcPct val="120000"/>
              </a:lnSpc>
              <a:spcBef>
                <a:spcPct val="10000"/>
              </a:spcBef>
              <a:buClrTx/>
              <a:buSzTx/>
              <a:buFontTx/>
              <a:buChar char="•"/>
            </a:pPr>
            <a:r>
              <a:rPr lang="en-US" altLang="zh-CN" sz="2200" b="1" dirty="0">
                <a:ea typeface="黑体" panose="02010609060101010101" pitchFamily="49" charset="-122"/>
              </a:rPr>
              <a:t> </a:t>
            </a:r>
            <a:r>
              <a:rPr lang="zh-CN" altLang="en-US" sz="2200" b="1" dirty="0">
                <a:ea typeface="黑体" panose="02010609060101010101" pitchFamily="49" charset="-122"/>
              </a:rPr>
              <a:t>工作过程：</a:t>
            </a:r>
            <a:endParaRPr lang="en-US" altLang="zh-CN" sz="2200" b="1" dirty="0">
              <a:ea typeface="黑体" panose="02010609060101010101" pitchFamily="49" charset="-122"/>
            </a:endParaRPr>
          </a:p>
          <a:p>
            <a:pPr marL="1167130" lvl="1" indent="-711200" eaLnBrk="1" hangingPunct="1">
              <a:lnSpc>
                <a:spcPct val="120000"/>
              </a:lnSpc>
              <a:spcBef>
                <a:spcPct val="0"/>
              </a:spcBef>
              <a:buClrTx/>
              <a:buSzTx/>
              <a:buFontTx/>
              <a:buNone/>
            </a:pPr>
            <a:r>
              <a:rPr lang="en-US" altLang="zh-CN" sz="2200" b="1" dirty="0">
                <a:solidFill>
                  <a:srgbClr val="0000FF"/>
                </a:solidFill>
                <a:ea typeface="黑体" panose="02010609060101010101" pitchFamily="49" charset="-122"/>
              </a:rPr>
              <a:t>1</a:t>
            </a:r>
            <a:r>
              <a:rPr lang="zh-CN" altLang="en-US" sz="2200" b="1" dirty="0">
                <a:solidFill>
                  <a:srgbClr val="0000FF"/>
                </a:solidFill>
                <a:ea typeface="黑体" panose="02010609060101010101" pitchFamily="49" charset="-122"/>
              </a:rPr>
              <a:t>）</a:t>
            </a:r>
            <a:r>
              <a:rPr lang="en-US" altLang="zh-CN" sz="2200" b="1" dirty="0">
                <a:solidFill>
                  <a:srgbClr val="0000FF"/>
                </a:solidFill>
                <a:ea typeface="黑体" panose="02010609060101010101" pitchFamily="49" charset="-122"/>
              </a:rPr>
              <a:t>CPU</a:t>
            </a:r>
            <a:r>
              <a:rPr lang="zh-CN" altLang="en-US" sz="2200" b="1" dirty="0">
                <a:solidFill>
                  <a:srgbClr val="0000FF"/>
                </a:solidFill>
                <a:ea typeface="黑体" panose="02010609060101010101" pitchFamily="49" charset="-122"/>
              </a:rPr>
              <a:t>运行时，需要的操作数大部分来自寄存器</a:t>
            </a:r>
            <a:endParaRPr lang="en-US" altLang="zh-CN" sz="2200" b="1" dirty="0">
              <a:solidFill>
                <a:srgbClr val="0000FF"/>
              </a:solidFill>
              <a:ea typeface="黑体" panose="02010609060101010101" pitchFamily="49" charset="-122"/>
            </a:endParaRPr>
          </a:p>
          <a:p>
            <a:pPr marL="1167130" lvl="1" indent="-711200" eaLnBrk="1" hangingPunct="1">
              <a:lnSpc>
                <a:spcPct val="120000"/>
              </a:lnSpc>
              <a:spcBef>
                <a:spcPct val="0"/>
              </a:spcBef>
              <a:buClrTx/>
              <a:buSzTx/>
              <a:buFontTx/>
              <a:buNone/>
            </a:pPr>
            <a:r>
              <a:rPr lang="en-US" altLang="zh-CN" sz="2200" b="1" dirty="0">
                <a:solidFill>
                  <a:srgbClr val="0000FF"/>
                </a:solidFill>
                <a:ea typeface="黑体" panose="02010609060101010101" pitchFamily="49" charset="-122"/>
              </a:rPr>
              <a:t>2</a:t>
            </a:r>
            <a:r>
              <a:rPr lang="zh-CN" altLang="en-US" sz="2200" b="1" dirty="0">
                <a:solidFill>
                  <a:srgbClr val="0000FF"/>
                </a:solidFill>
                <a:ea typeface="黑体" panose="02010609060101010101" pitchFamily="49" charset="-122"/>
              </a:rPr>
              <a:t>）如需要从</a:t>
            </a:r>
            <a:r>
              <a:rPr lang="en-US" altLang="zh-CN" sz="2200" b="1" dirty="0">
                <a:solidFill>
                  <a:srgbClr val="0000FF"/>
                </a:solidFill>
                <a:ea typeface="黑体" panose="02010609060101010101" pitchFamily="49" charset="-122"/>
              </a:rPr>
              <a:t>(</a:t>
            </a:r>
            <a:r>
              <a:rPr lang="zh-CN" altLang="en-US" sz="2200" b="1" dirty="0">
                <a:solidFill>
                  <a:srgbClr val="0000FF"/>
                </a:solidFill>
                <a:ea typeface="黑体" panose="02010609060101010101" pitchFamily="49" charset="-122"/>
              </a:rPr>
              <a:t>向</a:t>
            </a:r>
            <a:r>
              <a:rPr lang="en-US" altLang="zh-CN" sz="2200" b="1" dirty="0">
                <a:solidFill>
                  <a:srgbClr val="0000FF"/>
                </a:solidFill>
                <a:ea typeface="黑体" panose="02010609060101010101" pitchFamily="49" charset="-122"/>
              </a:rPr>
              <a:t>)</a:t>
            </a:r>
            <a:r>
              <a:rPr lang="zh-CN" altLang="en-US" sz="2200" b="1" dirty="0">
                <a:solidFill>
                  <a:srgbClr val="0000FF"/>
                </a:solidFill>
                <a:ea typeface="黑体" panose="02010609060101010101" pitchFamily="49" charset="-122"/>
              </a:rPr>
              <a:t>存储器中取</a:t>
            </a:r>
            <a:r>
              <a:rPr lang="en-US" altLang="zh-CN" sz="2200" b="1" dirty="0">
                <a:solidFill>
                  <a:srgbClr val="0000FF"/>
                </a:solidFill>
                <a:ea typeface="黑体" panose="02010609060101010101" pitchFamily="49" charset="-122"/>
              </a:rPr>
              <a:t>(</a:t>
            </a:r>
            <a:r>
              <a:rPr lang="zh-CN" altLang="en-US" sz="2200" b="1" dirty="0">
                <a:solidFill>
                  <a:srgbClr val="0000FF"/>
                </a:solidFill>
                <a:ea typeface="黑体" panose="02010609060101010101" pitchFamily="49" charset="-122"/>
              </a:rPr>
              <a:t>存</a:t>
            </a:r>
            <a:r>
              <a:rPr lang="en-US" altLang="zh-CN" sz="2200" b="1" dirty="0">
                <a:solidFill>
                  <a:srgbClr val="0000FF"/>
                </a:solidFill>
                <a:ea typeface="黑体" panose="02010609060101010101" pitchFamily="49" charset="-122"/>
              </a:rPr>
              <a:t>) </a:t>
            </a:r>
            <a:r>
              <a:rPr lang="zh-CN" altLang="en-US" sz="2200" b="1" dirty="0">
                <a:solidFill>
                  <a:srgbClr val="0000FF"/>
                </a:solidFill>
                <a:ea typeface="黑体" panose="02010609060101010101" pitchFamily="49" charset="-122"/>
              </a:rPr>
              <a:t>数据时，先访问</a:t>
            </a:r>
            <a:r>
              <a:rPr lang="en-US" altLang="zh-CN" sz="2200" b="1" dirty="0">
                <a:solidFill>
                  <a:srgbClr val="0000FF"/>
                </a:solidFill>
                <a:ea typeface="黑体" panose="02010609060101010101" pitchFamily="49" charset="-122"/>
              </a:rPr>
              <a:t>cache</a:t>
            </a:r>
            <a:r>
              <a:rPr lang="zh-CN" altLang="en-US" sz="2200" b="1" dirty="0">
                <a:solidFill>
                  <a:srgbClr val="0000FF"/>
                </a:solidFill>
                <a:ea typeface="黑体" panose="02010609060101010101" pitchFamily="49" charset="-122"/>
              </a:rPr>
              <a:t>，如在，取自</a:t>
            </a:r>
            <a:r>
              <a:rPr lang="en-US" altLang="zh-CN" sz="2200" b="1" dirty="0">
                <a:solidFill>
                  <a:srgbClr val="0000FF"/>
                </a:solidFill>
                <a:ea typeface="黑体" panose="02010609060101010101" pitchFamily="49" charset="-122"/>
              </a:rPr>
              <a:t>cache</a:t>
            </a:r>
            <a:endParaRPr lang="en-US" altLang="zh-CN" sz="2200" b="1" dirty="0">
              <a:solidFill>
                <a:srgbClr val="0000FF"/>
              </a:solidFill>
              <a:ea typeface="黑体" panose="02010609060101010101" pitchFamily="49" charset="-122"/>
            </a:endParaRPr>
          </a:p>
          <a:p>
            <a:pPr marL="1167130" lvl="1" indent="-711200" eaLnBrk="1" hangingPunct="1">
              <a:lnSpc>
                <a:spcPct val="120000"/>
              </a:lnSpc>
              <a:spcBef>
                <a:spcPct val="0"/>
              </a:spcBef>
              <a:buClrTx/>
              <a:buSzTx/>
              <a:buFontTx/>
              <a:buNone/>
            </a:pPr>
            <a:r>
              <a:rPr lang="en-US" altLang="zh-CN" sz="2200" b="1" dirty="0">
                <a:solidFill>
                  <a:srgbClr val="0000FF"/>
                </a:solidFill>
                <a:ea typeface="黑体" panose="02010609060101010101" pitchFamily="49" charset="-122"/>
              </a:rPr>
              <a:t>3</a:t>
            </a:r>
            <a:r>
              <a:rPr lang="zh-CN" altLang="en-US" sz="2200" b="1" dirty="0">
                <a:solidFill>
                  <a:srgbClr val="0000FF"/>
                </a:solidFill>
                <a:ea typeface="黑体" panose="02010609060101010101" pitchFamily="49" charset="-122"/>
              </a:rPr>
              <a:t>）如操作数不在</a:t>
            </a:r>
            <a:r>
              <a:rPr lang="en-US" altLang="zh-CN" sz="2200" b="1" dirty="0">
                <a:solidFill>
                  <a:srgbClr val="0000FF"/>
                </a:solidFill>
                <a:ea typeface="黑体" panose="02010609060101010101" pitchFamily="49" charset="-122"/>
              </a:rPr>
              <a:t>cache</a:t>
            </a:r>
            <a:r>
              <a:rPr lang="zh-CN" altLang="en-US" sz="2200" b="1" dirty="0">
                <a:solidFill>
                  <a:srgbClr val="0000FF"/>
                </a:solidFill>
                <a:ea typeface="黑体" panose="02010609060101010101" pitchFamily="49" charset="-122"/>
              </a:rPr>
              <a:t>，则访问</a:t>
            </a:r>
            <a:r>
              <a:rPr lang="en-US" altLang="zh-CN" sz="2200" b="1" dirty="0">
                <a:solidFill>
                  <a:srgbClr val="0000FF"/>
                </a:solidFill>
                <a:ea typeface="黑体" panose="02010609060101010101" pitchFamily="49" charset="-122"/>
              </a:rPr>
              <a:t>RAM</a:t>
            </a:r>
            <a:r>
              <a:rPr lang="zh-CN" altLang="en-US" sz="2200" b="1" dirty="0">
                <a:solidFill>
                  <a:srgbClr val="0000FF"/>
                </a:solidFill>
                <a:ea typeface="黑体" panose="02010609060101010101" pitchFamily="49" charset="-122"/>
              </a:rPr>
              <a:t>，如在</a:t>
            </a:r>
            <a:r>
              <a:rPr lang="en-US" altLang="zh-CN" sz="2200" b="1" dirty="0">
                <a:solidFill>
                  <a:srgbClr val="0000FF"/>
                </a:solidFill>
                <a:ea typeface="黑体" panose="02010609060101010101" pitchFamily="49" charset="-122"/>
              </a:rPr>
              <a:t>RAM</a:t>
            </a:r>
            <a:r>
              <a:rPr lang="zh-CN" altLang="en-US" sz="2200" b="1" dirty="0">
                <a:solidFill>
                  <a:srgbClr val="0000FF"/>
                </a:solidFill>
                <a:ea typeface="黑体" panose="02010609060101010101" pitchFamily="49" charset="-122"/>
              </a:rPr>
              <a:t>中，则取自</a:t>
            </a:r>
            <a:r>
              <a:rPr lang="en-US" altLang="zh-CN" sz="2200" b="1" dirty="0">
                <a:solidFill>
                  <a:srgbClr val="0000FF"/>
                </a:solidFill>
                <a:ea typeface="黑体" panose="02010609060101010101" pitchFamily="49" charset="-122"/>
              </a:rPr>
              <a:t>RAM</a:t>
            </a:r>
            <a:endParaRPr lang="en-US" altLang="zh-CN" sz="2200" b="1" dirty="0">
              <a:solidFill>
                <a:srgbClr val="0000FF"/>
              </a:solidFill>
              <a:ea typeface="黑体" panose="02010609060101010101" pitchFamily="49" charset="-122"/>
            </a:endParaRPr>
          </a:p>
          <a:p>
            <a:pPr marL="1167130" lvl="1" indent="-711200" eaLnBrk="1" hangingPunct="1">
              <a:lnSpc>
                <a:spcPct val="120000"/>
              </a:lnSpc>
              <a:spcBef>
                <a:spcPct val="0"/>
              </a:spcBef>
              <a:buClrTx/>
              <a:buSzTx/>
              <a:buFontTx/>
              <a:buNone/>
            </a:pPr>
            <a:r>
              <a:rPr lang="en-US" altLang="zh-CN" sz="2200" b="1" dirty="0">
                <a:solidFill>
                  <a:srgbClr val="0000FF"/>
                </a:solidFill>
                <a:ea typeface="黑体" panose="02010609060101010101" pitchFamily="49" charset="-122"/>
              </a:rPr>
              <a:t>4</a:t>
            </a:r>
            <a:r>
              <a:rPr lang="zh-CN" altLang="en-US" sz="2200" b="1" dirty="0">
                <a:solidFill>
                  <a:srgbClr val="0000FF"/>
                </a:solidFill>
                <a:ea typeface="黑体" panose="02010609060101010101" pitchFamily="49" charset="-122"/>
              </a:rPr>
              <a:t>）如操作数不在</a:t>
            </a:r>
            <a:r>
              <a:rPr lang="en-US" altLang="zh-CN" sz="2200" b="1" dirty="0">
                <a:solidFill>
                  <a:srgbClr val="0000FF"/>
                </a:solidFill>
                <a:ea typeface="黑体" panose="02010609060101010101" pitchFamily="49" charset="-122"/>
              </a:rPr>
              <a:t>RAM</a:t>
            </a:r>
            <a:r>
              <a:rPr lang="zh-CN" altLang="en-US" sz="2200" b="1" dirty="0">
                <a:solidFill>
                  <a:srgbClr val="0000FF"/>
                </a:solidFill>
                <a:ea typeface="黑体" panose="02010609060101010101" pitchFamily="49" charset="-122"/>
              </a:rPr>
              <a:t>，则访问硬盘，操作数从硬盘中读出</a:t>
            </a:r>
            <a:r>
              <a:rPr lang="en-US" altLang="zh-CN" sz="2200" b="1" dirty="0">
                <a:solidFill>
                  <a:srgbClr val="0000FF"/>
                </a:solidFill>
                <a:ea typeface="黑体" panose="02010609060101010101" pitchFamily="49" charset="-122"/>
              </a:rPr>
              <a:t>→RAM →cache</a:t>
            </a:r>
            <a:endParaRPr lang="en-US" altLang="zh-CN" sz="2200" b="1" dirty="0">
              <a:solidFill>
                <a:srgbClr val="0000FF"/>
              </a:solidFill>
              <a:ea typeface="黑体" panose="02010609060101010101" pitchFamily="49" charset="-122"/>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Rectangle 2"/>
          <p:cNvSpPr>
            <a:spLocks noGrp="1"/>
          </p:cNvSpPr>
          <p:nvPr>
            <p:ph type="title"/>
          </p:nvPr>
        </p:nvSpPr>
        <p:spPr>
          <a:xfrm>
            <a:off x="901700" y="266700"/>
            <a:ext cx="6983413" cy="785813"/>
          </a:xfrm>
        </p:spPr>
        <p:txBody>
          <a:bodyPr vert="horz" wrap="square" lIns="91440" tIns="45720" rIns="91440" bIns="45720" anchor="ctr" anchorCtr="0"/>
          <a:p>
            <a:r>
              <a:rPr lang="zh-CN" altLang="en-US" sz="3500" dirty="0"/>
              <a:t>回顾：传统存储器分级体系结构</a:t>
            </a:r>
            <a:endParaRPr lang="zh-CN" altLang="en-US" sz="3500" dirty="0"/>
          </a:p>
        </p:txBody>
      </p:sp>
      <p:pic>
        <p:nvPicPr>
          <p:cNvPr id="117763" name="Picture 3" descr="传统存储器系统层次图_无标题"/>
          <p:cNvPicPr>
            <a:picLocks noChangeAspect="1"/>
          </p:cNvPicPr>
          <p:nvPr/>
        </p:nvPicPr>
        <p:blipFill>
          <a:blip r:embed="rId1"/>
          <a:stretch>
            <a:fillRect/>
          </a:stretch>
        </p:blipFill>
        <p:spPr>
          <a:xfrm>
            <a:off x="2997200" y="1584325"/>
            <a:ext cx="5842000" cy="4106863"/>
          </a:xfrm>
          <a:prstGeom prst="rect">
            <a:avLst/>
          </a:prstGeom>
          <a:noFill/>
          <a:ln w="9525">
            <a:noFill/>
          </a:ln>
        </p:spPr>
      </p:pic>
      <p:sp>
        <p:nvSpPr>
          <p:cNvPr id="117764" name="Text Box 4"/>
          <p:cNvSpPr txBox="1"/>
          <p:nvPr/>
        </p:nvSpPr>
        <p:spPr>
          <a:xfrm>
            <a:off x="250825" y="1808163"/>
            <a:ext cx="2346325" cy="31099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spcBef>
                <a:spcPct val="50000"/>
              </a:spcBef>
              <a:buClrTx/>
              <a:buSzTx/>
              <a:buFontTx/>
              <a:buNone/>
            </a:pPr>
            <a:r>
              <a:rPr lang="zh-CN" altLang="en-US" sz="2200" b="1" dirty="0">
                <a:ea typeface="黑体" panose="02010609060101010101" pitchFamily="49" charset="-122"/>
              </a:rPr>
              <a:t>五层金字塔形分层系统从上到下的特点：</a:t>
            </a:r>
            <a:endParaRPr lang="en-US" altLang="zh-CN" sz="2200" b="1" dirty="0">
              <a:ea typeface="黑体" panose="02010609060101010101" pitchFamily="49" charset="-122"/>
            </a:endParaRPr>
          </a:p>
          <a:p>
            <a:pPr marL="0" lvl="0" indent="0" algn="just">
              <a:spcBef>
                <a:spcPct val="50000"/>
              </a:spcBef>
              <a:buClrTx/>
              <a:buSzTx/>
              <a:buFontTx/>
              <a:buNone/>
            </a:pPr>
            <a:r>
              <a:rPr lang="en-US" altLang="zh-CN" sz="2200" b="1" dirty="0">
                <a:ea typeface="黑体" panose="02010609060101010101" pitchFamily="49" charset="-122"/>
              </a:rPr>
              <a:t>1. </a:t>
            </a:r>
            <a:r>
              <a:rPr lang="zh-CN" altLang="en-US" sz="2200" b="1" dirty="0">
                <a:ea typeface="黑体" panose="02010609060101010101" pitchFamily="49" charset="-122"/>
              </a:rPr>
              <a:t>每位价格降低</a:t>
            </a:r>
            <a:endParaRPr lang="en-US" altLang="zh-CN" sz="2200" b="1" dirty="0">
              <a:ea typeface="黑体" panose="02010609060101010101" pitchFamily="49" charset="-122"/>
            </a:endParaRPr>
          </a:p>
          <a:p>
            <a:pPr marL="0" lvl="0" indent="0" algn="just">
              <a:spcBef>
                <a:spcPct val="50000"/>
              </a:spcBef>
              <a:buClrTx/>
              <a:buSzTx/>
              <a:buFontTx/>
              <a:buNone/>
            </a:pPr>
            <a:r>
              <a:rPr lang="en-US" altLang="zh-CN" sz="2200" b="1" dirty="0">
                <a:ea typeface="黑体" panose="02010609060101010101" pitchFamily="49" charset="-122"/>
              </a:rPr>
              <a:t>2. </a:t>
            </a:r>
            <a:r>
              <a:rPr lang="zh-CN" altLang="en-US" sz="2200" b="1" dirty="0">
                <a:ea typeface="黑体" panose="02010609060101010101" pitchFamily="49" charset="-122"/>
              </a:rPr>
              <a:t>容量增大</a:t>
            </a:r>
            <a:endParaRPr lang="en-US" altLang="zh-CN" sz="2200" b="1" dirty="0">
              <a:ea typeface="黑体" panose="02010609060101010101" pitchFamily="49" charset="-122"/>
            </a:endParaRPr>
          </a:p>
          <a:p>
            <a:pPr marL="0" lvl="0" indent="0" algn="just">
              <a:spcBef>
                <a:spcPct val="50000"/>
              </a:spcBef>
              <a:buClrTx/>
              <a:buSzTx/>
              <a:buFontTx/>
              <a:buNone/>
            </a:pPr>
            <a:r>
              <a:rPr lang="en-US" altLang="zh-CN" sz="2200" b="1" dirty="0">
                <a:ea typeface="黑体" panose="02010609060101010101" pitchFamily="49" charset="-122"/>
              </a:rPr>
              <a:t>3 .</a:t>
            </a:r>
            <a:r>
              <a:rPr lang="zh-CN" altLang="en-US" sz="2200" b="1" dirty="0">
                <a:ea typeface="黑体" panose="02010609060101010101" pitchFamily="49" charset="-122"/>
              </a:rPr>
              <a:t>存取时间增大</a:t>
            </a:r>
            <a:endParaRPr lang="en-US" altLang="zh-CN" sz="2200" b="1" dirty="0">
              <a:ea typeface="黑体" panose="02010609060101010101" pitchFamily="49" charset="-122"/>
            </a:endParaRPr>
          </a:p>
          <a:p>
            <a:pPr marL="0" lvl="0" indent="0" algn="just">
              <a:spcBef>
                <a:spcPct val="50000"/>
              </a:spcBef>
              <a:buClrTx/>
              <a:buSzTx/>
              <a:buFontTx/>
              <a:buNone/>
            </a:pPr>
            <a:r>
              <a:rPr lang="en-US" altLang="zh-CN" sz="2200" b="1" dirty="0">
                <a:ea typeface="黑体" panose="02010609060101010101" pitchFamily="49" charset="-122"/>
              </a:rPr>
              <a:t>4 .</a:t>
            </a:r>
            <a:r>
              <a:rPr lang="zh-CN" altLang="en-US" sz="2200" b="1" dirty="0">
                <a:ea typeface="黑体" panose="02010609060101010101" pitchFamily="49" charset="-122"/>
              </a:rPr>
              <a:t>访问频度降低</a:t>
            </a:r>
            <a:endParaRPr lang="zh-CN" altLang="en-US" sz="2200" b="1" dirty="0">
              <a:ea typeface="黑体" panose="02010609060101010101" pitchFamily="49" charset="-122"/>
            </a:endParaRPr>
          </a:p>
        </p:txBody>
      </p:sp>
      <p:sp>
        <p:nvSpPr>
          <p:cNvPr id="117765" name="Text Box 5"/>
          <p:cNvSpPr txBox="1"/>
          <p:nvPr/>
        </p:nvSpPr>
        <p:spPr>
          <a:xfrm>
            <a:off x="3357563" y="5903913"/>
            <a:ext cx="4811712"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just">
              <a:spcBef>
                <a:spcPct val="50000"/>
              </a:spcBef>
              <a:buClrTx/>
              <a:buSzTx/>
              <a:buFontTx/>
              <a:buNone/>
            </a:pPr>
            <a:r>
              <a:rPr lang="en-US" altLang="zh-CN" sz="2400" b="1" dirty="0"/>
              <a:t>Traditional Memory Hierarchy</a:t>
            </a:r>
            <a:endParaRPr lang="en-US" altLang="zh-CN" sz="2400" b="1" dirty="0"/>
          </a:p>
        </p:txBody>
      </p:sp>
      <p:sp>
        <p:nvSpPr>
          <p:cNvPr id="117766" name="Line 6"/>
          <p:cNvSpPr/>
          <p:nvPr/>
        </p:nvSpPr>
        <p:spPr>
          <a:xfrm>
            <a:off x="2667000" y="1524000"/>
            <a:ext cx="0" cy="3810000"/>
          </a:xfrm>
          <a:prstGeom prst="line">
            <a:avLst/>
          </a:prstGeom>
          <a:ln w="38100" cap="flat" cmpd="sng">
            <a:solidFill>
              <a:srgbClr val="800000"/>
            </a:solidFill>
            <a:prstDash val="solid"/>
            <a:miter/>
            <a:headEnd type="none" w="med" len="med"/>
            <a:tailEnd type="triangle" w="med" len="med"/>
          </a:ln>
        </p:spPr>
      </p:sp>
      <p:sp>
        <p:nvSpPr>
          <p:cNvPr id="117767" name="Rectangle 7"/>
          <p:cNvSpPr/>
          <p:nvPr/>
        </p:nvSpPr>
        <p:spPr>
          <a:xfrm>
            <a:off x="4841875" y="998538"/>
            <a:ext cx="198120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800" b="1" dirty="0">
                <a:solidFill>
                  <a:srgbClr val="000099"/>
                </a:solidFill>
                <a:latin typeface="Times New Roman" panose="02020603050405020304" pitchFamily="18" charset="0"/>
              </a:rPr>
              <a:t>传统结构</a:t>
            </a:r>
            <a:endParaRPr lang="zh-CN" altLang="en-US" sz="2800" b="1" dirty="0">
              <a:solidFill>
                <a:srgbClr val="000099"/>
              </a:solidFill>
              <a:latin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p:cNvSpPr>
          <p:nvPr>
            <p:ph type="title"/>
          </p:nvPr>
        </p:nvSpPr>
        <p:spPr>
          <a:xfrm>
            <a:off x="920750" y="430213"/>
            <a:ext cx="6964363" cy="477837"/>
          </a:xfrm>
        </p:spPr>
        <p:txBody>
          <a:bodyPr vert="horz" wrap="square" lIns="63500" tIns="25400" rIns="63500" bIns="25400" anchor="t" anchorCtr="0">
            <a:spAutoFit/>
          </a:bodyPr>
          <a:p>
            <a:r>
              <a:rPr lang="zh-CN" altLang="en-US" sz="2800" dirty="0"/>
              <a:t>层次化存储器结构（</a:t>
            </a:r>
            <a:r>
              <a:rPr lang="en-US" altLang="zh-CN" sz="2800" dirty="0"/>
              <a:t>Memory Hierarchy</a:t>
            </a:r>
            <a:r>
              <a:rPr lang="zh-CN" altLang="en-US" sz="2800" dirty="0"/>
              <a:t>）</a:t>
            </a:r>
            <a:endParaRPr lang="zh-CN" altLang="en-US" sz="2800" dirty="0"/>
          </a:p>
        </p:txBody>
      </p:sp>
      <p:sp>
        <p:nvSpPr>
          <p:cNvPr id="165891" name="Rectangle 3"/>
          <p:cNvSpPr>
            <a:spLocks noGrp="1"/>
          </p:cNvSpPr>
          <p:nvPr>
            <p:ph idx="1"/>
          </p:nvPr>
        </p:nvSpPr>
        <p:spPr>
          <a:xfrm>
            <a:off x="341313" y="4594225"/>
            <a:ext cx="7921625" cy="2030413"/>
          </a:xfrm>
        </p:spPr>
        <p:txBody>
          <a:bodyPr vert="horz" wrap="square" lIns="63500" tIns="25400" rIns="63500" bIns="25400" anchor="t" anchorCtr="0">
            <a:spAutoFit/>
          </a:bodyPr>
          <a:p>
            <a:pPr>
              <a:spcBef>
                <a:spcPct val="10000"/>
              </a:spcBef>
            </a:pPr>
            <a:r>
              <a:rPr lang="zh-CN" altLang="en-US" sz="2000" dirty="0">
                <a:ea typeface="黑体" panose="02010609060101010101" pitchFamily="49" charset="-122"/>
              </a:rPr>
              <a:t>时间局部性（</a:t>
            </a:r>
            <a:r>
              <a:rPr lang="en-US" altLang="zh-CN" sz="2000" dirty="0">
                <a:ea typeface="黑体" panose="02010609060101010101" pitchFamily="49" charset="-122"/>
              </a:rPr>
              <a:t>Temporal Locality</a:t>
            </a:r>
            <a:r>
              <a:rPr lang="zh-CN" altLang="en-US" sz="2000" dirty="0">
                <a:ea typeface="黑体" panose="02010609060101010101" pitchFamily="49" charset="-122"/>
              </a:rPr>
              <a:t>）</a:t>
            </a:r>
            <a:endParaRPr lang="en-US" altLang="zh-CN" sz="2000" dirty="0">
              <a:ea typeface="黑体" panose="02010609060101010101" pitchFamily="49" charset="-122"/>
            </a:endParaRPr>
          </a:p>
          <a:p>
            <a:pPr>
              <a:spcBef>
                <a:spcPct val="10000"/>
              </a:spcBef>
              <a:buNone/>
            </a:pPr>
            <a:r>
              <a:rPr lang="en-US" altLang="zh-CN" sz="2000" dirty="0">
                <a:solidFill>
                  <a:srgbClr val="CC0000"/>
                </a:solidFill>
                <a:ea typeface="黑体" panose="02010609060101010101" pitchFamily="49" charset="-122"/>
              </a:rPr>
              <a:t>     </a:t>
            </a:r>
            <a:r>
              <a:rPr lang="zh-CN" altLang="en-US" sz="2000" dirty="0">
                <a:solidFill>
                  <a:srgbClr val="CC0000"/>
                </a:solidFill>
                <a:ea typeface="黑体" panose="02010609060101010101" pitchFamily="49" charset="-122"/>
              </a:rPr>
              <a:t>含义：刚被访问过的单元很可能不久又被访问</a:t>
            </a:r>
            <a:endParaRPr lang="en-US" altLang="zh-CN" sz="2000" dirty="0">
              <a:ea typeface="黑体" panose="02010609060101010101" pitchFamily="49" charset="-122"/>
            </a:endParaRPr>
          </a:p>
          <a:p>
            <a:pPr lvl="1">
              <a:spcBef>
                <a:spcPct val="10000"/>
              </a:spcBef>
              <a:buNone/>
            </a:pPr>
            <a:r>
              <a:rPr lang="zh-CN" altLang="en-US" sz="2000" dirty="0">
                <a:ea typeface="黑体" panose="02010609060101010101" pitchFamily="49" charset="-122"/>
              </a:rPr>
              <a:t>做法：让最近被访问过的信息保留在靠近</a:t>
            </a:r>
            <a:r>
              <a:rPr lang="en-US" altLang="zh-CN" sz="2000" dirty="0">
                <a:ea typeface="黑体" panose="02010609060101010101" pitchFamily="49" charset="-122"/>
              </a:rPr>
              <a:t>CPU</a:t>
            </a:r>
            <a:r>
              <a:rPr lang="zh-CN" altLang="en-US" sz="2000" dirty="0">
                <a:ea typeface="黑体" panose="02010609060101010101" pitchFamily="49" charset="-122"/>
              </a:rPr>
              <a:t>的存储器中</a:t>
            </a:r>
            <a:endParaRPr lang="en-US" altLang="zh-CN" sz="2000" dirty="0">
              <a:ea typeface="黑体" panose="02010609060101010101" pitchFamily="49" charset="-122"/>
            </a:endParaRPr>
          </a:p>
          <a:p>
            <a:pPr>
              <a:spcBef>
                <a:spcPct val="10000"/>
              </a:spcBef>
            </a:pPr>
            <a:r>
              <a:rPr lang="zh-CN" altLang="en-US" sz="2000" dirty="0">
                <a:ea typeface="黑体" panose="02010609060101010101" pitchFamily="49" charset="-122"/>
              </a:rPr>
              <a:t>空间局部性</a:t>
            </a:r>
            <a:r>
              <a:rPr lang="en-US" altLang="zh-CN" sz="2000" dirty="0">
                <a:ea typeface="黑体" panose="02010609060101010101" pitchFamily="49" charset="-122"/>
              </a:rPr>
              <a:t> </a:t>
            </a:r>
            <a:r>
              <a:rPr lang="zh-CN" altLang="en-US" sz="2000" dirty="0">
                <a:ea typeface="黑体" panose="02010609060101010101" pitchFamily="49" charset="-122"/>
              </a:rPr>
              <a:t>（</a:t>
            </a:r>
            <a:r>
              <a:rPr lang="en-US" altLang="zh-CN" sz="2000" dirty="0">
                <a:ea typeface="黑体" panose="02010609060101010101" pitchFamily="49" charset="-122"/>
              </a:rPr>
              <a:t>Spatial Locality</a:t>
            </a:r>
            <a:r>
              <a:rPr lang="zh-CN" altLang="en-US" sz="2000" dirty="0">
                <a:ea typeface="黑体" panose="02010609060101010101" pitchFamily="49" charset="-122"/>
              </a:rPr>
              <a:t>）</a:t>
            </a:r>
            <a:endParaRPr lang="en-US" altLang="zh-CN" sz="2000" dirty="0">
              <a:ea typeface="黑体" panose="02010609060101010101" pitchFamily="49" charset="-122"/>
            </a:endParaRPr>
          </a:p>
          <a:p>
            <a:pPr>
              <a:spcBef>
                <a:spcPct val="10000"/>
              </a:spcBef>
              <a:buNone/>
            </a:pPr>
            <a:r>
              <a:rPr lang="en-US" altLang="zh-CN" sz="2000" dirty="0">
                <a:solidFill>
                  <a:srgbClr val="CC0000"/>
                </a:solidFill>
                <a:ea typeface="黑体" panose="02010609060101010101" pitchFamily="49" charset="-122"/>
              </a:rPr>
              <a:t>     </a:t>
            </a:r>
            <a:r>
              <a:rPr lang="zh-CN" altLang="en-US" sz="2000" dirty="0">
                <a:solidFill>
                  <a:srgbClr val="CC0000"/>
                </a:solidFill>
                <a:ea typeface="黑体" panose="02010609060101010101" pitchFamily="49" charset="-122"/>
              </a:rPr>
              <a:t>含义：刚被访问过的单元的邻近单元很可能不久被访问</a:t>
            </a:r>
            <a:endParaRPr lang="en-US" altLang="zh-CN" sz="2000" dirty="0">
              <a:solidFill>
                <a:srgbClr val="CC0000"/>
              </a:solidFill>
              <a:ea typeface="黑体" panose="02010609060101010101" pitchFamily="49" charset="-122"/>
            </a:endParaRPr>
          </a:p>
          <a:p>
            <a:pPr lvl="1">
              <a:spcBef>
                <a:spcPct val="10000"/>
              </a:spcBef>
              <a:buNone/>
            </a:pPr>
            <a:r>
              <a:rPr lang="zh-CN" altLang="en-US" sz="2000" dirty="0">
                <a:ea typeface="黑体" panose="02010609060101010101" pitchFamily="49" charset="-122"/>
              </a:rPr>
              <a:t>做法：将刚被访问过的单元的邻近单元调到靠近</a:t>
            </a:r>
            <a:r>
              <a:rPr lang="en-US" altLang="zh-CN" sz="2000" dirty="0">
                <a:ea typeface="黑体" panose="02010609060101010101" pitchFamily="49" charset="-122"/>
              </a:rPr>
              <a:t>CPU</a:t>
            </a:r>
            <a:r>
              <a:rPr lang="zh-CN" altLang="en-US" sz="2000" dirty="0">
                <a:ea typeface="黑体" panose="02010609060101010101" pitchFamily="49" charset="-122"/>
              </a:rPr>
              <a:t>的存储器中</a:t>
            </a:r>
            <a:r>
              <a:rPr lang="en-US" altLang="zh-CN" sz="2000" dirty="0">
                <a:ea typeface="黑体" panose="02010609060101010101" pitchFamily="49" charset="-122"/>
              </a:rPr>
              <a:t> </a:t>
            </a:r>
            <a:endParaRPr lang="en-US" altLang="zh-CN" sz="2000" dirty="0">
              <a:ea typeface="黑体" panose="02010609060101010101" pitchFamily="49" charset="-122"/>
            </a:endParaRPr>
          </a:p>
        </p:txBody>
      </p:sp>
      <p:grpSp>
        <p:nvGrpSpPr>
          <p:cNvPr id="119812" name="Group 4"/>
          <p:cNvGrpSpPr/>
          <p:nvPr/>
        </p:nvGrpSpPr>
        <p:grpSpPr>
          <a:xfrm>
            <a:off x="1150938" y="863600"/>
            <a:ext cx="7015162" cy="1935163"/>
            <a:chOff x="553" y="1152"/>
            <a:chExt cx="3378" cy="1184"/>
          </a:xfrm>
        </p:grpSpPr>
        <p:sp>
          <p:nvSpPr>
            <p:cNvPr id="119816" name="Rectangle 5"/>
            <p:cNvSpPr/>
            <p:nvPr/>
          </p:nvSpPr>
          <p:spPr>
            <a:xfrm>
              <a:off x="1722" y="1296"/>
              <a:ext cx="800" cy="896"/>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19817" name="Rectangle 6"/>
            <p:cNvSpPr/>
            <p:nvPr/>
          </p:nvSpPr>
          <p:spPr>
            <a:xfrm>
              <a:off x="3114" y="1152"/>
              <a:ext cx="752" cy="1184"/>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19818" name="Rectangle 7"/>
            <p:cNvSpPr/>
            <p:nvPr/>
          </p:nvSpPr>
          <p:spPr>
            <a:xfrm>
              <a:off x="3153" y="1161"/>
              <a:ext cx="717" cy="390"/>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CN" sz="1800" b="1" dirty="0"/>
                <a:t>Lower</a:t>
              </a:r>
              <a:r>
                <a:rPr lang="en-US" altLang="zh-CN" sz="1600" b="1" dirty="0">
                  <a:latin typeface="Times New Roman" panose="02020603050405020304" pitchFamily="18" charset="0"/>
                </a:rPr>
                <a:t> </a:t>
              </a:r>
              <a:r>
                <a:rPr lang="en-US" altLang="zh-CN" sz="1800" b="1" dirty="0"/>
                <a:t>Level</a:t>
              </a:r>
              <a:endParaRPr lang="en-US" altLang="zh-CN" sz="1800" b="1" dirty="0"/>
            </a:p>
            <a:p>
              <a:pPr marL="0" lvl="0" indent="0" algn="ctr">
                <a:spcBef>
                  <a:spcPct val="0"/>
                </a:spcBef>
                <a:buClrTx/>
                <a:buSzTx/>
                <a:buFontTx/>
                <a:buNone/>
              </a:pPr>
              <a:r>
                <a:rPr lang="en-US" altLang="zh-CN" sz="1800" b="1" dirty="0"/>
                <a:t>Memory</a:t>
              </a:r>
              <a:endParaRPr lang="en-US" altLang="zh-CN" sz="1800" b="1" dirty="0"/>
            </a:p>
          </p:txBody>
        </p:sp>
        <p:sp>
          <p:nvSpPr>
            <p:cNvPr id="119819" name="Rectangle 8"/>
            <p:cNvSpPr/>
            <p:nvPr/>
          </p:nvSpPr>
          <p:spPr>
            <a:xfrm>
              <a:off x="1757" y="1305"/>
              <a:ext cx="717" cy="390"/>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CN" sz="1800" b="1" dirty="0"/>
                <a:t>Upper Level</a:t>
              </a:r>
              <a:endParaRPr lang="en-US" altLang="zh-CN" sz="1800" b="1" dirty="0"/>
            </a:p>
            <a:p>
              <a:pPr marL="0" lvl="0" indent="0" algn="ctr">
                <a:spcBef>
                  <a:spcPct val="0"/>
                </a:spcBef>
                <a:buClrTx/>
                <a:buSzTx/>
                <a:buFontTx/>
                <a:buNone/>
              </a:pPr>
              <a:r>
                <a:rPr lang="en-US" altLang="zh-CN" sz="1800" b="1" dirty="0"/>
                <a:t>Memory</a:t>
              </a:r>
              <a:endParaRPr lang="en-US" altLang="zh-CN" sz="1800" b="1" dirty="0"/>
            </a:p>
          </p:txBody>
        </p:sp>
        <p:sp>
          <p:nvSpPr>
            <p:cNvPr id="119820" name="Line 9"/>
            <p:cNvSpPr/>
            <p:nvPr/>
          </p:nvSpPr>
          <p:spPr>
            <a:xfrm flipH="1">
              <a:off x="554" y="1528"/>
              <a:ext cx="1168" cy="0"/>
            </a:xfrm>
            <a:prstGeom prst="line">
              <a:avLst/>
            </a:prstGeom>
            <a:ln w="25400" cap="flat" cmpd="sng">
              <a:solidFill>
                <a:schemeClr val="tx1"/>
              </a:solidFill>
              <a:prstDash val="solid"/>
              <a:headEnd type="none" w="med" len="med"/>
              <a:tailEnd type="triangle" w="med" len="med"/>
            </a:ln>
          </p:spPr>
        </p:sp>
        <p:sp>
          <p:nvSpPr>
            <p:cNvPr id="119821" name="Rectangle 10"/>
            <p:cNvSpPr/>
            <p:nvPr/>
          </p:nvSpPr>
          <p:spPr>
            <a:xfrm>
              <a:off x="793" y="1336"/>
              <a:ext cx="485" cy="22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To CPU</a:t>
              </a:r>
              <a:endParaRPr lang="en-US" altLang="zh-CN" sz="1800" b="1" dirty="0"/>
            </a:p>
          </p:txBody>
        </p:sp>
        <p:sp>
          <p:nvSpPr>
            <p:cNvPr id="119822" name="Line 11"/>
            <p:cNvSpPr/>
            <p:nvPr/>
          </p:nvSpPr>
          <p:spPr>
            <a:xfrm>
              <a:off x="570" y="2008"/>
              <a:ext cx="1136" cy="0"/>
            </a:xfrm>
            <a:prstGeom prst="line">
              <a:avLst/>
            </a:prstGeom>
            <a:ln w="25400" cap="flat" cmpd="sng">
              <a:solidFill>
                <a:schemeClr val="tx1"/>
              </a:solidFill>
              <a:prstDash val="solid"/>
              <a:headEnd type="none" w="med" len="med"/>
              <a:tailEnd type="triangle" w="med" len="med"/>
            </a:ln>
          </p:spPr>
        </p:sp>
        <p:sp>
          <p:nvSpPr>
            <p:cNvPr id="119823" name="Rectangle 12"/>
            <p:cNvSpPr/>
            <p:nvPr/>
          </p:nvSpPr>
          <p:spPr>
            <a:xfrm>
              <a:off x="553" y="1816"/>
              <a:ext cx="625" cy="22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From CPU</a:t>
              </a:r>
              <a:endParaRPr lang="en-US" altLang="zh-CN" sz="1800" b="1" dirty="0"/>
            </a:p>
          </p:txBody>
        </p:sp>
        <p:sp>
          <p:nvSpPr>
            <p:cNvPr id="119824" name="Line 13"/>
            <p:cNvSpPr/>
            <p:nvPr/>
          </p:nvSpPr>
          <p:spPr>
            <a:xfrm>
              <a:off x="2538" y="1720"/>
              <a:ext cx="560" cy="0"/>
            </a:xfrm>
            <a:prstGeom prst="line">
              <a:avLst/>
            </a:prstGeom>
            <a:ln w="25400" cap="flat" cmpd="sng">
              <a:solidFill>
                <a:schemeClr val="tx1"/>
              </a:solidFill>
              <a:prstDash val="solid"/>
              <a:headEnd type="triangle" w="med" len="med"/>
              <a:tailEnd type="triangle" w="med" len="med"/>
            </a:ln>
          </p:spPr>
        </p:sp>
        <p:sp>
          <p:nvSpPr>
            <p:cNvPr id="119825" name="Rectangle 14"/>
            <p:cNvSpPr/>
            <p:nvPr/>
          </p:nvSpPr>
          <p:spPr>
            <a:xfrm>
              <a:off x="1814" y="1868"/>
              <a:ext cx="568" cy="232"/>
            </a:xfrm>
            <a:prstGeom prst="rect">
              <a:avLst/>
            </a:prstGeom>
            <a:solidFill>
              <a:schemeClr val="accent1"/>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19826" name="Rectangle 15"/>
            <p:cNvSpPr/>
            <p:nvPr/>
          </p:nvSpPr>
          <p:spPr>
            <a:xfrm>
              <a:off x="1897" y="1687"/>
              <a:ext cx="491" cy="22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Block X</a:t>
              </a:r>
              <a:endParaRPr lang="en-US" altLang="zh-CN" sz="1800" b="1" dirty="0"/>
            </a:p>
          </p:txBody>
        </p:sp>
        <p:sp>
          <p:nvSpPr>
            <p:cNvPr id="119827" name="Rectangle 16"/>
            <p:cNvSpPr/>
            <p:nvPr/>
          </p:nvSpPr>
          <p:spPr>
            <a:xfrm>
              <a:off x="3206" y="2060"/>
              <a:ext cx="568" cy="232"/>
            </a:xfrm>
            <a:prstGeom prst="rect">
              <a:avLst/>
            </a:prstGeom>
            <a:solidFill>
              <a:schemeClr val="hlink"/>
            </a:solid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19828" name="Rectangle 17"/>
            <p:cNvSpPr/>
            <p:nvPr/>
          </p:nvSpPr>
          <p:spPr>
            <a:xfrm>
              <a:off x="3289" y="1879"/>
              <a:ext cx="642" cy="222"/>
            </a:xfrm>
            <a:prstGeom prst="rect">
              <a:avLst/>
            </a:prstGeom>
            <a:noFill/>
            <a:ln w="9525">
              <a:noFill/>
            </a:ln>
          </p:spPr>
          <p:txBody>
            <a:bodyPr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Block Y</a:t>
              </a:r>
              <a:endParaRPr lang="en-US" altLang="zh-CN" sz="1800" b="1" dirty="0"/>
            </a:p>
          </p:txBody>
        </p:sp>
        <p:sp>
          <p:nvSpPr>
            <p:cNvPr id="119829" name="Line 18"/>
            <p:cNvSpPr/>
            <p:nvPr/>
          </p:nvSpPr>
          <p:spPr>
            <a:xfrm>
              <a:off x="2098" y="1872"/>
              <a:ext cx="0" cy="224"/>
            </a:xfrm>
            <a:prstGeom prst="line">
              <a:avLst/>
            </a:prstGeom>
            <a:ln w="25400" cap="flat" cmpd="sng">
              <a:solidFill>
                <a:schemeClr val="tx1"/>
              </a:solidFill>
              <a:prstDash val="solid"/>
              <a:headEnd type="none" w="med" len="med"/>
              <a:tailEnd type="none" w="med" len="med"/>
            </a:ln>
          </p:spPr>
        </p:sp>
        <p:sp>
          <p:nvSpPr>
            <p:cNvPr id="119830" name="Line 19"/>
            <p:cNvSpPr/>
            <p:nvPr/>
          </p:nvSpPr>
          <p:spPr>
            <a:xfrm>
              <a:off x="2242" y="1872"/>
              <a:ext cx="0" cy="224"/>
            </a:xfrm>
            <a:prstGeom prst="line">
              <a:avLst/>
            </a:prstGeom>
            <a:ln w="25400" cap="flat" cmpd="sng">
              <a:solidFill>
                <a:schemeClr val="tx1"/>
              </a:solidFill>
              <a:prstDash val="solid"/>
              <a:headEnd type="none" w="med" len="med"/>
              <a:tailEnd type="none" w="med" len="med"/>
            </a:ln>
          </p:spPr>
        </p:sp>
        <p:sp>
          <p:nvSpPr>
            <p:cNvPr id="119831" name="Line 20"/>
            <p:cNvSpPr/>
            <p:nvPr/>
          </p:nvSpPr>
          <p:spPr>
            <a:xfrm>
              <a:off x="1954" y="1872"/>
              <a:ext cx="0" cy="224"/>
            </a:xfrm>
            <a:prstGeom prst="line">
              <a:avLst/>
            </a:prstGeom>
            <a:ln w="25400" cap="flat" cmpd="sng">
              <a:solidFill>
                <a:schemeClr val="tx1"/>
              </a:solidFill>
              <a:prstDash val="solid"/>
              <a:headEnd type="none" w="med" len="med"/>
              <a:tailEnd type="none" w="med" len="med"/>
            </a:ln>
          </p:spPr>
        </p:sp>
        <p:sp>
          <p:nvSpPr>
            <p:cNvPr id="119832" name="Line 21"/>
            <p:cNvSpPr/>
            <p:nvPr/>
          </p:nvSpPr>
          <p:spPr>
            <a:xfrm>
              <a:off x="3490" y="2064"/>
              <a:ext cx="0" cy="224"/>
            </a:xfrm>
            <a:prstGeom prst="line">
              <a:avLst/>
            </a:prstGeom>
            <a:ln w="25400" cap="flat" cmpd="sng">
              <a:solidFill>
                <a:schemeClr val="tx1"/>
              </a:solidFill>
              <a:prstDash val="solid"/>
              <a:headEnd type="none" w="med" len="med"/>
              <a:tailEnd type="none" w="med" len="med"/>
            </a:ln>
          </p:spPr>
        </p:sp>
        <p:sp>
          <p:nvSpPr>
            <p:cNvPr id="119833" name="Line 22"/>
            <p:cNvSpPr/>
            <p:nvPr/>
          </p:nvSpPr>
          <p:spPr>
            <a:xfrm>
              <a:off x="3634" y="2064"/>
              <a:ext cx="0" cy="224"/>
            </a:xfrm>
            <a:prstGeom prst="line">
              <a:avLst/>
            </a:prstGeom>
            <a:ln w="25400" cap="flat" cmpd="sng">
              <a:solidFill>
                <a:schemeClr val="tx1"/>
              </a:solidFill>
              <a:prstDash val="solid"/>
              <a:headEnd type="none" w="med" len="med"/>
              <a:tailEnd type="none" w="med" len="med"/>
            </a:ln>
          </p:spPr>
        </p:sp>
        <p:sp>
          <p:nvSpPr>
            <p:cNvPr id="119834" name="Line 23"/>
            <p:cNvSpPr/>
            <p:nvPr/>
          </p:nvSpPr>
          <p:spPr>
            <a:xfrm>
              <a:off x="3346" y="2064"/>
              <a:ext cx="0" cy="224"/>
            </a:xfrm>
            <a:prstGeom prst="line">
              <a:avLst/>
            </a:prstGeom>
            <a:ln w="25400" cap="flat" cmpd="sng">
              <a:solidFill>
                <a:schemeClr val="tx1"/>
              </a:solidFill>
              <a:prstDash val="solid"/>
              <a:headEnd type="none" w="med" len="med"/>
              <a:tailEnd type="none" w="med" len="med"/>
            </a:ln>
          </p:spPr>
        </p:sp>
      </p:grpSp>
      <p:sp>
        <p:nvSpPr>
          <p:cNvPr id="165912" name="Rectangle 24"/>
          <p:cNvSpPr/>
          <p:nvPr/>
        </p:nvSpPr>
        <p:spPr>
          <a:xfrm>
            <a:off x="350838" y="2663825"/>
            <a:ext cx="7362825" cy="143986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10000"/>
              </a:spcBef>
              <a:buClrTx/>
              <a:buSzTx/>
              <a:buFont typeface="Wingdings" panose="05000000000000000000" pitchFamily="2" charset="2"/>
              <a:buChar char="·"/>
            </a:pPr>
            <a:r>
              <a:rPr lang="en-US" altLang="zh-CN" sz="1600" b="1" dirty="0">
                <a:latin typeface="Times New Roman" panose="02020603050405020304" pitchFamily="18" charset="0"/>
              </a:rPr>
              <a:t> </a:t>
            </a:r>
            <a:r>
              <a:rPr lang="zh-CN" altLang="en-US" sz="2200" b="1" dirty="0">
                <a:ea typeface="黑体" panose="02010609060101010101" pitchFamily="49" charset="-122"/>
              </a:rPr>
              <a:t>数据总是在相邻两层之间</a:t>
            </a:r>
            <a:r>
              <a:rPr lang="zh-CN" altLang="en-US" sz="2200" b="1" dirty="0">
                <a:solidFill>
                  <a:srgbClr val="CC0000"/>
                </a:solidFill>
                <a:ea typeface="黑体" panose="02010609060101010101" pitchFamily="49" charset="-122"/>
              </a:rPr>
              <a:t>复制传送</a:t>
            </a:r>
            <a:endParaRPr lang="en-US" altLang="zh-CN" sz="2200" b="1" dirty="0">
              <a:solidFill>
                <a:srgbClr val="CC0000"/>
              </a:solidFill>
              <a:ea typeface="黑体" panose="02010609060101010101" pitchFamily="49" charset="-122"/>
            </a:endParaRPr>
          </a:p>
          <a:p>
            <a:pPr marL="0" lvl="0" indent="0" eaLnBrk="1" hangingPunct="1">
              <a:spcBef>
                <a:spcPct val="10000"/>
              </a:spcBef>
              <a:buClrTx/>
              <a:buSzTx/>
              <a:buNone/>
            </a:pPr>
            <a:r>
              <a:rPr lang="en-US" altLang="zh-CN" sz="2200" b="1" dirty="0">
                <a:solidFill>
                  <a:srgbClr val="000099"/>
                </a:solidFill>
                <a:ea typeface="黑体" panose="02010609060101010101" pitchFamily="49" charset="-122"/>
              </a:rPr>
              <a:t>   Upper Level: </a:t>
            </a:r>
            <a:r>
              <a:rPr lang="zh-CN" altLang="en-US" sz="2200" b="1" dirty="0">
                <a:solidFill>
                  <a:srgbClr val="000099"/>
                </a:solidFill>
                <a:ea typeface="黑体" panose="02010609060101010101" pitchFamily="49" charset="-122"/>
              </a:rPr>
              <a:t>上层更靠</a:t>
            </a:r>
            <a:r>
              <a:rPr lang="en-US" altLang="zh-CN" sz="2200" b="1" dirty="0">
                <a:solidFill>
                  <a:srgbClr val="000099"/>
                </a:solidFill>
                <a:ea typeface="黑体" panose="02010609060101010101" pitchFamily="49" charset="-122"/>
              </a:rPr>
              <a:t>CPU</a:t>
            </a:r>
            <a:endParaRPr lang="en-US" altLang="zh-CN" sz="2200" b="1" dirty="0">
              <a:solidFill>
                <a:srgbClr val="000099"/>
              </a:solidFill>
              <a:ea typeface="黑体" panose="02010609060101010101" pitchFamily="49" charset="-122"/>
            </a:endParaRPr>
          </a:p>
          <a:p>
            <a:pPr marL="0" lvl="0" indent="0" eaLnBrk="1" hangingPunct="1">
              <a:spcBef>
                <a:spcPct val="10000"/>
              </a:spcBef>
              <a:buClrTx/>
              <a:buSzTx/>
              <a:buNone/>
            </a:pPr>
            <a:r>
              <a:rPr lang="en-US" altLang="zh-CN" sz="2200" b="1" dirty="0">
                <a:solidFill>
                  <a:srgbClr val="000099"/>
                </a:solidFill>
                <a:ea typeface="黑体" panose="02010609060101010101" pitchFamily="49" charset="-122"/>
              </a:rPr>
              <a:t>   Lower Level: </a:t>
            </a:r>
            <a:r>
              <a:rPr lang="zh-CN" altLang="en-US" sz="2200" b="1" dirty="0">
                <a:solidFill>
                  <a:srgbClr val="000099"/>
                </a:solidFill>
                <a:ea typeface="黑体" panose="02010609060101010101" pitchFamily="49" charset="-122"/>
              </a:rPr>
              <a:t>下层更远离</a:t>
            </a:r>
            <a:r>
              <a:rPr lang="en-US" altLang="zh-CN" sz="2200" b="1" dirty="0">
                <a:solidFill>
                  <a:srgbClr val="000099"/>
                </a:solidFill>
                <a:ea typeface="黑体" panose="02010609060101010101" pitchFamily="49" charset="-122"/>
              </a:rPr>
              <a:t>CPU</a:t>
            </a:r>
            <a:endParaRPr lang="en-US" altLang="zh-CN" sz="2200" b="1" dirty="0">
              <a:solidFill>
                <a:srgbClr val="000099"/>
              </a:solidFill>
              <a:ea typeface="黑体" panose="02010609060101010101" pitchFamily="49" charset="-122"/>
            </a:endParaRPr>
          </a:p>
          <a:p>
            <a:pPr marL="0" lvl="0" indent="0" eaLnBrk="1" hangingPunct="1">
              <a:spcBef>
                <a:spcPct val="10000"/>
              </a:spcBef>
              <a:buClrTx/>
              <a:buSzTx/>
              <a:buFont typeface="Wingdings" panose="05000000000000000000" pitchFamily="2" charset="2"/>
              <a:buChar char="·"/>
            </a:pPr>
            <a:r>
              <a:rPr lang="en-US" altLang="zh-CN" sz="2200" b="1" dirty="0">
                <a:ea typeface="黑体" panose="02010609060101010101" pitchFamily="49" charset="-122"/>
              </a:rPr>
              <a:t> Block: </a:t>
            </a:r>
            <a:r>
              <a:rPr lang="zh-CN" altLang="en-US" sz="2200" b="1" dirty="0">
                <a:ea typeface="黑体" panose="02010609060101010101" pitchFamily="49" charset="-122"/>
              </a:rPr>
              <a:t>最小传送单位是一个定长块，互为副本</a:t>
            </a:r>
            <a:endParaRPr lang="zh-CN" altLang="en-US" sz="2200" b="1" dirty="0">
              <a:ea typeface="黑体" panose="02010609060101010101" pitchFamily="49" charset="-122"/>
            </a:endParaRPr>
          </a:p>
        </p:txBody>
      </p:sp>
      <p:sp>
        <p:nvSpPr>
          <p:cNvPr id="165913" name="Text Box 25"/>
          <p:cNvSpPr txBox="1"/>
          <p:nvPr/>
        </p:nvSpPr>
        <p:spPr>
          <a:xfrm>
            <a:off x="250825" y="4186238"/>
            <a:ext cx="5772150" cy="33496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200" b="1" dirty="0">
                <a:solidFill>
                  <a:srgbClr val="CC0000"/>
                </a:solidFill>
                <a:ea typeface="黑体" panose="02010609060101010101" pitchFamily="49" charset="-122"/>
              </a:rPr>
              <a:t>问题：为什么这种层次化结构是有效的？</a:t>
            </a:r>
            <a:endParaRPr lang="zh-CN" altLang="en-US" sz="2200" b="1" dirty="0">
              <a:solidFill>
                <a:srgbClr val="CC0000"/>
              </a:solidFill>
              <a:ea typeface="黑体" panose="02010609060101010101" pitchFamily="49" charset="-122"/>
            </a:endParaRPr>
          </a:p>
        </p:txBody>
      </p:sp>
      <p:sp>
        <p:nvSpPr>
          <p:cNvPr id="165914" name="Text Box 26"/>
          <p:cNvSpPr txBox="1"/>
          <p:nvPr/>
        </p:nvSpPr>
        <p:spPr>
          <a:xfrm>
            <a:off x="6597650" y="4014788"/>
            <a:ext cx="1984375" cy="6699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200" b="1" dirty="0">
                <a:solidFill>
                  <a:srgbClr val="0000FF"/>
                </a:solidFill>
                <a:ea typeface="黑体" panose="02010609060101010101" pitchFamily="49" charset="-122"/>
              </a:rPr>
              <a:t>基于</a:t>
            </a:r>
            <a:r>
              <a:rPr lang="zh-CN" altLang="en-US" sz="2200" b="1" dirty="0">
                <a:solidFill>
                  <a:srgbClr val="0000FF"/>
                </a:solidFill>
                <a:latin typeface="宋体" panose="02010600030101010101" pitchFamily="2" charset="-122"/>
                <a:ea typeface="黑体" panose="02010609060101010101" pitchFamily="49" charset="-122"/>
              </a:rPr>
              <a:t>“</a:t>
            </a:r>
            <a:r>
              <a:rPr lang="zh-CN" altLang="en-US" sz="2200" b="1" dirty="0">
                <a:solidFill>
                  <a:srgbClr val="0000FF"/>
                </a:solidFill>
                <a:ea typeface="黑体" panose="02010609060101010101" pitchFamily="49" charset="-122"/>
              </a:rPr>
              <a:t>程序访问局部化</a:t>
            </a:r>
            <a:r>
              <a:rPr lang="zh-CN" altLang="en-US" sz="2200" b="1" dirty="0">
                <a:solidFill>
                  <a:srgbClr val="0000FF"/>
                </a:solidFill>
                <a:latin typeface="宋体" panose="02010600030101010101" pitchFamily="2" charset="-122"/>
                <a:ea typeface="黑体" panose="02010609060101010101" pitchFamily="49" charset="-122"/>
              </a:rPr>
              <a:t>”</a:t>
            </a:r>
            <a:r>
              <a:rPr lang="zh-CN" altLang="en-US" sz="2200" b="1" dirty="0">
                <a:solidFill>
                  <a:srgbClr val="0000FF"/>
                </a:solidFill>
                <a:ea typeface="黑体" panose="02010609060101010101" pitchFamily="49" charset="-122"/>
              </a:rPr>
              <a:t>特点！</a:t>
            </a:r>
            <a:endParaRPr lang="zh-CN" altLang="en-US" sz="2200" b="1" dirty="0">
              <a:solidFill>
                <a:srgbClr val="0000FF"/>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5912">
                                            <p:txEl>
                                              <p:charRg st="17" end="41"/>
                                            </p:txEl>
                                          </p:spTgt>
                                        </p:tgtEl>
                                        <p:attrNameLst>
                                          <p:attrName>style.visibility</p:attrName>
                                        </p:attrNameLst>
                                      </p:cBhvr>
                                      <p:to>
                                        <p:strVal val="visible"/>
                                      </p:to>
                                    </p:set>
                                    <p:animEffect transition="in" filter="blinds(horizontal)">
                                      <p:cBhvr>
                                        <p:cTn id="7" dur="500"/>
                                        <p:tgtEl>
                                          <p:spTgt spid="165912">
                                            <p:txEl>
                                              <p:charRg st="17" end="4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5912">
                                            <p:txEl>
                                              <p:charRg st="41" end="66"/>
                                            </p:txEl>
                                          </p:spTgt>
                                        </p:tgtEl>
                                        <p:attrNameLst>
                                          <p:attrName>style.visibility</p:attrName>
                                        </p:attrNameLst>
                                      </p:cBhvr>
                                      <p:to>
                                        <p:strVal val="visible"/>
                                      </p:to>
                                    </p:set>
                                    <p:animEffect transition="in" filter="blinds(horizontal)">
                                      <p:cBhvr>
                                        <p:cTn id="12" dur="500"/>
                                        <p:tgtEl>
                                          <p:spTgt spid="165912">
                                            <p:txEl>
                                              <p:charRg st="41" end="6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5912">
                                            <p:txEl>
                                              <p:charRg st="66" end="92"/>
                                            </p:txEl>
                                          </p:spTgt>
                                        </p:tgtEl>
                                        <p:attrNameLst>
                                          <p:attrName>style.visibility</p:attrName>
                                        </p:attrNameLst>
                                      </p:cBhvr>
                                      <p:to>
                                        <p:strVal val="visible"/>
                                      </p:to>
                                    </p:set>
                                    <p:animEffect transition="in" filter="blinds(horizontal)">
                                      <p:cBhvr>
                                        <p:cTn id="17" dur="500"/>
                                        <p:tgtEl>
                                          <p:spTgt spid="165912">
                                            <p:txEl>
                                              <p:charRg st="66" end="9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65913"/>
                                        </p:tgtEl>
                                        <p:attrNameLst>
                                          <p:attrName>style.visibility</p:attrName>
                                        </p:attrNameLst>
                                      </p:cBhvr>
                                      <p:to>
                                        <p:strVal val="visible"/>
                                      </p:to>
                                    </p:set>
                                    <p:animEffect transition="in" filter="blinds(horizontal)">
                                      <p:cBhvr>
                                        <p:cTn id="22" dur="500"/>
                                        <p:tgtEl>
                                          <p:spTgt spid="1659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5914"/>
                                        </p:tgtEl>
                                        <p:attrNameLst>
                                          <p:attrName>style.visibility</p:attrName>
                                        </p:attrNameLst>
                                      </p:cBhvr>
                                      <p:to>
                                        <p:strVal val="visible"/>
                                      </p:to>
                                    </p:set>
                                    <p:animEffect transition="in" filter="blinds(horizontal)">
                                      <p:cBhvr>
                                        <p:cTn id="27" dur="500"/>
                                        <p:tgtEl>
                                          <p:spTgt spid="16591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65891">
                                            <p:txEl>
                                              <p:charRg st="0" end="25"/>
                                            </p:txEl>
                                          </p:spTgt>
                                        </p:tgtEl>
                                        <p:attrNameLst>
                                          <p:attrName>style.visibility</p:attrName>
                                        </p:attrNameLst>
                                      </p:cBhvr>
                                      <p:to>
                                        <p:strVal val="visible"/>
                                      </p:to>
                                    </p:set>
                                    <p:animEffect transition="in" filter="blinds(horizontal)">
                                      <p:cBhvr>
                                        <p:cTn id="32" dur="500"/>
                                        <p:tgtEl>
                                          <p:spTgt spid="165891">
                                            <p:txEl>
                                              <p:charRg st="0" end="25"/>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165891">
                                            <p:txEl>
                                              <p:charRg st="25" end="51"/>
                                            </p:txEl>
                                          </p:spTgt>
                                        </p:tgtEl>
                                        <p:attrNameLst>
                                          <p:attrName>style.visibility</p:attrName>
                                        </p:attrNameLst>
                                      </p:cBhvr>
                                      <p:to>
                                        <p:strVal val="visible"/>
                                      </p:to>
                                    </p:set>
                                    <p:animEffect transition="in" filter="blinds(horizontal)">
                                      <p:cBhvr>
                                        <p:cTn id="35" dur="500"/>
                                        <p:tgtEl>
                                          <p:spTgt spid="165891">
                                            <p:txEl>
                                              <p:charRg st="25" end="51"/>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65891">
                                            <p:txEl>
                                              <p:charRg st="51" end="78"/>
                                            </p:txEl>
                                          </p:spTgt>
                                        </p:tgtEl>
                                        <p:attrNameLst>
                                          <p:attrName>style.visibility</p:attrName>
                                        </p:attrNameLst>
                                      </p:cBhvr>
                                      <p:to>
                                        <p:strVal val="visible"/>
                                      </p:to>
                                    </p:set>
                                    <p:animEffect transition="in" filter="blinds(horizontal)">
                                      <p:cBhvr>
                                        <p:cTn id="38" dur="500"/>
                                        <p:tgtEl>
                                          <p:spTgt spid="165891">
                                            <p:txEl>
                                              <p:charRg st="51" end="7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65891">
                                            <p:txEl>
                                              <p:charRg st="78" end="103"/>
                                            </p:txEl>
                                          </p:spTgt>
                                        </p:tgtEl>
                                        <p:attrNameLst>
                                          <p:attrName>style.visibility</p:attrName>
                                        </p:attrNameLst>
                                      </p:cBhvr>
                                      <p:to>
                                        <p:strVal val="visible"/>
                                      </p:to>
                                    </p:set>
                                    <p:animEffect transition="in" filter="blinds(horizontal)">
                                      <p:cBhvr>
                                        <p:cTn id="43" dur="500"/>
                                        <p:tgtEl>
                                          <p:spTgt spid="165891">
                                            <p:txEl>
                                              <p:charRg st="78" end="103"/>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165891">
                                            <p:txEl>
                                              <p:charRg st="103" end="133"/>
                                            </p:txEl>
                                          </p:spTgt>
                                        </p:tgtEl>
                                        <p:attrNameLst>
                                          <p:attrName>style.visibility</p:attrName>
                                        </p:attrNameLst>
                                      </p:cBhvr>
                                      <p:to>
                                        <p:strVal val="visible"/>
                                      </p:to>
                                    </p:set>
                                    <p:animEffect transition="in" filter="blinds(horizontal)">
                                      <p:cBhvr>
                                        <p:cTn id="46" dur="500"/>
                                        <p:tgtEl>
                                          <p:spTgt spid="165891">
                                            <p:txEl>
                                              <p:charRg st="103" end="133"/>
                                            </p:txEl>
                                          </p:spTgt>
                                        </p:tgtEl>
                                      </p:cBhvr>
                                    </p:animEffect>
                                  </p:childTnLst>
                                </p:cTn>
                              </p:par>
                              <p:par>
                                <p:cTn id="47" presetID="3" presetClass="entr" presetSubtype="10" fill="hold" nodeType="withEffect">
                                  <p:stCondLst>
                                    <p:cond delay="0"/>
                                  </p:stCondLst>
                                  <p:childTnLst>
                                    <p:set>
                                      <p:cBhvr>
                                        <p:cTn id="48" dur="1" fill="hold">
                                          <p:stCondLst>
                                            <p:cond delay="0"/>
                                          </p:stCondLst>
                                        </p:cTn>
                                        <p:tgtEl>
                                          <p:spTgt spid="165891">
                                            <p:txEl>
                                              <p:charRg st="133" end="164"/>
                                            </p:txEl>
                                          </p:spTgt>
                                        </p:tgtEl>
                                        <p:attrNameLst>
                                          <p:attrName>style.visibility</p:attrName>
                                        </p:attrNameLst>
                                      </p:cBhvr>
                                      <p:to>
                                        <p:strVal val="visible"/>
                                      </p:to>
                                    </p:set>
                                    <p:animEffect transition="in" filter="blinds(horizontal)">
                                      <p:cBhvr>
                                        <p:cTn id="49" dur="500"/>
                                        <p:tgtEl>
                                          <p:spTgt spid="165891">
                                            <p:txEl>
                                              <p:charRg st="133" end="16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13" grpId="0"/>
      <p:bldP spid="165914"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Rectangle 2"/>
          <p:cNvSpPr>
            <a:spLocks noGrp="1"/>
          </p:cNvSpPr>
          <p:nvPr>
            <p:ph type="title"/>
          </p:nvPr>
        </p:nvSpPr>
        <p:spPr>
          <a:xfrm>
            <a:off x="323850" y="44450"/>
            <a:ext cx="8640763" cy="533400"/>
          </a:xfrm>
        </p:spPr>
        <p:txBody>
          <a:bodyPr vert="horz" wrap="square" lIns="91440" tIns="45720" rIns="91440" bIns="45720" anchor="ctr" anchorCtr="0"/>
          <a:p>
            <a:r>
              <a:rPr lang="zh-CN" altLang="en-US" sz="3500" dirty="0">
                <a:solidFill>
                  <a:srgbClr val="FF0000"/>
                </a:solidFill>
              </a:rPr>
              <a:t>加快访存速度措施之三：引入</a:t>
            </a:r>
            <a:r>
              <a:rPr lang="en-US" altLang="zh-CN" sz="3500" dirty="0">
                <a:solidFill>
                  <a:srgbClr val="FF0000"/>
                </a:solidFill>
              </a:rPr>
              <a:t>Cache</a:t>
            </a:r>
            <a:endParaRPr lang="en-US" altLang="zh-CN" sz="3500" dirty="0">
              <a:solidFill>
                <a:srgbClr val="FF0000"/>
              </a:solidFill>
            </a:endParaRPr>
          </a:p>
        </p:txBody>
      </p:sp>
      <p:sp>
        <p:nvSpPr>
          <p:cNvPr id="167939" name="Rectangle 3"/>
          <p:cNvSpPr>
            <a:spLocks noGrp="1"/>
          </p:cNvSpPr>
          <p:nvPr>
            <p:ph idx="1"/>
          </p:nvPr>
        </p:nvSpPr>
        <p:spPr>
          <a:xfrm>
            <a:off x="182563" y="620713"/>
            <a:ext cx="8782050" cy="5534025"/>
          </a:xfrm>
        </p:spPr>
        <p:txBody>
          <a:bodyPr vert="horz" wrap="square" lIns="91440" tIns="45720" rIns="91440" bIns="45720" anchor="t" anchorCtr="0"/>
          <a:p>
            <a:pPr>
              <a:lnSpc>
                <a:spcPct val="110000"/>
              </a:lnSpc>
              <a:spcBef>
                <a:spcPct val="30000"/>
              </a:spcBef>
            </a:pPr>
            <a:r>
              <a:rPr lang="zh-CN" altLang="en-US" sz="2000" dirty="0">
                <a:ea typeface="黑体" panose="02010609060101010101" pitchFamily="49" charset="-122"/>
              </a:rPr>
              <a:t>大量典型程序的运行情况分析结果表明</a:t>
            </a:r>
            <a:endParaRPr lang="en-US" altLang="zh-CN" sz="2000" dirty="0">
              <a:cs typeface="Arial" panose="020B0604020202020204" pitchFamily="34" charset="0"/>
            </a:endParaRPr>
          </a:p>
          <a:p>
            <a:pPr lvl="1">
              <a:lnSpc>
                <a:spcPct val="110000"/>
              </a:lnSpc>
              <a:spcBef>
                <a:spcPct val="30000"/>
              </a:spcBef>
              <a:buClr>
                <a:srgbClr val="000099"/>
              </a:buClr>
              <a:buFont typeface="Arial" panose="020B0604020202020204" pitchFamily="34" charset="0"/>
              <a:buChar char="–"/>
            </a:pPr>
            <a:r>
              <a:rPr lang="zh-CN" altLang="en-US" sz="2000" dirty="0">
                <a:ea typeface="黑体" panose="02010609060101010101" pitchFamily="49" charset="-122"/>
              </a:rPr>
              <a:t>在较短时间间隔内，程序产生的地址往往集中在一个很小范围内</a:t>
            </a:r>
            <a:endParaRPr lang="en-US" altLang="zh-CN" sz="2000" dirty="0">
              <a:cs typeface="Arial" panose="020B0604020202020204" pitchFamily="34" charset="0"/>
            </a:endParaRPr>
          </a:p>
          <a:p>
            <a:pPr lvl="1">
              <a:lnSpc>
                <a:spcPct val="110000"/>
              </a:lnSpc>
              <a:spcBef>
                <a:spcPct val="30000"/>
              </a:spcBef>
              <a:buClr>
                <a:srgbClr val="000099"/>
              </a:buClr>
              <a:buFont typeface="Arial" panose="020B0604020202020204" pitchFamily="34" charset="0"/>
              <a:buNone/>
            </a:pPr>
            <a:r>
              <a:rPr lang="zh-CN" altLang="en-US" sz="2000" dirty="0">
                <a:ea typeface="黑体" panose="02010609060101010101" pitchFamily="49" charset="-122"/>
              </a:rPr>
              <a:t>这种现象称为程序访问的局部性</a:t>
            </a:r>
            <a:endParaRPr lang="en-US" altLang="zh-CN" sz="2000" dirty="0">
              <a:ea typeface="黑体" panose="02010609060101010101" pitchFamily="49" charset="-122"/>
            </a:endParaRPr>
          </a:p>
          <a:p>
            <a:pPr>
              <a:lnSpc>
                <a:spcPct val="110000"/>
              </a:lnSpc>
              <a:spcBef>
                <a:spcPct val="30000"/>
              </a:spcBef>
            </a:pPr>
            <a:r>
              <a:rPr lang="zh-CN" altLang="en-US" sz="2000" dirty="0">
                <a:ea typeface="黑体" panose="02010609060101010101" pitchFamily="49" charset="-122"/>
              </a:rPr>
              <a:t>程序具有访问局部性特征的</a:t>
            </a:r>
            <a:r>
              <a:rPr lang="zh-CN" altLang="en-US" sz="2000" dirty="0">
                <a:ea typeface="黑体" panose="02010609060101010101" pitchFamily="49" charset="-122"/>
                <a:hlinkClick r:id="" action="ppaction://hlinkshowjump?jump=nextslide"/>
              </a:rPr>
              <a:t>原因</a:t>
            </a:r>
            <a:endParaRPr lang="en-US" altLang="zh-CN" sz="2000" dirty="0">
              <a:ea typeface="黑体" panose="02010609060101010101" pitchFamily="49" charset="-122"/>
            </a:endParaRPr>
          </a:p>
          <a:p>
            <a:pPr lvl="1">
              <a:lnSpc>
                <a:spcPct val="110000"/>
              </a:lnSpc>
              <a:spcBef>
                <a:spcPct val="30000"/>
              </a:spcBef>
            </a:pPr>
            <a:r>
              <a:rPr lang="zh-CN" altLang="en-US" sz="2000" dirty="0">
                <a:ea typeface="黑体" panose="02010609060101010101" pitchFamily="49" charset="-122"/>
              </a:rPr>
              <a:t>指令：指令按序存放，地址连续，循环程序段或子程序段重复执行</a:t>
            </a:r>
            <a:endParaRPr lang="en-US" altLang="zh-CN" sz="2000" dirty="0">
              <a:ea typeface="黑体" panose="02010609060101010101" pitchFamily="49" charset="-122"/>
            </a:endParaRPr>
          </a:p>
          <a:p>
            <a:pPr lvl="1">
              <a:lnSpc>
                <a:spcPct val="110000"/>
              </a:lnSpc>
              <a:spcBef>
                <a:spcPct val="30000"/>
              </a:spcBef>
            </a:pPr>
            <a:r>
              <a:rPr lang="zh-CN" altLang="en-US" sz="2000" dirty="0">
                <a:ea typeface="黑体" panose="02010609060101010101" pitchFamily="49" charset="-122"/>
              </a:rPr>
              <a:t>数据：连续存放，数组元素重复、按序访问</a:t>
            </a:r>
            <a:endParaRPr lang="en-US" altLang="zh-CN" sz="2000" dirty="0">
              <a:ea typeface="黑体" panose="02010609060101010101" pitchFamily="49" charset="-122"/>
            </a:endParaRPr>
          </a:p>
          <a:p>
            <a:pPr>
              <a:lnSpc>
                <a:spcPct val="110000"/>
              </a:lnSpc>
              <a:spcBef>
                <a:spcPct val="30000"/>
              </a:spcBef>
            </a:pPr>
            <a:r>
              <a:rPr lang="zh-CN" altLang="en-US" sz="2000" dirty="0">
                <a:ea typeface="黑体" panose="02010609060101010101" pitchFamily="49" charset="-122"/>
              </a:rPr>
              <a:t>程序访问局部性分为</a:t>
            </a:r>
            <a:r>
              <a:rPr lang="zh-CN" altLang="en-US" sz="2000" b="1" dirty="0">
                <a:solidFill>
                  <a:srgbClr val="0000FF"/>
                </a:solidFill>
                <a:ea typeface="黑体" panose="02010609060101010101" pitchFamily="49" charset="-122"/>
              </a:rPr>
              <a:t>空间局部性</a:t>
            </a:r>
            <a:r>
              <a:rPr lang="zh-CN" altLang="en-US" sz="2000" dirty="0">
                <a:ea typeface="黑体" panose="02010609060101010101" pitchFamily="49" charset="-122"/>
              </a:rPr>
              <a:t>和</a:t>
            </a:r>
            <a:r>
              <a:rPr lang="zh-CN" altLang="en-US" sz="2000" b="1" dirty="0">
                <a:solidFill>
                  <a:srgbClr val="0000FF"/>
                </a:solidFill>
                <a:ea typeface="黑体" panose="02010609060101010101" pitchFamily="49" charset="-122"/>
              </a:rPr>
              <a:t>时间局部性</a:t>
            </a:r>
            <a:endParaRPr lang="en-US" altLang="zh-CN" sz="2000" b="1" dirty="0">
              <a:solidFill>
                <a:srgbClr val="0000FF"/>
              </a:solidFill>
              <a:ea typeface="黑体" panose="02010609060101010101" pitchFamily="49" charset="-122"/>
            </a:endParaRPr>
          </a:p>
          <a:p>
            <a:pPr>
              <a:lnSpc>
                <a:spcPct val="110000"/>
              </a:lnSpc>
              <a:spcBef>
                <a:spcPct val="30000"/>
              </a:spcBef>
            </a:pPr>
            <a:r>
              <a:rPr lang="zh-CN" altLang="en-US" sz="2000" dirty="0">
                <a:ea typeface="黑体" panose="02010609060101010101" pitchFamily="49" charset="-122"/>
              </a:rPr>
              <a:t>基于程序访问的局部性使访存要求能快速得到响应</a:t>
            </a:r>
            <a:endParaRPr lang="en-US" altLang="zh-CN" sz="2000" dirty="0">
              <a:ea typeface="黑体" panose="02010609060101010101" pitchFamily="49" charset="-122"/>
            </a:endParaRPr>
          </a:p>
          <a:p>
            <a:pPr lvl="1">
              <a:lnSpc>
                <a:spcPct val="110000"/>
              </a:lnSpc>
              <a:spcBef>
                <a:spcPct val="30000"/>
              </a:spcBef>
            </a:pPr>
            <a:r>
              <a:rPr lang="zh-CN" altLang="en-US" sz="2000" dirty="0">
                <a:ea typeface="黑体" panose="02010609060101010101" pitchFamily="49" charset="-122"/>
              </a:rPr>
              <a:t>在</a:t>
            </a:r>
            <a:r>
              <a:rPr lang="en-US" altLang="zh-CN" sz="2000" dirty="0">
                <a:ea typeface="黑体" panose="02010609060101010101" pitchFamily="49" charset="-122"/>
              </a:rPr>
              <a:t>CPU</a:t>
            </a:r>
            <a:r>
              <a:rPr lang="zh-CN" altLang="en-US" sz="2000" dirty="0">
                <a:ea typeface="黑体" panose="02010609060101010101" pitchFamily="49" charset="-122"/>
              </a:rPr>
              <a:t>和主存之间设置一个快速小容量的存储器，其中总是存放最活跃（被频繁访问）的程序块和数据，由于程序访问的局部性特征，大多数情况下，</a:t>
            </a:r>
            <a:r>
              <a:rPr lang="en-US" altLang="zh-CN" sz="2000" dirty="0">
                <a:ea typeface="黑体" panose="02010609060101010101" pitchFamily="49" charset="-122"/>
              </a:rPr>
              <a:t>CPU</a:t>
            </a:r>
            <a:r>
              <a:rPr lang="zh-CN" altLang="en-US" sz="2000" dirty="0">
                <a:ea typeface="黑体" panose="02010609060101010101" pitchFamily="49" charset="-122"/>
              </a:rPr>
              <a:t>能直接从这个高速缓存中取得指令和数据，而不必访问主存。</a:t>
            </a:r>
            <a:endParaRPr lang="zh-CN" altLang="en-US" sz="2000" dirty="0">
              <a:ea typeface="黑体" panose="02010609060101010101" pitchFamily="49" charset="-122"/>
            </a:endParaRPr>
          </a:p>
        </p:txBody>
      </p:sp>
      <p:sp>
        <p:nvSpPr>
          <p:cNvPr id="167940" name="Text Box 4"/>
          <p:cNvSpPr txBox="1"/>
          <p:nvPr/>
        </p:nvSpPr>
        <p:spPr>
          <a:xfrm>
            <a:off x="611188" y="5418138"/>
            <a:ext cx="8532812" cy="1106487"/>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CC3300"/>
                </a:solidFill>
                <a:ea typeface="黑体" panose="02010609060101010101" pitchFamily="49" charset="-122"/>
              </a:rPr>
              <a:t>这个高速缓存就是位于主存和</a:t>
            </a:r>
            <a:r>
              <a:rPr lang="en-US" altLang="zh-CN" sz="2400" b="1" dirty="0">
                <a:solidFill>
                  <a:srgbClr val="CC3300"/>
                </a:solidFill>
                <a:ea typeface="黑体" panose="02010609060101010101" pitchFamily="49" charset="-122"/>
              </a:rPr>
              <a:t>CPU</a:t>
            </a:r>
            <a:r>
              <a:rPr lang="zh-CN" altLang="en-US" sz="2400" b="1" dirty="0">
                <a:solidFill>
                  <a:srgbClr val="CC3300"/>
                </a:solidFill>
                <a:ea typeface="黑体" panose="02010609060101010101" pitchFamily="49" charset="-122"/>
              </a:rPr>
              <a:t>之间的</a:t>
            </a:r>
            <a:r>
              <a:rPr lang="en-US" altLang="zh-CN" sz="2400" b="1" dirty="0">
                <a:solidFill>
                  <a:srgbClr val="CC3300"/>
                </a:solidFill>
                <a:ea typeface="黑体" panose="02010609060101010101" pitchFamily="49" charset="-122"/>
              </a:rPr>
              <a:t>Cache</a:t>
            </a:r>
            <a:r>
              <a:rPr lang="zh-CN" altLang="en-US" sz="2400" b="1" dirty="0">
                <a:solidFill>
                  <a:srgbClr val="CC3300"/>
                </a:solidFill>
                <a:ea typeface="黑体" panose="02010609060101010101" pitchFamily="49" charset="-122"/>
              </a:rPr>
              <a:t>！</a:t>
            </a:r>
            <a:r>
              <a:rPr lang="en-US" altLang="zh-CN" sz="2400" b="1" dirty="0">
                <a:solidFill>
                  <a:srgbClr val="CC3300"/>
                </a:solidFill>
                <a:ea typeface="黑体" panose="02010609060101010101" pitchFamily="49" charset="-122"/>
              </a:rPr>
              <a:t>Cache </a:t>
            </a:r>
            <a:r>
              <a:rPr lang="zh-CN" altLang="en-US" sz="2400" b="1" dirty="0">
                <a:solidFill>
                  <a:srgbClr val="CC3300"/>
                </a:solidFill>
                <a:ea typeface="黑体" panose="02010609060101010101" pitchFamily="49" charset="-122"/>
              </a:rPr>
              <a:t>原意是一个隐蔽的场所，用来保存食物等贵重的东西。在计算机系统中，借用</a:t>
            </a:r>
            <a:r>
              <a:rPr lang="en-US" altLang="zh-CN" sz="2400" b="1" dirty="0">
                <a:solidFill>
                  <a:srgbClr val="CC3300"/>
                </a:solidFill>
                <a:ea typeface="黑体" panose="02010609060101010101" pitchFamily="49" charset="-122"/>
              </a:rPr>
              <a:t>Cache</a:t>
            </a:r>
            <a:r>
              <a:rPr lang="zh-CN" altLang="en-US" sz="2400" b="1" dirty="0">
                <a:solidFill>
                  <a:srgbClr val="CC3300"/>
                </a:solidFill>
                <a:ea typeface="黑体" panose="02010609060101010101" pitchFamily="49" charset="-122"/>
              </a:rPr>
              <a:t>来表示一个小容量高速度的缓冲区。</a:t>
            </a:r>
            <a:endParaRPr lang="zh-CN" altLang="en-US" sz="2400" b="1" dirty="0">
              <a:solidFill>
                <a:srgbClr val="CC33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7939">
                                            <p:txEl>
                                              <p:charRg st="171" end="269"/>
                                            </p:txEl>
                                          </p:spTgt>
                                        </p:tgtEl>
                                        <p:attrNameLst>
                                          <p:attrName>style.visibility</p:attrName>
                                        </p:attrNameLst>
                                      </p:cBhvr>
                                      <p:to>
                                        <p:strVal val="visible"/>
                                      </p:to>
                                    </p:set>
                                    <p:animEffect transition="in" filter="blinds(horizontal)">
                                      <p:cBhvr>
                                        <p:cTn id="7" dur="500"/>
                                        <p:tgtEl>
                                          <p:spTgt spid="167939">
                                            <p:txEl>
                                              <p:charRg st="171" end="269"/>
                                            </p:txEl>
                                          </p:spTgt>
                                        </p:tgtEl>
                                      </p:cBhvr>
                                    </p:animEffect>
                                  </p:childTnLst>
                                  <p:subTnLst>
                                    <p:animClr clrSpc="rgb" dir="cw">
                                      <p:cBhvr override="childStyle">
                                        <p:cTn dur="1" fill="hold" display="0" masterRel="nextClick" afterEffect="1"/>
                                        <p:tgtEl>
                                          <p:spTgt spid="167939">
                                            <p:txEl>
                                              <p:charRg st="171" end="269"/>
                                            </p:txEl>
                                          </p:spTgt>
                                        </p:tgtEl>
                                        <p:attrNameLst>
                                          <p:attrName>ppt_c</p:attrName>
                                        </p:attrNameLst>
                                      </p:cBhvr>
                                      <p:to>
                                        <a:schemeClr val="accent1"/>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7940"/>
                                        </p:tgtEl>
                                        <p:attrNameLst>
                                          <p:attrName>style.visibility</p:attrName>
                                        </p:attrNameLst>
                                      </p:cBhvr>
                                      <p:to>
                                        <p:strVal val="visible"/>
                                      </p:to>
                                    </p:set>
                                    <p:animEffect transition="in" filter="blinds(horizontal)">
                                      <p:cBhvr>
                                        <p:cTn id="12" dur="500"/>
                                        <p:tgtEl>
                                          <p:spTgt spid="167940"/>
                                        </p:tgtEl>
                                      </p:cBhvr>
                                    </p:animEffect>
                                  </p:childTnLst>
                                  <p:subTnLst>
                                    <p:animClr clrSpc="rgb" dir="cw">
                                      <p:cBhvr override="childStyle">
                                        <p:cTn dur="1" fill="hold" display="0" masterRel="nextClick" afterEffect="1"/>
                                        <p:tgtEl>
                                          <p:spTgt spid="167940"/>
                                        </p:tgtEl>
                                        <p:attrNameLst>
                                          <p:attrName>ppt_c</p:attrName>
                                        </p:attrNameLst>
                                      </p:cBhvr>
                                      <p:to>
                                        <a:schemeClr val="accent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0"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Rectangle 2"/>
          <p:cNvSpPr>
            <a:spLocks noGrp="1"/>
          </p:cNvSpPr>
          <p:nvPr>
            <p:ph type="title"/>
          </p:nvPr>
        </p:nvSpPr>
        <p:spPr>
          <a:xfrm>
            <a:off x="684213" y="188913"/>
            <a:ext cx="6767512" cy="631825"/>
          </a:xfrm>
        </p:spPr>
        <p:txBody>
          <a:bodyPr vert="horz" wrap="square" lIns="91440" tIns="45720" rIns="91440" bIns="45720" anchor="ctr" anchorCtr="0"/>
          <a:p>
            <a:pPr defTabSz="717550"/>
            <a:r>
              <a:rPr lang="zh-CN" altLang="en-US" dirty="0">
                <a:solidFill>
                  <a:srgbClr val="FF0000"/>
                </a:solidFill>
              </a:rPr>
              <a:t>程序的局部性原理举例</a:t>
            </a:r>
            <a:r>
              <a:rPr lang="en-US" altLang="zh-CN" dirty="0">
                <a:solidFill>
                  <a:srgbClr val="FF0000"/>
                </a:solidFill>
              </a:rPr>
              <a:t>1</a:t>
            </a:r>
            <a:endParaRPr lang="en-US" altLang="zh-CN" dirty="0">
              <a:solidFill>
                <a:srgbClr val="FF0000"/>
              </a:solidFill>
            </a:endParaRPr>
          </a:p>
        </p:txBody>
      </p:sp>
      <p:sp>
        <p:nvSpPr>
          <p:cNvPr id="123907" name="Rectangle 3"/>
          <p:cNvSpPr/>
          <p:nvPr/>
        </p:nvSpPr>
        <p:spPr>
          <a:xfrm>
            <a:off x="3627438" y="863600"/>
            <a:ext cx="2565400" cy="1333500"/>
          </a:xfrm>
          <a:prstGeom prst="rect">
            <a:avLst/>
          </a:prstGeom>
          <a:solidFill>
            <a:schemeClr val="bg1"/>
          </a:solidFill>
          <a:ln w="25400" cap="flat" cmpd="sng">
            <a:solidFill>
              <a:schemeClr val="hlink"/>
            </a:solidFill>
            <a:prstDash val="solid"/>
            <a:miter/>
            <a:headEnd type="none" w="med" len="med"/>
            <a:tailEnd type="none" w="med" len="med"/>
          </a:ln>
        </p:spPr>
        <p:txBody>
          <a:bodyPr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defTabSz="914400">
              <a:spcBef>
                <a:spcPct val="0"/>
              </a:spcBef>
              <a:buClrTx/>
              <a:buSzTx/>
              <a:buFontTx/>
              <a:buNone/>
              <a:tabLst>
                <a:tab pos="457200" algn="l"/>
              </a:tabLst>
            </a:pPr>
            <a:r>
              <a:rPr lang="en-US" altLang="zh-TW" sz="2000" b="1" dirty="0">
                <a:ea typeface="PMingLiU" pitchFamily="18" charset="-120"/>
              </a:rPr>
              <a:t>sum = 0;</a:t>
            </a:r>
            <a:endParaRPr lang="en-US" altLang="zh-TW" sz="2000" b="1" dirty="0">
              <a:ea typeface="PMingLiU" pitchFamily="18" charset="-120"/>
            </a:endParaRPr>
          </a:p>
          <a:p>
            <a:pPr marL="0" lvl="0" indent="0" defTabSz="914400">
              <a:spcBef>
                <a:spcPct val="0"/>
              </a:spcBef>
              <a:buClrTx/>
              <a:buSzTx/>
              <a:buFontTx/>
              <a:buNone/>
              <a:tabLst>
                <a:tab pos="457200" algn="l"/>
              </a:tabLst>
            </a:pPr>
            <a:r>
              <a:rPr lang="en-US" altLang="zh-TW" sz="2000" b="1" dirty="0">
                <a:ea typeface="PMingLiU" pitchFamily="18" charset="-120"/>
              </a:rPr>
              <a:t>for (i = 0; i &lt; n; i++)</a:t>
            </a:r>
            <a:endParaRPr lang="en-US" altLang="zh-TW" sz="2000" b="1" dirty="0">
              <a:ea typeface="PMingLiU" pitchFamily="18" charset="-120"/>
            </a:endParaRPr>
          </a:p>
          <a:p>
            <a:pPr marL="0" lvl="0" indent="0" defTabSz="914400">
              <a:spcBef>
                <a:spcPct val="0"/>
              </a:spcBef>
              <a:buClrTx/>
              <a:buSzTx/>
              <a:buFontTx/>
              <a:buNone/>
              <a:tabLst>
                <a:tab pos="457200" algn="l"/>
              </a:tabLst>
            </a:pPr>
            <a:r>
              <a:rPr lang="en-US" altLang="zh-TW" sz="2000" b="1" dirty="0">
                <a:ea typeface="PMingLiU" pitchFamily="18" charset="-120"/>
              </a:rPr>
              <a:t>	sum += a[i];</a:t>
            </a:r>
            <a:endParaRPr lang="en-US" altLang="zh-TW" sz="2000" b="1" dirty="0">
              <a:ea typeface="PMingLiU" pitchFamily="18" charset="-120"/>
            </a:endParaRPr>
          </a:p>
          <a:p>
            <a:pPr marL="0" lvl="0" indent="0" defTabSz="914400">
              <a:spcBef>
                <a:spcPct val="0"/>
              </a:spcBef>
              <a:buClrTx/>
              <a:buSzTx/>
              <a:buFontTx/>
              <a:buNone/>
              <a:tabLst>
                <a:tab pos="457200" algn="l"/>
              </a:tabLst>
            </a:pPr>
            <a:r>
              <a:rPr lang="en-US" altLang="zh-TW" sz="2000" b="1" dirty="0">
                <a:ea typeface="PMingLiU" pitchFamily="18" charset="-120"/>
              </a:rPr>
              <a:t>*v = sum;</a:t>
            </a:r>
            <a:endParaRPr lang="en-US" altLang="zh-TW" sz="2000" b="1" dirty="0">
              <a:ea typeface="PMingLiU" pitchFamily="18" charset="-120"/>
            </a:endParaRPr>
          </a:p>
        </p:txBody>
      </p:sp>
      <p:sp>
        <p:nvSpPr>
          <p:cNvPr id="169988" name="Rectangle 4"/>
          <p:cNvSpPr/>
          <p:nvPr/>
        </p:nvSpPr>
        <p:spPr>
          <a:xfrm>
            <a:off x="385763" y="5300663"/>
            <a:ext cx="5715000" cy="855662"/>
          </a:xfrm>
          <a:prstGeom prst="rect">
            <a:avLst/>
          </a:prstGeom>
          <a:noFill/>
          <a:ln w="9525">
            <a:noFill/>
          </a:ln>
        </p:spPr>
        <p:txBody>
          <a:bodyPr lIns="89140" tIns="43777" rIns="89140" bIns="43777"/>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225425" lvl="0" indent="-225425" defTabSz="895350" eaLnBrk="1" hangingPunct="1">
              <a:buClr>
                <a:schemeClr val="tx2"/>
              </a:buClr>
              <a:buSzPct val="70000"/>
              <a:buNone/>
            </a:pPr>
            <a:r>
              <a:rPr lang="zh-CN" altLang="en-US" sz="2000" dirty="0">
                <a:solidFill>
                  <a:srgbClr val="0000FF"/>
                </a:solidFill>
                <a:ea typeface="黑体" panose="02010609060101010101" pitchFamily="49" charset="-122"/>
              </a:rPr>
              <a:t>每条指令</a:t>
            </a:r>
            <a:r>
              <a:rPr lang="en-US" altLang="zh-CN" sz="2000" dirty="0">
                <a:solidFill>
                  <a:srgbClr val="0000FF"/>
                </a:solidFill>
                <a:ea typeface="黑体" panose="02010609060101010101" pitchFamily="49" charset="-122"/>
              </a:rPr>
              <a:t>4</a:t>
            </a:r>
            <a:r>
              <a:rPr lang="zh-CN" altLang="en-US" sz="2000" dirty="0">
                <a:solidFill>
                  <a:srgbClr val="0000FF"/>
                </a:solidFill>
                <a:ea typeface="黑体" panose="02010609060101010101" pitchFamily="49" charset="-122"/>
              </a:rPr>
              <a:t>个字节；每个数组元素</a:t>
            </a:r>
            <a:r>
              <a:rPr lang="en-US" altLang="zh-CN" sz="2000" dirty="0">
                <a:solidFill>
                  <a:srgbClr val="0000FF"/>
                </a:solidFill>
                <a:ea typeface="黑体" panose="02010609060101010101" pitchFamily="49" charset="-122"/>
              </a:rPr>
              <a:t>4</a:t>
            </a:r>
            <a:r>
              <a:rPr lang="zh-CN" altLang="en-US" sz="2000" dirty="0">
                <a:solidFill>
                  <a:srgbClr val="0000FF"/>
                </a:solidFill>
                <a:ea typeface="黑体" panose="02010609060101010101" pitchFamily="49" charset="-122"/>
              </a:rPr>
              <a:t>字节</a:t>
            </a:r>
            <a:endParaRPr lang="en-US" altLang="zh-CN" sz="2000" dirty="0">
              <a:solidFill>
                <a:srgbClr val="0000FF"/>
              </a:solidFill>
              <a:ea typeface="黑体" panose="02010609060101010101" pitchFamily="49" charset="-122"/>
            </a:endParaRPr>
          </a:p>
          <a:p>
            <a:pPr marL="225425" lvl="0" indent="-225425" defTabSz="895350" eaLnBrk="1" hangingPunct="1">
              <a:buClr>
                <a:schemeClr val="tx2"/>
              </a:buClr>
              <a:buSzPct val="70000"/>
              <a:buNone/>
            </a:pPr>
            <a:r>
              <a:rPr lang="zh-CN" altLang="en-US" sz="2000" dirty="0">
                <a:solidFill>
                  <a:srgbClr val="0000FF"/>
                </a:solidFill>
                <a:ea typeface="黑体" panose="02010609060101010101" pitchFamily="49" charset="-122"/>
              </a:rPr>
              <a:t>指令和数组元素在内存中均连续存放</a:t>
            </a:r>
            <a:endParaRPr lang="en-US" altLang="zh-CN" sz="2000" dirty="0">
              <a:solidFill>
                <a:srgbClr val="0000FF"/>
              </a:solidFill>
              <a:ea typeface="黑体" panose="02010609060101010101" pitchFamily="49" charset="-122"/>
            </a:endParaRPr>
          </a:p>
          <a:p>
            <a:pPr marL="225425" lvl="0" indent="-225425" defTabSz="895350" eaLnBrk="1" hangingPunct="1">
              <a:buClr>
                <a:schemeClr val="tx2"/>
              </a:buClr>
              <a:buSzPct val="70000"/>
              <a:buNone/>
            </a:pPr>
            <a:r>
              <a:rPr lang="en-US" altLang="zh-CN" sz="2000" dirty="0">
                <a:solidFill>
                  <a:srgbClr val="0000FF"/>
                </a:solidFill>
                <a:ea typeface="黑体" panose="02010609060101010101" pitchFamily="49" charset="-122"/>
              </a:rPr>
              <a:t>sum, ap ,i, t </a:t>
            </a:r>
            <a:r>
              <a:rPr lang="zh-CN" altLang="en-US" sz="2000" dirty="0">
                <a:solidFill>
                  <a:srgbClr val="0000FF"/>
                </a:solidFill>
                <a:ea typeface="黑体" panose="02010609060101010101" pitchFamily="49" charset="-122"/>
              </a:rPr>
              <a:t>均为通用寄存器；</a:t>
            </a:r>
            <a:r>
              <a:rPr lang="en-US" altLang="zh-CN" sz="2000" dirty="0">
                <a:solidFill>
                  <a:srgbClr val="0000FF"/>
                </a:solidFill>
                <a:ea typeface="黑体" panose="02010609060101010101" pitchFamily="49" charset="-122"/>
              </a:rPr>
              <a:t>A</a:t>
            </a:r>
            <a:r>
              <a:rPr lang="zh-CN" altLang="en-US" sz="2000" dirty="0">
                <a:solidFill>
                  <a:srgbClr val="0000FF"/>
                </a:solidFill>
                <a:ea typeface="黑体" panose="02010609060101010101" pitchFamily="49" charset="-122"/>
              </a:rPr>
              <a:t>，</a:t>
            </a:r>
            <a:r>
              <a:rPr lang="en-US" altLang="zh-CN" sz="2000" dirty="0">
                <a:solidFill>
                  <a:srgbClr val="0000FF"/>
                </a:solidFill>
                <a:ea typeface="黑体" panose="02010609060101010101" pitchFamily="49" charset="-122"/>
              </a:rPr>
              <a:t>V</a:t>
            </a:r>
            <a:r>
              <a:rPr lang="zh-CN" altLang="en-US" sz="2000" dirty="0">
                <a:solidFill>
                  <a:srgbClr val="0000FF"/>
                </a:solidFill>
                <a:ea typeface="黑体" panose="02010609060101010101" pitchFamily="49" charset="-122"/>
              </a:rPr>
              <a:t>为内存地址</a:t>
            </a:r>
            <a:endParaRPr lang="zh-CN" altLang="en-US" sz="2000" dirty="0">
              <a:solidFill>
                <a:srgbClr val="0000FF"/>
              </a:solidFill>
              <a:ea typeface="黑体" panose="02010609060101010101" pitchFamily="49" charset="-122"/>
            </a:endParaRPr>
          </a:p>
        </p:txBody>
      </p:sp>
      <p:sp>
        <p:nvSpPr>
          <p:cNvPr id="123909" name="Rectangle 5"/>
          <p:cNvSpPr/>
          <p:nvPr/>
        </p:nvSpPr>
        <p:spPr>
          <a:xfrm>
            <a:off x="206375" y="2368550"/>
            <a:ext cx="5445125" cy="2860675"/>
          </a:xfrm>
          <a:prstGeom prst="rect">
            <a:avLst/>
          </a:prstGeom>
          <a:noFill/>
          <a:ln w="25400" cap="flat" cmpd="sng">
            <a:solidFill>
              <a:srgbClr val="339966"/>
            </a:solidFill>
            <a:prstDash val="solid"/>
            <a:miter/>
            <a:headEnd type="none" w="med" len="med"/>
            <a:tailEnd type="none" w="med" len="med"/>
          </a:ln>
        </p:spPr>
        <p:txBody>
          <a:bodyPr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defTabSz="914400">
              <a:spcBef>
                <a:spcPct val="0"/>
              </a:spcBef>
              <a:buClrTx/>
              <a:buSzTx/>
              <a:buFontTx/>
              <a:buNone/>
              <a:tabLst>
                <a:tab pos="520700" algn="l"/>
                <a:tab pos="1257300" algn="l"/>
              </a:tabLst>
            </a:pPr>
            <a:r>
              <a:rPr lang="en-US" altLang="zh-TW" sz="1800" b="1" dirty="0">
                <a:ea typeface="PMingLiU" pitchFamily="18" charset="-120"/>
              </a:rPr>
              <a:t>I0:		sum  &lt;-- 0</a:t>
            </a:r>
            <a:endParaRPr lang="en-US" altLang="zh-TW" sz="1800" b="1" dirty="0">
              <a:ea typeface="PMingLiU" pitchFamily="18" charset="-120"/>
            </a:endParaRPr>
          </a:p>
          <a:p>
            <a:pPr marL="0" lvl="0" indent="0" defTabSz="914400">
              <a:spcBef>
                <a:spcPct val="0"/>
              </a:spcBef>
              <a:buClrTx/>
              <a:buSzTx/>
              <a:buFontTx/>
              <a:buNone/>
              <a:tabLst>
                <a:tab pos="520700" algn="l"/>
                <a:tab pos="1257300" algn="l"/>
              </a:tabLst>
            </a:pPr>
            <a:r>
              <a:rPr lang="en-US" altLang="zh-TW" sz="1800" b="1" dirty="0">
                <a:ea typeface="PMingLiU" pitchFamily="18" charset="-120"/>
              </a:rPr>
              <a:t>I1:		ap  &lt;-- </a:t>
            </a:r>
            <a:r>
              <a:rPr lang="en-US" altLang="zh-CN" sz="1800" b="1" dirty="0">
                <a:ea typeface="PMingLiU" pitchFamily="18" charset="-120"/>
              </a:rPr>
              <a:t>A   A</a:t>
            </a:r>
            <a:r>
              <a:rPr lang="zh-CN" altLang="en-US" sz="1800" b="1" dirty="0">
                <a:ea typeface="PMingLiU" pitchFamily="18" charset="-120"/>
              </a:rPr>
              <a:t>是数组</a:t>
            </a:r>
            <a:r>
              <a:rPr lang="en-US" altLang="zh-CN" sz="1800" b="1" dirty="0">
                <a:ea typeface="PMingLiU" pitchFamily="18" charset="-120"/>
              </a:rPr>
              <a:t>a</a:t>
            </a:r>
            <a:r>
              <a:rPr lang="zh-CN" altLang="en-US" sz="1800" b="1" dirty="0">
                <a:ea typeface="PMingLiU" pitchFamily="18" charset="-120"/>
              </a:rPr>
              <a:t>的起始地址</a:t>
            </a:r>
            <a:endParaRPr lang="zh-TW" altLang="en-US" sz="1800" b="1" dirty="0">
              <a:ea typeface="PMingLiU" pitchFamily="18" charset="-120"/>
            </a:endParaRPr>
          </a:p>
          <a:p>
            <a:pPr marL="0" lvl="0" indent="0" defTabSz="914400">
              <a:spcBef>
                <a:spcPct val="0"/>
              </a:spcBef>
              <a:buClrTx/>
              <a:buSzTx/>
              <a:buFontTx/>
              <a:buNone/>
              <a:tabLst>
                <a:tab pos="520700" algn="l"/>
                <a:tab pos="1257300" algn="l"/>
              </a:tabLst>
            </a:pPr>
            <a:r>
              <a:rPr lang="en-US" altLang="zh-TW" sz="1800" b="1" dirty="0">
                <a:ea typeface="PMingLiU" pitchFamily="18" charset="-120"/>
              </a:rPr>
              <a:t>I2:		i   &lt;-- 0</a:t>
            </a:r>
            <a:endParaRPr lang="en-US" altLang="zh-TW" sz="1800" b="1" dirty="0">
              <a:ea typeface="PMingLiU" pitchFamily="18" charset="-120"/>
            </a:endParaRPr>
          </a:p>
          <a:p>
            <a:pPr marL="0" lvl="0" indent="0" defTabSz="914400">
              <a:spcBef>
                <a:spcPct val="0"/>
              </a:spcBef>
              <a:buClrTx/>
              <a:buSzTx/>
              <a:buFontTx/>
              <a:buNone/>
              <a:tabLst>
                <a:tab pos="520700" algn="l"/>
                <a:tab pos="1257300" algn="l"/>
              </a:tabLst>
            </a:pPr>
            <a:r>
              <a:rPr lang="en-US" altLang="zh-TW" sz="1800" b="1" dirty="0">
                <a:ea typeface="PMingLiU" pitchFamily="18" charset="-120"/>
              </a:rPr>
              <a:t>I3:		if (i &gt;= n) goto done</a:t>
            </a:r>
            <a:endParaRPr lang="en-US" altLang="zh-TW" sz="1800" b="1" dirty="0">
              <a:ea typeface="PMingLiU" pitchFamily="18" charset="-120"/>
            </a:endParaRPr>
          </a:p>
          <a:p>
            <a:pPr marL="0" lvl="0" indent="0" defTabSz="914400">
              <a:spcBef>
                <a:spcPct val="0"/>
              </a:spcBef>
              <a:buClrTx/>
              <a:buSzTx/>
              <a:buFontTx/>
              <a:buNone/>
              <a:tabLst>
                <a:tab pos="520700" algn="l"/>
                <a:tab pos="1257300" algn="l"/>
              </a:tabLst>
            </a:pPr>
            <a:r>
              <a:rPr lang="en-US" altLang="zh-CN" sz="1800" b="1" dirty="0">
                <a:ea typeface="PMingLiU" pitchFamily="18" charset="-120"/>
              </a:rPr>
              <a:t>I</a:t>
            </a:r>
            <a:r>
              <a:rPr lang="en-US" altLang="zh-TW" sz="1800" b="1" dirty="0">
                <a:ea typeface="PMingLiU" pitchFamily="18" charset="-120"/>
              </a:rPr>
              <a:t>4:	loop:	t   &lt;-- </a:t>
            </a:r>
            <a:r>
              <a:rPr lang="en-US" altLang="zh-CN" sz="1800" b="1" dirty="0">
                <a:ea typeface="PMingLiU" pitchFamily="18" charset="-120"/>
              </a:rPr>
              <a:t>(</a:t>
            </a:r>
            <a:r>
              <a:rPr lang="en-US" altLang="zh-TW" sz="1800" b="1" dirty="0">
                <a:ea typeface="PMingLiU" pitchFamily="18" charset="-120"/>
              </a:rPr>
              <a:t>ap</a:t>
            </a:r>
            <a:r>
              <a:rPr lang="en-US" altLang="zh-CN" sz="1800" b="1" dirty="0">
                <a:ea typeface="PMingLiU" pitchFamily="18" charset="-120"/>
              </a:rPr>
              <a:t>) </a:t>
            </a:r>
            <a:r>
              <a:rPr lang="zh-CN" altLang="en-US" sz="1800" b="1" dirty="0">
                <a:ea typeface="PMingLiU" pitchFamily="18" charset="-120"/>
              </a:rPr>
              <a:t>数组元素</a:t>
            </a:r>
            <a:r>
              <a:rPr lang="en-US" altLang="zh-CN" sz="1800" b="1" dirty="0">
                <a:ea typeface="PMingLiU" pitchFamily="18" charset="-120"/>
              </a:rPr>
              <a:t>a[i]</a:t>
            </a:r>
            <a:r>
              <a:rPr lang="zh-CN" altLang="en-US" sz="1800" b="1" dirty="0">
                <a:ea typeface="PMingLiU" pitchFamily="18" charset="-120"/>
              </a:rPr>
              <a:t>的值</a:t>
            </a:r>
            <a:r>
              <a:rPr lang="en-US" altLang="zh-CN" sz="1800" b="1" dirty="0">
                <a:ea typeface="PMingLiU" pitchFamily="18" charset="-120"/>
              </a:rPr>
              <a:t> </a:t>
            </a:r>
            <a:endParaRPr lang="zh-TW" altLang="en-US" sz="1800" b="1" dirty="0">
              <a:ea typeface="PMingLiU" pitchFamily="18" charset="-120"/>
            </a:endParaRPr>
          </a:p>
          <a:p>
            <a:pPr marL="0" lvl="0" indent="0" defTabSz="914400">
              <a:spcBef>
                <a:spcPct val="0"/>
              </a:spcBef>
              <a:buClrTx/>
              <a:buSzTx/>
              <a:buFontTx/>
              <a:buNone/>
              <a:tabLst>
                <a:tab pos="520700" algn="l"/>
                <a:tab pos="1257300" algn="l"/>
              </a:tabLst>
            </a:pPr>
            <a:r>
              <a:rPr lang="en-US" altLang="zh-TW" sz="1800" b="1" dirty="0">
                <a:ea typeface="PMingLiU" pitchFamily="18" charset="-120"/>
              </a:rPr>
              <a:t>I5:		sum &lt;-- sum + t</a:t>
            </a:r>
            <a:r>
              <a:rPr lang="en-US" altLang="zh-CN" sz="1800" b="1" dirty="0">
                <a:ea typeface="PMingLiU" pitchFamily="18" charset="-120"/>
              </a:rPr>
              <a:t>   </a:t>
            </a:r>
            <a:r>
              <a:rPr lang="zh-CN" altLang="en-US" sz="1800" b="1" dirty="0">
                <a:ea typeface="PMingLiU" pitchFamily="18" charset="-120"/>
              </a:rPr>
              <a:t>累计在</a:t>
            </a:r>
            <a:r>
              <a:rPr lang="en-US" altLang="zh-CN" sz="1800" b="1" dirty="0">
                <a:ea typeface="PMingLiU" pitchFamily="18" charset="-120"/>
              </a:rPr>
              <a:t>sum</a:t>
            </a:r>
            <a:r>
              <a:rPr lang="zh-CN" altLang="en-US" sz="1800" b="1" dirty="0">
                <a:ea typeface="PMingLiU" pitchFamily="18" charset="-120"/>
              </a:rPr>
              <a:t>中</a:t>
            </a:r>
            <a:endParaRPr lang="en-US" altLang="zh-CN" sz="1800" b="1" dirty="0">
              <a:ea typeface="PMingLiU" pitchFamily="18" charset="-120"/>
            </a:endParaRPr>
          </a:p>
          <a:p>
            <a:pPr marL="0" lvl="0" indent="0" defTabSz="914400">
              <a:spcBef>
                <a:spcPct val="0"/>
              </a:spcBef>
              <a:buClrTx/>
              <a:buSzTx/>
              <a:buFontTx/>
              <a:buNone/>
              <a:tabLst>
                <a:tab pos="520700" algn="l"/>
                <a:tab pos="1257300" algn="l"/>
              </a:tabLst>
            </a:pPr>
            <a:r>
              <a:rPr lang="en-US" altLang="zh-TW" sz="1800" b="1" dirty="0">
                <a:ea typeface="PMingLiU" pitchFamily="18" charset="-120"/>
              </a:rPr>
              <a:t>I6:		ap  &lt;-- ap + 4</a:t>
            </a:r>
            <a:r>
              <a:rPr lang="en-US" altLang="zh-CN" sz="1800" b="1" dirty="0">
                <a:ea typeface="PMingLiU" pitchFamily="18" charset="-120"/>
              </a:rPr>
              <a:t>   </a:t>
            </a:r>
            <a:r>
              <a:rPr lang="zh-CN" altLang="en-US" sz="1800" b="1" dirty="0">
                <a:ea typeface="PMingLiU" pitchFamily="18" charset="-120"/>
              </a:rPr>
              <a:t>计算下个数组元素地址</a:t>
            </a:r>
            <a:endParaRPr lang="zh-TW" altLang="en-US" sz="1800" b="1" dirty="0">
              <a:ea typeface="PMingLiU" pitchFamily="18" charset="-120"/>
            </a:endParaRPr>
          </a:p>
          <a:p>
            <a:pPr marL="0" lvl="0" indent="0" defTabSz="914400">
              <a:spcBef>
                <a:spcPct val="0"/>
              </a:spcBef>
              <a:buClrTx/>
              <a:buSzTx/>
              <a:buFontTx/>
              <a:buNone/>
              <a:tabLst>
                <a:tab pos="520700" algn="l"/>
                <a:tab pos="1257300" algn="l"/>
              </a:tabLst>
            </a:pPr>
            <a:r>
              <a:rPr lang="en-US" altLang="zh-TW" sz="1800" b="1" dirty="0">
                <a:ea typeface="PMingLiU" pitchFamily="18" charset="-120"/>
              </a:rPr>
              <a:t>I7:		i   &lt;-- i + 1</a:t>
            </a:r>
            <a:r>
              <a:rPr lang="en-US" altLang="zh-CN" sz="1800" b="1" dirty="0">
                <a:ea typeface="PMingLiU" pitchFamily="18" charset="-120"/>
              </a:rPr>
              <a:t>  </a:t>
            </a:r>
            <a:endParaRPr lang="en-US" altLang="zh-TW" sz="1800" b="1" dirty="0">
              <a:ea typeface="PMingLiU" pitchFamily="18" charset="-120"/>
            </a:endParaRPr>
          </a:p>
          <a:p>
            <a:pPr marL="0" lvl="0" indent="0" defTabSz="914400">
              <a:spcBef>
                <a:spcPct val="0"/>
              </a:spcBef>
              <a:buClrTx/>
              <a:buSzTx/>
              <a:buFontTx/>
              <a:buNone/>
              <a:tabLst>
                <a:tab pos="520700" algn="l"/>
                <a:tab pos="1257300" algn="l"/>
              </a:tabLst>
            </a:pPr>
            <a:r>
              <a:rPr lang="en-US" altLang="zh-TW" sz="1800" b="1" dirty="0">
                <a:ea typeface="PMingLiU" pitchFamily="18" charset="-120"/>
              </a:rPr>
              <a:t>I8:		if (i &lt; n) goto loop</a:t>
            </a:r>
            <a:endParaRPr lang="en-US" altLang="zh-TW" sz="1800" b="1" dirty="0">
              <a:ea typeface="PMingLiU" pitchFamily="18" charset="-120"/>
            </a:endParaRPr>
          </a:p>
          <a:p>
            <a:pPr marL="0" lvl="0" indent="0" defTabSz="914400">
              <a:spcBef>
                <a:spcPct val="0"/>
              </a:spcBef>
              <a:buClrTx/>
              <a:buSzTx/>
              <a:buFontTx/>
              <a:buNone/>
              <a:tabLst>
                <a:tab pos="520700" algn="l"/>
                <a:tab pos="1257300" algn="l"/>
              </a:tabLst>
            </a:pPr>
            <a:r>
              <a:rPr lang="en-US" altLang="zh-TW" sz="1800" b="1" dirty="0">
                <a:ea typeface="PMingLiU" pitchFamily="18" charset="-120"/>
              </a:rPr>
              <a:t>I9:	done:	</a:t>
            </a:r>
            <a:r>
              <a:rPr lang="en-US" altLang="zh-CN" sz="1800" b="1" dirty="0">
                <a:ea typeface="PMingLiU" pitchFamily="18" charset="-120"/>
              </a:rPr>
              <a:t>V</a:t>
            </a:r>
            <a:r>
              <a:rPr lang="en-US" altLang="zh-TW" sz="1800" b="1" dirty="0">
                <a:ea typeface="PMingLiU" pitchFamily="18" charset="-120"/>
              </a:rPr>
              <a:t>  &lt;-- sum</a:t>
            </a:r>
            <a:r>
              <a:rPr lang="en-US" altLang="zh-CN" sz="1800" b="1" dirty="0">
                <a:ea typeface="PMingLiU" pitchFamily="18" charset="-120"/>
              </a:rPr>
              <a:t>   </a:t>
            </a:r>
            <a:r>
              <a:rPr lang="zh-CN" altLang="en-US" sz="1800" b="1" dirty="0">
                <a:ea typeface="PMingLiU" pitchFamily="18" charset="-120"/>
              </a:rPr>
              <a:t>累计结果保存至地址</a:t>
            </a:r>
            <a:r>
              <a:rPr lang="en-US" altLang="zh-CN" sz="1800" b="1" dirty="0">
                <a:ea typeface="PMingLiU" pitchFamily="18" charset="-120"/>
              </a:rPr>
              <a:t>v</a:t>
            </a:r>
            <a:endParaRPr lang="en-US" altLang="zh-TW" sz="1800" b="1" dirty="0">
              <a:ea typeface="PMingLiU" pitchFamily="18" charset="-120"/>
            </a:endParaRPr>
          </a:p>
        </p:txBody>
      </p:sp>
      <p:grpSp>
        <p:nvGrpSpPr>
          <p:cNvPr id="2" name="Group 6"/>
          <p:cNvGrpSpPr/>
          <p:nvPr/>
        </p:nvGrpSpPr>
        <p:grpSpPr>
          <a:xfrm>
            <a:off x="6235700" y="892175"/>
            <a:ext cx="2895600" cy="5965825"/>
            <a:chOff x="3928" y="562"/>
            <a:chExt cx="1824" cy="3758"/>
          </a:xfrm>
        </p:grpSpPr>
        <p:sp>
          <p:nvSpPr>
            <p:cNvPr id="123915" name="Rectangle 7"/>
            <p:cNvSpPr/>
            <p:nvPr/>
          </p:nvSpPr>
          <p:spPr>
            <a:xfrm>
              <a:off x="4580" y="982"/>
              <a:ext cx="890" cy="15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I1</a:t>
              </a:r>
              <a:endParaRPr lang="en-US" altLang="zh-TW" sz="1400" b="1" dirty="0">
                <a:latin typeface="Times New Roman" panose="02020603050405020304" pitchFamily="18" charset="0"/>
                <a:ea typeface="PMingLiU" pitchFamily="18" charset="-120"/>
              </a:endParaRPr>
            </a:p>
          </p:txBody>
        </p:sp>
        <p:sp>
          <p:nvSpPr>
            <p:cNvPr id="123916" name="Rectangle 8"/>
            <p:cNvSpPr/>
            <p:nvPr/>
          </p:nvSpPr>
          <p:spPr>
            <a:xfrm>
              <a:off x="4580" y="1150"/>
              <a:ext cx="890" cy="151"/>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I2</a:t>
              </a:r>
              <a:endParaRPr lang="en-US" altLang="zh-TW" sz="1400" b="1" dirty="0">
                <a:latin typeface="Times New Roman" panose="02020603050405020304" pitchFamily="18" charset="0"/>
                <a:ea typeface="PMingLiU" pitchFamily="18" charset="-120"/>
              </a:endParaRPr>
            </a:p>
          </p:txBody>
        </p:sp>
        <p:sp>
          <p:nvSpPr>
            <p:cNvPr id="123917" name="Rectangle 9"/>
            <p:cNvSpPr/>
            <p:nvPr/>
          </p:nvSpPr>
          <p:spPr>
            <a:xfrm>
              <a:off x="4580" y="1319"/>
              <a:ext cx="890" cy="15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I3</a:t>
              </a:r>
              <a:endParaRPr lang="en-US" altLang="zh-TW" sz="1400" b="1" dirty="0">
                <a:latin typeface="Times New Roman" panose="02020603050405020304" pitchFamily="18" charset="0"/>
                <a:ea typeface="PMingLiU" pitchFamily="18" charset="-120"/>
              </a:endParaRPr>
            </a:p>
          </p:txBody>
        </p:sp>
        <p:sp>
          <p:nvSpPr>
            <p:cNvPr id="123918" name="Rectangle 10"/>
            <p:cNvSpPr/>
            <p:nvPr/>
          </p:nvSpPr>
          <p:spPr>
            <a:xfrm>
              <a:off x="4580" y="1488"/>
              <a:ext cx="890" cy="15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I4</a:t>
              </a:r>
              <a:endParaRPr lang="en-US" altLang="zh-TW" sz="1400" b="1" dirty="0">
                <a:latin typeface="Times New Roman" panose="02020603050405020304" pitchFamily="18" charset="0"/>
                <a:ea typeface="PMingLiU" pitchFamily="18" charset="-120"/>
              </a:endParaRPr>
            </a:p>
          </p:txBody>
        </p:sp>
        <p:sp>
          <p:nvSpPr>
            <p:cNvPr id="123919" name="Rectangle 11"/>
            <p:cNvSpPr/>
            <p:nvPr/>
          </p:nvSpPr>
          <p:spPr>
            <a:xfrm>
              <a:off x="4580" y="1657"/>
              <a:ext cx="890" cy="15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I5</a:t>
              </a:r>
              <a:endParaRPr lang="en-US" altLang="zh-TW" sz="1400" b="1" dirty="0">
                <a:latin typeface="Times New Roman" panose="02020603050405020304" pitchFamily="18" charset="0"/>
                <a:ea typeface="PMingLiU" pitchFamily="18" charset="-120"/>
              </a:endParaRPr>
            </a:p>
          </p:txBody>
        </p:sp>
        <p:sp>
          <p:nvSpPr>
            <p:cNvPr id="123920" name="Rectangle 12"/>
            <p:cNvSpPr/>
            <p:nvPr/>
          </p:nvSpPr>
          <p:spPr>
            <a:xfrm>
              <a:off x="4580" y="1826"/>
              <a:ext cx="890" cy="15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I6</a:t>
              </a:r>
              <a:endParaRPr lang="en-US" altLang="zh-TW" sz="1400" b="1" dirty="0">
                <a:latin typeface="Times New Roman" panose="02020603050405020304" pitchFamily="18" charset="0"/>
                <a:ea typeface="PMingLiU" pitchFamily="18" charset="-120"/>
              </a:endParaRPr>
            </a:p>
          </p:txBody>
        </p:sp>
        <p:sp>
          <p:nvSpPr>
            <p:cNvPr id="123921" name="Rectangle 13"/>
            <p:cNvSpPr/>
            <p:nvPr/>
          </p:nvSpPr>
          <p:spPr>
            <a:xfrm>
              <a:off x="4080" y="970"/>
              <a:ext cx="468" cy="21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0x100</a:t>
              </a:r>
              <a:endParaRPr lang="en-US" altLang="zh-TW" sz="1600" b="1" dirty="0">
                <a:ea typeface="PMingLiU" pitchFamily="18" charset="-120"/>
              </a:endParaRPr>
            </a:p>
          </p:txBody>
        </p:sp>
        <p:sp>
          <p:nvSpPr>
            <p:cNvPr id="123922" name="Rectangle 14"/>
            <p:cNvSpPr/>
            <p:nvPr/>
          </p:nvSpPr>
          <p:spPr>
            <a:xfrm>
              <a:off x="4080" y="1139"/>
              <a:ext cx="468" cy="21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0x104</a:t>
              </a:r>
              <a:endParaRPr lang="en-US" altLang="zh-TW" sz="1600" b="1" dirty="0">
                <a:ea typeface="PMingLiU" pitchFamily="18" charset="-120"/>
              </a:endParaRPr>
            </a:p>
          </p:txBody>
        </p:sp>
        <p:sp>
          <p:nvSpPr>
            <p:cNvPr id="123923" name="Rectangle 15"/>
            <p:cNvSpPr/>
            <p:nvPr/>
          </p:nvSpPr>
          <p:spPr>
            <a:xfrm>
              <a:off x="4080" y="1308"/>
              <a:ext cx="477" cy="210"/>
            </a:xfrm>
            <a:prstGeom prst="rect">
              <a:avLst/>
            </a:prstGeom>
            <a:noFill/>
            <a:ln w="9525">
              <a:noFill/>
            </a:ln>
          </p:spPr>
          <p:txBody>
            <a:bodyPr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0x108</a:t>
              </a:r>
              <a:endParaRPr lang="en-US" altLang="zh-TW" sz="1600" b="1" dirty="0">
                <a:ea typeface="PMingLiU" pitchFamily="18" charset="-120"/>
              </a:endParaRPr>
            </a:p>
          </p:txBody>
        </p:sp>
        <p:sp>
          <p:nvSpPr>
            <p:cNvPr id="123924" name="Rectangle 16"/>
            <p:cNvSpPr/>
            <p:nvPr/>
          </p:nvSpPr>
          <p:spPr>
            <a:xfrm>
              <a:off x="4080" y="1477"/>
              <a:ext cx="488" cy="21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0x10C</a:t>
              </a:r>
              <a:endParaRPr lang="en-US" altLang="zh-TW" sz="1600" b="1" dirty="0">
                <a:ea typeface="PMingLiU" pitchFamily="18" charset="-120"/>
              </a:endParaRPr>
            </a:p>
          </p:txBody>
        </p:sp>
        <p:sp>
          <p:nvSpPr>
            <p:cNvPr id="123925" name="Rectangle 17"/>
            <p:cNvSpPr/>
            <p:nvPr/>
          </p:nvSpPr>
          <p:spPr>
            <a:xfrm>
              <a:off x="4080" y="1646"/>
              <a:ext cx="468" cy="209"/>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0x110</a:t>
              </a:r>
              <a:endParaRPr lang="en-US" altLang="zh-TW" sz="1600" b="1" dirty="0">
                <a:ea typeface="PMingLiU" pitchFamily="18" charset="-120"/>
              </a:endParaRPr>
            </a:p>
          </p:txBody>
        </p:sp>
        <p:sp>
          <p:nvSpPr>
            <p:cNvPr id="123926" name="Rectangle 18"/>
            <p:cNvSpPr/>
            <p:nvPr/>
          </p:nvSpPr>
          <p:spPr>
            <a:xfrm>
              <a:off x="4080" y="1814"/>
              <a:ext cx="468" cy="21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0x114</a:t>
              </a:r>
              <a:endParaRPr lang="en-US" altLang="zh-TW" sz="1600" b="1" dirty="0">
                <a:ea typeface="PMingLiU" pitchFamily="18" charset="-120"/>
              </a:endParaRPr>
            </a:p>
          </p:txBody>
        </p:sp>
        <p:sp>
          <p:nvSpPr>
            <p:cNvPr id="123927" name="Rectangle 19"/>
            <p:cNvSpPr/>
            <p:nvPr/>
          </p:nvSpPr>
          <p:spPr>
            <a:xfrm>
              <a:off x="4580" y="2389"/>
              <a:ext cx="890" cy="15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a[0]</a:t>
              </a:r>
              <a:endParaRPr lang="en-US" altLang="zh-TW" sz="1400" b="1" dirty="0">
                <a:latin typeface="Times New Roman" panose="02020603050405020304" pitchFamily="18" charset="0"/>
                <a:ea typeface="PMingLiU" pitchFamily="18" charset="-120"/>
              </a:endParaRPr>
            </a:p>
          </p:txBody>
        </p:sp>
        <p:sp>
          <p:nvSpPr>
            <p:cNvPr id="123928" name="Rectangle 20"/>
            <p:cNvSpPr/>
            <p:nvPr/>
          </p:nvSpPr>
          <p:spPr>
            <a:xfrm>
              <a:off x="4580" y="2558"/>
              <a:ext cx="890" cy="15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a[1]</a:t>
              </a:r>
              <a:endParaRPr lang="en-US" altLang="zh-TW" sz="1400" b="1" dirty="0">
                <a:latin typeface="Times New Roman" panose="02020603050405020304" pitchFamily="18" charset="0"/>
                <a:ea typeface="PMingLiU" pitchFamily="18" charset="-120"/>
              </a:endParaRPr>
            </a:p>
          </p:txBody>
        </p:sp>
        <p:sp>
          <p:nvSpPr>
            <p:cNvPr id="123929" name="Rectangle 21"/>
            <p:cNvSpPr/>
            <p:nvPr/>
          </p:nvSpPr>
          <p:spPr>
            <a:xfrm>
              <a:off x="4580" y="2726"/>
              <a:ext cx="890" cy="151"/>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a[2]</a:t>
              </a:r>
              <a:endParaRPr lang="en-US" altLang="zh-TW" sz="1400" b="1" dirty="0">
                <a:latin typeface="Times New Roman" panose="02020603050405020304" pitchFamily="18" charset="0"/>
                <a:ea typeface="PMingLiU" pitchFamily="18" charset="-120"/>
              </a:endParaRPr>
            </a:p>
          </p:txBody>
        </p:sp>
        <p:sp>
          <p:nvSpPr>
            <p:cNvPr id="123930" name="Rectangle 22"/>
            <p:cNvSpPr/>
            <p:nvPr/>
          </p:nvSpPr>
          <p:spPr>
            <a:xfrm>
              <a:off x="4580" y="2895"/>
              <a:ext cx="890" cy="15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a[3]</a:t>
              </a:r>
              <a:endParaRPr lang="en-US" altLang="zh-TW" sz="1400" b="1" dirty="0">
                <a:latin typeface="Times New Roman" panose="02020603050405020304" pitchFamily="18" charset="0"/>
                <a:ea typeface="PMingLiU" pitchFamily="18" charset="-120"/>
              </a:endParaRPr>
            </a:p>
          </p:txBody>
        </p:sp>
        <p:sp>
          <p:nvSpPr>
            <p:cNvPr id="123931" name="Rectangle 23"/>
            <p:cNvSpPr/>
            <p:nvPr/>
          </p:nvSpPr>
          <p:spPr>
            <a:xfrm>
              <a:off x="4580" y="3064"/>
              <a:ext cx="890" cy="15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a[4]</a:t>
              </a:r>
              <a:endParaRPr lang="en-US" altLang="zh-TW" sz="1400" b="1" dirty="0">
                <a:latin typeface="Times New Roman" panose="02020603050405020304" pitchFamily="18" charset="0"/>
                <a:ea typeface="PMingLiU" pitchFamily="18" charset="-120"/>
              </a:endParaRPr>
            </a:p>
          </p:txBody>
        </p:sp>
        <p:sp>
          <p:nvSpPr>
            <p:cNvPr id="123932" name="Rectangle 24"/>
            <p:cNvSpPr/>
            <p:nvPr/>
          </p:nvSpPr>
          <p:spPr>
            <a:xfrm>
              <a:off x="4580" y="3233"/>
              <a:ext cx="890" cy="15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a[5]</a:t>
              </a:r>
              <a:endParaRPr lang="en-US" altLang="zh-TW" sz="1400" b="1" dirty="0">
                <a:latin typeface="Times New Roman" panose="02020603050405020304" pitchFamily="18" charset="0"/>
                <a:ea typeface="PMingLiU" pitchFamily="18" charset="-120"/>
              </a:endParaRPr>
            </a:p>
          </p:txBody>
        </p:sp>
        <p:sp>
          <p:nvSpPr>
            <p:cNvPr id="123933" name="Rectangle 25"/>
            <p:cNvSpPr/>
            <p:nvPr/>
          </p:nvSpPr>
          <p:spPr>
            <a:xfrm>
              <a:off x="4080" y="2377"/>
              <a:ext cx="468" cy="21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0x400</a:t>
              </a:r>
              <a:endParaRPr lang="en-US" altLang="zh-TW" sz="1600" b="1" dirty="0">
                <a:ea typeface="PMingLiU" pitchFamily="18" charset="-120"/>
              </a:endParaRPr>
            </a:p>
          </p:txBody>
        </p:sp>
        <p:sp>
          <p:nvSpPr>
            <p:cNvPr id="123934" name="Rectangle 26"/>
            <p:cNvSpPr/>
            <p:nvPr/>
          </p:nvSpPr>
          <p:spPr>
            <a:xfrm>
              <a:off x="4080" y="2546"/>
              <a:ext cx="468" cy="21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0x404</a:t>
              </a:r>
              <a:endParaRPr lang="en-US" altLang="zh-TW" sz="1600" b="1" dirty="0">
                <a:ea typeface="PMingLiU" pitchFamily="18" charset="-120"/>
              </a:endParaRPr>
            </a:p>
          </p:txBody>
        </p:sp>
        <p:sp>
          <p:nvSpPr>
            <p:cNvPr id="123935" name="Rectangle 27"/>
            <p:cNvSpPr/>
            <p:nvPr/>
          </p:nvSpPr>
          <p:spPr>
            <a:xfrm>
              <a:off x="4080" y="2715"/>
              <a:ext cx="468" cy="21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0x408</a:t>
              </a:r>
              <a:endParaRPr lang="en-US" altLang="zh-TW" sz="1600" b="1" dirty="0">
                <a:ea typeface="PMingLiU" pitchFamily="18" charset="-120"/>
              </a:endParaRPr>
            </a:p>
          </p:txBody>
        </p:sp>
        <p:sp>
          <p:nvSpPr>
            <p:cNvPr id="123936" name="Rectangle 28"/>
            <p:cNvSpPr/>
            <p:nvPr/>
          </p:nvSpPr>
          <p:spPr>
            <a:xfrm>
              <a:off x="4080" y="2884"/>
              <a:ext cx="488" cy="21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0x40C</a:t>
              </a:r>
              <a:endParaRPr lang="en-US" altLang="zh-TW" sz="1600" b="1" dirty="0">
                <a:ea typeface="PMingLiU" pitchFamily="18" charset="-120"/>
              </a:endParaRPr>
            </a:p>
          </p:txBody>
        </p:sp>
        <p:sp>
          <p:nvSpPr>
            <p:cNvPr id="123937" name="Rectangle 29"/>
            <p:cNvSpPr/>
            <p:nvPr/>
          </p:nvSpPr>
          <p:spPr>
            <a:xfrm>
              <a:off x="4080" y="3053"/>
              <a:ext cx="468" cy="21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0x410</a:t>
              </a:r>
              <a:endParaRPr lang="en-US" altLang="zh-TW" sz="1600" b="1" dirty="0">
                <a:ea typeface="PMingLiU" pitchFamily="18" charset="-120"/>
              </a:endParaRPr>
            </a:p>
          </p:txBody>
        </p:sp>
        <p:sp>
          <p:nvSpPr>
            <p:cNvPr id="123938" name="Rectangle 30"/>
            <p:cNvSpPr/>
            <p:nvPr/>
          </p:nvSpPr>
          <p:spPr>
            <a:xfrm>
              <a:off x="4080" y="3222"/>
              <a:ext cx="468" cy="209"/>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0x414</a:t>
              </a:r>
              <a:endParaRPr lang="en-US" altLang="zh-TW" sz="1600" b="1" dirty="0">
                <a:ea typeface="PMingLiU" pitchFamily="18" charset="-120"/>
              </a:endParaRPr>
            </a:p>
          </p:txBody>
        </p:sp>
        <p:sp>
          <p:nvSpPr>
            <p:cNvPr id="123939" name="Rectangle 31"/>
            <p:cNvSpPr/>
            <p:nvPr/>
          </p:nvSpPr>
          <p:spPr>
            <a:xfrm>
              <a:off x="4580" y="1995"/>
              <a:ext cx="890" cy="375"/>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dirty="0">
                  <a:latin typeface="Times New Roman" panose="02020603050405020304" pitchFamily="18" charset="0"/>
                  <a:ea typeface="PMingLiU" pitchFamily="18" charset="-120"/>
                </a:rPr>
                <a:t>• • •</a:t>
              </a:r>
              <a:endParaRPr lang="en-US" altLang="zh-TW" sz="1400" dirty="0">
                <a:latin typeface="Times New Roman" panose="02020603050405020304" pitchFamily="18" charset="0"/>
                <a:ea typeface="PMingLiU" pitchFamily="18" charset="-120"/>
              </a:endParaRPr>
            </a:p>
          </p:txBody>
        </p:sp>
        <p:sp>
          <p:nvSpPr>
            <p:cNvPr id="123940" name="Rectangle 32"/>
            <p:cNvSpPr/>
            <p:nvPr/>
          </p:nvSpPr>
          <p:spPr>
            <a:xfrm>
              <a:off x="4580" y="3796"/>
              <a:ext cx="890" cy="15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endParaRPr lang="zh-CN" altLang="en-US" sz="1400" b="1" dirty="0">
                <a:latin typeface="Courier New" panose="02070309020205020404" pitchFamily="49" charset="0"/>
                <a:ea typeface="PMingLiU" pitchFamily="18" charset="-120"/>
              </a:endParaRPr>
            </a:p>
          </p:txBody>
        </p:sp>
        <p:sp>
          <p:nvSpPr>
            <p:cNvPr id="123941" name="Rectangle 33"/>
            <p:cNvSpPr/>
            <p:nvPr/>
          </p:nvSpPr>
          <p:spPr>
            <a:xfrm>
              <a:off x="4080" y="3784"/>
              <a:ext cx="488" cy="21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0x7A4</a:t>
              </a:r>
              <a:endParaRPr lang="en-US" altLang="zh-TW" sz="1600" b="1" dirty="0">
                <a:ea typeface="PMingLiU" pitchFamily="18" charset="-120"/>
              </a:endParaRPr>
            </a:p>
          </p:txBody>
        </p:sp>
        <p:sp>
          <p:nvSpPr>
            <p:cNvPr id="123942" name="Rectangle 34"/>
            <p:cNvSpPr/>
            <p:nvPr/>
          </p:nvSpPr>
          <p:spPr>
            <a:xfrm>
              <a:off x="4580" y="3402"/>
              <a:ext cx="890" cy="375"/>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ea typeface="PMingLiU" pitchFamily="18" charset="-120"/>
                </a:rPr>
                <a:t>• • •</a:t>
              </a:r>
              <a:endParaRPr lang="en-US" altLang="zh-TW" sz="1400" b="1" dirty="0">
                <a:ea typeface="PMingLiU" pitchFamily="18" charset="-120"/>
              </a:endParaRPr>
            </a:p>
          </p:txBody>
        </p:sp>
        <p:sp>
          <p:nvSpPr>
            <p:cNvPr id="123943" name="Rectangle 35"/>
            <p:cNvSpPr/>
            <p:nvPr/>
          </p:nvSpPr>
          <p:spPr>
            <a:xfrm>
              <a:off x="3928" y="562"/>
              <a:ext cx="880" cy="229"/>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zh-CN" altLang="en-US" sz="1800" b="1" dirty="0">
                  <a:solidFill>
                    <a:schemeClr val="hlink"/>
                  </a:solidFill>
                  <a:latin typeface="Times New Roman" panose="02020603050405020304" pitchFamily="18" charset="0"/>
                  <a:ea typeface="PMingLiU" pitchFamily="18" charset="-120"/>
                </a:rPr>
                <a:t>主存的布局</a:t>
              </a:r>
              <a:r>
                <a:rPr lang="en-US" altLang="zh-CN" sz="1800" b="1" dirty="0">
                  <a:solidFill>
                    <a:schemeClr val="hlink"/>
                  </a:solidFill>
                  <a:latin typeface="Times New Roman" panose="02020603050405020304" pitchFamily="18" charset="0"/>
                  <a:ea typeface="PMingLiU" pitchFamily="18" charset="-120"/>
                </a:rPr>
                <a:t>:</a:t>
              </a:r>
              <a:endParaRPr lang="en-US" altLang="zh-CN" sz="1800" b="1" dirty="0">
                <a:solidFill>
                  <a:schemeClr val="hlink"/>
                </a:solidFill>
                <a:latin typeface="Times New Roman" panose="02020603050405020304" pitchFamily="18" charset="0"/>
                <a:ea typeface="PMingLiU" pitchFamily="18" charset="-120"/>
              </a:endParaRPr>
            </a:p>
          </p:txBody>
        </p:sp>
        <p:sp>
          <p:nvSpPr>
            <p:cNvPr id="123944" name="Rectangle 36"/>
            <p:cNvSpPr/>
            <p:nvPr/>
          </p:nvSpPr>
          <p:spPr>
            <a:xfrm>
              <a:off x="4580" y="813"/>
              <a:ext cx="890" cy="15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I0</a:t>
              </a:r>
              <a:endParaRPr lang="en-US" altLang="zh-TW" sz="1400" b="1" dirty="0">
                <a:latin typeface="Times New Roman" panose="02020603050405020304" pitchFamily="18" charset="0"/>
                <a:ea typeface="PMingLiU" pitchFamily="18" charset="-120"/>
              </a:endParaRPr>
            </a:p>
          </p:txBody>
        </p:sp>
        <p:sp>
          <p:nvSpPr>
            <p:cNvPr id="123945" name="Rectangle 37"/>
            <p:cNvSpPr/>
            <p:nvPr/>
          </p:nvSpPr>
          <p:spPr>
            <a:xfrm>
              <a:off x="4080" y="801"/>
              <a:ext cx="495" cy="21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0x0FC</a:t>
              </a:r>
              <a:endParaRPr lang="en-US" altLang="zh-TW" sz="1600" b="1" dirty="0">
                <a:ea typeface="PMingLiU" pitchFamily="18" charset="-120"/>
              </a:endParaRPr>
            </a:p>
          </p:txBody>
        </p:sp>
        <p:sp>
          <p:nvSpPr>
            <p:cNvPr id="123946" name="Text Box 38"/>
            <p:cNvSpPr txBox="1"/>
            <p:nvPr/>
          </p:nvSpPr>
          <p:spPr>
            <a:xfrm>
              <a:off x="5463" y="709"/>
              <a:ext cx="289" cy="3611"/>
            </a:xfrm>
            <a:prstGeom prst="rect">
              <a:avLst/>
            </a:prstGeom>
            <a:noFill/>
            <a:ln w="9525">
              <a:noFill/>
            </a:ln>
          </p:spPr>
          <p:txBody>
            <a:bodyPr vert="eaVert"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chemeClr val="hlink"/>
                  </a:solidFill>
                  <a:ea typeface="黑体" panose="02010609060101010101" pitchFamily="49" charset="-122"/>
                </a:rPr>
                <a:t>指</a:t>
              </a:r>
              <a:r>
                <a:rPr lang="en-US" altLang="zh-CN" sz="1800" b="1" dirty="0">
                  <a:solidFill>
                    <a:schemeClr val="hlink"/>
                  </a:solidFill>
                  <a:ea typeface="黑体" panose="02010609060101010101" pitchFamily="49" charset="-122"/>
                </a:rPr>
                <a:t>  </a:t>
              </a:r>
              <a:r>
                <a:rPr lang="zh-CN" altLang="en-US" sz="1800" b="1" dirty="0">
                  <a:solidFill>
                    <a:schemeClr val="hlink"/>
                  </a:solidFill>
                  <a:ea typeface="黑体" panose="02010609060101010101" pitchFamily="49" charset="-122"/>
                </a:rPr>
                <a:t>令</a:t>
              </a:r>
              <a:r>
                <a:rPr lang="en-US" altLang="zh-CN" sz="1800" b="1" dirty="0">
                  <a:solidFill>
                    <a:schemeClr val="hlink"/>
                  </a:solidFill>
                  <a:ea typeface="黑体" panose="02010609060101010101" pitchFamily="49" charset="-122"/>
                </a:rPr>
                <a:t>                        </a:t>
              </a:r>
              <a:endParaRPr lang="zh-CN" altLang="en-US" sz="1800" b="1" dirty="0">
                <a:solidFill>
                  <a:schemeClr val="hlink"/>
                </a:solidFill>
                <a:ea typeface="黑体" panose="02010609060101010101" pitchFamily="49" charset="-122"/>
              </a:endParaRPr>
            </a:p>
          </p:txBody>
        </p:sp>
        <p:sp>
          <p:nvSpPr>
            <p:cNvPr id="123947" name="Text Box 39"/>
            <p:cNvSpPr txBox="1"/>
            <p:nvPr/>
          </p:nvSpPr>
          <p:spPr>
            <a:xfrm>
              <a:off x="5432" y="2333"/>
              <a:ext cx="291" cy="229"/>
            </a:xfrm>
            <a:prstGeom prst="rect">
              <a:avLst/>
            </a:prstGeom>
            <a:noFill/>
            <a:ln w="9525">
              <a:noFill/>
            </a:ln>
          </p:spPr>
          <p:txBody>
            <a:bodyPr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FF0000"/>
                  </a:solidFill>
                </a:rPr>
                <a:t>A</a:t>
              </a:r>
              <a:endParaRPr lang="en-US" altLang="zh-CN" sz="1800" b="1" dirty="0">
                <a:solidFill>
                  <a:srgbClr val="FF0000"/>
                </a:solidFill>
              </a:endParaRPr>
            </a:p>
          </p:txBody>
        </p:sp>
        <p:sp>
          <p:nvSpPr>
            <p:cNvPr id="123948" name="Text Box 40"/>
            <p:cNvSpPr txBox="1"/>
            <p:nvPr/>
          </p:nvSpPr>
          <p:spPr>
            <a:xfrm>
              <a:off x="5432" y="3706"/>
              <a:ext cx="291" cy="229"/>
            </a:xfrm>
            <a:prstGeom prst="rect">
              <a:avLst/>
            </a:prstGeom>
            <a:noFill/>
            <a:ln w="9525">
              <a:noFill/>
            </a:ln>
          </p:spPr>
          <p:txBody>
            <a:bodyPr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FF0000"/>
                  </a:solidFill>
                </a:rPr>
                <a:t>V</a:t>
              </a:r>
              <a:endParaRPr lang="en-US" altLang="zh-CN" sz="1800" b="1" dirty="0">
                <a:solidFill>
                  <a:srgbClr val="FF0000"/>
                </a:solidFill>
              </a:endParaRPr>
            </a:p>
          </p:txBody>
        </p:sp>
      </p:grpSp>
      <p:sp>
        <p:nvSpPr>
          <p:cNvPr id="123911" name="Text Box 41"/>
          <p:cNvSpPr txBox="1"/>
          <p:nvPr/>
        </p:nvSpPr>
        <p:spPr>
          <a:xfrm>
            <a:off x="501650" y="1023938"/>
            <a:ext cx="2774950" cy="8382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200" b="1" dirty="0">
                <a:solidFill>
                  <a:srgbClr val="CC0000"/>
                </a:solidFill>
                <a:ea typeface="黑体" panose="02010609060101010101" pitchFamily="49" charset="-122"/>
              </a:rPr>
              <a:t>高级语言源程序</a:t>
            </a:r>
            <a:endParaRPr lang="en-US" altLang="zh-CN" sz="2200" b="1" dirty="0">
              <a:solidFill>
                <a:srgbClr val="CC0000"/>
              </a:solidFill>
              <a:ea typeface="黑体" panose="02010609060101010101" pitchFamily="49" charset="-122"/>
            </a:endParaRPr>
          </a:p>
          <a:p>
            <a:pPr marL="0" lvl="0" indent="0" eaLnBrk="1" hangingPunct="1">
              <a:spcBef>
                <a:spcPct val="50000"/>
              </a:spcBef>
              <a:buClrTx/>
              <a:buSzTx/>
              <a:buFontTx/>
              <a:buNone/>
            </a:pPr>
            <a:r>
              <a:rPr lang="zh-CN" altLang="en-US" sz="2200" b="1" dirty="0">
                <a:solidFill>
                  <a:srgbClr val="CC0000"/>
                </a:solidFill>
                <a:ea typeface="黑体" panose="02010609060101010101" pitchFamily="49" charset="-122"/>
              </a:rPr>
              <a:t>对应的汇编语言程序</a:t>
            </a:r>
            <a:endParaRPr lang="zh-CN" altLang="en-US" sz="2200" b="1" dirty="0">
              <a:solidFill>
                <a:srgbClr val="CC0000"/>
              </a:solidFill>
              <a:ea typeface="黑体" panose="02010609060101010101" pitchFamily="49" charset="-122"/>
            </a:endParaRPr>
          </a:p>
        </p:txBody>
      </p:sp>
      <p:sp>
        <p:nvSpPr>
          <p:cNvPr id="123912" name="Line 42"/>
          <p:cNvSpPr/>
          <p:nvPr/>
        </p:nvSpPr>
        <p:spPr>
          <a:xfrm flipV="1">
            <a:off x="2457450" y="1133475"/>
            <a:ext cx="1123950" cy="134938"/>
          </a:xfrm>
          <a:prstGeom prst="line">
            <a:avLst/>
          </a:prstGeom>
          <a:ln w="28575" cap="flat" cmpd="sng">
            <a:solidFill>
              <a:srgbClr val="CC0000"/>
            </a:solidFill>
            <a:prstDash val="solid"/>
            <a:headEnd type="none" w="med" len="med"/>
            <a:tailEnd type="triangle" w="med" len="med"/>
          </a:ln>
        </p:spPr>
      </p:sp>
      <p:sp>
        <p:nvSpPr>
          <p:cNvPr id="123913" name="Line 43"/>
          <p:cNvSpPr/>
          <p:nvPr/>
        </p:nvSpPr>
        <p:spPr>
          <a:xfrm>
            <a:off x="2816225" y="1854200"/>
            <a:ext cx="360363" cy="449263"/>
          </a:xfrm>
          <a:prstGeom prst="line">
            <a:avLst/>
          </a:prstGeom>
          <a:ln w="28575" cap="flat" cmpd="sng">
            <a:solidFill>
              <a:srgbClr val="CC0000"/>
            </a:solidFill>
            <a:prstDash val="solid"/>
            <a:headEnd type="none" w="med" len="med"/>
            <a:tailEnd type="triangle" w="med" len="med"/>
          </a:ln>
        </p:spPr>
      </p:sp>
      <p:sp>
        <p:nvSpPr>
          <p:cNvPr id="123914" name="Text Box 38"/>
          <p:cNvSpPr txBox="1"/>
          <p:nvPr/>
        </p:nvSpPr>
        <p:spPr>
          <a:xfrm>
            <a:off x="8685213" y="2997200"/>
            <a:ext cx="458787" cy="2851150"/>
          </a:xfrm>
          <a:prstGeom prst="rect">
            <a:avLst/>
          </a:prstGeom>
          <a:noFill/>
          <a:ln w="9525">
            <a:noFill/>
          </a:ln>
        </p:spPr>
        <p:txBody>
          <a:bodyPr vert="eaVert"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chemeClr val="hlink"/>
                </a:solidFill>
                <a:ea typeface="黑体" panose="02010609060101010101" pitchFamily="49" charset="-122"/>
              </a:rPr>
              <a:t>                       </a:t>
            </a:r>
            <a:r>
              <a:rPr lang="zh-CN" altLang="en-US" sz="1800" b="1" dirty="0">
                <a:solidFill>
                  <a:schemeClr val="hlink"/>
                </a:solidFill>
                <a:ea typeface="黑体" panose="02010609060101010101" pitchFamily="49" charset="-122"/>
              </a:rPr>
              <a:t>数</a:t>
            </a:r>
            <a:r>
              <a:rPr lang="en-US" altLang="zh-CN" sz="1800" b="1" dirty="0">
                <a:solidFill>
                  <a:schemeClr val="hlink"/>
                </a:solidFill>
                <a:ea typeface="黑体" panose="02010609060101010101" pitchFamily="49" charset="-122"/>
              </a:rPr>
              <a:t>   </a:t>
            </a:r>
            <a:r>
              <a:rPr lang="zh-CN" altLang="en-US" sz="1800" b="1" dirty="0">
                <a:solidFill>
                  <a:schemeClr val="hlink"/>
                </a:solidFill>
                <a:ea typeface="黑体" panose="02010609060101010101" pitchFamily="49" charset="-122"/>
              </a:rPr>
              <a:t>据</a:t>
            </a:r>
            <a:endParaRPr lang="zh-CN" altLang="en-US" sz="1800" b="1" dirty="0">
              <a:solidFill>
                <a:schemeClr val="hlink"/>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9988">
                                            <p:txEl>
                                              <p:charRg st="0" end="19"/>
                                            </p:txEl>
                                          </p:spTgt>
                                        </p:tgtEl>
                                        <p:attrNameLst>
                                          <p:attrName>style.visibility</p:attrName>
                                        </p:attrNameLst>
                                      </p:cBhvr>
                                      <p:to>
                                        <p:strVal val="visible"/>
                                      </p:to>
                                    </p:set>
                                    <p:animEffect transition="in" filter="blinds(horizontal)">
                                      <p:cBhvr>
                                        <p:cTn id="7" dur="500"/>
                                        <p:tgtEl>
                                          <p:spTgt spid="169988">
                                            <p:txEl>
                                              <p:charRg st="0" end="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9988">
                                            <p:txEl>
                                              <p:charRg st="19" end="36"/>
                                            </p:txEl>
                                          </p:spTgt>
                                        </p:tgtEl>
                                        <p:attrNameLst>
                                          <p:attrName>style.visibility</p:attrName>
                                        </p:attrNameLst>
                                      </p:cBhvr>
                                      <p:to>
                                        <p:strVal val="visible"/>
                                      </p:to>
                                    </p:set>
                                    <p:animEffect transition="in" filter="blinds(horizontal)">
                                      <p:cBhvr>
                                        <p:cTn id="12" dur="500"/>
                                        <p:tgtEl>
                                          <p:spTgt spid="169988">
                                            <p:txEl>
                                              <p:charRg st="19" end="3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9988">
                                            <p:txEl>
                                              <p:charRg st="36" end="67"/>
                                            </p:txEl>
                                          </p:spTgt>
                                        </p:tgtEl>
                                        <p:attrNameLst>
                                          <p:attrName>style.visibility</p:attrName>
                                        </p:attrNameLst>
                                      </p:cBhvr>
                                      <p:to>
                                        <p:strVal val="visible"/>
                                      </p:to>
                                    </p:set>
                                    <p:animEffect transition="in" filter="blinds(horizontal)">
                                      <p:cBhvr>
                                        <p:cTn id="17" dur="500"/>
                                        <p:tgtEl>
                                          <p:spTgt spid="169988">
                                            <p:txEl>
                                              <p:charRg st="36" end="6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0" name="Rectangle 2"/>
          <p:cNvSpPr>
            <a:spLocks noGrp="1"/>
          </p:cNvSpPr>
          <p:nvPr>
            <p:ph type="title"/>
          </p:nvPr>
        </p:nvSpPr>
        <p:spPr>
          <a:xfrm>
            <a:off x="179388" y="188913"/>
            <a:ext cx="6408737" cy="631825"/>
          </a:xfrm>
        </p:spPr>
        <p:txBody>
          <a:bodyPr vert="horz" wrap="square" lIns="91440" tIns="45720" rIns="91440" bIns="45720" anchor="ctr" anchorCtr="0"/>
          <a:p>
            <a:pPr defTabSz="717550"/>
            <a:r>
              <a:rPr lang="zh-CN" altLang="en-US" dirty="0"/>
              <a:t>程序的局部性原理举例</a:t>
            </a:r>
            <a:r>
              <a:rPr lang="en-US" altLang="zh-CN" dirty="0"/>
              <a:t>1</a:t>
            </a:r>
            <a:endParaRPr lang="en-US" altLang="zh-CN" dirty="0"/>
          </a:p>
        </p:txBody>
      </p:sp>
      <p:sp>
        <p:nvSpPr>
          <p:cNvPr id="124931" name="Rectangle 3"/>
          <p:cNvSpPr/>
          <p:nvPr/>
        </p:nvSpPr>
        <p:spPr>
          <a:xfrm>
            <a:off x="6578600" y="368300"/>
            <a:ext cx="2565400" cy="1212850"/>
          </a:xfrm>
          <a:prstGeom prst="rect">
            <a:avLst/>
          </a:prstGeom>
          <a:solidFill>
            <a:schemeClr val="bg1"/>
          </a:solidFill>
          <a:ln w="25400" cap="flat" cmpd="sng">
            <a:solidFill>
              <a:schemeClr val="hlink"/>
            </a:solidFill>
            <a:prstDash val="solid"/>
            <a:miter/>
            <a:headEnd type="none" w="med" len="med"/>
            <a:tailEnd type="none" w="med" len="med"/>
          </a:ln>
        </p:spPr>
        <p:txBody>
          <a:bodyPr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defTabSz="914400">
              <a:lnSpc>
                <a:spcPct val="90000"/>
              </a:lnSpc>
              <a:spcBef>
                <a:spcPct val="0"/>
              </a:spcBef>
              <a:buClrTx/>
              <a:buSzTx/>
              <a:buFontTx/>
              <a:buNone/>
              <a:tabLst>
                <a:tab pos="457200" algn="l"/>
              </a:tabLst>
            </a:pPr>
            <a:r>
              <a:rPr lang="en-US" altLang="zh-TW" sz="2000" b="1" dirty="0">
                <a:ea typeface="PMingLiU" pitchFamily="18" charset="-120"/>
              </a:rPr>
              <a:t>sum = 0;</a:t>
            </a:r>
            <a:endParaRPr lang="en-US" altLang="zh-TW" sz="2000" b="1" dirty="0">
              <a:ea typeface="PMingLiU" pitchFamily="18" charset="-120"/>
            </a:endParaRPr>
          </a:p>
          <a:p>
            <a:pPr marL="0" lvl="0" indent="0" defTabSz="914400">
              <a:lnSpc>
                <a:spcPct val="90000"/>
              </a:lnSpc>
              <a:spcBef>
                <a:spcPct val="0"/>
              </a:spcBef>
              <a:buClrTx/>
              <a:buSzTx/>
              <a:buFontTx/>
              <a:buNone/>
              <a:tabLst>
                <a:tab pos="457200" algn="l"/>
              </a:tabLst>
            </a:pPr>
            <a:r>
              <a:rPr lang="en-US" altLang="zh-TW" sz="2000" b="1" dirty="0">
                <a:ea typeface="PMingLiU" pitchFamily="18" charset="-120"/>
              </a:rPr>
              <a:t>for (i = 0; i &lt; n; i++)</a:t>
            </a:r>
            <a:endParaRPr lang="en-US" altLang="zh-TW" sz="2000" b="1" dirty="0">
              <a:ea typeface="PMingLiU" pitchFamily="18" charset="-120"/>
            </a:endParaRPr>
          </a:p>
          <a:p>
            <a:pPr marL="0" lvl="0" indent="0" defTabSz="914400">
              <a:lnSpc>
                <a:spcPct val="90000"/>
              </a:lnSpc>
              <a:spcBef>
                <a:spcPct val="0"/>
              </a:spcBef>
              <a:buClrTx/>
              <a:buSzTx/>
              <a:buFontTx/>
              <a:buNone/>
              <a:tabLst>
                <a:tab pos="457200" algn="l"/>
              </a:tabLst>
            </a:pPr>
            <a:r>
              <a:rPr lang="en-US" altLang="zh-TW" sz="2000" b="1" dirty="0">
                <a:ea typeface="PMingLiU" pitchFamily="18" charset="-120"/>
              </a:rPr>
              <a:t>	sum += a[i];</a:t>
            </a:r>
            <a:endParaRPr lang="en-US" altLang="zh-TW" sz="2000" b="1" dirty="0">
              <a:ea typeface="PMingLiU" pitchFamily="18" charset="-120"/>
            </a:endParaRPr>
          </a:p>
          <a:p>
            <a:pPr marL="0" lvl="0" indent="0" defTabSz="914400">
              <a:lnSpc>
                <a:spcPct val="90000"/>
              </a:lnSpc>
              <a:spcBef>
                <a:spcPct val="0"/>
              </a:spcBef>
              <a:buClrTx/>
              <a:buSzTx/>
              <a:buFontTx/>
              <a:buNone/>
              <a:tabLst>
                <a:tab pos="457200" algn="l"/>
              </a:tabLst>
            </a:pPr>
            <a:r>
              <a:rPr lang="en-US" altLang="zh-TW" sz="2000" b="1" dirty="0">
                <a:ea typeface="PMingLiU" pitchFamily="18" charset="-120"/>
              </a:rPr>
              <a:t>*v = sum;</a:t>
            </a:r>
            <a:endParaRPr lang="en-US" altLang="zh-TW" sz="2000" b="1" dirty="0">
              <a:ea typeface="PMingLiU" pitchFamily="18" charset="-120"/>
            </a:endParaRPr>
          </a:p>
        </p:txBody>
      </p:sp>
      <p:sp>
        <p:nvSpPr>
          <p:cNvPr id="171012" name="Rectangle 4"/>
          <p:cNvSpPr>
            <a:spLocks noGrp="1"/>
          </p:cNvSpPr>
          <p:nvPr>
            <p:ph idx="1"/>
          </p:nvPr>
        </p:nvSpPr>
        <p:spPr>
          <a:xfrm>
            <a:off x="206375" y="998538"/>
            <a:ext cx="5445125" cy="3960812"/>
          </a:xfrm>
        </p:spPr>
        <p:txBody>
          <a:bodyPr vert="horz" wrap="square" lIns="91440" tIns="45720" rIns="91440" bIns="45720" anchor="t" anchorCtr="0"/>
          <a:p>
            <a:pPr marL="182880" indent="-182880">
              <a:lnSpc>
                <a:spcPct val="105000"/>
              </a:lnSpc>
              <a:spcBef>
                <a:spcPct val="15000"/>
              </a:spcBef>
              <a:buNone/>
            </a:pPr>
            <a:r>
              <a:rPr lang="zh-CN" altLang="en-US" sz="2000" dirty="0">
                <a:solidFill>
                  <a:srgbClr val="FF0000"/>
                </a:solidFill>
                <a:ea typeface="黑体" panose="02010609060101010101" pitchFamily="49" charset="-122"/>
              </a:rPr>
              <a:t>问题：指令和数据的时间局部性和空间局部性</a:t>
            </a:r>
            <a:endParaRPr lang="en-US" altLang="zh-CN" sz="2000" dirty="0">
              <a:solidFill>
                <a:srgbClr val="FF0000"/>
              </a:solidFill>
              <a:ea typeface="黑体" panose="02010609060101010101" pitchFamily="49" charset="-122"/>
            </a:endParaRPr>
          </a:p>
          <a:p>
            <a:pPr marL="182880" indent="-182880">
              <a:lnSpc>
                <a:spcPct val="105000"/>
              </a:lnSpc>
              <a:spcBef>
                <a:spcPct val="15000"/>
              </a:spcBef>
              <a:buNone/>
            </a:pPr>
            <a:r>
              <a:rPr lang="en-US" altLang="zh-CN" sz="2000" dirty="0">
                <a:solidFill>
                  <a:srgbClr val="FF0000"/>
                </a:solidFill>
                <a:ea typeface="黑体" panose="02010609060101010101" pitchFamily="49" charset="-122"/>
              </a:rPr>
              <a:t>           </a:t>
            </a:r>
            <a:r>
              <a:rPr lang="zh-CN" altLang="en-US" sz="2000" dirty="0">
                <a:solidFill>
                  <a:srgbClr val="FF0000"/>
                </a:solidFill>
                <a:ea typeface="黑体" panose="02010609060101010101" pitchFamily="49" charset="-122"/>
              </a:rPr>
              <a:t>各自体现在哪里？</a:t>
            </a:r>
            <a:endParaRPr lang="en-US" altLang="zh-CN" sz="2000" dirty="0">
              <a:solidFill>
                <a:srgbClr val="FF0000"/>
              </a:solidFill>
              <a:ea typeface="黑体" panose="02010609060101010101" pitchFamily="49" charset="-122"/>
            </a:endParaRPr>
          </a:p>
          <a:p>
            <a:pPr marL="182880" indent="-182880">
              <a:lnSpc>
                <a:spcPct val="105000"/>
              </a:lnSpc>
              <a:spcBef>
                <a:spcPct val="15000"/>
              </a:spcBef>
              <a:buNone/>
            </a:pPr>
            <a:r>
              <a:rPr lang="zh-CN" altLang="en-US" sz="2000" dirty="0">
                <a:solidFill>
                  <a:srgbClr val="006600"/>
                </a:solidFill>
                <a:ea typeface="黑体" panose="02010609060101010101" pitchFamily="49" charset="-122"/>
              </a:rPr>
              <a:t>指令：</a:t>
            </a:r>
            <a:endParaRPr lang="en-US" altLang="zh-CN" sz="2000" dirty="0">
              <a:solidFill>
                <a:srgbClr val="006600"/>
              </a:solidFill>
              <a:ea typeface="黑体" panose="02010609060101010101" pitchFamily="49" charset="-122"/>
            </a:endParaRPr>
          </a:p>
          <a:p>
            <a:pPr marL="182880" indent="-182880">
              <a:lnSpc>
                <a:spcPct val="105000"/>
              </a:lnSpc>
              <a:spcBef>
                <a:spcPct val="15000"/>
              </a:spcBef>
              <a:buNone/>
            </a:pPr>
            <a:r>
              <a:rPr lang="en-US" altLang="zh-CN" sz="2000" dirty="0">
                <a:solidFill>
                  <a:srgbClr val="006600"/>
                </a:solidFill>
                <a:ea typeface="黑体" panose="02010609060101010101" pitchFamily="49" charset="-122"/>
              </a:rPr>
              <a:t>            →0x108</a:t>
            </a:r>
            <a:r>
              <a:rPr lang="zh-CN" altLang="en-US" sz="2000" dirty="0">
                <a:solidFill>
                  <a:srgbClr val="006600"/>
                </a:solidFill>
                <a:ea typeface="黑体" panose="02010609060101010101" pitchFamily="49" charset="-122"/>
              </a:rPr>
              <a:t>（</a:t>
            </a:r>
            <a:r>
              <a:rPr lang="en-US" altLang="zh-CN" sz="2000" dirty="0">
                <a:solidFill>
                  <a:srgbClr val="006600"/>
                </a:solidFill>
                <a:ea typeface="黑体" panose="02010609060101010101" pitchFamily="49" charset="-122"/>
              </a:rPr>
              <a:t>I3</a:t>
            </a:r>
            <a:r>
              <a:rPr lang="zh-CN" altLang="en-US" sz="2000" dirty="0">
                <a:solidFill>
                  <a:srgbClr val="006600"/>
                </a:solidFill>
                <a:ea typeface="黑体" panose="02010609060101010101" pitchFamily="49" charset="-122"/>
              </a:rPr>
              <a:t>）</a:t>
            </a:r>
            <a:endParaRPr lang="en-US" altLang="zh-CN" sz="2000" dirty="0">
              <a:solidFill>
                <a:srgbClr val="006600"/>
              </a:solidFill>
              <a:ea typeface="黑体" panose="02010609060101010101" pitchFamily="49" charset="-122"/>
            </a:endParaRPr>
          </a:p>
          <a:p>
            <a:pPr marL="182880" indent="-182880">
              <a:lnSpc>
                <a:spcPct val="105000"/>
              </a:lnSpc>
              <a:spcBef>
                <a:spcPct val="15000"/>
              </a:spcBef>
              <a:buNone/>
            </a:pPr>
            <a:r>
              <a:rPr lang="en-US" altLang="zh-CN" sz="2000" dirty="0">
                <a:solidFill>
                  <a:srgbClr val="006600"/>
                </a:solidFill>
                <a:ea typeface="黑体" panose="02010609060101010101" pitchFamily="49" charset="-122"/>
              </a:rPr>
              <a:t>            →0x10C</a:t>
            </a:r>
            <a:r>
              <a:rPr lang="zh-CN" altLang="en-US" sz="2000" dirty="0">
                <a:solidFill>
                  <a:srgbClr val="006600"/>
                </a:solidFill>
                <a:ea typeface="黑体" panose="02010609060101010101" pitchFamily="49" charset="-122"/>
              </a:rPr>
              <a:t>（</a:t>
            </a:r>
            <a:r>
              <a:rPr lang="en-US" altLang="zh-CN" sz="2000" dirty="0">
                <a:solidFill>
                  <a:srgbClr val="006600"/>
                </a:solidFill>
                <a:ea typeface="黑体" panose="02010609060101010101" pitchFamily="49" charset="-122"/>
              </a:rPr>
              <a:t>I4</a:t>
            </a:r>
            <a:r>
              <a:rPr lang="zh-CN" altLang="en-US" sz="2000" dirty="0">
                <a:solidFill>
                  <a:srgbClr val="006600"/>
                </a:solidFill>
                <a:ea typeface="黑体" panose="02010609060101010101" pitchFamily="49" charset="-122"/>
              </a:rPr>
              <a:t>）</a:t>
            </a:r>
            <a:endParaRPr lang="en-US" altLang="zh-CN" sz="2000" dirty="0">
              <a:solidFill>
                <a:srgbClr val="006600"/>
              </a:solidFill>
              <a:ea typeface="黑体" panose="02010609060101010101" pitchFamily="49" charset="-122"/>
            </a:endParaRPr>
          </a:p>
          <a:p>
            <a:pPr marL="182880" indent="-182880">
              <a:lnSpc>
                <a:spcPct val="105000"/>
              </a:lnSpc>
              <a:spcBef>
                <a:spcPct val="15000"/>
              </a:spcBef>
              <a:buNone/>
            </a:pPr>
            <a:r>
              <a:rPr lang="en-US" altLang="zh-CN" sz="2000" dirty="0">
                <a:solidFill>
                  <a:srgbClr val="006600"/>
                </a:solidFill>
                <a:ea typeface="黑体" panose="02010609060101010101" pitchFamily="49" charset="-122"/>
              </a:rPr>
              <a:t>            →0x11C</a:t>
            </a:r>
            <a:r>
              <a:rPr lang="zh-CN" altLang="en-US" sz="2000" dirty="0">
                <a:solidFill>
                  <a:srgbClr val="006600"/>
                </a:solidFill>
                <a:ea typeface="黑体" panose="02010609060101010101" pitchFamily="49" charset="-122"/>
              </a:rPr>
              <a:t>（</a:t>
            </a:r>
            <a:r>
              <a:rPr lang="en-US" altLang="zh-CN" sz="2000" dirty="0">
                <a:solidFill>
                  <a:srgbClr val="006600"/>
                </a:solidFill>
                <a:ea typeface="黑体" panose="02010609060101010101" pitchFamily="49" charset="-122"/>
              </a:rPr>
              <a:t>I8</a:t>
            </a:r>
            <a:r>
              <a:rPr lang="zh-CN" altLang="en-US" sz="2000" dirty="0">
                <a:solidFill>
                  <a:srgbClr val="006600"/>
                </a:solidFill>
                <a:ea typeface="黑体" panose="02010609060101010101" pitchFamily="49" charset="-122"/>
              </a:rPr>
              <a:t>）</a:t>
            </a:r>
            <a:endParaRPr lang="en-US" altLang="zh-CN" sz="2000" dirty="0">
              <a:solidFill>
                <a:srgbClr val="006600"/>
              </a:solidFill>
              <a:ea typeface="黑体" panose="02010609060101010101" pitchFamily="49" charset="-122"/>
            </a:endParaRPr>
          </a:p>
          <a:p>
            <a:pPr marL="182880" indent="-182880">
              <a:lnSpc>
                <a:spcPct val="105000"/>
              </a:lnSpc>
              <a:spcBef>
                <a:spcPct val="15000"/>
              </a:spcBef>
              <a:buNone/>
            </a:pPr>
            <a:r>
              <a:rPr lang="en-US" altLang="zh-CN" sz="2000" dirty="0">
                <a:solidFill>
                  <a:srgbClr val="006600"/>
                </a:solidFill>
                <a:ea typeface="黑体" panose="02010609060101010101" pitchFamily="49" charset="-122"/>
              </a:rPr>
              <a:t>            →0x120</a:t>
            </a:r>
            <a:r>
              <a:rPr lang="zh-CN" altLang="en-US" sz="2000" dirty="0">
                <a:solidFill>
                  <a:srgbClr val="006600"/>
                </a:solidFill>
                <a:ea typeface="黑体" panose="02010609060101010101" pitchFamily="49" charset="-122"/>
              </a:rPr>
              <a:t>（</a:t>
            </a:r>
            <a:r>
              <a:rPr lang="en-US" altLang="zh-CN" sz="2000" dirty="0">
                <a:solidFill>
                  <a:srgbClr val="006600"/>
                </a:solidFill>
                <a:ea typeface="黑体" panose="02010609060101010101" pitchFamily="49" charset="-122"/>
              </a:rPr>
              <a:t>I9</a:t>
            </a:r>
            <a:r>
              <a:rPr lang="zh-CN" altLang="en-US" sz="2000" dirty="0">
                <a:solidFill>
                  <a:srgbClr val="006600"/>
                </a:solidFill>
                <a:ea typeface="黑体" panose="02010609060101010101" pitchFamily="49" charset="-122"/>
              </a:rPr>
              <a:t>）</a:t>
            </a:r>
            <a:r>
              <a:rPr lang="en-US" altLang="zh-CN" sz="2000" dirty="0">
                <a:solidFill>
                  <a:srgbClr val="006600"/>
                </a:solidFill>
                <a:ea typeface="黑体" panose="02010609060101010101" pitchFamily="49" charset="-122"/>
              </a:rPr>
              <a:t> </a:t>
            </a:r>
            <a:endParaRPr lang="en-US" altLang="zh-CN" sz="2000" dirty="0">
              <a:solidFill>
                <a:srgbClr val="006600"/>
              </a:solidFill>
              <a:ea typeface="黑体" panose="02010609060101010101" pitchFamily="49" charset="-122"/>
            </a:endParaRPr>
          </a:p>
          <a:p>
            <a:pPr marL="182880" indent="-182880">
              <a:lnSpc>
                <a:spcPct val="105000"/>
              </a:lnSpc>
              <a:spcBef>
                <a:spcPct val="15000"/>
              </a:spcBef>
              <a:buNone/>
            </a:pPr>
            <a:r>
              <a:rPr lang="zh-CN" altLang="en-US" sz="2000" dirty="0">
                <a:solidFill>
                  <a:srgbClr val="006600"/>
                </a:solidFill>
                <a:ea typeface="黑体" panose="02010609060101010101" pitchFamily="49" charset="-122"/>
              </a:rPr>
              <a:t>数据：只有数组在主存中：</a:t>
            </a:r>
            <a:r>
              <a:rPr lang="en-US" altLang="zh-CN" sz="2000" dirty="0">
                <a:solidFill>
                  <a:srgbClr val="006600"/>
                </a:solidFill>
                <a:ea typeface="黑体" panose="02010609060101010101" pitchFamily="49" charset="-122"/>
              </a:rPr>
              <a:t>   </a:t>
            </a:r>
            <a:endParaRPr lang="en-US" altLang="zh-CN" sz="2000" dirty="0">
              <a:solidFill>
                <a:srgbClr val="006600"/>
              </a:solidFill>
              <a:ea typeface="黑体" panose="02010609060101010101" pitchFamily="49" charset="-122"/>
            </a:endParaRPr>
          </a:p>
          <a:p>
            <a:pPr marL="182880" indent="-182880">
              <a:lnSpc>
                <a:spcPct val="105000"/>
              </a:lnSpc>
              <a:spcBef>
                <a:spcPct val="15000"/>
              </a:spcBef>
              <a:buNone/>
            </a:pPr>
            <a:r>
              <a:rPr lang="en-US" altLang="zh-CN" sz="2000" dirty="0">
                <a:solidFill>
                  <a:srgbClr val="006600"/>
                </a:solidFill>
                <a:ea typeface="黑体" panose="02010609060101010101" pitchFamily="49" charset="-122"/>
              </a:rPr>
              <a:t>           0x400→0x404→0x408</a:t>
            </a:r>
            <a:endParaRPr lang="en-US" altLang="zh-CN" sz="2000" dirty="0">
              <a:solidFill>
                <a:srgbClr val="006600"/>
              </a:solidFill>
              <a:ea typeface="黑体" panose="02010609060101010101" pitchFamily="49" charset="-122"/>
            </a:endParaRPr>
          </a:p>
          <a:p>
            <a:pPr marL="182880" indent="-182880">
              <a:lnSpc>
                <a:spcPct val="105000"/>
              </a:lnSpc>
              <a:spcBef>
                <a:spcPct val="15000"/>
              </a:spcBef>
              <a:buNone/>
            </a:pPr>
            <a:r>
              <a:rPr lang="en-US" altLang="zh-CN" sz="2000" dirty="0">
                <a:solidFill>
                  <a:srgbClr val="006600"/>
                </a:solidFill>
                <a:ea typeface="黑体" panose="02010609060101010101" pitchFamily="49" charset="-122"/>
              </a:rPr>
              <a:t>          →0x40C→……→0x7A4</a:t>
            </a:r>
            <a:r>
              <a:rPr lang="en-US" altLang="zh-CN" sz="2600" dirty="0">
                <a:solidFill>
                  <a:srgbClr val="006600"/>
                </a:solidFill>
                <a:ea typeface="黑体" panose="02010609060101010101" pitchFamily="49" charset="-122"/>
              </a:rPr>
              <a:t> </a:t>
            </a:r>
            <a:endParaRPr lang="en-US" altLang="zh-CN" sz="2600" dirty="0">
              <a:solidFill>
                <a:srgbClr val="006600"/>
              </a:solidFill>
              <a:ea typeface="黑体" panose="02010609060101010101" pitchFamily="49" charset="-122"/>
            </a:endParaRPr>
          </a:p>
        </p:txBody>
      </p:sp>
      <p:grpSp>
        <p:nvGrpSpPr>
          <p:cNvPr id="124933" name="Group 5"/>
          <p:cNvGrpSpPr/>
          <p:nvPr/>
        </p:nvGrpSpPr>
        <p:grpSpPr>
          <a:xfrm>
            <a:off x="6777038" y="1776413"/>
            <a:ext cx="2349500" cy="4667250"/>
            <a:chOff x="4422" y="709"/>
            <a:chExt cx="1338" cy="2940"/>
          </a:xfrm>
        </p:grpSpPr>
        <p:grpSp>
          <p:nvGrpSpPr>
            <p:cNvPr id="124942" name="Group 6"/>
            <p:cNvGrpSpPr/>
            <p:nvPr/>
          </p:nvGrpSpPr>
          <p:grpSpPr>
            <a:xfrm>
              <a:off x="4422" y="709"/>
              <a:ext cx="1338" cy="2939"/>
              <a:chOff x="4422" y="822"/>
              <a:chExt cx="1338" cy="2938"/>
            </a:xfrm>
          </p:grpSpPr>
          <p:grpSp>
            <p:nvGrpSpPr>
              <p:cNvPr id="124945" name="Group 7"/>
              <p:cNvGrpSpPr/>
              <p:nvPr/>
            </p:nvGrpSpPr>
            <p:grpSpPr>
              <a:xfrm>
                <a:off x="4422" y="822"/>
                <a:ext cx="1113" cy="2938"/>
                <a:chOff x="4486" y="822"/>
                <a:chExt cx="1113" cy="2938"/>
              </a:xfrm>
            </p:grpSpPr>
            <p:sp>
              <p:nvSpPr>
                <p:cNvPr id="124947" name="Rectangle 8"/>
                <p:cNvSpPr/>
                <p:nvPr/>
              </p:nvSpPr>
              <p:spPr>
                <a:xfrm>
                  <a:off x="5039" y="1219"/>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I1</a:t>
                  </a:r>
                  <a:endParaRPr lang="en-US" altLang="zh-TW" sz="1400" b="1" dirty="0">
                    <a:latin typeface="Times New Roman" panose="02020603050405020304" pitchFamily="18" charset="0"/>
                    <a:ea typeface="PMingLiU" pitchFamily="18" charset="-120"/>
                  </a:endParaRPr>
                </a:p>
              </p:txBody>
            </p:sp>
            <p:sp>
              <p:nvSpPr>
                <p:cNvPr id="124948" name="Rectangle 9"/>
                <p:cNvSpPr/>
                <p:nvPr/>
              </p:nvSpPr>
              <p:spPr>
                <a:xfrm>
                  <a:off x="5039" y="1363"/>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I2</a:t>
                  </a:r>
                  <a:endParaRPr lang="en-US" altLang="zh-TW" sz="1400" b="1" dirty="0">
                    <a:latin typeface="Times New Roman" panose="02020603050405020304" pitchFamily="18" charset="0"/>
                    <a:ea typeface="PMingLiU" pitchFamily="18" charset="-120"/>
                  </a:endParaRPr>
                </a:p>
              </p:txBody>
            </p:sp>
            <p:sp>
              <p:nvSpPr>
                <p:cNvPr id="124949" name="Rectangle 10"/>
                <p:cNvSpPr/>
                <p:nvPr/>
              </p:nvSpPr>
              <p:spPr>
                <a:xfrm>
                  <a:off x="5039" y="1507"/>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I3</a:t>
                  </a:r>
                  <a:endParaRPr lang="en-US" altLang="zh-TW" sz="1400" b="1" dirty="0">
                    <a:latin typeface="Times New Roman" panose="02020603050405020304" pitchFamily="18" charset="0"/>
                    <a:ea typeface="PMingLiU" pitchFamily="18" charset="-120"/>
                  </a:endParaRPr>
                </a:p>
              </p:txBody>
            </p:sp>
            <p:sp>
              <p:nvSpPr>
                <p:cNvPr id="124950" name="Rectangle 11"/>
                <p:cNvSpPr/>
                <p:nvPr/>
              </p:nvSpPr>
              <p:spPr>
                <a:xfrm>
                  <a:off x="5039" y="1651"/>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I4</a:t>
                  </a:r>
                  <a:endParaRPr lang="en-US" altLang="zh-TW" sz="1400" b="1" dirty="0">
                    <a:latin typeface="Times New Roman" panose="02020603050405020304" pitchFamily="18" charset="0"/>
                    <a:ea typeface="PMingLiU" pitchFamily="18" charset="-120"/>
                  </a:endParaRPr>
                </a:p>
              </p:txBody>
            </p:sp>
            <p:sp>
              <p:nvSpPr>
                <p:cNvPr id="124951" name="Rectangle 12"/>
                <p:cNvSpPr/>
                <p:nvPr/>
              </p:nvSpPr>
              <p:spPr>
                <a:xfrm>
                  <a:off x="5039" y="1795"/>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I5</a:t>
                  </a:r>
                  <a:endParaRPr lang="en-US" altLang="zh-TW" sz="1400" b="1" dirty="0">
                    <a:latin typeface="Times New Roman" panose="02020603050405020304" pitchFamily="18" charset="0"/>
                    <a:ea typeface="PMingLiU" pitchFamily="18" charset="-120"/>
                  </a:endParaRPr>
                </a:p>
              </p:txBody>
            </p:sp>
            <p:sp>
              <p:nvSpPr>
                <p:cNvPr id="124952" name="Rectangle 13"/>
                <p:cNvSpPr/>
                <p:nvPr/>
              </p:nvSpPr>
              <p:spPr>
                <a:xfrm>
                  <a:off x="5039" y="1939"/>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I6</a:t>
                  </a:r>
                  <a:endParaRPr lang="en-US" altLang="zh-TW" sz="1400" b="1" dirty="0">
                    <a:latin typeface="Times New Roman" panose="02020603050405020304" pitchFamily="18" charset="0"/>
                    <a:ea typeface="PMingLiU" pitchFamily="18" charset="-120"/>
                  </a:endParaRPr>
                </a:p>
              </p:txBody>
            </p:sp>
            <p:sp>
              <p:nvSpPr>
                <p:cNvPr id="124953" name="Rectangle 14"/>
                <p:cNvSpPr/>
                <p:nvPr/>
              </p:nvSpPr>
              <p:spPr>
                <a:xfrm>
                  <a:off x="4582" y="1170"/>
                  <a:ext cx="354"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0x100</a:t>
                  </a:r>
                  <a:endParaRPr lang="en-US" altLang="zh-TW" sz="1400" b="1" dirty="0">
                    <a:latin typeface="Times New Roman" panose="02020603050405020304" pitchFamily="18" charset="0"/>
                    <a:ea typeface="PMingLiU" pitchFamily="18" charset="-120"/>
                  </a:endParaRPr>
                </a:p>
              </p:txBody>
            </p:sp>
            <p:sp>
              <p:nvSpPr>
                <p:cNvPr id="124954" name="Rectangle 15"/>
                <p:cNvSpPr/>
                <p:nvPr/>
              </p:nvSpPr>
              <p:spPr>
                <a:xfrm>
                  <a:off x="4582" y="1314"/>
                  <a:ext cx="354"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0x104</a:t>
                  </a:r>
                  <a:endParaRPr lang="en-US" altLang="zh-TW" sz="1400" b="1" dirty="0">
                    <a:latin typeface="Times New Roman" panose="02020603050405020304" pitchFamily="18" charset="0"/>
                    <a:ea typeface="PMingLiU" pitchFamily="18" charset="-120"/>
                  </a:endParaRPr>
                </a:p>
              </p:txBody>
            </p:sp>
            <p:sp>
              <p:nvSpPr>
                <p:cNvPr id="124955" name="Rectangle 16"/>
                <p:cNvSpPr/>
                <p:nvPr/>
              </p:nvSpPr>
              <p:spPr>
                <a:xfrm>
                  <a:off x="4582" y="1458"/>
                  <a:ext cx="354"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0x108</a:t>
                  </a:r>
                  <a:endParaRPr lang="en-US" altLang="zh-TW" sz="1400" b="1" dirty="0">
                    <a:latin typeface="Times New Roman" panose="02020603050405020304" pitchFamily="18" charset="0"/>
                    <a:ea typeface="PMingLiU" pitchFamily="18" charset="-120"/>
                  </a:endParaRPr>
                </a:p>
              </p:txBody>
            </p:sp>
            <p:sp>
              <p:nvSpPr>
                <p:cNvPr id="124956" name="Rectangle 17"/>
                <p:cNvSpPr/>
                <p:nvPr/>
              </p:nvSpPr>
              <p:spPr>
                <a:xfrm>
                  <a:off x="4582" y="1602"/>
                  <a:ext cx="37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0x10C</a:t>
                  </a:r>
                  <a:endParaRPr lang="en-US" altLang="zh-TW" sz="1400" b="1" dirty="0">
                    <a:latin typeface="Times New Roman" panose="02020603050405020304" pitchFamily="18" charset="0"/>
                    <a:ea typeface="PMingLiU" pitchFamily="18" charset="-120"/>
                  </a:endParaRPr>
                </a:p>
              </p:txBody>
            </p:sp>
            <p:sp>
              <p:nvSpPr>
                <p:cNvPr id="124957" name="Rectangle 18"/>
                <p:cNvSpPr/>
                <p:nvPr/>
              </p:nvSpPr>
              <p:spPr>
                <a:xfrm>
                  <a:off x="4582" y="1746"/>
                  <a:ext cx="354"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0x110</a:t>
                  </a:r>
                  <a:endParaRPr lang="en-US" altLang="zh-TW" sz="1400" b="1" dirty="0">
                    <a:latin typeface="Times New Roman" panose="02020603050405020304" pitchFamily="18" charset="0"/>
                    <a:ea typeface="PMingLiU" pitchFamily="18" charset="-120"/>
                  </a:endParaRPr>
                </a:p>
              </p:txBody>
            </p:sp>
            <p:sp>
              <p:nvSpPr>
                <p:cNvPr id="124958" name="Rectangle 19"/>
                <p:cNvSpPr/>
                <p:nvPr/>
              </p:nvSpPr>
              <p:spPr>
                <a:xfrm>
                  <a:off x="4582" y="1890"/>
                  <a:ext cx="354"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0x114</a:t>
                  </a:r>
                  <a:endParaRPr lang="en-US" altLang="zh-TW" sz="1400" b="1" dirty="0">
                    <a:latin typeface="Times New Roman" panose="02020603050405020304" pitchFamily="18" charset="0"/>
                    <a:ea typeface="PMingLiU" pitchFamily="18" charset="-120"/>
                  </a:endParaRPr>
                </a:p>
              </p:txBody>
            </p:sp>
            <p:sp>
              <p:nvSpPr>
                <p:cNvPr id="124959" name="Rectangle 20"/>
                <p:cNvSpPr/>
                <p:nvPr/>
              </p:nvSpPr>
              <p:spPr>
                <a:xfrm>
                  <a:off x="5039" y="2419"/>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a[0]</a:t>
                  </a:r>
                  <a:endParaRPr lang="en-US" altLang="zh-TW" sz="1400" b="1" dirty="0">
                    <a:latin typeface="Times New Roman" panose="02020603050405020304" pitchFamily="18" charset="0"/>
                    <a:ea typeface="PMingLiU" pitchFamily="18" charset="-120"/>
                  </a:endParaRPr>
                </a:p>
              </p:txBody>
            </p:sp>
            <p:sp>
              <p:nvSpPr>
                <p:cNvPr id="124960" name="Rectangle 21"/>
                <p:cNvSpPr/>
                <p:nvPr/>
              </p:nvSpPr>
              <p:spPr>
                <a:xfrm>
                  <a:off x="5039" y="2563"/>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a[1]</a:t>
                  </a:r>
                  <a:endParaRPr lang="en-US" altLang="zh-TW" sz="1400" b="1" dirty="0">
                    <a:latin typeface="Times New Roman" panose="02020603050405020304" pitchFamily="18" charset="0"/>
                    <a:ea typeface="PMingLiU" pitchFamily="18" charset="-120"/>
                  </a:endParaRPr>
                </a:p>
              </p:txBody>
            </p:sp>
            <p:sp>
              <p:nvSpPr>
                <p:cNvPr id="124961" name="Rectangle 22"/>
                <p:cNvSpPr/>
                <p:nvPr/>
              </p:nvSpPr>
              <p:spPr>
                <a:xfrm>
                  <a:off x="5039" y="2707"/>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a[2]</a:t>
                  </a:r>
                  <a:endParaRPr lang="en-US" altLang="zh-TW" sz="1400" b="1" dirty="0">
                    <a:latin typeface="Times New Roman" panose="02020603050405020304" pitchFamily="18" charset="0"/>
                    <a:ea typeface="PMingLiU" pitchFamily="18" charset="-120"/>
                  </a:endParaRPr>
                </a:p>
              </p:txBody>
            </p:sp>
            <p:sp>
              <p:nvSpPr>
                <p:cNvPr id="124962" name="Rectangle 23"/>
                <p:cNvSpPr/>
                <p:nvPr/>
              </p:nvSpPr>
              <p:spPr>
                <a:xfrm>
                  <a:off x="5039" y="2851"/>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a[3]</a:t>
                  </a:r>
                  <a:endParaRPr lang="en-US" altLang="zh-TW" sz="1400" b="1" dirty="0">
                    <a:latin typeface="Times New Roman" panose="02020603050405020304" pitchFamily="18" charset="0"/>
                    <a:ea typeface="PMingLiU" pitchFamily="18" charset="-120"/>
                  </a:endParaRPr>
                </a:p>
              </p:txBody>
            </p:sp>
            <p:sp>
              <p:nvSpPr>
                <p:cNvPr id="124963" name="Rectangle 24"/>
                <p:cNvSpPr/>
                <p:nvPr/>
              </p:nvSpPr>
              <p:spPr>
                <a:xfrm>
                  <a:off x="5039" y="2995"/>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a[4]</a:t>
                  </a:r>
                  <a:endParaRPr lang="en-US" altLang="zh-TW" sz="1400" b="1" dirty="0">
                    <a:latin typeface="Times New Roman" panose="02020603050405020304" pitchFamily="18" charset="0"/>
                    <a:ea typeface="PMingLiU" pitchFamily="18" charset="-120"/>
                  </a:endParaRPr>
                </a:p>
              </p:txBody>
            </p:sp>
            <p:sp>
              <p:nvSpPr>
                <p:cNvPr id="124964" name="Rectangle 25"/>
                <p:cNvSpPr/>
                <p:nvPr/>
              </p:nvSpPr>
              <p:spPr>
                <a:xfrm>
                  <a:off x="5039" y="3139"/>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a[5]</a:t>
                  </a:r>
                  <a:endParaRPr lang="en-US" altLang="zh-TW" sz="1400" b="1" dirty="0">
                    <a:latin typeface="Times New Roman" panose="02020603050405020304" pitchFamily="18" charset="0"/>
                    <a:ea typeface="PMingLiU" pitchFamily="18" charset="-120"/>
                  </a:endParaRPr>
                </a:p>
              </p:txBody>
            </p:sp>
            <p:sp>
              <p:nvSpPr>
                <p:cNvPr id="124965" name="Rectangle 26"/>
                <p:cNvSpPr/>
                <p:nvPr/>
              </p:nvSpPr>
              <p:spPr>
                <a:xfrm>
                  <a:off x="4582" y="2370"/>
                  <a:ext cx="354"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0x400</a:t>
                  </a:r>
                  <a:endParaRPr lang="en-US" altLang="zh-TW" sz="1400" b="1" dirty="0">
                    <a:latin typeface="Times New Roman" panose="02020603050405020304" pitchFamily="18" charset="0"/>
                    <a:ea typeface="PMingLiU" pitchFamily="18" charset="-120"/>
                  </a:endParaRPr>
                </a:p>
              </p:txBody>
            </p:sp>
            <p:sp>
              <p:nvSpPr>
                <p:cNvPr id="124966" name="Rectangle 27"/>
                <p:cNvSpPr/>
                <p:nvPr/>
              </p:nvSpPr>
              <p:spPr>
                <a:xfrm>
                  <a:off x="4582" y="2514"/>
                  <a:ext cx="354"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0x404</a:t>
                  </a:r>
                  <a:endParaRPr lang="en-US" altLang="zh-TW" sz="1400" b="1" dirty="0">
                    <a:latin typeface="Times New Roman" panose="02020603050405020304" pitchFamily="18" charset="0"/>
                    <a:ea typeface="PMingLiU" pitchFamily="18" charset="-120"/>
                  </a:endParaRPr>
                </a:p>
              </p:txBody>
            </p:sp>
            <p:sp>
              <p:nvSpPr>
                <p:cNvPr id="124967" name="Rectangle 28"/>
                <p:cNvSpPr/>
                <p:nvPr/>
              </p:nvSpPr>
              <p:spPr>
                <a:xfrm>
                  <a:off x="4582" y="2658"/>
                  <a:ext cx="354"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0x408</a:t>
                  </a:r>
                  <a:endParaRPr lang="en-US" altLang="zh-TW" sz="1400" b="1" dirty="0">
                    <a:latin typeface="Times New Roman" panose="02020603050405020304" pitchFamily="18" charset="0"/>
                    <a:ea typeface="PMingLiU" pitchFamily="18" charset="-120"/>
                  </a:endParaRPr>
                </a:p>
              </p:txBody>
            </p:sp>
            <p:sp>
              <p:nvSpPr>
                <p:cNvPr id="124968" name="Rectangle 29"/>
                <p:cNvSpPr/>
                <p:nvPr/>
              </p:nvSpPr>
              <p:spPr>
                <a:xfrm>
                  <a:off x="4582" y="2802"/>
                  <a:ext cx="37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0x40C</a:t>
                  </a:r>
                  <a:endParaRPr lang="en-US" altLang="zh-TW" sz="1400" b="1" dirty="0">
                    <a:latin typeface="Times New Roman" panose="02020603050405020304" pitchFamily="18" charset="0"/>
                    <a:ea typeface="PMingLiU" pitchFamily="18" charset="-120"/>
                  </a:endParaRPr>
                </a:p>
              </p:txBody>
            </p:sp>
            <p:sp>
              <p:nvSpPr>
                <p:cNvPr id="124969" name="Rectangle 30"/>
                <p:cNvSpPr/>
                <p:nvPr/>
              </p:nvSpPr>
              <p:spPr>
                <a:xfrm>
                  <a:off x="4582" y="2946"/>
                  <a:ext cx="354"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0x410</a:t>
                  </a:r>
                  <a:endParaRPr lang="en-US" altLang="zh-TW" sz="1400" b="1" dirty="0">
                    <a:latin typeface="Times New Roman" panose="02020603050405020304" pitchFamily="18" charset="0"/>
                    <a:ea typeface="PMingLiU" pitchFamily="18" charset="-120"/>
                  </a:endParaRPr>
                </a:p>
              </p:txBody>
            </p:sp>
            <p:sp>
              <p:nvSpPr>
                <p:cNvPr id="124970" name="Rectangle 31"/>
                <p:cNvSpPr/>
                <p:nvPr/>
              </p:nvSpPr>
              <p:spPr>
                <a:xfrm>
                  <a:off x="4582" y="3090"/>
                  <a:ext cx="354"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0x414</a:t>
                  </a:r>
                  <a:endParaRPr lang="en-US" altLang="zh-TW" sz="1400" b="1" dirty="0">
                    <a:latin typeface="Times New Roman" panose="02020603050405020304" pitchFamily="18" charset="0"/>
                    <a:ea typeface="PMingLiU" pitchFamily="18" charset="-120"/>
                  </a:endParaRPr>
                </a:p>
              </p:txBody>
            </p:sp>
            <p:sp>
              <p:nvSpPr>
                <p:cNvPr id="124971" name="Rectangle 32"/>
                <p:cNvSpPr/>
                <p:nvPr/>
              </p:nvSpPr>
              <p:spPr>
                <a:xfrm>
                  <a:off x="5039" y="2083"/>
                  <a:ext cx="560" cy="321"/>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dirty="0">
                      <a:latin typeface="Times New Roman" panose="02020603050405020304" pitchFamily="18" charset="0"/>
                      <a:ea typeface="PMingLiU" pitchFamily="18" charset="-120"/>
                    </a:rPr>
                    <a:t>• • •</a:t>
                  </a:r>
                  <a:endParaRPr lang="en-US" altLang="zh-TW" sz="1400" dirty="0">
                    <a:latin typeface="Times New Roman" panose="02020603050405020304" pitchFamily="18" charset="0"/>
                    <a:ea typeface="PMingLiU" pitchFamily="18" charset="-120"/>
                  </a:endParaRPr>
                </a:p>
              </p:txBody>
            </p:sp>
            <p:sp>
              <p:nvSpPr>
                <p:cNvPr id="124972" name="Rectangle 33"/>
                <p:cNvSpPr/>
                <p:nvPr/>
              </p:nvSpPr>
              <p:spPr>
                <a:xfrm>
                  <a:off x="5039" y="3619"/>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endParaRPr lang="zh-CN" altLang="en-US" sz="1400" b="1" dirty="0">
                    <a:latin typeface="Courier New" panose="02070309020205020404" pitchFamily="49" charset="0"/>
                    <a:ea typeface="PMingLiU" pitchFamily="18" charset="-120"/>
                  </a:endParaRPr>
                </a:p>
              </p:txBody>
            </p:sp>
            <p:sp>
              <p:nvSpPr>
                <p:cNvPr id="124973" name="Rectangle 34"/>
                <p:cNvSpPr/>
                <p:nvPr/>
              </p:nvSpPr>
              <p:spPr>
                <a:xfrm>
                  <a:off x="4582" y="3570"/>
                  <a:ext cx="37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0x7A4</a:t>
                  </a:r>
                  <a:endParaRPr lang="en-US" altLang="zh-TW" sz="1400" b="1" dirty="0">
                    <a:latin typeface="Times New Roman" panose="02020603050405020304" pitchFamily="18" charset="0"/>
                    <a:ea typeface="PMingLiU" pitchFamily="18" charset="-120"/>
                  </a:endParaRPr>
                </a:p>
              </p:txBody>
            </p:sp>
            <p:sp>
              <p:nvSpPr>
                <p:cNvPr id="124974" name="Rectangle 35"/>
                <p:cNvSpPr/>
                <p:nvPr/>
              </p:nvSpPr>
              <p:spPr>
                <a:xfrm>
                  <a:off x="5039" y="3283"/>
                  <a:ext cx="560" cy="32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ea typeface="PMingLiU" pitchFamily="18" charset="-120"/>
                    </a:rPr>
                    <a:t>• • •</a:t>
                  </a:r>
                  <a:endParaRPr lang="en-US" altLang="zh-TW" sz="1400" b="1" dirty="0">
                    <a:ea typeface="PMingLiU" pitchFamily="18" charset="-120"/>
                  </a:endParaRPr>
                </a:p>
              </p:txBody>
            </p:sp>
            <p:sp>
              <p:nvSpPr>
                <p:cNvPr id="124975" name="Rectangle 36"/>
                <p:cNvSpPr/>
                <p:nvPr/>
              </p:nvSpPr>
              <p:spPr>
                <a:xfrm>
                  <a:off x="4486" y="822"/>
                  <a:ext cx="823" cy="229"/>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zh-CN" altLang="en-US" sz="1800" b="1" dirty="0">
                      <a:solidFill>
                        <a:schemeClr val="hlink"/>
                      </a:solidFill>
                      <a:latin typeface="黑体" panose="02010609060101010101" pitchFamily="49" charset="-122"/>
                      <a:ea typeface="黑体" panose="02010609060101010101" pitchFamily="49" charset="-122"/>
                    </a:rPr>
                    <a:t>主存的布局</a:t>
                  </a:r>
                  <a:r>
                    <a:rPr lang="en-US" altLang="zh-CN" sz="1800" b="1" dirty="0">
                      <a:solidFill>
                        <a:schemeClr val="hlink"/>
                      </a:solidFill>
                      <a:latin typeface="黑体" panose="02010609060101010101" pitchFamily="49" charset="-122"/>
                      <a:ea typeface="黑体" panose="02010609060101010101" pitchFamily="49" charset="-122"/>
                    </a:rPr>
                    <a:t>:</a:t>
                  </a:r>
                  <a:endParaRPr lang="en-US" altLang="zh-CN" sz="1800" b="1" dirty="0">
                    <a:solidFill>
                      <a:schemeClr val="hlink"/>
                    </a:solidFill>
                    <a:latin typeface="黑体" panose="02010609060101010101" pitchFamily="49" charset="-122"/>
                    <a:ea typeface="黑体" panose="02010609060101010101" pitchFamily="49" charset="-122"/>
                  </a:endParaRPr>
                </a:p>
              </p:txBody>
            </p:sp>
            <p:sp>
              <p:nvSpPr>
                <p:cNvPr id="124976" name="Rectangle 37"/>
                <p:cNvSpPr/>
                <p:nvPr/>
              </p:nvSpPr>
              <p:spPr>
                <a:xfrm>
                  <a:off x="5039" y="1075"/>
                  <a:ext cx="560"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Times New Roman" panose="02020603050405020304" pitchFamily="18" charset="0"/>
                      <a:ea typeface="PMingLiU" pitchFamily="18" charset="-120"/>
                    </a:rPr>
                    <a:t>I0</a:t>
                  </a:r>
                  <a:endParaRPr lang="en-US" altLang="zh-TW" sz="1400" b="1" dirty="0">
                    <a:latin typeface="Times New Roman" panose="02020603050405020304" pitchFamily="18" charset="0"/>
                    <a:ea typeface="PMingLiU" pitchFamily="18" charset="-120"/>
                  </a:endParaRPr>
                </a:p>
              </p:txBody>
            </p:sp>
            <p:sp>
              <p:nvSpPr>
                <p:cNvPr id="124977" name="Rectangle 38"/>
                <p:cNvSpPr/>
                <p:nvPr/>
              </p:nvSpPr>
              <p:spPr>
                <a:xfrm>
                  <a:off x="4582" y="1026"/>
                  <a:ext cx="388"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Times New Roman" panose="02020603050405020304" pitchFamily="18" charset="0"/>
                      <a:ea typeface="PMingLiU" pitchFamily="18" charset="-120"/>
                    </a:rPr>
                    <a:t>0x0FC</a:t>
                  </a:r>
                  <a:endParaRPr lang="en-US" altLang="zh-TW" sz="1400" b="1" dirty="0">
                    <a:latin typeface="Times New Roman" panose="02020603050405020304" pitchFamily="18" charset="0"/>
                    <a:ea typeface="PMingLiU" pitchFamily="18" charset="-120"/>
                  </a:endParaRPr>
                </a:p>
              </p:txBody>
            </p:sp>
          </p:grpSp>
          <p:sp>
            <p:nvSpPr>
              <p:cNvPr id="124946" name="Text Box 39"/>
              <p:cNvSpPr txBox="1"/>
              <p:nvPr/>
            </p:nvSpPr>
            <p:spPr>
              <a:xfrm>
                <a:off x="5510" y="1276"/>
                <a:ext cx="250" cy="2290"/>
              </a:xfrm>
              <a:prstGeom prst="rect">
                <a:avLst/>
              </a:prstGeom>
              <a:noFill/>
              <a:ln w="9525">
                <a:noFill/>
              </a:ln>
            </p:spPr>
            <p:txBody>
              <a:bodyPr vert="eaVert"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700" b="1" dirty="0">
                    <a:solidFill>
                      <a:schemeClr val="hlink"/>
                    </a:solidFill>
                  </a:rPr>
                  <a:t>指</a:t>
                </a:r>
                <a:r>
                  <a:rPr lang="en-US" altLang="zh-CN" sz="1700" b="1" dirty="0">
                    <a:solidFill>
                      <a:schemeClr val="hlink"/>
                    </a:solidFill>
                  </a:rPr>
                  <a:t>  </a:t>
                </a:r>
                <a:r>
                  <a:rPr lang="zh-CN" altLang="en-US" sz="1700" b="1" dirty="0">
                    <a:solidFill>
                      <a:schemeClr val="hlink"/>
                    </a:solidFill>
                  </a:rPr>
                  <a:t>令</a:t>
                </a:r>
                <a:r>
                  <a:rPr lang="en-US" altLang="zh-CN" sz="1700" b="1" dirty="0">
                    <a:solidFill>
                      <a:schemeClr val="hlink"/>
                    </a:solidFill>
                  </a:rPr>
                  <a:t>                            </a:t>
                </a:r>
                <a:r>
                  <a:rPr lang="zh-CN" altLang="en-US" sz="1700" b="1" dirty="0">
                    <a:solidFill>
                      <a:schemeClr val="hlink"/>
                    </a:solidFill>
                  </a:rPr>
                  <a:t>数</a:t>
                </a:r>
                <a:r>
                  <a:rPr lang="en-US" altLang="zh-CN" sz="1700" b="1" dirty="0">
                    <a:solidFill>
                      <a:schemeClr val="hlink"/>
                    </a:solidFill>
                  </a:rPr>
                  <a:t>   </a:t>
                </a:r>
                <a:r>
                  <a:rPr lang="zh-CN" altLang="en-US" sz="1700" b="1" dirty="0">
                    <a:solidFill>
                      <a:schemeClr val="hlink"/>
                    </a:solidFill>
                  </a:rPr>
                  <a:t>据</a:t>
                </a:r>
                <a:endParaRPr lang="zh-CN" altLang="en-US" sz="1700" b="1" dirty="0">
                  <a:solidFill>
                    <a:schemeClr val="hlink"/>
                  </a:solidFill>
                </a:endParaRPr>
              </a:p>
            </p:txBody>
          </p:sp>
        </p:grpSp>
        <p:sp>
          <p:nvSpPr>
            <p:cNvPr id="124943" name="Text Box 40"/>
            <p:cNvSpPr txBox="1"/>
            <p:nvPr/>
          </p:nvSpPr>
          <p:spPr>
            <a:xfrm>
              <a:off x="5511" y="2259"/>
              <a:ext cx="183" cy="219"/>
            </a:xfrm>
            <a:prstGeom prst="rect">
              <a:avLst/>
            </a:prstGeom>
            <a:noFill/>
            <a:ln w="9525">
              <a:noFill/>
            </a:ln>
          </p:spPr>
          <p:txBody>
            <a:bodyPr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700" b="1" dirty="0">
                  <a:solidFill>
                    <a:srgbClr val="0000FF"/>
                  </a:solidFill>
                </a:rPr>
                <a:t>A</a:t>
              </a:r>
              <a:endParaRPr lang="en-US" altLang="zh-CN" sz="1700" b="1" dirty="0">
                <a:solidFill>
                  <a:srgbClr val="0000FF"/>
                </a:solidFill>
              </a:endParaRPr>
            </a:p>
          </p:txBody>
        </p:sp>
        <p:sp>
          <p:nvSpPr>
            <p:cNvPr id="124944" name="Text Box 41"/>
            <p:cNvSpPr txBox="1"/>
            <p:nvPr/>
          </p:nvSpPr>
          <p:spPr>
            <a:xfrm>
              <a:off x="5511" y="3430"/>
              <a:ext cx="183" cy="219"/>
            </a:xfrm>
            <a:prstGeom prst="rect">
              <a:avLst/>
            </a:prstGeom>
            <a:noFill/>
            <a:ln w="9525">
              <a:noFill/>
            </a:ln>
          </p:spPr>
          <p:txBody>
            <a:bodyPr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700" b="1" dirty="0">
                  <a:solidFill>
                    <a:srgbClr val="0000FF"/>
                  </a:solidFill>
                </a:rPr>
                <a:t>V</a:t>
              </a:r>
              <a:endParaRPr lang="en-US" altLang="zh-CN" sz="1700" b="1" dirty="0">
                <a:solidFill>
                  <a:srgbClr val="0000FF"/>
                </a:solidFill>
              </a:endParaRPr>
            </a:p>
          </p:txBody>
        </p:sp>
      </p:grpSp>
      <p:sp>
        <p:nvSpPr>
          <p:cNvPr id="171050" name="Rectangle 42"/>
          <p:cNvSpPr/>
          <p:nvPr/>
        </p:nvSpPr>
        <p:spPr>
          <a:xfrm>
            <a:off x="4032250" y="2168525"/>
            <a:ext cx="2655888" cy="2190750"/>
          </a:xfrm>
          <a:prstGeom prst="rect">
            <a:avLst/>
          </a:prstGeom>
          <a:noFill/>
          <a:ln w="9525">
            <a:noFill/>
          </a:ln>
        </p:spPr>
        <p:txBody>
          <a:bodyPr lIns="0" tIns="0" rIns="0" bIns="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nSpc>
                <a:spcPct val="120000"/>
              </a:lnSpc>
              <a:spcBef>
                <a:spcPct val="0"/>
              </a:spcBef>
              <a:buClrTx/>
              <a:buSzTx/>
              <a:buFontTx/>
              <a:buNone/>
            </a:pPr>
            <a:r>
              <a:rPr lang="zh-CN" altLang="en-US" sz="2000" b="1" dirty="0">
                <a:solidFill>
                  <a:srgbClr val="0000FF"/>
                </a:solidFill>
                <a:ea typeface="黑体" panose="02010609060101010101" pitchFamily="49" charset="-122"/>
              </a:rPr>
              <a:t>若</a:t>
            </a:r>
            <a:r>
              <a:rPr lang="en-US" altLang="zh-CN" sz="2000" b="1" dirty="0">
                <a:solidFill>
                  <a:srgbClr val="0000FF"/>
                </a:solidFill>
                <a:ea typeface="黑体" panose="02010609060101010101" pitchFamily="49" charset="-122"/>
              </a:rPr>
              <a:t>n</a:t>
            </a:r>
            <a:r>
              <a:rPr lang="zh-CN" altLang="en-US" sz="2000" b="1" dirty="0">
                <a:solidFill>
                  <a:srgbClr val="0000FF"/>
                </a:solidFill>
                <a:ea typeface="黑体" panose="02010609060101010101" pitchFamily="49" charset="-122"/>
              </a:rPr>
              <a:t>足够大，则在一段时间内一直在局部区域内执行指令，故循环内指令的时间局部性好；按顺序执行，故程序的空间局部性好！</a:t>
            </a:r>
            <a:endParaRPr lang="zh-CN" altLang="en-US" sz="2000" b="1" dirty="0">
              <a:solidFill>
                <a:srgbClr val="0000FF"/>
              </a:solidFill>
              <a:ea typeface="黑体" panose="02010609060101010101" pitchFamily="49" charset="-122"/>
            </a:endParaRPr>
          </a:p>
        </p:txBody>
      </p:sp>
      <p:sp>
        <p:nvSpPr>
          <p:cNvPr id="171051" name="Rectangle 43"/>
          <p:cNvSpPr/>
          <p:nvPr/>
        </p:nvSpPr>
        <p:spPr>
          <a:xfrm>
            <a:off x="522288" y="4849813"/>
            <a:ext cx="4410075" cy="1460500"/>
          </a:xfrm>
          <a:prstGeom prst="rect">
            <a:avLst/>
          </a:prstGeom>
          <a:noFill/>
          <a:ln w="9525">
            <a:noFill/>
          </a:ln>
        </p:spPr>
        <p:txBody>
          <a:bodyPr lIns="0" tIns="0" rIns="0" bIns="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nSpc>
                <a:spcPct val="120000"/>
              </a:lnSpc>
              <a:spcBef>
                <a:spcPct val="0"/>
              </a:spcBef>
              <a:buClrTx/>
              <a:buSzTx/>
              <a:buFontTx/>
              <a:buNone/>
            </a:pPr>
            <a:r>
              <a:rPr lang="zh-CN" altLang="en-US" sz="2000" b="1" dirty="0">
                <a:solidFill>
                  <a:srgbClr val="0000FF"/>
                </a:solidFill>
                <a:ea typeface="黑体" panose="02010609060101010101" pitchFamily="49" charset="-122"/>
              </a:rPr>
              <a:t>数组元素按顺序存放，也按顺序访问，所以，空间局部性好；</a:t>
            </a:r>
            <a:endParaRPr lang="en-US" altLang="zh-CN" sz="2000" b="1" dirty="0">
              <a:solidFill>
                <a:srgbClr val="0000FF"/>
              </a:solidFill>
              <a:ea typeface="黑体" panose="02010609060101010101" pitchFamily="49" charset="-122"/>
            </a:endParaRPr>
          </a:p>
          <a:p>
            <a:pPr marL="0" lvl="0" indent="0">
              <a:lnSpc>
                <a:spcPct val="120000"/>
              </a:lnSpc>
              <a:spcBef>
                <a:spcPct val="0"/>
              </a:spcBef>
              <a:buClrTx/>
              <a:buSzTx/>
              <a:buFontTx/>
              <a:buNone/>
            </a:pPr>
            <a:r>
              <a:rPr lang="zh-CN" altLang="en-US" sz="2000" b="1" dirty="0">
                <a:solidFill>
                  <a:srgbClr val="0000FF"/>
                </a:solidFill>
                <a:ea typeface="黑体" panose="02010609060101010101" pitchFamily="49" charset="-122"/>
              </a:rPr>
              <a:t>每个数组元素都被访问</a:t>
            </a:r>
            <a:r>
              <a:rPr lang="en-US" altLang="zh-CN" sz="2000" b="1" dirty="0">
                <a:solidFill>
                  <a:srgbClr val="0000FF"/>
                </a:solidFill>
                <a:ea typeface="黑体" panose="02010609060101010101" pitchFamily="49" charset="-122"/>
              </a:rPr>
              <a:t>1</a:t>
            </a:r>
            <a:r>
              <a:rPr lang="zh-CN" altLang="en-US" sz="2000" b="1" dirty="0">
                <a:solidFill>
                  <a:srgbClr val="0000FF"/>
                </a:solidFill>
                <a:ea typeface="黑体" panose="02010609060101010101" pitchFamily="49" charset="-122"/>
              </a:rPr>
              <a:t>次，所以没有时间局部性。</a:t>
            </a:r>
            <a:endParaRPr lang="zh-CN" altLang="en-US" sz="2000" b="1" dirty="0">
              <a:solidFill>
                <a:srgbClr val="0000FF"/>
              </a:solidFill>
              <a:ea typeface="黑体" panose="02010609060101010101" pitchFamily="49" charset="-122"/>
            </a:endParaRPr>
          </a:p>
        </p:txBody>
      </p:sp>
      <p:grpSp>
        <p:nvGrpSpPr>
          <p:cNvPr id="5" name="Group 44"/>
          <p:cNvGrpSpPr/>
          <p:nvPr/>
        </p:nvGrpSpPr>
        <p:grpSpPr>
          <a:xfrm>
            <a:off x="2816225" y="2573338"/>
            <a:ext cx="855663" cy="609600"/>
            <a:chOff x="1774" y="1621"/>
            <a:chExt cx="539" cy="384"/>
          </a:xfrm>
        </p:grpSpPr>
        <p:grpSp>
          <p:nvGrpSpPr>
            <p:cNvPr id="124937" name="Group 45"/>
            <p:cNvGrpSpPr/>
            <p:nvPr/>
          </p:nvGrpSpPr>
          <p:grpSpPr>
            <a:xfrm>
              <a:off x="1774" y="1678"/>
              <a:ext cx="142" cy="284"/>
              <a:chOff x="1633" y="1678"/>
              <a:chExt cx="340" cy="199"/>
            </a:xfrm>
          </p:grpSpPr>
          <p:sp>
            <p:nvSpPr>
              <p:cNvPr id="124939" name="Line 46"/>
              <p:cNvSpPr/>
              <p:nvPr/>
            </p:nvSpPr>
            <p:spPr>
              <a:xfrm>
                <a:off x="1633" y="1877"/>
                <a:ext cx="340" cy="0"/>
              </a:xfrm>
              <a:prstGeom prst="line">
                <a:avLst/>
              </a:prstGeom>
              <a:ln w="28575" cap="flat" cmpd="sng">
                <a:solidFill>
                  <a:srgbClr val="800000"/>
                </a:solidFill>
                <a:prstDash val="solid"/>
                <a:headEnd type="none" w="med" len="med"/>
                <a:tailEnd type="none" w="med" len="med"/>
              </a:ln>
            </p:spPr>
          </p:sp>
          <p:sp>
            <p:nvSpPr>
              <p:cNvPr id="124940" name="Line 47"/>
              <p:cNvSpPr/>
              <p:nvPr/>
            </p:nvSpPr>
            <p:spPr>
              <a:xfrm>
                <a:off x="1973" y="1678"/>
                <a:ext cx="0" cy="199"/>
              </a:xfrm>
              <a:prstGeom prst="line">
                <a:avLst/>
              </a:prstGeom>
              <a:ln w="28575" cap="flat" cmpd="sng">
                <a:solidFill>
                  <a:srgbClr val="800000"/>
                </a:solidFill>
                <a:prstDash val="solid"/>
                <a:headEnd type="none" w="med" len="med"/>
                <a:tailEnd type="none" w="med" len="med"/>
              </a:ln>
            </p:spPr>
          </p:sp>
          <p:sp>
            <p:nvSpPr>
              <p:cNvPr id="124941" name="Line 48"/>
              <p:cNvSpPr/>
              <p:nvPr/>
            </p:nvSpPr>
            <p:spPr>
              <a:xfrm flipH="1">
                <a:off x="1633" y="1678"/>
                <a:ext cx="340" cy="0"/>
              </a:xfrm>
              <a:prstGeom prst="line">
                <a:avLst/>
              </a:prstGeom>
              <a:ln w="28575" cap="flat" cmpd="sng">
                <a:solidFill>
                  <a:srgbClr val="800000"/>
                </a:solidFill>
                <a:prstDash val="solid"/>
                <a:headEnd type="none" w="med" len="med"/>
                <a:tailEnd type="triangle" w="med" len="med"/>
              </a:ln>
            </p:spPr>
          </p:sp>
        </p:grpSp>
        <p:sp>
          <p:nvSpPr>
            <p:cNvPr id="124938" name="Text Box 49"/>
            <p:cNvSpPr txBox="1"/>
            <p:nvPr/>
          </p:nvSpPr>
          <p:spPr>
            <a:xfrm>
              <a:off x="1973" y="1621"/>
              <a:ext cx="340" cy="38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6600"/>
                  </a:solidFill>
                  <a:ea typeface="黑体" panose="02010609060101010101" pitchFamily="49" charset="-122"/>
                </a:rPr>
                <a:t>循环</a:t>
              </a:r>
              <a:r>
                <a:rPr lang="en-US" altLang="zh-CN" sz="2000" b="1" dirty="0">
                  <a:solidFill>
                    <a:srgbClr val="006600"/>
                  </a:solidFill>
                  <a:ea typeface="黑体" panose="02010609060101010101" pitchFamily="49" charset="-122"/>
                </a:rPr>
                <a:t>n</a:t>
              </a:r>
              <a:r>
                <a:rPr lang="zh-CN" altLang="en-US" sz="2000" b="1" dirty="0">
                  <a:solidFill>
                    <a:srgbClr val="006600"/>
                  </a:solidFill>
                  <a:ea typeface="黑体" panose="02010609060101010101" pitchFamily="49" charset="-122"/>
                </a:rPr>
                <a:t>次</a:t>
              </a:r>
              <a:endParaRPr lang="zh-CN" altLang="en-US" sz="2000" b="1" dirty="0">
                <a:solidFill>
                  <a:srgbClr val="006600"/>
                </a:solidFill>
                <a:ea typeface="黑体" panose="02010609060101010101" pitchFamily="49"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1012">
                                            <p:txEl>
                                              <p:charRg st="0" end="21"/>
                                            </p:txEl>
                                          </p:spTgt>
                                        </p:tgtEl>
                                        <p:attrNameLst>
                                          <p:attrName>style.visibility</p:attrName>
                                        </p:attrNameLst>
                                      </p:cBhvr>
                                      <p:to>
                                        <p:strVal val="visible"/>
                                      </p:to>
                                    </p:set>
                                    <p:animEffect transition="in" filter="blinds(horizontal)">
                                      <p:cBhvr>
                                        <p:cTn id="7" dur="500"/>
                                        <p:tgtEl>
                                          <p:spTgt spid="171012">
                                            <p:txEl>
                                              <p:charRg st="0" end="2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71012">
                                            <p:txEl>
                                              <p:charRg st="21" end="41"/>
                                            </p:txEl>
                                          </p:spTgt>
                                        </p:tgtEl>
                                        <p:attrNameLst>
                                          <p:attrName>style.visibility</p:attrName>
                                        </p:attrNameLst>
                                      </p:cBhvr>
                                      <p:to>
                                        <p:strVal val="visible"/>
                                      </p:to>
                                    </p:set>
                                    <p:animEffect transition="in" filter="blinds(horizontal)">
                                      <p:cBhvr>
                                        <p:cTn id="10" dur="500"/>
                                        <p:tgtEl>
                                          <p:spTgt spid="171012">
                                            <p:txEl>
                                              <p:charRg st="21" end="4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71012">
                                            <p:txEl>
                                              <p:charRg st="41" end="45"/>
                                            </p:txEl>
                                          </p:spTgt>
                                        </p:tgtEl>
                                        <p:attrNameLst>
                                          <p:attrName>style.visibility</p:attrName>
                                        </p:attrNameLst>
                                      </p:cBhvr>
                                      <p:to>
                                        <p:strVal val="visible"/>
                                      </p:to>
                                    </p:set>
                                    <p:animEffect transition="in" filter="blinds(horizontal)">
                                      <p:cBhvr>
                                        <p:cTn id="15" dur="500"/>
                                        <p:tgtEl>
                                          <p:spTgt spid="171012">
                                            <p:txEl>
                                              <p:charRg st="41" end="4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71012">
                                            <p:txEl>
                                              <p:charRg st="45" end="68"/>
                                            </p:txEl>
                                          </p:spTgt>
                                        </p:tgtEl>
                                        <p:attrNameLst>
                                          <p:attrName>style.visibility</p:attrName>
                                        </p:attrNameLst>
                                      </p:cBhvr>
                                      <p:to>
                                        <p:strVal val="visible"/>
                                      </p:to>
                                    </p:set>
                                    <p:animEffect transition="in" filter="blinds(horizontal)">
                                      <p:cBhvr>
                                        <p:cTn id="18" dur="500"/>
                                        <p:tgtEl>
                                          <p:spTgt spid="171012">
                                            <p:txEl>
                                              <p:charRg st="45" end="68"/>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71012">
                                            <p:txEl>
                                              <p:charRg st="68" end="91"/>
                                            </p:txEl>
                                          </p:spTgt>
                                        </p:tgtEl>
                                        <p:attrNameLst>
                                          <p:attrName>style.visibility</p:attrName>
                                        </p:attrNameLst>
                                      </p:cBhvr>
                                      <p:to>
                                        <p:strVal val="visible"/>
                                      </p:to>
                                    </p:set>
                                    <p:animEffect transition="in" filter="blinds(horizontal)">
                                      <p:cBhvr>
                                        <p:cTn id="21" dur="500"/>
                                        <p:tgtEl>
                                          <p:spTgt spid="171012">
                                            <p:txEl>
                                              <p:charRg st="68" end="91"/>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71012">
                                            <p:txEl>
                                              <p:charRg st="91" end="114"/>
                                            </p:txEl>
                                          </p:spTgt>
                                        </p:tgtEl>
                                        <p:attrNameLst>
                                          <p:attrName>style.visibility</p:attrName>
                                        </p:attrNameLst>
                                      </p:cBhvr>
                                      <p:to>
                                        <p:strVal val="visible"/>
                                      </p:to>
                                    </p:set>
                                    <p:animEffect transition="in" filter="blinds(horizontal)">
                                      <p:cBhvr>
                                        <p:cTn id="24" dur="500"/>
                                        <p:tgtEl>
                                          <p:spTgt spid="171012">
                                            <p:txEl>
                                              <p:charRg st="91" end="11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71012">
                                            <p:txEl>
                                              <p:charRg st="114" end="138"/>
                                            </p:txEl>
                                          </p:spTgt>
                                        </p:tgtEl>
                                        <p:attrNameLst>
                                          <p:attrName>style.visibility</p:attrName>
                                        </p:attrNameLst>
                                      </p:cBhvr>
                                      <p:to>
                                        <p:strVal val="visible"/>
                                      </p:to>
                                    </p:set>
                                    <p:animEffect transition="in" filter="blinds(horizontal)">
                                      <p:cBhvr>
                                        <p:cTn id="27" dur="500"/>
                                        <p:tgtEl>
                                          <p:spTgt spid="171012">
                                            <p:txEl>
                                              <p:charRg st="114" end="13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linds(horizontal)">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1050"/>
                                        </p:tgtEl>
                                        <p:attrNameLst>
                                          <p:attrName>style.visibility</p:attrName>
                                        </p:attrNameLst>
                                      </p:cBhvr>
                                      <p:to>
                                        <p:strVal val="visible"/>
                                      </p:to>
                                    </p:set>
                                    <p:animEffect transition="in" filter="blinds(horizontal)">
                                      <p:cBhvr>
                                        <p:cTn id="37" dur="500"/>
                                        <p:tgtEl>
                                          <p:spTgt spid="171050"/>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71012">
                                            <p:txEl>
                                              <p:charRg st="138" end="154"/>
                                            </p:txEl>
                                          </p:spTgt>
                                        </p:tgtEl>
                                        <p:attrNameLst>
                                          <p:attrName>style.visibility</p:attrName>
                                        </p:attrNameLst>
                                      </p:cBhvr>
                                      <p:to>
                                        <p:strVal val="visible"/>
                                      </p:to>
                                    </p:set>
                                    <p:animEffect transition="in" filter="blinds(horizontal)">
                                      <p:cBhvr>
                                        <p:cTn id="42" dur="500"/>
                                        <p:tgtEl>
                                          <p:spTgt spid="171012">
                                            <p:txEl>
                                              <p:charRg st="138" end="154"/>
                                            </p:txEl>
                                          </p:spTgt>
                                        </p:tgtEl>
                                      </p:cBhvr>
                                    </p:animEffect>
                                  </p:childTnLst>
                                </p:cTn>
                              </p:par>
                              <p:par>
                                <p:cTn id="43" presetID="3" presetClass="entr" presetSubtype="10" fill="hold" nodeType="withEffect">
                                  <p:stCondLst>
                                    <p:cond delay="0"/>
                                  </p:stCondLst>
                                  <p:childTnLst>
                                    <p:set>
                                      <p:cBhvr>
                                        <p:cTn id="44" dur="1" fill="hold">
                                          <p:stCondLst>
                                            <p:cond delay="0"/>
                                          </p:stCondLst>
                                        </p:cTn>
                                        <p:tgtEl>
                                          <p:spTgt spid="171012">
                                            <p:txEl>
                                              <p:charRg st="154" end="183"/>
                                            </p:txEl>
                                          </p:spTgt>
                                        </p:tgtEl>
                                        <p:attrNameLst>
                                          <p:attrName>style.visibility</p:attrName>
                                        </p:attrNameLst>
                                      </p:cBhvr>
                                      <p:to>
                                        <p:strVal val="visible"/>
                                      </p:to>
                                    </p:set>
                                    <p:animEffect transition="in" filter="blinds(horizontal)">
                                      <p:cBhvr>
                                        <p:cTn id="45" dur="500"/>
                                        <p:tgtEl>
                                          <p:spTgt spid="171012">
                                            <p:txEl>
                                              <p:charRg st="154" end="183"/>
                                            </p:txEl>
                                          </p:spTgt>
                                        </p:tgtEl>
                                      </p:cBhvr>
                                    </p:animEffect>
                                  </p:childTnLst>
                                </p:cTn>
                              </p:par>
                              <p:par>
                                <p:cTn id="46" presetID="3" presetClass="entr" presetSubtype="10" fill="hold" nodeType="withEffect">
                                  <p:stCondLst>
                                    <p:cond delay="0"/>
                                  </p:stCondLst>
                                  <p:childTnLst>
                                    <p:set>
                                      <p:cBhvr>
                                        <p:cTn id="47" dur="1" fill="hold">
                                          <p:stCondLst>
                                            <p:cond delay="0"/>
                                          </p:stCondLst>
                                        </p:cTn>
                                        <p:tgtEl>
                                          <p:spTgt spid="171012">
                                            <p:txEl>
                                              <p:charRg st="183" end="210"/>
                                            </p:txEl>
                                          </p:spTgt>
                                        </p:tgtEl>
                                        <p:attrNameLst>
                                          <p:attrName>style.visibility</p:attrName>
                                        </p:attrNameLst>
                                      </p:cBhvr>
                                      <p:to>
                                        <p:strVal val="visible"/>
                                      </p:to>
                                    </p:set>
                                    <p:animEffect transition="in" filter="blinds(horizontal)">
                                      <p:cBhvr>
                                        <p:cTn id="48" dur="500"/>
                                        <p:tgtEl>
                                          <p:spTgt spid="171012">
                                            <p:txEl>
                                              <p:charRg st="183" end="21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71051"/>
                                        </p:tgtEl>
                                        <p:attrNameLst>
                                          <p:attrName>style.visibility</p:attrName>
                                        </p:attrNameLst>
                                      </p:cBhvr>
                                      <p:to>
                                        <p:strVal val="visible"/>
                                      </p:to>
                                    </p:set>
                                    <p:animEffect transition="in" filter="blinds(horizontal)">
                                      <p:cBhvr>
                                        <p:cTn id="53" dur="500"/>
                                        <p:tgtEl>
                                          <p:spTgt spid="171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50" grpId="0"/>
      <p:bldP spid="171051"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Rectangle 2"/>
          <p:cNvSpPr>
            <a:spLocks noGrp="1"/>
          </p:cNvSpPr>
          <p:nvPr>
            <p:ph type="title"/>
          </p:nvPr>
        </p:nvSpPr>
        <p:spPr>
          <a:xfrm>
            <a:off x="457200" y="-674687"/>
            <a:ext cx="8229600" cy="1871662"/>
          </a:xfrm>
        </p:spPr>
        <p:txBody>
          <a:bodyPr vert="horz" wrap="square" lIns="91440" tIns="45720" rIns="91440" bIns="45720" anchor="ctr" anchorCtr="0"/>
          <a:p>
            <a:r>
              <a:rPr lang="zh-CN" altLang="en-US" sz="3500" dirty="0">
                <a:solidFill>
                  <a:srgbClr val="FF0000"/>
                </a:solidFill>
              </a:rPr>
              <a:t>程序的局部性原理举例</a:t>
            </a:r>
            <a:r>
              <a:rPr lang="en-US" altLang="zh-CN" sz="3500" dirty="0">
                <a:solidFill>
                  <a:srgbClr val="FF0000"/>
                </a:solidFill>
              </a:rPr>
              <a:t>2</a:t>
            </a:r>
            <a:endParaRPr lang="en-US" altLang="zh-CN" sz="3500" dirty="0">
              <a:solidFill>
                <a:srgbClr val="FF0000"/>
              </a:solidFill>
            </a:endParaRPr>
          </a:p>
        </p:txBody>
      </p:sp>
      <p:sp>
        <p:nvSpPr>
          <p:cNvPr id="125955" name="Rectangle 3"/>
          <p:cNvSpPr>
            <a:spLocks noGrp="1"/>
          </p:cNvSpPr>
          <p:nvPr>
            <p:ph idx="1"/>
          </p:nvPr>
        </p:nvSpPr>
        <p:spPr>
          <a:xfrm>
            <a:off x="26988" y="404813"/>
            <a:ext cx="8783637" cy="1003300"/>
          </a:xfrm>
        </p:spPr>
        <p:txBody>
          <a:bodyPr vert="horz" wrap="square" lIns="91440" tIns="45720" rIns="91440" bIns="45720" anchor="t" anchorCtr="0"/>
          <a:p>
            <a:pPr>
              <a:lnSpc>
                <a:spcPct val="110000"/>
              </a:lnSpc>
              <a:buNone/>
            </a:pPr>
            <a:r>
              <a:rPr lang="en-US" altLang="zh-CN" sz="1700" dirty="0"/>
              <a:t>      </a:t>
            </a:r>
            <a:r>
              <a:rPr lang="zh-CN" altLang="en-US" sz="1800" dirty="0">
                <a:ea typeface="黑体" panose="02010609060101010101" pitchFamily="49" charset="-122"/>
              </a:rPr>
              <a:t>以下哪个对数组</a:t>
            </a:r>
            <a:r>
              <a:rPr lang="en-US" altLang="zh-CN" sz="1800" dirty="0">
                <a:ea typeface="黑体" panose="02010609060101010101" pitchFamily="49" charset="-122"/>
              </a:rPr>
              <a:t>A</a:t>
            </a:r>
            <a:r>
              <a:rPr lang="zh-CN" altLang="en-US" sz="1800" dirty="0">
                <a:ea typeface="黑体" panose="02010609060101010101" pitchFamily="49" charset="-122"/>
              </a:rPr>
              <a:t>引用的空间局部性更好？时间局部性呢？变量</a:t>
            </a:r>
            <a:r>
              <a:rPr lang="en-US" altLang="zh-CN" sz="1800" dirty="0">
                <a:ea typeface="黑体" panose="02010609060101010101" pitchFamily="49" charset="-122"/>
              </a:rPr>
              <a:t>sum</a:t>
            </a:r>
            <a:r>
              <a:rPr lang="zh-CN" altLang="en-US" sz="1800" dirty="0">
                <a:ea typeface="黑体" panose="02010609060101010101" pitchFamily="49" charset="-122"/>
              </a:rPr>
              <a:t>的空间局部性和时间局部性如何？对于指令来说，</a:t>
            </a:r>
            <a:r>
              <a:rPr lang="en-US" altLang="zh-CN" sz="1800" dirty="0">
                <a:ea typeface="黑体" panose="02010609060101010101" pitchFamily="49" charset="-122"/>
              </a:rPr>
              <a:t>for</a:t>
            </a:r>
            <a:r>
              <a:rPr lang="zh-CN" altLang="en-US" sz="1800" dirty="0">
                <a:ea typeface="黑体" panose="02010609060101010101" pitchFamily="49" charset="-122"/>
              </a:rPr>
              <a:t>循环体的空间局部性和时间局部性如何？</a:t>
            </a:r>
            <a:endParaRPr lang="zh-CN" altLang="en-US" sz="1800" dirty="0">
              <a:ea typeface="黑体" panose="02010609060101010101" pitchFamily="49" charset="-122"/>
            </a:endParaRPr>
          </a:p>
        </p:txBody>
      </p:sp>
      <p:sp>
        <p:nvSpPr>
          <p:cNvPr id="172036" name="Rectangle 4"/>
          <p:cNvSpPr/>
          <p:nvPr/>
        </p:nvSpPr>
        <p:spPr>
          <a:xfrm>
            <a:off x="5662613" y="6284913"/>
            <a:ext cx="3481387"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buClr>
                <a:schemeClr val="accent1"/>
              </a:buClr>
              <a:buSzPct val="80000"/>
              <a:buNone/>
            </a:pPr>
            <a:r>
              <a:rPr lang="zh-CN" altLang="en-US" sz="1600" b="1" dirty="0">
                <a:solidFill>
                  <a:srgbClr val="CC3300"/>
                </a:solidFill>
                <a:latin typeface="宋体" panose="02010600030101010101" pitchFamily="2" charset="-122"/>
              </a:rPr>
              <a:t>假定</a:t>
            </a:r>
            <a:r>
              <a:rPr lang="zh-CN" altLang="en-US" sz="1600" b="1" dirty="0">
                <a:solidFill>
                  <a:srgbClr val="CC3300"/>
                </a:solidFill>
                <a:latin typeface="宋体" panose="02010600030101010101" pitchFamily="2" charset="-122"/>
                <a:cs typeface="Arial" panose="020B0604020202020204" pitchFamily="34" charset="0"/>
              </a:rPr>
              <a:t>数组在存储器中按行优先顺序存放</a:t>
            </a:r>
            <a:endParaRPr lang="zh-CN" altLang="en-US" sz="1600" dirty="0">
              <a:solidFill>
                <a:srgbClr val="CC3300"/>
              </a:solidFill>
              <a:latin typeface="宋体" panose="02010600030101010101" pitchFamily="2" charset="-122"/>
              <a:ea typeface="Arial" panose="020B0604020202020204" pitchFamily="34" charset="0"/>
            </a:endParaRPr>
          </a:p>
        </p:txBody>
      </p:sp>
      <p:sp>
        <p:nvSpPr>
          <p:cNvPr id="125957" name="Text Box 5"/>
          <p:cNvSpPr txBox="1"/>
          <p:nvPr/>
        </p:nvSpPr>
        <p:spPr>
          <a:xfrm>
            <a:off x="304800" y="5886450"/>
            <a:ext cx="7507288" cy="27463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sz="1800" b="1" i="1" dirty="0">
              <a:solidFill>
                <a:srgbClr val="666699"/>
              </a:solidFill>
              <a:ea typeface="华文新魏" pitchFamily="2" charset="-122"/>
            </a:endParaRPr>
          </a:p>
        </p:txBody>
      </p:sp>
      <p:sp>
        <p:nvSpPr>
          <p:cNvPr id="172038" name="Rectangle 6"/>
          <p:cNvSpPr/>
          <p:nvPr/>
        </p:nvSpPr>
        <p:spPr>
          <a:xfrm>
            <a:off x="296863" y="3786188"/>
            <a:ext cx="4979987" cy="2689225"/>
          </a:xfrm>
          <a:prstGeom prst="rect">
            <a:avLst/>
          </a:prstGeom>
          <a:solidFill>
            <a:schemeClr val="bg1"/>
          </a:solidFill>
          <a:ln w="952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lnSpc>
                <a:spcPct val="110000"/>
              </a:lnSpc>
              <a:spcBef>
                <a:spcPct val="0"/>
              </a:spcBef>
              <a:buClr>
                <a:schemeClr val="accent1"/>
              </a:buClr>
              <a:buSzPct val="80000"/>
              <a:buNone/>
            </a:pPr>
            <a:r>
              <a:rPr lang="zh-CN" altLang="en-US" sz="2000" b="1" dirty="0">
                <a:solidFill>
                  <a:srgbClr val="CC0000"/>
                </a:solidFill>
              </a:rPr>
              <a:t>程序段</a:t>
            </a:r>
            <a:r>
              <a:rPr lang="en-US" altLang="zh-CN" sz="2000" b="1" dirty="0">
                <a:solidFill>
                  <a:srgbClr val="CC0000"/>
                </a:solidFill>
              </a:rPr>
              <a:t>B:</a:t>
            </a:r>
            <a:endParaRPr lang="en-US" altLang="zh-CN" sz="2000" b="1" dirty="0">
              <a:solidFill>
                <a:srgbClr val="CC0000"/>
              </a:solidFill>
            </a:endParaRPr>
          </a:p>
          <a:p>
            <a:pPr marL="0" lvl="0" indent="0" eaLnBrk="1" hangingPunct="1">
              <a:lnSpc>
                <a:spcPct val="110000"/>
              </a:lnSpc>
              <a:spcBef>
                <a:spcPct val="0"/>
              </a:spcBef>
              <a:buClr>
                <a:schemeClr val="accent1"/>
              </a:buClr>
              <a:buSzPct val="80000"/>
              <a:buNone/>
            </a:pPr>
            <a:r>
              <a:rPr lang="en-US" altLang="zh-CN" sz="2000" b="1" dirty="0"/>
              <a:t> int sumarraycols(int A[M][N])</a:t>
            </a:r>
            <a:endParaRPr lang="en-US" altLang="zh-CN" sz="2000" b="1" dirty="0"/>
          </a:p>
          <a:p>
            <a:pPr marL="0" lvl="0" indent="0" eaLnBrk="1" hangingPunct="1">
              <a:lnSpc>
                <a:spcPct val="110000"/>
              </a:lnSpc>
              <a:spcBef>
                <a:spcPct val="0"/>
              </a:spcBef>
              <a:buClrTx/>
              <a:buSzTx/>
              <a:buFontTx/>
              <a:buNone/>
            </a:pPr>
            <a:r>
              <a:rPr lang="en-US" altLang="zh-CN" sz="2000" b="1" dirty="0"/>
              <a:t> {</a:t>
            </a:r>
            <a:endParaRPr lang="en-US" altLang="zh-CN" sz="2000" b="1" dirty="0"/>
          </a:p>
          <a:p>
            <a:pPr marL="0" lvl="0" indent="0" eaLnBrk="1" hangingPunct="1">
              <a:lnSpc>
                <a:spcPct val="110000"/>
              </a:lnSpc>
              <a:spcBef>
                <a:spcPct val="0"/>
              </a:spcBef>
              <a:buClrTx/>
              <a:buSzTx/>
              <a:buFontTx/>
              <a:buNone/>
            </a:pPr>
            <a:r>
              <a:rPr lang="en-US" altLang="zh-CN" sz="2000" b="1" dirty="0"/>
              <a:t>     int i, j, sum=0;</a:t>
            </a:r>
            <a:endParaRPr lang="en-US" altLang="zh-CN" sz="2000" b="1" dirty="0"/>
          </a:p>
          <a:p>
            <a:pPr marL="0" lvl="0" indent="0" eaLnBrk="1" hangingPunct="1">
              <a:lnSpc>
                <a:spcPct val="110000"/>
              </a:lnSpc>
              <a:spcBef>
                <a:spcPct val="0"/>
              </a:spcBef>
              <a:buClrTx/>
              <a:buSzTx/>
              <a:buFontTx/>
              <a:buNone/>
            </a:pPr>
            <a:r>
              <a:rPr lang="en-US" altLang="zh-CN" sz="2000" b="1" dirty="0"/>
              <a:t>          for  </a:t>
            </a:r>
            <a:r>
              <a:rPr lang="en-US" altLang="zh-CN" sz="2000" b="1" dirty="0">
                <a:solidFill>
                  <a:srgbClr val="CC0000"/>
                </a:solidFill>
              </a:rPr>
              <a:t>(j=0; j&lt;N, j++)</a:t>
            </a:r>
            <a:endParaRPr lang="en-US" altLang="zh-CN" sz="2000" b="1" dirty="0">
              <a:solidFill>
                <a:srgbClr val="CC0000"/>
              </a:solidFill>
            </a:endParaRPr>
          </a:p>
          <a:p>
            <a:pPr marL="0" lvl="0" indent="0" eaLnBrk="1" hangingPunct="1">
              <a:lnSpc>
                <a:spcPct val="110000"/>
              </a:lnSpc>
              <a:spcBef>
                <a:spcPct val="0"/>
              </a:spcBef>
              <a:buClrTx/>
              <a:buSzTx/>
              <a:buFontTx/>
              <a:buNone/>
            </a:pPr>
            <a:r>
              <a:rPr lang="en-US" altLang="zh-CN" sz="2000" b="1" dirty="0"/>
              <a:t>	  for </a:t>
            </a:r>
            <a:r>
              <a:rPr lang="en-US" altLang="zh-CN" sz="2000" b="1" dirty="0">
                <a:solidFill>
                  <a:srgbClr val="0000FF"/>
                </a:solidFill>
              </a:rPr>
              <a:t>(i=0; i&lt;M, i++)</a:t>
            </a:r>
            <a:r>
              <a:rPr lang="en-US" altLang="zh-CN" sz="2000" b="1" dirty="0"/>
              <a:t>  sum+=A[i][j];</a:t>
            </a:r>
            <a:endParaRPr lang="en-US" altLang="zh-CN" sz="2000" b="1" dirty="0"/>
          </a:p>
          <a:p>
            <a:pPr marL="0" lvl="0" indent="0" eaLnBrk="1" hangingPunct="1">
              <a:lnSpc>
                <a:spcPct val="110000"/>
              </a:lnSpc>
              <a:spcBef>
                <a:spcPct val="0"/>
              </a:spcBef>
              <a:buClrTx/>
              <a:buSzTx/>
              <a:buFontTx/>
              <a:buNone/>
            </a:pPr>
            <a:r>
              <a:rPr lang="en-US" altLang="zh-CN" sz="2000" b="1" dirty="0"/>
              <a:t>           return sum;</a:t>
            </a:r>
            <a:endParaRPr lang="en-US" altLang="zh-CN" sz="2000" b="1" dirty="0"/>
          </a:p>
          <a:p>
            <a:pPr marL="0" lvl="0" indent="0" eaLnBrk="1" hangingPunct="1">
              <a:lnSpc>
                <a:spcPct val="110000"/>
              </a:lnSpc>
              <a:spcBef>
                <a:spcPct val="0"/>
              </a:spcBef>
              <a:buClrTx/>
              <a:buSzTx/>
              <a:buFontTx/>
              <a:buNone/>
            </a:pPr>
            <a:r>
              <a:rPr lang="en-US" altLang="zh-CN" sz="2000" b="1" dirty="0"/>
              <a:t> }</a:t>
            </a:r>
            <a:endParaRPr lang="en-US" altLang="zh-CN" sz="2000" b="1" dirty="0"/>
          </a:p>
        </p:txBody>
      </p:sp>
      <p:sp>
        <p:nvSpPr>
          <p:cNvPr id="172039" name="Rectangle 7"/>
          <p:cNvSpPr/>
          <p:nvPr/>
        </p:nvSpPr>
        <p:spPr>
          <a:xfrm>
            <a:off x="296863" y="1389063"/>
            <a:ext cx="4995862" cy="2320925"/>
          </a:xfrm>
          <a:prstGeom prst="rect">
            <a:avLst/>
          </a:prstGeom>
          <a:noFill/>
          <a:ln w="9525" cap="flat" cmpd="sng">
            <a:solidFill>
              <a:schemeClr val="tx1"/>
            </a:solidFill>
            <a:prstDash val="solid"/>
            <a:miter/>
            <a:headEnd type="none" w="med" len="med"/>
            <a:tailEnd type="none" w="med" len="med"/>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lnSpc>
                <a:spcPct val="95000"/>
              </a:lnSpc>
              <a:spcBef>
                <a:spcPct val="0"/>
              </a:spcBef>
              <a:buClrTx/>
              <a:buSzTx/>
              <a:buFontTx/>
              <a:buNone/>
            </a:pPr>
            <a:r>
              <a:rPr lang="zh-CN" altLang="en-US" sz="2000" b="1" dirty="0">
                <a:solidFill>
                  <a:srgbClr val="CC3300"/>
                </a:solidFill>
              </a:rPr>
              <a:t>程序段</a:t>
            </a:r>
            <a:r>
              <a:rPr lang="en-US" altLang="zh-CN" sz="2000" b="1" dirty="0">
                <a:solidFill>
                  <a:srgbClr val="CC3300"/>
                </a:solidFill>
              </a:rPr>
              <a:t>A:</a:t>
            </a:r>
            <a:endParaRPr lang="en-US" altLang="zh-CN" sz="2000" b="1" dirty="0">
              <a:solidFill>
                <a:srgbClr val="CC3300"/>
              </a:solidFill>
            </a:endParaRPr>
          </a:p>
          <a:p>
            <a:pPr marL="0" lvl="0" indent="0" eaLnBrk="1" hangingPunct="1">
              <a:lnSpc>
                <a:spcPct val="95000"/>
              </a:lnSpc>
              <a:spcBef>
                <a:spcPct val="0"/>
              </a:spcBef>
              <a:buClrTx/>
              <a:buSzTx/>
              <a:buFontTx/>
              <a:buNone/>
            </a:pPr>
            <a:r>
              <a:rPr lang="en-US" altLang="zh-CN" sz="2000" b="1" dirty="0"/>
              <a:t> int sumarrayrows(int A[M][N])</a:t>
            </a:r>
            <a:endParaRPr lang="en-US" altLang="zh-CN" sz="2000" b="1" dirty="0"/>
          </a:p>
          <a:p>
            <a:pPr marL="0" lvl="0" indent="0" eaLnBrk="1" hangingPunct="1">
              <a:lnSpc>
                <a:spcPct val="95000"/>
              </a:lnSpc>
              <a:spcBef>
                <a:spcPct val="0"/>
              </a:spcBef>
              <a:buClrTx/>
              <a:buSzTx/>
              <a:buFontTx/>
              <a:buNone/>
            </a:pPr>
            <a:r>
              <a:rPr lang="en-US" altLang="zh-CN" sz="2000" b="1" dirty="0"/>
              <a:t> {</a:t>
            </a:r>
            <a:endParaRPr lang="en-US" altLang="zh-CN" sz="2000" b="1" dirty="0"/>
          </a:p>
          <a:p>
            <a:pPr marL="0" lvl="0" indent="0" eaLnBrk="1" hangingPunct="1">
              <a:lnSpc>
                <a:spcPct val="95000"/>
              </a:lnSpc>
              <a:spcBef>
                <a:spcPct val="0"/>
              </a:spcBef>
              <a:buClrTx/>
              <a:buSzTx/>
              <a:buFontTx/>
              <a:buNone/>
            </a:pPr>
            <a:r>
              <a:rPr lang="en-US" altLang="zh-CN" sz="2000" b="1" dirty="0"/>
              <a:t>    int i, j, sum=0;</a:t>
            </a:r>
            <a:endParaRPr lang="en-US" altLang="zh-CN" sz="2000" b="1" dirty="0"/>
          </a:p>
          <a:p>
            <a:pPr marL="0" lvl="0" indent="0" eaLnBrk="1" hangingPunct="1">
              <a:lnSpc>
                <a:spcPct val="95000"/>
              </a:lnSpc>
              <a:spcBef>
                <a:spcPct val="0"/>
              </a:spcBef>
              <a:buClrTx/>
              <a:buSzTx/>
              <a:buFontTx/>
              <a:buNone/>
            </a:pPr>
            <a:r>
              <a:rPr lang="en-US" altLang="zh-CN" sz="2000" b="1" dirty="0"/>
              <a:t>        for  (</a:t>
            </a:r>
            <a:r>
              <a:rPr lang="en-US" altLang="zh-CN" sz="2000" b="1" dirty="0">
                <a:solidFill>
                  <a:srgbClr val="CC0000"/>
                </a:solidFill>
              </a:rPr>
              <a:t>i=0; i&lt;M, i++)</a:t>
            </a:r>
            <a:endParaRPr lang="en-US" altLang="zh-CN" sz="2000" b="1" dirty="0">
              <a:solidFill>
                <a:srgbClr val="CC0000"/>
              </a:solidFill>
            </a:endParaRPr>
          </a:p>
          <a:p>
            <a:pPr marL="0" lvl="0" indent="0" eaLnBrk="1" hangingPunct="1">
              <a:lnSpc>
                <a:spcPct val="95000"/>
              </a:lnSpc>
              <a:spcBef>
                <a:spcPct val="0"/>
              </a:spcBef>
              <a:buClrTx/>
              <a:buSzTx/>
              <a:buFontTx/>
              <a:buNone/>
            </a:pPr>
            <a:r>
              <a:rPr lang="en-US" altLang="zh-CN" sz="2000" b="1" dirty="0"/>
              <a:t>	for </a:t>
            </a:r>
            <a:r>
              <a:rPr lang="en-US" altLang="zh-CN" sz="2000" b="1" dirty="0">
                <a:solidFill>
                  <a:srgbClr val="0000FF"/>
                </a:solidFill>
              </a:rPr>
              <a:t>(j=0; j&lt;N, j++)  </a:t>
            </a:r>
            <a:r>
              <a:rPr lang="en-US" altLang="zh-CN" sz="2000" b="1" dirty="0"/>
              <a:t>sum+=A[i][j];</a:t>
            </a:r>
            <a:endParaRPr lang="en-US" altLang="zh-CN" sz="2000" b="1" dirty="0"/>
          </a:p>
          <a:p>
            <a:pPr marL="0" lvl="0" indent="0" eaLnBrk="1" hangingPunct="1">
              <a:lnSpc>
                <a:spcPct val="95000"/>
              </a:lnSpc>
              <a:spcBef>
                <a:spcPct val="0"/>
              </a:spcBef>
              <a:buClrTx/>
              <a:buSzTx/>
              <a:buFontTx/>
              <a:buNone/>
            </a:pPr>
            <a:r>
              <a:rPr lang="en-US" altLang="zh-CN" sz="2000" b="1" dirty="0"/>
              <a:t>        return sum;</a:t>
            </a:r>
            <a:endParaRPr lang="en-US" altLang="zh-CN" sz="2000" b="1" dirty="0"/>
          </a:p>
          <a:p>
            <a:pPr marL="0" lvl="0" indent="0" eaLnBrk="1" hangingPunct="1">
              <a:lnSpc>
                <a:spcPct val="95000"/>
              </a:lnSpc>
              <a:spcBef>
                <a:spcPct val="0"/>
              </a:spcBef>
              <a:buClrTx/>
              <a:buSzTx/>
              <a:buFontTx/>
              <a:buNone/>
            </a:pPr>
            <a:r>
              <a:rPr lang="en-US" altLang="zh-CN" sz="2000" b="1" dirty="0"/>
              <a:t> }</a:t>
            </a:r>
            <a:endParaRPr lang="en-US" altLang="zh-CN" sz="2000" b="1" dirty="0"/>
          </a:p>
        </p:txBody>
      </p:sp>
      <p:sp>
        <p:nvSpPr>
          <p:cNvPr id="172040" name="Rectangle 8"/>
          <p:cNvSpPr/>
          <p:nvPr/>
        </p:nvSpPr>
        <p:spPr>
          <a:xfrm>
            <a:off x="6011863" y="1389063"/>
            <a:ext cx="3051175" cy="39370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006600"/>
                </a:solidFill>
                <a:ea typeface="黑体" panose="02010609060101010101" pitchFamily="49" charset="-122"/>
              </a:rPr>
              <a:t>M=N=2048</a:t>
            </a:r>
            <a:r>
              <a:rPr lang="zh-CN" altLang="en-US" sz="2000" b="1" dirty="0">
                <a:solidFill>
                  <a:srgbClr val="006600"/>
                </a:solidFill>
                <a:ea typeface="黑体" panose="02010609060101010101" pitchFamily="49" charset="-122"/>
              </a:rPr>
              <a:t>时</a:t>
            </a:r>
            <a:r>
              <a:rPr lang="zh-CN" altLang="en-US" sz="2000" b="1" dirty="0">
                <a:solidFill>
                  <a:srgbClr val="006600"/>
                </a:solidFill>
                <a:ea typeface="黑体" panose="02010609060101010101" pitchFamily="49" charset="-122"/>
              </a:rPr>
              <a:t>主存的布局</a:t>
            </a:r>
            <a:r>
              <a:rPr lang="en-US" altLang="zh-CN" sz="2000" b="1" dirty="0">
                <a:solidFill>
                  <a:srgbClr val="006600"/>
                </a:solidFill>
                <a:ea typeface="黑体" panose="02010609060101010101" pitchFamily="49" charset="-122"/>
              </a:rPr>
              <a:t>:</a:t>
            </a:r>
            <a:endParaRPr lang="en-US" altLang="zh-CN" sz="2000" b="1" dirty="0">
              <a:solidFill>
                <a:srgbClr val="006600"/>
              </a:solidFill>
              <a:ea typeface="黑体" panose="02010609060101010101" pitchFamily="49" charset="-122"/>
            </a:endParaRPr>
          </a:p>
        </p:txBody>
      </p:sp>
      <p:grpSp>
        <p:nvGrpSpPr>
          <p:cNvPr id="2" name="Group 9"/>
          <p:cNvGrpSpPr/>
          <p:nvPr/>
        </p:nvGrpSpPr>
        <p:grpSpPr>
          <a:xfrm>
            <a:off x="5337175" y="1820863"/>
            <a:ext cx="3556000" cy="4421187"/>
            <a:chOff x="3560" y="1196"/>
            <a:chExt cx="1985" cy="2728"/>
          </a:xfrm>
        </p:grpSpPr>
        <p:sp>
          <p:nvSpPr>
            <p:cNvPr id="125962" name="Rectangle 10"/>
            <p:cNvSpPr/>
            <p:nvPr/>
          </p:nvSpPr>
          <p:spPr>
            <a:xfrm>
              <a:off x="3709" y="1318"/>
              <a:ext cx="414" cy="206"/>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0x100</a:t>
              </a:r>
              <a:endParaRPr lang="en-US" altLang="zh-TW" sz="1600" b="1" dirty="0">
                <a:ea typeface="PMingLiU" pitchFamily="18" charset="-120"/>
              </a:endParaRPr>
            </a:p>
          </p:txBody>
        </p:sp>
        <p:sp>
          <p:nvSpPr>
            <p:cNvPr id="125963" name="Rectangle 11"/>
            <p:cNvSpPr/>
            <p:nvPr/>
          </p:nvSpPr>
          <p:spPr>
            <a:xfrm>
              <a:off x="3702" y="1769"/>
              <a:ext cx="432" cy="206"/>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0x1</a:t>
              </a:r>
              <a:r>
                <a:rPr lang="en-US" altLang="zh-CN" sz="1600" b="1" dirty="0">
                  <a:ea typeface="PMingLiU" pitchFamily="18" charset="-120"/>
                </a:rPr>
                <a:t>7</a:t>
              </a:r>
              <a:r>
                <a:rPr lang="en-US" altLang="zh-TW" sz="1600" b="1" dirty="0">
                  <a:ea typeface="PMingLiU" pitchFamily="18" charset="-120"/>
                </a:rPr>
                <a:t>C</a:t>
              </a:r>
              <a:endParaRPr lang="en-US" altLang="zh-TW" sz="1600" b="1" dirty="0">
                <a:ea typeface="PMingLiU" pitchFamily="18" charset="-120"/>
              </a:endParaRPr>
            </a:p>
          </p:txBody>
        </p:sp>
        <p:sp>
          <p:nvSpPr>
            <p:cNvPr id="125964" name="Rectangle 12"/>
            <p:cNvSpPr/>
            <p:nvPr/>
          </p:nvSpPr>
          <p:spPr>
            <a:xfrm>
              <a:off x="3702" y="1913"/>
              <a:ext cx="414" cy="206"/>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0x1</a:t>
              </a:r>
              <a:r>
                <a:rPr lang="en-US" altLang="zh-CN" sz="1600" b="1" dirty="0">
                  <a:ea typeface="PMingLiU" pitchFamily="18" charset="-120"/>
                </a:rPr>
                <a:t>8</a:t>
              </a:r>
              <a:r>
                <a:rPr lang="en-US" altLang="zh-TW" sz="1600" b="1" dirty="0">
                  <a:ea typeface="PMingLiU" pitchFamily="18" charset="-120"/>
                </a:rPr>
                <a:t>0</a:t>
              </a:r>
              <a:endParaRPr lang="en-US" altLang="zh-TW" sz="1600" b="1" dirty="0">
                <a:ea typeface="PMingLiU" pitchFamily="18" charset="-120"/>
              </a:endParaRPr>
            </a:p>
          </p:txBody>
        </p:sp>
        <p:sp>
          <p:nvSpPr>
            <p:cNvPr id="125965" name="Rectangle 13"/>
            <p:cNvSpPr/>
            <p:nvPr/>
          </p:nvSpPr>
          <p:spPr>
            <a:xfrm>
              <a:off x="3702" y="2057"/>
              <a:ext cx="414" cy="206"/>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0x1</a:t>
              </a:r>
              <a:r>
                <a:rPr lang="en-US" altLang="zh-CN" sz="1600" b="1" dirty="0">
                  <a:ea typeface="PMingLiU" pitchFamily="18" charset="-120"/>
                </a:rPr>
                <a:t>8</a:t>
              </a:r>
              <a:r>
                <a:rPr lang="en-US" altLang="zh-TW" sz="1600" b="1" dirty="0">
                  <a:ea typeface="PMingLiU" pitchFamily="18" charset="-120"/>
                </a:rPr>
                <a:t>4</a:t>
              </a:r>
              <a:endParaRPr lang="en-US" altLang="zh-TW" sz="1600" b="1" dirty="0">
                <a:ea typeface="PMingLiU" pitchFamily="18" charset="-120"/>
              </a:endParaRPr>
            </a:p>
          </p:txBody>
        </p:sp>
        <p:sp>
          <p:nvSpPr>
            <p:cNvPr id="125966" name="Rectangle 14"/>
            <p:cNvSpPr/>
            <p:nvPr/>
          </p:nvSpPr>
          <p:spPr>
            <a:xfrm>
              <a:off x="3702" y="2538"/>
              <a:ext cx="414" cy="206"/>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0x400</a:t>
              </a:r>
              <a:endParaRPr lang="en-US" altLang="zh-TW" sz="1600" b="1" dirty="0">
                <a:ea typeface="PMingLiU" pitchFamily="18" charset="-120"/>
              </a:endParaRPr>
            </a:p>
          </p:txBody>
        </p:sp>
        <p:sp>
          <p:nvSpPr>
            <p:cNvPr id="125967" name="Rectangle 15"/>
            <p:cNvSpPr/>
            <p:nvPr/>
          </p:nvSpPr>
          <p:spPr>
            <a:xfrm>
              <a:off x="3702" y="2682"/>
              <a:ext cx="414" cy="206"/>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0x404</a:t>
              </a:r>
              <a:endParaRPr lang="en-US" altLang="zh-TW" sz="1600" b="1" dirty="0">
                <a:ea typeface="PMingLiU" pitchFamily="18" charset="-120"/>
              </a:endParaRPr>
            </a:p>
          </p:txBody>
        </p:sp>
        <p:sp>
          <p:nvSpPr>
            <p:cNvPr id="125968" name="Rectangle 16"/>
            <p:cNvSpPr/>
            <p:nvPr/>
          </p:nvSpPr>
          <p:spPr>
            <a:xfrm>
              <a:off x="3702" y="3114"/>
              <a:ext cx="414" cy="206"/>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a:t>
              </a:r>
              <a:r>
                <a:rPr lang="en-US" altLang="zh-CN" sz="1600" b="1" dirty="0">
                  <a:ea typeface="PMingLiU" pitchFamily="18" charset="-120"/>
                </a:rPr>
                <a:t>c0</a:t>
              </a:r>
              <a:r>
                <a:rPr lang="en-US" altLang="zh-TW" sz="1600" b="1" dirty="0">
                  <a:ea typeface="PMingLiU" pitchFamily="18" charset="-120"/>
                </a:rPr>
                <a:t>0</a:t>
              </a:r>
              <a:endParaRPr lang="en-US" altLang="zh-TW" sz="1600" b="1" dirty="0">
                <a:ea typeface="PMingLiU" pitchFamily="18" charset="-120"/>
              </a:endParaRPr>
            </a:p>
          </p:txBody>
        </p:sp>
        <p:sp>
          <p:nvSpPr>
            <p:cNvPr id="125969" name="Rectangle 17"/>
            <p:cNvSpPr/>
            <p:nvPr/>
          </p:nvSpPr>
          <p:spPr>
            <a:xfrm>
              <a:off x="3702" y="3258"/>
              <a:ext cx="414" cy="206"/>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a:t>
              </a:r>
              <a:r>
                <a:rPr lang="en-US" altLang="zh-CN" sz="1600" b="1" dirty="0">
                  <a:ea typeface="PMingLiU" pitchFamily="18" charset="-120"/>
                </a:rPr>
                <a:t>c0</a:t>
              </a:r>
              <a:r>
                <a:rPr lang="en-US" altLang="zh-TW" sz="1600" b="1" dirty="0">
                  <a:ea typeface="PMingLiU" pitchFamily="18" charset="-120"/>
                </a:rPr>
                <a:t>4</a:t>
              </a:r>
              <a:endParaRPr lang="en-US" altLang="zh-TW" sz="1600" b="1" dirty="0">
                <a:ea typeface="PMingLiU" pitchFamily="18" charset="-120"/>
              </a:endParaRPr>
            </a:p>
          </p:txBody>
        </p:sp>
        <p:sp>
          <p:nvSpPr>
            <p:cNvPr id="125970" name="Rectangle 18"/>
            <p:cNvSpPr/>
            <p:nvPr/>
          </p:nvSpPr>
          <p:spPr>
            <a:xfrm>
              <a:off x="3709" y="1196"/>
              <a:ext cx="440" cy="206"/>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600" b="1" dirty="0">
                  <a:ea typeface="PMingLiU" pitchFamily="18" charset="-120"/>
                </a:rPr>
                <a:t>0x0FC</a:t>
              </a:r>
              <a:endParaRPr lang="en-US" altLang="zh-TW" sz="1600" b="1" dirty="0">
                <a:ea typeface="PMingLiU" pitchFamily="18" charset="-120"/>
              </a:endParaRPr>
            </a:p>
          </p:txBody>
        </p:sp>
        <p:sp>
          <p:nvSpPr>
            <p:cNvPr id="125971" name="Text Box 19"/>
            <p:cNvSpPr txBox="1"/>
            <p:nvPr/>
          </p:nvSpPr>
          <p:spPr>
            <a:xfrm>
              <a:off x="5291" y="1443"/>
              <a:ext cx="254" cy="2291"/>
            </a:xfrm>
            <a:prstGeom prst="rect">
              <a:avLst/>
            </a:prstGeom>
            <a:noFill/>
            <a:ln w="9525">
              <a:noFill/>
            </a:ln>
          </p:spPr>
          <p:txBody>
            <a:bodyPr vert="eaVert"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chemeClr val="hlink"/>
                  </a:solidFill>
                  <a:ea typeface="黑体" panose="02010609060101010101" pitchFamily="49" charset="-122"/>
                </a:rPr>
                <a:t>指</a:t>
              </a:r>
              <a:r>
                <a:rPr lang="en-US" altLang="zh-CN" sz="1800" b="1" dirty="0">
                  <a:solidFill>
                    <a:schemeClr val="hlink"/>
                  </a:solidFill>
                  <a:ea typeface="黑体" panose="02010609060101010101" pitchFamily="49" charset="-122"/>
                </a:rPr>
                <a:t>  </a:t>
              </a:r>
              <a:r>
                <a:rPr lang="zh-CN" altLang="en-US" sz="1800" b="1" dirty="0">
                  <a:solidFill>
                    <a:schemeClr val="hlink"/>
                  </a:solidFill>
                  <a:ea typeface="黑体" panose="02010609060101010101" pitchFamily="49" charset="-122"/>
                </a:rPr>
                <a:t>令</a:t>
              </a:r>
              <a:r>
                <a:rPr lang="en-US" altLang="zh-CN" sz="1800" b="1" dirty="0">
                  <a:solidFill>
                    <a:schemeClr val="hlink"/>
                  </a:solidFill>
                  <a:ea typeface="黑体" panose="02010609060101010101" pitchFamily="49" charset="-122"/>
                </a:rPr>
                <a:t>                            </a:t>
              </a:r>
              <a:r>
                <a:rPr lang="zh-CN" altLang="en-US" sz="1800" b="1" dirty="0">
                  <a:solidFill>
                    <a:schemeClr val="hlink"/>
                  </a:solidFill>
                  <a:ea typeface="黑体" panose="02010609060101010101" pitchFamily="49" charset="-122"/>
                </a:rPr>
                <a:t>数</a:t>
              </a:r>
              <a:r>
                <a:rPr lang="en-US" altLang="zh-CN" sz="1800" b="1" dirty="0">
                  <a:solidFill>
                    <a:schemeClr val="hlink"/>
                  </a:solidFill>
                  <a:ea typeface="黑体" panose="02010609060101010101" pitchFamily="49" charset="-122"/>
                </a:rPr>
                <a:t>   </a:t>
              </a:r>
              <a:r>
                <a:rPr lang="zh-CN" altLang="en-US" sz="1800" b="1" dirty="0">
                  <a:solidFill>
                    <a:schemeClr val="hlink"/>
                  </a:solidFill>
                  <a:ea typeface="黑体" panose="02010609060101010101" pitchFamily="49" charset="-122"/>
                </a:rPr>
                <a:t>据</a:t>
              </a:r>
              <a:endParaRPr lang="zh-CN" altLang="en-US" sz="1800" b="1" dirty="0">
                <a:solidFill>
                  <a:schemeClr val="hlink"/>
                </a:solidFill>
                <a:ea typeface="黑体" panose="02010609060101010101" pitchFamily="49" charset="-122"/>
              </a:endParaRPr>
            </a:p>
          </p:txBody>
        </p:sp>
        <p:sp>
          <p:nvSpPr>
            <p:cNvPr id="125972" name="Text Box 20"/>
            <p:cNvSpPr txBox="1"/>
            <p:nvPr/>
          </p:nvSpPr>
          <p:spPr>
            <a:xfrm>
              <a:off x="4978" y="2539"/>
              <a:ext cx="183" cy="215"/>
            </a:xfrm>
            <a:prstGeom prst="rect">
              <a:avLst/>
            </a:prstGeom>
            <a:noFill/>
            <a:ln w="9525">
              <a:noFill/>
            </a:ln>
          </p:spPr>
          <p:txBody>
            <a:bodyPr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700" b="1" dirty="0">
                  <a:solidFill>
                    <a:srgbClr val="0000FF"/>
                  </a:solidFill>
                </a:rPr>
                <a:t>A</a:t>
              </a:r>
              <a:endParaRPr lang="en-US" altLang="zh-CN" sz="1700" b="1" dirty="0">
                <a:solidFill>
                  <a:srgbClr val="0000FF"/>
                </a:solidFill>
              </a:endParaRPr>
            </a:p>
          </p:txBody>
        </p:sp>
        <p:sp>
          <p:nvSpPr>
            <p:cNvPr id="125973" name="Text Box 21"/>
            <p:cNvSpPr txBox="1"/>
            <p:nvPr/>
          </p:nvSpPr>
          <p:spPr>
            <a:xfrm>
              <a:off x="4978" y="3710"/>
              <a:ext cx="522" cy="214"/>
            </a:xfrm>
            <a:prstGeom prst="rect">
              <a:avLst/>
            </a:prstGeom>
            <a:noFill/>
            <a:ln w="9525">
              <a:noFill/>
            </a:ln>
          </p:spPr>
          <p:txBody>
            <a:bodyPr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700" b="1" dirty="0">
                  <a:solidFill>
                    <a:srgbClr val="0000FF"/>
                  </a:solidFill>
                </a:rPr>
                <a:t>sum</a:t>
              </a:r>
              <a:endParaRPr lang="en-US" altLang="zh-CN" sz="1700" b="1" dirty="0">
                <a:solidFill>
                  <a:srgbClr val="0000FF"/>
                </a:solidFill>
              </a:endParaRPr>
            </a:p>
          </p:txBody>
        </p:sp>
        <p:sp>
          <p:nvSpPr>
            <p:cNvPr id="125974" name="Rectangle 22"/>
            <p:cNvSpPr/>
            <p:nvPr/>
          </p:nvSpPr>
          <p:spPr>
            <a:xfrm>
              <a:off x="4160" y="1962"/>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600" b="1" dirty="0">
                  <a:ea typeface="PMingLiU" pitchFamily="18" charset="-120"/>
                </a:rPr>
                <a:t>I</a:t>
              </a:r>
              <a:r>
                <a:rPr lang="en-US" altLang="zh-CN" sz="1600" b="1" dirty="0">
                  <a:ea typeface="PMingLiU" pitchFamily="18" charset="-120"/>
                </a:rPr>
                <a:t>34</a:t>
              </a:r>
              <a:endParaRPr lang="en-US" altLang="zh-TW" sz="1600" b="1" dirty="0">
                <a:ea typeface="PMingLiU" pitchFamily="18" charset="-120"/>
              </a:endParaRPr>
            </a:p>
          </p:txBody>
        </p:sp>
        <p:sp>
          <p:nvSpPr>
            <p:cNvPr id="125975" name="Rectangle 23"/>
            <p:cNvSpPr/>
            <p:nvPr/>
          </p:nvSpPr>
          <p:spPr>
            <a:xfrm>
              <a:off x="4160" y="2106"/>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600" b="1" dirty="0">
                  <a:ea typeface="PMingLiU" pitchFamily="18" charset="-120"/>
                </a:rPr>
                <a:t>I</a:t>
              </a:r>
              <a:r>
                <a:rPr lang="en-US" altLang="zh-CN" sz="1600" b="1" dirty="0">
                  <a:ea typeface="PMingLiU" pitchFamily="18" charset="-120"/>
                </a:rPr>
                <a:t>35</a:t>
              </a:r>
              <a:endParaRPr lang="en-US" altLang="zh-TW" sz="1600" b="1" dirty="0">
                <a:ea typeface="PMingLiU" pitchFamily="18" charset="-120"/>
              </a:endParaRPr>
            </a:p>
          </p:txBody>
        </p:sp>
        <p:sp>
          <p:nvSpPr>
            <p:cNvPr id="125976" name="Rectangle 24"/>
            <p:cNvSpPr/>
            <p:nvPr/>
          </p:nvSpPr>
          <p:spPr>
            <a:xfrm>
              <a:off x="4160" y="2587"/>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CN" sz="1600" b="1" dirty="0">
                  <a:ea typeface="PMingLiU" pitchFamily="18" charset="-120"/>
                </a:rPr>
                <a:t>A</a:t>
              </a:r>
              <a:r>
                <a:rPr lang="en-US" altLang="zh-TW" sz="1600" b="1" dirty="0">
                  <a:ea typeface="PMingLiU" pitchFamily="18" charset="-120"/>
                </a:rPr>
                <a:t>[0]</a:t>
              </a:r>
              <a:r>
                <a:rPr lang="en-US" altLang="zh-CN" sz="1600" b="1" dirty="0">
                  <a:ea typeface="PMingLiU" pitchFamily="18" charset="-120"/>
                </a:rPr>
                <a:t>[0]</a:t>
              </a:r>
              <a:endParaRPr lang="en-US" altLang="zh-TW" sz="1600" b="1" dirty="0">
                <a:ea typeface="PMingLiU" pitchFamily="18" charset="-120"/>
              </a:endParaRPr>
            </a:p>
          </p:txBody>
        </p:sp>
        <p:sp>
          <p:nvSpPr>
            <p:cNvPr id="125977" name="Rectangle 25"/>
            <p:cNvSpPr/>
            <p:nvPr/>
          </p:nvSpPr>
          <p:spPr>
            <a:xfrm>
              <a:off x="4160" y="2731"/>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600" b="1" dirty="0">
                  <a:ea typeface="PMingLiU" pitchFamily="18" charset="-120"/>
                </a:rPr>
                <a:t>A</a:t>
              </a:r>
              <a:r>
                <a:rPr lang="en-US" altLang="zh-CN" sz="1600" b="1" dirty="0">
                  <a:ea typeface="PMingLiU" pitchFamily="18" charset="-120"/>
                </a:rPr>
                <a:t>[0]</a:t>
              </a:r>
              <a:r>
                <a:rPr lang="en-US" altLang="zh-TW" sz="1600" b="1" dirty="0">
                  <a:ea typeface="PMingLiU" pitchFamily="18" charset="-120"/>
                </a:rPr>
                <a:t>[1]</a:t>
              </a:r>
              <a:endParaRPr lang="en-US" altLang="zh-TW" sz="1600" b="1" dirty="0">
                <a:ea typeface="PMingLiU" pitchFamily="18" charset="-120"/>
              </a:endParaRPr>
            </a:p>
          </p:txBody>
        </p:sp>
        <p:sp>
          <p:nvSpPr>
            <p:cNvPr id="125978" name="Rectangle 26"/>
            <p:cNvSpPr/>
            <p:nvPr/>
          </p:nvSpPr>
          <p:spPr>
            <a:xfrm>
              <a:off x="4160" y="2875"/>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800" b="1" dirty="0">
                  <a:latin typeface="Times New Roman" panose="02020603050405020304" pitchFamily="18" charset="0"/>
                  <a:ea typeface="华文新魏" pitchFamily="2" charset="-122"/>
                </a:rPr>
                <a:t>• • •</a:t>
              </a:r>
              <a:endParaRPr lang="en-US" altLang="zh-TW" sz="1800" b="1" dirty="0">
                <a:ea typeface="华文新魏" pitchFamily="2" charset="-122"/>
              </a:endParaRPr>
            </a:p>
          </p:txBody>
        </p:sp>
        <p:sp>
          <p:nvSpPr>
            <p:cNvPr id="125979" name="Rectangle 27"/>
            <p:cNvSpPr/>
            <p:nvPr/>
          </p:nvSpPr>
          <p:spPr>
            <a:xfrm>
              <a:off x="4160" y="3019"/>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600" b="1" dirty="0">
                  <a:ea typeface="PMingLiU" pitchFamily="18" charset="-120"/>
                </a:rPr>
                <a:t>A</a:t>
              </a:r>
              <a:r>
                <a:rPr lang="en-US" altLang="zh-CN" sz="1600" b="1" dirty="0">
                  <a:ea typeface="PMingLiU" pitchFamily="18" charset="-120"/>
                </a:rPr>
                <a:t>[0]</a:t>
              </a:r>
              <a:r>
                <a:rPr lang="en-US" altLang="zh-TW" sz="1600" b="1" dirty="0">
                  <a:ea typeface="PMingLiU" pitchFamily="18" charset="-120"/>
                </a:rPr>
                <a:t>[</a:t>
              </a:r>
              <a:r>
                <a:rPr lang="en-US" altLang="zh-CN" sz="1600" b="1" dirty="0">
                  <a:ea typeface="PMingLiU" pitchFamily="18" charset="-120"/>
                </a:rPr>
                <a:t>2047</a:t>
              </a:r>
              <a:r>
                <a:rPr lang="en-US" altLang="zh-TW" sz="1600" b="1" dirty="0">
                  <a:ea typeface="PMingLiU" pitchFamily="18" charset="-120"/>
                </a:rPr>
                <a:t>]</a:t>
              </a:r>
              <a:endParaRPr lang="en-US" altLang="zh-TW" sz="1600" b="1" dirty="0">
                <a:ea typeface="PMingLiU" pitchFamily="18" charset="-120"/>
              </a:endParaRPr>
            </a:p>
          </p:txBody>
        </p:sp>
        <p:sp>
          <p:nvSpPr>
            <p:cNvPr id="125980" name="Rectangle 28"/>
            <p:cNvSpPr/>
            <p:nvPr/>
          </p:nvSpPr>
          <p:spPr>
            <a:xfrm>
              <a:off x="4160" y="3163"/>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600" b="1" dirty="0">
                  <a:ea typeface="PMingLiU" pitchFamily="18" charset="-120"/>
                </a:rPr>
                <a:t>A</a:t>
              </a:r>
              <a:r>
                <a:rPr lang="en-US" altLang="zh-CN" sz="1600" b="1" dirty="0">
                  <a:ea typeface="PMingLiU" pitchFamily="18" charset="-120"/>
                </a:rPr>
                <a:t>[1]</a:t>
              </a:r>
              <a:r>
                <a:rPr lang="en-US" altLang="zh-TW" sz="1600" b="1" dirty="0">
                  <a:ea typeface="PMingLiU" pitchFamily="18" charset="-120"/>
                </a:rPr>
                <a:t>[</a:t>
              </a:r>
              <a:r>
                <a:rPr lang="en-US" altLang="zh-CN" sz="1600" b="1" dirty="0">
                  <a:ea typeface="PMingLiU" pitchFamily="18" charset="-120"/>
                </a:rPr>
                <a:t>0</a:t>
              </a:r>
              <a:r>
                <a:rPr lang="en-US" altLang="zh-TW" sz="1600" b="1" dirty="0">
                  <a:ea typeface="PMingLiU" pitchFamily="18" charset="-120"/>
                </a:rPr>
                <a:t>]</a:t>
              </a:r>
              <a:endParaRPr lang="en-US" altLang="zh-TW" sz="1600" b="1" dirty="0">
                <a:ea typeface="PMingLiU" pitchFamily="18" charset="-120"/>
              </a:endParaRPr>
            </a:p>
          </p:txBody>
        </p:sp>
        <p:sp>
          <p:nvSpPr>
            <p:cNvPr id="125981" name="Rectangle 29"/>
            <p:cNvSpPr/>
            <p:nvPr/>
          </p:nvSpPr>
          <p:spPr>
            <a:xfrm>
              <a:off x="4160" y="3307"/>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600" b="1" dirty="0">
                  <a:ea typeface="PMingLiU" pitchFamily="18" charset="-120"/>
                </a:rPr>
                <a:t>A</a:t>
              </a:r>
              <a:r>
                <a:rPr lang="en-US" altLang="zh-CN" sz="1600" b="1" dirty="0">
                  <a:ea typeface="PMingLiU" pitchFamily="18" charset="-120"/>
                </a:rPr>
                <a:t>[1]</a:t>
              </a:r>
              <a:r>
                <a:rPr lang="en-US" altLang="zh-TW" sz="1600" b="1" dirty="0">
                  <a:ea typeface="PMingLiU" pitchFamily="18" charset="-120"/>
                </a:rPr>
                <a:t>[</a:t>
              </a:r>
              <a:r>
                <a:rPr lang="en-US" altLang="zh-CN" sz="1600" b="1" dirty="0">
                  <a:ea typeface="PMingLiU" pitchFamily="18" charset="-120"/>
                </a:rPr>
                <a:t>1</a:t>
              </a:r>
              <a:r>
                <a:rPr lang="en-US" altLang="zh-TW" sz="1600" b="1" dirty="0">
                  <a:ea typeface="PMingLiU" pitchFamily="18" charset="-120"/>
                </a:rPr>
                <a:t>]</a:t>
              </a:r>
              <a:endParaRPr lang="en-US" altLang="zh-TW" sz="1600" b="1" dirty="0">
                <a:ea typeface="PMingLiU" pitchFamily="18" charset="-120"/>
              </a:endParaRPr>
            </a:p>
          </p:txBody>
        </p:sp>
        <p:sp>
          <p:nvSpPr>
            <p:cNvPr id="125982" name="Rectangle 30"/>
            <p:cNvSpPr/>
            <p:nvPr/>
          </p:nvSpPr>
          <p:spPr>
            <a:xfrm>
              <a:off x="4160" y="2250"/>
              <a:ext cx="818" cy="321"/>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ea typeface="PMingLiU" pitchFamily="18" charset="-120"/>
                </a:rPr>
                <a:t>• • •</a:t>
              </a:r>
              <a:endParaRPr lang="en-US" altLang="zh-TW" sz="1400" b="1" dirty="0">
                <a:ea typeface="PMingLiU" pitchFamily="18" charset="-120"/>
              </a:endParaRPr>
            </a:p>
          </p:txBody>
        </p:sp>
        <p:sp>
          <p:nvSpPr>
            <p:cNvPr id="125983" name="Rectangle 31"/>
            <p:cNvSpPr/>
            <p:nvPr/>
          </p:nvSpPr>
          <p:spPr>
            <a:xfrm>
              <a:off x="4160" y="3787"/>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endParaRPr lang="zh-CN" altLang="en-US" sz="1400" b="1" dirty="0">
                <a:latin typeface="Courier New" panose="02070309020205020404" pitchFamily="49" charset="0"/>
                <a:ea typeface="PMingLiU" pitchFamily="18" charset="-120"/>
              </a:endParaRPr>
            </a:p>
          </p:txBody>
        </p:sp>
        <p:sp>
          <p:nvSpPr>
            <p:cNvPr id="125984" name="Rectangle 32"/>
            <p:cNvSpPr/>
            <p:nvPr/>
          </p:nvSpPr>
          <p:spPr>
            <a:xfrm>
              <a:off x="4160" y="3451"/>
              <a:ext cx="818" cy="32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ea typeface="PMingLiU" pitchFamily="18" charset="-120"/>
                </a:rPr>
                <a:t>• • •</a:t>
              </a:r>
              <a:endParaRPr lang="en-US" altLang="zh-TW" sz="1400" b="1" dirty="0">
                <a:ea typeface="PMingLiU" pitchFamily="18" charset="-120"/>
              </a:endParaRPr>
            </a:p>
          </p:txBody>
        </p:sp>
        <p:sp>
          <p:nvSpPr>
            <p:cNvPr id="125985" name="Rectangle 33"/>
            <p:cNvSpPr/>
            <p:nvPr/>
          </p:nvSpPr>
          <p:spPr>
            <a:xfrm>
              <a:off x="4156" y="1209"/>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600" b="1" dirty="0">
                  <a:ea typeface="PMingLiU" pitchFamily="18" charset="-120"/>
                </a:rPr>
                <a:t>I</a:t>
              </a:r>
              <a:r>
                <a:rPr lang="en-US" altLang="zh-CN" sz="1600" b="1" dirty="0">
                  <a:ea typeface="PMingLiU" pitchFamily="18" charset="-120"/>
                </a:rPr>
                <a:t>1</a:t>
              </a:r>
              <a:endParaRPr lang="en-US" altLang="zh-TW" sz="1600" b="1" dirty="0">
                <a:ea typeface="PMingLiU" pitchFamily="18" charset="-120"/>
              </a:endParaRPr>
            </a:p>
          </p:txBody>
        </p:sp>
        <p:sp>
          <p:nvSpPr>
            <p:cNvPr id="125986" name="Rectangle 34"/>
            <p:cNvSpPr/>
            <p:nvPr/>
          </p:nvSpPr>
          <p:spPr>
            <a:xfrm>
              <a:off x="4156" y="1353"/>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600" b="1" dirty="0">
                  <a:ea typeface="PMingLiU" pitchFamily="18" charset="-120"/>
                </a:rPr>
                <a:t>I</a:t>
              </a:r>
              <a:r>
                <a:rPr lang="en-US" altLang="zh-CN" sz="1600" b="1" dirty="0">
                  <a:ea typeface="PMingLiU" pitchFamily="18" charset="-120"/>
                </a:rPr>
                <a:t>2</a:t>
              </a:r>
              <a:endParaRPr lang="en-US" altLang="zh-TW" sz="1600" b="1" dirty="0">
                <a:ea typeface="PMingLiU" pitchFamily="18" charset="-120"/>
              </a:endParaRPr>
            </a:p>
          </p:txBody>
        </p:sp>
        <p:sp>
          <p:nvSpPr>
            <p:cNvPr id="125987" name="Rectangle 35"/>
            <p:cNvSpPr/>
            <p:nvPr/>
          </p:nvSpPr>
          <p:spPr>
            <a:xfrm>
              <a:off x="4156" y="1834"/>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CN" sz="1600" b="1" dirty="0">
                  <a:ea typeface="PMingLiU" pitchFamily="18" charset="-120"/>
                </a:rPr>
                <a:t>I33</a:t>
              </a:r>
              <a:endParaRPr lang="en-US" altLang="zh-TW" sz="1600" b="1" dirty="0">
                <a:ea typeface="PMingLiU" pitchFamily="18" charset="-120"/>
              </a:endParaRPr>
            </a:p>
          </p:txBody>
        </p:sp>
        <p:sp>
          <p:nvSpPr>
            <p:cNvPr id="125988" name="Rectangle 36"/>
            <p:cNvSpPr/>
            <p:nvPr/>
          </p:nvSpPr>
          <p:spPr>
            <a:xfrm>
              <a:off x="4156" y="1497"/>
              <a:ext cx="818" cy="321"/>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ea typeface="PMingLiU" pitchFamily="18" charset="-120"/>
                </a:rPr>
                <a:t>• • •</a:t>
              </a:r>
              <a:endParaRPr lang="en-US" altLang="zh-TW" sz="1400" b="1" dirty="0">
                <a:ea typeface="PMingLiU" pitchFamily="18" charset="-120"/>
              </a:endParaRPr>
            </a:p>
          </p:txBody>
        </p:sp>
        <p:grpSp>
          <p:nvGrpSpPr>
            <p:cNvPr id="125989" name="Group 37"/>
            <p:cNvGrpSpPr/>
            <p:nvPr/>
          </p:nvGrpSpPr>
          <p:grpSpPr>
            <a:xfrm>
              <a:off x="5023" y="1497"/>
              <a:ext cx="202" cy="416"/>
              <a:chOff x="5023" y="1497"/>
              <a:chExt cx="202" cy="416"/>
            </a:xfrm>
          </p:grpSpPr>
          <p:sp>
            <p:nvSpPr>
              <p:cNvPr id="125991" name="Line 38"/>
              <p:cNvSpPr/>
              <p:nvPr/>
            </p:nvSpPr>
            <p:spPr>
              <a:xfrm>
                <a:off x="5023" y="1913"/>
                <a:ext cx="202" cy="0"/>
              </a:xfrm>
              <a:prstGeom prst="line">
                <a:avLst/>
              </a:prstGeom>
              <a:ln w="38100" cap="flat" cmpd="sng">
                <a:solidFill>
                  <a:srgbClr val="CC0000"/>
                </a:solidFill>
                <a:prstDash val="solid"/>
                <a:headEnd type="none" w="med" len="med"/>
                <a:tailEnd type="none" w="med" len="med"/>
              </a:ln>
            </p:spPr>
          </p:sp>
          <p:sp>
            <p:nvSpPr>
              <p:cNvPr id="125992" name="Line 39"/>
              <p:cNvSpPr/>
              <p:nvPr/>
            </p:nvSpPr>
            <p:spPr>
              <a:xfrm flipV="1">
                <a:off x="5225" y="1497"/>
                <a:ext cx="0" cy="416"/>
              </a:xfrm>
              <a:prstGeom prst="line">
                <a:avLst/>
              </a:prstGeom>
              <a:ln w="38100" cap="flat" cmpd="sng">
                <a:solidFill>
                  <a:srgbClr val="CC0000"/>
                </a:solidFill>
                <a:prstDash val="solid"/>
                <a:headEnd type="none" w="med" len="med"/>
                <a:tailEnd type="none" w="med" len="med"/>
              </a:ln>
            </p:spPr>
          </p:sp>
          <p:sp>
            <p:nvSpPr>
              <p:cNvPr id="125993" name="Line 40"/>
              <p:cNvSpPr/>
              <p:nvPr/>
            </p:nvSpPr>
            <p:spPr>
              <a:xfrm flipH="1">
                <a:off x="5023" y="1497"/>
                <a:ext cx="202" cy="0"/>
              </a:xfrm>
              <a:prstGeom prst="line">
                <a:avLst/>
              </a:prstGeom>
              <a:ln w="38100" cap="flat" cmpd="sng">
                <a:solidFill>
                  <a:srgbClr val="CC0000"/>
                </a:solidFill>
                <a:prstDash val="solid"/>
                <a:headEnd type="none" w="med" len="med"/>
                <a:tailEnd type="triangle" w="med" len="med"/>
              </a:ln>
            </p:spPr>
          </p:sp>
        </p:grpSp>
        <p:sp>
          <p:nvSpPr>
            <p:cNvPr id="125990" name="Text Box 41"/>
            <p:cNvSpPr txBox="1"/>
            <p:nvPr/>
          </p:nvSpPr>
          <p:spPr>
            <a:xfrm>
              <a:off x="3560" y="1581"/>
              <a:ext cx="709" cy="169"/>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CC0000"/>
                  </a:solidFill>
                  <a:cs typeface="Arial" panose="020B0604020202020204" pitchFamily="34" charset="0"/>
                </a:rPr>
                <a:t>fo</a:t>
              </a:r>
              <a:r>
                <a:rPr lang="en-US" altLang="zh-CN" sz="1800" b="1" dirty="0">
                  <a:solidFill>
                    <a:srgbClr val="CC0000"/>
                  </a:solidFill>
                  <a:cs typeface="Arial" panose="020B0604020202020204" pitchFamily="34" charset="0"/>
                </a:rPr>
                <a:t>r</a:t>
              </a:r>
              <a:r>
                <a:rPr lang="zh-CN" altLang="en-US" sz="1800" b="1" dirty="0">
                  <a:solidFill>
                    <a:srgbClr val="CC0000"/>
                  </a:solidFill>
                  <a:ea typeface="黑体" panose="02010609060101010101" pitchFamily="49" charset="-122"/>
                </a:rPr>
                <a:t>循环体</a:t>
              </a:r>
              <a:endParaRPr lang="zh-CN" altLang="en-US" sz="1800" b="1" dirty="0">
                <a:solidFill>
                  <a:srgbClr val="CC0000"/>
                </a:solidFill>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2039"/>
                                        </p:tgtEl>
                                        <p:attrNameLst>
                                          <p:attrName>style.visibility</p:attrName>
                                        </p:attrNameLst>
                                      </p:cBhvr>
                                      <p:to>
                                        <p:strVal val="visible"/>
                                      </p:to>
                                    </p:set>
                                    <p:animEffect transition="in" filter="blinds(horizontal)">
                                      <p:cBhvr>
                                        <p:cTn id="7" dur="500"/>
                                        <p:tgtEl>
                                          <p:spTgt spid="1720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2038"/>
                                        </p:tgtEl>
                                        <p:attrNameLst>
                                          <p:attrName>style.visibility</p:attrName>
                                        </p:attrNameLst>
                                      </p:cBhvr>
                                      <p:to>
                                        <p:strVal val="visible"/>
                                      </p:to>
                                    </p:set>
                                    <p:animEffect transition="in" filter="blinds(horizontal)">
                                      <p:cBhvr>
                                        <p:cTn id="12" dur="500"/>
                                        <p:tgtEl>
                                          <p:spTgt spid="17203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2036"/>
                                        </p:tgtEl>
                                        <p:attrNameLst>
                                          <p:attrName>style.visibility</p:attrName>
                                        </p:attrNameLst>
                                      </p:cBhvr>
                                      <p:to>
                                        <p:strVal val="visible"/>
                                      </p:to>
                                    </p:set>
                                    <p:animEffect transition="in" filter="blinds(horizontal)">
                                      <p:cBhvr>
                                        <p:cTn id="17" dur="500"/>
                                        <p:tgtEl>
                                          <p:spTgt spid="17203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2040"/>
                                        </p:tgtEl>
                                        <p:attrNameLst>
                                          <p:attrName>style.visibility</p:attrName>
                                        </p:attrNameLst>
                                      </p:cBhvr>
                                      <p:to>
                                        <p:strVal val="visible"/>
                                      </p:to>
                                    </p:set>
                                    <p:animEffect transition="in" filter="blinds(horizontal)">
                                      <p:cBhvr>
                                        <p:cTn id="22" dur="500"/>
                                        <p:tgtEl>
                                          <p:spTgt spid="17204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6" grpId="0"/>
      <p:bldP spid="172038" grpId="0" animBg="1"/>
      <p:bldP spid="172039" grpId="0" animBg="1"/>
      <p:bldP spid="172040"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Rectangle 2"/>
          <p:cNvSpPr>
            <a:spLocks noGrp="1"/>
          </p:cNvSpPr>
          <p:nvPr>
            <p:ph type="title"/>
          </p:nvPr>
        </p:nvSpPr>
        <p:spPr>
          <a:xfrm>
            <a:off x="457200" y="44450"/>
            <a:ext cx="8229600" cy="1371600"/>
          </a:xfrm>
        </p:spPr>
        <p:txBody>
          <a:bodyPr vert="horz" wrap="square" lIns="91440" tIns="45720" rIns="91440" bIns="45720" anchor="ctr" anchorCtr="0"/>
          <a:p>
            <a:r>
              <a:rPr lang="zh-CN" altLang="en-US" dirty="0"/>
              <a:t>程序的局部性原理举例</a:t>
            </a:r>
            <a:r>
              <a:rPr lang="en-US" altLang="zh-CN" dirty="0"/>
              <a:t>2</a:t>
            </a:r>
            <a:endParaRPr lang="en-US" altLang="zh-CN" dirty="0"/>
          </a:p>
        </p:txBody>
      </p:sp>
      <p:sp>
        <p:nvSpPr>
          <p:cNvPr id="173059" name="Rectangle 3"/>
          <p:cNvSpPr>
            <a:spLocks noGrp="1"/>
          </p:cNvSpPr>
          <p:nvPr>
            <p:ph idx="1"/>
          </p:nvPr>
        </p:nvSpPr>
        <p:spPr>
          <a:xfrm>
            <a:off x="71438" y="1089025"/>
            <a:ext cx="6156325" cy="5267325"/>
          </a:xfrm>
        </p:spPr>
        <p:txBody>
          <a:bodyPr vert="horz" wrap="square" lIns="91440" tIns="45720" rIns="91440" bIns="45720" anchor="t" anchorCtr="0"/>
          <a:p>
            <a:pPr>
              <a:lnSpc>
                <a:spcPct val="110000"/>
              </a:lnSpc>
              <a:buNone/>
            </a:pPr>
            <a:r>
              <a:rPr lang="zh-CN" altLang="en-US" sz="2000" dirty="0">
                <a:solidFill>
                  <a:srgbClr val="CC0000"/>
                </a:solidFill>
                <a:ea typeface="黑体" panose="02010609060101010101" pitchFamily="49" charset="-122"/>
              </a:rPr>
              <a:t>程序段</a:t>
            </a:r>
            <a:r>
              <a:rPr lang="en-US" altLang="zh-CN" sz="2000" dirty="0">
                <a:solidFill>
                  <a:srgbClr val="CC0000"/>
                </a:solidFill>
                <a:ea typeface="黑体" panose="02010609060101010101" pitchFamily="49" charset="-122"/>
              </a:rPr>
              <a:t>A</a:t>
            </a:r>
            <a:r>
              <a:rPr lang="zh-CN" altLang="en-US" sz="2000" dirty="0">
                <a:solidFill>
                  <a:srgbClr val="CC0000"/>
                </a:solidFill>
                <a:ea typeface="黑体" panose="02010609060101010101" pitchFamily="49" charset="-122"/>
              </a:rPr>
              <a:t>的时间局部性和空间局部性分析</a:t>
            </a:r>
            <a:endParaRPr lang="en-US" altLang="zh-CN" sz="2000" dirty="0">
              <a:solidFill>
                <a:srgbClr val="CC0000"/>
              </a:solidFill>
              <a:ea typeface="黑体" panose="02010609060101010101" pitchFamily="49" charset="-122"/>
            </a:endParaRPr>
          </a:p>
          <a:p>
            <a:pPr>
              <a:lnSpc>
                <a:spcPct val="120000"/>
              </a:lnSpc>
              <a:buNone/>
            </a:pPr>
            <a:r>
              <a:rPr lang="zh-CN" altLang="en-US" sz="2000" dirty="0">
                <a:ea typeface="黑体" panose="02010609060101010101" pitchFamily="49" charset="-122"/>
              </a:rPr>
              <a:t>（</a:t>
            </a:r>
            <a:r>
              <a:rPr lang="en-US" altLang="zh-CN" sz="2000" dirty="0">
                <a:ea typeface="黑体" panose="02010609060101010101" pitchFamily="49" charset="-122"/>
              </a:rPr>
              <a:t>1</a:t>
            </a:r>
            <a:r>
              <a:rPr lang="zh-CN" altLang="en-US" sz="2000" dirty="0">
                <a:ea typeface="黑体" panose="02010609060101010101" pitchFamily="49" charset="-122"/>
              </a:rPr>
              <a:t>）</a:t>
            </a:r>
            <a:r>
              <a:rPr lang="zh-CN" altLang="en-US" sz="2000" dirty="0">
                <a:solidFill>
                  <a:srgbClr val="0000FF"/>
                </a:solidFill>
                <a:ea typeface="黑体" panose="02010609060101010101" pitchFamily="49" charset="-122"/>
              </a:rPr>
              <a:t>数组</a:t>
            </a:r>
            <a:r>
              <a:rPr lang="en-US" altLang="zh-CN" sz="2000" dirty="0">
                <a:solidFill>
                  <a:srgbClr val="0000FF"/>
                </a:solidFill>
                <a:ea typeface="黑体" panose="02010609060101010101" pitchFamily="49" charset="-122"/>
              </a:rPr>
              <a:t>A</a:t>
            </a:r>
            <a:r>
              <a:rPr lang="zh-CN" altLang="en-US" sz="2000" dirty="0">
                <a:solidFill>
                  <a:srgbClr val="0000FF"/>
                </a:solidFill>
                <a:ea typeface="黑体" panose="02010609060101010101" pitchFamily="49" charset="-122"/>
              </a:rPr>
              <a:t>：</a:t>
            </a:r>
            <a:r>
              <a:rPr lang="zh-CN" altLang="en-US" sz="2000" dirty="0">
                <a:ea typeface="黑体" panose="02010609060101010101" pitchFamily="49" charset="-122"/>
              </a:rPr>
              <a:t>访问顺序为</a:t>
            </a:r>
            <a:r>
              <a:rPr lang="en-US" altLang="zh-CN" sz="2000" dirty="0">
                <a:ea typeface="黑体" panose="02010609060101010101" pitchFamily="49" charset="-122"/>
              </a:rPr>
              <a:t>A[0][0], A[0][1] ,……,  A[0][2047]; A[1][0], A[1][1],…… ,A[1][2047];</a:t>
            </a:r>
            <a:endParaRPr lang="en-US" altLang="zh-CN" sz="2000" dirty="0">
              <a:ea typeface="黑体" panose="02010609060101010101" pitchFamily="49" charset="-122"/>
            </a:endParaRPr>
          </a:p>
          <a:p>
            <a:pPr>
              <a:lnSpc>
                <a:spcPct val="120000"/>
              </a:lnSpc>
              <a:buNone/>
            </a:pPr>
            <a:r>
              <a:rPr lang="en-US" altLang="zh-CN" sz="2000" dirty="0">
                <a:ea typeface="黑体" panose="02010609060101010101" pitchFamily="49" charset="-122"/>
              </a:rPr>
              <a:t>    ……</a:t>
            </a:r>
            <a:r>
              <a:rPr lang="zh-CN" altLang="en-US" sz="2000" dirty="0">
                <a:ea typeface="黑体" panose="02010609060101010101" pitchFamily="49" charset="-122"/>
              </a:rPr>
              <a:t>，与存放顺序一致，故空间局部性好！</a:t>
            </a:r>
            <a:endParaRPr lang="en-US" altLang="zh-CN" sz="2000" dirty="0">
              <a:ea typeface="黑体" panose="02010609060101010101" pitchFamily="49" charset="-122"/>
            </a:endParaRPr>
          </a:p>
          <a:p>
            <a:pPr>
              <a:lnSpc>
                <a:spcPct val="120000"/>
              </a:lnSpc>
              <a:buNone/>
            </a:pPr>
            <a:r>
              <a:rPr lang="en-US" altLang="zh-CN" sz="2000" dirty="0">
                <a:ea typeface="黑体" panose="02010609060101010101" pitchFamily="49" charset="-122"/>
              </a:rPr>
              <a:t>     </a:t>
            </a:r>
            <a:r>
              <a:rPr lang="zh-CN" altLang="en-US" sz="2000" dirty="0">
                <a:ea typeface="黑体" panose="02010609060101010101" pitchFamily="49" charset="-122"/>
              </a:rPr>
              <a:t>因为每个</a:t>
            </a:r>
            <a:r>
              <a:rPr lang="en-US" altLang="zh-CN" sz="2000" dirty="0">
                <a:ea typeface="黑体" panose="02010609060101010101" pitchFamily="49" charset="-122"/>
              </a:rPr>
              <a:t>A[i][j]</a:t>
            </a:r>
            <a:r>
              <a:rPr lang="zh-CN" altLang="en-US" sz="2000" dirty="0">
                <a:ea typeface="黑体" panose="02010609060101010101" pitchFamily="49" charset="-122"/>
              </a:rPr>
              <a:t>只被访问一次，故时间局部性差！</a:t>
            </a:r>
            <a:r>
              <a:rPr lang="en-US" altLang="zh-CN" sz="2000" dirty="0">
                <a:ea typeface="黑体" panose="02010609060101010101" pitchFamily="49" charset="-122"/>
              </a:rPr>
              <a:t> </a:t>
            </a:r>
            <a:endParaRPr lang="en-US" altLang="zh-CN" sz="2000" dirty="0">
              <a:ea typeface="黑体" panose="02010609060101010101" pitchFamily="49" charset="-122"/>
            </a:endParaRPr>
          </a:p>
          <a:p>
            <a:pPr>
              <a:lnSpc>
                <a:spcPct val="120000"/>
              </a:lnSpc>
              <a:buNone/>
            </a:pPr>
            <a:r>
              <a:rPr lang="zh-CN" altLang="en-US" sz="2000" dirty="0">
                <a:ea typeface="黑体" panose="02010609060101010101" pitchFamily="49" charset="-122"/>
              </a:rPr>
              <a:t>（</a:t>
            </a:r>
            <a:r>
              <a:rPr lang="en-US" altLang="zh-CN" sz="2000" dirty="0">
                <a:ea typeface="黑体" panose="02010609060101010101" pitchFamily="49" charset="-122"/>
              </a:rPr>
              <a:t>2</a:t>
            </a:r>
            <a:r>
              <a:rPr lang="zh-CN" altLang="en-US" sz="2000" dirty="0">
                <a:ea typeface="黑体" panose="02010609060101010101" pitchFamily="49" charset="-122"/>
              </a:rPr>
              <a:t>）</a:t>
            </a:r>
            <a:r>
              <a:rPr lang="zh-CN" altLang="en-US" sz="2000" dirty="0">
                <a:solidFill>
                  <a:srgbClr val="0000FF"/>
                </a:solidFill>
                <a:ea typeface="黑体" panose="02010609060101010101" pitchFamily="49" charset="-122"/>
              </a:rPr>
              <a:t>变量</a:t>
            </a:r>
            <a:r>
              <a:rPr lang="en-US" altLang="zh-CN" sz="2000" dirty="0">
                <a:solidFill>
                  <a:srgbClr val="0000FF"/>
                </a:solidFill>
                <a:ea typeface="黑体" panose="02010609060101010101" pitchFamily="49" charset="-122"/>
              </a:rPr>
              <a:t>sum</a:t>
            </a:r>
            <a:r>
              <a:rPr lang="zh-CN" altLang="en-US" sz="2000" dirty="0">
                <a:solidFill>
                  <a:srgbClr val="0000FF"/>
                </a:solidFill>
                <a:ea typeface="黑体" panose="02010609060101010101" pitchFamily="49" charset="-122"/>
              </a:rPr>
              <a:t>：</a:t>
            </a:r>
            <a:r>
              <a:rPr lang="zh-CN" altLang="en-US" sz="2000" dirty="0">
                <a:ea typeface="黑体" panose="02010609060101010101" pitchFamily="49" charset="-122"/>
              </a:rPr>
              <a:t>单个变量不考虑空间局部性；每次循环都要访问</a:t>
            </a:r>
            <a:r>
              <a:rPr lang="en-US" altLang="zh-CN" sz="2000" dirty="0">
                <a:ea typeface="黑体" panose="02010609060101010101" pitchFamily="49" charset="-122"/>
              </a:rPr>
              <a:t>sum</a:t>
            </a:r>
            <a:r>
              <a:rPr lang="zh-CN" altLang="en-US" sz="2000" dirty="0">
                <a:ea typeface="黑体" panose="02010609060101010101" pitchFamily="49" charset="-122"/>
              </a:rPr>
              <a:t>，所以其时间局部性较好！</a:t>
            </a:r>
            <a:endParaRPr lang="en-US" altLang="zh-CN" sz="2000" dirty="0">
              <a:ea typeface="黑体" panose="02010609060101010101" pitchFamily="49" charset="-122"/>
            </a:endParaRPr>
          </a:p>
          <a:p>
            <a:pPr>
              <a:lnSpc>
                <a:spcPct val="120000"/>
              </a:lnSpc>
              <a:buNone/>
            </a:pPr>
            <a:r>
              <a:rPr lang="zh-CN" altLang="en-US" sz="2000" dirty="0">
                <a:ea typeface="黑体" panose="02010609060101010101" pitchFamily="49" charset="-122"/>
              </a:rPr>
              <a:t>（</a:t>
            </a:r>
            <a:r>
              <a:rPr lang="en-US" altLang="zh-CN" sz="2000" dirty="0">
                <a:ea typeface="黑体" panose="02010609060101010101" pitchFamily="49" charset="-122"/>
              </a:rPr>
              <a:t>3</a:t>
            </a:r>
            <a:r>
              <a:rPr lang="zh-CN" altLang="en-US" sz="2000" dirty="0">
                <a:ea typeface="黑体" panose="02010609060101010101" pitchFamily="49" charset="-122"/>
              </a:rPr>
              <a:t>）</a:t>
            </a:r>
            <a:r>
              <a:rPr lang="en-US" altLang="zh-CN" sz="2000" dirty="0">
                <a:ea typeface="黑体" panose="02010609060101010101" pitchFamily="49" charset="-122"/>
              </a:rPr>
              <a:t> </a:t>
            </a:r>
            <a:r>
              <a:rPr lang="en-US" altLang="zh-CN" sz="2000" dirty="0">
                <a:solidFill>
                  <a:srgbClr val="0000FF"/>
                </a:solidFill>
                <a:ea typeface="黑体" panose="02010609060101010101" pitchFamily="49" charset="-122"/>
              </a:rPr>
              <a:t>for</a:t>
            </a:r>
            <a:r>
              <a:rPr lang="zh-CN" altLang="en-US" sz="2000" dirty="0">
                <a:solidFill>
                  <a:srgbClr val="0000FF"/>
                </a:solidFill>
                <a:ea typeface="黑体" panose="02010609060101010101" pitchFamily="49" charset="-122"/>
              </a:rPr>
              <a:t>循环体：</a:t>
            </a:r>
            <a:r>
              <a:rPr lang="zh-CN" altLang="en-US" sz="2000" dirty="0">
                <a:ea typeface="黑体" panose="02010609060101010101" pitchFamily="49" charset="-122"/>
              </a:rPr>
              <a:t>循环体内指令按序连续存放，所以空间局部性好！</a:t>
            </a:r>
            <a:r>
              <a:rPr lang="en-US" altLang="zh-CN" sz="2000" dirty="0">
                <a:ea typeface="黑体" panose="02010609060101010101" pitchFamily="49" charset="-122"/>
              </a:rPr>
              <a:t>  </a:t>
            </a:r>
            <a:endParaRPr lang="en-US" altLang="zh-CN" sz="2000" dirty="0">
              <a:ea typeface="黑体" panose="02010609060101010101" pitchFamily="49" charset="-122"/>
            </a:endParaRPr>
          </a:p>
          <a:p>
            <a:pPr>
              <a:lnSpc>
                <a:spcPct val="120000"/>
              </a:lnSpc>
              <a:buNone/>
            </a:pPr>
            <a:r>
              <a:rPr lang="en-US" altLang="zh-CN" sz="2000" dirty="0">
                <a:ea typeface="黑体" panose="02010609060101010101" pitchFamily="49" charset="-122"/>
              </a:rPr>
              <a:t>     </a:t>
            </a:r>
            <a:r>
              <a:rPr lang="zh-CN" altLang="en-US" sz="2000" dirty="0">
                <a:ea typeface="黑体" panose="02010609060101010101" pitchFamily="49" charset="-122"/>
              </a:rPr>
              <a:t>循环体被连续重复执行</a:t>
            </a:r>
            <a:r>
              <a:rPr lang="en-US" altLang="zh-CN" sz="2000" dirty="0">
                <a:ea typeface="黑体" panose="02010609060101010101" pitchFamily="49" charset="-122"/>
              </a:rPr>
              <a:t>2048x2048</a:t>
            </a:r>
            <a:r>
              <a:rPr lang="zh-CN" altLang="en-US" sz="2000" dirty="0">
                <a:ea typeface="黑体" panose="02010609060101010101" pitchFamily="49" charset="-122"/>
              </a:rPr>
              <a:t>次，所以时间局部性好！</a:t>
            </a:r>
            <a:endParaRPr lang="zh-CN" altLang="en-US" sz="2000" dirty="0">
              <a:ea typeface="黑体" panose="02010609060101010101" pitchFamily="49" charset="-122"/>
            </a:endParaRPr>
          </a:p>
        </p:txBody>
      </p:sp>
      <p:sp>
        <p:nvSpPr>
          <p:cNvPr id="126980" name="Text Box 4"/>
          <p:cNvSpPr txBox="1"/>
          <p:nvPr/>
        </p:nvSpPr>
        <p:spPr>
          <a:xfrm>
            <a:off x="304800" y="6170613"/>
            <a:ext cx="7507288" cy="274637"/>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sz="1800" b="1" i="1" dirty="0">
              <a:solidFill>
                <a:srgbClr val="666699"/>
              </a:solidFill>
              <a:ea typeface="华文新魏" pitchFamily="2" charset="-122"/>
            </a:endParaRPr>
          </a:p>
        </p:txBody>
      </p:sp>
      <p:grpSp>
        <p:nvGrpSpPr>
          <p:cNvPr id="126981" name="Group 5"/>
          <p:cNvGrpSpPr/>
          <p:nvPr/>
        </p:nvGrpSpPr>
        <p:grpSpPr>
          <a:xfrm>
            <a:off x="6011863" y="908050"/>
            <a:ext cx="3151187" cy="4338638"/>
            <a:chOff x="3560" y="1196"/>
            <a:chExt cx="1985" cy="2733"/>
          </a:xfrm>
        </p:grpSpPr>
        <p:sp>
          <p:nvSpPr>
            <p:cNvPr id="126983" name="Rectangle 6"/>
            <p:cNvSpPr/>
            <p:nvPr/>
          </p:nvSpPr>
          <p:spPr>
            <a:xfrm>
              <a:off x="3709" y="1318"/>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0x100</a:t>
              </a:r>
              <a:endParaRPr lang="en-US" altLang="zh-TW" sz="1400" b="1" dirty="0">
                <a:latin typeface="Courier New" panose="02070309020205020404" pitchFamily="49" charset="0"/>
                <a:ea typeface="PMingLiU" pitchFamily="18" charset="-120"/>
              </a:endParaRPr>
            </a:p>
          </p:txBody>
        </p:sp>
        <p:sp>
          <p:nvSpPr>
            <p:cNvPr id="126984" name="Rectangle 7"/>
            <p:cNvSpPr/>
            <p:nvPr/>
          </p:nvSpPr>
          <p:spPr>
            <a:xfrm>
              <a:off x="3702" y="1769"/>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0x1</a:t>
              </a:r>
              <a:r>
                <a:rPr lang="en-US" altLang="zh-CN" sz="1400" b="1" dirty="0">
                  <a:latin typeface="Courier New" panose="02070309020205020404" pitchFamily="49" charset="0"/>
                  <a:ea typeface="PMingLiU" pitchFamily="18" charset="-120"/>
                </a:rPr>
                <a:t>7</a:t>
              </a:r>
              <a:r>
                <a:rPr lang="en-US" altLang="zh-TW" sz="1400" b="1" dirty="0">
                  <a:latin typeface="Courier New" panose="02070309020205020404" pitchFamily="49" charset="0"/>
                  <a:ea typeface="PMingLiU" pitchFamily="18" charset="-120"/>
                </a:rPr>
                <a:t>C</a:t>
              </a:r>
              <a:endParaRPr lang="en-US" altLang="zh-TW" sz="1400" b="1" dirty="0">
                <a:latin typeface="Courier New" panose="02070309020205020404" pitchFamily="49" charset="0"/>
                <a:ea typeface="PMingLiU" pitchFamily="18" charset="-120"/>
              </a:endParaRPr>
            </a:p>
          </p:txBody>
        </p:sp>
        <p:sp>
          <p:nvSpPr>
            <p:cNvPr id="126985" name="Rectangle 8"/>
            <p:cNvSpPr/>
            <p:nvPr/>
          </p:nvSpPr>
          <p:spPr>
            <a:xfrm>
              <a:off x="3702" y="1913"/>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0x1</a:t>
              </a:r>
              <a:r>
                <a:rPr lang="en-US" altLang="zh-CN" sz="1400" b="1" dirty="0">
                  <a:latin typeface="Courier New" panose="02070309020205020404" pitchFamily="49" charset="0"/>
                  <a:ea typeface="PMingLiU" pitchFamily="18" charset="-120"/>
                </a:rPr>
                <a:t>8</a:t>
              </a:r>
              <a:r>
                <a:rPr lang="en-US" altLang="zh-TW" sz="1400" b="1" dirty="0">
                  <a:latin typeface="Courier New" panose="02070309020205020404" pitchFamily="49" charset="0"/>
                  <a:ea typeface="PMingLiU" pitchFamily="18" charset="-120"/>
                </a:rPr>
                <a:t>0</a:t>
              </a:r>
              <a:endParaRPr lang="en-US" altLang="zh-TW" sz="1400" b="1" dirty="0">
                <a:latin typeface="Courier New" panose="02070309020205020404" pitchFamily="49" charset="0"/>
                <a:ea typeface="PMingLiU" pitchFamily="18" charset="-120"/>
              </a:endParaRPr>
            </a:p>
          </p:txBody>
        </p:sp>
        <p:sp>
          <p:nvSpPr>
            <p:cNvPr id="126986" name="Rectangle 9"/>
            <p:cNvSpPr/>
            <p:nvPr/>
          </p:nvSpPr>
          <p:spPr>
            <a:xfrm>
              <a:off x="3702" y="2057"/>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0x1</a:t>
              </a:r>
              <a:r>
                <a:rPr lang="en-US" altLang="zh-CN" sz="1400" b="1" dirty="0">
                  <a:latin typeface="Courier New" panose="02070309020205020404" pitchFamily="49" charset="0"/>
                  <a:ea typeface="PMingLiU" pitchFamily="18" charset="-120"/>
                </a:rPr>
                <a:t>8</a:t>
              </a:r>
              <a:r>
                <a:rPr lang="en-US" altLang="zh-TW" sz="1400" b="1" dirty="0">
                  <a:latin typeface="Courier New" panose="02070309020205020404" pitchFamily="49" charset="0"/>
                  <a:ea typeface="PMingLiU" pitchFamily="18" charset="-120"/>
                </a:rPr>
                <a:t>4</a:t>
              </a:r>
              <a:endParaRPr lang="en-US" altLang="zh-TW" sz="1400" b="1" dirty="0">
                <a:latin typeface="Courier New" panose="02070309020205020404" pitchFamily="49" charset="0"/>
                <a:ea typeface="PMingLiU" pitchFamily="18" charset="-120"/>
              </a:endParaRPr>
            </a:p>
          </p:txBody>
        </p:sp>
        <p:sp>
          <p:nvSpPr>
            <p:cNvPr id="126987" name="Rectangle 10"/>
            <p:cNvSpPr/>
            <p:nvPr/>
          </p:nvSpPr>
          <p:spPr>
            <a:xfrm>
              <a:off x="3702" y="2538"/>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0x400</a:t>
              </a:r>
              <a:endParaRPr lang="en-US" altLang="zh-TW" sz="1400" b="1" dirty="0">
                <a:latin typeface="Courier New" panose="02070309020205020404" pitchFamily="49" charset="0"/>
                <a:ea typeface="PMingLiU" pitchFamily="18" charset="-120"/>
              </a:endParaRPr>
            </a:p>
          </p:txBody>
        </p:sp>
        <p:sp>
          <p:nvSpPr>
            <p:cNvPr id="126988" name="Rectangle 11"/>
            <p:cNvSpPr/>
            <p:nvPr/>
          </p:nvSpPr>
          <p:spPr>
            <a:xfrm>
              <a:off x="3702" y="2682"/>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0x404</a:t>
              </a:r>
              <a:endParaRPr lang="en-US" altLang="zh-TW" sz="1400" b="1" dirty="0">
                <a:latin typeface="Courier New" panose="02070309020205020404" pitchFamily="49" charset="0"/>
                <a:ea typeface="PMingLiU" pitchFamily="18" charset="-120"/>
              </a:endParaRPr>
            </a:p>
          </p:txBody>
        </p:sp>
        <p:sp>
          <p:nvSpPr>
            <p:cNvPr id="126989" name="Rectangle 12"/>
            <p:cNvSpPr/>
            <p:nvPr/>
          </p:nvSpPr>
          <p:spPr>
            <a:xfrm>
              <a:off x="3702" y="3114"/>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a:t>
              </a:r>
              <a:r>
                <a:rPr lang="en-US" altLang="zh-CN" sz="1400" b="1" dirty="0">
                  <a:latin typeface="Courier New" panose="02070309020205020404" pitchFamily="49" charset="0"/>
                  <a:ea typeface="PMingLiU" pitchFamily="18" charset="-120"/>
                </a:rPr>
                <a:t>c0</a:t>
              </a:r>
              <a:r>
                <a:rPr lang="en-US" altLang="zh-TW" sz="1400" b="1" dirty="0">
                  <a:latin typeface="Courier New" panose="02070309020205020404" pitchFamily="49" charset="0"/>
                  <a:ea typeface="PMingLiU" pitchFamily="18" charset="-120"/>
                </a:rPr>
                <a:t>0</a:t>
              </a:r>
              <a:endParaRPr lang="en-US" altLang="zh-TW" sz="1400" b="1" dirty="0">
                <a:latin typeface="Courier New" panose="02070309020205020404" pitchFamily="49" charset="0"/>
                <a:ea typeface="PMingLiU" pitchFamily="18" charset="-120"/>
              </a:endParaRPr>
            </a:p>
          </p:txBody>
        </p:sp>
        <p:sp>
          <p:nvSpPr>
            <p:cNvPr id="126990" name="Rectangle 13"/>
            <p:cNvSpPr/>
            <p:nvPr/>
          </p:nvSpPr>
          <p:spPr>
            <a:xfrm>
              <a:off x="3702" y="3258"/>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a:t>
              </a:r>
              <a:r>
                <a:rPr lang="en-US" altLang="zh-CN" sz="1400" b="1" dirty="0">
                  <a:latin typeface="Courier New" panose="02070309020205020404" pitchFamily="49" charset="0"/>
                  <a:ea typeface="PMingLiU" pitchFamily="18" charset="-120"/>
                </a:rPr>
                <a:t>c0</a:t>
              </a:r>
              <a:r>
                <a:rPr lang="en-US" altLang="zh-TW" sz="1400" b="1" dirty="0">
                  <a:latin typeface="Courier New" panose="02070309020205020404" pitchFamily="49" charset="0"/>
                  <a:ea typeface="PMingLiU" pitchFamily="18" charset="-120"/>
                </a:rPr>
                <a:t>4</a:t>
              </a:r>
              <a:endParaRPr lang="en-US" altLang="zh-TW" sz="1400" b="1" dirty="0">
                <a:latin typeface="Courier New" panose="02070309020205020404" pitchFamily="49" charset="0"/>
                <a:ea typeface="PMingLiU" pitchFamily="18" charset="-120"/>
              </a:endParaRPr>
            </a:p>
          </p:txBody>
        </p:sp>
        <p:sp>
          <p:nvSpPr>
            <p:cNvPr id="126991" name="Rectangle 14"/>
            <p:cNvSpPr/>
            <p:nvPr/>
          </p:nvSpPr>
          <p:spPr>
            <a:xfrm>
              <a:off x="3709" y="1196"/>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0x0FC</a:t>
              </a:r>
              <a:endParaRPr lang="en-US" altLang="zh-TW" sz="1400" b="1" dirty="0">
                <a:latin typeface="Courier New" panose="02070309020205020404" pitchFamily="49" charset="0"/>
                <a:ea typeface="PMingLiU" pitchFamily="18" charset="-120"/>
              </a:endParaRPr>
            </a:p>
          </p:txBody>
        </p:sp>
        <p:sp>
          <p:nvSpPr>
            <p:cNvPr id="126992" name="Text Box 15"/>
            <p:cNvSpPr txBox="1"/>
            <p:nvPr/>
          </p:nvSpPr>
          <p:spPr>
            <a:xfrm>
              <a:off x="5258" y="1443"/>
              <a:ext cx="287" cy="2291"/>
            </a:xfrm>
            <a:prstGeom prst="rect">
              <a:avLst/>
            </a:prstGeom>
            <a:noFill/>
            <a:ln w="9525">
              <a:noFill/>
            </a:ln>
          </p:spPr>
          <p:txBody>
            <a:bodyPr vert="eaVert"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chemeClr val="hlink"/>
                  </a:solidFill>
                  <a:ea typeface="黑体" panose="02010609060101010101" pitchFamily="49" charset="-122"/>
                </a:rPr>
                <a:t>指</a:t>
              </a:r>
              <a:r>
                <a:rPr lang="en-US" altLang="zh-CN" sz="1800" b="1" dirty="0">
                  <a:solidFill>
                    <a:schemeClr val="hlink"/>
                  </a:solidFill>
                  <a:ea typeface="黑体" panose="02010609060101010101" pitchFamily="49" charset="-122"/>
                </a:rPr>
                <a:t>  </a:t>
              </a:r>
              <a:r>
                <a:rPr lang="zh-CN" altLang="en-US" sz="1800" b="1" dirty="0">
                  <a:solidFill>
                    <a:schemeClr val="hlink"/>
                  </a:solidFill>
                  <a:ea typeface="黑体" panose="02010609060101010101" pitchFamily="49" charset="-122"/>
                </a:rPr>
                <a:t>令</a:t>
              </a:r>
              <a:r>
                <a:rPr lang="en-US" altLang="zh-CN" sz="1800" b="1" dirty="0">
                  <a:solidFill>
                    <a:schemeClr val="hlink"/>
                  </a:solidFill>
                  <a:ea typeface="黑体" panose="02010609060101010101" pitchFamily="49" charset="-122"/>
                </a:rPr>
                <a:t>                            </a:t>
              </a:r>
              <a:r>
                <a:rPr lang="zh-CN" altLang="en-US" sz="1800" b="1" dirty="0">
                  <a:solidFill>
                    <a:schemeClr val="hlink"/>
                  </a:solidFill>
                  <a:ea typeface="黑体" panose="02010609060101010101" pitchFamily="49" charset="-122"/>
                </a:rPr>
                <a:t>数</a:t>
              </a:r>
              <a:r>
                <a:rPr lang="en-US" altLang="zh-CN" sz="1800" b="1" dirty="0">
                  <a:solidFill>
                    <a:schemeClr val="hlink"/>
                  </a:solidFill>
                  <a:ea typeface="黑体" panose="02010609060101010101" pitchFamily="49" charset="-122"/>
                </a:rPr>
                <a:t>   </a:t>
              </a:r>
              <a:r>
                <a:rPr lang="zh-CN" altLang="en-US" sz="1800" b="1" dirty="0">
                  <a:solidFill>
                    <a:schemeClr val="hlink"/>
                  </a:solidFill>
                  <a:ea typeface="黑体" panose="02010609060101010101" pitchFamily="49" charset="-122"/>
                </a:rPr>
                <a:t>据</a:t>
              </a:r>
              <a:endParaRPr lang="zh-CN" altLang="en-US" sz="1800" b="1" dirty="0">
                <a:solidFill>
                  <a:schemeClr val="hlink"/>
                </a:solidFill>
                <a:ea typeface="黑体" panose="02010609060101010101" pitchFamily="49" charset="-122"/>
              </a:endParaRPr>
            </a:p>
          </p:txBody>
        </p:sp>
        <p:sp>
          <p:nvSpPr>
            <p:cNvPr id="126993" name="Text Box 16"/>
            <p:cNvSpPr txBox="1"/>
            <p:nvPr/>
          </p:nvSpPr>
          <p:spPr>
            <a:xfrm>
              <a:off x="4978" y="2539"/>
              <a:ext cx="183" cy="219"/>
            </a:xfrm>
            <a:prstGeom prst="rect">
              <a:avLst/>
            </a:prstGeom>
            <a:noFill/>
            <a:ln w="9525">
              <a:noFill/>
            </a:ln>
          </p:spPr>
          <p:txBody>
            <a:bodyPr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700" b="1" dirty="0">
                  <a:solidFill>
                    <a:srgbClr val="0000FF"/>
                  </a:solidFill>
                </a:rPr>
                <a:t>A</a:t>
              </a:r>
              <a:endParaRPr lang="en-US" altLang="zh-CN" sz="1700" b="1" dirty="0">
                <a:solidFill>
                  <a:srgbClr val="0000FF"/>
                </a:solidFill>
              </a:endParaRPr>
            </a:p>
          </p:txBody>
        </p:sp>
        <p:sp>
          <p:nvSpPr>
            <p:cNvPr id="126994" name="Text Box 17"/>
            <p:cNvSpPr txBox="1"/>
            <p:nvPr/>
          </p:nvSpPr>
          <p:spPr>
            <a:xfrm>
              <a:off x="4978" y="3710"/>
              <a:ext cx="522" cy="219"/>
            </a:xfrm>
            <a:prstGeom prst="rect">
              <a:avLst/>
            </a:prstGeom>
            <a:noFill/>
            <a:ln w="9525">
              <a:noFill/>
            </a:ln>
          </p:spPr>
          <p:txBody>
            <a:bodyPr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700" b="1" dirty="0">
                  <a:solidFill>
                    <a:srgbClr val="0000FF"/>
                  </a:solidFill>
                </a:rPr>
                <a:t>sum</a:t>
              </a:r>
              <a:endParaRPr lang="en-US" altLang="zh-CN" sz="1700" b="1" dirty="0">
                <a:solidFill>
                  <a:srgbClr val="0000FF"/>
                </a:solidFill>
              </a:endParaRPr>
            </a:p>
          </p:txBody>
        </p:sp>
        <p:sp>
          <p:nvSpPr>
            <p:cNvPr id="126995" name="Rectangle 18"/>
            <p:cNvSpPr/>
            <p:nvPr/>
          </p:nvSpPr>
          <p:spPr>
            <a:xfrm>
              <a:off x="4160" y="1962"/>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I</a:t>
              </a:r>
              <a:r>
                <a:rPr lang="en-US" altLang="zh-CN" sz="1400" b="1" dirty="0">
                  <a:latin typeface="Courier New" panose="02070309020205020404" pitchFamily="49" charset="0"/>
                  <a:ea typeface="PMingLiU" pitchFamily="18" charset="-120"/>
                </a:rPr>
                <a:t>34</a:t>
              </a:r>
              <a:endParaRPr lang="en-US" altLang="zh-TW" sz="1400" b="1" dirty="0">
                <a:latin typeface="Courier New" panose="02070309020205020404" pitchFamily="49" charset="0"/>
                <a:ea typeface="PMingLiU" pitchFamily="18" charset="-120"/>
              </a:endParaRPr>
            </a:p>
          </p:txBody>
        </p:sp>
        <p:sp>
          <p:nvSpPr>
            <p:cNvPr id="126996" name="Rectangle 19"/>
            <p:cNvSpPr/>
            <p:nvPr/>
          </p:nvSpPr>
          <p:spPr>
            <a:xfrm>
              <a:off x="4160" y="2106"/>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I</a:t>
              </a:r>
              <a:r>
                <a:rPr lang="en-US" altLang="zh-CN" sz="1400" b="1" dirty="0">
                  <a:latin typeface="Courier New" panose="02070309020205020404" pitchFamily="49" charset="0"/>
                  <a:ea typeface="PMingLiU" pitchFamily="18" charset="-120"/>
                </a:rPr>
                <a:t>35</a:t>
              </a:r>
              <a:endParaRPr lang="en-US" altLang="zh-TW" sz="1400" b="1" dirty="0">
                <a:latin typeface="Courier New" panose="02070309020205020404" pitchFamily="49" charset="0"/>
                <a:ea typeface="PMingLiU" pitchFamily="18" charset="-120"/>
              </a:endParaRPr>
            </a:p>
          </p:txBody>
        </p:sp>
        <p:sp>
          <p:nvSpPr>
            <p:cNvPr id="126997" name="Rectangle 20"/>
            <p:cNvSpPr/>
            <p:nvPr/>
          </p:nvSpPr>
          <p:spPr>
            <a:xfrm>
              <a:off x="4160" y="2587"/>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CN" sz="1400" b="1" dirty="0">
                  <a:latin typeface="Courier New" panose="02070309020205020404" pitchFamily="49" charset="0"/>
                  <a:ea typeface="PMingLiU" pitchFamily="18" charset="-120"/>
                </a:rPr>
                <a:t>A</a:t>
              </a:r>
              <a:r>
                <a:rPr lang="en-US" altLang="zh-TW" sz="1400" b="1" dirty="0">
                  <a:latin typeface="Courier New" panose="02070309020205020404" pitchFamily="49" charset="0"/>
                  <a:ea typeface="PMingLiU" pitchFamily="18" charset="-120"/>
                </a:rPr>
                <a:t>[0]</a:t>
              </a:r>
              <a:r>
                <a:rPr lang="en-US" altLang="zh-CN" sz="1400" b="1" dirty="0">
                  <a:latin typeface="Courier New" panose="02070309020205020404" pitchFamily="49" charset="0"/>
                  <a:ea typeface="PMingLiU" pitchFamily="18" charset="-120"/>
                </a:rPr>
                <a:t>[0]</a:t>
              </a:r>
              <a:endParaRPr lang="en-US" altLang="zh-TW" sz="1400" b="1" dirty="0">
                <a:latin typeface="Courier New" panose="02070309020205020404" pitchFamily="49" charset="0"/>
                <a:ea typeface="PMingLiU" pitchFamily="18" charset="-120"/>
              </a:endParaRPr>
            </a:p>
          </p:txBody>
        </p:sp>
        <p:sp>
          <p:nvSpPr>
            <p:cNvPr id="126998" name="Rectangle 21"/>
            <p:cNvSpPr/>
            <p:nvPr/>
          </p:nvSpPr>
          <p:spPr>
            <a:xfrm>
              <a:off x="4160" y="2731"/>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A</a:t>
              </a:r>
              <a:r>
                <a:rPr lang="en-US" altLang="zh-CN" sz="1400" b="1" dirty="0">
                  <a:latin typeface="Courier New" panose="02070309020205020404" pitchFamily="49" charset="0"/>
                  <a:ea typeface="PMingLiU" pitchFamily="18" charset="-120"/>
                </a:rPr>
                <a:t>[0]</a:t>
              </a:r>
              <a:r>
                <a:rPr lang="en-US" altLang="zh-TW" sz="1400" b="1" dirty="0">
                  <a:latin typeface="Courier New" panose="02070309020205020404" pitchFamily="49" charset="0"/>
                  <a:ea typeface="PMingLiU" pitchFamily="18" charset="-120"/>
                </a:rPr>
                <a:t>[1]</a:t>
              </a:r>
              <a:endParaRPr lang="en-US" altLang="zh-TW" sz="1400" b="1" dirty="0">
                <a:latin typeface="Courier New" panose="02070309020205020404" pitchFamily="49" charset="0"/>
                <a:ea typeface="PMingLiU" pitchFamily="18" charset="-120"/>
              </a:endParaRPr>
            </a:p>
          </p:txBody>
        </p:sp>
        <p:sp>
          <p:nvSpPr>
            <p:cNvPr id="126999" name="Rectangle 22"/>
            <p:cNvSpPr/>
            <p:nvPr/>
          </p:nvSpPr>
          <p:spPr>
            <a:xfrm>
              <a:off x="4160" y="2875"/>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800" b="1" dirty="0">
                  <a:latin typeface="Times New Roman" panose="02020603050405020304" pitchFamily="18" charset="0"/>
                  <a:ea typeface="华文新魏" pitchFamily="2" charset="-122"/>
                </a:rPr>
                <a:t>• • •</a:t>
              </a:r>
              <a:endParaRPr lang="en-US" altLang="zh-TW" sz="1800" b="1" dirty="0">
                <a:ea typeface="华文新魏" pitchFamily="2" charset="-122"/>
              </a:endParaRPr>
            </a:p>
          </p:txBody>
        </p:sp>
        <p:sp>
          <p:nvSpPr>
            <p:cNvPr id="127000" name="Rectangle 23"/>
            <p:cNvSpPr/>
            <p:nvPr/>
          </p:nvSpPr>
          <p:spPr>
            <a:xfrm>
              <a:off x="4160" y="3019"/>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A</a:t>
              </a:r>
              <a:r>
                <a:rPr lang="en-US" altLang="zh-CN" sz="1400" b="1" dirty="0">
                  <a:latin typeface="Courier New" panose="02070309020205020404" pitchFamily="49" charset="0"/>
                  <a:ea typeface="PMingLiU" pitchFamily="18" charset="-120"/>
                </a:rPr>
                <a:t>[0]</a:t>
              </a:r>
              <a:r>
                <a:rPr lang="en-US" altLang="zh-TW" sz="1400" b="1" dirty="0">
                  <a:latin typeface="Courier New" panose="02070309020205020404" pitchFamily="49" charset="0"/>
                  <a:ea typeface="PMingLiU" pitchFamily="18" charset="-120"/>
                </a:rPr>
                <a:t>[</a:t>
              </a:r>
              <a:r>
                <a:rPr lang="en-US" altLang="zh-CN" sz="1400" b="1" dirty="0">
                  <a:latin typeface="Courier New" panose="02070309020205020404" pitchFamily="49" charset="0"/>
                  <a:ea typeface="PMingLiU" pitchFamily="18" charset="-120"/>
                </a:rPr>
                <a:t>2047</a:t>
              </a:r>
              <a:r>
                <a:rPr lang="en-US" altLang="zh-TW" sz="1400" b="1" dirty="0">
                  <a:latin typeface="Courier New" panose="02070309020205020404" pitchFamily="49" charset="0"/>
                  <a:ea typeface="PMingLiU" pitchFamily="18" charset="-120"/>
                </a:rPr>
                <a:t>]</a:t>
              </a:r>
              <a:endParaRPr lang="en-US" altLang="zh-TW" sz="1400" b="1" dirty="0">
                <a:latin typeface="Courier New" panose="02070309020205020404" pitchFamily="49" charset="0"/>
                <a:ea typeface="PMingLiU" pitchFamily="18" charset="-120"/>
              </a:endParaRPr>
            </a:p>
          </p:txBody>
        </p:sp>
        <p:sp>
          <p:nvSpPr>
            <p:cNvPr id="127001" name="Rectangle 24"/>
            <p:cNvSpPr/>
            <p:nvPr/>
          </p:nvSpPr>
          <p:spPr>
            <a:xfrm>
              <a:off x="4160" y="3163"/>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A</a:t>
              </a:r>
              <a:r>
                <a:rPr lang="en-US" altLang="zh-CN" sz="1400" b="1" dirty="0">
                  <a:latin typeface="Courier New" panose="02070309020205020404" pitchFamily="49" charset="0"/>
                  <a:ea typeface="PMingLiU" pitchFamily="18" charset="-120"/>
                </a:rPr>
                <a:t>[1]</a:t>
              </a:r>
              <a:r>
                <a:rPr lang="en-US" altLang="zh-TW" sz="1400" b="1" dirty="0">
                  <a:latin typeface="Courier New" panose="02070309020205020404" pitchFamily="49" charset="0"/>
                  <a:ea typeface="PMingLiU" pitchFamily="18" charset="-120"/>
                </a:rPr>
                <a:t>[</a:t>
              </a:r>
              <a:r>
                <a:rPr lang="en-US" altLang="zh-CN" sz="1400" b="1" dirty="0">
                  <a:latin typeface="Courier New" panose="02070309020205020404" pitchFamily="49" charset="0"/>
                  <a:ea typeface="PMingLiU" pitchFamily="18" charset="-120"/>
                </a:rPr>
                <a:t>0</a:t>
              </a:r>
              <a:r>
                <a:rPr lang="en-US" altLang="zh-TW" sz="1400" b="1" dirty="0">
                  <a:latin typeface="Courier New" panose="02070309020205020404" pitchFamily="49" charset="0"/>
                  <a:ea typeface="PMingLiU" pitchFamily="18" charset="-120"/>
                </a:rPr>
                <a:t>]</a:t>
              </a:r>
              <a:endParaRPr lang="en-US" altLang="zh-TW" sz="1400" b="1" dirty="0">
                <a:latin typeface="Courier New" panose="02070309020205020404" pitchFamily="49" charset="0"/>
                <a:ea typeface="PMingLiU" pitchFamily="18" charset="-120"/>
              </a:endParaRPr>
            </a:p>
          </p:txBody>
        </p:sp>
        <p:sp>
          <p:nvSpPr>
            <p:cNvPr id="127002" name="Rectangle 25"/>
            <p:cNvSpPr/>
            <p:nvPr/>
          </p:nvSpPr>
          <p:spPr>
            <a:xfrm>
              <a:off x="4160" y="3307"/>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A</a:t>
              </a:r>
              <a:r>
                <a:rPr lang="en-US" altLang="zh-CN" sz="1400" b="1" dirty="0">
                  <a:latin typeface="Courier New" panose="02070309020205020404" pitchFamily="49" charset="0"/>
                  <a:ea typeface="PMingLiU" pitchFamily="18" charset="-120"/>
                </a:rPr>
                <a:t>[1]</a:t>
              </a:r>
              <a:r>
                <a:rPr lang="en-US" altLang="zh-TW" sz="1400" b="1" dirty="0">
                  <a:latin typeface="Courier New" panose="02070309020205020404" pitchFamily="49" charset="0"/>
                  <a:ea typeface="PMingLiU" pitchFamily="18" charset="-120"/>
                </a:rPr>
                <a:t>[</a:t>
              </a:r>
              <a:r>
                <a:rPr lang="en-US" altLang="zh-CN" sz="1400" b="1" dirty="0">
                  <a:latin typeface="Courier New" panose="02070309020205020404" pitchFamily="49" charset="0"/>
                  <a:ea typeface="PMingLiU" pitchFamily="18" charset="-120"/>
                </a:rPr>
                <a:t>1</a:t>
              </a:r>
              <a:r>
                <a:rPr lang="en-US" altLang="zh-TW" sz="1400" b="1" dirty="0">
                  <a:latin typeface="Courier New" panose="02070309020205020404" pitchFamily="49" charset="0"/>
                  <a:ea typeface="PMingLiU" pitchFamily="18" charset="-120"/>
                </a:rPr>
                <a:t>]</a:t>
              </a:r>
              <a:endParaRPr lang="en-US" altLang="zh-TW" sz="1400" b="1" dirty="0">
                <a:latin typeface="Courier New" panose="02070309020205020404" pitchFamily="49" charset="0"/>
                <a:ea typeface="PMingLiU" pitchFamily="18" charset="-120"/>
              </a:endParaRPr>
            </a:p>
          </p:txBody>
        </p:sp>
        <p:sp>
          <p:nvSpPr>
            <p:cNvPr id="127003" name="Rectangle 26"/>
            <p:cNvSpPr/>
            <p:nvPr/>
          </p:nvSpPr>
          <p:spPr>
            <a:xfrm>
              <a:off x="4160" y="2250"/>
              <a:ext cx="818" cy="321"/>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ea typeface="PMingLiU" pitchFamily="18" charset="-120"/>
                </a:rPr>
                <a:t>• • •</a:t>
              </a:r>
              <a:endParaRPr lang="en-US" altLang="zh-TW" sz="1400" b="1" dirty="0">
                <a:ea typeface="PMingLiU" pitchFamily="18" charset="-120"/>
              </a:endParaRPr>
            </a:p>
          </p:txBody>
        </p:sp>
        <p:sp>
          <p:nvSpPr>
            <p:cNvPr id="127004" name="Rectangle 27"/>
            <p:cNvSpPr/>
            <p:nvPr/>
          </p:nvSpPr>
          <p:spPr>
            <a:xfrm>
              <a:off x="4160" y="3787"/>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endParaRPr lang="zh-CN" altLang="en-US" sz="1400" b="1" dirty="0">
                <a:latin typeface="Courier New" panose="02070309020205020404" pitchFamily="49" charset="0"/>
                <a:ea typeface="PMingLiU" pitchFamily="18" charset="-120"/>
              </a:endParaRPr>
            </a:p>
          </p:txBody>
        </p:sp>
        <p:sp>
          <p:nvSpPr>
            <p:cNvPr id="127005" name="Rectangle 28"/>
            <p:cNvSpPr/>
            <p:nvPr/>
          </p:nvSpPr>
          <p:spPr>
            <a:xfrm>
              <a:off x="4160" y="3451"/>
              <a:ext cx="818" cy="32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ea typeface="PMingLiU" pitchFamily="18" charset="-120"/>
                </a:rPr>
                <a:t>• • •</a:t>
              </a:r>
              <a:endParaRPr lang="en-US" altLang="zh-TW" sz="1400" b="1" dirty="0">
                <a:ea typeface="PMingLiU" pitchFamily="18" charset="-120"/>
              </a:endParaRPr>
            </a:p>
          </p:txBody>
        </p:sp>
        <p:sp>
          <p:nvSpPr>
            <p:cNvPr id="127006" name="Rectangle 29"/>
            <p:cNvSpPr/>
            <p:nvPr/>
          </p:nvSpPr>
          <p:spPr>
            <a:xfrm>
              <a:off x="4156" y="1209"/>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I</a:t>
              </a:r>
              <a:r>
                <a:rPr lang="en-US" altLang="zh-CN" sz="1400" b="1" dirty="0">
                  <a:latin typeface="Courier New" panose="02070309020205020404" pitchFamily="49" charset="0"/>
                  <a:ea typeface="PMingLiU" pitchFamily="18" charset="-120"/>
                </a:rPr>
                <a:t>1</a:t>
              </a:r>
              <a:endParaRPr lang="en-US" altLang="zh-TW" sz="1400" b="1" dirty="0">
                <a:latin typeface="Courier New" panose="02070309020205020404" pitchFamily="49" charset="0"/>
                <a:ea typeface="PMingLiU" pitchFamily="18" charset="-120"/>
              </a:endParaRPr>
            </a:p>
          </p:txBody>
        </p:sp>
        <p:sp>
          <p:nvSpPr>
            <p:cNvPr id="127007" name="Rectangle 30"/>
            <p:cNvSpPr/>
            <p:nvPr/>
          </p:nvSpPr>
          <p:spPr>
            <a:xfrm>
              <a:off x="4156" y="1353"/>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I</a:t>
              </a:r>
              <a:r>
                <a:rPr lang="en-US" altLang="zh-CN" sz="1400" b="1" dirty="0">
                  <a:latin typeface="Courier New" panose="02070309020205020404" pitchFamily="49" charset="0"/>
                  <a:ea typeface="PMingLiU" pitchFamily="18" charset="-120"/>
                </a:rPr>
                <a:t>2</a:t>
              </a:r>
              <a:endParaRPr lang="en-US" altLang="zh-TW" sz="1400" b="1" dirty="0">
                <a:latin typeface="Courier New" panose="02070309020205020404" pitchFamily="49" charset="0"/>
                <a:ea typeface="PMingLiU" pitchFamily="18" charset="-120"/>
              </a:endParaRPr>
            </a:p>
          </p:txBody>
        </p:sp>
        <p:sp>
          <p:nvSpPr>
            <p:cNvPr id="127008" name="Rectangle 31"/>
            <p:cNvSpPr/>
            <p:nvPr/>
          </p:nvSpPr>
          <p:spPr>
            <a:xfrm>
              <a:off x="4156" y="1834"/>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CN" sz="1400" b="1" dirty="0">
                  <a:latin typeface="Courier New" panose="02070309020205020404" pitchFamily="49" charset="0"/>
                  <a:ea typeface="PMingLiU" pitchFamily="18" charset="-120"/>
                </a:rPr>
                <a:t>I33</a:t>
              </a:r>
              <a:endParaRPr lang="en-US" altLang="zh-TW" sz="1400" b="1" dirty="0">
                <a:latin typeface="Courier New" panose="02070309020205020404" pitchFamily="49" charset="0"/>
                <a:ea typeface="PMingLiU" pitchFamily="18" charset="-120"/>
              </a:endParaRPr>
            </a:p>
          </p:txBody>
        </p:sp>
        <p:sp>
          <p:nvSpPr>
            <p:cNvPr id="127009" name="Rectangle 32"/>
            <p:cNvSpPr/>
            <p:nvPr/>
          </p:nvSpPr>
          <p:spPr>
            <a:xfrm>
              <a:off x="4156" y="1497"/>
              <a:ext cx="818" cy="321"/>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ea typeface="PMingLiU" pitchFamily="18" charset="-120"/>
                </a:rPr>
                <a:t>• • •</a:t>
              </a:r>
              <a:endParaRPr lang="en-US" altLang="zh-TW" sz="1400" b="1" dirty="0">
                <a:ea typeface="PMingLiU" pitchFamily="18" charset="-120"/>
              </a:endParaRPr>
            </a:p>
          </p:txBody>
        </p:sp>
        <p:grpSp>
          <p:nvGrpSpPr>
            <p:cNvPr id="127010" name="Group 33"/>
            <p:cNvGrpSpPr/>
            <p:nvPr/>
          </p:nvGrpSpPr>
          <p:grpSpPr>
            <a:xfrm>
              <a:off x="5023" y="1497"/>
              <a:ext cx="202" cy="416"/>
              <a:chOff x="5023" y="1497"/>
              <a:chExt cx="202" cy="416"/>
            </a:xfrm>
          </p:grpSpPr>
          <p:sp>
            <p:nvSpPr>
              <p:cNvPr id="127012" name="Line 34"/>
              <p:cNvSpPr/>
              <p:nvPr/>
            </p:nvSpPr>
            <p:spPr>
              <a:xfrm>
                <a:off x="5023" y="1913"/>
                <a:ext cx="202" cy="0"/>
              </a:xfrm>
              <a:prstGeom prst="line">
                <a:avLst/>
              </a:prstGeom>
              <a:ln w="38100" cap="flat" cmpd="sng">
                <a:solidFill>
                  <a:srgbClr val="CC0000"/>
                </a:solidFill>
                <a:prstDash val="solid"/>
                <a:headEnd type="none" w="med" len="med"/>
                <a:tailEnd type="none" w="med" len="med"/>
              </a:ln>
            </p:spPr>
          </p:sp>
          <p:sp>
            <p:nvSpPr>
              <p:cNvPr id="127013" name="Line 35"/>
              <p:cNvSpPr/>
              <p:nvPr/>
            </p:nvSpPr>
            <p:spPr>
              <a:xfrm flipV="1">
                <a:off x="5225" y="1497"/>
                <a:ext cx="0" cy="416"/>
              </a:xfrm>
              <a:prstGeom prst="line">
                <a:avLst/>
              </a:prstGeom>
              <a:ln w="38100" cap="flat" cmpd="sng">
                <a:solidFill>
                  <a:srgbClr val="CC0000"/>
                </a:solidFill>
                <a:prstDash val="solid"/>
                <a:headEnd type="none" w="med" len="med"/>
                <a:tailEnd type="none" w="med" len="med"/>
              </a:ln>
            </p:spPr>
          </p:sp>
          <p:sp>
            <p:nvSpPr>
              <p:cNvPr id="127014" name="Line 36"/>
              <p:cNvSpPr/>
              <p:nvPr/>
            </p:nvSpPr>
            <p:spPr>
              <a:xfrm flipH="1">
                <a:off x="5023" y="1497"/>
                <a:ext cx="202" cy="0"/>
              </a:xfrm>
              <a:prstGeom prst="line">
                <a:avLst/>
              </a:prstGeom>
              <a:ln w="38100" cap="flat" cmpd="sng">
                <a:solidFill>
                  <a:srgbClr val="CC0000"/>
                </a:solidFill>
                <a:prstDash val="solid"/>
                <a:headEnd type="none" w="med" len="med"/>
                <a:tailEnd type="triangle" w="med" len="med"/>
              </a:ln>
            </p:spPr>
          </p:sp>
        </p:grpSp>
        <p:sp>
          <p:nvSpPr>
            <p:cNvPr id="127011" name="Text Box 37"/>
            <p:cNvSpPr txBox="1"/>
            <p:nvPr/>
          </p:nvSpPr>
          <p:spPr>
            <a:xfrm>
              <a:off x="3560" y="1581"/>
              <a:ext cx="709" cy="1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CC0000"/>
                  </a:solidFill>
                  <a:cs typeface="Arial" panose="020B0604020202020204" pitchFamily="34" charset="0"/>
                </a:rPr>
                <a:t>fo</a:t>
              </a:r>
              <a:r>
                <a:rPr lang="en-US" altLang="zh-CN" sz="1600" b="1" dirty="0">
                  <a:solidFill>
                    <a:srgbClr val="CC0000"/>
                  </a:solidFill>
                  <a:cs typeface="Arial" panose="020B0604020202020204" pitchFamily="34" charset="0"/>
                </a:rPr>
                <a:t>r</a:t>
              </a:r>
              <a:r>
                <a:rPr lang="zh-CN" altLang="en-US" sz="1600" b="1" dirty="0">
                  <a:solidFill>
                    <a:srgbClr val="CC0000"/>
                  </a:solidFill>
                  <a:cs typeface="Arial" panose="020B0604020202020204" pitchFamily="34" charset="0"/>
                </a:rPr>
                <a:t>循环体</a:t>
              </a:r>
              <a:endParaRPr lang="zh-CN" altLang="en-US" sz="1600" b="1" dirty="0">
                <a:solidFill>
                  <a:srgbClr val="CC0000"/>
                </a:solidFill>
                <a:ea typeface="Arial" panose="020B0604020202020204" pitchFamily="34" charset="0"/>
              </a:endParaRPr>
            </a:p>
          </p:txBody>
        </p:sp>
      </p:grpSp>
      <p:sp>
        <p:nvSpPr>
          <p:cNvPr id="173094" name="Text Box 38"/>
          <p:cNvSpPr txBox="1"/>
          <p:nvPr/>
        </p:nvSpPr>
        <p:spPr>
          <a:xfrm>
            <a:off x="2339975" y="5516563"/>
            <a:ext cx="4700588" cy="6096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FF"/>
                </a:solidFill>
                <a:ea typeface="黑体" panose="02010609060101010101" pitchFamily="49" charset="-122"/>
              </a:rPr>
              <a:t>实际上</a:t>
            </a:r>
            <a:r>
              <a:rPr lang="en-US" altLang="zh-CN" sz="2000" b="1" dirty="0">
                <a:solidFill>
                  <a:srgbClr val="0000FF"/>
                </a:solidFill>
                <a:ea typeface="黑体" panose="02010609060101010101" pitchFamily="49" charset="-122"/>
              </a:rPr>
              <a:t> </a:t>
            </a:r>
            <a:r>
              <a:rPr lang="zh-CN" altLang="en-US" sz="2000" b="1" dirty="0">
                <a:solidFill>
                  <a:srgbClr val="0000FF"/>
                </a:solidFill>
                <a:ea typeface="黑体" panose="02010609060101010101" pitchFamily="49" charset="-122"/>
              </a:rPr>
              <a:t>优化的编译器使循环中的</a:t>
            </a:r>
            <a:r>
              <a:rPr lang="en-US" altLang="zh-CN" sz="2000" b="1" dirty="0">
                <a:solidFill>
                  <a:srgbClr val="0000FF"/>
                </a:solidFill>
                <a:ea typeface="黑体" panose="02010609060101010101" pitchFamily="49" charset="-122"/>
              </a:rPr>
              <a:t>sum</a:t>
            </a:r>
            <a:r>
              <a:rPr lang="zh-CN" altLang="en-US" sz="2000" b="1" dirty="0">
                <a:solidFill>
                  <a:srgbClr val="0000FF"/>
                </a:solidFill>
                <a:ea typeface="黑体" panose="02010609060101010101" pitchFamily="49" charset="-122"/>
              </a:rPr>
              <a:t>分配在寄存器中，最后才写回存储器！</a:t>
            </a:r>
            <a:endParaRPr lang="zh-CN" altLang="en-US" sz="2000" b="1" dirty="0">
              <a:solidFill>
                <a:srgbClr val="0000FF"/>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3059">
                                            <p:txEl>
                                              <p:charRg st="19" end="99"/>
                                            </p:txEl>
                                          </p:spTgt>
                                        </p:tgtEl>
                                        <p:attrNameLst>
                                          <p:attrName>style.visibility</p:attrName>
                                        </p:attrNameLst>
                                      </p:cBhvr>
                                      <p:to>
                                        <p:strVal val="visible"/>
                                      </p:to>
                                    </p:set>
                                    <p:animEffect transition="in" filter="blinds(horizontal)">
                                      <p:cBhvr>
                                        <p:cTn id="7" dur="500"/>
                                        <p:tgtEl>
                                          <p:spTgt spid="173059">
                                            <p:txEl>
                                              <p:charRg st="19" end="9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3059">
                                            <p:txEl>
                                              <p:charRg st="99" end="123"/>
                                            </p:txEl>
                                          </p:spTgt>
                                        </p:tgtEl>
                                        <p:attrNameLst>
                                          <p:attrName>style.visibility</p:attrName>
                                        </p:attrNameLst>
                                      </p:cBhvr>
                                      <p:to>
                                        <p:strVal val="visible"/>
                                      </p:to>
                                    </p:set>
                                    <p:animEffect transition="in" filter="blinds(horizontal)">
                                      <p:cBhvr>
                                        <p:cTn id="12" dur="500"/>
                                        <p:tgtEl>
                                          <p:spTgt spid="173059">
                                            <p:txEl>
                                              <p:charRg st="99" end="12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3059">
                                            <p:txEl>
                                              <p:charRg st="123" end="156"/>
                                            </p:txEl>
                                          </p:spTgt>
                                        </p:tgtEl>
                                        <p:attrNameLst>
                                          <p:attrName>style.visibility</p:attrName>
                                        </p:attrNameLst>
                                      </p:cBhvr>
                                      <p:to>
                                        <p:strVal val="visible"/>
                                      </p:to>
                                    </p:set>
                                    <p:animEffect transition="in" filter="blinds(horizontal)">
                                      <p:cBhvr>
                                        <p:cTn id="17" dur="500"/>
                                        <p:tgtEl>
                                          <p:spTgt spid="173059">
                                            <p:txEl>
                                              <p:charRg st="123" end="15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3059">
                                            <p:txEl>
                                              <p:charRg st="156" end="202"/>
                                            </p:txEl>
                                          </p:spTgt>
                                        </p:tgtEl>
                                        <p:attrNameLst>
                                          <p:attrName>style.visibility</p:attrName>
                                        </p:attrNameLst>
                                      </p:cBhvr>
                                      <p:to>
                                        <p:strVal val="visible"/>
                                      </p:to>
                                    </p:set>
                                    <p:animEffect transition="in" filter="blinds(horizontal)">
                                      <p:cBhvr>
                                        <p:cTn id="22" dur="500"/>
                                        <p:tgtEl>
                                          <p:spTgt spid="173059">
                                            <p:txEl>
                                              <p:charRg st="156" end="20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73059">
                                            <p:txEl>
                                              <p:charRg st="202" end="238"/>
                                            </p:txEl>
                                          </p:spTgt>
                                        </p:tgtEl>
                                        <p:attrNameLst>
                                          <p:attrName>style.visibility</p:attrName>
                                        </p:attrNameLst>
                                      </p:cBhvr>
                                      <p:to>
                                        <p:strVal val="visible"/>
                                      </p:to>
                                    </p:set>
                                    <p:animEffect transition="in" filter="blinds(horizontal)">
                                      <p:cBhvr>
                                        <p:cTn id="27" dur="500"/>
                                        <p:tgtEl>
                                          <p:spTgt spid="173059">
                                            <p:txEl>
                                              <p:charRg st="202" end="23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73059">
                                            <p:txEl>
                                              <p:charRg st="238" end="274"/>
                                            </p:txEl>
                                          </p:spTgt>
                                        </p:tgtEl>
                                        <p:attrNameLst>
                                          <p:attrName>style.visibility</p:attrName>
                                        </p:attrNameLst>
                                      </p:cBhvr>
                                      <p:to>
                                        <p:strVal val="visible"/>
                                      </p:to>
                                    </p:set>
                                    <p:animEffect transition="in" filter="blinds(horizontal)">
                                      <p:cBhvr>
                                        <p:cTn id="32" dur="500"/>
                                        <p:tgtEl>
                                          <p:spTgt spid="173059">
                                            <p:txEl>
                                              <p:charRg st="238" end="27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73094"/>
                                        </p:tgtEl>
                                        <p:attrNameLst>
                                          <p:attrName>style.visibility</p:attrName>
                                        </p:attrNameLst>
                                      </p:cBhvr>
                                      <p:to>
                                        <p:strVal val="visible"/>
                                      </p:to>
                                    </p:set>
                                    <p:animEffect transition="in" filter="blinds(horizontal)">
                                      <p:cBhvr>
                                        <p:cTn id="37" dur="500"/>
                                        <p:tgtEl>
                                          <p:spTgt spid="1730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94"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Rectangle 2"/>
          <p:cNvSpPr>
            <a:spLocks noGrp="1"/>
          </p:cNvSpPr>
          <p:nvPr>
            <p:ph type="title"/>
          </p:nvPr>
        </p:nvSpPr>
        <p:spPr>
          <a:xfrm>
            <a:off x="457200" y="-26987"/>
            <a:ext cx="8229600" cy="1371600"/>
          </a:xfrm>
        </p:spPr>
        <p:txBody>
          <a:bodyPr vert="horz" wrap="square" lIns="91440" tIns="45720" rIns="91440" bIns="45720" anchor="ctr" anchorCtr="0"/>
          <a:p>
            <a:r>
              <a:rPr lang="zh-CN" altLang="en-US" dirty="0"/>
              <a:t>程序的局部性原理举例</a:t>
            </a:r>
            <a:r>
              <a:rPr lang="en-US" altLang="zh-CN" dirty="0"/>
              <a:t>2</a:t>
            </a:r>
            <a:endParaRPr lang="en-US" altLang="zh-CN" dirty="0"/>
          </a:p>
        </p:txBody>
      </p:sp>
      <p:sp>
        <p:nvSpPr>
          <p:cNvPr id="174083" name="Rectangle 3"/>
          <p:cNvSpPr>
            <a:spLocks noGrp="1"/>
          </p:cNvSpPr>
          <p:nvPr>
            <p:ph idx="1"/>
          </p:nvPr>
        </p:nvSpPr>
        <p:spPr>
          <a:xfrm>
            <a:off x="161925" y="998538"/>
            <a:ext cx="5715000" cy="4230687"/>
          </a:xfrm>
        </p:spPr>
        <p:txBody>
          <a:bodyPr vert="horz" wrap="square" lIns="91440" tIns="45720" rIns="91440" bIns="45720" anchor="t" anchorCtr="0"/>
          <a:p>
            <a:pPr>
              <a:lnSpc>
                <a:spcPct val="125000"/>
              </a:lnSpc>
              <a:buNone/>
            </a:pPr>
            <a:r>
              <a:rPr lang="zh-CN" altLang="en-US" sz="2000" dirty="0">
                <a:solidFill>
                  <a:srgbClr val="CC0000"/>
                </a:solidFill>
                <a:ea typeface="黑体" panose="02010609060101010101" pitchFamily="49" charset="-122"/>
              </a:rPr>
              <a:t>程序段</a:t>
            </a:r>
            <a:r>
              <a:rPr lang="en-US" altLang="zh-CN" sz="2000" dirty="0">
                <a:solidFill>
                  <a:srgbClr val="CC0000"/>
                </a:solidFill>
                <a:ea typeface="黑体" panose="02010609060101010101" pitchFamily="49" charset="-122"/>
              </a:rPr>
              <a:t>B</a:t>
            </a:r>
            <a:r>
              <a:rPr lang="zh-CN" altLang="en-US" sz="2000" dirty="0">
                <a:solidFill>
                  <a:srgbClr val="CC0000"/>
                </a:solidFill>
                <a:ea typeface="黑体" panose="02010609060101010101" pitchFamily="49" charset="-122"/>
              </a:rPr>
              <a:t>的时间局部性和空间局部性分析</a:t>
            </a:r>
            <a:endParaRPr lang="en-US" altLang="zh-CN" sz="2000" dirty="0">
              <a:solidFill>
                <a:srgbClr val="CC0000"/>
              </a:solidFill>
              <a:ea typeface="黑体" panose="02010609060101010101" pitchFamily="49" charset="-122"/>
            </a:endParaRPr>
          </a:p>
          <a:p>
            <a:pPr>
              <a:lnSpc>
                <a:spcPct val="125000"/>
              </a:lnSpc>
              <a:buNone/>
            </a:pPr>
            <a:r>
              <a:rPr lang="zh-CN" altLang="en-US" sz="2000" dirty="0">
                <a:ea typeface="黑体" panose="02010609060101010101" pitchFamily="49" charset="-122"/>
              </a:rPr>
              <a:t>（</a:t>
            </a:r>
            <a:r>
              <a:rPr lang="en-US" altLang="zh-CN" sz="2000" dirty="0">
                <a:ea typeface="黑体" panose="02010609060101010101" pitchFamily="49" charset="-122"/>
              </a:rPr>
              <a:t>1</a:t>
            </a:r>
            <a:r>
              <a:rPr lang="zh-CN" altLang="en-US" sz="2000" dirty="0">
                <a:ea typeface="黑体" panose="02010609060101010101" pitchFamily="49" charset="-122"/>
              </a:rPr>
              <a:t>）</a:t>
            </a:r>
            <a:r>
              <a:rPr lang="zh-CN" altLang="en-US" sz="2000" dirty="0">
                <a:solidFill>
                  <a:srgbClr val="0000FF"/>
                </a:solidFill>
                <a:ea typeface="黑体" panose="02010609060101010101" pitchFamily="49" charset="-122"/>
              </a:rPr>
              <a:t>数组</a:t>
            </a:r>
            <a:r>
              <a:rPr lang="en-US" altLang="zh-CN" sz="2000" dirty="0">
                <a:solidFill>
                  <a:srgbClr val="0000FF"/>
                </a:solidFill>
                <a:ea typeface="黑体" panose="02010609060101010101" pitchFamily="49" charset="-122"/>
              </a:rPr>
              <a:t>A</a:t>
            </a:r>
            <a:r>
              <a:rPr lang="zh-CN" altLang="en-US" sz="2000" dirty="0">
                <a:solidFill>
                  <a:srgbClr val="0000FF"/>
                </a:solidFill>
                <a:ea typeface="黑体" panose="02010609060101010101" pitchFamily="49" charset="-122"/>
              </a:rPr>
              <a:t>：</a:t>
            </a:r>
            <a:r>
              <a:rPr lang="zh-CN" altLang="en-US" sz="2000" dirty="0">
                <a:ea typeface="黑体" panose="02010609060101010101" pitchFamily="49" charset="-122"/>
              </a:rPr>
              <a:t>访问顺序为</a:t>
            </a:r>
            <a:r>
              <a:rPr lang="en-US" altLang="zh-CN" sz="2000" dirty="0">
                <a:ea typeface="黑体" panose="02010609060101010101" pitchFamily="49" charset="-122"/>
              </a:rPr>
              <a:t>A[0][0], A[1][0] ,……,  A[2047][0]; A[0][1], A[1][1],…… ,A[2047][1];……</a:t>
            </a:r>
            <a:r>
              <a:rPr lang="zh-CN" altLang="en-US" sz="2000" dirty="0">
                <a:ea typeface="黑体" panose="02010609060101010101" pitchFamily="49" charset="-122"/>
              </a:rPr>
              <a:t>，与存放顺序不一致，每次跳过</a:t>
            </a:r>
            <a:r>
              <a:rPr lang="en-US" altLang="zh-CN" sz="2000" dirty="0">
                <a:ea typeface="黑体" panose="02010609060101010101" pitchFamily="49" charset="-122"/>
              </a:rPr>
              <a:t>2048</a:t>
            </a:r>
            <a:r>
              <a:rPr lang="zh-CN" altLang="en-US" sz="2000" dirty="0">
                <a:ea typeface="黑体" panose="02010609060101010101" pitchFamily="49" charset="-122"/>
              </a:rPr>
              <a:t>个单元，若交换单位小于</a:t>
            </a:r>
            <a:r>
              <a:rPr lang="en-US" altLang="zh-CN" sz="2000" dirty="0">
                <a:ea typeface="黑体" panose="02010609060101010101" pitchFamily="49" charset="-122"/>
              </a:rPr>
              <a:t>2KB</a:t>
            </a:r>
            <a:r>
              <a:rPr lang="zh-CN" altLang="en-US" sz="2000" dirty="0">
                <a:ea typeface="黑体" panose="02010609060101010101" pitchFamily="49" charset="-122"/>
              </a:rPr>
              <a:t>，则没有空间局部性！</a:t>
            </a:r>
            <a:endParaRPr lang="en-US" altLang="zh-CN" sz="2000" dirty="0">
              <a:ea typeface="黑体" panose="02010609060101010101" pitchFamily="49" charset="-122"/>
            </a:endParaRPr>
          </a:p>
          <a:p>
            <a:pPr>
              <a:lnSpc>
                <a:spcPct val="125000"/>
              </a:lnSpc>
              <a:buNone/>
            </a:pPr>
            <a:r>
              <a:rPr lang="en-US" altLang="zh-CN" sz="2000" dirty="0">
                <a:ea typeface="黑体" panose="02010609060101010101" pitchFamily="49" charset="-122"/>
              </a:rPr>
              <a:t>         </a:t>
            </a:r>
            <a:r>
              <a:rPr lang="zh-CN" altLang="en-US" sz="2000" dirty="0">
                <a:ea typeface="黑体" panose="02010609060101010101" pitchFamily="49" charset="-122"/>
              </a:rPr>
              <a:t>（时间局部性差，同程序</a:t>
            </a:r>
            <a:r>
              <a:rPr lang="en-US" altLang="zh-CN" sz="2000" dirty="0">
                <a:ea typeface="黑体" panose="02010609060101010101" pitchFamily="49" charset="-122"/>
              </a:rPr>
              <a:t>A</a:t>
            </a:r>
            <a:r>
              <a:rPr lang="zh-CN" altLang="en-US" sz="2000" dirty="0">
                <a:ea typeface="黑体" panose="02010609060101010101" pitchFamily="49" charset="-122"/>
              </a:rPr>
              <a:t>）</a:t>
            </a:r>
            <a:r>
              <a:rPr lang="en-US" altLang="zh-CN" sz="2000" dirty="0">
                <a:ea typeface="黑体" panose="02010609060101010101" pitchFamily="49" charset="-122"/>
              </a:rPr>
              <a:t> </a:t>
            </a:r>
            <a:endParaRPr lang="en-US" altLang="zh-CN" sz="2000" dirty="0">
              <a:ea typeface="黑体" panose="02010609060101010101" pitchFamily="49" charset="-122"/>
            </a:endParaRPr>
          </a:p>
          <a:p>
            <a:pPr>
              <a:lnSpc>
                <a:spcPct val="125000"/>
              </a:lnSpc>
              <a:buNone/>
            </a:pPr>
            <a:r>
              <a:rPr lang="zh-CN" altLang="en-US" sz="2000" dirty="0">
                <a:ea typeface="黑体" panose="02010609060101010101" pitchFamily="49" charset="-122"/>
              </a:rPr>
              <a:t>（</a:t>
            </a:r>
            <a:r>
              <a:rPr lang="en-US" altLang="zh-CN" sz="2000" dirty="0">
                <a:ea typeface="黑体" panose="02010609060101010101" pitchFamily="49" charset="-122"/>
              </a:rPr>
              <a:t>2</a:t>
            </a:r>
            <a:r>
              <a:rPr lang="zh-CN" altLang="en-US" sz="2000" dirty="0">
                <a:ea typeface="黑体" panose="02010609060101010101" pitchFamily="49" charset="-122"/>
              </a:rPr>
              <a:t>）</a:t>
            </a:r>
            <a:r>
              <a:rPr lang="zh-CN" altLang="en-US" sz="2000" dirty="0">
                <a:solidFill>
                  <a:srgbClr val="0000FF"/>
                </a:solidFill>
                <a:ea typeface="黑体" panose="02010609060101010101" pitchFamily="49" charset="-122"/>
              </a:rPr>
              <a:t>变量</a:t>
            </a:r>
            <a:r>
              <a:rPr lang="en-US" altLang="zh-CN" sz="2000" dirty="0">
                <a:solidFill>
                  <a:srgbClr val="0000FF"/>
                </a:solidFill>
                <a:ea typeface="黑体" panose="02010609060101010101" pitchFamily="49" charset="-122"/>
              </a:rPr>
              <a:t>sum</a:t>
            </a:r>
            <a:r>
              <a:rPr lang="zh-CN" altLang="en-US" sz="2000" dirty="0">
                <a:solidFill>
                  <a:srgbClr val="0000FF"/>
                </a:solidFill>
                <a:ea typeface="黑体" panose="02010609060101010101" pitchFamily="49" charset="-122"/>
              </a:rPr>
              <a:t>：</a:t>
            </a:r>
            <a:r>
              <a:rPr lang="zh-CN" altLang="en-US" sz="2000" dirty="0">
                <a:ea typeface="黑体" panose="02010609060101010101" pitchFamily="49" charset="-122"/>
              </a:rPr>
              <a:t>（同程序</a:t>
            </a:r>
            <a:r>
              <a:rPr lang="en-US" altLang="zh-CN" sz="2000" dirty="0">
                <a:ea typeface="黑体" panose="02010609060101010101" pitchFamily="49" charset="-122"/>
              </a:rPr>
              <a:t>A </a:t>
            </a:r>
            <a:r>
              <a:rPr lang="zh-CN" altLang="en-US" sz="2000" dirty="0">
                <a:ea typeface="黑体" panose="02010609060101010101" pitchFamily="49" charset="-122"/>
              </a:rPr>
              <a:t>）</a:t>
            </a:r>
            <a:endParaRPr lang="en-US" altLang="zh-CN" sz="2000" dirty="0">
              <a:ea typeface="黑体" panose="02010609060101010101" pitchFamily="49" charset="-122"/>
            </a:endParaRPr>
          </a:p>
          <a:p>
            <a:pPr>
              <a:lnSpc>
                <a:spcPct val="125000"/>
              </a:lnSpc>
              <a:buNone/>
            </a:pPr>
            <a:r>
              <a:rPr lang="zh-CN" altLang="en-US" sz="2000" dirty="0">
                <a:ea typeface="黑体" panose="02010609060101010101" pitchFamily="49" charset="-122"/>
              </a:rPr>
              <a:t>（</a:t>
            </a:r>
            <a:r>
              <a:rPr lang="en-US" altLang="zh-CN" sz="2000" dirty="0">
                <a:ea typeface="黑体" panose="02010609060101010101" pitchFamily="49" charset="-122"/>
              </a:rPr>
              <a:t>3</a:t>
            </a:r>
            <a:r>
              <a:rPr lang="zh-CN" altLang="en-US" sz="2000" dirty="0">
                <a:ea typeface="黑体" panose="02010609060101010101" pitchFamily="49" charset="-122"/>
              </a:rPr>
              <a:t>）</a:t>
            </a:r>
            <a:r>
              <a:rPr lang="en-US" altLang="zh-CN" sz="2000" dirty="0">
                <a:ea typeface="黑体" panose="02010609060101010101" pitchFamily="49" charset="-122"/>
              </a:rPr>
              <a:t> </a:t>
            </a:r>
            <a:r>
              <a:rPr lang="en-US" altLang="zh-CN" sz="2000" dirty="0">
                <a:solidFill>
                  <a:srgbClr val="0000FF"/>
                </a:solidFill>
                <a:ea typeface="黑体" panose="02010609060101010101" pitchFamily="49" charset="-122"/>
              </a:rPr>
              <a:t>for</a:t>
            </a:r>
            <a:r>
              <a:rPr lang="zh-CN" altLang="en-US" sz="2000" dirty="0">
                <a:solidFill>
                  <a:srgbClr val="0000FF"/>
                </a:solidFill>
                <a:ea typeface="黑体" panose="02010609060101010101" pitchFamily="49" charset="-122"/>
              </a:rPr>
              <a:t>循环体：</a:t>
            </a:r>
            <a:r>
              <a:rPr lang="zh-CN" altLang="en-US" sz="2000" dirty="0">
                <a:ea typeface="黑体" panose="02010609060101010101" pitchFamily="49" charset="-122"/>
              </a:rPr>
              <a:t>（同程序</a:t>
            </a:r>
            <a:r>
              <a:rPr lang="en-US" altLang="zh-CN" sz="2000" dirty="0">
                <a:ea typeface="黑体" panose="02010609060101010101" pitchFamily="49" charset="-122"/>
              </a:rPr>
              <a:t>A</a:t>
            </a:r>
            <a:r>
              <a:rPr lang="zh-CN" altLang="en-US" sz="2000" dirty="0">
                <a:ea typeface="黑体" panose="02010609060101010101" pitchFamily="49" charset="-122"/>
              </a:rPr>
              <a:t>）</a:t>
            </a:r>
            <a:endParaRPr lang="zh-CN" altLang="en-US" sz="2000" dirty="0">
              <a:ea typeface="黑体" panose="02010609060101010101" pitchFamily="49" charset="-122"/>
            </a:endParaRPr>
          </a:p>
        </p:txBody>
      </p:sp>
      <p:sp>
        <p:nvSpPr>
          <p:cNvPr id="128004" name="Text Box 4"/>
          <p:cNvSpPr txBox="1"/>
          <p:nvPr/>
        </p:nvSpPr>
        <p:spPr>
          <a:xfrm>
            <a:off x="304800" y="6170613"/>
            <a:ext cx="7507288" cy="274637"/>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sz="1800" b="1" i="1" dirty="0">
              <a:solidFill>
                <a:srgbClr val="666699"/>
              </a:solidFill>
              <a:ea typeface="华文新魏" pitchFamily="2" charset="-122"/>
            </a:endParaRPr>
          </a:p>
        </p:txBody>
      </p:sp>
      <p:grpSp>
        <p:nvGrpSpPr>
          <p:cNvPr id="128005" name="Group 5"/>
          <p:cNvGrpSpPr/>
          <p:nvPr/>
        </p:nvGrpSpPr>
        <p:grpSpPr>
          <a:xfrm>
            <a:off x="5973763" y="863600"/>
            <a:ext cx="3151187" cy="4338638"/>
            <a:chOff x="3560" y="1196"/>
            <a:chExt cx="1985" cy="2733"/>
          </a:xfrm>
        </p:grpSpPr>
        <p:sp>
          <p:nvSpPr>
            <p:cNvPr id="128008" name="Rectangle 6"/>
            <p:cNvSpPr/>
            <p:nvPr/>
          </p:nvSpPr>
          <p:spPr>
            <a:xfrm>
              <a:off x="3709" y="1318"/>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0x100</a:t>
              </a:r>
              <a:endParaRPr lang="en-US" altLang="zh-TW" sz="1400" b="1" dirty="0">
                <a:latin typeface="Courier New" panose="02070309020205020404" pitchFamily="49" charset="0"/>
                <a:ea typeface="PMingLiU" pitchFamily="18" charset="-120"/>
              </a:endParaRPr>
            </a:p>
          </p:txBody>
        </p:sp>
        <p:sp>
          <p:nvSpPr>
            <p:cNvPr id="128009" name="Rectangle 7"/>
            <p:cNvSpPr/>
            <p:nvPr/>
          </p:nvSpPr>
          <p:spPr>
            <a:xfrm>
              <a:off x="3702" y="1769"/>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0x1</a:t>
              </a:r>
              <a:r>
                <a:rPr lang="en-US" altLang="zh-CN" sz="1400" b="1" dirty="0">
                  <a:latin typeface="Courier New" panose="02070309020205020404" pitchFamily="49" charset="0"/>
                  <a:ea typeface="PMingLiU" pitchFamily="18" charset="-120"/>
                </a:rPr>
                <a:t>7</a:t>
              </a:r>
              <a:r>
                <a:rPr lang="en-US" altLang="zh-TW" sz="1400" b="1" dirty="0">
                  <a:latin typeface="Courier New" panose="02070309020205020404" pitchFamily="49" charset="0"/>
                  <a:ea typeface="PMingLiU" pitchFamily="18" charset="-120"/>
                </a:rPr>
                <a:t>C</a:t>
              </a:r>
              <a:endParaRPr lang="en-US" altLang="zh-TW" sz="1400" b="1" dirty="0">
                <a:latin typeface="Courier New" panose="02070309020205020404" pitchFamily="49" charset="0"/>
                <a:ea typeface="PMingLiU" pitchFamily="18" charset="-120"/>
              </a:endParaRPr>
            </a:p>
          </p:txBody>
        </p:sp>
        <p:sp>
          <p:nvSpPr>
            <p:cNvPr id="128010" name="Rectangle 8"/>
            <p:cNvSpPr/>
            <p:nvPr/>
          </p:nvSpPr>
          <p:spPr>
            <a:xfrm>
              <a:off x="3702" y="1913"/>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0x1</a:t>
              </a:r>
              <a:r>
                <a:rPr lang="en-US" altLang="zh-CN" sz="1400" b="1" dirty="0">
                  <a:latin typeface="Courier New" panose="02070309020205020404" pitchFamily="49" charset="0"/>
                  <a:ea typeface="PMingLiU" pitchFamily="18" charset="-120"/>
                </a:rPr>
                <a:t>8</a:t>
              </a:r>
              <a:r>
                <a:rPr lang="en-US" altLang="zh-TW" sz="1400" b="1" dirty="0">
                  <a:latin typeface="Courier New" panose="02070309020205020404" pitchFamily="49" charset="0"/>
                  <a:ea typeface="PMingLiU" pitchFamily="18" charset="-120"/>
                </a:rPr>
                <a:t>0</a:t>
              </a:r>
              <a:endParaRPr lang="en-US" altLang="zh-TW" sz="1400" b="1" dirty="0">
                <a:latin typeface="Courier New" panose="02070309020205020404" pitchFamily="49" charset="0"/>
                <a:ea typeface="PMingLiU" pitchFamily="18" charset="-120"/>
              </a:endParaRPr>
            </a:p>
          </p:txBody>
        </p:sp>
        <p:sp>
          <p:nvSpPr>
            <p:cNvPr id="128011" name="Rectangle 9"/>
            <p:cNvSpPr/>
            <p:nvPr/>
          </p:nvSpPr>
          <p:spPr>
            <a:xfrm>
              <a:off x="3702" y="2057"/>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0x1</a:t>
              </a:r>
              <a:r>
                <a:rPr lang="en-US" altLang="zh-CN" sz="1400" b="1" dirty="0">
                  <a:latin typeface="Courier New" panose="02070309020205020404" pitchFamily="49" charset="0"/>
                  <a:ea typeface="PMingLiU" pitchFamily="18" charset="-120"/>
                </a:rPr>
                <a:t>8</a:t>
              </a:r>
              <a:r>
                <a:rPr lang="en-US" altLang="zh-TW" sz="1400" b="1" dirty="0">
                  <a:latin typeface="Courier New" panose="02070309020205020404" pitchFamily="49" charset="0"/>
                  <a:ea typeface="PMingLiU" pitchFamily="18" charset="-120"/>
                </a:rPr>
                <a:t>4</a:t>
              </a:r>
              <a:endParaRPr lang="en-US" altLang="zh-TW" sz="1400" b="1" dirty="0">
                <a:latin typeface="Courier New" panose="02070309020205020404" pitchFamily="49" charset="0"/>
                <a:ea typeface="PMingLiU" pitchFamily="18" charset="-120"/>
              </a:endParaRPr>
            </a:p>
          </p:txBody>
        </p:sp>
        <p:sp>
          <p:nvSpPr>
            <p:cNvPr id="128012" name="Rectangle 10"/>
            <p:cNvSpPr/>
            <p:nvPr/>
          </p:nvSpPr>
          <p:spPr>
            <a:xfrm>
              <a:off x="3702" y="2538"/>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0x400</a:t>
              </a:r>
              <a:endParaRPr lang="en-US" altLang="zh-TW" sz="1400" b="1" dirty="0">
                <a:latin typeface="Courier New" panose="02070309020205020404" pitchFamily="49" charset="0"/>
                <a:ea typeface="PMingLiU" pitchFamily="18" charset="-120"/>
              </a:endParaRPr>
            </a:p>
          </p:txBody>
        </p:sp>
        <p:sp>
          <p:nvSpPr>
            <p:cNvPr id="128013" name="Rectangle 11"/>
            <p:cNvSpPr/>
            <p:nvPr/>
          </p:nvSpPr>
          <p:spPr>
            <a:xfrm>
              <a:off x="3702" y="2682"/>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0x404</a:t>
              </a:r>
              <a:endParaRPr lang="en-US" altLang="zh-TW" sz="1400" b="1" dirty="0">
                <a:latin typeface="Courier New" panose="02070309020205020404" pitchFamily="49" charset="0"/>
                <a:ea typeface="PMingLiU" pitchFamily="18" charset="-120"/>
              </a:endParaRPr>
            </a:p>
          </p:txBody>
        </p:sp>
        <p:sp>
          <p:nvSpPr>
            <p:cNvPr id="128014" name="Rectangle 12"/>
            <p:cNvSpPr/>
            <p:nvPr/>
          </p:nvSpPr>
          <p:spPr>
            <a:xfrm>
              <a:off x="3702" y="3114"/>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a:t>
              </a:r>
              <a:r>
                <a:rPr lang="en-US" altLang="zh-CN" sz="1400" b="1" dirty="0">
                  <a:latin typeface="Courier New" panose="02070309020205020404" pitchFamily="49" charset="0"/>
                  <a:ea typeface="PMingLiU" pitchFamily="18" charset="-120"/>
                </a:rPr>
                <a:t>c0</a:t>
              </a:r>
              <a:r>
                <a:rPr lang="en-US" altLang="zh-TW" sz="1400" b="1" dirty="0">
                  <a:latin typeface="Courier New" panose="02070309020205020404" pitchFamily="49" charset="0"/>
                  <a:ea typeface="PMingLiU" pitchFamily="18" charset="-120"/>
                </a:rPr>
                <a:t>0</a:t>
              </a:r>
              <a:endParaRPr lang="en-US" altLang="zh-TW" sz="1400" b="1" dirty="0">
                <a:latin typeface="Courier New" panose="02070309020205020404" pitchFamily="49" charset="0"/>
                <a:ea typeface="PMingLiU" pitchFamily="18" charset="-120"/>
              </a:endParaRPr>
            </a:p>
          </p:txBody>
        </p:sp>
        <p:sp>
          <p:nvSpPr>
            <p:cNvPr id="128015" name="Rectangle 13"/>
            <p:cNvSpPr/>
            <p:nvPr/>
          </p:nvSpPr>
          <p:spPr>
            <a:xfrm>
              <a:off x="3702" y="3258"/>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a:t>
              </a:r>
              <a:r>
                <a:rPr lang="en-US" altLang="zh-CN" sz="1400" b="1" dirty="0">
                  <a:latin typeface="Courier New" panose="02070309020205020404" pitchFamily="49" charset="0"/>
                  <a:ea typeface="PMingLiU" pitchFamily="18" charset="-120"/>
                </a:rPr>
                <a:t>c0</a:t>
              </a:r>
              <a:r>
                <a:rPr lang="en-US" altLang="zh-TW" sz="1400" b="1" dirty="0">
                  <a:latin typeface="Courier New" panose="02070309020205020404" pitchFamily="49" charset="0"/>
                  <a:ea typeface="PMingLiU" pitchFamily="18" charset="-120"/>
                </a:rPr>
                <a:t>4</a:t>
              </a:r>
              <a:endParaRPr lang="en-US" altLang="zh-TW" sz="1400" b="1" dirty="0">
                <a:latin typeface="Courier New" panose="02070309020205020404" pitchFamily="49" charset="0"/>
                <a:ea typeface="PMingLiU" pitchFamily="18" charset="-120"/>
              </a:endParaRPr>
            </a:p>
          </p:txBody>
        </p:sp>
        <p:sp>
          <p:nvSpPr>
            <p:cNvPr id="128016" name="Rectangle 14"/>
            <p:cNvSpPr/>
            <p:nvPr/>
          </p:nvSpPr>
          <p:spPr>
            <a:xfrm>
              <a:off x="3709" y="1196"/>
              <a:ext cx="447" cy="190"/>
            </a:xfrm>
            <a:prstGeom prst="rect">
              <a:avLst/>
            </a:prstGeom>
            <a:noFill/>
            <a:ln w="9525">
              <a:noFill/>
            </a:ln>
          </p:spPr>
          <p:txBody>
            <a:bodyPr wrap="none" lIns="89140" tIns="43777" rIns="89140" bIns="43777">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TW" sz="1400" b="1" dirty="0">
                  <a:latin typeface="Courier New" panose="02070309020205020404" pitchFamily="49" charset="0"/>
                  <a:ea typeface="PMingLiU" pitchFamily="18" charset="-120"/>
                </a:rPr>
                <a:t>0x0FC</a:t>
              </a:r>
              <a:endParaRPr lang="en-US" altLang="zh-TW" sz="1400" b="1" dirty="0">
                <a:latin typeface="Courier New" panose="02070309020205020404" pitchFamily="49" charset="0"/>
                <a:ea typeface="PMingLiU" pitchFamily="18" charset="-120"/>
              </a:endParaRPr>
            </a:p>
          </p:txBody>
        </p:sp>
        <p:sp>
          <p:nvSpPr>
            <p:cNvPr id="128017" name="Text Box 15"/>
            <p:cNvSpPr txBox="1"/>
            <p:nvPr/>
          </p:nvSpPr>
          <p:spPr>
            <a:xfrm>
              <a:off x="5239" y="1443"/>
              <a:ext cx="306" cy="2291"/>
            </a:xfrm>
            <a:prstGeom prst="rect">
              <a:avLst/>
            </a:prstGeom>
            <a:noFill/>
            <a:ln w="9525">
              <a:noFill/>
            </a:ln>
          </p:spPr>
          <p:txBody>
            <a:bodyPr vert="eaVert"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chemeClr val="hlink"/>
                  </a:solidFill>
                </a:rPr>
                <a:t>指</a:t>
              </a:r>
              <a:r>
                <a:rPr lang="en-US" altLang="zh-CN" sz="2000" b="1" dirty="0">
                  <a:solidFill>
                    <a:schemeClr val="hlink"/>
                  </a:solidFill>
                </a:rPr>
                <a:t>  </a:t>
              </a:r>
              <a:r>
                <a:rPr lang="zh-CN" altLang="en-US" sz="2000" b="1" dirty="0">
                  <a:solidFill>
                    <a:schemeClr val="hlink"/>
                  </a:solidFill>
                </a:rPr>
                <a:t>令</a:t>
              </a:r>
              <a:r>
                <a:rPr lang="en-US" altLang="zh-CN" sz="2000" b="1" dirty="0">
                  <a:solidFill>
                    <a:schemeClr val="hlink"/>
                  </a:solidFill>
                </a:rPr>
                <a:t>                            </a:t>
              </a:r>
              <a:r>
                <a:rPr lang="zh-CN" altLang="en-US" sz="2000" b="1" dirty="0">
                  <a:solidFill>
                    <a:schemeClr val="hlink"/>
                  </a:solidFill>
                </a:rPr>
                <a:t>数</a:t>
              </a:r>
              <a:r>
                <a:rPr lang="en-US" altLang="zh-CN" sz="2000" b="1" dirty="0">
                  <a:solidFill>
                    <a:schemeClr val="hlink"/>
                  </a:solidFill>
                </a:rPr>
                <a:t>   </a:t>
              </a:r>
              <a:r>
                <a:rPr lang="zh-CN" altLang="en-US" sz="2000" b="1" dirty="0">
                  <a:solidFill>
                    <a:schemeClr val="hlink"/>
                  </a:solidFill>
                </a:rPr>
                <a:t>据</a:t>
              </a:r>
              <a:endParaRPr lang="zh-CN" altLang="en-US" sz="2000" b="1" dirty="0">
                <a:solidFill>
                  <a:schemeClr val="hlink"/>
                </a:solidFill>
              </a:endParaRPr>
            </a:p>
          </p:txBody>
        </p:sp>
        <p:sp>
          <p:nvSpPr>
            <p:cNvPr id="128018" name="Text Box 16"/>
            <p:cNvSpPr txBox="1"/>
            <p:nvPr/>
          </p:nvSpPr>
          <p:spPr>
            <a:xfrm>
              <a:off x="4978" y="2539"/>
              <a:ext cx="183" cy="219"/>
            </a:xfrm>
            <a:prstGeom prst="rect">
              <a:avLst/>
            </a:prstGeom>
            <a:noFill/>
            <a:ln w="9525">
              <a:noFill/>
            </a:ln>
          </p:spPr>
          <p:txBody>
            <a:bodyPr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700" b="1" dirty="0">
                  <a:solidFill>
                    <a:srgbClr val="0000FF"/>
                  </a:solidFill>
                </a:rPr>
                <a:t>A</a:t>
              </a:r>
              <a:endParaRPr lang="en-US" altLang="zh-CN" sz="1700" b="1" dirty="0">
                <a:solidFill>
                  <a:srgbClr val="0000FF"/>
                </a:solidFill>
              </a:endParaRPr>
            </a:p>
          </p:txBody>
        </p:sp>
        <p:sp>
          <p:nvSpPr>
            <p:cNvPr id="128019" name="Text Box 17"/>
            <p:cNvSpPr txBox="1"/>
            <p:nvPr/>
          </p:nvSpPr>
          <p:spPr>
            <a:xfrm>
              <a:off x="4978" y="3710"/>
              <a:ext cx="522" cy="219"/>
            </a:xfrm>
            <a:prstGeom prst="rect">
              <a:avLst/>
            </a:prstGeom>
            <a:noFill/>
            <a:ln w="9525">
              <a:noFill/>
            </a:ln>
          </p:spPr>
          <p:txBody>
            <a:bodyPr lIns="90083" tIns="45046" rIns="90083"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700" b="1" dirty="0">
                  <a:solidFill>
                    <a:srgbClr val="0000FF"/>
                  </a:solidFill>
                </a:rPr>
                <a:t>sum</a:t>
              </a:r>
              <a:endParaRPr lang="en-US" altLang="zh-CN" sz="1700" b="1" dirty="0">
                <a:solidFill>
                  <a:srgbClr val="0000FF"/>
                </a:solidFill>
              </a:endParaRPr>
            </a:p>
          </p:txBody>
        </p:sp>
        <p:sp>
          <p:nvSpPr>
            <p:cNvPr id="128020" name="Rectangle 18"/>
            <p:cNvSpPr/>
            <p:nvPr/>
          </p:nvSpPr>
          <p:spPr>
            <a:xfrm>
              <a:off x="4160" y="1962"/>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I</a:t>
              </a:r>
              <a:r>
                <a:rPr lang="en-US" altLang="zh-CN" sz="1400" b="1" dirty="0">
                  <a:latin typeface="Courier New" panose="02070309020205020404" pitchFamily="49" charset="0"/>
                  <a:ea typeface="PMingLiU" pitchFamily="18" charset="-120"/>
                </a:rPr>
                <a:t>34</a:t>
              </a:r>
              <a:endParaRPr lang="en-US" altLang="zh-TW" sz="1400" b="1" dirty="0">
                <a:latin typeface="Courier New" panose="02070309020205020404" pitchFamily="49" charset="0"/>
                <a:ea typeface="PMingLiU" pitchFamily="18" charset="-120"/>
              </a:endParaRPr>
            </a:p>
          </p:txBody>
        </p:sp>
        <p:sp>
          <p:nvSpPr>
            <p:cNvPr id="128021" name="Rectangle 19"/>
            <p:cNvSpPr/>
            <p:nvPr/>
          </p:nvSpPr>
          <p:spPr>
            <a:xfrm>
              <a:off x="4160" y="2106"/>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I</a:t>
              </a:r>
              <a:r>
                <a:rPr lang="en-US" altLang="zh-CN" sz="1400" b="1" dirty="0">
                  <a:latin typeface="Courier New" panose="02070309020205020404" pitchFamily="49" charset="0"/>
                  <a:ea typeface="PMingLiU" pitchFamily="18" charset="-120"/>
                </a:rPr>
                <a:t>35</a:t>
              </a:r>
              <a:endParaRPr lang="en-US" altLang="zh-TW" sz="1400" b="1" dirty="0">
                <a:latin typeface="Courier New" panose="02070309020205020404" pitchFamily="49" charset="0"/>
                <a:ea typeface="PMingLiU" pitchFamily="18" charset="-120"/>
              </a:endParaRPr>
            </a:p>
          </p:txBody>
        </p:sp>
        <p:sp>
          <p:nvSpPr>
            <p:cNvPr id="128022" name="Rectangle 20"/>
            <p:cNvSpPr/>
            <p:nvPr/>
          </p:nvSpPr>
          <p:spPr>
            <a:xfrm>
              <a:off x="4160" y="2587"/>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CN" sz="1400" b="1" dirty="0">
                  <a:latin typeface="Courier New" panose="02070309020205020404" pitchFamily="49" charset="0"/>
                  <a:ea typeface="PMingLiU" pitchFamily="18" charset="-120"/>
                </a:rPr>
                <a:t>A</a:t>
              </a:r>
              <a:r>
                <a:rPr lang="en-US" altLang="zh-TW" sz="1400" b="1" dirty="0">
                  <a:latin typeface="Courier New" panose="02070309020205020404" pitchFamily="49" charset="0"/>
                  <a:ea typeface="PMingLiU" pitchFamily="18" charset="-120"/>
                </a:rPr>
                <a:t>[0]</a:t>
              </a:r>
              <a:r>
                <a:rPr lang="en-US" altLang="zh-CN" sz="1400" b="1" dirty="0">
                  <a:latin typeface="Courier New" panose="02070309020205020404" pitchFamily="49" charset="0"/>
                  <a:ea typeface="PMingLiU" pitchFamily="18" charset="-120"/>
                </a:rPr>
                <a:t>[0]</a:t>
              </a:r>
              <a:endParaRPr lang="en-US" altLang="zh-TW" sz="1400" b="1" dirty="0">
                <a:latin typeface="Courier New" panose="02070309020205020404" pitchFamily="49" charset="0"/>
                <a:ea typeface="PMingLiU" pitchFamily="18" charset="-120"/>
              </a:endParaRPr>
            </a:p>
          </p:txBody>
        </p:sp>
        <p:sp>
          <p:nvSpPr>
            <p:cNvPr id="128023" name="Rectangle 21"/>
            <p:cNvSpPr/>
            <p:nvPr/>
          </p:nvSpPr>
          <p:spPr>
            <a:xfrm>
              <a:off x="4160" y="2731"/>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A</a:t>
              </a:r>
              <a:r>
                <a:rPr lang="en-US" altLang="zh-CN" sz="1400" b="1" dirty="0">
                  <a:latin typeface="Courier New" panose="02070309020205020404" pitchFamily="49" charset="0"/>
                  <a:ea typeface="PMingLiU" pitchFamily="18" charset="-120"/>
                </a:rPr>
                <a:t>[0]</a:t>
              </a:r>
              <a:r>
                <a:rPr lang="en-US" altLang="zh-TW" sz="1400" b="1" dirty="0">
                  <a:latin typeface="Courier New" panose="02070309020205020404" pitchFamily="49" charset="0"/>
                  <a:ea typeface="PMingLiU" pitchFamily="18" charset="-120"/>
                </a:rPr>
                <a:t>[1]</a:t>
              </a:r>
              <a:endParaRPr lang="en-US" altLang="zh-TW" sz="1400" b="1" dirty="0">
                <a:latin typeface="Courier New" panose="02070309020205020404" pitchFamily="49" charset="0"/>
                <a:ea typeface="PMingLiU" pitchFamily="18" charset="-120"/>
              </a:endParaRPr>
            </a:p>
          </p:txBody>
        </p:sp>
        <p:sp>
          <p:nvSpPr>
            <p:cNvPr id="128024" name="Rectangle 22"/>
            <p:cNvSpPr/>
            <p:nvPr/>
          </p:nvSpPr>
          <p:spPr>
            <a:xfrm>
              <a:off x="4160" y="2875"/>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800" b="1" dirty="0">
                  <a:latin typeface="Times New Roman" panose="02020603050405020304" pitchFamily="18" charset="0"/>
                  <a:ea typeface="华文新魏" pitchFamily="2" charset="-122"/>
                </a:rPr>
                <a:t>• • •</a:t>
              </a:r>
              <a:endParaRPr lang="en-US" altLang="zh-TW" sz="1800" b="1" dirty="0">
                <a:ea typeface="华文新魏" pitchFamily="2" charset="-122"/>
              </a:endParaRPr>
            </a:p>
          </p:txBody>
        </p:sp>
        <p:sp>
          <p:nvSpPr>
            <p:cNvPr id="128025" name="Rectangle 23"/>
            <p:cNvSpPr/>
            <p:nvPr/>
          </p:nvSpPr>
          <p:spPr>
            <a:xfrm>
              <a:off x="4160" y="3019"/>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A</a:t>
              </a:r>
              <a:r>
                <a:rPr lang="en-US" altLang="zh-CN" sz="1400" b="1" dirty="0">
                  <a:latin typeface="Courier New" panose="02070309020205020404" pitchFamily="49" charset="0"/>
                  <a:ea typeface="PMingLiU" pitchFamily="18" charset="-120"/>
                </a:rPr>
                <a:t>[0]</a:t>
              </a:r>
              <a:r>
                <a:rPr lang="en-US" altLang="zh-TW" sz="1400" b="1" dirty="0">
                  <a:latin typeface="Courier New" panose="02070309020205020404" pitchFamily="49" charset="0"/>
                  <a:ea typeface="PMingLiU" pitchFamily="18" charset="-120"/>
                </a:rPr>
                <a:t>[</a:t>
              </a:r>
              <a:r>
                <a:rPr lang="en-US" altLang="zh-CN" sz="1400" b="1" dirty="0">
                  <a:latin typeface="Courier New" panose="02070309020205020404" pitchFamily="49" charset="0"/>
                  <a:ea typeface="PMingLiU" pitchFamily="18" charset="-120"/>
                </a:rPr>
                <a:t>2047</a:t>
              </a:r>
              <a:r>
                <a:rPr lang="en-US" altLang="zh-TW" sz="1400" b="1" dirty="0">
                  <a:latin typeface="Courier New" panose="02070309020205020404" pitchFamily="49" charset="0"/>
                  <a:ea typeface="PMingLiU" pitchFamily="18" charset="-120"/>
                </a:rPr>
                <a:t>]</a:t>
              </a:r>
              <a:endParaRPr lang="en-US" altLang="zh-TW" sz="1400" b="1" dirty="0">
                <a:latin typeface="Courier New" panose="02070309020205020404" pitchFamily="49" charset="0"/>
                <a:ea typeface="PMingLiU" pitchFamily="18" charset="-120"/>
              </a:endParaRPr>
            </a:p>
          </p:txBody>
        </p:sp>
        <p:sp>
          <p:nvSpPr>
            <p:cNvPr id="128026" name="Rectangle 24"/>
            <p:cNvSpPr/>
            <p:nvPr/>
          </p:nvSpPr>
          <p:spPr>
            <a:xfrm>
              <a:off x="4160" y="3163"/>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A</a:t>
              </a:r>
              <a:r>
                <a:rPr lang="en-US" altLang="zh-CN" sz="1400" b="1" dirty="0">
                  <a:latin typeface="Courier New" panose="02070309020205020404" pitchFamily="49" charset="0"/>
                  <a:ea typeface="PMingLiU" pitchFamily="18" charset="-120"/>
                </a:rPr>
                <a:t>[1]</a:t>
              </a:r>
              <a:r>
                <a:rPr lang="en-US" altLang="zh-TW" sz="1400" b="1" dirty="0">
                  <a:latin typeface="Courier New" panose="02070309020205020404" pitchFamily="49" charset="0"/>
                  <a:ea typeface="PMingLiU" pitchFamily="18" charset="-120"/>
                </a:rPr>
                <a:t>[</a:t>
              </a:r>
              <a:r>
                <a:rPr lang="en-US" altLang="zh-CN" sz="1400" b="1" dirty="0">
                  <a:latin typeface="Courier New" panose="02070309020205020404" pitchFamily="49" charset="0"/>
                  <a:ea typeface="PMingLiU" pitchFamily="18" charset="-120"/>
                </a:rPr>
                <a:t>0</a:t>
              </a:r>
              <a:r>
                <a:rPr lang="en-US" altLang="zh-TW" sz="1400" b="1" dirty="0">
                  <a:latin typeface="Courier New" panose="02070309020205020404" pitchFamily="49" charset="0"/>
                  <a:ea typeface="PMingLiU" pitchFamily="18" charset="-120"/>
                </a:rPr>
                <a:t>]</a:t>
              </a:r>
              <a:endParaRPr lang="en-US" altLang="zh-TW" sz="1400" b="1" dirty="0">
                <a:latin typeface="Courier New" panose="02070309020205020404" pitchFamily="49" charset="0"/>
                <a:ea typeface="PMingLiU" pitchFamily="18" charset="-120"/>
              </a:endParaRPr>
            </a:p>
          </p:txBody>
        </p:sp>
        <p:sp>
          <p:nvSpPr>
            <p:cNvPr id="128027" name="Rectangle 25"/>
            <p:cNvSpPr/>
            <p:nvPr/>
          </p:nvSpPr>
          <p:spPr>
            <a:xfrm>
              <a:off x="4160" y="3307"/>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A</a:t>
              </a:r>
              <a:r>
                <a:rPr lang="en-US" altLang="zh-CN" sz="1400" b="1" dirty="0">
                  <a:latin typeface="Courier New" panose="02070309020205020404" pitchFamily="49" charset="0"/>
                  <a:ea typeface="PMingLiU" pitchFamily="18" charset="-120"/>
                </a:rPr>
                <a:t>[1]</a:t>
              </a:r>
              <a:r>
                <a:rPr lang="en-US" altLang="zh-TW" sz="1400" b="1" dirty="0">
                  <a:latin typeface="Courier New" panose="02070309020205020404" pitchFamily="49" charset="0"/>
                  <a:ea typeface="PMingLiU" pitchFamily="18" charset="-120"/>
                </a:rPr>
                <a:t>[</a:t>
              </a:r>
              <a:r>
                <a:rPr lang="en-US" altLang="zh-CN" sz="1400" b="1" dirty="0">
                  <a:latin typeface="Courier New" panose="02070309020205020404" pitchFamily="49" charset="0"/>
                  <a:ea typeface="PMingLiU" pitchFamily="18" charset="-120"/>
                </a:rPr>
                <a:t>1</a:t>
              </a:r>
              <a:r>
                <a:rPr lang="en-US" altLang="zh-TW" sz="1400" b="1" dirty="0">
                  <a:latin typeface="Courier New" panose="02070309020205020404" pitchFamily="49" charset="0"/>
                  <a:ea typeface="PMingLiU" pitchFamily="18" charset="-120"/>
                </a:rPr>
                <a:t>]</a:t>
              </a:r>
              <a:endParaRPr lang="en-US" altLang="zh-TW" sz="1400" b="1" dirty="0">
                <a:latin typeface="Courier New" panose="02070309020205020404" pitchFamily="49" charset="0"/>
                <a:ea typeface="PMingLiU" pitchFamily="18" charset="-120"/>
              </a:endParaRPr>
            </a:p>
          </p:txBody>
        </p:sp>
        <p:sp>
          <p:nvSpPr>
            <p:cNvPr id="128028" name="Rectangle 26"/>
            <p:cNvSpPr/>
            <p:nvPr/>
          </p:nvSpPr>
          <p:spPr>
            <a:xfrm>
              <a:off x="4160" y="2250"/>
              <a:ext cx="818" cy="321"/>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ea typeface="PMingLiU" pitchFamily="18" charset="-120"/>
                </a:rPr>
                <a:t>• • •</a:t>
              </a:r>
              <a:endParaRPr lang="en-US" altLang="zh-TW" sz="1400" b="1" dirty="0">
                <a:ea typeface="PMingLiU" pitchFamily="18" charset="-120"/>
              </a:endParaRPr>
            </a:p>
          </p:txBody>
        </p:sp>
        <p:sp>
          <p:nvSpPr>
            <p:cNvPr id="128029" name="Rectangle 27"/>
            <p:cNvSpPr/>
            <p:nvPr/>
          </p:nvSpPr>
          <p:spPr>
            <a:xfrm>
              <a:off x="4160" y="3787"/>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endParaRPr lang="zh-CN" altLang="en-US" sz="1400" b="1" dirty="0">
                <a:latin typeface="Courier New" panose="02070309020205020404" pitchFamily="49" charset="0"/>
                <a:ea typeface="PMingLiU" pitchFamily="18" charset="-120"/>
              </a:endParaRPr>
            </a:p>
          </p:txBody>
        </p:sp>
        <p:sp>
          <p:nvSpPr>
            <p:cNvPr id="128030" name="Rectangle 28"/>
            <p:cNvSpPr/>
            <p:nvPr/>
          </p:nvSpPr>
          <p:spPr>
            <a:xfrm>
              <a:off x="4160" y="3451"/>
              <a:ext cx="818" cy="320"/>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ea typeface="PMingLiU" pitchFamily="18" charset="-120"/>
                </a:rPr>
                <a:t>• • •</a:t>
              </a:r>
              <a:endParaRPr lang="en-US" altLang="zh-TW" sz="1400" b="1" dirty="0">
                <a:ea typeface="PMingLiU" pitchFamily="18" charset="-120"/>
              </a:endParaRPr>
            </a:p>
          </p:txBody>
        </p:sp>
        <p:sp>
          <p:nvSpPr>
            <p:cNvPr id="128031" name="Rectangle 29"/>
            <p:cNvSpPr/>
            <p:nvPr/>
          </p:nvSpPr>
          <p:spPr>
            <a:xfrm>
              <a:off x="4156" y="1209"/>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I</a:t>
              </a:r>
              <a:r>
                <a:rPr lang="en-US" altLang="zh-CN" sz="1400" b="1" dirty="0">
                  <a:latin typeface="Courier New" panose="02070309020205020404" pitchFamily="49" charset="0"/>
                  <a:ea typeface="PMingLiU" pitchFamily="18" charset="-120"/>
                </a:rPr>
                <a:t>1</a:t>
              </a:r>
              <a:endParaRPr lang="en-US" altLang="zh-TW" sz="1400" b="1" dirty="0">
                <a:latin typeface="Courier New" panose="02070309020205020404" pitchFamily="49" charset="0"/>
                <a:ea typeface="PMingLiU" pitchFamily="18" charset="-120"/>
              </a:endParaRPr>
            </a:p>
          </p:txBody>
        </p:sp>
        <p:sp>
          <p:nvSpPr>
            <p:cNvPr id="128032" name="Rectangle 30"/>
            <p:cNvSpPr/>
            <p:nvPr/>
          </p:nvSpPr>
          <p:spPr>
            <a:xfrm>
              <a:off x="4156" y="1353"/>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latin typeface="Courier New" panose="02070309020205020404" pitchFamily="49" charset="0"/>
                  <a:ea typeface="PMingLiU" pitchFamily="18" charset="-120"/>
                </a:rPr>
                <a:t>I</a:t>
              </a:r>
              <a:r>
                <a:rPr lang="en-US" altLang="zh-CN" sz="1400" b="1" dirty="0">
                  <a:latin typeface="Courier New" panose="02070309020205020404" pitchFamily="49" charset="0"/>
                  <a:ea typeface="PMingLiU" pitchFamily="18" charset="-120"/>
                </a:rPr>
                <a:t>2</a:t>
              </a:r>
              <a:endParaRPr lang="en-US" altLang="zh-TW" sz="1400" b="1" dirty="0">
                <a:latin typeface="Courier New" panose="02070309020205020404" pitchFamily="49" charset="0"/>
                <a:ea typeface="PMingLiU" pitchFamily="18" charset="-120"/>
              </a:endParaRPr>
            </a:p>
          </p:txBody>
        </p:sp>
        <p:sp>
          <p:nvSpPr>
            <p:cNvPr id="128033" name="Rectangle 31"/>
            <p:cNvSpPr/>
            <p:nvPr/>
          </p:nvSpPr>
          <p:spPr>
            <a:xfrm>
              <a:off x="4156" y="1834"/>
              <a:ext cx="818" cy="128"/>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CN" sz="1400" b="1" dirty="0">
                  <a:latin typeface="Courier New" panose="02070309020205020404" pitchFamily="49" charset="0"/>
                  <a:ea typeface="PMingLiU" pitchFamily="18" charset="-120"/>
                </a:rPr>
                <a:t>I33</a:t>
              </a:r>
              <a:endParaRPr lang="en-US" altLang="zh-TW" sz="1400" b="1" dirty="0">
                <a:latin typeface="Courier New" panose="02070309020205020404" pitchFamily="49" charset="0"/>
                <a:ea typeface="PMingLiU" pitchFamily="18" charset="-120"/>
              </a:endParaRPr>
            </a:p>
          </p:txBody>
        </p:sp>
        <p:sp>
          <p:nvSpPr>
            <p:cNvPr id="128034" name="Rectangle 32"/>
            <p:cNvSpPr/>
            <p:nvPr/>
          </p:nvSpPr>
          <p:spPr>
            <a:xfrm>
              <a:off x="4156" y="1497"/>
              <a:ext cx="818" cy="321"/>
            </a:xfrm>
            <a:prstGeom prst="rect">
              <a:avLst/>
            </a:prstGeom>
            <a:solidFill>
              <a:schemeClr val="bg1"/>
            </a:solidFill>
            <a:ln w="25400" cap="flat" cmpd="sng">
              <a:solidFill>
                <a:schemeClr val="tx1"/>
              </a:solidFill>
              <a:prstDash val="solid"/>
              <a:miter/>
              <a:headEnd type="none" w="med" len="med"/>
              <a:tailEnd type="none" w="med" len="med"/>
            </a:ln>
          </p:spPr>
          <p:txBody>
            <a:bodyPr wrap="none" lIns="89140" tIns="43777" rIns="89140" bIns="43777"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spcBef>
                  <a:spcPct val="0"/>
                </a:spcBef>
                <a:buClrTx/>
                <a:buSzTx/>
                <a:buFontTx/>
                <a:buNone/>
              </a:pPr>
              <a:r>
                <a:rPr lang="en-US" altLang="zh-TW" sz="1400" b="1" dirty="0">
                  <a:ea typeface="PMingLiU" pitchFamily="18" charset="-120"/>
                </a:rPr>
                <a:t>• • •</a:t>
              </a:r>
              <a:endParaRPr lang="en-US" altLang="zh-TW" sz="1400" b="1" dirty="0">
                <a:ea typeface="PMingLiU" pitchFamily="18" charset="-120"/>
              </a:endParaRPr>
            </a:p>
          </p:txBody>
        </p:sp>
        <p:grpSp>
          <p:nvGrpSpPr>
            <p:cNvPr id="128035" name="Group 33"/>
            <p:cNvGrpSpPr/>
            <p:nvPr/>
          </p:nvGrpSpPr>
          <p:grpSpPr>
            <a:xfrm>
              <a:off x="5023" y="1497"/>
              <a:ext cx="202" cy="416"/>
              <a:chOff x="5023" y="1497"/>
              <a:chExt cx="202" cy="416"/>
            </a:xfrm>
          </p:grpSpPr>
          <p:sp>
            <p:nvSpPr>
              <p:cNvPr id="128037" name="Line 34"/>
              <p:cNvSpPr/>
              <p:nvPr/>
            </p:nvSpPr>
            <p:spPr>
              <a:xfrm>
                <a:off x="5023" y="1913"/>
                <a:ext cx="202" cy="0"/>
              </a:xfrm>
              <a:prstGeom prst="line">
                <a:avLst/>
              </a:prstGeom>
              <a:ln w="38100" cap="flat" cmpd="sng">
                <a:solidFill>
                  <a:srgbClr val="CC0000"/>
                </a:solidFill>
                <a:prstDash val="solid"/>
                <a:headEnd type="none" w="med" len="med"/>
                <a:tailEnd type="none" w="med" len="med"/>
              </a:ln>
            </p:spPr>
          </p:sp>
          <p:sp>
            <p:nvSpPr>
              <p:cNvPr id="128038" name="Line 35"/>
              <p:cNvSpPr/>
              <p:nvPr/>
            </p:nvSpPr>
            <p:spPr>
              <a:xfrm flipV="1">
                <a:off x="5225" y="1497"/>
                <a:ext cx="0" cy="416"/>
              </a:xfrm>
              <a:prstGeom prst="line">
                <a:avLst/>
              </a:prstGeom>
              <a:ln w="38100" cap="flat" cmpd="sng">
                <a:solidFill>
                  <a:srgbClr val="CC0000"/>
                </a:solidFill>
                <a:prstDash val="solid"/>
                <a:headEnd type="none" w="med" len="med"/>
                <a:tailEnd type="none" w="med" len="med"/>
              </a:ln>
            </p:spPr>
          </p:sp>
          <p:sp>
            <p:nvSpPr>
              <p:cNvPr id="128039" name="Line 36"/>
              <p:cNvSpPr/>
              <p:nvPr/>
            </p:nvSpPr>
            <p:spPr>
              <a:xfrm flipH="1">
                <a:off x="5023" y="1497"/>
                <a:ext cx="202" cy="0"/>
              </a:xfrm>
              <a:prstGeom prst="line">
                <a:avLst/>
              </a:prstGeom>
              <a:ln w="38100" cap="flat" cmpd="sng">
                <a:solidFill>
                  <a:srgbClr val="CC0000"/>
                </a:solidFill>
                <a:prstDash val="solid"/>
                <a:headEnd type="none" w="med" len="med"/>
                <a:tailEnd type="triangle" w="med" len="med"/>
              </a:ln>
            </p:spPr>
          </p:sp>
        </p:grpSp>
        <p:sp>
          <p:nvSpPr>
            <p:cNvPr id="128036" name="Text Box 37"/>
            <p:cNvSpPr txBox="1"/>
            <p:nvPr/>
          </p:nvSpPr>
          <p:spPr>
            <a:xfrm>
              <a:off x="3560" y="1581"/>
              <a:ext cx="709" cy="1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CC0000"/>
                  </a:solidFill>
                  <a:cs typeface="Arial" panose="020B0604020202020204" pitchFamily="34" charset="0"/>
                </a:rPr>
                <a:t>fo</a:t>
              </a:r>
              <a:r>
                <a:rPr lang="en-US" altLang="zh-CN" sz="1600" b="1" dirty="0">
                  <a:solidFill>
                    <a:srgbClr val="CC0000"/>
                  </a:solidFill>
                  <a:cs typeface="Arial" panose="020B0604020202020204" pitchFamily="34" charset="0"/>
                </a:rPr>
                <a:t>r</a:t>
              </a:r>
              <a:r>
                <a:rPr lang="zh-CN" altLang="en-US" sz="1600" b="1" dirty="0">
                  <a:solidFill>
                    <a:srgbClr val="CC0000"/>
                  </a:solidFill>
                  <a:cs typeface="Arial" panose="020B0604020202020204" pitchFamily="34" charset="0"/>
                </a:rPr>
                <a:t>循环体</a:t>
              </a:r>
              <a:endParaRPr lang="zh-CN" altLang="en-US" sz="1600" b="1" dirty="0">
                <a:solidFill>
                  <a:srgbClr val="CC0000"/>
                </a:solidFill>
                <a:ea typeface="Arial" panose="020B0604020202020204" pitchFamily="34" charset="0"/>
              </a:endParaRPr>
            </a:p>
          </p:txBody>
        </p:sp>
      </p:grpSp>
      <p:sp>
        <p:nvSpPr>
          <p:cNvPr id="174118" name="Text Box 38"/>
          <p:cNvSpPr txBox="1"/>
          <p:nvPr/>
        </p:nvSpPr>
        <p:spPr>
          <a:xfrm>
            <a:off x="611188" y="5138738"/>
            <a:ext cx="4941887" cy="1495425"/>
          </a:xfrm>
          <a:prstGeom prst="rect">
            <a:avLst/>
          </a:prstGeom>
          <a:noFill/>
          <a:ln w="9525">
            <a:noFill/>
          </a:ln>
        </p:spPr>
        <p:txBody>
          <a:bodyPr lIns="45046" tIns="45046" rIns="45046"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nSpc>
                <a:spcPct val="110000"/>
              </a:lnSpc>
              <a:spcBef>
                <a:spcPct val="0"/>
              </a:spcBef>
              <a:buClrTx/>
              <a:buSzTx/>
              <a:buFontTx/>
              <a:buNone/>
            </a:pPr>
            <a:r>
              <a:rPr lang="zh-CN" altLang="en-US" sz="2200" b="1" dirty="0">
                <a:solidFill>
                  <a:srgbClr val="CC0000"/>
                </a:solidFill>
                <a:ea typeface="黑体" panose="02010609060101010101" pitchFamily="49" charset="-122"/>
              </a:rPr>
              <a:t>实际运行结果</a:t>
            </a:r>
            <a:r>
              <a:rPr lang="en-US" altLang="zh-CN" sz="2200" b="1" dirty="0">
                <a:solidFill>
                  <a:srgbClr val="CC0000"/>
                </a:solidFill>
                <a:cs typeface="Arial" panose="020B0604020202020204" pitchFamily="34" charset="0"/>
              </a:rPr>
              <a:t>(2GHz Intel Pentium 4):</a:t>
            </a:r>
            <a:endParaRPr lang="en-US" altLang="zh-CN" sz="2200" b="1" dirty="0">
              <a:cs typeface="Arial" panose="020B0604020202020204" pitchFamily="34" charset="0"/>
            </a:endParaRPr>
          </a:p>
          <a:p>
            <a:pPr marL="0" lvl="0" indent="0">
              <a:lnSpc>
                <a:spcPct val="110000"/>
              </a:lnSpc>
              <a:spcBef>
                <a:spcPct val="0"/>
              </a:spcBef>
              <a:buClrTx/>
              <a:buSzTx/>
              <a:buFontTx/>
              <a:buNone/>
            </a:pPr>
            <a:r>
              <a:rPr lang="zh-CN" altLang="en-US" sz="2200" b="1" dirty="0">
                <a:solidFill>
                  <a:srgbClr val="0000FF"/>
                </a:solidFill>
                <a:ea typeface="黑体" panose="02010609060101010101" pitchFamily="49" charset="-122"/>
              </a:rPr>
              <a:t>程序</a:t>
            </a:r>
            <a:r>
              <a:rPr lang="en-US" altLang="zh-CN" sz="2200" b="1" dirty="0">
                <a:solidFill>
                  <a:srgbClr val="0000FF"/>
                </a:solidFill>
                <a:ea typeface="黑体" panose="02010609060101010101" pitchFamily="49" charset="-122"/>
              </a:rPr>
              <a:t>A</a:t>
            </a:r>
            <a:r>
              <a:rPr lang="zh-CN" altLang="en-US" sz="2200" b="1" dirty="0">
                <a:solidFill>
                  <a:srgbClr val="0000FF"/>
                </a:solidFill>
                <a:ea typeface="黑体" panose="02010609060101010101" pitchFamily="49" charset="-122"/>
              </a:rPr>
              <a:t>：</a:t>
            </a:r>
            <a:r>
              <a:rPr lang="en-US" altLang="zh-CN" sz="2200" b="1" dirty="0">
                <a:solidFill>
                  <a:srgbClr val="0000FF"/>
                </a:solidFill>
                <a:ea typeface="黑体" panose="02010609060101010101" pitchFamily="49" charset="-122"/>
              </a:rPr>
              <a:t>59,393,288 </a:t>
            </a:r>
            <a:r>
              <a:rPr lang="zh-CN" altLang="en-US" sz="2200" b="1" dirty="0">
                <a:solidFill>
                  <a:srgbClr val="0000FF"/>
                </a:solidFill>
                <a:ea typeface="黑体" panose="02010609060101010101" pitchFamily="49" charset="-122"/>
              </a:rPr>
              <a:t>时钟周期</a:t>
            </a:r>
            <a:endParaRPr lang="en-US" altLang="zh-CN" sz="2200" b="1" dirty="0">
              <a:solidFill>
                <a:srgbClr val="0000FF"/>
              </a:solidFill>
              <a:ea typeface="黑体" panose="02010609060101010101" pitchFamily="49" charset="-122"/>
            </a:endParaRPr>
          </a:p>
          <a:p>
            <a:pPr marL="0" lvl="0" indent="0">
              <a:lnSpc>
                <a:spcPct val="110000"/>
              </a:lnSpc>
              <a:spcBef>
                <a:spcPct val="0"/>
              </a:spcBef>
              <a:buClrTx/>
              <a:buSzTx/>
              <a:buFontTx/>
              <a:buNone/>
            </a:pPr>
            <a:r>
              <a:rPr lang="zh-CN" altLang="en-US" sz="2200" b="1" dirty="0">
                <a:solidFill>
                  <a:srgbClr val="0000FF"/>
                </a:solidFill>
                <a:ea typeface="黑体" panose="02010609060101010101" pitchFamily="49" charset="-122"/>
              </a:rPr>
              <a:t>程序</a:t>
            </a:r>
            <a:r>
              <a:rPr lang="en-US" altLang="zh-CN" sz="2200" b="1" dirty="0">
                <a:solidFill>
                  <a:srgbClr val="0000FF"/>
                </a:solidFill>
                <a:ea typeface="黑体" panose="02010609060101010101" pitchFamily="49" charset="-122"/>
              </a:rPr>
              <a:t>B</a:t>
            </a:r>
            <a:r>
              <a:rPr lang="zh-CN" altLang="en-US" sz="2200" b="1" dirty="0">
                <a:solidFill>
                  <a:srgbClr val="0000FF"/>
                </a:solidFill>
                <a:ea typeface="黑体" panose="02010609060101010101" pitchFamily="49" charset="-122"/>
              </a:rPr>
              <a:t>：</a:t>
            </a:r>
            <a:r>
              <a:rPr lang="en-US" altLang="zh-CN" sz="2200" b="1" dirty="0">
                <a:solidFill>
                  <a:srgbClr val="0000FF"/>
                </a:solidFill>
                <a:ea typeface="黑体" panose="02010609060101010101" pitchFamily="49" charset="-122"/>
              </a:rPr>
              <a:t>1,277,877,876 </a:t>
            </a:r>
            <a:r>
              <a:rPr lang="zh-CN" altLang="en-US" sz="2200" b="1" dirty="0">
                <a:solidFill>
                  <a:srgbClr val="0000FF"/>
                </a:solidFill>
                <a:ea typeface="黑体" panose="02010609060101010101" pitchFamily="49" charset="-122"/>
              </a:rPr>
              <a:t>时钟周期</a:t>
            </a:r>
            <a:endParaRPr lang="en-US" altLang="zh-CN" sz="2200" b="1" dirty="0">
              <a:solidFill>
                <a:srgbClr val="0000FF"/>
              </a:solidFill>
              <a:ea typeface="黑体" panose="02010609060101010101" pitchFamily="49" charset="-122"/>
            </a:endParaRPr>
          </a:p>
          <a:p>
            <a:pPr marL="0" lvl="0" indent="0" algn="ctr">
              <a:lnSpc>
                <a:spcPct val="90000"/>
              </a:lnSpc>
              <a:spcBef>
                <a:spcPct val="0"/>
              </a:spcBef>
              <a:buClrTx/>
              <a:buSzTx/>
              <a:buFontTx/>
              <a:buNone/>
            </a:pPr>
            <a:endParaRPr lang="zh-CN" altLang="en-US" sz="2200" b="1" dirty="0">
              <a:solidFill>
                <a:srgbClr val="0000FF"/>
              </a:solidFill>
              <a:ea typeface="黑体" panose="02010609060101010101" pitchFamily="49" charset="-122"/>
            </a:endParaRPr>
          </a:p>
        </p:txBody>
      </p:sp>
      <p:sp>
        <p:nvSpPr>
          <p:cNvPr id="174119" name="Text Box 39"/>
          <p:cNvSpPr txBox="1"/>
          <p:nvPr/>
        </p:nvSpPr>
        <p:spPr>
          <a:xfrm>
            <a:off x="5697538" y="5319713"/>
            <a:ext cx="2430462" cy="692150"/>
          </a:xfrm>
          <a:prstGeom prst="rect">
            <a:avLst/>
          </a:prstGeom>
          <a:noFill/>
          <a:ln w="9525">
            <a:noFill/>
          </a:ln>
        </p:spPr>
        <p:txBody>
          <a:bodyPr lIns="45046" tIns="45046" rIns="45046" bIns="45046">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a:lnSpc>
                <a:spcPct val="90000"/>
              </a:lnSpc>
              <a:spcBef>
                <a:spcPct val="0"/>
              </a:spcBef>
              <a:buClrTx/>
              <a:buSzTx/>
              <a:buFontTx/>
              <a:buNone/>
            </a:pPr>
            <a:r>
              <a:rPr lang="zh-CN" altLang="en-US" sz="2200" b="1" dirty="0">
                <a:solidFill>
                  <a:srgbClr val="CC0000"/>
                </a:solidFill>
              </a:rPr>
              <a:t>程序</a:t>
            </a:r>
            <a:r>
              <a:rPr lang="en-US" altLang="zh-CN" sz="2200" b="1" dirty="0">
                <a:solidFill>
                  <a:srgbClr val="CC0000"/>
                </a:solidFill>
              </a:rPr>
              <a:t>A</a:t>
            </a:r>
            <a:r>
              <a:rPr lang="zh-CN" altLang="en-US" sz="2200" b="1" dirty="0">
                <a:solidFill>
                  <a:srgbClr val="CC0000"/>
                </a:solidFill>
              </a:rPr>
              <a:t>比程序</a:t>
            </a:r>
            <a:r>
              <a:rPr lang="en-US" altLang="zh-CN" sz="2200" b="1" dirty="0">
                <a:solidFill>
                  <a:srgbClr val="CC0000"/>
                </a:solidFill>
              </a:rPr>
              <a:t>B</a:t>
            </a:r>
            <a:r>
              <a:rPr lang="zh-CN" altLang="en-US" sz="2200" b="1" dirty="0">
                <a:solidFill>
                  <a:srgbClr val="CC0000"/>
                </a:solidFill>
              </a:rPr>
              <a:t>快</a:t>
            </a:r>
            <a:r>
              <a:rPr lang="en-US" altLang="zh-CN" sz="2200" b="1" dirty="0">
                <a:solidFill>
                  <a:srgbClr val="CC0000"/>
                </a:solidFill>
              </a:rPr>
              <a:t>21.5 </a:t>
            </a:r>
            <a:r>
              <a:rPr lang="zh-CN" altLang="en-US" sz="2200" b="1" dirty="0">
                <a:solidFill>
                  <a:srgbClr val="CC0000"/>
                </a:solidFill>
              </a:rPr>
              <a:t>倍</a:t>
            </a:r>
            <a:r>
              <a:rPr lang="en-US" altLang="zh-CN" sz="2200" b="1" dirty="0">
                <a:solidFill>
                  <a:srgbClr val="CC0000"/>
                </a:solidFill>
              </a:rPr>
              <a:t>!!</a:t>
            </a:r>
            <a:endParaRPr lang="en-US" altLang="zh-CN" sz="2200" b="1" dirty="0">
              <a:solidFill>
                <a:srgbClr val="CC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083">
                                            <p:txEl>
                                              <p:charRg st="19" end="143"/>
                                            </p:txEl>
                                          </p:spTgt>
                                        </p:tgtEl>
                                        <p:attrNameLst>
                                          <p:attrName>style.visibility</p:attrName>
                                        </p:attrNameLst>
                                      </p:cBhvr>
                                      <p:to>
                                        <p:strVal val="visible"/>
                                      </p:to>
                                    </p:set>
                                    <p:animEffect transition="in" filter="blinds(horizontal)">
                                      <p:cBhvr>
                                        <p:cTn id="7" dur="500"/>
                                        <p:tgtEl>
                                          <p:spTgt spid="174083">
                                            <p:txEl>
                                              <p:charRg st="19" end="143"/>
                                            </p:txEl>
                                          </p:spTgt>
                                        </p:tgtEl>
                                      </p:cBhvr>
                                    </p:animEffect>
                                  </p:childTnLst>
                                  <p:subTnLst>
                                    <p:animClr clrSpc="rgb" dir="cw">
                                      <p:cBhvr override="childStyle">
                                        <p:cTn dur="1" fill="hold" display="0" masterRel="nextClick" afterEffect="1"/>
                                        <p:tgtEl>
                                          <p:spTgt spid="174083">
                                            <p:txEl>
                                              <p:charRg st="19" end="143"/>
                                            </p:txEl>
                                          </p:spTgt>
                                        </p:tgtEl>
                                        <p:attrNameLst>
                                          <p:attrName>ppt_c</p:attrName>
                                        </p:attrNameLst>
                                      </p:cBhvr>
                                      <p:to>
                                        <a:schemeClr val="accent1"/>
                                      </p:to>
                                    </p:animClr>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083">
                                            <p:txEl>
                                              <p:charRg st="143" end="167"/>
                                            </p:txEl>
                                          </p:spTgt>
                                        </p:tgtEl>
                                        <p:attrNameLst>
                                          <p:attrName>style.visibility</p:attrName>
                                        </p:attrNameLst>
                                      </p:cBhvr>
                                      <p:to>
                                        <p:strVal val="visible"/>
                                      </p:to>
                                    </p:set>
                                    <p:animEffect transition="in" filter="blinds(horizontal)">
                                      <p:cBhvr>
                                        <p:cTn id="12" dur="500"/>
                                        <p:tgtEl>
                                          <p:spTgt spid="174083">
                                            <p:txEl>
                                              <p:charRg st="143" end="167"/>
                                            </p:txEl>
                                          </p:spTgt>
                                        </p:tgtEl>
                                      </p:cBhvr>
                                    </p:animEffect>
                                  </p:childTnLst>
                                  <p:subTnLst>
                                    <p:animClr clrSpc="rgb" dir="cw">
                                      <p:cBhvr override="childStyle">
                                        <p:cTn dur="1" fill="hold" display="0" masterRel="nextClick" afterEffect="1"/>
                                        <p:tgtEl>
                                          <p:spTgt spid="174083">
                                            <p:txEl>
                                              <p:charRg st="143" end="167"/>
                                            </p:txEl>
                                          </p:spTgt>
                                        </p:tgtEl>
                                        <p:attrNameLst>
                                          <p:attrName>ppt_c</p:attrName>
                                        </p:attrNameLst>
                                      </p:cBhvr>
                                      <p:to>
                                        <a:schemeClr val="accent1"/>
                                      </p:to>
                                    </p:animClr>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4083">
                                            <p:txEl>
                                              <p:charRg st="167" end="184"/>
                                            </p:txEl>
                                          </p:spTgt>
                                        </p:tgtEl>
                                        <p:attrNameLst>
                                          <p:attrName>style.visibility</p:attrName>
                                        </p:attrNameLst>
                                      </p:cBhvr>
                                      <p:to>
                                        <p:strVal val="visible"/>
                                      </p:to>
                                    </p:set>
                                    <p:animEffect transition="in" filter="blinds(horizontal)">
                                      <p:cBhvr>
                                        <p:cTn id="17" dur="500"/>
                                        <p:tgtEl>
                                          <p:spTgt spid="174083">
                                            <p:txEl>
                                              <p:charRg st="167" end="184"/>
                                            </p:txEl>
                                          </p:spTgt>
                                        </p:tgtEl>
                                      </p:cBhvr>
                                    </p:animEffect>
                                  </p:childTnLst>
                                  <p:subTnLst>
                                    <p:animClr clrSpc="rgb" dir="cw">
                                      <p:cBhvr override="childStyle">
                                        <p:cTn dur="1" fill="hold" display="0" masterRel="nextClick" afterEffect="1"/>
                                        <p:tgtEl>
                                          <p:spTgt spid="174083">
                                            <p:txEl>
                                              <p:charRg st="167" end="184"/>
                                            </p:txEl>
                                          </p:spTgt>
                                        </p:tgtEl>
                                        <p:attrNameLst>
                                          <p:attrName>ppt_c</p:attrName>
                                        </p:attrNameLst>
                                      </p:cBhvr>
                                      <p:to>
                                        <a:schemeClr val="accent1"/>
                                      </p:to>
                                    </p:animClr>
                                  </p:sub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4083">
                                            <p:txEl>
                                              <p:charRg st="184" end="202"/>
                                            </p:txEl>
                                          </p:spTgt>
                                        </p:tgtEl>
                                        <p:attrNameLst>
                                          <p:attrName>style.visibility</p:attrName>
                                        </p:attrNameLst>
                                      </p:cBhvr>
                                      <p:to>
                                        <p:strVal val="visible"/>
                                      </p:to>
                                    </p:set>
                                    <p:animEffect transition="in" filter="blinds(horizontal)">
                                      <p:cBhvr>
                                        <p:cTn id="22" dur="500"/>
                                        <p:tgtEl>
                                          <p:spTgt spid="174083">
                                            <p:txEl>
                                              <p:charRg st="184" end="202"/>
                                            </p:txEl>
                                          </p:spTgt>
                                        </p:tgtEl>
                                      </p:cBhvr>
                                    </p:animEffect>
                                  </p:childTnLst>
                                  <p:subTnLst>
                                    <p:animClr clrSpc="rgb" dir="cw">
                                      <p:cBhvr override="childStyle">
                                        <p:cTn dur="1" fill="hold" display="0" masterRel="nextClick" afterEffect="1"/>
                                        <p:tgtEl>
                                          <p:spTgt spid="174083">
                                            <p:txEl>
                                              <p:charRg st="184" end="202"/>
                                            </p:txEl>
                                          </p:spTgt>
                                        </p:tgtEl>
                                        <p:attrNameLst>
                                          <p:attrName>ppt_c</p:attrName>
                                        </p:attrNameLst>
                                      </p:cBhvr>
                                      <p:to>
                                        <a:schemeClr val="accent1"/>
                                      </p:to>
                                    </p:animClr>
                                  </p:sub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4118"/>
                                        </p:tgtEl>
                                        <p:attrNameLst>
                                          <p:attrName>style.visibility</p:attrName>
                                        </p:attrNameLst>
                                      </p:cBhvr>
                                      <p:to>
                                        <p:strVal val="visible"/>
                                      </p:to>
                                    </p:set>
                                    <p:animEffect transition="in" filter="blinds(horizontal)">
                                      <p:cBhvr>
                                        <p:cTn id="27" dur="500"/>
                                        <p:tgtEl>
                                          <p:spTgt spid="174118"/>
                                        </p:tgtEl>
                                      </p:cBhvr>
                                    </p:animEffect>
                                  </p:childTnLst>
                                  <p:subTnLst>
                                    <p:animClr clrSpc="rgb" dir="cw">
                                      <p:cBhvr override="childStyle">
                                        <p:cTn dur="1" fill="hold" display="0" masterRel="nextClick" afterEffect="1"/>
                                        <p:tgtEl>
                                          <p:spTgt spid="174118"/>
                                        </p:tgtEl>
                                        <p:attrNameLst>
                                          <p:attrName>ppt_c</p:attrName>
                                        </p:attrNameLst>
                                      </p:cBhvr>
                                      <p:to>
                                        <a:schemeClr val="accent1"/>
                                      </p:to>
                                    </p:animClr>
                                  </p:sub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74119"/>
                                        </p:tgtEl>
                                        <p:attrNameLst>
                                          <p:attrName>style.visibility</p:attrName>
                                        </p:attrNameLst>
                                      </p:cBhvr>
                                      <p:to>
                                        <p:strVal val="visible"/>
                                      </p:to>
                                    </p:set>
                                    <p:animEffect transition="in" filter="blinds(horizontal)">
                                      <p:cBhvr>
                                        <p:cTn id="32" dur="500"/>
                                        <p:tgtEl>
                                          <p:spTgt spid="174119"/>
                                        </p:tgtEl>
                                      </p:cBhvr>
                                    </p:animEffect>
                                  </p:childTnLst>
                                  <p:subTnLst>
                                    <p:animClr clrSpc="rgb" dir="cw">
                                      <p:cBhvr override="childStyle">
                                        <p:cTn dur="1" fill="hold" display="0" masterRel="nextClick" afterEffect="1"/>
                                        <p:tgtEl>
                                          <p:spTgt spid="174119"/>
                                        </p:tgtEl>
                                        <p:attrNameLst>
                                          <p:attrName>ppt_c</p:attrName>
                                        </p:attrNameLst>
                                      </p:cBhvr>
                                      <p:to>
                                        <a:schemeClr val="accent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8" grpId="0"/>
      <p:bldP spid="174119"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6" name="Rectangle 2"/>
          <p:cNvSpPr>
            <a:spLocks noGrp="1"/>
          </p:cNvSpPr>
          <p:nvPr>
            <p:ph type="title"/>
          </p:nvPr>
        </p:nvSpPr>
        <p:spPr/>
        <p:txBody>
          <a:bodyPr vert="horz" wrap="square" lIns="91440" tIns="45720" rIns="91440" bIns="45720" anchor="ctr" anchorCtr="0"/>
          <a:p>
            <a:r>
              <a:rPr lang="en-US" altLang="zh-CN" dirty="0">
                <a:cs typeface="Times New Roman" panose="02020603050405020304" pitchFamily="18" charset="0"/>
              </a:rPr>
              <a:t>3</a:t>
            </a:r>
            <a:r>
              <a:rPr lang="en-US" altLang="zh-CN" dirty="0"/>
              <a:t>.6 Cache</a:t>
            </a:r>
            <a:r>
              <a:rPr lang="zh-CN" altLang="en-US" dirty="0"/>
              <a:t>存储器</a:t>
            </a:r>
            <a:endParaRPr lang="zh-CN" altLang="en-US" dirty="0"/>
          </a:p>
        </p:txBody>
      </p:sp>
      <p:sp>
        <p:nvSpPr>
          <p:cNvPr id="129027" name="Rectangle 3"/>
          <p:cNvSpPr>
            <a:spLocks noGrp="1"/>
          </p:cNvSpPr>
          <p:nvPr>
            <p:ph idx="1"/>
          </p:nvPr>
        </p:nvSpPr>
        <p:spPr>
          <a:xfrm>
            <a:off x="457200" y="1628775"/>
            <a:ext cx="8229600" cy="3886200"/>
          </a:xfrm>
        </p:spPr>
        <p:txBody>
          <a:bodyPr vert="horz" wrap="square" lIns="91440" tIns="45720" rIns="91440" bIns="45720" anchor="t" anchorCtr="0"/>
          <a:p>
            <a:pPr>
              <a:buNone/>
            </a:pPr>
            <a:r>
              <a:rPr lang="en-US" altLang="zh-CN" dirty="0"/>
              <a:t>1</a:t>
            </a:r>
            <a:r>
              <a:rPr lang="zh-CN" altLang="en-US" dirty="0"/>
              <a:t>、基本原理</a:t>
            </a:r>
            <a:endParaRPr lang="en-US" altLang="zh-CN" dirty="0"/>
          </a:p>
          <a:p>
            <a:pPr>
              <a:buNone/>
            </a:pPr>
            <a:r>
              <a:rPr lang="zh-CN" altLang="en-US" dirty="0"/>
              <a:t>（</a:t>
            </a:r>
            <a:r>
              <a:rPr lang="en-US" altLang="zh-CN" dirty="0"/>
              <a:t>1</a:t>
            </a:r>
            <a:r>
              <a:rPr lang="zh-CN" altLang="en-US" dirty="0"/>
              <a:t>）功能：</a:t>
            </a:r>
            <a:r>
              <a:rPr lang="zh-CN" altLang="en-US" dirty="0">
                <a:solidFill>
                  <a:srgbClr val="0000FF"/>
                </a:solidFill>
              </a:rPr>
              <a:t>解决</a:t>
            </a:r>
            <a:r>
              <a:rPr lang="en-US" altLang="zh-CN" dirty="0">
                <a:solidFill>
                  <a:srgbClr val="0000FF"/>
                </a:solidFill>
              </a:rPr>
              <a:t>CPU</a:t>
            </a:r>
            <a:r>
              <a:rPr lang="zh-CN" altLang="en-US" dirty="0">
                <a:solidFill>
                  <a:srgbClr val="0000FF"/>
                </a:solidFill>
              </a:rPr>
              <a:t>和主存之间的速度不匹配问题</a:t>
            </a:r>
            <a:endParaRPr lang="en-US" altLang="zh-CN" dirty="0">
              <a:solidFill>
                <a:srgbClr val="0000FF"/>
              </a:solidFill>
            </a:endParaRPr>
          </a:p>
          <a:p>
            <a:pPr lvl="1"/>
            <a:r>
              <a:rPr lang="zh-CN" altLang="en-US" dirty="0"/>
              <a:t>一般采用高速的</a:t>
            </a:r>
            <a:r>
              <a:rPr lang="en-US" altLang="zh-CN" dirty="0">
                <a:solidFill>
                  <a:srgbClr val="0000FF"/>
                </a:solidFill>
              </a:rPr>
              <a:t>SRAM</a:t>
            </a:r>
            <a:r>
              <a:rPr lang="zh-CN" altLang="en-US" dirty="0"/>
              <a:t>构成。</a:t>
            </a:r>
            <a:endParaRPr lang="en-US" altLang="zh-CN" dirty="0"/>
          </a:p>
          <a:p>
            <a:pPr lvl="1"/>
            <a:r>
              <a:rPr lang="en-US" altLang="zh-CN" dirty="0"/>
              <a:t>CPU</a:t>
            </a:r>
            <a:r>
              <a:rPr lang="zh-CN" altLang="en-US" dirty="0"/>
              <a:t>和主存之间的速度差别很大采用两级或多级</a:t>
            </a:r>
            <a:r>
              <a:rPr lang="en-US" altLang="zh-CN" dirty="0"/>
              <a:t>Cache</a:t>
            </a:r>
            <a:r>
              <a:rPr lang="zh-CN" altLang="en-US" dirty="0"/>
              <a:t>系统</a:t>
            </a:r>
            <a:endParaRPr lang="en-US" altLang="zh-CN" dirty="0"/>
          </a:p>
          <a:p>
            <a:pPr lvl="1"/>
            <a:r>
              <a:rPr lang="zh-CN" altLang="en-US" dirty="0"/>
              <a:t>早期的一级</a:t>
            </a:r>
            <a:r>
              <a:rPr lang="en-US" altLang="zh-CN" dirty="0"/>
              <a:t>Cache</a:t>
            </a:r>
            <a:r>
              <a:rPr lang="zh-CN" altLang="en-US" dirty="0"/>
              <a:t>在</a:t>
            </a:r>
            <a:r>
              <a:rPr lang="en-US" altLang="zh-CN" dirty="0"/>
              <a:t>CPU</a:t>
            </a:r>
            <a:r>
              <a:rPr lang="zh-CN" altLang="en-US" dirty="0"/>
              <a:t>内，二级在主板上</a:t>
            </a:r>
            <a:endParaRPr lang="en-US" altLang="zh-CN" dirty="0"/>
          </a:p>
          <a:p>
            <a:pPr lvl="1"/>
            <a:r>
              <a:rPr lang="zh-CN" altLang="en-US" dirty="0">
                <a:solidFill>
                  <a:srgbClr val="0000FF"/>
                </a:solidFill>
              </a:rPr>
              <a:t>现在的</a:t>
            </a:r>
            <a:r>
              <a:rPr lang="en-US" altLang="zh-CN" dirty="0">
                <a:solidFill>
                  <a:srgbClr val="0000FF"/>
                </a:solidFill>
              </a:rPr>
              <a:t>CPU</a:t>
            </a:r>
            <a:r>
              <a:rPr lang="zh-CN" altLang="en-US" dirty="0">
                <a:solidFill>
                  <a:srgbClr val="0000FF"/>
                </a:solidFill>
              </a:rPr>
              <a:t>内带</a:t>
            </a:r>
            <a:r>
              <a:rPr lang="en-US" altLang="zh-CN" dirty="0">
                <a:solidFill>
                  <a:srgbClr val="0000FF"/>
                </a:solidFill>
              </a:rPr>
              <a:t>L1 Cahe</a:t>
            </a:r>
            <a:r>
              <a:rPr lang="zh-CN" altLang="en-US" dirty="0">
                <a:solidFill>
                  <a:srgbClr val="0000FF"/>
                </a:solidFill>
              </a:rPr>
              <a:t>和</a:t>
            </a:r>
            <a:r>
              <a:rPr lang="en-US" altLang="zh-CN" dirty="0">
                <a:solidFill>
                  <a:srgbClr val="0000FF"/>
                </a:solidFill>
              </a:rPr>
              <a:t>L2 Cahe</a:t>
            </a:r>
            <a:endParaRPr lang="en-US" altLang="zh-CN" dirty="0">
              <a:solidFill>
                <a:srgbClr val="0000FF"/>
              </a:solidFill>
            </a:endParaRPr>
          </a:p>
          <a:p>
            <a:pPr lvl="1"/>
            <a:r>
              <a:rPr lang="zh-CN" altLang="en-US" dirty="0"/>
              <a:t>全由硬件调度，对用户透明</a:t>
            </a:r>
            <a:endParaRPr lang="en-US" altLang="zh-CN" dirty="0"/>
          </a:p>
          <a:p>
            <a:pPr lvl="1"/>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Rectangle 2"/>
          <p:cNvSpPr>
            <a:spLocks noGrp="1"/>
          </p:cNvSpPr>
          <p:nvPr>
            <p:ph type="title"/>
          </p:nvPr>
        </p:nvSpPr>
        <p:spPr>
          <a:xfrm>
            <a:off x="457200" y="-26987"/>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.6 Cache</a:t>
            </a:r>
            <a:r>
              <a:rPr lang="zh-CN" altLang="en-US" dirty="0"/>
              <a:t>存储器</a:t>
            </a:r>
            <a:endParaRPr lang="zh-CN" altLang="en-US" dirty="0"/>
          </a:p>
        </p:txBody>
      </p:sp>
      <p:pic>
        <p:nvPicPr>
          <p:cNvPr id="130051" name="Picture 5"/>
          <p:cNvPicPr>
            <a:picLocks noChangeAspect="1"/>
          </p:cNvPicPr>
          <p:nvPr/>
        </p:nvPicPr>
        <p:blipFill>
          <a:blip r:embed="rId1"/>
          <a:stretch>
            <a:fillRect/>
          </a:stretch>
        </p:blipFill>
        <p:spPr>
          <a:xfrm>
            <a:off x="539750" y="1022350"/>
            <a:ext cx="7416800" cy="3198813"/>
          </a:xfrm>
          <a:prstGeom prst="rect">
            <a:avLst/>
          </a:prstGeom>
          <a:noFill/>
          <a:ln w="9525">
            <a:noFill/>
          </a:ln>
        </p:spPr>
      </p:pic>
      <p:sp>
        <p:nvSpPr>
          <p:cNvPr id="130052" name="Text Box 7"/>
          <p:cNvSpPr txBox="1"/>
          <p:nvPr/>
        </p:nvSpPr>
        <p:spPr>
          <a:xfrm>
            <a:off x="2124075" y="4149725"/>
            <a:ext cx="4554538"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400" dirty="0"/>
              <a:t>图</a:t>
            </a:r>
            <a:r>
              <a:rPr lang="en-US" altLang="zh-CN" sz="2400" dirty="0"/>
              <a:t>3.31 CPU</a:t>
            </a:r>
            <a:r>
              <a:rPr lang="zh-CN" altLang="en-US" sz="2400" dirty="0"/>
              <a:t>与存储器系统的关系</a:t>
            </a:r>
            <a:endParaRPr lang="zh-CN" altLang="en-US" sz="2400" dirty="0"/>
          </a:p>
        </p:txBody>
      </p:sp>
      <p:sp>
        <p:nvSpPr>
          <p:cNvPr id="130053" name="Text Box 8"/>
          <p:cNvSpPr txBox="1"/>
          <p:nvPr/>
        </p:nvSpPr>
        <p:spPr>
          <a:xfrm>
            <a:off x="925513" y="4911725"/>
            <a:ext cx="7607300" cy="946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800" dirty="0">
                <a:solidFill>
                  <a:srgbClr val="0000FF"/>
                </a:solidFill>
              </a:rPr>
              <a:t>现在的</a:t>
            </a:r>
            <a:r>
              <a:rPr lang="en-US" altLang="zh-CN" sz="2800" dirty="0">
                <a:solidFill>
                  <a:srgbClr val="0000FF"/>
                </a:solidFill>
              </a:rPr>
              <a:t>Cache</a:t>
            </a:r>
            <a:r>
              <a:rPr lang="zh-CN" altLang="en-US" sz="2800" dirty="0">
                <a:solidFill>
                  <a:srgbClr val="0000FF"/>
                </a:solidFill>
              </a:rPr>
              <a:t>还分为</a:t>
            </a:r>
            <a:r>
              <a:rPr lang="zh-CN" altLang="en-US" sz="2800" dirty="0">
                <a:solidFill>
                  <a:srgbClr val="FF3300"/>
                </a:solidFill>
              </a:rPr>
              <a:t>片内</a:t>
            </a:r>
            <a:r>
              <a:rPr lang="en-US" altLang="zh-CN" sz="2800" dirty="0">
                <a:solidFill>
                  <a:srgbClr val="FF3300"/>
                </a:solidFill>
              </a:rPr>
              <a:t>Cache</a:t>
            </a:r>
            <a:r>
              <a:rPr lang="zh-CN" altLang="en-US" sz="2800" dirty="0">
                <a:solidFill>
                  <a:srgbClr val="0000FF"/>
                </a:solidFill>
              </a:rPr>
              <a:t>和</a:t>
            </a:r>
            <a:r>
              <a:rPr lang="zh-CN" altLang="en-US" sz="2800" dirty="0">
                <a:solidFill>
                  <a:srgbClr val="FF3300"/>
                </a:solidFill>
              </a:rPr>
              <a:t>片外</a:t>
            </a:r>
            <a:r>
              <a:rPr lang="en-US" altLang="zh-CN" sz="2800" dirty="0">
                <a:solidFill>
                  <a:srgbClr val="FF3300"/>
                </a:solidFill>
              </a:rPr>
              <a:t>Cache</a:t>
            </a:r>
            <a:r>
              <a:rPr lang="zh-CN" altLang="en-US" sz="2800" dirty="0">
                <a:solidFill>
                  <a:srgbClr val="0000FF"/>
                </a:solidFill>
              </a:rPr>
              <a:t>，片内</a:t>
            </a:r>
            <a:r>
              <a:rPr lang="en-US" altLang="zh-CN" sz="2800" dirty="0">
                <a:solidFill>
                  <a:srgbClr val="0000FF"/>
                </a:solidFill>
              </a:rPr>
              <a:t>Cache</a:t>
            </a:r>
            <a:r>
              <a:rPr lang="zh-CN" altLang="en-US" sz="2800" dirty="0">
                <a:solidFill>
                  <a:srgbClr val="0000FF"/>
                </a:solidFill>
              </a:rPr>
              <a:t>的速度已接近</a:t>
            </a:r>
            <a:r>
              <a:rPr lang="en-US" altLang="zh-CN" sz="2800" dirty="0">
                <a:solidFill>
                  <a:srgbClr val="0000FF"/>
                </a:solidFill>
              </a:rPr>
              <a:t>CPU</a:t>
            </a:r>
            <a:r>
              <a:rPr lang="zh-CN" altLang="en-US" sz="2800" dirty="0">
                <a:solidFill>
                  <a:srgbClr val="0000FF"/>
                </a:solidFill>
              </a:rPr>
              <a:t>的速度。</a:t>
            </a:r>
            <a:endParaRPr lang="zh-CN" altLang="en-US" sz="2800" dirty="0">
              <a:solidFill>
                <a:srgbClr val="0000FF"/>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Rectangle 2"/>
          <p:cNvSpPr>
            <a:spLocks noGrp="1"/>
          </p:cNvSpPr>
          <p:nvPr>
            <p:ph type="title"/>
          </p:nvPr>
        </p:nvSpPr>
        <p:spPr>
          <a:xfrm>
            <a:off x="244475" y="692150"/>
            <a:ext cx="8899525" cy="785813"/>
          </a:xfrm>
        </p:spPr>
        <p:txBody>
          <a:bodyPr vert="horz" wrap="square" lIns="91440" tIns="45720" rIns="91440" bIns="45720" anchor="ctr" anchorCtr="0"/>
          <a:p>
            <a:pPr defTabSz="717550"/>
            <a:r>
              <a:rPr lang="en-US" altLang="zh-CN" dirty="0"/>
              <a:t>Cache(</a:t>
            </a:r>
            <a:r>
              <a:rPr lang="zh-CN" altLang="en-US" dirty="0"/>
              <a:t>高速缓存</a:t>
            </a:r>
            <a:r>
              <a:rPr lang="en-US" altLang="zh-CN" dirty="0"/>
              <a:t>)</a:t>
            </a:r>
            <a:r>
              <a:rPr lang="zh-CN" altLang="en-US" dirty="0"/>
              <a:t>是什么样的？</a:t>
            </a:r>
            <a:endParaRPr lang="zh-CN" altLang="en-US" dirty="0"/>
          </a:p>
        </p:txBody>
      </p:sp>
      <p:sp>
        <p:nvSpPr>
          <p:cNvPr id="157699" name="Rectangle 3"/>
          <p:cNvSpPr>
            <a:spLocks noGrp="1"/>
          </p:cNvSpPr>
          <p:nvPr>
            <p:ph idx="1"/>
          </p:nvPr>
        </p:nvSpPr>
        <p:spPr>
          <a:xfrm>
            <a:off x="468313" y="1916113"/>
            <a:ext cx="7632700" cy="3386137"/>
          </a:xfrm>
        </p:spPr>
        <p:txBody>
          <a:bodyPr vert="horz" wrap="square" lIns="91440" tIns="45720" rIns="91440" bIns="45720" anchor="t" anchorCtr="0"/>
          <a:p>
            <a:pPr marL="268605" indent="-268605" defTabSz="717550">
              <a:lnSpc>
                <a:spcPct val="115000"/>
              </a:lnSpc>
              <a:spcBef>
                <a:spcPct val="30000"/>
              </a:spcBef>
            </a:pPr>
            <a:r>
              <a:rPr lang="en-US" altLang="zh-CN" sz="2200" dirty="0">
                <a:solidFill>
                  <a:srgbClr val="0000FF"/>
                </a:solidFill>
                <a:ea typeface="黑体" panose="02010609060101010101" pitchFamily="49" charset="-122"/>
              </a:rPr>
              <a:t>Cache</a:t>
            </a:r>
            <a:r>
              <a:rPr lang="zh-CN" altLang="en-US" sz="2200" dirty="0">
                <a:solidFill>
                  <a:srgbClr val="0000FF"/>
                </a:solidFill>
                <a:ea typeface="黑体" panose="02010609060101010101" pitchFamily="49" charset="-122"/>
              </a:rPr>
              <a:t>是一种小容量高速缓冲存储器，它由</a:t>
            </a:r>
            <a:r>
              <a:rPr lang="en-US" altLang="zh-CN" sz="2200" dirty="0">
                <a:solidFill>
                  <a:srgbClr val="0000FF"/>
                </a:solidFill>
                <a:ea typeface="黑体" panose="02010609060101010101" pitchFamily="49" charset="-122"/>
              </a:rPr>
              <a:t>SRAM</a:t>
            </a:r>
            <a:r>
              <a:rPr lang="zh-CN" altLang="en-US" sz="2200" dirty="0">
                <a:solidFill>
                  <a:srgbClr val="0000FF"/>
                </a:solidFill>
                <a:ea typeface="黑体" panose="02010609060101010101" pitchFamily="49" charset="-122"/>
              </a:rPr>
              <a:t>组成。</a:t>
            </a:r>
            <a:endParaRPr lang="en-US" altLang="zh-CN" sz="2200" dirty="0">
              <a:solidFill>
                <a:srgbClr val="0000FF"/>
              </a:solidFill>
              <a:ea typeface="黑体" panose="02010609060101010101" pitchFamily="49" charset="-122"/>
            </a:endParaRPr>
          </a:p>
          <a:p>
            <a:pPr marL="268605" indent="-268605" defTabSz="717550">
              <a:lnSpc>
                <a:spcPct val="115000"/>
              </a:lnSpc>
              <a:spcBef>
                <a:spcPct val="30000"/>
              </a:spcBef>
            </a:pPr>
            <a:r>
              <a:rPr lang="en-US" altLang="zh-CN" sz="2200" dirty="0">
                <a:solidFill>
                  <a:srgbClr val="0000FF"/>
                </a:solidFill>
                <a:ea typeface="黑体" panose="02010609060101010101" pitchFamily="49" charset="-122"/>
              </a:rPr>
              <a:t>Cache</a:t>
            </a:r>
            <a:r>
              <a:rPr lang="zh-CN" altLang="en-US" sz="2200" dirty="0">
                <a:solidFill>
                  <a:srgbClr val="0000FF"/>
                </a:solidFill>
                <a:ea typeface="黑体" panose="02010609060101010101" pitchFamily="49" charset="-122"/>
              </a:rPr>
              <a:t>直接制作在</a:t>
            </a:r>
            <a:r>
              <a:rPr lang="en-US" altLang="zh-CN" sz="2200" dirty="0">
                <a:solidFill>
                  <a:srgbClr val="0000FF"/>
                </a:solidFill>
                <a:ea typeface="黑体" panose="02010609060101010101" pitchFamily="49" charset="-122"/>
              </a:rPr>
              <a:t>CPU</a:t>
            </a:r>
            <a:r>
              <a:rPr lang="zh-CN" altLang="en-US" sz="2200" dirty="0">
                <a:solidFill>
                  <a:srgbClr val="0000FF"/>
                </a:solidFill>
                <a:ea typeface="黑体" panose="02010609060101010101" pitchFamily="49" charset="-122"/>
              </a:rPr>
              <a:t>芯片内，速度几乎与</a:t>
            </a:r>
            <a:r>
              <a:rPr lang="en-US" altLang="zh-CN" sz="2200" dirty="0">
                <a:solidFill>
                  <a:srgbClr val="0000FF"/>
                </a:solidFill>
                <a:ea typeface="黑体" panose="02010609060101010101" pitchFamily="49" charset="-122"/>
              </a:rPr>
              <a:t>CPU</a:t>
            </a:r>
            <a:r>
              <a:rPr lang="zh-CN" altLang="en-US" sz="2200" dirty="0">
                <a:solidFill>
                  <a:srgbClr val="0000FF"/>
                </a:solidFill>
                <a:ea typeface="黑体" panose="02010609060101010101" pitchFamily="49" charset="-122"/>
              </a:rPr>
              <a:t>一样快。</a:t>
            </a:r>
            <a:endParaRPr lang="en-US" altLang="zh-CN" sz="2200" dirty="0">
              <a:solidFill>
                <a:srgbClr val="0000FF"/>
              </a:solidFill>
              <a:ea typeface="黑体" panose="02010609060101010101" pitchFamily="49" charset="-122"/>
            </a:endParaRPr>
          </a:p>
          <a:p>
            <a:pPr marL="268605" indent="-268605" defTabSz="717550">
              <a:lnSpc>
                <a:spcPct val="115000"/>
              </a:lnSpc>
              <a:spcBef>
                <a:spcPct val="30000"/>
              </a:spcBef>
            </a:pPr>
            <a:r>
              <a:rPr lang="zh-CN" altLang="en-US" sz="2200" dirty="0">
                <a:solidFill>
                  <a:srgbClr val="0000FF"/>
                </a:solidFill>
                <a:ea typeface="黑体" panose="02010609060101010101" pitchFamily="49" charset="-122"/>
              </a:rPr>
              <a:t>程序运行时，</a:t>
            </a:r>
            <a:r>
              <a:rPr lang="en-US" altLang="zh-CN" sz="2200" dirty="0">
                <a:solidFill>
                  <a:srgbClr val="0000FF"/>
                </a:solidFill>
                <a:ea typeface="黑体" panose="02010609060101010101" pitchFamily="49" charset="-122"/>
              </a:rPr>
              <a:t>CPU</a:t>
            </a:r>
            <a:r>
              <a:rPr lang="zh-CN" altLang="en-US" sz="2200" dirty="0">
                <a:solidFill>
                  <a:srgbClr val="0000FF"/>
                </a:solidFill>
                <a:ea typeface="黑体" panose="02010609060101010101" pitchFamily="49" charset="-122"/>
              </a:rPr>
              <a:t>使用的一部分数据</a:t>
            </a:r>
            <a:r>
              <a:rPr lang="en-US" altLang="zh-CN" sz="2200" dirty="0">
                <a:solidFill>
                  <a:srgbClr val="0000FF"/>
                </a:solidFill>
                <a:ea typeface="黑体" panose="02010609060101010101" pitchFamily="49" charset="-122"/>
              </a:rPr>
              <a:t>/</a:t>
            </a:r>
            <a:r>
              <a:rPr lang="zh-CN" altLang="en-US" sz="2200" dirty="0">
                <a:solidFill>
                  <a:srgbClr val="0000FF"/>
                </a:solidFill>
                <a:ea typeface="黑体" panose="02010609060101010101" pitchFamily="49" charset="-122"/>
              </a:rPr>
              <a:t>指令会预先成批拷贝在</a:t>
            </a:r>
            <a:r>
              <a:rPr lang="en-US" altLang="zh-CN" sz="2200" dirty="0">
                <a:solidFill>
                  <a:srgbClr val="0000FF"/>
                </a:solidFill>
                <a:ea typeface="黑体" panose="02010609060101010101" pitchFamily="49" charset="-122"/>
              </a:rPr>
              <a:t>Cache</a:t>
            </a:r>
            <a:r>
              <a:rPr lang="zh-CN" altLang="en-US" sz="2200" dirty="0">
                <a:solidFill>
                  <a:srgbClr val="0000FF"/>
                </a:solidFill>
                <a:ea typeface="黑体" panose="02010609060101010101" pitchFamily="49" charset="-122"/>
              </a:rPr>
              <a:t>中，</a:t>
            </a:r>
            <a:r>
              <a:rPr lang="en-US" altLang="zh-CN" sz="2200" dirty="0">
                <a:solidFill>
                  <a:srgbClr val="0000FF"/>
                </a:solidFill>
                <a:ea typeface="黑体" panose="02010609060101010101" pitchFamily="49" charset="-122"/>
              </a:rPr>
              <a:t>Cache</a:t>
            </a:r>
            <a:r>
              <a:rPr lang="zh-CN" altLang="en-US" sz="2200" dirty="0">
                <a:solidFill>
                  <a:srgbClr val="0000FF"/>
                </a:solidFill>
                <a:ea typeface="黑体" panose="02010609060101010101" pitchFamily="49" charset="-122"/>
              </a:rPr>
              <a:t>的内容是主存储器中部分内容的映象。</a:t>
            </a:r>
            <a:endParaRPr lang="en-US" altLang="zh-CN" sz="2200" dirty="0">
              <a:solidFill>
                <a:srgbClr val="0000FF"/>
              </a:solidFill>
              <a:ea typeface="黑体" panose="02010609060101010101" pitchFamily="49" charset="-122"/>
            </a:endParaRPr>
          </a:p>
          <a:p>
            <a:pPr marL="268605" indent="-268605" defTabSz="717550">
              <a:lnSpc>
                <a:spcPct val="115000"/>
              </a:lnSpc>
              <a:spcBef>
                <a:spcPct val="30000"/>
              </a:spcBef>
            </a:pPr>
            <a:r>
              <a:rPr lang="zh-CN" altLang="en-US" sz="2200" dirty="0">
                <a:solidFill>
                  <a:srgbClr val="0000FF"/>
                </a:solidFill>
                <a:ea typeface="黑体" panose="02010609060101010101" pitchFamily="49" charset="-122"/>
              </a:rPr>
              <a:t>当</a:t>
            </a:r>
            <a:r>
              <a:rPr lang="en-US" altLang="zh-CN" sz="2200" dirty="0">
                <a:solidFill>
                  <a:srgbClr val="0000FF"/>
                </a:solidFill>
                <a:ea typeface="黑体" panose="02010609060101010101" pitchFamily="49" charset="-122"/>
              </a:rPr>
              <a:t>CPU</a:t>
            </a:r>
            <a:r>
              <a:rPr lang="zh-CN" altLang="en-US" sz="2200" dirty="0">
                <a:solidFill>
                  <a:srgbClr val="0000FF"/>
                </a:solidFill>
                <a:ea typeface="黑体" panose="02010609060101010101" pitchFamily="49" charset="-122"/>
              </a:rPr>
              <a:t>需要从内存读</a:t>
            </a:r>
            <a:r>
              <a:rPr lang="en-US" altLang="zh-CN" sz="2200" dirty="0">
                <a:solidFill>
                  <a:srgbClr val="0000FF"/>
                </a:solidFill>
                <a:ea typeface="黑体" panose="02010609060101010101" pitchFamily="49" charset="-122"/>
              </a:rPr>
              <a:t>(</a:t>
            </a:r>
            <a:r>
              <a:rPr lang="zh-CN" altLang="en-US" sz="2200" dirty="0">
                <a:solidFill>
                  <a:srgbClr val="0000FF"/>
                </a:solidFill>
                <a:ea typeface="黑体" panose="02010609060101010101" pitchFamily="49" charset="-122"/>
              </a:rPr>
              <a:t>写</a:t>
            </a:r>
            <a:r>
              <a:rPr lang="en-US" altLang="zh-CN" sz="2200" dirty="0">
                <a:solidFill>
                  <a:srgbClr val="0000FF"/>
                </a:solidFill>
                <a:ea typeface="黑体" panose="02010609060101010101" pitchFamily="49" charset="-122"/>
              </a:rPr>
              <a:t>)</a:t>
            </a:r>
            <a:r>
              <a:rPr lang="zh-CN" altLang="en-US" sz="2200" dirty="0">
                <a:solidFill>
                  <a:srgbClr val="0000FF"/>
                </a:solidFill>
                <a:ea typeface="黑体" panose="02010609060101010101" pitchFamily="49" charset="-122"/>
              </a:rPr>
              <a:t>数据或指令时，先检查</a:t>
            </a:r>
            <a:r>
              <a:rPr lang="en-US" altLang="zh-CN" sz="2200" dirty="0">
                <a:solidFill>
                  <a:srgbClr val="0000FF"/>
                </a:solidFill>
                <a:ea typeface="黑体" panose="02010609060101010101" pitchFamily="49" charset="-122"/>
              </a:rPr>
              <a:t>Cache</a:t>
            </a:r>
            <a:r>
              <a:rPr lang="zh-CN" altLang="en-US" sz="2200" dirty="0">
                <a:solidFill>
                  <a:srgbClr val="0000FF"/>
                </a:solidFill>
                <a:ea typeface="黑体" panose="02010609060101010101" pitchFamily="49" charset="-122"/>
              </a:rPr>
              <a:t>，若有，就直接从</a:t>
            </a:r>
            <a:r>
              <a:rPr lang="en-US" altLang="zh-CN" sz="2200" dirty="0">
                <a:solidFill>
                  <a:srgbClr val="0000FF"/>
                </a:solidFill>
                <a:ea typeface="黑体" panose="02010609060101010101" pitchFamily="49" charset="-122"/>
              </a:rPr>
              <a:t>Cache</a:t>
            </a:r>
            <a:r>
              <a:rPr lang="zh-CN" altLang="en-US" sz="2200" dirty="0">
                <a:solidFill>
                  <a:srgbClr val="0000FF"/>
                </a:solidFill>
                <a:ea typeface="黑体" panose="02010609060101010101" pitchFamily="49" charset="-122"/>
              </a:rPr>
              <a:t>中读取，而不用访问主存储器。</a:t>
            </a:r>
            <a:endParaRPr lang="zh-CN" altLang="en-US" sz="2200" dirty="0">
              <a:solidFill>
                <a:srgbClr val="0000FF"/>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7699">
                                            <p:txEl>
                                              <p:charRg st="0" end="29"/>
                                            </p:txEl>
                                          </p:spTgt>
                                        </p:tgtEl>
                                        <p:attrNameLst>
                                          <p:attrName>style.visibility</p:attrName>
                                        </p:attrNameLst>
                                      </p:cBhvr>
                                      <p:to>
                                        <p:strVal val="visible"/>
                                      </p:to>
                                    </p:set>
                                    <p:animEffect transition="in" filter="blinds(horizontal)">
                                      <p:cBhvr>
                                        <p:cTn id="7" dur="500"/>
                                        <p:tgtEl>
                                          <p:spTgt spid="157699">
                                            <p:txEl>
                                              <p:charRg st="0" end="2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7699">
                                            <p:txEl>
                                              <p:charRg st="29" end="59"/>
                                            </p:txEl>
                                          </p:spTgt>
                                        </p:tgtEl>
                                        <p:attrNameLst>
                                          <p:attrName>style.visibility</p:attrName>
                                        </p:attrNameLst>
                                      </p:cBhvr>
                                      <p:to>
                                        <p:strVal val="visible"/>
                                      </p:to>
                                    </p:set>
                                    <p:animEffect transition="in" filter="blinds(horizontal)">
                                      <p:cBhvr>
                                        <p:cTn id="12" dur="500"/>
                                        <p:tgtEl>
                                          <p:spTgt spid="157699">
                                            <p:txEl>
                                              <p:charRg st="29" end="5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7699">
                                            <p:txEl>
                                              <p:charRg st="59" end="117"/>
                                            </p:txEl>
                                          </p:spTgt>
                                        </p:tgtEl>
                                        <p:attrNameLst>
                                          <p:attrName>style.visibility</p:attrName>
                                        </p:attrNameLst>
                                      </p:cBhvr>
                                      <p:to>
                                        <p:strVal val="visible"/>
                                      </p:to>
                                    </p:set>
                                    <p:animEffect transition="in" filter="blinds(horizontal)">
                                      <p:cBhvr>
                                        <p:cTn id="17" dur="500"/>
                                        <p:tgtEl>
                                          <p:spTgt spid="157699">
                                            <p:txEl>
                                              <p:charRg st="59" end="11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57699">
                                            <p:txEl>
                                              <p:charRg st="117" end="173"/>
                                            </p:txEl>
                                          </p:spTgt>
                                        </p:tgtEl>
                                        <p:attrNameLst>
                                          <p:attrName>style.visibility</p:attrName>
                                        </p:attrNameLst>
                                      </p:cBhvr>
                                      <p:to>
                                        <p:strVal val="visible"/>
                                      </p:to>
                                    </p:set>
                                    <p:animEffect transition="in" filter="blinds(horizontal)">
                                      <p:cBhvr>
                                        <p:cTn id="22" dur="500"/>
                                        <p:tgtEl>
                                          <p:spTgt spid="157699">
                                            <p:txEl>
                                              <p:charRg st="117" end="17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2"/>
          <p:cNvSpPr>
            <a:spLocks noGrp="1"/>
          </p:cNvSpPr>
          <p:nvPr>
            <p:ph type="title"/>
          </p:nvPr>
        </p:nvSpPr>
        <p:spPr>
          <a:xfrm>
            <a:off x="457200" y="115888"/>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.6 Cache</a:t>
            </a:r>
            <a:r>
              <a:rPr lang="zh-CN" altLang="en-US" dirty="0"/>
              <a:t>存储器</a:t>
            </a:r>
            <a:endParaRPr lang="zh-CN" altLang="en-US" dirty="0"/>
          </a:p>
        </p:txBody>
      </p:sp>
      <p:sp>
        <p:nvSpPr>
          <p:cNvPr id="132099" name="Rectangle 3"/>
          <p:cNvSpPr>
            <a:spLocks noGrp="1"/>
          </p:cNvSpPr>
          <p:nvPr>
            <p:ph idx="1"/>
          </p:nvPr>
        </p:nvSpPr>
        <p:spPr>
          <a:xfrm>
            <a:off x="827088" y="1196975"/>
            <a:ext cx="4017962" cy="4692650"/>
          </a:xfrm>
        </p:spPr>
        <p:txBody>
          <a:bodyPr vert="horz" wrap="square" lIns="91440" tIns="45720" rIns="91440" bIns="45720" anchor="t" anchorCtr="0"/>
          <a:p>
            <a:pPr marL="457200" indent="-457200">
              <a:buNone/>
            </a:pPr>
            <a:r>
              <a:rPr lang="zh-CN" altLang="en-US" dirty="0"/>
              <a:t>（</a:t>
            </a:r>
            <a:r>
              <a:rPr lang="en-US" altLang="zh-CN" dirty="0"/>
              <a:t>2</a:t>
            </a:r>
            <a:r>
              <a:rPr lang="zh-CN" altLang="en-US" dirty="0"/>
              <a:t>）</a:t>
            </a:r>
            <a:r>
              <a:rPr lang="en-US" altLang="zh-CN" dirty="0"/>
              <a:t>cache</a:t>
            </a:r>
            <a:r>
              <a:rPr lang="zh-CN" altLang="en-US" dirty="0"/>
              <a:t>基本原理</a:t>
            </a:r>
            <a:endParaRPr lang="en-US" altLang="zh-CN" dirty="0"/>
          </a:p>
          <a:p>
            <a:pPr marL="1027430" lvl="1" indent="-455930"/>
            <a:r>
              <a:rPr lang="zh-CN" altLang="en-US" dirty="0"/>
              <a:t>地址映射；</a:t>
            </a:r>
            <a:endParaRPr lang="en-US" altLang="zh-CN" dirty="0"/>
          </a:p>
          <a:p>
            <a:pPr marL="1027430" lvl="1" indent="-455930"/>
            <a:r>
              <a:rPr lang="zh-CN" altLang="en-US" dirty="0"/>
              <a:t>替换策略；</a:t>
            </a:r>
            <a:endParaRPr lang="en-US" altLang="zh-CN" dirty="0"/>
          </a:p>
          <a:p>
            <a:pPr marL="1027430" lvl="1" indent="-455930"/>
            <a:r>
              <a:rPr lang="zh-CN" altLang="en-US" dirty="0"/>
              <a:t>写一致性；</a:t>
            </a:r>
            <a:endParaRPr lang="en-US" altLang="zh-CN" dirty="0"/>
          </a:p>
          <a:p>
            <a:pPr marL="1027430" lvl="1" indent="-455930"/>
            <a:r>
              <a:rPr lang="zh-CN" altLang="en-US" dirty="0"/>
              <a:t>性能评价。</a:t>
            </a:r>
            <a:endParaRPr lang="zh-CN" altLang="en-US" dirty="0"/>
          </a:p>
        </p:txBody>
      </p:sp>
      <p:pic>
        <p:nvPicPr>
          <p:cNvPr id="132100" name="Picture 5"/>
          <p:cNvPicPr>
            <a:picLocks noChangeAspect="1"/>
          </p:cNvPicPr>
          <p:nvPr/>
        </p:nvPicPr>
        <p:blipFill>
          <a:blip r:embed="rId1"/>
          <a:stretch>
            <a:fillRect/>
          </a:stretch>
        </p:blipFill>
        <p:spPr>
          <a:xfrm>
            <a:off x="4140200" y="1646238"/>
            <a:ext cx="4608513" cy="4519612"/>
          </a:xfrm>
          <a:prstGeom prst="rect">
            <a:avLst/>
          </a:prstGeom>
          <a:noFill/>
          <a:ln w="9525">
            <a:noFill/>
          </a:ln>
        </p:spPr>
      </p:pic>
      <p:pic>
        <p:nvPicPr>
          <p:cNvPr id="132101" name="Picture 6"/>
          <p:cNvPicPr>
            <a:picLocks noChangeAspect="1"/>
          </p:cNvPicPr>
          <p:nvPr/>
        </p:nvPicPr>
        <p:blipFill>
          <a:blip r:embed="rId2"/>
          <a:stretch>
            <a:fillRect/>
          </a:stretch>
        </p:blipFill>
        <p:spPr>
          <a:xfrm>
            <a:off x="5580063" y="6092825"/>
            <a:ext cx="1944687" cy="388938"/>
          </a:xfrm>
          <a:prstGeom prst="rect">
            <a:avLst/>
          </a:prstGeom>
          <a:noFill/>
          <a:ln w="9525">
            <a:noFill/>
          </a:ln>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3"/>
          <p:cNvSpPr>
            <a:spLocks noGrp="1"/>
          </p:cNvSpPr>
          <p:nvPr>
            <p:ph idx="1"/>
          </p:nvPr>
        </p:nvSpPr>
        <p:spPr>
          <a:xfrm>
            <a:off x="457200" y="836613"/>
            <a:ext cx="8229600" cy="3886200"/>
          </a:xfrm>
        </p:spPr>
        <p:txBody>
          <a:bodyPr vert="horz" wrap="square" lIns="91440" tIns="45720" rIns="91440" bIns="45720" anchor="t" anchorCtr="0"/>
          <a:p>
            <a:r>
              <a:rPr lang="zh-CN" altLang="en-US" sz="3600" b="1" dirty="0">
                <a:solidFill>
                  <a:srgbClr val="0000FF"/>
                </a:solidFill>
              </a:rPr>
              <a:t>相联存储器</a:t>
            </a:r>
            <a:r>
              <a:rPr lang="en-US" altLang="zh-CN" sz="3600" b="1" dirty="0">
                <a:solidFill>
                  <a:srgbClr val="0000FF"/>
                </a:solidFill>
              </a:rPr>
              <a:t>(CAM, Content addressable Memory)</a:t>
            </a:r>
            <a:endParaRPr lang="en-US" altLang="zh-CN" sz="3600" b="1" dirty="0">
              <a:solidFill>
                <a:srgbClr val="0000FF"/>
              </a:solidFill>
            </a:endParaRPr>
          </a:p>
          <a:p>
            <a:pPr lvl="1"/>
            <a:r>
              <a:rPr lang="zh-CN" altLang="en-US" sz="3200" dirty="0"/>
              <a:t>原理：</a:t>
            </a:r>
            <a:r>
              <a:rPr lang="zh-CN" altLang="en-US" sz="3200" dirty="0">
                <a:solidFill>
                  <a:srgbClr val="0000FF"/>
                </a:solidFill>
              </a:rPr>
              <a:t>按</a:t>
            </a:r>
            <a:r>
              <a:rPr lang="zh-CN" altLang="en-US" sz="3200" b="1" dirty="0">
                <a:solidFill>
                  <a:srgbClr val="FF3300"/>
                </a:solidFill>
              </a:rPr>
              <a:t>内容</a:t>
            </a:r>
            <a:r>
              <a:rPr lang="zh-CN" altLang="en-US" sz="3200" dirty="0">
                <a:solidFill>
                  <a:srgbClr val="0000FF"/>
                </a:solidFill>
              </a:rPr>
              <a:t>存取的存储器，可以选择记录（关键字）的一个字段作为地址</a:t>
            </a:r>
            <a:endParaRPr lang="en-US" altLang="zh-CN" sz="3200" dirty="0">
              <a:solidFill>
                <a:srgbClr val="0000FF"/>
              </a:solidFill>
            </a:endParaRPr>
          </a:p>
          <a:p>
            <a:pPr lvl="1"/>
            <a:r>
              <a:rPr lang="zh-CN" altLang="en-US" sz="3200" dirty="0"/>
              <a:t>主要用途：在虚拟存储器中存放</a:t>
            </a:r>
            <a:r>
              <a:rPr lang="zh-CN" altLang="en-US" sz="3200" dirty="0">
                <a:solidFill>
                  <a:srgbClr val="FF3300"/>
                </a:solidFill>
              </a:rPr>
              <a:t>段表、页表和快表</a:t>
            </a:r>
            <a:r>
              <a:rPr lang="zh-CN" altLang="en-US" sz="3200" dirty="0"/>
              <a:t>，也可以作</a:t>
            </a:r>
            <a:r>
              <a:rPr lang="en-US" altLang="zh-CN" sz="3200" dirty="0">
                <a:solidFill>
                  <a:srgbClr val="FF3300"/>
                </a:solidFill>
              </a:rPr>
              <a:t>Cache</a:t>
            </a:r>
            <a:r>
              <a:rPr lang="zh-CN" altLang="en-US" sz="3200" dirty="0">
                <a:solidFill>
                  <a:srgbClr val="FF3300"/>
                </a:solidFill>
              </a:rPr>
              <a:t>的行地址</a:t>
            </a:r>
            <a:endParaRPr lang="en-US" altLang="zh-CN" sz="3200" dirty="0">
              <a:solidFill>
                <a:srgbClr val="FF3300"/>
              </a:solidFill>
            </a:endParaRPr>
          </a:p>
          <a:p>
            <a:pPr lvl="1"/>
            <a:r>
              <a:rPr lang="zh-CN" altLang="en-US" sz="3200" dirty="0"/>
              <a:t>组成：见下一页图</a:t>
            </a:r>
            <a:endParaRPr lang="en-US" altLang="zh-CN" sz="3200" dirty="0"/>
          </a:p>
          <a:p>
            <a:pPr lvl="1"/>
            <a:endParaRPr lang="zh-CN" altLang="en-US" sz="3200" dirty="0">
              <a:solidFill>
                <a:srgbClr val="FF3300"/>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4146" name="Picture 2"/>
          <p:cNvPicPr>
            <a:picLocks noChangeAspect="1"/>
          </p:cNvPicPr>
          <p:nvPr/>
        </p:nvPicPr>
        <p:blipFill>
          <a:blip r:embed="rId1"/>
          <a:stretch>
            <a:fillRect/>
          </a:stretch>
        </p:blipFill>
        <p:spPr>
          <a:xfrm>
            <a:off x="1116013" y="765175"/>
            <a:ext cx="7235825" cy="4895850"/>
          </a:xfrm>
          <a:prstGeom prst="rect">
            <a:avLst/>
          </a:prstGeom>
          <a:noFill/>
          <a:ln w="9525">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5170" name="Picture 2"/>
          <p:cNvPicPr>
            <a:picLocks noChangeAspect="1"/>
          </p:cNvPicPr>
          <p:nvPr/>
        </p:nvPicPr>
        <p:blipFill>
          <a:blip r:embed="rId1"/>
          <a:stretch>
            <a:fillRect/>
          </a:stretch>
        </p:blipFill>
        <p:spPr>
          <a:xfrm>
            <a:off x="1187450" y="908050"/>
            <a:ext cx="6992938" cy="5270500"/>
          </a:xfrm>
          <a:prstGeom prst="rect">
            <a:avLst/>
          </a:prstGeom>
          <a:noFill/>
          <a:ln w="9525">
            <a:noFill/>
          </a:ln>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6194" name="Picture 2"/>
          <p:cNvPicPr>
            <a:picLocks noChangeAspect="1"/>
          </p:cNvPicPr>
          <p:nvPr/>
        </p:nvPicPr>
        <p:blipFill>
          <a:blip r:embed="rId1"/>
          <a:stretch>
            <a:fillRect/>
          </a:stretch>
        </p:blipFill>
        <p:spPr>
          <a:xfrm>
            <a:off x="684213" y="1268413"/>
            <a:ext cx="7905750" cy="4067175"/>
          </a:xfrm>
          <a:prstGeom prst="rect">
            <a:avLst/>
          </a:prstGeom>
          <a:noFill/>
          <a:ln w="9525">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8" name="Rectangle 2"/>
          <p:cNvSpPr>
            <a:spLocks noGrp="1"/>
          </p:cNvSpPr>
          <p:nvPr>
            <p:ph type="title"/>
          </p:nvPr>
        </p:nvSpPr>
        <p:spPr>
          <a:xfrm>
            <a:off x="457200" y="-100012"/>
            <a:ext cx="8229600" cy="1371600"/>
          </a:xfrm>
        </p:spPr>
        <p:txBody>
          <a:bodyPr vert="horz" wrap="square" lIns="91440" tIns="45720" rIns="91440" bIns="45720" anchor="ctr" anchorCtr="0"/>
          <a:p>
            <a:r>
              <a:rPr lang="en-US" altLang="zh-CN" dirty="0">
                <a:cs typeface="Times New Roman" panose="02020603050405020304" pitchFamily="18" charset="0"/>
              </a:rPr>
              <a:t>3</a:t>
            </a:r>
            <a:r>
              <a:rPr lang="en-US" altLang="zh-CN" dirty="0"/>
              <a:t>.6 Cache</a:t>
            </a:r>
            <a:r>
              <a:rPr lang="zh-CN" altLang="en-US" dirty="0"/>
              <a:t>存储器</a:t>
            </a:r>
            <a:endParaRPr lang="zh-CN" altLang="en-US" dirty="0"/>
          </a:p>
        </p:txBody>
      </p:sp>
      <p:sp>
        <p:nvSpPr>
          <p:cNvPr id="74755" name="Rectangle 3"/>
          <p:cNvSpPr>
            <a:spLocks noGrp="1"/>
          </p:cNvSpPr>
          <p:nvPr>
            <p:ph idx="1"/>
          </p:nvPr>
        </p:nvSpPr>
        <p:spPr>
          <a:xfrm>
            <a:off x="457200" y="836613"/>
            <a:ext cx="8229600" cy="5472112"/>
          </a:xfrm>
        </p:spPr>
        <p:txBody>
          <a:bodyPr vert="horz" wrap="square" lIns="91440" tIns="45720" rIns="91440" bIns="45720" anchor="t" anchorCtr="0"/>
          <a:p>
            <a:pPr>
              <a:lnSpc>
                <a:spcPct val="80000"/>
              </a:lnSpc>
              <a:buNone/>
            </a:pPr>
            <a:r>
              <a:rPr lang="en-US" altLang="zh-CN" dirty="0">
                <a:solidFill>
                  <a:srgbClr val="0000FF"/>
                </a:solidFill>
              </a:rPr>
              <a:t>Cache</a:t>
            </a:r>
            <a:r>
              <a:rPr lang="zh-CN" altLang="en-US" dirty="0">
                <a:solidFill>
                  <a:srgbClr val="0000FF"/>
                </a:solidFill>
              </a:rPr>
              <a:t>基本原理小结：</a:t>
            </a:r>
            <a:endParaRPr lang="en-US" altLang="zh-CN" dirty="0">
              <a:solidFill>
                <a:srgbClr val="0000FF"/>
              </a:solidFill>
            </a:endParaRPr>
          </a:p>
          <a:p>
            <a:pPr lvl="1">
              <a:lnSpc>
                <a:spcPct val="80000"/>
              </a:lnSpc>
            </a:pPr>
            <a:r>
              <a:rPr lang="en-US" altLang="zh-CN" sz="2400" dirty="0"/>
              <a:t>cache</a:t>
            </a:r>
            <a:r>
              <a:rPr lang="zh-CN" altLang="en-US" sz="2400" dirty="0"/>
              <a:t>是介于</a:t>
            </a:r>
            <a:r>
              <a:rPr lang="en-US" altLang="zh-CN" sz="2400" dirty="0"/>
              <a:t>CPU</a:t>
            </a:r>
            <a:r>
              <a:rPr lang="zh-CN" altLang="en-US" sz="2400" dirty="0"/>
              <a:t>和主存之间的小容量存储器，但存取速度比主存快。主存容量配置几百</a:t>
            </a:r>
            <a:r>
              <a:rPr lang="en-US" altLang="zh-CN" sz="2400" dirty="0"/>
              <a:t>MB</a:t>
            </a:r>
            <a:r>
              <a:rPr lang="zh-CN" altLang="en-US" sz="2400" dirty="0"/>
              <a:t>的情况下，</a:t>
            </a:r>
            <a:r>
              <a:rPr lang="en-US" altLang="zh-CN" sz="2400" dirty="0"/>
              <a:t>cache</a:t>
            </a:r>
            <a:r>
              <a:rPr lang="zh-CN" altLang="en-US" sz="2400" dirty="0"/>
              <a:t>的典型值是几百</a:t>
            </a:r>
            <a:r>
              <a:rPr lang="en-US" altLang="zh-CN" sz="2400" dirty="0"/>
              <a:t>KB</a:t>
            </a:r>
            <a:r>
              <a:rPr lang="zh-CN" altLang="en-US" sz="2400" dirty="0"/>
              <a:t>。</a:t>
            </a:r>
            <a:r>
              <a:rPr lang="en-US" altLang="zh-CN" sz="2400" dirty="0"/>
              <a:t>cache</a:t>
            </a:r>
            <a:r>
              <a:rPr lang="zh-CN" altLang="en-US" sz="2400" dirty="0"/>
              <a:t>能高速地向</a:t>
            </a:r>
            <a:r>
              <a:rPr lang="en-US" altLang="zh-CN" sz="2400" dirty="0"/>
              <a:t>CPU</a:t>
            </a:r>
            <a:r>
              <a:rPr lang="zh-CN" altLang="en-US" sz="2400" dirty="0"/>
              <a:t>提供指令和数据，从而加快了程序的执行速度。从功能上看，它是主存的缓冲存储器，由高速的</a:t>
            </a:r>
            <a:r>
              <a:rPr lang="en-US" altLang="zh-CN" sz="2400" dirty="0"/>
              <a:t>SRAM</a:t>
            </a:r>
            <a:r>
              <a:rPr lang="zh-CN" altLang="en-US" sz="2400" dirty="0"/>
              <a:t>组成。为追求高速，包括管理在内的全部功能由硬件实现，因而对程序员是透明的。</a:t>
            </a:r>
            <a:endParaRPr lang="en-US" altLang="zh-CN" sz="2400" dirty="0"/>
          </a:p>
          <a:p>
            <a:pPr lvl="1">
              <a:lnSpc>
                <a:spcPct val="80000"/>
              </a:lnSpc>
            </a:pPr>
            <a:r>
              <a:rPr lang="en-US" altLang="zh-CN" sz="2400" dirty="0"/>
              <a:t>Cache</a:t>
            </a:r>
            <a:r>
              <a:rPr lang="zh-CN" altLang="en-US" sz="2400" dirty="0"/>
              <a:t>的设计依据</a:t>
            </a:r>
            <a:r>
              <a:rPr lang="en-US" altLang="zh-CN" sz="2400" dirty="0"/>
              <a:t>:CPU</a:t>
            </a:r>
            <a:r>
              <a:rPr lang="zh-CN" altLang="en-US" sz="2400" dirty="0"/>
              <a:t>这次访问过的数据，下次有很大的可能也是访问附近的数据。（</a:t>
            </a:r>
            <a:r>
              <a:rPr lang="zh-CN" altLang="en-US" sz="2400" dirty="0">
                <a:solidFill>
                  <a:srgbClr val="FF3300"/>
                </a:solidFill>
              </a:rPr>
              <a:t>局部性原理</a:t>
            </a:r>
            <a:r>
              <a:rPr lang="zh-CN" altLang="en-US" sz="2400" dirty="0"/>
              <a:t>）</a:t>
            </a:r>
            <a:endParaRPr lang="en-US" altLang="zh-CN" sz="2400" dirty="0"/>
          </a:p>
          <a:p>
            <a:pPr lvl="1">
              <a:lnSpc>
                <a:spcPct val="80000"/>
              </a:lnSpc>
            </a:pPr>
            <a:r>
              <a:rPr lang="en-US" altLang="zh-CN" sz="2400" dirty="0">
                <a:solidFill>
                  <a:srgbClr val="0000FF"/>
                </a:solidFill>
              </a:rPr>
              <a:t>CPU</a:t>
            </a:r>
            <a:r>
              <a:rPr lang="zh-CN" altLang="en-US" sz="2400" dirty="0">
                <a:solidFill>
                  <a:srgbClr val="0000FF"/>
                </a:solidFill>
              </a:rPr>
              <a:t>与</a:t>
            </a:r>
            <a:r>
              <a:rPr lang="en-US" altLang="zh-CN" sz="2400" dirty="0">
                <a:solidFill>
                  <a:srgbClr val="0000FF"/>
                </a:solidFill>
              </a:rPr>
              <a:t>Cache</a:t>
            </a:r>
            <a:r>
              <a:rPr lang="zh-CN" altLang="en-US" sz="2400" dirty="0">
                <a:solidFill>
                  <a:srgbClr val="0000FF"/>
                </a:solidFill>
              </a:rPr>
              <a:t>之间的数据传送是以字为单位</a:t>
            </a:r>
            <a:endParaRPr lang="en-US" altLang="zh-CN" sz="2400" dirty="0">
              <a:solidFill>
                <a:srgbClr val="0000FF"/>
              </a:solidFill>
            </a:endParaRPr>
          </a:p>
          <a:p>
            <a:pPr lvl="1">
              <a:lnSpc>
                <a:spcPct val="80000"/>
              </a:lnSpc>
            </a:pPr>
            <a:r>
              <a:rPr lang="zh-CN" altLang="en-US" sz="2400" dirty="0">
                <a:solidFill>
                  <a:srgbClr val="FF3300"/>
                </a:solidFill>
              </a:rPr>
              <a:t>主存与</a:t>
            </a:r>
            <a:r>
              <a:rPr lang="en-US" altLang="zh-CN" sz="2400" dirty="0">
                <a:solidFill>
                  <a:srgbClr val="FF3300"/>
                </a:solidFill>
              </a:rPr>
              <a:t>Cache</a:t>
            </a:r>
            <a:r>
              <a:rPr lang="zh-CN" altLang="en-US" sz="2400" dirty="0">
                <a:solidFill>
                  <a:srgbClr val="FF3300"/>
                </a:solidFill>
              </a:rPr>
              <a:t>之间的数据传送是以块为单位</a:t>
            </a:r>
            <a:endParaRPr lang="en-US" altLang="zh-CN" sz="2400" dirty="0">
              <a:solidFill>
                <a:srgbClr val="FF3300"/>
              </a:solidFill>
            </a:endParaRPr>
          </a:p>
          <a:p>
            <a:pPr lvl="1">
              <a:lnSpc>
                <a:spcPct val="80000"/>
              </a:lnSpc>
            </a:pPr>
            <a:r>
              <a:rPr lang="en-US" altLang="zh-CN" sz="2400" dirty="0"/>
              <a:t>CPU</a:t>
            </a:r>
            <a:r>
              <a:rPr lang="zh-CN" altLang="en-US" sz="2400" dirty="0"/>
              <a:t>读主存时，便把地址同时送给</a:t>
            </a:r>
            <a:r>
              <a:rPr lang="en-US" altLang="zh-CN" sz="2400" dirty="0"/>
              <a:t>Cache</a:t>
            </a:r>
            <a:r>
              <a:rPr lang="zh-CN" altLang="en-US" sz="2400" dirty="0"/>
              <a:t>和主存，</a:t>
            </a:r>
            <a:r>
              <a:rPr lang="en-US" altLang="zh-CN" sz="2400" dirty="0"/>
              <a:t>Cache</a:t>
            </a:r>
            <a:r>
              <a:rPr lang="zh-CN" altLang="en-US" sz="2400" dirty="0"/>
              <a:t>控制逻辑依据地址判断此字是否在</a:t>
            </a:r>
            <a:r>
              <a:rPr lang="en-US" altLang="zh-CN" sz="2400" dirty="0"/>
              <a:t>Cache</a:t>
            </a:r>
            <a:r>
              <a:rPr lang="zh-CN" altLang="en-US" sz="2400" dirty="0"/>
              <a:t>中，若在此字立即传送给</a:t>
            </a:r>
            <a:r>
              <a:rPr lang="en-US" altLang="zh-CN" sz="2400" dirty="0"/>
              <a:t>CPU </a:t>
            </a:r>
            <a:r>
              <a:rPr lang="zh-CN" altLang="en-US" sz="2400" dirty="0"/>
              <a:t>；否则，则用主存读周期把此字从主存读出送到</a:t>
            </a:r>
            <a:r>
              <a:rPr lang="en-US" altLang="zh-CN" sz="2400" dirty="0"/>
              <a:t>CPU</a:t>
            </a:r>
            <a:r>
              <a:rPr lang="zh-CN" altLang="en-US" sz="2400" dirty="0"/>
              <a:t>，与此同时，把含有这个字的整个数据块从主存读出送到</a:t>
            </a:r>
            <a:r>
              <a:rPr lang="en-US" altLang="zh-CN" sz="2400" dirty="0"/>
              <a:t>cache</a:t>
            </a:r>
            <a:r>
              <a:rPr lang="zh-CN" altLang="en-US" sz="2400" dirty="0"/>
              <a:t>中。（</a:t>
            </a:r>
            <a:r>
              <a:rPr lang="zh-CN" altLang="en-US" sz="2400" dirty="0">
                <a:solidFill>
                  <a:srgbClr val="FF3300"/>
                </a:solidFill>
              </a:rPr>
              <a:t>存取原理</a:t>
            </a:r>
            <a:r>
              <a:rPr lang="zh-CN" altLang="en-US" sz="2400" dirty="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5">
                                            <p:txEl>
                                              <p:charRg st="174" end="22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74755">
                                            <p:txEl>
                                              <p:charRg st="223" end="246"/>
                                            </p:txEl>
                                          </p:spTgt>
                                        </p:tgtEl>
                                        <p:attrNameLst>
                                          <p:attrName>style.visibility</p:attrName>
                                        </p:attrNameLst>
                                      </p:cBhvr>
                                      <p:to>
                                        <p:strVal val="visible"/>
                                      </p:to>
                                    </p:set>
                                    <p:anim calcmode="lin" valueType="num">
                                      <p:cBhvr additive="base">
                                        <p:cTn id="11" dur="500" fill="hold"/>
                                        <p:tgtEl>
                                          <p:spTgt spid="74755">
                                            <p:txEl>
                                              <p:charRg st="223" end="246"/>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4755">
                                            <p:txEl>
                                              <p:charRg st="223" end="246"/>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4755">
                                            <p:txEl>
                                              <p:charRg st="246" end="268"/>
                                            </p:txEl>
                                          </p:spTgt>
                                        </p:tgtEl>
                                        <p:attrNameLst>
                                          <p:attrName>style.visibility</p:attrName>
                                        </p:attrNameLst>
                                      </p:cBhvr>
                                      <p:to>
                                        <p:strVal val="visible"/>
                                      </p:to>
                                    </p:set>
                                    <p:anim calcmode="lin" valueType="num">
                                      <p:cBhvr additive="base">
                                        <p:cTn id="17" dur="500" fill="hold"/>
                                        <p:tgtEl>
                                          <p:spTgt spid="74755">
                                            <p:txEl>
                                              <p:charRg st="246" end="268"/>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4755">
                                            <p:txEl>
                                              <p:charRg st="246" end="268"/>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4755">
                                            <p:txEl>
                                              <p:charRg st="268" end="396"/>
                                            </p:txEl>
                                          </p:spTgt>
                                        </p:tgtEl>
                                        <p:attrNameLst>
                                          <p:attrName>style.visibility</p:attrName>
                                        </p:attrNameLst>
                                      </p:cBhvr>
                                      <p:to>
                                        <p:strVal val="visible"/>
                                      </p:to>
                                    </p:set>
                                    <p:anim calcmode="lin" valueType="num">
                                      <p:cBhvr additive="base">
                                        <p:cTn id="23" dur="500" fill="hold"/>
                                        <p:tgtEl>
                                          <p:spTgt spid="74755">
                                            <p:txEl>
                                              <p:charRg st="268" end="39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4755">
                                            <p:txEl>
                                              <p:charRg st="268" end="39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2"/>
          <p:cNvSpPr>
            <a:spLocks noGrp="1"/>
          </p:cNvSpPr>
          <p:nvPr>
            <p:ph type="title"/>
          </p:nvPr>
        </p:nvSpPr>
        <p:spPr>
          <a:xfrm>
            <a:off x="857250" y="122238"/>
            <a:ext cx="7531100" cy="785812"/>
          </a:xfrm>
        </p:spPr>
        <p:txBody>
          <a:bodyPr vert="horz" wrap="square" lIns="91440" tIns="45720" rIns="91440" bIns="45720" anchor="ctr" anchorCtr="0"/>
          <a:p>
            <a:pPr defTabSz="717550"/>
            <a:r>
              <a:rPr lang="en-US" altLang="zh-CN" dirty="0"/>
              <a:t>3.6.2 Cache(</a:t>
            </a:r>
            <a:r>
              <a:rPr lang="zh-CN" altLang="en-US" dirty="0"/>
              <a:t>高速缓存</a:t>
            </a:r>
            <a:r>
              <a:rPr lang="en-US" altLang="zh-CN" dirty="0"/>
              <a:t>)</a:t>
            </a:r>
            <a:endParaRPr lang="en-US" altLang="zh-CN" dirty="0"/>
          </a:p>
        </p:txBody>
      </p:sp>
      <p:sp>
        <p:nvSpPr>
          <p:cNvPr id="176131" name="Text Box 3"/>
          <p:cNvSpPr txBox="1"/>
          <p:nvPr/>
        </p:nvSpPr>
        <p:spPr>
          <a:xfrm>
            <a:off x="431800" y="998538"/>
            <a:ext cx="6796088" cy="3651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400" b="1" dirty="0">
                <a:solidFill>
                  <a:srgbClr val="0000FF"/>
                </a:solidFill>
                <a:ea typeface="黑体" panose="02010609060101010101" pitchFamily="49" charset="-122"/>
              </a:rPr>
              <a:t>问题：要实现</a:t>
            </a:r>
            <a:r>
              <a:rPr lang="en-US" altLang="zh-CN" sz="2400" b="1" dirty="0">
                <a:solidFill>
                  <a:srgbClr val="0000FF"/>
                </a:solidFill>
                <a:ea typeface="黑体" panose="02010609060101010101" pitchFamily="49" charset="-122"/>
              </a:rPr>
              <a:t>Cache</a:t>
            </a:r>
            <a:r>
              <a:rPr lang="zh-CN" altLang="en-US" sz="2400" b="1" dirty="0">
                <a:solidFill>
                  <a:srgbClr val="0000FF"/>
                </a:solidFill>
                <a:ea typeface="黑体" panose="02010609060101010101" pitchFamily="49" charset="-122"/>
              </a:rPr>
              <a:t>机制需要解决哪些问题？</a:t>
            </a:r>
            <a:endParaRPr lang="zh-CN" altLang="en-US" sz="2400" b="1" dirty="0">
              <a:solidFill>
                <a:srgbClr val="0000FF"/>
              </a:solidFill>
              <a:ea typeface="黑体" panose="02010609060101010101" pitchFamily="49" charset="-122"/>
            </a:endParaRPr>
          </a:p>
        </p:txBody>
      </p:sp>
      <p:sp>
        <p:nvSpPr>
          <p:cNvPr id="176132" name="Text Box 4"/>
          <p:cNvSpPr txBox="1"/>
          <p:nvPr/>
        </p:nvSpPr>
        <p:spPr>
          <a:xfrm>
            <a:off x="296863" y="1673225"/>
            <a:ext cx="6615112" cy="24415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lnSpc>
                <a:spcPct val="130000"/>
              </a:lnSpc>
              <a:buClrTx/>
              <a:buSzTx/>
              <a:buFontTx/>
              <a:buNone/>
            </a:pPr>
            <a:r>
              <a:rPr lang="zh-CN" altLang="en-US" sz="2200" b="1" dirty="0">
                <a:solidFill>
                  <a:srgbClr val="FF0000"/>
                </a:solidFill>
                <a:ea typeface="黑体" panose="02010609060101010101" pitchFamily="49" charset="-122"/>
              </a:rPr>
              <a:t>如何分块？</a:t>
            </a:r>
            <a:endParaRPr lang="en-US" altLang="zh-CN" sz="2200" b="1" dirty="0">
              <a:solidFill>
                <a:srgbClr val="FF0000"/>
              </a:solidFill>
              <a:ea typeface="黑体" panose="02010609060101010101" pitchFamily="49" charset="-122"/>
            </a:endParaRPr>
          </a:p>
          <a:p>
            <a:pPr marL="0" lvl="0" indent="0" eaLnBrk="1" hangingPunct="1">
              <a:lnSpc>
                <a:spcPct val="130000"/>
              </a:lnSpc>
              <a:buClrTx/>
              <a:buSzTx/>
              <a:buFontTx/>
              <a:buNone/>
            </a:pPr>
            <a:r>
              <a:rPr lang="zh-CN" altLang="en-US" sz="2200" b="1" dirty="0">
                <a:solidFill>
                  <a:srgbClr val="FF0000"/>
                </a:solidFill>
                <a:ea typeface="黑体" panose="02010609060101010101" pitchFamily="49" charset="-122"/>
              </a:rPr>
              <a:t>主存块和</a:t>
            </a:r>
            <a:r>
              <a:rPr lang="en-US" altLang="zh-CN" sz="2200" b="1" dirty="0">
                <a:solidFill>
                  <a:srgbClr val="FF0000"/>
                </a:solidFill>
                <a:ea typeface="黑体" panose="02010609060101010101" pitchFamily="49" charset="-122"/>
              </a:rPr>
              <a:t>Cache</a:t>
            </a:r>
            <a:r>
              <a:rPr lang="zh-CN" altLang="en-US" sz="2200" b="1" dirty="0">
                <a:solidFill>
                  <a:srgbClr val="FF0000"/>
                </a:solidFill>
                <a:ea typeface="黑体" panose="02010609060101010101" pitchFamily="49" charset="-122"/>
              </a:rPr>
              <a:t>之间如何映射</a:t>
            </a:r>
            <a:r>
              <a:rPr lang="en-US" altLang="zh-CN" sz="2200" b="1" dirty="0">
                <a:solidFill>
                  <a:srgbClr val="FF0000"/>
                </a:solidFill>
                <a:ea typeface="黑体" panose="02010609060101010101" pitchFamily="49" charset="-122"/>
              </a:rPr>
              <a:t>?</a:t>
            </a:r>
            <a:endParaRPr lang="en-US" altLang="zh-CN" sz="2200" b="1" dirty="0">
              <a:solidFill>
                <a:srgbClr val="FF0000"/>
              </a:solidFill>
              <a:ea typeface="黑体" panose="02010609060101010101" pitchFamily="49" charset="-122"/>
            </a:endParaRPr>
          </a:p>
          <a:p>
            <a:pPr marL="0" lvl="0" indent="0" eaLnBrk="1" hangingPunct="1">
              <a:lnSpc>
                <a:spcPct val="130000"/>
              </a:lnSpc>
              <a:buClrTx/>
              <a:buSzTx/>
              <a:buFontTx/>
              <a:buNone/>
            </a:pPr>
            <a:r>
              <a:rPr lang="en-US" altLang="zh-CN" sz="2200" b="1" dirty="0">
                <a:solidFill>
                  <a:srgbClr val="FF0000"/>
                </a:solidFill>
                <a:ea typeface="黑体" panose="02010609060101010101" pitchFamily="49" charset="-122"/>
              </a:rPr>
              <a:t>Cache</a:t>
            </a:r>
            <a:r>
              <a:rPr lang="zh-CN" altLang="en-US" sz="2200" b="1" dirty="0">
                <a:solidFill>
                  <a:srgbClr val="FF0000"/>
                </a:solidFill>
                <a:ea typeface="黑体" panose="02010609060101010101" pitchFamily="49" charset="-122"/>
              </a:rPr>
              <a:t>已满时，怎么办？</a:t>
            </a:r>
            <a:endParaRPr lang="en-US" altLang="zh-CN" sz="2200" b="1" dirty="0">
              <a:solidFill>
                <a:srgbClr val="FF0000"/>
              </a:solidFill>
              <a:ea typeface="黑体" panose="02010609060101010101" pitchFamily="49" charset="-122"/>
            </a:endParaRPr>
          </a:p>
          <a:p>
            <a:pPr marL="0" lvl="0" indent="0" eaLnBrk="1" hangingPunct="1">
              <a:lnSpc>
                <a:spcPct val="130000"/>
              </a:lnSpc>
              <a:buClrTx/>
              <a:buSzTx/>
              <a:buFontTx/>
              <a:buNone/>
            </a:pPr>
            <a:r>
              <a:rPr lang="zh-CN" altLang="en-US" sz="2200" b="1" dirty="0">
                <a:solidFill>
                  <a:srgbClr val="FF0000"/>
                </a:solidFill>
                <a:ea typeface="黑体" panose="02010609060101010101" pitchFamily="49" charset="-122"/>
              </a:rPr>
              <a:t>写数据时怎样保证</a:t>
            </a:r>
            <a:r>
              <a:rPr lang="en-US" altLang="zh-CN" sz="2200" b="1" dirty="0">
                <a:solidFill>
                  <a:srgbClr val="FF0000"/>
                </a:solidFill>
                <a:ea typeface="黑体" panose="02010609060101010101" pitchFamily="49" charset="-122"/>
              </a:rPr>
              <a:t>Cache</a:t>
            </a:r>
            <a:r>
              <a:rPr lang="zh-CN" altLang="en-US" sz="2200" b="1" dirty="0">
                <a:solidFill>
                  <a:srgbClr val="FF0000"/>
                </a:solidFill>
                <a:ea typeface="黑体" panose="02010609060101010101" pitchFamily="49" charset="-122"/>
              </a:rPr>
              <a:t>和</a:t>
            </a:r>
            <a:r>
              <a:rPr lang="en-US" altLang="zh-CN" sz="2200" b="1" dirty="0">
                <a:solidFill>
                  <a:srgbClr val="FF0000"/>
                </a:solidFill>
                <a:ea typeface="黑体" panose="02010609060101010101" pitchFamily="49" charset="-122"/>
              </a:rPr>
              <a:t>MM</a:t>
            </a:r>
            <a:r>
              <a:rPr lang="zh-CN" altLang="en-US" sz="2200" b="1" dirty="0">
                <a:solidFill>
                  <a:srgbClr val="FF0000"/>
                </a:solidFill>
                <a:ea typeface="黑体" panose="02010609060101010101" pitchFamily="49" charset="-122"/>
              </a:rPr>
              <a:t>的一致性？</a:t>
            </a:r>
            <a:endParaRPr lang="en-US" altLang="zh-CN" sz="2200" b="1" dirty="0">
              <a:solidFill>
                <a:srgbClr val="FF0000"/>
              </a:solidFill>
              <a:ea typeface="黑体" panose="02010609060101010101" pitchFamily="49" charset="-122"/>
            </a:endParaRPr>
          </a:p>
          <a:p>
            <a:pPr marL="0" lvl="0" indent="0" eaLnBrk="1" hangingPunct="1">
              <a:lnSpc>
                <a:spcPct val="130000"/>
              </a:lnSpc>
              <a:buClrTx/>
              <a:buSzTx/>
              <a:buFontTx/>
              <a:buNone/>
            </a:pPr>
            <a:r>
              <a:rPr lang="zh-CN" altLang="en-US" sz="2200" b="1" dirty="0">
                <a:solidFill>
                  <a:srgbClr val="FF0000"/>
                </a:solidFill>
                <a:ea typeface="黑体" panose="02010609060101010101" pitchFamily="49" charset="-122"/>
              </a:rPr>
              <a:t>如何根据主存地址访问到</a:t>
            </a:r>
            <a:r>
              <a:rPr lang="en-US" altLang="zh-CN" sz="2200" b="1" dirty="0">
                <a:solidFill>
                  <a:srgbClr val="FF0000"/>
                </a:solidFill>
                <a:ea typeface="黑体" panose="02010609060101010101" pitchFamily="49" charset="-122"/>
              </a:rPr>
              <a:t>cache</a:t>
            </a:r>
            <a:r>
              <a:rPr lang="zh-CN" altLang="en-US" sz="2200" b="1" dirty="0">
                <a:solidFill>
                  <a:srgbClr val="FF0000"/>
                </a:solidFill>
                <a:ea typeface="黑体" panose="02010609060101010101" pitchFamily="49" charset="-122"/>
              </a:rPr>
              <a:t>中的数据？</a:t>
            </a:r>
            <a:r>
              <a:rPr lang="en-US" altLang="zh-CN" sz="2200" b="1" dirty="0">
                <a:solidFill>
                  <a:srgbClr val="FF0000"/>
                </a:solidFill>
                <a:ea typeface="黑体" panose="02010609060101010101" pitchFamily="49" charset="-122"/>
              </a:rPr>
              <a:t>……</a:t>
            </a:r>
            <a:endParaRPr lang="en-US" altLang="zh-CN" sz="2200" b="1" dirty="0">
              <a:solidFill>
                <a:srgbClr val="FF0000"/>
              </a:solidFill>
              <a:ea typeface="黑体" panose="02010609060101010101" pitchFamily="49" charset="-122"/>
            </a:endParaRPr>
          </a:p>
        </p:txBody>
      </p:sp>
      <p:sp>
        <p:nvSpPr>
          <p:cNvPr id="176133" name="Text Box 5"/>
          <p:cNvSpPr txBox="1"/>
          <p:nvPr/>
        </p:nvSpPr>
        <p:spPr>
          <a:xfrm>
            <a:off x="341313" y="4419600"/>
            <a:ext cx="7470775" cy="334963"/>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200" b="1" dirty="0">
                <a:solidFill>
                  <a:srgbClr val="CC0000"/>
                </a:solidFill>
                <a:ea typeface="黑体" panose="02010609060101010101" pitchFamily="49" charset="-122"/>
              </a:rPr>
              <a:t>问题：</a:t>
            </a:r>
            <a:r>
              <a:rPr lang="en-US" altLang="zh-CN" sz="2200" b="1" dirty="0">
                <a:solidFill>
                  <a:srgbClr val="CC0000"/>
                </a:solidFill>
                <a:ea typeface="黑体" panose="02010609060101010101" pitchFamily="49" charset="-122"/>
              </a:rPr>
              <a:t>Cache</a:t>
            </a:r>
            <a:r>
              <a:rPr lang="zh-CN" altLang="en-US" sz="2200" b="1" dirty="0">
                <a:solidFill>
                  <a:srgbClr val="CC0000"/>
                </a:solidFill>
                <a:ea typeface="黑体" panose="02010609060101010101" pitchFamily="49" charset="-122"/>
              </a:rPr>
              <a:t>对程序员</a:t>
            </a:r>
            <a:r>
              <a:rPr lang="en-US" altLang="zh-CN" sz="2200" b="1" dirty="0">
                <a:solidFill>
                  <a:srgbClr val="CC0000"/>
                </a:solidFill>
                <a:ea typeface="黑体" panose="02010609060101010101" pitchFamily="49" charset="-122"/>
              </a:rPr>
              <a:t>(</a:t>
            </a:r>
            <a:r>
              <a:rPr lang="zh-CN" altLang="en-US" sz="2200" b="1" dirty="0">
                <a:solidFill>
                  <a:srgbClr val="CC0000"/>
                </a:solidFill>
                <a:ea typeface="黑体" panose="02010609060101010101" pitchFamily="49" charset="-122"/>
              </a:rPr>
              <a:t>编译器</a:t>
            </a:r>
            <a:r>
              <a:rPr lang="en-US" altLang="zh-CN" sz="2200" b="1" dirty="0">
                <a:solidFill>
                  <a:srgbClr val="CC0000"/>
                </a:solidFill>
                <a:ea typeface="黑体" panose="02010609060101010101" pitchFamily="49" charset="-122"/>
              </a:rPr>
              <a:t>)</a:t>
            </a:r>
            <a:r>
              <a:rPr lang="zh-CN" altLang="en-US" sz="2200" b="1" dirty="0">
                <a:solidFill>
                  <a:srgbClr val="CC0000"/>
                </a:solidFill>
                <a:ea typeface="黑体" panose="02010609060101010101" pitchFamily="49" charset="-122"/>
              </a:rPr>
              <a:t>是否透明？为什么？</a:t>
            </a:r>
            <a:endParaRPr lang="zh-CN" altLang="en-US" sz="2200" b="1" dirty="0">
              <a:solidFill>
                <a:srgbClr val="CC0000"/>
              </a:solidFill>
              <a:ea typeface="黑体" panose="02010609060101010101" pitchFamily="49" charset="-122"/>
            </a:endParaRPr>
          </a:p>
        </p:txBody>
      </p:sp>
      <p:sp>
        <p:nvSpPr>
          <p:cNvPr id="176134" name="Text Box 6"/>
          <p:cNvSpPr txBox="1"/>
          <p:nvPr/>
        </p:nvSpPr>
        <p:spPr>
          <a:xfrm>
            <a:off x="296863" y="4959350"/>
            <a:ext cx="7875587" cy="6699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buClrTx/>
              <a:buSzTx/>
              <a:buFontTx/>
              <a:buNone/>
            </a:pPr>
            <a:r>
              <a:rPr lang="zh-CN" altLang="en-US" sz="2200" b="1" dirty="0">
                <a:ea typeface="黑体" panose="02010609060101010101" pitchFamily="49" charset="-122"/>
              </a:rPr>
              <a:t>是透明的，程序员</a:t>
            </a:r>
            <a:r>
              <a:rPr lang="en-US" altLang="zh-CN" sz="2200" b="1" dirty="0">
                <a:ea typeface="黑体" panose="02010609060101010101" pitchFamily="49" charset="-122"/>
              </a:rPr>
              <a:t>(</a:t>
            </a:r>
            <a:r>
              <a:rPr lang="zh-CN" altLang="en-US" sz="2200" b="1" dirty="0">
                <a:ea typeface="黑体" panose="02010609060101010101" pitchFamily="49" charset="-122"/>
              </a:rPr>
              <a:t>编译器</a:t>
            </a:r>
            <a:r>
              <a:rPr lang="en-US" altLang="zh-CN" sz="2200" b="1" dirty="0">
                <a:ea typeface="黑体" panose="02010609060101010101" pitchFamily="49" charset="-122"/>
              </a:rPr>
              <a:t>)</a:t>
            </a:r>
            <a:r>
              <a:rPr lang="zh-CN" altLang="en-US" sz="2200" b="1" dirty="0">
                <a:ea typeface="黑体" panose="02010609060101010101" pitchFamily="49" charset="-122"/>
              </a:rPr>
              <a:t>在编写</a:t>
            </a:r>
            <a:r>
              <a:rPr lang="en-US" altLang="zh-CN" sz="2200" b="1" dirty="0">
                <a:ea typeface="黑体" panose="02010609060101010101" pitchFamily="49" charset="-122"/>
              </a:rPr>
              <a:t>/</a:t>
            </a:r>
            <a:r>
              <a:rPr lang="zh-CN" altLang="en-US" sz="2200" b="1" dirty="0">
                <a:ea typeface="黑体" panose="02010609060101010101" pitchFamily="49" charset="-122"/>
              </a:rPr>
              <a:t>生成高级或低级语言程序时无需了解</a:t>
            </a:r>
            <a:r>
              <a:rPr lang="en-US" altLang="zh-CN" sz="2200" b="1" dirty="0">
                <a:ea typeface="黑体" panose="02010609060101010101" pitchFamily="49" charset="-122"/>
              </a:rPr>
              <a:t>Cache</a:t>
            </a:r>
            <a:r>
              <a:rPr lang="zh-CN" altLang="en-US" sz="2200" b="1" dirty="0">
                <a:ea typeface="黑体" panose="02010609060101010101" pitchFamily="49" charset="-122"/>
              </a:rPr>
              <a:t>是否存在或如何设置，感觉不到</a:t>
            </a:r>
            <a:r>
              <a:rPr lang="en-US" altLang="zh-CN" sz="2200" b="1" dirty="0">
                <a:ea typeface="黑体" panose="02010609060101010101" pitchFamily="49" charset="-122"/>
              </a:rPr>
              <a:t>cache</a:t>
            </a:r>
            <a:r>
              <a:rPr lang="zh-CN" altLang="en-US" sz="2200" b="1" dirty="0">
                <a:ea typeface="黑体" panose="02010609060101010101" pitchFamily="49" charset="-122"/>
              </a:rPr>
              <a:t>的存在。</a:t>
            </a:r>
            <a:endParaRPr lang="zh-CN" altLang="en-US" sz="2200" b="1" dirty="0">
              <a:ea typeface="黑体" panose="02010609060101010101" pitchFamily="49" charset="-122"/>
            </a:endParaRPr>
          </a:p>
        </p:txBody>
      </p:sp>
      <p:sp>
        <p:nvSpPr>
          <p:cNvPr id="176135" name="Text Box 7"/>
          <p:cNvSpPr txBox="1">
            <a:spLocks noChangeArrowheads="1"/>
          </p:cNvSpPr>
          <p:nvPr/>
        </p:nvSpPr>
        <p:spPr bwMode="auto">
          <a:xfrm>
            <a:off x="566738" y="5949950"/>
            <a:ext cx="7470775" cy="365125"/>
          </a:xfrm>
          <a:prstGeom prst="rect">
            <a:avLst/>
          </a:prstGeom>
          <a:noFill/>
          <a:ln>
            <a:noFill/>
          </a:ln>
          <a:effectLst/>
        </p:spPr>
        <p:txBody>
          <a:bodyPr lIns="0" tIns="0" rIns="0" bIns="0">
            <a:spAutoFit/>
          </a:bodyPr>
          <a:lstStyle/>
          <a:p>
            <a:pPr marR="0" defTabSz="914400" eaLnBrk="1" hangingPunct="1">
              <a:spcBef>
                <a:spcPct val="50000"/>
              </a:spcBef>
              <a:buClrTx/>
              <a:buSzTx/>
              <a:buFontTx/>
              <a:buNone/>
              <a:defRPr/>
            </a:pPr>
            <a:r>
              <a:rPr kumimoji="1" lang="zh-CN" altLang="en-US" sz="2400" b="1" i="1" u="sng" kern="1200" cap="none" spc="0" normalizeH="0" baseline="0" noProof="0">
                <a:solidFill>
                  <a:srgbClr val="CC0000"/>
                </a:solidFill>
                <a:effectLst>
                  <a:outerShdw blurRad="38100" dist="38100" dir="2700000" algn="tl">
                    <a:srgbClr val="C0C0C0"/>
                  </a:outerShdw>
                </a:effectLst>
                <a:latin typeface="Arial" panose="020B0604020202020204" pitchFamily="34" charset="0"/>
                <a:ea typeface="华文新魏" pitchFamily="2" charset="-122"/>
                <a:cs typeface="+mn-cs"/>
              </a:rPr>
              <a:t>但是，对</a:t>
            </a:r>
            <a:r>
              <a:rPr kumimoji="1" lang="en-US" altLang="zh-CN" sz="2400" b="1" i="1" u="sng" kern="1200" cap="none" spc="0" normalizeH="0" baseline="0" noProof="0">
                <a:solidFill>
                  <a:srgbClr val="CC0000"/>
                </a:solidFill>
                <a:effectLst>
                  <a:outerShdw blurRad="38100" dist="38100" dir="2700000" algn="tl">
                    <a:srgbClr val="C0C0C0"/>
                  </a:outerShdw>
                </a:effectLst>
                <a:latin typeface="Arial" panose="020B0604020202020204" pitchFamily="34" charset="0"/>
                <a:ea typeface="华文新魏" pitchFamily="2" charset="-122"/>
                <a:cs typeface="+mn-cs"/>
              </a:rPr>
              <a:t>Cache</a:t>
            </a:r>
            <a:r>
              <a:rPr kumimoji="1" lang="zh-CN" altLang="en-US" sz="2400" b="1" i="1" u="sng" kern="1200" cap="none" spc="0" normalizeH="0" baseline="0" noProof="0">
                <a:solidFill>
                  <a:srgbClr val="CC0000"/>
                </a:solidFill>
                <a:effectLst>
                  <a:outerShdw blurRad="38100" dist="38100" dir="2700000" algn="tl">
                    <a:srgbClr val="C0C0C0"/>
                  </a:outerShdw>
                </a:effectLst>
                <a:latin typeface="Arial" panose="020B0604020202020204" pitchFamily="34" charset="0"/>
                <a:ea typeface="华文新魏" pitchFamily="2" charset="-122"/>
                <a:cs typeface="+mn-cs"/>
              </a:rPr>
              <a:t>深入了解有助于编写出高效的程序！</a:t>
            </a:r>
            <a:endParaRPr kumimoji="1" lang="zh-CN" altLang="en-US" sz="2400" b="1" i="1" u="sng" kern="1200" cap="none" spc="0" normalizeH="0" baseline="0" noProof="0">
              <a:solidFill>
                <a:srgbClr val="CC0000"/>
              </a:solidFill>
              <a:effectLst>
                <a:outerShdw blurRad="38100" dist="38100" dir="2700000" algn="tl">
                  <a:srgbClr val="C0C0C0"/>
                </a:outerShdw>
              </a:effectLst>
              <a:latin typeface="Arial" panose="020B0604020202020204" pitchFamily="34" charset="0"/>
              <a:ea typeface="华文新魏" pitchFamily="2" charset="-122"/>
              <a:cs typeface="+mn-cs"/>
            </a:endParaRPr>
          </a:p>
        </p:txBody>
      </p:sp>
      <p:sp>
        <p:nvSpPr>
          <p:cNvPr id="176136" name="Text Box 8"/>
          <p:cNvSpPr txBox="1"/>
          <p:nvPr/>
        </p:nvSpPr>
        <p:spPr>
          <a:xfrm>
            <a:off x="5607050" y="1403350"/>
            <a:ext cx="3486150" cy="20081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lnSpc>
                <a:spcPct val="120000"/>
              </a:lnSpc>
              <a:buClrTx/>
              <a:buSzTx/>
              <a:buFontTx/>
              <a:buNone/>
            </a:pPr>
            <a:r>
              <a:rPr lang="zh-CN" altLang="en-US" sz="2200" b="1" dirty="0">
                <a:solidFill>
                  <a:srgbClr val="006600"/>
                </a:solidFill>
                <a:ea typeface="黑体" panose="02010609060101010101" pitchFamily="49" charset="-122"/>
              </a:rPr>
              <a:t>主存被分成若干大小相同的块，称为主存块</a:t>
            </a:r>
            <a:r>
              <a:rPr lang="en-US" altLang="zh-CN" sz="2200" b="1" dirty="0">
                <a:solidFill>
                  <a:srgbClr val="006600"/>
                </a:solidFill>
                <a:ea typeface="黑体" panose="02010609060101010101" pitchFamily="49" charset="-122"/>
              </a:rPr>
              <a:t>(Block)</a:t>
            </a:r>
            <a:r>
              <a:rPr lang="zh-CN" altLang="en-US" sz="2200" b="1" dirty="0">
                <a:solidFill>
                  <a:srgbClr val="006600"/>
                </a:solidFill>
                <a:ea typeface="黑体" panose="02010609060101010101" pitchFamily="49" charset="-122"/>
              </a:rPr>
              <a:t>，</a:t>
            </a:r>
            <a:r>
              <a:rPr lang="en-US" altLang="zh-CN" sz="2200" b="1" dirty="0">
                <a:solidFill>
                  <a:srgbClr val="006600"/>
                </a:solidFill>
                <a:ea typeface="黑体" panose="02010609060101010101" pitchFamily="49" charset="-122"/>
              </a:rPr>
              <a:t>Cache</a:t>
            </a:r>
            <a:r>
              <a:rPr lang="zh-CN" altLang="en-US" sz="2200" b="1" dirty="0">
                <a:solidFill>
                  <a:srgbClr val="006600"/>
                </a:solidFill>
                <a:ea typeface="黑体" panose="02010609060101010101" pitchFamily="49" charset="-122"/>
              </a:rPr>
              <a:t>也被分成相同大小的块，称为</a:t>
            </a:r>
            <a:r>
              <a:rPr lang="en-US" altLang="zh-CN" sz="2200" b="1" dirty="0">
                <a:solidFill>
                  <a:srgbClr val="006600"/>
                </a:solidFill>
                <a:ea typeface="黑体" panose="02010609060101010101" pitchFamily="49" charset="-122"/>
              </a:rPr>
              <a:t>Cache</a:t>
            </a:r>
            <a:r>
              <a:rPr lang="zh-CN" altLang="en-US" sz="2200" b="1" dirty="0">
                <a:solidFill>
                  <a:srgbClr val="006600"/>
                </a:solidFill>
                <a:ea typeface="黑体" panose="02010609060101010101" pitchFamily="49" charset="-122"/>
              </a:rPr>
              <a:t>行（</a:t>
            </a:r>
            <a:r>
              <a:rPr lang="en-US" altLang="zh-CN" sz="2200" b="1" dirty="0">
                <a:solidFill>
                  <a:srgbClr val="006600"/>
                </a:solidFill>
                <a:ea typeface="黑体" panose="02010609060101010101" pitchFamily="49" charset="-122"/>
              </a:rPr>
              <a:t>line</a:t>
            </a:r>
            <a:r>
              <a:rPr lang="zh-CN" altLang="en-US" sz="2200" b="1" dirty="0">
                <a:solidFill>
                  <a:srgbClr val="006600"/>
                </a:solidFill>
                <a:ea typeface="黑体" panose="02010609060101010101" pitchFamily="49" charset="-122"/>
              </a:rPr>
              <a:t>）或槽（</a:t>
            </a:r>
            <a:r>
              <a:rPr lang="en-US" altLang="zh-CN" sz="2200" b="1" dirty="0">
                <a:solidFill>
                  <a:srgbClr val="006600"/>
                </a:solidFill>
                <a:ea typeface="黑体" panose="02010609060101010101" pitchFamily="49" charset="-122"/>
              </a:rPr>
              <a:t>Slot</a:t>
            </a:r>
            <a:r>
              <a:rPr lang="zh-CN" altLang="en-US" sz="2200" b="1" dirty="0">
                <a:solidFill>
                  <a:srgbClr val="006600"/>
                </a:solidFill>
                <a:ea typeface="黑体" panose="02010609060101010101" pitchFamily="49" charset="-122"/>
              </a:rPr>
              <a:t>）。</a:t>
            </a:r>
            <a:endParaRPr lang="zh-CN" altLang="en-US" sz="2200" b="1" dirty="0">
              <a:solidFill>
                <a:srgbClr val="0066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6131"/>
                                        </p:tgtEl>
                                        <p:attrNameLst>
                                          <p:attrName>style.visibility</p:attrName>
                                        </p:attrNameLst>
                                      </p:cBhvr>
                                      <p:to>
                                        <p:strVal val="visible"/>
                                      </p:to>
                                    </p:set>
                                    <p:animEffect transition="in" filter="blinds(horizontal)">
                                      <p:cBhvr>
                                        <p:cTn id="7" dur="500"/>
                                        <p:tgtEl>
                                          <p:spTgt spid="1761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6132">
                                            <p:txEl>
                                              <p:charRg st="0" end="6"/>
                                            </p:txEl>
                                          </p:spTgt>
                                        </p:tgtEl>
                                        <p:attrNameLst>
                                          <p:attrName>style.visibility</p:attrName>
                                        </p:attrNameLst>
                                      </p:cBhvr>
                                      <p:to>
                                        <p:strVal val="visible"/>
                                      </p:to>
                                    </p:set>
                                    <p:animEffect transition="in" filter="blinds(horizontal)">
                                      <p:cBhvr>
                                        <p:cTn id="12" dur="500"/>
                                        <p:tgtEl>
                                          <p:spTgt spid="176132">
                                            <p:txEl>
                                              <p:charRg st="0"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76132">
                                            <p:txEl>
                                              <p:charRg st="6" end="23"/>
                                            </p:txEl>
                                          </p:spTgt>
                                        </p:tgtEl>
                                        <p:attrNameLst>
                                          <p:attrName>style.visibility</p:attrName>
                                        </p:attrNameLst>
                                      </p:cBhvr>
                                      <p:to>
                                        <p:strVal val="visible"/>
                                      </p:to>
                                    </p:set>
                                    <p:animEffect transition="in" filter="blinds(horizontal)">
                                      <p:cBhvr>
                                        <p:cTn id="17" dur="500"/>
                                        <p:tgtEl>
                                          <p:spTgt spid="176132">
                                            <p:txEl>
                                              <p:charRg st="6" end="2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76132">
                                            <p:txEl>
                                              <p:charRg st="23" end="37"/>
                                            </p:txEl>
                                          </p:spTgt>
                                        </p:tgtEl>
                                        <p:attrNameLst>
                                          <p:attrName>style.visibility</p:attrName>
                                        </p:attrNameLst>
                                      </p:cBhvr>
                                      <p:to>
                                        <p:strVal val="visible"/>
                                      </p:to>
                                    </p:set>
                                    <p:animEffect transition="in" filter="blinds(horizontal)">
                                      <p:cBhvr>
                                        <p:cTn id="22" dur="500"/>
                                        <p:tgtEl>
                                          <p:spTgt spid="176132">
                                            <p:txEl>
                                              <p:charRg st="23" end="3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76132">
                                            <p:txEl>
                                              <p:charRg st="37" end="59"/>
                                            </p:txEl>
                                          </p:spTgt>
                                        </p:tgtEl>
                                        <p:attrNameLst>
                                          <p:attrName>style.visibility</p:attrName>
                                        </p:attrNameLst>
                                      </p:cBhvr>
                                      <p:to>
                                        <p:strVal val="visible"/>
                                      </p:to>
                                    </p:set>
                                    <p:animEffect transition="in" filter="blinds(horizontal)">
                                      <p:cBhvr>
                                        <p:cTn id="27" dur="500"/>
                                        <p:tgtEl>
                                          <p:spTgt spid="176132">
                                            <p:txEl>
                                              <p:charRg st="37" end="5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76132">
                                            <p:txEl>
                                              <p:charRg st="59" end="83"/>
                                            </p:txEl>
                                          </p:spTgt>
                                        </p:tgtEl>
                                        <p:attrNameLst>
                                          <p:attrName>style.visibility</p:attrName>
                                        </p:attrNameLst>
                                      </p:cBhvr>
                                      <p:to>
                                        <p:strVal val="visible"/>
                                      </p:to>
                                    </p:set>
                                    <p:animEffect transition="in" filter="blinds(horizontal)">
                                      <p:cBhvr>
                                        <p:cTn id="32" dur="500"/>
                                        <p:tgtEl>
                                          <p:spTgt spid="176132">
                                            <p:txEl>
                                              <p:charRg st="59" end="8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76136">
                                            <p:txEl>
                                              <p:charRg st="0" end="67"/>
                                            </p:txEl>
                                          </p:spTgt>
                                        </p:tgtEl>
                                        <p:attrNameLst>
                                          <p:attrName>style.visibility</p:attrName>
                                        </p:attrNameLst>
                                      </p:cBhvr>
                                      <p:to>
                                        <p:strVal val="visible"/>
                                      </p:to>
                                    </p:set>
                                    <p:animEffect transition="in" filter="blinds(horizontal)">
                                      <p:cBhvr>
                                        <p:cTn id="37" dur="500"/>
                                        <p:tgtEl>
                                          <p:spTgt spid="176136">
                                            <p:txEl>
                                              <p:charRg st="0" end="6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76133"/>
                                        </p:tgtEl>
                                        <p:attrNameLst>
                                          <p:attrName>style.visibility</p:attrName>
                                        </p:attrNameLst>
                                      </p:cBhvr>
                                      <p:to>
                                        <p:strVal val="visible"/>
                                      </p:to>
                                    </p:set>
                                    <p:animEffect transition="in" filter="blinds(horizontal)">
                                      <p:cBhvr>
                                        <p:cTn id="42" dur="500"/>
                                        <p:tgtEl>
                                          <p:spTgt spid="17613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76134">
                                            <p:txEl>
                                              <p:charRg st="0" end="62"/>
                                            </p:txEl>
                                          </p:spTgt>
                                        </p:tgtEl>
                                        <p:attrNameLst>
                                          <p:attrName>style.visibility</p:attrName>
                                        </p:attrNameLst>
                                      </p:cBhvr>
                                      <p:to>
                                        <p:strVal val="visible"/>
                                      </p:to>
                                    </p:set>
                                    <p:animEffect transition="in" filter="blinds(horizontal)">
                                      <p:cBhvr>
                                        <p:cTn id="47" dur="500"/>
                                        <p:tgtEl>
                                          <p:spTgt spid="176134">
                                            <p:txEl>
                                              <p:charRg st="0" end="6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76135"/>
                                        </p:tgtEl>
                                        <p:attrNameLst>
                                          <p:attrName>style.visibility</p:attrName>
                                        </p:attrNameLst>
                                      </p:cBhvr>
                                      <p:to>
                                        <p:strVal val="visible"/>
                                      </p:to>
                                    </p:set>
                                    <p:animEffect transition="in" filter="blinds(horizontal)">
                                      <p:cBhvr>
                                        <p:cTn id="52" dur="500"/>
                                        <p:tgtEl>
                                          <p:spTgt spid="176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1" grpId="0"/>
      <p:bldP spid="176133" grpId="0"/>
      <p:bldP spid="176135"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Rectangle 2"/>
          <p:cNvSpPr>
            <a:spLocks noGrp="1"/>
          </p:cNvSpPr>
          <p:nvPr>
            <p:ph type="title"/>
          </p:nvPr>
        </p:nvSpPr>
        <p:spPr>
          <a:xfrm>
            <a:off x="1531938" y="122238"/>
            <a:ext cx="4911725" cy="785812"/>
          </a:xfrm>
        </p:spPr>
        <p:txBody>
          <a:bodyPr vert="horz" wrap="square" lIns="91440" tIns="45720" rIns="91440" bIns="45720" anchor="ctr" anchorCtr="0"/>
          <a:p>
            <a:pPr defTabSz="717550"/>
            <a:r>
              <a:rPr lang="en-GB" altLang="zh-CN" dirty="0">
                <a:solidFill>
                  <a:srgbClr val="CC0000"/>
                </a:solidFill>
              </a:rPr>
              <a:t>Cache </a:t>
            </a:r>
            <a:r>
              <a:rPr lang="zh-CN" altLang="en-GB" dirty="0">
                <a:solidFill>
                  <a:srgbClr val="CC0000"/>
                </a:solidFill>
              </a:rPr>
              <a:t>的操作过程</a:t>
            </a:r>
            <a:endParaRPr lang="zh-CN" altLang="en-US" dirty="0">
              <a:solidFill>
                <a:srgbClr val="CC0000"/>
              </a:solidFill>
            </a:endParaRPr>
          </a:p>
        </p:txBody>
      </p:sp>
      <p:pic>
        <p:nvPicPr>
          <p:cNvPr id="139267" name="Picture 3"/>
          <p:cNvPicPr>
            <a:picLocks noChangeAspect="1"/>
          </p:cNvPicPr>
          <p:nvPr/>
        </p:nvPicPr>
        <p:blipFill>
          <a:blip r:embed="rId1"/>
          <a:stretch>
            <a:fillRect/>
          </a:stretch>
        </p:blipFill>
        <p:spPr>
          <a:xfrm>
            <a:off x="1371600" y="1062038"/>
            <a:ext cx="7608888" cy="5399087"/>
          </a:xfrm>
          <a:prstGeom prst="rect">
            <a:avLst/>
          </a:prstGeom>
          <a:noFill/>
          <a:ln w="9525">
            <a:noFill/>
          </a:ln>
        </p:spPr>
      </p:pic>
      <p:sp>
        <p:nvSpPr>
          <p:cNvPr id="177156" name="AutoShape 4"/>
          <p:cNvSpPr/>
          <p:nvPr/>
        </p:nvSpPr>
        <p:spPr>
          <a:xfrm>
            <a:off x="3716338" y="908050"/>
            <a:ext cx="2835275" cy="1260475"/>
          </a:xfrm>
          <a:prstGeom prst="wedgeRoundRectCallout">
            <a:avLst>
              <a:gd name="adj1" fmla="val -38352"/>
              <a:gd name="adj2" fmla="val 111588"/>
              <a:gd name="adj3" fmla="val 16667"/>
            </a:avLst>
          </a:prstGeom>
          <a:noFill/>
          <a:ln w="9525" cap="flat" cmpd="sng">
            <a:solidFill>
              <a:schemeClr val="hlink"/>
            </a:solidFill>
            <a:prstDash val="solid"/>
            <a:miter/>
            <a:headEnd type="none" w="med" len="med"/>
            <a:tailEnd type="none" w="med" len="med"/>
          </a:ln>
        </p:spPr>
        <p:txBody>
          <a:bodyPr lIns="90083" tIns="45046" rIns="90083" bIns="45046"/>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200" b="1" dirty="0">
                <a:solidFill>
                  <a:schemeClr val="hlink"/>
                </a:solidFill>
                <a:ea typeface="黑体" panose="02010609060101010101" pitchFamily="49" charset="-122"/>
              </a:rPr>
              <a:t>若被访问信息不在</a:t>
            </a:r>
            <a:r>
              <a:rPr lang="en-US" altLang="zh-CN" sz="2200" b="1" dirty="0">
                <a:solidFill>
                  <a:schemeClr val="hlink"/>
                </a:solidFill>
                <a:ea typeface="黑体" panose="02010609060101010101" pitchFamily="49" charset="-122"/>
              </a:rPr>
              <a:t>cache</a:t>
            </a:r>
            <a:r>
              <a:rPr lang="zh-CN" altLang="en-US" sz="2200" b="1" dirty="0">
                <a:solidFill>
                  <a:schemeClr val="hlink"/>
                </a:solidFill>
                <a:ea typeface="黑体" panose="02010609060101010101" pitchFamily="49" charset="-122"/>
              </a:rPr>
              <a:t>中，称为缺失或失靶</a:t>
            </a:r>
            <a:r>
              <a:rPr lang="en-US" altLang="zh-CN" sz="2200" b="1" dirty="0">
                <a:solidFill>
                  <a:schemeClr val="hlink"/>
                </a:solidFill>
                <a:ea typeface="黑体" panose="02010609060101010101" pitchFamily="49" charset="-122"/>
              </a:rPr>
              <a:t>(miss)</a:t>
            </a:r>
            <a:endParaRPr lang="en-US" altLang="zh-CN" sz="2200" b="1" dirty="0">
              <a:solidFill>
                <a:schemeClr val="hlink"/>
              </a:solidFill>
              <a:ea typeface="黑体" panose="02010609060101010101" pitchFamily="49" charset="-122"/>
            </a:endParaRPr>
          </a:p>
        </p:txBody>
      </p:sp>
      <p:sp>
        <p:nvSpPr>
          <p:cNvPr id="177157" name="AutoShape 5"/>
          <p:cNvSpPr/>
          <p:nvPr/>
        </p:nvSpPr>
        <p:spPr>
          <a:xfrm flipH="1">
            <a:off x="161925" y="2889250"/>
            <a:ext cx="1349375" cy="2160588"/>
          </a:xfrm>
          <a:prstGeom prst="wedgeRoundRectCallout">
            <a:avLst>
              <a:gd name="adj1" fmla="val -109884"/>
              <a:gd name="adj2" fmla="val -24287"/>
              <a:gd name="adj3" fmla="val 16667"/>
            </a:avLst>
          </a:prstGeom>
          <a:noFill/>
          <a:ln w="9525" cap="flat" cmpd="sng">
            <a:solidFill>
              <a:schemeClr val="hlink"/>
            </a:solidFill>
            <a:prstDash val="solid"/>
            <a:miter/>
            <a:headEnd type="none" w="med" len="med"/>
            <a:tailEnd type="none" w="med" len="med"/>
          </a:ln>
        </p:spPr>
        <p:txBody>
          <a:bodyPr lIns="90083" tIns="45046" rIns="90083" bIns="45046"/>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200" b="1" dirty="0">
                <a:solidFill>
                  <a:schemeClr val="hlink"/>
                </a:solidFill>
                <a:ea typeface="黑体" panose="02010609060101010101" pitchFamily="49" charset="-122"/>
              </a:rPr>
              <a:t>若被访问信息在</a:t>
            </a:r>
            <a:r>
              <a:rPr lang="en-US" altLang="zh-CN" sz="2200" b="1" dirty="0">
                <a:solidFill>
                  <a:schemeClr val="hlink"/>
                </a:solidFill>
                <a:ea typeface="黑体" panose="02010609060101010101" pitchFamily="49" charset="-122"/>
              </a:rPr>
              <a:t>cache</a:t>
            </a:r>
            <a:r>
              <a:rPr lang="zh-CN" altLang="en-US" sz="2200" b="1" dirty="0">
                <a:solidFill>
                  <a:schemeClr val="hlink"/>
                </a:solidFill>
                <a:ea typeface="黑体" panose="02010609060101010101" pitchFamily="49" charset="-122"/>
              </a:rPr>
              <a:t>中，称为命中</a:t>
            </a:r>
            <a:r>
              <a:rPr lang="en-US" altLang="zh-CN" sz="2200" b="1" dirty="0">
                <a:solidFill>
                  <a:schemeClr val="hlink"/>
                </a:solidFill>
                <a:ea typeface="黑体" panose="02010609060101010101" pitchFamily="49" charset="-122"/>
              </a:rPr>
              <a:t>(hit)</a:t>
            </a:r>
            <a:endParaRPr lang="en-US" altLang="zh-CN" sz="2200" b="1" dirty="0">
              <a:solidFill>
                <a:schemeClr val="hlink"/>
              </a:solidFill>
              <a:ea typeface="黑体" panose="02010609060101010101" pitchFamily="49" charset="-122"/>
            </a:endParaRPr>
          </a:p>
        </p:txBody>
      </p:sp>
      <p:grpSp>
        <p:nvGrpSpPr>
          <p:cNvPr id="2" name="Group 6"/>
          <p:cNvGrpSpPr/>
          <p:nvPr/>
        </p:nvGrpSpPr>
        <p:grpSpPr>
          <a:xfrm>
            <a:off x="3482975" y="1493838"/>
            <a:ext cx="5499100" cy="4979987"/>
            <a:chOff x="2020" y="941"/>
            <a:chExt cx="3695" cy="3137"/>
          </a:xfrm>
        </p:grpSpPr>
        <p:sp>
          <p:nvSpPr>
            <p:cNvPr id="139273" name="Freeform 7"/>
            <p:cNvSpPr/>
            <p:nvPr/>
          </p:nvSpPr>
          <p:spPr>
            <a:xfrm>
              <a:off x="2020" y="1423"/>
              <a:ext cx="3695" cy="2655"/>
            </a:xfrm>
            <a:custGeom>
              <a:avLst/>
              <a:gdLst>
                <a:gd name="txL" fmla="*/ 0 w 3808"/>
                <a:gd name="txT" fmla="*/ 0 h 2655"/>
                <a:gd name="txR" fmla="*/ 3808 w 3808"/>
                <a:gd name="txB" fmla="*/ 2655 h 2655"/>
              </a:gdLst>
              <a:ahLst/>
              <a:cxnLst>
                <a:cxn ang="0">
                  <a:pos x="672" y="113"/>
                </a:cxn>
                <a:cxn ang="0">
                  <a:pos x="261" y="567"/>
                </a:cxn>
                <a:cxn ang="0">
                  <a:pos x="35" y="1984"/>
                </a:cxn>
                <a:cxn ang="0">
                  <a:pos x="460" y="2551"/>
                </a:cxn>
                <a:cxn ang="0">
                  <a:pos x="1224" y="2608"/>
                </a:cxn>
                <a:cxn ang="0">
                  <a:pos x="1807" y="2296"/>
                </a:cxn>
                <a:cxn ang="0">
                  <a:pos x="1818" y="1162"/>
                </a:cxn>
                <a:cxn ang="0">
                  <a:pos x="1678" y="624"/>
                </a:cxn>
                <a:cxn ang="0">
                  <a:pos x="1394" y="85"/>
                </a:cxn>
                <a:cxn ang="0">
                  <a:pos x="672" y="113"/>
                </a:cxn>
              </a:cxnLst>
              <a:rect l="txL" t="txT" r="txR" b="txB"/>
              <a:pathLst>
                <a:path w="3808" h="2655">
                  <a:moveTo>
                    <a:pt x="1342" y="113"/>
                  </a:moveTo>
                  <a:cubicBezTo>
                    <a:pt x="964" y="193"/>
                    <a:pt x="733" y="255"/>
                    <a:pt x="520" y="567"/>
                  </a:cubicBezTo>
                  <a:cubicBezTo>
                    <a:pt x="307" y="879"/>
                    <a:pt x="0" y="1653"/>
                    <a:pt x="66" y="1984"/>
                  </a:cubicBezTo>
                  <a:cubicBezTo>
                    <a:pt x="132" y="2315"/>
                    <a:pt x="520" y="2447"/>
                    <a:pt x="917" y="2551"/>
                  </a:cubicBezTo>
                  <a:cubicBezTo>
                    <a:pt x="1314" y="2655"/>
                    <a:pt x="1999" y="2650"/>
                    <a:pt x="2448" y="2608"/>
                  </a:cubicBezTo>
                  <a:cubicBezTo>
                    <a:pt x="2897" y="2566"/>
                    <a:pt x="3412" y="2537"/>
                    <a:pt x="3610" y="2296"/>
                  </a:cubicBezTo>
                  <a:cubicBezTo>
                    <a:pt x="3808" y="2055"/>
                    <a:pt x="3680" y="1441"/>
                    <a:pt x="3638" y="1162"/>
                  </a:cubicBezTo>
                  <a:cubicBezTo>
                    <a:pt x="3596" y="883"/>
                    <a:pt x="3497" y="803"/>
                    <a:pt x="3355" y="624"/>
                  </a:cubicBezTo>
                  <a:cubicBezTo>
                    <a:pt x="3213" y="445"/>
                    <a:pt x="3124" y="170"/>
                    <a:pt x="2788" y="85"/>
                  </a:cubicBezTo>
                  <a:cubicBezTo>
                    <a:pt x="2452" y="0"/>
                    <a:pt x="1720" y="33"/>
                    <a:pt x="1342" y="113"/>
                  </a:cubicBezTo>
                  <a:close/>
                </a:path>
              </a:pathLst>
            </a:custGeom>
            <a:solidFill>
              <a:srgbClr val="FF99CC">
                <a:alpha val="21960"/>
              </a:srgbClr>
            </a:solid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39274" name="Text Box 8"/>
            <p:cNvSpPr txBox="1"/>
            <p:nvPr/>
          </p:nvSpPr>
          <p:spPr>
            <a:xfrm>
              <a:off x="4099" y="941"/>
              <a:ext cx="765" cy="211"/>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200" b="1" dirty="0">
                  <a:solidFill>
                    <a:srgbClr val="CC0000"/>
                  </a:solidFill>
                  <a:ea typeface="黑体" panose="02010609060101010101" pitchFamily="49" charset="-122"/>
                </a:rPr>
                <a:t>缺失处理</a:t>
              </a:r>
              <a:endParaRPr lang="zh-CN" altLang="en-US" sz="2200" b="1" dirty="0">
                <a:solidFill>
                  <a:srgbClr val="CC0000"/>
                </a:solidFill>
                <a:ea typeface="黑体" panose="02010609060101010101" pitchFamily="49" charset="-122"/>
              </a:endParaRPr>
            </a:p>
          </p:txBody>
        </p:sp>
        <p:sp>
          <p:nvSpPr>
            <p:cNvPr id="139275" name="Line 9"/>
            <p:cNvSpPr/>
            <p:nvPr/>
          </p:nvSpPr>
          <p:spPr>
            <a:xfrm flipH="1">
              <a:off x="4326" y="1114"/>
              <a:ext cx="197" cy="309"/>
            </a:xfrm>
            <a:prstGeom prst="line">
              <a:avLst/>
            </a:prstGeom>
            <a:ln w="9525" cap="flat" cmpd="sng">
              <a:solidFill>
                <a:srgbClr val="CC0000"/>
              </a:solidFill>
              <a:prstDash val="solid"/>
              <a:headEnd type="none" w="med" len="med"/>
              <a:tailEnd type="triangle" w="med" len="med"/>
            </a:ln>
          </p:spPr>
        </p:sp>
      </p:grpSp>
      <p:sp>
        <p:nvSpPr>
          <p:cNvPr id="177162" name="Text Box 10"/>
          <p:cNvSpPr txBox="1"/>
          <p:nvPr/>
        </p:nvSpPr>
        <p:spPr>
          <a:xfrm>
            <a:off x="123825" y="866775"/>
            <a:ext cx="1628775" cy="9144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FF"/>
                </a:solidFill>
                <a:ea typeface="黑体" panose="02010609060101010101" pitchFamily="49" charset="-122"/>
              </a:rPr>
              <a:t>问题：什么情况下，</a:t>
            </a:r>
            <a:r>
              <a:rPr lang="en-US" altLang="zh-CN" sz="2000" b="1" dirty="0">
                <a:solidFill>
                  <a:srgbClr val="0000FF"/>
                </a:solidFill>
                <a:ea typeface="黑体" panose="02010609060101010101" pitchFamily="49" charset="-122"/>
              </a:rPr>
              <a:t>CPU</a:t>
            </a:r>
            <a:r>
              <a:rPr lang="zh-CN" altLang="en-US" sz="2000" b="1" dirty="0">
                <a:solidFill>
                  <a:srgbClr val="0000FF"/>
                </a:solidFill>
                <a:ea typeface="黑体" panose="02010609060101010101" pitchFamily="49" charset="-122"/>
              </a:rPr>
              <a:t>产生访存要求？</a:t>
            </a:r>
            <a:endParaRPr lang="zh-CN" altLang="en-US" sz="2000" b="1" dirty="0">
              <a:solidFill>
                <a:srgbClr val="0000FF"/>
              </a:solidFill>
              <a:ea typeface="黑体" panose="02010609060101010101" pitchFamily="49" charset="-122"/>
            </a:endParaRPr>
          </a:p>
        </p:txBody>
      </p:sp>
      <p:sp>
        <p:nvSpPr>
          <p:cNvPr id="177163" name="Text Box 11"/>
          <p:cNvSpPr txBox="1"/>
          <p:nvPr/>
        </p:nvSpPr>
        <p:spPr>
          <a:xfrm>
            <a:off x="296863" y="1989138"/>
            <a:ext cx="1081087" cy="66992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200" b="1" dirty="0">
                <a:solidFill>
                  <a:srgbClr val="FF0000"/>
                </a:solidFill>
                <a:ea typeface="黑体" panose="02010609060101010101" pitchFamily="49" charset="-122"/>
              </a:rPr>
              <a:t>执行指令时！</a:t>
            </a:r>
            <a:endParaRPr lang="zh-CN" altLang="en-US" sz="2200" b="1"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7162"/>
                                        </p:tgtEl>
                                        <p:attrNameLst>
                                          <p:attrName>style.visibility</p:attrName>
                                        </p:attrNameLst>
                                      </p:cBhvr>
                                      <p:to>
                                        <p:strVal val="visible"/>
                                      </p:to>
                                    </p:set>
                                    <p:animEffect transition="in" filter="blinds(horizontal)">
                                      <p:cBhvr>
                                        <p:cTn id="7" dur="500"/>
                                        <p:tgtEl>
                                          <p:spTgt spid="17716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7163"/>
                                        </p:tgtEl>
                                        <p:attrNameLst>
                                          <p:attrName>style.visibility</p:attrName>
                                        </p:attrNameLst>
                                      </p:cBhvr>
                                      <p:to>
                                        <p:strVal val="visible"/>
                                      </p:to>
                                    </p:set>
                                    <p:animEffect transition="in" filter="blinds(horizontal)">
                                      <p:cBhvr>
                                        <p:cTn id="12" dur="500"/>
                                        <p:tgtEl>
                                          <p:spTgt spid="17716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7156"/>
                                        </p:tgtEl>
                                        <p:attrNameLst>
                                          <p:attrName>style.visibility</p:attrName>
                                        </p:attrNameLst>
                                      </p:cBhvr>
                                      <p:to>
                                        <p:strVal val="visible"/>
                                      </p:to>
                                    </p:set>
                                    <p:animEffect transition="in" filter="blinds(horizontal)">
                                      <p:cBhvr>
                                        <p:cTn id="17" dur="500"/>
                                        <p:tgtEl>
                                          <p:spTgt spid="17715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7157"/>
                                        </p:tgtEl>
                                        <p:attrNameLst>
                                          <p:attrName>style.visibility</p:attrName>
                                        </p:attrNameLst>
                                      </p:cBhvr>
                                      <p:to>
                                        <p:strVal val="visible"/>
                                      </p:to>
                                    </p:set>
                                    <p:animEffect transition="in" filter="blinds(horizontal)">
                                      <p:cBhvr>
                                        <p:cTn id="22" dur="500"/>
                                        <p:tgtEl>
                                          <p:spTgt spid="17715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6" grpId="0" animBg="1"/>
      <p:bldP spid="177157" grpId="0" animBg="1"/>
      <p:bldP spid="177162" grpId="0"/>
      <p:bldP spid="17716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90" name="Rectangle 2"/>
          <p:cNvSpPr>
            <a:spLocks noGrp="1"/>
          </p:cNvSpPr>
          <p:nvPr>
            <p:ph type="title"/>
          </p:nvPr>
        </p:nvSpPr>
        <p:spPr>
          <a:xfrm>
            <a:off x="266700" y="374650"/>
            <a:ext cx="8640763" cy="533400"/>
          </a:xfrm>
        </p:spPr>
        <p:txBody>
          <a:bodyPr vert="horz" wrap="square" lIns="91440" tIns="45720" rIns="91440" bIns="45720" anchor="ctr" anchorCtr="0"/>
          <a:p>
            <a:r>
              <a:rPr lang="en-US" altLang="zh-CN" sz="3500" dirty="0"/>
              <a:t>Cache</a:t>
            </a:r>
            <a:r>
              <a:rPr lang="zh-CN" altLang="en-US" sz="3500" dirty="0"/>
              <a:t>映射</a:t>
            </a:r>
            <a:r>
              <a:rPr lang="en-US" altLang="zh-CN" sz="3500" dirty="0"/>
              <a:t>(Cache Mapping)</a:t>
            </a:r>
            <a:endParaRPr lang="en-US" altLang="zh-CN" sz="3500" dirty="0"/>
          </a:p>
        </p:txBody>
      </p:sp>
      <p:sp>
        <p:nvSpPr>
          <p:cNvPr id="140291" name="Rectangle 3"/>
          <p:cNvSpPr>
            <a:spLocks noGrp="1"/>
          </p:cNvSpPr>
          <p:nvPr>
            <p:ph idx="1"/>
          </p:nvPr>
        </p:nvSpPr>
        <p:spPr>
          <a:xfrm>
            <a:off x="90488" y="990600"/>
            <a:ext cx="8945562" cy="5607050"/>
          </a:xfrm>
        </p:spPr>
        <p:txBody>
          <a:bodyPr vert="horz" wrap="square" lIns="91440" tIns="45720" rIns="91440" bIns="45720" anchor="t" anchorCtr="0"/>
          <a:p>
            <a:pPr>
              <a:lnSpc>
                <a:spcPct val="110000"/>
              </a:lnSpc>
              <a:spcBef>
                <a:spcPct val="25000"/>
              </a:spcBef>
            </a:pPr>
            <a:r>
              <a:rPr lang="zh-CN" altLang="en-US" sz="1800" b="1" dirty="0">
                <a:ea typeface="黑体" panose="02010609060101010101" pitchFamily="49" charset="-122"/>
              </a:rPr>
              <a:t>什么是</a:t>
            </a:r>
            <a:r>
              <a:rPr lang="en-US" altLang="zh-CN" sz="1800" b="1" dirty="0">
                <a:cs typeface="Arial" panose="020B0604020202020204" pitchFamily="34" charset="0"/>
              </a:rPr>
              <a:t>Cache</a:t>
            </a:r>
            <a:r>
              <a:rPr lang="zh-CN" altLang="en-US" sz="1800" b="1" dirty="0">
                <a:ea typeface="黑体" panose="02010609060101010101" pitchFamily="49" charset="-122"/>
              </a:rPr>
              <a:t>的映射功能？</a:t>
            </a:r>
            <a:endParaRPr lang="en-US" altLang="zh-CN" sz="1800" b="1" dirty="0">
              <a:cs typeface="Arial" panose="020B0604020202020204" pitchFamily="34" charset="0"/>
            </a:endParaRPr>
          </a:p>
          <a:p>
            <a:pPr lvl="1">
              <a:lnSpc>
                <a:spcPct val="110000"/>
              </a:lnSpc>
              <a:spcBef>
                <a:spcPct val="25000"/>
              </a:spcBef>
            </a:pPr>
            <a:r>
              <a:rPr lang="zh-CN" altLang="en-US" sz="2000" dirty="0">
                <a:solidFill>
                  <a:srgbClr val="6F8BC3"/>
                </a:solidFill>
                <a:ea typeface="黑体" panose="02010609060101010101" pitchFamily="49" charset="-122"/>
              </a:rPr>
              <a:t>把访问的局部主存区域取到</a:t>
            </a:r>
            <a:r>
              <a:rPr lang="en-US" altLang="zh-CN" sz="2000" dirty="0">
                <a:solidFill>
                  <a:srgbClr val="6F8BC3"/>
                </a:solidFill>
                <a:cs typeface="Arial" panose="020B0604020202020204" pitchFamily="34" charset="0"/>
              </a:rPr>
              <a:t>Cache</a:t>
            </a:r>
            <a:r>
              <a:rPr lang="zh-CN" altLang="en-US" sz="2000" dirty="0">
                <a:solidFill>
                  <a:srgbClr val="6F8BC3"/>
                </a:solidFill>
                <a:ea typeface="黑体" panose="02010609060101010101" pitchFamily="49" charset="-122"/>
              </a:rPr>
              <a:t>中时，该放到</a:t>
            </a:r>
            <a:r>
              <a:rPr lang="en-US" altLang="zh-CN" sz="2000" dirty="0">
                <a:solidFill>
                  <a:srgbClr val="6F8BC3"/>
                </a:solidFill>
                <a:ea typeface="黑体" panose="02010609060101010101" pitchFamily="49" charset="-122"/>
              </a:rPr>
              <a:t>Cache</a:t>
            </a:r>
            <a:r>
              <a:rPr lang="zh-CN" altLang="en-US" sz="2000" dirty="0">
                <a:solidFill>
                  <a:srgbClr val="6F8BC3"/>
                </a:solidFill>
                <a:ea typeface="黑体" panose="02010609060101010101" pitchFamily="49" charset="-122"/>
              </a:rPr>
              <a:t>的何处？</a:t>
            </a:r>
            <a:endParaRPr lang="en-US" altLang="zh-CN" sz="2000" dirty="0">
              <a:solidFill>
                <a:srgbClr val="6F8BC3"/>
              </a:solidFill>
              <a:ea typeface="黑体" panose="02010609060101010101" pitchFamily="49" charset="-122"/>
            </a:endParaRPr>
          </a:p>
          <a:p>
            <a:pPr lvl="1">
              <a:lnSpc>
                <a:spcPct val="110000"/>
              </a:lnSpc>
              <a:spcBef>
                <a:spcPct val="25000"/>
              </a:spcBef>
            </a:pPr>
            <a:r>
              <a:rPr lang="en-US" altLang="zh-CN" sz="2000" dirty="0">
                <a:solidFill>
                  <a:srgbClr val="FF3399"/>
                </a:solidFill>
                <a:ea typeface="黑体" panose="02010609060101010101" pitchFamily="49" charset="-122"/>
              </a:rPr>
              <a:t>Cache</a:t>
            </a:r>
            <a:r>
              <a:rPr lang="zh-CN" altLang="en-US" sz="2000" dirty="0">
                <a:solidFill>
                  <a:srgbClr val="FF3399"/>
                </a:solidFill>
                <a:ea typeface="黑体" panose="02010609060101010101" pitchFamily="49" charset="-122"/>
              </a:rPr>
              <a:t>槽比主存块少，多个主存块映射到一个</a:t>
            </a:r>
            <a:r>
              <a:rPr lang="en-US" altLang="zh-CN" sz="2000" dirty="0">
                <a:solidFill>
                  <a:srgbClr val="FF3399"/>
                </a:solidFill>
                <a:ea typeface="黑体" panose="02010609060101010101" pitchFamily="49" charset="-122"/>
              </a:rPr>
              <a:t>Cache</a:t>
            </a:r>
            <a:r>
              <a:rPr lang="zh-CN" altLang="en-US" sz="2000" dirty="0">
                <a:solidFill>
                  <a:srgbClr val="FF3399"/>
                </a:solidFill>
                <a:ea typeface="黑体" panose="02010609060101010101" pitchFamily="49" charset="-122"/>
              </a:rPr>
              <a:t>槽中</a:t>
            </a:r>
            <a:endParaRPr lang="en-US" altLang="zh-CN" sz="2000" dirty="0">
              <a:solidFill>
                <a:srgbClr val="FF3399"/>
              </a:solidFill>
              <a:ea typeface="黑体" panose="02010609060101010101" pitchFamily="49" charset="-122"/>
            </a:endParaRPr>
          </a:p>
          <a:p>
            <a:pPr>
              <a:lnSpc>
                <a:spcPct val="110000"/>
              </a:lnSpc>
              <a:spcBef>
                <a:spcPct val="25000"/>
              </a:spcBef>
            </a:pPr>
            <a:endParaRPr lang="en-US" altLang="zh-CN" sz="1800" dirty="0">
              <a:ea typeface="黑体" panose="02010609060101010101" pitchFamily="49" charset="-122"/>
            </a:endParaRPr>
          </a:p>
          <a:p>
            <a:pPr>
              <a:lnSpc>
                <a:spcPct val="110000"/>
              </a:lnSpc>
              <a:spcBef>
                <a:spcPct val="25000"/>
              </a:spcBef>
            </a:pPr>
            <a:r>
              <a:rPr lang="zh-CN" altLang="en-US" sz="1800" b="1" dirty="0">
                <a:ea typeface="黑体" panose="02010609060101010101" pitchFamily="49" charset="-122"/>
              </a:rPr>
              <a:t>如何进行映射？</a:t>
            </a:r>
            <a:endParaRPr lang="en-US" altLang="zh-CN" sz="1800" b="1" dirty="0">
              <a:ea typeface="黑体" panose="02010609060101010101" pitchFamily="49" charset="-122"/>
            </a:endParaRPr>
          </a:p>
          <a:p>
            <a:pPr lvl="1">
              <a:lnSpc>
                <a:spcPct val="110000"/>
              </a:lnSpc>
              <a:spcBef>
                <a:spcPct val="25000"/>
              </a:spcBef>
            </a:pPr>
            <a:r>
              <a:rPr lang="zh-CN" altLang="en-US" sz="2000" dirty="0">
                <a:ea typeface="黑体" panose="02010609060101010101" pitchFamily="49" charset="-122"/>
              </a:rPr>
              <a:t>把主存划分成大小相等的</a:t>
            </a:r>
            <a:r>
              <a:rPr lang="zh-CN" altLang="en-US" sz="2000" dirty="0">
                <a:solidFill>
                  <a:srgbClr val="FF0000"/>
                </a:solidFill>
                <a:ea typeface="黑体" panose="02010609060101010101" pitchFamily="49" charset="-122"/>
              </a:rPr>
              <a:t>主存块（</a:t>
            </a:r>
            <a:r>
              <a:rPr lang="en-US" altLang="zh-CN" sz="2000" dirty="0">
                <a:solidFill>
                  <a:srgbClr val="FF0000"/>
                </a:solidFill>
                <a:ea typeface="黑体" panose="02010609060101010101" pitchFamily="49" charset="-122"/>
              </a:rPr>
              <a:t>Block</a:t>
            </a:r>
            <a:r>
              <a:rPr lang="zh-CN" altLang="en-US" sz="2000" dirty="0">
                <a:solidFill>
                  <a:srgbClr val="FF0000"/>
                </a:solidFill>
                <a:ea typeface="黑体" panose="02010609060101010101" pitchFamily="49" charset="-122"/>
              </a:rPr>
              <a:t>）</a:t>
            </a:r>
            <a:endParaRPr lang="en-US" altLang="zh-CN" sz="2000" dirty="0">
              <a:solidFill>
                <a:srgbClr val="FF0000"/>
              </a:solidFill>
              <a:ea typeface="黑体" panose="02010609060101010101" pitchFamily="49" charset="-122"/>
            </a:endParaRPr>
          </a:p>
          <a:p>
            <a:pPr lvl="1">
              <a:lnSpc>
                <a:spcPct val="110000"/>
              </a:lnSpc>
              <a:spcBef>
                <a:spcPct val="25000"/>
              </a:spcBef>
            </a:pPr>
            <a:r>
              <a:rPr lang="en-US" altLang="zh-CN" sz="2000" dirty="0">
                <a:ea typeface="黑体" panose="02010609060101010101" pitchFamily="49" charset="-122"/>
              </a:rPr>
              <a:t>Cache</a:t>
            </a:r>
            <a:r>
              <a:rPr lang="zh-CN" altLang="en-US" sz="2000" dirty="0">
                <a:ea typeface="黑体" panose="02010609060101010101" pitchFamily="49" charset="-122"/>
              </a:rPr>
              <a:t>中存放一个主存块的对应单位称为</a:t>
            </a:r>
            <a:r>
              <a:rPr lang="zh-CN" altLang="en-US" sz="2000" dirty="0">
                <a:solidFill>
                  <a:srgbClr val="FF0000"/>
                </a:solidFill>
                <a:ea typeface="黑体" panose="02010609060101010101" pitchFamily="49" charset="-122"/>
              </a:rPr>
              <a:t>槽（</a:t>
            </a:r>
            <a:r>
              <a:rPr lang="en-US" altLang="zh-CN" sz="2000" dirty="0">
                <a:solidFill>
                  <a:srgbClr val="FF0000"/>
                </a:solidFill>
                <a:ea typeface="黑体" panose="02010609060101010101" pitchFamily="49" charset="-122"/>
              </a:rPr>
              <a:t>Slot</a:t>
            </a:r>
            <a:r>
              <a:rPr lang="zh-CN" altLang="en-US" sz="2000" dirty="0">
                <a:solidFill>
                  <a:srgbClr val="FF0000"/>
                </a:solidFill>
                <a:ea typeface="黑体" panose="02010609060101010101" pitchFamily="49" charset="-122"/>
              </a:rPr>
              <a:t>）或行（</a:t>
            </a:r>
            <a:r>
              <a:rPr lang="en-US" altLang="zh-CN" sz="2000" dirty="0">
                <a:solidFill>
                  <a:srgbClr val="FF0000"/>
                </a:solidFill>
                <a:ea typeface="黑体" panose="02010609060101010101" pitchFamily="49" charset="-122"/>
              </a:rPr>
              <a:t>line</a:t>
            </a:r>
            <a:r>
              <a:rPr lang="zh-CN" altLang="en-US" sz="2000" dirty="0">
                <a:solidFill>
                  <a:srgbClr val="FF0000"/>
                </a:solidFill>
                <a:ea typeface="黑体" panose="02010609060101010101" pitchFamily="49" charset="-122"/>
              </a:rPr>
              <a:t>）或块（</a:t>
            </a:r>
            <a:r>
              <a:rPr lang="en-US" altLang="zh-CN" sz="2000" dirty="0">
                <a:solidFill>
                  <a:srgbClr val="FF0000"/>
                </a:solidFill>
                <a:ea typeface="黑体" panose="02010609060101010101" pitchFamily="49" charset="-122"/>
              </a:rPr>
              <a:t>Block</a:t>
            </a:r>
            <a:r>
              <a:rPr lang="zh-CN" altLang="en-US" sz="2000" dirty="0">
                <a:solidFill>
                  <a:srgbClr val="FF0000"/>
                </a:solidFill>
                <a:ea typeface="黑体" panose="02010609060101010101" pitchFamily="49" charset="-122"/>
              </a:rPr>
              <a:t>）</a:t>
            </a:r>
            <a:endParaRPr lang="en-US" altLang="zh-CN" sz="2000" dirty="0">
              <a:solidFill>
                <a:srgbClr val="FF0000"/>
              </a:solidFill>
              <a:ea typeface="黑体" panose="02010609060101010101" pitchFamily="49" charset="-122"/>
            </a:endParaRPr>
          </a:p>
          <a:p>
            <a:pPr lvl="1">
              <a:lnSpc>
                <a:spcPct val="110000"/>
              </a:lnSpc>
              <a:spcBef>
                <a:spcPct val="25000"/>
              </a:spcBef>
            </a:pPr>
            <a:r>
              <a:rPr lang="zh-CN" altLang="en-US" sz="2000" dirty="0">
                <a:ea typeface="黑体" panose="02010609060101010101" pitchFamily="49" charset="-122"/>
              </a:rPr>
              <a:t>将主存块和</a:t>
            </a:r>
            <a:r>
              <a:rPr lang="en-US" altLang="zh-CN" sz="2000" dirty="0">
                <a:ea typeface="黑体" panose="02010609060101010101" pitchFamily="49" charset="-122"/>
              </a:rPr>
              <a:t>Cache</a:t>
            </a:r>
            <a:r>
              <a:rPr lang="zh-CN" altLang="en-US" sz="2000" dirty="0">
                <a:ea typeface="黑体" panose="02010609060101010101" pitchFamily="49" charset="-122"/>
              </a:rPr>
              <a:t>行按照以下三种方式进行映射</a:t>
            </a:r>
            <a:endParaRPr lang="en-US" altLang="zh-CN" sz="2000" dirty="0">
              <a:ea typeface="黑体" panose="02010609060101010101" pitchFamily="49" charset="-122"/>
            </a:endParaRPr>
          </a:p>
          <a:p>
            <a:pPr lvl="2">
              <a:lnSpc>
                <a:spcPct val="110000"/>
              </a:lnSpc>
              <a:spcBef>
                <a:spcPct val="25000"/>
              </a:spcBef>
            </a:pPr>
            <a:r>
              <a:rPr lang="zh-CN" altLang="en-US" sz="2000" dirty="0">
                <a:ea typeface="黑体" panose="02010609060101010101" pitchFamily="49" charset="-122"/>
              </a:rPr>
              <a:t>全相联</a:t>
            </a:r>
            <a:r>
              <a:rPr lang="en-US" altLang="zh-CN" sz="2000" dirty="0">
                <a:ea typeface="黑体" panose="02010609060101010101" pitchFamily="49" charset="-122"/>
              </a:rPr>
              <a:t>(Full Associate)</a:t>
            </a:r>
            <a:r>
              <a:rPr lang="zh-CN" altLang="en-US" sz="2000" dirty="0">
                <a:ea typeface="黑体" panose="02010609060101010101" pitchFamily="49" charset="-122"/>
              </a:rPr>
              <a:t>：</a:t>
            </a:r>
            <a:r>
              <a:rPr lang="zh-CN" altLang="en-US" sz="2000" dirty="0">
                <a:solidFill>
                  <a:srgbClr val="006600"/>
                </a:solidFill>
                <a:ea typeface="黑体" panose="02010609060101010101" pitchFamily="49" charset="-122"/>
              </a:rPr>
              <a:t>每个主存块映射到</a:t>
            </a:r>
            <a:r>
              <a:rPr lang="en-US" altLang="zh-CN" sz="2000" dirty="0">
                <a:solidFill>
                  <a:srgbClr val="006600"/>
                </a:solidFill>
                <a:ea typeface="黑体" panose="02010609060101010101" pitchFamily="49" charset="-122"/>
              </a:rPr>
              <a:t>Cache</a:t>
            </a:r>
            <a:r>
              <a:rPr lang="zh-CN" altLang="en-US" sz="2000" dirty="0">
                <a:solidFill>
                  <a:srgbClr val="006600"/>
                </a:solidFill>
                <a:ea typeface="黑体" panose="02010609060101010101" pitchFamily="49" charset="-122"/>
              </a:rPr>
              <a:t>的任意行中</a:t>
            </a:r>
            <a:endParaRPr lang="en-US" altLang="zh-CN" sz="2000" dirty="0">
              <a:solidFill>
                <a:srgbClr val="006600"/>
              </a:solidFill>
              <a:ea typeface="黑体" panose="02010609060101010101" pitchFamily="49" charset="-122"/>
            </a:endParaRPr>
          </a:p>
          <a:p>
            <a:pPr lvl="2">
              <a:lnSpc>
                <a:spcPct val="110000"/>
              </a:lnSpc>
              <a:spcBef>
                <a:spcPct val="25000"/>
              </a:spcBef>
            </a:pPr>
            <a:r>
              <a:rPr lang="zh-CN" altLang="en-US" sz="2000" dirty="0">
                <a:ea typeface="黑体" panose="02010609060101010101" pitchFamily="49" charset="-122"/>
              </a:rPr>
              <a:t>直接</a:t>
            </a:r>
            <a:r>
              <a:rPr lang="en-US" altLang="zh-CN" sz="2000" dirty="0">
                <a:ea typeface="黑体" panose="02010609060101010101" pitchFamily="49" charset="-122"/>
              </a:rPr>
              <a:t>(Direct)</a:t>
            </a:r>
            <a:r>
              <a:rPr lang="zh-CN" altLang="en-US" sz="2000" dirty="0">
                <a:ea typeface="黑体" panose="02010609060101010101" pitchFamily="49" charset="-122"/>
              </a:rPr>
              <a:t>：</a:t>
            </a:r>
            <a:r>
              <a:rPr lang="zh-CN" altLang="en-US" sz="2000" dirty="0">
                <a:solidFill>
                  <a:srgbClr val="006600"/>
                </a:solidFill>
                <a:ea typeface="黑体" panose="02010609060101010101" pitchFamily="49" charset="-122"/>
              </a:rPr>
              <a:t>每个主存块映射到</a:t>
            </a:r>
            <a:r>
              <a:rPr lang="en-US" altLang="zh-CN" sz="2000" dirty="0">
                <a:solidFill>
                  <a:srgbClr val="006600"/>
                </a:solidFill>
                <a:ea typeface="黑体" panose="02010609060101010101" pitchFamily="49" charset="-122"/>
              </a:rPr>
              <a:t>Cache</a:t>
            </a:r>
            <a:r>
              <a:rPr lang="zh-CN" altLang="en-US" sz="2000" dirty="0">
                <a:solidFill>
                  <a:srgbClr val="006600"/>
                </a:solidFill>
                <a:ea typeface="黑体" panose="02010609060101010101" pitchFamily="49" charset="-122"/>
              </a:rPr>
              <a:t>的固定行中</a:t>
            </a:r>
            <a:endParaRPr lang="en-US" altLang="zh-CN" sz="2000" dirty="0">
              <a:solidFill>
                <a:srgbClr val="006600"/>
              </a:solidFill>
              <a:ea typeface="黑体" panose="02010609060101010101" pitchFamily="49" charset="-122"/>
            </a:endParaRPr>
          </a:p>
          <a:p>
            <a:pPr lvl="2">
              <a:lnSpc>
                <a:spcPct val="110000"/>
              </a:lnSpc>
              <a:spcBef>
                <a:spcPct val="25000"/>
              </a:spcBef>
            </a:pPr>
            <a:r>
              <a:rPr lang="zh-CN" altLang="en-US" sz="2000" dirty="0">
                <a:ea typeface="黑体" panose="02010609060101010101" pitchFamily="49" charset="-122"/>
              </a:rPr>
              <a:t>组相联</a:t>
            </a:r>
            <a:r>
              <a:rPr lang="en-US" altLang="zh-CN" sz="2000" dirty="0">
                <a:ea typeface="黑体" panose="02010609060101010101" pitchFamily="49" charset="-122"/>
              </a:rPr>
              <a:t>(Set Associate)</a:t>
            </a:r>
            <a:r>
              <a:rPr lang="zh-CN" altLang="en-US" sz="2000" dirty="0">
                <a:ea typeface="黑体" panose="02010609060101010101" pitchFamily="49" charset="-122"/>
              </a:rPr>
              <a:t>：</a:t>
            </a:r>
            <a:r>
              <a:rPr lang="zh-CN" altLang="en-US" sz="2000" dirty="0">
                <a:solidFill>
                  <a:srgbClr val="006600"/>
                </a:solidFill>
                <a:ea typeface="黑体" panose="02010609060101010101" pitchFamily="49" charset="-122"/>
              </a:rPr>
              <a:t>每个主存块映射到</a:t>
            </a:r>
            <a:r>
              <a:rPr lang="en-US" altLang="zh-CN" sz="2000" dirty="0">
                <a:solidFill>
                  <a:srgbClr val="006600"/>
                </a:solidFill>
                <a:ea typeface="黑体" panose="02010609060101010101" pitchFamily="49" charset="-122"/>
              </a:rPr>
              <a:t>Cache</a:t>
            </a:r>
            <a:r>
              <a:rPr lang="zh-CN" altLang="en-US" sz="2000" dirty="0">
                <a:solidFill>
                  <a:srgbClr val="006600"/>
                </a:solidFill>
                <a:ea typeface="黑体" panose="02010609060101010101" pitchFamily="49" charset="-122"/>
              </a:rPr>
              <a:t>的固定组中的任</a:t>
            </a:r>
            <a:endParaRPr lang="en-US" altLang="zh-CN" sz="2000" dirty="0">
              <a:solidFill>
                <a:srgbClr val="006600"/>
              </a:solidFill>
              <a:ea typeface="黑体" panose="02010609060101010101" pitchFamily="49" charset="-122"/>
            </a:endParaRPr>
          </a:p>
          <a:p>
            <a:pPr lvl="2">
              <a:lnSpc>
                <a:spcPct val="110000"/>
              </a:lnSpc>
              <a:spcBef>
                <a:spcPct val="25000"/>
              </a:spcBef>
              <a:buNone/>
            </a:pPr>
            <a:r>
              <a:rPr lang="en-US" altLang="zh-CN" sz="2000" dirty="0">
                <a:solidFill>
                  <a:srgbClr val="006600"/>
                </a:solidFill>
                <a:ea typeface="黑体" panose="02010609060101010101" pitchFamily="49" charset="-122"/>
              </a:rPr>
              <a:t>                                             </a:t>
            </a:r>
            <a:r>
              <a:rPr lang="zh-CN" altLang="en-US" sz="2000" dirty="0">
                <a:solidFill>
                  <a:srgbClr val="006600"/>
                </a:solidFill>
                <a:ea typeface="黑体" panose="02010609060101010101" pitchFamily="49" charset="-122"/>
              </a:rPr>
              <a:t>意一行中</a:t>
            </a:r>
            <a:endParaRPr lang="en-US" altLang="zh-CN" sz="2000" dirty="0">
              <a:solidFill>
                <a:srgbClr val="006600"/>
              </a:solidFill>
              <a:ea typeface="黑体" panose="02010609060101010101" pitchFamily="49" charset="-122"/>
            </a:endParaRPr>
          </a:p>
          <a:p>
            <a:pPr lvl="1">
              <a:lnSpc>
                <a:spcPct val="90000"/>
              </a:lnSpc>
              <a:buNone/>
            </a:pPr>
            <a:r>
              <a:rPr lang="en-US" altLang="zh-CN" sz="1800" dirty="0">
                <a:latin typeface="宋体" panose="02010600030101010101" pitchFamily="2" charset="-122"/>
              </a:rPr>
              <a:t> </a:t>
            </a:r>
            <a:endParaRPr lang="en-US" altLang="zh-CN" sz="1800" dirty="0">
              <a:latin typeface="宋体" panose="02010600030101010101" pitchFamily="2" charset="-122"/>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3778" name="Picture 2" descr="全相联映射的Cache组织示意图"/>
          <p:cNvPicPr>
            <a:picLocks noChangeAspect="1"/>
          </p:cNvPicPr>
          <p:nvPr/>
        </p:nvPicPr>
        <p:blipFill>
          <a:blip r:embed="rId1"/>
          <a:stretch>
            <a:fillRect/>
          </a:stretch>
        </p:blipFill>
        <p:spPr>
          <a:xfrm>
            <a:off x="3402013" y="1487488"/>
            <a:ext cx="5741987" cy="4686300"/>
          </a:xfrm>
          <a:prstGeom prst="rect">
            <a:avLst/>
          </a:prstGeom>
          <a:noFill/>
          <a:ln w="9525">
            <a:noFill/>
          </a:ln>
        </p:spPr>
      </p:pic>
      <p:sp>
        <p:nvSpPr>
          <p:cNvPr id="141315" name="Rectangle 3"/>
          <p:cNvSpPr>
            <a:spLocks noGrp="1"/>
          </p:cNvSpPr>
          <p:nvPr>
            <p:ph type="title"/>
          </p:nvPr>
        </p:nvSpPr>
        <p:spPr>
          <a:xfrm>
            <a:off x="1143000" y="-61912"/>
            <a:ext cx="7532688" cy="538162"/>
          </a:xfrm>
        </p:spPr>
        <p:txBody>
          <a:bodyPr vert="horz" wrap="square" lIns="91440" tIns="45720" rIns="91440" bIns="45720" anchor="ctr" anchorCtr="0"/>
          <a:p>
            <a:r>
              <a:rPr lang="en-US" altLang="zh-CN" dirty="0"/>
              <a:t>       </a:t>
            </a:r>
            <a:r>
              <a:rPr lang="zh-CN" altLang="en-US" sz="3200" dirty="0">
                <a:solidFill>
                  <a:srgbClr val="FF0000"/>
                </a:solidFill>
              </a:rPr>
              <a:t>全相联映射</a:t>
            </a:r>
            <a:r>
              <a:rPr lang="en-US" altLang="zh-CN" sz="3200" dirty="0">
                <a:solidFill>
                  <a:srgbClr val="FF0000"/>
                </a:solidFill>
              </a:rPr>
              <a:t>Cache</a:t>
            </a:r>
            <a:r>
              <a:rPr lang="zh-CN" altLang="en-US" sz="3200" dirty="0">
                <a:solidFill>
                  <a:srgbClr val="FF0000"/>
                </a:solidFill>
              </a:rPr>
              <a:t>组织示意图</a:t>
            </a:r>
            <a:endParaRPr lang="zh-CN" altLang="en-US" sz="3200" dirty="0">
              <a:solidFill>
                <a:srgbClr val="FF0000"/>
              </a:solidFill>
            </a:endParaRPr>
          </a:p>
        </p:txBody>
      </p:sp>
      <p:sp>
        <p:nvSpPr>
          <p:cNvPr id="203780" name="Text Box 4"/>
          <p:cNvSpPr txBox="1"/>
          <p:nvPr/>
        </p:nvSpPr>
        <p:spPr>
          <a:xfrm>
            <a:off x="161925" y="3429000"/>
            <a:ext cx="2801938" cy="13716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00FF"/>
                </a:solidFill>
                <a:cs typeface="Arial" panose="020B0604020202020204" pitchFamily="34" charset="0"/>
              </a:rPr>
              <a:t>Cache</a:t>
            </a:r>
            <a:r>
              <a:rPr lang="zh-CN" altLang="en-US" sz="2000" b="1" dirty="0">
                <a:solidFill>
                  <a:srgbClr val="0000FF"/>
                </a:solidFill>
                <a:ea typeface="黑体" panose="02010609060101010101" pitchFamily="49" charset="-122"/>
              </a:rPr>
              <a:t>标记（</a:t>
            </a:r>
            <a:r>
              <a:rPr lang="en-US" altLang="zh-CN" sz="2000" b="1" dirty="0">
                <a:solidFill>
                  <a:srgbClr val="0000FF"/>
                </a:solidFill>
                <a:cs typeface="Arial" panose="020B0604020202020204" pitchFamily="34" charset="0"/>
              </a:rPr>
              <a:t>tag</a:t>
            </a:r>
            <a:r>
              <a:rPr lang="zh-CN" altLang="en-US" sz="2000" b="1" dirty="0">
                <a:solidFill>
                  <a:srgbClr val="0000FF"/>
                </a:solidFill>
                <a:ea typeface="黑体" panose="02010609060101010101" pitchFamily="49" charset="-122"/>
              </a:rPr>
              <a:t>）指出对应行取自哪个主存块</a:t>
            </a:r>
            <a:endParaRPr lang="en-US" altLang="zh-CN" sz="2000" b="1" dirty="0">
              <a:solidFill>
                <a:srgbClr val="0000FF"/>
              </a:solidFill>
              <a:cs typeface="Arial" panose="020B0604020202020204" pitchFamily="34" charset="0"/>
            </a:endParaRPr>
          </a:p>
          <a:p>
            <a:pPr marL="0" lvl="0" indent="0" eaLnBrk="1" hangingPunct="1">
              <a:spcBef>
                <a:spcPct val="50000"/>
              </a:spcBef>
              <a:buClrTx/>
              <a:buSzTx/>
              <a:buFontTx/>
              <a:buNone/>
            </a:pPr>
            <a:r>
              <a:rPr lang="zh-CN" altLang="en-US" sz="2000" b="1" dirty="0">
                <a:solidFill>
                  <a:srgbClr val="0000FF"/>
                </a:solidFill>
                <a:ea typeface="黑体" panose="02010609060101010101" pitchFamily="49" charset="-122"/>
              </a:rPr>
              <a:t>主存</a:t>
            </a:r>
            <a:r>
              <a:rPr lang="en-US" altLang="zh-CN" sz="2000" b="1" dirty="0">
                <a:solidFill>
                  <a:srgbClr val="0000FF"/>
                </a:solidFill>
                <a:cs typeface="Arial" panose="020B0604020202020204" pitchFamily="34" charset="0"/>
              </a:rPr>
              <a:t>tag</a:t>
            </a:r>
            <a:r>
              <a:rPr lang="zh-CN" altLang="en-US" sz="2000" b="1" dirty="0">
                <a:solidFill>
                  <a:srgbClr val="0000FF"/>
                </a:solidFill>
                <a:ea typeface="黑体" panose="02010609060101010101" pitchFamily="49" charset="-122"/>
              </a:rPr>
              <a:t>指出对应地址位于哪个主存块</a:t>
            </a:r>
            <a:endParaRPr lang="zh-CN" altLang="en-US" sz="2000" b="1" dirty="0">
              <a:solidFill>
                <a:srgbClr val="0000FF"/>
              </a:solidFill>
              <a:ea typeface="黑体" panose="02010609060101010101" pitchFamily="49" charset="-122"/>
            </a:endParaRPr>
          </a:p>
        </p:txBody>
      </p:sp>
      <p:sp>
        <p:nvSpPr>
          <p:cNvPr id="203781" name="Line 5"/>
          <p:cNvSpPr/>
          <p:nvPr/>
        </p:nvSpPr>
        <p:spPr>
          <a:xfrm flipV="1">
            <a:off x="2185988" y="2798763"/>
            <a:ext cx="1665287" cy="630237"/>
          </a:xfrm>
          <a:prstGeom prst="line">
            <a:avLst/>
          </a:prstGeom>
          <a:ln w="28575" cap="flat" cmpd="sng">
            <a:solidFill>
              <a:srgbClr val="CC0000"/>
            </a:solidFill>
            <a:prstDash val="solid"/>
            <a:headEnd type="none" w="med" len="med"/>
            <a:tailEnd type="triangle" w="med" len="med"/>
          </a:ln>
        </p:spPr>
      </p:sp>
      <p:sp>
        <p:nvSpPr>
          <p:cNvPr id="203782" name="Line 6"/>
          <p:cNvSpPr/>
          <p:nvPr/>
        </p:nvSpPr>
        <p:spPr>
          <a:xfrm>
            <a:off x="2546350" y="4464050"/>
            <a:ext cx="1574800" cy="930275"/>
          </a:xfrm>
          <a:prstGeom prst="line">
            <a:avLst/>
          </a:prstGeom>
          <a:ln w="28575" cap="flat" cmpd="sng">
            <a:solidFill>
              <a:srgbClr val="CC0000"/>
            </a:solidFill>
            <a:prstDash val="solid"/>
            <a:headEnd type="none" w="med" len="med"/>
            <a:tailEnd type="triangle" w="med" len="med"/>
          </a:ln>
        </p:spPr>
      </p:sp>
      <p:sp>
        <p:nvSpPr>
          <p:cNvPr id="203783" name="Text Box 7"/>
          <p:cNvSpPr txBox="1"/>
          <p:nvPr/>
        </p:nvSpPr>
        <p:spPr>
          <a:xfrm>
            <a:off x="250825" y="5049838"/>
            <a:ext cx="2476500" cy="6096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CC0000"/>
                </a:solidFill>
                <a:ea typeface="黑体" panose="02010609060101010101" pitchFamily="49" charset="-122"/>
              </a:rPr>
              <a:t>如何对</a:t>
            </a:r>
            <a:r>
              <a:rPr lang="en-US" altLang="zh-CN" sz="2000" b="1" dirty="0">
                <a:solidFill>
                  <a:srgbClr val="CC0000"/>
                </a:solidFill>
                <a:cs typeface="Arial" panose="020B0604020202020204" pitchFamily="34" charset="0"/>
              </a:rPr>
              <a:t>01E0CH</a:t>
            </a:r>
            <a:r>
              <a:rPr lang="zh-CN" altLang="en-US" sz="2000" b="1" dirty="0">
                <a:solidFill>
                  <a:srgbClr val="CC0000"/>
                </a:solidFill>
                <a:ea typeface="黑体" panose="02010609060101010101" pitchFamily="49" charset="-122"/>
              </a:rPr>
              <a:t>单元进行访问？</a:t>
            </a:r>
            <a:endParaRPr lang="zh-CN" altLang="en-US" sz="2000" b="1" dirty="0">
              <a:solidFill>
                <a:srgbClr val="CC0000"/>
              </a:solidFill>
              <a:ea typeface="黑体" panose="02010609060101010101" pitchFamily="49" charset="-122"/>
            </a:endParaRPr>
          </a:p>
        </p:txBody>
      </p:sp>
      <p:sp>
        <p:nvSpPr>
          <p:cNvPr id="203784" name="Text Box 8"/>
          <p:cNvSpPr txBox="1"/>
          <p:nvPr/>
        </p:nvSpPr>
        <p:spPr>
          <a:xfrm>
            <a:off x="341313" y="6059488"/>
            <a:ext cx="6778625" cy="609600"/>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FF0000"/>
                </a:solidFill>
                <a:ea typeface="黑体" panose="02010609060101010101" pitchFamily="49" charset="-122"/>
              </a:rPr>
              <a:t>0000 0001 111</a:t>
            </a:r>
            <a:r>
              <a:rPr lang="en-US" altLang="zh-CN" sz="2000" b="1" dirty="0">
                <a:solidFill>
                  <a:srgbClr val="0000FF"/>
                </a:solidFill>
                <a:ea typeface="黑体" panose="02010609060101010101" pitchFamily="49" charset="-122"/>
              </a:rPr>
              <a:t>0 0000 1100B  </a:t>
            </a:r>
            <a:r>
              <a:rPr lang="zh-CN" altLang="en-US" sz="2000" b="1" dirty="0">
                <a:solidFill>
                  <a:srgbClr val="0000FF"/>
                </a:solidFill>
                <a:ea typeface="黑体" panose="02010609060101010101" pitchFamily="49" charset="-122"/>
              </a:rPr>
              <a:t>是第</a:t>
            </a:r>
            <a:r>
              <a:rPr lang="en-US" altLang="zh-CN" sz="2000" b="1" dirty="0">
                <a:solidFill>
                  <a:srgbClr val="0000FF"/>
                </a:solidFill>
                <a:ea typeface="黑体" panose="02010609060101010101" pitchFamily="49" charset="-122"/>
              </a:rPr>
              <a:t>15</a:t>
            </a:r>
            <a:r>
              <a:rPr lang="zh-CN" altLang="en-US" sz="2000" b="1" dirty="0">
                <a:solidFill>
                  <a:srgbClr val="0000FF"/>
                </a:solidFill>
                <a:ea typeface="黑体" panose="02010609060101010101" pitchFamily="49" charset="-122"/>
              </a:rPr>
              <a:t>块中的第</a:t>
            </a:r>
            <a:r>
              <a:rPr lang="en-US" altLang="zh-CN" sz="2000" b="1" dirty="0">
                <a:solidFill>
                  <a:srgbClr val="0000FF"/>
                </a:solidFill>
                <a:ea typeface="黑体" panose="02010609060101010101" pitchFamily="49" charset="-122"/>
              </a:rPr>
              <a:t>12</a:t>
            </a:r>
            <a:r>
              <a:rPr lang="zh-CN" altLang="en-US" sz="2000" b="1" dirty="0">
                <a:solidFill>
                  <a:srgbClr val="0000FF"/>
                </a:solidFill>
                <a:ea typeface="黑体" panose="02010609060101010101" pitchFamily="49" charset="-122"/>
              </a:rPr>
              <a:t>个单元！可映射到任意</a:t>
            </a:r>
            <a:r>
              <a:rPr lang="en-US" altLang="zh-CN" sz="2000" b="1" dirty="0">
                <a:solidFill>
                  <a:srgbClr val="0000FF"/>
                </a:solidFill>
                <a:ea typeface="黑体" panose="02010609060101010101" pitchFamily="49" charset="-122"/>
              </a:rPr>
              <a:t>cache</a:t>
            </a:r>
            <a:r>
              <a:rPr lang="zh-CN" altLang="en-US" sz="2000" b="1" dirty="0">
                <a:solidFill>
                  <a:srgbClr val="0000FF"/>
                </a:solidFill>
                <a:ea typeface="黑体" panose="02010609060101010101" pitchFamily="49" charset="-122"/>
              </a:rPr>
              <a:t>行中</a:t>
            </a:r>
            <a:endParaRPr lang="zh-CN" altLang="en-US" sz="2000" b="1" dirty="0">
              <a:solidFill>
                <a:srgbClr val="0000FF"/>
              </a:solidFill>
              <a:ea typeface="黑体" panose="02010609060101010101" pitchFamily="49" charset="-122"/>
            </a:endParaRPr>
          </a:p>
        </p:txBody>
      </p:sp>
      <p:sp>
        <p:nvSpPr>
          <p:cNvPr id="203785" name="Rectangle 9"/>
          <p:cNvSpPr/>
          <p:nvPr/>
        </p:nvSpPr>
        <p:spPr>
          <a:xfrm>
            <a:off x="7858125" y="3924300"/>
            <a:ext cx="900113" cy="360363"/>
          </a:xfrm>
          <a:prstGeom prst="rect">
            <a:avLst/>
          </a:prstGeom>
          <a:solidFill>
            <a:srgbClr val="008000">
              <a:alpha val="39999"/>
            </a:srgbClr>
          </a:solidFill>
          <a:ln w="9525">
            <a:noFill/>
          </a:ln>
        </p:spPr>
        <p:txBody>
          <a:bodyPr lIns="0" tIns="0" rIns="0" bIns="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1322" name="Rectangle 10"/>
          <p:cNvSpPr/>
          <p:nvPr/>
        </p:nvSpPr>
        <p:spPr>
          <a:xfrm>
            <a:off x="4797425" y="819150"/>
            <a:ext cx="3870325" cy="3968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lnSpc>
                <a:spcPct val="130000"/>
              </a:lnSpc>
              <a:spcBef>
                <a:spcPct val="30000"/>
              </a:spcBef>
              <a:buClr>
                <a:schemeClr val="accent1"/>
              </a:buClr>
              <a:buSzPct val="80000"/>
              <a:buNone/>
            </a:pPr>
            <a:r>
              <a:rPr lang="zh-CN" altLang="en-US" sz="2000" b="1" dirty="0">
                <a:ea typeface="黑体" panose="02010609060101010101" pitchFamily="49" charset="-122"/>
              </a:rPr>
              <a:t>每个主存块可装到</a:t>
            </a:r>
            <a:r>
              <a:rPr lang="en-US" altLang="zh-CN" sz="2000" b="1" dirty="0">
                <a:ea typeface="黑体" panose="02010609060101010101" pitchFamily="49" charset="-122"/>
              </a:rPr>
              <a:t>Cache</a:t>
            </a:r>
            <a:r>
              <a:rPr lang="zh-CN" altLang="en-US" sz="2000" b="1" dirty="0">
                <a:ea typeface="黑体" panose="02010609060101010101" pitchFamily="49" charset="-122"/>
              </a:rPr>
              <a:t>任一行中。</a:t>
            </a:r>
            <a:endParaRPr lang="zh-CN" altLang="en-US" sz="2000" b="1" dirty="0">
              <a:ea typeface="黑体" panose="02010609060101010101" pitchFamily="49" charset="-122"/>
            </a:endParaRPr>
          </a:p>
        </p:txBody>
      </p:sp>
      <p:sp>
        <p:nvSpPr>
          <p:cNvPr id="141323" name="Rectangle 11"/>
          <p:cNvSpPr/>
          <p:nvPr/>
        </p:nvSpPr>
        <p:spPr>
          <a:xfrm>
            <a:off x="206375" y="381000"/>
            <a:ext cx="2025650" cy="3048000"/>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FF"/>
                </a:solidFill>
                <a:ea typeface="黑体" panose="02010609060101010101" pitchFamily="49" charset="-122"/>
              </a:rPr>
              <a:t>假定数据在主存和</a:t>
            </a:r>
            <a:r>
              <a:rPr lang="en-US" altLang="zh-CN" sz="2000" b="1" dirty="0">
                <a:solidFill>
                  <a:srgbClr val="0000FF"/>
                </a:solidFill>
                <a:cs typeface="Arial" panose="020B0604020202020204" pitchFamily="34" charset="0"/>
              </a:rPr>
              <a:t>Cache</a:t>
            </a:r>
            <a:r>
              <a:rPr lang="zh-CN" altLang="en-US" sz="2000" b="1" dirty="0">
                <a:solidFill>
                  <a:srgbClr val="0000FF"/>
                </a:solidFill>
                <a:ea typeface="黑体" panose="02010609060101010101" pitchFamily="49" charset="-122"/>
              </a:rPr>
              <a:t>间的传送单位为</a:t>
            </a:r>
            <a:r>
              <a:rPr lang="en-US" altLang="zh-CN" sz="2000" b="1" dirty="0">
                <a:solidFill>
                  <a:srgbClr val="0000FF"/>
                </a:solidFill>
                <a:cs typeface="Arial" panose="020B0604020202020204" pitchFamily="34" charset="0"/>
              </a:rPr>
              <a:t>512</a:t>
            </a:r>
            <a:r>
              <a:rPr lang="zh-CN" altLang="en-US" sz="2000" b="1" dirty="0">
                <a:solidFill>
                  <a:srgbClr val="0000FF"/>
                </a:solidFill>
                <a:ea typeface="黑体" panose="02010609060101010101" pitchFamily="49" charset="-122"/>
              </a:rPr>
              <a:t>字。</a:t>
            </a:r>
            <a:endParaRPr lang="en-US" altLang="zh-CN" sz="2000" b="1" dirty="0">
              <a:solidFill>
                <a:srgbClr val="0000FF"/>
              </a:solidFill>
              <a:ea typeface="黑体" panose="02010609060101010101" pitchFamily="49" charset="-122"/>
            </a:endParaRPr>
          </a:p>
          <a:p>
            <a:pPr marL="0" lvl="0" indent="0" eaLnBrk="1" hangingPunct="1">
              <a:spcBef>
                <a:spcPct val="50000"/>
              </a:spcBef>
              <a:buClrTx/>
              <a:buSzTx/>
              <a:buFontTx/>
              <a:buNone/>
            </a:pPr>
            <a:r>
              <a:rPr lang="en-US" altLang="zh-CN" sz="2000" b="1" dirty="0">
                <a:solidFill>
                  <a:srgbClr val="0000FF"/>
                </a:solidFill>
                <a:ea typeface="黑体" panose="02010609060101010101" pitchFamily="49" charset="-122"/>
              </a:rPr>
              <a:t>Cache</a:t>
            </a:r>
            <a:r>
              <a:rPr lang="zh-CN" altLang="en-US" sz="2000" b="1" dirty="0">
                <a:solidFill>
                  <a:srgbClr val="0000FF"/>
                </a:solidFill>
                <a:ea typeface="黑体" panose="02010609060101010101" pitchFamily="49" charset="-122"/>
              </a:rPr>
              <a:t>大小：</a:t>
            </a:r>
            <a:r>
              <a:rPr lang="en-US" altLang="zh-CN" sz="2000" b="1" dirty="0">
                <a:solidFill>
                  <a:srgbClr val="0000FF"/>
                </a:solidFill>
                <a:ea typeface="黑体" panose="02010609060101010101" pitchFamily="49" charset="-122"/>
              </a:rPr>
              <a:t>2</a:t>
            </a:r>
            <a:r>
              <a:rPr lang="en-US" altLang="zh-CN" sz="2000" b="1" baseline="30000" dirty="0">
                <a:solidFill>
                  <a:srgbClr val="0000FF"/>
                </a:solidFill>
                <a:ea typeface="黑体" panose="02010609060101010101" pitchFamily="49" charset="-122"/>
              </a:rPr>
              <a:t>13</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=8K</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=16</a:t>
            </a:r>
            <a:r>
              <a:rPr lang="zh-CN" altLang="en-US" sz="2000" b="1" dirty="0">
                <a:solidFill>
                  <a:srgbClr val="0000FF"/>
                </a:solidFill>
                <a:ea typeface="黑体" panose="02010609060101010101" pitchFamily="49" charset="-122"/>
              </a:rPr>
              <a:t>行</a:t>
            </a:r>
            <a:r>
              <a:rPr lang="en-US" altLang="zh-CN" sz="2000" b="1" dirty="0">
                <a:solidFill>
                  <a:srgbClr val="0000FF"/>
                </a:solidFill>
                <a:ea typeface="黑体" panose="02010609060101010101" pitchFamily="49" charset="-122"/>
              </a:rPr>
              <a:t> x 512</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 </a:t>
            </a:r>
            <a:r>
              <a:rPr lang="zh-CN" altLang="en-US" sz="2000" b="1" dirty="0">
                <a:solidFill>
                  <a:srgbClr val="0000FF"/>
                </a:solidFill>
                <a:ea typeface="黑体" panose="02010609060101010101" pitchFamily="49" charset="-122"/>
              </a:rPr>
              <a:t>行</a:t>
            </a:r>
            <a:endParaRPr lang="en-US" altLang="zh-CN" sz="2000" b="1" dirty="0">
              <a:solidFill>
                <a:srgbClr val="0000FF"/>
              </a:solidFill>
              <a:ea typeface="黑体" panose="02010609060101010101" pitchFamily="49" charset="-122"/>
            </a:endParaRPr>
          </a:p>
          <a:p>
            <a:pPr marL="0" lvl="0" indent="0" eaLnBrk="1" hangingPunct="1">
              <a:spcBef>
                <a:spcPct val="50000"/>
              </a:spcBef>
              <a:buClrTx/>
              <a:buSzTx/>
              <a:buFontTx/>
              <a:buNone/>
            </a:pPr>
            <a:r>
              <a:rPr lang="en-US" altLang="zh-CN" sz="2000" b="1" dirty="0">
                <a:solidFill>
                  <a:srgbClr val="0000FF"/>
                </a:solidFill>
                <a:ea typeface="黑体" panose="02010609060101010101" pitchFamily="49" charset="-122"/>
              </a:rPr>
              <a:t> </a:t>
            </a:r>
            <a:r>
              <a:rPr lang="zh-CN" altLang="en-US" sz="2000" b="1" dirty="0">
                <a:solidFill>
                  <a:srgbClr val="0000FF"/>
                </a:solidFill>
                <a:ea typeface="黑体" panose="02010609060101010101" pitchFamily="49" charset="-122"/>
              </a:rPr>
              <a:t>主存大小：</a:t>
            </a:r>
            <a:r>
              <a:rPr lang="en-US" altLang="zh-CN" sz="2000" b="1" dirty="0">
                <a:solidFill>
                  <a:srgbClr val="0000FF"/>
                </a:solidFill>
                <a:ea typeface="黑体" panose="02010609060101010101" pitchFamily="49" charset="-122"/>
              </a:rPr>
              <a:t>2</a:t>
            </a:r>
            <a:r>
              <a:rPr lang="en-US" altLang="zh-CN" sz="2000" b="1" baseline="30000" dirty="0">
                <a:solidFill>
                  <a:srgbClr val="0000FF"/>
                </a:solidFill>
                <a:ea typeface="黑体" panose="02010609060101010101" pitchFamily="49" charset="-122"/>
              </a:rPr>
              <a:t>20</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=1024K</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=2048</a:t>
            </a:r>
            <a:r>
              <a:rPr lang="zh-CN" altLang="en-US" sz="2000" b="1" dirty="0">
                <a:solidFill>
                  <a:srgbClr val="0000FF"/>
                </a:solidFill>
                <a:ea typeface="黑体" panose="02010609060101010101" pitchFamily="49" charset="-122"/>
              </a:rPr>
              <a:t>块</a:t>
            </a:r>
            <a:r>
              <a:rPr lang="en-US" altLang="zh-CN" sz="2000" b="1" dirty="0">
                <a:solidFill>
                  <a:srgbClr val="0000FF"/>
                </a:solidFill>
                <a:ea typeface="黑体" panose="02010609060101010101" pitchFamily="49" charset="-122"/>
              </a:rPr>
              <a:t> x 512</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 </a:t>
            </a:r>
            <a:r>
              <a:rPr lang="zh-CN" altLang="en-US" sz="2000" b="1" dirty="0">
                <a:solidFill>
                  <a:srgbClr val="0000FF"/>
                </a:solidFill>
                <a:ea typeface="黑体" panose="02010609060101010101" pitchFamily="49" charset="-122"/>
              </a:rPr>
              <a:t>块</a:t>
            </a:r>
            <a:endParaRPr lang="zh-CN" altLang="en-US" sz="2000" b="1" dirty="0">
              <a:solidFill>
                <a:srgbClr val="0000FF"/>
              </a:solidFill>
              <a:ea typeface="黑体" panose="02010609060101010101" pitchFamily="49" charset="-122"/>
            </a:endParaRPr>
          </a:p>
        </p:txBody>
      </p:sp>
      <p:sp>
        <p:nvSpPr>
          <p:cNvPr id="203788" name="Rectangle 12"/>
          <p:cNvSpPr/>
          <p:nvPr/>
        </p:nvSpPr>
        <p:spPr>
          <a:xfrm>
            <a:off x="2997200" y="3429000"/>
            <a:ext cx="1574800" cy="27463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FF0000"/>
                </a:solidFill>
                <a:ea typeface="黑体" panose="02010609060101010101" pitchFamily="49" charset="-122"/>
              </a:rPr>
              <a:t>0000 0001 111</a:t>
            </a:r>
            <a:endParaRPr lang="en-US" altLang="zh-CN" sz="1800" b="1" dirty="0">
              <a:solidFill>
                <a:srgbClr val="FF0000"/>
              </a:solidFill>
              <a:ea typeface="黑体" panose="02010609060101010101" pitchFamily="49" charset="-122"/>
            </a:endParaRPr>
          </a:p>
        </p:txBody>
      </p:sp>
      <p:sp>
        <p:nvSpPr>
          <p:cNvPr id="203789" name="Text Box 13"/>
          <p:cNvSpPr txBox="1"/>
          <p:nvPr/>
        </p:nvSpPr>
        <p:spPr>
          <a:xfrm>
            <a:off x="2411413" y="819150"/>
            <a:ext cx="1844675" cy="6096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CC0000"/>
                </a:solidFill>
                <a:ea typeface="黑体" panose="02010609060101010101" pitchFamily="49" charset="-122"/>
              </a:rPr>
              <a:t>按内容访问，是相联存取方式！</a:t>
            </a:r>
            <a:endParaRPr lang="zh-CN" altLang="en-US" sz="2000" b="1" dirty="0">
              <a:solidFill>
                <a:srgbClr val="CC0000"/>
              </a:solidFill>
              <a:ea typeface="黑体" panose="02010609060101010101" pitchFamily="49" charset="-122"/>
            </a:endParaRPr>
          </a:p>
        </p:txBody>
      </p:sp>
      <p:sp>
        <p:nvSpPr>
          <p:cNvPr id="203790" name="Text Box 14"/>
          <p:cNvSpPr txBox="1"/>
          <p:nvPr/>
        </p:nvSpPr>
        <p:spPr>
          <a:xfrm>
            <a:off x="2411413" y="1584325"/>
            <a:ext cx="1485900" cy="609600"/>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FF0000"/>
                </a:solidFill>
                <a:ea typeface="黑体" panose="02010609060101010101" pitchFamily="49" charset="-122"/>
              </a:rPr>
              <a:t>如何实现按内容访问？</a:t>
            </a:r>
            <a:endParaRPr lang="zh-CN" altLang="en-US" sz="2000" b="1" dirty="0">
              <a:solidFill>
                <a:srgbClr val="FF0000"/>
              </a:solidFill>
              <a:ea typeface="黑体" panose="02010609060101010101" pitchFamily="49" charset="-122"/>
            </a:endParaRPr>
          </a:p>
        </p:txBody>
      </p:sp>
      <p:sp>
        <p:nvSpPr>
          <p:cNvPr id="203791" name="Text Box 15"/>
          <p:cNvSpPr txBox="1"/>
          <p:nvPr/>
        </p:nvSpPr>
        <p:spPr>
          <a:xfrm>
            <a:off x="2457450" y="2314575"/>
            <a:ext cx="1485900" cy="304800"/>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ea typeface="黑体" panose="02010609060101010101" pitchFamily="49" charset="-122"/>
              </a:rPr>
              <a:t>直接比较！</a:t>
            </a:r>
            <a:endParaRPr lang="zh-CN" altLang="en-US" sz="2000" b="1" dirty="0">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3778"/>
                                        </p:tgtEl>
                                        <p:attrNameLst>
                                          <p:attrName>style.visibility</p:attrName>
                                        </p:attrNameLst>
                                      </p:cBhvr>
                                      <p:to>
                                        <p:strVal val="visible"/>
                                      </p:to>
                                    </p:set>
                                    <p:animEffect transition="in" filter="blinds(horizontal)">
                                      <p:cBhvr>
                                        <p:cTn id="7" dur="500"/>
                                        <p:tgtEl>
                                          <p:spTgt spid="20377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3780">
                                            <p:txEl>
                                              <p:charRg st="0" end="25"/>
                                            </p:txEl>
                                          </p:spTgt>
                                        </p:tgtEl>
                                        <p:attrNameLst>
                                          <p:attrName>style.visibility</p:attrName>
                                        </p:attrNameLst>
                                      </p:cBhvr>
                                      <p:to>
                                        <p:strVal val="visible"/>
                                      </p:to>
                                    </p:set>
                                    <p:animEffect transition="in" filter="blinds(horizontal)">
                                      <p:cBhvr>
                                        <p:cTn id="12" dur="500"/>
                                        <p:tgtEl>
                                          <p:spTgt spid="203780">
                                            <p:txEl>
                                              <p:charRg st="0" end="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3781"/>
                                        </p:tgtEl>
                                        <p:attrNameLst>
                                          <p:attrName>style.visibility</p:attrName>
                                        </p:attrNameLst>
                                      </p:cBhvr>
                                      <p:to>
                                        <p:strVal val="visible"/>
                                      </p:to>
                                    </p:set>
                                    <p:animEffect transition="in" filter="blinds(horizontal)">
                                      <p:cBhvr>
                                        <p:cTn id="17" dur="500"/>
                                        <p:tgtEl>
                                          <p:spTgt spid="203781"/>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03780">
                                            <p:txEl>
                                              <p:charRg st="25" end="44"/>
                                            </p:txEl>
                                          </p:spTgt>
                                        </p:tgtEl>
                                        <p:attrNameLst>
                                          <p:attrName>style.visibility</p:attrName>
                                        </p:attrNameLst>
                                      </p:cBhvr>
                                      <p:to>
                                        <p:strVal val="visible"/>
                                      </p:to>
                                    </p:set>
                                    <p:animEffect transition="in" filter="blinds(horizontal)">
                                      <p:cBhvr>
                                        <p:cTn id="22" dur="500"/>
                                        <p:tgtEl>
                                          <p:spTgt spid="203780">
                                            <p:txEl>
                                              <p:charRg st="25" end="4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3782"/>
                                        </p:tgtEl>
                                        <p:attrNameLst>
                                          <p:attrName>style.visibility</p:attrName>
                                        </p:attrNameLst>
                                      </p:cBhvr>
                                      <p:to>
                                        <p:strVal val="visible"/>
                                      </p:to>
                                    </p:set>
                                    <p:animEffect transition="in" filter="blinds(horizontal)">
                                      <p:cBhvr>
                                        <p:cTn id="27" dur="500"/>
                                        <p:tgtEl>
                                          <p:spTgt spid="20378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03783"/>
                                        </p:tgtEl>
                                        <p:attrNameLst>
                                          <p:attrName>style.visibility</p:attrName>
                                        </p:attrNameLst>
                                      </p:cBhvr>
                                      <p:to>
                                        <p:strVal val="visible"/>
                                      </p:to>
                                    </p:set>
                                    <p:animEffect transition="in" filter="blinds(horizontal)">
                                      <p:cBhvr>
                                        <p:cTn id="32" dur="500"/>
                                        <p:tgtEl>
                                          <p:spTgt spid="203783"/>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203784"/>
                                        </p:tgtEl>
                                        <p:attrNameLst>
                                          <p:attrName>style.visibility</p:attrName>
                                        </p:attrNameLst>
                                      </p:cBhvr>
                                      <p:to>
                                        <p:strVal val="visible"/>
                                      </p:to>
                                    </p:set>
                                    <p:animEffect transition="in" filter="blinds(horizontal)">
                                      <p:cBhvr>
                                        <p:cTn id="37" dur="500"/>
                                        <p:tgtEl>
                                          <p:spTgt spid="20378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203785"/>
                                        </p:tgtEl>
                                        <p:attrNameLst>
                                          <p:attrName>style.visibility</p:attrName>
                                        </p:attrNameLst>
                                      </p:cBhvr>
                                      <p:to>
                                        <p:strVal val="visible"/>
                                      </p:to>
                                    </p:set>
                                    <p:animEffect transition="in" filter="blinds(horizontal)">
                                      <p:cBhvr>
                                        <p:cTn id="42" dur="500"/>
                                        <p:tgtEl>
                                          <p:spTgt spid="20378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03788"/>
                                        </p:tgtEl>
                                        <p:attrNameLst>
                                          <p:attrName>style.visibility</p:attrName>
                                        </p:attrNameLst>
                                      </p:cBhvr>
                                      <p:to>
                                        <p:strVal val="visible"/>
                                      </p:to>
                                    </p:set>
                                    <p:animEffect transition="in" filter="blinds(horizontal)">
                                      <p:cBhvr>
                                        <p:cTn id="47" dur="500"/>
                                        <p:tgtEl>
                                          <p:spTgt spid="203788"/>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203789"/>
                                        </p:tgtEl>
                                        <p:attrNameLst>
                                          <p:attrName>style.visibility</p:attrName>
                                        </p:attrNameLst>
                                      </p:cBhvr>
                                      <p:to>
                                        <p:strVal val="visible"/>
                                      </p:to>
                                    </p:set>
                                    <p:animEffect transition="in" filter="blinds(horizontal)">
                                      <p:cBhvr>
                                        <p:cTn id="52" dur="500"/>
                                        <p:tgtEl>
                                          <p:spTgt spid="20378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03790"/>
                                        </p:tgtEl>
                                        <p:attrNameLst>
                                          <p:attrName>style.visibility</p:attrName>
                                        </p:attrNameLst>
                                      </p:cBhvr>
                                      <p:to>
                                        <p:strVal val="visible"/>
                                      </p:to>
                                    </p:set>
                                    <p:animEffect transition="in" filter="blinds(horizontal)">
                                      <p:cBhvr>
                                        <p:cTn id="57" dur="500"/>
                                        <p:tgtEl>
                                          <p:spTgt spid="20379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03791"/>
                                        </p:tgtEl>
                                        <p:attrNameLst>
                                          <p:attrName>style.visibility</p:attrName>
                                        </p:attrNameLst>
                                      </p:cBhvr>
                                      <p:to>
                                        <p:strVal val="visible"/>
                                      </p:to>
                                    </p:set>
                                    <p:animEffect transition="in" filter="blinds(horizontal)">
                                      <p:cBhvr>
                                        <p:cTn id="62" dur="500"/>
                                        <p:tgtEl>
                                          <p:spTgt spid="203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3" grpId="0"/>
      <p:bldP spid="203784" grpId="0" animBg="1"/>
      <p:bldP spid="203785" grpId="0" animBg="1"/>
      <p:bldP spid="203788" grpId="0"/>
      <p:bldP spid="203789" grpId="0"/>
      <p:bldP spid="203790" grpId="0" animBg="1"/>
      <p:bldP spid="203791"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2" name="Rectangle 2"/>
          <p:cNvSpPr>
            <a:spLocks noGrp="1"/>
          </p:cNvSpPr>
          <p:nvPr>
            <p:ph type="title"/>
          </p:nvPr>
        </p:nvSpPr>
        <p:spPr>
          <a:xfrm>
            <a:off x="568325" y="260350"/>
            <a:ext cx="7532688" cy="503238"/>
          </a:xfrm>
        </p:spPr>
        <p:txBody>
          <a:bodyPr vert="horz" wrap="square" lIns="91440" tIns="45720" rIns="91440" bIns="45720" anchor="ctr" anchorCtr="0"/>
          <a:p>
            <a:r>
              <a:rPr lang="zh-CN" altLang="en-US" sz="3200" dirty="0"/>
              <a:t>举例：</a:t>
            </a:r>
            <a:r>
              <a:rPr lang="en-US" altLang="zh-CN" sz="3200" dirty="0"/>
              <a:t>Fully Associative</a:t>
            </a:r>
            <a:endParaRPr lang="en-US" altLang="zh-CN" sz="3200" dirty="0"/>
          </a:p>
        </p:txBody>
      </p:sp>
      <p:sp>
        <p:nvSpPr>
          <p:cNvPr id="143363" name="Rectangle 3"/>
          <p:cNvSpPr>
            <a:spLocks noGrp="1"/>
          </p:cNvSpPr>
          <p:nvPr>
            <p:ph idx="1"/>
          </p:nvPr>
        </p:nvSpPr>
        <p:spPr>
          <a:xfrm>
            <a:off x="341313" y="806450"/>
            <a:ext cx="8596312" cy="1466850"/>
          </a:xfrm>
        </p:spPr>
        <p:txBody>
          <a:bodyPr vert="horz" wrap="square" lIns="63500" tIns="25400" rIns="63500" bIns="25400" anchor="t" anchorCtr="0">
            <a:spAutoFit/>
          </a:bodyPr>
          <a:p>
            <a:r>
              <a:rPr lang="en-US" altLang="zh-CN" sz="2000" dirty="0">
                <a:ea typeface="黑体" panose="02010609060101010101" pitchFamily="49" charset="-122"/>
              </a:rPr>
              <a:t>Fully Associative Cache </a:t>
            </a:r>
            <a:endParaRPr lang="en-US" altLang="zh-CN" sz="2000" dirty="0">
              <a:ea typeface="黑体" panose="02010609060101010101" pitchFamily="49" charset="-122"/>
            </a:endParaRPr>
          </a:p>
          <a:p>
            <a:pPr lvl="1"/>
            <a:r>
              <a:rPr lang="zh-CN" altLang="en-US" sz="2000" dirty="0">
                <a:solidFill>
                  <a:srgbClr val="0000FF"/>
                </a:solidFill>
                <a:ea typeface="黑体" panose="02010609060101010101" pitchFamily="49" charset="-122"/>
              </a:rPr>
              <a:t>同时比较所有</a:t>
            </a:r>
            <a:r>
              <a:rPr lang="en-US" altLang="zh-CN" sz="2000" dirty="0">
                <a:solidFill>
                  <a:srgbClr val="0000FF"/>
                </a:solidFill>
                <a:ea typeface="黑体" panose="02010609060101010101" pitchFamily="49" charset="-122"/>
              </a:rPr>
              <a:t>Cache</a:t>
            </a:r>
            <a:r>
              <a:rPr lang="zh-CN" altLang="en-US" sz="2000" dirty="0">
                <a:solidFill>
                  <a:srgbClr val="0000FF"/>
                </a:solidFill>
                <a:ea typeface="黑体" panose="02010609060101010101" pitchFamily="49" charset="-122"/>
              </a:rPr>
              <a:t>项的标志</a:t>
            </a:r>
            <a:endParaRPr lang="en-US" altLang="zh-CN" sz="2000" dirty="0">
              <a:solidFill>
                <a:srgbClr val="0000FF"/>
              </a:solidFill>
              <a:ea typeface="黑体" panose="02010609060101010101" pitchFamily="49" charset="-122"/>
            </a:endParaRPr>
          </a:p>
          <a:p>
            <a:r>
              <a:rPr lang="en-US" altLang="zh-CN" sz="2000" dirty="0">
                <a:ea typeface="黑体" panose="02010609060101010101" pitchFamily="49" charset="-122"/>
              </a:rPr>
              <a:t>Example: 32bits memory address, 32 B blocks.</a:t>
            </a:r>
            <a:r>
              <a:rPr lang="en-US" altLang="zh-CN" sz="2000" b="1" dirty="0">
                <a:ea typeface="黑体" panose="02010609060101010101" pitchFamily="49" charset="-122"/>
              </a:rPr>
              <a:t> </a:t>
            </a:r>
            <a:r>
              <a:rPr lang="zh-CN" altLang="en-US" sz="2000" dirty="0">
                <a:ea typeface="黑体" panose="02010609060101010101" pitchFamily="49" charset="-122"/>
              </a:rPr>
              <a:t>比较器位数多长？</a:t>
            </a:r>
            <a:endParaRPr lang="en-US" altLang="zh-CN" sz="2000" dirty="0">
              <a:ea typeface="黑体" panose="02010609060101010101" pitchFamily="49" charset="-122"/>
            </a:endParaRPr>
          </a:p>
          <a:p>
            <a:pPr lvl="1"/>
            <a:r>
              <a:rPr lang="en-US" altLang="zh-CN" sz="2000" b="1" dirty="0">
                <a:ea typeface="黑体" panose="02010609060101010101" pitchFamily="49" charset="-122"/>
              </a:rPr>
              <a:t> </a:t>
            </a:r>
            <a:r>
              <a:rPr lang="en-US" altLang="zh-CN" sz="2000" dirty="0">
                <a:ea typeface="黑体" panose="02010609060101010101" pitchFamily="49" charset="-122"/>
              </a:rPr>
              <a:t>we need N </a:t>
            </a:r>
            <a:r>
              <a:rPr lang="en-US" altLang="zh-CN" sz="2000" dirty="0">
                <a:solidFill>
                  <a:srgbClr val="CC0000"/>
                </a:solidFill>
                <a:ea typeface="黑体" panose="02010609060101010101" pitchFamily="49" charset="-122"/>
              </a:rPr>
              <a:t>27-bit </a:t>
            </a:r>
            <a:r>
              <a:rPr lang="en-US" altLang="zh-CN" sz="2000" dirty="0">
                <a:ea typeface="黑体" panose="02010609060101010101" pitchFamily="49" charset="-122"/>
              </a:rPr>
              <a:t>comparators</a:t>
            </a:r>
            <a:endParaRPr lang="en-US" altLang="zh-CN" sz="2000" dirty="0">
              <a:ea typeface="黑体" panose="02010609060101010101" pitchFamily="49" charset="-122"/>
            </a:endParaRPr>
          </a:p>
        </p:txBody>
      </p:sp>
      <p:grpSp>
        <p:nvGrpSpPr>
          <p:cNvPr id="143364" name="Group 4"/>
          <p:cNvGrpSpPr/>
          <p:nvPr/>
        </p:nvGrpSpPr>
        <p:grpSpPr>
          <a:xfrm>
            <a:off x="611188" y="2030413"/>
            <a:ext cx="7932737" cy="3432175"/>
            <a:chOff x="563" y="2020"/>
            <a:chExt cx="4997" cy="1997"/>
          </a:xfrm>
        </p:grpSpPr>
        <p:sp>
          <p:nvSpPr>
            <p:cNvPr id="143369" name="Rectangle 5"/>
            <p:cNvSpPr/>
            <p:nvPr/>
          </p:nvSpPr>
          <p:spPr>
            <a:xfrm>
              <a:off x="5123" y="2020"/>
              <a:ext cx="203" cy="229"/>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0</a:t>
              </a:r>
              <a:endParaRPr lang="en-US" altLang="zh-CN" sz="2000" b="1" dirty="0"/>
            </a:p>
          </p:txBody>
        </p:sp>
        <p:sp>
          <p:nvSpPr>
            <p:cNvPr id="143370" name="Rectangle 6"/>
            <p:cNvSpPr/>
            <p:nvPr/>
          </p:nvSpPr>
          <p:spPr>
            <a:xfrm>
              <a:off x="4355" y="2020"/>
              <a:ext cx="203" cy="229"/>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4</a:t>
              </a:r>
              <a:endParaRPr lang="en-US" altLang="zh-CN" sz="2000" b="1" dirty="0"/>
            </a:p>
          </p:txBody>
        </p:sp>
        <p:sp>
          <p:nvSpPr>
            <p:cNvPr id="143371" name="Rectangle 7"/>
            <p:cNvSpPr/>
            <p:nvPr/>
          </p:nvSpPr>
          <p:spPr>
            <a:xfrm>
              <a:off x="563" y="2020"/>
              <a:ext cx="292" cy="229"/>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31</a:t>
              </a:r>
              <a:endParaRPr lang="en-US" altLang="zh-CN" sz="2000" b="1" dirty="0"/>
            </a:p>
          </p:txBody>
        </p:sp>
        <p:grpSp>
          <p:nvGrpSpPr>
            <p:cNvPr id="143372" name="Group 8"/>
            <p:cNvGrpSpPr/>
            <p:nvPr/>
          </p:nvGrpSpPr>
          <p:grpSpPr>
            <a:xfrm>
              <a:off x="584" y="2212"/>
              <a:ext cx="4976" cy="1805"/>
              <a:chOff x="584" y="2212"/>
              <a:chExt cx="4976" cy="1805"/>
            </a:xfrm>
          </p:grpSpPr>
          <p:sp>
            <p:nvSpPr>
              <p:cNvPr id="143373" name="Rectangle 9"/>
              <p:cNvSpPr/>
              <p:nvPr/>
            </p:nvSpPr>
            <p:spPr>
              <a:xfrm>
                <a:off x="3800" y="2840"/>
                <a:ext cx="1760" cy="1136"/>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374" name="Line 10"/>
              <p:cNvSpPr/>
              <p:nvPr/>
            </p:nvSpPr>
            <p:spPr>
              <a:xfrm>
                <a:off x="3800" y="3024"/>
                <a:ext cx="1760" cy="0"/>
              </a:xfrm>
              <a:prstGeom prst="line">
                <a:avLst/>
              </a:prstGeom>
              <a:ln w="25400" cap="flat" cmpd="sng">
                <a:solidFill>
                  <a:schemeClr val="tx1"/>
                </a:solidFill>
                <a:prstDash val="solid"/>
                <a:headEnd type="none" w="med" len="med"/>
                <a:tailEnd type="none" w="med" len="med"/>
              </a:ln>
            </p:spPr>
          </p:sp>
          <p:sp>
            <p:nvSpPr>
              <p:cNvPr id="143375" name="Line 11"/>
              <p:cNvSpPr/>
              <p:nvPr/>
            </p:nvSpPr>
            <p:spPr>
              <a:xfrm>
                <a:off x="3800" y="3216"/>
                <a:ext cx="1760" cy="0"/>
              </a:xfrm>
              <a:prstGeom prst="line">
                <a:avLst/>
              </a:prstGeom>
              <a:ln w="25400" cap="flat" cmpd="sng">
                <a:solidFill>
                  <a:schemeClr val="tx1"/>
                </a:solidFill>
                <a:prstDash val="solid"/>
                <a:headEnd type="none" w="med" len="med"/>
                <a:tailEnd type="none" w="med" len="med"/>
              </a:ln>
            </p:spPr>
          </p:sp>
          <p:sp>
            <p:nvSpPr>
              <p:cNvPr id="143376" name="Line 12"/>
              <p:cNvSpPr/>
              <p:nvPr/>
            </p:nvSpPr>
            <p:spPr>
              <a:xfrm>
                <a:off x="3800" y="3408"/>
                <a:ext cx="1760" cy="0"/>
              </a:xfrm>
              <a:prstGeom prst="line">
                <a:avLst/>
              </a:prstGeom>
              <a:ln w="25400" cap="flat" cmpd="sng">
                <a:solidFill>
                  <a:schemeClr val="tx1"/>
                </a:solidFill>
                <a:prstDash val="solid"/>
                <a:headEnd type="none" w="med" len="med"/>
                <a:tailEnd type="none" w="med" len="med"/>
              </a:ln>
            </p:spPr>
          </p:sp>
          <p:sp>
            <p:nvSpPr>
              <p:cNvPr id="143377" name="Line 13"/>
              <p:cNvSpPr/>
              <p:nvPr/>
            </p:nvSpPr>
            <p:spPr>
              <a:xfrm>
                <a:off x="3800" y="3600"/>
                <a:ext cx="1760" cy="0"/>
              </a:xfrm>
              <a:prstGeom prst="line">
                <a:avLst/>
              </a:prstGeom>
              <a:ln w="25400" cap="flat" cmpd="sng">
                <a:solidFill>
                  <a:schemeClr val="tx1"/>
                </a:solidFill>
                <a:prstDash val="solid"/>
                <a:headEnd type="none" w="med" len="med"/>
                <a:tailEnd type="none" w="med" len="med"/>
              </a:ln>
            </p:spPr>
          </p:sp>
          <p:sp>
            <p:nvSpPr>
              <p:cNvPr id="143378" name="Rectangle 14"/>
              <p:cNvSpPr/>
              <p:nvPr/>
            </p:nvSpPr>
            <p:spPr>
              <a:xfrm>
                <a:off x="4643" y="3635"/>
                <a:ext cx="178" cy="264"/>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43379" name="Rectangle 15"/>
              <p:cNvSpPr/>
              <p:nvPr/>
            </p:nvSpPr>
            <p:spPr>
              <a:xfrm>
                <a:off x="3923" y="2636"/>
                <a:ext cx="930" cy="21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600" b="1" dirty="0">
                    <a:latin typeface="Times New Roman" panose="02020603050405020304" pitchFamily="18" charset="0"/>
                  </a:rPr>
                  <a:t> </a:t>
                </a:r>
                <a:r>
                  <a:rPr lang="en-US" altLang="zh-CN" sz="1800" b="1" dirty="0">
                    <a:solidFill>
                      <a:srgbClr val="0000FF"/>
                    </a:solidFill>
                  </a:rPr>
                  <a:t>Cache Data</a:t>
                </a:r>
                <a:endParaRPr lang="en-US" altLang="zh-CN" sz="1800" b="1" dirty="0">
                  <a:solidFill>
                    <a:srgbClr val="0000FF"/>
                  </a:solidFill>
                </a:endParaRPr>
              </a:p>
            </p:txBody>
          </p:sp>
          <p:sp>
            <p:nvSpPr>
              <p:cNvPr id="143380" name="Rectangle 16"/>
              <p:cNvSpPr/>
              <p:nvPr/>
            </p:nvSpPr>
            <p:spPr>
              <a:xfrm>
                <a:off x="5075" y="2828"/>
                <a:ext cx="330" cy="21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B</a:t>
                </a:r>
                <a:r>
                  <a:rPr lang="en-US" altLang="zh-CN" sz="1600" b="1" dirty="0">
                    <a:latin typeface="Times New Roman" panose="02020603050405020304" pitchFamily="18" charset="0"/>
                  </a:rPr>
                  <a:t> </a:t>
                </a:r>
                <a:r>
                  <a:rPr lang="en-US" altLang="zh-CN" sz="1800" b="1" dirty="0">
                    <a:solidFill>
                      <a:srgbClr val="000000"/>
                    </a:solidFill>
                  </a:rPr>
                  <a:t>0</a:t>
                </a:r>
                <a:endParaRPr lang="en-US" altLang="zh-CN" sz="1800" b="1" dirty="0">
                  <a:solidFill>
                    <a:srgbClr val="000000"/>
                  </a:solidFill>
                </a:endParaRPr>
              </a:p>
            </p:txBody>
          </p:sp>
          <p:sp>
            <p:nvSpPr>
              <p:cNvPr id="143381" name="Rectangle 17"/>
              <p:cNvSpPr/>
              <p:nvPr/>
            </p:nvSpPr>
            <p:spPr>
              <a:xfrm>
                <a:off x="584" y="2224"/>
                <a:ext cx="4688" cy="176"/>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382" name="Rectangle 18"/>
              <p:cNvSpPr/>
              <p:nvPr/>
            </p:nvSpPr>
            <p:spPr>
              <a:xfrm>
                <a:off x="1688" y="2840"/>
                <a:ext cx="1856" cy="1136"/>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383" name="Line 19"/>
              <p:cNvSpPr/>
              <p:nvPr/>
            </p:nvSpPr>
            <p:spPr>
              <a:xfrm flipH="1">
                <a:off x="1672" y="3024"/>
                <a:ext cx="1888" cy="0"/>
              </a:xfrm>
              <a:prstGeom prst="line">
                <a:avLst/>
              </a:prstGeom>
              <a:ln w="25400" cap="flat" cmpd="sng">
                <a:solidFill>
                  <a:schemeClr val="tx1"/>
                </a:solidFill>
                <a:prstDash val="solid"/>
                <a:headEnd type="none" w="med" len="med"/>
                <a:tailEnd type="none" w="med" len="med"/>
              </a:ln>
            </p:spPr>
          </p:sp>
          <p:sp>
            <p:nvSpPr>
              <p:cNvPr id="143384" name="Line 20"/>
              <p:cNvSpPr/>
              <p:nvPr/>
            </p:nvSpPr>
            <p:spPr>
              <a:xfrm flipH="1">
                <a:off x="1672" y="3216"/>
                <a:ext cx="1888" cy="0"/>
              </a:xfrm>
              <a:prstGeom prst="line">
                <a:avLst/>
              </a:prstGeom>
              <a:ln w="25400" cap="flat" cmpd="sng">
                <a:solidFill>
                  <a:schemeClr val="tx1"/>
                </a:solidFill>
                <a:prstDash val="solid"/>
                <a:headEnd type="none" w="med" len="med"/>
                <a:tailEnd type="none" w="med" len="med"/>
              </a:ln>
            </p:spPr>
          </p:sp>
          <p:sp>
            <p:nvSpPr>
              <p:cNvPr id="143385" name="Line 21"/>
              <p:cNvSpPr/>
              <p:nvPr/>
            </p:nvSpPr>
            <p:spPr>
              <a:xfrm flipH="1">
                <a:off x="1672" y="3408"/>
                <a:ext cx="1888" cy="0"/>
              </a:xfrm>
              <a:prstGeom prst="line">
                <a:avLst/>
              </a:prstGeom>
              <a:ln w="25400" cap="flat" cmpd="sng">
                <a:solidFill>
                  <a:schemeClr val="tx1"/>
                </a:solidFill>
                <a:prstDash val="solid"/>
                <a:headEnd type="none" w="med" len="med"/>
                <a:tailEnd type="none" w="med" len="med"/>
              </a:ln>
            </p:spPr>
          </p:sp>
          <p:sp>
            <p:nvSpPr>
              <p:cNvPr id="143386" name="Line 22"/>
              <p:cNvSpPr/>
              <p:nvPr/>
            </p:nvSpPr>
            <p:spPr>
              <a:xfrm flipH="1">
                <a:off x="1672" y="3600"/>
                <a:ext cx="1888" cy="0"/>
              </a:xfrm>
              <a:prstGeom prst="line">
                <a:avLst/>
              </a:prstGeom>
              <a:ln w="25400" cap="flat" cmpd="sng">
                <a:solidFill>
                  <a:schemeClr val="tx1"/>
                </a:solidFill>
                <a:prstDash val="solid"/>
                <a:headEnd type="none" w="med" len="med"/>
                <a:tailEnd type="none" w="med" len="med"/>
              </a:ln>
            </p:spPr>
          </p:sp>
          <p:sp>
            <p:nvSpPr>
              <p:cNvPr id="143387" name="Rectangle 23"/>
              <p:cNvSpPr/>
              <p:nvPr/>
            </p:nvSpPr>
            <p:spPr>
              <a:xfrm>
                <a:off x="2435" y="3635"/>
                <a:ext cx="178" cy="264"/>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43388" name="Rectangle 24"/>
              <p:cNvSpPr/>
              <p:nvPr/>
            </p:nvSpPr>
            <p:spPr>
              <a:xfrm>
                <a:off x="2147" y="2212"/>
                <a:ext cx="1778" cy="21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Cache Tag (27 bits long)</a:t>
                </a:r>
                <a:endParaRPr lang="en-US" altLang="zh-CN" sz="1800" b="1" dirty="0">
                  <a:solidFill>
                    <a:srgbClr val="000000"/>
                  </a:solidFill>
                </a:endParaRPr>
              </a:p>
            </p:txBody>
          </p:sp>
          <p:sp>
            <p:nvSpPr>
              <p:cNvPr id="143389" name="Rectangle 25"/>
              <p:cNvSpPr/>
              <p:nvPr/>
            </p:nvSpPr>
            <p:spPr>
              <a:xfrm>
                <a:off x="3608" y="2840"/>
                <a:ext cx="128" cy="1136"/>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390" name="Rectangle 26"/>
              <p:cNvSpPr/>
              <p:nvPr/>
            </p:nvSpPr>
            <p:spPr>
              <a:xfrm>
                <a:off x="3347" y="2636"/>
                <a:ext cx="410" cy="21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FF"/>
                    </a:solidFill>
                  </a:rPr>
                  <a:t>     V</a:t>
                </a:r>
                <a:endParaRPr lang="en-US" altLang="zh-CN" sz="1800" b="1" dirty="0">
                  <a:solidFill>
                    <a:srgbClr val="0000FF"/>
                  </a:solidFill>
                </a:endParaRPr>
              </a:p>
            </p:txBody>
          </p:sp>
          <p:sp>
            <p:nvSpPr>
              <p:cNvPr id="143391" name="Line 27"/>
              <p:cNvSpPr/>
              <p:nvPr/>
            </p:nvSpPr>
            <p:spPr>
              <a:xfrm flipH="1">
                <a:off x="3592" y="3024"/>
                <a:ext cx="160" cy="0"/>
              </a:xfrm>
              <a:prstGeom prst="line">
                <a:avLst/>
              </a:prstGeom>
              <a:ln w="25400" cap="flat" cmpd="sng">
                <a:solidFill>
                  <a:schemeClr val="tx1"/>
                </a:solidFill>
                <a:prstDash val="solid"/>
                <a:headEnd type="none" w="med" len="med"/>
                <a:tailEnd type="none" w="med" len="med"/>
              </a:ln>
            </p:spPr>
          </p:sp>
          <p:sp>
            <p:nvSpPr>
              <p:cNvPr id="143392" name="Line 28"/>
              <p:cNvSpPr/>
              <p:nvPr/>
            </p:nvSpPr>
            <p:spPr>
              <a:xfrm flipH="1">
                <a:off x="3592" y="3216"/>
                <a:ext cx="160" cy="0"/>
              </a:xfrm>
              <a:prstGeom prst="line">
                <a:avLst/>
              </a:prstGeom>
              <a:ln w="25400" cap="flat" cmpd="sng">
                <a:solidFill>
                  <a:schemeClr val="tx1"/>
                </a:solidFill>
                <a:prstDash val="solid"/>
                <a:headEnd type="none" w="med" len="med"/>
                <a:tailEnd type="none" w="med" len="med"/>
              </a:ln>
            </p:spPr>
          </p:sp>
          <p:sp>
            <p:nvSpPr>
              <p:cNvPr id="143393" name="Line 29"/>
              <p:cNvSpPr/>
              <p:nvPr/>
            </p:nvSpPr>
            <p:spPr>
              <a:xfrm flipH="1">
                <a:off x="3592" y="3408"/>
                <a:ext cx="160" cy="0"/>
              </a:xfrm>
              <a:prstGeom prst="line">
                <a:avLst/>
              </a:prstGeom>
              <a:ln w="25400" cap="flat" cmpd="sng">
                <a:solidFill>
                  <a:schemeClr val="tx1"/>
                </a:solidFill>
                <a:prstDash val="solid"/>
                <a:headEnd type="none" w="med" len="med"/>
                <a:tailEnd type="none" w="med" len="med"/>
              </a:ln>
            </p:spPr>
          </p:sp>
          <p:sp>
            <p:nvSpPr>
              <p:cNvPr id="143394" name="Line 30"/>
              <p:cNvSpPr/>
              <p:nvPr/>
            </p:nvSpPr>
            <p:spPr>
              <a:xfrm flipH="1">
                <a:off x="3592" y="3600"/>
                <a:ext cx="160" cy="0"/>
              </a:xfrm>
              <a:prstGeom prst="line">
                <a:avLst/>
              </a:prstGeom>
              <a:ln w="25400" cap="flat" cmpd="sng">
                <a:solidFill>
                  <a:schemeClr val="tx1"/>
                </a:solidFill>
                <a:prstDash val="solid"/>
                <a:headEnd type="none" w="med" len="med"/>
                <a:tailEnd type="none" w="med" len="med"/>
              </a:ln>
            </p:spPr>
          </p:sp>
          <p:sp>
            <p:nvSpPr>
              <p:cNvPr id="143395" name="Rectangle 31"/>
              <p:cNvSpPr/>
              <p:nvPr/>
            </p:nvSpPr>
            <p:spPr>
              <a:xfrm>
                <a:off x="3587" y="3635"/>
                <a:ext cx="178" cy="264"/>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43396" name="Line 32"/>
              <p:cNvSpPr/>
              <p:nvPr/>
            </p:nvSpPr>
            <p:spPr>
              <a:xfrm>
                <a:off x="5088" y="2840"/>
                <a:ext cx="0" cy="175"/>
              </a:xfrm>
              <a:prstGeom prst="line">
                <a:avLst/>
              </a:prstGeom>
              <a:ln w="25400" cap="flat" cmpd="sng">
                <a:solidFill>
                  <a:schemeClr val="tx1"/>
                </a:solidFill>
                <a:prstDash val="solid"/>
                <a:headEnd type="none" w="med" len="med"/>
                <a:tailEnd type="none" w="med" len="med"/>
              </a:ln>
            </p:spPr>
          </p:sp>
          <p:sp>
            <p:nvSpPr>
              <p:cNvPr id="143397" name="Rectangle 33"/>
              <p:cNvSpPr/>
              <p:nvPr/>
            </p:nvSpPr>
            <p:spPr>
              <a:xfrm>
                <a:off x="4595" y="2828"/>
                <a:ext cx="330" cy="21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B</a:t>
                </a:r>
                <a:r>
                  <a:rPr lang="en-US" altLang="zh-CN" sz="1600" b="1" dirty="0">
                    <a:latin typeface="Times New Roman" panose="02020603050405020304" pitchFamily="18" charset="0"/>
                  </a:rPr>
                  <a:t> </a:t>
                </a:r>
                <a:r>
                  <a:rPr lang="en-US" altLang="zh-CN" sz="1800" b="1" dirty="0">
                    <a:solidFill>
                      <a:srgbClr val="000000"/>
                    </a:solidFill>
                  </a:rPr>
                  <a:t>1</a:t>
                </a:r>
                <a:endParaRPr lang="en-US" altLang="zh-CN" sz="1800" b="1" dirty="0">
                  <a:solidFill>
                    <a:srgbClr val="000000"/>
                  </a:solidFill>
                </a:endParaRPr>
              </a:p>
            </p:txBody>
          </p:sp>
          <p:sp>
            <p:nvSpPr>
              <p:cNvPr id="143398" name="Line 34"/>
              <p:cNvSpPr/>
              <p:nvPr/>
            </p:nvSpPr>
            <p:spPr>
              <a:xfrm>
                <a:off x="4608" y="2840"/>
                <a:ext cx="0" cy="175"/>
              </a:xfrm>
              <a:prstGeom prst="line">
                <a:avLst/>
              </a:prstGeom>
              <a:ln w="25400" cap="flat" cmpd="sng">
                <a:solidFill>
                  <a:schemeClr val="tx1"/>
                </a:solidFill>
                <a:prstDash val="solid"/>
                <a:headEnd type="none" w="med" len="med"/>
                <a:tailEnd type="none" w="med" len="med"/>
              </a:ln>
            </p:spPr>
          </p:sp>
          <p:sp>
            <p:nvSpPr>
              <p:cNvPr id="143399" name="Rectangle 35"/>
              <p:cNvSpPr/>
              <p:nvPr/>
            </p:nvSpPr>
            <p:spPr>
              <a:xfrm>
                <a:off x="3779" y="2828"/>
                <a:ext cx="410" cy="21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B</a:t>
                </a:r>
                <a:r>
                  <a:rPr lang="en-US" altLang="zh-CN" sz="1600" b="1" dirty="0">
                    <a:latin typeface="Times New Roman" panose="02020603050405020304" pitchFamily="18" charset="0"/>
                  </a:rPr>
                  <a:t> </a:t>
                </a:r>
                <a:r>
                  <a:rPr lang="en-US" altLang="zh-CN" sz="1800" b="1" dirty="0">
                    <a:solidFill>
                      <a:srgbClr val="000000"/>
                    </a:solidFill>
                  </a:rPr>
                  <a:t>31</a:t>
                </a:r>
                <a:endParaRPr lang="en-US" altLang="zh-CN" sz="1800" b="1" dirty="0">
                  <a:solidFill>
                    <a:srgbClr val="000000"/>
                  </a:solidFill>
                </a:endParaRPr>
              </a:p>
            </p:txBody>
          </p:sp>
          <p:sp>
            <p:nvSpPr>
              <p:cNvPr id="143400" name="Line 36"/>
              <p:cNvSpPr/>
              <p:nvPr/>
            </p:nvSpPr>
            <p:spPr>
              <a:xfrm>
                <a:off x="4272" y="2840"/>
                <a:ext cx="0" cy="175"/>
              </a:xfrm>
              <a:prstGeom prst="line">
                <a:avLst/>
              </a:prstGeom>
              <a:ln w="25400" cap="flat" cmpd="sng">
                <a:solidFill>
                  <a:schemeClr val="tx1"/>
                </a:solidFill>
                <a:prstDash val="solid"/>
                <a:headEnd type="none" w="med" len="med"/>
                <a:tailEnd type="none" w="med" len="med"/>
              </a:ln>
            </p:spPr>
          </p:sp>
          <p:sp>
            <p:nvSpPr>
              <p:cNvPr id="143401" name="Rectangle 37"/>
              <p:cNvSpPr/>
              <p:nvPr/>
            </p:nvSpPr>
            <p:spPr>
              <a:xfrm rot="-5400000">
                <a:off x="4365" y="2781"/>
                <a:ext cx="164" cy="286"/>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43402" name="Rectangle 38"/>
              <p:cNvSpPr/>
              <p:nvPr/>
            </p:nvSpPr>
            <p:spPr>
              <a:xfrm>
                <a:off x="5075" y="3020"/>
                <a:ext cx="410" cy="21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B</a:t>
                </a:r>
                <a:r>
                  <a:rPr lang="en-US" altLang="zh-CN" sz="1600" b="1" dirty="0">
                    <a:latin typeface="Times New Roman" panose="02020603050405020304" pitchFamily="18" charset="0"/>
                  </a:rPr>
                  <a:t> </a:t>
                </a:r>
                <a:r>
                  <a:rPr lang="en-US" altLang="zh-CN" sz="1800" b="1" dirty="0">
                    <a:solidFill>
                      <a:srgbClr val="000000"/>
                    </a:solidFill>
                  </a:rPr>
                  <a:t>32</a:t>
                </a:r>
                <a:endParaRPr lang="en-US" altLang="zh-CN" sz="1800" b="1" dirty="0">
                  <a:solidFill>
                    <a:srgbClr val="000000"/>
                  </a:solidFill>
                </a:endParaRPr>
              </a:p>
            </p:txBody>
          </p:sp>
          <p:sp>
            <p:nvSpPr>
              <p:cNvPr id="143403" name="Line 39"/>
              <p:cNvSpPr/>
              <p:nvPr/>
            </p:nvSpPr>
            <p:spPr>
              <a:xfrm>
                <a:off x="5088" y="3032"/>
                <a:ext cx="0" cy="175"/>
              </a:xfrm>
              <a:prstGeom prst="line">
                <a:avLst/>
              </a:prstGeom>
              <a:ln w="25400" cap="flat" cmpd="sng">
                <a:solidFill>
                  <a:schemeClr val="tx1"/>
                </a:solidFill>
                <a:prstDash val="solid"/>
                <a:headEnd type="none" w="med" len="med"/>
                <a:tailEnd type="none" w="med" len="med"/>
              </a:ln>
            </p:spPr>
          </p:sp>
          <p:sp>
            <p:nvSpPr>
              <p:cNvPr id="143404" name="Rectangle 40"/>
              <p:cNvSpPr/>
              <p:nvPr/>
            </p:nvSpPr>
            <p:spPr>
              <a:xfrm>
                <a:off x="4595" y="3020"/>
                <a:ext cx="378" cy="21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B33</a:t>
                </a:r>
                <a:endParaRPr lang="en-US" altLang="zh-CN" sz="1800" b="1" dirty="0">
                  <a:solidFill>
                    <a:srgbClr val="000000"/>
                  </a:solidFill>
                </a:endParaRPr>
              </a:p>
            </p:txBody>
          </p:sp>
          <p:sp>
            <p:nvSpPr>
              <p:cNvPr id="143405" name="Line 41"/>
              <p:cNvSpPr/>
              <p:nvPr/>
            </p:nvSpPr>
            <p:spPr>
              <a:xfrm>
                <a:off x="4608" y="3032"/>
                <a:ext cx="0" cy="175"/>
              </a:xfrm>
              <a:prstGeom prst="line">
                <a:avLst/>
              </a:prstGeom>
              <a:ln w="25400" cap="flat" cmpd="sng">
                <a:solidFill>
                  <a:schemeClr val="tx1"/>
                </a:solidFill>
                <a:prstDash val="solid"/>
                <a:headEnd type="none" w="med" len="med"/>
                <a:tailEnd type="none" w="med" len="med"/>
              </a:ln>
            </p:spPr>
          </p:sp>
          <p:sp>
            <p:nvSpPr>
              <p:cNvPr id="143406" name="Rectangle 42"/>
              <p:cNvSpPr/>
              <p:nvPr/>
            </p:nvSpPr>
            <p:spPr>
              <a:xfrm>
                <a:off x="3779" y="3020"/>
                <a:ext cx="418" cy="21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B 63</a:t>
                </a:r>
                <a:endParaRPr lang="en-US" altLang="zh-CN" sz="1800" b="1" dirty="0">
                  <a:solidFill>
                    <a:srgbClr val="000000"/>
                  </a:solidFill>
                </a:endParaRPr>
              </a:p>
            </p:txBody>
          </p:sp>
          <p:sp>
            <p:nvSpPr>
              <p:cNvPr id="143407" name="Line 43"/>
              <p:cNvSpPr/>
              <p:nvPr/>
            </p:nvSpPr>
            <p:spPr>
              <a:xfrm>
                <a:off x="4272" y="3032"/>
                <a:ext cx="0" cy="175"/>
              </a:xfrm>
              <a:prstGeom prst="line">
                <a:avLst/>
              </a:prstGeom>
              <a:ln w="25400" cap="flat" cmpd="sng">
                <a:solidFill>
                  <a:schemeClr val="tx1"/>
                </a:solidFill>
                <a:prstDash val="solid"/>
                <a:headEnd type="none" w="med" len="med"/>
                <a:tailEnd type="none" w="med" len="med"/>
              </a:ln>
            </p:spPr>
          </p:sp>
          <p:sp>
            <p:nvSpPr>
              <p:cNvPr id="143408" name="Rectangle 44"/>
              <p:cNvSpPr/>
              <p:nvPr/>
            </p:nvSpPr>
            <p:spPr>
              <a:xfrm rot="-5400000">
                <a:off x="4365" y="2972"/>
                <a:ext cx="164" cy="286"/>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43409" name="Rectangle 45"/>
              <p:cNvSpPr/>
              <p:nvPr/>
            </p:nvSpPr>
            <p:spPr>
              <a:xfrm>
                <a:off x="1667" y="2636"/>
                <a:ext cx="874" cy="21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600" b="1" dirty="0">
                    <a:latin typeface="Times New Roman" panose="02020603050405020304" pitchFamily="18" charset="0"/>
                  </a:rPr>
                  <a:t> </a:t>
                </a:r>
                <a:r>
                  <a:rPr lang="en-US" altLang="zh-CN" sz="1800" b="1" dirty="0">
                    <a:solidFill>
                      <a:srgbClr val="0000FF"/>
                    </a:solidFill>
                  </a:rPr>
                  <a:t>Cache Tag</a:t>
                </a:r>
                <a:endParaRPr lang="en-US" altLang="zh-CN" sz="1800" b="1" dirty="0">
                  <a:solidFill>
                    <a:srgbClr val="0000FF"/>
                  </a:solidFill>
                </a:endParaRPr>
              </a:p>
            </p:txBody>
          </p:sp>
          <p:sp>
            <p:nvSpPr>
              <p:cNvPr id="143410" name="Line 46"/>
              <p:cNvSpPr/>
              <p:nvPr/>
            </p:nvSpPr>
            <p:spPr>
              <a:xfrm>
                <a:off x="4368" y="2224"/>
                <a:ext cx="0" cy="176"/>
              </a:xfrm>
              <a:prstGeom prst="line">
                <a:avLst/>
              </a:prstGeom>
              <a:ln w="25400" cap="flat" cmpd="sng">
                <a:solidFill>
                  <a:schemeClr val="tx1"/>
                </a:solidFill>
                <a:prstDash val="solid"/>
                <a:headEnd type="none" w="med" len="med"/>
                <a:tailEnd type="none" w="med" len="med"/>
              </a:ln>
            </p:spPr>
          </p:sp>
          <p:sp>
            <p:nvSpPr>
              <p:cNvPr id="143411" name="Rectangle 47"/>
              <p:cNvSpPr/>
              <p:nvPr/>
            </p:nvSpPr>
            <p:spPr>
              <a:xfrm>
                <a:off x="4403" y="2212"/>
                <a:ext cx="882" cy="212"/>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Byte</a:t>
                </a:r>
                <a:r>
                  <a:rPr lang="en-US" altLang="zh-CN" sz="1600" b="1" dirty="0">
                    <a:latin typeface="Times New Roman" panose="02020603050405020304" pitchFamily="18" charset="0"/>
                  </a:rPr>
                  <a:t> </a:t>
                </a:r>
                <a:r>
                  <a:rPr lang="en-US" altLang="zh-CN" sz="1800" b="1" dirty="0">
                    <a:solidFill>
                      <a:srgbClr val="000000"/>
                    </a:solidFill>
                  </a:rPr>
                  <a:t>Select</a:t>
                </a:r>
                <a:endParaRPr lang="en-US" altLang="zh-CN" sz="1800" b="1" dirty="0">
                  <a:solidFill>
                    <a:srgbClr val="000000"/>
                  </a:solidFill>
                </a:endParaRPr>
              </a:p>
            </p:txBody>
          </p:sp>
          <p:sp>
            <p:nvSpPr>
              <p:cNvPr id="143412" name="Rectangle 48"/>
              <p:cNvSpPr/>
              <p:nvPr/>
            </p:nvSpPr>
            <p:spPr>
              <a:xfrm>
                <a:off x="4499" y="2404"/>
                <a:ext cx="763" cy="229"/>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CC0000"/>
                    </a:solidFill>
                  </a:rPr>
                  <a:t>Ex: 0x01</a:t>
                </a:r>
                <a:endParaRPr lang="en-US" altLang="zh-CN" sz="2000" b="1" dirty="0">
                  <a:solidFill>
                    <a:srgbClr val="CC0000"/>
                  </a:solidFill>
                </a:endParaRPr>
              </a:p>
            </p:txBody>
          </p:sp>
          <p:sp>
            <p:nvSpPr>
              <p:cNvPr id="143413" name="Oval 49"/>
              <p:cNvSpPr/>
              <p:nvPr/>
            </p:nvSpPr>
            <p:spPr>
              <a:xfrm>
                <a:off x="1256" y="2840"/>
                <a:ext cx="176" cy="175"/>
              </a:xfrm>
              <a:prstGeom prst="ellipse">
                <a:avLst/>
              </a:prstGeom>
              <a:noFill/>
              <a:ln w="254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414" name="Rectangle 50"/>
              <p:cNvSpPr/>
              <p:nvPr/>
            </p:nvSpPr>
            <p:spPr>
              <a:xfrm>
                <a:off x="1264" y="2829"/>
                <a:ext cx="207" cy="229"/>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a:t>
                </a:r>
                <a:endParaRPr lang="en-US" altLang="zh-CN" sz="2000" b="1" dirty="0"/>
              </a:p>
            </p:txBody>
          </p:sp>
          <p:sp>
            <p:nvSpPr>
              <p:cNvPr id="143415" name="Line 51"/>
              <p:cNvSpPr/>
              <p:nvPr/>
            </p:nvSpPr>
            <p:spPr>
              <a:xfrm flipH="1">
                <a:off x="1432" y="2928"/>
                <a:ext cx="256" cy="0"/>
              </a:xfrm>
              <a:prstGeom prst="line">
                <a:avLst/>
              </a:prstGeom>
              <a:ln w="25400" cap="flat" cmpd="sng">
                <a:solidFill>
                  <a:schemeClr val="tx1"/>
                </a:solidFill>
                <a:prstDash val="solid"/>
                <a:headEnd type="none" w="med" len="med"/>
                <a:tailEnd type="triangle" w="med" len="med"/>
              </a:ln>
            </p:spPr>
          </p:sp>
          <p:sp>
            <p:nvSpPr>
              <p:cNvPr id="143416" name="Oval 52"/>
              <p:cNvSpPr/>
              <p:nvPr/>
            </p:nvSpPr>
            <p:spPr>
              <a:xfrm>
                <a:off x="1256" y="3224"/>
                <a:ext cx="176" cy="175"/>
              </a:xfrm>
              <a:prstGeom prst="ellipse">
                <a:avLst/>
              </a:prstGeom>
              <a:noFill/>
              <a:ln w="254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417" name="Rectangle 53"/>
              <p:cNvSpPr/>
              <p:nvPr/>
            </p:nvSpPr>
            <p:spPr>
              <a:xfrm>
                <a:off x="1247" y="3212"/>
                <a:ext cx="207" cy="230"/>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a:t>
                </a:r>
                <a:endParaRPr lang="en-US" altLang="zh-CN" sz="2000" b="1" dirty="0"/>
              </a:p>
            </p:txBody>
          </p:sp>
          <p:sp>
            <p:nvSpPr>
              <p:cNvPr id="143418" name="Line 54"/>
              <p:cNvSpPr/>
              <p:nvPr/>
            </p:nvSpPr>
            <p:spPr>
              <a:xfrm flipH="1">
                <a:off x="1432" y="3312"/>
                <a:ext cx="256" cy="0"/>
              </a:xfrm>
              <a:prstGeom prst="line">
                <a:avLst/>
              </a:prstGeom>
              <a:ln w="25400" cap="flat" cmpd="sng">
                <a:solidFill>
                  <a:schemeClr val="tx1"/>
                </a:solidFill>
                <a:prstDash val="solid"/>
                <a:headEnd type="none" w="med" len="med"/>
                <a:tailEnd type="triangle" w="med" len="med"/>
              </a:ln>
            </p:spPr>
          </p:sp>
          <p:sp>
            <p:nvSpPr>
              <p:cNvPr id="143419" name="Oval 55"/>
              <p:cNvSpPr/>
              <p:nvPr/>
            </p:nvSpPr>
            <p:spPr>
              <a:xfrm>
                <a:off x="1016" y="3032"/>
                <a:ext cx="176" cy="175"/>
              </a:xfrm>
              <a:prstGeom prst="ellipse">
                <a:avLst/>
              </a:prstGeom>
              <a:noFill/>
              <a:ln w="254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420" name="Rectangle 56"/>
              <p:cNvSpPr/>
              <p:nvPr/>
            </p:nvSpPr>
            <p:spPr>
              <a:xfrm>
                <a:off x="1020" y="3020"/>
                <a:ext cx="207" cy="229"/>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a:t>
                </a:r>
                <a:endParaRPr lang="en-US" altLang="zh-CN" sz="2000" b="1" dirty="0"/>
              </a:p>
            </p:txBody>
          </p:sp>
          <p:sp>
            <p:nvSpPr>
              <p:cNvPr id="143421" name="Line 57"/>
              <p:cNvSpPr/>
              <p:nvPr/>
            </p:nvSpPr>
            <p:spPr>
              <a:xfrm flipH="1">
                <a:off x="1192" y="3120"/>
                <a:ext cx="496" cy="0"/>
              </a:xfrm>
              <a:prstGeom prst="line">
                <a:avLst/>
              </a:prstGeom>
              <a:ln w="25400" cap="flat" cmpd="sng">
                <a:solidFill>
                  <a:schemeClr val="tx1"/>
                </a:solidFill>
                <a:prstDash val="solid"/>
                <a:headEnd type="none" w="med" len="med"/>
                <a:tailEnd type="triangle" w="med" len="med"/>
              </a:ln>
            </p:spPr>
          </p:sp>
          <p:sp>
            <p:nvSpPr>
              <p:cNvPr id="143422" name="Oval 58"/>
              <p:cNvSpPr/>
              <p:nvPr/>
            </p:nvSpPr>
            <p:spPr>
              <a:xfrm>
                <a:off x="1016" y="3416"/>
                <a:ext cx="176" cy="176"/>
              </a:xfrm>
              <a:prstGeom prst="ellipse">
                <a:avLst/>
              </a:prstGeom>
              <a:noFill/>
              <a:ln w="254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423" name="Line 59"/>
              <p:cNvSpPr/>
              <p:nvPr/>
            </p:nvSpPr>
            <p:spPr>
              <a:xfrm flipH="1">
                <a:off x="1192" y="3504"/>
                <a:ext cx="496" cy="0"/>
              </a:xfrm>
              <a:prstGeom prst="line">
                <a:avLst/>
              </a:prstGeom>
              <a:ln w="25400" cap="flat" cmpd="sng">
                <a:solidFill>
                  <a:schemeClr val="tx1"/>
                </a:solidFill>
                <a:prstDash val="solid"/>
                <a:headEnd type="none" w="med" len="med"/>
                <a:tailEnd type="triangle" w="med" len="med"/>
              </a:ln>
            </p:spPr>
          </p:sp>
          <p:sp>
            <p:nvSpPr>
              <p:cNvPr id="143424" name="Rectangle 60"/>
              <p:cNvSpPr/>
              <p:nvPr/>
            </p:nvSpPr>
            <p:spPr>
              <a:xfrm>
                <a:off x="1020" y="3404"/>
                <a:ext cx="207" cy="229"/>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a:t>
                </a:r>
                <a:endParaRPr lang="en-US" altLang="zh-CN" sz="2000" b="1" dirty="0"/>
              </a:p>
            </p:txBody>
          </p:sp>
          <p:sp>
            <p:nvSpPr>
              <p:cNvPr id="143425" name="Line 61"/>
              <p:cNvSpPr/>
              <p:nvPr/>
            </p:nvSpPr>
            <p:spPr>
              <a:xfrm>
                <a:off x="672" y="2404"/>
                <a:ext cx="0" cy="1476"/>
              </a:xfrm>
              <a:prstGeom prst="line">
                <a:avLst/>
              </a:prstGeom>
              <a:ln w="25400" cap="flat" cmpd="sng">
                <a:solidFill>
                  <a:schemeClr val="tx1"/>
                </a:solidFill>
                <a:prstDash val="solid"/>
                <a:headEnd type="none" w="med" len="med"/>
                <a:tailEnd type="none" w="med" len="med"/>
              </a:ln>
            </p:spPr>
          </p:sp>
          <p:sp>
            <p:nvSpPr>
              <p:cNvPr id="143426" name="Line 62"/>
              <p:cNvSpPr/>
              <p:nvPr/>
            </p:nvSpPr>
            <p:spPr>
              <a:xfrm>
                <a:off x="680" y="3504"/>
                <a:ext cx="320" cy="0"/>
              </a:xfrm>
              <a:prstGeom prst="line">
                <a:avLst/>
              </a:prstGeom>
              <a:ln w="25400" cap="flat" cmpd="sng">
                <a:solidFill>
                  <a:schemeClr val="tx1"/>
                </a:solidFill>
                <a:prstDash val="solid"/>
                <a:headEnd type="none" w="med" len="med"/>
                <a:tailEnd type="triangle" w="med" len="med"/>
              </a:ln>
            </p:spPr>
          </p:sp>
          <p:sp>
            <p:nvSpPr>
              <p:cNvPr id="143427" name="Line 63"/>
              <p:cNvSpPr/>
              <p:nvPr/>
            </p:nvSpPr>
            <p:spPr>
              <a:xfrm>
                <a:off x="680" y="3120"/>
                <a:ext cx="320" cy="0"/>
              </a:xfrm>
              <a:prstGeom prst="line">
                <a:avLst/>
              </a:prstGeom>
              <a:ln w="25400" cap="flat" cmpd="sng">
                <a:solidFill>
                  <a:schemeClr val="tx1"/>
                </a:solidFill>
                <a:prstDash val="solid"/>
                <a:headEnd type="none" w="med" len="med"/>
                <a:tailEnd type="triangle" w="med" len="med"/>
              </a:ln>
            </p:spPr>
          </p:sp>
          <p:sp>
            <p:nvSpPr>
              <p:cNvPr id="143428" name="Line 64"/>
              <p:cNvSpPr/>
              <p:nvPr/>
            </p:nvSpPr>
            <p:spPr>
              <a:xfrm>
                <a:off x="680" y="3312"/>
                <a:ext cx="560" cy="0"/>
              </a:xfrm>
              <a:prstGeom prst="line">
                <a:avLst/>
              </a:prstGeom>
              <a:ln w="25400" cap="flat" cmpd="sng">
                <a:solidFill>
                  <a:schemeClr val="tx1"/>
                </a:solidFill>
                <a:prstDash val="solid"/>
                <a:headEnd type="none" w="med" len="med"/>
                <a:tailEnd type="triangle" w="med" len="med"/>
              </a:ln>
            </p:spPr>
          </p:sp>
          <p:sp>
            <p:nvSpPr>
              <p:cNvPr id="143429" name="Line 65"/>
              <p:cNvSpPr/>
              <p:nvPr/>
            </p:nvSpPr>
            <p:spPr>
              <a:xfrm>
                <a:off x="680" y="2928"/>
                <a:ext cx="560" cy="0"/>
              </a:xfrm>
              <a:prstGeom prst="line">
                <a:avLst/>
              </a:prstGeom>
              <a:ln w="25400" cap="flat" cmpd="sng">
                <a:solidFill>
                  <a:schemeClr val="tx1"/>
                </a:solidFill>
                <a:prstDash val="solid"/>
                <a:headEnd type="none" w="med" len="med"/>
                <a:tailEnd type="triangle" w="med" len="med"/>
              </a:ln>
            </p:spPr>
          </p:sp>
          <p:sp>
            <p:nvSpPr>
              <p:cNvPr id="143430" name="Oval 66"/>
              <p:cNvSpPr/>
              <p:nvPr/>
            </p:nvSpPr>
            <p:spPr>
              <a:xfrm>
                <a:off x="1016" y="3800"/>
                <a:ext cx="176" cy="176"/>
              </a:xfrm>
              <a:prstGeom prst="ellipse">
                <a:avLst/>
              </a:prstGeom>
              <a:noFill/>
              <a:ln w="254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3431" name="Line 67"/>
              <p:cNvSpPr/>
              <p:nvPr/>
            </p:nvSpPr>
            <p:spPr>
              <a:xfrm flipH="1">
                <a:off x="1192" y="3888"/>
                <a:ext cx="496" cy="0"/>
              </a:xfrm>
              <a:prstGeom prst="line">
                <a:avLst/>
              </a:prstGeom>
              <a:ln w="25400" cap="flat" cmpd="sng">
                <a:solidFill>
                  <a:schemeClr val="tx1"/>
                </a:solidFill>
                <a:prstDash val="solid"/>
                <a:headEnd type="none" w="med" len="med"/>
                <a:tailEnd type="triangle" w="med" len="med"/>
              </a:ln>
            </p:spPr>
          </p:sp>
          <p:sp>
            <p:nvSpPr>
              <p:cNvPr id="143432" name="Rectangle 68"/>
              <p:cNvSpPr/>
              <p:nvPr/>
            </p:nvSpPr>
            <p:spPr>
              <a:xfrm>
                <a:off x="1020" y="3788"/>
                <a:ext cx="207" cy="229"/>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a:t>
                </a:r>
                <a:endParaRPr lang="en-US" altLang="zh-CN" sz="2000" b="1" dirty="0"/>
              </a:p>
            </p:txBody>
          </p:sp>
          <p:sp>
            <p:nvSpPr>
              <p:cNvPr id="143433" name="Line 69"/>
              <p:cNvSpPr/>
              <p:nvPr/>
            </p:nvSpPr>
            <p:spPr>
              <a:xfrm>
                <a:off x="680" y="3888"/>
                <a:ext cx="320" cy="0"/>
              </a:xfrm>
              <a:prstGeom prst="line">
                <a:avLst/>
              </a:prstGeom>
              <a:ln w="25400" cap="flat" cmpd="sng">
                <a:solidFill>
                  <a:schemeClr val="tx1"/>
                </a:solidFill>
                <a:prstDash val="solid"/>
                <a:headEnd type="none" w="med" len="med"/>
                <a:tailEnd type="triangle" w="med" len="med"/>
              </a:ln>
            </p:spPr>
          </p:sp>
          <p:sp>
            <p:nvSpPr>
              <p:cNvPr id="143434" name="Line 70"/>
              <p:cNvSpPr/>
              <p:nvPr/>
            </p:nvSpPr>
            <p:spPr>
              <a:xfrm>
                <a:off x="4848" y="2614"/>
                <a:ext cx="0" cy="211"/>
              </a:xfrm>
              <a:prstGeom prst="line">
                <a:avLst/>
              </a:prstGeom>
              <a:ln w="38100" cap="flat" cmpd="sng">
                <a:solidFill>
                  <a:schemeClr val="tx1"/>
                </a:solidFill>
                <a:prstDash val="solid"/>
                <a:headEnd type="none" w="med" len="med"/>
                <a:tailEnd type="triangle" w="med" len="med"/>
              </a:ln>
            </p:spPr>
          </p:sp>
          <p:sp>
            <p:nvSpPr>
              <p:cNvPr id="143435" name="Rectangle 71"/>
              <p:cNvSpPr/>
              <p:nvPr/>
            </p:nvSpPr>
            <p:spPr>
              <a:xfrm>
                <a:off x="1323" y="3587"/>
                <a:ext cx="178" cy="263"/>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grpSp>
      </p:grpSp>
      <p:sp>
        <p:nvSpPr>
          <p:cNvPr id="143365" name="Text Box 72"/>
          <p:cNvSpPr txBox="1"/>
          <p:nvPr/>
        </p:nvSpPr>
        <p:spPr>
          <a:xfrm>
            <a:off x="1016000" y="2786063"/>
            <a:ext cx="3195638" cy="3048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FF0000"/>
                </a:solidFill>
                <a:ea typeface="黑体" panose="02010609060101010101" pitchFamily="49" charset="-122"/>
              </a:rPr>
              <a:t>问题：需要多少个比较器？</a:t>
            </a:r>
            <a:endParaRPr lang="zh-CN" altLang="en-US" sz="2000" b="1" dirty="0">
              <a:solidFill>
                <a:srgbClr val="FF0000"/>
              </a:solidFill>
              <a:ea typeface="黑体" panose="02010609060101010101" pitchFamily="49" charset="-122"/>
            </a:endParaRPr>
          </a:p>
        </p:txBody>
      </p:sp>
      <p:sp>
        <p:nvSpPr>
          <p:cNvPr id="143366" name="Text Box 73"/>
          <p:cNvSpPr txBox="1"/>
          <p:nvPr/>
        </p:nvSpPr>
        <p:spPr>
          <a:xfrm>
            <a:off x="4030663" y="2786063"/>
            <a:ext cx="2114550" cy="274637"/>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0000FF"/>
                </a:solidFill>
                <a:ea typeface="黑体" panose="02010609060101010101" pitchFamily="49" charset="-122"/>
              </a:rPr>
              <a:t>每行一个比较器！</a:t>
            </a:r>
            <a:endParaRPr lang="zh-CN" altLang="en-US" sz="1800" b="1" dirty="0">
              <a:solidFill>
                <a:srgbClr val="0000FF"/>
              </a:solidFill>
              <a:ea typeface="黑体" panose="02010609060101010101" pitchFamily="49" charset="-122"/>
            </a:endParaRPr>
          </a:p>
        </p:txBody>
      </p:sp>
      <p:sp>
        <p:nvSpPr>
          <p:cNvPr id="74" name="Rectangle 3"/>
          <p:cNvSpPr/>
          <p:nvPr/>
        </p:nvSpPr>
        <p:spPr>
          <a:xfrm>
            <a:off x="206375" y="5775325"/>
            <a:ext cx="6996113" cy="1182688"/>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spcBef>
                <a:spcPct val="0"/>
              </a:spcBef>
              <a:buClr>
                <a:schemeClr val="tx2"/>
              </a:buClr>
              <a:buSzPct val="70000"/>
              <a:buNone/>
            </a:pPr>
            <a:r>
              <a:rPr lang="en-US" altLang="zh-CN" sz="2000" dirty="0">
                <a:solidFill>
                  <a:srgbClr val="CC0000"/>
                </a:solidFill>
                <a:latin typeface="黑体" panose="02010609060101010101" pitchFamily="49" charset="-122"/>
                <a:cs typeface="Arial" panose="020B0604020202020204" pitchFamily="34" charset="0"/>
              </a:rPr>
              <a:t>Cache</a:t>
            </a:r>
            <a:r>
              <a:rPr lang="zh-CN" altLang="en-US" sz="2000" dirty="0">
                <a:solidFill>
                  <a:srgbClr val="CC0000"/>
                </a:solidFill>
                <a:latin typeface="黑体" panose="02010609060101010101" pitchFamily="49" charset="-122"/>
                <a:ea typeface="黑体" panose="02010609060101010101" pitchFamily="49" charset="-122"/>
              </a:rPr>
              <a:t>标记位数增加，比较逻辑成本随之增加。</a:t>
            </a:r>
            <a:endParaRPr lang="zh-CN" altLang="en-US" sz="2000" dirty="0">
              <a:solidFill>
                <a:srgbClr val="CC0000"/>
              </a:solidFill>
              <a:latin typeface="黑体" panose="02010609060101010101" pitchFamily="49" charset="-122"/>
              <a:ea typeface="黑体" panose="02010609060101010101" pitchFamily="49" charset="-122"/>
            </a:endParaRPr>
          </a:p>
        </p:txBody>
      </p:sp>
      <p:sp>
        <p:nvSpPr>
          <p:cNvPr id="75" name="Text Box 4"/>
          <p:cNvSpPr txBox="1"/>
          <p:nvPr/>
        </p:nvSpPr>
        <p:spPr>
          <a:xfrm>
            <a:off x="7407275" y="5954713"/>
            <a:ext cx="1349375" cy="6096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FF"/>
                </a:solidFill>
                <a:ea typeface="黑体" panose="02010609060101010101" pitchFamily="49" charset="-122"/>
              </a:rPr>
              <a:t>不适合大容量</a:t>
            </a:r>
            <a:r>
              <a:rPr lang="en-US" altLang="zh-CN" sz="2000" b="1" dirty="0">
                <a:solidFill>
                  <a:srgbClr val="0000FF"/>
                </a:solidFill>
                <a:ea typeface="黑体" panose="02010609060101010101" pitchFamily="49" charset="-122"/>
              </a:rPr>
              <a:t>cache</a:t>
            </a:r>
            <a:r>
              <a:rPr lang="zh-CN" altLang="en-US" sz="2000" b="1" dirty="0">
                <a:solidFill>
                  <a:srgbClr val="0000FF"/>
                </a:solidFill>
                <a:ea typeface="黑体" panose="02010609060101010101" pitchFamily="49" charset="-122"/>
              </a:rPr>
              <a:t>！</a:t>
            </a:r>
            <a:endParaRPr lang="zh-CN" altLang="en-US" sz="2000" b="1" dirty="0">
              <a:solidFill>
                <a:srgbClr val="0000FF"/>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
                                            <p:txEl>
                                              <p:charRg st="0" end="24"/>
                                            </p:txEl>
                                          </p:spTgt>
                                        </p:tgtEl>
                                        <p:attrNameLst>
                                          <p:attrName>style.visibility</p:attrName>
                                        </p:attrNameLst>
                                      </p:cBhvr>
                                      <p:to>
                                        <p:strVal val="visible"/>
                                      </p:to>
                                    </p:set>
                                    <p:animEffect transition="in" filter="blinds(horizontal)">
                                      <p:cBhvr>
                                        <p:cTn id="7" dur="500"/>
                                        <p:tgtEl>
                                          <p:spTgt spid="74">
                                            <p:txEl>
                                              <p:charRg st="0"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blinds(horizontal)">
                                      <p:cBhvr>
                                        <p:cTn id="12"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6" name="Rectangle 2"/>
          <p:cNvSpPr>
            <a:spLocks noGrp="1"/>
          </p:cNvSpPr>
          <p:nvPr>
            <p:ph type="title"/>
          </p:nvPr>
        </p:nvSpPr>
        <p:spPr>
          <a:xfrm>
            <a:off x="225425" y="306388"/>
            <a:ext cx="8740775" cy="466725"/>
          </a:xfrm>
        </p:spPr>
        <p:txBody>
          <a:bodyPr vert="horz" wrap="square" lIns="91440" tIns="45720" rIns="91440" bIns="45720" anchor="ctr" anchorCtr="0"/>
          <a:p>
            <a:r>
              <a:rPr lang="en-US" altLang="zh-CN" sz="2600" dirty="0"/>
              <a:t>The Simplest Cache: </a:t>
            </a:r>
            <a:r>
              <a:rPr lang="en-US" altLang="zh-CN" sz="2600" dirty="0">
                <a:solidFill>
                  <a:srgbClr val="CC0000"/>
                </a:solidFill>
              </a:rPr>
              <a:t>Direct  Mapped Cache</a:t>
            </a:r>
            <a:endParaRPr lang="en-US" altLang="zh-CN" sz="2600" dirty="0">
              <a:solidFill>
                <a:srgbClr val="CC0000"/>
              </a:solidFill>
            </a:endParaRPr>
          </a:p>
        </p:txBody>
      </p:sp>
      <p:sp>
        <p:nvSpPr>
          <p:cNvPr id="144387" name="Rectangle 3"/>
          <p:cNvSpPr>
            <a:spLocks noGrp="1"/>
          </p:cNvSpPr>
          <p:nvPr>
            <p:ph idx="1"/>
          </p:nvPr>
        </p:nvSpPr>
        <p:spPr>
          <a:xfrm>
            <a:off x="250825" y="908050"/>
            <a:ext cx="8674100" cy="3286125"/>
          </a:xfrm>
        </p:spPr>
        <p:txBody>
          <a:bodyPr vert="horz" wrap="square" lIns="91440" tIns="45720" rIns="91440" bIns="45720" anchor="t" anchorCtr="0"/>
          <a:p>
            <a:r>
              <a:rPr lang="en-US" altLang="zh-CN" sz="2200" dirty="0">
                <a:solidFill>
                  <a:srgbClr val="CC0000"/>
                </a:solidFill>
                <a:ea typeface="黑体" panose="02010609060101010101" pitchFamily="49" charset="-122"/>
              </a:rPr>
              <a:t>Direct  Mapped Cache</a:t>
            </a:r>
            <a:r>
              <a:rPr lang="zh-CN" altLang="en-US" sz="2200" dirty="0">
                <a:ea typeface="黑体" panose="02010609060101010101" pitchFamily="49" charset="-122"/>
              </a:rPr>
              <a:t>（</a:t>
            </a:r>
            <a:r>
              <a:rPr lang="zh-CN" altLang="en-US" sz="2200" dirty="0">
                <a:ea typeface="黑体" panose="02010609060101010101" pitchFamily="49" charset="-122"/>
                <a:hlinkClick r:id="" action="ppaction://hlinkshowjump?jump=nextslide"/>
              </a:rPr>
              <a:t>直接映射</a:t>
            </a:r>
            <a:r>
              <a:rPr lang="en-US" altLang="zh-CN" sz="2200" dirty="0">
                <a:cs typeface="Arial" panose="020B0604020202020204" pitchFamily="34" charset="0"/>
                <a:hlinkClick r:id="" action="ppaction://hlinkshowjump?jump=nextslide"/>
              </a:rPr>
              <a:t>Cache</a:t>
            </a:r>
            <a:r>
              <a:rPr lang="en-US" altLang="zh-CN" sz="2200" dirty="0">
                <a:cs typeface="Arial" panose="020B0604020202020204" pitchFamily="34" charset="0"/>
              </a:rPr>
              <a:t>)</a:t>
            </a:r>
            <a:endParaRPr lang="en-US" altLang="zh-CN" sz="2200" dirty="0">
              <a:cs typeface="Arial" panose="020B0604020202020204" pitchFamily="34" charset="0"/>
            </a:endParaRPr>
          </a:p>
          <a:p>
            <a:pPr lvl="1"/>
            <a:r>
              <a:rPr lang="zh-CN" altLang="en-US" sz="2200" dirty="0">
                <a:ea typeface="黑体" panose="02010609060101010101" pitchFamily="49" charset="-122"/>
              </a:rPr>
              <a:t>把主存的每一块映射到一个固定的</a:t>
            </a:r>
            <a:r>
              <a:rPr lang="en-US" altLang="zh-CN" sz="2200" dirty="0">
                <a:ea typeface="黑体" panose="02010609060101010101" pitchFamily="49" charset="-122"/>
              </a:rPr>
              <a:t>Cache</a:t>
            </a:r>
            <a:r>
              <a:rPr lang="zh-CN" altLang="en-US" sz="2200" dirty="0">
                <a:ea typeface="黑体" panose="02010609060101010101" pitchFamily="49" charset="-122"/>
              </a:rPr>
              <a:t>行（槽）</a:t>
            </a:r>
            <a:endParaRPr lang="en-US" altLang="zh-CN" sz="2200" dirty="0">
              <a:ea typeface="黑体" panose="02010609060101010101" pitchFamily="49" charset="-122"/>
            </a:endParaRPr>
          </a:p>
          <a:p>
            <a:pPr lvl="1"/>
            <a:r>
              <a:rPr lang="zh-CN" altLang="en-US" sz="2200" dirty="0">
                <a:ea typeface="黑体" panose="02010609060101010101" pitchFamily="49" charset="-122"/>
              </a:rPr>
              <a:t>也称模映射</a:t>
            </a:r>
            <a:r>
              <a:rPr lang="en-US" altLang="zh-CN" sz="2200" dirty="0">
                <a:ea typeface="黑体" panose="02010609060101010101" pitchFamily="49" charset="-122"/>
              </a:rPr>
              <a:t>(Module Mapping)</a:t>
            </a:r>
            <a:endParaRPr lang="en-US" altLang="zh-CN" sz="2200" dirty="0">
              <a:ea typeface="黑体" panose="02010609060101010101" pitchFamily="49" charset="-122"/>
            </a:endParaRPr>
          </a:p>
          <a:p>
            <a:pPr lvl="1"/>
            <a:r>
              <a:rPr lang="zh-CN" altLang="en-US" sz="2200" dirty="0">
                <a:ea typeface="黑体" panose="02010609060101010101" pitchFamily="49" charset="-122"/>
              </a:rPr>
              <a:t>映射关系为：</a:t>
            </a:r>
            <a:endParaRPr lang="en-US" altLang="zh-CN" sz="2200" dirty="0">
              <a:ea typeface="黑体" panose="02010609060101010101" pitchFamily="49" charset="-122"/>
            </a:endParaRPr>
          </a:p>
          <a:p>
            <a:pPr>
              <a:buNone/>
            </a:pPr>
            <a:r>
              <a:rPr lang="en-US" altLang="zh-CN" sz="2200" dirty="0">
                <a:ea typeface="黑体" panose="02010609060101010101" pitchFamily="49" charset="-122"/>
              </a:rPr>
              <a:t>         </a:t>
            </a:r>
            <a:r>
              <a:rPr lang="en-US" altLang="zh-CN" sz="2200" dirty="0">
                <a:solidFill>
                  <a:srgbClr val="FF0000"/>
                </a:solidFill>
                <a:ea typeface="黑体" panose="02010609060101010101" pitchFamily="49" charset="-122"/>
              </a:rPr>
              <a:t>Cache</a:t>
            </a:r>
            <a:r>
              <a:rPr lang="zh-CN" altLang="en-US" sz="2200" dirty="0">
                <a:solidFill>
                  <a:srgbClr val="FF0000"/>
                </a:solidFill>
                <a:ea typeface="黑体" panose="02010609060101010101" pitchFamily="49" charset="-122"/>
              </a:rPr>
              <a:t>行号</a:t>
            </a:r>
            <a:r>
              <a:rPr lang="en-US" altLang="zh-CN" sz="2200" dirty="0">
                <a:solidFill>
                  <a:srgbClr val="FF0000"/>
                </a:solidFill>
                <a:ea typeface="黑体" panose="02010609060101010101" pitchFamily="49" charset="-122"/>
              </a:rPr>
              <a:t>=</a:t>
            </a:r>
            <a:r>
              <a:rPr lang="zh-CN" altLang="en-US" sz="2200" dirty="0">
                <a:solidFill>
                  <a:srgbClr val="FF0000"/>
                </a:solidFill>
                <a:ea typeface="黑体" panose="02010609060101010101" pitchFamily="49" charset="-122"/>
              </a:rPr>
              <a:t>主存块号</a:t>
            </a:r>
            <a:r>
              <a:rPr lang="en-US" altLang="zh-CN" sz="2200" dirty="0">
                <a:solidFill>
                  <a:srgbClr val="FF0000"/>
                </a:solidFill>
                <a:ea typeface="黑体" panose="02010609060101010101" pitchFamily="49" charset="-122"/>
              </a:rPr>
              <a:t> mod Cache</a:t>
            </a:r>
            <a:r>
              <a:rPr lang="zh-CN" altLang="en-US" sz="2200" dirty="0">
                <a:solidFill>
                  <a:srgbClr val="FF0000"/>
                </a:solidFill>
                <a:ea typeface="黑体" panose="02010609060101010101" pitchFamily="49" charset="-122"/>
              </a:rPr>
              <a:t>行数</a:t>
            </a:r>
            <a:endParaRPr lang="en-US" altLang="zh-CN" sz="2200" dirty="0">
              <a:solidFill>
                <a:srgbClr val="FF0000"/>
              </a:solidFill>
              <a:ea typeface="黑体" panose="02010609060101010101" pitchFamily="49" charset="-122"/>
            </a:endParaRPr>
          </a:p>
          <a:p>
            <a:pPr>
              <a:buNone/>
            </a:pPr>
            <a:r>
              <a:rPr lang="en-US" altLang="zh-CN" sz="2200" dirty="0">
                <a:solidFill>
                  <a:srgbClr val="FF0000"/>
                </a:solidFill>
                <a:ea typeface="黑体" panose="02010609060101010101" pitchFamily="49" charset="-122"/>
              </a:rPr>
              <a:t>           </a:t>
            </a:r>
            <a:r>
              <a:rPr lang="zh-CN" altLang="en-US" sz="2200" dirty="0">
                <a:solidFill>
                  <a:srgbClr val="FF0000"/>
                </a:solidFill>
                <a:ea typeface="黑体" panose="02010609060101010101" pitchFamily="49" charset="-122"/>
              </a:rPr>
              <a:t>举例：</a:t>
            </a:r>
            <a:r>
              <a:rPr lang="en-US" altLang="zh-CN" sz="2200" dirty="0">
                <a:solidFill>
                  <a:srgbClr val="FF0000"/>
                </a:solidFill>
                <a:ea typeface="黑体" panose="02010609060101010101" pitchFamily="49" charset="-122"/>
              </a:rPr>
              <a:t>4=100 mod 16  </a:t>
            </a:r>
            <a:r>
              <a:rPr lang="zh-CN" altLang="en-US" sz="2200" dirty="0">
                <a:solidFill>
                  <a:srgbClr val="FF0000"/>
                </a:solidFill>
                <a:ea typeface="黑体" panose="02010609060101010101" pitchFamily="49" charset="-122"/>
              </a:rPr>
              <a:t>（假定</a:t>
            </a:r>
            <a:r>
              <a:rPr lang="en-US" altLang="zh-CN" sz="2200" dirty="0">
                <a:solidFill>
                  <a:srgbClr val="FF0000"/>
                </a:solidFill>
                <a:ea typeface="黑体" panose="02010609060101010101" pitchFamily="49" charset="-122"/>
              </a:rPr>
              <a:t>Cache</a:t>
            </a:r>
            <a:r>
              <a:rPr lang="zh-CN" altLang="en-US" sz="2200" dirty="0">
                <a:solidFill>
                  <a:srgbClr val="FF0000"/>
                </a:solidFill>
                <a:ea typeface="黑体" panose="02010609060101010101" pitchFamily="49" charset="-122"/>
              </a:rPr>
              <a:t>共有</a:t>
            </a:r>
            <a:r>
              <a:rPr lang="en-US" altLang="zh-CN" sz="2200" dirty="0">
                <a:solidFill>
                  <a:srgbClr val="FF0000"/>
                </a:solidFill>
                <a:ea typeface="黑体" panose="02010609060101010101" pitchFamily="49" charset="-122"/>
              </a:rPr>
              <a:t>16</a:t>
            </a:r>
            <a:r>
              <a:rPr lang="zh-CN" altLang="en-US" sz="2200" dirty="0">
                <a:solidFill>
                  <a:srgbClr val="FF0000"/>
                </a:solidFill>
                <a:ea typeface="黑体" panose="02010609060101010101" pitchFamily="49" charset="-122"/>
              </a:rPr>
              <a:t>行）</a:t>
            </a:r>
            <a:endParaRPr lang="en-US" altLang="zh-CN" sz="2200" dirty="0">
              <a:solidFill>
                <a:srgbClr val="FF0000"/>
              </a:solidFill>
              <a:ea typeface="黑体" panose="02010609060101010101" pitchFamily="49" charset="-122"/>
            </a:endParaRPr>
          </a:p>
          <a:p>
            <a:pPr>
              <a:buNone/>
            </a:pPr>
            <a:r>
              <a:rPr lang="en-US" altLang="zh-CN" sz="2200" dirty="0">
                <a:solidFill>
                  <a:srgbClr val="FF0000"/>
                </a:solidFill>
                <a:ea typeface="黑体" panose="02010609060101010101" pitchFamily="49" charset="-122"/>
              </a:rPr>
              <a:t>            (</a:t>
            </a:r>
            <a:r>
              <a:rPr lang="zh-CN" altLang="en-US" sz="2200" dirty="0">
                <a:solidFill>
                  <a:srgbClr val="FF0000"/>
                </a:solidFill>
                <a:ea typeface="黑体" panose="02010609060101010101" pitchFamily="49" charset="-122"/>
              </a:rPr>
              <a:t>说明：主存第</a:t>
            </a:r>
            <a:r>
              <a:rPr lang="en-US" altLang="zh-CN" sz="2200" dirty="0">
                <a:solidFill>
                  <a:srgbClr val="FF0000"/>
                </a:solidFill>
                <a:ea typeface="黑体" panose="02010609060101010101" pitchFamily="49" charset="-122"/>
              </a:rPr>
              <a:t>100</a:t>
            </a:r>
            <a:r>
              <a:rPr lang="zh-CN" altLang="en-US" sz="2200" dirty="0">
                <a:solidFill>
                  <a:srgbClr val="FF0000"/>
                </a:solidFill>
                <a:ea typeface="黑体" panose="02010609060101010101" pitchFamily="49" charset="-122"/>
              </a:rPr>
              <a:t>块应映射到</a:t>
            </a:r>
            <a:r>
              <a:rPr lang="en-US" altLang="zh-CN" sz="2200" dirty="0">
                <a:solidFill>
                  <a:srgbClr val="FF0000"/>
                </a:solidFill>
                <a:ea typeface="黑体" panose="02010609060101010101" pitchFamily="49" charset="-122"/>
              </a:rPr>
              <a:t>Cache</a:t>
            </a:r>
            <a:r>
              <a:rPr lang="zh-CN" altLang="en-US" sz="2200" dirty="0">
                <a:solidFill>
                  <a:srgbClr val="FF0000"/>
                </a:solidFill>
                <a:ea typeface="黑体" panose="02010609060101010101" pitchFamily="49" charset="-122"/>
              </a:rPr>
              <a:t>的第</a:t>
            </a:r>
            <a:r>
              <a:rPr lang="en-US" altLang="zh-CN" sz="2200" dirty="0">
                <a:solidFill>
                  <a:srgbClr val="FF0000"/>
                </a:solidFill>
                <a:ea typeface="黑体" panose="02010609060101010101" pitchFamily="49" charset="-122"/>
              </a:rPr>
              <a:t>4</a:t>
            </a:r>
            <a:r>
              <a:rPr lang="zh-CN" altLang="en-US" sz="2200" dirty="0">
                <a:solidFill>
                  <a:srgbClr val="FF0000"/>
                </a:solidFill>
                <a:ea typeface="黑体" panose="02010609060101010101" pitchFamily="49" charset="-122"/>
              </a:rPr>
              <a:t>行中。</a:t>
            </a:r>
            <a:r>
              <a:rPr lang="en-US" altLang="zh-CN" sz="2200" dirty="0">
                <a:solidFill>
                  <a:srgbClr val="FF0000"/>
                </a:solidFill>
                <a:ea typeface="黑体" panose="02010609060101010101" pitchFamily="49" charset="-122"/>
              </a:rPr>
              <a:t>)</a:t>
            </a:r>
            <a:endParaRPr lang="en-US" altLang="zh-CN" sz="2200" dirty="0">
              <a:solidFill>
                <a:srgbClr val="FF0000"/>
              </a:solidFill>
              <a:ea typeface="黑体" panose="02010609060101010101" pitchFamily="49" charset="-122"/>
            </a:endParaRPr>
          </a:p>
        </p:txBody>
      </p:sp>
      <p:sp>
        <p:nvSpPr>
          <p:cNvPr id="144388" name="Rectangle 4"/>
          <p:cNvSpPr/>
          <p:nvPr/>
        </p:nvSpPr>
        <p:spPr>
          <a:xfrm>
            <a:off x="206375" y="3722688"/>
            <a:ext cx="8596313" cy="3036887"/>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lnSpc>
                <a:spcPct val="105000"/>
              </a:lnSpc>
              <a:buClr>
                <a:schemeClr val="tx2"/>
              </a:buClr>
              <a:buSzPct val="70000"/>
              <a:buFont typeface="Wingdings" panose="05000000000000000000" pitchFamily="2" charset="2"/>
              <a:buChar char="l"/>
            </a:pPr>
            <a:r>
              <a:rPr lang="zh-CN" altLang="en-US" sz="2200" dirty="0">
                <a:ea typeface="黑体" panose="02010609060101010101" pitchFamily="49" charset="-122"/>
              </a:rPr>
              <a:t>特点：</a:t>
            </a:r>
            <a:endParaRPr lang="en-US" altLang="zh-CN" sz="2200" dirty="0">
              <a:cs typeface="Arial" panose="020B0604020202020204" pitchFamily="34" charset="0"/>
            </a:endParaRPr>
          </a:p>
          <a:p>
            <a:pPr marL="692150" lvl="1" indent="-347345" eaLnBrk="1" hangingPunct="1">
              <a:lnSpc>
                <a:spcPct val="105000"/>
              </a:lnSpc>
              <a:buSzPct val="70000"/>
              <a:buFont typeface="Wingdings" panose="05000000000000000000" pitchFamily="2" charset="2"/>
              <a:buChar char="l"/>
            </a:pPr>
            <a:r>
              <a:rPr lang="zh-CN" altLang="en-US" sz="2200" dirty="0">
                <a:ea typeface="黑体" panose="02010609060101010101" pitchFamily="49" charset="-122"/>
              </a:rPr>
              <a:t>容易实现，命中时间短</a:t>
            </a:r>
            <a:endParaRPr lang="en-US" altLang="zh-CN" sz="2200" dirty="0">
              <a:cs typeface="Arial" panose="020B0604020202020204" pitchFamily="34" charset="0"/>
            </a:endParaRPr>
          </a:p>
          <a:p>
            <a:pPr marL="692150" lvl="1" indent="-347345" eaLnBrk="1" hangingPunct="1">
              <a:lnSpc>
                <a:spcPct val="105000"/>
              </a:lnSpc>
              <a:buSzPct val="70000"/>
              <a:buFont typeface="Wingdings" panose="05000000000000000000" pitchFamily="2" charset="2"/>
              <a:buChar char="l"/>
            </a:pPr>
            <a:r>
              <a:rPr lang="zh-CN" altLang="en-US" sz="2200" dirty="0">
                <a:ea typeface="黑体" panose="02010609060101010101" pitchFamily="49" charset="-122"/>
              </a:rPr>
              <a:t>但不够灵活，</a:t>
            </a:r>
            <a:r>
              <a:rPr lang="en-US" altLang="zh-CN" sz="2200" dirty="0">
                <a:ea typeface="黑体" panose="02010609060101010101" pitchFamily="49" charset="-122"/>
              </a:rPr>
              <a:t>Cache</a:t>
            </a:r>
            <a:r>
              <a:rPr lang="zh-CN" altLang="en-US" sz="2200" dirty="0">
                <a:ea typeface="黑体" panose="02010609060101010101" pitchFamily="49" charset="-122"/>
              </a:rPr>
              <a:t>存储空间得不到充分利用，命中率低</a:t>
            </a:r>
            <a:endParaRPr lang="en-US" altLang="zh-CN" sz="2200" dirty="0">
              <a:ea typeface="黑体" panose="02010609060101010101" pitchFamily="49" charset="-122"/>
            </a:endParaRPr>
          </a:p>
          <a:p>
            <a:pPr marL="692150" lvl="1" indent="-347345" eaLnBrk="1" hangingPunct="1">
              <a:lnSpc>
                <a:spcPct val="105000"/>
              </a:lnSpc>
              <a:buSzPct val="70000"/>
              <a:buNone/>
            </a:pPr>
            <a:r>
              <a:rPr lang="en-US" altLang="zh-CN" sz="2200" dirty="0">
                <a:solidFill>
                  <a:srgbClr val="006600"/>
                </a:solidFill>
                <a:ea typeface="黑体" panose="02010609060101010101" pitchFamily="49" charset="-122"/>
              </a:rPr>
              <a:t>  </a:t>
            </a:r>
            <a:r>
              <a:rPr lang="zh-CN" altLang="en-US" sz="2200" dirty="0">
                <a:solidFill>
                  <a:srgbClr val="FF0000"/>
                </a:solidFill>
                <a:ea typeface="黑体" panose="02010609060101010101" pitchFamily="49" charset="-122"/>
              </a:rPr>
              <a:t>例如，需将主存第</a:t>
            </a:r>
            <a:r>
              <a:rPr lang="en-US" altLang="zh-CN" sz="2200" dirty="0">
                <a:solidFill>
                  <a:srgbClr val="FF0000"/>
                </a:solidFill>
                <a:ea typeface="黑体" panose="02010609060101010101" pitchFamily="49" charset="-122"/>
              </a:rPr>
              <a:t>0</a:t>
            </a:r>
            <a:r>
              <a:rPr lang="zh-CN" altLang="en-US" sz="2200" dirty="0">
                <a:solidFill>
                  <a:srgbClr val="FF0000"/>
                </a:solidFill>
                <a:ea typeface="黑体" panose="02010609060101010101" pitchFamily="49" charset="-122"/>
              </a:rPr>
              <a:t>块与第</a:t>
            </a:r>
            <a:r>
              <a:rPr lang="en-US" altLang="zh-CN" sz="2200" dirty="0">
                <a:solidFill>
                  <a:srgbClr val="FF0000"/>
                </a:solidFill>
                <a:ea typeface="黑体" panose="02010609060101010101" pitchFamily="49" charset="-122"/>
              </a:rPr>
              <a:t>16</a:t>
            </a:r>
            <a:r>
              <a:rPr lang="zh-CN" altLang="en-US" sz="2200" dirty="0">
                <a:solidFill>
                  <a:srgbClr val="FF0000"/>
                </a:solidFill>
                <a:ea typeface="黑体" panose="02010609060101010101" pitchFamily="49" charset="-122"/>
              </a:rPr>
              <a:t>块同时复制到</a:t>
            </a:r>
            <a:r>
              <a:rPr lang="en-US" altLang="zh-CN" sz="2200" dirty="0">
                <a:solidFill>
                  <a:srgbClr val="FF0000"/>
                </a:solidFill>
                <a:ea typeface="黑体" panose="02010609060101010101" pitchFamily="49" charset="-122"/>
              </a:rPr>
              <a:t>Cache</a:t>
            </a:r>
            <a:r>
              <a:rPr lang="zh-CN" altLang="en-US" sz="2200" dirty="0">
                <a:solidFill>
                  <a:srgbClr val="FF0000"/>
                </a:solidFill>
                <a:ea typeface="黑体" panose="02010609060101010101" pitchFamily="49" charset="-122"/>
              </a:rPr>
              <a:t>中时，由于它们都只能复制到</a:t>
            </a:r>
            <a:r>
              <a:rPr lang="en-US" altLang="zh-CN" sz="2200" dirty="0">
                <a:solidFill>
                  <a:srgbClr val="FF0000"/>
                </a:solidFill>
                <a:ea typeface="黑体" panose="02010609060101010101" pitchFamily="49" charset="-122"/>
              </a:rPr>
              <a:t>Cache</a:t>
            </a:r>
            <a:r>
              <a:rPr lang="zh-CN" altLang="en-US" sz="2200" dirty="0">
                <a:solidFill>
                  <a:srgbClr val="FF0000"/>
                </a:solidFill>
                <a:ea typeface="黑体" panose="02010609060101010101" pitchFamily="49" charset="-122"/>
              </a:rPr>
              <a:t>第</a:t>
            </a:r>
            <a:r>
              <a:rPr lang="en-US" altLang="zh-CN" sz="2200" dirty="0">
                <a:solidFill>
                  <a:srgbClr val="FF0000"/>
                </a:solidFill>
                <a:ea typeface="黑体" panose="02010609060101010101" pitchFamily="49" charset="-122"/>
              </a:rPr>
              <a:t>0</a:t>
            </a:r>
            <a:r>
              <a:rPr lang="zh-CN" altLang="en-US" sz="2200" dirty="0">
                <a:solidFill>
                  <a:srgbClr val="FF0000"/>
                </a:solidFill>
                <a:ea typeface="黑体" panose="02010609060101010101" pitchFamily="49" charset="-122"/>
              </a:rPr>
              <a:t>行，即使</a:t>
            </a:r>
            <a:r>
              <a:rPr lang="en-US" altLang="zh-CN" sz="2200" dirty="0">
                <a:solidFill>
                  <a:srgbClr val="FF0000"/>
                </a:solidFill>
                <a:ea typeface="黑体" panose="02010609060101010101" pitchFamily="49" charset="-122"/>
              </a:rPr>
              <a:t>Cache</a:t>
            </a:r>
            <a:r>
              <a:rPr lang="zh-CN" altLang="en-US" sz="2200" dirty="0">
                <a:solidFill>
                  <a:srgbClr val="FF0000"/>
                </a:solidFill>
                <a:ea typeface="黑体" panose="02010609060101010101" pitchFamily="49" charset="-122"/>
              </a:rPr>
              <a:t>其它行空闲，也有一个主存块不能写入</a:t>
            </a:r>
            <a:r>
              <a:rPr lang="en-US" altLang="zh-CN" sz="2200" dirty="0">
                <a:solidFill>
                  <a:srgbClr val="FF0000"/>
                </a:solidFill>
                <a:ea typeface="黑体" panose="02010609060101010101" pitchFamily="49" charset="-122"/>
              </a:rPr>
              <a:t>Cache</a:t>
            </a:r>
            <a:r>
              <a:rPr lang="zh-CN" altLang="en-US" sz="2200" dirty="0">
                <a:solidFill>
                  <a:srgbClr val="FF0000"/>
                </a:solidFill>
                <a:ea typeface="黑体" panose="02010609060101010101" pitchFamily="49" charset="-122"/>
              </a:rPr>
              <a:t>。这样就会产生频繁的</a:t>
            </a:r>
            <a:r>
              <a:rPr lang="en-US" altLang="zh-CN" sz="2200" dirty="0">
                <a:solidFill>
                  <a:srgbClr val="FF0000"/>
                </a:solidFill>
                <a:ea typeface="黑体" panose="02010609060101010101" pitchFamily="49" charset="-122"/>
              </a:rPr>
              <a:t> Cache</a:t>
            </a:r>
            <a:r>
              <a:rPr lang="zh-CN" altLang="en-US" sz="2200" dirty="0">
                <a:solidFill>
                  <a:srgbClr val="FF0000"/>
                </a:solidFill>
                <a:ea typeface="黑体" panose="02010609060101010101" pitchFamily="49" charset="-122"/>
              </a:rPr>
              <a:t>装入。</a:t>
            </a:r>
            <a:endParaRPr lang="zh-CN" altLang="en-US" sz="2200" dirty="0">
              <a:solidFill>
                <a:srgbClr val="FF0000"/>
              </a:solidFill>
              <a:ea typeface="黑体" panose="02010609060101010101" pitchFamily="49" charset="-122"/>
            </a:endParaRPr>
          </a:p>
        </p:txBody>
      </p:sp>
      <p:sp>
        <p:nvSpPr>
          <p:cNvPr id="144389" name="Text Box 6"/>
          <p:cNvSpPr txBox="1"/>
          <p:nvPr/>
        </p:nvSpPr>
        <p:spPr>
          <a:xfrm>
            <a:off x="5427663" y="1989138"/>
            <a:ext cx="3149600" cy="33496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200" b="1" dirty="0">
                <a:solidFill>
                  <a:srgbClr val="0000FF"/>
                </a:solidFill>
                <a:ea typeface="黑体" panose="02010609060101010101" pitchFamily="49" charset="-122"/>
              </a:rPr>
              <a:t>块（行）都从</a:t>
            </a:r>
            <a:r>
              <a:rPr lang="en-US" altLang="zh-CN" sz="2200" b="1" dirty="0">
                <a:solidFill>
                  <a:srgbClr val="0000FF"/>
                </a:solidFill>
                <a:ea typeface="黑体" panose="02010609060101010101" pitchFamily="49" charset="-122"/>
              </a:rPr>
              <a:t>0</a:t>
            </a:r>
            <a:r>
              <a:rPr lang="zh-CN" altLang="en-US" sz="2200" b="1" dirty="0">
                <a:solidFill>
                  <a:srgbClr val="0000FF"/>
                </a:solidFill>
                <a:ea typeface="黑体" panose="02010609060101010101" pitchFamily="49" charset="-122"/>
              </a:rPr>
              <a:t>开始编号</a:t>
            </a:r>
            <a:endParaRPr lang="zh-CN" altLang="en-US" sz="2200" b="1" dirty="0">
              <a:solidFill>
                <a:srgbClr val="0000FF"/>
              </a:solidFill>
              <a:ea typeface="黑体" panose="02010609060101010101" pitchFamily="49" charset="-122"/>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Rectangle 2"/>
          <p:cNvSpPr>
            <a:spLocks noGrp="1"/>
          </p:cNvSpPr>
          <p:nvPr>
            <p:ph type="title"/>
          </p:nvPr>
        </p:nvSpPr>
        <p:spPr>
          <a:xfrm>
            <a:off x="1042988" y="314325"/>
            <a:ext cx="7532687" cy="666750"/>
          </a:xfrm>
        </p:spPr>
        <p:txBody>
          <a:bodyPr vert="horz" wrap="square" lIns="91440" tIns="45720" rIns="91440" bIns="45720" anchor="ctr" anchorCtr="0"/>
          <a:p>
            <a:r>
              <a:rPr lang="zh-CN" altLang="en-US" sz="3200" dirty="0"/>
              <a:t>直接映射</a:t>
            </a:r>
            <a:r>
              <a:rPr lang="en-US" altLang="zh-CN" sz="3200" dirty="0"/>
              <a:t>Cache</a:t>
            </a:r>
            <a:r>
              <a:rPr lang="zh-CN" altLang="en-US" sz="3200" dirty="0"/>
              <a:t>组织示意图</a:t>
            </a:r>
            <a:endParaRPr lang="zh-CN" altLang="en-US" sz="3200" dirty="0"/>
          </a:p>
        </p:txBody>
      </p:sp>
      <p:pic>
        <p:nvPicPr>
          <p:cNvPr id="145411" name="Picture 3" descr="直接映射的Cache组织示意图"/>
          <p:cNvPicPr>
            <a:picLocks noChangeAspect="1"/>
          </p:cNvPicPr>
          <p:nvPr/>
        </p:nvPicPr>
        <p:blipFill>
          <a:blip r:embed="rId1"/>
          <a:stretch>
            <a:fillRect/>
          </a:stretch>
        </p:blipFill>
        <p:spPr>
          <a:xfrm>
            <a:off x="2284413" y="998538"/>
            <a:ext cx="6832600" cy="5400675"/>
          </a:xfrm>
          <a:prstGeom prst="rect">
            <a:avLst/>
          </a:prstGeom>
          <a:noFill/>
          <a:ln w="9525" cap="flat" cmpd="sng">
            <a:solidFill>
              <a:srgbClr val="0000FF"/>
            </a:solidFill>
            <a:prstDash val="solid"/>
            <a:miter/>
            <a:headEnd type="none" w="med" len="med"/>
            <a:tailEnd type="none" w="med" len="med"/>
          </a:ln>
        </p:spPr>
      </p:pic>
      <p:sp>
        <p:nvSpPr>
          <p:cNvPr id="145412" name="Rectangle 4"/>
          <p:cNvSpPr/>
          <p:nvPr/>
        </p:nvSpPr>
        <p:spPr>
          <a:xfrm>
            <a:off x="179388" y="957263"/>
            <a:ext cx="2025650" cy="30480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FF"/>
                </a:solidFill>
                <a:ea typeface="黑体" panose="02010609060101010101" pitchFamily="49" charset="-122"/>
              </a:rPr>
              <a:t>假定数据在主存和</a:t>
            </a:r>
            <a:r>
              <a:rPr lang="en-US" altLang="zh-CN" sz="2000" b="1" dirty="0">
                <a:solidFill>
                  <a:srgbClr val="0000FF"/>
                </a:solidFill>
                <a:cs typeface="Arial" panose="020B0604020202020204" pitchFamily="34" charset="0"/>
              </a:rPr>
              <a:t>Cache</a:t>
            </a:r>
            <a:r>
              <a:rPr lang="zh-CN" altLang="en-US" sz="2000" b="1" dirty="0">
                <a:solidFill>
                  <a:srgbClr val="0000FF"/>
                </a:solidFill>
                <a:ea typeface="黑体" panose="02010609060101010101" pitchFamily="49" charset="-122"/>
              </a:rPr>
              <a:t>间的传送单位为</a:t>
            </a:r>
            <a:r>
              <a:rPr lang="en-US" altLang="zh-CN" sz="2000" b="1" dirty="0">
                <a:solidFill>
                  <a:srgbClr val="0000FF"/>
                </a:solidFill>
                <a:cs typeface="Arial" panose="020B0604020202020204" pitchFamily="34" charset="0"/>
              </a:rPr>
              <a:t>512</a:t>
            </a:r>
            <a:r>
              <a:rPr lang="zh-CN" altLang="en-US" sz="2000" b="1" dirty="0">
                <a:solidFill>
                  <a:srgbClr val="0000FF"/>
                </a:solidFill>
                <a:ea typeface="黑体" panose="02010609060101010101" pitchFamily="49" charset="-122"/>
              </a:rPr>
              <a:t>字。</a:t>
            </a:r>
            <a:endParaRPr lang="en-US" altLang="zh-CN" sz="2000" b="1" dirty="0">
              <a:solidFill>
                <a:srgbClr val="0000FF"/>
              </a:solidFill>
              <a:ea typeface="黑体" panose="02010609060101010101" pitchFamily="49" charset="-122"/>
            </a:endParaRPr>
          </a:p>
          <a:p>
            <a:pPr marL="0" lvl="0" indent="0" eaLnBrk="1" hangingPunct="1">
              <a:spcBef>
                <a:spcPct val="50000"/>
              </a:spcBef>
              <a:buClrTx/>
              <a:buSzTx/>
              <a:buFontTx/>
              <a:buNone/>
            </a:pPr>
            <a:r>
              <a:rPr lang="en-US" altLang="zh-CN" sz="2000" b="1" dirty="0">
                <a:solidFill>
                  <a:srgbClr val="0000FF"/>
                </a:solidFill>
                <a:ea typeface="黑体" panose="02010609060101010101" pitchFamily="49" charset="-122"/>
              </a:rPr>
              <a:t>Cache</a:t>
            </a:r>
            <a:r>
              <a:rPr lang="zh-CN" altLang="en-US" sz="2000" b="1" dirty="0">
                <a:solidFill>
                  <a:srgbClr val="0000FF"/>
                </a:solidFill>
                <a:ea typeface="黑体" panose="02010609060101010101" pitchFamily="49" charset="-122"/>
              </a:rPr>
              <a:t>大小：</a:t>
            </a:r>
            <a:r>
              <a:rPr lang="en-US" altLang="zh-CN" sz="2000" b="1" dirty="0">
                <a:solidFill>
                  <a:srgbClr val="0000FF"/>
                </a:solidFill>
                <a:ea typeface="黑体" panose="02010609060101010101" pitchFamily="49" charset="-122"/>
              </a:rPr>
              <a:t>2</a:t>
            </a:r>
            <a:r>
              <a:rPr lang="en-US" altLang="zh-CN" sz="2000" b="1" baseline="30000" dirty="0">
                <a:solidFill>
                  <a:srgbClr val="0000FF"/>
                </a:solidFill>
                <a:ea typeface="黑体" panose="02010609060101010101" pitchFamily="49" charset="-122"/>
              </a:rPr>
              <a:t>13</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=8K</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=16</a:t>
            </a:r>
            <a:r>
              <a:rPr lang="zh-CN" altLang="en-US" sz="2000" b="1" dirty="0">
                <a:solidFill>
                  <a:srgbClr val="0000FF"/>
                </a:solidFill>
                <a:ea typeface="黑体" panose="02010609060101010101" pitchFamily="49" charset="-122"/>
              </a:rPr>
              <a:t>行</a:t>
            </a:r>
            <a:r>
              <a:rPr lang="en-US" altLang="zh-CN" sz="2000" b="1" dirty="0">
                <a:solidFill>
                  <a:srgbClr val="0000FF"/>
                </a:solidFill>
                <a:ea typeface="黑体" panose="02010609060101010101" pitchFamily="49" charset="-122"/>
              </a:rPr>
              <a:t> x 512</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 </a:t>
            </a:r>
            <a:r>
              <a:rPr lang="zh-CN" altLang="en-US" sz="2000" b="1" dirty="0">
                <a:solidFill>
                  <a:srgbClr val="0000FF"/>
                </a:solidFill>
                <a:ea typeface="黑体" panose="02010609060101010101" pitchFamily="49" charset="-122"/>
              </a:rPr>
              <a:t>行</a:t>
            </a:r>
            <a:endParaRPr lang="en-US" altLang="zh-CN" sz="2000" b="1" dirty="0">
              <a:solidFill>
                <a:srgbClr val="0000FF"/>
              </a:solidFill>
              <a:ea typeface="黑体" panose="02010609060101010101" pitchFamily="49" charset="-122"/>
            </a:endParaRPr>
          </a:p>
          <a:p>
            <a:pPr marL="0" lvl="0" indent="0" eaLnBrk="1" hangingPunct="1">
              <a:spcBef>
                <a:spcPct val="50000"/>
              </a:spcBef>
              <a:buClrTx/>
              <a:buSzTx/>
              <a:buFontTx/>
              <a:buNone/>
            </a:pPr>
            <a:r>
              <a:rPr lang="en-US" altLang="zh-CN" sz="2000" b="1" dirty="0">
                <a:solidFill>
                  <a:srgbClr val="0000FF"/>
                </a:solidFill>
                <a:ea typeface="黑体" panose="02010609060101010101" pitchFamily="49" charset="-122"/>
              </a:rPr>
              <a:t> </a:t>
            </a:r>
            <a:r>
              <a:rPr lang="zh-CN" altLang="en-US" sz="2000" b="1" dirty="0">
                <a:solidFill>
                  <a:srgbClr val="0000FF"/>
                </a:solidFill>
                <a:ea typeface="黑体" panose="02010609060101010101" pitchFamily="49" charset="-122"/>
              </a:rPr>
              <a:t>主存大小：</a:t>
            </a:r>
            <a:r>
              <a:rPr lang="en-US" altLang="zh-CN" sz="2000" b="1" dirty="0">
                <a:solidFill>
                  <a:srgbClr val="0000FF"/>
                </a:solidFill>
                <a:ea typeface="黑体" panose="02010609060101010101" pitchFamily="49" charset="-122"/>
              </a:rPr>
              <a:t>2</a:t>
            </a:r>
            <a:r>
              <a:rPr lang="en-US" altLang="zh-CN" sz="2000" b="1" baseline="30000" dirty="0">
                <a:solidFill>
                  <a:srgbClr val="0000FF"/>
                </a:solidFill>
                <a:ea typeface="黑体" panose="02010609060101010101" pitchFamily="49" charset="-122"/>
              </a:rPr>
              <a:t>20</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=1024K</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=2048</a:t>
            </a:r>
            <a:r>
              <a:rPr lang="zh-CN" altLang="en-US" sz="2000" b="1" dirty="0">
                <a:solidFill>
                  <a:srgbClr val="0000FF"/>
                </a:solidFill>
                <a:ea typeface="黑体" panose="02010609060101010101" pitchFamily="49" charset="-122"/>
              </a:rPr>
              <a:t>块</a:t>
            </a:r>
            <a:r>
              <a:rPr lang="en-US" altLang="zh-CN" sz="2000" b="1" dirty="0">
                <a:solidFill>
                  <a:srgbClr val="0000FF"/>
                </a:solidFill>
                <a:ea typeface="黑体" panose="02010609060101010101" pitchFamily="49" charset="-122"/>
              </a:rPr>
              <a:t> x 512</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 </a:t>
            </a:r>
            <a:r>
              <a:rPr lang="zh-CN" altLang="en-US" sz="2000" b="1" dirty="0">
                <a:solidFill>
                  <a:srgbClr val="0000FF"/>
                </a:solidFill>
                <a:ea typeface="黑体" panose="02010609060101010101" pitchFamily="49" charset="-122"/>
              </a:rPr>
              <a:t>块</a:t>
            </a:r>
            <a:endParaRPr lang="zh-CN" altLang="en-US" sz="2000" b="1" dirty="0">
              <a:solidFill>
                <a:srgbClr val="0000FF"/>
              </a:solidFill>
              <a:ea typeface="黑体" panose="02010609060101010101" pitchFamily="49" charset="-122"/>
            </a:endParaRPr>
          </a:p>
        </p:txBody>
      </p:sp>
      <p:sp>
        <p:nvSpPr>
          <p:cNvPr id="180229" name="Text Box 5"/>
          <p:cNvSpPr txBox="1"/>
          <p:nvPr/>
        </p:nvSpPr>
        <p:spPr>
          <a:xfrm>
            <a:off x="179388" y="3984625"/>
            <a:ext cx="1844675" cy="16764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FF3399"/>
                </a:solidFill>
                <a:cs typeface="Arial" panose="020B0604020202020204" pitchFamily="34" charset="0"/>
              </a:rPr>
              <a:t>Cache</a:t>
            </a:r>
            <a:r>
              <a:rPr lang="zh-CN" altLang="en-US" sz="2000" b="1" dirty="0">
                <a:solidFill>
                  <a:srgbClr val="FF3399"/>
                </a:solidFill>
                <a:ea typeface="黑体" panose="02010609060101010101" pitchFamily="49" charset="-122"/>
              </a:rPr>
              <a:t>标记</a:t>
            </a:r>
            <a:r>
              <a:rPr lang="en-US" altLang="zh-CN" sz="2000" b="1" dirty="0">
                <a:solidFill>
                  <a:srgbClr val="FF3399"/>
                </a:solidFill>
                <a:cs typeface="Arial" panose="020B0604020202020204" pitchFamily="34" charset="0"/>
              </a:rPr>
              <a:t>(tag)</a:t>
            </a:r>
            <a:r>
              <a:rPr lang="zh-CN" altLang="en-US" sz="2000" b="1" dirty="0">
                <a:solidFill>
                  <a:srgbClr val="FF3399"/>
                </a:solidFill>
                <a:ea typeface="黑体" panose="02010609060101010101" pitchFamily="49" charset="-122"/>
              </a:rPr>
              <a:t>指出对应行取自哪个主存块群</a:t>
            </a:r>
            <a:endParaRPr lang="en-US" altLang="zh-CN" sz="2000" b="1" dirty="0">
              <a:solidFill>
                <a:srgbClr val="FF3399"/>
              </a:solidFill>
              <a:cs typeface="Arial" panose="020B0604020202020204" pitchFamily="34" charset="0"/>
            </a:endParaRPr>
          </a:p>
          <a:p>
            <a:pPr marL="0" lvl="0" indent="0" eaLnBrk="1" hangingPunct="1">
              <a:spcBef>
                <a:spcPct val="50000"/>
              </a:spcBef>
              <a:buClrTx/>
              <a:buSzTx/>
              <a:buFontTx/>
              <a:buNone/>
            </a:pPr>
            <a:r>
              <a:rPr lang="zh-CN" altLang="en-US" sz="2000" b="1" dirty="0">
                <a:solidFill>
                  <a:srgbClr val="0000FF"/>
                </a:solidFill>
                <a:ea typeface="黑体" panose="02010609060101010101" pitchFamily="49" charset="-122"/>
              </a:rPr>
              <a:t>指出对应地址位于哪个块群</a:t>
            </a:r>
            <a:endParaRPr lang="zh-CN" altLang="en-US" sz="2000" b="1" dirty="0">
              <a:solidFill>
                <a:srgbClr val="0000FF"/>
              </a:solidFill>
              <a:ea typeface="黑体" panose="02010609060101010101" pitchFamily="49" charset="-122"/>
            </a:endParaRPr>
          </a:p>
        </p:txBody>
      </p:sp>
      <p:sp>
        <p:nvSpPr>
          <p:cNvPr id="180230" name="Line 6"/>
          <p:cNvSpPr/>
          <p:nvPr/>
        </p:nvSpPr>
        <p:spPr>
          <a:xfrm flipV="1">
            <a:off x="2097088" y="3068638"/>
            <a:ext cx="674687" cy="720725"/>
          </a:xfrm>
          <a:prstGeom prst="line">
            <a:avLst/>
          </a:prstGeom>
          <a:ln w="28575" cap="flat" cmpd="sng">
            <a:solidFill>
              <a:srgbClr val="CC0000"/>
            </a:solidFill>
            <a:prstDash val="solid"/>
            <a:headEnd type="none" w="med" len="med"/>
            <a:tailEnd type="triangle" w="med" len="med"/>
          </a:ln>
        </p:spPr>
      </p:sp>
      <p:sp>
        <p:nvSpPr>
          <p:cNvPr id="180231" name="Line 7"/>
          <p:cNvSpPr/>
          <p:nvPr/>
        </p:nvSpPr>
        <p:spPr>
          <a:xfrm>
            <a:off x="1692275" y="5418138"/>
            <a:ext cx="854075" cy="314325"/>
          </a:xfrm>
          <a:prstGeom prst="line">
            <a:avLst/>
          </a:prstGeom>
          <a:ln w="28575" cap="flat" cmpd="sng">
            <a:solidFill>
              <a:srgbClr val="CC0000"/>
            </a:solidFill>
            <a:prstDash val="solid"/>
            <a:headEnd type="none" w="med" len="med"/>
            <a:tailEnd type="triangle" w="med" len="med"/>
          </a:ln>
        </p:spPr>
      </p:sp>
      <p:sp>
        <p:nvSpPr>
          <p:cNvPr id="180232" name="Text Box 8"/>
          <p:cNvSpPr txBox="1"/>
          <p:nvPr/>
        </p:nvSpPr>
        <p:spPr>
          <a:xfrm>
            <a:off x="179388" y="5754688"/>
            <a:ext cx="1941512" cy="9144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CC0000"/>
                </a:solidFill>
                <a:ea typeface="黑体" panose="02010609060101010101" pitchFamily="49" charset="-122"/>
              </a:rPr>
              <a:t>例：如何对</a:t>
            </a:r>
            <a:r>
              <a:rPr lang="en-US" altLang="zh-CN" sz="2000" b="1" dirty="0">
                <a:solidFill>
                  <a:srgbClr val="CC0000"/>
                </a:solidFill>
                <a:cs typeface="Arial" panose="020B0604020202020204" pitchFamily="34" charset="0"/>
              </a:rPr>
              <a:t>0220CH</a:t>
            </a:r>
            <a:r>
              <a:rPr lang="zh-CN" altLang="en-US" sz="2000" b="1" dirty="0">
                <a:solidFill>
                  <a:srgbClr val="CC0000"/>
                </a:solidFill>
                <a:ea typeface="黑体" panose="02010609060101010101" pitchFamily="49" charset="-122"/>
              </a:rPr>
              <a:t>单元进行访问？</a:t>
            </a:r>
            <a:endParaRPr lang="zh-CN" altLang="en-US" sz="2000" b="1" dirty="0">
              <a:solidFill>
                <a:srgbClr val="CC0000"/>
              </a:solidFill>
              <a:ea typeface="黑体" panose="02010609060101010101" pitchFamily="49" charset="-122"/>
            </a:endParaRPr>
          </a:p>
        </p:txBody>
      </p:sp>
      <p:sp>
        <p:nvSpPr>
          <p:cNvPr id="145417" name="Text Box 9"/>
          <p:cNvSpPr txBox="1"/>
          <p:nvPr/>
        </p:nvSpPr>
        <p:spPr>
          <a:xfrm>
            <a:off x="6334125" y="3629025"/>
            <a:ext cx="866775" cy="27463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endParaRPr lang="zh-CN" altLang="en-US" sz="1800" b="1" i="1" dirty="0">
              <a:solidFill>
                <a:srgbClr val="666699"/>
              </a:solidFill>
              <a:ea typeface="华文新魏" pitchFamily="2" charset="-122"/>
            </a:endParaRPr>
          </a:p>
        </p:txBody>
      </p:sp>
      <p:sp>
        <p:nvSpPr>
          <p:cNvPr id="180234" name="Text Box 10"/>
          <p:cNvSpPr txBox="1"/>
          <p:nvPr/>
        </p:nvSpPr>
        <p:spPr>
          <a:xfrm>
            <a:off x="6315075" y="3324225"/>
            <a:ext cx="771525" cy="2444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i="1" dirty="0">
                <a:solidFill>
                  <a:srgbClr val="006600"/>
                </a:solidFill>
                <a:ea typeface="华文新魏" pitchFamily="2" charset="-122"/>
              </a:rPr>
              <a:t>0220CH</a:t>
            </a:r>
            <a:endParaRPr lang="en-US" altLang="zh-CN" sz="1600" b="1" i="1" dirty="0">
              <a:solidFill>
                <a:srgbClr val="006600"/>
              </a:solidFill>
              <a:ea typeface="华文新魏" pitchFamily="2" charset="-122"/>
            </a:endParaRPr>
          </a:p>
        </p:txBody>
      </p:sp>
      <p:sp>
        <p:nvSpPr>
          <p:cNvPr id="180235" name="Text Box 11"/>
          <p:cNvSpPr txBox="1"/>
          <p:nvPr/>
        </p:nvSpPr>
        <p:spPr>
          <a:xfrm>
            <a:off x="2006600" y="6248400"/>
            <a:ext cx="5934075" cy="609600"/>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006600"/>
                </a:solidFill>
                <a:ea typeface="黑体" panose="02010609060101010101" pitchFamily="49" charset="-122"/>
              </a:rPr>
              <a:t>0000 001</a:t>
            </a:r>
            <a:r>
              <a:rPr lang="en-US" altLang="zh-CN" sz="2000" b="1" dirty="0">
                <a:solidFill>
                  <a:srgbClr val="CC0000"/>
                </a:solidFill>
                <a:ea typeface="黑体" panose="02010609060101010101" pitchFamily="49" charset="-122"/>
              </a:rPr>
              <a:t>0 001</a:t>
            </a:r>
            <a:r>
              <a:rPr lang="en-US" altLang="zh-CN" sz="2000" b="1" dirty="0">
                <a:solidFill>
                  <a:srgbClr val="0000FF"/>
                </a:solidFill>
                <a:ea typeface="黑体" panose="02010609060101010101" pitchFamily="49" charset="-122"/>
              </a:rPr>
              <a:t>0 0000 1100B </a:t>
            </a:r>
            <a:r>
              <a:rPr lang="zh-CN" altLang="en-US" sz="2000" b="1" dirty="0">
                <a:solidFill>
                  <a:srgbClr val="0000FF"/>
                </a:solidFill>
                <a:ea typeface="黑体" panose="02010609060101010101" pitchFamily="49" charset="-122"/>
              </a:rPr>
              <a:t>是第</a:t>
            </a:r>
            <a:r>
              <a:rPr lang="en-US" altLang="zh-CN" sz="2000" b="1" dirty="0">
                <a:solidFill>
                  <a:srgbClr val="0000FF"/>
                </a:solidFill>
                <a:ea typeface="黑体" panose="02010609060101010101" pitchFamily="49" charset="-122"/>
              </a:rPr>
              <a:t>1</a:t>
            </a:r>
            <a:r>
              <a:rPr lang="zh-CN" altLang="en-US" sz="2000" b="1" dirty="0">
                <a:solidFill>
                  <a:srgbClr val="0000FF"/>
                </a:solidFill>
                <a:ea typeface="黑体" panose="02010609060101010101" pitchFamily="49" charset="-122"/>
              </a:rPr>
              <a:t>块群中的</a:t>
            </a:r>
            <a:r>
              <a:rPr lang="en-US" altLang="zh-CN" sz="2000" b="1" dirty="0">
                <a:solidFill>
                  <a:srgbClr val="0000FF"/>
                </a:solidFill>
                <a:ea typeface="黑体" panose="02010609060101010101" pitchFamily="49" charset="-122"/>
              </a:rPr>
              <a:t>0001</a:t>
            </a:r>
            <a:r>
              <a:rPr lang="zh-CN" altLang="en-US" sz="2000" b="1" dirty="0">
                <a:solidFill>
                  <a:srgbClr val="0000FF"/>
                </a:solidFill>
                <a:ea typeface="黑体" panose="02010609060101010101" pitchFamily="49" charset="-122"/>
              </a:rPr>
              <a:t>块（即第</a:t>
            </a:r>
            <a:r>
              <a:rPr lang="en-US" altLang="zh-CN" sz="2000" b="1" dirty="0">
                <a:solidFill>
                  <a:srgbClr val="0000FF"/>
                </a:solidFill>
                <a:ea typeface="黑体" panose="02010609060101010101" pitchFamily="49" charset="-122"/>
              </a:rPr>
              <a:t>17</a:t>
            </a:r>
            <a:r>
              <a:rPr lang="zh-CN" altLang="en-US" sz="2000" b="1" dirty="0">
                <a:solidFill>
                  <a:srgbClr val="0000FF"/>
                </a:solidFill>
                <a:ea typeface="黑体" panose="02010609060101010101" pitchFamily="49" charset="-122"/>
              </a:rPr>
              <a:t>块）中第</a:t>
            </a:r>
            <a:r>
              <a:rPr lang="en-US" altLang="zh-CN" sz="2000" b="1" dirty="0">
                <a:solidFill>
                  <a:srgbClr val="0000FF"/>
                </a:solidFill>
                <a:ea typeface="黑体" panose="02010609060101010101" pitchFamily="49" charset="-122"/>
              </a:rPr>
              <a:t>12</a:t>
            </a:r>
            <a:r>
              <a:rPr lang="zh-CN" altLang="en-US" sz="2000" b="1" dirty="0">
                <a:solidFill>
                  <a:srgbClr val="0000FF"/>
                </a:solidFill>
                <a:ea typeface="黑体" panose="02010609060101010101" pitchFamily="49" charset="-122"/>
              </a:rPr>
              <a:t>个单元！</a:t>
            </a:r>
            <a:endParaRPr lang="zh-CN" altLang="en-US" sz="2000" b="1" dirty="0">
              <a:solidFill>
                <a:srgbClr val="0000FF"/>
              </a:solidFill>
              <a:ea typeface="黑体" panose="02010609060101010101" pitchFamily="49" charset="-122"/>
            </a:endParaRPr>
          </a:p>
        </p:txBody>
      </p:sp>
      <p:sp>
        <p:nvSpPr>
          <p:cNvPr id="180236" name="Rectangle 12"/>
          <p:cNvSpPr/>
          <p:nvPr/>
        </p:nvSpPr>
        <p:spPr>
          <a:xfrm>
            <a:off x="7200900" y="3267075"/>
            <a:ext cx="790575" cy="333375"/>
          </a:xfrm>
          <a:prstGeom prst="rect">
            <a:avLst/>
          </a:prstGeom>
          <a:solidFill>
            <a:srgbClr val="008000">
              <a:alpha val="39999"/>
            </a:srgbClr>
          </a:solidFill>
          <a:ln w="9525">
            <a:noFill/>
          </a:ln>
        </p:spPr>
        <p:txBody>
          <a:bodyPr lIns="0" tIns="0" rIns="0" bIns="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80237" name="Rectangle 13"/>
          <p:cNvSpPr/>
          <p:nvPr/>
        </p:nvSpPr>
        <p:spPr>
          <a:xfrm>
            <a:off x="3255963" y="2684463"/>
            <a:ext cx="762000" cy="333375"/>
          </a:xfrm>
          <a:prstGeom prst="rect">
            <a:avLst/>
          </a:prstGeom>
          <a:solidFill>
            <a:srgbClr val="008000">
              <a:alpha val="39999"/>
            </a:srgbClr>
          </a:solidFill>
          <a:ln w="9525">
            <a:noFill/>
          </a:ln>
        </p:spPr>
        <p:txBody>
          <a:bodyPr lIns="0" tIns="0" rIns="0" bIns="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80238" name="Rectangle 14"/>
          <p:cNvSpPr/>
          <p:nvPr/>
        </p:nvSpPr>
        <p:spPr>
          <a:xfrm>
            <a:off x="2592388" y="2779713"/>
            <a:ext cx="788987" cy="24447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600" b="1" dirty="0">
                <a:solidFill>
                  <a:srgbClr val="FF0000"/>
                </a:solidFill>
                <a:ea typeface="黑体" panose="02010609060101010101" pitchFamily="49" charset="-122"/>
              </a:rPr>
              <a:t>0000001</a:t>
            </a:r>
            <a:endParaRPr lang="en-US" altLang="zh-CN" sz="1600" b="1" dirty="0">
              <a:solidFill>
                <a:srgbClr val="FF0000"/>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0229">
                                            <p:txEl>
                                              <p:charRg st="0" end="26"/>
                                            </p:txEl>
                                          </p:spTgt>
                                        </p:tgtEl>
                                        <p:attrNameLst>
                                          <p:attrName>style.visibility</p:attrName>
                                        </p:attrNameLst>
                                      </p:cBhvr>
                                      <p:to>
                                        <p:strVal val="visible"/>
                                      </p:to>
                                    </p:set>
                                    <p:animEffect transition="in" filter="blinds(horizontal)">
                                      <p:cBhvr>
                                        <p:cTn id="7" dur="500"/>
                                        <p:tgtEl>
                                          <p:spTgt spid="180229">
                                            <p:txEl>
                                              <p:charRg st="0" end="2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0230"/>
                                        </p:tgtEl>
                                        <p:attrNameLst>
                                          <p:attrName>style.visibility</p:attrName>
                                        </p:attrNameLst>
                                      </p:cBhvr>
                                      <p:to>
                                        <p:strVal val="visible"/>
                                      </p:to>
                                    </p:set>
                                    <p:animEffect transition="in" filter="blinds(horizontal)">
                                      <p:cBhvr>
                                        <p:cTn id="12" dur="500"/>
                                        <p:tgtEl>
                                          <p:spTgt spid="18023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0229">
                                            <p:txEl>
                                              <p:charRg st="26" end="39"/>
                                            </p:txEl>
                                          </p:spTgt>
                                        </p:tgtEl>
                                        <p:attrNameLst>
                                          <p:attrName>style.visibility</p:attrName>
                                        </p:attrNameLst>
                                      </p:cBhvr>
                                      <p:to>
                                        <p:strVal val="visible"/>
                                      </p:to>
                                    </p:set>
                                    <p:animEffect transition="in" filter="blinds(horizontal)">
                                      <p:cBhvr>
                                        <p:cTn id="17" dur="500"/>
                                        <p:tgtEl>
                                          <p:spTgt spid="180229">
                                            <p:txEl>
                                              <p:charRg st="26" end="3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80231"/>
                                        </p:tgtEl>
                                        <p:attrNameLst>
                                          <p:attrName>style.visibility</p:attrName>
                                        </p:attrNameLst>
                                      </p:cBhvr>
                                      <p:to>
                                        <p:strVal val="visible"/>
                                      </p:to>
                                    </p:set>
                                    <p:animEffect transition="in" filter="blinds(horizontal)">
                                      <p:cBhvr>
                                        <p:cTn id="22" dur="500"/>
                                        <p:tgtEl>
                                          <p:spTgt spid="18023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80232"/>
                                        </p:tgtEl>
                                        <p:attrNameLst>
                                          <p:attrName>style.visibility</p:attrName>
                                        </p:attrNameLst>
                                      </p:cBhvr>
                                      <p:to>
                                        <p:strVal val="visible"/>
                                      </p:to>
                                    </p:set>
                                    <p:animEffect transition="in" filter="blinds(horizontal)">
                                      <p:cBhvr>
                                        <p:cTn id="27" dur="500"/>
                                        <p:tgtEl>
                                          <p:spTgt spid="18023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80235"/>
                                        </p:tgtEl>
                                        <p:attrNameLst>
                                          <p:attrName>style.visibility</p:attrName>
                                        </p:attrNameLst>
                                      </p:cBhvr>
                                      <p:to>
                                        <p:strVal val="visible"/>
                                      </p:to>
                                    </p:set>
                                    <p:animEffect transition="in" filter="blinds(horizontal)">
                                      <p:cBhvr>
                                        <p:cTn id="32" dur="500"/>
                                        <p:tgtEl>
                                          <p:spTgt spid="180235"/>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80234"/>
                                        </p:tgtEl>
                                        <p:attrNameLst>
                                          <p:attrName>style.visibility</p:attrName>
                                        </p:attrNameLst>
                                      </p:cBhvr>
                                      <p:to>
                                        <p:strVal val="visible"/>
                                      </p:to>
                                    </p:set>
                                    <p:animEffect transition="in" filter="blinds(horizontal)">
                                      <p:cBhvr>
                                        <p:cTn id="37" dur="500"/>
                                        <p:tgtEl>
                                          <p:spTgt spid="180234"/>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80236"/>
                                        </p:tgtEl>
                                        <p:attrNameLst>
                                          <p:attrName>style.visibility</p:attrName>
                                        </p:attrNameLst>
                                      </p:cBhvr>
                                      <p:to>
                                        <p:strVal val="visible"/>
                                      </p:to>
                                    </p:set>
                                    <p:animEffect transition="in" filter="blinds(horizontal)">
                                      <p:cBhvr>
                                        <p:cTn id="42" dur="500"/>
                                        <p:tgtEl>
                                          <p:spTgt spid="18023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80237"/>
                                        </p:tgtEl>
                                        <p:attrNameLst>
                                          <p:attrName>style.visibility</p:attrName>
                                        </p:attrNameLst>
                                      </p:cBhvr>
                                      <p:to>
                                        <p:strVal val="visible"/>
                                      </p:to>
                                    </p:set>
                                    <p:animEffect transition="in" filter="blinds(horizontal)">
                                      <p:cBhvr>
                                        <p:cTn id="47" dur="500"/>
                                        <p:tgtEl>
                                          <p:spTgt spid="180237"/>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80238"/>
                                        </p:tgtEl>
                                        <p:attrNameLst>
                                          <p:attrName>style.visibility</p:attrName>
                                        </p:attrNameLst>
                                      </p:cBhvr>
                                      <p:to>
                                        <p:strVal val="visible"/>
                                      </p:to>
                                    </p:set>
                                    <p:animEffect transition="in" filter="blinds(horizontal)">
                                      <p:cBhvr>
                                        <p:cTn id="52" dur="500"/>
                                        <p:tgtEl>
                                          <p:spTgt spid="180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32" grpId="0"/>
      <p:bldP spid="180234" grpId="0"/>
      <p:bldP spid="180235" grpId="0" animBg="1"/>
      <p:bldP spid="180236" grpId="0" animBg="1"/>
      <p:bldP spid="180237" grpId="0" animBg="1"/>
      <p:bldP spid="180238"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8" name="Rectangle 2"/>
          <p:cNvSpPr>
            <a:spLocks noGrp="1"/>
          </p:cNvSpPr>
          <p:nvPr>
            <p:ph type="title"/>
          </p:nvPr>
        </p:nvSpPr>
        <p:spPr>
          <a:xfrm>
            <a:off x="860425" y="349250"/>
            <a:ext cx="7240588" cy="415925"/>
          </a:xfrm>
        </p:spPr>
        <p:txBody>
          <a:bodyPr vert="horz" wrap="none" lIns="63500" tIns="25400" rIns="63500" bIns="25400" anchor="t" anchorCtr="0">
            <a:spAutoFit/>
          </a:bodyPr>
          <a:p>
            <a:r>
              <a:rPr lang="en-US" altLang="zh-CN" sz="2400" dirty="0">
                <a:solidFill>
                  <a:srgbClr val="FF3300"/>
                </a:solidFill>
              </a:rPr>
              <a:t>Ex2: 1 KB Direct Mapped Cache with 32 B Blocks</a:t>
            </a:r>
            <a:endParaRPr lang="en-US" altLang="zh-CN" sz="2400" dirty="0">
              <a:solidFill>
                <a:srgbClr val="FF3300"/>
              </a:solidFill>
            </a:endParaRPr>
          </a:p>
        </p:txBody>
      </p:sp>
      <p:sp>
        <p:nvSpPr>
          <p:cNvPr id="185347" name="Rectangle 3"/>
          <p:cNvSpPr>
            <a:spLocks noGrp="1"/>
          </p:cNvSpPr>
          <p:nvPr>
            <p:ph idx="1"/>
          </p:nvPr>
        </p:nvSpPr>
        <p:spPr>
          <a:xfrm>
            <a:off x="431800" y="863600"/>
            <a:ext cx="8191500" cy="1085850"/>
          </a:xfrm>
        </p:spPr>
        <p:txBody>
          <a:bodyPr vert="horz" wrap="square" lIns="63500" tIns="25400" rIns="63500" bIns="25400" anchor="t" anchorCtr="0">
            <a:spAutoFit/>
          </a:bodyPr>
          <a:p>
            <a:pPr>
              <a:spcBef>
                <a:spcPct val="205000"/>
              </a:spcBef>
              <a:buFont typeface="Wingdings" panose="05000000000000000000" pitchFamily="2" charset="2"/>
              <a:buChar char="l"/>
            </a:pPr>
            <a:r>
              <a:rPr lang="en-US" altLang="zh-CN" sz="2000" b="1" dirty="0"/>
              <a:t>For a 2</a:t>
            </a:r>
            <a:r>
              <a:rPr lang="en-US" altLang="zh-CN" sz="2000" b="1" baseline="48000" dirty="0"/>
              <a:t>N</a:t>
            </a:r>
            <a:r>
              <a:rPr lang="en-US" altLang="zh-CN" sz="2000" b="1" baseline="30000" dirty="0"/>
              <a:t> </a:t>
            </a:r>
            <a:r>
              <a:rPr lang="en-US" altLang="zh-CN" sz="2000" b="1" dirty="0"/>
              <a:t>byte cache (N=10 in this example):</a:t>
            </a:r>
            <a:endParaRPr lang="en-US" altLang="zh-CN" sz="2000" b="1" dirty="0"/>
          </a:p>
          <a:p>
            <a:pPr lvl="1">
              <a:buFont typeface="Wingdings" panose="05000000000000000000" pitchFamily="2" charset="2"/>
              <a:buChar char="l"/>
            </a:pPr>
            <a:r>
              <a:rPr lang="en-US" altLang="zh-CN" sz="2000" b="1" dirty="0"/>
              <a:t>The uppermost (32-N) bits </a:t>
            </a:r>
            <a:r>
              <a:rPr lang="en-US" altLang="zh-CN" sz="2000" b="1" dirty="0">
                <a:solidFill>
                  <a:srgbClr val="CC0000"/>
                </a:solidFill>
              </a:rPr>
              <a:t>are always the Cache Tag</a:t>
            </a:r>
            <a:endParaRPr lang="en-US" altLang="zh-CN" sz="2000" b="1" dirty="0">
              <a:solidFill>
                <a:srgbClr val="CC0000"/>
              </a:solidFill>
            </a:endParaRPr>
          </a:p>
          <a:p>
            <a:pPr lvl="1">
              <a:buFont typeface="Wingdings" panose="05000000000000000000" pitchFamily="2" charset="2"/>
              <a:buChar char="l"/>
            </a:pPr>
            <a:r>
              <a:rPr lang="en-US" altLang="zh-CN" sz="2000" b="1" dirty="0"/>
              <a:t>The lowest M bits are the Byte Select (Block Size = 2</a:t>
            </a:r>
            <a:r>
              <a:rPr lang="en-US" altLang="zh-CN" sz="2000" b="1" baseline="48000" dirty="0"/>
              <a:t>M</a:t>
            </a:r>
            <a:r>
              <a:rPr lang="en-US" altLang="zh-CN" sz="2000" b="1" dirty="0"/>
              <a:t>)</a:t>
            </a:r>
            <a:endParaRPr lang="en-US" altLang="zh-CN" sz="2000" b="1" dirty="0"/>
          </a:p>
        </p:txBody>
      </p:sp>
      <p:sp>
        <p:nvSpPr>
          <p:cNvPr id="147460" name="Rectangle 4"/>
          <p:cNvSpPr/>
          <p:nvPr/>
        </p:nvSpPr>
        <p:spPr>
          <a:xfrm>
            <a:off x="5030788" y="4300538"/>
            <a:ext cx="2794000" cy="2108200"/>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7461" name="Line 5"/>
          <p:cNvSpPr/>
          <p:nvPr/>
        </p:nvSpPr>
        <p:spPr>
          <a:xfrm>
            <a:off x="5030788" y="4592638"/>
            <a:ext cx="2794000" cy="0"/>
          </a:xfrm>
          <a:prstGeom prst="line">
            <a:avLst/>
          </a:prstGeom>
          <a:ln w="25400" cap="flat" cmpd="sng">
            <a:solidFill>
              <a:schemeClr val="tx1"/>
            </a:solidFill>
            <a:prstDash val="solid"/>
            <a:headEnd type="none" w="med" len="med"/>
            <a:tailEnd type="none" w="med" len="med"/>
          </a:ln>
        </p:spPr>
      </p:sp>
      <p:sp>
        <p:nvSpPr>
          <p:cNvPr id="147462" name="Line 6"/>
          <p:cNvSpPr/>
          <p:nvPr/>
        </p:nvSpPr>
        <p:spPr>
          <a:xfrm>
            <a:off x="5030788" y="4897438"/>
            <a:ext cx="2794000" cy="0"/>
          </a:xfrm>
          <a:prstGeom prst="line">
            <a:avLst/>
          </a:prstGeom>
          <a:ln w="25400" cap="flat" cmpd="sng">
            <a:solidFill>
              <a:schemeClr val="tx1"/>
            </a:solidFill>
            <a:prstDash val="solid"/>
            <a:headEnd type="none" w="med" len="med"/>
            <a:tailEnd type="none" w="med" len="med"/>
          </a:ln>
        </p:spPr>
      </p:sp>
      <p:sp>
        <p:nvSpPr>
          <p:cNvPr id="147463" name="Line 7"/>
          <p:cNvSpPr/>
          <p:nvPr/>
        </p:nvSpPr>
        <p:spPr>
          <a:xfrm>
            <a:off x="5030788" y="5202238"/>
            <a:ext cx="2794000" cy="0"/>
          </a:xfrm>
          <a:prstGeom prst="line">
            <a:avLst/>
          </a:prstGeom>
          <a:ln w="25400" cap="flat" cmpd="sng">
            <a:solidFill>
              <a:schemeClr val="tx1"/>
            </a:solidFill>
            <a:prstDash val="solid"/>
            <a:headEnd type="none" w="med" len="med"/>
            <a:tailEnd type="none" w="med" len="med"/>
          </a:ln>
        </p:spPr>
      </p:sp>
      <p:sp>
        <p:nvSpPr>
          <p:cNvPr id="147464" name="Rectangle 8"/>
          <p:cNvSpPr/>
          <p:nvPr/>
        </p:nvSpPr>
        <p:spPr>
          <a:xfrm>
            <a:off x="4932363" y="2630488"/>
            <a:ext cx="1658937" cy="393700"/>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CC0000"/>
                </a:solidFill>
              </a:rPr>
              <a:t>Cache</a:t>
            </a:r>
            <a:r>
              <a:rPr lang="en-US" altLang="zh-CN" sz="1600" b="1" dirty="0">
                <a:solidFill>
                  <a:srgbClr val="CC0000"/>
                </a:solidFill>
                <a:latin typeface="Times New Roman" panose="02020603050405020304" pitchFamily="18" charset="0"/>
              </a:rPr>
              <a:t> </a:t>
            </a:r>
            <a:r>
              <a:rPr lang="en-US" altLang="zh-CN" sz="2000" b="1" dirty="0">
                <a:solidFill>
                  <a:srgbClr val="CC0000"/>
                </a:solidFill>
              </a:rPr>
              <a:t>Index</a:t>
            </a:r>
            <a:endParaRPr lang="en-US" altLang="zh-CN" sz="2000" b="1" dirty="0">
              <a:solidFill>
                <a:srgbClr val="CC0000"/>
              </a:solidFill>
            </a:endParaRPr>
          </a:p>
        </p:txBody>
      </p:sp>
      <p:sp>
        <p:nvSpPr>
          <p:cNvPr id="147465" name="Rectangle 9"/>
          <p:cNvSpPr/>
          <p:nvPr/>
        </p:nvSpPr>
        <p:spPr>
          <a:xfrm>
            <a:off x="7816850" y="4281488"/>
            <a:ext cx="3079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0</a:t>
            </a:r>
            <a:endParaRPr lang="en-US" altLang="zh-CN" sz="1800" b="1" dirty="0"/>
          </a:p>
        </p:txBody>
      </p:sp>
      <p:sp>
        <p:nvSpPr>
          <p:cNvPr id="147466" name="Rectangle 10"/>
          <p:cNvSpPr/>
          <p:nvPr/>
        </p:nvSpPr>
        <p:spPr>
          <a:xfrm>
            <a:off x="7816850" y="4586288"/>
            <a:ext cx="3079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1</a:t>
            </a:r>
            <a:endParaRPr lang="en-US" altLang="zh-CN" sz="1800" b="1" dirty="0"/>
          </a:p>
        </p:txBody>
      </p:sp>
      <p:sp>
        <p:nvSpPr>
          <p:cNvPr id="147467" name="Rectangle 11"/>
          <p:cNvSpPr/>
          <p:nvPr/>
        </p:nvSpPr>
        <p:spPr>
          <a:xfrm>
            <a:off x="7816850" y="4891088"/>
            <a:ext cx="3079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2</a:t>
            </a:r>
            <a:endParaRPr lang="en-US" altLang="zh-CN" sz="1800" b="1" dirty="0"/>
          </a:p>
        </p:txBody>
      </p:sp>
      <p:sp>
        <p:nvSpPr>
          <p:cNvPr id="147468" name="Rectangle 12"/>
          <p:cNvSpPr/>
          <p:nvPr/>
        </p:nvSpPr>
        <p:spPr>
          <a:xfrm>
            <a:off x="7816850" y="5195888"/>
            <a:ext cx="3079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3</a:t>
            </a:r>
            <a:endParaRPr lang="en-US" altLang="zh-CN" sz="1800" b="1" dirty="0"/>
          </a:p>
        </p:txBody>
      </p:sp>
      <p:sp>
        <p:nvSpPr>
          <p:cNvPr id="147469" name="Line 13"/>
          <p:cNvSpPr/>
          <p:nvPr/>
        </p:nvSpPr>
        <p:spPr>
          <a:xfrm>
            <a:off x="5030788" y="5507038"/>
            <a:ext cx="2794000" cy="0"/>
          </a:xfrm>
          <a:prstGeom prst="line">
            <a:avLst/>
          </a:prstGeom>
          <a:ln w="25400" cap="flat" cmpd="sng">
            <a:solidFill>
              <a:schemeClr val="tx1"/>
            </a:solidFill>
            <a:prstDash val="solid"/>
            <a:headEnd type="none" w="med" len="med"/>
            <a:tailEnd type="none" w="med" len="med"/>
          </a:ln>
        </p:spPr>
      </p:sp>
      <p:sp>
        <p:nvSpPr>
          <p:cNvPr id="147470" name="Line 14"/>
          <p:cNvSpPr/>
          <p:nvPr/>
        </p:nvSpPr>
        <p:spPr>
          <a:xfrm>
            <a:off x="5030788" y="6116638"/>
            <a:ext cx="2794000" cy="0"/>
          </a:xfrm>
          <a:prstGeom prst="line">
            <a:avLst/>
          </a:prstGeom>
          <a:ln w="25400" cap="flat" cmpd="sng">
            <a:solidFill>
              <a:schemeClr val="tx1"/>
            </a:solidFill>
            <a:prstDash val="solid"/>
            <a:headEnd type="none" w="med" len="med"/>
            <a:tailEnd type="none" w="med" len="med"/>
          </a:ln>
        </p:spPr>
      </p:sp>
      <p:sp>
        <p:nvSpPr>
          <p:cNvPr id="147471" name="Rectangle 15"/>
          <p:cNvSpPr/>
          <p:nvPr/>
        </p:nvSpPr>
        <p:spPr>
          <a:xfrm>
            <a:off x="6369050" y="5486400"/>
            <a:ext cx="282575" cy="454025"/>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47472" name="Rectangle 16"/>
          <p:cNvSpPr/>
          <p:nvPr/>
        </p:nvSpPr>
        <p:spPr>
          <a:xfrm>
            <a:off x="4997450" y="3924300"/>
            <a:ext cx="1616075" cy="393700"/>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600" b="1" dirty="0">
                <a:latin typeface="Times New Roman" panose="02020603050405020304" pitchFamily="18" charset="0"/>
              </a:rPr>
              <a:t> </a:t>
            </a:r>
            <a:r>
              <a:rPr lang="en-US" altLang="zh-CN" sz="2000" b="1" dirty="0">
                <a:solidFill>
                  <a:srgbClr val="0000FF"/>
                </a:solidFill>
              </a:rPr>
              <a:t>Cache Data</a:t>
            </a:r>
            <a:endParaRPr lang="en-US" altLang="zh-CN" sz="2000" b="1" dirty="0">
              <a:solidFill>
                <a:srgbClr val="0000FF"/>
              </a:solidFill>
            </a:endParaRPr>
          </a:p>
        </p:txBody>
      </p:sp>
      <p:sp>
        <p:nvSpPr>
          <p:cNvPr id="147473" name="Rectangle 17"/>
          <p:cNvSpPr/>
          <p:nvPr/>
        </p:nvSpPr>
        <p:spPr>
          <a:xfrm>
            <a:off x="7054850" y="4281488"/>
            <a:ext cx="4730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B0</a:t>
            </a:r>
            <a:endParaRPr lang="en-US" altLang="zh-CN" sz="1800" b="1" dirty="0"/>
          </a:p>
        </p:txBody>
      </p:sp>
      <p:sp>
        <p:nvSpPr>
          <p:cNvPr id="147474" name="Rectangle 18"/>
          <p:cNvSpPr/>
          <p:nvPr/>
        </p:nvSpPr>
        <p:spPr>
          <a:xfrm>
            <a:off x="534988" y="2700338"/>
            <a:ext cx="7442200" cy="279400"/>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7475" name="Line 19"/>
          <p:cNvSpPr/>
          <p:nvPr/>
        </p:nvSpPr>
        <p:spPr>
          <a:xfrm>
            <a:off x="4941888" y="2700338"/>
            <a:ext cx="0" cy="279400"/>
          </a:xfrm>
          <a:prstGeom prst="line">
            <a:avLst/>
          </a:prstGeom>
          <a:ln w="25400" cap="flat" cmpd="sng">
            <a:solidFill>
              <a:schemeClr val="tx1"/>
            </a:solidFill>
            <a:prstDash val="solid"/>
            <a:headEnd type="none" w="med" len="med"/>
            <a:tailEnd type="none" w="med" len="med"/>
          </a:ln>
        </p:spPr>
      </p:sp>
      <p:sp>
        <p:nvSpPr>
          <p:cNvPr id="147476" name="Rectangle 20"/>
          <p:cNvSpPr/>
          <p:nvPr/>
        </p:nvSpPr>
        <p:spPr>
          <a:xfrm>
            <a:off x="7740650" y="2376488"/>
            <a:ext cx="3079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0</a:t>
            </a:r>
            <a:endParaRPr lang="en-US" altLang="zh-CN" sz="1800" b="1" dirty="0"/>
          </a:p>
        </p:txBody>
      </p:sp>
      <p:sp>
        <p:nvSpPr>
          <p:cNvPr id="147477" name="Rectangle 21"/>
          <p:cNvSpPr/>
          <p:nvPr/>
        </p:nvSpPr>
        <p:spPr>
          <a:xfrm>
            <a:off x="6267450" y="2389188"/>
            <a:ext cx="6000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5 </a:t>
            </a:r>
            <a:r>
              <a:rPr lang="en-US" altLang="zh-CN" sz="1600" dirty="0">
                <a:latin typeface="Times New Roman" panose="02020603050405020304" pitchFamily="18" charset="0"/>
              </a:rPr>
              <a:t>  </a:t>
            </a:r>
            <a:r>
              <a:rPr lang="en-US" altLang="zh-CN" sz="1800" b="1" dirty="0"/>
              <a:t>4</a:t>
            </a:r>
            <a:endParaRPr lang="en-US" altLang="zh-CN" sz="1800" b="1" dirty="0"/>
          </a:p>
        </p:txBody>
      </p:sp>
      <p:sp>
        <p:nvSpPr>
          <p:cNvPr id="147478" name="Rectangle 22"/>
          <p:cNvSpPr/>
          <p:nvPr/>
        </p:nvSpPr>
        <p:spPr>
          <a:xfrm>
            <a:off x="501650" y="2376488"/>
            <a:ext cx="4349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31</a:t>
            </a:r>
            <a:endParaRPr lang="en-US" altLang="zh-CN" sz="1800" b="1" dirty="0"/>
          </a:p>
        </p:txBody>
      </p:sp>
      <p:sp>
        <p:nvSpPr>
          <p:cNvPr id="147479" name="Rectangle 23"/>
          <p:cNvSpPr/>
          <p:nvPr/>
        </p:nvSpPr>
        <p:spPr>
          <a:xfrm>
            <a:off x="1449388" y="4300538"/>
            <a:ext cx="3251200" cy="2108200"/>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7480" name="Line 24"/>
          <p:cNvSpPr/>
          <p:nvPr/>
        </p:nvSpPr>
        <p:spPr>
          <a:xfrm flipH="1">
            <a:off x="1423988" y="4592638"/>
            <a:ext cx="3302000" cy="0"/>
          </a:xfrm>
          <a:prstGeom prst="line">
            <a:avLst/>
          </a:prstGeom>
          <a:ln w="25400" cap="flat" cmpd="sng">
            <a:solidFill>
              <a:schemeClr val="tx1"/>
            </a:solidFill>
            <a:prstDash val="solid"/>
            <a:headEnd type="none" w="med" len="med"/>
            <a:tailEnd type="none" w="med" len="med"/>
          </a:ln>
        </p:spPr>
      </p:sp>
      <p:sp>
        <p:nvSpPr>
          <p:cNvPr id="147481" name="Line 25"/>
          <p:cNvSpPr/>
          <p:nvPr/>
        </p:nvSpPr>
        <p:spPr>
          <a:xfrm flipH="1">
            <a:off x="1423988" y="4897438"/>
            <a:ext cx="3302000" cy="0"/>
          </a:xfrm>
          <a:prstGeom prst="line">
            <a:avLst/>
          </a:prstGeom>
          <a:ln w="25400" cap="flat" cmpd="sng">
            <a:solidFill>
              <a:schemeClr val="tx1"/>
            </a:solidFill>
            <a:prstDash val="solid"/>
            <a:headEnd type="none" w="med" len="med"/>
            <a:tailEnd type="none" w="med" len="med"/>
          </a:ln>
        </p:spPr>
      </p:sp>
      <p:sp>
        <p:nvSpPr>
          <p:cNvPr id="147482" name="Line 26"/>
          <p:cNvSpPr/>
          <p:nvPr/>
        </p:nvSpPr>
        <p:spPr>
          <a:xfrm flipH="1">
            <a:off x="1423988" y="5202238"/>
            <a:ext cx="3302000" cy="0"/>
          </a:xfrm>
          <a:prstGeom prst="line">
            <a:avLst/>
          </a:prstGeom>
          <a:ln w="25400" cap="flat" cmpd="sng">
            <a:solidFill>
              <a:schemeClr val="tx1"/>
            </a:solidFill>
            <a:prstDash val="solid"/>
            <a:headEnd type="none" w="med" len="med"/>
            <a:tailEnd type="none" w="med" len="med"/>
          </a:ln>
        </p:spPr>
      </p:sp>
      <p:sp>
        <p:nvSpPr>
          <p:cNvPr id="147483" name="Line 27"/>
          <p:cNvSpPr/>
          <p:nvPr/>
        </p:nvSpPr>
        <p:spPr>
          <a:xfrm flipH="1">
            <a:off x="1423988" y="5507038"/>
            <a:ext cx="3302000" cy="0"/>
          </a:xfrm>
          <a:prstGeom prst="line">
            <a:avLst/>
          </a:prstGeom>
          <a:ln w="25400" cap="flat" cmpd="sng">
            <a:solidFill>
              <a:schemeClr val="tx1"/>
            </a:solidFill>
            <a:prstDash val="solid"/>
            <a:headEnd type="none" w="med" len="med"/>
            <a:tailEnd type="none" w="med" len="med"/>
          </a:ln>
        </p:spPr>
      </p:sp>
      <p:sp>
        <p:nvSpPr>
          <p:cNvPr id="147484" name="Line 28"/>
          <p:cNvSpPr/>
          <p:nvPr/>
        </p:nvSpPr>
        <p:spPr>
          <a:xfrm flipH="1">
            <a:off x="1423988" y="6116638"/>
            <a:ext cx="3302000" cy="0"/>
          </a:xfrm>
          <a:prstGeom prst="line">
            <a:avLst/>
          </a:prstGeom>
          <a:ln w="25400" cap="flat" cmpd="sng">
            <a:solidFill>
              <a:schemeClr val="tx1"/>
            </a:solidFill>
            <a:prstDash val="solid"/>
            <a:headEnd type="none" w="med" len="med"/>
            <a:tailEnd type="none" w="med" len="med"/>
          </a:ln>
        </p:spPr>
      </p:sp>
      <p:sp>
        <p:nvSpPr>
          <p:cNvPr id="147485" name="Rectangle 29"/>
          <p:cNvSpPr/>
          <p:nvPr/>
        </p:nvSpPr>
        <p:spPr>
          <a:xfrm>
            <a:off x="2940050" y="5562600"/>
            <a:ext cx="282575" cy="454025"/>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47486" name="Rectangle 30"/>
          <p:cNvSpPr/>
          <p:nvPr/>
        </p:nvSpPr>
        <p:spPr>
          <a:xfrm>
            <a:off x="1376363" y="2630488"/>
            <a:ext cx="1466850" cy="393700"/>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CC0000"/>
                </a:solidFill>
              </a:rPr>
              <a:t>Cache Tag</a:t>
            </a:r>
            <a:endParaRPr lang="en-US" altLang="zh-CN" sz="2000" b="1" dirty="0">
              <a:solidFill>
                <a:srgbClr val="CC0000"/>
              </a:solidFill>
            </a:endParaRPr>
          </a:p>
        </p:txBody>
      </p:sp>
      <p:sp>
        <p:nvSpPr>
          <p:cNvPr id="147487" name="Rectangle 31"/>
          <p:cNvSpPr/>
          <p:nvPr/>
        </p:nvSpPr>
        <p:spPr>
          <a:xfrm>
            <a:off x="2951163" y="2619375"/>
            <a:ext cx="1925637" cy="393700"/>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0000FF"/>
                </a:solidFill>
              </a:rPr>
              <a:t>Example:</a:t>
            </a:r>
            <a:r>
              <a:rPr lang="en-US" altLang="zh-CN" sz="1600" b="1" dirty="0">
                <a:solidFill>
                  <a:srgbClr val="0000FF"/>
                </a:solidFill>
                <a:latin typeface="Times New Roman" panose="02020603050405020304" pitchFamily="18" charset="0"/>
              </a:rPr>
              <a:t> </a:t>
            </a:r>
            <a:r>
              <a:rPr lang="en-US" altLang="zh-CN" sz="2000" b="1" dirty="0">
                <a:solidFill>
                  <a:srgbClr val="0000FF"/>
                </a:solidFill>
              </a:rPr>
              <a:t>0x50</a:t>
            </a:r>
            <a:endParaRPr lang="en-US" altLang="zh-CN" sz="2000" b="1" dirty="0">
              <a:solidFill>
                <a:srgbClr val="0000FF"/>
              </a:solidFill>
            </a:endParaRPr>
          </a:p>
        </p:txBody>
      </p:sp>
      <p:sp>
        <p:nvSpPr>
          <p:cNvPr id="147488" name="Rectangle 32"/>
          <p:cNvSpPr/>
          <p:nvPr/>
        </p:nvSpPr>
        <p:spPr>
          <a:xfrm>
            <a:off x="5149850" y="2986088"/>
            <a:ext cx="1211263" cy="393700"/>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0000FF"/>
                </a:solidFill>
              </a:rPr>
              <a:t>Ex: 0x01</a:t>
            </a:r>
            <a:endParaRPr lang="en-US" altLang="zh-CN" sz="2000" b="1" dirty="0">
              <a:solidFill>
                <a:srgbClr val="0000FF"/>
              </a:solidFill>
            </a:endParaRPr>
          </a:p>
        </p:txBody>
      </p:sp>
      <p:sp>
        <p:nvSpPr>
          <p:cNvPr id="147489" name="Rectangle 33"/>
          <p:cNvSpPr/>
          <p:nvPr/>
        </p:nvSpPr>
        <p:spPr>
          <a:xfrm>
            <a:off x="2787650" y="4586288"/>
            <a:ext cx="746125" cy="393700"/>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CC0000"/>
                </a:solidFill>
              </a:rPr>
              <a:t>0x50</a:t>
            </a:r>
            <a:endParaRPr lang="en-US" altLang="zh-CN" sz="2000" b="1" dirty="0">
              <a:solidFill>
                <a:srgbClr val="CC0000"/>
              </a:solidFill>
            </a:endParaRPr>
          </a:p>
        </p:txBody>
      </p:sp>
      <p:sp>
        <p:nvSpPr>
          <p:cNvPr id="147490" name="Rectangle 34"/>
          <p:cNvSpPr/>
          <p:nvPr/>
        </p:nvSpPr>
        <p:spPr>
          <a:xfrm>
            <a:off x="839788" y="4300538"/>
            <a:ext cx="279400" cy="2108200"/>
          </a:xfrm>
          <a:prstGeom prst="rect">
            <a:avLst/>
          </a:prstGeom>
          <a:noFill/>
          <a:ln w="254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7491" name="Rectangle 35"/>
          <p:cNvSpPr/>
          <p:nvPr/>
        </p:nvSpPr>
        <p:spPr>
          <a:xfrm>
            <a:off x="431800" y="3878263"/>
            <a:ext cx="1195388" cy="393700"/>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0000FF"/>
                </a:solidFill>
              </a:rPr>
              <a:t>Valid Bit</a:t>
            </a:r>
            <a:endParaRPr lang="en-US" altLang="zh-CN" sz="2000" b="1" dirty="0">
              <a:solidFill>
                <a:srgbClr val="0000FF"/>
              </a:solidFill>
            </a:endParaRPr>
          </a:p>
        </p:txBody>
      </p:sp>
      <p:sp>
        <p:nvSpPr>
          <p:cNvPr id="147492" name="Line 36"/>
          <p:cNvSpPr/>
          <p:nvPr/>
        </p:nvSpPr>
        <p:spPr>
          <a:xfrm flipH="1">
            <a:off x="827088" y="4592638"/>
            <a:ext cx="304800" cy="0"/>
          </a:xfrm>
          <a:prstGeom prst="line">
            <a:avLst/>
          </a:prstGeom>
          <a:ln w="25400" cap="flat" cmpd="sng">
            <a:solidFill>
              <a:schemeClr val="tx1"/>
            </a:solidFill>
            <a:prstDash val="solid"/>
            <a:headEnd type="none" w="med" len="med"/>
            <a:tailEnd type="none" w="med" len="med"/>
          </a:ln>
        </p:spPr>
      </p:sp>
      <p:sp>
        <p:nvSpPr>
          <p:cNvPr id="147493" name="Line 37"/>
          <p:cNvSpPr/>
          <p:nvPr/>
        </p:nvSpPr>
        <p:spPr>
          <a:xfrm flipH="1">
            <a:off x="814388" y="4897438"/>
            <a:ext cx="330200" cy="0"/>
          </a:xfrm>
          <a:prstGeom prst="line">
            <a:avLst/>
          </a:prstGeom>
          <a:ln w="25400" cap="flat" cmpd="sng">
            <a:solidFill>
              <a:schemeClr val="tx1"/>
            </a:solidFill>
            <a:prstDash val="solid"/>
            <a:headEnd type="none" w="med" len="med"/>
            <a:tailEnd type="none" w="med" len="med"/>
          </a:ln>
        </p:spPr>
      </p:sp>
      <p:sp>
        <p:nvSpPr>
          <p:cNvPr id="147494" name="Line 38"/>
          <p:cNvSpPr/>
          <p:nvPr/>
        </p:nvSpPr>
        <p:spPr>
          <a:xfrm flipH="1">
            <a:off x="814388" y="5202238"/>
            <a:ext cx="330200" cy="0"/>
          </a:xfrm>
          <a:prstGeom prst="line">
            <a:avLst/>
          </a:prstGeom>
          <a:ln w="25400" cap="flat" cmpd="sng">
            <a:solidFill>
              <a:schemeClr val="tx1"/>
            </a:solidFill>
            <a:prstDash val="solid"/>
            <a:headEnd type="none" w="med" len="med"/>
            <a:tailEnd type="none" w="med" len="med"/>
          </a:ln>
        </p:spPr>
      </p:sp>
      <p:sp>
        <p:nvSpPr>
          <p:cNvPr id="147495" name="Line 39"/>
          <p:cNvSpPr/>
          <p:nvPr/>
        </p:nvSpPr>
        <p:spPr>
          <a:xfrm flipH="1">
            <a:off x="814388" y="5507038"/>
            <a:ext cx="330200" cy="0"/>
          </a:xfrm>
          <a:prstGeom prst="line">
            <a:avLst/>
          </a:prstGeom>
          <a:ln w="25400" cap="flat" cmpd="sng">
            <a:solidFill>
              <a:schemeClr val="tx1"/>
            </a:solidFill>
            <a:prstDash val="solid"/>
            <a:headEnd type="none" w="med" len="med"/>
            <a:tailEnd type="none" w="med" len="med"/>
          </a:ln>
        </p:spPr>
      </p:sp>
      <p:sp>
        <p:nvSpPr>
          <p:cNvPr id="147496" name="Line 40"/>
          <p:cNvSpPr/>
          <p:nvPr/>
        </p:nvSpPr>
        <p:spPr>
          <a:xfrm flipH="1">
            <a:off x="814388" y="6116638"/>
            <a:ext cx="330200" cy="0"/>
          </a:xfrm>
          <a:prstGeom prst="line">
            <a:avLst/>
          </a:prstGeom>
          <a:ln w="25400" cap="flat" cmpd="sng">
            <a:solidFill>
              <a:schemeClr val="tx1"/>
            </a:solidFill>
            <a:prstDash val="solid"/>
            <a:headEnd type="none" w="med" len="med"/>
            <a:tailEnd type="none" w="med" len="med"/>
          </a:ln>
        </p:spPr>
      </p:sp>
      <p:sp>
        <p:nvSpPr>
          <p:cNvPr id="147497" name="Rectangle 41"/>
          <p:cNvSpPr/>
          <p:nvPr/>
        </p:nvSpPr>
        <p:spPr>
          <a:xfrm>
            <a:off x="882650" y="5562600"/>
            <a:ext cx="282575" cy="454025"/>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47498" name="Rectangle 42"/>
          <p:cNvSpPr/>
          <p:nvPr/>
        </p:nvSpPr>
        <p:spPr>
          <a:xfrm>
            <a:off x="7816850" y="6110288"/>
            <a:ext cx="4349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31</a:t>
            </a:r>
            <a:endParaRPr lang="en-US" altLang="zh-CN" sz="1800" b="1" dirty="0"/>
          </a:p>
        </p:txBody>
      </p:sp>
      <p:sp>
        <p:nvSpPr>
          <p:cNvPr id="147499" name="Line 43"/>
          <p:cNvSpPr/>
          <p:nvPr/>
        </p:nvSpPr>
        <p:spPr>
          <a:xfrm>
            <a:off x="7075488" y="4300538"/>
            <a:ext cx="0" cy="279400"/>
          </a:xfrm>
          <a:prstGeom prst="line">
            <a:avLst/>
          </a:prstGeom>
          <a:ln w="25400" cap="flat" cmpd="sng">
            <a:solidFill>
              <a:schemeClr val="tx1"/>
            </a:solidFill>
            <a:prstDash val="solid"/>
            <a:headEnd type="none" w="med" len="med"/>
            <a:tailEnd type="none" w="med" len="med"/>
          </a:ln>
        </p:spPr>
      </p:sp>
      <p:sp>
        <p:nvSpPr>
          <p:cNvPr id="147500" name="Rectangle 44"/>
          <p:cNvSpPr/>
          <p:nvPr/>
        </p:nvSpPr>
        <p:spPr>
          <a:xfrm>
            <a:off x="6292850" y="4281488"/>
            <a:ext cx="4730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B1</a:t>
            </a:r>
            <a:endParaRPr lang="en-US" altLang="zh-CN" sz="1800" b="1" dirty="0"/>
          </a:p>
        </p:txBody>
      </p:sp>
      <p:sp>
        <p:nvSpPr>
          <p:cNvPr id="147501" name="Line 45"/>
          <p:cNvSpPr/>
          <p:nvPr/>
        </p:nvSpPr>
        <p:spPr>
          <a:xfrm>
            <a:off x="6313488" y="4300538"/>
            <a:ext cx="0" cy="279400"/>
          </a:xfrm>
          <a:prstGeom prst="line">
            <a:avLst/>
          </a:prstGeom>
          <a:ln w="25400" cap="flat" cmpd="sng">
            <a:solidFill>
              <a:schemeClr val="tx1"/>
            </a:solidFill>
            <a:prstDash val="solid"/>
            <a:headEnd type="none" w="med" len="med"/>
            <a:tailEnd type="none" w="med" len="med"/>
          </a:ln>
        </p:spPr>
      </p:sp>
      <p:sp>
        <p:nvSpPr>
          <p:cNvPr id="147502" name="Rectangle 46"/>
          <p:cNvSpPr/>
          <p:nvPr/>
        </p:nvSpPr>
        <p:spPr>
          <a:xfrm>
            <a:off x="4997450" y="4281488"/>
            <a:ext cx="6000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B31</a:t>
            </a:r>
            <a:endParaRPr lang="en-US" altLang="zh-CN" sz="1800" b="1" dirty="0"/>
          </a:p>
        </p:txBody>
      </p:sp>
      <p:sp>
        <p:nvSpPr>
          <p:cNvPr id="147503" name="Line 47"/>
          <p:cNvSpPr/>
          <p:nvPr/>
        </p:nvSpPr>
        <p:spPr>
          <a:xfrm>
            <a:off x="5780088" y="4300538"/>
            <a:ext cx="0" cy="279400"/>
          </a:xfrm>
          <a:prstGeom prst="line">
            <a:avLst/>
          </a:prstGeom>
          <a:ln w="25400" cap="flat" cmpd="sng">
            <a:solidFill>
              <a:schemeClr val="tx1"/>
            </a:solidFill>
            <a:prstDash val="solid"/>
            <a:headEnd type="none" w="med" len="med"/>
            <a:tailEnd type="none" w="med" len="med"/>
          </a:ln>
        </p:spPr>
      </p:sp>
      <p:sp>
        <p:nvSpPr>
          <p:cNvPr id="147504" name="Rectangle 48"/>
          <p:cNvSpPr/>
          <p:nvPr/>
        </p:nvSpPr>
        <p:spPr>
          <a:xfrm rot="-5400000">
            <a:off x="5916613" y="4195763"/>
            <a:ext cx="282575" cy="454025"/>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47505" name="Rectangle 49"/>
          <p:cNvSpPr/>
          <p:nvPr/>
        </p:nvSpPr>
        <p:spPr>
          <a:xfrm>
            <a:off x="7054850" y="4586288"/>
            <a:ext cx="6000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B32</a:t>
            </a:r>
            <a:endParaRPr lang="en-US" altLang="zh-CN" sz="1800" b="1" dirty="0"/>
          </a:p>
        </p:txBody>
      </p:sp>
      <p:sp>
        <p:nvSpPr>
          <p:cNvPr id="147506" name="Line 50"/>
          <p:cNvSpPr/>
          <p:nvPr/>
        </p:nvSpPr>
        <p:spPr>
          <a:xfrm>
            <a:off x="7075488" y="4605338"/>
            <a:ext cx="0" cy="279400"/>
          </a:xfrm>
          <a:prstGeom prst="line">
            <a:avLst/>
          </a:prstGeom>
          <a:ln w="25400" cap="flat" cmpd="sng">
            <a:solidFill>
              <a:schemeClr val="tx1"/>
            </a:solidFill>
            <a:prstDash val="solid"/>
            <a:headEnd type="none" w="med" len="med"/>
            <a:tailEnd type="none" w="med" len="med"/>
          </a:ln>
        </p:spPr>
      </p:sp>
      <p:sp>
        <p:nvSpPr>
          <p:cNvPr id="147507" name="Rectangle 51"/>
          <p:cNvSpPr/>
          <p:nvPr/>
        </p:nvSpPr>
        <p:spPr>
          <a:xfrm>
            <a:off x="6292850" y="4586288"/>
            <a:ext cx="6000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B33</a:t>
            </a:r>
            <a:endParaRPr lang="en-US" altLang="zh-CN" sz="1800" b="1" dirty="0"/>
          </a:p>
        </p:txBody>
      </p:sp>
      <p:sp>
        <p:nvSpPr>
          <p:cNvPr id="147508" name="Line 52"/>
          <p:cNvSpPr/>
          <p:nvPr/>
        </p:nvSpPr>
        <p:spPr>
          <a:xfrm>
            <a:off x="6313488" y="4605338"/>
            <a:ext cx="0" cy="279400"/>
          </a:xfrm>
          <a:prstGeom prst="line">
            <a:avLst/>
          </a:prstGeom>
          <a:ln w="25400" cap="flat" cmpd="sng">
            <a:solidFill>
              <a:schemeClr val="tx1"/>
            </a:solidFill>
            <a:prstDash val="solid"/>
            <a:headEnd type="none" w="med" len="med"/>
            <a:tailEnd type="none" w="med" len="med"/>
          </a:ln>
        </p:spPr>
      </p:sp>
      <p:sp>
        <p:nvSpPr>
          <p:cNvPr id="147509" name="Rectangle 53"/>
          <p:cNvSpPr/>
          <p:nvPr/>
        </p:nvSpPr>
        <p:spPr>
          <a:xfrm>
            <a:off x="4997450" y="4586288"/>
            <a:ext cx="6000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B63</a:t>
            </a:r>
            <a:endParaRPr lang="en-US" altLang="zh-CN" sz="1800" b="1" dirty="0"/>
          </a:p>
        </p:txBody>
      </p:sp>
      <p:sp>
        <p:nvSpPr>
          <p:cNvPr id="147510" name="Line 54"/>
          <p:cNvSpPr/>
          <p:nvPr/>
        </p:nvSpPr>
        <p:spPr>
          <a:xfrm>
            <a:off x="5780088" y="4605338"/>
            <a:ext cx="0" cy="279400"/>
          </a:xfrm>
          <a:prstGeom prst="line">
            <a:avLst/>
          </a:prstGeom>
          <a:ln w="25400" cap="flat" cmpd="sng">
            <a:solidFill>
              <a:schemeClr val="tx1"/>
            </a:solidFill>
            <a:prstDash val="solid"/>
            <a:headEnd type="none" w="med" len="med"/>
            <a:tailEnd type="none" w="med" len="med"/>
          </a:ln>
        </p:spPr>
      </p:sp>
      <p:sp>
        <p:nvSpPr>
          <p:cNvPr id="147511" name="Rectangle 55"/>
          <p:cNvSpPr/>
          <p:nvPr/>
        </p:nvSpPr>
        <p:spPr>
          <a:xfrm rot="-5400000">
            <a:off x="5916613" y="4500563"/>
            <a:ext cx="282575" cy="454025"/>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47512" name="Rectangle 56"/>
          <p:cNvSpPr/>
          <p:nvPr/>
        </p:nvSpPr>
        <p:spPr>
          <a:xfrm>
            <a:off x="7085013" y="6084888"/>
            <a:ext cx="7270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B992</a:t>
            </a:r>
            <a:endParaRPr lang="en-US" altLang="zh-CN" sz="1800" b="1" dirty="0"/>
          </a:p>
        </p:txBody>
      </p:sp>
      <p:sp>
        <p:nvSpPr>
          <p:cNvPr id="147513" name="Rectangle 57"/>
          <p:cNvSpPr/>
          <p:nvPr/>
        </p:nvSpPr>
        <p:spPr>
          <a:xfrm>
            <a:off x="4997450" y="6110288"/>
            <a:ext cx="8540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B1023</a:t>
            </a:r>
            <a:endParaRPr lang="en-US" altLang="zh-CN" sz="1800" b="1" dirty="0"/>
          </a:p>
        </p:txBody>
      </p:sp>
      <p:sp>
        <p:nvSpPr>
          <p:cNvPr id="147514" name="Rectangle 58"/>
          <p:cNvSpPr/>
          <p:nvPr/>
        </p:nvSpPr>
        <p:spPr>
          <a:xfrm rot="-5400000">
            <a:off x="6373813" y="6024563"/>
            <a:ext cx="282575" cy="454025"/>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p:txBody>
      </p:sp>
      <p:sp>
        <p:nvSpPr>
          <p:cNvPr id="147515" name="Rectangle 59"/>
          <p:cNvSpPr/>
          <p:nvPr/>
        </p:nvSpPr>
        <p:spPr>
          <a:xfrm>
            <a:off x="1492250" y="3924300"/>
            <a:ext cx="1498600" cy="393700"/>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600" b="1" dirty="0">
                <a:latin typeface="Times New Roman" panose="02020603050405020304" pitchFamily="18" charset="0"/>
              </a:rPr>
              <a:t> </a:t>
            </a:r>
            <a:r>
              <a:rPr lang="en-US" altLang="zh-CN" sz="2000" b="1" dirty="0">
                <a:solidFill>
                  <a:srgbClr val="0000FF"/>
                </a:solidFill>
              </a:rPr>
              <a:t>Cache</a:t>
            </a:r>
            <a:r>
              <a:rPr lang="en-US" altLang="zh-CN" sz="1600" b="1" dirty="0">
                <a:solidFill>
                  <a:srgbClr val="0000FF"/>
                </a:solidFill>
                <a:latin typeface="Times New Roman" panose="02020603050405020304" pitchFamily="18" charset="0"/>
              </a:rPr>
              <a:t> </a:t>
            </a:r>
            <a:r>
              <a:rPr lang="en-US" altLang="zh-CN" sz="2000" b="1" dirty="0">
                <a:solidFill>
                  <a:srgbClr val="0000FF"/>
                </a:solidFill>
              </a:rPr>
              <a:t>Tag</a:t>
            </a:r>
            <a:endParaRPr lang="en-US" altLang="zh-CN" sz="2000" b="1" dirty="0">
              <a:solidFill>
                <a:srgbClr val="0000FF"/>
              </a:solidFill>
            </a:endParaRPr>
          </a:p>
        </p:txBody>
      </p:sp>
      <p:sp>
        <p:nvSpPr>
          <p:cNvPr id="147516" name="Line 60"/>
          <p:cNvSpPr/>
          <p:nvPr/>
        </p:nvSpPr>
        <p:spPr>
          <a:xfrm>
            <a:off x="6542088" y="2700338"/>
            <a:ext cx="0" cy="279400"/>
          </a:xfrm>
          <a:prstGeom prst="line">
            <a:avLst/>
          </a:prstGeom>
          <a:ln w="25400" cap="flat" cmpd="sng">
            <a:solidFill>
              <a:schemeClr val="tx1"/>
            </a:solidFill>
            <a:prstDash val="solid"/>
            <a:headEnd type="none" w="med" len="med"/>
            <a:tailEnd type="none" w="med" len="med"/>
          </a:ln>
        </p:spPr>
      </p:sp>
      <p:sp>
        <p:nvSpPr>
          <p:cNvPr id="147517" name="Rectangle 61"/>
          <p:cNvSpPr/>
          <p:nvPr/>
        </p:nvSpPr>
        <p:spPr>
          <a:xfrm>
            <a:off x="6488113" y="2663825"/>
            <a:ext cx="1549400" cy="393700"/>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CC0000"/>
                </a:solidFill>
              </a:rPr>
              <a:t>Byte Select</a:t>
            </a:r>
            <a:endParaRPr lang="en-US" altLang="zh-CN" sz="2000" b="1" dirty="0">
              <a:solidFill>
                <a:srgbClr val="CC0000"/>
              </a:solidFill>
            </a:endParaRPr>
          </a:p>
        </p:txBody>
      </p:sp>
      <p:sp>
        <p:nvSpPr>
          <p:cNvPr id="147518" name="Rectangle 62"/>
          <p:cNvSpPr/>
          <p:nvPr/>
        </p:nvSpPr>
        <p:spPr>
          <a:xfrm>
            <a:off x="6750050" y="2986088"/>
            <a:ext cx="1192213" cy="393700"/>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0000FF"/>
                </a:solidFill>
              </a:rPr>
              <a:t>Ex:</a:t>
            </a:r>
            <a:r>
              <a:rPr lang="en-US" altLang="zh-CN" sz="1600" b="1" dirty="0">
                <a:solidFill>
                  <a:srgbClr val="0000FF"/>
                </a:solidFill>
                <a:latin typeface="Times New Roman" panose="02020603050405020304" pitchFamily="18" charset="0"/>
              </a:rPr>
              <a:t> </a:t>
            </a:r>
            <a:r>
              <a:rPr lang="en-US" altLang="zh-CN" sz="2000" b="1" dirty="0">
                <a:solidFill>
                  <a:srgbClr val="0000FF"/>
                </a:solidFill>
              </a:rPr>
              <a:t>0x00</a:t>
            </a:r>
            <a:endParaRPr lang="en-US" altLang="zh-CN" sz="2000" b="1" dirty="0">
              <a:solidFill>
                <a:srgbClr val="0000FF"/>
              </a:solidFill>
            </a:endParaRPr>
          </a:p>
        </p:txBody>
      </p:sp>
      <p:sp>
        <p:nvSpPr>
          <p:cNvPr id="147519" name="Rectangle 63"/>
          <p:cNvSpPr/>
          <p:nvPr/>
        </p:nvSpPr>
        <p:spPr>
          <a:xfrm>
            <a:off x="4578350" y="2389188"/>
            <a:ext cx="714375" cy="363537"/>
          </a:xfrm>
          <a:prstGeom prst="rect">
            <a:avLst/>
          </a:prstGeom>
          <a:noFill/>
          <a:ln w="9525">
            <a:noFill/>
          </a:ln>
        </p:spPr>
        <p:txBody>
          <a:bodyPr wrap="none" lIns="90488" tIns="44450" rIns="90488" bIns="4445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10</a:t>
            </a:r>
            <a:r>
              <a:rPr lang="en-US" altLang="zh-CN" sz="1600" dirty="0">
                <a:latin typeface="Times New Roman" panose="02020603050405020304" pitchFamily="18" charset="0"/>
              </a:rPr>
              <a:t>   </a:t>
            </a:r>
            <a:r>
              <a:rPr lang="en-US" altLang="zh-CN" sz="1800" b="1" dirty="0"/>
              <a:t>9</a:t>
            </a:r>
            <a:endParaRPr lang="en-US" altLang="zh-CN" sz="1800" b="1" dirty="0"/>
          </a:p>
        </p:txBody>
      </p:sp>
      <p:sp>
        <p:nvSpPr>
          <p:cNvPr id="185408" name="Text Box 64"/>
          <p:cNvSpPr txBox="1"/>
          <p:nvPr/>
        </p:nvSpPr>
        <p:spPr>
          <a:xfrm>
            <a:off x="4725988" y="1957388"/>
            <a:ext cx="4032250" cy="3048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CC0000"/>
                </a:solidFill>
                <a:ea typeface="华文新魏" pitchFamily="2" charset="-122"/>
              </a:rPr>
              <a:t>Suppose Block size is 32B , M=5</a:t>
            </a:r>
            <a:endParaRPr lang="en-US" altLang="zh-CN" sz="2000" b="1" dirty="0">
              <a:solidFill>
                <a:srgbClr val="CC0000"/>
              </a:solidFill>
              <a:ea typeface="华文新魏" pitchFamily="2" charset="-122"/>
            </a:endParaRPr>
          </a:p>
        </p:txBody>
      </p:sp>
      <p:grpSp>
        <p:nvGrpSpPr>
          <p:cNvPr id="2" name="Group 65"/>
          <p:cNvGrpSpPr/>
          <p:nvPr/>
        </p:nvGrpSpPr>
        <p:grpSpPr>
          <a:xfrm>
            <a:off x="4294188" y="2878138"/>
            <a:ext cx="266700" cy="1879600"/>
            <a:chOff x="2904" y="1704"/>
            <a:chExt cx="168" cy="1184"/>
          </a:xfrm>
        </p:grpSpPr>
        <p:sp>
          <p:nvSpPr>
            <p:cNvPr id="147535" name="Line 66"/>
            <p:cNvSpPr/>
            <p:nvPr/>
          </p:nvSpPr>
          <p:spPr>
            <a:xfrm>
              <a:off x="3072" y="1704"/>
              <a:ext cx="0" cy="1184"/>
            </a:xfrm>
            <a:prstGeom prst="line">
              <a:avLst/>
            </a:prstGeom>
            <a:ln w="25400" cap="flat" cmpd="sng">
              <a:solidFill>
                <a:srgbClr val="CC0000"/>
              </a:solidFill>
              <a:prstDash val="solid"/>
              <a:headEnd type="triangle" w="med" len="med"/>
              <a:tailEnd type="triangle" w="med" len="med"/>
            </a:ln>
          </p:spPr>
        </p:sp>
        <p:sp>
          <p:nvSpPr>
            <p:cNvPr id="147536" name="Rectangle 67"/>
            <p:cNvSpPr/>
            <p:nvPr/>
          </p:nvSpPr>
          <p:spPr>
            <a:xfrm>
              <a:off x="2904" y="2072"/>
              <a:ext cx="161" cy="192"/>
            </a:xfrm>
            <a:prstGeom prst="rect">
              <a:avLst/>
            </a:prstGeom>
            <a:noFill/>
            <a:ln w="9525">
              <a:noFill/>
            </a:ln>
          </p:spPr>
          <p:txBody>
            <a:bodyPr wrap="none" lIns="0" tIns="0" rIns="0" bIns="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CC0000"/>
                  </a:solidFill>
                  <a:cs typeface="Arial" panose="020B0604020202020204" pitchFamily="34" charset="0"/>
                </a:rPr>
                <a:t>②</a:t>
              </a:r>
              <a:endParaRPr lang="en-US" altLang="zh-CN" sz="2000" b="1" dirty="0">
                <a:solidFill>
                  <a:srgbClr val="CC0000"/>
                </a:solidFill>
                <a:ea typeface="Arial" panose="020B0604020202020204" pitchFamily="34" charset="0"/>
              </a:endParaRPr>
            </a:p>
          </p:txBody>
        </p:sp>
      </p:grpSp>
      <p:grpSp>
        <p:nvGrpSpPr>
          <p:cNvPr id="3" name="Group 68"/>
          <p:cNvGrpSpPr/>
          <p:nvPr/>
        </p:nvGrpSpPr>
        <p:grpSpPr>
          <a:xfrm>
            <a:off x="5627688" y="3284538"/>
            <a:ext cx="2819400" cy="1473200"/>
            <a:chOff x="3744" y="1960"/>
            <a:chExt cx="1776" cy="928"/>
          </a:xfrm>
        </p:grpSpPr>
        <p:grpSp>
          <p:nvGrpSpPr>
            <p:cNvPr id="147529" name="Group 69"/>
            <p:cNvGrpSpPr/>
            <p:nvPr/>
          </p:nvGrpSpPr>
          <p:grpSpPr>
            <a:xfrm>
              <a:off x="3744" y="1960"/>
              <a:ext cx="1776" cy="928"/>
              <a:chOff x="3744" y="1960"/>
              <a:chExt cx="1776" cy="928"/>
            </a:xfrm>
          </p:grpSpPr>
          <p:sp>
            <p:nvSpPr>
              <p:cNvPr id="147531" name="Line 70"/>
              <p:cNvSpPr/>
              <p:nvPr/>
            </p:nvSpPr>
            <p:spPr>
              <a:xfrm>
                <a:off x="5240" y="2880"/>
                <a:ext cx="272" cy="0"/>
              </a:xfrm>
              <a:prstGeom prst="line">
                <a:avLst/>
              </a:prstGeom>
              <a:ln w="25400" cap="flat" cmpd="sng">
                <a:solidFill>
                  <a:srgbClr val="CC0000"/>
                </a:solidFill>
                <a:prstDash val="solid"/>
                <a:headEnd type="triangle" w="med" len="med"/>
                <a:tailEnd type="none" w="med" len="med"/>
              </a:ln>
            </p:spPr>
          </p:sp>
          <p:sp>
            <p:nvSpPr>
              <p:cNvPr id="147532" name="Line 71"/>
              <p:cNvSpPr/>
              <p:nvPr/>
            </p:nvSpPr>
            <p:spPr>
              <a:xfrm>
                <a:off x="3752" y="2160"/>
                <a:ext cx="1760" cy="0"/>
              </a:xfrm>
              <a:prstGeom prst="line">
                <a:avLst/>
              </a:prstGeom>
              <a:ln w="25400" cap="flat" cmpd="sng">
                <a:solidFill>
                  <a:srgbClr val="CC0000"/>
                </a:solidFill>
                <a:prstDash val="solid"/>
                <a:headEnd type="none" w="med" len="med"/>
                <a:tailEnd type="none" w="med" len="med"/>
              </a:ln>
            </p:spPr>
          </p:sp>
          <p:sp>
            <p:nvSpPr>
              <p:cNvPr id="147533" name="Line 72"/>
              <p:cNvSpPr/>
              <p:nvPr/>
            </p:nvSpPr>
            <p:spPr>
              <a:xfrm flipV="1">
                <a:off x="5520" y="2152"/>
                <a:ext cx="0" cy="736"/>
              </a:xfrm>
              <a:prstGeom prst="line">
                <a:avLst/>
              </a:prstGeom>
              <a:ln w="25400" cap="flat" cmpd="sng">
                <a:solidFill>
                  <a:srgbClr val="CC0000"/>
                </a:solidFill>
                <a:prstDash val="solid"/>
                <a:headEnd type="none" w="med" len="med"/>
                <a:tailEnd type="none" w="med" len="med"/>
              </a:ln>
            </p:spPr>
          </p:sp>
          <p:sp>
            <p:nvSpPr>
              <p:cNvPr id="147534" name="Line 73"/>
              <p:cNvSpPr/>
              <p:nvPr/>
            </p:nvSpPr>
            <p:spPr>
              <a:xfrm flipV="1">
                <a:off x="3744" y="1960"/>
                <a:ext cx="0" cy="208"/>
              </a:xfrm>
              <a:prstGeom prst="line">
                <a:avLst/>
              </a:prstGeom>
              <a:ln w="25400" cap="flat" cmpd="sng">
                <a:solidFill>
                  <a:srgbClr val="CC0000"/>
                </a:solidFill>
                <a:prstDash val="solid"/>
                <a:headEnd type="none" w="med" len="med"/>
                <a:tailEnd type="none" w="med" len="med"/>
              </a:ln>
            </p:spPr>
          </p:sp>
        </p:grpSp>
        <p:sp>
          <p:nvSpPr>
            <p:cNvPr id="147530" name="Rectangle 74"/>
            <p:cNvSpPr/>
            <p:nvPr/>
          </p:nvSpPr>
          <p:spPr>
            <a:xfrm>
              <a:off x="5346" y="2277"/>
              <a:ext cx="161"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CC0000"/>
                  </a:solidFill>
                </a:rPr>
                <a:t>①</a:t>
              </a:r>
              <a:endParaRPr lang="en-US" altLang="zh-CN" sz="2000" b="1" dirty="0">
                <a:solidFill>
                  <a:srgbClr val="CC0000"/>
                </a:solidFill>
              </a:endParaRPr>
            </a:p>
          </p:txBody>
        </p:sp>
      </p:grpSp>
      <p:grpSp>
        <p:nvGrpSpPr>
          <p:cNvPr id="5" name="Group 75"/>
          <p:cNvGrpSpPr/>
          <p:nvPr/>
        </p:nvGrpSpPr>
        <p:grpSpPr>
          <a:xfrm>
            <a:off x="7226300" y="3335338"/>
            <a:ext cx="306388" cy="1422400"/>
            <a:chOff x="4751" y="1992"/>
            <a:chExt cx="193" cy="896"/>
          </a:xfrm>
        </p:grpSpPr>
        <p:sp>
          <p:nvSpPr>
            <p:cNvPr id="147527" name="Line 76"/>
            <p:cNvSpPr/>
            <p:nvPr/>
          </p:nvSpPr>
          <p:spPr>
            <a:xfrm>
              <a:off x="4944" y="1992"/>
              <a:ext cx="0" cy="896"/>
            </a:xfrm>
            <a:prstGeom prst="line">
              <a:avLst/>
            </a:prstGeom>
            <a:ln w="25400" cap="flat" cmpd="sng">
              <a:solidFill>
                <a:srgbClr val="CC0000"/>
              </a:solidFill>
              <a:prstDash val="solid"/>
              <a:headEnd type="none" w="med" len="med"/>
              <a:tailEnd type="triangle" w="med" len="med"/>
            </a:ln>
          </p:spPr>
        </p:sp>
        <p:sp>
          <p:nvSpPr>
            <p:cNvPr id="147528" name="Rectangle 77"/>
            <p:cNvSpPr/>
            <p:nvPr/>
          </p:nvSpPr>
          <p:spPr>
            <a:xfrm>
              <a:off x="4751" y="2277"/>
              <a:ext cx="161" cy="192"/>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CC0000"/>
                  </a:solidFill>
                </a:rPr>
                <a:t>④</a:t>
              </a:r>
              <a:endParaRPr lang="en-US" altLang="zh-CN" sz="2000" b="1" dirty="0">
                <a:solidFill>
                  <a:srgbClr val="CC0000"/>
                </a:solidFill>
              </a:endParaRPr>
            </a:p>
          </p:txBody>
        </p:sp>
      </p:grpSp>
      <p:grpSp>
        <p:nvGrpSpPr>
          <p:cNvPr id="6" name="Group 78"/>
          <p:cNvGrpSpPr/>
          <p:nvPr/>
        </p:nvGrpSpPr>
        <p:grpSpPr>
          <a:xfrm>
            <a:off x="476250" y="4592638"/>
            <a:ext cx="584200" cy="304800"/>
            <a:chOff x="499" y="2784"/>
            <a:chExt cx="368" cy="192"/>
          </a:xfrm>
        </p:grpSpPr>
        <p:sp>
          <p:nvSpPr>
            <p:cNvPr id="147525" name="Rectangle 79"/>
            <p:cNvSpPr/>
            <p:nvPr/>
          </p:nvSpPr>
          <p:spPr>
            <a:xfrm>
              <a:off x="499" y="2784"/>
              <a:ext cx="226" cy="192"/>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CC0000"/>
                  </a:solidFill>
                  <a:cs typeface="Arial" panose="020B0604020202020204" pitchFamily="34" charset="0"/>
                </a:rPr>
                <a:t>③</a:t>
              </a:r>
              <a:r>
                <a:rPr lang="en-US" altLang="zh-CN" sz="1800" b="1" i="1" dirty="0">
                  <a:solidFill>
                    <a:srgbClr val="666699"/>
                  </a:solidFill>
                  <a:cs typeface="Arial" panose="020B0604020202020204" pitchFamily="34" charset="0"/>
                </a:rPr>
                <a:t> </a:t>
              </a:r>
              <a:endParaRPr lang="en-US" altLang="zh-CN" sz="1800" b="1" i="1" dirty="0">
                <a:solidFill>
                  <a:srgbClr val="666699"/>
                </a:solidFill>
                <a:ea typeface="Arial" panose="020B0604020202020204" pitchFamily="34" charset="0"/>
              </a:endParaRPr>
            </a:p>
          </p:txBody>
        </p:sp>
        <p:sp>
          <p:nvSpPr>
            <p:cNvPr id="147526" name="Rectangle 80"/>
            <p:cNvSpPr/>
            <p:nvPr/>
          </p:nvSpPr>
          <p:spPr>
            <a:xfrm>
              <a:off x="787" y="2784"/>
              <a:ext cx="80" cy="17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CC0000"/>
                  </a:solidFill>
                  <a:ea typeface="华文新魏" pitchFamily="2" charset="-122"/>
                </a:rPr>
                <a:t>1</a:t>
              </a:r>
              <a:endParaRPr lang="en-US" altLang="zh-CN" sz="1800" b="1" dirty="0">
                <a:solidFill>
                  <a:srgbClr val="CC0000"/>
                </a:solidFill>
                <a:ea typeface="华文新魏" pitchFamily="2" charset="-122"/>
              </a:endParaRP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5347">
                                            <p:txEl>
                                              <p:charRg st="44" end="95"/>
                                            </p:txEl>
                                          </p:spTgt>
                                        </p:tgtEl>
                                        <p:attrNameLst>
                                          <p:attrName>style.visibility</p:attrName>
                                        </p:attrNameLst>
                                      </p:cBhvr>
                                      <p:to>
                                        <p:strVal val="visible"/>
                                      </p:to>
                                    </p:set>
                                    <p:animEffect transition="in" filter="blinds(horizontal)">
                                      <p:cBhvr>
                                        <p:cTn id="7" dur="500"/>
                                        <p:tgtEl>
                                          <p:spTgt spid="185347">
                                            <p:txEl>
                                              <p:charRg st="44" end="95"/>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85347">
                                            <p:txEl>
                                              <p:charRg st="95" end="151"/>
                                            </p:txEl>
                                          </p:spTgt>
                                        </p:tgtEl>
                                        <p:attrNameLst>
                                          <p:attrName>style.visibility</p:attrName>
                                        </p:attrNameLst>
                                      </p:cBhvr>
                                      <p:to>
                                        <p:strVal val="visible"/>
                                      </p:to>
                                    </p:set>
                                    <p:animEffect transition="in" filter="blinds(horizontal)">
                                      <p:cBhvr>
                                        <p:cTn id="12" dur="500"/>
                                        <p:tgtEl>
                                          <p:spTgt spid="185347">
                                            <p:txEl>
                                              <p:charRg st="95" end="15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5408"/>
                                        </p:tgtEl>
                                        <p:attrNameLst>
                                          <p:attrName>style.visibility</p:attrName>
                                        </p:attrNameLst>
                                      </p:cBhvr>
                                      <p:to>
                                        <p:strVal val="visible"/>
                                      </p:to>
                                    </p:set>
                                    <p:animEffect transition="in" filter="blinds(horizontal)">
                                      <p:cBhvr>
                                        <p:cTn id="17" dur="500"/>
                                        <p:tgtEl>
                                          <p:spTgt spid="18540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linds(horizontal)">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408"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527" name="AutoShape 135"/>
          <p:cNvSpPr/>
          <p:nvPr/>
        </p:nvSpPr>
        <p:spPr>
          <a:xfrm>
            <a:off x="8027988" y="3563938"/>
            <a:ext cx="936625" cy="2241550"/>
          </a:xfrm>
          <a:prstGeom prst="borderCallout1">
            <a:avLst>
              <a:gd name="adj1" fmla="val 5097"/>
              <a:gd name="adj2" fmla="val -8134"/>
              <a:gd name="adj3" fmla="val 13880"/>
              <a:gd name="adj4" fmla="val -118477"/>
            </a:avLst>
          </a:prstGeom>
          <a:solidFill>
            <a:schemeClr val="bg1"/>
          </a:solidFill>
          <a:ln w="15875" cap="flat" cmpd="sng">
            <a:solidFill>
              <a:srgbClr val="FF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gn="ctr" eaLnBrk="1" hangingPunct="1">
              <a:spcBef>
                <a:spcPct val="50000"/>
              </a:spcBef>
              <a:buClrTx/>
              <a:buSzTx/>
              <a:buFontTx/>
              <a:buNone/>
            </a:pPr>
            <a:r>
              <a:rPr lang="zh-CN" altLang="en-US" sz="1800" b="1" i="1" dirty="0">
                <a:solidFill>
                  <a:srgbClr val="FF3300"/>
                </a:solidFill>
                <a:ea typeface="华文新魏" pitchFamily="2" charset="-122"/>
              </a:rPr>
              <a:t>每一行</a:t>
            </a:r>
            <a:r>
              <a:rPr lang="en-US" altLang="zh-CN" sz="1800" b="1" i="1" dirty="0">
                <a:solidFill>
                  <a:srgbClr val="FF3300"/>
                </a:solidFill>
                <a:ea typeface="华文新魏" pitchFamily="2" charset="-122"/>
              </a:rPr>
              <a:t>16B</a:t>
            </a:r>
            <a:r>
              <a:rPr lang="zh-CN" altLang="en-US" sz="1800" b="1" i="1" dirty="0">
                <a:solidFill>
                  <a:srgbClr val="FF3300"/>
                </a:solidFill>
                <a:ea typeface="华文新魏" pitchFamily="2" charset="-122"/>
              </a:rPr>
              <a:t>（</a:t>
            </a:r>
            <a:r>
              <a:rPr lang="en-US" altLang="zh-CN" sz="1800" b="1" i="1" dirty="0">
                <a:solidFill>
                  <a:srgbClr val="FF3300"/>
                </a:solidFill>
                <a:ea typeface="华文新魏" pitchFamily="2" charset="-122"/>
              </a:rPr>
              <a:t>128bit=32bit*4</a:t>
            </a:r>
            <a:r>
              <a:rPr lang="zh-CN" altLang="en-US" sz="1800" b="1" i="1" dirty="0">
                <a:solidFill>
                  <a:srgbClr val="FF3300"/>
                </a:solidFill>
                <a:ea typeface="华文新魏" pitchFamily="2" charset="-122"/>
              </a:rPr>
              <a:t>），共</a:t>
            </a:r>
            <a:r>
              <a:rPr lang="en-US" altLang="zh-CN" sz="1800" b="1" i="1" dirty="0">
                <a:solidFill>
                  <a:srgbClr val="FF3300"/>
                </a:solidFill>
                <a:ea typeface="华文新魏" pitchFamily="2" charset="-122"/>
              </a:rPr>
              <a:t>64kB/16B=4k</a:t>
            </a:r>
            <a:r>
              <a:rPr lang="zh-CN" altLang="en-US" sz="1800" b="1" i="1" dirty="0">
                <a:solidFill>
                  <a:srgbClr val="FF3300"/>
                </a:solidFill>
                <a:ea typeface="华文新魏" pitchFamily="2" charset="-122"/>
              </a:rPr>
              <a:t>行</a:t>
            </a:r>
            <a:endParaRPr lang="zh-CN" altLang="en-US" sz="1800" b="1" i="1" dirty="0">
              <a:solidFill>
                <a:srgbClr val="FF3300"/>
              </a:solidFill>
              <a:ea typeface="华文新魏" pitchFamily="2" charset="-122"/>
            </a:endParaRPr>
          </a:p>
        </p:txBody>
      </p:sp>
      <p:sp>
        <p:nvSpPr>
          <p:cNvPr id="149507" name="Rectangle 2"/>
          <p:cNvSpPr>
            <a:spLocks noGrp="1"/>
          </p:cNvSpPr>
          <p:nvPr>
            <p:ph type="title"/>
          </p:nvPr>
        </p:nvSpPr>
        <p:spPr>
          <a:xfrm>
            <a:off x="738188" y="349250"/>
            <a:ext cx="7326312" cy="415925"/>
          </a:xfrm>
        </p:spPr>
        <p:txBody>
          <a:bodyPr vert="horz" wrap="none" lIns="63500" tIns="25400" rIns="63500" bIns="25400" anchor="t" anchorCtr="0">
            <a:spAutoFit/>
          </a:bodyPr>
          <a:p>
            <a:r>
              <a:rPr lang="en-US" altLang="zh-CN" sz="2400" dirty="0">
                <a:solidFill>
                  <a:srgbClr val="FF3300"/>
                </a:solidFill>
              </a:rPr>
              <a:t>Ex3: 64 KB Direct Mapped Cache with 16B Blocks</a:t>
            </a:r>
            <a:endParaRPr lang="en-US" altLang="zh-CN" sz="2400" dirty="0">
              <a:solidFill>
                <a:srgbClr val="FF3300"/>
              </a:solidFill>
            </a:endParaRPr>
          </a:p>
        </p:txBody>
      </p:sp>
      <p:sp>
        <p:nvSpPr>
          <p:cNvPr id="149508" name="Rectangle 3"/>
          <p:cNvSpPr>
            <a:spLocks noGrp="1"/>
          </p:cNvSpPr>
          <p:nvPr>
            <p:ph idx="1"/>
          </p:nvPr>
        </p:nvSpPr>
        <p:spPr>
          <a:xfrm>
            <a:off x="0" y="908050"/>
            <a:ext cx="9144000" cy="660400"/>
          </a:xfrm>
        </p:spPr>
        <p:txBody>
          <a:bodyPr vert="horz" wrap="square" lIns="63500" tIns="25400" rIns="63500" bIns="25400" anchor="t" anchorCtr="0">
            <a:spAutoFit/>
          </a:bodyPr>
          <a:p>
            <a:pPr>
              <a:spcBef>
                <a:spcPct val="0"/>
              </a:spcBef>
              <a:buNone/>
            </a:pPr>
            <a:r>
              <a:rPr lang="en-US" altLang="zh-CN" sz="1900" dirty="0"/>
              <a:t>     </a:t>
            </a:r>
            <a:r>
              <a:rPr lang="zh-CN" altLang="en-US" sz="2000" b="1" dirty="0">
                <a:ea typeface="黑体" panose="02010609060101010101" pitchFamily="49" charset="-122"/>
              </a:rPr>
              <a:t>主存和</a:t>
            </a:r>
            <a:r>
              <a:rPr lang="en-US" altLang="zh-CN" sz="2000" b="1" dirty="0">
                <a:ea typeface="黑体" panose="02010609060101010101" pitchFamily="49" charset="-122"/>
              </a:rPr>
              <a:t>Cache</a:t>
            </a:r>
            <a:r>
              <a:rPr lang="zh-CN" altLang="en-US" sz="2000" b="1" dirty="0">
                <a:ea typeface="黑体" panose="02010609060101010101" pitchFamily="49" charset="-122"/>
              </a:rPr>
              <a:t>之间直接映射，块大小为</a:t>
            </a:r>
            <a:r>
              <a:rPr lang="en-US" altLang="zh-CN" sz="2000" b="1" dirty="0">
                <a:ea typeface="黑体" panose="02010609060101010101" pitchFamily="49" charset="-122"/>
              </a:rPr>
              <a:t>16B</a:t>
            </a:r>
            <a:r>
              <a:rPr lang="zh-CN" altLang="en-US" sz="2000" b="1" dirty="0">
                <a:ea typeface="黑体" panose="02010609060101010101" pitchFamily="49" charset="-122"/>
              </a:rPr>
              <a:t>。</a:t>
            </a:r>
            <a:r>
              <a:rPr lang="en-US" altLang="zh-CN" sz="2000" b="1" dirty="0">
                <a:ea typeface="黑体" panose="02010609060101010101" pitchFamily="49" charset="-122"/>
              </a:rPr>
              <a:t>Cache</a:t>
            </a:r>
            <a:r>
              <a:rPr lang="zh-CN" altLang="en-US" sz="2000" b="1" dirty="0">
                <a:ea typeface="黑体" panose="02010609060101010101" pitchFamily="49" charset="-122"/>
              </a:rPr>
              <a:t>的数据区容量为</a:t>
            </a:r>
            <a:r>
              <a:rPr lang="en-US" altLang="zh-CN" sz="2000" b="1" dirty="0">
                <a:ea typeface="黑体" panose="02010609060101010101" pitchFamily="49" charset="-122"/>
              </a:rPr>
              <a:t>64KB</a:t>
            </a:r>
            <a:r>
              <a:rPr lang="zh-CN" altLang="en-US" sz="2000" b="1" dirty="0">
                <a:ea typeface="黑体" panose="02010609060101010101" pitchFamily="49" charset="-122"/>
              </a:rPr>
              <a:t>，主存地址为</a:t>
            </a:r>
            <a:r>
              <a:rPr lang="en-US" altLang="zh-CN" sz="2000" b="1" dirty="0">
                <a:ea typeface="黑体" panose="02010609060101010101" pitchFamily="49" charset="-122"/>
              </a:rPr>
              <a:t>32</a:t>
            </a:r>
            <a:r>
              <a:rPr lang="zh-CN" altLang="en-US" sz="2000" b="1" dirty="0">
                <a:ea typeface="黑体" panose="02010609060101010101" pitchFamily="49" charset="-122"/>
              </a:rPr>
              <a:t>位，按字节编址。要求：说明主存地址如何划分和访存过程。</a:t>
            </a:r>
            <a:r>
              <a:rPr lang="en-US" altLang="zh-CN" sz="1900" dirty="0"/>
              <a:t> </a:t>
            </a:r>
            <a:endParaRPr lang="en-US" altLang="zh-CN" sz="1900" dirty="0"/>
          </a:p>
        </p:txBody>
      </p:sp>
      <p:sp>
        <p:nvSpPr>
          <p:cNvPr id="149509" name="Freeform 4"/>
          <p:cNvSpPr/>
          <p:nvPr/>
        </p:nvSpPr>
        <p:spPr>
          <a:xfrm>
            <a:off x="1755775" y="5086350"/>
            <a:ext cx="61913" cy="55563"/>
          </a:xfrm>
          <a:custGeom>
            <a:avLst/>
            <a:gdLst>
              <a:gd name="txL" fmla="*/ 0 w 31"/>
              <a:gd name="txT" fmla="*/ 0 h 31"/>
              <a:gd name="txR" fmla="*/ 31 w 31"/>
              <a:gd name="txB" fmla="*/ 31 h 31"/>
            </a:gdLst>
            <a:ahLst/>
            <a:cxnLst>
              <a:cxn ang="0">
                <a:pos x="2147483646" y="0"/>
              </a:cxn>
              <a:cxn ang="0">
                <a:pos x="0" y="0"/>
              </a:cxn>
              <a:cxn ang="0">
                <a:pos x="2147483646" y="2147483646"/>
              </a:cxn>
              <a:cxn ang="0">
                <a:pos x="2147483646" y="0"/>
              </a:cxn>
              <a:cxn ang="0">
                <a:pos x="2147483646" y="0"/>
              </a:cxn>
              <a:cxn ang="0">
                <a:pos x="2147483646" y="0"/>
              </a:cxn>
            </a:cxnLst>
            <a:rect l="txL" t="txT" r="txR" b="txB"/>
            <a:pathLst>
              <a:path w="31" h="31">
                <a:moveTo>
                  <a:pt x="29" y="0"/>
                </a:moveTo>
                <a:lnTo>
                  <a:pt x="0" y="0"/>
                </a:lnTo>
                <a:lnTo>
                  <a:pt x="14" y="31"/>
                </a:lnTo>
                <a:lnTo>
                  <a:pt x="31" y="0"/>
                </a:lnTo>
                <a:lnTo>
                  <a:pt x="29" y="0"/>
                </a:lnTo>
                <a:close/>
              </a:path>
            </a:pathLst>
          </a:custGeom>
          <a:solidFill>
            <a:srgbClr val="000000">
              <a:alpha val="100000"/>
            </a:srgbClr>
          </a:solidFill>
          <a:ln w="9525">
            <a:noFill/>
          </a:ln>
        </p:spPr>
        <p:txBody>
          <a:bodyPr/>
          <a:p>
            <a:endParaRPr lang="zh-CN" altLang="en-US"/>
          </a:p>
        </p:txBody>
      </p:sp>
      <p:sp>
        <p:nvSpPr>
          <p:cNvPr id="149510" name="Line 5"/>
          <p:cNvSpPr/>
          <p:nvPr/>
        </p:nvSpPr>
        <p:spPr>
          <a:xfrm>
            <a:off x="3371850" y="2286000"/>
            <a:ext cx="80963" cy="42863"/>
          </a:xfrm>
          <a:prstGeom prst="line">
            <a:avLst/>
          </a:prstGeom>
          <a:ln w="12700" cap="flat" cmpd="sng">
            <a:solidFill>
              <a:srgbClr val="000000"/>
            </a:solidFill>
            <a:prstDash val="solid"/>
            <a:headEnd type="none" w="med" len="med"/>
            <a:tailEnd type="none" w="med" len="med"/>
          </a:ln>
        </p:spPr>
      </p:sp>
      <p:sp>
        <p:nvSpPr>
          <p:cNvPr id="149511" name="Rectangle 6"/>
          <p:cNvSpPr/>
          <p:nvPr/>
        </p:nvSpPr>
        <p:spPr>
          <a:xfrm>
            <a:off x="3476625" y="2168525"/>
            <a:ext cx="19685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400" b="1" dirty="0">
                <a:solidFill>
                  <a:srgbClr val="000000"/>
                </a:solidFill>
              </a:rPr>
              <a:t>16</a:t>
            </a:r>
            <a:endParaRPr lang="en-US" altLang="zh-CN" sz="1400" b="1" dirty="0">
              <a:latin typeface="Times New Roman" panose="02020603050405020304" pitchFamily="18" charset="0"/>
            </a:endParaRPr>
          </a:p>
        </p:txBody>
      </p:sp>
      <p:sp>
        <p:nvSpPr>
          <p:cNvPr id="149512" name="Line 7"/>
          <p:cNvSpPr/>
          <p:nvPr/>
        </p:nvSpPr>
        <p:spPr>
          <a:xfrm>
            <a:off x="3817938" y="2270125"/>
            <a:ext cx="157162" cy="82550"/>
          </a:xfrm>
          <a:prstGeom prst="line">
            <a:avLst/>
          </a:prstGeom>
          <a:ln w="12700" cap="flat" cmpd="sng">
            <a:solidFill>
              <a:srgbClr val="000000"/>
            </a:solidFill>
            <a:prstDash val="solid"/>
            <a:headEnd type="none" w="med" len="med"/>
            <a:tailEnd type="none" w="med" len="med"/>
          </a:ln>
        </p:spPr>
      </p:sp>
      <p:sp>
        <p:nvSpPr>
          <p:cNvPr id="149513" name="Rectangle 8"/>
          <p:cNvSpPr/>
          <p:nvPr/>
        </p:nvSpPr>
        <p:spPr>
          <a:xfrm>
            <a:off x="3937000" y="2168525"/>
            <a:ext cx="19685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400" b="1" dirty="0">
                <a:solidFill>
                  <a:srgbClr val="000000"/>
                </a:solidFill>
              </a:rPr>
              <a:t>12</a:t>
            </a:r>
            <a:endParaRPr lang="en-US" altLang="zh-CN" sz="1400" b="1" dirty="0">
              <a:latin typeface="Times New Roman" panose="02020603050405020304" pitchFamily="18" charset="0"/>
            </a:endParaRPr>
          </a:p>
        </p:txBody>
      </p:sp>
      <p:sp>
        <p:nvSpPr>
          <p:cNvPr id="149514" name="Rectangle 9"/>
          <p:cNvSpPr/>
          <p:nvPr/>
        </p:nvSpPr>
        <p:spPr>
          <a:xfrm>
            <a:off x="5586413" y="2079625"/>
            <a:ext cx="1685925" cy="27463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FF"/>
                </a:solidFill>
              </a:rPr>
              <a:t>Byte offset</a:t>
            </a:r>
            <a:endParaRPr lang="en-US" altLang="zh-CN" sz="1800" b="1" dirty="0">
              <a:solidFill>
                <a:srgbClr val="0000FF"/>
              </a:solidFill>
            </a:endParaRPr>
          </a:p>
        </p:txBody>
      </p:sp>
      <p:sp>
        <p:nvSpPr>
          <p:cNvPr id="149515" name="Freeform 10"/>
          <p:cNvSpPr/>
          <p:nvPr/>
        </p:nvSpPr>
        <p:spPr>
          <a:xfrm>
            <a:off x="1314450" y="3130550"/>
            <a:ext cx="5762625" cy="1660525"/>
          </a:xfrm>
          <a:custGeom>
            <a:avLst/>
            <a:gdLst>
              <a:gd name="txL" fmla="*/ 0 w 2903"/>
              <a:gd name="txT" fmla="*/ 0 h 915"/>
              <a:gd name="txR" fmla="*/ 2903 w 2903"/>
              <a:gd name="txB" fmla="*/ 915 h 915"/>
            </a:gdLst>
            <a:ahLst/>
            <a:cxnLst>
              <a:cxn ang="0">
                <a:pos x="2147483646" y="2147483646"/>
              </a:cxn>
              <a:cxn ang="0">
                <a:pos x="2147483646" y="0"/>
              </a:cxn>
              <a:cxn ang="0">
                <a:pos x="0" y="0"/>
              </a:cxn>
              <a:cxn ang="0">
                <a:pos x="0" y="2147483646"/>
              </a:cxn>
              <a:cxn ang="0">
                <a:pos x="2147483646" y="2147483646"/>
              </a:cxn>
              <a:cxn ang="0">
                <a:pos x="2147483646" y="2147483646"/>
              </a:cxn>
            </a:cxnLst>
            <a:rect l="txL" t="txT" r="txR" b="txB"/>
            <a:pathLst>
              <a:path w="2903" h="915">
                <a:moveTo>
                  <a:pt x="2901" y="913"/>
                </a:moveTo>
                <a:lnTo>
                  <a:pt x="2903" y="0"/>
                </a:lnTo>
                <a:lnTo>
                  <a:pt x="0" y="0"/>
                </a:lnTo>
                <a:lnTo>
                  <a:pt x="0" y="915"/>
                </a:lnTo>
                <a:lnTo>
                  <a:pt x="2903" y="915"/>
                </a:lnTo>
              </a:path>
            </a:pathLst>
          </a:custGeom>
          <a:noFill/>
          <a:ln w="12700" cap="flat" cmpd="sng">
            <a:solidFill>
              <a:srgbClr val="000000">
                <a:alpha val="100000"/>
              </a:srgbClr>
            </a:solidFill>
            <a:prstDash val="solid"/>
            <a:round/>
            <a:headEnd type="none" w="med" len="med"/>
            <a:tailEnd type="none" w="med" len="med"/>
          </a:ln>
        </p:spPr>
        <p:txBody>
          <a:bodyPr/>
          <a:p>
            <a:endParaRPr lang="zh-CN" altLang="en-US"/>
          </a:p>
        </p:txBody>
      </p:sp>
      <p:sp>
        <p:nvSpPr>
          <p:cNvPr id="149516" name="Rectangle 11"/>
          <p:cNvSpPr/>
          <p:nvPr/>
        </p:nvSpPr>
        <p:spPr>
          <a:xfrm>
            <a:off x="1241425" y="2884488"/>
            <a:ext cx="111125" cy="274637"/>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V</a:t>
            </a:r>
            <a:endParaRPr lang="en-US" altLang="zh-CN" sz="1800" b="1" dirty="0">
              <a:solidFill>
                <a:srgbClr val="000000"/>
              </a:solidFill>
            </a:endParaRPr>
          </a:p>
        </p:txBody>
      </p:sp>
      <p:sp>
        <p:nvSpPr>
          <p:cNvPr id="149517" name="Rectangle 12"/>
          <p:cNvSpPr/>
          <p:nvPr/>
        </p:nvSpPr>
        <p:spPr>
          <a:xfrm>
            <a:off x="1649413" y="2843213"/>
            <a:ext cx="342900" cy="2746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tag</a:t>
            </a:r>
            <a:endParaRPr lang="en-US" altLang="zh-CN" sz="1800" b="1" dirty="0">
              <a:solidFill>
                <a:srgbClr val="000000"/>
              </a:solidFill>
            </a:endParaRPr>
          </a:p>
        </p:txBody>
      </p:sp>
      <p:sp>
        <p:nvSpPr>
          <p:cNvPr id="149518" name="Freeform 13"/>
          <p:cNvSpPr/>
          <p:nvPr/>
        </p:nvSpPr>
        <p:spPr>
          <a:xfrm>
            <a:off x="1314450" y="3790950"/>
            <a:ext cx="5762625" cy="171450"/>
          </a:xfrm>
          <a:custGeom>
            <a:avLst/>
            <a:gdLst>
              <a:gd name="txL" fmla="*/ 0 w 2903"/>
              <a:gd name="txT" fmla="*/ 0 h 94"/>
              <a:gd name="txR" fmla="*/ 2903 w 2903"/>
              <a:gd name="txB" fmla="*/ 94 h 94"/>
            </a:gdLst>
            <a:ahLst/>
            <a:cxnLst>
              <a:cxn ang="0">
                <a:pos x="2147483646" y="2147483646"/>
              </a:cxn>
              <a:cxn ang="0">
                <a:pos x="2147483646" y="0"/>
              </a:cxn>
              <a:cxn ang="0">
                <a:pos x="0" y="0"/>
              </a:cxn>
              <a:cxn ang="0">
                <a:pos x="0" y="2147483646"/>
              </a:cxn>
              <a:cxn ang="0">
                <a:pos x="2147483646" y="2147483646"/>
              </a:cxn>
              <a:cxn ang="0">
                <a:pos x="2147483646" y="2147483646"/>
              </a:cxn>
              <a:cxn ang="0">
                <a:pos x="2147483646" y="2147483646"/>
              </a:cxn>
            </a:cxnLst>
            <a:rect l="txL" t="txT" r="txR" b="txB"/>
            <a:pathLst>
              <a:path w="2903" h="94">
                <a:moveTo>
                  <a:pt x="2901" y="92"/>
                </a:moveTo>
                <a:lnTo>
                  <a:pt x="2903" y="0"/>
                </a:lnTo>
                <a:lnTo>
                  <a:pt x="0" y="0"/>
                </a:lnTo>
                <a:lnTo>
                  <a:pt x="0" y="94"/>
                </a:lnTo>
                <a:lnTo>
                  <a:pt x="2903" y="94"/>
                </a:lnTo>
                <a:lnTo>
                  <a:pt x="2901" y="92"/>
                </a:lnTo>
                <a:close/>
              </a:path>
            </a:pathLst>
          </a:custGeom>
          <a:solidFill>
            <a:srgbClr val="CCCCCC">
              <a:alpha val="100000"/>
            </a:srgbClr>
          </a:solidFill>
          <a:ln w="9525">
            <a:noFill/>
          </a:ln>
        </p:spPr>
        <p:txBody>
          <a:bodyPr/>
          <a:p>
            <a:endParaRPr lang="zh-CN" altLang="en-US"/>
          </a:p>
        </p:txBody>
      </p:sp>
      <p:sp>
        <p:nvSpPr>
          <p:cNvPr id="149519" name="Freeform 14"/>
          <p:cNvSpPr/>
          <p:nvPr/>
        </p:nvSpPr>
        <p:spPr>
          <a:xfrm>
            <a:off x="1314450" y="3790950"/>
            <a:ext cx="5762625" cy="171450"/>
          </a:xfrm>
          <a:custGeom>
            <a:avLst/>
            <a:gdLst>
              <a:gd name="txL" fmla="*/ 0 w 2903"/>
              <a:gd name="txT" fmla="*/ 0 h 94"/>
              <a:gd name="txR" fmla="*/ 2903 w 2903"/>
              <a:gd name="txB" fmla="*/ 94 h 94"/>
            </a:gdLst>
            <a:ahLst/>
            <a:cxnLst>
              <a:cxn ang="0">
                <a:pos x="2147483646" y="2147483646"/>
              </a:cxn>
              <a:cxn ang="0">
                <a:pos x="2147483646" y="0"/>
              </a:cxn>
              <a:cxn ang="0">
                <a:pos x="0" y="0"/>
              </a:cxn>
              <a:cxn ang="0">
                <a:pos x="0" y="2147483646"/>
              </a:cxn>
              <a:cxn ang="0">
                <a:pos x="2147483646" y="2147483646"/>
              </a:cxn>
              <a:cxn ang="0">
                <a:pos x="2147483646" y="2147483646"/>
              </a:cxn>
            </a:cxnLst>
            <a:rect l="txL" t="txT" r="txR" b="txB"/>
            <a:pathLst>
              <a:path w="2903" h="94">
                <a:moveTo>
                  <a:pt x="2901" y="92"/>
                </a:moveTo>
                <a:lnTo>
                  <a:pt x="2903" y="0"/>
                </a:lnTo>
                <a:lnTo>
                  <a:pt x="0" y="0"/>
                </a:lnTo>
                <a:lnTo>
                  <a:pt x="0" y="94"/>
                </a:lnTo>
                <a:lnTo>
                  <a:pt x="2903" y="94"/>
                </a:lnTo>
              </a:path>
            </a:pathLst>
          </a:custGeom>
          <a:noFill/>
          <a:ln w="12700" cap="flat" cmpd="sng">
            <a:solidFill>
              <a:srgbClr val="000000">
                <a:alpha val="100000"/>
              </a:srgbClr>
            </a:solidFill>
            <a:prstDash val="solid"/>
            <a:round/>
            <a:headEnd type="none" w="med" len="med"/>
            <a:tailEnd type="none" w="med" len="med"/>
          </a:ln>
        </p:spPr>
        <p:txBody>
          <a:bodyPr/>
          <a:p>
            <a:endParaRPr lang="zh-CN" altLang="en-US"/>
          </a:p>
        </p:txBody>
      </p:sp>
      <p:sp>
        <p:nvSpPr>
          <p:cNvPr id="149520" name="Freeform 15"/>
          <p:cNvSpPr/>
          <p:nvPr/>
        </p:nvSpPr>
        <p:spPr>
          <a:xfrm>
            <a:off x="1360488" y="3849688"/>
            <a:ext cx="61912" cy="55562"/>
          </a:xfrm>
          <a:custGeom>
            <a:avLst/>
            <a:gdLst>
              <a:gd name="txL" fmla="*/ 0 w 31"/>
              <a:gd name="txT" fmla="*/ 0 h 31"/>
              <a:gd name="txR" fmla="*/ 31 w 31"/>
              <a:gd name="txB" fmla="*/ 31 h 3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1" h="31">
                <a:moveTo>
                  <a:pt x="14" y="29"/>
                </a:moveTo>
                <a:lnTo>
                  <a:pt x="19" y="31"/>
                </a:lnTo>
                <a:lnTo>
                  <a:pt x="21" y="29"/>
                </a:lnTo>
                <a:lnTo>
                  <a:pt x="23" y="29"/>
                </a:lnTo>
                <a:lnTo>
                  <a:pt x="25" y="26"/>
                </a:lnTo>
                <a:lnTo>
                  <a:pt x="27" y="26"/>
                </a:lnTo>
                <a:lnTo>
                  <a:pt x="29" y="24"/>
                </a:lnTo>
                <a:lnTo>
                  <a:pt x="29" y="22"/>
                </a:lnTo>
                <a:lnTo>
                  <a:pt x="31" y="20"/>
                </a:lnTo>
                <a:lnTo>
                  <a:pt x="31" y="18"/>
                </a:lnTo>
                <a:lnTo>
                  <a:pt x="31" y="14"/>
                </a:lnTo>
                <a:lnTo>
                  <a:pt x="31" y="12"/>
                </a:lnTo>
                <a:lnTo>
                  <a:pt x="29" y="10"/>
                </a:lnTo>
                <a:lnTo>
                  <a:pt x="29" y="8"/>
                </a:lnTo>
                <a:lnTo>
                  <a:pt x="27" y="6"/>
                </a:lnTo>
                <a:lnTo>
                  <a:pt x="25" y="4"/>
                </a:lnTo>
                <a:lnTo>
                  <a:pt x="23" y="2"/>
                </a:lnTo>
                <a:lnTo>
                  <a:pt x="21" y="2"/>
                </a:lnTo>
                <a:lnTo>
                  <a:pt x="19" y="0"/>
                </a:lnTo>
                <a:lnTo>
                  <a:pt x="16" y="0"/>
                </a:lnTo>
                <a:lnTo>
                  <a:pt x="12" y="0"/>
                </a:lnTo>
                <a:lnTo>
                  <a:pt x="10" y="2"/>
                </a:lnTo>
                <a:lnTo>
                  <a:pt x="8" y="2"/>
                </a:lnTo>
                <a:lnTo>
                  <a:pt x="6" y="4"/>
                </a:lnTo>
                <a:lnTo>
                  <a:pt x="4" y="4"/>
                </a:lnTo>
                <a:lnTo>
                  <a:pt x="4" y="6"/>
                </a:lnTo>
                <a:lnTo>
                  <a:pt x="2" y="8"/>
                </a:lnTo>
                <a:lnTo>
                  <a:pt x="2" y="10"/>
                </a:lnTo>
                <a:lnTo>
                  <a:pt x="0" y="12"/>
                </a:lnTo>
                <a:lnTo>
                  <a:pt x="0" y="14"/>
                </a:lnTo>
                <a:lnTo>
                  <a:pt x="0" y="18"/>
                </a:lnTo>
                <a:lnTo>
                  <a:pt x="2" y="20"/>
                </a:lnTo>
                <a:lnTo>
                  <a:pt x="2" y="22"/>
                </a:lnTo>
                <a:lnTo>
                  <a:pt x="4" y="24"/>
                </a:lnTo>
                <a:lnTo>
                  <a:pt x="4" y="26"/>
                </a:lnTo>
                <a:lnTo>
                  <a:pt x="6" y="26"/>
                </a:lnTo>
                <a:lnTo>
                  <a:pt x="8" y="29"/>
                </a:lnTo>
                <a:lnTo>
                  <a:pt x="10" y="29"/>
                </a:lnTo>
                <a:lnTo>
                  <a:pt x="12" y="31"/>
                </a:lnTo>
                <a:lnTo>
                  <a:pt x="16" y="31"/>
                </a:lnTo>
                <a:lnTo>
                  <a:pt x="14" y="29"/>
                </a:lnTo>
                <a:close/>
              </a:path>
            </a:pathLst>
          </a:custGeom>
          <a:solidFill>
            <a:srgbClr val="000000">
              <a:alpha val="100000"/>
            </a:srgbClr>
          </a:solidFill>
          <a:ln w="9525">
            <a:noFill/>
          </a:ln>
        </p:spPr>
        <p:txBody>
          <a:bodyPr/>
          <a:p>
            <a:endParaRPr lang="zh-CN" altLang="en-US"/>
          </a:p>
        </p:txBody>
      </p:sp>
      <p:sp>
        <p:nvSpPr>
          <p:cNvPr id="149521" name="Freeform 16"/>
          <p:cNvSpPr/>
          <p:nvPr/>
        </p:nvSpPr>
        <p:spPr>
          <a:xfrm>
            <a:off x="1755775" y="3840163"/>
            <a:ext cx="61913" cy="57150"/>
          </a:xfrm>
          <a:custGeom>
            <a:avLst/>
            <a:gdLst>
              <a:gd name="txL" fmla="*/ 0 w 31"/>
              <a:gd name="txT" fmla="*/ 0 h 31"/>
              <a:gd name="txR" fmla="*/ 31 w 31"/>
              <a:gd name="txB" fmla="*/ 31 h 3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1" h="31">
                <a:moveTo>
                  <a:pt x="14" y="29"/>
                </a:moveTo>
                <a:lnTo>
                  <a:pt x="16" y="31"/>
                </a:lnTo>
                <a:lnTo>
                  <a:pt x="20" y="29"/>
                </a:lnTo>
                <a:lnTo>
                  <a:pt x="22" y="29"/>
                </a:lnTo>
                <a:lnTo>
                  <a:pt x="25" y="27"/>
                </a:lnTo>
                <a:lnTo>
                  <a:pt x="27" y="25"/>
                </a:lnTo>
                <a:lnTo>
                  <a:pt x="29" y="23"/>
                </a:lnTo>
                <a:lnTo>
                  <a:pt x="29" y="21"/>
                </a:lnTo>
                <a:lnTo>
                  <a:pt x="29" y="19"/>
                </a:lnTo>
                <a:lnTo>
                  <a:pt x="31" y="15"/>
                </a:lnTo>
                <a:lnTo>
                  <a:pt x="29" y="13"/>
                </a:lnTo>
                <a:lnTo>
                  <a:pt x="29" y="11"/>
                </a:lnTo>
                <a:lnTo>
                  <a:pt x="29" y="9"/>
                </a:lnTo>
                <a:lnTo>
                  <a:pt x="27" y="7"/>
                </a:lnTo>
                <a:lnTo>
                  <a:pt x="25" y="5"/>
                </a:lnTo>
                <a:lnTo>
                  <a:pt x="25" y="2"/>
                </a:lnTo>
                <a:lnTo>
                  <a:pt x="22" y="2"/>
                </a:lnTo>
                <a:lnTo>
                  <a:pt x="20" y="0"/>
                </a:lnTo>
                <a:lnTo>
                  <a:pt x="16" y="0"/>
                </a:lnTo>
                <a:lnTo>
                  <a:pt x="14" y="0"/>
                </a:lnTo>
                <a:lnTo>
                  <a:pt x="12" y="0"/>
                </a:lnTo>
                <a:lnTo>
                  <a:pt x="10" y="0"/>
                </a:lnTo>
                <a:lnTo>
                  <a:pt x="8" y="2"/>
                </a:lnTo>
                <a:lnTo>
                  <a:pt x="6" y="2"/>
                </a:lnTo>
                <a:lnTo>
                  <a:pt x="4" y="5"/>
                </a:lnTo>
                <a:lnTo>
                  <a:pt x="2" y="7"/>
                </a:lnTo>
                <a:lnTo>
                  <a:pt x="2" y="9"/>
                </a:lnTo>
                <a:lnTo>
                  <a:pt x="0" y="11"/>
                </a:lnTo>
                <a:lnTo>
                  <a:pt x="0" y="13"/>
                </a:lnTo>
                <a:lnTo>
                  <a:pt x="0" y="15"/>
                </a:lnTo>
                <a:lnTo>
                  <a:pt x="0" y="19"/>
                </a:lnTo>
                <a:lnTo>
                  <a:pt x="0" y="21"/>
                </a:lnTo>
                <a:lnTo>
                  <a:pt x="2" y="23"/>
                </a:lnTo>
                <a:lnTo>
                  <a:pt x="2" y="25"/>
                </a:lnTo>
                <a:lnTo>
                  <a:pt x="4" y="27"/>
                </a:lnTo>
                <a:lnTo>
                  <a:pt x="6" y="27"/>
                </a:lnTo>
                <a:lnTo>
                  <a:pt x="8" y="29"/>
                </a:lnTo>
                <a:lnTo>
                  <a:pt x="10" y="29"/>
                </a:lnTo>
                <a:lnTo>
                  <a:pt x="12" y="31"/>
                </a:lnTo>
                <a:lnTo>
                  <a:pt x="14" y="31"/>
                </a:lnTo>
                <a:lnTo>
                  <a:pt x="14" y="29"/>
                </a:lnTo>
                <a:close/>
              </a:path>
            </a:pathLst>
          </a:custGeom>
          <a:solidFill>
            <a:srgbClr val="000000">
              <a:alpha val="100000"/>
            </a:srgbClr>
          </a:solidFill>
          <a:ln w="9525">
            <a:noFill/>
          </a:ln>
        </p:spPr>
        <p:txBody>
          <a:bodyPr/>
          <a:p>
            <a:endParaRPr lang="zh-CN" altLang="en-US"/>
          </a:p>
        </p:txBody>
      </p:sp>
      <p:sp>
        <p:nvSpPr>
          <p:cNvPr id="149522" name="Freeform 17"/>
          <p:cNvSpPr/>
          <p:nvPr/>
        </p:nvSpPr>
        <p:spPr>
          <a:xfrm>
            <a:off x="2676525" y="3849688"/>
            <a:ext cx="61913" cy="55562"/>
          </a:xfrm>
          <a:custGeom>
            <a:avLst/>
            <a:gdLst>
              <a:gd name="txL" fmla="*/ 0 w 31"/>
              <a:gd name="txT" fmla="*/ 0 h 31"/>
              <a:gd name="txR" fmla="*/ 31 w 31"/>
              <a:gd name="txB" fmla="*/ 31 h 3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1" h="31">
                <a:moveTo>
                  <a:pt x="14" y="29"/>
                </a:moveTo>
                <a:lnTo>
                  <a:pt x="16" y="31"/>
                </a:lnTo>
                <a:lnTo>
                  <a:pt x="20" y="29"/>
                </a:lnTo>
                <a:lnTo>
                  <a:pt x="22" y="29"/>
                </a:lnTo>
                <a:lnTo>
                  <a:pt x="24" y="26"/>
                </a:lnTo>
                <a:lnTo>
                  <a:pt x="26" y="24"/>
                </a:lnTo>
                <a:lnTo>
                  <a:pt x="29" y="22"/>
                </a:lnTo>
                <a:lnTo>
                  <a:pt x="29" y="20"/>
                </a:lnTo>
                <a:lnTo>
                  <a:pt x="31" y="18"/>
                </a:lnTo>
                <a:lnTo>
                  <a:pt x="31" y="14"/>
                </a:lnTo>
                <a:lnTo>
                  <a:pt x="31" y="12"/>
                </a:lnTo>
                <a:lnTo>
                  <a:pt x="29" y="10"/>
                </a:lnTo>
                <a:lnTo>
                  <a:pt x="29" y="8"/>
                </a:lnTo>
                <a:lnTo>
                  <a:pt x="26" y="6"/>
                </a:lnTo>
                <a:lnTo>
                  <a:pt x="24" y="4"/>
                </a:lnTo>
                <a:lnTo>
                  <a:pt x="22" y="2"/>
                </a:lnTo>
                <a:lnTo>
                  <a:pt x="20" y="2"/>
                </a:lnTo>
                <a:lnTo>
                  <a:pt x="16" y="0"/>
                </a:lnTo>
                <a:lnTo>
                  <a:pt x="14" y="0"/>
                </a:lnTo>
                <a:lnTo>
                  <a:pt x="12" y="0"/>
                </a:lnTo>
                <a:lnTo>
                  <a:pt x="10" y="2"/>
                </a:lnTo>
                <a:lnTo>
                  <a:pt x="8" y="2"/>
                </a:lnTo>
                <a:lnTo>
                  <a:pt x="6" y="4"/>
                </a:lnTo>
                <a:lnTo>
                  <a:pt x="4" y="4"/>
                </a:lnTo>
                <a:lnTo>
                  <a:pt x="2" y="6"/>
                </a:lnTo>
                <a:lnTo>
                  <a:pt x="2" y="8"/>
                </a:lnTo>
                <a:lnTo>
                  <a:pt x="0" y="10"/>
                </a:lnTo>
                <a:lnTo>
                  <a:pt x="0" y="12"/>
                </a:lnTo>
                <a:lnTo>
                  <a:pt x="0" y="14"/>
                </a:lnTo>
                <a:lnTo>
                  <a:pt x="0" y="18"/>
                </a:lnTo>
                <a:lnTo>
                  <a:pt x="0" y="20"/>
                </a:lnTo>
                <a:lnTo>
                  <a:pt x="2" y="22"/>
                </a:lnTo>
                <a:lnTo>
                  <a:pt x="2" y="24"/>
                </a:lnTo>
                <a:lnTo>
                  <a:pt x="4" y="26"/>
                </a:lnTo>
                <a:lnTo>
                  <a:pt x="6" y="26"/>
                </a:lnTo>
                <a:lnTo>
                  <a:pt x="8" y="29"/>
                </a:lnTo>
                <a:lnTo>
                  <a:pt x="10" y="29"/>
                </a:lnTo>
                <a:lnTo>
                  <a:pt x="12" y="31"/>
                </a:lnTo>
                <a:lnTo>
                  <a:pt x="14" y="31"/>
                </a:lnTo>
                <a:lnTo>
                  <a:pt x="14" y="29"/>
                </a:lnTo>
                <a:close/>
              </a:path>
            </a:pathLst>
          </a:custGeom>
          <a:solidFill>
            <a:srgbClr val="000000">
              <a:alpha val="100000"/>
            </a:srgbClr>
          </a:solidFill>
          <a:ln w="9525">
            <a:noFill/>
          </a:ln>
        </p:spPr>
        <p:txBody>
          <a:bodyPr/>
          <a:p>
            <a:endParaRPr lang="zh-CN" altLang="en-US"/>
          </a:p>
        </p:txBody>
      </p:sp>
      <p:sp>
        <p:nvSpPr>
          <p:cNvPr id="149523" name="Freeform 18"/>
          <p:cNvSpPr/>
          <p:nvPr/>
        </p:nvSpPr>
        <p:spPr>
          <a:xfrm>
            <a:off x="1241425" y="3849688"/>
            <a:ext cx="61913" cy="55562"/>
          </a:xfrm>
          <a:custGeom>
            <a:avLst/>
            <a:gdLst>
              <a:gd name="txL" fmla="*/ 0 w 31"/>
              <a:gd name="txT" fmla="*/ 0 h 31"/>
              <a:gd name="txR" fmla="*/ 31 w 31"/>
              <a:gd name="txB" fmla="*/ 31 h 31"/>
            </a:gdLst>
            <a:ahLst/>
            <a:cxnLst>
              <a:cxn ang="0">
                <a:pos x="0" y="0"/>
              </a:cxn>
              <a:cxn ang="0">
                <a:pos x="2147483646" y="2147483646"/>
              </a:cxn>
              <a:cxn ang="0">
                <a:pos x="2147483646" y="2147483646"/>
              </a:cxn>
              <a:cxn ang="0">
                <a:pos x="2147483646" y="2147483646"/>
              </a:cxn>
              <a:cxn ang="0">
                <a:pos x="2147483646" y="2147483646"/>
              </a:cxn>
              <a:cxn ang="0">
                <a:pos x="0" y="0"/>
              </a:cxn>
            </a:cxnLst>
            <a:rect l="txL" t="txT" r="txR" b="txB"/>
            <a:pathLst>
              <a:path w="31" h="31">
                <a:moveTo>
                  <a:pt x="0" y="0"/>
                </a:moveTo>
                <a:lnTo>
                  <a:pt x="2" y="31"/>
                </a:lnTo>
                <a:lnTo>
                  <a:pt x="31" y="16"/>
                </a:lnTo>
                <a:lnTo>
                  <a:pt x="2" y="2"/>
                </a:lnTo>
                <a:lnTo>
                  <a:pt x="0" y="0"/>
                </a:lnTo>
                <a:close/>
              </a:path>
            </a:pathLst>
          </a:custGeom>
          <a:solidFill>
            <a:srgbClr val="000000">
              <a:alpha val="100000"/>
            </a:srgbClr>
          </a:solidFill>
          <a:ln w="9525">
            <a:noFill/>
          </a:ln>
        </p:spPr>
        <p:txBody>
          <a:bodyPr/>
          <a:p>
            <a:endParaRPr lang="zh-CN" altLang="en-US"/>
          </a:p>
        </p:txBody>
      </p:sp>
      <p:sp>
        <p:nvSpPr>
          <p:cNvPr id="149524" name="Freeform 19"/>
          <p:cNvSpPr/>
          <p:nvPr/>
        </p:nvSpPr>
        <p:spPr>
          <a:xfrm>
            <a:off x="7935913" y="2973388"/>
            <a:ext cx="100012" cy="80962"/>
          </a:xfrm>
          <a:custGeom>
            <a:avLst/>
            <a:gdLst>
              <a:gd name="txL" fmla="*/ 0 w 31"/>
              <a:gd name="txT" fmla="*/ 0 h 31"/>
              <a:gd name="txR" fmla="*/ 31 w 31"/>
              <a:gd name="txB" fmla="*/ 31 h 31"/>
            </a:gdLst>
            <a:ahLst/>
            <a:cxnLst>
              <a:cxn ang="0">
                <a:pos x="0" y="2147483646"/>
              </a:cxn>
              <a:cxn ang="0">
                <a:pos x="2147483646" y="2147483646"/>
              </a:cxn>
              <a:cxn ang="0">
                <a:pos x="2147483646" y="0"/>
              </a:cxn>
              <a:cxn ang="0">
                <a:pos x="2147483646" y="2147483646"/>
              </a:cxn>
              <a:cxn ang="0">
                <a:pos x="2147483646" y="2147483646"/>
              </a:cxn>
              <a:cxn ang="0">
                <a:pos x="0" y="2147483646"/>
              </a:cxn>
            </a:cxnLst>
            <a:rect l="txL" t="txT" r="txR" b="txB"/>
            <a:pathLst>
              <a:path w="31" h="31">
                <a:moveTo>
                  <a:pt x="0" y="29"/>
                </a:moveTo>
                <a:lnTo>
                  <a:pt x="31" y="31"/>
                </a:lnTo>
                <a:lnTo>
                  <a:pt x="16" y="0"/>
                </a:lnTo>
                <a:lnTo>
                  <a:pt x="2" y="31"/>
                </a:lnTo>
                <a:lnTo>
                  <a:pt x="0" y="29"/>
                </a:lnTo>
                <a:close/>
              </a:path>
            </a:pathLst>
          </a:custGeom>
          <a:solidFill>
            <a:srgbClr val="000000">
              <a:alpha val="100000"/>
            </a:srgbClr>
          </a:solidFill>
          <a:ln w="9525">
            <a:noFill/>
          </a:ln>
        </p:spPr>
        <p:txBody>
          <a:bodyPr/>
          <a:p>
            <a:endParaRPr lang="zh-CN" altLang="en-US"/>
          </a:p>
        </p:txBody>
      </p:sp>
      <p:sp>
        <p:nvSpPr>
          <p:cNvPr id="149525" name="Freeform 20"/>
          <p:cNvSpPr/>
          <p:nvPr/>
        </p:nvSpPr>
        <p:spPr>
          <a:xfrm>
            <a:off x="1282700" y="5614988"/>
            <a:ext cx="238125" cy="260350"/>
          </a:xfrm>
          <a:custGeom>
            <a:avLst/>
            <a:gdLst>
              <a:gd name="txL" fmla="*/ 0 w 120"/>
              <a:gd name="txT" fmla="*/ 0 h 143"/>
              <a:gd name="txR" fmla="*/ 120 w 120"/>
              <a:gd name="txB" fmla="*/ 143 h 143"/>
            </a:gdLst>
            <a:ahLst/>
            <a:cxnLst>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Lst>
            <a:rect l="txL" t="txT" r="txR" b="txB"/>
            <a:pathLst>
              <a:path w="120" h="143">
                <a:moveTo>
                  <a:pt x="0" y="85"/>
                </a:moveTo>
                <a:lnTo>
                  <a:pt x="2" y="95"/>
                </a:lnTo>
                <a:lnTo>
                  <a:pt x="4" y="103"/>
                </a:lnTo>
                <a:lnTo>
                  <a:pt x="8" y="111"/>
                </a:lnTo>
                <a:lnTo>
                  <a:pt x="12" y="120"/>
                </a:lnTo>
                <a:lnTo>
                  <a:pt x="18" y="126"/>
                </a:lnTo>
                <a:lnTo>
                  <a:pt x="24" y="132"/>
                </a:lnTo>
                <a:lnTo>
                  <a:pt x="33" y="136"/>
                </a:lnTo>
                <a:lnTo>
                  <a:pt x="41" y="140"/>
                </a:lnTo>
                <a:lnTo>
                  <a:pt x="51" y="143"/>
                </a:lnTo>
                <a:lnTo>
                  <a:pt x="62" y="143"/>
                </a:lnTo>
                <a:lnTo>
                  <a:pt x="70" y="143"/>
                </a:lnTo>
                <a:lnTo>
                  <a:pt x="80" y="140"/>
                </a:lnTo>
                <a:lnTo>
                  <a:pt x="89" y="136"/>
                </a:lnTo>
                <a:lnTo>
                  <a:pt x="97" y="132"/>
                </a:lnTo>
                <a:lnTo>
                  <a:pt x="103" y="126"/>
                </a:lnTo>
                <a:lnTo>
                  <a:pt x="109" y="120"/>
                </a:lnTo>
                <a:lnTo>
                  <a:pt x="113" y="111"/>
                </a:lnTo>
                <a:lnTo>
                  <a:pt x="118" y="103"/>
                </a:lnTo>
                <a:lnTo>
                  <a:pt x="120" y="95"/>
                </a:lnTo>
                <a:lnTo>
                  <a:pt x="120" y="85"/>
                </a:lnTo>
                <a:lnTo>
                  <a:pt x="120" y="0"/>
                </a:lnTo>
                <a:lnTo>
                  <a:pt x="2" y="0"/>
                </a:lnTo>
                <a:lnTo>
                  <a:pt x="2" y="85"/>
                </a:lnTo>
              </a:path>
            </a:pathLst>
          </a:custGeom>
          <a:noFill/>
          <a:ln w="12700" cap="flat" cmpd="sng">
            <a:solidFill>
              <a:srgbClr val="000000">
                <a:alpha val="100000"/>
              </a:srgbClr>
            </a:solidFill>
            <a:prstDash val="solid"/>
            <a:round/>
            <a:headEnd type="none" w="med" len="med"/>
            <a:tailEnd type="none" w="med" len="med"/>
          </a:ln>
        </p:spPr>
        <p:txBody>
          <a:bodyPr/>
          <a:p>
            <a:endParaRPr lang="zh-CN" altLang="en-US"/>
          </a:p>
        </p:txBody>
      </p:sp>
      <p:sp>
        <p:nvSpPr>
          <p:cNvPr id="149526" name="Freeform 21"/>
          <p:cNvSpPr/>
          <p:nvPr/>
        </p:nvSpPr>
        <p:spPr>
          <a:xfrm>
            <a:off x="1647825" y="5149850"/>
            <a:ext cx="273050" cy="247650"/>
          </a:xfrm>
          <a:custGeom>
            <a:avLst/>
            <a:gdLst>
              <a:gd name="txL" fmla="*/ 0 w 137"/>
              <a:gd name="txT" fmla="*/ 0 h 137"/>
              <a:gd name="txR" fmla="*/ 137 w 137"/>
              <a:gd name="txB" fmla="*/ 137 h 137"/>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137" h="137">
                <a:moveTo>
                  <a:pt x="68" y="137"/>
                </a:moveTo>
                <a:lnTo>
                  <a:pt x="81" y="137"/>
                </a:lnTo>
                <a:lnTo>
                  <a:pt x="91" y="135"/>
                </a:lnTo>
                <a:lnTo>
                  <a:pt x="99" y="130"/>
                </a:lnTo>
                <a:lnTo>
                  <a:pt x="110" y="124"/>
                </a:lnTo>
                <a:lnTo>
                  <a:pt x="118" y="118"/>
                </a:lnTo>
                <a:lnTo>
                  <a:pt x="124" y="110"/>
                </a:lnTo>
                <a:lnTo>
                  <a:pt x="130" y="101"/>
                </a:lnTo>
                <a:lnTo>
                  <a:pt x="134" y="91"/>
                </a:lnTo>
                <a:lnTo>
                  <a:pt x="137" y="81"/>
                </a:lnTo>
                <a:lnTo>
                  <a:pt x="137" y="68"/>
                </a:lnTo>
                <a:lnTo>
                  <a:pt x="137" y="58"/>
                </a:lnTo>
                <a:lnTo>
                  <a:pt x="134" y="48"/>
                </a:lnTo>
                <a:lnTo>
                  <a:pt x="130" y="37"/>
                </a:lnTo>
                <a:lnTo>
                  <a:pt x="124" y="29"/>
                </a:lnTo>
                <a:lnTo>
                  <a:pt x="118" y="21"/>
                </a:lnTo>
                <a:lnTo>
                  <a:pt x="110" y="14"/>
                </a:lnTo>
                <a:lnTo>
                  <a:pt x="99" y="8"/>
                </a:lnTo>
                <a:lnTo>
                  <a:pt x="91" y="4"/>
                </a:lnTo>
                <a:lnTo>
                  <a:pt x="81" y="2"/>
                </a:lnTo>
                <a:lnTo>
                  <a:pt x="68" y="0"/>
                </a:lnTo>
                <a:lnTo>
                  <a:pt x="58" y="2"/>
                </a:lnTo>
                <a:lnTo>
                  <a:pt x="47" y="4"/>
                </a:lnTo>
                <a:lnTo>
                  <a:pt x="37" y="8"/>
                </a:lnTo>
                <a:lnTo>
                  <a:pt x="29" y="14"/>
                </a:lnTo>
                <a:lnTo>
                  <a:pt x="21" y="21"/>
                </a:lnTo>
                <a:lnTo>
                  <a:pt x="14" y="29"/>
                </a:lnTo>
                <a:lnTo>
                  <a:pt x="8" y="37"/>
                </a:lnTo>
                <a:lnTo>
                  <a:pt x="4" y="48"/>
                </a:lnTo>
                <a:lnTo>
                  <a:pt x="2" y="58"/>
                </a:lnTo>
                <a:lnTo>
                  <a:pt x="0" y="68"/>
                </a:lnTo>
                <a:lnTo>
                  <a:pt x="2" y="81"/>
                </a:lnTo>
                <a:lnTo>
                  <a:pt x="4" y="91"/>
                </a:lnTo>
                <a:lnTo>
                  <a:pt x="8" y="101"/>
                </a:lnTo>
                <a:lnTo>
                  <a:pt x="14" y="110"/>
                </a:lnTo>
                <a:lnTo>
                  <a:pt x="21" y="118"/>
                </a:lnTo>
                <a:lnTo>
                  <a:pt x="29" y="124"/>
                </a:lnTo>
                <a:lnTo>
                  <a:pt x="37" y="130"/>
                </a:lnTo>
                <a:lnTo>
                  <a:pt x="47" y="135"/>
                </a:lnTo>
                <a:lnTo>
                  <a:pt x="58" y="137"/>
                </a:lnTo>
                <a:lnTo>
                  <a:pt x="68" y="137"/>
                </a:lnTo>
              </a:path>
            </a:pathLst>
          </a:custGeom>
          <a:noFill/>
          <a:ln w="12700" cap="flat" cmpd="sng">
            <a:solidFill>
              <a:srgbClr val="000000">
                <a:alpha val="100000"/>
              </a:srgbClr>
            </a:solidFill>
            <a:prstDash val="solid"/>
            <a:round/>
            <a:headEnd type="none" w="med" len="med"/>
            <a:tailEnd type="none" w="med" len="med"/>
          </a:ln>
        </p:spPr>
        <p:txBody>
          <a:bodyPr/>
          <a:p>
            <a:endParaRPr lang="zh-CN" altLang="en-US"/>
          </a:p>
        </p:txBody>
      </p:sp>
      <p:sp>
        <p:nvSpPr>
          <p:cNvPr id="149527" name="Line 22"/>
          <p:cNvSpPr/>
          <p:nvPr/>
        </p:nvSpPr>
        <p:spPr>
          <a:xfrm>
            <a:off x="1706563" y="4897438"/>
            <a:ext cx="155575" cy="87312"/>
          </a:xfrm>
          <a:prstGeom prst="line">
            <a:avLst/>
          </a:prstGeom>
          <a:ln w="12700" cap="flat" cmpd="sng">
            <a:solidFill>
              <a:srgbClr val="000000"/>
            </a:solidFill>
            <a:prstDash val="solid"/>
            <a:headEnd type="none" w="med" len="med"/>
            <a:tailEnd type="none" w="med" len="med"/>
          </a:ln>
        </p:spPr>
      </p:sp>
      <p:sp>
        <p:nvSpPr>
          <p:cNvPr id="149528" name="Rectangle 23"/>
          <p:cNvSpPr/>
          <p:nvPr/>
        </p:nvSpPr>
        <p:spPr>
          <a:xfrm>
            <a:off x="1841500" y="4800600"/>
            <a:ext cx="63500" cy="1365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1</a:t>
            </a:r>
            <a:endParaRPr lang="en-US" altLang="zh-CN" sz="2400" dirty="0">
              <a:latin typeface="Times New Roman" panose="02020603050405020304" pitchFamily="18" charset="0"/>
            </a:endParaRPr>
          </a:p>
        </p:txBody>
      </p:sp>
      <p:sp>
        <p:nvSpPr>
          <p:cNvPr id="149529" name="Rectangle 24"/>
          <p:cNvSpPr/>
          <p:nvPr/>
        </p:nvSpPr>
        <p:spPr>
          <a:xfrm>
            <a:off x="1920875" y="4800600"/>
            <a:ext cx="63500" cy="1365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6</a:t>
            </a:r>
            <a:endParaRPr lang="en-US" altLang="zh-CN" sz="2400" dirty="0">
              <a:latin typeface="Times New Roman" panose="02020603050405020304" pitchFamily="18" charset="0"/>
            </a:endParaRPr>
          </a:p>
        </p:txBody>
      </p:sp>
      <p:sp>
        <p:nvSpPr>
          <p:cNvPr id="149530" name="Line 25"/>
          <p:cNvSpPr/>
          <p:nvPr/>
        </p:nvSpPr>
        <p:spPr>
          <a:xfrm>
            <a:off x="1782763" y="3867150"/>
            <a:ext cx="3175" cy="1233488"/>
          </a:xfrm>
          <a:prstGeom prst="line">
            <a:avLst/>
          </a:prstGeom>
          <a:ln w="22225" cap="flat" cmpd="sng">
            <a:solidFill>
              <a:srgbClr val="000000"/>
            </a:solidFill>
            <a:prstDash val="solid"/>
            <a:headEnd type="none" w="med" len="med"/>
            <a:tailEnd type="none" w="med" len="med"/>
          </a:ln>
        </p:spPr>
      </p:sp>
      <p:sp>
        <p:nvSpPr>
          <p:cNvPr id="149531" name="Freeform 26"/>
          <p:cNvSpPr/>
          <p:nvPr/>
        </p:nvSpPr>
        <p:spPr>
          <a:xfrm>
            <a:off x="1579563" y="5246688"/>
            <a:ext cx="60325" cy="57150"/>
          </a:xfrm>
          <a:custGeom>
            <a:avLst/>
            <a:gdLst>
              <a:gd name="txL" fmla="*/ 0 w 31"/>
              <a:gd name="txT" fmla="*/ 0 h 31"/>
              <a:gd name="txR" fmla="*/ 31 w 31"/>
              <a:gd name="txB" fmla="*/ 31 h 31"/>
            </a:gdLst>
            <a:ahLst/>
            <a:cxnLst>
              <a:cxn ang="0">
                <a:pos x="0" y="0"/>
              </a:cxn>
              <a:cxn ang="0">
                <a:pos x="2147483646" y="2147483646"/>
              </a:cxn>
              <a:cxn ang="0">
                <a:pos x="2147483646" y="2147483646"/>
              </a:cxn>
              <a:cxn ang="0">
                <a:pos x="2147483646" y="0"/>
              </a:cxn>
              <a:cxn ang="0">
                <a:pos x="2147483646" y="0"/>
              </a:cxn>
              <a:cxn ang="0">
                <a:pos x="0" y="0"/>
              </a:cxn>
            </a:cxnLst>
            <a:rect l="txL" t="txT" r="txR" b="txB"/>
            <a:pathLst>
              <a:path w="31" h="31">
                <a:moveTo>
                  <a:pt x="0" y="0"/>
                </a:moveTo>
                <a:lnTo>
                  <a:pt x="2" y="31"/>
                </a:lnTo>
                <a:lnTo>
                  <a:pt x="31" y="14"/>
                </a:lnTo>
                <a:lnTo>
                  <a:pt x="2" y="0"/>
                </a:lnTo>
                <a:lnTo>
                  <a:pt x="0" y="0"/>
                </a:lnTo>
                <a:close/>
              </a:path>
            </a:pathLst>
          </a:custGeom>
          <a:solidFill>
            <a:srgbClr val="000000">
              <a:alpha val="100000"/>
            </a:srgbClr>
          </a:solidFill>
          <a:ln w="9525">
            <a:noFill/>
          </a:ln>
        </p:spPr>
        <p:txBody>
          <a:bodyPr/>
          <a:p>
            <a:endParaRPr lang="zh-CN" altLang="en-US"/>
          </a:p>
        </p:txBody>
      </p:sp>
      <p:sp>
        <p:nvSpPr>
          <p:cNvPr id="149532" name="Freeform 27"/>
          <p:cNvSpPr/>
          <p:nvPr/>
        </p:nvSpPr>
        <p:spPr>
          <a:xfrm>
            <a:off x="2700338" y="3875088"/>
            <a:ext cx="1497012" cy="1527175"/>
          </a:xfrm>
          <a:custGeom>
            <a:avLst/>
            <a:gdLst>
              <a:gd name="txL" fmla="*/ 0 w 754"/>
              <a:gd name="txT" fmla="*/ 0 h 841"/>
              <a:gd name="txR" fmla="*/ 754 w 754"/>
              <a:gd name="txB" fmla="*/ 841 h 841"/>
            </a:gdLst>
            <a:ahLst/>
            <a:cxnLst>
              <a:cxn ang="0">
                <a:pos x="0" y="0"/>
              </a:cxn>
              <a:cxn ang="0">
                <a:pos x="0" y="2147483646"/>
              </a:cxn>
              <a:cxn ang="0">
                <a:pos x="2147483646" y="2147483646"/>
              </a:cxn>
              <a:cxn ang="0">
                <a:pos x="2147483646" y="2147483646"/>
              </a:cxn>
            </a:cxnLst>
            <a:rect l="txL" t="txT" r="txR" b="txB"/>
            <a:pathLst>
              <a:path w="754" h="841">
                <a:moveTo>
                  <a:pt x="0" y="0"/>
                </a:moveTo>
                <a:lnTo>
                  <a:pt x="0" y="776"/>
                </a:lnTo>
                <a:lnTo>
                  <a:pt x="754" y="776"/>
                </a:lnTo>
                <a:lnTo>
                  <a:pt x="754" y="841"/>
                </a:lnTo>
              </a:path>
            </a:pathLst>
          </a:custGeom>
          <a:noFill/>
          <a:ln w="22225" cap="flat" cmpd="sng">
            <a:solidFill>
              <a:srgbClr val="000000">
                <a:alpha val="100000"/>
              </a:srgbClr>
            </a:solidFill>
            <a:prstDash val="solid"/>
            <a:round/>
            <a:headEnd type="none" w="med" len="med"/>
            <a:tailEnd type="none" w="med" len="med"/>
          </a:ln>
        </p:spPr>
        <p:txBody>
          <a:bodyPr/>
          <a:p>
            <a:endParaRPr lang="zh-CN" altLang="en-US"/>
          </a:p>
        </p:txBody>
      </p:sp>
      <p:sp>
        <p:nvSpPr>
          <p:cNvPr id="149533" name="Freeform 28"/>
          <p:cNvSpPr/>
          <p:nvPr/>
        </p:nvSpPr>
        <p:spPr>
          <a:xfrm>
            <a:off x="4467225" y="3043238"/>
            <a:ext cx="3513138" cy="2989262"/>
          </a:xfrm>
          <a:custGeom>
            <a:avLst/>
            <a:gdLst>
              <a:gd name="txL" fmla="*/ 0 w 1783"/>
              <a:gd name="txT" fmla="*/ 0 h 1976"/>
              <a:gd name="txR" fmla="*/ 1783 w 1783"/>
              <a:gd name="txB" fmla="*/ 1976 h 1976"/>
            </a:gdLst>
            <a:ahLst/>
            <a:cxnLst>
              <a:cxn ang="0">
                <a:pos x="2147483646" y="0"/>
              </a:cxn>
              <a:cxn ang="0">
                <a:pos x="2147483646" y="2147483646"/>
              </a:cxn>
              <a:cxn ang="0">
                <a:pos x="0" y="2147483646"/>
              </a:cxn>
              <a:cxn ang="0">
                <a:pos x="0" y="2147483646"/>
              </a:cxn>
            </a:cxnLst>
            <a:rect l="txL" t="txT" r="txR" b="txB"/>
            <a:pathLst>
              <a:path w="1783" h="1976">
                <a:moveTo>
                  <a:pt x="1783" y="0"/>
                </a:moveTo>
                <a:lnTo>
                  <a:pt x="1783" y="1976"/>
                </a:lnTo>
                <a:lnTo>
                  <a:pt x="0" y="1976"/>
                </a:lnTo>
                <a:lnTo>
                  <a:pt x="0" y="1793"/>
                </a:lnTo>
              </a:path>
            </a:pathLst>
          </a:custGeom>
          <a:noFill/>
          <a:ln w="22225" cap="flat" cmpd="sng">
            <a:solidFill>
              <a:srgbClr val="000000">
                <a:alpha val="100000"/>
              </a:srgbClr>
            </a:solidFill>
            <a:prstDash val="solid"/>
            <a:round/>
            <a:headEnd type="none" w="med" len="med"/>
            <a:tailEnd type="none" w="med" len="med"/>
          </a:ln>
        </p:spPr>
        <p:txBody>
          <a:bodyPr/>
          <a:p>
            <a:endParaRPr lang="zh-CN" altLang="en-US"/>
          </a:p>
        </p:txBody>
      </p:sp>
      <p:sp>
        <p:nvSpPr>
          <p:cNvPr id="149534" name="Line 29"/>
          <p:cNvSpPr/>
          <p:nvPr/>
        </p:nvSpPr>
        <p:spPr>
          <a:xfrm>
            <a:off x="2627313" y="4908550"/>
            <a:ext cx="153987" cy="82550"/>
          </a:xfrm>
          <a:prstGeom prst="line">
            <a:avLst/>
          </a:prstGeom>
          <a:ln w="12700" cap="flat" cmpd="sng">
            <a:solidFill>
              <a:srgbClr val="000000"/>
            </a:solidFill>
            <a:prstDash val="solid"/>
            <a:headEnd type="none" w="med" len="med"/>
            <a:tailEnd type="none" w="med" len="med"/>
          </a:ln>
        </p:spPr>
      </p:sp>
      <p:sp>
        <p:nvSpPr>
          <p:cNvPr id="149535" name="Rectangle 30"/>
          <p:cNvSpPr/>
          <p:nvPr/>
        </p:nvSpPr>
        <p:spPr>
          <a:xfrm>
            <a:off x="2765425" y="4808538"/>
            <a:ext cx="63500" cy="1349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3</a:t>
            </a:r>
            <a:endParaRPr lang="en-US" altLang="zh-CN" sz="2400" dirty="0">
              <a:latin typeface="Times New Roman" panose="02020603050405020304" pitchFamily="18" charset="0"/>
            </a:endParaRPr>
          </a:p>
        </p:txBody>
      </p:sp>
      <p:sp>
        <p:nvSpPr>
          <p:cNvPr id="149536" name="Rectangle 31"/>
          <p:cNvSpPr/>
          <p:nvPr/>
        </p:nvSpPr>
        <p:spPr>
          <a:xfrm>
            <a:off x="2840038" y="4808538"/>
            <a:ext cx="63500" cy="1349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2</a:t>
            </a:r>
            <a:endParaRPr lang="en-US" altLang="zh-CN" sz="2400" dirty="0">
              <a:latin typeface="Times New Roman" panose="02020603050405020304" pitchFamily="18" charset="0"/>
            </a:endParaRPr>
          </a:p>
        </p:txBody>
      </p:sp>
      <p:sp>
        <p:nvSpPr>
          <p:cNvPr id="149537" name="Freeform 32"/>
          <p:cNvSpPr/>
          <p:nvPr/>
        </p:nvSpPr>
        <p:spPr>
          <a:xfrm>
            <a:off x="1989138" y="2878138"/>
            <a:ext cx="61912" cy="60325"/>
          </a:xfrm>
          <a:custGeom>
            <a:avLst/>
            <a:gdLst>
              <a:gd name="txL" fmla="*/ 0 w 31"/>
              <a:gd name="txT" fmla="*/ 0 h 33"/>
              <a:gd name="txR" fmla="*/ 31 w 31"/>
              <a:gd name="txB" fmla="*/ 33 h 33"/>
            </a:gdLst>
            <a:ahLst/>
            <a:cxnLst>
              <a:cxn ang="0">
                <a:pos x="0" y="0"/>
              </a:cxn>
              <a:cxn ang="0">
                <a:pos x="0" y="2147483646"/>
              </a:cxn>
              <a:cxn ang="0">
                <a:pos x="2147483646" y="2147483646"/>
              </a:cxn>
              <a:cxn ang="0">
                <a:pos x="0" y="2147483646"/>
              </a:cxn>
              <a:cxn ang="0">
                <a:pos x="0" y="2147483646"/>
              </a:cxn>
              <a:cxn ang="0">
                <a:pos x="0" y="0"/>
              </a:cxn>
            </a:cxnLst>
            <a:rect l="txL" t="txT" r="txR" b="txB"/>
            <a:pathLst>
              <a:path w="31" h="33">
                <a:moveTo>
                  <a:pt x="0" y="0"/>
                </a:moveTo>
                <a:lnTo>
                  <a:pt x="0" y="33"/>
                </a:lnTo>
                <a:lnTo>
                  <a:pt x="31" y="17"/>
                </a:lnTo>
                <a:lnTo>
                  <a:pt x="0" y="2"/>
                </a:lnTo>
                <a:lnTo>
                  <a:pt x="0" y="0"/>
                </a:lnTo>
                <a:close/>
              </a:path>
            </a:pathLst>
          </a:custGeom>
          <a:solidFill>
            <a:srgbClr val="000000">
              <a:alpha val="100000"/>
            </a:srgbClr>
          </a:solidFill>
          <a:ln w="9525">
            <a:noFill/>
          </a:ln>
        </p:spPr>
        <p:txBody>
          <a:bodyPr/>
          <a:p>
            <a:endParaRPr lang="zh-CN" altLang="en-US"/>
          </a:p>
        </p:txBody>
      </p:sp>
      <p:sp>
        <p:nvSpPr>
          <p:cNvPr id="149538" name="Freeform 33"/>
          <p:cNvSpPr/>
          <p:nvPr/>
        </p:nvSpPr>
        <p:spPr>
          <a:xfrm>
            <a:off x="7146925" y="3130550"/>
            <a:ext cx="63500" cy="57150"/>
          </a:xfrm>
          <a:custGeom>
            <a:avLst/>
            <a:gdLst>
              <a:gd name="txL" fmla="*/ 0 w 32"/>
              <a:gd name="txT" fmla="*/ 0 h 31"/>
              <a:gd name="txR" fmla="*/ 32 w 32"/>
              <a:gd name="txB" fmla="*/ 31 h 31"/>
            </a:gdLst>
            <a:ahLst/>
            <a:cxnLst>
              <a:cxn ang="0">
                <a:pos x="0" y="2147483646"/>
              </a:cxn>
              <a:cxn ang="0">
                <a:pos x="2147483646" y="2147483646"/>
              </a:cxn>
              <a:cxn ang="0">
                <a:pos x="2147483646" y="0"/>
              </a:cxn>
              <a:cxn ang="0">
                <a:pos x="0" y="2147483646"/>
              </a:cxn>
              <a:cxn ang="0">
                <a:pos x="0" y="2147483646"/>
              </a:cxn>
              <a:cxn ang="0">
                <a:pos x="0" y="2147483646"/>
              </a:cxn>
            </a:cxnLst>
            <a:rect l="txL" t="txT" r="txR" b="txB"/>
            <a:pathLst>
              <a:path w="32" h="31">
                <a:moveTo>
                  <a:pt x="0" y="29"/>
                </a:moveTo>
                <a:lnTo>
                  <a:pt x="32" y="31"/>
                </a:lnTo>
                <a:lnTo>
                  <a:pt x="17" y="0"/>
                </a:lnTo>
                <a:lnTo>
                  <a:pt x="0" y="31"/>
                </a:lnTo>
                <a:lnTo>
                  <a:pt x="0" y="29"/>
                </a:lnTo>
                <a:close/>
              </a:path>
            </a:pathLst>
          </a:custGeom>
          <a:solidFill>
            <a:srgbClr val="000000">
              <a:alpha val="100000"/>
            </a:srgbClr>
          </a:solidFill>
          <a:ln w="9525">
            <a:noFill/>
          </a:ln>
        </p:spPr>
        <p:txBody>
          <a:bodyPr/>
          <a:p>
            <a:endParaRPr lang="zh-CN" altLang="en-US"/>
          </a:p>
        </p:txBody>
      </p:sp>
      <p:sp>
        <p:nvSpPr>
          <p:cNvPr id="149539" name="Freeform 34"/>
          <p:cNvSpPr/>
          <p:nvPr/>
        </p:nvSpPr>
        <p:spPr>
          <a:xfrm>
            <a:off x="7146925" y="4732338"/>
            <a:ext cx="63500" cy="55562"/>
          </a:xfrm>
          <a:custGeom>
            <a:avLst/>
            <a:gdLst>
              <a:gd name="txL" fmla="*/ 0 w 32"/>
              <a:gd name="txT" fmla="*/ 0 h 31"/>
              <a:gd name="txR" fmla="*/ 32 w 32"/>
              <a:gd name="txB" fmla="*/ 31 h 31"/>
            </a:gdLst>
            <a:ahLst/>
            <a:cxnLst>
              <a:cxn ang="0">
                <a:pos x="2147483646" y="0"/>
              </a:cxn>
              <a:cxn ang="0">
                <a:pos x="0" y="0"/>
              </a:cxn>
              <a:cxn ang="0">
                <a:pos x="2147483646" y="2147483646"/>
              </a:cxn>
              <a:cxn ang="0">
                <a:pos x="2147483646" y="0"/>
              </a:cxn>
              <a:cxn ang="0">
                <a:pos x="2147483646" y="0"/>
              </a:cxn>
              <a:cxn ang="0">
                <a:pos x="2147483646" y="0"/>
              </a:cxn>
            </a:cxnLst>
            <a:rect l="txL" t="txT" r="txR" b="txB"/>
            <a:pathLst>
              <a:path w="32" h="31">
                <a:moveTo>
                  <a:pt x="29" y="0"/>
                </a:moveTo>
                <a:lnTo>
                  <a:pt x="0" y="0"/>
                </a:lnTo>
                <a:lnTo>
                  <a:pt x="17" y="31"/>
                </a:lnTo>
                <a:lnTo>
                  <a:pt x="32" y="0"/>
                </a:lnTo>
                <a:lnTo>
                  <a:pt x="29" y="0"/>
                </a:lnTo>
                <a:close/>
              </a:path>
            </a:pathLst>
          </a:custGeom>
          <a:solidFill>
            <a:srgbClr val="000000">
              <a:alpha val="100000"/>
            </a:srgbClr>
          </a:solidFill>
          <a:ln w="9525">
            <a:noFill/>
          </a:ln>
        </p:spPr>
        <p:txBody>
          <a:bodyPr/>
          <a:p>
            <a:endParaRPr lang="zh-CN" altLang="en-US"/>
          </a:p>
        </p:txBody>
      </p:sp>
      <p:sp>
        <p:nvSpPr>
          <p:cNvPr id="149540" name="Line 35"/>
          <p:cNvSpPr/>
          <p:nvPr/>
        </p:nvSpPr>
        <p:spPr>
          <a:xfrm>
            <a:off x="7177088" y="3168650"/>
            <a:ext cx="3175" cy="1577975"/>
          </a:xfrm>
          <a:prstGeom prst="line">
            <a:avLst/>
          </a:prstGeom>
          <a:ln w="28575" cap="flat" cmpd="sng">
            <a:solidFill>
              <a:srgbClr val="000000"/>
            </a:solidFill>
            <a:prstDash val="solid"/>
            <a:headEnd type="none" w="med" len="med"/>
            <a:tailEnd type="none" w="med" len="med"/>
          </a:ln>
        </p:spPr>
      </p:sp>
      <p:sp>
        <p:nvSpPr>
          <p:cNvPr id="149541" name="Rectangle 36"/>
          <p:cNvSpPr/>
          <p:nvPr/>
        </p:nvSpPr>
        <p:spPr>
          <a:xfrm>
            <a:off x="7264400" y="3273425"/>
            <a:ext cx="0" cy="3651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endParaRPr lang="zh-CN" altLang="en-US" sz="2400" dirty="0">
              <a:latin typeface="Times New Roman" panose="02020603050405020304" pitchFamily="18" charset="0"/>
            </a:endParaRPr>
          </a:p>
        </p:txBody>
      </p:sp>
      <p:sp>
        <p:nvSpPr>
          <p:cNvPr id="149542" name="Freeform 37"/>
          <p:cNvSpPr/>
          <p:nvPr/>
        </p:nvSpPr>
        <p:spPr>
          <a:xfrm>
            <a:off x="2055813" y="2882900"/>
            <a:ext cx="60325" cy="55563"/>
          </a:xfrm>
          <a:custGeom>
            <a:avLst/>
            <a:gdLst>
              <a:gd name="txL" fmla="*/ 0 w 31"/>
              <a:gd name="txT" fmla="*/ 0 h 31"/>
              <a:gd name="txR" fmla="*/ 31 w 31"/>
              <a:gd name="txB" fmla="*/ 31 h 31"/>
            </a:gdLst>
            <a:ahLst/>
            <a:cxnLst>
              <a:cxn ang="0">
                <a:pos x="2147483646" y="2147483646"/>
              </a:cxn>
              <a:cxn ang="0">
                <a:pos x="2147483646" y="0"/>
              </a:cxn>
              <a:cxn ang="0">
                <a:pos x="0" y="2147483646"/>
              </a:cxn>
              <a:cxn ang="0">
                <a:pos x="2147483646" y="2147483646"/>
              </a:cxn>
              <a:cxn ang="0">
                <a:pos x="2147483646" y="2147483646"/>
              </a:cxn>
              <a:cxn ang="0">
                <a:pos x="2147483646" y="2147483646"/>
              </a:cxn>
            </a:cxnLst>
            <a:rect l="txL" t="txT" r="txR" b="txB"/>
            <a:pathLst>
              <a:path w="31" h="31">
                <a:moveTo>
                  <a:pt x="29" y="29"/>
                </a:moveTo>
                <a:lnTo>
                  <a:pt x="31" y="0"/>
                </a:lnTo>
                <a:lnTo>
                  <a:pt x="0" y="15"/>
                </a:lnTo>
                <a:lnTo>
                  <a:pt x="31" y="31"/>
                </a:lnTo>
                <a:lnTo>
                  <a:pt x="29" y="29"/>
                </a:lnTo>
                <a:close/>
              </a:path>
            </a:pathLst>
          </a:custGeom>
          <a:solidFill>
            <a:srgbClr val="000000">
              <a:alpha val="100000"/>
            </a:srgbClr>
          </a:solidFill>
          <a:ln w="9525">
            <a:noFill/>
          </a:ln>
        </p:spPr>
        <p:txBody>
          <a:bodyPr/>
          <a:p>
            <a:endParaRPr lang="zh-CN" altLang="en-US"/>
          </a:p>
        </p:txBody>
      </p:sp>
      <p:sp>
        <p:nvSpPr>
          <p:cNvPr id="149543" name="Freeform 38"/>
          <p:cNvSpPr/>
          <p:nvPr/>
        </p:nvSpPr>
        <p:spPr>
          <a:xfrm>
            <a:off x="7015163" y="2878138"/>
            <a:ext cx="61912" cy="60325"/>
          </a:xfrm>
          <a:custGeom>
            <a:avLst/>
            <a:gdLst>
              <a:gd name="txL" fmla="*/ 0 w 31"/>
              <a:gd name="txT" fmla="*/ 0 h 33"/>
              <a:gd name="txR" fmla="*/ 31 w 31"/>
              <a:gd name="txB" fmla="*/ 33 h 33"/>
            </a:gdLst>
            <a:ahLst/>
            <a:cxnLst>
              <a:cxn ang="0">
                <a:pos x="0" y="0"/>
              </a:cxn>
              <a:cxn ang="0">
                <a:pos x="0" y="2147483646"/>
              </a:cxn>
              <a:cxn ang="0">
                <a:pos x="2147483646" y="2147483646"/>
              </a:cxn>
              <a:cxn ang="0">
                <a:pos x="0" y="2147483646"/>
              </a:cxn>
              <a:cxn ang="0">
                <a:pos x="0" y="2147483646"/>
              </a:cxn>
              <a:cxn ang="0">
                <a:pos x="0" y="0"/>
              </a:cxn>
            </a:cxnLst>
            <a:rect l="txL" t="txT" r="txR" b="txB"/>
            <a:pathLst>
              <a:path w="31" h="33">
                <a:moveTo>
                  <a:pt x="0" y="0"/>
                </a:moveTo>
                <a:lnTo>
                  <a:pt x="0" y="33"/>
                </a:lnTo>
                <a:lnTo>
                  <a:pt x="31" y="17"/>
                </a:lnTo>
                <a:lnTo>
                  <a:pt x="0" y="2"/>
                </a:lnTo>
                <a:lnTo>
                  <a:pt x="0" y="0"/>
                </a:lnTo>
                <a:close/>
              </a:path>
            </a:pathLst>
          </a:custGeom>
          <a:solidFill>
            <a:srgbClr val="000000">
              <a:alpha val="100000"/>
            </a:srgbClr>
          </a:solidFill>
          <a:ln w="9525">
            <a:noFill/>
          </a:ln>
        </p:spPr>
        <p:txBody>
          <a:bodyPr/>
          <a:p>
            <a:endParaRPr lang="zh-CN" altLang="en-US"/>
          </a:p>
        </p:txBody>
      </p:sp>
      <p:sp>
        <p:nvSpPr>
          <p:cNvPr id="149544" name="Freeform 39"/>
          <p:cNvSpPr/>
          <p:nvPr/>
        </p:nvSpPr>
        <p:spPr>
          <a:xfrm>
            <a:off x="1533525" y="2882900"/>
            <a:ext cx="61913" cy="55563"/>
          </a:xfrm>
          <a:custGeom>
            <a:avLst/>
            <a:gdLst>
              <a:gd name="txL" fmla="*/ 0 w 31"/>
              <a:gd name="txT" fmla="*/ 0 h 31"/>
              <a:gd name="txR" fmla="*/ 31 w 31"/>
              <a:gd name="txB" fmla="*/ 31 h 31"/>
            </a:gdLst>
            <a:ahLst/>
            <a:cxnLst>
              <a:cxn ang="0">
                <a:pos x="2147483646" y="2147483646"/>
              </a:cxn>
              <a:cxn ang="0">
                <a:pos x="2147483646" y="0"/>
              </a:cxn>
              <a:cxn ang="0">
                <a:pos x="0" y="2147483646"/>
              </a:cxn>
              <a:cxn ang="0">
                <a:pos x="2147483646" y="2147483646"/>
              </a:cxn>
              <a:cxn ang="0">
                <a:pos x="2147483646" y="2147483646"/>
              </a:cxn>
              <a:cxn ang="0">
                <a:pos x="2147483646" y="2147483646"/>
              </a:cxn>
            </a:cxnLst>
            <a:rect l="txL" t="txT" r="txR" b="txB"/>
            <a:pathLst>
              <a:path w="31" h="31">
                <a:moveTo>
                  <a:pt x="29" y="29"/>
                </a:moveTo>
                <a:lnTo>
                  <a:pt x="31" y="0"/>
                </a:lnTo>
                <a:lnTo>
                  <a:pt x="0" y="15"/>
                </a:lnTo>
                <a:lnTo>
                  <a:pt x="31" y="31"/>
                </a:lnTo>
                <a:lnTo>
                  <a:pt x="29" y="29"/>
                </a:lnTo>
                <a:close/>
              </a:path>
            </a:pathLst>
          </a:custGeom>
          <a:solidFill>
            <a:srgbClr val="000000">
              <a:alpha val="100000"/>
            </a:srgbClr>
          </a:solidFill>
          <a:ln w="9525">
            <a:noFill/>
          </a:ln>
        </p:spPr>
        <p:txBody>
          <a:bodyPr/>
          <a:p>
            <a:endParaRPr lang="zh-CN" altLang="en-US"/>
          </a:p>
        </p:txBody>
      </p:sp>
      <p:sp>
        <p:nvSpPr>
          <p:cNvPr id="149545" name="Line 40"/>
          <p:cNvSpPr/>
          <p:nvPr/>
        </p:nvSpPr>
        <p:spPr>
          <a:xfrm>
            <a:off x="1579563" y="2909888"/>
            <a:ext cx="417512" cy="1587"/>
          </a:xfrm>
          <a:prstGeom prst="line">
            <a:avLst/>
          </a:prstGeom>
          <a:ln w="12700" cap="flat" cmpd="sng">
            <a:solidFill>
              <a:srgbClr val="000000"/>
            </a:solidFill>
            <a:prstDash val="solid"/>
            <a:headEnd type="none" w="med" len="med"/>
            <a:tailEnd type="none" w="med" len="med"/>
          </a:ln>
        </p:spPr>
      </p:sp>
      <p:sp>
        <p:nvSpPr>
          <p:cNvPr id="149546" name="Line 41"/>
          <p:cNvSpPr/>
          <p:nvPr/>
        </p:nvSpPr>
        <p:spPr>
          <a:xfrm>
            <a:off x="2108200" y="2909888"/>
            <a:ext cx="4922838" cy="1587"/>
          </a:xfrm>
          <a:prstGeom prst="line">
            <a:avLst/>
          </a:prstGeom>
          <a:ln w="12700" cap="flat" cmpd="sng">
            <a:solidFill>
              <a:srgbClr val="000000"/>
            </a:solidFill>
            <a:prstDash val="solid"/>
            <a:headEnd type="none" w="med" len="med"/>
            <a:tailEnd type="none" w="med" len="med"/>
          </a:ln>
        </p:spPr>
      </p:sp>
      <p:sp>
        <p:nvSpPr>
          <p:cNvPr id="149547" name="Rectangle 42"/>
          <p:cNvSpPr/>
          <p:nvPr/>
        </p:nvSpPr>
        <p:spPr>
          <a:xfrm>
            <a:off x="3830638" y="2619375"/>
            <a:ext cx="381000" cy="274638"/>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128</a:t>
            </a:r>
            <a:endParaRPr lang="en-US" altLang="zh-CN" sz="1800" b="1" dirty="0">
              <a:latin typeface="Times New Roman" panose="02020603050405020304" pitchFamily="18" charset="0"/>
            </a:endParaRPr>
          </a:p>
        </p:txBody>
      </p:sp>
      <p:sp>
        <p:nvSpPr>
          <p:cNvPr id="149548" name="Freeform 43"/>
          <p:cNvSpPr/>
          <p:nvPr/>
        </p:nvSpPr>
        <p:spPr>
          <a:xfrm>
            <a:off x="4016375" y="5449888"/>
            <a:ext cx="903288" cy="250825"/>
          </a:xfrm>
          <a:custGeom>
            <a:avLst/>
            <a:gdLst>
              <a:gd name="txL" fmla="*/ 0 w 455"/>
              <a:gd name="txT" fmla="*/ 0 h 138"/>
              <a:gd name="txR" fmla="*/ 455 w 455"/>
              <a:gd name="txB" fmla="*/ 138 h 138"/>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455" h="138">
                <a:moveTo>
                  <a:pt x="68" y="136"/>
                </a:moveTo>
                <a:lnTo>
                  <a:pt x="58" y="136"/>
                </a:lnTo>
                <a:lnTo>
                  <a:pt x="47" y="134"/>
                </a:lnTo>
                <a:lnTo>
                  <a:pt x="37" y="130"/>
                </a:lnTo>
                <a:lnTo>
                  <a:pt x="29" y="124"/>
                </a:lnTo>
                <a:lnTo>
                  <a:pt x="20" y="118"/>
                </a:lnTo>
                <a:lnTo>
                  <a:pt x="12" y="109"/>
                </a:lnTo>
                <a:lnTo>
                  <a:pt x="8" y="101"/>
                </a:lnTo>
                <a:lnTo>
                  <a:pt x="4" y="91"/>
                </a:lnTo>
                <a:lnTo>
                  <a:pt x="0" y="80"/>
                </a:lnTo>
                <a:lnTo>
                  <a:pt x="0" y="70"/>
                </a:lnTo>
                <a:lnTo>
                  <a:pt x="0" y="58"/>
                </a:lnTo>
                <a:lnTo>
                  <a:pt x="4" y="47"/>
                </a:lnTo>
                <a:lnTo>
                  <a:pt x="8" y="37"/>
                </a:lnTo>
                <a:lnTo>
                  <a:pt x="12" y="29"/>
                </a:lnTo>
                <a:lnTo>
                  <a:pt x="20" y="20"/>
                </a:lnTo>
                <a:lnTo>
                  <a:pt x="29" y="14"/>
                </a:lnTo>
                <a:lnTo>
                  <a:pt x="37" y="8"/>
                </a:lnTo>
                <a:lnTo>
                  <a:pt x="47" y="4"/>
                </a:lnTo>
                <a:lnTo>
                  <a:pt x="58" y="2"/>
                </a:lnTo>
                <a:lnTo>
                  <a:pt x="68" y="0"/>
                </a:lnTo>
                <a:lnTo>
                  <a:pt x="387" y="0"/>
                </a:lnTo>
                <a:lnTo>
                  <a:pt x="399" y="2"/>
                </a:lnTo>
                <a:lnTo>
                  <a:pt x="410" y="4"/>
                </a:lnTo>
                <a:lnTo>
                  <a:pt x="420" y="8"/>
                </a:lnTo>
                <a:lnTo>
                  <a:pt x="428" y="14"/>
                </a:lnTo>
                <a:lnTo>
                  <a:pt x="437" y="20"/>
                </a:lnTo>
                <a:lnTo>
                  <a:pt x="443" y="29"/>
                </a:lnTo>
                <a:lnTo>
                  <a:pt x="449" y="37"/>
                </a:lnTo>
                <a:lnTo>
                  <a:pt x="453" y="47"/>
                </a:lnTo>
                <a:lnTo>
                  <a:pt x="455" y="58"/>
                </a:lnTo>
                <a:lnTo>
                  <a:pt x="455" y="70"/>
                </a:lnTo>
                <a:lnTo>
                  <a:pt x="455" y="80"/>
                </a:lnTo>
                <a:lnTo>
                  <a:pt x="453" y="91"/>
                </a:lnTo>
                <a:lnTo>
                  <a:pt x="449" y="101"/>
                </a:lnTo>
                <a:lnTo>
                  <a:pt x="443" y="109"/>
                </a:lnTo>
                <a:lnTo>
                  <a:pt x="437" y="118"/>
                </a:lnTo>
                <a:lnTo>
                  <a:pt x="428" y="124"/>
                </a:lnTo>
                <a:lnTo>
                  <a:pt x="420" y="130"/>
                </a:lnTo>
                <a:lnTo>
                  <a:pt x="410" y="134"/>
                </a:lnTo>
                <a:lnTo>
                  <a:pt x="399" y="136"/>
                </a:lnTo>
                <a:lnTo>
                  <a:pt x="387" y="138"/>
                </a:lnTo>
                <a:lnTo>
                  <a:pt x="68" y="138"/>
                </a:lnTo>
              </a:path>
            </a:pathLst>
          </a:custGeom>
          <a:noFill/>
          <a:ln w="12700" cap="flat" cmpd="sng">
            <a:solidFill>
              <a:srgbClr val="000000">
                <a:alpha val="100000"/>
              </a:srgbClr>
            </a:solidFill>
            <a:prstDash val="solid"/>
            <a:round/>
            <a:headEnd type="none" w="med" len="med"/>
            <a:tailEnd type="none" w="med" len="med"/>
          </a:ln>
        </p:spPr>
        <p:txBody>
          <a:bodyPr/>
          <a:p>
            <a:endParaRPr lang="zh-CN" altLang="en-US"/>
          </a:p>
        </p:txBody>
      </p:sp>
      <p:sp>
        <p:nvSpPr>
          <p:cNvPr id="149549" name="Freeform 44"/>
          <p:cNvSpPr/>
          <p:nvPr/>
        </p:nvSpPr>
        <p:spPr>
          <a:xfrm>
            <a:off x="3929063" y="3849688"/>
            <a:ext cx="61912" cy="55562"/>
          </a:xfrm>
          <a:custGeom>
            <a:avLst/>
            <a:gdLst>
              <a:gd name="txL" fmla="*/ 0 w 31"/>
              <a:gd name="txT" fmla="*/ 0 h 31"/>
              <a:gd name="txR" fmla="*/ 31 w 31"/>
              <a:gd name="txB" fmla="*/ 31 h 3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1" h="31">
                <a:moveTo>
                  <a:pt x="15" y="29"/>
                </a:moveTo>
                <a:lnTo>
                  <a:pt x="19" y="31"/>
                </a:lnTo>
                <a:lnTo>
                  <a:pt x="21" y="29"/>
                </a:lnTo>
                <a:lnTo>
                  <a:pt x="23" y="29"/>
                </a:lnTo>
                <a:lnTo>
                  <a:pt x="25" y="26"/>
                </a:lnTo>
                <a:lnTo>
                  <a:pt x="27" y="26"/>
                </a:lnTo>
                <a:lnTo>
                  <a:pt x="29" y="24"/>
                </a:lnTo>
                <a:lnTo>
                  <a:pt x="29" y="22"/>
                </a:lnTo>
                <a:lnTo>
                  <a:pt x="31" y="20"/>
                </a:lnTo>
                <a:lnTo>
                  <a:pt x="31" y="18"/>
                </a:lnTo>
                <a:lnTo>
                  <a:pt x="31" y="14"/>
                </a:lnTo>
                <a:lnTo>
                  <a:pt x="31" y="12"/>
                </a:lnTo>
                <a:lnTo>
                  <a:pt x="31" y="10"/>
                </a:lnTo>
                <a:lnTo>
                  <a:pt x="29" y="8"/>
                </a:lnTo>
                <a:lnTo>
                  <a:pt x="29" y="6"/>
                </a:lnTo>
                <a:lnTo>
                  <a:pt x="27" y="4"/>
                </a:lnTo>
                <a:lnTo>
                  <a:pt x="25" y="4"/>
                </a:lnTo>
                <a:lnTo>
                  <a:pt x="23" y="2"/>
                </a:lnTo>
                <a:lnTo>
                  <a:pt x="21" y="2"/>
                </a:lnTo>
                <a:lnTo>
                  <a:pt x="19" y="0"/>
                </a:lnTo>
                <a:lnTo>
                  <a:pt x="17" y="0"/>
                </a:lnTo>
                <a:lnTo>
                  <a:pt x="15" y="0"/>
                </a:lnTo>
                <a:lnTo>
                  <a:pt x="10" y="2"/>
                </a:lnTo>
                <a:lnTo>
                  <a:pt x="8" y="2"/>
                </a:lnTo>
                <a:lnTo>
                  <a:pt x="6" y="4"/>
                </a:lnTo>
                <a:lnTo>
                  <a:pt x="4" y="6"/>
                </a:lnTo>
                <a:lnTo>
                  <a:pt x="2" y="8"/>
                </a:lnTo>
                <a:lnTo>
                  <a:pt x="2" y="10"/>
                </a:lnTo>
                <a:lnTo>
                  <a:pt x="0" y="12"/>
                </a:lnTo>
                <a:lnTo>
                  <a:pt x="0" y="14"/>
                </a:lnTo>
                <a:lnTo>
                  <a:pt x="0" y="18"/>
                </a:lnTo>
                <a:lnTo>
                  <a:pt x="2" y="20"/>
                </a:lnTo>
                <a:lnTo>
                  <a:pt x="2" y="22"/>
                </a:lnTo>
                <a:lnTo>
                  <a:pt x="4" y="24"/>
                </a:lnTo>
                <a:lnTo>
                  <a:pt x="6" y="26"/>
                </a:lnTo>
                <a:lnTo>
                  <a:pt x="8" y="29"/>
                </a:lnTo>
                <a:lnTo>
                  <a:pt x="10" y="29"/>
                </a:lnTo>
                <a:lnTo>
                  <a:pt x="15" y="31"/>
                </a:lnTo>
                <a:lnTo>
                  <a:pt x="17" y="31"/>
                </a:lnTo>
                <a:lnTo>
                  <a:pt x="15" y="29"/>
                </a:lnTo>
                <a:close/>
              </a:path>
            </a:pathLst>
          </a:custGeom>
          <a:solidFill>
            <a:srgbClr val="000000">
              <a:alpha val="100000"/>
            </a:srgbClr>
          </a:solidFill>
          <a:ln w="9525">
            <a:noFill/>
          </a:ln>
        </p:spPr>
        <p:txBody>
          <a:bodyPr/>
          <a:p>
            <a:endParaRPr lang="zh-CN" altLang="en-US"/>
          </a:p>
        </p:txBody>
      </p:sp>
      <p:sp>
        <p:nvSpPr>
          <p:cNvPr id="149550" name="Line 45"/>
          <p:cNvSpPr/>
          <p:nvPr/>
        </p:nvSpPr>
        <p:spPr>
          <a:xfrm>
            <a:off x="3879850" y="4908550"/>
            <a:ext cx="160338" cy="82550"/>
          </a:xfrm>
          <a:prstGeom prst="line">
            <a:avLst/>
          </a:prstGeom>
          <a:ln w="12700" cap="flat" cmpd="sng">
            <a:solidFill>
              <a:srgbClr val="000000"/>
            </a:solidFill>
            <a:prstDash val="solid"/>
            <a:headEnd type="none" w="med" len="med"/>
            <a:tailEnd type="none" w="med" len="med"/>
          </a:ln>
        </p:spPr>
      </p:sp>
      <p:sp>
        <p:nvSpPr>
          <p:cNvPr id="149551" name="Rectangle 46"/>
          <p:cNvSpPr/>
          <p:nvPr/>
        </p:nvSpPr>
        <p:spPr>
          <a:xfrm>
            <a:off x="4021138" y="4808538"/>
            <a:ext cx="63500" cy="1349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3</a:t>
            </a:r>
            <a:endParaRPr lang="en-US" altLang="zh-CN" sz="2400" dirty="0">
              <a:latin typeface="Times New Roman" panose="02020603050405020304" pitchFamily="18" charset="0"/>
            </a:endParaRPr>
          </a:p>
        </p:txBody>
      </p:sp>
      <p:sp>
        <p:nvSpPr>
          <p:cNvPr id="149552" name="Rectangle 47"/>
          <p:cNvSpPr/>
          <p:nvPr/>
        </p:nvSpPr>
        <p:spPr>
          <a:xfrm>
            <a:off x="4097338" y="4808538"/>
            <a:ext cx="63500" cy="1349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2</a:t>
            </a:r>
            <a:endParaRPr lang="en-US" altLang="zh-CN" sz="2400" dirty="0">
              <a:latin typeface="Times New Roman" panose="02020603050405020304" pitchFamily="18" charset="0"/>
            </a:endParaRPr>
          </a:p>
        </p:txBody>
      </p:sp>
      <p:sp>
        <p:nvSpPr>
          <p:cNvPr id="149553" name="Freeform 48"/>
          <p:cNvSpPr/>
          <p:nvPr/>
        </p:nvSpPr>
        <p:spPr>
          <a:xfrm>
            <a:off x="5180013" y="3849688"/>
            <a:ext cx="57150" cy="55562"/>
          </a:xfrm>
          <a:custGeom>
            <a:avLst/>
            <a:gdLst>
              <a:gd name="txL" fmla="*/ 0 w 29"/>
              <a:gd name="txT" fmla="*/ 0 h 31"/>
              <a:gd name="txR" fmla="*/ 29 w 29"/>
              <a:gd name="txB" fmla="*/ 31 h 3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29" h="31">
                <a:moveTo>
                  <a:pt x="14" y="29"/>
                </a:moveTo>
                <a:lnTo>
                  <a:pt x="16" y="31"/>
                </a:lnTo>
                <a:lnTo>
                  <a:pt x="18" y="29"/>
                </a:lnTo>
                <a:lnTo>
                  <a:pt x="20" y="29"/>
                </a:lnTo>
                <a:lnTo>
                  <a:pt x="22" y="26"/>
                </a:lnTo>
                <a:lnTo>
                  <a:pt x="24" y="26"/>
                </a:lnTo>
                <a:lnTo>
                  <a:pt x="27" y="24"/>
                </a:lnTo>
                <a:lnTo>
                  <a:pt x="29" y="22"/>
                </a:lnTo>
                <a:lnTo>
                  <a:pt x="29" y="20"/>
                </a:lnTo>
                <a:lnTo>
                  <a:pt x="29" y="18"/>
                </a:lnTo>
                <a:lnTo>
                  <a:pt x="29" y="14"/>
                </a:lnTo>
                <a:lnTo>
                  <a:pt x="29" y="12"/>
                </a:lnTo>
                <a:lnTo>
                  <a:pt x="29" y="10"/>
                </a:lnTo>
                <a:lnTo>
                  <a:pt x="29" y="8"/>
                </a:lnTo>
                <a:lnTo>
                  <a:pt x="27" y="6"/>
                </a:lnTo>
                <a:lnTo>
                  <a:pt x="24" y="4"/>
                </a:lnTo>
                <a:lnTo>
                  <a:pt x="22" y="4"/>
                </a:lnTo>
                <a:lnTo>
                  <a:pt x="20" y="2"/>
                </a:lnTo>
                <a:lnTo>
                  <a:pt x="18" y="2"/>
                </a:lnTo>
                <a:lnTo>
                  <a:pt x="16" y="0"/>
                </a:lnTo>
                <a:lnTo>
                  <a:pt x="14" y="0"/>
                </a:lnTo>
                <a:lnTo>
                  <a:pt x="12" y="0"/>
                </a:lnTo>
                <a:lnTo>
                  <a:pt x="10" y="2"/>
                </a:lnTo>
                <a:lnTo>
                  <a:pt x="8" y="2"/>
                </a:lnTo>
                <a:lnTo>
                  <a:pt x="6" y="4"/>
                </a:lnTo>
                <a:lnTo>
                  <a:pt x="4" y="4"/>
                </a:lnTo>
                <a:lnTo>
                  <a:pt x="2" y="6"/>
                </a:lnTo>
                <a:lnTo>
                  <a:pt x="2" y="8"/>
                </a:lnTo>
                <a:lnTo>
                  <a:pt x="0" y="10"/>
                </a:lnTo>
                <a:lnTo>
                  <a:pt x="0" y="12"/>
                </a:lnTo>
                <a:lnTo>
                  <a:pt x="0" y="14"/>
                </a:lnTo>
                <a:lnTo>
                  <a:pt x="0" y="18"/>
                </a:lnTo>
                <a:lnTo>
                  <a:pt x="0" y="20"/>
                </a:lnTo>
                <a:lnTo>
                  <a:pt x="2" y="22"/>
                </a:lnTo>
                <a:lnTo>
                  <a:pt x="2" y="24"/>
                </a:lnTo>
                <a:lnTo>
                  <a:pt x="4" y="26"/>
                </a:lnTo>
                <a:lnTo>
                  <a:pt x="6" y="26"/>
                </a:lnTo>
                <a:lnTo>
                  <a:pt x="8" y="29"/>
                </a:lnTo>
                <a:lnTo>
                  <a:pt x="10" y="29"/>
                </a:lnTo>
                <a:lnTo>
                  <a:pt x="12" y="31"/>
                </a:lnTo>
                <a:lnTo>
                  <a:pt x="14" y="31"/>
                </a:lnTo>
                <a:lnTo>
                  <a:pt x="14" y="29"/>
                </a:lnTo>
                <a:close/>
              </a:path>
            </a:pathLst>
          </a:custGeom>
          <a:solidFill>
            <a:srgbClr val="000000">
              <a:alpha val="100000"/>
            </a:srgbClr>
          </a:solidFill>
          <a:ln w="9525">
            <a:noFill/>
          </a:ln>
        </p:spPr>
        <p:txBody>
          <a:bodyPr/>
          <a:p>
            <a:endParaRPr lang="zh-CN" altLang="en-US"/>
          </a:p>
        </p:txBody>
      </p:sp>
      <p:sp>
        <p:nvSpPr>
          <p:cNvPr id="149554" name="Freeform 49"/>
          <p:cNvSpPr/>
          <p:nvPr/>
        </p:nvSpPr>
        <p:spPr>
          <a:xfrm>
            <a:off x="4557713" y="3875088"/>
            <a:ext cx="646112" cy="1527175"/>
          </a:xfrm>
          <a:custGeom>
            <a:avLst/>
            <a:gdLst>
              <a:gd name="txL" fmla="*/ 0 w 325"/>
              <a:gd name="txT" fmla="*/ 0 h 841"/>
              <a:gd name="txR" fmla="*/ 325 w 325"/>
              <a:gd name="txB" fmla="*/ 841 h 841"/>
            </a:gdLst>
            <a:ahLst/>
            <a:cxnLst>
              <a:cxn ang="0">
                <a:pos x="2147483646" y="0"/>
              </a:cxn>
              <a:cxn ang="0">
                <a:pos x="2147483646" y="2147483646"/>
              </a:cxn>
              <a:cxn ang="0">
                <a:pos x="0" y="2147483646"/>
              </a:cxn>
              <a:cxn ang="0">
                <a:pos x="0" y="2147483646"/>
              </a:cxn>
            </a:cxnLst>
            <a:rect l="txL" t="txT" r="txR" b="txB"/>
            <a:pathLst>
              <a:path w="325" h="841">
                <a:moveTo>
                  <a:pt x="325" y="0"/>
                </a:moveTo>
                <a:lnTo>
                  <a:pt x="325" y="685"/>
                </a:lnTo>
                <a:lnTo>
                  <a:pt x="0" y="685"/>
                </a:lnTo>
                <a:lnTo>
                  <a:pt x="0" y="841"/>
                </a:lnTo>
              </a:path>
            </a:pathLst>
          </a:custGeom>
          <a:noFill/>
          <a:ln w="22225" cap="flat" cmpd="sng">
            <a:solidFill>
              <a:srgbClr val="000000">
                <a:alpha val="100000"/>
              </a:srgbClr>
            </a:solidFill>
            <a:prstDash val="solid"/>
            <a:round/>
            <a:headEnd type="none" w="med" len="med"/>
            <a:tailEnd type="none" w="med" len="med"/>
          </a:ln>
        </p:spPr>
        <p:txBody>
          <a:bodyPr/>
          <a:p>
            <a:endParaRPr lang="zh-CN" altLang="en-US"/>
          </a:p>
        </p:txBody>
      </p:sp>
      <p:sp>
        <p:nvSpPr>
          <p:cNvPr id="149555" name="Line 50"/>
          <p:cNvSpPr/>
          <p:nvPr/>
        </p:nvSpPr>
        <p:spPr>
          <a:xfrm>
            <a:off x="5129213" y="4908550"/>
            <a:ext cx="155575" cy="82550"/>
          </a:xfrm>
          <a:prstGeom prst="line">
            <a:avLst/>
          </a:prstGeom>
          <a:ln w="12700" cap="flat" cmpd="sng">
            <a:solidFill>
              <a:srgbClr val="000000"/>
            </a:solidFill>
            <a:prstDash val="solid"/>
            <a:headEnd type="none" w="med" len="med"/>
            <a:tailEnd type="none" w="med" len="med"/>
          </a:ln>
        </p:spPr>
      </p:sp>
      <p:sp>
        <p:nvSpPr>
          <p:cNvPr id="149556" name="Rectangle 51"/>
          <p:cNvSpPr/>
          <p:nvPr/>
        </p:nvSpPr>
        <p:spPr>
          <a:xfrm>
            <a:off x="5265738" y="4808538"/>
            <a:ext cx="63500" cy="1349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3</a:t>
            </a:r>
            <a:endParaRPr lang="en-US" altLang="zh-CN" sz="2400" dirty="0">
              <a:latin typeface="Times New Roman" panose="02020603050405020304" pitchFamily="18" charset="0"/>
            </a:endParaRPr>
          </a:p>
        </p:txBody>
      </p:sp>
      <p:sp>
        <p:nvSpPr>
          <p:cNvPr id="149557" name="Rectangle 52"/>
          <p:cNvSpPr/>
          <p:nvPr/>
        </p:nvSpPr>
        <p:spPr>
          <a:xfrm>
            <a:off x="5341938" y="4808538"/>
            <a:ext cx="63500" cy="1349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2</a:t>
            </a:r>
            <a:endParaRPr lang="en-US" altLang="zh-CN" sz="2400" dirty="0">
              <a:latin typeface="Times New Roman" panose="02020603050405020304" pitchFamily="18" charset="0"/>
            </a:endParaRPr>
          </a:p>
        </p:txBody>
      </p:sp>
      <p:sp>
        <p:nvSpPr>
          <p:cNvPr id="149558" name="Freeform 53"/>
          <p:cNvSpPr/>
          <p:nvPr/>
        </p:nvSpPr>
        <p:spPr>
          <a:xfrm>
            <a:off x="6432550" y="3849688"/>
            <a:ext cx="60325" cy="55562"/>
          </a:xfrm>
          <a:custGeom>
            <a:avLst/>
            <a:gdLst>
              <a:gd name="txL" fmla="*/ 0 w 31"/>
              <a:gd name="txT" fmla="*/ 0 h 31"/>
              <a:gd name="txR" fmla="*/ 31 w 31"/>
              <a:gd name="txB" fmla="*/ 31 h 31"/>
            </a:gdLst>
            <a:ahLst/>
            <a:cxnLst>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 ang="0">
                <a:pos x="2147483646" y="0"/>
              </a:cxn>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0"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Lst>
            <a:rect l="txL" t="txT" r="txR" b="txB"/>
            <a:pathLst>
              <a:path w="31" h="31">
                <a:moveTo>
                  <a:pt x="15" y="29"/>
                </a:moveTo>
                <a:lnTo>
                  <a:pt x="17" y="31"/>
                </a:lnTo>
                <a:lnTo>
                  <a:pt x="21" y="29"/>
                </a:lnTo>
                <a:lnTo>
                  <a:pt x="23" y="29"/>
                </a:lnTo>
                <a:lnTo>
                  <a:pt x="25" y="26"/>
                </a:lnTo>
                <a:lnTo>
                  <a:pt x="27" y="24"/>
                </a:lnTo>
                <a:lnTo>
                  <a:pt x="29" y="22"/>
                </a:lnTo>
                <a:lnTo>
                  <a:pt x="29" y="20"/>
                </a:lnTo>
                <a:lnTo>
                  <a:pt x="29" y="18"/>
                </a:lnTo>
                <a:lnTo>
                  <a:pt x="31" y="14"/>
                </a:lnTo>
                <a:lnTo>
                  <a:pt x="29" y="12"/>
                </a:lnTo>
                <a:lnTo>
                  <a:pt x="29" y="10"/>
                </a:lnTo>
                <a:lnTo>
                  <a:pt x="29" y="8"/>
                </a:lnTo>
                <a:lnTo>
                  <a:pt x="27" y="6"/>
                </a:lnTo>
                <a:lnTo>
                  <a:pt x="25" y="4"/>
                </a:lnTo>
                <a:lnTo>
                  <a:pt x="23" y="2"/>
                </a:lnTo>
                <a:lnTo>
                  <a:pt x="21" y="2"/>
                </a:lnTo>
                <a:lnTo>
                  <a:pt x="17" y="0"/>
                </a:lnTo>
                <a:lnTo>
                  <a:pt x="15" y="0"/>
                </a:lnTo>
                <a:lnTo>
                  <a:pt x="13" y="0"/>
                </a:lnTo>
                <a:lnTo>
                  <a:pt x="11" y="2"/>
                </a:lnTo>
                <a:lnTo>
                  <a:pt x="8" y="2"/>
                </a:lnTo>
                <a:lnTo>
                  <a:pt x="6" y="4"/>
                </a:lnTo>
                <a:lnTo>
                  <a:pt x="4" y="4"/>
                </a:lnTo>
                <a:lnTo>
                  <a:pt x="2" y="6"/>
                </a:lnTo>
                <a:lnTo>
                  <a:pt x="2" y="8"/>
                </a:lnTo>
                <a:lnTo>
                  <a:pt x="0" y="10"/>
                </a:lnTo>
                <a:lnTo>
                  <a:pt x="0" y="12"/>
                </a:lnTo>
                <a:lnTo>
                  <a:pt x="0" y="14"/>
                </a:lnTo>
                <a:lnTo>
                  <a:pt x="0" y="18"/>
                </a:lnTo>
                <a:lnTo>
                  <a:pt x="0" y="20"/>
                </a:lnTo>
                <a:lnTo>
                  <a:pt x="2" y="22"/>
                </a:lnTo>
                <a:lnTo>
                  <a:pt x="2" y="24"/>
                </a:lnTo>
                <a:lnTo>
                  <a:pt x="4" y="26"/>
                </a:lnTo>
                <a:lnTo>
                  <a:pt x="6" y="26"/>
                </a:lnTo>
                <a:lnTo>
                  <a:pt x="8" y="29"/>
                </a:lnTo>
                <a:lnTo>
                  <a:pt x="11" y="29"/>
                </a:lnTo>
                <a:lnTo>
                  <a:pt x="13" y="31"/>
                </a:lnTo>
                <a:lnTo>
                  <a:pt x="15" y="31"/>
                </a:lnTo>
                <a:lnTo>
                  <a:pt x="15" y="29"/>
                </a:lnTo>
                <a:close/>
              </a:path>
            </a:pathLst>
          </a:custGeom>
          <a:solidFill>
            <a:srgbClr val="000000">
              <a:alpha val="100000"/>
            </a:srgbClr>
          </a:solidFill>
          <a:ln w="9525">
            <a:noFill/>
          </a:ln>
        </p:spPr>
        <p:txBody>
          <a:bodyPr/>
          <a:p>
            <a:endParaRPr lang="zh-CN" altLang="en-US"/>
          </a:p>
        </p:txBody>
      </p:sp>
      <p:sp>
        <p:nvSpPr>
          <p:cNvPr id="149559" name="Freeform 54"/>
          <p:cNvSpPr/>
          <p:nvPr/>
        </p:nvSpPr>
        <p:spPr>
          <a:xfrm>
            <a:off x="4738688" y="3875088"/>
            <a:ext cx="1722437" cy="1522412"/>
          </a:xfrm>
          <a:custGeom>
            <a:avLst/>
            <a:gdLst>
              <a:gd name="txL" fmla="*/ 0 w 868"/>
              <a:gd name="txT" fmla="*/ 0 h 839"/>
              <a:gd name="txR" fmla="*/ 868 w 868"/>
              <a:gd name="txB" fmla="*/ 839 h 839"/>
            </a:gdLst>
            <a:ahLst/>
            <a:cxnLst>
              <a:cxn ang="0">
                <a:pos x="2147483646" y="0"/>
              </a:cxn>
              <a:cxn ang="0">
                <a:pos x="2147483646" y="2147483646"/>
              </a:cxn>
              <a:cxn ang="0">
                <a:pos x="0" y="2147483646"/>
              </a:cxn>
              <a:cxn ang="0">
                <a:pos x="0" y="2147483646"/>
              </a:cxn>
            </a:cxnLst>
            <a:rect l="txL" t="txT" r="txR" b="txB"/>
            <a:pathLst>
              <a:path w="868" h="839">
                <a:moveTo>
                  <a:pt x="866" y="0"/>
                </a:moveTo>
                <a:lnTo>
                  <a:pt x="868" y="776"/>
                </a:lnTo>
                <a:lnTo>
                  <a:pt x="0" y="776"/>
                </a:lnTo>
                <a:lnTo>
                  <a:pt x="0" y="839"/>
                </a:lnTo>
              </a:path>
            </a:pathLst>
          </a:custGeom>
          <a:noFill/>
          <a:ln w="22225" cap="flat" cmpd="sng">
            <a:solidFill>
              <a:srgbClr val="000000">
                <a:alpha val="100000"/>
              </a:srgbClr>
            </a:solidFill>
            <a:prstDash val="solid"/>
            <a:round/>
            <a:headEnd type="none" w="med" len="med"/>
            <a:tailEnd type="none" w="med" len="med"/>
          </a:ln>
        </p:spPr>
        <p:txBody>
          <a:bodyPr/>
          <a:p>
            <a:endParaRPr lang="zh-CN" altLang="en-US"/>
          </a:p>
        </p:txBody>
      </p:sp>
      <p:sp>
        <p:nvSpPr>
          <p:cNvPr id="149560" name="Line 55"/>
          <p:cNvSpPr/>
          <p:nvPr/>
        </p:nvSpPr>
        <p:spPr>
          <a:xfrm>
            <a:off x="6381750" y="4908550"/>
            <a:ext cx="157163" cy="82550"/>
          </a:xfrm>
          <a:prstGeom prst="line">
            <a:avLst/>
          </a:prstGeom>
          <a:ln w="12700" cap="flat" cmpd="sng">
            <a:solidFill>
              <a:srgbClr val="000000"/>
            </a:solidFill>
            <a:prstDash val="solid"/>
            <a:headEnd type="none" w="med" len="med"/>
            <a:tailEnd type="none" w="med" len="med"/>
          </a:ln>
        </p:spPr>
      </p:sp>
      <p:sp>
        <p:nvSpPr>
          <p:cNvPr id="149561" name="Rectangle 56"/>
          <p:cNvSpPr/>
          <p:nvPr/>
        </p:nvSpPr>
        <p:spPr>
          <a:xfrm>
            <a:off x="6523038" y="4808538"/>
            <a:ext cx="63500" cy="1349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3</a:t>
            </a:r>
            <a:endParaRPr lang="en-US" altLang="zh-CN" sz="2400" dirty="0">
              <a:latin typeface="Times New Roman" panose="02020603050405020304" pitchFamily="18" charset="0"/>
            </a:endParaRPr>
          </a:p>
        </p:txBody>
      </p:sp>
      <p:sp>
        <p:nvSpPr>
          <p:cNvPr id="149562" name="Rectangle 57"/>
          <p:cNvSpPr/>
          <p:nvPr/>
        </p:nvSpPr>
        <p:spPr>
          <a:xfrm>
            <a:off x="6596063" y="4808538"/>
            <a:ext cx="63500" cy="1349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2</a:t>
            </a:r>
            <a:endParaRPr lang="en-US" altLang="zh-CN" sz="2400" dirty="0">
              <a:latin typeface="Times New Roman" panose="02020603050405020304" pitchFamily="18" charset="0"/>
            </a:endParaRPr>
          </a:p>
        </p:txBody>
      </p:sp>
      <p:sp>
        <p:nvSpPr>
          <p:cNvPr id="149563" name="Freeform 58"/>
          <p:cNvSpPr/>
          <p:nvPr/>
        </p:nvSpPr>
        <p:spPr>
          <a:xfrm>
            <a:off x="4167188" y="5384800"/>
            <a:ext cx="57150" cy="57150"/>
          </a:xfrm>
          <a:custGeom>
            <a:avLst/>
            <a:gdLst>
              <a:gd name="txL" fmla="*/ 0 w 29"/>
              <a:gd name="txT" fmla="*/ 0 h 31"/>
              <a:gd name="txR" fmla="*/ 29 w 29"/>
              <a:gd name="txB" fmla="*/ 31 h 31"/>
            </a:gdLst>
            <a:ahLst/>
            <a:cxnLst>
              <a:cxn ang="0">
                <a:pos x="2147483646" y="0"/>
              </a:cxn>
              <a:cxn ang="0">
                <a:pos x="0" y="2147483646"/>
              </a:cxn>
              <a:cxn ang="0">
                <a:pos x="2147483646" y="2147483646"/>
              </a:cxn>
              <a:cxn ang="0">
                <a:pos x="2147483646" y="2147483646"/>
              </a:cxn>
              <a:cxn ang="0">
                <a:pos x="2147483646" y="2147483646"/>
              </a:cxn>
              <a:cxn ang="0">
                <a:pos x="2147483646" y="0"/>
              </a:cxn>
            </a:cxnLst>
            <a:rect l="txL" t="txT" r="txR" b="txB"/>
            <a:pathLst>
              <a:path w="29" h="31">
                <a:moveTo>
                  <a:pt x="29" y="0"/>
                </a:moveTo>
                <a:lnTo>
                  <a:pt x="0" y="2"/>
                </a:lnTo>
                <a:lnTo>
                  <a:pt x="15" y="31"/>
                </a:lnTo>
                <a:lnTo>
                  <a:pt x="29" y="2"/>
                </a:lnTo>
                <a:lnTo>
                  <a:pt x="29" y="0"/>
                </a:lnTo>
                <a:close/>
              </a:path>
            </a:pathLst>
          </a:custGeom>
          <a:solidFill>
            <a:srgbClr val="000000">
              <a:alpha val="100000"/>
            </a:srgbClr>
          </a:solidFill>
          <a:ln w="9525">
            <a:noFill/>
          </a:ln>
        </p:spPr>
        <p:txBody>
          <a:bodyPr/>
          <a:p>
            <a:endParaRPr lang="zh-CN" altLang="en-US"/>
          </a:p>
        </p:txBody>
      </p:sp>
      <p:sp>
        <p:nvSpPr>
          <p:cNvPr id="149564" name="Freeform 59"/>
          <p:cNvSpPr/>
          <p:nvPr/>
        </p:nvSpPr>
        <p:spPr>
          <a:xfrm>
            <a:off x="4348163" y="5384800"/>
            <a:ext cx="57150" cy="57150"/>
          </a:xfrm>
          <a:custGeom>
            <a:avLst/>
            <a:gdLst>
              <a:gd name="txL" fmla="*/ 0 w 29"/>
              <a:gd name="txT" fmla="*/ 0 h 31"/>
              <a:gd name="txR" fmla="*/ 29 w 29"/>
              <a:gd name="txB" fmla="*/ 31 h 31"/>
            </a:gdLst>
            <a:ahLst/>
            <a:cxnLst>
              <a:cxn ang="0">
                <a:pos x="2147483646" y="0"/>
              </a:cxn>
              <a:cxn ang="0">
                <a:pos x="0" y="2147483646"/>
              </a:cxn>
              <a:cxn ang="0">
                <a:pos x="2147483646" y="2147483646"/>
              </a:cxn>
              <a:cxn ang="0">
                <a:pos x="2147483646" y="2147483646"/>
              </a:cxn>
              <a:cxn ang="0">
                <a:pos x="2147483646" y="2147483646"/>
              </a:cxn>
              <a:cxn ang="0">
                <a:pos x="2147483646" y="0"/>
              </a:cxn>
            </a:cxnLst>
            <a:rect l="txL" t="txT" r="txR" b="txB"/>
            <a:pathLst>
              <a:path w="29" h="31">
                <a:moveTo>
                  <a:pt x="29" y="0"/>
                </a:moveTo>
                <a:lnTo>
                  <a:pt x="0" y="2"/>
                </a:lnTo>
                <a:lnTo>
                  <a:pt x="15" y="31"/>
                </a:lnTo>
                <a:lnTo>
                  <a:pt x="29" y="2"/>
                </a:lnTo>
                <a:lnTo>
                  <a:pt x="29" y="0"/>
                </a:lnTo>
                <a:close/>
              </a:path>
            </a:pathLst>
          </a:custGeom>
          <a:solidFill>
            <a:srgbClr val="000000">
              <a:alpha val="100000"/>
            </a:srgbClr>
          </a:solidFill>
          <a:ln w="9525">
            <a:noFill/>
          </a:ln>
        </p:spPr>
        <p:txBody>
          <a:bodyPr/>
          <a:p>
            <a:endParaRPr lang="zh-CN" altLang="en-US"/>
          </a:p>
        </p:txBody>
      </p:sp>
      <p:sp>
        <p:nvSpPr>
          <p:cNvPr id="149565" name="Freeform 60"/>
          <p:cNvSpPr/>
          <p:nvPr/>
        </p:nvSpPr>
        <p:spPr>
          <a:xfrm>
            <a:off x="4529138" y="5384800"/>
            <a:ext cx="60325" cy="57150"/>
          </a:xfrm>
          <a:custGeom>
            <a:avLst/>
            <a:gdLst>
              <a:gd name="txL" fmla="*/ 0 w 31"/>
              <a:gd name="txT" fmla="*/ 0 h 31"/>
              <a:gd name="txR" fmla="*/ 31 w 31"/>
              <a:gd name="txB" fmla="*/ 31 h 31"/>
            </a:gdLst>
            <a:ahLst/>
            <a:cxnLst>
              <a:cxn ang="0">
                <a:pos x="2147483646" y="0"/>
              </a:cxn>
              <a:cxn ang="0">
                <a:pos x="0" y="2147483646"/>
              </a:cxn>
              <a:cxn ang="0">
                <a:pos x="2147483646" y="2147483646"/>
              </a:cxn>
              <a:cxn ang="0">
                <a:pos x="2147483646" y="2147483646"/>
              </a:cxn>
              <a:cxn ang="0">
                <a:pos x="2147483646" y="2147483646"/>
              </a:cxn>
              <a:cxn ang="0">
                <a:pos x="2147483646" y="0"/>
              </a:cxn>
            </a:cxnLst>
            <a:rect l="txL" t="txT" r="txR" b="txB"/>
            <a:pathLst>
              <a:path w="31" h="31">
                <a:moveTo>
                  <a:pt x="29" y="0"/>
                </a:moveTo>
                <a:lnTo>
                  <a:pt x="0" y="2"/>
                </a:lnTo>
                <a:lnTo>
                  <a:pt x="15" y="31"/>
                </a:lnTo>
                <a:lnTo>
                  <a:pt x="31" y="2"/>
                </a:lnTo>
                <a:lnTo>
                  <a:pt x="29" y="0"/>
                </a:lnTo>
                <a:close/>
              </a:path>
            </a:pathLst>
          </a:custGeom>
          <a:solidFill>
            <a:srgbClr val="000000">
              <a:alpha val="100000"/>
            </a:srgbClr>
          </a:solidFill>
          <a:ln w="9525">
            <a:noFill/>
          </a:ln>
        </p:spPr>
        <p:txBody>
          <a:bodyPr/>
          <a:p>
            <a:endParaRPr lang="zh-CN" altLang="en-US"/>
          </a:p>
        </p:txBody>
      </p:sp>
      <p:sp>
        <p:nvSpPr>
          <p:cNvPr id="149566" name="Freeform 61"/>
          <p:cNvSpPr/>
          <p:nvPr/>
        </p:nvSpPr>
        <p:spPr>
          <a:xfrm>
            <a:off x="4711700" y="5384800"/>
            <a:ext cx="60325" cy="57150"/>
          </a:xfrm>
          <a:custGeom>
            <a:avLst/>
            <a:gdLst>
              <a:gd name="txL" fmla="*/ 0 w 31"/>
              <a:gd name="txT" fmla="*/ 0 h 31"/>
              <a:gd name="txR" fmla="*/ 31 w 31"/>
              <a:gd name="txB" fmla="*/ 31 h 31"/>
            </a:gdLst>
            <a:ahLst/>
            <a:cxnLst>
              <a:cxn ang="0">
                <a:pos x="2147483646" y="0"/>
              </a:cxn>
              <a:cxn ang="0">
                <a:pos x="0" y="2147483646"/>
              </a:cxn>
              <a:cxn ang="0">
                <a:pos x="2147483646" y="2147483646"/>
              </a:cxn>
              <a:cxn ang="0">
                <a:pos x="2147483646" y="2147483646"/>
              </a:cxn>
              <a:cxn ang="0">
                <a:pos x="2147483646" y="2147483646"/>
              </a:cxn>
              <a:cxn ang="0">
                <a:pos x="2147483646" y="0"/>
              </a:cxn>
            </a:cxnLst>
            <a:rect l="txL" t="txT" r="txR" b="txB"/>
            <a:pathLst>
              <a:path w="31" h="31">
                <a:moveTo>
                  <a:pt x="29" y="0"/>
                </a:moveTo>
                <a:lnTo>
                  <a:pt x="0" y="2"/>
                </a:lnTo>
                <a:lnTo>
                  <a:pt x="14" y="31"/>
                </a:lnTo>
                <a:lnTo>
                  <a:pt x="31" y="2"/>
                </a:lnTo>
                <a:lnTo>
                  <a:pt x="29" y="0"/>
                </a:lnTo>
                <a:close/>
              </a:path>
            </a:pathLst>
          </a:custGeom>
          <a:solidFill>
            <a:srgbClr val="000000">
              <a:alpha val="100000"/>
            </a:srgbClr>
          </a:solidFill>
          <a:ln w="9525">
            <a:noFill/>
          </a:ln>
        </p:spPr>
        <p:txBody>
          <a:bodyPr/>
          <a:p>
            <a:endParaRPr lang="zh-CN" altLang="en-US"/>
          </a:p>
        </p:txBody>
      </p:sp>
      <p:sp>
        <p:nvSpPr>
          <p:cNvPr id="149567" name="Line 62"/>
          <p:cNvSpPr/>
          <p:nvPr/>
        </p:nvSpPr>
        <p:spPr>
          <a:xfrm>
            <a:off x="4221163" y="2270125"/>
            <a:ext cx="160337" cy="82550"/>
          </a:xfrm>
          <a:prstGeom prst="line">
            <a:avLst/>
          </a:prstGeom>
          <a:ln w="12700" cap="flat" cmpd="sng">
            <a:solidFill>
              <a:srgbClr val="000000"/>
            </a:solidFill>
            <a:prstDash val="solid"/>
            <a:headEnd type="none" w="med" len="med"/>
            <a:tailEnd type="none" w="med" len="med"/>
          </a:ln>
        </p:spPr>
      </p:sp>
      <p:sp>
        <p:nvSpPr>
          <p:cNvPr id="149568" name="Rectangle 63"/>
          <p:cNvSpPr/>
          <p:nvPr/>
        </p:nvSpPr>
        <p:spPr>
          <a:xfrm>
            <a:off x="4341813" y="2151063"/>
            <a:ext cx="98425"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400" b="1" dirty="0">
                <a:solidFill>
                  <a:srgbClr val="000000"/>
                </a:solidFill>
              </a:rPr>
              <a:t>2</a:t>
            </a:r>
            <a:endParaRPr lang="en-US" altLang="zh-CN" sz="1400" b="1" dirty="0">
              <a:latin typeface="Times New Roman" panose="02020603050405020304" pitchFamily="18" charset="0"/>
            </a:endParaRPr>
          </a:p>
        </p:txBody>
      </p:sp>
      <p:sp>
        <p:nvSpPr>
          <p:cNvPr id="149569" name="Line 64"/>
          <p:cNvSpPr/>
          <p:nvPr/>
        </p:nvSpPr>
        <p:spPr>
          <a:xfrm>
            <a:off x="4389438" y="5816600"/>
            <a:ext cx="157162" cy="87313"/>
          </a:xfrm>
          <a:prstGeom prst="line">
            <a:avLst/>
          </a:prstGeom>
          <a:ln w="12700" cap="flat" cmpd="sng">
            <a:solidFill>
              <a:srgbClr val="000000"/>
            </a:solidFill>
            <a:prstDash val="solid"/>
            <a:headEnd type="none" w="med" len="med"/>
            <a:tailEnd type="none" w="med" len="med"/>
          </a:ln>
        </p:spPr>
      </p:sp>
      <p:sp>
        <p:nvSpPr>
          <p:cNvPr id="149570" name="Rectangle 65"/>
          <p:cNvSpPr/>
          <p:nvPr/>
        </p:nvSpPr>
        <p:spPr>
          <a:xfrm>
            <a:off x="4524375" y="5721350"/>
            <a:ext cx="63500" cy="1365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3</a:t>
            </a:r>
            <a:endParaRPr lang="en-US" altLang="zh-CN" sz="2400" dirty="0">
              <a:latin typeface="Times New Roman" panose="02020603050405020304" pitchFamily="18" charset="0"/>
            </a:endParaRPr>
          </a:p>
        </p:txBody>
      </p:sp>
      <p:sp>
        <p:nvSpPr>
          <p:cNvPr id="149571" name="Rectangle 66"/>
          <p:cNvSpPr/>
          <p:nvPr/>
        </p:nvSpPr>
        <p:spPr>
          <a:xfrm>
            <a:off x="4603750" y="5721350"/>
            <a:ext cx="63500" cy="1365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2</a:t>
            </a:r>
            <a:endParaRPr lang="en-US" altLang="zh-CN" sz="2400" dirty="0">
              <a:latin typeface="Times New Roman" panose="02020603050405020304" pitchFamily="18" charset="0"/>
            </a:endParaRPr>
          </a:p>
        </p:txBody>
      </p:sp>
      <p:sp>
        <p:nvSpPr>
          <p:cNvPr id="149572" name="Freeform 67"/>
          <p:cNvSpPr/>
          <p:nvPr/>
        </p:nvSpPr>
        <p:spPr>
          <a:xfrm>
            <a:off x="3959225" y="3875088"/>
            <a:ext cx="419100" cy="1522412"/>
          </a:xfrm>
          <a:custGeom>
            <a:avLst/>
            <a:gdLst>
              <a:gd name="txL" fmla="*/ 0 w 211"/>
              <a:gd name="txT" fmla="*/ 0 h 839"/>
              <a:gd name="txR" fmla="*/ 211 w 211"/>
              <a:gd name="txB" fmla="*/ 839 h 839"/>
            </a:gdLst>
            <a:ahLst/>
            <a:cxnLst>
              <a:cxn ang="0">
                <a:pos x="2147483646" y="2147483646"/>
              </a:cxn>
              <a:cxn ang="0">
                <a:pos x="2147483646" y="2147483646"/>
              </a:cxn>
              <a:cxn ang="0">
                <a:pos x="0" y="2147483646"/>
              </a:cxn>
              <a:cxn ang="0">
                <a:pos x="0" y="0"/>
              </a:cxn>
            </a:cxnLst>
            <a:rect l="txL" t="txT" r="txR" b="txB"/>
            <a:pathLst>
              <a:path w="211" h="839">
                <a:moveTo>
                  <a:pt x="211" y="839"/>
                </a:moveTo>
                <a:lnTo>
                  <a:pt x="211" y="685"/>
                </a:lnTo>
                <a:lnTo>
                  <a:pt x="0" y="685"/>
                </a:lnTo>
                <a:lnTo>
                  <a:pt x="0" y="0"/>
                </a:lnTo>
              </a:path>
            </a:pathLst>
          </a:custGeom>
          <a:noFill/>
          <a:ln w="22225" cap="flat" cmpd="sng">
            <a:solidFill>
              <a:srgbClr val="000000">
                <a:alpha val="100000"/>
              </a:srgbClr>
            </a:solidFill>
            <a:prstDash val="solid"/>
            <a:round/>
            <a:headEnd type="none" w="med" len="med"/>
            <a:tailEnd type="none" w="med" len="med"/>
          </a:ln>
        </p:spPr>
        <p:txBody>
          <a:bodyPr/>
          <a:p>
            <a:endParaRPr lang="zh-CN" altLang="en-US"/>
          </a:p>
        </p:txBody>
      </p:sp>
      <p:sp>
        <p:nvSpPr>
          <p:cNvPr id="149573" name="Line 68"/>
          <p:cNvSpPr/>
          <p:nvPr/>
        </p:nvSpPr>
        <p:spPr>
          <a:xfrm flipV="1">
            <a:off x="1468438" y="3141663"/>
            <a:ext cx="3175" cy="1649412"/>
          </a:xfrm>
          <a:prstGeom prst="line">
            <a:avLst/>
          </a:prstGeom>
          <a:ln w="12700" cap="flat" cmpd="sng">
            <a:solidFill>
              <a:srgbClr val="000000"/>
            </a:solidFill>
            <a:prstDash val="solid"/>
            <a:headEnd type="none" w="med" len="med"/>
            <a:tailEnd type="none" w="med" len="med"/>
          </a:ln>
        </p:spPr>
      </p:sp>
      <p:sp>
        <p:nvSpPr>
          <p:cNvPr id="149574" name="Line 69"/>
          <p:cNvSpPr/>
          <p:nvPr/>
        </p:nvSpPr>
        <p:spPr>
          <a:xfrm flipV="1">
            <a:off x="2047875" y="3141663"/>
            <a:ext cx="3175" cy="1649412"/>
          </a:xfrm>
          <a:prstGeom prst="line">
            <a:avLst/>
          </a:prstGeom>
          <a:ln w="12700" cap="flat" cmpd="sng">
            <a:solidFill>
              <a:srgbClr val="000000"/>
            </a:solidFill>
            <a:prstDash val="solid"/>
            <a:headEnd type="none" w="med" len="med"/>
            <a:tailEnd type="none" w="med" len="med"/>
          </a:ln>
        </p:spPr>
      </p:sp>
      <p:sp>
        <p:nvSpPr>
          <p:cNvPr id="149575" name="Line 70"/>
          <p:cNvSpPr/>
          <p:nvPr/>
        </p:nvSpPr>
        <p:spPr>
          <a:xfrm flipV="1">
            <a:off x="3328988" y="3141663"/>
            <a:ext cx="4762" cy="1649412"/>
          </a:xfrm>
          <a:prstGeom prst="line">
            <a:avLst/>
          </a:prstGeom>
          <a:ln w="12700" cap="flat" cmpd="sng">
            <a:solidFill>
              <a:srgbClr val="000000"/>
            </a:solidFill>
            <a:prstDash val="solid"/>
            <a:headEnd type="none" w="med" len="med"/>
            <a:tailEnd type="none" w="med" len="med"/>
          </a:ln>
        </p:spPr>
      </p:sp>
      <p:sp>
        <p:nvSpPr>
          <p:cNvPr id="149576" name="Line 71"/>
          <p:cNvSpPr/>
          <p:nvPr/>
        </p:nvSpPr>
        <p:spPr>
          <a:xfrm flipV="1">
            <a:off x="4586288" y="3141663"/>
            <a:ext cx="3175" cy="1649412"/>
          </a:xfrm>
          <a:prstGeom prst="line">
            <a:avLst/>
          </a:prstGeom>
          <a:ln w="12700" cap="flat" cmpd="sng">
            <a:solidFill>
              <a:srgbClr val="000000"/>
            </a:solidFill>
            <a:prstDash val="solid"/>
            <a:headEnd type="none" w="med" len="med"/>
            <a:tailEnd type="none" w="med" len="med"/>
          </a:ln>
        </p:spPr>
      </p:sp>
      <p:sp>
        <p:nvSpPr>
          <p:cNvPr id="149577" name="Line 72"/>
          <p:cNvSpPr/>
          <p:nvPr/>
        </p:nvSpPr>
        <p:spPr>
          <a:xfrm flipV="1">
            <a:off x="5837238" y="3141663"/>
            <a:ext cx="1587" cy="1649412"/>
          </a:xfrm>
          <a:prstGeom prst="line">
            <a:avLst/>
          </a:prstGeom>
          <a:ln w="12700" cap="flat" cmpd="sng">
            <a:solidFill>
              <a:srgbClr val="000000"/>
            </a:solidFill>
            <a:prstDash val="solid"/>
            <a:headEnd type="none" w="med" len="med"/>
            <a:tailEnd type="none" w="med" len="med"/>
          </a:ln>
        </p:spPr>
      </p:sp>
      <p:sp>
        <p:nvSpPr>
          <p:cNvPr id="149578" name="Line 73"/>
          <p:cNvSpPr/>
          <p:nvPr/>
        </p:nvSpPr>
        <p:spPr>
          <a:xfrm flipH="1">
            <a:off x="1322388" y="3295650"/>
            <a:ext cx="5743575" cy="1588"/>
          </a:xfrm>
          <a:prstGeom prst="line">
            <a:avLst/>
          </a:prstGeom>
          <a:ln w="12700" cap="flat" cmpd="sng">
            <a:solidFill>
              <a:srgbClr val="000000"/>
            </a:solidFill>
            <a:prstDash val="solid"/>
            <a:headEnd type="none" w="med" len="med"/>
            <a:tailEnd type="none" w="med" len="med"/>
          </a:ln>
        </p:spPr>
      </p:sp>
      <p:sp>
        <p:nvSpPr>
          <p:cNvPr id="149579" name="Line 74"/>
          <p:cNvSpPr/>
          <p:nvPr/>
        </p:nvSpPr>
        <p:spPr>
          <a:xfrm flipH="1">
            <a:off x="1322388" y="3460750"/>
            <a:ext cx="5743575" cy="4763"/>
          </a:xfrm>
          <a:prstGeom prst="line">
            <a:avLst/>
          </a:prstGeom>
          <a:ln w="12700" cap="flat" cmpd="sng">
            <a:solidFill>
              <a:srgbClr val="000000"/>
            </a:solidFill>
            <a:prstDash val="solid"/>
            <a:headEnd type="none" w="med" len="med"/>
            <a:tailEnd type="none" w="med" len="med"/>
          </a:ln>
        </p:spPr>
      </p:sp>
      <p:sp>
        <p:nvSpPr>
          <p:cNvPr id="149580" name="Line 75"/>
          <p:cNvSpPr/>
          <p:nvPr/>
        </p:nvSpPr>
        <p:spPr>
          <a:xfrm flipH="1">
            <a:off x="1322388" y="3625850"/>
            <a:ext cx="5743575" cy="4763"/>
          </a:xfrm>
          <a:prstGeom prst="line">
            <a:avLst/>
          </a:prstGeom>
          <a:ln w="12700" cap="flat" cmpd="sng">
            <a:solidFill>
              <a:srgbClr val="000000"/>
            </a:solidFill>
            <a:prstDash val="solid"/>
            <a:headEnd type="none" w="med" len="med"/>
            <a:tailEnd type="none" w="med" len="med"/>
          </a:ln>
        </p:spPr>
      </p:sp>
      <p:sp>
        <p:nvSpPr>
          <p:cNvPr id="149581" name="Line 76"/>
          <p:cNvSpPr/>
          <p:nvPr/>
        </p:nvSpPr>
        <p:spPr>
          <a:xfrm flipH="1">
            <a:off x="1322388" y="3790950"/>
            <a:ext cx="5743575" cy="6350"/>
          </a:xfrm>
          <a:prstGeom prst="line">
            <a:avLst/>
          </a:prstGeom>
          <a:ln w="12700" cap="flat" cmpd="sng">
            <a:solidFill>
              <a:srgbClr val="000000"/>
            </a:solidFill>
            <a:prstDash val="solid"/>
            <a:headEnd type="none" w="med" len="med"/>
            <a:tailEnd type="none" w="med" len="med"/>
          </a:ln>
        </p:spPr>
      </p:sp>
      <p:sp>
        <p:nvSpPr>
          <p:cNvPr id="149582" name="Line 77"/>
          <p:cNvSpPr/>
          <p:nvPr/>
        </p:nvSpPr>
        <p:spPr>
          <a:xfrm flipH="1">
            <a:off x="1322388" y="3959225"/>
            <a:ext cx="5743575" cy="3175"/>
          </a:xfrm>
          <a:prstGeom prst="line">
            <a:avLst/>
          </a:prstGeom>
          <a:ln w="12700" cap="flat" cmpd="sng">
            <a:solidFill>
              <a:srgbClr val="000000"/>
            </a:solidFill>
            <a:prstDash val="solid"/>
            <a:headEnd type="none" w="med" len="med"/>
            <a:tailEnd type="none" w="med" len="med"/>
          </a:ln>
        </p:spPr>
      </p:sp>
      <p:sp>
        <p:nvSpPr>
          <p:cNvPr id="149583" name="Line 78"/>
          <p:cNvSpPr/>
          <p:nvPr/>
        </p:nvSpPr>
        <p:spPr>
          <a:xfrm flipH="1">
            <a:off x="1322388" y="4127500"/>
            <a:ext cx="5743575" cy="1588"/>
          </a:xfrm>
          <a:prstGeom prst="line">
            <a:avLst/>
          </a:prstGeom>
          <a:ln w="12700" cap="flat" cmpd="sng">
            <a:solidFill>
              <a:srgbClr val="000000"/>
            </a:solidFill>
            <a:prstDash val="solid"/>
            <a:headEnd type="none" w="med" len="med"/>
            <a:tailEnd type="none" w="med" len="med"/>
          </a:ln>
        </p:spPr>
      </p:sp>
      <p:sp>
        <p:nvSpPr>
          <p:cNvPr id="149584" name="Line 79"/>
          <p:cNvSpPr/>
          <p:nvPr/>
        </p:nvSpPr>
        <p:spPr>
          <a:xfrm flipH="1">
            <a:off x="1322388" y="4292600"/>
            <a:ext cx="5743575" cy="1588"/>
          </a:xfrm>
          <a:prstGeom prst="line">
            <a:avLst/>
          </a:prstGeom>
          <a:ln w="12700" cap="flat" cmpd="sng">
            <a:solidFill>
              <a:srgbClr val="000000"/>
            </a:solidFill>
            <a:prstDash val="solid"/>
            <a:headEnd type="none" w="med" len="med"/>
            <a:tailEnd type="none" w="med" len="med"/>
          </a:ln>
        </p:spPr>
      </p:sp>
      <p:sp>
        <p:nvSpPr>
          <p:cNvPr id="149585" name="Line 80"/>
          <p:cNvSpPr/>
          <p:nvPr/>
        </p:nvSpPr>
        <p:spPr>
          <a:xfrm flipH="1">
            <a:off x="1322388" y="4457700"/>
            <a:ext cx="5743575" cy="1588"/>
          </a:xfrm>
          <a:prstGeom prst="line">
            <a:avLst/>
          </a:prstGeom>
          <a:ln w="12700" cap="flat" cmpd="sng">
            <a:solidFill>
              <a:srgbClr val="000000"/>
            </a:solidFill>
            <a:prstDash val="solid"/>
            <a:headEnd type="none" w="med" len="med"/>
            <a:tailEnd type="none" w="med" len="med"/>
          </a:ln>
        </p:spPr>
      </p:sp>
      <p:sp>
        <p:nvSpPr>
          <p:cNvPr id="149586" name="Line 81"/>
          <p:cNvSpPr/>
          <p:nvPr/>
        </p:nvSpPr>
        <p:spPr>
          <a:xfrm flipH="1">
            <a:off x="1322388" y="4622800"/>
            <a:ext cx="5743575" cy="1588"/>
          </a:xfrm>
          <a:prstGeom prst="line">
            <a:avLst/>
          </a:prstGeom>
          <a:ln w="12700" cap="flat" cmpd="sng">
            <a:solidFill>
              <a:srgbClr val="000000"/>
            </a:solidFill>
            <a:prstDash val="solid"/>
            <a:headEnd type="none" w="med" len="med"/>
            <a:tailEnd type="none" w="med" len="med"/>
          </a:ln>
        </p:spPr>
      </p:sp>
      <p:sp>
        <p:nvSpPr>
          <p:cNvPr id="149587" name="Rectangle 82"/>
          <p:cNvSpPr/>
          <p:nvPr/>
        </p:nvSpPr>
        <p:spPr>
          <a:xfrm>
            <a:off x="2954338" y="1685925"/>
            <a:ext cx="196850"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400" b="1" dirty="0">
                <a:solidFill>
                  <a:srgbClr val="000000"/>
                </a:solidFill>
              </a:rPr>
              <a:t>31</a:t>
            </a:r>
            <a:endParaRPr lang="en-US" altLang="zh-CN" sz="1400" b="1" dirty="0">
              <a:latin typeface="Times New Roman" panose="02020603050405020304" pitchFamily="18" charset="0"/>
            </a:endParaRPr>
          </a:p>
        </p:txBody>
      </p:sp>
      <p:sp>
        <p:nvSpPr>
          <p:cNvPr id="149588" name="Rectangle 83"/>
          <p:cNvSpPr/>
          <p:nvPr/>
        </p:nvSpPr>
        <p:spPr>
          <a:xfrm>
            <a:off x="3194050" y="1771650"/>
            <a:ext cx="33338" cy="13811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 </a:t>
            </a:r>
            <a:endParaRPr lang="en-US" altLang="zh-CN" sz="2400" dirty="0">
              <a:latin typeface="Times New Roman" panose="02020603050405020304" pitchFamily="18" charset="0"/>
            </a:endParaRPr>
          </a:p>
        </p:txBody>
      </p:sp>
      <p:sp>
        <p:nvSpPr>
          <p:cNvPr id="149589" name="Rectangle 84"/>
          <p:cNvSpPr/>
          <p:nvPr/>
        </p:nvSpPr>
        <p:spPr>
          <a:xfrm>
            <a:off x="3382963" y="1771650"/>
            <a:ext cx="31750" cy="1365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900" dirty="0">
                <a:solidFill>
                  <a:srgbClr val="000000"/>
                </a:solidFill>
              </a:rPr>
              <a:t> </a:t>
            </a:r>
            <a:endParaRPr lang="en-US" altLang="zh-CN" sz="2400" dirty="0">
              <a:latin typeface="Times New Roman" panose="02020603050405020304" pitchFamily="18" charset="0"/>
            </a:endParaRPr>
          </a:p>
        </p:txBody>
      </p:sp>
      <p:sp>
        <p:nvSpPr>
          <p:cNvPr id="149590" name="AutoShape 85"/>
          <p:cNvSpPr/>
          <p:nvPr/>
        </p:nvSpPr>
        <p:spPr>
          <a:xfrm>
            <a:off x="7743825" y="2243138"/>
            <a:ext cx="558800" cy="241300"/>
          </a:xfrm>
          <a:prstGeom prst="roundRect">
            <a:avLst>
              <a:gd name="adj" fmla="val 37500"/>
            </a:avLst>
          </a:prstGeom>
          <a:no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49591" name="Line 86"/>
          <p:cNvSpPr/>
          <p:nvPr/>
        </p:nvSpPr>
        <p:spPr>
          <a:xfrm flipV="1">
            <a:off x="7972425" y="2471738"/>
            <a:ext cx="0" cy="304800"/>
          </a:xfrm>
          <a:prstGeom prst="line">
            <a:avLst/>
          </a:prstGeom>
          <a:ln w="25400" cap="flat" cmpd="sng">
            <a:solidFill>
              <a:schemeClr val="tx1"/>
            </a:solidFill>
            <a:prstDash val="solid"/>
            <a:headEnd type="none" w="med" len="med"/>
            <a:tailEnd type="triangle" w="sm" len="sm"/>
          </a:ln>
        </p:spPr>
      </p:sp>
      <p:sp>
        <p:nvSpPr>
          <p:cNvPr id="149592" name="Text Box 87"/>
          <p:cNvSpPr txBox="1"/>
          <p:nvPr/>
        </p:nvSpPr>
        <p:spPr>
          <a:xfrm>
            <a:off x="5518150" y="5695950"/>
            <a:ext cx="6794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Data</a:t>
            </a:r>
            <a:endParaRPr lang="en-US" altLang="zh-CN" sz="1800" b="1" dirty="0">
              <a:solidFill>
                <a:srgbClr val="000000"/>
              </a:solidFill>
            </a:endParaRPr>
          </a:p>
        </p:txBody>
      </p:sp>
      <p:sp>
        <p:nvSpPr>
          <p:cNvPr id="149593" name="Text Box 88"/>
          <p:cNvSpPr txBox="1"/>
          <p:nvPr/>
        </p:nvSpPr>
        <p:spPr>
          <a:xfrm>
            <a:off x="7677150" y="2698750"/>
            <a:ext cx="7683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Word</a:t>
            </a:r>
            <a:endParaRPr lang="en-US" altLang="zh-CN" sz="1800" b="1" dirty="0">
              <a:solidFill>
                <a:srgbClr val="000000"/>
              </a:solidFill>
            </a:endParaRPr>
          </a:p>
        </p:txBody>
      </p:sp>
      <p:sp>
        <p:nvSpPr>
          <p:cNvPr id="149594" name="Line 89"/>
          <p:cNvSpPr/>
          <p:nvPr/>
        </p:nvSpPr>
        <p:spPr>
          <a:xfrm flipH="1" flipV="1">
            <a:off x="7985125" y="1963738"/>
            <a:ext cx="0" cy="279400"/>
          </a:xfrm>
          <a:prstGeom prst="line">
            <a:avLst/>
          </a:prstGeom>
          <a:ln w="25400" cap="flat" cmpd="sng">
            <a:solidFill>
              <a:schemeClr val="tx1"/>
            </a:solidFill>
            <a:prstDash val="solid"/>
            <a:headEnd type="none" w="med" len="med"/>
            <a:tailEnd type="triangle" w="sm" len="sm"/>
          </a:ln>
        </p:spPr>
      </p:sp>
      <p:sp>
        <p:nvSpPr>
          <p:cNvPr id="149595" name="Line 90"/>
          <p:cNvSpPr/>
          <p:nvPr/>
        </p:nvSpPr>
        <p:spPr>
          <a:xfrm>
            <a:off x="4529138" y="2265363"/>
            <a:ext cx="169862" cy="87312"/>
          </a:xfrm>
          <a:prstGeom prst="line">
            <a:avLst/>
          </a:prstGeom>
          <a:ln w="12700" cap="flat" cmpd="sng">
            <a:solidFill>
              <a:srgbClr val="000000"/>
            </a:solidFill>
            <a:prstDash val="solid"/>
            <a:headEnd type="none" w="med" len="med"/>
            <a:tailEnd type="none" w="med" len="med"/>
          </a:ln>
        </p:spPr>
      </p:sp>
      <p:sp>
        <p:nvSpPr>
          <p:cNvPr id="149596" name="Rectangle 91"/>
          <p:cNvSpPr/>
          <p:nvPr/>
        </p:nvSpPr>
        <p:spPr>
          <a:xfrm>
            <a:off x="4656138" y="2151063"/>
            <a:ext cx="98425"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400" b="1" dirty="0">
                <a:solidFill>
                  <a:srgbClr val="000000"/>
                </a:solidFill>
              </a:rPr>
              <a:t>2</a:t>
            </a:r>
            <a:endParaRPr lang="en-US" altLang="zh-CN" sz="1400" b="1" dirty="0">
              <a:latin typeface="Times New Roman" panose="02020603050405020304" pitchFamily="18" charset="0"/>
            </a:endParaRPr>
          </a:p>
        </p:txBody>
      </p:sp>
      <p:sp>
        <p:nvSpPr>
          <p:cNvPr id="149597" name="Rectangle 92"/>
          <p:cNvSpPr/>
          <p:nvPr/>
        </p:nvSpPr>
        <p:spPr>
          <a:xfrm>
            <a:off x="4619625" y="1685925"/>
            <a:ext cx="98425" cy="21272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400" b="1" dirty="0">
                <a:solidFill>
                  <a:srgbClr val="000000"/>
                </a:solidFill>
              </a:rPr>
              <a:t>0</a:t>
            </a:r>
            <a:endParaRPr lang="en-US" altLang="zh-CN" sz="1400" b="1" dirty="0">
              <a:latin typeface="Times New Roman" panose="02020603050405020304" pitchFamily="18" charset="0"/>
            </a:endParaRPr>
          </a:p>
        </p:txBody>
      </p:sp>
      <p:sp>
        <p:nvSpPr>
          <p:cNvPr id="149598" name="Text Box 93"/>
          <p:cNvSpPr txBox="1"/>
          <p:nvPr/>
        </p:nvSpPr>
        <p:spPr>
          <a:xfrm>
            <a:off x="7632700" y="1584325"/>
            <a:ext cx="679450" cy="3667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Byte</a:t>
            </a:r>
            <a:endParaRPr lang="en-US" altLang="zh-CN" sz="1800" b="1" dirty="0">
              <a:solidFill>
                <a:srgbClr val="000000"/>
              </a:solidFill>
            </a:endParaRPr>
          </a:p>
        </p:txBody>
      </p:sp>
      <p:sp>
        <p:nvSpPr>
          <p:cNvPr id="149599" name="Rectangle 94"/>
          <p:cNvSpPr/>
          <p:nvPr/>
        </p:nvSpPr>
        <p:spPr>
          <a:xfrm>
            <a:off x="5532438" y="2393950"/>
            <a:ext cx="1649412" cy="27463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800000"/>
                </a:solidFill>
              </a:rPr>
              <a:t>Block offset</a:t>
            </a:r>
            <a:endParaRPr lang="en-US" altLang="zh-CN" sz="1800" b="1" dirty="0">
              <a:solidFill>
                <a:srgbClr val="800000"/>
              </a:solidFill>
            </a:endParaRPr>
          </a:p>
        </p:txBody>
      </p:sp>
      <p:sp>
        <p:nvSpPr>
          <p:cNvPr id="149600" name="Rectangle 95"/>
          <p:cNvSpPr/>
          <p:nvPr/>
        </p:nvSpPr>
        <p:spPr>
          <a:xfrm>
            <a:off x="2862263" y="1493838"/>
            <a:ext cx="2382837" cy="274637"/>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FF"/>
                </a:solidFill>
              </a:rPr>
              <a:t>Memory Address</a:t>
            </a:r>
            <a:endParaRPr lang="en-US" altLang="zh-CN" sz="1800" b="1" dirty="0">
              <a:solidFill>
                <a:srgbClr val="0000FF"/>
              </a:solidFill>
            </a:endParaRPr>
          </a:p>
        </p:txBody>
      </p:sp>
      <p:sp>
        <p:nvSpPr>
          <p:cNvPr id="149601" name="Rectangle 96"/>
          <p:cNvSpPr/>
          <p:nvPr/>
        </p:nvSpPr>
        <p:spPr>
          <a:xfrm>
            <a:off x="1376363" y="2168525"/>
            <a:ext cx="1173162" cy="27463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FF"/>
                </a:solidFill>
              </a:rPr>
              <a:t>Tag</a:t>
            </a:r>
            <a:endParaRPr lang="en-US" altLang="zh-CN" sz="1800" b="1" dirty="0">
              <a:solidFill>
                <a:srgbClr val="0000FF"/>
              </a:solidFill>
            </a:endParaRPr>
          </a:p>
        </p:txBody>
      </p:sp>
      <p:sp>
        <p:nvSpPr>
          <p:cNvPr id="149602" name="Rectangle 97"/>
          <p:cNvSpPr/>
          <p:nvPr/>
        </p:nvSpPr>
        <p:spPr>
          <a:xfrm>
            <a:off x="2816225" y="2438400"/>
            <a:ext cx="1173163" cy="27463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CC0000"/>
                </a:solidFill>
              </a:rPr>
              <a:t>Index</a:t>
            </a:r>
            <a:endParaRPr lang="en-US" altLang="zh-CN" sz="1800" b="1" dirty="0">
              <a:solidFill>
                <a:srgbClr val="CC0000"/>
              </a:solidFill>
            </a:endParaRPr>
          </a:p>
        </p:txBody>
      </p:sp>
      <p:sp>
        <p:nvSpPr>
          <p:cNvPr id="149603" name="Rectangle 98"/>
          <p:cNvSpPr/>
          <p:nvPr/>
        </p:nvSpPr>
        <p:spPr>
          <a:xfrm>
            <a:off x="7767638" y="2214563"/>
            <a:ext cx="546100" cy="274637"/>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Mux</a:t>
            </a:r>
            <a:endParaRPr lang="en-US" altLang="zh-CN" sz="1800" b="1" dirty="0">
              <a:solidFill>
                <a:srgbClr val="000000"/>
              </a:solidFill>
            </a:endParaRPr>
          </a:p>
        </p:txBody>
      </p:sp>
      <p:sp>
        <p:nvSpPr>
          <p:cNvPr id="149604" name="Rectangle 99"/>
          <p:cNvSpPr/>
          <p:nvPr/>
        </p:nvSpPr>
        <p:spPr>
          <a:xfrm>
            <a:off x="7210425" y="3848100"/>
            <a:ext cx="1411288" cy="5492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4K</a:t>
            </a:r>
            <a:endParaRPr lang="en-US" altLang="zh-CN" sz="1800" b="1" dirty="0"/>
          </a:p>
          <a:p>
            <a:pPr marL="0" lvl="0" indent="0">
              <a:spcBef>
                <a:spcPct val="0"/>
              </a:spcBef>
              <a:buClrTx/>
              <a:buSzTx/>
              <a:buFontTx/>
              <a:buNone/>
            </a:pPr>
            <a:r>
              <a:rPr lang="en-US" altLang="zh-CN" sz="1800" b="1" dirty="0"/>
              <a:t>lines</a:t>
            </a:r>
            <a:endParaRPr lang="en-US" altLang="zh-CN" sz="1800" b="1" dirty="0"/>
          </a:p>
        </p:txBody>
      </p:sp>
      <p:sp>
        <p:nvSpPr>
          <p:cNvPr id="149605" name="Text Box 100"/>
          <p:cNvSpPr txBox="1"/>
          <p:nvPr/>
        </p:nvSpPr>
        <p:spPr>
          <a:xfrm>
            <a:off x="1697038" y="5143500"/>
            <a:ext cx="560387" cy="27463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i="1" dirty="0">
                <a:solidFill>
                  <a:srgbClr val="666699"/>
                </a:solidFill>
                <a:ea typeface="华文新魏" pitchFamily="2" charset="-122"/>
              </a:rPr>
              <a:t>=</a:t>
            </a:r>
            <a:endParaRPr lang="en-US" altLang="zh-CN" sz="1800" b="1" i="1" dirty="0">
              <a:solidFill>
                <a:srgbClr val="666699"/>
              </a:solidFill>
              <a:ea typeface="华文新魏" pitchFamily="2" charset="-122"/>
            </a:endParaRPr>
          </a:p>
        </p:txBody>
      </p:sp>
      <p:sp>
        <p:nvSpPr>
          <p:cNvPr id="149606" name="Rectangle 101"/>
          <p:cNvSpPr/>
          <p:nvPr/>
        </p:nvSpPr>
        <p:spPr>
          <a:xfrm>
            <a:off x="4238625" y="5408613"/>
            <a:ext cx="512763" cy="274637"/>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Mux</a:t>
            </a:r>
            <a:endParaRPr lang="en-US" altLang="zh-CN" sz="1800" b="1" dirty="0">
              <a:solidFill>
                <a:srgbClr val="000000"/>
              </a:solidFill>
            </a:endParaRPr>
          </a:p>
        </p:txBody>
      </p:sp>
      <p:sp>
        <p:nvSpPr>
          <p:cNvPr id="149607" name="Rectangle 102"/>
          <p:cNvSpPr/>
          <p:nvPr/>
        </p:nvSpPr>
        <p:spPr>
          <a:xfrm>
            <a:off x="1677988" y="2659063"/>
            <a:ext cx="254000" cy="2746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16</a:t>
            </a:r>
            <a:endParaRPr lang="en-US" altLang="zh-CN" sz="1800" b="1" dirty="0">
              <a:solidFill>
                <a:srgbClr val="000000"/>
              </a:solidFill>
            </a:endParaRPr>
          </a:p>
        </p:txBody>
      </p:sp>
      <p:grpSp>
        <p:nvGrpSpPr>
          <p:cNvPr id="149608" name="Group 103"/>
          <p:cNvGrpSpPr/>
          <p:nvPr/>
        </p:nvGrpSpPr>
        <p:grpSpPr>
          <a:xfrm>
            <a:off x="2862263" y="1898650"/>
            <a:ext cx="1905000" cy="269875"/>
            <a:chOff x="1878" y="1213"/>
            <a:chExt cx="1091" cy="153"/>
          </a:xfrm>
        </p:grpSpPr>
        <p:sp>
          <p:nvSpPr>
            <p:cNvPr id="149636" name="Freeform 104"/>
            <p:cNvSpPr/>
            <p:nvPr/>
          </p:nvSpPr>
          <p:spPr>
            <a:xfrm>
              <a:off x="1878" y="1223"/>
              <a:ext cx="1091" cy="132"/>
            </a:xfrm>
            <a:custGeom>
              <a:avLst/>
              <a:gdLst>
                <a:gd name="txL" fmla="*/ 0 w 757"/>
                <a:gd name="txT" fmla="*/ 0 h 101"/>
                <a:gd name="txR" fmla="*/ 757 w 757"/>
                <a:gd name="txB" fmla="*/ 101 h 101"/>
              </a:gdLst>
              <a:ahLst/>
              <a:cxnLst>
                <a:cxn ang="0">
                  <a:pos x="0" y="47704"/>
                </a:cxn>
                <a:cxn ang="0">
                  <a:pos x="0" y="0"/>
                </a:cxn>
                <a:cxn ang="0">
                  <a:pos x="3387379" y="0"/>
                </a:cxn>
                <a:cxn ang="0">
                  <a:pos x="3387379" y="47704"/>
                </a:cxn>
                <a:cxn ang="0">
                  <a:pos x="0" y="47704"/>
                </a:cxn>
                <a:cxn ang="0">
                  <a:pos x="0" y="47704"/>
                </a:cxn>
              </a:cxnLst>
              <a:rect l="txL" t="txT" r="txR" b="txB"/>
              <a:pathLst>
                <a:path w="757" h="101">
                  <a:moveTo>
                    <a:pt x="0" y="101"/>
                  </a:moveTo>
                  <a:lnTo>
                    <a:pt x="0" y="0"/>
                  </a:lnTo>
                  <a:lnTo>
                    <a:pt x="757" y="0"/>
                  </a:lnTo>
                  <a:lnTo>
                    <a:pt x="757" y="101"/>
                  </a:lnTo>
                  <a:lnTo>
                    <a:pt x="0" y="101"/>
                  </a:lnTo>
                </a:path>
              </a:pathLst>
            </a:custGeom>
            <a:noFill/>
            <a:ln w="28575" cap="flat" cmpd="sng">
              <a:solidFill>
                <a:srgbClr val="000000">
                  <a:alpha val="100000"/>
                </a:srgbClr>
              </a:solidFill>
              <a:prstDash val="solid"/>
              <a:round/>
              <a:headEnd type="none" w="med" len="med"/>
              <a:tailEnd type="none" w="med" len="med"/>
            </a:ln>
          </p:spPr>
          <p:txBody>
            <a:bodyPr/>
            <a:p>
              <a:endParaRPr lang="zh-CN" altLang="en-US"/>
            </a:p>
          </p:txBody>
        </p:sp>
        <p:sp>
          <p:nvSpPr>
            <p:cNvPr id="149637" name="Line 105"/>
            <p:cNvSpPr/>
            <p:nvPr/>
          </p:nvSpPr>
          <p:spPr>
            <a:xfrm>
              <a:off x="2613" y="1221"/>
              <a:ext cx="0" cy="145"/>
            </a:xfrm>
            <a:prstGeom prst="line">
              <a:avLst/>
            </a:prstGeom>
            <a:ln w="28575" cap="flat" cmpd="sng">
              <a:solidFill>
                <a:srgbClr val="000000"/>
              </a:solidFill>
              <a:prstDash val="solid"/>
              <a:headEnd type="none" w="med" len="med"/>
              <a:tailEnd type="none" w="med" len="med"/>
            </a:ln>
          </p:spPr>
        </p:sp>
        <p:sp>
          <p:nvSpPr>
            <p:cNvPr id="149638" name="Line 106"/>
            <p:cNvSpPr/>
            <p:nvPr/>
          </p:nvSpPr>
          <p:spPr>
            <a:xfrm flipH="1">
              <a:off x="2288" y="1223"/>
              <a:ext cx="0" cy="135"/>
            </a:xfrm>
            <a:prstGeom prst="line">
              <a:avLst/>
            </a:prstGeom>
            <a:ln w="28575" cap="flat" cmpd="sng">
              <a:solidFill>
                <a:srgbClr val="000000"/>
              </a:solidFill>
              <a:prstDash val="solid"/>
              <a:headEnd type="none" w="med" len="med"/>
              <a:tailEnd type="none" w="med" len="med"/>
            </a:ln>
          </p:spPr>
        </p:sp>
        <p:sp>
          <p:nvSpPr>
            <p:cNvPr id="149639" name="Line 107"/>
            <p:cNvSpPr/>
            <p:nvPr/>
          </p:nvSpPr>
          <p:spPr>
            <a:xfrm>
              <a:off x="2797" y="1213"/>
              <a:ext cx="0" cy="145"/>
            </a:xfrm>
            <a:prstGeom prst="line">
              <a:avLst/>
            </a:prstGeom>
            <a:ln w="28575" cap="flat" cmpd="sng">
              <a:solidFill>
                <a:srgbClr val="000000"/>
              </a:solidFill>
              <a:prstDash val="solid"/>
              <a:headEnd type="none" w="med" len="med"/>
              <a:tailEnd type="none" w="med" len="med"/>
            </a:ln>
          </p:spPr>
        </p:sp>
      </p:grpSp>
      <p:sp>
        <p:nvSpPr>
          <p:cNvPr id="149609" name="Rectangle 108"/>
          <p:cNvSpPr/>
          <p:nvPr/>
        </p:nvSpPr>
        <p:spPr>
          <a:xfrm>
            <a:off x="3963988" y="2843213"/>
            <a:ext cx="469900" cy="274637"/>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rgbClr val="000000"/>
                </a:solidFill>
              </a:rPr>
              <a:t>data</a:t>
            </a:r>
            <a:endParaRPr lang="en-US" altLang="zh-CN" sz="1800" b="1" dirty="0">
              <a:solidFill>
                <a:srgbClr val="000000"/>
              </a:solidFill>
            </a:endParaRPr>
          </a:p>
        </p:txBody>
      </p:sp>
      <p:grpSp>
        <p:nvGrpSpPr>
          <p:cNvPr id="3" name="Group 109"/>
          <p:cNvGrpSpPr/>
          <p:nvPr/>
        </p:nvGrpSpPr>
        <p:grpSpPr>
          <a:xfrm>
            <a:off x="4294188" y="2147888"/>
            <a:ext cx="3400425" cy="3727450"/>
            <a:chOff x="2675" y="1761"/>
            <a:chExt cx="2142" cy="2348"/>
          </a:xfrm>
        </p:grpSpPr>
        <p:sp>
          <p:nvSpPr>
            <p:cNvPr id="149634" name="Freeform 110"/>
            <p:cNvSpPr/>
            <p:nvPr/>
          </p:nvSpPr>
          <p:spPr>
            <a:xfrm>
              <a:off x="2675" y="1761"/>
              <a:ext cx="2142" cy="2160"/>
            </a:xfrm>
            <a:custGeom>
              <a:avLst/>
              <a:gdLst>
                <a:gd name="txL" fmla="*/ 0 w 1713"/>
                <a:gd name="txT" fmla="*/ 0 h 1890"/>
                <a:gd name="txR" fmla="*/ 1713 w 1713"/>
                <a:gd name="txB" fmla="*/ 1890 h 1890"/>
              </a:gdLst>
              <a:ahLst/>
              <a:cxnLst>
                <a:cxn ang="0">
                  <a:pos x="53811" y="40721"/>
                </a:cxn>
                <a:cxn ang="0">
                  <a:pos x="292567" y="40783"/>
                </a:cxn>
                <a:cxn ang="0">
                  <a:pos x="292567" y="6440"/>
                </a:cxn>
                <a:cxn ang="0">
                  <a:pos x="0" y="6440"/>
                </a:cxn>
                <a:cxn ang="0">
                  <a:pos x="0" y="0"/>
                </a:cxn>
              </a:cxnLst>
              <a:rect l="txL" t="txT" r="txR" b="txB"/>
              <a:pathLst>
                <a:path w="1713" h="1890">
                  <a:moveTo>
                    <a:pt x="315" y="1888"/>
                  </a:moveTo>
                  <a:lnTo>
                    <a:pt x="1713" y="1890"/>
                  </a:lnTo>
                  <a:lnTo>
                    <a:pt x="1713" y="298"/>
                  </a:lnTo>
                  <a:lnTo>
                    <a:pt x="0" y="298"/>
                  </a:lnTo>
                  <a:lnTo>
                    <a:pt x="0" y="0"/>
                  </a:lnTo>
                </a:path>
              </a:pathLst>
            </a:custGeom>
            <a:noFill/>
            <a:ln w="22225" cap="flat" cmpd="sng">
              <a:solidFill>
                <a:srgbClr val="800000">
                  <a:alpha val="100000"/>
                </a:srgbClr>
              </a:solidFill>
              <a:prstDash val="solid"/>
              <a:round/>
              <a:headEnd type="none" w="med" len="med"/>
              <a:tailEnd type="none" w="med" len="med"/>
            </a:ln>
          </p:spPr>
          <p:txBody>
            <a:bodyPr/>
            <a:p>
              <a:endParaRPr lang="zh-CN" altLang="en-US"/>
            </a:p>
          </p:txBody>
        </p:sp>
        <p:sp>
          <p:nvSpPr>
            <p:cNvPr id="149635" name="Rectangle 111"/>
            <p:cNvSpPr/>
            <p:nvPr/>
          </p:nvSpPr>
          <p:spPr>
            <a:xfrm>
              <a:off x="3069" y="3936"/>
              <a:ext cx="145" cy="173"/>
            </a:xfrm>
            <a:prstGeom prst="rect">
              <a:avLst/>
            </a:prstGeom>
            <a:noFill/>
            <a:ln w="9525">
              <a:noFill/>
            </a:ln>
          </p:spPr>
          <p:txBody>
            <a:bodyPr wrap="none" lIns="0" tIns="0" rIns="0" bIns="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chemeClr val="hlink"/>
                  </a:solidFill>
                  <a:cs typeface="Arial" panose="020B0604020202020204" pitchFamily="34" charset="0"/>
                </a:rPr>
                <a:t>④</a:t>
              </a:r>
              <a:endParaRPr lang="en-US" altLang="zh-CN" sz="1800" b="1" dirty="0">
                <a:solidFill>
                  <a:schemeClr val="hlink"/>
                </a:solidFill>
                <a:ea typeface="Arial" panose="020B0604020202020204" pitchFamily="34" charset="0"/>
              </a:endParaRPr>
            </a:p>
          </p:txBody>
        </p:sp>
      </p:grpSp>
      <p:grpSp>
        <p:nvGrpSpPr>
          <p:cNvPr id="4" name="Group 112"/>
          <p:cNvGrpSpPr/>
          <p:nvPr/>
        </p:nvGrpSpPr>
        <p:grpSpPr>
          <a:xfrm>
            <a:off x="1138238" y="2147888"/>
            <a:ext cx="2744787" cy="1730375"/>
            <a:chOff x="687" y="1761"/>
            <a:chExt cx="1729" cy="1090"/>
          </a:xfrm>
        </p:grpSpPr>
        <p:sp>
          <p:nvSpPr>
            <p:cNvPr id="149632" name="Freeform 113"/>
            <p:cNvSpPr/>
            <p:nvPr/>
          </p:nvSpPr>
          <p:spPr>
            <a:xfrm>
              <a:off x="687" y="1761"/>
              <a:ext cx="1729" cy="1090"/>
            </a:xfrm>
            <a:custGeom>
              <a:avLst/>
              <a:gdLst>
                <a:gd name="txL" fmla="*/ 0 w 1383"/>
                <a:gd name="txT" fmla="*/ 0 h 954"/>
                <a:gd name="txR" fmla="*/ 1383 w 1383"/>
                <a:gd name="txB" fmla="*/ 954 h 954"/>
              </a:gdLst>
              <a:ahLst/>
              <a:cxnLst>
                <a:cxn ang="0">
                  <a:pos x="235116" y="0"/>
                </a:cxn>
                <a:cxn ang="0">
                  <a:pos x="235116" y="6353"/>
                </a:cxn>
                <a:cxn ang="0">
                  <a:pos x="0" y="6353"/>
                </a:cxn>
                <a:cxn ang="0">
                  <a:pos x="0" y="20455"/>
                </a:cxn>
                <a:cxn ang="0">
                  <a:pos x="10850" y="20455"/>
                </a:cxn>
              </a:cxnLst>
              <a:rect l="txL" t="txT" r="txR" b="txB"/>
              <a:pathLst>
                <a:path w="1383" h="954">
                  <a:moveTo>
                    <a:pt x="1383" y="0"/>
                  </a:moveTo>
                  <a:lnTo>
                    <a:pt x="1383" y="298"/>
                  </a:lnTo>
                  <a:lnTo>
                    <a:pt x="0" y="298"/>
                  </a:lnTo>
                  <a:lnTo>
                    <a:pt x="0" y="954"/>
                  </a:lnTo>
                  <a:lnTo>
                    <a:pt x="64" y="954"/>
                  </a:lnTo>
                </a:path>
              </a:pathLst>
            </a:custGeom>
            <a:noFill/>
            <a:ln w="22225" cap="flat" cmpd="sng">
              <a:solidFill>
                <a:srgbClr val="CC0000">
                  <a:alpha val="100000"/>
                </a:srgbClr>
              </a:solidFill>
              <a:prstDash val="solid"/>
              <a:round/>
              <a:headEnd type="none" w="med" len="med"/>
              <a:tailEnd type="none" w="med" len="med"/>
            </a:ln>
          </p:spPr>
          <p:txBody>
            <a:bodyPr/>
            <a:p>
              <a:endParaRPr lang="zh-CN" altLang="en-US"/>
            </a:p>
          </p:txBody>
        </p:sp>
        <p:sp>
          <p:nvSpPr>
            <p:cNvPr id="149633" name="Rectangle 114"/>
            <p:cNvSpPr/>
            <p:nvPr/>
          </p:nvSpPr>
          <p:spPr>
            <a:xfrm>
              <a:off x="2228" y="1861"/>
              <a:ext cx="145" cy="17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CC0000"/>
                  </a:solidFill>
                </a:rPr>
                <a:t>①</a:t>
              </a:r>
              <a:endParaRPr lang="en-US" altLang="zh-CN" sz="1800" b="1" dirty="0">
                <a:solidFill>
                  <a:srgbClr val="CC0000"/>
                </a:solidFill>
              </a:endParaRPr>
            </a:p>
          </p:txBody>
        </p:sp>
      </p:grpSp>
      <p:grpSp>
        <p:nvGrpSpPr>
          <p:cNvPr id="5" name="Group 115"/>
          <p:cNvGrpSpPr/>
          <p:nvPr/>
        </p:nvGrpSpPr>
        <p:grpSpPr>
          <a:xfrm>
            <a:off x="1031875" y="2125663"/>
            <a:ext cx="2395538" cy="3151187"/>
            <a:chOff x="620" y="1747"/>
            <a:chExt cx="1509" cy="1985"/>
          </a:xfrm>
        </p:grpSpPr>
        <p:sp>
          <p:nvSpPr>
            <p:cNvPr id="149630" name="Freeform 116"/>
            <p:cNvSpPr/>
            <p:nvPr/>
          </p:nvSpPr>
          <p:spPr>
            <a:xfrm>
              <a:off x="620" y="1761"/>
              <a:ext cx="1509" cy="1971"/>
            </a:xfrm>
            <a:custGeom>
              <a:avLst/>
              <a:gdLst>
                <a:gd name="txL" fmla="*/ 0 w 1207"/>
                <a:gd name="txT" fmla="*/ 0 h 1724"/>
                <a:gd name="txR" fmla="*/ 1207 w 1207"/>
                <a:gd name="txB" fmla="*/ 1724 h 1724"/>
              </a:gdLst>
              <a:ahLst/>
              <a:cxnLst>
                <a:cxn ang="0">
                  <a:pos x="205297" y="0"/>
                </a:cxn>
                <a:cxn ang="0">
                  <a:pos x="205297" y="3992"/>
                </a:cxn>
                <a:cxn ang="0">
                  <a:pos x="0" y="3992"/>
                </a:cxn>
                <a:cxn ang="0">
                  <a:pos x="0" y="37486"/>
                </a:cxn>
                <a:cxn ang="0">
                  <a:pos x="48728" y="37486"/>
                </a:cxn>
              </a:cxnLst>
              <a:rect l="txL" t="txT" r="txR" b="txB"/>
              <a:pathLst>
                <a:path w="1207" h="1724">
                  <a:moveTo>
                    <a:pt x="1207" y="0"/>
                  </a:moveTo>
                  <a:lnTo>
                    <a:pt x="1207" y="184"/>
                  </a:lnTo>
                  <a:lnTo>
                    <a:pt x="0" y="184"/>
                  </a:lnTo>
                  <a:lnTo>
                    <a:pt x="0" y="1724"/>
                  </a:lnTo>
                  <a:lnTo>
                    <a:pt x="286" y="1724"/>
                  </a:lnTo>
                </a:path>
              </a:pathLst>
            </a:custGeom>
            <a:noFill/>
            <a:ln w="22225" cap="flat" cmpd="sng">
              <a:solidFill>
                <a:srgbClr val="0000FF">
                  <a:alpha val="100000"/>
                </a:srgbClr>
              </a:solidFill>
              <a:prstDash val="solid"/>
              <a:round/>
              <a:headEnd type="none" w="med" len="med"/>
              <a:tailEnd type="none" w="med" len="med"/>
            </a:ln>
          </p:spPr>
          <p:txBody>
            <a:bodyPr/>
            <a:p>
              <a:endParaRPr lang="zh-CN" altLang="en-US"/>
            </a:p>
          </p:txBody>
        </p:sp>
        <p:sp>
          <p:nvSpPr>
            <p:cNvPr id="149631" name="Rectangle 117"/>
            <p:cNvSpPr/>
            <p:nvPr/>
          </p:nvSpPr>
          <p:spPr>
            <a:xfrm>
              <a:off x="1932" y="1747"/>
              <a:ext cx="145" cy="17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00FF"/>
                  </a:solidFill>
                </a:rPr>
                <a:t>②</a:t>
              </a:r>
              <a:endParaRPr lang="en-US" altLang="zh-CN" sz="1800" b="1" dirty="0">
                <a:solidFill>
                  <a:srgbClr val="0000FF"/>
                </a:solidFill>
              </a:endParaRPr>
            </a:p>
          </p:txBody>
        </p:sp>
      </p:grpSp>
      <p:grpSp>
        <p:nvGrpSpPr>
          <p:cNvPr id="6" name="Group 118"/>
          <p:cNvGrpSpPr/>
          <p:nvPr/>
        </p:nvGrpSpPr>
        <p:grpSpPr>
          <a:xfrm>
            <a:off x="654050" y="2101850"/>
            <a:ext cx="1171575" cy="3938588"/>
            <a:chOff x="382" y="1732"/>
            <a:chExt cx="738" cy="2481"/>
          </a:xfrm>
        </p:grpSpPr>
        <p:sp>
          <p:nvSpPr>
            <p:cNvPr id="149622" name="Freeform 119"/>
            <p:cNvSpPr/>
            <p:nvPr/>
          </p:nvSpPr>
          <p:spPr>
            <a:xfrm>
              <a:off x="506" y="1929"/>
              <a:ext cx="39" cy="35"/>
            </a:xfrm>
            <a:custGeom>
              <a:avLst/>
              <a:gdLst>
                <a:gd name="txL" fmla="*/ 0 w 31"/>
                <a:gd name="txT" fmla="*/ 0 h 31"/>
                <a:gd name="txR" fmla="*/ 31 w 31"/>
                <a:gd name="txB" fmla="*/ 31 h 31"/>
              </a:gdLst>
              <a:ahLst/>
              <a:cxnLst>
                <a:cxn ang="0">
                  <a:pos x="0" y="475"/>
                </a:cxn>
                <a:cxn ang="0">
                  <a:pos x="6085" y="508"/>
                </a:cxn>
                <a:cxn ang="0">
                  <a:pos x="3301" y="0"/>
                </a:cxn>
                <a:cxn ang="0">
                  <a:pos x="0" y="508"/>
                </a:cxn>
                <a:cxn ang="0">
                  <a:pos x="0" y="508"/>
                </a:cxn>
                <a:cxn ang="0">
                  <a:pos x="0" y="475"/>
                </a:cxn>
              </a:cxnLst>
              <a:rect l="txL" t="txT" r="txR" b="txB"/>
              <a:pathLst>
                <a:path w="31" h="31">
                  <a:moveTo>
                    <a:pt x="0" y="29"/>
                  </a:moveTo>
                  <a:lnTo>
                    <a:pt x="31" y="31"/>
                  </a:lnTo>
                  <a:lnTo>
                    <a:pt x="17" y="0"/>
                  </a:lnTo>
                  <a:lnTo>
                    <a:pt x="0" y="31"/>
                  </a:lnTo>
                  <a:lnTo>
                    <a:pt x="0" y="29"/>
                  </a:lnTo>
                  <a:close/>
                </a:path>
              </a:pathLst>
            </a:custGeom>
            <a:solidFill>
              <a:srgbClr val="000000">
                <a:alpha val="100000"/>
              </a:srgbClr>
            </a:solidFill>
            <a:ln w="9525">
              <a:noFill/>
            </a:ln>
          </p:spPr>
          <p:txBody>
            <a:bodyPr/>
            <a:p>
              <a:endParaRPr lang="zh-CN" altLang="en-US"/>
            </a:p>
          </p:txBody>
        </p:sp>
        <p:sp>
          <p:nvSpPr>
            <p:cNvPr id="149623" name="Text Box 120"/>
            <p:cNvSpPr txBox="1"/>
            <p:nvPr/>
          </p:nvSpPr>
          <p:spPr>
            <a:xfrm>
              <a:off x="382" y="1732"/>
              <a:ext cx="308" cy="2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t>Hit</a:t>
              </a:r>
              <a:endParaRPr lang="en-US" altLang="zh-CN" sz="1800" b="1" dirty="0"/>
            </a:p>
          </p:txBody>
        </p:sp>
        <p:grpSp>
          <p:nvGrpSpPr>
            <p:cNvPr id="149624" name="Group 121"/>
            <p:cNvGrpSpPr/>
            <p:nvPr/>
          </p:nvGrpSpPr>
          <p:grpSpPr>
            <a:xfrm>
              <a:off x="527" y="1956"/>
              <a:ext cx="593" cy="2257"/>
              <a:chOff x="527" y="1956"/>
              <a:chExt cx="593" cy="2257"/>
            </a:xfrm>
          </p:grpSpPr>
          <p:sp>
            <p:nvSpPr>
              <p:cNvPr id="149625" name="Line 122"/>
              <p:cNvSpPr/>
              <p:nvPr/>
            </p:nvSpPr>
            <p:spPr>
              <a:xfrm>
                <a:off x="845" y="2849"/>
                <a:ext cx="2" cy="1094"/>
              </a:xfrm>
              <a:prstGeom prst="line">
                <a:avLst/>
              </a:prstGeom>
              <a:ln w="28575" cap="flat" cmpd="sng">
                <a:solidFill>
                  <a:srgbClr val="006600"/>
                </a:solidFill>
                <a:prstDash val="solid"/>
                <a:headEnd type="none" w="med" len="med"/>
                <a:tailEnd type="none" w="med" len="med"/>
              </a:ln>
            </p:spPr>
          </p:sp>
          <p:sp>
            <p:nvSpPr>
              <p:cNvPr id="149626" name="Freeform 123"/>
              <p:cNvSpPr/>
              <p:nvPr/>
            </p:nvSpPr>
            <p:spPr>
              <a:xfrm>
                <a:off x="527" y="1956"/>
                <a:ext cx="320" cy="2257"/>
              </a:xfrm>
              <a:custGeom>
                <a:avLst/>
                <a:gdLst>
                  <a:gd name="txL" fmla="*/ 0 w 256"/>
                  <a:gd name="txT" fmla="*/ 0 h 1974"/>
                  <a:gd name="txR" fmla="*/ 256 w 256"/>
                  <a:gd name="txB" fmla="*/ 1974 h 1974"/>
                </a:gdLst>
                <a:ahLst/>
                <a:cxnLst>
                  <a:cxn ang="0">
                    <a:pos x="43360" y="41044"/>
                  </a:cxn>
                  <a:cxn ang="0">
                    <a:pos x="43360" y="43024"/>
                  </a:cxn>
                  <a:cxn ang="0">
                    <a:pos x="0" y="43024"/>
                  </a:cxn>
                  <a:cxn ang="0">
                    <a:pos x="0" y="0"/>
                  </a:cxn>
                </a:cxnLst>
                <a:rect l="txL" t="txT" r="txR" b="txB"/>
                <a:pathLst>
                  <a:path w="256" h="1974">
                    <a:moveTo>
                      <a:pt x="256" y="1883"/>
                    </a:moveTo>
                    <a:lnTo>
                      <a:pt x="256" y="1974"/>
                    </a:lnTo>
                    <a:lnTo>
                      <a:pt x="0" y="1974"/>
                    </a:lnTo>
                    <a:lnTo>
                      <a:pt x="0" y="0"/>
                    </a:lnTo>
                  </a:path>
                </a:pathLst>
              </a:custGeom>
              <a:noFill/>
              <a:ln w="28575" cap="flat" cmpd="sng">
                <a:solidFill>
                  <a:srgbClr val="006600">
                    <a:alpha val="100000"/>
                  </a:srgbClr>
                </a:solidFill>
                <a:prstDash val="solid"/>
                <a:round/>
                <a:headEnd type="none" w="med" len="med"/>
                <a:tailEnd type="none" w="med" len="med"/>
              </a:ln>
            </p:spPr>
            <p:txBody>
              <a:bodyPr/>
              <a:p>
                <a:endParaRPr lang="zh-CN" altLang="en-US"/>
              </a:p>
            </p:txBody>
          </p:sp>
          <p:grpSp>
            <p:nvGrpSpPr>
              <p:cNvPr id="149627" name="Group 124"/>
              <p:cNvGrpSpPr/>
              <p:nvPr/>
            </p:nvGrpSpPr>
            <p:grpSpPr>
              <a:xfrm>
                <a:off x="887" y="3808"/>
                <a:ext cx="233" cy="294"/>
                <a:chOff x="887" y="3808"/>
                <a:chExt cx="233" cy="294"/>
              </a:xfrm>
            </p:grpSpPr>
            <p:sp>
              <p:nvSpPr>
                <p:cNvPr id="149628" name="Freeform 125"/>
                <p:cNvSpPr/>
                <p:nvPr/>
              </p:nvSpPr>
              <p:spPr>
                <a:xfrm>
                  <a:off x="887" y="3808"/>
                  <a:ext cx="206" cy="129"/>
                </a:xfrm>
                <a:custGeom>
                  <a:avLst/>
                  <a:gdLst>
                    <a:gd name="txL" fmla="*/ 0 w 165"/>
                    <a:gd name="txT" fmla="*/ 0 h 113"/>
                    <a:gd name="txR" fmla="*/ 165 w 165"/>
                    <a:gd name="txB" fmla="*/ 113 h 113"/>
                  </a:gdLst>
                  <a:ahLst/>
                  <a:cxnLst>
                    <a:cxn ang="0">
                      <a:pos x="27175" y="0"/>
                    </a:cxn>
                    <a:cxn ang="0">
                      <a:pos x="27175" y="1218"/>
                    </a:cxn>
                    <a:cxn ang="0">
                      <a:pos x="0" y="1218"/>
                    </a:cxn>
                    <a:cxn ang="0">
                      <a:pos x="0" y="2372"/>
                    </a:cxn>
                  </a:cxnLst>
                  <a:rect l="txL" t="txT" r="txR" b="txB"/>
                  <a:pathLst>
                    <a:path w="165" h="113">
                      <a:moveTo>
                        <a:pt x="165" y="0"/>
                      </a:moveTo>
                      <a:lnTo>
                        <a:pt x="165" y="58"/>
                      </a:lnTo>
                      <a:lnTo>
                        <a:pt x="0" y="58"/>
                      </a:lnTo>
                      <a:lnTo>
                        <a:pt x="0" y="113"/>
                      </a:lnTo>
                    </a:path>
                  </a:pathLst>
                </a:custGeom>
                <a:noFill/>
                <a:ln w="28575" cap="flat" cmpd="sng">
                  <a:solidFill>
                    <a:srgbClr val="006600">
                      <a:alpha val="100000"/>
                    </a:srgbClr>
                  </a:solidFill>
                  <a:prstDash val="solid"/>
                  <a:round/>
                  <a:headEnd type="none" w="med" len="med"/>
                  <a:tailEnd type="none" w="med" len="med"/>
                </a:ln>
              </p:spPr>
              <p:txBody>
                <a:bodyPr/>
                <a:p>
                  <a:endParaRPr lang="zh-CN" altLang="en-US"/>
                </a:p>
              </p:txBody>
            </p:sp>
            <p:sp>
              <p:nvSpPr>
                <p:cNvPr id="149629" name="Rectangle 126"/>
                <p:cNvSpPr/>
                <p:nvPr/>
              </p:nvSpPr>
              <p:spPr>
                <a:xfrm>
                  <a:off x="975" y="3929"/>
                  <a:ext cx="145" cy="173"/>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1800" b="1" dirty="0">
                      <a:solidFill>
                        <a:srgbClr val="006600"/>
                      </a:solidFill>
                    </a:rPr>
                    <a:t>③</a:t>
                  </a:r>
                  <a:endParaRPr lang="en-US" altLang="zh-CN" sz="1800" b="1" dirty="0">
                    <a:solidFill>
                      <a:srgbClr val="006600"/>
                    </a:solidFill>
                  </a:endParaRPr>
                </a:p>
              </p:txBody>
            </p:sp>
          </p:grpSp>
        </p:grpSp>
      </p:grpSp>
      <p:grpSp>
        <p:nvGrpSpPr>
          <p:cNvPr id="9" name="Group 127"/>
          <p:cNvGrpSpPr/>
          <p:nvPr/>
        </p:nvGrpSpPr>
        <p:grpSpPr>
          <a:xfrm>
            <a:off x="4594225" y="2151063"/>
            <a:ext cx="3111500" cy="274637"/>
            <a:chOff x="2864" y="1763"/>
            <a:chExt cx="1960" cy="173"/>
          </a:xfrm>
        </p:grpSpPr>
        <p:grpSp>
          <p:nvGrpSpPr>
            <p:cNvPr id="149618" name="Group 128"/>
            <p:cNvGrpSpPr/>
            <p:nvPr/>
          </p:nvGrpSpPr>
          <p:grpSpPr>
            <a:xfrm>
              <a:off x="2864" y="1765"/>
              <a:ext cx="1960" cy="168"/>
              <a:chOff x="2864" y="1765"/>
              <a:chExt cx="1960" cy="168"/>
            </a:xfrm>
          </p:grpSpPr>
          <p:sp>
            <p:nvSpPr>
              <p:cNvPr id="149620" name="Line 129"/>
              <p:cNvSpPr/>
              <p:nvPr/>
            </p:nvSpPr>
            <p:spPr>
              <a:xfrm>
                <a:off x="2864" y="1765"/>
                <a:ext cx="0" cy="168"/>
              </a:xfrm>
              <a:prstGeom prst="line">
                <a:avLst/>
              </a:prstGeom>
              <a:ln w="22225" cap="flat" cmpd="sng">
                <a:solidFill>
                  <a:schemeClr val="accent1"/>
                </a:solidFill>
                <a:prstDash val="solid"/>
                <a:headEnd type="none" w="med" len="med"/>
                <a:tailEnd type="none" w="med" len="med"/>
              </a:ln>
            </p:spPr>
          </p:sp>
          <p:sp>
            <p:nvSpPr>
              <p:cNvPr id="149621" name="Line 130"/>
              <p:cNvSpPr/>
              <p:nvPr/>
            </p:nvSpPr>
            <p:spPr>
              <a:xfrm>
                <a:off x="2864" y="1925"/>
                <a:ext cx="1960" cy="0"/>
              </a:xfrm>
              <a:prstGeom prst="line">
                <a:avLst/>
              </a:prstGeom>
              <a:ln w="22225" cap="flat" cmpd="sng">
                <a:solidFill>
                  <a:schemeClr val="accent1"/>
                </a:solidFill>
                <a:prstDash val="solid"/>
                <a:headEnd type="none" w="med" len="med"/>
                <a:tailEnd type="triangle" w="med" len="med"/>
              </a:ln>
            </p:spPr>
          </p:sp>
        </p:grpSp>
        <p:sp>
          <p:nvSpPr>
            <p:cNvPr id="149619" name="Rectangle 131"/>
            <p:cNvSpPr/>
            <p:nvPr/>
          </p:nvSpPr>
          <p:spPr>
            <a:xfrm>
              <a:off x="3122" y="1763"/>
              <a:ext cx="184" cy="173"/>
            </a:xfrm>
            <a:prstGeom prst="rect">
              <a:avLst/>
            </a:prstGeom>
            <a:noFill/>
            <a:ln w="9525">
              <a:noFill/>
            </a:ln>
          </p:spPr>
          <p:txBody>
            <a:bodyPr wrap="none" lIns="0" tIns="0" rIns="0" bIns="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1800" b="1" dirty="0">
                  <a:solidFill>
                    <a:schemeClr val="accent1"/>
                  </a:solidFill>
                  <a:cs typeface="Arial" panose="020B0604020202020204" pitchFamily="34" charset="0"/>
                </a:rPr>
                <a:t>⑤</a:t>
              </a:r>
              <a:r>
                <a:rPr lang="en-US" altLang="zh-CN" sz="1800" b="1" i="1" dirty="0">
                  <a:solidFill>
                    <a:srgbClr val="666699"/>
                  </a:solidFill>
                  <a:cs typeface="Arial" panose="020B0604020202020204" pitchFamily="34" charset="0"/>
                </a:rPr>
                <a:t> </a:t>
              </a:r>
              <a:endParaRPr lang="en-US" altLang="zh-CN" sz="1800" b="1" i="1" dirty="0">
                <a:solidFill>
                  <a:srgbClr val="666699"/>
                </a:solidFill>
                <a:ea typeface="Arial" panose="020B0604020202020204" pitchFamily="34" charset="0"/>
              </a:endParaRPr>
            </a:p>
          </p:txBody>
        </p:sp>
      </p:grpSp>
      <p:sp>
        <p:nvSpPr>
          <p:cNvPr id="187524" name="Text Box 132"/>
          <p:cNvSpPr txBox="1"/>
          <p:nvPr/>
        </p:nvSpPr>
        <p:spPr>
          <a:xfrm>
            <a:off x="1962150" y="5454650"/>
            <a:ext cx="1936750" cy="549275"/>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1800" b="1" dirty="0">
                <a:solidFill>
                  <a:srgbClr val="FF0000"/>
                </a:solidFill>
                <a:ea typeface="黑体" panose="02010609060101010101" pitchFamily="49" charset="-122"/>
              </a:rPr>
              <a:t>问题：</a:t>
            </a:r>
            <a:r>
              <a:rPr lang="en-US" altLang="zh-CN" sz="1800" b="1" dirty="0">
                <a:solidFill>
                  <a:srgbClr val="FF0000"/>
                </a:solidFill>
                <a:ea typeface="黑体" panose="02010609060101010101" pitchFamily="49" charset="-122"/>
              </a:rPr>
              <a:t>Cache</a:t>
            </a:r>
            <a:r>
              <a:rPr lang="zh-CN" altLang="en-US" sz="1800" b="1" dirty="0">
                <a:solidFill>
                  <a:srgbClr val="FF0000"/>
                </a:solidFill>
                <a:ea typeface="黑体" panose="02010609060101010101" pitchFamily="49" charset="-122"/>
              </a:rPr>
              <a:t>有多少行？容量多大？</a:t>
            </a:r>
            <a:endParaRPr lang="zh-CN" altLang="en-US" sz="1800" b="1" dirty="0">
              <a:solidFill>
                <a:srgbClr val="FF0000"/>
              </a:solidFill>
              <a:ea typeface="黑体" panose="02010609060101010101" pitchFamily="49" charset="-122"/>
            </a:endParaRPr>
          </a:p>
        </p:txBody>
      </p:sp>
      <p:sp>
        <p:nvSpPr>
          <p:cNvPr id="187525" name="Text Box 133"/>
          <p:cNvSpPr txBox="1"/>
          <p:nvPr/>
        </p:nvSpPr>
        <p:spPr>
          <a:xfrm>
            <a:off x="1601788" y="6105525"/>
            <a:ext cx="5400675" cy="6096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r>
              <a:rPr lang="zh-CN" altLang="en-US" sz="2000" b="1" dirty="0">
                <a:solidFill>
                  <a:srgbClr val="0000FF"/>
                </a:solidFill>
                <a:ea typeface="黑体" panose="02010609060101010101" pitchFamily="49" charset="-122"/>
              </a:rPr>
              <a:t>容量</a:t>
            </a:r>
            <a:r>
              <a:rPr lang="en-US" altLang="zh-CN" sz="2000" b="1" dirty="0">
                <a:solidFill>
                  <a:srgbClr val="0000FF"/>
                </a:solidFill>
                <a:ea typeface="黑体" panose="02010609060101010101" pitchFamily="49" charset="-122"/>
              </a:rPr>
              <a:t> 4Kx(1+16)+64Kx8=580Kbits=72.5KB, </a:t>
            </a:r>
            <a:endParaRPr lang="en-US" altLang="zh-CN" sz="2000" b="1" dirty="0">
              <a:solidFill>
                <a:srgbClr val="0000FF"/>
              </a:solidFill>
              <a:ea typeface="黑体" panose="02010609060101010101" pitchFamily="49" charset="-122"/>
            </a:endParaRPr>
          </a:p>
          <a:p>
            <a:pPr marL="0" lvl="0" indent="0" eaLnBrk="1" hangingPunct="1">
              <a:spcBef>
                <a:spcPct val="0"/>
              </a:spcBef>
              <a:buClrTx/>
              <a:buSzTx/>
              <a:buFontTx/>
              <a:buNone/>
            </a:pPr>
            <a:r>
              <a:rPr lang="zh-CN" altLang="en-US" sz="2000" b="1" dirty="0">
                <a:solidFill>
                  <a:srgbClr val="0000FF"/>
                </a:solidFill>
                <a:ea typeface="黑体" panose="02010609060101010101" pitchFamily="49" charset="-122"/>
              </a:rPr>
              <a:t>数据占</a:t>
            </a:r>
            <a:r>
              <a:rPr lang="en-US" altLang="zh-CN" sz="2000" b="1" dirty="0">
                <a:solidFill>
                  <a:srgbClr val="0000FF"/>
                </a:solidFill>
                <a:ea typeface="黑体" panose="02010609060101010101" pitchFamily="49" charset="-122"/>
              </a:rPr>
              <a:t>64KB / 72.5KB = 88.3%</a:t>
            </a:r>
            <a:r>
              <a:rPr lang="en-US" altLang="zh-CN" sz="2000" b="1" i="1" dirty="0">
                <a:solidFill>
                  <a:srgbClr val="0000FF"/>
                </a:solidFill>
                <a:ea typeface="黑体" panose="02010609060101010101" pitchFamily="49" charset="-122"/>
              </a:rPr>
              <a:t> </a:t>
            </a:r>
            <a:r>
              <a:rPr lang="en-US" altLang="zh-CN" sz="2000" b="1" dirty="0">
                <a:solidFill>
                  <a:srgbClr val="0000FF"/>
                </a:solidFill>
                <a:ea typeface="黑体" panose="02010609060101010101" pitchFamily="49" charset="-122"/>
              </a:rPr>
              <a:t> </a:t>
            </a:r>
            <a:endParaRPr lang="en-US" altLang="zh-CN" sz="2000" b="1" dirty="0">
              <a:solidFill>
                <a:srgbClr val="0000FF"/>
              </a:solidFill>
              <a:ea typeface="黑体" panose="02010609060101010101" pitchFamily="49" charset="-122"/>
            </a:endParaRPr>
          </a:p>
        </p:txBody>
      </p:sp>
      <p:sp>
        <p:nvSpPr>
          <p:cNvPr id="149617" name="Line 134"/>
          <p:cNvSpPr/>
          <p:nvPr/>
        </p:nvSpPr>
        <p:spPr>
          <a:xfrm>
            <a:off x="2051050" y="2752725"/>
            <a:ext cx="0" cy="406400"/>
          </a:xfrm>
          <a:prstGeom prst="line">
            <a:avLst/>
          </a:prstGeom>
          <a:ln w="28575" cap="flat" cmpd="sng">
            <a:solidFill>
              <a:srgbClr val="800000"/>
            </a:solidFill>
            <a:prstDash val="solid"/>
            <a:headEnd type="none" w="med" len="med"/>
            <a:tailEnd type="none" w="med" len="med"/>
          </a:ln>
        </p:spPr>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87527"/>
                                        </p:tgtEl>
                                        <p:attrNameLst>
                                          <p:attrName>style.visibility</p:attrName>
                                        </p:attrNameLst>
                                      </p:cBhvr>
                                      <p:to>
                                        <p:strVal val="visible"/>
                                      </p:to>
                                    </p:set>
                                    <p:anim calcmode="lin" valueType="num">
                                      <p:cBhvr additive="base">
                                        <p:cTn id="7" dur="500" fill="hold"/>
                                        <p:tgtEl>
                                          <p:spTgt spid="187527"/>
                                        </p:tgtEl>
                                        <p:attrNameLst>
                                          <p:attrName>ppt_x</p:attrName>
                                        </p:attrNameLst>
                                      </p:cBhvr>
                                      <p:tavLst>
                                        <p:tav tm="0">
                                          <p:val>
                                            <p:strVal val="1+#ppt_w/2"/>
                                          </p:val>
                                        </p:tav>
                                        <p:tav tm="100000">
                                          <p:val>
                                            <p:strVal val="#ppt_x"/>
                                          </p:val>
                                        </p:tav>
                                      </p:tavLst>
                                    </p:anim>
                                    <p:anim calcmode="lin" valueType="num">
                                      <p:cBhvr additive="base">
                                        <p:cTn id="8" dur="500" fill="hold"/>
                                        <p:tgtEl>
                                          <p:spTgt spid="1875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linds(horizontal)">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linds(horizontal)">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linds(horizontal)">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blinds(horizontal)">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87524"/>
                                        </p:tgtEl>
                                        <p:attrNameLst>
                                          <p:attrName>style.visibility</p:attrName>
                                        </p:attrNameLst>
                                      </p:cBhvr>
                                      <p:to>
                                        <p:strVal val="visible"/>
                                      </p:to>
                                    </p:set>
                                    <p:animEffect transition="in" filter="blinds(horizontal)">
                                      <p:cBhvr>
                                        <p:cTn id="38" dur="500"/>
                                        <p:tgtEl>
                                          <p:spTgt spid="187524"/>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87525"/>
                                        </p:tgtEl>
                                        <p:attrNameLst>
                                          <p:attrName>style.visibility</p:attrName>
                                        </p:attrNameLst>
                                      </p:cBhvr>
                                      <p:to>
                                        <p:strVal val="visible"/>
                                      </p:to>
                                    </p:set>
                                    <p:animEffect transition="in" filter="blinds(horizontal)">
                                      <p:cBhvr>
                                        <p:cTn id="43" dur="500"/>
                                        <p:tgtEl>
                                          <p:spTgt spid="187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527" grpId="0" animBg="1"/>
      <p:bldP spid="187524" grpId="0"/>
      <p:bldP spid="187525"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p:cNvSpPr>
          <p:nvPr>
            <p:ph type="title"/>
          </p:nvPr>
        </p:nvSpPr>
        <p:spPr>
          <a:xfrm>
            <a:off x="539750" y="293688"/>
            <a:ext cx="6769100" cy="542925"/>
          </a:xfrm>
        </p:spPr>
        <p:txBody>
          <a:bodyPr vert="horz" wrap="square" lIns="91440" tIns="45720" rIns="91440" bIns="45720" anchor="ctr" anchorCtr="0"/>
          <a:p>
            <a:r>
              <a:rPr lang="zh-CN" altLang="en-US" dirty="0"/>
              <a:t>如何计算</a:t>
            </a:r>
            <a:r>
              <a:rPr lang="en-US" altLang="zh-CN" dirty="0"/>
              <a:t>Cache</a:t>
            </a:r>
            <a:r>
              <a:rPr lang="zh-CN" altLang="en-US" dirty="0"/>
              <a:t>的容量？</a:t>
            </a:r>
            <a:endParaRPr lang="zh-CN" altLang="en-US" dirty="0"/>
          </a:p>
        </p:txBody>
      </p:sp>
      <p:sp>
        <p:nvSpPr>
          <p:cNvPr id="151555" name="Text Box 3"/>
          <p:cNvSpPr txBox="1"/>
          <p:nvPr/>
        </p:nvSpPr>
        <p:spPr>
          <a:xfrm>
            <a:off x="482600" y="863600"/>
            <a:ext cx="8004175"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Consider a cache with </a:t>
            </a:r>
            <a:r>
              <a:rPr lang="en-US" altLang="zh-CN" sz="2000" b="1" dirty="0">
                <a:solidFill>
                  <a:srgbClr val="CC0000"/>
                </a:solidFill>
              </a:rPr>
              <a:t>64 Blocks</a:t>
            </a:r>
            <a:r>
              <a:rPr lang="en-US" altLang="zh-CN" sz="2000" b="1" dirty="0"/>
              <a:t> and </a:t>
            </a:r>
            <a:r>
              <a:rPr lang="en-US" altLang="zh-CN" sz="2000" b="1" dirty="0">
                <a:solidFill>
                  <a:srgbClr val="CC0000"/>
                </a:solidFill>
              </a:rPr>
              <a:t>a block size of 16 bytes</a:t>
            </a:r>
            <a:r>
              <a:rPr lang="en-US" altLang="zh-CN" sz="2000" b="1" dirty="0"/>
              <a:t>. </a:t>
            </a:r>
            <a:endParaRPr lang="en-US" altLang="zh-CN" sz="2000" b="1" dirty="0"/>
          </a:p>
          <a:p>
            <a:pPr marL="0" lvl="0" indent="0">
              <a:spcBef>
                <a:spcPct val="0"/>
              </a:spcBef>
              <a:buClrTx/>
              <a:buSzTx/>
              <a:buFontTx/>
              <a:buNone/>
            </a:pPr>
            <a:r>
              <a:rPr lang="en-US" altLang="zh-CN" sz="2000" b="1" dirty="0">
                <a:solidFill>
                  <a:srgbClr val="FF0000"/>
                </a:solidFill>
              </a:rPr>
              <a:t>What block number does byte address 1200 map to?</a:t>
            </a:r>
            <a:endParaRPr lang="en-US" altLang="zh-CN" sz="2000" b="1" dirty="0">
              <a:solidFill>
                <a:srgbClr val="FF0000"/>
              </a:solidFill>
            </a:endParaRPr>
          </a:p>
        </p:txBody>
      </p:sp>
      <p:sp>
        <p:nvSpPr>
          <p:cNvPr id="151556" name="Text Box 4"/>
          <p:cNvSpPr txBox="1"/>
          <p:nvPr/>
        </p:nvSpPr>
        <p:spPr>
          <a:xfrm>
            <a:off x="566738" y="1565275"/>
            <a:ext cx="8054975"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zh-CN" altLang="en-US" sz="2000" b="1" dirty="0">
                <a:solidFill>
                  <a:srgbClr val="0000FF"/>
                </a:solidFill>
                <a:ea typeface="黑体" panose="02010609060101010101" pitchFamily="49" charset="-122"/>
              </a:rPr>
              <a:t>地址</a:t>
            </a:r>
            <a:r>
              <a:rPr lang="en-US" altLang="zh-CN" sz="2000" b="1" dirty="0">
                <a:solidFill>
                  <a:srgbClr val="0000FF"/>
                </a:solidFill>
                <a:ea typeface="黑体" panose="02010609060101010101" pitchFamily="49" charset="-122"/>
              </a:rPr>
              <a:t>1200</a:t>
            </a:r>
            <a:r>
              <a:rPr lang="zh-CN" altLang="en-US" sz="2000" b="1" dirty="0">
                <a:solidFill>
                  <a:srgbClr val="0000FF"/>
                </a:solidFill>
                <a:ea typeface="黑体" panose="02010609060101010101" pitchFamily="49" charset="-122"/>
              </a:rPr>
              <a:t>对应存放在第</a:t>
            </a:r>
            <a:r>
              <a:rPr lang="en-US" altLang="zh-CN" sz="2000" b="1" dirty="0">
                <a:solidFill>
                  <a:srgbClr val="0000FF"/>
                </a:solidFill>
                <a:ea typeface="黑体" panose="02010609060101010101" pitchFamily="49" charset="-122"/>
              </a:rPr>
              <a:t>11</a:t>
            </a:r>
            <a:r>
              <a:rPr lang="zh-CN" altLang="en-US" sz="2000" b="1" dirty="0">
                <a:solidFill>
                  <a:srgbClr val="0000FF"/>
                </a:solidFill>
                <a:ea typeface="黑体" panose="02010609060101010101" pitchFamily="49" charset="-122"/>
              </a:rPr>
              <a:t>行。因为：</a:t>
            </a:r>
            <a:r>
              <a:rPr lang="en-US" altLang="zh-CN" sz="2000" b="1" dirty="0">
                <a:solidFill>
                  <a:srgbClr val="0000FF"/>
                </a:solidFill>
                <a:ea typeface="黑体" panose="02010609060101010101" pitchFamily="49" charset="-122"/>
              </a:rPr>
              <a:t> [1200/16=75] module 64 = 11</a:t>
            </a:r>
            <a:endParaRPr lang="en-US" altLang="zh-CN" sz="2000" b="1" dirty="0">
              <a:solidFill>
                <a:srgbClr val="0000FF"/>
              </a:solidFill>
              <a:ea typeface="黑体" panose="02010609060101010101" pitchFamily="49" charset="-122"/>
            </a:endParaRPr>
          </a:p>
        </p:txBody>
      </p:sp>
      <p:sp>
        <p:nvSpPr>
          <p:cNvPr id="151557" name="Text Box 5"/>
          <p:cNvSpPr txBox="1"/>
          <p:nvPr/>
        </p:nvSpPr>
        <p:spPr>
          <a:xfrm>
            <a:off x="385763" y="1989138"/>
            <a:ext cx="8281987" cy="14954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lnSpc>
                <a:spcPct val="115000"/>
              </a:lnSpc>
              <a:spcBef>
                <a:spcPct val="0"/>
              </a:spcBef>
              <a:buClrTx/>
              <a:buSzTx/>
              <a:buFontTx/>
              <a:buNone/>
            </a:pPr>
            <a:r>
              <a:rPr lang="en-US" altLang="zh-CN" sz="2000" b="1" dirty="0">
                <a:solidFill>
                  <a:srgbClr val="FF0000"/>
                </a:solidFill>
                <a:ea typeface="黑体" panose="02010609060101010101" pitchFamily="49" charset="-122"/>
              </a:rPr>
              <a:t>How many total bits are required for a directed mapped cache with 16K Entries of data and 1-word blocks, assuming a 32-bit address?</a:t>
            </a:r>
            <a:endParaRPr lang="en-US" altLang="zh-CN" sz="2000" b="1" dirty="0">
              <a:solidFill>
                <a:srgbClr val="FF0000"/>
              </a:solidFill>
              <a:ea typeface="黑体" panose="02010609060101010101" pitchFamily="49" charset="-122"/>
            </a:endParaRPr>
          </a:p>
          <a:p>
            <a:pPr marL="0" lvl="0" indent="0">
              <a:lnSpc>
                <a:spcPct val="115000"/>
              </a:lnSpc>
              <a:spcBef>
                <a:spcPct val="0"/>
              </a:spcBef>
              <a:buClrTx/>
              <a:buSzTx/>
              <a:buFontTx/>
              <a:buNone/>
            </a:pPr>
            <a:r>
              <a:rPr lang="en-US" altLang="zh-CN" sz="2000" b="1" dirty="0">
                <a:solidFill>
                  <a:srgbClr val="CC3300"/>
                </a:solidFill>
                <a:ea typeface="黑体" panose="02010609060101010101" pitchFamily="49" charset="-122"/>
              </a:rPr>
              <a:t>(Cache :</a:t>
            </a:r>
            <a:r>
              <a:rPr lang="zh-CN" altLang="en-US" sz="2000" b="1" dirty="0">
                <a:solidFill>
                  <a:srgbClr val="CC3300"/>
                </a:solidFill>
                <a:ea typeface="黑体" panose="02010609060101010101" pitchFamily="49" charset="-122"/>
              </a:rPr>
              <a:t>直接映射方式</a:t>
            </a:r>
            <a:r>
              <a:rPr lang="en-US" altLang="zh-CN" sz="2000" b="1" dirty="0">
                <a:solidFill>
                  <a:srgbClr val="CC3300"/>
                </a:solidFill>
                <a:ea typeface="黑体" panose="02010609060101010101" pitchFamily="49" charset="-122"/>
              </a:rPr>
              <a:t> </a:t>
            </a:r>
            <a:r>
              <a:rPr lang="zh-CN" altLang="en-US" sz="2000" b="1" dirty="0">
                <a:solidFill>
                  <a:srgbClr val="CC3300"/>
                </a:solidFill>
                <a:ea typeface="黑体" panose="02010609060101010101" pitchFamily="49" charset="-122"/>
              </a:rPr>
              <a:t>、</a:t>
            </a:r>
            <a:r>
              <a:rPr lang="en-US" altLang="zh-CN" sz="2000" b="1" dirty="0">
                <a:solidFill>
                  <a:srgbClr val="CC3300"/>
                </a:solidFill>
                <a:ea typeface="黑体" panose="02010609060101010101" pitchFamily="49" charset="-122"/>
              </a:rPr>
              <a:t>16K</a:t>
            </a:r>
            <a:r>
              <a:rPr lang="zh-CN" altLang="en-US" sz="2000" b="1" dirty="0">
                <a:solidFill>
                  <a:srgbClr val="CC3300"/>
                </a:solidFill>
                <a:ea typeface="黑体" panose="02010609060101010101" pitchFamily="49" charset="-122"/>
              </a:rPr>
              <a:t>项数据、块大小为</a:t>
            </a:r>
            <a:r>
              <a:rPr lang="en-US" altLang="zh-CN" sz="2000" b="1" dirty="0">
                <a:solidFill>
                  <a:srgbClr val="CC3300"/>
                </a:solidFill>
                <a:ea typeface="黑体" panose="02010609060101010101" pitchFamily="49" charset="-122"/>
              </a:rPr>
              <a:t>1</a:t>
            </a:r>
            <a:r>
              <a:rPr lang="zh-CN" altLang="en-US" sz="2000" b="1" dirty="0">
                <a:solidFill>
                  <a:srgbClr val="CC3300"/>
                </a:solidFill>
                <a:ea typeface="黑体" panose="02010609060101010101" pitchFamily="49" charset="-122"/>
              </a:rPr>
              <a:t>个</a:t>
            </a:r>
            <a:r>
              <a:rPr lang="en-US" altLang="zh-CN" sz="2000" b="1" dirty="0">
                <a:solidFill>
                  <a:srgbClr val="CC3300"/>
                </a:solidFill>
                <a:ea typeface="黑体" panose="02010609060101010101" pitchFamily="49" charset="-122"/>
              </a:rPr>
              <a:t>32</a:t>
            </a:r>
            <a:r>
              <a:rPr lang="zh-CN" altLang="en-US" sz="2000" b="1" dirty="0">
                <a:solidFill>
                  <a:srgbClr val="CC3300"/>
                </a:solidFill>
                <a:ea typeface="黑体" panose="02010609060101010101" pitchFamily="49" charset="-122"/>
              </a:rPr>
              <a:t>位字、</a:t>
            </a:r>
            <a:r>
              <a:rPr lang="en-US" altLang="zh-CN" sz="2000" b="1" dirty="0">
                <a:solidFill>
                  <a:srgbClr val="CC3300"/>
                </a:solidFill>
                <a:ea typeface="黑体" panose="02010609060101010101" pitchFamily="49" charset="-122"/>
              </a:rPr>
              <a:t>32</a:t>
            </a:r>
            <a:r>
              <a:rPr lang="zh-CN" altLang="en-US" sz="2000" b="1" dirty="0">
                <a:solidFill>
                  <a:srgbClr val="CC3300"/>
                </a:solidFill>
                <a:ea typeface="黑体" panose="02010609060101010101" pitchFamily="49" charset="-122"/>
              </a:rPr>
              <a:t>位地址</a:t>
            </a:r>
            <a:r>
              <a:rPr lang="en-US" altLang="zh-CN" sz="2000" b="1" dirty="0">
                <a:solidFill>
                  <a:srgbClr val="CC3300"/>
                </a:solidFill>
                <a:ea typeface="黑体" panose="02010609060101010101" pitchFamily="49" charset="-122"/>
              </a:rPr>
              <a:t>)</a:t>
            </a:r>
            <a:endParaRPr lang="en-US" altLang="zh-CN" sz="2000" b="1" dirty="0">
              <a:solidFill>
                <a:srgbClr val="CC3300"/>
              </a:solidFill>
              <a:ea typeface="黑体" panose="02010609060101010101" pitchFamily="49" charset="-122"/>
            </a:endParaRPr>
          </a:p>
          <a:p>
            <a:pPr marL="0" lvl="0" indent="0">
              <a:lnSpc>
                <a:spcPct val="115000"/>
              </a:lnSpc>
              <a:spcBef>
                <a:spcPct val="0"/>
              </a:spcBef>
              <a:buClrTx/>
              <a:buSzTx/>
              <a:buFontTx/>
              <a:buNone/>
            </a:pPr>
            <a:r>
              <a:rPr lang="en-US" altLang="zh-CN" sz="2000" b="1" dirty="0">
                <a:solidFill>
                  <a:srgbClr val="CC3300"/>
                </a:solidFill>
                <a:ea typeface="黑体" panose="02010609060101010101" pitchFamily="49" charset="-122"/>
              </a:rPr>
              <a:t>      </a:t>
            </a:r>
            <a:r>
              <a:rPr lang="en-US" altLang="zh-CN" sz="2000" b="1" dirty="0">
                <a:solidFill>
                  <a:srgbClr val="0000FF"/>
                </a:solidFill>
                <a:ea typeface="黑体" panose="02010609060101010101" pitchFamily="49" charset="-122"/>
              </a:rPr>
              <a:t> </a:t>
            </a:r>
            <a:r>
              <a:rPr lang="zh-CN" altLang="en-US" sz="2000" b="1" dirty="0">
                <a:solidFill>
                  <a:srgbClr val="0000FF"/>
                </a:solidFill>
                <a:ea typeface="黑体" panose="02010609060101010101" pitchFamily="49" charset="-122"/>
              </a:rPr>
              <a:t>答：</a:t>
            </a:r>
            <a:r>
              <a:rPr lang="en-US" altLang="zh-CN" sz="2000" b="1" dirty="0">
                <a:solidFill>
                  <a:srgbClr val="0000FF"/>
                </a:solidFill>
                <a:ea typeface="黑体" panose="02010609060101010101" pitchFamily="49" charset="-122"/>
              </a:rPr>
              <a:t>Cache</a:t>
            </a:r>
            <a:r>
              <a:rPr lang="zh-CN" altLang="en-US" sz="2000" b="1" dirty="0">
                <a:solidFill>
                  <a:srgbClr val="0000FF"/>
                </a:solidFill>
                <a:ea typeface="黑体" panose="02010609060101010101" pitchFamily="49" charset="-122"/>
              </a:rPr>
              <a:t>的存储布局如下：</a:t>
            </a:r>
            <a:endParaRPr lang="zh-CN" altLang="en-US" sz="2000" b="1" dirty="0">
              <a:solidFill>
                <a:srgbClr val="0000FF"/>
              </a:solidFill>
              <a:ea typeface="黑体" panose="02010609060101010101" pitchFamily="49" charset="-122"/>
            </a:endParaRPr>
          </a:p>
        </p:txBody>
      </p:sp>
      <p:sp>
        <p:nvSpPr>
          <p:cNvPr id="151558" name="Text Box 6"/>
          <p:cNvSpPr txBox="1"/>
          <p:nvPr/>
        </p:nvSpPr>
        <p:spPr>
          <a:xfrm>
            <a:off x="822325" y="3584575"/>
            <a:ext cx="18415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endParaRPr lang="zh-CN" altLang="en-US" sz="2000" b="1" dirty="0">
              <a:latin typeface="Times New Roman" panose="02020603050405020304" pitchFamily="18" charset="0"/>
            </a:endParaRPr>
          </a:p>
        </p:txBody>
      </p:sp>
      <p:sp>
        <p:nvSpPr>
          <p:cNvPr id="151559" name="Text Box 7"/>
          <p:cNvSpPr txBox="1"/>
          <p:nvPr/>
        </p:nvSpPr>
        <p:spPr>
          <a:xfrm>
            <a:off x="341313" y="5319713"/>
            <a:ext cx="82804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zh-CN" altLang="en-US" sz="2000" b="1" dirty="0">
                <a:solidFill>
                  <a:srgbClr val="CC3300"/>
                </a:solidFill>
                <a:ea typeface="黑体" panose="02010609060101010101" pitchFamily="49" charset="-122"/>
              </a:rPr>
              <a:t>所以，</a:t>
            </a:r>
            <a:r>
              <a:rPr lang="en-US" altLang="zh-CN" sz="2000" b="1" dirty="0">
                <a:solidFill>
                  <a:srgbClr val="CC3300"/>
                </a:solidFill>
                <a:ea typeface="黑体" panose="02010609060101010101" pitchFamily="49" charset="-122"/>
              </a:rPr>
              <a:t>Cache</a:t>
            </a:r>
            <a:r>
              <a:rPr lang="zh-CN" altLang="en-US" sz="2000" b="1" dirty="0">
                <a:solidFill>
                  <a:srgbClr val="CC3300"/>
                </a:solidFill>
                <a:ea typeface="黑体" panose="02010609060101010101" pitchFamily="49" charset="-122"/>
              </a:rPr>
              <a:t>的大小为：</a:t>
            </a:r>
            <a:r>
              <a:rPr lang="en-US" altLang="zh-CN" sz="2000" b="1" dirty="0">
                <a:solidFill>
                  <a:srgbClr val="CC3300"/>
                </a:solidFill>
                <a:ea typeface="黑体" panose="02010609060101010101" pitchFamily="49" charset="-122"/>
              </a:rPr>
              <a:t>2</a:t>
            </a:r>
            <a:r>
              <a:rPr lang="en-US" altLang="zh-CN" sz="2000" b="1" baseline="42000" dirty="0">
                <a:solidFill>
                  <a:srgbClr val="CC3300"/>
                </a:solidFill>
                <a:ea typeface="黑体" panose="02010609060101010101" pitchFamily="49" charset="-122"/>
              </a:rPr>
              <a:t>14</a:t>
            </a:r>
            <a:r>
              <a:rPr lang="en-US" altLang="zh-CN" sz="2000" b="1" dirty="0">
                <a:solidFill>
                  <a:srgbClr val="CC3300"/>
                </a:solidFill>
                <a:ea typeface="黑体" panose="02010609060101010101" pitchFamily="49" charset="-122"/>
              </a:rPr>
              <a:t> ×(32 + (32-14-2)+1) = 2</a:t>
            </a:r>
            <a:r>
              <a:rPr lang="en-US" altLang="zh-CN" sz="2000" b="1" baseline="42000" dirty="0">
                <a:solidFill>
                  <a:srgbClr val="CC3300"/>
                </a:solidFill>
                <a:ea typeface="黑体" panose="02010609060101010101" pitchFamily="49" charset="-122"/>
              </a:rPr>
              <a:t>14</a:t>
            </a:r>
            <a:r>
              <a:rPr lang="en-US" altLang="zh-CN" sz="2000" b="1" dirty="0">
                <a:solidFill>
                  <a:srgbClr val="CC3300"/>
                </a:solidFill>
                <a:ea typeface="黑体" panose="02010609060101010101" pitchFamily="49" charset="-122"/>
              </a:rPr>
              <a:t>×49 = 784 Kbits</a:t>
            </a:r>
            <a:endParaRPr lang="en-US" altLang="zh-CN" sz="2000" b="1" dirty="0">
              <a:solidFill>
                <a:srgbClr val="CC3300"/>
              </a:solidFill>
              <a:ea typeface="黑体" panose="02010609060101010101" pitchFamily="49" charset="-122"/>
            </a:endParaRPr>
          </a:p>
        </p:txBody>
      </p:sp>
      <p:grpSp>
        <p:nvGrpSpPr>
          <p:cNvPr id="151560" name="Group 8"/>
          <p:cNvGrpSpPr/>
          <p:nvPr/>
        </p:nvGrpSpPr>
        <p:grpSpPr>
          <a:xfrm>
            <a:off x="1422400" y="3743325"/>
            <a:ext cx="6384925" cy="1546225"/>
            <a:chOff x="598" y="2312"/>
            <a:chExt cx="4022" cy="1420"/>
          </a:xfrm>
        </p:grpSpPr>
        <p:sp>
          <p:nvSpPr>
            <p:cNvPr id="151566" name="Rectangle 9"/>
            <p:cNvSpPr/>
            <p:nvPr/>
          </p:nvSpPr>
          <p:spPr>
            <a:xfrm>
              <a:off x="888" y="2328"/>
              <a:ext cx="1208" cy="888"/>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51567" name="Rectangle 10"/>
            <p:cNvSpPr/>
            <p:nvPr/>
          </p:nvSpPr>
          <p:spPr>
            <a:xfrm>
              <a:off x="2232" y="2328"/>
              <a:ext cx="1872" cy="888"/>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51568" name="Rectangle 11"/>
            <p:cNvSpPr/>
            <p:nvPr/>
          </p:nvSpPr>
          <p:spPr>
            <a:xfrm>
              <a:off x="624" y="2328"/>
              <a:ext cx="184" cy="888"/>
            </a:xfrm>
            <a:prstGeom prst="rect">
              <a:avLst/>
            </a:prstGeom>
            <a:noFill/>
            <a:ln w="127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51569" name="Text Box 12"/>
            <p:cNvSpPr txBox="1"/>
            <p:nvPr/>
          </p:nvSpPr>
          <p:spPr>
            <a:xfrm>
              <a:off x="1126" y="3368"/>
              <a:ext cx="863" cy="36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32 –14 –2</a:t>
              </a:r>
              <a:r>
                <a:rPr lang="en-US" altLang="zh-CN" sz="1800" b="1" dirty="0">
                  <a:latin typeface="Times New Roman" panose="02020603050405020304" pitchFamily="18" charset="0"/>
                </a:rPr>
                <a:t> </a:t>
              </a:r>
              <a:endParaRPr lang="en-US" altLang="zh-CN" sz="1800" b="1" dirty="0">
                <a:latin typeface="Times New Roman" panose="02020603050405020304" pitchFamily="18" charset="0"/>
              </a:endParaRPr>
            </a:p>
          </p:txBody>
        </p:sp>
        <p:sp>
          <p:nvSpPr>
            <p:cNvPr id="151570" name="Text Box 13"/>
            <p:cNvSpPr txBox="1"/>
            <p:nvPr/>
          </p:nvSpPr>
          <p:spPr>
            <a:xfrm>
              <a:off x="3102" y="3351"/>
              <a:ext cx="294" cy="36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32</a:t>
              </a:r>
              <a:endParaRPr lang="en-US" altLang="zh-CN" sz="2000" b="1" dirty="0"/>
            </a:p>
          </p:txBody>
        </p:sp>
        <p:sp>
          <p:nvSpPr>
            <p:cNvPr id="151571" name="AutoShape 14"/>
            <p:cNvSpPr/>
            <p:nvPr/>
          </p:nvSpPr>
          <p:spPr>
            <a:xfrm rot="5400000">
              <a:off x="1428" y="2756"/>
              <a:ext cx="128" cy="1176"/>
            </a:xfrm>
            <a:prstGeom prst="rightBrace">
              <a:avLst>
                <a:gd name="adj1" fmla="val 74435"/>
                <a:gd name="adj2" fmla="val 47935"/>
              </a:avLst>
            </a:prstGeom>
            <a:no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51572" name="AutoShape 15"/>
            <p:cNvSpPr/>
            <p:nvPr/>
          </p:nvSpPr>
          <p:spPr>
            <a:xfrm rot="5400000">
              <a:off x="3108" y="2421"/>
              <a:ext cx="136" cy="1808"/>
            </a:xfrm>
            <a:prstGeom prst="rightBrace">
              <a:avLst>
                <a:gd name="adj1" fmla="val 107706"/>
                <a:gd name="adj2" fmla="val 47935"/>
              </a:avLst>
            </a:prstGeom>
            <a:no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51573" name="AutoShape 16"/>
            <p:cNvSpPr/>
            <p:nvPr/>
          </p:nvSpPr>
          <p:spPr>
            <a:xfrm rot="10800000">
              <a:off x="4184" y="2312"/>
              <a:ext cx="56" cy="897"/>
            </a:xfrm>
            <a:prstGeom prst="leftBrace">
              <a:avLst>
                <a:gd name="adj1" fmla="val 133333"/>
                <a:gd name="adj2" fmla="val 50000"/>
              </a:avLst>
            </a:prstGeom>
            <a:noFill/>
            <a:ln w="127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51574" name="Text Box 17"/>
            <p:cNvSpPr txBox="1"/>
            <p:nvPr/>
          </p:nvSpPr>
          <p:spPr>
            <a:xfrm>
              <a:off x="4262" y="2663"/>
              <a:ext cx="188" cy="364"/>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2</a:t>
              </a:r>
              <a:endParaRPr lang="en-US" altLang="zh-CN" sz="2000" b="1" dirty="0"/>
            </a:p>
          </p:txBody>
        </p:sp>
        <p:sp>
          <p:nvSpPr>
            <p:cNvPr id="151575" name="Text Box 18"/>
            <p:cNvSpPr txBox="1"/>
            <p:nvPr/>
          </p:nvSpPr>
          <p:spPr>
            <a:xfrm>
              <a:off x="4326" y="2535"/>
              <a:ext cx="294" cy="36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14</a:t>
              </a:r>
              <a:endParaRPr lang="en-US" altLang="zh-CN" sz="2000" b="1" dirty="0"/>
            </a:p>
          </p:txBody>
        </p:sp>
        <p:sp>
          <p:nvSpPr>
            <p:cNvPr id="151576" name="Text Box 19"/>
            <p:cNvSpPr txBox="1"/>
            <p:nvPr/>
          </p:nvSpPr>
          <p:spPr>
            <a:xfrm>
              <a:off x="598" y="3207"/>
              <a:ext cx="205" cy="36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t>1</a:t>
              </a:r>
              <a:endParaRPr lang="en-US" altLang="zh-CN" sz="2000" b="1" dirty="0"/>
            </a:p>
          </p:txBody>
        </p:sp>
      </p:grpSp>
      <p:sp>
        <p:nvSpPr>
          <p:cNvPr id="151561" name="Text Box 20"/>
          <p:cNvSpPr txBox="1"/>
          <p:nvPr/>
        </p:nvSpPr>
        <p:spPr>
          <a:xfrm>
            <a:off x="250825" y="5805488"/>
            <a:ext cx="2559050" cy="3048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FF"/>
                </a:solidFill>
                <a:latin typeface="黑体" panose="02010609060101010101" pitchFamily="49" charset="-122"/>
                <a:ea typeface="黑体" panose="02010609060101010101" pitchFamily="49" charset="-122"/>
              </a:rPr>
              <a:t>若块大小为</a:t>
            </a:r>
            <a:r>
              <a:rPr lang="en-US" altLang="zh-CN" sz="2000" b="1" dirty="0">
                <a:solidFill>
                  <a:srgbClr val="0000FF"/>
                </a:solidFill>
                <a:latin typeface="黑体" panose="02010609060101010101" pitchFamily="49" charset="-122"/>
                <a:cs typeface="Arial" panose="020B0604020202020204" pitchFamily="34" charset="0"/>
              </a:rPr>
              <a:t>4</a:t>
            </a:r>
            <a:r>
              <a:rPr lang="zh-CN" altLang="en-US" sz="2000" b="1" dirty="0">
                <a:solidFill>
                  <a:srgbClr val="0000FF"/>
                </a:solidFill>
                <a:latin typeface="黑体" panose="02010609060101010101" pitchFamily="49" charset="-122"/>
                <a:ea typeface="黑体" panose="02010609060101010101" pitchFamily="49" charset="-122"/>
              </a:rPr>
              <a:t>个字呢？</a:t>
            </a:r>
            <a:endParaRPr lang="zh-CN" altLang="en-US" sz="2000" b="1" dirty="0">
              <a:solidFill>
                <a:srgbClr val="0000FF"/>
              </a:solidFill>
              <a:latin typeface="黑体" panose="02010609060101010101" pitchFamily="49" charset="-122"/>
              <a:ea typeface="黑体" panose="02010609060101010101" pitchFamily="49" charset="-122"/>
            </a:endParaRPr>
          </a:p>
        </p:txBody>
      </p:sp>
      <p:sp>
        <p:nvSpPr>
          <p:cNvPr id="151562" name="Text Box 21"/>
          <p:cNvSpPr txBox="1"/>
          <p:nvPr/>
        </p:nvSpPr>
        <p:spPr>
          <a:xfrm>
            <a:off x="2727325" y="5768975"/>
            <a:ext cx="6375400"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0000FF"/>
                </a:solidFill>
                <a:cs typeface="Arial" panose="020B0604020202020204" pitchFamily="34" charset="0"/>
              </a:rPr>
              <a:t>2</a:t>
            </a:r>
            <a:r>
              <a:rPr lang="en-US" altLang="zh-CN" sz="2000" b="1" baseline="42000" dirty="0">
                <a:solidFill>
                  <a:srgbClr val="0000FF"/>
                </a:solidFill>
                <a:cs typeface="Arial" panose="020B0604020202020204" pitchFamily="34" charset="0"/>
              </a:rPr>
              <a:t>14</a:t>
            </a:r>
            <a:r>
              <a:rPr lang="en-US" altLang="zh-CN" sz="2000" b="1" dirty="0">
                <a:solidFill>
                  <a:srgbClr val="0000FF"/>
                </a:solidFill>
                <a:cs typeface="Arial" panose="020B0604020202020204" pitchFamily="34" charset="0"/>
              </a:rPr>
              <a:t> ×(</a:t>
            </a:r>
            <a:r>
              <a:rPr lang="en-US" altLang="zh-CN" sz="2000" b="1" dirty="0">
                <a:solidFill>
                  <a:srgbClr val="CC0000"/>
                </a:solidFill>
                <a:cs typeface="Arial" panose="020B0604020202020204" pitchFamily="34" charset="0"/>
              </a:rPr>
              <a:t>4×</a:t>
            </a:r>
            <a:r>
              <a:rPr lang="en-US" altLang="zh-CN" sz="2000" b="1" dirty="0">
                <a:solidFill>
                  <a:srgbClr val="0000FF"/>
                </a:solidFill>
                <a:cs typeface="Arial" panose="020B0604020202020204" pitchFamily="34" charset="0"/>
              </a:rPr>
              <a:t>32 + (32-14-2</a:t>
            </a:r>
            <a:r>
              <a:rPr lang="en-US" altLang="zh-CN" sz="2000" b="1" dirty="0">
                <a:solidFill>
                  <a:srgbClr val="CC0000"/>
                </a:solidFill>
                <a:cs typeface="Arial" panose="020B0604020202020204" pitchFamily="34" charset="0"/>
              </a:rPr>
              <a:t>-2</a:t>
            </a:r>
            <a:r>
              <a:rPr lang="en-US" altLang="zh-CN" sz="2000" b="1" dirty="0">
                <a:solidFill>
                  <a:srgbClr val="0000FF"/>
                </a:solidFill>
                <a:cs typeface="Arial" panose="020B0604020202020204" pitchFamily="34" charset="0"/>
              </a:rPr>
              <a:t>)+1) = 2</a:t>
            </a:r>
            <a:r>
              <a:rPr lang="en-US" altLang="zh-CN" sz="2000" b="1" baseline="42000" dirty="0">
                <a:solidFill>
                  <a:srgbClr val="0000FF"/>
                </a:solidFill>
                <a:cs typeface="Arial" panose="020B0604020202020204" pitchFamily="34" charset="0"/>
              </a:rPr>
              <a:t>14</a:t>
            </a:r>
            <a:r>
              <a:rPr lang="en-US" altLang="zh-CN" sz="2000" b="1" dirty="0">
                <a:solidFill>
                  <a:srgbClr val="0000FF"/>
                </a:solidFill>
                <a:cs typeface="Arial" panose="020B0604020202020204" pitchFamily="34" charset="0"/>
              </a:rPr>
              <a:t>×143 = 2288 Kbits</a:t>
            </a:r>
            <a:endParaRPr lang="en-US" altLang="zh-CN" sz="2000" b="1" dirty="0">
              <a:solidFill>
                <a:srgbClr val="0000FF"/>
              </a:solidFill>
              <a:ea typeface="Arial" panose="020B0604020202020204" pitchFamily="34" charset="0"/>
            </a:endParaRPr>
          </a:p>
        </p:txBody>
      </p:sp>
      <p:sp>
        <p:nvSpPr>
          <p:cNvPr id="151563" name="Text Box 22"/>
          <p:cNvSpPr txBox="1"/>
          <p:nvPr/>
        </p:nvSpPr>
        <p:spPr>
          <a:xfrm>
            <a:off x="4527550" y="3384550"/>
            <a:ext cx="3968750" cy="3048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en-US" altLang="zh-CN" sz="2000" b="1" dirty="0">
                <a:solidFill>
                  <a:srgbClr val="FF0000"/>
                </a:solidFill>
                <a:ea typeface="黑体" panose="02010609060101010101" pitchFamily="49" charset="-122"/>
              </a:rPr>
              <a:t>Cache</a:t>
            </a:r>
            <a:r>
              <a:rPr lang="zh-CN" altLang="en-US" sz="2000" b="1" dirty="0">
                <a:solidFill>
                  <a:srgbClr val="FF0000"/>
                </a:solidFill>
                <a:ea typeface="黑体" panose="02010609060101010101" pitchFamily="49" charset="-122"/>
              </a:rPr>
              <a:t>共有</a:t>
            </a:r>
            <a:r>
              <a:rPr lang="en-US" altLang="zh-CN" sz="2000" b="1" dirty="0">
                <a:solidFill>
                  <a:srgbClr val="FF0000"/>
                </a:solidFill>
                <a:ea typeface="黑体" panose="02010609060101010101" pitchFamily="49" charset="-122"/>
              </a:rPr>
              <a:t>16K x 4B= 64KB</a:t>
            </a:r>
            <a:r>
              <a:rPr lang="zh-CN" altLang="en-US" sz="2000" b="1" dirty="0">
                <a:solidFill>
                  <a:srgbClr val="FF0000"/>
                </a:solidFill>
                <a:ea typeface="黑体" panose="02010609060101010101" pitchFamily="49" charset="-122"/>
              </a:rPr>
              <a:t>数据</a:t>
            </a:r>
            <a:endParaRPr lang="zh-CN" altLang="en-US" sz="2000" b="1" dirty="0">
              <a:solidFill>
                <a:srgbClr val="FF0000"/>
              </a:solidFill>
              <a:ea typeface="黑体" panose="02010609060101010101" pitchFamily="49" charset="-122"/>
            </a:endParaRPr>
          </a:p>
        </p:txBody>
      </p:sp>
      <p:sp>
        <p:nvSpPr>
          <p:cNvPr id="151564" name="Text Box 23"/>
          <p:cNvSpPr txBox="1"/>
          <p:nvPr/>
        </p:nvSpPr>
        <p:spPr>
          <a:xfrm>
            <a:off x="250825" y="6264275"/>
            <a:ext cx="2835275" cy="3048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FF"/>
                </a:solidFill>
                <a:ea typeface="黑体" panose="02010609060101010101" pitchFamily="49" charset="-122"/>
              </a:rPr>
              <a:t>若块大小为</a:t>
            </a:r>
            <a:r>
              <a:rPr lang="en-US" altLang="zh-CN" sz="2000" b="1" dirty="0">
                <a:solidFill>
                  <a:srgbClr val="0000FF"/>
                </a:solidFill>
                <a:cs typeface="Arial" panose="020B0604020202020204" pitchFamily="34" charset="0"/>
              </a:rPr>
              <a:t>2</a:t>
            </a:r>
            <a:r>
              <a:rPr lang="en-US" altLang="zh-CN" sz="2000" b="1" baseline="30000" dirty="0">
                <a:solidFill>
                  <a:srgbClr val="0000FF"/>
                </a:solidFill>
                <a:cs typeface="Arial" panose="020B0604020202020204" pitchFamily="34" charset="0"/>
              </a:rPr>
              <a:t>m</a:t>
            </a:r>
            <a:r>
              <a:rPr lang="zh-CN" altLang="en-US" sz="2000" b="1" dirty="0">
                <a:solidFill>
                  <a:srgbClr val="0000FF"/>
                </a:solidFill>
                <a:ea typeface="黑体" panose="02010609060101010101" pitchFamily="49" charset="-122"/>
              </a:rPr>
              <a:t>个字呢？</a:t>
            </a:r>
            <a:endParaRPr lang="zh-CN" altLang="en-US" sz="2000" b="1" dirty="0">
              <a:solidFill>
                <a:srgbClr val="0000FF"/>
              </a:solidFill>
              <a:ea typeface="黑体" panose="02010609060101010101" pitchFamily="49" charset="-122"/>
            </a:endParaRPr>
          </a:p>
        </p:txBody>
      </p:sp>
      <p:sp>
        <p:nvSpPr>
          <p:cNvPr id="151565" name="Text Box 24"/>
          <p:cNvSpPr txBox="1"/>
          <p:nvPr/>
        </p:nvSpPr>
        <p:spPr>
          <a:xfrm>
            <a:off x="2727325" y="6196013"/>
            <a:ext cx="3889375" cy="396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a:spcBef>
                <a:spcPct val="0"/>
              </a:spcBef>
              <a:buClrTx/>
              <a:buSzTx/>
              <a:buFontTx/>
              <a:buNone/>
            </a:pPr>
            <a:r>
              <a:rPr lang="en-US" altLang="zh-CN" sz="2000" b="1" dirty="0">
                <a:solidFill>
                  <a:srgbClr val="0000FF"/>
                </a:solidFill>
                <a:cs typeface="Arial" panose="020B0604020202020204" pitchFamily="34" charset="0"/>
              </a:rPr>
              <a:t>2</a:t>
            </a:r>
            <a:r>
              <a:rPr lang="en-US" altLang="zh-CN" sz="2000" b="1" baseline="42000" dirty="0">
                <a:solidFill>
                  <a:srgbClr val="0000FF"/>
                </a:solidFill>
                <a:cs typeface="Arial" panose="020B0604020202020204" pitchFamily="34" charset="0"/>
              </a:rPr>
              <a:t>14</a:t>
            </a:r>
            <a:r>
              <a:rPr lang="en-US" altLang="zh-CN" sz="2000" b="1" dirty="0">
                <a:solidFill>
                  <a:srgbClr val="0000FF"/>
                </a:solidFill>
                <a:cs typeface="Arial" panose="020B0604020202020204" pitchFamily="34" charset="0"/>
              </a:rPr>
              <a:t> ×(</a:t>
            </a:r>
            <a:r>
              <a:rPr lang="en-US" altLang="zh-CN" sz="2000" b="1" dirty="0">
                <a:solidFill>
                  <a:srgbClr val="CC0000"/>
                </a:solidFill>
                <a:cs typeface="Arial" panose="020B0604020202020204" pitchFamily="34" charset="0"/>
              </a:rPr>
              <a:t>2</a:t>
            </a:r>
            <a:r>
              <a:rPr lang="en-US" altLang="zh-CN" sz="2000" b="1" baseline="30000" dirty="0">
                <a:solidFill>
                  <a:srgbClr val="CC0000"/>
                </a:solidFill>
                <a:cs typeface="Arial" panose="020B0604020202020204" pitchFamily="34" charset="0"/>
              </a:rPr>
              <a:t>m</a:t>
            </a:r>
            <a:r>
              <a:rPr lang="en-US" altLang="zh-CN" sz="2000" b="1" dirty="0">
                <a:solidFill>
                  <a:srgbClr val="CC0000"/>
                </a:solidFill>
                <a:cs typeface="Arial" panose="020B0604020202020204" pitchFamily="34" charset="0"/>
              </a:rPr>
              <a:t>×</a:t>
            </a:r>
            <a:r>
              <a:rPr lang="en-US" altLang="zh-CN" sz="2000" b="1" dirty="0">
                <a:solidFill>
                  <a:srgbClr val="0000FF"/>
                </a:solidFill>
                <a:cs typeface="Arial" panose="020B0604020202020204" pitchFamily="34" charset="0"/>
              </a:rPr>
              <a:t>32 + (32-14-2</a:t>
            </a:r>
            <a:r>
              <a:rPr lang="en-US" altLang="zh-CN" sz="2000" b="1" dirty="0">
                <a:solidFill>
                  <a:srgbClr val="CC0000"/>
                </a:solidFill>
                <a:cs typeface="Arial" panose="020B0604020202020204" pitchFamily="34" charset="0"/>
              </a:rPr>
              <a:t>- m</a:t>
            </a:r>
            <a:r>
              <a:rPr lang="en-US" altLang="zh-CN" sz="2000" b="1" dirty="0">
                <a:solidFill>
                  <a:srgbClr val="0000FF"/>
                </a:solidFill>
                <a:cs typeface="Arial" panose="020B0604020202020204" pitchFamily="34" charset="0"/>
              </a:rPr>
              <a:t>)+1)</a:t>
            </a:r>
            <a:r>
              <a:rPr lang="en-US" altLang="zh-CN" sz="1800" b="1" dirty="0">
                <a:solidFill>
                  <a:srgbClr val="0000FF"/>
                </a:solidFill>
                <a:cs typeface="Arial" panose="020B0604020202020204" pitchFamily="34" charset="0"/>
              </a:rPr>
              <a:t> </a:t>
            </a:r>
            <a:endParaRPr lang="en-US" altLang="zh-CN" sz="1800" b="1" dirty="0">
              <a:solidFill>
                <a:srgbClr val="0000FF"/>
              </a:solidFill>
              <a:ea typeface="Arial" panose="020B0604020202020204" pitchFamily="34" charset="0"/>
            </a:endParaRPr>
          </a:p>
        </p:txBody>
      </p:sp>
    </p:spTree>
  </p:cSld>
  <p:clrMapOvr>
    <a:masterClrMapping/>
  </p:clrMapOvr>
  <p:transition spd="me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Rectangle 2"/>
          <p:cNvSpPr>
            <a:spLocks noGrp="1"/>
          </p:cNvSpPr>
          <p:nvPr>
            <p:ph type="title"/>
          </p:nvPr>
        </p:nvSpPr>
        <p:spPr>
          <a:xfrm>
            <a:off x="577850" y="461963"/>
            <a:ext cx="8458200" cy="519112"/>
          </a:xfrm>
        </p:spPr>
        <p:txBody>
          <a:bodyPr vert="horz" wrap="square" lIns="91440" tIns="45720" rIns="91440" bIns="45720" anchor="ctr" anchorCtr="0"/>
          <a:p>
            <a:r>
              <a:rPr lang="zh-CN" altLang="en-US" dirty="0"/>
              <a:t>组相联映射（</a:t>
            </a:r>
            <a:r>
              <a:rPr lang="en-US" altLang="zh-CN" dirty="0"/>
              <a:t>Set Associative</a:t>
            </a:r>
            <a:r>
              <a:rPr lang="zh-CN" altLang="en-US" dirty="0"/>
              <a:t>）</a:t>
            </a:r>
            <a:endParaRPr lang="zh-CN" altLang="en-US" dirty="0"/>
          </a:p>
        </p:txBody>
      </p:sp>
      <p:sp>
        <p:nvSpPr>
          <p:cNvPr id="152579" name="Rectangle 3"/>
          <p:cNvSpPr>
            <a:spLocks noGrp="1"/>
          </p:cNvSpPr>
          <p:nvPr>
            <p:ph idx="1"/>
          </p:nvPr>
        </p:nvSpPr>
        <p:spPr>
          <a:xfrm>
            <a:off x="854075" y="1196975"/>
            <a:ext cx="7337425" cy="3021013"/>
          </a:xfrm>
        </p:spPr>
        <p:txBody>
          <a:bodyPr vert="horz" wrap="square" lIns="91440" tIns="45720" rIns="91440" bIns="45720" anchor="t" anchorCtr="0"/>
          <a:p>
            <a:pPr>
              <a:lnSpc>
                <a:spcPct val="110000"/>
              </a:lnSpc>
            </a:pPr>
            <a:r>
              <a:rPr lang="zh-CN" altLang="en-US" sz="2000" dirty="0">
                <a:ea typeface="黑体" panose="02010609060101010101" pitchFamily="49" charset="-122"/>
                <a:hlinkClick r:id="" action="ppaction://hlinkshowjump?jump=nextslide"/>
              </a:rPr>
              <a:t>组相联映射</a:t>
            </a:r>
            <a:r>
              <a:rPr lang="zh-CN" altLang="en-US" sz="2000" dirty="0">
                <a:ea typeface="黑体" panose="02010609060101010101" pitchFamily="49" charset="-122"/>
              </a:rPr>
              <a:t>结合直接映射和全相联映射的特点</a:t>
            </a:r>
            <a:endParaRPr lang="en-US" altLang="zh-CN" sz="2000" dirty="0">
              <a:ea typeface="黑体" panose="02010609060101010101" pitchFamily="49" charset="-122"/>
            </a:endParaRPr>
          </a:p>
          <a:p>
            <a:pPr>
              <a:lnSpc>
                <a:spcPct val="110000"/>
              </a:lnSpc>
            </a:pPr>
            <a:r>
              <a:rPr lang="zh-CN" altLang="en-US" sz="2000" dirty="0">
                <a:ea typeface="黑体" panose="02010609060101010101" pitchFamily="49" charset="-122"/>
              </a:rPr>
              <a:t>将</a:t>
            </a:r>
            <a:r>
              <a:rPr lang="en-US" altLang="zh-CN" sz="2000" dirty="0">
                <a:ea typeface="黑体" panose="02010609060101010101" pitchFamily="49" charset="-122"/>
              </a:rPr>
              <a:t>Cache</a:t>
            </a:r>
            <a:r>
              <a:rPr lang="zh-CN" altLang="en-US" sz="2000" dirty="0">
                <a:ea typeface="黑体" panose="02010609060101010101" pitchFamily="49" charset="-122"/>
              </a:rPr>
              <a:t>所有行分组，把主存块映射到</a:t>
            </a:r>
            <a:r>
              <a:rPr lang="en-US" altLang="zh-CN" sz="2000" dirty="0">
                <a:ea typeface="黑体" panose="02010609060101010101" pitchFamily="49" charset="-122"/>
              </a:rPr>
              <a:t>Cache</a:t>
            </a:r>
            <a:r>
              <a:rPr lang="zh-CN" altLang="en-US" sz="2000" dirty="0">
                <a:ea typeface="黑体" panose="02010609060101010101" pitchFamily="49" charset="-122"/>
              </a:rPr>
              <a:t>固定组的任一行中。也即：组间模映射、组内全映射。映射关系为：</a:t>
            </a:r>
            <a:endParaRPr lang="en-US" altLang="zh-CN" sz="2000" dirty="0">
              <a:ea typeface="黑体" panose="02010609060101010101" pitchFamily="49" charset="-122"/>
            </a:endParaRPr>
          </a:p>
          <a:p>
            <a:pPr>
              <a:lnSpc>
                <a:spcPct val="110000"/>
              </a:lnSpc>
              <a:buNone/>
            </a:pPr>
            <a:r>
              <a:rPr lang="en-US" altLang="zh-CN" sz="2000" dirty="0">
                <a:ea typeface="黑体" panose="02010609060101010101" pitchFamily="49" charset="-122"/>
              </a:rPr>
              <a:t>     </a:t>
            </a:r>
            <a:r>
              <a:rPr lang="en-US" altLang="zh-CN" sz="2000" dirty="0">
                <a:solidFill>
                  <a:srgbClr val="FF0000"/>
                </a:solidFill>
                <a:ea typeface="黑体" panose="02010609060101010101" pitchFamily="49" charset="-122"/>
              </a:rPr>
              <a:t>Cache</a:t>
            </a:r>
            <a:r>
              <a:rPr lang="zh-CN" altLang="en-US" sz="2000" dirty="0">
                <a:solidFill>
                  <a:srgbClr val="FF0000"/>
                </a:solidFill>
                <a:ea typeface="黑体" panose="02010609060101010101" pitchFamily="49" charset="-122"/>
              </a:rPr>
              <a:t>组号</a:t>
            </a:r>
            <a:r>
              <a:rPr lang="en-US" altLang="zh-CN" sz="2000" dirty="0">
                <a:solidFill>
                  <a:srgbClr val="FF0000"/>
                </a:solidFill>
                <a:ea typeface="黑体" panose="02010609060101010101" pitchFamily="49" charset="-122"/>
              </a:rPr>
              <a:t>=</a:t>
            </a:r>
            <a:r>
              <a:rPr lang="zh-CN" altLang="en-US" sz="2000" dirty="0">
                <a:solidFill>
                  <a:srgbClr val="FF0000"/>
                </a:solidFill>
                <a:ea typeface="黑体" panose="02010609060101010101" pitchFamily="49" charset="-122"/>
              </a:rPr>
              <a:t>主存块号</a:t>
            </a:r>
            <a:r>
              <a:rPr lang="en-US" altLang="zh-CN" sz="2000" dirty="0">
                <a:solidFill>
                  <a:srgbClr val="FF0000"/>
                </a:solidFill>
                <a:ea typeface="黑体" panose="02010609060101010101" pitchFamily="49" charset="-122"/>
              </a:rPr>
              <a:t> mod Cache</a:t>
            </a:r>
            <a:r>
              <a:rPr lang="zh-CN" altLang="en-US" sz="2000" dirty="0">
                <a:solidFill>
                  <a:srgbClr val="FF0000"/>
                </a:solidFill>
                <a:ea typeface="黑体" panose="02010609060101010101" pitchFamily="49" charset="-122"/>
              </a:rPr>
              <a:t>组数</a:t>
            </a:r>
            <a:endParaRPr lang="en-US" altLang="zh-CN" sz="2000" dirty="0">
              <a:solidFill>
                <a:srgbClr val="FF0000"/>
              </a:solidFill>
              <a:ea typeface="黑体" panose="02010609060101010101" pitchFamily="49" charset="-122"/>
            </a:endParaRPr>
          </a:p>
          <a:p>
            <a:pPr>
              <a:lnSpc>
                <a:spcPct val="110000"/>
              </a:lnSpc>
              <a:buNone/>
            </a:pPr>
            <a:r>
              <a:rPr lang="en-US" altLang="zh-CN" sz="2000" dirty="0">
                <a:solidFill>
                  <a:srgbClr val="FF0000"/>
                </a:solidFill>
                <a:ea typeface="黑体" panose="02010609060101010101" pitchFamily="49" charset="-122"/>
              </a:rPr>
              <a:t>     </a:t>
            </a:r>
            <a:r>
              <a:rPr lang="zh-CN" altLang="en-US" sz="2000" dirty="0">
                <a:solidFill>
                  <a:srgbClr val="FF0000"/>
                </a:solidFill>
                <a:ea typeface="黑体" panose="02010609060101010101" pitchFamily="49" charset="-122"/>
              </a:rPr>
              <a:t>举例：假定</a:t>
            </a:r>
            <a:r>
              <a:rPr lang="en-US" altLang="zh-CN" sz="2000" dirty="0">
                <a:solidFill>
                  <a:srgbClr val="FF0000"/>
                </a:solidFill>
                <a:ea typeface="黑体" panose="02010609060101010101" pitchFamily="49" charset="-122"/>
              </a:rPr>
              <a:t>Cache</a:t>
            </a:r>
            <a:r>
              <a:rPr lang="zh-CN" altLang="en-US" sz="2000" dirty="0">
                <a:solidFill>
                  <a:srgbClr val="FF0000"/>
                </a:solidFill>
                <a:ea typeface="黑体" panose="02010609060101010101" pitchFamily="49" charset="-122"/>
              </a:rPr>
              <a:t>划分为：</a:t>
            </a:r>
            <a:r>
              <a:rPr lang="en-US" altLang="zh-CN" sz="2000" dirty="0">
                <a:solidFill>
                  <a:srgbClr val="FF0000"/>
                </a:solidFill>
                <a:ea typeface="黑体" panose="02010609060101010101" pitchFamily="49" charset="-122"/>
              </a:rPr>
              <a:t>8K</a:t>
            </a:r>
            <a:r>
              <a:rPr lang="zh-CN" altLang="en-US" sz="2000" dirty="0">
                <a:solidFill>
                  <a:srgbClr val="FF0000"/>
                </a:solidFill>
                <a:ea typeface="黑体" panose="02010609060101010101" pitchFamily="49" charset="-122"/>
              </a:rPr>
              <a:t>字</a:t>
            </a:r>
            <a:r>
              <a:rPr lang="en-US" altLang="zh-CN" sz="2000" dirty="0">
                <a:solidFill>
                  <a:srgbClr val="FF0000"/>
                </a:solidFill>
                <a:ea typeface="黑体" panose="02010609060101010101" pitchFamily="49" charset="-122"/>
              </a:rPr>
              <a:t>=8</a:t>
            </a:r>
            <a:r>
              <a:rPr lang="zh-CN" altLang="en-US" sz="2000" dirty="0">
                <a:solidFill>
                  <a:srgbClr val="FF0000"/>
                </a:solidFill>
                <a:ea typeface="黑体" panose="02010609060101010101" pitchFamily="49" charset="-122"/>
              </a:rPr>
              <a:t>组</a:t>
            </a:r>
            <a:r>
              <a:rPr lang="en-US" altLang="zh-CN" sz="2000" dirty="0">
                <a:solidFill>
                  <a:srgbClr val="FF0000"/>
                </a:solidFill>
                <a:ea typeface="黑体" panose="02010609060101010101" pitchFamily="49" charset="-122"/>
              </a:rPr>
              <a:t>x2</a:t>
            </a:r>
            <a:r>
              <a:rPr lang="zh-CN" altLang="en-US" sz="2000" dirty="0">
                <a:solidFill>
                  <a:srgbClr val="FF0000"/>
                </a:solidFill>
                <a:ea typeface="黑体" panose="02010609060101010101" pitchFamily="49" charset="-122"/>
              </a:rPr>
              <a:t>行</a:t>
            </a:r>
            <a:r>
              <a:rPr lang="en-US" altLang="zh-CN" sz="2000" dirty="0">
                <a:solidFill>
                  <a:srgbClr val="FF0000"/>
                </a:solidFill>
                <a:ea typeface="黑体" panose="02010609060101010101" pitchFamily="49" charset="-122"/>
              </a:rPr>
              <a:t>/</a:t>
            </a:r>
            <a:r>
              <a:rPr lang="zh-CN" altLang="en-US" sz="2000" dirty="0">
                <a:solidFill>
                  <a:srgbClr val="FF0000"/>
                </a:solidFill>
                <a:ea typeface="黑体" panose="02010609060101010101" pitchFamily="49" charset="-122"/>
              </a:rPr>
              <a:t>组</a:t>
            </a:r>
            <a:r>
              <a:rPr lang="en-US" altLang="zh-CN" sz="2000" dirty="0">
                <a:solidFill>
                  <a:srgbClr val="FF0000"/>
                </a:solidFill>
                <a:ea typeface="黑体" panose="02010609060101010101" pitchFamily="49" charset="-122"/>
              </a:rPr>
              <a:t>x512</a:t>
            </a:r>
            <a:r>
              <a:rPr lang="zh-CN" altLang="en-US" sz="2000" dirty="0">
                <a:solidFill>
                  <a:srgbClr val="FF0000"/>
                </a:solidFill>
                <a:ea typeface="黑体" panose="02010609060101010101" pitchFamily="49" charset="-122"/>
              </a:rPr>
              <a:t>字</a:t>
            </a:r>
            <a:r>
              <a:rPr lang="en-US" altLang="zh-CN" sz="2000" dirty="0">
                <a:solidFill>
                  <a:srgbClr val="FF0000"/>
                </a:solidFill>
                <a:ea typeface="黑体" panose="02010609060101010101" pitchFamily="49" charset="-122"/>
              </a:rPr>
              <a:t>/</a:t>
            </a:r>
            <a:r>
              <a:rPr lang="zh-CN" altLang="en-US" sz="2000" dirty="0">
                <a:solidFill>
                  <a:srgbClr val="FF0000"/>
                </a:solidFill>
                <a:ea typeface="黑体" panose="02010609060101010101" pitchFamily="49" charset="-122"/>
              </a:rPr>
              <a:t>行</a:t>
            </a:r>
            <a:endParaRPr lang="en-US" altLang="zh-CN" sz="2000" dirty="0">
              <a:solidFill>
                <a:srgbClr val="FF0000"/>
              </a:solidFill>
              <a:ea typeface="黑体" panose="02010609060101010101" pitchFamily="49" charset="-122"/>
            </a:endParaRPr>
          </a:p>
          <a:p>
            <a:pPr>
              <a:lnSpc>
                <a:spcPct val="110000"/>
              </a:lnSpc>
              <a:buNone/>
            </a:pPr>
            <a:r>
              <a:rPr lang="en-US" altLang="zh-CN" sz="2000" dirty="0">
                <a:solidFill>
                  <a:srgbClr val="FF0000"/>
                </a:solidFill>
                <a:ea typeface="黑体" panose="02010609060101010101" pitchFamily="49" charset="-122"/>
              </a:rPr>
              <a:t>                 4=100 mod 8</a:t>
            </a:r>
            <a:endParaRPr lang="en-US" altLang="zh-CN" sz="2000" dirty="0">
              <a:solidFill>
                <a:srgbClr val="FF0000"/>
              </a:solidFill>
              <a:ea typeface="黑体" panose="02010609060101010101" pitchFamily="49" charset="-122"/>
            </a:endParaRPr>
          </a:p>
          <a:p>
            <a:pPr>
              <a:lnSpc>
                <a:spcPct val="110000"/>
              </a:lnSpc>
              <a:buNone/>
            </a:pPr>
            <a:r>
              <a:rPr lang="en-US" altLang="zh-CN" sz="2000" dirty="0">
                <a:solidFill>
                  <a:srgbClr val="FF0000"/>
                </a:solidFill>
                <a:ea typeface="黑体" panose="02010609060101010101" pitchFamily="49" charset="-122"/>
              </a:rPr>
              <a:t>     (</a:t>
            </a:r>
            <a:r>
              <a:rPr lang="zh-CN" altLang="en-US" sz="2000" dirty="0">
                <a:solidFill>
                  <a:srgbClr val="FF0000"/>
                </a:solidFill>
                <a:ea typeface="黑体" panose="02010609060101010101" pitchFamily="49" charset="-122"/>
              </a:rPr>
              <a:t>主存第</a:t>
            </a:r>
            <a:r>
              <a:rPr lang="en-US" altLang="zh-CN" sz="2000" dirty="0">
                <a:solidFill>
                  <a:srgbClr val="FF0000"/>
                </a:solidFill>
                <a:ea typeface="黑体" panose="02010609060101010101" pitchFamily="49" charset="-122"/>
              </a:rPr>
              <a:t>100</a:t>
            </a:r>
            <a:r>
              <a:rPr lang="zh-CN" altLang="en-US" sz="2000" dirty="0">
                <a:solidFill>
                  <a:srgbClr val="FF0000"/>
                </a:solidFill>
                <a:ea typeface="黑体" panose="02010609060101010101" pitchFamily="49" charset="-122"/>
              </a:rPr>
              <a:t>块应映射到</a:t>
            </a:r>
            <a:r>
              <a:rPr lang="en-US" altLang="zh-CN" sz="2000" dirty="0">
                <a:solidFill>
                  <a:srgbClr val="FF0000"/>
                </a:solidFill>
                <a:ea typeface="黑体" panose="02010609060101010101" pitchFamily="49" charset="-122"/>
              </a:rPr>
              <a:t>Cache</a:t>
            </a:r>
            <a:r>
              <a:rPr lang="zh-CN" altLang="en-US" sz="2000" dirty="0">
                <a:solidFill>
                  <a:srgbClr val="FF0000"/>
                </a:solidFill>
                <a:ea typeface="黑体" panose="02010609060101010101" pitchFamily="49" charset="-122"/>
              </a:rPr>
              <a:t>的第</a:t>
            </a:r>
            <a:r>
              <a:rPr lang="en-US" altLang="zh-CN" sz="2000" dirty="0">
                <a:solidFill>
                  <a:srgbClr val="FF0000"/>
                </a:solidFill>
                <a:ea typeface="黑体" panose="02010609060101010101" pitchFamily="49" charset="-122"/>
              </a:rPr>
              <a:t>4</a:t>
            </a:r>
            <a:r>
              <a:rPr lang="zh-CN" altLang="en-US" sz="2000" dirty="0">
                <a:solidFill>
                  <a:srgbClr val="FF0000"/>
                </a:solidFill>
                <a:ea typeface="黑体" panose="02010609060101010101" pitchFamily="49" charset="-122"/>
              </a:rPr>
              <a:t>组的任意行中。</a:t>
            </a:r>
            <a:r>
              <a:rPr lang="en-US" altLang="zh-CN" sz="2000" dirty="0">
                <a:solidFill>
                  <a:srgbClr val="FF0000"/>
                </a:solidFill>
                <a:ea typeface="黑体" panose="02010609060101010101" pitchFamily="49" charset="-122"/>
              </a:rPr>
              <a:t>)</a:t>
            </a:r>
            <a:endParaRPr lang="en-US" altLang="zh-CN" sz="2000" dirty="0">
              <a:solidFill>
                <a:srgbClr val="FF0000"/>
              </a:solidFill>
              <a:ea typeface="黑体" panose="02010609060101010101" pitchFamily="49" charset="-122"/>
            </a:endParaRPr>
          </a:p>
          <a:p>
            <a:pPr>
              <a:lnSpc>
                <a:spcPct val="110000"/>
              </a:lnSpc>
              <a:buNone/>
            </a:pPr>
            <a:r>
              <a:rPr lang="en-US" altLang="zh-CN" sz="2000" dirty="0">
                <a:latin typeface="宋体" panose="02010600030101010101" pitchFamily="2" charset="-122"/>
              </a:rPr>
              <a:t>   </a:t>
            </a:r>
            <a:endParaRPr lang="en-US" altLang="zh-CN" sz="2000" dirty="0"/>
          </a:p>
        </p:txBody>
      </p:sp>
      <p:sp>
        <p:nvSpPr>
          <p:cNvPr id="152580" name="Rectangle 4"/>
          <p:cNvSpPr/>
          <p:nvPr/>
        </p:nvSpPr>
        <p:spPr>
          <a:xfrm>
            <a:off x="296863" y="4014788"/>
            <a:ext cx="8415337" cy="2316162"/>
          </a:xfrm>
          <a:prstGeom prst="rect">
            <a:avLst/>
          </a:prstGeom>
          <a:noFill/>
          <a:ln w="9525">
            <a:noFill/>
          </a:ln>
        </p:spPr>
        <p:txBody>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342900" lvl="0" indent="-342900" eaLnBrk="1" hangingPunct="1">
              <a:lnSpc>
                <a:spcPct val="90000"/>
              </a:lnSpc>
              <a:spcBef>
                <a:spcPct val="70000"/>
              </a:spcBef>
              <a:buClr>
                <a:schemeClr val="tx2"/>
              </a:buClr>
              <a:buSzPct val="70000"/>
              <a:buFont typeface="Wingdings" panose="05000000000000000000" pitchFamily="2" charset="2"/>
              <a:buChar char="l"/>
            </a:pPr>
            <a:r>
              <a:rPr lang="zh-CN" altLang="en-US" sz="2800" dirty="0">
                <a:ea typeface="黑体" panose="02010609060101010101" pitchFamily="49" charset="-122"/>
              </a:rPr>
              <a:t>特点：</a:t>
            </a:r>
            <a:endParaRPr lang="en-US" altLang="zh-CN" sz="2800" dirty="0">
              <a:ea typeface="黑体" panose="02010609060101010101" pitchFamily="49" charset="-122"/>
            </a:endParaRPr>
          </a:p>
          <a:p>
            <a:pPr marL="692150" lvl="1" indent="-347345" eaLnBrk="1" hangingPunct="1">
              <a:lnSpc>
                <a:spcPct val="115000"/>
              </a:lnSpc>
              <a:spcBef>
                <a:spcPct val="30000"/>
              </a:spcBef>
              <a:buSzPct val="70000"/>
              <a:buFont typeface="Wingdings" panose="05000000000000000000" pitchFamily="2" charset="2"/>
              <a:buChar char="l"/>
            </a:pPr>
            <a:r>
              <a:rPr lang="zh-CN" altLang="en-US" sz="2200" dirty="0">
                <a:ea typeface="黑体" panose="02010609060101010101" pitchFamily="49" charset="-122"/>
              </a:rPr>
              <a:t>结合直接映射和全相联映射的优点。当</a:t>
            </a:r>
            <a:r>
              <a:rPr lang="en-US" altLang="zh-CN" sz="2200" dirty="0">
                <a:ea typeface="黑体" panose="02010609060101010101" pitchFamily="49" charset="-122"/>
              </a:rPr>
              <a:t>Cache</a:t>
            </a:r>
            <a:r>
              <a:rPr lang="zh-CN" altLang="en-US" sz="2200" dirty="0">
                <a:ea typeface="黑体" panose="02010609060101010101" pitchFamily="49" charset="-122"/>
              </a:rPr>
              <a:t>组数为</a:t>
            </a:r>
            <a:r>
              <a:rPr lang="en-US" altLang="zh-CN" sz="2200" dirty="0">
                <a:ea typeface="黑体" panose="02010609060101010101" pitchFamily="49" charset="-122"/>
              </a:rPr>
              <a:t>1</a:t>
            </a:r>
            <a:r>
              <a:rPr lang="zh-CN" altLang="en-US" sz="2200" dirty="0">
                <a:ea typeface="黑体" panose="02010609060101010101" pitchFamily="49" charset="-122"/>
              </a:rPr>
              <a:t>时，变为相联映射；当每组只有一个槽时，变为直接映射。</a:t>
            </a:r>
            <a:endParaRPr lang="en-US" altLang="zh-CN" sz="2200" dirty="0">
              <a:ea typeface="黑体" panose="02010609060101010101" pitchFamily="49" charset="-122"/>
            </a:endParaRPr>
          </a:p>
          <a:p>
            <a:pPr marL="692150" lvl="1" indent="-347345" eaLnBrk="1" hangingPunct="1">
              <a:lnSpc>
                <a:spcPct val="115000"/>
              </a:lnSpc>
              <a:spcBef>
                <a:spcPct val="30000"/>
              </a:spcBef>
              <a:buSzPct val="70000"/>
              <a:buFont typeface="Wingdings" panose="05000000000000000000" pitchFamily="2" charset="2"/>
              <a:buChar char="l"/>
            </a:pPr>
            <a:r>
              <a:rPr lang="zh-CN" altLang="en-US" sz="2200" dirty="0">
                <a:ea typeface="黑体" panose="02010609060101010101" pitchFamily="49" charset="-122"/>
              </a:rPr>
              <a:t>每组</a:t>
            </a:r>
            <a:r>
              <a:rPr lang="en-US" altLang="zh-CN" sz="2200" dirty="0">
                <a:ea typeface="黑体" panose="02010609060101010101" pitchFamily="49" charset="-122"/>
              </a:rPr>
              <a:t>2</a:t>
            </a:r>
            <a:r>
              <a:rPr lang="zh-CN" altLang="en-US" sz="2200" dirty="0">
                <a:ea typeface="黑体" panose="02010609060101010101" pitchFamily="49" charset="-122"/>
              </a:rPr>
              <a:t>或</a:t>
            </a:r>
            <a:r>
              <a:rPr lang="en-US" altLang="zh-CN" sz="2200" dirty="0">
                <a:ea typeface="黑体" panose="02010609060101010101" pitchFamily="49" charset="-122"/>
              </a:rPr>
              <a:t>4</a:t>
            </a:r>
            <a:r>
              <a:rPr lang="zh-CN" altLang="en-US" sz="2200" dirty="0">
                <a:ea typeface="黑体" panose="02010609060101010101" pitchFamily="49" charset="-122"/>
              </a:rPr>
              <a:t>行（称为</a:t>
            </a:r>
            <a:r>
              <a:rPr lang="en-US" altLang="zh-CN" sz="2200" dirty="0">
                <a:ea typeface="黑体" panose="02010609060101010101" pitchFamily="49" charset="-122"/>
              </a:rPr>
              <a:t>2-</a:t>
            </a:r>
            <a:r>
              <a:rPr lang="zh-CN" altLang="en-US" sz="2200" dirty="0">
                <a:ea typeface="黑体" panose="02010609060101010101" pitchFamily="49" charset="-122"/>
              </a:rPr>
              <a:t>路或</a:t>
            </a:r>
            <a:r>
              <a:rPr lang="en-US" altLang="zh-CN" sz="2200" dirty="0">
                <a:ea typeface="黑体" panose="02010609060101010101" pitchFamily="49" charset="-122"/>
              </a:rPr>
              <a:t>4-</a:t>
            </a:r>
            <a:r>
              <a:rPr lang="zh-CN" altLang="en-US" sz="2200" dirty="0">
                <a:ea typeface="黑体" panose="02010609060101010101" pitchFamily="49" charset="-122"/>
              </a:rPr>
              <a:t>路组相联）较常用。通常每组</a:t>
            </a:r>
            <a:r>
              <a:rPr lang="en-US" altLang="zh-CN" sz="2200" dirty="0">
                <a:ea typeface="黑体" panose="02010609060101010101" pitchFamily="49" charset="-122"/>
              </a:rPr>
              <a:t>4</a:t>
            </a:r>
            <a:r>
              <a:rPr lang="zh-CN" altLang="en-US" sz="2200" dirty="0">
                <a:ea typeface="黑体" panose="02010609060101010101" pitchFamily="49" charset="-122"/>
              </a:rPr>
              <a:t>行以上很少用。在较大容量的</a:t>
            </a:r>
            <a:r>
              <a:rPr lang="en-US" altLang="zh-CN" sz="2200" dirty="0">
                <a:ea typeface="黑体" panose="02010609060101010101" pitchFamily="49" charset="-122"/>
              </a:rPr>
              <a:t>L2 Cahce</a:t>
            </a:r>
            <a:r>
              <a:rPr lang="zh-CN" altLang="en-US" sz="2200" dirty="0">
                <a:ea typeface="黑体" panose="02010609060101010101" pitchFamily="49" charset="-122"/>
              </a:rPr>
              <a:t>和</a:t>
            </a:r>
            <a:r>
              <a:rPr lang="en-US" altLang="zh-CN" sz="2200" dirty="0">
                <a:ea typeface="黑体" panose="02010609060101010101" pitchFamily="49" charset="-122"/>
              </a:rPr>
              <a:t>L3 Cahce</a:t>
            </a:r>
            <a:r>
              <a:rPr lang="zh-CN" altLang="en-US" sz="2200" dirty="0">
                <a:ea typeface="黑体" panose="02010609060101010101" pitchFamily="49" charset="-122"/>
              </a:rPr>
              <a:t>中使用</a:t>
            </a:r>
            <a:r>
              <a:rPr lang="en-US" altLang="zh-CN" sz="2200" dirty="0">
                <a:ea typeface="黑体" panose="02010609060101010101" pitchFamily="49" charset="-122"/>
              </a:rPr>
              <a:t>4-</a:t>
            </a:r>
            <a:r>
              <a:rPr lang="zh-CN" altLang="en-US" sz="2200" dirty="0">
                <a:ea typeface="黑体" panose="02010609060101010101" pitchFamily="49" charset="-122"/>
              </a:rPr>
              <a:t>路以上。</a:t>
            </a:r>
            <a:endParaRPr lang="zh-CN" altLang="en-US" sz="2200" dirty="0">
              <a:ea typeface="黑体" panose="02010609060101010101" pitchFamily="49" charset="-122"/>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3602" name="Picture 2" descr="Cache组相联映象的组织示意图_修改"/>
          <p:cNvPicPr>
            <a:picLocks noChangeAspect="1"/>
          </p:cNvPicPr>
          <p:nvPr/>
        </p:nvPicPr>
        <p:blipFill>
          <a:blip r:embed="rId1"/>
          <a:stretch>
            <a:fillRect/>
          </a:stretch>
        </p:blipFill>
        <p:spPr>
          <a:xfrm>
            <a:off x="2862263" y="414338"/>
            <a:ext cx="6119812" cy="5800725"/>
          </a:xfrm>
          <a:prstGeom prst="rect">
            <a:avLst/>
          </a:prstGeom>
          <a:noFill/>
          <a:ln w="9525">
            <a:noFill/>
          </a:ln>
        </p:spPr>
      </p:pic>
      <p:sp>
        <p:nvSpPr>
          <p:cNvPr id="195587" name="Text Box 3"/>
          <p:cNvSpPr txBox="1"/>
          <p:nvPr/>
        </p:nvSpPr>
        <p:spPr>
          <a:xfrm>
            <a:off x="206375" y="3249613"/>
            <a:ext cx="2116138" cy="13716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FF"/>
                </a:solidFill>
                <a:ea typeface="黑体" panose="02010609060101010101" pitchFamily="49" charset="-122"/>
              </a:rPr>
              <a:t>指出对应行取自哪个主存组群</a:t>
            </a:r>
            <a:endParaRPr lang="en-US" altLang="zh-CN" sz="2000" b="1" dirty="0">
              <a:solidFill>
                <a:srgbClr val="0000FF"/>
              </a:solidFill>
              <a:cs typeface="Arial" panose="020B0604020202020204" pitchFamily="34" charset="0"/>
            </a:endParaRPr>
          </a:p>
          <a:p>
            <a:pPr marL="0" lvl="0" indent="0" eaLnBrk="1" hangingPunct="1">
              <a:spcBef>
                <a:spcPct val="50000"/>
              </a:spcBef>
              <a:buClrTx/>
              <a:buSzTx/>
              <a:buFontTx/>
              <a:buNone/>
            </a:pPr>
            <a:r>
              <a:rPr lang="zh-CN" altLang="en-US" sz="2000" b="1" dirty="0">
                <a:solidFill>
                  <a:srgbClr val="0000FF"/>
                </a:solidFill>
                <a:ea typeface="黑体" panose="02010609060101010101" pitchFamily="49" charset="-122"/>
              </a:rPr>
              <a:t>指出对应地址位于哪个主存组群中</a:t>
            </a:r>
            <a:endParaRPr lang="zh-CN" altLang="en-US" sz="2000" b="1" dirty="0">
              <a:solidFill>
                <a:srgbClr val="0000FF"/>
              </a:solidFill>
              <a:ea typeface="黑体" panose="02010609060101010101" pitchFamily="49" charset="-122"/>
            </a:endParaRPr>
          </a:p>
        </p:txBody>
      </p:sp>
      <p:sp>
        <p:nvSpPr>
          <p:cNvPr id="195588" name="Line 4"/>
          <p:cNvSpPr/>
          <p:nvPr/>
        </p:nvSpPr>
        <p:spPr>
          <a:xfrm flipV="1">
            <a:off x="2232025" y="2573338"/>
            <a:ext cx="1260475" cy="720725"/>
          </a:xfrm>
          <a:prstGeom prst="line">
            <a:avLst/>
          </a:prstGeom>
          <a:ln w="28575" cap="flat" cmpd="sng">
            <a:solidFill>
              <a:srgbClr val="CC0000"/>
            </a:solidFill>
            <a:prstDash val="solid"/>
            <a:headEnd type="none" w="med" len="med"/>
            <a:tailEnd type="triangle" w="med" len="med"/>
          </a:ln>
        </p:spPr>
      </p:sp>
      <p:sp>
        <p:nvSpPr>
          <p:cNvPr id="195589" name="Line 5"/>
          <p:cNvSpPr/>
          <p:nvPr/>
        </p:nvSpPr>
        <p:spPr>
          <a:xfrm>
            <a:off x="2154238" y="4344988"/>
            <a:ext cx="1112837" cy="749300"/>
          </a:xfrm>
          <a:prstGeom prst="line">
            <a:avLst/>
          </a:prstGeom>
          <a:ln w="28575" cap="flat" cmpd="sng">
            <a:solidFill>
              <a:srgbClr val="CC0000"/>
            </a:solidFill>
            <a:prstDash val="solid"/>
            <a:headEnd type="none" w="med" len="med"/>
            <a:tailEnd type="triangle" w="med" len="med"/>
          </a:ln>
        </p:spPr>
      </p:sp>
      <p:sp>
        <p:nvSpPr>
          <p:cNvPr id="195590" name="Text Box 6"/>
          <p:cNvSpPr txBox="1"/>
          <p:nvPr/>
        </p:nvSpPr>
        <p:spPr>
          <a:xfrm>
            <a:off x="3851275" y="6129338"/>
            <a:ext cx="3992563" cy="6096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FF0000"/>
                </a:solidFill>
                <a:ea typeface="黑体" panose="02010609060101010101" pitchFamily="49" charset="-122"/>
              </a:rPr>
              <a:t>将主存地址标记和对应</a:t>
            </a:r>
            <a:r>
              <a:rPr lang="en-US" altLang="zh-CN" sz="2000" b="1" dirty="0">
                <a:solidFill>
                  <a:srgbClr val="FF0000"/>
                </a:solidFill>
                <a:cs typeface="Arial" panose="020B0604020202020204" pitchFamily="34" charset="0"/>
              </a:rPr>
              <a:t>Cache</a:t>
            </a:r>
            <a:r>
              <a:rPr lang="zh-CN" altLang="en-US" sz="2000" b="1" dirty="0">
                <a:solidFill>
                  <a:srgbClr val="FF0000"/>
                </a:solidFill>
                <a:ea typeface="黑体" panose="02010609060101010101" pitchFamily="49" charset="-122"/>
              </a:rPr>
              <a:t>组中每个</a:t>
            </a:r>
            <a:r>
              <a:rPr lang="en-US" altLang="zh-CN" sz="2000" b="1" dirty="0">
                <a:solidFill>
                  <a:srgbClr val="FF0000"/>
                </a:solidFill>
                <a:ea typeface="黑体" panose="02010609060101010101" pitchFamily="49" charset="-122"/>
              </a:rPr>
              <a:t>Cache</a:t>
            </a:r>
            <a:r>
              <a:rPr lang="zh-CN" altLang="en-US" sz="2000" b="1" dirty="0">
                <a:solidFill>
                  <a:srgbClr val="FF0000"/>
                </a:solidFill>
                <a:ea typeface="黑体" panose="02010609060101010101" pitchFamily="49" charset="-122"/>
              </a:rPr>
              <a:t>标记进行比较！</a:t>
            </a:r>
            <a:endParaRPr lang="zh-CN" altLang="en-US" sz="2000" b="1" dirty="0">
              <a:solidFill>
                <a:srgbClr val="FF0000"/>
              </a:solidFill>
              <a:ea typeface="黑体" panose="02010609060101010101" pitchFamily="49" charset="-122"/>
            </a:endParaRPr>
          </a:p>
        </p:txBody>
      </p:sp>
      <p:sp>
        <p:nvSpPr>
          <p:cNvPr id="195591" name="Text Box 7"/>
          <p:cNvSpPr txBox="1"/>
          <p:nvPr/>
        </p:nvSpPr>
        <p:spPr>
          <a:xfrm>
            <a:off x="161925" y="4754563"/>
            <a:ext cx="2703513" cy="6096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CC0000"/>
                </a:solidFill>
                <a:ea typeface="黑体" panose="02010609060101010101" pitchFamily="49" charset="-122"/>
              </a:rPr>
              <a:t>例：如何对</a:t>
            </a:r>
            <a:r>
              <a:rPr lang="en-US" altLang="zh-CN" sz="2000" b="1" dirty="0">
                <a:solidFill>
                  <a:srgbClr val="CC0000"/>
                </a:solidFill>
                <a:cs typeface="Arial" panose="020B0604020202020204" pitchFamily="34" charset="0"/>
              </a:rPr>
              <a:t>0120CH</a:t>
            </a:r>
            <a:r>
              <a:rPr lang="zh-CN" altLang="en-US" sz="2000" b="1" dirty="0">
                <a:solidFill>
                  <a:srgbClr val="CC0000"/>
                </a:solidFill>
                <a:ea typeface="黑体" panose="02010609060101010101" pitchFamily="49" charset="-122"/>
              </a:rPr>
              <a:t>单元进行访问？</a:t>
            </a:r>
            <a:endParaRPr lang="zh-CN" altLang="en-US" sz="2000" b="1" dirty="0">
              <a:solidFill>
                <a:srgbClr val="CC0000"/>
              </a:solidFill>
              <a:ea typeface="黑体" panose="02010609060101010101" pitchFamily="49" charset="-122"/>
            </a:endParaRPr>
          </a:p>
        </p:txBody>
      </p:sp>
      <p:sp>
        <p:nvSpPr>
          <p:cNvPr id="195592" name="Text Box 8"/>
          <p:cNvSpPr txBox="1"/>
          <p:nvPr/>
        </p:nvSpPr>
        <p:spPr>
          <a:xfrm>
            <a:off x="250825" y="5364163"/>
            <a:ext cx="3133725" cy="121920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buClrTx/>
              <a:buSzTx/>
              <a:buFontTx/>
              <a:buNone/>
            </a:pPr>
            <a:r>
              <a:rPr lang="en-US" altLang="zh-CN" sz="2000" b="1" dirty="0">
                <a:solidFill>
                  <a:srgbClr val="FF0000"/>
                </a:solidFill>
                <a:ea typeface="黑体" panose="02010609060101010101" pitchFamily="49" charset="-122"/>
              </a:rPr>
              <a:t>0000 0001</a:t>
            </a:r>
            <a:r>
              <a:rPr lang="en-US" altLang="zh-CN" sz="2000" b="1" dirty="0">
                <a:solidFill>
                  <a:srgbClr val="CC0000"/>
                </a:solidFill>
                <a:ea typeface="黑体" panose="02010609060101010101" pitchFamily="49" charset="-122"/>
              </a:rPr>
              <a:t> 001</a:t>
            </a:r>
            <a:r>
              <a:rPr lang="en-US" altLang="zh-CN" sz="2000" b="1" dirty="0">
                <a:solidFill>
                  <a:srgbClr val="0000FF"/>
                </a:solidFill>
                <a:ea typeface="黑体" panose="02010609060101010101" pitchFamily="49" charset="-122"/>
              </a:rPr>
              <a:t>0 0000 1100B</a:t>
            </a:r>
            <a:r>
              <a:rPr lang="zh-CN" altLang="en-US" sz="2000" b="1" dirty="0">
                <a:solidFill>
                  <a:srgbClr val="0000FF"/>
                </a:solidFill>
                <a:ea typeface="黑体" panose="02010609060101010101" pitchFamily="49" charset="-122"/>
              </a:rPr>
              <a:t>是第</a:t>
            </a:r>
            <a:r>
              <a:rPr lang="en-US" altLang="zh-CN" sz="2000" b="1" dirty="0">
                <a:solidFill>
                  <a:srgbClr val="0000FF"/>
                </a:solidFill>
                <a:ea typeface="黑体" panose="02010609060101010101" pitchFamily="49" charset="-122"/>
              </a:rPr>
              <a:t>1</a:t>
            </a:r>
            <a:r>
              <a:rPr lang="zh-CN" altLang="en-US" sz="2000" b="1" dirty="0">
                <a:solidFill>
                  <a:srgbClr val="0000FF"/>
                </a:solidFill>
                <a:ea typeface="黑体" panose="02010609060101010101" pitchFamily="49" charset="-122"/>
              </a:rPr>
              <a:t>组群中的</a:t>
            </a:r>
            <a:r>
              <a:rPr lang="en-US" altLang="zh-CN" sz="2000" b="1" dirty="0">
                <a:solidFill>
                  <a:srgbClr val="0000FF"/>
                </a:solidFill>
                <a:ea typeface="黑体" panose="02010609060101010101" pitchFamily="49" charset="-122"/>
              </a:rPr>
              <a:t>001</a:t>
            </a:r>
            <a:r>
              <a:rPr lang="zh-CN" altLang="en-US" sz="2000" b="1" dirty="0">
                <a:solidFill>
                  <a:srgbClr val="0000FF"/>
                </a:solidFill>
                <a:ea typeface="黑体" panose="02010609060101010101" pitchFamily="49" charset="-122"/>
              </a:rPr>
              <a:t>块（即第</a:t>
            </a:r>
            <a:r>
              <a:rPr lang="en-US" altLang="zh-CN" sz="2000" b="1" dirty="0">
                <a:solidFill>
                  <a:srgbClr val="0000FF"/>
                </a:solidFill>
                <a:ea typeface="黑体" panose="02010609060101010101" pitchFamily="49" charset="-122"/>
              </a:rPr>
              <a:t>9</a:t>
            </a:r>
            <a:r>
              <a:rPr lang="zh-CN" altLang="en-US" sz="2000" b="1" dirty="0">
                <a:solidFill>
                  <a:srgbClr val="0000FF"/>
                </a:solidFill>
                <a:ea typeface="黑体" panose="02010609060101010101" pitchFamily="49" charset="-122"/>
              </a:rPr>
              <a:t>块）中第</a:t>
            </a:r>
            <a:r>
              <a:rPr lang="en-US" altLang="zh-CN" sz="2000" b="1" dirty="0">
                <a:solidFill>
                  <a:srgbClr val="0000FF"/>
                </a:solidFill>
                <a:ea typeface="黑体" panose="02010609060101010101" pitchFamily="49" charset="-122"/>
              </a:rPr>
              <a:t>12</a:t>
            </a:r>
            <a:r>
              <a:rPr lang="zh-CN" altLang="en-US" sz="2000" b="1" dirty="0">
                <a:solidFill>
                  <a:srgbClr val="0000FF"/>
                </a:solidFill>
                <a:ea typeface="黑体" panose="02010609060101010101" pitchFamily="49" charset="-122"/>
              </a:rPr>
              <a:t>个单元。</a:t>
            </a:r>
            <a:r>
              <a:rPr lang="en-US" altLang="zh-CN" sz="2000" b="1" dirty="0">
                <a:solidFill>
                  <a:srgbClr val="0000FF"/>
                </a:solidFill>
                <a:ea typeface="黑体" panose="02010609060101010101" pitchFamily="49" charset="-122"/>
              </a:rPr>
              <a:t> </a:t>
            </a:r>
            <a:endParaRPr lang="en-US" altLang="zh-CN" sz="2000" b="1" dirty="0">
              <a:solidFill>
                <a:srgbClr val="0000FF"/>
              </a:solidFill>
              <a:ea typeface="黑体" panose="02010609060101010101" pitchFamily="49" charset="-122"/>
            </a:endParaRPr>
          </a:p>
          <a:p>
            <a:pPr marL="0" lvl="0" indent="0" eaLnBrk="1" hangingPunct="1">
              <a:spcBef>
                <a:spcPct val="0"/>
              </a:spcBef>
              <a:buClrTx/>
              <a:buSzTx/>
              <a:buFontTx/>
              <a:buNone/>
            </a:pPr>
            <a:r>
              <a:rPr lang="zh-CN" altLang="en-US" sz="2000" b="1" dirty="0">
                <a:solidFill>
                  <a:srgbClr val="0000FF"/>
                </a:solidFill>
                <a:ea typeface="黑体" panose="02010609060101010101" pitchFamily="49" charset="-122"/>
              </a:rPr>
              <a:t>所以，映射到第一组中。</a:t>
            </a:r>
            <a:endParaRPr lang="zh-CN" altLang="en-US" sz="2000" b="1" dirty="0">
              <a:solidFill>
                <a:srgbClr val="0000FF"/>
              </a:solidFill>
              <a:ea typeface="黑体" panose="02010609060101010101" pitchFamily="49" charset="-122"/>
            </a:endParaRPr>
          </a:p>
        </p:txBody>
      </p:sp>
      <p:sp>
        <p:nvSpPr>
          <p:cNvPr id="195593" name="Rectangle 9"/>
          <p:cNvSpPr/>
          <p:nvPr/>
        </p:nvSpPr>
        <p:spPr>
          <a:xfrm>
            <a:off x="7362825" y="2754313"/>
            <a:ext cx="765175" cy="404812"/>
          </a:xfrm>
          <a:prstGeom prst="rect">
            <a:avLst/>
          </a:prstGeom>
          <a:solidFill>
            <a:srgbClr val="008000">
              <a:alpha val="39999"/>
            </a:srgbClr>
          </a:solidFill>
          <a:ln w="9525">
            <a:noFill/>
          </a:ln>
        </p:spPr>
        <p:txBody>
          <a:bodyPr lIns="0" tIns="0" rIns="0" bIns="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95594" name="Line 10"/>
          <p:cNvSpPr/>
          <p:nvPr/>
        </p:nvSpPr>
        <p:spPr>
          <a:xfrm flipH="1" flipV="1">
            <a:off x="4976813" y="2619375"/>
            <a:ext cx="2386012" cy="314325"/>
          </a:xfrm>
          <a:prstGeom prst="line">
            <a:avLst/>
          </a:prstGeom>
          <a:ln w="57150" cap="flat" cmpd="sng">
            <a:solidFill>
              <a:srgbClr val="CC0000"/>
            </a:solidFill>
            <a:prstDash val="solid"/>
            <a:headEnd type="none" w="med" len="med"/>
            <a:tailEnd type="triangle" w="med" len="med"/>
          </a:ln>
        </p:spPr>
      </p:sp>
      <p:sp>
        <p:nvSpPr>
          <p:cNvPr id="195595" name="Rectangle 11"/>
          <p:cNvSpPr/>
          <p:nvPr/>
        </p:nvSpPr>
        <p:spPr>
          <a:xfrm>
            <a:off x="4114800" y="2259013"/>
            <a:ext cx="671513" cy="360362"/>
          </a:xfrm>
          <a:prstGeom prst="rect">
            <a:avLst/>
          </a:prstGeom>
          <a:solidFill>
            <a:srgbClr val="008000">
              <a:alpha val="39999"/>
            </a:srgbClr>
          </a:solidFill>
          <a:ln w="9525">
            <a:noFill/>
          </a:ln>
        </p:spPr>
        <p:txBody>
          <a:bodyPr lIns="0" tIns="0" rIns="0" bIns="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95596" name="Rectangle 12"/>
          <p:cNvSpPr/>
          <p:nvPr/>
        </p:nvSpPr>
        <p:spPr>
          <a:xfrm>
            <a:off x="4122738" y="2619375"/>
            <a:ext cx="671512" cy="404813"/>
          </a:xfrm>
          <a:prstGeom prst="rect">
            <a:avLst/>
          </a:prstGeom>
          <a:solidFill>
            <a:srgbClr val="008000">
              <a:alpha val="39999"/>
            </a:srgbClr>
          </a:solidFill>
          <a:ln w="9525">
            <a:noFill/>
          </a:ln>
        </p:spPr>
        <p:txBody>
          <a:bodyPr lIns="0" tIns="0" rIns="0" bIns="0" anchor="ctr" anchorCtr="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0"/>
              </a:spcBef>
              <a:buClrTx/>
              <a:buSzTx/>
              <a:buFontTx/>
              <a:buNone/>
            </a:pPr>
            <a:endParaRPr lang="zh-CN" altLang="en-US" sz="1800" dirty="0"/>
          </a:p>
        </p:txBody>
      </p:sp>
      <p:sp>
        <p:nvSpPr>
          <p:cNvPr id="153613" name="Rectangle 13"/>
          <p:cNvSpPr/>
          <p:nvPr/>
        </p:nvSpPr>
        <p:spPr>
          <a:xfrm>
            <a:off x="206375" y="188913"/>
            <a:ext cx="2025650" cy="2863850"/>
          </a:xfrm>
          <a:prstGeom prst="rect">
            <a:avLst/>
          </a:prstGeom>
          <a:solidFill>
            <a:schemeClr val="bg1"/>
          </a:solidFill>
          <a:ln w="9525">
            <a:noFill/>
          </a:ln>
        </p:spPr>
        <p:txBody>
          <a:bodyPr lIns="0" tIns="0" rIns="0" bIns="0">
            <a:spAutoFit/>
          </a:bodyPr>
          <a:lst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kumimoji="1" sz="3200">
                <a:solidFill>
                  <a:schemeClr val="tx1"/>
                </a:solidFill>
                <a:latin typeface="+mn-lt"/>
                <a:ea typeface="+mn-ea"/>
                <a:cs typeface="宋体" panose="02010600030101010101" pitchFamily="2" charset="-122"/>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kumimoji="1" sz="2000">
                <a:solidFill>
                  <a:schemeClr val="tx1"/>
                </a:solidFill>
                <a:latin typeface="+mn-lt"/>
                <a:ea typeface="+mn-ea"/>
              </a:defRPr>
            </a:lvl5pPr>
          </a:lstStyle>
          <a:p>
            <a:pPr marL="0" lvl="0" indent="0" eaLnBrk="1" hangingPunct="1">
              <a:spcBef>
                <a:spcPct val="50000"/>
              </a:spcBef>
              <a:buClrTx/>
              <a:buSzTx/>
              <a:buFontTx/>
              <a:buNone/>
            </a:pPr>
            <a:r>
              <a:rPr lang="zh-CN" altLang="en-US" sz="2000" b="1" dirty="0">
                <a:solidFill>
                  <a:srgbClr val="0000FF"/>
                </a:solidFill>
                <a:ea typeface="黑体" panose="02010609060101010101" pitchFamily="49" charset="-122"/>
              </a:rPr>
              <a:t>假定数据在主存和</a:t>
            </a:r>
            <a:r>
              <a:rPr lang="en-US" altLang="zh-CN" sz="2000" b="1" dirty="0">
                <a:solidFill>
                  <a:srgbClr val="0000FF"/>
                </a:solidFill>
                <a:cs typeface="Arial" panose="020B0604020202020204" pitchFamily="34" charset="0"/>
              </a:rPr>
              <a:t>Cache</a:t>
            </a:r>
            <a:r>
              <a:rPr lang="zh-CN" altLang="en-US" sz="2000" b="1" dirty="0">
                <a:solidFill>
                  <a:srgbClr val="0000FF"/>
                </a:solidFill>
                <a:ea typeface="黑体" panose="02010609060101010101" pitchFamily="49" charset="-122"/>
              </a:rPr>
              <a:t>间的传送单位为</a:t>
            </a:r>
            <a:r>
              <a:rPr lang="en-US" altLang="zh-CN" sz="2000" b="1" dirty="0">
                <a:solidFill>
                  <a:srgbClr val="0000FF"/>
                </a:solidFill>
                <a:cs typeface="Arial" panose="020B0604020202020204" pitchFamily="34" charset="0"/>
              </a:rPr>
              <a:t>512</a:t>
            </a:r>
            <a:r>
              <a:rPr lang="zh-CN" altLang="en-US" sz="2000" b="1" dirty="0">
                <a:solidFill>
                  <a:srgbClr val="0000FF"/>
                </a:solidFill>
                <a:ea typeface="黑体" panose="02010609060101010101" pitchFamily="49" charset="-122"/>
              </a:rPr>
              <a:t>字。</a:t>
            </a:r>
            <a:endParaRPr lang="en-US" altLang="zh-CN" sz="2000" b="1" dirty="0">
              <a:solidFill>
                <a:srgbClr val="0000FF"/>
              </a:solidFill>
              <a:ea typeface="黑体" panose="02010609060101010101" pitchFamily="49" charset="-122"/>
            </a:endParaRPr>
          </a:p>
          <a:p>
            <a:pPr marL="0" lvl="0" indent="0" eaLnBrk="1" hangingPunct="1">
              <a:buClrTx/>
              <a:buSzTx/>
              <a:buFontTx/>
              <a:buNone/>
            </a:pPr>
            <a:r>
              <a:rPr lang="en-US" altLang="zh-CN" sz="2000" b="1" dirty="0">
                <a:solidFill>
                  <a:srgbClr val="0000FF"/>
                </a:solidFill>
                <a:ea typeface="黑体" panose="02010609060101010101" pitchFamily="49" charset="-122"/>
              </a:rPr>
              <a:t>Cache</a:t>
            </a:r>
            <a:r>
              <a:rPr lang="zh-CN" altLang="en-US" sz="2000" b="1" dirty="0">
                <a:solidFill>
                  <a:srgbClr val="0000FF"/>
                </a:solidFill>
                <a:ea typeface="黑体" panose="02010609060101010101" pitchFamily="49" charset="-122"/>
              </a:rPr>
              <a:t>大小：</a:t>
            </a:r>
            <a:r>
              <a:rPr lang="en-US" altLang="zh-CN" sz="2000" b="1" dirty="0">
                <a:solidFill>
                  <a:srgbClr val="0000FF"/>
                </a:solidFill>
                <a:ea typeface="黑体" panose="02010609060101010101" pitchFamily="49" charset="-122"/>
              </a:rPr>
              <a:t>2</a:t>
            </a:r>
            <a:r>
              <a:rPr lang="en-US" altLang="zh-CN" sz="2000" b="1" baseline="30000" dirty="0">
                <a:solidFill>
                  <a:srgbClr val="0000FF"/>
                </a:solidFill>
                <a:ea typeface="黑体" panose="02010609060101010101" pitchFamily="49" charset="-122"/>
              </a:rPr>
              <a:t>13</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=8K</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=16</a:t>
            </a:r>
            <a:r>
              <a:rPr lang="zh-CN" altLang="en-US" sz="2000" b="1" dirty="0">
                <a:solidFill>
                  <a:srgbClr val="0000FF"/>
                </a:solidFill>
                <a:ea typeface="黑体" panose="02010609060101010101" pitchFamily="49" charset="-122"/>
              </a:rPr>
              <a:t>行</a:t>
            </a:r>
            <a:r>
              <a:rPr lang="en-US" altLang="zh-CN" sz="2000" b="1" dirty="0">
                <a:solidFill>
                  <a:srgbClr val="0000FF"/>
                </a:solidFill>
                <a:ea typeface="黑体" panose="02010609060101010101" pitchFamily="49" charset="-122"/>
              </a:rPr>
              <a:t> x 512</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 </a:t>
            </a:r>
            <a:r>
              <a:rPr lang="zh-CN" altLang="en-US" sz="2000" b="1" dirty="0">
                <a:solidFill>
                  <a:srgbClr val="0000FF"/>
                </a:solidFill>
                <a:ea typeface="黑体" panose="02010609060101010101" pitchFamily="49" charset="-122"/>
              </a:rPr>
              <a:t>行</a:t>
            </a:r>
            <a:endParaRPr lang="en-US" altLang="zh-CN" sz="2000" b="1" dirty="0">
              <a:solidFill>
                <a:srgbClr val="0000FF"/>
              </a:solidFill>
              <a:ea typeface="黑体" panose="02010609060101010101" pitchFamily="49" charset="-122"/>
            </a:endParaRPr>
          </a:p>
          <a:p>
            <a:pPr marL="0" lvl="0" indent="0" eaLnBrk="1" hangingPunct="1">
              <a:buClrTx/>
              <a:buSzTx/>
              <a:buFontTx/>
              <a:buNone/>
            </a:pPr>
            <a:r>
              <a:rPr lang="en-US" altLang="zh-CN" sz="2000" b="1" dirty="0">
                <a:solidFill>
                  <a:srgbClr val="0000FF"/>
                </a:solidFill>
                <a:ea typeface="黑体" panose="02010609060101010101" pitchFamily="49" charset="-122"/>
              </a:rPr>
              <a:t> </a:t>
            </a:r>
            <a:r>
              <a:rPr lang="zh-CN" altLang="en-US" sz="2000" b="1" dirty="0">
                <a:solidFill>
                  <a:srgbClr val="0000FF"/>
                </a:solidFill>
                <a:ea typeface="黑体" panose="02010609060101010101" pitchFamily="49" charset="-122"/>
              </a:rPr>
              <a:t>主存大小：</a:t>
            </a:r>
            <a:r>
              <a:rPr lang="en-US" altLang="zh-CN" sz="2000" b="1" dirty="0">
                <a:solidFill>
                  <a:srgbClr val="0000FF"/>
                </a:solidFill>
                <a:ea typeface="黑体" panose="02010609060101010101" pitchFamily="49" charset="-122"/>
              </a:rPr>
              <a:t>2</a:t>
            </a:r>
            <a:r>
              <a:rPr lang="en-US" altLang="zh-CN" sz="2000" b="1" baseline="30000" dirty="0">
                <a:solidFill>
                  <a:srgbClr val="0000FF"/>
                </a:solidFill>
                <a:ea typeface="黑体" panose="02010609060101010101" pitchFamily="49" charset="-122"/>
              </a:rPr>
              <a:t>20</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=1024K</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=2048</a:t>
            </a:r>
            <a:r>
              <a:rPr lang="zh-CN" altLang="en-US" sz="2000" b="1" dirty="0">
                <a:solidFill>
                  <a:srgbClr val="0000FF"/>
                </a:solidFill>
                <a:ea typeface="黑体" panose="02010609060101010101" pitchFamily="49" charset="-122"/>
              </a:rPr>
              <a:t>块</a:t>
            </a:r>
            <a:r>
              <a:rPr lang="en-US" altLang="zh-CN" sz="2000" b="1" dirty="0">
                <a:solidFill>
                  <a:srgbClr val="0000FF"/>
                </a:solidFill>
                <a:ea typeface="黑体" panose="02010609060101010101" pitchFamily="49" charset="-122"/>
              </a:rPr>
              <a:t> x 512</a:t>
            </a:r>
            <a:r>
              <a:rPr lang="zh-CN" altLang="en-US" sz="2000" b="1" dirty="0">
                <a:solidFill>
                  <a:srgbClr val="0000FF"/>
                </a:solidFill>
                <a:ea typeface="黑体" panose="02010609060101010101" pitchFamily="49" charset="-122"/>
              </a:rPr>
              <a:t>字</a:t>
            </a:r>
            <a:r>
              <a:rPr lang="en-US" altLang="zh-CN" sz="2000" b="1" dirty="0">
                <a:solidFill>
                  <a:srgbClr val="0000FF"/>
                </a:solidFill>
                <a:ea typeface="黑体" panose="02010609060101010101" pitchFamily="49" charset="-122"/>
              </a:rPr>
              <a:t>/ </a:t>
            </a:r>
            <a:r>
              <a:rPr lang="zh-CN" altLang="en-US" sz="2000" b="1" dirty="0">
                <a:solidFill>
                  <a:srgbClr val="0000FF"/>
                </a:solidFill>
                <a:ea typeface="黑体" panose="02010609060101010101" pitchFamily="49" charset="-122"/>
              </a:rPr>
              <a:t>块</a:t>
            </a:r>
            <a:endParaRPr lang="zh-CN" altLang="en-US" sz="2000" b="1" dirty="0">
              <a:solidFill>
                <a:srgbClr val="0000FF"/>
              </a:solidFill>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5587">
                                            <p:txEl>
                                              <p:charRg st="0" end="14"/>
                                            </p:txEl>
                                          </p:spTgt>
                                        </p:tgtEl>
                                        <p:attrNameLst>
                                          <p:attrName>style.visibility</p:attrName>
                                        </p:attrNameLst>
                                      </p:cBhvr>
                                      <p:to>
                                        <p:strVal val="visible"/>
                                      </p:to>
                                    </p:set>
                                    <p:animEffect transition="in" filter="blinds(horizontal)">
                                      <p:cBhvr>
                                        <p:cTn id="7" dur="500"/>
                                        <p:tgtEl>
                                          <p:spTgt spid="195587">
                                            <p:txEl>
                                              <p:charRg st="0" end="1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5588"/>
                                        </p:tgtEl>
                                        <p:attrNameLst>
                                          <p:attrName>style.visibility</p:attrName>
                                        </p:attrNameLst>
                                      </p:cBhvr>
                                      <p:to>
                                        <p:strVal val="visible"/>
                                      </p:to>
                                    </p:set>
                                    <p:animEffect transition="in" filter="blinds(horizontal)">
                                      <p:cBhvr>
                                        <p:cTn id="12" dur="500"/>
                                        <p:tgtEl>
                                          <p:spTgt spid="19558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5587">
                                            <p:txEl>
                                              <p:charRg st="14" end="30"/>
                                            </p:txEl>
                                          </p:spTgt>
                                        </p:tgtEl>
                                        <p:attrNameLst>
                                          <p:attrName>style.visibility</p:attrName>
                                        </p:attrNameLst>
                                      </p:cBhvr>
                                      <p:to>
                                        <p:strVal val="visible"/>
                                      </p:to>
                                    </p:set>
                                    <p:animEffect transition="in" filter="blinds(horizontal)">
                                      <p:cBhvr>
                                        <p:cTn id="17" dur="500"/>
                                        <p:tgtEl>
                                          <p:spTgt spid="195587">
                                            <p:txEl>
                                              <p:charRg st="14" end="3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5589"/>
                                        </p:tgtEl>
                                        <p:attrNameLst>
                                          <p:attrName>style.visibility</p:attrName>
                                        </p:attrNameLst>
                                      </p:cBhvr>
                                      <p:to>
                                        <p:strVal val="visible"/>
                                      </p:to>
                                    </p:set>
                                    <p:animEffect transition="in" filter="blinds(horizontal)">
                                      <p:cBhvr>
                                        <p:cTn id="22" dur="500"/>
                                        <p:tgtEl>
                                          <p:spTgt spid="19558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5590"/>
                                        </p:tgtEl>
                                        <p:attrNameLst>
                                          <p:attrName>style.visibility</p:attrName>
                                        </p:attrNameLst>
                                      </p:cBhvr>
                                      <p:to>
                                        <p:strVal val="visible"/>
                                      </p:to>
                                    </p:set>
                                    <p:animEffect transition="in" filter="blinds(horizontal)">
                                      <p:cBhvr>
                                        <p:cTn id="27" dur="500"/>
                                        <p:tgtEl>
                                          <p:spTgt spid="19559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95591"/>
                                        </p:tgtEl>
                                        <p:attrNameLst>
                                          <p:attrName>style.visibility</p:attrName>
                                        </p:attrNameLst>
                                      </p:cBhvr>
                                      <p:to>
                                        <p:strVal val="visible"/>
                                      </p:to>
                                    </p:set>
                                    <p:animEffect transition="in" filter="blinds(horizontal)">
                                      <p:cBhvr>
                                        <p:cTn id="32" dur="500"/>
                                        <p:tgtEl>
                                          <p:spTgt spid="19559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5592"/>
                                        </p:tgtEl>
                                        <p:attrNameLst>
                                          <p:attrName>style.visibility</p:attrName>
                                        </p:attrNameLst>
                                      </p:cBhvr>
                                      <p:to>
                                        <p:strVal val="visible"/>
                                      </p:to>
                                    </p:set>
                                    <p:animEffect transition="in" filter="blinds(horizontal)">
                                      <p:cBhvr>
                                        <p:cTn id="37" dur="500"/>
                                        <p:tgtEl>
                                          <p:spTgt spid="19559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95593"/>
                                        </p:tgtEl>
                                        <p:attrNameLst>
                                          <p:attrName>style.visibility</p:attrName>
                                        </p:attrNameLst>
                                      </p:cBhvr>
                                      <p:to>
                                        <p:strVal val="visible"/>
                                      </p:to>
                                    </p:set>
                                    <p:animEffect transition="in" filter="blinds(horizontal)">
                                      <p:cBhvr>
                                        <p:cTn id="42" dur="500"/>
                                        <p:tgtEl>
                                          <p:spTgt spid="19559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95594"/>
                                        </p:tgtEl>
                                        <p:attrNameLst>
                                          <p:attrName>style.visibility</p:attrName>
                                        </p:attrNameLst>
                                      </p:cBhvr>
                                      <p:to>
                                        <p:strVal val="visible"/>
                                      </p:to>
                                    </p:set>
                                    <p:animEffect transition="in" filter="blinds(horizontal)">
                                      <p:cBhvr>
                                        <p:cTn id="47" dur="500"/>
                                        <p:tgtEl>
                                          <p:spTgt spid="195594"/>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95595"/>
                                        </p:tgtEl>
                                        <p:attrNameLst>
                                          <p:attrName>style.visibility</p:attrName>
                                        </p:attrNameLst>
                                      </p:cBhvr>
                                      <p:to>
                                        <p:strVal val="visible"/>
                                      </p:to>
                                    </p:set>
                                    <p:animEffect transition="in" filter="blinds(horizontal)">
                                      <p:cBhvr>
                                        <p:cTn id="52" dur="500"/>
                                        <p:tgtEl>
                                          <p:spTgt spid="195595"/>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95596"/>
                                        </p:tgtEl>
                                        <p:attrNameLst>
                                          <p:attrName>style.visibility</p:attrName>
                                        </p:attrNameLst>
                                      </p:cBhvr>
                                      <p:to>
                                        <p:strVal val="visible"/>
                                      </p:to>
                                    </p:set>
                                    <p:animEffect transition="in" filter="blinds(horizontal)">
                                      <p:cBhvr>
                                        <p:cTn id="57" dur="500"/>
                                        <p:tgtEl>
                                          <p:spTgt spid="195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90" grpId="0"/>
      <p:bldP spid="195591" grpId="0"/>
      <p:bldP spid="195592" grpId="0"/>
      <p:bldP spid="195593" grpId="0" animBg="1"/>
      <p:bldP spid="195595" grpId="0" animBg="1"/>
      <p:bldP spid="195596" grpId="0" animBg="1"/>
    </p:bldLst>
  </p:timing>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0</TotalTime>
  <Words>24048</Words>
  <Application>WPS 演示</Application>
  <PresentationFormat>全屏显示(4:3)</PresentationFormat>
  <Paragraphs>2305</Paragraphs>
  <Slides>128</Slides>
  <Notes>24</Notes>
  <HiddenSlides>0</HiddenSlides>
  <MMClips>0</MMClips>
  <ScaleCrop>false</ScaleCrop>
  <HeadingPairs>
    <vt:vector size="8" baseType="variant">
      <vt:variant>
        <vt:lpstr>已用的字体</vt:lpstr>
      </vt:variant>
      <vt:variant>
        <vt:i4>30</vt:i4>
      </vt:variant>
      <vt:variant>
        <vt:lpstr>主题</vt:lpstr>
      </vt:variant>
      <vt:variant>
        <vt:i4>1</vt:i4>
      </vt:variant>
      <vt:variant>
        <vt:lpstr>嵌入 OLE 服务器</vt:lpstr>
      </vt:variant>
      <vt:variant>
        <vt:i4>15</vt:i4>
      </vt:variant>
      <vt:variant>
        <vt:lpstr>幻灯片标题</vt:lpstr>
      </vt:variant>
      <vt:variant>
        <vt:i4>128</vt:i4>
      </vt:variant>
    </vt:vector>
  </HeadingPairs>
  <TitlesOfParts>
    <vt:vector size="174" baseType="lpstr">
      <vt:lpstr>Arial</vt:lpstr>
      <vt:lpstr>宋体</vt:lpstr>
      <vt:lpstr>Wingdings</vt:lpstr>
      <vt:lpstr>Times New Roman</vt:lpstr>
      <vt:lpstr>Gulim</vt:lpstr>
      <vt:lpstr>Malgun Gothic</vt:lpstr>
      <vt:lpstr>黑体</vt:lpstr>
      <vt:lpstr>Wingdings 2</vt:lpstr>
      <vt:lpstr>Wingdings</vt:lpstr>
      <vt:lpstr>楷体_GB2312</vt:lpstr>
      <vt:lpstr>新宋体</vt:lpstr>
      <vt:lpstr>华文新魏</vt:lpstr>
      <vt:lpstr>华文中宋</vt:lpstr>
      <vt:lpstr>隶书</vt:lpstr>
      <vt:lpstr>Arial Unicode MS</vt:lpstr>
      <vt:lpstr>楷体</vt:lpstr>
      <vt:lpstr>微软雅黑</vt:lpstr>
      <vt:lpstr>Calibri</vt:lpstr>
      <vt:lpstr>Helvetica Neue</vt:lpstr>
      <vt:lpstr>Symbol</vt:lpstr>
      <vt:lpstr>仿宋_GB2312</vt:lpstr>
      <vt:lpstr>仿宋</vt:lpstr>
      <vt:lpstr>Comic Sans MS</vt:lpstr>
      <vt:lpstr>PMingLiU</vt:lpstr>
      <vt:lpstr>MingLiU-ExtB</vt:lpstr>
      <vt:lpstr>Courier New</vt:lpstr>
      <vt:lpstr>方正准圆简体</vt:lpstr>
      <vt:lpstr>Wingdings 3</vt:lpstr>
      <vt:lpstr>Symbol</vt:lpstr>
      <vt:lpstr>华文仿宋</vt:lpstr>
      <vt:lpstr>Pixel</vt:lpstr>
      <vt:lpstr>Photoshop.Image.7</vt:lpstr>
      <vt:lpstr>Equation.3</vt:lpstr>
      <vt:lpstr>Equation.3</vt:lpstr>
      <vt:lpstr>Equation.3</vt:lpstr>
      <vt:lpstr>Equation.3</vt:lpstr>
      <vt:lpstr>Equation.3</vt:lpstr>
      <vt:lpstr>Paint.Picture</vt:lpstr>
      <vt:lpstr>Photoshop.Image.7</vt:lpstr>
      <vt:lpstr>Photoshop.Image.7</vt:lpstr>
      <vt:lpstr>Word.Picture.8</vt:lpstr>
      <vt:lpstr>Visio.Drawing.11</vt:lpstr>
      <vt:lpstr>Excel.Chart.8</vt:lpstr>
      <vt:lpstr>Excel.Chart.8</vt:lpstr>
      <vt:lpstr>Equation.3</vt:lpstr>
      <vt:lpstr>Equation.3</vt:lpstr>
      <vt:lpstr>第三章 多层次的存储器   </vt:lpstr>
      <vt:lpstr>第三章   内部存储器</vt:lpstr>
      <vt:lpstr>3.1存储器概述</vt:lpstr>
      <vt:lpstr>3.1存储器概述</vt:lpstr>
      <vt:lpstr>3.1.2  存储器分级结构</vt:lpstr>
      <vt:lpstr>3.1.2  存储器分级结构</vt:lpstr>
      <vt:lpstr>内存与外存的关系及比较</vt:lpstr>
      <vt:lpstr>3.1.3主存储器的技术指标</vt:lpstr>
      <vt:lpstr>内存储器的分类及应用</vt:lpstr>
      <vt:lpstr>3.2 SRAM存储器</vt:lpstr>
      <vt:lpstr>3.2 SRAM存储器</vt:lpstr>
      <vt:lpstr>3.2 SRAM存储器</vt:lpstr>
      <vt:lpstr>（2）存储矩阵</vt:lpstr>
      <vt:lpstr>复习：MOS场效应管</vt:lpstr>
      <vt:lpstr>1. SRAM基本电路</vt:lpstr>
      <vt:lpstr>读操作</vt:lpstr>
      <vt:lpstr>写操作</vt:lpstr>
      <vt:lpstr>3.2 SRAM存储器</vt:lpstr>
      <vt:lpstr>PowerPoint 演示文稿</vt:lpstr>
      <vt:lpstr>3.2 SRAM存储器</vt:lpstr>
      <vt:lpstr>3.2 SRAM存储器</vt:lpstr>
      <vt:lpstr>3.2 SRAM存储器</vt:lpstr>
      <vt:lpstr>3.2 SRAM存储器</vt:lpstr>
      <vt:lpstr>例1 P69：图3.5(a)是SRAM的写入时序图。其中R/W是读/写命令控制线，当R/W线为低电平时，存储器按给定地址把数据线上的数据写入存储器。 请指出图3.5(a)写入时序中的错误，并画出正确的写入时序图。</vt:lpstr>
      <vt:lpstr>3.3 DRAM存储器</vt:lpstr>
      <vt:lpstr>3.3 DRAM存储器</vt:lpstr>
      <vt:lpstr>3.3 DRAM存储器</vt:lpstr>
      <vt:lpstr>3.3 DRAM存储器</vt:lpstr>
      <vt:lpstr>3.3 DRAM存储器</vt:lpstr>
      <vt:lpstr>3.3 DRAM存储器</vt:lpstr>
      <vt:lpstr>3.3 DRAM存储器</vt:lpstr>
      <vt:lpstr>3.3 DRAM存储器</vt:lpstr>
      <vt:lpstr>3.3 DRAM存储器</vt:lpstr>
      <vt:lpstr>PowerPoint 演示文稿</vt:lpstr>
      <vt:lpstr>PowerPoint 演示文稿</vt:lpstr>
      <vt:lpstr>PowerPoint 演示文稿</vt:lpstr>
      <vt:lpstr>3.3 DRAM存储器</vt:lpstr>
      <vt:lpstr>PowerPoint 演示文稿</vt:lpstr>
      <vt:lpstr>位扩展法组成8K字节RAM</vt:lpstr>
      <vt:lpstr>3.3 DRAM存储器</vt:lpstr>
      <vt:lpstr>PowerPoint 演示文稿</vt:lpstr>
      <vt:lpstr>字扩展法组成64K字节RAM</vt:lpstr>
      <vt:lpstr>存储器芯片的扩展</vt:lpstr>
      <vt:lpstr>字位扩展组成4K字节RAM</vt:lpstr>
      <vt:lpstr>PowerPoint 演示文稿</vt:lpstr>
      <vt:lpstr>PowerPoint 演示文稿</vt:lpstr>
      <vt:lpstr>3.3 DRAM存储器</vt:lpstr>
      <vt:lpstr>3.3 DRAM存储器</vt:lpstr>
      <vt:lpstr>3.3 DRAM存储器</vt:lpstr>
      <vt:lpstr>3.3 DRAM存储器</vt:lpstr>
      <vt:lpstr>3.3 DRAM存储器</vt:lpstr>
      <vt:lpstr>PowerPoint 演示文稿</vt:lpstr>
      <vt:lpstr>3.3 DRAM存储器</vt:lpstr>
      <vt:lpstr>PowerPoint 演示文稿</vt:lpstr>
      <vt:lpstr>3.3 DRAM存储器</vt:lpstr>
      <vt:lpstr>3.3 DRAM存储器</vt:lpstr>
      <vt:lpstr>3.4  只读存储器和闪速存储器</vt:lpstr>
      <vt:lpstr>3.4  只读存储器和闪速存储器</vt:lpstr>
      <vt:lpstr>3.4  只读存储器和闪速存储器</vt:lpstr>
      <vt:lpstr>3.4  只读存储器和闪速存储器</vt:lpstr>
      <vt:lpstr>3.4  只读存储器和闪速存储器</vt:lpstr>
      <vt:lpstr>3.4  只读存储器和闪速存储器</vt:lpstr>
      <vt:lpstr>3.4  只读存储器和闪速存储器</vt:lpstr>
      <vt:lpstr>3.4  只读存储器和闪速存储器</vt:lpstr>
      <vt:lpstr>3.4  只读存储器和闪速存储器</vt:lpstr>
      <vt:lpstr>3.4  只读存储器和闪速存储器</vt:lpstr>
      <vt:lpstr>3.4  只读存储器和闪速存储器</vt:lpstr>
      <vt:lpstr>3.4  只读存储器和闪速存储器</vt:lpstr>
      <vt:lpstr>3.4  只读存储器和闪速存储器</vt:lpstr>
      <vt:lpstr>3.4  只读存储器和闪速存储器</vt:lpstr>
      <vt:lpstr>3.4  只读存储器和闪速存储器</vt:lpstr>
      <vt:lpstr>3.4  只读存储器和闪速存储器</vt:lpstr>
      <vt:lpstr>3.4  只读存储器和闪速存储器</vt:lpstr>
      <vt:lpstr>PowerPoint 演示文稿</vt:lpstr>
      <vt:lpstr>PowerPoint 演示文稿</vt:lpstr>
      <vt:lpstr>存储器与CPU速度差距愈来愈大</vt:lpstr>
      <vt:lpstr>3.5  并行存储器</vt:lpstr>
      <vt:lpstr>3.5  并行存储器</vt:lpstr>
      <vt:lpstr>3.5  并行存储器</vt:lpstr>
      <vt:lpstr>3.5  并行存储器</vt:lpstr>
      <vt:lpstr>3.5  并行存储器</vt:lpstr>
      <vt:lpstr>3.5  并行存储器</vt:lpstr>
      <vt:lpstr>3.5.1双端口存储器</vt:lpstr>
      <vt:lpstr>3.5.1双端口存储器</vt:lpstr>
      <vt:lpstr>3.5.2  并行存储器</vt:lpstr>
      <vt:lpstr>3.5.2  并行存储器</vt:lpstr>
      <vt:lpstr>3.5.2   并行存储器</vt:lpstr>
      <vt:lpstr>3.5.2   并行存储器</vt:lpstr>
      <vt:lpstr>3.5.2   并行存储器</vt:lpstr>
      <vt:lpstr>3.5.2   并行存储器</vt:lpstr>
      <vt:lpstr>3.5.2   并行存储器</vt:lpstr>
      <vt:lpstr>3.5.2   并行存储器</vt:lpstr>
      <vt:lpstr>例5 设存储器容量为32字，字长64位，模块数m=4，分别用顺序方式和交叉方式进行组织。存储周期T=200ns，数据总线宽度为64位，总线传送周期=50ns。若连续读出4个字，问顺序存储器和交叉存储器的带宽各是多少?</vt:lpstr>
      <vt:lpstr>二模块交叉存储器举例</vt:lpstr>
      <vt:lpstr>二模块交叉存储器举例</vt:lpstr>
      <vt:lpstr>408</vt:lpstr>
      <vt:lpstr>PowerPoint 演示文稿</vt:lpstr>
      <vt:lpstr>计算机中存储器的层次结构</vt:lpstr>
      <vt:lpstr>计算机中存储器的层次结构</vt:lpstr>
      <vt:lpstr>回顾：传统存储器分级体系结构</vt:lpstr>
      <vt:lpstr>层次化存储器结构（Memory Hierarchy）</vt:lpstr>
      <vt:lpstr>加快访存速度措施之三：引入Cache</vt:lpstr>
      <vt:lpstr>程序的局部性原理举例1</vt:lpstr>
      <vt:lpstr>程序的局部性原理举例1</vt:lpstr>
      <vt:lpstr>程序的局部性原理举例2</vt:lpstr>
      <vt:lpstr>程序的局部性原理举例2</vt:lpstr>
      <vt:lpstr>程序的局部性原理举例2</vt:lpstr>
      <vt:lpstr>3.6 Cache存储器</vt:lpstr>
      <vt:lpstr>3.6 Cache存储器</vt:lpstr>
      <vt:lpstr>Cache(高速缓存)是什么样的？</vt:lpstr>
      <vt:lpstr>3.6 Cache存储器</vt:lpstr>
      <vt:lpstr>PowerPoint 演示文稿</vt:lpstr>
      <vt:lpstr>PowerPoint 演示文稿</vt:lpstr>
      <vt:lpstr>PowerPoint 演示文稿</vt:lpstr>
      <vt:lpstr>PowerPoint 演示文稿</vt:lpstr>
      <vt:lpstr>3.6 Cache存储器</vt:lpstr>
      <vt:lpstr>3.6.2 Cache(高速缓存)</vt:lpstr>
      <vt:lpstr>Cache 的操作过程</vt:lpstr>
      <vt:lpstr>Cache映射(Cache Mapping)</vt:lpstr>
      <vt:lpstr>       全相联映射Cache组织示意图</vt:lpstr>
      <vt:lpstr>举例：Fully Associative</vt:lpstr>
      <vt:lpstr>The Simplest Cache: Direct  Mapped Cache</vt:lpstr>
      <vt:lpstr>直接映射Cache组织示意图</vt:lpstr>
      <vt:lpstr>Ex2: 1 KB Direct Mapped Cache with 32 B Blocks</vt:lpstr>
      <vt:lpstr>Ex3: 64 KB Direct Mapped Cache with 16B Blocks</vt:lpstr>
      <vt:lpstr>如何计算Cache的容量？</vt:lpstr>
      <vt:lpstr>组相联映射（Set Associative）</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初九</cp:lastModifiedBy>
  <cp:revision>663</cp:revision>
  <dcterms:created xsi:type="dcterms:W3CDTF">2008-11-25T08:58:00Z</dcterms:created>
  <dcterms:modified xsi:type="dcterms:W3CDTF">2026-03-24T08:27:57Z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DD0F8CE6B1494BCB8F6E085B64565B33_12</vt:lpwstr>
  </property>
</Properties>
</file>